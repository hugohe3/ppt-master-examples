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9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th-TH"/>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901.xml.rels><?xml version="1.0" encoding="UTF-8" standalone="yes"?>
<Relationships xmlns="http://schemas.openxmlformats.org/package/2006/relationships">
<Relationship Id="rId1" Type="http://schemas.openxmlformats.org/officeDocument/2006/relationships/package" Target="../embeddings/Microsoft_Excel_Sheet901.xlsx"/>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chart901.xml><?xml version="1.0" encoding="utf-8"?>
<c:chartSpace xmlns:c="http://schemas.openxmlformats.org/drawingml/2006/chart" xmlns:a="http://schemas.openxmlformats.org/drawingml/2006/main" xmlns:r="http://schemas.openxmlformats.org/officeDocument/2006/relationships">
  <c:date1904 val="0"/>
  <c:lang val="th-TH"/>
  <c:chart>
    <c:autoTitleDeleted val="1"/>
    <c:plotArea>
      <c:layout>
        <c:manualLayout>
          <c:layoutTarget val="inner"/>
          <c:xMode val="edge"/>
          <c:yMode val="edge"/>
          <c:wMode val="factor"/>
          <c:hMode val="factor"/>
          <c:x val="0.100917431193"/>
          <c:y val="0.102739726027"/>
          <c:w val="0.880733944954"/>
          <c:h val="0.746575342466"/>
        </c:manualLayout>
      </c:layout>
      <c:lineChart>
        <c:grouping val="standard"/>
        <c:varyColors val="0"/>
        <c:ser>
          <c:idx val="0"/>
          <c:order val="0"/>
          <c:tx>
            <c:strRef>
              <c:f>Sheet1!$B$1</c:f>
              <c:strCache>
                <c:ptCount val="1"/>
                <c:pt idx="0">
                  <c:v>ข้าวขาว</c:v>
                </c:pt>
              </c:strCache>
            </c:strRef>
          </c:tx>
          <c:spPr>
            <a:solidFill>
              <a:schemeClr val="accent1"/>
            </a:solidFill>
            <a:ln>
              <a:solidFill>
                <a:schemeClr val="accent1"/>
              </a:solidFill>
            </a:ln>
          </c:spPr>
          <c:marker>
            <c:symbol val="none"/>
          </c:marker>
          <c:cat>
            <c:strRef>
              <c:f>Sheet1!$A$2:$A$6</c:f>
              <c:strCache>
                <c:ptCount val="5"/>
                <c:pt idx="0">
                  <c:v>2563</c:v>
                </c:pt>
                <c:pt idx="1">
                  <c:v>2564</c:v>
                </c:pt>
                <c:pt idx="2">
                  <c:v>2565</c:v>
                </c:pt>
                <c:pt idx="3">
                  <c:v>2566</c:v>
                </c:pt>
                <c:pt idx="4">
                  <c:v>2567</c:v>
                </c:pt>
              </c:strCache>
            </c:strRef>
          </c:cat>
          <c:val>
            <c:numRef>
              <c:f>Sheet1!$B$2:$B$6</c:f>
              <c:numCache>
                <c:formatCode>General</c:formatCode>
                <c:ptCount val="5"/>
                <c:pt idx="0">
                  <c:v>2.015</c:v>
                </c:pt>
                <c:pt idx="1">
                  <c:v>2.498</c:v>
                </c:pt>
                <c:pt idx="2">
                  <c:v>3.786</c:v>
                </c:pt>
                <c:pt idx="3">
                  <c:v>5.57</c:v>
                </c:pt>
                <c:pt idx="4">
                  <c:v>6.793</c:v>
                </c:pt>
              </c:numCache>
            </c:numRef>
          </c:val>
          <c:smooth val="0"/>
        </c:ser>
        <c:ser>
          <c:idx val="1"/>
          <c:order val="1"/>
          <c:tx>
            <c:strRef>
              <c:f>Sheet1!$C$1</c:f>
              <c:strCache>
                <c:ptCount val="1"/>
                <c:pt idx="0">
                  <c:v>ข้าวหอม</c:v>
                </c:pt>
              </c:strCache>
            </c:strRef>
          </c:tx>
          <c:spPr>
            <a:solidFill>
              <a:schemeClr val="accent2"/>
            </a:solidFill>
            <a:ln>
              <a:solidFill>
                <a:schemeClr val="accent2"/>
              </a:solidFill>
            </a:ln>
          </c:spPr>
          <c:marker>
            <c:symbol val="none"/>
          </c:marker>
          <c:cat>
            <c:strRef>
              <c:f>Sheet1!$A$2:$A$6</c:f>
              <c:strCache>
                <c:ptCount val="5"/>
                <c:pt idx="0">
                  <c:v>2563</c:v>
                </c:pt>
                <c:pt idx="1">
                  <c:v>2564</c:v>
                </c:pt>
                <c:pt idx="2">
                  <c:v>2565</c:v>
                </c:pt>
                <c:pt idx="3">
                  <c:v>2566</c:v>
                </c:pt>
                <c:pt idx="4">
                  <c:v>2567</c:v>
                </c:pt>
              </c:strCache>
            </c:strRef>
          </c:cat>
          <c:val>
            <c:numRef>
              <c:f>Sheet1!$C$2:$C$6</c:f>
              <c:numCache>
                <c:formatCode>General</c:formatCode>
                <c:ptCount val="5"/>
                <c:pt idx="0">
                  <c:v>2.023</c:v>
                </c:pt>
                <c:pt idx="1">
                  <c:v>1.984</c:v>
                </c:pt>
                <c:pt idx="2">
                  <c:v>2.048</c:v>
                </c:pt>
                <c:pt idx="3">
                  <c:v>1.677</c:v>
                </c:pt>
                <c:pt idx="4">
                  <c:v>1.741</c:v>
                </c:pt>
              </c:numCache>
            </c:numRef>
          </c:val>
          <c:smooth val="0"/>
        </c:ser>
        <c:ser>
          <c:idx val="2"/>
          <c:order val="2"/>
          <c:tx>
            <c:strRef>
              <c:f>Sheet1!$D$1</c:f>
              <c:strCache>
                <c:ptCount val="1"/>
                <c:pt idx="0">
                  <c:v>ข้าวนึ่ง</c:v>
                </c:pt>
              </c:strCache>
            </c:strRef>
          </c:tx>
          <c:spPr>
            <a:solidFill>
              <a:srgbClr val="5F5A50"/>
            </a:solidFill>
            <a:ln>
              <a:solidFill>
                <a:srgbClr val="5F5A50"/>
              </a:solidFill>
            </a:ln>
          </c:spPr>
          <c:marker>
            <c:symbol val="none"/>
          </c:marker>
          <c:cat>
            <c:strRef>
              <c:f>Sheet1!$A$2:$A$6</c:f>
              <c:strCache>
                <c:ptCount val="5"/>
                <c:pt idx="0">
                  <c:v>2563</c:v>
                </c:pt>
                <c:pt idx="1">
                  <c:v>2564</c:v>
                </c:pt>
                <c:pt idx="2">
                  <c:v>2565</c:v>
                </c:pt>
                <c:pt idx="3">
                  <c:v>2566</c:v>
                </c:pt>
                <c:pt idx="4">
                  <c:v>2567</c:v>
                </c:pt>
              </c:strCache>
            </c:strRef>
          </c:cat>
          <c:val>
            <c:numRef>
              <c:f>Sheet1!$D$2:$D$6</c:f>
              <c:numCache>
                <c:formatCode>General</c:formatCode>
                <c:ptCount val="5"/>
                <c:pt idx="0">
                  <c:v>1.419</c:v>
                </c:pt>
                <c:pt idx="1">
                  <c:v>1.503</c:v>
                </c:pt>
                <c:pt idx="2">
                  <c:v>1.511</c:v>
                </c:pt>
                <c:pt idx="3">
                  <c:v>1.376</c:v>
                </c:pt>
                <c:pt idx="4">
                  <c:v>1.264</c:v>
                </c:pt>
              </c:numCache>
            </c:numRef>
          </c:val>
          <c:smooth val="0"/>
        </c:ser>
        <c:ser>
          <c:idx val="3"/>
          <c:order val="3"/>
          <c:tx>
            <c:strRef>
              <c:f>Sheet1!$E$1</c:f>
              <c:strCache>
                <c:ptCount val="1"/>
                <c:pt idx="0">
                  <c:v>ข้าวเหนียว</c:v>
                </c:pt>
              </c:strCache>
            </c:strRef>
          </c:tx>
          <c:spPr>
            <a:solidFill>
              <a:schemeClr val="accent3"/>
            </a:solidFill>
            <a:ln>
              <a:solidFill>
                <a:schemeClr val="accent3"/>
              </a:solidFill>
            </a:ln>
          </c:spPr>
          <c:marker>
            <c:symbol val="none"/>
          </c:marker>
          <c:cat>
            <c:strRef>
              <c:f>Sheet1!$A$2:$A$6</c:f>
              <c:strCache>
                <c:ptCount val="5"/>
                <c:pt idx="0">
                  <c:v>2563</c:v>
                </c:pt>
                <c:pt idx="1">
                  <c:v>2564</c:v>
                </c:pt>
                <c:pt idx="2">
                  <c:v>2565</c:v>
                </c:pt>
                <c:pt idx="3">
                  <c:v>2566</c:v>
                </c:pt>
                <c:pt idx="4">
                  <c:v>2567</c:v>
                </c:pt>
              </c:strCache>
            </c:strRef>
          </c:cat>
          <c:val>
            <c:numRef>
              <c:f>Sheet1!$E$2:$E$6</c:f>
              <c:numCache>
                <c:formatCode>General</c:formatCode>
                <c:ptCount val="5"/>
                <c:pt idx="0">
                  <c:v>0.277</c:v>
                </c:pt>
                <c:pt idx="1">
                  <c:v>0.311</c:v>
                </c:pt>
                <c:pt idx="2">
                  <c:v>0.35</c:v>
                </c:pt>
                <c:pt idx="3">
                  <c:v>0.14</c:v>
                </c:pt>
                <c:pt idx="4">
                  <c:v>0.148</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DCD3C2"/>
            </a:solidFill>
            <a:round/>
          </a:ln>
        </c:spPr>
        <c:txPr>
          <a:bodyPr/>
          <a:lstStyle/>
          <a:p>
            <a:pPr>
              <a:defRPr lang="th-TH" sz="1350">
                <a:solidFill>
                  <a:srgbClr val="5F5A50"/>
                </a:solidFill>
                <a:latin typeface="Tahoma"/>
                <a:ea typeface="Microsoft YaHei"/>
                <a:cs typeface="Tahoma"/>
              </a:defRPr>
            </a:pPr>
            <a:endParaRPr lang="th-TH"/>
          </a:p>
        </c:txPr>
        <c:crossAx val="2113994440"/>
        <c:crosses val="autoZero"/>
        <c:auto val="1"/>
        <c:lblAlgn val="ctr"/>
        <c:lblOffset val="100"/>
        <c:noMultiLvlLbl val="0"/>
      </c:catAx>
      <c:valAx>
        <c:axId val="2113994440"/>
        <c:scaling>
          <c:orientation val="minMax"/>
          <c:max val="7"/>
          <c:min val="0"/>
        </c:scaling>
        <c:delete val="0"/>
        <c:axPos val="l"/>
        <c:majorGridlines>
          <c:spPr>
            <a:ln w="6350" cap="flat" cmpd="sng" algn="ctr">
              <a:solidFill>
                <a:srgbClr val="E8DFCE"/>
              </a:solidFill>
              <a:round/>
            </a:ln>
          </c:spPr>
        </c:majorGridlines>
        <c:title>
          <c:tx>
            <c:rich>
              <a:bodyPr/>
              <a:lstStyle/>
              <a:p>
                <a:pPr/>
                <a:r>
                  <a:rPr lang="th-TH" sz="1350">
                    <a:solidFill>
                      <a:srgbClr val="5F5A50"/>
                    </a:solidFill>
                    <a:latin typeface="Tahoma"/>
                    <a:ea typeface="Microsoft YaHei"/>
                    <a:cs typeface="Tahoma"/>
                  </a:rPr>
                  <a:t>ล้านตัน</a:t>
                </a:r>
              </a:p>
            </c:rich>
          </c:tx>
          <c:layout/>
          <c:overlay val="0"/>
        </c:title>
        <c:majorTickMark val="none"/>
        <c:minorTickMark val="none"/>
        <c:tickLblPos val="nextTo"/>
        <c:spPr>
          <a:ln w="9525" cap="flat" cmpd="sng" algn="ctr">
            <a:solidFill>
              <a:srgbClr val="DCD3C2"/>
            </a:solidFill>
            <a:round/>
          </a:ln>
        </c:spPr>
        <c:txPr>
          <a:bodyPr/>
          <a:lstStyle/>
          <a:p>
            <a:pPr>
              <a:defRPr lang="th-TH" sz="1350">
                <a:solidFill>
                  <a:srgbClr val="5F5A50"/>
                </a:solidFill>
                <a:latin typeface="Tahoma"/>
                <a:ea typeface="Microsoft YaHei"/>
                <a:cs typeface="Tahoma"/>
              </a:defRPr>
            </a:pPr>
            <a:endParaRPr lang="th-TH"/>
          </a:p>
        </c:txPr>
        <c:crossAx val="2068027336"/>
        <c:crosses val="autoZero"/>
        <c:crossBetween val="between"/>
        <c:majorUnit val="1"/>
      </c:valAx>
      <c:spPr>
        <a:solidFill>
          <a:srgbClr val="FFFDF8"/>
        </a:solidFill>
        <a:ln>
          <a:noFill/>
        </a:ln>
      </c:spPr>
    </c:plotArea>
    <c:plotVisOnly val="1"/>
    <c:dispBlanksAs val="gap"/>
  </c:chart>
  <c:spPr>
    <a:solidFill>
      <a:srgbClr val="FFFDF8"/>
    </a:solidFill>
    <a:ln>
      <a:noFill/>
    </a:ln>
  </c:spPr>
  <c:txPr>
    <a:bodyPr/>
    <a:lstStyle/>
    <a:p>
      <a:pPr>
        <a:defRPr lang="th-TH" sz="1350">
          <a:solidFill>
            <a:srgbClr val="5F5A50"/>
          </a:solidFill>
          <a:latin typeface="Tahoma"/>
          <a:ea typeface="Microsoft YaHei"/>
          <a:cs typeface="Tahoma"/>
        </a:defRPr>
      </a:pPr>
      <a:endParaRPr lang="th-TH"/>
    </a:p>
  </c:txPr>
  <c:externalData r:id="rId1">
    <c:autoUpdate val="0"/>
  </c:externalData>
</c:chartSpace>
</file>

<file path=ppt/charts/chart1001.xml><?xml version="1.0" encoding="utf-8"?>
<c:chartSpace xmlns:c="http://schemas.openxmlformats.org/drawingml/2006/chart" xmlns:a="http://schemas.openxmlformats.org/drawingml/2006/main" xmlns:r="http://schemas.openxmlformats.org/officeDocument/2006/relationships">
  <c:date1904 val="0"/>
  <c:lang val="th-TH"/>
  <c:chart>
    <c:autoTitleDeleted val="1"/>
    <c:plotArea>
      <c:layout/>
      <c:doughnutChart>
        <c:varyColors val="1"/>
        <c:ser>
          <c:idx val="0"/>
          <c:order val="0"/>
          <c:tx>
            <c:strRef>
              <c:f>Sheet1!$B$1</c:f>
              <c:strCache>
                <c:ptCount val="1"/>
                <c:pt idx="0">
                  <c:v>สัดส่วนมูลค่าส่งออกข้าวหอมมะลิ ปี 2560</c:v>
                </c:pt>
              </c:strCache>
            </c:strRef>
          </c:tx>
          <c:dPt>
            <c:idx val="0"/>
            <c:spPr>
              <a:solidFill>
                <a:schemeClr val="accent1"/>
              </a:solidFill>
              <a:ln>
                <a:solidFill>
                  <a:schemeClr val="accent1"/>
                </a:solidFill>
              </a:ln>
            </c:spPr>
          </c:dPt>
          <c:dPt>
            <c:idx val="1"/>
            <c:spPr>
              <a:solidFill>
                <a:schemeClr val="accent2"/>
              </a:solidFill>
              <a:ln>
                <a:solidFill>
                  <a:schemeClr val="accent2"/>
                </a:solidFill>
              </a:ln>
            </c:spPr>
          </c:dPt>
          <c:dPt>
            <c:idx val="2"/>
            <c:spPr>
              <a:solidFill>
                <a:schemeClr val="accent3"/>
              </a:solidFill>
              <a:ln>
                <a:solidFill>
                  <a:schemeClr val="accent3"/>
                </a:solidFill>
              </a:ln>
            </c:spPr>
          </c:dPt>
          <c:dPt>
            <c:idx val="3"/>
            <c:spPr>
              <a:solidFill>
                <a:srgbClr val="5F5A50"/>
              </a:solidFill>
              <a:ln>
                <a:solidFill>
                  <a:srgbClr val="5F5A50"/>
                </a:solidFill>
              </a:ln>
            </c:spPr>
          </c:dPt>
          <c:dPt>
            <c:idx val="4"/>
            <c:spPr>
              <a:solidFill>
                <a:srgbClr val="2E7D32"/>
              </a:solidFill>
              <a:ln>
                <a:solidFill>
                  <a:srgbClr val="2E7D32"/>
                </a:solidFill>
              </a:ln>
            </c:spPr>
          </c:dPt>
          <c:dPt>
            <c:idx val="5"/>
            <c:spPr>
              <a:solidFill>
                <a:srgbClr val="DCD3C2"/>
              </a:solidFill>
              <a:ln>
                <a:solidFill>
                  <a:srgbClr val="DCD3C2"/>
                </a:solidFill>
              </a:ln>
            </c:spPr>
          </c:dPt>
          <c:cat>
            <c:strRef>
              <c:f>Sheet1!$A$2:$A$7</c:f>
              <c:strCache>
                <c:ptCount val="6"/>
                <c:pt idx="0">
                  <c:v>สหรัฐอเมริกา</c:v>
                </c:pt>
                <c:pt idx="1">
                  <c:v>จีน</c:v>
                </c:pt>
                <c:pt idx="2">
                  <c:v>ฮ่องกง</c:v>
                </c:pt>
                <c:pt idx="3">
                  <c:v>อิหร่าน</c:v>
                </c:pt>
                <c:pt idx="4">
                  <c:v>แคนาดา</c:v>
                </c:pt>
                <c:pt idx="5">
                  <c:v>อื่น ๆ</c:v>
                </c:pt>
              </c:strCache>
            </c:strRef>
          </c:cat>
          <c:val>
            <c:numRef>
              <c:f>Sheet1!$B$2:$B$7</c:f>
              <c:numCache>
                <c:formatCode>General</c:formatCode>
                <c:ptCount val="6"/>
                <c:pt idx="0">
                  <c:v>28</c:v>
                </c:pt>
                <c:pt idx="1">
                  <c:v>15</c:v>
                </c:pt>
                <c:pt idx="2">
                  <c:v>11</c:v>
                </c:pt>
                <c:pt idx="3">
                  <c:v>6</c:v>
                </c:pt>
                <c:pt idx="4">
                  <c:v>5</c:v>
                </c:pt>
                <c:pt idx="5">
                  <c:v>35</c:v>
                </c:pt>
              </c:numCache>
            </c:numRef>
          </c:val>
        </c:ser>
        <c:firstSliceAng val="0"/>
        <c:holeSize val="56"/>
      </c:doughnutChart>
      <c:spPr>
        <a:solidFill>
          <a:srgbClr val="FFFDF8"/>
        </a:solidFill>
        <a:ln>
          <a:noFill/>
        </a:ln>
      </c:spPr>
    </c:plotArea>
    <c:plotVisOnly val="1"/>
    <c:dispBlanksAs val="gap"/>
  </c:chart>
  <c:spPr>
    <a:solidFill>
      <a:srgbClr val="FFFDF8"/>
    </a:solidFill>
    <a:ln>
      <a:noFill/>
    </a:ln>
  </c:spPr>
  <c:txPr>
    <a:bodyPr/>
    <a:lstStyle/>
    <a:p>
      <a:pPr>
        <a:defRPr lang="th-TH" sz="1350">
          <a:solidFill>
            <a:schemeClr val="accent1"/>
          </a:solidFill>
          <a:latin typeface="Leelawadee UI"/>
          <a:ea typeface="Microsoft YaHei"/>
          <a:cs typeface="Leelawadee UI"/>
        </a:defRPr>
      </a:pPr>
      <a:endParaRPr lang="th-TH"/>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h-TH"/>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h-TH"/>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h-TH"/>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h-TH"/>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h-TH"/>
          </a:p>
        </p:txBody>
      </p:sp>
    </p:spTree>
  </p:cSld>
  <p:clrMap bg1="lt1" tx1="dk1" bg2="lt2" tx2="dk2" accent1="accent1" accent2="accent2" accent3="accent3" accent4="accent4" accent5="accent5" accent6="accent6" hlink="hlink" folHlink="folHlink"/>
  <p:hf/>
  <p:notesStyle>
    <a:lvl1pPr marL="0" algn="l">
      <a:defRPr sz="1200" lang="th-TH"/>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สวัสดีครับทุกท่าน วันนี้เราจะเดินทางไปกับเมล็ดข้าวหนึ่งเมล็ด จากนาในอำเภอเล็ก ๆ ของจังหวัดฉะเชิงเทรา ไปจนถึงชั้นวางสินค้าในอีกซีกหนึ่งของโลก ภาพที่ท่านเห็นคือทุ่งข้าวสุกในเวลาเช้า ซึ่งเป็นจุดเริ่มต้นของทุกตัวเลขที่เราจะพูดถึงต่อจากนี้ บรรทัดล่างวางตัวเลขสองจำนวนไว้คู่กันโดยตั้งใจ ด้านหนึ่งคือรวงข้าว 199 รวงที่เจ้าพนักงานข้าวคนหนึ่งเก็บมาจากอำเภอบางคล้าเมื่อปี 2493 ถึง 2494 อีกด้านหนึ่งคือข้าวหอม 1,740,901 ตันที่ออกจากท่าเรือของประเทศไทยในปี 2567 ระยะห่างระหว่างสองจำนวนนี้คือเรื่องที่เราจะเล่ากันในวันนี้ ตัวเลขทุกตัวในการบรรยายครั้งนี้มาจากแหล่งที่เผยแพร่แล้ว และมีบรรทัดที่มากำกับอยู่ที่ขอบล่างของทุกหน้า</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การบรรยายแบ่งเป็นสี่ตอน และคำถามเดียวที่ร้อยทั้งสี่ตอนไว้คือ อะไรทำให้ข้าวชนิดนี้ต่างจากข้าวอื่น ตอนที่หนึ่งเราจะดูที่ตัวพันธุ์ ว่ามันมาจากไหน ได้รับการรับรองเมื่อใด และอะไรทำให้มันหอม ตอนที่สองเราจะออกไปดูแผ่นดิน เพราะพันธุ์เดียวกันปลูกต่างที่ให้ผลไม่เหมือนกัน ตอนที่สามเราจะเปิดตัวเลขการส่งออกและราคา ซึ่งเป็นส่วนที่คนพูดถึงกันมากที่สุดแต่มักอ่านผิด และตอนที่สี่เราจะพูดถึงสิ่งที่ยังไม่มั่นคง ขอเรียนไว้ก่อนว่าโครงเรื่องสี่ตอนนี้ผมเรียบเรียงขึ้นเองเพื่อให้ฟังง่าย ไม่ใช่โครงสร้างที่แหล่งข้อมูลใดกำหนดไว้</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เรื่องเริ่มที่คนคนหนึ่ง นายสุนทร สีหะเนิน เจ้าพนักงานข้าว เดินเก็บรวงข้าวจากอำเภอบางคล้า จังหวัดฉะเชิงเทรา ในช่วงปี 2493 ถึง 2494 ได้มาทั้งหมด 199 รวง แล้วนำไปคัดเลือกแบบคัดพันธุ์บริสุทธิ์ จากนั้นปลูกเปรียบเทียบที่สถานีทดลองข้าวโคกสำโรง และเทียบกับพันธุ์ท้องถิ่นทั้งในภาคเหนือ ภาคกลาง และภาคตะวันออกเฉียงเหนือ สิ่งที่ผมอยากให้จำจากหน้านี้อยู่ที่ครึ่งล่าง เพราะชื่อ ขาวดอกมะลิ 4-2-105 ไม่ใช่รหัสลับ เลขสี่บอกสถานที่เก็บรวงข้าวคืออำเภอบางคล้า เลขสองบอกว่าเป็นพันธุ์ทดสอบที่สองซึ่งก็คือขาวดอกมะลิ และเลขหนึ่งร้อยห้าบอกว่าเป็นรวงที่ 105 จากทั้งหมด 199 รวง พูดอีกอย่างคือ ข้าวหอมมะลิที่เราหุงกินกันอยู่ทุกวันนี้ สืบกลับไปได้ถึงรวงข้าวรวงเดียว</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ตราประทับด้านซ้ายคือวันที่พันธุ์นี้มีสถานะทางราชการ คณะกรรมการการพิจารณาพันธุ์ให้ใช้ขยายพันธุ์เป็นพันธุ์รับรองเมื่อวันที่ 25 พฤษภาคม 2502 ทางขวาคือคุณสมบัติที่วัดได้จริง เป็นข้าวเจ้าที่ไวต่อช่วงแสง ต้นสูงประมาณ 140 เซนติเมตร เก็บเกี่ยวประมาณวันที่ 25 พฤศจิกายนของทุกปี เมล็ดข้าวกล้องยาว 7.5 กว้าง 2.1 หนา 1.8 มิลลิเมตร ส่วนข้าวเปลือกยาว 10.6 กว้าง 2.5 หนา 1.9 มิลลิเมตร มีอมิโลสอยู่ระหว่างร้อยละ 12 ถึง 17 ซึ่งเป็นเหตุผลที่หุงแล้วนุ่ม และให้ผลผลิตประมาณ 363 กิโลกรัมต่อไร่ สองแถบล่างคือหัวใจของหน้านี้ แถบเขียวบอกว่าพันธุ์นี้ทนแล้ง ทนดินเปรี้ยวและดินเค็มได้ดี ปลูกได้ในที่ที่ข้าวอื่นปลูกยาก แต่แถบส้มบอกอีกด้านว่าพันธุ์นี้ไม่ต้านทานโรคใบสีส้ม โรคขอบใบแห้ง โรคไหม้ และโรคใบหงิก และยังไม่ต้านทานเพลี้ยกระโดดสีน้ำตาล เพลี้ยจักจั่นสีเขียว และหนอนกอ ความเก่งและความเปราะของพันธุ์นี้อยู่ในตัวเดียวกัน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คำถามที่คนถามบ่อยที่สุดคือ ทำไมข้าวนี้จึงหอม คำตอบสั้นกว่าที่คิด และน่าสนใจกว่าที่คิด เพราะมันไม่ได้หอมเพราะได้รับอะไรเพิ่ม แต่หอมเพราะมีบางอย่างเสียหน้าที่ไป แผนภาพทางซ้ายอ่านจากบนลงล่างเป็นลูกโซ่ของเหตุและผล เริ่มจากยีนชื่อ badh2 บนโครโมโซมที่ 8 ซึ่งในข้าวหอมพบว่ามีเบสขาดหายไป 8 คู่ในส่วนที่เรียกว่า exon 7 ความผิดปกตินี้พบเฉพาะในข้าวหอมเท่านั้น ผลคือเอนไซม์ betaine aldehyde dehydrogenase ทำงานไม่ได้ เมื่อเอนไซม์ตัวนั้นหยุดทำงาน สารชื่อ 2-acetyl-1-pyrroline หรือเรียกย่อว่า 2AP จึงสะสมอยู่ในเมล็ด และนั่นคือกลิ่นที่เราได้เมื่อเปิดหม้อข้าว กลิ่นที่หลายคนบอกว่าเหมือนใบเตย กล่องหมายเหตุด้านล่างสำคัญพอที่ผมจะอ่านให้ฟัง งานวิจัยปี 2001 ใน Journal of Agricultural and Food Chemistry วัดสารนี้ในข้าวกล้องขาวดอกมะลิ 105 ที่ยังไม่หุง ด้วยวิธี capillary gas chromatography และตรวจพบได้จากสารสกัดเพียง 0.5 กรัม ตัวเลข 0.5 กรัมนี้เป็นความไวของวิธีวัด ไม่ใช่ค่าความเข้มข้นของสาร ผมขอย้ำเพราะสองอย่างนี้มักถูกเล่าสลับกัน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พันธุ์ดีอย่างเดียวยังไม่พอ หน้านี้พาเราออกไปดูแผ่นดิน กรอบนอกคือภาพรวมของประเทศ เนื้อที่ปลูกข้าวนาปีอยู่ที่ 8.94 ล้านเฮกตาร์ และนาปรัง 2.05 ล้านเฮกตาร์ ในปีการตลาด 2568 ถึง 2569 แต่เมื่อมองเฉพาะข้าวหอมมะลิ ภาพจะแคบลงทันที กล่องกลางบอกว่าภาคตะวันออกเฉียงเหนือมีพื้นที่ปลูกข้าวหอมมะลิถึง 22.1 ล้านไร่ คิดเป็นร้อยละ 85 ของพื้นที่ปลูกข้าวหอมมะลิทั้งประเทศ ตามข้อมูลสำนักงานเศรษฐกิจการเกษตรปี 2561 และในภาคนั้นยังมีเขตที่แคบลงไปอีก คือทุ่งกุลาร้องไห้ ซึ่งเป็นพื้นที่คุ้มครองรวม 2,107,690 ไร่ หรือราว 337,230 เฮกตาร์ กระจายในห้าจังหวัด ร้อยเอ็ดมากที่สุดที่ 986,807 ไร่ ตามด้วยสุรินทร์ 575,993 ไร่ ศรีสะเกษ 287,000 ไร่ มหาสารคาม 193,890 ไร่ และยโสธร 64,000 ไร่ ภาพขวามือคือสิ่งที่ทำให้พื้นที่นี้พิเศษ มันเป็นที่ราบแอ่งกระทะ ดินร่วนปนทราย แล้งจัดในหน้าแล้งและน้ำท่วมในหน้าฝน ซึ่งฟังดูเหมือนข้อจำกัด แต่พันธุ์ที่ทนดินเค็มและทนแล้งอย่างขาวดอกมะลิ 105 กลับให้กลิ่นและคุณภาพที่โดดเด่นในเงื่อนไขแบบนี้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หน้านี้อธิบายสิ่งที่คนเข้าใจผิดกันมาก เรื่องตรารับรอง การรับรองของข้าวหอมมะลิมีสองชั้นที่ไม่เหมือนกัน แถบเขียวด้านซ้ายคือการขึ้นทะเบียนสิ่งบ่งชี้ทางภูมิศาสตร์ในประเทศ โดยกรมทรัพย์สินทางปัญญา เมื่อวันที่ 24 ตุลาคม 2550 กรอบกลางคือการคุ้มครองในระดับสหภาพยุโรป คณะกรรมาธิการยุโรปออกระเบียบหมายเลข 120 ของปี 2013 ลงวันที่ 11 กุมภาพันธ์ ขึ้นทะเบียนชื่อ Khao Hom Mali Thung Kula Rong-Hai เป็นสิ่งบ่งชี้ทางภูมิศาสตร์คุ้มครอง ในหมวดที่หนึ่งจุดหก และนี่เป็นสินค้า GI รายการแรกของไทยที่ได้รับการคุ้มครองในสหภาพยุโรป กรอบขวาคือมาตรฐานสินค้าเกษตร ซึ่งกำหนดว่าสินค้าที่เรียกว่าข้าวหอมมะลิไทยต้องมีข้าวหอมมะลิไทยอยู่ไม่น้อยกว่าร้อยละ 92 ตารางด้านล่างวางสองเรื่องนี้ไว้บนเกณฑ์เดียวกัน สิ่งที่อยากให้เห็นคือ การรับรองพันธุ์รับรองลักษณะประจำพันธุ์ ส่วนตรา GI ไม่ได้รับรองพันธุ์ แต่รับรองว่าพันธุ์ที่กำหนดคือขาวดอกมะลิ 105 และ กข 15 ถูกปลูกในพื้นที่ที่กำหนด พร้อมเกณฑ์เมล็ดที่ต้องยาวกว่า 7.0 มิลลิเมตร และมีท้องไข่ไม่เกินร้อยละ 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คำถามต่อมาที่ตรงไปตรงมาคือ การคุ้มครองทั้งหมดนี้กลายเป็นเงินได้เท่าไร สามตัวเลขนี้ตอบคำถามนั้น ตัวเลขแรก ข้าว GI จากทุ่งกุลาร้องไห้ขายได้ราคาสูงกว่าข้าวธรรมดาประมาณร้อยละ 15 ถึง 20 ตัวเลขที่สอง ในโครงการหมู่บ้านหยอดข้าวศรีแสงดาว จังหวัดร้อยเอ็ด การเปลี่ยนมาหยอดเมล็ดโดยตรงทำให้ผลผลิตเพิ่มจาก 320 เป็น 600 กิโลกรัมต่อไร่ และตัวเลขที่สาม วิธีเดียวกันยังลดต้นทุนเมล็ดพันธุ์ลงประมาณ 1,000 บาทต่อไร่ หรือราว 87 ดอลลาร์สหรัฐ มูลค่าเพิ่มของ GI จึงไม่ได้อยู่ที่ตราบนถุง แต่อยู่ที่ราคาต่อหน่วยและต้นทุนต่อไร่ที่ถึงมือผู้ปลูก แต่แถบล่างขอให้อ่านด้วยเสมอ ตัวเลขผลผลิตและต้นทุนสองรายการหลังมาจากโครงการในหมู่บ้านเดียว ไม่ใช่ค่าเฉลี่ยของทั้งเขตคุ้มครอง จึงใช้เป็นตัวอย่างของสิ่งที่ทำได้ ไม่ใช่ตัวแทนของทั้งพื้นที่</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เราเข้าสู่ตอนที่สาม ส่วนที่คนอ่านผิดกันบ่อยที่สุด แถบภาพด้านบนคือท่าเรือส่งออก เพื่อให้ตัวเลขเกือบสิบล้านตันมีรูปร่างทางกายภาพ กราฟด้านล่างคือปริมาณส่งออกข้าวไทยห้าปี จากปี 2563 ถึง 2567 หน่วยเป็นล้านตัน เส้นหนาสีทองคือข้าวหอม ขอให้สังเกตว่ามันแทบไม่ขยับ เริ่มที่ประมาณสองล้านตันในปี 2563 และอยู่ที่ประมาณ 1.74 ล้านตันในปี 2567 ขณะที่เส้นสีเขียวเข้มคือข้าวขาว ซึ่งขึ้นจากประมาณสองล้านตันไปเป็นเกือบเจ็ดล้านตันในช่วงเวลาเดียวกัน ข้าวนึ่งค่อย ๆ ลดลงและข้าวเหนียวอยู่ในระดับต่ำตลอด กล่องขวามือให้ตัวเลขที่แน่นอน ข้าวหอมปี 2567 อยู่ที่ 1,740,901 ตัน เพิ่มขึ้นร้อยละ 3.8 จากปีก่อน ส่วนยอดรวมทุกชนิดอยู่ที่ 9,945,323 ตัน เพิ่มขึ้นร้อยละ 13.5 มูลค่า 225,656 ล้านบาท ข้อสรุปที่ผมอยากฝากไว้คือ เวลาเราได้ยินว่าการส่งออกข้าวไทยโตขึ้นมาก สิ่งที่โตคือข้าวขาว ไม่ใช่ข้าวหอม สัดส่วนของข้าวหอมในยอดรวมลดลงจากราวหนึ่งในสามเหลือราวหนึ่งในหก ซึ่งเป็นการเรียบเรียงจากตัวเลขในตารางชุดเดียวกัน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ถ้าข้าวหอมของเราทรงตัว คำถามต่อมาคือใครเป็นคนซื้อ วงกลมด้านซ้ายคือสัดส่วนมูลค่าส่งออกข้าวหอมมะลิตามข้อมูลกระทรวงพาณิชย์ปี 2560 ซึ่งรวมกัน 42,000 ล้านบาท สหรัฐอเมริกาเป็นผู้ซื้อรายใหญ่ที่สุดที่ร้อยละ 28 ตามด้วยจีนร้อยละ 15 ฮ่องกงร้อยละ 11 อิหร่านร้อยละ 6 และแคนาดาร้อยละ 5 ส่วนที่เหลือร้อยละ 35 กระจายไปตลาดอื่น จะเห็นว่าตลาดข้าวหอมมะลิกระจุกอยู่ที่สหรัฐอเมริกาและเอเชียตะวันออกเป็นหลัก รายชื่อด้านขวาเป็นอีกเรื่องหนึ่ง เป็นตลาดข้าวไทยทุกชนิดในปี 2567 ซึ่งอันดับหนึ่งคืออินโดนีเซียที่ 1.33 ล้านตัน ตามด้วยอิรัก 1 ล้านตัน สหรัฐอเมริกา 0.85 ล้านตัน แอฟริกาใต้ 0.83 ล้านตัน และฟิลิปปินส์ 0.62 ล้านตัน ผมวางสองชุดนี้ไว้คู่กันเพื่อให้เห็นว่าผู้ซื้อข้าวหอมกับผู้ซื้อข้าวไทยโดยรวมเป็นคนละกลุ่มกัน แต่ต้องย้ำตามแถบล่างว่าสองชุดนี้ต่างปีและต่างขอบเขตสินค้า จึงอ่านเทียบกันตรง ๆ ไม่ได้ และชุดสัดส่วนข้าวหอมมะลิที่ละเอียดที่สุดที่เผยแพร่แล้วก็ยังเป็นข้อมูลปี 2560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หน้านี้ตอบคำถามที่ใกล้ตัวชาวนามากที่สุด กลิ่นหอมมีราคาเท่าไร ตัวเลขทั้งสองมาจากราคาข้าวเปลือกที่ไร่นาเฉลี่ยเดือนมกราคม 2568 ด้านซ้ายคือข้าวเปลือกเจ้าที่ 9,180 บาทต่อตัน หรือ 269 ดอลลาร์สหรัฐต่อตัน ด้านขวาคือข้าวเปลือกหอมมะลิที่ 15,003 บาทต่อตัน หรือ 440 ดอลลาร์สหรัฐต่อตัน ลูกศรกลางคือส่วนต่าง 5,823 บาทต่อตัน หรือประมาณร้อยละ 63 นี่คือจำนวนเงินที่ความหอมทำให้เกิดขึ้นที่ปากนา ก่อนจะผ่านโรงสี ผู้ส่งออก และท่าเรือ สองบรรทัดล่างเป็นขอบเขตที่ต้องพูดให้ชัด นี่เป็นราคาข้าวเปลือกที่ไร่นา ไม่ใช่ราคาข้าวสารส่งออก และส่วนต่างกับร้อยละที่ผมบอกนั้นผมคำนวณจากการลบสองค่าในแหล่งเดียวกัน ไม่ใช่ตัวเลขที่แหล่งข้อมูลระบุไว้เอง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มองไปข้างหน้า สองแผงนี้เป็นตัวเลขคาดการณ์จากสองหน่วยงาน ซึ่งต้องอ่านแยกกัน แผงซ้ายคือผลผลิต USDA FAS ประเมินว่าปีการตลาด 2567 ถึง 2568 ผลผลิตข้าวไทยอยู่ที่ 20.5 ล้านตัน และคาดว่าปีการตลาด 2568 ถึง 2569 จะเพิ่มขึ้นเล็กน้อยเป็น 20.7 ล้านตัน โดยมีเนื้อที่ปลูกข้าวนาปี 8.94 ล้านเฮกตาร์และนาปรัง 2.05 ล้านเฮกตาร์ ซึ่งนาปรังเป็นระดับสูงสุดในรอบหลายปี แผงขวาคือการส่งออก ยอดจริงปี 2567 อยู่ที่ 9.95 ล้านตัน แต่ USDA FAS คาดการณ์ปีการตลาด 2568 ถึง 2569 ไว้ที่ 7.6 ล้านตัน ขณะที่กรมการค้าต่างประเทศและสมาคมผู้ส่งออกข้าวไทยคาดการณ์ปี 2568 ไว้ที่ 7.5 ล้านตัน พูดง่าย ๆ คือผลผลิตคาดว่าจะเพิ่มเล็กน้อย แต่การส่งออกคาดว่าจะลดลงจากปีที่เป็นสถิติ และขอย้ำตามแถบล่างว่าตัวเลขผลผลิตเป็นปีการตลาด ส่วนตัวเลขส่งออกของกรมการค้าต่างประเทศเป็นปีปฏิทิน จึงไม่ใช่ช่วงเวลาเดียวกัน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เข้าสู่ตอนสุดท้าย และนี่คือหน้าที่ผมคิดว่าเปลี่ยนความรู้สึกของคนฟังได้มากที่สุด เส้นเวลานี้คือผลรางวัลข้าวที่ดีที่สุดในโลก ตั้งแต่ปี 2563 ถึง 2568 สองหมุดแรกเป็นของไทย ข้าวหอมมะลิไทยชนะในปี 2563 และชนะอีกครั้งในปี 2564 โดยการประกวดครั้งที่ 13 จัดที่ดูไบระหว่างวันที่ 7 ถึง 9 ธันวาคม มีข้าว 11 ชนิดจาก 6 ประเทศเข้าชิง คือไทย สหรัฐอเมริกา จีน อินเดีย เวียดนาม และเมียนมา และรวมทั้งหมดข้าวไทยเคยชนะรางวัลนี้มาแล้ว 7 ครั้ง แต่หลังจากนั้นตำแหน่งก็เปลี่ยนมือทุกปี ปี 2565 เป็นข้าวผกาลำดวนของกัมพูชา ปี 2566 เป็นข้าวเวียดนามสองสายพันธุ์คือ Loc Troi 28 และ Nang Hoa 9 ที่เมืองเซบู ปี 2567 เป็นข้าวหอม Malys Angkor ของกัมพูชา ตัดสินที่กรุงมะนิลาวันที่ 7 พฤศจิกายน เป็นครั้งที่หกของกัมพูชา และปี 2568 ข้าว ST25 ของเวียดนามได้รางวัลร่วมกับข้าวผกาลำดวนของกัมพูชาที่กรุงพนมเปญ เป็นครั้งที่เจ็ดของกัมพูชา สรุปคือไทยชนะสองปีติดกัน แล้วไม่ได้กลับไปอยู่อันดับหนึ่งอีกในสี่ปีถัดมา</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เพื่อไม่ให้เราเทียบด้วยความรู้สึก ตารางนี้วางข้าวหอมสามรายไว้บนเกณฑ์ชุดเดียวกัน แถวแรกคือแหล่งกำเนิดและพันธุ์ ของเราคือขาวดอกมะลิ 105 รับรองปี 2502 ของอินเดียคือบาสมาติ และของเวียดนามคือ ST25 จากจังหวัดซอกจัง ที่เริ่มได้รางวัลในปี 2562 แถวที่สองคือปริมาณส่งออกล่าสุด ข้าวหอมไทยปี 2567 อยู่ที่ 1,740,901 ตัน ขณะที่อินเดียส่งออกบาสมาติในปีงบประมาณ 2567 ถึง 2568 ประมาณ 6.06 ล้านตัน ซึ่งเป็นสถิติสูงสุดด้านปริมาณของอินเดีย ส่วน ST25 ไม่มีตัวเลขแยกรายพันธุ์ที่เผยแพร่ แถวถัดมาคือมูลค่าที่อ้างอิงได้ บาสมาติของอินเดียมีมูลค่า 5.94 พันล้านดอลลาร์สหรัฐ โดยมูลค่าส่งออกข้าวทั้งหมดของอินเดียอยู่ที่ 12.47 พันล้านดอลลาร์ ขณะที่ตัวเลขฝั่งไทยที่เทียบได้เป็นมูลค่าข้าวทุกชนิดรวม 225,656 ล้านบาท แถวที่มาของกลิ่นแสดงความต่างที่ชัดเจน ของเราอธิบายได้ถึงระดับสารและยีน ส่วน ST25 มาจากการผสมพันธุ์ข้าวหอมทางใต้กับแหล่งยีนหอมทางเหนือของเวียดนาม สิ่งที่ต้องระวังอยู่ในแถบล่าง ตัวเลขไทยเป็นปีปฏิทิน ตัวเลขอินเดียเป็นปีงบประมาณเมษายนถึงมีนาคม เราจึงเทียบได้เพียงเชิงลำดับขนาด ไม่ใช่เทียบตรง และการจัดเรียงตารางนี้เป็นการเรียบเรียงของผมเอง</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ผมขอปิดด้วยข้อสรุปสามข้อ ข้อแรก พันธุ์ที่ให้กลิ่นหอมนี้คือพันธุ์เดียวกับที่ไม่ต้านทานโรคใบสีส้ม โรคขอบใบแห้ง โรคไหม้ โรคใบหงิก และไม่ต้านทานเพลี้ยกระโดดสีน้ำตาล เพลี้ยจักจั่นสีเขียว และหนอนกอ ความหอมกับความเปราะมาด้วยกัน ข้อที่สอง มูลค่าเพิ่มที่วัดได้จริงมาจากการคุ้มครองพื้นที่ ข้าว GI จากทุ่งกุลาร้องไห้ขายได้สูงกว่าข้าวธรรมดาร้อยละ 15 ถึง 20 นั่นคือระบบรับรองทำงานได้ผล แต่ต้องรักษาไว้ ข้อที่สาม ตำแหน่งข้าวที่ดีที่สุดในโลกเปลี่ยนมือทุกปี และไทยชนะครั้งล่าสุดในปี 2564 ไม่ใช่ปีนี้ ภาพมือที่กอบเมล็ดข้าวด้านซ้ายคือคนที่รับผลจากทุกตัวเลขที่เราพูดกันมาทั้งชั่วโมง และประโยคปิดของผมคือ เมล็ดที่ 105 จาก 199 รวงยังเป็นเมล็ดเดิม สิ่งที่เปลี่ยนคือสิ่งที่อยู่รอบมัน ขอบคุณครับ</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thai_jasmine_rice_t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h-TH" smtClean="0"/>
              <a:t>1/27/13</a:t>
            </a:fld>
            <a:endParaRPr lang="th-TH"/>
          </a:p>
        </p:txBody>
      </p:sp>
      <p:sp>
        <p:nvSpPr>
          <p:cNvPr id="3" name="Footer Placeholder 2"/>
          <p:cNvSpPr>
            <a:spLocks noGrp="1"/>
          </p:cNvSpPr>
          <p:nvPr>
            <p:ph type="ftr" sz="quarter" idx="11"/>
          </p:nvPr>
        </p:nvSpPr>
        <p:spPr/>
        <p:txBody>
          <a:bodyPr/>
          <a:lstStyle/>
          <a:p>
            <a:endParaRPr lang="th-TH"/>
          </a:p>
        </p:txBody>
      </p:sp>
      <p:sp>
        <p:nvSpPr>
          <p:cNvPr id="4" name="Slide Number Placeholder 3"/>
          <p:cNvSpPr>
            <a:spLocks noGrp="1"/>
          </p:cNvSpPr>
          <p:nvPr>
            <p:ph type="sldNum" sz="quarter" idx="12"/>
          </p:nvPr>
        </p:nvSpPr>
        <p:spPr/>
        <p:txBody>
          <a:bodyPr/>
          <a:lstStyle/>
          <a:p>
            <a:fld id="{C1FF6DA9-008F-8B48-92A6-B652298478BF}" type="slidenum">
              <a:rPr lang="th-TH" smtClean="0"/>
              <a:t>‹#›</a:t>
            </a:fld>
            <a:endParaRPr lang="th-TH"/>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thai_jasmine_rice_t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th-TH" smtClean="0"/>
              <a:t>1/27/13</a:t>
            </a:fld>
            <a:endParaRPr lang="th-TH"/>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th-TH" smtClean="0"/>
              <a:t>‹#›</a:t>
            </a:fld>
            <a:endParaRPr lang="th-TH"/>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th-TH"/>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362c224d92f70e5.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356bd57dbf6ec6b.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f920cd5ae218a96.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d44c807cfd175e.jpg"/>
  <Relationship Id="rId3" Type="http://schemas.openxmlformats.org/officeDocument/2006/relationships/chart" Target="../charts/chart901.xml"/>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2aa25dd01c5da5b.jp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over-wash"/>
          <p:cNvSpPr/>
          <p:nvPr/>
        </p:nvSpPr>
        <p:spPr>
          <a:xfrm>
            <a:off x="0" y="0"/>
            <a:ext cx="12192000" cy="4191000"/>
          </a:xfrm>
          <a:prstGeom prst="rect">
            <a:avLst/>
          </a:prstGeom>
          <a:gradFill>
            <a:gsLst>
              <a:gs pos="0">
                <a:schemeClr val="lt1">
                  <a:alpha val="94000"/>
                </a:schemeClr>
              </a:gs>
              <a:gs pos="62000">
                <a:schemeClr val="lt1">
                  <a:alpha val="58000"/>
                </a:schemeClr>
              </a:gs>
              <a:gs pos="100000">
                <a:schemeClr val="lt1">
                  <a:alpha val="0"/>
                </a:schemeClr>
              </a:gs>
            </a:gsLst>
            <a:lin ang="5400000" scaled="1"/>
          </a:gradFill>
          <a:ln>
            <a:noFill/>
          </a:ln>
        </p:spPr>
      </p:sp>
      <p:sp>
        <p:nvSpPr>
          <p:cNvPr id="4" name="cover-motif-panicle"/>
          <p:cNvSpPr/>
          <p:nvPr/>
        </p:nvSpPr>
        <p:spPr>
          <a:xfrm>
            <a:off x="10706100" y="876300"/>
            <a:ext cx="571500" cy="1847850"/>
          </a:xfrm>
          <a:custGeom>
            <a:avLst/>
            <a:gdLst/>
            <a:ahLst/>
            <a:cxnLst/>
            <a:rect l="l" t="t" r="r" b="b"/>
            <a:pathLst>
              <a:path w="571500" h="1847850">
                <a:moveTo>
                  <a:pt x="571500" y="0"/>
                </a:moveTo>
                <a:cubicBezTo>
                  <a:pt x="209550" y="552450"/>
                  <a:pt x="0" y="1162050"/>
                  <a:pt x="57150" y="1847850"/>
                </a:cubicBezTo>
                <a:moveTo>
                  <a:pt x="495300" y="381000"/>
                </a:moveTo>
                <a:cubicBezTo>
                  <a:pt x="247650" y="457200"/>
                  <a:pt x="95250" y="609600"/>
                  <a:pt x="38100" y="819150"/>
                </a:cubicBezTo>
                <a:moveTo>
                  <a:pt x="400050" y="800100"/>
                </a:moveTo>
                <a:cubicBezTo>
                  <a:pt x="171450" y="876300"/>
                  <a:pt x="38100" y="1028700"/>
                  <a:pt x="0" y="1238250"/>
                </a:cubicBezTo>
                <a:moveTo>
                  <a:pt x="304800" y="1219200"/>
                </a:moveTo>
                <a:cubicBezTo>
                  <a:pt x="114300" y="1295400"/>
                  <a:pt x="19050" y="1428750"/>
                  <a:pt x="0" y="1619250"/>
                </a:cubicBezTo>
              </a:path>
            </a:pathLst>
          </a:custGeom>
          <a:noFill/>
          <a:ln w="38100" cap="rnd">
            <a:solidFill>
              <a:schemeClr val="accent2"/>
            </a:solidFill>
          </a:ln>
        </p:spPr>
      </p:sp>
      <p:grpSp>
        <p:nvGrpSpPr>
          <p:cNvPr id="8" name="cover-title"/>
          <p:cNvGrpSpPr/>
          <p:nvPr/>
        </p:nvGrpSpPr>
        <p:grpSpPr>
          <a:xfrm>
            <a:off x="895350" y="1428750"/>
            <a:ext cx="7875460" cy="2426017"/>
            <a:chOff x="895350" y="1428750"/>
            <a:chExt cx="7875460" cy="2426017"/>
          </a:xfrm>
        </p:grpSpPr>
        <p:sp>
          <p:nvSpPr>
            <p:cNvPr id="5" name="Rectangle 5"/>
            <p:cNvSpPr/>
            <p:nvPr/>
          </p:nvSpPr>
          <p:spPr>
            <a:xfrm>
              <a:off x="914400" y="1428750"/>
              <a:ext cx="1181100" cy="76200"/>
            </a:xfrm>
            <a:prstGeom prst="rect">
              <a:avLst/>
            </a:prstGeom>
            <a:solidFill>
              <a:schemeClr val="accent2"/>
            </a:solidFill>
            <a:ln>
              <a:noFill/>
            </a:ln>
          </p:spPr>
        </p:sp>
        <p:sp>
          <p:nvSpPr>
            <p:cNvPr id="6" name="TextBox 6"/>
            <p:cNvSpPr txBox="1"/>
            <p:nvPr/>
          </p:nvSpPr>
          <p:spPr>
            <a:xfrm>
              <a:off x="895350" y="1664970"/>
              <a:ext cx="3602546" cy="1962150"/>
            </a:xfrm>
            <a:prstGeom prst="rect">
              <a:avLst/>
            </a:prstGeom>
            <a:noFill/>
            <a:ln>
              <a:noFill/>
            </a:ln>
          </p:spPr>
          <p:txBody>
            <a:bodyPr wrap="none" lIns="0" tIns="0" rIns="0" bIns="0" anchor="t" anchorCtr="0">
              <a:spAutoFit/>
            </a:bodyPr>
            <a:lstStyle/>
            <a:p>
              <a:pPr algn="l">
                <a:lnSpc>
                  <a:spcPts val="7200"/>
                </a:lnSpc>
              </a:pPr>
              <a:r>
                <a:rPr lang="th-TH" sz="5400" b="1" dirty="0">
                  <a:solidFill>
                    <a:schemeClr val="accent1"/>
                  </a:solidFill>
                  <a:latin typeface="+mn-lt"/>
                  <a:ea typeface="+mn-ea"/>
                  <a:cs typeface="+mn-cs"/>
                </a:rPr>
                <a:t>ข้าวหอมมะลิ</a:t>
              </a:r>
              <a:br/>
              <a:r>
                <a:rPr lang="th-TH" sz="5400" b="1" dirty="0">
                  <a:solidFill>
                    <a:schemeClr val="accent1"/>
                  </a:solidFill>
                  <a:latin typeface="+mn-lt"/>
                  <a:ea typeface="+mn-ea"/>
                  <a:cs typeface="+mn-cs"/>
                </a:rPr>
                <a:t>จากนาสู่โลก</a:t>
              </a:r>
            </a:p>
          </p:txBody>
        </p:sp>
        <p:sp>
          <p:nvSpPr>
            <p:cNvPr id="7" name="TextBox 7"/>
            <p:cNvSpPr txBox="1"/>
            <p:nvPr/>
          </p:nvSpPr>
          <p:spPr>
            <a:xfrm>
              <a:off x="902970" y="3414712"/>
              <a:ext cx="7867840" cy="440055"/>
            </a:xfrm>
            <a:prstGeom prst="rect">
              <a:avLst/>
            </a:prstGeom>
            <a:noFill/>
            <a:ln>
              <a:noFill/>
            </a:ln>
          </p:spPr>
          <p:txBody>
            <a:bodyPr wrap="none" lIns="0" tIns="0" rIns="0" bIns="0" anchor="t" anchorCtr="0">
              <a:spAutoFit/>
            </a:bodyPr>
            <a:lstStyle/>
            <a:p>
              <a:pPr algn="l"/>
              <a:r>
                <a:rPr lang="th-TH" sz="2250" dirty="0">
                  <a:solidFill>
                    <a:schemeClr val="accent5"/>
                  </a:solidFill>
                  <a:latin typeface="+mn-lt"/>
                  <a:ea typeface="+mn-ea"/>
                  <a:cs typeface="+mn-cs"/>
                </a:rPr>
                <a:t>การบรรยายสาธารณะ · เรียบเรียงจากแหล่งข้อมูลที่เผยแพร่แล้ว</a:t>
              </a:r>
            </a:p>
          </p:txBody>
        </p:sp>
      </p:grpSp>
      <p:grpSp>
        <p:nvGrpSpPr>
          <p:cNvPr id="12" name="cover-hook"/>
          <p:cNvGrpSpPr/>
          <p:nvPr/>
        </p:nvGrpSpPr>
        <p:grpSpPr>
          <a:xfrm>
            <a:off x="914400" y="4476750"/>
            <a:ext cx="6515100" cy="1257300"/>
            <a:chOff x="914400" y="4476750"/>
            <a:chExt cx="6515100" cy="1257300"/>
          </a:xfrm>
        </p:grpSpPr>
        <p:sp>
          <p:nvSpPr>
            <p:cNvPr id="9" name="Rectangle 9"/>
            <p:cNvSpPr/>
            <p:nvPr/>
          </p:nvSpPr>
          <p:spPr>
            <a:xfrm>
              <a:off x="914400" y="4476750"/>
              <a:ext cx="6515100" cy="1257300"/>
            </a:xfrm>
            <a:prstGeom prst="rect">
              <a:avLst/>
            </a:prstGeom>
            <a:solidFill>
              <a:schemeClr val="lt2">
                <a:alpha val="95000"/>
              </a:schemeClr>
            </a:solidFill>
            <a:ln>
              <a:noFill/>
            </a:ln>
          </p:spPr>
        </p:sp>
        <p:sp>
          <p:nvSpPr>
            <p:cNvPr id="10" name="Rectangle 10"/>
            <p:cNvSpPr/>
            <p:nvPr/>
          </p:nvSpPr>
          <p:spPr>
            <a:xfrm>
              <a:off x="914400" y="4476750"/>
              <a:ext cx="76200" cy="1257300"/>
            </a:xfrm>
            <a:prstGeom prst="rect">
              <a:avLst/>
            </a:prstGeom>
            <a:solidFill>
              <a:schemeClr val="accent3"/>
            </a:solidFill>
            <a:ln>
              <a:noFill/>
            </a:ln>
          </p:spPr>
        </p:sp>
        <p:sp>
          <p:nvSpPr>
            <p:cNvPr id="11" name="TextBox 11"/>
            <p:cNvSpPr txBox="1"/>
            <p:nvPr/>
          </p:nvSpPr>
          <p:spPr>
            <a:xfrm>
              <a:off x="1248156" y="4758690"/>
              <a:ext cx="5645848" cy="752094"/>
            </a:xfrm>
            <a:prstGeom prst="rect">
              <a:avLst/>
            </a:prstGeom>
            <a:noFill/>
            <a:ln>
              <a:noFill/>
            </a:ln>
          </p:spPr>
          <p:txBody>
            <a:bodyPr wrap="none" lIns="0" tIns="0" rIns="0" bIns="0" anchor="t" anchorCtr="0">
              <a:spAutoFit/>
            </a:bodyPr>
            <a:lstStyle/>
            <a:p>
              <a:pPr algn="l">
                <a:lnSpc>
                  <a:spcPts val="3150"/>
                </a:lnSpc>
              </a:pPr>
              <a:r>
                <a:rPr lang="th-TH" sz="1800" dirty="0">
                  <a:solidFill>
                    <a:schemeClr val="dk1"/>
                  </a:solidFill>
                  <a:latin typeface="+mn-lt"/>
                  <a:ea typeface="+mn-ea"/>
                  <a:cs typeface="+mn-cs"/>
                </a:rPr>
                <a:t xml:space="preserve">จาก </a:t>
              </a:r>
              <a:r>
                <a:rPr lang="th-TH" sz="1800" b="1" dirty="0">
                  <a:solidFill>
                    <a:schemeClr val="accent3"/>
                  </a:solidFill>
                  <a:latin typeface="+mn-lt"/>
                  <a:ea typeface="+mn-ea"/>
                  <a:cs typeface="+mn-cs"/>
                </a:rPr>
                <a:t>199 รวง</a:t>
              </a:r>
              <a:r>
                <a:rPr lang="th-TH" sz="1800" dirty="0">
                  <a:solidFill>
                    <a:schemeClr val="dk1"/>
                  </a:solidFill>
                  <a:latin typeface="+mn-lt"/>
                  <a:ea typeface="+mn-ea"/>
                  <a:cs typeface="+mn-cs"/>
                </a:rPr>
                <a:t>ที่เก็บในอำเภอบางคล้า พ.ศ. 2493–2494</a:t>
              </a:r>
              <a:br/>
              <a:r>
                <a:rPr lang="th-TH" sz="1800" dirty="0">
                  <a:solidFill>
                    <a:schemeClr val="dk1"/>
                  </a:solidFill>
                  <a:latin typeface="+mn-lt"/>
                  <a:ea typeface="+mn-ea"/>
                  <a:cs typeface="+mn-cs"/>
                </a:rPr>
                <a:t xml:space="preserve">ถึงข้าวหอม </a:t>
              </a:r>
              <a:r>
                <a:rPr lang="th-TH" sz="1800" b="1" dirty="0">
                  <a:solidFill>
                    <a:schemeClr val="accent3"/>
                  </a:solidFill>
                  <a:latin typeface="+mn-lt"/>
                  <a:ea typeface="+mn-ea"/>
                  <a:cs typeface="+mn-cs"/>
                </a:rPr>
                <a:t>1,740,901 ตัน</a:t>
              </a:r>
              <a:r>
                <a:rPr lang="th-TH" sz="1800" dirty="0">
                  <a:solidFill>
                    <a:schemeClr val="dk1"/>
                  </a:solidFill>
                  <a:latin typeface="+mn-lt"/>
                  <a:ea typeface="+mn-ea"/>
                  <a:cs typeface="+mn-cs"/>
                </a:rPr>
                <a:t xml:space="preserve"> ที่ออกจากประเทศไทยในปี 2567</a:t>
              </a:r>
            </a:p>
          </p:txBody>
        </p:sp>
      </p:grpSp>
      <p:grpSp>
        <p:nvGrpSpPr>
          <p:cNvPr id="14" name="cover-source"/>
          <p:cNvGrpSpPr/>
          <p:nvPr/>
        </p:nvGrpSpPr>
        <p:grpSpPr>
          <a:xfrm>
            <a:off x="908304" y="6423660"/>
            <a:ext cx="7224356" cy="234696"/>
            <a:chOff x="908304" y="6423660"/>
            <a:chExt cx="7224356" cy="234696"/>
          </a:xfrm>
        </p:grpSpPr>
        <p:sp>
          <p:nvSpPr>
            <p:cNvPr id="13" name="TextBox 13"/>
            <p:cNvSpPr txBox="1"/>
            <p:nvPr/>
          </p:nvSpPr>
          <p:spPr>
            <a:xfrm>
              <a:off x="908304" y="6423660"/>
              <a:ext cx="7224356"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Rice Knowledge Bank กรมการข้าว · Grain and Feed Annual TH2025-0011, USDA FAS (2568)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par>
                          <p:cTn id="8" fill="hold">
                            <p:stCondLst>
                              <p:cond delay="700"/>
                            </p:stCondLst>
                            <p:childTnLst>
                              <p:par>
                                <p:cTn xmlns:p="http://schemas.openxmlformats.org/presentationml/2006/main" id="9" presetID="22" presetClass="entr" presetSubtype="2" fill="hold" grpId="0" nodeType="afterEffect">
                                  <p:stCondLst>
                                    <p:cond delay="3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oadmap-motif-panicle"/>
          <p:cNvSpPr/>
          <p:nvPr/>
        </p:nvSpPr>
        <p:spPr>
          <a:xfrm>
            <a:off x="11068050" y="685800"/>
            <a:ext cx="438150" cy="1181100"/>
          </a:xfrm>
          <a:custGeom>
            <a:avLst/>
            <a:gdLst/>
            <a:ahLst/>
            <a:cxnLst/>
            <a:rect l="l" t="t" r="r" b="b"/>
            <a:pathLst>
              <a:path w="438150" h="1181100">
                <a:moveTo>
                  <a:pt x="438150" y="0"/>
                </a:moveTo>
                <a:cubicBezTo>
                  <a:pt x="152400" y="342900"/>
                  <a:pt x="0" y="723900"/>
                  <a:pt x="38100" y="1181100"/>
                </a:cubicBezTo>
                <a:moveTo>
                  <a:pt x="381000" y="247650"/>
                </a:moveTo>
                <a:cubicBezTo>
                  <a:pt x="190500" y="304800"/>
                  <a:pt x="76200" y="419100"/>
                  <a:pt x="38100" y="571500"/>
                </a:cubicBezTo>
                <a:moveTo>
                  <a:pt x="304800" y="552450"/>
                </a:moveTo>
                <a:cubicBezTo>
                  <a:pt x="133350" y="609600"/>
                  <a:pt x="38100" y="723900"/>
                  <a:pt x="9525" y="876300"/>
                </a:cubicBezTo>
              </a:path>
            </a:pathLst>
          </a:custGeom>
          <a:noFill/>
          <a:ln w="38100" cap="rnd">
            <a:solidFill>
              <a:schemeClr val="accent6"/>
            </a:solidFill>
          </a:ln>
        </p:spPr>
      </p:sp>
      <p:grpSp>
        <p:nvGrpSpPr>
          <p:cNvPr id="7" name="page-header"/>
          <p:cNvGrpSpPr/>
          <p:nvPr/>
        </p:nvGrpSpPr>
        <p:grpSpPr>
          <a:xfrm>
            <a:off x="594360" y="742950"/>
            <a:ext cx="10988040" cy="1187767"/>
            <a:chOff x="594360" y="742950"/>
            <a:chExt cx="10988040" cy="1187767"/>
          </a:xfrm>
        </p:grpSpPr>
        <p:sp>
          <p:nvSpPr>
            <p:cNvPr id="3" name="Rectangle 3"/>
            <p:cNvSpPr/>
            <p:nvPr/>
          </p:nvSpPr>
          <p:spPr>
            <a:xfrm>
              <a:off x="609600" y="742950"/>
              <a:ext cx="914400" cy="57150"/>
            </a:xfrm>
            <a:prstGeom prst="rect">
              <a:avLst/>
            </a:prstGeom>
            <a:solidFill>
              <a:schemeClr val="accent2"/>
            </a:solidFill>
            <a:ln>
              <a:noFill/>
            </a:ln>
          </p:spPr>
        </p:sp>
        <p:sp>
          <p:nvSpPr>
            <p:cNvPr id="4" name="TextBox 4"/>
            <p:cNvSpPr txBox="1"/>
            <p:nvPr/>
          </p:nvSpPr>
          <p:spPr>
            <a:xfrm>
              <a:off x="594360" y="838200"/>
              <a:ext cx="4228605"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เส้นทางของการบรรยาย</a:t>
              </a:r>
            </a:p>
          </p:txBody>
        </p:sp>
        <p:sp>
          <p:nvSpPr>
            <p:cNvPr id="5" name="Line 5"/>
            <p:cNvSpPr/>
            <p:nvPr/>
          </p:nvSpPr>
          <p:spPr>
            <a:xfrm>
              <a:off x="609600" y="1371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490662"/>
              <a:ext cx="8276749"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คำถามเดียวที่ร้อยทั้งสี่ตอนไว้คือ อะไรทำให้ข้าวชนิดนี้ต่างจากข้าวอื่น</a:t>
              </a:r>
            </a:p>
          </p:txBody>
        </p:sp>
      </p:grpSp>
      <p:grpSp>
        <p:nvGrpSpPr>
          <p:cNvPr id="12" name="part-1"/>
          <p:cNvGrpSpPr/>
          <p:nvPr/>
        </p:nvGrpSpPr>
        <p:grpSpPr>
          <a:xfrm>
            <a:off x="609600" y="2019300"/>
            <a:ext cx="3495675" cy="3695700"/>
            <a:chOff x="609600" y="2019300"/>
            <a:chExt cx="3495675" cy="3695700"/>
          </a:xfrm>
        </p:grpSpPr>
        <p:sp>
          <p:nvSpPr>
            <p:cNvPr id="8" name="Rectangle 8"/>
            <p:cNvSpPr/>
            <p:nvPr/>
          </p:nvSpPr>
          <p:spPr>
            <a:xfrm>
              <a:off x="609600" y="2019300"/>
              <a:ext cx="3495675" cy="3695700"/>
            </a:xfrm>
            <a:prstGeom prst="rect">
              <a:avLst/>
            </a:prstGeom>
            <a:solidFill>
              <a:schemeClr val="accent1"/>
            </a:solidFill>
            <a:ln>
              <a:noFill/>
            </a:ln>
          </p:spPr>
        </p:sp>
        <p:sp>
          <p:nvSpPr>
            <p:cNvPr id="9" name="TextBox 9"/>
            <p:cNvSpPr txBox="1"/>
            <p:nvPr/>
          </p:nvSpPr>
          <p:spPr>
            <a:xfrm>
              <a:off x="857250" y="2423160"/>
              <a:ext cx="597850" cy="1390650"/>
            </a:xfrm>
            <a:prstGeom prst="rect">
              <a:avLst/>
            </a:prstGeom>
            <a:noFill/>
            <a:ln>
              <a:noFill/>
            </a:ln>
          </p:spPr>
          <p:txBody>
            <a:bodyPr wrap="none" lIns="0" tIns="0" rIns="0" bIns="0" anchor="t" anchorCtr="0">
              <a:spAutoFit/>
            </a:bodyPr>
            <a:lstStyle/>
            <a:p>
              <a:pPr algn="l"/>
              <a:r>
                <a:rPr lang="th-TH" sz="7200" b="1" dirty="0">
                  <a:solidFill>
                    <a:schemeClr val="accent2"/>
                  </a:solidFill>
                  <a:latin typeface="+mn-lt"/>
                  <a:ea typeface="+mn-ea"/>
                  <a:cs typeface="+mn-cs"/>
                </a:rPr>
                <a:t>1</a:t>
              </a:r>
            </a:p>
          </p:txBody>
        </p:sp>
        <p:sp>
          <p:nvSpPr>
            <p:cNvPr id="10" name="TextBox 10"/>
            <p:cNvSpPr txBox="1"/>
            <p:nvPr/>
          </p:nvSpPr>
          <p:spPr>
            <a:xfrm>
              <a:off x="864108" y="3550920"/>
              <a:ext cx="1890217" cy="469392"/>
            </a:xfrm>
            <a:prstGeom prst="rect">
              <a:avLst/>
            </a:prstGeom>
            <a:noFill/>
            <a:ln>
              <a:noFill/>
            </a:ln>
          </p:spPr>
          <p:txBody>
            <a:bodyPr wrap="none" lIns="0" tIns="0" rIns="0" bIns="0" anchor="t" anchorCtr="0">
              <a:spAutoFit/>
            </a:bodyPr>
            <a:lstStyle/>
            <a:p>
              <a:pPr algn="l"/>
              <a:r>
                <a:rPr lang="th-TH" sz="2400" b="1" dirty="0">
                  <a:solidFill>
                    <a:srgbClr val="FBF7EF"/>
                  </a:solidFill>
                  <a:latin typeface="+mn-lt"/>
                  <a:ea typeface="+mn-ea"/>
                  <a:cs typeface="+mn-cs"/>
                </a:rPr>
                <a:t>พันธุ์และตัวตน</a:t>
              </a:r>
            </a:p>
          </p:txBody>
        </p:sp>
        <p:sp>
          <p:nvSpPr>
            <p:cNvPr id="11" name="TextBox 11"/>
            <p:cNvSpPr txBox="1"/>
            <p:nvPr/>
          </p:nvSpPr>
          <p:spPr>
            <a:xfrm>
              <a:off x="869442" y="4178618"/>
              <a:ext cx="1616774" cy="835533"/>
            </a:xfrm>
            <a:prstGeom prst="rect">
              <a:avLst/>
            </a:prstGeom>
            <a:noFill/>
            <a:ln>
              <a:noFill/>
            </a:ln>
          </p:spPr>
          <p:txBody>
            <a:bodyPr wrap="none" lIns="0" tIns="0" rIns="0" bIns="0" anchor="t" anchorCtr="0">
              <a:spAutoFit/>
            </a:bodyPr>
            <a:lstStyle/>
            <a:p>
              <a:pPr algn="l">
                <a:lnSpc>
                  <a:spcPts val="2250"/>
                </a:lnSpc>
              </a:pPr>
              <a:r>
                <a:rPr lang="th-TH" sz="1350" dirty="0">
                  <a:solidFill>
                    <a:srgbClr val="F1E8D6"/>
                  </a:solidFill>
                  <a:latin typeface="+mn-lt"/>
                  <a:ea typeface="+mn-ea"/>
                  <a:cs typeface="+mn-cs"/>
                </a:rPr>
                <a:t>199 รวงจากบางคล้า</a:t>
              </a:r>
              <a:br/>
              <a:r>
                <a:rPr lang="th-TH" sz="1350" dirty="0">
                  <a:solidFill>
                    <a:srgbClr val="F1E8D6"/>
                  </a:solidFill>
                  <a:latin typeface="+mn-lt"/>
                  <a:ea typeface="+mn-ea"/>
                  <a:cs typeface="+mn-cs"/>
                </a:rPr>
                <a:t>การรับรองพันธุ์ 2502</a:t>
              </a:r>
              <a:br/>
              <a:r>
                <a:rPr lang="th-TH" sz="1350" dirty="0">
                  <a:solidFill>
                    <a:srgbClr val="F1E8D6"/>
                  </a:solidFill>
                  <a:latin typeface="+mn-lt"/>
                  <a:ea typeface="+mn-ea"/>
                  <a:cs typeface="+mn-cs"/>
                </a:rPr>
                <a:t>กลไกความหอมระดับยีน</a:t>
              </a:r>
            </a:p>
          </p:txBody>
        </p:sp>
      </p:grpSp>
      <p:grpSp>
        <p:nvGrpSpPr>
          <p:cNvPr id="17" name="part-2"/>
          <p:cNvGrpSpPr/>
          <p:nvPr/>
        </p:nvGrpSpPr>
        <p:grpSpPr>
          <a:xfrm>
            <a:off x="4410075" y="2019300"/>
            <a:ext cx="2190750" cy="3695700"/>
            <a:chOff x="4410075" y="2019300"/>
            <a:chExt cx="2190750" cy="3695700"/>
          </a:xfrm>
        </p:grpSpPr>
        <p:sp>
          <p:nvSpPr>
            <p:cNvPr id="13" name="Rectangle 13"/>
            <p:cNvSpPr/>
            <p:nvPr/>
          </p:nvSpPr>
          <p:spPr>
            <a:xfrm>
              <a:off x="4410075" y="2019300"/>
              <a:ext cx="2190750" cy="3695700"/>
            </a:xfrm>
            <a:prstGeom prst="rect">
              <a:avLst/>
            </a:prstGeom>
            <a:noFill/>
            <a:ln w="19050">
              <a:solidFill>
                <a:schemeClr val="accent6"/>
              </a:solidFill>
            </a:ln>
          </p:spPr>
        </p:sp>
        <p:sp>
          <p:nvSpPr>
            <p:cNvPr id="14" name="TextBox 14"/>
            <p:cNvSpPr txBox="1"/>
            <p:nvPr/>
          </p:nvSpPr>
          <p:spPr>
            <a:xfrm>
              <a:off x="4619625" y="2327910"/>
              <a:ext cx="597850" cy="1390650"/>
            </a:xfrm>
            <a:prstGeom prst="rect">
              <a:avLst/>
            </a:prstGeom>
            <a:noFill/>
            <a:ln>
              <a:noFill/>
            </a:ln>
          </p:spPr>
          <p:txBody>
            <a:bodyPr wrap="none" lIns="0" tIns="0" rIns="0" bIns="0" anchor="t" anchorCtr="0">
              <a:spAutoFit/>
            </a:bodyPr>
            <a:lstStyle/>
            <a:p>
              <a:pPr algn="l"/>
              <a:r>
                <a:rPr lang="th-TH" sz="7200" b="1" dirty="0">
                  <a:solidFill>
                    <a:schemeClr val="accent6"/>
                  </a:solidFill>
                  <a:latin typeface="+mn-lt"/>
                  <a:ea typeface="+mn-ea"/>
                  <a:cs typeface="+mn-cs"/>
                </a:rPr>
                <a:t>2</a:t>
              </a:r>
            </a:p>
          </p:txBody>
        </p:sp>
        <p:sp>
          <p:nvSpPr>
            <p:cNvPr id="15" name="TextBox 15"/>
            <p:cNvSpPr txBox="1"/>
            <p:nvPr/>
          </p:nvSpPr>
          <p:spPr>
            <a:xfrm>
              <a:off x="4629531" y="3444240"/>
              <a:ext cx="1074420" cy="675894"/>
            </a:xfrm>
            <a:prstGeom prst="rect">
              <a:avLst/>
            </a:prstGeom>
            <a:noFill/>
            <a:ln>
              <a:noFill/>
            </a:ln>
          </p:spPr>
          <p:txBody>
            <a:bodyPr wrap="none" lIns="0" tIns="0" rIns="0" bIns="0" anchor="t" anchorCtr="0">
              <a:spAutoFit/>
            </a:bodyPr>
            <a:lstStyle/>
            <a:p>
              <a:pPr algn="l">
                <a:lnSpc>
                  <a:spcPts val="2550"/>
                </a:lnSpc>
              </a:pPr>
              <a:r>
                <a:rPr lang="th-TH" sz="1800" b="1" dirty="0">
                  <a:solidFill>
                    <a:schemeClr val="accent1"/>
                  </a:solidFill>
                  <a:latin typeface="+mn-lt"/>
                  <a:ea typeface="+mn-ea"/>
                  <a:cs typeface="+mn-cs"/>
                </a:rPr>
                <a:t>แผ่นดินที่</a:t>
              </a:r>
              <a:br/>
              <a:r>
                <a:rPr lang="th-TH" sz="1800" b="1" dirty="0">
                  <a:solidFill>
                    <a:schemeClr val="accent1"/>
                  </a:solidFill>
                  <a:latin typeface="+mn-lt"/>
                  <a:ea typeface="+mn-ea"/>
                  <a:cs typeface="+mn-cs"/>
                </a:rPr>
                <a:t>ให้กลิ่นหอม</a:t>
              </a:r>
            </a:p>
          </p:txBody>
        </p:sp>
        <p:sp>
          <p:nvSpPr>
            <p:cNvPr id="16" name="TextBox 16"/>
            <p:cNvSpPr txBox="1"/>
            <p:nvPr/>
          </p:nvSpPr>
          <p:spPr>
            <a:xfrm>
              <a:off x="4631817" y="4140518"/>
              <a:ext cx="1342454" cy="835533"/>
            </a:xfrm>
            <a:prstGeom prst="rect">
              <a:avLst/>
            </a:prstGeom>
            <a:noFill/>
            <a:ln>
              <a:noFill/>
            </a:ln>
          </p:spPr>
          <p:txBody>
            <a:bodyPr wrap="none" lIns="0" tIns="0" rIns="0" bIns="0" anchor="t" anchorCtr="0">
              <a:spAutoFit/>
            </a:bodyPr>
            <a:lstStyle/>
            <a:p>
              <a:pPr algn="l">
                <a:lnSpc>
                  <a:spcPts val="2250"/>
                </a:lnSpc>
              </a:pPr>
              <a:r>
                <a:rPr lang="th-TH" sz="1350" dirty="0">
                  <a:solidFill>
                    <a:schemeClr val="accent5"/>
                  </a:solidFill>
                  <a:latin typeface="+mn-lt"/>
                  <a:ea typeface="+mn-ea"/>
                  <a:cs typeface="+mn-cs"/>
                </a:rPr>
                <a:t>อีสาน 22.1 ล้านไร่</a:t>
              </a:r>
              <a:br/>
              <a:r>
                <a:rPr lang="th-TH" sz="1350" dirty="0">
                  <a:solidFill>
                    <a:schemeClr val="accent5"/>
                  </a:solidFill>
                  <a:latin typeface="+mn-lt"/>
                  <a:ea typeface="+mn-ea"/>
                  <a:cs typeface="+mn-cs"/>
                </a:rPr>
                <a:t>ทุ่งกุลาร้องไห้</a:t>
              </a:r>
              <a:br/>
              <a:r>
                <a:rPr lang="th-TH" sz="1350" dirty="0">
                  <a:solidFill>
                    <a:schemeClr val="accent5"/>
                  </a:solidFill>
                  <a:latin typeface="+mn-lt"/>
                  <a:ea typeface="+mn-ea"/>
                  <a:cs typeface="+mn-cs"/>
                </a:rPr>
                <a:t>การคุ้มครอง GI</a:t>
              </a:r>
            </a:p>
          </p:txBody>
        </p:sp>
      </p:grpSp>
      <p:grpSp>
        <p:nvGrpSpPr>
          <p:cNvPr id="22" name="part-3"/>
          <p:cNvGrpSpPr/>
          <p:nvPr/>
        </p:nvGrpSpPr>
        <p:grpSpPr>
          <a:xfrm>
            <a:off x="6905625" y="2019300"/>
            <a:ext cx="2190750" cy="3695700"/>
            <a:chOff x="6905625" y="2019300"/>
            <a:chExt cx="2190750" cy="3695700"/>
          </a:xfrm>
        </p:grpSpPr>
        <p:sp>
          <p:nvSpPr>
            <p:cNvPr id="18" name="Rectangle 18"/>
            <p:cNvSpPr/>
            <p:nvPr/>
          </p:nvSpPr>
          <p:spPr>
            <a:xfrm>
              <a:off x="6905625" y="2019300"/>
              <a:ext cx="2190750" cy="3695700"/>
            </a:xfrm>
            <a:prstGeom prst="rect">
              <a:avLst/>
            </a:prstGeom>
            <a:noFill/>
            <a:ln w="19050">
              <a:solidFill>
                <a:schemeClr val="accent6"/>
              </a:solidFill>
            </a:ln>
          </p:spPr>
        </p:sp>
        <p:sp>
          <p:nvSpPr>
            <p:cNvPr id="19" name="TextBox 19"/>
            <p:cNvSpPr txBox="1"/>
            <p:nvPr/>
          </p:nvSpPr>
          <p:spPr>
            <a:xfrm>
              <a:off x="7115175" y="2327910"/>
              <a:ext cx="597850" cy="1390650"/>
            </a:xfrm>
            <a:prstGeom prst="rect">
              <a:avLst/>
            </a:prstGeom>
            <a:noFill/>
            <a:ln>
              <a:noFill/>
            </a:ln>
          </p:spPr>
          <p:txBody>
            <a:bodyPr wrap="none" lIns="0" tIns="0" rIns="0" bIns="0" anchor="t" anchorCtr="0">
              <a:spAutoFit/>
            </a:bodyPr>
            <a:lstStyle/>
            <a:p>
              <a:pPr algn="l"/>
              <a:r>
                <a:rPr lang="th-TH" sz="7200" b="1" dirty="0">
                  <a:solidFill>
                    <a:schemeClr val="accent6"/>
                  </a:solidFill>
                  <a:latin typeface="+mn-lt"/>
                  <a:ea typeface="+mn-ea"/>
                  <a:cs typeface="+mn-cs"/>
                </a:rPr>
                <a:t>3</a:t>
              </a:r>
            </a:p>
          </p:txBody>
        </p:sp>
        <p:sp>
          <p:nvSpPr>
            <p:cNvPr id="20" name="TextBox 20"/>
            <p:cNvSpPr txBox="1"/>
            <p:nvPr/>
          </p:nvSpPr>
          <p:spPr>
            <a:xfrm>
              <a:off x="7125081" y="3444240"/>
              <a:ext cx="942404" cy="675894"/>
            </a:xfrm>
            <a:prstGeom prst="rect">
              <a:avLst/>
            </a:prstGeom>
            <a:noFill/>
            <a:ln>
              <a:noFill/>
            </a:ln>
          </p:spPr>
          <p:txBody>
            <a:bodyPr wrap="none" lIns="0" tIns="0" rIns="0" bIns="0" anchor="t" anchorCtr="0">
              <a:spAutoFit/>
            </a:bodyPr>
            <a:lstStyle/>
            <a:p>
              <a:pPr algn="l">
                <a:lnSpc>
                  <a:spcPts val="2550"/>
                </a:lnSpc>
              </a:pPr>
              <a:r>
                <a:rPr lang="th-TH" sz="1800" b="1" dirty="0">
                  <a:solidFill>
                    <a:schemeClr val="accent1"/>
                  </a:solidFill>
                  <a:latin typeface="+mn-lt"/>
                  <a:ea typeface="+mn-ea"/>
                  <a:cs typeface="+mn-cs"/>
                </a:rPr>
                <a:t>จากนาสู่</a:t>
              </a:r>
              <a:br/>
              <a:r>
                <a:rPr lang="th-TH" sz="1800" b="1" dirty="0">
                  <a:solidFill>
                    <a:schemeClr val="accent1"/>
                  </a:solidFill>
                  <a:latin typeface="+mn-lt"/>
                  <a:ea typeface="+mn-ea"/>
                  <a:cs typeface="+mn-cs"/>
                </a:rPr>
                <a:t>ตลาดโลก</a:t>
              </a:r>
            </a:p>
          </p:txBody>
        </p:sp>
        <p:sp>
          <p:nvSpPr>
            <p:cNvPr id="21" name="TextBox 21"/>
            <p:cNvSpPr txBox="1"/>
            <p:nvPr/>
          </p:nvSpPr>
          <p:spPr>
            <a:xfrm>
              <a:off x="7127367" y="4140518"/>
              <a:ext cx="1531048"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accent5"/>
                  </a:solidFill>
                  <a:latin typeface="+mn-lt"/>
                  <a:ea typeface="+mn-ea"/>
                  <a:cs typeface="+mn-cs"/>
                </a:rPr>
                <a:t>ปริมาณส่งออกห้าปี</a:t>
              </a:r>
              <a:br/>
              <a:r>
                <a:rPr lang="th-TH" sz="1350" dirty="0">
                  <a:solidFill>
                    <a:schemeClr val="accent5"/>
                  </a:solidFill>
                  <a:latin typeface="+mn-lt"/>
                  <a:ea typeface="+mn-ea"/>
                  <a:cs typeface="+mn-cs"/>
                </a:rPr>
                <a:t>ตลาด · ราคาที่ปากนา</a:t>
              </a:r>
            </a:p>
          </p:txBody>
        </p:sp>
      </p:grpSp>
      <p:grpSp>
        <p:nvGrpSpPr>
          <p:cNvPr id="27" name="part-4"/>
          <p:cNvGrpSpPr/>
          <p:nvPr/>
        </p:nvGrpSpPr>
        <p:grpSpPr>
          <a:xfrm>
            <a:off x="9401175" y="2019300"/>
            <a:ext cx="2181225" cy="3695700"/>
            <a:chOff x="9401175" y="2019300"/>
            <a:chExt cx="2181225" cy="3695700"/>
          </a:xfrm>
        </p:grpSpPr>
        <p:sp>
          <p:nvSpPr>
            <p:cNvPr id="23" name="Rectangle 23"/>
            <p:cNvSpPr/>
            <p:nvPr/>
          </p:nvSpPr>
          <p:spPr>
            <a:xfrm>
              <a:off x="9401175" y="2019300"/>
              <a:ext cx="2181225" cy="3695700"/>
            </a:xfrm>
            <a:prstGeom prst="rect">
              <a:avLst/>
            </a:prstGeom>
            <a:noFill/>
            <a:ln w="19050">
              <a:solidFill>
                <a:schemeClr val="accent6"/>
              </a:solidFill>
            </a:ln>
          </p:spPr>
        </p:sp>
        <p:sp>
          <p:nvSpPr>
            <p:cNvPr id="24" name="TextBox 24"/>
            <p:cNvSpPr txBox="1"/>
            <p:nvPr/>
          </p:nvSpPr>
          <p:spPr>
            <a:xfrm>
              <a:off x="9610725" y="2327910"/>
              <a:ext cx="597850" cy="1390650"/>
            </a:xfrm>
            <a:prstGeom prst="rect">
              <a:avLst/>
            </a:prstGeom>
            <a:noFill/>
            <a:ln>
              <a:noFill/>
            </a:ln>
          </p:spPr>
          <p:txBody>
            <a:bodyPr wrap="none" lIns="0" tIns="0" rIns="0" bIns="0" anchor="t" anchorCtr="0">
              <a:spAutoFit/>
            </a:bodyPr>
            <a:lstStyle/>
            <a:p>
              <a:pPr algn="l"/>
              <a:r>
                <a:rPr lang="th-TH" sz="7200" b="1" dirty="0">
                  <a:solidFill>
                    <a:schemeClr val="accent6"/>
                  </a:solidFill>
                  <a:latin typeface="+mn-lt"/>
                  <a:ea typeface="+mn-ea"/>
                  <a:cs typeface="+mn-cs"/>
                </a:rPr>
                <a:t>4</a:t>
              </a:r>
            </a:p>
          </p:txBody>
        </p:sp>
        <p:sp>
          <p:nvSpPr>
            <p:cNvPr id="25" name="TextBox 25"/>
            <p:cNvSpPr txBox="1"/>
            <p:nvPr/>
          </p:nvSpPr>
          <p:spPr>
            <a:xfrm>
              <a:off x="9620631" y="3444240"/>
              <a:ext cx="1734502" cy="675894"/>
            </a:xfrm>
            <a:prstGeom prst="rect">
              <a:avLst/>
            </a:prstGeom>
            <a:noFill/>
            <a:ln>
              <a:noFill/>
            </a:ln>
          </p:spPr>
          <p:txBody>
            <a:bodyPr wrap="none" lIns="0" tIns="0" rIns="0" bIns="0" anchor="t" anchorCtr="0">
              <a:spAutoFit/>
            </a:bodyPr>
            <a:lstStyle/>
            <a:p>
              <a:pPr algn="l">
                <a:lnSpc>
                  <a:spcPts val="2550"/>
                </a:lnSpc>
              </a:pPr>
              <a:r>
                <a:rPr lang="th-TH" sz="1800" b="1" dirty="0">
                  <a:solidFill>
                    <a:schemeClr val="accent1"/>
                  </a:solidFill>
                  <a:latin typeface="+mn-lt"/>
                  <a:ea typeface="+mn-ea"/>
                  <a:cs typeface="+mn-cs"/>
                </a:rPr>
                <a:t>ความท้าทาย</a:t>
              </a:r>
              <a:br/>
              <a:r>
                <a:rPr lang="th-TH" sz="1800" b="1" dirty="0">
                  <a:solidFill>
                    <a:schemeClr val="accent1"/>
                  </a:solidFill>
                  <a:latin typeface="+mn-lt"/>
                  <a:ea typeface="+mn-ea"/>
                  <a:cs typeface="+mn-cs"/>
                </a:rPr>
                <a:t>และสิ่งที่ต้องรักษา</a:t>
              </a:r>
            </a:p>
          </p:txBody>
        </p:sp>
        <p:sp>
          <p:nvSpPr>
            <p:cNvPr id="26" name="TextBox 26"/>
            <p:cNvSpPr txBox="1"/>
            <p:nvPr/>
          </p:nvSpPr>
          <p:spPr>
            <a:xfrm>
              <a:off x="9622917" y="4140518"/>
              <a:ext cx="133388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accent5"/>
                  </a:solidFill>
                  <a:latin typeface="+mn-lt"/>
                  <a:ea typeface="+mn-ea"/>
                  <a:cs typeface="+mn-cs"/>
                </a:rPr>
                <a:t>เวทีโลกที่เปลี่ยนมือ</a:t>
              </a:r>
              <a:br/>
              <a:r>
                <a:rPr lang="th-TH" sz="1350" dirty="0">
                  <a:solidFill>
                    <a:schemeClr val="accent5"/>
                  </a:solidFill>
                  <a:latin typeface="+mn-lt"/>
                  <a:ea typeface="+mn-ea"/>
                  <a:cs typeface="+mn-cs"/>
                </a:rPr>
                <a:t>สิ่งที่ต้องรักษา</a:t>
              </a:r>
            </a:p>
          </p:txBody>
        </p:sp>
      </p:grpSp>
      <p:grpSp>
        <p:nvGrpSpPr>
          <p:cNvPr id="30" name="page-footer"/>
          <p:cNvGrpSpPr/>
          <p:nvPr/>
        </p:nvGrpSpPr>
        <p:grpSpPr>
          <a:xfrm>
            <a:off x="603504" y="6423660"/>
            <a:ext cx="10984992" cy="234696"/>
            <a:chOff x="603504" y="6423660"/>
            <a:chExt cx="10984992" cy="234696"/>
          </a:xfrm>
        </p:grpSpPr>
        <p:sp>
          <p:nvSpPr>
            <p:cNvPr id="28" name="TextBox 28"/>
            <p:cNvSpPr txBox="1"/>
            <p:nvPr/>
          </p:nvSpPr>
          <p:spPr>
            <a:xfrm>
              <a:off x="603504" y="6423660"/>
              <a:ext cx="5125060"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โครงเรื่องสี่ตอนนี้เรียบเรียงโดยผู้บรรยาย ไม่ใช่โครงสร้างที่แหล่งข้อมูลกำหนด</a:t>
              </a:r>
            </a:p>
          </p:txBody>
        </p:sp>
        <p:sp>
          <p:nvSpPr>
            <p:cNvPr id="29" name="TextBox 2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450"/>
                                        <p:tgtEl>
                                          <p:spTgt spid="12"/>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1550"/>
                            </p:stCondLst>
                            <p:childTnLst>
                              <p:par>
                                <p:cTn xmlns:p="http://schemas.openxmlformats.org/presentationml/2006/main" id="17" presetID="10" presetClass="entr" presetSubtype="0" fill="hold" grpId="0" nodeType="afterEffect">
                                  <p:stCondLst>
                                    <p:cond delay="15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page-header"/>
          <p:cNvGrpSpPr/>
          <p:nvPr/>
        </p:nvGrpSpPr>
        <p:grpSpPr>
          <a:xfrm>
            <a:off x="594360" y="654368"/>
            <a:ext cx="10988040" cy="827722"/>
            <a:chOff x="594360" y="654368"/>
            <a:chExt cx="10988040" cy="827722"/>
          </a:xfrm>
        </p:grpSpPr>
        <p:sp>
          <p:nvSpPr>
            <p:cNvPr id="2" name="TextBox 2"/>
            <p:cNvSpPr txBox="1"/>
            <p:nvPr/>
          </p:nvSpPr>
          <p:spPr>
            <a:xfrm>
              <a:off x="602742" y="654368"/>
              <a:ext cx="186470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1 · พันธุ์และตัวตน</a:t>
              </a:r>
            </a:p>
          </p:txBody>
        </p:sp>
        <p:sp>
          <p:nvSpPr>
            <p:cNvPr id="3" name="TextBox 3"/>
            <p:cNvSpPr txBox="1"/>
            <p:nvPr/>
          </p:nvSpPr>
          <p:spPr>
            <a:xfrm>
              <a:off x="594360" y="895350"/>
              <a:ext cx="4949495"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199 รวง จากอำเภอบางคล้า</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stage-1-collect"/>
          <p:cNvGrpSpPr/>
          <p:nvPr/>
        </p:nvGrpSpPr>
        <p:grpSpPr>
          <a:xfrm>
            <a:off x="609600" y="1866900"/>
            <a:ext cx="2686050" cy="1680401"/>
            <a:chOff x="609600" y="1866900"/>
            <a:chExt cx="2686050" cy="1680401"/>
          </a:xfrm>
        </p:grpSpPr>
        <p:sp>
          <p:nvSpPr>
            <p:cNvPr id="6" name="Freeform 6"/>
            <p:cNvSpPr/>
            <p:nvPr/>
          </p:nvSpPr>
          <p:spPr>
            <a:xfrm>
              <a:off x="609600" y="1866900"/>
              <a:ext cx="2686050" cy="914400"/>
            </a:xfrm>
            <a:prstGeom prst="chevron">
              <a:avLst>
                <a:gd name="adj" fmla="val 32000"/>
              </a:avLst>
            </a:prstGeom>
            <a:solidFill>
              <a:schemeClr val="accent1"/>
            </a:solidFill>
            <a:ln>
              <a:noFill/>
            </a:ln>
          </p:spPr>
        </p:sp>
        <p:sp>
          <p:nvSpPr>
            <p:cNvPr id="7" name="TextBox 7"/>
            <p:cNvSpPr txBox="1"/>
            <p:nvPr/>
          </p:nvSpPr>
          <p:spPr>
            <a:xfrm>
              <a:off x="1002792" y="2245042"/>
              <a:ext cx="1387648"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mn-lt"/>
                  <a:ea typeface="+mn-ea"/>
                  <a:cs typeface="+mn-cs"/>
                </a:rPr>
                <a:t>รวบรวม 199 รวง</a:t>
              </a:r>
            </a:p>
          </p:txBody>
        </p:sp>
        <p:sp>
          <p:nvSpPr>
            <p:cNvPr id="8" name="TextBox 8"/>
            <p:cNvSpPr txBox="1"/>
            <p:nvPr/>
          </p:nvSpPr>
          <p:spPr>
            <a:xfrm>
              <a:off x="678942" y="2997518"/>
              <a:ext cx="1856804"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อ.บางคล้า จ.ฉะเชิงเทรา</a:t>
              </a:r>
              <a:br/>
              <a:r>
                <a:rPr lang="th-TH" sz="1350" dirty="0">
                  <a:solidFill>
                    <a:schemeClr val="dk1"/>
                  </a:solidFill>
                  <a:latin typeface="+mn-lt"/>
                  <a:ea typeface="+mn-ea"/>
                  <a:cs typeface="+mn-cs"/>
                </a:rPr>
                <a:t>พ.ศ. 2493–2494</a:t>
              </a:r>
            </a:p>
          </p:txBody>
        </p:sp>
      </p:grpSp>
      <p:grpSp>
        <p:nvGrpSpPr>
          <p:cNvPr id="13" name="stage-2-pureline"/>
          <p:cNvGrpSpPr/>
          <p:nvPr/>
        </p:nvGrpSpPr>
        <p:grpSpPr>
          <a:xfrm>
            <a:off x="3371850" y="1866900"/>
            <a:ext cx="2686050" cy="1680401"/>
            <a:chOff x="3371850" y="1866900"/>
            <a:chExt cx="2686050" cy="1680401"/>
          </a:xfrm>
        </p:grpSpPr>
        <p:sp>
          <p:nvSpPr>
            <p:cNvPr id="10" name="Freeform 10"/>
            <p:cNvSpPr/>
            <p:nvPr/>
          </p:nvSpPr>
          <p:spPr>
            <a:xfrm>
              <a:off x="3371850" y="1866900"/>
              <a:ext cx="2686050" cy="914400"/>
            </a:xfrm>
            <a:prstGeom prst="chevron">
              <a:avLst>
                <a:gd name="adj" fmla="val 32000"/>
              </a:avLst>
            </a:prstGeom>
            <a:solidFill>
              <a:schemeClr val="accent1"/>
            </a:solidFill>
            <a:ln>
              <a:noFill/>
            </a:ln>
          </p:spPr>
        </p:sp>
        <p:sp>
          <p:nvSpPr>
            <p:cNvPr id="11" name="TextBox 11"/>
            <p:cNvSpPr txBox="1"/>
            <p:nvPr/>
          </p:nvSpPr>
          <p:spPr>
            <a:xfrm>
              <a:off x="3765042" y="2245042"/>
              <a:ext cx="1063247"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mn-lt"/>
                  <a:ea typeface="+mn-ea"/>
                  <a:cs typeface="+mn-cs"/>
                </a:rPr>
                <a:t>คัดพันธุ์บริสุทธิ์</a:t>
              </a:r>
            </a:p>
          </p:txBody>
        </p:sp>
        <p:sp>
          <p:nvSpPr>
            <p:cNvPr id="12" name="TextBox 12"/>
            <p:cNvSpPr txBox="1"/>
            <p:nvPr/>
          </p:nvSpPr>
          <p:spPr>
            <a:xfrm>
              <a:off x="3441192" y="2997518"/>
              <a:ext cx="157391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โดยนายสุนทร สีหะเนิน</a:t>
              </a:r>
              <a:br/>
              <a:r>
                <a:rPr lang="th-TH" sz="1350" dirty="0">
                  <a:solidFill>
                    <a:schemeClr val="dk1"/>
                  </a:solidFill>
                  <a:latin typeface="+mn-lt"/>
                  <a:ea typeface="+mn-ea"/>
                  <a:cs typeface="+mn-cs"/>
                </a:rPr>
                <a:t>เจ้าพนักงานข้าว</a:t>
              </a:r>
            </a:p>
          </p:txBody>
        </p:sp>
      </p:grpSp>
      <p:grpSp>
        <p:nvGrpSpPr>
          <p:cNvPr id="17" name="stage-3-trials"/>
          <p:cNvGrpSpPr/>
          <p:nvPr/>
        </p:nvGrpSpPr>
        <p:grpSpPr>
          <a:xfrm>
            <a:off x="6134100" y="1866900"/>
            <a:ext cx="2686050" cy="1680401"/>
            <a:chOff x="6134100" y="1866900"/>
            <a:chExt cx="2686050" cy="1680401"/>
          </a:xfrm>
        </p:grpSpPr>
        <p:sp>
          <p:nvSpPr>
            <p:cNvPr id="14" name="Freeform 14"/>
            <p:cNvSpPr/>
            <p:nvPr/>
          </p:nvSpPr>
          <p:spPr>
            <a:xfrm>
              <a:off x="6134100" y="1866900"/>
              <a:ext cx="2686050" cy="914400"/>
            </a:xfrm>
            <a:prstGeom prst="chevron">
              <a:avLst>
                <a:gd name="adj" fmla="val 32000"/>
              </a:avLst>
            </a:prstGeom>
            <a:solidFill>
              <a:schemeClr val="accent1"/>
            </a:solidFill>
            <a:ln>
              <a:noFill/>
            </a:ln>
          </p:spPr>
        </p:sp>
        <p:sp>
          <p:nvSpPr>
            <p:cNvPr id="15" name="TextBox 15"/>
            <p:cNvSpPr txBox="1"/>
            <p:nvPr/>
          </p:nvSpPr>
          <p:spPr>
            <a:xfrm>
              <a:off x="6527292" y="2245042"/>
              <a:ext cx="1588013"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mn-lt"/>
                  <a:ea typeface="+mn-ea"/>
                  <a:cs typeface="+mn-cs"/>
                </a:rPr>
                <a:t>ปลูกเปรียบเทียบพันธุ์</a:t>
              </a:r>
            </a:p>
          </p:txBody>
        </p:sp>
        <p:sp>
          <p:nvSpPr>
            <p:cNvPr id="16" name="TextBox 16"/>
            <p:cNvSpPr txBox="1"/>
            <p:nvPr/>
          </p:nvSpPr>
          <p:spPr>
            <a:xfrm>
              <a:off x="6203442" y="2997518"/>
              <a:ext cx="1899666"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สถานีทดลองข้าวโคกสำโรง</a:t>
              </a:r>
              <a:br/>
              <a:r>
                <a:rPr lang="th-TH" sz="1350" dirty="0">
                  <a:solidFill>
                    <a:schemeClr val="dk1"/>
                  </a:solidFill>
                  <a:latin typeface="+mn-lt"/>
                  <a:ea typeface="+mn-ea"/>
                  <a:cs typeface="+mn-cs"/>
                </a:rPr>
                <a:t>และพันธุ์ท้องถิ่นสามภาค</a:t>
              </a:r>
            </a:p>
          </p:txBody>
        </p:sp>
      </p:grpSp>
      <p:grpSp>
        <p:nvGrpSpPr>
          <p:cNvPr id="21" name="stage-4-named"/>
          <p:cNvGrpSpPr/>
          <p:nvPr/>
        </p:nvGrpSpPr>
        <p:grpSpPr>
          <a:xfrm>
            <a:off x="8896350" y="1866900"/>
            <a:ext cx="2686050" cy="1394651"/>
            <a:chOff x="8896350" y="1866900"/>
            <a:chExt cx="2686050" cy="1394651"/>
          </a:xfrm>
        </p:grpSpPr>
        <p:sp>
          <p:nvSpPr>
            <p:cNvPr id="18" name="Freeform 18"/>
            <p:cNvSpPr/>
            <p:nvPr/>
          </p:nvSpPr>
          <p:spPr>
            <a:xfrm>
              <a:off x="8896350" y="1866900"/>
              <a:ext cx="2686050" cy="914400"/>
            </a:xfrm>
            <a:prstGeom prst="chevron">
              <a:avLst>
                <a:gd name="adj" fmla="val 32000"/>
              </a:avLst>
            </a:prstGeom>
            <a:solidFill>
              <a:schemeClr val="accent2"/>
            </a:solidFill>
            <a:ln>
              <a:noFill/>
            </a:ln>
          </p:spPr>
        </p:sp>
        <p:sp>
          <p:nvSpPr>
            <p:cNvPr id="19" name="TextBox 19"/>
            <p:cNvSpPr txBox="1"/>
            <p:nvPr/>
          </p:nvSpPr>
          <p:spPr>
            <a:xfrm>
              <a:off x="9289542" y="2245042"/>
              <a:ext cx="1645260"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mn-lt"/>
                  <a:ea typeface="+mn-ea"/>
                  <a:cs typeface="+mn-cs"/>
                </a:rPr>
                <a:t>ได้สายพันธุ์ 4-2-105</a:t>
              </a:r>
            </a:p>
          </p:txBody>
        </p:sp>
        <p:sp>
          <p:nvSpPr>
            <p:cNvPr id="20" name="TextBox 20"/>
            <p:cNvSpPr txBox="1"/>
            <p:nvPr/>
          </p:nvSpPr>
          <p:spPr>
            <a:xfrm>
              <a:off x="8965692" y="2997518"/>
              <a:ext cx="183108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รวงที่ 105 จาก 199 รวง</a:t>
              </a:r>
            </a:p>
          </p:txBody>
        </p:sp>
      </p:grpSp>
      <p:sp>
        <p:nvSpPr>
          <p:cNvPr id="22" name="TextBox 22"/>
          <p:cNvSpPr txBox="1"/>
          <p:nvPr/>
        </p:nvSpPr>
        <p:spPr>
          <a:xfrm>
            <a:off x="598170" y="3643312"/>
            <a:ext cx="7458932"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ชื่อสายพันธุ์ ขาวดอกมะลิ 4-2-105 ถอดความหมายได้สามส่วน</a:t>
            </a:r>
          </a:p>
        </p:txBody>
      </p:sp>
      <p:grpSp>
        <p:nvGrpSpPr>
          <p:cNvPr id="26" name="name-part-4"/>
          <p:cNvGrpSpPr/>
          <p:nvPr/>
        </p:nvGrpSpPr>
        <p:grpSpPr>
          <a:xfrm>
            <a:off x="590550" y="4286250"/>
            <a:ext cx="1346073" cy="1604201"/>
            <a:chOff x="590550" y="4286250"/>
            <a:chExt cx="1346073" cy="1604201"/>
          </a:xfrm>
        </p:grpSpPr>
        <p:sp>
          <p:nvSpPr>
            <p:cNvPr id="23" name="Rectangle 23"/>
            <p:cNvSpPr/>
            <p:nvPr/>
          </p:nvSpPr>
          <p:spPr>
            <a:xfrm>
              <a:off x="609600" y="4286250"/>
              <a:ext cx="1143000" cy="38100"/>
            </a:xfrm>
            <a:prstGeom prst="rect">
              <a:avLst/>
            </a:prstGeom>
            <a:solidFill>
              <a:schemeClr val="accent2"/>
            </a:solidFill>
            <a:ln>
              <a:noFill/>
            </a:ln>
          </p:spPr>
        </p:sp>
        <p:sp>
          <p:nvSpPr>
            <p:cNvPr id="24" name="TextBox 24"/>
            <p:cNvSpPr txBox="1"/>
            <p:nvPr/>
          </p:nvSpPr>
          <p:spPr>
            <a:xfrm>
              <a:off x="590550" y="4431030"/>
              <a:ext cx="551204"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4</a:t>
              </a:r>
            </a:p>
          </p:txBody>
        </p:sp>
        <p:sp>
          <p:nvSpPr>
            <p:cNvPr id="25" name="TextBox 25"/>
            <p:cNvSpPr txBox="1"/>
            <p:nvPr/>
          </p:nvSpPr>
          <p:spPr>
            <a:xfrm>
              <a:off x="602742" y="5340668"/>
              <a:ext cx="133388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สถานที่เก็บรวงข้าว</a:t>
              </a:r>
              <a:br/>
              <a:r>
                <a:rPr lang="th-TH" sz="1350" dirty="0">
                  <a:solidFill>
                    <a:schemeClr val="dk1"/>
                  </a:solidFill>
                  <a:latin typeface="+mn-lt"/>
                  <a:ea typeface="+mn-ea"/>
                  <a:cs typeface="+mn-cs"/>
                </a:rPr>
                <a:t>อำเภอบางคล้า</a:t>
              </a:r>
            </a:p>
          </p:txBody>
        </p:sp>
      </p:grpSp>
      <p:grpSp>
        <p:nvGrpSpPr>
          <p:cNvPr id="30" name="name-part-2"/>
          <p:cNvGrpSpPr/>
          <p:nvPr/>
        </p:nvGrpSpPr>
        <p:grpSpPr>
          <a:xfrm>
            <a:off x="4343400" y="4286250"/>
            <a:ext cx="1162050" cy="1604201"/>
            <a:chOff x="4343400" y="4286250"/>
            <a:chExt cx="1162050" cy="1604201"/>
          </a:xfrm>
        </p:grpSpPr>
        <p:sp>
          <p:nvSpPr>
            <p:cNvPr id="27" name="Rectangle 27"/>
            <p:cNvSpPr/>
            <p:nvPr/>
          </p:nvSpPr>
          <p:spPr>
            <a:xfrm>
              <a:off x="4362450" y="4286250"/>
              <a:ext cx="1143000" cy="38100"/>
            </a:xfrm>
            <a:prstGeom prst="rect">
              <a:avLst/>
            </a:prstGeom>
            <a:solidFill>
              <a:schemeClr val="accent2"/>
            </a:solidFill>
            <a:ln>
              <a:noFill/>
            </a:ln>
          </p:spPr>
        </p:sp>
        <p:sp>
          <p:nvSpPr>
            <p:cNvPr id="28" name="TextBox 28"/>
            <p:cNvSpPr txBox="1"/>
            <p:nvPr/>
          </p:nvSpPr>
          <p:spPr>
            <a:xfrm>
              <a:off x="4343400" y="4431030"/>
              <a:ext cx="551204"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2</a:t>
              </a:r>
            </a:p>
          </p:txBody>
        </p:sp>
        <p:sp>
          <p:nvSpPr>
            <p:cNvPr id="29" name="TextBox 29"/>
            <p:cNvSpPr txBox="1"/>
            <p:nvPr/>
          </p:nvSpPr>
          <p:spPr>
            <a:xfrm>
              <a:off x="4355592" y="5340668"/>
              <a:ext cx="1102424"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พันธุ์ทดสอบที่ 2</a:t>
              </a:r>
              <a:br/>
              <a:r>
                <a:rPr lang="th-TH" sz="1350" dirty="0">
                  <a:solidFill>
                    <a:schemeClr val="dk1"/>
                  </a:solidFill>
                  <a:latin typeface="+mn-lt"/>
                  <a:ea typeface="+mn-ea"/>
                  <a:cs typeface="+mn-cs"/>
                </a:rPr>
                <a:t>คือ ขาวดอกมะลิ</a:t>
              </a:r>
            </a:p>
          </p:txBody>
        </p:sp>
      </p:grpSp>
      <p:grpSp>
        <p:nvGrpSpPr>
          <p:cNvPr id="34" name="!!kdml-105-mark"/>
          <p:cNvGrpSpPr/>
          <p:nvPr/>
        </p:nvGrpSpPr>
        <p:grpSpPr>
          <a:xfrm>
            <a:off x="8096250" y="4286250"/>
            <a:ext cx="1577412" cy="1604201"/>
            <a:chOff x="8096250" y="4286250"/>
            <a:chExt cx="1577412" cy="1604201"/>
          </a:xfrm>
        </p:grpSpPr>
        <p:sp>
          <p:nvSpPr>
            <p:cNvPr id="31" name="Rectangle 31"/>
            <p:cNvSpPr/>
            <p:nvPr/>
          </p:nvSpPr>
          <p:spPr>
            <a:xfrm>
              <a:off x="8115300" y="4286250"/>
              <a:ext cx="1143000" cy="38100"/>
            </a:xfrm>
            <a:prstGeom prst="rect">
              <a:avLst/>
            </a:prstGeom>
            <a:solidFill>
              <a:schemeClr val="accent3"/>
            </a:solidFill>
            <a:ln>
              <a:noFill/>
            </a:ln>
          </p:spPr>
        </p:sp>
        <p:sp>
          <p:nvSpPr>
            <p:cNvPr id="32" name="TextBox 32"/>
            <p:cNvSpPr txBox="1"/>
            <p:nvPr/>
          </p:nvSpPr>
          <p:spPr>
            <a:xfrm>
              <a:off x="8096250" y="4431030"/>
              <a:ext cx="1577412" cy="1276350"/>
            </a:xfrm>
            <a:prstGeom prst="rect">
              <a:avLst/>
            </a:prstGeom>
            <a:noFill/>
            <a:ln>
              <a:noFill/>
            </a:ln>
          </p:spPr>
          <p:txBody>
            <a:bodyPr wrap="none" lIns="0" tIns="0" rIns="0" bIns="0" anchor="t" anchorCtr="0">
              <a:spAutoFit/>
            </a:bodyPr>
            <a:lstStyle/>
            <a:p>
              <a:pPr algn="l"/>
              <a:r>
                <a:rPr lang="th-TH" sz="6600" b="1" dirty="0">
                  <a:solidFill>
                    <a:schemeClr val="accent3"/>
                  </a:solidFill>
                  <a:latin typeface="+mn-lt"/>
                  <a:ea typeface="+mn-ea"/>
                  <a:cs typeface="+mn-cs"/>
                </a:rPr>
                <a:t>105</a:t>
              </a:r>
            </a:p>
          </p:txBody>
        </p:sp>
        <p:sp>
          <p:nvSpPr>
            <p:cNvPr id="33" name="TextBox 33"/>
            <p:cNvSpPr txBox="1"/>
            <p:nvPr/>
          </p:nvSpPr>
          <p:spPr>
            <a:xfrm>
              <a:off x="8108442" y="5340668"/>
              <a:ext cx="143675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รวงที่ 105</a:t>
              </a:r>
              <a:br/>
              <a:r>
                <a:rPr lang="th-TH" sz="1350" dirty="0">
                  <a:solidFill>
                    <a:schemeClr val="dk1"/>
                  </a:solidFill>
                  <a:latin typeface="+mn-lt"/>
                  <a:ea typeface="+mn-ea"/>
                  <a:cs typeface="+mn-cs"/>
                </a:rPr>
                <a:t>จากทั้งหมด 199 รวง</a:t>
              </a:r>
            </a:p>
          </p:txBody>
        </p:sp>
      </p:grpSp>
      <p:grpSp>
        <p:nvGrpSpPr>
          <p:cNvPr id="37" name="page-takeaway"/>
          <p:cNvGrpSpPr/>
          <p:nvPr/>
        </p:nvGrpSpPr>
        <p:grpSpPr>
          <a:xfrm>
            <a:off x="609600" y="5943600"/>
            <a:ext cx="10972800" cy="482917"/>
            <a:chOff x="609600" y="5943600"/>
            <a:chExt cx="10972800" cy="482917"/>
          </a:xfrm>
        </p:grpSpPr>
        <p:sp>
          <p:nvSpPr>
            <p:cNvPr id="35" name="Rectangle 35"/>
            <p:cNvSpPr/>
            <p:nvPr/>
          </p:nvSpPr>
          <p:spPr>
            <a:xfrm>
              <a:off x="609600" y="5943600"/>
              <a:ext cx="10972800" cy="419100"/>
            </a:xfrm>
            <a:prstGeom prst="rect">
              <a:avLst/>
            </a:prstGeom>
            <a:solidFill>
              <a:schemeClr val="accent1">
                <a:alpha val="8000"/>
              </a:schemeClr>
            </a:solidFill>
            <a:ln>
              <a:noFill/>
            </a:ln>
          </p:spPr>
        </p:sp>
        <p:sp>
          <p:nvSpPr>
            <p:cNvPr id="36" name="TextBox 36"/>
            <p:cNvSpPr txBox="1"/>
            <p:nvPr/>
          </p:nvSpPr>
          <p:spPr>
            <a:xfrm>
              <a:off x="826770" y="5986462"/>
              <a:ext cx="6716840" cy="440055"/>
            </a:xfrm>
            <a:prstGeom prst="rect">
              <a:avLst/>
            </a:prstGeom>
            <a:noFill/>
            <a:ln>
              <a:noFill/>
            </a:ln>
          </p:spPr>
          <p:txBody>
            <a:bodyPr wrap="none" lIns="0" tIns="0" rIns="0" bIns="0" anchor="t" anchorCtr="0">
              <a:spAutoFit/>
            </a:bodyPr>
            <a:lstStyle/>
            <a:p>
              <a:pPr algn="l"/>
              <a:r>
                <a:rPr lang="th-TH" sz="2250" dirty="0">
                  <a:solidFill>
                    <a:schemeClr val="accent1"/>
                  </a:solidFill>
                  <a:latin typeface="+mn-lt"/>
                  <a:ea typeface="+mn-ea"/>
                  <a:cs typeface="+mn-cs"/>
                </a:rPr>
                <a:t>ข้าวหอมมะลิที่เรากินคือรวงที่ 105 จากทั้งหมด 199 รวง</a:t>
              </a:r>
            </a:p>
          </p:txBody>
        </p:sp>
      </p:grpSp>
      <p:grpSp>
        <p:nvGrpSpPr>
          <p:cNvPr id="40" name="page-footer"/>
          <p:cNvGrpSpPr/>
          <p:nvPr/>
        </p:nvGrpSpPr>
        <p:grpSpPr>
          <a:xfrm>
            <a:off x="603504" y="6423660"/>
            <a:ext cx="10984992" cy="234696"/>
            <a:chOff x="603504" y="6423660"/>
            <a:chExt cx="10984992" cy="234696"/>
          </a:xfrm>
        </p:grpSpPr>
        <p:sp>
          <p:nvSpPr>
            <p:cNvPr id="38" name="TextBox 38"/>
            <p:cNvSpPr txBox="1"/>
            <p:nvPr/>
          </p:nvSpPr>
          <p:spPr>
            <a:xfrm>
              <a:off x="603504" y="6423660"/>
              <a:ext cx="7403233"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ชื่อพันธุ์ ขาวดอกมะลิ 105 สำนักงานปลัดกระทรวงเกษตรและสหกรณ์ · Rice Knowledge Bank กรมการข้าว</a:t>
              </a:r>
            </a:p>
          </p:txBody>
        </p:sp>
        <p:sp>
          <p:nvSpPr>
            <p:cNvPr id="39" name="TextBox 3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03</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450"/>
                                        <p:tgtEl>
                                          <p:spTgt spid="9"/>
                                        </p:tgtEl>
                                      </p:cBhvr>
                                    </p:animEffect>
                                  </p:childTnLst>
                                </p:cTn>
                              </p:par>
                            </p:childTnLst>
                          </p:cTn>
                        </p:par>
                        <p:par>
                          <p:cTn id="8" fill="hold">
                            <p:stCondLst>
                              <p:cond delay="450"/>
                            </p:stCondLst>
                            <p:childTnLst>
                              <p:par>
                                <p:cTn id="9" presetID="22" presetClass="entr" presetSubtype="2" fill="hold" grpId="0" nodeType="afterEffect">
                                  <p:stCondLst>
                                    <p:cond delay="150"/>
                                  </p:stCondLst>
                                  <p:childTnLst>
                                    <p:set>
                                      <p:cBhvr>
                                        <p:cTn id="10" dur="1" fill="hold">
                                          <p:stCondLst>
                                            <p:cond delay="0"/>
                                          </p:stCondLst>
                                        </p:cTn>
                                        <p:tgtEl>
                                          <p:spTgt spid="13"/>
                                        </p:tgtEl>
                                        <p:attrNameLst>
                                          <p:attrName>style.visibility</p:attrName>
                                        </p:attrNameLst>
                                      </p:cBhvr>
                                      <p:to>
                                        <p:strVal val="visible"/>
                                      </p:to>
                                    </p:set>
                                    <p:animEffect transition="in" filter="wipe(right)">
                                      <p:cBhvr>
                                        <p:cTn id="11" dur="450"/>
                                        <p:tgtEl>
                                          <p:spTgt spid="13"/>
                                        </p:tgtEl>
                                      </p:cBhvr>
                                    </p:animEffect>
                                  </p:childTnLst>
                                </p:cTn>
                              </p:par>
                            </p:childTnLst>
                          </p:cTn>
                        </p:par>
                        <p:par>
                          <p:cTn id="12" fill="hold">
                            <p:stCondLst>
                              <p:cond delay="1050"/>
                            </p:stCondLst>
                            <p:childTnLst>
                              <p:par>
                                <p:cTn id="13" presetID="22" presetClass="entr" presetSubtype="2" fill="hold" grpId="0" nodeType="afterEffect">
                                  <p:stCondLst>
                                    <p:cond delay="15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450"/>
                                        <p:tgtEl>
                                          <p:spTgt spid="17"/>
                                        </p:tgtEl>
                                      </p:cBhvr>
                                    </p:animEffect>
                                  </p:childTnLst>
                                </p:cTn>
                              </p:par>
                            </p:childTnLst>
                          </p:cTn>
                        </p:par>
                        <p:par>
                          <p:cTn id="16" fill="hold">
                            <p:stCondLst>
                              <p:cond delay="1650"/>
                            </p:stCondLst>
                            <p:childTnLst>
                              <p:par>
                                <p:cTn id="17" presetID="22" presetClass="entr" presetSubtype="2" fill="hold" grpId="0" nodeType="afterEffect">
                                  <p:stCondLst>
                                    <p:cond delay="150"/>
                                  </p:stCondLst>
                                  <p:childTnLst>
                                    <p:set>
                                      <p:cBhvr>
                                        <p:cTn id="18" dur="1" fill="hold">
                                          <p:stCondLst>
                                            <p:cond delay="0"/>
                                          </p:stCondLst>
                                        </p:cTn>
                                        <p:tgtEl>
                                          <p:spTgt spid="21"/>
                                        </p:tgtEl>
                                        <p:attrNameLst>
                                          <p:attrName>style.visibility</p:attrName>
                                        </p:attrNameLst>
                                      </p:cBhvr>
                                      <p:to>
                                        <p:strVal val="visible"/>
                                      </p:to>
                                    </p:set>
                                    <p:animEffect transition="in" filter="wipe(right)">
                                      <p:cBhvr>
                                        <p:cTn id="19" dur="450"/>
                                        <p:tgtEl>
                                          <p:spTgt spid="21"/>
                                        </p:tgtEl>
                                      </p:cBhvr>
                                    </p:animEffect>
                                  </p:childTnLst>
                                </p:cTn>
                              </p:par>
                            </p:childTnLst>
                          </p:cTn>
                        </p:par>
                        <p:par>
                          <p:cTn id="20" fill="hold">
                            <p:stCondLst>
                              <p:cond delay="2250"/>
                            </p:stCondLst>
                            <p:childTnLst>
                              <p:par>
                                <p:cTn id="21" presetID="10" presetClass="entr" presetSubtype="0" fill="hold" grpId="0" nodeType="afterEffect">
                                  <p:stCondLst>
                                    <p:cond delay="20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childTnLst>
                          </p:cTn>
                        </p:par>
                        <p:par>
                          <p:cTn id="24" fill="hold">
                            <p:stCondLst>
                              <p:cond delay="2850"/>
                            </p:stCondLst>
                            <p:childTnLst>
                              <p:par>
                                <p:cTn id="25" presetID="10" presetClass="entr" presetSubtype="0" fill="hold" grpId="0" nodeType="afterEffect">
                                  <p:stCondLst>
                                    <p:cond delay="1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par>
                          <p:cTn id="28" fill="hold">
                            <p:stCondLst>
                              <p:cond delay="3400"/>
                            </p:stCondLst>
                            <p:childTnLst>
                              <p:par>
                                <p:cTn id="29" presetID="23" presetClass="entr" presetSubtype="16" fill="hold" grpId="0" nodeType="afterEffect">
                                  <p:stCondLst>
                                    <p:cond delay="150"/>
                                  </p:stCondLst>
                                  <p:childTnLst>
                                    <p:set>
                                      <p:cBhvr>
                                        <p:cTn id="30" dur="1" fill="hold">
                                          <p:stCondLst>
                                            <p:cond delay="0"/>
                                          </p:stCondLst>
                                        </p:cTn>
                                        <p:tgtEl>
                                          <p:spTgt spid="34"/>
                                        </p:tgtEl>
                                        <p:attrNameLst>
                                          <p:attrName>style.visibility</p:attrName>
                                        </p:attrNameLst>
                                      </p:cBhvr>
                                      <p:to>
                                        <p:strVal val="visible"/>
                                      </p:to>
                                    </p:set>
                                    <p:anim calcmode="lin" valueType="num">
                                      <p:cBhvr>
                                        <p:cTn id="31" dur="550" fill="hold"/>
                                        <p:tgtEl>
                                          <p:spTgt spid="34"/>
                                        </p:tgtEl>
                                        <p:attrNameLst>
                                          <p:attrName>ppt_w</p:attrName>
                                        </p:attrNameLst>
                                      </p:cBhvr>
                                      <p:tavLst>
                                        <p:tav tm="0">
                                          <p:val>
                                            <p:fltVal val="0"/>
                                          </p:val>
                                        </p:tav>
                                        <p:tav tm="100000">
                                          <p:val>
                                            <p:strVal val="#ppt_w"/>
                                          </p:val>
                                        </p:tav>
                                      </p:tavLst>
                                    </p:anim>
                                    <p:anim calcmode="lin" valueType="num">
                                      <p:cBhvr>
                                        <p:cTn id="32" dur="550" fill="hold"/>
                                        <p:tgtEl>
                                          <p:spTgt spid="34"/>
                                        </p:tgtEl>
                                        <p:attrNameLst>
                                          <p:attrName>ppt_h</p:attrName>
                                        </p:attrNameLst>
                                      </p:cBhvr>
                                      <p:tavLst>
                                        <p:tav tm="0">
                                          <p:val>
                                            <p:fltVal val="0"/>
                                          </p:val>
                                        </p:tav>
                                        <p:tav tm="100000">
                                          <p:val>
                                            <p:strVal val="#ppt_h"/>
                                          </p:val>
                                        </p:tav>
                                      </p:tavLst>
                                    </p:anim>
                                  </p:childTnLst>
                                </p:cTn>
                              </p:par>
                            </p:childTnLst>
                          </p:cTn>
                        </p:par>
                        <p:par>
                          <p:cTn id="33" fill="hold">
                            <p:stCondLst>
                              <p:cond delay="4100"/>
                            </p:stCondLst>
                            <p:childTnLst>
                              <p:par>
                                <p:cTn id="34" presetID="10" presetClass="entr" presetSubtype="0" fill="hold" grpId="0" nodeType="afterEffect">
                                  <p:stCondLst>
                                    <p:cond delay="30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186470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1 · พันธุ์และตัวตน</a:t>
              </a:r>
            </a:p>
          </p:txBody>
        </p:sp>
        <p:sp>
          <p:nvSpPr>
            <p:cNvPr id="3" name="TextBox 3"/>
            <p:cNvSpPr txBox="1"/>
            <p:nvPr/>
          </p:nvSpPr>
          <p:spPr>
            <a:xfrm>
              <a:off x="594360" y="895350"/>
              <a:ext cx="9762496"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25 พฤษภาคม 2502 วันที่ขาวดอกมะลิ 105 เป็นพันธุ์รับรอง</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7943564"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พันธุ์นี้ทนดินที่คนอื่นปลูกไม่ได้ แต่ยอมแพ้ให้โรคและแมลงแทบทุกชนิด</a:t>
              </a:r>
            </a:p>
          </p:txBody>
        </p:sp>
      </p:grpSp>
      <p:grpSp>
        <p:nvGrpSpPr>
          <p:cNvPr id="12" name="!!kdml-105-mark"/>
          <p:cNvGrpSpPr/>
          <p:nvPr/>
        </p:nvGrpSpPr>
        <p:grpSpPr>
          <a:xfrm>
            <a:off x="609600" y="1905000"/>
            <a:ext cx="3619500" cy="2286000"/>
            <a:chOff x="609600" y="1905000"/>
            <a:chExt cx="3619500" cy="2286000"/>
          </a:xfrm>
        </p:grpSpPr>
        <p:sp>
          <p:nvSpPr>
            <p:cNvPr id="7" name="Freeform 7"/>
            <p:cNvSpPr/>
            <p:nvPr/>
          </p:nvSpPr>
          <p:spPr>
            <a:xfrm>
              <a:off x="609600" y="1905000"/>
              <a:ext cx="3619500" cy="2286000"/>
            </a:xfrm>
            <a:prstGeom prst="plaque">
              <a:avLst/>
            </a:prstGeom>
            <a:solidFill>
              <a:schemeClr val="accent1"/>
            </a:solidFill>
            <a:ln>
              <a:noFill/>
            </a:ln>
          </p:spPr>
        </p:sp>
        <p:sp>
          <p:nvSpPr>
            <p:cNvPr id="8" name="Freeform 8"/>
            <p:cNvSpPr/>
            <p:nvPr/>
          </p:nvSpPr>
          <p:spPr>
            <a:xfrm>
              <a:off x="2228850" y="2305050"/>
              <a:ext cx="381000" cy="381000"/>
            </a:xfrm>
            <a:custGeom>
              <a:avLst/>
              <a:gdLst/>
              <a:ahLst/>
              <a:cxnLst/>
              <a:rect l="l" t="t" r="r" b="b"/>
              <a:pathLst>
                <a:path w="381000" h="381000">
                  <a:moveTo>
                    <a:pt x="349003" y="124847"/>
                  </a:moveTo>
                  <a:cubicBezTo>
                    <a:pt x="368482" y="140103"/>
                    <a:pt x="381000" y="163840"/>
                    <a:pt x="381000" y="190500"/>
                  </a:cubicBezTo>
                  <a:cubicBezTo>
                    <a:pt x="381000" y="217161"/>
                    <a:pt x="368482" y="240899"/>
                    <a:pt x="349001" y="256156"/>
                  </a:cubicBezTo>
                  <a:cubicBezTo>
                    <a:pt x="351987" y="280716"/>
                    <a:pt x="344055" y="306353"/>
                    <a:pt x="325203" y="325205"/>
                  </a:cubicBezTo>
                  <a:cubicBezTo>
                    <a:pt x="306350" y="344057"/>
                    <a:pt x="280714" y="351989"/>
                    <a:pt x="256153" y="349003"/>
                  </a:cubicBezTo>
                  <a:cubicBezTo>
                    <a:pt x="240897" y="368482"/>
                    <a:pt x="217160" y="381000"/>
                    <a:pt x="190500" y="381000"/>
                  </a:cubicBezTo>
                  <a:cubicBezTo>
                    <a:pt x="163839" y="381000"/>
                    <a:pt x="140102" y="368482"/>
                    <a:pt x="124846" y="349001"/>
                  </a:cubicBezTo>
                  <a:cubicBezTo>
                    <a:pt x="100284" y="351989"/>
                    <a:pt x="74648" y="344055"/>
                    <a:pt x="55796" y="325203"/>
                  </a:cubicBezTo>
                  <a:cubicBezTo>
                    <a:pt x="36943" y="306353"/>
                    <a:pt x="29011" y="280716"/>
                    <a:pt x="31997" y="256153"/>
                  </a:cubicBezTo>
                  <a:cubicBezTo>
                    <a:pt x="12518" y="240897"/>
                    <a:pt x="0" y="217160"/>
                    <a:pt x="0" y="190500"/>
                  </a:cubicBezTo>
                  <a:cubicBezTo>
                    <a:pt x="0" y="163839"/>
                    <a:pt x="12519" y="140102"/>
                    <a:pt x="31998" y="124846"/>
                  </a:cubicBezTo>
                  <a:cubicBezTo>
                    <a:pt x="29012" y="100284"/>
                    <a:pt x="36944" y="74648"/>
                    <a:pt x="55796" y="55796"/>
                  </a:cubicBezTo>
                  <a:cubicBezTo>
                    <a:pt x="74649" y="36943"/>
                    <a:pt x="100285" y="29011"/>
                    <a:pt x="124847" y="31997"/>
                  </a:cubicBezTo>
                  <a:cubicBezTo>
                    <a:pt x="140103" y="12518"/>
                    <a:pt x="163840" y="0"/>
                    <a:pt x="190500" y="0"/>
                  </a:cubicBezTo>
                  <a:cubicBezTo>
                    <a:pt x="217161" y="0"/>
                    <a:pt x="240899" y="12519"/>
                    <a:pt x="256156" y="31999"/>
                  </a:cubicBezTo>
                  <a:cubicBezTo>
                    <a:pt x="280716" y="29013"/>
                    <a:pt x="306353" y="36946"/>
                    <a:pt x="325205" y="55797"/>
                  </a:cubicBezTo>
                  <a:cubicBezTo>
                    <a:pt x="344057" y="74649"/>
                    <a:pt x="351989" y="100285"/>
                    <a:pt x="349003" y="124847"/>
                  </a:cubicBezTo>
                  <a:close/>
                  <a:moveTo>
                    <a:pt x="290682" y="147807"/>
                  </a:moveTo>
                  <a:lnTo>
                    <a:pt x="257006" y="114131"/>
                  </a:lnTo>
                  <a:lnTo>
                    <a:pt x="166688" y="204449"/>
                  </a:lnTo>
                  <a:lnTo>
                    <a:pt x="123994" y="161756"/>
                  </a:lnTo>
                  <a:lnTo>
                    <a:pt x="90318" y="195432"/>
                  </a:lnTo>
                  <a:lnTo>
                    <a:pt x="166688" y="271801"/>
                  </a:lnTo>
                  <a:lnTo>
                    <a:pt x="290682" y="147807"/>
                  </a:lnTo>
                  <a:close/>
                </a:path>
              </a:pathLst>
            </a:custGeom>
            <a:solidFill>
              <a:schemeClr val="accent2"/>
            </a:solidFill>
            <a:ln>
              <a:noFill/>
            </a:ln>
          </p:spPr>
        </p:sp>
        <p:sp>
          <p:nvSpPr>
            <p:cNvPr id="9" name="TextBox 9"/>
            <p:cNvSpPr txBox="1"/>
            <p:nvPr/>
          </p:nvSpPr>
          <p:spPr>
            <a:xfrm>
              <a:off x="1862738" y="2845118"/>
              <a:ext cx="1113225" cy="264033"/>
            </a:xfrm>
            <a:prstGeom prst="rect">
              <a:avLst/>
            </a:prstGeom>
            <a:noFill/>
            <a:ln>
              <a:noFill/>
            </a:ln>
          </p:spPr>
          <p:txBody>
            <a:bodyPr wrap="none" lIns="0" tIns="0" rIns="0" bIns="0" anchor="t" anchorCtr="0">
              <a:spAutoFit/>
            </a:bodyPr>
            <a:lstStyle/>
            <a:p>
              <a:pPr algn="ctr"/>
              <a:r>
                <a:rPr lang="th-TH" sz="1350" dirty="0">
                  <a:solidFill>
                    <a:srgbClr val="F1E8D6"/>
                  </a:solidFill>
                  <a:latin typeface="+mn-lt"/>
                  <a:ea typeface="+mn-ea"/>
                  <a:cs typeface="+mn-cs"/>
                </a:rPr>
                <a:t>พันธุ์รับรองเมื่อ</a:t>
              </a:r>
            </a:p>
          </p:txBody>
        </p:sp>
        <p:sp>
          <p:nvSpPr>
            <p:cNvPr id="10" name="TextBox 10"/>
            <p:cNvSpPr txBox="1"/>
            <p:nvPr/>
          </p:nvSpPr>
          <p:spPr>
            <a:xfrm>
              <a:off x="1175516" y="3148012"/>
              <a:ext cx="2487668" cy="440055"/>
            </a:xfrm>
            <a:prstGeom prst="rect">
              <a:avLst/>
            </a:prstGeom>
            <a:noFill/>
            <a:ln>
              <a:noFill/>
            </a:ln>
          </p:spPr>
          <p:txBody>
            <a:bodyPr wrap="none" lIns="0" tIns="0" rIns="0" bIns="0" anchor="t" anchorCtr="0">
              <a:spAutoFit/>
            </a:bodyPr>
            <a:lstStyle/>
            <a:p>
              <a:pPr algn="ctr"/>
              <a:r>
                <a:rPr lang="th-TH" sz="2250" b="1" dirty="0">
                  <a:solidFill>
                    <a:srgbClr val="FBF7EF"/>
                  </a:solidFill>
                  <a:latin typeface="+mn-lt"/>
                  <a:ea typeface="+mn-ea"/>
                  <a:cs typeface="+mn-cs"/>
                </a:rPr>
                <a:t>25 พฤษภาคม 2502</a:t>
              </a:r>
            </a:p>
          </p:txBody>
        </p:sp>
        <p:sp>
          <p:nvSpPr>
            <p:cNvPr id="11" name="TextBox 11"/>
            <p:cNvSpPr txBox="1"/>
            <p:nvPr/>
          </p:nvSpPr>
          <p:spPr>
            <a:xfrm>
              <a:off x="1799558" y="3607118"/>
              <a:ext cx="1239584" cy="530733"/>
            </a:xfrm>
            <a:prstGeom prst="rect">
              <a:avLst/>
            </a:prstGeom>
            <a:noFill/>
            <a:ln>
              <a:noFill/>
            </a:ln>
          </p:spPr>
          <p:txBody>
            <a:bodyPr wrap="none" lIns="0" tIns="0" rIns="0" bIns="0" anchor="t" anchorCtr="0">
              <a:spAutoFit/>
            </a:bodyPr>
            <a:lstStyle/>
            <a:p>
              <a:pPr algn="ctr">
                <a:lnSpc>
                  <a:spcPts val="2100"/>
                </a:lnSpc>
              </a:pPr>
              <a:r>
                <a:rPr lang="th-TH" sz="1350" dirty="0">
                  <a:solidFill>
                    <a:schemeClr val="accent6"/>
                  </a:solidFill>
                  <a:latin typeface="+mn-lt"/>
                  <a:ea typeface="+mn-ea"/>
                  <a:cs typeface="+mn-cs"/>
                </a:rPr>
                <a:t>โดยคณะกรรมการ</a:t>
              </a:r>
              <a:br/>
              <a:r>
                <a:rPr lang="th-TH" sz="1350" dirty="0">
                  <a:solidFill>
                    <a:schemeClr val="accent6"/>
                  </a:solidFill>
                  <a:latin typeface="+mn-lt"/>
                  <a:ea typeface="+mn-ea"/>
                  <a:cs typeface="+mn-cs"/>
                </a:rPr>
                <a:t>การพิจารณาพันธุ์</a:t>
              </a:r>
            </a:p>
          </p:txBody>
        </p:sp>
      </p:grpSp>
      <p:grpSp>
        <p:nvGrpSpPr>
          <p:cNvPr id="47" name="variety-traits"/>
          <p:cNvGrpSpPr/>
          <p:nvPr/>
        </p:nvGrpSpPr>
        <p:grpSpPr>
          <a:xfrm>
            <a:off x="4533900" y="1981200"/>
            <a:ext cx="6003265" cy="3205734"/>
            <a:chOff x="4533900" y="1981200"/>
            <a:chExt cx="6003265" cy="3205734"/>
          </a:xfrm>
        </p:grpSpPr>
        <p:grpSp>
          <p:nvGrpSpPr>
            <p:cNvPr id="24" name="trait-photoperiod"/>
            <p:cNvGrpSpPr/>
            <p:nvPr/>
          </p:nvGrpSpPr>
          <p:grpSpPr>
            <a:xfrm>
              <a:off x="4533900" y="1981200"/>
              <a:ext cx="5349011" cy="386334"/>
              <a:chOff x="4533900" y="1981200"/>
              <a:chExt cx="5349011" cy="386334"/>
            </a:xfrm>
          </p:grpSpPr>
          <p:grpSp>
            <p:nvGrpSpPr>
              <p:cNvPr id="22" name="Group 22"/>
              <p:cNvGrpSpPr/>
              <p:nvPr/>
            </p:nvGrpSpPr>
            <p:grpSpPr>
              <a:xfrm>
                <a:off x="4533900" y="1981200"/>
                <a:ext cx="285750" cy="285750"/>
                <a:chOff x="4533900" y="1981200"/>
                <a:chExt cx="285750" cy="285750"/>
              </a:xfrm>
            </p:grpSpPr>
            <p:sp>
              <p:nvSpPr>
                <p:cNvPr id="13" name="Freeform 13"/>
                <p:cNvSpPr/>
                <p:nvPr/>
              </p:nvSpPr>
              <p:spPr>
                <a:xfrm>
                  <a:off x="4658916" y="1981200"/>
                  <a:ext cx="35719" cy="53578"/>
                </a:xfrm>
                <a:custGeom>
                  <a:avLst/>
                  <a:gdLst/>
                  <a:ahLst/>
                  <a:cxnLst/>
                  <a:rect l="l" t="t" r="r" b="b"/>
                  <a:pathLst>
                    <a:path w="35719" h="53578">
                      <a:moveTo>
                        <a:pt x="0" y="53578"/>
                      </a:moveTo>
                      <a:lnTo>
                        <a:pt x="0" y="0"/>
                      </a:lnTo>
                      <a:lnTo>
                        <a:pt x="35719" y="0"/>
                      </a:lnTo>
                      <a:lnTo>
                        <a:pt x="35719" y="53578"/>
                      </a:lnTo>
                      <a:lnTo>
                        <a:pt x="0" y="53578"/>
                      </a:lnTo>
                      <a:close/>
                    </a:path>
                  </a:pathLst>
                </a:custGeom>
                <a:solidFill>
                  <a:schemeClr val="accent1"/>
                </a:solidFill>
                <a:ln>
                  <a:noFill/>
                </a:ln>
              </p:spPr>
            </p:sp>
            <p:sp>
              <p:nvSpPr>
                <p:cNvPr id="14" name="Freeform 14"/>
                <p:cNvSpPr/>
                <p:nvPr/>
              </p:nvSpPr>
              <p:spPr>
                <a:xfrm>
                  <a:off x="4658916" y="2213372"/>
                  <a:ext cx="35719" cy="53578"/>
                </a:xfrm>
                <a:custGeom>
                  <a:avLst/>
                  <a:gdLst/>
                  <a:ahLst/>
                  <a:cxnLst/>
                  <a:rect l="l" t="t" r="r" b="b"/>
                  <a:pathLst>
                    <a:path w="35719" h="53578">
                      <a:moveTo>
                        <a:pt x="35719" y="0"/>
                      </a:moveTo>
                      <a:lnTo>
                        <a:pt x="35719" y="53578"/>
                      </a:lnTo>
                      <a:lnTo>
                        <a:pt x="0" y="53578"/>
                      </a:lnTo>
                      <a:lnTo>
                        <a:pt x="0" y="0"/>
                      </a:lnTo>
                      <a:lnTo>
                        <a:pt x="35719" y="0"/>
                      </a:lnTo>
                      <a:close/>
                    </a:path>
                  </a:pathLst>
                </a:custGeom>
                <a:solidFill>
                  <a:schemeClr val="accent1"/>
                </a:solidFill>
                <a:ln>
                  <a:noFill/>
                </a:ln>
              </p:spPr>
            </p:sp>
            <p:sp>
              <p:nvSpPr>
                <p:cNvPr id="15" name="Freeform 15"/>
                <p:cNvSpPr/>
                <p:nvPr/>
              </p:nvSpPr>
              <p:spPr>
                <a:xfrm>
                  <a:off x="4623197" y="2070497"/>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chemeClr val="accent1"/>
                </a:solidFill>
                <a:ln>
                  <a:noFill/>
                </a:ln>
              </p:spPr>
            </p:sp>
            <p:sp>
              <p:nvSpPr>
                <p:cNvPr id="16" name="Freeform 16"/>
                <p:cNvSpPr/>
                <p:nvPr/>
              </p:nvSpPr>
              <p:spPr>
                <a:xfrm>
                  <a:off x="4533900" y="2106216"/>
                  <a:ext cx="53578" cy="35719"/>
                </a:xfrm>
                <a:custGeom>
                  <a:avLst/>
                  <a:gdLst/>
                  <a:ahLst/>
                  <a:cxnLst/>
                  <a:rect l="l" t="t" r="r" b="b"/>
                  <a:pathLst>
                    <a:path w="53578" h="35719">
                      <a:moveTo>
                        <a:pt x="0" y="35719"/>
                      </a:moveTo>
                      <a:lnTo>
                        <a:pt x="53578" y="35719"/>
                      </a:lnTo>
                      <a:lnTo>
                        <a:pt x="53578" y="0"/>
                      </a:lnTo>
                      <a:lnTo>
                        <a:pt x="0" y="0"/>
                      </a:lnTo>
                      <a:lnTo>
                        <a:pt x="0" y="35719"/>
                      </a:lnTo>
                      <a:close/>
                    </a:path>
                  </a:pathLst>
                </a:custGeom>
                <a:solidFill>
                  <a:schemeClr val="accent1"/>
                </a:solidFill>
                <a:ln>
                  <a:noFill/>
                </a:ln>
              </p:spPr>
            </p:sp>
            <p:sp>
              <p:nvSpPr>
                <p:cNvPr id="17" name="Freeform 17"/>
                <p:cNvSpPr/>
                <p:nvPr/>
              </p:nvSpPr>
              <p:spPr>
                <a:xfrm>
                  <a:off x="4766072" y="2106216"/>
                  <a:ext cx="53578" cy="35719"/>
                </a:xfrm>
                <a:custGeom>
                  <a:avLst/>
                  <a:gdLst/>
                  <a:ahLst/>
                  <a:cxnLst/>
                  <a:rect l="l" t="t" r="r" b="b"/>
                  <a:pathLst>
                    <a:path w="53578" h="35719">
                      <a:moveTo>
                        <a:pt x="53578" y="0"/>
                      </a:moveTo>
                      <a:lnTo>
                        <a:pt x="0" y="0"/>
                      </a:lnTo>
                      <a:lnTo>
                        <a:pt x="0" y="35719"/>
                      </a:lnTo>
                      <a:lnTo>
                        <a:pt x="53578" y="35719"/>
                      </a:lnTo>
                      <a:lnTo>
                        <a:pt x="53578" y="0"/>
                      </a:lnTo>
                      <a:close/>
                    </a:path>
                  </a:pathLst>
                </a:custGeom>
                <a:solidFill>
                  <a:schemeClr val="accent1"/>
                </a:solidFill>
                <a:ln>
                  <a:noFill/>
                </a:ln>
              </p:spPr>
            </p:sp>
            <p:sp>
              <p:nvSpPr>
                <p:cNvPr id="18" name="Freeform 18"/>
                <p:cNvSpPr/>
                <p:nvPr/>
              </p:nvSpPr>
              <p:spPr>
                <a:xfrm>
                  <a:off x="4563118" y="2010418"/>
                  <a:ext cx="63143" cy="63143"/>
                </a:xfrm>
                <a:custGeom>
                  <a:avLst/>
                  <a:gdLst/>
                  <a:ahLst/>
                  <a:cxnLst/>
                  <a:rect l="l" t="t" r="r" b="b"/>
                  <a:pathLst>
                    <a:path w="63143" h="63143">
                      <a:moveTo>
                        <a:pt x="37885" y="63143"/>
                      </a:moveTo>
                      <a:lnTo>
                        <a:pt x="0" y="25257"/>
                      </a:lnTo>
                      <a:lnTo>
                        <a:pt x="25257" y="0"/>
                      </a:lnTo>
                      <a:lnTo>
                        <a:pt x="63143" y="37885"/>
                      </a:lnTo>
                      <a:lnTo>
                        <a:pt x="37885" y="63143"/>
                      </a:lnTo>
                      <a:close/>
                    </a:path>
                  </a:pathLst>
                </a:custGeom>
                <a:solidFill>
                  <a:schemeClr val="accent1"/>
                </a:solidFill>
                <a:ln>
                  <a:noFill/>
                </a:ln>
              </p:spPr>
            </p:sp>
            <p:sp>
              <p:nvSpPr>
                <p:cNvPr id="19" name="Freeform 19"/>
                <p:cNvSpPr/>
                <p:nvPr/>
              </p:nvSpPr>
              <p:spPr>
                <a:xfrm>
                  <a:off x="4727288" y="2174588"/>
                  <a:ext cx="63144" cy="63144"/>
                </a:xfrm>
                <a:custGeom>
                  <a:avLst/>
                  <a:gdLst/>
                  <a:ahLst/>
                  <a:cxnLst/>
                  <a:rect l="l" t="t" r="r" b="b"/>
                  <a:pathLst>
                    <a:path w="63144" h="63144">
                      <a:moveTo>
                        <a:pt x="25257" y="0"/>
                      </a:moveTo>
                      <a:lnTo>
                        <a:pt x="63144" y="37885"/>
                      </a:lnTo>
                      <a:lnTo>
                        <a:pt x="37885" y="63144"/>
                      </a:lnTo>
                      <a:lnTo>
                        <a:pt x="0" y="25257"/>
                      </a:lnTo>
                      <a:lnTo>
                        <a:pt x="25257" y="0"/>
                      </a:lnTo>
                      <a:close/>
                    </a:path>
                  </a:pathLst>
                </a:custGeom>
                <a:solidFill>
                  <a:schemeClr val="accent1"/>
                </a:solidFill>
                <a:ln>
                  <a:noFill/>
                </a:ln>
              </p:spPr>
            </p:sp>
            <p:sp>
              <p:nvSpPr>
                <p:cNvPr id="20" name="Freeform 20"/>
                <p:cNvSpPr/>
                <p:nvPr/>
              </p:nvSpPr>
              <p:spPr>
                <a:xfrm>
                  <a:off x="4563118" y="2174588"/>
                  <a:ext cx="63143" cy="63144"/>
                </a:xfrm>
                <a:custGeom>
                  <a:avLst/>
                  <a:gdLst/>
                  <a:ahLst/>
                  <a:cxnLst/>
                  <a:rect l="l" t="t" r="r" b="b"/>
                  <a:pathLst>
                    <a:path w="63143" h="63144">
                      <a:moveTo>
                        <a:pt x="25257" y="63144"/>
                      </a:moveTo>
                      <a:lnTo>
                        <a:pt x="63143" y="25257"/>
                      </a:lnTo>
                      <a:lnTo>
                        <a:pt x="37885" y="0"/>
                      </a:lnTo>
                      <a:lnTo>
                        <a:pt x="0" y="37887"/>
                      </a:lnTo>
                      <a:lnTo>
                        <a:pt x="25257" y="63144"/>
                      </a:lnTo>
                      <a:close/>
                    </a:path>
                  </a:pathLst>
                </a:custGeom>
                <a:solidFill>
                  <a:schemeClr val="accent1"/>
                </a:solidFill>
                <a:ln>
                  <a:noFill/>
                </a:ln>
              </p:spPr>
            </p:sp>
            <p:sp>
              <p:nvSpPr>
                <p:cNvPr id="21" name="Freeform 21"/>
                <p:cNvSpPr/>
                <p:nvPr/>
              </p:nvSpPr>
              <p:spPr>
                <a:xfrm>
                  <a:off x="4727288" y="2010419"/>
                  <a:ext cx="63144" cy="63143"/>
                </a:xfrm>
                <a:custGeom>
                  <a:avLst/>
                  <a:gdLst/>
                  <a:ahLst/>
                  <a:cxnLst/>
                  <a:rect l="l" t="t" r="r" b="b"/>
                  <a:pathLst>
                    <a:path w="63144" h="63143">
                      <a:moveTo>
                        <a:pt x="37885" y="0"/>
                      </a:moveTo>
                      <a:lnTo>
                        <a:pt x="0" y="37885"/>
                      </a:lnTo>
                      <a:lnTo>
                        <a:pt x="25257" y="63143"/>
                      </a:lnTo>
                      <a:lnTo>
                        <a:pt x="63144" y="25257"/>
                      </a:lnTo>
                      <a:lnTo>
                        <a:pt x="37885" y="0"/>
                      </a:lnTo>
                      <a:close/>
                    </a:path>
                  </a:pathLst>
                </a:custGeom>
                <a:solidFill>
                  <a:schemeClr val="accent1"/>
                </a:solidFill>
                <a:ln>
                  <a:noFill/>
                </a:ln>
              </p:spPr>
            </p:sp>
          </p:grpSp>
          <p:sp>
            <p:nvSpPr>
              <p:cNvPr id="23" name="TextBox 23"/>
              <p:cNvSpPr txBox="1"/>
              <p:nvPr/>
            </p:nvSpPr>
            <p:spPr>
              <a:xfrm>
                <a:off x="4981956" y="2015490"/>
                <a:ext cx="4900955"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ข้าวเจ้าไวต่อช่วงแสง สูงประมาณ 140 เซนติเมตร</a:t>
                </a:r>
              </a:p>
            </p:txBody>
          </p:sp>
        </p:grpSp>
        <p:grpSp>
          <p:nvGrpSpPr>
            <p:cNvPr id="29" name="trait-harvest"/>
            <p:cNvGrpSpPr/>
            <p:nvPr/>
          </p:nvGrpSpPr>
          <p:grpSpPr>
            <a:xfrm>
              <a:off x="4551759" y="2476500"/>
              <a:ext cx="5258458" cy="386334"/>
              <a:chOff x="4551759" y="2476500"/>
              <a:chExt cx="5258458" cy="386334"/>
            </a:xfrm>
          </p:grpSpPr>
          <p:grpSp>
            <p:nvGrpSpPr>
              <p:cNvPr id="27" name="Group 27"/>
              <p:cNvGrpSpPr/>
              <p:nvPr/>
            </p:nvGrpSpPr>
            <p:grpSpPr>
              <a:xfrm>
                <a:off x="4551759" y="2476500"/>
                <a:ext cx="250031" cy="267891"/>
                <a:chOff x="4551759" y="2476500"/>
                <a:chExt cx="250031" cy="267891"/>
              </a:xfrm>
            </p:grpSpPr>
            <p:sp>
              <p:nvSpPr>
                <p:cNvPr id="25" name="Freeform 25"/>
                <p:cNvSpPr/>
                <p:nvPr/>
              </p:nvSpPr>
              <p:spPr>
                <a:xfrm>
                  <a:off x="4551759" y="2476500"/>
                  <a:ext cx="250031" cy="89297"/>
                </a:xfrm>
                <a:custGeom>
                  <a:avLst/>
                  <a:gdLst/>
                  <a:ahLst/>
                  <a:cxnLst/>
                  <a:rect l="l" t="t" r="r" b="b"/>
                  <a:pathLst>
                    <a:path w="250031" h="89297">
                      <a:moveTo>
                        <a:pt x="89297" y="0"/>
                      </a:moveTo>
                      <a:lnTo>
                        <a:pt x="35719" y="0"/>
                      </a:lnTo>
                      <a:lnTo>
                        <a:pt x="35719" y="35719"/>
                      </a:lnTo>
                      <a:lnTo>
                        <a:pt x="0" y="35719"/>
                      </a:lnTo>
                      <a:lnTo>
                        <a:pt x="0" y="89297"/>
                      </a:lnTo>
                      <a:lnTo>
                        <a:pt x="250031" y="89297"/>
                      </a:lnTo>
                      <a:lnTo>
                        <a:pt x="250031" y="35719"/>
                      </a:lnTo>
                      <a:lnTo>
                        <a:pt x="214312" y="35719"/>
                      </a:lnTo>
                      <a:lnTo>
                        <a:pt x="214312" y="0"/>
                      </a:lnTo>
                      <a:lnTo>
                        <a:pt x="160734" y="0"/>
                      </a:lnTo>
                      <a:lnTo>
                        <a:pt x="160734" y="35719"/>
                      </a:lnTo>
                      <a:lnTo>
                        <a:pt x="89297" y="35719"/>
                      </a:lnTo>
                      <a:lnTo>
                        <a:pt x="89297" y="0"/>
                      </a:lnTo>
                      <a:close/>
                    </a:path>
                  </a:pathLst>
                </a:custGeom>
                <a:solidFill>
                  <a:schemeClr val="accent1"/>
                </a:solidFill>
                <a:ln>
                  <a:noFill/>
                </a:ln>
              </p:spPr>
            </p:sp>
            <p:sp>
              <p:nvSpPr>
                <p:cNvPr id="26" name="Freeform 26"/>
                <p:cNvSpPr/>
                <p:nvPr/>
              </p:nvSpPr>
              <p:spPr>
                <a:xfrm>
                  <a:off x="4551759" y="2601516"/>
                  <a:ext cx="250031" cy="142875"/>
                </a:xfrm>
                <a:custGeom>
                  <a:avLst/>
                  <a:gdLst/>
                  <a:ahLst/>
                  <a:cxnLst/>
                  <a:rect l="l" t="t" r="r" b="b"/>
                  <a:pathLst>
                    <a:path w="250031" h="142875">
                      <a:moveTo>
                        <a:pt x="250031" y="0"/>
                      </a:moveTo>
                      <a:lnTo>
                        <a:pt x="0" y="0"/>
                      </a:lnTo>
                      <a:lnTo>
                        <a:pt x="0" y="142875"/>
                      </a:lnTo>
                      <a:lnTo>
                        <a:pt x="250031" y="142875"/>
                      </a:lnTo>
                      <a:lnTo>
                        <a:pt x="250031" y="0"/>
                      </a:lnTo>
                      <a:close/>
                    </a:path>
                  </a:pathLst>
                </a:custGeom>
                <a:solidFill>
                  <a:schemeClr val="accent1"/>
                </a:solidFill>
                <a:ln>
                  <a:noFill/>
                </a:ln>
              </p:spPr>
            </p:sp>
          </p:grpSp>
          <p:sp>
            <p:nvSpPr>
              <p:cNvPr id="28" name="TextBox 28"/>
              <p:cNvSpPr txBox="1"/>
              <p:nvPr/>
            </p:nvSpPr>
            <p:spPr>
              <a:xfrm>
                <a:off x="4981956" y="2510790"/>
                <a:ext cx="4828261"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อายุเก็บเกี่ยวประมาณวันที่ 25 พฤศจิกายนของทุกปี</a:t>
                </a:r>
              </a:p>
            </p:txBody>
          </p:sp>
        </p:grpSp>
        <p:grpSp>
          <p:nvGrpSpPr>
            <p:cNvPr id="32" name="trait-grain-size"/>
            <p:cNvGrpSpPr/>
            <p:nvPr/>
          </p:nvGrpSpPr>
          <p:grpSpPr>
            <a:xfrm>
              <a:off x="4569619" y="2989659"/>
              <a:ext cx="4236815" cy="711375"/>
              <a:chOff x="4569619" y="2989659"/>
              <a:chExt cx="4236815" cy="711375"/>
            </a:xfrm>
          </p:grpSpPr>
          <p:sp>
            <p:nvSpPr>
              <p:cNvPr id="30" name="Freeform 30"/>
              <p:cNvSpPr/>
              <p:nvPr/>
            </p:nvSpPr>
            <p:spPr>
              <a:xfrm>
                <a:off x="4569619" y="2989659"/>
                <a:ext cx="232172" cy="267891"/>
              </a:xfrm>
              <a:custGeom>
                <a:avLst/>
                <a:gdLst/>
                <a:ahLst/>
                <a:cxnLst/>
                <a:rect l="l" t="t" r="r" b="b"/>
                <a:pathLst>
                  <a:path w="232172" h="267891">
                    <a:moveTo>
                      <a:pt x="178594" y="0"/>
                    </a:moveTo>
                    <a:cubicBezTo>
                      <a:pt x="79959" y="0"/>
                      <a:pt x="0" y="71963"/>
                      <a:pt x="0" y="160734"/>
                    </a:cubicBezTo>
                    <a:lnTo>
                      <a:pt x="0" y="267891"/>
                    </a:lnTo>
                    <a:lnTo>
                      <a:pt x="35719" y="267891"/>
                    </a:lnTo>
                    <a:lnTo>
                      <a:pt x="35719" y="171196"/>
                    </a:lnTo>
                    <a:lnTo>
                      <a:pt x="112387" y="94528"/>
                    </a:lnTo>
                    <a:lnTo>
                      <a:pt x="137644" y="119784"/>
                    </a:lnTo>
                    <a:lnTo>
                      <a:pt x="71438" y="185991"/>
                    </a:lnTo>
                    <a:lnTo>
                      <a:pt x="71438" y="231379"/>
                    </a:lnTo>
                    <a:cubicBezTo>
                      <a:pt x="161686" y="223314"/>
                      <a:pt x="232172" y="154784"/>
                      <a:pt x="232172" y="71438"/>
                    </a:cubicBezTo>
                    <a:lnTo>
                      <a:pt x="232172" y="0"/>
                    </a:lnTo>
                    <a:lnTo>
                      <a:pt x="178594" y="0"/>
                    </a:lnTo>
                    <a:close/>
                  </a:path>
                </a:pathLst>
              </a:custGeom>
              <a:solidFill>
                <a:schemeClr val="accent1"/>
              </a:solidFill>
              <a:ln>
                <a:noFill/>
              </a:ln>
            </p:spPr>
          </p:sp>
          <p:sp>
            <p:nvSpPr>
              <p:cNvPr id="31" name="TextBox 31"/>
              <p:cNvSpPr txBox="1"/>
              <p:nvPr/>
            </p:nvSpPr>
            <p:spPr>
              <a:xfrm>
                <a:off x="4981956" y="3006090"/>
                <a:ext cx="3824478" cy="694944"/>
              </a:xfrm>
              <a:prstGeom prst="rect">
                <a:avLst/>
              </a:prstGeom>
              <a:noFill/>
              <a:ln>
                <a:noFill/>
              </a:ln>
            </p:spPr>
            <p:txBody>
              <a:bodyPr wrap="none" lIns="0" tIns="0" rIns="0" bIns="0" anchor="t" anchorCtr="0">
                <a:spAutoFit/>
              </a:bodyPr>
              <a:lstStyle/>
              <a:p>
                <a:pPr algn="l">
                  <a:lnSpc>
                    <a:spcPts val="2700"/>
                  </a:lnSpc>
                </a:pPr>
                <a:r>
                  <a:rPr lang="th-TH" sz="1800" dirty="0">
                    <a:solidFill>
                      <a:schemeClr val="dk1"/>
                    </a:solidFill>
                    <a:latin typeface="+mn-lt"/>
                    <a:ea typeface="+mn-ea"/>
                    <a:cs typeface="+mn-cs"/>
                  </a:rPr>
                  <a:t>เมล็ดข้าวกล้อง 7.5 × 2.1 × 1.8 มม.</a:t>
                </a:r>
                <a:br/>
                <a:r>
                  <a:rPr lang="th-TH" sz="1800" dirty="0">
                    <a:solidFill>
                      <a:schemeClr val="dk1"/>
                    </a:solidFill>
                    <a:latin typeface="+mn-lt"/>
                    <a:ea typeface="+mn-ea"/>
                    <a:cs typeface="+mn-cs"/>
                  </a:rPr>
                  <a:t>เมล็ดข้าวเปลือก 10.6 × 2.5 × 1.9 มม.</a:t>
                </a:r>
              </a:p>
            </p:txBody>
          </p:sp>
        </p:grpSp>
        <p:grpSp>
          <p:nvGrpSpPr>
            <p:cNvPr id="35" name="trait-amylose"/>
            <p:cNvGrpSpPr/>
            <p:nvPr/>
          </p:nvGrpSpPr>
          <p:grpSpPr>
            <a:xfrm>
              <a:off x="4569619" y="3810000"/>
              <a:ext cx="5434450" cy="386334"/>
              <a:chOff x="4569619" y="3810000"/>
              <a:chExt cx="5434450" cy="386334"/>
            </a:xfrm>
          </p:grpSpPr>
          <p:sp>
            <p:nvSpPr>
              <p:cNvPr id="33" name="Freeform 33"/>
              <p:cNvSpPr/>
              <p:nvPr/>
            </p:nvSpPr>
            <p:spPr>
              <a:xfrm>
                <a:off x="4569619" y="3810000"/>
                <a:ext cx="214312" cy="285750"/>
              </a:xfrm>
              <a:custGeom>
                <a:avLst/>
                <a:gdLst/>
                <a:ahLst/>
                <a:cxnLst/>
                <a:rect l="l" t="t" r="r" b="b"/>
                <a:pathLst>
                  <a:path w="214312" h="285750">
                    <a:moveTo>
                      <a:pt x="89297" y="0"/>
                    </a:moveTo>
                    <a:lnTo>
                      <a:pt x="16877" y="115872"/>
                    </a:lnTo>
                    <a:cubicBezTo>
                      <a:pt x="5848" y="133518"/>
                      <a:pt x="0" y="153909"/>
                      <a:pt x="0" y="174718"/>
                    </a:cubicBezTo>
                    <a:lnTo>
                      <a:pt x="0" y="178594"/>
                    </a:lnTo>
                    <a:cubicBezTo>
                      <a:pt x="0" y="237774"/>
                      <a:pt x="47975" y="285750"/>
                      <a:pt x="107156" y="285750"/>
                    </a:cubicBezTo>
                    <a:cubicBezTo>
                      <a:pt x="166337" y="285750"/>
                      <a:pt x="214312" y="237774"/>
                      <a:pt x="214312" y="178594"/>
                    </a:cubicBezTo>
                    <a:lnTo>
                      <a:pt x="214312" y="174718"/>
                    </a:lnTo>
                    <a:cubicBezTo>
                      <a:pt x="214312" y="153909"/>
                      <a:pt x="208465" y="133518"/>
                      <a:pt x="197435" y="115872"/>
                    </a:cubicBezTo>
                    <a:lnTo>
                      <a:pt x="125016" y="0"/>
                    </a:lnTo>
                    <a:lnTo>
                      <a:pt x="89297" y="0"/>
                    </a:lnTo>
                    <a:close/>
                    <a:moveTo>
                      <a:pt x="142875" y="178594"/>
                    </a:moveTo>
                    <a:cubicBezTo>
                      <a:pt x="142875" y="198321"/>
                      <a:pt x="126883" y="214312"/>
                      <a:pt x="107156" y="214312"/>
                    </a:cubicBezTo>
                    <a:lnTo>
                      <a:pt x="107156" y="250031"/>
                    </a:lnTo>
                    <a:cubicBezTo>
                      <a:pt x="146609" y="250031"/>
                      <a:pt x="178594" y="218047"/>
                      <a:pt x="178594" y="178594"/>
                    </a:cubicBezTo>
                    <a:lnTo>
                      <a:pt x="142875" y="178594"/>
                    </a:lnTo>
                    <a:close/>
                  </a:path>
                </a:pathLst>
              </a:custGeom>
              <a:solidFill>
                <a:schemeClr val="accent1"/>
              </a:solidFill>
              <a:ln>
                <a:noFill/>
              </a:ln>
            </p:spPr>
          </p:sp>
          <p:sp>
            <p:nvSpPr>
              <p:cNvPr id="34" name="TextBox 34"/>
              <p:cNvSpPr txBox="1"/>
              <p:nvPr/>
            </p:nvSpPr>
            <p:spPr>
              <a:xfrm>
                <a:off x="4981956" y="3844290"/>
                <a:ext cx="5022113"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อมิโลส 12–17 % หุงสุกอ่อนนุ่ม กลิ่นหอมคล้ายใบเตย</a:t>
                </a:r>
              </a:p>
            </p:txBody>
          </p:sp>
        </p:grpSp>
        <p:grpSp>
          <p:nvGrpSpPr>
            <p:cNvPr id="40" name="trait-yield"/>
            <p:cNvGrpSpPr/>
            <p:nvPr/>
          </p:nvGrpSpPr>
          <p:grpSpPr>
            <a:xfrm>
              <a:off x="4551759" y="4323159"/>
              <a:ext cx="3882709" cy="368475"/>
              <a:chOff x="4551759" y="4323159"/>
              <a:chExt cx="3882709" cy="368475"/>
            </a:xfrm>
          </p:grpSpPr>
          <p:grpSp>
            <p:nvGrpSpPr>
              <p:cNvPr id="38" name="Group 38"/>
              <p:cNvGrpSpPr/>
              <p:nvPr/>
            </p:nvGrpSpPr>
            <p:grpSpPr>
              <a:xfrm>
                <a:off x="4551759" y="4323159"/>
                <a:ext cx="250032" cy="250031"/>
                <a:chOff x="4551759" y="4323159"/>
                <a:chExt cx="250032" cy="250031"/>
              </a:xfrm>
            </p:grpSpPr>
            <p:sp>
              <p:nvSpPr>
                <p:cNvPr id="36" name="Freeform 36"/>
                <p:cNvSpPr/>
                <p:nvPr/>
              </p:nvSpPr>
              <p:spPr>
                <a:xfrm>
                  <a:off x="4551759" y="4323159"/>
                  <a:ext cx="250031" cy="250031"/>
                </a:xfrm>
                <a:custGeom>
                  <a:avLst/>
                  <a:gdLst/>
                  <a:ahLst/>
                  <a:cxnLst/>
                  <a:rect l="l" t="t" r="r" b="b"/>
                  <a:pathLst>
                    <a:path w="250031" h="250031">
                      <a:moveTo>
                        <a:pt x="0" y="0"/>
                      </a:moveTo>
                      <a:lnTo>
                        <a:pt x="0" y="250031"/>
                      </a:lnTo>
                      <a:lnTo>
                        <a:pt x="250031" y="250031"/>
                      </a:lnTo>
                      <a:lnTo>
                        <a:pt x="250031" y="214312"/>
                      </a:lnTo>
                      <a:lnTo>
                        <a:pt x="35719" y="214312"/>
                      </a:lnTo>
                      <a:lnTo>
                        <a:pt x="35719" y="0"/>
                      </a:lnTo>
                      <a:lnTo>
                        <a:pt x="0" y="0"/>
                      </a:lnTo>
                      <a:close/>
                    </a:path>
                  </a:pathLst>
                </a:custGeom>
                <a:solidFill>
                  <a:schemeClr val="accent1"/>
                </a:solidFill>
                <a:ln>
                  <a:noFill/>
                </a:ln>
              </p:spPr>
            </p:sp>
            <p:sp>
              <p:nvSpPr>
                <p:cNvPr id="37" name="Freeform 37"/>
                <p:cNvSpPr/>
                <p:nvPr/>
              </p:nvSpPr>
              <p:spPr>
                <a:xfrm>
                  <a:off x="4623197" y="4358878"/>
                  <a:ext cx="178594" cy="142875"/>
                </a:xfrm>
                <a:custGeom>
                  <a:avLst/>
                  <a:gdLst/>
                  <a:ahLst/>
                  <a:cxnLst/>
                  <a:rect l="l" t="t" r="r" b="b"/>
                  <a:pathLst>
                    <a:path w="178594" h="142875">
                      <a:moveTo>
                        <a:pt x="0" y="71438"/>
                      </a:moveTo>
                      <a:lnTo>
                        <a:pt x="35719" y="35719"/>
                      </a:lnTo>
                      <a:lnTo>
                        <a:pt x="89297" y="89297"/>
                      </a:lnTo>
                      <a:lnTo>
                        <a:pt x="178594" y="0"/>
                      </a:lnTo>
                      <a:lnTo>
                        <a:pt x="178594" y="142875"/>
                      </a:lnTo>
                      <a:lnTo>
                        <a:pt x="0" y="142875"/>
                      </a:lnTo>
                      <a:lnTo>
                        <a:pt x="0" y="71438"/>
                      </a:lnTo>
                      <a:close/>
                    </a:path>
                  </a:pathLst>
                </a:custGeom>
                <a:solidFill>
                  <a:schemeClr val="accent1"/>
                </a:solidFill>
                <a:ln>
                  <a:noFill/>
                </a:ln>
              </p:spPr>
            </p:sp>
          </p:grpSp>
          <p:sp>
            <p:nvSpPr>
              <p:cNvPr id="39" name="TextBox 39"/>
              <p:cNvSpPr txBox="1"/>
              <p:nvPr/>
            </p:nvSpPr>
            <p:spPr>
              <a:xfrm>
                <a:off x="4981956" y="4339590"/>
                <a:ext cx="3452512"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 xml:space="preserve">ผลผลิตประมาณ </a:t>
                </a:r>
                <a:r>
                  <a:rPr lang="th-TH" sz="1800" b="1" dirty="0">
                    <a:solidFill>
                      <a:schemeClr val="accent3"/>
                    </a:solidFill>
                    <a:latin typeface="+mn-lt"/>
                    <a:ea typeface="+mn-ea"/>
                    <a:cs typeface="+mn-cs"/>
                  </a:rPr>
                  <a:t>363 กิโลกรัมต่อไร่</a:t>
                </a:r>
              </a:p>
            </p:txBody>
          </p:sp>
        </p:grpSp>
        <p:grpSp>
          <p:nvGrpSpPr>
            <p:cNvPr id="46" name="trait-region"/>
            <p:cNvGrpSpPr/>
            <p:nvPr/>
          </p:nvGrpSpPr>
          <p:grpSpPr>
            <a:xfrm>
              <a:off x="4533900" y="4818459"/>
              <a:ext cx="6003265" cy="368475"/>
              <a:chOff x="4533900" y="4818459"/>
              <a:chExt cx="6003265" cy="368475"/>
            </a:xfrm>
          </p:grpSpPr>
          <p:grpSp>
            <p:nvGrpSpPr>
              <p:cNvPr id="44" name="Group 44"/>
              <p:cNvGrpSpPr/>
              <p:nvPr/>
            </p:nvGrpSpPr>
            <p:grpSpPr>
              <a:xfrm>
                <a:off x="4533900" y="4818459"/>
                <a:ext cx="285750" cy="250031"/>
                <a:chOff x="4533900" y="4818459"/>
                <a:chExt cx="285750" cy="250031"/>
              </a:xfrm>
            </p:grpSpPr>
            <p:sp>
              <p:nvSpPr>
                <p:cNvPr id="41" name="Freeform 41"/>
                <p:cNvSpPr/>
                <p:nvPr/>
              </p:nvSpPr>
              <p:spPr>
                <a:xfrm>
                  <a:off x="4533900" y="4818459"/>
                  <a:ext cx="71438" cy="250031"/>
                </a:xfrm>
                <a:custGeom>
                  <a:avLst/>
                  <a:gdLst/>
                  <a:ahLst/>
                  <a:cxnLst/>
                  <a:rect l="l" t="t" r="r" b="b"/>
                  <a:pathLst>
                    <a:path w="71438" h="250031">
                      <a:moveTo>
                        <a:pt x="71438" y="17859"/>
                      </a:moveTo>
                      <a:lnTo>
                        <a:pt x="0" y="0"/>
                      </a:lnTo>
                      <a:lnTo>
                        <a:pt x="0" y="232172"/>
                      </a:lnTo>
                      <a:lnTo>
                        <a:pt x="71438" y="250031"/>
                      </a:lnTo>
                      <a:lnTo>
                        <a:pt x="71438" y="17859"/>
                      </a:lnTo>
                      <a:close/>
                    </a:path>
                  </a:pathLst>
                </a:custGeom>
                <a:solidFill>
                  <a:schemeClr val="accent1"/>
                </a:solidFill>
                <a:ln>
                  <a:noFill/>
                </a:ln>
              </p:spPr>
            </p:sp>
            <p:sp>
              <p:nvSpPr>
                <p:cNvPr id="42" name="Freeform 42"/>
                <p:cNvSpPr/>
                <p:nvPr/>
              </p:nvSpPr>
              <p:spPr>
                <a:xfrm>
                  <a:off x="4748212" y="4818459"/>
                  <a:ext cx="71438" cy="250031"/>
                </a:xfrm>
                <a:custGeom>
                  <a:avLst/>
                  <a:gdLst/>
                  <a:ahLst/>
                  <a:cxnLst/>
                  <a:rect l="l" t="t" r="r" b="b"/>
                  <a:pathLst>
                    <a:path w="71438" h="250031">
                      <a:moveTo>
                        <a:pt x="71438" y="17859"/>
                      </a:moveTo>
                      <a:lnTo>
                        <a:pt x="0" y="0"/>
                      </a:lnTo>
                      <a:lnTo>
                        <a:pt x="0" y="232172"/>
                      </a:lnTo>
                      <a:lnTo>
                        <a:pt x="71438" y="250031"/>
                      </a:lnTo>
                      <a:lnTo>
                        <a:pt x="71438" y="17859"/>
                      </a:lnTo>
                      <a:close/>
                    </a:path>
                  </a:pathLst>
                </a:custGeom>
                <a:solidFill>
                  <a:schemeClr val="accent1"/>
                </a:solidFill>
                <a:ln>
                  <a:noFill/>
                </a:ln>
              </p:spPr>
            </p:sp>
            <p:sp>
              <p:nvSpPr>
                <p:cNvPr id="43" name="Freeform 43"/>
                <p:cNvSpPr/>
                <p:nvPr/>
              </p:nvSpPr>
              <p:spPr>
                <a:xfrm>
                  <a:off x="4641056" y="4818459"/>
                  <a:ext cx="71438" cy="250031"/>
                </a:xfrm>
                <a:custGeom>
                  <a:avLst/>
                  <a:gdLst/>
                  <a:ahLst/>
                  <a:cxnLst/>
                  <a:rect l="l" t="t" r="r" b="b"/>
                  <a:pathLst>
                    <a:path w="71438" h="250031">
                      <a:moveTo>
                        <a:pt x="71438" y="0"/>
                      </a:moveTo>
                      <a:lnTo>
                        <a:pt x="0" y="17859"/>
                      </a:lnTo>
                      <a:lnTo>
                        <a:pt x="0" y="250031"/>
                      </a:lnTo>
                      <a:lnTo>
                        <a:pt x="71438" y="232172"/>
                      </a:lnTo>
                      <a:lnTo>
                        <a:pt x="71438" y="0"/>
                      </a:lnTo>
                      <a:close/>
                    </a:path>
                  </a:pathLst>
                </a:custGeom>
                <a:solidFill>
                  <a:schemeClr val="accent1"/>
                </a:solidFill>
                <a:ln>
                  <a:noFill/>
                </a:ln>
              </p:spPr>
            </p:sp>
          </p:grpSp>
          <p:sp>
            <p:nvSpPr>
              <p:cNvPr id="45" name="TextBox 45"/>
              <p:cNvSpPr txBox="1"/>
              <p:nvPr/>
            </p:nvSpPr>
            <p:spPr>
              <a:xfrm>
                <a:off x="4981956" y="4834890"/>
                <a:ext cx="5555209"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พื้นที่แนะนำ ภาคตะวันออกเฉียงเหนือและภาคเหนือตอนบน</a:t>
                </a:r>
              </a:p>
            </p:txBody>
          </p:sp>
        </p:grpSp>
      </p:grpSp>
      <p:grpSp>
        <p:nvGrpSpPr>
          <p:cNvPr id="52" name="strength-band"/>
          <p:cNvGrpSpPr/>
          <p:nvPr/>
        </p:nvGrpSpPr>
        <p:grpSpPr>
          <a:xfrm>
            <a:off x="609600" y="5276850"/>
            <a:ext cx="10972800" cy="438150"/>
            <a:chOff x="609600" y="5276850"/>
            <a:chExt cx="10972800" cy="438150"/>
          </a:xfrm>
        </p:grpSpPr>
        <p:sp>
          <p:nvSpPr>
            <p:cNvPr id="48" name="Rectangle 48"/>
            <p:cNvSpPr/>
            <p:nvPr/>
          </p:nvSpPr>
          <p:spPr>
            <a:xfrm>
              <a:off x="609600" y="5276850"/>
              <a:ext cx="10972800" cy="438150"/>
            </a:xfrm>
            <a:prstGeom prst="rect">
              <a:avLst/>
            </a:prstGeom>
            <a:solidFill>
              <a:srgbClr val="2E7D32">
                <a:alpha val="10000"/>
              </a:srgbClr>
            </a:solidFill>
            <a:ln>
              <a:noFill/>
            </a:ln>
          </p:spPr>
        </p:sp>
        <p:sp>
          <p:nvSpPr>
            <p:cNvPr id="49" name="Freeform 49"/>
            <p:cNvSpPr/>
            <p:nvPr/>
          </p:nvSpPr>
          <p:spPr>
            <a:xfrm>
              <a:off x="853678" y="5372100"/>
              <a:ext cx="216694" cy="247650"/>
            </a:xfrm>
            <a:custGeom>
              <a:avLst/>
              <a:gdLst/>
              <a:ahLst/>
              <a:cxnLst/>
              <a:rect l="l" t="t" r="r" b="b"/>
              <a:pathLst>
                <a:path w="216694" h="247650">
                  <a:moveTo>
                    <a:pt x="108347" y="247650"/>
                  </a:moveTo>
                  <a:lnTo>
                    <a:pt x="51853" y="207297"/>
                  </a:lnTo>
                  <a:cubicBezTo>
                    <a:pt x="19313" y="184053"/>
                    <a:pt x="0" y="146526"/>
                    <a:pt x="0" y="106537"/>
                  </a:cubicBezTo>
                  <a:lnTo>
                    <a:pt x="0" y="46434"/>
                  </a:lnTo>
                  <a:lnTo>
                    <a:pt x="108347" y="0"/>
                  </a:lnTo>
                  <a:lnTo>
                    <a:pt x="216694" y="46434"/>
                  </a:lnTo>
                  <a:lnTo>
                    <a:pt x="216694" y="106537"/>
                  </a:lnTo>
                  <a:cubicBezTo>
                    <a:pt x="216694" y="146526"/>
                    <a:pt x="197382" y="184053"/>
                    <a:pt x="164840" y="207297"/>
                  </a:cubicBezTo>
                  <a:lnTo>
                    <a:pt x="108347" y="247650"/>
                  </a:lnTo>
                  <a:close/>
                  <a:moveTo>
                    <a:pt x="173465" y="88335"/>
                  </a:moveTo>
                  <a:lnTo>
                    <a:pt x="151576" y="66446"/>
                  </a:lnTo>
                  <a:lnTo>
                    <a:pt x="92869" y="125153"/>
                  </a:lnTo>
                  <a:lnTo>
                    <a:pt x="65118" y="97402"/>
                  </a:lnTo>
                  <a:lnTo>
                    <a:pt x="43229" y="119292"/>
                  </a:lnTo>
                  <a:lnTo>
                    <a:pt x="92869" y="168931"/>
                  </a:lnTo>
                  <a:lnTo>
                    <a:pt x="173465" y="88335"/>
                  </a:lnTo>
                  <a:close/>
                </a:path>
              </a:pathLst>
            </a:custGeom>
            <a:solidFill>
              <a:srgbClr val="2E7D32"/>
            </a:solidFill>
            <a:ln>
              <a:noFill/>
            </a:ln>
          </p:spPr>
        </p:sp>
        <p:sp>
          <p:nvSpPr>
            <p:cNvPr id="50" name="TextBox 50"/>
            <p:cNvSpPr txBox="1"/>
            <p:nvPr/>
          </p:nvSpPr>
          <p:spPr>
            <a:xfrm>
              <a:off x="1212342" y="5416868"/>
              <a:ext cx="538482" cy="264033"/>
            </a:xfrm>
            <a:prstGeom prst="rect">
              <a:avLst/>
            </a:prstGeom>
            <a:noFill/>
            <a:ln>
              <a:noFill/>
            </a:ln>
          </p:spPr>
          <p:txBody>
            <a:bodyPr wrap="none" lIns="0" tIns="0" rIns="0" bIns="0" anchor="t" anchorCtr="0">
              <a:spAutoFit/>
            </a:bodyPr>
            <a:lstStyle/>
            <a:p>
              <a:pPr algn="l"/>
              <a:r>
                <a:rPr lang="th-TH" sz="1350" b="1" dirty="0">
                  <a:solidFill>
                    <a:srgbClr val="2E7D32"/>
                  </a:solidFill>
                  <a:latin typeface="+mn-lt"/>
                  <a:ea typeface="+mn-ea"/>
                  <a:cs typeface="+mn-cs"/>
                </a:rPr>
                <a:t>จุดแข็ง</a:t>
              </a:r>
            </a:p>
          </p:txBody>
        </p:sp>
        <p:sp>
          <p:nvSpPr>
            <p:cNvPr id="51" name="TextBox 51"/>
            <p:cNvSpPr txBox="1"/>
            <p:nvPr/>
          </p:nvSpPr>
          <p:spPr>
            <a:xfrm>
              <a:off x="1974342" y="5416868"/>
              <a:ext cx="5029657"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ทนแล้ง ทนดินเปรี้ยวและดินเค็ม เมล็ดข้าวสารใส แกร่ง คุณภาพการสีดี</a:t>
              </a:r>
            </a:p>
          </p:txBody>
        </p:sp>
      </p:grpSp>
      <p:grpSp>
        <p:nvGrpSpPr>
          <p:cNvPr id="59" name="caution-band"/>
          <p:cNvGrpSpPr/>
          <p:nvPr/>
        </p:nvGrpSpPr>
        <p:grpSpPr>
          <a:xfrm>
            <a:off x="609600" y="5791200"/>
            <a:ext cx="10972800" cy="438150"/>
            <a:chOff x="609600" y="5791200"/>
            <a:chExt cx="10972800" cy="438150"/>
          </a:xfrm>
        </p:grpSpPr>
        <p:sp>
          <p:nvSpPr>
            <p:cNvPr id="53" name="Rectangle 53"/>
            <p:cNvSpPr/>
            <p:nvPr/>
          </p:nvSpPr>
          <p:spPr>
            <a:xfrm>
              <a:off x="609600" y="5791200"/>
              <a:ext cx="10972800" cy="438150"/>
            </a:xfrm>
            <a:prstGeom prst="rect">
              <a:avLst/>
            </a:prstGeom>
            <a:solidFill>
              <a:srgbClr val="F57C00">
                <a:alpha val="12000"/>
              </a:srgbClr>
            </a:solidFill>
            <a:ln>
              <a:noFill/>
            </a:ln>
          </p:spPr>
        </p:sp>
        <p:grpSp>
          <p:nvGrpSpPr>
            <p:cNvPr id="56" name="Group 56"/>
            <p:cNvGrpSpPr/>
            <p:nvPr/>
          </p:nvGrpSpPr>
          <p:grpSpPr>
            <a:xfrm>
              <a:off x="838200" y="5886450"/>
              <a:ext cx="247650" cy="247650"/>
              <a:chOff x="838200" y="5886450"/>
              <a:chExt cx="247650" cy="247650"/>
            </a:xfrm>
          </p:grpSpPr>
          <p:sp>
            <p:nvSpPr>
              <p:cNvPr id="54" name="Freeform 54"/>
              <p:cNvSpPr/>
              <p:nvPr/>
            </p:nvSpPr>
            <p:spPr>
              <a:xfrm>
                <a:off x="888177" y="5886450"/>
                <a:ext cx="147695" cy="77391"/>
              </a:xfrm>
              <a:custGeom>
                <a:avLst/>
                <a:gdLst/>
                <a:ahLst/>
                <a:cxnLst/>
                <a:rect l="l" t="t" r="r" b="b"/>
                <a:pathLst>
                  <a:path w="147695" h="77391">
                    <a:moveTo>
                      <a:pt x="58370" y="0"/>
                    </a:moveTo>
                    <a:lnTo>
                      <a:pt x="58370" y="24765"/>
                    </a:lnTo>
                    <a:cubicBezTo>
                      <a:pt x="63371" y="23750"/>
                      <a:pt x="68547" y="23217"/>
                      <a:pt x="73848" y="23217"/>
                    </a:cubicBezTo>
                    <a:cubicBezTo>
                      <a:pt x="79148" y="23217"/>
                      <a:pt x="84325" y="23750"/>
                      <a:pt x="89326" y="24765"/>
                    </a:cubicBezTo>
                    <a:lnTo>
                      <a:pt x="89326" y="0"/>
                    </a:lnTo>
                    <a:lnTo>
                      <a:pt x="120282" y="0"/>
                    </a:lnTo>
                    <a:lnTo>
                      <a:pt x="120282" y="38690"/>
                    </a:lnTo>
                    <a:cubicBezTo>
                      <a:pt x="133075" y="48298"/>
                      <a:pt x="142792" y="61778"/>
                      <a:pt x="147695" y="77391"/>
                    </a:cubicBezTo>
                    <a:lnTo>
                      <a:pt x="0" y="77391"/>
                    </a:lnTo>
                    <a:cubicBezTo>
                      <a:pt x="4903" y="61778"/>
                      <a:pt x="14621" y="48298"/>
                      <a:pt x="27413" y="38690"/>
                    </a:cubicBezTo>
                    <a:lnTo>
                      <a:pt x="27413" y="0"/>
                    </a:lnTo>
                    <a:lnTo>
                      <a:pt x="58370" y="0"/>
                    </a:lnTo>
                    <a:close/>
                  </a:path>
                </a:pathLst>
              </a:custGeom>
              <a:solidFill>
                <a:schemeClr val="accent3"/>
              </a:solidFill>
              <a:ln>
                <a:noFill/>
              </a:ln>
            </p:spPr>
          </p:sp>
          <p:sp>
            <p:nvSpPr>
              <p:cNvPr id="55" name="Freeform 55"/>
              <p:cNvSpPr/>
              <p:nvPr/>
            </p:nvSpPr>
            <p:spPr>
              <a:xfrm>
                <a:off x="838200" y="5994797"/>
                <a:ext cx="247650" cy="139303"/>
              </a:xfrm>
              <a:custGeom>
                <a:avLst/>
                <a:gdLst/>
                <a:ahLst/>
                <a:cxnLst/>
                <a:rect l="l" t="t" r="r" b="b"/>
                <a:pathLst>
                  <a:path w="247650" h="139303">
                    <a:moveTo>
                      <a:pt x="0" y="0"/>
                    </a:moveTo>
                    <a:lnTo>
                      <a:pt x="0" y="30956"/>
                    </a:lnTo>
                    <a:lnTo>
                      <a:pt x="46434" y="30956"/>
                    </a:lnTo>
                    <a:lnTo>
                      <a:pt x="46434" y="54107"/>
                    </a:lnTo>
                    <a:lnTo>
                      <a:pt x="3487" y="66378"/>
                    </a:lnTo>
                    <a:lnTo>
                      <a:pt x="11991" y="96142"/>
                    </a:lnTo>
                    <a:lnTo>
                      <a:pt x="50024" y="85277"/>
                    </a:lnTo>
                    <a:cubicBezTo>
                      <a:pt x="59930" y="116598"/>
                      <a:pt x="89226" y="139303"/>
                      <a:pt x="123825" y="139303"/>
                    </a:cubicBezTo>
                    <a:cubicBezTo>
                      <a:pt x="158423" y="139303"/>
                      <a:pt x="187720" y="116598"/>
                      <a:pt x="197626" y="85277"/>
                    </a:cubicBezTo>
                    <a:lnTo>
                      <a:pt x="235659" y="96142"/>
                    </a:lnTo>
                    <a:lnTo>
                      <a:pt x="244163" y="66378"/>
                    </a:lnTo>
                    <a:lnTo>
                      <a:pt x="201216" y="54107"/>
                    </a:lnTo>
                    <a:lnTo>
                      <a:pt x="201216" y="30956"/>
                    </a:lnTo>
                    <a:lnTo>
                      <a:pt x="247650" y="30956"/>
                    </a:lnTo>
                    <a:lnTo>
                      <a:pt x="247650" y="0"/>
                    </a:lnTo>
                    <a:lnTo>
                      <a:pt x="139303" y="0"/>
                    </a:lnTo>
                    <a:lnTo>
                      <a:pt x="139303" y="77391"/>
                    </a:lnTo>
                    <a:lnTo>
                      <a:pt x="108347" y="77391"/>
                    </a:lnTo>
                    <a:lnTo>
                      <a:pt x="108347" y="0"/>
                    </a:lnTo>
                    <a:lnTo>
                      <a:pt x="0" y="0"/>
                    </a:lnTo>
                    <a:close/>
                  </a:path>
                </a:pathLst>
              </a:custGeom>
              <a:solidFill>
                <a:schemeClr val="accent3"/>
              </a:solidFill>
              <a:ln>
                <a:noFill/>
              </a:ln>
            </p:spPr>
          </p:sp>
        </p:grpSp>
        <p:sp>
          <p:nvSpPr>
            <p:cNvPr id="57" name="TextBox 57"/>
            <p:cNvSpPr txBox="1"/>
            <p:nvPr/>
          </p:nvSpPr>
          <p:spPr>
            <a:xfrm>
              <a:off x="1212342" y="5931218"/>
              <a:ext cx="958294" cy="264033"/>
            </a:xfrm>
            <a:prstGeom prst="rect">
              <a:avLst/>
            </a:prstGeom>
            <a:noFill/>
            <a:ln>
              <a:noFill/>
            </a:ln>
          </p:spPr>
          <p:txBody>
            <a:bodyPr wrap="none" lIns="0" tIns="0" rIns="0" bIns="0" anchor="t" anchorCtr="0">
              <a:spAutoFit/>
            </a:bodyPr>
            <a:lstStyle/>
            <a:p>
              <a:pPr algn="l"/>
              <a:r>
                <a:rPr lang="th-TH" sz="1350" b="1" dirty="0">
                  <a:solidFill>
                    <a:schemeClr val="accent3"/>
                  </a:solidFill>
                  <a:latin typeface="+mn-lt"/>
                  <a:ea typeface="+mn-ea"/>
                  <a:cs typeface="+mn-cs"/>
                </a:rPr>
                <a:t>ข้อควรระวัง</a:t>
              </a:r>
            </a:p>
          </p:txBody>
        </p:sp>
        <p:sp>
          <p:nvSpPr>
            <p:cNvPr id="58" name="TextBox 58"/>
            <p:cNvSpPr txBox="1"/>
            <p:nvPr/>
          </p:nvSpPr>
          <p:spPr>
            <a:xfrm>
              <a:off x="2279142" y="5931218"/>
              <a:ext cx="813736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ไม่ต้านทานโรคใบสีส้ม ขอบใบแห้ง ไหม้ ใบหงิก และไม่ต้านทานเพลี้ยกระโดดสีน้ำตาล เพลี้ยจักจั่นสีเขียว หนอนกอ</a:t>
              </a:r>
            </a:p>
          </p:txBody>
        </p:sp>
      </p:grpSp>
      <p:grpSp>
        <p:nvGrpSpPr>
          <p:cNvPr id="62" name="page-footer"/>
          <p:cNvGrpSpPr/>
          <p:nvPr/>
        </p:nvGrpSpPr>
        <p:grpSpPr>
          <a:xfrm>
            <a:off x="603504" y="6423660"/>
            <a:ext cx="10984992" cy="234696"/>
            <a:chOff x="603504" y="6423660"/>
            <a:chExt cx="10984992" cy="234696"/>
          </a:xfrm>
        </p:grpSpPr>
        <p:sp>
          <p:nvSpPr>
            <p:cNvPr id="60" name="TextBox 60"/>
            <p:cNvSpPr txBox="1"/>
            <p:nvPr/>
          </p:nvSpPr>
          <p:spPr>
            <a:xfrm>
              <a:off x="603504" y="6423660"/>
              <a:ext cx="7403233"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Rice Knowledge Bank กรมการข้าว · ชื่อพันธุ์ ขาวดอกมะลิ 105 สำนักงานปลัดกระทรวงเกษตรและสหกรณ์</a:t>
              </a:r>
            </a:p>
          </p:txBody>
        </p:sp>
        <p:sp>
          <p:nvSpPr>
            <p:cNvPr id="61" name="TextBox 61"/>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04</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600"/>
                                        <p:tgtEl>
                                          <p:spTgt spid="47"/>
                                        </p:tgtEl>
                                      </p:cBhvr>
                                    </p:animEffect>
                                  </p:childTnLst>
                                </p:cTn>
                              </p:par>
                            </p:childTnLst>
                          </p:cTn>
                        </p:par>
                        <p:par>
                          <p:cTn id="8" fill="hold">
                            <p:stCondLst>
                              <p:cond delay="900"/>
                            </p:stCondLst>
                            <p:childTnLst>
                              <p:par>
                                <p:cTn id="9" presetID="22" presetClass="entr" presetSubtype="2" fill="hold" grpId="0" nodeType="afterEffect">
                                  <p:stCondLst>
                                    <p:cond delay="150"/>
                                  </p:stCondLst>
                                  <p:childTnLst>
                                    <p:set>
                                      <p:cBhvr>
                                        <p:cTn id="10" dur="1" fill="hold">
                                          <p:stCondLst>
                                            <p:cond delay="0"/>
                                          </p:stCondLst>
                                        </p:cTn>
                                        <p:tgtEl>
                                          <p:spTgt spid="52"/>
                                        </p:tgtEl>
                                        <p:attrNameLst>
                                          <p:attrName>style.visibility</p:attrName>
                                        </p:attrNameLst>
                                      </p:cBhvr>
                                      <p:to>
                                        <p:strVal val="visible"/>
                                      </p:to>
                                    </p:set>
                                    <p:animEffect transition="in" filter="wipe(right)">
                                      <p:cBhvr>
                                        <p:cTn id="11" dur="450"/>
                                        <p:tgtEl>
                                          <p:spTgt spid="52"/>
                                        </p:tgtEl>
                                      </p:cBhvr>
                                    </p:animEffect>
                                  </p:childTnLst>
                                </p:cTn>
                              </p:par>
                            </p:childTnLst>
                          </p:cTn>
                        </p:par>
                        <p:par>
                          <p:cTn id="12" fill="hold">
                            <p:stCondLst>
                              <p:cond delay="1500"/>
                            </p:stCondLst>
                            <p:childTnLst>
                              <p:par>
                                <p:cTn id="13" presetID="22" presetClass="entr" presetSubtype="2" fill="hold" grpId="0" nodeType="afterEffect">
                                  <p:stCondLst>
                                    <p:cond delay="150"/>
                                  </p:stCondLst>
                                  <p:childTnLst>
                                    <p:set>
                                      <p:cBhvr>
                                        <p:cTn id="14" dur="1" fill="hold">
                                          <p:stCondLst>
                                            <p:cond delay="0"/>
                                          </p:stCondLst>
                                        </p:cTn>
                                        <p:tgtEl>
                                          <p:spTgt spid="59"/>
                                        </p:tgtEl>
                                        <p:attrNameLst>
                                          <p:attrName>style.visibility</p:attrName>
                                        </p:attrNameLst>
                                      </p:cBhvr>
                                      <p:to>
                                        <p:strVal val="visible"/>
                                      </p:to>
                                    </p:set>
                                    <p:animEffect transition="in" filter="wipe(right)">
                                      <p:cBhvr>
                                        <p:cTn id="15"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186470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1 · พันธุ์และตัวตน</a:t>
              </a:r>
            </a:p>
          </p:txBody>
        </p:sp>
        <p:sp>
          <p:nvSpPr>
            <p:cNvPr id="3" name="TextBox 3"/>
            <p:cNvSpPr txBox="1"/>
            <p:nvPr/>
          </p:nvSpPr>
          <p:spPr>
            <a:xfrm>
              <a:off x="594360" y="895350"/>
              <a:ext cx="7960271"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ความหอมมาจากสารหนึ่งตัวและยีนหนึ่งตำแหน่ง</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443341"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ข้าวหอมหอมได้เพราะยีนตัวหนึ่งเสียหน้าที่ ไม่ใช่เพราะได้รับอะไรเพิ่ม</a:t>
              </a:r>
            </a:p>
          </p:txBody>
        </p:sp>
      </p:grpSp>
      <p:grpSp>
        <p:nvGrpSpPr>
          <p:cNvPr id="11" name="chain-step-1-gene"/>
          <p:cNvGrpSpPr/>
          <p:nvPr/>
        </p:nvGrpSpPr>
        <p:grpSpPr>
          <a:xfrm>
            <a:off x="609600" y="2057400"/>
            <a:ext cx="5676900" cy="786384"/>
            <a:chOff x="609600" y="2057400"/>
            <a:chExt cx="5676900" cy="786384"/>
          </a:xfrm>
        </p:grpSpPr>
        <p:sp>
          <p:nvSpPr>
            <p:cNvPr id="7" name="Rectangle 7"/>
            <p:cNvSpPr/>
            <p:nvPr/>
          </p:nvSpPr>
          <p:spPr>
            <a:xfrm>
              <a:off x="609600" y="2057400"/>
              <a:ext cx="5676900" cy="723900"/>
            </a:xfrm>
            <a:prstGeom prst="roundRect">
              <a:avLst>
                <a:gd name="adj" fmla="val 5263"/>
              </a:avLst>
            </a:prstGeom>
            <a:solidFill>
              <a:schemeClr val="lt2"/>
            </a:solidFill>
            <a:ln>
              <a:noFill/>
            </a:ln>
          </p:spPr>
        </p:sp>
        <p:sp>
          <p:nvSpPr>
            <p:cNvPr id="8" name="Rectangle 8"/>
            <p:cNvSpPr/>
            <p:nvPr/>
          </p:nvSpPr>
          <p:spPr>
            <a:xfrm>
              <a:off x="609600" y="2057400"/>
              <a:ext cx="57150" cy="723900"/>
            </a:xfrm>
            <a:prstGeom prst="rect">
              <a:avLst/>
            </a:prstGeom>
            <a:solidFill>
              <a:schemeClr val="accent1"/>
            </a:solidFill>
            <a:ln>
              <a:noFill/>
            </a:ln>
          </p:spPr>
        </p:sp>
        <p:sp>
          <p:nvSpPr>
            <p:cNvPr id="9" name="Freeform 9"/>
            <p:cNvSpPr/>
            <p:nvPr/>
          </p:nvSpPr>
          <p:spPr>
            <a:xfrm>
              <a:off x="895350" y="2266950"/>
              <a:ext cx="228600" cy="304800"/>
            </a:xfrm>
            <a:custGeom>
              <a:avLst/>
              <a:gdLst/>
              <a:ahLst/>
              <a:cxnLst/>
              <a:rect l="l" t="t" r="r" b="b"/>
              <a:pathLst>
                <a:path w="228600" h="304800">
                  <a:moveTo>
                    <a:pt x="114627" y="177800"/>
                  </a:moveTo>
                  <a:cubicBezTo>
                    <a:pt x="118686" y="174092"/>
                    <a:pt x="122831" y="170351"/>
                    <a:pt x="127044" y="166560"/>
                  </a:cubicBezTo>
                  <a:lnTo>
                    <a:pt x="131605" y="162456"/>
                  </a:lnTo>
                  <a:cubicBezTo>
                    <a:pt x="134835" y="159549"/>
                    <a:pt x="138099" y="156606"/>
                    <a:pt x="141375" y="153621"/>
                  </a:cubicBezTo>
                  <a:lnTo>
                    <a:pt x="142713" y="152400"/>
                  </a:lnTo>
                  <a:cubicBezTo>
                    <a:pt x="184894" y="113839"/>
                    <a:pt x="228600" y="68029"/>
                    <a:pt x="228600" y="0"/>
                  </a:cubicBezTo>
                  <a:lnTo>
                    <a:pt x="190500" y="0"/>
                  </a:lnTo>
                  <a:cubicBezTo>
                    <a:pt x="190500" y="13713"/>
                    <a:pt x="188174" y="26290"/>
                    <a:pt x="183956" y="38100"/>
                  </a:cubicBezTo>
                  <a:lnTo>
                    <a:pt x="44644" y="38100"/>
                  </a:lnTo>
                  <a:cubicBezTo>
                    <a:pt x="40426" y="26290"/>
                    <a:pt x="38100" y="13713"/>
                    <a:pt x="38100" y="0"/>
                  </a:cubicBezTo>
                  <a:lnTo>
                    <a:pt x="0" y="0"/>
                  </a:lnTo>
                  <a:cubicBezTo>
                    <a:pt x="0" y="68029"/>
                    <a:pt x="43707" y="113839"/>
                    <a:pt x="85887" y="152400"/>
                  </a:cubicBezTo>
                  <a:cubicBezTo>
                    <a:pt x="43707" y="190961"/>
                    <a:pt x="0" y="236772"/>
                    <a:pt x="0" y="304800"/>
                  </a:cubicBezTo>
                  <a:lnTo>
                    <a:pt x="38100" y="304800"/>
                  </a:lnTo>
                  <a:cubicBezTo>
                    <a:pt x="38100" y="291088"/>
                    <a:pt x="40426" y="278511"/>
                    <a:pt x="44644" y="266700"/>
                  </a:cubicBezTo>
                  <a:lnTo>
                    <a:pt x="183956" y="266700"/>
                  </a:lnTo>
                  <a:cubicBezTo>
                    <a:pt x="188174" y="278511"/>
                    <a:pt x="190500" y="291088"/>
                    <a:pt x="190500" y="304800"/>
                  </a:cubicBezTo>
                  <a:lnTo>
                    <a:pt x="228600" y="304800"/>
                  </a:lnTo>
                  <a:cubicBezTo>
                    <a:pt x="228600" y="251679"/>
                    <a:pt x="201951" y="212107"/>
                    <a:pt x="170187" y="178954"/>
                  </a:cubicBezTo>
                  <a:cubicBezTo>
                    <a:pt x="166066" y="182718"/>
                    <a:pt x="162055" y="186322"/>
                    <a:pt x="158208" y="189776"/>
                  </a:cubicBezTo>
                  <a:lnTo>
                    <a:pt x="152531" y="194880"/>
                  </a:lnTo>
                  <a:cubicBezTo>
                    <a:pt x="148829" y="198211"/>
                    <a:pt x="145266" y="201439"/>
                    <a:pt x="141842" y="204574"/>
                  </a:cubicBezTo>
                  <a:cubicBezTo>
                    <a:pt x="149490" y="212491"/>
                    <a:pt x="156503" y="220443"/>
                    <a:pt x="162681" y="228600"/>
                  </a:cubicBezTo>
                  <a:lnTo>
                    <a:pt x="65919" y="228600"/>
                  </a:lnTo>
                  <a:cubicBezTo>
                    <a:pt x="78953" y="211390"/>
                    <a:pt x="95709" y="195093"/>
                    <a:pt x="114300" y="178098"/>
                  </a:cubicBezTo>
                  <a:lnTo>
                    <a:pt x="114627" y="177800"/>
                  </a:lnTo>
                  <a:close/>
                  <a:moveTo>
                    <a:pt x="65919" y="76200"/>
                  </a:moveTo>
                  <a:lnTo>
                    <a:pt x="162681" y="76200"/>
                  </a:lnTo>
                  <a:cubicBezTo>
                    <a:pt x="149647" y="93411"/>
                    <a:pt x="132891" y="109708"/>
                    <a:pt x="114300" y="126702"/>
                  </a:cubicBezTo>
                  <a:cubicBezTo>
                    <a:pt x="95709" y="109708"/>
                    <a:pt x="78953" y="93411"/>
                    <a:pt x="65919" y="76200"/>
                  </a:cubicBezTo>
                  <a:close/>
                </a:path>
              </a:pathLst>
            </a:custGeom>
            <a:solidFill>
              <a:schemeClr val="accent1"/>
            </a:solidFill>
            <a:ln>
              <a:noFill/>
            </a:ln>
          </p:spPr>
        </p:sp>
        <p:sp>
          <p:nvSpPr>
            <p:cNvPr id="10" name="TextBox 10"/>
            <p:cNvSpPr txBox="1"/>
            <p:nvPr/>
          </p:nvSpPr>
          <p:spPr>
            <a:xfrm>
              <a:off x="1324356" y="2167890"/>
              <a:ext cx="445312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ยีน badh2 บนโครโมโซมที่ 8 ขาดหายไป 8 คู่เบส</a:t>
              </a:r>
              <a:br/>
              <a:r>
                <a:rPr lang="th-TH" sz="1800" dirty="0">
                  <a:solidFill>
                    <a:schemeClr val="dk1"/>
                  </a:solidFill>
                  <a:latin typeface="+mn-lt"/>
                  <a:ea typeface="+mn-ea"/>
                  <a:cs typeface="+mn-cs"/>
                </a:rPr>
                <a:t>ใน exon 7 พบเฉพาะในข้าวหอม</a:t>
              </a:r>
            </a:p>
          </p:txBody>
        </p:sp>
      </p:grpSp>
      <p:grpSp>
        <p:nvGrpSpPr>
          <p:cNvPr id="16" name="chain-step-2-enzyme"/>
          <p:cNvGrpSpPr/>
          <p:nvPr/>
        </p:nvGrpSpPr>
        <p:grpSpPr>
          <a:xfrm>
            <a:off x="609600" y="2838450"/>
            <a:ext cx="5676900" cy="938784"/>
            <a:chOff x="609600" y="2838450"/>
            <a:chExt cx="5676900" cy="938784"/>
          </a:xfrm>
        </p:grpSpPr>
        <p:sp>
          <p:nvSpPr>
            <p:cNvPr id="12" name="Line 12"/>
            <p:cNvSpPr/>
            <p:nvPr/>
          </p:nvSpPr>
          <p:spPr>
            <a:xfrm>
              <a:off x="3448050" y="2838450"/>
              <a:ext cx="1" cy="152400"/>
            </a:xfrm>
            <a:prstGeom prst="line">
              <a:avLst/>
            </a:prstGeom>
            <a:noFill/>
            <a:ln w="28575">
              <a:solidFill>
                <a:schemeClr val="accent2"/>
              </a:solidFill>
              <a:tailEnd type="triangle" w="lg" len="lg"/>
            </a:ln>
          </p:spPr>
        </p:sp>
        <p:sp>
          <p:nvSpPr>
            <p:cNvPr id="13" name="Rectangle 13"/>
            <p:cNvSpPr/>
            <p:nvPr/>
          </p:nvSpPr>
          <p:spPr>
            <a:xfrm>
              <a:off x="609600" y="3048000"/>
              <a:ext cx="5676900" cy="685800"/>
            </a:xfrm>
            <a:prstGeom prst="roundRect">
              <a:avLst>
                <a:gd name="adj" fmla="val 5556"/>
              </a:avLst>
            </a:prstGeom>
            <a:solidFill>
              <a:schemeClr val="lt2"/>
            </a:solidFill>
            <a:ln>
              <a:noFill/>
            </a:ln>
          </p:spPr>
        </p:sp>
        <p:sp>
          <p:nvSpPr>
            <p:cNvPr id="14" name="Rectangle 14"/>
            <p:cNvSpPr/>
            <p:nvPr/>
          </p:nvSpPr>
          <p:spPr>
            <a:xfrm>
              <a:off x="609600" y="3048000"/>
              <a:ext cx="57150" cy="685800"/>
            </a:xfrm>
            <a:prstGeom prst="rect">
              <a:avLst/>
            </a:prstGeom>
            <a:solidFill>
              <a:schemeClr val="accent1"/>
            </a:solidFill>
            <a:ln>
              <a:noFill/>
            </a:ln>
          </p:spPr>
        </p:sp>
        <p:sp>
          <p:nvSpPr>
            <p:cNvPr id="15" name="TextBox 15"/>
            <p:cNvSpPr txBox="1"/>
            <p:nvPr/>
          </p:nvSpPr>
          <p:spPr>
            <a:xfrm>
              <a:off x="1324356" y="3101340"/>
              <a:ext cx="268147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เอนไซม์ betaine aldehyde</a:t>
              </a:r>
              <a:br/>
              <a:r>
                <a:rPr lang="th-TH" sz="1800" dirty="0">
                  <a:solidFill>
                    <a:schemeClr val="dk1"/>
                  </a:solidFill>
                  <a:latin typeface="+mn-lt"/>
                  <a:ea typeface="+mn-ea"/>
                  <a:cs typeface="+mn-cs"/>
                </a:rPr>
                <a:t>dehydrogenase ไม่ทำงาน</a:t>
              </a:r>
            </a:p>
          </p:txBody>
        </p:sp>
      </p:grpSp>
      <p:grpSp>
        <p:nvGrpSpPr>
          <p:cNvPr id="21" name="chain-step-3-accumulate"/>
          <p:cNvGrpSpPr/>
          <p:nvPr/>
        </p:nvGrpSpPr>
        <p:grpSpPr>
          <a:xfrm>
            <a:off x="609600" y="3790950"/>
            <a:ext cx="5676900" cy="857250"/>
            <a:chOff x="609600" y="3790950"/>
            <a:chExt cx="5676900" cy="857250"/>
          </a:xfrm>
        </p:grpSpPr>
        <p:sp>
          <p:nvSpPr>
            <p:cNvPr id="17" name="Line 17"/>
            <p:cNvSpPr/>
            <p:nvPr/>
          </p:nvSpPr>
          <p:spPr>
            <a:xfrm>
              <a:off x="3448050" y="3790950"/>
              <a:ext cx="1" cy="152400"/>
            </a:xfrm>
            <a:prstGeom prst="line">
              <a:avLst/>
            </a:prstGeom>
            <a:noFill/>
            <a:ln w="28575">
              <a:solidFill>
                <a:schemeClr val="accent2"/>
              </a:solidFill>
              <a:tailEnd type="triangle" w="lg" len="lg"/>
            </a:ln>
          </p:spPr>
        </p:sp>
        <p:sp>
          <p:nvSpPr>
            <p:cNvPr id="18" name="Rectangle 18"/>
            <p:cNvSpPr/>
            <p:nvPr/>
          </p:nvSpPr>
          <p:spPr>
            <a:xfrm>
              <a:off x="609600" y="4000500"/>
              <a:ext cx="5676900" cy="647700"/>
            </a:xfrm>
            <a:prstGeom prst="roundRect">
              <a:avLst>
                <a:gd name="adj" fmla="val 5882"/>
              </a:avLst>
            </a:prstGeom>
            <a:solidFill>
              <a:schemeClr val="lt2"/>
            </a:solidFill>
            <a:ln>
              <a:noFill/>
            </a:ln>
          </p:spPr>
        </p:sp>
        <p:sp>
          <p:nvSpPr>
            <p:cNvPr id="19" name="Rectangle 19"/>
            <p:cNvSpPr/>
            <p:nvPr/>
          </p:nvSpPr>
          <p:spPr>
            <a:xfrm>
              <a:off x="609600" y="4000500"/>
              <a:ext cx="57150" cy="647700"/>
            </a:xfrm>
            <a:prstGeom prst="rect">
              <a:avLst/>
            </a:prstGeom>
            <a:solidFill>
              <a:schemeClr val="accent1"/>
            </a:solidFill>
            <a:ln>
              <a:noFill/>
            </a:ln>
          </p:spPr>
        </p:sp>
        <p:sp>
          <p:nvSpPr>
            <p:cNvPr id="20" name="TextBox 20"/>
            <p:cNvSpPr txBox="1"/>
            <p:nvPr/>
          </p:nvSpPr>
          <p:spPr>
            <a:xfrm>
              <a:off x="1324356" y="4206240"/>
              <a:ext cx="4677344"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2-acetyl-1-pyrroline (2AP) สะสมในเมล็ด</a:t>
              </a:r>
            </a:p>
          </p:txBody>
        </p:sp>
      </p:grpSp>
      <p:grpSp>
        <p:nvGrpSpPr>
          <p:cNvPr id="28" name="chain-step-4-aroma"/>
          <p:cNvGrpSpPr/>
          <p:nvPr/>
        </p:nvGrpSpPr>
        <p:grpSpPr>
          <a:xfrm>
            <a:off x="609600" y="4705350"/>
            <a:ext cx="5676900" cy="857250"/>
            <a:chOff x="609600" y="4705350"/>
            <a:chExt cx="5676900" cy="857250"/>
          </a:xfrm>
        </p:grpSpPr>
        <p:sp>
          <p:nvSpPr>
            <p:cNvPr id="22" name="Line 22"/>
            <p:cNvSpPr/>
            <p:nvPr/>
          </p:nvSpPr>
          <p:spPr>
            <a:xfrm>
              <a:off x="3448050" y="4705350"/>
              <a:ext cx="1" cy="152400"/>
            </a:xfrm>
            <a:prstGeom prst="line">
              <a:avLst/>
            </a:prstGeom>
            <a:noFill/>
            <a:ln w="28575">
              <a:solidFill>
                <a:schemeClr val="accent2"/>
              </a:solidFill>
              <a:tailEnd type="triangle" w="lg" len="lg"/>
            </a:ln>
          </p:spPr>
        </p:sp>
        <p:sp>
          <p:nvSpPr>
            <p:cNvPr id="23" name="Rectangle 23"/>
            <p:cNvSpPr/>
            <p:nvPr/>
          </p:nvSpPr>
          <p:spPr>
            <a:xfrm>
              <a:off x="609600" y="4914900"/>
              <a:ext cx="5676900" cy="647700"/>
            </a:xfrm>
            <a:prstGeom prst="roundRect">
              <a:avLst>
                <a:gd name="adj" fmla="val 5882"/>
              </a:avLst>
            </a:prstGeom>
            <a:solidFill>
              <a:schemeClr val="accent2"/>
            </a:solidFill>
            <a:ln>
              <a:noFill/>
            </a:ln>
          </p:spPr>
        </p:sp>
        <p:grpSp>
          <p:nvGrpSpPr>
            <p:cNvPr id="26" name="Group 26"/>
            <p:cNvGrpSpPr/>
            <p:nvPr/>
          </p:nvGrpSpPr>
          <p:grpSpPr>
            <a:xfrm>
              <a:off x="857250" y="5105400"/>
              <a:ext cx="304800" cy="266700"/>
              <a:chOff x="857250" y="5105400"/>
              <a:chExt cx="304800" cy="266700"/>
            </a:xfrm>
          </p:grpSpPr>
          <p:sp>
            <p:nvSpPr>
              <p:cNvPr id="24" name="Freeform 24"/>
              <p:cNvSpPr/>
              <p:nvPr/>
            </p:nvSpPr>
            <p:spPr>
              <a:xfrm>
                <a:off x="895350" y="5105400"/>
                <a:ext cx="266700" cy="114300"/>
              </a:xfrm>
              <a:custGeom>
                <a:avLst/>
                <a:gdLst/>
                <a:ahLst/>
                <a:cxnLst/>
                <a:rect l="l" t="t" r="r" b="b"/>
                <a:pathLst>
                  <a:path w="266700" h="114300">
                    <a:moveTo>
                      <a:pt x="209550" y="0"/>
                    </a:moveTo>
                    <a:lnTo>
                      <a:pt x="171450" y="0"/>
                    </a:lnTo>
                    <a:lnTo>
                      <a:pt x="171450" y="38100"/>
                    </a:lnTo>
                    <a:lnTo>
                      <a:pt x="209550" y="38100"/>
                    </a:lnTo>
                    <a:cubicBezTo>
                      <a:pt x="220071" y="38100"/>
                      <a:pt x="228600" y="46629"/>
                      <a:pt x="228600" y="57150"/>
                    </a:cubicBezTo>
                    <a:cubicBezTo>
                      <a:pt x="228600" y="67671"/>
                      <a:pt x="220071" y="76200"/>
                      <a:pt x="209550" y="76200"/>
                    </a:cubicBezTo>
                    <a:lnTo>
                      <a:pt x="0" y="76200"/>
                    </a:lnTo>
                    <a:lnTo>
                      <a:pt x="0" y="114300"/>
                    </a:lnTo>
                    <a:lnTo>
                      <a:pt x="209550" y="114300"/>
                    </a:lnTo>
                    <a:cubicBezTo>
                      <a:pt x="241114" y="114300"/>
                      <a:pt x="266700" y="88713"/>
                      <a:pt x="266700" y="57150"/>
                    </a:cubicBezTo>
                    <a:cubicBezTo>
                      <a:pt x="266700" y="25587"/>
                      <a:pt x="241114" y="0"/>
                      <a:pt x="209550" y="0"/>
                    </a:cubicBezTo>
                    <a:close/>
                  </a:path>
                </a:pathLst>
              </a:custGeom>
              <a:solidFill>
                <a:schemeClr val="dk1"/>
              </a:solidFill>
              <a:ln>
                <a:noFill/>
              </a:ln>
            </p:spPr>
          </p:sp>
          <p:sp>
            <p:nvSpPr>
              <p:cNvPr id="25" name="Freeform 25"/>
              <p:cNvSpPr/>
              <p:nvPr/>
            </p:nvSpPr>
            <p:spPr>
              <a:xfrm>
                <a:off x="857250" y="5257800"/>
                <a:ext cx="266700" cy="114300"/>
              </a:xfrm>
              <a:custGeom>
                <a:avLst/>
                <a:gdLst/>
                <a:ahLst/>
                <a:cxnLst/>
                <a:rect l="l" t="t" r="r" b="b"/>
                <a:pathLst>
                  <a:path w="266700" h="114300">
                    <a:moveTo>
                      <a:pt x="0" y="38100"/>
                    </a:moveTo>
                    <a:lnTo>
                      <a:pt x="209550" y="38100"/>
                    </a:lnTo>
                    <a:cubicBezTo>
                      <a:pt x="220071" y="38100"/>
                      <a:pt x="228600" y="46629"/>
                      <a:pt x="228600" y="57150"/>
                    </a:cubicBezTo>
                    <a:cubicBezTo>
                      <a:pt x="228600" y="67671"/>
                      <a:pt x="220071" y="76200"/>
                      <a:pt x="209550" y="76200"/>
                    </a:cubicBezTo>
                    <a:lnTo>
                      <a:pt x="171450" y="76200"/>
                    </a:lnTo>
                    <a:lnTo>
                      <a:pt x="171450" y="114300"/>
                    </a:lnTo>
                    <a:lnTo>
                      <a:pt x="209550" y="114300"/>
                    </a:lnTo>
                    <a:cubicBezTo>
                      <a:pt x="241114" y="114300"/>
                      <a:pt x="266700" y="88714"/>
                      <a:pt x="266700" y="57150"/>
                    </a:cubicBezTo>
                    <a:cubicBezTo>
                      <a:pt x="266700" y="25586"/>
                      <a:pt x="241114" y="0"/>
                      <a:pt x="209550" y="0"/>
                    </a:cubicBezTo>
                    <a:lnTo>
                      <a:pt x="0" y="0"/>
                    </a:lnTo>
                    <a:lnTo>
                      <a:pt x="0" y="38100"/>
                    </a:lnTo>
                    <a:close/>
                  </a:path>
                </a:pathLst>
              </a:custGeom>
              <a:solidFill>
                <a:schemeClr val="dk1"/>
              </a:solidFill>
              <a:ln>
                <a:noFill/>
              </a:ln>
            </p:spPr>
          </p:sp>
        </p:grpSp>
        <p:sp>
          <p:nvSpPr>
            <p:cNvPr id="27" name="TextBox 27"/>
            <p:cNvSpPr txBox="1"/>
            <p:nvPr/>
          </p:nvSpPr>
          <p:spPr>
            <a:xfrm>
              <a:off x="1324356" y="5120640"/>
              <a:ext cx="2537163"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เกิดกลิ่นหอมคล้ายใบเตย</a:t>
              </a:r>
            </a:p>
          </p:txBody>
        </p:sp>
      </p:grpSp>
      <p:grpSp>
        <p:nvGrpSpPr>
          <p:cNvPr id="30" name="grain-figure"/>
          <p:cNvGrpSpPr/>
          <p:nvPr/>
        </p:nvGrpSpPr>
        <p:grpSpPr>
          <a:xfrm>
            <a:off x="6743700" y="2057400"/>
            <a:ext cx="4838700" cy="3619500"/>
            <a:chOff x="6743700" y="2057400"/>
            <a:chExt cx="4838700" cy="3619500"/>
          </a:xfrm>
        </p:grpSpPr>
        <p:pic>
          <p:nvPicPr>
            <p:cNvPr id="29" name="Image 29"/>
            <p:cNvPicPr>
              <a:picLocks noChangeAspect="1"/>
            </p:cNvPicPr>
            <p:nvPr/>
          </p:nvPicPr>
          <p:blipFill>
            <a:blip r:embed="rId2"/>
            <a:srcRect l="91" t="0" r="91" b="0"/>
            <a:stretch>
              <a:fillRect/>
            </a:stretch>
          </p:blipFill>
          <p:spPr>
            <a:xfrm>
              <a:off x="6743700" y="2057400"/>
              <a:ext cx="4838700" cy="3619500"/>
            </a:xfrm>
            <a:prstGeom prst="rect">
              <a:avLst/>
            </a:prstGeom>
          </p:spPr>
        </p:pic>
      </p:grpSp>
      <p:grpSp>
        <p:nvGrpSpPr>
          <p:cNvPr id="33" name="method-note"/>
          <p:cNvGrpSpPr/>
          <p:nvPr/>
        </p:nvGrpSpPr>
        <p:grpSpPr>
          <a:xfrm>
            <a:off x="609600" y="5753100"/>
            <a:ext cx="9639491" cy="613601"/>
            <a:chOff x="609600" y="5753100"/>
            <a:chExt cx="9639491" cy="613601"/>
          </a:xfrm>
        </p:grpSpPr>
        <p:sp>
          <p:nvSpPr>
            <p:cNvPr id="31" name="Rectangle 31"/>
            <p:cNvSpPr/>
            <p:nvPr/>
          </p:nvSpPr>
          <p:spPr>
            <a:xfrm>
              <a:off x="609600" y="5753100"/>
              <a:ext cx="57150" cy="552450"/>
            </a:xfrm>
            <a:prstGeom prst="rect">
              <a:avLst/>
            </a:prstGeom>
            <a:solidFill>
              <a:schemeClr val="accent6"/>
            </a:solidFill>
            <a:ln>
              <a:noFill/>
            </a:ln>
          </p:spPr>
        </p:sp>
        <p:sp>
          <p:nvSpPr>
            <p:cNvPr id="32" name="TextBox 32"/>
            <p:cNvSpPr txBox="1"/>
            <p:nvPr/>
          </p:nvSpPr>
          <p:spPr>
            <a:xfrm>
              <a:off x="831342" y="5835968"/>
              <a:ext cx="9417749"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หมายเหตุวิธีวัด งานวิจัยปี 2001 ใน Journal of Agricultural and Food Chemistry วัด 2AP ในข้าวกล้องขาวดอกมะลิ 105 ที่ยังไม่หุง</a:t>
              </a:r>
              <a:br/>
              <a:r>
                <a:rPr lang="th-TH" sz="1350" dirty="0">
                  <a:solidFill>
                    <a:schemeClr val="accent5"/>
                  </a:solidFill>
                  <a:latin typeface="+mn-lt"/>
                  <a:ea typeface="+mn-ea"/>
                  <a:cs typeface="+mn-cs"/>
                </a:rPr>
                <a:t>ด้วย capillary gas chromatography และตรวจพบได้จากสารสกัดเพียง 0.5 กรัม ซึ่งเป็นความไวของวิธีวัด ไม่ใช่ค่าความเข้มข้น</a:t>
              </a:r>
            </a:p>
          </p:txBody>
        </p:sp>
      </p:grpSp>
      <p:grpSp>
        <p:nvGrpSpPr>
          <p:cNvPr id="36" name="page-footer"/>
          <p:cNvGrpSpPr/>
          <p:nvPr/>
        </p:nvGrpSpPr>
        <p:grpSpPr>
          <a:xfrm>
            <a:off x="603504" y="6423660"/>
            <a:ext cx="10984992" cy="234696"/>
            <a:chOff x="603504" y="6423660"/>
            <a:chExt cx="10984992" cy="234696"/>
          </a:xfrm>
        </p:grpSpPr>
        <p:sp>
          <p:nvSpPr>
            <p:cNvPr id="34" name="TextBox 34"/>
            <p:cNvSpPr txBox="1"/>
            <p:nvPr/>
          </p:nvSpPr>
          <p:spPr>
            <a:xfrm>
              <a:off x="603504" y="6423660"/>
              <a:ext cx="9129084"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BMC Plant Biology (2008) OsBADH2 · Journal of Agricultural and Food Chemistry (2001) DOI 10.1021/jf000885y</a:t>
              </a:r>
            </a:p>
          </p:txBody>
        </p:sp>
        <p:sp>
          <p:nvSpPr>
            <p:cNvPr id="35" name="TextBox 35"/>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450"/>
                            </p:stCondLst>
                            <p:childTnLst>
                              <p:par>
                                <p:cTn xmlns:p="http://schemas.openxmlformats.org/presentationml/2006/main" id="9" presetID="22" presetClass="entr" presetSubtype="4" fill="hold" grpId="0" nodeType="afterEffect">
                                  <p:stCondLst>
                                    <p:cond delay="15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450"/>
                                        <p:tgtEl>
                                          <p:spTgt spid="16"/>
                                        </p:tgtEl>
                                      </p:cBhvr>
                                    </p:animEffect>
                                  </p:childTnLst>
                                </p:cTn>
                              </p:par>
                            </p:childTnLst>
                          </p:cTn>
                        </p:par>
                        <p:par>
                          <p:cTn id="12" fill="hold">
                            <p:stCondLst>
                              <p:cond delay="1050"/>
                            </p:stCondLst>
                            <p:childTnLst>
                              <p:par>
                                <p:cTn xmlns:p="http://schemas.openxmlformats.org/presentationml/2006/main" id="13" presetID="22" presetClass="entr" presetSubtype="4" fill="hold" grpId="0" nodeType="afterEffect">
                                  <p:stCondLst>
                                    <p:cond delay="150"/>
                                  </p:stCondLst>
                                  <p:childTnLst>
                                    <p:set>
                                      <p:cBhvr>
                                        <p:cTn id="14" dur="1" fill="hold">
                                          <p:stCondLst>
                                            <p:cond delay="0"/>
                                          </p:stCondLst>
                                        </p:cTn>
                                        <p:tgtEl>
                                          <p:spTgt spid="21"/>
                                        </p:tgtEl>
                                        <p:attrNameLst>
                                          <p:attrName>style.visibility</p:attrName>
                                        </p:attrNameLst>
                                      </p:cBhvr>
                                      <p:to>
                                        <p:strVal val="visible"/>
                                      </p:to>
                                    </p:set>
                                    <p:animEffect transition="in" filter="wipe(down)">
                                      <p:cBhvr>
                                        <p:cTn id="15" dur="450"/>
                                        <p:tgtEl>
                                          <p:spTgt spid="21"/>
                                        </p:tgtEl>
                                      </p:cBhvr>
                                    </p:animEffect>
                                  </p:childTnLst>
                                </p:cTn>
                              </p:par>
                            </p:childTnLst>
                          </p:cTn>
                        </p:par>
                        <p:par>
                          <p:cTn id="16" fill="hold">
                            <p:stCondLst>
                              <p:cond delay="1650"/>
                            </p:stCondLst>
                            <p:childTnLst>
                              <p:par>
                                <p:cTn xmlns:p="http://schemas.openxmlformats.org/presentationml/2006/main" id="17" presetID="22" presetClass="entr" presetSubtype="4" fill="hold" grpId="0" nodeType="afterEffect">
                                  <p:stCondLst>
                                    <p:cond delay="15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childTnLst>
                          </p:cTn>
                        </p:par>
                        <p:par>
                          <p:cTn id="20" fill="hold">
                            <p:stCondLst>
                              <p:cond delay="2300"/>
                            </p:stCondLst>
                            <p:childTnLst>
                              <p:par>
                                <p:cTn xmlns:p="http://schemas.openxmlformats.org/presentationml/2006/main" id="21" presetID="6" presetClass="emph" presetSubtype="0" fill="hold" grpId="0" nodeType="afterEffect">
                                  <p:stCondLst>
                                    <p:cond delay="200"/>
                                  </p:stCondLst>
                                  <p:childTnLst>
                                    <p:animScale>
                                      <p:cBhvr>
                                        <p:cTn id="22" dur="600" fill="hold"/>
                                        <p:tgtEl>
                                          <p:spTgt spid="28"/>
                                        </p:tgtEl>
                                      </p:cBhvr>
                                      <p:by x="150000" y="150000"/>
                                    </p:animScale>
                                  </p:childTnLst>
                                </p:cTn>
                              </p:par>
                            </p:childTnLst>
                          </p:cTn>
                        </p:par>
                        <p:par>
                          <p:cTn id="23" fill="hold">
                            <p:stCondLst>
                              <p:cond delay="3100"/>
                            </p:stCondLst>
                            <p:childTnLst>
                              <p:par>
                                <p:cTn xmlns:p="http://schemas.openxmlformats.org/presentationml/2006/main" id="24" presetID="10" presetClass="entr" presetSubtype="0" fill="hold" grpId="0" nodeType="afterEffect">
                                  <p:stCondLst>
                                    <p:cond delay="30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284520"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2 · แผ่นดินที่ให้กลิ่นหอม</a:t>
              </a:r>
            </a:p>
          </p:txBody>
        </p:sp>
        <p:sp>
          <p:nvSpPr>
            <p:cNvPr id="3" name="TextBox 3"/>
            <p:cNvSpPr txBox="1"/>
            <p:nvPr/>
          </p:nvSpPr>
          <p:spPr>
            <a:xfrm>
              <a:off x="594360" y="895350"/>
              <a:ext cx="7493813"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พื้นที่ปลูกกระจุกอยู่ที่ภาคตะวันออกเฉียงเหนือ</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943118"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ข้าวหอมมะลิเป็นข้าวของภาคเดียว และดินที่ปลูกยากคือส่วนหนึ่งของเหตุผล</a:t>
              </a:r>
            </a:p>
          </p:txBody>
        </p:sp>
      </p:grpSp>
      <p:grpSp>
        <p:nvGrpSpPr>
          <p:cNvPr id="10" name="scope-country"/>
          <p:cNvGrpSpPr/>
          <p:nvPr/>
        </p:nvGrpSpPr>
        <p:grpSpPr>
          <a:xfrm>
            <a:off x="609600" y="1981200"/>
            <a:ext cx="5715000" cy="952500"/>
            <a:chOff x="609600" y="1981200"/>
            <a:chExt cx="5715000" cy="952500"/>
          </a:xfrm>
        </p:grpSpPr>
        <p:sp>
          <p:nvSpPr>
            <p:cNvPr id="7" name="Rectangle 7"/>
            <p:cNvSpPr/>
            <p:nvPr/>
          </p:nvSpPr>
          <p:spPr>
            <a:xfrm>
              <a:off x="609600" y="1981200"/>
              <a:ext cx="5715000" cy="952500"/>
            </a:xfrm>
            <a:prstGeom prst="rect">
              <a:avLst/>
            </a:prstGeom>
            <a:noFill/>
            <a:ln w="19050">
              <a:solidFill>
                <a:schemeClr val="accent6"/>
              </a:solidFill>
            </a:ln>
          </p:spPr>
        </p:sp>
        <p:sp>
          <p:nvSpPr>
            <p:cNvPr id="8" name="TextBox 8"/>
            <p:cNvSpPr txBox="1"/>
            <p:nvPr/>
          </p:nvSpPr>
          <p:spPr>
            <a:xfrm>
              <a:off x="831342" y="2102168"/>
              <a:ext cx="853341" cy="264033"/>
            </a:xfrm>
            <a:prstGeom prst="rect">
              <a:avLst/>
            </a:prstGeom>
            <a:noFill/>
            <a:ln>
              <a:noFill/>
            </a:ln>
          </p:spPr>
          <p:txBody>
            <a:bodyPr wrap="none" lIns="0" tIns="0" rIns="0" bIns="0" anchor="t" anchorCtr="0">
              <a:spAutoFit/>
            </a:bodyPr>
            <a:lstStyle/>
            <a:p>
              <a:pPr algn="l"/>
              <a:r>
                <a:rPr lang="th-TH" sz="1350" b="1" dirty="0">
                  <a:solidFill>
                    <a:schemeClr val="accent5"/>
                  </a:solidFill>
                  <a:latin typeface="+mn-lt"/>
                  <a:ea typeface="+mn-ea"/>
                  <a:cs typeface="+mn-cs"/>
                </a:rPr>
                <a:t>ทั้งประเทศ</a:t>
              </a:r>
            </a:p>
          </p:txBody>
        </p:sp>
        <p:sp>
          <p:nvSpPr>
            <p:cNvPr id="9" name="TextBox 9"/>
            <p:cNvSpPr txBox="1"/>
            <p:nvPr/>
          </p:nvSpPr>
          <p:spPr>
            <a:xfrm>
              <a:off x="831342" y="2368868"/>
              <a:ext cx="3802761"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dk1"/>
                  </a:solidFill>
                  <a:latin typeface="+mn-lt"/>
                  <a:ea typeface="+mn-ea"/>
                  <a:cs typeface="+mn-cs"/>
                </a:rPr>
                <a:t>เนื้อที่ปลูกข้าวนาปี 8.94 ล้านเฮกตาร์</a:t>
              </a:r>
              <a:br/>
              <a:r>
                <a:rPr lang="th-TH" sz="1350" dirty="0">
                  <a:solidFill>
                    <a:schemeClr val="dk1"/>
                  </a:solidFill>
                  <a:latin typeface="+mn-lt"/>
                  <a:ea typeface="+mn-ea"/>
                  <a:cs typeface="+mn-cs"/>
                </a:rPr>
                <a:t>และนาปรัง 2.05 ล้านเฮกตาร์ (ปีการตลาด 2568/69)</a:t>
              </a:r>
            </a:p>
          </p:txBody>
        </p:sp>
      </p:grpSp>
      <p:sp>
        <p:nvSpPr>
          <p:cNvPr id="11" name="Freeform 11"/>
          <p:cNvSpPr/>
          <p:nvPr/>
        </p:nvSpPr>
        <p:spPr>
          <a:xfrm>
            <a:off x="762000" y="3086100"/>
            <a:ext cx="381000" cy="2819400"/>
          </a:xfrm>
          <a:prstGeom prst="leftBrace">
            <a:avLst/>
          </a:prstGeom>
          <a:noFill/>
          <a:ln w="28575">
            <a:solidFill>
              <a:schemeClr val="accent2"/>
            </a:solidFill>
          </a:ln>
        </p:spPr>
      </p:sp>
      <p:grpSp>
        <p:nvGrpSpPr>
          <p:cNvPr id="16" name="scope-northeast"/>
          <p:cNvGrpSpPr/>
          <p:nvPr/>
        </p:nvGrpSpPr>
        <p:grpSpPr>
          <a:xfrm>
            <a:off x="1219200" y="3086100"/>
            <a:ext cx="5105400" cy="1257300"/>
            <a:chOff x="1219200" y="3086100"/>
            <a:chExt cx="5105400" cy="1257300"/>
          </a:xfrm>
        </p:grpSpPr>
        <p:sp>
          <p:nvSpPr>
            <p:cNvPr id="12" name="Rectangle 12"/>
            <p:cNvSpPr/>
            <p:nvPr/>
          </p:nvSpPr>
          <p:spPr>
            <a:xfrm>
              <a:off x="1219200" y="3086100"/>
              <a:ext cx="5105400" cy="1257300"/>
            </a:xfrm>
            <a:prstGeom prst="rect">
              <a:avLst/>
            </a:prstGeom>
            <a:solidFill>
              <a:schemeClr val="lt2"/>
            </a:solidFill>
            <a:ln>
              <a:noFill/>
            </a:ln>
          </p:spPr>
        </p:sp>
        <p:sp>
          <p:nvSpPr>
            <p:cNvPr id="13" name="TextBox 13"/>
            <p:cNvSpPr txBox="1"/>
            <p:nvPr/>
          </p:nvSpPr>
          <p:spPr>
            <a:xfrm>
              <a:off x="1397508" y="3227070"/>
              <a:ext cx="3382884" cy="469392"/>
            </a:xfrm>
            <a:prstGeom prst="rect">
              <a:avLst/>
            </a:prstGeom>
            <a:noFill/>
            <a:ln>
              <a:noFill/>
            </a:ln>
          </p:spPr>
          <p:txBody>
            <a:bodyPr wrap="none" lIns="0" tIns="0" rIns="0" bIns="0" anchor="t" anchorCtr="0">
              <a:spAutoFit/>
            </a:bodyPr>
            <a:lstStyle/>
            <a:p>
              <a:pPr algn="l"/>
              <a:r>
                <a:rPr lang="th-TH" sz="2400" b="1" dirty="0">
                  <a:solidFill>
                    <a:schemeClr val="accent1"/>
                  </a:solidFill>
                  <a:latin typeface="+mn-lt"/>
                  <a:ea typeface="+mn-ea"/>
                  <a:cs typeface="+mn-cs"/>
                </a:rPr>
                <a:t>ภาคตะวันออกเฉียงเหนือ</a:t>
              </a:r>
            </a:p>
          </p:txBody>
        </p:sp>
        <p:sp>
          <p:nvSpPr>
            <p:cNvPr id="14" name="TextBox 14"/>
            <p:cNvSpPr txBox="1"/>
            <p:nvPr/>
          </p:nvSpPr>
          <p:spPr>
            <a:xfrm>
              <a:off x="1398270" y="3624262"/>
              <a:ext cx="1692569"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22.1 ล้านไร่</a:t>
              </a:r>
            </a:p>
          </p:txBody>
        </p:sp>
        <p:sp>
          <p:nvSpPr>
            <p:cNvPr id="15" name="TextBox 15"/>
            <p:cNvSpPr txBox="1"/>
            <p:nvPr/>
          </p:nvSpPr>
          <p:spPr>
            <a:xfrm>
              <a:off x="1402842" y="4045268"/>
              <a:ext cx="452988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ร้อยละ 85 ของพื้นที่ปลูกข้าวหอมมะลิทั้งประเทศ (ข้อมูล 2561)</a:t>
              </a:r>
            </a:p>
          </p:txBody>
        </p:sp>
      </p:grpSp>
      <p:grpSp>
        <p:nvGrpSpPr>
          <p:cNvPr id="22" name="!!tkr-gi-carrier"/>
          <p:cNvGrpSpPr/>
          <p:nvPr/>
        </p:nvGrpSpPr>
        <p:grpSpPr>
          <a:xfrm>
            <a:off x="1219200" y="4495800"/>
            <a:ext cx="5105400" cy="1409700"/>
            <a:chOff x="1219200" y="4495800"/>
            <a:chExt cx="5105400" cy="1409700"/>
          </a:xfrm>
        </p:grpSpPr>
        <p:sp>
          <p:nvSpPr>
            <p:cNvPr id="17" name="Rectangle 17"/>
            <p:cNvSpPr/>
            <p:nvPr/>
          </p:nvSpPr>
          <p:spPr>
            <a:xfrm>
              <a:off x="1219200" y="4495800"/>
              <a:ext cx="5105400" cy="1409700"/>
            </a:xfrm>
            <a:prstGeom prst="rect">
              <a:avLst/>
            </a:prstGeom>
            <a:solidFill>
              <a:schemeClr val="accent1"/>
            </a:solidFill>
            <a:ln>
              <a:noFill/>
            </a:ln>
          </p:spPr>
        </p:sp>
        <p:sp>
          <p:nvSpPr>
            <p:cNvPr id="18" name="Freeform 18"/>
            <p:cNvSpPr/>
            <p:nvPr/>
          </p:nvSpPr>
          <p:spPr>
            <a:xfrm>
              <a:off x="1423988" y="4610100"/>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chemeClr val="accent2"/>
            </a:solidFill>
            <a:ln>
              <a:noFill/>
            </a:ln>
          </p:spPr>
        </p:sp>
        <p:sp>
          <p:nvSpPr>
            <p:cNvPr id="19" name="TextBox 19"/>
            <p:cNvSpPr txBox="1"/>
            <p:nvPr/>
          </p:nvSpPr>
          <p:spPr>
            <a:xfrm>
              <a:off x="1743456" y="4587240"/>
              <a:ext cx="3445916" cy="352044"/>
            </a:xfrm>
            <a:prstGeom prst="rect">
              <a:avLst/>
            </a:prstGeom>
            <a:noFill/>
            <a:ln>
              <a:noFill/>
            </a:ln>
          </p:spPr>
          <p:txBody>
            <a:bodyPr wrap="none" lIns="0" tIns="0" rIns="0" bIns="0" anchor="t" anchorCtr="0">
              <a:spAutoFit/>
            </a:bodyPr>
            <a:lstStyle/>
            <a:p>
              <a:pPr algn="l"/>
              <a:r>
                <a:rPr lang="th-TH" sz="1800" b="1" dirty="0">
                  <a:solidFill>
                    <a:srgbClr val="FBF7EF"/>
                  </a:solidFill>
                  <a:latin typeface="+mn-lt"/>
                  <a:ea typeface="+mn-ea"/>
                  <a:cs typeface="+mn-cs"/>
                </a:rPr>
                <a:t>ทุ่งกุลาร้องไห้ · เขตคุ้มครอง GI</a:t>
              </a:r>
            </a:p>
          </p:txBody>
        </p:sp>
        <p:sp>
          <p:nvSpPr>
            <p:cNvPr id="20" name="TextBox 20"/>
            <p:cNvSpPr txBox="1"/>
            <p:nvPr/>
          </p:nvSpPr>
          <p:spPr>
            <a:xfrm>
              <a:off x="1398270" y="4919662"/>
              <a:ext cx="4777554"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2,107,690 ไร่ ≈ 337,230 เฮกตาร์</a:t>
              </a:r>
            </a:p>
          </p:txBody>
        </p:sp>
        <p:sp>
          <p:nvSpPr>
            <p:cNvPr id="21" name="TextBox 21"/>
            <p:cNvSpPr txBox="1"/>
            <p:nvPr/>
          </p:nvSpPr>
          <p:spPr>
            <a:xfrm>
              <a:off x="1402842" y="5340668"/>
              <a:ext cx="4239958" cy="530733"/>
            </a:xfrm>
            <a:prstGeom prst="rect">
              <a:avLst/>
            </a:prstGeom>
            <a:noFill/>
            <a:ln>
              <a:noFill/>
            </a:ln>
          </p:spPr>
          <p:txBody>
            <a:bodyPr wrap="none" lIns="0" tIns="0" rIns="0" bIns="0" anchor="t" anchorCtr="0">
              <a:spAutoFit/>
            </a:bodyPr>
            <a:lstStyle/>
            <a:p>
              <a:pPr algn="l">
                <a:lnSpc>
                  <a:spcPts val="2100"/>
                </a:lnSpc>
              </a:pPr>
              <a:r>
                <a:rPr lang="th-TH" sz="1350" dirty="0">
                  <a:solidFill>
                    <a:srgbClr val="F1E8D6"/>
                  </a:solidFill>
                  <a:latin typeface="+mn-lt"/>
                  <a:ea typeface="+mn-ea"/>
                  <a:cs typeface="+mn-cs"/>
                </a:rPr>
                <a:t>ร้อยเอ็ด 986,807 · สุรินทร์ 575,993 · ศรีสะเกษ 287,000</a:t>
              </a:r>
              <a:br/>
              <a:r>
                <a:rPr lang="th-TH" sz="1350" dirty="0">
                  <a:solidFill>
                    <a:srgbClr val="F1E8D6"/>
                  </a:solidFill>
                  <a:latin typeface="+mn-lt"/>
                  <a:ea typeface="+mn-ea"/>
                  <a:cs typeface="+mn-cs"/>
                </a:rPr>
                <a:t>มหาสารคาม 193,890 · ยโสธร 64,000 ไร่</a:t>
              </a:r>
            </a:p>
          </p:txBody>
        </p:sp>
      </p:grpSp>
      <p:grpSp>
        <p:nvGrpSpPr>
          <p:cNvPr id="25" name="basin-figure"/>
          <p:cNvGrpSpPr/>
          <p:nvPr/>
        </p:nvGrpSpPr>
        <p:grpSpPr>
          <a:xfrm>
            <a:off x="7003542" y="1981200"/>
            <a:ext cx="5188458" cy="4042601"/>
            <a:chOff x="7003542" y="1981200"/>
            <a:chExt cx="5188458" cy="4042601"/>
          </a:xfrm>
        </p:grpSpPr>
        <p:pic>
          <p:nvPicPr>
            <p:cNvPr id="23" name="Image 23"/>
            <p:cNvPicPr>
              <a:picLocks noChangeAspect="1"/>
            </p:cNvPicPr>
            <p:nvPr/>
          </p:nvPicPr>
          <p:blipFill>
            <a:blip r:embed="rId2"/>
            <a:srcRect l="0" t="15074" r="0" b="15073"/>
            <a:stretch>
              <a:fillRect/>
            </a:stretch>
          </p:blipFill>
          <p:spPr>
            <a:xfrm>
              <a:off x="7010400" y="1981200"/>
              <a:ext cx="5181600" cy="3619500"/>
            </a:xfrm>
            <a:prstGeom prst="rect">
              <a:avLst/>
            </a:prstGeom>
          </p:spPr>
        </p:pic>
        <p:sp>
          <p:nvSpPr>
            <p:cNvPr id="24" name="TextBox 24"/>
            <p:cNvSpPr txBox="1"/>
            <p:nvPr/>
          </p:nvSpPr>
          <p:spPr>
            <a:xfrm>
              <a:off x="7003542" y="5759768"/>
              <a:ext cx="4966049"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ที่ราบแอ่งกระทะดินร่วนปนทราย แล้งในหน้าแล้งและน้ำท่วมในหน้าฝน</a:t>
              </a:r>
            </a:p>
          </p:txBody>
        </p:sp>
      </p:grpSp>
      <p:grpSp>
        <p:nvGrpSpPr>
          <p:cNvPr id="28" name="page-footer"/>
          <p:cNvGrpSpPr/>
          <p:nvPr/>
        </p:nvGrpSpPr>
        <p:grpSpPr>
          <a:xfrm>
            <a:off x="603504" y="6423660"/>
            <a:ext cx="10984992" cy="234696"/>
            <a:chOff x="603504" y="6423660"/>
            <a:chExt cx="10984992" cy="234696"/>
          </a:xfrm>
        </p:grpSpPr>
        <p:sp>
          <p:nvSpPr>
            <p:cNvPr id="26" name="TextBox 26"/>
            <p:cNvSpPr txBox="1"/>
            <p:nvPr/>
          </p:nvSpPr>
          <p:spPr>
            <a:xfrm>
              <a:off x="603504" y="6423660"/>
              <a:ext cx="9225358"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สำนักงานสถิติจังหวัดร้อยเอ็ด (2561) · สำนักงานประชาสัมพันธ์จังหวัดร้อยเอ็ด · EU No 120/2013 · USDA FAS TH2025-0011</a:t>
              </a:r>
            </a:p>
          </p:txBody>
        </p:sp>
        <p:sp>
          <p:nvSpPr>
            <p:cNvPr id="27" name="TextBox 2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par>
                          <p:cTn id="8" fill="hold">
                            <p:stCondLst>
                              <p:cond delay="450"/>
                            </p:stCondLst>
                            <p:childTnLst>
                              <p:par>
                                <p:cTn id="9" presetID="23" presetClass="entr" presetSubtype="16" fill="hold" grpId="0" nodeType="afterEffect">
                                  <p:stCondLst>
                                    <p:cond delay="15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fltVal val="0"/>
                                          </p:val>
                                        </p:tav>
                                        <p:tav tm="100000">
                                          <p:val>
                                            <p:strVal val="#ppt_w"/>
                                          </p:val>
                                        </p:tav>
                                      </p:tavLst>
                                    </p:anim>
                                    <p:anim calcmode="lin" valueType="num">
                                      <p:cBhvr>
                                        <p:cTn id="12" dur="500" fill="hold"/>
                                        <p:tgtEl>
                                          <p:spTgt spid="16"/>
                                        </p:tgtEl>
                                        <p:attrNameLst>
                                          <p:attrName>ppt_h</p:attrName>
                                        </p:attrNameLst>
                                      </p:cBhvr>
                                      <p:tavLst>
                                        <p:tav tm="0">
                                          <p:val>
                                            <p:fltVal val="0"/>
                                          </p:val>
                                        </p:tav>
                                        <p:tav tm="100000">
                                          <p:val>
                                            <p:strVal val="#ppt_h"/>
                                          </p:val>
                                        </p:tav>
                                      </p:tavLst>
                                    </p:anim>
                                  </p:childTnLst>
                                </p:cTn>
                              </p:par>
                            </p:childTnLst>
                          </p:cTn>
                        </p:par>
                        <p:par>
                          <p:cTn id="13" fill="hold">
                            <p:stCondLst>
                              <p:cond delay="1100"/>
                            </p:stCondLst>
                            <p:childTnLst>
                              <p:par>
                                <p:cTn id="14" presetID="23" presetClass="entr" presetSubtype="16" fill="hold" grpId="0" nodeType="afterEffect">
                                  <p:stCondLst>
                                    <p:cond delay="150"/>
                                  </p:stCondLst>
                                  <p:childTnLst>
                                    <p:set>
                                      <p:cBhvr>
                                        <p:cTn id="15" dur="1" fill="hold">
                                          <p:stCondLst>
                                            <p:cond delay="0"/>
                                          </p:stCondLst>
                                        </p:cTn>
                                        <p:tgtEl>
                                          <p:spTgt spid="22"/>
                                        </p:tgtEl>
                                        <p:attrNameLst>
                                          <p:attrName>style.visibility</p:attrName>
                                        </p:attrNameLst>
                                      </p:cBhvr>
                                      <p:to>
                                        <p:strVal val="visible"/>
                                      </p:to>
                                    </p:set>
                                    <p:anim calcmode="lin" valueType="num">
                                      <p:cBhvr>
                                        <p:cTn id="16" dur="550" fill="hold"/>
                                        <p:tgtEl>
                                          <p:spTgt spid="22"/>
                                        </p:tgtEl>
                                        <p:attrNameLst>
                                          <p:attrName>ppt_w</p:attrName>
                                        </p:attrNameLst>
                                      </p:cBhvr>
                                      <p:tavLst>
                                        <p:tav tm="0">
                                          <p:val>
                                            <p:fltVal val="0"/>
                                          </p:val>
                                        </p:tav>
                                        <p:tav tm="100000">
                                          <p:val>
                                            <p:strVal val="#ppt_w"/>
                                          </p:val>
                                        </p:tav>
                                      </p:tavLst>
                                    </p:anim>
                                    <p:anim calcmode="lin" valueType="num">
                                      <p:cBhvr>
                                        <p:cTn id="17" dur="550" fill="hold"/>
                                        <p:tgtEl>
                                          <p:spTgt spid="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284520"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2 · แผ่นดินที่ให้กลิ่นหอม</a:t>
              </a:r>
            </a:p>
          </p:txBody>
        </p:sp>
        <p:sp>
          <p:nvSpPr>
            <p:cNvPr id="3" name="TextBox 3"/>
            <p:cNvSpPr txBox="1"/>
            <p:nvPr/>
          </p:nvSpPr>
          <p:spPr>
            <a:xfrm>
              <a:off x="594360" y="895350"/>
              <a:ext cx="5288737"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การรับรองสองชั้น พันธุ์และพื้นที่</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503920"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ตรา GI ไม่รับรองพันธุ์ แต่รับรองว่าพันธุ์ที่กำหนดปลูกในพื้นที่ที่กำหนด</a:t>
              </a:r>
            </a:p>
          </p:txBody>
        </p:sp>
      </p:grpSp>
      <p:grpSp>
        <p:nvGrpSpPr>
          <p:cNvPr id="11" name="!!tkr-gi-carrier"/>
          <p:cNvGrpSpPr/>
          <p:nvPr/>
        </p:nvGrpSpPr>
        <p:grpSpPr>
          <a:xfrm>
            <a:off x="609600" y="1905000"/>
            <a:ext cx="3429000" cy="937451"/>
            <a:chOff x="609600" y="1905000"/>
            <a:chExt cx="3429000" cy="937451"/>
          </a:xfrm>
        </p:grpSpPr>
        <p:sp>
          <p:nvSpPr>
            <p:cNvPr id="7" name="Rectangle 7"/>
            <p:cNvSpPr/>
            <p:nvPr/>
          </p:nvSpPr>
          <p:spPr>
            <a:xfrm>
              <a:off x="609600" y="1905000"/>
              <a:ext cx="3429000" cy="914400"/>
            </a:xfrm>
            <a:prstGeom prst="rect">
              <a:avLst/>
            </a:prstGeom>
            <a:solidFill>
              <a:schemeClr val="accent1"/>
            </a:solidFill>
            <a:ln>
              <a:noFill/>
            </a:ln>
          </p:spPr>
        </p:sp>
        <p:sp>
          <p:nvSpPr>
            <p:cNvPr id="8" name="Freeform 8"/>
            <p:cNvSpPr/>
            <p:nvPr/>
          </p:nvSpPr>
          <p:spPr>
            <a:xfrm>
              <a:off x="852488" y="2057400"/>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chemeClr val="accent2"/>
            </a:solidFill>
            <a:ln>
              <a:noFill/>
            </a:ln>
          </p:spPr>
        </p:sp>
        <p:sp>
          <p:nvSpPr>
            <p:cNvPr id="9" name="TextBox 9"/>
            <p:cNvSpPr txBox="1"/>
            <p:nvPr/>
          </p:nvSpPr>
          <p:spPr>
            <a:xfrm>
              <a:off x="1169670" y="2005012"/>
              <a:ext cx="2137824" cy="440055"/>
            </a:xfrm>
            <a:prstGeom prst="rect">
              <a:avLst/>
            </a:prstGeom>
            <a:noFill/>
            <a:ln>
              <a:noFill/>
            </a:ln>
          </p:spPr>
          <p:txBody>
            <a:bodyPr wrap="none" lIns="0" tIns="0" rIns="0" bIns="0" anchor="t" anchorCtr="0">
              <a:spAutoFit/>
            </a:bodyPr>
            <a:lstStyle/>
            <a:p>
              <a:pPr algn="l"/>
              <a:r>
                <a:rPr lang="th-TH" sz="2250" b="1" dirty="0">
                  <a:solidFill>
                    <a:srgbClr val="FBF7EF"/>
                  </a:solidFill>
                  <a:latin typeface="+mn-lt"/>
                  <a:ea typeface="+mn-ea"/>
                  <a:cs typeface="+mn-cs"/>
                </a:rPr>
                <a:t>24 ตุลาคม 2550</a:t>
              </a:r>
            </a:p>
          </p:txBody>
        </p:sp>
        <p:sp>
          <p:nvSpPr>
            <p:cNvPr id="10" name="TextBox 10"/>
            <p:cNvSpPr txBox="1"/>
            <p:nvPr/>
          </p:nvSpPr>
          <p:spPr>
            <a:xfrm>
              <a:off x="831342" y="2349818"/>
              <a:ext cx="1805368" cy="492633"/>
            </a:xfrm>
            <a:prstGeom prst="rect">
              <a:avLst/>
            </a:prstGeom>
            <a:noFill/>
            <a:ln>
              <a:noFill/>
            </a:ln>
          </p:spPr>
          <p:txBody>
            <a:bodyPr wrap="none" lIns="0" tIns="0" rIns="0" bIns="0" anchor="t" anchorCtr="0">
              <a:spAutoFit/>
            </a:bodyPr>
            <a:lstStyle/>
            <a:p>
              <a:pPr algn="l">
                <a:lnSpc>
                  <a:spcPts val="1800"/>
                </a:lnSpc>
              </a:pPr>
              <a:r>
                <a:rPr lang="th-TH" sz="1350" dirty="0">
                  <a:solidFill>
                    <a:srgbClr val="F1E8D6"/>
                  </a:solidFill>
                  <a:latin typeface="+mn-lt"/>
                  <a:ea typeface="+mn-ea"/>
                  <a:cs typeface="+mn-cs"/>
                </a:rPr>
                <a:t>ขึ้นทะเบียน GI ในประเทศ</a:t>
              </a:r>
              <a:br/>
              <a:r>
                <a:rPr lang="th-TH" sz="1350" dirty="0">
                  <a:solidFill>
                    <a:srgbClr val="F1E8D6"/>
                  </a:solidFill>
                  <a:latin typeface="+mn-lt"/>
                  <a:ea typeface="+mn-ea"/>
                  <a:cs typeface="+mn-cs"/>
                </a:rPr>
                <a:t>โดยกรมทรัพย์สินทางปัญญา</a:t>
              </a:r>
            </a:p>
          </p:txBody>
        </p:sp>
      </p:grpSp>
      <p:grpSp>
        <p:nvGrpSpPr>
          <p:cNvPr id="20" name="eu-pgi-block"/>
          <p:cNvGrpSpPr/>
          <p:nvPr/>
        </p:nvGrpSpPr>
        <p:grpSpPr>
          <a:xfrm>
            <a:off x="4381500" y="1905000"/>
            <a:ext cx="3429000" cy="937451"/>
            <a:chOff x="4381500" y="1905000"/>
            <a:chExt cx="3429000" cy="937451"/>
          </a:xfrm>
        </p:grpSpPr>
        <p:sp>
          <p:nvSpPr>
            <p:cNvPr id="12" name="Rectangle 12"/>
            <p:cNvSpPr/>
            <p:nvPr/>
          </p:nvSpPr>
          <p:spPr>
            <a:xfrm>
              <a:off x="4381500" y="1905000"/>
              <a:ext cx="3429000" cy="914400"/>
            </a:xfrm>
            <a:prstGeom prst="rect">
              <a:avLst/>
            </a:prstGeom>
            <a:noFill/>
            <a:ln w="19050">
              <a:solidFill>
                <a:schemeClr val="accent6"/>
              </a:solidFill>
            </a:ln>
          </p:spPr>
        </p:sp>
        <p:grpSp>
          <p:nvGrpSpPr>
            <p:cNvPr id="17" name="Group 17"/>
            <p:cNvGrpSpPr/>
            <p:nvPr/>
          </p:nvGrpSpPr>
          <p:grpSpPr>
            <a:xfrm>
              <a:off x="4610984" y="2057400"/>
              <a:ext cx="226831" cy="228600"/>
              <a:chOff x="4610984" y="2057400"/>
              <a:chExt cx="226831" cy="228600"/>
            </a:xfrm>
          </p:grpSpPr>
          <p:sp>
            <p:nvSpPr>
              <p:cNvPr id="13" name="Freeform 13"/>
              <p:cNvSpPr/>
              <p:nvPr/>
            </p:nvSpPr>
            <p:spPr>
              <a:xfrm>
                <a:off x="4610984" y="2104663"/>
                <a:ext cx="226831" cy="52749"/>
              </a:xfrm>
              <a:custGeom>
                <a:avLst/>
                <a:gdLst/>
                <a:ahLst/>
                <a:cxnLst/>
                <a:rect l="l" t="t" r="r" b="b"/>
                <a:pathLst>
                  <a:path w="226831" h="52749">
                    <a:moveTo>
                      <a:pt x="20828" y="0"/>
                    </a:moveTo>
                    <a:cubicBezTo>
                      <a:pt x="9808" y="15194"/>
                      <a:pt x="2437" y="33205"/>
                      <a:pt x="0" y="52749"/>
                    </a:cubicBezTo>
                    <a:lnTo>
                      <a:pt x="226831" y="52749"/>
                    </a:lnTo>
                    <a:cubicBezTo>
                      <a:pt x="224394" y="33205"/>
                      <a:pt x="217023" y="15193"/>
                      <a:pt x="206003" y="0"/>
                    </a:cubicBezTo>
                    <a:cubicBezTo>
                      <a:pt x="205409" y="333"/>
                      <a:pt x="204806" y="666"/>
                      <a:pt x="204196" y="999"/>
                    </a:cubicBezTo>
                    <a:cubicBezTo>
                      <a:pt x="182973" y="12574"/>
                      <a:pt x="152056" y="24174"/>
                      <a:pt x="113415" y="24174"/>
                    </a:cubicBezTo>
                    <a:cubicBezTo>
                      <a:pt x="74775" y="24174"/>
                      <a:pt x="43857" y="12574"/>
                      <a:pt x="22635" y="999"/>
                    </a:cubicBezTo>
                    <a:cubicBezTo>
                      <a:pt x="22025" y="666"/>
                      <a:pt x="21422" y="333"/>
                      <a:pt x="20828" y="0"/>
                    </a:cubicBezTo>
                    <a:close/>
                  </a:path>
                </a:pathLst>
              </a:custGeom>
              <a:solidFill>
                <a:schemeClr val="accent1"/>
              </a:solidFill>
              <a:ln>
                <a:noFill/>
              </a:ln>
            </p:spPr>
          </p:sp>
          <p:sp>
            <p:nvSpPr>
              <p:cNvPr id="14" name="Freeform 14"/>
              <p:cNvSpPr/>
              <p:nvPr/>
            </p:nvSpPr>
            <p:spPr>
              <a:xfrm>
                <a:off x="4652159" y="2057400"/>
                <a:ext cx="144481" cy="42862"/>
              </a:xfrm>
              <a:custGeom>
                <a:avLst/>
                <a:gdLst/>
                <a:ahLst/>
                <a:cxnLst/>
                <a:rect l="l" t="t" r="r" b="b"/>
                <a:pathLst>
                  <a:path w="144481" h="42862">
                    <a:moveTo>
                      <a:pt x="144481" y="25719"/>
                    </a:moveTo>
                    <a:cubicBezTo>
                      <a:pt x="126696" y="34654"/>
                      <a:pt x="102209" y="42862"/>
                      <a:pt x="72241" y="42862"/>
                    </a:cubicBezTo>
                    <a:cubicBezTo>
                      <a:pt x="42273" y="42862"/>
                      <a:pt x="17786" y="34654"/>
                      <a:pt x="0" y="25719"/>
                    </a:cubicBezTo>
                    <a:cubicBezTo>
                      <a:pt x="19689" y="9642"/>
                      <a:pt x="44839" y="0"/>
                      <a:pt x="72241" y="0"/>
                    </a:cubicBezTo>
                    <a:cubicBezTo>
                      <a:pt x="99643" y="0"/>
                      <a:pt x="124792" y="9642"/>
                      <a:pt x="144481" y="25719"/>
                    </a:cubicBezTo>
                    <a:close/>
                  </a:path>
                </a:pathLst>
              </a:custGeom>
              <a:solidFill>
                <a:schemeClr val="accent1"/>
              </a:solidFill>
              <a:ln>
                <a:noFill/>
              </a:ln>
            </p:spPr>
          </p:sp>
          <p:sp>
            <p:nvSpPr>
              <p:cNvPr id="15" name="Freeform 15"/>
              <p:cNvSpPr/>
              <p:nvPr/>
            </p:nvSpPr>
            <p:spPr>
              <a:xfrm>
                <a:off x="4610984" y="2185988"/>
                <a:ext cx="226831" cy="52749"/>
              </a:xfrm>
              <a:custGeom>
                <a:avLst/>
                <a:gdLst/>
                <a:ahLst/>
                <a:cxnLst/>
                <a:rect l="l" t="t" r="r" b="b"/>
                <a:pathLst>
                  <a:path w="226831" h="52749">
                    <a:moveTo>
                      <a:pt x="0" y="0"/>
                    </a:moveTo>
                    <a:cubicBezTo>
                      <a:pt x="2437" y="19544"/>
                      <a:pt x="9808" y="37556"/>
                      <a:pt x="20828" y="52749"/>
                    </a:cubicBezTo>
                    <a:cubicBezTo>
                      <a:pt x="21423" y="52417"/>
                      <a:pt x="22025" y="52084"/>
                      <a:pt x="22635" y="51751"/>
                    </a:cubicBezTo>
                    <a:cubicBezTo>
                      <a:pt x="43857" y="40175"/>
                      <a:pt x="74775" y="28575"/>
                      <a:pt x="113416" y="28575"/>
                    </a:cubicBezTo>
                    <a:cubicBezTo>
                      <a:pt x="152056" y="28575"/>
                      <a:pt x="182974" y="40175"/>
                      <a:pt x="204196" y="51751"/>
                    </a:cubicBezTo>
                    <a:cubicBezTo>
                      <a:pt x="204807" y="52084"/>
                      <a:pt x="205409" y="52417"/>
                      <a:pt x="206003" y="52749"/>
                    </a:cubicBezTo>
                    <a:cubicBezTo>
                      <a:pt x="217023" y="37556"/>
                      <a:pt x="224394" y="19544"/>
                      <a:pt x="226831" y="0"/>
                    </a:cubicBezTo>
                    <a:lnTo>
                      <a:pt x="0" y="0"/>
                    </a:lnTo>
                    <a:close/>
                  </a:path>
                </a:pathLst>
              </a:custGeom>
              <a:solidFill>
                <a:schemeClr val="accent1"/>
              </a:solidFill>
              <a:ln>
                <a:noFill/>
              </a:ln>
            </p:spPr>
          </p:sp>
          <p:sp>
            <p:nvSpPr>
              <p:cNvPr id="16" name="Freeform 16"/>
              <p:cNvSpPr/>
              <p:nvPr/>
            </p:nvSpPr>
            <p:spPr>
              <a:xfrm>
                <a:off x="4652159" y="2243138"/>
                <a:ext cx="144481" cy="42862"/>
              </a:xfrm>
              <a:custGeom>
                <a:avLst/>
                <a:gdLst/>
                <a:ahLst/>
                <a:cxnLst/>
                <a:rect l="l" t="t" r="r" b="b"/>
                <a:pathLst>
                  <a:path w="144481" h="42862">
                    <a:moveTo>
                      <a:pt x="72241" y="42862"/>
                    </a:moveTo>
                    <a:cubicBezTo>
                      <a:pt x="44839" y="42862"/>
                      <a:pt x="19689" y="33220"/>
                      <a:pt x="0" y="17144"/>
                    </a:cubicBezTo>
                    <a:cubicBezTo>
                      <a:pt x="17786" y="8208"/>
                      <a:pt x="42273" y="0"/>
                      <a:pt x="72241" y="0"/>
                    </a:cubicBezTo>
                    <a:cubicBezTo>
                      <a:pt x="102209" y="0"/>
                      <a:pt x="126696" y="8208"/>
                      <a:pt x="144481" y="17144"/>
                    </a:cubicBezTo>
                    <a:cubicBezTo>
                      <a:pt x="124792" y="33220"/>
                      <a:pt x="99643" y="42862"/>
                      <a:pt x="72241" y="42862"/>
                    </a:cubicBezTo>
                    <a:close/>
                  </a:path>
                </a:pathLst>
              </a:custGeom>
              <a:solidFill>
                <a:schemeClr val="accent1"/>
              </a:solidFill>
              <a:ln>
                <a:noFill/>
              </a:ln>
            </p:spPr>
          </p:sp>
        </p:grpSp>
        <p:sp>
          <p:nvSpPr>
            <p:cNvPr id="18" name="TextBox 18"/>
            <p:cNvSpPr txBox="1"/>
            <p:nvPr/>
          </p:nvSpPr>
          <p:spPr>
            <a:xfrm>
              <a:off x="4941570" y="2005012"/>
              <a:ext cx="2487668"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11 กุมภาพันธ์ 2013</a:t>
              </a:r>
            </a:p>
          </p:txBody>
        </p:sp>
        <p:sp>
          <p:nvSpPr>
            <p:cNvPr id="19" name="TextBox 19"/>
            <p:cNvSpPr txBox="1"/>
            <p:nvPr/>
          </p:nvSpPr>
          <p:spPr>
            <a:xfrm>
              <a:off x="4603242" y="2349818"/>
              <a:ext cx="2499741" cy="492633"/>
            </a:xfrm>
            <a:prstGeom prst="rect">
              <a:avLst/>
            </a:prstGeom>
            <a:noFill/>
            <a:ln>
              <a:noFill/>
            </a:ln>
          </p:spPr>
          <p:txBody>
            <a:bodyPr wrap="none" lIns="0" tIns="0" rIns="0" bIns="0" anchor="t" anchorCtr="0">
              <a:spAutoFit/>
            </a:bodyPr>
            <a:lstStyle/>
            <a:p>
              <a:pPr algn="l">
                <a:lnSpc>
                  <a:spcPts val="1800"/>
                </a:lnSpc>
              </a:pPr>
              <a:r>
                <a:rPr lang="th-TH" sz="1350" dirty="0">
                  <a:solidFill>
                    <a:schemeClr val="dk1"/>
                  </a:solidFill>
                  <a:latin typeface="+mn-lt"/>
                  <a:ea typeface="+mn-ea"/>
                  <a:cs typeface="+mn-cs"/>
                </a:rPr>
                <a:t>EU No 120/2013 · PGI Class 1.6</a:t>
              </a:r>
              <a:br/>
              <a:r>
                <a:rPr lang="th-TH" sz="1350" dirty="0">
                  <a:solidFill>
                    <a:schemeClr val="dk1"/>
                  </a:solidFill>
                  <a:latin typeface="+mn-lt"/>
                  <a:ea typeface="+mn-ea"/>
                  <a:cs typeface="+mn-cs"/>
                </a:rPr>
                <a:t>GI ไทยรายการแรกในสหภาพยุโรป</a:t>
              </a:r>
            </a:p>
          </p:txBody>
        </p:sp>
      </p:grpSp>
      <p:grpSp>
        <p:nvGrpSpPr>
          <p:cNvPr id="25" name="tas-block"/>
          <p:cNvGrpSpPr/>
          <p:nvPr/>
        </p:nvGrpSpPr>
        <p:grpSpPr>
          <a:xfrm>
            <a:off x="8153400" y="1905000"/>
            <a:ext cx="3429000" cy="937451"/>
            <a:chOff x="8153400" y="1905000"/>
            <a:chExt cx="3429000" cy="937451"/>
          </a:xfrm>
        </p:grpSpPr>
        <p:sp>
          <p:nvSpPr>
            <p:cNvPr id="21" name="Rectangle 21"/>
            <p:cNvSpPr/>
            <p:nvPr/>
          </p:nvSpPr>
          <p:spPr>
            <a:xfrm>
              <a:off x="8153400" y="1905000"/>
              <a:ext cx="3429000" cy="914400"/>
            </a:xfrm>
            <a:prstGeom prst="rect">
              <a:avLst/>
            </a:prstGeom>
            <a:noFill/>
            <a:ln w="19050">
              <a:solidFill>
                <a:schemeClr val="accent6"/>
              </a:solidFill>
            </a:ln>
          </p:spPr>
        </p:sp>
        <p:sp>
          <p:nvSpPr>
            <p:cNvPr id="22" name="Freeform 22"/>
            <p:cNvSpPr/>
            <p:nvPr/>
          </p:nvSpPr>
          <p:spPr>
            <a:xfrm>
              <a:off x="8382000" y="2057400"/>
              <a:ext cx="228600" cy="228600"/>
            </a:xfrm>
            <a:custGeom>
              <a:avLst/>
              <a:gdLst/>
              <a:ahLst/>
              <a:cxnLst/>
              <a:rect l="l" t="t" r="r" b="b"/>
              <a:pathLst>
                <a:path w="228600" h="228600">
                  <a:moveTo>
                    <a:pt x="209402" y="74908"/>
                  </a:moveTo>
                  <a:cubicBezTo>
                    <a:pt x="221089" y="84062"/>
                    <a:pt x="228600" y="98304"/>
                    <a:pt x="228600" y="114300"/>
                  </a:cubicBezTo>
                  <a:cubicBezTo>
                    <a:pt x="228600" y="130297"/>
                    <a:pt x="221089" y="144539"/>
                    <a:pt x="209400" y="153693"/>
                  </a:cubicBezTo>
                  <a:cubicBezTo>
                    <a:pt x="211192" y="168430"/>
                    <a:pt x="206433" y="183812"/>
                    <a:pt x="195122" y="195123"/>
                  </a:cubicBezTo>
                  <a:cubicBezTo>
                    <a:pt x="183810" y="206434"/>
                    <a:pt x="168428" y="211194"/>
                    <a:pt x="153692" y="209402"/>
                  </a:cubicBezTo>
                  <a:cubicBezTo>
                    <a:pt x="144538" y="221089"/>
                    <a:pt x="130296" y="228600"/>
                    <a:pt x="114300" y="228600"/>
                  </a:cubicBezTo>
                  <a:cubicBezTo>
                    <a:pt x="98303" y="228600"/>
                    <a:pt x="84061" y="221089"/>
                    <a:pt x="74908" y="209400"/>
                  </a:cubicBezTo>
                  <a:cubicBezTo>
                    <a:pt x="60171" y="211194"/>
                    <a:pt x="44789" y="206433"/>
                    <a:pt x="33477" y="195122"/>
                  </a:cubicBezTo>
                  <a:cubicBezTo>
                    <a:pt x="22166" y="183812"/>
                    <a:pt x="17406" y="168430"/>
                    <a:pt x="19198" y="153692"/>
                  </a:cubicBezTo>
                  <a:cubicBezTo>
                    <a:pt x="7511" y="144538"/>
                    <a:pt x="0" y="130296"/>
                    <a:pt x="0" y="114300"/>
                  </a:cubicBezTo>
                  <a:cubicBezTo>
                    <a:pt x="0" y="98303"/>
                    <a:pt x="7511" y="84061"/>
                    <a:pt x="19199" y="74908"/>
                  </a:cubicBezTo>
                  <a:cubicBezTo>
                    <a:pt x="17407" y="60171"/>
                    <a:pt x="22167" y="44789"/>
                    <a:pt x="33478" y="33477"/>
                  </a:cubicBezTo>
                  <a:cubicBezTo>
                    <a:pt x="44789" y="22166"/>
                    <a:pt x="60171" y="17406"/>
                    <a:pt x="74908" y="19198"/>
                  </a:cubicBezTo>
                  <a:cubicBezTo>
                    <a:pt x="84062" y="7511"/>
                    <a:pt x="98304" y="0"/>
                    <a:pt x="114300" y="0"/>
                  </a:cubicBezTo>
                  <a:cubicBezTo>
                    <a:pt x="130297" y="0"/>
                    <a:pt x="144539" y="7511"/>
                    <a:pt x="153693" y="19200"/>
                  </a:cubicBezTo>
                  <a:cubicBezTo>
                    <a:pt x="168430" y="17408"/>
                    <a:pt x="183812" y="22167"/>
                    <a:pt x="195123" y="33478"/>
                  </a:cubicBezTo>
                  <a:cubicBezTo>
                    <a:pt x="206434" y="44790"/>
                    <a:pt x="211194" y="60171"/>
                    <a:pt x="209402" y="74908"/>
                  </a:cubicBezTo>
                  <a:close/>
                  <a:moveTo>
                    <a:pt x="174409" y="88684"/>
                  </a:moveTo>
                  <a:lnTo>
                    <a:pt x="154204" y="68478"/>
                  </a:lnTo>
                  <a:lnTo>
                    <a:pt x="100012" y="122669"/>
                  </a:lnTo>
                  <a:lnTo>
                    <a:pt x="74397" y="97053"/>
                  </a:lnTo>
                  <a:lnTo>
                    <a:pt x="54191" y="117259"/>
                  </a:lnTo>
                  <a:lnTo>
                    <a:pt x="100012" y="163080"/>
                  </a:lnTo>
                  <a:lnTo>
                    <a:pt x="174409" y="88684"/>
                  </a:lnTo>
                  <a:close/>
                </a:path>
              </a:pathLst>
            </a:custGeom>
            <a:solidFill>
              <a:schemeClr val="accent1"/>
            </a:solidFill>
            <a:ln>
              <a:noFill/>
            </a:ln>
          </p:spPr>
        </p:sp>
        <p:sp>
          <p:nvSpPr>
            <p:cNvPr id="23" name="TextBox 23"/>
            <p:cNvSpPr txBox="1"/>
            <p:nvPr/>
          </p:nvSpPr>
          <p:spPr>
            <a:xfrm>
              <a:off x="8713470" y="2005012"/>
              <a:ext cx="2742100"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ไม่น้อยกว่าร้อยละ 92</a:t>
              </a:r>
            </a:p>
          </p:txBody>
        </p:sp>
        <p:sp>
          <p:nvSpPr>
            <p:cNvPr id="24" name="TextBox 24"/>
            <p:cNvSpPr txBox="1"/>
            <p:nvPr/>
          </p:nvSpPr>
          <p:spPr>
            <a:xfrm>
              <a:off x="8375142" y="2349818"/>
              <a:ext cx="1899666" cy="492633"/>
            </a:xfrm>
            <a:prstGeom prst="rect">
              <a:avLst/>
            </a:prstGeom>
            <a:noFill/>
            <a:ln>
              <a:noFill/>
            </a:ln>
          </p:spPr>
          <p:txBody>
            <a:bodyPr wrap="none" lIns="0" tIns="0" rIns="0" bIns="0" anchor="t" anchorCtr="0">
              <a:spAutoFit/>
            </a:bodyPr>
            <a:lstStyle/>
            <a:p>
              <a:pPr algn="l">
                <a:lnSpc>
                  <a:spcPts val="1800"/>
                </a:lnSpc>
              </a:pPr>
              <a:r>
                <a:rPr lang="th-TH" sz="1350" dirty="0">
                  <a:solidFill>
                    <a:schemeClr val="dk1"/>
                  </a:solidFill>
                  <a:latin typeface="+mn-lt"/>
                  <a:ea typeface="+mn-ea"/>
                  <a:cs typeface="+mn-cs"/>
                </a:rPr>
                <a:t>มาตรฐานสินค้าเกษตร</a:t>
              </a:r>
              <a:br/>
              <a:r>
                <a:rPr lang="th-TH" sz="1350" dirty="0">
                  <a:solidFill>
                    <a:schemeClr val="dk1"/>
                  </a:solidFill>
                  <a:latin typeface="+mn-lt"/>
                  <a:ea typeface="+mn-ea"/>
                  <a:cs typeface="+mn-cs"/>
                </a:rPr>
                <a:t>ข้าวหอมมะลิไทยในผลิตภัณฑ์</a:t>
              </a:r>
            </a:p>
          </p:txBody>
        </p:sp>
      </p:grpSp>
      <p:graphicFrame>
        <p:nvGraphicFramePr>
          <p:cNvPr id="26" name="variety-gi-comparison"/>
          <p:cNvGraphicFramePr>
            <a:graphicFrameLocks noGrp="1"/>
          </p:cNvGraphicFramePr>
          <p:nvPr/>
        </p:nvGraphicFramePr>
        <p:xfrm>
          <a:off x="609600" y="2914650"/>
          <a:ext cx="10972800" cy="3086100"/>
        </p:xfrm>
        <a:graphic>
          <a:graphicData uri="http://schemas.openxmlformats.org/drawingml/2006/table">
            <a:tbl>
              <a:tblPr firstRow="1" bandRow="0">
                <a:tableStyleId>{5C22544A-7EE6-4342-B048-85BDC9FD1C3A}</a:tableStyleId>
              </a:tblPr>
              <a:tblGrid>
                <a:gridCol w="2381250"/>
                <a:gridCol w="4191000"/>
                <a:gridCol w="4400550"/>
              </a:tblGrid>
              <a:tr h="457200">
                <a:tc>
                  <a:txBody>
                    <a:bodyPr/>
                    <a:lstStyle/>
                    <a:p>
                      <a:pPr/>
                      <a:r>
                        <a:rPr lang="th-TH" sz="1650" b="1">
                          <a:solidFill>
                            <a:srgbClr val="FBF7EF"/>
                          </a:solidFill>
                          <a:latin typeface="Tahoma"/>
                          <a:ea typeface="Microsoft YaHei"/>
                          <a:cs typeface="Tahoma"/>
                        </a:rPr>
                        <a:t>เกณฑ์</a:t>
                      </a:r>
                    </a:p>
                  </a:txBody>
                  <a:tcPr anchor="ctr" marL="152400" marR="152400" marT="81915" marB="81915">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th-TH" sz="1650" b="1">
                          <a:solidFill>
                            <a:srgbClr val="FBF7EF"/>
                          </a:solidFill>
                          <a:latin typeface="Tahoma"/>
                          <a:ea typeface="Microsoft YaHei"/>
                          <a:cs typeface="Tahoma"/>
                        </a:rPr>
                        <a:t>ขาวดอกมะลิ 105 (พันธุ์)</a:t>
                      </a:r>
                    </a:p>
                  </a:txBody>
                  <a:tcPr anchor="ctr" marL="152400" marR="152400" marT="81915" marB="81915">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th-TH" sz="1650" b="1">
                          <a:solidFill>
                            <a:srgbClr val="FBF7EF"/>
                          </a:solidFill>
                          <a:latin typeface="Tahoma"/>
                          <a:ea typeface="Microsoft YaHei"/>
                          <a:cs typeface="Tahoma"/>
                        </a:rPr>
                        <a:t>ข้าว GI ทุ่งกุลาร้องไห้ (พื้นที่)</a:t>
                      </a:r>
                    </a:p>
                  </a:txBody>
                  <a:tcPr anchor="ctr" marL="152400" marR="152400" marT="81915" marB="81915">
                    <a:lnL>
                      <a:noFill/>
                    </a:lnL>
                    <a:lnR>
                      <a:noFill/>
                    </a:lnR>
                    <a:lnT w="9525">
                      <a:solidFill>
                        <a:schemeClr val="accent6"/>
                      </a:solidFill>
                      <a:prstDash val="solid"/>
                    </a:lnT>
                    <a:lnB w="9525">
                      <a:solidFill>
                        <a:schemeClr val="accent6"/>
                      </a:solidFill>
                      <a:prstDash val="solid"/>
                    </a:lnB>
                    <a:solidFill>
                      <a:schemeClr val="accent1"/>
                    </a:solidFill>
                  </a:tcPr>
                </a:tc>
              </a:tr>
              <a:tr h="438150">
                <a:tc>
                  <a:txBody>
                    <a:bodyPr/>
                    <a:lstStyle/>
                    <a:p>
                      <a:pPr/>
                      <a:r>
                        <a:rPr lang="th-TH" sz="1650" b="1">
                          <a:solidFill>
                            <a:schemeClr val="dk1"/>
                          </a:solidFill>
                          <a:latin typeface="Tahoma"/>
                          <a:ea typeface="Microsoft YaHei"/>
                          <a:cs typeface="Tahoma"/>
                        </a:rPr>
                        <a:t>สิ่งที่รับรอง</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ลักษณะประจำพันธุ์</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แหล่งผลิตและพันธุ์ที่กำหนด</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650" b="1">
                          <a:solidFill>
                            <a:schemeClr val="dk1"/>
                          </a:solidFill>
                          <a:latin typeface="Tahoma"/>
                          <a:ea typeface="Microsoft YaHei"/>
                          <a:cs typeface="Tahoma"/>
                        </a:rPr>
                        <a:t>พันธุ์ที่กำหนด</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ขาวดอกมะลิ 105</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ขาวดอกมะลิ 105 และ กข 15</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650" b="1">
                          <a:solidFill>
                            <a:schemeClr val="dk1"/>
                          </a:solidFill>
                          <a:latin typeface="Tahoma"/>
                          <a:ea typeface="Microsoft YaHei"/>
                          <a:cs typeface="Tahoma"/>
                        </a:rPr>
                        <a:t>พื้นที่</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อีสานและภาคเหนือตอนบน (คำแนะนำ)</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5 จังหวัด รวม 2,107,690 ไร่</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650" b="1">
                          <a:solidFill>
                            <a:schemeClr val="dk1"/>
                          </a:solidFill>
                          <a:latin typeface="Tahoma"/>
                          <a:ea typeface="Microsoft YaHei"/>
                          <a:cs typeface="Tahoma"/>
                        </a:rPr>
                        <a:t>ปีที่รับรอง</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2502 (พันธุ์รับรอง)</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2550 ในประเทศ · 2013 PGI ยุโรป</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650" b="1">
                          <a:solidFill>
                            <a:schemeClr val="dk1"/>
                          </a:solidFill>
                          <a:latin typeface="Tahoma"/>
                          <a:ea typeface="Microsoft YaHei"/>
                          <a:cs typeface="Tahoma"/>
                        </a:rPr>
                        <a:t>เกณฑ์เมล็ด</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ข้าวกล้อง 7.5 × 2.1 × 1.8 มม.</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ยาวกว่า 7.0 มม. · ท้องไข่ไม่เกินร้อยละ 6</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650" b="1">
                          <a:solidFill>
                            <a:schemeClr val="dk1"/>
                          </a:solidFill>
                          <a:latin typeface="Tahoma"/>
                          <a:ea typeface="Microsoft YaHei"/>
                          <a:cs typeface="Tahoma"/>
                        </a:rPr>
                        <a:t>อมิโลส</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12–17 เปอร์เซ็นต์</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c>
                  <a:txBody>
                    <a:bodyPr/>
                    <a:lstStyle/>
                    <a:p>
                      <a:pPr/>
                      <a:r>
                        <a:rPr lang="th-TH" sz="1650" b="0">
                          <a:solidFill>
                            <a:schemeClr val="dk1"/>
                          </a:solidFill>
                          <a:latin typeface="Tahoma"/>
                          <a:ea typeface="Microsoft YaHei"/>
                          <a:cs typeface="Tahoma"/>
                        </a:rPr>
                        <a:t>ไม่ได้กำหนดในเกณฑ์ GI</a:t>
                      </a:r>
                    </a:p>
                  </a:txBody>
                  <a:tcPr anchor="ctr" marL="152400" marR="152400" marT="72390" marB="7239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29" name="page-footer"/>
          <p:cNvGrpSpPr/>
          <p:nvPr/>
        </p:nvGrpSpPr>
        <p:grpSpPr>
          <a:xfrm>
            <a:off x="603504" y="6423660"/>
            <a:ext cx="10984992" cy="234696"/>
            <a:chOff x="603504" y="6423660"/>
            <a:chExt cx="10984992" cy="234696"/>
          </a:xfrm>
        </p:grpSpPr>
        <p:sp>
          <p:nvSpPr>
            <p:cNvPr id="27" name="TextBox 27"/>
            <p:cNvSpPr txBox="1"/>
            <p:nvPr/>
          </p:nvSpPr>
          <p:spPr>
            <a:xfrm>
              <a:off x="603504" y="6423660"/>
              <a:ext cx="9686444"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สำนักงานประชาสัมพันธ์จังหวัดร้อยเอ็ด · Commission Implementing Regulation (EU) No 120/2013 · WIPO · TAS 4000 (FAOLEX)</a:t>
              </a:r>
            </a:p>
          </p:txBody>
        </p:sp>
        <p:sp>
          <p:nvSpPr>
            <p:cNvPr id="28" name="TextBox 28"/>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50"/>
                                        <p:tgtEl>
                                          <p:spTgt spid="20"/>
                                        </p:tgtEl>
                                      </p:cBhvr>
                                    </p:animEffect>
                                  </p:childTnLst>
                                </p:cTn>
                              </p:par>
                            </p:childTnLst>
                          </p:cTn>
                        </p:par>
                        <p:par>
                          <p:cTn id="8" fill="hold">
                            <p:stCondLst>
                              <p:cond delay="750"/>
                            </p:stCondLst>
                            <p:childTnLst>
                              <p:par>
                                <p:cTn id="9" presetID="10" presetClass="entr" presetSubtype="0" fill="hold" grpId="0" nodeType="afterEffect">
                                  <p:stCondLst>
                                    <p:cond delay="15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50"/>
                                        <p:tgtEl>
                                          <p:spTgt spid="25"/>
                                        </p:tgtEl>
                                      </p:cBhvr>
                                    </p:animEffect>
                                  </p:childTnLst>
                                </p:cTn>
                              </p:par>
                            </p:childTnLst>
                          </p:cTn>
                        </p:par>
                        <p:par>
                          <p:cTn id="12" fill="hold">
                            <p:stCondLst>
                              <p:cond delay="1350"/>
                            </p:stCondLst>
                            <p:childTnLst>
                              <p:par>
                                <p:cTn id="13" presetID="10" presetClass="entr" presetSubtype="0" fill="hold" grpId="0" nodeType="afterEffect">
                                  <p:stCondLst>
                                    <p:cond delay="20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value-motif-panicle"/>
          <p:cNvSpPr/>
          <p:nvPr/>
        </p:nvSpPr>
        <p:spPr>
          <a:xfrm>
            <a:off x="11182350" y="1981200"/>
            <a:ext cx="381000" cy="1295400"/>
          </a:xfrm>
          <a:custGeom>
            <a:avLst/>
            <a:gdLst/>
            <a:ahLst/>
            <a:cxnLst/>
            <a:rect l="l" t="t" r="r" b="b"/>
            <a:pathLst>
              <a:path w="381000" h="1295400">
                <a:moveTo>
                  <a:pt x="381000" y="0"/>
                </a:moveTo>
                <a:cubicBezTo>
                  <a:pt x="133350" y="381000"/>
                  <a:pt x="19050" y="800100"/>
                  <a:pt x="76200" y="1295400"/>
                </a:cubicBezTo>
                <a:moveTo>
                  <a:pt x="323850" y="304800"/>
                </a:moveTo>
                <a:cubicBezTo>
                  <a:pt x="152400" y="361950"/>
                  <a:pt x="57150" y="476250"/>
                  <a:pt x="28575" y="628650"/>
                </a:cubicBezTo>
                <a:moveTo>
                  <a:pt x="247650" y="704850"/>
                </a:moveTo>
                <a:cubicBezTo>
                  <a:pt x="95250" y="762000"/>
                  <a:pt x="19050" y="876300"/>
                  <a:pt x="0" y="1009650"/>
                </a:cubicBezTo>
              </a:path>
            </a:pathLst>
          </a:custGeom>
          <a:noFill/>
          <a:ln w="57150" cap="rnd">
            <a:solidFill>
              <a:srgbClr val="F1E8D6"/>
            </a:solidFill>
          </a:ln>
        </p:spPr>
      </p:sp>
      <p:grpSp>
        <p:nvGrpSpPr>
          <p:cNvPr id="7" name="page-header"/>
          <p:cNvGrpSpPr/>
          <p:nvPr/>
        </p:nvGrpSpPr>
        <p:grpSpPr>
          <a:xfrm>
            <a:off x="594360" y="654368"/>
            <a:ext cx="10988040" cy="1314449"/>
            <a:chOff x="594360" y="654368"/>
            <a:chExt cx="10988040" cy="1314449"/>
          </a:xfrm>
        </p:grpSpPr>
        <p:sp>
          <p:nvSpPr>
            <p:cNvPr id="3" name="TextBox 3"/>
            <p:cNvSpPr txBox="1"/>
            <p:nvPr/>
          </p:nvSpPr>
          <p:spPr>
            <a:xfrm>
              <a:off x="602742" y="654368"/>
              <a:ext cx="2284520"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2 · แผ่นดินที่ให้กลิ่นหอม</a:t>
              </a:r>
            </a:p>
          </p:txBody>
        </p:sp>
        <p:sp>
          <p:nvSpPr>
            <p:cNvPr id="4" name="TextBox 4"/>
            <p:cNvSpPr txBox="1"/>
            <p:nvPr/>
          </p:nvSpPr>
          <p:spPr>
            <a:xfrm>
              <a:off x="594360" y="895350"/>
              <a:ext cx="4928292"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ส่วนต่างที่มาจากการคุ้มครอง</a:t>
              </a:r>
            </a:p>
          </p:txBody>
        </p:sp>
        <p:sp>
          <p:nvSpPr>
            <p:cNvPr id="5" name="Line 5"/>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528762"/>
              <a:ext cx="9384030"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มูลค่าเพิ่มของ GI ไม่ได้อยู่ที่ตราบนถุง แต่อยู่ที่ราคาต่อหน่วยและต้นทุนต่อไร่</a:t>
              </a:r>
            </a:p>
          </p:txBody>
        </p:sp>
      </p:grpSp>
      <p:grpSp>
        <p:nvGrpSpPr>
          <p:cNvPr id="12" name="metric-price-premium"/>
          <p:cNvGrpSpPr/>
          <p:nvPr/>
        </p:nvGrpSpPr>
        <p:grpSpPr>
          <a:xfrm>
            <a:off x="590550" y="2476500"/>
            <a:ext cx="3583183" cy="2156651"/>
            <a:chOff x="590550" y="2476500"/>
            <a:chExt cx="3583183" cy="2156651"/>
          </a:xfrm>
        </p:grpSpPr>
        <p:sp>
          <p:nvSpPr>
            <p:cNvPr id="8" name="Rectangle 8"/>
            <p:cNvSpPr/>
            <p:nvPr/>
          </p:nvSpPr>
          <p:spPr>
            <a:xfrm>
              <a:off x="609600" y="2476500"/>
              <a:ext cx="1143000" cy="38100"/>
            </a:xfrm>
            <a:prstGeom prst="rect">
              <a:avLst/>
            </a:prstGeom>
            <a:solidFill>
              <a:schemeClr val="accent2"/>
            </a:solidFill>
            <a:ln>
              <a:noFill/>
            </a:ln>
          </p:spPr>
        </p:sp>
        <p:sp>
          <p:nvSpPr>
            <p:cNvPr id="9" name="TextBox 9"/>
            <p:cNvSpPr txBox="1"/>
            <p:nvPr/>
          </p:nvSpPr>
          <p:spPr>
            <a:xfrm>
              <a:off x="590550" y="2830830"/>
              <a:ext cx="3583183"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15–20 %</a:t>
              </a:r>
            </a:p>
          </p:txBody>
        </p:sp>
        <p:sp>
          <p:nvSpPr>
            <p:cNvPr id="10" name="TextBox 10"/>
            <p:cNvSpPr txBox="1"/>
            <p:nvPr/>
          </p:nvSpPr>
          <p:spPr>
            <a:xfrm>
              <a:off x="600456" y="3729990"/>
              <a:ext cx="2537163"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ราคาสูงกว่าข้าวธรรมดา</a:t>
              </a:r>
            </a:p>
          </p:txBody>
        </p:sp>
        <p:sp>
          <p:nvSpPr>
            <p:cNvPr id="11" name="TextBox 11"/>
            <p:cNvSpPr txBox="1"/>
            <p:nvPr/>
          </p:nvSpPr>
          <p:spPr>
            <a:xfrm>
              <a:off x="602742" y="4102418"/>
              <a:ext cx="2182558"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ข้าว GI ทุ่งกุลาร้องไห้</a:t>
              </a:r>
              <a:br/>
              <a:r>
                <a:rPr lang="th-TH" sz="1350" dirty="0">
                  <a:solidFill>
                    <a:schemeClr val="accent5"/>
                  </a:solidFill>
                  <a:latin typeface="+mn-lt"/>
                  <a:ea typeface="+mn-ea"/>
                  <a:cs typeface="+mn-cs"/>
                </a:rPr>
                <a:t>ขายได้ราคาสูงกว่าข้าวธรรมดา</a:t>
              </a:r>
            </a:p>
          </p:txBody>
        </p:sp>
      </p:grpSp>
      <p:grpSp>
        <p:nvGrpSpPr>
          <p:cNvPr id="17" name="metric-yield-jump"/>
          <p:cNvGrpSpPr/>
          <p:nvPr/>
        </p:nvGrpSpPr>
        <p:grpSpPr>
          <a:xfrm>
            <a:off x="4286250" y="2476500"/>
            <a:ext cx="2483461" cy="2156651"/>
            <a:chOff x="4286250" y="2476500"/>
            <a:chExt cx="2483461" cy="2156651"/>
          </a:xfrm>
        </p:grpSpPr>
        <p:sp>
          <p:nvSpPr>
            <p:cNvPr id="13" name="Rectangle 13"/>
            <p:cNvSpPr/>
            <p:nvPr/>
          </p:nvSpPr>
          <p:spPr>
            <a:xfrm>
              <a:off x="4305300" y="2476500"/>
              <a:ext cx="1143000" cy="38100"/>
            </a:xfrm>
            <a:prstGeom prst="rect">
              <a:avLst/>
            </a:prstGeom>
            <a:solidFill>
              <a:schemeClr val="accent2"/>
            </a:solidFill>
            <a:ln>
              <a:noFill/>
            </a:ln>
          </p:spPr>
        </p:sp>
        <p:sp>
          <p:nvSpPr>
            <p:cNvPr id="14" name="TextBox 14"/>
            <p:cNvSpPr txBox="1"/>
            <p:nvPr/>
          </p:nvSpPr>
          <p:spPr>
            <a:xfrm>
              <a:off x="4286250" y="2830830"/>
              <a:ext cx="1577412"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600</a:t>
              </a:r>
            </a:p>
          </p:txBody>
        </p:sp>
        <p:sp>
          <p:nvSpPr>
            <p:cNvPr id="15" name="TextBox 15"/>
            <p:cNvSpPr txBox="1"/>
            <p:nvPr/>
          </p:nvSpPr>
          <p:spPr>
            <a:xfrm>
              <a:off x="4296156" y="3729990"/>
              <a:ext cx="2473555"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ผลผลิตต่อไร่ (กิโลกรัม)</a:t>
              </a:r>
            </a:p>
          </p:txBody>
        </p:sp>
        <p:sp>
          <p:nvSpPr>
            <p:cNvPr id="16" name="TextBox 16"/>
            <p:cNvSpPr txBox="1"/>
            <p:nvPr/>
          </p:nvSpPr>
          <p:spPr>
            <a:xfrm>
              <a:off x="4298442" y="4102418"/>
              <a:ext cx="1899666"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เพิ่มจาก 320 กก./ไร่</a:t>
              </a:r>
              <a:br/>
              <a:r>
                <a:rPr lang="th-TH" sz="1350" dirty="0">
                  <a:solidFill>
                    <a:schemeClr val="accent5"/>
                  </a:solidFill>
                  <a:latin typeface="+mn-lt"/>
                  <a:ea typeface="+mn-ea"/>
                  <a:cs typeface="+mn-cs"/>
                </a:rPr>
                <a:t>ด้วยการหยอดเมล็ดโดยตรง</a:t>
              </a:r>
            </a:p>
          </p:txBody>
        </p:sp>
      </p:grpSp>
      <p:grpSp>
        <p:nvGrpSpPr>
          <p:cNvPr id="22" name="metric-seed-cost"/>
          <p:cNvGrpSpPr/>
          <p:nvPr/>
        </p:nvGrpSpPr>
        <p:grpSpPr>
          <a:xfrm>
            <a:off x="7981950" y="2476500"/>
            <a:ext cx="2603621" cy="2156651"/>
            <a:chOff x="7981950" y="2476500"/>
            <a:chExt cx="2603621" cy="2156651"/>
          </a:xfrm>
        </p:grpSpPr>
        <p:sp>
          <p:nvSpPr>
            <p:cNvPr id="18" name="Rectangle 18"/>
            <p:cNvSpPr/>
            <p:nvPr/>
          </p:nvSpPr>
          <p:spPr>
            <a:xfrm>
              <a:off x="8001000" y="2476500"/>
              <a:ext cx="1143000" cy="38100"/>
            </a:xfrm>
            <a:prstGeom prst="rect">
              <a:avLst/>
            </a:prstGeom>
            <a:solidFill>
              <a:schemeClr val="accent2"/>
            </a:solidFill>
            <a:ln>
              <a:noFill/>
            </a:ln>
          </p:spPr>
        </p:sp>
        <p:sp>
          <p:nvSpPr>
            <p:cNvPr id="19" name="TextBox 19"/>
            <p:cNvSpPr txBox="1"/>
            <p:nvPr/>
          </p:nvSpPr>
          <p:spPr>
            <a:xfrm>
              <a:off x="7981950" y="2830830"/>
              <a:ext cx="2603621"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1,000</a:t>
              </a:r>
            </a:p>
          </p:txBody>
        </p:sp>
        <p:sp>
          <p:nvSpPr>
            <p:cNvPr id="20" name="TextBox 20"/>
            <p:cNvSpPr txBox="1"/>
            <p:nvPr/>
          </p:nvSpPr>
          <p:spPr>
            <a:xfrm>
              <a:off x="7991856" y="3729990"/>
              <a:ext cx="2257288"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ต้นทุนเมล็ดพันธุ์ที่ลดลง</a:t>
              </a:r>
            </a:p>
          </p:txBody>
        </p:sp>
        <p:sp>
          <p:nvSpPr>
            <p:cNvPr id="21" name="TextBox 21"/>
            <p:cNvSpPr txBox="1"/>
            <p:nvPr/>
          </p:nvSpPr>
          <p:spPr>
            <a:xfrm>
              <a:off x="7994142" y="4102418"/>
              <a:ext cx="1813941"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ประมาณ 1,000 บาทต่อไร่</a:t>
              </a:r>
              <a:br/>
              <a:r>
                <a:rPr lang="th-TH" sz="1350" dirty="0">
                  <a:solidFill>
                    <a:schemeClr val="accent5"/>
                  </a:solidFill>
                  <a:latin typeface="+mn-lt"/>
                  <a:ea typeface="+mn-ea"/>
                  <a:cs typeface="+mn-cs"/>
                </a:rPr>
                <a:t>(ราว 87 ดอลลาร์สหรัฐ)</a:t>
              </a:r>
            </a:p>
          </p:txBody>
        </p:sp>
      </p:grpSp>
      <p:grpSp>
        <p:nvGrpSpPr>
          <p:cNvPr id="25" name="scope-note"/>
          <p:cNvGrpSpPr/>
          <p:nvPr/>
        </p:nvGrpSpPr>
        <p:grpSpPr>
          <a:xfrm>
            <a:off x="609600" y="5257800"/>
            <a:ext cx="8165021" cy="613601"/>
            <a:chOff x="609600" y="5257800"/>
            <a:chExt cx="8165021" cy="613601"/>
          </a:xfrm>
        </p:grpSpPr>
        <p:sp>
          <p:nvSpPr>
            <p:cNvPr id="23" name="Rectangle 23"/>
            <p:cNvSpPr/>
            <p:nvPr/>
          </p:nvSpPr>
          <p:spPr>
            <a:xfrm>
              <a:off x="609600" y="5257800"/>
              <a:ext cx="57150" cy="590550"/>
            </a:xfrm>
            <a:prstGeom prst="rect">
              <a:avLst/>
            </a:prstGeom>
            <a:solidFill>
              <a:schemeClr val="accent3"/>
            </a:solidFill>
            <a:ln>
              <a:noFill/>
            </a:ln>
          </p:spPr>
        </p:sp>
        <p:sp>
          <p:nvSpPr>
            <p:cNvPr id="24" name="TextBox 24"/>
            <p:cNvSpPr txBox="1"/>
            <p:nvPr/>
          </p:nvSpPr>
          <p:spPr>
            <a:xfrm>
              <a:off x="831342" y="5340668"/>
              <a:ext cx="7943279"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บรรทัดขอบเขต ตัวเลขผลผลิตและต้นทุนสองรายการหลังมาจากโครงการหมู่บ้านหยอดข้าวศรีแสงดาว จังหวัดร้อยเอ็ด</a:t>
              </a:r>
              <a:br/>
              <a:r>
                <a:rPr lang="th-TH" sz="1350" dirty="0">
                  <a:solidFill>
                    <a:schemeClr val="accent5"/>
                  </a:solidFill>
                  <a:latin typeface="+mn-lt"/>
                  <a:ea typeface="+mn-ea"/>
                  <a:cs typeface="+mn-cs"/>
                </a:rPr>
                <a:t>ไม่ใช่ค่าเฉลี่ยของทั้งเขตคุ้มครอง GI ทุ่งกุลาร้องไห้</a:t>
              </a:r>
            </a:p>
          </p:txBody>
        </p:sp>
      </p:grpSp>
      <p:grpSp>
        <p:nvGrpSpPr>
          <p:cNvPr id="28" name="page-footer"/>
          <p:cNvGrpSpPr/>
          <p:nvPr/>
        </p:nvGrpSpPr>
        <p:grpSpPr>
          <a:xfrm>
            <a:off x="603504" y="6423660"/>
            <a:ext cx="10984992" cy="234696"/>
            <a:chOff x="603504" y="6423660"/>
            <a:chExt cx="10984992" cy="234696"/>
          </a:xfrm>
        </p:grpSpPr>
        <p:sp>
          <p:nvSpPr>
            <p:cNvPr id="26" name="TextBox 26"/>
            <p:cNvSpPr txBox="1"/>
            <p:nvPr/>
          </p:nvSpPr>
          <p:spPr>
            <a:xfrm>
              <a:off x="603504" y="6423660"/>
              <a:ext cx="6311991"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Thai Hom Mali Rice from Thung Kula Rong-Hai – A World-Recognized GI, WIPO</a:t>
              </a:r>
            </a:p>
          </p:txBody>
        </p:sp>
        <p:sp>
          <p:nvSpPr>
            <p:cNvPr id="27" name="TextBox 2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3" name="TextBox 3"/>
            <p:cNvSpPr txBox="1"/>
            <p:nvPr/>
          </p:nvSpPr>
          <p:spPr>
            <a:xfrm>
              <a:off x="594360" y="895350"/>
              <a:ext cx="7621029"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ข้าวหอมทรงตัว ขณะที่ยอดรวมโตด้วยข้าวขาว</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609933"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ห้าปีที่ผ่านมาข้าวหอมไทยขยับอยู่ในกรอบสองล้านตัน ส่วนที่โตคือข้าวขาว</a:t>
              </a:r>
            </a:p>
          </p:txBody>
        </p:sp>
      </p:grpSp>
      <p:grpSp>
        <p:nvGrpSpPr>
          <p:cNvPr id="8" name="export-quay-band"/>
          <p:cNvGrpSpPr/>
          <p:nvPr/>
        </p:nvGrpSpPr>
        <p:grpSpPr>
          <a:xfrm>
            <a:off x="609600" y="1905000"/>
            <a:ext cx="10972800" cy="1257300"/>
            <a:chOff x="609600" y="1905000"/>
            <a:chExt cx="10972800" cy="1257300"/>
          </a:xfrm>
        </p:grpSpPr>
        <p:pic>
          <p:nvPicPr>
            <p:cNvPr id="7" name="Image 7"/>
            <p:cNvPicPr>
              <a:picLocks noChangeAspect="1"/>
            </p:cNvPicPr>
            <p:nvPr/>
          </p:nvPicPr>
          <p:blipFill>
            <a:blip r:embed="rId2"/>
            <a:srcRect l="0" t="36503" r="0" b="36503"/>
            <a:stretch>
              <a:fillRect/>
            </a:stretch>
          </p:blipFill>
          <p:spPr>
            <a:xfrm>
              <a:off x="609600" y="1905000"/>
              <a:ext cx="10972800" cy="1257300"/>
            </a:xfrm>
            <a:prstGeom prst="rect">
              <a:avLst/>
            </a:prstGeom>
          </p:spPr>
        </p:pic>
      </p:grpSp>
      <p:grpSp>
        <p:nvGrpSpPr>
          <p:cNvPr id="14" name="thai-rice-export-by-variety"/>
          <p:cNvGrpSpPr/>
          <p:nvPr/>
        </p:nvGrpSpPr>
        <p:grpSpPr>
          <a:xfrm>
            <a:off x="609600" y="3314700"/>
            <a:ext cx="15868650" cy="2781300"/>
            <a:chOff x="609600" y="3314700"/>
            <a:chExt cx="15868650" cy="2781300"/>
          </a:xfrm>
        </p:grpSpPr>
        <p:graphicFrame>
          <p:nvGraphicFramePr>
            <p:cNvPr id="9" name="thai-rice-export-by-variety"/>
            <p:cNvGraphicFramePr>
              <a:graphicFrameLocks noGrp="1"/>
            </p:cNvGraphicFramePr>
            <p:nvPr/>
          </p:nvGraphicFramePr>
          <p:xfrm>
            <a:off x="609600" y="3314700"/>
            <a:ext cx="8305800" cy="2781300"/>
          </p:xfrm>
          <a:graphic>
            <a:graphicData uri="http://schemas.openxmlformats.org/drawingml/2006/chart">
              <c:chart r:id="rId3"/>
            </a:graphicData>
          </a:graphic>
        </p:graphicFrame>
        <p:sp>
          <p:nvSpPr>
            <p:cNvPr id="10" name="Chart Note 10"/>
            <p:cNvSpPr txBox="1"/>
            <p:nvPr/>
          </p:nvSpPr>
          <p:spPr>
            <a:xfrm>
              <a:off x="8172450" y="3483292"/>
              <a:ext cx="8305800" cy="274320"/>
            </a:xfrm>
            <a:prstGeom prst="rect">
              <a:avLst/>
            </a:prstGeom>
            <a:noFill/>
            <a:ln>
              <a:noFill/>
            </a:ln>
          </p:spPr>
          <p:txBody>
            <a:bodyPr wrap="square" lIns="0" tIns="0" rIns="0" bIns="0" anchor="b" anchorCtr="0"/>
            <a:lstStyle/>
            <a:p>
              <a:pPr algn="l"/>
              <a:r>
                <a:rPr lang="th-TH" sz="1350">
                  <a:solidFill>
                    <a:srgbClr val="5F5A50"/>
                  </a:solidFill>
                  <a:latin typeface="Tahoma"/>
                  <a:ea typeface="Microsoft YaHei"/>
                  <a:cs typeface="Tahoma"/>
                </a:rPr>
                <a:t>ข้าวขาว</a:t>
              </a:r>
            </a:p>
          </p:txBody>
        </p:sp>
        <p:sp>
          <p:nvSpPr>
            <p:cNvPr id="11" name="Chart Note 11"/>
            <p:cNvSpPr txBox="1"/>
            <p:nvPr/>
          </p:nvSpPr>
          <p:spPr>
            <a:xfrm>
              <a:off x="8172450" y="4873942"/>
              <a:ext cx="8305800" cy="274320"/>
            </a:xfrm>
            <a:prstGeom prst="rect">
              <a:avLst/>
            </a:prstGeom>
            <a:noFill/>
            <a:ln>
              <a:noFill/>
            </a:ln>
          </p:spPr>
          <p:txBody>
            <a:bodyPr wrap="square" lIns="0" tIns="0" rIns="0" bIns="0" anchor="b" anchorCtr="0"/>
            <a:lstStyle/>
            <a:p>
              <a:pPr algn="l"/>
              <a:r>
                <a:rPr lang="th-TH" sz="1350">
                  <a:solidFill>
                    <a:srgbClr val="5F5A50"/>
                  </a:solidFill>
                  <a:latin typeface="Tahoma"/>
                  <a:ea typeface="Microsoft YaHei"/>
                  <a:cs typeface="Tahoma"/>
                </a:rPr>
                <a:t>ข้าวหอม</a:t>
              </a:r>
            </a:p>
          </p:txBody>
        </p:sp>
        <p:sp>
          <p:nvSpPr>
            <p:cNvPr id="12" name="Chart Note 12"/>
            <p:cNvSpPr txBox="1"/>
            <p:nvPr/>
          </p:nvSpPr>
          <p:spPr>
            <a:xfrm>
              <a:off x="8172450" y="5245418"/>
              <a:ext cx="8305800" cy="274320"/>
            </a:xfrm>
            <a:prstGeom prst="rect">
              <a:avLst/>
            </a:prstGeom>
            <a:noFill/>
            <a:ln>
              <a:noFill/>
            </a:ln>
          </p:spPr>
          <p:txBody>
            <a:bodyPr wrap="square" lIns="0" tIns="0" rIns="0" bIns="0" anchor="b" anchorCtr="0"/>
            <a:lstStyle/>
            <a:p>
              <a:pPr algn="l"/>
              <a:r>
                <a:rPr lang="th-TH" sz="1350">
                  <a:solidFill>
                    <a:srgbClr val="5F5A50"/>
                  </a:solidFill>
                  <a:latin typeface="Tahoma"/>
                  <a:ea typeface="Microsoft YaHei"/>
                  <a:cs typeface="Tahoma"/>
                </a:rPr>
                <a:t>ข้าวนึ่ง</a:t>
              </a:r>
            </a:p>
          </p:txBody>
        </p:sp>
        <p:sp>
          <p:nvSpPr>
            <p:cNvPr id="13" name="Chart Note 13"/>
            <p:cNvSpPr txBox="1"/>
            <p:nvPr/>
          </p:nvSpPr>
          <p:spPr>
            <a:xfrm>
              <a:off x="8058150" y="5493068"/>
              <a:ext cx="8305800" cy="274320"/>
            </a:xfrm>
            <a:prstGeom prst="rect">
              <a:avLst/>
            </a:prstGeom>
            <a:noFill/>
            <a:ln>
              <a:noFill/>
            </a:ln>
          </p:spPr>
          <p:txBody>
            <a:bodyPr wrap="square" lIns="0" tIns="0" rIns="0" bIns="0" anchor="b" anchorCtr="0"/>
            <a:lstStyle/>
            <a:p>
              <a:pPr algn="l"/>
              <a:r>
                <a:rPr lang="th-TH" sz="1350">
                  <a:solidFill>
                    <a:srgbClr val="5F5A50"/>
                  </a:solidFill>
                  <a:latin typeface="Tahoma"/>
                  <a:ea typeface="Microsoft YaHei"/>
                  <a:cs typeface="Tahoma"/>
                </a:rPr>
                <a:t>ข้าวเหนียว</a:t>
              </a:r>
            </a:p>
          </p:txBody>
        </p:sp>
      </p:grpSp>
      <p:grpSp>
        <p:nvGrpSpPr>
          <p:cNvPr id="25" name="!!hom-mali-figure"/>
          <p:cNvGrpSpPr/>
          <p:nvPr/>
        </p:nvGrpSpPr>
        <p:grpSpPr>
          <a:xfrm>
            <a:off x="9220200" y="3314700"/>
            <a:ext cx="2362200" cy="2781300"/>
            <a:chOff x="9220200" y="3314700"/>
            <a:chExt cx="2362200" cy="2781300"/>
          </a:xfrm>
        </p:grpSpPr>
        <p:sp>
          <p:nvSpPr>
            <p:cNvPr id="15" name="Rectangle 15"/>
            <p:cNvSpPr/>
            <p:nvPr/>
          </p:nvSpPr>
          <p:spPr>
            <a:xfrm>
              <a:off x="9220200" y="3314700"/>
              <a:ext cx="2362200" cy="2781300"/>
            </a:xfrm>
            <a:prstGeom prst="rect">
              <a:avLst/>
            </a:prstGeom>
            <a:solidFill>
              <a:schemeClr val="lt2"/>
            </a:solidFill>
            <a:ln>
              <a:noFill/>
            </a:ln>
          </p:spPr>
        </p:sp>
        <p:sp>
          <p:nvSpPr>
            <p:cNvPr id="16" name="Rectangle 16"/>
            <p:cNvSpPr/>
            <p:nvPr/>
          </p:nvSpPr>
          <p:spPr>
            <a:xfrm>
              <a:off x="9220200" y="3314700"/>
              <a:ext cx="2362200" cy="76200"/>
            </a:xfrm>
            <a:prstGeom prst="rect">
              <a:avLst/>
            </a:prstGeom>
            <a:solidFill>
              <a:schemeClr val="accent2"/>
            </a:solidFill>
            <a:ln>
              <a:noFill/>
            </a:ln>
          </p:spPr>
        </p:sp>
        <p:sp>
          <p:nvSpPr>
            <p:cNvPr id="17" name="TextBox 17"/>
            <p:cNvSpPr txBox="1"/>
            <p:nvPr/>
          </p:nvSpPr>
          <p:spPr>
            <a:xfrm>
              <a:off x="9441942" y="3626168"/>
              <a:ext cx="122226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ข้าวหอม ปี 2567</a:t>
              </a:r>
            </a:p>
          </p:txBody>
        </p:sp>
        <p:sp>
          <p:nvSpPr>
            <p:cNvPr id="18" name="TextBox 18"/>
            <p:cNvSpPr txBox="1"/>
            <p:nvPr/>
          </p:nvSpPr>
          <p:spPr>
            <a:xfrm>
              <a:off x="9437370" y="3890962"/>
              <a:ext cx="1597157"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1,740,901</a:t>
              </a:r>
            </a:p>
          </p:txBody>
        </p:sp>
        <p:sp>
          <p:nvSpPr>
            <p:cNvPr id="19" name="TextBox 19"/>
            <p:cNvSpPr txBox="1"/>
            <p:nvPr/>
          </p:nvSpPr>
          <p:spPr>
            <a:xfrm>
              <a:off x="9441942" y="4254818"/>
              <a:ext cx="1576654"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ตัน · เพิ่มร้อยละ 3.8</a:t>
              </a:r>
            </a:p>
          </p:txBody>
        </p:sp>
        <p:sp>
          <p:nvSpPr>
            <p:cNvPr id="20" name="Line 20"/>
            <p:cNvSpPr/>
            <p:nvPr/>
          </p:nvSpPr>
          <p:spPr>
            <a:xfrm>
              <a:off x="9448800" y="4705350"/>
              <a:ext cx="1905000" cy="9525"/>
            </a:xfrm>
            <a:custGeom>
              <a:avLst/>
              <a:gdLst/>
              <a:ahLst/>
              <a:cxnLst/>
              <a:rect l="l" t="t" r="r" b="b"/>
              <a:pathLst>
                <a:path w="1905000" h="9525">
                  <a:moveTo>
                    <a:pt x="0" y="0"/>
                  </a:moveTo>
                  <a:lnTo>
                    <a:pt x="1905000" y="0"/>
                  </a:lnTo>
                </a:path>
              </a:pathLst>
            </a:custGeom>
            <a:noFill/>
            <a:ln w="9525">
              <a:solidFill>
                <a:schemeClr val="accent6"/>
              </a:solidFill>
            </a:ln>
          </p:spPr>
        </p:sp>
        <p:sp>
          <p:nvSpPr>
            <p:cNvPr id="21" name="TextBox 21"/>
            <p:cNvSpPr txBox="1"/>
            <p:nvPr/>
          </p:nvSpPr>
          <p:spPr>
            <a:xfrm>
              <a:off x="9441942" y="4902518"/>
              <a:ext cx="1422178"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รวมทุกชนิด ปี 2567</a:t>
              </a:r>
            </a:p>
          </p:txBody>
        </p:sp>
        <p:sp>
          <p:nvSpPr>
            <p:cNvPr id="22" name="TextBox 22"/>
            <p:cNvSpPr txBox="1"/>
            <p:nvPr/>
          </p:nvSpPr>
          <p:spPr>
            <a:xfrm>
              <a:off x="9437370" y="5167312"/>
              <a:ext cx="1597157"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9,945,323</a:t>
              </a:r>
            </a:p>
          </p:txBody>
        </p:sp>
        <p:sp>
          <p:nvSpPr>
            <p:cNvPr id="23" name="TextBox 23"/>
            <p:cNvSpPr txBox="1"/>
            <p:nvPr/>
          </p:nvSpPr>
          <p:spPr>
            <a:xfrm>
              <a:off x="9441942" y="5531168"/>
              <a:ext cx="167661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ตัน · เพิ่มร้อยละ 13.5</a:t>
              </a:r>
            </a:p>
          </p:txBody>
        </p:sp>
        <p:sp>
          <p:nvSpPr>
            <p:cNvPr id="24" name="TextBox 24"/>
            <p:cNvSpPr txBox="1"/>
            <p:nvPr/>
          </p:nvSpPr>
          <p:spPr>
            <a:xfrm>
              <a:off x="9441942" y="5797868"/>
              <a:ext cx="136765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225,656 ล้านบาท</a:t>
              </a:r>
            </a:p>
          </p:txBody>
        </p:sp>
      </p:grpSp>
      <p:grpSp>
        <p:nvGrpSpPr>
          <p:cNvPr id="28" name="page-footer"/>
          <p:cNvGrpSpPr/>
          <p:nvPr/>
        </p:nvGrpSpPr>
        <p:grpSpPr>
          <a:xfrm>
            <a:off x="603504" y="6328410"/>
            <a:ext cx="10984992" cy="406146"/>
            <a:chOff x="603504" y="6328410"/>
            <a:chExt cx="10984992" cy="406146"/>
          </a:xfrm>
        </p:grpSpPr>
        <p:sp>
          <p:nvSpPr>
            <p:cNvPr id="26" name="TextBox 26"/>
            <p:cNvSpPr txBox="1"/>
            <p:nvPr/>
          </p:nvSpPr>
          <p:spPr>
            <a:xfrm>
              <a:off x="603504" y="6328410"/>
              <a:ext cx="8615172" cy="406146"/>
            </a:xfrm>
            <a:prstGeom prst="rect">
              <a:avLst/>
            </a:prstGeom>
            <a:noFill/>
            <a:ln>
              <a:noFill/>
            </a:ln>
          </p:spPr>
          <p:txBody>
            <a:bodyPr wrap="none" lIns="0" tIns="0" rIns="0" bIns="0" anchor="t" anchorCtr="0">
              <a:spAutoFit/>
            </a:bodyPr>
            <a:lstStyle/>
            <a:p>
              <a:pPr algn="l">
                <a:lnSpc>
                  <a:spcPts val="1350"/>
                </a:lnSpc>
              </a:pPr>
              <a:r>
                <a:rPr lang="th-TH" sz="1200" dirty="0">
                  <a:solidFill>
                    <a:schemeClr val="accent5"/>
                  </a:solidFill>
                  <a:latin typeface="Tahoma"/>
                  <a:ea typeface="Tahoma"/>
                  <a:cs typeface="Tahoma"/>
                </a:rPr>
                <a:t>หน่วยบนกราฟเป็นล้านตัน ปัดจากตัวเลขเมตริกตันในตารางต้นทาง · ปีเป็น พ.ศ. (2563 = ค.ศ. 2020)</a:t>
              </a:r>
              <a:br/>
              <a:r>
                <a:rPr lang="th-TH" sz="1200" dirty="0">
                  <a:solidFill>
                    <a:schemeClr val="accent5"/>
                  </a:solidFill>
                  <a:latin typeface="Tahoma"/>
                  <a:ea typeface="Tahoma"/>
                  <a:cs typeface="Tahoma"/>
                </a:rPr>
                <a:t>ที่มา: Table 1.3.1 Thai Rice Exports by Varieties, Ministry of Commerce อ้างใน USDA FAS TH2025-0011 · กรมประชาสัมพันธ์</a:t>
              </a:r>
            </a:p>
          </p:txBody>
        </p:sp>
        <p:sp>
          <p:nvSpPr>
            <p:cNvPr id="27" name="TextBox 27"/>
            <p:cNvSpPr txBox="1"/>
            <p:nvPr/>
          </p:nvSpPr>
          <p:spPr>
            <a:xfrm>
              <a:off x="11398606" y="64998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09</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00"/>
                                        <p:tgtEl>
                                          <p:spTgt spid="14"/>
                                        </p:tgtEl>
                                      </p:cBhvr>
                                    </p:animEffect>
                                  </p:childTnLst>
                                </p:cTn>
                              </p:par>
                            </p:childTnLst>
                          </p:cTn>
                        </p:par>
                        <p:par>
                          <p:cTn id="8" fill="hold">
                            <p:stCondLst>
                              <p:cond delay="700"/>
                            </p:stCondLst>
                            <p:childTnLst>
                              <p:par>
                                <p:cTn id="9" presetID="22" presetClass="entr" presetSubtype="4" fill="hold" grpId="0" nodeType="afterEffect">
                                  <p:stCondLst>
                                    <p:cond delay="30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3" name="TextBox 3"/>
            <p:cNvSpPr txBox="1"/>
            <p:nvPr/>
          </p:nvSpPr>
          <p:spPr>
            <a:xfrm>
              <a:off x="594360" y="895350"/>
              <a:ext cx="6794125"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ตลาดข้าวหอมมะลิกระจุกอยู่ไม่กี่ประเทศ</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185880"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ผู้ซื้อข้าวหอมมะลิรายใหญ่คือสหรัฐอเมริกาและตลาดเอเชียตะวันออก</a:t>
              </a:r>
            </a:p>
          </p:txBody>
        </p:sp>
      </p:grpSp>
      <p:grpSp>
        <p:nvGrpSpPr>
          <p:cNvPr id="14" name="hom-mali-market-share-2560"/>
          <p:cNvGrpSpPr/>
          <p:nvPr/>
        </p:nvGrpSpPr>
        <p:grpSpPr>
          <a:xfrm>
            <a:off x="609600" y="1905000"/>
            <a:ext cx="8839200" cy="3810000"/>
            <a:chOff x="609600" y="1905000"/>
            <a:chExt cx="8839200" cy="3810000"/>
          </a:xfrm>
        </p:grpSpPr>
        <p:graphicFrame>
          <p:nvGraphicFramePr>
            <p:cNvPr id="7" name="hom-mali-market-share-2560"/>
            <p:cNvGraphicFramePr>
              <a:graphicFrameLocks noGrp="1"/>
            </p:cNvGraphicFramePr>
            <p:nvPr/>
          </p:nvGraphicFramePr>
          <p:xfrm>
            <a:off x="609600" y="1905000"/>
            <a:ext cx="5257800" cy="3810000"/>
          </p:xfrm>
          <a:graphic>
            <a:graphicData uri="http://schemas.openxmlformats.org/drawingml/2006/chart">
              <c:chart r:id="rId2"/>
            </a:graphicData>
          </a:graphic>
        </p:graphicFrame>
        <p:sp>
          <p:nvSpPr>
            <p:cNvPr id="8" name="Chart Note 8"/>
            <p:cNvSpPr txBox="1"/>
            <p:nvPr/>
          </p:nvSpPr>
          <p:spPr>
            <a:xfrm>
              <a:off x="4191000" y="2321242"/>
              <a:ext cx="5257800" cy="274320"/>
            </a:xfrm>
            <a:prstGeom prst="rect">
              <a:avLst/>
            </a:prstGeom>
            <a:noFill/>
            <a:ln>
              <a:noFill/>
            </a:ln>
          </p:spPr>
          <p:txBody>
            <a:bodyPr wrap="square" lIns="0" tIns="0" rIns="0" bIns="0" anchor="b" anchorCtr="0"/>
            <a:lstStyle/>
            <a:p>
              <a:pPr algn="l"/>
              <a:r>
                <a:rPr lang="th-TH" sz="1350">
                  <a:solidFill>
                    <a:srgbClr val="2F5D3A"/>
                  </a:solidFill>
                  <a:latin typeface="Leelawadee UI"/>
                  <a:ea typeface="Microsoft YaHei"/>
                  <a:cs typeface="Leelawadee UI"/>
                </a:rPr>
                <a:t>สหรัฐอเมริกา 28 %</a:t>
              </a:r>
            </a:p>
          </p:txBody>
        </p:sp>
        <p:sp>
          <p:nvSpPr>
            <p:cNvPr id="9" name="Chart Note 9"/>
            <p:cNvSpPr txBox="1"/>
            <p:nvPr/>
          </p:nvSpPr>
          <p:spPr>
            <a:xfrm>
              <a:off x="4191000" y="2759392"/>
              <a:ext cx="5257800" cy="274320"/>
            </a:xfrm>
            <a:prstGeom prst="rect">
              <a:avLst/>
            </a:prstGeom>
            <a:noFill/>
            <a:ln>
              <a:noFill/>
            </a:ln>
          </p:spPr>
          <p:txBody>
            <a:bodyPr wrap="square" lIns="0" tIns="0" rIns="0" bIns="0" anchor="b" anchorCtr="0"/>
            <a:lstStyle/>
            <a:p>
              <a:pPr algn="l"/>
              <a:r>
                <a:rPr lang="th-TH" sz="1350">
                  <a:solidFill>
                    <a:srgbClr val="2F5D3A"/>
                  </a:solidFill>
                  <a:latin typeface="Leelawadee UI"/>
                  <a:ea typeface="Microsoft YaHei"/>
                  <a:cs typeface="Leelawadee UI"/>
                </a:rPr>
                <a:t>จีน 15 %</a:t>
              </a:r>
            </a:p>
          </p:txBody>
        </p:sp>
        <p:sp>
          <p:nvSpPr>
            <p:cNvPr id="10" name="Chart Note 10"/>
            <p:cNvSpPr txBox="1"/>
            <p:nvPr/>
          </p:nvSpPr>
          <p:spPr>
            <a:xfrm>
              <a:off x="4191000" y="3197542"/>
              <a:ext cx="5257800" cy="274320"/>
            </a:xfrm>
            <a:prstGeom prst="rect">
              <a:avLst/>
            </a:prstGeom>
            <a:noFill/>
            <a:ln>
              <a:noFill/>
            </a:ln>
          </p:spPr>
          <p:txBody>
            <a:bodyPr wrap="square" lIns="0" tIns="0" rIns="0" bIns="0" anchor="b" anchorCtr="0"/>
            <a:lstStyle/>
            <a:p>
              <a:pPr algn="l"/>
              <a:r>
                <a:rPr lang="th-TH" sz="1350">
                  <a:solidFill>
                    <a:srgbClr val="2F5D3A"/>
                  </a:solidFill>
                  <a:latin typeface="Leelawadee UI"/>
                  <a:ea typeface="Microsoft YaHei"/>
                  <a:cs typeface="Leelawadee UI"/>
                </a:rPr>
                <a:t>ฮ่องกง 11 %</a:t>
              </a:r>
            </a:p>
          </p:txBody>
        </p:sp>
        <p:sp>
          <p:nvSpPr>
            <p:cNvPr id="11" name="Chart Note 11"/>
            <p:cNvSpPr txBox="1"/>
            <p:nvPr/>
          </p:nvSpPr>
          <p:spPr>
            <a:xfrm>
              <a:off x="4191000" y="3635692"/>
              <a:ext cx="5257800" cy="274320"/>
            </a:xfrm>
            <a:prstGeom prst="rect">
              <a:avLst/>
            </a:prstGeom>
            <a:noFill/>
            <a:ln>
              <a:noFill/>
            </a:ln>
          </p:spPr>
          <p:txBody>
            <a:bodyPr wrap="square" lIns="0" tIns="0" rIns="0" bIns="0" anchor="b" anchorCtr="0"/>
            <a:lstStyle/>
            <a:p>
              <a:pPr algn="l"/>
              <a:r>
                <a:rPr lang="th-TH" sz="1350">
                  <a:solidFill>
                    <a:srgbClr val="2F5D3A"/>
                  </a:solidFill>
                  <a:latin typeface="Leelawadee UI"/>
                  <a:ea typeface="Microsoft YaHei"/>
                  <a:cs typeface="Leelawadee UI"/>
                </a:rPr>
                <a:t>อิหร่าน 6 %</a:t>
              </a:r>
            </a:p>
          </p:txBody>
        </p:sp>
        <p:sp>
          <p:nvSpPr>
            <p:cNvPr id="12" name="Chart Note 12"/>
            <p:cNvSpPr txBox="1"/>
            <p:nvPr/>
          </p:nvSpPr>
          <p:spPr>
            <a:xfrm>
              <a:off x="4191000" y="4073842"/>
              <a:ext cx="5257800" cy="274320"/>
            </a:xfrm>
            <a:prstGeom prst="rect">
              <a:avLst/>
            </a:prstGeom>
            <a:noFill/>
            <a:ln>
              <a:noFill/>
            </a:ln>
          </p:spPr>
          <p:txBody>
            <a:bodyPr wrap="square" lIns="0" tIns="0" rIns="0" bIns="0" anchor="b" anchorCtr="0"/>
            <a:lstStyle/>
            <a:p>
              <a:pPr algn="l"/>
              <a:r>
                <a:rPr lang="th-TH" sz="1350">
                  <a:solidFill>
                    <a:srgbClr val="2F5D3A"/>
                  </a:solidFill>
                  <a:latin typeface="Leelawadee UI"/>
                  <a:ea typeface="Microsoft YaHei"/>
                  <a:cs typeface="Leelawadee UI"/>
                </a:rPr>
                <a:t>แคนาดา 5 %</a:t>
              </a:r>
            </a:p>
          </p:txBody>
        </p:sp>
        <p:sp>
          <p:nvSpPr>
            <p:cNvPr id="13" name="Chart Note 13"/>
            <p:cNvSpPr txBox="1"/>
            <p:nvPr/>
          </p:nvSpPr>
          <p:spPr>
            <a:xfrm>
              <a:off x="4191000" y="4511992"/>
              <a:ext cx="5257800" cy="274320"/>
            </a:xfrm>
            <a:prstGeom prst="rect">
              <a:avLst/>
            </a:prstGeom>
            <a:noFill/>
            <a:ln>
              <a:noFill/>
            </a:ln>
          </p:spPr>
          <p:txBody>
            <a:bodyPr wrap="square" lIns="0" tIns="0" rIns="0" bIns="0" anchor="b" anchorCtr="0"/>
            <a:lstStyle/>
            <a:p>
              <a:pPr algn="l"/>
              <a:r>
                <a:rPr lang="th-TH" sz="1350">
                  <a:solidFill>
                    <a:srgbClr val="2F5D3A"/>
                  </a:solidFill>
                  <a:latin typeface="Leelawadee UI"/>
                  <a:ea typeface="Microsoft YaHei"/>
                  <a:cs typeface="Leelawadee UI"/>
                </a:rPr>
                <a:t>อื่น ๆ 35 %</a:t>
              </a:r>
            </a:p>
          </p:txBody>
        </p:sp>
      </p:grpSp>
      <p:grpSp>
        <p:nvGrpSpPr>
          <p:cNvPr id="20" name="!!hom-mali-figure"/>
          <p:cNvGrpSpPr/>
          <p:nvPr/>
        </p:nvGrpSpPr>
        <p:grpSpPr>
          <a:xfrm>
            <a:off x="6172200" y="1905000"/>
            <a:ext cx="5410200" cy="1223201"/>
            <a:chOff x="6172200" y="1905000"/>
            <a:chExt cx="5410200" cy="1223201"/>
          </a:xfrm>
        </p:grpSpPr>
        <p:sp>
          <p:nvSpPr>
            <p:cNvPr id="15" name="Rectangle 15"/>
            <p:cNvSpPr/>
            <p:nvPr/>
          </p:nvSpPr>
          <p:spPr>
            <a:xfrm>
              <a:off x="6172200" y="1905000"/>
              <a:ext cx="5410200" cy="1219200"/>
            </a:xfrm>
            <a:prstGeom prst="rect">
              <a:avLst/>
            </a:prstGeom>
            <a:solidFill>
              <a:schemeClr val="lt2"/>
            </a:solidFill>
            <a:ln>
              <a:noFill/>
            </a:ln>
          </p:spPr>
        </p:sp>
        <p:sp>
          <p:nvSpPr>
            <p:cNvPr id="16" name="Rectangle 16"/>
            <p:cNvSpPr/>
            <p:nvPr/>
          </p:nvSpPr>
          <p:spPr>
            <a:xfrm>
              <a:off x="6172200" y="1905000"/>
              <a:ext cx="5410200" cy="76200"/>
            </a:xfrm>
            <a:prstGeom prst="rect">
              <a:avLst/>
            </a:prstGeom>
            <a:solidFill>
              <a:schemeClr val="accent2"/>
            </a:solidFill>
            <a:ln>
              <a:noFill/>
            </a:ln>
          </p:spPr>
        </p:sp>
        <p:sp>
          <p:nvSpPr>
            <p:cNvPr id="17" name="TextBox 17"/>
            <p:cNvSpPr txBox="1"/>
            <p:nvPr/>
          </p:nvSpPr>
          <p:spPr>
            <a:xfrm>
              <a:off x="6393942" y="2216468"/>
              <a:ext cx="2421731"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มูลค่าส่งออกข้าวหอมมะลิ ปี 2560</a:t>
              </a:r>
            </a:p>
          </p:txBody>
        </p:sp>
        <p:sp>
          <p:nvSpPr>
            <p:cNvPr id="18" name="TextBox 18"/>
            <p:cNvSpPr txBox="1"/>
            <p:nvPr/>
          </p:nvSpPr>
          <p:spPr>
            <a:xfrm>
              <a:off x="6389370" y="2500312"/>
              <a:ext cx="2217334"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42,000 ล้านบาท</a:t>
              </a:r>
            </a:p>
          </p:txBody>
        </p:sp>
        <p:sp>
          <p:nvSpPr>
            <p:cNvPr id="19" name="TextBox 19"/>
            <p:cNvSpPr txBox="1"/>
            <p:nvPr/>
          </p:nvSpPr>
          <p:spPr>
            <a:xfrm>
              <a:off x="6393942" y="2864168"/>
              <a:ext cx="1613002"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ข้อมูลกระทรวงพาณิชย์</a:t>
              </a:r>
            </a:p>
          </p:txBody>
        </p:sp>
      </p:grpSp>
      <p:grpSp>
        <p:nvGrpSpPr>
          <p:cNvPr id="34" name="top-markets-2567"/>
          <p:cNvGrpSpPr/>
          <p:nvPr/>
        </p:nvGrpSpPr>
        <p:grpSpPr>
          <a:xfrm>
            <a:off x="6163056" y="3348990"/>
            <a:ext cx="5426202" cy="2122361"/>
            <a:chOff x="6163056" y="3348990"/>
            <a:chExt cx="5426202" cy="2122361"/>
          </a:xfrm>
        </p:grpSpPr>
        <p:sp>
          <p:nvSpPr>
            <p:cNvPr id="21" name="TextBox 21"/>
            <p:cNvSpPr txBox="1"/>
            <p:nvPr/>
          </p:nvSpPr>
          <p:spPr>
            <a:xfrm>
              <a:off x="6163056" y="3348990"/>
              <a:ext cx="2969697" cy="352044"/>
            </a:xfrm>
            <a:prstGeom prst="rect">
              <a:avLst/>
            </a:prstGeom>
            <a:noFill/>
            <a:ln>
              <a:noFill/>
            </a:ln>
          </p:spPr>
          <p:txBody>
            <a:bodyPr wrap="none" lIns="0" tIns="0" rIns="0" bIns="0" anchor="t" anchorCtr="0">
              <a:spAutoFit/>
            </a:bodyPr>
            <a:lstStyle/>
            <a:p>
              <a:pPr algn="l"/>
              <a:r>
                <a:rPr lang="th-TH" sz="1800" b="1" dirty="0">
                  <a:solidFill>
                    <a:schemeClr val="accent1"/>
                  </a:solidFill>
                  <a:latin typeface="+mn-lt"/>
                  <a:ea typeface="+mn-ea"/>
                  <a:cs typeface="+mn-cs"/>
                </a:rPr>
                <a:t>ตลาดข้าวไทยทุกชนิด ปี 2567</a:t>
              </a:r>
            </a:p>
          </p:txBody>
        </p:sp>
        <p:grpSp>
          <p:nvGrpSpPr>
            <p:cNvPr id="33" name="top-markets-rows"/>
            <p:cNvGrpSpPr/>
            <p:nvPr/>
          </p:nvGrpSpPr>
          <p:grpSpPr>
            <a:xfrm>
              <a:off x="6165342" y="3676650"/>
              <a:ext cx="5423916" cy="1794701"/>
              <a:chOff x="6165342" y="3676650"/>
              <a:chExt cx="5423916" cy="1794701"/>
            </a:xfrm>
          </p:grpSpPr>
          <p:sp>
            <p:nvSpPr>
              <p:cNvPr id="22" name="Line 22"/>
              <p:cNvSpPr/>
              <p:nvPr/>
            </p:nvSpPr>
            <p:spPr>
              <a:xfrm>
                <a:off x="6172200" y="3676650"/>
                <a:ext cx="5410200" cy="9525"/>
              </a:xfrm>
              <a:custGeom>
                <a:avLst/>
                <a:gdLst/>
                <a:ahLst/>
                <a:cxnLst/>
                <a:rect l="l" t="t" r="r" b="b"/>
                <a:pathLst>
                  <a:path w="5410200" h="9525">
                    <a:moveTo>
                      <a:pt x="0" y="0"/>
                    </a:moveTo>
                    <a:lnTo>
                      <a:pt x="5410200" y="0"/>
                    </a:lnTo>
                  </a:path>
                </a:pathLst>
              </a:custGeom>
              <a:noFill/>
              <a:ln w="9525">
                <a:solidFill>
                  <a:schemeClr val="accent6"/>
                </a:solidFill>
              </a:ln>
            </p:spPr>
          </p:sp>
          <p:sp>
            <p:nvSpPr>
              <p:cNvPr id="23" name="TextBox 23"/>
              <p:cNvSpPr txBox="1"/>
              <p:nvPr/>
            </p:nvSpPr>
            <p:spPr>
              <a:xfrm>
                <a:off x="6165342" y="3759518"/>
                <a:ext cx="813359"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อินโดนีเซีย</a:t>
                </a:r>
              </a:p>
            </p:txBody>
          </p:sp>
          <p:sp>
            <p:nvSpPr>
              <p:cNvPr id="24" name="TextBox 24"/>
              <p:cNvSpPr txBox="1"/>
              <p:nvPr/>
            </p:nvSpPr>
            <p:spPr>
              <a:xfrm>
                <a:off x="10621423" y="375951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1.33 ล้านตัน</a:t>
                </a:r>
              </a:p>
            </p:txBody>
          </p:sp>
          <p:sp>
            <p:nvSpPr>
              <p:cNvPr id="25" name="TextBox 25"/>
              <p:cNvSpPr txBox="1"/>
              <p:nvPr/>
            </p:nvSpPr>
            <p:spPr>
              <a:xfrm>
                <a:off x="6165342" y="4121468"/>
                <a:ext cx="313582"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อิรัก</a:t>
                </a:r>
              </a:p>
            </p:txBody>
          </p:sp>
          <p:sp>
            <p:nvSpPr>
              <p:cNvPr id="26" name="TextBox 26"/>
              <p:cNvSpPr txBox="1"/>
              <p:nvPr/>
            </p:nvSpPr>
            <p:spPr>
              <a:xfrm>
                <a:off x="10621423" y="412146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1.00 ล้านตัน</a:t>
                </a:r>
              </a:p>
            </p:txBody>
          </p:sp>
          <p:sp>
            <p:nvSpPr>
              <p:cNvPr id="27" name="TextBox 27"/>
              <p:cNvSpPr txBox="1"/>
              <p:nvPr/>
            </p:nvSpPr>
            <p:spPr>
              <a:xfrm>
                <a:off x="6165342" y="4483418"/>
                <a:ext cx="101327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สหรัฐอเมริกา</a:t>
                </a:r>
              </a:p>
            </p:txBody>
          </p:sp>
          <p:sp>
            <p:nvSpPr>
              <p:cNvPr id="28" name="TextBox 28"/>
              <p:cNvSpPr txBox="1"/>
              <p:nvPr/>
            </p:nvSpPr>
            <p:spPr>
              <a:xfrm>
                <a:off x="10621423" y="448341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0.85 ล้านตัน</a:t>
                </a:r>
              </a:p>
            </p:txBody>
          </p:sp>
          <p:sp>
            <p:nvSpPr>
              <p:cNvPr id="29" name="TextBox 29"/>
              <p:cNvSpPr txBox="1"/>
              <p:nvPr/>
            </p:nvSpPr>
            <p:spPr>
              <a:xfrm>
                <a:off x="6165342" y="4845368"/>
                <a:ext cx="813359"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แอฟริกาใต้</a:t>
                </a:r>
              </a:p>
            </p:txBody>
          </p:sp>
          <p:sp>
            <p:nvSpPr>
              <p:cNvPr id="30" name="TextBox 30"/>
              <p:cNvSpPr txBox="1"/>
              <p:nvPr/>
            </p:nvSpPr>
            <p:spPr>
              <a:xfrm>
                <a:off x="10621423" y="484536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0.83 ล้านตัน</a:t>
                </a:r>
              </a:p>
            </p:txBody>
          </p:sp>
          <p:sp>
            <p:nvSpPr>
              <p:cNvPr id="31" name="TextBox 31"/>
              <p:cNvSpPr txBox="1"/>
              <p:nvPr/>
            </p:nvSpPr>
            <p:spPr>
              <a:xfrm>
                <a:off x="6165342" y="5207318"/>
                <a:ext cx="613448"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ฟิลิปปินส์</a:t>
                </a:r>
              </a:p>
            </p:txBody>
          </p:sp>
          <p:sp>
            <p:nvSpPr>
              <p:cNvPr id="32" name="TextBox 32"/>
              <p:cNvSpPr txBox="1"/>
              <p:nvPr/>
            </p:nvSpPr>
            <p:spPr>
              <a:xfrm>
                <a:off x="10621423" y="520731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0.62 ล้านตัน</a:t>
                </a:r>
              </a:p>
            </p:txBody>
          </p:sp>
        </p:grpSp>
      </p:grpSp>
      <p:grpSp>
        <p:nvGrpSpPr>
          <p:cNvPr id="37" name="scope-note"/>
          <p:cNvGrpSpPr/>
          <p:nvPr/>
        </p:nvGrpSpPr>
        <p:grpSpPr>
          <a:xfrm>
            <a:off x="609600" y="5753100"/>
            <a:ext cx="7796403" cy="613601"/>
            <a:chOff x="609600" y="5753100"/>
            <a:chExt cx="7796403" cy="613601"/>
          </a:xfrm>
        </p:grpSpPr>
        <p:sp>
          <p:nvSpPr>
            <p:cNvPr id="35" name="Rectangle 35"/>
            <p:cNvSpPr/>
            <p:nvPr/>
          </p:nvSpPr>
          <p:spPr>
            <a:xfrm>
              <a:off x="609600" y="5753100"/>
              <a:ext cx="57150" cy="571500"/>
            </a:xfrm>
            <a:prstGeom prst="rect">
              <a:avLst/>
            </a:prstGeom>
            <a:solidFill>
              <a:schemeClr val="accent3"/>
            </a:solidFill>
            <a:ln>
              <a:noFill/>
            </a:ln>
          </p:spPr>
        </p:sp>
        <p:sp>
          <p:nvSpPr>
            <p:cNvPr id="36" name="TextBox 36"/>
            <p:cNvSpPr txBox="1"/>
            <p:nvPr/>
          </p:nvSpPr>
          <p:spPr>
            <a:xfrm>
              <a:off x="831342" y="5835968"/>
              <a:ext cx="7574661"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บรรทัดขอบเขต สัดส่วนตลาดข้าวหอมมะลิเป็นข้อมูลปี 2560 ส่วนรายชื่อตลาดด้านขวาเป็นข้าวไทยทุกชนิดปี 2567</a:t>
              </a:r>
              <a:br/>
              <a:r>
                <a:rPr lang="th-TH" sz="1350" dirty="0">
                  <a:solidFill>
                    <a:schemeClr val="accent5"/>
                  </a:solidFill>
                  <a:latin typeface="+mn-lt"/>
                  <a:ea typeface="+mn-ea"/>
                  <a:cs typeface="+mn-cs"/>
                </a:rPr>
                <a:t>ต่างปีและต่างขอบเขตสินค้า จึงอ่านเทียบกันตรง ๆ ไม่ได้</a:t>
              </a:r>
            </a:p>
          </p:txBody>
        </p:sp>
      </p:grpSp>
      <p:grpSp>
        <p:nvGrpSpPr>
          <p:cNvPr id="40" name="page-footer"/>
          <p:cNvGrpSpPr/>
          <p:nvPr/>
        </p:nvGrpSpPr>
        <p:grpSpPr>
          <a:xfrm>
            <a:off x="603504" y="6423660"/>
            <a:ext cx="10984992" cy="234696"/>
            <a:chOff x="603504" y="6423660"/>
            <a:chExt cx="10984992" cy="234696"/>
          </a:xfrm>
        </p:grpSpPr>
        <p:sp>
          <p:nvSpPr>
            <p:cNvPr id="38" name="TextBox 38"/>
            <p:cNvSpPr txBox="1"/>
            <p:nvPr/>
          </p:nvSpPr>
          <p:spPr>
            <a:xfrm>
              <a:off x="603504" y="6423660"/>
              <a:ext cx="7413609"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ข้อมูลกระทรวงพาณิชย์ปี 2560 อ้างใน Bangkok Post (2561) · กรมประชาสัมพันธ์ สถิติส่งออกข้าวปี 2567</a:t>
              </a:r>
            </a:p>
          </p:txBody>
        </p:sp>
        <p:sp>
          <p:nvSpPr>
            <p:cNvPr id="39" name="TextBox 3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30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800"/>
                                        <p:tgtEl>
                                          <p:spTgt spid="14"/>
                                        </p:tgtEl>
                                      </p:cBhvr>
                                    </p:animEffect>
                                  </p:childTnLst>
                                </p:cTn>
                              </p:par>
                            </p:childTnLst>
                          </p:cTn>
                        </p:par>
                        <p:par>
                          <p:cTn id="8" fill="hold">
                            <p:stCondLst>
                              <p:cond delay="1100"/>
                            </p:stCondLst>
                            <p:childTnLst>
                              <p:par>
                                <p:cTn id="9" presetID="10" presetClass="entr" presetSubtype="0" fill="hold" grpId="0" nodeType="afterEffect">
                                  <p:stCondLst>
                                    <p:cond delay="15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childTnLst>
                          </p:cTn>
                        </p:par>
                        <p:par>
                          <p:cTn id="12" fill="hold">
                            <p:stCondLst>
                              <p:cond delay="1750"/>
                            </p:stCondLst>
                            <p:childTnLst>
                              <p:par>
                                <p:cTn id="13" presetID="10" presetClass="entr" presetSubtype="0" fill="hold" grpId="0" nodeType="afterEffect">
                                  <p:stCondLst>
                                    <p:cond delay="3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rice-motif-panicle"/>
          <p:cNvSpPr/>
          <p:nvPr/>
        </p:nvSpPr>
        <p:spPr>
          <a:xfrm>
            <a:off x="11201400" y="1866900"/>
            <a:ext cx="381000" cy="1295400"/>
          </a:xfrm>
          <a:custGeom>
            <a:avLst/>
            <a:gdLst/>
            <a:ahLst/>
            <a:cxnLst/>
            <a:rect l="l" t="t" r="r" b="b"/>
            <a:pathLst>
              <a:path w="381000" h="1295400">
                <a:moveTo>
                  <a:pt x="381000" y="0"/>
                </a:moveTo>
                <a:cubicBezTo>
                  <a:pt x="133350" y="381000"/>
                  <a:pt x="19050" y="800100"/>
                  <a:pt x="76200" y="1295400"/>
                </a:cubicBezTo>
                <a:moveTo>
                  <a:pt x="323850" y="304800"/>
                </a:moveTo>
                <a:cubicBezTo>
                  <a:pt x="152400" y="361950"/>
                  <a:pt x="57150" y="476250"/>
                  <a:pt x="28575" y="628650"/>
                </a:cubicBezTo>
                <a:moveTo>
                  <a:pt x="247650" y="704850"/>
                </a:moveTo>
                <a:cubicBezTo>
                  <a:pt x="95250" y="762000"/>
                  <a:pt x="19050" y="876300"/>
                  <a:pt x="0" y="1009650"/>
                </a:cubicBezTo>
              </a:path>
            </a:pathLst>
          </a:custGeom>
          <a:noFill/>
          <a:ln w="57150" cap="rnd">
            <a:solidFill>
              <a:srgbClr val="F1E8D6"/>
            </a:solidFill>
          </a:ln>
        </p:spPr>
      </p:sp>
      <p:grpSp>
        <p:nvGrpSpPr>
          <p:cNvPr id="7" name="page-header"/>
          <p:cNvGrpSpPr/>
          <p:nvPr/>
        </p:nvGrpSpPr>
        <p:grpSpPr>
          <a:xfrm>
            <a:off x="594360" y="654368"/>
            <a:ext cx="10988040" cy="1314449"/>
            <a:chOff x="594360" y="654368"/>
            <a:chExt cx="10988040" cy="1314449"/>
          </a:xfrm>
        </p:grpSpPr>
        <p:sp>
          <p:nvSpPr>
            <p:cNvPr id="3" name="TextBox 3"/>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4" name="TextBox 4"/>
            <p:cNvSpPr txBox="1"/>
            <p:nvPr/>
          </p:nvSpPr>
          <p:spPr>
            <a:xfrm>
              <a:off x="594360" y="895350"/>
              <a:ext cx="4716266"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ราคาที่ไร่นา มกราคม 2568</a:t>
              </a:r>
            </a:p>
          </p:txBody>
        </p:sp>
        <p:sp>
          <p:nvSpPr>
            <p:cNvPr id="5" name="Line 5"/>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528762"/>
              <a:ext cx="7034879"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กลิ่นหอมมีค่าประมาณ 5,823 บาทต่อตันข้าวเปลือกที่ปากนา</a:t>
              </a:r>
            </a:p>
          </p:txBody>
        </p:sp>
      </p:grpSp>
      <p:grpSp>
        <p:nvGrpSpPr>
          <p:cNvPr id="13" name="price-white-paddy"/>
          <p:cNvGrpSpPr/>
          <p:nvPr/>
        </p:nvGrpSpPr>
        <p:grpSpPr>
          <a:xfrm>
            <a:off x="590550" y="2381250"/>
            <a:ext cx="4400550" cy="2196084"/>
            <a:chOff x="590550" y="2381250"/>
            <a:chExt cx="4400550" cy="2196084"/>
          </a:xfrm>
        </p:grpSpPr>
        <p:sp>
          <p:nvSpPr>
            <p:cNvPr id="8" name="Rectangle 8"/>
            <p:cNvSpPr/>
            <p:nvPr/>
          </p:nvSpPr>
          <p:spPr>
            <a:xfrm>
              <a:off x="609600" y="2381250"/>
              <a:ext cx="4381500" cy="38100"/>
            </a:xfrm>
            <a:prstGeom prst="rect">
              <a:avLst/>
            </a:prstGeom>
            <a:solidFill>
              <a:schemeClr val="accent6"/>
            </a:solidFill>
            <a:ln>
              <a:noFill/>
            </a:ln>
          </p:spPr>
        </p:sp>
        <p:sp>
          <p:nvSpPr>
            <p:cNvPr id="9" name="TextBox 9"/>
            <p:cNvSpPr txBox="1"/>
            <p:nvPr/>
          </p:nvSpPr>
          <p:spPr>
            <a:xfrm>
              <a:off x="600456" y="2644140"/>
              <a:ext cx="1557600" cy="352044"/>
            </a:xfrm>
            <a:prstGeom prst="rect">
              <a:avLst/>
            </a:prstGeom>
            <a:noFill/>
            <a:ln>
              <a:noFill/>
            </a:ln>
          </p:spPr>
          <p:txBody>
            <a:bodyPr wrap="none" lIns="0" tIns="0" rIns="0" bIns="0" anchor="t" anchorCtr="0">
              <a:spAutoFit/>
            </a:bodyPr>
            <a:lstStyle/>
            <a:p>
              <a:pPr algn="l"/>
              <a:r>
                <a:rPr lang="th-TH" sz="1800" b="1" dirty="0">
                  <a:solidFill>
                    <a:schemeClr val="accent5"/>
                  </a:solidFill>
                  <a:latin typeface="+mn-lt"/>
                  <a:ea typeface="+mn-ea"/>
                  <a:cs typeface="+mn-cs"/>
                </a:rPr>
                <a:t>ข้าวเปลือกเจ้า</a:t>
              </a:r>
            </a:p>
          </p:txBody>
        </p:sp>
        <p:sp>
          <p:nvSpPr>
            <p:cNvPr id="10" name="TextBox 10"/>
            <p:cNvSpPr txBox="1"/>
            <p:nvPr/>
          </p:nvSpPr>
          <p:spPr>
            <a:xfrm>
              <a:off x="590550" y="3040380"/>
              <a:ext cx="2603621" cy="1276350"/>
            </a:xfrm>
            <a:prstGeom prst="rect">
              <a:avLst/>
            </a:prstGeom>
            <a:noFill/>
            <a:ln>
              <a:noFill/>
            </a:ln>
          </p:spPr>
          <p:txBody>
            <a:bodyPr wrap="none" lIns="0" tIns="0" rIns="0" bIns="0" anchor="t" anchorCtr="0">
              <a:spAutoFit/>
            </a:bodyPr>
            <a:lstStyle/>
            <a:p>
              <a:pPr algn="l"/>
              <a:r>
                <a:rPr lang="th-TH" sz="6600" b="1" dirty="0">
                  <a:solidFill>
                    <a:schemeClr val="accent5"/>
                  </a:solidFill>
                  <a:latin typeface="+mn-lt"/>
                  <a:ea typeface="+mn-ea"/>
                  <a:cs typeface="+mn-cs"/>
                </a:rPr>
                <a:t>9,180</a:t>
              </a:r>
            </a:p>
          </p:txBody>
        </p:sp>
        <p:sp>
          <p:nvSpPr>
            <p:cNvPr id="11" name="TextBox 11"/>
            <p:cNvSpPr txBox="1"/>
            <p:nvPr/>
          </p:nvSpPr>
          <p:spPr>
            <a:xfrm>
              <a:off x="600456" y="3901440"/>
              <a:ext cx="951205"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บาทต่อตัน</a:t>
              </a:r>
            </a:p>
          </p:txBody>
        </p:sp>
        <p:sp>
          <p:nvSpPr>
            <p:cNvPr id="12" name="TextBox 12"/>
            <p:cNvSpPr txBox="1"/>
            <p:nvPr/>
          </p:nvSpPr>
          <p:spPr>
            <a:xfrm>
              <a:off x="600456" y="4225290"/>
              <a:ext cx="2356637" cy="352044"/>
            </a:xfrm>
            <a:prstGeom prst="rect">
              <a:avLst/>
            </a:prstGeom>
            <a:noFill/>
            <a:ln>
              <a:noFill/>
            </a:ln>
          </p:spPr>
          <p:txBody>
            <a:bodyPr wrap="none" lIns="0" tIns="0" rIns="0" bIns="0" anchor="t" anchorCtr="0">
              <a:spAutoFit/>
            </a:bodyPr>
            <a:lstStyle/>
            <a:p>
              <a:pPr algn="l"/>
              <a:r>
                <a:rPr lang="th-TH" sz="1800" dirty="0">
                  <a:solidFill>
                    <a:schemeClr val="accent5"/>
                  </a:solidFill>
                  <a:latin typeface="+mn-lt"/>
                  <a:ea typeface="+mn-ea"/>
                  <a:cs typeface="+mn-cs"/>
                </a:rPr>
                <a:t>269 ดอลลาร์สหรัฐต่อตัน</a:t>
              </a:r>
            </a:p>
          </p:txBody>
        </p:sp>
      </p:grpSp>
      <p:grpSp>
        <p:nvGrpSpPr>
          <p:cNvPr id="18" name="price-gap"/>
          <p:cNvGrpSpPr/>
          <p:nvPr/>
        </p:nvGrpSpPr>
        <p:grpSpPr>
          <a:xfrm>
            <a:off x="5295900" y="2644140"/>
            <a:ext cx="1600200" cy="1933194"/>
            <a:chOff x="5295900" y="2644140"/>
            <a:chExt cx="1600200" cy="1933194"/>
          </a:xfrm>
        </p:grpSpPr>
        <p:sp>
          <p:nvSpPr>
            <p:cNvPr id="14" name="Freeform 14"/>
            <p:cNvSpPr/>
            <p:nvPr/>
          </p:nvSpPr>
          <p:spPr>
            <a:xfrm>
              <a:off x="5295900" y="3105150"/>
              <a:ext cx="1600200" cy="723900"/>
            </a:xfrm>
            <a:prstGeom prst="rightArrow">
              <a:avLst/>
            </a:prstGeom>
            <a:solidFill>
              <a:schemeClr val="accent2"/>
            </a:solidFill>
            <a:ln>
              <a:noFill/>
            </a:ln>
          </p:spPr>
        </p:sp>
        <p:sp>
          <p:nvSpPr>
            <p:cNvPr id="15" name="TextBox 15"/>
            <p:cNvSpPr txBox="1"/>
            <p:nvPr/>
          </p:nvSpPr>
          <p:spPr>
            <a:xfrm>
              <a:off x="5667044" y="2644140"/>
              <a:ext cx="857913" cy="352044"/>
            </a:xfrm>
            <a:prstGeom prst="rect">
              <a:avLst/>
            </a:prstGeom>
            <a:noFill/>
            <a:ln>
              <a:noFill/>
            </a:ln>
          </p:spPr>
          <p:txBody>
            <a:bodyPr wrap="none" lIns="0" tIns="0" rIns="0" bIns="0" anchor="t" anchorCtr="0">
              <a:spAutoFit/>
            </a:bodyPr>
            <a:lstStyle/>
            <a:p>
              <a:pPr algn="ctr"/>
              <a:r>
                <a:rPr lang="th-TH" sz="1800" b="1" dirty="0">
                  <a:solidFill>
                    <a:schemeClr val="accent3"/>
                  </a:solidFill>
                  <a:latin typeface="+mn-lt"/>
                  <a:ea typeface="+mn-ea"/>
                  <a:cs typeface="+mn-cs"/>
                </a:rPr>
                <a:t>ส่วนต่าง</a:t>
              </a:r>
            </a:p>
          </p:txBody>
        </p:sp>
        <p:sp>
          <p:nvSpPr>
            <p:cNvPr id="16" name="TextBox 16"/>
            <p:cNvSpPr txBox="1"/>
            <p:nvPr/>
          </p:nvSpPr>
          <p:spPr>
            <a:xfrm>
              <a:off x="5559804" y="3852862"/>
              <a:ext cx="1072391" cy="440055"/>
            </a:xfrm>
            <a:prstGeom prst="rect">
              <a:avLst/>
            </a:prstGeom>
            <a:noFill/>
            <a:ln>
              <a:noFill/>
            </a:ln>
          </p:spPr>
          <p:txBody>
            <a:bodyPr wrap="none" lIns="0" tIns="0" rIns="0" bIns="0" anchor="t" anchorCtr="0">
              <a:spAutoFit/>
            </a:bodyPr>
            <a:lstStyle/>
            <a:p>
              <a:pPr algn="ctr"/>
              <a:r>
                <a:rPr lang="th-TH" sz="2250" b="1" dirty="0">
                  <a:solidFill>
                    <a:schemeClr val="accent3"/>
                  </a:solidFill>
                  <a:latin typeface="+mn-lt"/>
                  <a:ea typeface="+mn-ea"/>
                  <a:cs typeface="+mn-cs"/>
                </a:rPr>
                <a:t>+5,823</a:t>
              </a:r>
            </a:p>
          </p:txBody>
        </p:sp>
        <p:sp>
          <p:nvSpPr>
            <p:cNvPr id="17" name="TextBox 17"/>
            <p:cNvSpPr txBox="1"/>
            <p:nvPr/>
          </p:nvSpPr>
          <p:spPr>
            <a:xfrm>
              <a:off x="5584050" y="4225290"/>
              <a:ext cx="1023899" cy="352044"/>
            </a:xfrm>
            <a:prstGeom prst="rect">
              <a:avLst/>
            </a:prstGeom>
            <a:noFill/>
            <a:ln>
              <a:noFill/>
            </a:ln>
          </p:spPr>
          <p:txBody>
            <a:bodyPr wrap="none" lIns="0" tIns="0" rIns="0" bIns="0" anchor="t" anchorCtr="0">
              <a:spAutoFit/>
            </a:bodyPr>
            <a:lstStyle/>
            <a:p>
              <a:pPr algn="ctr"/>
              <a:r>
                <a:rPr lang="th-TH" sz="1800" dirty="0">
                  <a:solidFill>
                    <a:schemeClr val="accent3"/>
                  </a:solidFill>
                  <a:latin typeface="+mn-lt"/>
                  <a:ea typeface="+mn-ea"/>
                  <a:cs typeface="+mn-cs"/>
                </a:rPr>
                <a:t>ร้อยละ 63</a:t>
              </a:r>
            </a:p>
          </p:txBody>
        </p:sp>
      </p:grpSp>
      <p:grpSp>
        <p:nvGrpSpPr>
          <p:cNvPr id="24" name="price-hom-mali-paddy"/>
          <p:cNvGrpSpPr/>
          <p:nvPr/>
        </p:nvGrpSpPr>
        <p:grpSpPr>
          <a:xfrm>
            <a:off x="7181850" y="2381250"/>
            <a:ext cx="4400550" cy="2196084"/>
            <a:chOff x="7181850" y="2381250"/>
            <a:chExt cx="4400550" cy="2196084"/>
          </a:xfrm>
        </p:grpSpPr>
        <p:sp>
          <p:nvSpPr>
            <p:cNvPr id="19" name="Rectangle 19"/>
            <p:cNvSpPr/>
            <p:nvPr/>
          </p:nvSpPr>
          <p:spPr>
            <a:xfrm>
              <a:off x="7200900" y="2381250"/>
              <a:ext cx="4381500" cy="38100"/>
            </a:xfrm>
            <a:prstGeom prst="rect">
              <a:avLst/>
            </a:prstGeom>
            <a:solidFill>
              <a:schemeClr val="accent2"/>
            </a:solidFill>
            <a:ln>
              <a:noFill/>
            </a:ln>
          </p:spPr>
        </p:sp>
        <p:sp>
          <p:nvSpPr>
            <p:cNvPr id="20" name="TextBox 20"/>
            <p:cNvSpPr txBox="1"/>
            <p:nvPr/>
          </p:nvSpPr>
          <p:spPr>
            <a:xfrm>
              <a:off x="7191756" y="2644140"/>
              <a:ext cx="1977413" cy="352044"/>
            </a:xfrm>
            <a:prstGeom prst="rect">
              <a:avLst/>
            </a:prstGeom>
            <a:noFill/>
            <a:ln>
              <a:noFill/>
            </a:ln>
          </p:spPr>
          <p:txBody>
            <a:bodyPr wrap="none" lIns="0" tIns="0" rIns="0" bIns="0" anchor="t" anchorCtr="0">
              <a:spAutoFit/>
            </a:bodyPr>
            <a:lstStyle/>
            <a:p>
              <a:pPr algn="l"/>
              <a:r>
                <a:rPr lang="th-TH" sz="1800" b="1" dirty="0">
                  <a:solidFill>
                    <a:schemeClr val="accent1"/>
                  </a:solidFill>
                  <a:latin typeface="+mn-lt"/>
                  <a:ea typeface="+mn-ea"/>
                  <a:cs typeface="+mn-cs"/>
                </a:rPr>
                <a:t>ข้าวเปลือกหอมมะลิ</a:t>
              </a:r>
            </a:p>
          </p:txBody>
        </p:sp>
        <p:sp>
          <p:nvSpPr>
            <p:cNvPr id="21" name="TextBox 21"/>
            <p:cNvSpPr txBox="1"/>
            <p:nvPr/>
          </p:nvSpPr>
          <p:spPr>
            <a:xfrm>
              <a:off x="7181850" y="3040380"/>
              <a:ext cx="3116725"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15,003</a:t>
              </a:r>
            </a:p>
          </p:txBody>
        </p:sp>
        <p:sp>
          <p:nvSpPr>
            <p:cNvPr id="22" name="TextBox 22"/>
            <p:cNvSpPr txBox="1"/>
            <p:nvPr/>
          </p:nvSpPr>
          <p:spPr>
            <a:xfrm>
              <a:off x="7191756" y="3901440"/>
              <a:ext cx="951205"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บาทต่อตัน</a:t>
              </a:r>
            </a:p>
          </p:txBody>
        </p:sp>
        <p:sp>
          <p:nvSpPr>
            <p:cNvPr id="23" name="TextBox 23"/>
            <p:cNvSpPr txBox="1"/>
            <p:nvPr/>
          </p:nvSpPr>
          <p:spPr>
            <a:xfrm>
              <a:off x="7191756" y="4225290"/>
              <a:ext cx="2356637" cy="352044"/>
            </a:xfrm>
            <a:prstGeom prst="rect">
              <a:avLst/>
            </a:prstGeom>
            <a:noFill/>
            <a:ln>
              <a:noFill/>
            </a:ln>
          </p:spPr>
          <p:txBody>
            <a:bodyPr wrap="none" lIns="0" tIns="0" rIns="0" bIns="0" anchor="t" anchorCtr="0">
              <a:spAutoFit/>
            </a:bodyPr>
            <a:lstStyle/>
            <a:p>
              <a:pPr algn="l"/>
              <a:r>
                <a:rPr lang="th-TH" sz="1800" dirty="0">
                  <a:solidFill>
                    <a:schemeClr val="accent5"/>
                  </a:solidFill>
                  <a:latin typeface="+mn-lt"/>
                  <a:ea typeface="+mn-ea"/>
                  <a:cs typeface="+mn-cs"/>
                </a:rPr>
                <a:t>440 ดอลลาร์สหรัฐต่อตัน</a:t>
              </a:r>
            </a:p>
          </p:txBody>
        </p:sp>
      </p:grpSp>
      <p:grpSp>
        <p:nvGrpSpPr>
          <p:cNvPr id="27" name="scope-note"/>
          <p:cNvGrpSpPr/>
          <p:nvPr/>
        </p:nvGrpSpPr>
        <p:grpSpPr>
          <a:xfrm>
            <a:off x="609600" y="5143500"/>
            <a:ext cx="8993124" cy="767334"/>
            <a:chOff x="609600" y="5143500"/>
            <a:chExt cx="8993124" cy="767334"/>
          </a:xfrm>
        </p:grpSpPr>
        <p:sp>
          <p:nvSpPr>
            <p:cNvPr id="25" name="Rectangle 25"/>
            <p:cNvSpPr/>
            <p:nvPr/>
          </p:nvSpPr>
          <p:spPr>
            <a:xfrm>
              <a:off x="609600" y="5143500"/>
              <a:ext cx="57150" cy="647700"/>
            </a:xfrm>
            <a:prstGeom prst="rect">
              <a:avLst/>
            </a:prstGeom>
            <a:solidFill>
              <a:schemeClr val="accent3"/>
            </a:solidFill>
            <a:ln>
              <a:noFill/>
            </a:ln>
          </p:spPr>
        </p:sp>
        <p:sp>
          <p:nvSpPr>
            <p:cNvPr id="26" name="TextBox 26"/>
            <p:cNvSpPr txBox="1"/>
            <p:nvPr/>
          </p:nvSpPr>
          <p:spPr>
            <a:xfrm>
              <a:off x="829056" y="5234940"/>
              <a:ext cx="877366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accent5"/>
                  </a:solidFill>
                  <a:latin typeface="+mn-lt"/>
                  <a:ea typeface="+mn-ea"/>
                  <a:cs typeface="+mn-cs"/>
                </a:rPr>
                <a:t>บรรทัดขอบเขต เป็นราคาข้าวเปลือกที่ไร่นาเฉลี่ยเดือนมกราคม 2568 ไม่ใช่ราคาข้าวสารส่งออก</a:t>
              </a:r>
              <a:br/>
              <a:r>
                <a:rPr lang="th-TH" sz="1800" dirty="0">
                  <a:solidFill>
                    <a:schemeClr val="accent5"/>
                  </a:solidFill>
                  <a:latin typeface="+mn-lt"/>
                  <a:ea typeface="+mn-ea"/>
                  <a:cs typeface="+mn-cs"/>
                </a:rPr>
                <a:t>ส่วนต่างและร้อยละคำนวณจากการลบสองค่าในแหล่งเดียวกัน (เรียบเรียง)</a:t>
              </a:r>
            </a:p>
          </p:txBody>
        </p:sp>
      </p:grpSp>
      <p:grpSp>
        <p:nvGrpSpPr>
          <p:cNvPr id="30" name="page-footer"/>
          <p:cNvGrpSpPr/>
          <p:nvPr/>
        </p:nvGrpSpPr>
        <p:grpSpPr>
          <a:xfrm>
            <a:off x="603504" y="6423660"/>
            <a:ext cx="10984992" cy="234696"/>
            <a:chOff x="603504" y="6423660"/>
            <a:chExt cx="10984992" cy="234696"/>
          </a:xfrm>
        </p:grpSpPr>
        <p:sp>
          <p:nvSpPr>
            <p:cNvPr id="28" name="TextBox 28"/>
            <p:cNvSpPr txBox="1"/>
            <p:nvPr/>
          </p:nvSpPr>
          <p:spPr>
            <a:xfrm>
              <a:off x="603504" y="6423660"/>
              <a:ext cx="7881040"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Grain and Feed Annual, Thailand TH2025-0011, USDA Foreign Agricultural Service (มกราคม 2568)</a:t>
              </a:r>
            </a:p>
          </p:txBody>
        </p:sp>
        <p:sp>
          <p:nvSpPr>
            <p:cNvPr id="29" name="TextBox 2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par>
                          <p:cTn id="12" fill="hold">
                            <p:stCondLst>
                              <p:cond delay="1150"/>
                            </p:stCondLst>
                            <p:childTnLst>
                              <p:par>
                                <p:cTn xmlns:p="http://schemas.openxmlformats.org/presentationml/2006/main" id="13" presetID="22" presetClass="entr" presetSubtype="2" fill="hold" grpId="0" nodeType="afterEffect">
                                  <p:stCondLst>
                                    <p:cond delay="200"/>
                                  </p:stCondLst>
                                  <p:childTnLst>
                                    <p:set>
                                      <p:cBhvr>
                                        <p:cTn id="14" dur="1" fill="hold">
                                          <p:stCondLst>
                                            <p:cond delay="0"/>
                                          </p:stCondLst>
                                        </p:cTn>
                                        <p:tgtEl>
                                          <p:spTgt spid="18"/>
                                        </p:tgtEl>
                                        <p:attrNameLst>
                                          <p:attrName>style.visibility</p:attrName>
                                        </p:attrNameLst>
                                      </p:cBhvr>
                                      <p:to>
                                        <p:strVal val="visible"/>
                                      </p:to>
                                    </p:set>
                                    <p:animEffect transition="in" filter="wipe(right)">
                                      <p:cBhvr>
                                        <p:cTn id="15" dur="600"/>
                                        <p:tgtEl>
                                          <p:spTgt spid="18"/>
                                        </p:tgtEl>
                                      </p:cBhvr>
                                    </p:animEffect>
                                  </p:childTnLst>
                                </p:cTn>
                              </p:par>
                            </p:childTnLst>
                          </p:cTn>
                        </p:par>
                        <p:par>
                          <p:cTn id="16" fill="hold">
                            <p:stCondLst>
                              <p:cond delay="195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3" name="TextBox 3"/>
            <p:cNvSpPr txBox="1"/>
            <p:nvPr/>
          </p:nvSpPr>
          <p:spPr>
            <a:xfrm>
              <a:off x="594360" y="895350"/>
              <a:ext cx="4928292"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ตัวเลขที่คาดไว้สำหรับปีถัดไป</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9866948"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ผลผลิตคาดว่าจะเพิ่มเล็กน้อย แต่การส่งออกคาดว่าจะทรงตัวหรือลดลงจากปี 2567</a:t>
              </a:r>
            </a:p>
          </p:txBody>
        </p:sp>
      </p:grpSp>
      <p:grpSp>
        <p:nvGrpSpPr>
          <p:cNvPr id="18" name="panel-production"/>
          <p:cNvGrpSpPr/>
          <p:nvPr/>
        </p:nvGrpSpPr>
        <p:grpSpPr>
          <a:xfrm>
            <a:off x="609600" y="2000250"/>
            <a:ext cx="5334000" cy="3238500"/>
            <a:chOff x="609600" y="2000250"/>
            <a:chExt cx="5334000" cy="3238500"/>
          </a:xfrm>
        </p:grpSpPr>
        <p:sp>
          <p:nvSpPr>
            <p:cNvPr id="7" name="Rectangle 7"/>
            <p:cNvSpPr/>
            <p:nvPr/>
          </p:nvSpPr>
          <p:spPr>
            <a:xfrm>
              <a:off x="609600" y="2000250"/>
              <a:ext cx="5334000" cy="3238500"/>
            </a:xfrm>
            <a:prstGeom prst="rect">
              <a:avLst/>
            </a:prstGeom>
            <a:noFill/>
            <a:ln w="19050">
              <a:solidFill>
                <a:schemeClr val="accent6"/>
              </a:solidFill>
            </a:ln>
          </p:spPr>
        </p:sp>
        <p:sp>
          <p:nvSpPr>
            <p:cNvPr id="8" name="Rectangle 8"/>
            <p:cNvSpPr/>
            <p:nvPr/>
          </p:nvSpPr>
          <p:spPr>
            <a:xfrm>
              <a:off x="609600" y="2000250"/>
              <a:ext cx="5334000" cy="457200"/>
            </a:xfrm>
            <a:prstGeom prst="rect">
              <a:avLst/>
            </a:prstGeom>
            <a:solidFill>
              <a:schemeClr val="accent1"/>
            </a:solidFill>
            <a:ln>
              <a:noFill/>
            </a:ln>
          </p:spPr>
        </p:sp>
        <p:sp>
          <p:nvSpPr>
            <p:cNvPr id="9" name="Freeform 9"/>
            <p:cNvSpPr/>
            <p:nvPr/>
          </p:nvSpPr>
          <p:spPr>
            <a:xfrm>
              <a:off x="852488" y="2128838"/>
              <a:ext cx="200025" cy="200025"/>
            </a:xfrm>
            <a:custGeom>
              <a:avLst/>
              <a:gdLst/>
              <a:ahLst/>
              <a:cxnLst/>
              <a:rect l="l" t="t" r="r" b="b"/>
              <a:pathLst>
                <a:path w="200025" h="200025">
                  <a:moveTo>
                    <a:pt x="200025" y="28575"/>
                  </a:moveTo>
                  <a:cubicBezTo>
                    <a:pt x="200025" y="65938"/>
                    <a:pt x="176122" y="97718"/>
                    <a:pt x="142774" y="109458"/>
                  </a:cubicBezTo>
                  <a:cubicBezTo>
                    <a:pt x="133865" y="112594"/>
                    <a:pt x="124282" y="114300"/>
                    <a:pt x="114300" y="114300"/>
                  </a:cubicBezTo>
                  <a:lnTo>
                    <a:pt x="114300" y="171450"/>
                  </a:lnTo>
                  <a:lnTo>
                    <a:pt x="171450" y="171450"/>
                  </a:lnTo>
                  <a:lnTo>
                    <a:pt x="171450" y="200025"/>
                  </a:lnTo>
                  <a:lnTo>
                    <a:pt x="28575" y="200025"/>
                  </a:lnTo>
                  <a:lnTo>
                    <a:pt x="28575" y="171450"/>
                  </a:lnTo>
                  <a:lnTo>
                    <a:pt x="85725" y="171450"/>
                  </a:lnTo>
                  <a:lnTo>
                    <a:pt x="85725" y="142875"/>
                  </a:lnTo>
                  <a:cubicBezTo>
                    <a:pt x="38380" y="142875"/>
                    <a:pt x="0" y="104495"/>
                    <a:pt x="0" y="57150"/>
                  </a:cubicBezTo>
                  <a:lnTo>
                    <a:pt x="0" y="28575"/>
                  </a:lnTo>
                  <a:lnTo>
                    <a:pt x="28575" y="28575"/>
                  </a:lnTo>
                  <a:cubicBezTo>
                    <a:pt x="53252" y="28575"/>
                    <a:pt x="75493" y="39002"/>
                    <a:pt x="91134" y="55690"/>
                  </a:cubicBezTo>
                  <a:cubicBezTo>
                    <a:pt x="99151" y="64243"/>
                    <a:pt x="105434" y="74442"/>
                    <a:pt x="109422" y="85725"/>
                  </a:cubicBezTo>
                  <a:lnTo>
                    <a:pt x="114300" y="85725"/>
                  </a:lnTo>
                  <a:cubicBezTo>
                    <a:pt x="122694" y="85725"/>
                    <a:pt x="130666" y="83915"/>
                    <a:pt x="137846" y="80665"/>
                  </a:cubicBezTo>
                  <a:cubicBezTo>
                    <a:pt x="131836" y="61118"/>
                    <a:pt x="120726" y="43805"/>
                    <a:pt x="106068" y="30279"/>
                  </a:cubicBezTo>
                  <a:cubicBezTo>
                    <a:pt x="121792" y="11755"/>
                    <a:pt x="145248" y="0"/>
                    <a:pt x="171450" y="0"/>
                  </a:cubicBezTo>
                  <a:lnTo>
                    <a:pt x="200025" y="0"/>
                  </a:lnTo>
                  <a:lnTo>
                    <a:pt x="200025" y="28575"/>
                  </a:lnTo>
                  <a:close/>
                </a:path>
              </a:pathLst>
            </a:custGeom>
            <a:solidFill>
              <a:schemeClr val="accent2"/>
            </a:solidFill>
            <a:ln>
              <a:noFill/>
            </a:ln>
          </p:spPr>
        </p:sp>
        <p:sp>
          <p:nvSpPr>
            <p:cNvPr id="10" name="TextBox 10"/>
            <p:cNvSpPr txBox="1"/>
            <p:nvPr/>
          </p:nvSpPr>
          <p:spPr>
            <a:xfrm>
              <a:off x="1171956" y="2110740"/>
              <a:ext cx="1557600" cy="352044"/>
            </a:xfrm>
            <a:prstGeom prst="rect">
              <a:avLst/>
            </a:prstGeom>
            <a:noFill/>
            <a:ln>
              <a:noFill/>
            </a:ln>
          </p:spPr>
          <p:txBody>
            <a:bodyPr wrap="none" lIns="0" tIns="0" rIns="0" bIns="0" anchor="t" anchorCtr="0">
              <a:spAutoFit/>
            </a:bodyPr>
            <a:lstStyle/>
            <a:p>
              <a:pPr algn="l"/>
              <a:r>
                <a:rPr lang="th-TH" sz="1800" b="1" dirty="0">
                  <a:solidFill>
                    <a:srgbClr val="FBF7EF"/>
                  </a:solidFill>
                  <a:latin typeface="+mn-lt"/>
                  <a:ea typeface="+mn-ea"/>
                  <a:cs typeface="+mn-cs"/>
                </a:rPr>
                <a:t>ผลผลิตข้าวไทย</a:t>
              </a:r>
            </a:p>
          </p:txBody>
        </p:sp>
        <p:sp>
          <p:nvSpPr>
            <p:cNvPr id="11" name="TextBox 11"/>
            <p:cNvSpPr txBox="1"/>
            <p:nvPr/>
          </p:nvSpPr>
          <p:spPr>
            <a:xfrm>
              <a:off x="831342" y="2711768"/>
              <a:ext cx="272159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ปีการตลาด 2567/68 (ประมาณการ)</a:t>
              </a:r>
            </a:p>
          </p:txBody>
        </p:sp>
        <p:sp>
          <p:nvSpPr>
            <p:cNvPr id="12" name="TextBox 12"/>
            <p:cNvSpPr txBox="1"/>
            <p:nvPr/>
          </p:nvSpPr>
          <p:spPr>
            <a:xfrm>
              <a:off x="826770" y="2957512"/>
              <a:ext cx="1692569" cy="440055"/>
            </a:xfrm>
            <a:prstGeom prst="rect">
              <a:avLst/>
            </a:prstGeom>
            <a:noFill/>
            <a:ln>
              <a:noFill/>
            </a:ln>
          </p:spPr>
          <p:txBody>
            <a:bodyPr wrap="none" lIns="0" tIns="0" rIns="0" bIns="0" anchor="t" anchorCtr="0">
              <a:spAutoFit/>
            </a:bodyPr>
            <a:lstStyle/>
            <a:p>
              <a:pPr algn="l"/>
              <a:r>
                <a:rPr lang="th-TH" sz="2250" b="1" dirty="0">
                  <a:solidFill>
                    <a:schemeClr val="dk1"/>
                  </a:solidFill>
                  <a:latin typeface="+mn-lt"/>
                  <a:ea typeface="+mn-ea"/>
                  <a:cs typeface="+mn-cs"/>
                </a:rPr>
                <a:t>20.5 ล้านตัน</a:t>
              </a:r>
            </a:p>
          </p:txBody>
        </p:sp>
        <p:sp>
          <p:nvSpPr>
            <p:cNvPr id="13" name="TextBox 13"/>
            <p:cNvSpPr txBox="1"/>
            <p:nvPr/>
          </p:nvSpPr>
          <p:spPr>
            <a:xfrm>
              <a:off x="831342" y="3530918"/>
              <a:ext cx="3518154"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ปีการตลาด 2568/69 (คาดการณ์ USDA FAS)</a:t>
              </a:r>
            </a:p>
          </p:txBody>
        </p:sp>
        <p:sp>
          <p:nvSpPr>
            <p:cNvPr id="14" name="TextBox 14"/>
            <p:cNvSpPr txBox="1"/>
            <p:nvPr/>
          </p:nvSpPr>
          <p:spPr>
            <a:xfrm>
              <a:off x="826770" y="3776662"/>
              <a:ext cx="1692569"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20.7 ล้านตัน</a:t>
              </a:r>
            </a:p>
          </p:txBody>
        </p:sp>
        <p:sp>
          <p:nvSpPr>
            <p:cNvPr id="15" name="Line 15"/>
            <p:cNvSpPr/>
            <p:nvPr/>
          </p:nvSpPr>
          <p:spPr>
            <a:xfrm>
              <a:off x="838200" y="4305300"/>
              <a:ext cx="4876800" cy="9525"/>
            </a:xfrm>
            <a:custGeom>
              <a:avLst/>
              <a:gdLst/>
              <a:ahLst/>
              <a:cxnLst/>
              <a:rect l="l" t="t" r="r" b="b"/>
              <a:pathLst>
                <a:path w="4876800" h="9525">
                  <a:moveTo>
                    <a:pt x="0" y="0"/>
                  </a:moveTo>
                  <a:lnTo>
                    <a:pt x="4876800" y="0"/>
                  </a:lnTo>
                </a:path>
              </a:pathLst>
            </a:custGeom>
            <a:noFill/>
            <a:ln w="9525">
              <a:solidFill>
                <a:schemeClr val="accent6"/>
              </a:solidFill>
            </a:ln>
          </p:spPr>
        </p:sp>
        <p:sp>
          <p:nvSpPr>
            <p:cNvPr id="16" name="TextBox 16"/>
            <p:cNvSpPr txBox="1"/>
            <p:nvPr/>
          </p:nvSpPr>
          <p:spPr>
            <a:xfrm>
              <a:off x="831342" y="4426268"/>
              <a:ext cx="3730238"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เนื้อที่ปลูกนาปี 8.94 และนาปรัง 2.05 ล้านเฮกตาร์</a:t>
              </a:r>
            </a:p>
          </p:txBody>
        </p:sp>
        <p:sp>
          <p:nvSpPr>
            <p:cNvPr id="17" name="TextBox 17"/>
            <p:cNvSpPr txBox="1"/>
            <p:nvPr/>
          </p:nvSpPr>
          <p:spPr>
            <a:xfrm>
              <a:off x="831342" y="4731068"/>
              <a:ext cx="3521240"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นาปรังปีการตลาด 2568/69 สูงสุดในรอบหลายปี</a:t>
              </a:r>
            </a:p>
          </p:txBody>
        </p:sp>
      </p:grpSp>
      <p:grpSp>
        <p:nvGrpSpPr>
          <p:cNvPr id="31" name="panel-exports"/>
          <p:cNvGrpSpPr/>
          <p:nvPr/>
        </p:nvGrpSpPr>
        <p:grpSpPr>
          <a:xfrm>
            <a:off x="6248400" y="2000250"/>
            <a:ext cx="5334000" cy="3238500"/>
            <a:chOff x="6248400" y="2000250"/>
            <a:chExt cx="5334000" cy="3238500"/>
          </a:xfrm>
        </p:grpSpPr>
        <p:sp>
          <p:nvSpPr>
            <p:cNvPr id="19" name="Rectangle 19"/>
            <p:cNvSpPr/>
            <p:nvPr/>
          </p:nvSpPr>
          <p:spPr>
            <a:xfrm>
              <a:off x="6248400" y="2000250"/>
              <a:ext cx="5334000" cy="3238500"/>
            </a:xfrm>
            <a:prstGeom prst="rect">
              <a:avLst/>
            </a:prstGeom>
            <a:noFill/>
            <a:ln w="19050">
              <a:solidFill>
                <a:schemeClr val="accent6"/>
              </a:solidFill>
            </a:ln>
          </p:spPr>
        </p:sp>
        <p:sp>
          <p:nvSpPr>
            <p:cNvPr id="20" name="Rectangle 20"/>
            <p:cNvSpPr/>
            <p:nvPr/>
          </p:nvSpPr>
          <p:spPr>
            <a:xfrm>
              <a:off x="6248400" y="2000250"/>
              <a:ext cx="5334000" cy="457200"/>
            </a:xfrm>
            <a:prstGeom prst="rect">
              <a:avLst/>
            </a:prstGeom>
            <a:solidFill>
              <a:schemeClr val="accent3"/>
            </a:solidFill>
            <a:ln>
              <a:noFill/>
            </a:ln>
          </p:spPr>
        </p:sp>
        <p:grpSp>
          <p:nvGrpSpPr>
            <p:cNvPr id="23" name="Group 23"/>
            <p:cNvGrpSpPr/>
            <p:nvPr/>
          </p:nvGrpSpPr>
          <p:grpSpPr>
            <a:xfrm>
              <a:off x="6491288" y="2128838"/>
              <a:ext cx="200025" cy="201125"/>
              <a:chOff x="6491288" y="2128838"/>
              <a:chExt cx="200025" cy="201125"/>
            </a:xfrm>
          </p:grpSpPr>
          <p:sp>
            <p:nvSpPr>
              <p:cNvPr id="21" name="Freeform 21"/>
              <p:cNvSpPr/>
              <p:nvPr/>
            </p:nvSpPr>
            <p:spPr>
              <a:xfrm>
                <a:off x="6548438" y="2128838"/>
                <a:ext cx="85725" cy="41317"/>
              </a:xfrm>
              <a:custGeom>
                <a:avLst/>
                <a:gdLst/>
                <a:ahLst/>
                <a:cxnLst/>
                <a:rect l="l" t="t" r="r" b="b"/>
                <a:pathLst>
                  <a:path w="85725" h="41317">
                    <a:moveTo>
                      <a:pt x="85725" y="0"/>
                    </a:moveTo>
                    <a:lnTo>
                      <a:pt x="0" y="0"/>
                    </a:lnTo>
                    <a:lnTo>
                      <a:pt x="0" y="41317"/>
                    </a:lnTo>
                    <a:lnTo>
                      <a:pt x="42862" y="27029"/>
                    </a:lnTo>
                    <a:lnTo>
                      <a:pt x="85725" y="41317"/>
                    </a:lnTo>
                    <a:lnTo>
                      <a:pt x="85725" y="0"/>
                    </a:lnTo>
                    <a:close/>
                  </a:path>
                </a:pathLst>
              </a:custGeom>
              <a:solidFill>
                <a:schemeClr val="accent2"/>
              </a:solidFill>
              <a:ln>
                <a:noFill/>
              </a:ln>
            </p:spPr>
          </p:sp>
          <p:sp>
            <p:nvSpPr>
              <p:cNvPr id="22" name="Freeform 22"/>
              <p:cNvSpPr/>
              <p:nvPr/>
            </p:nvSpPr>
            <p:spPr>
              <a:xfrm>
                <a:off x="6491288" y="2185988"/>
                <a:ext cx="200025" cy="143975"/>
              </a:xfrm>
              <a:custGeom>
                <a:avLst/>
                <a:gdLst/>
                <a:ahLst/>
                <a:cxnLst/>
                <a:rect l="l" t="t" r="r" b="b"/>
                <a:pathLst>
                  <a:path w="200025" h="143975">
                    <a:moveTo>
                      <a:pt x="100012" y="0"/>
                    </a:moveTo>
                    <a:lnTo>
                      <a:pt x="14288" y="28575"/>
                    </a:lnTo>
                    <a:lnTo>
                      <a:pt x="28575" y="114300"/>
                    </a:lnTo>
                    <a:lnTo>
                      <a:pt x="0" y="114300"/>
                    </a:lnTo>
                    <a:lnTo>
                      <a:pt x="0" y="142875"/>
                    </a:lnTo>
                    <a:lnTo>
                      <a:pt x="31326" y="142875"/>
                    </a:lnTo>
                    <a:lnTo>
                      <a:pt x="64294" y="129688"/>
                    </a:lnTo>
                    <a:lnTo>
                      <a:pt x="100012" y="143975"/>
                    </a:lnTo>
                    <a:lnTo>
                      <a:pt x="135731" y="129688"/>
                    </a:lnTo>
                    <a:lnTo>
                      <a:pt x="168698" y="142875"/>
                    </a:lnTo>
                    <a:lnTo>
                      <a:pt x="200025" y="142875"/>
                    </a:lnTo>
                    <a:lnTo>
                      <a:pt x="200025" y="114300"/>
                    </a:lnTo>
                    <a:lnTo>
                      <a:pt x="171450" y="114300"/>
                    </a:lnTo>
                    <a:lnTo>
                      <a:pt x="185738" y="28575"/>
                    </a:lnTo>
                    <a:lnTo>
                      <a:pt x="100012" y="0"/>
                    </a:lnTo>
                    <a:close/>
                  </a:path>
                </a:pathLst>
              </a:custGeom>
              <a:solidFill>
                <a:schemeClr val="accent2"/>
              </a:solidFill>
              <a:ln>
                <a:noFill/>
              </a:ln>
            </p:spPr>
          </p:sp>
        </p:grpSp>
        <p:sp>
          <p:nvSpPr>
            <p:cNvPr id="24" name="TextBox 24"/>
            <p:cNvSpPr txBox="1"/>
            <p:nvPr/>
          </p:nvSpPr>
          <p:spPr>
            <a:xfrm>
              <a:off x="6810756" y="2110740"/>
              <a:ext cx="1977413" cy="352044"/>
            </a:xfrm>
            <a:prstGeom prst="rect">
              <a:avLst/>
            </a:prstGeom>
            <a:noFill/>
            <a:ln>
              <a:noFill/>
            </a:ln>
          </p:spPr>
          <p:txBody>
            <a:bodyPr wrap="none" lIns="0" tIns="0" rIns="0" bIns="0" anchor="t" anchorCtr="0">
              <a:spAutoFit/>
            </a:bodyPr>
            <a:lstStyle/>
            <a:p>
              <a:pPr algn="l"/>
              <a:r>
                <a:rPr lang="th-TH" sz="1800" b="1" dirty="0">
                  <a:solidFill>
                    <a:srgbClr val="FBF7EF"/>
                  </a:solidFill>
                  <a:latin typeface="+mn-lt"/>
                  <a:ea typeface="+mn-ea"/>
                  <a:cs typeface="+mn-cs"/>
                </a:rPr>
                <a:t>การส่งออกข้าวไทย</a:t>
              </a:r>
            </a:p>
          </p:txBody>
        </p:sp>
        <p:sp>
          <p:nvSpPr>
            <p:cNvPr id="25" name="TextBox 25"/>
            <p:cNvSpPr txBox="1"/>
            <p:nvPr/>
          </p:nvSpPr>
          <p:spPr>
            <a:xfrm>
              <a:off x="6470142" y="2711768"/>
              <a:ext cx="122226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 2567 ยอดจริง</a:t>
              </a:r>
            </a:p>
          </p:txBody>
        </p:sp>
        <p:sp>
          <p:nvSpPr>
            <p:cNvPr id="26" name="TextBox 26"/>
            <p:cNvSpPr txBox="1"/>
            <p:nvPr/>
          </p:nvSpPr>
          <p:spPr>
            <a:xfrm>
              <a:off x="6465570" y="2957512"/>
              <a:ext cx="1692569" cy="440055"/>
            </a:xfrm>
            <a:prstGeom prst="rect">
              <a:avLst/>
            </a:prstGeom>
            <a:noFill/>
            <a:ln>
              <a:noFill/>
            </a:ln>
          </p:spPr>
          <p:txBody>
            <a:bodyPr wrap="none" lIns="0" tIns="0" rIns="0" bIns="0" anchor="t" anchorCtr="0">
              <a:spAutoFit/>
            </a:bodyPr>
            <a:lstStyle/>
            <a:p>
              <a:pPr algn="l"/>
              <a:r>
                <a:rPr lang="th-TH" sz="2250" b="1" dirty="0">
                  <a:solidFill>
                    <a:schemeClr val="dk1"/>
                  </a:solidFill>
                  <a:latin typeface="+mn-lt"/>
                  <a:ea typeface="+mn-ea"/>
                  <a:cs typeface="+mn-cs"/>
                </a:rPr>
                <a:t>9.95 ล้านตัน</a:t>
              </a:r>
            </a:p>
          </p:txBody>
        </p:sp>
        <p:sp>
          <p:nvSpPr>
            <p:cNvPr id="27" name="TextBox 27"/>
            <p:cNvSpPr txBox="1"/>
            <p:nvPr/>
          </p:nvSpPr>
          <p:spPr>
            <a:xfrm>
              <a:off x="6470142" y="3530918"/>
              <a:ext cx="3306928"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ปีการตลาด 2568/69 คาดการณ์ USDA FAS</a:t>
              </a:r>
            </a:p>
          </p:txBody>
        </p:sp>
        <p:sp>
          <p:nvSpPr>
            <p:cNvPr id="28" name="TextBox 28"/>
            <p:cNvSpPr txBox="1"/>
            <p:nvPr/>
          </p:nvSpPr>
          <p:spPr>
            <a:xfrm>
              <a:off x="6465570" y="3776662"/>
              <a:ext cx="1517647"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7.6 ล้านตัน</a:t>
              </a:r>
            </a:p>
          </p:txBody>
        </p:sp>
        <p:sp>
          <p:nvSpPr>
            <p:cNvPr id="29" name="TextBox 29"/>
            <p:cNvSpPr txBox="1"/>
            <p:nvPr/>
          </p:nvSpPr>
          <p:spPr>
            <a:xfrm>
              <a:off x="6470142" y="4350068"/>
              <a:ext cx="3075984"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 2568 คาดการณ์ กรมการค้าต่างประเทศ</a:t>
              </a:r>
            </a:p>
          </p:txBody>
        </p:sp>
        <p:sp>
          <p:nvSpPr>
            <p:cNvPr id="30" name="TextBox 30"/>
            <p:cNvSpPr txBox="1"/>
            <p:nvPr/>
          </p:nvSpPr>
          <p:spPr>
            <a:xfrm>
              <a:off x="6465570" y="4595812"/>
              <a:ext cx="1517647"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7.5 ล้านตัน</a:t>
              </a:r>
            </a:p>
          </p:txBody>
        </p:sp>
      </p:grpSp>
      <p:grpSp>
        <p:nvGrpSpPr>
          <p:cNvPr id="34" name="scope-note"/>
          <p:cNvGrpSpPr/>
          <p:nvPr/>
        </p:nvGrpSpPr>
        <p:grpSpPr>
          <a:xfrm>
            <a:off x="609600" y="5429250"/>
            <a:ext cx="7415784" cy="767334"/>
            <a:chOff x="609600" y="5429250"/>
            <a:chExt cx="7415784" cy="767334"/>
          </a:xfrm>
        </p:grpSpPr>
        <p:sp>
          <p:nvSpPr>
            <p:cNvPr id="32" name="Rectangle 32"/>
            <p:cNvSpPr/>
            <p:nvPr/>
          </p:nvSpPr>
          <p:spPr>
            <a:xfrm>
              <a:off x="609600" y="5429250"/>
              <a:ext cx="57150" cy="647700"/>
            </a:xfrm>
            <a:prstGeom prst="rect">
              <a:avLst/>
            </a:prstGeom>
            <a:solidFill>
              <a:schemeClr val="accent3"/>
            </a:solidFill>
            <a:ln>
              <a:noFill/>
            </a:ln>
          </p:spPr>
        </p:sp>
        <p:sp>
          <p:nvSpPr>
            <p:cNvPr id="33" name="TextBox 33"/>
            <p:cNvSpPr txBox="1"/>
            <p:nvPr/>
          </p:nvSpPr>
          <p:spPr>
            <a:xfrm>
              <a:off x="829056" y="5520690"/>
              <a:ext cx="719632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accent5"/>
                  </a:solidFill>
                  <a:latin typeface="+mn-lt"/>
                  <a:ea typeface="+mn-ea"/>
                  <a:cs typeface="+mn-cs"/>
                </a:rPr>
                <a:t>บรรทัดขอบเขต ตัวเลขผลผลิตเป็นปีการตลาด ส่วนตัวเลขส่งออกของกรมการค้า</a:t>
              </a:r>
              <a:br/>
              <a:r>
                <a:rPr lang="th-TH" sz="1800" dirty="0">
                  <a:solidFill>
                    <a:schemeClr val="accent5"/>
                  </a:solidFill>
                  <a:latin typeface="+mn-lt"/>
                  <a:ea typeface="+mn-ea"/>
                  <a:cs typeface="+mn-cs"/>
                </a:rPr>
                <a:t>ต่างประเทศและสมาคมผู้ส่งออกข้าวไทยเป็นปีปฏิทิน</a:t>
              </a:r>
            </a:p>
          </p:txBody>
        </p:sp>
      </p:grpSp>
      <p:grpSp>
        <p:nvGrpSpPr>
          <p:cNvPr id="37" name="page-footer"/>
          <p:cNvGrpSpPr/>
          <p:nvPr/>
        </p:nvGrpSpPr>
        <p:grpSpPr>
          <a:xfrm>
            <a:off x="603504" y="6423660"/>
            <a:ext cx="10984992" cy="234696"/>
            <a:chOff x="603504" y="6423660"/>
            <a:chExt cx="10984992" cy="234696"/>
          </a:xfrm>
        </p:grpSpPr>
        <p:sp>
          <p:nvSpPr>
            <p:cNvPr id="35" name="TextBox 35"/>
            <p:cNvSpPr txBox="1"/>
            <p:nvPr/>
          </p:nvSpPr>
          <p:spPr>
            <a:xfrm>
              <a:off x="603504" y="6423660"/>
              <a:ext cx="9079230"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Grain and Feed Annual TH2025-0011, USDA FAS · กรมประชาสัมพันธ์ อ้างกรมการค้าต่างประเทศและสมาคมผู้ส่งออกข้าวไทย</a:t>
              </a:r>
            </a:p>
          </p:txBody>
        </p:sp>
        <p:sp>
          <p:nvSpPr>
            <p:cNvPr id="36" name="TextBox 36"/>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312414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4 · ความท้าทายและสิ่งที่ต้องรักษา</a:t>
              </a:r>
            </a:p>
          </p:txBody>
        </p:sp>
        <p:sp>
          <p:nvSpPr>
            <p:cNvPr id="3" name="TextBox 3"/>
            <p:cNvSpPr txBox="1"/>
            <p:nvPr/>
          </p:nvSpPr>
          <p:spPr>
            <a:xfrm>
              <a:off x="594360" y="895350"/>
              <a:ext cx="6454883"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รางวัลข้าวที่ดีที่สุดในโลก 2563–2568</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7277195"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ไทยชนะสองปีติดกัน แล้วไม่กลับไปอยู่อันดับหนึ่งอีกในสี่ปีถัดมา</a:t>
              </a:r>
            </a:p>
          </p:txBody>
        </p:sp>
      </p:grpSp>
      <p:sp>
        <p:nvSpPr>
          <p:cNvPr id="7" name="Line 7"/>
          <p:cNvSpPr/>
          <p:nvPr/>
        </p:nvSpPr>
        <p:spPr>
          <a:xfrm>
            <a:off x="609600" y="3048000"/>
            <a:ext cx="10972800" cy="9525"/>
          </a:xfrm>
          <a:custGeom>
            <a:avLst/>
            <a:gdLst/>
            <a:ahLst/>
            <a:cxnLst/>
            <a:rect l="l" t="t" r="r" b="b"/>
            <a:pathLst>
              <a:path w="10972800" h="9525">
                <a:moveTo>
                  <a:pt x="0" y="0"/>
                </a:moveTo>
                <a:lnTo>
                  <a:pt x="10972800" y="0"/>
                </a:lnTo>
              </a:path>
            </a:pathLst>
          </a:custGeom>
          <a:noFill/>
          <a:ln w="28575">
            <a:solidFill>
              <a:schemeClr val="accent6"/>
            </a:solidFill>
          </a:ln>
        </p:spPr>
      </p:sp>
      <p:grpSp>
        <p:nvGrpSpPr>
          <p:cNvPr id="13" name="award-2563-thailand"/>
          <p:cNvGrpSpPr/>
          <p:nvPr/>
        </p:nvGrpSpPr>
        <p:grpSpPr>
          <a:xfrm>
            <a:off x="867432" y="2331720"/>
            <a:ext cx="1313136" cy="1691831"/>
            <a:chOff x="867432" y="2331720"/>
            <a:chExt cx="1313136" cy="1691831"/>
          </a:xfrm>
        </p:grpSpPr>
        <p:sp>
          <p:nvSpPr>
            <p:cNvPr id="8" name="TextBox 8"/>
            <p:cNvSpPr txBox="1"/>
            <p:nvPr/>
          </p:nvSpPr>
          <p:spPr>
            <a:xfrm>
              <a:off x="11386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1"/>
                  </a:solidFill>
                  <a:latin typeface="+mn-lt"/>
                  <a:ea typeface="+mn-ea"/>
                  <a:cs typeface="+mn-cs"/>
                </a:rPr>
                <a:t>2563</a:t>
              </a:r>
            </a:p>
          </p:txBody>
        </p:sp>
        <p:sp>
          <p:nvSpPr>
            <p:cNvPr id="9" name="Ellipse 9"/>
            <p:cNvSpPr/>
            <p:nvPr/>
          </p:nvSpPr>
          <p:spPr>
            <a:xfrm>
              <a:off x="1276350" y="2800350"/>
              <a:ext cx="495300" cy="495300"/>
            </a:xfrm>
            <a:prstGeom prst="ellipse">
              <a:avLst/>
            </a:prstGeom>
            <a:solidFill>
              <a:schemeClr val="accent2"/>
            </a:solidFill>
            <a:ln>
              <a:noFill/>
            </a:ln>
          </p:spPr>
        </p:sp>
        <p:sp>
          <p:nvSpPr>
            <p:cNvPr id="10" name="Freeform 10"/>
            <p:cNvSpPr/>
            <p:nvPr/>
          </p:nvSpPr>
          <p:spPr>
            <a:xfrm>
              <a:off x="1409700" y="2933700"/>
              <a:ext cx="228600" cy="228600"/>
            </a:xfrm>
            <a:custGeom>
              <a:avLst/>
              <a:gdLst/>
              <a:ahLst/>
              <a:cxnLst/>
              <a:rect l="l" t="t" r="r" b="b"/>
              <a:pathLst>
                <a:path w="228600" h="228600">
                  <a:moveTo>
                    <a:pt x="57150" y="0"/>
                  </a:moveTo>
                  <a:lnTo>
                    <a:pt x="171450" y="0"/>
                  </a:lnTo>
                  <a:lnTo>
                    <a:pt x="171450" y="28575"/>
                  </a:lnTo>
                  <a:lnTo>
                    <a:pt x="228600" y="28575"/>
                  </a:lnTo>
                  <a:lnTo>
                    <a:pt x="228600" y="57150"/>
                  </a:lnTo>
                  <a:cubicBezTo>
                    <a:pt x="228600" y="92246"/>
                    <a:pt x="203291" y="121431"/>
                    <a:pt x="169930" y="127450"/>
                  </a:cubicBezTo>
                  <a:cubicBezTo>
                    <a:pt x="165073" y="148071"/>
                    <a:pt x="149047" y="164383"/>
                    <a:pt x="128588" y="169650"/>
                  </a:cubicBezTo>
                  <a:lnTo>
                    <a:pt x="128588" y="200025"/>
                  </a:lnTo>
                  <a:lnTo>
                    <a:pt x="171450" y="200025"/>
                  </a:lnTo>
                  <a:lnTo>
                    <a:pt x="171450" y="228600"/>
                  </a:lnTo>
                  <a:lnTo>
                    <a:pt x="57150" y="228600"/>
                  </a:lnTo>
                  <a:lnTo>
                    <a:pt x="57150" y="200025"/>
                  </a:lnTo>
                  <a:lnTo>
                    <a:pt x="100012" y="200025"/>
                  </a:lnTo>
                  <a:lnTo>
                    <a:pt x="100012" y="169650"/>
                  </a:lnTo>
                  <a:cubicBezTo>
                    <a:pt x="79552" y="164383"/>
                    <a:pt x="63526" y="148071"/>
                    <a:pt x="58670" y="127450"/>
                  </a:cubicBezTo>
                  <a:cubicBezTo>
                    <a:pt x="25308" y="121431"/>
                    <a:pt x="0" y="92246"/>
                    <a:pt x="0" y="57150"/>
                  </a:cubicBezTo>
                  <a:lnTo>
                    <a:pt x="0" y="28575"/>
                  </a:lnTo>
                  <a:lnTo>
                    <a:pt x="57150" y="28575"/>
                  </a:lnTo>
                  <a:lnTo>
                    <a:pt x="57150" y="0"/>
                  </a:lnTo>
                  <a:close/>
                  <a:moveTo>
                    <a:pt x="171450" y="97573"/>
                  </a:moveTo>
                  <a:lnTo>
                    <a:pt x="171450" y="57150"/>
                  </a:lnTo>
                  <a:lnTo>
                    <a:pt x="200025" y="57150"/>
                  </a:lnTo>
                  <a:cubicBezTo>
                    <a:pt x="200025" y="75813"/>
                    <a:pt x="188098" y="91689"/>
                    <a:pt x="171450" y="97573"/>
                  </a:cubicBezTo>
                  <a:close/>
                  <a:moveTo>
                    <a:pt x="57150" y="57150"/>
                  </a:moveTo>
                  <a:lnTo>
                    <a:pt x="28575" y="57150"/>
                  </a:lnTo>
                  <a:cubicBezTo>
                    <a:pt x="28575" y="75813"/>
                    <a:pt x="40502" y="91689"/>
                    <a:pt x="57150" y="97573"/>
                  </a:cubicBezTo>
                  <a:lnTo>
                    <a:pt x="57150" y="57150"/>
                  </a:lnTo>
                  <a:close/>
                </a:path>
              </a:pathLst>
            </a:custGeom>
            <a:solidFill>
              <a:schemeClr val="accent1"/>
            </a:solidFill>
            <a:ln>
              <a:noFill/>
            </a:ln>
          </p:spPr>
        </p:sp>
        <p:sp>
          <p:nvSpPr>
            <p:cNvPr id="11" name="TextBox 11"/>
            <p:cNvSpPr txBox="1"/>
            <p:nvPr/>
          </p:nvSpPr>
          <p:spPr>
            <a:xfrm>
              <a:off x="887423" y="3492818"/>
              <a:ext cx="1273153" cy="264033"/>
            </a:xfrm>
            <a:prstGeom prst="rect">
              <a:avLst/>
            </a:prstGeom>
            <a:noFill/>
            <a:ln>
              <a:noFill/>
            </a:ln>
          </p:spPr>
          <p:txBody>
            <a:bodyPr wrap="none" lIns="0" tIns="0" rIns="0" bIns="0" anchor="t" anchorCtr="0">
              <a:spAutoFit/>
            </a:bodyPr>
            <a:lstStyle/>
            <a:p>
              <a:pPr algn="ctr"/>
              <a:r>
                <a:rPr lang="th-TH" sz="1350" b="1" dirty="0">
                  <a:solidFill>
                    <a:schemeClr val="accent1"/>
                  </a:solidFill>
                  <a:latin typeface="+mn-lt"/>
                  <a:ea typeface="+mn-ea"/>
                  <a:cs typeface="+mn-cs"/>
                </a:rPr>
                <a:t>ข้าวหอมมะลิไทย</a:t>
              </a:r>
            </a:p>
          </p:txBody>
        </p:sp>
        <p:sp>
          <p:nvSpPr>
            <p:cNvPr id="12" name="TextBox 12"/>
            <p:cNvSpPr txBox="1"/>
            <p:nvPr/>
          </p:nvSpPr>
          <p:spPr>
            <a:xfrm>
              <a:off x="867432" y="3759518"/>
              <a:ext cx="1313136"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ปีแรกของสองปีติด</a:t>
              </a:r>
            </a:p>
          </p:txBody>
        </p:sp>
      </p:grpSp>
      <p:grpSp>
        <p:nvGrpSpPr>
          <p:cNvPr id="19" name="award-2564-thailand"/>
          <p:cNvGrpSpPr/>
          <p:nvPr/>
        </p:nvGrpSpPr>
        <p:grpSpPr>
          <a:xfrm>
            <a:off x="2716223" y="2331720"/>
            <a:ext cx="1273153" cy="1691831"/>
            <a:chOff x="2716223" y="2331720"/>
            <a:chExt cx="1273153" cy="1691831"/>
          </a:xfrm>
        </p:grpSpPr>
        <p:sp>
          <p:nvSpPr>
            <p:cNvPr id="14" name="TextBox 14"/>
            <p:cNvSpPr txBox="1"/>
            <p:nvPr/>
          </p:nvSpPr>
          <p:spPr>
            <a:xfrm>
              <a:off x="29674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1"/>
                  </a:solidFill>
                  <a:latin typeface="+mn-lt"/>
                  <a:ea typeface="+mn-ea"/>
                  <a:cs typeface="+mn-cs"/>
                </a:rPr>
                <a:t>2564</a:t>
              </a:r>
            </a:p>
          </p:txBody>
        </p:sp>
        <p:sp>
          <p:nvSpPr>
            <p:cNvPr id="15" name="Ellipse 15"/>
            <p:cNvSpPr/>
            <p:nvPr/>
          </p:nvSpPr>
          <p:spPr>
            <a:xfrm>
              <a:off x="3105150" y="2800350"/>
              <a:ext cx="495300" cy="495300"/>
            </a:xfrm>
            <a:prstGeom prst="ellipse">
              <a:avLst/>
            </a:prstGeom>
            <a:solidFill>
              <a:schemeClr val="accent2"/>
            </a:solidFill>
            <a:ln>
              <a:noFill/>
            </a:ln>
          </p:spPr>
        </p:sp>
        <p:sp>
          <p:nvSpPr>
            <p:cNvPr id="16" name="Freeform 16"/>
            <p:cNvSpPr/>
            <p:nvPr/>
          </p:nvSpPr>
          <p:spPr>
            <a:xfrm>
              <a:off x="3238500" y="2933700"/>
              <a:ext cx="228600" cy="228600"/>
            </a:xfrm>
            <a:custGeom>
              <a:avLst/>
              <a:gdLst/>
              <a:ahLst/>
              <a:cxnLst/>
              <a:rect l="l" t="t" r="r" b="b"/>
              <a:pathLst>
                <a:path w="228600" h="228600">
                  <a:moveTo>
                    <a:pt x="57150" y="0"/>
                  </a:moveTo>
                  <a:lnTo>
                    <a:pt x="171450" y="0"/>
                  </a:lnTo>
                  <a:lnTo>
                    <a:pt x="171450" y="28575"/>
                  </a:lnTo>
                  <a:lnTo>
                    <a:pt x="228600" y="28575"/>
                  </a:lnTo>
                  <a:lnTo>
                    <a:pt x="228600" y="57150"/>
                  </a:lnTo>
                  <a:cubicBezTo>
                    <a:pt x="228600" y="92246"/>
                    <a:pt x="203291" y="121431"/>
                    <a:pt x="169930" y="127450"/>
                  </a:cubicBezTo>
                  <a:cubicBezTo>
                    <a:pt x="165073" y="148071"/>
                    <a:pt x="149047" y="164383"/>
                    <a:pt x="128588" y="169650"/>
                  </a:cubicBezTo>
                  <a:lnTo>
                    <a:pt x="128588" y="200025"/>
                  </a:lnTo>
                  <a:lnTo>
                    <a:pt x="171450" y="200025"/>
                  </a:lnTo>
                  <a:lnTo>
                    <a:pt x="171450" y="228600"/>
                  </a:lnTo>
                  <a:lnTo>
                    <a:pt x="57150" y="228600"/>
                  </a:lnTo>
                  <a:lnTo>
                    <a:pt x="57150" y="200025"/>
                  </a:lnTo>
                  <a:lnTo>
                    <a:pt x="100012" y="200025"/>
                  </a:lnTo>
                  <a:lnTo>
                    <a:pt x="100012" y="169650"/>
                  </a:lnTo>
                  <a:cubicBezTo>
                    <a:pt x="79552" y="164383"/>
                    <a:pt x="63526" y="148071"/>
                    <a:pt x="58670" y="127450"/>
                  </a:cubicBezTo>
                  <a:cubicBezTo>
                    <a:pt x="25308" y="121431"/>
                    <a:pt x="0" y="92246"/>
                    <a:pt x="0" y="57150"/>
                  </a:cubicBezTo>
                  <a:lnTo>
                    <a:pt x="0" y="28575"/>
                  </a:lnTo>
                  <a:lnTo>
                    <a:pt x="57150" y="28575"/>
                  </a:lnTo>
                  <a:lnTo>
                    <a:pt x="57150" y="0"/>
                  </a:lnTo>
                  <a:close/>
                  <a:moveTo>
                    <a:pt x="171450" y="97573"/>
                  </a:moveTo>
                  <a:lnTo>
                    <a:pt x="171450" y="57150"/>
                  </a:lnTo>
                  <a:lnTo>
                    <a:pt x="200025" y="57150"/>
                  </a:lnTo>
                  <a:cubicBezTo>
                    <a:pt x="200025" y="75813"/>
                    <a:pt x="188098" y="91689"/>
                    <a:pt x="171450" y="97573"/>
                  </a:cubicBezTo>
                  <a:close/>
                  <a:moveTo>
                    <a:pt x="57150" y="57150"/>
                  </a:moveTo>
                  <a:lnTo>
                    <a:pt x="28575" y="57150"/>
                  </a:lnTo>
                  <a:cubicBezTo>
                    <a:pt x="28575" y="75813"/>
                    <a:pt x="40502" y="91689"/>
                    <a:pt x="57150" y="97573"/>
                  </a:cubicBezTo>
                  <a:lnTo>
                    <a:pt x="57150" y="57150"/>
                  </a:lnTo>
                  <a:close/>
                </a:path>
              </a:pathLst>
            </a:custGeom>
            <a:solidFill>
              <a:schemeClr val="accent1"/>
            </a:solidFill>
            <a:ln>
              <a:noFill/>
            </a:ln>
          </p:spPr>
        </p:sp>
        <p:sp>
          <p:nvSpPr>
            <p:cNvPr id="17" name="TextBox 17"/>
            <p:cNvSpPr txBox="1"/>
            <p:nvPr/>
          </p:nvSpPr>
          <p:spPr>
            <a:xfrm>
              <a:off x="2716223" y="3492818"/>
              <a:ext cx="1273153" cy="264033"/>
            </a:xfrm>
            <a:prstGeom prst="rect">
              <a:avLst/>
            </a:prstGeom>
            <a:noFill/>
            <a:ln>
              <a:noFill/>
            </a:ln>
          </p:spPr>
          <p:txBody>
            <a:bodyPr wrap="none" lIns="0" tIns="0" rIns="0" bIns="0" anchor="t" anchorCtr="0">
              <a:spAutoFit/>
            </a:bodyPr>
            <a:lstStyle/>
            <a:p>
              <a:pPr algn="ctr"/>
              <a:r>
                <a:rPr lang="th-TH" sz="1350" b="1" dirty="0">
                  <a:solidFill>
                    <a:schemeClr val="accent1"/>
                  </a:solidFill>
                  <a:latin typeface="+mn-lt"/>
                  <a:ea typeface="+mn-ea"/>
                  <a:cs typeface="+mn-cs"/>
                </a:rPr>
                <a:t>ข้าวหอมมะลิไทย</a:t>
              </a:r>
            </a:p>
          </p:txBody>
        </p:sp>
        <p:sp>
          <p:nvSpPr>
            <p:cNvPr id="18" name="TextBox 18"/>
            <p:cNvSpPr txBox="1"/>
            <p:nvPr/>
          </p:nvSpPr>
          <p:spPr>
            <a:xfrm>
              <a:off x="2791644" y="3759518"/>
              <a:ext cx="1122312"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ครั้งที่ 13 ที่ดูไบ</a:t>
              </a:r>
            </a:p>
          </p:txBody>
        </p:sp>
      </p:grpSp>
      <p:grpSp>
        <p:nvGrpSpPr>
          <p:cNvPr id="24" name="award-2565-cambodia"/>
          <p:cNvGrpSpPr/>
          <p:nvPr/>
        </p:nvGrpSpPr>
        <p:grpSpPr>
          <a:xfrm>
            <a:off x="4754930" y="2331720"/>
            <a:ext cx="853341" cy="1691831"/>
            <a:chOff x="4754930" y="2331720"/>
            <a:chExt cx="853341" cy="1691831"/>
          </a:xfrm>
        </p:grpSpPr>
        <p:sp>
          <p:nvSpPr>
            <p:cNvPr id="20" name="TextBox 20"/>
            <p:cNvSpPr txBox="1"/>
            <p:nvPr/>
          </p:nvSpPr>
          <p:spPr>
            <a:xfrm>
              <a:off x="47962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2565</a:t>
              </a:r>
            </a:p>
          </p:txBody>
        </p:sp>
        <p:sp>
          <p:nvSpPr>
            <p:cNvPr id="21" name="Ellipse 21"/>
            <p:cNvSpPr/>
            <p:nvPr/>
          </p:nvSpPr>
          <p:spPr>
            <a:xfrm>
              <a:off x="5010150" y="2876550"/>
              <a:ext cx="342900" cy="342900"/>
            </a:xfrm>
            <a:prstGeom prst="ellipse">
              <a:avLst/>
            </a:prstGeom>
            <a:solidFill>
              <a:schemeClr val="lt1"/>
            </a:solidFill>
            <a:ln w="28575">
              <a:solidFill>
                <a:schemeClr val="accent3"/>
              </a:solidFill>
            </a:ln>
          </p:spPr>
        </p:sp>
        <p:sp>
          <p:nvSpPr>
            <p:cNvPr id="22" name="TextBox 22"/>
            <p:cNvSpPr txBox="1"/>
            <p:nvPr/>
          </p:nvSpPr>
          <p:spPr>
            <a:xfrm>
              <a:off x="4754930" y="3492818"/>
              <a:ext cx="853341" cy="264033"/>
            </a:xfrm>
            <a:prstGeom prst="rect">
              <a:avLst/>
            </a:prstGeom>
            <a:noFill/>
            <a:ln>
              <a:noFill/>
            </a:ln>
          </p:spPr>
          <p:txBody>
            <a:bodyPr wrap="none" lIns="0" tIns="0" rIns="0" bIns="0" anchor="t" anchorCtr="0">
              <a:spAutoFit/>
            </a:bodyPr>
            <a:lstStyle/>
            <a:p>
              <a:pPr algn="ctr"/>
              <a:r>
                <a:rPr lang="th-TH" sz="1350" b="1" dirty="0">
                  <a:solidFill>
                    <a:schemeClr val="accent3"/>
                  </a:solidFill>
                  <a:latin typeface="+mn-lt"/>
                  <a:ea typeface="+mn-ea"/>
                  <a:cs typeface="+mn-cs"/>
                </a:rPr>
                <a:t>ผกาลำดวน</a:t>
              </a:r>
            </a:p>
          </p:txBody>
        </p:sp>
        <p:sp>
          <p:nvSpPr>
            <p:cNvPr id="23" name="TextBox 23"/>
            <p:cNvSpPr txBox="1"/>
            <p:nvPr/>
          </p:nvSpPr>
          <p:spPr>
            <a:xfrm>
              <a:off x="4924854" y="3759518"/>
              <a:ext cx="513493"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กัมพูชา</a:t>
              </a:r>
            </a:p>
          </p:txBody>
        </p:sp>
      </p:grpSp>
      <p:grpSp>
        <p:nvGrpSpPr>
          <p:cNvPr id="29" name="award-2566-vietnam"/>
          <p:cNvGrpSpPr/>
          <p:nvPr/>
        </p:nvGrpSpPr>
        <p:grpSpPr>
          <a:xfrm>
            <a:off x="6526482" y="2331720"/>
            <a:ext cx="967835" cy="1958531"/>
            <a:chOff x="6526482" y="2331720"/>
            <a:chExt cx="967835" cy="1958531"/>
          </a:xfrm>
        </p:grpSpPr>
        <p:sp>
          <p:nvSpPr>
            <p:cNvPr id="25" name="TextBox 25"/>
            <p:cNvSpPr txBox="1"/>
            <p:nvPr/>
          </p:nvSpPr>
          <p:spPr>
            <a:xfrm>
              <a:off x="66250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2566</a:t>
              </a:r>
            </a:p>
          </p:txBody>
        </p:sp>
        <p:sp>
          <p:nvSpPr>
            <p:cNvPr id="26" name="Ellipse 26"/>
            <p:cNvSpPr/>
            <p:nvPr/>
          </p:nvSpPr>
          <p:spPr>
            <a:xfrm>
              <a:off x="6838950" y="2876550"/>
              <a:ext cx="342900" cy="342900"/>
            </a:xfrm>
            <a:prstGeom prst="ellipse">
              <a:avLst/>
            </a:prstGeom>
            <a:solidFill>
              <a:schemeClr val="lt1"/>
            </a:solidFill>
            <a:ln w="28575">
              <a:solidFill>
                <a:schemeClr val="accent3"/>
              </a:solidFill>
            </a:ln>
          </p:spPr>
        </p:sp>
        <p:sp>
          <p:nvSpPr>
            <p:cNvPr id="27" name="TextBox 27"/>
            <p:cNvSpPr txBox="1"/>
            <p:nvPr/>
          </p:nvSpPr>
          <p:spPr>
            <a:xfrm>
              <a:off x="6526482" y="3492818"/>
              <a:ext cx="967835" cy="530733"/>
            </a:xfrm>
            <a:prstGeom prst="rect">
              <a:avLst/>
            </a:prstGeom>
            <a:noFill/>
            <a:ln>
              <a:noFill/>
            </a:ln>
          </p:spPr>
          <p:txBody>
            <a:bodyPr wrap="none" lIns="0" tIns="0" rIns="0" bIns="0" anchor="t" anchorCtr="0">
              <a:spAutoFit/>
            </a:bodyPr>
            <a:lstStyle/>
            <a:p>
              <a:pPr algn="ctr">
                <a:lnSpc>
                  <a:spcPts val="2100"/>
                </a:lnSpc>
              </a:pPr>
              <a:r>
                <a:rPr lang="th-TH" sz="1350" b="1" dirty="0">
                  <a:solidFill>
                    <a:schemeClr val="accent3"/>
                  </a:solidFill>
                  <a:latin typeface="+mn-lt"/>
                  <a:ea typeface="+mn-ea"/>
                  <a:cs typeface="+mn-cs"/>
                </a:rPr>
                <a:t>Loc Troi 28</a:t>
              </a:r>
              <a:br/>
              <a:r>
                <a:rPr lang="th-TH" sz="1350" b="1" dirty="0">
                  <a:solidFill>
                    <a:schemeClr val="accent3"/>
                  </a:solidFill>
                  <a:latin typeface="+mn-lt"/>
                  <a:ea typeface="+mn-ea"/>
                  <a:cs typeface="+mn-cs"/>
                </a:rPr>
                <a:t>Nang Hoa 9</a:t>
              </a:r>
            </a:p>
          </p:txBody>
        </p:sp>
        <p:sp>
          <p:nvSpPr>
            <p:cNvPr id="28" name="TextBox 28"/>
            <p:cNvSpPr txBox="1"/>
            <p:nvPr/>
          </p:nvSpPr>
          <p:spPr>
            <a:xfrm>
              <a:off x="6653698" y="4026218"/>
              <a:ext cx="713403"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เวียดนาม</a:t>
              </a:r>
            </a:p>
          </p:txBody>
        </p:sp>
      </p:grpSp>
      <p:grpSp>
        <p:nvGrpSpPr>
          <p:cNvPr id="34" name="award-2567-cambodia"/>
          <p:cNvGrpSpPr/>
          <p:nvPr/>
        </p:nvGrpSpPr>
        <p:grpSpPr>
          <a:xfrm>
            <a:off x="8225061" y="2331720"/>
            <a:ext cx="1228279" cy="1691831"/>
            <a:chOff x="8225061" y="2331720"/>
            <a:chExt cx="1228279" cy="1691831"/>
          </a:xfrm>
        </p:grpSpPr>
        <p:sp>
          <p:nvSpPr>
            <p:cNvPr id="30" name="TextBox 30"/>
            <p:cNvSpPr txBox="1"/>
            <p:nvPr/>
          </p:nvSpPr>
          <p:spPr>
            <a:xfrm>
              <a:off x="84538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2567</a:t>
              </a:r>
            </a:p>
          </p:txBody>
        </p:sp>
        <p:sp>
          <p:nvSpPr>
            <p:cNvPr id="31" name="Ellipse 31"/>
            <p:cNvSpPr/>
            <p:nvPr/>
          </p:nvSpPr>
          <p:spPr>
            <a:xfrm>
              <a:off x="8667750" y="2876550"/>
              <a:ext cx="342900" cy="342900"/>
            </a:xfrm>
            <a:prstGeom prst="ellipse">
              <a:avLst/>
            </a:prstGeom>
            <a:solidFill>
              <a:schemeClr val="lt1"/>
            </a:solidFill>
            <a:ln w="28575">
              <a:solidFill>
                <a:schemeClr val="accent3"/>
              </a:solidFill>
            </a:ln>
          </p:spPr>
        </p:sp>
        <p:sp>
          <p:nvSpPr>
            <p:cNvPr id="32" name="TextBox 32"/>
            <p:cNvSpPr txBox="1"/>
            <p:nvPr/>
          </p:nvSpPr>
          <p:spPr>
            <a:xfrm>
              <a:off x="8225061" y="3492818"/>
              <a:ext cx="1228279" cy="264033"/>
            </a:xfrm>
            <a:prstGeom prst="rect">
              <a:avLst/>
            </a:prstGeom>
            <a:noFill/>
            <a:ln>
              <a:noFill/>
            </a:ln>
          </p:spPr>
          <p:txBody>
            <a:bodyPr wrap="none" lIns="0" tIns="0" rIns="0" bIns="0" anchor="t" anchorCtr="0">
              <a:spAutoFit/>
            </a:bodyPr>
            <a:lstStyle/>
            <a:p>
              <a:pPr algn="ctr"/>
              <a:r>
                <a:rPr lang="th-TH" sz="1350" b="1" dirty="0">
                  <a:solidFill>
                    <a:schemeClr val="accent3"/>
                  </a:solidFill>
                  <a:latin typeface="+mn-lt"/>
                  <a:ea typeface="+mn-ea"/>
                  <a:cs typeface="+mn-cs"/>
                </a:rPr>
                <a:t>Malys Angkor</a:t>
              </a:r>
            </a:p>
          </p:txBody>
        </p:sp>
        <p:sp>
          <p:nvSpPr>
            <p:cNvPr id="33" name="TextBox 33"/>
            <p:cNvSpPr txBox="1"/>
            <p:nvPr/>
          </p:nvSpPr>
          <p:spPr>
            <a:xfrm>
              <a:off x="8278044" y="3759518"/>
              <a:ext cx="1122312"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กัมพูชา ครั้งที่ 6</a:t>
              </a:r>
            </a:p>
          </p:txBody>
        </p:sp>
      </p:grpSp>
      <p:grpSp>
        <p:nvGrpSpPr>
          <p:cNvPr id="39" name="award-2568-vietnam-cambodia"/>
          <p:cNvGrpSpPr/>
          <p:nvPr/>
        </p:nvGrpSpPr>
        <p:grpSpPr>
          <a:xfrm>
            <a:off x="10017562" y="2331720"/>
            <a:ext cx="1300877" cy="1958531"/>
            <a:chOff x="10017562" y="2331720"/>
            <a:chExt cx="1300877" cy="1958531"/>
          </a:xfrm>
        </p:grpSpPr>
        <p:sp>
          <p:nvSpPr>
            <p:cNvPr id="35" name="TextBox 35"/>
            <p:cNvSpPr txBox="1"/>
            <p:nvPr/>
          </p:nvSpPr>
          <p:spPr>
            <a:xfrm>
              <a:off x="102826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2568</a:t>
              </a:r>
            </a:p>
          </p:txBody>
        </p:sp>
        <p:sp>
          <p:nvSpPr>
            <p:cNvPr id="36" name="Ellipse 36"/>
            <p:cNvSpPr/>
            <p:nvPr/>
          </p:nvSpPr>
          <p:spPr>
            <a:xfrm>
              <a:off x="10496550" y="2876550"/>
              <a:ext cx="342900" cy="342900"/>
            </a:xfrm>
            <a:prstGeom prst="ellipse">
              <a:avLst/>
            </a:prstGeom>
            <a:solidFill>
              <a:schemeClr val="lt1"/>
            </a:solidFill>
            <a:ln w="28575">
              <a:solidFill>
                <a:schemeClr val="accent3"/>
              </a:solidFill>
            </a:ln>
          </p:spPr>
        </p:sp>
        <p:sp>
          <p:nvSpPr>
            <p:cNvPr id="37" name="TextBox 37"/>
            <p:cNvSpPr txBox="1"/>
            <p:nvPr/>
          </p:nvSpPr>
          <p:spPr>
            <a:xfrm>
              <a:off x="10017562" y="3492818"/>
              <a:ext cx="1300877" cy="530733"/>
            </a:xfrm>
            <a:prstGeom prst="rect">
              <a:avLst/>
            </a:prstGeom>
            <a:noFill/>
            <a:ln>
              <a:noFill/>
            </a:ln>
          </p:spPr>
          <p:txBody>
            <a:bodyPr wrap="none" lIns="0" tIns="0" rIns="0" bIns="0" anchor="t" anchorCtr="0">
              <a:spAutoFit/>
            </a:bodyPr>
            <a:lstStyle/>
            <a:p>
              <a:pPr algn="ctr">
                <a:lnSpc>
                  <a:spcPts val="2100"/>
                </a:lnSpc>
              </a:pPr>
              <a:r>
                <a:rPr lang="th-TH" sz="1350" b="1" dirty="0">
                  <a:solidFill>
                    <a:schemeClr val="accent3"/>
                  </a:solidFill>
                  <a:latin typeface="+mn-lt"/>
                  <a:ea typeface="+mn-ea"/>
                  <a:cs typeface="+mn-cs"/>
                </a:rPr>
                <a:t>ST25 เวียดนาม</a:t>
              </a:r>
              <a:br/>
              <a:r>
                <a:rPr lang="th-TH" sz="1350" b="1" dirty="0">
                  <a:solidFill>
                    <a:schemeClr val="accent3"/>
                  </a:solidFill>
                  <a:latin typeface="+mn-lt"/>
                  <a:ea typeface="+mn-ea"/>
                  <a:cs typeface="+mn-cs"/>
                </a:rPr>
                <a:t>ร่วมกับผกาลำดวน</a:t>
              </a:r>
            </a:p>
          </p:txBody>
        </p:sp>
        <p:sp>
          <p:nvSpPr>
            <p:cNvPr id="38" name="TextBox 38"/>
            <p:cNvSpPr txBox="1"/>
            <p:nvPr/>
          </p:nvSpPr>
          <p:spPr>
            <a:xfrm>
              <a:off x="10106844" y="4026218"/>
              <a:ext cx="1122312"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กัมพูชา ครั้งที่ 7</a:t>
              </a:r>
            </a:p>
          </p:txBody>
        </p:sp>
      </p:grpSp>
      <p:grpSp>
        <p:nvGrpSpPr>
          <p:cNvPr id="47" name="award-context-note"/>
          <p:cNvGrpSpPr/>
          <p:nvPr/>
        </p:nvGrpSpPr>
        <p:grpSpPr>
          <a:xfrm>
            <a:off x="609600" y="4629150"/>
            <a:ext cx="10972800" cy="1143000"/>
            <a:chOff x="609600" y="4629150"/>
            <a:chExt cx="10972800" cy="1143000"/>
          </a:xfrm>
        </p:grpSpPr>
        <p:sp>
          <p:nvSpPr>
            <p:cNvPr id="40" name="Rectangle 40"/>
            <p:cNvSpPr/>
            <p:nvPr/>
          </p:nvSpPr>
          <p:spPr>
            <a:xfrm>
              <a:off x="609600" y="4629150"/>
              <a:ext cx="10972800" cy="1143000"/>
            </a:xfrm>
            <a:prstGeom prst="rect">
              <a:avLst/>
            </a:prstGeom>
            <a:solidFill>
              <a:schemeClr val="lt2"/>
            </a:solidFill>
            <a:ln>
              <a:noFill/>
            </a:ln>
          </p:spPr>
        </p:sp>
        <p:grpSp>
          <p:nvGrpSpPr>
            <p:cNvPr id="45" name="Group 45"/>
            <p:cNvGrpSpPr/>
            <p:nvPr/>
          </p:nvGrpSpPr>
          <p:grpSpPr>
            <a:xfrm>
              <a:off x="839158" y="4838700"/>
              <a:ext cx="245734" cy="247650"/>
              <a:chOff x="839158" y="4838700"/>
              <a:chExt cx="245734" cy="247650"/>
            </a:xfrm>
          </p:grpSpPr>
          <p:sp>
            <p:nvSpPr>
              <p:cNvPr id="41" name="Freeform 41"/>
              <p:cNvSpPr/>
              <p:nvPr/>
            </p:nvSpPr>
            <p:spPr>
              <a:xfrm>
                <a:off x="839158" y="4889902"/>
                <a:ext cx="245734" cy="57145"/>
              </a:xfrm>
              <a:custGeom>
                <a:avLst/>
                <a:gdLst/>
                <a:ahLst/>
                <a:cxnLst/>
                <a:rect l="l" t="t" r="r" b="b"/>
                <a:pathLst>
                  <a:path w="245734" h="57145">
                    <a:moveTo>
                      <a:pt x="22564" y="0"/>
                    </a:moveTo>
                    <a:cubicBezTo>
                      <a:pt x="10626" y="16460"/>
                      <a:pt x="2640" y="35972"/>
                      <a:pt x="0" y="57145"/>
                    </a:cubicBezTo>
                    <a:lnTo>
                      <a:pt x="245734" y="57145"/>
                    </a:lnTo>
                    <a:cubicBezTo>
                      <a:pt x="243093" y="35972"/>
                      <a:pt x="235108" y="16460"/>
                      <a:pt x="223170" y="0"/>
                    </a:cubicBezTo>
                    <a:cubicBezTo>
                      <a:pt x="222526" y="360"/>
                      <a:pt x="221873" y="721"/>
                      <a:pt x="221212" y="1082"/>
                    </a:cubicBezTo>
                    <a:cubicBezTo>
                      <a:pt x="198221" y="13622"/>
                      <a:pt x="164728" y="26189"/>
                      <a:pt x="122867" y="26189"/>
                    </a:cubicBezTo>
                    <a:cubicBezTo>
                      <a:pt x="81006" y="26189"/>
                      <a:pt x="47512" y="13622"/>
                      <a:pt x="24521" y="1082"/>
                    </a:cubicBezTo>
                    <a:cubicBezTo>
                      <a:pt x="23860" y="721"/>
                      <a:pt x="23208" y="361"/>
                      <a:pt x="22564" y="0"/>
                    </a:cubicBezTo>
                    <a:close/>
                  </a:path>
                </a:pathLst>
              </a:custGeom>
              <a:solidFill>
                <a:schemeClr val="accent1"/>
              </a:solidFill>
              <a:ln>
                <a:noFill/>
              </a:ln>
            </p:spPr>
          </p:sp>
          <p:sp>
            <p:nvSpPr>
              <p:cNvPr id="42" name="Freeform 42"/>
              <p:cNvSpPr/>
              <p:nvPr/>
            </p:nvSpPr>
            <p:spPr>
              <a:xfrm>
                <a:off x="883764" y="4838700"/>
                <a:ext cx="156522" cy="46434"/>
              </a:xfrm>
              <a:custGeom>
                <a:avLst/>
                <a:gdLst/>
                <a:ahLst/>
                <a:cxnLst/>
                <a:rect l="l" t="t" r="r" b="b"/>
                <a:pathLst>
                  <a:path w="156522" h="46434">
                    <a:moveTo>
                      <a:pt x="156522" y="27862"/>
                    </a:moveTo>
                    <a:cubicBezTo>
                      <a:pt x="137254" y="37542"/>
                      <a:pt x="110726" y="46434"/>
                      <a:pt x="78261" y="46434"/>
                    </a:cubicBezTo>
                    <a:cubicBezTo>
                      <a:pt x="45795" y="46434"/>
                      <a:pt x="19268" y="37542"/>
                      <a:pt x="0" y="27863"/>
                    </a:cubicBezTo>
                    <a:cubicBezTo>
                      <a:pt x="21330" y="10446"/>
                      <a:pt x="48576" y="0"/>
                      <a:pt x="78261" y="0"/>
                    </a:cubicBezTo>
                    <a:cubicBezTo>
                      <a:pt x="107946" y="0"/>
                      <a:pt x="135191" y="10446"/>
                      <a:pt x="156522" y="27862"/>
                    </a:cubicBezTo>
                    <a:close/>
                  </a:path>
                </a:pathLst>
              </a:custGeom>
              <a:solidFill>
                <a:schemeClr val="accent1"/>
              </a:solidFill>
              <a:ln>
                <a:noFill/>
              </a:ln>
            </p:spPr>
          </p:sp>
          <p:sp>
            <p:nvSpPr>
              <p:cNvPr id="43" name="Freeform 43"/>
              <p:cNvSpPr/>
              <p:nvPr/>
            </p:nvSpPr>
            <p:spPr>
              <a:xfrm>
                <a:off x="839158" y="4978003"/>
                <a:ext cx="245734" cy="57145"/>
              </a:xfrm>
              <a:custGeom>
                <a:avLst/>
                <a:gdLst/>
                <a:ahLst/>
                <a:cxnLst/>
                <a:rect l="l" t="t" r="r" b="b"/>
                <a:pathLst>
                  <a:path w="245734" h="57145">
                    <a:moveTo>
                      <a:pt x="0" y="0"/>
                    </a:moveTo>
                    <a:cubicBezTo>
                      <a:pt x="2640" y="21173"/>
                      <a:pt x="10626" y="40686"/>
                      <a:pt x="22564" y="57145"/>
                    </a:cubicBezTo>
                    <a:cubicBezTo>
                      <a:pt x="23208" y="56785"/>
                      <a:pt x="23860" y="56424"/>
                      <a:pt x="24521" y="56063"/>
                    </a:cubicBezTo>
                    <a:cubicBezTo>
                      <a:pt x="47512" y="43523"/>
                      <a:pt x="81006" y="30956"/>
                      <a:pt x="122867" y="30956"/>
                    </a:cubicBezTo>
                    <a:cubicBezTo>
                      <a:pt x="164728" y="30956"/>
                      <a:pt x="198222" y="43523"/>
                      <a:pt x="221212" y="56063"/>
                    </a:cubicBezTo>
                    <a:cubicBezTo>
                      <a:pt x="221874" y="56424"/>
                      <a:pt x="222526" y="56785"/>
                      <a:pt x="223170" y="57145"/>
                    </a:cubicBezTo>
                    <a:cubicBezTo>
                      <a:pt x="235108" y="40686"/>
                      <a:pt x="243093" y="21173"/>
                      <a:pt x="245734" y="0"/>
                    </a:cubicBezTo>
                    <a:lnTo>
                      <a:pt x="0" y="0"/>
                    </a:lnTo>
                    <a:close/>
                  </a:path>
                </a:pathLst>
              </a:custGeom>
              <a:solidFill>
                <a:schemeClr val="accent1"/>
              </a:solidFill>
              <a:ln>
                <a:noFill/>
              </a:ln>
            </p:spPr>
          </p:sp>
          <p:sp>
            <p:nvSpPr>
              <p:cNvPr id="44" name="Freeform 44"/>
              <p:cNvSpPr/>
              <p:nvPr/>
            </p:nvSpPr>
            <p:spPr>
              <a:xfrm>
                <a:off x="883764" y="5039916"/>
                <a:ext cx="156521" cy="46434"/>
              </a:xfrm>
              <a:custGeom>
                <a:avLst/>
                <a:gdLst/>
                <a:ahLst/>
                <a:cxnLst/>
                <a:rect l="l" t="t" r="r" b="b"/>
                <a:pathLst>
                  <a:path w="156521" h="46434">
                    <a:moveTo>
                      <a:pt x="78261" y="46434"/>
                    </a:moveTo>
                    <a:cubicBezTo>
                      <a:pt x="48576" y="46434"/>
                      <a:pt x="21330" y="35988"/>
                      <a:pt x="0" y="18572"/>
                    </a:cubicBezTo>
                    <a:cubicBezTo>
                      <a:pt x="19268" y="8892"/>
                      <a:pt x="45795" y="0"/>
                      <a:pt x="78261" y="0"/>
                    </a:cubicBezTo>
                    <a:cubicBezTo>
                      <a:pt x="110726" y="0"/>
                      <a:pt x="137254" y="8892"/>
                      <a:pt x="156521" y="18572"/>
                    </a:cubicBezTo>
                    <a:cubicBezTo>
                      <a:pt x="135191" y="35988"/>
                      <a:pt x="107946" y="46434"/>
                      <a:pt x="78261" y="46434"/>
                    </a:cubicBezTo>
                    <a:close/>
                  </a:path>
                </a:pathLst>
              </a:custGeom>
              <a:solidFill>
                <a:schemeClr val="accent1"/>
              </a:solidFill>
              <a:ln>
                <a:noFill/>
              </a:ln>
            </p:spPr>
          </p:sp>
        </p:grpSp>
        <p:sp>
          <p:nvSpPr>
            <p:cNvPr id="46" name="TextBox 46"/>
            <p:cNvSpPr txBox="1"/>
            <p:nvPr/>
          </p:nvSpPr>
          <p:spPr>
            <a:xfrm>
              <a:off x="1212342" y="4807268"/>
              <a:ext cx="8654796" cy="797433"/>
            </a:xfrm>
            <a:prstGeom prst="rect">
              <a:avLst/>
            </a:prstGeom>
            <a:noFill/>
            <a:ln>
              <a:noFill/>
            </a:ln>
          </p:spPr>
          <p:txBody>
            <a:bodyPr wrap="none" lIns="0" tIns="0" rIns="0" bIns="0" anchor="t" anchorCtr="0">
              <a:spAutoFit/>
            </a:bodyPr>
            <a:lstStyle/>
            <a:p>
              <a:pPr algn="l">
                <a:lnSpc>
                  <a:spcPts val="2100"/>
                </a:lnSpc>
              </a:pPr>
              <a:r>
                <a:rPr lang="th-TH" sz="1350" dirty="0">
                  <a:solidFill>
                    <a:schemeClr val="dk1"/>
                  </a:solidFill>
                  <a:latin typeface="+mn-lt"/>
                  <a:ea typeface="+mn-ea"/>
                  <a:cs typeface="+mn-cs"/>
                </a:rPr>
                <a:t>การประกวดจัดโดย The Rice Trader ในงาน World Rice Conference · ครั้งที่ 13 ปี 2564 จัดที่ดูไบ 7–9 ธันวาคม</a:t>
              </a:r>
              <a:br/>
              <a:r>
                <a:rPr lang="th-TH" sz="1350" dirty="0">
                  <a:solidFill>
                    <a:schemeClr val="dk1"/>
                  </a:solidFill>
                  <a:latin typeface="+mn-lt"/>
                  <a:ea typeface="+mn-ea"/>
                  <a:cs typeface="+mn-cs"/>
                </a:rPr>
                <a:t>มีข้าว 11 ชนิดจาก 6 ประเทศเข้าชิง คือ ไทย สหรัฐอเมริกา จีน อินเดีย เวียดนาม และเมียนมา และข้าวไทยเคยชนะรวม 7 ครั้ง</a:t>
              </a:r>
              <a:br/>
              <a:r>
                <a:rPr lang="th-TH" sz="1350" dirty="0">
                  <a:solidFill>
                    <a:schemeClr val="dk1"/>
                  </a:solidFill>
                  <a:latin typeface="+mn-lt"/>
                  <a:ea typeface="+mn-ea"/>
                  <a:cs typeface="+mn-cs"/>
                </a:rPr>
                <a:t>ปี 2566 ตัดสินที่เมืองเซบู · ปี 2567 ที่กรุงมะนิลา 7 พฤศจิกายน เป็นครั้งที่ 6 ของกัมพูชา · ปี 2568 ที่กรุงพนมเปญ เป็นครั้งที่ 7</a:t>
              </a:r>
            </a:p>
          </p:txBody>
        </p:sp>
      </p:grpSp>
      <p:grpSp>
        <p:nvGrpSpPr>
          <p:cNvPr id="50" name="page-footer"/>
          <p:cNvGrpSpPr/>
          <p:nvPr/>
        </p:nvGrpSpPr>
        <p:grpSpPr>
          <a:xfrm>
            <a:off x="603504" y="6423660"/>
            <a:ext cx="10984992" cy="234696"/>
            <a:chOff x="603504" y="6423660"/>
            <a:chExt cx="10984992" cy="234696"/>
          </a:xfrm>
        </p:grpSpPr>
        <p:sp>
          <p:nvSpPr>
            <p:cNvPr id="48" name="TextBox 48"/>
            <p:cNvSpPr txBox="1"/>
            <p:nvPr/>
          </p:nvSpPr>
          <p:spPr>
            <a:xfrm>
              <a:off x="603504" y="6423660"/>
              <a:ext cx="7744001"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The Nation Thailand (2564, 2567) · Vietnam Investment Review (2566) · Cambodianess (2568)</a:t>
              </a:r>
            </a:p>
          </p:txBody>
        </p:sp>
        <p:sp>
          <p:nvSpPr>
            <p:cNvPr id="49" name="TextBox 4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450" fill="hold"/>
                                        <p:tgtEl>
                                          <p:spTgt spid="13"/>
                                        </p:tgtEl>
                                        <p:attrNameLst>
                                          <p:attrName>ppt_w</p:attrName>
                                        </p:attrNameLst>
                                      </p:cBhvr>
                                      <p:tavLst>
                                        <p:tav tm="0">
                                          <p:val>
                                            <p:fltVal val="0"/>
                                          </p:val>
                                        </p:tav>
                                        <p:tav tm="100000">
                                          <p:val>
                                            <p:strVal val="#ppt_w"/>
                                          </p:val>
                                        </p:tav>
                                      </p:tavLst>
                                    </p:anim>
                                    <p:anim calcmode="lin" valueType="num">
                                      <p:cBhvr>
                                        <p:cTn id="8" dur="450" fill="hold"/>
                                        <p:tgtEl>
                                          <p:spTgt spid="13"/>
                                        </p:tgtEl>
                                        <p:attrNameLst>
                                          <p:attrName>ppt_h</p:attrName>
                                        </p:attrNameLst>
                                      </p:cBhvr>
                                      <p:tavLst>
                                        <p:tav tm="0">
                                          <p:val>
                                            <p:fltVal val="0"/>
                                          </p:val>
                                        </p:tav>
                                        <p:tav tm="100000">
                                          <p:val>
                                            <p:strVal val="#ppt_h"/>
                                          </p:val>
                                        </p:tav>
                                      </p:tavLst>
                                    </p:anim>
                                  </p:childTnLst>
                                </p:cTn>
                              </p:par>
                            </p:childTnLst>
                          </p:cTn>
                        </p:par>
                        <p:par>
                          <p:cTn id="9" fill="hold">
                            <p:stCondLst>
                              <p:cond delay="450"/>
                            </p:stCondLst>
                            <p:childTnLst>
                              <p:par>
                                <p:cTn xmlns:p="http://schemas.openxmlformats.org/presentationml/2006/main" id="10" presetID="23" presetClass="entr" presetSubtype="16" fill="hold" grpId="0" nodeType="afterEffect">
                                  <p:stCondLst>
                                    <p:cond delay="150"/>
                                  </p:stCondLst>
                                  <p:childTnLst>
                                    <p:set>
                                      <p:cBhvr>
                                        <p:cTn id="11" dur="1" fill="hold">
                                          <p:stCondLst>
                                            <p:cond delay="0"/>
                                          </p:stCondLst>
                                        </p:cTn>
                                        <p:tgtEl>
                                          <p:spTgt spid="19"/>
                                        </p:tgtEl>
                                        <p:attrNameLst>
                                          <p:attrName>style.visibility</p:attrName>
                                        </p:attrNameLst>
                                      </p:cBhvr>
                                      <p:to>
                                        <p:strVal val="visible"/>
                                      </p:to>
                                    </p:set>
                                    <p:anim calcmode="lin" valueType="num">
                                      <p:cBhvr>
                                        <p:cTn id="12" dur="450" fill="hold"/>
                                        <p:tgtEl>
                                          <p:spTgt spid="19"/>
                                        </p:tgtEl>
                                        <p:attrNameLst>
                                          <p:attrName>ppt_w</p:attrName>
                                        </p:attrNameLst>
                                      </p:cBhvr>
                                      <p:tavLst>
                                        <p:tav tm="0">
                                          <p:val>
                                            <p:fltVal val="0"/>
                                          </p:val>
                                        </p:tav>
                                        <p:tav tm="100000">
                                          <p:val>
                                            <p:strVal val="#ppt_w"/>
                                          </p:val>
                                        </p:tav>
                                      </p:tavLst>
                                    </p:anim>
                                    <p:anim calcmode="lin" valueType="num">
                                      <p:cBhvr>
                                        <p:cTn id="13" dur="450" fill="hold"/>
                                        <p:tgtEl>
                                          <p:spTgt spid="19"/>
                                        </p:tgtEl>
                                        <p:attrNameLst>
                                          <p:attrName>ppt_h</p:attrName>
                                        </p:attrNameLst>
                                      </p:cBhvr>
                                      <p:tavLst>
                                        <p:tav tm="0">
                                          <p:val>
                                            <p:fltVal val="0"/>
                                          </p:val>
                                        </p:tav>
                                        <p:tav tm="100000">
                                          <p:val>
                                            <p:strVal val="#ppt_h"/>
                                          </p:val>
                                        </p:tav>
                                      </p:tavLst>
                                    </p:anim>
                                  </p:childTnLst>
                                </p:cTn>
                              </p:par>
                            </p:childTnLst>
                          </p:cTn>
                        </p:par>
                        <p:par>
                          <p:cTn id="14" fill="hold">
                            <p:stCondLst>
                              <p:cond delay="1050"/>
                            </p:stCondLst>
                            <p:childTnLst>
                              <p:par>
                                <p:cTn xmlns:p="http://schemas.openxmlformats.org/presentationml/2006/main" id="15" presetID="10" presetClass="entr" presetSubtype="0" fill="hold" grpId="0" nodeType="afterEffect">
                                  <p:stCondLst>
                                    <p:cond delay="15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par>
                          <p:cTn id="18" fill="hold">
                            <p:stCondLst>
                              <p:cond delay="1600"/>
                            </p:stCondLst>
                            <p:childTnLst>
                              <p:par>
                                <p:cTn xmlns:p="http://schemas.openxmlformats.org/presentationml/2006/main" id="19" presetID="10" presetClass="entr" presetSubtype="0" fill="hold" grpId="0" nodeType="afterEffect">
                                  <p:stCondLst>
                                    <p:cond delay="15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400"/>
                                        <p:tgtEl>
                                          <p:spTgt spid="29"/>
                                        </p:tgtEl>
                                      </p:cBhvr>
                                    </p:animEffect>
                                  </p:childTnLst>
                                </p:cTn>
                              </p:par>
                            </p:childTnLst>
                          </p:cTn>
                        </p:par>
                        <p:par>
                          <p:cTn id="22" fill="hold">
                            <p:stCondLst>
                              <p:cond delay="2150"/>
                            </p:stCondLst>
                            <p:childTnLst>
                              <p:par>
                                <p:cTn xmlns:p="http://schemas.openxmlformats.org/presentationml/2006/main" id="23" presetID="10" presetClass="entr" presetSubtype="0" fill="hold" grpId="0" nodeType="afterEffect">
                                  <p:stCondLst>
                                    <p:cond delay="15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400"/>
                                        <p:tgtEl>
                                          <p:spTgt spid="34"/>
                                        </p:tgtEl>
                                      </p:cBhvr>
                                    </p:animEffect>
                                  </p:childTnLst>
                                </p:cTn>
                              </p:par>
                            </p:childTnLst>
                          </p:cTn>
                        </p:par>
                        <p:par>
                          <p:cTn id="26" fill="hold">
                            <p:stCondLst>
                              <p:cond delay="2700"/>
                            </p:stCondLst>
                            <p:childTnLst>
                              <p:par>
                                <p:cTn xmlns:p="http://schemas.openxmlformats.org/presentationml/2006/main" id="27" presetID="10" presetClass="entr" presetSubtype="0" fill="hold" grpId="0" nodeType="afterEffect">
                                  <p:stCondLst>
                                    <p:cond delay="15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childTnLst>
                          </p:cTn>
                        </p:par>
                        <p:par>
                          <p:cTn id="30" fill="hold">
                            <p:stCondLst>
                              <p:cond delay="3250"/>
                            </p:stCondLst>
                            <p:childTnLst>
                              <p:par>
                                <p:cTn xmlns:p="http://schemas.openxmlformats.org/presentationml/2006/main" id="31" presetID="10" presetClass="entr" presetSubtype="0" fill="hold" grpId="0" nodeType="afterEffect">
                                  <p:stCondLst>
                                    <p:cond delay="40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312414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4 · ความท้าทายและสิ่งที่ต้องรักษา</a:t>
              </a:r>
            </a:p>
          </p:txBody>
        </p:sp>
        <p:sp>
          <p:nvSpPr>
            <p:cNvPr id="3" name="TextBox 3"/>
            <p:cNvSpPr txBox="1"/>
            <p:nvPr/>
          </p:nvSpPr>
          <p:spPr>
            <a:xfrm>
              <a:off x="594360" y="895350"/>
              <a:ext cx="4928292"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สามข้าวหอมบนเกณฑ์เดียวกัน</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5686997"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ข้าวหอมมะลิไทยไม่ใช่ข้าวหอมที่ส่งออกมากที่สุด</a:t>
              </a:r>
            </a:p>
          </p:txBody>
        </p:sp>
      </p:grpSp>
      <p:graphicFrame>
        <p:nvGraphicFramePr>
          <p:cNvPr id="7" name="global-aromatic-rice-comparison"/>
          <p:cNvGraphicFramePr>
            <a:graphicFrameLocks noGrp="1"/>
          </p:cNvGraphicFramePr>
          <p:nvPr/>
        </p:nvGraphicFramePr>
        <p:xfrm>
          <a:off x="609600" y="2000250"/>
          <a:ext cx="10972800" cy="2609850"/>
        </p:xfrm>
        <a:graphic>
          <a:graphicData uri="http://schemas.openxmlformats.org/drawingml/2006/table">
            <a:tbl>
              <a:tblPr firstRow="1" bandRow="0">
                <a:tableStyleId>{5C22544A-7EE6-4342-B048-85BDC9FD1C3A}</a:tableStyleId>
              </a:tblPr>
              <a:tblGrid>
                <a:gridCol w="2476500"/>
                <a:gridCol w="2857500"/>
                <a:gridCol w="2857500"/>
                <a:gridCol w="2781300"/>
              </a:tblGrid>
              <a:tr h="419100">
                <a:tc>
                  <a:txBody>
                    <a:bodyPr/>
                    <a:lstStyle/>
                    <a:p>
                      <a:pPr/>
                      <a:r>
                        <a:rPr lang="th-TH" sz="1350" b="1">
                          <a:solidFill>
                            <a:srgbClr val="FBF7EF"/>
                          </a:solidFill>
                          <a:latin typeface="Tahoma"/>
                          <a:ea typeface="Microsoft YaHei"/>
                          <a:cs typeface="Tahoma"/>
                        </a:rPr>
                        <a:t>เกณฑ์เทียบ</a:t>
                      </a:r>
                    </a:p>
                  </a:txBody>
                  <a:tcPr anchor="ctr" marL="152400" marR="152400" marT="89535" marB="89535">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th-TH" sz="1350" b="1">
                          <a:solidFill>
                            <a:srgbClr val="FBF7EF"/>
                          </a:solidFill>
                          <a:latin typeface="Tahoma"/>
                          <a:ea typeface="Microsoft YaHei"/>
                          <a:cs typeface="Tahoma"/>
                        </a:rPr>
                        <a:t>ข้าวหอมมะลิไทย</a:t>
                      </a:r>
                    </a:p>
                  </a:txBody>
                  <a:tcPr anchor="ctr" marL="152400" marR="152400" marT="89535" marB="89535">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th-TH" sz="1350" b="1">
                          <a:solidFill>
                            <a:srgbClr val="FBF7EF"/>
                          </a:solidFill>
                          <a:latin typeface="Tahoma"/>
                          <a:ea typeface="Microsoft YaHei"/>
                          <a:cs typeface="Tahoma"/>
                        </a:rPr>
                        <a:t>บาสมาติ อินเดีย</a:t>
                      </a:r>
                    </a:p>
                  </a:txBody>
                  <a:tcPr anchor="ctr" marL="152400" marR="152400" marT="89535" marB="89535">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th-TH" sz="1350" b="1">
                          <a:solidFill>
                            <a:srgbClr val="FBF7EF"/>
                          </a:solidFill>
                          <a:latin typeface="Tahoma"/>
                          <a:ea typeface="Microsoft YaHei"/>
                          <a:cs typeface="Tahoma"/>
                        </a:rPr>
                        <a:t>ST25 เวียดนาม</a:t>
                      </a:r>
                    </a:p>
                  </a:txBody>
                  <a:tcPr anchor="ctr" marL="152400" marR="152400" marT="89535" marB="89535">
                    <a:lnL>
                      <a:noFill/>
                    </a:lnL>
                    <a:lnR>
                      <a:noFill/>
                    </a:lnR>
                    <a:lnT w="9525">
                      <a:solidFill>
                        <a:schemeClr val="accent6"/>
                      </a:solidFill>
                      <a:prstDash val="solid"/>
                    </a:lnT>
                    <a:lnB w="9525">
                      <a:solidFill>
                        <a:schemeClr val="accent6"/>
                      </a:solidFill>
                      <a:prstDash val="solid"/>
                    </a:lnB>
                    <a:solidFill>
                      <a:schemeClr val="accent1"/>
                    </a:solidFill>
                  </a:tcPr>
                </a:tc>
              </a:tr>
              <a:tr h="438150">
                <a:tc>
                  <a:txBody>
                    <a:bodyPr/>
                    <a:lstStyle/>
                    <a:p>
                      <a:pPr/>
                      <a:r>
                        <a:rPr lang="th-TH" sz="1350" b="1">
                          <a:solidFill>
                            <a:schemeClr val="dk1"/>
                          </a:solidFill>
                          <a:latin typeface="Tahoma"/>
                          <a:ea typeface="Microsoft YaHei"/>
                          <a:cs typeface="Tahoma"/>
                        </a:rPr>
                        <a:t>แหล่งกำเนิดและพันธุ์</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ขาวดอกมะลิ 105 (2502)</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บาสมาติ อินเดีย</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ST25 จ.ซอกจัง (2562)</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350" b="1">
                          <a:solidFill>
                            <a:schemeClr val="dk1"/>
                          </a:solidFill>
                          <a:latin typeface="Tahoma"/>
                          <a:ea typeface="Microsoft YaHei"/>
                          <a:cs typeface="Tahoma"/>
                        </a:rPr>
                        <a:t>ปริมาณส่งออกล่าสุด</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1,740,901 ตัน ปี 2567</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6.06 ล้านตัน ปีงบฯ 2567/68</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ไม่มีตัวเลขแยกเผยแพร่</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350" b="1">
                          <a:solidFill>
                            <a:schemeClr val="dk1"/>
                          </a:solidFill>
                          <a:latin typeface="Tahoma"/>
                          <a:ea typeface="Microsoft YaHei"/>
                          <a:cs typeface="Tahoma"/>
                        </a:rPr>
                        <a:t>มูลค่าส่งออกที่อ้างอิงได้</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ข้าวทุกชนิด 225,656 ล้านบาท</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บาสมาติ 5.94 พันล้าน USD</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ไม่อยู่ในชุดข้อมูลนี้</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350" b="1">
                          <a:solidFill>
                            <a:schemeClr val="dk1"/>
                          </a:solidFill>
                          <a:latin typeface="Tahoma"/>
                          <a:ea typeface="Microsoft YaHei"/>
                          <a:cs typeface="Tahoma"/>
                        </a:rPr>
                        <a:t>ที่มาของกลิ่น</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2AP · ยีน badh2</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ไม่อยู่ในชุดข้อมูลนี้</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ผสมพันธุ์หอมใต้กับเหนือ</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r>
              <a:tr h="438150">
                <a:tc>
                  <a:txBody>
                    <a:bodyPr/>
                    <a:lstStyle/>
                    <a:p>
                      <a:pPr/>
                      <a:r>
                        <a:rPr lang="th-TH" sz="1350" b="1">
                          <a:solidFill>
                            <a:schemeClr val="dk1"/>
                          </a:solidFill>
                          <a:latin typeface="Tahoma"/>
                          <a:ea typeface="Microsoft YaHei"/>
                          <a:cs typeface="Tahoma"/>
                        </a:rPr>
                        <a:t>รางวัลข้าวที่ดีที่สุดในโลก</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2563 และ 2564 (รวม 7 ครั้ง)</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ไม่อยู่ในชุดข้อมูลนี้</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c>
                  <a:txBody>
                    <a:bodyPr/>
                    <a:lstStyle/>
                    <a:p>
                      <a:pPr/>
                      <a:r>
                        <a:rPr lang="th-TH" sz="1350" b="0">
                          <a:solidFill>
                            <a:schemeClr val="dk1"/>
                          </a:solidFill>
                          <a:latin typeface="Tahoma"/>
                          <a:ea typeface="Microsoft YaHei"/>
                          <a:cs typeface="Tahoma"/>
                        </a:rPr>
                        <a:t>2562 · 2566 · ร่วมปี 2568</a:t>
                      </a:r>
                    </a:p>
                  </a:txBody>
                  <a:tcPr anchor="ctr" marL="152400" marR="152400" marT="99060" marB="99060">
                    <a:lnL>
                      <a:noFill/>
                    </a:lnL>
                    <a:lnR>
                      <a:noFill/>
                    </a:lnR>
                    <a:lnT w="9525">
                      <a:solidFill>
                        <a:schemeClr val="accent6"/>
                      </a:solidFill>
                      <a:prstDash val="solid"/>
                    </a:lnT>
                    <a:lnB w="9525">
                      <a:solidFill>
                        <a:schemeClr val="accent6"/>
                      </a:solidFill>
                      <a:prstDash val="solid"/>
                    </a:lnB>
                    <a:noFill/>
                  </a:tcPr>
                </a:tc>
              </a:tr>
            </a:tbl>
          </a:graphicData>
        </a:graphic>
      </p:graphicFrame>
      <p:grpSp>
        <p:nvGrpSpPr>
          <p:cNvPr id="10" name="note-vietnam-st25"/>
          <p:cNvGrpSpPr/>
          <p:nvPr/>
        </p:nvGrpSpPr>
        <p:grpSpPr>
          <a:xfrm>
            <a:off x="609600" y="4800600"/>
            <a:ext cx="4170236" cy="914400"/>
            <a:chOff x="609600" y="4800600"/>
            <a:chExt cx="4170236" cy="914400"/>
          </a:xfrm>
        </p:grpSpPr>
        <p:sp>
          <p:nvSpPr>
            <p:cNvPr id="8" name="Rectangle 8"/>
            <p:cNvSpPr/>
            <p:nvPr/>
          </p:nvSpPr>
          <p:spPr>
            <a:xfrm>
              <a:off x="609600" y="4800600"/>
              <a:ext cx="57150" cy="914400"/>
            </a:xfrm>
            <a:prstGeom prst="rect">
              <a:avLst/>
            </a:prstGeom>
            <a:solidFill>
              <a:schemeClr val="accent3"/>
            </a:solidFill>
            <a:ln>
              <a:noFill/>
            </a:ln>
          </p:spPr>
        </p:sp>
        <p:sp>
          <p:nvSpPr>
            <p:cNvPr id="9" name="TextBox 9"/>
            <p:cNvSpPr txBox="1"/>
            <p:nvPr/>
          </p:nvSpPr>
          <p:spPr>
            <a:xfrm>
              <a:off x="831342" y="4902518"/>
              <a:ext cx="3948494" cy="7974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ST25 พัฒนาโดยนายโฮ กวาง กัว ในจังหวัดซอกจัง</a:t>
              </a:r>
              <a:br/>
              <a:r>
                <a:rPr lang="th-TH" sz="1350" dirty="0">
                  <a:solidFill>
                    <a:schemeClr val="accent5"/>
                  </a:solidFill>
                  <a:latin typeface="+mn-lt"/>
                  <a:ea typeface="+mn-ea"/>
                  <a:cs typeface="+mn-cs"/>
                </a:rPr>
                <a:t>สามเหลี่ยมปากแม่น้ำโขง ชื่อมาจาก Soc Trang สายที่ 25</a:t>
              </a:r>
              <a:br/>
              <a:r>
                <a:rPr lang="th-TH" sz="1350" dirty="0">
                  <a:solidFill>
                    <a:schemeClr val="accent5"/>
                  </a:solidFill>
                  <a:latin typeface="+mn-lt"/>
                  <a:ea typeface="+mn-ea"/>
                  <a:cs typeface="+mn-cs"/>
                </a:rPr>
                <a:t>เป็นข้าวเวียดนามพันธุ์แรกที่ได้รางวัลนี้ในปี 2562</a:t>
              </a:r>
            </a:p>
          </p:txBody>
        </p:sp>
      </p:grpSp>
      <p:grpSp>
        <p:nvGrpSpPr>
          <p:cNvPr id="13" name="note-india-basmati"/>
          <p:cNvGrpSpPr/>
          <p:nvPr/>
        </p:nvGrpSpPr>
        <p:grpSpPr>
          <a:xfrm>
            <a:off x="6248400" y="4800600"/>
            <a:ext cx="4204526" cy="914400"/>
            <a:chOff x="6248400" y="4800600"/>
            <a:chExt cx="4204526" cy="914400"/>
          </a:xfrm>
        </p:grpSpPr>
        <p:sp>
          <p:nvSpPr>
            <p:cNvPr id="11" name="Rectangle 11"/>
            <p:cNvSpPr/>
            <p:nvPr/>
          </p:nvSpPr>
          <p:spPr>
            <a:xfrm>
              <a:off x="6248400" y="4800600"/>
              <a:ext cx="57150" cy="914400"/>
            </a:xfrm>
            <a:prstGeom prst="rect">
              <a:avLst/>
            </a:prstGeom>
            <a:solidFill>
              <a:schemeClr val="accent3"/>
            </a:solidFill>
            <a:ln>
              <a:noFill/>
            </a:ln>
          </p:spPr>
        </p:sp>
        <p:sp>
          <p:nvSpPr>
            <p:cNvPr id="12" name="TextBox 12"/>
            <p:cNvSpPr txBox="1"/>
            <p:nvPr/>
          </p:nvSpPr>
          <p:spPr>
            <a:xfrm>
              <a:off x="6470142" y="4902518"/>
              <a:ext cx="3982784" cy="7974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อินเดียส่งออกบาสมาติปีงบประมาณ 2567/68 ประมาณ</a:t>
              </a:r>
              <a:br/>
              <a:r>
                <a:rPr lang="th-TH" sz="1350" dirty="0">
                  <a:solidFill>
                    <a:schemeClr val="accent5"/>
                  </a:solidFill>
                  <a:latin typeface="+mn-lt"/>
                  <a:ea typeface="+mn-ea"/>
                  <a:cs typeface="+mn-cs"/>
                </a:rPr>
                <a:t>6.06 ล้านตัน เป็นสถิติสูงสุดด้านปริมาณ</a:t>
              </a:r>
              <a:br/>
              <a:r>
                <a:rPr lang="th-TH" sz="1350" dirty="0">
                  <a:solidFill>
                    <a:schemeClr val="accent5"/>
                  </a:solidFill>
                  <a:latin typeface="+mn-lt"/>
                  <a:ea typeface="+mn-ea"/>
                  <a:cs typeface="+mn-cs"/>
                </a:rPr>
                <a:t>มูลค่าส่งออกข้าวทั้งหมดของอินเดีย 12.47 พันล้านดอลลาร์</a:t>
              </a:r>
            </a:p>
          </p:txBody>
        </p:sp>
      </p:grpSp>
      <p:grpSp>
        <p:nvGrpSpPr>
          <p:cNvPr id="16" name="comparison-limitation"/>
          <p:cNvGrpSpPr/>
          <p:nvPr/>
        </p:nvGrpSpPr>
        <p:grpSpPr>
          <a:xfrm>
            <a:off x="609600" y="5829300"/>
            <a:ext cx="10972800" cy="594551"/>
            <a:chOff x="609600" y="5829300"/>
            <a:chExt cx="10972800" cy="594551"/>
          </a:xfrm>
        </p:grpSpPr>
        <p:sp>
          <p:nvSpPr>
            <p:cNvPr id="14" name="Rectangle 14"/>
            <p:cNvSpPr/>
            <p:nvPr/>
          </p:nvSpPr>
          <p:spPr>
            <a:xfrm>
              <a:off x="609600" y="5829300"/>
              <a:ext cx="10972800" cy="533400"/>
            </a:xfrm>
            <a:prstGeom prst="rect">
              <a:avLst/>
            </a:prstGeom>
            <a:solidFill>
              <a:srgbClr val="F57C00">
                <a:alpha val="10000"/>
              </a:srgbClr>
            </a:solidFill>
            <a:ln>
              <a:noFill/>
            </a:ln>
          </p:spPr>
        </p:sp>
        <p:sp>
          <p:nvSpPr>
            <p:cNvPr id="15" name="TextBox 15"/>
            <p:cNvSpPr txBox="1"/>
            <p:nvPr/>
          </p:nvSpPr>
          <p:spPr>
            <a:xfrm>
              <a:off x="831342" y="5912168"/>
              <a:ext cx="6434519" cy="511683"/>
            </a:xfrm>
            <a:prstGeom prst="rect">
              <a:avLst/>
            </a:prstGeom>
            <a:noFill/>
            <a:ln>
              <a:noFill/>
            </a:ln>
          </p:spPr>
          <p:txBody>
            <a:bodyPr wrap="none" lIns="0" tIns="0" rIns="0" bIns="0" anchor="t" anchorCtr="0">
              <a:spAutoFit/>
            </a:bodyPr>
            <a:lstStyle/>
            <a:p>
              <a:pPr algn="l">
                <a:lnSpc>
                  <a:spcPts val="1950"/>
                </a:lnSpc>
              </a:pPr>
              <a:r>
                <a:rPr lang="th-TH" sz="1350" dirty="0">
                  <a:solidFill>
                    <a:schemeClr val="dk1"/>
                  </a:solidFill>
                  <a:latin typeface="+mn-lt"/>
                  <a:ea typeface="+mn-ea"/>
                  <a:cs typeface="+mn-cs"/>
                </a:rPr>
                <a:t>ข้อจำกัดของการเทียบ ตัวเลขไทยเป็นปีปฏิทิน ตัวเลขอินเดียเป็นปีงบประมาณเมษายนถึงมีนาคม</a:t>
              </a:r>
              <a:br/>
              <a:r>
                <a:rPr lang="th-TH" sz="1350" dirty="0">
                  <a:solidFill>
                    <a:schemeClr val="dk1"/>
                  </a:solidFill>
                  <a:latin typeface="+mn-lt"/>
                  <a:ea typeface="+mn-ea"/>
                  <a:cs typeface="+mn-cs"/>
                </a:rPr>
                <a:t>เทียบได้เพียงเชิงลำดับขนาด (เรียบเรียงโดยผู้บรรยาย)</a:t>
              </a:r>
            </a:p>
          </p:txBody>
        </p:sp>
      </p:grpSp>
      <p:grpSp>
        <p:nvGrpSpPr>
          <p:cNvPr id="19" name="page-footer"/>
          <p:cNvGrpSpPr/>
          <p:nvPr/>
        </p:nvGrpSpPr>
        <p:grpSpPr>
          <a:xfrm>
            <a:off x="603504" y="6461760"/>
            <a:ext cx="10984992" cy="234696"/>
            <a:chOff x="603504" y="6461760"/>
            <a:chExt cx="10984992" cy="234696"/>
          </a:xfrm>
        </p:grpSpPr>
        <p:sp>
          <p:nvSpPr>
            <p:cNvPr id="17" name="TextBox 17"/>
            <p:cNvSpPr txBox="1"/>
            <p:nvPr/>
          </p:nvSpPr>
          <p:spPr>
            <a:xfrm>
              <a:off x="603504" y="6461760"/>
              <a:ext cx="7662878"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USDA FAS TH2025-0011 · กรมประชาสัมพันธ์ · APEDA อินเดีย · UPOV (ST25) · The Nation Thailand</a:t>
              </a:r>
            </a:p>
          </p:txBody>
        </p:sp>
        <p:sp>
          <p:nvSpPr>
            <p:cNvPr id="18" name="TextBox 18"/>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par>
                          <p:cTn id="8" fill="hold">
                            <p:stCondLst>
                              <p:cond delay="7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childTnLst>
                          </p:cTn>
                        </p:par>
                        <p:par>
                          <p:cTn id="16" fill="hold">
                            <p:stCondLst>
                              <p:cond delay="185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losing-motif-panicle"/>
          <p:cNvSpPr/>
          <p:nvPr/>
        </p:nvSpPr>
        <p:spPr>
          <a:xfrm>
            <a:off x="11163300" y="1752600"/>
            <a:ext cx="381000" cy="1295400"/>
          </a:xfrm>
          <a:custGeom>
            <a:avLst/>
            <a:gdLst/>
            <a:ahLst/>
            <a:cxnLst/>
            <a:rect l="l" t="t" r="r" b="b"/>
            <a:pathLst>
              <a:path w="381000" h="1295400">
                <a:moveTo>
                  <a:pt x="381000" y="0"/>
                </a:moveTo>
                <a:cubicBezTo>
                  <a:pt x="133350" y="381000"/>
                  <a:pt x="19050" y="800100"/>
                  <a:pt x="76200" y="1295400"/>
                </a:cubicBezTo>
                <a:moveTo>
                  <a:pt x="323850" y="304800"/>
                </a:moveTo>
                <a:cubicBezTo>
                  <a:pt x="152400" y="361950"/>
                  <a:pt x="57150" y="476250"/>
                  <a:pt x="28575" y="628650"/>
                </a:cubicBezTo>
                <a:moveTo>
                  <a:pt x="247650" y="704850"/>
                </a:moveTo>
                <a:cubicBezTo>
                  <a:pt x="95250" y="762000"/>
                  <a:pt x="19050" y="876300"/>
                  <a:pt x="0" y="1009650"/>
                </a:cubicBezTo>
              </a:path>
            </a:pathLst>
          </a:custGeom>
          <a:noFill/>
          <a:ln w="57150" cap="rnd">
            <a:solidFill>
              <a:srgbClr val="F1E8D6"/>
            </a:solidFill>
          </a:ln>
        </p:spPr>
      </p:sp>
      <p:grpSp>
        <p:nvGrpSpPr>
          <p:cNvPr id="6" name="page-header"/>
          <p:cNvGrpSpPr/>
          <p:nvPr/>
        </p:nvGrpSpPr>
        <p:grpSpPr>
          <a:xfrm>
            <a:off x="594360" y="654368"/>
            <a:ext cx="10988040" cy="827722"/>
            <a:chOff x="594360" y="654368"/>
            <a:chExt cx="10988040" cy="827722"/>
          </a:xfrm>
        </p:grpSpPr>
        <p:sp>
          <p:nvSpPr>
            <p:cNvPr id="3" name="TextBox 3"/>
            <p:cNvSpPr txBox="1"/>
            <p:nvPr/>
          </p:nvSpPr>
          <p:spPr>
            <a:xfrm>
              <a:off x="602742" y="654368"/>
              <a:ext cx="312414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4 · ความท้าทายและสิ่งที่ต้องรักษา</a:t>
              </a:r>
            </a:p>
          </p:txBody>
        </p:sp>
        <p:sp>
          <p:nvSpPr>
            <p:cNvPr id="4" name="TextBox 4"/>
            <p:cNvSpPr txBox="1"/>
            <p:nvPr/>
          </p:nvSpPr>
          <p:spPr>
            <a:xfrm>
              <a:off x="594360" y="895350"/>
              <a:ext cx="4695063"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ความหอมไม่ใช่ของที่อยู่คงที่</a:t>
              </a:r>
            </a:p>
          </p:txBody>
        </p:sp>
        <p:sp>
          <p:nvSpPr>
            <p:cNvPr id="5" name="Line 5"/>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closing-figure"/>
          <p:cNvGrpSpPr/>
          <p:nvPr/>
        </p:nvGrpSpPr>
        <p:grpSpPr>
          <a:xfrm>
            <a:off x="609600" y="1714500"/>
            <a:ext cx="3810000" cy="3810000"/>
            <a:chOff x="609600" y="1714500"/>
            <a:chExt cx="3810000" cy="3810000"/>
          </a:xfrm>
        </p:grpSpPr>
        <p:pic>
          <p:nvPicPr>
            <p:cNvPr id="7" name="Image 7"/>
            <p:cNvPicPr>
              <a:picLocks noChangeAspect="1"/>
            </p:cNvPicPr>
            <p:nvPr/>
          </p:nvPicPr>
          <p:blipFill>
            <a:blip r:embed="rId2"/>
            <a:stretch>
              <a:fillRect/>
            </a:stretch>
          </p:blipFill>
          <p:spPr>
            <a:xfrm>
              <a:off x="609600" y="1714500"/>
              <a:ext cx="3810000" cy="3810000"/>
            </a:xfrm>
            <a:prstGeom prst="rect">
              <a:avLst/>
            </a:prstGeom>
          </p:spPr>
        </p:pic>
      </p:grpSp>
      <p:grpSp>
        <p:nvGrpSpPr>
          <p:cNvPr id="14" name="takeaway-variety-fragility"/>
          <p:cNvGrpSpPr/>
          <p:nvPr/>
        </p:nvGrpSpPr>
        <p:grpSpPr>
          <a:xfrm>
            <a:off x="4876800" y="1776412"/>
            <a:ext cx="5084064" cy="1048322"/>
            <a:chOff x="4876800" y="1776412"/>
            <a:chExt cx="5084064" cy="1048322"/>
          </a:xfrm>
        </p:grpSpPr>
        <p:grpSp>
          <p:nvGrpSpPr>
            <p:cNvPr id="11" name="Group 11"/>
            <p:cNvGrpSpPr/>
            <p:nvPr/>
          </p:nvGrpSpPr>
          <p:grpSpPr>
            <a:xfrm>
              <a:off x="4876800" y="1790700"/>
              <a:ext cx="247650" cy="247650"/>
              <a:chOff x="4876800" y="1790700"/>
              <a:chExt cx="247650" cy="247650"/>
            </a:xfrm>
          </p:grpSpPr>
          <p:sp>
            <p:nvSpPr>
              <p:cNvPr id="9" name="Freeform 9"/>
              <p:cNvSpPr/>
              <p:nvPr/>
            </p:nvSpPr>
            <p:spPr>
              <a:xfrm>
                <a:off x="4926777" y="1790700"/>
                <a:ext cx="147695" cy="77391"/>
              </a:xfrm>
              <a:custGeom>
                <a:avLst/>
                <a:gdLst/>
                <a:ahLst/>
                <a:cxnLst/>
                <a:rect l="l" t="t" r="r" b="b"/>
                <a:pathLst>
                  <a:path w="147695" h="77391">
                    <a:moveTo>
                      <a:pt x="58370" y="0"/>
                    </a:moveTo>
                    <a:lnTo>
                      <a:pt x="58370" y="24765"/>
                    </a:lnTo>
                    <a:cubicBezTo>
                      <a:pt x="63371" y="23750"/>
                      <a:pt x="68547" y="23217"/>
                      <a:pt x="73848" y="23217"/>
                    </a:cubicBezTo>
                    <a:cubicBezTo>
                      <a:pt x="79148" y="23217"/>
                      <a:pt x="84325" y="23750"/>
                      <a:pt x="89326" y="24765"/>
                    </a:cubicBezTo>
                    <a:lnTo>
                      <a:pt x="89326" y="0"/>
                    </a:lnTo>
                    <a:lnTo>
                      <a:pt x="120282" y="0"/>
                    </a:lnTo>
                    <a:lnTo>
                      <a:pt x="120282" y="38690"/>
                    </a:lnTo>
                    <a:cubicBezTo>
                      <a:pt x="133075" y="48298"/>
                      <a:pt x="142792" y="61778"/>
                      <a:pt x="147695" y="77391"/>
                    </a:cubicBezTo>
                    <a:lnTo>
                      <a:pt x="0" y="77391"/>
                    </a:lnTo>
                    <a:cubicBezTo>
                      <a:pt x="4903" y="61778"/>
                      <a:pt x="14621" y="48298"/>
                      <a:pt x="27413" y="38690"/>
                    </a:cubicBezTo>
                    <a:lnTo>
                      <a:pt x="27413" y="0"/>
                    </a:lnTo>
                    <a:lnTo>
                      <a:pt x="58370" y="0"/>
                    </a:lnTo>
                    <a:close/>
                  </a:path>
                </a:pathLst>
              </a:custGeom>
              <a:solidFill>
                <a:schemeClr val="accent3"/>
              </a:solidFill>
              <a:ln>
                <a:noFill/>
              </a:ln>
            </p:spPr>
          </p:sp>
          <p:sp>
            <p:nvSpPr>
              <p:cNvPr id="10" name="Freeform 10"/>
              <p:cNvSpPr/>
              <p:nvPr/>
            </p:nvSpPr>
            <p:spPr>
              <a:xfrm>
                <a:off x="4876800" y="1899047"/>
                <a:ext cx="247650" cy="139303"/>
              </a:xfrm>
              <a:custGeom>
                <a:avLst/>
                <a:gdLst/>
                <a:ahLst/>
                <a:cxnLst/>
                <a:rect l="l" t="t" r="r" b="b"/>
                <a:pathLst>
                  <a:path w="247650" h="139303">
                    <a:moveTo>
                      <a:pt x="0" y="0"/>
                    </a:moveTo>
                    <a:lnTo>
                      <a:pt x="0" y="30956"/>
                    </a:lnTo>
                    <a:lnTo>
                      <a:pt x="46434" y="30956"/>
                    </a:lnTo>
                    <a:lnTo>
                      <a:pt x="46434" y="54107"/>
                    </a:lnTo>
                    <a:lnTo>
                      <a:pt x="3487" y="66378"/>
                    </a:lnTo>
                    <a:lnTo>
                      <a:pt x="11991" y="96142"/>
                    </a:lnTo>
                    <a:lnTo>
                      <a:pt x="50024" y="85277"/>
                    </a:lnTo>
                    <a:cubicBezTo>
                      <a:pt x="59930" y="116598"/>
                      <a:pt x="89226" y="139303"/>
                      <a:pt x="123825" y="139303"/>
                    </a:cubicBezTo>
                    <a:cubicBezTo>
                      <a:pt x="158423" y="139303"/>
                      <a:pt x="187720" y="116598"/>
                      <a:pt x="197626" y="85277"/>
                    </a:cubicBezTo>
                    <a:lnTo>
                      <a:pt x="235659" y="96142"/>
                    </a:lnTo>
                    <a:lnTo>
                      <a:pt x="244163" y="66378"/>
                    </a:lnTo>
                    <a:lnTo>
                      <a:pt x="201216" y="54107"/>
                    </a:lnTo>
                    <a:lnTo>
                      <a:pt x="201216" y="30956"/>
                    </a:lnTo>
                    <a:lnTo>
                      <a:pt x="247650" y="30956"/>
                    </a:lnTo>
                    <a:lnTo>
                      <a:pt x="247650" y="0"/>
                    </a:lnTo>
                    <a:lnTo>
                      <a:pt x="139303" y="0"/>
                    </a:lnTo>
                    <a:lnTo>
                      <a:pt x="139303" y="77391"/>
                    </a:lnTo>
                    <a:lnTo>
                      <a:pt x="108347" y="77391"/>
                    </a:lnTo>
                    <a:lnTo>
                      <a:pt x="108347" y="0"/>
                    </a:lnTo>
                    <a:lnTo>
                      <a:pt x="0" y="0"/>
                    </a:lnTo>
                    <a:close/>
                  </a:path>
                </a:pathLst>
              </a:custGeom>
              <a:solidFill>
                <a:schemeClr val="accent3"/>
              </a:solidFill>
              <a:ln>
                <a:noFill/>
              </a:ln>
            </p:spPr>
          </p:sp>
        </p:grpSp>
        <p:sp>
          <p:nvSpPr>
            <p:cNvPr id="12" name="TextBox 12"/>
            <p:cNvSpPr txBox="1"/>
            <p:nvPr/>
          </p:nvSpPr>
          <p:spPr>
            <a:xfrm>
              <a:off x="5284470" y="1776412"/>
              <a:ext cx="197782"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1</a:t>
              </a:r>
            </a:p>
          </p:txBody>
        </p:sp>
        <p:sp>
          <p:nvSpPr>
            <p:cNvPr id="13" name="TextBox 13"/>
            <p:cNvSpPr txBox="1"/>
            <p:nvPr/>
          </p:nvSpPr>
          <p:spPr>
            <a:xfrm>
              <a:off x="5667756" y="1824990"/>
              <a:ext cx="4293108" cy="99974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พันธุ์ที่ให้กลิ่นหอมคือพันธุ์ที่ไม่ต้านทานโรคใบสีส้ม</a:t>
              </a:r>
              <a:br/>
              <a:r>
                <a:rPr lang="th-TH" sz="1800" dirty="0">
                  <a:solidFill>
                    <a:schemeClr val="dk1"/>
                  </a:solidFill>
                  <a:latin typeface="+mn-lt"/>
                  <a:ea typeface="+mn-ea"/>
                  <a:cs typeface="+mn-cs"/>
                </a:rPr>
                <a:t>ขอบใบแห้ง ไหม้ ใบหงิก เพลี้ยกระโดดสีน้ำตาล</a:t>
              </a:r>
              <a:br/>
              <a:r>
                <a:rPr lang="th-TH" sz="1800" dirty="0">
                  <a:solidFill>
                    <a:schemeClr val="dk1"/>
                  </a:solidFill>
                  <a:latin typeface="+mn-lt"/>
                  <a:ea typeface="+mn-ea"/>
                  <a:cs typeface="+mn-cs"/>
                </a:rPr>
                <a:t>เพลี้ยจักจั่นสีเขียว และหนอนกอ</a:t>
              </a:r>
            </a:p>
          </p:txBody>
        </p:sp>
      </p:grpSp>
      <p:grpSp>
        <p:nvGrpSpPr>
          <p:cNvPr id="18" name="takeaway-gi-value"/>
          <p:cNvGrpSpPr/>
          <p:nvPr/>
        </p:nvGrpSpPr>
        <p:grpSpPr>
          <a:xfrm>
            <a:off x="4892278" y="2976562"/>
            <a:ext cx="6028706" cy="724472"/>
            <a:chOff x="4892278" y="2976562"/>
            <a:chExt cx="6028706" cy="724472"/>
          </a:xfrm>
        </p:grpSpPr>
        <p:sp>
          <p:nvSpPr>
            <p:cNvPr id="15" name="Freeform 15"/>
            <p:cNvSpPr/>
            <p:nvPr/>
          </p:nvSpPr>
          <p:spPr>
            <a:xfrm>
              <a:off x="4892278" y="2990850"/>
              <a:ext cx="216694" cy="247650"/>
            </a:xfrm>
            <a:custGeom>
              <a:avLst/>
              <a:gdLst/>
              <a:ahLst/>
              <a:cxnLst/>
              <a:rect l="l" t="t" r="r" b="b"/>
              <a:pathLst>
                <a:path w="216694" h="247650">
                  <a:moveTo>
                    <a:pt x="108347" y="247650"/>
                  </a:moveTo>
                  <a:lnTo>
                    <a:pt x="51853" y="207297"/>
                  </a:lnTo>
                  <a:cubicBezTo>
                    <a:pt x="19313" y="184053"/>
                    <a:pt x="0" y="146526"/>
                    <a:pt x="0" y="106537"/>
                  </a:cubicBezTo>
                  <a:lnTo>
                    <a:pt x="0" y="46434"/>
                  </a:lnTo>
                  <a:lnTo>
                    <a:pt x="108347" y="0"/>
                  </a:lnTo>
                  <a:lnTo>
                    <a:pt x="216694" y="46434"/>
                  </a:lnTo>
                  <a:lnTo>
                    <a:pt x="216694" y="106537"/>
                  </a:lnTo>
                  <a:cubicBezTo>
                    <a:pt x="216694" y="146526"/>
                    <a:pt x="197382" y="184053"/>
                    <a:pt x="164840" y="207297"/>
                  </a:cubicBezTo>
                  <a:lnTo>
                    <a:pt x="108347" y="247650"/>
                  </a:lnTo>
                  <a:close/>
                  <a:moveTo>
                    <a:pt x="173465" y="88335"/>
                  </a:moveTo>
                  <a:lnTo>
                    <a:pt x="151576" y="66446"/>
                  </a:lnTo>
                  <a:lnTo>
                    <a:pt x="92869" y="125153"/>
                  </a:lnTo>
                  <a:lnTo>
                    <a:pt x="65118" y="97402"/>
                  </a:lnTo>
                  <a:lnTo>
                    <a:pt x="43229" y="119292"/>
                  </a:lnTo>
                  <a:lnTo>
                    <a:pt x="92869" y="168931"/>
                  </a:lnTo>
                  <a:lnTo>
                    <a:pt x="173465" y="88335"/>
                  </a:lnTo>
                  <a:close/>
                </a:path>
              </a:pathLst>
            </a:custGeom>
            <a:solidFill>
              <a:schemeClr val="accent1"/>
            </a:solidFill>
            <a:ln>
              <a:noFill/>
            </a:ln>
          </p:spPr>
        </p:sp>
        <p:sp>
          <p:nvSpPr>
            <p:cNvPr id="16" name="TextBox 16"/>
            <p:cNvSpPr txBox="1"/>
            <p:nvPr/>
          </p:nvSpPr>
          <p:spPr>
            <a:xfrm>
              <a:off x="5284470" y="2976562"/>
              <a:ext cx="197782"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2</a:t>
              </a:r>
            </a:p>
          </p:txBody>
        </p:sp>
        <p:sp>
          <p:nvSpPr>
            <p:cNvPr id="17" name="TextBox 17"/>
            <p:cNvSpPr txBox="1"/>
            <p:nvPr/>
          </p:nvSpPr>
          <p:spPr>
            <a:xfrm>
              <a:off x="5667756" y="3025140"/>
              <a:ext cx="525322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มูลค่าเพิ่มที่วัดได้มาจากการคุ้มครองพื้นที่ ข้าว GI</a:t>
              </a:r>
              <a:br/>
              <a:r>
                <a:rPr lang="th-TH" sz="1800" dirty="0">
                  <a:solidFill>
                    <a:schemeClr val="dk1"/>
                  </a:solidFill>
                  <a:latin typeface="+mn-lt"/>
                  <a:ea typeface="+mn-ea"/>
                  <a:cs typeface="+mn-cs"/>
                </a:rPr>
                <a:t>ทุ่งกุลาร้องไห้ขายได้สูงกว่าข้าวธรรมดาร้อยละ 15 ถึง 20</a:t>
              </a:r>
            </a:p>
          </p:txBody>
        </p:sp>
      </p:grpSp>
      <p:grpSp>
        <p:nvGrpSpPr>
          <p:cNvPr id="22" name="takeaway-world-stage"/>
          <p:cNvGrpSpPr/>
          <p:nvPr/>
        </p:nvGrpSpPr>
        <p:grpSpPr>
          <a:xfrm>
            <a:off x="4876800" y="3852862"/>
            <a:ext cx="4455414" cy="724472"/>
            <a:chOff x="4876800" y="3852862"/>
            <a:chExt cx="4455414" cy="724472"/>
          </a:xfrm>
        </p:grpSpPr>
        <p:sp>
          <p:nvSpPr>
            <p:cNvPr id="19" name="Freeform 19"/>
            <p:cNvSpPr/>
            <p:nvPr/>
          </p:nvSpPr>
          <p:spPr>
            <a:xfrm>
              <a:off x="4876800" y="3867150"/>
              <a:ext cx="247650" cy="247650"/>
            </a:xfrm>
            <a:custGeom>
              <a:avLst/>
              <a:gdLst/>
              <a:ahLst/>
              <a:cxnLst/>
              <a:rect l="l" t="t" r="r" b="b"/>
              <a:pathLst>
                <a:path w="247650" h="247650">
                  <a:moveTo>
                    <a:pt x="61912" y="0"/>
                  </a:moveTo>
                  <a:lnTo>
                    <a:pt x="185738" y="0"/>
                  </a:lnTo>
                  <a:lnTo>
                    <a:pt x="185738" y="30956"/>
                  </a:lnTo>
                  <a:lnTo>
                    <a:pt x="247650" y="30956"/>
                  </a:lnTo>
                  <a:lnTo>
                    <a:pt x="247650" y="61912"/>
                  </a:lnTo>
                  <a:cubicBezTo>
                    <a:pt x="247650" y="99933"/>
                    <a:pt x="220232" y="131550"/>
                    <a:pt x="184091" y="138071"/>
                  </a:cubicBezTo>
                  <a:cubicBezTo>
                    <a:pt x="178830" y="160411"/>
                    <a:pt x="161468" y="178082"/>
                    <a:pt x="139303" y="183787"/>
                  </a:cubicBezTo>
                  <a:lnTo>
                    <a:pt x="139303" y="216694"/>
                  </a:lnTo>
                  <a:lnTo>
                    <a:pt x="185738" y="216694"/>
                  </a:lnTo>
                  <a:lnTo>
                    <a:pt x="185738" y="247650"/>
                  </a:lnTo>
                  <a:lnTo>
                    <a:pt x="61912" y="247650"/>
                  </a:lnTo>
                  <a:lnTo>
                    <a:pt x="61912" y="216694"/>
                  </a:lnTo>
                  <a:lnTo>
                    <a:pt x="108347" y="216694"/>
                  </a:lnTo>
                  <a:lnTo>
                    <a:pt x="108347" y="183787"/>
                  </a:lnTo>
                  <a:cubicBezTo>
                    <a:pt x="86182" y="178082"/>
                    <a:pt x="68820" y="160411"/>
                    <a:pt x="63559" y="138071"/>
                  </a:cubicBezTo>
                  <a:cubicBezTo>
                    <a:pt x="27417" y="131550"/>
                    <a:pt x="0" y="99933"/>
                    <a:pt x="0" y="61912"/>
                  </a:cubicBezTo>
                  <a:lnTo>
                    <a:pt x="0" y="30956"/>
                  </a:lnTo>
                  <a:lnTo>
                    <a:pt x="61912" y="30956"/>
                  </a:lnTo>
                  <a:lnTo>
                    <a:pt x="61912" y="0"/>
                  </a:lnTo>
                  <a:close/>
                  <a:moveTo>
                    <a:pt x="185738" y="105705"/>
                  </a:moveTo>
                  <a:lnTo>
                    <a:pt x="185738" y="61912"/>
                  </a:lnTo>
                  <a:lnTo>
                    <a:pt x="216694" y="61912"/>
                  </a:lnTo>
                  <a:cubicBezTo>
                    <a:pt x="216694" y="82130"/>
                    <a:pt x="203773" y="99330"/>
                    <a:pt x="185738" y="105705"/>
                  </a:cubicBezTo>
                  <a:close/>
                  <a:moveTo>
                    <a:pt x="61912" y="61912"/>
                  </a:moveTo>
                  <a:lnTo>
                    <a:pt x="30956" y="61912"/>
                  </a:lnTo>
                  <a:cubicBezTo>
                    <a:pt x="30956" y="82130"/>
                    <a:pt x="43878" y="99330"/>
                    <a:pt x="61912" y="105705"/>
                  </a:cubicBezTo>
                  <a:lnTo>
                    <a:pt x="61912" y="61912"/>
                  </a:lnTo>
                  <a:close/>
                </a:path>
              </a:pathLst>
            </a:custGeom>
            <a:solidFill>
              <a:schemeClr val="accent2"/>
            </a:solidFill>
            <a:ln>
              <a:noFill/>
            </a:ln>
          </p:spPr>
        </p:sp>
        <p:sp>
          <p:nvSpPr>
            <p:cNvPr id="20" name="TextBox 20"/>
            <p:cNvSpPr txBox="1"/>
            <p:nvPr/>
          </p:nvSpPr>
          <p:spPr>
            <a:xfrm>
              <a:off x="5284470" y="3852862"/>
              <a:ext cx="197782"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3</a:t>
              </a:r>
            </a:p>
          </p:txBody>
        </p:sp>
        <p:sp>
          <p:nvSpPr>
            <p:cNvPr id="21" name="TextBox 21"/>
            <p:cNvSpPr txBox="1"/>
            <p:nvPr/>
          </p:nvSpPr>
          <p:spPr>
            <a:xfrm>
              <a:off x="5667756" y="3901440"/>
              <a:ext cx="366445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ตำแหน่งข้าวที่ดีที่สุดในโลกเปลี่ยนมือทุกปี</a:t>
              </a:r>
              <a:br/>
              <a:r>
                <a:rPr lang="th-TH" sz="1800" dirty="0">
                  <a:solidFill>
                    <a:schemeClr val="dk1"/>
                  </a:solidFill>
                  <a:latin typeface="+mn-lt"/>
                  <a:ea typeface="+mn-ea"/>
                  <a:cs typeface="+mn-cs"/>
                </a:rPr>
                <a:t>ไทยชนะครั้งล่าสุดในปี 2564</a:t>
              </a:r>
            </a:p>
          </p:txBody>
        </p:sp>
      </p:grpSp>
      <p:grpSp>
        <p:nvGrpSpPr>
          <p:cNvPr id="25" name="closing-line"/>
          <p:cNvGrpSpPr/>
          <p:nvPr/>
        </p:nvGrpSpPr>
        <p:grpSpPr>
          <a:xfrm>
            <a:off x="598170" y="5676900"/>
            <a:ext cx="10984230" cy="616267"/>
            <a:chOff x="598170" y="5676900"/>
            <a:chExt cx="10984230" cy="616267"/>
          </a:xfrm>
        </p:grpSpPr>
        <p:sp>
          <p:nvSpPr>
            <p:cNvPr id="23" name="Rectangle 23"/>
            <p:cNvSpPr/>
            <p:nvPr/>
          </p:nvSpPr>
          <p:spPr>
            <a:xfrm>
              <a:off x="609600" y="5676900"/>
              <a:ext cx="10972800" cy="38100"/>
            </a:xfrm>
            <a:prstGeom prst="rect">
              <a:avLst/>
            </a:prstGeom>
            <a:solidFill>
              <a:schemeClr val="accent2"/>
            </a:solidFill>
            <a:ln>
              <a:noFill/>
            </a:ln>
          </p:spPr>
        </p:sp>
        <p:sp>
          <p:nvSpPr>
            <p:cNvPr id="24" name="TextBox 24"/>
            <p:cNvSpPr txBox="1"/>
            <p:nvPr/>
          </p:nvSpPr>
          <p:spPr>
            <a:xfrm>
              <a:off x="598170" y="5853112"/>
              <a:ext cx="9071091"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เมล็ดที่ 105 จาก 199 รวงยังเป็นเมล็ดเดิม สิ่งที่เปลี่ยนคือสิ่งที่อยู่รอบมัน</a:t>
              </a:r>
            </a:p>
          </p:txBody>
        </p:sp>
      </p:grpSp>
      <p:grpSp>
        <p:nvGrpSpPr>
          <p:cNvPr id="28" name="page-footer"/>
          <p:cNvGrpSpPr/>
          <p:nvPr/>
        </p:nvGrpSpPr>
        <p:grpSpPr>
          <a:xfrm>
            <a:off x="603504" y="6271260"/>
            <a:ext cx="10984992" cy="425196"/>
            <a:chOff x="603504" y="6271260"/>
            <a:chExt cx="10984992" cy="425196"/>
          </a:xfrm>
        </p:grpSpPr>
        <p:sp>
          <p:nvSpPr>
            <p:cNvPr id="26" name="TextBox 26"/>
            <p:cNvSpPr txBox="1"/>
            <p:nvPr/>
          </p:nvSpPr>
          <p:spPr>
            <a:xfrm>
              <a:off x="603504" y="6271260"/>
              <a:ext cx="9095232" cy="425196"/>
            </a:xfrm>
            <a:prstGeom prst="rect">
              <a:avLst/>
            </a:prstGeom>
            <a:noFill/>
            <a:ln>
              <a:noFill/>
            </a:ln>
          </p:spPr>
          <p:txBody>
            <a:bodyPr wrap="none" lIns="0" tIns="0" rIns="0" bIns="0" anchor="t" anchorCtr="0">
              <a:spAutoFit/>
            </a:bodyPr>
            <a:lstStyle/>
            <a:p>
              <a:pPr algn="l">
                <a:lnSpc>
                  <a:spcPts val="1500"/>
                </a:lnSpc>
              </a:pPr>
              <a:r>
                <a:rPr lang="th-TH" sz="1200" dirty="0">
                  <a:solidFill>
                    <a:schemeClr val="accent5"/>
                  </a:solidFill>
                  <a:latin typeface="Tahoma"/>
                  <a:ea typeface="Tahoma"/>
                  <a:cs typeface="Tahoma"/>
                </a:rPr>
                <a:t>แหล่งข้อมูลหลัก: Rice Knowledge Bank กรมการข้าว · สำนักงานปลัดกระทรวงเกษตรและสหกรณ์ · สำนักงานประชาสัมพันธ์จังหวัดร้อยเอ็ด (2550)</a:t>
              </a:r>
              <a:br/>
              <a:r>
                <a:rPr lang="th-TH" sz="1200" dirty="0">
                  <a:solidFill>
                    <a:schemeClr val="accent5"/>
                  </a:solidFill>
                  <a:latin typeface="Tahoma"/>
                  <a:ea typeface="Tahoma"/>
                  <a:cs typeface="Tahoma"/>
                </a:rPr>
                <a:t>Commission Implementing Regulation (EU) No 120/2013 · WIPO · USDA FAS TH2025-0011 (2568) · กรมประชาสัมพันธ์ (2567)</a:t>
              </a:r>
            </a:p>
          </p:txBody>
        </p:sp>
        <p:sp>
          <p:nvSpPr>
            <p:cNvPr id="27" name="TextBox 2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15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500"/>
                                        <p:tgtEl>
                                          <p:spTgt spid="18"/>
                                        </p:tgtEl>
                                      </p:cBhvr>
                                    </p:animEffect>
                                  </p:childTnLst>
                                </p:cTn>
                              </p:par>
                            </p:childTnLst>
                          </p:cTn>
                        </p:par>
                        <p:par>
                          <p:cTn id="12" fill="hold">
                            <p:stCondLst>
                              <p:cond delay="1150"/>
                            </p:stCondLst>
                            <p:childTnLst>
                              <p:par>
                                <p:cTn xmlns:p="http://schemas.openxmlformats.org/presentationml/2006/main" id="13" presetID="22" presetClass="entr" presetSubtype="2" fill="hold" grpId="0" nodeType="afterEffect">
                                  <p:stCondLst>
                                    <p:cond delay="150"/>
                                  </p:stCondLst>
                                  <p:childTnLst>
                                    <p:set>
                                      <p:cBhvr>
                                        <p:cTn id="14" dur="1" fill="hold">
                                          <p:stCondLst>
                                            <p:cond delay="0"/>
                                          </p:stCondLst>
                                        </p:cTn>
                                        <p:tgtEl>
                                          <p:spTgt spid="22"/>
                                        </p:tgtEl>
                                        <p:attrNameLst>
                                          <p:attrName>style.visibility</p:attrName>
                                        </p:attrNameLst>
                                      </p:cBhvr>
                                      <p:to>
                                        <p:strVal val="visible"/>
                                      </p:to>
                                    </p:set>
                                    <p:animEffect transition="in" filter="wipe(right)">
                                      <p:cBhvr>
                                        <p:cTn id="15" dur="500"/>
                                        <p:tgtEl>
                                          <p:spTgt spid="22"/>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thai_jasmine_rice_th">
  <a:themeElements>
    <a:clrScheme name="ppt169_thai_jasmine_rice_th">
      <a:dk1>
        <a:srgbClr val="26241F"/>
      </a:dk1>
      <a:lt1>
        <a:srgbClr val="FBF7EF"/>
      </a:lt1>
      <a:dk2>
        <a:srgbClr val="1F497D"/>
      </a:dk2>
      <a:lt2>
        <a:srgbClr val="F1E8D6"/>
      </a:lt2>
      <a:accent1>
        <a:srgbClr val="2F5D3A"/>
      </a:accent1>
      <a:accent2>
        <a:srgbClr val="C8952B"/>
      </a:accent2>
      <a:accent3>
        <a:srgbClr val="8C3B2E"/>
      </a:accent3>
      <a:accent4>
        <a:srgbClr val="2F5D3A"/>
      </a:accent4>
      <a:accent5>
        <a:srgbClr val="5F5A50"/>
      </a:accent5>
      <a:accent6>
        <a:srgbClr val="DCD3C2"/>
      </a:accent6>
      <a:hlink>
        <a:srgbClr val="C8952B"/>
      </a:hlink>
      <a:folHlink>
        <a:srgbClr val="8C3B2E"/>
      </a:folHlink>
    </a:clrScheme>
    <a:fontScheme name="ppt169_thai_jasmine_rice_th">
      <a:majorFont>
        <a:latin typeface="Leelawadee UI"/>
        <a:ea typeface="Microsoft YaHei"/>
        <a:cs typeface="Leelawadee UI"/>
        <a:font script="Jpan" typeface="Microsoft YaHei"/>
        <a:font script="Hang" typeface="Microsoft YaHei"/>
        <a:font script="Hans" typeface="Microsoft YaHei"/>
        <a:font script="Hant" typeface="Microsoft YaHei"/>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eelawadee UI"/>
        <a:ea typeface="Microsoft YaHei"/>
        <a:cs typeface="Leelawadee UI"/>
        <a:font script="Jpan" typeface="Microsoft YaHei"/>
        <a:font script="Hang" typeface="Microsoft YaHei"/>
        <a:font script="Hans" typeface="Microsoft YaHei"/>
        <a:font script="Hant" typeface="Microsoft YaHei"/>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hai_jasmine_rice_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thai_jasmine_rice_th">
  <a:themeElements>
    <a:clrScheme name="ppt169_thai_jasmine_rice_th">
      <a:dk1>
        <a:srgbClr val="26241F"/>
      </a:dk1>
      <a:lt1>
        <a:srgbClr val="FBF7EF"/>
      </a:lt1>
      <a:dk2>
        <a:srgbClr val="1F497D"/>
      </a:dk2>
      <a:lt2>
        <a:srgbClr val="F1E8D6"/>
      </a:lt2>
      <a:accent1>
        <a:srgbClr val="2F5D3A"/>
      </a:accent1>
      <a:accent2>
        <a:srgbClr val="C8952B"/>
      </a:accent2>
      <a:accent3>
        <a:srgbClr val="8C3B2E"/>
      </a:accent3>
      <a:accent4>
        <a:srgbClr val="2F5D3A"/>
      </a:accent4>
      <a:accent5>
        <a:srgbClr val="5F5A50"/>
      </a:accent5>
      <a:accent6>
        <a:srgbClr val="DCD3C2"/>
      </a:accent6>
      <a:hlink>
        <a:srgbClr val="C8952B"/>
      </a:hlink>
      <a:folHlink>
        <a:srgbClr val="8C3B2E"/>
      </a:folHlink>
    </a:clrScheme>
    <a:fontScheme name="ppt169_thai_jasmine_rice_th">
      <a:majorFont>
        <a:latin typeface="Leelawadee UI"/>
        <a:ea typeface="Microsoft YaHei"/>
        <a:cs typeface="Leelawadee UI"/>
        <a:font script="Jpan" typeface="Microsoft YaHei"/>
        <a:font script="Hang" typeface="Microsoft YaHei"/>
        <a:font script="Hans" typeface="Microsoft YaHei"/>
        <a:font script="Hant" typeface="Microsoft YaHei"/>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eelawadee UI"/>
        <a:ea typeface="Microsoft YaHei"/>
        <a:cs typeface="Leelawadee UI"/>
        <a:font script="Jpan" typeface="Microsoft YaHei"/>
        <a:font script="Hang" typeface="Microsoft YaHei"/>
        <a:font script="Hans" typeface="Microsoft YaHei"/>
        <a:font script="Hant" typeface="Microsoft YaHei"/>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hai_jasmine_rice_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th-TH</dc:language>
  <cp:lastModifiedBy/>
  <cp:revision>1</cp:revision>
  <dcterms:created xsi:type="dcterms:W3CDTF">2026-09-12T02:48:39Z</dcterms:created>
  <dcterms:modified xsi:type="dcterms:W3CDTF">2026-09-12T02:48:39Z</dcterms:modified>
  <cp:category/>
  <cp:contentStatus/>
</cp:coreProperties>
</file>