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301.xml" ContentType="application/vnd.openxmlformats-officedocument.drawingml.chart+xml"/>
  <Override PartName="/ppt/charts/chart5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753600" cy="7315200" type="screen4x3"/>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charts/_rels/chart501.xml.rels><?xml version="1.0" encoding="UTF-8" standalone="yes"?>
<Relationships xmlns="http://schemas.openxmlformats.org/package/2006/relationships">
<Relationship Id="rId1" Type="http://schemas.openxmlformats.org/officeDocument/2006/relationships/package" Target="../embeddings/Microsoft_Excel_Sheet501.xlsx"/>
</Relationships>
</file>

<file path=ppt/charts/_rels/chart1301.xml.rels><?xml version="1.0" encoding="UTF-8" standalone="yes"?>
<Relationships xmlns="http://schemas.openxmlformats.org/package/2006/relationships">
<Relationship Id="rId1" Type="http://schemas.openxmlformats.org/officeDocument/2006/relationships/package" Target="../embeddings/Microsoft_Excel_Sheet1301.xlsx"/>
</Relationships>
</file>

<file path=ppt/charts/chart501.xml><?xml version="1.0" encoding="utf-8"?>
<c:chartSpace xmlns:c="http://schemas.openxmlformats.org/drawingml/2006/chart" xmlns:a="http://schemas.openxmlformats.org/drawingml/2006/main" xmlns:r="http://schemas.openxmlformats.org/officeDocument/2006/relationships">
  <c:date1904 val="0"/>
  <c:lang val="zh-CN"/>
  <c:chart>
    <c:title>
      <c:tx>
        <c:rich>
          <a:bodyPr/>
          <a:lstStyle/>
          <a:p>
            <a:pPr/>
            <a:r>
              <a:rPr lang="zh-CN" sz="1350">
                <a:solidFill>
                  <a:srgbClr val="1B2027"/>
                </a:solidFill>
                <a:latin typeface="Cambria"/>
                <a:ea typeface="Microsoft YaHei"/>
                <a:cs typeface="Cambria"/>
              </a:rPr>
              <a:t>前五个奇次谐波的相对幅度</a:t>
            </a:r>
          </a:p>
        </c:rich>
      </c:tx>
      <c:layout/>
      <c:overlay val="0"/>
    </c:title>
    <c:autoTitleDeleted val="0"/>
    <c:plotArea>
      <c:layout>
        <c:manualLayout>
          <c:layoutTarget val="inner"/>
          <c:xMode val="edge"/>
          <c:yMode val="edge"/>
          <c:wMode val="factor"/>
          <c:hMode val="factor"/>
          <c:x val="0.0212765957447"/>
          <c:y val="0.0916030534351"/>
          <c:w val="0.851063829787"/>
          <c:h val="0.763358778626"/>
        </c:manualLayout>
      </c:layout>
      <c:barChart>
        <c:barDir val="col"/>
        <c:grouping val="clustered"/>
        <c:varyColors val="0"/>
        <c:ser>
          <c:idx val="0"/>
          <c:order val="0"/>
          <c:tx>
            <c:strRef>
              <c:f>Sheet1!$B$1</c:f>
              <c:strCache>
                <c:ptCount val="1"/>
                <c:pt idx="0">
                  <c:v>相对幅度</c:v>
                </c:pt>
              </c:strCache>
            </c:strRef>
          </c:tx>
          <c:spPr>
            <a:solidFill>
              <a:schemeClr val="accent1"/>
            </a:solidFill>
            <a:ln>
              <a:solidFill>
                <a:schemeClr val="accent1"/>
              </a:solidFill>
            </a:ln>
          </c:spPr>
          <c:invertIfNegative val="0"/>
          <c:cat>
            <c:strRef>
              <c:f>Sheet1!$A$2:$A$6</c:f>
              <c:strCache>
                <c:ptCount val="5"/>
                <c:pt idx="0">
                  <c:v>k=1</c:v>
                </c:pt>
                <c:pt idx="1">
                  <c:v>k=3</c:v>
                </c:pt>
                <c:pt idx="2">
                  <c:v>k=5</c:v>
                </c:pt>
                <c:pt idx="3">
                  <c:v>k=7</c:v>
                </c:pt>
                <c:pt idx="4">
                  <c:v>k=9</c:v>
                </c:pt>
              </c:strCache>
            </c:strRef>
          </c:cat>
          <c:val>
            <c:numRef>
              <c:f>Sheet1!$B$2:$B$6</c:f>
              <c:numCache>
                <c:formatCode>General</c:formatCode>
                <c:ptCount val="5"/>
                <c:pt idx="0">
                  <c:v>1</c:v>
                </c:pt>
                <c:pt idx="1">
                  <c:v>0.33</c:v>
                </c:pt>
                <c:pt idx="2">
                  <c:v>0.2</c:v>
                </c:pt>
                <c:pt idx="3">
                  <c:v>0.14</c:v>
                </c:pt>
                <c:pt idx="4">
                  <c:v>0.11</c:v>
                </c:pt>
              </c:numCache>
            </c:numRef>
          </c:val>
        </c:ser>
        <c:dLbls>
          <c:txPr>
            <a:bodyPr/>
            <a:lstStyle/>
            <a:p>
              <a:pPr>
                <a:defRPr lang="zh-CN" sz="1350">
                  <a:solidFill>
                    <a:srgbClr val="1B2027"/>
                  </a:solidFill>
                  <a:latin typeface="Cambria"/>
                  <a:ea typeface="Microsoft YaHei"/>
                  <a:cs typeface="Cambria"/>
                </a:defRPr>
              </a:pPr>
              <a:endParaRPr lang="zh-CN"/>
            </a:p>
          </c:txPr>
          <c:dLblPos val="outEnd"/>
          <c:showLegendKey val="0"/>
          <c:showVal val="1"/>
          <c:showCatName val="0"/>
          <c:showSerName val="0"/>
          <c:showPercent val="0"/>
          <c:showBubbleSize val="0"/>
          <c:showLeaderLines val="0"/>
        </c:dLbls>
        <c:gapWidth val="82"/>
        <c:axId val="2068027336"/>
        <c:axId val="2113994440"/>
      </c:barChart>
      <c:catAx>
        <c:axId val="2068027336"/>
        <c:scaling>
          <c:orientation val="minMax"/>
        </c:scaling>
        <c:delete val="0"/>
        <c:axPos val="b"/>
        <c:majorTickMark val="none"/>
        <c:minorTickMark val="none"/>
        <c:tickLblPos val="nextTo"/>
        <c:spPr>
          <a:ln w="9525" cap="flat" cmpd="sng" algn="ctr">
            <a:solidFill>
              <a:srgbClr val="5A6472"/>
            </a:solidFill>
            <a:round/>
          </a:ln>
        </c:spPr>
        <c:txPr>
          <a:bodyPr/>
          <a:lstStyle/>
          <a:p>
            <a:pPr>
              <a:defRPr lang="zh-CN" sz="1350">
                <a:solidFill>
                  <a:srgbClr val="1B2027"/>
                </a:solidFill>
                <a:latin typeface="Cambria"/>
                <a:ea typeface="Microsoft YaHei"/>
                <a:cs typeface="Cambria"/>
              </a:defRPr>
            </a:pPr>
            <a:endParaRPr lang="zh-CN"/>
          </a:p>
        </c:txPr>
        <c:crossAx val="2113994440"/>
        <c:crosses val="autoZero"/>
        <c:auto val="1"/>
        <c:lblAlgn val="ctr"/>
        <c:lblOffset val="100"/>
        <c:noMultiLvlLbl val="0"/>
      </c:catAx>
      <c:valAx>
        <c:axId val="2113994440"/>
        <c:scaling>
          <c:orientation val="minMax"/>
          <c:max val="1"/>
          <c:min val="0"/>
        </c:scaling>
        <c:delete val="0"/>
        <c:axPos val="l"/>
        <c:majorGridlines>
          <c:spPr>
            <a:ln w="6350" cap="flat" cmpd="sng" algn="ctr">
              <a:solidFill>
                <a:srgbClr val="5A6472"/>
              </a:solidFill>
              <a:round/>
            </a:ln>
          </c:spPr>
        </c:majorGridlines>
        <c:majorTickMark val="none"/>
        <c:minorTickMark val="none"/>
        <c:tickLblPos val="none"/>
        <c:spPr>
          <a:ln w="9525" cap="flat" cmpd="sng" algn="ctr">
            <a:solidFill>
              <a:srgbClr val="5A6472"/>
            </a:solidFill>
            <a:round/>
          </a:ln>
        </c:spPr>
        <c:txPr>
          <a:bodyPr/>
          <a:lstStyle/>
          <a:p>
            <a:pPr>
              <a:defRPr lang="zh-CN" sz="1350">
                <a:solidFill>
                  <a:srgbClr val="1B2027"/>
                </a:solidFill>
                <a:latin typeface="Cambria"/>
                <a:ea typeface="Microsoft YaHei"/>
                <a:cs typeface="Cambria"/>
              </a:defRPr>
            </a:pPr>
            <a:endParaRPr lang="zh-CN"/>
          </a:p>
        </c:txPr>
        <c:crossAx val="2068027336"/>
        <c:crosses val="autoZero"/>
        <c:crossBetween val="between"/>
      </c:valAx>
      <c:spPr>
        <a:noFill/>
        <a:ln>
          <a:noFill/>
        </a:ln>
      </c:spPr>
    </c:plotArea>
    <c:plotVisOnly val="1"/>
    <c:dispBlanksAs val="gap"/>
  </c:chart>
  <c:spPr>
    <a:noFill/>
    <a:ln>
      <a:noFill/>
    </a:ln>
  </c:spPr>
  <c:txPr>
    <a:bodyPr/>
    <a:lstStyle/>
    <a:p>
      <a:pPr>
        <a:defRPr lang="zh-CN" sz="1350">
          <a:solidFill>
            <a:srgbClr val="1B2027"/>
          </a:solidFill>
          <a:latin typeface="Cambria"/>
          <a:ea typeface="Microsoft YaHei"/>
          <a:cs typeface="Cambria"/>
        </a:defRPr>
      </a:pPr>
      <a:endParaRPr lang="zh-CN"/>
    </a:p>
  </c:txPr>
  <c:externalData r:id="rId1">
    <c:autoUpdate val="0"/>
  </c:externalData>
</c:chartSpace>
</file>

<file path=ppt/charts/chart1301.xml><?xml version="1.0" encoding="utf-8"?>
<c:chartSpace xmlns:c="http://schemas.openxmlformats.org/drawingml/2006/chart" xmlns:a="http://schemas.openxmlformats.org/drawingml/2006/main" xmlns:r="http://schemas.openxmlformats.org/officeDocument/2006/relationships">
  <c:date1904 val="0"/>
  <c:lang val="zh-CN"/>
  <c:chart>
    <c:title>
      <c:tx>
        <c:rich>
          <a:bodyPr/>
          <a:lstStyle/>
          <a:p>
            <a:pPr/>
            <a:r>
              <a:rPr lang="zh-CN" sz="1350">
                <a:solidFill>
                  <a:srgbClr val="1B2027"/>
                </a:solidFill>
                <a:latin typeface="Cambria"/>
                <a:ea typeface="Microsoft YaHei"/>
                <a:cs typeface="Cambria"/>
              </a:rPr>
              <a:t>复数乘加次数(线性刻度)</a:t>
            </a:r>
          </a:p>
        </c:rich>
      </c:tx>
      <c:layout/>
      <c:overlay val="0"/>
    </c:title>
    <c:autoTitleDeleted val="0"/>
    <c:plotArea>
      <c:layout>
        <c:manualLayout>
          <c:layoutTarget val="inner"/>
          <c:xMode val="edge"/>
          <c:yMode val="edge"/>
          <c:wMode val="factor"/>
          <c:hMode val="factor"/>
          <c:x val="0.165384615385"/>
          <c:y val="0.148936170213"/>
          <c:w val="0.788461538462"/>
          <c:h val="0.63829787234"/>
        </c:manualLayout>
      </c:layout>
      <c:lineChart>
        <c:grouping val="standard"/>
        <c:varyColors val="0"/>
        <c:ser>
          <c:idx val="0"/>
          <c:order val="0"/>
          <c:tx>
            <c:strRef>
              <c:f>Sheet1!$B$1</c:f>
              <c:strCache>
                <c:ptCount val="1"/>
                <c:pt idx="0">
                  <c:v>直接算 N²</c:v>
                </c:pt>
              </c:strCache>
            </c:strRef>
          </c:tx>
          <c:spPr>
            <a:solidFill>
              <a:schemeClr val="accent2"/>
            </a:solidFill>
            <a:ln>
              <a:solidFill>
                <a:schemeClr val="accent2"/>
              </a:solidFill>
            </a:ln>
          </c:spPr>
          <c:marker>
            <c:symbol val="circle"/>
            <c:size val="7"/>
            <c:spPr>
              <a:solidFill>
                <a:schemeClr val="accent2"/>
              </a:solidFill>
              <a:ln>
                <a:solidFill>
                  <a:schemeClr val="accent2"/>
                </a:solidFill>
              </a:ln>
            </c:spPr>
          </c:marker>
          <c:dLbls>
            <c:dLbl>
              <c:idx val="0"/>
              <c:delete val="1"/>
            </c:dLbl>
            <c:dLbl>
              <c:idx val="1"/>
              <c:delete val="1"/>
            </c:dLbl>
            <c:dLbl>
              <c:idx val="2"/>
              <c:numFmt formatCode="#,##0" sourceLinked="0"/>
              <c:txPr>
                <a:bodyPr/>
                <a:lstStyle/>
                <a:p>
                  <a:pPr>
                    <a:defRPr lang="zh-CN" sz="1350">
                      <a:solidFill>
                        <a:srgbClr val="1B2027"/>
                      </a:solidFill>
                      <a:latin typeface="Cambria"/>
                      <a:ea typeface="Microsoft YaHei"/>
                      <a:cs typeface="Cambria"/>
                    </a:defRPr>
                  </a:pPr>
                  <a:endParaRPr lang="zh-CN"/>
                </a:p>
              </c:txPr>
              <c:dLblPos val="t"/>
              <c:showLegendKey val="0"/>
              <c:showVal val="1"/>
              <c:showCatName val="0"/>
              <c:showSerName val="0"/>
              <c:showPercent val="0"/>
              <c:showBubbleSize val="0"/>
            </c:dLbl>
            <c:showLeaderLines val="0"/>
          </c:dLbls>
          <c:cat>
            <c:strRef>
              <c:f>Sheet1!$A$2:$A$4</c:f>
              <c:strCache>
                <c:ptCount val="3"/>
                <c:pt idx="0">
                  <c:v>N=64</c:v>
                </c:pt>
                <c:pt idx="1">
                  <c:v>N=256</c:v>
                </c:pt>
                <c:pt idx="2">
                  <c:v>N=1024</c:v>
                </c:pt>
              </c:strCache>
            </c:strRef>
          </c:cat>
          <c:val>
            <c:numRef>
              <c:f>Sheet1!$B$2:$B$4</c:f>
              <c:numCache>
                <c:formatCode>General</c:formatCode>
                <c:ptCount val="3"/>
                <c:pt idx="0">
                  <c:v>4096</c:v>
                </c:pt>
                <c:pt idx="1">
                  <c:v>65536</c:v>
                </c:pt>
                <c:pt idx="2">
                  <c:v>1048576</c:v>
                </c:pt>
              </c:numCache>
            </c:numRef>
          </c:val>
          <c:smooth val="0"/>
        </c:ser>
        <c:ser>
          <c:idx val="1"/>
          <c:order val="1"/>
          <c:tx>
            <c:strRef>
              <c:f>Sheet1!$C$1</c:f>
              <c:strCache>
                <c:ptCount val="1"/>
                <c:pt idx="0">
                  <c:v>FFT N·log₂N</c:v>
                </c:pt>
              </c:strCache>
            </c:strRef>
          </c:tx>
          <c:spPr>
            <a:solidFill>
              <a:schemeClr val="accent3"/>
            </a:solidFill>
            <a:ln>
              <a:solidFill>
                <a:schemeClr val="accent3"/>
              </a:solidFill>
            </a:ln>
          </c:spPr>
          <c:marker>
            <c:symbol val="circle"/>
            <c:size val="7"/>
            <c:spPr>
              <a:solidFill>
                <a:schemeClr val="accent3"/>
              </a:solidFill>
              <a:ln>
                <a:solidFill>
                  <a:schemeClr val="accent3"/>
                </a:solidFill>
              </a:ln>
            </c:spPr>
          </c:marker>
          <c:dLbls>
            <c:dLbl>
              <c:idx val="0"/>
              <c:delete val="1"/>
            </c:dLbl>
            <c:dLbl>
              <c:idx val="1"/>
              <c:delete val="1"/>
            </c:dLbl>
            <c:dLbl>
              <c:idx val="2"/>
              <c:numFmt formatCode="#,##0" sourceLinked="0"/>
              <c:txPr>
                <a:bodyPr/>
                <a:lstStyle/>
                <a:p>
                  <a:pPr>
                    <a:defRPr lang="zh-CN" sz="1350">
                      <a:solidFill>
                        <a:srgbClr val="1B2027"/>
                      </a:solidFill>
                      <a:latin typeface="Cambria"/>
                      <a:ea typeface="Microsoft YaHei"/>
                      <a:cs typeface="Cambria"/>
                    </a:defRPr>
                  </a:pPr>
                  <a:endParaRPr lang="zh-CN"/>
                </a:p>
              </c:txPr>
              <c:dLblPos val="t"/>
              <c:showLegendKey val="0"/>
              <c:showVal val="1"/>
              <c:showCatName val="0"/>
              <c:showSerName val="0"/>
              <c:showPercent val="0"/>
              <c:showBubbleSize val="0"/>
            </c:dLbl>
            <c:showLeaderLines val="0"/>
          </c:dLbls>
          <c:cat>
            <c:strRef>
              <c:f>Sheet1!$A$2:$A$4</c:f>
              <c:strCache>
                <c:ptCount val="3"/>
                <c:pt idx="0">
                  <c:v>N=64</c:v>
                </c:pt>
                <c:pt idx="1">
                  <c:v>N=256</c:v>
                </c:pt>
                <c:pt idx="2">
                  <c:v>N=1024</c:v>
                </c:pt>
              </c:strCache>
            </c:strRef>
          </c:cat>
          <c:val>
            <c:numRef>
              <c:f>Sheet1!$C$2:$C$4</c:f>
              <c:numCache>
                <c:formatCode>General</c:formatCode>
                <c:ptCount val="3"/>
                <c:pt idx="0">
                  <c:v>384</c:v>
                </c:pt>
                <c:pt idx="1">
                  <c:v>2048</c:v>
                </c:pt>
                <c:pt idx="2">
                  <c:v>10240</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rgbClr val="5A6472"/>
            </a:solidFill>
            <a:round/>
          </a:ln>
        </c:spPr>
        <c:txPr>
          <a:bodyPr/>
          <a:lstStyle/>
          <a:p>
            <a:pPr>
              <a:defRPr lang="zh-CN" sz="1350">
                <a:solidFill>
                  <a:srgbClr val="1B2027"/>
                </a:solidFill>
                <a:latin typeface="Cambria"/>
                <a:ea typeface="Microsoft YaHei"/>
                <a:cs typeface="Cambria"/>
              </a:defRPr>
            </a:pPr>
            <a:endParaRPr lang="zh-CN"/>
          </a:p>
        </c:txPr>
        <c:crossAx val="2113994440"/>
        <c:crosses val="autoZero"/>
        <c:auto val="1"/>
        <c:lblAlgn val="ctr"/>
        <c:lblOffset val="100"/>
        <c:noMultiLvlLbl val="0"/>
      </c:catAx>
      <c:valAx>
        <c:axId val="2113994440"/>
        <c:scaling>
          <c:orientation val="minMax"/>
          <c:max val="1100000"/>
          <c:min val="0"/>
        </c:scaling>
        <c:delete val="0"/>
        <c:axPos val="l"/>
        <c:majorGridlines>
          <c:spPr>
            <a:ln w="6350" cap="flat" cmpd="sng" algn="ctr">
              <a:solidFill>
                <a:srgbClr val="5A6472"/>
              </a:solidFill>
              <a:round/>
            </a:ln>
          </c:spPr>
        </c:majorGridlines>
        <c:majorTickMark val="none"/>
        <c:minorTickMark val="none"/>
        <c:tickLblPos val="none"/>
        <c:spPr>
          <a:ln w="9525" cap="flat" cmpd="sng" algn="ctr">
            <a:solidFill>
              <a:srgbClr val="5A6472"/>
            </a:solidFill>
            <a:round/>
          </a:ln>
        </c:spPr>
        <c:txPr>
          <a:bodyPr/>
          <a:lstStyle/>
          <a:p>
            <a:pPr>
              <a:defRPr lang="zh-CN" sz="1350">
                <a:solidFill>
                  <a:srgbClr val="1B2027"/>
                </a:solidFill>
                <a:latin typeface="Cambria"/>
                <a:ea typeface="Microsoft YaHei"/>
                <a:cs typeface="Cambria"/>
              </a:defRPr>
            </a:pPr>
            <a:endParaRPr lang="zh-CN"/>
          </a:p>
        </c:txPr>
        <c:crossAx val="2068027336"/>
        <c:crosses val="autoZero"/>
        <c:crossBetween val="between"/>
      </c:valAx>
      <c:spPr>
        <a:noFill/>
        <a:ln>
          <a:noFill/>
        </a:ln>
      </c:spPr>
    </c:plotArea>
    <c:legend>
      <c:legendPos val="b"/>
      <c:layout/>
      <c:overlay val="0"/>
      <c:txPr>
        <a:bodyPr/>
        <a:lstStyle/>
        <a:p>
          <a:pPr>
            <a:defRPr lang="zh-CN" sz="1350">
              <a:solidFill>
                <a:srgbClr val="1B2027"/>
              </a:solidFill>
              <a:latin typeface="Cambria"/>
              <a:ea typeface="Microsoft YaHei"/>
              <a:cs typeface="Cambria"/>
            </a:defRPr>
          </a:pPr>
          <a:endParaRPr lang="zh-CN"/>
        </a:p>
      </c:txPr>
    </c:legend>
    <c:plotVisOnly val="1"/>
    <c:dispBlanksAs val="gap"/>
  </c:chart>
  <c:spPr>
    <a:noFill/>
    <a:ln>
      <a:noFill/>
    </a:ln>
  </c:spPr>
  <c:txPr>
    <a:bodyPr/>
    <a:lstStyle/>
    <a:p>
      <a:pPr>
        <a:defRPr lang="zh-CN" sz="1350">
          <a:solidFill>
            <a:srgbClr val="1B2027"/>
          </a:solidFill>
          <a:latin typeface="Cambria"/>
          <a:ea typeface="Microsoft YaHei"/>
          <a:cs typeface="Cambria"/>
        </a:defRPr>
      </a:pPr>
      <a:endParaRPr lang="zh-CN"/>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问在座一个问题:同时按下三个琴键,你听到的是一个和弦,可空气里到底发生了什么?今天这节课只做一件事,把这个问题回答清楚。傅里叶变换说的是,任何随时间变化的东西,都可以换一种写法,写成它由哪些频率组成。这节课四十五分钟,我们会走完级数、变换、快速算法和它们的公式;需要的数学不超过高中的正弦和大学第一学期的积分。还有一件事请放心,幻灯片上每一条公式都是可以直接点开编辑的原生公式,课后想抄走、想改都行,不是图片。</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把直觉立住。上面那条抖动的线,是麦克风采到的波形,是你真正听到的那一条;下面三条光滑的正弦,是它的三个分量,频率从低到高。三条加起来,就是上面那条,这件事你的耳朵其实一直在做,它能同时听出三个音高,而不是听成一团。每一条分量只需要交代两件事:幅度,也就是它有多响;频率,也就是它有多高。屏幕下方这条式子就是把这句话写成数学。现在把问题倒过来:如果我只给你合成后的那条线,你能不能把每一条的幅度和频率反算出来?接下来的一个小时,都是在回答这个反问。</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套写法不是信号处理发明的,它比信号处理早了一百多年。一八零七年十二月,傅里叶把一份研究热怎么在固体里扩散的手稿交给法兰西研究院,结果因为拉格朗日反对他处理三角级数的方式,没能发表。一八一一年他用修订稿赢得了科学院关于热扩散的悬赏,评审仍然批评他不够严格。直到一八二二年,《热的解析理论》正式出版,这套级数写法才进入数学。请注意他的动机:他要解的是一个物理方程,级数是解方程时逼出来的工具,不是为了压缩音频而设计的。屏幕上这条式子说的是,任何周期函数都能用整数倍频率的正弦和余弦堆出来,常数项加上一串余弦项和正弦项。</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那么每一条分量占多少,怎么算?答案是做一次积分。看第一条式子,里面有三个部件:积分号加上从零到大写 T 的上下限,意思是在一个周期上取平均;后面那个余弦,是我们事先选定的第 n 条频率,可以把它想成一把尺子;前面的二比 T 是归一化。把待测的信号贴着这把尺子量一遍,别的频率会在积分里相互抵消,只剩下这一条自己的量,这就是正交性。第二条式子和第一条互为镜像,只是把余弦换成正弦,一条量余弦成分,一条量正弦成分。右边那句提醒很重要:周期 T 一旦定下来,可用的频率就只能是基频的整数倍,中间那些频率是取不到的,这个限制会在第三节被打破。</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来看一个具体的信号,方波。把刚才那两条积分套上去,结果很干净:所有偶次项的系数都是零,只剩奇次谐波,而第 k 项的幅度正比于一比 k。左边这张图就是它的频率清单,第一条是一,第三条掉到零点三三,第五条零点二,第七、第九越来越矮。注意这几个数不是我引用来的,是用下面这条展开式当场算出来的。往回看一眼:一条方波现在变成了一串可以逐项检查的数,你可以照着这份清单再把它合成回去,项数取得越多,拐角越方。顺便说一句,无论取多少项,拐角处永远会留一点过冲,这个现象叫吉布斯现象,今天不展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到这里我们只会处理周期信号,现在把这个限制拆掉。看这三排刻度,每一根代表一条可用频率。周期是 T 的时候,频率间隔是一比 T;周期拉长到两倍,间隔就缩到一半;拉长到四倍,刻度密到快要连成一片。屏幕中间这条式子是级数系数的复数写法,请盯住它的两个特征:积分区间只覆盖一个周期,前面还挂着一比 T。既然 T 一变大频率就越排越密,那么让 T 一直长到无穷会发生什么?间隔趋于零,离散的频率清单就变成一条连续的谱,求和号也就没法再写成一项一项。下一页,我们把这条式子推过去。</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这就是推过去的结果。同一条式子,积分区间从一个周期张开到整条时间轴,前面的一比 T 消失,离散的下标 n 变成连续的 ω,级数系数 c 下标 n 就变成了连续的 F(ω)。上面这条叫正变换,把随时间变化的 f(t) 读成频率分布;下面这条叫逆变换,把频率分布读回时间。两条合起来是一本可逆的字典,同一份信息,两种写法,来回都不丢东西。最后是一个很实际的提醒:一比二 π 放在哪一侧、指数写成负 i ω t 还是负二 π i f t,各本教材的约定并不相同,本课采用的是美国国家标准与技术研究院数学函数库第一点一四节的写法。换书的时候,先核对约定,再比对结果。</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有了变换对以后,大多数题目并不需要重新积分,认样板就够了。第一行,矩形窗变过去是 sinc 函数,窗开得越窄,频谱摊得越宽,这是同一句话的两种说法。第二行,高斯变过去还是高斯,它是唯一形状不变的那一个,变的只是宽度的方向。第三行,一个瞬间的冲击,它的频谱是一条水平的一,意思是一瞬间里含有所有频率;这也解释了为什么敲一下桌子,听起来什么频率都有。第四行反过来,一条纯正弦的频谱只在正负 ω 零两个点上有值。请注意表格里这些式子也都是原生公式,课后可以直接复制去用。遇到新信号,先看它像表里哪一行,再用下一页的性质把它挪过去。</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三条性质,目的都一样,把新信号化归成刚才表里已有的那一行。第一条线性,分开算再相加,这是最常用的一条,复杂信号先拆成简单件。第二条时移,把信号整体往后挪 t 零,频谱的幅度一点没变,只多了一个相位因子;换句话说,声音晚到一点,它含有哪些频率完全不变,变的只是这些频率的起步位置。这也顺带解释了一个常见困惑:为什么幅度谱上看不出延迟。第三条调制,给信号乘上一条载波,等于把整段频谱搬到 ω 零上;调幅广播、上变频,做的就是这件事。会用这三条,很多题目就不必再碰积分。</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是今天最有工程价值的一条。时域里的卷积,那个需要把一个函数翻过来、逐点滑动相乘再积分的麻烦操作,到了频域只是两条曲线逐点相乘。于是滤波的标准做法变成三步:变到频域,乘一条传递函数,再变回时域。三步里只有中间那一步是设计,两头都是机械操作,而且都由快速算法承担。举个你每天都在用的例子:均衡器上那几个推子,画出来就是传递函数的形状,低频推高一点,齿音压低一点,再变回时域出声。所以调音色和乘一条曲线,是同一件事。前提是两个函数都绝对可积,课堂上遇到的信号一般都满足。</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到目前为止公式里都是积分,计算机做不了积分,它只有一串采样点。凭什么可以只取样本?一九四九年香农在《噪声中的通信》里给出了依据:带宽限于 W 的信号,可以由每秒两 W 个采样完全确定,信息一点不少。有了这条,积分就换成有限项求和,连续频率换成 N 个频点,指数里的 ω t 换成二 π k n 比 N,形状一点没变,只是把所有改成有限个。这条式子就是计算机里真正在跑的那一条:N 个复数进去,N 个复数出来,频谱图上的每一根竖线都是它算出来的一个 X 下标 k。剩下的问题只有一个,这条求和,算起来贵不贵。</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代价直接写在求和号里。算一个频点,要把全部 N 个样本走一遍;而频点一共有 N 个,于是里外两层都到 N,总代价是 N 的平方。举个数:N 等于一千零二十四的时候,大约要做一百万次复数乘加;把 N 抬到四千零九十六,就跳到千万级。而实时音频每秒钟要做很多次这样的变换,照定义硬算根本撑不住。请注意,慢的不是数学,公式本身没有任何问题,慢的是照定义硬算这件事。一九六五年那篇论文也没有改这条公式,它只是发现:这个求和里有大量重复出现的旋转因子,完全可以只算一次。</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做法是拆一半。把求和按下标的奇偶分成两组,偶数下标凑出 E 下标 k,奇数下标凑出 O 下标 k,再乘一个旋转因子合起来,就是屏幕上这条式子。关键在于这两半各自又是一个长度为 N 比二的同类问题,于是继续拆下去,一共只有 log 二 N 层,每层的代价是 N,总代价就落到 N 乘 log N。左边这张图用线性刻度画了两条曲线:红色那条是照定义硬算,到 N 等于一千零二十四时已经冲到一百万以上;青色那条就是快速算法,只有一万出头,几乎贴在横轴上。这两个数是按两条量级公式直接算出来的。出处是库利和图基一九六五年发表在《计算数学》上的论文;更早的史前史也值得一提,高斯大约在一八零五年的未发表手稿里已经用过等价的做法,这一考证见一九八四年海德曼等人的文章。</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频域不是黑板上的技巧,它已经写进标准里。第一个,图像:基线 JPEG 把图像切成八乘八的小块,每一块做一次离散余弦变换,再量化、编码,这是一九九二年 ITU-T T.81 规定的。第二个,医学:核磁共振成像的采集,本质上是在傅里叶空间,也就是 k 空间,沿着一条轨迹采样,再变换回图像,这个表述来自一九八三年特维格的论文。第三个,无线:Wi-Fi 的二十兆赫兹 OFDM 用的是六十四点快速傅里叶变换,其中四十八个数据子载波加四个导频;子载波间隔三百一十二点五千赫兹,是二十兆赫兹除以六十四算出来的。第四个,声音,就是刚才那个均衡器。最下面这条式子是 JPEG 里那次离散余弦变换的完整写法,你会发现它和我们一路推下来的形状是同一套思路,只是换了一组基函数。</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带走三句话。第一句,时域和频域是同一份信息的两种写法,靠一对积分互相翻译,不存在哪一边更真实。第二句,滤波、均衡、模糊,在频域都只是一次乘法,这就是卷积定理,它是频域最值钱的一条。第三句,快速傅里叶变换没有换数学,它只换了算路,把代价从 N 的平方降到 N 乘 log N。接下来两条路,任选一条:想把理论走扎实,斯坦福的 EE261 公开课系统讲变换对和性质;想把手感练出来,就自己写一个八点的离散傅里叶变换,再和现成库函数的结果逐项对一遍,这一步比看十页推导有用。最后一句话送给今天的内容:记号是门槛,思想不是,它只是把怎么变,翻译成由哪些频率组成。本课全部事实的出处都在工程的事实清单里,课后可以自己核。</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43_fourier_transform_formulas_zh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43_fourier_transform_formulas_zh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3ff851ab2a5da77.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501.xml"/>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301.xml"/>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cover-kicker"/>
          <p:cNvGrpSpPr/>
          <p:nvPr/>
        </p:nvGrpSpPr>
        <p:grpSpPr>
          <a:xfrm>
            <a:off x="602742" y="571500"/>
            <a:ext cx="3450260" cy="404051"/>
            <a:chOff x="602742" y="571500"/>
            <a:chExt cx="3450260" cy="404051"/>
          </a:xfrm>
        </p:grpSpPr>
        <p:sp>
          <p:nvSpPr>
            <p:cNvPr id="2" name="Rectangle 2"/>
            <p:cNvSpPr/>
            <p:nvPr/>
          </p:nvSpPr>
          <p:spPr>
            <a:xfrm>
              <a:off x="609600" y="571500"/>
              <a:ext cx="266700" cy="28575"/>
            </a:xfrm>
            <a:prstGeom prst="rect">
              <a:avLst/>
            </a:prstGeom>
            <a:solidFill>
              <a:schemeClr val="accent2"/>
            </a:solidFill>
            <a:ln>
              <a:noFill/>
            </a:ln>
          </p:spPr>
        </p:sp>
        <p:sp>
          <p:nvSpPr>
            <p:cNvPr id="3" name="TextBox 3"/>
            <p:cNvSpPr txBox="1"/>
            <p:nvPr/>
          </p:nvSpPr>
          <p:spPr>
            <a:xfrm>
              <a:off x="602742" y="711518"/>
              <a:ext cx="34502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公开课 · 45 分钟 · 面向大一新生与工程师</a:t>
              </a:r>
            </a:p>
          </p:txBody>
        </p:sp>
      </p:grpSp>
      <p:grpSp>
        <p:nvGrpSpPr>
          <p:cNvPr id="6" name="cover-title"/>
          <p:cNvGrpSpPr/>
          <p:nvPr/>
        </p:nvGrpSpPr>
        <p:grpSpPr>
          <a:xfrm>
            <a:off x="590550" y="1114425"/>
            <a:ext cx="4038600" cy="1562100"/>
            <a:chOff x="590550" y="1114425"/>
            <a:chExt cx="4038600" cy="1562100"/>
          </a:xfrm>
        </p:grpSpPr>
        <p:sp>
          <p:nvSpPr>
            <p:cNvPr id="5" name="TextBox 5"/>
            <p:cNvSpPr txBox="1"/>
            <p:nvPr/>
          </p:nvSpPr>
          <p:spPr>
            <a:xfrm>
              <a:off x="590550" y="1114425"/>
              <a:ext cx="4038600" cy="1562100"/>
            </a:xfrm>
            <a:prstGeom prst="rect">
              <a:avLst/>
            </a:prstGeom>
            <a:noFill/>
            <a:ln>
              <a:noFill/>
            </a:ln>
          </p:spPr>
          <p:txBody>
            <a:bodyPr wrap="none" lIns="0" tIns="0" rIns="0" bIns="0" anchor="t" anchorCtr="0">
              <a:spAutoFit/>
            </a:bodyPr>
            <a:lstStyle/>
            <a:p>
              <a:pPr algn="l">
                <a:lnSpc>
                  <a:spcPts val="5400"/>
                </a:lnSpc>
              </a:pPr>
              <a:r>
                <a:rPr lang="zh-CN" sz="4500" dirty="0">
                  <a:solidFill>
                    <a:schemeClr val="accent1"/>
                  </a:solidFill>
                  <a:latin typeface="+mj-lt"/>
                  <a:ea typeface="+mj-ea"/>
                  <a:cs typeface="+mj-cs"/>
                </a:rPr>
                <a:t>傅里叶变换</a:t>
              </a:r>
              <a:br/>
              <a:r>
                <a:rPr lang="zh-CN" sz="4500" dirty="0">
                  <a:solidFill>
                    <a:schemeClr val="accent1"/>
                  </a:solidFill>
                  <a:latin typeface="+mj-lt"/>
                  <a:ea typeface="+mj-ea"/>
                  <a:cs typeface="+mj-cs"/>
                </a:rPr>
                <a:t>把信号拆成频率</a:t>
              </a:r>
            </a:p>
          </p:txBody>
        </p:sp>
      </p:grpSp>
      <p:grpSp>
        <p:nvGrpSpPr>
          <p:cNvPr id="8" name="cover-hook"/>
          <p:cNvGrpSpPr/>
          <p:nvPr/>
        </p:nvGrpSpPr>
        <p:grpSpPr>
          <a:xfrm>
            <a:off x="597408" y="2693670"/>
            <a:ext cx="3967277" cy="469392"/>
            <a:chOff x="597408" y="2693670"/>
            <a:chExt cx="3967277" cy="469392"/>
          </a:xfrm>
        </p:grpSpPr>
        <p:sp>
          <p:nvSpPr>
            <p:cNvPr id="7" name="TextBox 7"/>
            <p:cNvSpPr txBox="1"/>
            <p:nvPr/>
          </p:nvSpPr>
          <p:spPr>
            <a:xfrm>
              <a:off x="597408" y="2693670"/>
              <a:ext cx="3967277"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j-lt"/>
                  <a:ea typeface="+mj-ea"/>
                  <a:cs typeface="+mj-cs"/>
                </a:rPr>
                <a:t>一个和弦里有几个正弦波?</a:t>
              </a:r>
            </a:p>
          </p:txBody>
        </p:sp>
      </p:grpSp>
      <p:grpSp>
        <p:nvGrpSpPr>
          <p:cNvPr id="13" name="cover-visual"/>
          <p:cNvGrpSpPr/>
          <p:nvPr/>
        </p:nvGrpSpPr>
        <p:grpSpPr>
          <a:xfrm>
            <a:off x="0" y="3181350"/>
            <a:ext cx="9753600" cy="4133850"/>
            <a:chOff x="0" y="3181350"/>
            <a:chExt cx="9753600" cy="4133850"/>
          </a:xfrm>
        </p:grpSpPr>
        <p:pic>
          <p:nvPicPr>
            <p:cNvPr id="9" name="Image 9"/>
            <p:cNvPicPr>
              <a:picLocks noChangeAspect="1"/>
            </p:cNvPicPr>
            <p:nvPr/>
          </p:nvPicPr>
          <p:blipFill>
            <a:blip r:embed="rId2"/>
            <a:stretch>
              <a:fillRect/>
            </a:stretch>
          </p:blipFill>
          <p:spPr>
            <a:xfrm>
              <a:off x="0" y="3181350"/>
              <a:ext cx="9753600" cy="4133850"/>
            </a:xfrm>
            <a:prstGeom prst="rect">
              <a:avLst/>
            </a:prstGeom>
          </p:spPr>
        </p:pic>
        <p:sp>
          <p:nvSpPr>
            <p:cNvPr id="10" name="Rectangle 10"/>
            <p:cNvSpPr/>
            <p:nvPr/>
          </p:nvSpPr>
          <p:spPr>
            <a:xfrm>
              <a:off x="0" y="3181350"/>
              <a:ext cx="9753600" cy="1066800"/>
            </a:xfrm>
            <a:prstGeom prst="rect">
              <a:avLst/>
            </a:prstGeom>
            <a:gradFill>
              <a:gsLst>
                <a:gs pos="0">
                  <a:schemeClr val="lt1"/>
                </a:gs>
                <a:gs pos="62000">
                  <a:schemeClr val="lt1">
                    <a:alpha val="88000"/>
                  </a:schemeClr>
                </a:gs>
                <a:gs pos="100000">
                  <a:schemeClr val="lt1">
                    <a:alpha val="0"/>
                  </a:schemeClr>
                </a:gs>
              </a:gsLst>
              <a:lin ang="5400000" scaled="1"/>
            </a:gradFill>
            <a:ln>
              <a:noFill/>
            </a:ln>
          </p:spPr>
        </p:sp>
        <p:sp>
          <p:nvSpPr>
            <p:cNvPr id="11" name="TextBox 11"/>
            <p:cNvSpPr txBox="1"/>
            <p:nvPr/>
          </p:nvSpPr>
          <p:spPr>
            <a:xfrm>
              <a:off x="600456" y="3444240"/>
              <a:ext cx="474390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一节课读懂级数、变换、FFT 与它们的公式</a:t>
              </a:r>
            </a:p>
          </p:txBody>
        </p:sp>
        <p:sp>
          <p:nvSpPr>
            <p:cNvPr id="12" name="TextBox 12"/>
            <p:cNvSpPr txBox="1"/>
            <p:nvPr/>
          </p:nvSpPr>
          <p:spPr>
            <a:xfrm>
              <a:off x="602742" y="3797618"/>
              <a:ext cx="532907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页面上的每一条公式都是 PowerPoint 原生可编辑公式,不是图片</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3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13"/>
                                        </p:tgtEl>
                                        <p:attrNameLst>
                                          <p:attrName>style.visibility</p:attrName>
                                        </p:attrNameLst>
                                      </p:cBhvr>
                                      <p:to>
                                        <p:strVal val="visible"/>
                                      </p:to>
                                    </p:set>
                                    <p:animEffect transition="in" filter="wipe(right)">
                                      <p:cBhvr>
                                        <p:cTn id="15" dur="9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5981700"/>
            <a:ext cx="8534400" cy="876300"/>
          </a:xfrm>
          <a:prstGeom prst="rect">
            <a:avLst/>
          </a:prstGeom>
          <a:solidFill>
            <a:schemeClr val="lt2"/>
          </a:solidFill>
          <a:ln>
            <a:noFill/>
          </a:ln>
        </p:spPr>
      </p:sp>
      <p:sp>
        <p:nvSpPr>
          <p:cNvPr id="4" name="formula-band-bar"/>
          <p:cNvSpPr/>
          <p:nvPr/>
        </p:nvSpPr>
        <p:spPr>
          <a:xfrm>
            <a:off x="609600" y="5981700"/>
            <a:ext cx="28575" cy="876300"/>
          </a:xfrm>
          <a:prstGeom prst="rect">
            <a:avLst/>
          </a:prstGeom>
          <a:solidFill>
            <a:schemeClr val="accent1"/>
          </a:solidFill>
          <a:ln>
            <a:noFill/>
          </a:ln>
        </p:spPr>
      </p:sp>
      <p:grpSp>
        <p:nvGrpSpPr>
          <p:cNvPr id="7" name="section-kicker"/>
          <p:cNvGrpSpPr/>
          <p:nvPr/>
        </p:nvGrpSpPr>
        <p:grpSpPr>
          <a:xfrm>
            <a:off x="602742" y="552450"/>
            <a:ext cx="1727530" cy="404051"/>
            <a:chOff x="602742" y="552450"/>
            <a:chExt cx="1727530"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1 节 · 从耳朵开始</a:t>
              </a:r>
            </a:p>
          </p:txBody>
        </p:sp>
      </p:grpSp>
      <p:grpSp>
        <p:nvGrpSpPr>
          <p:cNvPr id="9" name="page-title"/>
          <p:cNvGrpSpPr/>
          <p:nvPr/>
        </p:nvGrpSpPr>
        <p:grpSpPr>
          <a:xfrm>
            <a:off x="593598" y="1050608"/>
            <a:ext cx="6103163" cy="616077"/>
            <a:chOff x="593598" y="1050608"/>
            <a:chExt cx="6103163" cy="616077"/>
          </a:xfrm>
        </p:grpSpPr>
        <p:sp>
          <p:nvSpPr>
            <p:cNvPr id="8" name="TextBox 8"/>
            <p:cNvSpPr txBox="1"/>
            <p:nvPr/>
          </p:nvSpPr>
          <p:spPr>
            <a:xfrm>
              <a:off x="593598" y="1050608"/>
              <a:ext cx="6103163"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听到的是一条波,里面是好几条</a:t>
              </a:r>
            </a:p>
          </p:txBody>
        </p:sp>
      </p:grpSp>
      <p:grpSp>
        <p:nvGrpSpPr>
          <p:cNvPr id="14" name="wave-composite"/>
          <p:cNvGrpSpPr/>
          <p:nvPr/>
        </p:nvGrpSpPr>
        <p:grpSpPr>
          <a:xfrm>
            <a:off x="637965" y="2025968"/>
            <a:ext cx="4886535" cy="829627"/>
            <a:chOff x="637965" y="2025968"/>
            <a:chExt cx="4886535" cy="829627"/>
          </a:xfrm>
        </p:grpSpPr>
        <p:sp>
          <p:nvSpPr>
            <p:cNvPr id="10" name="Freeform 10"/>
            <p:cNvSpPr/>
            <p:nvPr/>
          </p:nvSpPr>
          <p:spPr>
            <a:xfrm>
              <a:off x="637965" y="2038350"/>
              <a:ext cx="171660" cy="152400"/>
            </a:xfrm>
            <a:custGeom>
              <a:avLst/>
              <a:gdLst/>
              <a:ahLst/>
              <a:cxnLst/>
              <a:rect l="l" t="t" r="r" b="b"/>
              <a:pathLst>
                <a:path w="171660" h="152400">
                  <a:moveTo>
                    <a:pt x="171660" y="76200"/>
                  </a:moveTo>
                  <a:lnTo>
                    <a:pt x="152610" y="76200"/>
                  </a:lnTo>
                  <a:cubicBezTo>
                    <a:pt x="144094" y="76200"/>
                    <a:pt x="136779" y="68037"/>
                    <a:pt x="135836" y="57150"/>
                  </a:cubicBezTo>
                  <a:cubicBezTo>
                    <a:pt x="133017" y="24289"/>
                    <a:pt x="128702" y="0"/>
                    <a:pt x="109652" y="0"/>
                  </a:cubicBezTo>
                  <a:cubicBezTo>
                    <a:pt x="90602" y="0"/>
                    <a:pt x="85839" y="34119"/>
                    <a:pt x="85839" y="76200"/>
                  </a:cubicBezTo>
                  <a:cubicBezTo>
                    <a:pt x="85839" y="118281"/>
                    <a:pt x="81077" y="152400"/>
                    <a:pt x="62027" y="152400"/>
                  </a:cubicBezTo>
                  <a:cubicBezTo>
                    <a:pt x="42977" y="152400"/>
                    <a:pt x="38672" y="128140"/>
                    <a:pt x="35843" y="95250"/>
                  </a:cubicBezTo>
                  <a:cubicBezTo>
                    <a:pt x="34890" y="84325"/>
                    <a:pt x="27584" y="76200"/>
                    <a:pt x="19050" y="76200"/>
                  </a:cubicBezTo>
                  <a:lnTo>
                    <a:pt x="0" y="76200"/>
                  </a:lnTo>
                </a:path>
              </a:pathLst>
            </a:custGeom>
            <a:noFill/>
            <a:ln w="19050">
              <a:solidFill>
                <a:schemeClr val="accent3"/>
              </a:solidFill>
            </a:ln>
          </p:spPr>
        </p:sp>
        <p:sp>
          <p:nvSpPr>
            <p:cNvPr id="11" name="TextBox 11"/>
            <p:cNvSpPr txBox="1"/>
            <p:nvPr/>
          </p:nvSpPr>
          <p:spPr>
            <a:xfrm>
              <a:off x="907542" y="2025968"/>
              <a:ext cx="222404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合成后的一条波(你听到的)</a:t>
              </a:r>
            </a:p>
          </p:txBody>
        </p:sp>
        <p:sp>
          <p:nvSpPr>
            <p:cNvPr id="12" name="Line 12"/>
            <p:cNvSpPr/>
            <p:nvPr/>
          </p:nvSpPr>
          <p:spPr>
            <a:xfrm>
              <a:off x="800100" y="259080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3" name="Freeform 13"/>
            <p:cNvSpPr/>
            <p:nvPr/>
          </p:nvSpPr>
          <p:spPr>
            <a:xfrm>
              <a:off x="800100" y="2396490"/>
              <a:ext cx="4724400" cy="459105"/>
            </a:xfrm>
            <a:custGeom>
              <a:avLst/>
              <a:gdLst/>
              <a:ahLst/>
              <a:cxnLst/>
              <a:rect l="l" t="t" r="r" b="b"/>
              <a:pathLst>
                <a:path w="4724400" h="459105">
                  <a:moveTo>
                    <a:pt x="0" y="51435"/>
                  </a:moveTo>
                  <a:lnTo>
                    <a:pt x="21907" y="37148"/>
                  </a:lnTo>
                  <a:lnTo>
                    <a:pt x="42862" y="24765"/>
                  </a:lnTo>
                  <a:lnTo>
                    <a:pt x="64770" y="15240"/>
                  </a:lnTo>
                  <a:lnTo>
                    <a:pt x="85725" y="7620"/>
                  </a:lnTo>
                  <a:lnTo>
                    <a:pt x="107632" y="2858"/>
                  </a:lnTo>
                  <a:lnTo>
                    <a:pt x="128588" y="0"/>
                  </a:lnTo>
                  <a:lnTo>
                    <a:pt x="150495" y="0"/>
                  </a:lnTo>
                  <a:lnTo>
                    <a:pt x="171450" y="2858"/>
                  </a:lnTo>
                  <a:lnTo>
                    <a:pt x="193357" y="6668"/>
                  </a:lnTo>
                  <a:lnTo>
                    <a:pt x="214312" y="13335"/>
                  </a:lnTo>
                  <a:lnTo>
                    <a:pt x="236220" y="20955"/>
                  </a:lnTo>
                  <a:lnTo>
                    <a:pt x="258127" y="30480"/>
                  </a:lnTo>
                  <a:lnTo>
                    <a:pt x="279082" y="41910"/>
                  </a:lnTo>
                  <a:lnTo>
                    <a:pt x="300990" y="53340"/>
                  </a:lnTo>
                  <a:lnTo>
                    <a:pt x="321945" y="65723"/>
                  </a:lnTo>
                  <a:lnTo>
                    <a:pt x="343852" y="78105"/>
                  </a:lnTo>
                  <a:lnTo>
                    <a:pt x="364808" y="91440"/>
                  </a:lnTo>
                  <a:lnTo>
                    <a:pt x="386715" y="103823"/>
                  </a:lnTo>
                  <a:lnTo>
                    <a:pt x="407670" y="116205"/>
                  </a:lnTo>
                  <a:lnTo>
                    <a:pt x="429577" y="127635"/>
                  </a:lnTo>
                  <a:lnTo>
                    <a:pt x="450533" y="138113"/>
                  </a:lnTo>
                  <a:lnTo>
                    <a:pt x="472440" y="147638"/>
                  </a:lnTo>
                  <a:lnTo>
                    <a:pt x="494348" y="156210"/>
                  </a:lnTo>
                  <a:lnTo>
                    <a:pt x="515302" y="162877"/>
                  </a:lnTo>
                  <a:lnTo>
                    <a:pt x="537210" y="168593"/>
                  </a:lnTo>
                  <a:lnTo>
                    <a:pt x="558165" y="172402"/>
                  </a:lnTo>
                  <a:lnTo>
                    <a:pt x="580072" y="175260"/>
                  </a:lnTo>
                  <a:lnTo>
                    <a:pt x="601028" y="176213"/>
                  </a:lnTo>
                  <a:lnTo>
                    <a:pt x="622935" y="176213"/>
                  </a:lnTo>
                  <a:lnTo>
                    <a:pt x="643890" y="174307"/>
                  </a:lnTo>
                  <a:lnTo>
                    <a:pt x="665798" y="170498"/>
                  </a:lnTo>
                  <a:lnTo>
                    <a:pt x="686752" y="166688"/>
                  </a:lnTo>
                  <a:lnTo>
                    <a:pt x="708660" y="161925"/>
                  </a:lnTo>
                  <a:lnTo>
                    <a:pt x="730567" y="156210"/>
                  </a:lnTo>
                  <a:lnTo>
                    <a:pt x="751522" y="149543"/>
                  </a:lnTo>
                  <a:lnTo>
                    <a:pt x="773430" y="142875"/>
                  </a:lnTo>
                  <a:lnTo>
                    <a:pt x="794385" y="136207"/>
                  </a:lnTo>
                  <a:lnTo>
                    <a:pt x="816292" y="129540"/>
                  </a:lnTo>
                  <a:lnTo>
                    <a:pt x="837248" y="123825"/>
                  </a:lnTo>
                  <a:lnTo>
                    <a:pt x="859155" y="118110"/>
                  </a:lnTo>
                  <a:lnTo>
                    <a:pt x="880110" y="113348"/>
                  </a:lnTo>
                  <a:lnTo>
                    <a:pt x="902017" y="108585"/>
                  </a:lnTo>
                  <a:lnTo>
                    <a:pt x="922972" y="106680"/>
                  </a:lnTo>
                  <a:lnTo>
                    <a:pt x="944880" y="104775"/>
                  </a:lnTo>
                  <a:lnTo>
                    <a:pt x="966788" y="104775"/>
                  </a:lnTo>
                  <a:lnTo>
                    <a:pt x="987742" y="105727"/>
                  </a:lnTo>
                  <a:lnTo>
                    <a:pt x="1009650" y="107632"/>
                  </a:lnTo>
                  <a:lnTo>
                    <a:pt x="1030605" y="112395"/>
                  </a:lnTo>
                  <a:lnTo>
                    <a:pt x="1052512" y="117157"/>
                  </a:lnTo>
                  <a:lnTo>
                    <a:pt x="1073468" y="123825"/>
                  </a:lnTo>
                  <a:lnTo>
                    <a:pt x="1095375" y="131445"/>
                  </a:lnTo>
                  <a:lnTo>
                    <a:pt x="1116330" y="140018"/>
                  </a:lnTo>
                  <a:lnTo>
                    <a:pt x="1138238" y="149543"/>
                  </a:lnTo>
                  <a:lnTo>
                    <a:pt x="1159192" y="160020"/>
                  </a:lnTo>
                  <a:lnTo>
                    <a:pt x="1181100" y="171450"/>
                  </a:lnTo>
                  <a:lnTo>
                    <a:pt x="1203008" y="181927"/>
                  </a:lnTo>
                  <a:lnTo>
                    <a:pt x="1223962" y="193357"/>
                  </a:lnTo>
                  <a:lnTo>
                    <a:pt x="1245870" y="203835"/>
                  </a:lnTo>
                  <a:lnTo>
                    <a:pt x="1266825" y="214313"/>
                  </a:lnTo>
                  <a:lnTo>
                    <a:pt x="1288732" y="223838"/>
                  </a:lnTo>
                  <a:lnTo>
                    <a:pt x="1309688" y="232410"/>
                  </a:lnTo>
                  <a:lnTo>
                    <a:pt x="1331595" y="240030"/>
                  </a:lnTo>
                  <a:lnTo>
                    <a:pt x="1352550" y="246698"/>
                  </a:lnTo>
                  <a:lnTo>
                    <a:pt x="1374458" y="251460"/>
                  </a:lnTo>
                  <a:lnTo>
                    <a:pt x="1395412" y="255270"/>
                  </a:lnTo>
                  <a:lnTo>
                    <a:pt x="1417320" y="256223"/>
                  </a:lnTo>
                  <a:lnTo>
                    <a:pt x="1439228" y="256223"/>
                  </a:lnTo>
                  <a:lnTo>
                    <a:pt x="1460182" y="254318"/>
                  </a:lnTo>
                  <a:lnTo>
                    <a:pt x="1482090" y="250507"/>
                  </a:lnTo>
                  <a:lnTo>
                    <a:pt x="1503045" y="244793"/>
                  </a:lnTo>
                  <a:lnTo>
                    <a:pt x="1524952" y="237173"/>
                  </a:lnTo>
                  <a:lnTo>
                    <a:pt x="1545908" y="228600"/>
                  </a:lnTo>
                  <a:lnTo>
                    <a:pt x="1567815" y="218123"/>
                  </a:lnTo>
                  <a:lnTo>
                    <a:pt x="1588770" y="206693"/>
                  </a:lnTo>
                  <a:lnTo>
                    <a:pt x="1610678" y="195263"/>
                  </a:lnTo>
                  <a:lnTo>
                    <a:pt x="1631632" y="181927"/>
                  </a:lnTo>
                  <a:lnTo>
                    <a:pt x="1653540" y="168593"/>
                  </a:lnTo>
                  <a:lnTo>
                    <a:pt x="1675447" y="154305"/>
                  </a:lnTo>
                  <a:lnTo>
                    <a:pt x="1696403" y="140970"/>
                  </a:lnTo>
                  <a:lnTo>
                    <a:pt x="1718310" y="127635"/>
                  </a:lnTo>
                  <a:lnTo>
                    <a:pt x="1739265" y="115252"/>
                  </a:lnTo>
                  <a:lnTo>
                    <a:pt x="1761172" y="103823"/>
                  </a:lnTo>
                  <a:lnTo>
                    <a:pt x="1782128" y="94298"/>
                  </a:lnTo>
                  <a:lnTo>
                    <a:pt x="1804035" y="84773"/>
                  </a:lnTo>
                  <a:lnTo>
                    <a:pt x="1824990" y="78105"/>
                  </a:lnTo>
                  <a:lnTo>
                    <a:pt x="1846897" y="73343"/>
                  </a:lnTo>
                  <a:lnTo>
                    <a:pt x="1867853" y="70485"/>
                  </a:lnTo>
                  <a:lnTo>
                    <a:pt x="1889760" y="70485"/>
                  </a:lnTo>
                  <a:lnTo>
                    <a:pt x="1911668" y="72390"/>
                  </a:lnTo>
                  <a:lnTo>
                    <a:pt x="1932622" y="76200"/>
                  </a:lnTo>
                  <a:lnTo>
                    <a:pt x="1954530" y="82868"/>
                  </a:lnTo>
                  <a:lnTo>
                    <a:pt x="1975485" y="92393"/>
                  </a:lnTo>
                  <a:lnTo>
                    <a:pt x="1997392" y="103823"/>
                  </a:lnTo>
                  <a:lnTo>
                    <a:pt x="2018347" y="117157"/>
                  </a:lnTo>
                  <a:lnTo>
                    <a:pt x="2040255" y="133350"/>
                  </a:lnTo>
                  <a:lnTo>
                    <a:pt x="2061210" y="150495"/>
                  </a:lnTo>
                  <a:lnTo>
                    <a:pt x="2083118" y="170498"/>
                  </a:lnTo>
                  <a:lnTo>
                    <a:pt x="2104072" y="190500"/>
                  </a:lnTo>
                  <a:lnTo>
                    <a:pt x="2125980" y="212407"/>
                  </a:lnTo>
                  <a:lnTo>
                    <a:pt x="2147888" y="235268"/>
                  </a:lnTo>
                  <a:lnTo>
                    <a:pt x="2168842" y="258127"/>
                  </a:lnTo>
                  <a:lnTo>
                    <a:pt x="2190750" y="280988"/>
                  </a:lnTo>
                  <a:lnTo>
                    <a:pt x="2211705" y="303848"/>
                  </a:lnTo>
                  <a:lnTo>
                    <a:pt x="2233612" y="326707"/>
                  </a:lnTo>
                  <a:lnTo>
                    <a:pt x="2254568" y="348615"/>
                  </a:lnTo>
                  <a:lnTo>
                    <a:pt x="2276475" y="368618"/>
                  </a:lnTo>
                  <a:lnTo>
                    <a:pt x="2297430" y="387668"/>
                  </a:lnTo>
                  <a:lnTo>
                    <a:pt x="2319338" y="403860"/>
                  </a:lnTo>
                  <a:lnTo>
                    <a:pt x="2340292" y="419100"/>
                  </a:lnTo>
                  <a:lnTo>
                    <a:pt x="2362200" y="432435"/>
                  </a:lnTo>
                  <a:lnTo>
                    <a:pt x="2384108" y="442913"/>
                  </a:lnTo>
                  <a:lnTo>
                    <a:pt x="2405062" y="450532"/>
                  </a:lnTo>
                  <a:lnTo>
                    <a:pt x="2426970" y="456248"/>
                  </a:lnTo>
                  <a:lnTo>
                    <a:pt x="2447925" y="458152"/>
                  </a:lnTo>
                  <a:lnTo>
                    <a:pt x="2469832" y="459105"/>
                  </a:lnTo>
                  <a:lnTo>
                    <a:pt x="2490788" y="456248"/>
                  </a:lnTo>
                  <a:lnTo>
                    <a:pt x="2512695" y="451485"/>
                  </a:lnTo>
                  <a:lnTo>
                    <a:pt x="2533650" y="443865"/>
                  </a:lnTo>
                  <a:lnTo>
                    <a:pt x="2555558" y="434340"/>
                  </a:lnTo>
                  <a:lnTo>
                    <a:pt x="2576512" y="421957"/>
                  </a:lnTo>
                  <a:lnTo>
                    <a:pt x="2598420" y="408623"/>
                  </a:lnTo>
                  <a:lnTo>
                    <a:pt x="2620328" y="394335"/>
                  </a:lnTo>
                  <a:lnTo>
                    <a:pt x="2641282" y="377190"/>
                  </a:lnTo>
                  <a:lnTo>
                    <a:pt x="2663190" y="360045"/>
                  </a:lnTo>
                  <a:lnTo>
                    <a:pt x="2684145" y="341948"/>
                  </a:lnTo>
                  <a:lnTo>
                    <a:pt x="2706052" y="323850"/>
                  </a:lnTo>
                  <a:lnTo>
                    <a:pt x="2727008" y="304800"/>
                  </a:lnTo>
                  <a:lnTo>
                    <a:pt x="2748915" y="286702"/>
                  </a:lnTo>
                  <a:lnTo>
                    <a:pt x="2769870" y="268605"/>
                  </a:lnTo>
                  <a:lnTo>
                    <a:pt x="2791778" y="251460"/>
                  </a:lnTo>
                  <a:lnTo>
                    <a:pt x="2812732" y="235268"/>
                  </a:lnTo>
                  <a:lnTo>
                    <a:pt x="2834640" y="220027"/>
                  </a:lnTo>
                  <a:lnTo>
                    <a:pt x="2856548" y="205740"/>
                  </a:lnTo>
                  <a:lnTo>
                    <a:pt x="2877502" y="193357"/>
                  </a:lnTo>
                  <a:lnTo>
                    <a:pt x="2899410" y="181927"/>
                  </a:lnTo>
                  <a:lnTo>
                    <a:pt x="2920365" y="172402"/>
                  </a:lnTo>
                  <a:lnTo>
                    <a:pt x="2942272" y="164782"/>
                  </a:lnTo>
                  <a:lnTo>
                    <a:pt x="2963228" y="158115"/>
                  </a:lnTo>
                  <a:lnTo>
                    <a:pt x="2985135" y="153352"/>
                  </a:lnTo>
                  <a:lnTo>
                    <a:pt x="3006090" y="150495"/>
                  </a:lnTo>
                  <a:lnTo>
                    <a:pt x="3027998" y="148590"/>
                  </a:lnTo>
                  <a:lnTo>
                    <a:pt x="3048952" y="147638"/>
                  </a:lnTo>
                  <a:lnTo>
                    <a:pt x="3070860" y="147638"/>
                  </a:lnTo>
                  <a:lnTo>
                    <a:pt x="3092768" y="148590"/>
                  </a:lnTo>
                  <a:lnTo>
                    <a:pt x="3113722" y="150495"/>
                  </a:lnTo>
                  <a:lnTo>
                    <a:pt x="3135630" y="153352"/>
                  </a:lnTo>
                  <a:lnTo>
                    <a:pt x="3156585" y="156210"/>
                  </a:lnTo>
                  <a:lnTo>
                    <a:pt x="3178492" y="158115"/>
                  </a:lnTo>
                  <a:lnTo>
                    <a:pt x="3199448" y="160973"/>
                  </a:lnTo>
                  <a:lnTo>
                    <a:pt x="3221355" y="162877"/>
                  </a:lnTo>
                  <a:lnTo>
                    <a:pt x="3242310" y="164782"/>
                  </a:lnTo>
                  <a:lnTo>
                    <a:pt x="3264218" y="164782"/>
                  </a:lnTo>
                  <a:lnTo>
                    <a:pt x="3285172" y="164782"/>
                  </a:lnTo>
                  <a:lnTo>
                    <a:pt x="3307080" y="163830"/>
                  </a:lnTo>
                  <a:lnTo>
                    <a:pt x="3328988" y="161925"/>
                  </a:lnTo>
                  <a:lnTo>
                    <a:pt x="3349942" y="158115"/>
                  </a:lnTo>
                  <a:lnTo>
                    <a:pt x="3371850" y="153352"/>
                  </a:lnTo>
                  <a:lnTo>
                    <a:pt x="3392805" y="147638"/>
                  </a:lnTo>
                  <a:lnTo>
                    <a:pt x="3414712" y="140970"/>
                  </a:lnTo>
                  <a:lnTo>
                    <a:pt x="3435668" y="133350"/>
                  </a:lnTo>
                  <a:lnTo>
                    <a:pt x="3457575" y="124777"/>
                  </a:lnTo>
                  <a:lnTo>
                    <a:pt x="3478530" y="114300"/>
                  </a:lnTo>
                  <a:lnTo>
                    <a:pt x="3500438" y="104775"/>
                  </a:lnTo>
                  <a:lnTo>
                    <a:pt x="3521392" y="93345"/>
                  </a:lnTo>
                  <a:lnTo>
                    <a:pt x="3543300" y="82868"/>
                  </a:lnTo>
                  <a:lnTo>
                    <a:pt x="3565208" y="72390"/>
                  </a:lnTo>
                  <a:lnTo>
                    <a:pt x="3586162" y="60960"/>
                  </a:lnTo>
                  <a:lnTo>
                    <a:pt x="3608070" y="51435"/>
                  </a:lnTo>
                  <a:lnTo>
                    <a:pt x="3629025" y="41910"/>
                  </a:lnTo>
                  <a:lnTo>
                    <a:pt x="3650932" y="33338"/>
                  </a:lnTo>
                  <a:lnTo>
                    <a:pt x="3671888" y="25718"/>
                  </a:lnTo>
                  <a:lnTo>
                    <a:pt x="3693795" y="19050"/>
                  </a:lnTo>
                  <a:lnTo>
                    <a:pt x="3714750" y="15240"/>
                  </a:lnTo>
                  <a:lnTo>
                    <a:pt x="3736658" y="12383"/>
                  </a:lnTo>
                  <a:lnTo>
                    <a:pt x="3757612" y="11430"/>
                  </a:lnTo>
                  <a:lnTo>
                    <a:pt x="3779520" y="12383"/>
                  </a:lnTo>
                  <a:lnTo>
                    <a:pt x="3801428" y="15240"/>
                  </a:lnTo>
                  <a:lnTo>
                    <a:pt x="3822382" y="20002"/>
                  </a:lnTo>
                  <a:lnTo>
                    <a:pt x="3844290" y="27623"/>
                  </a:lnTo>
                  <a:lnTo>
                    <a:pt x="3865245" y="36195"/>
                  </a:lnTo>
                  <a:lnTo>
                    <a:pt x="3887152" y="46673"/>
                  </a:lnTo>
                  <a:lnTo>
                    <a:pt x="3908108" y="59055"/>
                  </a:lnTo>
                  <a:lnTo>
                    <a:pt x="3930015" y="73343"/>
                  </a:lnTo>
                  <a:lnTo>
                    <a:pt x="3950970" y="88582"/>
                  </a:lnTo>
                  <a:lnTo>
                    <a:pt x="3972878" y="105727"/>
                  </a:lnTo>
                  <a:lnTo>
                    <a:pt x="3993832" y="122873"/>
                  </a:lnTo>
                  <a:lnTo>
                    <a:pt x="4015740" y="140970"/>
                  </a:lnTo>
                  <a:lnTo>
                    <a:pt x="4037648" y="160020"/>
                  </a:lnTo>
                  <a:lnTo>
                    <a:pt x="4058602" y="178118"/>
                  </a:lnTo>
                  <a:lnTo>
                    <a:pt x="4080510" y="196215"/>
                  </a:lnTo>
                  <a:lnTo>
                    <a:pt x="4101465" y="213360"/>
                  </a:lnTo>
                  <a:lnTo>
                    <a:pt x="4123372" y="230505"/>
                  </a:lnTo>
                  <a:lnTo>
                    <a:pt x="4144328" y="245745"/>
                  </a:lnTo>
                  <a:lnTo>
                    <a:pt x="4166235" y="260032"/>
                  </a:lnTo>
                  <a:lnTo>
                    <a:pt x="4187190" y="272415"/>
                  </a:lnTo>
                  <a:lnTo>
                    <a:pt x="4209098" y="282893"/>
                  </a:lnTo>
                  <a:lnTo>
                    <a:pt x="4230052" y="291465"/>
                  </a:lnTo>
                  <a:lnTo>
                    <a:pt x="4251960" y="297180"/>
                  </a:lnTo>
                  <a:lnTo>
                    <a:pt x="4273868" y="300990"/>
                  </a:lnTo>
                  <a:lnTo>
                    <a:pt x="4294822" y="302895"/>
                  </a:lnTo>
                  <a:lnTo>
                    <a:pt x="4316730" y="301943"/>
                  </a:lnTo>
                  <a:lnTo>
                    <a:pt x="4337685" y="298132"/>
                  </a:lnTo>
                  <a:lnTo>
                    <a:pt x="4359592" y="292418"/>
                  </a:lnTo>
                  <a:lnTo>
                    <a:pt x="4380548" y="284798"/>
                  </a:lnTo>
                  <a:lnTo>
                    <a:pt x="4402455" y="274320"/>
                  </a:lnTo>
                  <a:lnTo>
                    <a:pt x="4423410" y="262890"/>
                  </a:lnTo>
                  <a:lnTo>
                    <a:pt x="4445318" y="248602"/>
                  </a:lnTo>
                  <a:lnTo>
                    <a:pt x="4466272" y="233363"/>
                  </a:lnTo>
                  <a:lnTo>
                    <a:pt x="4488180" y="217170"/>
                  </a:lnTo>
                  <a:lnTo>
                    <a:pt x="4510088" y="200025"/>
                  </a:lnTo>
                  <a:lnTo>
                    <a:pt x="4531042" y="182880"/>
                  </a:lnTo>
                  <a:lnTo>
                    <a:pt x="4552950" y="164782"/>
                  </a:lnTo>
                  <a:lnTo>
                    <a:pt x="4573905" y="147638"/>
                  </a:lnTo>
                  <a:lnTo>
                    <a:pt x="4595812" y="129540"/>
                  </a:lnTo>
                  <a:lnTo>
                    <a:pt x="4616768" y="113348"/>
                  </a:lnTo>
                  <a:lnTo>
                    <a:pt x="4638675" y="98107"/>
                  </a:lnTo>
                  <a:lnTo>
                    <a:pt x="4659630" y="83820"/>
                  </a:lnTo>
                  <a:lnTo>
                    <a:pt x="4681538" y="71438"/>
                  </a:lnTo>
                  <a:lnTo>
                    <a:pt x="4702492" y="60007"/>
                  </a:lnTo>
                  <a:lnTo>
                    <a:pt x="4724400" y="51435"/>
                  </a:lnTo>
                </a:path>
              </a:pathLst>
            </a:custGeom>
            <a:noFill/>
            <a:ln w="23812">
              <a:solidFill>
                <a:schemeClr val="accent3"/>
              </a:solidFill>
            </a:ln>
          </p:spPr>
        </p:sp>
      </p:grpSp>
      <p:grpSp>
        <p:nvGrpSpPr>
          <p:cNvPr id="22" name="wave-components"/>
          <p:cNvGrpSpPr/>
          <p:nvPr/>
        </p:nvGrpSpPr>
        <p:grpSpPr>
          <a:xfrm>
            <a:off x="602742" y="3168968"/>
            <a:ext cx="4921758" cy="1822132"/>
            <a:chOff x="602742" y="3168968"/>
            <a:chExt cx="4921758" cy="1822132"/>
          </a:xfrm>
        </p:grpSpPr>
        <p:sp>
          <p:nvSpPr>
            <p:cNvPr id="15" name="TextBox 15"/>
            <p:cNvSpPr txBox="1"/>
            <p:nvPr/>
          </p:nvSpPr>
          <p:spPr>
            <a:xfrm>
              <a:off x="602742" y="3168968"/>
              <a:ext cx="331447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拆开以后的三条单频分量(频率由低到高)</a:t>
              </a:r>
            </a:p>
          </p:txBody>
        </p:sp>
        <p:sp>
          <p:nvSpPr>
            <p:cNvPr id="16" name="Line 16"/>
            <p:cNvSpPr/>
            <p:nvPr/>
          </p:nvSpPr>
          <p:spPr>
            <a:xfrm>
              <a:off x="800100" y="371475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7" name="Freeform 17"/>
            <p:cNvSpPr/>
            <p:nvPr/>
          </p:nvSpPr>
          <p:spPr>
            <a:xfrm>
              <a:off x="800100" y="3543300"/>
              <a:ext cx="4724400" cy="342900"/>
            </a:xfrm>
            <a:custGeom>
              <a:avLst/>
              <a:gdLst/>
              <a:ahLst/>
              <a:cxnLst/>
              <a:rect l="l" t="t" r="r" b="b"/>
              <a:pathLst>
                <a:path w="4724400" h="342900">
                  <a:moveTo>
                    <a:pt x="0" y="171450"/>
                  </a:moveTo>
                  <a:lnTo>
                    <a:pt x="21907" y="163830"/>
                  </a:lnTo>
                  <a:lnTo>
                    <a:pt x="42862" y="157162"/>
                  </a:lnTo>
                  <a:lnTo>
                    <a:pt x="64770" y="149542"/>
                  </a:lnTo>
                  <a:lnTo>
                    <a:pt x="85725" y="141922"/>
                  </a:lnTo>
                  <a:lnTo>
                    <a:pt x="107632" y="135255"/>
                  </a:lnTo>
                  <a:lnTo>
                    <a:pt x="128588" y="127635"/>
                  </a:lnTo>
                  <a:lnTo>
                    <a:pt x="150495" y="120967"/>
                  </a:lnTo>
                  <a:lnTo>
                    <a:pt x="171450" y="114300"/>
                  </a:lnTo>
                  <a:lnTo>
                    <a:pt x="193357" y="106680"/>
                  </a:lnTo>
                  <a:lnTo>
                    <a:pt x="214312" y="100012"/>
                  </a:lnTo>
                  <a:lnTo>
                    <a:pt x="236220" y="93345"/>
                  </a:lnTo>
                  <a:lnTo>
                    <a:pt x="258127" y="86678"/>
                  </a:lnTo>
                  <a:lnTo>
                    <a:pt x="279082" y="80962"/>
                  </a:lnTo>
                  <a:lnTo>
                    <a:pt x="300990" y="74295"/>
                  </a:lnTo>
                  <a:lnTo>
                    <a:pt x="321945" y="68580"/>
                  </a:lnTo>
                  <a:lnTo>
                    <a:pt x="343852" y="62865"/>
                  </a:lnTo>
                  <a:lnTo>
                    <a:pt x="364808" y="57150"/>
                  </a:lnTo>
                  <a:lnTo>
                    <a:pt x="386715" y="52388"/>
                  </a:lnTo>
                  <a:lnTo>
                    <a:pt x="407670" y="46672"/>
                  </a:lnTo>
                  <a:lnTo>
                    <a:pt x="429577" y="41910"/>
                  </a:lnTo>
                  <a:lnTo>
                    <a:pt x="450533" y="37147"/>
                  </a:lnTo>
                  <a:lnTo>
                    <a:pt x="472440" y="32385"/>
                  </a:lnTo>
                  <a:lnTo>
                    <a:pt x="494348" y="28575"/>
                  </a:lnTo>
                  <a:lnTo>
                    <a:pt x="515302" y="24765"/>
                  </a:lnTo>
                  <a:lnTo>
                    <a:pt x="537210" y="20955"/>
                  </a:lnTo>
                  <a:lnTo>
                    <a:pt x="558165" y="17145"/>
                  </a:lnTo>
                  <a:lnTo>
                    <a:pt x="580072" y="14288"/>
                  </a:lnTo>
                  <a:lnTo>
                    <a:pt x="601028" y="11430"/>
                  </a:lnTo>
                  <a:lnTo>
                    <a:pt x="622935" y="9525"/>
                  </a:lnTo>
                  <a:lnTo>
                    <a:pt x="643890" y="6667"/>
                  </a:lnTo>
                  <a:lnTo>
                    <a:pt x="665798" y="4762"/>
                  </a:lnTo>
                  <a:lnTo>
                    <a:pt x="686752" y="3810"/>
                  </a:lnTo>
                  <a:lnTo>
                    <a:pt x="708660" y="1905"/>
                  </a:lnTo>
                  <a:lnTo>
                    <a:pt x="730567" y="953"/>
                  </a:lnTo>
                  <a:lnTo>
                    <a:pt x="751522" y="0"/>
                  </a:lnTo>
                  <a:lnTo>
                    <a:pt x="773430" y="0"/>
                  </a:lnTo>
                  <a:lnTo>
                    <a:pt x="794385" y="0"/>
                  </a:lnTo>
                  <a:lnTo>
                    <a:pt x="816292" y="0"/>
                  </a:lnTo>
                  <a:lnTo>
                    <a:pt x="837248" y="953"/>
                  </a:lnTo>
                  <a:lnTo>
                    <a:pt x="859155" y="1905"/>
                  </a:lnTo>
                  <a:lnTo>
                    <a:pt x="880110" y="2858"/>
                  </a:lnTo>
                  <a:lnTo>
                    <a:pt x="902017" y="4762"/>
                  </a:lnTo>
                  <a:lnTo>
                    <a:pt x="922972" y="6667"/>
                  </a:lnTo>
                  <a:lnTo>
                    <a:pt x="944880" y="8572"/>
                  </a:lnTo>
                  <a:lnTo>
                    <a:pt x="966788" y="10478"/>
                  </a:lnTo>
                  <a:lnTo>
                    <a:pt x="987742" y="13335"/>
                  </a:lnTo>
                  <a:lnTo>
                    <a:pt x="1009650" y="16192"/>
                  </a:lnTo>
                  <a:lnTo>
                    <a:pt x="1030605" y="20003"/>
                  </a:lnTo>
                  <a:lnTo>
                    <a:pt x="1052512" y="23812"/>
                  </a:lnTo>
                  <a:lnTo>
                    <a:pt x="1073468" y="27622"/>
                  </a:lnTo>
                  <a:lnTo>
                    <a:pt x="1095375" y="31433"/>
                  </a:lnTo>
                  <a:lnTo>
                    <a:pt x="1116330" y="35242"/>
                  </a:lnTo>
                  <a:lnTo>
                    <a:pt x="1138238" y="40005"/>
                  </a:lnTo>
                  <a:lnTo>
                    <a:pt x="1159192" y="44767"/>
                  </a:lnTo>
                  <a:lnTo>
                    <a:pt x="1181100" y="50483"/>
                  </a:lnTo>
                  <a:lnTo>
                    <a:pt x="1203008" y="55245"/>
                  </a:lnTo>
                  <a:lnTo>
                    <a:pt x="1223962" y="60960"/>
                  </a:lnTo>
                  <a:lnTo>
                    <a:pt x="1245870" y="66675"/>
                  </a:lnTo>
                  <a:lnTo>
                    <a:pt x="1266825" y="72390"/>
                  </a:lnTo>
                  <a:lnTo>
                    <a:pt x="1288732" y="79058"/>
                  </a:lnTo>
                  <a:lnTo>
                    <a:pt x="1309688" y="84772"/>
                  </a:lnTo>
                  <a:lnTo>
                    <a:pt x="1331595" y="91440"/>
                  </a:lnTo>
                  <a:lnTo>
                    <a:pt x="1352550" y="98108"/>
                  </a:lnTo>
                  <a:lnTo>
                    <a:pt x="1374458" y="104775"/>
                  </a:lnTo>
                  <a:lnTo>
                    <a:pt x="1395412" y="111442"/>
                  </a:lnTo>
                  <a:lnTo>
                    <a:pt x="1417320" y="118110"/>
                  </a:lnTo>
                  <a:lnTo>
                    <a:pt x="1439228" y="125730"/>
                  </a:lnTo>
                  <a:lnTo>
                    <a:pt x="1460182" y="132397"/>
                  </a:lnTo>
                  <a:lnTo>
                    <a:pt x="1482090" y="140017"/>
                  </a:lnTo>
                  <a:lnTo>
                    <a:pt x="1503045" y="146685"/>
                  </a:lnTo>
                  <a:lnTo>
                    <a:pt x="1524952" y="154305"/>
                  </a:lnTo>
                  <a:lnTo>
                    <a:pt x="1545908" y="161925"/>
                  </a:lnTo>
                  <a:lnTo>
                    <a:pt x="1567815" y="168592"/>
                  </a:lnTo>
                  <a:lnTo>
                    <a:pt x="1588770" y="176212"/>
                  </a:lnTo>
                  <a:lnTo>
                    <a:pt x="1610678" y="183833"/>
                  </a:lnTo>
                  <a:lnTo>
                    <a:pt x="1631632" y="191453"/>
                  </a:lnTo>
                  <a:lnTo>
                    <a:pt x="1653540" y="198120"/>
                  </a:lnTo>
                  <a:lnTo>
                    <a:pt x="1675447" y="205740"/>
                  </a:lnTo>
                  <a:lnTo>
                    <a:pt x="1696403" y="212408"/>
                  </a:lnTo>
                  <a:lnTo>
                    <a:pt x="1718310" y="220028"/>
                  </a:lnTo>
                  <a:lnTo>
                    <a:pt x="1739265" y="226695"/>
                  </a:lnTo>
                  <a:lnTo>
                    <a:pt x="1761172" y="233362"/>
                  </a:lnTo>
                  <a:lnTo>
                    <a:pt x="1782128" y="240030"/>
                  </a:lnTo>
                  <a:lnTo>
                    <a:pt x="1804035" y="246697"/>
                  </a:lnTo>
                  <a:lnTo>
                    <a:pt x="1824990" y="253365"/>
                  </a:lnTo>
                  <a:lnTo>
                    <a:pt x="1846897" y="260033"/>
                  </a:lnTo>
                  <a:lnTo>
                    <a:pt x="1867853" y="265747"/>
                  </a:lnTo>
                  <a:lnTo>
                    <a:pt x="1889760" y="272415"/>
                  </a:lnTo>
                  <a:lnTo>
                    <a:pt x="1911668" y="278130"/>
                  </a:lnTo>
                  <a:lnTo>
                    <a:pt x="1932622" y="283845"/>
                  </a:lnTo>
                  <a:lnTo>
                    <a:pt x="1954530" y="289560"/>
                  </a:lnTo>
                  <a:lnTo>
                    <a:pt x="1975485" y="294322"/>
                  </a:lnTo>
                  <a:lnTo>
                    <a:pt x="1997392" y="299085"/>
                  </a:lnTo>
                  <a:lnTo>
                    <a:pt x="2018347" y="303847"/>
                  </a:lnTo>
                  <a:lnTo>
                    <a:pt x="2040255" y="308610"/>
                  </a:lnTo>
                  <a:lnTo>
                    <a:pt x="2061210" y="313372"/>
                  </a:lnTo>
                  <a:lnTo>
                    <a:pt x="2083118" y="317183"/>
                  </a:lnTo>
                  <a:lnTo>
                    <a:pt x="2104072" y="320992"/>
                  </a:lnTo>
                  <a:lnTo>
                    <a:pt x="2125980" y="323850"/>
                  </a:lnTo>
                  <a:lnTo>
                    <a:pt x="2147888" y="327660"/>
                  </a:lnTo>
                  <a:lnTo>
                    <a:pt x="2168842" y="330517"/>
                  </a:lnTo>
                  <a:lnTo>
                    <a:pt x="2190750" y="333375"/>
                  </a:lnTo>
                  <a:lnTo>
                    <a:pt x="2211705" y="335280"/>
                  </a:lnTo>
                  <a:lnTo>
                    <a:pt x="2233612" y="337185"/>
                  </a:lnTo>
                  <a:lnTo>
                    <a:pt x="2254568" y="339090"/>
                  </a:lnTo>
                  <a:lnTo>
                    <a:pt x="2276475" y="340042"/>
                  </a:lnTo>
                  <a:lnTo>
                    <a:pt x="2297430" y="341947"/>
                  </a:lnTo>
                  <a:lnTo>
                    <a:pt x="2319338" y="341947"/>
                  </a:lnTo>
                  <a:lnTo>
                    <a:pt x="2340292" y="342900"/>
                  </a:lnTo>
                  <a:lnTo>
                    <a:pt x="2362200" y="342900"/>
                  </a:lnTo>
                  <a:lnTo>
                    <a:pt x="2384108" y="342900"/>
                  </a:lnTo>
                  <a:lnTo>
                    <a:pt x="2405062" y="341947"/>
                  </a:lnTo>
                  <a:lnTo>
                    <a:pt x="2426970" y="341947"/>
                  </a:lnTo>
                  <a:lnTo>
                    <a:pt x="2447925" y="340042"/>
                  </a:lnTo>
                  <a:lnTo>
                    <a:pt x="2469832" y="339090"/>
                  </a:lnTo>
                  <a:lnTo>
                    <a:pt x="2490788" y="337185"/>
                  </a:lnTo>
                  <a:lnTo>
                    <a:pt x="2512695" y="335280"/>
                  </a:lnTo>
                  <a:lnTo>
                    <a:pt x="2533650" y="333375"/>
                  </a:lnTo>
                  <a:lnTo>
                    <a:pt x="2555558" y="330517"/>
                  </a:lnTo>
                  <a:lnTo>
                    <a:pt x="2576512" y="327660"/>
                  </a:lnTo>
                  <a:lnTo>
                    <a:pt x="2598420" y="323850"/>
                  </a:lnTo>
                  <a:lnTo>
                    <a:pt x="2620328" y="320992"/>
                  </a:lnTo>
                  <a:lnTo>
                    <a:pt x="2641282" y="317183"/>
                  </a:lnTo>
                  <a:lnTo>
                    <a:pt x="2663190" y="313372"/>
                  </a:lnTo>
                  <a:lnTo>
                    <a:pt x="2684145" y="308610"/>
                  </a:lnTo>
                  <a:lnTo>
                    <a:pt x="2706052" y="303847"/>
                  </a:lnTo>
                  <a:lnTo>
                    <a:pt x="2727008" y="299085"/>
                  </a:lnTo>
                  <a:lnTo>
                    <a:pt x="2748915" y="294322"/>
                  </a:lnTo>
                  <a:lnTo>
                    <a:pt x="2769870" y="289560"/>
                  </a:lnTo>
                  <a:lnTo>
                    <a:pt x="2791778" y="283845"/>
                  </a:lnTo>
                  <a:lnTo>
                    <a:pt x="2812732" y="278130"/>
                  </a:lnTo>
                  <a:lnTo>
                    <a:pt x="2834640" y="272415"/>
                  </a:lnTo>
                  <a:lnTo>
                    <a:pt x="2856548" y="265747"/>
                  </a:lnTo>
                  <a:lnTo>
                    <a:pt x="2877502" y="260033"/>
                  </a:lnTo>
                  <a:lnTo>
                    <a:pt x="2899410" y="253365"/>
                  </a:lnTo>
                  <a:lnTo>
                    <a:pt x="2920365" y="246697"/>
                  </a:lnTo>
                  <a:lnTo>
                    <a:pt x="2942272" y="240030"/>
                  </a:lnTo>
                  <a:lnTo>
                    <a:pt x="2963228" y="233362"/>
                  </a:lnTo>
                  <a:lnTo>
                    <a:pt x="2985135" y="226695"/>
                  </a:lnTo>
                  <a:lnTo>
                    <a:pt x="3006090" y="220028"/>
                  </a:lnTo>
                  <a:lnTo>
                    <a:pt x="3027998" y="212408"/>
                  </a:lnTo>
                  <a:lnTo>
                    <a:pt x="3048952" y="205740"/>
                  </a:lnTo>
                  <a:lnTo>
                    <a:pt x="3070860" y="198120"/>
                  </a:lnTo>
                  <a:lnTo>
                    <a:pt x="3092768" y="191453"/>
                  </a:lnTo>
                  <a:lnTo>
                    <a:pt x="3113722" y="183833"/>
                  </a:lnTo>
                  <a:lnTo>
                    <a:pt x="3135630" y="176212"/>
                  </a:lnTo>
                  <a:lnTo>
                    <a:pt x="3156585" y="168592"/>
                  </a:lnTo>
                  <a:lnTo>
                    <a:pt x="3178492" y="161925"/>
                  </a:lnTo>
                  <a:lnTo>
                    <a:pt x="3199448" y="154305"/>
                  </a:lnTo>
                  <a:lnTo>
                    <a:pt x="3221355" y="146685"/>
                  </a:lnTo>
                  <a:lnTo>
                    <a:pt x="3242310" y="140017"/>
                  </a:lnTo>
                  <a:lnTo>
                    <a:pt x="3264218" y="132397"/>
                  </a:lnTo>
                  <a:lnTo>
                    <a:pt x="3285172" y="125730"/>
                  </a:lnTo>
                  <a:lnTo>
                    <a:pt x="3307080" y="118110"/>
                  </a:lnTo>
                  <a:lnTo>
                    <a:pt x="3328988" y="111442"/>
                  </a:lnTo>
                  <a:lnTo>
                    <a:pt x="3349942" y="104775"/>
                  </a:lnTo>
                  <a:lnTo>
                    <a:pt x="3371850" y="98108"/>
                  </a:lnTo>
                  <a:lnTo>
                    <a:pt x="3392805" y="91440"/>
                  </a:lnTo>
                  <a:lnTo>
                    <a:pt x="3414712" y="84772"/>
                  </a:lnTo>
                  <a:lnTo>
                    <a:pt x="3435668" y="79058"/>
                  </a:lnTo>
                  <a:lnTo>
                    <a:pt x="3457575" y="72390"/>
                  </a:lnTo>
                  <a:lnTo>
                    <a:pt x="3478530" y="66675"/>
                  </a:lnTo>
                  <a:lnTo>
                    <a:pt x="3500438" y="60960"/>
                  </a:lnTo>
                  <a:lnTo>
                    <a:pt x="3521392" y="55245"/>
                  </a:lnTo>
                  <a:lnTo>
                    <a:pt x="3543300" y="50483"/>
                  </a:lnTo>
                  <a:lnTo>
                    <a:pt x="3565208" y="44767"/>
                  </a:lnTo>
                  <a:lnTo>
                    <a:pt x="3586162" y="40005"/>
                  </a:lnTo>
                  <a:lnTo>
                    <a:pt x="3608070" y="35242"/>
                  </a:lnTo>
                  <a:lnTo>
                    <a:pt x="3629025" y="31433"/>
                  </a:lnTo>
                  <a:lnTo>
                    <a:pt x="3650932" y="27622"/>
                  </a:lnTo>
                  <a:lnTo>
                    <a:pt x="3671888" y="23812"/>
                  </a:lnTo>
                  <a:lnTo>
                    <a:pt x="3693795" y="20003"/>
                  </a:lnTo>
                  <a:lnTo>
                    <a:pt x="3714750" y="16192"/>
                  </a:lnTo>
                  <a:lnTo>
                    <a:pt x="3736658" y="13335"/>
                  </a:lnTo>
                  <a:lnTo>
                    <a:pt x="3757612" y="10478"/>
                  </a:lnTo>
                  <a:lnTo>
                    <a:pt x="3779520" y="8572"/>
                  </a:lnTo>
                  <a:lnTo>
                    <a:pt x="3801428" y="6667"/>
                  </a:lnTo>
                  <a:lnTo>
                    <a:pt x="3822382" y="4762"/>
                  </a:lnTo>
                  <a:lnTo>
                    <a:pt x="3844290" y="2858"/>
                  </a:lnTo>
                  <a:lnTo>
                    <a:pt x="3865245" y="1905"/>
                  </a:lnTo>
                  <a:lnTo>
                    <a:pt x="3887152" y="953"/>
                  </a:lnTo>
                  <a:lnTo>
                    <a:pt x="3908108" y="0"/>
                  </a:lnTo>
                  <a:lnTo>
                    <a:pt x="3930015" y="0"/>
                  </a:lnTo>
                  <a:lnTo>
                    <a:pt x="3950970" y="0"/>
                  </a:lnTo>
                  <a:lnTo>
                    <a:pt x="3972878" y="0"/>
                  </a:lnTo>
                  <a:lnTo>
                    <a:pt x="3993832" y="953"/>
                  </a:lnTo>
                  <a:lnTo>
                    <a:pt x="4015740" y="1905"/>
                  </a:lnTo>
                  <a:lnTo>
                    <a:pt x="4037648" y="3810"/>
                  </a:lnTo>
                  <a:lnTo>
                    <a:pt x="4058602" y="4762"/>
                  </a:lnTo>
                  <a:lnTo>
                    <a:pt x="4080510" y="6667"/>
                  </a:lnTo>
                  <a:lnTo>
                    <a:pt x="4101465" y="9525"/>
                  </a:lnTo>
                  <a:lnTo>
                    <a:pt x="4123372" y="11430"/>
                  </a:lnTo>
                  <a:lnTo>
                    <a:pt x="4144328" y="14288"/>
                  </a:lnTo>
                  <a:lnTo>
                    <a:pt x="4166235" y="17145"/>
                  </a:lnTo>
                  <a:lnTo>
                    <a:pt x="4187190" y="20955"/>
                  </a:lnTo>
                  <a:lnTo>
                    <a:pt x="4209098" y="24765"/>
                  </a:lnTo>
                  <a:lnTo>
                    <a:pt x="4230052" y="28575"/>
                  </a:lnTo>
                  <a:lnTo>
                    <a:pt x="4251960" y="32385"/>
                  </a:lnTo>
                  <a:lnTo>
                    <a:pt x="4273868" y="37147"/>
                  </a:lnTo>
                  <a:lnTo>
                    <a:pt x="4294822" y="41910"/>
                  </a:lnTo>
                  <a:lnTo>
                    <a:pt x="4316730" y="46672"/>
                  </a:lnTo>
                  <a:lnTo>
                    <a:pt x="4337685" y="52388"/>
                  </a:lnTo>
                  <a:lnTo>
                    <a:pt x="4359592" y="57150"/>
                  </a:lnTo>
                  <a:lnTo>
                    <a:pt x="4380548" y="62865"/>
                  </a:lnTo>
                  <a:lnTo>
                    <a:pt x="4402455" y="68580"/>
                  </a:lnTo>
                  <a:lnTo>
                    <a:pt x="4423410" y="74295"/>
                  </a:lnTo>
                  <a:lnTo>
                    <a:pt x="4445318" y="80962"/>
                  </a:lnTo>
                  <a:lnTo>
                    <a:pt x="4466272" y="86678"/>
                  </a:lnTo>
                  <a:lnTo>
                    <a:pt x="4488180" y="93345"/>
                  </a:lnTo>
                  <a:lnTo>
                    <a:pt x="4510088" y="100012"/>
                  </a:lnTo>
                  <a:lnTo>
                    <a:pt x="4531042" y="106680"/>
                  </a:lnTo>
                  <a:lnTo>
                    <a:pt x="4552950" y="114300"/>
                  </a:lnTo>
                  <a:lnTo>
                    <a:pt x="4573905" y="120967"/>
                  </a:lnTo>
                  <a:lnTo>
                    <a:pt x="4595812" y="127635"/>
                  </a:lnTo>
                  <a:lnTo>
                    <a:pt x="4616768" y="135255"/>
                  </a:lnTo>
                  <a:lnTo>
                    <a:pt x="4638675" y="141922"/>
                  </a:lnTo>
                  <a:lnTo>
                    <a:pt x="4659630" y="149542"/>
                  </a:lnTo>
                  <a:lnTo>
                    <a:pt x="4681538" y="157162"/>
                  </a:lnTo>
                  <a:lnTo>
                    <a:pt x="4702492" y="163830"/>
                  </a:lnTo>
                  <a:lnTo>
                    <a:pt x="4724400" y="171450"/>
                  </a:lnTo>
                </a:path>
              </a:pathLst>
            </a:custGeom>
            <a:noFill/>
            <a:ln w="19050">
              <a:solidFill>
                <a:schemeClr val="accent3"/>
              </a:solidFill>
            </a:ln>
          </p:spPr>
        </p:sp>
        <p:sp>
          <p:nvSpPr>
            <p:cNvPr id="18" name="Line 18"/>
            <p:cNvSpPr/>
            <p:nvPr/>
          </p:nvSpPr>
          <p:spPr>
            <a:xfrm>
              <a:off x="800100" y="428625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9" name="Freeform 19"/>
            <p:cNvSpPr/>
            <p:nvPr/>
          </p:nvSpPr>
          <p:spPr>
            <a:xfrm>
              <a:off x="800100" y="4133850"/>
              <a:ext cx="4724400" cy="304800"/>
            </a:xfrm>
            <a:custGeom>
              <a:avLst/>
              <a:gdLst/>
              <a:ahLst/>
              <a:cxnLst/>
              <a:rect l="l" t="t" r="r" b="b"/>
              <a:pathLst>
                <a:path w="4724400" h="304800">
                  <a:moveTo>
                    <a:pt x="0" y="152400"/>
                  </a:moveTo>
                  <a:lnTo>
                    <a:pt x="21907" y="139065"/>
                  </a:lnTo>
                  <a:lnTo>
                    <a:pt x="42862" y="126683"/>
                  </a:lnTo>
                  <a:lnTo>
                    <a:pt x="64770" y="113347"/>
                  </a:lnTo>
                  <a:lnTo>
                    <a:pt x="85725" y="100965"/>
                  </a:lnTo>
                  <a:lnTo>
                    <a:pt x="107632" y="89535"/>
                  </a:lnTo>
                  <a:lnTo>
                    <a:pt x="128588" y="77153"/>
                  </a:lnTo>
                  <a:lnTo>
                    <a:pt x="150495" y="66675"/>
                  </a:lnTo>
                  <a:lnTo>
                    <a:pt x="171450" y="56197"/>
                  </a:lnTo>
                  <a:lnTo>
                    <a:pt x="193357" y="45720"/>
                  </a:lnTo>
                  <a:lnTo>
                    <a:pt x="214312" y="37147"/>
                  </a:lnTo>
                  <a:lnTo>
                    <a:pt x="236220" y="29528"/>
                  </a:lnTo>
                  <a:lnTo>
                    <a:pt x="258127" y="21908"/>
                  </a:lnTo>
                  <a:lnTo>
                    <a:pt x="279082" y="15240"/>
                  </a:lnTo>
                  <a:lnTo>
                    <a:pt x="300990" y="10478"/>
                  </a:lnTo>
                  <a:lnTo>
                    <a:pt x="321945" y="5715"/>
                  </a:lnTo>
                  <a:lnTo>
                    <a:pt x="343852" y="2858"/>
                  </a:lnTo>
                  <a:lnTo>
                    <a:pt x="364808" y="953"/>
                  </a:lnTo>
                  <a:lnTo>
                    <a:pt x="386715" y="0"/>
                  </a:lnTo>
                  <a:lnTo>
                    <a:pt x="407670" y="0"/>
                  </a:lnTo>
                  <a:lnTo>
                    <a:pt x="429577" y="1905"/>
                  </a:lnTo>
                  <a:lnTo>
                    <a:pt x="450533" y="3810"/>
                  </a:lnTo>
                  <a:lnTo>
                    <a:pt x="472440" y="7620"/>
                  </a:lnTo>
                  <a:lnTo>
                    <a:pt x="494348" y="12383"/>
                  </a:lnTo>
                  <a:lnTo>
                    <a:pt x="515302" y="17145"/>
                  </a:lnTo>
                  <a:lnTo>
                    <a:pt x="537210" y="23812"/>
                  </a:lnTo>
                  <a:lnTo>
                    <a:pt x="558165" y="31433"/>
                  </a:lnTo>
                  <a:lnTo>
                    <a:pt x="580072" y="40005"/>
                  </a:lnTo>
                  <a:lnTo>
                    <a:pt x="601028" y="49530"/>
                  </a:lnTo>
                  <a:lnTo>
                    <a:pt x="622935" y="59055"/>
                  </a:lnTo>
                  <a:lnTo>
                    <a:pt x="643890" y="69533"/>
                  </a:lnTo>
                  <a:lnTo>
                    <a:pt x="665798" y="80962"/>
                  </a:lnTo>
                  <a:lnTo>
                    <a:pt x="686752" y="93345"/>
                  </a:lnTo>
                  <a:lnTo>
                    <a:pt x="708660" y="105728"/>
                  </a:lnTo>
                  <a:lnTo>
                    <a:pt x="730567" y="118110"/>
                  </a:lnTo>
                  <a:lnTo>
                    <a:pt x="751522" y="130492"/>
                  </a:lnTo>
                  <a:lnTo>
                    <a:pt x="773430" y="143828"/>
                  </a:lnTo>
                  <a:lnTo>
                    <a:pt x="794385" y="157162"/>
                  </a:lnTo>
                  <a:lnTo>
                    <a:pt x="816292" y="169545"/>
                  </a:lnTo>
                  <a:lnTo>
                    <a:pt x="837248" y="182880"/>
                  </a:lnTo>
                  <a:lnTo>
                    <a:pt x="859155" y="195262"/>
                  </a:lnTo>
                  <a:lnTo>
                    <a:pt x="880110" y="207645"/>
                  </a:lnTo>
                  <a:lnTo>
                    <a:pt x="902017" y="220028"/>
                  </a:lnTo>
                  <a:lnTo>
                    <a:pt x="922972" y="231458"/>
                  </a:lnTo>
                  <a:lnTo>
                    <a:pt x="944880" y="241935"/>
                  </a:lnTo>
                  <a:lnTo>
                    <a:pt x="966788" y="252412"/>
                  </a:lnTo>
                  <a:lnTo>
                    <a:pt x="987742" y="261938"/>
                  </a:lnTo>
                  <a:lnTo>
                    <a:pt x="1009650" y="270510"/>
                  </a:lnTo>
                  <a:lnTo>
                    <a:pt x="1030605" y="278130"/>
                  </a:lnTo>
                  <a:lnTo>
                    <a:pt x="1052512" y="284797"/>
                  </a:lnTo>
                  <a:lnTo>
                    <a:pt x="1073468" y="291465"/>
                  </a:lnTo>
                  <a:lnTo>
                    <a:pt x="1095375" y="296228"/>
                  </a:lnTo>
                  <a:lnTo>
                    <a:pt x="1116330" y="300038"/>
                  </a:lnTo>
                  <a:lnTo>
                    <a:pt x="1138238" y="302895"/>
                  </a:lnTo>
                  <a:lnTo>
                    <a:pt x="1159192" y="303847"/>
                  </a:lnTo>
                  <a:lnTo>
                    <a:pt x="1181100" y="304800"/>
                  </a:lnTo>
                  <a:lnTo>
                    <a:pt x="1203008" y="303847"/>
                  </a:lnTo>
                  <a:lnTo>
                    <a:pt x="1223962" y="302895"/>
                  </a:lnTo>
                  <a:lnTo>
                    <a:pt x="1245870" y="300038"/>
                  </a:lnTo>
                  <a:lnTo>
                    <a:pt x="1266825" y="296228"/>
                  </a:lnTo>
                  <a:lnTo>
                    <a:pt x="1288732" y="291465"/>
                  </a:lnTo>
                  <a:lnTo>
                    <a:pt x="1309688" y="284797"/>
                  </a:lnTo>
                  <a:lnTo>
                    <a:pt x="1331595" y="278130"/>
                  </a:lnTo>
                  <a:lnTo>
                    <a:pt x="1352550" y="270510"/>
                  </a:lnTo>
                  <a:lnTo>
                    <a:pt x="1374458" y="261938"/>
                  </a:lnTo>
                  <a:lnTo>
                    <a:pt x="1395412" y="252412"/>
                  </a:lnTo>
                  <a:lnTo>
                    <a:pt x="1417320" y="241935"/>
                  </a:lnTo>
                  <a:lnTo>
                    <a:pt x="1439228" y="231458"/>
                  </a:lnTo>
                  <a:lnTo>
                    <a:pt x="1460182" y="220028"/>
                  </a:lnTo>
                  <a:lnTo>
                    <a:pt x="1482090" y="207645"/>
                  </a:lnTo>
                  <a:lnTo>
                    <a:pt x="1503045" y="195262"/>
                  </a:lnTo>
                  <a:lnTo>
                    <a:pt x="1524952" y="182880"/>
                  </a:lnTo>
                  <a:lnTo>
                    <a:pt x="1545908" y="169545"/>
                  </a:lnTo>
                  <a:lnTo>
                    <a:pt x="1567815" y="157162"/>
                  </a:lnTo>
                  <a:lnTo>
                    <a:pt x="1588770" y="143828"/>
                  </a:lnTo>
                  <a:lnTo>
                    <a:pt x="1610678" y="130492"/>
                  </a:lnTo>
                  <a:lnTo>
                    <a:pt x="1631632" y="118110"/>
                  </a:lnTo>
                  <a:lnTo>
                    <a:pt x="1653540" y="105728"/>
                  </a:lnTo>
                  <a:lnTo>
                    <a:pt x="1675447" y="93345"/>
                  </a:lnTo>
                  <a:lnTo>
                    <a:pt x="1696403" y="80962"/>
                  </a:lnTo>
                  <a:lnTo>
                    <a:pt x="1718310" y="69533"/>
                  </a:lnTo>
                  <a:lnTo>
                    <a:pt x="1739265" y="59055"/>
                  </a:lnTo>
                  <a:lnTo>
                    <a:pt x="1761172" y="49530"/>
                  </a:lnTo>
                  <a:lnTo>
                    <a:pt x="1782128" y="40005"/>
                  </a:lnTo>
                  <a:lnTo>
                    <a:pt x="1804035" y="31433"/>
                  </a:lnTo>
                  <a:lnTo>
                    <a:pt x="1824990" y="23812"/>
                  </a:lnTo>
                  <a:lnTo>
                    <a:pt x="1846897" y="17145"/>
                  </a:lnTo>
                  <a:lnTo>
                    <a:pt x="1867853" y="12383"/>
                  </a:lnTo>
                  <a:lnTo>
                    <a:pt x="1889760" y="7620"/>
                  </a:lnTo>
                  <a:lnTo>
                    <a:pt x="1911668" y="3810"/>
                  </a:lnTo>
                  <a:lnTo>
                    <a:pt x="1932622" y="1905"/>
                  </a:lnTo>
                  <a:lnTo>
                    <a:pt x="1954530" y="0"/>
                  </a:lnTo>
                  <a:lnTo>
                    <a:pt x="1975485" y="0"/>
                  </a:lnTo>
                  <a:lnTo>
                    <a:pt x="1997392" y="953"/>
                  </a:lnTo>
                  <a:lnTo>
                    <a:pt x="2018347" y="2858"/>
                  </a:lnTo>
                  <a:lnTo>
                    <a:pt x="2040255" y="5715"/>
                  </a:lnTo>
                  <a:lnTo>
                    <a:pt x="2061210" y="10478"/>
                  </a:lnTo>
                  <a:lnTo>
                    <a:pt x="2083118" y="15240"/>
                  </a:lnTo>
                  <a:lnTo>
                    <a:pt x="2104072" y="21908"/>
                  </a:lnTo>
                  <a:lnTo>
                    <a:pt x="2125980" y="29528"/>
                  </a:lnTo>
                  <a:lnTo>
                    <a:pt x="2147888" y="37147"/>
                  </a:lnTo>
                  <a:lnTo>
                    <a:pt x="2168842" y="45720"/>
                  </a:lnTo>
                  <a:lnTo>
                    <a:pt x="2190750" y="56197"/>
                  </a:lnTo>
                  <a:lnTo>
                    <a:pt x="2211705" y="66675"/>
                  </a:lnTo>
                  <a:lnTo>
                    <a:pt x="2233612" y="77153"/>
                  </a:lnTo>
                  <a:lnTo>
                    <a:pt x="2254568" y="89535"/>
                  </a:lnTo>
                  <a:lnTo>
                    <a:pt x="2276475" y="100965"/>
                  </a:lnTo>
                  <a:lnTo>
                    <a:pt x="2297430" y="113347"/>
                  </a:lnTo>
                  <a:lnTo>
                    <a:pt x="2319338" y="126683"/>
                  </a:lnTo>
                  <a:lnTo>
                    <a:pt x="2340292" y="139065"/>
                  </a:lnTo>
                  <a:lnTo>
                    <a:pt x="2362200" y="152400"/>
                  </a:lnTo>
                  <a:lnTo>
                    <a:pt x="2384108" y="165735"/>
                  </a:lnTo>
                  <a:lnTo>
                    <a:pt x="2405062" y="178117"/>
                  </a:lnTo>
                  <a:lnTo>
                    <a:pt x="2426970" y="191453"/>
                  </a:lnTo>
                  <a:lnTo>
                    <a:pt x="2447925" y="203835"/>
                  </a:lnTo>
                  <a:lnTo>
                    <a:pt x="2469832" y="215265"/>
                  </a:lnTo>
                  <a:lnTo>
                    <a:pt x="2490788" y="227647"/>
                  </a:lnTo>
                  <a:lnTo>
                    <a:pt x="2512695" y="238125"/>
                  </a:lnTo>
                  <a:lnTo>
                    <a:pt x="2533650" y="248603"/>
                  </a:lnTo>
                  <a:lnTo>
                    <a:pt x="2555558" y="259080"/>
                  </a:lnTo>
                  <a:lnTo>
                    <a:pt x="2576512" y="267653"/>
                  </a:lnTo>
                  <a:lnTo>
                    <a:pt x="2598420" y="275272"/>
                  </a:lnTo>
                  <a:lnTo>
                    <a:pt x="2620328" y="282892"/>
                  </a:lnTo>
                  <a:lnTo>
                    <a:pt x="2641282" y="289560"/>
                  </a:lnTo>
                  <a:lnTo>
                    <a:pt x="2663190" y="294322"/>
                  </a:lnTo>
                  <a:lnTo>
                    <a:pt x="2684145" y="299085"/>
                  </a:lnTo>
                  <a:lnTo>
                    <a:pt x="2706052" y="301942"/>
                  </a:lnTo>
                  <a:lnTo>
                    <a:pt x="2727008" y="303847"/>
                  </a:lnTo>
                  <a:lnTo>
                    <a:pt x="2748915" y="304800"/>
                  </a:lnTo>
                  <a:lnTo>
                    <a:pt x="2769870" y="304800"/>
                  </a:lnTo>
                  <a:lnTo>
                    <a:pt x="2791778" y="302895"/>
                  </a:lnTo>
                  <a:lnTo>
                    <a:pt x="2812732" y="300990"/>
                  </a:lnTo>
                  <a:lnTo>
                    <a:pt x="2834640" y="297180"/>
                  </a:lnTo>
                  <a:lnTo>
                    <a:pt x="2856548" y="292417"/>
                  </a:lnTo>
                  <a:lnTo>
                    <a:pt x="2877502" y="287655"/>
                  </a:lnTo>
                  <a:lnTo>
                    <a:pt x="2899410" y="280988"/>
                  </a:lnTo>
                  <a:lnTo>
                    <a:pt x="2920365" y="273367"/>
                  </a:lnTo>
                  <a:lnTo>
                    <a:pt x="2942272" y="264795"/>
                  </a:lnTo>
                  <a:lnTo>
                    <a:pt x="2963228" y="255270"/>
                  </a:lnTo>
                  <a:lnTo>
                    <a:pt x="2985135" y="245745"/>
                  </a:lnTo>
                  <a:lnTo>
                    <a:pt x="3006090" y="235267"/>
                  </a:lnTo>
                  <a:lnTo>
                    <a:pt x="3027998" y="223838"/>
                  </a:lnTo>
                  <a:lnTo>
                    <a:pt x="3048952" y="211455"/>
                  </a:lnTo>
                  <a:lnTo>
                    <a:pt x="3070860" y="199072"/>
                  </a:lnTo>
                  <a:lnTo>
                    <a:pt x="3092768" y="186690"/>
                  </a:lnTo>
                  <a:lnTo>
                    <a:pt x="3113722" y="174308"/>
                  </a:lnTo>
                  <a:lnTo>
                    <a:pt x="3135630" y="160972"/>
                  </a:lnTo>
                  <a:lnTo>
                    <a:pt x="3156585" y="147638"/>
                  </a:lnTo>
                  <a:lnTo>
                    <a:pt x="3178492" y="135255"/>
                  </a:lnTo>
                  <a:lnTo>
                    <a:pt x="3199448" y="121920"/>
                  </a:lnTo>
                  <a:lnTo>
                    <a:pt x="3221355" y="109538"/>
                  </a:lnTo>
                  <a:lnTo>
                    <a:pt x="3242310" y="97155"/>
                  </a:lnTo>
                  <a:lnTo>
                    <a:pt x="3264218" y="84772"/>
                  </a:lnTo>
                  <a:lnTo>
                    <a:pt x="3285172" y="73342"/>
                  </a:lnTo>
                  <a:lnTo>
                    <a:pt x="3307080" y="62865"/>
                  </a:lnTo>
                  <a:lnTo>
                    <a:pt x="3328988" y="52388"/>
                  </a:lnTo>
                  <a:lnTo>
                    <a:pt x="3349942" y="42862"/>
                  </a:lnTo>
                  <a:lnTo>
                    <a:pt x="3371850" y="34290"/>
                  </a:lnTo>
                  <a:lnTo>
                    <a:pt x="3392805" y="26670"/>
                  </a:lnTo>
                  <a:lnTo>
                    <a:pt x="3414712" y="20003"/>
                  </a:lnTo>
                  <a:lnTo>
                    <a:pt x="3435668" y="13335"/>
                  </a:lnTo>
                  <a:lnTo>
                    <a:pt x="3457575" y="8572"/>
                  </a:lnTo>
                  <a:lnTo>
                    <a:pt x="3478530" y="4762"/>
                  </a:lnTo>
                  <a:lnTo>
                    <a:pt x="3500438" y="1905"/>
                  </a:lnTo>
                  <a:lnTo>
                    <a:pt x="3521392" y="953"/>
                  </a:lnTo>
                  <a:lnTo>
                    <a:pt x="3543300" y="0"/>
                  </a:lnTo>
                  <a:lnTo>
                    <a:pt x="3565208" y="953"/>
                  </a:lnTo>
                  <a:lnTo>
                    <a:pt x="3586162" y="1905"/>
                  </a:lnTo>
                  <a:lnTo>
                    <a:pt x="3608070" y="4762"/>
                  </a:lnTo>
                  <a:lnTo>
                    <a:pt x="3629025" y="8572"/>
                  </a:lnTo>
                  <a:lnTo>
                    <a:pt x="3650932" y="13335"/>
                  </a:lnTo>
                  <a:lnTo>
                    <a:pt x="3671888" y="20003"/>
                  </a:lnTo>
                  <a:lnTo>
                    <a:pt x="3693795" y="26670"/>
                  </a:lnTo>
                  <a:lnTo>
                    <a:pt x="3714750" y="34290"/>
                  </a:lnTo>
                  <a:lnTo>
                    <a:pt x="3736658" y="42862"/>
                  </a:lnTo>
                  <a:lnTo>
                    <a:pt x="3757612" y="52388"/>
                  </a:lnTo>
                  <a:lnTo>
                    <a:pt x="3779520" y="62865"/>
                  </a:lnTo>
                  <a:lnTo>
                    <a:pt x="3801428" y="73342"/>
                  </a:lnTo>
                  <a:lnTo>
                    <a:pt x="3822382" y="84772"/>
                  </a:lnTo>
                  <a:lnTo>
                    <a:pt x="3844290" y="97155"/>
                  </a:lnTo>
                  <a:lnTo>
                    <a:pt x="3865245" y="109538"/>
                  </a:lnTo>
                  <a:lnTo>
                    <a:pt x="3887152" y="121920"/>
                  </a:lnTo>
                  <a:lnTo>
                    <a:pt x="3908108" y="135255"/>
                  </a:lnTo>
                  <a:lnTo>
                    <a:pt x="3930015" y="147638"/>
                  </a:lnTo>
                  <a:lnTo>
                    <a:pt x="3950970" y="160972"/>
                  </a:lnTo>
                  <a:lnTo>
                    <a:pt x="3972878" y="174308"/>
                  </a:lnTo>
                  <a:lnTo>
                    <a:pt x="3993832" y="186690"/>
                  </a:lnTo>
                  <a:lnTo>
                    <a:pt x="4015740" y="199072"/>
                  </a:lnTo>
                  <a:lnTo>
                    <a:pt x="4037648" y="211455"/>
                  </a:lnTo>
                  <a:lnTo>
                    <a:pt x="4058602" y="223838"/>
                  </a:lnTo>
                  <a:lnTo>
                    <a:pt x="4080510" y="235267"/>
                  </a:lnTo>
                  <a:lnTo>
                    <a:pt x="4101465" y="245745"/>
                  </a:lnTo>
                  <a:lnTo>
                    <a:pt x="4123372" y="255270"/>
                  </a:lnTo>
                  <a:lnTo>
                    <a:pt x="4144328" y="264795"/>
                  </a:lnTo>
                  <a:lnTo>
                    <a:pt x="4166235" y="273367"/>
                  </a:lnTo>
                  <a:lnTo>
                    <a:pt x="4187190" y="280988"/>
                  </a:lnTo>
                  <a:lnTo>
                    <a:pt x="4209098" y="287655"/>
                  </a:lnTo>
                  <a:lnTo>
                    <a:pt x="4230052" y="292417"/>
                  </a:lnTo>
                  <a:lnTo>
                    <a:pt x="4251960" y="297180"/>
                  </a:lnTo>
                  <a:lnTo>
                    <a:pt x="4273868" y="300990"/>
                  </a:lnTo>
                  <a:lnTo>
                    <a:pt x="4294822" y="302895"/>
                  </a:lnTo>
                  <a:lnTo>
                    <a:pt x="4316730" y="304800"/>
                  </a:lnTo>
                  <a:lnTo>
                    <a:pt x="4337685" y="304800"/>
                  </a:lnTo>
                  <a:lnTo>
                    <a:pt x="4359592" y="303847"/>
                  </a:lnTo>
                  <a:lnTo>
                    <a:pt x="4380548" y="301942"/>
                  </a:lnTo>
                  <a:lnTo>
                    <a:pt x="4402455" y="299085"/>
                  </a:lnTo>
                  <a:lnTo>
                    <a:pt x="4423410" y="294322"/>
                  </a:lnTo>
                  <a:lnTo>
                    <a:pt x="4445318" y="289560"/>
                  </a:lnTo>
                  <a:lnTo>
                    <a:pt x="4466272" y="282892"/>
                  </a:lnTo>
                  <a:lnTo>
                    <a:pt x="4488180" y="275272"/>
                  </a:lnTo>
                  <a:lnTo>
                    <a:pt x="4510088" y="267653"/>
                  </a:lnTo>
                  <a:lnTo>
                    <a:pt x="4531042" y="259080"/>
                  </a:lnTo>
                  <a:lnTo>
                    <a:pt x="4552950" y="248603"/>
                  </a:lnTo>
                  <a:lnTo>
                    <a:pt x="4573905" y="238125"/>
                  </a:lnTo>
                  <a:lnTo>
                    <a:pt x="4595812" y="227647"/>
                  </a:lnTo>
                  <a:lnTo>
                    <a:pt x="4616768" y="215265"/>
                  </a:lnTo>
                  <a:lnTo>
                    <a:pt x="4638675" y="203835"/>
                  </a:lnTo>
                  <a:lnTo>
                    <a:pt x="4659630" y="191453"/>
                  </a:lnTo>
                  <a:lnTo>
                    <a:pt x="4681538" y="178117"/>
                  </a:lnTo>
                  <a:lnTo>
                    <a:pt x="4702492" y="165735"/>
                  </a:lnTo>
                  <a:lnTo>
                    <a:pt x="4724400" y="152400"/>
                  </a:lnTo>
                </a:path>
              </a:pathLst>
            </a:custGeom>
            <a:noFill/>
            <a:ln w="19050">
              <a:solidFill>
                <a:schemeClr val="accent3"/>
              </a:solidFill>
            </a:ln>
          </p:spPr>
        </p:sp>
        <p:sp>
          <p:nvSpPr>
            <p:cNvPr id="20" name="Line 20"/>
            <p:cNvSpPr/>
            <p:nvPr/>
          </p:nvSpPr>
          <p:spPr>
            <a:xfrm>
              <a:off x="800100" y="485775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1" name="Freeform 21"/>
            <p:cNvSpPr/>
            <p:nvPr/>
          </p:nvSpPr>
          <p:spPr>
            <a:xfrm>
              <a:off x="800100" y="4724400"/>
              <a:ext cx="4724400" cy="266700"/>
            </a:xfrm>
            <a:custGeom>
              <a:avLst/>
              <a:gdLst/>
              <a:ahLst/>
              <a:cxnLst/>
              <a:rect l="l" t="t" r="r" b="b"/>
              <a:pathLst>
                <a:path w="4724400" h="266700">
                  <a:moveTo>
                    <a:pt x="0" y="133350"/>
                  </a:moveTo>
                  <a:lnTo>
                    <a:pt x="21907" y="114300"/>
                  </a:lnTo>
                  <a:lnTo>
                    <a:pt x="42862" y="96203"/>
                  </a:lnTo>
                  <a:lnTo>
                    <a:pt x="64770" y="78105"/>
                  </a:lnTo>
                  <a:lnTo>
                    <a:pt x="85725" y="60960"/>
                  </a:lnTo>
                  <a:lnTo>
                    <a:pt x="107632" y="45720"/>
                  </a:lnTo>
                  <a:lnTo>
                    <a:pt x="128588" y="32385"/>
                  </a:lnTo>
                  <a:lnTo>
                    <a:pt x="150495" y="20955"/>
                  </a:lnTo>
                  <a:lnTo>
                    <a:pt x="171450" y="12383"/>
                  </a:lnTo>
                  <a:lnTo>
                    <a:pt x="193357" y="5715"/>
                  </a:lnTo>
                  <a:lnTo>
                    <a:pt x="214312" y="953"/>
                  </a:lnTo>
                  <a:lnTo>
                    <a:pt x="236220" y="0"/>
                  </a:lnTo>
                  <a:lnTo>
                    <a:pt x="258127" y="953"/>
                  </a:lnTo>
                  <a:lnTo>
                    <a:pt x="279082" y="5715"/>
                  </a:lnTo>
                  <a:lnTo>
                    <a:pt x="300990" y="12383"/>
                  </a:lnTo>
                  <a:lnTo>
                    <a:pt x="321945" y="20955"/>
                  </a:lnTo>
                  <a:lnTo>
                    <a:pt x="343852" y="32385"/>
                  </a:lnTo>
                  <a:lnTo>
                    <a:pt x="364808" y="45720"/>
                  </a:lnTo>
                  <a:lnTo>
                    <a:pt x="386715" y="60960"/>
                  </a:lnTo>
                  <a:lnTo>
                    <a:pt x="407670" y="78105"/>
                  </a:lnTo>
                  <a:lnTo>
                    <a:pt x="429577" y="96203"/>
                  </a:lnTo>
                  <a:lnTo>
                    <a:pt x="450533" y="114300"/>
                  </a:lnTo>
                  <a:lnTo>
                    <a:pt x="472440" y="133350"/>
                  </a:lnTo>
                  <a:lnTo>
                    <a:pt x="494348" y="152400"/>
                  </a:lnTo>
                  <a:lnTo>
                    <a:pt x="515302" y="170497"/>
                  </a:lnTo>
                  <a:lnTo>
                    <a:pt x="537210" y="188595"/>
                  </a:lnTo>
                  <a:lnTo>
                    <a:pt x="558165" y="205740"/>
                  </a:lnTo>
                  <a:lnTo>
                    <a:pt x="580072" y="220980"/>
                  </a:lnTo>
                  <a:lnTo>
                    <a:pt x="601028" y="234315"/>
                  </a:lnTo>
                  <a:lnTo>
                    <a:pt x="622935" y="245745"/>
                  </a:lnTo>
                  <a:lnTo>
                    <a:pt x="643890" y="254318"/>
                  </a:lnTo>
                  <a:lnTo>
                    <a:pt x="665798" y="260985"/>
                  </a:lnTo>
                  <a:lnTo>
                    <a:pt x="686752" y="265747"/>
                  </a:lnTo>
                  <a:lnTo>
                    <a:pt x="708660" y="266700"/>
                  </a:lnTo>
                  <a:lnTo>
                    <a:pt x="730567" y="265747"/>
                  </a:lnTo>
                  <a:lnTo>
                    <a:pt x="751522" y="260985"/>
                  </a:lnTo>
                  <a:lnTo>
                    <a:pt x="773430" y="254318"/>
                  </a:lnTo>
                  <a:lnTo>
                    <a:pt x="794385" y="245745"/>
                  </a:lnTo>
                  <a:lnTo>
                    <a:pt x="816292" y="234315"/>
                  </a:lnTo>
                  <a:lnTo>
                    <a:pt x="837248" y="220980"/>
                  </a:lnTo>
                  <a:lnTo>
                    <a:pt x="859155" y="205740"/>
                  </a:lnTo>
                  <a:lnTo>
                    <a:pt x="880110" y="188595"/>
                  </a:lnTo>
                  <a:lnTo>
                    <a:pt x="902017" y="170497"/>
                  </a:lnTo>
                  <a:lnTo>
                    <a:pt x="922972" y="152400"/>
                  </a:lnTo>
                  <a:lnTo>
                    <a:pt x="944880" y="133350"/>
                  </a:lnTo>
                  <a:lnTo>
                    <a:pt x="966788" y="114300"/>
                  </a:lnTo>
                  <a:lnTo>
                    <a:pt x="987742" y="96203"/>
                  </a:lnTo>
                  <a:lnTo>
                    <a:pt x="1009650" y="78105"/>
                  </a:lnTo>
                  <a:lnTo>
                    <a:pt x="1030605" y="60960"/>
                  </a:lnTo>
                  <a:lnTo>
                    <a:pt x="1052512" y="45720"/>
                  </a:lnTo>
                  <a:lnTo>
                    <a:pt x="1073468" y="32385"/>
                  </a:lnTo>
                  <a:lnTo>
                    <a:pt x="1095375" y="20955"/>
                  </a:lnTo>
                  <a:lnTo>
                    <a:pt x="1116330" y="12383"/>
                  </a:lnTo>
                  <a:lnTo>
                    <a:pt x="1138238" y="5715"/>
                  </a:lnTo>
                  <a:lnTo>
                    <a:pt x="1159192" y="953"/>
                  </a:lnTo>
                  <a:lnTo>
                    <a:pt x="1181100" y="0"/>
                  </a:lnTo>
                  <a:lnTo>
                    <a:pt x="1203008" y="953"/>
                  </a:lnTo>
                  <a:lnTo>
                    <a:pt x="1223962" y="5715"/>
                  </a:lnTo>
                  <a:lnTo>
                    <a:pt x="1245870" y="12383"/>
                  </a:lnTo>
                  <a:lnTo>
                    <a:pt x="1266825" y="20955"/>
                  </a:lnTo>
                  <a:lnTo>
                    <a:pt x="1288732" y="32385"/>
                  </a:lnTo>
                  <a:lnTo>
                    <a:pt x="1309688" y="45720"/>
                  </a:lnTo>
                  <a:lnTo>
                    <a:pt x="1331595" y="60960"/>
                  </a:lnTo>
                  <a:lnTo>
                    <a:pt x="1352550" y="78105"/>
                  </a:lnTo>
                  <a:lnTo>
                    <a:pt x="1374458" y="96203"/>
                  </a:lnTo>
                  <a:lnTo>
                    <a:pt x="1395412" y="114300"/>
                  </a:lnTo>
                  <a:lnTo>
                    <a:pt x="1417320" y="133350"/>
                  </a:lnTo>
                  <a:lnTo>
                    <a:pt x="1439228" y="152400"/>
                  </a:lnTo>
                  <a:lnTo>
                    <a:pt x="1460182" y="170497"/>
                  </a:lnTo>
                  <a:lnTo>
                    <a:pt x="1482090" y="188595"/>
                  </a:lnTo>
                  <a:lnTo>
                    <a:pt x="1503045" y="205740"/>
                  </a:lnTo>
                  <a:lnTo>
                    <a:pt x="1524952" y="220980"/>
                  </a:lnTo>
                  <a:lnTo>
                    <a:pt x="1545908" y="234315"/>
                  </a:lnTo>
                  <a:lnTo>
                    <a:pt x="1567815" y="245745"/>
                  </a:lnTo>
                  <a:lnTo>
                    <a:pt x="1588770" y="254318"/>
                  </a:lnTo>
                  <a:lnTo>
                    <a:pt x="1610678" y="260985"/>
                  </a:lnTo>
                  <a:lnTo>
                    <a:pt x="1631632" y="265747"/>
                  </a:lnTo>
                  <a:lnTo>
                    <a:pt x="1653540" y="266700"/>
                  </a:lnTo>
                  <a:lnTo>
                    <a:pt x="1675447" y="265747"/>
                  </a:lnTo>
                  <a:lnTo>
                    <a:pt x="1696403" y="260985"/>
                  </a:lnTo>
                  <a:lnTo>
                    <a:pt x="1718310" y="254318"/>
                  </a:lnTo>
                  <a:lnTo>
                    <a:pt x="1739265" y="245745"/>
                  </a:lnTo>
                  <a:lnTo>
                    <a:pt x="1761172" y="234315"/>
                  </a:lnTo>
                  <a:lnTo>
                    <a:pt x="1782128" y="220980"/>
                  </a:lnTo>
                  <a:lnTo>
                    <a:pt x="1804035" y="205740"/>
                  </a:lnTo>
                  <a:lnTo>
                    <a:pt x="1824990" y="188595"/>
                  </a:lnTo>
                  <a:lnTo>
                    <a:pt x="1846897" y="170497"/>
                  </a:lnTo>
                  <a:lnTo>
                    <a:pt x="1867853" y="152400"/>
                  </a:lnTo>
                  <a:lnTo>
                    <a:pt x="1889760" y="133350"/>
                  </a:lnTo>
                  <a:lnTo>
                    <a:pt x="1911668" y="114300"/>
                  </a:lnTo>
                  <a:lnTo>
                    <a:pt x="1932622" y="96203"/>
                  </a:lnTo>
                  <a:lnTo>
                    <a:pt x="1954530" y="78105"/>
                  </a:lnTo>
                  <a:lnTo>
                    <a:pt x="1975485" y="60960"/>
                  </a:lnTo>
                  <a:lnTo>
                    <a:pt x="1997392" y="45720"/>
                  </a:lnTo>
                  <a:lnTo>
                    <a:pt x="2018347" y="32385"/>
                  </a:lnTo>
                  <a:lnTo>
                    <a:pt x="2040255" y="20955"/>
                  </a:lnTo>
                  <a:lnTo>
                    <a:pt x="2061210" y="12383"/>
                  </a:lnTo>
                  <a:lnTo>
                    <a:pt x="2083118" y="5715"/>
                  </a:lnTo>
                  <a:lnTo>
                    <a:pt x="2104072" y="953"/>
                  </a:lnTo>
                  <a:lnTo>
                    <a:pt x="2125980" y="0"/>
                  </a:lnTo>
                  <a:lnTo>
                    <a:pt x="2147888" y="953"/>
                  </a:lnTo>
                  <a:lnTo>
                    <a:pt x="2168842" y="5715"/>
                  </a:lnTo>
                  <a:lnTo>
                    <a:pt x="2190750" y="12383"/>
                  </a:lnTo>
                  <a:lnTo>
                    <a:pt x="2211705" y="20955"/>
                  </a:lnTo>
                  <a:lnTo>
                    <a:pt x="2233612" y="32385"/>
                  </a:lnTo>
                  <a:lnTo>
                    <a:pt x="2254568" y="45720"/>
                  </a:lnTo>
                  <a:lnTo>
                    <a:pt x="2276475" y="60960"/>
                  </a:lnTo>
                  <a:lnTo>
                    <a:pt x="2297430" y="78105"/>
                  </a:lnTo>
                  <a:lnTo>
                    <a:pt x="2319338" y="96203"/>
                  </a:lnTo>
                  <a:lnTo>
                    <a:pt x="2340292" y="114300"/>
                  </a:lnTo>
                  <a:lnTo>
                    <a:pt x="2362200" y="133350"/>
                  </a:lnTo>
                  <a:lnTo>
                    <a:pt x="2384108" y="152400"/>
                  </a:lnTo>
                  <a:lnTo>
                    <a:pt x="2405062" y="170497"/>
                  </a:lnTo>
                  <a:lnTo>
                    <a:pt x="2426970" y="188595"/>
                  </a:lnTo>
                  <a:lnTo>
                    <a:pt x="2447925" y="205740"/>
                  </a:lnTo>
                  <a:lnTo>
                    <a:pt x="2469832" y="220980"/>
                  </a:lnTo>
                  <a:lnTo>
                    <a:pt x="2490788" y="234315"/>
                  </a:lnTo>
                  <a:lnTo>
                    <a:pt x="2512695" y="245745"/>
                  </a:lnTo>
                  <a:lnTo>
                    <a:pt x="2533650" y="254318"/>
                  </a:lnTo>
                  <a:lnTo>
                    <a:pt x="2555558" y="260985"/>
                  </a:lnTo>
                  <a:lnTo>
                    <a:pt x="2576512" y="265747"/>
                  </a:lnTo>
                  <a:lnTo>
                    <a:pt x="2598420" y="266700"/>
                  </a:lnTo>
                  <a:lnTo>
                    <a:pt x="2620328" y="265747"/>
                  </a:lnTo>
                  <a:lnTo>
                    <a:pt x="2641282" y="260985"/>
                  </a:lnTo>
                  <a:lnTo>
                    <a:pt x="2663190" y="254318"/>
                  </a:lnTo>
                  <a:lnTo>
                    <a:pt x="2684145" y="245745"/>
                  </a:lnTo>
                  <a:lnTo>
                    <a:pt x="2706052" y="234315"/>
                  </a:lnTo>
                  <a:lnTo>
                    <a:pt x="2727008" y="220980"/>
                  </a:lnTo>
                  <a:lnTo>
                    <a:pt x="2748915" y="205740"/>
                  </a:lnTo>
                  <a:lnTo>
                    <a:pt x="2769870" y="188595"/>
                  </a:lnTo>
                  <a:lnTo>
                    <a:pt x="2791778" y="170497"/>
                  </a:lnTo>
                  <a:lnTo>
                    <a:pt x="2812732" y="152400"/>
                  </a:lnTo>
                  <a:lnTo>
                    <a:pt x="2834640" y="133350"/>
                  </a:lnTo>
                  <a:lnTo>
                    <a:pt x="2856548" y="114300"/>
                  </a:lnTo>
                  <a:lnTo>
                    <a:pt x="2877502" y="96203"/>
                  </a:lnTo>
                  <a:lnTo>
                    <a:pt x="2899410" y="78105"/>
                  </a:lnTo>
                  <a:lnTo>
                    <a:pt x="2920365" y="60960"/>
                  </a:lnTo>
                  <a:lnTo>
                    <a:pt x="2942272" y="45720"/>
                  </a:lnTo>
                  <a:lnTo>
                    <a:pt x="2963228" y="32385"/>
                  </a:lnTo>
                  <a:lnTo>
                    <a:pt x="2985135" y="20955"/>
                  </a:lnTo>
                  <a:lnTo>
                    <a:pt x="3006090" y="12383"/>
                  </a:lnTo>
                  <a:lnTo>
                    <a:pt x="3027998" y="5715"/>
                  </a:lnTo>
                  <a:lnTo>
                    <a:pt x="3048952" y="953"/>
                  </a:lnTo>
                  <a:lnTo>
                    <a:pt x="3070860" y="0"/>
                  </a:lnTo>
                  <a:lnTo>
                    <a:pt x="3092768" y="953"/>
                  </a:lnTo>
                  <a:lnTo>
                    <a:pt x="3113722" y="5715"/>
                  </a:lnTo>
                  <a:lnTo>
                    <a:pt x="3135630" y="12383"/>
                  </a:lnTo>
                  <a:lnTo>
                    <a:pt x="3156585" y="20955"/>
                  </a:lnTo>
                  <a:lnTo>
                    <a:pt x="3178492" y="32385"/>
                  </a:lnTo>
                  <a:lnTo>
                    <a:pt x="3199448" y="45720"/>
                  </a:lnTo>
                  <a:lnTo>
                    <a:pt x="3221355" y="60960"/>
                  </a:lnTo>
                  <a:lnTo>
                    <a:pt x="3242310" y="78105"/>
                  </a:lnTo>
                  <a:lnTo>
                    <a:pt x="3264218" y="96203"/>
                  </a:lnTo>
                  <a:lnTo>
                    <a:pt x="3285172" y="114300"/>
                  </a:lnTo>
                  <a:lnTo>
                    <a:pt x="3307080" y="133350"/>
                  </a:lnTo>
                  <a:lnTo>
                    <a:pt x="3328988" y="152400"/>
                  </a:lnTo>
                  <a:lnTo>
                    <a:pt x="3349942" y="170497"/>
                  </a:lnTo>
                  <a:lnTo>
                    <a:pt x="3371850" y="188595"/>
                  </a:lnTo>
                  <a:lnTo>
                    <a:pt x="3392805" y="205740"/>
                  </a:lnTo>
                  <a:lnTo>
                    <a:pt x="3414712" y="220980"/>
                  </a:lnTo>
                  <a:lnTo>
                    <a:pt x="3435668" y="234315"/>
                  </a:lnTo>
                  <a:lnTo>
                    <a:pt x="3457575" y="245745"/>
                  </a:lnTo>
                  <a:lnTo>
                    <a:pt x="3478530" y="254318"/>
                  </a:lnTo>
                  <a:lnTo>
                    <a:pt x="3500438" y="260985"/>
                  </a:lnTo>
                  <a:lnTo>
                    <a:pt x="3521392" y="265747"/>
                  </a:lnTo>
                  <a:lnTo>
                    <a:pt x="3543300" y="266700"/>
                  </a:lnTo>
                  <a:lnTo>
                    <a:pt x="3565208" y="265747"/>
                  </a:lnTo>
                  <a:lnTo>
                    <a:pt x="3586162" y="260985"/>
                  </a:lnTo>
                  <a:lnTo>
                    <a:pt x="3608070" y="254318"/>
                  </a:lnTo>
                  <a:lnTo>
                    <a:pt x="3629025" y="245745"/>
                  </a:lnTo>
                  <a:lnTo>
                    <a:pt x="3650932" y="234315"/>
                  </a:lnTo>
                  <a:lnTo>
                    <a:pt x="3671888" y="220980"/>
                  </a:lnTo>
                  <a:lnTo>
                    <a:pt x="3693795" y="205740"/>
                  </a:lnTo>
                  <a:lnTo>
                    <a:pt x="3714750" y="188595"/>
                  </a:lnTo>
                  <a:lnTo>
                    <a:pt x="3736658" y="170497"/>
                  </a:lnTo>
                  <a:lnTo>
                    <a:pt x="3757612" y="152400"/>
                  </a:lnTo>
                  <a:lnTo>
                    <a:pt x="3779520" y="133350"/>
                  </a:lnTo>
                  <a:lnTo>
                    <a:pt x="3801428" y="114300"/>
                  </a:lnTo>
                  <a:lnTo>
                    <a:pt x="3822382" y="96203"/>
                  </a:lnTo>
                  <a:lnTo>
                    <a:pt x="3844290" y="78105"/>
                  </a:lnTo>
                  <a:lnTo>
                    <a:pt x="3865245" y="60960"/>
                  </a:lnTo>
                  <a:lnTo>
                    <a:pt x="3887152" y="45720"/>
                  </a:lnTo>
                  <a:lnTo>
                    <a:pt x="3908108" y="32385"/>
                  </a:lnTo>
                  <a:lnTo>
                    <a:pt x="3930015" y="20955"/>
                  </a:lnTo>
                  <a:lnTo>
                    <a:pt x="3950970" y="12383"/>
                  </a:lnTo>
                  <a:lnTo>
                    <a:pt x="3972878" y="5715"/>
                  </a:lnTo>
                  <a:lnTo>
                    <a:pt x="3993832" y="953"/>
                  </a:lnTo>
                  <a:lnTo>
                    <a:pt x="4015740" y="0"/>
                  </a:lnTo>
                  <a:lnTo>
                    <a:pt x="4037648" y="953"/>
                  </a:lnTo>
                  <a:lnTo>
                    <a:pt x="4058602" y="5715"/>
                  </a:lnTo>
                  <a:lnTo>
                    <a:pt x="4080510" y="12383"/>
                  </a:lnTo>
                  <a:lnTo>
                    <a:pt x="4101465" y="20955"/>
                  </a:lnTo>
                  <a:lnTo>
                    <a:pt x="4123372" y="32385"/>
                  </a:lnTo>
                  <a:lnTo>
                    <a:pt x="4144328" y="45720"/>
                  </a:lnTo>
                  <a:lnTo>
                    <a:pt x="4166235" y="60960"/>
                  </a:lnTo>
                  <a:lnTo>
                    <a:pt x="4187190" y="78105"/>
                  </a:lnTo>
                  <a:lnTo>
                    <a:pt x="4209098" y="96203"/>
                  </a:lnTo>
                  <a:lnTo>
                    <a:pt x="4230052" y="114300"/>
                  </a:lnTo>
                  <a:lnTo>
                    <a:pt x="4251960" y="133350"/>
                  </a:lnTo>
                  <a:lnTo>
                    <a:pt x="4273868" y="152400"/>
                  </a:lnTo>
                  <a:lnTo>
                    <a:pt x="4294822" y="170497"/>
                  </a:lnTo>
                  <a:lnTo>
                    <a:pt x="4316730" y="188595"/>
                  </a:lnTo>
                  <a:lnTo>
                    <a:pt x="4337685" y="205740"/>
                  </a:lnTo>
                  <a:lnTo>
                    <a:pt x="4359592" y="220980"/>
                  </a:lnTo>
                  <a:lnTo>
                    <a:pt x="4380548" y="234315"/>
                  </a:lnTo>
                  <a:lnTo>
                    <a:pt x="4402455" y="245745"/>
                  </a:lnTo>
                  <a:lnTo>
                    <a:pt x="4423410" y="254318"/>
                  </a:lnTo>
                  <a:lnTo>
                    <a:pt x="4445318" y="260985"/>
                  </a:lnTo>
                  <a:lnTo>
                    <a:pt x="4466272" y="265747"/>
                  </a:lnTo>
                  <a:lnTo>
                    <a:pt x="4488180" y="266700"/>
                  </a:lnTo>
                  <a:lnTo>
                    <a:pt x="4510088" y="265747"/>
                  </a:lnTo>
                  <a:lnTo>
                    <a:pt x="4531042" y="260985"/>
                  </a:lnTo>
                  <a:lnTo>
                    <a:pt x="4552950" y="254318"/>
                  </a:lnTo>
                  <a:lnTo>
                    <a:pt x="4573905" y="245745"/>
                  </a:lnTo>
                  <a:lnTo>
                    <a:pt x="4595812" y="234315"/>
                  </a:lnTo>
                  <a:lnTo>
                    <a:pt x="4616768" y="220980"/>
                  </a:lnTo>
                  <a:lnTo>
                    <a:pt x="4638675" y="205740"/>
                  </a:lnTo>
                  <a:lnTo>
                    <a:pt x="4659630" y="188595"/>
                  </a:lnTo>
                  <a:lnTo>
                    <a:pt x="4681538" y="170497"/>
                  </a:lnTo>
                  <a:lnTo>
                    <a:pt x="4702492" y="152400"/>
                  </a:lnTo>
                  <a:lnTo>
                    <a:pt x="4724400" y="133350"/>
                  </a:lnTo>
                </a:path>
              </a:pathLst>
            </a:custGeom>
            <a:noFill/>
            <a:ln w="19050">
              <a:solidFill>
                <a:schemeClr val="accent3"/>
              </a:solidFill>
            </a:ln>
          </p:spPr>
        </p:sp>
      </p:grpSp>
      <p:grpSp>
        <p:nvGrpSpPr>
          <p:cNvPr id="25" name="wave-grouping"/>
          <p:cNvGrpSpPr/>
          <p:nvPr/>
        </p:nvGrpSpPr>
        <p:grpSpPr>
          <a:xfrm>
            <a:off x="5715000" y="3143250"/>
            <a:ext cx="1588008" cy="1943100"/>
            <a:chOff x="5715000" y="3143250"/>
            <a:chExt cx="1588008" cy="1943100"/>
          </a:xfrm>
        </p:grpSpPr>
        <p:sp>
          <p:nvSpPr>
            <p:cNvPr id="23" name="Freeform 23"/>
            <p:cNvSpPr/>
            <p:nvPr/>
          </p:nvSpPr>
          <p:spPr>
            <a:xfrm>
              <a:off x="5715000" y="3143250"/>
              <a:ext cx="247650" cy="1943100"/>
            </a:xfrm>
            <a:prstGeom prst="rightBrace">
              <a:avLst/>
            </a:prstGeom>
            <a:noFill/>
            <a:ln w="19050">
              <a:solidFill>
                <a:schemeClr val="accent1"/>
              </a:solidFill>
            </a:ln>
          </p:spPr>
        </p:sp>
        <p:sp>
          <p:nvSpPr>
            <p:cNvPr id="24" name="TextBox 24"/>
            <p:cNvSpPr txBox="1"/>
            <p:nvPr/>
          </p:nvSpPr>
          <p:spPr>
            <a:xfrm>
              <a:off x="6089142" y="3892868"/>
              <a:ext cx="1213866"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dk1"/>
                  </a:solidFill>
                  <a:latin typeface="+mn-lt"/>
                  <a:ea typeface="+mn-ea"/>
                  <a:cs typeface="+mn-cs"/>
                </a:rPr>
                <a:t>三条</a:t>
              </a:r>
              <a:r>
                <a:rPr lang="zh-CN" sz="1350" b="1" dirty="0">
                  <a:solidFill>
                    <a:schemeClr val="accent1"/>
                  </a:solidFill>
                  <a:latin typeface="+mn-lt"/>
                  <a:ea typeface="+mn-ea"/>
                  <a:cs typeface="+mn-cs"/>
                </a:rPr>
                <a:t>加起来</a:t>
              </a:r>
              <a:r>
                <a:rPr lang="zh-CN" sz="1350" dirty="0">
                  <a:solidFill>
                    <a:schemeClr val="dk1"/>
                  </a:solidFill>
                  <a:latin typeface="+mn-lt"/>
                  <a:ea typeface="+mn-ea"/>
                  <a:cs typeface="+mn-cs"/>
                </a:rPr>
                <a:t>,</a:t>
              </a:r>
              <a:br/>
              <a:r>
                <a:rPr lang="zh-CN" sz="1350" dirty="0">
                  <a:solidFill>
                    <a:schemeClr val="dk1"/>
                  </a:solidFill>
                  <a:latin typeface="+mn-lt"/>
                  <a:ea typeface="+mn-ea"/>
                  <a:cs typeface="+mn-cs"/>
                </a:rPr>
                <a:t>就是上面那条波</a:t>
              </a:r>
            </a:p>
          </p:txBody>
        </p:sp>
      </p:grpSp>
      <p:grpSp>
        <p:nvGrpSpPr>
          <p:cNvPr id="27" name="chord-note"/>
          <p:cNvGrpSpPr/>
          <p:nvPr/>
        </p:nvGrpSpPr>
        <p:grpSpPr>
          <a:xfrm>
            <a:off x="600456" y="5292090"/>
            <a:ext cx="7127748" cy="771296"/>
            <a:chOff x="600456" y="5292090"/>
            <a:chExt cx="7127748" cy="771296"/>
          </a:xfrm>
        </p:grpSpPr>
        <mc:AlternateContent xmlns:mc="http://schemas.openxmlformats.org/markup-compatibility/2006">
          <mc:Choice xmlns:a14="http://schemas.microsoft.com/office/drawing/2010/main" Requires="a14">
            <p:sp>
              <p:nvSpPr>
                <p:cNvPr id="26" name="TextBox 26"/>
                <p:cNvSpPr txBox="1"/>
                <p:nvPr/>
              </p:nvSpPr>
              <p:spPr>
                <a:xfrm>
                  <a:off x="600456" y="5292090"/>
                  <a:ext cx="7127748" cy="771296"/>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同时按下三个琴键,耳朵听到一个和弦,空气里其实是三条正弦在相加。</a:t>
                  </a:r>
                  <a:br/>
                  <a:r>
                    <a:rPr lang="zh-CN" sz="1800" dirty="0">
                      <a:solidFill>
                        <a:schemeClr val="dk1"/>
                      </a:solidFill>
                      <a:latin typeface="+mn-lt"/>
                      <a:ea typeface="+mn-ea"/>
                      <a:cs typeface="+mn-cs"/>
                    </a:rPr>
                    <a:t xml:space="preserve">每条分量只要交代两件事:幅度 </a:t>
                  </a:r>
                  <a14:m>
                    <m:oMath xmlns:a="http://schemas.openxmlformats.org/drawingml/2006/main" xmlns:m="http://schemas.openxmlformats.org/officeDocument/2006/math">
                      <m:sSub>
                        <m:e>
                          <m:r>
                            <a:rPr lang="zh-CN" sz="1800" dirty="0">
                              <a:solidFill>
                                <a:schemeClr val="dk1"/>
                              </a:solidFill>
                              <a:latin typeface="Cambria Math"/>
                              <a:ea typeface="Cambria Math"/>
                              <a:cs typeface="Cambria Math"/>
                            </a:rPr>
                            <m:t>A</m:t>
                          </m:r>
                        </m:e>
                        <m:sub>
                          <m:r>
                            <a:rPr lang="zh-CN" sz="1800" dirty="0">
                              <a:solidFill>
                                <a:schemeClr val="dk1"/>
                              </a:solidFill>
                              <a:latin typeface="Cambria Math"/>
                              <a:ea typeface="Cambria Math"/>
                              <a:cs typeface="Cambria Math"/>
                            </a:rPr>
                            <m:t>n</m:t>
                          </m:r>
                        </m:sub>
                      </m:sSub>
                    </m:oMath>
                  </a14:m>
                  <a:r>
                    <a:rPr lang="zh-CN" sz="1800" dirty="0">
                      <a:solidFill>
                        <a:schemeClr val="dk1"/>
                      </a:solidFill>
                      <a:latin typeface="+mn-lt"/>
                      <a:ea typeface="+mn-ea"/>
                      <a:cs typeface="+mn-cs"/>
                    </a:rPr>
                    <a:t xml:space="preserve"> 和频率 </a:t>
                  </a:r>
                  <a14:m>
                    <m:oMath xmlns:a="http://schemas.openxmlformats.org/drawingml/2006/main" xmlns:m="http://schemas.openxmlformats.org/officeDocument/2006/math">
                      <m:sSub>
                        <m:e>
                          <m:r>
                            <a:rPr lang="zh-CN" sz="1800" dirty="0">
                              <a:solidFill>
                                <a:schemeClr val="dk1"/>
                              </a:solidFill>
                              <a:latin typeface="Cambria Math"/>
                              <a:ea typeface="Cambria Math"/>
                              <a:cs typeface="Cambria Math"/>
                            </a:rPr>
                            <m:t>f</m:t>
                          </m:r>
                        </m:e>
                        <m:sub>
                          <m:r>
                            <a:rPr lang="zh-CN" sz="1800" dirty="0">
                              <a:solidFill>
                                <a:schemeClr val="dk1"/>
                              </a:solidFill>
                              <a:latin typeface="Cambria Math"/>
                              <a:ea typeface="Cambria Math"/>
                              <a:cs typeface="Cambria Math"/>
                            </a:rPr>
                            <m:t>n</m:t>
                          </m:r>
                        </m:sub>
                      </m:sSub>
                    </m:oMath>
                  </a14:m>
                  <a:r>
                    <a:rPr lang="zh-CN" sz="1800" dirty="0">
                      <a:solidFill>
                        <a:schemeClr val="dk1"/>
                      </a:solidFill>
                      <a:latin typeface="+mn-lt"/>
                      <a:ea typeface="+mn-ea"/>
                      <a:cs typeface="+mn-cs"/>
                    </a:rPr>
                    <a:t>。</a:t>
                  </a:r>
                </a:p>
              </p:txBody>
            </p:sp>
          </mc:Choice>
        </mc:AlternateContent>
      </p:grpSp>
      <mc:AlternateContent xmlns:mc="http://schemas.openxmlformats.org/markup-compatibility/2006">
        <mc:Choice xmlns:a14="http://schemas.microsoft.com/office/drawing/2010/main" Requires="a14">
          <p:sp>
            <p:nvSpPr>
              <p:cNvPr id="28" name="chord-formula"/>
              <p:cNvSpPr txBox="1">
                <a:spLocks noGrp="1"/>
              </p:cNvSpPr>
              <p:nvPr/>
            </p:nvSpPr>
            <p:spPr>
              <a:xfrm>
                <a:off x="609600" y="5981700"/>
                <a:ext cx="8534400" cy="8763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123B63"/>
                          </a:solidFill>
                          <a:latin typeface="Cambria Math"/>
                          <a:ea typeface="Cambria Math"/>
                          <a:cs typeface="Cambria Math"/>
                        </a:rPr>
                        <m:t>x</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m:rPr>
                          <m:sty m:val="p"/>
                        </m:rPr>
                        <a:rPr lang="zh-CN" sz="2100" dirty="0">
                          <a:solidFill>
                            <a:srgbClr val="123B63"/>
                          </a:solidFill>
                          <a:latin typeface="Cambria Math"/>
                          <a:ea typeface="Cambria Math"/>
                          <a:cs typeface="Cambria Math"/>
                        </a:rPr>
                        <m:t>=</m:t>
                      </m:r>
                      <m:nary>
                        <m:naryPr>
                          <m:chr m:val="∑"/>
                          <m:limLoc m:val="undOvr"/>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sub>
                        <m:sup>
                          <m:r>
                            <a:rPr lang="zh-CN" sz="2100" dirty="0">
                              <a:solidFill>
                                <a:srgbClr val="123B63"/>
                              </a:solidFill>
                              <a:latin typeface="Cambria Math"/>
                              <a:ea typeface="Cambria Math"/>
                              <a:cs typeface="Cambria Math"/>
                            </a:rPr>
                            <m:t>N</m:t>
                          </m:r>
                        </m:sup>
                        <m:e>
                          <m:sSub>
                            <m:e>
                              <m:r>
                                <a:rPr lang="zh-CN" sz="2100" dirty="0">
                                  <a:solidFill>
                                    <a:srgbClr val="123B63"/>
                                  </a:solidFill>
                                  <a:latin typeface="Cambria Math"/>
                                  <a:ea typeface="Cambria Math"/>
                                  <a:cs typeface="Cambria Math"/>
                                </a:rPr>
                                <m:t>A</m:t>
                              </m:r>
                            </m:e>
                            <m:sub>
                              <m:r>
                                <a:rPr lang="zh-CN" sz="2100" dirty="0">
                                  <a:solidFill>
                                    <a:srgbClr val="123B63"/>
                                  </a:solidFill>
                                  <a:latin typeface="Cambria Math"/>
                                  <a:ea typeface="Cambria Math"/>
                                  <a:cs typeface="Cambria Math"/>
                                </a:rPr>
                                <m:t>n</m:t>
                              </m:r>
                            </m:sub>
                          </m:sSub>
                          <m:func>
                            <m:funcPr/>
                            <m:fName>
                              <m:r>
                                <m:rPr>
                                  <m:sty m:val="p"/>
                                </m:rPr>
                                <a:rPr lang="zh-CN" sz="2100" dirty="0">
                                  <a:solidFill>
                                    <a:srgbClr val="123B63"/>
                                  </a:solidFill>
                                  <a:latin typeface="Cambria Math"/>
                                  <a:ea typeface="Cambria Math"/>
                                  <a:cs typeface="Cambria Math"/>
                                </a:rPr>
                                <m:t>sin</m:t>
                              </m:r>
                            </m:fName>
                            <m:e>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2π</m:t>
                                  </m:r>
                                  <m:sSub>
                                    <m:e>
                                      <m:r>
                                        <a:rPr lang="zh-CN" sz="2100" dirty="0">
                                          <a:solidFill>
                                            <a:srgbClr val="123B63"/>
                                          </a:solidFill>
                                          <a:latin typeface="Cambria Math"/>
                                          <a:ea typeface="Cambria Math"/>
                                          <a:cs typeface="Cambria Math"/>
                                        </a:rPr>
                                        <m:t>f</m:t>
                                      </m:r>
                                    </m:e>
                                    <m:sub>
                                      <m:r>
                                        <a:rPr lang="zh-CN" sz="2100" dirty="0">
                                          <a:solidFill>
                                            <a:srgbClr val="123B63"/>
                                          </a:solidFill>
                                          <a:latin typeface="Cambria Math"/>
                                          <a:ea typeface="Cambria Math"/>
                                          <a:cs typeface="Cambria Math"/>
                                        </a:rPr>
                                        <m:t>n</m:t>
                                      </m:r>
                                    </m:sub>
                                  </m:sSub>
                                  <m:r>
                                    <a:rPr lang="zh-CN" sz="2100" dirty="0">
                                      <a:solidFill>
                                        <a:srgbClr val="123B63"/>
                                      </a:solidFill>
                                      <a:latin typeface="Cambria Math"/>
                                      <a:ea typeface="Cambria Math"/>
                                      <a:cs typeface="Cambria Math"/>
                                    </a:rPr>
                                    <m:t>t</m:t>
                                  </m:r>
                                  <m:r>
                                    <m:rPr>
                                      <m:sty m:val="p"/>
                                    </m:rPr>
                                    <a:rPr lang="zh-CN" sz="2100" dirty="0">
                                      <a:solidFill>
                                        <a:srgbClr val="123B63"/>
                                      </a:solidFill>
                                      <a:latin typeface="Cambria Math"/>
                                      <a:ea typeface="Cambria Math"/>
                                      <a:cs typeface="Cambria Math"/>
                                    </a:rPr>
                                    <m:t>+</m:t>
                                  </m:r>
                                  <m:sSub>
                                    <m:e>
                                      <m:r>
                                        <a:rPr lang="zh-CN" sz="2100" dirty="0">
                                          <a:solidFill>
                                            <a:srgbClr val="123B63"/>
                                          </a:solidFill>
                                          <a:latin typeface="Cambria Math"/>
                                          <a:ea typeface="Cambria Math"/>
                                          <a:cs typeface="Cambria Math"/>
                                        </a:rPr>
                                        <m:t>φ</m:t>
                                      </m:r>
                                    </m:e>
                                    <m:sub>
                                      <m:r>
                                        <a:rPr lang="zh-CN" sz="2100" dirty="0">
                                          <a:solidFill>
                                            <a:srgbClr val="123B63"/>
                                          </a:solidFill>
                                          <a:latin typeface="Cambria Math"/>
                                          <a:ea typeface="Cambria Math"/>
                                          <a:cs typeface="Cambria Math"/>
                                        </a:rPr>
                                        <m:t>n</m:t>
                                      </m:r>
                                    </m:sub>
                                  </m:sSub>
                                </m:e>
                              </m:d>
                            </m:e>
                          </m:func>
                        </m:e>
                      </m:nary>
                    </m:oMath>
                  </m:oMathPara>
                </a14:m>
              </a:p>
            </p:txBody>
          </p:sp>
        </mc:Choice>
      </mc:AlternateContent>
      <p:grpSp>
        <p:nvGrpSpPr>
          <p:cNvPr id="31" name="page-footer"/>
          <p:cNvGrpSpPr/>
          <p:nvPr/>
        </p:nvGrpSpPr>
        <p:grpSpPr>
          <a:xfrm>
            <a:off x="603504" y="6880860"/>
            <a:ext cx="8546592" cy="234696"/>
            <a:chOff x="603504" y="6880860"/>
            <a:chExt cx="8546592" cy="234696"/>
          </a:xfrm>
        </p:grpSpPr>
        <p:sp>
          <p:nvSpPr>
            <p:cNvPr id="29" name="TextBox 29"/>
            <p:cNvSpPr txBox="1"/>
            <p:nvPr/>
          </p:nvSpPr>
          <p:spPr>
            <a:xfrm>
              <a:off x="603504" y="6880860"/>
              <a:ext cx="278465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整理:叠加作为听觉直觉,不作定理陈述</a:t>
              </a:r>
            </a:p>
          </p:txBody>
        </p:sp>
        <p:sp>
          <p:nvSpPr>
            <p:cNvPr id="30" name="TextBox 30"/>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22"/>
                                        </p:tgtEl>
                                        <p:attrNameLst>
                                          <p:attrName>style.visibility</p:attrName>
                                        </p:attrNameLst>
                                      </p:cBhvr>
                                      <p:to>
                                        <p:strVal val="visible"/>
                                      </p:to>
                                    </p:set>
                                    <p:animEffect transition="in" filter="wipe(right)">
                                      <p:cBhvr>
                                        <p:cTn id="11" dur="900"/>
                                        <p:tgtEl>
                                          <p:spTgt spid="22"/>
                                        </p:tgtEl>
                                      </p:cBhvr>
                                    </p:animEffect>
                                  </p:childTnLst>
                                </p:cTn>
                              </p:par>
                            </p:childTnLst>
                          </p:cTn>
                        </p:par>
                        <p:par>
                          <p:cTn id="12" fill="hold">
                            <p:stCondLst>
                              <p:cond delay="19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400"/>
                                        <p:tgtEl>
                                          <p:spTgt spid="25"/>
                                        </p:tgtEl>
                                      </p:cBhvr>
                                    </p:animEffect>
                                  </p:childTnLst>
                                </p:cTn>
                              </p:par>
                            </p:childTnLst>
                          </p:cTn>
                        </p:par>
                        <p:par>
                          <p:cTn id="16" fill="hold">
                            <p:stCondLst>
                              <p:cond delay="28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childTnLst>
                          </p:cTn>
                        </p:par>
                        <p:par>
                          <p:cTn id="20" fill="hold">
                            <p:stCondLst>
                              <p:cond delay="3700"/>
                            </p:stCondLst>
                            <p:childTnLst>
                              <p:par>
                                <p:cTn xmlns:p="http://schemas.openxmlformats.org/presentationml/2006/main" id="21" presetID="10" presetClass="entr" presetSubtype="0" fill="hold" grpId="0" nodeType="afterEffect">
                                  <p:stCondLst>
                                    <p:cond delay="20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4000500"/>
            <a:ext cx="8534400" cy="1143000"/>
          </a:xfrm>
          <a:prstGeom prst="rect">
            <a:avLst/>
          </a:prstGeom>
          <a:solidFill>
            <a:schemeClr val="lt2"/>
          </a:solidFill>
          <a:ln>
            <a:noFill/>
          </a:ln>
        </p:spPr>
      </p:sp>
      <p:sp>
        <p:nvSpPr>
          <p:cNvPr id="4" name="formula-band-bar"/>
          <p:cNvSpPr/>
          <p:nvPr/>
        </p:nvSpPr>
        <p:spPr>
          <a:xfrm>
            <a:off x="609600" y="4000500"/>
            <a:ext cx="28575" cy="1143000"/>
          </a:xfrm>
          <a:prstGeom prst="rect">
            <a:avLst/>
          </a:prstGeom>
          <a:solidFill>
            <a:schemeClr val="accent1"/>
          </a:solidFill>
          <a:ln>
            <a:noFill/>
          </a:ln>
        </p:spPr>
      </p:sp>
      <p:grpSp>
        <p:nvGrpSpPr>
          <p:cNvPr id="7" name="section-kicker"/>
          <p:cNvGrpSpPr/>
          <p:nvPr/>
        </p:nvGrpSpPr>
        <p:grpSpPr>
          <a:xfrm>
            <a:off x="602742" y="552450"/>
            <a:ext cx="1727530" cy="404051"/>
            <a:chOff x="602742" y="552450"/>
            <a:chExt cx="1727530"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2 节 · 傅里叶级数</a:t>
              </a:r>
            </a:p>
          </p:txBody>
        </p:sp>
      </p:grpSp>
      <p:grpSp>
        <p:nvGrpSpPr>
          <p:cNvPr id="9" name="page-title"/>
          <p:cNvGrpSpPr/>
          <p:nvPr/>
        </p:nvGrpSpPr>
        <p:grpSpPr>
          <a:xfrm>
            <a:off x="593598" y="1050608"/>
            <a:ext cx="6551219" cy="616077"/>
            <a:chOff x="593598" y="1050608"/>
            <a:chExt cx="6551219" cy="616077"/>
          </a:xfrm>
        </p:grpSpPr>
        <p:sp>
          <p:nvSpPr>
            <p:cNvPr id="8" name="TextBox 8"/>
            <p:cNvSpPr txBox="1"/>
            <p:nvPr/>
          </p:nvSpPr>
          <p:spPr>
            <a:xfrm>
              <a:off x="593598" y="1050608"/>
              <a:ext cx="655121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级数不是技巧,是热方程解出来的</a:t>
              </a:r>
            </a:p>
          </p:txBody>
        </p:sp>
      </p:grpSp>
      <p:grpSp>
        <p:nvGrpSpPr>
          <p:cNvPr id="27" name="history-timeline"/>
          <p:cNvGrpSpPr/>
          <p:nvPr/>
        </p:nvGrpSpPr>
        <p:grpSpPr>
          <a:xfrm>
            <a:off x="635794" y="2035492"/>
            <a:ext cx="8165306" cy="1530859"/>
            <a:chOff x="635794" y="2035492"/>
            <a:chExt cx="8165306" cy="1530859"/>
          </a:xfrm>
        </p:grpSpPr>
        <p:grpSp>
          <p:nvGrpSpPr>
            <p:cNvPr id="15" name="Group 15"/>
            <p:cNvGrpSpPr/>
            <p:nvPr/>
          </p:nvGrpSpPr>
          <p:grpSpPr>
            <a:xfrm>
              <a:off x="635794" y="2057650"/>
              <a:ext cx="166687" cy="127544"/>
              <a:chOff x="635794" y="2057650"/>
              <a:chExt cx="166687" cy="127544"/>
            </a:xfrm>
          </p:grpSpPr>
          <p:sp>
            <p:nvSpPr>
              <p:cNvPr id="10" name="Freeform 10"/>
              <p:cNvSpPr/>
              <p:nvPr/>
            </p:nvSpPr>
            <p:spPr>
              <a:xfrm>
                <a:off x="635794" y="2171157"/>
                <a:ext cx="157163" cy="14037"/>
              </a:xfrm>
              <a:custGeom>
                <a:avLst/>
                <a:gdLst/>
                <a:ahLst/>
                <a:cxnLst/>
                <a:rect l="l" t="t" r="r" b="b"/>
                <a:pathLst>
                  <a:path w="157163" h="14037">
                    <a:moveTo>
                      <a:pt x="0" y="14037"/>
                    </a:moveTo>
                    <a:cubicBezTo>
                      <a:pt x="24313" y="0"/>
                      <a:pt x="54268" y="0"/>
                      <a:pt x="78581" y="14037"/>
                    </a:cubicBezTo>
                    <a:cubicBezTo>
                      <a:pt x="102894" y="0"/>
                      <a:pt x="132849" y="0"/>
                      <a:pt x="157163" y="14037"/>
                    </a:cubicBezTo>
                  </a:path>
                </a:pathLst>
              </a:custGeom>
              <a:noFill/>
              <a:ln w="17463">
                <a:solidFill>
                  <a:srgbClr val="5A6472"/>
                </a:solidFill>
              </a:ln>
            </p:spPr>
          </p:sp>
          <p:sp>
            <p:nvSpPr>
              <p:cNvPr id="11" name="Freeform 11"/>
              <p:cNvSpPr/>
              <p:nvPr/>
            </p:nvSpPr>
            <p:spPr>
              <a:xfrm>
                <a:off x="635794" y="2057650"/>
                <a:ext cx="157163" cy="14037"/>
              </a:xfrm>
              <a:custGeom>
                <a:avLst/>
                <a:gdLst/>
                <a:ahLst/>
                <a:cxnLst/>
                <a:rect l="l" t="t" r="r" b="b"/>
                <a:pathLst>
                  <a:path w="157163" h="14037">
                    <a:moveTo>
                      <a:pt x="0" y="14037"/>
                    </a:moveTo>
                    <a:cubicBezTo>
                      <a:pt x="24313" y="0"/>
                      <a:pt x="54268" y="0"/>
                      <a:pt x="78581" y="14037"/>
                    </a:cubicBezTo>
                    <a:cubicBezTo>
                      <a:pt x="102894" y="0"/>
                      <a:pt x="132849" y="0"/>
                      <a:pt x="157163" y="14037"/>
                    </a:cubicBezTo>
                  </a:path>
                </a:pathLst>
              </a:custGeom>
              <a:noFill/>
              <a:ln w="17463">
                <a:solidFill>
                  <a:srgbClr val="5A6472"/>
                </a:solidFill>
              </a:ln>
            </p:spPr>
          </p:sp>
          <p:sp>
            <p:nvSpPr>
              <p:cNvPr id="12" name="Freeform 12"/>
              <p:cNvSpPr/>
              <p:nvPr/>
            </p:nvSpPr>
            <p:spPr>
              <a:xfrm>
                <a:off x="635794" y="2071688"/>
                <a:ext cx="9525" cy="113506"/>
              </a:xfrm>
              <a:custGeom>
                <a:avLst/>
                <a:gdLst/>
                <a:ahLst/>
                <a:cxnLst/>
                <a:rect l="l" t="t" r="r" b="b"/>
                <a:pathLst>
                  <a:path w="9525" h="113506">
                    <a:moveTo>
                      <a:pt x="0" y="0"/>
                    </a:moveTo>
                    <a:lnTo>
                      <a:pt x="0" y="113506"/>
                    </a:lnTo>
                  </a:path>
                </a:pathLst>
              </a:custGeom>
              <a:noFill/>
              <a:ln w="17463">
                <a:solidFill>
                  <a:srgbClr val="5A6472"/>
                </a:solidFill>
              </a:ln>
            </p:spPr>
          </p:sp>
          <p:sp>
            <p:nvSpPr>
              <p:cNvPr id="13" name="Freeform 13"/>
              <p:cNvSpPr/>
              <p:nvPr/>
            </p:nvSpPr>
            <p:spPr>
              <a:xfrm>
                <a:off x="714375" y="2071688"/>
                <a:ext cx="9525" cy="113506"/>
              </a:xfrm>
              <a:custGeom>
                <a:avLst/>
                <a:gdLst/>
                <a:ahLst/>
                <a:cxnLst/>
                <a:rect l="l" t="t" r="r" b="b"/>
                <a:pathLst>
                  <a:path w="9525" h="113506">
                    <a:moveTo>
                      <a:pt x="0" y="0"/>
                    </a:moveTo>
                    <a:lnTo>
                      <a:pt x="0" y="113506"/>
                    </a:lnTo>
                  </a:path>
                </a:pathLst>
              </a:custGeom>
              <a:noFill/>
              <a:ln w="17463">
                <a:solidFill>
                  <a:srgbClr val="5A6472"/>
                </a:solidFill>
              </a:ln>
            </p:spPr>
          </p:sp>
          <p:sp>
            <p:nvSpPr>
              <p:cNvPr id="14" name="Freeform 14"/>
              <p:cNvSpPr/>
              <p:nvPr/>
            </p:nvSpPr>
            <p:spPr>
              <a:xfrm>
                <a:off x="792956" y="2071688"/>
                <a:ext cx="9525" cy="113506"/>
              </a:xfrm>
              <a:custGeom>
                <a:avLst/>
                <a:gdLst/>
                <a:ahLst/>
                <a:cxnLst/>
                <a:rect l="l" t="t" r="r" b="b"/>
                <a:pathLst>
                  <a:path w="9525" h="113506">
                    <a:moveTo>
                      <a:pt x="0" y="0"/>
                    </a:moveTo>
                    <a:lnTo>
                      <a:pt x="0" y="113506"/>
                    </a:lnTo>
                  </a:path>
                </a:pathLst>
              </a:custGeom>
              <a:noFill/>
              <a:ln w="17463">
                <a:solidFill>
                  <a:srgbClr val="5A6472"/>
                </a:solidFill>
              </a:ln>
            </p:spPr>
          </p:sp>
        </p:grpSp>
        <p:sp>
          <p:nvSpPr>
            <p:cNvPr id="16" name="TextBox 16"/>
            <p:cNvSpPr txBox="1"/>
            <p:nvPr/>
          </p:nvSpPr>
          <p:spPr>
            <a:xfrm>
              <a:off x="888492" y="2035492"/>
              <a:ext cx="266364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从一个物理问题,到一套数学写法</a:t>
              </a:r>
            </a:p>
          </p:txBody>
        </p:sp>
        <p:sp>
          <p:nvSpPr>
            <p:cNvPr id="17" name="Line 17"/>
            <p:cNvSpPr/>
            <p:nvPr/>
          </p:nvSpPr>
          <p:spPr>
            <a:xfrm>
              <a:off x="952500" y="2857500"/>
              <a:ext cx="7848600" cy="9525"/>
            </a:xfrm>
            <a:custGeom>
              <a:avLst/>
              <a:gdLst/>
              <a:ahLst/>
              <a:cxnLst/>
              <a:rect l="l" t="t" r="r" b="b"/>
              <a:pathLst>
                <a:path w="7848600" h="9525">
                  <a:moveTo>
                    <a:pt x="0" y="0"/>
                  </a:moveTo>
                  <a:lnTo>
                    <a:pt x="7848600" y="0"/>
                  </a:lnTo>
                </a:path>
              </a:pathLst>
            </a:custGeom>
            <a:noFill/>
            <a:ln w="19050">
              <a:solidFill>
                <a:schemeClr val="accent6"/>
              </a:solidFill>
            </a:ln>
          </p:spPr>
        </p:sp>
        <p:sp>
          <p:nvSpPr>
            <p:cNvPr id="18" name="Ellipse 18"/>
            <p:cNvSpPr/>
            <p:nvPr/>
          </p:nvSpPr>
          <p:spPr>
            <a:xfrm>
              <a:off x="2009775" y="2771775"/>
              <a:ext cx="171450" cy="171450"/>
            </a:xfrm>
            <a:prstGeom prst="ellipse">
              <a:avLst/>
            </a:prstGeom>
            <a:solidFill>
              <a:schemeClr val="accent1"/>
            </a:solidFill>
            <a:ln>
              <a:noFill/>
            </a:ln>
          </p:spPr>
        </p:sp>
        <p:sp>
          <p:nvSpPr>
            <p:cNvPr id="19" name="Ellipse 19"/>
            <p:cNvSpPr/>
            <p:nvPr/>
          </p:nvSpPr>
          <p:spPr>
            <a:xfrm>
              <a:off x="4791075" y="2771775"/>
              <a:ext cx="171450" cy="171450"/>
            </a:xfrm>
            <a:prstGeom prst="ellipse">
              <a:avLst/>
            </a:prstGeom>
            <a:solidFill>
              <a:schemeClr val="accent1"/>
            </a:solidFill>
            <a:ln>
              <a:noFill/>
            </a:ln>
          </p:spPr>
        </p:sp>
        <p:sp>
          <p:nvSpPr>
            <p:cNvPr id="20" name="Ellipse 20"/>
            <p:cNvSpPr/>
            <p:nvPr/>
          </p:nvSpPr>
          <p:spPr>
            <a:xfrm>
              <a:off x="7572375" y="2771775"/>
              <a:ext cx="171450" cy="171450"/>
            </a:xfrm>
            <a:prstGeom prst="ellipse">
              <a:avLst/>
            </a:prstGeom>
            <a:solidFill>
              <a:schemeClr val="accent2"/>
            </a:solidFill>
            <a:ln>
              <a:noFill/>
            </a:ln>
          </p:spPr>
        </p:sp>
        <p:sp>
          <p:nvSpPr>
            <p:cNvPr id="21" name="TextBox 21"/>
            <p:cNvSpPr txBox="1"/>
            <p:nvPr/>
          </p:nvSpPr>
          <p:spPr>
            <a:xfrm>
              <a:off x="1707794" y="2312670"/>
              <a:ext cx="775411" cy="469392"/>
            </a:xfrm>
            <a:prstGeom prst="rect">
              <a:avLst/>
            </a:prstGeom>
            <a:noFill/>
            <a:ln>
              <a:noFill/>
            </a:ln>
          </p:spPr>
          <p:txBody>
            <a:bodyPr wrap="none" lIns="0" tIns="0" rIns="0" bIns="0" anchor="t" anchorCtr="0">
              <a:spAutoFit/>
            </a:bodyPr>
            <a:lstStyle/>
            <a:p>
              <a:pPr algn="ctr"/>
              <a:r>
                <a:rPr lang="zh-CN" sz="2400" dirty="0">
                  <a:solidFill>
                    <a:schemeClr val="accent1"/>
                  </a:solidFill>
                  <a:latin typeface="+mj-lt"/>
                  <a:ea typeface="+mj-ea"/>
                  <a:cs typeface="+mj-cs"/>
                </a:rPr>
                <a:t>1807</a:t>
              </a:r>
            </a:p>
          </p:txBody>
        </p:sp>
        <p:sp>
          <p:nvSpPr>
            <p:cNvPr id="22" name="TextBox 22"/>
            <p:cNvSpPr txBox="1"/>
            <p:nvPr/>
          </p:nvSpPr>
          <p:spPr>
            <a:xfrm>
              <a:off x="4489094" y="2312670"/>
              <a:ext cx="775411" cy="469392"/>
            </a:xfrm>
            <a:prstGeom prst="rect">
              <a:avLst/>
            </a:prstGeom>
            <a:noFill/>
            <a:ln>
              <a:noFill/>
            </a:ln>
          </p:spPr>
          <p:txBody>
            <a:bodyPr wrap="none" lIns="0" tIns="0" rIns="0" bIns="0" anchor="t" anchorCtr="0">
              <a:spAutoFit/>
            </a:bodyPr>
            <a:lstStyle/>
            <a:p>
              <a:pPr algn="ctr"/>
              <a:r>
                <a:rPr lang="zh-CN" sz="2400" dirty="0">
                  <a:solidFill>
                    <a:schemeClr val="accent1"/>
                  </a:solidFill>
                  <a:latin typeface="+mj-lt"/>
                  <a:ea typeface="+mj-ea"/>
                  <a:cs typeface="+mj-cs"/>
                </a:rPr>
                <a:t>1811</a:t>
              </a:r>
            </a:p>
          </p:txBody>
        </p:sp>
        <p:sp>
          <p:nvSpPr>
            <p:cNvPr id="23" name="TextBox 23"/>
            <p:cNvSpPr txBox="1"/>
            <p:nvPr/>
          </p:nvSpPr>
          <p:spPr>
            <a:xfrm>
              <a:off x="7270394" y="2312670"/>
              <a:ext cx="775411" cy="469392"/>
            </a:xfrm>
            <a:prstGeom prst="rect">
              <a:avLst/>
            </a:prstGeom>
            <a:noFill/>
            <a:ln>
              <a:noFill/>
            </a:ln>
          </p:spPr>
          <p:txBody>
            <a:bodyPr wrap="none" lIns="0" tIns="0" rIns="0" bIns="0" anchor="t" anchorCtr="0">
              <a:spAutoFit/>
            </a:bodyPr>
            <a:lstStyle/>
            <a:p>
              <a:pPr algn="ctr"/>
              <a:r>
                <a:rPr lang="zh-CN" sz="2400" dirty="0">
                  <a:solidFill>
                    <a:schemeClr val="accent2"/>
                  </a:solidFill>
                  <a:latin typeface="+mj-lt"/>
                  <a:ea typeface="+mj-ea"/>
                  <a:cs typeface="+mj-cs"/>
                </a:rPr>
                <a:t>1822</a:t>
              </a:r>
            </a:p>
          </p:txBody>
        </p:sp>
        <p:sp>
          <p:nvSpPr>
            <p:cNvPr id="24" name="TextBox 24"/>
            <p:cNvSpPr txBox="1"/>
            <p:nvPr/>
          </p:nvSpPr>
          <p:spPr>
            <a:xfrm>
              <a:off x="1269968" y="3054668"/>
              <a:ext cx="1651064"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提交热传导手稿</a:t>
              </a:r>
              <a:br/>
              <a:r>
                <a:rPr lang="zh-CN" sz="1350" dirty="0">
                  <a:solidFill>
                    <a:schemeClr val="dk1"/>
                  </a:solidFill>
                  <a:latin typeface="+mn-lt"/>
                  <a:ea typeface="+mn-ea"/>
                  <a:cs typeface="+mn-cs"/>
                </a:rPr>
                <a:t>拉格朗日反对,未发表</a:t>
              </a:r>
            </a:p>
          </p:txBody>
        </p:sp>
        <p:sp>
          <p:nvSpPr>
            <p:cNvPr id="25" name="TextBox 25"/>
            <p:cNvSpPr txBox="1"/>
            <p:nvPr/>
          </p:nvSpPr>
          <p:spPr>
            <a:xfrm>
              <a:off x="4098417" y="3054668"/>
              <a:ext cx="1556766"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修订稿赢得悬赏</a:t>
              </a:r>
              <a:br/>
              <a:r>
                <a:rPr lang="zh-CN" sz="1350" dirty="0">
                  <a:solidFill>
                    <a:schemeClr val="dk1"/>
                  </a:solidFill>
                  <a:latin typeface="+mn-lt"/>
                  <a:ea typeface="+mn-ea"/>
                  <a:cs typeface="+mn-cs"/>
                </a:rPr>
                <a:t>评审仍批评不够严格</a:t>
              </a:r>
            </a:p>
          </p:txBody>
        </p:sp>
        <p:sp>
          <p:nvSpPr>
            <p:cNvPr id="26" name="TextBox 26"/>
            <p:cNvSpPr txBox="1"/>
            <p:nvPr/>
          </p:nvSpPr>
          <p:spPr>
            <a:xfrm>
              <a:off x="6793992" y="3054668"/>
              <a:ext cx="1728216" cy="511683"/>
            </a:xfrm>
            <a:prstGeom prst="rect">
              <a:avLst/>
            </a:prstGeom>
            <a:noFill/>
            <a:ln>
              <a:noFill/>
            </a:ln>
          </p:spPr>
          <p:txBody>
            <a:bodyPr wrap="none" lIns="0" tIns="0" rIns="0" bIns="0" anchor="t" anchorCtr="0">
              <a:spAutoFit/>
            </a:bodyPr>
            <a:lstStyle/>
            <a:p>
              <a:pPr algn="ctr">
                <a:lnSpc>
                  <a:spcPts val="1950"/>
                </a:lnSpc>
              </a:pPr>
              <a:r>
                <a:rPr lang="zh-CN" sz="1350" dirty="0">
                  <a:solidFill>
                    <a:schemeClr val="dk1"/>
                  </a:solidFill>
                  <a:latin typeface="+mn-lt"/>
                  <a:ea typeface="+mn-ea"/>
                  <a:cs typeface="+mn-cs"/>
                </a:rPr>
                <a:t>《热的解析理论》出版</a:t>
              </a:r>
              <a:br/>
              <a:r>
                <a:rPr lang="zh-CN" sz="1350" dirty="0">
                  <a:solidFill>
                    <a:schemeClr val="dk1"/>
                  </a:solidFill>
                  <a:latin typeface="+mn-lt"/>
                  <a:ea typeface="+mn-ea"/>
                  <a:cs typeface="+mn-cs"/>
                </a:rPr>
                <a:t>级数写法由此进入数学</a:t>
              </a:r>
            </a:p>
          </p:txBody>
        </p:sp>
      </p:grpSp>
      <mc:AlternateContent xmlns:mc="http://schemas.openxmlformats.org/markup-compatibility/2006">
        <mc:Choice xmlns:a14="http://schemas.microsoft.com/office/drawing/2010/main" Requires="a14">
          <p:sp>
            <p:nvSpPr>
              <p:cNvPr id="28" name="series-formula"/>
              <p:cNvSpPr txBox="1">
                <a:spLocks noGrp="1"/>
              </p:cNvSpPr>
              <p:nvPr/>
            </p:nvSpPr>
            <p:spPr>
              <a:xfrm>
                <a:off x="609600" y="4000500"/>
                <a:ext cx="8534400" cy="11430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x</m:t>
                          </m:r>
                        </m:e>
                      </m:d>
                      <m:r>
                        <m:rPr>
                          <m:sty m:val="p"/>
                        </m:rPr>
                        <a:rPr lang="zh-CN" sz="2100" dirty="0">
                          <a:solidFill>
                            <a:srgbClr val="123B63"/>
                          </a:solidFill>
                          <a:latin typeface="Cambria Math"/>
                          <a:ea typeface="Cambria Math"/>
                          <a:cs typeface="Cambria Math"/>
                        </a:rPr>
                        <m:t>=</m:t>
                      </m:r>
                      <m:f>
                        <m:fPr>
                          <m:type m:val="bar"/>
                          <m:ctrlPr>
                            <a:rPr lang="zh-CN" sz="2100" dirty="0">
                              <a:solidFill>
                                <a:srgbClr val="123B63"/>
                              </a:solidFill>
                              <a:latin typeface="Cambria Math"/>
                              <a:ea typeface="Cambria Math"/>
                              <a:cs typeface="Cambria Math"/>
                            </a:rPr>
                          </m:ctrlPr>
                        </m:fPr>
                        <m:num>
                          <m:sSub>
                            <m:e>
                              <m:r>
                                <a:rPr lang="zh-CN" sz="2100" dirty="0">
                                  <a:solidFill>
                                    <a:srgbClr val="123B63"/>
                                  </a:solidFill>
                                  <a:latin typeface="Cambria Math"/>
                                  <a:ea typeface="Cambria Math"/>
                                  <a:cs typeface="Cambria Math"/>
                                </a:rPr>
                                <m:t>a</m:t>
                              </m:r>
                            </m:e>
                            <m:sub>
                              <m:r>
                                <a:rPr lang="zh-CN" sz="2100" dirty="0">
                                  <a:solidFill>
                                    <a:srgbClr val="123B63"/>
                                  </a:solidFill>
                                  <a:latin typeface="Cambria Math"/>
                                  <a:ea typeface="Cambria Math"/>
                                  <a:cs typeface="Cambria Math"/>
                                </a:rPr>
                                <m:t>0</m:t>
                              </m:r>
                            </m:sub>
                          </m:sSub>
                        </m:num>
                        <m:den>
                          <m:r>
                            <a:rPr lang="zh-CN" sz="2100" dirty="0">
                              <a:solidFill>
                                <a:srgbClr val="123B63"/>
                              </a:solidFill>
                              <a:latin typeface="Cambria Math"/>
                              <a:ea typeface="Cambria Math"/>
                              <a:cs typeface="Cambria Math"/>
                            </a:rPr>
                            <m:t>2</m:t>
                          </m:r>
                        </m:den>
                      </m:f>
                      <m:r>
                        <m:rPr>
                          <m:sty m:val="p"/>
                        </m:rPr>
                        <a:rPr lang="zh-CN" sz="2100" dirty="0">
                          <a:solidFill>
                            <a:srgbClr val="123B63"/>
                          </a:solidFill>
                          <a:latin typeface="Cambria Math"/>
                          <a:ea typeface="Cambria Math"/>
                          <a:cs typeface="Cambria Math"/>
                        </a:rPr>
                        <m:t>+</m:t>
                      </m:r>
                      <m:nary>
                        <m:naryPr>
                          <m:chr m:val="∑"/>
                          <m:limLoc m:val="undOvr"/>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sub>
                        <m:sup>
                          <m:r>
                            <m:rPr>
                              <m:sty m:val="p"/>
                            </m:rPr>
                            <a:rPr lang="zh-CN" sz="2100" dirty="0">
                              <a:solidFill>
                                <a:srgbClr val="123B63"/>
                              </a:solidFill>
                              <a:latin typeface="Cambria Math"/>
                              <a:ea typeface="Cambria Math"/>
                              <a:cs typeface="Cambria Math"/>
                            </a:rPr>
                            <m:t>∞</m:t>
                          </m:r>
                        </m:sup>
                        <m:e>
                          <m:d>
                            <m:dPr>
                              <m:begChr m:val="("/>
                              <m:sepChr m:val=""/>
                              <m:endChr m:val=")"/>
                              <m:grow m:val="on"/>
                              <m:ctrlPr>
                                <a:rPr lang="zh-CN" sz="2100" dirty="0">
                                  <a:solidFill>
                                    <a:srgbClr val="123B63"/>
                                  </a:solidFill>
                                  <a:latin typeface="Cambria Math"/>
                                  <a:ea typeface="Cambria Math"/>
                                  <a:cs typeface="Cambria Math"/>
                                </a:rPr>
                              </m:ctrlPr>
                            </m:dPr>
                            <m:e>
                              <m:sSub>
                                <m:e>
                                  <m:r>
                                    <a:rPr lang="zh-CN" sz="2100" dirty="0">
                                      <a:solidFill>
                                        <a:srgbClr val="123B63"/>
                                      </a:solidFill>
                                      <a:latin typeface="Cambria Math"/>
                                      <a:ea typeface="Cambria Math"/>
                                      <a:cs typeface="Cambria Math"/>
                                    </a:rPr>
                                    <m:t>a</m:t>
                                  </m:r>
                                </m:e>
                                <m:sub>
                                  <m:r>
                                    <a:rPr lang="zh-CN" sz="2100" dirty="0">
                                      <a:solidFill>
                                        <a:srgbClr val="123B63"/>
                                      </a:solidFill>
                                      <a:latin typeface="Cambria Math"/>
                                      <a:ea typeface="Cambria Math"/>
                                      <a:cs typeface="Cambria Math"/>
                                    </a:rPr>
                                    <m:t>n</m:t>
                                  </m:r>
                                </m:sub>
                              </m:sSub>
                              <m:func>
                                <m:funcPr/>
                                <m:fName>
                                  <m:r>
                                    <m:rPr>
                                      <m:sty m:val="p"/>
                                    </m:rPr>
                                    <a:rPr lang="zh-CN" sz="2100" dirty="0">
                                      <a:solidFill>
                                        <a:srgbClr val="123B63"/>
                                      </a:solidFill>
                                      <a:latin typeface="Cambria Math"/>
                                      <a:ea typeface="Cambria Math"/>
                                      <a:cs typeface="Cambria Math"/>
                                    </a:rPr>
                                    <m:t>cos</m:t>
                                  </m:r>
                                </m:fName>
                                <m:e>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2πnx</m:t>
                                      </m:r>
                                    </m:num>
                                    <m:den>
                                      <m:r>
                                        <a:rPr lang="zh-CN" sz="2100" dirty="0">
                                          <a:solidFill>
                                            <a:srgbClr val="123B63"/>
                                          </a:solidFill>
                                          <a:latin typeface="Cambria Math"/>
                                          <a:ea typeface="Cambria Math"/>
                                          <a:cs typeface="Cambria Math"/>
                                        </a:rPr>
                                        <m:t>T</m:t>
                                      </m:r>
                                    </m:den>
                                  </m:f>
                                </m:e>
                              </m:func>
                              <m:r>
                                <m:rPr>
                                  <m:sty m:val="p"/>
                                </m:rPr>
                                <a:rPr lang="zh-CN" sz="2100" dirty="0">
                                  <a:solidFill>
                                    <a:srgbClr val="123B63"/>
                                  </a:solidFill>
                                  <a:latin typeface="Cambria Math"/>
                                  <a:ea typeface="Cambria Math"/>
                                  <a:cs typeface="Cambria Math"/>
                                </a:rPr>
                                <m:t>+</m:t>
                              </m:r>
                              <m:sSub>
                                <m:e>
                                  <m:r>
                                    <a:rPr lang="zh-CN" sz="2100" dirty="0">
                                      <a:solidFill>
                                        <a:srgbClr val="123B63"/>
                                      </a:solidFill>
                                      <a:latin typeface="Cambria Math"/>
                                      <a:ea typeface="Cambria Math"/>
                                      <a:cs typeface="Cambria Math"/>
                                    </a:rPr>
                                    <m:t>b</m:t>
                                  </m:r>
                                </m:e>
                                <m:sub>
                                  <m:r>
                                    <a:rPr lang="zh-CN" sz="2100" dirty="0">
                                      <a:solidFill>
                                        <a:srgbClr val="123B63"/>
                                      </a:solidFill>
                                      <a:latin typeface="Cambria Math"/>
                                      <a:ea typeface="Cambria Math"/>
                                      <a:cs typeface="Cambria Math"/>
                                    </a:rPr>
                                    <m:t>n</m:t>
                                  </m:r>
                                </m:sub>
                              </m:sSub>
                              <m:func>
                                <m:funcPr/>
                                <m:fName>
                                  <m:r>
                                    <m:rPr>
                                      <m:sty m:val="p"/>
                                    </m:rPr>
                                    <a:rPr lang="zh-CN" sz="2100" dirty="0">
                                      <a:solidFill>
                                        <a:srgbClr val="123B63"/>
                                      </a:solidFill>
                                      <a:latin typeface="Cambria Math"/>
                                      <a:ea typeface="Cambria Math"/>
                                      <a:cs typeface="Cambria Math"/>
                                    </a:rPr>
                                    <m:t>sin</m:t>
                                  </m:r>
                                </m:fName>
                                <m:e>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2πnx</m:t>
                                      </m:r>
                                    </m:num>
                                    <m:den>
                                      <m:r>
                                        <a:rPr lang="zh-CN" sz="2100" dirty="0">
                                          <a:solidFill>
                                            <a:srgbClr val="123B63"/>
                                          </a:solidFill>
                                          <a:latin typeface="Cambria Math"/>
                                          <a:ea typeface="Cambria Math"/>
                                          <a:cs typeface="Cambria Math"/>
                                        </a:rPr>
                                        <m:t>T</m:t>
                                      </m:r>
                                    </m:den>
                                  </m:f>
                                </m:e>
                              </m:func>
                            </m:e>
                          </m:d>
                        </m:e>
                      </m:nary>
                    </m:oMath>
                  </m:oMathPara>
                </a14:m>
              </a:p>
            </p:txBody>
          </p:sp>
        </mc:Choice>
      </mc:AlternateContent>
      <p:grpSp>
        <p:nvGrpSpPr>
          <p:cNvPr id="31" name="series-reading"/>
          <p:cNvGrpSpPr/>
          <p:nvPr/>
        </p:nvGrpSpPr>
        <p:grpSpPr>
          <a:xfrm>
            <a:off x="600456" y="5368290"/>
            <a:ext cx="7409383" cy="1037844"/>
            <a:chOff x="600456" y="5368290"/>
            <a:chExt cx="7409383" cy="1037844"/>
          </a:xfrm>
        </p:grpSpPr>
        <mc:AlternateContent xmlns:mc="http://schemas.openxmlformats.org/markup-compatibility/2006">
          <mc:Choice xmlns:a14="http://schemas.microsoft.com/office/drawing/2010/main" Requires="a14">
            <p:sp>
              <p:nvSpPr>
                <p:cNvPr id="29" name="TextBox 29"/>
                <p:cNvSpPr txBox="1"/>
                <p:nvPr/>
              </p:nvSpPr>
              <p:spPr>
                <a:xfrm>
                  <a:off x="600456" y="5368290"/>
                  <a:ext cx="740938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读法:任何周期为 </a:t>
                  </a:r>
                  <a14:m>
                    <m:oMath xmlns:a="http://schemas.openxmlformats.org/drawingml/2006/main" xmlns:m="http://schemas.openxmlformats.org/officeDocument/2006/math">
                      <m:r>
                        <a:rPr lang="zh-CN" sz="1800" dirty="0">
                          <a:solidFill>
                            <a:schemeClr val="dk1"/>
                          </a:solidFill>
                          <a:latin typeface="Cambria Math"/>
                          <a:ea typeface="Cambria Math"/>
                          <a:cs typeface="Cambria Math"/>
                        </a:rPr>
                        <m:t>T</m:t>
                      </m:r>
                    </m:oMath>
                  </a14:m>
                  <a:r>
                    <a:rPr lang="zh-CN" sz="1800" dirty="0">
                      <a:solidFill>
                        <a:schemeClr val="dk1"/>
                      </a:solidFill>
                      <a:latin typeface="+mn-lt"/>
                      <a:ea typeface="+mn-ea"/>
                      <a:cs typeface="+mn-cs"/>
                    </a:rPr>
                    <a:t xml:space="preserve"> 的函数,都能用</a:t>
                  </a:r>
                  <a:r>
                    <a:rPr lang="zh-CN" sz="1800" b="1" dirty="0">
                      <a:solidFill>
                        <a:schemeClr val="accent1"/>
                      </a:solidFill>
                      <a:latin typeface="+mn-lt"/>
                      <a:ea typeface="+mn-ea"/>
                      <a:cs typeface="+mn-cs"/>
                    </a:rPr>
                    <a:t>整数倍频率</a:t>
                  </a:r>
                  <a:r>
                    <a:rPr lang="zh-CN" sz="1800" dirty="0">
                      <a:solidFill>
                        <a:schemeClr val="dk1"/>
                      </a:solidFill>
                      <a:latin typeface="+mn-lt"/>
                      <a:ea typeface="+mn-ea"/>
                      <a:cs typeface="+mn-cs"/>
                    </a:rPr>
                    <a:t>的正弦与余弦堆出来。</a:t>
                  </a:r>
                </a:p>
              </p:txBody>
            </p:sp>
          </mc:Choice>
        </mc:AlternateContent>
        <p:sp>
          <p:nvSpPr>
            <p:cNvPr id="30" name="TextBox 30"/>
            <p:cNvSpPr txBox="1"/>
            <p:nvPr/>
          </p:nvSpPr>
          <p:spPr>
            <a:xfrm>
              <a:off x="600456" y="5711190"/>
              <a:ext cx="735634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傅里叶要解的是「热怎么在固体里扩散」,级数是解方程时逼出来的工具,</a:t>
              </a:r>
              <a:br/>
              <a:r>
                <a:rPr lang="zh-CN" sz="1800" dirty="0">
                  <a:solidFill>
                    <a:schemeClr val="dk1"/>
                  </a:solidFill>
                  <a:latin typeface="+mn-lt"/>
                  <a:ea typeface="+mn-ea"/>
                  <a:cs typeface="+mn-cs"/>
                </a:rPr>
                <a:t>不是为信号处理设计的写法——它比信号处理早了一百多年。</a:t>
              </a:r>
            </a:p>
          </p:txBody>
        </p:sp>
      </p:grpSp>
      <p:grpSp>
        <p:nvGrpSpPr>
          <p:cNvPr id="34" name="page-footer"/>
          <p:cNvGrpSpPr/>
          <p:nvPr/>
        </p:nvGrpSpPr>
        <p:grpSpPr>
          <a:xfrm>
            <a:off x="603504" y="6880860"/>
            <a:ext cx="8546592" cy="234696"/>
            <a:chOff x="603504" y="6880860"/>
            <a:chExt cx="8546592" cy="234696"/>
          </a:xfrm>
        </p:grpSpPr>
        <p:sp>
          <p:nvSpPr>
            <p:cNvPr id="32" name="TextBox 32"/>
            <p:cNvSpPr txBox="1"/>
            <p:nvPr/>
          </p:nvSpPr>
          <p:spPr>
            <a:xfrm>
              <a:off x="603504" y="6880860"/>
              <a:ext cx="807468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来源:Narasimha, J. Earth Syst. Sci. 108(3), 1999;TRIUMPHS, Ursinus College(F001、F002)</a:t>
              </a:r>
            </a:p>
          </p:txBody>
        </p:sp>
        <p:sp>
          <p:nvSpPr>
            <p:cNvPr id="33" name="TextBox 33"/>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a:t>
              </a:r>
            </a:p>
          </p:txBody>
        </p:sp>
      </p:grpSp>
    </p:spTree>
  </p:cSld>
  <p:clrMapOvr>
    <a:masterClrMapping/>
  </p:clrMapOvr>
  <p:transition xmlns:p14="http://schemas.microsoft.com/office/powerpoint/2010/mai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1000"/>
                                        <p:tgtEl>
                                          <p:spTgt spid="27"/>
                                        </p:tgtEl>
                                      </p:cBhvr>
                                    </p:animEffect>
                                  </p:childTnLst>
                                </p:cTn>
                              </p:par>
                            </p:childTnLst>
                          </p:cTn>
                        </p:par>
                        <p:par>
                          <p:cTn id="8" fill="hold">
                            <p:stCondLst>
                              <p:cond delay="10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childTnLst>
                          </p:cTn>
                        </p:par>
                        <p:par>
                          <p:cTn id="12" fill="hold">
                            <p:stCondLst>
                              <p:cond delay="17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a"/>
          <p:cNvSpPr/>
          <p:nvPr/>
        </p:nvSpPr>
        <p:spPr>
          <a:xfrm>
            <a:off x="609600" y="1905000"/>
            <a:ext cx="8534400" cy="990600"/>
          </a:xfrm>
          <a:prstGeom prst="rect">
            <a:avLst/>
          </a:prstGeom>
          <a:solidFill>
            <a:schemeClr val="lt2"/>
          </a:solidFill>
          <a:ln>
            <a:noFill/>
          </a:ln>
        </p:spPr>
      </p:sp>
      <p:sp>
        <p:nvSpPr>
          <p:cNvPr id="4" name="formula-band-a-bar"/>
          <p:cNvSpPr/>
          <p:nvPr/>
        </p:nvSpPr>
        <p:spPr>
          <a:xfrm>
            <a:off x="609600" y="1905000"/>
            <a:ext cx="28575" cy="990600"/>
          </a:xfrm>
          <a:prstGeom prst="rect">
            <a:avLst/>
          </a:prstGeom>
          <a:solidFill>
            <a:schemeClr val="accent1"/>
          </a:solidFill>
          <a:ln>
            <a:noFill/>
          </a:ln>
        </p:spPr>
      </p:sp>
      <p:sp>
        <p:nvSpPr>
          <p:cNvPr id="5" name="formula-band-b"/>
          <p:cNvSpPr/>
          <p:nvPr/>
        </p:nvSpPr>
        <p:spPr>
          <a:xfrm>
            <a:off x="609600" y="3048000"/>
            <a:ext cx="8534400" cy="990600"/>
          </a:xfrm>
          <a:prstGeom prst="rect">
            <a:avLst/>
          </a:prstGeom>
          <a:solidFill>
            <a:schemeClr val="lt2"/>
          </a:solidFill>
          <a:ln>
            <a:noFill/>
          </a:ln>
        </p:spPr>
      </p:sp>
      <p:sp>
        <p:nvSpPr>
          <p:cNvPr id="6" name="formula-band-b-bar"/>
          <p:cNvSpPr/>
          <p:nvPr/>
        </p:nvSpPr>
        <p:spPr>
          <a:xfrm>
            <a:off x="609600" y="3048000"/>
            <a:ext cx="28575" cy="990600"/>
          </a:xfrm>
          <a:prstGeom prst="rect">
            <a:avLst/>
          </a:prstGeom>
          <a:solidFill>
            <a:schemeClr val="accent3"/>
          </a:solidFill>
          <a:ln>
            <a:noFill/>
          </a:ln>
        </p:spPr>
      </p:sp>
      <p:grpSp>
        <p:nvGrpSpPr>
          <p:cNvPr id="9" name="section-kicker"/>
          <p:cNvGrpSpPr/>
          <p:nvPr/>
        </p:nvGrpSpPr>
        <p:grpSpPr>
          <a:xfrm>
            <a:off x="602742" y="552450"/>
            <a:ext cx="1727530" cy="404051"/>
            <a:chOff x="602742" y="552450"/>
            <a:chExt cx="1727530" cy="404051"/>
          </a:xfrm>
        </p:grpSpPr>
        <p:sp>
          <p:nvSpPr>
            <p:cNvPr id="7" name="Rectangle 7"/>
            <p:cNvSpPr/>
            <p:nvPr/>
          </p:nvSpPr>
          <p:spPr>
            <a:xfrm>
              <a:off x="609600" y="552450"/>
              <a:ext cx="266700" cy="28575"/>
            </a:xfrm>
            <a:prstGeom prst="rect">
              <a:avLst/>
            </a:prstGeom>
            <a:solidFill>
              <a:schemeClr val="accent2"/>
            </a:solidFill>
            <a:ln>
              <a:noFill/>
            </a:ln>
          </p:spPr>
        </p:sp>
        <p:sp>
          <p:nvSpPr>
            <p:cNvPr id="8" name="TextBox 8"/>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2 节 · 傅里叶级数</a:t>
              </a:r>
            </a:p>
          </p:txBody>
        </p:sp>
      </p:grpSp>
      <p:grpSp>
        <p:nvGrpSpPr>
          <p:cNvPr id="11" name="page-title"/>
          <p:cNvGrpSpPr/>
          <p:nvPr/>
        </p:nvGrpSpPr>
        <p:grpSpPr>
          <a:xfrm>
            <a:off x="593598" y="1050608"/>
            <a:ext cx="7447331" cy="616077"/>
            <a:chOff x="593598" y="1050608"/>
            <a:chExt cx="7447331" cy="616077"/>
          </a:xfrm>
        </p:grpSpPr>
        <p:sp>
          <p:nvSpPr>
            <p:cNvPr id="10" name="TextBox 10"/>
            <p:cNvSpPr txBox="1"/>
            <p:nvPr/>
          </p:nvSpPr>
          <p:spPr>
            <a:xfrm>
              <a:off x="593598" y="1050608"/>
              <a:ext cx="744733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想知道某个频率有多少,就与它做积分</a:t>
              </a:r>
            </a:p>
          </p:txBody>
        </p:sp>
      </p:grpSp>
      <mc:AlternateContent xmlns:mc="http://schemas.openxmlformats.org/markup-compatibility/2006">
        <mc:Choice xmlns:a14="http://schemas.microsoft.com/office/drawing/2010/main" Requires="a14">
          <p:sp>
            <p:nvSpPr>
              <p:cNvPr id="12" name="cosine-coefficient"/>
              <p:cNvSpPr txBox="1">
                <a:spLocks noGrp="1"/>
              </p:cNvSpPr>
              <p:nvPr/>
            </p:nvSpPr>
            <p:spPr>
              <a:xfrm>
                <a:off x="609600" y="1905000"/>
                <a:ext cx="8534400" cy="9906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2100" dirty="0">
                              <a:solidFill>
                                <a:srgbClr val="123B63"/>
                              </a:solidFill>
                              <a:latin typeface="Cambria Math"/>
                              <a:ea typeface="Cambria Math"/>
                              <a:cs typeface="Cambria Math"/>
                            </a:rPr>
                            <m:t>a</m:t>
                          </m:r>
                        </m:e>
                        <m:sub>
                          <m:r>
                            <a:rPr lang="zh-CN" sz="2100" dirty="0">
                              <a:solidFill>
                                <a:srgbClr val="123B63"/>
                              </a:solidFill>
                              <a:latin typeface="Cambria Math"/>
                              <a:ea typeface="Cambria Math"/>
                              <a:cs typeface="Cambria Math"/>
                            </a:rPr>
                            <m:t>n</m:t>
                          </m:r>
                        </m:sub>
                      </m:sSub>
                      <m:r>
                        <m:rPr>
                          <m:sty m:val="p"/>
                        </m:rPr>
                        <a:rPr lang="zh-CN" sz="2100" dirty="0">
                          <a:solidFill>
                            <a:srgbClr val="123B63"/>
                          </a:solidFill>
                          <a:latin typeface="Cambria Math"/>
                          <a:ea typeface="Cambria Math"/>
                          <a:cs typeface="Cambria Math"/>
                        </a:rPr>
                        <m:t>=</m:t>
                      </m:r>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2</m:t>
                          </m:r>
                        </m:num>
                        <m:den>
                          <m:r>
                            <a:rPr lang="zh-CN" sz="2100" dirty="0">
                              <a:solidFill>
                                <a:srgbClr val="123B63"/>
                              </a:solidFill>
                              <a:latin typeface="Cambria Math"/>
                              <a:ea typeface="Cambria Math"/>
                              <a:cs typeface="Cambria Math"/>
                            </a:rPr>
                            <m:t>T</m:t>
                          </m:r>
                        </m:den>
                      </m:f>
                      <m:nary>
                        <m:naryPr>
                          <m:chr m:val="∫"/>
                          <m:limLoc m:val="subSup"/>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0</m:t>
                          </m:r>
                        </m:sub>
                        <m:sup>
                          <m:r>
                            <a:rPr lang="zh-CN" sz="2100" dirty="0">
                              <a:solidFill>
                                <a:srgbClr val="123B63"/>
                              </a:solidFill>
                              <a:latin typeface="Cambria Math"/>
                              <a:ea typeface="Cambria Math"/>
                              <a:cs typeface="Cambria Math"/>
                            </a:rPr>
                            <m:t>T</m:t>
                          </m:r>
                        </m:sup>
                        <m:e>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x</m:t>
                              </m:r>
                            </m:e>
                          </m:d>
                          <m:func>
                            <m:funcPr/>
                            <m:fName>
                              <m:r>
                                <m:rPr>
                                  <m:sty m:val="p"/>
                                </m:rPr>
                                <a:rPr lang="zh-CN" sz="2100" dirty="0">
                                  <a:solidFill>
                                    <a:srgbClr val="123B63"/>
                                  </a:solidFill>
                                  <a:latin typeface="Cambria Math"/>
                                  <a:ea typeface="Cambria Math"/>
                                  <a:cs typeface="Cambria Math"/>
                                </a:rPr>
                                <m:t>cos</m:t>
                              </m:r>
                            </m:fName>
                            <m:e>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2πnx</m:t>
                                  </m:r>
                                </m:num>
                                <m:den>
                                  <m:r>
                                    <a:rPr lang="zh-CN" sz="2100" dirty="0">
                                      <a:solidFill>
                                        <a:srgbClr val="123B63"/>
                                      </a:solidFill>
                                      <a:latin typeface="Cambria Math"/>
                                      <a:ea typeface="Cambria Math"/>
                                      <a:cs typeface="Cambria Math"/>
                                    </a:rPr>
                                    <m:t>T</m:t>
                                  </m:r>
                                </m:den>
                              </m:f>
                            </m:e>
                          </m:func>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dx</m:t>
                          </m:r>
                        </m:e>
                      </m:nary>
                    </m:oMath>
                  </m:oMathPara>
                </a14:m>
              </a:p>
            </p:txBody>
          </p:sp>
        </mc:Choice>
      </mc:AlternateContent>
      <mc:AlternateContent xmlns:mc="http://schemas.openxmlformats.org/markup-compatibility/2006">
        <mc:Choice xmlns:a14="http://schemas.microsoft.com/office/drawing/2010/main" Requires="a14">
          <p:sp>
            <p:nvSpPr>
              <p:cNvPr id="13" name="sine-coefficient"/>
              <p:cNvSpPr txBox="1">
                <a:spLocks noGrp="1"/>
              </p:cNvSpPr>
              <p:nvPr/>
            </p:nvSpPr>
            <p:spPr>
              <a:xfrm>
                <a:off x="609600" y="3048000"/>
                <a:ext cx="8534400" cy="9906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2100" dirty="0">
                              <a:solidFill>
                                <a:srgbClr val="2E7D7B"/>
                              </a:solidFill>
                              <a:latin typeface="Cambria Math"/>
                              <a:ea typeface="Cambria Math"/>
                              <a:cs typeface="Cambria Math"/>
                            </a:rPr>
                            <m:t>b</m:t>
                          </m:r>
                        </m:e>
                        <m:sub>
                          <m:r>
                            <a:rPr lang="zh-CN" sz="2100" dirty="0">
                              <a:solidFill>
                                <a:srgbClr val="2E7D7B"/>
                              </a:solidFill>
                              <a:latin typeface="Cambria Math"/>
                              <a:ea typeface="Cambria Math"/>
                              <a:cs typeface="Cambria Math"/>
                            </a:rPr>
                            <m:t>n</m:t>
                          </m:r>
                        </m:sub>
                      </m:sSub>
                      <m:r>
                        <m:rPr>
                          <m:sty m:val="p"/>
                        </m:rPr>
                        <a:rPr lang="zh-CN" sz="2100" dirty="0">
                          <a:solidFill>
                            <a:srgbClr val="2E7D7B"/>
                          </a:solidFill>
                          <a:latin typeface="Cambria Math"/>
                          <a:ea typeface="Cambria Math"/>
                          <a:cs typeface="Cambria Math"/>
                        </a:rPr>
                        <m:t>=</m:t>
                      </m:r>
                      <m:f>
                        <m:fPr>
                          <m:type m:val="bar"/>
                          <m:ctrlPr>
                            <a:rPr lang="zh-CN" sz="2100" dirty="0">
                              <a:solidFill>
                                <a:srgbClr val="2E7D7B"/>
                              </a:solidFill>
                              <a:latin typeface="Cambria Math"/>
                              <a:ea typeface="Cambria Math"/>
                              <a:cs typeface="Cambria Math"/>
                            </a:rPr>
                          </m:ctrlPr>
                        </m:fPr>
                        <m:num>
                          <m:r>
                            <a:rPr lang="zh-CN" sz="2100" dirty="0">
                              <a:solidFill>
                                <a:srgbClr val="2E7D7B"/>
                              </a:solidFill>
                              <a:latin typeface="Cambria Math"/>
                              <a:ea typeface="Cambria Math"/>
                              <a:cs typeface="Cambria Math"/>
                            </a:rPr>
                            <m:t>2</m:t>
                          </m:r>
                        </m:num>
                        <m:den>
                          <m:r>
                            <a:rPr lang="zh-CN" sz="2100" dirty="0">
                              <a:solidFill>
                                <a:srgbClr val="2E7D7B"/>
                              </a:solidFill>
                              <a:latin typeface="Cambria Math"/>
                              <a:ea typeface="Cambria Math"/>
                              <a:cs typeface="Cambria Math"/>
                            </a:rPr>
                            <m:t>T</m:t>
                          </m:r>
                        </m:den>
                      </m:f>
                      <m:nary>
                        <m:naryPr>
                          <m:chr m:val="∫"/>
                          <m:limLoc m:val="subSup"/>
                          <m:grow m:val="off"/>
                          <m:subHide m:val="off"/>
                          <m:supHide m:val="off"/>
                          <m:ctrlPr>
                            <a:rPr lang="zh-CN" sz="2100" dirty="0">
                              <a:solidFill>
                                <a:srgbClr val="2E7D7B"/>
                              </a:solidFill>
                              <a:latin typeface="Cambria Math"/>
                              <a:ea typeface="Cambria Math"/>
                              <a:cs typeface="Cambria Math"/>
                            </a:rPr>
                          </m:ctrlPr>
                        </m:naryPr>
                        <m:sub>
                          <m:r>
                            <a:rPr lang="zh-CN" sz="2100" dirty="0">
                              <a:solidFill>
                                <a:srgbClr val="2E7D7B"/>
                              </a:solidFill>
                              <a:latin typeface="Cambria Math"/>
                              <a:ea typeface="Cambria Math"/>
                              <a:cs typeface="Cambria Math"/>
                            </a:rPr>
                            <m:t>0</m:t>
                          </m:r>
                        </m:sub>
                        <m:sup>
                          <m:r>
                            <a:rPr lang="zh-CN" sz="2100" dirty="0">
                              <a:solidFill>
                                <a:srgbClr val="2E7D7B"/>
                              </a:solidFill>
                              <a:latin typeface="Cambria Math"/>
                              <a:ea typeface="Cambria Math"/>
                              <a:cs typeface="Cambria Math"/>
                            </a:rPr>
                            <m:t>T</m:t>
                          </m:r>
                        </m:sup>
                        <m:e>
                          <m:r>
                            <a:rPr lang="zh-CN" sz="2100" dirty="0">
                              <a:solidFill>
                                <a:srgbClr val="2E7D7B"/>
                              </a:solidFill>
                              <a:latin typeface="Cambria Math"/>
                              <a:ea typeface="Cambria Math"/>
                              <a:cs typeface="Cambria Math"/>
                            </a:rPr>
                            <m:t>f</m:t>
                          </m:r>
                          <m:d>
                            <m:dPr>
                              <m:begChr m:val="("/>
                              <m:sepChr m:val=""/>
                              <m:endChr m:val=")"/>
                              <m:grow m:val="on"/>
                              <m:ctrlPr>
                                <a:rPr lang="zh-CN" sz="2100" dirty="0">
                                  <a:solidFill>
                                    <a:srgbClr val="2E7D7B"/>
                                  </a:solidFill>
                                  <a:latin typeface="Cambria Math"/>
                                  <a:ea typeface="Cambria Math"/>
                                  <a:cs typeface="Cambria Math"/>
                                </a:rPr>
                              </m:ctrlPr>
                            </m:dPr>
                            <m:e>
                              <m:r>
                                <a:rPr lang="zh-CN" sz="2100" dirty="0">
                                  <a:solidFill>
                                    <a:srgbClr val="2E7D7B"/>
                                  </a:solidFill>
                                  <a:latin typeface="Cambria Math"/>
                                  <a:ea typeface="Cambria Math"/>
                                  <a:cs typeface="Cambria Math"/>
                                </a:rPr>
                                <m:t>x</m:t>
                              </m:r>
                            </m:e>
                          </m:d>
                          <m:func>
                            <m:funcPr/>
                            <m:fName>
                              <m:r>
                                <m:rPr>
                                  <m:sty m:val="p"/>
                                </m:rPr>
                                <a:rPr lang="zh-CN" sz="2100" dirty="0">
                                  <a:solidFill>
                                    <a:srgbClr val="2E7D7B"/>
                                  </a:solidFill>
                                  <a:latin typeface="Cambria Math"/>
                                  <a:ea typeface="Cambria Math"/>
                                  <a:cs typeface="Cambria Math"/>
                                </a:rPr>
                                <m:t>sin</m:t>
                              </m:r>
                            </m:fName>
                            <m:e>
                              <m:f>
                                <m:fPr>
                                  <m:type m:val="bar"/>
                                  <m:ctrlPr>
                                    <a:rPr lang="zh-CN" sz="2100" dirty="0">
                                      <a:solidFill>
                                        <a:srgbClr val="2E7D7B"/>
                                      </a:solidFill>
                                      <a:latin typeface="Cambria Math"/>
                                      <a:ea typeface="Cambria Math"/>
                                      <a:cs typeface="Cambria Math"/>
                                    </a:rPr>
                                  </m:ctrlPr>
                                </m:fPr>
                                <m:num>
                                  <m:r>
                                    <a:rPr lang="zh-CN" sz="2100" dirty="0">
                                      <a:solidFill>
                                        <a:srgbClr val="2E7D7B"/>
                                      </a:solidFill>
                                      <a:latin typeface="Cambria Math"/>
                                      <a:ea typeface="Cambria Math"/>
                                      <a:cs typeface="Cambria Math"/>
                                    </a:rPr>
                                    <m:t>2πnx</m:t>
                                  </m:r>
                                </m:num>
                                <m:den>
                                  <m:r>
                                    <a:rPr lang="zh-CN" sz="2100" dirty="0">
                                      <a:solidFill>
                                        <a:srgbClr val="2E7D7B"/>
                                      </a:solidFill>
                                      <a:latin typeface="Cambria Math"/>
                                      <a:ea typeface="Cambria Math"/>
                                      <a:cs typeface="Cambria Math"/>
                                    </a:rPr>
                                    <m:t>T</m:t>
                                  </m:r>
                                </m:den>
                              </m:f>
                            </m:e>
                          </m:func>
                          <m:r>
                            <a:rPr lang="zh-CN" sz="2100" dirty="0">
                              <a:solidFill>
                                <a:srgbClr val="2E7D7B"/>
                              </a:solidFill>
                              <a:latin typeface="Cambria Math"/>
                              <a:ea typeface="Cambria Math"/>
                              <a:cs typeface="Cambria Math"/>
                            </a:rPr>
                            <m:t xml:space="preserve"> </m:t>
                          </m:r>
                          <m:r>
                            <a:rPr lang="zh-CN" sz="2100" dirty="0">
                              <a:solidFill>
                                <a:srgbClr val="2E7D7B"/>
                              </a:solidFill>
                              <a:latin typeface="Cambria Math"/>
                              <a:ea typeface="Cambria Math"/>
                              <a:cs typeface="Cambria Math"/>
                            </a:rPr>
                            <m:t>dx</m:t>
                          </m:r>
                        </m:e>
                      </m:nary>
                    </m:oMath>
                  </m:oMathPara>
                </a14:m>
              </a:p>
            </p:txBody>
          </p:sp>
        </mc:Choice>
      </mc:AlternateContent>
      <p:grpSp>
        <p:nvGrpSpPr>
          <p:cNvPr id="22" name="coefficient-reading"/>
          <p:cNvGrpSpPr/>
          <p:nvPr/>
        </p:nvGrpSpPr>
        <p:grpSpPr>
          <a:xfrm>
            <a:off x="600456" y="4283392"/>
            <a:ext cx="6670548" cy="1703642"/>
            <a:chOff x="600456" y="4283392"/>
            <a:chExt cx="6670548" cy="1703642"/>
          </a:xfrm>
        </p:grpSpPr>
        <p:grpSp>
          <p:nvGrpSpPr>
            <p:cNvPr id="18" name="Group 18"/>
            <p:cNvGrpSpPr/>
            <p:nvPr/>
          </p:nvGrpSpPr>
          <p:grpSpPr>
            <a:xfrm>
              <a:off x="635794" y="4293394"/>
              <a:ext cx="157163" cy="157163"/>
              <a:chOff x="635794" y="4293394"/>
              <a:chExt cx="157163" cy="157163"/>
            </a:xfrm>
          </p:grpSpPr>
          <p:sp>
            <p:nvSpPr>
              <p:cNvPr id="14" name="Freeform 14"/>
              <p:cNvSpPr/>
              <p:nvPr/>
            </p:nvSpPr>
            <p:spPr>
              <a:xfrm>
                <a:off x="635794" y="4293394"/>
                <a:ext cx="87313" cy="157163"/>
              </a:xfrm>
              <a:custGeom>
                <a:avLst/>
                <a:gdLst/>
                <a:ahLst/>
                <a:cxnLst/>
                <a:rect l="l" t="t" r="r" b="b"/>
                <a:pathLst>
                  <a:path w="87313" h="157163">
                    <a:moveTo>
                      <a:pt x="0" y="139700"/>
                    </a:moveTo>
                    <a:cubicBezTo>
                      <a:pt x="0" y="149344"/>
                      <a:pt x="7818" y="157163"/>
                      <a:pt x="17463" y="157163"/>
                    </a:cubicBezTo>
                    <a:cubicBezTo>
                      <a:pt x="34925" y="157163"/>
                      <a:pt x="34925" y="122238"/>
                      <a:pt x="43656" y="78581"/>
                    </a:cubicBezTo>
                    <a:cubicBezTo>
                      <a:pt x="52388" y="34925"/>
                      <a:pt x="52388" y="0"/>
                      <a:pt x="69850" y="0"/>
                    </a:cubicBezTo>
                    <a:cubicBezTo>
                      <a:pt x="79494" y="0"/>
                      <a:pt x="87313" y="7818"/>
                      <a:pt x="87313" y="17463"/>
                    </a:cubicBezTo>
                  </a:path>
                </a:pathLst>
              </a:custGeom>
              <a:noFill/>
              <a:ln w="17463">
                <a:solidFill>
                  <a:srgbClr val="5A6472"/>
                </a:solidFill>
              </a:ln>
            </p:spPr>
          </p:sp>
          <p:sp>
            <p:nvSpPr>
              <p:cNvPr id="15" name="Freeform 15"/>
              <p:cNvSpPr/>
              <p:nvPr/>
            </p:nvSpPr>
            <p:spPr>
              <a:xfrm>
                <a:off x="653256" y="4371975"/>
                <a:ext cx="52388" cy="9525"/>
              </a:xfrm>
              <a:custGeom>
                <a:avLst/>
                <a:gdLst/>
                <a:ahLst/>
                <a:cxnLst/>
                <a:rect l="l" t="t" r="r" b="b"/>
                <a:pathLst>
                  <a:path w="52388" h="9525">
                    <a:moveTo>
                      <a:pt x="0" y="0"/>
                    </a:moveTo>
                    <a:lnTo>
                      <a:pt x="52388" y="0"/>
                    </a:lnTo>
                  </a:path>
                </a:pathLst>
              </a:custGeom>
              <a:noFill/>
              <a:ln w="17463">
                <a:solidFill>
                  <a:srgbClr val="5A6472"/>
                </a:solidFill>
              </a:ln>
            </p:spPr>
          </p:sp>
          <p:sp>
            <p:nvSpPr>
              <p:cNvPr id="16" name="Freeform 16"/>
              <p:cNvSpPr/>
              <p:nvPr/>
            </p:nvSpPr>
            <p:spPr>
              <a:xfrm>
                <a:off x="740569" y="4371975"/>
                <a:ext cx="52388" cy="52388"/>
              </a:xfrm>
              <a:custGeom>
                <a:avLst/>
                <a:gdLst/>
                <a:ahLst/>
                <a:cxnLst/>
                <a:rect l="l" t="t" r="r" b="b"/>
                <a:pathLst>
                  <a:path w="52388" h="52388">
                    <a:moveTo>
                      <a:pt x="0" y="0"/>
                    </a:moveTo>
                    <a:lnTo>
                      <a:pt x="52388" y="52388"/>
                    </a:lnTo>
                  </a:path>
                </a:pathLst>
              </a:custGeom>
              <a:noFill/>
              <a:ln w="17463">
                <a:solidFill>
                  <a:srgbClr val="5A6472"/>
                </a:solidFill>
              </a:ln>
            </p:spPr>
          </p:sp>
          <p:sp>
            <p:nvSpPr>
              <p:cNvPr id="17" name="Freeform 17"/>
              <p:cNvSpPr/>
              <p:nvPr/>
            </p:nvSpPr>
            <p:spPr>
              <a:xfrm>
                <a:off x="740569" y="4371975"/>
                <a:ext cx="52388" cy="52388"/>
              </a:xfrm>
              <a:custGeom>
                <a:avLst/>
                <a:gdLst/>
                <a:ahLst/>
                <a:cxnLst/>
                <a:rect l="l" t="t" r="r" b="b"/>
                <a:pathLst>
                  <a:path w="52388" h="52388">
                    <a:moveTo>
                      <a:pt x="0" y="52388"/>
                    </a:moveTo>
                    <a:lnTo>
                      <a:pt x="52388" y="0"/>
                    </a:lnTo>
                  </a:path>
                </a:pathLst>
              </a:custGeom>
              <a:noFill/>
              <a:ln w="17463">
                <a:solidFill>
                  <a:srgbClr val="5A6472"/>
                </a:solidFill>
              </a:ln>
            </p:spPr>
          </p:sp>
        </p:grpSp>
        <p:sp>
          <p:nvSpPr>
            <p:cNvPr id="19" name="TextBox 19"/>
            <p:cNvSpPr txBox="1"/>
            <p:nvPr/>
          </p:nvSpPr>
          <p:spPr>
            <a:xfrm>
              <a:off x="888492" y="4283392"/>
              <a:ext cx="12858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逐个符号读一遍</a:t>
              </a:r>
            </a:p>
          </p:txBody>
        </p:sp>
        <mc:AlternateContent xmlns:mc="http://schemas.openxmlformats.org/markup-compatibility/2006">
          <mc:Choice xmlns:a14="http://schemas.microsoft.com/office/drawing/2010/main" Requires="a14">
            <p:sp>
              <p:nvSpPr>
                <p:cNvPr id="20" name="TextBox 20"/>
                <p:cNvSpPr txBox="1"/>
                <p:nvPr/>
              </p:nvSpPr>
              <p:spPr>
                <a:xfrm>
                  <a:off x="600456" y="4550054"/>
                  <a:ext cx="4704588" cy="1047902"/>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nary>
                        <m:naryPr>
                          <m:chr m:val="∫"/>
                          <m:limLoc m:val="subSup"/>
                          <m:grow m:val="off"/>
                          <m:subHide m:val="off"/>
                          <m:supHide m:val="off"/>
                          <m:ctrlPr>
                            <a:rPr lang="zh-CN" sz="1800" dirty="0">
                              <a:solidFill>
                                <a:schemeClr val="dk1"/>
                              </a:solidFill>
                              <a:latin typeface="Cambria Math"/>
                              <a:ea typeface="Cambria Math"/>
                              <a:cs typeface="Cambria Math"/>
                            </a:rPr>
                          </m:ctrlPr>
                        </m:naryPr>
                        <m:sub>
                          <m:r>
                            <a:rPr lang="zh-CN" sz="1800" dirty="0">
                              <a:solidFill>
                                <a:schemeClr val="dk1"/>
                              </a:solidFill>
                              <a:latin typeface="Cambria Math"/>
                              <a:ea typeface="Cambria Math"/>
                              <a:cs typeface="Cambria Math"/>
                            </a:rPr>
                            <m:t>0</m:t>
                          </m:r>
                        </m:sub>
                        <m:sup>
                          <m:r>
                            <a:rPr lang="zh-CN" sz="1800" dirty="0">
                              <a:solidFill>
                                <a:schemeClr val="dk1"/>
                              </a:solidFill>
                              <a:latin typeface="Cambria Math"/>
                              <a:ea typeface="Cambria Math"/>
                              <a:cs typeface="Cambria Math"/>
                            </a:rPr>
                            <m:t>T</m:t>
                          </m:r>
                        </m:sup>
                        <m:e/>
                      </m:nary>
                    </m:oMath>
                  </a14:m>
                  <a:r>
                    <a:rPr lang="zh-CN" sz="1800" dirty="0">
                      <a:solidFill>
                        <a:schemeClr val="dk1"/>
                      </a:solidFill>
                      <a:latin typeface="+mn-lt"/>
                      <a:ea typeface="+mn-ea"/>
                      <a:cs typeface="+mn-cs"/>
                    </a:rPr>
                    <a:t xml:space="preserve"> 是「在一个周期上求平均」,</a:t>
                  </a:r>
                  <a:br/>
                  <a14:m>
                    <m:oMath xmlns:a="http://schemas.openxmlformats.org/drawingml/2006/main" xmlns:m="http://schemas.openxmlformats.org/officeDocument/2006/math">
                      <m:func>
                        <m:funcPr/>
                        <m:fName>
                          <m:r>
                            <m:rPr>
                              <m:sty m:val="p"/>
                            </m:rPr>
                            <a:rPr lang="zh-CN" sz="1800" dirty="0">
                              <a:solidFill>
                                <a:schemeClr val="dk1"/>
                              </a:solidFill>
                              <a:latin typeface="Cambria Math"/>
                              <a:ea typeface="Cambria Math"/>
                              <a:cs typeface="Cambria Math"/>
                            </a:rPr>
                            <m:t>cos</m:t>
                          </m:r>
                        </m:fName>
                        <m:e>
                          <m:f>
                            <m:fPr>
                              <m:type m:val="bar"/>
                              <m:ctrlPr>
                                <a:rPr lang="zh-CN" sz="1800" dirty="0">
                                  <a:solidFill>
                                    <a:schemeClr val="dk1"/>
                                  </a:solidFill>
                                  <a:latin typeface="Cambria Math"/>
                                  <a:ea typeface="Cambria Math"/>
                                  <a:cs typeface="Cambria Math"/>
                                </a:rPr>
                              </m:ctrlPr>
                            </m:fPr>
                            <m:num>
                              <m:r>
                                <a:rPr lang="zh-CN" sz="1800" dirty="0">
                                  <a:solidFill>
                                    <a:schemeClr val="dk1"/>
                                  </a:solidFill>
                                  <a:latin typeface="Cambria Math"/>
                                  <a:ea typeface="Cambria Math"/>
                                  <a:cs typeface="Cambria Math"/>
                                </a:rPr>
                                <m:t>2πnx</m:t>
                              </m:r>
                            </m:num>
                            <m:den>
                              <m:r>
                                <a:rPr lang="zh-CN" sz="1800" dirty="0">
                                  <a:solidFill>
                                    <a:schemeClr val="dk1"/>
                                  </a:solidFill>
                                  <a:latin typeface="Cambria Math"/>
                                  <a:ea typeface="Cambria Math"/>
                                  <a:cs typeface="Cambria Math"/>
                                </a:rPr>
                                <m:t>T</m:t>
                              </m:r>
                            </m:den>
                          </m:f>
                        </m:e>
                      </m:func>
                    </m:oMath>
                  </a14:m>
                  <a:r>
                    <a:rPr lang="zh-CN" sz="1800" dirty="0">
                      <a:solidFill>
                        <a:schemeClr val="dk1"/>
                      </a:solidFill>
                      <a:latin typeface="+mn-lt"/>
                      <a:ea typeface="+mn-ea"/>
                      <a:cs typeface="+mn-cs"/>
                    </a:rPr>
                    <a:t xml:space="preserve"> 是「第 n 条已知频率的尺子」。</a:t>
                  </a:r>
                </a:p>
              </p:txBody>
            </p:sp>
          </mc:Choice>
        </mc:AlternateContent>
        <p:sp>
          <p:nvSpPr>
            <p:cNvPr id="21" name="TextBox 21"/>
            <p:cNvSpPr txBox="1"/>
            <p:nvPr/>
          </p:nvSpPr>
          <p:spPr>
            <a:xfrm>
              <a:off x="600456" y="5292090"/>
              <a:ext cx="667054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把信号贴着这把尺子量一遍,其他频率</a:t>
              </a:r>
              <a:r>
                <a:rPr lang="zh-CN" sz="1800" b="1" dirty="0">
                  <a:solidFill>
                    <a:schemeClr val="accent2"/>
                  </a:solidFill>
                  <a:latin typeface="+mn-lt"/>
                  <a:ea typeface="+mn-ea"/>
                  <a:cs typeface="+mn-cs"/>
                </a:rPr>
                <a:t>相互抵消</a:t>
              </a:r>
              <a:r>
                <a:rPr lang="zh-CN" sz="1800" dirty="0">
                  <a:solidFill>
                    <a:schemeClr val="dk1"/>
                  </a:solidFill>
                  <a:latin typeface="+mn-lt"/>
                  <a:ea typeface="+mn-ea"/>
                  <a:cs typeface="+mn-cs"/>
                </a:rPr>
                <a:t>,只剩它自己的量。</a:t>
              </a:r>
              <a:br/>
              <a:r>
                <a:rPr lang="zh-CN" sz="1800" dirty="0">
                  <a:solidFill>
                    <a:schemeClr val="dk1"/>
                  </a:solidFill>
                  <a:latin typeface="+mn-lt"/>
                  <a:ea typeface="+mn-ea"/>
                  <a:cs typeface="+mn-cs"/>
                </a:rPr>
                <a:t>两条公式互为镜像:一条量余弦成分,一条量正弦成分。</a:t>
              </a:r>
            </a:p>
          </p:txBody>
        </p:sp>
      </p:grpSp>
      <p:grpSp>
        <p:nvGrpSpPr>
          <p:cNvPr id="29" name="coefficient-oneliner"/>
          <p:cNvGrpSpPr/>
          <p:nvPr/>
        </p:nvGrpSpPr>
        <p:grpSpPr>
          <a:xfrm>
            <a:off x="600456" y="6226492"/>
            <a:ext cx="3066898" cy="617792"/>
            <a:chOff x="600456" y="6226492"/>
            <a:chExt cx="3066898" cy="617792"/>
          </a:xfrm>
        </p:grpSpPr>
        <p:grpSp>
          <p:nvGrpSpPr>
            <p:cNvPr id="26" name="Group 26"/>
            <p:cNvGrpSpPr/>
            <p:nvPr/>
          </p:nvGrpSpPr>
          <p:grpSpPr>
            <a:xfrm>
              <a:off x="635794" y="6236494"/>
              <a:ext cx="157163" cy="157163"/>
              <a:chOff x="635794" y="6236494"/>
              <a:chExt cx="157163" cy="157163"/>
            </a:xfrm>
          </p:grpSpPr>
          <p:sp>
            <p:nvSpPr>
              <p:cNvPr id="23" name="Freeform 23"/>
              <p:cNvSpPr/>
              <p:nvPr/>
            </p:nvSpPr>
            <p:spPr>
              <a:xfrm>
                <a:off x="635794" y="6236494"/>
                <a:ext cx="157163" cy="78581"/>
              </a:xfrm>
              <a:custGeom>
                <a:avLst/>
                <a:gdLst/>
                <a:ahLst/>
                <a:cxnLst/>
                <a:rect l="l" t="t" r="r" b="b"/>
                <a:pathLst>
                  <a:path w="157163" h="78581">
                    <a:moveTo>
                      <a:pt x="0" y="78581"/>
                    </a:moveTo>
                    <a:lnTo>
                      <a:pt x="8731" y="78581"/>
                    </a:lnTo>
                    <a:moveTo>
                      <a:pt x="78581" y="0"/>
                    </a:moveTo>
                    <a:lnTo>
                      <a:pt x="78581" y="8731"/>
                    </a:lnTo>
                    <a:moveTo>
                      <a:pt x="148431" y="78581"/>
                    </a:moveTo>
                    <a:lnTo>
                      <a:pt x="157163" y="78581"/>
                    </a:lnTo>
                    <a:moveTo>
                      <a:pt x="22701" y="22701"/>
                    </a:moveTo>
                    <a:lnTo>
                      <a:pt x="28813" y="28813"/>
                    </a:lnTo>
                    <a:moveTo>
                      <a:pt x="134461" y="22701"/>
                    </a:moveTo>
                    <a:lnTo>
                      <a:pt x="128349" y="28813"/>
                    </a:lnTo>
                  </a:path>
                </a:pathLst>
              </a:custGeom>
              <a:noFill/>
              <a:ln w="17463">
                <a:solidFill>
                  <a:schemeClr val="accent2"/>
                </a:solidFill>
              </a:ln>
            </p:spPr>
          </p:sp>
          <p:sp>
            <p:nvSpPr>
              <p:cNvPr id="24" name="Freeform 24"/>
              <p:cNvSpPr/>
              <p:nvPr/>
            </p:nvSpPr>
            <p:spPr>
              <a:xfrm>
                <a:off x="667017" y="6271419"/>
                <a:ext cx="94716" cy="122238"/>
              </a:xfrm>
              <a:custGeom>
                <a:avLst/>
                <a:gdLst/>
                <a:ahLst/>
                <a:cxnLst/>
                <a:rect l="l" t="t" r="r" b="b"/>
                <a:pathLst>
                  <a:path w="94716" h="122238">
                    <a:moveTo>
                      <a:pt x="21164" y="78581"/>
                    </a:moveTo>
                    <a:cubicBezTo>
                      <a:pt x="6132" y="67307"/>
                      <a:pt x="0" y="47678"/>
                      <a:pt x="5942" y="29851"/>
                    </a:cubicBezTo>
                    <a:cubicBezTo>
                      <a:pt x="11884" y="12024"/>
                      <a:pt x="28567" y="0"/>
                      <a:pt x="47358" y="0"/>
                    </a:cubicBezTo>
                    <a:cubicBezTo>
                      <a:pt x="66149" y="0"/>
                      <a:pt x="82832" y="12024"/>
                      <a:pt x="88774" y="29851"/>
                    </a:cubicBezTo>
                    <a:cubicBezTo>
                      <a:pt x="94716" y="47678"/>
                      <a:pt x="88585" y="67307"/>
                      <a:pt x="73552" y="78581"/>
                    </a:cubicBezTo>
                    <a:cubicBezTo>
                      <a:pt x="66638" y="85425"/>
                      <a:pt x="63396" y="95152"/>
                      <a:pt x="64821" y="104775"/>
                    </a:cubicBezTo>
                    <a:cubicBezTo>
                      <a:pt x="64821" y="114419"/>
                      <a:pt x="57002" y="122238"/>
                      <a:pt x="47358" y="122238"/>
                    </a:cubicBezTo>
                    <a:cubicBezTo>
                      <a:pt x="37714" y="122238"/>
                      <a:pt x="29896" y="114419"/>
                      <a:pt x="29896" y="104775"/>
                    </a:cubicBezTo>
                    <a:cubicBezTo>
                      <a:pt x="31320" y="95152"/>
                      <a:pt x="28078" y="85425"/>
                      <a:pt x="21164" y="78581"/>
                    </a:cubicBezTo>
                  </a:path>
                </a:pathLst>
              </a:custGeom>
              <a:noFill/>
              <a:ln w="17463">
                <a:solidFill>
                  <a:schemeClr val="accent2"/>
                </a:solidFill>
              </a:ln>
            </p:spPr>
          </p:sp>
          <p:sp>
            <p:nvSpPr>
              <p:cNvPr id="25" name="Freeform 25"/>
              <p:cNvSpPr/>
              <p:nvPr/>
            </p:nvSpPr>
            <p:spPr>
              <a:xfrm>
                <a:off x="694293" y="6358731"/>
                <a:ext cx="40164" cy="9525"/>
              </a:xfrm>
              <a:custGeom>
                <a:avLst/>
                <a:gdLst/>
                <a:ahLst/>
                <a:cxnLst/>
                <a:rect l="l" t="t" r="r" b="b"/>
                <a:pathLst>
                  <a:path w="40164" h="9525">
                    <a:moveTo>
                      <a:pt x="0" y="0"/>
                    </a:moveTo>
                    <a:lnTo>
                      <a:pt x="40164" y="0"/>
                    </a:lnTo>
                  </a:path>
                </a:pathLst>
              </a:custGeom>
              <a:noFill/>
              <a:ln w="17463">
                <a:solidFill>
                  <a:schemeClr val="accent2"/>
                </a:solidFill>
              </a:ln>
            </p:spPr>
          </p:sp>
        </p:grpSp>
        <p:sp>
          <p:nvSpPr>
            <p:cNvPr id="27" name="TextBox 27"/>
            <p:cNvSpPr txBox="1"/>
            <p:nvPr/>
          </p:nvSpPr>
          <p:spPr>
            <a:xfrm>
              <a:off x="888492" y="6226492"/>
              <a:ext cx="92240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一句话记住</a:t>
              </a:r>
            </a:p>
          </p:txBody>
        </p:sp>
        <p:sp>
          <p:nvSpPr>
            <p:cNvPr id="28" name="TextBox 28"/>
            <p:cNvSpPr txBox="1"/>
            <p:nvPr/>
          </p:nvSpPr>
          <p:spPr>
            <a:xfrm>
              <a:off x="600456" y="6492240"/>
              <a:ext cx="306689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先固定频率,再做一次积分。</a:t>
              </a:r>
            </a:p>
          </p:txBody>
        </p:sp>
      </p:grpSp>
      <p:grpSp>
        <p:nvGrpSpPr>
          <p:cNvPr id="32" name="orthogonality-note"/>
          <p:cNvGrpSpPr/>
          <p:nvPr/>
        </p:nvGrpSpPr>
        <p:grpSpPr>
          <a:xfrm>
            <a:off x="5295900" y="6191250"/>
            <a:ext cx="3848100" cy="642176"/>
            <a:chOff x="5295900" y="6191250"/>
            <a:chExt cx="3848100" cy="642176"/>
          </a:xfrm>
        </p:grpSpPr>
        <p:sp>
          <p:nvSpPr>
            <p:cNvPr id="30" name="Freeform 30"/>
            <p:cNvSpPr/>
            <p:nvPr/>
          </p:nvSpPr>
          <p:spPr>
            <a:xfrm>
              <a:off x="5295900" y="6191250"/>
              <a:ext cx="3848100" cy="609600"/>
            </a:xfrm>
            <a:prstGeom prst="wedgeRectCallout">
              <a:avLst>
                <a:gd name="adj1" fmla="val -35000"/>
                <a:gd name="adj2" fmla="val -78000"/>
              </a:avLst>
            </a:prstGeom>
            <a:solidFill>
              <a:schemeClr val="lt1"/>
            </a:solidFill>
            <a:ln w="19050">
              <a:solidFill>
                <a:schemeClr val="accent2"/>
              </a:solidFill>
            </a:ln>
          </p:spPr>
        </p:sp>
        <mc:AlternateContent xmlns:mc="http://schemas.openxmlformats.org/markup-compatibility/2006">
          <mc:Choice xmlns:a14="http://schemas.microsoft.com/office/drawing/2010/main" Requires="a14">
            <p:sp>
              <p:nvSpPr>
                <p:cNvPr id="31" name="TextBox 31"/>
                <p:cNvSpPr txBox="1"/>
                <p:nvPr/>
              </p:nvSpPr>
              <p:spPr>
                <a:xfrm>
                  <a:off x="5517642" y="6312218"/>
                  <a:ext cx="2268284" cy="521208"/>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 xml:space="preserve">周期 </a:t>
                  </a:r>
                  <a14:m>
                    <m:oMath xmlns:a="http://schemas.openxmlformats.org/drawingml/2006/main" xmlns:m="http://schemas.openxmlformats.org/officeDocument/2006/math">
                      <m:r>
                        <a:rPr lang="zh-CN" sz="1350" dirty="0">
                          <a:solidFill>
                            <a:schemeClr val="dk1"/>
                          </a:solidFill>
                          <a:latin typeface="Cambria Math"/>
                          <a:ea typeface="Cambria Math"/>
                          <a:cs typeface="Cambria Math"/>
                        </a:rPr>
                        <m:t>T</m:t>
                      </m:r>
                    </m:oMath>
                  </a14:m>
                  <a:r>
                    <a:rPr lang="zh-CN" sz="1350" dirty="0">
                      <a:solidFill>
                        <a:schemeClr val="dk1"/>
                      </a:solidFill>
                      <a:latin typeface="+mn-lt"/>
                      <a:ea typeface="+mn-ea"/>
                      <a:cs typeface="+mn-cs"/>
                    </a:rPr>
                    <a:t xml:space="preserve"> 决定了可用频率只能是</a:t>
                  </a:r>
                  <a:br/>
                  <a:r>
                    <a:rPr lang="zh-CN" sz="1350" dirty="0">
                      <a:solidFill>
                        <a:schemeClr val="dk1"/>
                      </a:solidFill>
                      <a:latin typeface="+mn-lt"/>
                      <a:ea typeface="+mn-ea"/>
                      <a:cs typeface="+mn-cs"/>
                    </a:rPr>
                    <a:t>基频的整数倍,中间取不到。</a:t>
                  </a:r>
                </a:p>
              </p:txBody>
            </p:sp>
          </mc:Choice>
        </mc:AlternateContent>
      </p:grpSp>
      <p:grpSp>
        <p:nvGrpSpPr>
          <p:cNvPr id="35" name="page-footer"/>
          <p:cNvGrpSpPr/>
          <p:nvPr/>
        </p:nvGrpSpPr>
        <p:grpSpPr>
          <a:xfrm>
            <a:off x="603504" y="6880860"/>
            <a:ext cx="8546592" cy="234696"/>
            <a:chOff x="603504" y="6880860"/>
            <a:chExt cx="8546592" cy="234696"/>
          </a:xfrm>
        </p:grpSpPr>
        <p:sp>
          <p:nvSpPr>
            <p:cNvPr id="33" name="TextBox 33"/>
            <p:cNvSpPr txBox="1"/>
            <p:nvPr/>
          </p:nvSpPr>
          <p:spPr>
            <a:xfrm>
              <a:off x="603504" y="6880860"/>
              <a:ext cx="252923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整理:系数公式的读法与正交性直觉</a:t>
              </a:r>
            </a:p>
          </p:txBody>
        </p:sp>
        <p:sp>
          <p:nvSpPr>
            <p:cNvPr id="34" name="TextBox 34"/>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par>
                          <p:cTn id="16" fill="hold">
                            <p:stCondLst>
                              <p:cond delay="24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childTnLst>
                          </p:cTn>
                        </p:par>
                        <p:par>
                          <p:cTn id="20" fill="hold">
                            <p:stCondLst>
                              <p:cond delay="32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4667250"/>
            <a:ext cx="8534400" cy="1047750"/>
          </a:xfrm>
          <a:prstGeom prst="rect">
            <a:avLst/>
          </a:prstGeom>
          <a:solidFill>
            <a:schemeClr val="lt2"/>
          </a:solidFill>
          <a:ln>
            <a:noFill/>
          </a:ln>
        </p:spPr>
      </p:sp>
      <p:sp>
        <p:nvSpPr>
          <p:cNvPr id="4" name="formula-band-bar"/>
          <p:cNvSpPr/>
          <p:nvPr/>
        </p:nvSpPr>
        <p:spPr>
          <a:xfrm>
            <a:off x="609600" y="4667250"/>
            <a:ext cx="28575" cy="1047750"/>
          </a:xfrm>
          <a:prstGeom prst="rect">
            <a:avLst/>
          </a:prstGeom>
          <a:solidFill>
            <a:schemeClr val="accent1"/>
          </a:solidFill>
          <a:ln>
            <a:noFill/>
          </a:ln>
        </p:spPr>
      </p:sp>
      <p:grpSp>
        <p:nvGrpSpPr>
          <p:cNvPr id="7" name="section-kicker"/>
          <p:cNvGrpSpPr/>
          <p:nvPr/>
        </p:nvGrpSpPr>
        <p:grpSpPr>
          <a:xfrm>
            <a:off x="602742" y="552450"/>
            <a:ext cx="1727530" cy="404051"/>
            <a:chOff x="602742" y="552450"/>
            <a:chExt cx="1727530"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2 节 · 傅里叶级数</a:t>
              </a:r>
            </a:p>
          </p:txBody>
        </p:sp>
      </p:grpSp>
      <p:grpSp>
        <p:nvGrpSpPr>
          <p:cNvPr id="9" name="page-title"/>
          <p:cNvGrpSpPr/>
          <p:nvPr/>
        </p:nvGrpSpPr>
        <p:grpSpPr>
          <a:xfrm>
            <a:off x="593598" y="1050608"/>
            <a:ext cx="4064508" cy="616077"/>
            <a:chOff x="593598" y="1050608"/>
            <a:chExt cx="4064508" cy="616077"/>
          </a:xfrm>
        </p:grpSpPr>
        <p:sp>
          <p:nvSpPr>
            <p:cNvPr id="8" name="TextBox 8"/>
            <p:cNvSpPr txBox="1"/>
            <p:nvPr/>
          </p:nvSpPr>
          <p:spPr>
            <a:xfrm>
              <a:off x="593598" y="1050608"/>
              <a:ext cx="4064508"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一条方波的频率清单</a:t>
              </a:r>
            </a:p>
          </p:txBody>
        </p:sp>
      </p:grpSp>
      <p:graphicFrame>
        <p:nvGraphicFramePr>
          <p:cNvPr id="10" name="square-harmonics"/>
          <p:cNvGraphicFramePr>
            <a:graphicFrameLocks noGrp="1"/>
          </p:cNvGraphicFramePr>
          <p:nvPr/>
        </p:nvGraphicFramePr>
        <p:xfrm>
          <a:off x="1238250" y="1962150"/>
          <a:ext cx="4476750" cy="2495550"/>
        </p:xfrm>
        <a:graphic>
          <a:graphicData uri="http://schemas.openxmlformats.org/drawingml/2006/chart">
            <c:chart xmlns:c="http://schemas.openxmlformats.org/drawingml/2006/chart" r:id="rId2"/>
          </a:graphicData>
        </a:graphic>
      </p:graphicFrame>
      <p:grpSp>
        <p:nvGrpSpPr>
          <p:cNvPr id="22" name="square-reading"/>
          <p:cNvGrpSpPr/>
          <p:nvPr/>
        </p:nvGrpSpPr>
        <p:grpSpPr>
          <a:xfrm>
            <a:off x="5896356" y="2016442"/>
            <a:ext cx="2304288" cy="2560892"/>
            <a:chOff x="5896356" y="2016442"/>
            <a:chExt cx="2304288" cy="2560892"/>
          </a:xfrm>
        </p:grpSpPr>
        <p:grpSp>
          <p:nvGrpSpPr>
            <p:cNvPr id="17" name="Group 17"/>
            <p:cNvGrpSpPr/>
            <p:nvPr/>
          </p:nvGrpSpPr>
          <p:grpSpPr>
            <a:xfrm>
              <a:off x="5931694" y="2026444"/>
              <a:ext cx="157956" cy="157163"/>
              <a:chOff x="5931694" y="2026444"/>
              <a:chExt cx="157956" cy="157163"/>
            </a:xfrm>
          </p:grpSpPr>
          <p:sp>
            <p:nvSpPr>
              <p:cNvPr id="11" name="Freeform 11"/>
              <p:cNvSpPr/>
              <p:nvPr/>
            </p:nvSpPr>
            <p:spPr>
              <a:xfrm>
                <a:off x="5931694" y="2026444"/>
                <a:ext cx="157163" cy="157163"/>
              </a:xfrm>
              <a:custGeom>
                <a:avLst/>
                <a:gdLst/>
                <a:ahLst/>
                <a:cxnLst/>
                <a:rect l="l" t="t" r="r" b="b"/>
                <a:pathLst>
                  <a:path w="157163" h="157163">
                    <a:moveTo>
                      <a:pt x="0" y="0"/>
                    </a:moveTo>
                    <a:lnTo>
                      <a:pt x="0" y="157163"/>
                    </a:lnTo>
                    <a:lnTo>
                      <a:pt x="157163" y="157163"/>
                    </a:lnTo>
                  </a:path>
                </a:pathLst>
              </a:custGeom>
              <a:noFill/>
              <a:ln w="17463">
                <a:solidFill>
                  <a:srgbClr val="5A6472"/>
                </a:solidFill>
              </a:ln>
            </p:spPr>
          </p:sp>
          <p:sp>
            <p:nvSpPr>
              <p:cNvPr id="12" name="Freeform 12"/>
              <p:cNvSpPr/>
              <p:nvPr/>
            </p:nvSpPr>
            <p:spPr>
              <a:xfrm>
                <a:off x="6080125" y="2157413"/>
                <a:ext cx="9525" cy="26194"/>
              </a:xfrm>
              <a:custGeom>
                <a:avLst/>
                <a:gdLst/>
                <a:ahLst/>
                <a:cxnLst/>
                <a:rect l="l" t="t" r="r" b="b"/>
                <a:pathLst>
                  <a:path w="9525" h="26194">
                    <a:moveTo>
                      <a:pt x="0" y="0"/>
                    </a:moveTo>
                    <a:lnTo>
                      <a:pt x="0" y="26194"/>
                    </a:lnTo>
                  </a:path>
                </a:pathLst>
              </a:custGeom>
              <a:noFill/>
              <a:ln w="17463">
                <a:solidFill>
                  <a:srgbClr val="5A6472"/>
                </a:solidFill>
              </a:ln>
            </p:spPr>
          </p:sp>
          <p:sp>
            <p:nvSpPr>
              <p:cNvPr id="13" name="Freeform 13"/>
              <p:cNvSpPr/>
              <p:nvPr/>
            </p:nvSpPr>
            <p:spPr>
              <a:xfrm>
                <a:off x="6045200" y="2139950"/>
                <a:ext cx="9525" cy="43656"/>
              </a:xfrm>
              <a:custGeom>
                <a:avLst/>
                <a:gdLst/>
                <a:ahLst/>
                <a:cxnLst/>
                <a:rect l="l" t="t" r="r" b="b"/>
                <a:pathLst>
                  <a:path w="9525" h="43656">
                    <a:moveTo>
                      <a:pt x="0" y="0"/>
                    </a:moveTo>
                    <a:lnTo>
                      <a:pt x="0" y="43656"/>
                    </a:lnTo>
                  </a:path>
                </a:pathLst>
              </a:custGeom>
              <a:noFill/>
              <a:ln w="17463">
                <a:solidFill>
                  <a:srgbClr val="5A6472"/>
                </a:solidFill>
              </a:ln>
            </p:spPr>
          </p:sp>
          <p:sp>
            <p:nvSpPr>
              <p:cNvPr id="14" name="Freeform 14"/>
              <p:cNvSpPr/>
              <p:nvPr/>
            </p:nvSpPr>
            <p:spPr>
              <a:xfrm>
                <a:off x="6010275" y="2113756"/>
                <a:ext cx="9525" cy="69850"/>
              </a:xfrm>
              <a:custGeom>
                <a:avLst/>
                <a:gdLst/>
                <a:ahLst/>
                <a:cxnLst/>
                <a:rect l="l" t="t" r="r" b="b"/>
                <a:pathLst>
                  <a:path w="9525" h="69850">
                    <a:moveTo>
                      <a:pt x="0" y="0"/>
                    </a:moveTo>
                    <a:lnTo>
                      <a:pt x="0" y="69850"/>
                    </a:lnTo>
                  </a:path>
                </a:pathLst>
              </a:custGeom>
              <a:noFill/>
              <a:ln w="17463">
                <a:solidFill>
                  <a:srgbClr val="5A6472"/>
                </a:solidFill>
              </a:ln>
            </p:spPr>
          </p:sp>
          <p:sp>
            <p:nvSpPr>
              <p:cNvPr id="15" name="Freeform 15"/>
              <p:cNvSpPr/>
              <p:nvPr/>
            </p:nvSpPr>
            <p:spPr>
              <a:xfrm>
                <a:off x="5975350" y="2139950"/>
                <a:ext cx="9525" cy="43656"/>
              </a:xfrm>
              <a:custGeom>
                <a:avLst/>
                <a:gdLst/>
                <a:ahLst/>
                <a:cxnLst/>
                <a:rect l="l" t="t" r="r" b="b"/>
                <a:pathLst>
                  <a:path w="9525" h="43656">
                    <a:moveTo>
                      <a:pt x="0" y="0"/>
                    </a:moveTo>
                    <a:lnTo>
                      <a:pt x="0" y="43656"/>
                    </a:lnTo>
                  </a:path>
                </a:pathLst>
              </a:custGeom>
              <a:noFill/>
              <a:ln w="17463">
                <a:solidFill>
                  <a:srgbClr val="5A6472"/>
                </a:solidFill>
              </a:ln>
            </p:spPr>
          </p:sp>
          <p:sp>
            <p:nvSpPr>
              <p:cNvPr id="16" name="Freeform 16"/>
              <p:cNvSpPr/>
              <p:nvPr/>
            </p:nvSpPr>
            <p:spPr>
              <a:xfrm>
                <a:off x="5931694" y="2052638"/>
                <a:ext cx="157163" cy="43656"/>
              </a:xfrm>
              <a:custGeom>
                <a:avLst/>
                <a:gdLst/>
                <a:ahLst/>
                <a:cxnLst/>
                <a:rect l="l" t="t" r="r" b="b"/>
                <a:pathLst>
                  <a:path w="157163" h="43656">
                    <a:moveTo>
                      <a:pt x="0" y="43656"/>
                    </a:moveTo>
                    <a:cubicBezTo>
                      <a:pt x="52388" y="43656"/>
                      <a:pt x="43656" y="0"/>
                      <a:pt x="78581" y="0"/>
                    </a:cubicBezTo>
                    <a:cubicBezTo>
                      <a:pt x="113506" y="0"/>
                      <a:pt x="104775" y="43656"/>
                      <a:pt x="157163" y="43656"/>
                    </a:cubicBezTo>
                  </a:path>
                </a:pathLst>
              </a:custGeom>
              <a:noFill/>
              <a:ln w="17463">
                <a:solidFill>
                  <a:srgbClr val="5A6472"/>
                </a:solidFill>
              </a:ln>
            </p:spPr>
          </p:sp>
        </p:grpSp>
        <p:sp>
          <p:nvSpPr>
            <p:cNvPr id="18" name="TextBox 18"/>
            <p:cNvSpPr txBox="1"/>
            <p:nvPr/>
          </p:nvSpPr>
          <p:spPr>
            <a:xfrm>
              <a:off x="6184392" y="2016442"/>
              <a:ext cx="12858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这张清单怎么读</a:t>
              </a:r>
            </a:p>
          </p:txBody>
        </p:sp>
        <p:sp>
          <p:nvSpPr>
            <p:cNvPr id="19" name="TextBox 19"/>
            <p:cNvSpPr txBox="1"/>
            <p:nvPr/>
          </p:nvSpPr>
          <p:spPr>
            <a:xfrm>
              <a:off x="5896356" y="2358390"/>
              <a:ext cx="230428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只剩</a:t>
              </a:r>
              <a:r>
                <a:rPr lang="zh-CN" sz="1800" b="1" dirty="0">
                  <a:solidFill>
                    <a:schemeClr val="accent2"/>
                  </a:solidFill>
                  <a:latin typeface="+mn-lt"/>
                  <a:ea typeface="+mn-ea"/>
                  <a:cs typeface="+mn-cs"/>
                </a:rPr>
                <a:t>奇次谐波</a:t>
              </a:r>
              <a:r>
                <a:rPr lang="zh-CN" sz="1800" dirty="0">
                  <a:solidFill>
                    <a:schemeClr val="dk1"/>
                  </a:solidFill>
                  <a:latin typeface="+mn-lt"/>
                  <a:ea typeface="+mn-ea"/>
                  <a:cs typeface="+mn-cs"/>
                </a:rPr>
                <a:t>:</a:t>
              </a:r>
              <a:br/>
              <a:r>
                <a:rPr lang="zh-CN" sz="1800" dirty="0">
                  <a:solidFill>
                    <a:schemeClr val="dk1"/>
                  </a:solidFill>
                  <a:latin typeface="+mn-lt"/>
                  <a:ea typeface="+mn-ea"/>
                  <a:cs typeface="+mn-cs"/>
                </a:rPr>
                <a:t>偶次项的系数全是零。</a:t>
              </a:r>
            </a:p>
          </p:txBody>
        </p:sp>
        <mc:AlternateContent xmlns:mc="http://schemas.openxmlformats.org/markup-compatibility/2006">
          <mc:Choice xmlns:a14="http://schemas.microsoft.com/office/drawing/2010/main" Requires="a14">
            <p:sp>
              <p:nvSpPr>
                <p:cNvPr id="20" name="TextBox 20"/>
                <p:cNvSpPr txBox="1"/>
                <p:nvPr/>
              </p:nvSpPr>
              <p:spPr>
                <a:xfrm>
                  <a:off x="5896356" y="3120390"/>
                  <a:ext cx="2109978" cy="6949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第 k 项的幅度正比于</a:t>
                  </a:r>
                  <a:br/>
                  <a14:m>
                    <m:oMath xmlns:a="http://schemas.openxmlformats.org/drawingml/2006/main" xmlns:m="http://schemas.openxmlformats.org/officeDocument/2006/math">
                      <m:r>
                        <a:rPr lang="zh-CN" sz="1800" dirty="0">
                          <a:solidFill>
                            <a:schemeClr val="dk1"/>
                          </a:solidFill>
                          <a:latin typeface="Cambria Math"/>
                          <a:ea typeface="Cambria Math"/>
                          <a:cs typeface="Cambria Math"/>
                        </a:rPr>
                        <m:t>1</m:t>
                      </m:r>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k</m:t>
                      </m:r>
                    </m:oMath>
                  </a14:m>
                  <a:r>
                    <a:rPr lang="zh-CN" sz="1800" dirty="0">
                      <a:solidFill>
                        <a:schemeClr val="dk1"/>
                      </a:solidFill>
                      <a:latin typeface="+mn-lt"/>
                      <a:ea typeface="+mn-ea"/>
                      <a:cs typeface="+mn-cs"/>
                    </a:rPr>
                    <a:t>,掉得相当快。</a:t>
                  </a:r>
                </a:p>
              </p:txBody>
            </p:sp>
          </mc:Choice>
        </mc:AlternateContent>
        <p:sp>
          <p:nvSpPr>
            <p:cNvPr id="21" name="TextBox 21"/>
            <p:cNvSpPr txBox="1"/>
            <p:nvPr/>
          </p:nvSpPr>
          <p:spPr>
            <a:xfrm>
              <a:off x="5896356" y="3882390"/>
              <a:ext cx="207568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项数越多拐角越方,</a:t>
              </a:r>
              <a:br/>
              <a:r>
                <a:rPr lang="zh-CN" sz="1800" dirty="0">
                  <a:solidFill>
                    <a:schemeClr val="dk1"/>
                  </a:solidFill>
                  <a:latin typeface="+mn-lt"/>
                  <a:ea typeface="+mn-ea"/>
                  <a:cs typeface="+mn-cs"/>
                </a:rPr>
                <a:t>但永远留一点过冲。</a:t>
              </a:r>
            </a:p>
          </p:txBody>
        </p:sp>
      </p:grpSp>
      <mc:AlternateContent xmlns:mc="http://schemas.openxmlformats.org/markup-compatibility/2006">
        <mc:Choice xmlns:a14="http://schemas.microsoft.com/office/drawing/2010/main" Requires="a14">
          <p:sp>
            <p:nvSpPr>
              <p:cNvPr id="23" name="square-formula"/>
              <p:cNvSpPr txBox="1">
                <a:spLocks noGrp="1"/>
              </p:cNvSpPr>
              <p:nvPr/>
            </p:nvSpPr>
            <p:spPr>
              <a:xfrm>
                <a:off x="609600" y="4667250"/>
                <a:ext cx="8534400" cy="10477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m:rPr>
                          <m:sty m:val="p"/>
                        </m:rPr>
                        <a:rPr lang="zh-CN" sz="2100" dirty="0">
                          <a:solidFill>
                            <a:srgbClr val="123B63"/>
                          </a:solidFill>
                          <a:latin typeface="Cambria Math"/>
                          <a:ea typeface="Cambria Math"/>
                          <a:cs typeface="Cambria Math"/>
                        </a:rPr>
                        <m:t>=</m:t>
                      </m:r>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4</m:t>
                          </m:r>
                        </m:num>
                        <m:den>
                          <m:r>
                            <a:rPr lang="zh-CN" sz="2100" dirty="0">
                              <a:solidFill>
                                <a:srgbClr val="123B63"/>
                              </a:solidFill>
                              <a:latin typeface="Cambria Math"/>
                              <a:ea typeface="Cambria Math"/>
                              <a:cs typeface="Cambria Math"/>
                            </a:rPr>
                            <m:t>π</m:t>
                          </m:r>
                        </m:den>
                      </m:f>
                      <m:nary>
                        <m:naryPr>
                          <m:chr m:val="∑"/>
                          <m:limLoc m:val="undOvr"/>
                          <m:grow m:val="off"/>
                          <m:subHide m:val="off"/>
                          <m:supHide m:val="on"/>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k</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3</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5</m:t>
                          </m:r>
                          <m:r>
                            <m:rPr>
                              <m:sty m:val="p"/>
                            </m:rPr>
                            <a:rPr lang="zh-CN" sz="2100" dirty="0">
                              <a:solidFill>
                                <a:srgbClr val="123B63"/>
                              </a:solidFill>
                              <a:latin typeface="Cambria Math"/>
                              <a:ea typeface="Cambria Math"/>
                              <a:cs typeface="Cambria Math"/>
                            </a:rPr>
                            <m:t>,…</m:t>
                          </m:r>
                        </m:sub>
                        <m:sup/>
                        <m:e>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1</m:t>
                              </m:r>
                            </m:num>
                            <m:den>
                              <m:r>
                                <a:rPr lang="zh-CN" sz="2100" dirty="0">
                                  <a:solidFill>
                                    <a:srgbClr val="123B63"/>
                                  </a:solidFill>
                                  <a:latin typeface="Cambria Math"/>
                                  <a:ea typeface="Cambria Math"/>
                                  <a:cs typeface="Cambria Math"/>
                                </a:rPr>
                                <m:t>k</m:t>
                              </m:r>
                            </m:den>
                          </m:f>
                          <m:func>
                            <m:funcPr/>
                            <m:fName>
                              <m:r>
                                <m:rPr>
                                  <m:sty m:val="p"/>
                                </m:rPr>
                                <a:rPr lang="zh-CN" sz="2100" dirty="0">
                                  <a:solidFill>
                                    <a:srgbClr val="123B63"/>
                                  </a:solidFill>
                                  <a:latin typeface="Cambria Math"/>
                                  <a:ea typeface="Cambria Math"/>
                                  <a:cs typeface="Cambria Math"/>
                                </a:rPr>
                                <m:t>sin</m:t>
                              </m:r>
                            </m:fName>
                            <m:e>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kωt</m:t>
                                  </m:r>
                                </m:e>
                              </m:d>
                            </m:e>
                          </m:func>
                        </m:e>
                      </m:nary>
                    </m:oMath>
                  </m:oMathPara>
                </a14:m>
              </a:p>
            </p:txBody>
          </p:sp>
        </mc:Choice>
      </mc:AlternateContent>
      <p:grpSp>
        <p:nvGrpSpPr>
          <p:cNvPr id="25" name="square-takeaway"/>
          <p:cNvGrpSpPr/>
          <p:nvPr/>
        </p:nvGrpSpPr>
        <p:grpSpPr>
          <a:xfrm>
            <a:off x="600456" y="5996940"/>
            <a:ext cx="6899148" cy="694944"/>
            <a:chOff x="600456" y="5996940"/>
            <a:chExt cx="6899148" cy="694944"/>
          </a:xfrm>
        </p:grpSpPr>
        <p:sp>
          <p:nvSpPr>
            <p:cNvPr id="24" name="TextBox 24"/>
            <p:cNvSpPr txBox="1"/>
            <p:nvPr/>
          </p:nvSpPr>
          <p:spPr>
            <a:xfrm>
              <a:off x="600456" y="5996940"/>
              <a:ext cx="689914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级数把「形状」换成了一串可以逐项检查的数:方波不再是一个图形,</a:t>
              </a:r>
              <a:br/>
              <a:r>
                <a:rPr lang="zh-CN" sz="1800" dirty="0">
                  <a:solidFill>
                    <a:schemeClr val="dk1"/>
                  </a:solidFill>
                  <a:latin typeface="+mn-lt"/>
                  <a:ea typeface="+mn-ea"/>
                  <a:cs typeface="+mn-cs"/>
                </a:rPr>
                <a:t>而是「1、1/3、1/5、1/7…」这份可以照着合成回去的频率清单。</a:t>
              </a:r>
            </a:p>
          </p:txBody>
        </p:sp>
      </p:grpSp>
      <p:grpSp>
        <p:nvGrpSpPr>
          <p:cNvPr id="28" name="page-footer"/>
          <p:cNvGrpSpPr/>
          <p:nvPr/>
        </p:nvGrpSpPr>
        <p:grpSpPr>
          <a:xfrm>
            <a:off x="603504" y="6880860"/>
            <a:ext cx="8546592" cy="234696"/>
            <a:chOff x="603504" y="6880860"/>
            <a:chExt cx="8546592" cy="234696"/>
          </a:xfrm>
        </p:grpSpPr>
        <p:sp>
          <p:nvSpPr>
            <p:cNvPr id="26" name="TextBox 26"/>
            <p:cNvSpPr txBox="1"/>
            <p:nvPr/>
          </p:nvSpPr>
          <p:spPr>
            <a:xfrm>
              <a:off x="603504" y="6880860"/>
              <a:ext cx="359237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整理:幅度序列由本页展开式直接算出,非引用数字</a:t>
              </a:r>
            </a:p>
          </p:txBody>
        </p:sp>
        <p:sp>
          <p:nvSpPr>
            <p:cNvPr id="27" name="TextBox 27"/>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900"/>
                                        <p:tgtEl>
                                          <p:spTgt spid="10"/>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20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par>
                          <p:cTn id="16" fill="hold">
                            <p:stCondLst>
                              <p:cond delay="25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a14="http://schemas.microsoft.com/office/drawing/2010/main" xmlns:m="http://schemas.openxmlformats.org/officeDocument/2006/math" xmlns:mc="http://schemas.openxmlformats.org/markup-compatibility/2006"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4095750"/>
            <a:ext cx="8534400" cy="990600"/>
          </a:xfrm>
          <a:prstGeom prst="rect">
            <a:avLst/>
          </a:prstGeom>
          <a:solidFill>
            <a:schemeClr val="lt2"/>
          </a:solidFill>
          <a:ln>
            <a:noFill/>
          </a:ln>
        </p:spPr>
      </p:sp>
      <p:sp>
        <p:nvSpPr>
          <p:cNvPr id="4" name="formula-band-bar"/>
          <p:cNvSpPr/>
          <p:nvPr/>
        </p:nvSpPr>
        <p:spPr>
          <a:xfrm>
            <a:off x="609600" y="4095750"/>
            <a:ext cx="28575" cy="990600"/>
          </a:xfrm>
          <a:prstGeom prst="rect">
            <a:avLst/>
          </a:prstGeom>
          <a:solidFill>
            <a:schemeClr val="accent1"/>
          </a:solidFill>
          <a:ln>
            <a:noFill/>
          </a:ln>
        </p:spPr>
      </p:sp>
      <p:grpSp>
        <p:nvGrpSpPr>
          <p:cNvPr id="7" name="section-kicker"/>
          <p:cNvGrpSpPr/>
          <p:nvPr/>
        </p:nvGrpSpPr>
        <p:grpSpPr>
          <a:xfrm>
            <a:off x="602742" y="552450"/>
            <a:ext cx="1909267" cy="404051"/>
            <a:chOff x="602742" y="552450"/>
            <a:chExt cx="1909267"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9092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3 节 · 从级数到变换</a:t>
              </a:r>
            </a:p>
          </p:txBody>
        </p:sp>
      </p:grpSp>
      <p:grpSp>
        <p:nvGrpSpPr>
          <p:cNvPr id="9" name="page-title"/>
          <p:cNvGrpSpPr/>
          <p:nvPr/>
        </p:nvGrpSpPr>
        <p:grpSpPr>
          <a:xfrm>
            <a:off x="593598" y="1050608"/>
            <a:ext cx="4758995" cy="616077"/>
            <a:chOff x="593598" y="1050608"/>
            <a:chExt cx="4758995" cy="616077"/>
          </a:xfrm>
        </p:grpSpPr>
        <p:sp>
          <p:nvSpPr>
            <p:cNvPr id="8" name="TextBox 8"/>
            <p:cNvSpPr txBox="1"/>
            <p:nvPr/>
          </p:nvSpPr>
          <p:spPr>
            <a:xfrm>
              <a:off x="593598" y="1050608"/>
              <a:ext cx="4758995"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周期越长,频率排得越密</a:t>
              </a:r>
            </a:p>
          </p:txBody>
        </p:sp>
      </p:grpSp>
      <p:grpSp>
        <p:nvGrpSpPr>
          <p:cNvPr id="90" name="spacing-schematic"/>
          <p:cNvGrpSpPr/>
          <p:nvPr/>
        </p:nvGrpSpPr>
        <p:grpSpPr>
          <a:xfrm>
            <a:off x="602742" y="2016442"/>
            <a:ext cx="7979283" cy="1930909"/>
            <a:chOff x="602742" y="2016442"/>
            <a:chExt cx="7979283" cy="1930909"/>
          </a:xfrm>
        </p:grpSpPr>
        <p:grpSp>
          <p:nvGrpSpPr>
            <p:cNvPr id="12" name="Group 12"/>
            <p:cNvGrpSpPr/>
            <p:nvPr/>
          </p:nvGrpSpPr>
          <p:grpSpPr>
            <a:xfrm>
              <a:off x="644525" y="2026444"/>
              <a:ext cx="139700" cy="157162"/>
              <a:chOff x="644525" y="2026444"/>
              <a:chExt cx="139700" cy="157162"/>
            </a:xfrm>
          </p:grpSpPr>
          <p:sp>
            <p:nvSpPr>
              <p:cNvPr id="10" name="Freeform 10"/>
              <p:cNvSpPr/>
              <p:nvPr/>
            </p:nvSpPr>
            <p:spPr>
              <a:xfrm>
                <a:off x="644525" y="2026444"/>
                <a:ext cx="139700" cy="78581"/>
              </a:xfrm>
              <a:custGeom>
                <a:avLst/>
                <a:gdLst/>
                <a:ahLst/>
                <a:cxnLst/>
                <a:rect l="l" t="t" r="r" b="b"/>
                <a:pathLst>
                  <a:path w="139700" h="78581">
                    <a:moveTo>
                      <a:pt x="0" y="78581"/>
                    </a:moveTo>
                    <a:lnTo>
                      <a:pt x="0" y="52388"/>
                    </a:lnTo>
                    <a:cubicBezTo>
                      <a:pt x="0" y="37921"/>
                      <a:pt x="11727" y="26194"/>
                      <a:pt x="26194" y="26194"/>
                    </a:cubicBezTo>
                    <a:lnTo>
                      <a:pt x="139700" y="26194"/>
                    </a:lnTo>
                    <a:moveTo>
                      <a:pt x="113506" y="0"/>
                    </a:moveTo>
                    <a:lnTo>
                      <a:pt x="139700" y="26194"/>
                    </a:lnTo>
                    <a:lnTo>
                      <a:pt x="113506" y="52388"/>
                    </a:lnTo>
                  </a:path>
                </a:pathLst>
              </a:custGeom>
              <a:noFill/>
              <a:ln w="17463">
                <a:solidFill>
                  <a:srgbClr val="5A6472"/>
                </a:solidFill>
              </a:ln>
            </p:spPr>
          </p:sp>
          <p:sp>
            <p:nvSpPr>
              <p:cNvPr id="11" name="Freeform 11"/>
              <p:cNvSpPr/>
              <p:nvPr/>
            </p:nvSpPr>
            <p:spPr>
              <a:xfrm>
                <a:off x="644525" y="2105025"/>
                <a:ext cx="139700" cy="78581"/>
              </a:xfrm>
              <a:custGeom>
                <a:avLst/>
                <a:gdLst/>
                <a:ahLst/>
                <a:cxnLst/>
                <a:rect l="l" t="t" r="r" b="b"/>
                <a:pathLst>
                  <a:path w="139700" h="78581">
                    <a:moveTo>
                      <a:pt x="139700" y="0"/>
                    </a:moveTo>
                    <a:lnTo>
                      <a:pt x="139700" y="26194"/>
                    </a:lnTo>
                    <a:cubicBezTo>
                      <a:pt x="139700" y="40660"/>
                      <a:pt x="127973" y="52388"/>
                      <a:pt x="113506" y="52388"/>
                    </a:cubicBezTo>
                    <a:lnTo>
                      <a:pt x="0" y="52388"/>
                    </a:lnTo>
                    <a:moveTo>
                      <a:pt x="26194" y="78581"/>
                    </a:moveTo>
                    <a:lnTo>
                      <a:pt x="0" y="52388"/>
                    </a:lnTo>
                    <a:lnTo>
                      <a:pt x="26194" y="26194"/>
                    </a:lnTo>
                  </a:path>
                </a:pathLst>
              </a:custGeom>
              <a:noFill/>
              <a:ln w="17463">
                <a:solidFill>
                  <a:srgbClr val="5A6472"/>
                </a:solidFill>
              </a:ln>
            </p:spPr>
          </p:sp>
        </p:grpSp>
        <p:sp>
          <p:nvSpPr>
            <p:cNvPr id="13" name="TextBox 13"/>
            <p:cNvSpPr txBox="1"/>
            <p:nvPr/>
          </p:nvSpPr>
          <p:spPr>
            <a:xfrm>
              <a:off x="888492" y="2016442"/>
              <a:ext cx="330007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可用频率是基频的整数倍,间隔就是 1/T</a:t>
              </a:r>
            </a:p>
          </p:txBody>
        </p:sp>
        <p:sp>
          <p:nvSpPr>
            <p:cNvPr id="14" name="TextBox 14"/>
            <p:cNvSpPr txBox="1"/>
            <p:nvPr/>
          </p:nvSpPr>
          <p:spPr>
            <a:xfrm>
              <a:off x="602742" y="2349818"/>
              <a:ext cx="5753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周期 T</a:t>
              </a:r>
            </a:p>
          </p:txBody>
        </p:sp>
        <p:sp>
          <p:nvSpPr>
            <p:cNvPr id="15" name="Line 15"/>
            <p:cNvSpPr/>
            <p:nvPr/>
          </p:nvSpPr>
          <p:spPr>
            <a:xfrm>
              <a:off x="190500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16" name="Line 16"/>
            <p:cNvSpPr/>
            <p:nvPr/>
          </p:nvSpPr>
          <p:spPr>
            <a:xfrm>
              <a:off x="257175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17" name="Line 17"/>
            <p:cNvSpPr/>
            <p:nvPr/>
          </p:nvSpPr>
          <p:spPr>
            <a:xfrm>
              <a:off x="323850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18" name="Line 18"/>
            <p:cNvSpPr/>
            <p:nvPr/>
          </p:nvSpPr>
          <p:spPr>
            <a:xfrm>
              <a:off x="390525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19" name="Line 19"/>
            <p:cNvSpPr/>
            <p:nvPr/>
          </p:nvSpPr>
          <p:spPr>
            <a:xfrm>
              <a:off x="457200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0" name="Line 20"/>
            <p:cNvSpPr/>
            <p:nvPr/>
          </p:nvSpPr>
          <p:spPr>
            <a:xfrm>
              <a:off x="523875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1" name="Line 21"/>
            <p:cNvSpPr/>
            <p:nvPr/>
          </p:nvSpPr>
          <p:spPr>
            <a:xfrm>
              <a:off x="590550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2" name="Line 22"/>
            <p:cNvSpPr/>
            <p:nvPr/>
          </p:nvSpPr>
          <p:spPr>
            <a:xfrm>
              <a:off x="657225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3" name="Line 23"/>
            <p:cNvSpPr/>
            <p:nvPr/>
          </p:nvSpPr>
          <p:spPr>
            <a:xfrm>
              <a:off x="723900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4" name="Line 24"/>
            <p:cNvSpPr/>
            <p:nvPr/>
          </p:nvSpPr>
          <p:spPr>
            <a:xfrm>
              <a:off x="790575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5" name="Line 25"/>
            <p:cNvSpPr/>
            <p:nvPr/>
          </p:nvSpPr>
          <p:spPr>
            <a:xfrm>
              <a:off x="8572500" y="23050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6" name="TextBox 26"/>
            <p:cNvSpPr txBox="1"/>
            <p:nvPr/>
          </p:nvSpPr>
          <p:spPr>
            <a:xfrm>
              <a:off x="602742" y="3016568"/>
              <a:ext cx="7036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周期 2T</a:t>
              </a:r>
            </a:p>
          </p:txBody>
        </p:sp>
        <p:sp>
          <p:nvSpPr>
            <p:cNvPr id="27" name="Line 27"/>
            <p:cNvSpPr/>
            <p:nvPr/>
          </p:nvSpPr>
          <p:spPr>
            <a:xfrm>
              <a:off x="190500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8" name="Line 28"/>
            <p:cNvSpPr/>
            <p:nvPr/>
          </p:nvSpPr>
          <p:spPr>
            <a:xfrm>
              <a:off x="223837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29" name="Line 29"/>
            <p:cNvSpPr/>
            <p:nvPr/>
          </p:nvSpPr>
          <p:spPr>
            <a:xfrm>
              <a:off x="257175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0" name="Line 30"/>
            <p:cNvSpPr/>
            <p:nvPr/>
          </p:nvSpPr>
          <p:spPr>
            <a:xfrm>
              <a:off x="290512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1" name="Line 31"/>
            <p:cNvSpPr/>
            <p:nvPr/>
          </p:nvSpPr>
          <p:spPr>
            <a:xfrm>
              <a:off x="323850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2" name="Line 32"/>
            <p:cNvSpPr/>
            <p:nvPr/>
          </p:nvSpPr>
          <p:spPr>
            <a:xfrm>
              <a:off x="357187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3" name="Line 33"/>
            <p:cNvSpPr/>
            <p:nvPr/>
          </p:nvSpPr>
          <p:spPr>
            <a:xfrm>
              <a:off x="390525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4" name="Line 34"/>
            <p:cNvSpPr/>
            <p:nvPr/>
          </p:nvSpPr>
          <p:spPr>
            <a:xfrm>
              <a:off x="423862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5" name="Line 35"/>
            <p:cNvSpPr/>
            <p:nvPr/>
          </p:nvSpPr>
          <p:spPr>
            <a:xfrm>
              <a:off x="457200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6" name="Line 36"/>
            <p:cNvSpPr/>
            <p:nvPr/>
          </p:nvSpPr>
          <p:spPr>
            <a:xfrm>
              <a:off x="490537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7" name="Line 37"/>
            <p:cNvSpPr/>
            <p:nvPr/>
          </p:nvSpPr>
          <p:spPr>
            <a:xfrm>
              <a:off x="523875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8" name="Line 38"/>
            <p:cNvSpPr/>
            <p:nvPr/>
          </p:nvSpPr>
          <p:spPr>
            <a:xfrm>
              <a:off x="557212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39" name="Line 39"/>
            <p:cNvSpPr/>
            <p:nvPr/>
          </p:nvSpPr>
          <p:spPr>
            <a:xfrm>
              <a:off x="590550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0" name="Line 40"/>
            <p:cNvSpPr/>
            <p:nvPr/>
          </p:nvSpPr>
          <p:spPr>
            <a:xfrm>
              <a:off x="623887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1" name="Line 41"/>
            <p:cNvSpPr/>
            <p:nvPr/>
          </p:nvSpPr>
          <p:spPr>
            <a:xfrm>
              <a:off x="657225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2" name="Line 42"/>
            <p:cNvSpPr/>
            <p:nvPr/>
          </p:nvSpPr>
          <p:spPr>
            <a:xfrm>
              <a:off x="690562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3" name="Line 43"/>
            <p:cNvSpPr/>
            <p:nvPr/>
          </p:nvSpPr>
          <p:spPr>
            <a:xfrm>
              <a:off x="723900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4" name="Line 44"/>
            <p:cNvSpPr/>
            <p:nvPr/>
          </p:nvSpPr>
          <p:spPr>
            <a:xfrm>
              <a:off x="757237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5" name="Line 45"/>
            <p:cNvSpPr/>
            <p:nvPr/>
          </p:nvSpPr>
          <p:spPr>
            <a:xfrm>
              <a:off x="790575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6" name="Line 46"/>
            <p:cNvSpPr/>
            <p:nvPr/>
          </p:nvSpPr>
          <p:spPr>
            <a:xfrm>
              <a:off x="8239125"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7" name="Line 47"/>
            <p:cNvSpPr/>
            <p:nvPr/>
          </p:nvSpPr>
          <p:spPr>
            <a:xfrm>
              <a:off x="8572500" y="297180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48" name="TextBox 48"/>
            <p:cNvSpPr txBox="1"/>
            <p:nvPr/>
          </p:nvSpPr>
          <p:spPr>
            <a:xfrm>
              <a:off x="602742" y="3683318"/>
              <a:ext cx="7036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周期 4T</a:t>
              </a:r>
            </a:p>
          </p:txBody>
        </p:sp>
        <p:sp>
          <p:nvSpPr>
            <p:cNvPr id="49" name="Line 49"/>
            <p:cNvSpPr/>
            <p:nvPr/>
          </p:nvSpPr>
          <p:spPr>
            <a:xfrm>
              <a:off x="190500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0" name="Line 50"/>
            <p:cNvSpPr/>
            <p:nvPr/>
          </p:nvSpPr>
          <p:spPr>
            <a:xfrm>
              <a:off x="207168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1" name="Line 51"/>
            <p:cNvSpPr/>
            <p:nvPr/>
          </p:nvSpPr>
          <p:spPr>
            <a:xfrm>
              <a:off x="223837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2" name="Line 52"/>
            <p:cNvSpPr/>
            <p:nvPr/>
          </p:nvSpPr>
          <p:spPr>
            <a:xfrm>
              <a:off x="240506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3" name="Line 53"/>
            <p:cNvSpPr/>
            <p:nvPr/>
          </p:nvSpPr>
          <p:spPr>
            <a:xfrm>
              <a:off x="257175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4" name="Line 54"/>
            <p:cNvSpPr/>
            <p:nvPr/>
          </p:nvSpPr>
          <p:spPr>
            <a:xfrm>
              <a:off x="273843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5" name="Line 55"/>
            <p:cNvSpPr/>
            <p:nvPr/>
          </p:nvSpPr>
          <p:spPr>
            <a:xfrm>
              <a:off x="290512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6" name="Line 56"/>
            <p:cNvSpPr/>
            <p:nvPr/>
          </p:nvSpPr>
          <p:spPr>
            <a:xfrm>
              <a:off x="307181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7" name="Line 57"/>
            <p:cNvSpPr/>
            <p:nvPr/>
          </p:nvSpPr>
          <p:spPr>
            <a:xfrm>
              <a:off x="323850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8" name="Line 58"/>
            <p:cNvSpPr/>
            <p:nvPr/>
          </p:nvSpPr>
          <p:spPr>
            <a:xfrm>
              <a:off x="340518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59" name="Line 59"/>
            <p:cNvSpPr/>
            <p:nvPr/>
          </p:nvSpPr>
          <p:spPr>
            <a:xfrm>
              <a:off x="357187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0" name="Line 60"/>
            <p:cNvSpPr/>
            <p:nvPr/>
          </p:nvSpPr>
          <p:spPr>
            <a:xfrm>
              <a:off x="373856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1" name="Line 61"/>
            <p:cNvSpPr/>
            <p:nvPr/>
          </p:nvSpPr>
          <p:spPr>
            <a:xfrm>
              <a:off x="390525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2" name="Line 62"/>
            <p:cNvSpPr/>
            <p:nvPr/>
          </p:nvSpPr>
          <p:spPr>
            <a:xfrm>
              <a:off x="407193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3" name="Line 63"/>
            <p:cNvSpPr/>
            <p:nvPr/>
          </p:nvSpPr>
          <p:spPr>
            <a:xfrm>
              <a:off x="423862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4" name="Line 64"/>
            <p:cNvSpPr/>
            <p:nvPr/>
          </p:nvSpPr>
          <p:spPr>
            <a:xfrm>
              <a:off x="440531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5" name="Line 65"/>
            <p:cNvSpPr/>
            <p:nvPr/>
          </p:nvSpPr>
          <p:spPr>
            <a:xfrm>
              <a:off x="457200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6" name="Line 66"/>
            <p:cNvSpPr/>
            <p:nvPr/>
          </p:nvSpPr>
          <p:spPr>
            <a:xfrm>
              <a:off x="473868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7" name="Line 67"/>
            <p:cNvSpPr/>
            <p:nvPr/>
          </p:nvSpPr>
          <p:spPr>
            <a:xfrm>
              <a:off x="490537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8" name="Line 68"/>
            <p:cNvSpPr/>
            <p:nvPr/>
          </p:nvSpPr>
          <p:spPr>
            <a:xfrm>
              <a:off x="507206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69" name="Line 69"/>
            <p:cNvSpPr/>
            <p:nvPr/>
          </p:nvSpPr>
          <p:spPr>
            <a:xfrm>
              <a:off x="523875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0" name="Line 70"/>
            <p:cNvSpPr/>
            <p:nvPr/>
          </p:nvSpPr>
          <p:spPr>
            <a:xfrm>
              <a:off x="540543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1" name="Line 71"/>
            <p:cNvSpPr/>
            <p:nvPr/>
          </p:nvSpPr>
          <p:spPr>
            <a:xfrm>
              <a:off x="557212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2" name="Line 72"/>
            <p:cNvSpPr/>
            <p:nvPr/>
          </p:nvSpPr>
          <p:spPr>
            <a:xfrm>
              <a:off x="573881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3" name="Line 73"/>
            <p:cNvSpPr/>
            <p:nvPr/>
          </p:nvSpPr>
          <p:spPr>
            <a:xfrm>
              <a:off x="590550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4" name="Line 74"/>
            <p:cNvSpPr/>
            <p:nvPr/>
          </p:nvSpPr>
          <p:spPr>
            <a:xfrm>
              <a:off x="607218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5" name="Line 75"/>
            <p:cNvSpPr/>
            <p:nvPr/>
          </p:nvSpPr>
          <p:spPr>
            <a:xfrm>
              <a:off x="623887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6" name="Line 76"/>
            <p:cNvSpPr/>
            <p:nvPr/>
          </p:nvSpPr>
          <p:spPr>
            <a:xfrm>
              <a:off x="640556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7" name="Line 77"/>
            <p:cNvSpPr/>
            <p:nvPr/>
          </p:nvSpPr>
          <p:spPr>
            <a:xfrm>
              <a:off x="657225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8" name="Line 78"/>
            <p:cNvSpPr/>
            <p:nvPr/>
          </p:nvSpPr>
          <p:spPr>
            <a:xfrm>
              <a:off x="673893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79" name="Line 79"/>
            <p:cNvSpPr/>
            <p:nvPr/>
          </p:nvSpPr>
          <p:spPr>
            <a:xfrm>
              <a:off x="690562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0" name="Line 80"/>
            <p:cNvSpPr/>
            <p:nvPr/>
          </p:nvSpPr>
          <p:spPr>
            <a:xfrm>
              <a:off x="707231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1" name="Line 81"/>
            <p:cNvSpPr/>
            <p:nvPr/>
          </p:nvSpPr>
          <p:spPr>
            <a:xfrm>
              <a:off x="723900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2" name="Line 82"/>
            <p:cNvSpPr/>
            <p:nvPr/>
          </p:nvSpPr>
          <p:spPr>
            <a:xfrm>
              <a:off x="740568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3" name="Line 83"/>
            <p:cNvSpPr/>
            <p:nvPr/>
          </p:nvSpPr>
          <p:spPr>
            <a:xfrm>
              <a:off x="757237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4" name="Line 84"/>
            <p:cNvSpPr/>
            <p:nvPr/>
          </p:nvSpPr>
          <p:spPr>
            <a:xfrm>
              <a:off x="773906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5" name="Line 85"/>
            <p:cNvSpPr/>
            <p:nvPr/>
          </p:nvSpPr>
          <p:spPr>
            <a:xfrm>
              <a:off x="790575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6" name="Line 86"/>
            <p:cNvSpPr/>
            <p:nvPr/>
          </p:nvSpPr>
          <p:spPr>
            <a:xfrm>
              <a:off x="8072438"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7" name="Line 87"/>
            <p:cNvSpPr/>
            <p:nvPr/>
          </p:nvSpPr>
          <p:spPr>
            <a:xfrm>
              <a:off x="8239125"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8" name="Line 88"/>
            <p:cNvSpPr/>
            <p:nvPr/>
          </p:nvSpPr>
          <p:spPr>
            <a:xfrm>
              <a:off x="8405812" y="3638550"/>
              <a:ext cx="9525" cy="266700"/>
            </a:xfrm>
            <a:custGeom>
              <a:avLst/>
              <a:gdLst/>
              <a:ahLst/>
              <a:cxnLst/>
              <a:rect l="l" t="t" r="r" b="b"/>
              <a:pathLst>
                <a:path w="9525" h="266700">
                  <a:moveTo>
                    <a:pt x="0" y="0"/>
                  </a:moveTo>
                  <a:lnTo>
                    <a:pt x="0" y="266700"/>
                  </a:lnTo>
                </a:path>
              </a:pathLst>
            </a:custGeom>
            <a:noFill/>
            <a:ln w="19050">
              <a:solidFill>
                <a:schemeClr val="accent3"/>
              </a:solidFill>
            </a:ln>
          </p:spPr>
        </p:sp>
        <p:sp>
          <p:nvSpPr>
            <p:cNvPr id="89" name="Line 89"/>
            <p:cNvSpPr/>
            <p:nvPr/>
          </p:nvSpPr>
          <p:spPr>
            <a:xfrm>
              <a:off x="8572500" y="3638550"/>
              <a:ext cx="9525" cy="266700"/>
            </a:xfrm>
            <a:custGeom>
              <a:avLst/>
              <a:gdLst/>
              <a:ahLst/>
              <a:cxnLst/>
              <a:rect l="l" t="t" r="r" b="b"/>
              <a:pathLst>
                <a:path w="9525" h="266700">
                  <a:moveTo>
                    <a:pt x="0" y="0"/>
                  </a:moveTo>
                  <a:lnTo>
                    <a:pt x="0" y="266700"/>
                  </a:lnTo>
                </a:path>
              </a:pathLst>
            </a:custGeom>
            <a:noFill/>
            <a:ln w="19050">
              <a:solidFill>
                <a:schemeClr val="accent3"/>
              </a:solidFill>
            </a:ln>
          </p:spPr>
        </p:sp>
      </p:grpSp>
      <mc:AlternateContent>
        <mc:Choice Requires="a14">
          <p:sp>
            <p:nvSpPr>
              <p:cNvPr id="91" name="!!analysis-integral"/>
              <p:cNvSpPr txBox="1">
                <a:spLocks noGrp="1"/>
              </p:cNvSpPr>
              <p:nvPr/>
            </p:nvSpPr>
            <p:spPr>
              <a:xfrm>
                <a:off x="609600" y="4095750"/>
                <a:ext cx="8534400" cy="990600"/>
              </a:xfrm>
              <a:prstGeom prst="rect">
                <a:avLst/>
              </a:prstGeom>
              <a:noFill/>
              <a:ln>
                <a:noFill/>
              </a:ln>
            </p:spPr>
            <p:txBody>
              <a:bodyPr lIns="0" tIns="0" rIns="0" bIns="0" wrap="none" anchor="ctr">
                <a:normAutofit/>
              </a:bodyPr>
              <a:lstStyle/>
              <a:p>
                <a:pPr algn="ctr"/>
                <a14:m>
                  <m:oMathPara>
                    <m:oMathParaPr>
                      <m:jc m:val="center"/>
                    </m:oMathParaPr>
                    <m:oMath>
                      <m:sSub>
                        <m:e>
                          <m:r>
                            <a:rPr lang="zh-CN" sz="2100" dirty="0">
                              <a:solidFill>
                                <a:srgbClr val="123B63"/>
                              </a:solidFill>
                              <a:latin typeface="Cambria Math"/>
                              <a:ea typeface="Cambria Math"/>
                              <a:cs typeface="Cambria Math"/>
                            </a:rPr>
                            <m:t>c</m:t>
                          </m:r>
                        </m:e>
                        <m:sub>
                          <m:r>
                            <a:rPr lang="zh-CN" sz="2100" dirty="0">
                              <a:solidFill>
                                <a:srgbClr val="123B63"/>
                              </a:solidFill>
                              <a:latin typeface="Cambria Math"/>
                              <a:ea typeface="Cambria Math"/>
                              <a:cs typeface="Cambria Math"/>
                            </a:rPr>
                            <m:t>n</m:t>
                          </m:r>
                        </m:sub>
                      </m:sSub>
                      <m:r>
                        <m:rPr>
                          <m:sty m:val="p"/>
                        </m:rPr>
                        <a:rPr lang="zh-CN" sz="2100" dirty="0">
                          <a:solidFill>
                            <a:srgbClr val="123B63"/>
                          </a:solidFill>
                          <a:latin typeface="Cambria Math"/>
                          <a:ea typeface="Cambria Math"/>
                          <a:cs typeface="Cambria Math"/>
                        </a:rPr>
                        <m:t>=</m:t>
                      </m:r>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1</m:t>
                          </m:r>
                        </m:num>
                        <m:den>
                          <m:r>
                            <a:rPr lang="zh-CN" sz="2100" dirty="0">
                              <a:solidFill>
                                <a:srgbClr val="123B63"/>
                              </a:solidFill>
                              <a:latin typeface="Cambria Math"/>
                              <a:ea typeface="Cambria Math"/>
                              <a:cs typeface="Cambria Math"/>
                            </a:rPr>
                            <m:t>T</m:t>
                          </m:r>
                        </m:den>
                      </m:f>
                      <m:nary>
                        <m:naryPr>
                          <m:chr m:val="∫"/>
                          <m:limLoc m:val="subSup"/>
                          <m:grow m:val="off"/>
                          <m:subHide m:val="off"/>
                          <m:supHide m:val="off"/>
                          <m:ctrlPr>
                            <a:rPr lang="zh-CN" sz="2100" dirty="0">
                              <a:solidFill>
                                <a:srgbClr val="123B63"/>
                              </a:solidFill>
                              <a:latin typeface="Cambria Math"/>
                              <a:ea typeface="Cambria Math"/>
                              <a:cs typeface="Cambria Math"/>
                            </a:rPr>
                          </m:ctrlPr>
                        </m:naryPr>
                        <m:sub>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T</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2</m:t>
                          </m:r>
                        </m:sub>
                        <m:sup>
                          <m:r>
                            <a:rPr lang="zh-CN" sz="2100" dirty="0">
                              <a:solidFill>
                                <a:srgbClr val="123B63"/>
                              </a:solidFill>
                              <a:latin typeface="Cambria Math"/>
                              <a:ea typeface="Cambria Math"/>
                              <a:cs typeface="Cambria Math"/>
                            </a:rPr>
                            <m:t>T</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2</m:t>
                          </m:r>
                        </m:sup>
                        <m:e>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a:rPr lang="zh-CN" sz="2100" dirty="0">
                              <a:solidFill>
                                <a:srgbClr val="123B63"/>
                              </a:solidFill>
                              <a:latin typeface="Cambria Math"/>
                              <a:ea typeface="Cambria Math"/>
                              <a:cs typeface="Cambria Math"/>
                            </a:rPr>
                            <m:t xml:space="preserve"> </m:t>
                          </m:r>
                          <m:sSup>
                            <m:e>
                              <m:r>
                                <a:rPr lang="zh-CN" sz="2100" dirty="0">
                                  <a:solidFill>
                                    <a:srgbClr val="123B63"/>
                                  </a:solidFill>
                                  <a:latin typeface="Cambria Math"/>
                                  <a:ea typeface="Cambria Math"/>
                                  <a:cs typeface="Cambria Math"/>
                                </a:rPr>
                                <m:t>e</m:t>
                              </m:r>
                            </m:e>
                            <m: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i2πnt</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T</m:t>
                              </m:r>
                            </m:sup>
                          </m:sSup>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dt</m:t>
                          </m:r>
                        </m:e>
                      </m:nary>
                    </m:oMath>
                  </m:oMathPara>
                </a14:m>
              </a:p>
            </p:txBody>
          </p:sp>
        </mc:Choice>
      </mc:AlternateContent>
      <p:grpSp>
        <p:nvGrpSpPr>
          <p:cNvPr id="94" name="limit-reasoning"/>
          <p:cNvGrpSpPr/>
          <p:nvPr/>
        </p:nvGrpSpPr>
        <p:grpSpPr>
          <a:xfrm>
            <a:off x="600456" y="5177790"/>
            <a:ext cx="6652260" cy="1037844"/>
            <a:chOff x="600456" y="5177790"/>
            <a:chExt cx="6652260" cy="1037844"/>
          </a:xfrm>
        </p:grpSpPr>
        <p:sp>
          <p:nvSpPr>
            <p:cNvPr id="92" name="TextBox 92"/>
            <p:cNvSpPr txBox="1"/>
            <p:nvPr/>
          </p:nvSpPr>
          <p:spPr>
            <a:xfrm>
              <a:off x="600456" y="5177790"/>
              <a:ext cx="665226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这条系数式就是「第 n 条频率占多少」:积分区间是</a:t>
              </a:r>
              <a:r>
                <a:rPr lang="zh-CN" sz="1800" b="1" dirty="0">
                  <a:solidFill>
                    <a:schemeClr val="accent1"/>
                  </a:solidFill>
                  <a:latin typeface="+mn-lt"/>
                  <a:ea typeface="+mn-ea"/>
                  <a:cs typeface="+mn-cs"/>
                </a:rPr>
                <a:t>一个周期</a:t>
              </a:r>
              <a:r>
                <a:rPr lang="zh-CN" sz="1800" dirty="0">
                  <a:solidFill>
                    <a:schemeClr val="dk1"/>
                  </a:solidFill>
                  <a:latin typeface="+mn-lt"/>
                  <a:ea typeface="+mn-ea"/>
                  <a:cs typeface="+mn-cs"/>
                </a:rPr>
                <a:t>,</a:t>
              </a:r>
            </a:p>
          </p:txBody>
        </p:sp>
        <mc:AlternateContent>
          <mc:Choice Requires="a14">
            <p:sp>
              <p:nvSpPr>
                <p:cNvPr id="93" name="TextBox 93"/>
                <p:cNvSpPr txBox="1"/>
                <p:nvPr/>
              </p:nvSpPr>
              <p:spPr>
                <a:xfrm>
                  <a:off x="600456" y="5520690"/>
                  <a:ext cx="6121908" cy="6949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前面还挂着 </a:t>
                  </a:r>
                  <a14:m>
                    <m:oMath>
                      <m:r>
                        <a:rPr lang="zh-CN" sz="1800" dirty="0">
                          <a:solidFill>
                            <a:schemeClr val="dk1"/>
                          </a:solidFill>
                          <a:latin typeface="Cambria Math"/>
                          <a:ea typeface="Cambria Math"/>
                          <a:cs typeface="Cambria Math"/>
                        </a:rPr>
                        <m:t>1</m:t>
                      </m:r>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T</m:t>
                      </m:r>
                    </m:oMath>
                  </a14:m>
                  <a:r>
                    <a:rPr lang="zh-CN" sz="1800" dirty="0">
                      <a:solidFill>
                        <a:schemeClr val="dk1"/>
                      </a:solidFill>
                      <a:latin typeface="+mn-lt"/>
                      <a:ea typeface="+mn-ea"/>
                      <a:cs typeface="+mn-cs"/>
                    </a:rPr>
                    <a:t xml:space="preserve">。T 变大,频率间隔 </a:t>
                  </a:r>
                  <a14:m>
                    <m:oMath>
                      <m:r>
                        <a:rPr lang="zh-CN" sz="1800" dirty="0">
                          <a:solidFill>
                            <a:schemeClr val="dk1"/>
                          </a:solidFill>
                          <a:latin typeface="Cambria Math"/>
                          <a:ea typeface="Cambria Math"/>
                          <a:cs typeface="Cambria Math"/>
                        </a:rPr>
                        <m:t>1</m:t>
                      </m:r>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T</m:t>
                      </m:r>
                    </m:oMath>
                  </a14:m>
                  <a:r>
                    <a:rPr lang="zh-CN" sz="1800" dirty="0">
                      <a:solidFill>
                        <a:schemeClr val="dk1"/>
                      </a:solidFill>
                      <a:latin typeface="+mn-lt"/>
                      <a:ea typeface="+mn-ea"/>
                      <a:cs typeface="+mn-cs"/>
                    </a:rPr>
                    <a:t xml:space="preserve"> 变小,清单越排越密,</a:t>
                  </a:r>
                  <a:br/>
                  <a:r>
                    <a:rPr lang="zh-CN" sz="1800" dirty="0">
                      <a:solidFill>
                        <a:schemeClr val="dk1"/>
                      </a:solidFill>
                      <a:latin typeface="+mn-lt"/>
                      <a:ea typeface="+mn-ea"/>
                      <a:cs typeface="+mn-cs"/>
                    </a:rPr>
                    <a:t>直到相邻两条挨在一起,离散的清单变成一条连续的谱。</a:t>
                  </a:r>
                </a:p>
              </p:txBody>
            </p:sp>
          </mc:Choice>
        </mc:AlternateContent>
      </p:grpSp>
      <p:grpSp>
        <p:nvGrpSpPr>
          <p:cNvPr id="97" name="next-step-arrow"/>
          <p:cNvGrpSpPr/>
          <p:nvPr/>
        </p:nvGrpSpPr>
        <p:grpSpPr>
          <a:xfrm>
            <a:off x="609600" y="6324600"/>
            <a:ext cx="6305398" cy="424434"/>
            <a:chOff x="609600" y="6324600"/>
            <a:chExt cx="6305398" cy="424434"/>
          </a:xfrm>
        </p:grpSpPr>
        <p:sp>
          <p:nvSpPr>
            <p:cNvPr id="95" name="Freeform 95"/>
            <p:cNvSpPr/>
            <p:nvPr/>
          </p:nvSpPr>
          <p:spPr>
            <a:xfrm>
              <a:off x="609600" y="6324600"/>
              <a:ext cx="1143000" cy="381000"/>
            </a:xfrm>
            <a:prstGeom prst="rightArrow">
              <a:avLst>
                <a:gd name="adj1" fmla="val 55000"/>
                <a:gd name="adj2" fmla="val 50000"/>
              </a:avLst>
            </a:prstGeom>
            <a:solidFill>
              <a:schemeClr val="accent2"/>
            </a:solidFill>
            <a:ln>
              <a:noFill/>
            </a:ln>
          </p:spPr>
        </p:sp>
        <p:sp>
          <p:nvSpPr>
            <p:cNvPr id="96" name="TextBox 96"/>
            <p:cNvSpPr txBox="1"/>
            <p:nvPr/>
          </p:nvSpPr>
          <p:spPr>
            <a:xfrm>
              <a:off x="1895856" y="6396990"/>
              <a:ext cx="501914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下一页:把 T 推到无穷,求和号就换成积分号。</a:t>
              </a:r>
            </a:p>
          </p:txBody>
        </p:sp>
      </p:grpSp>
      <p:grpSp>
        <p:nvGrpSpPr>
          <p:cNvPr id="100" name="page-footer"/>
          <p:cNvGrpSpPr/>
          <p:nvPr/>
        </p:nvGrpSpPr>
        <p:grpSpPr>
          <a:xfrm>
            <a:off x="603504" y="6880860"/>
            <a:ext cx="8546592" cy="234696"/>
            <a:chOff x="603504" y="6880860"/>
            <a:chExt cx="8546592" cy="234696"/>
          </a:xfrm>
        </p:grpSpPr>
        <p:sp>
          <p:nvSpPr>
            <p:cNvPr id="98" name="TextBox 98"/>
            <p:cNvSpPr txBox="1"/>
            <p:nvPr/>
          </p:nvSpPr>
          <p:spPr>
            <a:xfrm>
              <a:off x="603504" y="6880860"/>
              <a:ext cx="375391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整理:周期趋于无穷时的极限过程,示意图非实测数据</a:t>
              </a:r>
            </a:p>
          </p:txBody>
        </p:sp>
        <p:sp>
          <p:nvSpPr>
            <p:cNvPr id="99" name="TextBox 99"/>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a:t>
              </a:r>
            </a:p>
          </p:txBody>
        </p:sp>
      </p:grpSp>
    </p:spTree>
  </p:cSld>
  <p:clrMapOvr>
    <a:masterClrMapping/>
  </p:clrMapOvr>
  <p:transitio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600"/>
                                        <p:tgtEl>
                                          <p:spTgt spid="90"/>
                                        </p:tgtEl>
                                      </p:cBhvr>
                                    </p:animEffect>
                                  </p:childTnLst>
                                </p:cTn>
                              </p:par>
                            </p:childTnLst>
                          </p:cTn>
                        </p:par>
                        <p:par>
                          <p:cTn id="8" fill="hold">
                            <p:stCondLst>
                              <p:cond delay="600"/>
                            </p:stCondLst>
                            <p:childTnLst>
                              <p:par>
                                <p:cTn id="9" presetID="10" presetClass="entr" presetSubtype="0" fill="hold" grpId="0" nodeType="afterEffect">
                                  <p:stCondLst>
                                    <p:cond delay="500"/>
                                  </p:stCondLst>
                                  <p:childTnLst>
                                    <p:set>
                                      <p:cBhvr>
                                        <p:cTn id="10" dur="1" fill="hold">
                                          <p:stCondLst>
                                            <p:cond delay="0"/>
                                          </p:stCondLst>
                                        </p:cTn>
                                        <p:tgtEl>
                                          <p:spTgt spid="91"/>
                                        </p:tgtEl>
                                        <p:attrNameLst>
                                          <p:attrName>style.visibility</p:attrName>
                                        </p:attrNameLst>
                                      </p:cBhvr>
                                      <p:to>
                                        <p:strVal val="visible"/>
                                      </p:to>
                                    </p:set>
                                    <p:animEffect transition="in" filter="fade">
                                      <p:cBhvr>
                                        <p:cTn id="11" dur="500"/>
                                        <p:tgtEl>
                                          <p:spTgt spid="91"/>
                                        </p:tgtEl>
                                      </p:cBhvr>
                                    </p:animEffect>
                                  </p:childTnLst>
                                </p:cTn>
                              </p:par>
                            </p:childTnLst>
                          </p:cTn>
                        </p:par>
                        <p:par>
                          <p:cTn id="12" fill="hold">
                            <p:stCondLst>
                              <p:cond delay="1600"/>
                            </p:stCondLst>
                            <p:childTnLst>
                              <p:par>
                                <p:cTn id="13" presetID="10" presetClass="entr" presetSubtype="0" fill="hold" grpId="0" nodeType="afterEffect">
                                  <p:stCondLst>
                                    <p:cond delay="500"/>
                                  </p:stCondLst>
                                  <p:childTnLst>
                                    <p:set>
                                      <p:cBhvr>
                                        <p:cTn id="14" dur="1" fill="hold">
                                          <p:stCondLst>
                                            <p:cond delay="0"/>
                                          </p:stCondLst>
                                        </p:cTn>
                                        <p:tgtEl>
                                          <p:spTgt spid="94"/>
                                        </p:tgtEl>
                                        <p:attrNameLst>
                                          <p:attrName>style.visibility</p:attrName>
                                        </p:attrNameLst>
                                      </p:cBhvr>
                                      <p:to>
                                        <p:strVal val="visible"/>
                                      </p:to>
                                    </p:set>
                                    <p:animEffect transition="in" filter="fade">
                                      <p:cBhvr>
                                        <p:cTn id="15" dur="400"/>
                                        <p:tgtEl>
                                          <p:spTgt spid="94"/>
                                        </p:tgtEl>
                                      </p:cBhvr>
                                    </p:animEffect>
                                  </p:childTnLst>
                                </p:cTn>
                              </p:par>
                            </p:childTnLst>
                          </p:cTn>
                        </p:par>
                        <p:par>
                          <p:cTn id="16" fill="hold">
                            <p:stCondLst>
                              <p:cond delay="2500"/>
                            </p:stCondLst>
                            <p:childTnLst>
                              <p:par>
                                <p:cTn id="17" presetID="22" presetClass="entr" presetSubtype="2" fill="hold" grpId="0" nodeType="afterEffect">
                                  <p:stCondLst>
                                    <p:cond delay="300"/>
                                  </p:stCondLst>
                                  <p:childTnLst>
                                    <p:set>
                                      <p:cBhvr>
                                        <p:cTn id="18" dur="1" fill="hold">
                                          <p:stCondLst>
                                            <p:cond delay="0"/>
                                          </p:stCondLst>
                                        </p:cTn>
                                        <p:tgtEl>
                                          <p:spTgt spid="97"/>
                                        </p:tgtEl>
                                        <p:attrNameLst>
                                          <p:attrName>style.visibility</p:attrName>
                                        </p:attrNameLst>
                                      </p:cBhvr>
                                      <p:to>
                                        <p:strVal val="visible"/>
                                      </p:to>
                                    </p:set>
                                    <p:animEffect transition="in" filter="wipe(right)">
                                      <p:cBhvr>
                                        <p:cTn id="19" dur="6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a14="http://schemas.microsoft.com/office/drawing/2010/main" xmlns:m="http://schemas.openxmlformats.org/officeDocument/2006/math"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fwd"/>
          <p:cNvSpPr/>
          <p:nvPr/>
        </p:nvSpPr>
        <p:spPr>
          <a:xfrm>
            <a:off x="609600" y="1962150"/>
            <a:ext cx="8534400" cy="990600"/>
          </a:xfrm>
          <a:prstGeom prst="rect">
            <a:avLst/>
          </a:prstGeom>
          <a:solidFill>
            <a:schemeClr val="lt2"/>
          </a:solidFill>
          <a:ln>
            <a:noFill/>
          </a:ln>
        </p:spPr>
      </p:sp>
      <p:sp>
        <p:nvSpPr>
          <p:cNvPr id="4" name="formula-band-fwd-bar"/>
          <p:cNvSpPr/>
          <p:nvPr/>
        </p:nvSpPr>
        <p:spPr>
          <a:xfrm>
            <a:off x="609600" y="1962150"/>
            <a:ext cx="28575" cy="990600"/>
          </a:xfrm>
          <a:prstGeom prst="rect">
            <a:avLst/>
          </a:prstGeom>
          <a:solidFill>
            <a:schemeClr val="accent1"/>
          </a:solidFill>
          <a:ln>
            <a:noFill/>
          </a:ln>
        </p:spPr>
      </p:sp>
      <p:sp>
        <p:nvSpPr>
          <p:cNvPr id="5" name="formula-band-inv"/>
          <p:cNvSpPr/>
          <p:nvPr/>
        </p:nvSpPr>
        <p:spPr>
          <a:xfrm>
            <a:off x="609600" y="3543300"/>
            <a:ext cx="8534400" cy="990600"/>
          </a:xfrm>
          <a:prstGeom prst="rect">
            <a:avLst/>
          </a:prstGeom>
          <a:solidFill>
            <a:schemeClr val="lt2"/>
          </a:solidFill>
          <a:ln>
            <a:noFill/>
          </a:ln>
        </p:spPr>
      </p:sp>
      <p:sp>
        <p:nvSpPr>
          <p:cNvPr id="6" name="formula-band-inv-bar"/>
          <p:cNvSpPr/>
          <p:nvPr/>
        </p:nvSpPr>
        <p:spPr>
          <a:xfrm>
            <a:off x="609600" y="3543300"/>
            <a:ext cx="28575" cy="990600"/>
          </a:xfrm>
          <a:prstGeom prst="rect">
            <a:avLst/>
          </a:prstGeom>
          <a:solidFill>
            <a:schemeClr val="accent3"/>
          </a:solidFill>
          <a:ln>
            <a:noFill/>
          </a:ln>
        </p:spPr>
      </p:sp>
      <p:grpSp>
        <p:nvGrpSpPr>
          <p:cNvPr id="9" name="section-kicker"/>
          <p:cNvGrpSpPr/>
          <p:nvPr/>
        </p:nvGrpSpPr>
        <p:grpSpPr>
          <a:xfrm>
            <a:off x="602742" y="552450"/>
            <a:ext cx="1909267" cy="404051"/>
            <a:chOff x="602742" y="552450"/>
            <a:chExt cx="1909267" cy="404051"/>
          </a:xfrm>
        </p:grpSpPr>
        <p:sp>
          <p:nvSpPr>
            <p:cNvPr id="7" name="Rectangle 7"/>
            <p:cNvSpPr/>
            <p:nvPr/>
          </p:nvSpPr>
          <p:spPr>
            <a:xfrm>
              <a:off x="609600" y="552450"/>
              <a:ext cx="266700" cy="28575"/>
            </a:xfrm>
            <a:prstGeom prst="rect">
              <a:avLst/>
            </a:prstGeom>
            <a:solidFill>
              <a:schemeClr val="accent2"/>
            </a:solidFill>
            <a:ln>
              <a:noFill/>
            </a:ln>
          </p:spPr>
        </p:sp>
        <p:sp>
          <p:nvSpPr>
            <p:cNvPr id="8" name="TextBox 8"/>
            <p:cNvSpPr txBox="1"/>
            <p:nvPr/>
          </p:nvSpPr>
          <p:spPr>
            <a:xfrm>
              <a:off x="602742" y="692468"/>
              <a:ext cx="19092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3 节 · 从级数到变换</a:t>
              </a:r>
            </a:p>
          </p:txBody>
        </p:sp>
      </p:grpSp>
      <p:grpSp>
        <p:nvGrpSpPr>
          <p:cNvPr id="11" name="page-title"/>
          <p:cNvGrpSpPr/>
          <p:nvPr/>
        </p:nvGrpSpPr>
        <p:grpSpPr>
          <a:xfrm>
            <a:off x="593598" y="1050608"/>
            <a:ext cx="4310939" cy="616077"/>
            <a:chOff x="593598" y="1050608"/>
            <a:chExt cx="4310939" cy="616077"/>
          </a:xfrm>
        </p:grpSpPr>
        <p:sp>
          <p:nvSpPr>
            <p:cNvPr id="10" name="TextBox 10"/>
            <p:cNvSpPr txBox="1"/>
            <p:nvPr/>
          </p:nvSpPr>
          <p:spPr>
            <a:xfrm>
              <a:off x="593598" y="1050608"/>
              <a:ext cx="431093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同一条式子,换成积分</a:t>
              </a:r>
            </a:p>
          </p:txBody>
        </p:sp>
      </p:grpSp>
      <mc:AlternateContent>
        <mc:Choice Requires="a14">
          <p:sp>
            <p:nvSpPr>
              <p:cNvPr id="12" name="!!analysis-integral"/>
              <p:cNvSpPr txBox="1">
                <a:spLocks noGrp="1"/>
              </p:cNvSpPr>
              <p:nvPr/>
            </p:nvSpPr>
            <p:spPr>
              <a:xfrm>
                <a:off x="609600" y="1962150"/>
                <a:ext cx="8534400" cy="990600"/>
              </a:xfrm>
              <a:prstGeom prst="rect">
                <a:avLst/>
              </a:prstGeom>
              <a:noFill/>
              <a:ln>
                <a:noFill/>
              </a:ln>
            </p:spPr>
            <p:txBody>
              <a:bodyPr lIns="0" tIns="0" rIns="0" bIns="0" wrap="none" anchor="ctr">
                <a:normAutofit/>
              </a:bodyPr>
              <a:lstStyle/>
              <a:p>
                <a:pPr algn="ctr"/>
                <a14:m>
                  <m:oMathPara>
                    <m:oMathParaPr>
                      <m:jc m:val="center"/>
                    </m:oMathParaPr>
                    <m:oMath>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e>
                      </m:d>
                      <m:r>
                        <m:rPr>
                          <m:sty m:val="p"/>
                        </m:rPr>
                        <a:rPr lang="zh-CN" sz="2100" dirty="0">
                          <a:solidFill>
                            <a:srgbClr val="123B63"/>
                          </a:solidFill>
                          <a:latin typeface="Cambria Math"/>
                          <a:ea typeface="Cambria Math"/>
                          <a:cs typeface="Cambria Math"/>
                        </a:rPr>
                        <m:t>=</m:t>
                      </m:r>
                      <m:nary>
                        <m:naryPr>
                          <m:chr m:val="∫"/>
                          <m:limLoc m:val="subSup"/>
                          <m:grow m:val="off"/>
                          <m:subHide m:val="off"/>
                          <m:supHide m:val="off"/>
                          <m:ctrlPr>
                            <a:rPr lang="zh-CN" sz="2100" dirty="0">
                              <a:solidFill>
                                <a:srgbClr val="123B63"/>
                              </a:solidFill>
                              <a:latin typeface="Cambria Math"/>
                              <a:ea typeface="Cambria Math"/>
                              <a:cs typeface="Cambria Math"/>
                            </a:rPr>
                          </m:ctrlPr>
                        </m:naryPr>
                        <m:sub>
                          <m:r>
                            <m:rPr>
                              <m:sty m:val="p"/>
                            </m:rPr>
                            <a:rPr lang="zh-CN" sz="2100" dirty="0">
                              <a:solidFill>
                                <a:srgbClr val="123B63"/>
                              </a:solidFill>
                              <a:latin typeface="Cambria Math"/>
                              <a:ea typeface="Cambria Math"/>
                              <a:cs typeface="Cambria Math"/>
                            </a:rPr>
                            <m:t>−∞</m:t>
                          </m:r>
                        </m:sub>
                        <m:sup>
                          <m:r>
                            <m:rPr>
                              <m:sty m:val="p"/>
                            </m:rPr>
                            <a:rPr lang="zh-CN" sz="2100" dirty="0">
                              <a:solidFill>
                                <a:srgbClr val="123B63"/>
                              </a:solidFill>
                              <a:latin typeface="Cambria Math"/>
                              <a:ea typeface="Cambria Math"/>
                              <a:cs typeface="Cambria Math"/>
                            </a:rPr>
                            <m:t>∞</m:t>
                          </m:r>
                        </m:sup>
                        <m:e>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a:rPr lang="zh-CN" sz="2100" dirty="0">
                              <a:solidFill>
                                <a:srgbClr val="123B63"/>
                              </a:solidFill>
                              <a:latin typeface="Cambria Math"/>
                              <a:ea typeface="Cambria Math"/>
                              <a:cs typeface="Cambria Math"/>
                            </a:rPr>
                            <m:t xml:space="preserve"> </m:t>
                          </m:r>
                          <m:sSup>
                            <m:e>
                              <m:r>
                                <a:rPr lang="zh-CN" sz="2100" dirty="0">
                                  <a:solidFill>
                                    <a:srgbClr val="123B63"/>
                                  </a:solidFill>
                                  <a:latin typeface="Cambria Math"/>
                                  <a:ea typeface="Cambria Math"/>
                                  <a:cs typeface="Cambria Math"/>
                                </a:rPr>
                                <m:t>e</m:t>
                              </m:r>
                            </m:e>
                            <m: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iωt</m:t>
                              </m:r>
                            </m:sup>
                          </m:sSup>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dt</m:t>
                          </m:r>
                        </m:e>
                      </m:nary>
                    </m:oMath>
                  </m:oMathPara>
                </a14:m>
              </a:p>
            </p:txBody>
          </p:sp>
        </mc:Choice>
      </mc:AlternateContent>
      <p:grpSp>
        <p:nvGrpSpPr>
          <p:cNvPr id="14" name="transform-pair-arrow"/>
          <p:cNvGrpSpPr/>
          <p:nvPr/>
        </p:nvGrpSpPr>
        <p:grpSpPr>
          <a:xfrm>
            <a:off x="4724400" y="3028950"/>
            <a:ext cx="304800" cy="457200"/>
            <a:chOff x="4724400" y="3028950"/>
            <a:chExt cx="304800" cy="457200"/>
          </a:xfrm>
        </p:grpSpPr>
        <p:sp>
          <p:nvSpPr>
            <p:cNvPr id="13" name="Freeform 13"/>
            <p:cNvSpPr/>
            <p:nvPr/>
          </p:nvSpPr>
          <p:spPr>
            <a:xfrm>
              <a:off x="4724400" y="3028950"/>
              <a:ext cx="304800" cy="457200"/>
            </a:xfrm>
            <a:prstGeom prst="upDownArrow">
              <a:avLst/>
            </a:prstGeom>
            <a:solidFill>
              <a:schemeClr val="accent1"/>
            </a:solidFill>
            <a:ln>
              <a:noFill/>
            </a:ln>
          </p:spPr>
        </p:sp>
      </p:grpSp>
      <mc:AlternateContent>
        <mc:Choice Requires="a14">
          <p:sp>
            <p:nvSpPr>
              <p:cNvPr id="15" name="inverse-transform"/>
              <p:cNvSpPr txBox="1">
                <a:spLocks noGrp="1"/>
              </p:cNvSpPr>
              <p:nvPr/>
            </p:nvSpPr>
            <p:spPr>
              <a:xfrm>
                <a:off x="609600" y="3543300"/>
                <a:ext cx="8534400" cy="990600"/>
              </a:xfrm>
              <a:prstGeom prst="rect">
                <a:avLst/>
              </a:prstGeom>
              <a:noFill/>
              <a:ln>
                <a:noFill/>
              </a:ln>
            </p:spPr>
            <p:txBody>
              <a:bodyPr lIns="0" tIns="0" rIns="0" bIns="0" wrap="none" anchor="ctr">
                <a:normAutofit/>
              </a:bodyPr>
              <a:lstStyle/>
              <a:p>
                <a:pPr algn="ctr"/>
                <a14:m>
                  <m:oMathPara>
                    <m:oMathParaPr>
                      <m:jc m:val="center"/>
                    </m:oMathParaPr>
                    <m:oMath>
                      <m:r>
                        <a:rPr lang="zh-CN" sz="2100" dirty="0">
                          <a:solidFill>
                            <a:srgbClr val="2E7D7B"/>
                          </a:solidFill>
                          <a:latin typeface="Cambria Math"/>
                          <a:ea typeface="Cambria Math"/>
                          <a:cs typeface="Cambria Math"/>
                        </a:rPr>
                        <m:t>f</m:t>
                      </m:r>
                      <m:d>
                        <m:dPr>
                          <m:begChr m:val="("/>
                          <m:sepChr m:val=""/>
                          <m:endChr m:val=")"/>
                          <m:grow m:val="on"/>
                          <m:ctrlPr>
                            <a:rPr lang="zh-CN" sz="2100" dirty="0">
                              <a:solidFill>
                                <a:srgbClr val="2E7D7B"/>
                              </a:solidFill>
                              <a:latin typeface="Cambria Math"/>
                              <a:ea typeface="Cambria Math"/>
                              <a:cs typeface="Cambria Math"/>
                            </a:rPr>
                          </m:ctrlPr>
                        </m:dPr>
                        <m:e>
                          <m:r>
                            <a:rPr lang="zh-CN" sz="2100" dirty="0">
                              <a:solidFill>
                                <a:srgbClr val="2E7D7B"/>
                              </a:solidFill>
                              <a:latin typeface="Cambria Math"/>
                              <a:ea typeface="Cambria Math"/>
                              <a:cs typeface="Cambria Math"/>
                            </a:rPr>
                            <m:t>t</m:t>
                          </m:r>
                        </m:e>
                      </m:d>
                      <m:r>
                        <m:rPr>
                          <m:sty m:val="p"/>
                        </m:rPr>
                        <a:rPr lang="zh-CN" sz="2100" dirty="0">
                          <a:solidFill>
                            <a:srgbClr val="2E7D7B"/>
                          </a:solidFill>
                          <a:latin typeface="Cambria Math"/>
                          <a:ea typeface="Cambria Math"/>
                          <a:cs typeface="Cambria Math"/>
                        </a:rPr>
                        <m:t>=</m:t>
                      </m:r>
                      <m:f>
                        <m:fPr>
                          <m:type m:val="bar"/>
                          <m:ctrlPr>
                            <a:rPr lang="zh-CN" sz="2100" dirty="0">
                              <a:solidFill>
                                <a:srgbClr val="2E7D7B"/>
                              </a:solidFill>
                              <a:latin typeface="Cambria Math"/>
                              <a:ea typeface="Cambria Math"/>
                              <a:cs typeface="Cambria Math"/>
                            </a:rPr>
                          </m:ctrlPr>
                        </m:fPr>
                        <m:num>
                          <m:r>
                            <a:rPr lang="zh-CN" sz="2100" dirty="0">
                              <a:solidFill>
                                <a:srgbClr val="2E7D7B"/>
                              </a:solidFill>
                              <a:latin typeface="Cambria Math"/>
                              <a:ea typeface="Cambria Math"/>
                              <a:cs typeface="Cambria Math"/>
                            </a:rPr>
                            <m:t>1</m:t>
                          </m:r>
                        </m:num>
                        <m:den>
                          <m:r>
                            <a:rPr lang="zh-CN" sz="2100" dirty="0">
                              <a:solidFill>
                                <a:srgbClr val="2E7D7B"/>
                              </a:solidFill>
                              <a:latin typeface="Cambria Math"/>
                              <a:ea typeface="Cambria Math"/>
                              <a:cs typeface="Cambria Math"/>
                            </a:rPr>
                            <m:t>2π</m:t>
                          </m:r>
                        </m:den>
                      </m:f>
                      <m:nary>
                        <m:naryPr>
                          <m:chr m:val="∫"/>
                          <m:limLoc m:val="subSup"/>
                          <m:grow m:val="off"/>
                          <m:subHide m:val="off"/>
                          <m:supHide m:val="off"/>
                          <m:ctrlPr>
                            <a:rPr lang="zh-CN" sz="2100" dirty="0">
                              <a:solidFill>
                                <a:srgbClr val="2E7D7B"/>
                              </a:solidFill>
                              <a:latin typeface="Cambria Math"/>
                              <a:ea typeface="Cambria Math"/>
                              <a:cs typeface="Cambria Math"/>
                            </a:rPr>
                          </m:ctrlPr>
                        </m:naryPr>
                        <m:sub>
                          <m:r>
                            <m:rPr>
                              <m:sty m:val="p"/>
                            </m:rPr>
                            <a:rPr lang="zh-CN" sz="2100" dirty="0">
                              <a:solidFill>
                                <a:srgbClr val="2E7D7B"/>
                              </a:solidFill>
                              <a:latin typeface="Cambria Math"/>
                              <a:ea typeface="Cambria Math"/>
                              <a:cs typeface="Cambria Math"/>
                            </a:rPr>
                            <m:t>−∞</m:t>
                          </m:r>
                        </m:sub>
                        <m:sup>
                          <m:r>
                            <m:rPr>
                              <m:sty m:val="p"/>
                            </m:rPr>
                            <a:rPr lang="zh-CN" sz="2100" dirty="0">
                              <a:solidFill>
                                <a:srgbClr val="2E7D7B"/>
                              </a:solidFill>
                              <a:latin typeface="Cambria Math"/>
                              <a:ea typeface="Cambria Math"/>
                              <a:cs typeface="Cambria Math"/>
                            </a:rPr>
                            <m:t>∞</m:t>
                          </m:r>
                        </m:sup>
                        <m:e>
                          <m:r>
                            <a:rPr lang="zh-CN" sz="2100" dirty="0">
                              <a:solidFill>
                                <a:srgbClr val="2E7D7B"/>
                              </a:solidFill>
                              <a:latin typeface="Cambria Math"/>
                              <a:ea typeface="Cambria Math"/>
                              <a:cs typeface="Cambria Math"/>
                            </a:rPr>
                            <m:t>F</m:t>
                          </m:r>
                          <m:d>
                            <m:dPr>
                              <m:begChr m:val="("/>
                              <m:sepChr m:val=""/>
                              <m:endChr m:val=")"/>
                              <m:grow m:val="on"/>
                              <m:ctrlPr>
                                <a:rPr lang="zh-CN" sz="2100" dirty="0">
                                  <a:solidFill>
                                    <a:srgbClr val="2E7D7B"/>
                                  </a:solidFill>
                                  <a:latin typeface="Cambria Math"/>
                                  <a:ea typeface="Cambria Math"/>
                                  <a:cs typeface="Cambria Math"/>
                                </a:rPr>
                              </m:ctrlPr>
                            </m:dPr>
                            <m:e>
                              <m:r>
                                <a:rPr lang="zh-CN" sz="2100" dirty="0">
                                  <a:solidFill>
                                    <a:srgbClr val="2E7D7B"/>
                                  </a:solidFill>
                                  <a:latin typeface="Cambria Math"/>
                                  <a:ea typeface="Cambria Math"/>
                                  <a:cs typeface="Cambria Math"/>
                                </a:rPr>
                                <m:t>ω</m:t>
                              </m:r>
                            </m:e>
                          </m:d>
                          <m:r>
                            <a:rPr lang="zh-CN" sz="2100" dirty="0">
                              <a:solidFill>
                                <a:srgbClr val="2E7D7B"/>
                              </a:solidFill>
                              <a:latin typeface="Cambria Math"/>
                              <a:ea typeface="Cambria Math"/>
                              <a:cs typeface="Cambria Math"/>
                            </a:rPr>
                            <m:t xml:space="preserve"> </m:t>
                          </m:r>
                          <m:sSup>
                            <m:e>
                              <m:r>
                                <a:rPr lang="zh-CN" sz="2100" dirty="0">
                                  <a:solidFill>
                                    <a:srgbClr val="2E7D7B"/>
                                  </a:solidFill>
                                  <a:latin typeface="Cambria Math"/>
                                  <a:ea typeface="Cambria Math"/>
                                  <a:cs typeface="Cambria Math"/>
                                </a:rPr>
                                <m:t>e</m:t>
                              </m:r>
                            </m:e>
                            <m:sup>
                              <m:r>
                                <a:rPr lang="zh-CN" sz="2100" dirty="0">
                                  <a:solidFill>
                                    <a:srgbClr val="2E7D7B"/>
                                  </a:solidFill>
                                  <a:latin typeface="Cambria Math"/>
                                  <a:ea typeface="Cambria Math"/>
                                  <a:cs typeface="Cambria Math"/>
                                </a:rPr>
                                <m:t>iωt</m:t>
                              </m:r>
                            </m:sup>
                          </m:sSup>
                          <m:r>
                            <a:rPr lang="zh-CN" sz="2100" dirty="0">
                              <a:solidFill>
                                <a:srgbClr val="2E7D7B"/>
                              </a:solidFill>
                              <a:latin typeface="Cambria Math"/>
                              <a:ea typeface="Cambria Math"/>
                              <a:cs typeface="Cambria Math"/>
                            </a:rPr>
                            <m:t xml:space="preserve"> </m:t>
                          </m:r>
                          <m:r>
                            <a:rPr lang="zh-CN" sz="2100" dirty="0">
                              <a:solidFill>
                                <a:srgbClr val="2E7D7B"/>
                              </a:solidFill>
                              <a:latin typeface="Cambria Math"/>
                              <a:ea typeface="Cambria Math"/>
                              <a:cs typeface="Cambria Math"/>
                            </a:rPr>
                            <m:t>dω</m:t>
                          </m:r>
                        </m:e>
                      </m:nary>
                    </m:oMath>
                  </m:oMathPara>
                </a14:m>
              </a:p>
            </p:txBody>
          </p:sp>
        </mc:Choice>
      </mc:AlternateContent>
      <p:grpSp>
        <p:nvGrpSpPr>
          <p:cNvPr id="23" name="pair-reading"/>
          <p:cNvGrpSpPr/>
          <p:nvPr/>
        </p:nvGrpSpPr>
        <p:grpSpPr>
          <a:xfrm>
            <a:off x="600456" y="4778692"/>
            <a:ext cx="5470398" cy="1029272"/>
            <a:chOff x="600456" y="4778692"/>
            <a:chExt cx="5470398" cy="1029272"/>
          </a:xfrm>
        </p:grpSpPr>
        <p:grpSp>
          <p:nvGrpSpPr>
            <p:cNvPr id="20" name="Group 20"/>
            <p:cNvGrpSpPr/>
            <p:nvPr/>
          </p:nvGrpSpPr>
          <p:grpSpPr>
            <a:xfrm>
              <a:off x="635794" y="4797425"/>
              <a:ext cx="157163" cy="139701"/>
              <a:chOff x="635794" y="4797425"/>
              <a:chExt cx="157163" cy="139701"/>
            </a:xfrm>
          </p:grpSpPr>
          <p:sp>
            <p:nvSpPr>
              <p:cNvPr id="16" name="Freeform 16"/>
              <p:cNvSpPr/>
              <p:nvPr/>
            </p:nvSpPr>
            <p:spPr>
              <a:xfrm>
                <a:off x="635794" y="4823619"/>
                <a:ext cx="157163" cy="9525"/>
              </a:xfrm>
              <a:custGeom>
                <a:avLst/>
                <a:gdLst/>
                <a:ahLst/>
                <a:cxnLst/>
                <a:rect l="l" t="t" r="r" b="b"/>
                <a:pathLst>
                  <a:path w="157163" h="9525">
                    <a:moveTo>
                      <a:pt x="157163" y="0"/>
                    </a:moveTo>
                    <a:lnTo>
                      <a:pt x="0" y="0"/>
                    </a:lnTo>
                  </a:path>
                </a:pathLst>
              </a:custGeom>
              <a:noFill/>
              <a:ln w="17463">
                <a:solidFill>
                  <a:srgbClr val="5A6472"/>
                </a:solidFill>
              </a:ln>
            </p:spPr>
          </p:sp>
          <p:sp>
            <p:nvSpPr>
              <p:cNvPr id="17" name="Freeform 17"/>
              <p:cNvSpPr/>
              <p:nvPr/>
            </p:nvSpPr>
            <p:spPr>
              <a:xfrm>
                <a:off x="766763" y="4797425"/>
                <a:ext cx="26194" cy="52388"/>
              </a:xfrm>
              <a:custGeom>
                <a:avLst/>
                <a:gdLst/>
                <a:ahLst/>
                <a:cxnLst/>
                <a:rect l="l" t="t" r="r" b="b"/>
                <a:pathLst>
                  <a:path w="26194" h="52388">
                    <a:moveTo>
                      <a:pt x="0" y="52388"/>
                    </a:moveTo>
                    <a:lnTo>
                      <a:pt x="26194" y="26194"/>
                    </a:lnTo>
                    <a:lnTo>
                      <a:pt x="0" y="0"/>
                    </a:lnTo>
                  </a:path>
                </a:pathLst>
              </a:custGeom>
              <a:noFill/>
              <a:ln w="17463">
                <a:solidFill>
                  <a:srgbClr val="5A6472"/>
                </a:solidFill>
              </a:ln>
            </p:spPr>
          </p:sp>
          <p:sp>
            <p:nvSpPr>
              <p:cNvPr id="18" name="Freeform 18"/>
              <p:cNvSpPr/>
              <p:nvPr/>
            </p:nvSpPr>
            <p:spPr>
              <a:xfrm>
                <a:off x="635794" y="4884738"/>
                <a:ext cx="26194" cy="52388"/>
              </a:xfrm>
              <a:custGeom>
                <a:avLst/>
                <a:gdLst/>
                <a:ahLst/>
                <a:cxnLst/>
                <a:rect l="l" t="t" r="r" b="b"/>
                <a:pathLst>
                  <a:path w="26194" h="52388">
                    <a:moveTo>
                      <a:pt x="26194" y="52388"/>
                    </a:moveTo>
                    <a:lnTo>
                      <a:pt x="0" y="26194"/>
                    </a:lnTo>
                    <a:lnTo>
                      <a:pt x="26194" y="0"/>
                    </a:lnTo>
                  </a:path>
                </a:pathLst>
              </a:custGeom>
              <a:noFill/>
              <a:ln w="17463">
                <a:solidFill>
                  <a:srgbClr val="5A6472"/>
                </a:solidFill>
              </a:ln>
            </p:spPr>
          </p:sp>
          <p:sp>
            <p:nvSpPr>
              <p:cNvPr id="19" name="Freeform 19"/>
              <p:cNvSpPr/>
              <p:nvPr/>
            </p:nvSpPr>
            <p:spPr>
              <a:xfrm>
                <a:off x="635794" y="4910931"/>
                <a:ext cx="157163" cy="9525"/>
              </a:xfrm>
              <a:custGeom>
                <a:avLst/>
                <a:gdLst/>
                <a:ahLst/>
                <a:cxnLst/>
                <a:rect l="l" t="t" r="r" b="b"/>
                <a:pathLst>
                  <a:path w="157163" h="9525">
                    <a:moveTo>
                      <a:pt x="0" y="0"/>
                    </a:moveTo>
                    <a:lnTo>
                      <a:pt x="157163" y="0"/>
                    </a:lnTo>
                  </a:path>
                </a:pathLst>
              </a:custGeom>
              <a:noFill/>
              <a:ln w="17463">
                <a:solidFill>
                  <a:srgbClr val="5A6472"/>
                </a:solidFill>
              </a:ln>
            </p:spPr>
          </p:sp>
        </p:grpSp>
        <p:sp>
          <p:nvSpPr>
            <p:cNvPr id="21" name="TextBox 21"/>
            <p:cNvSpPr txBox="1"/>
            <p:nvPr/>
          </p:nvSpPr>
          <p:spPr>
            <a:xfrm>
              <a:off x="888492" y="4778692"/>
              <a:ext cx="211843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一本可逆的字典:两个方向</a:t>
              </a:r>
            </a:p>
          </p:txBody>
        </p:sp>
        <mc:AlternateContent>
          <mc:Choice Requires="a14">
            <p:sp>
              <p:nvSpPr>
                <p:cNvPr id="22" name="TextBox 22"/>
                <p:cNvSpPr txBox="1"/>
                <p:nvPr/>
              </p:nvSpPr>
              <p:spPr>
                <a:xfrm>
                  <a:off x="600456" y="5090160"/>
                  <a:ext cx="5470398" cy="71780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上式把 </a:t>
                  </a:r>
                  <a14:m>
                    <m:oMath>
                      <m:r>
                        <a:rPr lang="zh-CN" sz="1800" dirty="0">
                          <a:solidFill>
                            <a:schemeClr val="dk1"/>
                          </a:solidFill>
                          <a:latin typeface="Cambria Math"/>
                          <a:ea typeface="Cambria Math"/>
                          <a:cs typeface="Cambria Math"/>
                        </a:rPr>
                        <m:t>f</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t</m:t>
                          </m:r>
                        </m:e>
                      </m:d>
                    </m:oMath>
                  </a14:m>
                  <a:r>
                    <a:rPr lang="zh-CN" sz="1800" dirty="0">
                      <a:solidFill>
                        <a:schemeClr val="dk1"/>
                      </a:solidFill>
                      <a:latin typeface="+mn-lt"/>
                      <a:ea typeface="+mn-ea"/>
                      <a:cs typeface="+mn-cs"/>
                    </a:rPr>
                    <a:t xml:space="preserve"> 读成频率分布 </a:t>
                  </a:r>
                  <a14:m>
                    <m:oMath>
                      <m:r>
                        <a:rPr lang="zh-CN" sz="1800" dirty="0">
                          <a:solidFill>
                            <a:schemeClr val="dk1"/>
                          </a:solidFill>
                          <a:latin typeface="Cambria Math"/>
                          <a:ea typeface="Cambria Math"/>
                          <a:cs typeface="Cambria Math"/>
                        </a:rPr>
                        <m:t>F</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ω</m:t>
                          </m:r>
                        </m:e>
                      </m:d>
                    </m:oMath>
                  </a14:m>
                  <a:r>
                    <a:rPr lang="zh-CN" sz="1800" dirty="0">
                      <a:solidFill>
                        <a:schemeClr val="dk1"/>
                      </a:solidFill>
                      <a:latin typeface="+mn-lt"/>
                      <a:ea typeface="+mn-ea"/>
                      <a:cs typeface="+mn-cs"/>
                    </a:rPr>
                    <a:t>,下式把它读回时间。</a:t>
                  </a:r>
                  <a:br/>
                  <a:r>
                    <a:rPr lang="zh-CN" sz="1800" dirty="0">
                      <a:solidFill>
                        <a:schemeClr val="dk1"/>
                      </a:solidFill>
                      <a:latin typeface="+mn-lt"/>
                      <a:ea typeface="+mn-ea"/>
                      <a:cs typeface="+mn-cs"/>
                    </a:rPr>
                    <a:t>同一份信息,两种写法,</a:t>
                  </a:r>
                  <a:r>
                    <a:rPr lang="zh-CN" sz="1800" b="1" dirty="0">
                      <a:solidFill>
                        <a:schemeClr val="accent1"/>
                      </a:solidFill>
                      <a:latin typeface="+mn-lt"/>
                      <a:ea typeface="+mn-ea"/>
                      <a:cs typeface="+mn-cs"/>
                    </a:rPr>
                    <a:t>来回都不丢东西</a:t>
                  </a:r>
                  <a:r>
                    <a:rPr lang="zh-CN" sz="1800" dirty="0">
                      <a:solidFill>
                        <a:schemeClr val="dk1"/>
                      </a:solidFill>
                      <a:latin typeface="+mn-lt"/>
                      <a:ea typeface="+mn-ea"/>
                      <a:cs typeface="+mn-cs"/>
                    </a:rPr>
                    <a:t>。</a:t>
                  </a:r>
                </a:p>
              </p:txBody>
            </p:sp>
          </mc:Choice>
        </mc:AlternateContent>
      </p:grpSp>
      <p:grpSp>
        <p:nvGrpSpPr>
          <p:cNvPr id="25" name="convention-note"/>
          <p:cNvGrpSpPr/>
          <p:nvPr/>
        </p:nvGrpSpPr>
        <p:grpSpPr>
          <a:xfrm>
            <a:off x="600456" y="5849798"/>
            <a:ext cx="6864858" cy="758266"/>
            <a:chOff x="600456" y="5849798"/>
            <a:chExt cx="6864858" cy="758266"/>
          </a:xfrm>
        </p:grpSpPr>
        <mc:AlternateContent>
          <mc:Choice Requires="a14">
            <p:sp>
              <p:nvSpPr>
                <p:cNvPr id="24" name="TextBox 24"/>
                <p:cNvSpPr txBox="1"/>
                <p:nvPr/>
              </p:nvSpPr>
              <p:spPr>
                <a:xfrm>
                  <a:off x="600456" y="5849798"/>
                  <a:ext cx="6864858" cy="758266"/>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约定要先说清:</a:t>
                  </a:r>
                  <a14:m>
                    <m:oMath>
                      <m:r>
                        <a:rPr lang="zh-CN" sz="1800" dirty="0">
                          <a:solidFill>
                            <a:schemeClr val="dk1"/>
                          </a:solidFill>
                          <a:latin typeface="Cambria Math"/>
                          <a:ea typeface="Cambria Math"/>
                          <a:cs typeface="Cambria Math"/>
                        </a:rPr>
                        <m:t>1</m:t>
                      </m:r>
                      <m:r>
                        <m:rPr>
                          <m:sty m:val="p"/>
                        </m:rPr>
                        <a:rPr lang="zh-CN" sz="1800" dirty="0">
                          <a:solidFill>
                            <a:schemeClr val="dk1"/>
                          </a:solidFill>
                          <a:latin typeface="Cambria Math"/>
                          <a:ea typeface="Cambria Math"/>
                          <a:cs typeface="Cambria Math"/>
                        </a:rPr>
                        <m:t>/</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2π</m:t>
                          </m:r>
                        </m:e>
                      </m:d>
                    </m:oMath>
                  </a14:m>
                  <a:r>
                    <a:rPr lang="zh-CN" sz="1800" dirty="0">
                      <a:solidFill>
                        <a:schemeClr val="dk1"/>
                      </a:solidFill>
                      <a:latin typeface="+mn-lt"/>
                      <a:ea typeface="+mn-ea"/>
                      <a:cs typeface="+mn-cs"/>
                    </a:rPr>
                    <a:t xml:space="preserve"> 放哪一侧、指数写 </a:t>
                  </a:r>
                  <a14:m>
                    <m:oMath>
                      <m:sSup>
                        <m:e>
                          <m:r>
                            <a:rPr lang="zh-CN" sz="1800" dirty="0">
                              <a:solidFill>
                                <a:schemeClr val="dk1"/>
                              </a:solidFill>
                              <a:latin typeface="Cambria Math"/>
                              <a:ea typeface="Cambria Math"/>
                              <a:cs typeface="Cambria Math"/>
                            </a:rPr>
                            <m:t>e</m:t>
                          </m:r>
                        </m:e>
                        <m:sup>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iωt</m:t>
                          </m:r>
                        </m:sup>
                      </m:sSup>
                    </m:oMath>
                  </a14:m>
                  <a:r>
                    <a:rPr lang="zh-CN" sz="1800" dirty="0">
                      <a:solidFill>
                        <a:schemeClr val="dk1"/>
                      </a:solidFill>
                      <a:latin typeface="+mn-lt"/>
                      <a:ea typeface="+mn-ea"/>
                      <a:cs typeface="+mn-cs"/>
                    </a:rPr>
                    <a:t xml:space="preserve"> 还是 </a:t>
                  </a:r>
                  <a14:m>
                    <m:oMath>
                      <m:sSup>
                        <m:e>
                          <m:r>
                            <a:rPr lang="zh-CN" sz="1800" dirty="0">
                              <a:solidFill>
                                <a:schemeClr val="dk1"/>
                              </a:solidFill>
                              <a:latin typeface="Cambria Math"/>
                              <a:ea typeface="Cambria Math"/>
                              <a:cs typeface="Cambria Math"/>
                            </a:rPr>
                            <m:t>e</m:t>
                          </m:r>
                        </m:e>
                        <m:sup>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2πift</m:t>
                          </m:r>
                        </m:sup>
                      </m:sSup>
                    </m:oMath>
                  </a14:m>
                  <a:r>
                    <a:rPr lang="zh-CN" sz="1800" dirty="0">
                      <a:solidFill>
                        <a:schemeClr val="dk1"/>
                      </a:solidFill>
                      <a:latin typeface="+mn-lt"/>
                      <a:ea typeface="+mn-ea"/>
                      <a:cs typeface="+mn-cs"/>
                    </a:rPr>
                    <a:t>,</a:t>
                  </a:r>
                  <a:br/>
                  <a:r>
                    <a:rPr lang="zh-CN" sz="1800" dirty="0">
                      <a:solidFill>
                        <a:schemeClr val="dk1"/>
                      </a:solidFill>
                      <a:latin typeface="+mn-lt"/>
                      <a:ea typeface="+mn-ea"/>
                      <a:cs typeface="+mn-cs"/>
                    </a:rPr>
                    <a:t>各教材不同——本课按 NIST DLMF §1.14 的写法,换书时先核对约定。</a:t>
                  </a:r>
                </a:p>
              </p:txBody>
            </p:sp>
          </mc:Choice>
        </mc:AlternateContent>
      </p:grpSp>
      <p:grpSp>
        <p:nvGrpSpPr>
          <p:cNvPr id="28" name="page-footer"/>
          <p:cNvGrpSpPr/>
          <p:nvPr/>
        </p:nvGrpSpPr>
        <p:grpSpPr>
          <a:xfrm>
            <a:off x="603504" y="6880860"/>
            <a:ext cx="8546592" cy="234696"/>
            <a:chOff x="603504" y="6880860"/>
            <a:chExt cx="8546592" cy="234696"/>
          </a:xfrm>
        </p:grpSpPr>
        <p:sp>
          <p:nvSpPr>
            <p:cNvPr id="26" name="TextBox 26"/>
            <p:cNvSpPr txBox="1"/>
            <p:nvPr/>
          </p:nvSpPr>
          <p:spPr>
            <a:xfrm>
              <a:off x="603504" y="6880860"/>
              <a:ext cx="620834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来源:NIST Digital Library of Mathematical Functions §1.14(F010、F011)</a:t>
              </a:r>
            </a:p>
          </p:txBody>
        </p:sp>
        <p:sp>
          <p:nvSpPr>
            <p:cNvPr id="27" name="TextBox 27"/>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par>
                          <p:cTn id="8" fill="hold">
                            <p:stCondLst>
                              <p:cond delay="7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700"/>
                            </p:stCondLst>
                            <p:childTnLst>
                              <p:par>
                                <p:cTn id="13" presetID="10" presetClass="entr" presetSubtype="0" fill="hold" grpId="0" nodeType="afterEffect">
                                  <p:stCondLst>
                                    <p:cond delay="50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par>
                          <p:cTn id="16" fill="hold">
                            <p:stCondLst>
                              <p:cond delay="2700"/>
                            </p:stCondLst>
                            <p:childTnLst>
                              <p:par>
                                <p:cTn id="17" presetID="10" presetClass="entr" presetSubtype="0" fill="hold" grpId="0" nodeType="afterEffect">
                                  <p:stCondLst>
                                    <p:cond delay="5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grpSp>
        <p:nvGrpSpPr>
          <p:cNvPr id="5" name="section-kicker"/>
          <p:cNvGrpSpPr/>
          <p:nvPr/>
        </p:nvGrpSpPr>
        <p:grpSpPr>
          <a:xfrm>
            <a:off x="602742" y="552450"/>
            <a:ext cx="1909267" cy="404051"/>
            <a:chOff x="602742" y="552450"/>
            <a:chExt cx="1909267" cy="404051"/>
          </a:xfrm>
        </p:grpSpPr>
        <p:sp>
          <p:nvSpPr>
            <p:cNvPr id="3" name="Rectangle 3"/>
            <p:cNvSpPr/>
            <p:nvPr/>
          </p:nvSpPr>
          <p:spPr>
            <a:xfrm>
              <a:off x="609600" y="552450"/>
              <a:ext cx="266700" cy="28575"/>
            </a:xfrm>
            <a:prstGeom prst="rect">
              <a:avLst/>
            </a:prstGeom>
            <a:solidFill>
              <a:schemeClr val="accent2"/>
            </a:solidFill>
            <a:ln>
              <a:noFill/>
            </a:ln>
          </p:spPr>
        </p:sp>
        <p:sp>
          <p:nvSpPr>
            <p:cNvPr id="4" name="TextBox 4"/>
            <p:cNvSpPr txBox="1"/>
            <p:nvPr/>
          </p:nvSpPr>
          <p:spPr>
            <a:xfrm>
              <a:off x="602742" y="692468"/>
              <a:ext cx="19092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3 节 · 从级数到变换</a:t>
              </a:r>
            </a:p>
          </p:txBody>
        </p:sp>
      </p:grpSp>
      <p:grpSp>
        <p:nvGrpSpPr>
          <p:cNvPr id="7" name="page-title"/>
          <p:cNvGrpSpPr/>
          <p:nvPr/>
        </p:nvGrpSpPr>
        <p:grpSpPr>
          <a:xfrm>
            <a:off x="593598" y="1050608"/>
            <a:ext cx="4310939" cy="616077"/>
            <a:chOff x="593598" y="1050608"/>
            <a:chExt cx="4310939" cy="616077"/>
          </a:xfrm>
        </p:grpSpPr>
        <p:sp>
          <p:nvSpPr>
            <p:cNvPr id="6" name="TextBox 6"/>
            <p:cNvSpPr txBox="1"/>
            <p:nvPr/>
          </p:nvSpPr>
          <p:spPr>
            <a:xfrm>
              <a:off x="593598" y="1050608"/>
              <a:ext cx="4310939"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四对变换,记住就能用</a:t>
              </a:r>
            </a:p>
          </p:txBody>
        </p:sp>
      </p:grpSp>
      <p:grpSp>
        <p:nvGrpSpPr>
          <p:cNvPr id="29" name="transform-pairs"/>
          <p:cNvGrpSpPr/>
          <p:nvPr/>
        </p:nvGrpSpPr>
        <p:grpSpPr>
          <a:xfrm>
            <a:off x="609600" y="1962150"/>
            <a:ext cx="8534400" cy="2790825"/>
            <a:chOff x="609600" y="1962150"/>
            <a:chExt cx="8534400" cy="2790825"/>
          </a:xfrm>
        </p:grpSpPr>
        <p:sp>
          <p:nvSpPr>
            <p:cNvPr id="8" name="Rectangle 8"/>
            <p:cNvSpPr/>
            <p:nvPr/>
          </p:nvSpPr>
          <p:spPr>
            <a:xfrm>
              <a:off x="609600" y="1962150"/>
              <a:ext cx="8534400" cy="419100"/>
            </a:xfrm>
            <a:prstGeom prst="rect">
              <a:avLst/>
            </a:prstGeom>
            <a:solidFill>
              <a:schemeClr val="lt2"/>
            </a:solidFill>
            <a:ln>
              <a:noFill/>
            </a:ln>
          </p:spPr>
        </p:sp>
        <p:sp>
          <p:nvSpPr>
            <p:cNvPr id="9" name="TextBox 9"/>
            <p:cNvSpPr txBox="1"/>
            <p:nvPr/>
          </p:nvSpPr>
          <p:spPr>
            <a:xfrm>
              <a:off x="754380" y="2085975"/>
              <a:ext cx="97917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时域 f(t)</a:t>
              </a:r>
            </a:p>
          </p:txBody>
        </p:sp>
        <p:sp>
          <p:nvSpPr>
            <p:cNvPr id="10" name="TextBox 10"/>
            <p:cNvSpPr txBox="1"/>
            <p:nvPr/>
          </p:nvSpPr>
          <p:spPr>
            <a:xfrm>
              <a:off x="3383280" y="2085975"/>
              <a:ext cx="1039178"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频域 F(ω)</a:t>
              </a:r>
            </a:p>
          </p:txBody>
        </p:sp>
        <p:sp>
          <p:nvSpPr>
            <p:cNvPr id="11" name="TextBox 11"/>
            <p:cNvSpPr txBox="1"/>
            <p:nvPr/>
          </p:nvSpPr>
          <p:spPr>
            <a:xfrm>
              <a:off x="6050280" y="2085975"/>
              <a:ext cx="41910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读法</a:t>
              </a:r>
            </a:p>
          </p:txBody>
        </p:sp>
        <p:sp>
          <p:nvSpPr>
            <p:cNvPr id="12" name="Line 12"/>
            <p:cNvSpPr/>
            <p:nvPr/>
          </p:nvSpPr>
          <p:spPr>
            <a:xfrm>
              <a:off x="609600" y="2381250"/>
              <a:ext cx="8534400" cy="9525"/>
            </a:xfrm>
            <a:custGeom>
              <a:avLst/>
              <a:gdLst/>
              <a:ahLst/>
              <a:cxnLst/>
              <a:rect l="l" t="t" r="r" b="b"/>
              <a:pathLst>
                <a:path w="8534400" h="9525">
                  <a:moveTo>
                    <a:pt x="0" y="0"/>
                  </a:moveTo>
                  <a:lnTo>
                    <a:pt x="8534400" y="0"/>
                  </a:lnTo>
                </a:path>
              </a:pathLst>
            </a:custGeom>
            <a:noFill/>
            <a:ln w="14288">
              <a:solidFill>
                <a:schemeClr val="accent1"/>
              </a:solidFill>
            </a:ln>
          </p:spPr>
        </p:sp>
        <mc:AlternateContent xmlns:mc="http://schemas.openxmlformats.org/markup-compatibility/2006">
          <mc:Choice xmlns:a14="http://schemas.microsoft.com/office/drawing/2010/main" Requires="a14">
            <p:sp>
              <p:nvSpPr>
                <p:cNvPr id="13" name="TextBox 13"/>
                <p:cNvSpPr txBox="1"/>
                <p:nvPr/>
              </p:nvSpPr>
              <p:spPr>
                <a:xfrm>
                  <a:off x="752856" y="2556510"/>
                  <a:ext cx="1004011" cy="37490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ty m:val="p"/>
                        </m:rPr>
                        <a:rPr lang="zh-CN" sz="1800" dirty="0">
                          <a:solidFill>
                            <a:schemeClr val="dk1"/>
                          </a:solidFill>
                          <a:latin typeface="Cambria Math"/>
                          <a:ea typeface="Cambria Math"/>
                          <a:cs typeface="Cambria Math"/>
                        </a:rPr>
                        <m:t>rect</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t</m:t>
                          </m:r>
                        </m:e>
                      </m:d>
                    </m:oMath>
                  </a14:m>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3381756" y="2556510"/>
                  <a:ext cx="1362456" cy="37490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ty m:val="p"/>
                        </m:rPr>
                        <a:rPr lang="zh-CN" sz="1800" dirty="0">
                          <a:solidFill>
                            <a:schemeClr val="accent2"/>
                          </a:solidFill>
                          <a:latin typeface="Cambria Math"/>
                          <a:ea typeface="Cambria Math"/>
                          <a:cs typeface="Cambria Math"/>
                        </a:rPr>
                        <m:t>sinc</m:t>
                      </m:r>
                      <m:d>
                        <m:dPr>
                          <m:begChr m:val="("/>
                          <m:sepChr m:val=""/>
                          <m:endChr m:val=")"/>
                          <m:grow m:val="on"/>
                          <m:ctrlPr>
                            <a:rPr lang="zh-CN" sz="1800" dirty="0">
                              <a:solidFill>
                                <a:schemeClr val="accent2"/>
                              </a:solidFill>
                              <a:latin typeface="Cambria Math"/>
                              <a:ea typeface="Cambria Math"/>
                              <a:cs typeface="Cambria Math"/>
                            </a:rPr>
                          </m:ctrlPr>
                        </m:dPr>
                        <m:e>
                          <m:r>
                            <a:rPr lang="zh-CN" sz="1800" dirty="0">
                              <a:solidFill>
                                <a:schemeClr val="accent2"/>
                              </a:solidFill>
                              <a:latin typeface="Cambria Math"/>
                              <a:ea typeface="Cambria Math"/>
                              <a:cs typeface="Cambria Math"/>
                            </a:rPr>
                            <m:t>ω</m:t>
                          </m:r>
                          <m:r>
                            <m:rPr>
                              <m:sty m:val="p"/>
                            </m:rPr>
                            <a:rPr lang="zh-CN" sz="1800" dirty="0">
                              <a:solidFill>
                                <a:schemeClr val="accent2"/>
                              </a:solidFill>
                              <a:latin typeface="Cambria Math"/>
                              <a:ea typeface="Cambria Math"/>
                              <a:cs typeface="Cambria Math"/>
                            </a:rPr>
                            <m:t>/</m:t>
                          </m:r>
                          <m:r>
                            <a:rPr lang="zh-CN" sz="1800" dirty="0">
                              <a:solidFill>
                                <a:schemeClr val="accent2"/>
                              </a:solidFill>
                              <a:latin typeface="Cambria Math"/>
                              <a:ea typeface="Cambria Math"/>
                              <a:cs typeface="Cambria Math"/>
                            </a:rPr>
                            <m:t>2π</m:t>
                          </m:r>
                        </m:e>
                      </m:d>
                    </m:oMath>
                  </a14:m>
                </a:p>
              </p:txBody>
            </p:sp>
          </mc:Choice>
        </mc:AlternateContent>
        <p:sp>
          <p:nvSpPr>
            <p:cNvPr id="15" name="TextBox 15"/>
            <p:cNvSpPr txBox="1"/>
            <p:nvPr/>
          </p:nvSpPr>
          <p:spPr>
            <a:xfrm>
              <a:off x="6048756" y="2567940"/>
              <a:ext cx="185531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窗越窄,频谱越宽</a:t>
              </a:r>
            </a:p>
          </p:txBody>
        </p:sp>
        <p:sp>
          <p:nvSpPr>
            <p:cNvPr id="16" name="Line 16"/>
            <p:cNvSpPr/>
            <p:nvPr/>
          </p:nvSpPr>
          <p:spPr>
            <a:xfrm>
              <a:off x="609600" y="2971800"/>
              <a:ext cx="8534400" cy="9525"/>
            </a:xfrm>
            <a:custGeom>
              <a:avLst/>
              <a:gdLst/>
              <a:ahLst/>
              <a:cxnLst/>
              <a:rect l="l" t="t" r="r" b="b"/>
              <a:pathLst>
                <a:path w="8534400" h="9525">
                  <a:moveTo>
                    <a:pt x="0" y="0"/>
                  </a:moveTo>
                  <a:lnTo>
                    <a:pt x="8534400" y="0"/>
                  </a:lnTo>
                </a:path>
              </a:pathLst>
            </a:custGeom>
            <a:noFill/>
            <a:ln w="9525">
              <a:solidFill>
                <a:schemeClr val="accent6"/>
              </a:solidFill>
            </a:ln>
          </p:spPr>
        </p:sp>
        <mc:AlternateContent xmlns:mc="http://schemas.openxmlformats.org/markup-compatibility/2006">
          <mc:Choice xmlns:a14="http://schemas.microsoft.com/office/drawing/2010/main" Requires="a14">
            <p:sp>
              <p:nvSpPr>
                <p:cNvPr id="17" name="TextBox 17"/>
                <p:cNvSpPr txBox="1"/>
                <p:nvPr/>
              </p:nvSpPr>
              <p:spPr>
                <a:xfrm>
                  <a:off x="752856" y="3074425"/>
                  <a:ext cx="722376" cy="436109"/>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p>
                        <m:e>
                          <m:r>
                            <a:rPr lang="zh-CN" sz="1800" dirty="0">
                              <a:solidFill>
                                <a:schemeClr val="dk1"/>
                              </a:solidFill>
                              <a:latin typeface="Cambria Math"/>
                              <a:ea typeface="Cambria Math"/>
                              <a:cs typeface="Cambria Math"/>
                            </a:rPr>
                            <m:t>e</m:t>
                          </m:r>
                        </m:e>
                        <m:sup>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π</m:t>
                          </m:r>
                          <m:sSup>
                            <m:e>
                              <m:r>
                                <a:rPr lang="zh-CN" sz="1800" dirty="0">
                                  <a:solidFill>
                                    <a:schemeClr val="dk1"/>
                                  </a:solidFill>
                                  <a:latin typeface="Cambria Math"/>
                                  <a:ea typeface="Cambria Math"/>
                                  <a:cs typeface="Cambria Math"/>
                                </a:rPr>
                                <m:t>t</m:t>
                              </m:r>
                            </m:e>
                            <m:sup>
                              <m:r>
                                <a:rPr lang="zh-CN" sz="1800" dirty="0">
                                  <a:solidFill>
                                    <a:schemeClr val="dk1"/>
                                  </a:solidFill>
                                  <a:latin typeface="Cambria Math"/>
                                  <a:ea typeface="Cambria Math"/>
                                  <a:cs typeface="Cambria Math"/>
                                </a:rPr>
                                <m:t>2</m:t>
                              </m:r>
                            </m:sup>
                          </m:sSup>
                        </m:sup>
                      </m:sSup>
                    </m:oMath>
                  </a14:m>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3381756" y="3074425"/>
                  <a:ext cx="722376" cy="436109"/>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p>
                        <m:e>
                          <m:r>
                            <a:rPr lang="zh-CN" sz="1800" dirty="0">
                              <a:solidFill>
                                <a:schemeClr val="accent2"/>
                              </a:solidFill>
                              <a:latin typeface="Cambria Math"/>
                              <a:ea typeface="Cambria Math"/>
                              <a:cs typeface="Cambria Math"/>
                            </a:rPr>
                            <m:t>e</m:t>
                          </m:r>
                        </m:e>
                        <m:sup>
                          <m:r>
                            <m:rPr>
                              <m:sty m:val="p"/>
                            </m:rPr>
                            <a:rPr lang="zh-CN" sz="1800" dirty="0">
                              <a:solidFill>
                                <a:schemeClr val="accent2"/>
                              </a:solidFill>
                              <a:latin typeface="Cambria Math"/>
                              <a:ea typeface="Cambria Math"/>
                              <a:cs typeface="Cambria Math"/>
                            </a:rPr>
                            <m:t>−</m:t>
                          </m:r>
                          <m:r>
                            <a:rPr lang="zh-CN" sz="1800" dirty="0">
                              <a:solidFill>
                                <a:schemeClr val="accent2"/>
                              </a:solidFill>
                              <a:latin typeface="Cambria Math"/>
                              <a:ea typeface="Cambria Math"/>
                              <a:cs typeface="Cambria Math"/>
                            </a:rPr>
                            <m:t>π</m:t>
                          </m:r>
                          <m:sSup>
                            <m:e>
                              <m:r>
                                <a:rPr lang="zh-CN" sz="1800" dirty="0">
                                  <a:solidFill>
                                    <a:schemeClr val="accent2"/>
                                  </a:solidFill>
                                  <a:latin typeface="Cambria Math"/>
                                  <a:ea typeface="Cambria Math"/>
                                  <a:cs typeface="Cambria Math"/>
                                </a:rPr>
                                <m:t>ω</m:t>
                              </m:r>
                            </m:e>
                            <m:sup>
                              <m:r>
                                <a:rPr lang="zh-CN" sz="1800" dirty="0">
                                  <a:solidFill>
                                    <a:schemeClr val="accent2"/>
                                  </a:solidFill>
                                  <a:latin typeface="Cambria Math"/>
                                  <a:ea typeface="Cambria Math"/>
                                  <a:cs typeface="Cambria Math"/>
                                </a:rPr>
                                <m:t>2</m:t>
                              </m:r>
                            </m:sup>
                          </m:sSup>
                        </m:sup>
                      </m:sSup>
                    </m:oMath>
                  </a14:m>
                </a:p>
              </p:txBody>
            </p:sp>
          </mc:Choice>
        </mc:AlternateContent>
        <p:sp>
          <p:nvSpPr>
            <p:cNvPr id="19" name="TextBox 19"/>
            <p:cNvSpPr txBox="1"/>
            <p:nvPr/>
          </p:nvSpPr>
          <p:spPr>
            <a:xfrm>
              <a:off x="6048756" y="31584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变过去还是高斯</a:t>
              </a:r>
            </a:p>
          </p:txBody>
        </p:sp>
        <p:sp>
          <p:nvSpPr>
            <p:cNvPr id="20" name="Line 20"/>
            <p:cNvSpPr/>
            <p:nvPr/>
          </p:nvSpPr>
          <p:spPr>
            <a:xfrm>
              <a:off x="609600" y="3562350"/>
              <a:ext cx="8534400" cy="9525"/>
            </a:xfrm>
            <a:custGeom>
              <a:avLst/>
              <a:gdLst/>
              <a:ahLst/>
              <a:cxnLst/>
              <a:rect l="l" t="t" r="r" b="b"/>
              <a:pathLst>
                <a:path w="8534400" h="9525">
                  <a:moveTo>
                    <a:pt x="0" y="0"/>
                  </a:moveTo>
                  <a:lnTo>
                    <a:pt x="8534400" y="0"/>
                  </a:lnTo>
                </a:path>
              </a:pathLst>
            </a:custGeom>
            <a:noFill/>
            <a:ln w="9525">
              <a:solidFill>
                <a:schemeClr val="accent6"/>
              </a:solidFill>
            </a:ln>
          </p:spPr>
        </p:sp>
        <mc:AlternateContent xmlns:mc="http://schemas.openxmlformats.org/markup-compatibility/2006">
          <mc:Choice xmlns:a14="http://schemas.microsoft.com/office/drawing/2010/main" Requires="a14">
            <p:sp>
              <p:nvSpPr>
                <p:cNvPr id="21" name="TextBox 21"/>
                <p:cNvSpPr txBox="1"/>
                <p:nvPr/>
              </p:nvSpPr>
              <p:spPr>
                <a:xfrm>
                  <a:off x="752856" y="3737610"/>
                  <a:ext cx="581558" cy="37490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zh-CN" sz="1800" dirty="0">
                          <a:solidFill>
                            <a:schemeClr val="dk1"/>
                          </a:solidFill>
                          <a:latin typeface="Cambria Math"/>
                          <a:ea typeface="Cambria Math"/>
                          <a:cs typeface="Cambria Math"/>
                        </a:rPr>
                        <m:t>δ</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t</m:t>
                          </m:r>
                        </m:e>
                      </m:d>
                    </m:oMath>
                  </a14:m>
                </a:p>
              </p:txBody>
            </p:sp>
          </mc:Choice>
        </mc:AlternateContent>
        <mc:AlternateContent xmlns:mc="http://schemas.openxmlformats.org/markup-compatibility/2006">
          <mc:Choice xmlns:a14="http://schemas.microsoft.com/office/drawing/2010/main" Requires="a14">
            <p:sp>
              <p:nvSpPr>
                <p:cNvPr id="22" name="TextBox 22"/>
                <p:cNvSpPr txBox="1"/>
                <p:nvPr/>
              </p:nvSpPr>
              <p:spPr>
                <a:xfrm>
                  <a:off x="3381756" y="3749040"/>
                  <a:ext cx="159106" cy="35204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zh-CN" sz="1800" dirty="0">
                          <a:solidFill>
                            <a:schemeClr val="accent2"/>
                          </a:solidFill>
                          <a:latin typeface="Cambria Math"/>
                          <a:ea typeface="Cambria Math"/>
                          <a:cs typeface="Cambria Math"/>
                        </a:rPr>
                        <m:t>1</m:t>
                      </m:r>
                    </m:oMath>
                  </a14:m>
                </a:p>
              </p:txBody>
            </p:sp>
          </mc:Choice>
        </mc:AlternateContent>
        <p:sp>
          <p:nvSpPr>
            <p:cNvPr id="23" name="TextBox 23"/>
            <p:cNvSpPr txBox="1"/>
            <p:nvPr/>
          </p:nvSpPr>
          <p:spPr>
            <a:xfrm>
              <a:off x="6048756" y="374904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一瞬间含所有频率</a:t>
              </a:r>
            </a:p>
          </p:txBody>
        </p:sp>
        <p:sp>
          <p:nvSpPr>
            <p:cNvPr id="24" name="Line 24"/>
            <p:cNvSpPr/>
            <p:nvPr/>
          </p:nvSpPr>
          <p:spPr>
            <a:xfrm>
              <a:off x="609600" y="4152900"/>
              <a:ext cx="8534400" cy="9525"/>
            </a:xfrm>
            <a:custGeom>
              <a:avLst/>
              <a:gdLst/>
              <a:ahLst/>
              <a:cxnLst/>
              <a:rect l="l" t="t" r="r" b="b"/>
              <a:pathLst>
                <a:path w="8534400" h="9525">
                  <a:moveTo>
                    <a:pt x="0" y="0"/>
                  </a:moveTo>
                  <a:lnTo>
                    <a:pt x="8534400" y="0"/>
                  </a:lnTo>
                </a:path>
              </a:pathLst>
            </a:custGeom>
            <a:noFill/>
            <a:ln w="9525">
              <a:solidFill>
                <a:schemeClr val="accent6"/>
              </a:solidFill>
            </a:ln>
          </p:spPr>
        </p:sp>
        <mc:AlternateContent xmlns:mc="http://schemas.openxmlformats.org/markup-compatibility/2006">
          <mc:Choice xmlns:a14="http://schemas.microsoft.com/office/drawing/2010/main" Requires="a14">
            <p:sp>
              <p:nvSpPr>
                <p:cNvPr id="25" name="TextBox 25"/>
                <p:cNvSpPr txBox="1"/>
                <p:nvPr/>
              </p:nvSpPr>
              <p:spPr>
                <a:xfrm>
                  <a:off x="752856" y="4328160"/>
                  <a:ext cx="1144829" cy="41308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func>
                        <m:funcPr/>
                        <m:fName>
                          <m:r>
                            <m:rPr>
                              <m:sty m:val="p"/>
                            </m:rPr>
                            <a:rPr lang="zh-CN" sz="1800" dirty="0">
                              <a:solidFill>
                                <a:schemeClr val="dk1"/>
                              </a:solidFill>
                              <a:latin typeface="Cambria Math"/>
                              <a:ea typeface="Cambria Math"/>
                              <a:cs typeface="Cambria Math"/>
                            </a:rPr>
                            <m:t>cos</m:t>
                          </m:r>
                        </m:fName>
                        <m:e>
                          <m:d>
                            <m:dPr>
                              <m:begChr m:val="("/>
                              <m:sepChr m:val=""/>
                              <m:endChr m:val=")"/>
                              <m:grow m:val="on"/>
                              <m:ctrlPr>
                                <a:rPr lang="zh-CN" sz="1800" dirty="0">
                                  <a:solidFill>
                                    <a:schemeClr val="dk1"/>
                                  </a:solidFill>
                                  <a:latin typeface="Cambria Math"/>
                                  <a:ea typeface="Cambria Math"/>
                                  <a:cs typeface="Cambria Math"/>
                                </a:rPr>
                              </m:ctrlPr>
                            </m:dPr>
                            <m:e>
                              <m:sSub>
                                <m:e>
                                  <m:r>
                                    <a:rPr lang="zh-CN" sz="1800" dirty="0">
                                      <a:solidFill>
                                        <a:schemeClr val="dk1"/>
                                      </a:solidFill>
                                      <a:latin typeface="Cambria Math"/>
                                      <a:ea typeface="Cambria Math"/>
                                      <a:cs typeface="Cambria Math"/>
                                    </a:rPr>
                                    <m:t>ω</m:t>
                                  </m:r>
                                </m:e>
                                <m:sub>
                                  <m:r>
                                    <a:rPr lang="zh-CN" sz="1800" dirty="0">
                                      <a:solidFill>
                                        <a:schemeClr val="dk1"/>
                                      </a:solidFill>
                                      <a:latin typeface="Cambria Math"/>
                                      <a:ea typeface="Cambria Math"/>
                                      <a:cs typeface="Cambria Math"/>
                                    </a:rPr>
                                    <m:t>0</m:t>
                                  </m:r>
                                </m:sub>
                              </m:sSub>
                              <m:r>
                                <a:rPr lang="zh-CN" sz="1800" dirty="0">
                                  <a:solidFill>
                                    <a:schemeClr val="dk1"/>
                                  </a:solidFill>
                                  <a:latin typeface="Cambria Math"/>
                                  <a:ea typeface="Cambria Math"/>
                                  <a:cs typeface="Cambria Math"/>
                                </a:rPr>
                                <m:t>t</m:t>
                              </m:r>
                            </m:e>
                          </m:d>
                        </m:e>
                      </m:func>
                    </m:oMath>
                  </a14:m>
                </a:p>
              </p:txBody>
            </p:sp>
          </mc:Choice>
        </mc:AlternateContent>
        <mc:AlternateContent xmlns:mc="http://schemas.openxmlformats.org/markup-compatibility/2006">
          <mc:Choice xmlns:a14="http://schemas.microsoft.com/office/drawing/2010/main" Requires="a14">
            <p:sp>
              <p:nvSpPr>
                <p:cNvPr id="26" name="TextBox 26"/>
                <p:cNvSpPr txBox="1"/>
                <p:nvPr/>
              </p:nvSpPr>
              <p:spPr>
                <a:xfrm>
                  <a:off x="3381756" y="4316730"/>
                  <a:ext cx="2553005" cy="43594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zh-CN" sz="1800" dirty="0">
                          <a:solidFill>
                            <a:schemeClr val="accent2"/>
                          </a:solidFill>
                          <a:latin typeface="Cambria Math"/>
                          <a:ea typeface="Cambria Math"/>
                          <a:cs typeface="Cambria Math"/>
                        </a:rPr>
                        <m:t>π</m:t>
                      </m:r>
                      <m:d>
                        <m:dPr>
                          <m:begChr m:val="["/>
                          <m:sepChr m:val=""/>
                          <m:endChr m:val="]"/>
                          <m:grow m:val="on"/>
                          <m:ctrlPr>
                            <a:rPr lang="zh-CN" sz="1800" dirty="0">
                              <a:solidFill>
                                <a:schemeClr val="accent2"/>
                              </a:solidFill>
                              <a:latin typeface="Cambria Math"/>
                              <a:ea typeface="Cambria Math"/>
                              <a:cs typeface="Cambria Math"/>
                            </a:rPr>
                          </m:ctrlPr>
                        </m:dPr>
                        <m:e>
                          <m:r>
                            <a:rPr lang="zh-CN" sz="1800" dirty="0">
                              <a:solidFill>
                                <a:schemeClr val="accent2"/>
                              </a:solidFill>
                              <a:latin typeface="Cambria Math"/>
                              <a:ea typeface="Cambria Math"/>
                              <a:cs typeface="Cambria Math"/>
                            </a:rPr>
                            <m:t>δ</m:t>
                          </m:r>
                          <m:d>
                            <m:dPr>
                              <m:begChr m:val="("/>
                              <m:sepChr m:val=""/>
                              <m:endChr m:val=")"/>
                              <m:grow m:val="on"/>
                              <m:ctrlPr>
                                <a:rPr lang="zh-CN" sz="1800" dirty="0">
                                  <a:solidFill>
                                    <a:schemeClr val="accent2"/>
                                  </a:solidFill>
                                  <a:latin typeface="Cambria Math"/>
                                  <a:ea typeface="Cambria Math"/>
                                  <a:cs typeface="Cambria Math"/>
                                </a:rPr>
                              </m:ctrlPr>
                            </m:dPr>
                            <m:e>
                              <m:r>
                                <a:rPr lang="zh-CN" sz="1800" dirty="0">
                                  <a:solidFill>
                                    <a:schemeClr val="accent2"/>
                                  </a:solidFill>
                                  <a:latin typeface="Cambria Math"/>
                                  <a:ea typeface="Cambria Math"/>
                                  <a:cs typeface="Cambria Math"/>
                                </a:rPr>
                                <m:t>ω</m:t>
                              </m:r>
                              <m:r>
                                <m:rPr>
                                  <m:sty m:val="p"/>
                                </m:rPr>
                                <a:rPr lang="zh-CN" sz="1800" dirty="0">
                                  <a:solidFill>
                                    <a:schemeClr val="accent2"/>
                                  </a:solidFill>
                                  <a:latin typeface="Cambria Math"/>
                                  <a:ea typeface="Cambria Math"/>
                                  <a:cs typeface="Cambria Math"/>
                                </a:rPr>
                                <m:t>−</m:t>
                              </m:r>
                              <m:sSub>
                                <m:e>
                                  <m:r>
                                    <a:rPr lang="zh-CN" sz="1800" dirty="0">
                                      <a:solidFill>
                                        <a:schemeClr val="accent2"/>
                                      </a:solidFill>
                                      <a:latin typeface="Cambria Math"/>
                                      <a:ea typeface="Cambria Math"/>
                                      <a:cs typeface="Cambria Math"/>
                                    </a:rPr>
                                    <m:t>ω</m:t>
                                  </m:r>
                                </m:e>
                                <m:sub>
                                  <m:r>
                                    <a:rPr lang="zh-CN" sz="1800" dirty="0">
                                      <a:solidFill>
                                        <a:schemeClr val="accent2"/>
                                      </a:solidFill>
                                      <a:latin typeface="Cambria Math"/>
                                      <a:ea typeface="Cambria Math"/>
                                      <a:cs typeface="Cambria Math"/>
                                    </a:rPr>
                                    <m:t>0</m:t>
                                  </m:r>
                                </m:sub>
                              </m:sSub>
                            </m:e>
                          </m:d>
                          <m:r>
                            <m:rPr>
                              <m:sty m:val="p"/>
                            </m:rPr>
                            <a:rPr lang="zh-CN" sz="1800" dirty="0">
                              <a:solidFill>
                                <a:schemeClr val="accent2"/>
                              </a:solidFill>
                              <a:latin typeface="Cambria Math"/>
                              <a:ea typeface="Cambria Math"/>
                              <a:cs typeface="Cambria Math"/>
                            </a:rPr>
                            <m:t>+</m:t>
                          </m:r>
                          <m:r>
                            <a:rPr lang="zh-CN" sz="1800" dirty="0">
                              <a:solidFill>
                                <a:schemeClr val="accent2"/>
                              </a:solidFill>
                              <a:latin typeface="Cambria Math"/>
                              <a:ea typeface="Cambria Math"/>
                              <a:cs typeface="Cambria Math"/>
                            </a:rPr>
                            <m:t>δ</m:t>
                          </m:r>
                          <m:d>
                            <m:dPr>
                              <m:begChr m:val="("/>
                              <m:sepChr m:val=""/>
                              <m:endChr m:val=")"/>
                              <m:grow m:val="on"/>
                              <m:ctrlPr>
                                <a:rPr lang="zh-CN" sz="1800" dirty="0">
                                  <a:solidFill>
                                    <a:schemeClr val="accent2"/>
                                  </a:solidFill>
                                  <a:latin typeface="Cambria Math"/>
                                  <a:ea typeface="Cambria Math"/>
                                  <a:cs typeface="Cambria Math"/>
                                </a:rPr>
                              </m:ctrlPr>
                            </m:dPr>
                            <m:e>
                              <m:r>
                                <a:rPr lang="zh-CN" sz="1800" dirty="0">
                                  <a:solidFill>
                                    <a:schemeClr val="accent2"/>
                                  </a:solidFill>
                                  <a:latin typeface="Cambria Math"/>
                                  <a:ea typeface="Cambria Math"/>
                                  <a:cs typeface="Cambria Math"/>
                                </a:rPr>
                                <m:t>ω</m:t>
                              </m:r>
                              <m:r>
                                <m:rPr>
                                  <m:sty m:val="p"/>
                                </m:rPr>
                                <a:rPr lang="zh-CN" sz="1800" dirty="0">
                                  <a:solidFill>
                                    <a:schemeClr val="accent2"/>
                                  </a:solidFill>
                                  <a:latin typeface="Cambria Math"/>
                                  <a:ea typeface="Cambria Math"/>
                                  <a:cs typeface="Cambria Math"/>
                                </a:rPr>
                                <m:t>+</m:t>
                              </m:r>
                              <m:sSub>
                                <m:e>
                                  <m:r>
                                    <a:rPr lang="zh-CN" sz="1800" dirty="0">
                                      <a:solidFill>
                                        <a:schemeClr val="accent2"/>
                                      </a:solidFill>
                                      <a:latin typeface="Cambria Math"/>
                                      <a:ea typeface="Cambria Math"/>
                                      <a:cs typeface="Cambria Math"/>
                                    </a:rPr>
                                    <m:t>ω</m:t>
                                  </m:r>
                                </m:e>
                                <m:sub>
                                  <m:r>
                                    <a:rPr lang="zh-CN" sz="1800" dirty="0">
                                      <a:solidFill>
                                        <a:schemeClr val="accent2"/>
                                      </a:solidFill>
                                      <a:latin typeface="Cambria Math"/>
                                      <a:ea typeface="Cambria Math"/>
                                      <a:cs typeface="Cambria Math"/>
                                    </a:rPr>
                                    <m:t>0</m:t>
                                  </m:r>
                                </m:sub>
                              </m:sSub>
                            </m:e>
                          </m:d>
                        </m:e>
                      </m:d>
                    </m:oMath>
                  </a14:m>
                </a:p>
              </p:txBody>
            </p:sp>
          </mc:Choice>
        </mc:AlternateContent>
        <p:sp>
          <p:nvSpPr>
            <p:cNvPr id="27" name="TextBox 27"/>
            <p:cNvSpPr txBox="1"/>
            <p:nvPr/>
          </p:nvSpPr>
          <p:spPr>
            <a:xfrm>
              <a:off x="6048756" y="433959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单频只在两点有值</a:t>
              </a:r>
            </a:p>
          </p:txBody>
        </p:sp>
        <p:sp>
          <p:nvSpPr>
            <p:cNvPr id="28" name="Line 28"/>
            <p:cNvSpPr/>
            <p:nvPr/>
          </p:nvSpPr>
          <p:spPr>
            <a:xfrm>
              <a:off x="609600" y="4743450"/>
              <a:ext cx="8534400" cy="9525"/>
            </a:xfrm>
            <a:custGeom>
              <a:avLst/>
              <a:gdLst/>
              <a:ahLst/>
              <a:cxnLst/>
              <a:rect l="l" t="t" r="r" b="b"/>
              <a:pathLst>
                <a:path w="8534400" h="9525">
                  <a:moveTo>
                    <a:pt x="0" y="0"/>
                  </a:moveTo>
                  <a:lnTo>
                    <a:pt x="8534400" y="0"/>
                  </a:lnTo>
                </a:path>
              </a:pathLst>
            </a:custGeom>
            <a:noFill/>
            <a:ln w="9525">
              <a:solidFill>
                <a:schemeClr val="accent6"/>
              </a:solidFill>
            </a:ln>
          </p:spPr>
        </p:sp>
      </p:grpSp>
      <p:grpSp>
        <p:nvGrpSpPr>
          <p:cNvPr id="37" name="pairs-note"/>
          <p:cNvGrpSpPr/>
          <p:nvPr/>
        </p:nvGrpSpPr>
        <p:grpSpPr>
          <a:xfrm>
            <a:off x="600456" y="5026342"/>
            <a:ext cx="5630418" cy="1017842"/>
            <a:chOff x="600456" y="5026342"/>
            <a:chExt cx="5630418" cy="1017842"/>
          </a:xfrm>
        </p:grpSpPr>
        <p:grpSp>
          <p:nvGrpSpPr>
            <p:cNvPr id="34" name="Group 34"/>
            <p:cNvGrpSpPr/>
            <p:nvPr/>
          </p:nvGrpSpPr>
          <p:grpSpPr>
            <a:xfrm>
              <a:off x="635794" y="5045075"/>
              <a:ext cx="157163" cy="139701"/>
              <a:chOff x="635794" y="5045075"/>
              <a:chExt cx="157163" cy="139701"/>
            </a:xfrm>
          </p:grpSpPr>
          <p:sp>
            <p:nvSpPr>
              <p:cNvPr id="30" name="Freeform 30"/>
              <p:cNvSpPr/>
              <p:nvPr/>
            </p:nvSpPr>
            <p:spPr>
              <a:xfrm>
                <a:off x="635794" y="5071269"/>
                <a:ext cx="157163" cy="9525"/>
              </a:xfrm>
              <a:custGeom>
                <a:avLst/>
                <a:gdLst/>
                <a:ahLst/>
                <a:cxnLst/>
                <a:rect l="l" t="t" r="r" b="b"/>
                <a:pathLst>
                  <a:path w="157163" h="9525">
                    <a:moveTo>
                      <a:pt x="157163" y="0"/>
                    </a:moveTo>
                    <a:lnTo>
                      <a:pt x="0" y="0"/>
                    </a:lnTo>
                  </a:path>
                </a:pathLst>
              </a:custGeom>
              <a:noFill/>
              <a:ln w="17463">
                <a:solidFill>
                  <a:srgbClr val="5A6472"/>
                </a:solidFill>
              </a:ln>
            </p:spPr>
          </p:sp>
          <p:sp>
            <p:nvSpPr>
              <p:cNvPr id="31" name="Freeform 31"/>
              <p:cNvSpPr/>
              <p:nvPr/>
            </p:nvSpPr>
            <p:spPr>
              <a:xfrm>
                <a:off x="766763" y="5045075"/>
                <a:ext cx="26194" cy="52388"/>
              </a:xfrm>
              <a:custGeom>
                <a:avLst/>
                <a:gdLst/>
                <a:ahLst/>
                <a:cxnLst/>
                <a:rect l="l" t="t" r="r" b="b"/>
                <a:pathLst>
                  <a:path w="26194" h="52388">
                    <a:moveTo>
                      <a:pt x="0" y="52388"/>
                    </a:moveTo>
                    <a:lnTo>
                      <a:pt x="26194" y="26194"/>
                    </a:lnTo>
                    <a:lnTo>
                      <a:pt x="0" y="0"/>
                    </a:lnTo>
                  </a:path>
                </a:pathLst>
              </a:custGeom>
              <a:noFill/>
              <a:ln w="17463">
                <a:solidFill>
                  <a:srgbClr val="5A6472"/>
                </a:solidFill>
              </a:ln>
            </p:spPr>
          </p:sp>
          <p:sp>
            <p:nvSpPr>
              <p:cNvPr id="32" name="Freeform 32"/>
              <p:cNvSpPr/>
              <p:nvPr/>
            </p:nvSpPr>
            <p:spPr>
              <a:xfrm>
                <a:off x="635794" y="5132388"/>
                <a:ext cx="26194" cy="52388"/>
              </a:xfrm>
              <a:custGeom>
                <a:avLst/>
                <a:gdLst/>
                <a:ahLst/>
                <a:cxnLst/>
                <a:rect l="l" t="t" r="r" b="b"/>
                <a:pathLst>
                  <a:path w="26194" h="52388">
                    <a:moveTo>
                      <a:pt x="26194" y="52388"/>
                    </a:moveTo>
                    <a:lnTo>
                      <a:pt x="0" y="26194"/>
                    </a:lnTo>
                    <a:lnTo>
                      <a:pt x="26194" y="0"/>
                    </a:lnTo>
                  </a:path>
                </a:pathLst>
              </a:custGeom>
              <a:noFill/>
              <a:ln w="17463">
                <a:solidFill>
                  <a:srgbClr val="5A6472"/>
                </a:solidFill>
              </a:ln>
            </p:spPr>
          </p:sp>
          <p:sp>
            <p:nvSpPr>
              <p:cNvPr id="33" name="Freeform 33"/>
              <p:cNvSpPr/>
              <p:nvPr/>
            </p:nvSpPr>
            <p:spPr>
              <a:xfrm>
                <a:off x="635794" y="5158581"/>
                <a:ext cx="157163" cy="9525"/>
              </a:xfrm>
              <a:custGeom>
                <a:avLst/>
                <a:gdLst/>
                <a:ahLst/>
                <a:cxnLst/>
                <a:rect l="l" t="t" r="r" b="b"/>
                <a:pathLst>
                  <a:path w="157163" h="9525">
                    <a:moveTo>
                      <a:pt x="0" y="0"/>
                    </a:moveTo>
                    <a:lnTo>
                      <a:pt x="157163" y="0"/>
                    </a:lnTo>
                  </a:path>
                </a:pathLst>
              </a:custGeom>
              <a:noFill/>
              <a:ln w="17463">
                <a:solidFill>
                  <a:srgbClr val="5A6472"/>
                </a:solidFill>
              </a:ln>
            </p:spPr>
          </p:sp>
        </p:grpSp>
        <p:sp>
          <p:nvSpPr>
            <p:cNvPr id="35" name="TextBox 35"/>
            <p:cNvSpPr txBox="1"/>
            <p:nvPr/>
          </p:nvSpPr>
          <p:spPr>
            <a:xfrm>
              <a:off x="888492" y="5026342"/>
              <a:ext cx="284538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表里每一行都是一对,左右互相决定</a:t>
              </a:r>
            </a:p>
          </p:txBody>
        </p:sp>
        <p:sp>
          <p:nvSpPr>
            <p:cNvPr id="36" name="TextBox 36"/>
            <p:cNvSpPr txBox="1"/>
            <p:nvPr/>
          </p:nvSpPr>
          <p:spPr>
            <a:xfrm>
              <a:off x="600456" y="5349240"/>
              <a:ext cx="563041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前两行是同一句话的两种说法:</a:t>
              </a:r>
              <a:r>
                <a:rPr lang="zh-CN" sz="1800" b="1" dirty="0">
                  <a:solidFill>
                    <a:schemeClr val="accent2"/>
                  </a:solidFill>
                  <a:latin typeface="+mn-lt"/>
                  <a:ea typeface="+mn-ea"/>
                  <a:cs typeface="+mn-cs"/>
                </a:rPr>
                <a:t>时域越窄,频域越宽</a:t>
              </a:r>
              <a:r>
                <a:rPr lang="zh-CN" sz="1800" dirty="0">
                  <a:solidFill>
                    <a:schemeClr val="dk1"/>
                  </a:solidFill>
                  <a:latin typeface="+mn-lt"/>
                  <a:ea typeface="+mn-ea"/>
                  <a:cs typeface="+mn-cs"/>
                </a:rPr>
                <a:t>。</a:t>
              </a:r>
              <a:br/>
              <a:r>
                <a:rPr lang="zh-CN" sz="1800" dirty="0">
                  <a:solidFill>
                    <a:schemeClr val="dk1"/>
                  </a:solidFill>
                  <a:latin typeface="+mn-lt"/>
                  <a:ea typeface="+mn-ea"/>
                  <a:cs typeface="+mn-cs"/>
                </a:rPr>
                <a:t>高斯是唯一「形状不变」的那个,只是宽度换了个方向。</a:t>
              </a:r>
            </a:p>
          </p:txBody>
        </p:sp>
      </p:grpSp>
      <p:grpSp>
        <p:nvGrpSpPr>
          <p:cNvPr id="39" name="pairs-duality"/>
          <p:cNvGrpSpPr/>
          <p:nvPr/>
        </p:nvGrpSpPr>
        <p:grpSpPr>
          <a:xfrm>
            <a:off x="600456" y="6149340"/>
            <a:ext cx="7127748" cy="694944"/>
            <a:chOff x="600456" y="6149340"/>
            <a:chExt cx="7127748" cy="694944"/>
          </a:xfrm>
        </p:grpSpPr>
        <p:sp>
          <p:nvSpPr>
            <p:cNvPr id="38" name="TextBox 38"/>
            <p:cNvSpPr txBox="1"/>
            <p:nvPr/>
          </p:nvSpPr>
          <p:spPr>
            <a:xfrm>
              <a:off x="600456" y="6149340"/>
              <a:ext cx="712774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后两行是一对极端:一瞬间的冲击含所有频率,一条纯正弦只占两个点。</a:t>
              </a:r>
              <a:br/>
              <a:r>
                <a:rPr lang="zh-CN" sz="1800" dirty="0">
                  <a:solidFill>
                    <a:schemeClr val="dk1"/>
                  </a:solidFill>
                  <a:latin typeface="+mn-lt"/>
                  <a:ea typeface="+mn-ea"/>
                  <a:cs typeface="+mn-cs"/>
                </a:rPr>
                <a:t>遇到新信号,先看它像表里哪一行,再用下一页的性质把它挪过去。</a:t>
              </a:r>
            </a:p>
          </p:txBody>
        </p:sp>
      </p:grpSp>
      <p:grpSp>
        <p:nvGrpSpPr>
          <p:cNvPr id="42" name="page-footer"/>
          <p:cNvGrpSpPr/>
          <p:nvPr/>
        </p:nvGrpSpPr>
        <p:grpSpPr>
          <a:xfrm>
            <a:off x="603504" y="6880860"/>
            <a:ext cx="8546592" cy="234696"/>
            <a:chOff x="603504" y="6880860"/>
            <a:chExt cx="8546592" cy="234696"/>
          </a:xfrm>
        </p:grpSpPr>
        <p:sp>
          <p:nvSpPr>
            <p:cNvPr id="40" name="TextBox 40"/>
            <p:cNvSpPr txBox="1"/>
            <p:nvPr/>
          </p:nvSpPr>
          <p:spPr>
            <a:xfrm>
              <a:off x="603504" y="6880860"/>
              <a:ext cx="809884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来源:Stanford EE261 The Fourier Transform and its Applications(F012);表内公式为原生可编辑公式</a:t>
              </a:r>
            </a:p>
          </p:txBody>
        </p:sp>
        <p:sp>
          <p:nvSpPr>
            <p:cNvPr id="41" name="TextBox 41"/>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1000"/>
                                        <p:tgtEl>
                                          <p:spTgt spid="29"/>
                                        </p:tgtEl>
                                      </p:cBhvr>
                                    </p:animEffect>
                                  </p:childTnLst>
                                </p:cTn>
                              </p:par>
                            </p:childTnLst>
                          </p:cTn>
                        </p:par>
                        <p:par>
                          <p:cTn id="8" fill="hold">
                            <p:stCondLst>
                              <p:cond delay="10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childTnLst>
                          </p:cTn>
                        </p:par>
                        <p:par>
                          <p:cTn id="12" fill="hold">
                            <p:stCondLst>
                              <p:cond delay="20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band-linearity"/>
          <p:cNvSpPr/>
          <p:nvPr/>
        </p:nvSpPr>
        <p:spPr>
          <a:xfrm>
            <a:off x="2857500" y="1962150"/>
            <a:ext cx="6286500" cy="819150"/>
          </a:xfrm>
          <a:prstGeom prst="rect">
            <a:avLst/>
          </a:prstGeom>
          <a:solidFill>
            <a:schemeClr val="lt2"/>
          </a:solidFill>
          <a:ln>
            <a:noFill/>
          </a:ln>
        </p:spPr>
      </p:sp>
      <p:sp>
        <p:nvSpPr>
          <p:cNvPr id="4" name="band-linearity-bar"/>
          <p:cNvSpPr/>
          <p:nvPr/>
        </p:nvSpPr>
        <p:spPr>
          <a:xfrm>
            <a:off x="2857500" y="1962150"/>
            <a:ext cx="28575" cy="819150"/>
          </a:xfrm>
          <a:prstGeom prst="rect">
            <a:avLst/>
          </a:prstGeom>
          <a:solidFill>
            <a:schemeClr val="accent1"/>
          </a:solidFill>
          <a:ln>
            <a:noFill/>
          </a:ln>
        </p:spPr>
      </p:sp>
      <p:sp>
        <p:nvSpPr>
          <p:cNvPr id="5" name="band-timeshift"/>
          <p:cNvSpPr/>
          <p:nvPr/>
        </p:nvSpPr>
        <p:spPr>
          <a:xfrm>
            <a:off x="2857500" y="2971800"/>
            <a:ext cx="6286500" cy="819150"/>
          </a:xfrm>
          <a:prstGeom prst="rect">
            <a:avLst/>
          </a:prstGeom>
          <a:solidFill>
            <a:schemeClr val="lt2"/>
          </a:solidFill>
          <a:ln>
            <a:noFill/>
          </a:ln>
        </p:spPr>
      </p:sp>
      <p:sp>
        <p:nvSpPr>
          <p:cNvPr id="6" name="band-timeshift-bar"/>
          <p:cNvSpPr/>
          <p:nvPr/>
        </p:nvSpPr>
        <p:spPr>
          <a:xfrm>
            <a:off x="2857500" y="2971800"/>
            <a:ext cx="28575" cy="819150"/>
          </a:xfrm>
          <a:prstGeom prst="rect">
            <a:avLst/>
          </a:prstGeom>
          <a:solidFill>
            <a:schemeClr val="accent1"/>
          </a:solidFill>
          <a:ln>
            <a:noFill/>
          </a:ln>
        </p:spPr>
      </p:sp>
      <p:sp>
        <p:nvSpPr>
          <p:cNvPr id="7" name="band-modulation"/>
          <p:cNvSpPr/>
          <p:nvPr/>
        </p:nvSpPr>
        <p:spPr>
          <a:xfrm>
            <a:off x="2857500" y="3981450"/>
            <a:ext cx="6286500" cy="819150"/>
          </a:xfrm>
          <a:prstGeom prst="rect">
            <a:avLst/>
          </a:prstGeom>
          <a:solidFill>
            <a:schemeClr val="lt2"/>
          </a:solidFill>
          <a:ln>
            <a:noFill/>
          </a:ln>
        </p:spPr>
      </p:sp>
      <p:sp>
        <p:nvSpPr>
          <p:cNvPr id="8" name="band-modulation-bar"/>
          <p:cNvSpPr/>
          <p:nvPr/>
        </p:nvSpPr>
        <p:spPr>
          <a:xfrm>
            <a:off x="2857500" y="3981450"/>
            <a:ext cx="28575" cy="819150"/>
          </a:xfrm>
          <a:prstGeom prst="rect">
            <a:avLst/>
          </a:prstGeom>
          <a:solidFill>
            <a:schemeClr val="accent1"/>
          </a:solidFill>
          <a:ln>
            <a:noFill/>
          </a:ln>
        </p:spPr>
      </p:sp>
      <p:grpSp>
        <p:nvGrpSpPr>
          <p:cNvPr id="11" name="section-kicker"/>
          <p:cNvGrpSpPr/>
          <p:nvPr/>
        </p:nvGrpSpPr>
        <p:grpSpPr>
          <a:xfrm>
            <a:off x="602742" y="552450"/>
            <a:ext cx="1545793" cy="404051"/>
            <a:chOff x="602742" y="552450"/>
            <a:chExt cx="1545793" cy="404051"/>
          </a:xfrm>
        </p:grpSpPr>
        <p:sp>
          <p:nvSpPr>
            <p:cNvPr id="9" name="Rectangle 9"/>
            <p:cNvSpPr/>
            <p:nvPr/>
          </p:nvSpPr>
          <p:spPr>
            <a:xfrm>
              <a:off x="609600" y="552450"/>
              <a:ext cx="266700" cy="28575"/>
            </a:xfrm>
            <a:prstGeom prst="rect">
              <a:avLst/>
            </a:prstGeom>
            <a:solidFill>
              <a:schemeClr val="accent2"/>
            </a:solidFill>
            <a:ln>
              <a:noFill/>
            </a:ln>
          </p:spPr>
        </p:sp>
        <p:sp>
          <p:nvSpPr>
            <p:cNvPr id="10" name="TextBox 10"/>
            <p:cNvSpPr txBox="1"/>
            <p:nvPr/>
          </p:nvSpPr>
          <p:spPr>
            <a:xfrm>
              <a:off x="602742" y="692468"/>
              <a:ext cx="15457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4 节 · 三条性质</a:t>
              </a:r>
            </a:p>
          </p:txBody>
        </p:sp>
      </p:grpSp>
      <p:grpSp>
        <p:nvGrpSpPr>
          <p:cNvPr id="13" name="page-title"/>
          <p:cNvGrpSpPr/>
          <p:nvPr/>
        </p:nvGrpSpPr>
        <p:grpSpPr>
          <a:xfrm>
            <a:off x="593598" y="1050608"/>
            <a:ext cx="5207051" cy="616077"/>
            <a:chOff x="593598" y="1050608"/>
            <a:chExt cx="5207051" cy="616077"/>
          </a:xfrm>
        </p:grpSpPr>
        <p:sp>
          <p:nvSpPr>
            <p:cNvPr id="12" name="TextBox 12"/>
            <p:cNvSpPr txBox="1"/>
            <p:nvPr/>
          </p:nvSpPr>
          <p:spPr>
            <a:xfrm>
              <a:off x="593598" y="1050608"/>
              <a:ext cx="520705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会用性质,就不用重算积分</a:t>
              </a:r>
            </a:p>
          </p:txBody>
        </p:sp>
      </p:grpSp>
      <p:grpSp>
        <p:nvGrpSpPr>
          <p:cNvPr id="20" name="property-labels"/>
          <p:cNvGrpSpPr/>
          <p:nvPr/>
        </p:nvGrpSpPr>
        <p:grpSpPr>
          <a:xfrm>
            <a:off x="600456" y="2263140"/>
            <a:ext cx="1575511" cy="2598611"/>
            <a:chOff x="600456" y="2263140"/>
            <a:chExt cx="1575511" cy="2598611"/>
          </a:xfrm>
        </p:grpSpPr>
        <p:sp>
          <p:nvSpPr>
            <p:cNvPr id="14" name="TextBox 14"/>
            <p:cNvSpPr txBox="1"/>
            <p:nvPr/>
          </p:nvSpPr>
          <p:spPr>
            <a:xfrm>
              <a:off x="600456" y="22631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线性</a:t>
              </a:r>
            </a:p>
          </p:txBody>
        </p:sp>
        <p:sp>
          <p:nvSpPr>
            <p:cNvPr id="15" name="TextBox 15"/>
            <p:cNvSpPr txBox="1"/>
            <p:nvPr/>
          </p:nvSpPr>
          <p:spPr>
            <a:xfrm>
              <a:off x="602742" y="2578418"/>
              <a:ext cx="120975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分开算,再相加</a:t>
              </a:r>
            </a:p>
          </p:txBody>
        </p:sp>
        <p:sp>
          <p:nvSpPr>
            <p:cNvPr id="16" name="TextBox 16"/>
            <p:cNvSpPr txBox="1"/>
            <p:nvPr/>
          </p:nvSpPr>
          <p:spPr>
            <a:xfrm>
              <a:off x="600456" y="327279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时移</a:t>
              </a:r>
            </a:p>
          </p:txBody>
        </p:sp>
        <p:sp>
          <p:nvSpPr>
            <p:cNvPr id="17" name="TextBox 17"/>
            <p:cNvSpPr txBox="1"/>
            <p:nvPr/>
          </p:nvSpPr>
          <p:spPr>
            <a:xfrm>
              <a:off x="602742" y="3588068"/>
              <a:ext cx="157322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幅度不变,只改相位</a:t>
              </a:r>
            </a:p>
          </p:txBody>
        </p:sp>
        <p:sp>
          <p:nvSpPr>
            <p:cNvPr id="18" name="TextBox 18"/>
            <p:cNvSpPr txBox="1"/>
            <p:nvPr/>
          </p:nvSpPr>
          <p:spPr>
            <a:xfrm>
              <a:off x="600456" y="42824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调制</a:t>
              </a:r>
            </a:p>
          </p:txBody>
        </p:sp>
        <p:sp>
          <p:nvSpPr>
            <p:cNvPr id="19" name="TextBox 19"/>
            <p:cNvSpPr txBox="1"/>
            <p:nvPr/>
          </p:nvSpPr>
          <p:spPr>
            <a:xfrm>
              <a:off x="602742" y="4597718"/>
              <a:ext cx="12858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把整段频谱搬走</a:t>
              </a:r>
            </a:p>
          </p:txBody>
        </p:sp>
      </p:grpSp>
      <mc:AlternateContent xmlns:mc="http://schemas.openxmlformats.org/markup-compatibility/2006">
        <mc:Choice xmlns:a14="http://schemas.microsoft.com/office/drawing/2010/main" Requires="a14">
          <p:sp>
            <p:nvSpPr>
              <p:cNvPr id="21" name="linearity-formula"/>
              <p:cNvSpPr txBox="1">
                <a:spLocks noGrp="1"/>
              </p:cNvSpPr>
              <p:nvPr/>
            </p:nvSpPr>
            <p:spPr>
              <a:xfrm>
                <a:off x="2857500" y="1962150"/>
                <a:ext cx="6286500" cy="8191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123B63"/>
                          </a:solidFill>
                          <a:latin typeface="Cambria Math"/>
                          <a:ea typeface="Cambria Math"/>
                          <a:cs typeface="Cambria Math"/>
                        </a:rPr>
                        <m:t>af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bg</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aF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e>
                      </m:d>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bG</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e>
                      </m:d>
                    </m:oMath>
                  </m:oMathPara>
                </a14:m>
              </a:p>
            </p:txBody>
          </p:sp>
        </mc:Choice>
      </mc:AlternateContent>
      <mc:AlternateContent xmlns:mc="http://schemas.openxmlformats.org/markup-compatibility/2006">
        <mc:Choice xmlns:a14="http://schemas.microsoft.com/office/drawing/2010/main" Requires="a14">
          <p:sp>
            <p:nvSpPr>
              <p:cNvPr id="22" name="timeshift-formula"/>
              <p:cNvSpPr txBox="1">
                <a:spLocks noGrp="1"/>
              </p:cNvSpPr>
              <p:nvPr/>
            </p:nvSpPr>
            <p:spPr>
              <a:xfrm>
                <a:off x="2857500" y="2971800"/>
                <a:ext cx="6286500" cy="8191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r>
                            <m:rPr>
                              <m:sty m:val="p"/>
                            </m:rPr>
                            <a:rPr lang="zh-CN" sz="2100" dirty="0">
                              <a:solidFill>
                                <a:srgbClr val="123B63"/>
                              </a:solidFill>
                              <a:latin typeface="Cambria Math"/>
                              <a:ea typeface="Cambria Math"/>
                              <a:cs typeface="Cambria Math"/>
                            </a:rPr>
                            <m:t>−</m:t>
                          </m:r>
                          <m:sSub>
                            <m:e>
                              <m:r>
                                <a:rPr lang="zh-CN" sz="2100" dirty="0">
                                  <a:solidFill>
                                    <a:srgbClr val="123B63"/>
                                  </a:solidFill>
                                  <a:latin typeface="Cambria Math"/>
                                  <a:ea typeface="Cambria Math"/>
                                  <a:cs typeface="Cambria Math"/>
                                </a:rPr>
                                <m:t>t</m:t>
                              </m:r>
                            </m:e>
                            <m:sub>
                              <m:r>
                                <a:rPr lang="zh-CN" sz="2100" dirty="0">
                                  <a:solidFill>
                                    <a:srgbClr val="123B63"/>
                                  </a:solidFill>
                                  <a:latin typeface="Cambria Math"/>
                                  <a:ea typeface="Cambria Math"/>
                                  <a:cs typeface="Cambria Math"/>
                                </a:rPr>
                                <m:t>0</m:t>
                              </m:r>
                            </m:sub>
                          </m:sSub>
                        </m:e>
                      </m:d>
                      <m:r>
                        <m:rPr>
                          <m:sty m:val="p"/>
                        </m:rPr>
                        <a:rPr lang="zh-CN" sz="2100" dirty="0">
                          <a:solidFill>
                            <a:srgbClr val="123B63"/>
                          </a:solidFill>
                          <a:latin typeface="Cambria Math"/>
                          <a:ea typeface="Cambria Math"/>
                          <a:cs typeface="Cambria Math"/>
                        </a:rPr>
                        <m:t>↔</m:t>
                      </m:r>
                      <m:sSup>
                        <m:e>
                          <m:r>
                            <a:rPr lang="zh-CN" sz="2100" dirty="0">
                              <a:solidFill>
                                <a:srgbClr val="123B63"/>
                              </a:solidFill>
                              <a:latin typeface="Cambria Math"/>
                              <a:ea typeface="Cambria Math"/>
                              <a:cs typeface="Cambria Math"/>
                            </a:rPr>
                            <m:t>e</m:t>
                          </m:r>
                        </m:e>
                        <m: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iω</m:t>
                          </m:r>
                          <m:sSub>
                            <m:e>
                              <m:r>
                                <a:rPr lang="zh-CN" sz="2100" dirty="0">
                                  <a:solidFill>
                                    <a:srgbClr val="123B63"/>
                                  </a:solidFill>
                                  <a:latin typeface="Cambria Math"/>
                                  <a:ea typeface="Cambria Math"/>
                                  <a:cs typeface="Cambria Math"/>
                                </a:rPr>
                                <m:t>t</m:t>
                              </m:r>
                            </m:e>
                            <m:sub>
                              <m:r>
                                <a:rPr lang="zh-CN" sz="2100" dirty="0">
                                  <a:solidFill>
                                    <a:srgbClr val="123B63"/>
                                  </a:solidFill>
                                  <a:latin typeface="Cambria Math"/>
                                  <a:ea typeface="Cambria Math"/>
                                  <a:cs typeface="Cambria Math"/>
                                </a:rPr>
                                <m:t>0</m:t>
                              </m:r>
                            </m:sub>
                          </m:sSub>
                        </m:sup>
                      </m:sSup>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e>
                      </m:d>
                    </m:oMath>
                  </m:oMathPara>
                </a14:m>
              </a:p>
            </p:txBody>
          </p:sp>
        </mc:Choice>
      </mc:AlternateContent>
      <mc:AlternateContent xmlns:mc="http://schemas.openxmlformats.org/markup-compatibility/2006">
        <mc:Choice xmlns:a14="http://schemas.microsoft.com/office/drawing/2010/main" Requires="a14">
          <p:sp>
            <p:nvSpPr>
              <p:cNvPr id="23" name="modulation-formula"/>
              <p:cNvSpPr txBox="1">
                <a:spLocks noGrp="1"/>
              </p:cNvSpPr>
              <p:nvPr/>
            </p:nvSpPr>
            <p:spPr>
              <a:xfrm>
                <a:off x="2857500" y="3981450"/>
                <a:ext cx="6286500" cy="8191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a:rPr lang="zh-CN" sz="2100" dirty="0">
                          <a:solidFill>
                            <a:srgbClr val="123B63"/>
                          </a:solidFill>
                          <a:latin typeface="Cambria Math"/>
                          <a:ea typeface="Cambria Math"/>
                          <a:cs typeface="Cambria Math"/>
                        </a:rPr>
                        <m:t xml:space="preserve"> </m:t>
                      </m:r>
                      <m:sSup>
                        <m:e>
                          <m:r>
                            <a:rPr lang="zh-CN" sz="2100" dirty="0">
                              <a:solidFill>
                                <a:srgbClr val="123B63"/>
                              </a:solidFill>
                              <a:latin typeface="Cambria Math"/>
                              <a:ea typeface="Cambria Math"/>
                              <a:cs typeface="Cambria Math"/>
                            </a:rPr>
                            <m:t>e</m:t>
                          </m:r>
                        </m:e>
                        <m:sup>
                          <m:r>
                            <a:rPr lang="zh-CN" sz="2100" dirty="0">
                              <a:solidFill>
                                <a:srgbClr val="123B63"/>
                              </a:solidFill>
                              <a:latin typeface="Cambria Math"/>
                              <a:ea typeface="Cambria Math"/>
                              <a:cs typeface="Cambria Math"/>
                            </a:rPr>
                            <m:t>i</m:t>
                          </m:r>
                          <m:sSub>
                            <m:e>
                              <m:r>
                                <a:rPr lang="zh-CN" sz="2100" dirty="0">
                                  <a:solidFill>
                                    <a:srgbClr val="123B63"/>
                                  </a:solidFill>
                                  <a:latin typeface="Cambria Math"/>
                                  <a:ea typeface="Cambria Math"/>
                                  <a:cs typeface="Cambria Math"/>
                                </a:rPr>
                                <m:t>ω</m:t>
                              </m:r>
                            </m:e>
                            <m:sub>
                              <m:r>
                                <a:rPr lang="zh-CN" sz="2100" dirty="0">
                                  <a:solidFill>
                                    <a:srgbClr val="123B63"/>
                                  </a:solidFill>
                                  <a:latin typeface="Cambria Math"/>
                                  <a:ea typeface="Cambria Math"/>
                                  <a:cs typeface="Cambria Math"/>
                                </a:rPr>
                                <m:t>0</m:t>
                              </m:r>
                            </m:sub>
                          </m:sSub>
                          <m:r>
                            <a:rPr lang="zh-CN" sz="2100" dirty="0">
                              <a:solidFill>
                                <a:srgbClr val="123B63"/>
                              </a:solidFill>
                              <a:latin typeface="Cambria Math"/>
                              <a:ea typeface="Cambria Math"/>
                              <a:cs typeface="Cambria Math"/>
                            </a:rPr>
                            <m:t>t</m:t>
                          </m:r>
                        </m:sup>
                      </m:s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r>
                            <m:rPr>
                              <m:sty m:val="p"/>
                            </m:rPr>
                            <a:rPr lang="zh-CN" sz="2100" dirty="0">
                              <a:solidFill>
                                <a:srgbClr val="123B63"/>
                              </a:solidFill>
                              <a:latin typeface="Cambria Math"/>
                              <a:ea typeface="Cambria Math"/>
                              <a:cs typeface="Cambria Math"/>
                            </a:rPr>
                            <m:t>−</m:t>
                          </m:r>
                          <m:sSub>
                            <m:e>
                              <m:r>
                                <a:rPr lang="zh-CN" sz="2100" dirty="0">
                                  <a:solidFill>
                                    <a:srgbClr val="123B63"/>
                                  </a:solidFill>
                                  <a:latin typeface="Cambria Math"/>
                                  <a:ea typeface="Cambria Math"/>
                                  <a:cs typeface="Cambria Math"/>
                                </a:rPr>
                                <m:t>ω</m:t>
                              </m:r>
                            </m:e>
                            <m:sub>
                              <m:r>
                                <a:rPr lang="zh-CN" sz="2100" dirty="0">
                                  <a:solidFill>
                                    <a:srgbClr val="123B63"/>
                                  </a:solidFill>
                                  <a:latin typeface="Cambria Math"/>
                                  <a:ea typeface="Cambria Math"/>
                                  <a:cs typeface="Cambria Math"/>
                                </a:rPr>
                                <m:t>0</m:t>
                              </m:r>
                            </m:sub>
                          </m:sSub>
                        </m:e>
                      </m:d>
                    </m:oMath>
                  </m:oMathPara>
                </a14:m>
              </a:p>
            </p:txBody>
          </p:sp>
        </mc:Choice>
      </mc:AlternateContent>
      <p:grpSp>
        <p:nvGrpSpPr>
          <p:cNvPr id="27" name="property-readings"/>
          <p:cNvGrpSpPr/>
          <p:nvPr/>
        </p:nvGrpSpPr>
        <p:grpSpPr>
          <a:xfrm>
            <a:off x="600456" y="5044440"/>
            <a:ext cx="6894576" cy="1418920"/>
            <a:chOff x="600456" y="5044440"/>
            <a:chExt cx="6894576" cy="1418920"/>
          </a:xfrm>
        </p:grpSpPr>
        <p:sp>
          <p:nvSpPr>
            <p:cNvPr id="24" name="TextBox 24"/>
            <p:cNvSpPr txBox="1"/>
            <p:nvPr/>
          </p:nvSpPr>
          <p:spPr>
            <a:xfrm>
              <a:off x="600456" y="5044440"/>
              <a:ext cx="670163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性质的用法都一样:把新信号</a:t>
              </a:r>
              <a:r>
                <a:rPr lang="zh-CN" sz="1800" b="1" dirty="0">
                  <a:solidFill>
                    <a:schemeClr val="accent1"/>
                  </a:solidFill>
                  <a:latin typeface="+mn-lt"/>
                  <a:ea typeface="+mn-ea"/>
                  <a:cs typeface="+mn-cs"/>
                </a:rPr>
                <a:t>化归</a:t>
              </a:r>
              <a:r>
                <a:rPr lang="zh-CN" sz="1800" dirty="0">
                  <a:solidFill>
                    <a:schemeClr val="dk1"/>
                  </a:solidFill>
                  <a:latin typeface="+mn-lt"/>
                  <a:ea typeface="+mn-ea"/>
                  <a:cs typeface="+mn-cs"/>
                </a:rPr>
                <a:t>成上一页表里已有的那一行。</a:t>
              </a:r>
            </a:p>
          </p:txBody>
        </p:sp>
        <mc:AlternateContent xmlns:mc="http://schemas.openxmlformats.org/markup-compatibility/2006">
          <mc:Choice xmlns:a14="http://schemas.microsoft.com/office/drawing/2010/main" Requires="a14">
            <p:sp>
              <p:nvSpPr>
                <p:cNvPr id="25" name="TextBox 25"/>
                <p:cNvSpPr txBox="1"/>
                <p:nvPr/>
              </p:nvSpPr>
              <p:spPr>
                <a:xfrm>
                  <a:off x="600456" y="5335448"/>
                  <a:ext cx="6670548" cy="746836"/>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时移只给频谱乘上 </a:t>
                  </a:r>
                  <a14:m>
                    <m:oMath xmlns:a="http://schemas.openxmlformats.org/drawingml/2006/main" xmlns:m="http://schemas.openxmlformats.org/officeDocument/2006/math">
                      <m:sSup>
                        <m:e>
                          <m:r>
                            <a:rPr lang="zh-CN" sz="1800" dirty="0">
                              <a:solidFill>
                                <a:schemeClr val="dk1"/>
                              </a:solidFill>
                              <a:latin typeface="Cambria Math"/>
                              <a:ea typeface="Cambria Math"/>
                              <a:cs typeface="Cambria Math"/>
                            </a:rPr>
                            <m:t>e</m:t>
                          </m:r>
                        </m:e>
                        <m:sup>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iω</m:t>
                          </m:r>
                          <m:sSub>
                            <m:e>
                              <m:r>
                                <a:rPr lang="zh-CN" sz="1800" dirty="0">
                                  <a:solidFill>
                                    <a:schemeClr val="dk1"/>
                                  </a:solidFill>
                                  <a:latin typeface="Cambria Math"/>
                                  <a:ea typeface="Cambria Math"/>
                                  <a:cs typeface="Cambria Math"/>
                                </a:rPr>
                                <m:t>t</m:t>
                              </m:r>
                            </m:e>
                            <m:sub>
                              <m:r>
                                <a:rPr lang="zh-CN" sz="1800" dirty="0">
                                  <a:solidFill>
                                    <a:schemeClr val="dk1"/>
                                  </a:solidFill>
                                  <a:latin typeface="Cambria Math"/>
                                  <a:ea typeface="Cambria Math"/>
                                  <a:cs typeface="Cambria Math"/>
                                </a:rPr>
                                <m:t>0</m:t>
                              </m:r>
                            </m:sub>
                          </m:sSub>
                        </m:sup>
                      </m:sSup>
                    </m:oMath>
                  </a14:m>
                  <a:r>
                    <a:rPr lang="zh-CN" sz="1800" dirty="0">
                      <a:solidFill>
                        <a:schemeClr val="dk1"/>
                      </a:solidFill>
                      <a:latin typeface="+mn-lt"/>
                      <a:ea typeface="+mn-ea"/>
                      <a:cs typeface="+mn-cs"/>
                    </a:rPr>
                    <a:t>:声音晚到一点,含哪些频率完全没变,</a:t>
                  </a:r>
                  <a:br/>
                  <a:r>
                    <a:rPr lang="zh-CN" sz="1800" dirty="0">
                      <a:solidFill>
                        <a:schemeClr val="dk1"/>
                      </a:solidFill>
                      <a:latin typeface="+mn-lt"/>
                      <a:ea typeface="+mn-ea"/>
                      <a:cs typeface="+mn-cs"/>
                    </a:rPr>
                    <a:t>变的只是它们的起步位置——这就是「幅度谱看不出延迟」的原因。</a:t>
                  </a:r>
                </a:p>
              </p:txBody>
            </p:sp>
          </mc:Choice>
        </mc:AlternateContent>
        <mc:AlternateContent xmlns:mc="http://schemas.openxmlformats.org/markup-compatibility/2006">
          <mc:Choice xmlns:a14="http://schemas.microsoft.com/office/drawing/2010/main" Requires="a14">
            <p:sp>
              <p:nvSpPr>
                <p:cNvPr id="26" name="TextBox 26"/>
                <p:cNvSpPr txBox="1"/>
                <p:nvPr/>
              </p:nvSpPr>
              <p:spPr>
                <a:xfrm>
                  <a:off x="600456" y="6073140"/>
                  <a:ext cx="6894576" cy="390220"/>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调制把整段频谱搬到 </a:t>
                  </a:r>
                  <a14:m>
                    <m:oMath xmlns:a="http://schemas.openxmlformats.org/drawingml/2006/main" xmlns:m="http://schemas.openxmlformats.org/officeDocument/2006/math">
                      <m:sSub>
                        <m:e>
                          <m:r>
                            <a:rPr lang="zh-CN" sz="1800" dirty="0">
                              <a:solidFill>
                                <a:schemeClr val="dk1"/>
                              </a:solidFill>
                              <a:latin typeface="Cambria Math"/>
                              <a:ea typeface="Cambria Math"/>
                              <a:cs typeface="Cambria Math"/>
                            </a:rPr>
                            <m:t>ω</m:t>
                          </m:r>
                        </m:e>
                        <m:sub>
                          <m:r>
                            <a:rPr lang="zh-CN" sz="1800" dirty="0">
                              <a:solidFill>
                                <a:schemeClr val="dk1"/>
                              </a:solidFill>
                              <a:latin typeface="Cambria Math"/>
                              <a:ea typeface="Cambria Math"/>
                              <a:cs typeface="Cambria Math"/>
                            </a:rPr>
                            <m:t>0</m:t>
                          </m:r>
                        </m:sub>
                      </m:sSub>
                    </m:oMath>
                  </a14:m>
                  <a:r>
                    <a:rPr lang="zh-CN" sz="1800" dirty="0">
                      <a:solidFill>
                        <a:schemeClr val="dk1"/>
                      </a:solidFill>
                      <a:latin typeface="+mn-lt"/>
                      <a:ea typeface="+mn-ea"/>
                      <a:cs typeface="+mn-cs"/>
                    </a:rPr>
                    <a:t xml:space="preserve"> 上,调幅广播和上变频做的就是这件事。</a:t>
                  </a:r>
                </a:p>
              </p:txBody>
            </p:sp>
          </mc:Choice>
        </mc:AlternateContent>
      </p:grpSp>
      <p:grpSp>
        <p:nvGrpSpPr>
          <p:cNvPr id="30" name="page-footer"/>
          <p:cNvGrpSpPr/>
          <p:nvPr/>
        </p:nvGrpSpPr>
        <p:grpSpPr>
          <a:xfrm>
            <a:off x="603504" y="6880860"/>
            <a:ext cx="8546592" cy="234696"/>
            <a:chOff x="603504" y="6880860"/>
            <a:chExt cx="8546592" cy="234696"/>
          </a:xfrm>
        </p:grpSpPr>
        <p:sp>
          <p:nvSpPr>
            <p:cNvPr id="28" name="TextBox 28"/>
            <p:cNvSpPr txBox="1"/>
            <p:nvPr/>
          </p:nvSpPr>
          <p:spPr>
            <a:xfrm>
              <a:off x="603504" y="6880860"/>
              <a:ext cx="188305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整理:三条性质的工程读法</a:t>
              </a:r>
            </a:p>
          </p:txBody>
        </p:sp>
        <p:sp>
          <p:nvSpPr>
            <p:cNvPr id="29" name="TextBox 29"/>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a:t>
              </a:r>
            </a:p>
          </p:txBody>
        </p:sp>
      </p:grpSp>
    </p:spTree>
  </p:cSld>
  <p:clrMapOvr>
    <a:masterClrMapping/>
  </p:clrMapOvr>
  <p:transition xmlns:p14="http://schemas.microsoft.com/office/powerpoint/2010/mai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50"/>
                                        <p:tgtEl>
                                          <p:spTgt spid="21"/>
                                        </p:tgtEl>
                                      </p:cBhvr>
                                    </p:animEffect>
                                  </p:childTnLst>
                                </p:cTn>
                              </p:par>
                            </p:childTnLst>
                          </p:cTn>
                        </p:par>
                        <p:par>
                          <p:cTn id="12" fill="hold">
                            <p:stCondLst>
                              <p:cond delay="135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50"/>
                                        <p:tgtEl>
                                          <p:spTgt spid="22"/>
                                        </p:tgtEl>
                                      </p:cBhvr>
                                    </p:animEffect>
                                  </p:childTnLst>
                                </p:cTn>
                              </p:par>
                            </p:childTnLst>
                          </p:cTn>
                        </p:par>
                        <p:par>
                          <p:cTn id="16" fill="hold">
                            <p:stCondLst>
                              <p:cond delay="23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50"/>
                                        <p:tgtEl>
                                          <p:spTgt spid="23"/>
                                        </p:tgtEl>
                                      </p:cBhvr>
                                    </p:animEffect>
                                  </p:childTnLst>
                                </p:cTn>
                              </p:par>
                            </p:childTnLst>
                          </p:cTn>
                        </p:par>
                        <p:par>
                          <p:cTn id="20" fill="hold">
                            <p:stCondLst>
                              <p:cond delay="3250"/>
                            </p:stCondLst>
                            <p:childTnLst>
                              <p:par>
                                <p:cTn xmlns:p="http://schemas.openxmlformats.org/presentationml/2006/main" id="21" presetID="10" presetClass="entr" presetSubtype="0" fill="hold" grpId="0" nodeType="afterEffect">
                                  <p:stCondLst>
                                    <p:cond delay="20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1905000"/>
            <a:ext cx="8534400" cy="1047750"/>
          </a:xfrm>
          <a:prstGeom prst="rect">
            <a:avLst/>
          </a:prstGeom>
          <a:solidFill>
            <a:schemeClr val="lt2"/>
          </a:solidFill>
          <a:ln>
            <a:noFill/>
          </a:ln>
        </p:spPr>
      </p:sp>
      <p:sp>
        <p:nvSpPr>
          <p:cNvPr id="4" name="formula-band-bar"/>
          <p:cNvSpPr/>
          <p:nvPr/>
        </p:nvSpPr>
        <p:spPr>
          <a:xfrm>
            <a:off x="609600" y="1905000"/>
            <a:ext cx="28575" cy="1047750"/>
          </a:xfrm>
          <a:prstGeom prst="rect">
            <a:avLst/>
          </a:prstGeom>
          <a:solidFill>
            <a:schemeClr val="accent1"/>
          </a:solidFill>
          <a:ln>
            <a:noFill/>
          </a:ln>
        </p:spPr>
      </p:sp>
      <p:grpSp>
        <p:nvGrpSpPr>
          <p:cNvPr id="7" name="section-kicker"/>
          <p:cNvGrpSpPr/>
          <p:nvPr/>
        </p:nvGrpSpPr>
        <p:grpSpPr>
          <a:xfrm>
            <a:off x="602742" y="552450"/>
            <a:ext cx="1545793" cy="404051"/>
            <a:chOff x="602742" y="552450"/>
            <a:chExt cx="1545793"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5457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4 节 · 三条性质</a:t>
              </a:r>
            </a:p>
          </p:txBody>
        </p:sp>
      </p:grpSp>
      <p:grpSp>
        <p:nvGrpSpPr>
          <p:cNvPr id="9" name="page-title"/>
          <p:cNvGrpSpPr/>
          <p:nvPr/>
        </p:nvGrpSpPr>
        <p:grpSpPr>
          <a:xfrm>
            <a:off x="593598" y="1050608"/>
            <a:ext cx="3862883" cy="616077"/>
            <a:chOff x="593598" y="1050608"/>
            <a:chExt cx="3862883" cy="616077"/>
          </a:xfrm>
        </p:grpSpPr>
        <p:sp>
          <p:nvSpPr>
            <p:cNvPr id="8" name="TextBox 8"/>
            <p:cNvSpPr txBox="1"/>
            <p:nvPr/>
          </p:nvSpPr>
          <p:spPr>
            <a:xfrm>
              <a:off x="593598" y="1050608"/>
              <a:ext cx="3862883"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时域卷积,频域相乘</a:t>
              </a:r>
            </a:p>
          </p:txBody>
        </p:sp>
      </p:grpSp>
      <mc:AlternateContent xmlns:mc="http://schemas.openxmlformats.org/markup-compatibility/2006">
        <mc:Choice xmlns:a14="http://schemas.microsoft.com/office/drawing/2010/main" Requires="a14">
          <p:sp>
            <p:nvSpPr>
              <p:cNvPr id="10" name="convolution-formula"/>
              <p:cNvSpPr txBox="1">
                <a:spLocks noGrp="1"/>
              </p:cNvSpPr>
              <p:nvPr/>
            </p:nvSpPr>
            <p:spPr>
              <a:xfrm>
                <a:off x="609600" y="1905000"/>
                <a:ext cx="8534400" cy="10477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f</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g</m:t>
                          </m:r>
                        </m:e>
                      </m:d>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e>
                      </m:d>
                      <m:r>
                        <m:rPr>
                          <m:sty m:val="p"/>
                        </m:rPr>
                        <a:rPr lang="zh-CN" sz="2100" dirty="0">
                          <a:solidFill>
                            <a:srgbClr val="123B63"/>
                          </a:solidFill>
                          <a:latin typeface="Cambria Math"/>
                          <a:ea typeface="Cambria Math"/>
                          <a:cs typeface="Cambria Math"/>
                        </a:rPr>
                        <m:t>=</m:t>
                      </m:r>
                      <m:nary>
                        <m:naryPr>
                          <m:chr m:val="∫"/>
                          <m:limLoc m:val="subSup"/>
                          <m:grow m:val="off"/>
                          <m:subHide m:val="off"/>
                          <m:supHide m:val="off"/>
                          <m:ctrlPr>
                            <a:rPr lang="zh-CN" sz="2100" dirty="0">
                              <a:solidFill>
                                <a:srgbClr val="123B63"/>
                              </a:solidFill>
                              <a:latin typeface="Cambria Math"/>
                              <a:ea typeface="Cambria Math"/>
                              <a:cs typeface="Cambria Math"/>
                            </a:rPr>
                          </m:ctrlPr>
                        </m:naryPr>
                        <m:sub>
                          <m:r>
                            <m:rPr>
                              <m:sty m:val="p"/>
                            </m:rPr>
                            <a:rPr lang="zh-CN" sz="2100" dirty="0">
                              <a:solidFill>
                                <a:srgbClr val="123B63"/>
                              </a:solidFill>
                              <a:latin typeface="Cambria Math"/>
                              <a:ea typeface="Cambria Math"/>
                              <a:cs typeface="Cambria Math"/>
                            </a:rPr>
                            <m:t>−∞</m:t>
                          </m:r>
                        </m:sub>
                        <m:sup>
                          <m:r>
                            <m:rPr>
                              <m:sty m:val="p"/>
                            </m:rPr>
                            <a:rPr lang="zh-CN" sz="2100" dirty="0">
                              <a:solidFill>
                                <a:srgbClr val="123B63"/>
                              </a:solidFill>
                              <a:latin typeface="Cambria Math"/>
                              <a:ea typeface="Cambria Math"/>
                              <a:cs typeface="Cambria Math"/>
                            </a:rPr>
                            <m:t>∞</m:t>
                          </m:r>
                        </m:sup>
                        <m:e>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t</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s</m:t>
                              </m:r>
                            </m:e>
                          </m:d>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g</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s</m:t>
                              </m:r>
                            </m:e>
                          </m:d>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ds</m:t>
                          </m:r>
                        </m:e>
                      </m:nary>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F</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e>
                      </m:d>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G</m:t>
                      </m:r>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ω</m:t>
                          </m:r>
                        </m:e>
                      </m:d>
                    </m:oMath>
                  </m:oMathPara>
                </a14:m>
              </a:p>
            </p:txBody>
          </p:sp>
        </mc:Choice>
      </mc:AlternateContent>
      <p:grpSp>
        <p:nvGrpSpPr>
          <p:cNvPr id="17" name="convolution-steps"/>
          <p:cNvGrpSpPr/>
          <p:nvPr/>
        </p:nvGrpSpPr>
        <p:grpSpPr>
          <a:xfrm>
            <a:off x="609600" y="3238500"/>
            <a:ext cx="7429500" cy="666750"/>
            <a:chOff x="609600" y="3238500"/>
            <a:chExt cx="7429500" cy="666750"/>
          </a:xfrm>
        </p:grpSpPr>
        <p:sp>
          <p:nvSpPr>
            <p:cNvPr id="11" name="Freeform 11"/>
            <p:cNvSpPr/>
            <p:nvPr/>
          </p:nvSpPr>
          <p:spPr>
            <a:xfrm>
              <a:off x="609600" y="3238500"/>
              <a:ext cx="2667000" cy="666750"/>
            </a:xfrm>
            <a:prstGeom prst="chevron">
              <a:avLst/>
            </a:prstGeom>
            <a:solidFill>
              <a:schemeClr val="accent1"/>
            </a:solidFill>
            <a:ln>
              <a:noFill/>
            </a:ln>
          </p:spPr>
        </p:sp>
        <p:sp>
          <p:nvSpPr>
            <p:cNvPr id="12" name="Freeform 12"/>
            <p:cNvSpPr/>
            <p:nvPr/>
          </p:nvSpPr>
          <p:spPr>
            <a:xfrm>
              <a:off x="2990850" y="3238500"/>
              <a:ext cx="2667000" cy="666750"/>
            </a:xfrm>
            <a:prstGeom prst="chevron">
              <a:avLst/>
            </a:prstGeom>
            <a:solidFill>
              <a:schemeClr val="accent3"/>
            </a:solidFill>
            <a:ln>
              <a:noFill/>
            </a:ln>
          </p:spPr>
        </p:sp>
        <p:sp>
          <p:nvSpPr>
            <p:cNvPr id="13" name="Freeform 13"/>
            <p:cNvSpPr/>
            <p:nvPr/>
          </p:nvSpPr>
          <p:spPr>
            <a:xfrm>
              <a:off x="5372100" y="3238500"/>
              <a:ext cx="2667000" cy="666750"/>
            </a:xfrm>
            <a:prstGeom prst="chevron">
              <a:avLst/>
            </a:prstGeom>
            <a:solidFill>
              <a:schemeClr val="accent2"/>
            </a:solidFill>
            <a:ln>
              <a:noFill/>
            </a:ln>
          </p:spPr>
        </p:sp>
        <p:sp>
          <p:nvSpPr>
            <p:cNvPr id="14" name="TextBox 14"/>
            <p:cNvSpPr txBox="1"/>
            <p:nvPr/>
          </p:nvSpPr>
          <p:spPr>
            <a:xfrm>
              <a:off x="1350035" y="3463290"/>
              <a:ext cx="1205179"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① 变到频域</a:t>
              </a:r>
            </a:p>
          </p:txBody>
        </p:sp>
        <p:sp>
          <p:nvSpPr>
            <p:cNvPr id="15" name="TextBox 15"/>
            <p:cNvSpPr txBox="1"/>
            <p:nvPr/>
          </p:nvSpPr>
          <p:spPr>
            <a:xfrm>
              <a:off x="3610127" y="3463290"/>
              <a:ext cx="1447495"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② 乘一条曲线</a:t>
              </a:r>
            </a:p>
          </p:txBody>
        </p:sp>
        <p:sp>
          <p:nvSpPr>
            <p:cNvPr id="16" name="TextBox 16"/>
            <p:cNvSpPr txBox="1"/>
            <p:nvPr/>
          </p:nvSpPr>
          <p:spPr>
            <a:xfrm>
              <a:off x="6112535" y="3463290"/>
              <a:ext cx="1205179"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③ 变回时域</a:t>
              </a:r>
            </a:p>
          </p:txBody>
        </p:sp>
      </p:grpSp>
      <p:grpSp>
        <p:nvGrpSpPr>
          <p:cNvPr id="21" name="convolution-reading"/>
          <p:cNvGrpSpPr/>
          <p:nvPr/>
        </p:nvGrpSpPr>
        <p:grpSpPr>
          <a:xfrm>
            <a:off x="600456" y="4130040"/>
            <a:ext cx="6773418" cy="1380744"/>
            <a:chOff x="600456" y="4130040"/>
            <a:chExt cx="6773418" cy="1380744"/>
          </a:xfrm>
        </p:grpSpPr>
        <p:sp>
          <p:nvSpPr>
            <p:cNvPr id="18" name="TextBox 18"/>
            <p:cNvSpPr txBox="1"/>
            <p:nvPr/>
          </p:nvSpPr>
          <p:spPr>
            <a:xfrm>
              <a:off x="600456" y="4130040"/>
              <a:ext cx="587319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定理说:时域里那个麻烦的</a:t>
              </a:r>
              <a:r>
                <a:rPr lang="zh-CN" sz="1800" b="1" dirty="0">
                  <a:solidFill>
                    <a:schemeClr val="accent1"/>
                  </a:solidFill>
                  <a:latin typeface="+mn-lt"/>
                  <a:ea typeface="+mn-ea"/>
                  <a:cs typeface="+mn-cs"/>
                </a:rPr>
                <a:t>卷积</a:t>
              </a:r>
              <a:r>
                <a:rPr lang="zh-CN" sz="1800" dirty="0">
                  <a:solidFill>
                    <a:schemeClr val="dk1"/>
                  </a:solidFill>
                  <a:latin typeface="+mn-lt"/>
                  <a:ea typeface="+mn-ea"/>
                  <a:cs typeface="+mn-cs"/>
                </a:rPr>
                <a:t>,到频域只是逐点相乘。</a:t>
              </a:r>
            </a:p>
          </p:txBody>
        </p:sp>
        <mc:AlternateContent xmlns:mc="http://schemas.openxmlformats.org/markup-compatibility/2006">
          <mc:Choice xmlns:a14="http://schemas.microsoft.com/office/drawing/2010/main" Requires="a14">
            <p:sp>
              <p:nvSpPr>
                <p:cNvPr id="19" name="TextBox 19"/>
                <p:cNvSpPr txBox="1"/>
                <p:nvPr/>
              </p:nvSpPr>
              <p:spPr>
                <a:xfrm>
                  <a:off x="600456" y="4461510"/>
                  <a:ext cx="6773418" cy="71780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于是滤波不用在时域一格一格地卷:变过去,乘一条传递函数 </a:t>
                  </a:r>
                  <a14:m>
                    <m:oMath xmlns:a="http://schemas.openxmlformats.org/drawingml/2006/main" xmlns:m="http://schemas.openxmlformats.org/officeDocument/2006/math">
                      <m:r>
                        <a:rPr lang="zh-CN" sz="1800" dirty="0">
                          <a:solidFill>
                            <a:schemeClr val="dk1"/>
                          </a:solidFill>
                          <a:latin typeface="Cambria Math"/>
                          <a:ea typeface="Cambria Math"/>
                          <a:cs typeface="Cambria Math"/>
                        </a:rPr>
                        <m:t>G</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ω</m:t>
                          </m:r>
                        </m:e>
                      </m:d>
                    </m:oMath>
                  </a14:m>
                  <a:r>
                    <a:rPr lang="zh-CN" sz="1800" dirty="0">
                      <a:solidFill>
                        <a:schemeClr val="dk1"/>
                      </a:solidFill>
                      <a:latin typeface="+mn-lt"/>
                      <a:ea typeface="+mn-ea"/>
                      <a:cs typeface="+mn-cs"/>
                    </a:rPr>
                    <a:t>,</a:t>
                  </a:r>
                  <a:br/>
                  <a:r>
                    <a:rPr lang="zh-CN" sz="1800" dirty="0">
                      <a:solidFill>
                        <a:schemeClr val="dk1"/>
                      </a:solidFill>
                      <a:latin typeface="+mn-lt"/>
                      <a:ea typeface="+mn-ea"/>
                      <a:cs typeface="+mn-cs"/>
                    </a:rPr>
                    <a:t>再变回来。三步之中只有中间那步是「设计」,两头都是机械操作。</a:t>
                  </a:r>
                </a:p>
              </p:txBody>
            </p:sp>
          </mc:Choice>
        </mc:AlternateContent>
        <p:sp>
          <p:nvSpPr>
            <p:cNvPr id="20" name="TextBox 20"/>
            <p:cNvSpPr txBox="1"/>
            <p:nvPr/>
          </p:nvSpPr>
          <p:spPr>
            <a:xfrm>
              <a:off x="600456" y="5158740"/>
              <a:ext cx="611550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前提是两个函数都绝对可积——课堂上的信号一般都满足。</a:t>
              </a:r>
            </a:p>
          </p:txBody>
        </p:sp>
      </p:grpSp>
      <p:grpSp>
        <p:nvGrpSpPr>
          <p:cNvPr id="29" name="equalizer-note"/>
          <p:cNvGrpSpPr/>
          <p:nvPr/>
        </p:nvGrpSpPr>
        <p:grpSpPr>
          <a:xfrm>
            <a:off x="600456" y="5674042"/>
            <a:ext cx="6853428" cy="1029272"/>
            <a:chOff x="600456" y="5674042"/>
            <a:chExt cx="6853428" cy="1029272"/>
          </a:xfrm>
        </p:grpSpPr>
        <p:grpSp>
          <p:nvGrpSpPr>
            <p:cNvPr id="26" name="Group 26"/>
            <p:cNvGrpSpPr/>
            <p:nvPr/>
          </p:nvGrpSpPr>
          <p:grpSpPr>
            <a:xfrm>
              <a:off x="635794" y="5692775"/>
              <a:ext cx="139700" cy="139701"/>
              <a:chOff x="635794" y="5692775"/>
              <a:chExt cx="139700" cy="139701"/>
            </a:xfrm>
          </p:grpSpPr>
          <p:sp>
            <p:nvSpPr>
              <p:cNvPr id="22" name="Freeform 22"/>
              <p:cNvSpPr/>
              <p:nvPr/>
            </p:nvSpPr>
            <p:spPr>
              <a:xfrm>
                <a:off x="635794" y="5780088"/>
                <a:ext cx="52388" cy="52388"/>
              </a:xfrm>
              <a:custGeom>
                <a:avLst/>
                <a:gdLst/>
                <a:ahLst/>
                <a:cxnLst/>
                <a:rect l="l" t="t" r="r" b="b"/>
                <a:pathLst>
                  <a:path w="52388" h="52388">
                    <a:moveTo>
                      <a:pt x="0" y="26194"/>
                    </a:moveTo>
                    <a:cubicBezTo>
                      <a:pt x="0" y="40660"/>
                      <a:pt x="11727" y="52388"/>
                      <a:pt x="26194" y="52388"/>
                    </a:cubicBezTo>
                    <a:cubicBezTo>
                      <a:pt x="40660" y="52388"/>
                      <a:pt x="52388" y="40660"/>
                      <a:pt x="52388" y="26194"/>
                    </a:cubicBezTo>
                    <a:cubicBezTo>
                      <a:pt x="52388" y="11727"/>
                      <a:pt x="40660" y="0"/>
                      <a:pt x="26194" y="0"/>
                    </a:cubicBezTo>
                    <a:cubicBezTo>
                      <a:pt x="11727" y="0"/>
                      <a:pt x="0" y="11727"/>
                      <a:pt x="0" y="26194"/>
                    </a:cubicBezTo>
                  </a:path>
                </a:pathLst>
              </a:custGeom>
              <a:noFill/>
              <a:ln w="17463">
                <a:solidFill>
                  <a:schemeClr val="accent2"/>
                </a:solidFill>
              </a:ln>
            </p:spPr>
          </p:sp>
          <p:sp>
            <p:nvSpPr>
              <p:cNvPr id="23" name="Freeform 23"/>
              <p:cNvSpPr/>
              <p:nvPr/>
            </p:nvSpPr>
            <p:spPr>
              <a:xfrm>
                <a:off x="723106" y="5780088"/>
                <a:ext cx="52388" cy="52388"/>
              </a:xfrm>
              <a:custGeom>
                <a:avLst/>
                <a:gdLst/>
                <a:ahLst/>
                <a:cxnLst/>
                <a:rect l="l" t="t" r="r" b="b"/>
                <a:pathLst>
                  <a:path w="52388" h="52388">
                    <a:moveTo>
                      <a:pt x="0" y="26194"/>
                    </a:moveTo>
                    <a:cubicBezTo>
                      <a:pt x="0" y="40660"/>
                      <a:pt x="11727" y="52388"/>
                      <a:pt x="26194" y="52388"/>
                    </a:cubicBezTo>
                    <a:cubicBezTo>
                      <a:pt x="40660" y="52388"/>
                      <a:pt x="52388" y="40660"/>
                      <a:pt x="52388" y="26194"/>
                    </a:cubicBezTo>
                    <a:cubicBezTo>
                      <a:pt x="52388" y="11727"/>
                      <a:pt x="40660" y="0"/>
                      <a:pt x="26194" y="0"/>
                    </a:cubicBezTo>
                    <a:cubicBezTo>
                      <a:pt x="11727" y="0"/>
                      <a:pt x="0" y="11727"/>
                      <a:pt x="0" y="26194"/>
                    </a:cubicBezTo>
                  </a:path>
                </a:pathLst>
              </a:custGeom>
              <a:noFill/>
              <a:ln w="17463">
                <a:solidFill>
                  <a:schemeClr val="accent2"/>
                </a:solidFill>
              </a:ln>
            </p:spPr>
          </p:sp>
          <p:sp>
            <p:nvSpPr>
              <p:cNvPr id="24" name="Freeform 24"/>
              <p:cNvSpPr/>
              <p:nvPr/>
            </p:nvSpPr>
            <p:spPr>
              <a:xfrm>
                <a:off x="688181" y="5692775"/>
                <a:ext cx="87313" cy="113506"/>
              </a:xfrm>
              <a:custGeom>
                <a:avLst/>
                <a:gdLst/>
                <a:ahLst/>
                <a:cxnLst/>
                <a:rect l="l" t="t" r="r" b="b"/>
                <a:pathLst>
                  <a:path w="87313" h="113506">
                    <a:moveTo>
                      <a:pt x="0" y="113506"/>
                    </a:moveTo>
                    <a:lnTo>
                      <a:pt x="0" y="0"/>
                    </a:lnTo>
                    <a:lnTo>
                      <a:pt x="87313" y="0"/>
                    </a:lnTo>
                    <a:lnTo>
                      <a:pt x="87313" y="113506"/>
                    </a:lnTo>
                  </a:path>
                </a:pathLst>
              </a:custGeom>
              <a:noFill/>
              <a:ln w="17463">
                <a:solidFill>
                  <a:schemeClr val="accent2"/>
                </a:solidFill>
              </a:ln>
            </p:spPr>
          </p:sp>
          <p:sp>
            <p:nvSpPr>
              <p:cNvPr id="25" name="Freeform 25"/>
              <p:cNvSpPr/>
              <p:nvPr/>
            </p:nvSpPr>
            <p:spPr>
              <a:xfrm>
                <a:off x="688181" y="5727700"/>
                <a:ext cx="87313" cy="9525"/>
              </a:xfrm>
              <a:custGeom>
                <a:avLst/>
                <a:gdLst/>
                <a:ahLst/>
                <a:cxnLst/>
                <a:rect l="l" t="t" r="r" b="b"/>
                <a:pathLst>
                  <a:path w="87313" h="9525">
                    <a:moveTo>
                      <a:pt x="0" y="0"/>
                    </a:moveTo>
                    <a:lnTo>
                      <a:pt x="87313" y="0"/>
                    </a:lnTo>
                  </a:path>
                </a:pathLst>
              </a:custGeom>
              <a:noFill/>
              <a:ln w="17463">
                <a:solidFill>
                  <a:schemeClr val="accent2"/>
                </a:solidFill>
              </a:ln>
            </p:spPr>
          </p:sp>
        </p:grpSp>
        <p:sp>
          <p:nvSpPr>
            <p:cNvPr id="27" name="TextBox 27"/>
            <p:cNvSpPr txBox="1"/>
            <p:nvPr/>
          </p:nvSpPr>
          <p:spPr>
            <a:xfrm>
              <a:off x="888492" y="5674042"/>
              <a:ext cx="12858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你每天都在用它</a:t>
              </a:r>
            </a:p>
          </p:txBody>
        </p:sp>
        <mc:AlternateContent xmlns:mc="http://schemas.openxmlformats.org/markup-compatibility/2006">
          <mc:Choice xmlns:a14="http://schemas.microsoft.com/office/drawing/2010/main" Requires="a14">
            <p:sp>
              <p:nvSpPr>
                <p:cNvPr id="28" name="TextBox 28"/>
                <p:cNvSpPr txBox="1"/>
                <p:nvPr/>
              </p:nvSpPr>
              <p:spPr>
                <a:xfrm>
                  <a:off x="600456" y="5985510"/>
                  <a:ext cx="6853428" cy="71780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均衡器那几个推子就是 </a:t>
                  </a:r>
                  <a14:m>
                    <m:oMath xmlns:a="http://schemas.openxmlformats.org/drawingml/2006/main" xmlns:m="http://schemas.openxmlformats.org/officeDocument/2006/math">
                      <m:r>
                        <a:rPr lang="zh-CN" sz="1800" dirty="0">
                          <a:solidFill>
                            <a:schemeClr val="dk1"/>
                          </a:solidFill>
                          <a:latin typeface="Cambria Math"/>
                          <a:ea typeface="Cambria Math"/>
                          <a:cs typeface="Cambria Math"/>
                        </a:rPr>
                        <m:t>G</m:t>
                      </m:r>
                      <m:d>
                        <m:dPr>
                          <m:begChr m:val="("/>
                          <m:sepChr m:val=""/>
                          <m:endChr m:val=")"/>
                          <m:grow m:val="on"/>
                          <m:ctrlPr>
                            <a:rPr lang="zh-CN" sz="1800" dirty="0">
                              <a:solidFill>
                                <a:schemeClr val="dk1"/>
                              </a:solidFill>
                              <a:latin typeface="Cambria Math"/>
                              <a:ea typeface="Cambria Math"/>
                              <a:cs typeface="Cambria Math"/>
                            </a:rPr>
                          </m:ctrlPr>
                        </m:dPr>
                        <m:e>
                          <m:r>
                            <a:rPr lang="zh-CN" sz="1800" dirty="0">
                              <a:solidFill>
                                <a:schemeClr val="dk1"/>
                              </a:solidFill>
                              <a:latin typeface="Cambria Math"/>
                              <a:ea typeface="Cambria Math"/>
                              <a:cs typeface="Cambria Math"/>
                            </a:rPr>
                            <m:t>ω</m:t>
                          </m:r>
                        </m:e>
                      </m:d>
                    </m:oMath>
                  </a14:m>
                  <a:r>
                    <a:rPr lang="zh-CN" sz="1800" dirty="0">
                      <a:solidFill>
                        <a:schemeClr val="dk1"/>
                      </a:solidFill>
                      <a:latin typeface="+mn-lt"/>
                      <a:ea typeface="+mn-ea"/>
                      <a:cs typeface="+mn-cs"/>
                    </a:rPr>
                    <a:t xml:space="preserve"> 的形状:低频推高一点、齿音压低一点,</a:t>
                  </a:r>
                  <a:br/>
                  <a:r>
                    <a:rPr lang="zh-CN" sz="1800" dirty="0">
                      <a:solidFill>
                        <a:schemeClr val="dk1"/>
                      </a:solidFill>
                      <a:latin typeface="+mn-lt"/>
                      <a:ea typeface="+mn-ea"/>
                      <a:cs typeface="+mn-cs"/>
                    </a:rPr>
                    <a:t>再变回时域——「调音色」和「乘一条曲线」是同一件事。</a:t>
                  </a:r>
                </a:p>
              </p:txBody>
            </p:sp>
          </mc:Choice>
        </mc:AlternateContent>
      </p:grpSp>
      <p:grpSp>
        <p:nvGrpSpPr>
          <p:cNvPr id="32" name="page-footer"/>
          <p:cNvGrpSpPr/>
          <p:nvPr/>
        </p:nvGrpSpPr>
        <p:grpSpPr>
          <a:xfrm>
            <a:off x="603504" y="6880860"/>
            <a:ext cx="8546592" cy="234696"/>
            <a:chOff x="603504" y="6880860"/>
            <a:chExt cx="8546592" cy="234696"/>
          </a:xfrm>
        </p:grpSpPr>
        <p:sp>
          <p:nvSpPr>
            <p:cNvPr id="30" name="TextBox 30"/>
            <p:cNvSpPr txBox="1"/>
            <p:nvPr/>
          </p:nvSpPr>
          <p:spPr>
            <a:xfrm>
              <a:off x="603504" y="6880860"/>
              <a:ext cx="635111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来源:NIST Digital Library of Mathematical Functions §1.14 卷积定理(F010)</a:t>
              </a:r>
            </a:p>
          </p:txBody>
        </p:sp>
        <p:sp>
          <p:nvSpPr>
            <p:cNvPr id="31" name="TextBox 31"/>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wipe(right)">
                                      <p:cBhvr>
                                        <p:cTn id="11" dur="900"/>
                                        <p:tgtEl>
                                          <p:spTgt spid="17"/>
                                        </p:tgtEl>
                                      </p:cBhvr>
                                    </p:animEffect>
                                  </p:childTnLst>
                                </p:cTn>
                              </p:par>
                            </p:childTnLst>
                          </p:cTn>
                        </p:par>
                        <p:par>
                          <p:cTn id="12" fill="hold">
                            <p:stCondLst>
                              <p:cond delay="19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childTnLst>
                          </p:cTn>
                        </p:par>
                        <p:par>
                          <p:cTn id="16" fill="hold">
                            <p:stCondLst>
                              <p:cond delay="2800"/>
                            </p:stCondLst>
                            <p:childTnLst>
                              <p:par>
                                <p:cTn xmlns:p="http://schemas.openxmlformats.org/presentationml/2006/main" id="17" presetID="10" presetClass="entr" presetSubtype="0" fill="hold" grpId="0" nodeType="afterEffect">
                                  <p:stCondLst>
                                    <p:cond delay="2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3105150"/>
            <a:ext cx="8534400" cy="990600"/>
          </a:xfrm>
          <a:prstGeom prst="rect">
            <a:avLst/>
          </a:prstGeom>
          <a:solidFill>
            <a:schemeClr val="lt2"/>
          </a:solidFill>
          <a:ln>
            <a:noFill/>
          </a:ln>
        </p:spPr>
      </p:sp>
      <p:sp>
        <p:nvSpPr>
          <p:cNvPr id="4" name="formula-band-bar"/>
          <p:cNvSpPr/>
          <p:nvPr/>
        </p:nvSpPr>
        <p:spPr>
          <a:xfrm>
            <a:off x="609600" y="3105150"/>
            <a:ext cx="28575" cy="990600"/>
          </a:xfrm>
          <a:prstGeom prst="rect">
            <a:avLst/>
          </a:prstGeom>
          <a:solidFill>
            <a:schemeClr val="accent1"/>
          </a:solidFill>
          <a:ln>
            <a:noFill/>
          </a:ln>
        </p:spPr>
      </p:sp>
      <p:grpSp>
        <p:nvGrpSpPr>
          <p:cNvPr id="7" name="section-kicker"/>
          <p:cNvGrpSpPr/>
          <p:nvPr/>
        </p:nvGrpSpPr>
        <p:grpSpPr>
          <a:xfrm>
            <a:off x="602742" y="552450"/>
            <a:ext cx="1727530" cy="404051"/>
            <a:chOff x="602742" y="552450"/>
            <a:chExt cx="1727530"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5 节 · 离散与快速</a:t>
              </a:r>
            </a:p>
          </p:txBody>
        </p:sp>
      </p:grpSp>
      <p:grpSp>
        <p:nvGrpSpPr>
          <p:cNvPr id="9" name="page-title"/>
          <p:cNvGrpSpPr/>
          <p:nvPr/>
        </p:nvGrpSpPr>
        <p:grpSpPr>
          <a:xfrm>
            <a:off x="593598" y="1050608"/>
            <a:ext cx="4960620" cy="616077"/>
            <a:chOff x="593598" y="1050608"/>
            <a:chExt cx="4960620" cy="616077"/>
          </a:xfrm>
        </p:grpSpPr>
        <p:sp>
          <p:nvSpPr>
            <p:cNvPr id="8" name="TextBox 8"/>
            <p:cNvSpPr txBox="1"/>
            <p:nvPr/>
          </p:nvSpPr>
          <p:spPr>
            <a:xfrm>
              <a:off x="593598" y="1050608"/>
              <a:ext cx="496062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采样让积分变成有限求和</a:t>
              </a:r>
            </a:p>
          </p:txBody>
        </p:sp>
      </p:grpSp>
      <p:grpSp>
        <p:nvGrpSpPr>
          <p:cNvPr id="15" name="sampling-fact"/>
          <p:cNvGrpSpPr/>
          <p:nvPr/>
        </p:nvGrpSpPr>
        <p:grpSpPr>
          <a:xfrm>
            <a:off x="600456" y="1959292"/>
            <a:ext cx="5065776" cy="1017842"/>
            <a:chOff x="600456" y="1959292"/>
            <a:chExt cx="5065776" cy="1017842"/>
          </a:xfrm>
        </p:grpSpPr>
        <p:grpSp>
          <p:nvGrpSpPr>
            <p:cNvPr id="12" name="Group 12"/>
            <p:cNvGrpSpPr/>
            <p:nvPr/>
          </p:nvGrpSpPr>
          <p:grpSpPr>
            <a:xfrm>
              <a:off x="635794" y="1969294"/>
              <a:ext cx="157163" cy="157163"/>
              <a:chOff x="635794" y="1969294"/>
              <a:chExt cx="157163" cy="157163"/>
            </a:xfrm>
          </p:grpSpPr>
          <p:sp>
            <p:nvSpPr>
              <p:cNvPr id="10" name="Freeform 10"/>
              <p:cNvSpPr/>
              <p:nvPr/>
            </p:nvSpPr>
            <p:spPr>
              <a:xfrm>
                <a:off x="635794" y="1969294"/>
                <a:ext cx="157163" cy="157163"/>
              </a:xfrm>
              <a:custGeom>
                <a:avLst/>
                <a:gdLst/>
                <a:ahLst/>
                <a:cxnLst/>
                <a:rect l="l" t="t" r="r" b="b"/>
                <a:pathLst>
                  <a:path w="157163" h="157163">
                    <a:moveTo>
                      <a:pt x="0" y="78581"/>
                    </a:moveTo>
                    <a:cubicBezTo>
                      <a:pt x="0" y="121981"/>
                      <a:pt x="35182" y="157163"/>
                      <a:pt x="78581" y="157163"/>
                    </a:cubicBezTo>
                    <a:cubicBezTo>
                      <a:pt x="121981" y="157163"/>
                      <a:pt x="157163" y="121981"/>
                      <a:pt x="157163" y="78581"/>
                    </a:cubicBezTo>
                    <a:cubicBezTo>
                      <a:pt x="157163" y="35182"/>
                      <a:pt x="121981" y="0"/>
                      <a:pt x="78581" y="0"/>
                    </a:cubicBezTo>
                    <a:cubicBezTo>
                      <a:pt x="35182" y="0"/>
                      <a:pt x="0" y="35182"/>
                      <a:pt x="0" y="78581"/>
                    </a:cubicBezTo>
                  </a:path>
                </a:pathLst>
              </a:custGeom>
              <a:noFill/>
              <a:ln w="17463">
                <a:solidFill>
                  <a:srgbClr val="5A6472"/>
                </a:solidFill>
              </a:ln>
            </p:spPr>
          </p:sp>
          <p:sp>
            <p:nvSpPr>
              <p:cNvPr id="11" name="Freeform 11"/>
              <p:cNvSpPr/>
              <p:nvPr/>
            </p:nvSpPr>
            <p:spPr>
              <a:xfrm>
                <a:off x="714375" y="2004219"/>
                <a:ext cx="26194" cy="69850"/>
              </a:xfrm>
              <a:custGeom>
                <a:avLst/>
                <a:gdLst/>
                <a:ahLst/>
                <a:cxnLst/>
                <a:rect l="l" t="t" r="r" b="b"/>
                <a:pathLst>
                  <a:path w="26194" h="69850">
                    <a:moveTo>
                      <a:pt x="0" y="0"/>
                    </a:moveTo>
                    <a:lnTo>
                      <a:pt x="0" y="43656"/>
                    </a:lnTo>
                    <a:lnTo>
                      <a:pt x="26194" y="69850"/>
                    </a:lnTo>
                  </a:path>
                </a:pathLst>
              </a:custGeom>
              <a:noFill/>
              <a:ln w="17463">
                <a:solidFill>
                  <a:srgbClr val="5A6472"/>
                </a:solidFill>
              </a:ln>
            </p:spPr>
          </p:sp>
        </p:grpSp>
        <p:sp>
          <p:nvSpPr>
            <p:cNvPr id="13" name="TextBox 13"/>
            <p:cNvSpPr txBox="1"/>
            <p:nvPr/>
          </p:nvSpPr>
          <p:spPr>
            <a:xfrm>
              <a:off x="888492" y="1959292"/>
              <a:ext cx="284538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先解决合法性:凭什么可以只取样本</a:t>
              </a:r>
            </a:p>
          </p:txBody>
        </p:sp>
        <p:sp>
          <p:nvSpPr>
            <p:cNvPr id="14" name="TextBox 14"/>
            <p:cNvSpPr txBox="1"/>
            <p:nvPr/>
          </p:nvSpPr>
          <p:spPr>
            <a:xfrm>
              <a:off x="600456" y="2282190"/>
              <a:ext cx="5065776"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采样定理(Shannon,1949):带宽限于 W 的信号,</a:t>
              </a:r>
              <a:br/>
              <a:r>
                <a:rPr lang="zh-CN" sz="1800" dirty="0">
                  <a:solidFill>
                    <a:schemeClr val="dk1"/>
                  </a:solidFill>
                  <a:latin typeface="+mn-lt"/>
                  <a:ea typeface="+mn-ea"/>
                  <a:cs typeface="+mn-cs"/>
                </a:rPr>
                <a:t xml:space="preserve">可以由每秒 </a:t>
              </a:r>
              <a:r>
                <a:rPr lang="zh-CN" sz="1800" b="1" dirty="0">
                  <a:solidFill>
                    <a:schemeClr val="accent1"/>
                  </a:solidFill>
                  <a:latin typeface="+mn-lt"/>
                  <a:ea typeface="+mn-ea"/>
                  <a:cs typeface="+mn-cs"/>
                </a:rPr>
                <a:t>2W 个采样</a:t>
              </a:r>
              <a:r>
                <a:rPr lang="zh-CN" sz="1800" dirty="0">
                  <a:solidFill>
                    <a:schemeClr val="dk1"/>
                  </a:solidFill>
                  <a:latin typeface="+mn-lt"/>
                  <a:ea typeface="+mn-ea"/>
                  <a:cs typeface="+mn-cs"/>
                </a:rPr>
                <a:t>完全确定——信息一点不少。</a:t>
              </a:r>
            </a:p>
          </p:txBody>
        </p:sp>
      </p:grpSp>
      <mc:AlternateContent xmlns:mc="http://schemas.openxmlformats.org/markup-compatibility/2006">
        <mc:Choice xmlns:a14="http://schemas.microsoft.com/office/drawing/2010/main" Requires="a14">
          <p:sp>
            <p:nvSpPr>
              <p:cNvPr id="16" name="dft-formula"/>
              <p:cNvSpPr txBox="1">
                <a:spLocks noGrp="1"/>
              </p:cNvSpPr>
              <p:nvPr/>
            </p:nvSpPr>
            <p:spPr>
              <a:xfrm>
                <a:off x="609600" y="3105150"/>
                <a:ext cx="8534400" cy="9906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2100" dirty="0">
                              <a:solidFill>
                                <a:srgbClr val="123B63"/>
                              </a:solidFill>
                              <a:latin typeface="Cambria Math"/>
                              <a:ea typeface="Cambria Math"/>
                              <a:cs typeface="Cambria Math"/>
                            </a:rPr>
                            <m:t>X</m:t>
                          </m:r>
                        </m:e>
                        <m:sub>
                          <m:r>
                            <a:rPr lang="zh-CN" sz="2100" dirty="0">
                              <a:solidFill>
                                <a:srgbClr val="123B63"/>
                              </a:solidFill>
                              <a:latin typeface="Cambria Math"/>
                              <a:ea typeface="Cambria Math"/>
                              <a:cs typeface="Cambria Math"/>
                            </a:rPr>
                            <m:t>k</m:t>
                          </m:r>
                        </m:sub>
                      </m:sSub>
                      <m:r>
                        <m:rPr>
                          <m:sty m:val="p"/>
                        </m:rPr>
                        <a:rPr lang="zh-CN" sz="2100" dirty="0">
                          <a:solidFill>
                            <a:srgbClr val="123B63"/>
                          </a:solidFill>
                          <a:latin typeface="Cambria Math"/>
                          <a:ea typeface="Cambria Math"/>
                          <a:cs typeface="Cambria Math"/>
                        </a:rPr>
                        <m:t>=</m:t>
                      </m:r>
                      <m:nary>
                        <m:naryPr>
                          <m:chr m:val="∑"/>
                          <m:limLoc m:val="undOvr"/>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0</m:t>
                          </m:r>
                        </m:sub>
                        <m:sup>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sup>
                        <m:e>
                          <m:sSub>
                            <m:e>
                              <m:r>
                                <a:rPr lang="zh-CN" sz="2100" dirty="0">
                                  <a:solidFill>
                                    <a:srgbClr val="123B63"/>
                                  </a:solidFill>
                                  <a:latin typeface="Cambria Math"/>
                                  <a:ea typeface="Cambria Math"/>
                                  <a:cs typeface="Cambria Math"/>
                                </a:rPr>
                                <m:t>x</m:t>
                              </m:r>
                            </m:e>
                            <m:sub>
                              <m:r>
                                <a:rPr lang="zh-CN" sz="2100" dirty="0">
                                  <a:solidFill>
                                    <a:srgbClr val="123B63"/>
                                  </a:solidFill>
                                  <a:latin typeface="Cambria Math"/>
                                  <a:ea typeface="Cambria Math"/>
                                  <a:cs typeface="Cambria Math"/>
                                </a:rPr>
                                <m:t>n</m:t>
                              </m:r>
                            </m:sub>
                          </m:sSub>
                          <m:r>
                            <a:rPr lang="zh-CN" sz="2100" dirty="0">
                              <a:solidFill>
                                <a:srgbClr val="123B63"/>
                              </a:solidFill>
                              <a:latin typeface="Cambria Math"/>
                              <a:ea typeface="Cambria Math"/>
                              <a:cs typeface="Cambria Math"/>
                            </a:rPr>
                            <m:t xml:space="preserve"> </m:t>
                          </m:r>
                          <m:sSup>
                            <m:e>
                              <m:r>
                                <a:rPr lang="zh-CN" sz="2100" dirty="0">
                                  <a:solidFill>
                                    <a:srgbClr val="123B63"/>
                                  </a:solidFill>
                                  <a:latin typeface="Cambria Math"/>
                                  <a:ea typeface="Cambria Math"/>
                                  <a:cs typeface="Cambria Math"/>
                                </a:rPr>
                                <m:t>e</m:t>
                              </m:r>
                            </m:e>
                            <m: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i2πkn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N</m:t>
                              </m:r>
                            </m:sup>
                          </m:sSup>
                        </m:e>
                      </m:nary>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 xml:space="preserve"> </m:t>
                      </m:r>
                      <m:r>
                        <a:rPr lang="zh-CN" sz="2100" dirty="0">
                          <a:solidFill>
                            <a:srgbClr val="123B63"/>
                          </a:solidFill>
                          <a:latin typeface="Cambria Math"/>
                          <a:ea typeface="Cambria Math"/>
                          <a:cs typeface="Cambria Math"/>
                        </a:rPr>
                        <m:t>k</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0</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oMath>
                  </m:oMathPara>
                </a14:m>
              </a:p>
            </p:txBody>
          </p:sp>
        </mc:Choice>
      </mc:AlternateContent>
      <p:grpSp>
        <p:nvGrpSpPr>
          <p:cNvPr id="20" name="dft-reading"/>
          <p:cNvGrpSpPr/>
          <p:nvPr/>
        </p:nvGrpSpPr>
        <p:grpSpPr>
          <a:xfrm>
            <a:off x="600456" y="4263390"/>
            <a:ext cx="7900873" cy="1380744"/>
            <a:chOff x="600456" y="4263390"/>
            <a:chExt cx="7900873" cy="1380744"/>
          </a:xfrm>
        </p:grpSpPr>
        <p:sp>
          <p:nvSpPr>
            <p:cNvPr id="17" name="TextBox 17"/>
            <p:cNvSpPr txBox="1"/>
            <p:nvPr/>
          </p:nvSpPr>
          <p:spPr>
            <a:xfrm>
              <a:off x="600456" y="4263390"/>
              <a:ext cx="672907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和连续版对着看:积分换成 N 项求和,连续频率换成 N 个频点,</a:t>
              </a:r>
            </a:p>
          </p:txBody>
        </p:sp>
        <mc:AlternateContent xmlns:mc="http://schemas.openxmlformats.org/markup-compatibility/2006">
          <mc:Choice xmlns:a14="http://schemas.microsoft.com/office/drawing/2010/main" Requires="a14">
            <p:sp>
              <p:nvSpPr>
                <p:cNvPr id="18" name="TextBox 18"/>
                <p:cNvSpPr txBox="1"/>
                <p:nvPr/>
              </p:nvSpPr>
              <p:spPr>
                <a:xfrm>
                  <a:off x="600456" y="4606290"/>
                  <a:ext cx="790087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指数里的 </a:t>
                  </a:r>
                  <a14:m>
                    <m:oMath xmlns:a="http://schemas.openxmlformats.org/drawingml/2006/main" xmlns:m="http://schemas.openxmlformats.org/officeDocument/2006/math">
                      <m:r>
                        <a:rPr lang="zh-CN" sz="1800" dirty="0">
                          <a:solidFill>
                            <a:schemeClr val="dk1"/>
                          </a:solidFill>
                          <a:latin typeface="Cambria Math"/>
                          <a:ea typeface="Cambria Math"/>
                          <a:cs typeface="Cambria Math"/>
                        </a:rPr>
                        <m:t>ωt</m:t>
                      </m:r>
                    </m:oMath>
                  </a14:m>
                  <a:r>
                    <a:rPr lang="zh-CN" sz="1800" dirty="0">
                      <a:solidFill>
                        <a:schemeClr val="dk1"/>
                      </a:solidFill>
                      <a:latin typeface="+mn-lt"/>
                      <a:ea typeface="+mn-ea"/>
                      <a:cs typeface="+mn-cs"/>
                    </a:rPr>
                    <a:t xml:space="preserve"> 换成 </a:t>
                  </a:r>
                  <a14:m>
                    <m:oMath xmlns:a="http://schemas.openxmlformats.org/drawingml/2006/main" xmlns:m="http://schemas.openxmlformats.org/officeDocument/2006/math">
                      <m:r>
                        <a:rPr lang="zh-CN" sz="1800" dirty="0">
                          <a:solidFill>
                            <a:schemeClr val="dk1"/>
                          </a:solidFill>
                          <a:latin typeface="Cambria Math"/>
                          <a:ea typeface="Cambria Math"/>
                          <a:cs typeface="Cambria Math"/>
                        </a:rPr>
                        <m:t>2πkn</m:t>
                      </m:r>
                      <m:r>
                        <m:rPr>
                          <m:sty m:val="p"/>
                        </m:rPr>
                        <a:rPr lang="zh-CN" sz="1800" dirty="0">
                          <a:solidFill>
                            <a:schemeClr val="dk1"/>
                          </a:solidFill>
                          <a:latin typeface="Cambria Math"/>
                          <a:ea typeface="Cambria Math"/>
                          <a:cs typeface="Cambria Math"/>
                        </a:rPr>
                        <m:t>/</m:t>
                      </m:r>
                      <m:r>
                        <a:rPr lang="zh-CN" sz="1800" dirty="0">
                          <a:solidFill>
                            <a:schemeClr val="dk1"/>
                          </a:solidFill>
                          <a:latin typeface="Cambria Math"/>
                          <a:ea typeface="Cambria Math"/>
                          <a:cs typeface="Cambria Math"/>
                        </a:rPr>
                        <m:t>N</m:t>
                      </m:r>
                    </m:oMath>
                  </a14:m>
                  <a:r>
                    <a:rPr lang="zh-CN" sz="1800" dirty="0">
                      <a:solidFill>
                        <a:schemeClr val="dk1"/>
                      </a:solidFill>
                      <a:latin typeface="+mn-lt"/>
                      <a:ea typeface="+mn-ea"/>
                      <a:cs typeface="+mn-cs"/>
                    </a:rPr>
                    <a:t>——形状没变,只是把「所有」改成「有限个」。</a:t>
                  </a:r>
                </a:p>
              </p:txBody>
            </p:sp>
          </mc:Choice>
        </mc:AlternateContent>
        <p:sp>
          <p:nvSpPr>
            <p:cNvPr id="19" name="TextBox 19"/>
            <p:cNvSpPr txBox="1"/>
            <p:nvPr/>
          </p:nvSpPr>
          <p:spPr>
            <a:xfrm>
              <a:off x="600456" y="5292090"/>
              <a:ext cx="657270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N 个复数进去,N 个复数出来:信息不增不减,只是换了坐标。</a:t>
              </a:r>
            </a:p>
          </p:txBody>
        </p:sp>
      </p:grpSp>
      <p:grpSp>
        <p:nvGrpSpPr>
          <p:cNvPr id="23" name="dft-note"/>
          <p:cNvGrpSpPr/>
          <p:nvPr/>
        </p:nvGrpSpPr>
        <p:grpSpPr>
          <a:xfrm>
            <a:off x="600456" y="5749290"/>
            <a:ext cx="6179058" cy="1037844"/>
            <a:chOff x="600456" y="5749290"/>
            <a:chExt cx="6179058" cy="1037844"/>
          </a:xfrm>
        </p:grpSpPr>
        <mc:AlternateContent xmlns:mc="http://schemas.openxmlformats.org/markup-compatibility/2006">
          <mc:Choice xmlns:a14="http://schemas.microsoft.com/office/drawing/2010/main" Requires="a14">
            <p:sp>
              <p:nvSpPr>
                <p:cNvPr id="21" name="TextBox 21"/>
                <p:cNvSpPr txBox="1"/>
                <p:nvPr/>
              </p:nvSpPr>
              <p:spPr>
                <a:xfrm>
                  <a:off x="600456" y="5749290"/>
                  <a:ext cx="6179058" cy="771296"/>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这就是计算机里真正跑的那条公式:麦克风采到的是一串数,</a:t>
                  </a:r>
                  <a:br/>
                  <a:r>
                    <a:rPr lang="zh-CN" sz="1800" dirty="0">
                      <a:solidFill>
                        <a:schemeClr val="dk1"/>
                      </a:solidFill>
                      <a:latin typeface="+mn-lt"/>
                      <a:ea typeface="+mn-ea"/>
                      <a:cs typeface="+mn-cs"/>
                    </a:rPr>
                    <a:t xml:space="preserve">频谱图上的每一根竖线,都是上面这条求和算出来的一个 </a:t>
                  </a:r>
                  <a14:m>
                    <m:oMath xmlns:a="http://schemas.openxmlformats.org/drawingml/2006/main" xmlns:m="http://schemas.openxmlformats.org/officeDocument/2006/math">
                      <m:sSub>
                        <m:e>
                          <m:r>
                            <a:rPr lang="zh-CN" sz="1800" dirty="0">
                              <a:solidFill>
                                <a:schemeClr val="dk1"/>
                              </a:solidFill>
                              <a:latin typeface="Cambria Math"/>
                              <a:ea typeface="Cambria Math"/>
                              <a:cs typeface="Cambria Math"/>
                            </a:rPr>
                            <m:t>X</m:t>
                          </m:r>
                        </m:e>
                        <m:sub>
                          <m:r>
                            <a:rPr lang="zh-CN" sz="1800" dirty="0">
                              <a:solidFill>
                                <a:schemeClr val="dk1"/>
                              </a:solidFill>
                              <a:latin typeface="Cambria Math"/>
                              <a:ea typeface="Cambria Math"/>
                              <a:cs typeface="Cambria Math"/>
                            </a:rPr>
                            <m:t>k</m:t>
                          </m:r>
                        </m:sub>
                      </m:sSub>
                    </m:oMath>
                  </a14:m>
                  <a:r>
                    <a:rPr lang="zh-CN" sz="1800" dirty="0">
                      <a:solidFill>
                        <a:schemeClr val="dk1"/>
                      </a:solidFill>
                      <a:latin typeface="+mn-lt"/>
                      <a:ea typeface="+mn-ea"/>
                      <a:cs typeface="+mn-cs"/>
                    </a:rPr>
                    <a:t>。</a:t>
                  </a:r>
                </a:p>
              </p:txBody>
            </p:sp>
          </mc:Choice>
        </mc:AlternateContent>
        <p:sp>
          <p:nvSpPr>
            <p:cNvPr id="22" name="TextBox 22"/>
            <p:cNvSpPr txBox="1"/>
            <p:nvPr/>
          </p:nvSpPr>
          <p:spPr>
            <a:xfrm>
              <a:off x="600456" y="6435090"/>
              <a:ext cx="504474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下一个问题只剩一个:这条求和,算起来贵不贵?</a:t>
              </a:r>
            </a:p>
          </p:txBody>
        </p:sp>
      </p:grpSp>
      <p:grpSp>
        <p:nvGrpSpPr>
          <p:cNvPr id="26" name="page-footer"/>
          <p:cNvGrpSpPr/>
          <p:nvPr/>
        </p:nvGrpSpPr>
        <p:grpSpPr>
          <a:xfrm>
            <a:off x="603504" y="6880860"/>
            <a:ext cx="8546592" cy="234696"/>
            <a:chOff x="603504" y="6880860"/>
            <a:chExt cx="8546592" cy="234696"/>
          </a:xfrm>
        </p:grpSpPr>
        <p:sp>
          <p:nvSpPr>
            <p:cNvPr id="24" name="TextBox 24"/>
            <p:cNvSpPr txBox="1"/>
            <p:nvPr/>
          </p:nvSpPr>
          <p:spPr>
            <a:xfrm>
              <a:off x="603504" y="6880860"/>
              <a:ext cx="784547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来源:Shannon, Communication in the Presence of Noise, Proc. IRE 37(1):10–21, 1949(F009)</a:t>
              </a:r>
            </a:p>
          </p:txBody>
        </p:sp>
        <p:sp>
          <p:nvSpPr>
            <p:cNvPr id="25" name="TextBox 25"/>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a:t>
              </a:r>
            </a:p>
          </p:txBody>
        </p:sp>
      </p:grpSp>
    </p:spTree>
  </p:cSld>
  <p:clrMapOvr>
    <a:masterClrMapping/>
  </p:clrMapOvr>
  <p:transition xmlns:p14="http://schemas.microsoft.com/office/powerpoint/2010/mai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par>
                          <p:cTn id="16" fill="hold">
                            <p:stCondLst>
                              <p:cond delay="24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a14="http://schemas.microsoft.com/office/drawing/2010/main" xmlns:m="http://schemas.openxmlformats.org/officeDocument/2006/math" xmlns:mc="http://schemas.openxmlformats.org/markup-compatibility/2006"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1905000"/>
            <a:ext cx="8534400" cy="990600"/>
          </a:xfrm>
          <a:prstGeom prst="rect">
            <a:avLst/>
          </a:prstGeom>
          <a:solidFill>
            <a:schemeClr val="lt2"/>
          </a:solidFill>
          <a:ln>
            <a:noFill/>
          </a:ln>
        </p:spPr>
      </p:sp>
      <p:sp>
        <p:nvSpPr>
          <p:cNvPr id="4" name="formula-band-bar"/>
          <p:cNvSpPr/>
          <p:nvPr/>
        </p:nvSpPr>
        <p:spPr>
          <a:xfrm>
            <a:off x="609600" y="1905000"/>
            <a:ext cx="28575" cy="990600"/>
          </a:xfrm>
          <a:prstGeom prst="rect">
            <a:avLst/>
          </a:prstGeom>
          <a:solidFill>
            <a:schemeClr val="accent1"/>
          </a:solidFill>
          <a:ln>
            <a:noFill/>
          </a:ln>
        </p:spPr>
      </p:sp>
      <p:grpSp>
        <p:nvGrpSpPr>
          <p:cNvPr id="7" name="section-kicker"/>
          <p:cNvGrpSpPr/>
          <p:nvPr/>
        </p:nvGrpSpPr>
        <p:grpSpPr>
          <a:xfrm>
            <a:off x="602742" y="552450"/>
            <a:ext cx="1727530" cy="404051"/>
            <a:chOff x="602742" y="552450"/>
            <a:chExt cx="1727530"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5 节 · 离散与快速</a:t>
              </a:r>
            </a:p>
          </p:txBody>
        </p:sp>
      </p:grpSp>
      <p:grpSp>
        <p:nvGrpSpPr>
          <p:cNvPr id="9" name="page-title"/>
          <p:cNvGrpSpPr/>
          <p:nvPr/>
        </p:nvGrpSpPr>
        <p:grpSpPr>
          <a:xfrm>
            <a:off x="593598" y="1050608"/>
            <a:ext cx="5408676" cy="616077"/>
            <a:chOff x="593598" y="1050608"/>
            <a:chExt cx="5408676" cy="616077"/>
          </a:xfrm>
        </p:grpSpPr>
        <p:sp>
          <p:nvSpPr>
            <p:cNvPr id="8" name="TextBox 8"/>
            <p:cNvSpPr txBox="1"/>
            <p:nvPr/>
          </p:nvSpPr>
          <p:spPr>
            <a:xfrm>
              <a:off x="593598" y="1050608"/>
              <a:ext cx="5408676"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每个频点都要遍历所有样本</a:t>
              </a:r>
            </a:p>
          </p:txBody>
        </p:sp>
      </p:grpSp>
      <mc:AlternateContent>
        <mc:Choice Requires="a14">
          <p:sp>
            <p:nvSpPr>
              <p:cNvPr id="10" name="dft-cost-formula"/>
              <p:cNvSpPr txBox="1">
                <a:spLocks noGrp="1"/>
              </p:cNvSpPr>
              <p:nvPr/>
            </p:nvSpPr>
            <p:spPr>
              <a:xfrm>
                <a:off x="609600" y="1905000"/>
                <a:ext cx="8534400" cy="990600"/>
              </a:xfrm>
              <a:prstGeom prst="rect">
                <a:avLst/>
              </a:prstGeom>
              <a:noFill/>
              <a:ln>
                <a:noFill/>
              </a:ln>
            </p:spPr>
            <p:txBody>
              <a:bodyPr lIns="0" tIns="0" rIns="0" bIns="0" wrap="none" anchor="ctr">
                <a:normAutofit/>
              </a:bodyPr>
              <a:lstStyle/>
              <a:p>
                <a:pPr algn="ctr"/>
                <a14:m>
                  <m:oMathPara>
                    <m:oMathParaPr>
                      <m:jc m:val="center"/>
                    </m:oMathParaPr>
                    <m:oMath>
                      <m:sSub>
                        <m:e>
                          <m:r>
                            <a:rPr lang="zh-CN" sz="2100" dirty="0">
                              <a:solidFill>
                                <a:srgbClr val="123B63"/>
                              </a:solidFill>
                              <a:latin typeface="Cambria Math"/>
                              <a:ea typeface="Cambria Math"/>
                              <a:cs typeface="Cambria Math"/>
                            </a:rPr>
                            <m:t>X</m:t>
                          </m:r>
                        </m:e>
                        <m:sub>
                          <m:r>
                            <a:rPr lang="zh-CN" sz="2100" dirty="0">
                              <a:solidFill>
                                <a:srgbClr val="123B63"/>
                              </a:solidFill>
                              <a:latin typeface="Cambria Math"/>
                              <a:ea typeface="Cambria Math"/>
                              <a:cs typeface="Cambria Math"/>
                            </a:rPr>
                            <m:t>k</m:t>
                          </m:r>
                        </m:sub>
                      </m:sSub>
                      <m:r>
                        <m:rPr>
                          <m:sty m:val="p"/>
                        </m:rPr>
                        <a:rPr lang="zh-CN" sz="2100" dirty="0">
                          <a:solidFill>
                            <a:srgbClr val="123B63"/>
                          </a:solidFill>
                          <a:latin typeface="Cambria Math"/>
                          <a:ea typeface="Cambria Math"/>
                          <a:cs typeface="Cambria Math"/>
                        </a:rPr>
                        <m:t>=</m:t>
                      </m:r>
                      <m:nary>
                        <m:naryPr>
                          <m:chr m:val="∑"/>
                          <m:limLoc m:val="undOvr"/>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0</m:t>
                          </m:r>
                        </m:sub>
                        <m:sup>
                          <m:r>
                            <a:rPr lang="zh-CN" sz="2100" dirty="0">
                              <a:solidFill>
                                <a:srgbClr val="123B63"/>
                              </a:solidFill>
                              <a:latin typeface="Cambria Math"/>
                              <a:ea typeface="Cambria Math"/>
                              <a:cs typeface="Cambria Math"/>
                            </a:rPr>
                            <m:t>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sup>
                        <m:e>
                          <m:sSub>
                            <m:e>
                              <m:r>
                                <a:rPr lang="zh-CN" sz="2100" dirty="0">
                                  <a:solidFill>
                                    <a:srgbClr val="123B63"/>
                                  </a:solidFill>
                                  <a:latin typeface="Cambria Math"/>
                                  <a:ea typeface="Cambria Math"/>
                                  <a:cs typeface="Cambria Math"/>
                                </a:rPr>
                                <m:t>x</m:t>
                              </m:r>
                            </m:e>
                            <m:sub>
                              <m:r>
                                <a:rPr lang="zh-CN" sz="2100" dirty="0">
                                  <a:solidFill>
                                    <a:srgbClr val="123B63"/>
                                  </a:solidFill>
                                  <a:latin typeface="Cambria Math"/>
                                  <a:ea typeface="Cambria Math"/>
                                  <a:cs typeface="Cambria Math"/>
                                </a:rPr>
                                <m:t>n</m:t>
                              </m:r>
                            </m:sub>
                          </m:sSub>
                          <m:r>
                            <a:rPr lang="zh-CN" sz="2100" dirty="0">
                              <a:solidFill>
                                <a:srgbClr val="123B63"/>
                              </a:solidFill>
                              <a:latin typeface="Cambria Math"/>
                              <a:ea typeface="Cambria Math"/>
                              <a:cs typeface="Cambria Math"/>
                            </a:rPr>
                            <m:t xml:space="preserve"> </m:t>
                          </m:r>
                          <m:sSup>
                            <m:e>
                              <m:r>
                                <a:rPr lang="zh-CN" sz="2100" dirty="0">
                                  <a:solidFill>
                                    <a:srgbClr val="123B63"/>
                                  </a:solidFill>
                                  <a:latin typeface="Cambria Math"/>
                                  <a:ea typeface="Cambria Math"/>
                                  <a:cs typeface="Cambria Math"/>
                                </a:rPr>
                                <m:t>e</m:t>
                              </m:r>
                            </m:e>
                            <m: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i2πkn</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N</m:t>
                              </m:r>
                            </m:sup>
                          </m:sSup>
                        </m:e>
                      </m:nary>
                    </m:oMath>
                  </m:oMathPara>
                </a14:m>
              </a:p>
            </p:txBody>
          </p:sp>
        </mc:Choice>
      </mc:AlternateContent>
      <p:grpSp>
        <p:nvGrpSpPr>
          <p:cNvPr id="13" name="!!cost-figure"/>
          <p:cNvGrpSpPr/>
          <p:nvPr/>
        </p:nvGrpSpPr>
        <p:grpSpPr>
          <a:xfrm>
            <a:off x="590550" y="3324225"/>
            <a:ext cx="3764470" cy="876300"/>
            <a:chOff x="590550" y="3324225"/>
            <a:chExt cx="3764470" cy="876300"/>
          </a:xfrm>
        </p:grpSpPr>
        <p:sp>
          <p:nvSpPr>
            <p:cNvPr id="11" name="TextBox 11"/>
            <p:cNvSpPr txBox="1"/>
            <p:nvPr/>
          </p:nvSpPr>
          <p:spPr>
            <a:xfrm>
              <a:off x="590550" y="3324225"/>
              <a:ext cx="893064" cy="876300"/>
            </a:xfrm>
            <a:prstGeom prst="rect">
              <a:avLst/>
            </a:prstGeom>
            <a:noFill/>
            <a:ln>
              <a:noFill/>
            </a:ln>
          </p:spPr>
          <p:txBody>
            <a:bodyPr wrap="none" lIns="0" tIns="0" rIns="0" bIns="0" anchor="t" anchorCtr="0">
              <a:spAutoFit/>
            </a:bodyPr>
            <a:lstStyle/>
            <a:p>
              <a:pPr algn="l"/>
              <a:r>
                <a:rPr lang="zh-CN" sz="4500" dirty="0">
                  <a:solidFill>
                    <a:schemeClr val="accent2"/>
                  </a:solidFill>
                  <a:latin typeface="+mj-lt"/>
                  <a:ea typeface="+mj-ea"/>
                  <a:cs typeface="+mj-cs"/>
                </a:rPr>
                <a:t>N²</a:t>
              </a:r>
            </a:p>
          </p:txBody>
        </p:sp>
        <p:sp>
          <p:nvSpPr>
            <p:cNvPr id="12" name="TextBox 12"/>
            <p:cNvSpPr txBox="1"/>
            <p:nvPr/>
          </p:nvSpPr>
          <p:spPr>
            <a:xfrm>
              <a:off x="1898142" y="3454718"/>
              <a:ext cx="245687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一个频点要走一遍全部样本</a:t>
              </a:r>
              <a:br/>
              <a:r>
                <a:rPr lang="zh-CN" sz="1350" dirty="0">
                  <a:solidFill>
                    <a:schemeClr val="accent5"/>
                  </a:solidFill>
                  <a:latin typeface="+mn-lt"/>
                  <a:ea typeface="+mn-ea"/>
                  <a:cs typeface="+mn-cs"/>
                </a:rPr>
                <a:t>N 个频点,就是 N × N 次复数乘加</a:t>
              </a:r>
            </a:p>
          </p:txBody>
        </p:sp>
      </p:grpSp>
      <p:grpSp>
        <p:nvGrpSpPr>
          <p:cNvPr id="15" name="cost-numbers"/>
          <p:cNvGrpSpPr/>
          <p:nvPr/>
        </p:nvGrpSpPr>
        <p:grpSpPr>
          <a:xfrm>
            <a:off x="5517642" y="3454718"/>
            <a:ext cx="2645474" cy="511683"/>
            <a:chOff x="5517642" y="3454718"/>
            <a:chExt cx="2645474" cy="511683"/>
          </a:xfrm>
        </p:grpSpPr>
        <p:sp>
          <p:nvSpPr>
            <p:cNvPr id="14" name="TextBox 14"/>
            <p:cNvSpPr txBox="1"/>
            <p:nvPr/>
          </p:nvSpPr>
          <p:spPr>
            <a:xfrm>
              <a:off x="5517642" y="3454718"/>
              <a:ext cx="2645474"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N = 1024 时约 1 048 576 次(整理)</a:t>
              </a:r>
              <a:br/>
              <a:r>
                <a:rPr lang="zh-CN" sz="1350" dirty="0">
                  <a:solidFill>
                    <a:schemeClr val="dk1"/>
                  </a:solidFill>
                  <a:latin typeface="+mn-lt"/>
                  <a:ea typeface="+mn-ea"/>
                  <a:cs typeface="+mn-cs"/>
                </a:rPr>
                <a:t>实时音频每秒要做很多次这种变换</a:t>
              </a:r>
            </a:p>
          </p:txBody>
        </p:sp>
      </p:grpSp>
      <p:grpSp>
        <p:nvGrpSpPr>
          <p:cNvPr id="19" name="cost-reading"/>
          <p:cNvGrpSpPr/>
          <p:nvPr/>
        </p:nvGrpSpPr>
        <p:grpSpPr>
          <a:xfrm>
            <a:off x="600456" y="4320540"/>
            <a:ext cx="6944868" cy="1380744"/>
            <a:chOff x="600456" y="4320540"/>
            <a:chExt cx="6944868" cy="1380744"/>
          </a:xfrm>
        </p:grpSpPr>
        <p:sp>
          <p:nvSpPr>
            <p:cNvPr id="16" name="TextBox 16"/>
            <p:cNvSpPr txBox="1"/>
            <p:nvPr/>
          </p:nvSpPr>
          <p:spPr>
            <a:xfrm>
              <a:off x="600456" y="4320540"/>
              <a:ext cx="622889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代价直接写在求和号里:里层跑 n,外层跑 k,两层都到 N。</a:t>
              </a:r>
            </a:p>
          </p:txBody>
        </p:sp>
        <p:sp>
          <p:nvSpPr>
            <p:cNvPr id="17" name="TextBox 17"/>
            <p:cNvSpPr txBox="1"/>
            <p:nvPr/>
          </p:nvSpPr>
          <p:spPr>
            <a:xfrm>
              <a:off x="600456" y="4663440"/>
              <a:ext cx="694486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所以朴素实现是 O(N²):样本翻一倍,时间变四倍。把 N 从 1024 抬到</a:t>
              </a:r>
              <a:br/>
              <a:r>
                <a:rPr lang="zh-CN" sz="1800" dirty="0">
                  <a:solidFill>
                    <a:schemeClr val="dk1"/>
                  </a:solidFill>
                  <a:latin typeface="+mn-lt"/>
                  <a:ea typeface="+mn-ea"/>
                  <a:cs typeface="+mn-cs"/>
                </a:rPr>
                <a:t>4096,代价就从百万级跳到千万级——长信号照这个写法根本算不动。</a:t>
              </a:r>
            </a:p>
          </p:txBody>
        </p:sp>
        <p:sp>
          <p:nvSpPr>
            <p:cNvPr id="18" name="TextBox 18"/>
            <p:cNvSpPr txBox="1"/>
            <p:nvPr/>
          </p:nvSpPr>
          <p:spPr>
            <a:xfrm>
              <a:off x="600456" y="5349240"/>
              <a:ext cx="601400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注意:公式没有错,慢的不是数学,是</a:t>
              </a:r>
              <a:r>
                <a:rPr lang="zh-CN" sz="1800" b="1" dirty="0">
                  <a:solidFill>
                    <a:schemeClr val="accent2"/>
                  </a:solidFill>
                  <a:latin typeface="+mn-lt"/>
                  <a:ea typeface="+mn-ea"/>
                  <a:cs typeface="+mn-cs"/>
                </a:rPr>
                <a:t>照定义硬算</a:t>
              </a:r>
              <a:r>
                <a:rPr lang="zh-CN" sz="1800" dirty="0">
                  <a:solidFill>
                    <a:schemeClr val="dk1"/>
                  </a:solidFill>
                  <a:latin typeface="+mn-lt"/>
                  <a:ea typeface="+mn-ea"/>
                  <a:cs typeface="+mn-cs"/>
                </a:rPr>
                <a:t>这件事。</a:t>
              </a:r>
            </a:p>
          </p:txBody>
        </p:sp>
      </p:grpSp>
      <p:grpSp>
        <p:nvGrpSpPr>
          <p:cNvPr id="21" name="cost-next"/>
          <p:cNvGrpSpPr/>
          <p:nvPr/>
        </p:nvGrpSpPr>
        <p:grpSpPr>
          <a:xfrm>
            <a:off x="600456" y="5806440"/>
            <a:ext cx="4727448" cy="694944"/>
            <a:chOff x="600456" y="5806440"/>
            <a:chExt cx="4727448" cy="694944"/>
          </a:xfrm>
        </p:grpSpPr>
        <p:sp>
          <p:nvSpPr>
            <p:cNvPr id="20" name="TextBox 20"/>
            <p:cNvSpPr txBox="1"/>
            <p:nvPr/>
          </p:nvSpPr>
          <p:spPr>
            <a:xfrm>
              <a:off x="600456" y="5806440"/>
              <a:ext cx="4727448" cy="6949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1965 年那篇论文没有改这条公式,它只是发现:</a:t>
              </a:r>
              <a:br/>
              <a:r>
                <a:rPr lang="zh-CN" sz="1800" dirty="0">
                  <a:solidFill>
                    <a:schemeClr val="dk1"/>
                  </a:solidFill>
                  <a:latin typeface="+mn-lt"/>
                  <a:ea typeface="+mn-ea"/>
                  <a:cs typeface="+mn-cs"/>
                </a:rPr>
                <a:t>求和里有大量重复的旋转因子,可以只算一次。</a:t>
              </a:r>
            </a:p>
          </p:txBody>
        </p:sp>
      </p:grpSp>
      <p:grpSp>
        <p:nvGrpSpPr>
          <p:cNvPr id="24" name="page-footer"/>
          <p:cNvGrpSpPr/>
          <p:nvPr/>
        </p:nvGrpSpPr>
        <p:grpSpPr>
          <a:xfrm>
            <a:off x="603504" y="6880860"/>
            <a:ext cx="8546592" cy="234696"/>
            <a:chOff x="603504" y="6880860"/>
            <a:chExt cx="8546592" cy="234696"/>
          </a:xfrm>
        </p:grpSpPr>
        <p:sp>
          <p:nvSpPr>
            <p:cNvPr id="22" name="TextBox 22"/>
            <p:cNvSpPr txBox="1"/>
            <p:nvPr/>
          </p:nvSpPr>
          <p:spPr>
            <a:xfrm>
              <a:off x="603504" y="6880860"/>
              <a:ext cx="708522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来源:Cooley &amp; Tukey, Math. Comp. 19(90):297–301, 1965(F003);量级数字为整理所得</a:t>
              </a:r>
            </a:p>
          </p:txBody>
        </p:sp>
        <p:sp>
          <p:nvSpPr>
            <p:cNvPr id="23" name="TextBox 23"/>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3" presetClass="entr" presetSubtype="16" fill="hold" grpId="0" nodeType="afterEffect">
                                  <p:stCondLst>
                                    <p:cond delay="200"/>
                                  </p:stCondLst>
                                  <p:childTnLst>
                                    <p:set>
                                      <p:cBhvr>
                                        <p:cTn id="10" dur="1" fill="hold">
                                          <p:stCondLst>
                                            <p:cond delay="0"/>
                                          </p:stCondLst>
                                        </p:cTn>
                                        <p:tgtEl>
                                          <p:spTgt spid="13"/>
                                        </p:tgtEl>
                                        <p:attrNameLst>
                                          <p:attrName>style.visibility</p:attrName>
                                        </p:attrNameLst>
                                      </p:cBhvr>
                                      <p:to>
                                        <p:strVal val="visible"/>
                                      </p:to>
                                    </p:set>
                                    <p:anim calcmode="lin" valueType="num">
                                      <p:cBhvr>
                                        <p:cTn id="11" dur="600" fill="hold"/>
                                        <p:tgtEl>
                                          <p:spTgt spid="13"/>
                                        </p:tgtEl>
                                        <p:attrNameLst>
                                          <p:attrName>ppt_w</p:attrName>
                                        </p:attrNameLst>
                                      </p:cBhvr>
                                      <p:tavLst>
                                        <p:tav tm="0">
                                          <p:val>
                                            <p:fltVal val="0"/>
                                          </p:val>
                                        </p:tav>
                                        <p:tav tm="100000">
                                          <p:val>
                                            <p:strVal val="#ppt_w"/>
                                          </p:val>
                                        </p:tav>
                                      </p:tavLst>
                                    </p:anim>
                                    <p:anim calcmode="lin" valueType="num">
                                      <p:cBhvr>
                                        <p:cTn id="12" dur="600" fill="hold"/>
                                        <p:tgtEl>
                                          <p:spTgt spid="13"/>
                                        </p:tgtEl>
                                        <p:attrNameLst>
                                          <p:attrName>ppt_h</p:attrName>
                                        </p:attrNameLst>
                                      </p:cBhvr>
                                      <p:tavLst>
                                        <p:tav tm="0">
                                          <p:val>
                                            <p:fltVal val="0"/>
                                          </p:val>
                                        </p:tav>
                                        <p:tav tm="100000">
                                          <p:val>
                                            <p:strVal val="#ppt_h"/>
                                          </p:val>
                                        </p:tav>
                                      </p:tavLst>
                                    </p:anim>
                                  </p:childTnLst>
                                </p:cTn>
                              </p:par>
                            </p:childTnLst>
                          </p:cTn>
                        </p:par>
                        <p:par>
                          <p:cTn id="13" fill="hold">
                            <p:stCondLst>
                              <p:cond delay="1300"/>
                            </p:stCondLst>
                            <p:childTnLst>
                              <p:par>
                                <p:cTn id="14" presetID="10" presetClass="entr" presetSubtype="0" fill="hold" grpId="0" nodeType="afterEffect">
                                  <p:stCondLst>
                                    <p:cond delay="5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par>
                          <p:cTn id="17" fill="hold">
                            <p:stCondLst>
                              <p:cond delay="2200"/>
                            </p:stCondLst>
                            <p:childTnLst>
                              <p:par>
                                <p:cTn id="18" presetID="10" presetClass="entr" presetSubtype="0" fill="hold" grpId="0" nodeType="afterEffect">
                                  <p:stCondLst>
                                    <p:cond delay="50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childTnLst>
                          </p:cTn>
                        </p:par>
                        <p:par>
                          <p:cTn id="21" fill="hold">
                            <p:stCondLst>
                              <p:cond delay="3100"/>
                            </p:stCondLst>
                            <p:childTnLst>
                              <p:par>
                                <p:cTn id="22" presetID="10" presetClass="entr" presetSubtype="0" fill="hold" grpId="0" nodeType="afterEffect">
                                  <p:stCondLst>
                                    <p:cond delay="50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a14="http://schemas.microsoft.com/office/drawing/2010/main" xmlns:c="http://schemas.openxmlformats.org/drawingml/2006/chart" xmlns:m="http://schemas.openxmlformats.org/officeDocument/2006/math"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1866900"/>
            <a:ext cx="8534400" cy="990600"/>
          </a:xfrm>
          <a:prstGeom prst="rect">
            <a:avLst/>
          </a:prstGeom>
          <a:solidFill>
            <a:schemeClr val="lt2"/>
          </a:solidFill>
          <a:ln>
            <a:noFill/>
          </a:ln>
        </p:spPr>
      </p:sp>
      <p:sp>
        <p:nvSpPr>
          <p:cNvPr id="4" name="formula-band-bar"/>
          <p:cNvSpPr/>
          <p:nvPr/>
        </p:nvSpPr>
        <p:spPr>
          <a:xfrm>
            <a:off x="609600" y="1866900"/>
            <a:ext cx="28575" cy="990600"/>
          </a:xfrm>
          <a:prstGeom prst="rect">
            <a:avLst/>
          </a:prstGeom>
          <a:solidFill>
            <a:schemeClr val="accent1"/>
          </a:solidFill>
          <a:ln>
            <a:noFill/>
          </a:ln>
        </p:spPr>
      </p:sp>
      <p:grpSp>
        <p:nvGrpSpPr>
          <p:cNvPr id="7" name="section-kicker"/>
          <p:cNvGrpSpPr/>
          <p:nvPr/>
        </p:nvGrpSpPr>
        <p:grpSpPr>
          <a:xfrm>
            <a:off x="602742" y="552450"/>
            <a:ext cx="1727530" cy="404051"/>
            <a:chOff x="602742" y="552450"/>
            <a:chExt cx="1727530"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72753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5 节 · 离散与快速</a:t>
              </a:r>
            </a:p>
          </p:txBody>
        </p:sp>
      </p:grpSp>
      <p:grpSp>
        <p:nvGrpSpPr>
          <p:cNvPr id="9" name="page-title"/>
          <p:cNvGrpSpPr/>
          <p:nvPr/>
        </p:nvGrpSpPr>
        <p:grpSpPr>
          <a:xfrm>
            <a:off x="593598" y="1050608"/>
            <a:ext cx="5207051" cy="616077"/>
            <a:chOff x="593598" y="1050608"/>
            <a:chExt cx="5207051" cy="616077"/>
          </a:xfrm>
        </p:grpSpPr>
        <p:sp>
          <p:nvSpPr>
            <p:cNvPr id="8" name="TextBox 8"/>
            <p:cNvSpPr txBox="1"/>
            <p:nvPr/>
          </p:nvSpPr>
          <p:spPr>
            <a:xfrm>
              <a:off x="593598" y="1050608"/>
              <a:ext cx="520705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拆成奇偶两半,再递归下去</a:t>
              </a:r>
            </a:p>
          </p:txBody>
        </p:sp>
      </p:grpSp>
      <mc:AlternateContent>
        <mc:Choice Requires="a14">
          <p:sp>
            <p:nvSpPr>
              <p:cNvPr id="10" name="divide-formula"/>
              <p:cNvSpPr txBox="1">
                <a:spLocks noGrp="1"/>
              </p:cNvSpPr>
              <p:nvPr/>
            </p:nvSpPr>
            <p:spPr>
              <a:xfrm>
                <a:off x="609600" y="1866900"/>
                <a:ext cx="8534400" cy="990600"/>
              </a:xfrm>
              <a:prstGeom prst="rect">
                <a:avLst/>
              </a:prstGeom>
              <a:noFill/>
              <a:ln>
                <a:noFill/>
              </a:ln>
            </p:spPr>
            <p:txBody>
              <a:bodyPr lIns="0" tIns="0" rIns="0" bIns="0" wrap="none" anchor="ctr">
                <a:normAutofit/>
              </a:bodyPr>
              <a:lstStyle/>
              <a:p>
                <a:pPr algn="ctr"/>
                <a14:m>
                  <m:oMathPara>
                    <m:oMathParaPr>
                      <m:jc m:val="center"/>
                    </m:oMathParaPr>
                    <m:oMath>
                      <m:sSub>
                        <m:e>
                          <m:r>
                            <a:rPr lang="zh-CN" sz="2100" dirty="0">
                              <a:solidFill>
                                <a:srgbClr val="123B63"/>
                              </a:solidFill>
                              <a:latin typeface="Cambria Math"/>
                              <a:ea typeface="Cambria Math"/>
                              <a:cs typeface="Cambria Math"/>
                            </a:rPr>
                            <m:t>X</m:t>
                          </m:r>
                        </m:e>
                        <m:sub>
                          <m:r>
                            <a:rPr lang="zh-CN" sz="2100" dirty="0">
                              <a:solidFill>
                                <a:srgbClr val="123B63"/>
                              </a:solidFill>
                              <a:latin typeface="Cambria Math"/>
                              <a:ea typeface="Cambria Math"/>
                              <a:cs typeface="Cambria Math"/>
                            </a:rPr>
                            <m:t>k</m:t>
                          </m:r>
                        </m:sub>
                      </m:sSub>
                      <m:r>
                        <m:rPr>
                          <m:sty m:val="p"/>
                        </m:rPr>
                        <a:rPr lang="zh-CN" sz="2100" dirty="0">
                          <a:solidFill>
                            <a:srgbClr val="123B63"/>
                          </a:solidFill>
                          <a:latin typeface="Cambria Math"/>
                          <a:ea typeface="Cambria Math"/>
                          <a:cs typeface="Cambria Math"/>
                        </a:rPr>
                        <m:t>=</m:t>
                      </m:r>
                      <m:sSub>
                        <m:e>
                          <m:r>
                            <a:rPr lang="zh-CN" sz="2100" dirty="0">
                              <a:solidFill>
                                <a:srgbClr val="123B63"/>
                              </a:solidFill>
                              <a:latin typeface="Cambria Math"/>
                              <a:ea typeface="Cambria Math"/>
                              <a:cs typeface="Cambria Math"/>
                            </a:rPr>
                            <m:t>E</m:t>
                          </m:r>
                        </m:e>
                        <m:sub>
                          <m:r>
                            <a:rPr lang="zh-CN" sz="2100" dirty="0">
                              <a:solidFill>
                                <a:srgbClr val="123B63"/>
                              </a:solidFill>
                              <a:latin typeface="Cambria Math"/>
                              <a:ea typeface="Cambria Math"/>
                              <a:cs typeface="Cambria Math"/>
                            </a:rPr>
                            <m:t>k</m:t>
                          </m:r>
                        </m:sub>
                      </m:sSub>
                      <m:r>
                        <m:rPr>
                          <m:sty m:val="p"/>
                        </m:rPr>
                        <a:rPr lang="zh-CN" sz="2100" dirty="0">
                          <a:solidFill>
                            <a:srgbClr val="123B63"/>
                          </a:solidFill>
                          <a:latin typeface="Cambria Math"/>
                          <a:ea typeface="Cambria Math"/>
                          <a:cs typeface="Cambria Math"/>
                        </a:rPr>
                        <m:t>+</m:t>
                      </m:r>
                      <m:sSup>
                        <m:e>
                          <m:r>
                            <a:rPr lang="zh-CN" sz="2100" dirty="0">
                              <a:solidFill>
                                <a:srgbClr val="123B63"/>
                              </a:solidFill>
                              <a:latin typeface="Cambria Math"/>
                              <a:ea typeface="Cambria Math"/>
                              <a:cs typeface="Cambria Math"/>
                            </a:rPr>
                            <m:t>e</m:t>
                          </m:r>
                        </m:e>
                        <m:sup>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i2πk</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N</m:t>
                          </m:r>
                        </m:sup>
                      </m:sSup>
                      <m:sSub>
                        <m:e>
                          <m:r>
                            <a:rPr lang="zh-CN" sz="2100" dirty="0">
                              <a:solidFill>
                                <a:srgbClr val="123B63"/>
                              </a:solidFill>
                              <a:latin typeface="Cambria Math"/>
                              <a:ea typeface="Cambria Math"/>
                              <a:cs typeface="Cambria Math"/>
                            </a:rPr>
                            <m:t>O</m:t>
                          </m:r>
                        </m:e>
                        <m:sub>
                          <m:r>
                            <a:rPr lang="zh-CN" sz="2100" dirty="0">
                              <a:solidFill>
                                <a:srgbClr val="123B63"/>
                              </a:solidFill>
                              <a:latin typeface="Cambria Math"/>
                              <a:ea typeface="Cambria Math"/>
                              <a:cs typeface="Cambria Math"/>
                            </a:rPr>
                            <m:t>k</m:t>
                          </m:r>
                        </m:sub>
                      </m:sSub>
                    </m:oMath>
                  </m:oMathPara>
                </a14:m>
              </a:p>
            </p:txBody>
          </p:sp>
        </mc:Choice>
      </mc:AlternateContent>
      <p:grpSp>
        <p:nvGrpSpPr>
          <p:cNvPr id="13" name="!!cost-figure"/>
          <p:cNvGrpSpPr/>
          <p:nvPr/>
        </p:nvGrpSpPr>
        <p:grpSpPr>
          <a:xfrm>
            <a:off x="590550" y="3057525"/>
            <a:ext cx="5225605" cy="876300"/>
            <a:chOff x="590550" y="3057525"/>
            <a:chExt cx="5225605" cy="876300"/>
          </a:xfrm>
        </p:grpSpPr>
        <p:sp>
          <p:nvSpPr>
            <p:cNvPr id="11" name="TextBox 11"/>
            <p:cNvSpPr txBox="1"/>
            <p:nvPr/>
          </p:nvSpPr>
          <p:spPr>
            <a:xfrm>
              <a:off x="590550" y="3057525"/>
              <a:ext cx="2366162" cy="876300"/>
            </a:xfrm>
            <a:prstGeom prst="rect">
              <a:avLst/>
            </a:prstGeom>
            <a:noFill/>
            <a:ln>
              <a:noFill/>
            </a:ln>
          </p:spPr>
          <p:txBody>
            <a:bodyPr wrap="none" lIns="0" tIns="0" rIns="0" bIns="0" anchor="t" anchorCtr="0">
              <a:spAutoFit/>
            </a:bodyPr>
            <a:lstStyle/>
            <a:p>
              <a:pPr algn="l"/>
              <a:r>
                <a:rPr lang="zh-CN" sz="4500" dirty="0">
                  <a:solidFill>
                    <a:schemeClr val="accent3"/>
                  </a:solidFill>
                  <a:latin typeface="+mj-lt"/>
                  <a:ea typeface="+mj-ea"/>
                  <a:cs typeface="+mj-cs"/>
                </a:rPr>
                <a:t>N log₂N</a:t>
              </a:r>
            </a:p>
          </p:txBody>
        </p:sp>
        <p:sp>
          <p:nvSpPr>
            <p:cNvPr id="12" name="TextBox 12"/>
            <p:cNvSpPr txBox="1"/>
            <p:nvPr/>
          </p:nvSpPr>
          <p:spPr>
            <a:xfrm>
              <a:off x="3136392" y="3188018"/>
              <a:ext cx="2679763"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同一个变换,同一条定义</a:t>
              </a:r>
              <a:br/>
              <a:r>
                <a:rPr lang="zh-CN" sz="1350" dirty="0">
                  <a:solidFill>
                    <a:schemeClr val="accent5"/>
                  </a:solidFill>
                  <a:latin typeface="+mn-lt"/>
                  <a:ea typeface="+mn-ea"/>
                  <a:cs typeface="+mn-cs"/>
                </a:rPr>
                <a:t>只是换了算路,代价掉了两个数量级</a:t>
              </a:r>
            </a:p>
          </p:txBody>
        </p:sp>
      </p:grpSp>
      <p:graphicFrame>
        <p:nvGraphicFramePr>
          <p:cNvPr id="14" name="complexity-compare"/>
          <p:cNvGraphicFramePr>
            <a:graphicFrameLocks noGrp="1"/>
          </p:cNvGraphicFramePr>
          <p:nvPr/>
        </p:nvGraphicFramePr>
        <p:xfrm>
          <a:off x="609600" y="3790950"/>
          <a:ext cx="4953000" cy="2686050"/>
        </p:xfrm>
        <a:graphic>
          <a:graphicData uri="http://schemas.openxmlformats.org/drawingml/2006/chart">
            <c:chart r:id="rId2"/>
          </a:graphicData>
        </a:graphic>
      </p:graphicFrame>
      <p:grpSp>
        <p:nvGrpSpPr>
          <p:cNvPr id="21" name="divide-reading"/>
          <p:cNvGrpSpPr/>
          <p:nvPr/>
        </p:nvGrpSpPr>
        <p:grpSpPr>
          <a:xfrm>
            <a:off x="5896356" y="3845242"/>
            <a:ext cx="2818638" cy="2389442"/>
            <a:chOff x="5896356" y="3845242"/>
            <a:chExt cx="2818638" cy="2389442"/>
          </a:xfrm>
        </p:grpSpPr>
        <p:grpSp>
          <p:nvGrpSpPr>
            <p:cNvPr id="17" name="Group 17"/>
            <p:cNvGrpSpPr/>
            <p:nvPr/>
          </p:nvGrpSpPr>
          <p:grpSpPr>
            <a:xfrm>
              <a:off x="5940425" y="3855244"/>
              <a:ext cx="139700" cy="157162"/>
              <a:chOff x="5940425" y="3855244"/>
              <a:chExt cx="139700" cy="157162"/>
            </a:xfrm>
          </p:grpSpPr>
          <p:sp>
            <p:nvSpPr>
              <p:cNvPr id="15" name="Freeform 15"/>
              <p:cNvSpPr/>
              <p:nvPr/>
            </p:nvSpPr>
            <p:spPr>
              <a:xfrm>
                <a:off x="5940425" y="3855244"/>
                <a:ext cx="139700" cy="78581"/>
              </a:xfrm>
              <a:custGeom>
                <a:avLst/>
                <a:gdLst/>
                <a:ahLst/>
                <a:cxnLst/>
                <a:rect l="l" t="t" r="r" b="b"/>
                <a:pathLst>
                  <a:path w="139700" h="78581">
                    <a:moveTo>
                      <a:pt x="0" y="78581"/>
                    </a:moveTo>
                    <a:lnTo>
                      <a:pt x="0" y="52388"/>
                    </a:lnTo>
                    <a:cubicBezTo>
                      <a:pt x="0" y="37921"/>
                      <a:pt x="11727" y="26194"/>
                      <a:pt x="26194" y="26194"/>
                    </a:cubicBezTo>
                    <a:lnTo>
                      <a:pt x="139700" y="26194"/>
                    </a:lnTo>
                    <a:moveTo>
                      <a:pt x="113506" y="0"/>
                    </a:moveTo>
                    <a:lnTo>
                      <a:pt x="139700" y="26194"/>
                    </a:lnTo>
                    <a:lnTo>
                      <a:pt x="113506" y="52388"/>
                    </a:lnTo>
                  </a:path>
                </a:pathLst>
              </a:custGeom>
              <a:noFill/>
              <a:ln w="17463">
                <a:solidFill>
                  <a:srgbClr val="5A6472"/>
                </a:solidFill>
              </a:ln>
            </p:spPr>
          </p:sp>
          <p:sp>
            <p:nvSpPr>
              <p:cNvPr id="16" name="Freeform 16"/>
              <p:cNvSpPr/>
              <p:nvPr/>
            </p:nvSpPr>
            <p:spPr>
              <a:xfrm>
                <a:off x="5940425" y="3933825"/>
                <a:ext cx="139700" cy="78581"/>
              </a:xfrm>
              <a:custGeom>
                <a:avLst/>
                <a:gdLst/>
                <a:ahLst/>
                <a:cxnLst/>
                <a:rect l="l" t="t" r="r" b="b"/>
                <a:pathLst>
                  <a:path w="139700" h="78581">
                    <a:moveTo>
                      <a:pt x="139700" y="0"/>
                    </a:moveTo>
                    <a:lnTo>
                      <a:pt x="139700" y="26194"/>
                    </a:lnTo>
                    <a:cubicBezTo>
                      <a:pt x="139700" y="40660"/>
                      <a:pt x="127973" y="52388"/>
                      <a:pt x="113506" y="52388"/>
                    </a:cubicBezTo>
                    <a:lnTo>
                      <a:pt x="0" y="52388"/>
                    </a:lnTo>
                    <a:moveTo>
                      <a:pt x="26194" y="78581"/>
                    </a:moveTo>
                    <a:lnTo>
                      <a:pt x="0" y="52388"/>
                    </a:lnTo>
                    <a:lnTo>
                      <a:pt x="26194" y="26194"/>
                    </a:lnTo>
                  </a:path>
                </a:pathLst>
              </a:custGeom>
              <a:noFill/>
              <a:ln w="17463">
                <a:solidFill>
                  <a:srgbClr val="5A6472"/>
                </a:solidFill>
              </a:ln>
            </p:spPr>
          </p:sp>
        </p:grpSp>
        <p:sp>
          <p:nvSpPr>
            <p:cNvPr id="18" name="TextBox 18"/>
            <p:cNvSpPr txBox="1"/>
            <p:nvPr/>
          </p:nvSpPr>
          <p:spPr>
            <a:xfrm>
              <a:off x="6184392" y="3845242"/>
              <a:ext cx="120975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拆一次,省一半</a:t>
              </a:r>
            </a:p>
          </p:txBody>
        </p:sp>
        <mc:AlternateContent>
          <mc:Choice Requires="a14">
            <p:sp>
              <p:nvSpPr>
                <p:cNvPr id="19" name="TextBox 19"/>
                <p:cNvSpPr txBox="1"/>
                <p:nvPr/>
              </p:nvSpPr>
              <p:spPr>
                <a:xfrm>
                  <a:off x="5896356" y="4168140"/>
                  <a:ext cx="2761488" cy="1114196"/>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偶数下标给出 </a:t>
                  </a:r>
                  <a14:m>
                    <m:oMath>
                      <m:sSub>
                        <m:e>
                          <m:r>
                            <a:rPr lang="zh-CN" sz="1800" dirty="0">
                              <a:solidFill>
                                <a:schemeClr val="dk1"/>
                              </a:solidFill>
                              <a:latin typeface="Cambria Math"/>
                              <a:ea typeface="Cambria Math"/>
                              <a:cs typeface="Cambria Math"/>
                            </a:rPr>
                            <m:t>E</m:t>
                          </m:r>
                        </m:e>
                        <m:sub>
                          <m:r>
                            <a:rPr lang="zh-CN" sz="1800" dirty="0">
                              <a:solidFill>
                                <a:schemeClr val="dk1"/>
                              </a:solidFill>
                              <a:latin typeface="Cambria Math"/>
                              <a:ea typeface="Cambria Math"/>
                              <a:cs typeface="Cambria Math"/>
                            </a:rPr>
                            <m:t>k</m:t>
                          </m:r>
                        </m:sub>
                      </m:sSub>
                    </m:oMath>
                  </a14:m>
                  <a:r>
                    <a:rPr lang="zh-CN" sz="1800" dirty="0">
                      <a:solidFill>
                        <a:schemeClr val="dk1"/>
                      </a:solidFill>
                      <a:latin typeface="+mn-lt"/>
                      <a:ea typeface="+mn-ea"/>
                      <a:cs typeface="+mn-cs"/>
                    </a:rPr>
                    <a:t>,</a:t>
                  </a:r>
                  <a:br/>
                  <a:r>
                    <a:rPr lang="zh-CN" sz="1800" dirty="0">
                      <a:solidFill>
                        <a:schemeClr val="dk1"/>
                      </a:solidFill>
                      <a:latin typeface="+mn-lt"/>
                      <a:ea typeface="+mn-ea"/>
                      <a:cs typeface="+mn-cs"/>
                    </a:rPr>
                    <a:t xml:space="preserve">奇数下标给出 </a:t>
                  </a:r>
                  <a14:m>
                    <m:oMath>
                      <m:sSub>
                        <m:e>
                          <m:r>
                            <a:rPr lang="zh-CN" sz="1800" dirty="0">
                              <a:solidFill>
                                <a:schemeClr val="dk1"/>
                              </a:solidFill>
                              <a:latin typeface="Cambria Math"/>
                              <a:ea typeface="Cambria Math"/>
                              <a:cs typeface="Cambria Math"/>
                            </a:rPr>
                            <m:t>O</m:t>
                          </m:r>
                        </m:e>
                        <m:sub>
                          <m:r>
                            <a:rPr lang="zh-CN" sz="1800" dirty="0">
                              <a:solidFill>
                                <a:schemeClr val="dk1"/>
                              </a:solidFill>
                              <a:latin typeface="Cambria Math"/>
                              <a:ea typeface="Cambria Math"/>
                              <a:cs typeface="Cambria Math"/>
                            </a:rPr>
                            <m:t>k</m:t>
                          </m:r>
                        </m:sub>
                      </m:sSub>
                    </m:oMath>
                  </a14:m>
                  <a:r>
                    <a:rPr lang="zh-CN" sz="1800" dirty="0">
                      <a:solidFill>
                        <a:schemeClr val="dk1"/>
                      </a:solidFill>
                      <a:latin typeface="+mn-lt"/>
                      <a:ea typeface="+mn-ea"/>
                      <a:cs typeface="+mn-cs"/>
                    </a:rPr>
                    <a:t>,</a:t>
                  </a:r>
                  <a:br/>
                  <a:r>
                    <a:rPr lang="zh-CN" sz="1800" dirty="0">
                      <a:solidFill>
                        <a:schemeClr val="dk1"/>
                      </a:solidFill>
                      <a:latin typeface="+mn-lt"/>
                      <a:ea typeface="+mn-ea"/>
                      <a:cs typeface="+mn-cs"/>
                    </a:rPr>
                    <a:t>再用一个旋转因子合起来。</a:t>
                  </a:r>
                </a:p>
              </p:txBody>
            </p:sp>
          </mc:Choice>
        </mc:AlternateContent>
        <p:sp>
          <p:nvSpPr>
            <p:cNvPr id="20" name="TextBox 20"/>
            <p:cNvSpPr txBox="1"/>
            <p:nvPr/>
          </p:nvSpPr>
          <p:spPr>
            <a:xfrm>
              <a:off x="5896356" y="5196840"/>
              <a:ext cx="2818638" cy="1037844"/>
            </a:xfrm>
            <a:prstGeom prst="rect">
              <a:avLst/>
            </a:prstGeom>
            <a:noFill/>
            <a:ln>
              <a:noFill/>
            </a:ln>
          </p:spPr>
          <p:txBody>
            <a:bodyPr wrap="none" lIns="0" tIns="0" rIns="0" bIns="0" anchor="t" anchorCtr="0">
              <a:spAutoFit/>
            </a:bodyPr>
            <a:lstStyle/>
            <a:p>
              <a:pPr algn="l">
                <a:lnSpc>
                  <a:spcPts val="2700"/>
                </a:lnSpc>
              </a:pPr>
              <a:r>
                <a:rPr lang="zh-CN" sz="1800" dirty="0">
                  <a:solidFill>
                    <a:schemeClr val="dk1"/>
                  </a:solidFill>
                  <a:latin typeface="+mn-lt"/>
                  <a:ea typeface="+mn-ea"/>
                  <a:cs typeface="+mn-cs"/>
                </a:rPr>
                <a:t>对 N/2 继续同样拆分,</a:t>
              </a:r>
              <a:br/>
              <a:r>
                <a:rPr lang="zh-CN" sz="1800" dirty="0">
                  <a:solidFill>
                    <a:schemeClr val="dk1"/>
                  </a:solidFill>
                  <a:latin typeface="+mn-lt"/>
                  <a:ea typeface="+mn-ea"/>
                  <a:cs typeface="+mn-cs"/>
                </a:rPr>
                <a:t>一共只有 log₂N 层,</a:t>
              </a:r>
              <a:br/>
              <a:r>
                <a:rPr lang="zh-CN" sz="1800" dirty="0">
                  <a:solidFill>
                    <a:schemeClr val="dk1"/>
                  </a:solidFill>
                  <a:latin typeface="+mn-lt"/>
                  <a:ea typeface="+mn-ea"/>
                  <a:cs typeface="+mn-cs"/>
                </a:rPr>
                <a:t>每层 N 次——代价落到这里。</a:t>
              </a:r>
            </a:p>
          </p:txBody>
        </p:sp>
      </p:grpSp>
      <p:grpSp>
        <p:nvGrpSpPr>
          <p:cNvPr id="24" name="page-footer"/>
          <p:cNvGrpSpPr/>
          <p:nvPr/>
        </p:nvGrpSpPr>
        <p:grpSpPr>
          <a:xfrm>
            <a:off x="603504" y="6557010"/>
            <a:ext cx="8546592" cy="577596"/>
            <a:chOff x="603504" y="6557010"/>
            <a:chExt cx="8546592" cy="577596"/>
          </a:xfrm>
        </p:grpSpPr>
        <p:sp>
          <p:nvSpPr>
            <p:cNvPr id="22" name="TextBox 22"/>
            <p:cNvSpPr txBox="1"/>
            <p:nvPr/>
          </p:nvSpPr>
          <p:spPr>
            <a:xfrm>
              <a:off x="603504" y="6557010"/>
              <a:ext cx="4896612" cy="577596"/>
            </a:xfrm>
            <a:prstGeom prst="rect">
              <a:avLst/>
            </a:prstGeom>
            <a:noFill/>
            <a:ln>
              <a:noFill/>
            </a:ln>
          </p:spPr>
          <p:txBody>
            <a:bodyPr wrap="none" lIns="0" tIns="0" rIns="0" bIns="0" anchor="t" anchorCtr="0">
              <a:spAutoFit/>
            </a:bodyPr>
            <a:lstStyle/>
            <a:p>
              <a:pPr algn="l">
                <a:lnSpc>
                  <a:spcPts val="1350"/>
                </a:lnSpc>
              </a:pPr>
              <a:r>
                <a:rPr lang="zh-CN" sz="1200" dirty="0">
                  <a:solidFill>
                    <a:schemeClr val="accent5"/>
                  </a:solidFill>
                  <a:latin typeface="+mn-lt"/>
                  <a:ea typeface="+mn-ea"/>
                  <a:cs typeface="+mn-cs"/>
                </a:rPr>
                <a:t>来源:Cooley &amp; Tukey, Math. Comp. 19(90):297–301, 1965(F003);</a:t>
              </a:r>
              <a:br/>
              <a:r>
                <a:rPr lang="zh-CN" sz="1200" dirty="0">
                  <a:solidFill>
                    <a:schemeClr val="accent5"/>
                  </a:solidFill>
                  <a:latin typeface="+mn-lt"/>
                  <a:ea typeface="+mn-ea"/>
                  <a:cs typeface="+mn-cs"/>
                </a:rPr>
                <a:t>史前史见 Heideman 等, IEEE ASSP Magazine 1(4):14–21, 1984(F004)</a:t>
              </a:r>
              <a:br/>
              <a:r>
                <a:rPr lang="zh-CN" sz="1200" dirty="0">
                  <a:solidFill>
                    <a:schemeClr val="accent5"/>
                  </a:solidFill>
                  <a:latin typeface="+mn-lt"/>
                  <a:ea typeface="+mn-ea"/>
                  <a:cs typeface="+mn-cs"/>
                </a:rPr>
                <a:t>整理:两条曲线的数值由 N² 与 N·log₂N 直接算出,非引用数字</a:t>
              </a:r>
            </a:p>
          </p:txBody>
        </p:sp>
        <p:sp>
          <p:nvSpPr>
            <p:cNvPr id="23" name="TextBox 23"/>
            <p:cNvSpPr txBox="1"/>
            <p:nvPr/>
          </p:nvSpPr>
          <p:spPr>
            <a:xfrm>
              <a:off x="8950147" y="689991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2" presetClass="entr" presetSubtype="2" fill="hold" grpId="0" nodeType="afterEffect">
                                  <p:stCondLst>
                                    <p:cond delay="300"/>
                                  </p:stCondLst>
                                  <p:childTnLst>
                                    <p:set>
                                      <p:cBhvr>
                                        <p:cTn id="10" dur="1" fill="hold">
                                          <p:stCondLst>
                                            <p:cond delay="0"/>
                                          </p:stCondLst>
                                        </p:cTn>
                                        <p:tgtEl>
                                          <p:spTgt spid="14"/>
                                        </p:tgtEl>
                                        <p:attrNameLst>
                                          <p:attrName>style.visibility</p:attrName>
                                        </p:attrNameLst>
                                      </p:cBhvr>
                                      <p:to>
                                        <p:strVal val="visible"/>
                                      </p:to>
                                    </p:set>
                                    <p:animEffect transition="in" filter="wipe(right)">
                                      <p:cBhvr>
                                        <p:cTn id="11" dur="1000"/>
                                        <p:tgtEl>
                                          <p:spTgt spid="14"/>
                                        </p:tgtEl>
                                      </p:cBhvr>
                                    </p:animEffect>
                                  </p:childTnLst>
                                </p:cTn>
                              </p:par>
                            </p:childTnLst>
                          </p:cTn>
                        </p:par>
                        <p:par>
                          <p:cTn id="12" fill="hold">
                            <p:stCondLst>
                              <p:cond delay="1800"/>
                            </p:stCondLst>
                            <p:childTnLst>
                              <p:par>
                                <p:cTn id="13" presetID="10" presetClass="entr" presetSubtype="0" fill="hold" grpId="0" nodeType="afterEffect">
                                  <p:stCondLst>
                                    <p:cond delay="5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formula-band"/>
          <p:cNvSpPr/>
          <p:nvPr/>
        </p:nvSpPr>
        <p:spPr>
          <a:xfrm>
            <a:off x="609600" y="5429250"/>
            <a:ext cx="8534400" cy="990600"/>
          </a:xfrm>
          <a:prstGeom prst="rect">
            <a:avLst/>
          </a:prstGeom>
          <a:solidFill>
            <a:schemeClr val="lt2"/>
          </a:solidFill>
          <a:ln>
            <a:noFill/>
          </a:ln>
        </p:spPr>
      </p:sp>
      <p:sp>
        <p:nvSpPr>
          <p:cNvPr id="4" name="formula-band-bar"/>
          <p:cNvSpPr/>
          <p:nvPr/>
        </p:nvSpPr>
        <p:spPr>
          <a:xfrm>
            <a:off x="609600" y="5429250"/>
            <a:ext cx="28575" cy="990600"/>
          </a:xfrm>
          <a:prstGeom prst="rect">
            <a:avLst/>
          </a:prstGeom>
          <a:solidFill>
            <a:schemeClr val="accent1"/>
          </a:solidFill>
          <a:ln>
            <a:noFill/>
          </a:ln>
        </p:spPr>
      </p:sp>
      <p:grpSp>
        <p:nvGrpSpPr>
          <p:cNvPr id="7" name="section-kicker"/>
          <p:cNvGrpSpPr/>
          <p:nvPr/>
        </p:nvGrpSpPr>
        <p:grpSpPr>
          <a:xfrm>
            <a:off x="602742" y="552450"/>
            <a:ext cx="1545793" cy="404051"/>
            <a:chOff x="602742" y="552450"/>
            <a:chExt cx="1545793" cy="404051"/>
          </a:xfrm>
        </p:grpSpPr>
        <p:sp>
          <p:nvSpPr>
            <p:cNvPr id="5" name="Rectangle 5"/>
            <p:cNvSpPr/>
            <p:nvPr/>
          </p:nvSpPr>
          <p:spPr>
            <a:xfrm>
              <a:off x="609600" y="552450"/>
              <a:ext cx="266700" cy="28575"/>
            </a:xfrm>
            <a:prstGeom prst="rect">
              <a:avLst/>
            </a:prstGeom>
            <a:solidFill>
              <a:schemeClr val="accent2"/>
            </a:solidFill>
            <a:ln>
              <a:noFill/>
            </a:ln>
          </p:spPr>
        </p:sp>
        <p:sp>
          <p:nvSpPr>
            <p:cNvPr id="6" name="TextBox 6"/>
            <p:cNvSpPr txBox="1"/>
            <p:nvPr/>
          </p:nvSpPr>
          <p:spPr>
            <a:xfrm>
              <a:off x="602742" y="692468"/>
              <a:ext cx="154579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6 节 · 用在哪里</a:t>
              </a:r>
            </a:p>
          </p:txBody>
        </p:sp>
      </p:grpSp>
      <p:grpSp>
        <p:nvGrpSpPr>
          <p:cNvPr id="9" name="page-title"/>
          <p:cNvGrpSpPr/>
          <p:nvPr/>
        </p:nvGrpSpPr>
        <p:grpSpPr>
          <a:xfrm>
            <a:off x="593598" y="1050608"/>
            <a:ext cx="4960620" cy="616077"/>
            <a:chOff x="593598" y="1050608"/>
            <a:chExt cx="4960620" cy="616077"/>
          </a:xfrm>
        </p:grpSpPr>
        <p:sp>
          <p:nvSpPr>
            <p:cNvPr id="8" name="TextBox 8"/>
            <p:cNvSpPr txBox="1"/>
            <p:nvPr/>
          </p:nvSpPr>
          <p:spPr>
            <a:xfrm>
              <a:off x="593598" y="1050608"/>
              <a:ext cx="4960620"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图像、医学、无线、声音</a:t>
              </a:r>
            </a:p>
          </p:txBody>
        </p:sp>
      </p:grpSp>
      <p:grpSp>
        <p:nvGrpSpPr>
          <p:cNvPr id="19" name="app-jpeg"/>
          <p:cNvGrpSpPr/>
          <p:nvPr/>
        </p:nvGrpSpPr>
        <p:grpSpPr>
          <a:xfrm>
            <a:off x="609600" y="2000250"/>
            <a:ext cx="4095750" cy="1428750"/>
            <a:chOff x="609600" y="2000250"/>
            <a:chExt cx="4095750" cy="1428750"/>
          </a:xfrm>
        </p:grpSpPr>
        <p:sp>
          <p:nvSpPr>
            <p:cNvPr id="10" name="Freeform 10"/>
            <p:cNvSpPr/>
            <p:nvPr/>
          </p:nvSpPr>
          <p:spPr>
            <a:xfrm>
              <a:off x="609600" y="2000250"/>
              <a:ext cx="4095750" cy="1428750"/>
            </a:xfrm>
            <a:prstGeom prst="snip1Rect">
              <a:avLst/>
            </a:prstGeom>
            <a:solidFill>
              <a:schemeClr val="lt2"/>
            </a:solidFill>
            <a:ln w="9525">
              <a:solidFill>
                <a:schemeClr val="accent6"/>
              </a:solidFill>
            </a:ln>
          </p:spPr>
        </p:sp>
        <p:grpSp>
          <p:nvGrpSpPr>
            <p:cNvPr id="15" name="Group 15"/>
            <p:cNvGrpSpPr/>
            <p:nvPr/>
          </p:nvGrpSpPr>
          <p:grpSpPr>
            <a:xfrm>
              <a:off x="871538" y="2262188"/>
              <a:ext cx="200026" cy="200026"/>
              <a:chOff x="871538" y="2262188"/>
              <a:chExt cx="200026" cy="200026"/>
            </a:xfrm>
          </p:grpSpPr>
          <p:sp>
            <p:nvSpPr>
              <p:cNvPr id="11" name="Freeform 11"/>
              <p:cNvSpPr/>
              <p:nvPr/>
            </p:nvSpPr>
            <p:spPr>
              <a:xfrm>
                <a:off x="1004888" y="2317750"/>
                <a:ext cx="9525" cy="9525"/>
              </a:xfrm>
              <a:custGeom>
                <a:avLst/>
                <a:gdLst/>
                <a:ahLst/>
                <a:cxnLst/>
                <a:rect l="l" t="t" r="r" b="b"/>
                <a:pathLst>
                  <a:path w="9525" h="9525">
                    <a:moveTo>
                      <a:pt x="0" y="0"/>
                    </a:moveTo>
                    <a:lnTo>
                      <a:pt x="111" y="0"/>
                    </a:lnTo>
                  </a:path>
                </a:pathLst>
              </a:custGeom>
              <a:noFill/>
              <a:ln w="22225">
                <a:solidFill>
                  <a:schemeClr val="accent1"/>
                </a:solidFill>
              </a:ln>
            </p:spPr>
          </p:sp>
          <p:sp>
            <p:nvSpPr>
              <p:cNvPr id="12" name="Freeform 12"/>
              <p:cNvSpPr/>
              <p:nvPr/>
            </p:nvSpPr>
            <p:spPr>
              <a:xfrm>
                <a:off x="871538" y="2262188"/>
                <a:ext cx="200026" cy="200026"/>
              </a:xfrm>
              <a:custGeom>
                <a:avLst/>
                <a:gdLst/>
                <a:ahLst/>
                <a:cxnLst/>
                <a:rect l="l" t="t" r="r" b="b"/>
                <a:pathLst>
                  <a:path w="200026" h="200026">
                    <a:moveTo>
                      <a:pt x="0" y="33338"/>
                    </a:moveTo>
                    <a:cubicBezTo>
                      <a:pt x="0" y="14926"/>
                      <a:pt x="14926" y="0"/>
                      <a:pt x="33338" y="0"/>
                    </a:cubicBezTo>
                    <a:lnTo>
                      <a:pt x="166688" y="0"/>
                    </a:lnTo>
                    <a:cubicBezTo>
                      <a:pt x="185100" y="0"/>
                      <a:pt x="200026" y="14926"/>
                      <a:pt x="200026" y="33338"/>
                    </a:cubicBezTo>
                    <a:lnTo>
                      <a:pt x="200026" y="166688"/>
                    </a:lnTo>
                    <a:cubicBezTo>
                      <a:pt x="200026" y="185100"/>
                      <a:pt x="185100" y="200026"/>
                      <a:pt x="166688" y="200026"/>
                    </a:cubicBezTo>
                    <a:lnTo>
                      <a:pt x="33338" y="200026"/>
                    </a:lnTo>
                    <a:cubicBezTo>
                      <a:pt x="14926" y="200026"/>
                      <a:pt x="0" y="185100"/>
                      <a:pt x="0" y="166688"/>
                    </a:cubicBezTo>
                    <a:lnTo>
                      <a:pt x="0" y="33338"/>
                    </a:lnTo>
                  </a:path>
                </a:pathLst>
              </a:custGeom>
              <a:noFill/>
              <a:ln w="22225">
                <a:solidFill>
                  <a:schemeClr val="accent1"/>
                </a:solidFill>
              </a:ln>
            </p:spPr>
          </p:sp>
          <p:sp>
            <p:nvSpPr>
              <p:cNvPr id="13" name="Freeform 13"/>
              <p:cNvSpPr/>
              <p:nvPr/>
            </p:nvSpPr>
            <p:spPr>
              <a:xfrm>
                <a:off x="871538" y="2341164"/>
                <a:ext cx="144463" cy="65486"/>
              </a:xfrm>
              <a:custGeom>
                <a:avLst/>
                <a:gdLst/>
                <a:ahLst/>
                <a:cxnLst/>
                <a:rect l="l" t="t" r="r" b="b"/>
                <a:pathLst>
                  <a:path w="144463" h="65486">
                    <a:moveTo>
                      <a:pt x="0" y="65486"/>
                    </a:moveTo>
                    <a:lnTo>
                      <a:pt x="55563" y="9923"/>
                    </a:lnTo>
                    <a:cubicBezTo>
                      <a:pt x="65875" y="0"/>
                      <a:pt x="78588" y="0"/>
                      <a:pt x="88900" y="9923"/>
                    </a:cubicBezTo>
                    <a:lnTo>
                      <a:pt x="144463" y="65486"/>
                    </a:lnTo>
                  </a:path>
                </a:pathLst>
              </a:custGeom>
              <a:noFill/>
              <a:ln w="22225">
                <a:solidFill>
                  <a:schemeClr val="accent1"/>
                </a:solidFill>
              </a:ln>
            </p:spPr>
          </p:sp>
          <p:sp>
            <p:nvSpPr>
              <p:cNvPr id="14" name="Freeform 14"/>
              <p:cNvSpPr/>
              <p:nvPr/>
            </p:nvSpPr>
            <p:spPr>
              <a:xfrm>
                <a:off x="993775" y="2363389"/>
                <a:ext cx="77788" cy="43261"/>
              </a:xfrm>
              <a:custGeom>
                <a:avLst/>
                <a:gdLst/>
                <a:ahLst/>
                <a:cxnLst/>
                <a:rect l="l" t="t" r="r" b="b"/>
                <a:pathLst>
                  <a:path w="77788" h="43261">
                    <a:moveTo>
                      <a:pt x="0" y="21036"/>
                    </a:moveTo>
                    <a:lnTo>
                      <a:pt x="11113" y="9923"/>
                    </a:lnTo>
                    <a:cubicBezTo>
                      <a:pt x="21425" y="0"/>
                      <a:pt x="34138" y="0"/>
                      <a:pt x="44450" y="9923"/>
                    </a:cubicBezTo>
                    <a:lnTo>
                      <a:pt x="77788" y="43261"/>
                    </a:lnTo>
                  </a:path>
                </a:pathLst>
              </a:custGeom>
              <a:noFill/>
              <a:ln w="22225">
                <a:solidFill>
                  <a:schemeClr val="accent1"/>
                </a:solidFill>
              </a:ln>
            </p:spPr>
          </p:sp>
        </p:grpSp>
        <p:sp>
          <p:nvSpPr>
            <p:cNvPr id="16" name="TextBox 16"/>
            <p:cNvSpPr txBox="1"/>
            <p:nvPr/>
          </p:nvSpPr>
          <p:spPr>
            <a:xfrm>
              <a:off x="1210056" y="2263140"/>
              <a:ext cx="140063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图像:JPEG</a:t>
              </a:r>
            </a:p>
          </p:txBody>
        </p:sp>
        <p:sp>
          <p:nvSpPr>
            <p:cNvPr id="17" name="TextBox 17"/>
            <p:cNvSpPr txBox="1"/>
            <p:nvPr/>
          </p:nvSpPr>
          <p:spPr>
            <a:xfrm>
              <a:off x="831342" y="2692718"/>
              <a:ext cx="254260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基线 JPEG 把图像切成 8×8 块,</a:t>
              </a:r>
              <a:br/>
              <a:r>
                <a:rPr lang="zh-CN" sz="1350" dirty="0">
                  <a:solidFill>
                    <a:schemeClr val="dk1"/>
                  </a:solidFill>
                  <a:latin typeface="+mn-lt"/>
                  <a:ea typeface="+mn-ea"/>
                  <a:cs typeface="+mn-cs"/>
                </a:rPr>
                <a:t>每块做一次离散余弦变换(DCT)。</a:t>
              </a:r>
            </a:p>
          </p:txBody>
        </p:sp>
        <p:sp>
          <p:nvSpPr>
            <p:cNvPr id="18" name="TextBox 18"/>
            <p:cNvSpPr txBox="1"/>
            <p:nvPr/>
          </p:nvSpPr>
          <p:spPr>
            <a:xfrm>
              <a:off x="831342" y="3149918"/>
              <a:ext cx="259026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ITU-T T.81,1992(F005)</a:t>
              </a:r>
            </a:p>
          </p:txBody>
        </p:sp>
      </p:grpSp>
      <p:grpSp>
        <p:nvGrpSpPr>
          <p:cNvPr id="25" name="app-mri"/>
          <p:cNvGrpSpPr/>
          <p:nvPr/>
        </p:nvGrpSpPr>
        <p:grpSpPr>
          <a:xfrm>
            <a:off x="5048250" y="2000250"/>
            <a:ext cx="4095750" cy="1428750"/>
            <a:chOff x="5048250" y="2000250"/>
            <a:chExt cx="4095750" cy="1428750"/>
          </a:xfrm>
        </p:grpSpPr>
        <p:sp>
          <p:nvSpPr>
            <p:cNvPr id="20" name="Freeform 20"/>
            <p:cNvSpPr/>
            <p:nvPr/>
          </p:nvSpPr>
          <p:spPr>
            <a:xfrm>
              <a:off x="5048250" y="2000250"/>
              <a:ext cx="4095750" cy="1428750"/>
            </a:xfrm>
            <a:prstGeom prst="snip1Rect">
              <a:avLst/>
            </a:prstGeom>
            <a:solidFill>
              <a:schemeClr val="lt2"/>
            </a:solidFill>
            <a:ln w="9525">
              <a:solidFill>
                <a:schemeClr val="accent6"/>
              </a:solidFill>
            </a:ln>
          </p:spPr>
        </p:sp>
        <p:sp>
          <p:nvSpPr>
            <p:cNvPr id="21" name="Freeform 21"/>
            <p:cNvSpPr/>
            <p:nvPr/>
          </p:nvSpPr>
          <p:spPr>
            <a:xfrm>
              <a:off x="5310188" y="2295525"/>
              <a:ext cx="200026" cy="133350"/>
            </a:xfrm>
            <a:custGeom>
              <a:avLst/>
              <a:gdLst/>
              <a:ahLst/>
              <a:cxnLst/>
              <a:rect l="l" t="t" r="r" b="b"/>
              <a:pathLst>
                <a:path w="200026" h="133350">
                  <a:moveTo>
                    <a:pt x="0" y="66675"/>
                  </a:moveTo>
                  <a:lnTo>
                    <a:pt x="50006" y="66675"/>
                  </a:lnTo>
                  <a:lnTo>
                    <a:pt x="66675" y="0"/>
                  </a:lnTo>
                  <a:lnTo>
                    <a:pt x="111125" y="133350"/>
                  </a:lnTo>
                  <a:lnTo>
                    <a:pt x="133350" y="33338"/>
                  </a:lnTo>
                  <a:lnTo>
                    <a:pt x="150019" y="66675"/>
                  </a:lnTo>
                  <a:lnTo>
                    <a:pt x="200026" y="66675"/>
                  </a:lnTo>
                </a:path>
              </a:pathLst>
            </a:custGeom>
            <a:noFill/>
            <a:ln w="22225">
              <a:solidFill>
                <a:schemeClr val="accent1"/>
              </a:solidFill>
            </a:ln>
          </p:spPr>
        </p:sp>
        <p:sp>
          <p:nvSpPr>
            <p:cNvPr id="22" name="TextBox 22"/>
            <p:cNvSpPr txBox="1"/>
            <p:nvPr/>
          </p:nvSpPr>
          <p:spPr>
            <a:xfrm>
              <a:off x="5648706" y="2263140"/>
              <a:ext cx="12047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医学:MRI</a:t>
              </a:r>
            </a:p>
          </p:txBody>
        </p:sp>
        <p:sp>
          <p:nvSpPr>
            <p:cNvPr id="23" name="TextBox 23"/>
            <p:cNvSpPr txBox="1"/>
            <p:nvPr/>
          </p:nvSpPr>
          <p:spPr>
            <a:xfrm>
              <a:off x="5269992" y="2692718"/>
              <a:ext cx="240544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采集等于在傅里叶空间(k 空间)</a:t>
              </a:r>
              <a:br/>
              <a:r>
                <a:rPr lang="zh-CN" sz="1350" dirty="0">
                  <a:solidFill>
                    <a:schemeClr val="dk1"/>
                  </a:solidFill>
                  <a:latin typeface="+mn-lt"/>
                  <a:ea typeface="+mn-ea"/>
                  <a:cs typeface="+mn-cs"/>
                </a:rPr>
                <a:t>沿轨迹采样,再变换回图像。</a:t>
              </a:r>
            </a:p>
          </p:txBody>
        </p:sp>
        <p:sp>
          <p:nvSpPr>
            <p:cNvPr id="24" name="TextBox 24"/>
            <p:cNvSpPr txBox="1"/>
            <p:nvPr/>
          </p:nvSpPr>
          <p:spPr>
            <a:xfrm>
              <a:off x="5269992" y="3149918"/>
              <a:ext cx="37799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Twieg, Med. Phys. 10(5), 1983(F006)</a:t>
              </a:r>
            </a:p>
          </p:txBody>
        </p:sp>
      </p:grpSp>
      <p:grpSp>
        <p:nvGrpSpPr>
          <p:cNvPr id="35" name="app-wifi"/>
          <p:cNvGrpSpPr/>
          <p:nvPr/>
        </p:nvGrpSpPr>
        <p:grpSpPr>
          <a:xfrm>
            <a:off x="609600" y="3714750"/>
            <a:ext cx="4095750" cy="1428750"/>
            <a:chOff x="609600" y="3714750"/>
            <a:chExt cx="4095750" cy="1428750"/>
          </a:xfrm>
        </p:grpSpPr>
        <p:sp>
          <p:nvSpPr>
            <p:cNvPr id="26" name="Freeform 26"/>
            <p:cNvSpPr/>
            <p:nvPr/>
          </p:nvSpPr>
          <p:spPr>
            <a:xfrm>
              <a:off x="609600" y="3714750"/>
              <a:ext cx="4095750" cy="1428750"/>
            </a:xfrm>
            <a:prstGeom prst="snip1Rect">
              <a:avLst/>
            </a:prstGeom>
            <a:solidFill>
              <a:schemeClr val="lt2"/>
            </a:solidFill>
            <a:ln w="9525">
              <a:solidFill>
                <a:schemeClr val="accent6"/>
              </a:solidFill>
            </a:ln>
          </p:spPr>
        </p:sp>
        <p:grpSp>
          <p:nvGrpSpPr>
            <p:cNvPr id="31" name="Group 31"/>
            <p:cNvGrpSpPr/>
            <p:nvPr/>
          </p:nvGrpSpPr>
          <p:grpSpPr>
            <a:xfrm>
              <a:off x="877261" y="3997001"/>
              <a:ext cx="188913" cy="155900"/>
              <a:chOff x="877261" y="3997001"/>
              <a:chExt cx="188913" cy="155900"/>
            </a:xfrm>
          </p:grpSpPr>
          <p:sp>
            <p:nvSpPr>
              <p:cNvPr id="27" name="Freeform 27"/>
              <p:cNvSpPr/>
              <p:nvPr/>
            </p:nvSpPr>
            <p:spPr>
              <a:xfrm>
                <a:off x="971550" y="4143376"/>
                <a:ext cx="9525" cy="9525"/>
              </a:xfrm>
              <a:custGeom>
                <a:avLst/>
                <a:gdLst/>
                <a:ahLst/>
                <a:cxnLst/>
                <a:rect l="l" t="t" r="r" b="b"/>
                <a:pathLst>
                  <a:path w="9525" h="9525">
                    <a:moveTo>
                      <a:pt x="0" y="0"/>
                    </a:moveTo>
                    <a:lnTo>
                      <a:pt x="111" y="0"/>
                    </a:lnTo>
                  </a:path>
                </a:pathLst>
              </a:custGeom>
              <a:noFill/>
              <a:ln w="22225">
                <a:solidFill>
                  <a:schemeClr val="accent1"/>
                </a:solidFill>
              </a:ln>
            </p:spPr>
          </p:sp>
          <p:sp>
            <p:nvSpPr>
              <p:cNvPr id="28" name="Freeform 28"/>
              <p:cNvSpPr/>
              <p:nvPr/>
            </p:nvSpPr>
            <p:spPr>
              <a:xfrm>
                <a:off x="940124" y="4094597"/>
                <a:ext cx="62852" cy="17353"/>
              </a:xfrm>
              <a:custGeom>
                <a:avLst/>
                <a:gdLst/>
                <a:ahLst/>
                <a:cxnLst/>
                <a:rect l="l" t="t" r="r" b="b"/>
                <a:pathLst>
                  <a:path w="62852" h="17353">
                    <a:moveTo>
                      <a:pt x="0" y="17353"/>
                    </a:moveTo>
                    <a:cubicBezTo>
                      <a:pt x="17358" y="0"/>
                      <a:pt x="45495" y="0"/>
                      <a:pt x="62852" y="17353"/>
                    </a:cubicBezTo>
                  </a:path>
                </a:pathLst>
              </a:custGeom>
              <a:noFill/>
              <a:ln w="22225">
                <a:solidFill>
                  <a:schemeClr val="accent1"/>
                </a:solidFill>
              </a:ln>
            </p:spPr>
          </p:sp>
          <p:sp>
            <p:nvSpPr>
              <p:cNvPr id="29" name="Freeform 29"/>
              <p:cNvSpPr/>
              <p:nvPr/>
            </p:nvSpPr>
            <p:spPr>
              <a:xfrm>
                <a:off x="908687" y="4054472"/>
                <a:ext cx="125727" cy="26040"/>
              </a:xfrm>
              <a:custGeom>
                <a:avLst/>
                <a:gdLst/>
                <a:ahLst/>
                <a:cxnLst/>
                <a:rect l="l" t="t" r="r" b="b"/>
                <a:pathLst>
                  <a:path w="125727" h="26040">
                    <a:moveTo>
                      <a:pt x="0" y="26040"/>
                    </a:moveTo>
                    <a:cubicBezTo>
                      <a:pt x="16672" y="9367"/>
                      <a:pt x="39285" y="0"/>
                      <a:pt x="62864" y="0"/>
                    </a:cubicBezTo>
                    <a:cubicBezTo>
                      <a:pt x="86442" y="0"/>
                      <a:pt x="109055" y="9367"/>
                      <a:pt x="125727" y="26040"/>
                    </a:cubicBezTo>
                  </a:path>
                </a:pathLst>
              </a:custGeom>
              <a:noFill/>
              <a:ln w="22225">
                <a:solidFill>
                  <a:schemeClr val="accent1"/>
                </a:solidFill>
              </a:ln>
            </p:spPr>
          </p:sp>
          <p:sp>
            <p:nvSpPr>
              <p:cNvPr id="30" name="Freeform 30"/>
              <p:cNvSpPr/>
              <p:nvPr/>
            </p:nvSpPr>
            <p:spPr>
              <a:xfrm>
                <a:off x="877261" y="3997001"/>
                <a:ext cx="188913" cy="52084"/>
              </a:xfrm>
              <a:custGeom>
                <a:avLst/>
                <a:gdLst/>
                <a:ahLst/>
                <a:cxnLst/>
                <a:rect l="l" t="t" r="r" b="b"/>
                <a:pathLst>
                  <a:path w="188913" h="52084">
                    <a:moveTo>
                      <a:pt x="0" y="52084"/>
                    </a:moveTo>
                    <a:cubicBezTo>
                      <a:pt x="52073" y="0"/>
                      <a:pt x="136506" y="0"/>
                      <a:pt x="188913" y="52084"/>
                    </a:cubicBezTo>
                  </a:path>
                </a:pathLst>
              </a:custGeom>
              <a:noFill/>
              <a:ln w="22225">
                <a:solidFill>
                  <a:schemeClr val="accent1"/>
                </a:solidFill>
              </a:ln>
            </p:spPr>
          </p:sp>
        </p:grpSp>
        <p:sp>
          <p:nvSpPr>
            <p:cNvPr id="32" name="TextBox 32"/>
            <p:cNvSpPr txBox="1"/>
            <p:nvPr/>
          </p:nvSpPr>
          <p:spPr>
            <a:xfrm>
              <a:off x="1210056" y="3977640"/>
              <a:ext cx="153120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无线:OFDM</a:t>
              </a:r>
            </a:p>
          </p:txBody>
        </p:sp>
        <p:sp>
          <p:nvSpPr>
            <p:cNvPr id="33" name="TextBox 33"/>
            <p:cNvSpPr txBox="1"/>
            <p:nvPr/>
          </p:nvSpPr>
          <p:spPr>
            <a:xfrm>
              <a:off x="831342" y="4407218"/>
              <a:ext cx="2559748"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20 MHz OFDM 用 64 点 FFT,</a:t>
              </a:r>
              <a:br/>
              <a:r>
                <a:rPr lang="zh-CN" sz="1350" dirty="0">
                  <a:solidFill>
                    <a:schemeClr val="dk1"/>
                  </a:solidFill>
                  <a:latin typeface="+mn-lt"/>
                  <a:ea typeface="+mn-ea"/>
                  <a:cs typeface="+mn-cs"/>
                </a:rPr>
                <a:t>含 48 个数据子载波与 4 个导频。</a:t>
              </a:r>
            </a:p>
          </p:txBody>
        </p:sp>
        <p:sp>
          <p:nvSpPr>
            <p:cNvPr id="34" name="TextBox 34"/>
            <p:cNvSpPr txBox="1"/>
            <p:nvPr/>
          </p:nvSpPr>
          <p:spPr>
            <a:xfrm>
              <a:off x="831342" y="4864418"/>
              <a:ext cx="346191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IEEE 802.11a-1999(F007、F008)</a:t>
              </a:r>
            </a:p>
          </p:txBody>
        </p:sp>
      </p:grpSp>
      <p:grpSp>
        <p:nvGrpSpPr>
          <p:cNvPr id="45" name="app-audio"/>
          <p:cNvGrpSpPr/>
          <p:nvPr/>
        </p:nvGrpSpPr>
        <p:grpSpPr>
          <a:xfrm>
            <a:off x="5048250" y="3714750"/>
            <a:ext cx="4095750" cy="1428750"/>
            <a:chOff x="5048250" y="3714750"/>
            <a:chExt cx="4095750" cy="1428750"/>
          </a:xfrm>
        </p:grpSpPr>
        <p:sp>
          <p:nvSpPr>
            <p:cNvPr id="36" name="Freeform 36"/>
            <p:cNvSpPr/>
            <p:nvPr/>
          </p:nvSpPr>
          <p:spPr>
            <a:xfrm>
              <a:off x="5048250" y="3714750"/>
              <a:ext cx="4095750" cy="1428750"/>
            </a:xfrm>
            <a:prstGeom prst="snip1Rect">
              <a:avLst/>
            </a:prstGeom>
            <a:solidFill>
              <a:schemeClr val="lt2"/>
            </a:solidFill>
            <a:ln w="9525">
              <a:solidFill>
                <a:schemeClr val="accent6"/>
              </a:solidFill>
            </a:ln>
          </p:spPr>
        </p:sp>
        <p:grpSp>
          <p:nvGrpSpPr>
            <p:cNvPr id="41" name="Group 41"/>
            <p:cNvGrpSpPr/>
            <p:nvPr/>
          </p:nvGrpSpPr>
          <p:grpSpPr>
            <a:xfrm>
              <a:off x="5310188" y="3987800"/>
              <a:ext cx="177800" cy="177800"/>
              <a:chOff x="5310188" y="3987800"/>
              <a:chExt cx="177800" cy="177800"/>
            </a:xfrm>
          </p:grpSpPr>
          <p:sp>
            <p:nvSpPr>
              <p:cNvPr id="37" name="Freeform 37"/>
              <p:cNvSpPr/>
              <p:nvPr/>
            </p:nvSpPr>
            <p:spPr>
              <a:xfrm>
                <a:off x="5310188" y="4098925"/>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22225">
                <a:solidFill>
                  <a:schemeClr val="accent1"/>
                </a:solidFill>
              </a:ln>
            </p:spPr>
          </p:sp>
          <p:sp>
            <p:nvSpPr>
              <p:cNvPr id="38" name="Freeform 38"/>
              <p:cNvSpPr/>
              <p:nvPr/>
            </p:nvSpPr>
            <p:spPr>
              <a:xfrm>
                <a:off x="5421313" y="4098925"/>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22225">
                <a:solidFill>
                  <a:schemeClr val="accent1"/>
                </a:solidFill>
              </a:ln>
            </p:spPr>
          </p:sp>
          <p:sp>
            <p:nvSpPr>
              <p:cNvPr id="39" name="Freeform 39"/>
              <p:cNvSpPr/>
              <p:nvPr/>
            </p:nvSpPr>
            <p:spPr>
              <a:xfrm>
                <a:off x="5376863" y="3987800"/>
                <a:ext cx="111125" cy="144463"/>
              </a:xfrm>
              <a:custGeom>
                <a:avLst/>
                <a:gdLst/>
                <a:ahLst/>
                <a:cxnLst/>
                <a:rect l="l" t="t" r="r" b="b"/>
                <a:pathLst>
                  <a:path w="111125" h="144463">
                    <a:moveTo>
                      <a:pt x="0" y="144463"/>
                    </a:moveTo>
                    <a:lnTo>
                      <a:pt x="0" y="0"/>
                    </a:lnTo>
                    <a:lnTo>
                      <a:pt x="111125" y="0"/>
                    </a:lnTo>
                    <a:lnTo>
                      <a:pt x="111125" y="144463"/>
                    </a:lnTo>
                  </a:path>
                </a:pathLst>
              </a:custGeom>
              <a:noFill/>
              <a:ln w="22225">
                <a:solidFill>
                  <a:schemeClr val="accent1"/>
                </a:solidFill>
              </a:ln>
            </p:spPr>
          </p:sp>
          <p:sp>
            <p:nvSpPr>
              <p:cNvPr id="40" name="Freeform 40"/>
              <p:cNvSpPr/>
              <p:nvPr/>
            </p:nvSpPr>
            <p:spPr>
              <a:xfrm>
                <a:off x="5376863" y="4032250"/>
                <a:ext cx="111125" cy="9525"/>
              </a:xfrm>
              <a:custGeom>
                <a:avLst/>
                <a:gdLst/>
                <a:ahLst/>
                <a:cxnLst/>
                <a:rect l="l" t="t" r="r" b="b"/>
                <a:pathLst>
                  <a:path w="111125" h="9525">
                    <a:moveTo>
                      <a:pt x="0" y="0"/>
                    </a:moveTo>
                    <a:lnTo>
                      <a:pt x="111125" y="0"/>
                    </a:lnTo>
                  </a:path>
                </a:pathLst>
              </a:custGeom>
              <a:noFill/>
              <a:ln w="22225">
                <a:solidFill>
                  <a:schemeClr val="accent1"/>
                </a:solidFill>
              </a:ln>
            </p:spPr>
          </p:sp>
        </p:grpSp>
        <p:sp>
          <p:nvSpPr>
            <p:cNvPr id="42" name="TextBox 42"/>
            <p:cNvSpPr txBox="1"/>
            <p:nvPr/>
          </p:nvSpPr>
          <p:spPr>
            <a:xfrm>
              <a:off x="5648706" y="3977640"/>
              <a:ext cx="113541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声音:均衡</a:t>
              </a:r>
            </a:p>
          </p:txBody>
        </p:sp>
        <p:sp>
          <p:nvSpPr>
            <p:cNvPr id="43" name="TextBox 43"/>
            <p:cNvSpPr txBox="1"/>
            <p:nvPr/>
          </p:nvSpPr>
          <p:spPr>
            <a:xfrm>
              <a:off x="5269992" y="4407218"/>
              <a:ext cx="2679763"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按频段乘一条传递函数再变回时域,</a:t>
              </a:r>
              <a:br/>
              <a:r>
                <a:rPr lang="zh-CN" sz="1350" dirty="0">
                  <a:solidFill>
                    <a:schemeClr val="dk1"/>
                  </a:solidFill>
                  <a:latin typeface="+mn-lt"/>
                  <a:ea typeface="+mn-ea"/>
                  <a:cs typeface="+mn-cs"/>
                </a:rPr>
                <a:t>频谱分析工具普遍用 FFT 实现。</a:t>
              </a:r>
            </a:p>
          </p:txBody>
        </p:sp>
        <p:sp>
          <p:nvSpPr>
            <p:cNvPr id="44" name="TextBox 44"/>
            <p:cNvSpPr txBox="1"/>
            <p:nvPr/>
          </p:nvSpPr>
          <p:spPr>
            <a:xfrm>
              <a:off x="5269992" y="4864418"/>
              <a:ext cx="241881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卷积定理的工程读法(F010)</a:t>
              </a:r>
            </a:p>
          </p:txBody>
        </p:sp>
      </p:grpSp>
      <mc:AlternateContent xmlns:mc="http://schemas.openxmlformats.org/markup-compatibility/2006">
        <mc:Choice xmlns:a14="http://schemas.microsoft.com/office/drawing/2010/main" Requires="a14">
          <p:sp>
            <p:nvSpPr>
              <p:cNvPr id="46" name="dct-formula"/>
              <p:cNvSpPr txBox="1">
                <a:spLocks noGrp="1"/>
              </p:cNvSpPr>
              <p:nvPr/>
            </p:nvSpPr>
            <p:spPr>
              <a:xfrm>
                <a:off x="609600" y="5429250"/>
                <a:ext cx="8534400" cy="9906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2100" dirty="0">
                              <a:solidFill>
                                <a:srgbClr val="123B63"/>
                              </a:solidFill>
                              <a:latin typeface="Cambria Math"/>
                              <a:ea typeface="Cambria Math"/>
                              <a:cs typeface="Cambria Math"/>
                            </a:rPr>
                            <m:t>S</m:t>
                          </m:r>
                        </m:e>
                        <m:sub>
                          <m:r>
                            <a:rPr lang="zh-CN" sz="2100" dirty="0">
                              <a:solidFill>
                                <a:srgbClr val="123B63"/>
                              </a:solidFill>
                              <a:latin typeface="Cambria Math"/>
                              <a:ea typeface="Cambria Math"/>
                              <a:cs typeface="Cambria Math"/>
                            </a:rPr>
                            <m:t>vu</m:t>
                          </m:r>
                        </m:sub>
                      </m:sSub>
                      <m:r>
                        <m:rPr>
                          <m:sty m:val="p"/>
                        </m:rPr>
                        <a:rPr lang="zh-CN" sz="2100" dirty="0">
                          <a:solidFill>
                            <a:srgbClr val="123B63"/>
                          </a:solidFill>
                          <a:latin typeface="Cambria Math"/>
                          <a:ea typeface="Cambria Math"/>
                          <a:cs typeface="Cambria Math"/>
                        </a:rPr>
                        <m:t>=</m:t>
                      </m:r>
                      <m:f>
                        <m:fPr>
                          <m:type m:val="bar"/>
                          <m:ctrlPr>
                            <a:rPr lang="zh-CN" sz="2100" dirty="0">
                              <a:solidFill>
                                <a:srgbClr val="123B63"/>
                              </a:solidFill>
                              <a:latin typeface="Cambria Math"/>
                              <a:ea typeface="Cambria Math"/>
                              <a:cs typeface="Cambria Math"/>
                            </a:rPr>
                          </m:ctrlPr>
                        </m:fPr>
                        <m:num>
                          <m:r>
                            <a:rPr lang="zh-CN" sz="2100" dirty="0">
                              <a:solidFill>
                                <a:srgbClr val="123B63"/>
                              </a:solidFill>
                              <a:latin typeface="Cambria Math"/>
                              <a:ea typeface="Cambria Math"/>
                              <a:cs typeface="Cambria Math"/>
                            </a:rPr>
                            <m:t>1</m:t>
                          </m:r>
                        </m:num>
                        <m:den>
                          <m:r>
                            <a:rPr lang="zh-CN" sz="2100" dirty="0">
                              <a:solidFill>
                                <a:srgbClr val="123B63"/>
                              </a:solidFill>
                              <a:latin typeface="Cambria Math"/>
                              <a:ea typeface="Cambria Math"/>
                              <a:cs typeface="Cambria Math"/>
                            </a:rPr>
                            <m:t>4</m:t>
                          </m:r>
                        </m:den>
                      </m:f>
                      <m:sSub>
                        <m:e>
                          <m:r>
                            <a:rPr lang="zh-CN" sz="2100" dirty="0">
                              <a:solidFill>
                                <a:srgbClr val="123B63"/>
                              </a:solidFill>
                              <a:latin typeface="Cambria Math"/>
                              <a:ea typeface="Cambria Math"/>
                              <a:cs typeface="Cambria Math"/>
                            </a:rPr>
                            <m:t>C</m:t>
                          </m:r>
                        </m:e>
                        <m:sub>
                          <m:r>
                            <a:rPr lang="zh-CN" sz="2100" dirty="0">
                              <a:solidFill>
                                <a:srgbClr val="123B63"/>
                              </a:solidFill>
                              <a:latin typeface="Cambria Math"/>
                              <a:ea typeface="Cambria Math"/>
                              <a:cs typeface="Cambria Math"/>
                            </a:rPr>
                            <m:t>u</m:t>
                          </m:r>
                        </m:sub>
                      </m:sSub>
                      <m:sSub>
                        <m:e>
                          <m:r>
                            <a:rPr lang="zh-CN" sz="2100" dirty="0">
                              <a:solidFill>
                                <a:srgbClr val="123B63"/>
                              </a:solidFill>
                              <a:latin typeface="Cambria Math"/>
                              <a:ea typeface="Cambria Math"/>
                              <a:cs typeface="Cambria Math"/>
                            </a:rPr>
                            <m:t>C</m:t>
                          </m:r>
                        </m:e>
                        <m:sub>
                          <m:r>
                            <a:rPr lang="zh-CN" sz="2100" dirty="0">
                              <a:solidFill>
                                <a:srgbClr val="123B63"/>
                              </a:solidFill>
                              <a:latin typeface="Cambria Math"/>
                              <a:ea typeface="Cambria Math"/>
                              <a:cs typeface="Cambria Math"/>
                            </a:rPr>
                            <m:t>v</m:t>
                          </m:r>
                        </m:sub>
                      </m:sSub>
                      <m:nary>
                        <m:naryPr>
                          <m:chr m:val="∑"/>
                          <m:limLoc m:val="undOvr"/>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x</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0</m:t>
                          </m:r>
                        </m:sub>
                        <m:sup>
                          <m:r>
                            <a:rPr lang="zh-CN" sz="2100" dirty="0">
                              <a:solidFill>
                                <a:srgbClr val="123B63"/>
                              </a:solidFill>
                              <a:latin typeface="Cambria Math"/>
                              <a:ea typeface="Cambria Math"/>
                              <a:cs typeface="Cambria Math"/>
                            </a:rPr>
                            <m:t>7</m:t>
                          </m:r>
                        </m:sup>
                        <m:e>
                          <m:nary>
                            <m:naryPr>
                              <m:chr m:val="∑"/>
                              <m:limLoc m:val="undOvr"/>
                              <m:grow m:val="off"/>
                              <m:subHide m:val="off"/>
                              <m:supHide m:val="off"/>
                              <m:ctrlPr>
                                <a:rPr lang="zh-CN" sz="2100" dirty="0">
                                  <a:solidFill>
                                    <a:srgbClr val="123B63"/>
                                  </a:solidFill>
                                  <a:latin typeface="Cambria Math"/>
                                  <a:ea typeface="Cambria Math"/>
                                  <a:cs typeface="Cambria Math"/>
                                </a:rPr>
                              </m:ctrlPr>
                            </m:naryPr>
                            <m:sub>
                              <m:r>
                                <a:rPr lang="zh-CN" sz="2100" dirty="0">
                                  <a:solidFill>
                                    <a:srgbClr val="123B63"/>
                                  </a:solidFill>
                                  <a:latin typeface="Cambria Math"/>
                                  <a:ea typeface="Cambria Math"/>
                                  <a:cs typeface="Cambria Math"/>
                                </a:rPr>
                                <m:t>y</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0</m:t>
                              </m:r>
                            </m:sub>
                            <m:sup>
                              <m:r>
                                <a:rPr lang="zh-CN" sz="2100" dirty="0">
                                  <a:solidFill>
                                    <a:srgbClr val="123B63"/>
                                  </a:solidFill>
                                  <a:latin typeface="Cambria Math"/>
                                  <a:ea typeface="Cambria Math"/>
                                  <a:cs typeface="Cambria Math"/>
                                </a:rPr>
                                <m:t>7</m:t>
                              </m:r>
                            </m:sup>
                            <m:e>
                              <m:sSub>
                                <m:e>
                                  <m:r>
                                    <a:rPr lang="zh-CN" sz="2100" dirty="0">
                                      <a:solidFill>
                                        <a:srgbClr val="123B63"/>
                                      </a:solidFill>
                                      <a:latin typeface="Cambria Math"/>
                                      <a:ea typeface="Cambria Math"/>
                                      <a:cs typeface="Cambria Math"/>
                                    </a:rPr>
                                    <m:t>s</m:t>
                                  </m:r>
                                </m:e>
                                <m:sub>
                                  <m:r>
                                    <a:rPr lang="zh-CN" sz="2100" dirty="0">
                                      <a:solidFill>
                                        <a:srgbClr val="123B63"/>
                                      </a:solidFill>
                                      <a:latin typeface="Cambria Math"/>
                                      <a:ea typeface="Cambria Math"/>
                                      <a:cs typeface="Cambria Math"/>
                                    </a:rPr>
                                    <m:t>yx</m:t>
                                  </m:r>
                                </m:sub>
                              </m:sSub>
                              <m:func>
                                <m:funcPr/>
                                <m:fName>
                                  <m:r>
                                    <m:rPr>
                                      <m:sty m:val="p"/>
                                    </m:rPr>
                                    <a:rPr lang="zh-CN" sz="2100" dirty="0">
                                      <a:solidFill>
                                        <a:srgbClr val="123B63"/>
                                      </a:solidFill>
                                      <a:latin typeface="Cambria Math"/>
                                      <a:ea typeface="Cambria Math"/>
                                      <a:cs typeface="Cambria Math"/>
                                    </a:rPr>
                                    <m:t>cos</m:t>
                                  </m:r>
                                </m:fName>
                                <m:e>
                                  <m:f>
                                    <m:fPr>
                                      <m:type m:val="bar"/>
                                      <m:ctrlPr>
                                        <a:rPr lang="zh-CN" sz="2100" dirty="0">
                                          <a:solidFill>
                                            <a:srgbClr val="123B63"/>
                                          </a:solidFill>
                                          <a:latin typeface="Cambria Math"/>
                                          <a:ea typeface="Cambria Math"/>
                                          <a:cs typeface="Cambria Math"/>
                                        </a:rPr>
                                      </m:ctrlPr>
                                    </m:fPr>
                                    <m:num>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2x</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e>
                                      </m:d>
                                      <m:r>
                                        <a:rPr lang="zh-CN" sz="2100" dirty="0">
                                          <a:solidFill>
                                            <a:srgbClr val="123B63"/>
                                          </a:solidFill>
                                          <a:latin typeface="Cambria Math"/>
                                          <a:ea typeface="Cambria Math"/>
                                          <a:cs typeface="Cambria Math"/>
                                        </a:rPr>
                                        <m:t>uπ</m:t>
                                      </m:r>
                                    </m:num>
                                    <m:den>
                                      <m:r>
                                        <a:rPr lang="zh-CN" sz="2100" dirty="0">
                                          <a:solidFill>
                                            <a:srgbClr val="123B63"/>
                                          </a:solidFill>
                                          <a:latin typeface="Cambria Math"/>
                                          <a:ea typeface="Cambria Math"/>
                                          <a:cs typeface="Cambria Math"/>
                                        </a:rPr>
                                        <m:t>16</m:t>
                                      </m:r>
                                    </m:den>
                                  </m:f>
                                </m:e>
                              </m:func>
                              <m:func>
                                <m:funcPr/>
                                <m:fName>
                                  <m:r>
                                    <m:rPr>
                                      <m:sty m:val="p"/>
                                    </m:rPr>
                                    <a:rPr lang="zh-CN" sz="2100" dirty="0">
                                      <a:solidFill>
                                        <a:srgbClr val="123B63"/>
                                      </a:solidFill>
                                      <a:latin typeface="Cambria Math"/>
                                      <a:ea typeface="Cambria Math"/>
                                      <a:cs typeface="Cambria Math"/>
                                    </a:rPr>
                                    <m:t>cos</m:t>
                                  </m:r>
                                </m:fName>
                                <m:e>
                                  <m:f>
                                    <m:fPr>
                                      <m:type m:val="bar"/>
                                      <m:ctrlPr>
                                        <a:rPr lang="zh-CN" sz="2100" dirty="0">
                                          <a:solidFill>
                                            <a:srgbClr val="123B63"/>
                                          </a:solidFill>
                                          <a:latin typeface="Cambria Math"/>
                                          <a:ea typeface="Cambria Math"/>
                                          <a:cs typeface="Cambria Math"/>
                                        </a:rPr>
                                      </m:ctrlPr>
                                    </m:fPr>
                                    <m:num>
                                      <m:d>
                                        <m:dPr>
                                          <m:begChr m:val="("/>
                                          <m:sepChr m:val=""/>
                                          <m:endChr m:val=")"/>
                                          <m:grow m:val="on"/>
                                          <m:ctrlPr>
                                            <a:rPr lang="zh-CN" sz="2100" dirty="0">
                                              <a:solidFill>
                                                <a:srgbClr val="123B63"/>
                                              </a:solidFill>
                                              <a:latin typeface="Cambria Math"/>
                                              <a:ea typeface="Cambria Math"/>
                                              <a:cs typeface="Cambria Math"/>
                                            </a:rPr>
                                          </m:ctrlPr>
                                        </m:dPr>
                                        <m:e>
                                          <m:r>
                                            <a:rPr lang="zh-CN" sz="2100" dirty="0">
                                              <a:solidFill>
                                                <a:srgbClr val="123B63"/>
                                              </a:solidFill>
                                              <a:latin typeface="Cambria Math"/>
                                              <a:ea typeface="Cambria Math"/>
                                              <a:cs typeface="Cambria Math"/>
                                            </a:rPr>
                                            <m:t>2y</m:t>
                                          </m:r>
                                          <m:r>
                                            <m:rPr>
                                              <m:sty m:val="p"/>
                                            </m:rPr>
                                            <a:rPr lang="zh-CN" sz="2100" dirty="0">
                                              <a:solidFill>
                                                <a:srgbClr val="123B63"/>
                                              </a:solidFill>
                                              <a:latin typeface="Cambria Math"/>
                                              <a:ea typeface="Cambria Math"/>
                                              <a:cs typeface="Cambria Math"/>
                                            </a:rPr>
                                            <m:t>+</m:t>
                                          </m:r>
                                          <m:r>
                                            <a:rPr lang="zh-CN" sz="2100" dirty="0">
                                              <a:solidFill>
                                                <a:srgbClr val="123B63"/>
                                              </a:solidFill>
                                              <a:latin typeface="Cambria Math"/>
                                              <a:ea typeface="Cambria Math"/>
                                              <a:cs typeface="Cambria Math"/>
                                            </a:rPr>
                                            <m:t>1</m:t>
                                          </m:r>
                                        </m:e>
                                      </m:d>
                                      <m:r>
                                        <a:rPr lang="zh-CN" sz="2100" dirty="0">
                                          <a:solidFill>
                                            <a:srgbClr val="123B63"/>
                                          </a:solidFill>
                                          <a:latin typeface="Cambria Math"/>
                                          <a:ea typeface="Cambria Math"/>
                                          <a:cs typeface="Cambria Math"/>
                                        </a:rPr>
                                        <m:t>vπ</m:t>
                                      </m:r>
                                    </m:num>
                                    <m:den>
                                      <m:r>
                                        <a:rPr lang="zh-CN" sz="2100" dirty="0">
                                          <a:solidFill>
                                            <a:srgbClr val="123B63"/>
                                          </a:solidFill>
                                          <a:latin typeface="Cambria Math"/>
                                          <a:ea typeface="Cambria Math"/>
                                          <a:cs typeface="Cambria Math"/>
                                        </a:rPr>
                                        <m:t>16</m:t>
                                      </m:r>
                                    </m:den>
                                  </m:f>
                                </m:e>
                              </m:func>
                            </m:e>
                          </m:nary>
                        </m:e>
                      </m:nary>
                    </m:oMath>
                  </m:oMathPara>
                </a14:m>
              </a:p>
            </p:txBody>
          </p:sp>
        </mc:Choice>
      </mc:AlternateContent>
      <p:grpSp>
        <p:nvGrpSpPr>
          <p:cNvPr id="48" name="applications-note"/>
          <p:cNvGrpSpPr/>
          <p:nvPr/>
        </p:nvGrpSpPr>
        <p:grpSpPr>
          <a:xfrm>
            <a:off x="600456" y="6568440"/>
            <a:ext cx="7308799" cy="352044"/>
            <a:chOff x="600456" y="6568440"/>
            <a:chExt cx="7308799" cy="352044"/>
          </a:xfrm>
        </p:grpSpPr>
        <p:sp>
          <p:nvSpPr>
            <p:cNvPr id="47" name="TextBox 47"/>
            <p:cNvSpPr txBox="1"/>
            <p:nvPr/>
          </p:nvSpPr>
          <p:spPr>
            <a:xfrm>
              <a:off x="600456" y="6568440"/>
              <a:ext cx="730879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上面这条就是 JPEG 里那次 DCT——同一套思路,换了一组基函数。</a:t>
              </a:r>
            </a:p>
          </p:txBody>
        </p:sp>
      </p:grpSp>
      <p:grpSp>
        <p:nvGrpSpPr>
          <p:cNvPr id="51" name="page-footer"/>
          <p:cNvGrpSpPr/>
          <p:nvPr/>
        </p:nvGrpSpPr>
        <p:grpSpPr>
          <a:xfrm>
            <a:off x="603504" y="6880860"/>
            <a:ext cx="8546592" cy="234696"/>
            <a:chOff x="603504" y="6880860"/>
            <a:chExt cx="8546592" cy="234696"/>
          </a:xfrm>
        </p:grpSpPr>
        <p:sp>
          <p:nvSpPr>
            <p:cNvPr id="49" name="TextBox 49"/>
            <p:cNvSpPr txBox="1"/>
            <p:nvPr/>
          </p:nvSpPr>
          <p:spPr>
            <a:xfrm>
              <a:off x="603504" y="6880860"/>
              <a:ext cx="531937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来源见各卡片;子载波间隔 312.5 kHz = 20 MHz ÷ 64,为本卷整理结果</a:t>
              </a:r>
            </a:p>
          </p:txBody>
        </p:sp>
        <p:sp>
          <p:nvSpPr>
            <p:cNvPr id="50" name="TextBox 50"/>
            <p:cNvSpPr txBox="1"/>
            <p:nvPr/>
          </p:nvSpPr>
          <p:spPr>
            <a:xfrm>
              <a:off x="8950147" y="688086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a:t>
              </a:r>
            </a:p>
          </p:txBody>
        </p:sp>
      </p:grpSp>
    </p:spTree>
  </p:cSld>
  <p:clrMapOvr>
    <a:masterClrMapping/>
  </p:clrMapOvr>
  <p:transition xmlns:p14="http://schemas.microsoft.com/office/powerpoint/2010/mai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par>
                          <p:cTn id="16" fill="hold">
                            <p:stCondLst>
                              <p:cond delay="22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400"/>
                                        <p:tgtEl>
                                          <p:spTgt spid="45"/>
                                        </p:tgtEl>
                                      </p:cBhvr>
                                    </p:animEffect>
                                  </p:childTnLst>
                                </p:cTn>
                              </p:par>
                            </p:childTnLst>
                          </p:cTn>
                        </p:par>
                        <p:par>
                          <p:cTn id="20" fill="hold">
                            <p:stCondLst>
                              <p:cond delay="3100"/>
                            </p:stCondLst>
                            <p:childTnLst>
                              <p:par>
                                <p:cTn xmlns:p="http://schemas.openxmlformats.org/presentationml/2006/main" id="21" presetID="10" presetClass="entr" presetSubtype="0" fill="hold" grpId="0" nodeType="afterEffect">
                                  <p:stCondLst>
                                    <p:cond delay="30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500"/>
                                        <p:tgtEl>
                                          <p:spTgt spid="46"/>
                                        </p:tgtEl>
                                      </p:cBhvr>
                                    </p:animEffect>
                                  </p:childTnLst>
                                </p:cTn>
                              </p:par>
                            </p:childTnLst>
                          </p:cTn>
                        </p:par>
                        <p:par>
                          <p:cTn id="24" fill="hold">
                            <p:stCondLst>
                              <p:cond delay="39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48"/>
                                        </p:tgtEl>
                                        <p:attrNameLst>
                                          <p:attrName>style.visibility</p:attrName>
                                        </p:attrNameLst>
                                      </p:cBhvr>
                                      <p:to>
                                        <p:strVal val="visible"/>
                                      </p:to>
                                    </p:set>
                                    <p:animEffect transition="in" filter="fade">
                                      <p:cBhvr>
                                        <p:cTn id="27"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 y="1714500"/>
            <a:ext cx="8534400" cy="9525"/>
          </a:xfrm>
          <a:custGeom>
            <a:avLst/>
            <a:gdLst/>
            <a:ahLst/>
            <a:cxnLst/>
            <a:rect l="l" t="t" r="r" b="b"/>
            <a:pathLst>
              <a:path w="8534400" h="9525">
                <a:moveTo>
                  <a:pt x="0" y="0"/>
                </a:moveTo>
                <a:lnTo>
                  <a:pt x="8534400" y="0"/>
                </a:lnTo>
              </a:path>
            </a:pathLst>
          </a:custGeom>
          <a:noFill/>
          <a:ln w="9525">
            <a:solidFill>
              <a:schemeClr val="accent6"/>
            </a:solidFill>
          </a:ln>
        </p:spPr>
      </p:sp>
      <p:sp>
        <p:nvSpPr>
          <p:cNvPr id="3" name="band-takeaway-1"/>
          <p:cNvSpPr/>
          <p:nvPr/>
        </p:nvSpPr>
        <p:spPr>
          <a:xfrm>
            <a:off x="609600" y="1905000"/>
            <a:ext cx="8534400" cy="609600"/>
          </a:xfrm>
          <a:prstGeom prst="rect">
            <a:avLst/>
          </a:prstGeom>
          <a:solidFill>
            <a:schemeClr val="lt2"/>
          </a:solidFill>
          <a:ln>
            <a:noFill/>
          </a:ln>
        </p:spPr>
      </p:sp>
      <p:sp>
        <p:nvSpPr>
          <p:cNvPr id="4" name="band-takeaway-1-bar"/>
          <p:cNvSpPr/>
          <p:nvPr/>
        </p:nvSpPr>
        <p:spPr>
          <a:xfrm>
            <a:off x="609600" y="1905000"/>
            <a:ext cx="28575" cy="609600"/>
          </a:xfrm>
          <a:prstGeom prst="rect">
            <a:avLst/>
          </a:prstGeom>
          <a:solidFill>
            <a:schemeClr val="accent1"/>
          </a:solidFill>
          <a:ln>
            <a:noFill/>
          </a:ln>
        </p:spPr>
      </p:sp>
      <p:sp>
        <p:nvSpPr>
          <p:cNvPr id="5" name="band-takeaway-2"/>
          <p:cNvSpPr/>
          <p:nvPr/>
        </p:nvSpPr>
        <p:spPr>
          <a:xfrm>
            <a:off x="609600" y="2667000"/>
            <a:ext cx="8534400" cy="609600"/>
          </a:xfrm>
          <a:prstGeom prst="rect">
            <a:avLst/>
          </a:prstGeom>
          <a:solidFill>
            <a:schemeClr val="lt2"/>
          </a:solidFill>
          <a:ln>
            <a:noFill/>
          </a:ln>
        </p:spPr>
      </p:sp>
      <p:sp>
        <p:nvSpPr>
          <p:cNvPr id="6" name="band-takeaway-2-bar"/>
          <p:cNvSpPr/>
          <p:nvPr/>
        </p:nvSpPr>
        <p:spPr>
          <a:xfrm>
            <a:off x="609600" y="2667000"/>
            <a:ext cx="28575" cy="609600"/>
          </a:xfrm>
          <a:prstGeom prst="rect">
            <a:avLst/>
          </a:prstGeom>
          <a:solidFill>
            <a:schemeClr val="accent1"/>
          </a:solidFill>
          <a:ln>
            <a:noFill/>
          </a:ln>
        </p:spPr>
      </p:sp>
      <p:sp>
        <p:nvSpPr>
          <p:cNvPr id="7" name="band-takeaway-3"/>
          <p:cNvSpPr/>
          <p:nvPr/>
        </p:nvSpPr>
        <p:spPr>
          <a:xfrm>
            <a:off x="609600" y="3429000"/>
            <a:ext cx="8534400" cy="609600"/>
          </a:xfrm>
          <a:prstGeom prst="rect">
            <a:avLst/>
          </a:prstGeom>
          <a:solidFill>
            <a:schemeClr val="lt2"/>
          </a:solidFill>
          <a:ln>
            <a:noFill/>
          </a:ln>
        </p:spPr>
      </p:sp>
      <p:sp>
        <p:nvSpPr>
          <p:cNvPr id="8" name="band-takeaway-3-bar"/>
          <p:cNvSpPr/>
          <p:nvPr/>
        </p:nvSpPr>
        <p:spPr>
          <a:xfrm>
            <a:off x="609600" y="3429000"/>
            <a:ext cx="28575" cy="609600"/>
          </a:xfrm>
          <a:prstGeom prst="rect">
            <a:avLst/>
          </a:prstGeom>
          <a:solidFill>
            <a:schemeClr val="accent1"/>
          </a:solidFill>
          <a:ln>
            <a:noFill/>
          </a:ln>
        </p:spPr>
      </p:sp>
      <p:sp>
        <p:nvSpPr>
          <p:cNvPr id="9" name="formula-band"/>
          <p:cNvSpPr/>
          <p:nvPr/>
        </p:nvSpPr>
        <p:spPr>
          <a:xfrm>
            <a:off x="609600" y="5715000"/>
            <a:ext cx="8534400" cy="857250"/>
          </a:xfrm>
          <a:prstGeom prst="rect">
            <a:avLst/>
          </a:prstGeom>
          <a:solidFill>
            <a:schemeClr val="lt2"/>
          </a:solidFill>
          <a:ln>
            <a:noFill/>
          </a:ln>
        </p:spPr>
      </p:sp>
      <p:sp>
        <p:nvSpPr>
          <p:cNvPr id="10" name="formula-band-bar"/>
          <p:cNvSpPr/>
          <p:nvPr/>
        </p:nvSpPr>
        <p:spPr>
          <a:xfrm>
            <a:off x="609600" y="5715000"/>
            <a:ext cx="28575" cy="857250"/>
          </a:xfrm>
          <a:prstGeom prst="rect">
            <a:avLst/>
          </a:prstGeom>
          <a:solidFill>
            <a:schemeClr val="accent2"/>
          </a:solidFill>
          <a:ln>
            <a:noFill/>
          </a:ln>
        </p:spPr>
      </p:sp>
      <p:grpSp>
        <p:nvGrpSpPr>
          <p:cNvPr id="13" name="section-kicker"/>
          <p:cNvGrpSpPr/>
          <p:nvPr/>
        </p:nvGrpSpPr>
        <p:grpSpPr>
          <a:xfrm>
            <a:off x="602742" y="552450"/>
            <a:ext cx="1182319" cy="404051"/>
            <a:chOff x="602742" y="552450"/>
            <a:chExt cx="1182319" cy="404051"/>
          </a:xfrm>
        </p:grpSpPr>
        <p:sp>
          <p:nvSpPr>
            <p:cNvPr id="11" name="Rectangle 11"/>
            <p:cNvSpPr/>
            <p:nvPr/>
          </p:nvSpPr>
          <p:spPr>
            <a:xfrm>
              <a:off x="609600" y="552450"/>
              <a:ext cx="266700" cy="28575"/>
            </a:xfrm>
            <a:prstGeom prst="rect">
              <a:avLst/>
            </a:prstGeom>
            <a:solidFill>
              <a:schemeClr val="accent2"/>
            </a:solidFill>
            <a:ln>
              <a:noFill/>
            </a:ln>
          </p:spPr>
        </p:sp>
        <p:sp>
          <p:nvSpPr>
            <p:cNvPr id="12" name="TextBox 12"/>
            <p:cNvSpPr txBox="1"/>
            <p:nvPr/>
          </p:nvSpPr>
          <p:spPr>
            <a:xfrm>
              <a:off x="602742" y="692468"/>
              <a:ext cx="118231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 6 节 · 收束</a:t>
              </a:r>
            </a:p>
          </p:txBody>
        </p:sp>
      </p:grpSp>
      <p:grpSp>
        <p:nvGrpSpPr>
          <p:cNvPr id="15" name="page-title"/>
          <p:cNvGrpSpPr/>
          <p:nvPr/>
        </p:nvGrpSpPr>
        <p:grpSpPr>
          <a:xfrm>
            <a:off x="593598" y="1050608"/>
            <a:ext cx="5207051" cy="616077"/>
            <a:chOff x="593598" y="1050608"/>
            <a:chExt cx="5207051" cy="616077"/>
          </a:xfrm>
        </p:grpSpPr>
        <p:sp>
          <p:nvSpPr>
            <p:cNvPr id="14" name="TextBox 14"/>
            <p:cNvSpPr txBox="1"/>
            <p:nvPr/>
          </p:nvSpPr>
          <p:spPr>
            <a:xfrm>
              <a:off x="593598" y="1050608"/>
              <a:ext cx="5207051" cy="616077"/>
            </a:xfrm>
            <a:prstGeom prst="rect">
              <a:avLst/>
            </a:prstGeom>
            <a:noFill/>
            <a:ln>
              <a:noFill/>
            </a:ln>
          </p:spPr>
          <p:txBody>
            <a:bodyPr wrap="none" lIns="0" tIns="0" rIns="0" bIns="0" anchor="t" anchorCtr="0">
              <a:spAutoFit/>
            </a:bodyPr>
            <a:lstStyle/>
            <a:p>
              <a:pPr algn="l"/>
              <a:r>
                <a:rPr lang="zh-CN" sz="3150" dirty="0">
                  <a:solidFill>
                    <a:schemeClr val="accent1"/>
                  </a:solidFill>
                  <a:latin typeface="+mj-lt"/>
                  <a:ea typeface="+mj-ea"/>
                  <a:cs typeface="+mj-cs"/>
                </a:rPr>
                <a:t>三句话,和两条继续走的路</a:t>
              </a:r>
            </a:p>
          </p:txBody>
        </p:sp>
      </p:grpSp>
      <p:grpSp>
        <p:nvGrpSpPr>
          <p:cNvPr id="19" name="takeaways"/>
          <p:cNvGrpSpPr/>
          <p:nvPr/>
        </p:nvGrpSpPr>
        <p:grpSpPr>
          <a:xfrm>
            <a:off x="867156" y="2091690"/>
            <a:ext cx="6782288" cy="1876044"/>
            <a:chOff x="867156" y="2091690"/>
            <a:chExt cx="6782288" cy="1876044"/>
          </a:xfrm>
        </p:grpSpPr>
        <p:sp>
          <p:nvSpPr>
            <p:cNvPr id="16" name="TextBox 16"/>
            <p:cNvSpPr txBox="1"/>
            <p:nvPr/>
          </p:nvSpPr>
          <p:spPr>
            <a:xfrm>
              <a:off x="867156" y="2091690"/>
              <a:ext cx="678228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 xml:space="preserve">一 </a:t>
              </a:r>
              <a:r>
                <a:rPr lang="zh-CN" sz="1800" dirty="0">
                  <a:solidFill>
                    <a:schemeClr val="dk1"/>
                  </a:solidFill>
                  <a:latin typeface="+mn-lt"/>
                  <a:ea typeface="+mn-ea"/>
                  <a:cs typeface="+mn-cs"/>
                </a:rPr>
                <a:t>时域与频域是同一份信息的两种写法,靠一对积分互相翻译。</a:t>
              </a:r>
            </a:p>
          </p:txBody>
        </p:sp>
        <p:sp>
          <p:nvSpPr>
            <p:cNvPr id="17" name="TextBox 17"/>
            <p:cNvSpPr txBox="1"/>
            <p:nvPr/>
          </p:nvSpPr>
          <p:spPr>
            <a:xfrm>
              <a:off x="867156" y="2853690"/>
              <a:ext cx="619615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 xml:space="preserve">二 </a:t>
              </a:r>
              <a:r>
                <a:rPr lang="zh-CN" sz="1800" dirty="0">
                  <a:solidFill>
                    <a:schemeClr val="dk1"/>
                  </a:solidFill>
                  <a:latin typeface="+mn-lt"/>
                  <a:ea typeface="+mn-ea"/>
                  <a:cs typeface="+mn-cs"/>
                </a:rPr>
                <a:t>滤波、均衡、模糊在频域都只是一次乘法——卷积定理。</a:t>
              </a:r>
            </a:p>
          </p:txBody>
        </p:sp>
        <p:sp>
          <p:nvSpPr>
            <p:cNvPr id="18" name="TextBox 18"/>
            <p:cNvSpPr txBox="1"/>
            <p:nvPr/>
          </p:nvSpPr>
          <p:spPr>
            <a:xfrm>
              <a:off x="867156" y="3615690"/>
              <a:ext cx="561057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 xml:space="preserve">三 </a:t>
              </a:r>
              <a:r>
                <a:rPr lang="zh-CN" sz="1800" dirty="0">
                  <a:solidFill>
                    <a:schemeClr val="dk1"/>
                  </a:solidFill>
                  <a:latin typeface="+mn-lt"/>
                  <a:ea typeface="+mn-ea"/>
                  <a:cs typeface="+mn-cs"/>
                </a:rPr>
                <a:t>FFT 没换数学,只换了算路:从 N² 到 N log N。</a:t>
              </a:r>
            </a:p>
          </p:txBody>
        </p:sp>
      </p:grpSp>
      <p:grpSp>
        <p:nvGrpSpPr>
          <p:cNvPr id="29" name="extension-course"/>
          <p:cNvGrpSpPr/>
          <p:nvPr/>
        </p:nvGrpSpPr>
        <p:grpSpPr>
          <a:xfrm>
            <a:off x="609600" y="4286250"/>
            <a:ext cx="4095750" cy="1143000"/>
            <a:chOff x="609600" y="4286250"/>
            <a:chExt cx="4095750" cy="1143000"/>
          </a:xfrm>
        </p:grpSpPr>
        <p:sp>
          <p:nvSpPr>
            <p:cNvPr id="20" name="Freeform 20"/>
            <p:cNvSpPr/>
            <p:nvPr/>
          </p:nvSpPr>
          <p:spPr>
            <a:xfrm>
              <a:off x="609600" y="4286250"/>
              <a:ext cx="4095750" cy="1143000"/>
            </a:xfrm>
            <a:prstGeom prst="snipRoundRect">
              <a:avLst/>
            </a:prstGeom>
            <a:solidFill>
              <a:schemeClr val="lt1"/>
            </a:solidFill>
            <a:ln w="19050">
              <a:solidFill>
                <a:schemeClr val="accent1"/>
              </a:solidFill>
            </a:ln>
          </p:spPr>
        </p:sp>
        <p:grpSp>
          <p:nvGrpSpPr>
            <p:cNvPr id="26" name="Group 26"/>
            <p:cNvGrpSpPr/>
            <p:nvPr/>
          </p:nvGrpSpPr>
          <p:grpSpPr>
            <a:xfrm>
              <a:off x="869156" y="4541123"/>
              <a:ext cx="195262" cy="150732"/>
              <a:chOff x="869156" y="4541123"/>
              <a:chExt cx="195262" cy="150732"/>
            </a:xfrm>
          </p:grpSpPr>
          <p:sp>
            <p:nvSpPr>
              <p:cNvPr id="21" name="Freeform 21"/>
              <p:cNvSpPr/>
              <p:nvPr/>
            </p:nvSpPr>
            <p:spPr>
              <a:xfrm>
                <a:off x="869156" y="4675266"/>
                <a:ext cx="185737" cy="16589"/>
              </a:xfrm>
              <a:custGeom>
                <a:avLst/>
                <a:gdLst/>
                <a:ahLst/>
                <a:cxnLst/>
                <a:rect l="l" t="t" r="r" b="b"/>
                <a:pathLst>
                  <a:path w="185737" h="16589">
                    <a:moveTo>
                      <a:pt x="0" y="16589"/>
                    </a:moveTo>
                    <a:cubicBezTo>
                      <a:pt x="28734" y="0"/>
                      <a:pt x="64135" y="0"/>
                      <a:pt x="92868" y="16589"/>
                    </a:cubicBezTo>
                    <a:cubicBezTo>
                      <a:pt x="121602" y="0"/>
                      <a:pt x="157003" y="0"/>
                      <a:pt x="185737" y="16589"/>
                    </a:cubicBezTo>
                  </a:path>
                </a:pathLst>
              </a:custGeom>
              <a:noFill/>
              <a:ln w="20637">
                <a:solidFill>
                  <a:schemeClr val="accent1"/>
                </a:solidFill>
              </a:ln>
            </p:spPr>
          </p:sp>
          <p:sp>
            <p:nvSpPr>
              <p:cNvPr id="22" name="Freeform 22"/>
              <p:cNvSpPr/>
              <p:nvPr/>
            </p:nvSpPr>
            <p:spPr>
              <a:xfrm>
                <a:off x="869156" y="4541123"/>
                <a:ext cx="185737" cy="16589"/>
              </a:xfrm>
              <a:custGeom>
                <a:avLst/>
                <a:gdLst/>
                <a:ahLst/>
                <a:cxnLst/>
                <a:rect l="l" t="t" r="r" b="b"/>
                <a:pathLst>
                  <a:path w="185737" h="16589">
                    <a:moveTo>
                      <a:pt x="0" y="16589"/>
                    </a:moveTo>
                    <a:cubicBezTo>
                      <a:pt x="28734" y="0"/>
                      <a:pt x="64135" y="0"/>
                      <a:pt x="92868" y="16589"/>
                    </a:cubicBezTo>
                    <a:cubicBezTo>
                      <a:pt x="121602" y="0"/>
                      <a:pt x="157003" y="0"/>
                      <a:pt x="185737" y="16589"/>
                    </a:cubicBezTo>
                  </a:path>
                </a:pathLst>
              </a:custGeom>
              <a:noFill/>
              <a:ln w="20637">
                <a:solidFill>
                  <a:schemeClr val="accent1"/>
                </a:solidFill>
              </a:ln>
            </p:spPr>
          </p:sp>
          <p:sp>
            <p:nvSpPr>
              <p:cNvPr id="23" name="Freeform 23"/>
              <p:cNvSpPr/>
              <p:nvPr/>
            </p:nvSpPr>
            <p:spPr>
              <a:xfrm>
                <a:off x="869156" y="4557712"/>
                <a:ext cx="9525" cy="134143"/>
              </a:xfrm>
              <a:custGeom>
                <a:avLst/>
                <a:gdLst/>
                <a:ahLst/>
                <a:cxnLst/>
                <a:rect l="l" t="t" r="r" b="b"/>
                <a:pathLst>
                  <a:path w="9525" h="134143">
                    <a:moveTo>
                      <a:pt x="0" y="0"/>
                    </a:moveTo>
                    <a:lnTo>
                      <a:pt x="0" y="134143"/>
                    </a:lnTo>
                  </a:path>
                </a:pathLst>
              </a:custGeom>
              <a:noFill/>
              <a:ln w="20637">
                <a:solidFill>
                  <a:schemeClr val="accent1"/>
                </a:solidFill>
              </a:ln>
            </p:spPr>
          </p:sp>
          <p:sp>
            <p:nvSpPr>
              <p:cNvPr id="24" name="Freeform 24"/>
              <p:cNvSpPr/>
              <p:nvPr/>
            </p:nvSpPr>
            <p:spPr>
              <a:xfrm>
                <a:off x="962025" y="4557712"/>
                <a:ext cx="9525" cy="134143"/>
              </a:xfrm>
              <a:custGeom>
                <a:avLst/>
                <a:gdLst/>
                <a:ahLst/>
                <a:cxnLst/>
                <a:rect l="l" t="t" r="r" b="b"/>
                <a:pathLst>
                  <a:path w="9525" h="134143">
                    <a:moveTo>
                      <a:pt x="0" y="0"/>
                    </a:moveTo>
                    <a:lnTo>
                      <a:pt x="0" y="134143"/>
                    </a:lnTo>
                  </a:path>
                </a:pathLst>
              </a:custGeom>
              <a:noFill/>
              <a:ln w="20637">
                <a:solidFill>
                  <a:schemeClr val="accent1"/>
                </a:solidFill>
              </a:ln>
            </p:spPr>
          </p:sp>
          <p:sp>
            <p:nvSpPr>
              <p:cNvPr id="25" name="Freeform 25"/>
              <p:cNvSpPr/>
              <p:nvPr/>
            </p:nvSpPr>
            <p:spPr>
              <a:xfrm>
                <a:off x="1054893" y="4557712"/>
                <a:ext cx="9525" cy="134143"/>
              </a:xfrm>
              <a:custGeom>
                <a:avLst/>
                <a:gdLst/>
                <a:ahLst/>
                <a:cxnLst/>
                <a:rect l="l" t="t" r="r" b="b"/>
                <a:pathLst>
                  <a:path w="9525" h="134143">
                    <a:moveTo>
                      <a:pt x="0" y="0"/>
                    </a:moveTo>
                    <a:lnTo>
                      <a:pt x="0" y="134143"/>
                    </a:lnTo>
                  </a:path>
                </a:pathLst>
              </a:custGeom>
              <a:noFill/>
              <a:ln w="20637">
                <a:solidFill>
                  <a:schemeClr val="accent1"/>
                </a:solidFill>
              </a:ln>
            </p:spPr>
          </p:sp>
        </p:grpSp>
        <p:sp>
          <p:nvSpPr>
            <p:cNvPr id="27" name="TextBox 27"/>
            <p:cNvSpPr txBox="1"/>
            <p:nvPr/>
          </p:nvSpPr>
          <p:spPr>
            <a:xfrm>
              <a:off x="1191006" y="45110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继续学理论</a:t>
              </a:r>
            </a:p>
          </p:txBody>
        </p:sp>
        <p:sp>
          <p:nvSpPr>
            <p:cNvPr id="28" name="TextBox 28"/>
            <p:cNvSpPr txBox="1"/>
            <p:nvPr/>
          </p:nvSpPr>
          <p:spPr>
            <a:xfrm>
              <a:off x="831342" y="4902518"/>
              <a:ext cx="274834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Stanford EE261《The Fourier</a:t>
              </a:r>
              <a:br/>
              <a:r>
                <a:rPr lang="zh-CN" sz="1350" dirty="0">
                  <a:solidFill>
                    <a:schemeClr val="dk1"/>
                  </a:solidFill>
                  <a:latin typeface="+mn-lt"/>
                  <a:ea typeface="+mn-ea"/>
                  <a:cs typeface="+mn-cs"/>
                </a:rPr>
                <a:t>Transform and its Applications》</a:t>
              </a:r>
            </a:p>
          </p:txBody>
        </p:sp>
      </p:grpSp>
      <p:grpSp>
        <p:nvGrpSpPr>
          <p:cNvPr id="37" name="extension-practice"/>
          <p:cNvGrpSpPr/>
          <p:nvPr/>
        </p:nvGrpSpPr>
        <p:grpSpPr>
          <a:xfrm>
            <a:off x="5048250" y="4286250"/>
            <a:ext cx="4095750" cy="1143000"/>
            <a:chOff x="5048250" y="4286250"/>
            <a:chExt cx="4095750" cy="1143000"/>
          </a:xfrm>
        </p:grpSpPr>
        <p:sp>
          <p:nvSpPr>
            <p:cNvPr id="30" name="Freeform 30"/>
            <p:cNvSpPr/>
            <p:nvPr/>
          </p:nvSpPr>
          <p:spPr>
            <a:xfrm>
              <a:off x="5048250" y="4286250"/>
              <a:ext cx="4095750" cy="1143000"/>
            </a:xfrm>
            <a:prstGeom prst="snipRoundRect">
              <a:avLst/>
            </a:prstGeom>
            <a:solidFill>
              <a:schemeClr val="lt1"/>
            </a:solidFill>
            <a:ln w="19050">
              <a:solidFill>
                <a:schemeClr val="accent3"/>
              </a:solidFill>
            </a:ln>
          </p:spPr>
        </p:sp>
        <p:grpSp>
          <p:nvGrpSpPr>
            <p:cNvPr id="34" name="Group 34"/>
            <p:cNvGrpSpPr/>
            <p:nvPr/>
          </p:nvGrpSpPr>
          <p:grpSpPr>
            <a:xfrm>
              <a:off x="5307806" y="4526756"/>
              <a:ext cx="185737" cy="185737"/>
              <a:chOff x="5307806" y="4526756"/>
              <a:chExt cx="185737" cy="185737"/>
            </a:xfrm>
          </p:grpSpPr>
          <p:sp>
            <p:nvSpPr>
              <p:cNvPr id="31" name="Freeform 31"/>
              <p:cNvSpPr/>
              <p:nvPr/>
            </p:nvSpPr>
            <p:spPr>
              <a:xfrm>
                <a:off x="5307806" y="4526756"/>
                <a:ext cx="185737" cy="92868"/>
              </a:xfrm>
              <a:custGeom>
                <a:avLst/>
                <a:gdLst/>
                <a:ahLst/>
                <a:cxnLst/>
                <a:rect l="l" t="t" r="r" b="b"/>
                <a:pathLst>
                  <a:path w="185737" h="92868">
                    <a:moveTo>
                      <a:pt x="0" y="92868"/>
                    </a:moveTo>
                    <a:lnTo>
                      <a:pt x="10319" y="92868"/>
                    </a:lnTo>
                    <a:moveTo>
                      <a:pt x="92868" y="0"/>
                    </a:moveTo>
                    <a:lnTo>
                      <a:pt x="92868" y="10319"/>
                    </a:lnTo>
                    <a:moveTo>
                      <a:pt x="175418" y="92868"/>
                    </a:moveTo>
                    <a:lnTo>
                      <a:pt x="185737" y="92868"/>
                    </a:lnTo>
                    <a:moveTo>
                      <a:pt x="26829" y="26829"/>
                    </a:moveTo>
                    <a:lnTo>
                      <a:pt x="34052" y="34052"/>
                    </a:lnTo>
                    <a:moveTo>
                      <a:pt x="158908" y="26829"/>
                    </a:moveTo>
                    <a:lnTo>
                      <a:pt x="151685" y="34052"/>
                    </a:lnTo>
                  </a:path>
                </a:pathLst>
              </a:custGeom>
              <a:noFill/>
              <a:ln w="20637">
                <a:solidFill>
                  <a:schemeClr val="accent3"/>
                </a:solidFill>
              </a:ln>
            </p:spPr>
          </p:sp>
          <p:sp>
            <p:nvSpPr>
              <p:cNvPr id="32" name="Freeform 32"/>
              <p:cNvSpPr/>
              <p:nvPr/>
            </p:nvSpPr>
            <p:spPr>
              <a:xfrm>
                <a:off x="5344706" y="4568031"/>
                <a:ext cx="111937" cy="144462"/>
              </a:xfrm>
              <a:custGeom>
                <a:avLst/>
                <a:gdLst/>
                <a:ahLst/>
                <a:cxnLst/>
                <a:rect l="l" t="t" r="r" b="b"/>
                <a:pathLst>
                  <a:path w="111937" h="144462">
                    <a:moveTo>
                      <a:pt x="25012" y="92868"/>
                    </a:moveTo>
                    <a:cubicBezTo>
                      <a:pt x="7246" y="79544"/>
                      <a:pt x="0" y="56346"/>
                      <a:pt x="7023" y="35278"/>
                    </a:cubicBezTo>
                    <a:cubicBezTo>
                      <a:pt x="14045" y="14210"/>
                      <a:pt x="33761" y="0"/>
                      <a:pt x="55969" y="0"/>
                    </a:cubicBezTo>
                    <a:cubicBezTo>
                      <a:pt x="78176" y="0"/>
                      <a:pt x="97892" y="14210"/>
                      <a:pt x="104915" y="35278"/>
                    </a:cubicBezTo>
                    <a:cubicBezTo>
                      <a:pt x="111937" y="56346"/>
                      <a:pt x="104691" y="79544"/>
                      <a:pt x="86925" y="92868"/>
                    </a:cubicBezTo>
                    <a:cubicBezTo>
                      <a:pt x="78754" y="100957"/>
                      <a:pt x="74922" y="112452"/>
                      <a:pt x="76606" y="123825"/>
                    </a:cubicBezTo>
                    <a:cubicBezTo>
                      <a:pt x="76606" y="135222"/>
                      <a:pt x="67366" y="144462"/>
                      <a:pt x="55969" y="144462"/>
                    </a:cubicBezTo>
                    <a:cubicBezTo>
                      <a:pt x="44571" y="144462"/>
                      <a:pt x="35331" y="135222"/>
                      <a:pt x="35331" y="123825"/>
                    </a:cubicBezTo>
                    <a:cubicBezTo>
                      <a:pt x="37015" y="112452"/>
                      <a:pt x="33183" y="100957"/>
                      <a:pt x="25012" y="92868"/>
                    </a:cubicBezTo>
                  </a:path>
                </a:pathLst>
              </a:custGeom>
              <a:noFill/>
              <a:ln w="20637">
                <a:solidFill>
                  <a:schemeClr val="accent3"/>
                </a:solidFill>
              </a:ln>
            </p:spPr>
          </p:sp>
          <p:sp>
            <p:nvSpPr>
              <p:cNvPr id="33" name="Freeform 33"/>
              <p:cNvSpPr/>
              <p:nvPr/>
            </p:nvSpPr>
            <p:spPr>
              <a:xfrm>
                <a:off x="5376942" y="4671218"/>
                <a:ext cx="47466" cy="9525"/>
              </a:xfrm>
              <a:custGeom>
                <a:avLst/>
                <a:gdLst/>
                <a:ahLst/>
                <a:cxnLst/>
                <a:rect l="l" t="t" r="r" b="b"/>
                <a:pathLst>
                  <a:path w="47466" h="9525">
                    <a:moveTo>
                      <a:pt x="0" y="0"/>
                    </a:moveTo>
                    <a:lnTo>
                      <a:pt x="47466" y="0"/>
                    </a:lnTo>
                  </a:path>
                </a:pathLst>
              </a:custGeom>
              <a:noFill/>
              <a:ln w="20637">
                <a:solidFill>
                  <a:schemeClr val="accent3"/>
                </a:solidFill>
              </a:ln>
            </p:spPr>
          </p:sp>
        </p:grpSp>
        <p:sp>
          <p:nvSpPr>
            <p:cNvPr id="35" name="TextBox 35"/>
            <p:cNvSpPr txBox="1"/>
            <p:nvPr/>
          </p:nvSpPr>
          <p:spPr>
            <a:xfrm>
              <a:off x="5629656" y="4511040"/>
              <a:ext cx="1229868"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n-lt"/>
                  <a:ea typeface="+mn-ea"/>
                  <a:cs typeface="+mn-cs"/>
                </a:rPr>
                <a:t>动手算一遍</a:t>
              </a:r>
            </a:p>
          </p:txBody>
        </p:sp>
        <p:sp>
          <p:nvSpPr>
            <p:cNvPr id="36" name="TextBox 36"/>
            <p:cNvSpPr txBox="1"/>
            <p:nvPr/>
          </p:nvSpPr>
          <p:spPr>
            <a:xfrm>
              <a:off x="5269992" y="4902518"/>
              <a:ext cx="3365563"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自己写一个 8 点 DFT,再和库函数的</a:t>
              </a:r>
              <a:br/>
              <a:r>
                <a:rPr lang="zh-CN" sz="1350" dirty="0">
                  <a:solidFill>
                    <a:schemeClr val="dk1"/>
                  </a:solidFill>
                  <a:latin typeface="+mn-lt"/>
                  <a:ea typeface="+mn-ea"/>
                  <a:cs typeface="+mn-cs"/>
                </a:rPr>
                <a:t>结果逐项对一遍,这一步比看十页推导有用。</a:t>
              </a:r>
            </a:p>
          </p:txBody>
        </p:sp>
      </p:grpSp>
      <mc:AlternateContent xmlns:mc="http://schemas.openxmlformats.org/markup-compatibility/2006">
        <mc:Choice xmlns:a14="http://schemas.microsoft.com/office/drawing/2010/main" Requires="a14">
          <p:sp>
            <p:nvSpPr>
              <p:cNvPr id="38" name="closing-formula"/>
              <p:cNvSpPr txBox="1">
                <a:spLocks noGrp="1"/>
              </p:cNvSpPr>
              <p:nvPr/>
            </p:nvSpPr>
            <p:spPr>
              <a:xfrm>
                <a:off x="609600" y="5715000"/>
                <a:ext cx="8534400" cy="85725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2100" dirty="0">
                          <a:solidFill>
                            <a:srgbClr val="C2452D"/>
                          </a:solidFill>
                          <a:latin typeface="Cambria Math"/>
                          <a:ea typeface="Cambria Math"/>
                          <a:cs typeface="Cambria Math"/>
                        </a:rPr>
                        <m:t>f</m:t>
                      </m:r>
                      <m:d>
                        <m:dPr>
                          <m:begChr m:val="("/>
                          <m:sepChr m:val=""/>
                          <m:endChr m:val=")"/>
                          <m:grow m:val="on"/>
                          <m:ctrlPr>
                            <a:rPr lang="zh-CN" sz="2100" dirty="0">
                              <a:solidFill>
                                <a:srgbClr val="C2452D"/>
                              </a:solidFill>
                              <a:latin typeface="Cambria Math"/>
                              <a:ea typeface="Cambria Math"/>
                              <a:cs typeface="Cambria Math"/>
                            </a:rPr>
                          </m:ctrlPr>
                        </m:dPr>
                        <m:e>
                          <m:r>
                            <a:rPr lang="zh-CN" sz="2100" dirty="0">
                              <a:solidFill>
                                <a:srgbClr val="C2452D"/>
                              </a:solidFill>
                              <a:latin typeface="Cambria Math"/>
                              <a:ea typeface="Cambria Math"/>
                              <a:cs typeface="Cambria Math"/>
                            </a:rPr>
                            <m:t>t</m:t>
                          </m:r>
                        </m:e>
                      </m:d>
                      <m:groupChr>
                        <m:groupChrPr>
                          <m:chr m:val="→"/>
                          <m:pos m:val="bot"/>
                          <m:vertJc m:val="top"/>
                          <m:ctrlPr>
                            <a:rPr lang="zh-CN" sz="2100" dirty="0">
                              <a:solidFill>
                                <a:srgbClr val="C2452D"/>
                              </a:solidFill>
                              <a:latin typeface="Cambria Math"/>
                              <a:ea typeface="Cambria Math"/>
                              <a:cs typeface="Cambria Math"/>
                            </a:rPr>
                          </m:ctrlPr>
                        </m:groupChrPr>
                        <m:e>
                          <m:r>
                            <m:rPr>
                              <m:scr m:val="script"/>
                              <m:sty m:val="p"/>
                            </m:rPr>
                            <a:rPr lang="zh-CN" sz="2100" dirty="0">
                              <a:solidFill>
                                <a:srgbClr val="C2452D"/>
                              </a:solidFill>
                              <a:latin typeface="Cambria Math"/>
                              <a:ea typeface="Cambria Math"/>
                              <a:cs typeface="Cambria Math"/>
                            </a:rPr>
                            <m:t>F</m:t>
                          </m:r>
                        </m:e>
                      </m:groupChr>
                      <m:r>
                        <a:rPr lang="zh-CN" sz="2100" dirty="0">
                          <a:solidFill>
                            <a:srgbClr val="C2452D"/>
                          </a:solidFill>
                          <a:latin typeface="Cambria Math"/>
                          <a:ea typeface="Cambria Math"/>
                          <a:cs typeface="Cambria Math"/>
                        </a:rPr>
                        <m:t>F</m:t>
                      </m:r>
                      <m:d>
                        <m:dPr>
                          <m:begChr m:val="("/>
                          <m:sepChr m:val=""/>
                          <m:endChr m:val=")"/>
                          <m:grow m:val="on"/>
                          <m:ctrlPr>
                            <a:rPr lang="zh-CN" sz="2100" dirty="0">
                              <a:solidFill>
                                <a:srgbClr val="C2452D"/>
                              </a:solidFill>
                              <a:latin typeface="Cambria Math"/>
                              <a:ea typeface="Cambria Math"/>
                              <a:cs typeface="Cambria Math"/>
                            </a:rPr>
                          </m:ctrlPr>
                        </m:dPr>
                        <m:e>
                          <m:r>
                            <a:rPr lang="zh-CN" sz="2100" dirty="0">
                              <a:solidFill>
                                <a:srgbClr val="C2452D"/>
                              </a:solidFill>
                              <a:latin typeface="Cambria Math"/>
                              <a:ea typeface="Cambria Math"/>
                              <a:cs typeface="Cambria Math"/>
                            </a:rPr>
                            <m:t>ω</m:t>
                          </m:r>
                        </m:e>
                      </m:d>
                      <m:groupChr>
                        <m:groupChrPr>
                          <m:chr m:val="→"/>
                          <m:pos m:val="bot"/>
                          <m:vertJc m:val="top"/>
                          <m:ctrlPr>
                            <a:rPr lang="zh-CN" sz="2100" dirty="0">
                              <a:solidFill>
                                <a:srgbClr val="C2452D"/>
                              </a:solidFill>
                              <a:latin typeface="Cambria Math"/>
                              <a:ea typeface="Cambria Math"/>
                              <a:cs typeface="Cambria Math"/>
                            </a:rPr>
                          </m:ctrlPr>
                        </m:groupChrPr>
                        <m:e>
                          <m:sSup>
                            <m:e>
                              <m:r>
                                <m:rPr>
                                  <m:scr m:val="script"/>
                                  <m:sty m:val="p"/>
                                </m:rPr>
                                <a:rPr lang="zh-CN" sz="2100" dirty="0">
                                  <a:solidFill>
                                    <a:srgbClr val="C2452D"/>
                                  </a:solidFill>
                                  <a:latin typeface="Cambria Math"/>
                                  <a:ea typeface="Cambria Math"/>
                                  <a:cs typeface="Cambria Math"/>
                                </a:rPr>
                                <m:t>F</m:t>
                              </m:r>
                            </m:e>
                            <m:sup>
                              <m:r>
                                <m:rPr>
                                  <m:sty m:val="p"/>
                                </m:rPr>
                                <a:rPr lang="zh-CN" sz="2100" dirty="0">
                                  <a:solidFill>
                                    <a:srgbClr val="C2452D"/>
                                  </a:solidFill>
                                  <a:latin typeface="Cambria Math"/>
                                  <a:ea typeface="Cambria Math"/>
                                  <a:cs typeface="Cambria Math"/>
                                </a:rPr>
                                <m:t>−</m:t>
                              </m:r>
                              <m:r>
                                <a:rPr lang="zh-CN" sz="2100" dirty="0">
                                  <a:solidFill>
                                    <a:srgbClr val="C2452D"/>
                                  </a:solidFill>
                                  <a:latin typeface="Cambria Math"/>
                                  <a:ea typeface="Cambria Math"/>
                                  <a:cs typeface="Cambria Math"/>
                                </a:rPr>
                                <m:t>1</m:t>
                              </m:r>
                            </m:sup>
                          </m:sSup>
                        </m:e>
                      </m:groupChr>
                      <m:r>
                        <a:rPr lang="zh-CN" sz="2100" dirty="0">
                          <a:solidFill>
                            <a:srgbClr val="C2452D"/>
                          </a:solidFill>
                          <a:latin typeface="Cambria Math"/>
                          <a:ea typeface="Cambria Math"/>
                          <a:cs typeface="Cambria Math"/>
                        </a:rPr>
                        <m:t>f</m:t>
                      </m:r>
                      <m:d>
                        <m:dPr>
                          <m:begChr m:val="("/>
                          <m:sepChr m:val=""/>
                          <m:endChr m:val=")"/>
                          <m:grow m:val="on"/>
                          <m:ctrlPr>
                            <a:rPr lang="zh-CN" sz="2100" dirty="0">
                              <a:solidFill>
                                <a:srgbClr val="C2452D"/>
                              </a:solidFill>
                              <a:latin typeface="Cambria Math"/>
                              <a:ea typeface="Cambria Math"/>
                              <a:cs typeface="Cambria Math"/>
                            </a:rPr>
                          </m:ctrlPr>
                        </m:dPr>
                        <m:e>
                          <m:r>
                            <a:rPr lang="zh-CN" sz="2100" dirty="0">
                              <a:solidFill>
                                <a:srgbClr val="C2452D"/>
                              </a:solidFill>
                              <a:latin typeface="Cambria Math"/>
                              <a:ea typeface="Cambria Math"/>
                              <a:cs typeface="Cambria Math"/>
                            </a:rPr>
                            <m:t>t</m:t>
                          </m:r>
                        </m:e>
                      </m:d>
                    </m:oMath>
                  </m:oMathPara>
                </a14:m>
              </a:p>
            </p:txBody>
          </p:sp>
        </mc:Choice>
      </mc:AlternateContent>
      <p:grpSp>
        <p:nvGrpSpPr>
          <p:cNvPr id="40" name="closing-line"/>
          <p:cNvGrpSpPr/>
          <p:nvPr/>
        </p:nvGrpSpPr>
        <p:grpSpPr>
          <a:xfrm>
            <a:off x="600456" y="6701790"/>
            <a:ext cx="7811719" cy="352044"/>
            <a:chOff x="600456" y="6701790"/>
            <a:chExt cx="7811719" cy="352044"/>
          </a:xfrm>
        </p:grpSpPr>
        <p:sp>
          <p:nvSpPr>
            <p:cNvPr id="39" name="TextBox 39"/>
            <p:cNvSpPr txBox="1"/>
            <p:nvPr/>
          </p:nvSpPr>
          <p:spPr>
            <a:xfrm>
              <a:off x="600456" y="6701790"/>
              <a:ext cx="781171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记号是门槛,思想不是:它只是把「怎么变」翻译成「由哪些频率组成」。</a:t>
              </a:r>
            </a:p>
          </p:txBody>
        </p:sp>
      </p:grpSp>
      <p:grpSp>
        <p:nvGrpSpPr>
          <p:cNvPr id="43" name="page-footer"/>
          <p:cNvGrpSpPr/>
          <p:nvPr/>
        </p:nvGrpSpPr>
        <p:grpSpPr>
          <a:xfrm>
            <a:off x="603504" y="7052310"/>
            <a:ext cx="8546592" cy="234696"/>
            <a:chOff x="603504" y="7052310"/>
            <a:chExt cx="8546592" cy="234696"/>
          </a:xfrm>
        </p:grpSpPr>
        <p:sp>
          <p:nvSpPr>
            <p:cNvPr id="41" name="TextBox 41"/>
            <p:cNvSpPr txBox="1"/>
            <p:nvPr/>
          </p:nvSpPr>
          <p:spPr>
            <a:xfrm>
              <a:off x="603504" y="7052310"/>
              <a:ext cx="819396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来源:Stanford EE261(F012);本卷全部事实出处见 sources/fourier_transform_research.facts.json</a:t>
              </a:r>
            </a:p>
          </p:txBody>
        </p:sp>
        <p:sp>
          <p:nvSpPr>
            <p:cNvPr id="42" name="TextBox 42"/>
            <p:cNvSpPr txBox="1"/>
            <p:nvPr/>
          </p:nvSpPr>
          <p:spPr>
            <a:xfrm>
              <a:off x="8950147" y="7052310"/>
              <a:ext cx="199949"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600"/>
                                        <p:tgtEl>
                                          <p:spTgt spid="19"/>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400"/>
                                        <p:tgtEl>
                                          <p:spTgt spid="29"/>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400"/>
                                        <p:tgtEl>
                                          <p:spTgt spid="37"/>
                                        </p:tgtEl>
                                      </p:cBhvr>
                                    </p:animEffect>
                                  </p:childTnLst>
                                </p:cTn>
                              </p:par>
                            </p:childTnLst>
                          </p:cTn>
                        </p:par>
                        <p:par>
                          <p:cTn id="16" fill="hold">
                            <p:stCondLst>
                              <p:cond delay="24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600"/>
                                        <p:tgtEl>
                                          <p:spTgt spid="38"/>
                                        </p:tgtEl>
                                      </p:cBhvr>
                                    </p:animEffect>
                                  </p:childTnLst>
                                </p:cTn>
                              </p:par>
                            </p:childTnLst>
                          </p:cTn>
                        </p:par>
                        <p:par>
                          <p:cTn id="20" fill="hold">
                            <p:stCondLst>
                              <p:cond delay="33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43_fourier_transform_formulas_zh">
  <a:themeElements>
    <a:clrScheme name="ppt43_fourier_transform_formulas_zh">
      <a:dk1>
        <a:srgbClr val="1B2027"/>
      </a:dk1>
      <a:lt1>
        <a:srgbClr val="FFFFFF"/>
      </a:lt1>
      <a:dk2>
        <a:srgbClr val="1F497D"/>
      </a:dk2>
      <a:lt2>
        <a:srgbClr val="F2F4F7"/>
      </a:lt2>
      <a:accent1>
        <a:srgbClr val="123B63"/>
      </a:accent1>
      <a:accent2>
        <a:srgbClr val="C2452D"/>
      </a:accent2>
      <a:accent3>
        <a:srgbClr val="2E7D7B"/>
      </a:accent3>
      <a:accent4>
        <a:srgbClr val="123B63"/>
      </a:accent4>
      <a:accent5>
        <a:srgbClr val="5A6472"/>
      </a:accent5>
      <a:accent6>
        <a:srgbClr val="D6DBE1"/>
      </a:accent6>
      <a:hlink>
        <a:srgbClr val="C2452D"/>
      </a:hlink>
      <a:folHlink>
        <a:srgbClr val="2E7D7B"/>
      </a:folHlink>
    </a:clrScheme>
    <a:fontScheme name="ppt43_fourier_transform_formulas_zh">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Microsoft YaHei"/>
        <a:cs typeface="Cambria"/>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43_fourier_transform_formulas_z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43_fourier_transform_formulas_zh">
  <a:themeElements>
    <a:clrScheme name="ppt43_fourier_transform_formulas_zh">
      <a:dk1>
        <a:srgbClr val="1B2027"/>
      </a:dk1>
      <a:lt1>
        <a:srgbClr val="FFFFFF"/>
      </a:lt1>
      <a:dk2>
        <a:srgbClr val="1F497D"/>
      </a:dk2>
      <a:lt2>
        <a:srgbClr val="F2F4F7"/>
      </a:lt2>
      <a:accent1>
        <a:srgbClr val="123B63"/>
      </a:accent1>
      <a:accent2>
        <a:srgbClr val="C2452D"/>
      </a:accent2>
      <a:accent3>
        <a:srgbClr val="2E7D7B"/>
      </a:accent3>
      <a:accent4>
        <a:srgbClr val="123B63"/>
      </a:accent4>
      <a:accent5>
        <a:srgbClr val="5A6472"/>
      </a:accent5>
      <a:accent6>
        <a:srgbClr val="D6DBE1"/>
      </a:accent6>
      <a:hlink>
        <a:srgbClr val="C2452D"/>
      </a:hlink>
      <a:folHlink>
        <a:srgbClr val="2E7D7B"/>
      </a:folHlink>
    </a:clrScheme>
    <a:fontScheme name="ppt43_fourier_transform_formulas_zh">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Microsoft YaHei"/>
        <a:cs typeface="Cambria"/>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43_fourier_transform_formulas_z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2026-09-12T02:48:56Z</dcterms:created>
  <dcterms:modified xsi:type="dcterms:W3CDTF">2026-09-12T02:48:56Z</dcterms:modified>
  <cp:category/>
  <cp:contentStatus/>
</cp:coreProperties>
</file>