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我们每天都在说"做个 PPT"，但很少停下来问它到底是什么。这份演示想说明的核心是：PPT 远不止一叠静态页面，它同时是一种沟通媒介、一份可编辑文档、一个传递载体，以及一个有原生结构的文件包。今天我们就从这四重身份出发，重新认识这个最熟悉、却最容易被低估的工具，并在最后给出一份下次动手前可以直接使用的问题清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讨论 PPT 之前，先得承认一件事：日常语境里的"PPT"其实是一个混合概念，至少要区分五种含义。PowerPoint 指的是微软那款创作、编辑、演示与协作的软件；Presentation 是一次包含信息、受众、场景和预期结果的沟通活动；Deck 是在活动前中后反复使用的有序、可编辑文档；Slide show 是被现场演示或自动播放的页面序列，可以带转场、动画、旁白和计时；而 PPT 或 PPTX 文件，则是保存页面、可复用结构、媒体、备注、关系与演示行为的数字包。把这五层分开，讨论才不会各说各话。在本次演示里，PPT 指的是这一类演示文稿产物及其沟通用途，而不只是那个旧版的点 ppt 扩展名。这个区分来自微软对 PowerPoint 的官方介绍。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顺着文件这一层往下看，现代 PPT 的格式其实是有标准的。点 ppt 是九七到二零零三的旧版二进制格式；点 pptx 是当前的无宏演示文稿包，也是现代最主要的可编辑格式；点 pptm 是含宏的版本；点 potx 是可复用的模板；点 ppsx 则是打开就直接进入放映视图的放映文件。关键在于最后一点：现代的点 pptx 不是一块打不开的二进制黑箱，而是一个 Office Open XML 包，它的词汇和打包方式由 ECMA-376，也就是 ISO/IEC 29500 标准化。这为后面理解它的原生结构埋下了伏笔。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理解了 PPT 是什么，下一个问题是人们为什么要做它。答案不是"得到几页页面"，而是希望改变受众所知道、所理解、所相信、所决定或所采取的行动。这中间有一条转化链：从源材料加上意图出发，先形成有顺序的论证或解释，再变成一次共同的视觉体验，最终落到受众结果。与此同时，还留下了一份可编辑、可传播的记录，让组织可以继续使用。所以演示真正的终点，是受众身上发生的改变，加上一份能够继续流转的成果，页面本身只是达成它的手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往细里看，一份演示往往同时在完成好几种沟通任务。告知，是让受众知道此前不知道的事实；解释，是让人理解某种机制、关系或原因；说服，是让人接受或认真考虑一个立场；决策，是让一群人从多个选项走向明确选择；对齐，是形成共同的优先级、语言和下一步；教学，是让学习者能够理解、记忆或执行；汇报与问责，是让人评价进展、证据、风险与责任；动员，是让人从意识到问题转向采取行动；留档与交接，则是获得可审批、可审计、可复用的正式成果。一份 deck 可以同时承担多种任务，真正要澄清的不是哪个标签胜出，而是它们之间的主次与顺序。这一视角来自 Yates 和 Orlikowski 对组织沟通类型的研究。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那么，为什么是 PowerPoint，而不是别的工具？答案是：当一项任务同时需要下面七项属性时，它才有别的媒介难以替代的价值。顺序，让作者能控制或建议注意力的展开次序；模块化，让页面可以重排、隐藏、复制、替换与复用；多媒体组合，让文字、图示、数据、图片和音视频在页内组合；演讲支持，用备注、演讲者视图、计时和导航服务现场传递；阅读支持，用阅读视图、批注、讲义和共享服务异步审阅；可编辑性，让产物可以修改、本地化、扩展和改作他用；组织可移植性，让同一份产物能穿过会议、评审、审批、归档和复用的各个环节。任何单一属性，别的工具都能给；但同时给全这七项的，就很少了——这正是 PowerPoint 的位置。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反过来说，PowerPoint 也不该是所有信息任务的默认选择。如果首要需求是一段很长、线性、可以独立阅读的完整论证，那更适合文档或报告；如果是动态数据的实时探索，更适合电子表格、Notebook 或仪表盘；如果是开放式的群体探索，更适合白板或协作画布；如果是不需要编辑的固定重复播放，更适合视频；如果需要交互导航和丰富的用户输入，更适合 Web 应用。只有当任务是一段有顺序、可视化、可编辑并且需要继续流转的沟通时，PowerPoint 才是最合适的。所以媒介选择要由场景决定，真正该问的不是"这能不能做成几页 PPT"，而是"这个任务是否需要一份有顺序、模块化、可编辑的演示文稿产物"。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一份 deck 常常在生命周期的不同阶段扮演不同角色。活动前，它是思考、综合、评审和排练的工具；活动中，它是协调注意力与节奏的共同视觉界面；活动后，它可能变成阅读副本、决策记录、讲义、审批材料或复用来源；而在根本没有现场活动时，它又是用于异步阅读、录制、旁白或自动播放的内容。PowerPoint 本身就为此提供了不同的视图——微软明确建议，现场演示时使用带私有备注的演讲者视图，没有讲者时则用阅读视图来查看。设计时要清楚，这一份文件要为它主要的那种角色服务。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正因为角色不同，传递场景会直接改变设计，而一页无法同时最优地服务四种场景。演讲者主导时，要优化的是远距离可读性、节奏、视觉锚点，以及对口头表达的补充；读者主导时，要优化的是自解释逻辑、明确的上下文、更完整的证据和可导航性；混合场景则要明确主要模式，用备注、附录或补充细节去服务次要模式；录制或自动播放时，重点在旁白、计时、转场、播放可靠性，以及不依赖现场讲者。稀疏的演讲页当不了决策记录，密集的董事会材料也很难在大屏上讲动。所以必须先明确主要传递场景，再决定信息密度和字体。相关支持可以参考微软关于备注讲义、旁白计时和共享共同创作的文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现在进入最能改变认知的一层：PowerPoint 的原生对象模型。一个点 pptx，是由相互关联的部件组成的包，既不是每页一张位图，也不是一个巨大的单体 XML。它有清晰的层级——主题 Theme 之下有幻灯片母版 Slide Master，母版之下有版式 Slide Layout，具体的幻灯片 Slide 再绑定某一个版式，此外还有备注、媒体、包关系和演示行为。右边这张等距爆炸图就是把这些薄薄的层次一层层拆开来看。理解这个层级很重要，因为它决定了一份文件是不是真的可编辑、可继承、可复用。这一结构来自微软的 PresentationML 结构指南。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这些部件的职责摊开来看：主题负责可复用的颜色、字体与效果；幻灯片母版承载一组版式共同继承的格式与对象；版式定义某类页面的默认外观、位置与占位符；占位符是版式上预先格式化、带类型的内容容器；幻灯片是绑定某个版式的一次具体内容实例；备注与讲义是可见页面之外的演讲者和受众通道；包关系把页面、版式、母版、媒体、备注等部件连接起来；演示行为则涵盖顺序、转场、动画、旁白和计时。这里要点出一个关键判断：视觉上正确的截图，仍然可能是一份结构很差的 PowerPoint。真正可用的 deck，还需要合理的对象边界、继承关系、可编辑性、包关系和演示行为——微软也明确把版式放在母版之下。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顺着结构往上，就能理解什么是模板。微软区分了主题和模板：主题提供协调的颜色、字体与效果，而模板是在主题之上，再增加面向特定用途的内容与结构。由此得到一个很实用的原则——模板之所以存在，是因为某种演示身份、结构或沟通场景，预计会重复出现。在实际使用中，一个模板可以组合好几个可复用层次：主题给出协调的配色字体效果，母版给出共用的格式与固定对象，版式给出占位符结构与默认构图，预置内容再给出起始页面、固定措辞、示例与使用指引。要强调的是，把一份好看的 deck 复制一份，并不会自动变成模板；有效的模板，必须把稳定、可复用的决策，和只属于某一次演示的内容分开。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那么，什么才算好的 PPT？好的 deck 不能只用"视觉精美"来定义，它的质量至少包含六个层次。事实层，问的是论断、数值、来源和概念区分是否正确；沟通层，问的是受众、结果、核心信息和行动要求是否明确；叙事层，问的是页面顺序是否形成了预期的理解、判断或决策；认知层，问的是人们能否在不过载的情况下感知、处理并连接信息；视觉层，问的是层级、字体、留白、图像和数据图形是否服务于含义；原生与运行层，问的是这份 deck 能否可靠地演示、编辑、评审、复用和交付。视觉只是其中之一。归结成一句由场景决定的原则：每个元素都应该帮助目标受众，在目标传递场景中，完成目标的认知或组织任务。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这里要澄清一个常见的误解：研究并不支持"图片越多越好"这样的普遍规则。Mayer 在《多媒体学习》中的综合指出，设计良好的文字与图形组合确实能改善理解，但同时，人的信息处理容量是有限的。Bartsch 和 Cobern 发现，即使 PowerPoint 本身可能有帮助，不相关的图片和声音仍会损害记忆与学习。Kosslyn 等人则发现，真实的演示常常违反可辨别性、有限容量和信息变化这些原则，而且未经训练的观察者往往无法识别这些设计问题。所以结论不是去建立一个万能的页面公式，而是回到那条由场景决定的质量原则——克制，让每个元素都为理解服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把前面的认知反过来说，就能看清 PPT 并不天然等于哪些东西。它不是把一份文档分页后加上装饰；不是一组漂亮但互不相关的画布；不是演讲者将要说的话的逐字稿；不是一场视觉效果展示；不是没有后续生命的一次性放映；不是只带着点 pptx 扩展名的扁平图片；不会因为页面看起来一致就自动成为模板；也不是所有沟通任务的正确媒介。如果我们从软件默认提供的页面形式出发，而不是从受众真正要完成的任务出发，PowerPoint 的惯例反而会扭曲沟通。所以工具应该服务于沟通模型，而不是根据工具上的按钮，倒推出沟通模型。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把今天的认知变成方法，其实就是一张清单——做 PPT 之前，先回答这八个问题。受众是谁，它决定语言、默认知识、证据和语气；看完之后必须发生什么变化，它定义沟通任务和成功条件；主要是现场讲、独立读、录制还是混合，它决定密度、字体、备注和演示行为；核心信息是什么，它防止我们在没有论证时就直接生产页面；哪些证据必须可见或可追溯，它保护事实完整性和决策价值；什么可以改变、什么必须保留，它明确编辑边界和评审预期；哪些内容必须可编辑或保持原生，它定义对象模型和交付要求；什么会反复出现，它决定是否需要主题、母版、版式、预置内容，或者根本不需要模板。这些问题，应该先于我们对风格、版式、模板、动画或制作方式的详细决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最后，把这份演示收成一句话：PPT 不是一叠静态页面，而是一个有顺序、模块化、可编辑并且需要持续流转的沟通产物。做法上，它是一个闭环——先明确任务和受众结果，再判断这件事是否真的该用演示文稿，然后搭建有顺序、可编辑的原生结构，最后用那六层质量来自检，而这一切又会回到下一次的任务上。记住一句话就够了：先想清楚受众要完成什么任务，工具才服务沟通。把它当作理解 PPT 本质的参考，随团队和场景反复复用。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what_is_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what_is_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46198e3ac10bd58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8e78b12c346d703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07bc47e11a522f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eafdd66c77282d2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408fb095a3f7cc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70" t="0" r="371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solidFill>
            <a:schemeClr val="lt1">
              <a:alpha val="7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492568"/>
            <a:ext cx="3839566" cy="264033"/>
            <a:chOff x="762000" y="1492568"/>
            <a:chExt cx="3839566" cy="264033"/>
          </a:xfrm>
        </p:grpSpPr>
        <p:sp>
          <p:nvSpPr>
            <p:cNvPr id="4" name="Rectangle 4"/>
            <p:cNvSpPr/>
            <p:nvPr/>
          </p:nvSpPr>
          <p:spPr>
            <a:xfrm>
              <a:off x="762000" y="1504950"/>
              <a:ext cx="4381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26642" y="1492568"/>
              <a:ext cx="3274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IS PPT · 演示文稿的本质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2366010"/>
            <a:ext cx="6231514" cy="1390650"/>
            <a:chOff x="742950" y="2366010"/>
            <a:chExt cx="6231514" cy="139065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366010"/>
              <a:ext cx="623151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什么是 PPT？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9620" y="3605212"/>
            <a:ext cx="6080760" cy="440055"/>
            <a:chOff x="769620" y="3605212"/>
            <a:chExt cx="608076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769620" y="3605212"/>
              <a:ext cx="60807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它不只是几页幻灯片，而是四种东西的叠加：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9620" y="4005262"/>
            <a:ext cx="6269312" cy="440055"/>
            <a:chOff x="769620" y="4005262"/>
            <a:chExt cx="6269312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769620" y="4005262"/>
              <a:ext cx="6269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沟通媒介 · 可编辑文档 · 传递载体 · 原生结构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904" y="5924550"/>
            <a:ext cx="5484280" cy="409956"/>
            <a:chOff x="755904" y="5924550"/>
            <a:chExt cx="5484280" cy="409956"/>
          </a:xfrm>
        </p:grpSpPr>
        <p:sp>
          <p:nvSpPr>
            <p:cNvPr id="13" name="Line 13"/>
            <p:cNvSpPr/>
            <p:nvPr/>
          </p:nvSpPr>
          <p:spPr>
            <a:xfrm>
              <a:off x="762000" y="59245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904" y="6099810"/>
              <a:ext cx="5484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基于 Microsoft PowerPoint 文档、ECMA-376 标准与沟通 / 认知研究整理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9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2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714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一个混合概念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809015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说“PPT”时，我们其实在说五种不同的东西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7681" y="1691640"/>
            <a:ext cx="5201825" cy="605599"/>
            <a:chOff x="497681" y="1691640"/>
            <a:chExt cx="5201825" cy="605599"/>
          </a:xfrm>
        </p:grpSpPr>
        <p:grpSp>
          <p:nvGrpSpPr>
            <p:cNvPr id="10" name="Group 10"/>
            <p:cNvGrpSpPr/>
            <p:nvPr/>
          </p:nvGrpSpPr>
          <p:grpSpPr>
            <a:xfrm>
              <a:off x="497681" y="1781969"/>
              <a:ext cx="242888" cy="188913"/>
              <a:chOff x="497681" y="1781969"/>
              <a:chExt cx="242888" cy="1889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497681" y="1781969"/>
                <a:ext cx="242888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88913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61925"/>
                    </a:lnTo>
                    <a:cubicBezTo>
                      <a:pt x="242888" y="176830"/>
                      <a:pt x="230805" y="188913"/>
                      <a:pt x="215901" y="188913"/>
                    </a:cubicBezTo>
                    <a:lnTo>
                      <a:pt x="26988" y="188913"/>
                    </a:lnTo>
                    <a:cubicBezTo>
                      <a:pt x="12083" y="188913"/>
                      <a:pt x="0" y="176830"/>
                      <a:pt x="0" y="16192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38163" y="1822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78644" y="1822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43356" y="1691640"/>
              <a:ext cx="22066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PowerPoint — 软件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1974532"/>
              <a:ext cx="47553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Microsoft 提供的创作、编辑、演示与协作软件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681" y="2548890"/>
            <a:ext cx="5349907" cy="605599"/>
            <a:chOff x="497681" y="2548890"/>
            <a:chExt cx="5349907" cy="605599"/>
          </a:xfrm>
        </p:grpSpPr>
        <p:grpSp>
          <p:nvGrpSpPr>
            <p:cNvPr id="19" name="Group 19"/>
            <p:cNvGrpSpPr/>
            <p:nvPr/>
          </p:nvGrpSpPr>
          <p:grpSpPr>
            <a:xfrm>
              <a:off x="497681" y="2625725"/>
              <a:ext cx="242888" cy="225426"/>
              <a:chOff x="497681" y="2625725"/>
              <a:chExt cx="242888" cy="2254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97681" y="2625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11175" y="2625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19125" y="2787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78644" y="2841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65150" y="2679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43356" y="2548890"/>
              <a:ext cx="2909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Presentation — 演示活动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18" y="283178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一次包含信息、受众、场景与预期结果的沟通活动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1175" y="3406140"/>
            <a:ext cx="5114290" cy="605599"/>
            <a:chOff x="511175" y="3406140"/>
            <a:chExt cx="5114290" cy="605599"/>
          </a:xfrm>
        </p:grpSpPr>
        <p:grpSp>
          <p:nvGrpSpPr>
            <p:cNvPr id="26" name="Group 26"/>
            <p:cNvGrpSpPr/>
            <p:nvPr/>
          </p:nvGrpSpPr>
          <p:grpSpPr>
            <a:xfrm>
              <a:off x="511175" y="3482975"/>
              <a:ext cx="215901" cy="215901"/>
              <a:chOff x="511175" y="3482975"/>
              <a:chExt cx="215901" cy="2159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11175" y="3482975"/>
                <a:ext cx="21590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07950">
                    <a:moveTo>
                      <a:pt x="107950" y="0"/>
                    </a:moveTo>
                    <a:lnTo>
                      <a:pt x="0" y="53975"/>
                    </a:lnTo>
                    <a:lnTo>
                      <a:pt x="107950" y="107950"/>
                    </a:lnTo>
                    <a:lnTo>
                      <a:pt x="215901" y="53975"/>
                    </a:ln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11175" y="3590925"/>
                <a:ext cx="215901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53975">
                    <a:moveTo>
                      <a:pt x="0" y="0"/>
                    </a:moveTo>
                    <a:lnTo>
                      <a:pt x="107950" y="53975"/>
                    </a:ln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11175" y="3644901"/>
                <a:ext cx="215901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53975">
                    <a:moveTo>
                      <a:pt x="0" y="0"/>
                    </a:moveTo>
                    <a:lnTo>
                      <a:pt x="107950" y="53975"/>
                    </a:ln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43356" y="3406140"/>
              <a:ext cx="1865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Deck — 有序文档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118" y="36890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在活动前、中、后使用的有序、可编辑演示文档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51656" y="4263390"/>
            <a:ext cx="5518055" cy="605599"/>
            <a:chOff x="551656" y="4263390"/>
            <a:chExt cx="5518055" cy="605599"/>
          </a:xfrm>
        </p:grpSpPr>
        <p:sp>
          <p:nvSpPr>
            <p:cNvPr id="30" name="Freeform 30"/>
            <p:cNvSpPr/>
            <p:nvPr/>
          </p:nvSpPr>
          <p:spPr>
            <a:xfrm>
              <a:off x="551656" y="4340225"/>
              <a:ext cx="175419" cy="215901"/>
            </a:xfrm>
            <a:custGeom>
              <a:avLst/>
              <a:gdLst/>
              <a:ahLst/>
              <a:cxnLst/>
              <a:rect l="l" t="t" r="r" b="b"/>
              <a:pathLst>
                <a:path w="175419" h="215901">
                  <a:moveTo>
                    <a:pt x="0" y="0"/>
                  </a:moveTo>
                  <a:lnTo>
                    <a:pt x="0" y="215901"/>
                  </a:lnTo>
                  <a:lnTo>
                    <a:pt x="175419" y="10795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356" y="4263390"/>
              <a:ext cx="20677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show — 放映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118" y="454628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被现场演示或自动播放、含转场动画旁白的页面序列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4655" y="5120640"/>
            <a:ext cx="5767179" cy="605599"/>
            <a:chOff x="524655" y="5120640"/>
            <a:chExt cx="5767179" cy="605599"/>
          </a:xfrm>
        </p:grpSpPr>
        <p:grpSp>
          <p:nvGrpSpPr>
            <p:cNvPr id="42" name="Group 42"/>
            <p:cNvGrpSpPr/>
            <p:nvPr/>
          </p:nvGrpSpPr>
          <p:grpSpPr>
            <a:xfrm>
              <a:off x="524655" y="5183981"/>
              <a:ext cx="188927" cy="256382"/>
              <a:chOff x="524655" y="5183981"/>
              <a:chExt cx="188927" cy="25638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24655" y="5183981"/>
                <a:ext cx="18892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88927" h="242888">
                    <a:moveTo>
                      <a:pt x="13508" y="239312"/>
                    </a:moveTo>
                    <a:cubicBezTo>
                      <a:pt x="5146" y="234484"/>
                      <a:pt x="0" y="225556"/>
                      <a:pt x="14" y="215901"/>
                    </a:cubicBezTo>
                    <a:lnTo>
                      <a:pt x="14" y="26988"/>
                    </a:lnTo>
                    <a:cubicBezTo>
                      <a:pt x="14" y="12083"/>
                      <a:pt x="12097" y="0"/>
                      <a:pt x="27002" y="0"/>
                    </a:cubicBezTo>
                    <a:lnTo>
                      <a:pt x="121458" y="0"/>
                    </a:lnTo>
                    <a:lnTo>
                      <a:pt x="188927" y="67469"/>
                    </a:lnTo>
                    <a:lnTo>
                      <a:pt x="188927" y="215901"/>
                    </a:lnTo>
                    <a:cubicBezTo>
                      <a:pt x="188927" y="230805"/>
                      <a:pt x="176844" y="242888"/>
                      <a:pt x="161940" y="242888"/>
                    </a:cubicBezTo>
                    <a:lnTo>
                      <a:pt x="148446" y="242888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78644" y="5372894"/>
                <a:ext cx="53975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67469">
                    <a:moveTo>
                      <a:pt x="26988" y="0"/>
                    </a:move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53975"/>
                    </a:lnTo>
                    <a:cubicBezTo>
                      <a:pt x="53975" y="61428"/>
                      <a:pt x="47934" y="67469"/>
                      <a:pt x="40481" y="67469"/>
                    </a:cubicBezTo>
                    <a:lnTo>
                      <a:pt x="13494" y="67469"/>
                    </a:lnTo>
                    <a:cubicBezTo>
                      <a:pt x="6041" y="67469"/>
                      <a:pt x="0" y="61428"/>
                      <a:pt x="0" y="53975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2138" y="5210969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9125" y="5237956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92138" y="5264944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19125" y="5291932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92138" y="5318919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9125" y="5345907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134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43356" y="5120640"/>
              <a:ext cx="30324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PPT / PPTX 文件 — 数字包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4118" y="54035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保存页面、可复用结构、媒体、备注、关系与行为的包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277100" y="1714500"/>
            <a:ext cx="4533900" cy="3695700"/>
            <a:chOff x="7277100" y="1714500"/>
            <a:chExt cx="4533900" cy="3695700"/>
          </a:xfrm>
        </p:grpSpPr>
        <p:sp>
          <p:nvSpPr>
            <p:cNvPr id="46" name="Rectangle 46"/>
            <p:cNvSpPr/>
            <p:nvPr/>
          </p:nvSpPr>
          <p:spPr>
            <a:xfrm>
              <a:off x="7277100" y="1714500"/>
              <a:ext cx="4533900" cy="36957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400" y="1955038"/>
              <a:ext cx="4305300" cy="3214624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7268718" y="5594032"/>
            <a:ext cx="3748430" cy="589407"/>
            <a:chOff x="7268718" y="5594032"/>
            <a:chExt cx="3748430" cy="589407"/>
          </a:xfrm>
        </p:grpSpPr>
        <p:sp>
          <p:nvSpPr>
            <p:cNvPr id="49" name="TextBox 49"/>
            <p:cNvSpPr txBox="1"/>
            <p:nvPr/>
          </p:nvSpPr>
          <p:spPr>
            <a:xfrm>
              <a:off x="7268718" y="5594032"/>
              <a:ext cx="25866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本演示中，PPT 指这一类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68718" y="58607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演示文稿产物，不只是 .ppt 扩展名。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P02 / 17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24071" y="6499860"/>
              <a:ext cx="3093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来源：Microsoft — What is PowerPoint?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6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2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8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4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文件类型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五种扩展名，一个现代标准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81000" y="1790700"/>
            <a:ext cx="7429500" cy="866775"/>
            <a:chOff x="381000" y="1790700"/>
            <a:chExt cx="7429500" cy="866775"/>
          </a:xfrm>
        </p:grpSpPr>
        <p:sp>
          <p:nvSpPr>
            <p:cNvPr id="7" name="Line 7"/>
            <p:cNvSpPr/>
            <p:nvPr/>
          </p:nvSpPr>
          <p:spPr>
            <a:xfrm>
              <a:off x="381000" y="17907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4246" y="21250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.ppt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2368" y="2222182"/>
              <a:ext cx="33638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PowerPoint 97–2003 旧版二进制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81000" y="26479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2982278"/>
            <a:ext cx="7429500" cy="532447"/>
            <a:chOff x="381000" y="2982278"/>
            <a:chExt cx="7429500" cy="532447"/>
          </a:xfrm>
        </p:grpSpPr>
        <p:sp>
          <p:nvSpPr>
            <p:cNvPr id="12" name="TextBox 12"/>
            <p:cNvSpPr txBox="1"/>
            <p:nvPr/>
          </p:nvSpPr>
          <p:spPr>
            <a:xfrm>
              <a:off x="444246" y="298227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.pptx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2368" y="30794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当前无宏包，现代主用可编辑格式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81000" y="35052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81000" y="3839528"/>
            <a:ext cx="7429500" cy="532447"/>
            <a:chOff x="381000" y="3839528"/>
            <a:chExt cx="7429500" cy="532447"/>
          </a:xfrm>
        </p:grpSpPr>
        <p:sp>
          <p:nvSpPr>
            <p:cNvPr id="16" name="TextBox 16"/>
            <p:cNvSpPr txBox="1"/>
            <p:nvPr/>
          </p:nvSpPr>
          <p:spPr>
            <a:xfrm>
              <a:off x="444246" y="3839528"/>
              <a:ext cx="1089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.pptm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2368" y="3936682"/>
              <a:ext cx="2948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含宏的 PowerPoint 演示文稿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" y="43624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4696778"/>
            <a:ext cx="7429500" cy="532447"/>
            <a:chOff x="381000" y="4696778"/>
            <a:chExt cx="7429500" cy="532447"/>
          </a:xfrm>
        </p:grpSpPr>
        <p:sp>
          <p:nvSpPr>
            <p:cNvPr id="20" name="TextBox 20"/>
            <p:cNvSpPr txBox="1"/>
            <p:nvPr/>
          </p:nvSpPr>
          <p:spPr>
            <a:xfrm>
              <a:off x="444246" y="469677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.potx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2368" y="4793932"/>
              <a:ext cx="27236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可复用的 PowerPoint 模板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81000" y="52197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81000" y="5554028"/>
            <a:ext cx="7429500" cy="532447"/>
            <a:chOff x="381000" y="5554028"/>
            <a:chExt cx="7429500" cy="532447"/>
          </a:xfrm>
        </p:grpSpPr>
        <p:sp>
          <p:nvSpPr>
            <p:cNvPr id="24" name="TextBox 24"/>
            <p:cNvSpPr txBox="1"/>
            <p:nvPr/>
          </p:nvSpPr>
          <p:spPr>
            <a:xfrm>
              <a:off x="444246" y="555402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.ppsx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2368" y="56511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打开即进入放映视图的放映文件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81000" y="60769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8153400" y="1790700"/>
            <a:ext cx="3657600" cy="4305300"/>
            <a:chOff x="8153400" y="1790700"/>
            <a:chExt cx="3657600" cy="43053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790700"/>
              <a:ext cx="3657600" cy="43053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790700"/>
              <a:ext cx="36576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07908" y="21793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背后的标准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0956" y="2815590"/>
              <a:ext cx="2041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现代 .pptx 是一个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0956" y="3158490"/>
              <a:ext cx="26972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Office Open XML 包，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0956" y="3501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不是二进制黑箱。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420100" y="40386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11718" y="4298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其词汇与打包方式由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10194" y="4704398"/>
              <a:ext cx="13594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ECMA-376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10194" y="5085398"/>
              <a:ext cx="19419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ISO/IEC 29500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11718" y="5498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标准化。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P03 / 17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3560" y="6499860"/>
              <a:ext cx="40135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来源：Microsoft 文件格式说明 · ECMA International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6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8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9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目的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81702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人们要的不是“几页”，是受众身上发生的改变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1856" y="1786890"/>
            <a:ext cx="9492844" cy="352044"/>
            <a:chOff x="371856" y="1786890"/>
            <a:chExt cx="949284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371856" y="1786890"/>
              <a:ext cx="9492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人们通常不以“得到一些页面”为最终目的，而是希望改变受众所知、所信、所决或所行。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2857500"/>
            <a:ext cx="2190750" cy="914400"/>
            <a:chOff x="381000" y="2857500"/>
            <a:chExt cx="2190750" cy="914400"/>
          </a:xfrm>
        </p:grpSpPr>
        <p:sp>
          <p:nvSpPr>
            <p:cNvPr id="9" name="Rectangle 9"/>
            <p:cNvSpPr/>
            <p:nvPr/>
          </p:nvSpPr>
          <p:spPr>
            <a:xfrm>
              <a:off x="381000" y="2857500"/>
              <a:ext cx="219075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579" y="3079432"/>
              <a:ext cx="139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源材料 + 意图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8735" y="3413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47950" y="2857500"/>
            <a:ext cx="2628900" cy="914400"/>
            <a:chOff x="2647950" y="2857500"/>
            <a:chExt cx="2628900" cy="914400"/>
          </a:xfrm>
        </p:grpSpPr>
        <p:sp>
          <p:nvSpPr>
            <p:cNvPr id="13" name="Line 13"/>
            <p:cNvSpPr/>
            <p:nvPr/>
          </p:nvSpPr>
          <p:spPr>
            <a:xfrm>
              <a:off x="2647950" y="3314700"/>
              <a:ext cx="361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86100" y="2857500"/>
              <a:ext cx="2190750" cy="9144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06724" y="3079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有顺序的论证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33063" y="3413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或解释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53050" y="2857500"/>
            <a:ext cx="2628900" cy="914400"/>
            <a:chOff x="5353050" y="2857500"/>
            <a:chExt cx="2628900" cy="914400"/>
          </a:xfrm>
        </p:grpSpPr>
        <p:sp>
          <p:nvSpPr>
            <p:cNvPr id="18" name="Line 18"/>
            <p:cNvSpPr/>
            <p:nvPr/>
          </p:nvSpPr>
          <p:spPr>
            <a:xfrm>
              <a:off x="5353050" y="3314700"/>
              <a:ext cx="361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91200" y="2857500"/>
              <a:ext cx="2190750" cy="9144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5008" y="3079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共同的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947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视觉体验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58150" y="2857500"/>
            <a:ext cx="2628900" cy="914400"/>
            <a:chOff x="8058150" y="2857500"/>
            <a:chExt cx="2628900" cy="914400"/>
          </a:xfrm>
        </p:grpSpPr>
        <p:sp>
          <p:nvSpPr>
            <p:cNvPr id="23" name="Line 23"/>
            <p:cNvSpPr/>
            <p:nvPr/>
          </p:nvSpPr>
          <p:spPr>
            <a:xfrm>
              <a:off x="8058150" y="3314700"/>
              <a:ext cx="361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496300" y="2857500"/>
              <a:ext cx="2190750" cy="914400"/>
            </a:xfrm>
            <a:prstGeom prst="rect">
              <a:avLst/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39047" y="3079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受众结果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4035" y="3413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39000" y="3771900"/>
            <a:ext cx="4572000" cy="1581150"/>
            <a:chOff x="7239000" y="3771900"/>
            <a:chExt cx="4572000" cy="1581150"/>
          </a:xfrm>
        </p:grpSpPr>
        <p:sp>
          <p:nvSpPr>
            <p:cNvPr id="28" name="Line 28"/>
            <p:cNvSpPr/>
            <p:nvPr/>
          </p:nvSpPr>
          <p:spPr>
            <a:xfrm>
              <a:off x="9591675" y="3771900"/>
              <a:ext cx="1" cy="8001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39000" y="4667250"/>
              <a:ext cx="4572000" cy="6858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59218" y="4793932"/>
              <a:ext cx="24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 可编辑、可传播的记录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6150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组织可以继续使用的成果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71856" y="4777740"/>
            <a:ext cx="3168396" cy="637794"/>
            <a:chOff x="371856" y="4777740"/>
            <a:chExt cx="3168396" cy="637794"/>
          </a:xfrm>
        </p:grpSpPr>
        <p:sp>
          <p:nvSpPr>
            <p:cNvPr id="33" name="TextBox 33"/>
            <p:cNvSpPr txBox="1"/>
            <p:nvPr/>
          </p:nvSpPr>
          <p:spPr>
            <a:xfrm>
              <a:off x="371856" y="47777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演示的终点是受众结果，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1856" y="50634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外加一份能继续流转的记录。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P04 / 17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09049" y="64998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改变受众所知 · 所信 · 所决 · 所行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2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8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2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48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沟通任务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一份演示，可能同时在完成九种任务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00200"/>
            <a:ext cx="3676650" cy="1333500"/>
            <a:chOff x="381000" y="1600200"/>
            <a:chExt cx="3676650" cy="13335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3676650" cy="13335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7219" y="1826419"/>
              <a:ext cx="214312" cy="214312"/>
              <a:chOff x="607219" y="1826419"/>
              <a:chExt cx="214312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07219" y="18264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14375" y="18978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2469" y="1933575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0"/>
                    </a:moveTo>
                    <a:lnTo>
                      <a:pt x="11906" y="0"/>
                    </a:lnTo>
                    <a:lnTo>
                      <a:pt x="11906" y="47625"/>
                    </a:lnTo>
                    <a:lnTo>
                      <a:pt x="23812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62406" y="1824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告知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2602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受众知道此前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25079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不知道的事实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48150" y="1600200"/>
            <a:ext cx="3676650" cy="1333500"/>
            <a:chOff x="4248150" y="1600200"/>
            <a:chExt cx="3676650" cy="1333500"/>
          </a:xfrm>
        </p:grpSpPr>
        <p:sp>
          <p:nvSpPr>
            <p:cNvPr id="16" name="Rectangle 16"/>
            <p:cNvSpPr/>
            <p:nvPr/>
          </p:nvSpPr>
          <p:spPr>
            <a:xfrm>
              <a:off x="4248150" y="1600200"/>
              <a:ext cx="3676650" cy="13335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474369" y="1826419"/>
              <a:ext cx="214312" cy="214313"/>
              <a:chOff x="4474369" y="1826419"/>
              <a:chExt cx="214312" cy="21431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474369" y="18264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16946" y="18740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54141" y="19931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29556" y="1824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解释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0268" y="2260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理解某种机制、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30268" y="25079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关系或原因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15300" y="1600200"/>
            <a:ext cx="3695700" cy="1333500"/>
            <a:chOff x="8115300" y="1600200"/>
            <a:chExt cx="36957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8115300" y="1600200"/>
              <a:ext cx="3695700" cy="13335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341519" y="1837830"/>
              <a:ext cx="214312" cy="190995"/>
              <a:chOff x="8341519" y="1837830"/>
              <a:chExt cx="214312" cy="19099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520112" y="1885950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0" y="0"/>
                    </a:moveTo>
                    <a:cubicBezTo>
                      <a:pt x="19727" y="0"/>
                      <a:pt x="35719" y="15992"/>
                      <a:pt x="35719" y="35719"/>
                    </a:cubicBezTo>
                    <a:cubicBezTo>
                      <a:pt x="35719" y="55446"/>
                      <a:pt x="19727" y="71438"/>
                      <a:pt x="0" y="71438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9144" y="1885950"/>
                <a:ext cx="35719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142875">
                    <a:moveTo>
                      <a:pt x="35719" y="0"/>
                    </a:moveTo>
                    <a:lnTo>
                      <a:pt x="35719" y="130969"/>
                    </a:lnTo>
                    <a:cubicBezTo>
                      <a:pt x="35719" y="137544"/>
                      <a:pt x="30388" y="142875"/>
                      <a:pt x="23812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41519" y="1837830"/>
                <a:ext cx="178596" cy="167678"/>
              </a:xfrm>
              <a:custGeom>
                <a:avLst/>
                <a:gdLst/>
                <a:ahLst/>
                <a:cxnLst/>
                <a:rect l="l" t="t" r="r" b="b"/>
                <a:pathLst>
                  <a:path w="178596" h="167678">
                    <a:moveTo>
                      <a:pt x="107156" y="48120"/>
                    </a:moveTo>
                    <a:lnTo>
                      <a:pt x="161020" y="3234"/>
                    </a:lnTo>
                    <a:cubicBezTo>
                      <a:pt x="164215" y="572"/>
                      <a:pt x="168662" y="0"/>
                      <a:pt x="172427" y="1765"/>
                    </a:cubicBezTo>
                    <a:cubicBezTo>
                      <a:pt x="176192" y="3530"/>
                      <a:pt x="178596" y="7315"/>
                      <a:pt x="178594" y="11473"/>
                    </a:cubicBezTo>
                    <a:lnTo>
                      <a:pt x="178594" y="156205"/>
                    </a:lnTo>
                    <a:cubicBezTo>
                      <a:pt x="178596" y="160364"/>
                      <a:pt x="176192" y="164148"/>
                      <a:pt x="172427" y="165913"/>
                    </a:cubicBezTo>
                    <a:cubicBezTo>
                      <a:pt x="168662" y="167678"/>
                      <a:pt x="164215" y="167106"/>
                      <a:pt x="161020" y="164444"/>
                    </a:cubicBezTo>
                    <a:lnTo>
                      <a:pt x="107156" y="119558"/>
                    </a:lnTo>
                    <a:lnTo>
                      <a:pt x="11906" y="119558"/>
                    </a:lnTo>
                    <a:cubicBezTo>
                      <a:pt x="5331" y="119558"/>
                      <a:pt x="0" y="114227"/>
                      <a:pt x="0" y="107652"/>
                    </a:cubicBezTo>
                    <a:lnTo>
                      <a:pt x="0" y="60027"/>
                    </a:lnTo>
                    <a:cubicBezTo>
                      <a:pt x="0" y="53451"/>
                      <a:pt x="5331" y="48120"/>
                      <a:pt x="11906" y="48120"/>
                    </a:cubicBezTo>
                    <a:lnTo>
                      <a:pt x="107156" y="4812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696706" y="1824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说服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7418" y="2260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接受或认真考虑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74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某个立场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81000" y="3105150"/>
            <a:ext cx="3676650" cy="1333500"/>
            <a:chOff x="381000" y="3105150"/>
            <a:chExt cx="3676650" cy="1333500"/>
          </a:xfrm>
        </p:grpSpPr>
        <p:sp>
          <p:nvSpPr>
            <p:cNvPr id="34" name="Rectangle 34"/>
            <p:cNvSpPr/>
            <p:nvPr/>
          </p:nvSpPr>
          <p:spPr>
            <a:xfrm>
              <a:off x="381000" y="3105150"/>
              <a:ext cx="3676650" cy="13335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19125" y="3343275"/>
              <a:ext cx="190500" cy="190500"/>
              <a:chOff x="619125" y="3343275"/>
              <a:chExt cx="190500" cy="1905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8656" y="3367088"/>
                <a:ext cx="130969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95250">
                    <a:moveTo>
                      <a:pt x="0" y="59531"/>
                    </a:moveTo>
                    <a:lnTo>
                      <a:pt x="35719" y="95250"/>
                    </a:ln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19125" y="3343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90500" y="95250"/>
                    </a:moveTo>
                    <a:lnTo>
                      <a:pt x="190500" y="166688"/>
                    </a:lnTo>
                    <a:cubicBezTo>
                      <a:pt x="190500" y="179839"/>
                      <a:pt x="179839" y="190500"/>
                      <a:pt x="166688" y="190500"/>
                    </a:cubicBez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62406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3118" y="37652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从多个选项走向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311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明确选择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248150" y="3105150"/>
            <a:ext cx="3676650" cy="1333500"/>
            <a:chOff x="4248150" y="3105150"/>
            <a:chExt cx="3676650" cy="1333500"/>
          </a:xfrm>
        </p:grpSpPr>
        <p:sp>
          <p:nvSpPr>
            <p:cNvPr id="42" name="Rectangle 42"/>
            <p:cNvSpPr/>
            <p:nvPr/>
          </p:nvSpPr>
          <p:spPr>
            <a:xfrm>
              <a:off x="4248150" y="3105150"/>
              <a:ext cx="3676650" cy="13335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474369" y="3331369"/>
              <a:ext cx="214312" cy="214312"/>
              <a:chOff x="4474369" y="3331369"/>
              <a:chExt cx="214312" cy="21431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557712" y="3426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533900" y="3509962"/>
                <a:ext cx="952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71438" y="0"/>
                    </a:lnTo>
                    <a:cubicBezTo>
                      <a:pt x="84589" y="0"/>
                      <a:pt x="95250" y="10661"/>
                      <a:pt x="95250" y="23812"/>
                    </a:cubicBezTo>
                    <a:lnTo>
                      <a:pt x="9525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17244" y="33313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641056" y="34147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0"/>
                    </a:moveTo>
                    <a:lnTo>
                      <a:pt x="23812" y="0"/>
                    </a:lnTo>
                    <a:cubicBezTo>
                      <a:pt x="36964" y="0"/>
                      <a:pt x="47625" y="10661"/>
                      <a:pt x="47625" y="23812"/>
                    </a:cubicBezTo>
                    <a:lnTo>
                      <a:pt x="47625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498181" y="33313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74369" y="34147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829556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对齐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30268" y="37652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形成共同优先级、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30268" y="4012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语言和下一步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115300" y="3105150"/>
            <a:ext cx="3695700" cy="1333500"/>
            <a:chOff x="8115300" y="3105150"/>
            <a:chExt cx="3695700" cy="1333500"/>
          </a:xfrm>
        </p:grpSpPr>
        <p:sp>
          <p:nvSpPr>
            <p:cNvPr id="54" name="Rectangle 54"/>
            <p:cNvSpPr/>
            <p:nvPr/>
          </p:nvSpPr>
          <p:spPr>
            <a:xfrm>
              <a:off x="8115300" y="3105150"/>
              <a:ext cx="3695700" cy="13335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329612" y="3355181"/>
              <a:ext cx="238125" cy="166687"/>
              <a:chOff x="8329612" y="3355181"/>
              <a:chExt cx="238125" cy="16668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29612" y="3355181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47625"/>
                    </a:moveTo>
                    <a:lnTo>
                      <a:pt x="119062" y="0"/>
                    </a:lnTo>
                    <a:lnTo>
                      <a:pt x="0" y="47625"/>
                    </a:lnTo>
                    <a:lnTo>
                      <a:pt x="119062" y="95250"/>
                    </a:lnTo>
                    <a:lnTo>
                      <a:pt x="238125" y="47625"/>
                    </a:lnTo>
                    <a:lnTo>
                      <a:pt x="238125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77238" y="3421856"/>
                <a:ext cx="1428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0012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4021"/>
                      <a:pt x="31984" y="100012"/>
                      <a:pt x="71438" y="100012"/>
                    </a:cubicBezTo>
                    <a:cubicBezTo>
                      <a:pt x="110891" y="100012"/>
                      <a:pt x="142875" y="84021"/>
                      <a:pt x="142875" y="64294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696706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教学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97418" y="37652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能够理解、记忆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97418" y="4012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或执行某件事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1000" y="4610100"/>
            <a:ext cx="3676650" cy="1333500"/>
            <a:chOff x="381000" y="4610100"/>
            <a:chExt cx="3676650" cy="1333500"/>
          </a:xfrm>
        </p:grpSpPr>
        <p:sp>
          <p:nvSpPr>
            <p:cNvPr id="62" name="Rectangle 62"/>
            <p:cNvSpPr/>
            <p:nvPr/>
          </p:nvSpPr>
          <p:spPr>
            <a:xfrm>
              <a:off x="381000" y="4610100"/>
              <a:ext cx="3676650" cy="13335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19125" y="4836319"/>
              <a:ext cx="214313" cy="226219"/>
              <a:chOff x="619125" y="4836319"/>
              <a:chExt cx="214313" cy="22621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19125" y="4860131"/>
                <a:ext cx="91642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1642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91642" y="19050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85812" y="496728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8188" y="4860131"/>
                <a:ext cx="476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71438">
                    <a:moveTo>
                      <a:pt x="47625" y="71438"/>
                    </a:moveTo>
                    <a:lnTo>
                      <a:pt x="47625" y="23812"/>
                    </a:lnTo>
                    <a:cubicBezTo>
                      <a:pt x="47625" y="10661"/>
                      <a:pt x="36964" y="0"/>
                      <a:pt x="23812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6750" y="48363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38188" y="496728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66750" y="4931569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66750" y="4979194"/>
                <a:ext cx="357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9525">
                    <a:moveTo>
                      <a:pt x="0" y="0"/>
                    </a:moveTo>
                    <a:lnTo>
                      <a:pt x="357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962406" y="4834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汇报与问责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3118" y="52701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评价进展、证据、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3118" y="55178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风险与责任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248150" y="4610100"/>
            <a:ext cx="3676650" cy="1333500"/>
            <a:chOff x="4248150" y="4610100"/>
            <a:chExt cx="3676650" cy="1333500"/>
          </a:xfrm>
        </p:grpSpPr>
        <p:sp>
          <p:nvSpPr>
            <p:cNvPr id="75" name="Rectangle 75"/>
            <p:cNvSpPr/>
            <p:nvPr/>
          </p:nvSpPr>
          <p:spPr>
            <a:xfrm>
              <a:off x="4248150" y="4610100"/>
              <a:ext cx="3676650" cy="13335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4498181" y="4837441"/>
              <a:ext cx="166688" cy="213191"/>
              <a:chOff x="4498181" y="4837441"/>
              <a:chExt cx="166688" cy="21319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4498181" y="4837441"/>
                <a:ext cx="166688" cy="15253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2536">
                    <a:moveTo>
                      <a:pt x="0" y="22690"/>
                    </a:moveTo>
                    <a:cubicBezTo>
                      <a:pt x="23148" y="0"/>
                      <a:pt x="60195" y="0"/>
                      <a:pt x="83344" y="22690"/>
                    </a:cubicBezTo>
                    <a:cubicBezTo>
                      <a:pt x="106492" y="45380"/>
                      <a:pt x="143539" y="45380"/>
                      <a:pt x="166688" y="22690"/>
                    </a:cubicBezTo>
                    <a:lnTo>
                      <a:pt x="166688" y="129846"/>
                    </a:lnTo>
                    <a:cubicBezTo>
                      <a:pt x="143539" y="152536"/>
                      <a:pt x="106492" y="152536"/>
                      <a:pt x="83344" y="129846"/>
                    </a:cubicBezTo>
                    <a:cubicBezTo>
                      <a:pt x="60195" y="107156"/>
                      <a:pt x="23148" y="107156"/>
                      <a:pt x="0" y="129846"/>
                    </a:cubicBezTo>
                    <a:lnTo>
                      <a:pt x="0" y="2269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4498181" y="4967288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4829556" y="4834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动员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430268" y="52701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从意识到问题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430268" y="55178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转向采取行动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115300" y="4610100"/>
            <a:ext cx="3695700" cy="1333500"/>
            <a:chOff x="8115300" y="4610100"/>
            <a:chExt cx="3695700" cy="1333500"/>
          </a:xfrm>
        </p:grpSpPr>
        <p:sp>
          <p:nvSpPr>
            <p:cNvPr id="83" name="Rectangle 83"/>
            <p:cNvSpPr/>
            <p:nvPr/>
          </p:nvSpPr>
          <p:spPr>
            <a:xfrm>
              <a:off x="8115300" y="4610100"/>
              <a:ext cx="3695700" cy="1333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341519" y="4848225"/>
              <a:ext cx="214312" cy="190500"/>
              <a:chOff x="8341519" y="4848225"/>
              <a:chExt cx="214312" cy="1905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341519" y="4848225"/>
                <a:ext cx="2143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90500" y="0"/>
                    </a:lnTo>
                    <a:cubicBezTo>
                      <a:pt x="203651" y="0"/>
                      <a:pt x="214312" y="10661"/>
                      <a:pt x="214312" y="23812"/>
                    </a:cubicBezTo>
                    <a:cubicBezTo>
                      <a:pt x="214312" y="36964"/>
                      <a:pt x="203651" y="47625"/>
                      <a:pt x="190500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365331" y="4895850"/>
                <a:ext cx="16668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32214"/>
                      <a:pt x="10661" y="142875"/>
                      <a:pt x="23812" y="142875"/>
                    </a:cubicBezTo>
                    <a:lnTo>
                      <a:pt x="142875" y="142875"/>
                    </a:lnTo>
                    <a:cubicBezTo>
                      <a:pt x="156026" y="142875"/>
                      <a:pt x="166688" y="132214"/>
                      <a:pt x="166688" y="119062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424862" y="49434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8696706" y="4834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留档与交接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97418" y="5270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获得可审批、审计、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97418" y="55178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复用的正式成果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92" name="TextBox 92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P05 / 17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089392" y="64998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要澄清的不是哪个标签胜出，而是它们的主次与顺序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8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4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媒介价值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83430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七项属性叠加，才是 PowerPoint 的独特价值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2618" y="1650682"/>
            <a:ext cx="8047558" cy="322707"/>
            <a:chOff x="372618" y="1650682"/>
            <a:chExt cx="8047558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372618" y="1650682"/>
              <a:ext cx="8047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当一项任务同时需要下列属性时，PowerPoint 才具有别的媒介难以替代的价值。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2148840"/>
            <a:ext cx="5429250" cy="699135"/>
            <a:chOff x="381000" y="2148840"/>
            <a:chExt cx="5429250" cy="699135"/>
          </a:xfrm>
        </p:grpSpPr>
        <p:grpSp>
          <p:nvGrpSpPr>
            <p:cNvPr id="14" name="Group 14"/>
            <p:cNvGrpSpPr/>
            <p:nvPr/>
          </p:nvGrpSpPr>
          <p:grpSpPr>
            <a:xfrm>
              <a:off x="428625" y="2162175"/>
              <a:ext cx="190500" cy="190501"/>
              <a:chOff x="428625" y="2162175"/>
              <a:chExt cx="190500" cy="1905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11969" y="218598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11969" y="225742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23875" y="2328862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28625" y="2281238"/>
                <a:ext cx="476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71438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ubicBezTo>
                      <a:pt x="47625" y="30849"/>
                      <a:pt x="41672" y="35719"/>
                      <a:pt x="35719" y="41672"/>
                    </a:cubicBezTo>
                    <a:lnTo>
                      <a:pt x="0" y="71438"/>
                    </a:lnTo>
                    <a:lnTo>
                      <a:pt x="4762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28625" y="21621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23812" y="71438"/>
                    </a:moveTo>
                    <a:lnTo>
                      <a:pt x="23812" y="0"/>
                    </a:ln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90956" y="2148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顺序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24507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控制或建议注意力的展开顺序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" y="283845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81000" y="3025140"/>
            <a:ext cx="5429250" cy="699135"/>
            <a:chOff x="381000" y="3025140"/>
            <a:chExt cx="5429250" cy="699135"/>
          </a:xfrm>
        </p:grpSpPr>
        <p:grpSp>
          <p:nvGrpSpPr>
            <p:cNvPr id="23" name="Group 23"/>
            <p:cNvGrpSpPr/>
            <p:nvPr/>
          </p:nvGrpSpPr>
          <p:grpSpPr>
            <a:xfrm>
              <a:off x="428625" y="3038475"/>
              <a:ext cx="190501" cy="190501"/>
              <a:chOff x="428625" y="3038475"/>
              <a:chExt cx="190501" cy="19050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8625" y="303847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cubicBezTo>
                      <a:pt x="71438" y="66107"/>
                      <a:pt x="66107" y="71438"/>
                      <a:pt x="59531" y="71438"/>
                    </a:cubicBezTo>
                    <a:lnTo>
                      <a:pt x="11906" y="71438"/>
                    </a:ln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47688" y="303847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cubicBezTo>
                      <a:pt x="71438" y="66107"/>
                      <a:pt x="66107" y="71438"/>
                      <a:pt x="59531" y="71438"/>
                    </a:cubicBezTo>
                    <a:lnTo>
                      <a:pt x="11906" y="71438"/>
                    </a:ln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28625" y="31575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cubicBezTo>
                      <a:pt x="71438" y="66107"/>
                      <a:pt x="66107" y="71438"/>
                      <a:pt x="59531" y="71438"/>
                    </a:cubicBezTo>
                    <a:lnTo>
                      <a:pt x="11906" y="71438"/>
                    </a:ln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47688" y="31575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cubicBezTo>
                      <a:pt x="71438" y="66107"/>
                      <a:pt x="66107" y="71438"/>
                      <a:pt x="59531" y="71438"/>
                    </a:cubicBezTo>
                    <a:lnTo>
                      <a:pt x="11906" y="71438"/>
                    </a:ln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90956" y="30251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模块化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718" y="33270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页面可重排、隐藏、复制、替换与复用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81000" y="371475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81000" y="3901440"/>
            <a:ext cx="5429250" cy="699135"/>
            <a:chOff x="381000" y="3901440"/>
            <a:chExt cx="5429250" cy="699135"/>
          </a:xfrm>
        </p:grpSpPr>
        <p:grpSp>
          <p:nvGrpSpPr>
            <p:cNvPr id="32" name="Group 32"/>
            <p:cNvGrpSpPr/>
            <p:nvPr/>
          </p:nvGrpSpPr>
          <p:grpSpPr>
            <a:xfrm>
              <a:off x="416719" y="3902869"/>
              <a:ext cx="214313" cy="214312"/>
              <a:chOff x="416719" y="3902869"/>
              <a:chExt cx="214313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59594" y="3962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16719" y="39028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178594"/>
                    </a:lnTo>
                    <a:cubicBezTo>
                      <a:pt x="214312" y="198321"/>
                      <a:pt x="198321" y="214312"/>
                      <a:pt x="178594" y="214312"/>
                    </a:cubicBezTo>
                    <a:lnTo>
                      <a:pt x="35719" y="214312"/>
                    </a:lnTo>
                    <a:cubicBezTo>
                      <a:pt x="15992" y="214312"/>
                      <a:pt x="0" y="198321"/>
                      <a:pt x="0" y="178594"/>
                    </a:cubicBez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16719" y="3987486"/>
                <a:ext cx="154781" cy="70164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70164">
                    <a:moveTo>
                      <a:pt x="0" y="70164"/>
                    </a:moveTo>
                    <a:lnTo>
                      <a:pt x="59531" y="10632"/>
                    </a:lnTo>
                    <a:cubicBezTo>
                      <a:pt x="70580" y="0"/>
                      <a:pt x="84201" y="0"/>
                      <a:pt x="95250" y="10632"/>
                    </a:cubicBezTo>
                    <a:lnTo>
                      <a:pt x="154781" y="70164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7688" y="4011299"/>
                <a:ext cx="83344" cy="46351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46351">
                    <a:moveTo>
                      <a:pt x="0" y="22539"/>
                    </a:moveTo>
                    <a:lnTo>
                      <a:pt x="11906" y="10632"/>
                    </a:lnTo>
                    <a:cubicBezTo>
                      <a:pt x="22955" y="0"/>
                      <a:pt x="36576" y="0"/>
                      <a:pt x="47625" y="10632"/>
                    </a:cubicBezTo>
                    <a:lnTo>
                      <a:pt x="83344" y="4635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90956" y="3901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多媒体组合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718" y="42033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文字、图示、数据、图片、音视频在页内组合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81000" y="459105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0531" y="4767262"/>
            <a:ext cx="4810411" cy="635127"/>
            <a:chOff x="440531" y="4767262"/>
            <a:chExt cx="4810411" cy="635127"/>
          </a:xfrm>
        </p:grpSpPr>
        <p:grpSp>
          <p:nvGrpSpPr>
            <p:cNvPr id="41" name="Group 41"/>
            <p:cNvGrpSpPr/>
            <p:nvPr/>
          </p:nvGrpSpPr>
          <p:grpSpPr>
            <a:xfrm>
              <a:off x="440531" y="4767262"/>
              <a:ext cx="166688" cy="235744"/>
              <a:chOff x="440531" y="4767262"/>
              <a:chExt cx="166688" cy="23574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88156" y="4767262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lnTo>
                      <a:pt x="71438" y="95250"/>
                    </a:lnTo>
                    <a:cubicBezTo>
                      <a:pt x="71438" y="114977"/>
                      <a:pt x="55446" y="130969"/>
                      <a:pt x="35719" y="130969"/>
                    </a:cubicBezTo>
                    <a:cubicBezTo>
                      <a:pt x="15992" y="130969"/>
                      <a:pt x="0" y="114977"/>
                      <a:pt x="0" y="95250"/>
                    </a:cubicBez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40531" y="4862512"/>
                <a:ext cx="16668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3344">
                    <a:moveTo>
                      <a:pt x="0" y="0"/>
                    </a:moveTo>
                    <a:cubicBezTo>
                      <a:pt x="0" y="46029"/>
                      <a:pt x="37314" y="83344"/>
                      <a:pt x="83344" y="83344"/>
                    </a:cubicBezTo>
                    <a:cubicBezTo>
                      <a:pt x="129373" y="83344"/>
                      <a:pt x="166688" y="46029"/>
                      <a:pt x="166688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76250" y="499348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23875" y="49458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90956" y="4777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演讲支持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1718" y="50796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备注、演讲者视图、计时与导航支持现场传递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2148840"/>
            <a:ext cx="5524500" cy="699135"/>
            <a:chOff x="6286500" y="2148840"/>
            <a:chExt cx="5524500" cy="699135"/>
          </a:xfrm>
        </p:grpSpPr>
        <p:grpSp>
          <p:nvGrpSpPr>
            <p:cNvPr id="50" name="Group 50"/>
            <p:cNvGrpSpPr/>
            <p:nvPr/>
          </p:nvGrpSpPr>
          <p:grpSpPr>
            <a:xfrm>
              <a:off x="6322219" y="2166846"/>
              <a:ext cx="223837" cy="173923"/>
              <a:chOff x="6322219" y="2166846"/>
              <a:chExt cx="223837" cy="1739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22219" y="232162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322219" y="216684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22219" y="21859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29375" y="21859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36531" y="21859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696456" y="2148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阅读支持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7218" y="24507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阅读视图、批注、讲义与共享支持异步审阅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286500" y="28384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286500" y="3024126"/>
            <a:ext cx="5524500" cy="700149"/>
            <a:chOff x="6286500" y="3024126"/>
            <a:chExt cx="5524500" cy="700149"/>
          </a:xfrm>
        </p:grpSpPr>
        <p:grpSp>
          <p:nvGrpSpPr>
            <p:cNvPr id="58" name="Group 58"/>
            <p:cNvGrpSpPr/>
            <p:nvPr/>
          </p:nvGrpSpPr>
          <p:grpSpPr>
            <a:xfrm>
              <a:off x="6334125" y="3024126"/>
              <a:ext cx="204848" cy="204849"/>
              <a:chOff x="6334125" y="3024126"/>
              <a:chExt cx="204848" cy="20484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334125" y="3074194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35719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30969"/>
                    </a:lnTo>
                    <a:cubicBezTo>
                      <a:pt x="0" y="144120"/>
                      <a:pt x="10661" y="154781"/>
                      <a:pt x="23812" y="154781"/>
                    </a:cubicBezTo>
                    <a:lnTo>
                      <a:pt x="130969" y="154781"/>
                    </a:lnTo>
                    <a:cubicBezTo>
                      <a:pt x="144120" y="154781"/>
                      <a:pt x="154781" y="144120"/>
                      <a:pt x="154781" y="130969"/>
                    </a:cubicBezTo>
                    <a:lnTo>
                      <a:pt x="154781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93656" y="3024126"/>
                <a:ext cx="145317" cy="145317"/>
              </a:xfrm>
              <a:custGeom>
                <a:avLst/>
                <a:gdLst/>
                <a:ahLst/>
                <a:cxnLst/>
                <a:rect l="l" t="t" r="r" b="b"/>
                <a:pathLst>
                  <a:path w="145317" h="145317">
                    <a:moveTo>
                      <a:pt x="135553" y="45126"/>
                    </a:moveTo>
                    <a:cubicBezTo>
                      <a:pt x="145317" y="35362"/>
                      <a:pt x="145317" y="19530"/>
                      <a:pt x="135553" y="9765"/>
                    </a:cubicBezTo>
                    <a:cubicBezTo>
                      <a:pt x="125788" y="0"/>
                      <a:pt x="109956" y="0"/>
                      <a:pt x="100191" y="9765"/>
                    </a:cubicBezTo>
                    <a:lnTo>
                      <a:pt x="0" y="109599"/>
                    </a:lnTo>
                    <a:lnTo>
                      <a:pt x="0" y="145317"/>
                    </a:lnTo>
                    <a:lnTo>
                      <a:pt x="35719" y="145317"/>
                    </a:lnTo>
                    <a:lnTo>
                      <a:pt x="135553" y="4512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77000" y="3050381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0"/>
                    </a:moveTo>
                    <a:lnTo>
                      <a:pt x="35719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6964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可编辑性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97218" y="3327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可修改、本地化、扩展与改作他用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286500" y="37147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6286500" y="3901440"/>
            <a:ext cx="5524500" cy="699135"/>
            <a:chOff x="6286500" y="3901440"/>
            <a:chExt cx="5524500" cy="699135"/>
          </a:xfrm>
        </p:grpSpPr>
        <p:grpSp>
          <p:nvGrpSpPr>
            <p:cNvPr id="65" name="Group 65"/>
            <p:cNvGrpSpPr/>
            <p:nvPr/>
          </p:nvGrpSpPr>
          <p:grpSpPr>
            <a:xfrm>
              <a:off x="6334125" y="3914775"/>
              <a:ext cx="190500" cy="190501"/>
              <a:chOff x="6334125" y="3914775"/>
              <a:chExt cx="190500" cy="19050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334125" y="3914775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190500" y="71438"/>
                    </a:moveTo>
                    <a:lnTo>
                      <a:pt x="0" y="71438"/>
                    </a:lnTo>
                    <a:lnTo>
                      <a:pt x="65484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334125" y="4033838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0"/>
                    </a:moveTo>
                    <a:lnTo>
                      <a:pt x="190500" y="0"/>
                    </a:lnTo>
                    <a:lnTo>
                      <a:pt x="125016" y="71438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696456" y="3901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组织可移植性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97218" y="42033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同一产物穿过会议、评审、审批、归档与复用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286500" y="45910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6286500" y="4762500"/>
            <a:ext cx="5524500" cy="1459039"/>
            <a:chOff x="6286500" y="4762500"/>
            <a:chExt cx="5524500" cy="1459039"/>
          </a:xfrm>
        </p:grpSpPr>
        <p:sp>
          <p:nvSpPr>
            <p:cNvPr id="70" name="Rectangle 70"/>
            <p:cNvSpPr/>
            <p:nvPr/>
          </p:nvSpPr>
          <p:spPr>
            <a:xfrm>
              <a:off x="6286500" y="4762500"/>
              <a:ext cx="55245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4481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七者叠加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4818" y="53654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任何单一属性别的工具都能给，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44818" y="563213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同时给全七项的很少——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44818" y="58988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这才是它的位置。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P06 / 17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64017" y="6499860"/>
              <a:ext cx="345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顺序·模块化·多媒体·演讲·阅读·可编辑·可移植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9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8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7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6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4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30"/>
                            </p:stCondLst>
                            <p:childTnLst>
                              <p:par>
                                <p:cTn xmlns:p="http://schemas.openxmlformats.org/presentationml/2006/main" id="37" presetID="23" presetClass="entr" presetSubtype="16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8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8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媒介边界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8214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PowerPoint 不该是所有信息任务的默认选择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81000" y="1759268"/>
            <a:ext cx="11430000" cy="288607"/>
            <a:chOff x="381000" y="1759268"/>
            <a:chExt cx="11430000" cy="288607"/>
          </a:xfrm>
        </p:grpSpPr>
        <p:sp>
          <p:nvSpPr>
            <p:cNvPr id="7" name="TextBox 7"/>
            <p:cNvSpPr txBox="1"/>
            <p:nvPr/>
          </p:nvSpPr>
          <p:spPr>
            <a:xfrm>
              <a:off x="450342" y="1759268"/>
              <a:ext cx="77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首要需求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7442" y="17592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通常更适合的主要媒介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81000" y="20383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381000" y="2260282"/>
            <a:ext cx="11430000" cy="378143"/>
            <a:chOff x="381000" y="2260282"/>
            <a:chExt cx="11430000" cy="378143"/>
          </a:xfrm>
        </p:grpSpPr>
        <p:sp>
          <p:nvSpPr>
            <p:cNvPr id="11" name="TextBox 11"/>
            <p:cNvSpPr txBox="1"/>
            <p:nvPr/>
          </p:nvSpPr>
          <p:spPr>
            <a:xfrm>
              <a:off x="448818" y="22602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很长、线性、可独立阅读的完整论证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785894" y="2297906"/>
              <a:ext cx="144462" cy="185737"/>
              <a:chOff x="7785894" y="2297906"/>
              <a:chExt cx="144462" cy="1857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878762" y="22979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85894" y="229790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827168" y="2359818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827168" y="2401093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27168" y="2442368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087868" y="2260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文档或报告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81000" y="26289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381000" y="2850832"/>
            <a:ext cx="11430000" cy="378143"/>
            <a:chOff x="381000" y="2850832"/>
            <a:chExt cx="11430000" cy="378143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28508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动态数据的实时探索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765256" y="2888456"/>
              <a:ext cx="185737" cy="185737"/>
              <a:chOff x="7765256" y="2888456"/>
              <a:chExt cx="185737" cy="18573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765256" y="28884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65099" y="0"/>
                    </a:lnTo>
                    <a:cubicBezTo>
                      <a:pt x="176497" y="0"/>
                      <a:pt x="185737" y="9240"/>
                      <a:pt x="185737" y="20637"/>
                    </a:cubicBezTo>
                    <a:lnTo>
                      <a:pt x="185737" y="165099"/>
                    </a:lnTo>
                    <a:cubicBezTo>
                      <a:pt x="185737" y="176497"/>
                      <a:pt x="176497" y="185737"/>
                      <a:pt x="165099" y="185737"/>
                    </a:cubicBez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65256" y="2960687"/>
                <a:ext cx="1857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525">
                    <a:moveTo>
                      <a:pt x="0" y="0"/>
                    </a:moveTo>
                    <a:lnTo>
                      <a:pt x="185737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837487" y="2888456"/>
                <a:ext cx="9525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7">
                    <a:moveTo>
                      <a:pt x="0" y="0"/>
                    </a:moveTo>
                    <a:lnTo>
                      <a:pt x="0" y="1857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087868" y="2850832"/>
              <a:ext cx="3156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电子表格 / Notebook / 仪表盘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81000" y="32194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81000" y="3441382"/>
            <a:ext cx="11430000" cy="378143"/>
            <a:chOff x="381000" y="3441382"/>
            <a:chExt cx="11430000" cy="378143"/>
          </a:xfrm>
        </p:grpSpPr>
        <p:sp>
          <p:nvSpPr>
            <p:cNvPr id="29" name="TextBox 29"/>
            <p:cNvSpPr txBox="1"/>
            <p:nvPr/>
          </p:nvSpPr>
          <p:spPr>
            <a:xfrm>
              <a:off x="448818" y="34413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开放式群体探索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775575" y="3489325"/>
              <a:ext cx="165100" cy="165099"/>
              <a:chOff x="7775575" y="3489325"/>
              <a:chExt cx="165100" cy="16509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775575" y="3489325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5575" y="3540918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858125" y="3602831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58125" y="3489325"/>
                <a:ext cx="95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099">
                    <a:moveTo>
                      <a:pt x="0" y="0"/>
                    </a:moveTo>
                    <a:lnTo>
                      <a:pt x="0" y="16509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087868" y="34413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白板或协作画布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381000" y="3810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381000" y="4031932"/>
            <a:ext cx="11430000" cy="378143"/>
            <a:chOff x="381000" y="4031932"/>
            <a:chExt cx="11430000" cy="378143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40319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不需编辑的固定重复播放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7775575" y="4079875"/>
              <a:ext cx="165099" cy="165099"/>
              <a:chOff x="7775575" y="4079875"/>
              <a:chExt cx="165099" cy="16509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775575" y="4079875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6850" y="4079875"/>
                <a:ext cx="95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099">
                    <a:moveTo>
                      <a:pt x="0" y="0"/>
                    </a:moveTo>
                    <a:lnTo>
                      <a:pt x="0" y="16509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99399" y="4079875"/>
                <a:ext cx="95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099">
                    <a:moveTo>
                      <a:pt x="0" y="0"/>
                    </a:moveTo>
                    <a:lnTo>
                      <a:pt x="0" y="16509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5575" y="41211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5575" y="4203699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5575" y="4162425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899399" y="41211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99399" y="4203699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087868" y="40319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视频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81000" y="4400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381000" y="4622482"/>
            <a:ext cx="11430000" cy="378143"/>
            <a:chOff x="381000" y="4622482"/>
            <a:chExt cx="11430000" cy="378143"/>
          </a:xfrm>
        </p:grpSpPr>
        <p:sp>
          <p:nvSpPr>
            <p:cNvPr id="51" name="TextBox 51"/>
            <p:cNvSpPr txBox="1"/>
            <p:nvPr/>
          </p:nvSpPr>
          <p:spPr>
            <a:xfrm>
              <a:off x="448818" y="46224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交互导航和丰富用户输入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7775575" y="4670425"/>
              <a:ext cx="165099" cy="165099"/>
              <a:chOff x="7775575" y="4670425"/>
              <a:chExt cx="165099" cy="165099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775575" y="4711700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5575" y="4670425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16850" y="4670425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087868" y="4622482"/>
              <a:ext cx="980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Web 应用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381000" y="49911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381000" y="4991100"/>
            <a:ext cx="11430000" cy="876300"/>
            <a:chOff x="381000" y="4991100"/>
            <a:chExt cx="11430000" cy="876300"/>
          </a:xfrm>
        </p:grpSpPr>
        <p:sp>
          <p:nvSpPr>
            <p:cNvPr id="59" name="Rectangle 59"/>
            <p:cNvSpPr/>
            <p:nvPr/>
          </p:nvSpPr>
          <p:spPr>
            <a:xfrm>
              <a:off x="381000" y="4991100"/>
              <a:ext cx="11430000" cy="8763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48818" y="53463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有顺序、可视化、可编辑并需继续流转的沟通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767638" y="5397500"/>
              <a:ext cx="200026" cy="187326"/>
              <a:chOff x="7767638" y="5397500"/>
              <a:chExt cx="200026" cy="1873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767638" y="5397500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8750" y="5397500"/>
                <a:ext cx="17780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1" y="123400"/>
                      <a:pt x="177801" y="1111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867650" y="55308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834313" y="5575301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823200" y="54419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33338" y="11113"/>
                    </a:lnTo>
                    <a:lnTo>
                      <a:pt x="55563" y="33338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087106" y="5349240"/>
              <a:ext cx="1420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PowerPoint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69" name="TextBox 69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P07 / 17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64731" y="6499860"/>
              <a:ext cx="5052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问“是否需要一份有顺序、可编辑的演示产物”，而非“能不能做成几页”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80"/>
                            </p:stCondLst>
                            <p:childTnLst>
                              <p:par>
                                <p:cTn xmlns:p="http://schemas.openxmlformats.org/presentationml/2006/main" id="8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40"/>
                            </p:stCondLst>
                            <p:childTnLst>
                              <p:par>
                                <p:cTn xmlns:p="http://schemas.openxmlformats.org/presentationml/2006/main" id="12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6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60"/>
                            </p:stCondLst>
                            <p:childTnLst>
                              <p:par>
                                <p:cTn xmlns:p="http://schemas.openxmlformats.org/presentationml/2006/main" id="20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24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80"/>
                            </p:stCondLst>
                            <p:childTnLst>
                              <p:par>
                                <p:cTn xmlns:p="http://schemas.openxmlformats.org/presentationml/2006/main" id="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生命周期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71485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同一份 deck，在不同阶段扮演不同角色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sp>
        <p:nvSpPr>
          <p:cNvPr id="7" name="Line 7"/>
          <p:cNvSpPr/>
          <p:nvPr/>
        </p:nvSpPr>
        <p:spPr>
          <a:xfrm>
            <a:off x="1809750" y="3390900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023938" y="2189798"/>
            <a:ext cx="1571625" cy="2241041"/>
            <a:chOff x="1023938" y="2189798"/>
            <a:chExt cx="1571625" cy="2241041"/>
          </a:xfrm>
        </p:grpSpPr>
        <p:sp>
          <p:nvSpPr>
            <p:cNvPr id="8" name="TextBox 8"/>
            <p:cNvSpPr txBox="1"/>
            <p:nvPr/>
          </p:nvSpPr>
          <p:spPr>
            <a:xfrm>
              <a:off x="1406080" y="218979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活动前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562100" y="3143250"/>
              <a:ext cx="495300" cy="495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709738" y="3290888"/>
              <a:ext cx="200026" cy="200025"/>
              <a:chOff x="1709738" y="3290888"/>
              <a:chExt cx="200026" cy="2000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709738" y="32908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49476" y="33353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784192" y="34464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34999" y="3860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思考、综合、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3938" y="4108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评审与排练工具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59314" y="2189798"/>
            <a:ext cx="2015871" cy="2241041"/>
            <a:chOff x="3659314" y="2189798"/>
            <a:chExt cx="2015871" cy="2241041"/>
          </a:xfrm>
        </p:grpSpPr>
        <p:sp>
          <p:nvSpPr>
            <p:cNvPr id="17" name="TextBox 17"/>
            <p:cNvSpPr txBox="1"/>
            <p:nvPr/>
          </p:nvSpPr>
          <p:spPr>
            <a:xfrm>
              <a:off x="4263580" y="218979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活动中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4419600" y="3143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67238" y="3302000"/>
              <a:ext cx="200026" cy="187326"/>
              <a:chOff x="4567238" y="3302000"/>
              <a:chExt cx="200026" cy="1873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567238" y="3302000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578350" y="3302000"/>
                <a:ext cx="17780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1" y="123400"/>
                      <a:pt x="177801" y="1111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667250" y="34353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633913" y="3479801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622800" y="33464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33338" y="11113"/>
                    </a:lnTo>
                    <a:lnTo>
                      <a:pt x="55563" y="33338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659314" y="38604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协调注意力与节奏的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92499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共同视觉界面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5753" y="2189798"/>
            <a:ext cx="2237994" cy="2241041"/>
            <a:chOff x="6405753" y="2189798"/>
            <a:chExt cx="2237994" cy="2241041"/>
          </a:xfrm>
        </p:grpSpPr>
        <p:sp>
          <p:nvSpPr>
            <p:cNvPr id="28" name="TextBox 28"/>
            <p:cNvSpPr txBox="1"/>
            <p:nvPr/>
          </p:nvSpPr>
          <p:spPr>
            <a:xfrm>
              <a:off x="7121080" y="218979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活动后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277100" y="3143250"/>
              <a:ext cx="495300" cy="495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446963" y="3290888"/>
              <a:ext cx="155575" cy="200026"/>
              <a:chOff x="7446963" y="3290888"/>
              <a:chExt cx="155575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546975" y="32908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446963" y="32908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91413" y="33575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91413" y="34020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491413" y="34464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405753" y="38604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阅读副本、决策记录、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05753" y="4108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讲义、审批或复用来源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85376" y="2189798"/>
            <a:ext cx="1793748" cy="2241041"/>
            <a:chOff x="9485376" y="2189798"/>
            <a:chExt cx="1793748" cy="2241041"/>
          </a:xfrm>
        </p:grpSpPr>
        <p:sp>
          <p:nvSpPr>
            <p:cNvPr id="39" name="TextBox 39"/>
            <p:cNvSpPr txBox="1"/>
            <p:nvPr/>
          </p:nvSpPr>
          <p:spPr>
            <a:xfrm>
              <a:off x="9584817" y="21897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没有现场活动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10134600" y="3143250"/>
              <a:ext cx="495300" cy="495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26688" y="3302000"/>
              <a:ext cx="144463" cy="177801"/>
            </a:xfrm>
            <a:custGeom>
              <a:avLst/>
              <a:gdLst/>
              <a:ahLst/>
              <a:cxnLst/>
              <a:rect l="l" t="t" r="r" b="b"/>
              <a:pathLst>
                <a:path w="144463" h="177801">
                  <a:moveTo>
                    <a:pt x="0" y="0"/>
                  </a:moveTo>
                  <a:lnTo>
                    <a:pt x="0" y="177801"/>
                  </a:lnTo>
                  <a:lnTo>
                    <a:pt x="144463" y="8890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85376" y="38604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异步阅读、录制、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96438" y="4108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旁白或自动播放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2618" y="5562600"/>
            <a:ext cx="11438382" cy="468439"/>
            <a:chOff x="372618" y="5562600"/>
            <a:chExt cx="11438382" cy="468439"/>
          </a:xfrm>
        </p:grpSpPr>
        <p:sp>
          <p:nvSpPr>
            <p:cNvPr id="45" name="Line 45"/>
            <p:cNvSpPr/>
            <p:nvPr/>
          </p:nvSpPr>
          <p:spPr>
            <a:xfrm>
              <a:off x="381000" y="55626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2618" y="5708332"/>
              <a:ext cx="9127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PowerPoint 为此提供不同视图：现场用带私有备注的</a:t>
              </a:r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演讲者视图</a:t>
              </a:r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，没有讲者时用</a:t>
              </a:r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阅读视图</a:t>
              </a:r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P08 / 17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70696" y="6499860"/>
              <a:ext cx="2946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来源：Microsoft — 为任务选择正确视图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8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传递场景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一页无法同时最优地服务四种传递场景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" y="1600200"/>
            <a:ext cx="5619750" cy="1790700"/>
            <a:chOff x="381000" y="1600200"/>
            <a:chExt cx="5619750" cy="17907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5619750" cy="17907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31031" y="1814512"/>
              <a:ext cx="166688" cy="235744"/>
              <a:chOff x="631031" y="1814512"/>
              <a:chExt cx="166688" cy="23574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78656" y="1814512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lnTo>
                      <a:pt x="71438" y="95250"/>
                    </a:lnTo>
                    <a:cubicBezTo>
                      <a:pt x="71438" y="114977"/>
                      <a:pt x="55446" y="130969"/>
                      <a:pt x="35719" y="130969"/>
                    </a:cubicBezTo>
                    <a:cubicBezTo>
                      <a:pt x="15992" y="130969"/>
                      <a:pt x="0" y="114977"/>
                      <a:pt x="0" y="95250"/>
                    </a:cubicBez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1031" y="1909762"/>
                <a:ext cx="16668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3344">
                    <a:moveTo>
                      <a:pt x="0" y="0"/>
                    </a:moveTo>
                    <a:cubicBezTo>
                      <a:pt x="0" y="46029"/>
                      <a:pt x="37314" y="83344"/>
                      <a:pt x="83344" y="83344"/>
                    </a:cubicBezTo>
                    <a:cubicBezTo>
                      <a:pt x="129373" y="83344"/>
                      <a:pt x="166688" y="46029"/>
                      <a:pt x="166688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66750" y="204073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4375" y="199310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62406" y="1824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演讲者主导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22602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远距离可读性、节奏、视觉锚点，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25269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以及对口头表达的补充。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1600200"/>
            <a:ext cx="5524500" cy="1790700"/>
            <a:chOff x="6286500" y="1600200"/>
            <a:chExt cx="5524500" cy="1790700"/>
          </a:xfrm>
        </p:grpSpPr>
        <p:sp>
          <p:nvSpPr>
            <p:cNvPr id="17" name="Rectangle 17"/>
            <p:cNvSpPr/>
            <p:nvPr/>
          </p:nvSpPr>
          <p:spPr>
            <a:xfrm>
              <a:off x="6286500" y="1600200"/>
              <a:ext cx="5524500" cy="17907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512719" y="1842996"/>
              <a:ext cx="223837" cy="173923"/>
              <a:chOff x="6512719" y="1842996"/>
              <a:chExt cx="223837" cy="1739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12719" y="199777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12719" y="184299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12719" y="18621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19875" y="18621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27031" y="18621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867906" y="1824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读者主导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8618" y="22602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自解释逻辑、明确上下文、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8618" y="25269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更完整证据与可导航性。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3581400"/>
            <a:ext cx="5619750" cy="1790700"/>
            <a:chOff x="381000" y="3581400"/>
            <a:chExt cx="5619750" cy="1790700"/>
          </a:xfrm>
        </p:grpSpPr>
        <p:sp>
          <p:nvSpPr>
            <p:cNvPr id="28" name="Rectangle 28"/>
            <p:cNvSpPr/>
            <p:nvPr/>
          </p:nvSpPr>
          <p:spPr>
            <a:xfrm>
              <a:off x="381000" y="3581400"/>
              <a:ext cx="5619750" cy="17907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07219" y="3819525"/>
              <a:ext cx="214312" cy="190501"/>
              <a:chOff x="607219" y="3819525"/>
              <a:chExt cx="214312" cy="1905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85812" y="3819525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0" y="0"/>
                    </a:moveTo>
                    <a:lnTo>
                      <a:pt x="35719" y="35719"/>
                    </a:lnTo>
                    <a:lnTo>
                      <a:pt x="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5812" y="3938588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0" y="71438"/>
                    </a:moveTo>
                    <a:lnTo>
                      <a:pt x="35719" y="35719"/>
                    </a:ln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7219" y="3855244"/>
                <a:ext cx="21431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19062">
                    <a:moveTo>
                      <a:pt x="0" y="0"/>
                    </a:moveTo>
                    <a:lnTo>
                      <a:pt x="35719" y="0"/>
                    </a:lnTo>
                    <a:cubicBezTo>
                      <a:pt x="68597" y="0"/>
                      <a:pt x="95250" y="26653"/>
                      <a:pt x="95250" y="59531"/>
                    </a:cubicBezTo>
                    <a:cubicBezTo>
                      <a:pt x="95250" y="92409"/>
                      <a:pt x="121903" y="119062"/>
                      <a:pt x="154781" y="119062"/>
                    </a:cubicBezTo>
                    <a:lnTo>
                      <a:pt x="214312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7219" y="3855225"/>
                <a:ext cx="214312" cy="11909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19095">
                    <a:moveTo>
                      <a:pt x="214312" y="19"/>
                    </a:moveTo>
                    <a:lnTo>
                      <a:pt x="154781" y="19"/>
                    </a:lnTo>
                    <a:cubicBezTo>
                      <a:pt x="141897" y="0"/>
                      <a:pt x="129358" y="4180"/>
                      <a:pt x="119062" y="11925"/>
                    </a:cubicBezTo>
                    <a:moveTo>
                      <a:pt x="71438" y="107175"/>
                    </a:moveTo>
                    <a:cubicBezTo>
                      <a:pt x="61139" y="114916"/>
                      <a:pt x="48602" y="119095"/>
                      <a:pt x="35719" y="119081"/>
                    </a:cubicBezTo>
                    <a:lnTo>
                      <a:pt x="0" y="1190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62406" y="3806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混合场景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3118" y="42414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明确主要模式，用备注、附录或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3118" y="45081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补充细节服务次要模式。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86500" y="3581400"/>
            <a:ext cx="5524500" cy="1790700"/>
            <a:chOff x="6286500" y="3581400"/>
            <a:chExt cx="5524500" cy="1790700"/>
          </a:xfrm>
        </p:grpSpPr>
        <p:sp>
          <p:nvSpPr>
            <p:cNvPr id="38" name="Rectangle 38"/>
            <p:cNvSpPr/>
            <p:nvPr/>
          </p:nvSpPr>
          <p:spPr>
            <a:xfrm>
              <a:off x="6286500" y="3581400"/>
              <a:ext cx="5524500" cy="17907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524625" y="3819525"/>
              <a:ext cx="190500" cy="190500"/>
              <a:chOff x="6524625" y="3819525"/>
              <a:chExt cx="190500" cy="1905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24625" y="38195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66688" y="0"/>
                    </a:lnTo>
                    <a:cubicBezTo>
                      <a:pt x="179839" y="0"/>
                      <a:pt x="190500" y="10661"/>
                      <a:pt x="190500" y="23812"/>
                    </a:cubicBezTo>
                    <a:lnTo>
                      <a:pt x="190500" y="166688"/>
                    </a:lnTo>
                    <a:cubicBezTo>
                      <a:pt x="190500" y="179839"/>
                      <a:pt x="179839" y="190500"/>
                      <a:pt x="166688" y="190500"/>
                    </a:cubicBez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72250" y="38195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67500" y="38195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4625" y="38671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4625" y="3962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24625" y="39147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67500" y="38671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67500" y="3962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867906" y="3806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录制或自动播放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8618" y="42414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旁白、计时、转场、播放可靠性，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8618" y="4508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以及不依赖现场讲者。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72618" y="5651182"/>
            <a:ext cx="6480543" cy="627507"/>
            <a:chOff x="372618" y="5651182"/>
            <a:chExt cx="6480543" cy="627507"/>
          </a:xfrm>
        </p:grpSpPr>
        <p:sp>
          <p:nvSpPr>
            <p:cNvPr id="52" name="TextBox 52"/>
            <p:cNvSpPr txBox="1"/>
            <p:nvPr/>
          </p:nvSpPr>
          <p:spPr>
            <a:xfrm>
              <a:off x="372618" y="5651182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稀疏的演讲页当不了决策记录，密集的董事会页在大屏上讲不动——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2618" y="59559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必须先定主要场景，再决定信息密度与字体。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P09 / 17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71944" y="6499860"/>
              <a:ext cx="4645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来源：Microsoft — 备注 / 讲义 · 旁白与计时 · 共享与共同创作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70" t="0" r="371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chemeClr val="lt1">
              <a:alpha val="82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68046" y="673418"/>
            <a:ext cx="2841670" cy="1226439"/>
            <a:chOff x="368046" y="673418"/>
            <a:chExt cx="2841670" cy="1226439"/>
          </a:xfrm>
        </p:grpSpPr>
        <p:sp>
          <p:nvSpPr>
            <p:cNvPr id="4" name="Rectangle 4"/>
            <p:cNvSpPr/>
            <p:nvPr/>
          </p:nvSpPr>
          <p:spPr>
            <a:xfrm>
              <a:off x="381000" y="6858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7542" y="6734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原生结构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8046" y="1001078"/>
              <a:ext cx="28416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.pptx 是相互关联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8046" y="14011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部件组成的包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4142" y="2159318"/>
            <a:ext cx="2194560" cy="511683"/>
            <a:chOff x="374142" y="2159318"/>
            <a:chExt cx="2194560" cy="511683"/>
          </a:xfrm>
        </p:grpSpPr>
        <p:sp>
          <p:nvSpPr>
            <p:cNvPr id="9" name="TextBox 9"/>
            <p:cNvSpPr txBox="1"/>
            <p:nvPr/>
          </p:nvSpPr>
          <p:spPr>
            <a:xfrm>
              <a:off x="374142" y="2159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不是每页一张位图，也不是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4142" y="240696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一个巨大的单体 XML。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2819400"/>
            <a:ext cx="3147403" cy="344615"/>
            <a:chOff x="381000" y="2819400"/>
            <a:chExt cx="3147403" cy="344615"/>
          </a:xfrm>
        </p:grpSpPr>
        <p:sp>
          <p:nvSpPr>
            <p:cNvPr id="12" name="Rectangle 12"/>
            <p:cNvSpPr/>
            <p:nvPr/>
          </p:nvSpPr>
          <p:spPr>
            <a:xfrm>
              <a:off x="381000" y="2819400"/>
              <a:ext cx="762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2168" y="2841308"/>
              <a:ext cx="7125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Theme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8018" y="2841308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 / 字体 / 效果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3200400"/>
            <a:ext cx="2510028" cy="344615"/>
            <a:chOff x="381000" y="3200400"/>
            <a:chExt cx="2510028" cy="344615"/>
          </a:xfrm>
        </p:grpSpPr>
        <p:sp>
          <p:nvSpPr>
            <p:cNvPr id="16" name="Rectangle 16"/>
            <p:cNvSpPr/>
            <p:nvPr/>
          </p:nvSpPr>
          <p:spPr>
            <a:xfrm>
              <a:off x="381000" y="3200400"/>
              <a:ext cx="762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2168" y="3222308"/>
              <a:ext cx="1442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Master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0018" y="32223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母版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3581400"/>
            <a:ext cx="2510028" cy="344615"/>
            <a:chOff x="381000" y="3581400"/>
            <a:chExt cx="2510028" cy="344615"/>
          </a:xfrm>
        </p:grpSpPr>
        <p:sp>
          <p:nvSpPr>
            <p:cNvPr id="20" name="Rectangle 20"/>
            <p:cNvSpPr/>
            <p:nvPr/>
          </p:nvSpPr>
          <p:spPr>
            <a:xfrm>
              <a:off x="381000" y="3581400"/>
              <a:ext cx="762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2168" y="3603308"/>
              <a:ext cx="13951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Layout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30018" y="36033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1000" y="3962400"/>
            <a:ext cx="3747764" cy="344615"/>
            <a:chOff x="381000" y="3962400"/>
            <a:chExt cx="3747764" cy="344615"/>
          </a:xfrm>
        </p:grpSpPr>
        <p:sp>
          <p:nvSpPr>
            <p:cNvPr id="24" name="Rectangle 24"/>
            <p:cNvSpPr/>
            <p:nvPr/>
          </p:nvSpPr>
          <p:spPr>
            <a:xfrm>
              <a:off x="381000" y="3962400"/>
              <a:ext cx="762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2168" y="3984308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Slide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8018" y="3984308"/>
              <a:ext cx="24607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绑定某个 Layout 的实例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4343400"/>
            <a:ext cx="3400215" cy="344615"/>
            <a:chOff x="381000" y="4343400"/>
            <a:chExt cx="3400215" cy="344615"/>
          </a:xfrm>
        </p:grpSpPr>
        <p:sp>
          <p:nvSpPr>
            <p:cNvPr id="28" name="Rectangle 28"/>
            <p:cNvSpPr/>
            <p:nvPr/>
          </p:nvSpPr>
          <p:spPr>
            <a:xfrm>
              <a:off x="381000" y="4343400"/>
              <a:ext cx="762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2168" y="4365308"/>
              <a:ext cx="1573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Notes / Media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0518" y="436530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关系 · 行为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72618" y="4876800"/>
            <a:ext cx="4199382" cy="982789"/>
            <a:chOff x="372618" y="4876800"/>
            <a:chExt cx="4199382" cy="982789"/>
          </a:xfrm>
        </p:grpSpPr>
        <p:sp>
          <p:nvSpPr>
            <p:cNvPr id="32" name="Line 32"/>
            <p:cNvSpPr/>
            <p:nvPr/>
          </p:nvSpPr>
          <p:spPr>
            <a:xfrm>
              <a:off x="381000" y="48768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618" y="5041582"/>
              <a:ext cx="2586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层级：Theme → Master 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2618" y="5289232"/>
              <a:ext cx="2866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Layout → Slide，右图为等距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2618" y="5536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爆炸示意。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4904" y="6499860"/>
            <a:ext cx="41311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P10 / 17 · 来源：Microsoft PresentationML 结构指南</a:t>
            </a:r>
          </a:p>
        </p:txBody>
      </p:sp>
    </p:spTree>
  </p:cSld>
  <p:clrMapOvr>
    <a:masterClrMapping/>
  </p:clrMapOvr>
  <p:transition xmlns:p14="http://schemas.microsoft.com/office/powerpoint/2010/main" p14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4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4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4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4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4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4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4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4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部件职责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视觉上正确的截图，仍可能结构很差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81000" y="1764506"/>
            <a:ext cx="7124700" cy="359569"/>
            <a:chOff x="381000" y="1764506"/>
            <a:chExt cx="7124700" cy="359569"/>
          </a:xfrm>
        </p:grpSpPr>
        <p:grpSp>
          <p:nvGrpSpPr>
            <p:cNvPr id="11" name="Group 11"/>
            <p:cNvGrpSpPr/>
            <p:nvPr/>
          </p:nvGrpSpPr>
          <p:grpSpPr>
            <a:xfrm>
              <a:off x="450056" y="1764506"/>
              <a:ext cx="185737" cy="186260"/>
              <a:chOff x="450056" y="1764506"/>
              <a:chExt cx="185737" cy="18626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450056" y="1764506"/>
                <a:ext cx="185737" cy="186260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6260">
                    <a:moveTo>
                      <a:pt x="92868" y="185737"/>
                    </a:moveTo>
                    <a:cubicBezTo>
                      <a:pt x="41579" y="185737"/>
                      <a:pt x="0" y="144158"/>
                      <a:pt x="0" y="92868"/>
                    </a:cubicBezTo>
                    <a:cubicBezTo>
                      <a:pt x="0" y="41579"/>
                      <a:pt x="41579" y="0"/>
                      <a:pt x="92868" y="0"/>
                    </a:cubicBezTo>
                    <a:cubicBezTo>
                      <a:pt x="144152" y="0"/>
                      <a:pt x="185737" y="36962"/>
                      <a:pt x="185737" y="82550"/>
                    </a:cubicBezTo>
                    <a:cubicBezTo>
                      <a:pt x="185737" y="93488"/>
                      <a:pt x="180846" y="103992"/>
                      <a:pt x="172137" y="111731"/>
                    </a:cubicBezTo>
                    <a:cubicBezTo>
                      <a:pt x="163428" y="119470"/>
                      <a:pt x="151613" y="123825"/>
                      <a:pt x="139303" y="123825"/>
                    </a:cubicBezTo>
                    <a:lnTo>
                      <a:pt x="113506" y="123825"/>
                    </a:lnTo>
                    <a:cubicBezTo>
                      <a:pt x="104034" y="123672"/>
                      <a:pt x="95674" y="129988"/>
                      <a:pt x="93233" y="139142"/>
                    </a:cubicBezTo>
                    <a:cubicBezTo>
                      <a:pt x="90792" y="148296"/>
                      <a:pt x="94897" y="157936"/>
                      <a:pt x="103187" y="162520"/>
                    </a:cubicBezTo>
                    <a:cubicBezTo>
                      <a:pt x="107412" y="166418"/>
                      <a:pt x="108683" y="172574"/>
                      <a:pt x="106348" y="177826"/>
                    </a:cubicBezTo>
                    <a:cubicBezTo>
                      <a:pt x="104014" y="183079"/>
                      <a:pt x="98593" y="186260"/>
                      <a:pt x="92868" y="185737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96490" y="1831578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37765" y="1800622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9040" y="1831578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92480" y="1771650"/>
              <a:ext cx="3272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Theme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可复用的颜色、字体与效果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1000" y="21145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2266950"/>
            <a:ext cx="7124700" cy="352425"/>
            <a:chOff x="381000" y="2266950"/>
            <a:chExt cx="7124700" cy="352425"/>
          </a:xfrm>
        </p:grpSpPr>
        <p:grpSp>
          <p:nvGrpSpPr>
            <p:cNvPr id="20" name="Group 20"/>
            <p:cNvGrpSpPr/>
            <p:nvPr/>
          </p:nvGrpSpPr>
          <p:grpSpPr>
            <a:xfrm>
              <a:off x="460375" y="2270125"/>
              <a:ext cx="165099" cy="174624"/>
              <a:chOff x="460375" y="2270125"/>
              <a:chExt cx="165099" cy="1746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60375" y="2270125"/>
                <a:ext cx="16509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4127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54781" y="0"/>
                    </a:lnTo>
                    <a:cubicBezTo>
                      <a:pt x="160480" y="0"/>
                      <a:pt x="165099" y="4620"/>
                      <a:pt x="165099" y="10319"/>
                    </a:cubicBezTo>
                    <a:lnTo>
                      <a:pt x="165099" y="30956"/>
                    </a:lnTo>
                    <a:cubicBezTo>
                      <a:pt x="165099" y="36655"/>
                      <a:pt x="160480" y="41275"/>
                      <a:pt x="154781" y="41275"/>
                    </a:cubicBezTo>
                    <a:lnTo>
                      <a:pt x="10319" y="41275"/>
                    </a:lnTo>
                    <a:cubicBezTo>
                      <a:pt x="4620" y="41275"/>
                      <a:pt x="0" y="36655"/>
                      <a:pt x="0" y="3095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60375" y="2352675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2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63562" y="235267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63562" y="2393949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63562" y="243522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92480" y="2266950"/>
              <a:ext cx="4756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Master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一组 Layout 共同继承的格式与对象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81000" y="26098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1000" y="2762250"/>
            <a:ext cx="7124700" cy="352425"/>
            <a:chOff x="381000" y="2762250"/>
            <a:chExt cx="7124700" cy="352425"/>
          </a:xfrm>
        </p:grpSpPr>
        <p:grpSp>
          <p:nvGrpSpPr>
            <p:cNvPr id="27" name="Group 27"/>
            <p:cNvGrpSpPr/>
            <p:nvPr/>
          </p:nvGrpSpPr>
          <p:grpSpPr>
            <a:xfrm>
              <a:off x="460375" y="2765425"/>
              <a:ext cx="165099" cy="165099"/>
              <a:chOff x="460375" y="2765425"/>
              <a:chExt cx="165099" cy="1650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0375" y="2765425"/>
                <a:ext cx="61912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51594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lnTo>
                      <a:pt x="61912" y="30956"/>
                    </a:lnTo>
                    <a:cubicBezTo>
                      <a:pt x="61912" y="42354"/>
                      <a:pt x="52673" y="51594"/>
                      <a:pt x="41275" y="51594"/>
                    </a:cubicBezTo>
                    <a:lnTo>
                      <a:pt x="20637" y="51594"/>
                    </a:lnTo>
                    <a:cubicBezTo>
                      <a:pt x="9240" y="51594"/>
                      <a:pt x="0" y="42354"/>
                      <a:pt x="0" y="30956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0375" y="2858293"/>
                <a:ext cx="61912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72231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lnTo>
                      <a:pt x="61912" y="51594"/>
                    </a:lnTo>
                    <a:cubicBezTo>
                      <a:pt x="61912" y="62991"/>
                      <a:pt x="52673" y="72231"/>
                      <a:pt x="41275" y="72231"/>
                    </a:cubicBezTo>
                    <a:lnTo>
                      <a:pt x="20637" y="72231"/>
                    </a:lnTo>
                    <a:cubicBezTo>
                      <a:pt x="9240" y="72231"/>
                      <a:pt x="0" y="62991"/>
                      <a:pt x="0" y="51594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63562" y="2765425"/>
                <a:ext cx="6191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lnTo>
                      <a:pt x="61912" y="144462"/>
                    </a:lnTo>
                    <a:cubicBezTo>
                      <a:pt x="61912" y="155860"/>
                      <a:pt x="52673" y="165099"/>
                      <a:pt x="41275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92480" y="2762250"/>
              <a:ext cx="4701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Layout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某类页面的默认外观、位置与占位符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81000" y="31051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81000" y="3257550"/>
            <a:ext cx="7124700" cy="352425"/>
            <a:chOff x="381000" y="3257550"/>
            <a:chExt cx="7124700" cy="352425"/>
          </a:xfrm>
        </p:grpSpPr>
        <p:sp>
          <p:nvSpPr>
            <p:cNvPr id="31" name="Freeform 31"/>
            <p:cNvSpPr/>
            <p:nvPr/>
          </p:nvSpPr>
          <p:spPr>
            <a:xfrm>
              <a:off x="450056" y="3271044"/>
              <a:ext cx="185737" cy="144462"/>
            </a:xfrm>
            <a:custGeom>
              <a:avLst/>
              <a:gdLst/>
              <a:ahLst/>
              <a:cxnLst/>
              <a:rect l="l" t="t" r="r" b="b"/>
              <a:pathLst>
                <a:path w="185737" h="144462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23825"/>
                  </a:lnTo>
                  <a:cubicBezTo>
                    <a:pt x="185737" y="135222"/>
                    <a:pt x="176497" y="144462"/>
                    <a:pt x="165099" y="144462"/>
                  </a:cubicBezTo>
                  <a:lnTo>
                    <a:pt x="20637" y="144462"/>
                  </a:lnTo>
                  <a:cubicBezTo>
                    <a:pt x="9240" y="144462"/>
                    <a:pt x="0" y="135222"/>
                    <a:pt x="0" y="123825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2480" y="3257550"/>
              <a:ext cx="4025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Placeholder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预格式化、带类型的内容容器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81000" y="36004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81000" y="3745706"/>
            <a:ext cx="7124700" cy="359569"/>
            <a:chOff x="381000" y="3745706"/>
            <a:chExt cx="7124700" cy="359569"/>
          </a:xfrm>
        </p:grpSpPr>
        <p:sp>
          <p:nvSpPr>
            <p:cNvPr id="35" name="Freeform 35"/>
            <p:cNvSpPr/>
            <p:nvPr/>
          </p:nvSpPr>
          <p:spPr>
            <a:xfrm>
              <a:off x="450056" y="3745706"/>
              <a:ext cx="185737" cy="185737"/>
            </a:xfrm>
            <a:custGeom>
              <a:avLst/>
              <a:gdLst/>
              <a:ahLst/>
              <a:cxnLst/>
              <a:rect l="l" t="t" r="r" b="b"/>
              <a:pathLst>
                <a:path w="185737" h="185737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65099"/>
                  </a:lnTo>
                  <a:cubicBezTo>
                    <a:pt x="185737" y="176497"/>
                    <a:pt x="176497" y="185737"/>
                    <a:pt x="165099" y="185737"/>
                  </a:cubicBezTo>
                  <a:lnTo>
                    <a:pt x="20637" y="185737"/>
                  </a:lnTo>
                  <a:cubicBezTo>
                    <a:pt x="9240" y="185737"/>
                    <a:pt x="0" y="176497"/>
                    <a:pt x="0" y="165099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2480" y="3752850"/>
              <a:ext cx="4146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Slide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绑定某个 Layout 的一次具体内容实例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81000" y="40957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381000" y="4241006"/>
            <a:ext cx="7124700" cy="359569"/>
            <a:chOff x="381000" y="4241006"/>
            <a:chExt cx="7124700" cy="359569"/>
          </a:xfrm>
        </p:grpSpPr>
        <p:grpSp>
          <p:nvGrpSpPr>
            <p:cNvPr id="43" name="Group 43"/>
            <p:cNvGrpSpPr/>
            <p:nvPr/>
          </p:nvGrpSpPr>
          <p:grpSpPr>
            <a:xfrm>
              <a:off x="470694" y="4241006"/>
              <a:ext cx="144462" cy="185737"/>
              <a:chOff x="470694" y="4241006"/>
              <a:chExt cx="144462" cy="18573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70694" y="424100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23825" y="0"/>
                    </a:lnTo>
                    <a:cubicBezTo>
                      <a:pt x="135222" y="0"/>
                      <a:pt x="144462" y="9240"/>
                      <a:pt x="144462" y="20637"/>
                    </a:cubicBez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11968" y="4282281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11968" y="4323556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11968" y="4364831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92480" y="4248150"/>
              <a:ext cx="46174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Notes / Handouts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页面之外的演讲者与受众通道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81000" y="45910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381000" y="4741583"/>
            <a:ext cx="7124700" cy="354292"/>
            <a:chOff x="381000" y="4741583"/>
            <a:chExt cx="7124700" cy="354292"/>
          </a:xfrm>
        </p:grpSpPr>
        <p:grpSp>
          <p:nvGrpSpPr>
            <p:cNvPr id="50" name="Group 50"/>
            <p:cNvGrpSpPr/>
            <p:nvPr/>
          </p:nvGrpSpPr>
          <p:grpSpPr>
            <a:xfrm>
              <a:off x="460373" y="4741583"/>
              <a:ext cx="170128" cy="175162"/>
              <a:chOff x="460373" y="4741583"/>
              <a:chExt cx="170128" cy="17516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11968" y="479821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32606" y="4741583"/>
                <a:ext cx="97895" cy="97910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0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6" y="20154"/>
                    </a:cubicBezTo>
                    <a:cubicBezTo>
                      <a:pt x="97895" y="40305"/>
                      <a:pt x="97892" y="72974"/>
                      <a:pt x="77741" y="93122"/>
                    </a:cubicBezTo>
                    <a:lnTo>
                      <a:pt x="72231" y="9791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60373" y="481885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3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6"/>
                      <a:pt x="0" y="41259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92480" y="4743450"/>
              <a:ext cx="3470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Package relationships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连接各部件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381000" y="50863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91331" y="5238750"/>
            <a:ext cx="5641706" cy="293370"/>
            <a:chOff x="491331" y="5238750"/>
            <a:chExt cx="5641706" cy="293370"/>
          </a:xfrm>
        </p:grpSpPr>
        <p:sp>
          <p:nvSpPr>
            <p:cNvPr id="54" name="Freeform 54"/>
            <p:cNvSpPr/>
            <p:nvPr/>
          </p:nvSpPr>
          <p:spPr>
            <a:xfrm>
              <a:off x="491331" y="5241925"/>
              <a:ext cx="134143" cy="165099"/>
            </a:xfrm>
            <a:custGeom>
              <a:avLst/>
              <a:gdLst/>
              <a:ahLst/>
              <a:cxnLst/>
              <a:rect l="l" t="t" r="r" b="b"/>
              <a:pathLst>
                <a:path w="134143" h="165099">
                  <a:moveTo>
                    <a:pt x="0" y="0"/>
                  </a:moveTo>
                  <a:lnTo>
                    <a:pt x="0" y="165099"/>
                  </a:lnTo>
                  <a:lnTo>
                    <a:pt x="134143" y="82550"/>
                  </a:lnTo>
                  <a:lnTo>
                    <a:pt x="0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2480" y="5238750"/>
              <a:ext cx="5340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Presentation behavior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　顺序、转场、动画、旁白与计时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734300" y="1695450"/>
            <a:ext cx="4076700" cy="4400550"/>
            <a:chOff x="7734300" y="1695450"/>
            <a:chExt cx="4076700" cy="4400550"/>
          </a:xfrm>
        </p:grpSpPr>
        <p:sp>
          <p:nvSpPr>
            <p:cNvPr id="57" name="Rectangle 57"/>
            <p:cNvSpPr/>
            <p:nvPr/>
          </p:nvSpPr>
          <p:spPr>
            <a:xfrm>
              <a:off x="7734300" y="1695450"/>
              <a:ext cx="4076700" cy="440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34300" y="1695450"/>
              <a:ext cx="40767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89570" y="20431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视觉正确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89570" y="2462212"/>
              <a:ext cx="15047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≠ 结构良好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001000" y="29718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992618" y="3174682"/>
              <a:ext cx="2637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真正可用的 deck 还需要：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92618" y="3555682"/>
              <a:ext cx="1749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合理的对象边界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92618" y="3860482"/>
              <a:ext cx="219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继承关系与可编辑性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92618" y="4165282"/>
              <a:ext cx="861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包关系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92618" y="4470082"/>
              <a:ext cx="1083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演示行为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001000" y="49530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92618" y="5155882"/>
              <a:ext cx="24238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Microsoft 明确把 Slide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92618" y="5422582"/>
              <a:ext cx="26976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Layout 置于 Slide Master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92618" y="56892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之下。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72" name="TextBox 72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P11 / 17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39840" y="6499860"/>
              <a:ext cx="297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来源：Microsoft — 什么是 Slide Layout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8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40"/>
                            </p:stCondLst>
                            <p:childTnLst>
                              <p:par>
                                <p:cTn xmlns:p="http://schemas.openxmlformats.org/presentationml/2006/main" id="33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37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9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模板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模板存在，是因为某种东西预计会重复出现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81000" y="1600200"/>
            <a:ext cx="5524500" cy="1104900"/>
            <a:chOff x="381000" y="1600200"/>
            <a:chExt cx="5524500" cy="11049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5524500" cy="11049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1808798"/>
              <a:ext cx="14567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Theme 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2241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提供协调的颜色、字体与效果。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600200"/>
            <a:ext cx="5524500" cy="1104900"/>
            <a:chOff x="6286500" y="1600200"/>
            <a:chExt cx="5524500" cy="1104900"/>
          </a:xfrm>
        </p:grpSpPr>
        <p:sp>
          <p:nvSpPr>
            <p:cNvPr id="11" name="Rectangle 11"/>
            <p:cNvSpPr/>
            <p:nvPr/>
          </p:nvSpPr>
          <p:spPr>
            <a:xfrm>
              <a:off x="6286500" y="1600200"/>
              <a:ext cx="5524500" cy="1104900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05194" y="1808798"/>
              <a:ext cx="18393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Template 模板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06718" y="2241232"/>
              <a:ext cx="4633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在 Theme 之上，增加面向用途的内容与结构。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3086100"/>
            <a:ext cx="10661609" cy="609600"/>
            <a:chOff x="381000" y="3086100"/>
            <a:chExt cx="10661609" cy="609600"/>
          </a:xfrm>
        </p:grpSpPr>
        <p:sp>
          <p:nvSpPr>
            <p:cNvPr id="15" name="Rectangle 15"/>
            <p:cNvSpPr/>
            <p:nvPr/>
          </p:nvSpPr>
          <p:spPr>
            <a:xfrm>
              <a:off x="381000" y="3086100"/>
              <a:ext cx="5715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4370" y="3243262"/>
              <a:ext cx="103682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“模板之所以存在，是因为某种演示身份、结构或沟通场景预计会重复出现。”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4142" y="4159568"/>
            <a:ext cx="2739771" cy="264033"/>
            <a:chOff x="374142" y="4159568"/>
            <a:chExt cx="2739771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374142" y="41595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一个模板可组合多个可复用层次：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4476750"/>
            <a:ext cx="2705100" cy="1428750"/>
            <a:chOff x="381000" y="4476750"/>
            <a:chExt cx="27051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381000" y="4476750"/>
              <a:ext cx="2705100" cy="14287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07219" y="4702969"/>
              <a:ext cx="214312" cy="214917"/>
              <a:chOff x="607219" y="4702969"/>
              <a:chExt cx="214312" cy="21491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07219" y="4702969"/>
                <a:ext cx="214312" cy="214917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917">
                    <a:moveTo>
                      <a:pt x="107156" y="214312"/>
                    </a:moveTo>
                    <a:cubicBezTo>
                      <a:pt x="47975" y="214312"/>
                      <a:pt x="0" y="166337"/>
                      <a:pt x="0" y="107156"/>
                    </a:cubicBezTo>
                    <a:cubicBezTo>
                      <a:pt x="0" y="47975"/>
                      <a:pt x="47975" y="0"/>
                      <a:pt x="107156" y="0"/>
                    </a:cubicBezTo>
                    <a:cubicBezTo>
                      <a:pt x="166330" y="0"/>
                      <a:pt x="214312" y="42648"/>
                      <a:pt x="214312" y="95250"/>
                    </a:cubicBezTo>
                    <a:cubicBezTo>
                      <a:pt x="214312" y="107871"/>
                      <a:pt x="208669" y="119991"/>
                      <a:pt x="198620" y="128921"/>
                    </a:cubicBezTo>
                    <a:cubicBezTo>
                      <a:pt x="188571" y="137851"/>
                      <a:pt x="174939" y="142875"/>
                      <a:pt x="160734" y="142875"/>
                    </a:cubicBezTo>
                    <a:lnTo>
                      <a:pt x="130969" y="142875"/>
                    </a:lnTo>
                    <a:cubicBezTo>
                      <a:pt x="120039" y="142699"/>
                      <a:pt x="110393" y="149987"/>
                      <a:pt x="107577" y="160549"/>
                    </a:cubicBezTo>
                    <a:cubicBezTo>
                      <a:pt x="104760" y="171111"/>
                      <a:pt x="109496" y="182234"/>
                      <a:pt x="119062" y="187523"/>
                    </a:cubicBezTo>
                    <a:cubicBezTo>
                      <a:pt x="123937" y="192021"/>
                      <a:pt x="125404" y="199124"/>
                      <a:pt x="122710" y="205185"/>
                    </a:cubicBezTo>
                    <a:cubicBezTo>
                      <a:pt x="120017" y="211246"/>
                      <a:pt x="113761" y="214917"/>
                      <a:pt x="107156" y="2143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0797" y="478035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8422" y="4744641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56047" y="478035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62356" y="5044440"/>
              <a:ext cx="777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46068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 / 字体 / 效果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276600" y="4476750"/>
            <a:ext cx="2705100" cy="1428750"/>
            <a:chOff x="3276600" y="4476750"/>
            <a:chExt cx="2705100" cy="1428750"/>
          </a:xfrm>
        </p:grpSpPr>
        <p:sp>
          <p:nvSpPr>
            <p:cNvPr id="29" name="Rectangle 29"/>
            <p:cNvSpPr/>
            <p:nvPr/>
          </p:nvSpPr>
          <p:spPr>
            <a:xfrm>
              <a:off x="3276600" y="4476750"/>
              <a:ext cx="2705100" cy="14287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514725" y="4714875"/>
              <a:ext cx="190501" cy="200025"/>
              <a:chOff x="3514725" y="4714875"/>
              <a:chExt cx="190501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3514725" y="4714875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178594" y="0"/>
                    </a:lnTo>
                    <a:cubicBezTo>
                      <a:pt x="185169" y="0"/>
                      <a:pt x="190500" y="5331"/>
                      <a:pt x="190500" y="11906"/>
                    </a:cubicBezTo>
                    <a:lnTo>
                      <a:pt x="190500" y="35719"/>
                    </a:lnTo>
                    <a:cubicBezTo>
                      <a:pt x="190500" y="42294"/>
                      <a:pt x="185169" y="47625"/>
                      <a:pt x="178594" y="47625"/>
                    </a:cubicBezTo>
                    <a:lnTo>
                      <a:pt x="11906" y="47625"/>
                    </a:lnTo>
                    <a:cubicBezTo>
                      <a:pt x="5331" y="47625"/>
                      <a:pt x="0" y="42294"/>
                      <a:pt x="0" y="3571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514725" y="4810125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633788" y="48101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633788" y="48577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633788" y="49053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457956" y="5044440"/>
              <a:ext cx="1573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Master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58718" y="54606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共用格式与对象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2200" y="4476750"/>
            <a:ext cx="2705100" cy="1428750"/>
            <a:chOff x="6172200" y="4476750"/>
            <a:chExt cx="2705100" cy="1428750"/>
          </a:xfrm>
        </p:grpSpPr>
        <p:sp>
          <p:nvSpPr>
            <p:cNvPr id="39" name="Rectangle 39"/>
            <p:cNvSpPr/>
            <p:nvPr/>
          </p:nvSpPr>
          <p:spPr>
            <a:xfrm>
              <a:off x="6172200" y="4476750"/>
              <a:ext cx="2705100" cy="14287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10325" y="4714875"/>
              <a:ext cx="190501" cy="190500"/>
              <a:chOff x="6410325" y="4714875"/>
              <a:chExt cx="190501" cy="190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10325" y="4714875"/>
                <a:ext cx="7143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59531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35719"/>
                    </a:lnTo>
                    <a:cubicBezTo>
                      <a:pt x="71438" y="48870"/>
                      <a:pt x="60776" y="59531"/>
                      <a:pt x="47625" y="59531"/>
                    </a:cubicBezTo>
                    <a:lnTo>
                      <a:pt x="23812" y="59531"/>
                    </a:lnTo>
                    <a:cubicBezTo>
                      <a:pt x="10661" y="59531"/>
                      <a:pt x="0" y="48870"/>
                      <a:pt x="0" y="35719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10325" y="4822031"/>
                <a:ext cx="71438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59531"/>
                    </a:lnTo>
                    <a:cubicBezTo>
                      <a:pt x="71438" y="72683"/>
                      <a:pt x="60776" y="83344"/>
                      <a:pt x="47625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9388" y="4714875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166688"/>
                    </a:lnTo>
                    <a:cubicBezTo>
                      <a:pt x="71438" y="179839"/>
                      <a:pt x="60776" y="190500"/>
                      <a:pt x="47625" y="190500"/>
                    </a:cubicBez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353556" y="5044440"/>
              <a:ext cx="1522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Layout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54318" y="5460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占位符与构图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67800" y="4476750"/>
            <a:ext cx="2743200" cy="1428750"/>
            <a:chOff x="9067800" y="4476750"/>
            <a:chExt cx="2743200" cy="1428750"/>
          </a:xfrm>
        </p:grpSpPr>
        <p:sp>
          <p:nvSpPr>
            <p:cNvPr id="47" name="Rectangle 47"/>
            <p:cNvSpPr/>
            <p:nvPr/>
          </p:nvSpPr>
          <p:spPr>
            <a:xfrm>
              <a:off x="9067800" y="4476750"/>
              <a:ext cx="2743200" cy="142875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9317831" y="4702969"/>
              <a:ext cx="166688" cy="214312"/>
              <a:chOff x="9317831" y="4702969"/>
              <a:chExt cx="166688" cy="21431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424988" y="47029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317831" y="470296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365456" y="4774406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365456" y="482203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365456" y="4869656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249156" y="5044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预置内容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49918" y="54606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起始页、示例与指引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P12 / 17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43269" y="6499860"/>
              <a:ext cx="547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视觉相似不会自动形成模板 · 来源：Microsoft Theme 与 Template 的区别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80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4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4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4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4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4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8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80"/>
                            </p:stCondLst>
                            <p:childTnLst>
                              <p:par>
                                <p:cTn xmlns:p="http://schemas.openxmlformats.org/presentationml/2006/main" id="1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2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60"/>
                            </p:stCondLst>
                            <p:childTnLst>
                              <p:par>
                                <p:cTn xmlns:p="http://schemas.openxmlformats.org/presentationml/2006/main" id="26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34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00"/>
                            </p:stCondLst>
                            <p:childTnLst>
                              <p:par>
                                <p:cTn xmlns:p="http://schemas.openxmlformats.org/presentationml/2006/main" id="30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3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140"/>
                            </p:stCondLst>
                            <p:childTnLst>
                              <p:par>
                                <p:cTn xmlns:p="http://schemas.openxmlformats.org/presentationml/2006/main" id="34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9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质量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72111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好的 deck，不能只用“视觉精美”来定义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745932"/>
            <a:ext cx="7620000" cy="359093"/>
            <a:chOff x="381000" y="1745932"/>
            <a:chExt cx="7620000" cy="359093"/>
          </a:xfrm>
        </p:grpSpPr>
        <p:grpSp>
          <p:nvGrpSpPr>
            <p:cNvPr id="11" name="Group 11"/>
            <p:cNvGrpSpPr/>
            <p:nvPr/>
          </p:nvGrpSpPr>
          <p:grpSpPr>
            <a:xfrm>
              <a:off x="474663" y="1758950"/>
              <a:ext cx="166687" cy="188913"/>
              <a:chOff x="474663" y="1758950"/>
              <a:chExt cx="166687" cy="1889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474663" y="1758950"/>
                <a:ext cx="13335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1">
                    <a:moveTo>
                      <a:pt x="51284" y="177801"/>
                    </a:move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74675" y="19034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19113" y="180340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19113" y="18478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29818" y="17459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事实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6118" y="17459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论断、数值、来源与概念区分是否正确？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81000" y="20955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2298382"/>
            <a:ext cx="7620000" cy="359093"/>
            <a:chOff x="381000" y="2298382"/>
            <a:chExt cx="7620000" cy="359093"/>
          </a:xfrm>
        </p:grpSpPr>
        <p:grpSp>
          <p:nvGrpSpPr>
            <p:cNvPr id="19" name="Group 19"/>
            <p:cNvGrpSpPr/>
            <p:nvPr/>
          </p:nvGrpSpPr>
          <p:grpSpPr>
            <a:xfrm>
              <a:off x="452438" y="2311400"/>
              <a:ext cx="200026" cy="188913"/>
              <a:chOff x="452438" y="2311400"/>
              <a:chExt cx="200026" cy="1889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8000" y="23669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000" y="24114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438" y="2311400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66675" y="155575"/>
                    </a:move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133350" y="155575"/>
                    </a:lnTo>
                    <a:lnTo>
                      <a:pt x="100013" y="188913"/>
                    </a:lnTo>
                    <a:lnTo>
                      <a:pt x="66675" y="15557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29818" y="22983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沟通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118" y="22983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受众、结果、核心信息与行动是否明确？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81000" y="26479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381000" y="2850832"/>
            <a:ext cx="7620000" cy="359093"/>
            <a:chOff x="381000" y="2850832"/>
            <a:chExt cx="7620000" cy="359093"/>
          </a:xfrm>
        </p:grpSpPr>
        <p:grpSp>
          <p:nvGrpSpPr>
            <p:cNvPr id="27" name="Group 27"/>
            <p:cNvGrpSpPr/>
            <p:nvPr/>
          </p:nvGrpSpPr>
          <p:grpSpPr>
            <a:xfrm>
              <a:off x="452438" y="2852738"/>
              <a:ext cx="200025" cy="200025"/>
              <a:chOff x="452438" y="2852738"/>
              <a:chExt cx="200025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52438" y="30083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8013" y="28527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663" y="287496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29818" y="2850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叙事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6118" y="28508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页面顺序是否形成预期的理解或决策？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81000" y="32004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381000" y="3403282"/>
            <a:ext cx="7620000" cy="359093"/>
            <a:chOff x="381000" y="3403282"/>
            <a:chExt cx="7620000" cy="359093"/>
          </a:xfrm>
        </p:grpSpPr>
        <p:grpSp>
          <p:nvGrpSpPr>
            <p:cNvPr id="38" name="Group 38"/>
            <p:cNvGrpSpPr/>
            <p:nvPr/>
          </p:nvGrpSpPr>
          <p:grpSpPr>
            <a:xfrm>
              <a:off x="452438" y="3405188"/>
              <a:ext cx="200025" cy="200025"/>
              <a:chOff x="452438" y="3405188"/>
              <a:chExt cx="200025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52450" y="351631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74663" y="351631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08013" y="347186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52450" y="340518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52438" y="347186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4663" y="340518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29818" y="34032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认知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6118" y="3403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能否不过载地感知、处理并连接信息？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81000" y="37528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381000" y="3955732"/>
            <a:ext cx="7620000" cy="359093"/>
            <a:chOff x="381000" y="3955732"/>
            <a:chExt cx="7620000" cy="359093"/>
          </a:xfrm>
        </p:grpSpPr>
        <p:grpSp>
          <p:nvGrpSpPr>
            <p:cNvPr id="45" name="Group 45"/>
            <p:cNvGrpSpPr/>
            <p:nvPr/>
          </p:nvGrpSpPr>
          <p:grpSpPr>
            <a:xfrm>
              <a:off x="452438" y="3990975"/>
              <a:ext cx="200026" cy="133350"/>
              <a:chOff x="452438" y="3990975"/>
              <a:chExt cx="200026" cy="13335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30225" y="40354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52438" y="399097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29818" y="3955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视觉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06118" y="39557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层级、字体、留白、图像是否服务含义？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381000" y="43053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381000" y="4505209"/>
            <a:ext cx="7620000" cy="362066"/>
            <a:chOff x="381000" y="4505209"/>
            <a:chExt cx="7620000" cy="362066"/>
          </a:xfrm>
        </p:grpSpPr>
        <p:grpSp>
          <p:nvGrpSpPr>
            <p:cNvPr id="52" name="Group 52"/>
            <p:cNvGrpSpPr/>
            <p:nvPr/>
          </p:nvGrpSpPr>
          <p:grpSpPr>
            <a:xfrm>
              <a:off x="447559" y="4505209"/>
              <a:ext cx="209782" cy="209782"/>
              <a:chOff x="447559" y="4505209"/>
              <a:chExt cx="209782" cy="20978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47559" y="4505209"/>
                <a:ext cx="209782" cy="209782"/>
              </a:xfrm>
              <a:custGeom>
                <a:avLst/>
                <a:gdLst/>
                <a:ahLst/>
                <a:cxnLst/>
                <a:rect l="l" t="t" r="r" b="b"/>
                <a:pathLst>
                  <a:path w="209782" h="209782">
                    <a:moveTo>
                      <a:pt x="86278" y="19514"/>
                    </a:moveTo>
                    <a:cubicBezTo>
                      <a:pt x="91012" y="0"/>
                      <a:pt x="118771" y="0"/>
                      <a:pt x="123505" y="19514"/>
                    </a:cubicBezTo>
                    <a:cubicBezTo>
                      <a:pt x="124945" y="25459"/>
                      <a:pt x="129139" y="30360"/>
                      <a:pt x="134791" y="32701"/>
                    </a:cubicBezTo>
                    <a:cubicBezTo>
                      <a:pt x="140443" y="35043"/>
                      <a:pt x="146874" y="34544"/>
                      <a:pt x="152097" y="31360"/>
                    </a:cubicBezTo>
                    <a:cubicBezTo>
                      <a:pt x="169244" y="20914"/>
                      <a:pt x="188880" y="40539"/>
                      <a:pt x="178434" y="57696"/>
                    </a:cubicBezTo>
                    <a:cubicBezTo>
                      <a:pt x="175254" y="62918"/>
                      <a:pt x="174756" y="69343"/>
                      <a:pt x="177095" y="74992"/>
                    </a:cubicBezTo>
                    <a:cubicBezTo>
                      <a:pt x="179434" y="80640"/>
                      <a:pt x="184328" y="84833"/>
                      <a:pt x="190269" y="86278"/>
                    </a:cubicBezTo>
                    <a:cubicBezTo>
                      <a:pt x="209782" y="91012"/>
                      <a:pt x="209782" y="118771"/>
                      <a:pt x="190269" y="123505"/>
                    </a:cubicBezTo>
                    <a:cubicBezTo>
                      <a:pt x="184323" y="124945"/>
                      <a:pt x="179423" y="129139"/>
                      <a:pt x="177081" y="134791"/>
                    </a:cubicBezTo>
                    <a:cubicBezTo>
                      <a:pt x="174739" y="140443"/>
                      <a:pt x="175238" y="146874"/>
                      <a:pt x="178423" y="152097"/>
                    </a:cubicBezTo>
                    <a:cubicBezTo>
                      <a:pt x="188869" y="169244"/>
                      <a:pt x="169244" y="188880"/>
                      <a:pt x="152086" y="178434"/>
                    </a:cubicBezTo>
                    <a:cubicBezTo>
                      <a:pt x="146865" y="175254"/>
                      <a:pt x="140439" y="174756"/>
                      <a:pt x="134791" y="177095"/>
                    </a:cubicBezTo>
                    <a:cubicBezTo>
                      <a:pt x="129142" y="179434"/>
                      <a:pt x="124949" y="184328"/>
                      <a:pt x="123505" y="190269"/>
                    </a:cubicBezTo>
                    <a:cubicBezTo>
                      <a:pt x="118771" y="209782"/>
                      <a:pt x="91012" y="209782"/>
                      <a:pt x="86278" y="190269"/>
                    </a:cubicBezTo>
                    <a:cubicBezTo>
                      <a:pt x="84837" y="184323"/>
                      <a:pt x="80643" y="179423"/>
                      <a:pt x="74991" y="177081"/>
                    </a:cubicBezTo>
                    <a:cubicBezTo>
                      <a:pt x="69339" y="174739"/>
                      <a:pt x="62909" y="175238"/>
                      <a:pt x="57685" y="178423"/>
                    </a:cubicBezTo>
                    <a:cubicBezTo>
                      <a:pt x="40539" y="188869"/>
                      <a:pt x="20903" y="169244"/>
                      <a:pt x="31348" y="152086"/>
                    </a:cubicBezTo>
                    <a:cubicBezTo>
                      <a:pt x="34529" y="146865"/>
                      <a:pt x="35026" y="140439"/>
                      <a:pt x="32687" y="134791"/>
                    </a:cubicBezTo>
                    <a:cubicBezTo>
                      <a:pt x="30348" y="129142"/>
                      <a:pt x="25454" y="124949"/>
                      <a:pt x="19514" y="123505"/>
                    </a:cubicBezTo>
                    <a:cubicBezTo>
                      <a:pt x="0" y="118771"/>
                      <a:pt x="0" y="91012"/>
                      <a:pt x="19514" y="86278"/>
                    </a:cubicBezTo>
                    <a:cubicBezTo>
                      <a:pt x="25459" y="84837"/>
                      <a:pt x="30360" y="80643"/>
                      <a:pt x="32701" y="74991"/>
                    </a:cubicBezTo>
                    <a:cubicBezTo>
                      <a:pt x="35043" y="69339"/>
                      <a:pt x="34544" y="62909"/>
                      <a:pt x="31360" y="57685"/>
                    </a:cubicBezTo>
                    <a:cubicBezTo>
                      <a:pt x="20914" y="40539"/>
                      <a:pt x="40539" y="20903"/>
                      <a:pt x="57696" y="31348"/>
                    </a:cubicBezTo>
                    <a:cubicBezTo>
                      <a:pt x="68809" y="38105"/>
                      <a:pt x="83211" y="32126"/>
                      <a:pt x="86278" y="19514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19113" y="45767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29818" y="45081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原生与运行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68118" y="45081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能否可靠演示、编辑、评审、复用与交付？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381000" y="48577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373380" y="5057775"/>
            <a:ext cx="3448050" cy="293370"/>
            <a:chOff x="373380" y="5057775"/>
            <a:chExt cx="3448050" cy="293370"/>
          </a:xfrm>
        </p:grpSpPr>
        <p:sp>
          <p:nvSpPr>
            <p:cNvPr id="57" name="TextBox 57"/>
            <p:cNvSpPr txBox="1"/>
            <p:nvPr/>
          </p:nvSpPr>
          <p:spPr>
            <a:xfrm>
              <a:off x="373380" y="50577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质量至少含六个层次，视觉只是其一。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577326" y="1676400"/>
            <a:ext cx="3228848" cy="4324350"/>
            <a:chOff x="8577326" y="1676400"/>
            <a:chExt cx="3228848" cy="432435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7326" y="1676400"/>
              <a:ext cx="3228848" cy="4324350"/>
            </a:xfrm>
            <a:prstGeom prst="rect">
              <a:avLst/>
            </a:prstGeom>
          </p:spPr>
        </p:pic>
      </p:grpSp>
      <p:grpSp>
        <p:nvGrpSpPr>
          <p:cNvPr id="64" name="Group 64"/>
          <p:cNvGrpSpPr/>
          <p:nvPr/>
        </p:nvGrpSpPr>
        <p:grpSpPr>
          <a:xfrm>
            <a:off x="381000" y="5676900"/>
            <a:ext cx="4091940" cy="588645"/>
            <a:chOff x="381000" y="5676900"/>
            <a:chExt cx="4091940" cy="588645"/>
          </a:xfrm>
        </p:grpSpPr>
        <p:sp>
          <p:nvSpPr>
            <p:cNvPr id="61" name="Rectangle 61"/>
            <p:cNvSpPr/>
            <p:nvPr/>
          </p:nvSpPr>
          <p:spPr>
            <a:xfrm>
              <a:off x="381000" y="5676900"/>
              <a:ext cx="5715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1030" y="57435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每个元素都应帮助目标受众，在目标场景中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1030" y="5972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完成目标认知或组织任务。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4904" y="6499860"/>
            <a:ext cx="42879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P13 / 17 · 质量是由场景决定的原则，不是万能页面公式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2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4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8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3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6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440"/>
                            </p:stCondLst>
                            <p:childTnLst>
                              <p:par>
                                <p:cTn xmlns:p="http://schemas.openxmlformats.org/presentationml/2006/main" id="26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920"/>
                            </p:stCondLst>
                            <p:childTnLst>
                              <p:par>
                                <p:cTn xmlns:p="http://schemas.openxmlformats.org/presentationml/2006/main" id="30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3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880"/>
                            </p:stCondLst>
                            <p:childTnLst>
                              <p:par>
                                <p:cTn xmlns:p="http://schemas.openxmlformats.org/presentationml/2006/main" id="38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9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53432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研究并不支持“图片越多越好”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1856" y="1710690"/>
            <a:ext cx="9492844" cy="352044"/>
            <a:chOff x="371856" y="1710690"/>
            <a:chExt cx="949284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371856" y="1710690"/>
              <a:ext cx="9492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好的文字与图形组合能改善理解，但无关的图片与声音会损害记忆——人的处理容量有限。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2152650"/>
            <a:ext cx="3676650" cy="3771900"/>
            <a:chOff x="381000" y="2152650"/>
            <a:chExt cx="3676650" cy="3771900"/>
          </a:xfrm>
        </p:grpSpPr>
        <p:sp>
          <p:nvSpPr>
            <p:cNvPr id="9" name="Rectangle 9"/>
            <p:cNvSpPr/>
            <p:nvPr/>
          </p:nvSpPr>
          <p:spPr>
            <a:xfrm>
              <a:off x="381000" y="2152650"/>
              <a:ext cx="3676650" cy="37719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2648" y="24793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20" y="3052762"/>
              <a:ext cx="9716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Mayer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1792" y="3454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《多媒体学习》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28650" y="3790950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9525">
              <a:solidFill>
                <a:srgbClr val="D8D2C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9506" y="4053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设计良好的文字与图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9506" y="4415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形组合可改善理解；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9506" y="4777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但人的信息处理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9506" y="5139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容量是有限的。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48150" y="2152650"/>
            <a:ext cx="3676650" cy="3771900"/>
            <a:chOff x="4248150" y="2152650"/>
            <a:chExt cx="3676650" cy="3771900"/>
          </a:xfrm>
        </p:grpSpPr>
        <p:sp>
          <p:nvSpPr>
            <p:cNvPr id="19" name="Rectangle 19"/>
            <p:cNvSpPr/>
            <p:nvPr/>
          </p:nvSpPr>
          <p:spPr>
            <a:xfrm>
              <a:off x="4248150" y="2152650"/>
              <a:ext cx="3676650" cy="37719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9798" y="24793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4370" y="3052762"/>
              <a:ext cx="26855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Bartsch &amp; Cobern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8942" y="3454718"/>
              <a:ext cx="2044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课堂 PowerPoint 有效性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495800" y="3790950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9525">
              <a:solidFill>
                <a:srgbClr val="D8D2C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86656" y="4053840"/>
              <a:ext cx="22360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即使 PowerPoint 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6656" y="4415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身有帮助，不相关的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6656" y="4777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图片和声音仍会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6656" y="5139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损害记忆与学习。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15300" y="2152650"/>
            <a:ext cx="3695700" cy="3771900"/>
            <a:chOff x="8115300" y="2152650"/>
            <a:chExt cx="3695700" cy="3771900"/>
          </a:xfrm>
        </p:grpSpPr>
        <p:sp>
          <p:nvSpPr>
            <p:cNvPr id="29" name="Rectangle 29"/>
            <p:cNvSpPr/>
            <p:nvPr/>
          </p:nvSpPr>
          <p:spPr>
            <a:xfrm>
              <a:off x="8115300" y="2152650"/>
              <a:ext cx="3695700" cy="3771900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46948" y="24793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51520" y="3052762"/>
              <a:ext cx="157858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Kosslyn 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56092" y="3454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A6"/>
                  </a:solidFill>
                  <a:latin typeface="+mn-lt"/>
                  <a:ea typeface="+mn-ea"/>
                  <a:cs typeface="+mn-cs"/>
                </a:rPr>
                <a:t>演示缺陷的心理学分析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362950" y="3790950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9525">
              <a:solidFill>
                <a:srgbClr val="3A4E7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53806" y="4053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1EA"/>
                  </a:solidFill>
                  <a:latin typeface="+mj-lt"/>
                  <a:ea typeface="+mj-ea"/>
                  <a:cs typeface="+mj-cs"/>
                </a:rPr>
                <a:t>真实演示常违反可辨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3806" y="4415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1EA"/>
                  </a:solidFill>
                  <a:latin typeface="+mj-lt"/>
                  <a:ea typeface="+mj-ea"/>
                  <a:cs typeface="+mj-cs"/>
                </a:rPr>
                <a:t>别性、有限容量与信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3806" y="4777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1EA"/>
                  </a:solidFill>
                  <a:latin typeface="+mj-lt"/>
                  <a:ea typeface="+mj-ea"/>
                  <a:cs typeface="+mj-cs"/>
                </a:rPr>
                <a:t>息变化原则，且未受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3806" y="5139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训者常无法识别。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P14 / 17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552" y="6499860"/>
              <a:ext cx="534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来源：Mayer《Multimedia Learning》· Bartsch &amp; Cobern · Kosslyn 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9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澄清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51713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PPT 并不天然等于这八件事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81000" y="1676400"/>
            <a:ext cx="4038600" cy="4038600"/>
            <a:chOff x="381000" y="1676400"/>
            <a:chExt cx="4038600" cy="4038600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4038600" cy="40386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" y="1790700"/>
              <a:ext cx="3810000" cy="381000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4754118" y="1764982"/>
            <a:ext cx="3044190" cy="322707"/>
            <a:chOff x="4754118" y="1764982"/>
            <a:chExt cx="3044190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4754118" y="176498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16068" y="1764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把一份文档分页后加上装饰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4118" y="2241232"/>
            <a:ext cx="3044190" cy="322707"/>
            <a:chOff x="4754118" y="2241232"/>
            <a:chExt cx="3044190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4754118" y="224123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6068" y="22412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一组漂亮但互不相关的画布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54118" y="2717482"/>
            <a:ext cx="3044190" cy="322707"/>
            <a:chOff x="4754118" y="2717482"/>
            <a:chExt cx="3044190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4754118" y="271748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6068" y="2717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演讲者将要说的话的逐字稿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54118" y="3193732"/>
            <a:ext cx="2155698" cy="322707"/>
            <a:chOff x="4754118" y="3193732"/>
            <a:chExt cx="2155698" cy="322707"/>
          </a:xfrm>
        </p:grpSpPr>
        <p:sp>
          <p:nvSpPr>
            <p:cNvPr id="19" name="TextBox 19"/>
            <p:cNvSpPr txBox="1"/>
            <p:nvPr/>
          </p:nvSpPr>
          <p:spPr>
            <a:xfrm>
              <a:off x="4754118" y="319373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16068" y="31937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一场视觉效果展示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54118" y="3669982"/>
            <a:ext cx="3044190" cy="322707"/>
            <a:chOff x="4754118" y="3669982"/>
            <a:chExt cx="3044190" cy="322707"/>
          </a:xfrm>
        </p:grpSpPr>
        <p:sp>
          <p:nvSpPr>
            <p:cNvPr id="22" name="TextBox 22"/>
            <p:cNvSpPr txBox="1"/>
            <p:nvPr/>
          </p:nvSpPr>
          <p:spPr>
            <a:xfrm>
              <a:off x="4754118" y="366998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16068" y="3669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没有后续生命的一次性放映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54118" y="4146232"/>
            <a:ext cx="3566179" cy="322707"/>
            <a:chOff x="4754118" y="4146232"/>
            <a:chExt cx="3566179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4754118" y="414623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16068" y="41462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只是带 .pptx 扩展名的扁平图片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54118" y="4622482"/>
            <a:ext cx="3710559" cy="322707"/>
            <a:chOff x="4754118" y="4622482"/>
            <a:chExt cx="3710559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754118" y="462248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16068" y="46224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因页面看起来一致就自动成为模板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54118" y="5098732"/>
            <a:ext cx="2822067" cy="322707"/>
            <a:chOff x="4754118" y="5098732"/>
            <a:chExt cx="2822067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4754118" y="509873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16068" y="50987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所有沟通任务的正确媒介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62500" y="5715000"/>
            <a:ext cx="5142738" cy="419100"/>
            <a:chOff x="4762500" y="5715000"/>
            <a:chExt cx="5142738" cy="419100"/>
          </a:xfrm>
        </p:grpSpPr>
        <p:sp>
          <p:nvSpPr>
            <p:cNvPr id="34" name="Rectangle 34"/>
            <p:cNvSpPr/>
            <p:nvPr/>
          </p:nvSpPr>
          <p:spPr>
            <a:xfrm>
              <a:off x="4762500" y="5715000"/>
              <a:ext cx="5715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01768" y="578453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工具应服务沟通模型，而非按按钮倒推沟通模型。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4904" y="6499860"/>
            <a:ext cx="55566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P15 / 17 · 从软件默认页面形式出发，PowerPoint 的惯例会反过来扭曲沟通</a:t>
            </a:r>
          </a:p>
        </p:txBody>
      </p: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8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6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4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2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8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160"/>
                            </p:stCondLst>
                            <p:childTnLst>
                              <p:par>
                                <p:cTn xmlns:p="http://schemas.openxmlformats.org/presentationml/2006/main" id="3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40"/>
                            </p:stCondLst>
                            <p:childTnLst>
                              <p:par>
                                <p:cTn xmlns:p="http://schemas.openxmlformats.org/presentationml/2006/main" id="42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5760" y="559118"/>
            <a:ext cx="11445240" cy="922972"/>
            <a:chOff x="365760" y="559118"/>
            <a:chExt cx="11445240" cy="922972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5591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· 方法清单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895350"/>
              <a:ext cx="61592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做 PPT 之前，先回答这八个问题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447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709738"/>
            <a:ext cx="5524500" cy="681037"/>
            <a:chOff x="381000" y="1709738"/>
            <a:chExt cx="5524500" cy="681037"/>
          </a:xfrm>
        </p:grpSpPr>
        <p:grpSp>
          <p:nvGrpSpPr>
            <p:cNvPr id="11" name="Group 11"/>
            <p:cNvGrpSpPr/>
            <p:nvPr/>
          </p:nvGrpSpPr>
          <p:grpSpPr>
            <a:xfrm>
              <a:off x="414338" y="1709738"/>
              <a:ext cx="200026" cy="200025"/>
              <a:chOff x="414338" y="1709738"/>
              <a:chExt cx="200026" cy="2000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436563" y="17097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14338" y="18430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58801" y="17111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1026" y="18447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53618" y="17173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受众是谁？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18" y="19935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决定语言、默认知识、证据与语气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81000" y="23812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286500" y="1709738"/>
            <a:ext cx="5524500" cy="681037"/>
            <a:chOff x="6286500" y="1709738"/>
            <a:chExt cx="5524500" cy="681037"/>
          </a:xfrm>
        </p:grpSpPr>
        <p:grpSp>
          <p:nvGrpSpPr>
            <p:cNvPr id="19" name="Group 19"/>
            <p:cNvGrpSpPr/>
            <p:nvPr/>
          </p:nvGrpSpPr>
          <p:grpSpPr>
            <a:xfrm>
              <a:off x="6319838" y="1709738"/>
              <a:ext cx="200026" cy="200026"/>
              <a:chOff x="6319838" y="170973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408738" y="17986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364288" y="17541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319838" y="17097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6659118" y="1717358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看完后必须发生什么变化？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9118" y="19935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定义沟通任务与成功条件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286500" y="23812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81000" y="2803208"/>
            <a:ext cx="5524500" cy="673417"/>
            <a:chOff x="381000" y="2803208"/>
            <a:chExt cx="5524500" cy="673417"/>
          </a:xfrm>
        </p:grpSpPr>
        <p:grpSp>
          <p:nvGrpSpPr>
            <p:cNvPr id="29" name="Group 29"/>
            <p:cNvGrpSpPr/>
            <p:nvPr/>
          </p:nvGrpSpPr>
          <p:grpSpPr>
            <a:xfrm>
              <a:off x="414338" y="2806700"/>
              <a:ext cx="200026" cy="187326"/>
              <a:chOff x="414338" y="2806700"/>
              <a:chExt cx="200026" cy="1873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14338" y="2806700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25450" y="2806700"/>
                <a:ext cx="17780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1" y="123400"/>
                      <a:pt x="177801" y="1111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14350" y="29400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81013" y="2984501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9900" y="28511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33338" y="11113"/>
                    </a:lnTo>
                    <a:lnTo>
                      <a:pt x="55563" y="33338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53618" y="2803208"/>
              <a:ext cx="25522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现场讲 / 独立读 / 录制？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618" y="30794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决定密度、字体、备注与演示行为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81000" y="34671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286500" y="2803208"/>
            <a:ext cx="5524500" cy="673417"/>
            <a:chOff x="6286500" y="2803208"/>
            <a:chExt cx="5524500" cy="673417"/>
          </a:xfrm>
        </p:grpSpPr>
        <p:grpSp>
          <p:nvGrpSpPr>
            <p:cNvPr id="37" name="Group 37"/>
            <p:cNvGrpSpPr/>
            <p:nvPr/>
          </p:nvGrpSpPr>
          <p:grpSpPr>
            <a:xfrm>
              <a:off x="6319838" y="2806700"/>
              <a:ext cx="200026" cy="188913"/>
              <a:chOff x="6319838" y="2806700"/>
              <a:chExt cx="200026" cy="18891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75400" y="28622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75400" y="29067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19838" y="2806700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66675" y="155575"/>
                    </a:move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133350" y="155575"/>
                    </a:lnTo>
                    <a:lnTo>
                      <a:pt x="100013" y="188913"/>
                    </a:lnTo>
                    <a:lnTo>
                      <a:pt x="66675" y="1555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659118" y="28032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核心信息是什么？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9118" y="30794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防止在没有论证时就生产页面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286500" y="34671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381000" y="3889058"/>
            <a:ext cx="5524500" cy="673417"/>
            <a:chOff x="381000" y="3889058"/>
            <a:chExt cx="5524500" cy="673417"/>
          </a:xfrm>
        </p:grpSpPr>
        <p:grpSp>
          <p:nvGrpSpPr>
            <p:cNvPr id="44" name="Group 44"/>
            <p:cNvGrpSpPr/>
            <p:nvPr/>
          </p:nvGrpSpPr>
          <p:grpSpPr>
            <a:xfrm>
              <a:off x="414338" y="3914775"/>
              <a:ext cx="200026" cy="133350"/>
              <a:chOff x="414338" y="3914775"/>
              <a:chExt cx="200026" cy="133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492125" y="39592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14338" y="391477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53618" y="388905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哪些证据必须可见或可追溯？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3618" y="41652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保护事实完整性与决策价值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81000" y="45529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6286500" y="3879158"/>
            <a:ext cx="5524500" cy="683317"/>
            <a:chOff x="6286500" y="3879158"/>
            <a:chExt cx="5524500" cy="683317"/>
          </a:xfrm>
        </p:grpSpPr>
        <p:grpSp>
          <p:nvGrpSpPr>
            <p:cNvPr id="52" name="Group 52"/>
            <p:cNvGrpSpPr/>
            <p:nvPr/>
          </p:nvGrpSpPr>
          <p:grpSpPr>
            <a:xfrm>
              <a:off x="6330950" y="3879158"/>
              <a:ext cx="191193" cy="191193"/>
              <a:chOff x="6330950" y="3879158"/>
              <a:chExt cx="191193" cy="19119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330950" y="3925888"/>
                <a:ext cx="144463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3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22238"/>
                    </a:lnTo>
                    <a:cubicBezTo>
                      <a:pt x="0" y="134512"/>
                      <a:pt x="9950" y="144463"/>
                      <a:pt x="22225" y="144463"/>
                    </a:cubicBezTo>
                    <a:lnTo>
                      <a:pt x="122238" y="144463"/>
                    </a:lnTo>
                    <a:cubicBezTo>
                      <a:pt x="134512" y="144463"/>
                      <a:pt x="144463" y="134512"/>
                      <a:pt x="144463" y="122238"/>
                    </a:cubicBezTo>
                    <a:lnTo>
                      <a:pt x="144463" y="1111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86513" y="3879158"/>
                <a:ext cx="135630" cy="135630"/>
              </a:xfrm>
              <a:custGeom>
                <a:avLst/>
                <a:gdLst/>
                <a:ahLst/>
                <a:cxnLst/>
                <a:rect l="l" t="t" r="r" b="b"/>
                <a:pathLst>
                  <a:path w="135630" h="135630">
                    <a:moveTo>
                      <a:pt x="126516" y="42118"/>
                    </a:moveTo>
                    <a:cubicBezTo>
                      <a:pt x="135630" y="33004"/>
                      <a:pt x="135630" y="18228"/>
                      <a:pt x="126516" y="9114"/>
                    </a:cubicBezTo>
                    <a:cubicBezTo>
                      <a:pt x="117402" y="0"/>
                      <a:pt x="102626" y="0"/>
                      <a:pt x="93512" y="9114"/>
                    </a:cubicBezTo>
                    <a:lnTo>
                      <a:pt x="0" y="102292"/>
                    </a:lnTo>
                    <a:lnTo>
                      <a:pt x="0" y="135630"/>
                    </a:lnTo>
                    <a:lnTo>
                      <a:pt x="33338" y="135630"/>
                    </a:lnTo>
                    <a:lnTo>
                      <a:pt x="126516" y="4211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64301" y="39036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659118" y="3889058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什么可改，什么必须保留？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9118" y="4165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明确编辑边界与评审预期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286500" y="45529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E7E2D6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436551" y="4967288"/>
            <a:ext cx="3221430" cy="606551"/>
            <a:chOff x="436551" y="4967288"/>
            <a:chExt cx="3221430" cy="606551"/>
          </a:xfrm>
        </p:grpSpPr>
        <p:grpSp>
          <p:nvGrpSpPr>
            <p:cNvPr id="65" name="Group 65"/>
            <p:cNvGrpSpPr/>
            <p:nvPr/>
          </p:nvGrpSpPr>
          <p:grpSpPr>
            <a:xfrm>
              <a:off x="436551" y="4967288"/>
              <a:ext cx="155587" cy="211138"/>
              <a:chOff x="436551" y="4967288"/>
              <a:chExt cx="155587" cy="21113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36551" y="4967288"/>
                <a:ext cx="155587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87" h="200026">
                    <a:moveTo>
                      <a:pt x="11124" y="197081"/>
                    </a:moveTo>
                    <a:cubicBezTo>
                      <a:pt x="4238" y="193105"/>
                      <a:pt x="0" y="185752"/>
                      <a:pt x="12" y="177801"/>
                    </a:cubicBezTo>
                    <a:lnTo>
                      <a:pt x="12" y="22225"/>
                    </a:lnTo>
                    <a:cubicBezTo>
                      <a:pt x="12" y="9950"/>
                      <a:pt x="9962" y="0"/>
                      <a:pt x="22237" y="0"/>
                    </a:cubicBezTo>
                    <a:lnTo>
                      <a:pt x="100025" y="0"/>
                    </a:lnTo>
                    <a:lnTo>
                      <a:pt x="155587" y="55563"/>
                    </a:lnTo>
                    <a:lnTo>
                      <a:pt x="155587" y="177801"/>
                    </a:lnTo>
                    <a:cubicBezTo>
                      <a:pt x="155587" y="190075"/>
                      <a:pt x="145637" y="200026"/>
                      <a:pt x="133362" y="200026"/>
                    </a:cubicBezTo>
                    <a:lnTo>
                      <a:pt x="122250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81013" y="5122863"/>
                <a:ext cx="4445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5563">
                    <a:moveTo>
                      <a:pt x="22225" y="0"/>
                    </a:move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44450"/>
                    </a:lnTo>
                    <a:cubicBezTo>
                      <a:pt x="44450" y="50587"/>
                      <a:pt x="39475" y="55563"/>
                      <a:pt x="33338" y="55563"/>
                    </a:cubicBezTo>
                    <a:lnTo>
                      <a:pt x="11113" y="55563"/>
                    </a:lnTo>
                    <a:cubicBezTo>
                      <a:pt x="4975" y="55563"/>
                      <a:pt x="0" y="50587"/>
                      <a:pt x="0" y="4445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92125" y="49895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14350" y="50117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92125" y="50339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14350" y="505618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92125" y="50784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14350" y="51006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53618" y="49749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哪些内容必须可编辑或原生？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3618" y="52511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定义对象模型与交付要求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330950" y="4974113"/>
            <a:ext cx="4171105" cy="599726"/>
            <a:chOff x="6330950" y="4974113"/>
            <a:chExt cx="4171105" cy="599726"/>
          </a:xfrm>
        </p:grpSpPr>
        <p:grpSp>
          <p:nvGrpSpPr>
            <p:cNvPr id="71" name="Group 71"/>
            <p:cNvGrpSpPr/>
            <p:nvPr/>
          </p:nvGrpSpPr>
          <p:grpSpPr>
            <a:xfrm>
              <a:off x="6330950" y="4974113"/>
              <a:ext cx="177801" cy="186375"/>
              <a:chOff x="6330950" y="4974113"/>
              <a:chExt cx="177801" cy="18637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330950" y="49741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330950" y="50784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659118" y="49749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什么会反复出现？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9118" y="5251132"/>
              <a:ext cx="38429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决定是否需要 Theme / Master / 模板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81000" y="5772150"/>
            <a:ext cx="11430000" cy="381000"/>
            <a:chOff x="381000" y="5772150"/>
            <a:chExt cx="11430000" cy="381000"/>
          </a:xfrm>
        </p:grpSpPr>
        <p:sp>
          <p:nvSpPr>
            <p:cNvPr id="75" name="Rectangle 75"/>
            <p:cNvSpPr/>
            <p:nvPr/>
          </p:nvSpPr>
          <p:spPr>
            <a:xfrm>
              <a:off x="381000" y="5772150"/>
              <a:ext cx="11430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1980" y="585787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这些问题应</a:t>
              </a:r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先于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对风格、版式、模板、动画或制作方式的详细决定。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78" name="TextBox 78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P16 / 17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19771" y="6499860"/>
              <a:ext cx="3897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受众 · 结果 · 场景 · 信息 · 证据 · 边界 · 原生 · 复用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4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8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4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37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8046" y="673418"/>
            <a:ext cx="4488561" cy="826389"/>
            <a:chOff x="368046" y="673418"/>
            <a:chExt cx="4488561" cy="826389"/>
          </a:xfrm>
        </p:grpSpPr>
        <p:sp>
          <p:nvSpPr>
            <p:cNvPr id="2" name="Rectangle 2"/>
            <p:cNvSpPr/>
            <p:nvPr/>
          </p:nvSpPr>
          <p:spPr>
            <a:xfrm>
              <a:off x="381000" y="685800"/>
              <a:ext cx="400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7542" y="673418"/>
              <a:ext cx="1311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F8CA6"/>
                  </a:solidFill>
                  <a:latin typeface="+mn-lt"/>
                  <a:ea typeface="+mn-ea"/>
                  <a:cs typeface="+mn-cs"/>
                </a:rPr>
                <a:t>04 · 方法闭环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8046" y="100107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先想清任务，工具才服务沟通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1950" y="1892618"/>
            <a:ext cx="8236458" cy="1552575"/>
            <a:chOff x="361950" y="1892618"/>
            <a:chExt cx="8236458" cy="1552575"/>
          </a:xfrm>
        </p:grpSpPr>
        <p:sp>
          <p:nvSpPr>
            <p:cNvPr id="6" name="TextBox 6"/>
            <p:cNvSpPr txBox="1"/>
            <p:nvPr/>
          </p:nvSpPr>
          <p:spPr>
            <a:xfrm>
              <a:off x="361950" y="1892618"/>
              <a:ext cx="68736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PPT 不是一叠静态页面，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1950" y="2597468"/>
              <a:ext cx="823645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而是需要</a:t>
              </a:r>
              <a:r>
                <a:rPr lang="zh-CN" sz="4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持续流转</a:t>
              </a:r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的沟通产物。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1000" y="3733800"/>
            <a:ext cx="2571750" cy="1047750"/>
            <a:chOff x="381000" y="3733800"/>
            <a:chExt cx="2571750" cy="1047750"/>
          </a:xfrm>
        </p:grpSpPr>
        <p:sp>
          <p:nvSpPr>
            <p:cNvPr id="9" name="Rectangle 9"/>
            <p:cNvSpPr/>
            <p:nvPr/>
          </p:nvSpPr>
          <p:spPr>
            <a:xfrm>
              <a:off x="381000" y="3733800"/>
              <a:ext cx="2571750" cy="1047750"/>
            </a:xfrm>
            <a:prstGeom prst="rect">
              <a:avLst/>
            </a:prstGeom>
            <a:solidFill>
              <a:srgbClr val="22375C"/>
            </a:solidFill>
            <a:ln w="9525">
              <a:solidFill>
                <a:srgbClr val="7F8C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2168" y="39176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① 明确任务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3692" y="4254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受众要完成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3692" y="4502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什么？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90850" y="3733800"/>
            <a:ext cx="2914650" cy="1047750"/>
            <a:chOff x="2990850" y="3733800"/>
            <a:chExt cx="2914650" cy="1047750"/>
          </a:xfrm>
        </p:grpSpPr>
        <p:sp>
          <p:nvSpPr>
            <p:cNvPr id="14" name="Line 14"/>
            <p:cNvSpPr/>
            <p:nvPr/>
          </p:nvSpPr>
          <p:spPr>
            <a:xfrm>
              <a:off x="2990850" y="4257675"/>
              <a:ext cx="3048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33750" y="3733800"/>
              <a:ext cx="2571750" cy="1047750"/>
            </a:xfrm>
            <a:prstGeom prst="rect">
              <a:avLst/>
            </a:prstGeom>
            <a:solidFill>
              <a:srgbClr val="22375C"/>
            </a:solidFill>
            <a:ln w="9525">
              <a:solidFill>
                <a:srgbClr val="7F8CA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34918" y="3917632"/>
              <a:ext cx="881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② 选媒介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36442" y="4254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是否真的该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6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用演示文稿？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43600" y="3733800"/>
            <a:ext cx="2914650" cy="1047750"/>
            <a:chOff x="5943600" y="3733800"/>
            <a:chExt cx="2914650" cy="1047750"/>
          </a:xfrm>
        </p:grpSpPr>
        <p:sp>
          <p:nvSpPr>
            <p:cNvPr id="20" name="Line 20"/>
            <p:cNvSpPr/>
            <p:nvPr/>
          </p:nvSpPr>
          <p:spPr>
            <a:xfrm>
              <a:off x="5943600" y="4257675"/>
              <a:ext cx="3048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3733800"/>
              <a:ext cx="2571750" cy="1047750"/>
            </a:xfrm>
            <a:prstGeom prst="rect">
              <a:avLst/>
            </a:prstGeom>
            <a:solidFill>
              <a:srgbClr val="22375C"/>
            </a:solidFill>
            <a:ln w="9525">
              <a:solidFill>
                <a:srgbClr val="7FF0D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87668" y="3917632"/>
              <a:ext cx="881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③ 建结构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9192" y="4254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有顺序、可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编辑的原生结构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896350" y="3733800"/>
            <a:ext cx="2914650" cy="1047750"/>
            <a:chOff x="8896350" y="3733800"/>
            <a:chExt cx="2914650" cy="1047750"/>
          </a:xfrm>
        </p:grpSpPr>
        <p:sp>
          <p:nvSpPr>
            <p:cNvPr id="26" name="Line 26"/>
            <p:cNvSpPr/>
            <p:nvPr/>
          </p:nvSpPr>
          <p:spPr>
            <a:xfrm>
              <a:off x="8896350" y="4257675"/>
              <a:ext cx="3048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39250" y="3733800"/>
              <a:ext cx="2571750" cy="1047750"/>
            </a:xfrm>
            <a:prstGeom prst="rect">
              <a:avLst/>
            </a:prstGeom>
            <a:solidFill>
              <a:srgbClr val="22375C"/>
            </a:solidFill>
            <a:ln w="9525">
              <a:solidFill>
                <a:srgbClr val="7FF0D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0418" y="3917632"/>
              <a:ext cx="881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④ 保质量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1942" y="4254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用六层质量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1942" y="4502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66875" y="4781550"/>
            <a:ext cx="8858250" cy="556451"/>
            <a:chOff x="1666875" y="4781550"/>
            <a:chExt cx="8858250" cy="556451"/>
          </a:xfrm>
        </p:grpSpPr>
        <p:sp>
          <p:nvSpPr>
            <p:cNvPr id="32" name="Freeform 32"/>
            <p:cNvSpPr/>
            <p:nvPr/>
          </p:nvSpPr>
          <p:spPr>
            <a:xfrm>
              <a:off x="1666875" y="4781550"/>
              <a:ext cx="8858250" cy="514350"/>
            </a:xfrm>
            <a:custGeom>
              <a:avLst/>
              <a:gdLst/>
              <a:ahLst/>
              <a:cxnLst/>
              <a:rect l="l" t="t" r="r" b="b"/>
              <a:pathLst>
                <a:path w="8858250" h="514350">
                  <a:moveTo>
                    <a:pt x="8858250" y="0"/>
                  </a:moveTo>
                  <a:lnTo>
                    <a:pt x="8858250" y="514350"/>
                  </a:lnTo>
                  <a:lnTo>
                    <a:pt x="0" y="5143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50000" sp="250000"/>
              </a:custDash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1094" y="50739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↻ 回到下一次的任务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142" y="5772150"/>
            <a:ext cx="11436858" cy="461201"/>
            <a:chOff x="374142" y="5772150"/>
            <a:chExt cx="11436858" cy="461201"/>
          </a:xfrm>
        </p:grpSpPr>
        <p:sp>
          <p:nvSpPr>
            <p:cNvPr id="35" name="Line 35"/>
            <p:cNvSpPr/>
            <p:nvPr/>
          </p:nvSpPr>
          <p:spPr>
            <a:xfrm>
              <a:off x="381000" y="57721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A4E7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4142" y="5969318"/>
              <a:ext cx="4862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0DE"/>
                  </a:solidFill>
                  <a:latin typeface="+mn-lt"/>
                  <a:ea typeface="+mn-ea"/>
                  <a:cs typeface="+mn-cs"/>
                </a:rPr>
                <a:t>把它当作理解 PPT 本质的参考，随团队与场景反复复用。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4904" y="6499860"/>
            <a:ext cx="11442192" cy="234696"/>
            <a:chOff x="374904" y="6499860"/>
            <a:chExt cx="114421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374904" y="649986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8CA6"/>
                  </a:solidFill>
                  <a:latin typeface="+mn-lt"/>
                  <a:ea typeface="+mn-ea"/>
                  <a:cs typeface="+mn-cs"/>
                </a:rPr>
                <a:t>P17 / 17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93019" y="6499860"/>
              <a:ext cx="1224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8CA6"/>
                  </a:solidFill>
                  <a:latin typeface="+mn-lt"/>
                  <a:ea typeface="+mn-ea"/>
                  <a:cs typeface="+mn-cs"/>
                </a:rPr>
                <a:t>什么是 PPT · 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6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2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8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4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2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what_is_ppt">
  <a:themeElements>
    <a:clrScheme name="ppt169_what_is_ppt">
      <a:dk1>
        <a:srgbClr val="22262B"/>
      </a:dk1>
      <a:lt1>
        <a:srgbClr val="FFFFFF"/>
      </a:lt1>
      <a:dk2>
        <a:srgbClr val="1F497D"/>
      </a:dk2>
      <a:lt2>
        <a:srgbClr val="F4F1EA"/>
      </a:lt2>
      <a:accent1>
        <a:srgbClr val="1A2B4A"/>
      </a:accent1>
      <a:accent2>
        <a:srgbClr val="C8102E"/>
      </a:accent2>
      <a:accent3>
        <a:srgbClr val="5E7089"/>
      </a:accent3>
      <a:accent4>
        <a:srgbClr val="1A2B4A"/>
      </a:accent4>
      <a:accent5>
        <a:srgbClr val="4BACC6"/>
      </a:accent5>
      <a:accent6>
        <a:srgbClr val="F79646"/>
      </a:accent6>
      <a:hlink>
        <a:srgbClr val="C8102E"/>
      </a:hlink>
      <a:folHlink>
        <a:srgbClr val="5E7089"/>
      </a:folHlink>
    </a:clrScheme>
    <a:fontScheme name="ppt169_what_is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what_is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what_is_ppt">
  <a:themeElements>
    <a:clrScheme name="ppt169_what_is_ppt">
      <a:dk1>
        <a:srgbClr val="22262B"/>
      </a:dk1>
      <a:lt1>
        <a:srgbClr val="FFFFFF"/>
      </a:lt1>
      <a:dk2>
        <a:srgbClr val="1F497D"/>
      </a:dk2>
      <a:lt2>
        <a:srgbClr val="F4F1EA"/>
      </a:lt2>
      <a:accent1>
        <a:srgbClr val="1A2B4A"/>
      </a:accent1>
      <a:accent2>
        <a:srgbClr val="C8102E"/>
      </a:accent2>
      <a:accent3>
        <a:srgbClr val="5E7089"/>
      </a:accent3>
      <a:accent4>
        <a:srgbClr val="1A2B4A"/>
      </a:accent4>
      <a:accent5>
        <a:srgbClr val="4BACC6"/>
      </a:accent5>
      <a:accent6>
        <a:srgbClr val="F79646"/>
      </a:accent6>
      <a:hlink>
        <a:srgbClr val="C8102E"/>
      </a:hlink>
      <a:folHlink>
        <a:srgbClr val="5E7089"/>
      </a:folHlink>
    </a:clrScheme>
    <a:fontScheme name="ppt169_what_is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what_is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2026-08-29T02:11:30Z</dcterms:created>
  <dcterms:modified xsi:type="dcterms:W3CDTF">2026-08-29T02:11:30Z</dcterms:modified>
  <cp:category/>
  <cp:contentStatus/>
</cp:coreProperties>
</file>