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jpg" ContentType="image/jpeg"/>
  <Default Extension="xlsx" ContentType="application/vnd.openxmlformats-officedocument.spreadsheetml.sheet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charts/chart1101.xml" ContentType="application/vnd.openxmlformats-officedocument.drawingml.chart+xml"/>
  <Override PartName="/ppt/charts/chart1301.xml" ContentType="application/vnd.openxmlformats-officedocument.drawingml.chart+xml"/>
  <Override PartName="/ppt/charts/chart301.xml" ContentType="application/vnd.openxmlformats-officedocument.drawingml.chart+xml"/>
  <Override PartName="/ppt/charts/chart601.xml" ContentType="application/vnd.openxmlformats-officedocument.drawingml.chart+xml"/>
  <Override PartName="/ppt/charts/chart701.xml" ContentType="application/vnd.openxmlformats-officedocument.drawingml.chart+xml"/>
  <Override PartName="/ppt/charts/chart801.xml" ContentType="application/vnd.openxmlformats-officedocument.drawingml.chart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notesMasterIdLst>
    <p:notesMasterId r:id="rId22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2000" cy="6858000" type="screen16x9"/>
  <p:notesSz cx="6858000" cy="9144000"/>
  <p:defaultTextStyle>
    <a:defPPr>
      <a:defRPr lang="zh-CN"/>
    </a:defPPr>
    <a:lvl1pPr marL="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  <Relationship Id="rId22" Type="http://schemas.openxmlformats.org/officeDocument/2006/relationships/notesMaster" Target="notesMasters/notesMaster1.xml"/>
</Relationships>
</file>

<file path=ppt/charts/_rels/chart301.xml.rels><?xml version="1.0" encoding="UTF-8" standalone="yes"?>
<Relationships xmlns="http://schemas.openxmlformats.org/package/2006/relationships">
<Relationship Id="rId1" Type="http://schemas.openxmlformats.org/officeDocument/2006/relationships/package" Target="../embeddings/Microsoft_Excel_Sheet301.xlsx"/>
</Relationships>
</file>

<file path=ppt/charts/_rels/chart601.xml.rels><?xml version="1.0" encoding="UTF-8" standalone="yes"?>
<Relationships xmlns="http://schemas.openxmlformats.org/package/2006/relationships">
<Relationship Id="rId1" Type="http://schemas.openxmlformats.org/officeDocument/2006/relationships/package" Target="../embeddings/Microsoft_Excel_Sheet601.xlsx"/>
</Relationships>
</file>

<file path=ppt/charts/_rels/chart701.xml.rels><?xml version="1.0" encoding="UTF-8" standalone="yes"?>
<Relationships xmlns="http://schemas.openxmlformats.org/package/2006/relationships">
<Relationship Id="rId1" Type="http://schemas.openxmlformats.org/officeDocument/2006/relationships/package" Target="../embeddings/Microsoft_Excel_Sheet701.xlsx"/>
</Relationships>
</file>

<file path=ppt/charts/_rels/chart801.xml.rels><?xml version="1.0" encoding="UTF-8" standalone="yes"?>
<Relationships xmlns="http://schemas.openxmlformats.org/package/2006/relationships">
<Relationship Id="rId1" Type="http://schemas.openxmlformats.org/officeDocument/2006/relationships/package" Target="../embeddings/Microsoft_Excel_Sheet801.xlsx"/>
</Relationships>
</file>

<file path=ppt/charts/_rels/chart1101.xml.rels><?xml version="1.0" encoding="UTF-8" standalone="yes"?>
<Relationships xmlns="http://schemas.openxmlformats.org/package/2006/relationships">
<Relationship Id="rId1" Type="http://schemas.openxmlformats.org/officeDocument/2006/relationships/package" Target="../embeddings/Microsoft_Excel_Sheet1101.xlsx"/>
</Relationships>
</file>

<file path=ppt/charts/_rels/chart1301.xml.rels><?xml version="1.0" encoding="UTF-8" standalone="yes"?>
<Relationships xmlns="http://schemas.openxmlformats.org/package/2006/relationships">
<Relationship Id="rId1" Type="http://schemas.openxmlformats.org/officeDocument/2006/relationships/package" Target="../embeddings/Microsoft_Excel_Sheet1301.xlsx"/>
</Relationships>
</file>

<file path=ppt/charts/chart30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chart>
    <c:autoTitleDeleted val="1"/>
    <c:plotArea>
      <c:layout>
        <c:manualLayout>
          <c:layoutTarget val="inner"/>
          <c:xMode val="edge"/>
          <c:yMode val="edge"/>
          <c:wMode val="factor"/>
          <c:hMode val="factor"/>
          <c:x val="0.117647058824"/>
          <c:y val="0.11"/>
          <c:w val="0.855614973262"/>
          <c:h val="0.75"/>
        </c:manualLayout>
      </c:layout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旅客发送量</c:v>
                </c:pt>
              </c:strCache>
            </c:strRef>
          </c:tx>
          <c:spPr>
            <a:solidFill>
              <a:srgbClr val="4472C4"/>
            </a:solidFill>
            <a:ln>
              <a:solidFill>
                <a:srgbClr val="4472C4"/>
              </a:solidFill>
            </a:ln>
          </c:spPr>
          <c:invertIfNegative val="0"/>
          <c:dPt>
            <c:idx val="0"/>
            <c:invertIfNegative val="0"/>
            <c:spPr>
              <a:solidFill>
                <a:schemeClr val="accent3"/>
              </a:solidFill>
              <a:ln>
                <a:solidFill>
                  <a:schemeClr val="accent3"/>
                </a:solidFill>
              </a:ln>
            </c:spPr>
          </c:dPt>
          <c:dPt>
            <c:idx val="1"/>
            <c:invertIfNegative val="0"/>
            <c:spPr>
              <a:solidFill>
                <a:schemeClr val="accent3"/>
              </a:solidFill>
              <a:ln>
                <a:solidFill>
                  <a:schemeClr val="accent3"/>
                </a:solidFill>
              </a:ln>
            </c:spPr>
          </c:dPt>
          <c:dPt>
            <c:idx val="2"/>
            <c:invertIfNegative val="0"/>
            <c:spPr>
              <a:solidFill>
                <a:schemeClr val="accent3"/>
              </a:solidFill>
              <a:ln>
                <a:solidFill>
                  <a:schemeClr val="accent3"/>
                </a:solidFill>
              </a:ln>
            </c:spPr>
          </c:dPt>
          <c:dPt>
            <c:idx val="3"/>
            <c:invertIfNegative val="0"/>
            <c:spPr>
              <a:solidFill>
                <a:schemeClr val="accent3"/>
              </a:solidFill>
              <a:ln>
                <a:solidFill>
                  <a:schemeClr val="accent3"/>
                </a:solidFill>
              </a:ln>
            </c:spPr>
          </c:dPt>
          <c:dPt>
            <c:idx val="4"/>
            <c:invertIfNegative val="0"/>
            <c:spPr>
              <a:solidFill>
                <a:schemeClr val="accent3"/>
              </a:solidFill>
              <a:ln>
                <a:solidFill>
                  <a:schemeClr val="accent3"/>
                </a:solidFill>
              </a:ln>
            </c:spPr>
          </c:dPt>
          <c:dPt>
            <c:idx val="5"/>
            <c:invertIfNegative val="0"/>
            <c:spPr>
              <a:solidFill>
                <a:schemeClr val="accent2"/>
              </a:solidFill>
              <a:ln>
                <a:solidFill>
                  <a:schemeClr val="accent2"/>
                </a:solidFill>
              </a:ln>
            </c:spPr>
          </c:dPt>
          <c:cat>
            <c:strRef>
              <c:f>Sheet1!$A$2:$A$7</c:f>
              <c:strCache>
                <c:ptCount val="6"/>
                <c:pt idx="0">
                  <c:v>2019年</c:v>
                </c:pt>
                <c:pt idx="1">
                  <c:v>2020年</c:v>
                </c:pt>
                <c:pt idx="2">
                  <c:v>2021年</c:v>
                </c:pt>
                <c:pt idx="3">
                  <c:v>2022年</c:v>
                </c:pt>
                <c:pt idx="4">
                  <c:v>2023年</c:v>
                </c:pt>
                <c:pt idx="5">
                  <c:v>2024年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366002</c:v>
                </c:pt>
                <c:pt idx="1">
                  <c:v>220350</c:v>
                </c:pt>
                <c:pt idx="2">
                  <c:v>261171</c:v>
                </c:pt>
                <c:pt idx="3">
                  <c:v>167296</c:v>
                </c:pt>
                <c:pt idx="4">
                  <c:v>385450</c:v>
                </c:pt>
                <c:pt idx="5">
                  <c:v>431240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lang="zh-CN" sz="1350">
                  <a:solidFill>
                    <a:srgbClr val="1E2733"/>
                  </a:solidFill>
                  <a:latin typeface="Microsoft YaHei"/>
                  <a:ea typeface="Microsoft YaHei"/>
                  <a:cs typeface="Microsoft YaHei"/>
                </a:defRPr>
              </a:pPr>
              <a:endParaRPr lang="zh-CN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90"/>
        <c:axId val="2068027336"/>
        <c:axId val="2113994440"/>
      </c:barChart>
      <c:catAx>
        <c:axId val="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 w="9525" cap="flat" cmpd="sng" algn="ctr">
            <a:solidFill>
              <a:srgbClr val="5A6775"/>
            </a:solidFill>
            <a:round/>
          </a:ln>
        </c:spPr>
        <c:txPr>
          <a:bodyPr/>
          <a:lstStyle/>
          <a:p>
            <a:pPr>
              <a:defRPr lang="zh-CN" sz="1350">
                <a:solidFill>
                  <a:srgbClr val="5A6775"/>
                </a:solidFill>
                <a:latin typeface="Microsoft YaHei"/>
                <a:ea typeface="Microsoft YaHei"/>
                <a:cs typeface="Microsoft YaHei"/>
              </a:defRPr>
            </a:pPr>
            <a:endParaRPr lang="zh-CN"/>
          </a:p>
        </c:txPr>
        <c:crossAx val="2113994440"/>
        <c:crosses val="autoZero"/>
        <c:auto val="1"/>
        <c:lblAlgn val="ctr"/>
        <c:lblOffset val="100"/>
        <c:noMultiLvlLbl val="0"/>
      </c:catAx>
      <c:valAx>
        <c:axId val="2113994440"/>
        <c:scaling>
          <c:orientation val="minMax"/>
          <c:max val="500000"/>
          <c:min val="0"/>
        </c:scaling>
        <c:delete val="0"/>
        <c:axPos val="l"/>
        <c:majorGridlines>
          <c:spPr>
            <a:ln w="6350" cap="flat" cmpd="sng" algn="ctr">
              <a:solidFill>
                <a:srgbClr val="E6EBF1"/>
              </a:solidFill>
              <a:round/>
            </a:ln>
          </c:spPr>
        </c:majorGridlines>
        <c:title>
          <c:tx>
            <c:rich>
              <a:bodyPr/>
              <a:lstStyle/>
              <a:p>
                <a:pPr/>
                <a:r>
                  <a:rPr lang="zh-CN" sz="1350">
                    <a:solidFill>
                      <a:srgbClr val="5A6775"/>
                    </a:solidFill>
                    <a:latin typeface="Microsoft YaHei"/>
                    <a:ea typeface="Microsoft YaHei"/>
                    <a:cs typeface="Microsoft YaHei"/>
                  </a:rPr>
                  <a:t>万人</a:t>
                </a:r>
              </a:p>
            </c:rich>
          </c:tx>
          <c:layout/>
          <c:overlay val="0"/>
        </c:title>
        <c:numFmt formatCode="0" sourceLinked="0"/>
        <c:majorTickMark val="none"/>
        <c:minorTickMark val="none"/>
        <c:tickLblPos val="nextTo"/>
        <c:spPr>
          <a:ln w="9525" cap="flat" cmpd="sng" algn="ctr">
            <a:solidFill>
              <a:srgbClr val="5A6775"/>
            </a:solidFill>
            <a:round/>
          </a:ln>
        </c:spPr>
        <c:txPr>
          <a:bodyPr/>
          <a:lstStyle/>
          <a:p>
            <a:pPr>
              <a:defRPr lang="zh-CN" sz="1350">
                <a:solidFill>
                  <a:srgbClr val="5A6775"/>
                </a:solidFill>
                <a:latin typeface="Microsoft YaHei"/>
                <a:ea typeface="Microsoft YaHei"/>
                <a:cs typeface="Microsoft YaHei"/>
              </a:defRPr>
            </a:pPr>
            <a:endParaRPr lang="zh-CN"/>
          </a:p>
        </c:txPr>
        <c:crossAx val="2068027336"/>
        <c:crosses val="autoZero"/>
        <c:crossBetween val="between"/>
        <c:majorUnit val="100000"/>
      </c:valAx>
      <c:spPr>
        <a:noFill/>
        <a:ln>
          <a:noFill/>
        </a:ln>
      </c:spPr>
    </c:plotArea>
    <c:plotVisOnly val="1"/>
    <c:dispBlanksAs val="gap"/>
  </c:chart>
  <c:spPr>
    <a:noFill/>
    <a:ln>
      <a:noFill/>
    </a:ln>
  </c:spPr>
  <c:txPr>
    <a:bodyPr/>
    <a:lstStyle/>
    <a:p>
      <a:pPr>
        <a:defRPr lang="zh-CN" sz="1350">
          <a:solidFill>
            <a:srgbClr val="5A6775"/>
          </a:solidFill>
          <a:latin typeface="Microsoft YaHei"/>
          <a:ea typeface="Microsoft YaHei"/>
          <a:cs typeface="Microsoft YaHei"/>
        </a:defRPr>
      </a:pPr>
      <a:endParaRPr lang="zh-CN"/>
    </a:p>
  </c:txPr>
  <c:externalData r:id="rId1">
    <c:autoUpdate val="0"/>
  </c:externalData>
</c:chartSpace>
</file>

<file path=ppt/charts/chart60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chart>
    <c:autoTitleDeleted val="1"/>
    <c:plotArea>
      <c:layout>
        <c:manualLayout>
          <c:layoutTarget val="inner"/>
          <c:xMode val="edge"/>
          <c:yMode val="edge"/>
          <c:wMode val="factor"/>
          <c:hMode val="factor"/>
          <c:x val="0.112994350282"/>
          <c:y val="0.11"/>
          <c:w val="0.861581920904"/>
          <c:h val="0.75"/>
        </c:manualLayout>
      </c:layout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货运总发送量</c:v>
                </c:pt>
              </c:strCache>
            </c:strRef>
          </c:tx>
          <c:spPr>
            <a:solidFill>
              <a:srgbClr val="4472C4"/>
            </a:solidFill>
            <a:ln>
              <a:solidFill>
                <a:srgbClr val="4472C4"/>
              </a:solidFill>
            </a:ln>
          </c:spPr>
          <c:invertIfNegative val="0"/>
          <c:dPt>
            <c:idx val="0"/>
            <c:invertIfNegative val="0"/>
            <c:spPr>
              <a:solidFill>
                <a:schemeClr val="accent3"/>
              </a:solidFill>
              <a:ln>
                <a:solidFill>
                  <a:schemeClr val="accent3"/>
                </a:solidFill>
              </a:ln>
            </c:spPr>
          </c:dPt>
          <c:dPt>
            <c:idx val="1"/>
            <c:invertIfNegative val="0"/>
            <c:spPr>
              <a:solidFill>
                <a:schemeClr val="accent3"/>
              </a:solidFill>
              <a:ln>
                <a:solidFill>
                  <a:schemeClr val="accent3"/>
                </a:solidFill>
              </a:ln>
            </c:spPr>
          </c:dPt>
          <c:dPt>
            <c:idx val="2"/>
            <c:invertIfNegative val="0"/>
            <c:spPr>
              <a:solidFill>
                <a:schemeClr val="accent3"/>
              </a:solidFill>
              <a:ln>
                <a:solidFill>
                  <a:schemeClr val="accent3"/>
                </a:solidFill>
              </a:ln>
            </c:spPr>
          </c:dPt>
          <c:dPt>
            <c:idx val="3"/>
            <c:invertIfNegative val="0"/>
            <c:spPr>
              <a:solidFill>
                <a:schemeClr val="accent3"/>
              </a:solidFill>
              <a:ln>
                <a:solidFill>
                  <a:schemeClr val="accent3"/>
                </a:solidFill>
              </a:ln>
            </c:spPr>
          </c:dPt>
          <c:dPt>
            <c:idx val="4"/>
            <c:invertIfNegative val="0"/>
            <c:spPr>
              <a:solidFill>
                <a:schemeClr val="accent3"/>
              </a:solidFill>
              <a:ln>
                <a:solidFill>
                  <a:schemeClr val="accent3"/>
                </a:solidFill>
              </a:ln>
            </c:spPr>
          </c:dPt>
          <c:dPt>
            <c:idx val="5"/>
            <c:invertIfNegative val="0"/>
            <c:spPr>
              <a:solidFill>
                <a:schemeClr val="accent2"/>
              </a:solidFill>
              <a:ln>
                <a:solidFill>
                  <a:schemeClr val="accent2"/>
                </a:solidFill>
              </a:ln>
            </c:spPr>
          </c:dPt>
          <c:cat>
            <c:strRef>
              <c:f>Sheet1!$A$2:$A$7</c:f>
              <c:strCache>
                <c:ptCount val="6"/>
                <c:pt idx="0">
                  <c:v>2019年</c:v>
                </c:pt>
                <c:pt idx="1">
                  <c:v>2020年</c:v>
                </c:pt>
                <c:pt idx="2">
                  <c:v>2021年</c:v>
                </c:pt>
                <c:pt idx="3">
                  <c:v>2022年</c:v>
                </c:pt>
                <c:pt idx="4">
                  <c:v>2023年</c:v>
                </c:pt>
                <c:pt idx="5">
                  <c:v>2024年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441213</c:v>
                </c:pt>
                <c:pt idx="1">
                  <c:v>455236</c:v>
                </c:pt>
                <c:pt idx="2">
                  <c:v>477372</c:v>
                </c:pt>
                <c:pt idx="3">
                  <c:v>498424</c:v>
                </c:pt>
                <c:pt idx="4">
                  <c:v>503535</c:v>
                </c:pt>
                <c:pt idx="5">
                  <c:v>517477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lang="zh-CN" sz="1350">
                  <a:solidFill>
                    <a:srgbClr val="1E2733"/>
                  </a:solidFill>
                  <a:latin typeface="Microsoft YaHei"/>
                  <a:ea typeface="Microsoft YaHei"/>
                  <a:cs typeface="Microsoft YaHei"/>
                </a:defRPr>
              </a:pPr>
              <a:endParaRPr lang="zh-CN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8"/>
        <c:axId val="2068027336"/>
        <c:axId val="2113994440"/>
      </c:barChart>
      <c:catAx>
        <c:axId val="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 w="9525" cap="flat" cmpd="sng" algn="ctr">
            <a:solidFill>
              <a:srgbClr val="5A6775"/>
            </a:solidFill>
            <a:round/>
          </a:ln>
        </c:spPr>
        <c:txPr>
          <a:bodyPr/>
          <a:lstStyle/>
          <a:p>
            <a:pPr>
              <a:defRPr lang="zh-CN" sz="1350">
                <a:solidFill>
                  <a:srgbClr val="5A6775"/>
                </a:solidFill>
                <a:latin typeface="Microsoft YaHei"/>
                <a:ea typeface="Microsoft YaHei"/>
                <a:cs typeface="Microsoft YaHei"/>
              </a:defRPr>
            </a:pPr>
            <a:endParaRPr lang="zh-CN"/>
          </a:p>
        </c:txPr>
        <c:crossAx val="2113994440"/>
        <c:crosses val="autoZero"/>
        <c:auto val="1"/>
        <c:lblAlgn val="ctr"/>
        <c:lblOffset val="100"/>
        <c:noMultiLvlLbl val="0"/>
      </c:catAx>
      <c:valAx>
        <c:axId val="2113994440"/>
        <c:scaling>
          <c:orientation val="minMax"/>
          <c:max val="600000"/>
          <c:min val="0"/>
        </c:scaling>
        <c:delete val="0"/>
        <c:axPos val="l"/>
        <c:majorGridlines>
          <c:spPr>
            <a:ln w="6350" cap="flat" cmpd="sng" algn="ctr">
              <a:solidFill>
                <a:srgbClr val="E6EBF1"/>
              </a:solidFill>
              <a:round/>
            </a:ln>
          </c:spPr>
        </c:majorGridlines>
        <c:title>
          <c:tx>
            <c:rich>
              <a:bodyPr/>
              <a:lstStyle/>
              <a:p>
                <a:pPr/>
                <a:r>
                  <a:rPr lang="zh-CN" sz="1350">
                    <a:solidFill>
                      <a:srgbClr val="5A6775"/>
                    </a:solidFill>
                    <a:latin typeface="Microsoft YaHei"/>
                    <a:ea typeface="Microsoft YaHei"/>
                    <a:cs typeface="Microsoft YaHei"/>
                  </a:rPr>
                  <a:t>万吨</a:t>
                </a:r>
              </a:p>
            </c:rich>
          </c:tx>
          <c:layout/>
          <c:overlay val="0"/>
        </c:title>
        <c:numFmt formatCode="0" sourceLinked="0"/>
        <c:majorTickMark val="none"/>
        <c:minorTickMark val="none"/>
        <c:tickLblPos val="nextTo"/>
        <c:spPr>
          <a:ln w="9525" cap="flat" cmpd="sng" algn="ctr">
            <a:solidFill>
              <a:srgbClr val="5A6775"/>
            </a:solidFill>
            <a:round/>
          </a:ln>
        </c:spPr>
        <c:txPr>
          <a:bodyPr/>
          <a:lstStyle/>
          <a:p>
            <a:pPr>
              <a:defRPr lang="zh-CN" sz="1350">
                <a:solidFill>
                  <a:srgbClr val="5A6775"/>
                </a:solidFill>
                <a:latin typeface="Microsoft YaHei"/>
                <a:ea typeface="Microsoft YaHei"/>
                <a:cs typeface="Microsoft YaHei"/>
              </a:defRPr>
            </a:pPr>
            <a:endParaRPr lang="zh-CN"/>
          </a:p>
        </c:txPr>
        <c:crossAx val="2068027336"/>
        <c:crosses val="autoZero"/>
        <c:crossBetween val="between"/>
        <c:majorUnit val="100000"/>
      </c:valAx>
      <c:spPr>
        <a:noFill/>
        <a:ln>
          <a:noFill/>
        </a:ln>
      </c:spPr>
    </c:plotArea>
    <c:plotVisOnly val="1"/>
    <c:dispBlanksAs val="gap"/>
  </c:chart>
  <c:spPr>
    <a:noFill/>
    <a:ln>
      <a:noFill/>
    </a:ln>
  </c:spPr>
  <c:txPr>
    <a:bodyPr/>
    <a:lstStyle/>
    <a:p>
      <a:pPr>
        <a:defRPr lang="zh-CN" sz="1350">
          <a:solidFill>
            <a:srgbClr val="5A6775"/>
          </a:solidFill>
          <a:latin typeface="Microsoft YaHei"/>
          <a:ea typeface="Microsoft YaHei"/>
          <a:cs typeface="Microsoft YaHei"/>
        </a:defRPr>
      </a:pPr>
      <a:endParaRPr lang="zh-CN"/>
    </a:p>
  </c:txPr>
  <c:externalData r:id="rId1">
    <c:autoUpdate val="0"/>
  </c:externalData>
</c:chartSpace>
</file>

<file path=ppt/charts/chart70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chart>
    <c:autoTitleDeleted val="1"/>
    <c:plotArea>
      <c:layout>
        <c:manualLayout>
          <c:layoutTarget val="inner"/>
          <c:xMode val="edge"/>
          <c:yMode val="edge"/>
          <c:wMode val="factor"/>
          <c:hMode val="factor"/>
          <c:x val="0.157699443414"/>
          <c:y val="0.0653594771242"/>
          <c:w val="0.686456400742"/>
          <c:h val="0.816993464052"/>
        </c:manualLayout>
      </c:layout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2024 年运量</c:v>
                </c:pt>
              </c:strCache>
            </c:strRef>
          </c:tx>
          <c:spPr>
            <a:solidFill>
              <a:srgbClr val="4472C4"/>
            </a:solidFill>
            <a:ln>
              <a:solidFill>
                <a:srgbClr val="4472C4"/>
              </a:solidFill>
            </a:ln>
          </c:spPr>
          <c:invertIfNegative val="0"/>
          <c:dPt>
            <c:idx val="0"/>
            <c:invertIfNegative val="0"/>
            <c:spPr>
              <a:solidFill>
                <a:schemeClr val="accent1"/>
              </a:solidFill>
              <a:ln>
                <a:solidFill>
                  <a:schemeClr val="accent1"/>
                </a:solidFill>
              </a:ln>
            </c:spPr>
          </c:dPt>
          <c:dPt>
            <c:idx val="1"/>
            <c:invertIfNegative val="0"/>
            <c:spPr>
              <a:solidFill>
                <a:schemeClr val="accent2"/>
              </a:solidFill>
              <a:ln>
                <a:solidFill>
                  <a:schemeClr val="accent2"/>
                </a:solidFill>
              </a:ln>
            </c:spPr>
          </c:dPt>
          <c:dPt>
            <c:idx val="2"/>
            <c:invertIfNegative val="0"/>
            <c:spPr>
              <a:solidFill>
                <a:schemeClr val="accent3"/>
              </a:solidFill>
              <a:ln>
                <a:solidFill>
                  <a:schemeClr val="accent3"/>
                </a:solidFill>
              </a:ln>
            </c:spPr>
          </c:dPt>
          <c:dPt>
            <c:idx val="3"/>
            <c:invertIfNegative val="0"/>
            <c:spPr>
              <a:solidFill>
                <a:schemeClr val="accent3"/>
              </a:solidFill>
              <a:ln>
                <a:solidFill>
                  <a:schemeClr val="accent3"/>
                </a:solidFill>
              </a:ln>
            </c:spPr>
          </c:dPt>
          <c:dPt>
            <c:idx val="4"/>
            <c:invertIfNegative val="0"/>
            <c:spPr>
              <a:solidFill>
                <a:schemeClr val="accent3"/>
              </a:solidFill>
              <a:ln>
                <a:solidFill>
                  <a:schemeClr val="accent3"/>
                </a:solidFill>
              </a:ln>
            </c:spPr>
          </c:dPt>
          <c:dPt>
            <c:idx val="5"/>
            <c:invertIfNegative val="0"/>
            <c:spPr>
              <a:solidFill>
                <a:schemeClr val="accent3"/>
              </a:solidFill>
              <a:ln>
                <a:solidFill>
                  <a:schemeClr val="accent3"/>
                </a:solidFill>
              </a:ln>
            </c:spPr>
          </c:dPt>
          <c:cat>
            <c:strRef>
              <c:f>Sheet1!$A$2:$A$7</c:f>
              <c:strCache>
                <c:ptCount val="6"/>
                <c:pt idx="0">
                  <c:v>煤 +1.5%</c:v>
                </c:pt>
                <c:pt idx="1">
                  <c:v>集装箱 +15.5%</c:v>
                </c:pt>
                <c:pt idx="2">
                  <c:v>冶炼物资 -3.6%</c:v>
                </c:pt>
                <c:pt idx="3">
                  <c:v>石油 +2.1%</c:v>
                </c:pt>
                <c:pt idx="4">
                  <c:v>粮食 -17.6%</c:v>
                </c:pt>
                <c:pt idx="5">
                  <c:v>化肥及农药 -5.2%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282365</c:v>
                </c:pt>
                <c:pt idx="1">
                  <c:v>91371</c:v>
                </c:pt>
                <c:pt idx="2">
                  <c:v>87726</c:v>
                </c:pt>
                <c:pt idx="3">
                  <c:v>13322</c:v>
                </c:pt>
                <c:pt idx="4">
                  <c:v>5640</c:v>
                </c:pt>
                <c:pt idx="5">
                  <c:v>4765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lang="zh-CN" sz="1350">
                  <a:solidFill>
                    <a:srgbClr val="1E2733"/>
                  </a:solidFill>
                  <a:latin typeface="Microsoft YaHei"/>
                  <a:ea typeface="Microsoft YaHei"/>
                  <a:cs typeface="Microsoft YaHei"/>
                </a:defRPr>
              </a:pPr>
              <a:endParaRPr lang="zh-CN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axId val="2068027336"/>
        <c:axId val="2113994440"/>
      </c:barChart>
      <c:catAx>
        <c:axId val="2068027336"/>
        <c:scaling>
          <c:orientation val="maxMin"/>
        </c:scaling>
        <c:delete val="0"/>
        <c:axPos val="l"/>
        <c:majorTickMark val="none"/>
        <c:minorTickMark val="none"/>
        <c:tickLblPos val="nextTo"/>
        <c:spPr>
          <a:ln w="9525" cap="flat" cmpd="sng" algn="ctr">
            <a:solidFill>
              <a:srgbClr val="5A6775"/>
            </a:solidFill>
            <a:round/>
          </a:ln>
        </c:spPr>
        <c:txPr>
          <a:bodyPr/>
          <a:lstStyle/>
          <a:p>
            <a:pPr>
              <a:defRPr lang="zh-CN" sz="1350">
                <a:solidFill>
                  <a:srgbClr val="1E2733"/>
                </a:solidFill>
                <a:latin typeface="Microsoft YaHei"/>
                <a:ea typeface="Microsoft YaHei"/>
                <a:cs typeface="Microsoft YaHei"/>
              </a:defRPr>
            </a:pPr>
            <a:endParaRPr lang="zh-CN"/>
          </a:p>
        </c:txPr>
        <c:crossAx val="2113994440"/>
        <c:crosses val="autoZero"/>
        <c:auto val="1"/>
        <c:lblAlgn val="ctr"/>
        <c:lblOffset val="100"/>
        <c:noMultiLvlLbl val="0"/>
      </c:catAx>
      <c:valAx>
        <c:axId val="2113994440"/>
        <c:scaling>
          <c:orientation val="minMax"/>
          <c:max val="300000"/>
          <c:min val="0"/>
        </c:scaling>
        <c:delete val="0"/>
        <c:axPos val="b"/>
        <c:majorGridlines>
          <c:spPr>
            <a:ln w="6350" cap="flat" cmpd="sng" algn="ctr">
              <a:solidFill>
                <a:srgbClr val="E6EBF1"/>
              </a:solidFill>
              <a:round/>
            </a:ln>
          </c:spPr>
        </c:majorGridlines>
        <c:title>
          <c:tx>
            <c:rich>
              <a:bodyPr/>
              <a:lstStyle/>
              <a:p>
                <a:pPr/>
                <a:r>
                  <a:rPr lang="zh-CN" sz="1350">
                    <a:solidFill>
                      <a:srgbClr val="1E2733"/>
                    </a:solidFill>
                    <a:latin typeface="Microsoft YaHei"/>
                    <a:ea typeface="Microsoft YaHei"/>
                    <a:cs typeface="Microsoft YaHei"/>
                  </a:rPr>
                  <a:t>万吨</a:t>
                </a:r>
              </a:p>
            </c:rich>
          </c:tx>
          <c:layout/>
          <c:overlay val="0"/>
        </c:title>
        <c:numFmt formatCode="0" sourceLinked="0"/>
        <c:majorTickMark val="none"/>
        <c:minorTickMark val="none"/>
        <c:tickLblPos val="nextTo"/>
        <c:spPr>
          <a:ln w="9525" cap="flat" cmpd="sng" algn="ctr">
            <a:solidFill>
              <a:srgbClr val="5A6775"/>
            </a:solidFill>
            <a:round/>
          </a:ln>
        </c:spPr>
        <c:txPr>
          <a:bodyPr/>
          <a:lstStyle/>
          <a:p>
            <a:pPr>
              <a:defRPr lang="zh-CN" sz="1350">
                <a:solidFill>
                  <a:srgbClr val="5A6775"/>
                </a:solidFill>
                <a:latin typeface="Microsoft YaHei"/>
                <a:ea typeface="Microsoft YaHei"/>
                <a:cs typeface="Microsoft YaHei"/>
              </a:defRPr>
            </a:pPr>
            <a:endParaRPr lang="zh-CN"/>
          </a:p>
        </c:txPr>
        <c:crossAx val="2068027336"/>
        <c:crosses val="max"/>
        <c:crossBetween val="between"/>
        <c:majorUnit val="100000"/>
      </c:valAx>
      <c:spPr>
        <a:noFill/>
        <a:ln>
          <a:noFill/>
        </a:ln>
      </c:spPr>
    </c:plotArea>
    <c:plotVisOnly val="1"/>
    <c:dispBlanksAs val="gap"/>
  </c:chart>
  <c:spPr>
    <a:noFill/>
    <a:ln>
      <a:noFill/>
    </a:ln>
  </c:spPr>
  <c:txPr>
    <a:bodyPr/>
    <a:lstStyle/>
    <a:p>
      <a:pPr>
        <a:defRPr lang="zh-CN" sz="1350">
          <a:solidFill>
            <a:srgbClr val="1E2733"/>
          </a:solidFill>
          <a:latin typeface="Microsoft YaHei"/>
          <a:ea typeface="Microsoft YaHei"/>
          <a:cs typeface="Microsoft YaHei"/>
        </a:defRPr>
      </a:pPr>
      <a:endParaRPr lang="zh-CN"/>
    </a:p>
  </c:txPr>
  <c:externalData r:id="rId1">
    <c:autoUpdate val="0"/>
  </c:externalData>
</c:chartSpace>
</file>

<file path=ppt/charts/chart80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chart>
    <c:autoTitleDeleted val="1"/>
    <c:plotArea>
      <c:layout>
        <c:manualLayout>
          <c:layoutTarget val="inner"/>
          <c:xMode val="edge"/>
          <c:yMode val="edge"/>
          <c:wMode val="factor"/>
          <c:hMode val="factor"/>
          <c:x val="0.122222222222"/>
          <c:y val="0.135"/>
          <c:w val="0.833333333333"/>
          <c:h val="0.675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总换算周转量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</c:spPr>
          <c:cat>
            <c:strRef>
              <c:f>Sheet1!$A$2:$A$7</c:f>
              <c:strCache>
                <c:ptCount val="6"/>
                <c:pt idx="0">
                  <c:v>2019年</c:v>
                </c:pt>
                <c:pt idx="1">
                  <c:v>2020年</c:v>
                </c:pt>
                <c:pt idx="2">
                  <c:v>2021年</c:v>
                </c:pt>
                <c:pt idx="3">
                  <c:v>2022年</c:v>
                </c:pt>
                <c:pt idx="4">
                  <c:v>2023年</c:v>
                </c:pt>
                <c:pt idx="5">
                  <c:v>2024年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44924</c:v>
                </c:pt>
                <c:pt idx="1">
                  <c:v>38780.65</c:v>
                </c:pt>
                <c:pt idx="2">
                  <c:v>42805.81</c:v>
                </c:pt>
                <c:pt idx="3">
                  <c:v>42523.22</c:v>
                </c:pt>
                <c:pt idx="4">
                  <c:v>51189.74</c:v>
                </c:pt>
                <c:pt idx="5">
                  <c:v>51661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lang="zh-CN" sz="1350">
                  <a:solidFill>
                    <a:srgbClr val="1E2733"/>
                  </a:solidFill>
                  <a:latin typeface="Microsoft YaHei"/>
                  <a:ea typeface="Microsoft YaHei"/>
                  <a:cs typeface="Microsoft YaHei"/>
                </a:defRPr>
              </a:pPr>
              <a:endParaRPr lang="zh-CN"/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2068027336"/>
        <c:axId val="2113994440"/>
      </c:areaChart>
      <c:catAx>
        <c:axId val="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 w="9525" cap="flat" cmpd="sng" algn="ctr">
            <a:solidFill>
              <a:srgbClr val="5A6775"/>
            </a:solidFill>
            <a:round/>
          </a:ln>
        </c:spPr>
        <c:txPr>
          <a:bodyPr/>
          <a:lstStyle/>
          <a:p>
            <a:pPr>
              <a:defRPr lang="zh-CN" sz="1350">
                <a:solidFill>
                  <a:srgbClr val="5A6775"/>
                </a:solidFill>
                <a:latin typeface="Microsoft YaHei"/>
                <a:ea typeface="Microsoft YaHei"/>
                <a:cs typeface="Microsoft YaHei"/>
              </a:defRPr>
            </a:pPr>
            <a:endParaRPr lang="zh-CN"/>
          </a:p>
        </c:txPr>
        <c:crossAx val="2113994440"/>
        <c:crosses val="autoZero"/>
        <c:auto val="1"/>
        <c:lblAlgn val="ctr"/>
        <c:lblOffset val="100"/>
        <c:noMultiLvlLbl val="0"/>
      </c:catAx>
      <c:valAx>
        <c:axId val="2113994440"/>
        <c:scaling>
          <c:orientation val="minMax"/>
          <c:max val="60000"/>
          <c:min val="0"/>
        </c:scaling>
        <c:delete val="0"/>
        <c:axPos val="l"/>
        <c:majorGridlines>
          <c:spPr>
            <a:ln w="6350" cap="flat" cmpd="sng" algn="ctr">
              <a:solidFill>
                <a:srgbClr val="E6EBF1"/>
              </a:solidFill>
              <a:round/>
            </a:ln>
          </c:spPr>
        </c:majorGridlines>
        <c:title>
          <c:tx>
            <c:rich>
              <a:bodyPr/>
              <a:lstStyle/>
              <a:p>
                <a:pPr/>
                <a:r>
                  <a:rPr lang="zh-CN" sz="1350">
                    <a:solidFill>
                      <a:srgbClr val="5A6775"/>
                    </a:solidFill>
                    <a:latin typeface="Microsoft YaHei"/>
                    <a:ea typeface="Microsoft YaHei"/>
                    <a:cs typeface="Microsoft YaHei"/>
                  </a:rPr>
                  <a:t>亿吨公里</a:t>
                </a:r>
              </a:p>
            </c:rich>
          </c:tx>
          <c:layout/>
          <c:overlay val="0"/>
        </c:title>
        <c:numFmt formatCode="0" sourceLinked="0"/>
        <c:majorTickMark val="none"/>
        <c:minorTickMark val="none"/>
        <c:tickLblPos val="nextTo"/>
        <c:spPr>
          <a:ln w="9525" cap="flat" cmpd="sng" algn="ctr">
            <a:solidFill>
              <a:srgbClr val="5A6775"/>
            </a:solidFill>
            <a:round/>
          </a:ln>
        </c:spPr>
        <c:txPr>
          <a:bodyPr/>
          <a:lstStyle/>
          <a:p>
            <a:pPr>
              <a:defRPr lang="zh-CN" sz="1350">
                <a:solidFill>
                  <a:srgbClr val="5A6775"/>
                </a:solidFill>
                <a:latin typeface="Microsoft YaHei"/>
                <a:ea typeface="Microsoft YaHei"/>
                <a:cs typeface="Microsoft YaHei"/>
              </a:defRPr>
            </a:pPr>
            <a:endParaRPr lang="zh-CN"/>
          </a:p>
        </c:txPr>
        <c:crossAx val="2068027336"/>
        <c:crosses val="autoZero"/>
        <c:crossBetween val="midCat"/>
        <c:majorUnit val="10000"/>
      </c:valAx>
      <c:spPr>
        <a:noFill/>
        <a:ln>
          <a:noFill/>
        </a:ln>
      </c:spPr>
    </c:plotArea>
    <c:plotVisOnly val="1"/>
    <c:dispBlanksAs val="gap"/>
  </c:chart>
  <c:spPr>
    <a:noFill/>
    <a:ln>
      <a:noFill/>
    </a:ln>
  </c:spPr>
  <c:txPr>
    <a:bodyPr/>
    <a:lstStyle/>
    <a:p>
      <a:pPr>
        <a:defRPr lang="zh-CN" sz="1350">
          <a:solidFill>
            <a:srgbClr val="5A6775"/>
          </a:solidFill>
          <a:latin typeface="Microsoft YaHei"/>
          <a:ea typeface="Microsoft YaHei"/>
          <a:cs typeface="Microsoft YaHei"/>
        </a:defRPr>
      </a:pPr>
      <a:endParaRPr lang="zh-CN"/>
    </a:p>
  </c:txPr>
  <c:externalData r:id="rId1">
    <c:autoUpdate val="0"/>
  </c:externalData>
</c:chartSpace>
</file>

<file path=ppt/charts/chart110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chart>
    <c:autoTitleDeleted val="1"/>
    <c:plotArea>
      <c:layout>
        <c:manualLayout>
          <c:layoutTarget val="inner"/>
          <c:xMode val="edge"/>
          <c:yMode val="edge"/>
          <c:wMode val="factor"/>
          <c:hMode val="factor"/>
          <c:x val="0.0950704225352"/>
          <c:y val="0.0988372093023"/>
          <c:w val="0.792253521127"/>
          <c:h val="0.755813953488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中国</c:v>
                </c:pt>
              </c:strCache>
            </c:strRef>
          </c:tx>
          <c:spPr>
            <a:solidFill>
              <a:schemeClr val="accent2"/>
            </a:solidFill>
            <a:ln>
              <a:solidFill>
                <a:schemeClr val="accent2"/>
              </a:solidFill>
            </a:ln>
          </c:spPr>
          <c:marker>
            <c:symbol val="none"/>
          </c:marker>
          <c:cat>
            <c:strRef>
              <c:f>Sheet1!$A$2:$A$23</c:f>
              <c:strCache>
                <c:ptCount val="22"/>
                <c:pt idx="0">
                  <c:v>2000</c:v>
                </c:pt>
                <c:pt idx="1">
                  <c:v>2001</c:v>
                </c:pt>
                <c:pt idx="2">
                  <c:v>2002</c:v>
                </c:pt>
                <c:pt idx="3">
                  <c:v>2003</c:v>
                </c:pt>
                <c:pt idx="4">
                  <c:v>2004</c:v>
                </c:pt>
                <c:pt idx="5">
                  <c:v>2005</c:v>
                </c:pt>
                <c:pt idx="6">
                  <c:v>2006</c:v>
                </c:pt>
                <c:pt idx="7">
                  <c:v>2007</c:v>
                </c:pt>
                <c:pt idx="8">
                  <c:v>2008</c:v>
                </c:pt>
                <c:pt idx="9">
                  <c:v>2009</c:v>
                </c:pt>
                <c:pt idx="10">
                  <c:v>2010</c:v>
                </c:pt>
                <c:pt idx="11">
                  <c:v>2011</c:v>
                </c:pt>
                <c:pt idx="12">
                  <c:v>2012</c:v>
                </c:pt>
                <c:pt idx="13">
                  <c:v>2013</c:v>
                </c:pt>
                <c:pt idx="14">
                  <c:v>2014</c:v>
                </c:pt>
                <c:pt idx="15">
                  <c:v>2015</c:v>
                </c:pt>
                <c:pt idx="16">
                  <c:v>2016</c:v>
                </c:pt>
                <c:pt idx="17">
                  <c:v>2017</c:v>
                </c:pt>
                <c:pt idx="18">
                  <c:v>2018</c:v>
                </c:pt>
                <c:pt idx="19">
                  <c:v>2019</c:v>
                </c:pt>
                <c:pt idx="20">
                  <c:v>2020</c:v>
                </c:pt>
                <c:pt idx="21">
                  <c:v>2021</c:v>
                </c:pt>
              </c:strCache>
            </c:strRef>
          </c:cat>
          <c:val>
            <c:numRef>
              <c:f>Sheet1!$B$2:$B$23</c:f>
              <c:numCache>
                <c:formatCode>General</c:formatCode>
                <c:ptCount val="22"/>
                <c:pt idx="0">
                  <c:v>58656</c:v>
                </c:pt>
                <c:pt idx="1">
                  <c:v>59079</c:v>
                </c:pt>
                <c:pt idx="2">
                  <c:v>59530</c:v>
                </c:pt>
                <c:pt idx="3">
                  <c:v>60446</c:v>
                </c:pt>
                <c:pt idx="4">
                  <c:v>61015</c:v>
                </c:pt>
                <c:pt idx="5">
                  <c:v>62200</c:v>
                </c:pt>
                <c:pt idx="6">
                  <c:v>63411.7</c:v>
                </c:pt>
                <c:pt idx="7">
                  <c:v>63636.5</c:v>
                </c:pt>
                <c:pt idx="8">
                  <c:v>60809</c:v>
                </c:pt>
                <c:pt idx="9">
                  <c:v>65491</c:v>
                </c:pt>
                <c:pt idx="10">
                  <c:v>66239</c:v>
                </c:pt>
                <c:pt idx="11">
                  <c:v>72487</c:v>
                </c:pt>
                <c:pt idx="12">
                  <c:v>85843</c:v>
                </c:pt>
                <c:pt idx="13">
                  <c:v>79306</c:v>
                </c:pt>
                <c:pt idx="14">
                  <c:v>85320</c:v>
                </c:pt>
                <c:pt idx="15">
                  <c:v>89966</c:v>
                </c:pt>
                <c:pt idx="16">
                  <c:v>91675</c:v>
                </c:pt>
                <c:pt idx="17">
                  <c:v>93742</c:v>
                </c:pt>
                <c:pt idx="18">
                  <c:v>96353</c:v>
                </c:pt>
                <c:pt idx="19">
                  <c:v>102462</c:v>
                </c:pt>
                <c:pt idx="20">
                  <c:v>106235</c:v>
                </c:pt>
                <c:pt idx="21">
                  <c:v>109767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美国</c:v>
                </c:pt>
              </c:strCache>
            </c:strRef>
          </c:tx>
          <c:spPr>
            <a:solidFill>
              <a:schemeClr val="accent1"/>
            </a:solidFill>
            <a:ln>
              <a:solidFill>
                <a:schemeClr val="accent1"/>
              </a:solidFill>
            </a:ln>
          </c:spPr>
          <c:marker>
            <c:symbol val="none"/>
          </c:marker>
          <c:cat>
            <c:strRef>
              <c:f>Sheet1!$A$2:$A$23</c:f>
              <c:strCache>
                <c:ptCount val="22"/>
                <c:pt idx="0">
                  <c:v>2000</c:v>
                </c:pt>
                <c:pt idx="1">
                  <c:v>2001</c:v>
                </c:pt>
                <c:pt idx="2">
                  <c:v>2002</c:v>
                </c:pt>
                <c:pt idx="3">
                  <c:v>2003</c:v>
                </c:pt>
                <c:pt idx="4">
                  <c:v>2004</c:v>
                </c:pt>
                <c:pt idx="5">
                  <c:v>2005</c:v>
                </c:pt>
                <c:pt idx="6">
                  <c:v>2006</c:v>
                </c:pt>
                <c:pt idx="7">
                  <c:v>2007</c:v>
                </c:pt>
                <c:pt idx="8">
                  <c:v>2008</c:v>
                </c:pt>
                <c:pt idx="9">
                  <c:v>2009</c:v>
                </c:pt>
                <c:pt idx="10">
                  <c:v>2010</c:v>
                </c:pt>
                <c:pt idx="11">
                  <c:v>2011</c:v>
                </c:pt>
                <c:pt idx="12">
                  <c:v>2012</c:v>
                </c:pt>
                <c:pt idx="13">
                  <c:v>2013</c:v>
                </c:pt>
                <c:pt idx="14">
                  <c:v>2014</c:v>
                </c:pt>
                <c:pt idx="15">
                  <c:v>2015</c:v>
                </c:pt>
                <c:pt idx="16">
                  <c:v>2016</c:v>
                </c:pt>
                <c:pt idx="17">
                  <c:v>2017</c:v>
                </c:pt>
                <c:pt idx="18">
                  <c:v>2018</c:v>
                </c:pt>
                <c:pt idx="19">
                  <c:v>2019</c:v>
                </c:pt>
                <c:pt idx="20">
                  <c:v>2020</c:v>
                </c:pt>
                <c:pt idx="21">
                  <c:v>2021</c:v>
                </c:pt>
              </c:strCache>
            </c:strRef>
          </c:cat>
          <c:val>
            <c:numRef>
              <c:f>Sheet1!$C$2:$C$23</c:f>
              <c:numCache>
                <c:formatCode>General</c:formatCode>
                <c:ptCount val="22"/>
                <c:pt idx="0">
                  <c:v>194077</c:v>
                </c:pt>
                <c:pt idx="1">
                  <c:v>194746</c:v>
                </c:pt>
                <c:pt idx="2">
                  <c:v>198057</c:v>
                </c:pt>
                <c:pt idx="3">
                  <c:v>196806</c:v>
                </c:pt>
                <c:pt idx="4">
                  <c:v>195369</c:v>
                </c:pt>
                <c:pt idx="5">
                  <c:v>194025</c:v>
                </c:pt>
                <c:pt idx="6">
                  <c:v>191771</c:v>
                </c:pt>
                <c:pt idx="7">
                  <c:v>192508</c:v>
                </c:pt>
                <c:pt idx="8">
                  <c:v>192123</c:v>
                </c:pt>
                <c:pt idx="9">
                  <c:v>191785</c:v>
                </c:pt>
                <c:pt idx="10">
                  <c:v>194431</c:v>
                </c:pt>
                <c:pt idx="11">
                  <c:v>194136</c:v>
                </c:pt>
                <c:pt idx="12">
                  <c:v>153516.6</c:v>
                </c:pt>
                <c:pt idx="13">
                  <c:v>154321.5</c:v>
                </c:pt>
                <c:pt idx="14">
                  <c:v>152932.6</c:v>
                </c:pt>
                <c:pt idx="15">
                  <c:v>151735</c:v>
                </c:pt>
                <c:pt idx="16">
                  <c:v>151270</c:v>
                </c:pt>
                <c:pt idx="17">
                  <c:v>150966</c:v>
                </c:pt>
                <c:pt idx="18">
                  <c:v>150462.2976</c:v>
                </c:pt>
                <c:pt idx="19">
                  <c:v>149488.6469</c:v>
                </c:pt>
                <c:pt idx="20">
                  <c:v>148749.68684</c:v>
                </c:pt>
                <c:pt idx="21">
                  <c:v>148553.34734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俄罗斯</c:v>
                </c:pt>
              </c:strCache>
            </c:strRef>
          </c:tx>
          <c:spPr>
            <a:solidFill>
              <a:schemeClr val="accent3"/>
            </a:solidFill>
            <a:ln>
              <a:solidFill>
                <a:schemeClr val="accent3"/>
              </a:solidFill>
            </a:ln>
          </c:spPr>
          <c:marker>
            <c:symbol val="none"/>
          </c:marker>
          <c:cat>
            <c:strRef>
              <c:f>Sheet1!$A$2:$A$23</c:f>
              <c:strCache>
                <c:ptCount val="22"/>
                <c:pt idx="0">
                  <c:v>2000</c:v>
                </c:pt>
                <c:pt idx="1">
                  <c:v>2001</c:v>
                </c:pt>
                <c:pt idx="2">
                  <c:v>2002</c:v>
                </c:pt>
                <c:pt idx="3">
                  <c:v>2003</c:v>
                </c:pt>
                <c:pt idx="4">
                  <c:v>2004</c:v>
                </c:pt>
                <c:pt idx="5">
                  <c:v>2005</c:v>
                </c:pt>
                <c:pt idx="6">
                  <c:v>2006</c:v>
                </c:pt>
                <c:pt idx="7">
                  <c:v>2007</c:v>
                </c:pt>
                <c:pt idx="8">
                  <c:v>2008</c:v>
                </c:pt>
                <c:pt idx="9">
                  <c:v>2009</c:v>
                </c:pt>
                <c:pt idx="10">
                  <c:v>2010</c:v>
                </c:pt>
                <c:pt idx="11">
                  <c:v>2011</c:v>
                </c:pt>
                <c:pt idx="12">
                  <c:v>2012</c:v>
                </c:pt>
                <c:pt idx="13">
                  <c:v>2013</c:v>
                </c:pt>
                <c:pt idx="14">
                  <c:v>2014</c:v>
                </c:pt>
                <c:pt idx="15">
                  <c:v>2015</c:v>
                </c:pt>
                <c:pt idx="16">
                  <c:v>2016</c:v>
                </c:pt>
                <c:pt idx="17">
                  <c:v>2017</c:v>
                </c:pt>
                <c:pt idx="18">
                  <c:v>2018</c:v>
                </c:pt>
                <c:pt idx="19">
                  <c:v>2019</c:v>
                </c:pt>
                <c:pt idx="20">
                  <c:v>2020</c:v>
                </c:pt>
                <c:pt idx="21">
                  <c:v>2021</c:v>
                </c:pt>
              </c:strCache>
            </c:strRef>
          </c:cat>
          <c:val>
            <c:numRef>
              <c:f>Sheet1!$D$2:$D$23</c:f>
              <c:numCache>
                <c:formatCode>General</c:formatCode>
                <c:ptCount val="22"/>
                <c:pt idx="0">
                  <c:v>86075</c:v>
                </c:pt>
                <c:pt idx="1">
                  <c:v>85835</c:v>
                </c:pt>
                <c:pt idx="2">
                  <c:v>85542</c:v>
                </c:pt>
                <c:pt idx="3">
                  <c:v>85394</c:v>
                </c:pt>
                <c:pt idx="4">
                  <c:v>85286</c:v>
                </c:pt>
                <c:pt idx="5">
                  <c:v>85542</c:v>
                </c:pt>
                <c:pt idx="6">
                  <c:v>85253</c:v>
                </c:pt>
                <c:pt idx="7">
                  <c:v>84158</c:v>
                </c:pt>
                <c:pt idx="8">
                  <c:v>85194</c:v>
                </c:pt>
                <c:pt idx="9">
                  <c:v>85281</c:v>
                </c:pt>
                <c:pt idx="10">
                  <c:v>85292</c:v>
                </c:pt>
                <c:pt idx="11">
                  <c:v>85166</c:v>
                </c:pt>
                <c:pt idx="12">
                  <c:v>85248</c:v>
                </c:pt>
                <c:pt idx="13">
                  <c:v>85266</c:v>
                </c:pt>
                <c:pt idx="14">
                  <c:v>84581</c:v>
                </c:pt>
                <c:pt idx="15">
                  <c:v>85262</c:v>
                </c:pt>
                <c:pt idx="16">
                  <c:v>85375</c:v>
                </c:pt>
                <c:pt idx="17">
                  <c:v>85545</c:v>
                </c:pt>
                <c:pt idx="18">
                  <c:v>85626</c:v>
                </c:pt>
                <c:pt idx="19">
                  <c:v>85494</c:v>
                </c:pt>
                <c:pt idx="20">
                  <c:v>85555</c:v>
                </c:pt>
                <c:pt idx="21">
                  <c:v>85544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印度</c:v>
                </c:pt>
              </c:strCache>
            </c:strRef>
          </c:tx>
          <c:spPr>
            <a:solidFill>
              <a:srgbClr val="4A90C4"/>
            </a:solidFill>
            <a:ln>
              <a:solidFill>
                <a:srgbClr val="4A90C4"/>
              </a:solidFill>
            </a:ln>
          </c:spPr>
          <c:marker>
            <c:symbol val="none"/>
          </c:marker>
          <c:cat>
            <c:strRef>
              <c:f>Sheet1!$A$2:$A$23</c:f>
              <c:strCache>
                <c:ptCount val="22"/>
                <c:pt idx="0">
                  <c:v>2000</c:v>
                </c:pt>
                <c:pt idx="1">
                  <c:v>2001</c:v>
                </c:pt>
                <c:pt idx="2">
                  <c:v>2002</c:v>
                </c:pt>
                <c:pt idx="3">
                  <c:v>2003</c:v>
                </c:pt>
                <c:pt idx="4">
                  <c:v>2004</c:v>
                </c:pt>
                <c:pt idx="5">
                  <c:v>2005</c:v>
                </c:pt>
                <c:pt idx="6">
                  <c:v>2006</c:v>
                </c:pt>
                <c:pt idx="7">
                  <c:v>2007</c:v>
                </c:pt>
                <c:pt idx="8">
                  <c:v>2008</c:v>
                </c:pt>
                <c:pt idx="9">
                  <c:v>2009</c:v>
                </c:pt>
                <c:pt idx="10">
                  <c:v>2010</c:v>
                </c:pt>
                <c:pt idx="11">
                  <c:v>2011</c:v>
                </c:pt>
                <c:pt idx="12">
                  <c:v>2012</c:v>
                </c:pt>
                <c:pt idx="13">
                  <c:v>2013</c:v>
                </c:pt>
                <c:pt idx="14">
                  <c:v>2014</c:v>
                </c:pt>
                <c:pt idx="15">
                  <c:v>2015</c:v>
                </c:pt>
                <c:pt idx="16">
                  <c:v>2016</c:v>
                </c:pt>
                <c:pt idx="17">
                  <c:v>2017</c:v>
                </c:pt>
                <c:pt idx="18">
                  <c:v>2018</c:v>
                </c:pt>
                <c:pt idx="19">
                  <c:v>2019</c:v>
                </c:pt>
                <c:pt idx="20">
                  <c:v>2020</c:v>
                </c:pt>
                <c:pt idx="21">
                  <c:v>2021</c:v>
                </c:pt>
              </c:strCache>
            </c:strRef>
          </c:cat>
          <c:val>
            <c:numRef>
              <c:f>Sheet1!$E$2:$E$23</c:f>
              <c:numCache>
                <c:formatCode>General</c:formatCode>
                <c:ptCount val="22"/>
                <c:pt idx="0">
                  <c:v>62759</c:v>
                </c:pt>
                <c:pt idx="1">
                  <c:v>63028</c:v>
                </c:pt>
                <c:pt idx="2">
                  <c:v>63140</c:v>
                </c:pt>
                <c:pt idx="3">
                  <c:v>63122</c:v>
                </c:pt>
                <c:pt idx="4">
                  <c:v>63221</c:v>
                </c:pt>
                <c:pt idx="5">
                  <c:v>63485</c:v>
                </c:pt>
                <c:pt idx="6">
                  <c:v>63332</c:v>
                </c:pt>
                <c:pt idx="7">
                  <c:v>63327</c:v>
                </c:pt>
                <c:pt idx="8">
                  <c:v>63273</c:v>
                </c:pt>
                <c:pt idx="9">
                  <c:v>64015</c:v>
                </c:pt>
                <c:pt idx="10">
                  <c:v>63974</c:v>
                </c:pt>
                <c:pt idx="11">
                  <c:v>64460</c:v>
                </c:pt>
                <c:pt idx="12">
                  <c:v>64600</c:v>
                </c:pt>
                <c:pt idx="13">
                  <c:v>65436</c:v>
                </c:pt>
                <c:pt idx="14">
                  <c:v>65808</c:v>
                </c:pt>
                <c:pt idx="15">
                  <c:v>66030</c:v>
                </c:pt>
                <c:pt idx="16">
                  <c:v>66687</c:v>
                </c:pt>
                <c:pt idx="17">
                  <c:v>67368</c:v>
                </c:pt>
                <c:pt idx="18">
                  <c:v>69249</c:v>
                </c:pt>
                <c:pt idx="19">
                  <c:v>67414.07</c:v>
                </c:pt>
                <c:pt idx="20">
                  <c:v>67955.63</c:v>
                </c:pt>
                <c:pt idx="21">
                  <c:v>68102.73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德国</c:v>
                </c:pt>
              </c:strCache>
            </c:strRef>
          </c:tx>
          <c:spPr>
            <a:solidFill>
              <a:srgbClr val="7FA8C9"/>
            </a:solidFill>
            <a:ln>
              <a:solidFill>
                <a:srgbClr val="7FA8C9"/>
              </a:solidFill>
            </a:ln>
          </c:spPr>
          <c:marker>
            <c:symbol val="none"/>
          </c:marker>
          <c:cat>
            <c:strRef>
              <c:f>Sheet1!$A$2:$A$23</c:f>
              <c:strCache>
                <c:ptCount val="22"/>
                <c:pt idx="0">
                  <c:v>2000</c:v>
                </c:pt>
                <c:pt idx="1">
                  <c:v>2001</c:v>
                </c:pt>
                <c:pt idx="2">
                  <c:v>2002</c:v>
                </c:pt>
                <c:pt idx="3">
                  <c:v>2003</c:v>
                </c:pt>
                <c:pt idx="4">
                  <c:v>2004</c:v>
                </c:pt>
                <c:pt idx="5">
                  <c:v>2005</c:v>
                </c:pt>
                <c:pt idx="6">
                  <c:v>2006</c:v>
                </c:pt>
                <c:pt idx="7">
                  <c:v>2007</c:v>
                </c:pt>
                <c:pt idx="8">
                  <c:v>2008</c:v>
                </c:pt>
                <c:pt idx="9">
                  <c:v>2009</c:v>
                </c:pt>
                <c:pt idx="10">
                  <c:v>2010</c:v>
                </c:pt>
                <c:pt idx="11">
                  <c:v>2011</c:v>
                </c:pt>
                <c:pt idx="12">
                  <c:v>2012</c:v>
                </c:pt>
                <c:pt idx="13">
                  <c:v>2013</c:v>
                </c:pt>
                <c:pt idx="14">
                  <c:v>2014</c:v>
                </c:pt>
                <c:pt idx="15">
                  <c:v>2015</c:v>
                </c:pt>
                <c:pt idx="16">
                  <c:v>2016</c:v>
                </c:pt>
                <c:pt idx="17">
                  <c:v>2017</c:v>
                </c:pt>
                <c:pt idx="18">
                  <c:v>2018</c:v>
                </c:pt>
                <c:pt idx="19">
                  <c:v>2019</c:v>
                </c:pt>
                <c:pt idx="20">
                  <c:v>2020</c:v>
                </c:pt>
                <c:pt idx="21">
                  <c:v>2021</c:v>
                </c:pt>
              </c:strCache>
            </c:strRef>
          </c:cat>
          <c:val>
            <c:numRef>
              <c:f>Sheet1!$F$2:$F$23</c:f>
              <c:numCache>
                <c:formatCode>General</c:formatCode>
                <c:ptCount val="22"/>
                <c:pt idx="0">
                  <c:v>36642</c:v>
                </c:pt>
                <c:pt idx="1">
                  <c:v>36050</c:v>
                </c:pt>
                <c:pt idx="2">
                  <c:v>35868</c:v>
                </c:pt>
                <c:pt idx="3">
                  <c:v>36054</c:v>
                </c:pt>
                <c:pt idx="4">
                  <c:v>34724.575</c:v>
                </c:pt>
                <c:pt idx="5">
                  <c:v>34228.19</c:v>
                </c:pt>
                <c:pt idx="6">
                  <c:v>34128.4</c:v>
                </c:pt>
                <c:pt idx="7">
                  <c:v>33977.603</c:v>
                </c:pt>
                <c:pt idx="8">
                  <c:v>33862.3</c:v>
                </c:pt>
                <c:pt idx="9">
                  <c:v>33721.305</c:v>
                </c:pt>
                <c:pt idx="10">
                  <c:v>33714.093</c:v>
                </c:pt>
                <c:pt idx="11">
                  <c:v>33575.872</c:v>
                </c:pt>
                <c:pt idx="12">
                  <c:v>33506</c:v>
                </c:pt>
                <c:pt idx="13">
                  <c:v>33449</c:v>
                </c:pt>
                <c:pt idx="14">
                  <c:v>33426</c:v>
                </c:pt>
                <c:pt idx="15">
                  <c:v>33332</c:v>
                </c:pt>
                <c:pt idx="16">
                  <c:v>33380</c:v>
                </c:pt>
                <c:pt idx="17">
                  <c:v>33488</c:v>
                </c:pt>
                <c:pt idx="18">
                  <c:v>33440</c:v>
                </c:pt>
                <c:pt idx="19">
                  <c:v>33423</c:v>
                </c:pt>
                <c:pt idx="20">
                  <c:v>33399</c:v>
                </c:pt>
                <c:pt idx="21">
                  <c:v>33401</c:v>
                </c:pt>
              </c:numCache>
            </c:numRef>
          </c:val>
          <c:smooth val="0"/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法国</c:v>
                </c:pt>
              </c:strCache>
            </c:strRef>
          </c:tx>
          <c:spPr>
            <a:solidFill>
              <a:srgbClr val="9AA7B4"/>
            </a:solidFill>
            <a:ln>
              <a:solidFill>
                <a:srgbClr val="9AA7B4"/>
              </a:solidFill>
            </a:ln>
          </c:spPr>
          <c:marker>
            <c:symbol val="none"/>
          </c:marker>
          <c:cat>
            <c:strRef>
              <c:f>Sheet1!$A$2:$A$23</c:f>
              <c:strCache>
                <c:ptCount val="22"/>
                <c:pt idx="0">
                  <c:v>2000</c:v>
                </c:pt>
                <c:pt idx="1">
                  <c:v>2001</c:v>
                </c:pt>
                <c:pt idx="2">
                  <c:v>2002</c:v>
                </c:pt>
                <c:pt idx="3">
                  <c:v>2003</c:v>
                </c:pt>
                <c:pt idx="4">
                  <c:v>2004</c:v>
                </c:pt>
                <c:pt idx="5">
                  <c:v>2005</c:v>
                </c:pt>
                <c:pt idx="6">
                  <c:v>2006</c:v>
                </c:pt>
                <c:pt idx="7">
                  <c:v>2007</c:v>
                </c:pt>
                <c:pt idx="8">
                  <c:v>2008</c:v>
                </c:pt>
                <c:pt idx="9">
                  <c:v>2009</c:v>
                </c:pt>
                <c:pt idx="10">
                  <c:v>2010</c:v>
                </c:pt>
                <c:pt idx="11">
                  <c:v>2011</c:v>
                </c:pt>
                <c:pt idx="12">
                  <c:v>2012</c:v>
                </c:pt>
                <c:pt idx="13">
                  <c:v>2013</c:v>
                </c:pt>
                <c:pt idx="14">
                  <c:v>2014</c:v>
                </c:pt>
                <c:pt idx="15">
                  <c:v>2015</c:v>
                </c:pt>
                <c:pt idx="16">
                  <c:v>2016</c:v>
                </c:pt>
                <c:pt idx="17">
                  <c:v>2017</c:v>
                </c:pt>
                <c:pt idx="18">
                  <c:v>2018</c:v>
                </c:pt>
                <c:pt idx="19">
                  <c:v>2019</c:v>
                </c:pt>
                <c:pt idx="20">
                  <c:v>2020</c:v>
                </c:pt>
                <c:pt idx="21">
                  <c:v>2021</c:v>
                </c:pt>
              </c:strCache>
            </c:strRef>
          </c:cat>
          <c:val>
            <c:numRef>
              <c:f>Sheet1!$G$2:$G$23</c:f>
              <c:numCache>
                <c:formatCode>General</c:formatCode>
                <c:ptCount val="22"/>
                <c:pt idx="0">
                  <c:v>29330</c:v>
                </c:pt>
                <c:pt idx="1">
                  <c:v>29503</c:v>
                </c:pt>
                <c:pt idx="2">
                  <c:v>29410</c:v>
                </c:pt>
                <c:pt idx="3">
                  <c:v>29327</c:v>
                </c:pt>
                <c:pt idx="4">
                  <c:v>29304</c:v>
                </c:pt>
                <c:pt idx="5">
                  <c:v>28470</c:v>
                </c:pt>
                <c:pt idx="6">
                  <c:v>29620</c:v>
                </c:pt>
                <c:pt idx="7">
                  <c:v>29976</c:v>
                </c:pt>
                <c:pt idx="8">
                  <c:v>29959</c:v>
                </c:pt>
                <c:pt idx="9">
                  <c:v>33698</c:v>
                </c:pt>
                <c:pt idx="10">
                  <c:v>29929</c:v>
                </c:pt>
                <c:pt idx="11">
                  <c:v>30071</c:v>
                </c:pt>
                <c:pt idx="12">
                  <c:v>29406</c:v>
                </c:pt>
                <c:pt idx="13">
                  <c:v>29979</c:v>
                </c:pt>
                <c:pt idx="15">
                  <c:v>28866</c:v>
                </c:pt>
                <c:pt idx="16">
                  <c:v>29236.65</c:v>
                </c:pt>
                <c:pt idx="17">
                  <c:v>29248.142</c:v>
                </c:pt>
                <c:pt idx="18">
                  <c:v>28241</c:v>
                </c:pt>
                <c:pt idx="19">
                  <c:v>28157</c:v>
                </c:pt>
                <c:pt idx="20">
                  <c:v>27872</c:v>
                </c:pt>
                <c:pt idx="21">
                  <c:v>27716</c:v>
                </c:pt>
              </c:numCache>
            </c:numRef>
          </c:val>
          <c:smooth val="0"/>
        </c:ser>
        <c:ser>
          <c:idx val="6"/>
          <c:order val="6"/>
          <c:tx>
            <c:strRef>
              <c:f>Sheet1!$H$1</c:f>
              <c:strCache>
                <c:ptCount val="1"/>
                <c:pt idx="0">
                  <c:v>日本</c:v>
                </c:pt>
              </c:strCache>
            </c:strRef>
          </c:tx>
          <c:spPr>
            <a:solidFill>
              <a:srgbClr val="6E7A87"/>
            </a:solidFill>
            <a:ln>
              <a:solidFill>
                <a:srgbClr val="6E7A87"/>
              </a:solidFill>
            </a:ln>
          </c:spPr>
          <c:marker>
            <c:symbol val="none"/>
          </c:marker>
          <c:cat>
            <c:strRef>
              <c:f>Sheet1!$A$2:$A$23</c:f>
              <c:strCache>
                <c:ptCount val="22"/>
                <c:pt idx="0">
                  <c:v>2000</c:v>
                </c:pt>
                <c:pt idx="1">
                  <c:v>2001</c:v>
                </c:pt>
                <c:pt idx="2">
                  <c:v>2002</c:v>
                </c:pt>
                <c:pt idx="3">
                  <c:v>2003</c:v>
                </c:pt>
                <c:pt idx="4">
                  <c:v>2004</c:v>
                </c:pt>
                <c:pt idx="5">
                  <c:v>2005</c:v>
                </c:pt>
                <c:pt idx="6">
                  <c:v>2006</c:v>
                </c:pt>
                <c:pt idx="7">
                  <c:v>2007</c:v>
                </c:pt>
                <c:pt idx="8">
                  <c:v>2008</c:v>
                </c:pt>
                <c:pt idx="9">
                  <c:v>2009</c:v>
                </c:pt>
                <c:pt idx="10">
                  <c:v>2010</c:v>
                </c:pt>
                <c:pt idx="11">
                  <c:v>2011</c:v>
                </c:pt>
                <c:pt idx="12">
                  <c:v>2012</c:v>
                </c:pt>
                <c:pt idx="13">
                  <c:v>2013</c:v>
                </c:pt>
                <c:pt idx="14">
                  <c:v>2014</c:v>
                </c:pt>
                <c:pt idx="15">
                  <c:v>2015</c:v>
                </c:pt>
                <c:pt idx="16">
                  <c:v>2016</c:v>
                </c:pt>
                <c:pt idx="17">
                  <c:v>2017</c:v>
                </c:pt>
                <c:pt idx="18">
                  <c:v>2018</c:v>
                </c:pt>
                <c:pt idx="19">
                  <c:v>2019</c:v>
                </c:pt>
                <c:pt idx="20">
                  <c:v>2020</c:v>
                </c:pt>
                <c:pt idx="21">
                  <c:v>2021</c:v>
                </c:pt>
              </c:strCache>
            </c:strRef>
          </c:cat>
          <c:val>
            <c:numRef>
              <c:f>Sheet1!$H$2:$H$23</c:f>
              <c:numCache>
                <c:formatCode>General</c:formatCode>
                <c:ptCount val="22"/>
                <c:pt idx="10">
                  <c:v>20140.3</c:v>
                </c:pt>
                <c:pt idx="11">
                  <c:v>20087.4</c:v>
                </c:pt>
              </c:numCache>
            </c:numRef>
          </c:val>
          <c:smooth val="0"/>
        </c:ser>
        <c:ser>
          <c:idx val="7"/>
          <c:order val="7"/>
          <c:tx>
            <c:strRef>
              <c:f>Sheet1!$I$1</c:f>
              <c:strCache>
                <c:ptCount val="1"/>
                <c:pt idx="0">
                  <c:v>西班牙</c:v>
                </c:pt>
              </c:strCache>
            </c:strRef>
          </c:tx>
          <c:spPr>
            <a:solidFill>
              <a:srgbClr val="B8C2CC"/>
            </a:solidFill>
            <a:ln>
              <a:solidFill>
                <a:srgbClr val="B8C2CC"/>
              </a:solidFill>
            </a:ln>
          </c:spPr>
          <c:marker>
            <c:symbol val="none"/>
          </c:marker>
          <c:cat>
            <c:strRef>
              <c:f>Sheet1!$A$2:$A$23</c:f>
              <c:strCache>
                <c:ptCount val="22"/>
                <c:pt idx="0">
                  <c:v>2000</c:v>
                </c:pt>
                <c:pt idx="1">
                  <c:v>2001</c:v>
                </c:pt>
                <c:pt idx="2">
                  <c:v>2002</c:v>
                </c:pt>
                <c:pt idx="3">
                  <c:v>2003</c:v>
                </c:pt>
                <c:pt idx="4">
                  <c:v>2004</c:v>
                </c:pt>
                <c:pt idx="5">
                  <c:v>2005</c:v>
                </c:pt>
                <c:pt idx="6">
                  <c:v>2006</c:v>
                </c:pt>
                <c:pt idx="7">
                  <c:v>2007</c:v>
                </c:pt>
                <c:pt idx="8">
                  <c:v>2008</c:v>
                </c:pt>
                <c:pt idx="9">
                  <c:v>2009</c:v>
                </c:pt>
                <c:pt idx="10">
                  <c:v>2010</c:v>
                </c:pt>
                <c:pt idx="11">
                  <c:v>2011</c:v>
                </c:pt>
                <c:pt idx="12">
                  <c:v>2012</c:v>
                </c:pt>
                <c:pt idx="13">
                  <c:v>2013</c:v>
                </c:pt>
                <c:pt idx="14">
                  <c:v>2014</c:v>
                </c:pt>
                <c:pt idx="15">
                  <c:v>2015</c:v>
                </c:pt>
                <c:pt idx="16">
                  <c:v>2016</c:v>
                </c:pt>
                <c:pt idx="17">
                  <c:v>2017</c:v>
                </c:pt>
                <c:pt idx="18">
                  <c:v>2018</c:v>
                </c:pt>
                <c:pt idx="19">
                  <c:v>2019</c:v>
                </c:pt>
                <c:pt idx="20">
                  <c:v>2020</c:v>
                </c:pt>
                <c:pt idx="21">
                  <c:v>2021</c:v>
                </c:pt>
              </c:strCache>
            </c:strRef>
          </c:cat>
          <c:val>
            <c:numRef>
              <c:f>Sheet1!$I$2:$I$23</c:f>
              <c:numCache>
                <c:formatCode>General</c:formatCode>
                <c:ptCount val="22"/>
                <c:pt idx="0">
                  <c:v>13868</c:v>
                </c:pt>
                <c:pt idx="1">
                  <c:v>13868</c:v>
                </c:pt>
                <c:pt idx="2">
                  <c:v>13856</c:v>
                </c:pt>
                <c:pt idx="3">
                  <c:v>14387</c:v>
                </c:pt>
                <c:pt idx="4">
                  <c:v>14395</c:v>
                </c:pt>
                <c:pt idx="5">
                  <c:v>14272</c:v>
                </c:pt>
                <c:pt idx="6">
                  <c:v>14472</c:v>
                </c:pt>
                <c:pt idx="7">
                  <c:v>15011.52</c:v>
                </c:pt>
                <c:pt idx="8">
                  <c:v>15041</c:v>
                </c:pt>
                <c:pt idx="9">
                  <c:v>15044</c:v>
                </c:pt>
                <c:pt idx="10">
                  <c:v>15590.12</c:v>
                </c:pt>
                <c:pt idx="11">
                  <c:v>15680.563</c:v>
                </c:pt>
                <c:pt idx="12">
                  <c:v>15438</c:v>
                </c:pt>
                <c:pt idx="13">
                  <c:v>15582</c:v>
                </c:pt>
                <c:pt idx="14">
                  <c:v>15506</c:v>
                </c:pt>
                <c:pt idx="15">
                  <c:v>15711</c:v>
                </c:pt>
                <c:pt idx="16">
                  <c:v>15650</c:v>
                </c:pt>
                <c:pt idx="17">
                  <c:v>15559</c:v>
                </c:pt>
                <c:pt idx="18">
                  <c:v>15618</c:v>
                </c:pt>
                <c:pt idx="19">
                  <c:v>15718</c:v>
                </c:pt>
                <c:pt idx="20">
                  <c:v>15848</c:v>
                </c:pt>
                <c:pt idx="21">
                  <c:v>15963</c:v>
                </c:pt>
              </c:numCache>
            </c:numRef>
          </c:val>
          <c:smooth val="0"/>
        </c:ser>
        <c:marker val="1"/>
        <c:smooth val="0"/>
        <c:axId val="2068027336"/>
        <c:axId val="2113994440"/>
      </c:lineChart>
      <c:catAx>
        <c:axId val="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 w="9525" cap="flat" cmpd="sng" algn="ctr">
            <a:solidFill>
              <a:srgbClr val="5A6775"/>
            </a:solidFill>
            <a:round/>
          </a:ln>
        </c:spPr>
        <c:txPr>
          <a:bodyPr/>
          <a:lstStyle/>
          <a:p>
            <a:pPr>
              <a:defRPr lang="zh-CN" sz="1120">
                <a:solidFill>
                  <a:srgbClr val="5A6775"/>
                </a:solidFill>
                <a:latin typeface="Microsoft YaHei"/>
                <a:ea typeface="Microsoft YaHei"/>
                <a:cs typeface="Microsoft YaHei"/>
              </a:defRPr>
            </a:pPr>
            <a:endParaRPr lang="zh-CN"/>
          </a:p>
        </c:txPr>
        <c:crossAx val="2113994440"/>
        <c:crosses val="autoZero"/>
        <c:auto val="1"/>
        <c:lblAlgn val="ctr"/>
        <c:lblOffset val="100"/>
        <c:noMultiLvlLbl val="0"/>
      </c:catAx>
      <c:valAx>
        <c:axId val="2113994440"/>
        <c:scaling>
          <c:orientation val="minMax"/>
          <c:max val="200000"/>
          <c:min val="0"/>
        </c:scaling>
        <c:delete val="0"/>
        <c:axPos val="l"/>
        <c:majorGridlines>
          <c:spPr>
            <a:ln w="6350" cap="flat" cmpd="sng" algn="ctr">
              <a:solidFill>
                <a:srgbClr val="E6EBF1"/>
              </a:solidFill>
              <a:round/>
            </a:ln>
          </c:spPr>
        </c:majorGridlines>
        <c:title>
          <c:tx>
            <c:rich>
              <a:bodyPr/>
              <a:lstStyle/>
              <a:p>
                <a:pPr/>
                <a:r>
                  <a:rPr lang="zh-CN" sz="1120">
                    <a:solidFill>
                      <a:srgbClr val="5A6775"/>
                    </a:solidFill>
                    <a:latin typeface="Microsoft YaHei"/>
                    <a:ea typeface="Microsoft YaHei"/>
                    <a:cs typeface="Microsoft YaHei"/>
                  </a:rPr>
                  <a:t>公里</a:t>
                </a:r>
              </a:p>
            </c:rich>
          </c:tx>
          <c:layout/>
          <c:overlay val="0"/>
        </c:title>
        <c:numFmt formatCode="0" sourceLinked="0"/>
        <c:majorTickMark val="none"/>
        <c:minorTickMark val="none"/>
        <c:tickLblPos val="nextTo"/>
        <c:spPr>
          <a:ln w="9525" cap="flat" cmpd="sng" algn="ctr">
            <a:solidFill>
              <a:srgbClr val="5A6775"/>
            </a:solidFill>
            <a:round/>
          </a:ln>
        </c:spPr>
        <c:txPr>
          <a:bodyPr/>
          <a:lstStyle/>
          <a:p>
            <a:pPr>
              <a:defRPr lang="zh-CN" sz="1350">
                <a:solidFill>
                  <a:srgbClr val="5A6775"/>
                </a:solidFill>
                <a:latin typeface="Microsoft YaHei"/>
                <a:ea typeface="Microsoft YaHei"/>
                <a:cs typeface="Microsoft YaHei"/>
              </a:defRPr>
            </a:pPr>
            <a:endParaRPr lang="zh-CN"/>
          </a:p>
        </c:txPr>
        <c:crossAx val="2068027336"/>
        <c:crosses val="autoZero"/>
        <c:crossBetween val="midCat"/>
        <c:majorUnit val="50000"/>
      </c:valAx>
      <c:spPr>
        <a:noFill/>
        <a:ln>
          <a:noFill/>
        </a:ln>
      </c:spPr>
    </c:plotArea>
    <c:plotVisOnly val="1"/>
    <c:dispBlanksAs val="gap"/>
  </c:chart>
  <c:spPr>
    <a:noFill/>
    <a:ln>
      <a:noFill/>
    </a:ln>
  </c:spPr>
  <c:txPr>
    <a:bodyPr/>
    <a:lstStyle/>
    <a:p>
      <a:pPr>
        <a:defRPr lang="zh-CN" sz="1120">
          <a:solidFill>
            <a:srgbClr val="5A6775"/>
          </a:solidFill>
          <a:latin typeface="Microsoft YaHei"/>
          <a:ea typeface="Microsoft YaHei"/>
          <a:cs typeface="Microsoft YaHei"/>
        </a:defRPr>
      </a:pPr>
      <a:endParaRPr lang="zh-CN"/>
    </a:p>
  </c:txPr>
  <c:externalData r:id="rId1">
    <c:autoUpdate val="0"/>
  </c:externalData>
</c:chartSpace>
</file>

<file path=ppt/charts/chart130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chart>
    <c:autoTitleDeleted val="1"/>
    <c:plotArea>
      <c:layout>
        <c:manualLayout>
          <c:layoutTarget val="inner"/>
          <c:xMode val="edge"/>
          <c:yMode val="edge"/>
          <c:wMode val="factor"/>
          <c:hMode val="factor"/>
          <c:x val="0.14"/>
          <c:y val="0.11"/>
          <c:w val="0.814285714286"/>
          <c:h val="0.7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化学需氧量排放量</c:v>
                </c:pt>
              </c:strCache>
            </c:strRef>
          </c:tx>
          <c:spPr>
            <a:solidFill>
              <a:schemeClr val="accent2"/>
            </a:solidFill>
            <a:ln>
              <a:solidFill>
                <a:schemeClr val="accent2"/>
              </a:solidFill>
            </a:ln>
          </c:spPr>
          <c:marker>
            <c:symbol val="circle"/>
            <c:size val="6"/>
            <c:spPr>
              <a:solidFill>
                <a:schemeClr val="accent2"/>
              </a:solidFill>
              <a:ln>
                <a:solidFill>
                  <a:schemeClr val="accent2"/>
                </a:solidFill>
              </a:ln>
            </c:spPr>
          </c:marker>
          <c:dLbls>
            <c:dLbl>
              <c:idx val="0"/>
              <c:numFmt formatCode="0" sourceLinked="0"/>
              <c:txPr>
                <a:bodyPr/>
                <a:lstStyle/>
                <a:p>
                  <a:pPr>
                    <a:defRPr lang="zh-CN" sz="1350">
                      <a:solidFill>
                        <a:schemeClr val="accent2"/>
                      </a:solidFill>
                      <a:latin typeface="Microsoft YaHei"/>
                      <a:ea typeface="Microsoft YaHei"/>
                      <a:cs typeface="Microsoft YaHei"/>
                    </a:defRPr>
                  </a:pPr>
                  <a:endParaRPr lang="zh-CN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numFmt formatCode="0" sourceLinked="0"/>
              <c:txPr>
                <a:bodyPr/>
                <a:lstStyle/>
                <a:p>
                  <a:pPr>
                    <a:defRPr lang="zh-CN" sz="1350">
                      <a:solidFill>
                        <a:schemeClr val="accent2"/>
                      </a:solidFill>
                      <a:latin typeface="Microsoft YaHei"/>
                      <a:ea typeface="Microsoft YaHei"/>
                      <a:cs typeface="Microsoft YaHei"/>
                    </a:defRPr>
                  </a:pPr>
                  <a:endParaRPr lang="zh-CN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" sourceLinked="0"/>
            <c:txPr>
              <a:bodyPr/>
              <a:lstStyle/>
              <a:p>
                <a:pPr>
                  <a:defRPr lang="zh-CN" sz="1350">
                    <a:solidFill>
                      <a:schemeClr val="accent2"/>
                    </a:solidFill>
                    <a:latin typeface="Microsoft YaHei"/>
                    <a:ea typeface="Microsoft YaHei"/>
                    <a:cs typeface="Microsoft YaHei"/>
                  </a:defRPr>
                </a:pPr>
                <a:endParaRPr lang="zh-CN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Sheet1!$A$2:$A$7</c:f>
              <c:strCache>
                <c:ptCount val="6"/>
                <c:pt idx="0">
                  <c:v>2019年</c:v>
                </c:pt>
                <c:pt idx="1">
                  <c:v>2020年</c:v>
                </c:pt>
                <c:pt idx="2">
                  <c:v>2021年</c:v>
                </c:pt>
                <c:pt idx="3">
                  <c:v>2022年</c:v>
                </c:pt>
                <c:pt idx="4">
                  <c:v>2023年</c:v>
                </c:pt>
                <c:pt idx="5">
                  <c:v>2024年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1732</c:v>
                </c:pt>
                <c:pt idx="1">
                  <c:v>1623</c:v>
                </c:pt>
                <c:pt idx="2">
                  <c:v>1606</c:v>
                </c:pt>
                <c:pt idx="3">
                  <c:v>1427</c:v>
                </c:pt>
                <c:pt idx="4">
                  <c:v>1466</c:v>
                </c:pt>
                <c:pt idx="5">
                  <c:v>1337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二氧化硫排放量</c:v>
                </c:pt>
              </c:strCache>
            </c:strRef>
          </c:tx>
          <c:spPr>
            <a:solidFill>
              <a:srgbClr val="2E7D32"/>
            </a:solidFill>
            <a:ln>
              <a:solidFill>
                <a:srgbClr val="2E7D32"/>
              </a:solidFill>
            </a:ln>
          </c:spPr>
          <c:marker>
            <c:symbol val="circle"/>
            <c:size val="6"/>
            <c:spPr>
              <a:solidFill>
                <a:srgbClr val="2E7D32"/>
              </a:solidFill>
              <a:ln>
                <a:solidFill>
                  <a:srgbClr val="2E7D32"/>
                </a:solidFill>
              </a:ln>
            </c:spPr>
          </c:marker>
          <c:dLbls>
            <c:dLbl>
              <c:idx val="0"/>
              <c:numFmt formatCode="0" sourceLinked="0"/>
              <c:txPr>
                <a:bodyPr/>
                <a:lstStyle/>
                <a:p>
                  <a:pPr>
                    <a:defRPr lang="zh-CN" sz="1350">
                      <a:solidFill>
                        <a:srgbClr val="2E7D32"/>
                      </a:solidFill>
                      <a:latin typeface="Microsoft YaHei"/>
                      <a:ea typeface="Microsoft YaHei"/>
                      <a:cs typeface="Microsoft YaHei"/>
                    </a:defRPr>
                  </a:pPr>
                  <a:endParaRPr lang="zh-CN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numFmt formatCode="0" sourceLinked="0"/>
              <c:txPr>
                <a:bodyPr/>
                <a:lstStyle/>
                <a:p>
                  <a:pPr>
                    <a:defRPr lang="zh-CN" sz="1350">
                      <a:solidFill>
                        <a:srgbClr val="2E7D32"/>
                      </a:solidFill>
                      <a:latin typeface="Microsoft YaHei"/>
                      <a:ea typeface="Microsoft YaHei"/>
                      <a:cs typeface="Microsoft YaHei"/>
                    </a:defRPr>
                  </a:pPr>
                  <a:endParaRPr lang="zh-CN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" sourceLinked="0"/>
            <c:txPr>
              <a:bodyPr/>
              <a:lstStyle/>
              <a:p>
                <a:pPr>
                  <a:defRPr lang="zh-CN" sz="1350">
                    <a:solidFill>
                      <a:srgbClr val="2E7D32"/>
                    </a:solidFill>
                    <a:latin typeface="Microsoft YaHei"/>
                    <a:ea typeface="Microsoft YaHei"/>
                    <a:cs typeface="Microsoft YaHei"/>
                  </a:defRPr>
                </a:pPr>
                <a:endParaRPr lang="zh-CN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Sheet1!$A$2:$A$7</c:f>
              <c:strCache>
                <c:ptCount val="6"/>
                <c:pt idx="0">
                  <c:v>2019年</c:v>
                </c:pt>
                <c:pt idx="1">
                  <c:v>2020年</c:v>
                </c:pt>
                <c:pt idx="2">
                  <c:v>2021年</c:v>
                </c:pt>
                <c:pt idx="3">
                  <c:v>2022年</c:v>
                </c:pt>
                <c:pt idx="4">
                  <c:v>2023年</c:v>
                </c:pt>
                <c:pt idx="5">
                  <c:v>2024年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5286</c:v>
                </c:pt>
                <c:pt idx="1">
                  <c:v>3418</c:v>
                </c:pt>
                <c:pt idx="2">
                  <c:v>2340</c:v>
                </c:pt>
                <c:pt idx="3">
                  <c:v>1315</c:v>
                </c:pt>
                <c:pt idx="4">
                  <c:v>652</c:v>
                </c:pt>
                <c:pt idx="5">
                  <c:v>456</c:v>
                </c:pt>
              </c:numCache>
            </c:numRef>
          </c:val>
          <c:smooth val="0"/>
        </c:ser>
        <c:marker val="1"/>
        <c:smooth val="0"/>
        <c:axId val="2068027336"/>
        <c:axId val="2113994440"/>
      </c:lineChart>
      <c:catAx>
        <c:axId val="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 w="9525" cap="flat" cmpd="sng" algn="ctr">
            <a:solidFill>
              <a:srgbClr val="5A6775"/>
            </a:solidFill>
            <a:round/>
          </a:ln>
        </c:spPr>
        <c:txPr>
          <a:bodyPr/>
          <a:lstStyle/>
          <a:p>
            <a:pPr>
              <a:defRPr lang="zh-CN" sz="1350">
                <a:solidFill>
                  <a:srgbClr val="5A6775"/>
                </a:solidFill>
                <a:latin typeface="Microsoft YaHei"/>
                <a:ea typeface="Microsoft YaHei"/>
                <a:cs typeface="Microsoft YaHei"/>
              </a:defRPr>
            </a:pPr>
            <a:endParaRPr lang="zh-CN"/>
          </a:p>
        </c:txPr>
        <c:crossAx val="2113994440"/>
        <c:crosses val="autoZero"/>
        <c:auto val="1"/>
        <c:lblAlgn val="ctr"/>
        <c:lblOffset val="100"/>
        <c:noMultiLvlLbl val="0"/>
      </c:catAx>
      <c:valAx>
        <c:axId val="2113994440"/>
        <c:scaling>
          <c:orientation val="minMax"/>
          <c:max val="6000"/>
          <c:min val="0"/>
        </c:scaling>
        <c:delete val="0"/>
        <c:axPos val="l"/>
        <c:majorGridlines>
          <c:spPr>
            <a:ln w="6350" cap="flat" cmpd="sng" algn="ctr">
              <a:solidFill>
                <a:srgbClr val="E6EBF1"/>
              </a:solidFill>
              <a:round/>
            </a:ln>
          </c:spPr>
        </c:majorGridlines>
        <c:title>
          <c:tx>
            <c:rich>
              <a:bodyPr/>
              <a:lstStyle/>
              <a:p>
                <a:pPr/>
                <a:r>
                  <a:rPr lang="zh-CN" sz="1350">
                    <a:solidFill>
                      <a:srgbClr val="5A6775"/>
                    </a:solidFill>
                    <a:latin typeface="Microsoft YaHei"/>
                    <a:ea typeface="Microsoft YaHei"/>
                    <a:cs typeface="Microsoft YaHei"/>
                  </a:rPr>
                  <a:t>吨</a:t>
                </a:r>
              </a:p>
            </c:rich>
          </c:tx>
          <c:layout/>
          <c:overlay val="0"/>
        </c:title>
        <c:numFmt formatCode="0" sourceLinked="0"/>
        <c:majorTickMark val="none"/>
        <c:minorTickMark val="none"/>
        <c:tickLblPos val="nextTo"/>
        <c:spPr>
          <a:ln w="9525" cap="flat" cmpd="sng" algn="ctr">
            <a:solidFill>
              <a:srgbClr val="5A6775"/>
            </a:solidFill>
            <a:round/>
          </a:ln>
        </c:spPr>
        <c:txPr>
          <a:bodyPr/>
          <a:lstStyle/>
          <a:p>
            <a:pPr>
              <a:defRPr lang="zh-CN" sz="1350">
                <a:solidFill>
                  <a:srgbClr val="5A6775"/>
                </a:solidFill>
                <a:latin typeface="Microsoft YaHei"/>
                <a:ea typeface="Microsoft YaHei"/>
                <a:cs typeface="Microsoft YaHei"/>
              </a:defRPr>
            </a:pPr>
            <a:endParaRPr lang="zh-CN"/>
          </a:p>
        </c:txPr>
        <c:crossAx val="2068027336"/>
        <c:crosses val="autoZero"/>
        <c:crossBetween val="midCat"/>
        <c:majorUnit val="1000"/>
      </c:valAx>
      <c:spPr>
        <a:noFill/>
        <a:ln>
          <a:noFill/>
        </a:ln>
      </c:spPr>
    </c:plotArea>
    <c:legend>
      <c:legendPos val="b"/>
      <c:layout/>
      <c:overlay val="0"/>
      <c:txPr>
        <a:bodyPr/>
        <a:lstStyle/>
        <a:p>
          <a:pPr>
            <a:defRPr lang="zh-CN" sz="1350">
              <a:solidFill>
                <a:srgbClr val="5A6775"/>
              </a:solidFill>
              <a:latin typeface="Microsoft YaHei"/>
              <a:ea typeface="Microsoft YaHei"/>
              <a:cs typeface="Microsoft YaHei"/>
            </a:defRPr>
          </a:pPr>
          <a:endParaRPr lang="zh-CN"/>
        </a:p>
      </c:txPr>
    </c:legend>
    <c:plotVisOnly val="1"/>
    <c:dispBlanksAs val="gap"/>
  </c:chart>
  <c:spPr>
    <a:noFill/>
    <a:ln>
      <a:noFill/>
    </a:ln>
  </c:spPr>
  <c:txPr>
    <a:bodyPr/>
    <a:lstStyle/>
    <a:p>
      <a:pPr>
        <a:defRPr lang="zh-CN" sz="1350">
          <a:solidFill>
            <a:srgbClr val="5A6775"/>
          </a:solidFill>
          <a:latin typeface="Microsoft YaHei"/>
          <a:ea typeface="Microsoft YaHei"/>
          <a:cs typeface="Microsoft YaHei"/>
        </a:defRPr>
      </a:pPr>
      <a:endParaRPr lang="zh-CN"/>
    </a:p>
  </c:txPr>
  <c:externalData r:id="rId1">
    <c:autoUpdate val="0"/>
  </c:externalData>
</c:chartSpace>
</file>

<file path=ppt/notesMasters/_rels/notesMaster1.xml.rels><?xml version="1.0" encoding="UTF-8" standalone="yes"?>
<Relationships xmlns="http://schemas.openxmlformats.org/package/2006/relationships">
  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zh-CN"/>
    </a:lvl1pPr>
  </p:notesStyle>
</p:notesMaster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.xml"/>
</Relationships>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7.xml"/>
</Relationships>
</file>

<file path=ppt/notesSlides/_rels/notesSlide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8.xml"/>
</Relationships>
</file>

<file path=ppt/notesSlides/_rels/notesSlide9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9.xml"/>
</Relationships>
</file>

<file path=ppt/notesSlides/_rels/notesSlide10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0.xml"/>
</Relationships>
</file>

<file path=ppt/notesSlides/_rels/notesSlide1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1.xml"/>
</Relationships>
</file>

<file path=ppt/notesSlides/_rels/notesSlide1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2.xml"/>
</Relationships>
</file>

<file path=ppt/notesSlides/_rels/notesSlide1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3.xml"/>
</Relationships>
</file>

<file path=ppt/notesSlides/_rels/notesSlide1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4.xml"/>
</Relationships>
</file>

<file path=ppt/notesSlides/_rels/notesSlide1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5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各位领导上午好,今天这份汇报叫《中国铁路 2024:数据与现场》,全部数据来自国家铁路局发布的《2024年铁道统计公报》。先给大家一个最值得记住的数字:2024 年全国铁路旅客发送量四十三点一二亿人,比上年增长百分之十一点九,创下历史新高。画面上这列复兴号动车组,就是这个数字在现场的样子。接下来的十四页,我会按运输生产、建设、装备、路网、国际对照、科技安全、绿色和监管的顺序,把公报里的主要指标依次交代清楚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先用四个总量把 2024 年框住。客运方面,旅客发送量四十三点一二亿人,比上年增加四点五八亿人,增幅百分之十一点九;货运方面,货运总发送量五十一点七五亿吨,比上年增加一点三九亿吨,增幅百分之二点八。建设方面,全国铁路固定资产投资完成八千五百零六亿元,投产新线三千一百一十三公里,其中高速铁路两千四百五十七公里。需要说明的是,这四项指标的组合是我们为汇报做的整理,数值本身全部来自公报正文,没有任何改动;投资一项公报没有列出同比口径,所以这里也不给增速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张柱形图把旅客发送量放回六年的坐标里看。二〇一九年是三十六亿六千零二万人,二〇二〇年跌到二十二亿零三百五十万人,二〇二二年的十六亿七千二百九十六万人是六年谷底,二〇二三年迅速回到三十八亿五千四百五十万人,二〇二四年进一步升到四十三亿一千二百四十万人。红色那根柱子就是 2024 年,它不仅收复了疫情前的水平,还比二〇一九年多出六万五千二百三十八万人——这个差额是我们用公报的两项数值相减得到的,属于整理口径,请各位在引用时注意。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一页是公报第二页的原表,没有做任何重排。四十三亿一千二百四十万人的发送量里,国家铁路承担四十亿八千五百一十六万人,增长百分之十点九;其他铁路两亿两千七百二十四万人,增长百分之三十四。周转量的分布更集中:全国一万五千七百九十九点一亿人公里,国家铁路占了一万五千七百七十六点三五亿人公里。其他铁路的周转量只有二十二点七四亿人公里,约占全国的千分之一点四,所以百分之八十五点九的增速是建立在很小的基数上的,不宜直接与国家铁路比较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数字最终要落在现场。这是上海虹桥站的候车大厅。按四十三亿一千二百四十万人除以三百六十六天测算,2024 年平均每天大约有一千一百八十万人次通过全国铁路发送——这个日均值是我们的测算,公报本身没有给出。各位回本省之后如果要引用日均口径,建议注明是按全年发送量折算的。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货运这一侧的结论是总量上行、周转量回落。左边这个数字,2024 年货运总发送量五十一点七五亿吨,比上年增加一点三九亿吨;右边的柱形图显示,从二〇一九年的四十四亿一千二百一十三万吨开始,六年是连续上行的,2024 年达到五十一亿七千四百七十七万吨。但总周转量是另一个方向:三万五千八百六十一点九亿吨公里,比上年下降百分之一点六,其中国家铁路只降了百分之零点二,其他铁路降了百分之十四点一。总量涨而周转量落,意味着平均运距在缩短,这一点在分析本省货运结构时值得关注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把五十一点七五亿吨拆开看品类。煤炭二十八亿两千三百六十五万吨,仍然是绝对的大头,比上年增长百分之一点五。集装箱九亿一千三百七十一万吨,增幅百分之十五点五,是六个品类里增长最快的;冶炼物资八亿七千七百二十六万吨,下降百分之三点六。石油一亿三千三百二十二万吨,粮食五千六百四十万吨,化肥及农药四千七百六十五万吨,其中粮食下降百分之十七点六,是降幅最大的。六个品类合计四十八点五二亿吨,这个合计数是我们相加得到的整理值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换算周转量把客运和货运折算到一起看。2024 年全国铁路总换算周转量五万一千六百六十一亿吨公里,比上年增加四百七十一点二五亿吨公里,增长百分之零点九;其中国家铁路四万八千三百五十六点九九亿吨公里,增长百分之二点一,其他铁路三千三百零四点零一亿吨公里,下降百分之十三点八。面积图显示,二〇二三年是这六年里最大的一次跃升,2024 年在此基础上继续小幅上行。右边是跨境和跨区域通道:中欧班列开行一点九万列,发送货物二百零七万标箱,分别增长百分之十和百分之九;西部陆海新通道班列发送九十六万标箱,增长百分之十一。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承担这些运量的是车辆家底。机车拥有量二点二五万台,其中内燃机车零点七八万台、电力机车一点四七万台,电力机车已经占到机车拥有量的约百分之六十五,这个比例是我们用公报的两项数值算出来的。客车八点一万辆,其中动车组四千八百零六标准组、三万八千四百四十八辆。货车一百零一点九万辆,公报没有列出分项。右下这张是复兴号商务座车厢的内景,车辆的服务水平也是运能的一部分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线路这一侧,全国铁路营业里程达到十六点二万公里,路网密度一百六十八点五公里每万平方公里。括起来的两项是它的组成部分:高速铁路营业里程四点八万公里,西部地区铁路营业里程六点六万公里。右边两个是路网质量指标,复线率百分之六十点八,电化率百分之七十六点二。上面这张是丹昆特大桥的无锡段,新线里程的增长很大一部分就落在这类工程上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一页换一个数据源,用世界银行的铁路营业里程做长期对照,时间跨度是两千年到二〇二一年。八条曲线里,只有中国这条红线是持续抬升的,从五万八千六百五十六公里增加到十万九千七百六十七公里;美国从十九万四千零七十七公里降到十四万八千五百五十三公里,俄罗斯、印度、德国、法国、西班牙基本走平。这里必须强调三点口径:第一,这个数据集是路线公里口径,和公报的营业里程不是同一个统计范围,中国的十万九千七百六十七公里不能和十六点二万公里直接比较;第二,该数据集二〇二二到二〇二四年八国都没有取值;第三,日本只有二〇一〇和二〇一一两年有值,所以只画出很短的一段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左边是科技创新。全年发布铁路国家标准二十项、行业标准九十五项,主持制定并发布国际标准七项,国家和行业计量规程规范各四项。铁路行业有六个项目获得二〇二三年度国家科学技术奖,其中复兴号高速列车项目获国家科学技术进步奖特等奖;重大科技创新成果库全年入库三百三十五项;新研发了包括 BH10 冷藏车在内的三个型号装备,并建立了中国标准新能源机车平台。右边是安全。全年全国铁路没有发生特别重大和重大事故,发生较大事故两件、与上年持平,铁路交通事故死亡人数比上年下降百分之十八。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节能减排有两个方向相反的信号。折线显示主要污染物持续下降:化学需氧量排放量从二〇一九年的一千七百三十二吨降到 2024 年的一千三百三十七吨,比上年减少一百三十吨;二氧化硫排放量从五千二百八十六吨一路降到四百五十六吨,比上年减少一百九十六吨,六年降幅非常明显。但能耗强度是微升的:单位运输工作量综合能耗三点八六吨标准煤每百万换算吨公里,比上年增长百分之一点三;国家铁路综合能耗折算标准煤一千八百零一点二万吨,比上年增加四十八点五万吨,增长百分之二点八。右上是青藏铁路的车厢实景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行业监管这一年的动作量可以按制度、准入、惩戒三段来看,这个三段划分是我们为汇报做的整理。制度这一端,一部规章和七件行政规范性文件完成制定修订并公布。准入这一端,铁路监管部门发布行政许可决定书六百二十二件,铁路运输企业新增四家、累计八十一家,基础设备生产企业新增两家、累计一百一十六家,机车车辆设计制造维修进口企业累计一百二十四家,机车车辆驾驶人员新增一万零九百三十三人、累计二十二万零三百零八人。惩戒这一端,实施行政处罚一百九十八起,作出处罚决定三百八十三个,并实施预警二百六十二次、通报三百三十三次、约谈六十八次、挂牌督办二十四次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最后请各位带走三条判断。第一,客运已经越过疫情前水平并创下历史高位,四十三点一二亿人、增长百分之十一点九,高于二〇一九年的三十六亿六千零二万人。第二,货运总量在升而周转量在落,结构上继续分化,集装箱增长百分之十五点五领涨,粮食下降百分之十七点六领跌。第三,网络与装备继续扩张,新线三千一百一十三公里、高铁营业里程四点八万公里,同时主要污染物持续下降,二氧化硫已降到四百五十六吨,但单位能耗微升百分之一点三。这三条判断是我们的归纳,支撑数值全部取自附件,没有改动;需要核对的话,每一页底部都标了公报的对应章节和页码。</a:t>
            </a:r>
          </a:p>
        </p:txBody>
      </p:sp>
    </p:spTree>
  </p:cSld>
  <p:clrMapOvr>
    <a:masterClrMapping/>
  </p:clrMapOvr>
</p:note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ppt169_china_rail_2024_zh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ppt169_china_rail_2024_zh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3000" kern="1200" lang="zh-CN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7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6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45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35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25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1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10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900" kern="1200" lang="zh-CN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7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6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45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35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25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1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0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900" kern="1200" lang="zh-CN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60736ce6e0e7dc4d.jpg"/>
  <Relationship Id="rId3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60736ce6e0e7dc4d.jpg"/>
  <Relationship Id="rId3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chart" Target="../charts/chart301.xml"/>
  <Relationship Id="rId3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c909ab269ccf51ba.jpg"/>
  <Relationship Id="rId3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828e41951d937f84.jpg"/>
  <Relationship Id="rId3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chart" Target="../charts/chart601.xml"/>
  <Relationship Id="rId3" Type="http://schemas.openxmlformats.org/officeDocument/2006/relationships/notesSlide" Target="../notesSlides/notesSlide6.xml"/>
</Relationships>
</file>

<file path=ppt/slides/_rels/slide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chart" Target="../charts/chart701.xml"/>
  <Relationship Id="rId3" Type="http://schemas.openxmlformats.org/officeDocument/2006/relationships/notesSlide" Target="../notesSlides/notesSlide7.xml"/>
</Relationships>
</file>

<file path=ppt/slides/_rels/slide8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chart" Target="../charts/chart801.xml"/>
  <Relationship Id="rId3" Type="http://schemas.openxmlformats.org/officeDocument/2006/relationships/notesSlide" Target="../notesSlides/notesSlide8.xml"/>
</Relationships>
</file>

<file path=ppt/slides/_rels/slide9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c6adbbb035acfc01.jpg"/>
  <Relationship Id="rId3" Type="http://schemas.openxmlformats.org/officeDocument/2006/relationships/notesSlide" Target="../notesSlides/notesSlide9.xml"/>
</Relationships>
</file>

<file path=ppt/slides/_rels/slide10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da63731487bd1f00.jpg"/>
  <Relationship Id="rId3" Type="http://schemas.openxmlformats.org/officeDocument/2006/relationships/notesSlide" Target="../notesSlides/notesSlide10.xml"/>
</Relationships>
</file>

<file path=ppt/slides/_rels/slide1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chart" Target="../charts/chart1101.xml"/>
  <Relationship Id="rId3" Type="http://schemas.openxmlformats.org/officeDocument/2006/relationships/notesSlide" Target="../notesSlides/notesSlide11.xml"/>
</Relationships>
</file>

<file path=ppt/slides/_rels/slide1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2.xml"/>
</Relationships>
</file>

<file path=ppt/slides/_rels/slide1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chart" Target="../charts/chart1301.xml"/>
  <Relationship Id="rId3" Type="http://schemas.openxmlformats.org/officeDocument/2006/relationships/image" Target="../media/image_cfb8a73af5a1393e.jpg"/>
  <Relationship Id="rId4" Type="http://schemas.openxmlformats.org/officeDocument/2006/relationships/notesSlide" Target="../notesSlides/notesSlide13.xml"/>
</Relationships>
</file>

<file path=ppt/slides/_rels/slide1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4.xml"/>
</Relationships>
</file>

<file path=ppt/slides/_rels/slide1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977691d077c893f2.jpg"/>
  <Relationship Id="rId3" Type="http://schemas.openxmlformats.org/officeDocument/2006/relationships/notesSlide" Target="../notesSlides/notesSlide15.xml"/>
</Relationships>
</file>

<file path=ppt/slides/slide1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ver-rule"/>
          <p:cNvSpPr/>
          <p:nvPr/>
        </p:nvSpPr>
        <p:spPr>
          <a:xfrm>
            <a:off x="685800" y="1714500"/>
            <a:ext cx="6096000" cy="285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grpSp>
        <p:nvGrpSpPr>
          <p:cNvPr id="7" name="!!hero-photo"/>
          <p:cNvGrpSpPr/>
          <p:nvPr/>
        </p:nvGrpSpPr>
        <p:grpSpPr>
          <a:xfrm>
            <a:off x="7239000" y="0"/>
            <a:ext cx="4953000" cy="6858000"/>
            <a:chOff x="7239000" y="0"/>
            <a:chExt cx="4953000" cy="6858000"/>
          </a:xfrm>
        </p:grpSpPr>
        <p:pic>
          <p:nvPicPr>
            <p:cNvPr id="3" name="Image 3"/>
            <p:cNvPicPr>
              <a:picLocks noChangeAspect="1"/>
            </p:cNvPicPr>
            <p:nvPr/>
          </p:nvPicPr>
          <p:blipFill>
            <a:blip r:embed="rId2"/>
            <a:srcRect l="25926" t="0" r="25926" b="0"/>
            <a:stretch>
              <a:fillRect/>
            </a:stretch>
          </p:blipFill>
          <p:spPr>
            <a:xfrm>
              <a:off x="7239000" y="0"/>
              <a:ext cx="4953000" cy="6858000"/>
            </a:xfrm>
            <a:prstGeom prst="rect">
              <a:avLst/>
            </a:prstGeom>
          </p:spPr>
        </p:pic>
        <p:sp>
          <p:nvSpPr>
            <p:cNvPr id="4" name="Rectangle 4"/>
            <p:cNvSpPr/>
            <p:nvPr/>
          </p:nvSpPr>
          <p:spPr>
            <a:xfrm>
              <a:off x="7239000" y="0"/>
              <a:ext cx="1905000" cy="6858000"/>
            </a:xfrm>
            <a:prstGeom prst="rect">
              <a:avLst/>
            </a:prstGeom>
            <a:gradFill>
              <a:gsLst>
                <a:gs pos="0">
                  <a:schemeClr val="lt1"/>
                </a:gs>
                <a:gs pos="100000">
                  <a:schemeClr val="lt1">
                    <a:alpha val="0"/>
                  </a:schemeClr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5" name="Rectangle 5"/>
            <p:cNvSpPr/>
            <p:nvPr/>
          </p:nvSpPr>
          <p:spPr>
            <a:xfrm>
              <a:off x="7239000" y="5334000"/>
              <a:ext cx="4953000" cy="1524000"/>
            </a:xfrm>
            <a:prstGeom prst="rect">
              <a:avLst/>
            </a:prstGeom>
            <a:gradFill>
              <a:gsLst>
                <a:gs pos="0">
                  <a:srgbClr val="0A1B2E">
                    <a:alpha val="0"/>
                  </a:srgbClr>
                </a:gs>
                <a:gs pos="100000">
                  <a:srgbClr val="0A1B2E">
                    <a:alpha val="78000"/>
                  </a:srgbClr>
                </a:gs>
              </a:gsLst>
              <a:lin ang="5400000" scaled="1"/>
            </a:gra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8207629" y="6279356"/>
              <a:ext cx="3304286" cy="4105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>
                <a:lnSpc>
                  <a:spcPts val="1500"/>
                </a:lnSpc>
              </a:pPr>
              <a:r>
                <a:rPr lang="zh-CN" sz="11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复兴号动车组 CR400AF-2007</a:t>
              </a:r>
              <a:br/>
              <a:r>
                <a:rPr lang="zh-CN" sz="11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摄影 N509FZ · CC BY-SA 4.0 · Wikimedia Commons</a:t>
              </a:r>
            </a:p>
          </p:txBody>
        </p:sp>
      </p:grpSp>
      <p:grpSp>
        <p:nvGrpSpPr>
          <p:cNvPr id="9" name="cover-title"/>
          <p:cNvGrpSpPr/>
          <p:nvPr/>
        </p:nvGrpSpPr>
        <p:grpSpPr>
          <a:xfrm>
            <a:off x="666750" y="2242185"/>
            <a:ext cx="4833938" cy="2057400"/>
            <a:chOff x="666750" y="2242185"/>
            <a:chExt cx="4833938" cy="2057400"/>
          </a:xfrm>
        </p:grpSpPr>
        <p:sp>
          <p:nvSpPr>
            <p:cNvPr id="8" name="TextBox 8"/>
            <p:cNvSpPr txBox="1"/>
            <p:nvPr/>
          </p:nvSpPr>
          <p:spPr>
            <a:xfrm>
              <a:off x="666750" y="2242185"/>
              <a:ext cx="4833938" cy="2057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7500"/>
                </a:lnSpc>
              </a:pPr>
              <a:r>
                <a:rPr lang="zh-CN" sz="57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中国铁路 2024</a:t>
              </a:r>
              <a:br/>
              <a:r>
                <a:rPr lang="zh-CN" sz="57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数据与现场</a:t>
              </a:r>
            </a:p>
          </p:txBody>
        </p:sp>
      </p:grpSp>
      <p:grpSp>
        <p:nvGrpSpPr>
          <p:cNvPr id="11" name="cover-subtitle"/>
          <p:cNvGrpSpPr/>
          <p:nvPr/>
        </p:nvGrpSpPr>
        <p:grpSpPr>
          <a:xfrm>
            <a:off x="673608" y="4255770"/>
            <a:ext cx="4657344" cy="888492"/>
            <a:chOff x="673608" y="4255770"/>
            <a:chExt cx="4657344" cy="888492"/>
          </a:xfrm>
        </p:grpSpPr>
        <p:sp>
          <p:nvSpPr>
            <p:cNvPr id="10" name="TextBox 10"/>
            <p:cNvSpPr txBox="1"/>
            <p:nvPr/>
          </p:nvSpPr>
          <p:spPr>
            <a:xfrm>
              <a:off x="673608" y="4255770"/>
              <a:ext cx="4657344" cy="888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300"/>
                </a:lnSpc>
              </a:pPr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《2024年铁道统计公报》数据解读</a:t>
              </a:r>
              <a:br/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汇报对象:省交通运输部门</a:t>
              </a:r>
            </a:p>
          </p:txBody>
        </p:sp>
      </p:grpSp>
      <p:grpSp>
        <p:nvGrpSpPr>
          <p:cNvPr id="14" name="!!hero-figure"/>
          <p:cNvGrpSpPr/>
          <p:nvPr/>
        </p:nvGrpSpPr>
        <p:grpSpPr>
          <a:xfrm>
            <a:off x="666750" y="5387340"/>
            <a:ext cx="3896906" cy="941261"/>
            <a:chOff x="666750" y="5387340"/>
            <a:chExt cx="3896906" cy="941261"/>
          </a:xfrm>
        </p:grpSpPr>
        <p:sp>
          <p:nvSpPr>
            <p:cNvPr id="12" name="TextBox 12"/>
            <p:cNvSpPr txBox="1"/>
            <p:nvPr/>
          </p:nvSpPr>
          <p:spPr>
            <a:xfrm>
              <a:off x="666750" y="5387340"/>
              <a:ext cx="2554148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80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43.12</a:t>
              </a:r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 亿人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78942" y="6064568"/>
              <a:ext cx="388471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2024 年全国铁路旅客发送量,比上年增长 11.9%</a:t>
              </a:r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680085" y="6507956"/>
            <a:ext cx="3139999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数据来源:国家铁路局《2024年铁道统计公报》</a:t>
            </a:r>
          </a:p>
        </p:txBody>
      </p:sp>
    </p:spTree>
  </p:cSld>
  <p:clrMapOvr>
    <a:masterClrMapping/>
  </p:clrMapOvr>
  <p:transition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8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800"/>
                            </p:stCondLst>
                            <p:childTnLst>
                              <p:par>
                                <p:cTn id="9" presetID="37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4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0" accel="100000" fill="hold">
                                          <p:stCondLst>
                                            <p:cond delay="54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60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250"/>
                            </p:stCondLst>
                            <p:childTnLst>
                              <p:par>
                                <p:cTn id="20" presetID="23" presetClass="entr" presetSubtype="16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mc="http://schemas.openxmlformats.org/markup-compatibility/2006" xmlns:p="http://schemas.openxmlformats.org/presentationml/2006/main" xmlns:p14="http://schemas.microsoft.com/office/powerpoint/2010/main" xmlns:p159="http://schemas.microsoft.com/office/powerpoint/2015/09/main" xmlns:r="http://schemas.openxmlformats.org/officeDocument/2006/relationships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!!hero-photo"/>
          <p:cNvGrpSpPr/>
          <p:nvPr/>
        </p:nvGrpSpPr>
        <p:grpSpPr>
          <a:xfrm>
            <a:off x="9334500" y="0"/>
            <a:ext cx="2857500" cy="6858000"/>
            <a:chOff x="9334500" y="0"/>
            <a:chExt cx="2857500" cy="6858000"/>
          </a:xfrm>
        </p:grpSpPr>
        <p:pic>
          <p:nvPicPr>
            <p:cNvPr id="2" name="Image 2"/>
            <p:cNvPicPr>
              <a:picLocks noChangeAspect="1"/>
            </p:cNvPicPr>
            <p:nvPr/>
          </p:nvPicPr>
          <p:blipFill>
            <a:blip r:embed="rId2"/>
            <a:srcRect l="36111" t="0" r="36111" b="0"/>
            <a:stretch>
              <a:fillRect/>
            </a:stretch>
          </p:blipFill>
          <p:spPr>
            <a:xfrm>
              <a:off x="9334500" y="0"/>
              <a:ext cx="2857500" cy="6858000"/>
            </a:xfrm>
            <a:prstGeom prst="rect">
              <a:avLst/>
            </a:prstGeom>
          </p:spPr>
        </p:pic>
        <p:sp>
          <p:nvSpPr>
            <p:cNvPr id="3" name="Rectangle 3"/>
            <p:cNvSpPr/>
            <p:nvPr/>
          </p:nvSpPr>
          <p:spPr>
            <a:xfrm>
              <a:off x="9334500" y="0"/>
              <a:ext cx="914400" cy="6858000"/>
            </a:xfrm>
            <a:prstGeom prst="rect">
              <a:avLst/>
            </a:prstGeom>
            <a:gradFill>
              <a:gsLst>
                <a:gs pos="0">
                  <a:schemeClr val="lt1"/>
                </a:gs>
                <a:gs pos="100000">
                  <a:schemeClr val="lt1">
                    <a:alpha val="0"/>
                  </a:schemeClr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9927636" y="6507956"/>
              <a:ext cx="20414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摄影 N509FZ · CC BY-SA 4.0</a:t>
              </a:r>
            </a:p>
          </p:txBody>
        </p:sp>
      </p:grpSp>
      <p:grpSp>
        <p:nvGrpSpPr>
          <p:cNvPr id="9" name="page-frame"/>
          <p:cNvGrpSpPr/>
          <p:nvPr/>
        </p:nvGrpSpPr>
        <p:grpSpPr>
          <a:xfrm>
            <a:off x="678942" y="533400"/>
            <a:ext cx="8281416" cy="404051"/>
            <a:chOff x="678942" y="533400"/>
            <a:chExt cx="8281416" cy="404051"/>
          </a:xfrm>
        </p:grpSpPr>
        <p:sp>
          <p:nvSpPr>
            <p:cNvPr id="6" name="Rectangle 6"/>
            <p:cNvSpPr/>
            <p:nvPr/>
          </p:nvSpPr>
          <p:spPr>
            <a:xfrm>
              <a:off x="685800" y="533400"/>
              <a:ext cx="8267700" cy="285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678942" y="67341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一、全年总览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337823" y="673418"/>
              <a:ext cx="6225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02 / 15</a:t>
              </a:r>
            </a:p>
          </p:txBody>
        </p:sp>
      </p:grpSp>
      <p:grpSp>
        <p:nvGrpSpPr>
          <p:cNvPr id="11" name="page-title"/>
          <p:cNvGrpSpPr/>
          <p:nvPr/>
        </p:nvGrpSpPr>
        <p:grpSpPr>
          <a:xfrm>
            <a:off x="670560" y="1104900"/>
            <a:ext cx="4044848" cy="586740"/>
            <a:chOff x="670560" y="1104900"/>
            <a:chExt cx="4044848" cy="586740"/>
          </a:xfrm>
        </p:grpSpPr>
        <p:sp>
          <p:nvSpPr>
            <p:cNvPr id="10" name="TextBox 10"/>
            <p:cNvSpPr txBox="1"/>
            <p:nvPr/>
          </p:nvSpPr>
          <p:spPr>
            <a:xfrm>
              <a:off x="670560" y="1104900"/>
              <a:ext cx="4044848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四个数字看懂 2024 年</a:t>
              </a:r>
            </a:p>
          </p:txBody>
        </p:sp>
      </p:grpSp>
      <p:grpSp>
        <p:nvGrpSpPr>
          <p:cNvPr id="13" name="page-lead"/>
          <p:cNvGrpSpPr/>
          <p:nvPr/>
        </p:nvGrpSpPr>
        <p:grpSpPr>
          <a:xfrm>
            <a:off x="675132" y="1678305"/>
            <a:ext cx="6113564" cy="410718"/>
            <a:chOff x="675132" y="1678305"/>
            <a:chExt cx="6113564" cy="410718"/>
          </a:xfrm>
        </p:grpSpPr>
        <p:sp>
          <p:nvSpPr>
            <p:cNvPr id="12" name="TextBox 12"/>
            <p:cNvSpPr txBox="1"/>
            <p:nvPr/>
          </p:nvSpPr>
          <p:spPr>
            <a:xfrm>
              <a:off x="675132" y="1678305"/>
              <a:ext cx="611356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客运创新高、货运稳中有升,投资与新线保持高位</a:t>
              </a:r>
            </a:p>
          </p:txBody>
        </p:sp>
      </p:grpSp>
      <p:grpSp>
        <p:nvGrpSpPr>
          <p:cNvPr id="23" name="!!hero-figure"/>
          <p:cNvGrpSpPr/>
          <p:nvPr/>
        </p:nvGrpSpPr>
        <p:grpSpPr>
          <a:xfrm>
            <a:off x="666750" y="2247900"/>
            <a:ext cx="3962400" cy="1737551"/>
            <a:chOff x="666750" y="2247900"/>
            <a:chExt cx="3962400" cy="1737551"/>
          </a:xfrm>
        </p:grpSpPr>
        <p:sp>
          <p:nvSpPr>
            <p:cNvPr id="14" name="Rectangle 14"/>
            <p:cNvSpPr/>
            <p:nvPr/>
          </p:nvSpPr>
          <p:spPr>
            <a:xfrm>
              <a:off x="685800" y="2247900"/>
              <a:ext cx="3943350" cy="2857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grpSp>
          <p:nvGrpSpPr>
            <p:cNvPr id="19" name="Group 19"/>
            <p:cNvGrpSpPr/>
            <p:nvPr/>
          </p:nvGrpSpPr>
          <p:grpSpPr>
            <a:xfrm>
              <a:off x="685800" y="2459831"/>
              <a:ext cx="342900" cy="300038"/>
              <a:chOff x="685800" y="2459831"/>
              <a:chExt cx="342900" cy="300038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750094" y="2459831"/>
                <a:ext cx="107156" cy="107156"/>
              </a:xfrm>
              <a:custGeom>
                <a:avLst/>
                <a:gdLst/>
                <a:ahLst/>
                <a:cxnLst/>
                <a:rect l="l" t="t" r="r" b="b"/>
                <a:pathLst>
                  <a:path w="107156" h="107156">
                    <a:moveTo>
                      <a:pt x="107156" y="53578"/>
                    </a:moveTo>
                    <a:cubicBezTo>
                      <a:pt x="107156" y="83168"/>
                      <a:pt x="83168" y="107156"/>
                      <a:pt x="53578" y="107156"/>
                    </a:cubicBezTo>
                    <a:cubicBezTo>
                      <a:pt x="23988" y="107156"/>
                      <a:pt x="0" y="83168"/>
                      <a:pt x="0" y="53578"/>
                    </a:cubicBezTo>
                    <a:cubicBezTo>
                      <a:pt x="0" y="23988"/>
                      <a:pt x="23988" y="0"/>
                      <a:pt x="53578" y="0"/>
                    </a:cubicBezTo>
                    <a:cubicBezTo>
                      <a:pt x="83168" y="0"/>
                      <a:pt x="107156" y="23988"/>
                      <a:pt x="107156" y="53578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685800" y="2609850"/>
                <a:ext cx="171450" cy="150019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150019">
                    <a:moveTo>
                      <a:pt x="64294" y="0"/>
                    </a:moveTo>
                    <a:cubicBezTo>
                      <a:pt x="28785" y="0"/>
                      <a:pt x="0" y="28785"/>
                      <a:pt x="0" y="64294"/>
                    </a:cubicBezTo>
                    <a:lnTo>
                      <a:pt x="0" y="150019"/>
                    </a:lnTo>
                    <a:lnTo>
                      <a:pt x="171450" y="150019"/>
                    </a:lnTo>
                    <a:lnTo>
                      <a:pt x="171450" y="0"/>
                    </a:lnTo>
                    <a:lnTo>
                      <a:pt x="64294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900112" y="2609850"/>
                <a:ext cx="128588" cy="150019"/>
              </a:xfrm>
              <a:custGeom>
                <a:avLst/>
                <a:gdLst/>
                <a:ahLst/>
                <a:cxnLst/>
                <a:rect l="l" t="t" r="r" b="b"/>
                <a:pathLst>
                  <a:path w="128588" h="150019">
                    <a:moveTo>
                      <a:pt x="64294" y="0"/>
                    </a:moveTo>
                    <a:lnTo>
                      <a:pt x="0" y="0"/>
                    </a:lnTo>
                    <a:lnTo>
                      <a:pt x="0" y="150019"/>
                    </a:lnTo>
                    <a:lnTo>
                      <a:pt x="128588" y="150019"/>
                    </a:lnTo>
                    <a:lnTo>
                      <a:pt x="128588" y="64294"/>
                    </a:lnTo>
                    <a:cubicBezTo>
                      <a:pt x="128588" y="28785"/>
                      <a:pt x="99803" y="0"/>
                      <a:pt x="6429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900112" y="2481262"/>
                <a:ext cx="85725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85725" h="85725">
                    <a:moveTo>
                      <a:pt x="42862" y="85725"/>
                    </a:moveTo>
                    <a:cubicBezTo>
                      <a:pt x="66535" y="85725"/>
                      <a:pt x="85725" y="66535"/>
                      <a:pt x="85725" y="42862"/>
                    </a:cubicBezTo>
                    <a:cubicBezTo>
                      <a:pt x="85725" y="19190"/>
                      <a:pt x="66535" y="0"/>
                      <a:pt x="42862" y="0"/>
                    </a:cubicBezTo>
                    <a:cubicBezTo>
                      <a:pt x="19190" y="0"/>
                      <a:pt x="0" y="19190"/>
                      <a:pt x="0" y="42862"/>
                    </a:cubicBezTo>
                    <a:cubicBezTo>
                      <a:pt x="0" y="66535"/>
                      <a:pt x="19190" y="85725"/>
                      <a:pt x="42862" y="85725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</p:grpSp>
        <p:sp>
          <p:nvSpPr>
            <p:cNvPr id="20" name="TextBox 20"/>
            <p:cNvSpPr txBox="1"/>
            <p:nvPr/>
          </p:nvSpPr>
          <p:spPr>
            <a:xfrm>
              <a:off x="1136142" y="2559368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旅客发送量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66750" y="3025140"/>
              <a:ext cx="2554148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80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43.12</a:t>
              </a:r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 亿人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78942" y="3721418"/>
              <a:ext cx="29487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E7D32"/>
                  </a:solidFill>
                  <a:latin typeface="+mn-lt"/>
                  <a:ea typeface="+mn-ea"/>
                  <a:cs typeface="+mn-cs"/>
                </a:rPr>
                <a:t>比上年增长 11.9%(增加 4.58 亿人)</a:t>
              </a:r>
            </a:p>
          </p:txBody>
        </p:sp>
      </p:grpSp>
      <p:grpSp>
        <p:nvGrpSpPr>
          <p:cNvPr id="29" name="kpi-freight"/>
          <p:cNvGrpSpPr/>
          <p:nvPr/>
        </p:nvGrpSpPr>
        <p:grpSpPr>
          <a:xfrm>
            <a:off x="4991100" y="2247900"/>
            <a:ext cx="3962400" cy="1737551"/>
            <a:chOff x="4991100" y="2247900"/>
            <a:chExt cx="3962400" cy="1737551"/>
          </a:xfrm>
        </p:grpSpPr>
        <p:sp>
          <p:nvSpPr>
            <p:cNvPr id="24" name="Rectangle 24"/>
            <p:cNvSpPr/>
            <p:nvPr/>
          </p:nvSpPr>
          <p:spPr>
            <a:xfrm>
              <a:off x="5010150" y="2247900"/>
              <a:ext cx="3943350" cy="285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5" name="Freeform 25"/>
            <p:cNvSpPr/>
            <p:nvPr/>
          </p:nvSpPr>
          <p:spPr>
            <a:xfrm>
              <a:off x="5010150" y="2481262"/>
              <a:ext cx="342900" cy="278606"/>
            </a:xfrm>
            <a:custGeom>
              <a:avLst/>
              <a:gdLst/>
              <a:ahLst/>
              <a:cxnLst/>
              <a:rect l="l" t="t" r="r" b="b"/>
              <a:pathLst>
                <a:path w="342900" h="278606">
                  <a:moveTo>
                    <a:pt x="235744" y="0"/>
                  </a:moveTo>
                  <a:lnTo>
                    <a:pt x="0" y="0"/>
                  </a:lnTo>
                  <a:lnTo>
                    <a:pt x="0" y="235744"/>
                  </a:lnTo>
                  <a:lnTo>
                    <a:pt x="42862" y="235744"/>
                  </a:lnTo>
                  <a:cubicBezTo>
                    <a:pt x="42862" y="259417"/>
                    <a:pt x="62053" y="278606"/>
                    <a:pt x="85725" y="278606"/>
                  </a:cubicBezTo>
                  <a:cubicBezTo>
                    <a:pt x="109397" y="278606"/>
                    <a:pt x="128588" y="259417"/>
                    <a:pt x="128588" y="235744"/>
                  </a:cubicBezTo>
                  <a:lnTo>
                    <a:pt x="214312" y="235744"/>
                  </a:lnTo>
                  <a:cubicBezTo>
                    <a:pt x="214312" y="259417"/>
                    <a:pt x="233502" y="278606"/>
                    <a:pt x="257175" y="278606"/>
                  </a:cubicBezTo>
                  <a:cubicBezTo>
                    <a:pt x="280848" y="278606"/>
                    <a:pt x="300038" y="259417"/>
                    <a:pt x="300038" y="235744"/>
                  </a:cubicBezTo>
                  <a:lnTo>
                    <a:pt x="342900" y="235744"/>
                  </a:lnTo>
                  <a:lnTo>
                    <a:pt x="342900" y="128588"/>
                  </a:lnTo>
                  <a:cubicBezTo>
                    <a:pt x="342900" y="93079"/>
                    <a:pt x="314116" y="64294"/>
                    <a:pt x="278606" y="64294"/>
                  </a:cubicBezTo>
                  <a:lnTo>
                    <a:pt x="235744" y="64294"/>
                  </a:lnTo>
                  <a:lnTo>
                    <a:pt x="235744" y="0"/>
                  </a:lnTo>
                  <a:close/>
                  <a:moveTo>
                    <a:pt x="235744" y="107156"/>
                  </a:moveTo>
                  <a:lnTo>
                    <a:pt x="235744" y="150019"/>
                  </a:lnTo>
                  <a:lnTo>
                    <a:pt x="300038" y="150019"/>
                  </a:lnTo>
                  <a:lnTo>
                    <a:pt x="300038" y="107156"/>
                  </a:lnTo>
                  <a:lnTo>
                    <a:pt x="235744" y="1071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5460492" y="255936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货运总发送量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991100" y="3025140"/>
              <a:ext cx="2554148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8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51.75</a:t>
              </a:r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 亿吨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003292" y="3721418"/>
              <a:ext cx="284881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E7D32"/>
                  </a:solidFill>
                  <a:latin typeface="+mn-lt"/>
                  <a:ea typeface="+mn-ea"/>
                  <a:cs typeface="+mn-cs"/>
                </a:rPr>
                <a:t>比上年增长 2.8%(增加 1.39 亿吨)</a:t>
              </a:r>
            </a:p>
          </p:txBody>
        </p:sp>
      </p:grpSp>
      <p:grpSp>
        <p:nvGrpSpPr>
          <p:cNvPr id="35" name="kpi-invest"/>
          <p:cNvGrpSpPr/>
          <p:nvPr/>
        </p:nvGrpSpPr>
        <p:grpSpPr>
          <a:xfrm>
            <a:off x="666750" y="4248150"/>
            <a:ext cx="3962400" cy="1737551"/>
            <a:chOff x="666750" y="4248150"/>
            <a:chExt cx="3962400" cy="1737551"/>
          </a:xfrm>
        </p:grpSpPr>
        <p:sp>
          <p:nvSpPr>
            <p:cNvPr id="30" name="Rectangle 30"/>
            <p:cNvSpPr/>
            <p:nvPr/>
          </p:nvSpPr>
          <p:spPr>
            <a:xfrm>
              <a:off x="685800" y="4248150"/>
              <a:ext cx="3943350" cy="285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1" name="Freeform 31"/>
            <p:cNvSpPr/>
            <p:nvPr/>
          </p:nvSpPr>
          <p:spPr>
            <a:xfrm>
              <a:off x="685800" y="4438650"/>
              <a:ext cx="342900" cy="342900"/>
            </a:xfrm>
            <a:custGeom>
              <a:avLst/>
              <a:gdLst/>
              <a:ahLst/>
              <a:cxnLst/>
              <a:rect l="l" t="t" r="r" b="b"/>
              <a:pathLst>
                <a:path w="342900" h="342900">
                  <a:moveTo>
                    <a:pt x="171450" y="342900"/>
                  </a:moveTo>
                  <a:cubicBezTo>
                    <a:pt x="266140" y="342900"/>
                    <a:pt x="342900" y="266140"/>
                    <a:pt x="342900" y="171450"/>
                  </a:cubicBezTo>
                  <a:cubicBezTo>
                    <a:pt x="342900" y="76761"/>
                    <a:pt x="266140" y="0"/>
                    <a:pt x="171450" y="0"/>
                  </a:cubicBezTo>
                  <a:cubicBezTo>
                    <a:pt x="76761" y="0"/>
                    <a:pt x="0" y="76761"/>
                    <a:pt x="0" y="171450"/>
                  </a:cubicBezTo>
                  <a:cubicBezTo>
                    <a:pt x="0" y="266140"/>
                    <a:pt x="76761" y="342900"/>
                    <a:pt x="171450" y="342900"/>
                  </a:cubicBezTo>
                  <a:close/>
                  <a:moveTo>
                    <a:pt x="192881" y="107156"/>
                  </a:moveTo>
                  <a:lnTo>
                    <a:pt x="150019" y="107156"/>
                  </a:lnTo>
                  <a:lnTo>
                    <a:pt x="150019" y="235744"/>
                  </a:lnTo>
                  <a:lnTo>
                    <a:pt x="192881" y="235744"/>
                  </a:lnTo>
                  <a:lnTo>
                    <a:pt x="192881" y="1071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1136142" y="455961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固定资产投资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66750" y="5025390"/>
              <a:ext cx="2180981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8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8506</a:t>
              </a:r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 亿元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78942" y="5721668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公报未列同比口径</a:t>
              </a:r>
            </a:p>
          </p:txBody>
        </p:sp>
      </p:grpSp>
      <p:grpSp>
        <p:nvGrpSpPr>
          <p:cNvPr id="44" name="kpi-newline"/>
          <p:cNvGrpSpPr/>
          <p:nvPr/>
        </p:nvGrpSpPr>
        <p:grpSpPr>
          <a:xfrm>
            <a:off x="4991100" y="4248150"/>
            <a:ext cx="3962400" cy="1737551"/>
            <a:chOff x="4991100" y="4248150"/>
            <a:chExt cx="3962400" cy="1737551"/>
          </a:xfrm>
        </p:grpSpPr>
        <p:sp>
          <p:nvSpPr>
            <p:cNvPr id="36" name="Rectangle 36"/>
            <p:cNvSpPr/>
            <p:nvPr/>
          </p:nvSpPr>
          <p:spPr>
            <a:xfrm>
              <a:off x="5010150" y="4248150"/>
              <a:ext cx="3943350" cy="285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grpSp>
          <p:nvGrpSpPr>
            <p:cNvPr id="40" name="Group 40"/>
            <p:cNvGrpSpPr/>
            <p:nvPr/>
          </p:nvGrpSpPr>
          <p:grpSpPr>
            <a:xfrm>
              <a:off x="5031581" y="4460081"/>
              <a:ext cx="300038" cy="300038"/>
              <a:chOff x="5031581" y="4460081"/>
              <a:chExt cx="300038" cy="300038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5031581" y="4460081"/>
                <a:ext cx="85725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85725" h="85725">
                    <a:moveTo>
                      <a:pt x="85725" y="42862"/>
                    </a:moveTo>
                    <a:cubicBezTo>
                      <a:pt x="85725" y="66535"/>
                      <a:pt x="66535" y="85725"/>
                      <a:pt x="42862" y="85725"/>
                    </a:cubicBezTo>
                    <a:cubicBezTo>
                      <a:pt x="19190" y="85725"/>
                      <a:pt x="0" y="66535"/>
                      <a:pt x="0" y="42862"/>
                    </a:cubicBezTo>
                    <a:cubicBezTo>
                      <a:pt x="0" y="19190"/>
                      <a:pt x="19190" y="0"/>
                      <a:pt x="42862" y="0"/>
                    </a:cubicBezTo>
                    <a:cubicBezTo>
                      <a:pt x="66535" y="0"/>
                      <a:pt x="85725" y="19190"/>
                      <a:pt x="85725" y="42862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5245894" y="4674394"/>
                <a:ext cx="85725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85725" h="85725">
                    <a:moveTo>
                      <a:pt x="85725" y="42862"/>
                    </a:moveTo>
                    <a:cubicBezTo>
                      <a:pt x="85725" y="66535"/>
                      <a:pt x="66535" y="85725"/>
                      <a:pt x="42862" y="85725"/>
                    </a:cubicBezTo>
                    <a:cubicBezTo>
                      <a:pt x="19190" y="85725"/>
                      <a:pt x="0" y="66535"/>
                      <a:pt x="0" y="42862"/>
                    </a:cubicBezTo>
                    <a:cubicBezTo>
                      <a:pt x="0" y="19190"/>
                      <a:pt x="19190" y="0"/>
                      <a:pt x="42862" y="0"/>
                    </a:cubicBezTo>
                    <a:cubicBezTo>
                      <a:pt x="66535" y="0"/>
                      <a:pt x="85725" y="19190"/>
                      <a:pt x="85725" y="42862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5053012" y="4460081"/>
                <a:ext cx="257175" cy="300038"/>
              </a:xfrm>
              <a:custGeom>
                <a:avLst/>
                <a:gdLst/>
                <a:ahLst/>
                <a:cxnLst/>
                <a:rect l="l" t="t" r="r" b="b"/>
                <a:pathLst>
                  <a:path w="257175" h="300038">
                    <a:moveTo>
                      <a:pt x="150019" y="75009"/>
                    </a:moveTo>
                    <a:cubicBezTo>
                      <a:pt x="150019" y="57255"/>
                      <a:pt x="164411" y="42862"/>
                      <a:pt x="182166" y="42862"/>
                    </a:cubicBezTo>
                    <a:cubicBezTo>
                      <a:pt x="199919" y="42862"/>
                      <a:pt x="214312" y="57255"/>
                      <a:pt x="214312" y="75009"/>
                    </a:cubicBezTo>
                    <a:lnTo>
                      <a:pt x="214312" y="171450"/>
                    </a:lnTo>
                    <a:lnTo>
                      <a:pt x="257175" y="171450"/>
                    </a:lnTo>
                    <a:lnTo>
                      <a:pt x="257175" y="75009"/>
                    </a:lnTo>
                    <a:cubicBezTo>
                      <a:pt x="257175" y="33583"/>
                      <a:pt x="223592" y="0"/>
                      <a:pt x="182166" y="0"/>
                    </a:cubicBezTo>
                    <a:cubicBezTo>
                      <a:pt x="140739" y="0"/>
                      <a:pt x="107156" y="33583"/>
                      <a:pt x="107156" y="75009"/>
                    </a:cubicBezTo>
                    <a:lnTo>
                      <a:pt x="107156" y="225028"/>
                    </a:lnTo>
                    <a:cubicBezTo>
                      <a:pt x="107156" y="242782"/>
                      <a:pt x="92764" y="257175"/>
                      <a:pt x="75009" y="257175"/>
                    </a:cubicBezTo>
                    <a:cubicBezTo>
                      <a:pt x="57255" y="257175"/>
                      <a:pt x="42862" y="242782"/>
                      <a:pt x="42862" y="225028"/>
                    </a:cubicBezTo>
                    <a:lnTo>
                      <a:pt x="42862" y="128588"/>
                    </a:lnTo>
                    <a:lnTo>
                      <a:pt x="0" y="128588"/>
                    </a:lnTo>
                    <a:lnTo>
                      <a:pt x="0" y="225028"/>
                    </a:lnTo>
                    <a:cubicBezTo>
                      <a:pt x="0" y="266455"/>
                      <a:pt x="33583" y="300038"/>
                      <a:pt x="75009" y="300038"/>
                    </a:cubicBezTo>
                    <a:cubicBezTo>
                      <a:pt x="116436" y="300038"/>
                      <a:pt x="150019" y="266455"/>
                      <a:pt x="150019" y="225028"/>
                    </a:cubicBezTo>
                    <a:lnTo>
                      <a:pt x="150019" y="75009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</p:grpSp>
        <p:sp>
          <p:nvSpPr>
            <p:cNvPr id="41" name="TextBox 41"/>
            <p:cNvSpPr txBox="1"/>
            <p:nvPr/>
          </p:nvSpPr>
          <p:spPr>
            <a:xfrm>
              <a:off x="5460492" y="455961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投产新线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4991100" y="5025390"/>
              <a:ext cx="2180981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8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3113</a:t>
              </a:r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 公里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5003292" y="5721668"/>
              <a:ext cx="197647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其中高速铁路 2457 公里</a:t>
              </a:r>
            </a:p>
          </p:txBody>
        </p:sp>
      </p:grpSp>
      <p:grpSp>
        <p:nvGrpSpPr>
          <p:cNvPr id="47" name="source-bar"/>
          <p:cNvGrpSpPr/>
          <p:nvPr/>
        </p:nvGrpSpPr>
        <p:grpSpPr>
          <a:xfrm>
            <a:off x="680085" y="6248400"/>
            <a:ext cx="8273415" cy="403384"/>
            <a:chOff x="680085" y="6248400"/>
            <a:chExt cx="8273415" cy="403384"/>
          </a:xfrm>
        </p:grpSpPr>
        <p:sp>
          <p:nvSpPr>
            <p:cNvPr id="45" name="Rectangle 45"/>
            <p:cNvSpPr/>
            <p:nvPr/>
          </p:nvSpPr>
          <p:spPr>
            <a:xfrm>
              <a:off x="685800" y="6248400"/>
              <a:ext cx="8267700" cy="9525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80085" y="6431756"/>
              <a:ext cx="675104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数据来源:国家铁路局《2024年铁道统计公报》· 整理:四项总量由编者从公报正文汇总,数值未作改动</a:t>
              </a:r>
            </a:p>
          </p:txBody>
        </p:sp>
      </p:grpSp>
    </p:spTree>
  </p:cSld>
  <p:clrMapOvr>
    <a:masterClrMapping/>
  </p:clrMapOvr>
  <mc:AlternateContent>
    <mc:Choice Requires="p159">
      <p:transition p14:dur="900">
        <p159:morph option="byObject"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50"/>
                            </p:stCondLst>
                            <p:childTnLst>
                              <p:par>
                                <p:cTn id="13" presetID="37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4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405" decel="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45" accel="100000" fill="hold">
                                          <p:stCondLst>
                                            <p:cond delay="405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700"/>
                            </p:stCondLst>
                            <p:childTnLst>
                              <p:par>
                                <p:cTn id="20" presetID="37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4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405" decel="100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45" accel="100000" fill="hold">
                                          <p:stCondLst>
                                            <p:cond delay="405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350"/>
                            </p:stCondLst>
                            <p:childTnLst>
                              <p:par>
                                <p:cTn id="27" presetID="37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45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405" decel="100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45" accel="100000" fill="hold">
                                          <p:stCondLst>
                                            <p:cond delay="405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3000"/>
                            </p:stCondLst>
                            <p:childTnLst>
                              <p:par>
                                <p:cTn id="34" presetID="10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3700"/>
                            </p:stCondLst>
                            <p:childTnLst>
                              <p:par>
                                <p:cTn id="38" presetID="10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page-frame"/>
          <p:cNvGrpSpPr/>
          <p:nvPr/>
        </p:nvGrpSpPr>
        <p:grpSpPr>
          <a:xfrm>
            <a:off x="678942" y="533400"/>
            <a:ext cx="10834116" cy="404051"/>
            <a:chOff x="678942" y="533400"/>
            <a:chExt cx="10834116" cy="404051"/>
          </a:xfrm>
        </p:grpSpPr>
        <p:sp>
          <p:nvSpPr>
            <p:cNvPr id="2" name="Rectangle 2"/>
            <p:cNvSpPr/>
            <p:nvPr/>
          </p:nvSpPr>
          <p:spPr>
            <a:xfrm>
              <a:off x="685800" y="533400"/>
              <a:ext cx="10820400" cy="285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78942" y="67341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二、客运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890523" y="673418"/>
              <a:ext cx="6225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03 / 15</a:t>
              </a:r>
            </a:p>
          </p:txBody>
        </p:sp>
      </p:grpSp>
      <p:grpSp>
        <p:nvGrpSpPr>
          <p:cNvPr id="7" name="page-title"/>
          <p:cNvGrpSpPr/>
          <p:nvPr/>
        </p:nvGrpSpPr>
        <p:grpSpPr>
          <a:xfrm>
            <a:off x="670560" y="1104900"/>
            <a:ext cx="6783019" cy="586740"/>
            <a:chOff x="670560" y="1104900"/>
            <a:chExt cx="6783019" cy="586740"/>
          </a:xfrm>
        </p:grpSpPr>
        <p:sp>
          <p:nvSpPr>
            <p:cNvPr id="6" name="TextBox 6"/>
            <p:cNvSpPr txBox="1"/>
            <p:nvPr/>
          </p:nvSpPr>
          <p:spPr>
            <a:xfrm>
              <a:off x="670560" y="1104900"/>
              <a:ext cx="6783019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43.12 亿人:客运越过 2019 年的高点</a:t>
              </a:r>
            </a:p>
          </p:txBody>
        </p:sp>
      </p:grpSp>
      <p:grpSp>
        <p:nvGrpSpPr>
          <p:cNvPr id="9" name="page-lead"/>
          <p:cNvGrpSpPr/>
          <p:nvPr/>
        </p:nvGrpSpPr>
        <p:grpSpPr>
          <a:xfrm>
            <a:off x="675132" y="1678305"/>
            <a:ext cx="6509347" cy="410718"/>
            <a:chOff x="675132" y="1678305"/>
            <a:chExt cx="6509347" cy="410718"/>
          </a:xfrm>
        </p:grpSpPr>
        <p:sp>
          <p:nvSpPr>
            <p:cNvPr id="8" name="TextBox 8"/>
            <p:cNvSpPr txBox="1"/>
            <p:nvPr/>
          </p:nvSpPr>
          <p:spPr>
            <a:xfrm>
              <a:off x="675132" y="1678305"/>
              <a:ext cx="650934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2024 年旅客发送量 431240 万人,是六年来的最高值</a:t>
              </a:r>
            </a:p>
          </p:txBody>
        </p:sp>
      </p:grpSp>
      <p:graphicFrame>
        <p:nvGraphicFramePr>
          <p:cNvPr id="10" name="pax-sent-6y"/>
          <p:cNvGraphicFramePr>
            <a:graphicFrameLocks noGrp="1"/>
          </p:cNvGraphicFramePr>
          <p:nvPr/>
        </p:nvGraphicFramePr>
        <p:xfrm>
          <a:off x="685800" y="2247900"/>
          <a:ext cx="7124700" cy="3810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pSp>
        <p:nvGrpSpPr>
          <p:cNvPr id="14" name="read-low"/>
          <p:cNvGrpSpPr/>
          <p:nvPr/>
        </p:nvGrpSpPr>
        <p:grpSpPr>
          <a:xfrm>
            <a:off x="8182356" y="2247900"/>
            <a:ext cx="2327148" cy="1357884"/>
            <a:chOff x="8182356" y="2247900"/>
            <a:chExt cx="2327148" cy="1357884"/>
          </a:xfrm>
        </p:grpSpPr>
        <p:sp>
          <p:nvSpPr>
            <p:cNvPr id="11" name="Rectangle 11"/>
            <p:cNvSpPr/>
            <p:nvPr/>
          </p:nvSpPr>
          <p:spPr>
            <a:xfrm>
              <a:off x="8191500" y="2247900"/>
              <a:ext cx="685800" cy="28575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184642" y="250221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六年谷底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182356" y="2891790"/>
              <a:ext cx="2327148" cy="7139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850"/>
                </a:lnSpc>
              </a:pP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2022 年发送量 167296</a:t>
              </a:r>
              <a:br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万人,为六年最低。</a:t>
              </a:r>
            </a:p>
          </p:txBody>
        </p:sp>
      </p:grpSp>
      <p:grpSp>
        <p:nvGrpSpPr>
          <p:cNvPr id="18" name="read-gap"/>
          <p:cNvGrpSpPr/>
          <p:nvPr/>
        </p:nvGrpSpPr>
        <p:grpSpPr>
          <a:xfrm>
            <a:off x="8182356" y="3962400"/>
            <a:ext cx="2144268" cy="1719834"/>
            <a:chOff x="8182356" y="3962400"/>
            <a:chExt cx="2144268" cy="1719834"/>
          </a:xfrm>
        </p:grpSpPr>
        <p:sp>
          <p:nvSpPr>
            <p:cNvPr id="15" name="Rectangle 15"/>
            <p:cNvSpPr/>
            <p:nvPr/>
          </p:nvSpPr>
          <p:spPr>
            <a:xfrm>
              <a:off x="8191500" y="3962400"/>
              <a:ext cx="685800" cy="2857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184642" y="4216718"/>
              <a:ext cx="16675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与疫情前对比(整理)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182356" y="4606290"/>
              <a:ext cx="2144268" cy="10759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850"/>
                </a:lnSpc>
              </a:pP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2024 年比 2019 年多</a:t>
              </a:r>
              <a:br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65238 万人,由公报</a:t>
              </a:r>
              <a:br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两项数值相减得出。</a:t>
              </a:r>
            </a:p>
          </p:txBody>
        </p:sp>
      </p:grpSp>
      <p:grpSp>
        <p:nvGrpSpPr>
          <p:cNvPr id="21" name="source-bar"/>
          <p:cNvGrpSpPr/>
          <p:nvPr/>
        </p:nvGrpSpPr>
        <p:grpSpPr>
          <a:xfrm>
            <a:off x="680085" y="6248400"/>
            <a:ext cx="10826115" cy="403384"/>
            <a:chOff x="680085" y="6248400"/>
            <a:chExt cx="10826115" cy="403384"/>
          </a:xfrm>
        </p:grpSpPr>
        <p:sp>
          <p:nvSpPr>
            <p:cNvPr id="19" name="Rectangle 19"/>
            <p:cNvSpPr/>
            <p:nvPr/>
          </p:nvSpPr>
          <p:spPr>
            <a:xfrm>
              <a:off x="685800" y="6248400"/>
              <a:ext cx="10820400" cy="9525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80085" y="6431756"/>
              <a:ext cx="66681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数据来源:国家铁路局《2024年铁道统计公报》一、运输生产 · 全国铁路旅客发送量图(公报第 2 页)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xmlns:p="http://schemas.openxmlformats.org/presentationml/2006/main" id="9" presetID="10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xmlns:p="http://schemas.openxmlformats.org/presentationml/2006/main" id="13" presetID="22" presetClass="entr" presetSubtype="1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8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xmlns:p="http://schemas.openxmlformats.org/presentationml/2006/main" id="17" presetID="10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650"/>
                            </p:stCondLst>
                            <p:childTnLst>
                              <p:par>
                                <p:cTn xmlns:p="http://schemas.openxmlformats.org/presentationml/2006/main" id="21" presetID="10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page-frame"/>
          <p:cNvGrpSpPr/>
          <p:nvPr/>
        </p:nvGrpSpPr>
        <p:grpSpPr>
          <a:xfrm>
            <a:off x="678942" y="533400"/>
            <a:ext cx="10834116" cy="404051"/>
            <a:chOff x="678942" y="533400"/>
            <a:chExt cx="10834116" cy="404051"/>
          </a:xfrm>
        </p:grpSpPr>
        <p:sp>
          <p:nvSpPr>
            <p:cNvPr id="2" name="Rectangle 2"/>
            <p:cNvSpPr/>
            <p:nvPr/>
          </p:nvSpPr>
          <p:spPr>
            <a:xfrm>
              <a:off x="685800" y="533400"/>
              <a:ext cx="10820400" cy="285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78942" y="67341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二、客运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890523" y="673418"/>
              <a:ext cx="6225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04 / 15</a:t>
              </a:r>
            </a:p>
          </p:txBody>
        </p:sp>
      </p:grpSp>
      <p:grpSp>
        <p:nvGrpSpPr>
          <p:cNvPr id="7" name="page-title"/>
          <p:cNvGrpSpPr/>
          <p:nvPr/>
        </p:nvGrpSpPr>
        <p:grpSpPr>
          <a:xfrm>
            <a:off x="670560" y="1104900"/>
            <a:ext cx="4554722" cy="586740"/>
            <a:chOff x="670560" y="1104900"/>
            <a:chExt cx="4554722" cy="586740"/>
          </a:xfrm>
        </p:grpSpPr>
        <p:sp>
          <p:nvSpPr>
            <p:cNvPr id="6" name="TextBox 6"/>
            <p:cNvSpPr txBox="1"/>
            <p:nvPr/>
          </p:nvSpPr>
          <p:spPr>
            <a:xfrm>
              <a:off x="670560" y="1104900"/>
              <a:ext cx="4554722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40.85 亿人来自国家铁路</a:t>
              </a:r>
            </a:p>
          </p:txBody>
        </p:sp>
      </p:grpSp>
      <p:grpSp>
        <p:nvGrpSpPr>
          <p:cNvPr id="9" name="page-lead"/>
          <p:cNvGrpSpPr/>
          <p:nvPr/>
        </p:nvGrpSpPr>
        <p:grpSpPr>
          <a:xfrm>
            <a:off x="675132" y="1678305"/>
            <a:ext cx="6141834" cy="410718"/>
            <a:chOff x="675132" y="1678305"/>
            <a:chExt cx="6141834" cy="410718"/>
          </a:xfrm>
        </p:grpSpPr>
        <p:sp>
          <p:nvSpPr>
            <p:cNvPr id="8" name="TextBox 8"/>
            <p:cNvSpPr txBox="1"/>
            <p:nvPr/>
          </p:nvSpPr>
          <p:spPr>
            <a:xfrm>
              <a:off x="675132" y="1678305"/>
              <a:ext cx="614183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其他铁路增速更高,但基数很小——以下为公报原表</a:t>
              </a:r>
            </a:p>
          </p:txBody>
        </p:sp>
      </p:grpSp>
      <p:grpSp>
        <p:nvGrpSpPr>
          <p:cNvPr id="13" name="p04-station-photo"/>
          <p:cNvGrpSpPr/>
          <p:nvPr/>
        </p:nvGrpSpPr>
        <p:grpSpPr>
          <a:xfrm>
            <a:off x="685800" y="2247900"/>
            <a:ext cx="10820400" cy="993934"/>
            <a:chOff x="685800" y="2247900"/>
            <a:chExt cx="10820400" cy="993934"/>
          </a:xfrm>
        </p:grpSpPr>
        <p:pic>
          <p:nvPicPr>
            <p:cNvPr id="10" name="Image 10"/>
            <p:cNvPicPr>
              <a:picLocks noChangeAspect="1"/>
            </p:cNvPicPr>
            <p:nvPr/>
          </p:nvPicPr>
          <p:blipFill>
            <a:blip r:embed="rId2"/>
            <a:srcRect l="0" t="42676" r="0" b="42676"/>
            <a:stretch>
              <a:fillRect/>
            </a:stretch>
          </p:blipFill>
          <p:spPr>
            <a:xfrm>
              <a:off x="685800" y="2247900"/>
              <a:ext cx="10820400" cy="990600"/>
            </a:xfrm>
            <a:prstGeom prst="rect">
              <a:avLst/>
            </a:prstGeom>
          </p:spPr>
        </p:pic>
        <p:sp>
          <p:nvSpPr>
            <p:cNvPr id="11" name="Rectangle 11"/>
            <p:cNvSpPr/>
            <p:nvPr/>
          </p:nvSpPr>
          <p:spPr>
            <a:xfrm>
              <a:off x="685800" y="2819400"/>
              <a:ext cx="10820400" cy="419100"/>
            </a:xfrm>
            <a:prstGeom prst="rect">
              <a:avLst/>
            </a:prstGeom>
            <a:gradFill>
              <a:gsLst>
                <a:gs pos="0">
                  <a:srgbClr val="0A1B2E">
                    <a:alpha val="0"/>
                  </a:srgbClr>
                </a:gs>
                <a:gs pos="100000">
                  <a:srgbClr val="0A1B2E">
                    <a:alpha val="78000"/>
                  </a:srgbClr>
                </a:gs>
              </a:gsLst>
              <a:lin ang="5400000" scaled="1"/>
            </a:gra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785872" y="3021806"/>
              <a:ext cx="461174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北京南站站台 摄影 颐园新居 · CC BY-SA 4.0 · Wikimedia Commons</a:t>
              </a:r>
            </a:p>
          </p:txBody>
        </p:sp>
      </p:grpSp>
      <p:graphicFrame>
        <p:nvGraphicFramePr>
          <p:cNvPr id="14" name="pax-volume-table"/>
          <p:cNvGraphicFramePr>
            <a:graphicFrameLocks noGrp="1"/>
          </p:cNvGraphicFramePr>
          <p:nvPr/>
        </p:nvGraphicFramePr>
        <p:xfrm>
          <a:off x="685800" y="3467100"/>
          <a:ext cx="10820400" cy="2324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0"/>
                <a:gridCol w="1905000"/>
                <a:gridCol w="2667000"/>
                <a:gridCol w="2438400"/>
              </a:tblGrid>
              <a:tr h="381000">
                <a:tc>
                  <a:txBody>
                    <a:bodyPr/>
                    <a:lstStyle/>
                    <a:p>
                      <a:pPr/>
                      <a:r>
                        <a:rPr lang="zh-CN" sz="1800" b="1">
                          <a:solidFill>
                            <a:srgbClr val="FFFFFF"/>
                          </a:solidFill>
                          <a:latin typeface="Arial"/>
                          <a:ea typeface="Microsoft YaHei"/>
                          <a:cs typeface="Arial"/>
                        </a:rPr>
                        <a:t>指标</a:t>
                      </a:r>
                    </a:p>
                  </a:txBody>
                  <a:tcPr anchor="ctr" marL="152400" marR="152400" marT="19050" marB="190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800" b="1">
                          <a:solidFill>
                            <a:srgbClr val="FFFFFF"/>
                          </a:solidFill>
                          <a:latin typeface="Arial"/>
                          <a:ea typeface="Microsoft YaHei"/>
                          <a:cs typeface="Arial"/>
                        </a:rPr>
                        <a:t>单位</a:t>
                      </a:r>
                    </a:p>
                  </a:txBody>
                  <a:tcPr anchor="ctr" marL="152400" marR="152400" marT="19050" marB="190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800" b="1">
                          <a:solidFill>
                            <a:srgbClr val="FFFFFF"/>
                          </a:solidFill>
                          <a:latin typeface="Arial"/>
                          <a:ea typeface="Microsoft YaHei"/>
                          <a:cs typeface="Arial"/>
                        </a:rPr>
                        <a:t>2024 年</a:t>
                      </a:r>
                    </a:p>
                  </a:txBody>
                  <a:tcPr anchor="ctr" marL="152400" marR="152400" marT="19050" marB="190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800" b="1">
                          <a:solidFill>
                            <a:srgbClr val="FFFFFF"/>
                          </a:solidFill>
                          <a:latin typeface="Arial"/>
                          <a:ea typeface="Microsoft YaHei"/>
                          <a:cs typeface="Arial"/>
                        </a:rPr>
                        <a:t>比上年±%</a:t>
                      </a:r>
                    </a:p>
                  </a:txBody>
                  <a:tcPr anchor="ctr" marL="152400" marR="152400" marT="19050" marB="190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323850">
                <a:tc>
                  <a:txBody>
                    <a:bodyPr/>
                    <a:lstStyle/>
                    <a:p>
                      <a:pPr/>
                      <a:r>
                        <a:rPr lang="zh-CN" sz="1800" b="1">
                          <a:solidFill>
                            <a:schemeClr val="dk1"/>
                          </a:solidFill>
                          <a:latin typeface="Arial"/>
                          <a:ea typeface="Microsoft YaHei"/>
                          <a:cs typeface="Arial"/>
                        </a:rPr>
                        <a:t>旅客发送量</a:t>
                      </a:r>
                    </a:p>
                  </a:txBody>
                  <a:tcPr anchor="ctr" marL="152400" marR="152400" marT="1905" marB="190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800" b="0">
                          <a:solidFill>
                            <a:schemeClr val="dk1"/>
                          </a:solidFill>
                          <a:latin typeface="Arial"/>
                          <a:ea typeface="Microsoft YaHei"/>
                          <a:cs typeface="Arial"/>
                        </a:rPr>
                        <a:t>万人</a:t>
                      </a:r>
                    </a:p>
                  </a:txBody>
                  <a:tcPr anchor="ctr" marL="152400" marR="152400" marT="1905" marB="190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800" b="1">
                          <a:solidFill>
                            <a:schemeClr val="dk1"/>
                          </a:solidFill>
                          <a:latin typeface="Arial"/>
                          <a:ea typeface="Microsoft YaHei"/>
                          <a:cs typeface="Arial"/>
                        </a:rPr>
                        <a:t>431240</a:t>
                      </a:r>
                    </a:p>
                  </a:txBody>
                  <a:tcPr anchor="ctr" marL="152400" marR="152400" marT="1905" marB="190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800" b="1">
                          <a:solidFill>
                            <a:srgbClr val="2E7D32"/>
                          </a:solidFill>
                          <a:latin typeface="Arial"/>
                          <a:ea typeface="Microsoft YaHei"/>
                          <a:cs typeface="Arial"/>
                        </a:rPr>
                        <a:t>11.9</a:t>
                      </a:r>
                    </a:p>
                  </a:txBody>
                  <a:tcPr anchor="ctr" marL="152400" marR="152400" marT="1905" marB="190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chemeClr val="lt2"/>
                    </a:solidFill>
                  </a:tcPr>
                </a:tc>
              </a:tr>
              <a:tr h="323850">
                <a:tc>
                  <a:txBody>
                    <a:bodyPr/>
                    <a:lstStyle/>
                    <a:p>
                      <a:pPr/>
                      <a:r>
                        <a:rPr lang="zh-CN" sz="1800" b="0">
                          <a:solidFill>
                            <a:schemeClr val="dk1"/>
                          </a:solidFill>
                          <a:latin typeface="Arial"/>
                          <a:ea typeface="Microsoft YaHei"/>
                          <a:cs typeface="Arial"/>
                        </a:rPr>
                        <a:t xml:space="preserve">　国家铁路</a:t>
                      </a:r>
                    </a:p>
                  </a:txBody>
                  <a:tcPr anchor="ctr" marL="152400" marR="152400" marT="1905" marB="190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800" b="0">
                          <a:solidFill>
                            <a:schemeClr val="dk1"/>
                          </a:solidFill>
                          <a:latin typeface="Arial"/>
                          <a:ea typeface="Microsoft YaHei"/>
                          <a:cs typeface="Arial"/>
                        </a:rPr>
                        <a:t>万人</a:t>
                      </a:r>
                    </a:p>
                  </a:txBody>
                  <a:tcPr anchor="ctr" marL="152400" marR="152400" marT="1905" marB="190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800" b="0">
                          <a:solidFill>
                            <a:schemeClr val="dk1"/>
                          </a:solidFill>
                          <a:latin typeface="Arial"/>
                          <a:ea typeface="Microsoft YaHei"/>
                          <a:cs typeface="Arial"/>
                        </a:rPr>
                        <a:t>408516</a:t>
                      </a:r>
                    </a:p>
                  </a:txBody>
                  <a:tcPr anchor="ctr" marL="152400" marR="152400" marT="1905" marB="190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800" b="0">
                          <a:solidFill>
                            <a:srgbClr val="2E7D32"/>
                          </a:solidFill>
                          <a:latin typeface="Arial"/>
                          <a:ea typeface="Microsoft YaHei"/>
                          <a:cs typeface="Arial"/>
                        </a:rPr>
                        <a:t>10.9</a:t>
                      </a:r>
                    </a:p>
                  </a:txBody>
                  <a:tcPr anchor="ctr" marL="152400" marR="152400" marT="1905" marB="190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noFill/>
                  </a:tcPr>
                </a:tc>
              </a:tr>
              <a:tr h="323850">
                <a:tc>
                  <a:txBody>
                    <a:bodyPr/>
                    <a:lstStyle/>
                    <a:p>
                      <a:pPr/>
                      <a:r>
                        <a:rPr lang="zh-CN" sz="1800" b="0">
                          <a:solidFill>
                            <a:schemeClr val="dk1"/>
                          </a:solidFill>
                          <a:latin typeface="Arial"/>
                          <a:ea typeface="Microsoft YaHei"/>
                          <a:cs typeface="Arial"/>
                        </a:rPr>
                        <a:t xml:space="preserve">　其他铁路</a:t>
                      </a:r>
                    </a:p>
                  </a:txBody>
                  <a:tcPr anchor="ctr" marL="152400" marR="152400" marT="1905" marB="190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800" b="0">
                          <a:solidFill>
                            <a:schemeClr val="dk1"/>
                          </a:solidFill>
                          <a:latin typeface="Arial"/>
                          <a:ea typeface="Microsoft YaHei"/>
                          <a:cs typeface="Arial"/>
                        </a:rPr>
                        <a:t>万人</a:t>
                      </a:r>
                    </a:p>
                  </a:txBody>
                  <a:tcPr anchor="ctr" marL="152400" marR="152400" marT="1905" marB="190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800" b="0">
                          <a:solidFill>
                            <a:schemeClr val="dk1"/>
                          </a:solidFill>
                          <a:latin typeface="Arial"/>
                          <a:ea typeface="Microsoft YaHei"/>
                          <a:cs typeface="Arial"/>
                        </a:rPr>
                        <a:t>22724</a:t>
                      </a:r>
                    </a:p>
                  </a:txBody>
                  <a:tcPr anchor="ctr" marL="152400" marR="152400" marT="1905" marB="190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800" b="0">
                          <a:solidFill>
                            <a:srgbClr val="2E7D32"/>
                          </a:solidFill>
                          <a:latin typeface="Arial"/>
                          <a:ea typeface="Microsoft YaHei"/>
                          <a:cs typeface="Arial"/>
                        </a:rPr>
                        <a:t>34.0</a:t>
                      </a:r>
                    </a:p>
                  </a:txBody>
                  <a:tcPr anchor="ctr" marL="152400" marR="152400" marT="1905" marB="190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noFill/>
                  </a:tcPr>
                </a:tc>
              </a:tr>
              <a:tr h="323850">
                <a:tc>
                  <a:txBody>
                    <a:bodyPr/>
                    <a:lstStyle/>
                    <a:p>
                      <a:pPr/>
                      <a:r>
                        <a:rPr lang="zh-CN" sz="1800" b="1">
                          <a:solidFill>
                            <a:schemeClr val="dk1"/>
                          </a:solidFill>
                          <a:latin typeface="Arial"/>
                          <a:ea typeface="Microsoft YaHei"/>
                          <a:cs typeface="Arial"/>
                        </a:rPr>
                        <a:t>旅客周转量</a:t>
                      </a:r>
                    </a:p>
                  </a:txBody>
                  <a:tcPr anchor="ctr" marL="152400" marR="152400" marT="1905" marB="190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800" b="0">
                          <a:solidFill>
                            <a:schemeClr val="dk1"/>
                          </a:solidFill>
                          <a:latin typeface="Arial"/>
                          <a:ea typeface="Microsoft YaHei"/>
                          <a:cs typeface="Arial"/>
                        </a:rPr>
                        <a:t>亿人公里</a:t>
                      </a:r>
                    </a:p>
                  </a:txBody>
                  <a:tcPr anchor="ctr" marL="152400" marR="152400" marT="1905" marB="190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800" b="1">
                          <a:solidFill>
                            <a:schemeClr val="dk1"/>
                          </a:solidFill>
                          <a:latin typeface="Arial"/>
                          <a:ea typeface="Microsoft YaHei"/>
                          <a:cs typeface="Arial"/>
                        </a:rPr>
                        <a:t>15799.10</a:t>
                      </a:r>
                    </a:p>
                  </a:txBody>
                  <a:tcPr anchor="ctr" marL="152400" marR="152400" marT="1905" marB="190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800" b="1">
                          <a:solidFill>
                            <a:srgbClr val="2E7D32"/>
                          </a:solidFill>
                          <a:latin typeface="Arial"/>
                          <a:ea typeface="Microsoft YaHei"/>
                          <a:cs typeface="Arial"/>
                        </a:rPr>
                        <a:t>7.3</a:t>
                      </a:r>
                    </a:p>
                  </a:txBody>
                  <a:tcPr anchor="ctr" marL="152400" marR="152400" marT="1905" marB="190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chemeClr val="lt2"/>
                    </a:solidFill>
                  </a:tcPr>
                </a:tc>
              </a:tr>
              <a:tr h="323850">
                <a:tc>
                  <a:txBody>
                    <a:bodyPr/>
                    <a:lstStyle/>
                    <a:p>
                      <a:pPr/>
                      <a:r>
                        <a:rPr lang="zh-CN" sz="1800" b="0">
                          <a:solidFill>
                            <a:schemeClr val="dk1"/>
                          </a:solidFill>
                          <a:latin typeface="Arial"/>
                          <a:ea typeface="Microsoft YaHei"/>
                          <a:cs typeface="Arial"/>
                        </a:rPr>
                        <a:t xml:space="preserve">　国家铁路</a:t>
                      </a:r>
                    </a:p>
                  </a:txBody>
                  <a:tcPr anchor="ctr" marL="152400" marR="152400" marT="1905" marB="190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800" b="0">
                          <a:solidFill>
                            <a:schemeClr val="dk1"/>
                          </a:solidFill>
                          <a:latin typeface="Arial"/>
                          <a:ea typeface="Microsoft YaHei"/>
                          <a:cs typeface="Arial"/>
                        </a:rPr>
                        <a:t>亿人公里</a:t>
                      </a:r>
                    </a:p>
                  </a:txBody>
                  <a:tcPr anchor="ctr" marL="152400" marR="152400" marT="1905" marB="190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800" b="0">
                          <a:solidFill>
                            <a:schemeClr val="dk1"/>
                          </a:solidFill>
                          <a:latin typeface="Arial"/>
                          <a:ea typeface="Microsoft YaHei"/>
                          <a:cs typeface="Arial"/>
                        </a:rPr>
                        <a:t>15776.35</a:t>
                      </a:r>
                    </a:p>
                  </a:txBody>
                  <a:tcPr anchor="ctr" marL="152400" marR="152400" marT="1905" marB="190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800" b="0">
                          <a:solidFill>
                            <a:srgbClr val="2E7D32"/>
                          </a:solidFill>
                          <a:latin typeface="Arial"/>
                          <a:ea typeface="Microsoft YaHei"/>
                          <a:cs typeface="Arial"/>
                        </a:rPr>
                        <a:t>7.2</a:t>
                      </a:r>
                    </a:p>
                  </a:txBody>
                  <a:tcPr anchor="ctr" marL="152400" marR="152400" marT="1905" marB="190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noFill/>
                  </a:tcPr>
                </a:tc>
              </a:tr>
              <a:tr h="323850">
                <a:tc>
                  <a:txBody>
                    <a:bodyPr/>
                    <a:lstStyle/>
                    <a:p>
                      <a:pPr/>
                      <a:r>
                        <a:rPr lang="zh-CN" sz="1800" b="0">
                          <a:solidFill>
                            <a:schemeClr val="dk1"/>
                          </a:solidFill>
                          <a:latin typeface="Arial"/>
                          <a:ea typeface="Microsoft YaHei"/>
                          <a:cs typeface="Arial"/>
                        </a:rPr>
                        <a:t xml:space="preserve">　其他铁路</a:t>
                      </a:r>
                    </a:p>
                  </a:txBody>
                  <a:tcPr anchor="ctr" marL="152400" marR="152400" marT="1905" marB="190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800" b="0">
                          <a:solidFill>
                            <a:schemeClr val="dk1"/>
                          </a:solidFill>
                          <a:latin typeface="Arial"/>
                          <a:ea typeface="Microsoft YaHei"/>
                          <a:cs typeface="Arial"/>
                        </a:rPr>
                        <a:t>亿人公里</a:t>
                      </a:r>
                    </a:p>
                  </a:txBody>
                  <a:tcPr anchor="ctr" marL="152400" marR="152400" marT="1905" marB="190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800" b="0">
                          <a:solidFill>
                            <a:schemeClr val="dk1"/>
                          </a:solidFill>
                          <a:latin typeface="Arial"/>
                          <a:ea typeface="Microsoft YaHei"/>
                          <a:cs typeface="Arial"/>
                        </a:rPr>
                        <a:t>22.74</a:t>
                      </a:r>
                    </a:p>
                  </a:txBody>
                  <a:tcPr anchor="ctr" marL="152400" marR="152400" marT="1905" marB="190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800" b="0">
                          <a:solidFill>
                            <a:srgbClr val="2E7D32"/>
                          </a:solidFill>
                          <a:latin typeface="Arial"/>
                          <a:ea typeface="Microsoft YaHei"/>
                          <a:cs typeface="Arial"/>
                        </a:rPr>
                        <a:t>85.9</a:t>
                      </a:r>
                    </a:p>
                  </a:txBody>
                  <a:tcPr anchor="ctr" marL="152400" marR="152400" marT="1905" marB="190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grpSp>
        <p:nvGrpSpPr>
          <p:cNvPr id="16" name="table-note"/>
          <p:cNvGrpSpPr/>
          <p:nvPr/>
        </p:nvGrpSpPr>
        <p:grpSpPr>
          <a:xfrm>
            <a:off x="678942" y="5912168"/>
            <a:ext cx="7165067" cy="264033"/>
            <a:chOff x="678942" y="5912168"/>
            <a:chExt cx="7165067" cy="264033"/>
          </a:xfrm>
        </p:grpSpPr>
        <p:sp>
          <p:nvSpPr>
            <p:cNvPr id="15" name="TextBox 15"/>
            <p:cNvSpPr txBox="1"/>
            <p:nvPr/>
          </p:nvSpPr>
          <p:spPr>
            <a:xfrm>
              <a:off x="678942" y="5912168"/>
              <a:ext cx="716506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注:其他铁路旅客周转量 22.74 亿人公里,约占全国的 0.14%(整理,由公报两项数值计算)</a:t>
              </a:r>
            </a:p>
          </p:txBody>
        </p:sp>
      </p:grpSp>
      <p:grpSp>
        <p:nvGrpSpPr>
          <p:cNvPr id="19" name="source-bar"/>
          <p:cNvGrpSpPr/>
          <p:nvPr/>
        </p:nvGrpSpPr>
        <p:grpSpPr>
          <a:xfrm>
            <a:off x="680085" y="6248400"/>
            <a:ext cx="10826115" cy="403384"/>
            <a:chOff x="680085" y="6248400"/>
            <a:chExt cx="10826115" cy="403384"/>
          </a:xfrm>
        </p:grpSpPr>
        <p:sp>
          <p:nvSpPr>
            <p:cNvPr id="17" name="Rectangle 17"/>
            <p:cNvSpPr/>
            <p:nvPr/>
          </p:nvSpPr>
          <p:spPr>
            <a:xfrm>
              <a:off x="685800" y="6248400"/>
              <a:ext cx="10820400" cy="9525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80085" y="6431756"/>
              <a:ext cx="58916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数据来源:国家铁路局《2024年铁道统计公报》表「全国铁路旅客运输量」(公报第 2 页)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600"/>
                            </p:stCondLst>
                            <p:childTnLst>
                              <p:par>
                                <p:cTn xmlns:p="http://schemas.openxmlformats.org/presentationml/2006/main" id="9" presetID="10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200"/>
                            </p:stCondLst>
                            <p:childTnLst>
                              <p:par>
                                <p:cTn xmlns:p="http://schemas.openxmlformats.org/presentationml/2006/main" id="13" presetID="10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800"/>
                            </p:stCondLst>
                            <p:childTnLst>
                              <p:par>
                                <p:cTn xmlns:p="http://schemas.openxmlformats.org/presentationml/2006/main" id="17" presetID="22" presetClass="entr" presetSubtype="4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8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800"/>
                            </p:stCondLst>
                            <p:childTnLst>
                              <p:par>
                                <p:cTn xmlns:p="http://schemas.openxmlformats.org/presentationml/2006/main" id="21" presetID="10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05-photo"/>
          <p:cNvPicPr>
            <a:picLocks noChangeAspect="1"/>
          </p:cNvPicPr>
          <p:nvPr/>
        </p:nvPicPr>
        <p:blipFill>
          <a:blip r:embed="rId2"/>
          <a:srcRect l="0" t="7780" r="0" b="7779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05-scrim"/>
          <p:cNvSpPr/>
          <p:nvPr/>
        </p:nvSpPr>
        <p:spPr>
          <a:xfrm>
            <a:off x="0" y="3429000"/>
            <a:ext cx="12192000" cy="3429000"/>
          </a:xfrm>
          <a:prstGeom prst="rect">
            <a:avLst/>
          </a:prstGeom>
          <a:gradFill>
            <a:gsLst>
              <a:gs pos="0">
                <a:srgbClr val="0A1B2E">
                  <a:alpha val="0"/>
                </a:srgbClr>
              </a:gs>
              <a:gs pos="52000">
                <a:srgbClr val="0A1B2E">
                  <a:alpha val="62000"/>
                </a:srgbClr>
              </a:gs>
              <a:gs pos="100000">
                <a:srgbClr val="0A1B2E">
                  <a:alpha val="90000"/>
                </a:srgbClr>
              </a:gs>
            </a:gsLst>
            <a:lin ang="5400000" scaled="1"/>
          </a:gradFill>
          <a:ln>
            <a:noFill/>
          </a:ln>
        </p:spPr>
      </p:sp>
      <p:grpSp>
        <p:nvGrpSpPr>
          <p:cNvPr id="7" name="page-frame"/>
          <p:cNvGrpSpPr/>
          <p:nvPr/>
        </p:nvGrpSpPr>
        <p:grpSpPr>
          <a:xfrm>
            <a:off x="678942" y="533400"/>
            <a:ext cx="10834116" cy="404051"/>
            <a:chOff x="678942" y="533400"/>
            <a:chExt cx="10834116" cy="404051"/>
          </a:xfrm>
        </p:grpSpPr>
        <p:sp>
          <p:nvSpPr>
            <p:cNvPr id="4" name="Rectangle 4"/>
            <p:cNvSpPr/>
            <p:nvPr/>
          </p:nvSpPr>
          <p:spPr>
            <a:xfrm>
              <a:off x="685800" y="533400"/>
              <a:ext cx="10820400" cy="28575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678942" y="673418"/>
              <a:ext cx="131313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二、客运 · 现场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0890523" y="673418"/>
              <a:ext cx="6225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05 / 15</a:t>
              </a:r>
            </a:p>
          </p:txBody>
        </p:sp>
      </p:grpSp>
      <p:grpSp>
        <p:nvGrpSpPr>
          <p:cNvPr id="10" name="p05-claim"/>
          <p:cNvGrpSpPr/>
          <p:nvPr/>
        </p:nvGrpSpPr>
        <p:grpSpPr>
          <a:xfrm>
            <a:off x="670560" y="4629150"/>
            <a:ext cx="4787951" cy="1300734"/>
            <a:chOff x="670560" y="4629150"/>
            <a:chExt cx="4787951" cy="1300734"/>
          </a:xfrm>
        </p:grpSpPr>
        <p:sp>
          <p:nvSpPr>
            <p:cNvPr id="8" name="TextBox 8"/>
            <p:cNvSpPr txBox="1"/>
            <p:nvPr/>
          </p:nvSpPr>
          <p:spPr>
            <a:xfrm>
              <a:off x="670560" y="4629150"/>
              <a:ext cx="4787951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FFFFFF"/>
                  </a:solidFill>
                  <a:latin typeface="+mj-lt"/>
                  <a:ea typeface="+mj-ea"/>
                  <a:cs typeface="+mj-cs"/>
                </a:rPr>
                <a:t>43.12 亿人次,发生在这里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76656" y="5234940"/>
              <a:ext cx="4315968" cy="6949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700"/>
                </a:lnSpc>
              </a:pPr>
              <a:r>
                <a:rPr lang="zh-CN" sz="18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平均每天约 1180 万人次通过全国铁路发送</a:t>
              </a:r>
              <a:br/>
              <a:r>
                <a:rPr lang="zh-CN" sz="18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(整理:按 431240 万人 ÷ 366 天测算)</a:t>
              </a:r>
            </a:p>
          </p:txBody>
        </p:sp>
      </p:grpSp>
      <p:grpSp>
        <p:nvGrpSpPr>
          <p:cNvPr id="13" name="p05-credit"/>
          <p:cNvGrpSpPr/>
          <p:nvPr/>
        </p:nvGrpSpPr>
        <p:grpSpPr>
          <a:xfrm>
            <a:off x="680085" y="6450806"/>
            <a:ext cx="10831830" cy="220028"/>
            <a:chOff x="680085" y="6450806"/>
            <a:chExt cx="10831830" cy="220028"/>
          </a:xfrm>
        </p:grpSpPr>
        <p:sp>
          <p:nvSpPr>
            <p:cNvPr id="11" name="TextBox 11"/>
            <p:cNvSpPr txBox="1"/>
            <p:nvPr/>
          </p:nvSpPr>
          <p:spPr>
            <a:xfrm>
              <a:off x="680085" y="6450806"/>
              <a:ext cx="313999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数据来源:国家铁路局《2024年铁道统计公报》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079585" y="6450806"/>
              <a:ext cx="543233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上海虹桥站候车大厅 摄影 Patrick Nagel · CC BY-SA 3.0 · Wikimedia Commons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7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3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3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70" accel="100000" fill="hold">
                                          <p:stCondLst>
                                            <p:cond delay="63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c="http://schemas.openxmlformats.org/drawingml/2006/chart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page-frame"/>
          <p:cNvGrpSpPr/>
          <p:nvPr/>
        </p:nvGrpSpPr>
        <p:grpSpPr>
          <a:xfrm>
            <a:off x="678942" y="533400"/>
            <a:ext cx="10834116" cy="404051"/>
            <a:chOff x="678942" y="533400"/>
            <a:chExt cx="10834116" cy="404051"/>
          </a:xfrm>
        </p:grpSpPr>
        <p:sp>
          <p:nvSpPr>
            <p:cNvPr id="2" name="Rectangle 2"/>
            <p:cNvSpPr/>
            <p:nvPr/>
          </p:nvSpPr>
          <p:spPr>
            <a:xfrm>
              <a:off x="685800" y="533400"/>
              <a:ext cx="10820400" cy="285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78942" y="67341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三、货运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890523" y="673418"/>
              <a:ext cx="6225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06 / 15</a:t>
              </a:r>
            </a:p>
          </p:txBody>
        </p:sp>
      </p:grpSp>
      <p:grpSp>
        <p:nvGrpSpPr>
          <p:cNvPr id="7" name="page-title"/>
          <p:cNvGrpSpPr/>
          <p:nvPr/>
        </p:nvGrpSpPr>
        <p:grpSpPr>
          <a:xfrm>
            <a:off x="670560" y="1104900"/>
            <a:ext cx="6232760" cy="586740"/>
            <a:chOff x="670560" y="1104900"/>
            <a:chExt cx="6232760" cy="586740"/>
          </a:xfrm>
        </p:grpSpPr>
        <p:sp>
          <p:nvSpPr>
            <p:cNvPr id="6" name="TextBox 6"/>
            <p:cNvSpPr txBox="1"/>
            <p:nvPr/>
          </p:nvSpPr>
          <p:spPr>
            <a:xfrm>
              <a:off x="670560" y="1104900"/>
              <a:ext cx="623276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51.75 亿吨:总量上行,周转量回落</a:t>
              </a:r>
            </a:p>
          </p:txBody>
        </p:sp>
      </p:grpSp>
      <p:grpSp>
        <p:nvGrpSpPr>
          <p:cNvPr id="9" name="page-lead"/>
          <p:cNvGrpSpPr/>
          <p:nvPr/>
        </p:nvGrpSpPr>
        <p:grpSpPr>
          <a:xfrm>
            <a:off x="675132" y="1678305"/>
            <a:ext cx="7159562" cy="410718"/>
            <a:chOff x="675132" y="1678305"/>
            <a:chExt cx="7159562" cy="410718"/>
          </a:xfrm>
        </p:grpSpPr>
        <p:sp>
          <p:nvSpPr>
            <p:cNvPr id="8" name="TextBox 8"/>
            <p:cNvSpPr txBox="1"/>
            <p:nvPr/>
          </p:nvSpPr>
          <p:spPr>
            <a:xfrm>
              <a:off x="675132" y="1678305"/>
              <a:ext cx="715956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货运总发送量连续六年上行,而总周转量比上年下降 1.6%</a:t>
              </a:r>
            </a:p>
          </p:txBody>
        </p:sp>
      </p:grpSp>
      <p:grpSp>
        <p:nvGrpSpPr>
          <p:cNvPr id="15" name="!!freight-mass"/>
          <p:cNvGrpSpPr/>
          <p:nvPr/>
        </p:nvGrpSpPr>
        <p:grpSpPr>
          <a:xfrm>
            <a:off x="666750" y="2247900"/>
            <a:ext cx="3714750" cy="1585151"/>
            <a:chOff x="666750" y="2247900"/>
            <a:chExt cx="3714750" cy="1585151"/>
          </a:xfrm>
        </p:grpSpPr>
        <p:sp>
          <p:nvSpPr>
            <p:cNvPr id="10" name="Rectangle 10"/>
            <p:cNvSpPr/>
            <p:nvPr/>
          </p:nvSpPr>
          <p:spPr>
            <a:xfrm>
              <a:off x="685800" y="2247900"/>
              <a:ext cx="3695700" cy="2857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685800" y="2481262"/>
              <a:ext cx="342900" cy="278606"/>
            </a:xfrm>
            <a:custGeom>
              <a:avLst/>
              <a:gdLst/>
              <a:ahLst/>
              <a:cxnLst/>
              <a:rect l="l" t="t" r="r" b="b"/>
              <a:pathLst>
                <a:path w="342900" h="278606">
                  <a:moveTo>
                    <a:pt x="235744" y="0"/>
                  </a:moveTo>
                  <a:lnTo>
                    <a:pt x="0" y="0"/>
                  </a:lnTo>
                  <a:lnTo>
                    <a:pt x="0" y="235744"/>
                  </a:lnTo>
                  <a:lnTo>
                    <a:pt x="42862" y="235744"/>
                  </a:lnTo>
                  <a:cubicBezTo>
                    <a:pt x="42862" y="259417"/>
                    <a:pt x="62053" y="278606"/>
                    <a:pt x="85725" y="278606"/>
                  </a:cubicBezTo>
                  <a:cubicBezTo>
                    <a:pt x="109397" y="278606"/>
                    <a:pt x="128588" y="259417"/>
                    <a:pt x="128588" y="235744"/>
                  </a:cubicBezTo>
                  <a:lnTo>
                    <a:pt x="214312" y="235744"/>
                  </a:lnTo>
                  <a:cubicBezTo>
                    <a:pt x="214312" y="259417"/>
                    <a:pt x="233502" y="278606"/>
                    <a:pt x="257175" y="278606"/>
                  </a:cubicBezTo>
                  <a:cubicBezTo>
                    <a:pt x="280848" y="278606"/>
                    <a:pt x="300038" y="259417"/>
                    <a:pt x="300038" y="235744"/>
                  </a:cubicBezTo>
                  <a:lnTo>
                    <a:pt x="342900" y="235744"/>
                  </a:lnTo>
                  <a:lnTo>
                    <a:pt x="342900" y="128588"/>
                  </a:lnTo>
                  <a:cubicBezTo>
                    <a:pt x="342900" y="93079"/>
                    <a:pt x="314116" y="64294"/>
                    <a:pt x="278606" y="64294"/>
                  </a:cubicBezTo>
                  <a:lnTo>
                    <a:pt x="235744" y="64294"/>
                  </a:lnTo>
                  <a:lnTo>
                    <a:pt x="235744" y="0"/>
                  </a:lnTo>
                  <a:close/>
                  <a:moveTo>
                    <a:pt x="235744" y="107156"/>
                  </a:moveTo>
                  <a:lnTo>
                    <a:pt x="235744" y="150019"/>
                  </a:lnTo>
                  <a:lnTo>
                    <a:pt x="300038" y="150019"/>
                  </a:lnTo>
                  <a:lnTo>
                    <a:pt x="300038" y="107156"/>
                  </a:lnTo>
                  <a:lnTo>
                    <a:pt x="235744" y="107156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136142" y="2559368"/>
              <a:ext cx="174021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2024 年货运总发送量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66750" y="2872740"/>
              <a:ext cx="2554148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80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51.75</a:t>
              </a:r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 亿吨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78942" y="3569018"/>
              <a:ext cx="284881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E7D32"/>
                  </a:solidFill>
                  <a:latin typeface="+mn-lt"/>
                  <a:ea typeface="+mn-ea"/>
                  <a:cs typeface="+mn-cs"/>
                </a:rPr>
                <a:t>比上年增长 2.8%(增加 1.39 亿吨)</a:t>
              </a:r>
            </a:p>
          </p:txBody>
        </p:sp>
      </p:grpSp>
      <p:grpSp>
        <p:nvGrpSpPr>
          <p:cNvPr id="21" name="freight-turnover"/>
          <p:cNvGrpSpPr/>
          <p:nvPr/>
        </p:nvGrpSpPr>
        <p:grpSpPr>
          <a:xfrm>
            <a:off x="666750" y="4343400"/>
            <a:ext cx="3714750" cy="1775651"/>
            <a:chOff x="666750" y="4343400"/>
            <a:chExt cx="3714750" cy="1775651"/>
          </a:xfrm>
        </p:grpSpPr>
        <p:sp>
          <p:nvSpPr>
            <p:cNvPr id="16" name="Rectangle 16"/>
            <p:cNvSpPr/>
            <p:nvPr/>
          </p:nvSpPr>
          <p:spPr>
            <a:xfrm>
              <a:off x="685800" y="4343400"/>
              <a:ext cx="3695700" cy="285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78942" y="4597718"/>
              <a:ext cx="174021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2024 年货运总周转量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66750" y="4911090"/>
              <a:ext cx="3023433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8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35861.90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78942" y="5607368"/>
              <a:ext cx="223999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C62828"/>
                  </a:solidFill>
                  <a:latin typeface="+mn-lt"/>
                  <a:ea typeface="+mn-ea"/>
                  <a:cs typeface="+mn-cs"/>
                </a:rPr>
                <a:t>亿吨公里,比上年下降 1.6%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78942" y="5855018"/>
              <a:ext cx="284881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国家铁路 -0.2%,其他铁路 -14.1%</a:t>
              </a:r>
            </a:p>
          </p:txBody>
        </p:sp>
      </p:grpSp>
      <p:graphicFrame>
        <p:nvGraphicFramePr>
          <p:cNvPr id="22" name="freight-sent-6y"/>
          <p:cNvGraphicFramePr>
            <a:graphicFrameLocks noGrp="1"/>
          </p:cNvGraphicFramePr>
          <p:nvPr/>
        </p:nvGraphicFramePr>
        <p:xfrm>
          <a:off x="4762500" y="2247900"/>
          <a:ext cx="6743700" cy="3810000"/>
        </p:xfrm>
        <a:graphic>
          <a:graphicData uri="http://schemas.openxmlformats.org/drawingml/2006/chart">
            <c:chart r:id="rId2"/>
          </a:graphicData>
        </a:graphic>
      </p:graphicFrame>
      <p:grpSp>
        <p:nvGrpSpPr>
          <p:cNvPr id="25" name="source-bar"/>
          <p:cNvGrpSpPr/>
          <p:nvPr/>
        </p:nvGrpSpPr>
        <p:grpSpPr>
          <a:xfrm>
            <a:off x="680085" y="6248400"/>
            <a:ext cx="10826115" cy="403384"/>
            <a:chOff x="680085" y="6248400"/>
            <a:chExt cx="10826115" cy="403384"/>
          </a:xfrm>
        </p:grpSpPr>
        <p:sp>
          <p:nvSpPr>
            <p:cNvPr id="23" name="Rectangle 23"/>
            <p:cNvSpPr/>
            <p:nvPr/>
          </p:nvSpPr>
          <p:spPr>
            <a:xfrm>
              <a:off x="685800" y="6248400"/>
              <a:ext cx="10820400" cy="9525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80085" y="6431756"/>
              <a:ext cx="847741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数据来源:国家铁路局《2024年铁道统计公报》一、运输生产 · 全国铁路货运总发送量图(公报第 3 页)、全国铁路货物运输量表</a:t>
              </a:r>
            </a:p>
          </p:txBody>
        </p:sp>
      </p:grpSp>
    </p:spTree>
  </p:cSld>
  <p:clrMapOvr>
    <a:masterClrMapping/>
  </p:clrMapOvr>
  <p:transition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3" presetClass="entr" presetSubtype="16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750"/>
                            </p:stCondLst>
                            <p:childTnLst>
                              <p:par>
                                <p:cTn id="18" presetID="22" presetClass="entr" presetSubtype="1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8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75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c="http://schemas.openxmlformats.org/drawingml/2006/chart" xmlns:mc="http://schemas.openxmlformats.org/markup-compatibility/2006" xmlns:p="http://schemas.openxmlformats.org/presentationml/2006/main" xmlns:p14="http://schemas.microsoft.com/office/powerpoint/2010/main" xmlns:p159="http://schemas.microsoft.com/office/powerpoint/2015/09/main" xmlns:r="http://schemas.openxmlformats.org/officeDocument/2006/relationships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page-frame"/>
          <p:cNvGrpSpPr/>
          <p:nvPr/>
        </p:nvGrpSpPr>
        <p:grpSpPr>
          <a:xfrm>
            <a:off x="678942" y="533400"/>
            <a:ext cx="10834116" cy="404051"/>
            <a:chOff x="678942" y="533400"/>
            <a:chExt cx="10834116" cy="404051"/>
          </a:xfrm>
        </p:grpSpPr>
        <p:sp>
          <p:nvSpPr>
            <p:cNvPr id="2" name="Rectangle 2"/>
            <p:cNvSpPr/>
            <p:nvPr/>
          </p:nvSpPr>
          <p:spPr>
            <a:xfrm>
              <a:off x="685800" y="533400"/>
              <a:ext cx="10820400" cy="285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78942" y="67341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三、货运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890523" y="673418"/>
              <a:ext cx="6225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07 / 15</a:t>
              </a:r>
            </a:p>
          </p:txBody>
        </p:sp>
      </p:grpSp>
      <p:grpSp>
        <p:nvGrpSpPr>
          <p:cNvPr id="7" name="page-title"/>
          <p:cNvGrpSpPr/>
          <p:nvPr/>
        </p:nvGrpSpPr>
        <p:grpSpPr>
          <a:xfrm>
            <a:off x="670560" y="1104900"/>
            <a:ext cx="5110029" cy="586740"/>
            <a:chOff x="670560" y="1104900"/>
            <a:chExt cx="5110029" cy="586740"/>
          </a:xfrm>
        </p:grpSpPr>
        <p:sp>
          <p:nvSpPr>
            <p:cNvPr id="6" name="TextBox 6"/>
            <p:cNvSpPr txBox="1"/>
            <p:nvPr/>
          </p:nvSpPr>
          <p:spPr>
            <a:xfrm>
              <a:off x="670560" y="1104900"/>
              <a:ext cx="5110029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煤仍占大头,集装箱增长最快</a:t>
              </a:r>
            </a:p>
          </p:txBody>
        </p:sp>
      </p:grpSp>
      <p:grpSp>
        <p:nvGrpSpPr>
          <p:cNvPr id="9" name="page-lead"/>
          <p:cNvGrpSpPr/>
          <p:nvPr/>
        </p:nvGrpSpPr>
        <p:grpSpPr>
          <a:xfrm>
            <a:off x="675132" y="1678305"/>
            <a:ext cx="7343318" cy="410718"/>
            <a:chOff x="675132" y="1678305"/>
            <a:chExt cx="7343318" cy="410718"/>
          </a:xfrm>
        </p:grpSpPr>
        <p:sp>
          <p:nvSpPr>
            <p:cNvPr id="8" name="TextBox 8"/>
            <p:cNvSpPr txBox="1"/>
            <p:nvPr/>
          </p:nvSpPr>
          <p:spPr>
            <a:xfrm>
              <a:off x="675132" y="1678305"/>
              <a:ext cx="734331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六大品类合计 48.52 亿吨;品类名后的百分比为比上年增减</a:t>
              </a:r>
            </a:p>
          </p:txBody>
        </p:sp>
      </p:grpSp>
      <p:grpSp>
        <p:nvGrpSpPr>
          <p:cNvPr id="12" name="!!freight-mass"/>
          <p:cNvGrpSpPr/>
          <p:nvPr/>
        </p:nvGrpSpPr>
        <p:grpSpPr>
          <a:xfrm>
            <a:off x="673608" y="2311718"/>
            <a:ext cx="1745552" cy="698944"/>
            <a:chOff x="673608" y="2311718"/>
            <a:chExt cx="1745552" cy="698944"/>
          </a:xfrm>
        </p:grpSpPr>
        <p:sp>
          <p:nvSpPr>
            <p:cNvPr id="10" name="TextBox 10"/>
            <p:cNvSpPr txBox="1"/>
            <p:nvPr/>
          </p:nvSpPr>
          <p:spPr>
            <a:xfrm>
              <a:off x="678942" y="2311718"/>
              <a:ext cx="174021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2024 年货运总发送量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73608" y="2541270"/>
              <a:ext cx="1705249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51.75 亿吨</a:t>
              </a:r>
            </a:p>
          </p:txBody>
        </p:sp>
      </p:grpSp>
      <p:grpSp>
        <p:nvGrpSpPr>
          <p:cNvPr id="19" name="category-icons"/>
          <p:cNvGrpSpPr/>
          <p:nvPr/>
        </p:nvGrpSpPr>
        <p:grpSpPr>
          <a:xfrm>
            <a:off x="742950" y="3371850"/>
            <a:ext cx="266700" cy="2295525"/>
            <a:chOff x="742950" y="3371850"/>
            <a:chExt cx="266700" cy="2295525"/>
          </a:xfrm>
        </p:grpSpPr>
        <p:sp>
          <p:nvSpPr>
            <p:cNvPr id="13" name="Freeform 13"/>
            <p:cNvSpPr/>
            <p:nvPr/>
          </p:nvSpPr>
          <p:spPr>
            <a:xfrm>
              <a:off x="742950" y="3371850"/>
              <a:ext cx="266700" cy="304800"/>
            </a:xfrm>
            <a:custGeom>
              <a:avLst/>
              <a:gdLst/>
              <a:ahLst/>
              <a:cxnLst/>
              <a:rect l="l" t="t" r="r" b="b"/>
              <a:pathLst>
                <a:path w="266700" h="304800">
                  <a:moveTo>
                    <a:pt x="266700" y="171450"/>
                  </a:moveTo>
                  <a:cubicBezTo>
                    <a:pt x="266700" y="245097"/>
                    <a:pt x="206997" y="304800"/>
                    <a:pt x="133350" y="304800"/>
                  </a:cubicBezTo>
                  <a:cubicBezTo>
                    <a:pt x="59703" y="304800"/>
                    <a:pt x="0" y="245097"/>
                    <a:pt x="0" y="171450"/>
                  </a:cubicBezTo>
                  <a:cubicBezTo>
                    <a:pt x="0" y="104775"/>
                    <a:pt x="57150" y="57150"/>
                    <a:pt x="57150" y="57150"/>
                  </a:cubicBezTo>
                  <a:lnTo>
                    <a:pt x="95250" y="57150"/>
                  </a:lnTo>
                  <a:lnTo>
                    <a:pt x="95250" y="85725"/>
                  </a:lnTo>
                  <a:cubicBezTo>
                    <a:pt x="95250" y="96246"/>
                    <a:pt x="103779" y="104775"/>
                    <a:pt x="114300" y="104775"/>
                  </a:cubicBezTo>
                  <a:cubicBezTo>
                    <a:pt x="124821" y="104775"/>
                    <a:pt x="133350" y="96246"/>
                    <a:pt x="133350" y="85725"/>
                  </a:cubicBezTo>
                  <a:lnTo>
                    <a:pt x="133350" y="0"/>
                  </a:lnTo>
                  <a:lnTo>
                    <a:pt x="171450" y="0"/>
                  </a:lnTo>
                  <a:cubicBezTo>
                    <a:pt x="171450" y="0"/>
                    <a:pt x="266700" y="57150"/>
                    <a:pt x="266700" y="171450"/>
                  </a:cubicBezTo>
                  <a:close/>
                  <a:moveTo>
                    <a:pt x="171450" y="228600"/>
                  </a:moveTo>
                  <a:cubicBezTo>
                    <a:pt x="171450" y="249643"/>
                    <a:pt x="154392" y="266700"/>
                    <a:pt x="133350" y="266700"/>
                  </a:cubicBezTo>
                  <a:cubicBezTo>
                    <a:pt x="112308" y="266700"/>
                    <a:pt x="95250" y="249643"/>
                    <a:pt x="95250" y="228600"/>
                  </a:cubicBezTo>
                  <a:cubicBezTo>
                    <a:pt x="95250" y="180975"/>
                    <a:pt x="133350" y="152400"/>
                    <a:pt x="133350" y="152400"/>
                  </a:cubicBezTo>
                  <a:cubicBezTo>
                    <a:pt x="133350" y="152400"/>
                    <a:pt x="171450" y="180975"/>
                    <a:pt x="171450" y="2286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4" name="Freeform 14"/>
            <p:cNvSpPr/>
            <p:nvPr/>
          </p:nvSpPr>
          <p:spPr>
            <a:xfrm>
              <a:off x="742950" y="3790950"/>
              <a:ext cx="266700" cy="266700"/>
            </a:xfrm>
            <a:custGeom>
              <a:avLst/>
              <a:gdLst/>
              <a:ahLst/>
              <a:cxnLst/>
              <a:rect l="l" t="t" r="r" b="b"/>
              <a:pathLst>
                <a:path w="266700" h="266700">
                  <a:moveTo>
                    <a:pt x="114300" y="0"/>
                  </a:moveTo>
                  <a:lnTo>
                    <a:pt x="57150" y="0"/>
                  </a:lnTo>
                  <a:lnTo>
                    <a:pt x="0" y="95250"/>
                  </a:lnTo>
                  <a:lnTo>
                    <a:pt x="0" y="266700"/>
                  </a:lnTo>
                  <a:lnTo>
                    <a:pt x="266700" y="266700"/>
                  </a:lnTo>
                  <a:lnTo>
                    <a:pt x="266700" y="95250"/>
                  </a:lnTo>
                  <a:lnTo>
                    <a:pt x="209550" y="0"/>
                  </a:lnTo>
                  <a:lnTo>
                    <a:pt x="152400" y="0"/>
                  </a:lnTo>
                  <a:lnTo>
                    <a:pt x="152400" y="95250"/>
                  </a:lnTo>
                  <a:lnTo>
                    <a:pt x="114300" y="95250"/>
                  </a:lnTo>
                  <a:lnTo>
                    <a:pt x="11430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742950" y="4210050"/>
              <a:ext cx="266700" cy="247650"/>
            </a:xfrm>
            <a:custGeom>
              <a:avLst/>
              <a:gdLst/>
              <a:ahLst/>
              <a:cxnLst/>
              <a:rect l="l" t="t" r="r" b="b"/>
              <a:pathLst>
                <a:path w="266700" h="247650">
                  <a:moveTo>
                    <a:pt x="266700" y="0"/>
                  </a:moveTo>
                  <a:lnTo>
                    <a:pt x="266700" y="247650"/>
                  </a:lnTo>
                  <a:lnTo>
                    <a:pt x="228600" y="247650"/>
                  </a:lnTo>
                  <a:lnTo>
                    <a:pt x="228600" y="152400"/>
                  </a:lnTo>
                  <a:lnTo>
                    <a:pt x="190500" y="152400"/>
                  </a:lnTo>
                  <a:lnTo>
                    <a:pt x="190500" y="247650"/>
                  </a:lnTo>
                  <a:lnTo>
                    <a:pt x="0" y="247650"/>
                  </a:lnTo>
                  <a:lnTo>
                    <a:pt x="0" y="57150"/>
                  </a:lnTo>
                  <a:lnTo>
                    <a:pt x="114300" y="0"/>
                  </a:lnTo>
                  <a:lnTo>
                    <a:pt x="133350" y="0"/>
                  </a:lnTo>
                  <a:lnTo>
                    <a:pt x="133350" y="57150"/>
                  </a:lnTo>
                  <a:lnTo>
                    <a:pt x="247650" y="0"/>
                  </a:lnTo>
                  <a:lnTo>
                    <a:pt x="266700" y="0"/>
                  </a:lnTo>
                  <a:close/>
                  <a:moveTo>
                    <a:pt x="152400" y="114300"/>
                  </a:moveTo>
                  <a:lnTo>
                    <a:pt x="114300" y="114300"/>
                  </a:lnTo>
                  <a:lnTo>
                    <a:pt x="114300" y="190500"/>
                  </a:lnTo>
                  <a:lnTo>
                    <a:pt x="152400" y="190500"/>
                  </a:lnTo>
                  <a:lnTo>
                    <a:pt x="152400" y="114300"/>
                  </a:lnTo>
                  <a:close/>
                  <a:moveTo>
                    <a:pt x="76200" y="114300"/>
                  </a:moveTo>
                  <a:lnTo>
                    <a:pt x="38100" y="114300"/>
                  </a:lnTo>
                  <a:lnTo>
                    <a:pt x="38100" y="190500"/>
                  </a:lnTo>
                  <a:lnTo>
                    <a:pt x="76200" y="190500"/>
                  </a:lnTo>
                  <a:lnTo>
                    <a:pt x="76200" y="11430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6" name="Freeform 16"/>
            <p:cNvSpPr/>
            <p:nvPr/>
          </p:nvSpPr>
          <p:spPr>
            <a:xfrm>
              <a:off x="762000" y="4572000"/>
              <a:ext cx="228600" cy="304800"/>
            </a:xfrm>
            <a:custGeom>
              <a:avLst/>
              <a:gdLst/>
              <a:ahLst/>
              <a:cxnLst/>
              <a:rect l="l" t="t" r="r" b="b"/>
              <a:pathLst>
                <a:path w="228600" h="304800">
                  <a:moveTo>
                    <a:pt x="95250" y="0"/>
                  </a:moveTo>
                  <a:lnTo>
                    <a:pt x="18002" y="123597"/>
                  </a:lnTo>
                  <a:cubicBezTo>
                    <a:pt x="6238" y="142420"/>
                    <a:pt x="0" y="164169"/>
                    <a:pt x="0" y="186366"/>
                  </a:cubicBezTo>
                  <a:lnTo>
                    <a:pt x="0" y="190500"/>
                  </a:lnTo>
                  <a:cubicBezTo>
                    <a:pt x="0" y="253626"/>
                    <a:pt x="51174" y="304800"/>
                    <a:pt x="114300" y="304800"/>
                  </a:cubicBezTo>
                  <a:cubicBezTo>
                    <a:pt x="177426" y="304800"/>
                    <a:pt x="228600" y="253626"/>
                    <a:pt x="228600" y="190500"/>
                  </a:cubicBezTo>
                  <a:lnTo>
                    <a:pt x="228600" y="186366"/>
                  </a:lnTo>
                  <a:cubicBezTo>
                    <a:pt x="228600" y="164169"/>
                    <a:pt x="222363" y="142420"/>
                    <a:pt x="210598" y="123597"/>
                  </a:cubicBezTo>
                  <a:lnTo>
                    <a:pt x="133350" y="0"/>
                  </a:lnTo>
                  <a:lnTo>
                    <a:pt x="95250" y="0"/>
                  </a:lnTo>
                  <a:close/>
                  <a:moveTo>
                    <a:pt x="152400" y="190500"/>
                  </a:moveTo>
                  <a:cubicBezTo>
                    <a:pt x="152400" y="211543"/>
                    <a:pt x="135342" y="228600"/>
                    <a:pt x="114300" y="228600"/>
                  </a:cubicBezTo>
                  <a:lnTo>
                    <a:pt x="114300" y="266700"/>
                  </a:lnTo>
                  <a:cubicBezTo>
                    <a:pt x="156383" y="266700"/>
                    <a:pt x="190500" y="232583"/>
                    <a:pt x="190500" y="190500"/>
                  </a:cubicBezTo>
                  <a:lnTo>
                    <a:pt x="152400" y="19050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7" name="Freeform 17"/>
            <p:cNvSpPr/>
            <p:nvPr/>
          </p:nvSpPr>
          <p:spPr>
            <a:xfrm>
              <a:off x="742950" y="4991100"/>
              <a:ext cx="266700" cy="266700"/>
            </a:xfrm>
            <a:custGeom>
              <a:avLst/>
              <a:gdLst/>
              <a:ahLst/>
              <a:cxnLst/>
              <a:rect l="l" t="t" r="r" b="b"/>
              <a:pathLst>
                <a:path w="266700" h="266700">
                  <a:moveTo>
                    <a:pt x="266700" y="38100"/>
                  </a:moveTo>
                  <a:cubicBezTo>
                    <a:pt x="266700" y="87917"/>
                    <a:pt x="234829" y="130291"/>
                    <a:pt x="190365" y="145944"/>
                  </a:cubicBezTo>
                  <a:cubicBezTo>
                    <a:pt x="178487" y="150125"/>
                    <a:pt x="165709" y="152400"/>
                    <a:pt x="152400" y="152400"/>
                  </a:cubicBezTo>
                  <a:lnTo>
                    <a:pt x="152400" y="228600"/>
                  </a:lnTo>
                  <a:lnTo>
                    <a:pt x="228600" y="228600"/>
                  </a:lnTo>
                  <a:lnTo>
                    <a:pt x="228600" y="266700"/>
                  </a:lnTo>
                  <a:lnTo>
                    <a:pt x="38100" y="266700"/>
                  </a:lnTo>
                  <a:lnTo>
                    <a:pt x="38100" y="228600"/>
                  </a:lnTo>
                  <a:lnTo>
                    <a:pt x="114300" y="228600"/>
                  </a:lnTo>
                  <a:lnTo>
                    <a:pt x="114300" y="190500"/>
                  </a:lnTo>
                  <a:cubicBezTo>
                    <a:pt x="51174" y="190500"/>
                    <a:pt x="0" y="139326"/>
                    <a:pt x="0" y="76200"/>
                  </a:cubicBezTo>
                  <a:lnTo>
                    <a:pt x="0" y="38100"/>
                  </a:lnTo>
                  <a:lnTo>
                    <a:pt x="38100" y="38100"/>
                  </a:lnTo>
                  <a:cubicBezTo>
                    <a:pt x="71002" y="38100"/>
                    <a:pt x="100658" y="52002"/>
                    <a:pt x="121512" y="74253"/>
                  </a:cubicBezTo>
                  <a:cubicBezTo>
                    <a:pt x="132202" y="85658"/>
                    <a:pt x="140579" y="99256"/>
                    <a:pt x="145896" y="114300"/>
                  </a:cubicBezTo>
                  <a:lnTo>
                    <a:pt x="152400" y="114300"/>
                  </a:lnTo>
                  <a:cubicBezTo>
                    <a:pt x="163592" y="114300"/>
                    <a:pt x="174222" y="111887"/>
                    <a:pt x="183794" y="107553"/>
                  </a:cubicBezTo>
                  <a:cubicBezTo>
                    <a:pt x="175782" y="81491"/>
                    <a:pt x="160967" y="58407"/>
                    <a:pt x="141424" y="40372"/>
                  </a:cubicBezTo>
                  <a:cubicBezTo>
                    <a:pt x="162390" y="15673"/>
                    <a:pt x="193664" y="0"/>
                    <a:pt x="228600" y="0"/>
                  </a:cubicBezTo>
                  <a:lnTo>
                    <a:pt x="266700" y="0"/>
                  </a:lnTo>
                  <a:lnTo>
                    <a:pt x="266700" y="3810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8" name="Freeform 18"/>
            <p:cNvSpPr/>
            <p:nvPr/>
          </p:nvSpPr>
          <p:spPr>
            <a:xfrm>
              <a:off x="762000" y="5381625"/>
              <a:ext cx="247650" cy="285750"/>
            </a:xfrm>
            <a:custGeom>
              <a:avLst/>
              <a:gdLst/>
              <a:ahLst/>
              <a:cxnLst/>
              <a:rect l="l" t="t" r="r" b="b"/>
              <a:pathLst>
                <a:path w="247650" h="285750">
                  <a:moveTo>
                    <a:pt x="190500" y="0"/>
                  </a:moveTo>
                  <a:cubicBezTo>
                    <a:pt x="85290" y="0"/>
                    <a:pt x="0" y="76761"/>
                    <a:pt x="0" y="171450"/>
                  </a:cubicBezTo>
                  <a:lnTo>
                    <a:pt x="0" y="285750"/>
                  </a:lnTo>
                  <a:lnTo>
                    <a:pt x="38100" y="285750"/>
                  </a:lnTo>
                  <a:lnTo>
                    <a:pt x="38100" y="182609"/>
                  </a:lnTo>
                  <a:lnTo>
                    <a:pt x="119880" y="100829"/>
                  </a:lnTo>
                  <a:lnTo>
                    <a:pt x="146820" y="127770"/>
                  </a:lnTo>
                  <a:lnTo>
                    <a:pt x="76200" y="198391"/>
                  </a:lnTo>
                  <a:lnTo>
                    <a:pt x="76200" y="246804"/>
                  </a:lnTo>
                  <a:cubicBezTo>
                    <a:pt x="172465" y="238201"/>
                    <a:pt x="247650" y="165103"/>
                    <a:pt x="247650" y="76200"/>
                  </a:cubicBezTo>
                  <a:lnTo>
                    <a:pt x="247650" y="0"/>
                  </a:lnTo>
                  <a:lnTo>
                    <a:pt x="19050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</p:grpSp>
      <p:graphicFrame>
        <p:nvGraphicFramePr>
          <p:cNvPr id="20" name="freight-category-2024"/>
          <p:cNvGraphicFramePr>
            <a:graphicFrameLocks noGrp="1"/>
          </p:cNvGraphicFramePr>
          <p:nvPr/>
        </p:nvGraphicFramePr>
        <p:xfrm>
          <a:off x="1238250" y="3143250"/>
          <a:ext cx="10267950" cy="2914650"/>
        </p:xfrm>
        <a:graphic>
          <a:graphicData uri="http://schemas.openxmlformats.org/drawingml/2006/chart">
            <c:chart r:id="rId2"/>
          </a:graphicData>
        </a:graphic>
      </p:graphicFrame>
      <p:grpSp>
        <p:nvGrpSpPr>
          <p:cNvPr id="23" name="source-bar"/>
          <p:cNvGrpSpPr/>
          <p:nvPr/>
        </p:nvGrpSpPr>
        <p:grpSpPr>
          <a:xfrm>
            <a:off x="680085" y="6248400"/>
            <a:ext cx="10826115" cy="403384"/>
            <a:chOff x="680085" y="6248400"/>
            <a:chExt cx="10826115" cy="403384"/>
          </a:xfrm>
        </p:grpSpPr>
        <p:sp>
          <p:nvSpPr>
            <p:cNvPr id="21" name="Rectangle 21"/>
            <p:cNvSpPr/>
            <p:nvPr/>
          </p:nvSpPr>
          <p:spPr>
            <a:xfrm>
              <a:off x="685800" y="6248400"/>
              <a:ext cx="10820400" cy="9525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80085" y="6431756"/>
              <a:ext cx="75275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数据来源:国家铁路局《2024年铁道统计公报》表「全国铁路主要品类运量」(公报第 4 页)· 六大品类合计为整理</a:t>
              </a:r>
            </a:p>
          </p:txBody>
        </p:sp>
      </p:grpSp>
    </p:spTree>
  </p:cSld>
  <p:clrMapOvr>
    <a:masterClrMapping/>
  </p:clrMapOvr>
  <mc:AlternateContent>
    <mc:Choice Requires="p159">
      <p:transition p14:dur="900">
        <p159:morph option="byObject"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2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9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1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75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page-frame"/>
          <p:cNvGrpSpPr/>
          <p:nvPr/>
        </p:nvGrpSpPr>
        <p:grpSpPr>
          <a:xfrm>
            <a:off x="678942" y="533400"/>
            <a:ext cx="10834116" cy="404051"/>
            <a:chOff x="678942" y="533400"/>
            <a:chExt cx="10834116" cy="404051"/>
          </a:xfrm>
        </p:grpSpPr>
        <p:sp>
          <p:nvSpPr>
            <p:cNvPr id="2" name="Rectangle 2"/>
            <p:cNvSpPr/>
            <p:nvPr/>
          </p:nvSpPr>
          <p:spPr>
            <a:xfrm>
              <a:off x="685800" y="533400"/>
              <a:ext cx="10820400" cy="285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78942" y="673418"/>
              <a:ext cx="185834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三、货运 · 换算周转量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890523" y="673418"/>
              <a:ext cx="6225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08 / 15</a:t>
              </a:r>
            </a:p>
          </p:txBody>
        </p:sp>
      </p:grpSp>
      <p:grpSp>
        <p:nvGrpSpPr>
          <p:cNvPr id="7" name="page-title"/>
          <p:cNvGrpSpPr/>
          <p:nvPr/>
        </p:nvGrpSpPr>
        <p:grpSpPr>
          <a:xfrm>
            <a:off x="670560" y="1104900"/>
            <a:ext cx="7211111" cy="586740"/>
            <a:chOff x="670560" y="1104900"/>
            <a:chExt cx="7211111" cy="586740"/>
          </a:xfrm>
        </p:grpSpPr>
        <p:sp>
          <p:nvSpPr>
            <p:cNvPr id="6" name="TextBox 6"/>
            <p:cNvSpPr txBox="1"/>
            <p:nvPr/>
          </p:nvSpPr>
          <p:spPr>
            <a:xfrm>
              <a:off x="670560" y="1104900"/>
              <a:ext cx="7211111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51661 亿吨公里:总换算周转量小幅上行</a:t>
              </a:r>
            </a:p>
          </p:txBody>
        </p:sp>
      </p:grpSp>
      <p:grpSp>
        <p:nvGrpSpPr>
          <p:cNvPr id="9" name="page-lead"/>
          <p:cNvGrpSpPr/>
          <p:nvPr/>
        </p:nvGrpSpPr>
        <p:grpSpPr>
          <a:xfrm>
            <a:off x="675132" y="1678305"/>
            <a:ext cx="7583615" cy="410718"/>
            <a:chOff x="675132" y="1678305"/>
            <a:chExt cx="7583615" cy="410718"/>
          </a:xfrm>
        </p:grpSpPr>
        <p:sp>
          <p:nvSpPr>
            <p:cNvPr id="8" name="TextBox 8"/>
            <p:cNvSpPr txBox="1"/>
            <p:nvPr/>
          </p:nvSpPr>
          <p:spPr>
            <a:xfrm>
              <a:off x="675132" y="1678305"/>
              <a:ext cx="7583615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比上年增长 0.9%;国家铁路增长 2.1%,其他铁路下降 13.8%</a:t>
              </a:r>
            </a:p>
          </p:txBody>
        </p:sp>
      </p:grpSp>
      <p:graphicFrame>
        <p:nvGraphicFramePr>
          <p:cNvPr id="10" name="converted-turnover-6y"/>
          <p:cNvGraphicFramePr>
            <a:graphicFrameLocks noGrp="1"/>
          </p:cNvGraphicFramePr>
          <p:nvPr/>
        </p:nvGraphicFramePr>
        <p:xfrm>
          <a:off x="685800" y="2247900"/>
          <a:ext cx="6858000" cy="3810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pSp>
        <p:nvGrpSpPr>
          <p:cNvPr id="20" name="ceb-block"/>
          <p:cNvGrpSpPr/>
          <p:nvPr/>
        </p:nvGrpSpPr>
        <p:grpSpPr>
          <a:xfrm>
            <a:off x="7715250" y="2247900"/>
            <a:ext cx="3790950" cy="1585151"/>
            <a:chOff x="7715250" y="2247900"/>
            <a:chExt cx="3790950" cy="1585151"/>
          </a:xfrm>
        </p:grpSpPr>
        <p:sp>
          <p:nvSpPr>
            <p:cNvPr id="11" name="Rectangle 11"/>
            <p:cNvSpPr/>
            <p:nvPr/>
          </p:nvSpPr>
          <p:spPr>
            <a:xfrm>
              <a:off x="7734300" y="2247900"/>
              <a:ext cx="3771900" cy="285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grpSp>
          <p:nvGrpSpPr>
            <p:cNvPr id="16" name="Group 16"/>
            <p:cNvGrpSpPr/>
            <p:nvPr/>
          </p:nvGrpSpPr>
          <p:grpSpPr>
            <a:xfrm>
              <a:off x="7735479" y="2438400"/>
              <a:ext cx="302442" cy="304800"/>
              <a:chOff x="7735479" y="2438400"/>
              <a:chExt cx="302442" cy="304800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7735479" y="2501418"/>
                <a:ext cx="302442" cy="70332"/>
              </a:xfrm>
              <a:custGeom>
                <a:avLst/>
                <a:gdLst/>
                <a:ahLst/>
                <a:cxnLst/>
                <a:rect l="l" t="t" r="r" b="b"/>
                <a:pathLst>
                  <a:path w="302442" h="70332">
                    <a:moveTo>
                      <a:pt x="27771" y="0"/>
                    </a:moveTo>
                    <a:cubicBezTo>
                      <a:pt x="13078" y="20258"/>
                      <a:pt x="3249" y="44274"/>
                      <a:pt x="0" y="70332"/>
                    </a:cubicBezTo>
                    <a:lnTo>
                      <a:pt x="302442" y="70332"/>
                    </a:lnTo>
                    <a:cubicBezTo>
                      <a:pt x="299192" y="44274"/>
                      <a:pt x="289364" y="20258"/>
                      <a:pt x="274671" y="0"/>
                    </a:cubicBezTo>
                    <a:cubicBezTo>
                      <a:pt x="273878" y="444"/>
                      <a:pt x="273074" y="888"/>
                      <a:pt x="272261" y="1331"/>
                    </a:cubicBezTo>
                    <a:cubicBezTo>
                      <a:pt x="243964" y="16766"/>
                      <a:pt x="202742" y="32232"/>
                      <a:pt x="151220" y="32232"/>
                    </a:cubicBezTo>
                    <a:cubicBezTo>
                      <a:pt x="99700" y="32232"/>
                      <a:pt x="58476" y="16766"/>
                      <a:pt x="30179" y="1331"/>
                    </a:cubicBezTo>
                    <a:cubicBezTo>
                      <a:pt x="29366" y="888"/>
                      <a:pt x="28563" y="444"/>
                      <a:pt x="2777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7790379" y="2438400"/>
                <a:ext cx="192642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192642" h="57150">
                    <a:moveTo>
                      <a:pt x="192642" y="34292"/>
                    </a:moveTo>
                    <a:cubicBezTo>
                      <a:pt x="168929" y="46205"/>
                      <a:pt x="136279" y="57150"/>
                      <a:pt x="96321" y="57150"/>
                    </a:cubicBezTo>
                    <a:cubicBezTo>
                      <a:pt x="56363" y="57150"/>
                      <a:pt x="23714" y="46206"/>
                      <a:pt x="0" y="34292"/>
                    </a:cubicBezTo>
                    <a:cubicBezTo>
                      <a:pt x="26253" y="12857"/>
                      <a:pt x="59786" y="0"/>
                      <a:pt x="96321" y="0"/>
                    </a:cubicBezTo>
                    <a:cubicBezTo>
                      <a:pt x="132857" y="0"/>
                      <a:pt x="166389" y="12856"/>
                      <a:pt x="192642" y="34292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7735479" y="2609850"/>
                <a:ext cx="302442" cy="70333"/>
              </a:xfrm>
              <a:custGeom>
                <a:avLst/>
                <a:gdLst/>
                <a:ahLst/>
                <a:cxnLst/>
                <a:rect l="l" t="t" r="r" b="b"/>
                <a:pathLst>
                  <a:path w="302442" h="70333">
                    <a:moveTo>
                      <a:pt x="0" y="0"/>
                    </a:moveTo>
                    <a:cubicBezTo>
                      <a:pt x="3249" y="26058"/>
                      <a:pt x="13078" y="50075"/>
                      <a:pt x="27771" y="70333"/>
                    </a:cubicBezTo>
                    <a:cubicBezTo>
                      <a:pt x="28563" y="69889"/>
                      <a:pt x="29367" y="69445"/>
                      <a:pt x="30180" y="69001"/>
                    </a:cubicBezTo>
                    <a:cubicBezTo>
                      <a:pt x="58476" y="53567"/>
                      <a:pt x="99700" y="38100"/>
                      <a:pt x="151221" y="38100"/>
                    </a:cubicBezTo>
                    <a:cubicBezTo>
                      <a:pt x="202742" y="38100"/>
                      <a:pt x="243966" y="53567"/>
                      <a:pt x="272261" y="69001"/>
                    </a:cubicBezTo>
                    <a:cubicBezTo>
                      <a:pt x="273076" y="69445"/>
                      <a:pt x="273878" y="69889"/>
                      <a:pt x="274671" y="70333"/>
                    </a:cubicBezTo>
                    <a:cubicBezTo>
                      <a:pt x="289364" y="50075"/>
                      <a:pt x="299192" y="26058"/>
                      <a:pt x="302442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7790379" y="2686050"/>
                <a:ext cx="192642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192642" h="57150">
                    <a:moveTo>
                      <a:pt x="96321" y="57150"/>
                    </a:moveTo>
                    <a:cubicBezTo>
                      <a:pt x="59786" y="57150"/>
                      <a:pt x="26253" y="44293"/>
                      <a:pt x="0" y="22858"/>
                    </a:cubicBezTo>
                    <a:cubicBezTo>
                      <a:pt x="23714" y="10944"/>
                      <a:pt x="56364" y="0"/>
                      <a:pt x="96321" y="0"/>
                    </a:cubicBezTo>
                    <a:cubicBezTo>
                      <a:pt x="136279" y="0"/>
                      <a:pt x="168928" y="10944"/>
                      <a:pt x="192642" y="22858"/>
                    </a:cubicBezTo>
                    <a:cubicBezTo>
                      <a:pt x="166389" y="44293"/>
                      <a:pt x="132857" y="57150"/>
                      <a:pt x="96321" y="5715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</p:grpSp>
        <p:sp>
          <p:nvSpPr>
            <p:cNvPr id="17" name="TextBox 17"/>
            <p:cNvSpPr txBox="1"/>
            <p:nvPr/>
          </p:nvSpPr>
          <p:spPr>
            <a:xfrm>
              <a:off x="8146542" y="254031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中欧班列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715250" y="2872740"/>
              <a:ext cx="1807815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8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1.9</a:t>
              </a:r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 万列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727442" y="3569018"/>
              <a:ext cx="333041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发送货物 207 万标箱,分别增长 10%、9%</a:t>
              </a:r>
            </a:p>
          </p:txBody>
        </p:sp>
      </p:grpSp>
      <p:grpSp>
        <p:nvGrpSpPr>
          <p:cNvPr id="26" name="wsl-block"/>
          <p:cNvGrpSpPr/>
          <p:nvPr/>
        </p:nvGrpSpPr>
        <p:grpSpPr>
          <a:xfrm>
            <a:off x="7715250" y="4248150"/>
            <a:ext cx="3790950" cy="1585151"/>
            <a:chOff x="7715250" y="4248150"/>
            <a:chExt cx="3790950" cy="1585151"/>
          </a:xfrm>
        </p:grpSpPr>
        <p:sp>
          <p:nvSpPr>
            <p:cNvPr id="21" name="Rectangle 21"/>
            <p:cNvSpPr/>
            <p:nvPr/>
          </p:nvSpPr>
          <p:spPr>
            <a:xfrm>
              <a:off x="7734300" y="4248150"/>
              <a:ext cx="3771900" cy="285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2" name="Freeform 22"/>
            <p:cNvSpPr/>
            <p:nvPr/>
          </p:nvSpPr>
          <p:spPr>
            <a:xfrm>
              <a:off x="7753350" y="4457700"/>
              <a:ext cx="266700" cy="266700"/>
            </a:xfrm>
            <a:custGeom>
              <a:avLst/>
              <a:gdLst/>
              <a:ahLst/>
              <a:cxnLst/>
              <a:rect l="l" t="t" r="r" b="b"/>
              <a:pathLst>
                <a:path w="266700" h="266700">
                  <a:moveTo>
                    <a:pt x="114300" y="0"/>
                  </a:moveTo>
                  <a:lnTo>
                    <a:pt x="57150" y="0"/>
                  </a:lnTo>
                  <a:lnTo>
                    <a:pt x="0" y="95250"/>
                  </a:lnTo>
                  <a:lnTo>
                    <a:pt x="0" y="266700"/>
                  </a:lnTo>
                  <a:lnTo>
                    <a:pt x="266700" y="266700"/>
                  </a:lnTo>
                  <a:lnTo>
                    <a:pt x="266700" y="95250"/>
                  </a:lnTo>
                  <a:lnTo>
                    <a:pt x="209550" y="0"/>
                  </a:lnTo>
                  <a:lnTo>
                    <a:pt x="152400" y="0"/>
                  </a:lnTo>
                  <a:lnTo>
                    <a:pt x="152400" y="95250"/>
                  </a:lnTo>
                  <a:lnTo>
                    <a:pt x="114300" y="95250"/>
                  </a:lnTo>
                  <a:lnTo>
                    <a:pt x="11430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146542" y="4540568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西部陆海新通道班列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715250" y="4872990"/>
              <a:ext cx="1717350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8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96</a:t>
              </a:r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 万标箱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727442" y="5569268"/>
              <a:ext cx="204008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E7D32"/>
                  </a:solidFill>
                  <a:latin typeface="+mn-lt"/>
                  <a:ea typeface="+mn-ea"/>
                  <a:cs typeface="+mn-cs"/>
                </a:rPr>
                <a:t>发送货物比上年增长 11%</a:t>
              </a:r>
            </a:p>
          </p:txBody>
        </p:sp>
      </p:grpSp>
      <p:grpSp>
        <p:nvGrpSpPr>
          <p:cNvPr id="29" name="source-bar"/>
          <p:cNvGrpSpPr/>
          <p:nvPr/>
        </p:nvGrpSpPr>
        <p:grpSpPr>
          <a:xfrm>
            <a:off x="680085" y="6248400"/>
            <a:ext cx="10826115" cy="403384"/>
            <a:chOff x="680085" y="6248400"/>
            <a:chExt cx="10826115" cy="403384"/>
          </a:xfrm>
        </p:grpSpPr>
        <p:sp>
          <p:nvSpPr>
            <p:cNvPr id="27" name="Rectangle 27"/>
            <p:cNvSpPr/>
            <p:nvPr/>
          </p:nvSpPr>
          <p:spPr>
            <a:xfrm>
              <a:off x="685800" y="6248400"/>
              <a:ext cx="10820400" cy="9525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80085" y="6431756"/>
              <a:ext cx="851510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数据来源:国家铁路局《2024年铁道统计公报》一、运输生产 · 全国铁路总换算周转量图(公报第 5 页)、重点运输(公报第 4 页)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xmlns:p="http://schemas.openxmlformats.org/presentationml/2006/main" id="9" presetID="10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xmlns:p="http://schemas.openxmlformats.org/presentationml/2006/main" id="13" presetID="22" presetClass="entr" presetSubtype="2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9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100"/>
                            </p:stCondLst>
                            <p:childTnLst>
                              <p:par>
                                <p:cTn xmlns:p="http://schemas.openxmlformats.org/presentationml/2006/main" id="17" presetID="37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4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405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45" accel="100000" fill="hold">
                                          <p:stCondLst>
                                            <p:cond delay="405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750"/>
                            </p:stCondLst>
                            <p:childTnLst>
                              <p:par>
                                <p:cTn xmlns:p="http://schemas.openxmlformats.org/presentationml/2006/main" id="24" presetID="37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4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405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45" accel="100000" fill="hold">
                                          <p:stCondLst>
                                            <p:cond delay="405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page-frame"/>
          <p:cNvGrpSpPr/>
          <p:nvPr/>
        </p:nvGrpSpPr>
        <p:grpSpPr>
          <a:xfrm>
            <a:off x="678942" y="533400"/>
            <a:ext cx="10834116" cy="404051"/>
            <a:chOff x="678942" y="533400"/>
            <a:chExt cx="10834116" cy="404051"/>
          </a:xfrm>
        </p:grpSpPr>
        <p:sp>
          <p:nvSpPr>
            <p:cNvPr id="2" name="Rectangle 2"/>
            <p:cNvSpPr/>
            <p:nvPr/>
          </p:nvSpPr>
          <p:spPr>
            <a:xfrm>
              <a:off x="685800" y="533400"/>
              <a:ext cx="10820400" cy="285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78942" y="67341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四、运输装备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890523" y="673418"/>
              <a:ext cx="6225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09 / 15</a:t>
              </a:r>
            </a:p>
          </p:txBody>
        </p:sp>
      </p:grpSp>
      <p:grpSp>
        <p:nvGrpSpPr>
          <p:cNvPr id="7" name="page-title"/>
          <p:cNvGrpSpPr/>
          <p:nvPr/>
        </p:nvGrpSpPr>
        <p:grpSpPr>
          <a:xfrm>
            <a:off x="670560" y="1104900"/>
            <a:ext cx="6655803" cy="586740"/>
            <a:chOff x="670560" y="1104900"/>
            <a:chExt cx="6655803" cy="586740"/>
          </a:xfrm>
        </p:grpSpPr>
        <p:sp>
          <p:nvSpPr>
            <p:cNvPr id="6" name="TextBox 6"/>
            <p:cNvSpPr txBox="1"/>
            <p:nvPr/>
          </p:nvSpPr>
          <p:spPr>
            <a:xfrm>
              <a:off x="670560" y="1104900"/>
              <a:ext cx="6655803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101.9 万辆货车,4806 标准组动车组</a:t>
              </a:r>
            </a:p>
          </p:txBody>
        </p:sp>
      </p:grpSp>
      <p:grpSp>
        <p:nvGrpSpPr>
          <p:cNvPr id="9" name="page-lead"/>
          <p:cNvGrpSpPr/>
          <p:nvPr/>
        </p:nvGrpSpPr>
        <p:grpSpPr>
          <a:xfrm>
            <a:off x="675132" y="1678305"/>
            <a:ext cx="4544568" cy="410718"/>
            <a:chOff x="675132" y="1678305"/>
            <a:chExt cx="4544568" cy="410718"/>
          </a:xfrm>
        </p:grpSpPr>
        <p:sp>
          <p:nvSpPr>
            <p:cNvPr id="8" name="TextBox 8"/>
            <p:cNvSpPr txBox="1"/>
            <p:nvPr/>
          </p:nvSpPr>
          <p:spPr>
            <a:xfrm>
              <a:off x="675132" y="1678305"/>
              <a:ext cx="454456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电力机车已占机车拥有量的三分之二</a:t>
              </a:r>
            </a:p>
          </p:txBody>
        </p:sp>
      </p:grpSp>
      <p:graphicFrame>
        <p:nvGraphicFramePr>
          <p:cNvPr id="10" name="equipment-table"/>
          <p:cNvGraphicFramePr>
            <a:graphicFrameLocks noGrp="1"/>
          </p:cNvGraphicFramePr>
          <p:nvPr/>
        </p:nvGraphicFramePr>
        <p:xfrm>
          <a:off x="685800" y="2247900"/>
          <a:ext cx="10820400" cy="16954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5001"/>
                <a:gridCol w="2476500"/>
                <a:gridCol w="6438899"/>
              </a:tblGrid>
              <a:tr h="381000">
                <a:tc>
                  <a:txBody>
                    <a:bodyPr/>
                    <a:lstStyle/>
                    <a:p>
                      <a:pPr/>
                      <a:r>
                        <a:rPr lang="zh-CN" sz="1800" b="1">
                          <a:solidFill>
                            <a:srgbClr val="FFFFFF"/>
                          </a:solidFill>
                          <a:latin typeface="Arial"/>
                          <a:ea typeface="Microsoft YaHei"/>
                          <a:cs typeface="Arial"/>
                        </a:rPr>
                        <a:t>类别</a:t>
                      </a:r>
                    </a:p>
                  </a:txBody>
                  <a:tcPr anchor="ctr" marL="152400" marR="152400" marT="19050" marB="190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800" b="1">
                          <a:solidFill>
                            <a:srgbClr val="FFFFFF"/>
                          </a:solidFill>
                          <a:latin typeface="Arial"/>
                          <a:ea typeface="Microsoft YaHei"/>
                          <a:cs typeface="Arial"/>
                        </a:rPr>
                        <a:t>2024 年拥有量</a:t>
                      </a:r>
                    </a:p>
                  </a:txBody>
                  <a:tcPr anchor="ctr" marL="152400" marR="152400" marT="19050" marB="190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800" b="1">
                          <a:solidFill>
                            <a:srgbClr val="FFFFFF"/>
                          </a:solidFill>
                          <a:latin typeface="Arial"/>
                          <a:ea typeface="Microsoft YaHei"/>
                          <a:cs typeface="Arial"/>
                        </a:rPr>
                        <a:t>构成</a:t>
                      </a:r>
                    </a:p>
                  </a:txBody>
                  <a:tcPr anchor="ctr" marL="152400" marR="152400" marT="19050" marB="190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/>
                      <a:r>
                        <a:rPr lang="zh-CN" sz="1800" b="1">
                          <a:solidFill>
                            <a:schemeClr val="dk1"/>
                          </a:solidFill>
                          <a:latin typeface="Arial"/>
                          <a:ea typeface="Microsoft YaHei"/>
                          <a:cs typeface="Arial"/>
                        </a:rPr>
                        <a:t>机车</a:t>
                      </a:r>
                    </a:p>
                  </a:txBody>
                  <a:tcPr anchor="ctr" marL="152400" marR="152400" marT="19050" marB="190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800" b="1">
                          <a:solidFill>
                            <a:schemeClr val="accent1"/>
                          </a:solidFill>
                          <a:latin typeface="Arial"/>
                          <a:ea typeface="Microsoft YaHei"/>
                          <a:cs typeface="Arial"/>
                        </a:rPr>
                        <a:t>2.25 万台</a:t>
                      </a:r>
                    </a:p>
                  </a:txBody>
                  <a:tcPr anchor="ctr" marL="152400" marR="152400" marT="19050" marB="190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800" b="0">
                          <a:solidFill>
                            <a:schemeClr val="dk1"/>
                          </a:solidFill>
                          <a:latin typeface="Arial"/>
                          <a:ea typeface="Microsoft YaHei"/>
                          <a:cs typeface="Arial"/>
                        </a:rPr>
                        <a:t>内燃机车 0.78 万台;电力机车 1.47 万台</a:t>
                      </a:r>
                    </a:p>
                  </a:txBody>
                  <a:tcPr anchor="ctr" marL="152400" marR="152400" marT="19050" marB="190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noFill/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/>
                      <a:r>
                        <a:rPr lang="zh-CN" sz="1800" b="1">
                          <a:solidFill>
                            <a:schemeClr val="dk1"/>
                          </a:solidFill>
                          <a:latin typeface="Arial"/>
                          <a:ea typeface="Microsoft YaHei"/>
                          <a:cs typeface="Arial"/>
                        </a:rPr>
                        <a:t>客车</a:t>
                      </a:r>
                    </a:p>
                  </a:txBody>
                  <a:tcPr anchor="ctr" marL="152400" marR="152400" marT="19050" marB="190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800" b="1">
                          <a:solidFill>
                            <a:schemeClr val="accent1"/>
                          </a:solidFill>
                          <a:latin typeface="Arial"/>
                          <a:ea typeface="Microsoft YaHei"/>
                          <a:cs typeface="Arial"/>
                        </a:rPr>
                        <a:t>8.1 万辆</a:t>
                      </a:r>
                    </a:p>
                  </a:txBody>
                  <a:tcPr anchor="ctr" marL="152400" marR="152400" marT="19050" marB="190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800" b="0">
                          <a:solidFill>
                            <a:schemeClr val="dk1"/>
                          </a:solidFill>
                          <a:latin typeface="Arial"/>
                          <a:ea typeface="Microsoft YaHei"/>
                          <a:cs typeface="Arial"/>
                        </a:rPr>
                        <a:t>其中动车组 4806 标准组、38448 辆</a:t>
                      </a:r>
                    </a:p>
                  </a:txBody>
                  <a:tcPr anchor="ctr" marL="152400" marR="152400" marT="19050" marB="190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solidFill>
                      <a:schemeClr val="lt2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/>
                      <a:r>
                        <a:rPr lang="zh-CN" sz="1800" b="1">
                          <a:solidFill>
                            <a:schemeClr val="dk1"/>
                          </a:solidFill>
                          <a:latin typeface="Arial"/>
                          <a:ea typeface="Microsoft YaHei"/>
                          <a:cs typeface="Arial"/>
                        </a:rPr>
                        <a:t>货车</a:t>
                      </a:r>
                    </a:p>
                  </a:txBody>
                  <a:tcPr anchor="ctr" marL="152400" marR="152400" marT="19050" marB="190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800" b="1">
                          <a:solidFill>
                            <a:schemeClr val="accent2"/>
                          </a:solidFill>
                          <a:latin typeface="Arial"/>
                          <a:ea typeface="Microsoft YaHei"/>
                          <a:cs typeface="Arial"/>
                        </a:rPr>
                        <a:t>101.9 万辆</a:t>
                      </a:r>
                    </a:p>
                  </a:txBody>
                  <a:tcPr anchor="ctr" marL="152400" marR="152400" marT="19050" marB="190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800" b="0">
                          <a:solidFill>
                            <a:schemeClr val="accent5"/>
                          </a:solidFill>
                          <a:latin typeface="Arial"/>
                          <a:ea typeface="Microsoft YaHei"/>
                          <a:cs typeface="Arial"/>
                        </a:rPr>
                        <a:t>公报未列分项</a:t>
                      </a:r>
                    </a:p>
                  </a:txBody>
                  <a:tcPr anchor="ctr" marL="152400" marR="152400" marT="19050" marB="190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chemeClr val="accent6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grpSp>
        <p:nvGrpSpPr>
          <p:cNvPr id="12" name="equipment-note"/>
          <p:cNvGrpSpPr/>
          <p:nvPr/>
        </p:nvGrpSpPr>
        <p:grpSpPr>
          <a:xfrm>
            <a:off x="678942" y="4064318"/>
            <a:ext cx="6038298" cy="264033"/>
            <a:chOff x="678942" y="4064318"/>
            <a:chExt cx="6038298" cy="264033"/>
          </a:xfrm>
        </p:grpSpPr>
        <p:sp>
          <p:nvSpPr>
            <p:cNvPr id="11" name="TextBox 11"/>
            <p:cNvSpPr txBox="1"/>
            <p:nvPr/>
          </p:nvSpPr>
          <p:spPr>
            <a:xfrm>
              <a:off x="678942" y="4064318"/>
              <a:ext cx="603829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注:电力机车 1.47 万台约占机车拥有量的 65%(整理,由公报两项数值计算)</a:t>
              </a:r>
            </a:p>
          </p:txBody>
        </p:sp>
      </p:grpSp>
      <p:grpSp>
        <p:nvGrpSpPr>
          <p:cNvPr id="16" name="p09-interior-photo"/>
          <p:cNvGrpSpPr/>
          <p:nvPr/>
        </p:nvGrpSpPr>
        <p:grpSpPr>
          <a:xfrm>
            <a:off x="685800" y="4476750"/>
            <a:ext cx="10820400" cy="1584484"/>
            <a:chOff x="685800" y="4476750"/>
            <a:chExt cx="10820400" cy="1584484"/>
          </a:xfrm>
        </p:grpSpPr>
        <p:pic>
          <p:nvPicPr>
            <p:cNvPr id="13" name="Image 13"/>
            <p:cNvPicPr>
              <a:picLocks noChangeAspect="1"/>
            </p:cNvPicPr>
            <p:nvPr/>
          </p:nvPicPr>
          <p:blipFill>
            <a:blip r:embed="rId2"/>
            <a:srcRect l="0" t="39040" r="0" b="39041"/>
            <a:stretch>
              <a:fillRect/>
            </a:stretch>
          </p:blipFill>
          <p:spPr>
            <a:xfrm>
              <a:off x="685800" y="4476750"/>
              <a:ext cx="10820400" cy="1581150"/>
            </a:xfrm>
            <a:prstGeom prst="rect">
              <a:avLst/>
            </a:prstGeom>
          </p:spPr>
        </p:pic>
        <p:sp>
          <p:nvSpPr>
            <p:cNvPr id="14" name="Rectangle 14"/>
            <p:cNvSpPr/>
            <p:nvPr/>
          </p:nvSpPr>
          <p:spPr>
            <a:xfrm>
              <a:off x="685800" y="5638800"/>
              <a:ext cx="10820400" cy="419100"/>
            </a:xfrm>
            <a:prstGeom prst="rect">
              <a:avLst/>
            </a:prstGeom>
            <a:gradFill>
              <a:gsLst>
                <a:gs pos="0">
                  <a:srgbClr val="0A1B2E">
                    <a:alpha val="0"/>
                  </a:srgbClr>
                </a:gs>
                <a:gs pos="100000">
                  <a:srgbClr val="0A1B2E">
                    <a:alpha val="80000"/>
                  </a:srgbClr>
                </a:gs>
              </a:gsLst>
              <a:lin ang="5400000" scaled="1"/>
            </a:gra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263360" y="5841206"/>
              <a:ext cx="513425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复兴号商务座车厢内景 摄影 N509FZ · CC BY-SA 4.0 · Wikimedia Commons</a:t>
              </a:r>
            </a:p>
          </p:txBody>
        </p:sp>
      </p:grpSp>
      <p:grpSp>
        <p:nvGrpSpPr>
          <p:cNvPr id="19" name="source-bar"/>
          <p:cNvGrpSpPr/>
          <p:nvPr/>
        </p:nvGrpSpPr>
        <p:grpSpPr>
          <a:xfrm>
            <a:off x="680085" y="6248400"/>
            <a:ext cx="10826115" cy="403384"/>
            <a:chOff x="680085" y="6248400"/>
            <a:chExt cx="10826115" cy="403384"/>
          </a:xfrm>
        </p:grpSpPr>
        <p:sp>
          <p:nvSpPr>
            <p:cNvPr id="17" name="Rectangle 17"/>
            <p:cNvSpPr/>
            <p:nvPr/>
          </p:nvSpPr>
          <p:spPr>
            <a:xfrm>
              <a:off x="685800" y="6248400"/>
              <a:ext cx="10820400" cy="9525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80085" y="6431756"/>
              <a:ext cx="51528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数据来源:国家铁路局《2024年铁道统计公报》三、运输装备(公报第 5—6 页)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xmlns:p="http://schemas.openxmlformats.org/presentationml/2006/main" id="9" presetID="10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xmlns:p="http://schemas.openxmlformats.org/presentationml/2006/main" id="13" presetID="22" presetClass="entr" presetSubtype="4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8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xmlns:p="http://schemas.openxmlformats.org/presentationml/2006/main" id="17" presetID="10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650"/>
                            </p:stCondLst>
                            <p:childTnLst>
                              <p:par>
                                <p:cTn xmlns:p="http://schemas.openxmlformats.org/presentationml/2006/main" id="21" presetID="10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page-frame"/>
          <p:cNvGrpSpPr/>
          <p:nvPr/>
        </p:nvGrpSpPr>
        <p:grpSpPr>
          <a:xfrm>
            <a:off x="678942" y="533400"/>
            <a:ext cx="10834116" cy="404051"/>
            <a:chOff x="678942" y="533400"/>
            <a:chExt cx="10834116" cy="404051"/>
          </a:xfrm>
        </p:grpSpPr>
        <p:sp>
          <p:nvSpPr>
            <p:cNvPr id="2" name="Rectangle 2"/>
            <p:cNvSpPr/>
            <p:nvPr/>
          </p:nvSpPr>
          <p:spPr>
            <a:xfrm>
              <a:off x="685800" y="533400"/>
              <a:ext cx="10820400" cy="285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78942" y="67341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五、路网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890523" y="673418"/>
              <a:ext cx="6225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10 / 15</a:t>
              </a:r>
            </a:p>
          </p:txBody>
        </p:sp>
      </p:grpSp>
      <p:grpSp>
        <p:nvGrpSpPr>
          <p:cNvPr id="7" name="page-title"/>
          <p:cNvGrpSpPr/>
          <p:nvPr/>
        </p:nvGrpSpPr>
        <p:grpSpPr>
          <a:xfrm>
            <a:off x="670560" y="1104900"/>
            <a:ext cx="6316561" cy="586740"/>
            <a:chOff x="670560" y="1104900"/>
            <a:chExt cx="6316561" cy="586740"/>
          </a:xfrm>
        </p:grpSpPr>
        <p:sp>
          <p:nvSpPr>
            <p:cNvPr id="6" name="TextBox 6"/>
            <p:cNvSpPr txBox="1"/>
            <p:nvPr/>
          </p:nvSpPr>
          <p:spPr>
            <a:xfrm>
              <a:off x="670560" y="1104900"/>
              <a:ext cx="6316561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16.2 万公里,其中高铁 4.8 万公里</a:t>
              </a:r>
            </a:p>
          </p:txBody>
        </p:sp>
      </p:grpSp>
      <p:grpSp>
        <p:nvGrpSpPr>
          <p:cNvPr id="9" name="page-lead"/>
          <p:cNvGrpSpPr/>
          <p:nvPr/>
        </p:nvGrpSpPr>
        <p:grpSpPr>
          <a:xfrm>
            <a:off x="675132" y="1678305"/>
            <a:ext cx="6184240" cy="410718"/>
            <a:chOff x="675132" y="1678305"/>
            <a:chExt cx="6184240" cy="410718"/>
          </a:xfrm>
        </p:grpSpPr>
        <p:sp>
          <p:nvSpPr>
            <p:cNvPr id="8" name="TextBox 8"/>
            <p:cNvSpPr txBox="1"/>
            <p:nvPr/>
          </p:nvSpPr>
          <p:spPr>
            <a:xfrm>
              <a:off x="675132" y="1678305"/>
              <a:ext cx="618424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高铁约占全国营业里程的三成,电化率已达 76.2%</a:t>
              </a:r>
            </a:p>
          </p:txBody>
        </p:sp>
      </p:grpSp>
      <p:grpSp>
        <p:nvGrpSpPr>
          <p:cNvPr id="13" name="p10-bridge-photo"/>
          <p:cNvGrpSpPr/>
          <p:nvPr/>
        </p:nvGrpSpPr>
        <p:grpSpPr>
          <a:xfrm>
            <a:off x="685800" y="2247900"/>
            <a:ext cx="10820400" cy="1374934"/>
            <a:chOff x="685800" y="2247900"/>
            <a:chExt cx="10820400" cy="1374934"/>
          </a:xfrm>
        </p:grpSpPr>
        <p:pic>
          <p:nvPicPr>
            <p:cNvPr id="10" name="Image 10"/>
            <p:cNvPicPr>
              <a:picLocks noChangeAspect="1"/>
            </p:cNvPicPr>
            <p:nvPr/>
          </p:nvPicPr>
          <p:blipFill>
            <a:blip r:embed="rId2"/>
            <a:srcRect l="0" t="38722" r="0" b="38722"/>
            <a:stretch>
              <a:fillRect/>
            </a:stretch>
          </p:blipFill>
          <p:spPr>
            <a:xfrm>
              <a:off x="685800" y="2247900"/>
              <a:ext cx="10820400" cy="1371600"/>
            </a:xfrm>
            <a:prstGeom prst="rect">
              <a:avLst/>
            </a:prstGeom>
          </p:spPr>
        </p:pic>
        <p:sp>
          <p:nvSpPr>
            <p:cNvPr id="11" name="Rectangle 11"/>
            <p:cNvSpPr/>
            <p:nvPr/>
          </p:nvSpPr>
          <p:spPr>
            <a:xfrm>
              <a:off x="685800" y="3200400"/>
              <a:ext cx="10820400" cy="419100"/>
            </a:xfrm>
            <a:prstGeom prst="rect">
              <a:avLst/>
            </a:prstGeom>
            <a:gradFill>
              <a:gsLst>
                <a:gs pos="0">
                  <a:srgbClr val="0A1B2E">
                    <a:alpha val="0"/>
                  </a:srgbClr>
                </a:gs>
                <a:gs pos="100000">
                  <a:srgbClr val="0A1B2E">
                    <a:alpha val="80000"/>
                  </a:srgbClr>
                </a:gs>
              </a:gsLst>
              <a:lin ang="5400000" scaled="1"/>
            </a:gra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357219" y="3402806"/>
              <a:ext cx="504039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丹昆特大桥(无锡段) 摄影 MNXANL · CC BY-SA 4.0 · Wikimedia Commons</a:t>
              </a:r>
            </a:p>
          </p:txBody>
        </p:sp>
      </p:grpSp>
      <p:grpSp>
        <p:nvGrpSpPr>
          <p:cNvPr id="17" name="network-total"/>
          <p:cNvGrpSpPr/>
          <p:nvPr/>
        </p:nvGrpSpPr>
        <p:grpSpPr>
          <a:xfrm>
            <a:off x="666750" y="4007168"/>
            <a:ext cx="2733789" cy="1311783"/>
            <a:chOff x="666750" y="4007168"/>
            <a:chExt cx="2733789" cy="1311783"/>
          </a:xfrm>
        </p:grpSpPr>
        <p:sp>
          <p:nvSpPr>
            <p:cNvPr id="14" name="TextBox 14"/>
            <p:cNvSpPr txBox="1"/>
            <p:nvPr/>
          </p:nvSpPr>
          <p:spPr>
            <a:xfrm>
              <a:off x="678942" y="4007168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全国铁路营业里程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66750" y="4339590"/>
              <a:ext cx="2463683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80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16.2</a:t>
              </a:r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 万公里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78942" y="5054918"/>
              <a:ext cx="27215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路网密度 168.5 公里/万平方公里</a:t>
              </a:r>
            </a:p>
          </p:txBody>
        </p:sp>
      </p:grpSp>
      <p:sp>
        <p:nvSpPr>
          <p:cNvPr id="18" name="Freeform 18"/>
          <p:cNvSpPr/>
          <p:nvPr/>
        </p:nvSpPr>
        <p:spPr>
          <a:xfrm>
            <a:off x="4381500" y="3848100"/>
            <a:ext cx="342900" cy="2209800"/>
          </a:xfrm>
          <a:prstGeom prst="leftBrace">
            <a:avLst/>
          </a:prstGeom>
          <a:noFill/>
          <a:ln w="19050">
            <a:solidFill>
              <a:schemeClr val="accent3"/>
            </a:solidFill>
          </a:ln>
        </p:spPr>
      </p:sp>
      <p:grpSp>
        <p:nvGrpSpPr>
          <p:cNvPr id="22" name="network-hsr"/>
          <p:cNvGrpSpPr/>
          <p:nvPr/>
        </p:nvGrpSpPr>
        <p:grpSpPr>
          <a:xfrm>
            <a:off x="4940808" y="3905250"/>
            <a:ext cx="1853946" cy="915162"/>
            <a:chOff x="4940808" y="3905250"/>
            <a:chExt cx="1853946" cy="915162"/>
          </a:xfrm>
        </p:grpSpPr>
        <p:sp>
          <p:nvSpPr>
            <p:cNvPr id="19" name="Freeform 19"/>
            <p:cNvSpPr/>
            <p:nvPr/>
          </p:nvSpPr>
          <p:spPr>
            <a:xfrm>
              <a:off x="4988719" y="3905250"/>
              <a:ext cx="214312" cy="285750"/>
            </a:xfrm>
            <a:custGeom>
              <a:avLst/>
              <a:gdLst/>
              <a:ahLst/>
              <a:cxnLst/>
              <a:rect l="l" t="t" r="r" b="b"/>
              <a:pathLst>
                <a:path w="214312" h="285750">
                  <a:moveTo>
                    <a:pt x="0" y="53578"/>
                  </a:moveTo>
                  <a:cubicBezTo>
                    <a:pt x="0" y="23988"/>
                    <a:pt x="23988" y="0"/>
                    <a:pt x="53578" y="0"/>
                  </a:cubicBezTo>
                  <a:lnTo>
                    <a:pt x="160734" y="0"/>
                  </a:lnTo>
                  <a:cubicBezTo>
                    <a:pt x="190326" y="0"/>
                    <a:pt x="214312" y="23988"/>
                    <a:pt x="214312" y="53578"/>
                  </a:cubicBezTo>
                  <a:lnTo>
                    <a:pt x="214312" y="196453"/>
                  </a:lnTo>
                  <a:cubicBezTo>
                    <a:pt x="214312" y="218034"/>
                    <a:pt x="201552" y="236637"/>
                    <a:pt x="183164" y="245125"/>
                  </a:cubicBezTo>
                  <a:lnTo>
                    <a:pt x="200575" y="285750"/>
                  </a:lnTo>
                  <a:lnTo>
                    <a:pt x="161715" y="285750"/>
                  </a:lnTo>
                  <a:lnTo>
                    <a:pt x="146406" y="250031"/>
                  </a:lnTo>
                  <a:lnTo>
                    <a:pt x="67906" y="250031"/>
                  </a:lnTo>
                  <a:lnTo>
                    <a:pt x="52598" y="285750"/>
                  </a:lnTo>
                  <a:lnTo>
                    <a:pt x="13737" y="285750"/>
                  </a:lnTo>
                  <a:lnTo>
                    <a:pt x="31148" y="245123"/>
                  </a:lnTo>
                  <a:cubicBezTo>
                    <a:pt x="12760" y="236637"/>
                    <a:pt x="0" y="218034"/>
                    <a:pt x="0" y="196453"/>
                  </a:cubicBezTo>
                  <a:lnTo>
                    <a:pt x="0" y="53578"/>
                  </a:lnTo>
                  <a:close/>
                  <a:moveTo>
                    <a:pt x="35719" y="53578"/>
                  </a:moveTo>
                  <a:lnTo>
                    <a:pt x="89297" y="53578"/>
                  </a:lnTo>
                  <a:lnTo>
                    <a:pt x="89297" y="125016"/>
                  </a:lnTo>
                  <a:lnTo>
                    <a:pt x="35719" y="125016"/>
                  </a:lnTo>
                  <a:lnTo>
                    <a:pt x="35719" y="53578"/>
                  </a:lnTo>
                  <a:close/>
                  <a:moveTo>
                    <a:pt x="178594" y="53578"/>
                  </a:moveTo>
                  <a:lnTo>
                    <a:pt x="125016" y="53578"/>
                  </a:lnTo>
                  <a:lnTo>
                    <a:pt x="125016" y="125016"/>
                  </a:lnTo>
                  <a:lnTo>
                    <a:pt x="178594" y="125016"/>
                  </a:lnTo>
                  <a:lnTo>
                    <a:pt x="178594" y="53578"/>
                  </a:lnTo>
                  <a:close/>
                  <a:moveTo>
                    <a:pt x="125016" y="178594"/>
                  </a:moveTo>
                  <a:cubicBezTo>
                    <a:pt x="125016" y="188457"/>
                    <a:pt x="117020" y="196453"/>
                    <a:pt x="107156" y="196453"/>
                  </a:cubicBezTo>
                  <a:cubicBezTo>
                    <a:pt x="97293" y="196453"/>
                    <a:pt x="89297" y="188457"/>
                    <a:pt x="89297" y="178594"/>
                  </a:cubicBezTo>
                  <a:cubicBezTo>
                    <a:pt x="89297" y="168730"/>
                    <a:pt x="97293" y="160734"/>
                    <a:pt x="107156" y="160734"/>
                  </a:cubicBezTo>
                  <a:cubicBezTo>
                    <a:pt x="117020" y="160734"/>
                    <a:pt x="125016" y="168730"/>
                    <a:pt x="125016" y="17859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5327142" y="3988118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高速铁路营业里程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940808" y="4351020"/>
              <a:ext cx="1655171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4.8 万公里</a:t>
              </a:r>
            </a:p>
          </p:txBody>
        </p:sp>
      </p:grpSp>
      <p:grpSp>
        <p:nvGrpSpPr>
          <p:cNvPr id="29" name="network-west"/>
          <p:cNvGrpSpPr/>
          <p:nvPr/>
        </p:nvGrpSpPr>
        <p:grpSpPr>
          <a:xfrm>
            <a:off x="4940808" y="5085159"/>
            <a:ext cx="2217420" cy="897303"/>
            <a:chOff x="4940808" y="5085159"/>
            <a:chExt cx="2217420" cy="897303"/>
          </a:xfrm>
        </p:grpSpPr>
        <p:grpSp>
          <p:nvGrpSpPr>
            <p:cNvPr id="26" name="Group 26"/>
            <p:cNvGrpSpPr/>
            <p:nvPr/>
          </p:nvGrpSpPr>
          <p:grpSpPr>
            <a:xfrm>
              <a:off x="4970859" y="5085159"/>
              <a:ext cx="250032" cy="250032"/>
              <a:chOff x="4970859" y="5085159"/>
              <a:chExt cx="250032" cy="250032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4970859" y="5085159"/>
                <a:ext cx="71438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71438" h="71438">
                    <a:moveTo>
                      <a:pt x="71438" y="35719"/>
                    </a:moveTo>
                    <a:cubicBezTo>
                      <a:pt x="71438" y="55446"/>
                      <a:pt x="55446" y="71438"/>
                      <a:pt x="35719" y="71438"/>
                    </a:cubicBezTo>
                    <a:cubicBezTo>
                      <a:pt x="15992" y="71438"/>
                      <a:pt x="0" y="55446"/>
                      <a:pt x="0" y="35719"/>
                    </a:cubicBezTo>
                    <a:cubicBezTo>
                      <a:pt x="0" y="15992"/>
                      <a:pt x="15992" y="0"/>
                      <a:pt x="35719" y="0"/>
                    </a:cubicBezTo>
                    <a:cubicBezTo>
                      <a:pt x="55446" y="0"/>
                      <a:pt x="71438" y="15992"/>
                      <a:pt x="71438" y="35719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5149453" y="5263753"/>
                <a:ext cx="71438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71438" h="71438">
                    <a:moveTo>
                      <a:pt x="71438" y="35719"/>
                    </a:moveTo>
                    <a:cubicBezTo>
                      <a:pt x="71438" y="55446"/>
                      <a:pt x="55446" y="71438"/>
                      <a:pt x="35719" y="71438"/>
                    </a:cubicBezTo>
                    <a:cubicBezTo>
                      <a:pt x="15991" y="71438"/>
                      <a:pt x="0" y="55446"/>
                      <a:pt x="0" y="35719"/>
                    </a:cubicBezTo>
                    <a:cubicBezTo>
                      <a:pt x="0" y="15991"/>
                      <a:pt x="15991" y="0"/>
                      <a:pt x="35719" y="0"/>
                    </a:cubicBezTo>
                    <a:cubicBezTo>
                      <a:pt x="55446" y="0"/>
                      <a:pt x="71438" y="15991"/>
                      <a:pt x="71438" y="35719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4988719" y="5085159"/>
                <a:ext cx="214312" cy="250031"/>
              </a:xfrm>
              <a:custGeom>
                <a:avLst/>
                <a:gdLst/>
                <a:ahLst/>
                <a:cxnLst/>
                <a:rect l="l" t="t" r="r" b="b"/>
                <a:pathLst>
                  <a:path w="214312" h="250031">
                    <a:moveTo>
                      <a:pt x="125016" y="62508"/>
                    </a:moveTo>
                    <a:cubicBezTo>
                      <a:pt x="125016" y="47713"/>
                      <a:pt x="137009" y="35719"/>
                      <a:pt x="151805" y="35719"/>
                    </a:cubicBezTo>
                    <a:cubicBezTo>
                      <a:pt x="166599" y="35719"/>
                      <a:pt x="178594" y="47713"/>
                      <a:pt x="178594" y="62508"/>
                    </a:cubicBezTo>
                    <a:lnTo>
                      <a:pt x="178594" y="142875"/>
                    </a:lnTo>
                    <a:lnTo>
                      <a:pt x="214312" y="142875"/>
                    </a:lnTo>
                    <a:lnTo>
                      <a:pt x="214312" y="62508"/>
                    </a:lnTo>
                    <a:cubicBezTo>
                      <a:pt x="214312" y="27986"/>
                      <a:pt x="186327" y="0"/>
                      <a:pt x="151805" y="0"/>
                    </a:cubicBezTo>
                    <a:cubicBezTo>
                      <a:pt x="117283" y="0"/>
                      <a:pt x="89297" y="27986"/>
                      <a:pt x="89297" y="62508"/>
                    </a:cubicBezTo>
                    <a:lnTo>
                      <a:pt x="89297" y="187523"/>
                    </a:lnTo>
                    <a:cubicBezTo>
                      <a:pt x="89297" y="202318"/>
                      <a:pt x="77303" y="214312"/>
                      <a:pt x="62508" y="214312"/>
                    </a:cubicBezTo>
                    <a:cubicBezTo>
                      <a:pt x="47713" y="214312"/>
                      <a:pt x="35719" y="202318"/>
                      <a:pt x="35719" y="187523"/>
                    </a:cubicBezTo>
                    <a:lnTo>
                      <a:pt x="35719" y="107156"/>
                    </a:lnTo>
                    <a:lnTo>
                      <a:pt x="0" y="107156"/>
                    </a:lnTo>
                    <a:lnTo>
                      <a:pt x="0" y="187523"/>
                    </a:lnTo>
                    <a:cubicBezTo>
                      <a:pt x="0" y="222046"/>
                      <a:pt x="27986" y="250031"/>
                      <a:pt x="62508" y="250031"/>
                    </a:cubicBezTo>
                    <a:cubicBezTo>
                      <a:pt x="97030" y="250031"/>
                      <a:pt x="125016" y="222046"/>
                      <a:pt x="125016" y="187523"/>
                    </a:cubicBezTo>
                    <a:lnTo>
                      <a:pt x="125016" y="62508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</p:grpSp>
        <p:sp>
          <p:nvSpPr>
            <p:cNvPr id="27" name="TextBox 27"/>
            <p:cNvSpPr txBox="1"/>
            <p:nvPr/>
          </p:nvSpPr>
          <p:spPr>
            <a:xfrm>
              <a:off x="5327142" y="515016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西部地区铁路营业里程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940808" y="5513070"/>
              <a:ext cx="1655171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6.6 万公里</a:t>
              </a:r>
            </a:p>
          </p:txBody>
        </p:sp>
      </p:grpSp>
      <p:grpSp>
        <p:nvGrpSpPr>
          <p:cNvPr id="37" name="network-quality"/>
          <p:cNvGrpSpPr/>
          <p:nvPr/>
        </p:nvGrpSpPr>
        <p:grpSpPr>
          <a:xfrm>
            <a:off x="8182356" y="3848100"/>
            <a:ext cx="3336036" cy="1886712"/>
            <a:chOff x="8182356" y="3848100"/>
            <a:chExt cx="3336036" cy="1886712"/>
          </a:xfrm>
        </p:grpSpPr>
        <p:sp>
          <p:nvSpPr>
            <p:cNvPr id="30" name="Rectangle 30"/>
            <p:cNvSpPr/>
            <p:nvPr/>
          </p:nvSpPr>
          <p:spPr>
            <a:xfrm>
              <a:off x="8191500" y="3848100"/>
              <a:ext cx="3314700" cy="285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184642" y="408336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路网质量指标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182356" y="4568190"/>
              <a:ext cx="7452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复线率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0493243" y="4503420"/>
              <a:ext cx="1025149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2400" b="1" dirty="0">
                  <a:solidFill>
                    <a:schemeClr val="accent3"/>
                  </a:solidFill>
                  <a:latin typeface="+mj-lt"/>
                  <a:ea typeface="+mj-ea"/>
                  <a:cs typeface="+mj-cs"/>
                </a:rPr>
                <a:t>60.8%</a:t>
              </a:r>
            </a:p>
          </p:txBody>
        </p:sp>
        <p:sp>
          <p:nvSpPr>
            <p:cNvPr id="34" name="Line 34"/>
            <p:cNvSpPr/>
            <p:nvPr/>
          </p:nvSpPr>
          <p:spPr>
            <a:xfrm>
              <a:off x="8191500" y="5029200"/>
              <a:ext cx="3314700" cy="9525"/>
            </a:xfrm>
            <a:custGeom>
              <a:avLst/>
              <a:gdLst/>
              <a:ahLst/>
              <a:cxnLst/>
              <a:rect l="l" t="t" r="r" b="b"/>
              <a:pathLst>
                <a:path w="3314700" h="9525">
                  <a:moveTo>
                    <a:pt x="0" y="0"/>
                  </a:moveTo>
                  <a:lnTo>
                    <a:pt x="33147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8182356" y="5330190"/>
              <a:ext cx="7452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电化率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0493243" y="5265420"/>
              <a:ext cx="1025149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2400" b="1" dirty="0">
                  <a:solidFill>
                    <a:schemeClr val="accent3"/>
                  </a:solidFill>
                  <a:latin typeface="+mj-lt"/>
                  <a:ea typeface="+mj-ea"/>
                  <a:cs typeface="+mj-cs"/>
                </a:rPr>
                <a:t>76.2%</a:t>
              </a:r>
            </a:p>
          </p:txBody>
        </p:sp>
      </p:grpSp>
      <p:grpSp>
        <p:nvGrpSpPr>
          <p:cNvPr id="40" name="source-bar"/>
          <p:cNvGrpSpPr/>
          <p:nvPr/>
        </p:nvGrpSpPr>
        <p:grpSpPr>
          <a:xfrm>
            <a:off x="680085" y="6248400"/>
            <a:ext cx="10826115" cy="403384"/>
            <a:chOff x="680085" y="6248400"/>
            <a:chExt cx="10826115" cy="403384"/>
          </a:xfrm>
        </p:grpSpPr>
        <p:sp>
          <p:nvSpPr>
            <p:cNvPr id="38" name="Rectangle 38"/>
            <p:cNvSpPr/>
            <p:nvPr/>
          </p:nvSpPr>
          <p:spPr>
            <a:xfrm>
              <a:off x="685800" y="6248400"/>
              <a:ext cx="10820400" cy="9525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80085" y="6431756"/>
              <a:ext cx="498698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数据来源:国家铁路局《2024年铁道统计公报》二、铁路建设(公报第 5 页)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600"/>
                            </p:stCondLst>
                            <p:childTnLst>
                              <p:par>
                                <p:cTn xmlns:p="http://schemas.openxmlformats.org/presentationml/2006/main" id="9" presetID="10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200"/>
                            </p:stCondLst>
                            <p:childTnLst>
                              <p:par>
                                <p:cTn xmlns:p="http://schemas.openxmlformats.org/presentationml/2006/main" id="13" presetID="10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800"/>
                            </p:stCondLst>
                            <p:childTnLst>
                              <p:par>
                                <p:cTn xmlns:p="http://schemas.openxmlformats.org/presentationml/2006/main" id="17" presetID="23" presetClass="entr" presetSubtype="16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550"/>
                            </p:stCondLst>
                            <p:childTnLst>
                              <p:par>
                                <p:cTn xmlns:p="http://schemas.openxmlformats.org/presentationml/2006/main" id="22" presetID="22" presetClass="entr" presetSubtype="4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3250"/>
                            </p:stCondLst>
                            <p:childTnLst>
                              <p:par>
                                <p:cTn xmlns:p="http://schemas.openxmlformats.org/presentationml/2006/main" id="26" presetID="10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3850"/>
                            </p:stCondLst>
                            <p:childTnLst>
                              <p:par>
                                <p:cTn xmlns:p="http://schemas.openxmlformats.org/presentationml/2006/main" id="30" presetID="10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4450"/>
                            </p:stCondLst>
                            <p:childTnLst>
                              <p:par>
                                <p:cTn xmlns:p="http://schemas.openxmlformats.org/presentationml/2006/main" id="34" presetID="10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page-frame"/>
          <p:cNvGrpSpPr/>
          <p:nvPr/>
        </p:nvGrpSpPr>
        <p:grpSpPr>
          <a:xfrm>
            <a:off x="678942" y="533400"/>
            <a:ext cx="10834116" cy="404051"/>
            <a:chOff x="678942" y="533400"/>
            <a:chExt cx="10834116" cy="404051"/>
          </a:xfrm>
        </p:grpSpPr>
        <p:sp>
          <p:nvSpPr>
            <p:cNvPr id="2" name="Rectangle 2"/>
            <p:cNvSpPr/>
            <p:nvPr/>
          </p:nvSpPr>
          <p:spPr>
            <a:xfrm>
              <a:off x="685800" y="533400"/>
              <a:ext cx="10820400" cy="285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78942" y="67341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六、国际对照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890523" y="673418"/>
              <a:ext cx="6225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11 / 15</a:t>
              </a:r>
            </a:p>
          </p:txBody>
        </p:sp>
      </p:grpSp>
      <p:grpSp>
        <p:nvGrpSpPr>
          <p:cNvPr id="7" name="page-title"/>
          <p:cNvGrpSpPr/>
          <p:nvPr/>
        </p:nvGrpSpPr>
        <p:grpSpPr>
          <a:xfrm>
            <a:off x="670560" y="1104900"/>
            <a:ext cx="7381742" cy="586740"/>
            <a:chOff x="670560" y="1104900"/>
            <a:chExt cx="7381742" cy="586740"/>
          </a:xfrm>
        </p:grpSpPr>
        <p:sp>
          <p:nvSpPr>
            <p:cNvPr id="6" name="TextBox 6"/>
            <p:cNvSpPr txBox="1"/>
            <p:nvPr/>
          </p:nvSpPr>
          <p:spPr>
            <a:xfrm>
              <a:off x="670560" y="1104900"/>
              <a:ext cx="7381742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2000 年以来,只有中国的曲线在持续抬升</a:t>
              </a:r>
            </a:p>
          </p:txBody>
        </p:sp>
      </p:grpSp>
      <p:grpSp>
        <p:nvGrpSpPr>
          <p:cNvPr id="9" name="page-lead"/>
          <p:cNvGrpSpPr/>
          <p:nvPr/>
        </p:nvGrpSpPr>
        <p:grpSpPr>
          <a:xfrm>
            <a:off x="675132" y="1678305"/>
            <a:ext cx="7880452" cy="410718"/>
            <a:chOff x="675132" y="1678305"/>
            <a:chExt cx="7880452" cy="410718"/>
          </a:xfrm>
        </p:grpSpPr>
        <p:sp>
          <p:nvSpPr>
            <p:cNvPr id="8" name="TextBox 8"/>
            <p:cNvSpPr txBox="1"/>
            <p:nvPr/>
          </p:nvSpPr>
          <p:spPr>
            <a:xfrm>
              <a:off x="675132" y="1678305"/>
              <a:ext cx="788045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世界银行口径下,中国铁路里程从 58656 公里增至 109767 公里</a:t>
              </a:r>
            </a:p>
          </p:txBody>
        </p:sp>
      </p:grpSp>
      <p:grpSp>
        <p:nvGrpSpPr>
          <p:cNvPr id="19" name="intl-route-km"/>
          <p:cNvGrpSpPr/>
          <p:nvPr/>
        </p:nvGrpSpPr>
        <p:grpSpPr>
          <a:xfrm>
            <a:off x="386429" y="2247900"/>
            <a:ext cx="20816221" cy="3276600"/>
            <a:chOff x="386429" y="2247900"/>
            <a:chExt cx="20816221" cy="3276600"/>
          </a:xfrm>
        </p:grpSpPr>
        <p:graphicFrame>
          <p:nvGraphicFramePr>
            <p:cNvPr id="10" name="intl-route-km"/>
            <p:cNvGraphicFramePr>
              <a:graphicFrameLocks noGrp="1"/>
            </p:cNvGraphicFramePr>
            <p:nvPr/>
          </p:nvGraphicFramePr>
          <p:xfrm>
            <a:off x="685800" y="2247900"/>
            <a:ext cx="10820400" cy="3276600"/>
          </p:xfrm>
          <a:graphic>
            <a:graphicData uri="http://schemas.openxmlformats.org/drawingml/2006/chart">
              <c:chart xmlns:c="http://schemas.openxmlformats.org/drawingml/2006/chart" r:id="rId2"/>
            </a:graphicData>
          </a:graphic>
        </p:graphicFrame>
        <p:sp>
          <p:nvSpPr>
            <p:cNvPr id="11" name="Chart Note 11"/>
            <p:cNvSpPr txBox="1"/>
            <p:nvPr/>
          </p:nvSpPr>
          <p:spPr>
            <a:xfrm>
              <a:off x="10382250" y="3514725"/>
              <a:ext cx="1082040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b" anchorCtr="0"/>
            <a:lstStyle/>
            <a:p>
              <a:pPr algn="l"/>
              <a:r>
                <a:rPr lang="zh-CN" sz="1350" b="1">
                  <a:solidFill>
                    <a:srgbClr val="C8102E"/>
                  </a:solidFill>
                  <a:latin typeface="Microsoft YaHei"/>
                  <a:ea typeface="Microsoft YaHei"/>
                  <a:cs typeface="Microsoft YaHei"/>
                </a:rPr>
                <a:t>中国</a:t>
              </a:r>
            </a:p>
          </p:txBody>
        </p:sp>
        <p:sp>
          <p:nvSpPr>
            <p:cNvPr id="12" name="Chart Note 12"/>
            <p:cNvSpPr txBox="1"/>
            <p:nvPr/>
          </p:nvSpPr>
          <p:spPr>
            <a:xfrm>
              <a:off x="10382250" y="3034474"/>
              <a:ext cx="1082040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b" anchorCtr="0"/>
            <a:lstStyle/>
            <a:p>
              <a:pPr algn="l"/>
              <a:r>
                <a:rPr lang="zh-CN" sz="1350" b="1">
                  <a:solidFill>
                    <a:srgbClr val="0B3A6F"/>
                  </a:solidFill>
                  <a:latin typeface="Microsoft YaHei"/>
                  <a:ea typeface="Microsoft YaHei"/>
                  <a:cs typeface="Microsoft YaHei"/>
                </a:rPr>
                <a:t>美国</a:t>
              </a:r>
            </a:p>
          </p:txBody>
        </p:sp>
        <p:sp>
          <p:nvSpPr>
            <p:cNvPr id="13" name="Chart Note 13"/>
            <p:cNvSpPr txBox="1"/>
            <p:nvPr/>
          </p:nvSpPr>
          <p:spPr>
            <a:xfrm>
              <a:off x="10382250" y="3814667"/>
              <a:ext cx="1082040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b" anchorCtr="0"/>
            <a:lstStyle/>
            <a:p>
              <a:pPr algn="l"/>
              <a:r>
                <a:rPr lang="zh-CN" sz="1350">
                  <a:solidFill>
                    <a:srgbClr val="1E6FB8"/>
                  </a:solidFill>
                  <a:latin typeface="Microsoft YaHei"/>
                  <a:ea typeface="Microsoft YaHei"/>
                  <a:cs typeface="Microsoft YaHei"/>
                </a:rPr>
                <a:t>俄罗斯</a:t>
              </a:r>
            </a:p>
          </p:txBody>
        </p:sp>
        <p:sp>
          <p:nvSpPr>
            <p:cNvPr id="14" name="Chart Note 14"/>
            <p:cNvSpPr txBox="1"/>
            <p:nvPr/>
          </p:nvSpPr>
          <p:spPr>
            <a:xfrm>
              <a:off x="10382250" y="4030694"/>
              <a:ext cx="1082040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b" anchorCtr="0"/>
            <a:lstStyle/>
            <a:p>
              <a:pPr algn="l"/>
              <a:r>
                <a:rPr lang="zh-CN" sz="1350">
                  <a:solidFill>
                    <a:srgbClr val="4A90C4"/>
                  </a:solidFill>
                  <a:latin typeface="Microsoft YaHei"/>
                  <a:ea typeface="Microsoft YaHei"/>
                  <a:cs typeface="Microsoft YaHei"/>
                </a:rPr>
                <a:t>印度</a:t>
              </a:r>
            </a:p>
          </p:txBody>
        </p:sp>
        <p:sp>
          <p:nvSpPr>
            <p:cNvPr id="15" name="Chart Note 15"/>
            <p:cNvSpPr txBox="1"/>
            <p:nvPr/>
          </p:nvSpPr>
          <p:spPr>
            <a:xfrm>
              <a:off x="10382250" y="4378642"/>
              <a:ext cx="1082040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b" anchorCtr="0"/>
            <a:lstStyle/>
            <a:p>
              <a:pPr algn="l"/>
              <a:r>
                <a:rPr lang="zh-CN" sz="1350">
                  <a:solidFill>
                    <a:srgbClr val="7FA8C9"/>
                  </a:solidFill>
                  <a:latin typeface="Microsoft YaHei"/>
                  <a:ea typeface="Microsoft YaHei"/>
                  <a:cs typeface="Microsoft YaHei"/>
                </a:rPr>
                <a:t>德国</a:t>
              </a:r>
            </a:p>
          </p:txBody>
        </p:sp>
        <p:sp>
          <p:nvSpPr>
            <p:cNvPr id="16" name="Chart Note 16"/>
            <p:cNvSpPr txBox="1"/>
            <p:nvPr/>
          </p:nvSpPr>
          <p:spPr>
            <a:xfrm>
              <a:off x="10382250" y="4588192"/>
              <a:ext cx="1082040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b" anchorCtr="0"/>
            <a:lstStyle/>
            <a:p>
              <a:pPr algn="l"/>
              <a:r>
                <a:rPr lang="zh-CN" sz="1350">
                  <a:solidFill>
                    <a:srgbClr val="9AA7B4"/>
                  </a:solidFill>
                  <a:latin typeface="Microsoft YaHei"/>
                  <a:ea typeface="Microsoft YaHei"/>
                  <a:cs typeface="Microsoft YaHei"/>
                </a:rPr>
                <a:t>法国</a:t>
              </a:r>
            </a:p>
          </p:txBody>
        </p:sp>
        <p:sp>
          <p:nvSpPr>
            <p:cNvPr id="17" name="Chart Note 17"/>
            <p:cNvSpPr txBox="1"/>
            <p:nvPr/>
          </p:nvSpPr>
          <p:spPr>
            <a:xfrm>
              <a:off x="10382250" y="4797742"/>
              <a:ext cx="1082040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b" anchorCtr="0"/>
            <a:lstStyle/>
            <a:p>
              <a:pPr algn="l"/>
              <a:r>
                <a:rPr lang="zh-CN" sz="1350">
                  <a:solidFill>
                    <a:srgbClr val="B8C2CC"/>
                  </a:solidFill>
                  <a:latin typeface="Microsoft YaHei"/>
                  <a:ea typeface="Microsoft YaHei"/>
                  <a:cs typeface="Microsoft YaHei"/>
                </a:rPr>
                <a:t>西班牙</a:t>
              </a:r>
            </a:p>
          </p:txBody>
        </p:sp>
        <p:sp>
          <p:nvSpPr>
            <p:cNvPr id="18" name="Chart Note 18"/>
            <p:cNvSpPr txBox="1"/>
            <p:nvPr/>
          </p:nvSpPr>
          <p:spPr>
            <a:xfrm>
              <a:off x="386429" y="4454842"/>
              <a:ext cx="1082040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b" anchorCtr="0"/>
            <a:lstStyle/>
            <a:p>
              <a:pPr algn="ctr"/>
              <a:r>
                <a:rPr lang="zh-CN" sz="1350">
                  <a:solidFill>
                    <a:srgbClr val="6E7A87"/>
                  </a:solidFill>
                  <a:latin typeface="Microsoft YaHei"/>
                  <a:ea typeface="Microsoft YaHei"/>
                  <a:cs typeface="Microsoft YaHei"/>
                </a:rPr>
                <a:t>日本</a:t>
              </a:r>
            </a:p>
          </p:txBody>
        </p:sp>
      </p:grpSp>
      <p:grpSp>
        <p:nvGrpSpPr>
          <p:cNvPr id="21" name="p11-caveat"/>
          <p:cNvGrpSpPr/>
          <p:nvPr/>
        </p:nvGrpSpPr>
        <p:grpSpPr>
          <a:xfrm>
            <a:off x="678942" y="5683568"/>
            <a:ext cx="9794939" cy="511683"/>
            <a:chOff x="678942" y="5683568"/>
            <a:chExt cx="9794939" cy="511683"/>
          </a:xfrm>
        </p:grpSpPr>
        <p:sp>
          <p:nvSpPr>
            <p:cNvPr id="20" name="TextBox 20"/>
            <p:cNvSpPr txBox="1"/>
            <p:nvPr/>
          </p:nvSpPr>
          <p:spPr>
            <a:xfrm>
              <a:off x="678942" y="5683568"/>
              <a:ext cx="9794939" cy="5116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口径说明:World Bank IS.RRS.TOTL.KM 为 route-km 口径,该数据集 2022—2024 年八国均无值,日本仅 2010、2011 两年有值。</a:t>
              </a:r>
              <a:br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该口径的中国值与公报「营业里程 16.2 万公里」统计口径不同,不可直接比较。(整理)</a:t>
              </a:r>
            </a:p>
          </p:txBody>
        </p:sp>
      </p:grpSp>
      <p:grpSp>
        <p:nvGrpSpPr>
          <p:cNvPr id="24" name="source-bar"/>
          <p:cNvGrpSpPr/>
          <p:nvPr/>
        </p:nvGrpSpPr>
        <p:grpSpPr>
          <a:xfrm>
            <a:off x="680085" y="6248400"/>
            <a:ext cx="10826115" cy="403384"/>
            <a:chOff x="680085" y="6248400"/>
            <a:chExt cx="10826115" cy="403384"/>
          </a:xfrm>
        </p:grpSpPr>
        <p:sp>
          <p:nvSpPr>
            <p:cNvPr id="22" name="Rectangle 22"/>
            <p:cNvSpPr/>
            <p:nvPr/>
          </p:nvSpPr>
          <p:spPr>
            <a:xfrm>
              <a:off x="685800" y="6248400"/>
              <a:ext cx="10820400" cy="9525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80085" y="6431756"/>
              <a:ext cx="945032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数据来源:World Bank, IS.RRS.TOTL.KM(Rail lines, total route-km),用户提供的 rail_route_km_worldbank.xlsx,下载于 2026-09-12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xmlns:p="http://schemas.openxmlformats.org/presentationml/2006/main" id="9" presetID="10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xmlns:p="http://schemas.openxmlformats.org/presentationml/2006/main" id="13" presetID="22" presetClass="entr" presetSubtype="2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12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400"/>
                            </p:stCondLst>
                            <p:childTnLst>
                              <p:par>
                                <p:cTn xmlns:p="http://schemas.openxmlformats.org/presentationml/2006/main" id="17" presetID="10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page-frame"/>
          <p:cNvGrpSpPr/>
          <p:nvPr/>
        </p:nvGrpSpPr>
        <p:grpSpPr>
          <a:xfrm>
            <a:off x="678942" y="533400"/>
            <a:ext cx="10834116" cy="404051"/>
            <a:chOff x="678942" y="533400"/>
            <a:chExt cx="10834116" cy="404051"/>
          </a:xfrm>
        </p:grpSpPr>
        <p:sp>
          <p:nvSpPr>
            <p:cNvPr id="2" name="Rectangle 2"/>
            <p:cNvSpPr/>
            <p:nvPr/>
          </p:nvSpPr>
          <p:spPr>
            <a:xfrm>
              <a:off x="685800" y="533400"/>
              <a:ext cx="10820400" cy="285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78942" y="673418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七、科技与安全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890523" y="673418"/>
              <a:ext cx="6225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12 / 15</a:t>
              </a:r>
            </a:p>
          </p:txBody>
        </p:sp>
      </p:grpSp>
      <p:grpSp>
        <p:nvGrpSpPr>
          <p:cNvPr id="7" name="page-title"/>
          <p:cNvGrpSpPr/>
          <p:nvPr/>
        </p:nvGrpSpPr>
        <p:grpSpPr>
          <a:xfrm>
            <a:off x="670560" y="1104900"/>
            <a:ext cx="5256428" cy="586740"/>
            <a:chOff x="670560" y="1104900"/>
            <a:chExt cx="5256428" cy="586740"/>
          </a:xfrm>
        </p:grpSpPr>
        <p:sp>
          <p:nvSpPr>
            <p:cNvPr id="6" name="TextBox 6"/>
            <p:cNvSpPr txBox="1"/>
            <p:nvPr/>
          </p:nvSpPr>
          <p:spPr>
            <a:xfrm>
              <a:off x="670560" y="1104900"/>
              <a:ext cx="5256428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20 项国家标准,2 件较大事故</a:t>
              </a:r>
            </a:p>
          </p:txBody>
        </p:sp>
      </p:grpSp>
      <p:grpSp>
        <p:nvGrpSpPr>
          <p:cNvPr id="9" name="page-lead"/>
          <p:cNvGrpSpPr/>
          <p:nvPr/>
        </p:nvGrpSpPr>
        <p:grpSpPr>
          <a:xfrm>
            <a:off x="675132" y="1678305"/>
            <a:ext cx="7315048" cy="410718"/>
            <a:chOff x="675132" y="1678305"/>
            <a:chExt cx="7315048" cy="410718"/>
          </a:xfrm>
        </p:grpSpPr>
        <p:sp>
          <p:nvSpPr>
            <p:cNvPr id="8" name="TextBox 8"/>
            <p:cNvSpPr txBox="1"/>
            <p:nvPr/>
          </p:nvSpPr>
          <p:spPr>
            <a:xfrm>
              <a:off x="675132" y="1678305"/>
              <a:ext cx="731504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标准与科技成果持续产出,事故死亡人数比上年下降 18.0%</a:t>
              </a:r>
            </a:p>
          </p:txBody>
        </p:sp>
      </p:grpSp>
      <p:sp>
        <p:nvSpPr>
          <p:cNvPr id="10" name="Freeform 10"/>
          <p:cNvSpPr/>
          <p:nvPr/>
        </p:nvSpPr>
        <p:spPr>
          <a:xfrm>
            <a:off x="685800" y="2247900"/>
            <a:ext cx="5295900" cy="3810000"/>
          </a:xfrm>
          <a:prstGeom prst="snip1Rect">
            <a:avLst>
              <a:gd name="adj" fmla="val 6000"/>
            </a:avLst>
          </a:prstGeom>
          <a:noFill/>
          <a:ln w="19050">
            <a:solidFill>
              <a:srgbClr val="C3CBD4"/>
            </a:solidFill>
          </a:ln>
        </p:spPr>
      </p:sp>
      <p:sp>
        <p:nvSpPr>
          <p:cNvPr id="11" name="Freeform 11"/>
          <p:cNvSpPr/>
          <p:nvPr/>
        </p:nvSpPr>
        <p:spPr>
          <a:xfrm>
            <a:off x="6210300" y="2247900"/>
            <a:ext cx="5295900" cy="3810000"/>
          </a:xfrm>
          <a:prstGeom prst="snip1Rect">
            <a:avLst>
              <a:gd name="adj" fmla="val 6000"/>
            </a:avLst>
          </a:prstGeom>
          <a:noFill/>
          <a:ln w="19050">
            <a:solidFill>
              <a:srgbClr val="C3CBD4"/>
            </a:solidFill>
          </a:ln>
        </p:spPr>
      </p:sp>
      <p:grpSp>
        <p:nvGrpSpPr>
          <p:cNvPr id="22" name="tech-block"/>
          <p:cNvGrpSpPr/>
          <p:nvPr/>
        </p:nvGrpSpPr>
        <p:grpSpPr>
          <a:xfrm>
            <a:off x="943356" y="2590800"/>
            <a:ext cx="4247159" cy="3358134"/>
            <a:chOff x="943356" y="2590800"/>
            <a:chExt cx="4247159" cy="3358134"/>
          </a:xfrm>
        </p:grpSpPr>
        <p:sp>
          <p:nvSpPr>
            <p:cNvPr id="12" name="Freeform 12"/>
            <p:cNvSpPr/>
            <p:nvPr/>
          </p:nvSpPr>
          <p:spPr>
            <a:xfrm>
              <a:off x="992981" y="2590800"/>
              <a:ext cx="242888" cy="323850"/>
            </a:xfrm>
            <a:custGeom>
              <a:avLst/>
              <a:gdLst/>
              <a:ahLst/>
              <a:cxnLst/>
              <a:rect l="l" t="t" r="r" b="b"/>
              <a:pathLst>
                <a:path w="242888" h="323850">
                  <a:moveTo>
                    <a:pt x="60722" y="232767"/>
                  </a:moveTo>
                  <a:lnTo>
                    <a:pt x="60722" y="293489"/>
                  </a:lnTo>
                  <a:lnTo>
                    <a:pt x="91083" y="323850"/>
                  </a:lnTo>
                  <a:lnTo>
                    <a:pt x="151805" y="323850"/>
                  </a:lnTo>
                  <a:lnTo>
                    <a:pt x="182166" y="293489"/>
                  </a:lnTo>
                  <a:lnTo>
                    <a:pt x="182166" y="232767"/>
                  </a:lnTo>
                  <a:lnTo>
                    <a:pt x="207256" y="207677"/>
                  </a:lnTo>
                  <a:cubicBezTo>
                    <a:pt x="230071" y="184862"/>
                    <a:pt x="242888" y="153857"/>
                    <a:pt x="242888" y="121593"/>
                  </a:cubicBezTo>
                  <a:cubicBezTo>
                    <a:pt x="242888" y="54521"/>
                    <a:pt x="188515" y="0"/>
                    <a:pt x="121444" y="0"/>
                  </a:cubicBezTo>
                  <a:cubicBezTo>
                    <a:pt x="54372" y="0"/>
                    <a:pt x="0" y="54521"/>
                    <a:pt x="0" y="121593"/>
                  </a:cubicBezTo>
                  <a:cubicBezTo>
                    <a:pt x="0" y="153857"/>
                    <a:pt x="12817" y="184862"/>
                    <a:pt x="35632" y="207677"/>
                  </a:cubicBezTo>
                  <a:lnTo>
                    <a:pt x="60722" y="232767"/>
                  </a:lnTo>
                  <a:close/>
                  <a:moveTo>
                    <a:pt x="101203" y="199856"/>
                  </a:moveTo>
                  <a:lnTo>
                    <a:pt x="101203" y="121444"/>
                  </a:lnTo>
                  <a:lnTo>
                    <a:pt x="141684" y="121444"/>
                  </a:lnTo>
                  <a:lnTo>
                    <a:pt x="141684" y="199856"/>
                  </a:lnTo>
                  <a:cubicBezTo>
                    <a:pt x="176604" y="190868"/>
                    <a:pt x="202406" y="159169"/>
                    <a:pt x="202406" y="121444"/>
                  </a:cubicBezTo>
                  <a:cubicBezTo>
                    <a:pt x="202406" y="76729"/>
                    <a:pt x="166157" y="40481"/>
                    <a:pt x="121444" y="40481"/>
                  </a:cubicBezTo>
                  <a:cubicBezTo>
                    <a:pt x="76729" y="40481"/>
                    <a:pt x="40481" y="76729"/>
                    <a:pt x="40481" y="121444"/>
                  </a:cubicBezTo>
                  <a:cubicBezTo>
                    <a:pt x="40481" y="159169"/>
                    <a:pt x="66283" y="190868"/>
                    <a:pt x="101203" y="19985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378458" y="2598420"/>
              <a:ext cx="131673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科技创新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43356" y="3196590"/>
              <a:ext cx="422050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94310" indent="-194310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铁路国家标准 </a:t>
              </a:r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20 项</a:t>
              </a: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、行业标准 </a:t>
              </a:r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95 项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43356" y="3539490"/>
              <a:ext cx="267210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94310" indent="-194310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主持制定国际标准 7 项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43356" y="3882390"/>
              <a:ext cx="405330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94310" indent="-194310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计量规程规范:国家 4 项、行业 4 项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43356" y="4225290"/>
              <a:ext cx="424715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94310" indent="-194310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6 个项目获 2023 年度国家科学技术奖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43356" y="4568190"/>
              <a:ext cx="408965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94310" indent="-194310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「复兴号高速列车」获进步奖特等奖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43356" y="4911090"/>
              <a:ext cx="366560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94310" indent="-194310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重大科技创新成果库入库 335 项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43356" y="5253990"/>
              <a:ext cx="411594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94310" indent="-194310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新研发 BH10 冷藏车等 3 个型号装备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43356" y="5596890"/>
              <a:ext cx="336270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94310" indent="-194310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建立中国标准新能源机车平台</a:t>
              </a:r>
            </a:p>
          </p:txBody>
        </p:sp>
      </p:grpSp>
      <p:grpSp>
        <p:nvGrpSpPr>
          <p:cNvPr id="30" name="safety-block"/>
          <p:cNvGrpSpPr/>
          <p:nvPr/>
        </p:nvGrpSpPr>
        <p:grpSpPr>
          <a:xfrm>
            <a:off x="6457950" y="2590800"/>
            <a:ext cx="3614928" cy="3318701"/>
            <a:chOff x="6457950" y="2590800"/>
            <a:chExt cx="3614928" cy="3318701"/>
          </a:xfrm>
        </p:grpSpPr>
        <p:sp>
          <p:nvSpPr>
            <p:cNvPr id="23" name="Freeform 23"/>
            <p:cNvSpPr/>
            <p:nvPr/>
          </p:nvSpPr>
          <p:spPr>
            <a:xfrm>
              <a:off x="6497241" y="2590800"/>
              <a:ext cx="283369" cy="323850"/>
            </a:xfrm>
            <a:custGeom>
              <a:avLst/>
              <a:gdLst/>
              <a:ahLst/>
              <a:cxnLst/>
              <a:rect l="l" t="t" r="r" b="b"/>
              <a:pathLst>
                <a:path w="283369" h="323850">
                  <a:moveTo>
                    <a:pt x="141684" y="323850"/>
                  </a:moveTo>
                  <a:lnTo>
                    <a:pt x="67808" y="271081"/>
                  </a:lnTo>
                  <a:cubicBezTo>
                    <a:pt x="25255" y="240685"/>
                    <a:pt x="0" y="191611"/>
                    <a:pt x="0" y="139317"/>
                  </a:cubicBezTo>
                  <a:lnTo>
                    <a:pt x="0" y="60722"/>
                  </a:lnTo>
                  <a:lnTo>
                    <a:pt x="141684" y="0"/>
                  </a:lnTo>
                  <a:lnTo>
                    <a:pt x="283369" y="60722"/>
                  </a:lnTo>
                  <a:lnTo>
                    <a:pt x="283369" y="139317"/>
                  </a:lnTo>
                  <a:cubicBezTo>
                    <a:pt x="283369" y="191611"/>
                    <a:pt x="258115" y="240685"/>
                    <a:pt x="215561" y="271081"/>
                  </a:cubicBezTo>
                  <a:lnTo>
                    <a:pt x="141684" y="323850"/>
                  </a:lnTo>
                  <a:close/>
                  <a:moveTo>
                    <a:pt x="226839" y="115515"/>
                  </a:moveTo>
                  <a:lnTo>
                    <a:pt x="198214" y="86891"/>
                  </a:lnTo>
                  <a:lnTo>
                    <a:pt x="121444" y="163661"/>
                  </a:lnTo>
                  <a:lnTo>
                    <a:pt x="85155" y="127372"/>
                  </a:lnTo>
                  <a:lnTo>
                    <a:pt x="56530" y="155997"/>
                  </a:lnTo>
                  <a:lnTo>
                    <a:pt x="121444" y="220910"/>
                  </a:lnTo>
                  <a:lnTo>
                    <a:pt x="226839" y="11551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902958" y="2598420"/>
              <a:ext cx="131673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运输安全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457950" y="3520440"/>
              <a:ext cx="2412797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800" b="1" dirty="0">
                  <a:solidFill>
                    <a:srgbClr val="2E7D32"/>
                  </a:solidFill>
                  <a:latin typeface="+mj-lt"/>
                  <a:ea typeface="+mj-ea"/>
                  <a:cs typeface="+mj-cs"/>
                </a:rPr>
                <a:t>-18.0%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470142" y="4216718"/>
              <a:ext cx="27397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铁路交通事故死亡人数比上年降幅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467856" y="4796790"/>
              <a:ext cx="360502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94310" indent="-194310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全年未发生特别重大、重大事故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467856" y="5139690"/>
              <a:ext cx="354262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94310" indent="-194310">
                <a:buClr>
                  <a:schemeClr val="dk1"/>
                </a:buClr>
                <a:buSzTx/>
                <a:buFontTx/>
                <a:buChar char="•"/>
              </a:pP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发生较大事故 </a:t>
              </a:r>
              <a:r>
                <a:rPr lang="zh-CN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2 件</a:t>
              </a: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,与上年持平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470142" y="5645468"/>
              <a:ext cx="29215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安全指标取自公报「运输安全」一节</a:t>
              </a:r>
            </a:p>
          </p:txBody>
        </p:sp>
      </p:grpSp>
      <p:grpSp>
        <p:nvGrpSpPr>
          <p:cNvPr id="33" name="source-bar"/>
          <p:cNvGrpSpPr/>
          <p:nvPr/>
        </p:nvGrpSpPr>
        <p:grpSpPr>
          <a:xfrm>
            <a:off x="680085" y="6248400"/>
            <a:ext cx="10826115" cy="403384"/>
            <a:chOff x="680085" y="6248400"/>
            <a:chExt cx="10826115" cy="403384"/>
          </a:xfrm>
        </p:grpSpPr>
        <p:sp>
          <p:nvSpPr>
            <p:cNvPr id="31" name="Rectangle 31"/>
            <p:cNvSpPr/>
            <p:nvPr/>
          </p:nvSpPr>
          <p:spPr>
            <a:xfrm>
              <a:off x="685800" y="6248400"/>
              <a:ext cx="10820400" cy="9525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80085" y="6431756"/>
              <a:ext cx="76632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数据来源:国家铁路局《2024年铁道统计公报》一、运输生产(运输安全);四、技术标准和科技创新(公报第 5—7 页)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xmlns:p="http://schemas.openxmlformats.org/presentationml/2006/main" id="9" presetID="10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xmlns:p="http://schemas.openxmlformats.org/presentationml/2006/main" id="13" presetID="10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600"/>
                            </p:stCondLst>
                            <p:childTnLst>
                              <p:par>
                                <p:cTn xmlns:p="http://schemas.openxmlformats.org/presentationml/2006/main" id="17" presetID="10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300"/>
                            </p:stCondLst>
                            <p:childTnLst>
                              <p:par>
                                <p:cTn xmlns:p="http://schemas.openxmlformats.org/presentationml/2006/main" id="21" presetID="10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900"/>
                            </p:stCondLst>
                            <p:childTnLst>
                              <p:par>
                                <p:cTn xmlns:p="http://schemas.openxmlformats.org/presentationml/2006/main" id="25" presetID="10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page-frame"/>
          <p:cNvGrpSpPr/>
          <p:nvPr/>
        </p:nvGrpSpPr>
        <p:grpSpPr>
          <a:xfrm>
            <a:off x="678942" y="533400"/>
            <a:ext cx="10834116" cy="404051"/>
            <a:chOff x="678942" y="533400"/>
            <a:chExt cx="10834116" cy="404051"/>
          </a:xfrm>
        </p:grpSpPr>
        <p:sp>
          <p:nvSpPr>
            <p:cNvPr id="2" name="Rectangle 2"/>
            <p:cNvSpPr/>
            <p:nvPr/>
          </p:nvSpPr>
          <p:spPr>
            <a:xfrm>
              <a:off x="685800" y="533400"/>
              <a:ext cx="10820400" cy="285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78942" y="67341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八、节能减排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890523" y="673418"/>
              <a:ext cx="6225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13 / 15</a:t>
              </a:r>
            </a:p>
          </p:txBody>
        </p:sp>
      </p:grpSp>
      <p:grpSp>
        <p:nvGrpSpPr>
          <p:cNvPr id="7" name="page-title"/>
          <p:cNvGrpSpPr/>
          <p:nvPr/>
        </p:nvGrpSpPr>
        <p:grpSpPr>
          <a:xfrm>
            <a:off x="670560" y="1104900"/>
            <a:ext cx="5427059" cy="586740"/>
            <a:chOff x="670560" y="1104900"/>
            <a:chExt cx="5427059" cy="586740"/>
          </a:xfrm>
        </p:grpSpPr>
        <p:sp>
          <p:nvSpPr>
            <p:cNvPr id="6" name="TextBox 6"/>
            <p:cNvSpPr txBox="1"/>
            <p:nvPr/>
          </p:nvSpPr>
          <p:spPr>
            <a:xfrm>
              <a:off x="670560" y="1104900"/>
              <a:ext cx="5427059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二氧化硫排放六年降到 456 吨</a:t>
              </a:r>
            </a:p>
          </p:txBody>
        </p:sp>
      </p:grpSp>
      <p:grpSp>
        <p:nvGrpSpPr>
          <p:cNvPr id="9" name="page-lead"/>
          <p:cNvGrpSpPr/>
          <p:nvPr/>
        </p:nvGrpSpPr>
        <p:grpSpPr>
          <a:xfrm>
            <a:off x="675132" y="1678305"/>
            <a:ext cx="6594158" cy="410718"/>
            <a:chOff x="675132" y="1678305"/>
            <a:chExt cx="6594158" cy="410718"/>
          </a:xfrm>
        </p:grpSpPr>
        <p:sp>
          <p:nvSpPr>
            <p:cNvPr id="8" name="TextBox 8"/>
            <p:cNvSpPr txBox="1"/>
            <p:nvPr/>
          </p:nvSpPr>
          <p:spPr>
            <a:xfrm>
              <a:off x="675132" y="1678305"/>
              <a:ext cx="659415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主要污染物排放持续下降,单位能耗比上年微升 1.3%</a:t>
              </a:r>
            </a:p>
          </p:txBody>
        </p:sp>
      </p:grpSp>
      <p:graphicFrame>
        <p:nvGraphicFramePr>
          <p:cNvPr id="10" name="emission-6y"/>
          <p:cNvGraphicFramePr>
            <a:graphicFrameLocks noGrp="1"/>
          </p:cNvGraphicFramePr>
          <p:nvPr/>
        </p:nvGraphicFramePr>
        <p:xfrm>
          <a:off x="685800" y="2247900"/>
          <a:ext cx="6667500" cy="3810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pSp>
        <p:nvGrpSpPr>
          <p:cNvPr id="14" name="p13-tibet-photo"/>
          <p:cNvGrpSpPr/>
          <p:nvPr/>
        </p:nvGrpSpPr>
        <p:grpSpPr>
          <a:xfrm>
            <a:off x="7734300" y="2247900"/>
            <a:ext cx="3771900" cy="1908334"/>
            <a:chOff x="7734300" y="2247900"/>
            <a:chExt cx="3771900" cy="1908334"/>
          </a:xfrm>
        </p:grpSpPr>
        <p:pic>
          <p:nvPicPr>
            <p:cNvPr id="11" name="Image 11"/>
            <p:cNvPicPr>
              <a:picLocks noChangeAspect="1"/>
            </p:cNvPicPr>
            <p:nvPr/>
          </p:nvPicPr>
          <p:blipFill>
            <a:blip r:embed="rId3"/>
            <a:srcRect l="0" t="16330" r="0" b="16330"/>
            <a:stretch>
              <a:fillRect/>
            </a:stretch>
          </p:blipFill>
          <p:spPr>
            <a:xfrm>
              <a:off x="7734300" y="2247900"/>
              <a:ext cx="3771900" cy="1905000"/>
            </a:xfrm>
            <a:prstGeom prst="rect">
              <a:avLst/>
            </a:prstGeom>
          </p:spPr>
        </p:pic>
        <p:sp>
          <p:nvSpPr>
            <p:cNvPr id="12" name="Rectangle 12"/>
            <p:cNvSpPr/>
            <p:nvPr/>
          </p:nvSpPr>
          <p:spPr>
            <a:xfrm>
              <a:off x="7734300" y="3733800"/>
              <a:ext cx="3771900" cy="419100"/>
            </a:xfrm>
            <a:prstGeom prst="rect">
              <a:avLst/>
            </a:prstGeom>
            <a:gradFill>
              <a:gsLst>
                <a:gs pos="0">
                  <a:srgbClr val="0A1B2E">
                    <a:alpha val="0"/>
                  </a:srgbClr>
                </a:gs>
                <a:gs pos="100000">
                  <a:srgbClr val="0A1B2E">
                    <a:alpha val="80000"/>
                  </a:srgbClr>
                </a:gs>
              </a:gsLst>
              <a:lin ang="5400000" scaled="1"/>
            </a:gra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8261371" y="3936206"/>
              <a:ext cx="31362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青藏铁路车厢 摄影 Hiroki Ogawa · CC BY 3.0</a:t>
              </a:r>
            </a:p>
          </p:txBody>
        </p:sp>
      </p:grpSp>
      <p:grpSp>
        <p:nvGrpSpPr>
          <p:cNvPr id="20" name="energy-block"/>
          <p:cNvGrpSpPr/>
          <p:nvPr/>
        </p:nvGrpSpPr>
        <p:grpSpPr>
          <a:xfrm>
            <a:off x="7722108" y="4305300"/>
            <a:ext cx="3784092" cy="1108901"/>
            <a:chOff x="7722108" y="4305300"/>
            <a:chExt cx="3784092" cy="1108901"/>
          </a:xfrm>
        </p:grpSpPr>
        <p:sp>
          <p:nvSpPr>
            <p:cNvPr id="15" name="Rectangle 15"/>
            <p:cNvSpPr/>
            <p:nvPr/>
          </p:nvSpPr>
          <p:spPr>
            <a:xfrm>
              <a:off x="7734300" y="4305300"/>
              <a:ext cx="3771900" cy="285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6" name="Freeform 16"/>
            <p:cNvSpPr/>
            <p:nvPr/>
          </p:nvSpPr>
          <p:spPr>
            <a:xfrm>
              <a:off x="7734300" y="4437459"/>
              <a:ext cx="285750" cy="232172"/>
            </a:xfrm>
            <a:custGeom>
              <a:avLst/>
              <a:gdLst/>
              <a:ahLst/>
              <a:cxnLst/>
              <a:rect l="l" t="t" r="r" b="b"/>
              <a:pathLst>
                <a:path w="285750" h="232172">
                  <a:moveTo>
                    <a:pt x="31337" y="232172"/>
                  </a:moveTo>
                  <a:cubicBezTo>
                    <a:pt x="11729" y="207712"/>
                    <a:pt x="0" y="176663"/>
                    <a:pt x="0" y="142875"/>
                  </a:cubicBezTo>
                  <a:cubicBezTo>
                    <a:pt x="0" y="63967"/>
                    <a:pt x="63967" y="0"/>
                    <a:pt x="142875" y="0"/>
                  </a:cubicBezTo>
                  <a:cubicBezTo>
                    <a:pt x="221783" y="0"/>
                    <a:pt x="285750" y="63967"/>
                    <a:pt x="285750" y="142875"/>
                  </a:cubicBezTo>
                  <a:cubicBezTo>
                    <a:pt x="285750" y="176663"/>
                    <a:pt x="274022" y="207712"/>
                    <a:pt x="254414" y="232172"/>
                  </a:cubicBezTo>
                  <a:lnTo>
                    <a:pt x="164337" y="232172"/>
                  </a:lnTo>
                  <a:lnTo>
                    <a:pt x="227427" y="163929"/>
                  </a:lnTo>
                  <a:lnTo>
                    <a:pt x="201198" y="139681"/>
                  </a:lnTo>
                  <a:lnTo>
                    <a:pt x="115693" y="232172"/>
                  </a:lnTo>
                  <a:lnTo>
                    <a:pt x="31337" y="232172"/>
                  </a:lnTo>
                  <a:close/>
                  <a:moveTo>
                    <a:pt x="125016" y="53578"/>
                  </a:moveTo>
                  <a:cubicBezTo>
                    <a:pt x="125016" y="63442"/>
                    <a:pt x="133011" y="71438"/>
                    <a:pt x="142875" y="71438"/>
                  </a:cubicBezTo>
                  <a:cubicBezTo>
                    <a:pt x="152738" y="71438"/>
                    <a:pt x="160734" y="63442"/>
                    <a:pt x="160734" y="53578"/>
                  </a:cubicBezTo>
                  <a:cubicBezTo>
                    <a:pt x="160734" y="43715"/>
                    <a:pt x="152738" y="35719"/>
                    <a:pt x="142875" y="35719"/>
                  </a:cubicBezTo>
                  <a:cubicBezTo>
                    <a:pt x="133011" y="35719"/>
                    <a:pt x="125016" y="43715"/>
                    <a:pt x="125016" y="53578"/>
                  </a:cubicBezTo>
                  <a:close/>
                  <a:moveTo>
                    <a:pt x="205383" y="98227"/>
                  </a:moveTo>
                  <a:cubicBezTo>
                    <a:pt x="195519" y="98227"/>
                    <a:pt x="187523" y="90231"/>
                    <a:pt x="187523" y="80367"/>
                  </a:cubicBezTo>
                  <a:cubicBezTo>
                    <a:pt x="187523" y="70504"/>
                    <a:pt x="195519" y="62508"/>
                    <a:pt x="205383" y="62508"/>
                  </a:cubicBezTo>
                  <a:cubicBezTo>
                    <a:pt x="215247" y="62508"/>
                    <a:pt x="223242" y="70504"/>
                    <a:pt x="223242" y="80367"/>
                  </a:cubicBezTo>
                  <a:cubicBezTo>
                    <a:pt x="223242" y="90231"/>
                    <a:pt x="215247" y="98227"/>
                    <a:pt x="205383" y="98227"/>
                  </a:cubicBezTo>
                  <a:close/>
                  <a:moveTo>
                    <a:pt x="35719" y="142875"/>
                  </a:moveTo>
                  <a:cubicBezTo>
                    <a:pt x="35719" y="152739"/>
                    <a:pt x="43715" y="160734"/>
                    <a:pt x="53578" y="160734"/>
                  </a:cubicBezTo>
                  <a:cubicBezTo>
                    <a:pt x="63442" y="160734"/>
                    <a:pt x="71438" y="152739"/>
                    <a:pt x="71438" y="142875"/>
                  </a:cubicBezTo>
                  <a:cubicBezTo>
                    <a:pt x="71438" y="133012"/>
                    <a:pt x="63442" y="125016"/>
                    <a:pt x="53578" y="125016"/>
                  </a:cubicBezTo>
                  <a:cubicBezTo>
                    <a:pt x="43715" y="125016"/>
                    <a:pt x="35719" y="133012"/>
                    <a:pt x="35719" y="142875"/>
                  </a:cubicBezTo>
                  <a:close/>
                  <a:moveTo>
                    <a:pt x="80367" y="98227"/>
                  </a:moveTo>
                  <a:cubicBezTo>
                    <a:pt x="70504" y="98227"/>
                    <a:pt x="62508" y="90231"/>
                    <a:pt x="62508" y="80367"/>
                  </a:cubicBezTo>
                  <a:cubicBezTo>
                    <a:pt x="62508" y="70504"/>
                    <a:pt x="70504" y="62508"/>
                    <a:pt x="80367" y="62508"/>
                  </a:cubicBezTo>
                  <a:cubicBezTo>
                    <a:pt x="90231" y="62508"/>
                    <a:pt x="98227" y="70504"/>
                    <a:pt x="98227" y="80367"/>
                  </a:cubicBezTo>
                  <a:cubicBezTo>
                    <a:pt x="98227" y="90231"/>
                    <a:pt x="90231" y="98227"/>
                    <a:pt x="80367" y="982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108442" y="4502468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单位运输工作量综合能耗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722108" y="4789170"/>
              <a:ext cx="2924301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3.86</a:t>
              </a:r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 xml:space="preserve"> 吨标准煤/百万换算吨公里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727442" y="5150168"/>
              <a:ext cx="141309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C62828"/>
                  </a:solidFill>
                  <a:latin typeface="+mn-lt"/>
                  <a:ea typeface="+mn-ea"/>
                  <a:cs typeface="+mn-cs"/>
                </a:rPr>
                <a:t>比上年增长 1.3%</a:t>
              </a:r>
            </a:p>
          </p:txBody>
        </p:sp>
      </p:grpSp>
      <p:grpSp>
        <p:nvGrpSpPr>
          <p:cNvPr id="23" name="energy-total"/>
          <p:cNvGrpSpPr/>
          <p:nvPr/>
        </p:nvGrpSpPr>
        <p:grpSpPr>
          <a:xfrm>
            <a:off x="7727442" y="5569268"/>
            <a:ext cx="3085071" cy="511683"/>
            <a:chOff x="7727442" y="5569268"/>
            <a:chExt cx="3085071" cy="511683"/>
          </a:xfrm>
        </p:grpSpPr>
        <p:sp>
          <p:nvSpPr>
            <p:cNvPr id="21" name="TextBox 21"/>
            <p:cNvSpPr txBox="1"/>
            <p:nvPr/>
          </p:nvSpPr>
          <p:spPr>
            <a:xfrm>
              <a:off x="7727442" y="5569268"/>
              <a:ext cx="30850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国家铁路综合能耗 1801.2 万吨标准煤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727442" y="5816918"/>
              <a:ext cx="274885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比上年增加 48.5 万吨,增长 2.8%</a:t>
              </a:r>
            </a:p>
          </p:txBody>
        </p:sp>
      </p:grpSp>
      <p:grpSp>
        <p:nvGrpSpPr>
          <p:cNvPr id="26" name="source-bar"/>
          <p:cNvGrpSpPr/>
          <p:nvPr/>
        </p:nvGrpSpPr>
        <p:grpSpPr>
          <a:xfrm>
            <a:off x="680085" y="6248400"/>
            <a:ext cx="10826115" cy="403384"/>
            <a:chOff x="680085" y="6248400"/>
            <a:chExt cx="10826115" cy="403384"/>
          </a:xfrm>
        </p:grpSpPr>
        <p:sp>
          <p:nvSpPr>
            <p:cNvPr id="24" name="Rectangle 24"/>
            <p:cNvSpPr/>
            <p:nvPr/>
          </p:nvSpPr>
          <p:spPr>
            <a:xfrm>
              <a:off x="685800" y="6248400"/>
              <a:ext cx="10820400" cy="9525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80085" y="6431756"/>
              <a:ext cx="787431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数据来源:国家铁路局《2024年铁道统计公报》五、节能减排 · 国家铁路化学需氧量、二氧化硫排放量图(公报第 8 页)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xmlns:p="http://schemas.openxmlformats.org/presentationml/2006/main" id="9" presetID="10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xmlns:p="http://schemas.openxmlformats.org/presentationml/2006/main" id="13" presetID="22" presetClass="entr" presetSubtype="2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200"/>
                            </p:stCondLst>
                            <p:childTnLst>
                              <p:par>
                                <p:cTn xmlns:p="http://schemas.openxmlformats.org/presentationml/2006/main" id="17" presetID="10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900"/>
                            </p:stCondLst>
                            <p:childTnLst>
                              <p:par>
                                <p:cTn xmlns:p="http://schemas.openxmlformats.org/presentationml/2006/main" id="21" presetID="10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550"/>
                            </p:stCondLst>
                            <p:childTnLst>
                              <p:par>
                                <p:cTn xmlns:p="http://schemas.openxmlformats.org/presentationml/2006/main" id="25" presetID="10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page-frame"/>
          <p:cNvGrpSpPr/>
          <p:nvPr/>
        </p:nvGrpSpPr>
        <p:grpSpPr>
          <a:xfrm>
            <a:off x="678942" y="533400"/>
            <a:ext cx="10834116" cy="404051"/>
            <a:chOff x="678942" y="533400"/>
            <a:chExt cx="10834116" cy="404051"/>
          </a:xfrm>
        </p:grpSpPr>
        <p:sp>
          <p:nvSpPr>
            <p:cNvPr id="2" name="Rectangle 2"/>
            <p:cNvSpPr/>
            <p:nvPr/>
          </p:nvSpPr>
          <p:spPr>
            <a:xfrm>
              <a:off x="685800" y="533400"/>
              <a:ext cx="10820400" cy="285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78942" y="67341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九、行业监管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890523" y="673418"/>
              <a:ext cx="6225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14 / 15</a:t>
              </a:r>
            </a:p>
          </p:txBody>
        </p:sp>
      </p:grpSp>
      <p:grpSp>
        <p:nvGrpSpPr>
          <p:cNvPr id="7" name="page-title"/>
          <p:cNvGrpSpPr/>
          <p:nvPr/>
        </p:nvGrpSpPr>
        <p:grpSpPr>
          <a:xfrm>
            <a:off x="670560" y="1104900"/>
            <a:ext cx="5956116" cy="586740"/>
            <a:chOff x="670560" y="1104900"/>
            <a:chExt cx="5956116" cy="586740"/>
          </a:xfrm>
        </p:grpSpPr>
        <p:sp>
          <p:nvSpPr>
            <p:cNvPr id="6" name="TextBox 6"/>
            <p:cNvSpPr txBox="1"/>
            <p:nvPr/>
          </p:nvSpPr>
          <p:spPr>
            <a:xfrm>
              <a:off x="670560" y="1104900"/>
              <a:ext cx="5956116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622 件行政许可,198 起行政处罚</a:t>
              </a:r>
            </a:p>
          </p:txBody>
        </p:sp>
      </p:grpSp>
      <p:grpSp>
        <p:nvGrpSpPr>
          <p:cNvPr id="9" name="page-lead"/>
          <p:cNvGrpSpPr/>
          <p:nvPr/>
        </p:nvGrpSpPr>
        <p:grpSpPr>
          <a:xfrm>
            <a:off x="675132" y="1678305"/>
            <a:ext cx="6622428" cy="410718"/>
            <a:chOff x="675132" y="1678305"/>
            <a:chExt cx="6622428" cy="410718"/>
          </a:xfrm>
        </p:grpSpPr>
        <p:sp>
          <p:nvSpPr>
            <p:cNvPr id="8" name="TextBox 8"/>
            <p:cNvSpPr txBox="1"/>
            <p:nvPr/>
          </p:nvSpPr>
          <p:spPr>
            <a:xfrm>
              <a:off x="675132" y="1678305"/>
              <a:ext cx="662242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从制度到准入再到惩戒,监管链条在 2024 年的动作量</a:t>
              </a:r>
            </a:p>
          </p:txBody>
        </p:sp>
      </p:grpSp>
      <p:sp>
        <p:nvSpPr>
          <p:cNvPr id="10" name="Freeform 10"/>
          <p:cNvSpPr/>
          <p:nvPr/>
        </p:nvSpPr>
        <p:spPr>
          <a:xfrm>
            <a:off x="685800" y="2667000"/>
            <a:ext cx="3810000" cy="1143000"/>
          </a:xfrm>
          <a:prstGeom prst="chevron">
            <a:avLst/>
          </a:prstGeom>
          <a:solidFill>
            <a:schemeClr val="accent3"/>
          </a:solidFill>
          <a:ln>
            <a:noFill/>
          </a:ln>
        </p:spPr>
      </p:sp>
      <p:sp>
        <p:nvSpPr>
          <p:cNvPr id="11" name="Freeform 11"/>
          <p:cNvSpPr/>
          <p:nvPr/>
        </p:nvSpPr>
        <p:spPr>
          <a:xfrm>
            <a:off x="4191000" y="2667000"/>
            <a:ext cx="3810000" cy="1143000"/>
          </a:xfrm>
          <a:prstGeom prst="chevron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2" name="Freeform 12"/>
          <p:cNvSpPr/>
          <p:nvPr/>
        </p:nvSpPr>
        <p:spPr>
          <a:xfrm>
            <a:off x="7696200" y="2667000"/>
            <a:ext cx="3810000" cy="1143000"/>
          </a:xfrm>
          <a:prstGeom prst="chevron">
            <a:avLst/>
          </a:prstGeom>
          <a:solidFill>
            <a:schemeClr val="accent2"/>
          </a:solidFill>
          <a:ln>
            <a:noFill/>
          </a:ln>
        </p:spPr>
      </p:sp>
      <p:grpSp>
        <p:nvGrpSpPr>
          <p:cNvPr id="16" name="stage-rule"/>
          <p:cNvGrpSpPr/>
          <p:nvPr/>
        </p:nvGrpSpPr>
        <p:grpSpPr>
          <a:xfrm>
            <a:off x="1388250" y="3093720"/>
            <a:ext cx="2405101" cy="1655064"/>
            <a:chOff x="1388250" y="3093720"/>
            <a:chExt cx="2405101" cy="1655064"/>
          </a:xfrm>
        </p:grpSpPr>
        <p:sp>
          <p:nvSpPr>
            <p:cNvPr id="13" name="TextBox 13"/>
            <p:cNvSpPr txBox="1"/>
            <p:nvPr/>
          </p:nvSpPr>
          <p:spPr>
            <a:xfrm>
              <a:off x="2255520" y="3093720"/>
              <a:ext cx="67056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+mj-lt"/>
                  <a:ea typeface="+mj-ea"/>
                  <a:cs typeface="+mj-cs"/>
                </a:rPr>
                <a:t>制度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388250" y="4053840"/>
              <a:ext cx="240510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 部规章完成制定修订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509408" y="4396740"/>
              <a:ext cx="216278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7 件行政规范性文件</a:t>
              </a:r>
            </a:p>
          </p:txBody>
        </p:sp>
      </p:grpSp>
      <p:grpSp>
        <p:nvGrpSpPr>
          <p:cNvPr id="21" name="stage-license"/>
          <p:cNvGrpSpPr/>
          <p:nvPr/>
        </p:nvGrpSpPr>
        <p:grpSpPr>
          <a:xfrm>
            <a:off x="4881334" y="3093720"/>
            <a:ext cx="2429332" cy="1997964"/>
            <a:chOff x="4881334" y="3093720"/>
            <a:chExt cx="2429332" cy="1997964"/>
          </a:xfrm>
        </p:grpSpPr>
        <p:sp>
          <p:nvSpPr>
            <p:cNvPr id="17" name="TextBox 17"/>
            <p:cNvSpPr txBox="1"/>
            <p:nvPr/>
          </p:nvSpPr>
          <p:spPr>
            <a:xfrm>
              <a:off x="5760720" y="3093720"/>
              <a:ext cx="67056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+mj-lt"/>
                  <a:ea typeface="+mj-ea"/>
                  <a:cs typeface="+mj-cs"/>
                </a:rPr>
                <a:t>准入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881334" y="4053840"/>
              <a:ext cx="242933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622 件行政许可决定书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032781" y="4396740"/>
              <a:ext cx="212643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运输企业累计 81 家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966144" y="4739640"/>
              <a:ext cx="225971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生产企业累计 116 家</a:t>
              </a:r>
            </a:p>
          </p:txBody>
        </p:sp>
      </p:grpSp>
      <p:grpSp>
        <p:nvGrpSpPr>
          <p:cNvPr id="26" name="stage-penalty"/>
          <p:cNvGrpSpPr/>
          <p:nvPr/>
        </p:nvGrpSpPr>
        <p:grpSpPr>
          <a:xfrm>
            <a:off x="8750008" y="3093720"/>
            <a:ext cx="1702384" cy="1997964"/>
            <a:chOff x="8750008" y="3093720"/>
            <a:chExt cx="1702384" cy="1997964"/>
          </a:xfrm>
        </p:grpSpPr>
        <p:sp>
          <p:nvSpPr>
            <p:cNvPr id="22" name="TextBox 22"/>
            <p:cNvSpPr txBox="1"/>
            <p:nvPr/>
          </p:nvSpPr>
          <p:spPr>
            <a:xfrm>
              <a:off x="9265920" y="3093720"/>
              <a:ext cx="67056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+mj-lt"/>
                  <a:ea typeface="+mj-ea"/>
                  <a:cs typeface="+mj-cs"/>
                </a:rPr>
                <a:t>惩戒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750008" y="4053840"/>
              <a:ext cx="17023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198 起行政处罚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750008" y="4396740"/>
              <a:ext cx="17023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383 个处罚决定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780297" y="4739640"/>
              <a:ext cx="164180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挂牌督办 24 次</a:t>
              </a:r>
            </a:p>
          </p:txBody>
        </p:sp>
      </p:grpSp>
      <p:grpSp>
        <p:nvGrpSpPr>
          <p:cNvPr id="28" name="p14-detail"/>
          <p:cNvGrpSpPr/>
          <p:nvPr/>
        </p:nvGrpSpPr>
        <p:grpSpPr>
          <a:xfrm>
            <a:off x="678942" y="5607368"/>
            <a:ext cx="7146036" cy="511683"/>
            <a:chOff x="678942" y="5607368"/>
            <a:chExt cx="7146036" cy="511683"/>
          </a:xfrm>
        </p:grpSpPr>
        <p:sp>
          <p:nvSpPr>
            <p:cNvPr id="27" name="TextBox 27"/>
            <p:cNvSpPr txBox="1"/>
            <p:nvPr/>
          </p:nvSpPr>
          <p:spPr>
            <a:xfrm>
              <a:off x="678942" y="5607368"/>
              <a:ext cx="7146036" cy="5116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机车车辆驾驶人员新增 10933 人,累计 220308 人;机车车辆设计制造维修进口企业累计 124 家</a:t>
              </a:r>
              <a:br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预警 262 次、通报 333 次、约谈 68 次</a:t>
              </a:r>
            </a:p>
          </p:txBody>
        </p:sp>
      </p:grpSp>
      <p:grpSp>
        <p:nvGrpSpPr>
          <p:cNvPr id="31" name="source-bar"/>
          <p:cNvGrpSpPr/>
          <p:nvPr/>
        </p:nvGrpSpPr>
        <p:grpSpPr>
          <a:xfrm>
            <a:off x="680085" y="6248400"/>
            <a:ext cx="10826115" cy="403384"/>
            <a:chOff x="680085" y="6248400"/>
            <a:chExt cx="10826115" cy="403384"/>
          </a:xfrm>
        </p:grpSpPr>
        <p:sp>
          <p:nvSpPr>
            <p:cNvPr id="29" name="Rectangle 29"/>
            <p:cNvSpPr/>
            <p:nvPr/>
          </p:nvSpPr>
          <p:spPr>
            <a:xfrm>
              <a:off x="685800" y="6248400"/>
              <a:ext cx="10820400" cy="9525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80085" y="6431756"/>
              <a:ext cx="648719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数据来源:国家铁路局《2024年铁道统计公报》六、行业监管(公报第 8—9 页)· 三段式为编者整理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xmlns:p="http://schemas.openxmlformats.org/presentationml/2006/main" id="9" presetID="10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xmlns:p="http://schemas.openxmlformats.org/presentationml/2006/main" id="13" presetID="22" presetClass="entr" presetSubtype="2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650"/>
                            </p:stCondLst>
                            <p:childTnLst>
                              <p:par>
                                <p:cTn xmlns:p="http://schemas.openxmlformats.org/presentationml/2006/main" id="17" presetID="10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250"/>
                            </p:stCondLst>
                            <p:childTnLst>
                              <p:par>
                                <p:cTn xmlns:p="http://schemas.openxmlformats.org/presentationml/2006/main" id="21" presetID="22" presetClass="entr" presetSubtype="2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900"/>
                            </p:stCondLst>
                            <p:childTnLst>
                              <p:par>
                                <p:cTn xmlns:p="http://schemas.openxmlformats.org/presentationml/2006/main" id="25" presetID="10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500"/>
                            </p:stCondLst>
                            <p:childTnLst>
                              <p:par>
                                <p:cTn xmlns:p="http://schemas.openxmlformats.org/presentationml/2006/main" id="29" presetID="22" presetClass="entr" presetSubtype="2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4150"/>
                            </p:stCondLst>
                            <p:childTnLst>
                              <p:par>
                                <p:cTn xmlns:p="http://schemas.openxmlformats.org/presentationml/2006/main" id="33" presetID="10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750"/>
                            </p:stCondLst>
                            <p:childTnLst>
                              <p:par>
                                <p:cTn xmlns:p="http://schemas.openxmlformats.org/presentationml/2006/main" id="37" presetID="10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15-photo"/>
          <p:cNvPicPr>
            <a:picLocks noChangeAspect="1"/>
          </p:cNvPicPr>
          <p:nvPr/>
        </p:nvPicPr>
        <p:blipFill>
          <a:blip r:embed="rId2"/>
          <a:srcRect l="0" t="7812" r="0" b="781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losing-panel"/>
          <p:cNvSpPr/>
          <p:nvPr/>
        </p:nvSpPr>
        <p:spPr>
          <a:xfrm>
            <a:off x="685800" y="1333500"/>
            <a:ext cx="7239000" cy="49530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190500" dist="57150" dir="5400000" algn="ctr" rotWithShape="0">
              <a:srgbClr val="000000">
                <a:alpha val="13500"/>
              </a:srgbClr>
            </a:outerShdw>
          </a:effectLst>
        </p:spPr>
      </p:sp>
      <p:grpSp>
        <p:nvGrpSpPr>
          <p:cNvPr id="6" name="closing-title"/>
          <p:cNvGrpSpPr/>
          <p:nvPr/>
        </p:nvGrpSpPr>
        <p:grpSpPr>
          <a:xfrm>
            <a:off x="1051560" y="1676400"/>
            <a:ext cx="1645920" cy="796290"/>
            <a:chOff x="1051560" y="1676400"/>
            <a:chExt cx="1645920" cy="796290"/>
          </a:xfrm>
        </p:grpSpPr>
        <p:sp>
          <p:nvSpPr>
            <p:cNvPr id="4" name="Rectangle 4"/>
            <p:cNvSpPr/>
            <p:nvPr/>
          </p:nvSpPr>
          <p:spPr>
            <a:xfrm>
              <a:off x="1066800" y="1676400"/>
              <a:ext cx="762000" cy="38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1051560" y="1885950"/>
              <a:ext cx="164592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三条判断</a:t>
              </a:r>
            </a:p>
          </p:txBody>
        </p:sp>
      </p:grpSp>
      <p:grpSp>
        <p:nvGrpSpPr>
          <p:cNvPr id="10" name="judgement-1"/>
          <p:cNvGrpSpPr/>
          <p:nvPr/>
        </p:nvGrpSpPr>
        <p:grpSpPr>
          <a:xfrm>
            <a:off x="1054608" y="2712720"/>
            <a:ext cx="6027572" cy="778764"/>
            <a:chOff x="1054608" y="2712720"/>
            <a:chExt cx="6027572" cy="778764"/>
          </a:xfrm>
        </p:grpSpPr>
        <p:sp>
          <p:nvSpPr>
            <p:cNvPr id="7" name="TextBox 7"/>
            <p:cNvSpPr txBox="1"/>
            <p:nvPr/>
          </p:nvSpPr>
          <p:spPr>
            <a:xfrm>
              <a:off x="1054608" y="2712720"/>
              <a:ext cx="21096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1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514856" y="2777490"/>
              <a:ext cx="389534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客运已越过疫情前水平并创历史高位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514856" y="3139440"/>
              <a:ext cx="556732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43.12 亿人(+11.9%),高于 2019 年的 366002 万人</a:t>
              </a:r>
            </a:p>
          </p:txBody>
        </p:sp>
      </p:grpSp>
      <p:grpSp>
        <p:nvGrpSpPr>
          <p:cNvPr id="14" name="judgement-2"/>
          <p:cNvGrpSpPr/>
          <p:nvPr/>
        </p:nvGrpSpPr>
        <p:grpSpPr>
          <a:xfrm>
            <a:off x="1054608" y="3855720"/>
            <a:ext cx="4864456" cy="778764"/>
            <a:chOff x="1054608" y="3855720"/>
            <a:chExt cx="4864456" cy="778764"/>
          </a:xfrm>
        </p:grpSpPr>
        <p:sp>
          <p:nvSpPr>
            <p:cNvPr id="11" name="TextBox 11"/>
            <p:cNvSpPr txBox="1"/>
            <p:nvPr/>
          </p:nvSpPr>
          <p:spPr>
            <a:xfrm>
              <a:off x="1054608" y="3855720"/>
              <a:ext cx="21096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2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514856" y="3920490"/>
              <a:ext cx="403528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货运总量升而周转量落,结构继续分化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514856" y="4282440"/>
              <a:ext cx="440420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 xml:space="preserve">集装箱 </a:t>
              </a:r>
              <a:r>
                <a:rPr lang="zh-CN" sz="1800" b="1" dirty="0">
                  <a:solidFill>
                    <a:srgbClr val="2E7D32"/>
                  </a:solidFill>
                  <a:latin typeface="+mn-lt"/>
                  <a:ea typeface="+mn-ea"/>
                  <a:cs typeface="+mn-cs"/>
                </a:rPr>
                <a:t>+15.5%</a:t>
              </a:r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 xml:space="preserve"> 领涨,粮食 </a:t>
              </a:r>
              <a:r>
                <a:rPr lang="zh-CN" sz="1800" b="1" dirty="0">
                  <a:solidFill>
                    <a:srgbClr val="C62828"/>
                  </a:solidFill>
                  <a:latin typeface="+mn-lt"/>
                  <a:ea typeface="+mn-ea"/>
                  <a:cs typeface="+mn-cs"/>
                </a:rPr>
                <a:t>-17.6%</a:t>
              </a:r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 xml:space="preserve"> 领跌</a:t>
              </a:r>
            </a:p>
          </p:txBody>
        </p:sp>
      </p:grpSp>
      <p:grpSp>
        <p:nvGrpSpPr>
          <p:cNvPr id="18" name="judgement-3"/>
          <p:cNvGrpSpPr/>
          <p:nvPr/>
        </p:nvGrpSpPr>
        <p:grpSpPr>
          <a:xfrm>
            <a:off x="1054608" y="4998720"/>
            <a:ext cx="6500089" cy="778764"/>
            <a:chOff x="1054608" y="4998720"/>
            <a:chExt cx="6500089" cy="778764"/>
          </a:xfrm>
        </p:grpSpPr>
        <p:sp>
          <p:nvSpPr>
            <p:cNvPr id="15" name="TextBox 15"/>
            <p:cNvSpPr txBox="1"/>
            <p:nvPr/>
          </p:nvSpPr>
          <p:spPr>
            <a:xfrm>
              <a:off x="1054608" y="4998720"/>
              <a:ext cx="21096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514856" y="5063490"/>
              <a:ext cx="451991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网络与装备继续扩张,主要污染物持续下降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514856" y="5425440"/>
              <a:ext cx="603984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新线 3113 公里、高铁 4.8 万公里;二氧化硫降至 456 吨</a:t>
              </a:r>
            </a:p>
          </p:txBody>
        </p:sp>
      </p:grpSp>
      <p:grpSp>
        <p:nvGrpSpPr>
          <p:cNvPr id="20" name="closing-note"/>
          <p:cNvGrpSpPr/>
          <p:nvPr/>
        </p:nvGrpSpPr>
        <p:grpSpPr>
          <a:xfrm>
            <a:off x="1059942" y="5855018"/>
            <a:ext cx="4857007" cy="264033"/>
            <a:chOff x="1059942" y="5855018"/>
            <a:chExt cx="4857007" cy="264033"/>
          </a:xfrm>
        </p:grpSpPr>
        <p:sp>
          <p:nvSpPr>
            <p:cNvPr id="19" name="TextBox 19"/>
            <p:cNvSpPr txBox="1"/>
            <p:nvPr/>
          </p:nvSpPr>
          <p:spPr>
            <a:xfrm>
              <a:off x="1059942" y="5855018"/>
              <a:ext cx="485700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整理:三条判断由编者归纳,支撑数值全部取自附件,未作改动</a:t>
              </a:r>
            </a:p>
          </p:txBody>
        </p:sp>
      </p:grpSp>
      <p:grpSp>
        <p:nvGrpSpPr>
          <p:cNvPr id="24" name="closing-source"/>
          <p:cNvGrpSpPr/>
          <p:nvPr/>
        </p:nvGrpSpPr>
        <p:grpSpPr>
          <a:xfrm>
            <a:off x="8371916" y="6165056"/>
            <a:ext cx="3139999" cy="639128"/>
            <a:chOff x="8371916" y="6165056"/>
            <a:chExt cx="3139999" cy="639128"/>
          </a:xfrm>
        </p:grpSpPr>
        <p:sp>
          <p:nvSpPr>
            <p:cNvPr id="21" name="TextBox 21"/>
            <p:cNvSpPr txBox="1"/>
            <p:nvPr/>
          </p:nvSpPr>
          <p:spPr>
            <a:xfrm>
              <a:off x="8371916" y="6165056"/>
              <a:ext cx="313999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数据来源:国家铁路局《2024年铁道统计公报》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724515" y="6374606"/>
              <a:ext cx="2787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国际对照:World Bank IS.RRS.TOTL.KM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123655" y="6584156"/>
              <a:ext cx="23882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照片 摄影 N509FZ · CC BY-SA 4.0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7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xmlns:p="http://schemas.openxmlformats.org/presentationml/2006/main" id="9" presetID="37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45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" accel="100000" fill="hold">
                                          <p:stCondLst>
                                            <p:cond delay="45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200"/>
                            </p:stCondLst>
                            <p:childTnLst>
                              <p:par>
                                <p:cTn xmlns:p="http://schemas.openxmlformats.org/presentationml/2006/main" id="16" presetID="37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45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" accel="100000" fill="hold">
                                          <p:stCondLst>
                                            <p:cond delay="45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900"/>
                            </p:stCondLst>
                            <p:childTnLst>
                              <p:par>
                                <p:cTn xmlns:p="http://schemas.openxmlformats.org/presentationml/2006/main" id="23" presetID="37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45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" accel="100000" fill="hold">
                                          <p:stCondLst>
                                            <p:cond delay="45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600"/>
                            </p:stCondLst>
                            <p:childTnLst>
                              <p:par>
                                <p:cTn xmlns:p="http://schemas.openxmlformats.org/presentationml/2006/main" id="30" presetID="10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ppt169_china_rail_2024_zh">
  <a:themeElements>
    <a:clrScheme name="ppt169_china_rail_2024_zh">
      <a:dk1>
        <a:srgbClr val="1E2733"/>
      </a:dk1>
      <a:lt1>
        <a:srgbClr val="FFFFFF"/>
      </a:lt1>
      <a:dk2>
        <a:srgbClr val="1F497D"/>
      </a:dk2>
      <a:lt2>
        <a:srgbClr val="F2F5F9"/>
      </a:lt2>
      <a:accent1>
        <a:srgbClr val="0B3A6F"/>
      </a:accent1>
      <a:accent2>
        <a:srgbClr val="C8102E"/>
      </a:accent2>
      <a:accent3>
        <a:srgbClr val="1E6FB8"/>
      </a:accent3>
      <a:accent4>
        <a:srgbClr val="0B3A6F"/>
      </a:accent4>
      <a:accent5>
        <a:srgbClr val="5A6775"/>
      </a:accent5>
      <a:accent6>
        <a:srgbClr val="D8DEE6"/>
      </a:accent6>
      <a:hlink>
        <a:srgbClr val="C8102E"/>
      </a:hlink>
      <a:folHlink>
        <a:srgbClr val="1E6FB8"/>
      </a:folHlink>
    </a:clrScheme>
    <a:fontScheme name="ppt169_china_rail_2024_zh">
      <a:majorFont>
        <a:latin typeface="Arial"/>
        <a:ea typeface="SimHei"/>
        <a:cs typeface="Arial"/>
        <a:font script="Jpan" typeface="SimHei"/>
        <a:font script="Hang" typeface="SimHei"/>
        <a:font script="Hans" typeface="SimHei"/>
        <a:font script="Hant" typeface="Sim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pt169_china_rail_2024_zh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ppt169_china_rail_2024_zh">
  <a:themeElements>
    <a:clrScheme name="ppt169_china_rail_2024_zh">
      <a:dk1>
        <a:srgbClr val="1E2733"/>
      </a:dk1>
      <a:lt1>
        <a:srgbClr val="FFFFFF"/>
      </a:lt1>
      <a:dk2>
        <a:srgbClr val="1F497D"/>
      </a:dk2>
      <a:lt2>
        <a:srgbClr val="F2F5F9"/>
      </a:lt2>
      <a:accent1>
        <a:srgbClr val="0B3A6F"/>
      </a:accent1>
      <a:accent2>
        <a:srgbClr val="C8102E"/>
      </a:accent2>
      <a:accent3>
        <a:srgbClr val="1E6FB8"/>
      </a:accent3>
      <a:accent4>
        <a:srgbClr val="0B3A6F"/>
      </a:accent4>
      <a:accent5>
        <a:srgbClr val="5A6775"/>
      </a:accent5>
      <a:accent6>
        <a:srgbClr val="D8DEE6"/>
      </a:accent6>
      <a:hlink>
        <a:srgbClr val="C8102E"/>
      </a:hlink>
      <a:folHlink>
        <a:srgbClr val="1E6FB8"/>
      </a:folHlink>
    </a:clrScheme>
    <a:fontScheme name="ppt169_china_rail_2024_zh">
      <a:majorFont>
        <a:latin typeface="Arial"/>
        <a:ea typeface="SimHei"/>
        <a:cs typeface="Arial"/>
        <a:font script="Jpan" typeface="SimHei"/>
        <a:font script="Hang" typeface="SimHei"/>
        <a:font script="Hans" typeface="SimHei"/>
        <a:font script="Hant" typeface="Sim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pt169_china_rail_2024_zh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2026-09-12T13:36:34Z</dcterms:created>
  <dcterms:modified xsi:type="dcterms:W3CDTF">2026-09-12T13:36:34Z</dcterms:modified>
  <cp:category/>
  <cp:contentStatus/>
</cp:coreProperties>
</file>