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各位领导上午好,今天这份汇报叫《中国铁路 2024:数据与现场》,全部数据来自国家铁路局发布的《2024年铁道统计公报》。先给大家一个最值得记住的数字:2024 年全国铁路旅客发送量四十三点一二亿人,比上年增长百分之十一点九,创下历史新高。画面上这列复兴号动车组,就是这个数字在现场的样子。接下来的十四页,我会按运输生产、建设、装备、路网、国际对照、科技安全、绿色和监管的顺序,把公报里的主要指标依次交代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先用四个总量把 2024 年框住。客运方面,旅客发送量四十三点一二亿人,比上年增加四点五八亿人,增幅百分之十一点九;货运方面,货运总发送量五十一点七五亿吨,比上年增加一点三九亿吨,增幅百分之二点八。建设方面,全国铁路固定资产投资完成八千五百零六亿元,投产新线三千一百一十三公里,其中高速铁路两千四百五十七公里。需要说明的是,这四项指标的组合是我们为汇报做的整理,数值本身全部来自公报正文,没有任何改动;投资一项公报没有列出同比口径,所以这里也不给增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柱形图把旅客发送量放回六年的坐标里看。二〇一九年是三十六亿六千零二万人,二〇二〇年跌到二十二亿零三百五十万人,二〇二二年的十六亿七千二百九十六万人是六年谷底,二〇二三年迅速回到三十八亿五千四百五十万人,二〇二四年进一步升到四十三亿一千二百四十万人。红色那根柱子就是 2024 年,它不仅收复了疫情前的水平,还比二〇一九年多出六万五千二百三十八万人——这个差额是我们用公报的两项数值相减得到的,属于整理口径,请各位在引用时注意。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公报第二页的原表,没有做任何重排。四十三亿一千二百四十万人的发送量里,国家铁路承担四十亿八千五百一十六万人,增长百分之十点九;其他铁路两亿两千七百二十四万人,增长百分之三十四。周转量的分布更集中:全国一万五千七百九十九点一亿人公里,国家铁路占了一万五千七百七十六点三五亿人公里。其他铁路的周转量只有二十二点七四亿人公里,约占全国的千分之一点四,所以百分之八十五点九的增速是建立在很小的基数上的,不宜直接与国家铁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数字最终要落在现场。这是上海虹桥站的候车大厅。按四十三亿一千二百四十万人除以三百六十六天测算,2024 年平均每天大约有一千一百八十万人次通过全国铁路发送——这个日均值是我们的测算,公报本身没有给出。各位回本省之后如果要引用日均口径,建议注明是按全年发送量折算的。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货运这一侧的结论是总量上行、周转量回落。左边这个数字,2024 年货运总发送量五十一点七五亿吨,比上年增加一点三九亿吨;右边的柱形图显示,从二〇一九年的四十四亿一千二百一十三万吨开始,六年是连续上行的,2024 年达到五十一亿七千四百七十七万吨。但总周转量是另一个方向:三万五千八百六十一点九亿吨公里,比上年下降百分之一点六,其中国家铁路只降了百分之零点二,其他铁路降了百分之十四点一。总量涨而周转量落,意味着平均运距在缩短,这一点在分析本省货运结构时值得关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五十一点七五亿吨拆开看品类。煤炭二十八亿两千三百六十五万吨,仍然是绝对的大头,比上年增长百分之一点五。集装箱九亿一千三百七十一万吨,增幅百分之十五点五,是六个品类里增长最快的;冶炼物资八亿七千七百二十六万吨,下降百分之三点六。石油一亿三千三百二十二万吨,粮食五千六百四十万吨,化肥及农药四千七百六十五万吨,其中粮食下降百分之十七点六,是降幅最大的。六个品类合计四十八点五二亿吨,这个合计数是我们相加得到的整理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换算周转量把客运和货运折算到一起看。2024 年全国铁路总换算周转量五万一千六百六十一亿吨公里,比上年增加四百七十一点二五亿吨公里,增长百分之零点九;其中国家铁路四万八千三百五十六点九九亿吨公里,增长百分之二点一,其他铁路三千三百零四点零一亿吨公里,下降百分之十三点八。面积图显示,二〇二三年是这六年里最大的一次跃升,2024 年在此基础上继续小幅上行。右边是跨境和跨区域通道:中欧班列开行一点九万列,发送货物二百零七万标箱,分别增长百分之十和百分之九;西部陆海新通道班列发送九十六万标箱,增长百分之十一。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承担这些运量的是车辆家底。机车拥有量二点二五万台,其中内燃机车零点七八万台、电力机车一点四七万台,电力机车已经占到机车拥有量的约百分之六十五,这个比例是我们用公报的两项数值算出来的。客车八点一万辆,其中动车组四千八百零六标准组、三万八千四百四十八辆。货车一百零一点九万辆,公报没有列出分项。右下这张是复兴号商务座车厢的内景,车辆的服务水平也是运能的一部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线路这一侧,全国铁路营业里程达到十六点二万公里,路网密度一百六十八点五公里每万平方公里。括起来的两项是它的组成部分:高速铁路营业里程四点八万公里,西部地区铁路营业里程六点六万公里。右边两个是路网质量指标,复线率百分之六十点八,电化率百分之七十六点二。上面这张是丹昆特大桥的无锡段,新线里程的增长很大一部分就落在这类工程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换一个数据源,用世界银行的铁路营业里程做长期对照,时间跨度是两千年到二〇二一年。八条曲线里,只有中国这条红线是持续抬升的,从五万八千六百五十六公里增加到十万九千七百六十七公里;美国从十九万四千零七十七公里降到十四万八千五百五十三公里,俄罗斯、印度、德国、法国、西班牙基本走平。这里必须强调三点口径:第一,这个数据集是路线公里口径,和公报的营业里程不是同一个统计范围,中国的十万九千七百六十七公里不能和十六点二万公里直接比较;第二,该数据集二〇二二到二〇二四年八国都没有取值;第三,日本只有二〇一〇和二〇一一两年有值,所以只画出很短的一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是科技创新。全年发布铁路国家标准二十项、行业标准九十五项,主持制定并发布国际标准七项,国家和行业计量规程规范各四项。铁路行业有六个项目获得二〇二三年度国家科学技术奖,其中复兴号高速列车项目获国家科学技术进步奖特等奖;重大科技创新成果库全年入库三百三十五项;新研发了包括 BH10 冷藏车在内的三个型号装备,并建立了中国标准新能源机车平台。右边是安全。全年全国铁路没有发生特别重大和重大事故,发生较大事故两件、与上年持平,铁路交通事故死亡人数比上年下降百分之十八。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节能减排有两个方向相反的信号。折线显示主要污染物持续下降:化学需氧量排放量从二〇一九年的一千七百三十二吨降到 2024 年的一千三百三十七吨,比上年减少一百三十吨;二氧化硫排放量从五千二百八十六吨一路降到四百五十六吨,比上年减少一百九十六吨,六年降幅非常明显。但能耗强度是微升的:单位运输工作量综合能耗三点八六吨标准煤每百万换算吨公里,比上年增长百分之一点三;国家铁路综合能耗折算标准煤一千八百零一点二万吨,比上年增加四十八点五万吨,增长百分之二点八。右上是青藏铁路的车厢实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行业监管这一年的动作量可以按制度、准入、惩戒三段来看,这个三段划分是我们为汇报做的整理。制度这一端,一部规章和七件行政规范性文件完成制定修订并公布。准入这一端,铁路监管部门发布行政许可决定书六百二十二件,铁路运输企业新增四家、累计八十一家,基础设备生产企业新增两家、累计一百一十六家,机车车辆设计制造维修进口企业累计一百二十四家,机车车辆驾驶人员新增一万零九百三十三人、累计二十二万零三百零八人。惩戒这一端,实施行政处罚一百九十八起,作出处罚决定三百八十三个,并实施预警二百六十二次、通报三百三十三次、约谈六十八次、挂牌督办二十四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请各位带走三条判断。第一,客运已经越过疫情前水平并创下历史高位,四十三点一二亿人、增长百分之十一点九,高于二〇一九年的三十六亿六千零二万人。第二,货运总量在升而周转量在落,结构上继续分化,集装箱增长百分之十五点五领涨,粮食下降百分之十七点六领跌。第三,网络与装备继续扩张,新线三千一百一十三公里、高铁营业里程四点八万公里,同时主要污染物持续下降,二氧化硫已降到四百五十六吨,但单位能耗微升百分之一点三。这三条判断是我们的归纳,支撑数值全部取自附件,没有改动;需要核对的话,每一页底部都标了公报的对应章节和页码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china_rail_2024_z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china_rail_2024_z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0736ce6e0e7dc4d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0736ce6e0e7dc4d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09ab269ccf51ba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8e41951d937f8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6adbbb035acfc01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a63731487bd1f0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b8a73af5a1393e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7691d077c893f2.jp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685800" y="1714500"/>
            <a:ext cx="60960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!!hero-photo"/>
          <p:cNvGrpSpPr/>
          <p:nvPr/>
        </p:nvGrpSpPr>
        <p:grpSpPr>
          <a:xfrm>
            <a:off x="7239000" y="0"/>
            <a:ext cx="4953000" cy="6858000"/>
            <a:chOff x="7239000" y="0"/>
            <a:chExt cx="4953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25926" t="0" r="25926" b="0"/>
            <a:stretch>
              <a:fillRect/>
            </a:stretch>
          </p:blipFill>
          <p:spPr>
            <a:xfrm>
              <a:off x="7239000" y="0"/>
              <a:ext cx="4953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7239000" y="0"/>
              <a:ext cx="1905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239000" y="5334000"/>
              <a:ext cx="4953000" cy="15240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78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07629" y="6279356"/>
              <a:ext cx="3304286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0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复兴号动车组 CR400AF-2007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摄影 N509FZ · CC BY-SA 4.0 · Wikimedia Commons</a:t>
              </a:r>
            </a:p>
          </p:txBody>
        </p:sp>
      </p:grpSp>
      <p:grpSp>
        <p:nvGrpSpPr>
          <p:cNvPr id="9" name="cover-title"/>
          <p:cNvGrpSpPr/>
          <p:nvPr/>
        </p:nvGrpSpPr>
        <p:grpSpPr>
          <a:xfrm>
            <a:off x="666750" y="2242185"/>
            <a:ext cx="4833938" cy="2057400"/>
            <a:chOff x="666750" y="2242185"/>
            <a:chExt cx="4833938" cy="2057400"/>
          </a:xfrm>
        </p:grpSpPr>
        <p:sp>
          <p:nvSpPr>
            <p:cNvPr id="8" name="TextBox 8"/>
            <p:cNvSpPr txBox="1"/>
            <p:nvPr/>
          </p:nvSpPr>
          <p:spPr>
            <a:xfrm>
              <a:off x="666750" y="2242185"/>
              <a:ext cx="4833938" cy="2057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500"/>
                </a:lnSpc>
              </a:pPr>
              <a:r>
                <a:rPr lang="zh-CN" sz="5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中国铁路 2024</a:t>
              </a:r>
              <a:br/>
              <a:r>
                <a:rPr lang="zh-CN" sz="5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数据与现场</a:t>
              </a:r>
            </a:p>
          </p:txBody>
        </p:sp>
      </p:grpSp>
      <p:grpSp>
        <p:nvGrpSpPr>
          <p:cNvPr id="11" name="cover-subtitle"/>
          <p:cNvGrpSpPr/>
          <p:nvPr/>
        </p:nvGrpSpPr>
        <p:grpSpPr>
          <a:xfrm>
            <a:off x="673608" y="4255770"/>
            <a:ext cx="4657344" cy="888492"/>
            <a:chOff x="673608" y="4255770"/>
            <a:chExt cx="4657344" cy="888492"/>
          </a:xfrm>
        </p:grpSpPr>
        <p:sp>
          <p:nvSpPr>
            <p:cNvPr id="10" name="TextBox 10"/>
            <p:cNvSpPr txBox="1"/>
            <p:nvPr/>
          </p:nvSpPr>
          <p:spPr>
            <a:xfrm>
              <a:off x="673608" y="4255770"/>
              <a:ext cx="465734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《2024年铁道统计公报》数据解读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汇报对象:省交通运输部门</a:t>
              </a:r>
            </a:p>
          </p:txBody>
        </p:sp>
      </p:grpSp>
      <p:grpSp>
        <p:nvGrpSpPr>
          <p:cNvPr id="14" name="!!hero-figure"/>
          <p:cNvGrpSpPr/>
          <p:nvPr/>
        </p:nvGrpSpPr>
        <p:grpSpPr>
          <a:xfrm>
            <a:off x="666750" y="5387340"/>
            <a:ext cx="3896906" cy="941261"/>
            <a:chOff x="666750" y="5387340"/>
            <a:chExt cx="3896906" cy="941261"/>
          </a:xfrm>
        </p:grpSpPr>
        <p:sp>
          <p:nvSpPr>
            <p:cNvPr id="12" name="TextBox 12"/>
            <p:cNvSpPr txBox="1"/>
            <p:nvPr/>
          </p:nvSpPr>
          <p:spPr>
            <a:xfrm>
              <a:off x="666750" y="53873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43.12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6064568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年全国铁路旅客发送量,比上年增长 11.9%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0085" y="6507956"/>
            <a:ext cx="31399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数据来源:国家铁路局《2024年铁道统计公报》</a:t>
            </a:r>
          </a:p>
        </p:txBody>
      </p: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hero-photo"/>
          <p:cNvGrpSpPr/>
          <p:nvPr/>
        </p:nvGrpSpPr>
        <p:grpSpPr>
          <a:xfrm>
            <a:off x="9334500" y="0"/>
            <a:ext cx="2857500" cy="6858000"/>
            <a:chOff x="9334500" y="0"/>
            <a:chExt cx="28575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36111" t="0" r="36111" b="0"/>
            <a:stretch>
              <a:fillRect/>
            </a:stretch>
          </p:blipFill>
          <p:spPr>
            <a:xfrm>
              <a:off x="9334500" y="0"/>
              <a:ext cx="28575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9334500" y="0"/>
              <a:ext cx="9144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27636" y="6507956"/>
              <a:ext cx="2041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摄影 N509FZ · CC BY-SA 4.0</a:t>
              </a:r>
            </a:p>
          </p:txBody>
        </p:sp>
      </p:grpSp>
      <p:grpSp>
        <p:nvGrpSpPr>
          <p:cNvPr id="9" name="page-frame"/>
          <p:cNvGrpSpPr/>
          <p:nvPr/>
        </p:nvGrpSpPr>
        <p:grpSpPr>
          <a:xfrm>
            <a:off x="678942" y="533400"/>
            <a:ext cx="8281416" cy="404051"/>
            <a:chOff x="678942" y="533400"/>
            <a:chExt cx="8281416" cy="404051"/>
          </a:xfrm>
        </p:grpSpPr>
        <p:sp>
          <p:nvSpPr>
            <p:cNvPr id="6" name="Rectangle 6"/>
            <p:cNvSpPr/>
            <p:nvPr/>
          </p:nvSpPr>
          <p:spPr>
            <a:xfrm>
              <a:off x="685800" y="533400"/>
              <a:ext cx="8267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一、全年总览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378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  <p:grpSp>
        <p:nvGrpSpPr>
          <p:cNvPr id="11" name="page-title"/>
          <p:cNvGrpSpPr/>
          <p:nvPr/>
        </p:nvGrpSpPr>
        <p:grpSpPr>
          <a:xfrm>
            <a:off x="670560" y="1104900"/>
            <a:ext cx="4044848" cy="586740"/>
            <a:chOff x="670560" y="1104900"/>
            <a:chExt cx="4044848" cy="586740"/>
          </a:xfrm>
        </p:grpSpPr>
        <p:sp>
          <p:nvSpPr>
            <p:cNvPr id="10" name="TextBox 10"/>
            <p:cNvSpPr txBox="1"/>
            <p:nvPr/>
          </p:nvSpPr>
          <p:spPr>
            <a:xfrm>
              <a:off x="670560" y="1104900"/>
              <a:ext cx="40448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四个数字看懂 2024 年</a:t>
              </a:r>
            </a:p>
          </p:txBody>
        </p:sp>
      </p:grpSp>
      <p:grpSp>
        <p:nvGrpSpPr>
          <p:cNvPr id="13" name="page-lead"/>
          <p:cNvGrpSpPr/>
          <p:nvPr/>
        </p:nvGrpSpPr>
        <p:grpSpPr>
          <a:xfrm>
            <a:off x="675132" y="1678305"/>
            <a:ext cx="6113564" cy="410718"/>
            <a:chOff x="675132" y="1678305"/>
            <a:chExt cx="6113564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675132" y="1678305"/>
              <a:ext cx="61135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客运创新高、货运稳中有升,投资与新线保持高位</a:t>
              </a:r>
            </a:p>
          </p:txBody>
        </p:sp>
      </p:grpSp>
      <p:grpSp>
        <p:nvGrpSpPr>
          <p:cNvPr id="23" name="!!hero-figure"/>
          <p:cNvGrpSpPr/>
          <p:nvPr/>
        </p:nvGrpSpPr>
        <p:grpSpPr>
          <a:xfrm>
            <a:off x="666750" y="2247900"/>
            <a:ext cx="3962400" cy="1737551"/>
            <a:chOff x="666750" y="2247900"/>
            <a:chExt cx="3962400" cy="1737551"/>
          </a:xfrm>
        </p:grpSpPr>
        <p:sp>
          <p:nvSpPr>
            <p:cNvPr id="14" name="Rectangle 14"/>
            <p:cNvSpPr/>
            <p:nvPr/>
          </p:nvSpPr>
          <p:spPr>
            <a:xfrm>
              <a:off x="685800" y="2247900"/>
              <a:ext cx="39433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85800" y="2459831"/>
              <a:ext cx="342900" cy="300038"/>
              <a:chOff x="685800" y="2459831"/>
              <a:chExt cx="342900" cy="30003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50094" y="245983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8"/>
                      <a:pt x="83168" y="107156"/>
                      <a:pt x="53578" y="107156"/>
                    </a:cubicBezTo>
                    <a:cubicBezTo>
                      <a:pt x="23988" y="107156"/>
                      <a:pt x="0" y="83168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8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85800" y="2609850"/>
                <a:ext cx="17145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0019">
                    <a:moveTo>
                      <a:pt x="64294" y="0"/>
                    </a:moveTo>
                    <a:cubicBezTo>
                      <a:pt x="28785" y="0"/>
                      <a:pt x="0" y="28785"/>
                      <a:pt x="0" y="64294"/>
                    </a:cubicBezTo>
                    <a:lnTo>
                      <a:pt x="0" y="150019"/>
                    </a:lnTo>
                    <a:lnTo>
                      <a:pt x="171450" y="150019"/>
                    </a:lnTo>
                    <a:lnTo>
                      <a:pt x="171450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0112" y="2609850"/>
                <a:ext cx="1285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50019">
                    <a:moveTo>
                      <a:pt x="64294" y="0"/>
                    </a:moveTo>
                    <a:lnTo>
                      <a:pt x="0" y="0"/>
                    </a:lnTo>
                    <a:lnTo>
                      <a:pt x="0" y="150019"/>
                    </a:lnTo>
                    <a:lnTo>
                      <a:pt x="128588" y="150019"/>
                    </a:lnTo>
                    <a:lnTo>
                      <a:pt x="128588" y="64294"/>
                    </a:lnTo>
                    <a:cubicBezTo>
                      <a:pt x="128588" y="28785"/>
                      <a:pt x="99803" y="0"/>
                      <a:pt x="642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00112" y="24812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42862" y="85725"/>
                    </a:move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  <a:cubicBezTo>
                      <a:pt x="0" y="66535"/>
                      <a:pt x="19190" y="85725"/>
                      <a:pt x="42862" y="857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136142" y="2559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旅客发送量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750" y="30251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43.12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942" y="372141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比上年增长 11.9%(增加 4.58 亿人)</a:t>
              </a:r>
            </a:p>
          </p:txBody>
        </p:sp>
      </p:grpSp>
      <p:grpSp>
        <p:nvGrpSpPr>
          <p:cNvPr id="29" name="kpi-freight"/>
          <p:cNvGrpSpPr/>
          <p:nvPr/>
        </p:nvGrpSpPr>
        <p:grpSpPr>
          <a:xfrm>
            <a:off x="4991100" y="2247900"/>
            <a:ext cx="3962400" cy="1737551"/>
            <a:chOff x="4991100" y="2247900"/>
            <a:chExt cx="3962400" cy="1737551"/>
          </a:xfrm>
        </p:grpSpPr>
        <p:sp>
          <p:nvSpPr>
            <p:cNvPr id="24" name="Rectangle 24"/>
            <p:cNvSpPr/>
            <p:nvPr/>
          </p:nvSpPr>
          <p:spPr>
            <a:xfrm>
              <a:off x="5010150" y="2247900"/>
              <a:ext cx="39433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010150" y="2481262"/>
              <a:ext cx="342900" cy="278606"/>
            </a:xfrm>
            <a:custGeom>
              <a:avLst/>
              <a:gdLst/>
              <a:ahLst/>
              <a:cxnLst/>
              <a:rect l="l" t="t" r="r" b="b"/>
              <a:pathLst>
                <a:path w="342900" h="278606">
                  <a:moveTo>
                    <a:pt x="235744" y="0"/>
                  </a:moveTo>
                  <a:lnTo>
                    <a:pt x="0" y="0"/>
                  </a:lnTo>
                  <a:lnTo>
                    <a:pt x="0" y="235744"/>
                  </a:lnTo>
                  <a:lnTo>
                    <a:pt x="42862" y="235744"/>
                  </a:lnTo>
                  <a:cubicBezTo>
                    <a:pt x="42862" y="259417"/>
                    <a:pt x="62053" y="278606"/>
                    <a:pt x="85725" y="278606"/>
                  </a:cubicBezTo>
                  <a:cubicBezTo>
                    <a:pt x="109397" y="278606"/>
                    <a:pt x="128588" y="259417"/>
                    <a:pt x="128588" y="235744"/>
                  </a:cubicBezTo>
                  <a:lnTo>
                    <a:pt x="214312" y="235744"/>
                  </a:lnTo>
                  <a:cubicBezTo>
                    <a:pt x="214312" y="259417"/>
                    <a:pt x="233502" y="278606"/>
                    <a:pt x="257175" y="278606"/>
                  </a:cubicBezTo>
                  <a:cubicBezTo>
                    <a:pt x="280848" y="278606"/>
                    <a:pt x="300038" y="259417"/>
                    <a:pt x="300038" y="235744"/>
                  </a:cubicBezTo>
                  <a:lnTo>
                    <a:pt x="342900" y="235744"/>
                  </a:lnTo>
                  <a:lnTo>
                    <a:pt x="342900" y="128588"/>
                  </a:lnTo>
                  <a:cubicBezTo>
                    <a:pt x="342900" y="93079"/>
                    <a:pt x="314116" y="64294"/>
                    <a:pt x="278606" y="64294"/>
                  </a:cubicBezTo>
                  <a:lnTo>
                    <a:pt x="235744" y="64294"/>
                  </a:lnTo>
                  <a:lnTo>
                    <a:pt x="235744" y="0"/>
                  </a:lnTo>
                  <a:close/>
                  <a:moveTo>
                    <a:pt x="235744" y="107156"/>
                  </a:moveTo>
                  <a:lnTo>
                    <a:pt x="235744" y="150019"/>
                  </a:lnTo>
                  <a:lnTo>
                    <a:pt x="300038" y="150019"/>
                  </a:lnTo>
                  <a:lnTo>
                    <a:pt x="300038" y="107156"/>
                  </a:lnTo>
                  <a:lnTo>
                    <a:pt x="235744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60492" y="2559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货运总发送量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91100" y="30251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51.75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03292" y="37214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比上年增长 2.8%(增加 1.39 亿吨)</a:t>
              </a:r>
            </a:p>
          </p:txBody>
        </p:sp>
      </p:grpSp>
      <p:grpSp>
        <p:nvGrpSpPr>
          <p:cNvPr id="35" name="kpi-invest"/>
          <p:cNvGrpSpPr/>
          <p:nvPr/>
        </p:nvGrpSpPr>
        <p:grpSpPr>
          <a:xfrm>
            <a:off x="666750" y="4248150"/>
            <a:ext cx="3962400" cy="1737551"/>
            <a:chOff x="666750" y="4248150"/>
            <a:chExt cx="3962400" cy="1737551"/>
          </a:xfrm>
        </p:grpSpPr>
        <p:sp>
          <p:nvSpPr>
            <p:cNvPr id="30" name="Rectangle 30"/>
            <p:cNvSpPr/>
            <p:nvPr/>
          </p:nvSpPr>
          <p:spPr>
            <a:xfrm>
              <a:off x="685800" y="4248150"/>
              <a:ext cx="39433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5800" y="44386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192881" y="107156"/>
                  </a:moveTo>
                  <a:lnTo>
                    <a:pt x="150019" y="107156"/>
                  </a:lnTo>
                  <a:lnTo>
                    <a:pt x="150019" y="235744"/>
                  </a:lnTo>
                  <a:lnTo>
                    <a:pt x="192881" y="235744"/>
                  </a:lnTo>
                  <a:lnTo>
                    <a:pt x="192881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6142" y="4559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固定资产投资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750" y="5025390"/>
              <a:ext cx="21809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8506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942" y="5721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公报未列同比口径</a:t>
              </a:r>
            </a:p>
          </p:txBody>
        </p:sp>
      </p:grpSp>
      <p:grpSp>
        <p:nvGrpSpPr>
          <p:cNvPr id="44" name="kpi-newline"/>
          <p:cNvGrpSpPr/>
          <p:nvPr/>
        </p:nvGrpSpPr>
        <p:grpSpPr>
          <a:xfrm>
            <a:off x="4991100" y="4248150"/>
            <a:ext cx="3962400" cy="1737551"/>
            <a:chOff x="4991100" y="4248150"/>
            <a:chExt cx="3962400" cy="1737551"/>
          </a:xfrm>
        </p:grpSpPr>
        <p:sp>
          <p:nvSpPr>
            <p:cNvPr id="36" name="Rectangle 36"/>
            <p:cNvSpPr/>
            <p:nvPr/>
          </p:nvSpPr>
          <p:spPr>
            <a:xfrm>
              <a:off x="5010150" y="4248150"/>
              <a:ext cx="39433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031581" y="4460081"/>
              <a:ext cx="300038" cy="300038"/>
              <a:chOff x="5031581" y="4460081"/>
              <a:chExt cx="300038" cy="30003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031581" y="4460081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45894" y="4674394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053012" y="4460081"/>
                <a:ext cx="2571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300038">
                    <a:moveTo>
                      <a:pt x="150019" y="75009"/>
                    </a:moveTo>
                    <a:cubicBezTo>
                      <a:pt x="150019" y="57255"/>
                      <a:pt x="164411" y="42862"/>
                      <a:pt x="182166" y="42862"/>
                    </a:cubicBezTo>
                    <a:cubicBezTo>
                      <a:pt x="199919" y="42862"/>
                      <a:pt x="214312" y="57255"/>
                      <a:pt x="214312" y="75009"/>
                    </a:cubicBezTo>
                    <a:lnTo>
                      <a:pt x="214312" y="171450"/>
                    </a:lnTo>
                    <a:lnTo>
                      <a:pt x="257175" y="171450"/>
                    </a:lnTo>
                    <a:lnTo>
                      <a:pt x="257175" y="75009"/>
                    </a:lnTo>
                    <a:cubicBezTo>
                      <a:pt x="257175" y="33583"/>
                      <a:pt x="223592" y="0"/>
                      <a:pt x="182166" y="0"/>
                    </a:cubicBezTo>
                    <a:cubicBezTo>
                      <a:pt x="140739" y="0"/>
                      <a:pt x="107156" y="33583"/>
                      <a:pt x="107156" y="75009"/>
                    </a:cubicBezTo>
                    <a:lnTo>
                      <a:pt x="107156" y="225028"/>
                    </a:lnTo>
                    <a:cubicBezTo>
                      <a:pt x="107156" y="242782"/>
                      <a:pt x="92764" y="257175"/>
                      <a:pt x="75009" y="257175"/>
                    </a:cubicBezTo>
                    <a:cubicBezTo>
                      <a:pt x="57255" y="257175"/>
                      <a:pt x="42862" y="242782"/>
                      <a:pt x="42862" y="225028"/>
                    </a:cubicBezTo>
                    <a:lnTo>
                      <a:pt x="42862" y="128588"/>
                    </a:lnTo>
                    <a:lnTo>
                      <a:pt x="0" y="128588"/>
                    </a:lnTo>
                    <a:lnTo>
                      <a:pt x="0" y="225028"/>
                    </a:lnTo>
                    <a:cubicBezTo>
                      <a:pt x="0" y="266455"/>
                      <a:pt x="33583" y="300038"/>
                      <a:pt x="75009" y="300038"/>
                    </a:cubicBezTo>
                    <a:cubicBezTo>
                      <a:pt x="116436" y="300038"/>
                      <a:pt x="150019" y="266455"/>
                      <a:pt x="150019" y="225028"/>
                    </a:cubicBezTo>
                    <a:lnTo>
                      <a:pt x="150019" y="750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5460492" y="4559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投产新线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91100" y="5025390"/>
              <a:ext cx="21809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3113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公里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03292" y="572166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其中高速铁路 2457 公里</a:t>
              </a:r>
            </a:p>
          </p:txBody>
        </p:sp>
      </p:grpSp>
      <p:grpSp>
        <p:nvGrpSpPr>
          <p:cNvPr id="47" name="source-bar"/>
          <p:cNvGrpSpPr/>
          <p:nvPr/>
        </p:nvGrpSpPr>
        <p:grpSpPr>
          <a:xfrm>
            <a:off x="680085" y="6248400"/>
            <a:ext cx="8273415" cy="403384"/>
            <a:chOff x="680085" y="6248400"/>
            <a:chExt cx="8273415" cy="403384"/>
          </a:xfrm>
        </p:grpSpPr>
        <p:sp>
          <p:nvSpPr>
            <p:cNvPr id="45" name="Rectangle 45"/>
            <p:cNvSpPr/>
            <p:nvPr/>
          </p:nvSpPr>
          <p:spPr>
            <a:xfrm>
              <a:off x="685800" y="6248400"/>
              <a:ext cx="82677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085" y="6431756"/>
              <a:ext cx="6751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数据来源:国家铁路局《2024年铁道统计公报》· 整理:四项总量由编者从公报正文汇总,数值未作改动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5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5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5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7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二、客运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783019" cy="586740"/>
            <a:chOff x="670560" y="1104900"/>
            <a:chExt cx="678301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78301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43.12 亿人:客运越过 2019 年的高点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509347" cy="410718"/>
            <a:chOff x="675132" y="1678305"/>
            <a:chExt cx="6509347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5093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2024 年旅客发送量 431240 万人,是六年来的最高值</a:t>
              </a:r>
            </a:p>
          </p:txBody>
        </p:sp>
      </p:grpSp>
      <p:grpSp>
        <p:nvGrpSpPr>
          <p:cNvPr id="43" name="pax-sent-6y"/>
          <p:cNvGrpSpPr/>
          <p:nvPr/>
        </p:nvGrpSpPr>
        <p:grpSpPr>
          <a:xfrm>
            <a:off x="822160" y="2349818"/>
            <a:ext cx="6797840" cy="3578733"/>
            <a:chOff x="822160" y="2349818"/>
            <a:chExt cx="6797840" cy="3578733"/>
          </a:xfrm>
        </p:grpSpPr>
        <p:grpSp>
          <p:nvGrpSpPr>
            <p:cNvPr id="23" name="pax-sent-6y-chartArea"/>
            <p:cNvGrpSpPr/>
            <p:nvPr/>
          </p:nvGrpSpPr>
          <p:grpSpPr>
            <a:xfrm>
              <a:off x="1524000" y="2667000"/>
              <a:ext cx="6096000" cy="2867025"/>
              <a:chOff x="1524000" y="2667000"/>
              <a:chExt cx="6096000" cy="286702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524000" y="26670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524000" y="32385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524000" y="38100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524000" y="43815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524000" y="49530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524000" y="2667000"/>
                <a:ext cx="9525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0">
                    <a:moveTo>
                      <a:pt x="0" y="0"/>
                    </a:moveTo>
                    <a:lnTo>
                      <a:pt x="0" y="285750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524000" y="55245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765268" y="3432810"/>
                <a:ext cx="533400" cy="209169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781300" y="4265200"/>
                <a:ext cx="533400" cy="1259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797332" y="4031932"/>
                <a:ext cx="533400" cy="149256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813268" y="4568380"/>
                <a:ext cx="533400" cy="95612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5829300" y="3321653"/>
                <a:ext cx="533400" cy="220284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845332" y="3060002"/>
                <a:ext cx="533400" cy="246449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31342" y="2349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1937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2160" y="48644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160" y="4292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160" y="37214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2160" y="3149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400000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2160" y="25784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500000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25244" y="3191827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366002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41276" y="4024217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220350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7308" y="3790950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261171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73244" y="432739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167296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89276" y="3080671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385450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05308" y="2819019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431240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34331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2019年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50363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66395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2021年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82331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2022年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98363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2023年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14395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2024年</a:t>
              </a:r>
            </a:p>
          </p:txBody>
        </p:sp>
      </p:grpSp>
      <p:grpSp>
        <p:nvGrpSpPr>
          <p:cNvPr id="47" name="read-low"/>
          <p:cNvGrpSpPr/>
          <p:nvPr/>
        </p:nvGrpSpPr>
        <p:grpSpPr>
          <a:xfrm>
            <a:off x="8182356" y="2247900"/>
            <a:ext cx="2327148" cy="1357884"/>
            <a:chOff x="8182356" y="2247900"/>
            <a:chExt cx="2327148" cy="1357884"/>
          </a:xfrm>
        </p:grpSpPr>
        <p:sp>
          <p:nvSpPr>
            <p:cNvPr id="44" name="Rectangle 44"/>
            <p:cNvSpPr/>
            <p:nvPr/>
          </p:nvSpPr>
          <p:spPr>
            <a:xfrm>
              <a:off x="8191500" y="2247900"/>
              <a:ext cx="6858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84642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六年谷底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82356" y="2891790"/>
              <a:ext cx="232714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年发送量 167296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万人,为六年最低。</a:t>
              </a:r>
            </a:p>
          </p:txBody>
        </p:sp>
      </p:grpSp>
      <p:grpSp>
        <p:nvGrpSpPr>
          <p:cNvPr id="51" name="read-gap"/>
          <p:cNvGrpSpPr/>
          <p:nvPr/>
        </p:nvGrpSpPr>
        <p:grpSpPr>
          <a:xfrm>
            <a:off x="8182356" y="3962400"/>
            <a:ext cx="2144268" cy="1719834"/>
            <a:chOff x="8182356" y="3962400"/>
            <a:chExt cx="2144268" cy="1719834"/>
          </a:xfrm>
        </p:grpSpPr>
        <p:sp>
          <p:nvSpPr>
            <p:cNvPr id="48" name="Rectangle 48"/>
            <p:cNvSpPr/>
            <p:nvPr/>
          </p:nvSpPr>
          <p:spPr>
            <a:xfrm>
              <a:off x="8191500" y="3962400"/>
              <a:ext cx="6858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84642" y="42167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与疫情前对比(整理)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82356" y="4606290"/>
              <a:ext cx="214426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2024 年比 2019 年多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65238 万人,由公报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两项数值相减得出。</a:t>
              </a:r>
            </a:p>
          </p:txBody>
        </p:sp>
      </p:grpSp>
      <p:grpSp>
        <p:nvGrpSpPr>
          <p:cNvPr id="54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52" name="Rectangle 52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0085" y="6431756"/>
              <a:ext cx="6668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 · 全国铁路旅客发送量图(公报第 2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8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二、客运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4554722" cy="586740"/>
            <a:chOff x="670560" y="1104900"/>
            <a:chExt cx="4554722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45547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40.85 亿人来自国家铁路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141834" cy="410718"/>
            <a:chOff x="675132" y="1678305"/>
            <a:chExt cx="614183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1418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其他铁路增速更高,但基数很小——以下为公报原表</a:t>
              </a:r>
            </a:p>
          </p:txBody>
        </p:sp>
      </p:grpSp>
      <p:grpSp>
        <p:nvGrpSpPr>
          <p:cNvPr id="13" name="p04-station-photo"/>
          <p:cNvGrpSpPr/>
          <p:nvPr/>
        </p:nvGrpSpPr>
        <p:grpSpPr>
          <a:xfrm>
            <a:off x="685800" y="2247900"/>
            <a:ext cx="10820400" cy="993934"/>
            <a:chOff x="685800" y="2247900"/>
            <a:chExt cx="10820400" cy="99393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42676" r="0" b="42676"/>
            <a:stretch>
              <a:fillRect/>
            </a:stretch>
          </p:blipFill>
          <p:spPr>
            <a:xfrm>
              <a:off x="685800" y="2247900"/>
              <a:ext cx="10820400" cy="990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2819400"/>
              <a:ext cx="108204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78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85872" y="3021806"/>
              <a:ext cx="4611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北京南站站台 摄影 颐园新居 · CC BY-SA 4.0 · Wikimedia Commons</a:t>
              </a:r>
            </a:p>
          </p:txBody>
        </p:sp>
      </p:grpSp>
      <p:grpSp>
        <p:nvGrpSpPr>
          <p:cNvPr id="51" name="pax-volume-table"/>
          <p:cNvGrpSpPr/>
          <p:nvPr/>
        </p:nvGrpSpPr>
        <p:grpSpPr>
          <a:xfrm>
            <a:off x="685800" y="3467100"/>
            <a:ext cx="10820400" cy="2386584"/>
            <a:chOff x="685800" y="3467100"/>
            <a:chExt cx="10820400" cy="2386584"/>
          </a:xfrm>
        </p:grpSpPr>
        <p:sp>
          <p:nvSpPr>
            <p:cNvPr id="14" name="Rectangle 14"/>
            <p:cNvSpPr/>
            <p:nvPr/>
          </p:nvSpPr>
          <p:spPr>
            <a:xfrm>
              <a:off x="685800" y="3467100"/>
              <a:ext cx="108204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9056" y="35299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96840" y="35299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7860" y="3529965"/>
              <a:ext cx="896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2024 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86947" y="3529965"/>
              <a:ext cx="1075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比上年±%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848100"/>
              <a:ext cx="108204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5800" y="4819650"/>
              <a:ext cx="108204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9056" y="3882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旅客发送量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6840" y="38823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66631" y="388239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431240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784906" y="38823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11.9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056" y="42062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国家铁路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96840" y="42062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6613" y="420624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408516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11561" y="42062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10.9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056" y="45300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其他铁路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96840" y="45300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39887" y="453009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22724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11561" y="453009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34.0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056" y="48539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旅客周转量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54524" y="4853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亿人公里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86756" y="4853940"/>
              <a:ext cx="1137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15799.10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24844" y="485394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7.3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056" y="5177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国家铁路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954524" y="51777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亿人公里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40066" y="517779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15776.35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44835" y="517779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7.2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9056" y="55016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其他铁路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54524" y="55016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亿人公里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39887" y="550164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22.74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11561" y="55016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85.9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85800" y="4171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685800" y="4495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685800" y="4819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85800" y="514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85800" y="5467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85800" y="579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53" name="table-note"/>
          <p:cNvGrpSpPr/>
          <p:nvPr/>
        </p:nvGrpSpPr>
        <p:grpSpPr>
          <a:xfrm>
            <a:off x="678942" y="5912168"/>
            <a:ext cx="7165067" cy="264033"/>
            <a:chOff x="678942" y="5912168"/>
            <a:chExt cx="7165067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678942" y="5912168"/>
              <a:ext cx="7165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注:其他铁路旅客周转量 22.74 亿人公里,约占全国的 0.14%(整理,由公报两项数值计算)</a:t>
              </a:r>
            </a:p>
          </p:txBody>
        </p:sp>
      </p:grpSp>
      <p:grpSp>
        <p:nvGrpSpPr>
          <p:cNvPr id="56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54" name="Rectangle 54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0085" y="6431756"/>
              <a:ext cx="5891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数据来源:国家铁路局《2024年铁道统计公报》表「全国铁路旅客运输量」(公报第 2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8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7780" r="0" b="77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scrim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>
            <a:gsLst>
              <a:gs pos="0">
                <a:srgbClr val="0A1B2E">
                  <a:alpha val="0"/>
                </a:srgbClr>
              </a:gs>
              <a:gs pos="52000">
                <a:srgbClr val="0A1B2E">
                  <a:alpha val="62000"/>
                </a:srgbClr>
              </a:gs>
              <a:gs pos="100000">
                <a:srgbClr val="0A1B2E">
                  <a:alpha val="9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4" name="Rectangle 4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8942" y="6734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二、客运 · 现场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  <p:grpSp>
        <p:nvGrpSpPr>
          <p:cNvPr id="10" name="p05-claim"/>
          <p:cNvGrpSpPr/>
          <p:nvPr/>
        </p:nvGrpSpPr>
        <p:grpSpPr>
          <a:xfrm>
            <a:off x="670560" y="4629150"/>
            <a:ext cx="4787951" cy="1300734"/>
            <a:chOff x="670560" y="4629150"/>
            <a:chExt cx="4787951" cy="1300734"/>
          </a:xfrm>
        </p:grpSpPr>
        <p:sp>
          <p:nvSpPr>
            <p:cNvPr id="8" name="TextBox 8"/>
            <p:cNvSpPr txBox="1"/>
            <p:nvPr/>
          </p:nvSpPr>
          <p:spPr>
            <a:xfrm>
              <a:off x="670560" y="4629150"/>
              <a:ext cx="47879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43.12 亿人次,发生在这里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5234940"/>
              <a:ext cx="431596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平均每天约 1180 万人次通过全国铁路发送</a:t>
              </a:r>
              <a:br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(整理:按 431240 万人 ÷ 366 天测算)</a:t>
              </a:r>
            </a:p>
          </p:txBody>
        </p:sp>
      </p:grpSp>
      <p:grpSp>
        <p:nvGrpSpPr>
          <p:cNvPr id="13" name="p05-credit"/>
          <p:cNvGrpSpPr/>
          <p:nvPr/>
        </p:nvGrpSpPr>
        <p:grpSpPr>
          <a:xfrm>
            <a:off x="680085" y="6450806"/>
            <a:ext cx="10831830" cy="220028"/>
            <a:chOff x="680085" y="6450806"/>
            <a:chExt cx="10831830" cy="220028"/>
          </a:xfrm>
        </p:grpSpPr>
        <p:sp>
          <p:nvSpPr>
            <p:cNvPr id="11" name="TextBox 11"/>
            <p:cNvSpPr txBox="1"/>
            <p:nvPr/>
          </p:nvSpPr>
          <p:spPr>
            <a:xfrm>
              <a:off x="680085" y="64508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数据来源:国家铁路局《2024年铁道统计公报》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9585" y="6450806"/>
              <a:ext cx="5432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上海虹桥站候车大厅 摄影 Patrick Nagel · CC BY-SA 3.0 · Wikimedia Commons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三、货运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232760" cy="586740"/>
            <a:chOff x="670560" y="1104900"/>
            <a:chExt cx="62327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2327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51.75 亿吨:总量上行,周转量回落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159562" cy="410718"/>
            <a:chOff x="675132" y="1678305"/>
            <a:chExt cx="7159562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1595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货运总发送量连续六年上行,而总周转量比上年下降 1.6%</a:t>
              </a:r>
            </a:p>
          </p:txBody>
        </p:sp>
      </p:grpSp>
      <p:grpSp>
        <p:nvGrpSpPr>
          <p:cNvPr id="15" name="!!freight-mass"/>
          <p:cNvGrpSpPr/>
          <p:nvPr/>
        </p:nvGrpSpPr>
        <p:grpSpPr>
          <a:xfrm>
            <a:off x="666750" y="2247900"/>
            <a:ext cx="3714750" cy="1585151"/>
            <a:chOff x="666750" y="2247900"/>
            <a:chExt cx="3714750" cy="1585151"/>
          </a:xfrm>
        </p:grpSpPr>
        <p:sp>
          <p:nvSpPr>
            <p:cNvPr id="10" name="Rectangle 10"/>
            <p:cNvSpPr/>
            <p:nvPr/>
          </p:nvSpPr>
          <p:spPr>
            <a:xfrm>
              <a:off x="685800" y="2247900"/>
              <a:ext cx="36957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85800" y="2481262"/>
              <a:ext cx="342900" cy="278606"/>
            </a:xfrm>
            <a:custGeom>
              <a:avLst/>
              <a:gdLst/>
              <a:ahLst/>
              <a:cxnLst/>
              <a:rect l="l" t="t" r="r" b="b"/>
              <a:pathLst>
                <a:path w="342900" h="278606">
                  <a:moveTo>
                    <a:pt x="235744" y="0"/>
                  </a:moveTo>
                  <a:lnTo>
                    <a:pt x="0" y="0"/>
                  </a:lnTo>
                  <a:lnTo>
                    <a:pt x="0" y="235744"/>
                  </a:lnTo>
                  <a:lnTo>
                    <a:pt x="42862" y="235744"/>
                  </a:lnTo>
                  <a:cubicBezTo>
                    <a:pt x="42862" y="259417"/>
                    <a:pt x="62053" y="278606"/>
                    <a:pt x="85725" y="278606"/>
                  </a:cubicBezTo>
                  <a:cubicBezTo>
                    <a:pt x="109397" y="278606"/>
                    <a:pt x="128588" y="259417"/>
                    <a:pt x="128588" y="235744"/>
                  </a:cubicBezTo>
                  <a:lnTo>
                    <a:pt x="214312" y="235744"/>
                  </a:lnTo>
                  <a:cubicBezTo>
                    <a:pt x="214312" y="259417"/>
                    <a:pt x="233502" y="278606"/>
                    <a:pt x="257175" y="278606"/>
                  </a:cubicBezTo>
                  <a:cubicBezTo>
                    <a:pt x="280848" y="278606"/>
                    <a:pt x="300038" y="259417"/>
                    <a:pt x="300038" y="235744"/>
                  </a:cubicBezTo>
                  <a:lnTo>
                    <a:pt x="342900" y="235744"/>
                  </a:lnTo>
                  <a:lnTo>
                    <a:pt x="342900" y="128588"/>
                  </a:lnTo>
                  <a:cubicBezTo>
                    <a:pt x="342900" y="93079"/>
                    <a:pt x="314116" y="64294"/>
                    <a:pt x="278606" y="64294"/>
                  </a:cubicBezTo>
                  <a:lnTo>
                    <a:pt x="235744" y="64294"/>
                  </a:lnTo>
                  <a:lnTo>
                    <a:pt x="235744" y="0"/>
                  </a:lnTo>
                  <a:close/>
                  <a:moveTo>
                    <a:pt x="235744" y="107156"/>
                  </a:moveTo>
                  <a:lnTo>
                    <a:pt x="235744" y="150019"/>
                  </a:lnTo>
                  <a:lnTo>
                    <a:pt x="300038" y="150019"/>
                  </a:lnTo>
                  <a:lnTo>
                    <a:pt x="300038" y="107156"/>
                  </a:lnTo>
                  <a:lnTo>
                    <a:pt x="235744" y="1071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6142" y="255936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年货运总发送量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750" y="28727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51.75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35690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比上年增长 2.8%(增加 1.39 亿吨)</a:t>
              </a:r>
            </a:p>
          </p:txBody>
        </p:sp>
      </p:grpSp>
      <p:grpSp>
        <p:nvGrpSpPr>
          <p:cNvPr id="21" name="freight-turnover"/>
          <p:cNvGrpSpPr/>
          <p:nvPr/>
        </p:nvGrpSpPr>
        <p:grpSpPr>
          <a:xfrm>
            <a:off x="666750" y="4343400"/>
            <a:ext cx="3714750" cy="1775651"/>
            <a:chOff x="666750" y="4343400"/>
            <a:chExt cx="3714750" cy="1775651"/>
          </a:xfrm>
        </p:grpSpPr>
        <p:sp>
          <p:nvSpPr>
            <p:cNvPr id="16" name="Rectangle 16"/>
            <p:cNvSpPr/>
            <p:nvPr/>
          </p:nvSpPr>
          <p:spPr>
            <a:xfrm>
              <a:off x="685800" y="4343400"/>
              <a:ext cx="3695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8942" y="459771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年货运总周转量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750" y="4911090"/>
              <a:ext cx="3023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35861.90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560736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亿吨公里,比上年下降 1.6%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8942" y="58550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国家铁路 -0.2%,其他铁路 -14.1%</a:t>
              </a:r>
            </a:p>
          </p:txBody>
        </p:sp>
      </p:grpSp>
      <p:grpSp>
        <p:nvGrpSpPr>
          <p:cNvPr id="57" name="freight-sent-6y"/>
          <p:cNvGrpSpPr/>
          <p:nvPr/>
        </p:nvGrpSpPr>
        <p:grpSpPr>
          <a:xfrm>
            <a:off x="4822660" y="2349818"/>
            <a:ext cx="6512090" cy="3578733"/>
            <a:chOff x="4822660" y="2349818"/>
            <a:chExt cx="6512090" cy="3578733"/>
          </a:xfrm>
        </p:grpSpPr>
        <p:grpSp>
          <p:nvGrpSpPr>
            <p:cNvPr id="36" name="freight-sent-6y-chartArea"/>
            <p:cNvGrpSpPr/>
            <p:nvPr/>
          </p:nvGrpSpPr>
          <p:grpSpPr>
            <a:xfrm>
              <a:off x="5524500" y="2667000"/>
              <a:ext cx="5810250" cy="2867025"/>
              <a:chOff x="5524500" y="2667000"/>
              <a:chExt cx="5810250" cy="2867025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5524500" y="266700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5524500" y="314325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5524500" y="361950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5524500" y="409575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5524500" y="457200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5524500" y="504825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5524500" y="2667000"/>
                <a:ext cx="9525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0">
                    <a:moveTo>
                      <a:pt x="0" y="0"/>
                    </a:moveTo>
                    <a:lnTo>
                      <a:pt x="0" y="285750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524500" y="5524500"/>
                <a:ext cx="5810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10250" h="9525">
                    <a:moveTo>
                      <a:pt x="0" y="0"/>
                    </a:moveTo>
                    <a:lnTo>
                      <a:pt x="5810250" y="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5751481" y="3423190"/>
                <a:ext cx="514350" cy="210131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719888" y="3356420"/>
                <a:ext cx="514350" cy="216808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7688294" y="3250978"/>
                <a:ext cx="514350" cy="227352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656606" y="3150775"/>
                <a:ext cx="514350" cy="2373725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625012" y="3126391"/>
                <a:ext cx="514350" cy="239810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10593419" y="3060002"/>
                <a:ext cx="514350" cy="246449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4831842" y="2349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22437" y="5435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22660" y="49596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22660" y="44834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22660" y="40071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22660" y="3530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400000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22660" y="30546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500000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22660" y="25784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600000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701932" y="3182207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441213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0338" y="3115437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455236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38745" y="3009995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477372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7057" y="2909792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498424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75463" y="288540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503535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543870" y="2819019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517477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11019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2019年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79425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7832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2021年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16144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2022年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84550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2023年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52957" y="56645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2024年</a:t>
              </a:r>
            </a:p>
          </p:txBody>
        </p:sp>
      </p:grpSp>
      <p:grpSp>
        <p:nvGrpSpPr>
          <p:cNvPr id="60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58" name="Rectangle 58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80085" y="6431756"/>
              <a:ext cx="8477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 · 全国铁路货运总发送量图(公报第 3 页)、全国铁路货物运输量表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8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三、货运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110029" cy="586740"/>
            <a:chOff x="670560" y="1104900"/>
            <a:chExt cx="511002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1100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煤仍占大头,集装箱增长最快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343318" cy="410718"/>
            <a:chOff x="675132" y="1678305"/>
            <a:chExt cx="734331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3433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六大品类合计 48.52 亿吨;品类名后的百分比为比上年增减</a:t>
              </a:r>
            </a:p>
          </p:txBody>
        </p:sp>
      </p:grpSp>
      <p:grpSp>
        <p:nvGrpSpPr>
          <p:cNvPr id="12" name="!!freight-mass"/>
          <p:cNvGrpSpPr/>
          <p:nvPr/>
        </p:nvGrpSpPr>
        <p:grpSpPr>
          <a:xfrm>
            <a:off x="673608" y="2311718"/>
            <a:ext cx="1745552" cy="698944"/>
            <a:chOff x="673608" y="2311718"/>
            <a:chExt cx="1745552" cy="698944"/>
          </a:xfrm>
        </p:grpSpPr>
        <p:sp>
          <p:nvSpPr>
            <p:cNvPr id="10" name="TextBox 10"/>
            <p:cNvSpPr txBox="1"/>
            <p:nvPr/>
          </p:nvSpPr>
          <p:spPr>
            <a:xfrm>
              <a:off x="678942" y="231171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年货运总发送量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2541270"/>
              <a:ext cx="17052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51.75 亿吨</a:t>
              </a:r>
            </a:p>
          </p:txBody>
        </p:sp>
      </p:grpSp>
      <p:grpSp>
        <p:nvGrpSpPr>
          <p:cNvPr id="19" name="category-icons"/>
          <p:cNvGrpSpPr/>
          <p:nvPr/>
        </p:nvGrpSpPr>
        <p:grpSpPr>
          <a:xfrm>
            <a:off x="742950" y="3371850"/>
            <a:ext cx="266700" cy="2295525"/>
            <a:chOff x="742950" y="3371850"/>
            <a:chExt cx="266700" cy="2295525"/>
          </a:xfrm>
        </p:grpSpPr>
        <p:sp>
          <p:nvSpPr>
            <p:cNvPr id="13" name="Freeform 13"/>
            <p:cNvSpPr/>
            <p:nvPr/>
          </p:nvSpPr>
          <p:spPr>
            <a:xfrm>
              <a:off x="742950" y="3371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42950" y="37909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0" y="0"/>
                  </a:moveTo>
                  <a:lnTo>
                    <a:pt x="57150" y="0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95250"/>
                  </a:lnTo>
                  <a:lnTo>
                    <a:pt x="209550" y="0"/>
                  </a:lnTo>
                  <a:lnTo>
                    <a:pt x="152400" y="0"/>
                  </a:lnTo>
                  <a:lnTo>
                    <a:pt x="152400" y="95250"/>
                  </a:lnTo>
                  <a:lnTo>
                    <a:pt x="11430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42950" y="421005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62000" y="4572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95250" y="0"/>
                  </a:moveTo>
                  <a:lnTo>
                    <a:pt x="18002" y="123597"/>
                  </a:lnTo>
                  <a:cubicBezTo>
                    <a:pt x="6238" y="142420"/>
                    <a:pt x="0" y="164169"/>
                    <a:pt x="0" y="186366"/>
                  </a:cubicBezTo>
                  <a:lnTo>
                    <a:pt x="0" y="190500"/>
                  </a:lnTo>
                  <a:cubicBezTo>
                    <a:pt x="0" y="253626"/>
                    <a:pt x="51174" y="304800"/>
                    <a:pt x="114300" y="304800"/>
                  </a:cubicBezTo>
                  <a:cubicBezTo>
                    <a:pt x="177426" y="304800"/>
                    <a:pt x="228600" y="253626"/>
                    <a:pt x="228600" y="190500"/>
                  </a:cubicBezTo>
                  <a:lnTo>
                    <a:pt x="228600" y="186366"/>
                  </a:lnTo>
                  <a:cubicBezTo>
                    <a:pt x="228600" y="164169"/>
                    <a:pt x="222363" y="142420"/>
                    <a:pt x="210598" y="123597"/>
                  </a:cubicBezTo>
                  <a:lnTo>
                    <a:pt x="133350" y="0"/>
                  </a:lnTo>
                  <a:lnTo>
                    <a:pt x="95250" y="0"/>
                  </a:lnTo>
                  <a:close/>
                  <a:moveTo>
                    <a:pt x="152400" y="190500"/>
                  </a:moveTo>
                  <a:cubicBezTo>
                    <a:pt x="152400" y="211543"/>
                    <a:pt x="135342" y="228600"/>
                    <a:pt x="114300" y="228600"/>
                  </a:cubicBezTo>
                  <a:lnTo>
                    <a:pt x="114300" y="266700"/>
                  </a:lnTo>
                  <a:cubicBezTo>
                    <a:pt x="156383" y="266700"/>
                    <a:pt x="190500" y="232583"/>
                    <a:pt x="190500" y="190500"/>
                  </a:cubicBezTo>
                  <a:lnTo>
                    <a:pt x="15240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42950" y="4991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38100"/>
                  </a:moveTo>
                  <a:cubicBezTo>
                    <a:pt x="266700" y="87917"/>
                    <a:pt x="234829" y="130291"/>
                    <a:pt x="190365" y="145944"/>
                  </a:cubicBezTo>
                  <a:cubicBezTo>
                    <a:pt x="178487" y="150125"/>
                    <a:pt x="165709" y="152400"/>
                    <a:pt x="152400" y="152400"/>
                  </a:cubicBezTo>
                  <a:lnTo>
                    <a:pt x="152400" y="228600"/>
                  </a:lnTo>
                  <a:lnTo>
                    <a:pt x="228600" y="228600"/>
                  </a:lnTo>
                  <a:lnTo>
                    <a:pt x="228600" y="266700"/>
                  </a:lnTo>
                  <a:lnTo>
                    <a:pt x="38100" y="266700"/>
                  </a:lnTo>
                  <a:lnTo>
                    <a:pt x="38100" y="228600"/>
                  </a:lnTo>
                  <a:lnTo>
                    <a:pt x="114300" y="228600"/>
                  </a:lnTo>
                  <a:lnTo>
                    <a:pt x="114300" y="190500"/>
                  </a:lnTo>
                  <a:cubicBezTo>
                    <a:pt x="51174" y="190500"/>
                    <a:pt x="0" y="139326"/>
                    <a:pt x="0" y="76200"/>
                  </a:cubicBezTo>
                  <a:lnTo>
                    <a:pt x="0" y="38100"/>
                  </a:lnTo>
                  <a:lnTo>
                    <a:pt x="38100" y="38100"/>
                  </a:lnTo>
                  <a:cubicBezTo>
                    <a:pt x="71002" y="38100"/>
                    <a:pt x="100658" y="52002"/>
                    <a:pt x="121512" y="74253"/>
                  </a:cubicBezTo>
                  <a:cubicBezTo>
                    <a:pt x="132202" y="85658"/>
                    <a:pt x="140579" y="99256"/>
                    <a:pt x="145896" y="114300"/>
                  </a:cubicBezTo>
                  <a:lnTo>
                    <a:pt x="152400" y="114300"/>
                  </a:lnTo>
                  <a:cubicBezTo>
                    <a:pt x="163592" y="114300"/>
                    <a:pt x="174222" y="111887"/>
                    <a:pt x="183794" y="107553"/>
                  </a:cubicBezTo>
                  <a:cubicBezTo>
                    <a:pt x="175782" y="81491"/>
                    <a:pt x="160967" y="58407"/>
                    <a:pt x="141424" y="40372"/>
                  </a:cubicBezTo>
                  <a:cubicBezTo>
                    <a:pt x="162390" y="15673"/>
                    <a:pt x="193664" y="0"/>
                    <a:pt x="228600" y="0"/>
                  </a:cubicBezTo>
                  <a:lnTo>
                    <a:pt x="266700" y="0"/>
                  </a:lnTo>
                  <a:lnTo>
                    <a:pt x="266700" y="381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62000" y="5381625"/>
              <a:ext cx="247650" cy="285750"/>
            </a:xfrm>
            <a:custGeom>
              <a:avLst/>
              <a:gdLst/>
              <a:ahLst/>
              <a:cxnLst/>
              <a:rect l="l" t="t" r="r" b="b"/>
              <a:pathLst>
                <a:path w="247650" h="285750">
                  <a:moveTo>
                    <a:pt x="190500" y="0"/>
                  </a:moveTo>
                  <a:cubicBezTo>
                    <a:pt x="85290" y="0"/>
                    <a:pt x="0" y="76761"/>
                    <a:pt x="0" y="171450"/>
                  </a:cubicBezTo>
                  <a:lnTo>
                    <a:pt x="0" y="285750"/>
                  </a:lnTo>
                  <a:lnTo>
                    <a:pt x="38100" y="285750"/>
                  </a:lnTo>
                  <a:lnTo>
                    <a:pt x="38100" y="182609"/>
                  </a:lnTo>
                  <a:lnTo>
                    <a:pt x="119880" y="100829"/>
                  </a:lnTo>
                  <a:lnTo>
                    <a:pt x="146820" y="127770"/>
                  </a:lnTo>
                  <a:lnTo>
                    <a:pt x="76200" y="198391"/>
                  </a:lnTo>
                  <a:lnTo>
                    <a:pt x="76200" y="246804"/>
                  </a:lnTo>
                  <a:cubicBezTo>
                    <a:pt x="172465" y="238201"/>
                    <a:pt x="247650" y="165103"/>
                    <a:pt x="247650" y="76200"/>
                  </a:cubicBezTo>
                  <a:lnTo>
                    <a:pt x="247650" y="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9" name="freight-category-2024"/>
          <p:cNvGrpSpPr/>
          <p:nvPr/>
        </p:nvGrpSpPr>
        <p:grpSpPr>
          <a:xfrm>
            <a:off x="1256062" y="3149918"/>
            <a:ext cx="8956662" cy="2931033"/>
            <a:chOff x="1256062" y="3149918"/>
            <a:chExt cx="8956662" cy="2931033"/>
          </a:xfrm>
        </p:grpSpPr>
        <p:grpSp>
          <p:nvGrpSpPr>
            <p:cNvPr id="31" name="freight-category-2024-chartArea"/>
            <p:cNvGrpSpPr/>
            <p:nvPr/>
          </p:nvGrpSpPr>
          <p:grpSpPr>
            <a:xfrm>
              <a:off x="2857500" y="3333750"/>
              <a:ext cx="7058025" cy="2390775"/>
              <a:chOff x="2857500" y="3333750"/>
              <a:chExt cx="7058025" cy="2390775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5207032" y="33337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7556468" y="33337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9906000" y="33337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2857500" y="33337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2857500" y="5715000"/>
                <a:ext cx="704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48500" h="9525">
                    <a:moveTo>
                      <a:pt x="0" y="0"/>
                    </a:moveTo>
                    <a:lnTo>
                      <a:pt x="7048500" y="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2857500" y="3408331"/>
                <a:ext cx="6634162" cy="2476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2857500" y="3805238"/>
                <a:ext cx="2146744" cy="2476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857500" y="4202144"/>
                <a:ext cx="2061115" cy="2476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857500" y="4598956"/>
                <a:ext cx="312992" cy="2476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2857500" y="4995862"/>
                <a:ext cx="132493" cy="2476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857500" y="5392769"/>
                <a:ext cx="111919" cy="2476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535668" y="3149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万吨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83010" y="3443573"/>
              <a:ext cx="786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煤 +1.5%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9580" y="3840480"/>
              <a:ext cx="1249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集装箱 +15.5%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37799" y="4237387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冶炼物资 -3.6%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01273" y="463419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石油 +2.1%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01317" y="5031105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粮食 -17.6%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56062" y="5428012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化肥及农药 -5.2%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80054" y="3443573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282365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92636" y="3840480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91371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07007" y="4237387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87726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58884" y="463419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13322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078385" y="5031105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5640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57811" y="542801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4765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00664" y="58169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00308" y="5816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49744" y="5816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99276" y="58169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300000</a:t>
              </a:r>
            </a:p>
          </p:txBody>
        </p:sp>
      </p:grpSp>
      <p:grpSp>
        <p:nvGrpSpPr>
          <p:cNvPr id="52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50" name="Rectangle 50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0085" y="6431756"/>
              <a:ext cx="7527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数据来源:国家铁路局《2024年铁道统计公报》表「全国铁路主要品类运量」(公报第 4 页)· 六大品类合计为整理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三、货运 · 换算周转量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7211111" cy="586740"/>
            <a:chOff x="670560" y="1104900"/>
            <a:chExt cx="7211111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72111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51661 亿吨公里:总换算周转量小幅上行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583615" cy="410718"/>
            <a:chOff x="675132" y="1678305"/>
            <a:chExt cx="7583615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5836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比上年增长 0.9%;国家铁路增长 2.1%,其他铁路下降 13.8%</a:t>
              </a:r>
            </a:p>
          </p:txBody>
        </p:sp>
      </p:grpSp>
      <p:grpSp>
        <p:nvGrpSpPr>
          <p:cNvPr id="40" name="converted-turnover-6y"/>
          <p:cNvGrpSpPr/>
          <p:nvPr/>
        </p:nvGrpSpPr>
        <p:grpSpPr>
          <a:xfrm>
            <a:off x="831342" y="2445068"/>
            <a:ext cx="6705295" cy="3292983"/>
            <a:chOff x="831342" y="2445068"/>
            <a:chExt cx="6705295" cy="3292983"/>
          </a:xfrm>
        </p:grpSpPr>
        <p:grpSp>
          <p:nvGrpSpPr>
            <p:cNvPr id="19" name="converted-turnover-6y-chartArea"/>
            <p:cNvGrpSpPr/>
            <p:nvPr/>
          </p:nvGrpSpPr>
          <p:grpSpPr>
            <a:xfrm>
              <a:off x="1524000" y="2762250"/>
              <a:ext cx="5715000" cy="2581275"/>
              <a:chOff x="1524000" y="2762250"/>
              <a:chExt cx="5715000" cy="258127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524000" y="276225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524000" y="319087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524000" y="361950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524000" y="404812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524000" y="447675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524000" y="4905375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524000" y="2762250"/>
                <a:ext cx="9525" cy="257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71750">
                    <a:moveTo>
                      <a:pt x="0" y="0"/>
                    </a:moveTo>
                    <a:lnTo>
                      <a:pt x="0" y="257175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524000" y="5334000"/>
                <a:ext cx="571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9525">
                    <a:moveTo>
                      <a:pt x="0" y="0"/>
                    </a:moveTo>
                    <a:lnTo>
                      <a:pt x="5715000" y="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524000" y="3119723"/>
                <a:ext cx="5715000" cy="2214277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2214277">
                    <a:moveTo>
                      <a:pt x="0" y="288703"/>
                    </a:moveTo>
                    <a:lnTo>
                      <a:pt x="1143000" y="552069"/>
                    </a:lnTo>
                    <a:lnTo>
                      <a:pt x="2286000" y="379476"/>
                    </a:lnTo>
                    <a:lnTo>
                      <a:pt x="3429000" y="391668"/>
                    </a:lnTo>
                    <a:lnTo>
                      <a:pt x="4572000" y="20098"/>
                    </a:lnTo>
                    <a:lnTo>
                      <a:pt x="5715000" y="0"/>
                    </a:lnTo>
                    <a:lnTo>
                      <a:pt x="5715000" y="2214277"/>
                    </a:lnTo>
                    <a:lnTo>
                      <a:pt x="0" y="221427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831342" y="24450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亿吨公里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1937" y="5245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2115" y="48167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22115" y="43881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2115" y="39595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2115" y="35309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2115" y="310229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50000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2115" y="26736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60000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12392" y="3148393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44924.00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60321" y="3411760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38780.65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03321" y="3239167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42805.81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46321" y="3251359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42523.22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89321" y="2879788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51189.74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7249" y="2859691"/>
              <a:ext cx="813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51661.00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6363" y="54740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2019年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69363" y="54740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12363" y="54740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2021年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5363" y="54740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2022年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98363" y="54740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2023年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1363" y="5474018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2024年</a:t>
              </a:r>
            </a:p>
          </p:txBody>
        </p:sp>
      </p:grpSp>
      <p:grpSp>
        <p:nvGrpSpPr>
          <p:cNvPr id="50" name="ceb-block"/>
          <p:cNvGrpSpPr/>
          <p:nvPr/>
        </p:nvGrpSpPr>
        <p:grpSpPr>
          <a:xfrm>
            <a:off x="7715250" y="2247900"/>
            <a:ext cx="3790950" cy="1585151"/>
            <a:chOff x="7715250" y="2247900"/>
            <a:chExt cx="3790950" cy="1585151"/>
          </a:xfrm>
        </p:grpSpPr>
        <p:sp>
          <p:nvSpPr>
            <p:cNvPr id="41" name="Rectangle 41"/>
            <p:cNvSpPr/>
            <p:nvPr/>
          </p:nvSpPr>
          <p:spPr>
            <a:xfrm>
              <a:off x="7734300" y="2247900"/>
              <a:ext cx="37719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735479" y="2438400"/>
              <a:ext cx="302442" cy="304800"/>
              <a:chOff x="7735479" y="2438400"/>
              <a:chExt cx="302442" cy="304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735479" y="2501418"/>
                <a:ext cx="302442" cy="70332"/>
              </a:xfrm>
              <a:custGeom>
                <a:avLst/>
                <a:gdLst/>
                <a:ahLst/>
                <a:cxnLst/>
                <a:rect l="l" t="t" r="r" b="b"/>
                <a:pathLst>
                  <a:path w="302442" h="70332">
                    <a:moveTo>
                      <a:pt x="27771" y="0"/>
                    </a:moveTo>
                    <a:cubicBezTo>
                      <a:pt x="13078" y="20258"/>
                      <a:pt x="3249" y="44274"/>
                      <a:pt x="0" y="70332"/>
                    </a:cubicBezTo>
                    <a:lnTo>
                      <a:pt x="302442" y="70332"/>
                    </a:lnTo>
                    <a:cubicBezTo>
                      <a:pt x="299192" y="44274"/>
                      <a:pt x="289364" y="20258"/>
                      <a:pt x="274671" y="0"/>
                    </a:cubicBezTo>
                    <a:cubicBezTo>
                      <a:pt x="273878" y="444"/>
                      <a:pt x="273074" y="888"/>
                      <a:pt x="272261" y="1331"/>
                    </a:cubicBezTo>
                    <a:cubicBezTo>
                      <a:pt x="243964" y="16766"/>
                      <a:pt x="202742" y="32232"/>
                      <a:pt x="151220" y="32232"/>
                    </a:cubicBezTo>
                    <a:cubicBezTo>
                      <a:pt x="99700" y="32232"/>
                      <a:pt x="58476" y="16766"/>
                      <a:pt x="30179" y="1331"/>
                    </a:cubicBezTo>
                    <a:cubicBezTo>
                      <a:pt x="29366" y="888"/>
                      <a:pt x="28563" y="444"/>
                      <a:pt x="277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90379" y="2438400"/>
                <a:ext cx="19264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92642" h="57150">
                    <a:moveTo>
                      <a:pt x="192642" y="34292"/>
                    </a:moveTo>
                    <a:cubicBezTo>
                      <a:pt x="168929" y="46205"/>
                      <a:pt x="136279" y="57150"/>
                      <a:pt x="96321" y="57150"/>
                    </a:cubicBezTo>
                    <a:cubicBezTo>
                      <a:pt x="56363" y="57150"/>
                      <a:pt x="23714" y="46206"/>
                      <a:pt x="0" y="34292"/>
                    </a:cubicBezTo>
                    <a:cubicBezTo>
                      <a:pt x="26253" y="12857"/>
                      <a:pt x="59786" y="0"/>
                      <a:pt x="96321" y="0"/>
                    </a:cubicBezTo>
                    <a:cubicBezTo>
                      <a:pt x="132857" y="0"/>
                      <a:pt x="166389" y="12856"/>
                      <a:pt x="192642" y="342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35479" y="2609850"/>
                <a:ext cx="302442" cy="70333"/>
              </a:xfrm>
              <a:custGeom>
                <a:avLst/>
                <a:gdLst/>
                <a:ahLst/>
                <a:cxnLst/>
                <a:rect l="l" t="t" r="r" b="b"/>
                <a:pathLst>
                  <a:path w="302442" h="70333">
                    <a:moveTo>
                      <a:pt x="0" y="0"/>
                    </a:moveTo>
                    <a:cubicBezTo>
                      <a:pt x="3249" y="26058"/>
                      <a:pt x="13078" y="50075"/>
                      <a:pt x="27771" y="70333"/>
                    </a:cubicBezTo>
                    <a:cubicBezTo>
                      <a:pt x="28563" y="69889"/>
                      <a:pt x="29367" y="69445"/>
                      <a:pt x="30180" y="69001"/>
                    </a:cubicBezTo>
                    <a:cubicBezTo>
                      <a:pt x="58476" y="53567"/>
                      <a:pt x="99700" y="38100"/>
                      <a:pt x="151221" y="38100"/>
                    </a:cubicBezTo>
                    <a:cubicBezTo>
                      <a:pt x="202742" y="38100"/>
                      <a:pt x="243966" y="53567"/>
                      <a:pt x="272261" y="69001"/>
                    </a:cubicBezTo>
                    <a:cubicBezTo>
                      <a:pt x="273076" y="69445"/>
                      <a:pt x="273878" y="69889"/>
                      <a:pt x="274671" y="70333"/>
                    </a:cubicBezTo>
                    <a:cubicBezTo>
                      <a:pt x="289364" y="50075"/>
                      <a:pt x="299192" y="26058"/>
                      <a:pt x="30244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90379" y="2686050"/>
                <a:ext cx="19264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92642" h="57150">
                    <a:moveTo>
                      <a:pt x="96321" y="57150"/>
                    </a:moveTo>
                    <a:cubicBezTo>
                      <a:pt x="59786" y="57150"/>
                      <a:pt x="26253" y="44293"/>
                      <a:pt x="0" y="22858"/>
                    </a:cubicBezTo>
                    <a:cubicBezTo>
                      <a:pt x="23714" y="10944"/>
                      <a:pt x="56364" y="0"/>
                      <a:pt x="96321" y="0"/>
                    </a:cubicBezTo>
                    <a:cubicBezTo>
                      <a:pt x="136279" y="0"/>
                      <a:pt x="168928" y="10944"/>
                      <a:pt x="192642" y="22858"/>
                    </a:cubicBezTo>
                    <a:cubicBezTo>
                      <a:pt x="166389" y="44293"/>
                      <a:pt x="132857" y="57150"/>
                      <a:pt x="96321" y="571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146542" y="2540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中欧班列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5250" y="2872740"/>
              <a:ext cx="18078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1.9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27442" y="3569018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发送货物 207 万标箱,分别增长 10%、9%</a:t>
              </a:r>
            </a:p>
          </p:txBody>
        </p:sp>
      </p:grpSp>
      <p:grpSp>
        <p:nvGrpSpPr>
          <p:cNvPr id="56" name="wsl-block"/>
          <p:cNvGrpSpPr/>
          <p:nvPr/>
        </p:nvGrpSpPr>
        <p:grpSpPr>
          <a:xfrm>
            <a:off x="7715250" y="4248150"/>
            <a:ext cx="3790950" cy="1585151"/>
            <a:chOff x="7715250" y="4248150"/>
            <a:chExt cx="3790950" cy="1585151"/>
          </a:xfrm>
        </p:grpSpPr>
        <p:sp>
          <p:nvSpPr>
            <p:cNvPr id="51" name="Rectangle 51"/>
            <p:cNvSpPr/>
            <p:nvPr/>
          </p:nvSpPr>
          <p:spPr>
            <a:xfrm>
              <a:off x="7734300" y="4248150"/>
              <a:ext cx="37719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753350" y="44577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0" y="0"/>
                  </a:moveTo>
                  <a:lnTo>
                    <a:pt x="57150" y="0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95250"/>
                  </a:lnTo>
                  <a:lnTo>
                    <a:pt x="209550" y="0"/>
                  </a:lnTo>
                  <a:lnTo>
                    <a:pt x="152400" y="0"/>
                  </a:lnTo>
                  <a:lnTo>
                    <a:pt x="152400" y="95250"/>
                  </a:lnTo>
                  <a:lnTo>
                    <a:pt x="11430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46542" y="4540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西部陆海新通道班列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15250" y="4872990"/>
              <a:ext cx="171735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96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万标箱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27442" y="55692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发送货物比上年增长 11%</a:t>
              </a:r>
            </a:p>
          </p:txBody>
        </p:sp>
      </p:grpSp>
      <p:grpSp>
        <p:nvGrpSpPr>
          <p:cNvPr id="59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57" name="Rectangle 57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0085" y="6431756"/>
              <a:ext cx="851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 · 全国铁路总换算周转量图(公报第 5 页)、重点运输(公报第 4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17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5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xmlns:p="http://schemas.openxmlformats.org/presentationml/2006/main" id="24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5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四、运输装备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655803" cy="586740"/>
            <a:chOff x="670560" y="1104900"/>
            <a:chExt cx="665580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6558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101.9 万辆货车,4806 标准组动车组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4544568" cy="410718"/>
            <a:chOff x="675132" y="1678305"/>
            <a:chExt cx="454456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电力机车已占机车拥有量的三分之二</a:t>
              </a:r>
            </a:p>
          </p:txBody>
        </p:sp>
      </p:grpSp>
      <p:grpSp>
        <p:nvGrpSpPr>
          <p:cNvPr id="27" name="equipment-table"/>
          <p:cNvGrpSpPr/>
          <p:nvPr/>
        </p:nvGrpSpPr>
        <p:grpSpPr>
          <a:xfrm>
            <a:off x="685800" y="2247900"/>
            <a:ext cx="10820400" cy="1710309"/>
            <a:chOff x="685800" y="2247900"/>
            <a:chExt cx="10820400" cy="1710309"/>
          </a:xfrm>
        </p:grpSpPr>
        <p:sp>
          <p:nvSpPr>
            <p:cNvPr id="10" name="Rectangle 10"/>
            <p:cNvSpPr/>
            <p:nvPr/>
          </p:nvSpPr>
          <p:spPr>
            <a:xfrm>
              <a:off x="685800" y="2247900"/>
              <a:ext cx="108204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9056" y="23107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00412" y="2310765"/>
              <a:ext cx="1623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2024 年拥有量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10556" y="23107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构成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067050"/>
              <a:ext cx="108204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9056" y="27298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85044" y="2729865"/>
              <a:ext cx="1139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2.25 万台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10556" y="2729865"/>
              <a:ext cx="4416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内燃机车 0.78 万台;电力机车 1.47 万台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056" y="31680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24982" y="3168015"/>
              <a:ext cx="999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8.1 万辆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10556" y="3168015"/>
              <a:ext cx="3858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其中动车组 4806 标准组、38448 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6061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45107" y="3606165"/>
              <a:ext cx="12789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101.9 万辆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10556" y="360616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公报未列分项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" y="3067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85800" y="3505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85800" y="3943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equipment-note"/>
          <p:cNvGrpSpPr/>
          <p:nvPr/>
        </p:nvGrpSpPr>
        <p:grpSpPr>
          <a:xfrm>
            <a:off x="678942" y="4064318"/>
            <a:ext cx="6038298" cy="264033"/>
            <a:chOff x="678942" y="4064318"/>
            <a:chExt cx="6038298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678942" y="4064318"/>
              <a:ext cx="6038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注:电力机车 1.47 万台约占机车拥有量的 65%(整理,由公报两项数值计算)</a:t>
              </a:r>
            </a:p>
          </p:txBody>
        </p:sp>
      </p:grpSp>
      <p:grpSp>
        <p:nvGrpSpPr>
          <p:cNvPr id="33" name="p09-interior-photo"/>
          <p:cNvGrpSpPr/>
          <p:nvPr/>
        </p:nvGrpSpPr>
        <p:grpSpPr>
          <a:xfrm>
            <a:off x="685800" y="4476750"/>
            <a:ext cx="10820400" cy="1584484"/>
            <a:chOff x="685800" y="4476750"/>
            <a:chExt cx="10820400" cy="1584484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rcRect l="0" t="39040" r="0" b="39041"/>
            <a:stretch>
              <a:fillRect/>
            </a:stretch>
          </p:blipFill>
          <p:spPr>
            <a:xfrm>
              <a:off x="685800" y="4476750"/>
              <a:ext cx="10820400" cy="1581150"/>
            </a:xfrm>
            <a:prstGeom prst="rect">
              <a:avLst/>
            </a:prstGeom>
          </p:spPr>
        </p:pic>
        <p:sp>
          <p:nvSpPr>
            <p:cNvPr id="31" name="Rectangle 31"/>
            <p:cNvSpPr/>
            <p:nvPr/>
          </p:nvSpPr>
          <p:spPr>
            <a:xfrm>
              <a:off x="685800" y="5638800"/>
              <a:ext cx="108204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63360" y="5841206"/>
              <a:ext cx="5134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复兴号商务座车厢内景 摄影 N509FZ · CC BY-SA 4.0 · Wikimedia Commons</a:t>
              </a:r>
            </a:p>
          </p:txBody>
        </p:sp>
      </p:grpSp>
      <p:grpSp>
        <p:nvGrpSpPr>
          <p:cNvPr id="36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34" name="Rectangle 34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085" y="6431756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数据来源:国家铁路局《2024年铁道统计公报》三、运输装备(公报第 5—6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五、路网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316561" cy="586740"/>
            <a:chOff x="670560" y="1104900"/>
            <a:chExt cx="6316561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31656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16.2 万公里,其中高铁 4.8 万公里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184240" cy="410718"/>
            <a:chOff x="675132" y="1678305"/>
            <a:chExt cx="6184240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184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高铁约占全国营业里程的三成,电化率已达 76.2%</a:t>
              </a:r>
            </a:p>
          </p:txBody>
        </p:sp>
      </p:grpSp>
      <p:grpSp>
        <p:nvGrpSpPr>
          <p:cNvPr id="13" name="p10-bridge-photo"/>
          <p:cNvGrpSpPr/>
          <p:nvPr/>
        </p:nvGrpSpPr>
        <p:grpSpPr>
          <a:xfrm>
            <a:off x="685800" y="2247900"/>
            <a:ext cx="10820400" cy="1374934"/>
            <a:chOff x="685800" y="2247900"/>
            <a:chExt cx="10820400" cy="137493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8722" r="0" b="38722"/>
            <a:stretch>
              <a:fillRect/>
            </a:stretch>
          </p:blipFill>
          <p:spPr>
            <a:xfrm>
              <a:off x="685800" y="2247900"/>
              <a:ext cx="10820400" cy="1371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3200400"/>
              <a:ext cx="108204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57219" y="3402806"/>
              <a:ext cx="504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丹昆特大桥(无锡段) 摄影 MNXANL · CC BY-SA 4.0 · Wikimedia Commons</a:t>
              </a:r>
            </a:p>
          </p:txBody>
        </p:sp>
      </p:grpSp>
      <p:grpSp>
        <p:nvGrpSpPr>
          <p:cNvPr id="17" name="network-total"/>
          <p:cNvGrpSpPr/>
          <p:nvPr/>
        </p:nvGrpSpPr>
        <p:grpSpPr>
          <a:xfrm>
            <a:off x="666750" y="4007168"/>
            <a:ext cx="2733789" cy="1311783"/>
            <a:chOff x="666750" y="4007168"/>
            <a:chExt cx="2733789" cy="1311783"/>
          </a:xfrm>
        </p:grpSpPr>
        <p:sp>
          <p:nvSpPr>
            <p:cNvPr id="14" name="TextBox 14"/>
            <p:cNvSpPr txBox="1"/>
            <p:nvPr/>
          </p:nvSpPr>
          <p:spPr>
            <a:xfrm>
              <a:off x="678942" y="4007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全国铁路营业里程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750" y="4339590"/>
              <a:ext cx="246368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16.2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万公里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054918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路网密度 168.5 公里/万平方公里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381500" y="3848100"/>
            <a:ext cx="342900" cy="2209800"/>
          </a:xfrm>
          <a:prstGeom prst="leftBrace">
            <a:avLst/>
          </a:prstGeom>
          <a:noFill/>
          <a:ln w="19050">
            <a:solidFill>
              <a:schemeClr val="accent3"/>
            </a:solidFill>
          </a:ln>
        </p:spPr>
      </p:sp>
      <p:grpSp>
        <p:nvGrpSpPr>
          <p:cNvPr id="22" name="network-hsr"/>
          <p:cNvGrpSpPr/>
          <p:nvPr/>
        </p:nvGrpSpPr>
        <p:grpSpPr>
          <a:xfrm>
            <a:off x="4940808" y="3905250"/>
            <a:ext cx="1853946" cy="915162"/>
            <a:chOff x="4940808" y="3905250"/>
            <a:chExt cx="1853946" cy="915162"/>
          </a:xfrm>
        </p:grpSpPr>
        <p:sp>
          <p:nvSpPr>
            <p:cNvPr id="19" name="Freeform 19"/>
            <p:cNvSpPr/>
            <p:nvPr/>
          </p:nvSpPr>
          <p:spPr>
            <a:xfrm>
              <a:off x="4988719" y="390525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0" y="53578"/>
                  </a:moveTo>
                  <a:cubicBezTo>
                    <a:pt x="0" y="23988"/>
                    <a:pt x="23988" y="0"/>
                    <a:pt x="53578" y="0"/>
                  </a:cubicBezTo>
                  <a:lnTo>
                    <a:pt x="160734" y="0"/>
                  </a:lnTo>
                  <a:cubicBezTo>
                    <a:pt x="190326" y="0"/>
                    <a:pt x="214312" y="23988"/>
                    <a:pt x="214312" y="53578"/>
                  </a:cubicBezTo>
                  <a:lnTo>
                    <a:pt x="214312" y="196453"/>
                  </a:lnTo>
                  <a:cubicBezTo>
                    <a:pt x="214312" y="218034"/>
                    <a:pt x="201552" y="236637"/>
                    <a:pt x="183164" y="245125"/>
                  </a:cubicBezTo>
                  <a:lnTo>
                    <a:pt x="200575" y="285750"/>
                  </a:lnTo>
                  <a:lnTo>
                    <a:pt x="161715" y="285750"/>
                  </a:lnTo>
                  <a:lnTo>
                    <a:pt x="146406" y="250031"/>
                  </a:lnTo>
                  <a:lnTo>
                    <a:pt x="67906" y="250031"/>
                  </a:lnTo>
                  <a:lnTo>
                    <a:pt x="52598" y="285750"/>
                  </a:lnTo>
                  <a:lnTo>
                    <a:pt x="13737" y="285750"/>
                  </a:lnTo>
                  <a:lnTo>
                    <a:pt x="31148" y="245123"/>
                  </a:lnTo>
                  <a:cubicBezTo>
                    <a:pt x="12760" y="236637"/>
                    <a:pt x="0" y="218034"/>
                    <a:pt x="0" y="196453"/>
                  </a:cubicBezTo>
                  <a:lnTo>
                    <a:pt x="0" y="53578"/>
                  </a:lnTo>
                  <a:close/>
                  <a:moveTo>
                    <a:pt x="35719" y="53578"/>
                  </a:moveTo>
                  <a:lnTo>
                    <a:pt x="89297" y="53578"/>
                  </a:lnTo>
                  <a:lnTo>
                    <a:pt x="89297" y="125016"/>
                  </a:lnTo>
                  <a:lnTo>
                    <a:pt x="35719" y="125016"/>
                  </a:lnTo>
                  <a:lnTo>
                    <a:pt x="35719" y="53578"/>
                  </a:lnTo>
                  <a:close/>
                  <a:moveTo>
                    <a:pt x="178594" y="53578"/>
                  </a:moveTo>
                  <a:lnTo>
                    <a:pt x="125016" y="53578"/>
                  </a:lnTo>
                  <a:lnTo>
                    <a:pt x="125016" y="125016"/>
                  </a:lnTo>
                  <a:lnTo>
                    <a:pt x="178594" y="125016"/>
                  </a:lnTo>
                  <a:lnTo>
                    <a:pt x="178594" y="53578"/>
                  </a:lnTo>
                  <a:close/>
                  <a:moveTo>
                    <a:pt x="125016" y="178594"/>
                  </a:moveTo>
                  <a:cubicBezTo>
                    <a:pt x="125016" y="188457"/>
                    <a:pt x="117020" y="196453"/>
                    <a:pt x="107156" y="196453"/>
                  </a:cubicBezTo>
                  <a:cubicBezTo>
                    <a:pt x="97293" y="196453"/>
                    <a:pt x="89297" y="188457"/>
                    <a:pt x="89297" y="178594"/>
                  </a:cubicBezTo>
                  <a:cubicBezTo>
                    <a:pt x="89297" y="168730"/>
                    <a:pt x="97293" y="160734"/>
                    <a:pt x="107156" y="160734"/>
                  </a:cubicBezTo>
                  <a:cubicBezTo>
                    <a:pt x="117020" y="160734"/>
                    <a:pt x="125016" y="168730"/>
                    <a:pt x="125016" y="1785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27142" y="39881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高速铁路营业里程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0808" y="4351020"/>
              <a:ext cx="16551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4.8 万公里</a:t>
              </a:r>
            </a:p>
          </p:txBody>
        </p:sp>
      </p:grpSp>
      <p:grpSp>
        <p:nvGrpSpPr>
          <p:cNvPr id="29" name="network-west"/>
          <p:cNvGrpSpPr/>
          <p:nvPr/>
        </p:nvGrpSpPr>
        <p:grpSpPr>
          <a:xfrm>
            <a:off x="4940808" y="5085159"/>
            <a:ext cx="2217420" cy="897303"/>
            <a:chOff x="4940808" y="5085159"/>
            <a:chExt cx="2217420" cy="897303"/>
          </a:xfrm>
        </p:grpSpPr>
        <p:grpSp>
          <p:nvGrpSpPr>
            <p:cNvPr id="26" name="Group 26"/>
            <p:cNvGrpSpPr/>
            <p:nvPr/>
          </p:nvGrpSpPr>
          <p:grpSpPr>
            <a:xfrm>
              <a:off x="4970859" y="5085159"/>
              <a:ext cx="250032" cy="250032"/>
              <a:chOff x="4970859" y="5085159"/>
              <a:chExt cx="250032" cy="25003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970859" y="508515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149453" y="5263753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1" y="71438"/>
                      <a:pt x="0" y="55446"/>
                      <a:pt x="0" y="35719"/>
                    </a:cubicBezTo>
                    <a:cubicBezTo>
                      <a:pt x="0" y="15991"/>
                      <a:pt x="15991" y="0"/>
                      <a:pt x="35719" y="0"/>
                    </a:cubicBezTo>
                    <a:cubicBezTo>
                      <a:pt x="55446" y="0"/>
                      <a:pt x="71438" y="15991"/>
                      <a:pt x="71438" y="357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88719" y="5085159"/>
                <a:ext cx="21431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50031">
                    <a:moveTo>
                      <a:pt x="125016" y="62508"/>
                    </a:moveTo>
                    <a:cubicBezTo>
                      <a:pt x="125016" y="47713"/>
                      <a:pt x="137009" y="35719"/>
                      <a:pt x="151805" y="35719"/>
                    </a:cubicBezTo>
                    <a:cubicBezTo>
                      <a:pt x="166599" y="35719"/>
                      <a:pt x="178594" y="47713"/>
                      <a:pt x="178594" y="62508"/>
                    </a:cubicBezTo>
                    <a:lnTo>
                      <a:pt x="178594" y="142875"/>
                    </a:lnTo>
                    <a:lnTo>
                      <a:pt x="214312" y="142875"/>
                    </a:lnTo>
                    <a:lnTo>
                      <a:pt x="214312" y="62508"/>
                    </a:lnTo>
                    <a:cubicBezTo>
                      <a:pt x="214312" y="27986"/>
                      <a:pt x="186327" y="0"/>
                      <a:pt x="151805" y="0"/>
                    </a:cubicBezTo>
                    <a:cubicBezTo>
                      <a:pt x="117283" y="0"/>
                      <a:pt x="89297" y="27986"/>
                      <a:pt x="89297" y="62508"/>
                    </a:cubicBezTo>
                    <a:lnTo>
                      <a:pt x="89297" y="187523"/>
                    </a:lnTo>
                    <a:cubicBezTo>
                      <a:pt x="89297" y="202318"/>
                      <a:pt x="77303" y="214312"/>
                      <a:pt x="62508" y="214312"/>
                    </a:cubicBezTo>
                    <a:cubicBezTo>
                      <a:pt x="47713" y="214312"/>
                      <a:pt x="35719" y="202318"/>
                      <a:pt x="35719" y="187523"/>
                    </a:cubicBezTo>
                    <a:lnTo>
                      <a:pt x="35719" y="107156"/>
                    </a:lnTo>
                    <a:lnTo>
                      <a:pt x="0" y="107156"/>
                    </a:lnTo>
                    <a:lnTo>
                      <a:pt x="0" y="187523"/>
                    </a:lnTo>
                    <a:cubicBezTo>
                      <a:pt x="0" y="222046"/>
                      <a:pt x="27986" y="250031"/>
                      <a:pt x="62508" y="250031"/>
                    </a:cubicBezTo>
                    <a:cubicBezTo>
                      <a:pt x="97030" y="250031"/>
                      <a:pt x="125016" y="222046"/>
                      <a:pt x="125016" y="187523"/>
                    </a:cubicBezTo>
                    <a:lnTo>
                      <a:pt x="125016" y="625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327142" y="5150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西部地区铁路营业里程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0808" y="5513070"/>
              <a:ext cx="16551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6.6 万公里</a:t>
              </a:r>
            </a:p>
          </p:txBody>
        </p:sp>
      </p:grpSp>
      <p:grpSp>
        <p:nvGrpSpPr>
          <p:cNvPr id="37" name="network-quality"/>
          <p:cNvGrpSpPr/>
          <p:nvPr/>
        </p:nvGrpSpPr>
        <p:grpSpPr>
          <a:xfrm>
            <a:off x="8182356" y="3848100"/>
            <a:ext cx="3336036" cy="1886712"/>
            <a:chOff x="8182356" y="3848100"/>
            <a:chExt cx="3336036" cy="1886712"/>
          </a:xfrm>
        </p:grpSpPr>
        <p:sp>
          <p:nvSpPr>
            <p:cNvPr id="30" name="Rectangle 30"/>
            <p:cNvSpPr/>
            <p:nvPr/>
          </p:nvSpPr>
          <p:spPr>
            <a:xfrm>
              <a:off x="8191500" y="3848100"/>
              <a:ext cx="3314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84642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路网质量指标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2356" y="4568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复线率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93243" y="45034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60.8%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191500" y="502920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82356" y="5330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电化率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93243" y="52654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76.2%</a:t>
              </a:r>
            </a:p>
          </p:txBody>
        </p:sp>
      </p:grpSp>
      <p:grpSp>
        <p:nvGrpSpPr>
          <p:cNvPr id="40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38" name="Rectangle 38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085" y="6431756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数据来源:国家铁路局《2024年铁道统计公报》二、铁路建设(公报第 5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7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50"/>
                            </p:stCondLst>
                            <p:childTnLst>
                              <p:par>
                                <p:cTn xmlns:p="http://schemas.openxmlformats.org/presentationml/2006/main" id="22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5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六、国际对照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7381742" cy="586740"/>
            <a:chOff x="670560" y="1104900"/>
            <a:chExt cx="7381742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73817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2000 年以来,只有中国的曲线在持续抬升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880452" cy="410718"/>
            <a:chOff x="675132" y="1678305"/>
            <a:chExt cx="7880452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8804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世界银行口径下,中国铁路里程从 58656 公里增至 109767 公里</a:t>
              </a:r>
            </a:p>
          </p:txBody>
        </p:sp>
      </p:grpSp>
      <p:grpSp>
        <p:nvGrpSpPr>
          <p:cNvPr id="62" name="intl-route-km"/>
          <p:cNvGrpSpPr/>
          <p:nvPr/>
        </p:nvGrpSpPr>
        <p:grpSpPr>
          <a:xfrm>
            <a:off x="1012660" y="2349818"/>
            <a:ext cx="9921659" cy="2987516"/>
            <a:chOff x="1012660" y="2349818"/>
            <a:chExt cx="9921659" cy="2987516"/>
          </a:xfrm>
        </p:grpSpPr>
        <p:grpSp>
          <p:nvGrpSpPr>
            <p:cNvPr id="25" name="intl-route-km-chartArea"/>
            <p:cNvGrpSpPr/>
            <p:nvPr/>
          </p:nvGrpSpPr>
          <p:grpSpPr>
            <a:xfrm>
              <a:off x="1714500" y="2571750"/>
              <a:ext cx="8572500" cy="2486025"/>
              <a:chOff x="1714500" y="2571750"/>
              <a:chExt cx="8572500" cy="248602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714500" y="4429125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714500" y="3810000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714500" y="3190875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714500" y="2571750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714500" y="2571750"/>
                <a:ext cx="9525" cy="2476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76500">
                    <a:moveTo>
                      <a:pt x="0" y="0"/>
                    </a:moveTo>
                    <a:lnTo>
                      <a:pt x="0" y="247650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714500" y="5048250"/>
                <a:ext cx="857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9525">
                    <a:moveTo>
                      <a:pt x="0" y="0"/>
                    </a:moveTo>
                    <a:lnTo>
                      <a:pt x="8572500" y="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6" name="Polyline 16"/>
              <p:cNvSpPr/>
              <p:nvPr/>
            </p:nvSpPr>
            <p:spPr>
              <a:xfrm>
                <a:off x="1714500" y="3689032"/>
                <a:ext cx="8572500" cy="632936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632936">
                    <a:moveTo>
                      <a:pt x="0" y="632936"/>
                    </a:moveTo>
                    <a:lnTo>
                      <a:pt x="408242" y="627697"/>
                    </a:lnTo>
                    <a:lnTo>
                      <a:pt x="816388" y="622078"/>
                    </a:lnTo>
                    <a:lnTo>
                      <a:pt x="1224629" y="610743"/>
                    </a:lnTo>
                    <a:lnTo>
                      <a:pt x="1632871" y="603694"/>
                    </a:lnTo>
                    <a:lnTo>
                      <a:pt x="2041112" y="589026"/>
                    </a:lnTo>
                    <a:lnTo>
                      <a:pt x="2449258" y="573976"/>
                    </a:lnTo>
                    <a:lnTo>
                      <a:pt x="2857500" y="571214"/>
                    </a:lnTo>
                    <a:lnTo>
                      <a:pt x="3265742" y="606266"/>
                    </a:lnTo>
                    <a:lnTo>
                      <a:pt x="3673888" y="548259"/>
                    </a:lnTo>
                    <a:lnTo>
                      <a:pt x="4082129" y="539020"/>
                    </a:lnTo>
                    <a:lnTo>
                      <a:pt x="4490371" y="461677"/>
                    </a:lnTo>
                    <a:lnTo>
                      <a:pt x="4898612" y="296227"/>
                    </a:lnTo>
                    <a:lnTo>
                      <a:pt x="5306758" y="377190"/>
                    </a:lnTo>
                    <a:lnTo>
                      <a:pt x="5715000" y="302704"/>
                    </a:lnTo>
                    <a:lnTo>
                      <a:pt x="6123242" y="245174"/>
                    </a:lnTo>
                    <a:lnTo>
                      <a:pt x="6531388" y="224028"/>
                    </a:lnTo>
                    <a:lnTo>
                      <a:pt x="6939629" y="198501"/>
                    </a:lnTo>
                    <a:lnTo>
                      <a:pt x="7347871" y="166116"/>
                    </a:lnTo>
                    <a:lnTo>
                      <a:pt x="7756112" y="90488"/>
                    </a:lnTo>
                    <a:lnTo>
                      <a:pt x="8164259" y="43720"/>
                    </a:lnTo>
                    <a:lnTo>
                      <a:pt x="8572500" y="0"/>
                    </a:lnTo>
                  </a:path>
                </a:pathLst>
              </a:custGeom>
              <a:noFill/>
              <a:ln w="38100" cap="rnd">
                <a:solidFill>
                  <a:schemeClr val="accent2"/>
                </a:solidFill>
                <a:round/>
              </a:ln>
            </p:spPr>
          </p:sp>
          <p:sp>
            <p:nvSpPr>
              <p:cNvPr id="17" name="Polyline 17"/>
              <p:cNvSpPr/>
              <p:nvPr/>
            </p:nvSpPr>
            <p:spPr>
              <a:xfrm>
                <a:off x="1714500" y="2595848"/>
                <a:ext cx="8572500" cy="612934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612934">
                    <a:moveTo>
                      <a:pt x="0" y="49244"/>
                    </a:moveTo>
                    <a:lnTo>
                      <a:pt x="408242" y="40958"/>
                    </a:lnTo>
                    <a:lnTo>
                      <a:pt x="816388" y="0"/>
                    </a:lnTo>
                    <a:lnTo>
                      <a:pt x="1224629" y="15431"/>
                    </a:lnTo>
                    <a:lnTo>
                      <a:pt x="1632871" y="33242"/>
                    </a:lnTo>
                    <a:lnTo>
                      <a:pt x="2041112" y="49911"/>
                    </a:lnTo>
                    <a:lnTo>
                      <a:pt x="2449258" y="77819"/>
                    </a:lnTo>
                    <a:lnTo>
                      <a:pt x="2857500" y="68675"/>
                    </a:lnTo>
                    <a:lnTo>
                      <a:pt x="3265742" y="73438"/>
                    </a:lnTo>
                    <a:lnTo>
                      <a:pt x="3673888" y="77629"/>
                    </a:lnTo>
                    <a:lnTo>
                      <a:pt x="4082129" y="44863"/>
                    </a:lnTo>
                    <a:lnTo>
                      <a:pt x="4490371" y="48482"/>
                    </a:lnTo>
                    <a:lnTo>
                      <a:pt x="4898612" y="551498"/>
                    </a:lnTo>
                    <a:lnTo>
                      <a:pt x="5306758" y="541496"/>
                    </a:lnTo>
                    <a:lnTo>
                      <a:pt x="5715000" y="558737"/>
                    </a:lnTo>
                    <a:lnTo>
                      <a:pt x="6123242" y="573500"/>
                    </a:lnTo>
                    <a:lnTo>
                      <a:pt x="6531388" y="579311"/>
                    </a:lnTo>
                    <a:lnTo>
                      <a:pt x="6939629" y="583025"/>
                    </a:lnTo>
                    <a:lnTo>
                      <a:pt x="7347871" y="589312"/>
                    </a:lnTo>
                    <a:lnTo>
                      <a:pt x="7756112" y="601313"/>
                    </a:lnTo>
                    <a:lnTo>
                      <a:pt x="8164259" y="610553"/>
                    </a:lnTo>
                    <a:lnTo>
                      <a:pt x="8572500" y="612934"/>
                    </a:lnTo>
                  </a:path>
                </a:pathLst>
              </a:custGeom>
              <a:noFill/>
              <a:ln w="23812" cap="rnd">
                <a:solidFill>
                  <a:schemeClr val="accent1"/>
                </a:solidFill>
                <a:round/>
              </a:ln>
            </p:spPr>
          </p:sp>
          <p:sp>
            <p:nvSpPr>
              <p:cNvPr id="18" name="Polyline 18"/>
              <p:cNvSpPr/>
              <p:nvPr/>
            </p:nvSpPr>
            <p:spPr>
              <a:xfrm>
                <a:off x="1714500" y="3982402"/>
                <a:ext cx="8572500" cy="23717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23717">
                    <a:moveTo>
                      <a:pt x="0" y="0"/>
                    </a:moveTo>
                    <a:lnTo>
                      <a:pt x="408242" y="2953"/>
                    </a:lnTo>
                    <a:lnTo>
                      <a:pt x="816388" y="6667"/>
                    </a:lnTo>
                    <a:lnTo>
                      <a:pt x="1224629" y="8477"/>
                    </a:lnTo>
                    <a:lnTo>
                      <a:pt x="1632871" y="9811"/>
                    </a:lnTo>
                    <a:lnTo>
                      <a:pt x="2041112" y="6667"/>
                    </a:lnTo>
                    <a:lnTo>
                      <a:pt x="2449258" y="10192"/>
                    </a:lnTo>
                    <a:lnTo>
                      <a:pt x="2857500" y="23717"/>
                    </a:lnTo>
                    <a:lnTo>
                      <a:pt x="3265742" y="10954"/>
                    </a:lnTo>
                    <a:lnTo>
                      <a:pt x="3673888" y="9811"/>
                    </a:lnTo>
                    <a:lnTo>
                      <a:pt x="4082129" y="9715"/>
                    </a:lnTo>
                    <a:lnTo>
                      <a:pt x="4490371" y="11239"/>
                    </a:lnTo>
                    <a:lnTo>
                      <a:pt x="4898612" y="10287"/>
                    </a:lnTo>
                    <a:lnTo>
                      <a:pt x="5306758" y="10001"/>
                    </a:lnTo>
                    <a:lnTo>
                      <a:pt x="5715000" y="18478"/>
                    </a:lnTo>
                    <a:lnTo>
                      <a:pt x="6123242" y="10097"/>
                    </a:lnTo>
                    <a:lnTo>
                      <a:pt x="6531388" y="8668"/>
                    </a:lnTo>
                    <a:lnTo>
                      <a:pt x="6939629" y="6572"/>
                    </a:lnTo>
                    <a:lnTo>
                      <a:pt x="7347871" y="5620"/>
                    </a:lnTo>
                    <a:lnTo>
                      <a:pt x="7756112" y="7239"/>
                    </a:lnTo>
                    <a:lnTo>
                      <a:pt x="8164259" y="6477"/>
                    </a:lnTo>
                    <a:lnTo>
                      <a:pt x="8572500" y="6572"/>
                    </a:lnTo>
                  </a:path>
                </a:pathLst>
              </a:custGeom>
              <a:noFill/>
              <a:ln w="23812" cap="rnd">
                <a:solidFill>
                  <a:schemeClr val="accent3"/>
                </a:solidFill>
                <a:round/>
              </a:ln>
            </p:spPr>
          </p:sp>
          <p:sp>
            <p:nvSpPr>
              <p:cNvPr id="19" name="Polyline 19"/>
              <p:cNvSpPr/>
              <p:nvPr/>
            </p:nvSpPr>
            <p:spPr>
              <a:xfrm>
                <a:off x="1714500" y="4190810"/>
                <a:ext cx="8572500" cy="80296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80296">
                    <a:moveTo>
                      <a:pt x="0" y="80296"/>
                    </a:moveTo>
                    <a:lnTo>
                      <a:pt x="408242" y="76962"/>
                    </a:lnTo>
                    <a:lnTo>
                      <a:pt x="816388" y="75628"/>
                    </a:lnTo>
                    <a:lnTo>
                      <a:pt x="1224629" y="75819"/>
                    </a:lnTo>
                    <a:lnTo>
                      <a:pt x="1632871" y="74581"/>
                    </a:lnTo>
                    <a:lnTo>
                      <a:pt x="2041112" y="71342"/>
                    </a:lnTo>
                    <a:lnTo>
                      <a:pt x="2449258" y="73247"/>
                    </a:lnTo>
                    <a:lnTo>
                      <a:pt x="2857500" y="73247"/>
                    </a:lnTo>
                    <a:lnTo>
                      <a:pt x="3265742" y="74009"/>
                    </a:lnTo>
                    <a:lnTo>
                      <a:pt x="3673888" y="64770"/>
                    </a:lnTo>
                    <a:lnTo>
                      <a:pt x="4082129" y="65246"/>
                    </a:lnTo>
                    <a:lnTo>
                      <a:pt x="4490371" y="59245"/>
                    </a:lnTo>
                    <a:lnTo>
                      <a:pt x="4898612" y="57531"/>
                    </a:lnTo>
                    <a:lnTo>
                      <a:pt x="5306758" y="47149"/>
                    </a:lnTo>
                    <a:lnTo>
                      <a:pt x="5715000" y="42577"/>
                    </a:lnTo>
                    <a:lnTo>
                      <a:pt x="6123242" y="39815"/>
                    </a:lnTo>
                    <a:lnTo>
                      <a:pt x="6531388" y="31718"/>
                    </a:lnTo>
                    <a:lnTo>
                      <a:pt x="6939629" y="23241"/>
                    </a:lnTo>
                    <a:lnTo>
                      <a:pt x="7347871" y="0"/>
                    </a:lnTo>
                    <a:lnTo>
                      <a:pt x="7756112" y="22669"/>
                    </a:lnTo>
                    <a:lnTo>
                      <a:pt x="8164259" y="16002"/>
                    </a:lnTo>
                    <a:lnTo>
                      <a:pt x="8572500" y="14192"/>
                    </a:lnTo>
                  </a:path>
                </a:pathLst>
              </a:custGeom>
              <a:noFill/>
              <a:ln w="23812" cap="rnd">
                <a:solidFill>
                  <a:srgbClr val="4A90C4"/>
                </a:solidFill>
                <a:round/>
              </a:ln>
            </p:spPr>
          </p:sp>
          <p:sp>
            <p:nvSpPr>
              <p:cNvPr id="20" name="Polyline 20"/>
              <p:cNvSpPr/>
              <p:nvPr/>
            </p:nvSpPr>
            <p:spPr>
              <a:xfrm>
                <a:off x="1714500" y="4594574"/>
                <a:ext cx="8572500" cy="40958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40958">
                    <a:moveTo>
                      <a:pt x="0" y="0"/>
                    </a:moveTo>
                    <a:lnTo>
                      <a:pt x="408242" y="7239"/>
                    </a:lnTo>
                    <a:lnTo>
                      <a:pt x="816388" y="9525"/>
                    </a:lnTo>
                    <a:lnTo>
                      <a:pt x="1224629" y="7239"/>
                    </a:lnTo>
                    <a:lnTo>
                      <a:pt x="1632871" y="23717"/>
                    </a:lnTo>
                    <a:lnTo>
                      <a:pt x="2041112" y="29813"/>
                    </a:lnTo>
                    <a:lnTo>
                      <a:pt x="2449258" y="31051"/>
                    </a:lnTo>
                    <a:lnTo>
                      <a:pt x="2857500" y="32956"/>
                    </a:lnTo>
                    <a:lnTo>
                      <a:pt x="3265742" y="34385"/>
                    </a:lnTo>
                    <a:lnTo>
                      <a:pt x="3673888" y="36100"/>
                    </a:lnTo>
                    <a:lnTo>
                      <a:pt x="4082129" y="36195"/>
                    </a:lnTo>
                    <a:lnTo>
                      <a:pt x="4490371" y="37910"/>
                    </a:lnTo>
                    <a:lnTo>
                      <a:pt x="4898612" y="38767"/>
                    </a:lnTo>
                    <a:lnTo>
                      <a:pt x="5306758" y="39529"/>
                    </a:lnTo>
                    <a:lnTo>
                      <a:pt x="5715000" y="39815"/>
                    </a:lnTo>
                    <a:lnTo>
                      <a:pt x="6123242" y="40958"/>
                    </a:lnTo>
                    <a:lnTo>
                      <a:pt x="6531388" y="40386"/>
                    </a:lnTo>
                    <a:lnTo>
                      <a:pt x="6939629" y="39053"/>
                    </a:lnTo>
                    <a:lnTo>
                      <a:pt x="7347871" y="39624"/>
                    </a:lnTo>
                    <a:lnTo>
                      <a:pt x="7756112" y="39815"/>
                    </a:lnTo>
                    <a:lnTo>
                      <a:pt x="8164259" y="40100"/>
                    </a:lnTo>
                    <a:lnTo>
                      <a:pt x="8572500" y="40100"/>
                    </a:lnTo>
                  </a:path>
                </a:pathLst>
              </a:custGeom>
              <a:noFill/>
              <a:ln w="19050" cap="rnd">
                <a:solidFill>
                  <a:srgbClr val="7FA8C9"/>
                </a:solidFill>
                <a:round/>
              </a:ln>
            </p:spPr>
          </p:sp>
          <p:sp>
            <p:nvSpPr>
              <p:cNvPr id="21" name="Polyline 21"/>
              <p:cNvSpPr/>
              <p:nvPr/>
            </p:nvSpPr>
            <p:spPr>
              <a:xfrm>
                <a:off x="1714500" y="4630960"/>
                <a:ext cx="5306758" cy="64770"/>
              </a:xfrm>
              <a:custGeom>
                <a:avLst/>
                <a:gdLst/>
                <a:ahLst/>
                <a:cxnLst/>
                <a:rect l="l" t="t" r="r" b="b"/>
                <a:pathLst>
                  <a:path w="5306758" h="64770">
                    <a:moveTo>
                      <a:pt x="0" y="54102"/>
                    </a:moveTo>
                    <a:lnTo>
                      <a:pt x="408242" y="52006"/>
                    </a:lnTo>
                    <a:lnTo>
                      <a:pt x="816388" y="53149"/>
                    </a:lnTo>
                    <a:lnTo>
                      <a:pt x="1224629" y="54102"/>
                    </a:lnTo>
                    <a:lnTo>
                      <a:pt x="1632871" y="54388"/>
                    </a:lnTo>
                    <a:lnTo>
                      <a:pt x="2041112" y="64770"/>
                    </a:lnTo>
                    <a:lnTo>
                      <a:pt x="2449258" y="50483"/>
                    </a:lnTo>
                    <a:lnTo>
                      <a:pt x="2857500" y="46101"/>
                    </a:lnTo>
                    <a:lnTo>
                      <a:pt x="3265742" y="46292"/>
                    </a:lnTo>
                    <a:lnTo>
                      <a:pt x="3673888" y="0"/>
                    </a:lnTo>
                    <a:lnTo>
                      <a:pt x="4082129" y="46672"/>
                    </a:lnTo>
                    <a:lnTo>
                      <a:pt x="4490371" y="44958"/>
                    </a:lnTo>
                    <a:lnTo>
                      <a:pt x="4898612" y="53149"/>
                    </a:lnTo>
                    <a:lnTo>
                      <a:pt x="5306758" y="46101"/>
                    </a:lnTo>
                  </a:path>
                </a:pathLst>
              </a:custGeom>
              <a:noFill/>
              <a:ln w="19050" cap="rnd">
                <a:solidFill>
                  <a:srgbClr val="9AA7B4"/>
                </a:solidFill>
                <a:round/>
              </a:ln>
            </p:spPr>
          </p:sp>
          <p:sp>
            <p:nvSpPr>
              <p:cNvPr id="22" name="Polyline 22"/>
              <p:cNvSpPr/>
              <p:nvPr/>
            </p:nvSpPr>
            <p:spPr>
              <a:xfrm>
                <a:off x="7837742" y="4686110"/>
                <a:ext cx="2449258" cy="18955"/>
              </a:xfrm>
              <a:custGeom>
                <a:avLst/>
                <a:gdLst/>
                <a:ahLst/>
                <a:cxnLst/>
                <a:rect l="l" t="t" r="r" b="b"/>
                <a:pathLst>
                  <a:path w="2449258" h="18955">
                    <a:moveTo>
                      <a:pt x="0" y="4667"/>
                    </a:moveTo>
                    <a:lnTo>
                      <a:pt x="408146" y="95"/>
                    </a:lnTo>
                    <a:lnTo>
                      <a:pt x="816388" y="0"/>
                    </a:lnTo>
                    <a:lnTo>
                      <a:pt x="1224629" y="12478"/>
                    </a:lnTo>
                    <a:lnTo>
                      <a:pt x="1632871" y="13525"/>
                    </a:lnTo>
                    <a:lnTo>
                      <a:pt x="2041017" y="17050"/>
                    </a:lnTo>
                    <a:lnTo>
                      <a:pt x="2449258" y="18955"/>
                    </a:lnTo>
                  </a:path>
                </a:pathLst>
              </a:custGeom>
              <a:noFill/>
              <a:ln w="19050" cap="rnd">
                <a:solidFill>
                  <a:srgbClr val="9AA7B4"/>
                </a:solidFill>
                <a:round/>
              </a:ln>
            </p:spPr>
          </p:sp>
          <p:sp>
            <p:nvSpPr>
              <p:cNvPr id="23" name="Polyline 23"/>
              <p:cNvSpPr/>
              <p:nvPr/>
            </p:nvSpPr>
            <p:spPr>
              <a:xfrm>
                <a:off x="5796629" y="4798886"/>
                <a:ext cx="40824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8241" h="9525">
                    <a:moveTo>
                      <a:pt x="0" y="0"/>
                    </a:moveTo>
                    <a:lnTo>
                      <a:pt x="408241" y="667"/>
                    </a:lnTo>
                  </a:path>
                </a:pathLst>
              </a:custGeom>
              <a:noFill/>
              <a:ln w="19050" cap="rnd">
                <a:solidFill>
                  <a:srgbClr val="6E7A87"/>
                </a:solidFill>
                <a:round/>
              </a:ln>
            </p:spPr>
          </p:sp>
          <p:sp>
            <p:nvSpPr>
              <p:cNvPr id="24" name="Polyline 24"/>
              <p:cNvSpPr/>
              <p:nvPr/>
            </p:nvSpPr>
            <p:spPr>
              <a:xfrm>
                <a:off x="1714500" y="4850606"/>
                <a:ext cx="8572500" cy="26099"/>
              </a:xfrm>
              <a:custGeom>
                <a:avLst/>
                <a:gdLst/>
                <a:ahLst/>
                <a:cxnLst/>
                <a:rect l="l" t="t" r="r" b="b"/>
                <a:pathLst>
                  <a:path w="8572500" h="26099">
                    <a:moveTo>
                      <a:pt x="0" y="25908"/>
                    </a:moveTo>
                    <a:lnTo>
                      <a:pt x="408242" y="25908"/>
                    </a:lnTo>
                    <a:lnTo>
                      <a:pt x="816388" y="26099"/>
                    </a:lnTo>
                    <a:lnTo>
                      <a:pt x="1224629" y="19526"/>
                    </a:lnTo>
                    <a:lnTo>
                      <a:pt x="1632871" y="19431"/>
                    </a:lnTo>
                    <a:lnTo>
                      <a:pt x="2041112" y="20955"/>
                    </a:lnTo>
                    <a:lnTo>
                      <a:pt x="2449258" y="18478"/>
                    </a:lnTo>
                    <a:lnTo>
                      <a:pt x="2857500" y="11811"/>
                    </a:lnTo>
                    <a:lnTo>
                      <a:pt x="3265742" y="11430"/>
                    </a:lnTo>
                    <a:lnTo>
                      <a:pt x="3673888" y="11335"/>
                    </a:lnTo>
                    <a:lnTo>
                      <a:pt x="4082129" y="4572"/>
                    </a:lnTo>
                    <a:lnTo>
                      <a:pt x="4490371" y="3524"/>
                    </a:lnTo>
                    <a:lnTo>
                      <a:pt x="4898612" y="6477"/>
                    </a:lnTo>
                    <a:lnTo>
                      <a:pt x="5306758" y="4667"/>
                    </a:lnTo>
                    <a:lnTo>
                      <a:pt x="5715000" y="5620"/>
                    </a:lnTo>
                    <a:lnTo>
                      <a:pt x="6123242" y="3143"/>
                    </a:lnTo>
                    <a:lnTo>
                      <a:pt x="6531388" y="3810"/>
                    </a:lnTo>
                    <a:lnTo>
                      <a:pt x="6939629" y="4953"/>
                    </a:lnTo>
                    <a:lnTo>
                      <a:pt x="7347871" y="4286"/>
                    </a:lnTo>
                    <a:lnTo>
                      <a:pt x="7756112" y="3048"/>
                    </a:lnTo>
                    <a:lnTo>
                      <a:pt x="8164259" y="1429"/>
                    </a:lnTo>
                    <a:lnTo>
                      <a:pt x="8572500" y="0"/>
                    </a:lnTo>
                  </a:path>
                </a:pathLst>
              </a:custGeom>
              <a:noFill/>
              <a:ln w="19050" cap="rnd">
                <a:solidFill>
                  <a:srgbClr val="B8C2CC"/>
                </a:solidFill>
                <a:round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21842" y="2349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12437" y="49596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2615" y="4340542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660" y="37214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2660" y="3102292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150000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2660" y="24831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2933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51175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59321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67562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75804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84045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92192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00433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08675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16821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25062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33304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1545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49692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57933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66175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74321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82562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90804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99045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2019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07192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15433" y="5117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75392" y="36004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中国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75392" y="31202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美国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75392" y="3900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俄罗斯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5392" y="4116419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A90C4"/>
                  </a:solidFill>
                  <a:latin typeface="+mn-lt"/>
                  <a:ea typeface="+mn-ea"/>
                  <a:cs typeface="+mn-cs"/>
                </a:rPr>
                <a:t>印度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375392" y="4464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FA8C9"/>
                  </a:solidFill>
                  <a:latin typeface="+mn-lt"/>
                  <a:ea typeface="+mn-ea"/>
                  <a:cs typeface="+mn-cs"/>
                </a:rPr>
                <a:t>德国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75392" y="46739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AA7B4"/>
                  </a:solidFill>
                  <a:latin typeface="+mn-lt"/>
                  <a:ea typeface="+mn-ea"/>
                  <a:cs typeface="+mn-cs"/>
                </a:rPr>
                <a:t>法国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75392" y="4883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2CC"/>
                  </a:solidFill>
                  <a:latin typeface="+mn-lt"/>
                  <a:ea typeface="+mn-ea"/>
                  <a:cs typeface="+mn-cs"/>
                </a:rPr>
                <a:t>西班牙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08034" y="45405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E7A87"/>
                  </a:solidFill>
                  <a:latin typeface="+mn-lt"/>
                  <a:ea typeface="+mn-ea"/>
                  <a:cs typeface="+mn-cs"/>
                </a:rPr>
                <a:t>日本</a:t>
              </a:r>
            </a:p>
          </p:txBody>
        </p:sp>
      </p:grpSp>
      <p:grpSp>
        <p:nvGrpSpPr>
          <p:cNvPr id="64" name="p11-caveat"/>
          <p:cNvGrpSpPr/>
          <p:nvPr/>
        </p:nvGrpSpPr>
        <p:grpSpPr>
          <a:xfrm>
            <a:off x="678942" y="5683568"/>
            <a:ext cx="9794939" cy="511683"/>
            <a:chOff x="678942" y="5683568"/>
            <a:chExt cx="9794939" cy="511683"/>
          </a:xfrm>
        </p:grpSpPr>
        <p:sp>
          <p:nvSpPr>
            <p:cNvPr id="63" name="TextBox 63"/>
            <p:cNvSpPr txBox="1"/>
            <p:nvPr/>
          </p:nvSpPr>
          <p:spPr>
            <a:xfrm>
              <a:off x="678942" y="5683568"/>
              <a:ext cx="979493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口径说明:World Bank IS.RRS.TOTL.KM 为 route-km 口径,该数据集 2022—2024 年八国均无值,日本仅 2010、2011 两年有值。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该口径的中国值与公报「营业里程 16.2 万公里」统计口径不同,不可直接比较。(整理)</a:t>
              </a:r>
            </a:p>
          </p:txBody>
        </p:sp>
      </p:grpSp>
      <p:grpSp>
        <p:nvGrpSpPr>
          <p:cNvPr id="67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65" name="Rectangle 65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80085" y="6431756"/>
              <a:ext cx="9450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数据来源:World Bank, IS.RRS.TOTL.KM(Rail lines, total route-km),用户提供的 rail_route_km_worldbank.xlsx,下载于 2026-09-12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2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七、科技与安全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256428" cy="586740"/>
            <a:chOff x="670560" y="1104900"/>
            <a:chExt cx="5256428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2564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 项国家标准,2 件较大事故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315048" cy="410718"/>
            <a:chOff x="675132" y="1678305"/>
            <a:chExt cx="731504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3150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标准与科技成果持续产出,事故死亡人数比上年下降 18.0%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85800" y="2247900"/>
            <a:ext cx="5295900" cy="3810000"/>
          </a:xfrm>
          <a:prstGeom prst="snip1Rect">
            <a:avLst>
              <a:gd name="adj" fmla="val 6000"/>
            </a:avLst>
          </a:prstGeom>
          <a:noFill/>
          <a:ln w="19050">
            <a:solidFill>
              <a:srgbClr val="C3CBD4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6210300" y="2247900"/>
            <a:ext cx="5295900" cy="3810000"/>
          </a:xfrm>
          <a:prstGeom prst="snip1Rect">
            <a:avLst>
              <a:gd name="adj" fmla="val 6000"/>
            </a:avLst>
          </a:prstGeom>
          <a:noFill/>
          <a:ln w="19050">
            <a:solidFill>
              <a:srgbClr val="C3CBD4"/>
            </a:solidFill>
          </a:ln>
        </p:spPr>
      </p:sp>
      <p:grpSp>
        <p:nvGrpSpPr>
          <p:cNvPr id="22" name="tech-block"/>
          <p:cNvGrpSpPr/>
          <p:nvPr/>
        </p:nvGrpSpPr>
        <p:grpSpPr>
          <a:xfrm>
            <a:off x="943356" y="2590800"/>
            <a:ext cx="4247159" cy="3358134"/>
            <a:chOff x="943356" y="2590800"/>
            <a:chExt cx="4247159" cy="3358134"/>
          </a:xfrm>
        </p:grpSpPr>
        <p:sp>
          <p:nvSpPr>
            <p:cNvPr id="12" name="Freeform 12"/>
            <p:cNvSpPr/>
            <p:nvPr/>
          </p:nvSpPr>
          <p:spPr>
            <a:xfrm>
              <a:off x="992981" y="259080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60722" y="232767"/>
                  </a:moveTo>
                  <a:lnTo>
                    <a:pt x="60722" y="293489"/>
                  </a:lnTo>
                  <a:lnTo>
                    <a:pt x="91083" y="323850"/>
                  </a:lnTo>
                  <a:lnTo>
                    <a:pt x="151805" y="323850"/>
                  </a:lnTo>
                  <a:lnTo>
                    <a:pt x="182166" y="293489"/>
                  </a:lnTo>
                  <a:lnTo>
                    <a:pt x="182166" y="232767"/>
                  </a:lnTo>
                  <a:lnTo>
                    <a:pt x="207256" y="207677"/>
                  </a:lnTo>
                  <a:cubicBezTo>
                    <a:pt x="230071" y="184862"/>
                    <a:pt x="242888" y="153857"/>
                    <a:pt x="242888" y="121593"/>
                  </a:cubicBezTo>
                  <a:cubicBezTo>
                    <a:pt x="242888" y="54521"/>
                    <a:pt x="188515" y="0"/>
                    <a:pt x="121444" y="0"/>
                  </a:cubicBezTo>
                  <a:cubicBezTo>
                    <a:pt x="54372" y="0"/>
                    <a:pt x="0" y="54521"/>
                    <a:pt x="0" y="121593"/>
                  </a:cubicBezTo>
                  <a:cubicBezTo>
                    <a:pt x="0" y="153857"/>
                    <a:pt x="12817" y="184862"/>
                    <a:pt x="35632" y="207677"/>
                  </a:cubicBezTo>
                  <a:lnTo>
                    <a:pt x="60722" y="232767"/>
                  </a:lnTo>
                  <a:close/>
                  <a:moveTo>
                    <a:pt x="101203" y="199856"/>
                  </a:moveTo>
                  <a:lnTo>
                    <a:pt x="101203" y="121444"/>
                  </a:lnTo>
                  <a:lnTo>
                    <a:pt x="141684" y="121444"/>
                  </a:lnTo>
                  <a:lnTo>
                    <a:pt x="141684" y="199856"/>
                  </a:lnTo>
                  <a:cubicBezTo>
                    <a:pt x="176604" y="190868"/>
                    <a:pt x="202406" y="159169"/>
                    <a:pt x="202406" y="121444"/>
                  </a:cubicBezTo>
                  <a:cubicBezTo>
                    <a:pt x="202406" y="76729"/>
                    <a:pt x="166157" y="40481"/>
                    <a:pt x="121444" y="40481"/>
                  </a:cubicBezTo>
                  <a:cubicBezTo>
                    <a:pt x="76729" y="40481"/>
                    <a:pt x="40481" y="76729"/>
                    <a:pt x="40481" y="121444"/>
                  </a:cubicBezTo>
                  <a:cubicBezTo>
                    <a:pt x="40481" y="159169"/>
                    <a:pt x="66283" y="190868"/>
                    <a:pt x="101203" y="199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8458" y="2598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科技创新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3356" y="3196590"/>
              <a:ext cx="42205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铁路国家标准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 项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、行业标准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95 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3356" y="3539490"/>
              <a:ext cx="2672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主持制定国际标准 7 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3356" y="3882390"/>
              <a:ext cx="4053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计量规程规范:国家 4 项、行业 4 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3356" y="4225290"/>
              <a:ext cx="42471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个项目获 2023 年度国家科学技术奖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3356" y="4568190"/>
              <a:ext cx="408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「复兴号高速列车」获进步奖特等奖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3356" y="4911090"/>
              <a:ext cx="3665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重大科技创新成果库入库 335 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3356" y="5253990"/>
              <a:ext cx="4115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新研发 BH10 冷藏车等 3 个型号装备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3356" y="5596890"/>
              <a:ext cx="33627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建立中国标准新能源机车平台</a:t>
              </a:r>
            </a:p>
          </p:txBody>
        </p:sp>
      </p:grpSp>
      <p:grpSp>
        <p:nvGrpSpPr>
          <p:cNvPr id="30" name="safety-block"/>
          <p:cNvGrpSpPr/>
          <p:nvPr/>
        </p:nvGrpSpPr>
        <p:grpSpPr>
          <a:xfrm>
            <a:off x="6457950" y="2590800"/>
            <a:ext cx="3614928" cy="3318701"/>
            <a:chOff x="6457950" y="2590800"/>
            <a:chExt cx="3614928" cy="3318701"/>
          </a:xfrm>
        </p:grpSpPr>
        <p:sp>
          <p:nvSpPr>
            <p:cNvPr id="23" name="Freeform 23"/>
            <p:cNvSpPr/>
            <p:nvPr/>
          </p:nvSpPr>
          <p:spPr>
            <a:xfrm>
              <a:off x="6497241" y="2590800"/>
              <a:ext cx="283369" cy="323850"/>
            </a:xfrm>
            <a:custGeom>
              <a:avLst/>
              <a:gdLst/>
              <a:ahLst/>
              <a:cxnLst/>
              <a:rect l="l" t="t" r="r" b="b"/>
              <a:pathLst>
                <a:path w="283369" h="323850">
                  <a:moveTo>
                    <a:pt x="141684" y="323850"/>
                  </a:moveTo>
                  <a:lnTo>
                    <a:pt x="67808" y="271081"/>
                  </a:lnTo>
                  <a:cubicBezTo>
                    <a:pt x="25255" y="240685"/>
                    <a:pt x="0" y="191611"/>
                    <a:pt x="0" y="139317"/>
                  </a:cubicBezTo>
                  <a:lnTo>
                    <a:pt x="0" y="60722"/>
                  </a:lnTo>
                  <a:lnTo>
                    <a:pt x="141684" y="0"/>
                  </a:lnTo>
                  <a:lnTo>
                    <a:pt x="283369" y="60722"/>
                  </a:lnTo>
                  <a:lnTo>
                    <a:pt x="283369" y="139317"/>
                  </a:lnTo>
                  <a:cubicBezTo>
                    <a:pt x="283369" y="191611"/>
                    <a:pt x="258115" y="240685"/>
                    <a:pt x="215561" y="271081"/>
                  </a:cubicBezTo>
                  <a:lnTo>
                    <a:pt x="141684" y="323850"/>
                  </a:lnTo>
                  <a:close/>
                  <a:moveTo>
                    <a:pt x="226839" y="115515"/>
                  </a:moveTo>
                  <a:lnTo>
                    <a:pt x="198214" y="86891"/>
                  </a:lnTo>
                  <a:lnTo>
                    <a:pt x="121444" y="163661"/>
                  </a:lnTo>
                  <a:lnTo>
                    <a:pt x="85155" y="127372"/>
                  </a:lnTo>
                  <a:lnTo>
                    <a:pt x="56530" y="155997"/>
                  </a:lnTo>
                  <a:lnTo>
                    <a:pt x="121444" y="220910"/>
                  </a:lnTo>
                  <a:lnTo>
                    <a:pt x="226839" y="1155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02958" y="2598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运输安全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7950" y="3520440"/>
              <a:ext cx="24127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E7D32"/>
                  </a:solidFill>
                  <a:latin typeface="+mj-lt"/>
                  <a:ea typeface="+mj-ea"/>
                  <a:cs typeface="+mj-cs"/>
                </a:rPr>
                <a:t>-18.0%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0142" y="42167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铁路交通事故死亡人数比上年降幅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4796790"/>
              <a:ext cx="36050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全年未发生特别重大、重大事故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7856" y="5139690"/>
              <a:ext cx="3542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发生较大事故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件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,与上年持平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0142" y="56454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安全指标取自公报「运输安全」一节</a:t>
              </a:r>
            </a:p>
          </p:txBody>
        </p:sp>
      </p:grpSp>
      <p:grpSp>
        <p:nvGrpSpPr>
          <p:cNvPr id="33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31" name="Rectangle 31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085" y="6431756"/>
              <a:ext cx="7663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数据来源:国家铁路局《2024年铁道统计公报》一、运输生产(运输安全);四、技术标准和科技创新(公报第 5—7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八、节能减排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427059" cy="586740"/>
            <a:chOff x="670560" y="1104900"/>
            <a:chExt cx="542705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4270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二氧化硫排放六年降到 456 吨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594158" cy="410718"/>
            <a:chOff x="675132" y="1678305"/>
            <a:chExt cx="659415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5941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主要污染物排放持续下降,单位能耗比上年微升 1.3%</a:t>
              </a:r>
            </a:p>
          </p:txBody>
        </p:sp>
      </p:grpSp>
      <p:grpSp>
        <p:nvGrpSpPr>
          <p:cNvPr id="57" name="emission-6y"/>
          <p:cNvGrpSpPr/>
          <p:nvPr/>
        </p:nvGrpSpPr>
        <p:grpSpPr>
          <a:xfrm>
            <a:off x="945642" y="2349818"/>
            <a:ext cx="6400495" cy="3673983"/>
            <a:chOff x="945642" y="2349818"/>
            <a:chExt cx="6400495" cy="3673983"/>
          </a:xfrm>
        </p:grpSpPr>
        <p:grpSp>
          <p:nvGrpSpPr>
            <p:cNvPr id="32" name="emission-6y-chartArea"/>
            <p:cNvGrpSpPr/>
            <p:nvPr/>
          </p:nvGrpSpPr>
          <p:grpSpPr>
            <a:xfrm>
              <a:off x="1581150" y="2667000"/>
              <a:ext cx="5505450" cy="2676525"/>
              <a:chOff x="1581150" y="2667000"/>
              <a:chExt cx="5505450" cy="267652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619250" y="4889468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619250" y="4445032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619250" y="4000500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619250" y="3555968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619250" y="3111532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619250" y="2667000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E6EBF1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619250" y="26670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619250" y="5334000"/>
                <a:ext cx="542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9525">
                    <a:moveTo>
                      <a:pt x="0" y="0"/>
                    </a:moveTo>
                    <a:lnTo>
                      <a:pt x="5429250" y="0"/>
                    </a:lnTo>
                  </a:path>
                </a:pathLst>
              </a:custGeom>
              <a:noFill/>
              <a:ln w="9525">
                <a:solidFill>
                  <a:srgbClr val="5A6775"/>
                </a:solidFill>
              </a:ln>
            </p:spPr>
          </p:sp>
          <p:sp>
            <p:nvSpPr>
              <p:cNvPr id="18" name="Polyline 18"/>
              <p:cNvSpPr/>
              <p:nvPr/>
            </p:nvSpPr>
            <p:spPr>
              <a:xfrm>
                <a:off x="1619250" y="4564094"/>
                <a:ext cx="5429250" cy="175641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175641">
                    <a:moveTo>
                      <a:pt x="0" y="0"/>
                    </a:moveTo>
                    <a:lnTo>
                      <a:pt x="1085850" y="48482"/>
                    </a:lnTo>
                    <a:lnTo>
                      <a:pt x="2171700" y="56007"/>
                    </a:lnTo>
                    <a:lnTo>
                      <a:pt x="3257550" y="135636"/>
                    </a:lnTo>
                    <a:lnTo>
                      <a:pt x="4343400" y="118300"/>
                    </a:lnTo>
                    <a:lnTo>
                      <a:pt x="5429250" y="175641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581150" y="4525994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667000" y="4574476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752850" y="4582001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4838700" y="466163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924550" y="464429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7010400" y="470163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Polyline 25"/>
              <p:cNvSpPr/>
              <p:nvPr/>
            </p:nvSpPr>
            <p:spPr>
              <a:xfrm>
                <a:off x="1619250" y="2984373"/>
                <a:ext cx="5429250" cy="2146935"/>
              </a:xfrm>
              <a:custGeom>
                <a:avLst/>
                <a:gdLst/>
                <a:ahLst/>
                <a:cxnLst/>
                <a:rect l="l" t="t" r="r" b="b"/>
                <a:pathLst>
                  <a:path w="5429250" h="2146935">
                    <a:moveTo>
                      <a:pt x="0" y="0"/>
                    </a:moveTo>
                    <a:lnTo>
                      <a:pt x="1085850" y="830294"/>
                    </a:lnTo>
                    <a:lnTo>
                      <a:pt x="2171700" y="1309497"/>
                    </a:lnTo>
                    <a:lnTo>
                      <a:pt x="3257550" y="1765078"/>
                    </a:lnTo>
                    <a:lnTo>
                      <a:pt x="4343400" y="2059781"/>
                    </a:lnTo>
                    <a:lnTo>
                      <a:pt x="5429250" y="2146935"/>
                    </a:lnTo>
                  </a:path>
                </a:pathLst>
              </a:custGeom>
              <a:noFill/>
              <a:ln w="28575">
                <a:solidFill>
                  <a:srgbClr val="2E7D32"/>
                </a:solidFill>
                <a:round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1581150" y="2946273"/>
                <a:ext cx="76200" cy="76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2667000" y="3776567"/>
                <a:ext cx="76200" cy="76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3752850" y="4255770"/>
                <a:ext cx="76200" cy="76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838700" y="4711351"/>
                <a:ext cx="76200" cy="76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5924550" y="5006054"/>
                <a:ext cx="76200" cy="76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7010400" y="5093208"/>
                <a:ext cx="76200" cy="762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45642" y="234981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17187" y="5245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7321" y="4800886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17321" y="4356449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7321" y="391191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7321" y="3467386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4000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7321" y="3022949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7321" y="257841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6000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21613" y="5426392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2019年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07463" y="5426392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2020年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93313" y="5426392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2021年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79163" y="5426392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2022年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5013" y="5426392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2023年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50863" y="5426392"/>
              <a:ext cx="595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12481" y="430406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1732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41731" y="4479703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1337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12481" y="2724340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5286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91709" y="4871276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456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1619250" y="58483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1695450" y="58102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936242" y="5759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化学需氧量排放量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3810000" y="58483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3886200" y="5810250"/>
              <a:ext cx="76200" cy="76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126992" y="5759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二氧化硫排放量</a:t>
              </a:r>
            </a:p>
          </p:txBody>
        </p:sp>
      </p:grpSp>
      <p:grpSp>
        <p:nvGrpSpPr>
          <p:cNvPr id="61" name="p13-tibet-photo"/>
          <p:cNvGrpSpPr/>
          <p:nvPr/>
        </p:nvGrpSpPr>
        <p:grpSpPr>
          <a:xfrm>
            <a:off x="7734300" y="2247900"/>
            <a:ext cx="3771900" cy="1908334"/>
            <a:chOff x="7734300" y="2247900"/>
            <a:chExt cx="3771900" cy="1908334"/>
          </a:xfrm>
        </p:grpSpPr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rcRect l="0" t="16330" r="0" b="16330"/>
            <a:stretch>
              <a:fillRect/>
            </a:stretch>
          </p:blipFill>
          <p:spPr>
            <a:xfrm>
              <a:off x="7734300" y="2247900"/>
              <a:ext cx="3771900" cy="1905000"/>
            </a:xfrm>
            <a:prstGeom prst="rect">
              <a:avLst/>
            </a:prstGeom>
          </p:spPr>
        </p:pic>
        <p:sp>
          <p:nvSpPr>
            <p:cNvPr id="59" name="Rectangle 59"/>
            <p:cNvSpPr/>
            <p:nvPr/>
          </p:nvSpPr>
          <p:spPr>
            <a:xfrm>
              <a:off x="7734300" y="3733800"/>
              <a:ext cx="37719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1371" y="3936206"/>
              <a:ext cx="3136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青藏铁路车厢 摄影 Hiroki Ogawa · CC BY 3.0</a:t>
              </a:r>
            </a:p>
          </p:txBody>
        </p:sp>
      </p:grpSp>
      <p:grpSp>
        <p:nvGrpSpPr>
          <p:cNvPr id="67" name="energy-block"/>
          <p:cNvGrpSpPr/>
          <p:nvPr/>
        </p:nvGrpSpPr>
        <p:grpSpPr>
          <a:xfrm>
            <a:off x="7722108" y="4305300"/>
            <a:ext cx="3784092" cy="1108901"/>
            <a:chOff x="7722108" y="4305300"/>
            <a:chExt cx="3784092" cy="1108901"/>
          </a:xfrm>
        </p:grpSpPr>
        <p:sp>
          <p:nvSpPr>
            <p:cNvPr id="62" name="Rectangle 62"/>
            <p:cNvSpPr/>
            <p:nvPr/>
          </p:nvSpPr>
          <p:spPr>
            <a:xfrm>
              <a:off x="7734300" y="4305300"/>
              <a:ext cx="37719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7734300" y="4437459"/>
              <a:ext cx="285750" cy="232172"/>
            </a:xfrm>
            <a:custGeom>
              <a:avLst/>
              <a:gdLst/>
              <a:ahLst/>
              <a:cxnLst/>
              <a:rect l="l" t="t" r="r" b="b"/>
              <a:pathLst>
                <a:path w="285750" h="232172">
                  <a:moveTo>
                    <a:pt x="31337" y="232172"/>
                  </a:moveTo>
                  <a:cubicBezTo>
                    <a:pt x="11729" y="207712"/>
                    <a:pt x="0" y="176663"/>
                    <a:pt x="0" y="142875"/>
                  </a:cubicBezTo>
                  <a:cubicBezTo>
                    <a:pt x="0" y="63967"/>
                    <a:pt x="63967" y="0"/>
                    <a:pt x="142875" y="0"/>
                  </a:cubicBezTo>
                  <a:cubicBezTo>
                    <a:pt x="221783" y="0"/>
                    <a:pt x="285750" y="63967"/>
                    <a:pt x="285750" y="142875"/>
                  </a:cubicBezTo>
                  <a:cubicBezTo>
                    <a:pt x="285750" y="176663"/>
                    <a:pt x="274022" y="207712"/>
                    <a:pt x="254414" y="232172"/>
                  </a:cubicBezTo>
                  <a:lnTo>
                    <a:pt x="164337" y="232172"/>
                  </a:lnTo>
                  <a:lnTo>
                    <a:pt x="227427" y="163929"/>
                  </a:lnTo>
                  <a:lnTo>
                    <a:pt x="201198" y="139681"/>
                  </a:lnTo>
                  <a:lnTo>
                    <a:pt x="115693" y="232172"/>
                  </a:lnTo>
                  <a:lnTo>
                    <a:pt x="31337" y="232172"/>
                  </a:lnTo>
                  <a:close/>
                  <a:moveTo>
                    <a:pt x="125016" y="53578"/>
                  </a:moveTo>
                  <a:cubicBezTo>
                    <a:pt x="125016" y="63442"/>
                    <a:pt x="133011" y="71438"/>
                    <a:pt x="142875" y="71438"/>
                  </a:cubicBezTo>
                  <a:cubicBezTo>
                    <a:pt x="152738" y="71438"/>
                    <a:pt x="160734" y="63442"/>
                    <a:pt x="160734" y="53578"/>
                  </a:cubicBezTo>
                  <a:cubicBezTo>
                    <a:pt x="160734" y="43715"/>
                    <a:pt x="152738" y="35719"/>
                    <a:pt x="142875" y="35719"/>
                  </a:cubicBezTo>
                  <a:cubicBezTo>
                    <a:pt x="133011" y="35719"/>
                    <a:pt x="125016" y="43715"/>
                    <a:pt x="125016" y="53578"/>
                  </a:cubicBezTo>
                  <a:close/>
                  <a:moveTo>
                    <a:pt x="205383" y="98227"/>
                  </a:moveTo>
                  <a:cubicBezTo>
                    <a:pt x="195519" y="98227"/>
                    <a:pt x="187523" y="90231"/>
                    <a:pt x="187523" y="80367"/>
                  </a:cubicBezTo>
                  <a:cubicBezTo>
                    <a:pt x="187523" y="70504"/>
                    <a:pt x="195519" y="62508"/>
                    <a:pt x="205383" y="62508"/>
                  </a:cubicBezTo>
                  <a:cubicBezTo>
                    <a:pt x="215247" y="62508"/>
                    <a:pt x="223242" y="70504"/>
                    <a:pt x="223242" y="80367"/>
                  </a:cubicBezTo>
                  <a:cubicBezTo>
                    <a:pt x="223242" y="90231"/>
                    <a:pt x="215247" y="98227"/>
                    <a:pt x="205383" y="98227"/>
                  </a:cubicBezTo>
                  <a:close/>
                  <a:moveTo>
                    <a:pt x="35719" y="142875"/>
                  </a:moveTo>
                  <a:cubicBezTo>
                    <a:pt x="35719" y="152739"/>
                    <a:pt x="43715" y="160734"/>
                    <a:pt x="53578" y="160734"/>
                  </a:cubicBezTo>
                  <a:cubicBezTo>
                    <a:pt x="63442" y="160734"/>
                    <a:pt x="71438" y="152739"/>
                    <a:pt x="71438" y="142875"/>
                  </a:cubicBezTo>
                  <a:cubicBezTo>
                    <a:pt x="71438" y="133012"/>
                    <a:pt x="63442" y="125016"/>
                    <a:pt x="53578" y="125016"/>
                  </a:cubicBezTo>
                  <a:cubicBezTo>
                    <a:pt x="43715" y="125016"/>
                    <a:pt x="35719" y="133012"/>
                    <a:pt x="35719" y="142875"/>
                  </a:cubicBezTo>
                  <a:close/>
                  <a:moveTo>
                    <a:pt x="80367" y="98227"/>
                  </a:moveTo>
                  <a:cubicBezTo>
                    <a:pt x="70504" y="98227"/>
                    <a:pt x="62508" y="90231"/>
                    <a:pt x="62508" y="80367"/>
                  </a:cubicBezTo>
                  <a:cubicBezTo>
                    <a:pt x="62508" y="70504"/>
                    <a:pt x="70504" y="62508"/>
                    <a:pt x="80367" y="62508"/>
                  </a:cubicBezTo>
                  <a:cubicBezTo>
                    <a:pt x="90231" y="62508"/>
                    <a:pt x="98227" y="70504"/>
                    <a:pt x="98227" y="80367"/>
                  </a:cubicBezTo>
                  <a:cubicBezTo>
                    <a:pt x="98227" y="90231"/>
                    <a:pt x="90231" y="98227"/>
                    <a:pt x="80367" y="982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08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单位运输工作量综合能耗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22108" y="4789170"/>
              <a:ext cx="2924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3.86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吨标准煤/百万换算吨公里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727442" y="515016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比上年增长 1.3%</a:t>
              </a:r>
            </a:p>
          </p:txBody>
        </p:sp>
      </p:grpSp>
      <p:grpSp>
        <p:nvGrpSpPr>
          <p:cNvPr id="70" name="energy-total"/>
          <p:cNvGrpSpPr/>
          <p:nvPr/>
        </p:nvGrpSpPr>
        <p:grpSpPr>
          <a:xfrm>
            <a:off x="7727442" y="5569268"/>
            <a:ext cx="3085071" cy="511683"/>
            <a:chOff x="7727442" y="5569268"/>
            <a:chExt cx="3085071" cy="511683"/>
          </a:xfrm>
        </p:grpSpPr>
        <p:sp>
          <p:nvSpPr>
            <p:cNvPr id="68" name="TextBox 68"/>
            <p:cNvSpPr txBox="1"/>
            <p:nvPr/>
          </p:nvSpPr>
          <p:spPr>
            <a:xfrm>
              <a:off x="7727442" y="5569268"/>
              <a:ext cx="3085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国家铁路综合能耗 1801.2 万吨标准煤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27442" y="5816918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比上年增加 48.5 万吨,增长 2.8%</a:t>
              </a:r>
            </a:p>
          </p:txBody>
        </p:sp>
      </p:grpSp>
      <p:grpSp>
        <p:nvGrpSpPr>
          <p:cNvPr id="73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71" name="Rectangle 71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0085" y="6431756"/>
              <a:ext cx="7874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数据来源:国家铁路局《2024年铁道统计公报》五、节能减排 · 国家铁路化学需氧量、二氧化硫排放量图(公报第 8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九、行业监管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956116" cy="586740"/>
            <a:chOff x="670560" y="1104900"/>
            <a:chExt cx="5956116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956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622 件行政许可,198 起行政处罚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622428" cy="410718"/>
            <a:chOff x="675132" y="1678305"/>
            <a:chExt cx="662242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6224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从制度到准入再到惩戒,监管链条在 2024 年的动作量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85800" y="2667000"/>
            <a:ext cx="3810000" cy="114300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4191000" y="2667000"/>
            <a:ext cx="3810000" cy="11430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96200" y="2667000"/>
            <a:ext cx="3810000" cy="11430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6" name="stage-rule"/>
          <p:cNvGrpSpPr/>
          <p:nvPr/>
        </p:nvGrpSpPr>
        <p:grpSpPr>
          <a:xfrm>
            <a:off x="1388250" y="3093720"/>
            <a:ext cx="2405101" cy="1655064"/>
            <a:chOff x="1388250" y="3093720"/>
            <a:chExt cx="2405101" cy="1655064"/>
          </a:xfrm>
        </p:grpSpPr>
        <p:sp>
          <p:nvSpPr>
            <p:cNvPr id="13" name="TextBox 13"/>
            <p:cNvSpPr txBox="1"/>
            <p:nvPr/>
          </p:nvSpPr>
          <p:spPr>
            <a:xfrm>
              <a:off x="2255520" y="30937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制度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8250" y="4053840"/>
              <a:ext cx="2405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部规章完成制定修订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9408" y="439674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件行政规范性文件</a:t>
              </a:r>
            </a:p>
          </p:txBody>
        </p:sp>
      </p:grpSp>
      <p:grpSp>
        <p:nvGrpSpPr>
          <p:cNvPr id="21" name="stage-license"/>
          <p:cNvGrpSpPr/>
          <p:nvPr/>
        </p:nvGrpSpPr>
        <p:grpSpPr>
          <a:xfrm>
            <a:off x="4881334" y="3093720"/>
            <a:ext cx="2429332" cy="1997964"/>
            <a:chOff x="4881334" y="3093720"/>
            <a:chExt cx="2429332" cy="1997964"/>
          </a:xfrm>
        </p:grpSpPr>
        <p:sp>
          <p:nvSpPr>
            <p:cNvPr id="17" name="TextBox 17"/>
            <p:cNvSpPr txBox="1"/>
            <p:nvPr/>
          </p:nvSpPr>
          <p:spPr>
            <a:xfrm>
              <a:off x="5760720" y="30937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准入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81334" y="4053840"/>
              <a:ext cx="2429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622 件行政许可决定书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2781" y="4396740"/>
              <a:ext cx="2126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运输企业累计 81 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6144" y="4739640"/>
              <a:ext cx="2259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生产企业累计 116 家</a:t>
              </a:r>
            </a:p>
          </p:txBody>
        </p:sp>
      </p:grpSp>
      <p:grpSp>
        <p:nvGrpSpPr>
          <p:cNvPr id="26" name="stage-penalty"/>
          <p:cNvGrpSpPr/>
          <p:nvPr/>
        </p:nvGrpSpPr>
        <p:grpSpPr>
          <a:xfrm>
            <a:off x="8750008" y="3093720"/>
            <a:ext cx="1702384" cy="1997964"/>
            <a:chOff x="8750008" y="3093720"/>
            <a:chExt cx="1702384" cy="1997964"/>
          </a:xfrm>
        </p:grpSpPr>
        <p:sp>
          <p:nvSpPr>
            <p:cNvPr id="22" name="TextBox 22"/>
            <p:cNvSpPr txBox="1"/>
            <p:nvPr/>
          </p:nvSpPr>
          <p:spPr>
            <a:xfrm>
              <a:off x="9265920" y="30937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惩戒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0008" y="4053840"/>
              <a:ext cx="170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198 起行政处罚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50008" y="4396740"/>
              <a:ext cx="170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383 个处罚决定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0297" y="473964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挂牌督办 24 次</a:t>
              </a:r>
            </a:p>
          </p:txBody>
        </p:sp>
      </p:grpSp>
      <p:grpSp>
        <p:nvGrpSpPr>
          <p:cNvPr id="28" name="p14-detail"/>
          <p:cNvGrpSpPr/>
          <p:nvPr/>
        </p:nvGrpSpPr>
        <p:grpSpPr>
          <a:xfrm>
            <a:off x="678942" y="5607368"/>
            <a:ext cx="7146036" cy="511683"/>
            <a:chOff x="678942" y="5607368"/>
            <a:chExt cx="7146036" cy="511683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5607368"/>
              <a:ext cx="71460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机车车辆驾驶人员新增 10933 人,累计 220308 人;机车车辆设计制造维修进口企业累计 124 家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预警 262 次、通报 333 次、约谈 68 次</a:t>
              </a:r>
            </a:p>
          </p:txBody>
        </p:sp>
      </p:grpSp>
      <p:grpSp>
        <p:nvGrpSpPr>
          <p:cNvPr id="31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9" name="Rectangle 29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085" y="6431756"/>
              <a:ext cx="6487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数据来源:国家铁路局《2024年铁道统计公报》六、行业监管(公报第 8—9 页)· 三段式为编者整理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15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75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losing-panel"/>
          <p:cNvSpPr/>
          <p:nvPr/>
        </p:nvSpPr>
        <p:spPr>
          <a:xfrm>
            <a:off x="685800" y="1333500"/>
            <a:ext cx="7239000" cy="495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57150" dir="5400000" algn="ctr" rotWithShape="0">
              <a:srgbClr val="000000">
                <a:alpha val="13500"/>
              </a:srgbClr>
            </a:outerShdw>
          </a:effectLst>
        </p:spPr>
      </p:sp>
      <p:grpSp>
        <p:nvGrpSpPr>
          <p:cNvPr id="6" name="closing-title"/>
          <p:cNvGrpSpPr/>
          <p:nvPr/>
        </p:nvGrpSpPr>
        <p:grpSpPr>
          <a:xfrm>
            <a:off x="1051560" y="1676400"/>
            <a:ext cx="1645920" cy="796290"/>
            <a:chOff x="1051560" y="1676400"/>
            <a:chExt cx="1645920" cy="796290"/>
          </a:xfrm>
        </p:grpSpPr>
        <p:sp>
          <p:nvSpPr>
            <p:cNvPr id="4" name="Rectangle 4"/>
            <p:cNvSpPr/>
            <p:nvPr/>
          </p:nvSpPr>
          <p:spPr>
            <a:xfrm>
              <a:off x="1066800" y="1676400"/>
              <a:ext cx="76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1560" y="188595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三条判断</a:t>
              </a:r>
            </a:p>
          </p:txBody>
        </p:sp>
      </p:grpSp>
      <p:grpSp>
        <p:nvGrpSpPr>
          <p:cNvPr id="10" name="judgement-1"/>
          <p:cNvGrpSpPr/>
          <p:nvPr/>
        </p:nvGrpSpPr>
        <p:grpSpPr>
          <a:xfrm>
            <a:off x="1054608" y="2712720"/>
            <a:ext cx="6027572" cy="778764"/>
            <a:chOff x="1054608" y="2712720"/>
            <a:chExt cx="6027572" cy="778764"/>
          </a:xfrm>
        </p:grpSpPr>
        <p:sp>
          <p:nvSpPr>
            <p:cNvPr id="7" name="TextBox 7"/>
            <p:cNvSpPr txBox="1"/>
            <p:nvPr/>
          </p:nvSpPr>
          <p:spPr>
            <a:xfrm>
              <a:off x="1054608" y="2712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4856" y="277749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客运已越过疫情前水平并创历史高位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4856" y="3139440"/>
              <a:ext cx="5567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43.12 亿人(+11.9%),高于 2019 年的 366002 万人</a:t>
              </a:r>
            </a:p>
          </p:txBody>
        </p:sp>
      </p:grpSp>
      <p:grpSp>
        <p:nvGrpSpPr>
          <p:cNvPr id="14" name="judgement-2"/>
          <p:cNvGrpSpPr/>
          <p:nvPr/>
        </p:nvGrpSpPr>
        <p:grpSpPr>
          <a:xfrm>
            <a:off x="1054608" y="3855720"/>
            <a:ext cx="4864456" cy="778764"/>
            <a:chOff x="1054608" y="3855720"/>
            <a:chExt cx="4864456" cy="778764"/>
          </a:xfrm>
        </p:grpSpPr>
        <p:sp>
          <p:nvSpPr>
            <p:cNvPr id="11" name="TextBox 11"/>
            <p:cNvSpPr txBox="1"/>
            <p:nvPr/>
          </p:nvSpPr>
          <p:spPr>
            <a:xfrm>
              <a:off x="1054608" y="3855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4856" y="3920490"/>
              <a:ext cx="4035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货运总量升而周转量落,结构继续分化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4282440"/>
              <a:ext cx="4404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集装箱 </a:t>
              </a:r>
              <a:r>
                <a:rPr lang="zh-CN" sz="18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+15.5%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领涨,粮食 </a:t>
              </a:r>
              <a:r>
                <a:rPr lang="zh-CN" sz="18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-17.6%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领跌</a:t>
              </a:r>
            </a:p>
          </p:txBody>
        </p:sp>
      </p:grpSp>
      <p:grpSp>
        <p:nvGrpSpPr>
          <p:cNvPr id="18" name="judgement-3"/>
          <p:cNvGrpSpPr/>
          <p:nvPr/>
        </p:nvGrpSpPr>
        <p:grpSpPr>
          <a:xfrm>
            <a:off x="1054608" y="4998720"/>
            <a:ext cx="6500089" cy="778764"/>
            <a:chOff x="1054608" y="4998720"/>
            <a:chExt cx="6500089" cy="778764"/>
          </a:xfrm>
        </p:grpSpPr>
        <p:sp>
          <p:nvSpPr>
            <p:cNvPr id="15" name="TextBox 15"/>
            <p:cNvSpPr txBox="1"/>
            <p:nvPr/>
          </p:nvSpPr>
          <p:spPr>
            <a:xfrm>
              <a:off x="1054608" y="4998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4856" y="5063490"/>
              <a:ext cx="451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网络与装备继续扩张,主要污染物持续下降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4856" y="5425440"/>
              <a:ext cx="6039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新线 3113 公里、高铁 4.8 万公里;二氧化硫降至 456 吨</a:t>
              </a:r>
            </a:p>
          </p:txBody>
        </p:sp>
      </p:grpSp>
      <p:grpSp>
        <p:nvGrpSpPr>
          <p:cNvPr id="20" name="closing-note"/>
          <p:cNvGrpSpPr/>
          <p:nvPr/>
        </p:nvGrpSpPr>
        <p:grpSpPr>
          <a:xfrm>
            <a:off x="1059942" y="5855018"/>
            <a:ext cx="4857007" cy="264033"/>
            <a:chOff x="1059942" y="5855018"/>
            <a:chExt cx="485700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1059942" y="5855018"/>
              <a:ext cx="4857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整理:三条判断由编者归纳,支撑数值全部取自附件,未作改动</a:t>
              </a:r>
            </a:p>
          </p:txBody>
        </p:sp>
      </p:grpSp>
      <p:grpSp>
        <p:nvGrpSpPr>
          <p:cNvPr id="24" name="closing-source"/>
          <p:cNvGrpSpPr/>
          <p:nvPr/>
        </p:nvGrpSpPr>
        <p:grpSpPr>
          <a:xfrm>
            <a:off x="8371916" y="6165056"/>
            <a:ext cx="3139999" cy="639128"/>
            <a:chOff x="8371916" y="6165056"/>
            <a:chExt cx="3139999" cy="639128"/>
          </a:xfrm>
        </p:grpSpPr>
        <p:sp>
          <p:nvSpPr>
            <p:cNvPr id="21" name="TextBox 21"/>
            <p:cNvSpPr txBox="1"/>
            <p:nvPr/>
          </p:nvSpPr>
          <p:spPr>
            <a:xfrm>
              <a:off x="8371916" y="616505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数据来源:国家铁路局《2024年铁道统计公报》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4515" y="6374606"/>
              <a:ext cx="2787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国际对照:World Bank IS.RRS.TOTL.KM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23655" y="6584156"/>
              <a:ext cx="2388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照片 摄影 N509FZ · CC BY-SA 4.0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6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23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china_rail_2024_zh">
  <a:themeElements>
    <a:clrScheme name="ppt169_china_rail_2024_zh">
      <a:dk1>
        <a:srgbClr val="1E2733"/>
      </a:dk1>
      <a:lt1>
        <a:srgbClr val="FFFFFF"/>
      </a:lt1>
      <a:dk2>
        <a:srgbClr val="1F497D"/>
      </a:dk2>
      <a:lt2>
        <a:srgbClr val="F2F5F9"/>
      </a:lt2>
      <a:accent1>
        <a:srgbClr val="0B3A6F"/>
      </a:accent1>
      <a:accent2>
        <a:srgbClr val="C8102E"/>
      </a:accent2>
      <a:accent3>
        <a:srgbClr val="1E6FB8"/>
      </a:accent3>
      <a:accent4>
        <a:srgbClr val="0B3A6F"/>
      </a:accent4>
      <a:accent5>
        <a:srgbClr val="5A6775"/>
      </a:accent5>
      <a:accent6>
        <a:srgbClr val="D8DEE6"/>
      </a:accent6>
      <a:hlink>
        <a:srgbClr val="C8102E"/>
      </a:hlink>
      <a:folHlink>
        <a:srgbClr val="1E6FB8"/>
      </a:folHlink>
    </a:clrScheme>
    <a:fontScheme name="ppt169_china_rail_2024_zh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china_rail_2024_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china_rail_2024_zh">
  <a:themeElements>
    <a:clrScheme name="ppt169_china_rail_2024_zh">
      <a:dk1>
        <a:srgbClr val="1E2733"/>
      </a:dk1>
      <a:lt1>
        <a:srgbClr val="FFFFFF"/>
      </a:lt1>
      <a:dk2>
        <a:srgbClr val="1F497D"/>
      </a:dk2>
      <a:lt2>
        <a:srgbClr val="F2F5F9"/>
      </a:lt2>
      <a:accent1>
        <a:srgbClr val="0B3A6F"/>
      </a:accent1>
      <a:accent2>
        <a:srgbClr val="C8102E"/>
      </a:accent2>
      <a:accent3>
        <a:srgbClr val="1E6FB8"/>
      </a:accent3>
      <a:accent4>
        <a:srgbClr val="0B3A6F"/>
      </a:accent4>
      <a:accent5>
        <a:srgbClr val="5A6775"/>
      </a:accent5>
      <a:accent6>
        <a:srgbClr val="D8DEE6"/>
      </a:accent6>
      <a:hlink>
        <a:srgbClr val="C8102E"/>
      </a:hlink>
      <a:folHlink>
        <a:srgbClr val="1E6FB8"/>
      </a:folHlink>
    </a:clrScheme>
    <a:fontScheme name="ppt169_china_rail_2024_zh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china_rail_2024_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2026-09-12T13:36:31Z</dcterms:created>
  <dcterms:modified xsi:type="dcterms:W3CDTF">2026-09-12T13:36:31Z</dcterms:modified>
  <cp:category/>
  <cp:contentStatus/>
</cp:coreProperties>
</file>