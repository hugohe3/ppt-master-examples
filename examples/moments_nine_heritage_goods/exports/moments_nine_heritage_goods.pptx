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  <Relationship Id="rId1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九件老国货，最早的一件生在一九三五年，最晚的一件生在一九七二年，正好排成一条线。它们不是博物馆里的标本，大多数今天还在生产、还在货架上、还能在博物馆里见到。接下来一件一张，按诞生年份先后往下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力这个商标，一九三五年四月就注册了，工厂比它还早八年。一九五六年，厂里专门为参加奥运会的中国篮球队设计了五六五长球鞋，这个系列在一九八八年拿到国家银质奖。今天它还在生产，和故宫、敦煌博物馆做过联名，电商和直播里都买得到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永久这个牌子一九四九年底才试制成功，它的前身是一九四零年秋天开在上海的昌和制作所，那是上海第一家自行车工厂。从一九四九到一九九零，永久一共造了大约五千万辆车，差不多占当时全国自行车社会拥有量的六分之一。今天它由中路股份生产，产品线已经扩到电动自行车、童车和轮椅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光明冷饮一九五零年五月推出，名字取自天亮了、解放了这层意思。冰砖当年按小中大三种规格分别卖一角九分、四角二分和七角，此后十七年没有涨过价。二零一八年它因为难买到重新被人念叨起来，同年十二月光明乳业花一点四三亿元收购了益民食品一厂的股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九五八年四月二十三日，中国第一家手表厂在上海建成投产，当年就造了一万三千六百只A五八一型上海牌手表。同年七月一日第一次上市，当天被排队的人抢购一空。到一九七八年，一块全钢防震表要一百二十块，得凭票买，差不多是普通职工三个月工资。今天上海表是中华老字号，南京西路和蟠龙天地都开了新店，全国门店大约四十六家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大白兔诞生在一九五九年，是新中国成立十周年的献礼产品。刚投产的时候日产量只有八百公斤左右，很多工序还得靠手工，可当时那句七粒大白兔顶一杯牛奶的说法，让它很快就传开了。今天它还在生产，和气味图书馆做过奶糖味的香氛，天猫上线十分钟就卖出去一万四千多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九五八年，华孚金笔厂提出英雄赶派克这句口号，一九六二年在此基础上重新设计，定型成了英雄一百。鼎盛的时候，英雄占了国内钢笔市场大约五成，远销六十多个国家和地区，一九八四年中英联合声明的签字用笔就是它。今天上海英雄集团还在运营，二零一七年光是网上销售额就有四千万左右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九六三年底，四型双镜头反光相机开始批量生产，这是中国第一款出口的相机。一九六七年为了出口，上海牌改名叫海鸥牌。到一九八零年，年产量达到二十万架，累计产量超过两千零六十六万台。二零零四年停产之后，二零一一年海鸥数码成立，二零一四年推出复古数码相机，二零二零年转去做高精度工业相机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蝴蝶这个名字是一九六六年才换上的，之前它叫无敌牌，工厂的前身是一九一九年开在上海的协昌铁车铺。一九七二年第四季度起，家用缝纫机凭票供应，上海平均八十个人才配得到一张券；一台机器一百三十到一百四十块，而普通职工月工资只有三四十块。今天上海蝴蝶进出口还在做蝴蝶牌家用缝纫机，主攻电商和非洲这些海外市场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转一响里的那一响，就是收音机。一九七二年六月，上海无线电二厂的红灯牌七一一型电子管收音机上市，到一九八零年一共造了大约一百八十六万台，创下同期单一型号的最高产量纪录，全国厂家争着仿制，一度供不应求。今天它作为展品收藏在上海无线电博物馆，那里从二零一七年十一月起免费向公众开放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九件的年份、厂家和数字都能点开查到出处，来源按页码列在这里。有两处确实查不到，我们直接写了没有数据：一是上海无线电二厂本身的建厂年份，所以红灯那一页的诞生年份按七一一型一九七二年上市来表述；二是红灯品牌今天是否还在生产收音机整机。另外要说明的是，这里的年份指品牌或型号的诞生和上市年份，和工厂创办年份不一样的地方，已经在各页上标出来了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oments_nine_heritage_good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oments_nine_heritage_good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0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4861e262bb10ebb.png"/>
  <Relationship Id="rId3" Type="http://schemas.openxmlformats.org/officeDocument/2006/relationships/image" Target="../media/image_2bcf8ac6690b695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db39c8579a5a10d.png"/>
  <Relationship Id="rId3" Type="http://schemas.openxmlformats.org/officeDocument/2006/relationships/image" Target="../media/image_1d552420e725fe5a.pn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7102d66f781e6b7.png"/>
  <Relationship Id="rId3" Type="http://schemas.openxmlformats.org/officeDocument/2006/relationships/image" Target="../media/image_55fbc43446e5749d.png"/>
  <Relationship Id="rId4" Type="http://schemas.openxmlformats.org/officeDocument/2006/relationships/image" Target="../media/image_6ddf6ccb0cad10df.png"/>
  <Relationship Id="rId5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3b5c917aa045fc5.png"/>
  <Relationship Id="rId3" Type="http://schemas.openxmlformats.org/officeDocument/2006/relationships/image" Target="../media/image_ccd6368eb2776a9b.png"/>
  <Relationship Id="rId4" Type="http://schemas.openxmlformats.org/officeDocument/2006/relationships/image" Target="../media/image_5994b7466ee5b773.png"/>
  <Relationship Id="rId5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cbde4e59892432b.png"/>
  <Relationship Id="rId3" Type="http://schemas.openxmlformats.org/officeDocument/2006/relationships/image" Target="../media/image_05687dac6f7c2081.pn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0167cbf257580c0.png"/>
  <Relationship Id="rId3" Type="http://schemas.openxmlformats.org/officeDocument/2006/relationships/image" Target="../media/image_109e459c8b9affba.png"/>
  <Relationship Id="rId4" Type="http://schemas.openxmlformats.org/officeDocument/2006/relationships/image" Target="../media/image_edcbfe8c46a5e238.png"/>
  <Relationship Id="rId5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77815cb83971605.png"/>
  <Relationship Id="rId3" Type="http://schemas.openxmlformats.org/officeDocument/2006/relationships/image" Target="../media/image_14dd872a5fc32558.png"/>
  <Relationship Id="rId4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f9b242a408423b8.png"/>
  <Relationship Id="rId3" Type="http://schemas.openxmlformats.org/officeDocument/2006/relationships/image" Target="../media/image_f9811aa27afdf063.png"/>
  <Relationship Id="rId4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85388ee9427aab2.png"/>
  <Relationship Id="rId3" Type="http://schemas.openxmlformats.org/officeDocument/2006/relationships/image" Target="../media/image_a2f73827e8aee6d8.png"/>
  <Relationship Id="rId4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8424fe63768f4ef.png"/>
  <Relationship Id="rId3" Type="http://schemas.openxmlformats.org/officeDocument/2006/relationships/image" Target="../media/image_461b9b5bbd15c1ed.png"/>
  <Relationship Id="rId4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4861e262bb10ebb.png"/>
  <Relationship Id="rId3" Type="http://schemas.openxmlformats.org/officeDocument/2006/relationships/hyperlink" Target="https://www.shyp.gov.cn/shypq/xwzx-jzdt/20250219/474464.html" TargetMode="External"/>
  <Relationship Id="rId4" Type="http://schemas.openxmlformats.org/officeDocument/2006/relationships/hyperlink" Target="https://www.shyp.gov.cn/shypq/shxd-gyyj/20231128/442714.html" TargetMode="External"/>
  <Relationship Id="rId5" Type="http://schemas.openxmlformats.org/officeDocument/2006/relationships/hyperlink" Target="https://finance.sina.cn/sa/2014-04-10/detail-iiznctkf1412318.d.html" TargetMode="External"/>
  <Relationship Id="rId6" Type="http://schemas.openxmlformats.org/officeDocument/2006/relationships/hyperlink" Target="https://m.thepaper.cn/baijiahao_9955419" TargetMode="External"/>
  <Relationship Id="rId7" Type="http://schemas.openxmlformats.org/officeDocument/2006/relationships/hyperlink" Target="http://ish.xinmin.cn/xnhsh/2014/07/14/24784021.html" TargetMode="External"/>
  <Relationship Id="rId8" Type="http://schemas.openxmlformats.org/officeDocument/2006/relationships/hyperlink" Target="https://zh.wikipedia.org/zh-hans/%E8%8B%B1%E9%9B%84%E9%92%A2%E7%AC%94" TargetMode="External"/>
  <Relationship Id="rId9" Type="http://schemas.openxmlformats.org/officeDocument/2006/relationships/hyperlink" Target="https://zh.wikipedia.org/zh-hans/%E4%B8%8A%E6%B5%B7%E6%B5%B7%E9%B8%A5%E7%85%A7%E7%9B%B8%E6%9C%BA" TargetMode="External"/>
  <Relationship Id="rId10" Type="http://schemas.openxmlformats.org/officeDocument/2006/relationships/hyperlink" Target="https://sghservices.shobserver.com/html/toutiao/2020/07/22/228729.html" TargetMode="External"/>
  <Relationship Id="rId11" Type="http://schemas.openxmlformats.org/officeDocument/2006/relationships/hyperlink" Target="https://www.gzw.sh.gov.cn/shgzw_gqdj_szxc/20220718/d4a68455f5084c67bf20b5a5f9ba809f.html" TargetMode="External"/>
  <Relationship Id="rId1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pattFill prst="pct5">
          <a:fgClr>
            <a:srgbClr val="C3AC80"/>
          </a:fgClr>
          <a:bgClr>
            <a:schemeClr val="l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2268735" y="247650"/>
            <a:ext cx="5749530" cy="2940555"/>
            <a:chOff x="2268735" y="247650"/>
            <a:chExt cx="5749530" cy="2940555"/>
          </a:xfrm>
        </p:grpSpPr>
        <p:sp>
          <p:nvSpPr>
            <p:cNvPr id="2" name="Freeform 2"/>
            <p:cNvSpPr/>
            <p:nvPr/>
          </p:nvSpPr>
          <p:spPr>
            <a:xfrm rot="-4800000">
              <a:off x="2618175" y="2254755"/>
              <a:ext cx="266700" cy="93345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 rot="-3600000">
              <a:off x="2906683" y="1462087"/>
              <a:ext cx="266700" cy="93345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 rot="-2400000">
              <a:off x="3448899" y="815899"/>
              <a:ext cx="266700" cy="93345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 rot="-1200000">
              <a:off x="4179426" y="394129"/>
              <a:ext cx="266700" cy="93345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010150" y="247650"/>
              <a:ext cx="266700" cy="93345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 rot="1200000">
              <a:off x="5840874" y="394129"/>
              <a:ext cx="266700" cy="93345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 rot="2400000">
              <a:off x="6571401" y="815899"/>
              <a:ext cx="266700" cy="93345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 rot="3600000">
              <a:off x="7113617" y="1462087"/>
              <a:ext cx="266700" cy="93345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 rot="4800000">
              <a:off x="7402125" y="2254755"/>
              <a:ext cx="266700" cy="93345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" name="!!sun-disc"/>
          <p:cNvGrpSpPr/>
          <p:nvPr/>
        </p:nvGrpSpPr>
        <p:grpSpPr>
          <a:xfrm>
            <a:off x="3333750" y="1333500"/>
            <a:ext cx="3619500" cy="3619500"/>
            <a:chOff x="3333750" y="1333500"/>
            <a:chExt cx="3619500" cy="3619500"/>
          </a:xfrm>
        </p:grpSpPr>
        <p:sp>
          <p:nvSpPr>
            <p:cNvPr id="12" name="Ellipse 12"/>
            <p:cNvSpPr/>
            <p:nvPr/>
          </p:nvSpPr>
          <p:spPr>
            <a:xfrm>
              <a:off x="3333750" y="1333500"/>
              <a:ext cx="3619500" cy="3619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4019550" y="2019300"/>
              <a:ext cx="2247900" cy="2247900"/>
            </a:xfrm>
            <a:prstGeom prst="ellipse">
              <a:avLst/>
            </a:prstGeom>
            <a:pattFill prst="pct30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572500" y="571500"/>
            <a:ext cx="914400" cy="914400"/>
            <a:chOff x="8572500" y="571500"/>
            <a:chExt cx="914400" cy="91440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72500" y="571500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Group 30"/>
          <p:cNvGrpSpPr/>
          <p:nvPr/>
        </p:nvGrpSpPr>
        <p:grpSpPr>
          <a:xfrm>
            <a:off x="1325118" y="5238750"/>
            <a:ext cx="7637907" cy="792289"/>
            <a:chOff x="1325118" y="5238750"/>
            <a:chExt cx="7637907" cy="792289"/>
          </a:xfrm>
        </p:grpSpPr>
        <p:sp>
          <p:nvSpPr>
            <p:cNvPr id="17" name="Line 17"/>
            <p:cNvSpPr/>
            <p:nvPr/>
          </p:nvSpPr>
          <p:spPr>
            <a:xfrm>
              <a:off x="1333500" y="539115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333500" y="523875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2286000" y="52768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3238500" y="52768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191000" y="52768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5143500" y="52768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096000" y="52768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048500" y="52768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8001000" y="52768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953500" y="523875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325118" y="57083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1935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35564" y="57083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按诞生年份先后排列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56447" y="57083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1972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009862" y="7277100"/>
            <a:ext cx="6267275" cy="1552575"/>
            <a:chOff x="2009862" y="7277100"/>
            <a:chExt cx="6267275" cy="1552575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9862" y="7277100"/>
              <a:ext cx="6267275" cy="1552575"/>
            </a:xfrm>
            <a:prstGeom prst="rect">
              <a:avLst/>
            </a:prstGeom>
          </p:spPr>
        </p:pic>
      </p:grpSp>
      <p:grpSp>
        <p:nvGrpSpPr>
          <p:cNvPr id="35" name="Group 35"/>
          <p:cNvGrpSpPr/>
          <p:nvPr/>
        </p:nvGrpSpPr>
        <p:grpSpPr>
          <a:xfrm>
            <a:off x="1409700" y="9049702"/>
            <a:ext cx="6594234" cy="1163193"/>
            <a:chOff x="1409700" y="9049702"/>
            <a:chExt cx="6594234" cy="1163193"/>
          </a:xfrm>
        </p:grpSpPr>
        <p:sp>
          <p:nvSpPr>
            <p:cNvPr id="33" name="TextBox 33"/>
            <p:cNvSpPr txBox="1"/>
            <p:nvPr/>
          </p:nvSpPr>
          <p:spPr>
            <a:xfrm>
              <a:off x="1409700" y="9049702"/>
              <a:ext cx="2764155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九件老国货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14272" y="9655492"/>
              <a:ext cx="65896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1935–1972 · 九件仍然活着的中国制造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37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4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7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50"/>
                            </p:stCondLst>
                            <p:childTnLst>
                              <p:par>
                                <p:cTn id="24" presetID="23" presetClass="entr" presetSubtype="16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pattFill prst="pct5">
          <a:fgClr>
            <a:srgbClr val="C3AC80"/>
          </a:fgClr>
          <a:bgClr>
            <a:schemeClr val="l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1250" y="1619250"/>
            <a:ext cx="5524500" cy="5715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6667500"/>
            <a:ext cx="10287000" cy="762000"/>
          </a:xfrm>
          <a:prstGeom prst="rect">
            <a:avLst/>
          </a:prstGeom>
          <a:pattFill prst="pct30">
            <a:fgClr>
              <a:schemeClr val="accent2"/>
            </a:fgClr>
            <a:bgClr>
              <a:schemeClr val="lt2"/>
            </a:bgClr>
          </a:pattFill>
          <a:ln>
            <a:noFill/>
          </a:ln>
        </p:spPr>
      </p:sp>
      <p:grpSp>
        <p:nvGrpSpPr>
          <p:cNvPr id="6" name="!!sun-disc"/>
          <p:cNvGrpSpPr/>
          <p:nvPr/>
        </p:nvGrpSpPr>
        <p:grpSpPr>
          <a:xfrm>
            <a:off x="4572000" y="1476375"/>
            <a:ext cx="1143000" cy="1143000"/>
            <a:chOff x="4572000" y="1476375"/>
            <a:chExt cx="1143000" cy="1143000"/>
          </a:xfrm>
        </p:grpSpPr>
        <p:sp>
          <p:nvSpPr>
            <p:cNvPr id="4" name="Ellipse 4"/>
            <p:cNvSpPr/>
            <p:nvPr/>
          </p:nvSpPr>
          <p:spPr>
            <a:xfrm>
              <a:off x="4572000" y="1476375"/>
              <a:ext cx="1143000" cy="1143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4791075" y="1695450"/>
              <a:ext cx="704850" cy="704850"/>
            </a:xfrm>
            <a:prstGeom prst="ellipse">
              <a:avLst/>
            </a:prstGeom>
            <a:pattFill prst="pct30">
              <a:fgClr>
                <a:schemeClr val="accent2"/>
              </a:fgClr>
              <a:bgClr>
                <a:schemeClr val="lt2"/>
              </a:bgClr>
            </a:patt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2950" y="876300"/>
            <a:ext cx="2857500" cy="3096577"/>
            <a:chOff x="742950" y="876300"/>
            <a:chExt cx="2857500" cy="3096577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2950" y="876300"/>
              <a:ext cx="2857500" cy="2143125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742950" y="3182302"/>
              <a:ext cx="2218944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回力球鞋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7468" y="812482"/>
            <a:ext cx="1992782" cy="1561148"/>
            <a:chOff x="7627468" y="812482"/>
            <a:chExt cx="1992782" cy="1561148"/>
          </a:xfrm>
        </p:grpSpPr>
        <p:sp>
          <p:nvSpPr>
            <p:cNvPr id="10" name="TextBox 10"/>
            <p:cNvSpPr txBox="1"/>
            <p:nvPr/>
          </p:nvSpPr>
          <p:spPr>
            <a:xfrm>
              <a:off x="9148572" y="8124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诞生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7468" y="1097280"/>
              <a:ext cx="1992782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1935</a:t>
              </a:r>
            </a:p>
          </p:txBody>
        </p:sp>
      </p:grpSp>
      <p:grpSp>
        <p:nvGrpSpPr>
          <p:cNvPr id="15" name="!!number-badge"/>
          <p:cNvGrpSpPr/>
          <p:nvPr/>
        </p:nvGrpSpPr>
        <p:grpSpPr>
          <a:xfrm>
            <a:off x="1943100" y="4895850"/>
            <a:ext cx="876300" cy="876300"/>
            <a:chOff x="1943100" y="4895850"/>
            <a:chExt cx="876300" cy="876300"/>
          </a:xfrm>
        </p:grpSpPr>
        <p:sp>
          <p:nvSpPr>
            <p:cNvPr id="13" name="Ellipse 13"/>
            <p:cNvSpPr/>
            <p:nvPr/>
          </p:nvSpPr>
          <p:spPr>
            <a:xfrm>
              <a:off x="1943100" y="4895850"/>
              <a:ext cx="876300" cy="876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155755" y="5159692"/>
              <a:ext cx="45099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dirty="0">
                  <a:solidFill>
                    <a:srgbClr val="F4E7CE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286250" y="2857500"/>
            <a:ext cx="4953000" cy="3419475"/>
            <a:chOff x="4286250" y="2857500"/>
            <a:chExt cx="4953000" cy="3419475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86250" y="2857500"/>
              <a:ext cx="4953000" cy="3419475"/>
            </a:xfrm>
            <a:prstGeom prst="rect">
              <a:avLst/>
            </a:prstGeom>
          </p:spPr>
        </p:pic>
      </p:grpSp>
      <p:grpSp>
        <p:nvGrpSpPr>
          <p:cNvPr id="34" name="Group 34"/>
          <p:cNvGrpSpPr/>
          <p:nvPr/>
        </p:nvGrpSpPr>
        <p:grpSpPr>
          <a:xfrm>
            <a:off x="800100" y="6591300"/>
            <a:ext cx="7969091" cy="3111817"/>
            <a:chOff x="800100" y="6591300"/>
            <a:chExt cx="7969091" cy="3111817"/>
          </a:xfrm>
        </p:grpSpPr>
        <p:grpSp>
          <p:nvGrpSpPr>
            <p:cNvPr id="20" name="Group 20"/>
            <p:cNvGrpSpPr/>
            <p:nvPr/>
          </p:nvGrpSpPr>
          <p:grpSpPr>
            <a:xfrm>
              <a:off x="819150" y="6591300"/>
              <a:ext cx="266700" cy="285750"/>
              <a:chOff x="819150" y="6591300"/>
              <a:chExt cx="266700" cy="28575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19150" y="65913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95250" y="0"/>
                    </a:moveTo>
                    <a:lnTo>
                      <a:pt x="38100" y="0"/>
                    </a:lnTo>
                    <a:lnTo>
                      <a:pt x="38100" y="38100"/>
                    </a:lnTo>
                    <a:lnTo>
                      <a:pt x="0" y="38100"/>
                    </a:lnTo>
                    <a:lnTo>
                      <a:pt x="0" y="95250"/>
                    </a:lnTo>
                    <a:lnTo>
                      <a:pt x="266700" y="95250"/>
                    </a:lnTo>
                    <a:lnTo>
                      <a:pt x="266700" y="38100"/>
                    </a:lnTo>
                    <a:lnTo>
                      <a:pt x="228600" y="38100"/>
                    </a:lnTo>
                    <a:lnTo>
                      <a:pt x="228600" y="0"/>
                    </a:lnTo>
                    <a:lnTo>
                      <a:pt x="171450" y="0"/>
                    </a:lnTo>
                    <a:lnTo>
                      <a:pt x="171450" y="38100"/>
                    </a:lnTo>
                    <a:lnTo>
                      <a:pt x="95250" y="3810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19150" y="672465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266700" y="0"/>
                    </a:moveTo>
                    <a:lnTo>
                      <a:pt x="0" y="0"/>
                    </a:lnTo>
                    <a:lnTo>
                      <a:pt x="0" y="152400"/>
                    </a:lnTo>
                    <a:lnTo>
                      <a:pt x="266700" y="152400"/>
                    </a:lnTo>
                    <a:lnTo>
                      <a:pt x="266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229868" y="6660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诞生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55470" y="6596062"/>
              <a:ext cx="69137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「回力」商标 1935 年 4 月注册，工厂 1927 年创办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819150" y="7239000"/>
              <a:ext cx="266700" cy="247650"/>
            </a:xfrm>
            <a:custGeom>
              <a:avLst/>
              <a:gdLst/>
              <a:ahLst/>
              <a:cxnLst/>
              <a:rect l="l" t="t" r="r" b="b"/>
              <a:pathLst>
                <a:path w="266700" h="247650">
                  <a:moveTo>
                    <a:pt x="266700" y="0"/>
                  </a:moveTo>
                  <a:lnTo>
                    <a:pt x="266700" y="247650"/>
                  </a:lnTo>
                  <a:lnTo>
                    <a:pt x="228600" y="247650"/>
                  </a:lnTo>
                  <a:lnTo>
                    <a:pt x="228600" y="152400"/>
                  </a:lnTo>
                  <a:lnTo>
                    <a:pt x="190500" y="152400"/>
                  </a:lnTo>
                  <a:lnTo>
                    <a:pt x="190500" y="247650"/>
                  </a:lnTo>
                  <a:lnTo>
                    <a:pt x="0" y="247650"/>
                  </a:lnTo>
                  <a:lnTo>
                    <a:pt x="0" y="57150"/>
                  </a:lnTo>
                  <a:lnTo>
                    <a:pt x="114300" y="0"/>
                  </a:lnTo>
                  <a:lnTo>
                    <a:pt x="133350" y="0"/>
                  </a:lnTo>
                  <a:lnTo>
                    <a:pt x="133350" y="57150"/>
                  </a:lnTo>
                  <a:lnTo>
                    <a:pt x="247650" y="0"/>
                  </a:lnTo>
                  <a:lnTo>
                    <a:pt x="266700" y="0"/>
                  </a:lnTo>
                  <a:close/>
                  <a:moveTo>
                    <a:pt x="152400" y="114300"/>
                  </a:moveTo>
                  <a:lnTo>
                    <a:pt x="114300" y="114300"/>
                  </a:lnTo>
                  <a:lnTo>
                    <a:pt x="114300" y="190500"/>
                  </a:lnTo>
                  <a:lnTo>
                    <a:pt x="152400" y="190500"/>
                  </a:lnTo>
                  <a:lnTo>
                    <a:pt x="152400" y="114300"/>
                  </a:lnTo>
                  <a:close/>
                  <a:moveTo>
                    <a:pt x="76200" y="114300"/>
                  </a:moveTo>
                  <a:lnTo>
                    <a:pt x="38100" y="114300"/>
                  </a:lnTo>
                  <a:lnTo>
                    <a:pt x="38100" y="190500"/>
                  </a:lnTo>
                  <a:lnTo>
                    <a:pt x="76200" y="190500"/>
                  </a:lnTo>
                  <a:lnTo>
                    <a:pt x="7620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29868" y="72704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55470" y="7205662"/>
              <a:ext cx="521750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上海 · 正泰橡胶厂（今上海回力鞋业）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800100" y="78105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lnTo>
                    <a:pt x="228600" y="38100"/>
                  </a:lnTo>
                  <a:lnTo>
                    <a:pt x="304800" y="38100"/>
                  </a:lnTo>
                  <a:lnTo>
                    <a:pt x="304800" y="76200"/>
                  </a:lnTo>
                  <a:cubicBezTo>
                    <a:pt x="304800" y="122995"/>
                    <a:pt x="271055" y="161908"/>
                    <a:pt x="226573" y="169933"/>
                  </a:cubicBezTo>
                  <a:cubicBezTo>
                    <a:pt x="220098" y="197428"/>
                    <a:pt x="198730" y="219178"/>
                    <a:pt x="171450" y="226200"/>
                  </a:cubicBezTo>
                  <a:lnTo>
                    <a:pt x="171450" y="266700"/>
                  </a:lnTo>
                  <a:lnTo>
                    <a:pt x="228600" y="266700"/>
                  </a:lnTo>
                  <a:lnTo>
                    <a:pt x="228600" y="304800"/>
                  </a:lnTo>
                  <a:lnTo>
                    <a:pt x="76200" y="304800"/>
                  </a:lnTo>
                  <a:lnTo>
                    <a:pt x="76200" y="266700"/>
                  </a:lnTo>
                  <a:lnTo>
                    <a:pt x="133350" y="266700"/>
                  </a:lnTo>
                  <a:lnTo>
                    <a:pt x="133350" y="226200"/>
                  </a:lnTo>
                  <a:cubicBezTo>
                    <a:pt x="106070" y="219178"/>
                    <a:pt x="84702" y="197428"/>
                    <a:pt x="78227" y="169933"/>
                  </a:cubicBezTo>
                  <a:cubicBezTo>
                    <a:pt x="33744" y="161908"/>
                    <a:pt x="0" y="122995"/>
                    <a:pt x="0" y="76200"/>
                  </a:cubicBezTo>
                  <a:lnTo>
                    <a:pt x="0" y="38100"/>
                  </a:lnTo>
                  <a:lnTo>
                    <a:pt x="76200" y="38100"/>
                  </a:lnTo>
                  <a:lnTo>
                    <a:pt x="76200" y="0"/>
                  </a:lnTo>
                  <a:close/>
                  <a:moveTo>
                    <a:pt x="228600" y="130098"/>
                  </a:moveTo>
                  <a:lnTo>
                    <a:pt x="228600" y="76200"/>
                  </a:lnTo>
                  <a:lnTo>
                    <a:pt x="266700" y="76200"/>
                  </a:lnTo>
                  <a:cubicBezTo>
                    <a:pt x="266700" y="101083"/>
                    <a:pt x="250797" y="122253"/>
                    <a:pt x="228600" y="130098"/>
                  </a:cubicBezTo>
                  <a:close/>
                  <a:moveTo>
                    <a:pt x="76200" y="76200"/>
                  </a:moveTo>
                  <a:lnTo>
                    <a:pt x="38100" y="76200"/>
                  </a:lnTo>
                  <a:cubicBezTo>
                    <a:pt x="38100" y="101083"/>
                    <a:pt x="54003" y="122253"/>
                    <a:pt x="76200" y="130098"/>
                  </a:cubicBezTo>
                  <a:lnTo>
                    <a:pt x="7620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29868" y="78800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55470" y="7815262"/>
              <a:ext cx="5380672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1956 年为奥运中国篮球队设计 565 长球鞋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1988 年获</a:t>
              </a:r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国家银质奖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800100" y="8858250"/>
              <a:ext cx="304800" cy="266700"/>
              <a:chOff x="800100" y="8858250"/>
              <a:chExt cx="304800" cy="2667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00100" y="8858250"/>
                <a:ext cx="3048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0">
                    <a:moveTo>
                      <a:pt x="57150" y="0"/>
                    </a:moveTo>
                    <a:lnTo>
                      <a:pt x="0" y="57150"/>
                    </a:lnTo>
                    <a:lnTo>
                      <a:pt x="0" y="76200"/>
                    </a:lnTo>
                    <a:cubicBezTo>
                      <a:pt x="0" y="76200"/>
                      <a:pt x="38100" y="95250"/>
                      <a:pt x="76200" y="95250"/>
                    </a:cubicBezTo>
                    <a:cubicBezTo>
                      <a:pt x="114300" y="95250"/>
                      <a:pt x="152400" y="76200"/>
                      <a:pt x="152400" y="76200"/>
                    </a:cubicBezTo>
                    <a:cubicBezTo>
                      <a:pt x="152400" y="76200"/>
                      <a:pt x="190500" y="95250"/>
                      <a:pt x="228600" y="95250"/>
                    </a:cubicBezTo>
                    <a:cubicBezTo>
                      <a:pt x="266700" y="95250"/>
                      <a:pt x="304800" y="76200"/>
                      <a:pt x="304800" y="76200"/>
                    </a:cubicBezTo>
                    <a:lnTo>
                      <a:pt x="304800" y="57150"/>
                    </a:lnTo>
                    <a:lnTo>
                      <a:pt x="247650" y="0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9150" y="8975889"/>
                <a:ext cx="266700" cy="149061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49061">
                    <a:moveTo>
                      <a:pt x="0" y="149061"/>
                    </a:moveTo>
                    <a:lnTo>
                      <a:pt x="0" y="6543"/>
                    </a:lnTo>
                    <a:cubicBezTo>
                      <a:pt x="15558" y="11226"/>
                      <a:pt x="35846" y="15711"/>
                      <a:pt x="57150" y="15711"/>
                    </a:cubicBezTo>
                    <a:cubicBezTo>
                      <a:pt x="81963" y="15711"/>
                      <a:pt x="105397" y="9627"/>
                      <a:pt x="121586" y="4231"/>
                    </a:cubicBezTo>
                    <a:cubicBezTo>
                      <a:pt x="125906" y="2791"/>
                      <a:pt x="129857" y="1350"/>
                      <a:pt x="133350" y="0"/>
                    </a:cubicBezTo>
                    <a:cubicBezTo>
                      <a:pt x="136843" y="1350"/>
                      <a:pt x="140794" y="2791"/>
                      <a:pt x="145114" y="4231"/>
                    </a:cubicBezTo>
                    <a:cubicBezTo>
                      <a:pt x="161303" y="9627"/>
                      <a:pt x="184737" y="15711"/>
                      <a:pt x="209550" y="15711"/>
                    </a:cubicBezTo>
                    <a:cubicBezTo>
                      <a:pt x="230854" y="15711"/>
                      <a:pt x="251142" y="11226"/>
                      <a:pt x="266700" y="6543"/>
                    </a:cubicBezTo>
                    <a:lnTo>
                      <a:pt x="266700" y="149061"/>
                    </a:lnTo>
                    <a:lnTo>
                      <a:pt x="114300" y="149061"/>
                    </a:lnTo>
                    <a:lnTo>
                      <a:pt x="114300" y="53811"/>
                    </a:lnTo>
                    <a:lnTo>
                      <a:pt x="57150" y="53811"/>
                    </a:lnTo>
                    <a:lnTo>
                      <a:pt x="57150" y="149061"/>
                    </a:lnTo>
                    <a:lnTo>
                      <a:pt x="0" y="149061"/>
                    </a:lnTo>
                    <a:close/>
                    <a:moveTo>
                      <a:pt x="209550" y="53811"/>
                    </a:moveTo>
                    <a:lnTo>
                      <a:pt x="171450" y="53811"/>
                    </a:lnTo>
                    <a:lnTo>
                      <a:pt x="171450" y="110961"/>
                    </a:lnTo>
                    <a:lnTo>
                      <a:pt x="209550" y="110961"/>
                    </a:lnTo>
                    <a:lnTo>
                      <a:pt x="209550" y="538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229868" y="8908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今天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55470" y="8843962"/>
              <a:ext cx="4594860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仍在生产，与故宫、敦煌博物馆联名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电商与直播都买得到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23" presetClass="entr" presetSubtype="16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50"/>
                            </p:stCondLst>
                            <p:childTnLst>
                              <p:par>
                                <p:cTn id="17" presetID="3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60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6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6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6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40" accel="100000" fill="hold">
                                          <p:stCondLst>
                                            <p:cond delay="56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40" accel="100000" fill="hold">
                                          <p:stCondLst>
                                            <p:cond delay="56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3" presetClass="entr" presetSubtype="16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25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8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pattFill prst="pct5">
          <a:fgClr>
            <a:srgbClr val="C3AC80"/>
          </a:fgClr>
          <a:bgClr>
            <a:schemeClr val="l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5300" y="628650"/>
            <a:ext cx="3619500" cy="3333750"/>
          </a:xfrm>
          <a:prstGeom prst="parallelogram">
            <a:avLst>
              <a:gd name="adj" fmla="val 18000"/>
            </a:avLst>
          </a:prstGeom>
          <a:solidFill>
            <a:schemeClr val="lt2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308" y="2286000"/>
            <a:ext cx="4171885" cy="4191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742950" y="838200"/>
            <a:ext cx="2857500" cy="3058477"/>
            <a:chOff x="742950" y="838200"/>
            <a:chExt cx="2857500" cy="3058477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2950" y="838200"/>
              <a:ext cx="2857500" cy="2076450"/>
            </a:xfrm>
            <a:prstGeom prst="rect">
              <a:avLst/>
            </a:prstGeom>
          </p:spPr>
        </p:pic>
        <p:sp>
          <p:nvSpPr>
            <p:cNvPr id="5" name="TextBox 5"/>
            <p:cNvSpPr txBox="1"/>
            <p:nvPr/>
          </p:nvSpPr>
          <p:spPr>
            <a:xfrm>
              <a:off x="742950" y="3106102"/>
              <a:ext cx="2764155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永久自行车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627468" y="812482"/>
            <a:ext cx="1992782" cy="1561148"/>
            <a:chOff x="7627468" y="812482"/>
            <a:chExt cx="1992782" cy="1561148"/>
          </a:xfrm>
        </p:grpSpPr>
        <p:sp>
          <p:nvSpPr>
            <p:cNvPr id="7" name="TextBox 7"/>
            <p:cNvSpPr txBox="1"/>
            <p:nvPr/>
          </p:nvSpPr>
          <p:spPr>
            <a:xfrm>
              <a:off x="9148572" y="8124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诞生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7468" y="1097280"/>
              <a:ext cx="1992782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1949</a:t>
              </a:r>
            </a:p>
          </p:txBody>
        </p:sp>
      </p:grpSp>
      <p:grpSp>
        <p:nvGrpSpPr>
          <p:cNvPr id="12" name="!!number-badge"/>
          <p:cNvGrpSpPr/>
          <p:nvPr/>
        </p:nvGrpSpPr>
        <p:grpSpPr>
          <a:xfrm>
            <a:off x="1181100" y="4895850"/>
            <a:ext cx="876300" cy="876300"/>
            <a:chOff x="1181100" y="4895850"/>
            <a:chExt cx="876300" cy="876300"/>
          </a:xfrm>
        </p:grpSpPr>
        <p:sp>
          <p:nvSpPr>
            <p:cNvPr id="10" name="Ellipse 10"/>
            <p:cNvSpPr/>
            <p:nvPr/>
          </p:nvSpPr>
          <p:spPr>
            <a:xfrm>
              <a:off x="1181100" y="4895850"/>
              <a:ext cx="876300" cy="876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93755" y="5159692"/>
              <a:ext cx="45099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dirty="0">
                  <a:solidFill>
                    <a:srgbClr val="F4E7CE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191000" y="2667000"/>
            <a:ext cx="6096000" cy="3838575"/>
            <a:chOff x="4191000" y="2667000"/>
            <a:chExt cx="6096000" cy="3838575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91000" y="2667000"/>
              <a:ext cx="6096000" cy="3838575"/>
            </a:xfrm>
            <a:prstGeom prst="rect">
              <a:avLst/>
            </a:prstGeom>
          </p:spPr>
        </p:pic>
      </p:grpSp>
      <p:grpSp>
        <p:nvGrpSpPr>
          <p:cNvPr id="31" name="Group 31"/>
          <p:cNvGrpSpPr/>
          <p:nvPr/>
        </p:nvGrpSpPr>
        <p:grpSpPr>
          <a:xfrm>
            <a:off x="800100" y="6667500"/>
            <a:ext cx="7439025" cy="3111817"/>
            <a:chOff x="800100" y="6667500"/>
            <a:chExt cx="7439025" cy="3111817"/>
          </a:xfrm>
        </p:grpSpPr>
        <p:grpSp>
          <p:nvGrpSpPr>
            <p:cNvPr id="17" name="Group 17"/>
            <p:cNvGrpSpPr/>
            <p:nvPr/>
          </p:nvGrpSpPr>
          <p:grpSpPr>
            <a:xfrm>
              <a:off x="819150" y="6667500"/>
              <a:ext cx="266700" cy="285750"/>
              <a:chOff x="819150" y="6667500"/>
              <a:chExt cx="266700" cy="28575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819150" y="66675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95250" y="0"/>
                    </a:moveTo>
                    <a:lnTo>
                      <a:pt x="38100" y="0"/>
                    </a:lnTo>
                    <a:lnTo>
                      <a:pt x="38100" y="38100"/>
                    </a:lnTo>
                    <a:lnTo>
                      <a:pt x="0" y="38100"/>
                    </a:lnTo>
                    <a:lnTo>
                      <a:pt x="0" y="95250"/>
                    </a:lnTo>
                    <a:lnTo>
                      <a:pt x="266700" y="95250"/>
                    </a:lnTo>
                    <a:lnTo>
                      <a:pt x="266700" y="38100"/>
                    </a:lnTo>
                    <a:lnTo>
                      <a:pt x="228600" y="38100"/>
                    </a:lnTo>
                    <a:lnTo>
                      <a:pt x="228600" y="0"/>
                    </a:lnTo>
                    <a:lnTo>
                      <a:pt x="171450" y="0"/>
                    </a:lnTo>
                    <a:lnTo>
                      <a:pt x="171450" y="38100"/>
                    </a:lnTo>
                    <a:lnTo>
                      <a:pt x="95250" y="3810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9150" y="680085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266700" y="0"/>
                    </a:moveTo>
                    <a:lnTo>
                      <a:pt x="0" y="0"/>
                    </a:lnTo>
                    <a:lnTo>
                      <a:pt x="0" y="152400"/>
                    </a:lnTo>
                    <a:lnTo>
                      <a:pt x="266700" y="152400"/>
                    </a:lnTo>
                    <a:lnTo>
                      <a:pt x="266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229868" y="67370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诞生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55470" y="6672262"/>
              <a:ext cx="5023485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1949 年底「永久」试制成功并正式启用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前身是 1940 年秋创办的昌和制作所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19150" y="7734300"/>
              <a:ext cx="266700" cy="247650"/>
            </a:xfrm>
            <a:custGeom>
              <a:avLst/>
              <a:gdLst/>
              <a:ahLst/>
              <a:cxnLst/>
              <a:rect l="l" t="t" r="r" b="b"/>
              <a:pathLst>
                <a:path w="266700" h="247650">
                  <a:moveTo>
                    <a:pt x="266700" y="0"/>
                  </a:moveTo>
                  <a:lnTo>
                    <a:pt x="266700" y="247650"/>
                  </a:lnTo>
                  <a:lnTo>
                    <a:pt x="228600" y="247650"/>
                  </a:lnTo>
                  <a:lnTo>
                    <a:pt x="228600" y="152400"/>
                  </a:lnTo>
                  <a:lnTo>
                    <a:pt x="190500" y="152400"/>
                  </a:lnTo>
                  <a:lnTo>
                    <a:pt x="190500" y="247650"/>
                  </a:lnTo>
                  <a:lnTo>
                    <a:pt x="0" y="247650"/>
                  </a:lnTo>
                  <a:lnTo>
                    <a:pt x="0" y="57150"/>
                  </a:lnTo>
                  <a:lnTo>
                    <a:pt x="114300" y="0"/>
                  </a:lnTo>
                  <a:lnTo>
                    <a:pt x="133350" y="0"/>
                  </a:lnTo>
                  <a:lnTo>
                    <a:pt x="133350" y="57150"/>
                  </a:lnTo>
                  <a:lnTo>
                    <a:pt x="247650" y="0"/>
                  </a:lnTo>
                  <a:lnTo>
                    <a:pt x="266700" y="0"/>
                  </a:lnTo>
                  <a:close/>
                  <a:moveTo>
                    <a:pt x="152400" y="114300"/>
                  </a:moveTo>
                  <a:lnTo>
                    <a:pt x="114300" y="114300"/>
                  </a:lnTo>
                  <a:lnTo>
                    <a:pt x="114300" y="190500"/>
                  </a:lnTo>
                  <a:lnTo>
                    <a:pt x="152400" y="190500"/>
                  </a:lnTo>
                  <a:lnTo>
                    <a:pt x="152400" y="114300"/>
                  </a:lnTo>
                  <a:close/>
                  <a:moveTo>
                    <a:pt x="76200" y="114300"/>
                  </a:moveTo>
                  <a:lnTo>
                    <a:pt x="38100" y="114300"/>
                  </a:lnTo>
                  <a:lnTo>
                    <a:pt x="38100" y="190500"/>
                  </a:lnTo>
                  <a:lnTo>
                    <a:pt x="76200" y="190500"/>
                  </a:lnTo>
                  <a:lnTo>
                    <a:pt x="7620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29868" y="7765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55470" y="7700962"/>
              <a:ext cx="52629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上海杨浦 · 昌和制作所 → 上海自行车厂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819150" y="83058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71450"/>
                  </a:moveTo>
                  <a:cubicBezTo>
                    <a:pt x="266700" y="245097"/>
                    <a:pt x="206997" y="304800"/>
                    <a:pt x="133350" y="304800"/>
                  </a:cubicBezTo>
                  <a:cubicBezTo>
                    <a:pt x="59703" y="304800"/>
                    <a:pt x="0" y="245097"/>
                    <a:pt x="0" y="171450"/>
                  </a:cubicBezTo>
                  <a:cubicBezTo>
                    <a:pt x="0" y="104775"/>
                    <a:pt x="57150" y="57150"/>
                    <a:pt x="57150" y="57150"/>
                  </a:cubicBezTo>
                  <a:lnTo>
                    <a:pt x="95250" y="57150"/>
                  </a:lnTo>
                  <a:lnTo>
                    <a:pt x="95250" y="85725"/>
                  </a:lnTo>
                  <a:cubicBezTo>
                    <a:pt x="95250" y="96246"/>
                    <a:pt x="103779" y="104775"/>
                    <a:pt x="114300" y="104775"/>
                  </a:cubicBezTo>
                  <a:cubicBezTo>
                    <a:pt x="124821" y="104775"/>
                    <a:pt x="133350" y="96246"/>
                    <a:pt x="133350" y="85725"/>
                  </a:cubicBezTo>
                  <a:lnTo>
                    <a:pt x="133350" y="0"/>
                  </a:lnTo>
                  <a:lnTo>
                    <a:pt x="171450" y="0"/>
                  </a:lnTo>
                  <a:cubicBezTo>
                    <a:pt x="171450" y="0"/>
                    <a:pt x="266700" y="57150"/>
                    <a:pt x="266700" y="171450"/>
                  </a:cubicBezTo>
                  <a:close/>
                  <a:moveTo>
                    <a:pt x="171450" y="228600"/>
                  </a:moveTo>
                  <a:cubicBezTo>
                    <a:pt x="171450" y="249643"/>
                    <a:pt x="154392" y="266700"/>
                    <a:pt x="133350" y="266700"/>
                  </a:cubicBezTo>
                  <a:cubicBezTo>
                    <a:pt x="112308" y="266700"/>
                    <a:pt x="95250" y="249643"/>
                    <a:pt x="95250" y="228600"/>
                  </a:cubicBezTo>
                  <a:cubicBezTo>
                    <a:pt x="95250" y="180975"/>
                    <a:pt x="133350" y="152400"/>
                    <a:pt x="133350" y="152400"/>
                  </a:cubicBezTo>
                  <a:cubicBezTo>
                    <a:pt x="133350" y="152400"/>
                    <a:pt x="171450" y="180975"/>
                    <a:pt x="171450" y="228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29868" y="8375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55470" y="8310562"/>
              <a:ext cx="4880610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1949–1990 年累计生产约 </a:t>
              </a:r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5000 万辆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约占当时全国自行车拥有量的六分之一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800100" y="9353550"/>
              <a:ext cx="304800" cy="266700"/>
              <a:chOff x="800100" y="9353550"/>
              <a:chExt cx="304800" cy="2667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00100" y="9353550"/>
                <a:ext cx="3048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0">
                    <a:moveTo>
                      <a:pt x="57150" y="0"/>
                    </a:moveTo>
                    <a:lnTo>
                      <a:pt x="0" y="57150"/>
                    </a:lnTo>
                    <a:lnTo>
                      <a:pt x="0" y="76200"/>
                    </a:lnTo>
                    <a:cubicBezTo>
                      <a:pt x="0" y="76200"/>
                      <a:pt x="38100" y="95250"/>
                      <a:pt x="76200" y="95250"/>
                    </a:cubicBezTo>
                    <a:cubicBezTo>
                      <a:pt x="114300" y="95250"/>
                      <a:pt x="152400" y="76200"/>
                      <a:pt x="152400" y="76200"/>
                    </a:cubicBezTo>
                    <a:cubicBezTo>
                      <a:pt x="152400" y="76200"/>
                      <a:pt x="190500" y="95250"/>
                      <a:pt x="228600" y="95250"/>
                    </a:cubicBezTo>
                    <a:cubicBezTo>
                      <a:pt x="266700" y="95250"/>
                      <a:pt x="304800" y="76200"/>
                      <a:pt x="304800" y="76200"/>
                    </a:cubicBezTo>
                    <a:lnTo>
                      <a:pt x="304800" y="57150"/>
                    </a:lnTo>
                    <a:lnTo>
                      <a:pt x="247650" y="0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19150" y="9471189"/>
                <a:ext cx="266700" cy="149061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49061">
                    <a:moveTo>
                      <a:pt x="0" y="149061"/>
                    </a:moveTo>
                    <a:lnTo>
                      <a:pt x="0" y="6543"/>
                    </a:lnTo>
                    <a:cubicBezTo>
                      <a:pt x="15558" y="11226"/>
                      <a:pt x="35846" y="15711"/>
                      <a:pt x="57150" y="15711"/>
                    </a:cubicBezTo>
                    <a:cubicBezTo>
                      <a:pt x="81963" y="15711"/>
                      <a:pt x="105397" y="9627"/>
                      <a:pt x="121586" y="4231"/>
                    </a:cubicBezTo>
                    <a:cubicBezTo>
                      <a:pt x="125906" y="2791"/>
                      <a:pt x="129857" y="1350"/>
                      <a:pt x="133350" y="0"/>
                    </a:cubicBezTo>
                    <a:cubicBezTo>
                      <a:pt x="136843" y="1350"/>
                      <a:pt x="140794" y="2791"/>
                      <a:pt x="145114" y="4231"/>
                    </a:cubicBezTo>
                    <a:cubicBezTo>
                      <a:pt x="161303" y="9627"/>
                      <a:pt x="184737" y="15711"/>
                      <a:pt x="209550" y="15711"/>
                    </a:cubicBezTo>
                    <a:cubicBezTo>
                      <a:pt x="230854" y="15711"/>
                      <a:pt x="251142" y="11226"/>
                      <a:pt x="266700" y="6543"/>
                    </a:cubicBezTo>
                    <a:lnTo>
                      <a:pt x="266700" y="149061"/>
                    </a:lnTo>
                    <a:lnTo>
                      <a:pt x="114300" y="149061"/>
                    </a:lnTo>
                    <a:lnTo>
                      <a:pt x="114300" y="53811"/>
                    </a:lnTo>
                    <a:lnTo>
                      <a:pt x="57150" y="53811"/>
                    </a:lnTo>
                    <a:lnTo>
                      <a:pt x="57150" y="149061"/>
                    </a:lnTo>
                    <a:lnTo>
                      <a:pt x="0" y="149061"/>
                    </a:lnTo>
                    <a:close/>
                    <a:moveTo>
                      <a:pt x="209550" y="53811"/>
                    </a:moveTo>
                    <a:lnTo>
                      <a:pt x="171450" y="53811"/>
                    </a:lnTo>
                    <a:lnTo>
                      <a:pt x="171450" y="110961"/>
                    </a:lnTo>
                    <a:lnTo>
                      <a:pt x="209550" y="110961"/>
                    </a:lnTo>
                    <a:lnTo>
                      <a:pt x="209550" y="538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229868" y="94040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今天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55470" y="9339262"/>
              <a:ext cx="63836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今由中路股份生产，已扩到电动车、童车与轮椅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23" presetClass="entr" presetSubtype="16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5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pattFill prst="pct5">
          <a:fgClr>
            <a:srgbClr val="C3AC80"/>
          </a:fgClr>
          <a:bgClr>
            <a:schemeClr val="l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57244"/>
            <a:ext cx="2476500" cy="2467011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0" y="5619750"/>
            <a:ext cx="10287000" cy="1047750"/>
          </a:xfrm>
          <a:prstGeom prst="trapezoid">
            <a:avLst>
              <a:gd name="adj" fmla="val 9000"/>
            </a:avLst>
          </a:prstGeom>
          <a:solidFill>
            <a:schemeClr val="l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2950" y="1238250"/>
            <a:ext cx="2857500" cy="3068003"/>
            <a:chOff x="742950" y="1238250"/>
            <a:chExt cx="2857500" cy="3068003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2950" y="1238250"/>
              <a:ext cx="2857500" cy="2105025"/>
            </a:xfrm>
            <a:prstGeom prst="rect">
              <a:avLst/>
            </a:prstGeom>
          </p:spPr>
        </p:pic>
        <p:sp>
          <p:nvSpPr>
            <p:cNvPr id="5" name="TextBox 5"/>
            <p:cNvSpPr txBox="1"/>
            <p:nvPr/>
          </p:nvSpPr>
          <p:spPr>
            <a:xfrm>
              <a:off x="742950" y="3515678"/>
              <a:ext cx="2218944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光明冰砖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627468" y="812482"/>
            <a:ext cx="1992782" cy="1561148"/>
            <a:chOff x="7627468" y="812482"/>
            <a:chExt cx="1992782" cy="1561148"/>
          </a:xfrm>
        </p:grpSpPr>
        <p:sp>
          <p:nvSpPr>
            <p:cNvPr id="7" name="TextBox 7"/>
            <p:cNvSpPr txBox="1"/>
            <p:nvPr/>
          </p:nvSpPr>
          <p:spPr>
            <a:xfrm>
              <a:off x="9148572" y="8124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诞生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7468" y="1097280"/>
              <a:ext cx="1992782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1950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0" y="2619375"/>
            <a:ext cx="2638425" cy="3619500"/>
            <a:chOff x="5143500" y="2619375"/>
            <a:chExt cx="2638425" cy="361950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43500" y="2619375"/>
              <a:ext cx="2638425" cy="3619500"/>
            </a:xfrm>
            <a:prstGeom prst="rect">
              <a:avLst/>
            </a:prstGeom>
          </p:spPr>
        </p:pic>
      </p:grpSp>
      <p:grpSp>
        <p:nvGrpSpPr>
          <p:cNvPr id="14" name="!!number-badge"/>
          <p:cNvGrpSpPr/>
          <p:nvPr/>
        </p:nvGrpSpPr>
        <p:grpSpPr>
          <a:xfrm>
            <a:off x="8420100" y="4991100"/>
            <a:ext cx="876300" cy="876300"/>
            <a:chOff x="8420100" y="4991100"/>
            <a:chExt cx="876300" cy="876300"/>
          </a:xfrm>
        </p:grpSpPr>
        <p:sp>
          <p:nvSpPr>
            <p:cNvPr id="12" name="Ellipse 12"/>
            <p:cNvSpPr/>
            <p:nvPr/>
          </p:nvSpPr>
          <p:spPr>
            <a:xfrm>
              <a:off x="8420100" y="4991100"/>
              <a:ext cx="876300" cy="876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32755" y="5254942"/>
              <a:ext cx="45099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dirty="0">
                  <a:solidFill>
                    <a:srgbClr val="F4E7CE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00100" y="6667500"/>
            <a:ext cx="7493318" cy="3530917"/>
            <a:chOff x="800100" y="6667500"/>
            <a:chExt cx="7493318" cy="3530917"/>
          </a:xfrm>
        </p:grpSpPr>
        <p:grpSp>
          <p:nvGrpSpPr>
            <p:cNvPr id="17" name="Group 17"/>
            <p:cNvGrpSpPr/>
            <p:nvPr/>
          </p:nvGrpSpPr>
          <p:grpSpPr>
            <a:xfrm>
              <a:off x="819150" y="6667500"/>
              <a:ext cx="266700" cy="285750"/>
              <a:chOff x="819150" y="6667500"/>
              <a:chExt cx="266700" cy="28575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819150" y="66675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95250" y="0"/>
                    </a:moveTo>
                    <a:lnTo>
                      <a:pt x="38100" y="0"/>
                    </a:lnTo>
                    <a:lnTo>
                      <a:pt x="38100" y="38100"/>
                    </a:lnTo>
                    <a:lnTo>
                      <a:pt x="0" y="38100"/>
                    </a:lnTo>
                    <a:lnTo>
                      <a:pt x="0" y="95250"/>
                    </a:lnTo>
                    <a:lnTo>
                      <a:pt x="266700" y="95250"/>
                    </a:lnTo>
                    <a:lnTo>
                      <a:pt x="266700" y="38100"/>
                    </a:lnTo>
                    <a:lnTo>
                      <a:pt x="228600" y="38100"/>
                    </a:lnTo>
                    <a:lnTo>
                      <a:pt x="228600" y="0"/>
                    </a:lnTo>
                    <a:lnTo>
                      <a:pt x="171450" y="0"/>
                    </a:lnTo>
                    <a:lnTo>
                      <a:pt x="171450" y="38100"/>
                    </a:lnTo>
                    <a:lnTo>
                      <a:pt x="95250" y="3810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9150" y="680085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266700" y="0"/>
                    </a:moveTo>
                    <a:lnTo>
                      <a:pt x="0" y="0"/>
                    </a:lnTo>
                    <a:lnTo>
                      <a:pt x="0" y="152400"/>
                    </a:lnTo>
                    <a:lnTo>
                      <a:pt x="266700" y="152400"/>
                    </a:lnTo>
                    <a:lnTo>
                      <a:pt x="266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229868" y="67370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诞生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55470" y="6672262"/>
              <a:ext cx="5109210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1950 年 5 月「光明」牌冷饮推出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前身可溯至 1913 年创办的美商海宁洋行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19150" y="7734300"/>
              <a:ext cx="266700" cy="247650"/>
            </a:xfrm>
            <a:custGeom>
              <a:avLst/>
              <a:gdLst/>
              <a:ahLst/>
              <a:cxnLst/>
              <a:rect l="l" t="t" r="r" b="b"/>
              <a:pathLst>
                <a:path w="266700" h="247650">
                  <a:moveTo>
                    <a:pt x="266700" y="0"/>
                  </a:moveTo>
                  <a:lnTo>
                    <a:pt x="266700" y="247650"/>
                  </a:lnTo>
                  <a:lnTo>
                    <a:pt x="228600" y="247650"/>
                  </a:lnTo>
                  <a:lnTo>
                    <a:pt x="228600" y="152400"/>
                  </a:lnTo>
                  <a:lnTo>
                    <a:pt x="190500" y="152400"/>
                  </a:lnTo>
                  <a:lnTo>
                    <a:pt x="190500" y="247650"/>
                  </a:lnTo>
                  <a:lnTo>
                    <a:pt x="0" y="247650"/>
                  </a:lnTo>
                  <a:lnTo>
                    <a:pt x="0" y="57150"/>
                  </a:lnTo>
                  <a:lnTo>
                    <a:pt x="114300" y="0"/>
                  </a:lnTo>
                  <a:lnTo>
                    <a:pt x="133350" y="0"/>
                  </a:lnTo>
                  <a:lnTo>
                    <a:pt x="133350" y="57150"/>
                  </a:lnTo>
                  <a:lnTo>
                    <a:pt x="247650" y="0"/>
                  </a:lnTo>
                  <a:lnTo>
                    <a:pt x="266700" y="0"/>
                  </a:lnTo>
                  <a:close/>
                  <a:moveTo>
                    <a:pt x="152400" y="114300"/>
                  </a:moveTo>
                  <a:lnTo>
                    <a:pt x="114300" y="114300"/>
                  </a:lnTo>
                  <a:lnTo>
                    <a:pt x="114300" y="190500"/>
                  </a:lnTo>
                  <a:lnTo>
                    <a:pt x="152400" y="190500"/>
                  </a:lnTo>
                  <a:lnTo>
                    <a:pt x="152400" y="114300"/>
                  </a:lnTo>
                  <a:close/>
                  <a:moveTo>
                    <a:pt x="76200" y="114300"/>
                  </a:moveTo>
                  <a:lnTo>
                    <a:pt x="38100" y="114300"/>
                  </a:lnTo>
                  <a:lnTo>
                    <a:pt x="38100" y="190500"/>
                  </a:lnTo>
                  <a:lnTo>
                    <a:pt x="76200" y="190500"/>
                  </a:lnTo>
                  <a:lnTo>
                    <a:pt x="7620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29868" y="7765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55470" y="7700962"/>
              <a:ext cx="506606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上海 · 益民食品一厂（1953 年定名）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819150" y="83058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71450"/>
                  </a:moveTo>
                  <a:cubicBezTo>
                    <a:pt x="266700" y="245097"/>
                    <a:pt x="206997" y="304800"/>
                    <a:pt x="133350" y="304800"/>
                  </a:cubicBezTo>
                  <a:cubicBezTo>
                    <a:pt x="59703" y="304800"/>
                    <a:pt x="0" y="245097"/>
                    <a:pt x="0" y="171450"/>
                  </a:cubicBezTo>
                  <a:cubicBezTo>
                    <a:pt x="0" y="104775"/>
                    <a:pt x="57150" y="57150"/>
                    <a:pt x="57150" y="57150"/>
                  </a:cubicBezTo>
                  <a:lnTo>
                    <a:pt x="95250" y="57150"/>
                  </a:lnTo>
                  <a:lnTo>
                    <a:pt x="95250" y="85725"/>
                  </a:lnTo>
                  <a:cubicBezTo>
                    <a:pt x="95250" y="96246"/>
                    <a:pt x="103779" y="104775"/>
                    <a:pt x="114300" y="104775"/>
                  </a:cubicBezTo>
                  <a:cubicBezTo>
                    <a:pt x="124821" y="104775"/>
                    <a:pt x="133350" y="96246"/>
                    <a:pt x="133350" y="85725"/>
                  </a:cubicBezTo>
                  <a:lnTo>
                    <a:pt x="133350" y="0"/>
                  </a:lnTo>
                  <a:lnTo>
                    <a:pt x="171450" y="0"/>
                  </a:lnTo>
                  <a:cubicBezTo>
                    <a:pt x="171450" y="0"/>
                    <a:pt x="266700" y="57150"/>
                    <a:pt x="266700" y="171450"/>
                  </a:cubicBezTo>
                  <a:close/>
                  <a:moveTo>
                    <a:pt x="171450" y="228600"/>
                  </a:moveTo>
                  <a:cubicBezTo>
                    <a:pt x="171450" y="249643"/>
                    <a:pt x="154392" y="266700"/>
                    <a:pt x="133350" y="266700"/>
                  </a:cubicBezTo>
                  <a:cubicBezTo>
                    <a:pt x="112308" y="266700"/>
                    <a:pt x="95250" y="249643"/>
                    <a:pt x="95250" y="228600"/>
                  </a:cubicBezTo>
                  <a:cubicBezTo>
                    <a:pt x="95250" y="180975"/>
                    <a:pt x="133350" y="152400"/>
                    <a:pt x="133350" y="152400"/>
                  </a:cubicBezTo>
                  <a:cubicBezTo>
                    <a:pt x="133350" y="152400"/>
                    <a:pt x="171450" y="180975"/>
                    <a:pt x="171450" y="228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29868" y="8375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55470" y="8310562"/>
              <a:ext cx="6437948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小中大三种规格分别卖 1 角 9 分、4 角 2 分和 7 角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此后</a:t>
              </a:r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十七年没有涨过价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800100" y="9353550"/>
              <a:ext cx="304800" cy="266700"/>
              <a:chOff x="800100" y="9353550"/>
              <a:chExt cx="304800" cy="2667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00100" y="9353550"/>
                <a:ext cx="3048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0">
                    <a:moveTo>
                      <a:pt x="57150" y="0"/>
                    </a:moveTo>
                    <a:lnTo>
                      <a:pt x="0" y="57150"/>
                    </a:lnTo>
                    <a:lnTo>
                      <a:pt x="0" y="76200"/>
                    </a:lnTo>
                    <a:cubicBezTo>
                      <a:pt x="0" y="76200"/>
                      <a:pt x="38100" y="95250"/>
                      <a:pt x="76200" y="95250"/>
                    </a:cubicBezTo>
                    <a:cubicBezTo>
                      <a:pt x="114300" y="95250"/>
                      <a:pt x="152400" y="76200"/>
                      <a:pt x="152400" y="76200"/>
                    </a:cubicBezTo>
                    <a:cubicBezTo>
                      <a:pt x="152400" y="76200"/>
                      <a:pt x="190500" y="95250"/>
                      <a:pt x="228600" y="95250"/>
                    </a:cubicBezTo>
                    <a:cubicBezTo>
                      <a:pt x="266700" y="95250"/>
                      <a:pt x="304800" y="76200"/>
                      <a:pt x="304800" y="76200"/>
                    </a:cubicBezTo>
                    <a:lnTo>
                      <a:pt x="304800" y="57150"/>
                    </a:lnTo>
                    <a:lnTo>
                      <a:pt x="247650" y="0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19150" y="9471189"/>
                <a:ext cx="266700" cy="149061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49061">
                    <a:moveTo>
                      <a:pt x="0" y="149061"/>
                    </a:moveTo>
                    <a:lnTo>
                      <a:pt x="0" y="6543"/>
                    </a:lnTo>
                    <a:cubicBezTo>
                      <a:pt x="15558" y="11226"/>
                      <a:pt x="35846" y="15711"/>
                      <a:pt x="57150" y="15711"/>
                    </a:cubicBezTo>
                    <a:cubicBezTo>
                      <a:pt x="81963" y="15711"/>
                      <a:pt x="105397" y="9627"/>
                      <a:pt x="121586" y="4231"/>
                    </a:cubicBezTo>
                    <a:cubicBezTo>
                      <a:pt x="125906" y="2791"/>
                      <a:pt x="129857" y="1350"/>
                      <a:pt x="133350" y="0"/>
                    </a:cubicBezTo>
                    <a:cubicBezTo>
                      <a:pt x="136843" y="1350"/>
                      <a:pt x="140794" y="2791"/>
                      <a:pt x="145114" y="4231"/>
                    </a:cubicBezTo>
                    <a:cubicBezTo>
                      <a:pt x="161303" y="9627"/>
                      <a:pt x="184737" y="15711"/>
                      <a:pt x="209550" y="15711"/>
                    </a:cubicBezTo>
                    <a:cubicBezTo>
                      <a:pt x="230854" y="15711"/>
                      <a:pt x="251142" y="11226"/>
                      <a:pt x="266700" y="6543"/>
                    </a:cubicBezTo>
                    <a:lnTo>
                      <a:pt x="266700" y="149061"/>
                    </a:lnTo>
                    <a:lnTo>
                      <a:pt x="114300" y="149061"/>
                    </a:lnTo>
                    <a:lnTo>
                      <a:pt x="114300" y="53811"/>
                    </a:lnTo>
                    <a:lnTo>
                      <a:pt x="57150" y="53811"/>
                    </a:lnTo>
                    <a:lnTo>
                      <a:pt x="57150" y="149061"/>
                    </a:lnTo>
                    <a:lnTo>
                      <a:pt x="0" y="149061"/>
                    </a:lnTo>
                    <a:close/>
                    <a:moveTo>
                      <a:pt x="209550" y="53811"/>
                    </a:moveTo>
                    <a:lnTo>
                      <a:pt x="171450" y="53811"/>
                    </a:lnTo>
                    <a:lnTo>
                      <a:pt x="171450" y="110961"/>
                    </a:lnTo>
                    <a:lnTo>
                      <a:pt x="209550" y="110961"/>
                    </a:lnTo>
                    <a:lnTo>
                      <a:pt x="209550" y="538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229868" y="94040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今天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55470" y="9339262"/>
              <a:ext cx="4823460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2018 年因「难买到」重新走红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同年光明乳业 1.43 亿元收购益民一厂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23" presetClass="entr" presetSubtype="16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50"/>
                            </p:stCondLst>
                            <p:childTnLst>
                              <p:par>
                                <p:cTn id="17" presetID="3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6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6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6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6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40" accel="100000" fill="hold">
                                          <p:stCondLst>
                                            <p:cond delay="56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40" accel="100000" fill="hold">
                                          <p:stCondLst>
                                            <p:cond delay="56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pattFill prst="pct5">
          <a:fgClr>
            <a:srgbClr val="C3AC80"/>
          </a:fgClr>
          <a:bgClr>
            <a:schemeClr val="l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6000" y="762000"/>
            <a:ext cx="5715000" cy="5715000"/>
          </a:xfrm>
          <a:prstGeom prst="donut">
            <a:avLst>
              <a:gd name="adj" fmla="val 8000"/>
            </a:avLst>
          </a:prstGeom>
          <a:solidFill>
            <a:schemeClr val="lt2"/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2514600" y="990600"/>
            <a:ext cx="5257800" cy="5257800"/>
            <a:chOff x="2514600" y="990600"/>
            <a:chExt cx="5257800" cy="5257800"/>
          </a:xfrm>
        </p:grpSpPr>
        <p:sp>
          <p:nvSpPr>
            <p:cNvPr id="3" name="Line 3"/>
            <p:cNvSpPr/>
            <p:nvPr/>
          </p:nvSpPr>
          <p:spPr>
            <a:xfrm>
              <a:off x="5143500" y="9906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266700"/>
                  </a:moveTo>
                  <a:lnTo>
                    <a:pt x="0" y="0"/>
                  </a:lnTo>
                </a:path>
              </a:pathLst>
            </a:custGeom>
            <a:noFill/>
            <a:ln w="57150" cap="rnd">
              <a:solidFill>
                <a:schemeClr val="accent6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324600" y="1343025"/>
              <a:ext cx="133350" cy="230505"/>
            </a:xfrm>
            <a:custGeom>
              <a:avLst/>
              <a:gdLst/>
              <a:ahLst/>
              <a:cxnLst/>
              <a:rect l="l" t="t" r="r" b="b"/>
              <a:pathLst>
                <a:path w="133350" h="230505">
                  <a:moveTo>
                    <a:pt x="0" y="230505"/>
                  </a:moveTo>
                  <a:lnTo>
                    <a:pt x="133350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7189470" y="2305050"/>
              <a:ext cx="230505" cy="133350"/>
            </a:xfrm>
            <a:custGeom>
              <a:avLst/>
              <a:gdLst/>
              <a:ahLst/>
              <a:cxnLst/>
              <a:rect l="l" t="t" r="r" b="b"/>
              <a:pathLst>
                <a:path w="230505" h="133350">
                  <a:moveTo>
                    <a:pt x="0" y="133350"/>
                  </a:moveTo>
                  <a:lnTo>
                    <a:pt x="230505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7505700" y="36195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57150" cap="rnd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189470" y="4800600"/>
              <a:ext cx="230505" cy="133350"/>
            </a:xfrm>
            <a:custGeom>
              <a:avLst/>
              <a:gdLst/>
              <a:ahLst/>
              <a:cxnLst/>
              <a:rect l="l" t="t" r="r" b="b"/>
              <a:pathLst>
                <a:path w="230505" h="133350">
                  <a:moveTo>
                    <a:pt x="0" y="0"/>
                  </a:moveTo>
                  <a:lnTo>
                    <a:pt x="230505" y="13335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324600" y="5665470"/>
              <a:ext cx="133350" cy="230505"/>
            </a:xfrm>
            <a:custGeom>
              <a:avLst/>
              <a:gdLst/>
              <a:ahLst/>
              <a:cxnLst/>
              <a:rect l="l" t="t" r="r" b="b"/>
              <a:pathLst>
                <a:path w="133350" h="230505">
                  <a:moveTo>
                    <a:pt x="0" y="0"/>
                  </a:moveTo>
                  <a:lnTo>
                    <a:pt x="133350" y="230505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143500" y="59817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57150" cap="rnd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29050" y="5665470"/>
              <a:ext cx="133350" cy="230505"/>
            </a:xfrm>
            <a:custGeom>
              <a:avLst/>
              <a:gdLst/>
              <a:ahLst/>
              <a:cxnLst/>
              <a:rect l="l" t="t" r="r" b="b"/>
              <a:pathLst>
                <a:path w="133350" h="230505">
                  <a:moveTo>
                    <a:pt x="133350" y="0"/>
                  </a:moveTo>
                  <a:lnTo>
                    <a:pt x="0" y="230505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867025" y="4800600"/>
              <a:ext cx="230505" cy="133350"/>
            </a:xfrm>
            <a:custGeom>
              <a:avLst/>
              <a:gdLst/>
              <a:ahLst/>
              <a:cxnLst/>
              <a:rect l="l" t="t" r="r" b="b"/>
              <a:pathLst>
                <a:path w="230505" h="133350">
                  <a:moveTo>
                    <a:pt x="230505" y="0"/>
                  </a:moveTo>
                  <a:lnTo>
                    <a:pt x="0" y="13335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514600" y="36195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266700" y="0"/>
                  </a:moveTo>
                  <a:lnTo>
                    <a:pt x="0" y="0"/>
                  </a:lnTo>
                </a:path>
              </a:pathLst>
            </a:custGeom>
            <a:noFill/>
            <a:ln w="57150" cap="rnd">
              <a:solidFill>
                <a:schemeClr val="accent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867025" y="2305050"/>
              <a:ext cx="230505" cy="133350"/>
            </a:xfrm>
            <a:custGeom>
              <a:avLst/>
              <a:gdLst/>
              <a:ahLst/>
              <a:cxnLst/>
              <a:rect l="l" t="t" r="r" b="b"/>
              <a:pathLst>
                <a:path w="230505" h="133350">
                  <a:moveTo>
                    <a:pt x="230505" y="13335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829050" y="1343025"/>
              <a:ext cx="133350" cy="230505"/>
            </a:xfrm>
            <a:custGeom>
              <a:avLst/>
              <a:gdLst/>
              <a:ahLst/>
              <a:cxnLst/>
              <a:rect l="l" t="t" r="r" b="b"/>
              <a:pathLst>
                <a:path w="133350" h="230505">
                  <a:moveTo>
                    <a:pt x="133350" y="230505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742950" y="914400"/>
            <a:ext cx="3044464" cy="3020377"/>
            <a:chOff x="742950" y="914400"/>
            <a:chExt cx="3044464" cy="3020377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6486" y="914400"/>
              <a:ext cx="3040928" cy="2047875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742950" y="3144202"/>
              <a:ext cx="2764155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上海牌手表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7468" y="812482"/>
            <a:ext cx="1992782" cy="1561148"/>
            <a:chOff x="7627468" y="812482"/>
            <a:chExt cx="1992782" cy="1561148"/>
          </a:xfrm>
        </p:grpSpPr>
        <p:sp>
          <p:nvSpPr>
            <p:cNvPr id="19" name="TextBox 19"/>
            <p:cNvSpPr txBox="1"/>
            <p:nvPr/>
          </p:nvSpPr>
          <p:spPr>
            <a:xfrm>
              <a:off x="9148572" y="8124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诞生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7468" y="1097280"/>
              <a:ext cx="1992782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1958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62500" y="1905000"/>
            <a:ext cx="2771775" cy="3810000"/>
            <a:chOff x="4762500" y="1905000"/>
            <a:chExt cx="2771775" cy="381000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62500" y="1905000"/>
              <a:ext cx="2771775" cy="3810000"/>
            </a:xfrm>
            <a:prstGeom prst="rect">
              <a:avLst/>
            </a:prstGeom>
          </p:spPr>
        </p:pic>
      </p:grpSp>
      <p:grpSp>
        <p:nvGrpSpPr>
          <p:cNvPr id="26" name="!!number-badge"/>
          <p:cNvGrpSpPr/>
          <p:nvPr/>
        </p:nvGrpSpPr>
        <p:grpSpPr>
          <a:xfrm>
            <a:off x="1943100" y="5276850"/>
            <a:ext cx="876300" cy="876300"/>
            <a:chOff x="1943100" y="5276850"/>
            <a:chExt cx="876300" cy="876300"/>
          </a:xfrm>
        </p:grpSpPr>
        <p:sp>
          <p:nvSpPr>
            <p:cNvPr id="24" name="Ellipse 24"/>
            <p:cNvSpPr/>
            <p:nvPr/>
          </p:nvSpPr>
          <p:spPr>
            <a:xfrm>
              <a:off x="1943100" y="5276850"/>
              <a:ext cx="876300" cy="876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155755" y="5540692"/>
              <a:ext cx="45099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dirty="0">
                  <a:solidFill>
                    <a:srgbClr val="F4E7CE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0100" y="6667500"/>
            <a:ext cx="7007542" cy="3530917"/>
            <a:chOff x="800100" y="6667500"/>
            <a:chExt cx="7007542" cy="3530917"/>
          </a:xfrm>
        </p:grpSpPr>
        <p:grpSp>
          <p:nvGrpSpPr>
            <p:cNvPr id="29" name="Group 29"/>
            <p:cNvGrpSpPr/>
            <p:nvPr/>
          </p:nvGrpSpPr>
          <p:grpSpPr>
            <a:xfrm>
              <a:off x="819150" y="6667500"/>
              <a:ext cx="266700" cy="285750"/>
              <a:chOff x="819150" y="6667500"/>
              <a:chExt cx="266700" cy="28575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19150" y="66675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95250" y="0"/>
                    </a:moveTo>
                    <a:lnTo>
                      <a:pt x="38100" y="0"/>
                    </a:lnTo>
                    <a:lnTo>
                      <a:pt x="38100" y="38100"/>
                    </a:lnTo>
                    <a:lnTo>
                      <a:pt x="0" y="38100"/>
                    </a:lnTo>
                    <a:lnTo>
                      <a:pt x="0" y="95250"/>
                    </a:lnTo>
                    <a:lnTo>
                      <a:pt x="266700" y="95250"/>
                    </a:lnTo>
                    <a:lnTo>
                      <a:pt x="266700" y="38100"/>
                    </a:lnTo>
                    <a:lnTo>
                      <a:pt x="228600" y="38100"/>
                    </a:lnTo>
                    <a:lnTo>
                      <a:pt x="228600" y="0"/>
                    </a:lnTo>
                    <a:lnTo>
                      <a:pt x="171450" y="0"/>
                    </a:lnTo>
                    <a:lnTo>
                      <a:pt x="171450" y="38100"/>
                    </a:lnTo>
                    <a:lnTo>
                      <a:pt x="95250" y="3810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9150" y="680085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266700" y="0"/>
                    </a:moveTo>
                    <a:lnTo>
                      <a:pt x="0" y="0"/>
                    </a:lnTo>
                    <a:lnTo>
                      <a:pt x="0" y="152400"/>
                    </a:lnTo>
                    <a:lnTo>
                      <a:pt x="266700" y="152400"/>
                    </a:lnTo>
                    <a:lnTo>
                      <a:pt x="266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229868" y="67370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诞生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55470" y="6672262"/>
              <a:ext cx="4980622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1958 年 4 月 23 日上海手表厂建成投产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当年生产 A581 型上海牌手表 13600 只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819150" y="7734300"/>
              <a:ext cx="266700" cy="247650"/>
            </a:xfrm>
            <a:custGeom>
              <a:avLst/>
              <a:gdLst/>
              <a:ahLst/>
              <a:cxnLst/>
              <a:rect l="l" t="t" r="r" b="b"/>
              <a:pathLst>
                <a:path w="266700" h="247650">
                  <a:moveTo>
                    <a:pt x="266700" y="0"/>
                  </a:moveTo>
                  <a:lnTo>
                    <a:pt x="266700" y="247650"/>
                  </a:lnTo>
                  <a:lnTo>
                    <a:pt x="228600" y="247650"/>
                  </a:lnTo>
                  <a:lnTo>
                    <a:pt x="228600" y="152400"/>
                  </a:lnTo>
                  <a:lnTo>
                    <a:pt x="190500" y="152400"/>
                  </a:lnTo>
                  <a:lnTo>
                    <a:pt x="190500" y="247650"/>
                  </a:lnTo>
                  <a:lnTo>
                    <a:pt x="0" y="247650"/>
                  </a:lnTo>
                  <a:lnTo>
                    <a:pt x="0" y="57150"/>
                  </a:lnTo>
                  <a:lnTo>
                    <a:pt x="114300" y="0"/>
                  </a:lnTo>
                  <a:lnTo>
                    <a:pt x="133350" y="0"/>
                  </a:lnTo>
                  <a:lnTo>
                    <a:pt x="133350" y="57150"/>
                  </a:lnTo>
                  <a:lnTo>
                    <a:pt x="247650" y="0"/>
                  </a:lnTo>
                  <a:lnTo>
                    <a:pt x="266700" y="0"/>
                  </a:lnTo>
                  <a:close/>
                  <a:moveTo>
                    <a:pt x="152400" y="114300"/>
                  </a:moveTo>
                  <a:lnTo>
                    <a:pt x="114300" y="114300"/>
                  </a:lnTo>
                  <a:lnTo>
                    <a:pt x="114300" y="190500"/>
                  </a:lnTo>
                  <a:lnTo>
                    <a:pt x="152400" y="190500"/>
                  </a:lnTo>
                  <a:lnTo>
                    <a:pt x="152400" y="114300"/>
                  </a:lnTo>
                  <a:close/>
                  <a:moveTo>
                    <a:pt x="76200" y="114300"/>
                  </a:moveTo>
                  <a:lnTo>
                    <a:pt x="38100" y="114300"/>
                  </a:lnTo>
                  <a:lnTo>
                    <a:pt x="38100" y="190500"/>
                  </a:lnTo>
                  <a:lnTo>
                    <a:pt x="76200" y="190500"/>
                  </a:lnTo>
                  <a:lnTo>
                    <a:pt x="7620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229868" y="7765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55470" y="7700962"/>
              <a:ext cx="37030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上海 · 地方国营上海手表厂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819150" y="83058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71450"/>
                  </a:moveTo>
                  <a:cubicBezTo>
                    <a:pt x="266700" y="245097"/>
                    <a:pt x="206997" y="304800"/>
                    <a:pt x="133350" y="304800"/>
                  </a:cubicBezTo>
                  <a:cubicBezTo>
                    <a:pt x="59703" y="304800"/>
                    <a:pt x="0" y="245097"/>
                    <a:pt x="0" y="171450"/>
                  </a:cubicBezTo>
                  <a:cubicBezTo>
                    <a:pt x="0" y="104775"/>
                    <a:pt x="57150" y="57150"/>
                    <a:pt x="57150" y="57150"/>
                  </a:cubicBezTo>
                  <a:lnTo>
                    <a:pt x="95250" y="57150"/>
                  </a:lnTo>
                  <a:lnTo>
                    <a:pt x="95250" y="85725"/>
                  </a:lnTo>
                  <a:cubicBezTo>
                    <a:pt x="95250" y="96246"/>
                    <a:pt x="103779" y="104775"/>
                    <a:pt x="114300" y="104775"/>
                  </a:cubicBezTo>
                  <a:cubicBezTo>
                    <a:pt x="124821" y="104775"/>
                    <a:pt x="133350" y="96246"/>
                    <a:pt x="133350" y="85725"/>
                  </a:cubicBezTo>
                  <a:lnTo>
                    <a:pt x="133350" y="0"/>
                  </a:lnTo>
                  <a:lnTo>
                    <a:pt x="171450" y="0"/>
                  </a:lnTo>
                  <a:cubicBezTo>
                    <a:pt x="171450" y="0"/>
                    <a:pt x="266700" y="57150"/>
                    <a:pt x="266700" y="171450"/>
                  </a:cubicBezTo>
                  <a:close/>
                  <a:moveTo>
                    <a:pt x="171450" y="228600"/>
                  </a:moveTo>
                  <a:cubicBezTo>
                    <a:pt x="171450" y="249643"/>
                    <a:pt x="154392" y="266700"/>
                    <a:pt x="133350" y="266700"/>
                  </a:cubicBezTo>
                  <a:cubicBezTo>
                    <a:pt x="112308" y="266700"/>
                    <a:pt x="95250" y="249643"/>
                    <a:pt x="95250" y="228600"/>
                  </a:cubicBezTo>
                  <a:cubicBezTo>
                    <a:pt x="95250" y="180975"/>
                    <a:pt x="133350" y="152400"/>
                    <a:pt x="133350" y="152400"/>
                  </a:cubicBezTo>
                  <a:cubicBezTo>
                    <a:pt x="133350" y="152400"/>
                    <a:pt x="171450" y="180975"/>
                    <a:pt x="171450" y="228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29868" y="8375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55470" y="8310562"/>
              <a:ext cx="5952172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1958 年 7 月 1 日首次上市，</a:t>
              </a:r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当天被抢购一空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1978 年全钢防震表约 120 元，约合三个月工资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800100" y="9353550"/>
              <a:ext cx="304800" cy="266700"/>
              <a:chOff x="800100" y="9353550"/>
              <a:chExt cx="304800" cy="2667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00100" y="9353550"/>
                <a:ext cx="3048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0">
                    <a:moveTo>
                      <a:pt x="57150" y="0"/>
                    </a:moveTo>
                    <a:lnTo>
                      <a:pt x="0" y="57150"/>
                    </a:lnTo>
                    <a:lnTo>
                      <a:pt x="0" y="76200"/>
                    </a:lnTo>
                    <a:cubicBezTo>
                      <a:pt x="0" y="76200"/>
                      <a:pt x="38100" y="95250"/>
                      <a:pt x="76200" y="95250"/>
                    </a:cubicBezTo>
                    <a:cubicBezTo>
                      <a:pt x="114300" y="95250"/>
                      <a:pt x="152400" y="76200"/>
                      <a:pt x="152400" y="76200"/>
                    </a:cubicBezTo>
                    <a:cubicBezTo>
                      <a:pt x="152400" y="76200"/>
                      <a:pt x="190500" y="95250"/>
                      <a:pt x="228600" y="95250"/>
                    </a:cubicBezTo>
                    <a:cubicBezTo>
                      <a:pt x="266700" y="95250"/>
                      <a:pt x="304800" y="76200"/>
                      <a:pt x="304800" y="76200"/>
                    </a:cubicBezTo>
                    <a:lnTo>
                      <a:pt x="304800" y="57150"/>
                    </a:lnTo>
                    <a:lnTo>
                      <a:pt x="247650" y="0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9150" y="9471189"/>
                <a:ext cx="266700" cy="149061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49061">
                    <a:moveTo>
                      <a:pt x="0" y="149061"/>
                    </a:moveTo>
                    <a:lnTo>
                      <a:pt x="0" y="6543"/>
                    </a:lnTo>
                    <a:cubicBezTo>
                      <a:pt x="15558" y="11226"/>
                      <a:pt x="35846" y="15711"/>
                      <a:pt x="57150" y="15711"/>
                    </a:cubicBezTo>
                    <a:cubicBezTo>
                      <a:pt x="81963" y="15711"/>
                      <a:pt x="105397" y="9627"/>
                      <a:pt x="121586" y="4231"/>
                    </a:cubicBezTo>
                    <a:cubicBezTo>
                      <a:pt x="125906" y="2791"/>
                      <a:pt x="129857" y="1350"/>
                      <a:pt x="133350" y="0"/>
                    </a:cubicBezTo>
                    <a:cubicBezTo>
                      <a:pt x="136843" y="1350"/>
                      <a:pt x="140794" y="2791"/>
                      <a:pt x="145114" y="4231"/>
                    </a:cubicBezTo>
                    <a:cubicBezTo>
                      <a:pt x="161303" y="9627"/>
                      <a:pt x="184737" y="15711"/>
                      <a:pt x="209550" y="15711"/>
                    </a:cubicBezTo>
                    <a:cubicBezTo>
                      <a:pt x="230854" y="15711"/>
                      <a:pt x="251142" y="11226"/>
                      <a:pt x="266700" y="6543"/>
                    </a:cubicBezTo>
                    <a:lnTo>
                      <a:pt x="266700" y="149061"/>
                    </a:lnTo>
                    <a:lnTo>
                      <a:pt x="114300" y="149061"/>
                    </a:lnTo>
                    <a:lnTo>
                      <a:pt x="114300" y="53811"/>
                    </a:lnTo>
                    <a:lnTo>
                      <a:pt x="57150" y="53811"/>
                    </a:lnTo>
                    <a:lnTo>
                      <a:pt x="57150" y="149061"/>
                    </a:lnTo>
                    <a:lnTo>
                      <a:pt x="0" y="149061"/>
                    </a:lnTo>
                    <a:close/>
                    <a:moveTo>
                      <a:pt x="209550" y="53811"/>
                    </a:moveTo>
                    <a:lnTo>
                      <a:pt x="171450" y="53811"/>
                    </a:lnTo>
                    <a:lnTo>
                      <a:pt x="171450" y="110961"/>
                    </a:lnTo>
                    <a:lnTo>
                      <a:pt x="209550" y="110961"/>
                    </a:lnTo>
                    <a:lnTo>
                      <a:pt x="209550" y="538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229868" y="94040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今天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855470" y="9339262"/>
              <a:ext cx="5452110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中华老字号，南京西路与蟠龙天地已开新店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全国门店约 46 家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23" presetClass="entr" presetSubtype="16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50"/>
                            </p:stCondLst>
                            <p:childTnLst>
                              <p:par>
                                <p:cTn id="17" presetID="31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8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pattFill prst="pct5">
          <a:fgClr>
            <a:srgbClr val="C3AC80"/>
          </a:fgClr>
          <a:bgClr>
            <a:schemeClr val="l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061726"/>
            <a:ext cx="4953000" cy="4925049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8058150" y="3009900"/>
            <a:ext cx="1390650" cy="2628900"/>
            <a:chOff x="8058150" y="3009900"/>
            <a:chExt cx="1390650" cy="2628900"/>
          </a:xfrm>
        </p:grpSpPr>
        <p:sp>
          <p:nvSpPr>
            <p:cNvPr id="3" name="Ellipse 3"/>
            <p:cNvSpPr/>
            <p:nvPr/>
          </p:nvSpPr>
          <p:spPr>
            <a:xfrm>
              <a:off x="8058150" y="300990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648700" y="340995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8286750" y="41910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9039225" y="441960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324850" y="4943475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220200" y="5410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42950" y="914400"/>
            <a:ext cx="3044512" cy="3039427"/>
            <a:chOff x="742950" y="914400"/>
            <a:chExt cx="3044512" cy="3039427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6437" y="914400"/>
              <a:ext cx="3041025" cy="207645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742950" y="3163252"/>
              <a:ext cx="2764155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大白兔奶糖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7468" y="812482"/>
            <a:ext cx="1992782" cy="1561148"/>
            <a:chOff x="7627468" y="812482"/>
            <a:chExt cx="1992782" cy="1561148"/>
          </a:xfrm>
        </p:grpSpPr>
        <p:sp>
          <p:nvSpPr>
            <p:cNvPr id="13" name="TextBox 13"/>
            <p:cNvSpPr txBox="1"/>
            <p:nvPr/>
          </p:nvSpPr>
          <p:spPr>
            <a:xfrm>
              <a:off x="9148572" y="8124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诞生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7468" y="1097280"/>
              <a:ext cx="1992782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1959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2476500"/>
            <a:ext cx="3238500" cy="3009900"/>
            <a:chOff x="4476750" y="2476500"/>
            <a:chExt cx="3238500" cy="3009900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76750" y="2476500"/>
              <a:ext cx="3238500" cy="3009900"/>
            </a:xfrm>
            <a:prstGeom prst="rect">
              <a:avLst/>
            </a:prstGeom>
          </p:spPr>
        </p:pic>
      </p:grpSp>
      <p:grpSp>
        <p:nvGrpSpPr>
          <p:cNvPr id="20" name="!!number-badge"/>
          <p:cNvGrpSpPr/>
          <p:nvPr/>
        </p:nvGrpSpPr>
        <p:grpSpPr>
          <a:xfrm>
            <a:off x="2038350" y="5276850"/>
            <a:ext cx="876300" cy="876300"/>
            <a:chOff x="2038350" y="5276850"/>
            <a:chExt cx="876300" cy="876300"/>
          </a:xfrm>
        </p:grpSpPr>
        <p:sp>
          <p:nvSpPr>
            <p:cNvPr id="18" name="Ellipse 18"/>
            <p:cNvSpPr/>
            <p:nvPr/>
          </p:nvSpPr>
          <p:spPr>
            <a:xfrm>
              <a:off x="2038350" y="5276850"/>
              <a:ext cx="876300" cy="876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251005" y="5540692"/>
              <a:ext cx="45099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dirty="0">
                  <a:solidFill>
                    <a:srgbClr val="F4E7CE"/>
                  </a:solidFill>
                  <a:latin typeface="+mj-lt"/>
                  <a:ea typeface="+mj-ea"/>
                  <a:cs typeface="+mj-cs"/>
                </a:rPr>
                <a:t>05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00100" y="6667500"/>
            <a:ext cx="6984682" cy="3111817"/>
            <a:chOff x="800100" y="6667500"/>
            <a:chExt cx="6984682" cy="3111817"/>
          </a:xfrm>
        </p:grpSpPr>
        <p:grpSp>
          <p:nvGrpSpPr>
            <p:cNvPr id="23" name="Group 23"/>
            <p:cNvGrpSpPr/>
            <p:nvPr/>
          </p:nvGrpSpPr>
          <p:grpSpPr>
            <a:xfrm>
              <a:off x="819150" y="6667500"/>
              <a:ext cx="266700" cy="285750"/>
              <a:chOff x="819150" y="6667500"/>
              <a:chExt cx="266700" cy="2857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19150" y="66675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95250" y="0"/>
                    </a:moveTo>
                    <a:lnTo>
                      <a:pt x="38100" y="0"/>
                    </a:lnTo>
                    <a:lnTo>
                      <a:pt x="38100" y="38100"/>
                    </a:lnTo>
                    <a:lnTo>
                      <a:pt x="0" y="38100"/>
                    </a:lnTo>
                    <a:lnTo>
                      <a:pt x="0" y="95250"/>
                    </a:lnTo>
                    <a:lnTo>
                      <a:pt x="266700" y="95250"/>
                    </a:lnTo>
                    <a:lnTo>
                      <a:pt x="266700" y="38100"/>
                    </a:lnTo>
                    <a:lnTo>
                      <a:pt x="228600" y="38100"/>
                    </a:lnTo>
                    <a:lnTo>
                      <a:pt x="228600" y="0"/>
                    </a:lnTo>
                    <a:lnTo>
                      <a:pt x="171450" y="0"/>
                    </a:lnTo>
                    <a:lnTo>
                      <a:pt x="171450" y="38100"/>
                    </a:lnTo>
                    <a:lnTo>
                      <a:pt x="95250" y="3810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9150" y="680085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266700" y="0"/>
                    </a:moveTo>
                    <a:lnTo>
                      <a:pt x="0" y="0"/>
                    </a:lnTo>
                    <a:lnTo>
                      <a:pt x="0" y="152400"/>
                    </a:lnTo>
                    <a:lnTo>
                      <a:pt x="266700" y="152400"/>
                    </a:lnTo>
                    <a:lnTo>
                      <a:pt x="266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229868" y="67370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诞生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55470" y="6672262"/>
              <a:ext cx="592931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1959 年作为新中国成立十周年献礼产品推出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819150" y="7315200"/>
              <a:ext cx="266700" cy="247650"/>
            </a:xfrm>
            <a:custGeom>
              <a:avLst/>
              <a:gdLst/>
              <a:ahLst/>
              <a:cxnLst/>
              <a:rect l="l" t="t" r="r" b="b"/>
              <a:pathLst>
                <a:path w="266700" h="247650">
                  <a:moveTo>
                    <a:pt x="266700" y="0"/>
                  </a:moveTo>
                  <a:lnTo>
                    <a:pt x="266700" y="247650"/>
                  </a:lnTo>
                  <a:lnTo>
                    <a:pt x="228600" y="247650"/>
                  </a:lnTo>
                  <a:lnTo>
                    <a:pt x="228600" y="152400"/>
                  </a:lnTo>
                  <a:lnTo>
                    <a:pt x="190500" y="152400"/>
                  </a:lnTo>
                  <a:lnTo>
                    <a:pt x="190500" y="247650"/>
                  </a:lnTo>
                  <a:lnTo>
                    <a:pt x="0" y="247650"/>
                  </a:lnTo>
                  <a:lnTo>
                    <a:pt x="0" y="57150"/>
                  </a:lnTo>
                  <a:lnTo>
                    <a:pt x="114300" y="0"/>
                  </a:lnTo>
                  <a:lnTo>
                    <a:pt x="133350" y="0"/>
                  </a:lnTo>
                  <a:lnTo>
                    <a:pt x="133350" y="57150"/>
                  </a:lnTo>
                  <a:lnTo>
                    <a:pt x="247650" y="0"/>
                  </a:lnTo>
                  <a:lnTo>
                    <a:pt x="266700" y="0"/>
                  </a:lnTo>
                  <a:close/>
                  <a:moveTo>
                    <a:pt x="152400" y="114300"/>
                  </a:moveTo>
                  <a:lnTo>
                    <a:pt x="114300" y="114300"/>
                  </a:lnTo>
                  <a:lnTo>
                    <a:pt x="114300" y="190500"/>
                  </a:lnTo>
                  <a:lnTo>
                    <a:pt x="152400" y="190500"/>
                  </a:lnTo>
                  <a:lnTo>
                    <a:pt x="152400" y="114300"/>
                  </a:lnTo>
                  <a:close/>
                  <a:moveTo>
                    <a:pt x="76200" y="114300"/>
                  </a:moveTo>
                  <a:lnTo>
                    <a:pt x="38100" y="114300"/>
                  </a:lnTo>
                  <a:lnTo>
                    <a:pt x="38100" y="190500"/>
                  </a:lnTo>
                  <a:lnTo>
                    <a:pt x="76200" y="190500"/>
                  </a:lnTo>
                  <a:lnTo>
                    <a:pt x="7620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29868" y="73466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55470" y="7281862"/>
              <a:ext cx="56718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上海 · 爱民糖果厂（1976 年并入冠生园）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819150" y="78867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71450"/>
                  </a:moveTo>
                  <a:cubicBezTo>
                    <a:pt x="266700" y="245097"/>
                    <a:pt x="206997" y="304800"/>
                    <a:pt x="133350" y="304800"/>
                  </a:cubicBezTo>
                  <a:cubicBezTo>
                    <a:pt x="59703" y="304800"/>
                    <a:pt x="0" y="245097"/>
                    <a:pt x="0" y="171450"/>
                  </a:cubicBezTo>
                  <a:cubicBezTo>
                    <a:pt x="0" y="104775"/>
                    <a:pt x="57150" y="57150"/>
                    <a:pt x="57150" y="57150"/>
                  </a:cubicBezTo>
                  <a:lnTo>
                    <a:pt x="95250" y="57150"/>
                  </a:lnTo>
                  <a:lnTo>
                    <a:pt x="95250" y="85725"/>
                  </a:lnTo>
                  <a:cubicBezTo>
                    <a:pt x="95250" y="96246"/>
                    <a:pt x="103779" y="104775"/>
                    <a:pt x="114300" y="104775"/>
                  </a:cubicBezTo>
                  <a:cubicBezTo>
                    <a:pt x="124821" y="104775"/>
                    <a:pt x="133350" y="96246"/>
                    <a:pt x="133350" y="85725"/>
                  </a:cubicBezTo>
                  <a:lnTo>
                    <a:pt x="133350" y="0"/>
                  </a:lnTo>
                  <a:lnTo>
                    <a:pt x="171450" y="0"/>
                  </a:lnTo>
                  <a:cubicBezTo>
                    <a:pt x="171450" y="0"/>
                    <a:pt x="266700" y="57150"/>
                    <a:pt x="266700" y="171450"/>
                  </a:cubicBezTo>
                  <a:close/>
                  <a:moveTo>
                    <a:pt x="171450" y="228600"/>
                  </a:moveTo>
                  <a:cubicBezTo>
                    <a:pt x="171450" y="249643"/>
                    <a:pt x="154392" y="266700"/>
                    <a:pt x="133350" y="266700"/>
                  </a:cubicBezTo>
                  <a:cubicBezTo>
                    <a:pt x="112308" y="266700"/>
                    <a:pt x="95250" y="249643"/>
                    <a:pt x="95250" y="228600"/>
                  </a:cubicBezTo>
                  <a:cubicBezTo>
                    <a:pt x="95250" y="180975"/>
                    <a:pt x="133350" y="152400"/>
                    <a:pt x="133350" y="152400"/>
                  </a:cubicBezTo>
                  <a:cubicBezTo>
                    <a:pt x="133350" y="152400"/>
                    <a:pt x="171450" y="180975"/>
                    <a:pt x="171450" y="228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29868" y="79562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55470" y="7891462"/>
              <a:ext cx="5523548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投产初期日产约 800 公斤，多道工序靠手工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</a:t>
              </a:r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七粒大白兔顶一杯牛奶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」的说法传开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800100" y="8934450"/>
              <a:ext cx="304800" cy="266700"/>
              <a:chOff x="800100" y="8934450"/>
              <a:chExt cx="304800" cy="2667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00100" y="8934450"/>
                <a:ext cx="3048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0">
                    <a:moveTo>
                      <a:pt x="57150" y="0"/>
                    </a:moveTo>
                    <a:lnTo>
                      <a:pt x="0" y="57150"/>
                    </a:lnTo>
                    <a:lnTo>
                      <a:pt x="0" y="76200"/>
                    </a:lnTo>
                    <a:cubicBezTo>
                      <a:pt x="0" y="76200"/>
                      <a:pt x="38100" y="95250"/>
                      <a:pt x="76200" y="95250"/>
                    </a:cubicBezTo>
                    <a:cubicBezTo>
                      <a:pt x="114300" y="95250"/>
                      <a:pt x="152400" y="76200"/>
                      <a:pt x="152400" y="76200"/>
                    </a:cubicBezTo>
                    <a:cubicBezTo>
                      <a:pt x="152400" y="76200"/>
                      <a:pt x="190500" y="95250"/>
                      <a:pt x="228600" y="95250"/>
                    </a:cubicBezTo>
                    <a:cubicBezTo>
                      <a:pt x="266700" y="95250"/>
                      <a:pt x="304800" y="76200"/>
                      <a:pt x="304800" y="76200"/>
                    </a:cubicBezTo>
                    <a:lnTo>
                      <a:pt x="304800" y="57150"/>
                    </a:lnTo>
                    <a:lnTo>
                      <a:pt x="247650" y="0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19150" y="9052089"/>
                <a:ext cx="266700" cy="149061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49061">
                    <a:moveTo>
                      <a:pt x="0" y="149061"/>
                    </a:moveTo>
                    <a:lnTo>
                      <a:pt x="0" y="6543"/>
                    </a:lnTo>
                    <a:cubicBezTo>
                      <a:pt x="15558" y="11226"/>
                      <a:pt x="35846" y="15711"/>
                      <a:pt x="57150" y="15711"/>
                    </a:cubicBezTo>
                    <a:cubicBezTo>
                      <a:pt x="81963" y="15711"/>
                      <a:pt x="105397" y="9627"/>
                      <a:pt x="121586" y="4231"/>
                    </a:cubicBezTo>
                    <a:cubicBezTo>
                      <a:pt x="125906" y="2791"/>
                      <a:pt x="129857" y="1350"/>
                      <a:pt x="133350" y="0"/>
                    </a:cubicBezTo>
                    <a:cubicBezTo>
                      <a:pt x="136843" y="1350"/>
                      <a:pt x="140794" y="2791"/>
                      <a:pt x="145114" y="4231"/>
                    </a:cubicBezTo>
                    <a:cubicBezTo>
                      <a:pt x="161303" y="9627"/>
                      <a:pt x="184737" y="15711"/>
                      <a:pt x="209550" y="15711"/>
                    </a:cubicBezTo>
                    <a:cubicBezTo>
                      <a:pt x="230854" y="15711"/>
                      <a:pt x="251142" y="11226"/>
                      <a:pt x="266700" y="6543"/>
                    </a:cubicBezTo>
                    <a:lnTo>
                      <a:pt x="266700" y="149061"/>
                    </a:lnTo>
                    <a:lnTo>
                      <a:pt x="114300" y="149061"/>
                    </a:lnTo>
                    <a:lnTo>
                      <a:pt x="114300" y="53811"/>
                    </a:lnTo>
                    <a:lnTo>
                      <a:pt x="57150" y="53811"/>
                    </a:lnTo>
                    <a:lnTo>
                      <a:pt x="57150" y="149061"/>
                    </a:lnTo>
                    <a:lnTo>
                      <a:pt x="0" y="149061"/>
                    </a:lnTo>
                    <a:close/>
                    <a:moveTo>
                      <a:pt x="209550" y="53811"/>
                    </a:moveTo>
                    <a:lnTo>
                      <a:pt x="171450" y="53811"/>
                    </a:lnTo>
                    <a:lnTo>
                      <a:pt x="171450" y="110961"/>
                    </a:lnTo>
                    <a:lnTo>
                      <a:pt x="209550" y="110961"/>
                    </a:lnTo>
                    <a:lnTo>
                      <a:pt x="209550" y="538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229868" y="89849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今天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55470" y="8920162"/>
              <a:ext cx="5166360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仍在生产，与气味图书馆做过奶糖味香氛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天猫上线 10 分钟售出超 14000 件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23" presetClass="entr" presetSubtype="16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50"/>
                            </p:stCondLst>
                            <p:childTnLst>
                              <p:par>
                                <p:cTn id="17" presetID="3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60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6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6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6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40" accel="100000" fill="hold">
                                          <p:stCondLst>
                                            <p:cond delay="56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40" accel="100000" fill="hold">
                                          <p:stCondLst>
                                            <p:cond delay="56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pattFill prst="pct5">
          <a:fgClr>
            <a:srgbClr val="C3AC80"/>
          </a:fgClr>
          <a:bgClr>
            <a:schemeClr val="l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1500" y="4095750"/>
            <a:ext cx="4095750" cy="1666875"/>
          </a:xfrm>
          <a:prstGeom prst="bracketPair">
            <a:avLst>
              <a:gd name="adj" fmla="val 12000"/>
            </a:avLst>
          </a:prstGeom>
          <a:noFill/>
          <a:ln w="38100">
            <a:solidFill>
              <a:schemeClr val="accent6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742950" y="1238250"/>
            <a:ext cx="3118542" cy="3020377"/>
            <a:chOff x="742950" y="1238250"/>
            <a:chExt cx="3118542" cy="3020377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2950" y="1238250"/>
              <a:ext cx="2857500" cy="2057400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742950" y="3468052"/>
              <a:ext cx="3118542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英雄100钢笔</a:t>
              </a:r>
            </a:p>
          </p:txBody>
        </p:sp>
      </p:grpSp>
      <p:grpSp>
        <p:nvGrpSpPr>
          <p:cNvPr id="8" name="!!number-badge"/>
          <p:cNvGrpSpPr/>
          <p:nvPr/>
        </p:nvGrpSpPr>
        <p:grpSpPr>
          <a:xfrm>
            <a:off x="8686800" y="609600"/>
            <a:ext cx="876300" cy="876300"/>
            <a:chOff x="8686800" y="609600"/>
            <a:chExt cx="876300" cy="876300"/>
          </a:xfrm>
        </p:grpSpPr>
        <p:sp>
          <p:nvSpPr>
            <p:cNvPr id="6" name="Ellipse 6"/>
            <p:cNvSpPr/>
            <p:nvPr/>
          </p:nvSpPr>
          <p:spPr>
            <a:xfrm>
              <a:off x="8686800" y="609600"/>
              <a:ext cx="876300" cy="876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99455" y="873442"/>
              <a:ext cx="45099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dirty="0">
                  <a:solidFill>
                    <a:srgbClr val="F4E7CE"/>
                  </a:solidFill>
                  <a:latin typeface="+mj-lt"/>
                  <a:ea typeface="+mj-ea"/>
                  <a:cs typeface="+mj-cs"/>
                </a:rPr>
                <a:t>06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62500" y="1809750"/>
            <a:ext cx="4953000" cy="5086350"/>
            <a:chOff x="4762500" y="1809750"/>
            <a:chExt cx="4953000" cy="508635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62500" y="1809750"/>
              <a:ext cx="4953000" cy="50863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900684" y="4566285"/>
            <a:ext cx="3020758" cy="893254"/>
            <a:chOff x="900684" y="4566285"/>
            <a:chExt cx="3020758" cy="893254"/>
          </a:xfrm>
        </p:grpSpPr>
        <p:sp>
          <p:nvSpPr>
            <p:cNvPr id="11" name="TextBox 11"/>
            <p:cNvSpPr txBox="1"/>
            <p:nvPr/>
          </p:nvSpPr>
          <p:spPr>
            <a:xfrm>
              <a:off x="900684" y="4566285"/>
              <a:ext cx="257175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「英雄赶派克」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018" y="5136832"/>
              <a:ext cx="30154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1958 年大跃进期间提出的口号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42950" y="5784532"/>
            <a:ext cx="1992782" cy="1561148"/>
            <a:chOff x="742950" y="5784532"/>
            <a:chExt cx="1992782" cy="1561148"/>
          </a:xfrm>
        </p:grpSpPr>
        <p:sp>
          <p:nvSpPr>
            <p:cNvPr id="14" name="TextBox 14"/>
            <p:cNvSpPr txBox="1"/>
            <p:nvPr/>
          </p:nvSpPr>
          <p:spPr>
            <a:xfrm>
              <a:off x="753618" y="57845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诞生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2950" y="6069330"/>
              <a:ext cx="1992782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1962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0100" y="7239000"/>
            <a:ext cx="8332565" cy="2692717"/>
            <a:chOff x="800100" y="7239000"/>
            <a:chExt cx="8332565" cy="2692717"/>
          </a:xfrm>
        </p:grpSpPr>
        <p:grpSp>
          <p:nvGrpSpPr>
            <p:cNvPr id="19" name="Group 19"/>
            <p:cNvGrpSpPr/>
            <p:nvPr/>
          </p:nvGrpSpPr>
          <p:grpSpPr>
            <a:xfrm>
              <a:off x="819150" y="7239000"/>
              <a:ext cx="266700" cy="285750"/>
              <a:chOff x="819150" y="7239000"/>
              <a:chExt cx="266700" cy="28575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19150" y="72390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95250" y="0"/>
                    </a:moveTo>
                    <a:lnTo>
                      <a:pt x="38100" y="0"/>
                    </a:lnTo>
                    <a:lnTo>
                      <a:pt x="38100" y="38100"/>
                    </a:lnTo>
                    <a:lnTo>
                      <a:pt x="0" y="38100"/>
                    </a:lnTo>
                    <a:lnTo>
                      <a:pt x="0" y="95250"/>
                    </a:lnTo>
                    <a:lnTo>
                      <a:pt x="266700" y="95250"/>
                    </a:lnTo>
                    <a:lnTo>
                      <a:pt x="266700" y="38100"/>
                    </a:lnTo>
                    <a:lnTo>
                      <a:pt x="228600" y="38100"/>
                    </a:lnTo>
                    <a:lnTo>
                      <a:pt x="228600" y="0"/>
                    </a:lnTo>
                    <a:lnTo>
                      <a:pt x="171450" y="0"/>
                    </a:lnTo>
                    <a:lnTo>
                      <a:pt x="171450" y="38100"/>
                    </a:lnTo>
                    <a:lnTo>
                      <a:pt x="95250" y="3810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19150" y="737235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266700" y="0"/>
                    </a:moveTo>
                    <a:lnTo>
                      <a:pt x="0" y="0"/>
                    </a:lnTo>
                    <a:lnTo>
                      <a:pt x="0" y="152400"/>
                    </a:lnTo>
                    <a:lnTo>
                      <a:pt x="266700" y="152400"/>
                    </a:lnTo>
                    <a:lnTo>
                      <a:pt x="266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229868" y="73085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诞生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55470" y="7243762"/>
              <a:ext cx="727719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1962 年「英雄100」重新设计定型（厂 1931 年创办）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819150" y="7886700"/>
              <a:ext cx="266700" cy="247650"/>
            </a:xfrm>
            <a:custGeom>
              <a:avLst/>
              <a:gdLst/>
              <a:ahLst/>
              <a:cxnLst/>
              <a:rect l="l" t="t" r="r" b="b"/>
              <a:pathLst>
                <a:path w="266700" h="247650">
                  <a:moveTo>
                    <a:pt x="266700" y="0"/>
                  </a:moveTo>
                  <a:lnTo>
                    <a:pt x="266700" y="247650"/>
                  </a:lnTo>
                  <a:lnTo>
                    <a:pt x="228600" y="247650"/>
                  </a:lnTo>
                  <a:lnTo>
                    <a:pt x="228600" y="152400"/>
                  </a:lnTo>
                  <a:lnTo>
                    <a:pt x="190500" y="152400"/>
                  </a:lnTo>
                  <a:lnTo>
                    <a:pt x="190500" y="247650"/>
                  </a:lnTo>
                  <a:lnTo>
                    <a:pt x="0" y="247650"/>
                  </a:lnTo>
                  <a:lnTo>
                    <a:pt x="0" y="57150"/>
                  </a:lnTo>
                  <a:lnTo>
                    <a:pt x="114300" y="0"/>
                  </a:lnTo>
                  <a:lnTo>
                    <a:pt x="133350" y="0"/>
                  </a:lnTo>
                  <a:lnTo>
                    <a:pt x="133350" y="57150"/>
                  </a:lnTo>
                  <a:lnTo>
                    <a:pt x="247650" y="0"/>
                  </a:lnTo>
                  <a:lnTo>
                    <a:pt x="266700" y="0"/>
                  </a:lnTo>
                  <a:close/>
                  <a:moveTo>
                    <a:pt x="152400" y="114300"/>
                  </a:moveTo>
                  <a:lnTo>
                    <a:pt x="114300" y="114300"/>
                  </a:lnTo>
                  <a:lnTo>
                    <a:pt x="114300" y="190500"/>
                  </a:lnTo>
                  <a:lnTo>
                    <a:pt x="152400" y="190500"/>
                  </a:lnTo>
                  <a:lnTo>
                    <a:pt x="152400" y="114300"/>
                  </a:lnTo>
                  <a:close/>
                  <a:moveTo>
                    <a:pt x="76200" y="114300"/>
                  </a:moveTo>
                  <a:lnTo>
                    <a:pt x="38100" y="114300"/>
                  </a:lnTo>
                  <a:lnTo>
                    <a:pt x="38100" y="190500"/>
                  </a:lnTo>
                  <a:lnTo>
                    <a:pt x="76200" y="190500"/>
                  </a:lnTo>
                  <a:lnTo>
                    <a:pt x="7620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29868" y="7918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55470" y="7853362"/>
              <a:ext cx="52629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上海 · 华孚金笔厂 → 上海英雄（集团）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819150" y="84582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71450"/>
                  </a:moveTo>
                  <a:cubicBezTo>
                    <a:pt x="266700" y="245097"/>
                    <a:pt x="206997" y="304800"/>
                    <a:pt x="133350" y="304800"/>
                  </a:cubicBezTo>
                  <a:cubicBezTo>
                    <a:pt x="59703" y="304800"/>
                    <a:pt x="0" y="245097"/>
                    <a:pt x="0" y="171450"/>
                  </a:cubicBezTo>
                  <a:cubicBezTo>
                    <a:pt x="0" y="104775"/>
                    <a:pt x="57150" y="57150"/>
                    <a:pt x="57150" y="57150"/>
                  </a:cubicBezTo>
                  <a:lnTo>
                    <a:pt x="95250" y="57150"/>
                  </a:lnTo>
                  <a:lnTo>
                    <a:pt x="95250" y="85725"/>
                  </a:lnTo>
                  <a:cubicBezTo>
                    <a:pt x="95250" y="96246"/>
                    <a:pt x="103779" y="104775"/>
                    <a:pt x="114300" y="104775"/>
                  </a:cubicBezTo>
                  <a:cubicBezTo>
                    <a:pt x="124821" y="104775"/>
                    <a:pt x="133350" y="96246"/>
                    <a:pt x="133350" y="85725"/>
                  </a:cubicBezTo>
                  <a:lnTo>
                    <a:pt x="133350" y="0"/>
                  </a:lnTo>
                  <a:lnTo>
                    <a:pt x="171450" y="0"/>
                  </a:lnTo>
                  <a:cubicBezTo>
                    <a:pt x="171450" y="0"/>
                    <a:pt x="266700" y="57150"/>
                    <a:pt x="266700" y="171450"/>
                  </a:cubicBezTo>
                  <a:close/>
                  <a:moveTo>
                    <a:pt x="171450" y="228600"/>
                  </a:moveTo>
                  <a:cubicBezTo>
                    <a:pt x="171450" y="249643"/>
                    <a:pt x="154392" y="266700"/>
                    <a:pt x="133350" y="266700"/>
                  </a:cubicBezTo>
                  <a:cubicBezTo>
                    <a:pt x="112308" y="266700"/>
                    <a:pt x="95250" y="249643"/>
                    <a:pt x="95250" y="228600"/>
                  </a:cubicBezTo>
                  <a:cubicBezTo>
                    <a:pt x="95250" y="180975"/>
                    <a:pt x="133350" y="152400"/>
                    <a:pt x="133350" y="152400"/>
                  </a:cubicBezTo>
                  <a:cubicBezTo>
                    <a:pt x="133350" y="152400"/>
                    <a:pt x="171450" y="180975"/>
                    <a:pt x="171450" y="228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29868" y="8527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55470" y="8462962"/>
              <a:ext cx="6223635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鼎盛期占国内钢笔市场</a:t>
              </a:r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约五成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，远销 60 多个国家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1984 年中英联合声明的签字用笔就是它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800100" y="9505950"/>
              <a:ext cx="304800" cy="266700"/>
              <a:chOff x="800100" y="9505950"/>
              <a:chExt cx="304800" cy="2667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00100" y="9505950"/>
                <a:ext cx="3048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0">
                    <a:moveTo>
                      <a:pt x="57150" y="0"/>
                    </a:moveTo>
                    <a:lnTo>
                      <a:pt x="0" y="57150"/>
                    </a:lnTo>
                    <a:lnTo>
                      <a:pt x="0" y="76200"/>
                    </a:lnTo>
                    <a:cubicBezTo>
                      <a:pt x="0" y="76200"/>
                      <a:pt x="38100" y="95250"/>
                      <a:pt x="76200" y="95250"/>
                    </a:cubicBezTo>
                    <a:cubicBezTo>
                      <a:pt x="114300" y="95250"/>
                      <a:pt x="152400" y="76200"/>
                      <a:pt x="152400" y="76200"/>
                    </a:cubicBezTo>
                    <a:cubicBezTo>
                      <a:pt x="152400" y="76200"/>
                      <a:pt x="190500" y="95250"/>
                      <a:pt x="228600" y="95250"/>
                    </a:cubicBezTo>
                    <a:cubicBezTo>
                      <a:pt x="266700" y="95250"/>
                      <a:pt x="304800" y="76200"/>
                      <a:pt x="304800" y="76200"/>
                    </a:cubicBezTo>
                    <a:lnTo>
                      <a:pt x="304800" y="57150"/>
                    </a:lnTo>
                    <a:lnTo>
                      <a:pt x="247650" y="0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19150" y="9623589"/>
                <a:ext cx="266700" cy="149061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49061">
                    <a:moveTo>
                      <a:pt x="0" y="149061"/>
                    </a:moveTo>
                    <a:lnTo>
                      <a:pt x="0" y="6543"/>
                    </a:lnTo>
                    <a:cubicBezTo>
                      <a:pt x="15558" y="11226"/>
                      <a:pt x="35846" y="15711"/>
                      <a:pt x="57150" y="15711"/>
                    </a:cubicBezTo>
                    <a:cubicBezTo>
                      <a:pt x="81963" y="15711"/>
                      <a:pt x="105397" y="9627"/>
                      <a:pt x="121586" y="4231"/>
                    </a:cubicBezTo>
                    <a:cubicBezTo>
                      <a:pt x="125906" y="2791"/>
                      <a:pt x="129857" y="1350"/>
                      <a:pt x="133350" y="0"/>
                    </a:cubicBezTo>
                    <a:cubicBezTo>
                      <a:pt x="136843" y="1350"/>
                      <a:pt x="140794" y="2791"/>
                      <a:pt x="145114" y="4231"/>
                    </a:cubicBezTo>
                    <a:cubicBezTo>
                      <a:pt x="161303" y="9627"/>
                      <a:pt x="184737" y="15711"/>
                      <a:pt x="209550" y="15711"/>
                    </a:cubicBezTo>
                    <a:cubicBezTo>
                      <a:pt x="230854" y="15711"/>
                      <a:pt x="251142" y="11226"/>
                      <a:pt x="266700" y="6543"/>
                    </a:cubicBezTo>
                    <a:lnTo>
                      <a:pt x="266700" y="149061"/>
                    </a:lnTo>
                    <a:lnTo>
                      <a:pt x="114300" y="149061"/>
                    </a:lnTo>
                    <a:lnTo>
                      <a:pt x="114300" y="53811"/>
                    </a:lnTo>
                    <a:lnTo>
                      <a:pt x="57150" y="53811"/>
                    </a:lnTo>
                    <a:lnTo>
                      <a:pt x="57150" y="149061"/>
                    </a:lnTo>
                    <a:lnTo>
                      <a:pt x="0" y="149061"/>
                    </a:lnTo>
                    <a:close/>
                    <a:moveTo>
                      <a:pt x="209550" y="53811"/>
                    </a:moveTo>
                    <a:lnTo>
                      <a:pt x="171450" y="53811"/>
                    </a:lnTo>
                    <a:lnTo>
                      <a:pt x="171450" y="110961"/>
                    </a:lnTo>
                    <a:lnTo>
                      <a:pt x="209550" y="110961"/>
                    </a:lnTo>
                    <a:lnTo>
                      <a:pt x="209550" y="538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229868" y="95564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今天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55470" y="9491662"/>
              <a:ext cx="708031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上海英雄仍在运营，2017 年网上销售额约 4000 万元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50"/>
                            </p:stCondLst>
                            <p:childTnLst>
                              <p:par>
                                <p:cTn id="16" presetID="23" presetClass="entr" presetSubtype="16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00"/>
                            </p:stCondLst>
                            <p:childTnLst>
                              <p:par>
                                <p:cTn id="21" presetID="3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60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6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6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6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40" accel="100000" fill="hold">
                                          <p:stCondLst>
                                            <p:cond delay="56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40" accel="100000" fill="hold">
                                          <p:stCondLst>
                                            <p:cond delay="56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35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8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pattFill prst="pct5">
          <a:fgClr>
            <a:srgbClr val="C3AC80"/>
          </a:fgClr>
          <a:bgClr>
            <a:schemeClr val="l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2500" y="1428750"/>
            <a:ext cx="8382000" cy="4953000"/>
          </a:xfrm>
          <a:prstGeom prst="frame">
            <a:avLst>
              <a:gd name="adj1" fmla="val 5000"/>
            </a:avLst>
          </a:prstGeom>
          <a:solidFill>
            <a:schemeClr val="lt2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1447800" y="1924050"/>
            <a:ext cx="7400925" cy="3971925"/>
            <a:chOff x="1447800" y="1924050"/>
            <a:chExt cx="7400925" cy="3971925"/>
          </a:xfrm>
        </p:grpSpPr>
        <p:sp>
          <p:nvSpPr>
            <p:cNvPr id="3" name="Line 3"/>
            <p:cNvSpPr/>
            <p:nvPr/>
          </p:nvSpPr>
          <p:spPr>
            <a:xfrm>
              <a:off x="1447800" y="19240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47625" cap="sq">
              <a:solidFill>
                <a:schemeClr val="accent1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1447800" y="19240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47625" cap="sq">
              <a:solidFill>
                <a:schemeClr val="accent1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8267700" y="19240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571500" y="0"/>
                  </a:moveTo>
                  <a:lnTo>
                    <a:pt x="0" y="0"/>
                  </a:lnTo>
                </a:path>
              </a:pathLst>
            </a:custGeom>
            <a:noFill/>
            <a:ln w="47625" cap="sq">
              <a:solidFill>
                <a:schemeClr val="accent1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8839200" y="19240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47625" cap="sq">
              <a:solidFill>
                <a:schemeClr val="accent1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447800" y="58864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47625" cap="sq">
              <a:solidFill>
                <a:schemeClr val="accent1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447800" y="53149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571500"/>
                  </a:moveTo>
                  <a:lnTo>
                    <a:pt x="0" y="0"/>
                  </a:lnTo>
                </a:path>
              </a:pathLst>
            </a:custGeom>
            <a:noFill/>
            <a:ln w="47625" cap="sq">
              <a:solidFill>
                <a:schemeClr val="accent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267700" y="58864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571500" y="0"/>
                  </a:moveTo>
                  <a:lnTo>
                    <a:pt x="0" y="0"/>
                  </a:lnTo>
                </a:path>
              </a:pathLst>
            </a:custGeom>
            <a:noFill/>
            <a:ln w="47625" cap="sq">
              <a:solidFill>
                <a:schemeClr val="accent1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839200" y="53149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571500"/>
                  </a:moveTo>
                  <a:lnTo>
                    <a:pt x="0" y="0"/>
                  </a:lnTo>
                </a:path>
              </a:pathLst>
            </a:custGeom>
            <a:noFill/>
            <a:ln w="47625" cap="sq">
              <a:solidFill>
                <a:schemeClr val="accent1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42950" y="914400"/>
            <a:ext cx="3064021" cy="3001327"/>
            <a:chOff x="742950" y="914400"/>
            <a:chExt cx="3064021" cy="3001327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6280" y="914400"/>
              <a:ext cx="2850839" cy="2038350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742950" y="3125152"/>
              <a:ext cx="3064021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海鸥4型相机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7468" y="812482"/>
            <a:ext cx="1992782" cy="1561148"/>
            <a:chOff x="7627468" y="812482"/>
            <a:chExt cx="1992782" cy="1561148"/>
          </a:xfrm>
        </p:grpSpPr>
        <p:sp>
          <p:nvSpPr>
            <p:cNvPr id="15" name="TextBox 15"/>
            <p:cNvSpPr txBox="1"/>
            <p:nvPr/>
          </p:nvSpPr>
          <p:spPr>
            <a:xfrm>
              <a:off x="9148572" y="8124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诞生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7468" y="1097280"/>
              <a:ext cx="1992782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1963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908294" y="2286000"/>
            <a:ext cx="2347087" cy="4000500"/>
            <a:chOff x="5908294" y="2286000"/>
            <a:chExt cx="2347087" cy="4000500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8294" y="2286000"/>
              <a:ext cx="2347087" cy="4000500"/>
            </a:xfrm>
            <a:prstGeom prst="rect">
              <a:avLst/>
            </a:prstGeom>
          </p:spPr>
        </p:pic>
      </p:grpSp>
      <p:grpSp>
        <p:nvGrpSpPr>
          <p:cNvPr id="22" name="!!number-badge"/>
          <p:cNvGrpSpPr/>
          <p:nvPr/>
        </p:nvGrpSpPr>
        <p:grpSpPr>
          <a:xfrm>
            <a:off x="1371600" y="5181600"/>
            <a:ext cx="876300" cy="876300"/>
            <a:chOff x="1371600" y="5181600"/>
            <a:chExt cx="876300" cy="876300"/>
          </a:xfrm>
        </p:grpSpPr>
        <p:sp>
          <p:nvSpPr>
            <p:cNvPr id="20" name="Ellipse 20"/>
            <p:cNvSpPr/>
            <p:nvPr/>
          </p:nvSpPr>
          <p:spPr>
            <a:xfrm>
              <a:off x="1371600" y="5181600"/>
              <a:ext cx="876300" cy="876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584255" y="5445442"/>
              <a:ext cx="45099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dirty="0">
                  <a:solidFill>
                    <a:srgbClr val="F4E7CE"/>
                  </a:solidFill>
                  <a:latin typeface="+mj-lt"/>
                  <a:ea typeface="+mj-ea"/>
                  <a:cs typeface="+mj-cs"/>
                </a:rPr>
                <a:t>07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00100" y="6667500"/>
            <a:ext cx="8786908" cy="3530917"/>
            <a:chOff x="800100" y="6667500"/>
            <a:chExt cx="8786908" cy="3530917"/>
          </a:xfrm>
        </p:grpSpPr>
        <p:grpSp>
          <p:nvGrpSpPr>
            <p:cNvPr id="25" name="Group 25"/>
            <p:cNvGrpSpPr/>
            <p:nvPr/>
          </p:nvGrpSpPr>
          <p:grpSpPr>
            <a:xfrm>
              <a:off x="819150" y="6667500"/>
              <a:ext cx="266700" cy="285750"/>
              <a:chOff x="819150" y="6667500"/>
              <a:chExt cx="266700" cy="2857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19150" y="66675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95250" y="0"/>
                    </a:moveTo>
                    <a:lnTo>
                      <a:pt x="38100" y="0"/>
                    </a:lnTo>
                    <a:lnTo>
                      <a:pt x="38100" y="38100"/>
                    </a:lnTo>
                    <a:lnTo>
                      <a:pt x="0" y="38100"/>
                    </a:lnTo>
                    <a:lnTo>
                      <a:pt x="0" y="95250"/>
                    </a:lnTo>
                    <a:lnTo>
                      <a:pt x="266700" y="95250"/>
                    </a:lnTo>
                    <a:lnTo>
                      <a:pt x="266700" y="38100"/>
                    </a:lnTo>
                    <a:lnTo>
                      <a:pt x="228600" y="38100"/>
                    </a:lnTo>
                    <a:lnTo>
                      <a:pt x="228600" y="0"/>
                    </a:lnTo>
                    <a:lnTo>
                      <a:pt x="171450" y="0"/>
                    </a:lnTo>
                    <a:lnTo>
                      <a:pt x="171450" y="38100"/>
                    </a:lnTo>
                    <a:lnTo>
                      <a:pt x="95250" y="3810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9150" y="680085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266700" y="0"/>
                    </a:moveTo>
                    <a:lnTo>
                      <a:pt x="0" y="0"/>
                    </a:lnTo>
                    <a:lnTo>
                      <a:pt x="0" y="152400"/>
                    </a:lnTo>
                    <a:lnTo>
                      <a:pt x="266700" y="152400"/>
                    </a:lnTo>
                    <a:lnTo>
                      <a:pt x="266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229868" y="67370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诞生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55470" y="6672262"/>
              <a:ext cx="77315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1963 年底 4 型双反相机开始批量生产（厂 1958 年成立）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819150" y="7315200"/>
              <a:ext cx="266700" cy="247650"/>
            </a:xfrm>
            <a:custGeom>
              <a:avLst/>
              <a:gdLst/>
              <a:ahLst/>
              <a:cxnLst/>
              <a:rect l="l" t="t" r="r" b="b"/>
              <a:pathLst>
                <a:path w="266700" h="247650">
                  <a:moveTo>
                    <a:pt x="266700" y="0"/>
                  </a:moveTo>
                  <a:lnTo>
                    <a:pt x="266700" y="247650"/>
                  </a:lnTo>
                  <a:lnTo>
                    <a:pt x="228600" y="247650"/>
                  </a:lnTo>
                  <a:lnTo>
                    <a:pt x="228600" y="152400"/>
                  </a:lnTo>
                  <a:lnTo>
                    <a:pt x="190500" y="152400"/>
                  </a:lnTo>
                  <a:lnTo>
                    <a:pt x="190500" y="247650"/>
                  </a:lnTo>
                  <a:lnTo>
                    <a:pt x="0" y="247650"/>
                  </a:lnTo>
                  <a:lnTo>
                    <a:pt x="0" y="57150"/>
                  </a:lnTo>
                  <a:lnTo>
                    <a:pt x="114300" y="0"/>
                  </a:lnTo>
                  <a:lnTo>
                    <a:pt x="133350" y="0"/>
                  </a:lnTo>
                  <a:lnTo>
                    <a:pt x="133350" y="57150"/>
                  </a:lnTo>
                  <a:lnTo>
                    <a:pt x="247650" y="0"/>
                  </a:lnTo>
                  <a:lnTo>
                    <a:pt x="266700" y="0"/>
                  </a:lnTo>
                  <a:close/>
                  <a:moveTo>
                    <a:pt x="152400" y="114300"/>
                  </a:moveTo>
                  <a:lnTo>
                    <a:pt x="114300" y="114300"/>
                  </a:lnTo>
                  <a:lnTo>
                    <a:pt x="114300" y="190500"/>
                  </a:lnTo>
                  <a:lnTo>
                    <a:pt x="152400" y="190500"/>
                  </a:lnTo>
                  <a:lnTo>
                    <a:pt x="152400" y="114300"/>
                  </a:lnTo>
                  <a:close/>
                  <a:moveTo>
                    <a:pt x="76200" y="114300"/>
                  </a:moveTo>
                  <a:lnTo>
                    <a:pt x="38100" y="114300"/>
                  </a:lnTo>
                  <a:lnTo>
                    <a:pt x="38100" y="190500"/>
                  </a:lnTo>
                  <a:lnTo>
                    <a:pt x="76200" y="190500"/>
                  </a:lnTo>
                  <a:lnTo>
                    <a:pt x="7620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229868" y="73466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55470" y="7281862"/>
              <a:ext cx="5594985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上海 · 上海照相机厂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1967 年为出口把「上海牌」改为「海鸥牌」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800100" y="83058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lnTo>
                    <a:pt x="228600" y="38100"/>
                  </a:lnTo>
                  <a:lnTo>
                    <a:pt x="304800" y="38100"/>
                  </a:lnTo>
                  <a:lnTo>
                    <a:pt x="304800" y="76200"/>
                  </a:lnTo>
                  <a:cubicBezTo>
                    <a:pt x="304800" y="122995"/>
                    <a:pt x="271055" y="161908"/>
                    <a:pt x="226573" y="169933"/>
                  </a:cubicBezTo>
                  <a:cubicBezTo>
                    <a:pt x="220098" y="197428"/>
                    <a:pt x="198730" y="219178"/>
                    <a:pt x="171450" y="226200"/>
                  </a:cubicBezTo>
                  <a:lnTo>
                    <a:pt x="171450" y="266700"/>
                  </a:lnTo>
                  <a:lnTo>
                    <a:pt x="228600" y="266700"/>
                  </a:lnTo>
                  <a:lnTo>
                    <a:pt x="228600" y="304800"/>
                  </a:lnTo>
                  <a:lnTo>
                    <a:pt x="76200" y="304800"/>
                  </a:lnTo>
                  <a:lnTo>
                    <a:pt x="76200" y="266700"/>
                  </a:lnTo>
                  <a:lnTo>
                    <a:pt x="133350" y="266700"/>
                  </a:lnTo>
                  <a:lnTo>
                    <a:pt x="133350" y="226200"/>
                  </a:lnTo>
                  <a:cubicBezTo>
                    <a:pt x="106070" y="219178"/>
                    <a:pt x="84702" y="197428"/>
                    <a:pt x="78227" y="169933"/>
                  </a:cubicBezTo>
                  <a:cubicBezTo>
                    <a:pt x="33744" y="161908"/>
                    <a:pt x="0" y="122995"/>
                    <a:pt x="0" y="76200"/>
                  </a:cubicBezTo>
                  <a:lnTo>
                    <a:pt x="0" y="38100"/>
                  </a:lnTo>
                  <a:lnTo>
                    <a:pt x="76200" y="38100"/>
                  </a:lnTo>
                  <a:lnTo>
                    <a:pt x="76200" y="0"/>
                  </a:lnTo>
                  <a:close/>
                  <a:moveTo>
                    <a:pt x="228600" y="130098"/>
                  </a:moveTo>
                  <a:lnTo>
                    <a:pt x="228600" y="76200"/>
                  </a:lnTo>
                  <a:lnTo>
                    <a:pt x="266700" y="76200"/>
                  </a:lnTo>
                  <a:cubicBezTo>
                    <a:pt x="266700" y="101083"/>
                    <a:pt x="250797" y="122253"/>
                    <a:pt x="228600" y="130098"/>
                  </a:cubicBezTo>
                  <a:close/>
                  <a:moveTo>
                    <a:pt x="76200" y="76200"/>
                  </a:moveTo>
                  <a:lnTo>
                    <a:pt x="38100" y="76200"/>
                  </a:lnTo>
                  <a:cubicBezTo>
                    <a:pt x="38100" y="101083"/>
                    <a:pt x="54003" y="122253"/>
                    <a:pt x="76200" y="130098"/>
                  </a:cubicBezTo>
                  <a:lnTo>
                    <a:pt x="7620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229868" y="8375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55470" y="8310562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中国第一款出口的相机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55470" y="8729662"/>
              <a:ext cx="60807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1980 年年产 20 万架，累计产量超 2066 万台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800100" y="9353550"/>
              <a:ext cx="304800" cy="266700"/>
              <a:chOff x="800100" y="9353550"/>
              <a:chExt cx="304800" cy="2667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00100" y="9353550"/>
                <a:ext cx="3048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0">
                    <a:moveTo>
                      <a:pt x="57150" y="0"/>
                    </a:moveTo>
                    <a:lnTo>
                      <a:pt x="0" y="57150"/>
                    </a:lnTo>
                    <a:lnTo>
                      <a:pt x="0" y="76200"/>
                    </a:lnTo>
                    <a:cubicBezTo>
                      <a:pt x="0" y="76200"/>
                      <a:pt x="38100" y="95250"/>
                      <a:pt x="76200" y="95250"/>
                    </a:cubicBezTo>
                    <a:cubicBezTo>
                      <a:pt x="114300" y="95250"/>
                      <a:pt x="152400" y="76200"/>
                      <a:pt x="152400" y="76200"/>
                    </a:cubicBezTo>
                    <a:cubicBezTo>
                      <a:pt x="152400" y="76200"/>
                      <a:pt x="190500" y="95250"/>
                      <a:pt x="228600" y="95250"/>
                    </a:cubicBezTo>
                    <a:cubicBezTo>
                      <a:pt x="266700" y="95250"/>
                      <a:pt x="304800" y="76200"/>
                      <a:pt x="304800" y="76200"/>
                    </a:cubicBezTo>
                    <a:lnTo>
                      <a:pt x="304800" y="57150"/>
                    </a:lnTo>
                    <a:lnTo>
                      <a:pt x="247650" y="0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9150" y="9471189"/>
                <a:ext cx="266700" cy="149061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49061">
                    <a:moveTo>
                      <a:pt x="0" y="149061"/>
                    </a:moveTo>
                    <a:lnTo>
                      <a:pt x="0" y="6543"/>
                    </a:lnTo>
                    <a:cubicBezTo>
                      <a:pt x="15558" y="11226"/>
                      <a:pt x="35846" y="15711"/>
                      <a:pt x="57150" y="15711"/>
                    </a:cubicBezTo>
                    <a:cubicBezTo>
                      <a:pt x="81963" y="15711"/>
                      <a:pt x="105397" y="9627"/>
                      <a:pt x="121586" y="4231"/>
                    </a:cubicBezTo>
                    <a:cubicBezTo>
                      <a:pt x="125906" y="2791"/>
                      <a:pt x="129857" y="1350"/>
                      <a:pt x="133350" y="0"/>
                    </a:cubicBezTo>
                    <a:cubicBezTo>
                      <a:pt x="136843" y="1350"/>
                      <a:pt x="140794" y="2791"/>
                      <a:pt x="145114" y="4231"/>
                    </a:cubicBezTo>
                    <a:cubicBezTo>
                      <a:pt x="161303" y="9627"/>
                      <a:pt x="184737" y="15711"/>
                      <a:pt x="209550" y="15711"/>
                    </a:cubicBezTo>
                    <a:cubicBezTo>
                      <a:pt x="230854" y="15711"/>
                      <a:pt x="251142" y="11226"/>
                      <a:pt x="266700" y="6543"/>
                    </a:cubicBezTo>
                    <a:lnTo>
                      <a:pt x="266700" y="149061"/>
                    </a:lnTo>
                    <a:lnTo>
                      <a:pt x="114300" y="149061"/>
                    </a:lnTo>
                    <a:lnTo>
                      <a:pt x="114300" y="53811"/>
                    </a:lnTo>
                    <a:lnTo>
                      <a:pt x="57150" y="53811"/>
                    </a:lnTo>
                    <a:lnTo>
                      <a:pt x="57150" y="149061"/>
                    </a:lnTo>
                    <a:lnTo>
                      <a:pt x="0" y="149061"/>
                    </a:lnTo>
                    <a:close/>
                    <a:moveTo>
                      <a:pt x="209550" y="53811"/>
                    </a:moveTo>
                    <a:lnTo>
                      <a:pt x="171450" y="53811"/>
                    </a:lnTo>
                    <a:lnTo>
                      <a:pt x="171450" y="110961"/>
                    </a:lnTo>
                    <a:lnTo>
                      <a:pt x="209550" y="110961"/>
                    </a:lnTo>
                    <a:lnTo>
                      <a:pt x="209550" y="538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229868" y="94040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今天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855470" y="9339262"/>
              <a:ext cx="6309360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2004 年停产，2011 年海鸥数码成立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2014 年推出复古数码相机，2020 年转做工业相机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23" presetClass="entr" presetSubtype="16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50"/>
                            </p:stCondLst>
                            <p:childTnLst>
                              <p:par>
                                <p:cTn id="17" presetID="23" presetClass="entr" presetSubtype="16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8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pattFill prst="pct5">
          <a:fgClr>
            <a:srgbClr val="C3AC80"/>
          </a:fgClr>
          <a:bgClr>
            <a:schemeClr val="l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1714500"/>
            <a:ext cx="8572500" cy="4857750"/>
            <a:chOff x="571500" y="1714500"/>
            <a:chExt cx="8572500" cy="4857750"/>
          </a:xfrm>
        </p:grpSpPr>
        <p:sp>
          <p:nvSpPr>
            <p:cNvPr id="2" name="Freeform 2"/>
            <p:cNvSpPr/>
            <p:nvPr/>
          </p:nvSpPr>
          <p:spPr>
            <a:xfrm>
              <a:off x="571500" y="1714500"/>
              <a:ext cx="5334000" cy="3238500"/>
            </a:xfrm>
            <a:prstGeom prst="parallelogram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2857500" y="2857500"/>
              <a:ext cx="5905500" cy="2857500"/>
            </a:xfrm>
            <a:prstGeom prst="snip2DiagRect">
              <a:avLst>
                <a:gd name="adj1" fmla="val 22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4000500" y="4095750"/>
              <a:ext cx="5143500" cy="2476500"/>
            </a:xfrm>
            <a:prstGeom prst="parallelogram">
              <a:avLst>
                <a:gd name="adj" fmla="val 12000"/>
              </a:avLst>
            </a:prstGeom>
            <a:solidFill>
              <a:schemeClr val="l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2950" y="1047750"/>
            <a:ext cx="3309366" cy="3010853"/>
            <a:chOff x="742950" y="1047750"/>
            <a:chExt cx="3309366" cy="3010853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2950" y="1047750"/>
              <a:ext cx="2952750" cy="2047875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742950" y="3268028"/>
              <a:ext cx="330936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蝴蝶牌缝纫机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7468" y="812482"/>
            <a:ext cx="1992782" cy="1561148"/>
            <a:chOff x="7627468" y="812482"/>
            <a:chExt cx="1992782" cy="1561148"/>
          </a:xfrm>
        </p:grpSpPr>
        <p:sp>
          <p:nvSpPr>
            <p:cNvPr id="9" name="TextBox 9"/>
            <p:cNvSpPr txBox="1"/>
            <p:nvPr/>
          </p:nvSpPr>
          <p:spPr>
            <a:xfrm>
              <a:off x="9148572" y="8124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诞生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7468" y="1097280"/>
              <a:ext cx="1992782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1966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381500" y="2381250"/>
            <a:ext cx="4953000" cy="3638550"/>
            <a:chOff x="4381500" y="2381250"/>
            <a:chExt cx="4953000" cy="3638550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81500" y="2381250"/>
              <a:ext cx="4953000" cy="3638550"/>
            </a:xfrm>
            <a:prstGeom prst="rect">
              <a:avLst/>
            </a:prstGeom>
          </p:spPr>
        </p:pic>
      </p:grpSp>
      <p:grpSp>
        <p:nvGrpSpPr>
          <p:cNvPr id="16" name="!!number-badge"/>
          <p:cNvGrpSpPr/>
          <p:nvPr/>
        </p:nvGrpSpPr>
        <p:grpSpPr>
          <a:xfrm>
            <a:off x="1466850" y="4991100"/>
            <a:ext cx="876300" cy="876300"/>
            <a:chOff x="1466850" y="4991100"/>
            <a:chExt cx="876300" cy="876300"/>
          </a:xfrm>
        </p:grpSpPr>
        <p:sp>
          <p:nvSpPr>
            <p:cNvPr id="14" name="Ellipse 14"/>
            <p:cNvSpPr/>
            <p:nvPr/>
          </p:nvSpPr>
          <p:spPr>
            <a:xfrm>
              <a:off x="1466850" y="4991100"/>
              <a:ext cx="876300" cy="876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79505" y="5254942"/>
              <a:ext cx="45099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dirty="0">
                  <a:solidFill>
                    <a:srgbClr val="F4E7CE"/>
                  </a:solidFill>
                  <a:latin typeface="+mj-lt"/>
                  <a:ea typeface="+mj-ea"/>
                  <a:cs typeface="+mj-cs"/>
                </a:rPr>
                <a:t>08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0100" y="6477000"/>
            <a:ext cx="6850380" cy="3530917"/>
            <a:chOff x="800100" y="6477000"/>
            <a:chExt cx="6850380" cy="3530917"/>
          </a:xfrm>
        </p:grpSpPr>
        <p:grpSp>
          <p:nvGrpSpPr>
            <p:cNvPr id="19" name="Group 19"/>
            <p:cNvGrpSpPr/>
            <p:nvPr/>
          </p:nvGrpSpPr>
          <p:grpSpPr>
            <a:xfrm>
              <a:off x="819150" y="6477000"/>
              <a:ext cx="266700" cy="285750"/>
              <a:chOff x="819150" y="6477000"/>
              <a:chExt cx="266700" cy="28575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19150" y="64770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95250" y="0"/>
                    </a:moveTo>
                    <a:lnTo>
                      <a:pt x="38100" y="0"/>
                    </a:lnTo>
                    <a:lnTo>
                      <a:pt x="38100" y="38100"/>
                    </a:lnTo>
                    <a:lnTo>
                      <a:pt x="0" y="38100"/>
                    </a:lnTo>
                    <a:lnTo>
                      <a:pt x="0" y="95250"/>
                    </a:lnTo>
                    <a:lnTo>
                      <a:pt x="266700" y="95250"/>
                    </a:lnTo>
                    <a:lnTo>
                      <a:pt x="266700" y="38100"/>
                    </a:lnTo>
                    <a:lnTo>
                      <a:pt x="228600" y="38100"/>
                    </a:lnTo>
                    <a:lnTo>
                      <a:pt x="228600" y="0"/>
                    </a:lnTo>
                    <a:lnTo>
                      <a:pt x="171450" y="0"/>
                    </a:lnTo>
                    <a:lnTo>
                      <a:pt x="171450" y="38100"/>
                    </a:lnTo>
                    <a:lnTo>
                      <a:pt x="95250" y="3810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19150" y="661035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266700" y="0"/>
                    </a:moveTo>
                    <a:lnTo>
                      <a:pt x="0" y="0"/>
                    </a:lnTo>
                    <a:lnTo>
                      <a:pt x="0" y="152400"/>
                    </a:lnTo>
                    <a:lnTo>
                      <a:pt x="266700" y="152400"/>
                    </a:lnTo>
                    <a:lnTo>
                      <a:pt x="266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229868" y="65465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诞生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55470" y="6481762"/>
              <a:ext cx="5309235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1966 年商标由「无敌牌」改名「蝴蝶牌」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前身是 1919 年创办的协昌铁车铺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819150" y="7543800"/>
              <a:ext cx="266700" cy="247650"/>
            </a:xfrm>
            <a:custGeom>
              <a:avLst/>
              <a:gdLst/>
              <a:ahLst/>
              <a:cxnLst/>
              <a:rect l="l" t="t" r="r" b="b"/>
              <a:pathLst>
                <a:path w="266700" h="247650">
                  <a:moveTo>
                    <a:pt x="266700" y="0"/>
                  </a:moveTo>
                  <a:lnTo>
                    <a:pt x="266700" y="247650"/>
                  </a:lnTo>
                  <a:lnTo>
                    <a:pt x="228600" y="247650"/>
                  </a:lnTo>
                  <a:lnTo>
                    <a:pt x="228600" y="152400"/>
                  </a:lnTo>
                  <a:lnTo>
                    <a:pt x="190500" y="152400"/>
                  </a:lnTo>
                  <a:lnTo>
                    <a:pt x="190500" y="247650"/>
                  </a:lnTo>
                  <a:lnTo>
                    <a:pt x="0" y="247650"/>
                  </a:lnTo>
                  <a:lnTo>
                    <a:pt x="0" y="57150"/>
                  </a:lnTo>
                  <a:lnTo>
                    <a:pt x="114300" y="0"/>
                  </a:lnTo>
                  <a:lnTo>
                    <a:pt x="133350" y="0"/>
                  </a:lnTo>
                  <a:lnTo>
                    <a:pt x="133350" y="57150"/>
                  </a:lnTo>
                  <a:lnTo>
                    <a:pt x="247650" y="0"/>
                  </a:lnTo>
                  <a:lnTo>
                    <a:pt x="266700" y="0"/>
                  </a:lnTo>
                  <a:close/>
                  <a:moveTo>
                    <a:pt x="152400" y="114300"/>
                  </a:moveTo>
                  <a:lnTo>
                    <a:pt x="114300" y="114300"/>
                  </a:lnTo>
                  <a:lnTo>
                    <a:pt x="114300" y="190500"/>
                  </a:lnTo>
                  <a:lnTo>
                    <a:pt x="152400" y="190500"/>
                  </a:lnTo>
                  <a:lnTo>
                    <a:pt x="152400" y="114300"/>
                  </a:lnTo>
                  <a:close/>
                  <a:moveTo>
                    <a:pt x="76200" y="114300"/>
                  </a:moveTo>
                  <a:lnTo>
                    <a:pt x="38100" y="114300"/>
                  </a:lnTo>
                  <a:lnTo>
                    <a:pt x="38100" y="190500"/>
                  </a:lnTo>
                  <a:lnTo>
                    <a:pt x="76200" y="190500"/>
                  </a:lnTo>
                  <a:lnTo>
                    <a:pt x="7620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29868" y="75752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55470" y="7510462"/>
              <a:ext cx="56718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上海 · 上海协昌缝纫机厂（1982 年定名）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819150" y="81153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71450"/>
                  </a:moveTo>
                  <a:cubicBezTo>
                    <a:pt x="266700" y="245097"/>
                    <a:pt x="206997" y="304800"/>
                    <a:pt x="133350" y="304800"/>
                  </a:cubicBezTo>
                  <a:cubicBezTo>
                    <a:pt x="59703" y="304800"/>
                    <a:pt x="0" y="245097"/>
                    <a:pt x="0" y="171450"/>
                  </a:cubicBezTo>
                  <a:cubicBezTo>
                    <a:pt x="0" y="104775"/>
                    <a:pt x="57150" y="57150"/>
                    <a:pt x="57150" y="57150"/>
                  </a:cubicBezTo>
                  <a:lnTo>
                    <a:pt x="95250" y="57150"/>
                  </a:lnTo>
                  <a:lnTo>
                    <a:pt x="95250" y="85725"/>
                  </a:lnTo>
                  <a:cubicBezTo>
                    <a:pt x="95250" y="96246"/>
                    <a:pt x="103779" y="104775"/>
                    <a:pt x="114300" y="104775"/>
                  </a:cubicBezTo>
                  <a:cubicBezTo>
                    <a:pt x="124821" y="104775"/>
                    <a:pt x="133350" y="96246"/>
                    <a:pt x="133350" y="85725"/>
                  </a:cubicBezTo>
                  <a:lnTo>
                    <a:pt x="133350" y="0"/>
                  </a:lnTo>
                  <a:lnTo>
                    <a:pt x="171450" y="0"/>
                  </a:lnTo>
                  <a:cubicBezTo>
                    <a:pt x="171450" y="0"/>
                    <a:pt x="266700" y="57150"/>
                    <a:pt x="266700" y="171450"/>
                  </a:cubicBezTo>
                  <a:close/>
                  <a:moveTo>
                    <a:pt x="171450" y="228600"/>
                  </a:moveTo>
                  <a:cubicBezTo>
                    <a:pt x="171450" y="249643"/>
                    <a:pt x="154392" y="266700"/>
                    <a:pt x="133350" y="266700"/>
                  </a:cubicBezTo>
                  <a:cubicBezTo>
                    <a:pt x="112308" y="266700"/>
                    <a:pt x="95250" y="249643"/>
                    <a:pt x="95250" y="228600"/>
                  </a:cubicBezTo>
                  <a:cubicBezTo>
                    <a:pt x="95250" y="180975"/>
                    <a:pt x="133350" y="152400"/>
                    <a:pt x="133350" y="152400"/>
                  </a:cubicBezTo>
                  <a:cubicBezTo>
                    <a:pt x="133350" y="152400"/>
                    <a:pt x="171450" y="180975"/>
                    <a:pt x="171450" y="228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29868" y="8184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55470" y="8120062"/>
              <a:ext cx="5795010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1972 年起凭票供应，上海约 80 人才配一张券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售价 </a:t>
              </a:r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130–140 元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，而月工资只有 30–40 元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800100" y="9163050"/>
              <a:ext cx="304800" cy="266700"/>
              <a:chOff x="800100" y="9163050"/>
              <a:chExt cx="304800" cy="2667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00100" y="9163050"/>
                <a:ext cx="3048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0">
                    <a:moveTo>
                      <a:pt x="57150" y="0"/>
                    </a:moveTo>
                    <a:lnTo>
                      <a:pt x="0" y="57150"/>
                    </a:lnTo>
                    <a:lnTo>
                      <a:pt x="0" y="76200"/>
                    </a:lnTo>
                    <a:cubicBezTo>
                      <a:pt x="0" y="76200"/>
                      <a:pt x="38100" y="95250"/>
                      <a:pt x="76200" y="95250"/>
                    </a:cubicBezTo>
                    <a:cubicBezTo>
                      <a:pt x="114300" y="95250"/>
                      <a:pt x="152400" y="76200"/>
                      <a:pt x="152400" y="76200"/>
                    </a:cubicBezTo>
                    <a:cubicBezTo>
                      <a:pt x="152400" y="76200"/>
                      <a:pt x="190500" y="95250"/>
                      <a:pt x="228600" y="95250"/>
                    </a:cubicBezTo>
                    <a:cubicBezTo>
                      <a:pt x="266700" y="95250"/>
                      <a:pt x="304800" y="76200"/>
                      <a:pt x="304800" y="76200"/>
                    </a:cubicBezTo>
                    <a:lnTo>
                      <a:pt x="304800" y="57150"/>
                    </a:lnTo>
                    <a:lnTo>
                      <a:pt x="247650" y="0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19150" y="9280689"/>
                <a:ext cx="266700" cy="149061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49061">
                    <a:moveTo>
                      <a:pt x="0" y="149061"/>
                    </a:moveTo>
                    <a:lnTo>
                      <a:pt x="0" y="6543"/>
                    </a:lnTo>
                    <a:cubicBezTo>
                      <a:pt x="15558" y="11226"/>
                      <a:pt x="35846" y="15711"/>
                      <a:pt x="57150" y="15711"/>
                    </a:cubicBezTo>
                    <a:cubicBezTo>
                      <a:pt x="81963" y="15711"/>
                      <a:pt x="105397" y="9627"/>
                      <a:pt x="121586" y="4231"/>
                    </a:cubicBezTo>
                    <a:cubicBezTo>
                      <a:pt x="125906" y="2791"/>
                      <a:pt x="129857" y="1350"/>
                      <a:pt x="133350" y="0"/>
                    </a:cubicBezTo>
                    <a:cubicBezTo>
                      <a:pt x="136843" y="1350"/>
                      <a:pt x="140794" y="2791"/>
                      <a:pt x="145114" y="4231"/>
                    </a:cubicBezTo>
                    <a:cubicBezTo>
                      <a:pt x="161303" y="9627"/>
                      <a:pt x="184737" y="15711"/>
                      <a:pt x="209550" y="15711"/>
                    </a:cubicBezTo>
                    <a:cubicBezTo>
                      <a:pt x="230854" y="15711"/>
                      <a:pt x="251142" y="11226"/>
                      <a:pt x="266700" y="6543"/>
                    </a:cubicBezTo>
                    <a:lnTo>
                      <a:pt x="266700" y="149061"/>
                    </a:lnTo>
                    <a:lnTo>
                      <a:pt x="114300" y="149061"/>
                    </a:lnTo>
                    <a:lnTo>
                      <a:pt x="114300" y="53811"/>
                    </a:lnTo>
                    <a:lnTo>
                      <a:pt x="57150" y="53811"/>
                    </a:lnTo>
                    <a:lnTo>
                      <a:pt x="57150" y="149061"/>
                    </a:lnTo>
                    <a:lnTo>
                      <a:pt x="0" y="149061"/>
                    </a:lnTo>
                    <a:close/>
                    <a:moveTo>
                      <a:pt x="209550" y="53811"/>
                    </a:moveTo>
                    <a:lnTo>
                      <a:pt x="171450" y="53811"/>
                    </a:lnTo>
                    <a:lnTo>
                      <a:pt x="171450" y="110961"/>
                    </a:lnTo>
                    <a:lnTo>
                      <a:pt x="209550" y="110961"/>
                    </a:lnTo>
                    <a:lnTo>
                      <a:pt x="209550" y="538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229868" y="92135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今天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55470" y="9148762"/>
              <a:ext cx="4880610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上海蝴蝶进出口仍做蝴蝶牌家用缝纫机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主攻电商与非洲等海外市场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23" presetClass="entr" presetSubtype="16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5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8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pattFill prst="pct5">
          <a:fgClr>
            <a:srgbClr val="C3AC80"/>
          </a:fgClr>
          <a:bgClr>
            <a:schemeClr val="l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714500" y="3238500"/>
            <a:ext cx="6858000" cy="6858000"/>
            <a:chOff x="1714500" y="3238500"/>
            <a:chExt cx="6858000" cy="6858000"/>
          </a:xfrm>
        </p:grpSpPr>
        <p:sp>
          <p:nvSpPr>
            <p:cNvPr id="2" name="Freeform 2"/>
            <p:cNvSpPr/>
            <p:nvPr/>
          </p:nvSpPr>
          <p:spPr>
            <a:xfrm>
              <a:off x="1714500" y="3238500"/>
              <a:ext cx="6858000" cy="6858000"/>
            </a:xfrm>
            <a:prstGeom prst="blockArc">
              <a:avLst>
                <a:gd name="adj1" fmla="val 16200000"/>
                <a:gd name="adj2" fmla="val 21600000"/>
                <a:gd name="adj3" fmla="val 36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2667000" y="4191000"/>
              <a:ext cx="4953000" cy="4953000"/>
            </a:xfrm>
            <a:prstGeom prst="blockArc">
              <a:avLst>
                <a:gd name="adj1" fmla="val 16200000"/>
                <a:gd name="adj2" fmla="val 21600000"/>
                <a:gd name="adj3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3619500" y="5143500"/>
              <a:ext cx="3048000" cy="3048000"/>
            </a:xfrm>
            <a:prstGeom prst="blockArc">
              <a:avLst>
                <a:gd name="adj1" fmla="val 16200000"/>
                <a:gd name="adj2" fmla="val 21600000"/>
                <a:gd name="adj3" fmla="val 8000"/>
              </a:avLst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2950" y="762000"/>
            <a:ext cx="3663753" cy="3039427"/>
            <a:chOff x="742950" y="762000"/>
            <a:chExt cx="3663753" cy="3039427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2950" y="762000"/>
              <a:ext cx="2857500" cy="207645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742950" y="3010852"/>
              <a:ext cx="3663753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红灯711收音机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7468" y="812482"/>
            <a:ext cx="1992782" cy="1561148"/>
            <a:chOff x="7627468" y="812482"/>
            <a:chExt cx="1992782" cy="1561148"/>
          </a:xfrm>
        </p:grpSpPr>
        <p:sp>
          <p:nvSpPr>
            <p:cNvPr id="9" name="TextBox 9"/>
            <p:cNvSpPr txBox="1"/>
            <p:nvPr/>
          </p:nvSpPr>
          <p:spPr>
            <a:xfrm>
              <a:off x="9148572" y="8124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诞生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7468" y="1097280"/>
              <a:ext cx="1992782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6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1972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01284" y="4185285"/>
            <a:ext cx="2935224" cy="985266"/>
            <a:chOff x="5701284" y="4185285"/>
            <a:chExt cx="2935224" cy="985266"/>
          </a:xfrm>
        </p:grpSpPr>
        <p:sp>
          <p:nvSpPr>
            <p:cNvPr id="12" name="TextBox 12"/>
            <p:cNvSpPr txBox="1"/>
            <p:nvPr/>
          </p:nvSpPr>
          <p:spPr>
            <a:xfrm>
              <a:off x="5701284" y="4185285"/>
              <a:ext cx="29352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「三转一响」里的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01284" y="4642485"/>
              <a:ext cx="111785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那一响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46317" y="3810000"/>
            <a:ext cx="3993866" cy="2867025"/>
            <a:chOff x="1146317" y="3810000"/>
            <a:chExt cx="3993866" cy="2867025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6317" y="3810000"/>
              <a:ext cx="3993866" cy="2867025"/>
            </a:xfrm>
            <a:prstGeom prst="rect">
              <a:avLst/>
            </a:prstGeom>
          </p:spPr>
        </p:pic>
      </p:grpSp>
      <p:grpSp>
        <p:nvGrpSpPr>
          <p:cNvPr id="19" name="!!number-badge"/>
          <p:cNvGrpSpPr/>
          <p:nvPr/>
        </p:nvGrpSpPr>
        <p:grpSpPr>
          <a:xfrm>
            <a:off x="8420100" y="5372100"/>
            <a:ext cx="876300" cy="876300"/>
            <a:chOff x="8420100" y="5372100"/>
            <a:chExt cx="876300" cy="876300"/>
          </a:xfrm>
        </p:grpSpPr>
        <p:sp>
          <p:nvSpPr>
            <p:cNvPr id="17" name="Ellipse 17"/>
            <p:cNvSpPr/>
            <p:nvPr/>
          </p:nvSpPr>
          <p:spPr>
            <a:xfrm>
              <a:off x="8420100" y="5372100"/>
              <a:ext cx="876300" cy="876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32755" y="5635942"/>
              <a:ext cx="45099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dirty="0">
                  <a:solidFill>
                    <a:srgbClr val="F4E7CE"/>
                  </a:solidFill>
                  <a:latin typeface="+mj-lt"/>
                  <a:ea typeface="+mj-ea"/>
                  <a:cs typeface="+mj-cs"/>
                </a:rPr>
                <a:t>09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00100" y="7239000"/>
            <a:ext cx="7821216" cy="2692717"/>
            <a:chOff x="800100" y="7239000"/>
            <a:chExt cx="7821216" cy="2692717"/>
          </a:xfrm>
        </p:grpSpPr>
        <p:grpSp>
          <p:nvGrpSpPr>
            <p:cNvPr id="22" name="Group 22"/>
            <p:cNvGrpSpPr/>
            <p:nvPr/>
          </p:nvGrpSpPr>
          <p:grpSpPr>
            <a:xfrm>
              <a:off x="819150" y="7239000"/>
              <a:ext cx="266700" cy="285750"/>
              <a:chOff x="819150" y="7239000"/>
              <a:chExt cx="266700" cy="28575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19150" y="72390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95250" y="0"/>
                    </a:moveTo>
                    <a:lnTo>
                      <a:pt x="38100" y="0"/>
                    </a:lnTo>
                    <a:lnTo>
                      <a:pt x="38100" y="38100"/>
                    </a:lnTo>
                    <a:lnTo>
                      <a:pt x="0" y="38100"/>
                    </a:lnTo>
                    <a:lnTo>
                      <a:pt x="0" y="95250"/>
                    </a:lnTo>
                    <a:lnTo>
                      <a:pt x="266700" y="95250"/>
                    </a:lnTo>
                    <a:lnTo>
                      <a:pt x="266700" y="38100"/>
                    </a:lnTo>
                    <a:lnTo>
                      <a:pt x="228600" y="38100"/>
                    </a:lnTo>
                    <a:lnTo>
                      <a:pt x="228600" y="0"/>
                    </a:lnTo>
                    <a:lnTo>
                      <a:pt x="171450" y="0"/>
                    </a:lnTo>
                    <a:lnTo>
                      <a:pt x="171450" y="38100"/>
                    </a:lnTo>
                    <a:lnTo>
                      <a:pt x="95250" y="3810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9150" y="737235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266700" y="0"/>
                    </a:moveTo>
                    <a:lnTo>
                      <a:pt x="0" y="0"/>
                    </a:lnTo>
                    <a:lnTo>
                      <a:pt x="0" y="152400"/>
                    </a:lnTo>
                    <a:lnTo>
                      <a:pt x="266700" y="152400"/>
                    </a:lnTo>
                    <a:lnTo>
                      <a:pt x="266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229868" y="73085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诞生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55470" y="7243762"/>
              <a:ext cx="60504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1972 年 6 月红灯牌 711 型电子管收音机上市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819150" y="7886700"/>
              <a:ext cx="266700" cy="247650"/>
            </a:xfrm>
            <a:custGeom>
              <a:avLst/>
              <a:gdLst/>
              <a:ahLst/>
              <a:cxnLst/>
              <a:rect l="l" t="t" r="r" b="b"/>
              <a:pathLst>
                <a:path w="266700" h="247650">
                  <a:moveTo>
                    <a:pt x="266700" y="0"/>
                  </a:moveTo>
                  <a:lnTo>
                    <a:pt x="266700" y="247650"/>
                  </a:lnTo>
                  <a:lnTo>
                    <a:pt x="228600" y="247650"/>
                  </a:lnTo>
                  <a:lnTo>
                    <a:pt x="228600" y="152400"/>
                  </a:lnTo>
                  <a:lnTo>
                    <a:pt x="190500" y="152400"/>
                  </a:lnTo>
                  <a:lnTo>
                    <a:pt x="190500" y="247650"/>
                  </a:lnTo>
                  <a:lnTo>
                    <a:pt x="0" y="247650"/>
                  </a:lnTo>
                  <a:lnTo>
                    <a:pt x="0" y="57150"/>
                  </a:lnTo>
                  <a:lnTo>
                    <a:pt x="114300" y="0"/>
                  </a:lnTo>
                  <a:lnTo>
                    <a:pt x="133350" y="0"/>
                  </a:lnTo>
                  <a:lnTo>
                    <a:pt x="133350" y="57150"/>
                  </a:lnTo>
                  <a:lnTo>
                    <a:pt x="247650" y="0"/>
                  </a:lnTo>
                  <a:lnTo>
                    <a:pt x="266700" y="0"/>
                  </a:lnTo>
                  <a:close/>
                  <a:moveTo>
                    <a:pt x="152400" y="114300"/>
                  </a:moveTo>
                  <a:lnTo>
                    <a:pt x="114300" y="114300"/>
                  </a:lnTo>
                  <a:lnTo>
                    <a:pt x="114300" y="190500"/>
                  </a:lnTo>
                  <a:lnTo>
                    <a:pt x="152400" y="190500"/>
                  </a:lnTo>
                  <a:lnTo>
                    <a:pt x="152400" y="114300"/>
                  </a:lnTo>
                  <a:close/>
                  <a:moveTo>
                    <a:pt x="76200" y="114300"/>
                  </a:moveTo>
                  <a:lnTo>
                    <a:pt x="38100" y="114300"/>
                  </a:lnTo>
                  <a:lnTo>
                    <a:pt x="38100" y="190500"/>
                  </a:lnTo>
                  <a:lnTo>
                    <a:pt x="76200" y="190500"/>
                  </a:lnTo>
                  <a:lnTo>
                    <a:pt x="7620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29868" y="7918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55470" y="7853362"/>
              <a:ext cx="30972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上海 · 上海无线电二厂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800100" y="84582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6200" y="0"/>
                  </a:moveTo>
                  <a:lnTo>
                    <a:pt x="228600" y="0"/>
                  </a:lnTo>
                  <a:lnTo>
                    <a:pt x="228600" y="38100"/>
                  </a:lnTo>
                  <a:lnTo>
                    <a:pt x="304800" y="38100"/>
                  </a:lnTo>
                  <a:lnTo>
                    <a:pt x="304800" y="76200"/>
                  </a:lnTo>
                  <a:cubicBezTo>
                    <a:pt x="304800" y="122995"/>
                    <a:pt x="271055" y="161908"/>
                    <a:pt x="226573" y="169933"/>
                  </a:cubicBezTo>
                  <a:cubicBezTo>
                    <a:pt x="220098" y="197428"/>
                    <a:pt x="198730" y="219178"/>
                    <a:pt x="171450" y="226200"/>
                  </a:cubicBezTo>
                  <a:lnTo>
                    <a:pt x="171450" y="266700"/>
                  </a:lnTo>
                  <a:lnTo>
                    <a:pt x="228600" y="266700"/>
                  </a:lnTo>
                  <a:lnTo>
                    <a:pt x="228600" y="304800"/>
                  </a:lnTo>
                  <a:lnTo>
                    <a:pt x="76200" y="304800"/>
                  </a:lnTo>
                  <a:lnTo>
                    <a:pt x="76200" y="266700"/>
                  </a:lnTo>
                  <a:lnTo>
                    <a:pt x="133350" y="266700"/>
                  </a:lnTo>
                  <a:lnTo>
                    <a:pt x="133350" y="226200"/>
                  </a:lnTo>
                  <a:cubicBezTo>
                    <a:pt x="106070" y="219178"/>
                    <a:pt x="84702" y="197428"/>
                    <a:pt x="78227" y="169933"/>
                  </a:cubicBezTo>
                  <a:cubicBezTo>
                    <a:pt x="33744" y="161908"/>
                    <a:pt x="0" y="122995"/>
                    <a:pt x="0" y="76200"/>
                  </a:cubicBezTo>
                  <a:lnTo>
                    <a:pt x="0" y="38100"/>
                  </a:lnTo>
                  <a:lnTo>
                    <a:pt x="76200" y="38100"/>
                  </a:lnTo>
                  <a:lnTo>
                    <a:pt x="76200" y="0"/>
                  </a:lnTo>
                  <a:close/>
                  <a:moveTo>
                    <a:pt x="228600" y="130098"/>
                  </a:moveTo>
                  <a:lnTo>
                    <a:pt x="228600" y="76200"/>
                  </a:lnTo>
                  <a:lnTo>
                    <a:pt x="266700" y="76200"/>
                  </a:lnTo>
                  <a:cubicBezTo>
                    <a:pt x="266700" y="101083"/>
                    <a:pt x="250797" y="122253"/>
                    <a:pt x="228600" y="130098"/>
                  </a:cubicBezTo>
                  <a:close/>
                  <a:moveTo>
                    <a:pt x="76200" y="76200"/>
                  </a:moveTo>
                  <a:lnTo>
                    <a:pt x="38100" y="76200"/>
                  </a:lnTo>
                  <a:cubicBezTo>
                    <a:pt x="38100" y="101083"/>
                    <a:pt x="54003" y="122253"/>
                    <a:pt x="76200" y="130098"/>
                  </a:cubicBezTo>
                  <a:lnTo>
                    <a:pt x="76200" y="76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229868" y="8527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55470" y="8462962"/>
              <a:ext cx="6765846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1972–1980 年累计约 </a:t>
              </a:r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186 万台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，创同期单一型号纪录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全国厂家纷纷仿制，一度供不应求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800100" y="9505950"/>
              <a:ext cx="304800" cy="266700"/>
              <a:chOff x="800100" y="9505950"/>
              <a:chExt cx="304800" cy="2667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00100" y="9505950"/>
                <a:ext cx="3048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0">
                    <a:moveTo>
                      <a:pt x="57150" y="0"/>
                    </a:moveTo>
                    <a:lnTo>
                      <a:pt x="0" y="57150"/>
                    </a:lnTo>
                    <a:lnTo>
                      <a:pt x="0" y="76200"/>
                    </a:lnTo>
                    <a:cubicBezTo>
                      <a:pt x="0" y="76200"/>
                      <a:pt x="38100" y="95250"/>
                      <a:pt x="76200" y="95250"/>
                    </a:cubicBezTo>
                    <a:cubicBezTo>
                      <a:pt x="114300" y="95250"/>
                      <a:pt x="152400" y="76200"/>
                      <a:pt x="152400" y="76200"/>
                    </a:cubicBezTo>
                    <a:cubicBezTo>
                      <a:pt x="152400" y="76200"/>
                      <a:pt x="190500" y="95250"/>
                      <a:pt x="228600" y="95250"/>
                    </a:cubicBezTo>
                    <a:cubicBezTo>
                      <a:pt x="266700" y="95250"/>
                      <a:pt x="304800" y="76200"/>
                      <a:pt x="304800" y="76200"/>
                    </a:cubicBezTo>
                    <a:lnTo>
                      <a:pt x="304800" y="57150"/>
                    </a:lnTo>
                    <a:lnTo>
                      <a:pt x="247650" y="0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9150" y="9623589"/>
                <a:ext cx="266700" cy="149061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49061">
                    <a:moveTo>
                      <a:pt x="0" y="149061"/>
                    </a:moveTo>
                    <a:lnTo>
                      <a:pt x="0" y="6543"/>
                    </a:lnTo>
                    <a:cubicBezTo>
                      <a:pt x="15558" y="11226"/>
                      <a:pt x="35846" y="15711"/>
                      <a:pt x="57150" y="15711"/>
                    </a:cubicBezTo>
                    <a:cubicBezTo>
                      <a:pt x="81963" y="15711"/>
                      <a:pt x="105397" y="9627"/>
                      <a:pt x="121586" y="4231"/>
                    </a:cubicBezTo>
                    <a:cubicBezTo>
                      <a:pt x="125906" y="2791"/>
                      <a:pt x="129857" y="1350"/>
                      <a:pt x="133350" y="0"/>
                    </a:cubicBezTo>
                    <a:cubicBezTo>
                      <a:pt x="136843" y="1350"/>
                      <a:pt x="140794" y="2791"/>
                      <a:pt x="145114" y="4231"/>
                    </a:cubicBezTo>
                    <a:cubicBezTo>
                      <a:pt x="161303" y="9627"/>
                      <a:pt x="184737" y="15711"/>
                      <a:pt x="209550" y="15711"/>
                    </a:cubicBezTo>
                    <a:cubicBezTo>
                      <a:pt x="230854" y="15711"/>
                      <a:pt x="251142" y="11226"/>
                      <a:pt x="266700" y="6543"/>
                    </a:cubicBezTo>
                    <a:lnTo>
                      <a:pt x="266700" y="149061"/>
                    </a:lnTo>
                    <a:lnTo>
                      <a:pt x="114300" y="149061"/>
                    </a:lnTo>
                    <a:lnTo>
                      <a:pt x="114300" y="53811"/>
                    </a:lnTo>
                    <a:lnTo>
                      <a:pt x="57150" y="53811"/>
                    </a:lnTo>
                    <a:lnTo>
                      <a:pt x="57150" y="149061"/>
                    </a:lnTo>
                    <a:lnTo>
                      <a:pt x="0" y="149061"/>
                    </a:lnTo>
                    <a:close/>
                    <a:moveTo>
                      <a:pt x="209550" y="53811"/>
                    </a:moveTo>
                    <a:lnTo>
                      <a:pt x="171450" y="53811"/>
                    </a:lnTo>
                    <a:lnTo>
                      <a:pt x="171450" y="110961"/>
                    </a:lnTo>
                    <a:lnTo>
                      <a:pt x="209550" y="110961"/>
                    </a:lnTo>
                    <a:lnTo>
                      <a:pt x="209550" y="538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229868" y="95564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今天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55470" y="9491662"/>
              <a:ext cx="67471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藏于上海无线电博物馆，2017 年 11 月起免费开放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50"/>
                            </p:stCondLst>
                            <p:childTnLst>
                              <p:par>
                                <p:cTn id="16" presetID="23" presetClass="entr" presetSubtype="16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00"/>
                            </p:stCondLst>
                            <p:childTnLst>
                              <p:par>
                                <p:cTn id="21" presetID="3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60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6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6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6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40" accel="100000" fill="hold">
                                          <p:stCondLst>
                                            <p:cond delay="56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40" accel="100000" fill="hold">
                                          <p:stCondLst>
                                            <p:cond delay="56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35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8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C3AC80"/>
          </a:fgClr>
          <a:bgClr>
            <a:schemeClr val="l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5800" y="6572250"/>
            <a:ext cx="8915400" cy="2476500"/>
          </a:xfrm>
          <a:prstGeom prst="plaque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04850" y="1048702"/>
            <a:ext cx="5788533" cy="1220343"/>
            <a:chOff x="704850" y="1048702"/>
            <a:chExt cx="5788533" cy="1220343"/>
          </a:xfrm>
        </p:grpSpPr>
        <p:sp>
          <p:nvSpPr>
            <p:cNvPr id="3" name="TextBox 3"/>
            <p:cNvSpPr txBox="1"/>
            <p:nvPr/>
          </p:nvSpPr>
          <p:spPr>
            <a:xfrm>
              <a:off x="704850" y="1048702"/>
              <a:ext cx="2764155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来源与说明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9422" y="1711642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九件的年份、厂家与数字都有出处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23900" y="2190750"/>
              <a:ext cx="4038600" cy="9525"/>
            </a:xfrm>
            <a:custGeom>
              <a:avLst/>
              <a:gdLst/>
              <a:ahLst/>
              <a:cxnLst/>
              <a:rect l="l" t="t" r="r" b="b"/>
              <a:pathLst>
                <a:path w="4038600" h="952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610600" y="857250"/>
            <a:ext cx="914400" cy="914400"/>
            <a:chOff x="8610600" y="857250"/>
            <a:chExt cx="914400" cy="9144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857250"/>
              <a:ext cx="914400" cy="914400"/>
            </a:xfrm>
            <a:prstGeom prst="rect">
              <a:avLst/>
            </a:prstGeom>
          </p:spPr>
        </p:pic>
      </p:grpSp>
      <p:grpSp>
        <p:nvGrpSpPr>
          <p:cNvPr id="18" name="Group 18"/>
          <p:cNvGrpSpPr/>
          <p:nvPr/>
        </p:nvGrpSpPr>
        <p:grpSpPr>
          <a:xfrm>
            <a:off x="1036320" y="2614612"/>
            <a:ext cx="6853142" cy="3792855"/>
            <a:chOff x="1036320" y="2614612"/>
            <a:chExt cx="6853142" cy="3792855"/>
          </a:xfrm>
        </p:grpSpPr>
        <p:sp>
          <p:nvSpPr>
            <p:cNvPr id="9" name="TextBox 9"/>
            <p:cNvSpPr txBox="1"/>
            <p:nvPr/>
          </p:nvSpPr>
          <p:spPr>
            <a:xfrm>
              <a:off x="1036320" y="2614612"/>
              <a:ext cx="47328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02 回力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· </a:t>
              </a:r>
              <a:r>
                <a:rPr lang="zh-CN" sz="2250" u="sng" dirty="0">
                  <a:solidFill>
                    <a:schemeClr val="accent3"/>
                  </a:solidFill>
                  <a:latin typeface="+mn-lt"/>
                  <a:ea typeface="+mn-ea"/>
                  <a:cs typeface="+mn-cs"/>
                  <a:hlinkClick r:id="rId3"/>
                </a:rPr>
                <a:t>上海杨浦区人民政府门户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6320" y="3033712"/>
              <a:ext cx="417252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03 永久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· </a:t>
              </a:r>
              <a:r>
                <a:rPr lang="zh-CN" sz="2250" u="sng" dirty="0">
                  <a:solidFill>
                    <a:schemeClr val="accent3"/>
                  </a:solidFill>
                  <a:latin typeface="+mn-lt"/>
                  <a:ea typeface="+mn-ea"/>
                  <a:cs typeface="+mn-cs"/>
                  <a:hlinkClick r:id="rId4"/>
                </a:rPr>
                <a:t>杨浦百年 · 工业印迹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6320" y="3452812"/>
              <a:ext cx="564156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04 光明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· </a:t>
              </a:r>
              <a:r>
                <a:rPr lang="zh-CN" sz="2250" u="sng" dirty="0">
                  <a:solidFill>
                    <a:schemeClr val="accent3"/>
                  </a:solidFill>
                  <a:latin typeface="+mn-lt"/>
                  <a:ea typeface="+mn-ea"/>
                  <a:cs typeface="+mn-cs"/>
                  <a:hlinkClick r:id="rId5"/>
                </a:rPr>
                <a:t>新浪财经《光明牌冰砖的由来》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6320" y="3871912"/>
              <a:ext cx="685314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05 上海牌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· </a:t>
              </a:r>
              <a:r>
                <a:rPr lang="zh-CN" sz="2250" u="sng" dirty="0">
                  <a:solidFill>
                    <a:schemeClr val="accent3"/>
                  </a:solidFill>
                  <a:latin typeface="+mn-lt"/>
                  <a:ea typeface="+mn-ea"/>
                  <a:cs typeface="+mn-cs"/>
                  <a:hlinkClick r:id="rId6"/>
                </a:rPr>
                <a:t>澎湃新闻《上海老品牌：上海牌手表》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6320" y="4291012"/>
              <a:ext cx="62473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06 大白兔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· </a:t>
              </a:r>
              <a:r>
                <a:rPr lang="zh-CN" sz="2250" u="sng" dirty="0">
                  <a:solidFill>
                    <a:schemeClr val="accent3"/>
                  </a:solidFill>
                  <a:latin typeface="+mn-lt"/>
                  <a:ea typeface="+mn-ea"/>
                  <a:cs typeface="+mn-cs"/>
                  <a:hlinkClick r:id="rId7"/>
                </a:rPr>
                <a:t>新民网《苦涩年代诞生的甜滋味》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6320" y="4710112"/>
              <a:ext cx="44299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07 英雄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· </a:t>
              </a:r>
              <a:r>
                <a:rPr lang="zh-CN" sz="2250" u="sng" dirty="0">
                  <a:solidFill>
                    <a:schemeClr val="accent3"/>
                  </a:solidFill>
                  <a:latin typeface="+mn-lt"/>
                  <a:ea typeface="+mn-ea"/>
                  <a:cs typeface="+mn-cs"/>
                  <a:hlinkClick r:id="rId8"/>
                </a:rPr>
                <a:t>维基百科「英雄钢笔」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6320" y="5129212"/>
              <a:ext cx="533866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08 海鸥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· </a:t>
              </a:r>
              <a:r>
                <a:rPr lang="zh-CN" sz="2250" u="sng" dirty="0">
                  <a:solidFill>
                    <a:schemeClr val="accent3"/>
                  </a:solidFill>
                  <a:latin typeface="+mn-lt"/>
                  <a:ea typeface="+mn-ea"/>
                  <a:cs typeface="+mn-cs"/>
                  <a:hlinkClick r:id="rId9"/>
                </a:rPr>
                <a:t>维基百科「上海海鸥照相机」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6320" y="5548312"/>
              <a:ext cx="59747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09 蝴蝶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· </a:t>
              </a:r>
              <a:r>
                <a:rPr lang="zh-CN" sz="2250" u="sng" dirty="0">
                  <a:solidFill>
                    <a:schemeClr val="accent3"/>
                  </a:solidFill>
                  <a:latin typeface="+mn-lt"/>
                  <a:ea typeface="+mn-ea"/>
                  <a:cs typeface="+mn-cs"/>
                  <a:hlinkClick r:id="rId10"/>
                </a:rPr>
                <a:t>上观新闻《闲话“蝴蝶牌”缝纫机》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6320" y="5967412"/>
              <a:ext cx="50357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10 红灯</a:t>
              </a: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· </a:t>
              </a:r>
              <a:r>
                <a:rPr lang="zh-CN" sz="2250" u="sng" dirty="0">
                  <a:solidFill>
                    <a:schemeClr val="accent3"/>
                  </a:solidFill>
                  <a:latin typeface="+mn-lt"/>
                  <a:ea typeface="+mn-ea"/>
                  <a:cs typeface="+mn-cs"/>
                  <a:hlinkClick r:id="rId11"/>
                </a:rPr>
                <a:t>上海市国资委《红色印迹》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14984" y="6909435"/>
            <a:ext cx="6811708" cy="1936432"/>
            <a:chOff x="1014984" y="6909435"/>
            <a:chExt cx="6811708" cy="1936432"/>
          </a:xfrm>
        </p:grpSpPr>
        <p:sp>
          <p:nvSpPr>
            <p:cNvPr id="19" name="TextBox 19"/>
            <p:cNvSpPr txBox="1"/>
            <p:nvPr/>
          </p:nvSpPr>
          <p:spPr>
            <a:xfrm>
              <a:off x="1014984" y="6909435"/>
              <a:ext cx="544250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两处查不到的地方，写 NO DATA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7270" y="7472362"/>
              <a:ext cx="6809422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42888" indent="-242888">
                <a:lnSpc>
                  <a:spcPts val="33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上海无线电二厂的建厂年份未能核实</a:t>
              </a:r>
              <a:br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红灯一页的诞生年份按「711 型 1972 年上市」表述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17270" y="8405812"/>
              <a:ext cx="662654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42888" indent="-242888">
                <a:buClr>
                  <a:schemeClr val="dk1"/>
                </a:buClr>
                <a:buSzTx/>
                <a:buFontTx/>
                <a:buChar char="•"/>
              </a:pPr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红灯品牌今天是否仍生产收音机整机，未能核实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91718" y="9346882"/>
            <a:ext cx="7791069" cy="322707"/>
            <a:chOff x="791718" y="9346882"/>
            <a:chExt cx="7791069" cy="322707"/>
          </a:xfrm>
        </p:grpSpPr>
        <p:sp>
          <p:nvSpPr>
            <p:cNvPr id="23" name="TextBox 23"/>
            <p:cNvSpPr txBox="1"/>
            <p:nvPr/>
          </p:nvSpPr>
          <p:spPr>
            <a:xfrm>
              <a:off x="791718" y="9346882"/>
              <a:ext cx="77910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年份指品牌或型号的诞生／上市年份，与工厂创办年份不同的地方已在各页标出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4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12" presetID="22" presetClass="entr" presetSubtype="4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850"/>
                            </p:stCondLst>
                            <p:childTnLst>
                              <p:par>
                                <p:cTn xmlns:p="http://schemas.openxmlformats.org/presentationml/2006/main" id="16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80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50"/>
                            </p:stCondLst>
                            <p:childTnLst>
                              <p:par>
                                <p:cTn xmlns:p="http://schemas.openxmlformats.org/presentationml/2006/main" id="24" presetID="23" presetClass="entr" presetSubtype="16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ments_nine_heritage_goods">
  <a:themeElements>
    <a:clrScheme name="moments_nine_heritage_goods">
      <a:dk1>
        <a:srgbClr val="2A2420"/>
      </a:dk1>
      <a:lt1>
        <a:srgbClr val="F4E7CE"/>
      </a:lt1>
      <a:dk2>
        <a:srgbClr val="1F497D"/>
      </a:dk2>
      <a:lt2>
        <a:srgbClr val="E3CFA4"/>
      </a:lt2>
      <a:accent1>
        <a:srgbClr val="B3402F"/>
      </a:accent1>
      <a:accent2>
        <a:srgbClr val="E0952B"/>
      </a:accent2>
      <a:accent3>
        <a:srgbClr val="2F6B5E"/>
      </a:accent3>
      <a:accent4>
        <a:srgbClr val="B3402F"/>
      </a:accent4>
      <a:accent5>
        <a:srgbClr val="6B5C4A"/>
      </a:accent5>
      <a:accent6>
        <a:srgbClr val="C3AC80"/>
      </a:accent6>
      <a:hlink>
        <a:srgbClr val="E0952B"/>
      </a:hlink>
      <a:folHlink>
        <a:srgbClr val="2F6B5E"/>
      </a:folHlink>
    </a:clrScheme>
    <a:fontScheme name="moments_nine_heritage_goods">
      <a:majorFont>
        <a:latin typeface="SimHei"/>
        <a:ea typeface="SimHei"/>
        <a:cs typeface="SimHei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ments_nine_heritage_good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ments_nine_heritage_goods">
  <a:themeElements>
    <a:clrScheme name="moments_nine_heritage_goods">
      <a:dk1>
        <a:srgbClr val="2A2420"/>
      </a:dk1>
      <a:lt1>
        <a:srgbClr val="F4E7CE"/>
      </a:lt1>
      <a:dk2>
        <a:srgbClr val="1F497D"/>
      </a:dk2>
      <a:lt2>
        <a:srgbClr val="E3CFA4"/>
      </a:lt2>
      <a:accent1>
        <a:srgbClr val="B3402F"/>
      </a:accent1>
      <a:accent2>
        <a:srgbClr val="E0952B"/>
      </a:accent2>
      <a:accent3>
        <a:srgbClr val="2F6B5E"/>
      </a:accent3>
      <a:accent4>
        <a:srgbClr val="B3402F"/>
      </a:accent4>
      <a:accent5>
        <a:srgbClr val="6B5C4A"/>
      </a:accent5>
      <a:accent6>
        <a:srgbClr val="C3AC80"/>
      </a:accent6>
      <a:hlink>
        <a:srgbClr val="E0952B"/>
      </a:hlink>
      <a:folHlink>
        <a:srgbClr val="2F6B5E"/>
      </a:folHlink>
    </a:clrScheme>
    <a:fontScheme name="moments_nine_heritage_goods">
      <a:majorFont>
        <a:latin typeface="SimHei"/>
        <a:ea typeface="SimHei"/>
        <a:cs typeface="SimHei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ments_nine_heritage_good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2026-09-04T09:27:39Z</dcterms:created>
  <dcterms:modified xsi:type="dcterms:W3CDTF">2026-09-04T09:27:39Z</dcterms:modified>
  <cp:category/>
  <cp:contentStatus/>
</cp:coreProperties>
</file>