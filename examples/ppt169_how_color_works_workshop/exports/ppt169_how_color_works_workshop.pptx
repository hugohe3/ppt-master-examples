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  <Relationship Id="rId21"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Open on the picture rather than the title. One beam of white light goes into the prism and a whole spectrum comes out the other side, and that single fact is the reason every argument in this room about colour is possible at all. Say plainly what this session is not: it is not ninety minutes of taste, and nobody is going to be told their palette is wrong because someone senior prefers blue. What is not printed on the slide is the promise behind it, which is that by the end each person will be able to defend a colour decision with a number instead of an adjective. If someone asks whether this is an accessibility session, the honest answer is that accessibility is where the only hard rule lives, so we go there, but the rule turns out to be useful far beyond compliance.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Read the four objectives as things people will do, not topics they will hear about. The one worth pausing on is the third, because it is the only one that requires them to touch their own material, and it is the one they will be doing at the fifty-minute mark. The run sheet on the right is there so nobody has to ask how long this goes on; point at the twelve-minute block and say that it is real working time, not a demo. The question that usually comes now is whether they need special software, and the answer is no, any image and one free web checker. Mention the simplification note at the bottom before anyone catches it later: this deck flattens two things on purpose, and both are marked where they happen.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spectrum band across the top is the thing being sampled, and the point of the faded ends is that the boundary is a rounding convention, not a wall. Different textbooks give 380 to 700, 380 to 750, or 400 to 700 nanometres, so treat any exact figure with suspicion. The chart underneath is the whole of colour vision in three bars: three cone types, with measured mean peaks at about 420, 534 and 563 nanometres from the classic Bowmaker and Dartnall measurement. Say the number that usually lands hardest, which is that there are only about six million cones against a hundred and twenty million rods, so colour is a thin, expensive layer of vision concentrated in the middle of the retina. Then mark the simplification out loud: the real sensitivity curves are broad and heavily overlapping, not three clean spikes, and anyone who wants the actual tabulated curves can get them from the Colour and Vision Research Lab at UCL.</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Both diagrams have exactly the same geometry on purpose, so the only thing that differs is what happens where the circles cross. On the dark side you are adding light and the overlaps get brighter until all three together give white, which is how every screen in the room works. On the light side you are adding ink to paper that already reflects everything, and each layer takes part of the spectrum away, so the overlaps get darker and all three together approach black. The relationship worth stating slowly is that each primary in one system is a secondary mixture in the other, which is why cyan, magenta and yellow are not an arbitrary choice by printers. The practical consequence is the one to leave hanging: a colour picked on a screen has no obligation whatsoever to be reachable in ink, and that is where most print surprises come from.</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Introduce hue, saturation and lightness as three independent controls, and make sure the hue dial is understood as an angle rather than a list of colour names. The wheel on the right is Johannes Itten's twelve-hue wheel from his 1961 Art of Color, built out of the course he taught at the Bauhaus, and he presented those schemes as one of several kinds of contrast useful for teaching, not as a law. Draw the line between the two opposite wedges and say that this is all a complementary pair is: two positions a hundred and eighty degrees apart on a circle somebody drew. Munsell drew a different circle using perceptually equal steps, and on that circle the complements land somewhere else, which is the whole argument in one sentence. Anyone who wants to defend harmony rules should be free to use them, but they are inherited practice and not something you could derive from the physics on the previous pages.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is the hinge of the session, so slow down. The W3C's text-contrast rule is written purely as a function of relative luminance, and if you read the formula on the slide you will notice there is no term in it for hue and no term for saturation at all. The two demonstrations make the same point from opposite directions: red and green sit a hundred and twenty degrees apart and still measure 1.10 to 1, which is effectively no contrast, while two tones of one blue measure 9.90 to 1 and read cleanly. The wheel on the right is the same wheel from the previous page with the hue and saturation drained out, leaving only what the rule actually measures, and the two so-called complementary wedges come out at 2.78 to 1 either way. The instruction that follows is simple enough to remember without notes: judge the pair in greyscale first, and only argue about hue after it passes.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Treat this as the page they photograph. There are only five numbers in the whole rule, and the most used one is 4.5 to 1 for normal body text at level AA. Large text drops to 3 to 1, and large text has an exact definition worth reading out because people guess it wrong: eighteen point, or fourteen point bold, which the spec itself puts at roughly twenty-four and eighteen and a half pixels. The row that surprises people is the last one, because 1.4.11 puts a 3 to 1 floor on interface components and on graphics you need in order to understand the content, which means icons, chart lines and form borders, not just text. Mention that the ratio must not be rounded before comparing, because a 4.49 that someone reported as 4.5 is a fail.</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Do this live rather than describing it. The print is Hokusai's Under the Wave off Kanagawa from around 1830, and it works for this exercise because it is genuinely public domain and because its colours are structural rather than decorative. Narrate the order out loud as you sample, because the order is the transferable part: largest area first, then the darkest, then the lightest, and only then two accents chosen because they carry meaning rather than because they cover ground. Keep writing the region next to each swatch, since a hex value with no memory of where it came from is the thing people cannot defend a week later. End on the unglamorous line at the bottom rather than on the palette, because five samples that look pleasant together have not been tested against anything yet.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palette from the previous page comes across unchanged, and now every pair gets measured against the 4.5 to 1 body-text floor. Walk the grid quickly rather than reading it; the useful observation is how few pairs actually clear the line once you stop trusting your eye. The circled cell is the interesting one because it fails at 4.29, which is close enough that nobody would have caught it by looking. Show the repair as a single move: hue held, saturation held, lightness taken down about one percent, and the ratio clears at 4.55 while the palette still reads as the same palette. Close honestly, because someone always asks whether passing means good: it does not, it means usable, and taste starts after the floor is met, not instead of it.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Hand this over cleanly and then stop talking. The task is on their own image, because a palette pulled from something they care about is the one they will remember. Read the success condition word for word, since a vague success condition is why exercises drift: five hex values written down, one measured ratio, and that ratio at 4.5 to 1 or above. The escape route matters more than it looks, because the people who stall are almost always stalling on meaning rather than sampling, so tell them to fall back to sampling by area. Give the twelve minutes properly and give a two-minute warning; if the room is running behind, cut the comparison at the end rather than cutting the working time.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Show the three states in order and let the middle one do the work. The caption starts at 2.63 to 1, which fails, and the instinctive fix is to push the colour until it looks stronger. Pushing saturation to full takes it to 2.28 to 1, which is worse, and the reason is on the strip below: the relative luminance actually went up, from 0.33 to 0.38, which moved it closer to the page rather than further from it. Lowering lightness instead drops the luminance to 0.17 and the ratio clears at 4.53. Be generous about why the mistake happens, because on a large bright monitor the louder colour really does look stronger to the person making it, and that is a perception problem rather than carelessness.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Put the two ramps side by side and read the luminance numbers under them out loud, because that is the entire argument. The rainbow ramp goes 0.02, 0.17, 0.26, 0.73 and then back down to 0.16, so the fourth step is by far the brightest and the last step is darker than the second, which means the ordering the reader perceives is not the ordering in the data. Borland and Taylor documented three separate defects in 2007 and they are worth naming individually, because people usually only know the accessibility one. Crameri and colleagues found in 2020 that these maps are still common in published science and proposed perceptually uniform alternatives. The chart at the bottom is why this compounds: about one man in twelve has a colour vision deficiency, deuteranomaly alone accounts for five percent, and a hue-only encoding excludes all of them at once.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Give the room a minute on the three questions before showing the answers, and resist answering them yourself in the meantime. The first question is really asking whether they understood that the fix lives on the lightness dial and not the hue dial. The second is checking whether the rule and convention distinction survived, and the correct answer is that none of the triadic claim is a rule. The third is checking whether the rainbow objection is understood as a data problem before it is understood as an accessibility problem. If anybody gets all three, they are ready to argue this in a design review, which was the point of the session.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Close by mapping the four capabilities back onto the four promises from the second page, in the same order, so the progress is visible rather than asserted. The single sentence at the top is the one to leave them with, because it compresses ninety minutes into an order of operations they can actually follow under deadline. Point at the destinations and say which one to open first: the contrast checker, today, on whatever they are currently building. End on the simplification note rather than on a flourish, since the cone curves really do overlap far more than three bars suggest, and a contrast ratio really is a floor rather than a measure of quality.</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how_color_works_workshop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how_color_works_workshop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6ab9d9fc53c539b.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ea751d1cb035974.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667f821efb416cb.pn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877a969febb66a2.jp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hyperlink" Target="https://webaim.org/resources/contrastchecker/" TargetMode="External"/>
  <Relationship Id="rId3" Type="http://schemas.openxmlformats.org/officeDocument/2006/relationships/hyperlink" Target="https://www.w3.org/WAI/WCAG22/quickref/" TargetMode="External"/>
  <Relationship Id="rId4" Type="http://schemas.openxmlformats.org/officeDocument/2006/relationships/hyperlink" Target="https://www.color-blindness.com/coblis-color-blindness-simulator/" TargetMode="External"/>
  <Relationship Id="rId5" Type="http://schemas.openxmlformats.org/officeDocument/2006/relationships/hyperlink" Target="https://colorbrewer2.org/" TargetMode="External"/>
  <Relationship Id="rId6" Type="http://schemas.openxmlformats.org/officeDocument/2006/relationships/hyperlink" Target="https://color.adobe.com" TargetMode="External"/>
  <Relationship Id="rId7" Type="http://schemas.openxmlformats.org/officeDocument/2006/relationships/hyperlink" Target="http://www.cvrl.org/" TargetMode="External"/>
  <Relationship Id="rId8"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590550" y="768668"/>
            <a:ext cx="10998708" cy="2019299"/>
            <a:chOff x="590550" y="768668"/>
            <a:chExt cx="10998708" cy="2019299"/>
          </a:xfrm>
        </p:grpSpPr>
        <p:sp>
          <p:nvSpPr>
            <p:cNvPr id="2" name="TextBox 2"/>
            <p:cNvSpPr txBox="1"/>
            <p:nvPr/>
          </p:nvSpPr>
          <p:spPr>
            <a:xfrm>
              <a:off x="603504" y="784860"/>
              <a:ext cx="2127870" cy="234696"/>
            </a:xfrm>
            <a:prstGeom prst="rect">
              <a:avLst/>
            </a:prstGeom>
            <a:noFill/>
            <a:ln>
              <a:noFill/>
            </a:ln>
          </p:spPr>
          <p:txBody>
            <a:bodyPr wrap="none" lIns="0" tIns="0" rIns="0" bIns="0" anchor="t" anchorCtr="0">
              <a:spAutoFit/>
            </a:bodyPr>
            <a:lstStyle/>
            <a:p>
              <a:pPr algn="l"/>
              <a:r>
                <a:rPr lang="en-US" sz="1200" b="1" spc="150" dirty="0">
                  <a:solidFill>
                    <a:schemeClr val="accent2"/>
                  </a:solidFill>
                  <a:latin typeface="+mn-lt"/>
                  <a:ea typeface="+mn-ea"/>
                  <a:cs typeface="+mn-cs"/>
                </a:rPr>
                <a:t>HANDS-ON WORKSHOP</a:t>
              </a:r>
            </a:p>
          </p:txBody>
        </p:sp>
        <p:sp>
          <p:nvSpPr>
            <p:cNvPr id="3" name="TextBox 3"/>
            <p:cNvSpPr txBox="1"/>
            <p:nvPr/>
          </p:nvSpPr>
          <p:spPr>
            <a:xfrm>
              <a:off x="8852166" y="768668"/>
              <a:ext cx="2737092"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Two exercises · bring a screen</a:t>
              </a:r>
            </a:p>
          </p:txBody>
        </p:sp>
        <p:sp>
          <p:nvSpPr>
            <p:cNvPr id="4" name="Rectangle 4"/>
            <p:cNvSpPr/>
            <p:nvPr/>
          </p:nvSpPr>
          <p:spPr>
            <a:xfrm>
              <a:off x="609600" y="1028700"/>
              <a:ext cx="457200" cy="28575"/>
            </a:xfrm>
            <a:prstGeom prst="rect">
              <a:avLst/>
            </a:prstGeom>
            <a:solidFill>
              <a:schemeClr val="accent2"/>
            </a:solidFill>
            <a:ln>
              <a:noFill/>
            </a:ln>
          </p:spPr>
        </p:sp>
        <p:sp>
          <p:nvSpPr>
            <p:cNvPr id="5" name="TextBox 5"/>
            <p:cNvSpPr txBox="1"/>
            <p:nvPr/>
          </p:nvSpPr>
          <p:spPr>
            <a:xfrm>
              <a:off x="590550" y="1150620"/>
              <a:ext cx="6146900" cy="1047750"/>
            </a:xfrm>
            <a:prstGeom prst="rect">
              <a:avLst/>
            </a:prstGeom>
            <a:noFill/>
            <a:ln>
              <a:noFill/>
            </a:ln>
          </p:spPr>
          <p:txBody>
            <a:bodyPr wrap="none" lIns="0" tIns="0" rIns="0" bIns="0" anchor="t" anchorCtr="0">
              <a:spAutoFit/>
            </a:bodyPr>
            <a:lstStyle/>
            <a:p>
              <a:pPr algn="l"/>
              <a:r>
                <a:rPr lang="en-US" sz="5400" b="1" dirty="0">
                  <a:solidFill>
                    <a:schemeClr val="accent1"/>
                  </a:solidFill>
                  <a:latin typeface="+mj-lt"/>
                  <a:ea typeface="+mj-ea"/>
                  <a:cs typeface="+mj-cs"/>
                </a:rPr>
                <a:t>How Color Works</a:t>
              </a:r>
            </a:p>
          </p:txBody>
        </p:sp>
        <p:sp>
          <p:nvSpPr>
            <p:cNvPr id="6" name="TextBox 6"/>
            <p:cNvSpPr txBox="1"/>
            <p:nvPr/>
          </p:nvSpPr>
          <p:spPr>
            <a:xfrm>
              <a:off x="597408" y="1912620"/>
              <a:ext cx="4996545" cy="469392"/>
            </a:xfrm>
            <a:prstGeom prst="rect">
              <a:avLst/>
            </a:prstGeom>
            <a:noFill/>
            <a:ln>
              <a:noFill/>
            </a:ln>
          </p:spPr>
          <p:txBody>
            <a:bodyPr wrap="none" lIns="0" tIns="0" rIns="0" bIns="0" anchor="t" anchorCtr="0">
              <a:spAutoFit/>
            </a:bodyPr>
            <a:lstStyle/>
            <a:p>
              <a:pPr algn="l"/>
              <a:r>
                <a:rPr lang="en-US" sz="2400" dirty="0">
                  <a:solidFill>
                    <a:schemeClr val="accent3"/>
                  </a:solidFill>
                  <a:latin typeface="+mj-lt"/>
                  <a:ea typeface="+mj-ea"/>
                  <a:cs typeface="+mj-cs"/>
                </a:rPr>
                <a:t>A 90-minute hands-on workshop</a:t>
              </a:r>
            </a:p>
          </p:txBody>
        </p:sp>
        <p:sp>
          <p:nvSpPr>
            <p:cNvPr id="7" name="TextBox 7"/>
            <p:cNvSpPr txBox="1"/>
            <p:nvPr/>
          </p:nvSpPr>
          <p:spPr>
            <a:xfrm>
              <a:off x="598170" y="2347912"/>
              <a:ext cx="8845715" cy="440055"/>
            </a:xfrm>
            <a:prstGeom prst="rect">
              <a:avLst/>
            </a:prstGeom>
            <a:noFill/>
            <a:ln>
              <a:noFill/>
            </a:ln>
          </p:spPr>
          <p:txBody>
            <a:bodyPr wrap="none" lIns="0" tIns="0" rIns="0" bIns="0" anchor="t" anchorCtr="0">
              <a:spAutoFit/>
            </a:bodyPr>
            <a:lstStyle/>
            <a:p>
              <a:pPr algn="l"/>
              <a:r>
                <a:rPr lang="en-US" sz="2250" dirty="0">
                  <a:solidFill>
                    <a:schemeClr val="dk1"/>
                  </a:solidFill>
                  <a:latin typeface="+mn-lt"/>
                  <a:ea typeface="+mn-ea"/>
                  <a:cs typeface="+mn-cs"/>
                </a:rPr>
                <a:t xml:space="preserve">One beam goes in. </a:t>
              </a:r>
              <a:r>
                <a:rPr lang="en-US" sz="2250" b="1" dirty="0">
                  <a:solidFill>
                    <a:schemeClr val="accent2"/>
                  </a:solidFill>
                  <a:latin typeface="+mn-lt"/>
                  <a:ea typeface="+mn-ea"/>
                  <a:cs typeface="+mn-cs"/>
                </a:rPr>
                <a:t>Everything you argue about comes out.</a:t>
              </a:r>
            </a:p>
          </p:txBody>
        </p:sp>
      </p:grpSp>
      <p:grpSp>
        <p:nvGrpSpPr>
          <p:cNvPr id="11" name="Group 11"/>
          <p:cNvGrpSpPr/>
          <p:nvPr/>
        </p:nvGrpSpPr>
        <p:grpSpPr>
          <a:xfrm>
            <a:off x="0" y="2847975"/>
            <a:ext cx="12192000" cy="4010025"/>
            <a:chOff x="0" y="2847975"/>
            <a:chExt cx="12192000" cy="4010025"/>
          </a:xfrm>
        </p:grpSpPr>
        <p:sp>
          <p:nvSpPr>
            <p:cNvPr id="9" name="Line 9"/>
            <p:cNvSpPr/>
            <p:nvPr/>
          </p:nvSpPr>
          <p:spPr>
            <a:xfrm>
              <a:off x="0" y="2847975"/>
              <a:ext cx="12192000" cy="9525"/>
            </a:xfrm>
            <a:custGeom>
              <a:avLst/>
              <a:gdLst/>
              <a:ahLst/>
              <a:cxnLst/>
              <a:rect l="l" t="t" r="r" b="b"/>
              <a:pathLst>
                <a:path w="12192000" h="9525">
                  <a:moveTo>
                    <a:pt x="0" y="0"/>
                  </a:moveTo>
                  <a:lnTo>
                    <a:pt x="12192000" y="0"/>
                  </a:lnTo>
                </a:path>
              </a:pathLst>
            </a:custGeom>
            <a:noFill/>
            <a:ln w="9525">
              <a:solidFill>
                <a:schemeClr val="accent6"/>
              </a:solidFill>
            </a:ln>
          </p:spPr>
        </p:sp>
        <p:pic>
          <p:nvPicPr>
            <p:cNvPr id="10" name="Image 10"/>
            <p:cNvPicPr>
              <a:picLocks noChangeAspect="1"/>
            </p:cNvPicPr>
            <p:nvPr/>
          </p:nvPicPr>
          <p:blipFill>
            <a:blip r:embed="rId2"/>
            <a:srcRect l="0" t="20616" r="0" b="20615"/>
            <a:stretch>
              <a:fillRect/>
            </a:stretch>
          </p:blipFill>
          <p:spPr>
            <a:xfrm>
              <a:off x="0" y="2857500"/>
              <a:ext cx="12192000" cy="4000500"/>
            </a:xfrm>
            <a:prstGeom prst="rect">
              <a:avLst/>
            </a:prstGeom>
          </p:spPr>
        </p:pic>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600"/>
                                        <p:tgtEl>
                                          <p:spTgt spid="8"/>
                                        </p:tgtEl>
                                      </p:cBhvr>
                                    </p:animEffect>
                                  </p:childTnLst>
                                </p:cTn>
                              </p:par>
                            </p:childTnLst>
                          </p:cTn>
                        </p:par>
                        <p:par>
                          <p:cTn id="8" fill="hold">
                            <p:stCondLst>
                              <p:cond delay="600"/>
                            </p:stCondLst>
                            <p:childTnLst>
                              <p:par>
                                <p:cTn xmlns:p="http://schemas.openxmlformats.org/presentationml/2006/main" id="9" presetID="22" presetClass="entr" presetSubtype="8" fill="hold" grpId="0" nodeType="afterEffect">
                                  <p:stCondLst>
                                    <p:cond delay="15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593598" y="556260"/>
            <a:ext cx="10988802" cy="977075"/>
            <a:chOff x="593598" y="556260"/>
            <a:chExt cx="10988802" cy="977075"/>
          </a:xfrm>
        </p:grpSpPr>
        <p:sp>
          <p:nvSpPr>
            <p:cNvPr id="2" name="TextBox 2"/>
            <p:cNvSpPr txBox="1"/>
            <p:nvPr/>
          </p:nvSpPr>
          <p:spPr>
            <a:xfrm>
              <a:off x="603504" y="556260"/>
              <a:ext cx="1420795" cy="234696"/>
            </a:xfrm>
            <a:prstGeom prst="rect">
              <a:avLst/>
            </a:prstGeom>
            <a:noFill/>
            <a:ln>
              <a:noFill/>
            </a:ln>
          </p:spPr>
          <p:txBody>
            <a:bodyPr wrap="none" lIns="0" tIns="0" rIns="0" bIns="0" anchor="t" anchorCtr="0">
              <a:spAutoFit/>
            </a:bodyPr>
            <a:lstStyle/>
            <a:p>
              <a:pPr algn="l"/>
              <a:r>
                <a:rPr lang="en-US" sz="1200" b="1" spc="150" dirty="0">
                  <a:solidFill>
                    <a:schemeClr val="accent2"/>
                  </a:solidFill>
                  <a:latin typeface="+mn-lt"/>
                  <a:ea typeface="+mn-ea"/>
                  <a:cs typeface="+mn-cs"/>
                </a:rPr>
                <a:t>THE CONTRACT</a:t>
              </a:r>
            </a:p>
          </p:txBody>
        </p:sp>
        <p:sp>
          <p:nvSpPr>
            <p:cNvPr id="3" name="Rectangle 3"/>
            <p:cNvSpPr/>
            <p:nvPr/>
          </p:nvSpPr>
          <p:spPr>
            <a:xfrm>
              <a:off x="609600" y="800100"/>
              <a:ext cx="457200" cy="28575"/>
            </a:xfrm>
            <a:prstGeom prst="rect">
              <a:avLst/>
            </a:prstGeom>
            <a:solidFill>
              <a:schemeClr val="accent2"/>
            </a:solidFill>
            <a:ln>
              <a:noFill/>
            </a:ln>
          </p:spPr>
        </p:sp>
        <p:sp>
          <p:nvSpPr>
            <p:cNvPr id="4" name="TextBox 4"/>
            <p:cNvSpPr txBox="1"/>
            <p:nvPr/>
          </p:nvSpPr>
          <p:spPr>
            <a:xfrm>
              <a:off x="593598" y="917258"/>
              <a:ext cx="9163479" cy="616077"/>
            </a:xfrm>
            <a:prstGeom prst="rect">
              <a:avLst/>
            </a:prstGeom>
            <a:noFill/>
            <a:ln>
              <a:noFill/>
            </a:ln>
          </p:spPr>
          <p:txBody>
            <a:bodyPr wrap="none" lIns="0" tIns="0" rIns="0" bIns="0" anchor="t" anchorCtr="0">
              <a:spAutoFit/>
            </a:bodyPr>
            <a:lstStyle/>
            <a:p>
              <a:pPr algn="l"/>
              <a:r>
                <a:rPr lang="en-US" sz="3150" dirty="0">
                  <a:solidFill>
                    <a:schemeClr val="accent1"/>
                  </a:solidFill>
                  <a:latin typeface="+mj-lt"/>
                  <a:ea typeface="+mj-ea"/>
                  <a:cs typeface="+mj-cs"/>
                </a:rPr>
                <a:t>By the end of this session you will be able to</a:t>
              </a:r>
            </a:p>
          </p:txBody>
        </p:sp>
        <p:sp>
          <p:nvSpPr>
            <p:cNvPr id="5" name="Line 5"/>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23" name="Group 23"/>
          <p:cNvGrpSpPr/>
          <p:nvPr/>
        </p:nvGrpSpPr>
        <p:grpSpPr>
          <a:xfrm>
            <a:off x="647700" y="1847850"/>
            <a:ext cx="5738126" cy="3796284"/>
            <a:chOff x="647700" y="1847850"/>
            <a:chExt cx="5738126" cy="3796284"/>
          </a:xfrm>
        </p:grpSpPr>
        <p:grpSp>
          <p:nvGrpSpPr>
            <p:cNvPr id="10" name="Group 10"/>
            <p:cNvGrpSpPr/>
            <p:nvPr/>
          </p:nvGrpSpPr>
          <p:grpSpPr>
            <a:xfrm>
              <a:off x="647700" y="1847850"/>
              <a:ext cx="5738126" cy="405384"/>
              <a:chOff x="647700" y="1847850"/>
              <a:chExt cx="5738126" cy="405384"/>
            </a:xfrm>
          </p:grpSpPr>
          <p:sp>
            <p:nvSpPr>
              <p:cNvPr id="7" name="Ellipse 7"/>
              <p:cNvSpPr/>
              <p:nvPr/>
            </p:nvSpPr>
            <p:spPr>
              <a:xfrm>
                <a:off x="647700" y="1847850"/>
                <a:ext cx="342900" cy="342900"/>
              </a:xfrm>
              <a:prstGeom prst="ellipse">
                <a:avLst/>
              </a:prstGeom>
              <a:noFill/>
              <a:ln w="19050">
                <a:solidFill>
                  <a:schemeClr val="accent2"/>
                </a:solidFill>
              </a:ln>
            </p:spPr>
          </p:sp>
          <p:sp>
            <p:nvSpPr>
              <p:cNvPr id="8" name="TextBox 8"/>
              <p:cNvSpPr txBox="1"/>
              <p:nvPr/>
            </p:nvSpPr>
            <p:spPr>
              <a:xfrm>
                <a:off x="749684" y="1917382"/>
                <a:ext cx="138932" cy="322707"/>
              </a:xfrm>
              <a:prstGeom prst="rect">
                <a:avLst/>
              </a:prstGeom>
              <a:noFill/>
              <a:ln>
                <a:noFill/>
              </a:ln>
            </p:spPr>
            <p:txBody>
              <a:bodyPr wrap="none" lIns="0" tIns="0" rIns="0" bIns="0" anchor="t" anchorCtr="0">
                <a:spAutoFit/>
              </a:bodyPr>
              <a:lstStyle/>
              <a:p>
                <a:pPr algn="ctr"/>
                <a:r>
                  <a:rPr lang="en-US" sz="1650" dirty="0">
                    <a:solidFill>
                      <a:schemeClr val="accent2"/>
                    </a:solidFill>
                    <a:latin typeface="Consolas"/>
                    <a:ea typeface="Consolas"/>
                    <a:cs typeface="Consolas"/>
                  </a:rPr>
                  <a:t>1</a:t>
                </a:r>
              </a:p>
            </p:txBody>
          </p:sp>
          <p:sp>
            <p:nvSpPr>
              <p:cNvPr id="9" name="TextBox 9"/>
              <p:cNvSpPr txBox="1"/>
              <p:nvPr/>
            </p:nvSpPr>
            <p:spPr>
              <a:xfrm>
                <a:off x="1171956" y="1901190"/>
                <a:ext cx="5213870"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 xml:space="preserve">Name why a specific color pair </a:t>
                </a:r>
                <a:r>
                  <a:rPr lang="en-US" sz="1800" b="1" dirty="0">
                    <a:solidFill>
                      <a:schemeClr val="accent1"/>
                    </a:solidFill>
                    <a:latin typeface="+mn-lt"/>
                    <a:ea typeface="+mn-ea"/>
                    <a:cs typeface="+mn-cs"/>
                  </a:rPr>
                  <a:t>fails to read</a:t>
                </a:r>
              </a:p>
            </p:txBody>
          </p:sp>
        </p:grpSp>
        <p:grpSp>
          <p:nvGrpSpPr>
            <p:cNvPr id="14" name="Group 14"/>
            <p:cNvGrpSpPr/>
            <p:nvPr/>
          </p:nvGrpSpPr>
          <p:grpSpPr>
            <a:xfrm>
              <a:off x="647700" y="2762250"/>
              <a:ext cx="5061966" cy="729234"/>
              <a:chOff x="647700" y="2762250"/>
              <a:chExt cx="5061966" cy="729234"/>
            </a:xfrm>
          </p:grpSpPr>
          <p:sp>
            <p:nvSpPr>
              <p:cNvPr id="11" name="Ellipse 11"/>
              <p:cNvSpPr/>
              <p:nvPr/>
            </p:nvSpPr>
            <p:spPr>
              <a:xfrm>
                <a:off x="647700" y="2762250"/>
                <a:ext cx="342900" cy="342900"/>
              </a:xfrm>
              <a:prstGeom prst="ellipse">
                <a:avLst/>
              </a:prstGeom>
              <a:noFill/>
              <a:ln w="19050">
                <a:solidFill>
                  <a:schemeClr val="accent2"/>
                </a:solidFill>
              </a:ln>
            </p:spPr>
          </p:sp>
          <p:sp>
            <p:nvSpPr>
              <p:cNvPr id="12" name="TextBox 12"/>
              <p:cNvSpPr txBox="1"/>
              <p:nvPr/>
            </p:nvSpPr>
            <p:spPr>
              <a:xfrm>
                <a:off x="749684" y="2831782"/>
                <a:ext cx="138932" cy="322707"/>
              </a:xfrm>
              <a:prstGeom prst="rect">
                <a:avLst/>
              </a:prstGeom>
              <a:noFill/>
              <a:ln>
                <a:noFill/>
              </a:ln>
            </p:spPr>
            <p:txBody>
              <a:bodyPr wrap="none" lIns="0" tIns="0" rIns="0" bIns="0" anchor="t" anchorCtr="0">
                <a:spAutoFit/>
              </a:bodyPr>
              <a:lstStyle/>
              <a:p>
                <a:pPr algn="ctr"/>
                <a:r>
                  <a:rPr lang="en-US" sz="1650" dirty="0">
                    <a:solidFill>
                      <a:schemeClr val="accent2"/>
                    </a:solidFill>
                    <a:latin typeface="Consolas"/>
                    <a:ea typeface="Consolas"/>
                    <a:cs typeface="Consolas"/>
                  </a:rPr>
                  <a:t>2</a:t>
                </a:r>
              </a:p>
            </p:txBody>
          </p:sp>
          <p:sp>
            <p:nvSpPr>
              <p:cNvPr id="13" name="TextBox 13"/>
              <p:cNvSpPr txBox="1"/>
              <p:nvPr/>
            </p:nvSpPr>
            <p:spPr>
              <a:xfrm>
                <a:off x="1171956" y="2815590"/>
                <a:ext cx="4537710" cy="675894"/>
              </a:xfrm>
              <a:prstGeom prst="rect">
                <a:avLst/>
              </a:prstGeom>
              <a:noFill/>
              <a:ln>
                <a:noFill/>
              </a:ln>
            </p:spPr>
            <p:txBody>
              <a:bodyPr wrap="none" lIns="0" tIns="0" rIns="0" bIns="0" anchor="t" anchorCtr="0">
                <a:spAutoFit/>
              </a:bodyPr>
              <a:lstStyle/>
              <a:p>
                <a:pPr algn="l">
                  <a:lnSpc>
                    <a:spcPts val="2550"/>
                  </a:lnSpc>
                </a:pPr>
                <a:r>
                  <a:rPr lang="en-US" sz="1800" dirty="0">
                    <a:solidFill>
                      <a:schemeClr val="dk1"/>
                    </a:solidFill>
                    <a:latin typeface="+mn-lt"/>
                    <a:ea typeface="+mn-ea"/>
                    <a:cs typeface="+mn-cs"/>
                  </a:rPr>
                  <a:t xml:space="preserve">Check any pair against a </a:t>
                </a:r>
                <a:r>
                  <a:rPr lang="en-US" sz="1800" b="1" dirty="0">
                    <a:solidFill>
                      <a:schemeClr val="accent1"/>
                    </a:solidFill>
                    <a:latin typeface="+mn-lt"/>
                    <a:ea typeface="+mn-ea"/>
                    <a:cs typeface="+mn-cs"/>
                  </a:rPr>
                  <a:t>WCAG threshold</a:t>
                </a:r>
                <a:br/>
                <a:r>
                  <a:rPr lang="en-US" sz="1800" dirty="0">
                    <a:solidFill>
                      <a:schemeClr val="dk1"/>
                    </a:solidFill>
                    <a:latin typeface="+mn-lt"/>
                    <a:ea typeface="+mn-ea"/>
                    <a:cs typeface="+mn-cs"/>
                  </a:rPr>
                  <a:t>and read the result out loud</a:t>
                </a:r>
              </a:p>
            </p:txBody>
          </p:sp>
        </p:grpSp>
        <p:grpSp>
          <p:nvGrpSpPr>
            <p:cNvPr id="18" name="Group 18"/>
            <p:cNvGrpSpPr/>
            <p:nvPr/>
          </p:nvGrpSpPr>
          <p:grpSpPr>
            <a:xfrm>
              <a:off x="647700" y="4000500"/>
              <a:ext cx="5296281" cy="729234"/>
              <a:chOff x="647700" y="4000500"/>
              <a:chExt cx="5296281" cy="729234"/>
            </a:xfrm>
          </p:grpSpPr>
          <p:sp>
            <p:nvSpPr>
              <p:cNvPr id="15" name="Ellipse 15"/>
              <p:cNvSpPr/>
              <p:nvPr/>
            </p:nvSpPr>
            <p:spPr>
              <a:xfrm>
                <a:off x="647700" y="4000500"/>
                <a:ext cx="342900" cy="342900"/>
              </a:xfrm>
              <a:prstGeom prst="ellipse">
                <a:avLst/>
              </a:prstGeom>
              <a:noFill/>
              <a:ln w="19050">
                <a:solidFill>
                  <a:schemeClr val="accent2"/>
                </a:solidFill>
              </a:ln>
            </p:spPr>
          </p:sp>
          <p:sp>
            <p:nvSpPr>
              <p:cNvPr id="16" name="TextBox 16"/>
              <p:cNvSpPr txBox="1"/>
              <p:nvPr/>
            </p:nvSpPr>
            <p:spPr>
              <a:xfrm>
                <a:off x="749684" y="4070032"/>
                <a:ext cx="138932" cy="322707"/>
              </a:xfrm>
              <a:prstGeom prst="rect">
                <a:avLst/>
              </a:prstGeom>
              <a:noFill/>
              <a:ln>
                <a:noFill/>
              </a:ln>
            </p:spPr>
            <p:txBody>
              <a:bodyPr wrap="none" lIns="0" tIns="0" rIns="0" bIns="0" anchor="t" anchorCtr="0">
                <a:spAutoFit/>
              </a:bodyPr>
              <a:lstStyle/>
              <a:p>
                <a:pPr algn="ctr"/>
                <a:r>
                  <a:rPr lang="en-US" sz="1650" dirty="0">
                    <a:solidFill>
                      <a:schemeClr val="accent2"/>
                    </a:solidFill>
                    <a:latin typeface="Consolas"/>
                    <a:ea typeface="Consolas"/>
                    <a:cs typeface="Consolas"/>
                  </a:rPr>
                  <a:t>3</a:t>
                </a:r>
              </a:p>
            </p:txBody>
          </p:sp>
          <p:sp>
            <p:nvSpPr>
              <p:cNvPr id="17" name="TextBox 17"/>
              <p:cNvSpPr txBox="1"/>
              <p:nvPr/>
            </p:nvSpPr>
            <p:spPr>
              <a:xfrm>
                <a:off x="1171956" y="4053840"/>
                <a:ext cx="4772025" cy="675894"/>
              </a:xfrm>
              <a:prstGeom prst="rect">
                <a:avLst/>
              </a:prstGeom>
              <a:noFill/>
              <a:ln>
                <a:noFill/>
              </a:ln>
            </p:spPr>
            <p:txBody>
              <a:bodyPr wrap="none" lIns="0" tIns="0" rIns="0" bIns="0" anchor="t" anchorCtr="0">
                <a:spAutoFit/>
              </a:bodyPr>
              <a:lstStyle/>
              <a:p>
                <a:pPr algn="l">
                  <a:lnSpc>
                    <a:spcPts val="2550"/>
                  </a:lnSpc>
                </a:pPr>
                <a:r>
                  <a:rPr lang="en-US" sz="1800" dirty="0">
                    <a:solidFill>
                      <a:schemeClr val="dk1"/>
                    </a:solidFill>
                    <a:latin typeface="+mn-lt"/>
                    <a:ea typeface="+mn-ea"/>
                    <a:cs typeface="+mn-cs"/>
                  </a:rPr>
                  <a:t xml:space="preserve">Pull a </a:t>
                </a:r>
                <a:r>
                  <a:rPr lang="en-US" sz="1800" b="1" dirty="0">
                    <a:solidFill>
                      <a:schemeClr val="accent1"/>
                    </a:solidFill>
                    <a:latin typeface="+mn-lt"/>
                    <a:ea typeface="+mn-ea"/>
                    <a:cs typeface="+mn-cs"/>
                  </a:rPr>
                  <a:t>five-color palette</a:t>
                </a:r>
                <a:r>
                  <a:rPr lang="en-US" sz="1800" dirty="0">
                    <a:solidFill>
                      <a:schemeClr val="dk1"/>
                    </a:solidFill>
                    <a:latin typeface="+mn-lt"/>
                    <a:ea typeface="+mn-ea"/>
                    <a:cs typeface="+mn-cs"/>
                  </a:rPr>
                  <a:t xml:space="preserve"> off a real image,</a:t>
                </a:r>
                <a:br/>
                <a:r>
                  <a:rPr lang="en-US" sz="1800" dirty="0">
                    <a:solidFill>
                      <a:schemeClr val="dk1"/>
                    </a:solidFill>
                    <a:latin typeface="+mn-lt"/>
                    <a:ea typeface="+mn-ea"/>
                    <a:cs typeface="+mn-cs"/>
                  </a:rPr>
                  <a:t>then repair the pair that fails</a:t>
                </a:r>
              </a:p>
            </p:txBody>
          </p:sp>
        </p:grpSp>
        <p:grpSp>
          <p:nvGrpSpPr>
            <p:cNvPr id="22" name="Group 22"/>
            <p:cNvGrpSpPr/>
            <p:nvPr/>
          </p:nvGrpSpPr>
          <p:grpSpPr>
            <a:xfrm>
              <a:off x="647700" y="4914900"/>
              <a:ext cx="4685919" cy="729234"/>
              <a:chOff x="647700" y="4914900"/>
              <a:chExt cx="4685919" cy="729234"/>
            </a:xfrm>
          </p:grpSpPr>
          <p:sp>
            <p:nvSpPr>
              <p:cNvPr id="19" name="Ellipse 19"/>
              <p:cNvSpPr/>
              <p:nvPr/>
            </p:nvSpPr>
            <p:spPr>
              <a:xfrm>
                <a:off x="647700" y="4914900"/>
                <a:ext cx="342900" cy="342900"/>
              </a:xfrm>
              <a:prstGeom prst="ellipse">
                <a:avLst/>
              </a:prstGeom>
              <a:noFill/>
              <a:ln w="19050">
                <a:solidFill>
                  <a:schemeClr val="accent2"/>
                </a:solidFill>
              </a:ln>
            </p:spPr>
          </p:sp>
          <p:sp>
            <p:nvSpPr>
              <p:cNvPr id="20" name="TextBox 20"/>
              <p:cNvSpPr txBox="1"/>
              <p:nvPr/>
            </p:nvSpPr>
            <p:spPr>
              <a:xfrm>
                <a:off x="749684" y="4984432"/>
                <a:ext cx="138932" cy="322707"/>
              </a:xfrm>
              <a:prstGeom prst="rect">
                <a:avLst/>
              </a:prstGeom>
              <a:noFill/>
              <a:ln>
                <a:noFill/>
              </a:ln>
            </p:spPr>
            <p:txBody>
              <a:bodyPr wrap="none" lIns="0" tIns="0" rIns="0" bIns="0" anchor="t" anchorCtr="0">
                <a:spAutoFit/>
              </a:bodyPr>
              <a:lstStyle/>
              <a:p>
                <a:pPr algn="ctr"/>
                <a:r>
                  <a:rPr lang="en-US" sz="1650" dirty="0">
                    <a:solidFill>
                      <a:schemeClr val="accent2"/>
                    </a:solidFill>
                    <a:latin typeface="Consolas"/>
                    <a:ea typeface="Consolas"/>
                    <a:cs typeface="Consolas"/>
                  </a:rPr>
                  <a:t>4</a:t>
                </a:r>
              </a:p>
            </p:txBody>
          </p:sp>
          <p:sp>
            <p:nvSpPr>
              <p:cNvPr id="21" name="TextBox 21"/>
              <p:cNvSpPr txBox="1"/>
              <p:nvPr/>
            </p:nvSpPr>
            <p:spPr>
              <a:xfrm>
                <a:off x="1171956" y="4968240"/>
                <a:ext cx="4161663" cy="675894"/>
              </a:xfrm>
              <a:prstGeom prst="rect">
                <a:avLst/>
              </a:prstGeom>
              <a:noFill/>
              <a:ln>
                <a:noFill/>
              </a:ln>
            </p:spPr>
            <p:txBody>
              <a:bodyPr wrap="none" lIns="0" tIns="0" rIns="0" bIns="0" anchor="t" anchorCtr="0">
                <a:spAutoFit/>
              </a:bodyPr>
              <a:lstStyle/>
              <a:p>
                <a:pPr algn="l">
                  <a:lnSpc>
                    <a:spcPts val="2550"/>
                  </a:lnSpc>
                </a:pPr>
                <a:r>
                  <a:rPr lang="en-US" sz="1800" dirty="0">
                    <a:solidFill>
                      <a:schemeClr val="dk1"/>
                    </a:solidFill>
                    <a:latin typeface="+mn-lt"/>
                    <a:ea typeface="+mn-ea"/>
                    <a:cs typeface="+mn-cs"/>
                  </a:rPr>
                  <a:t xml:space="preserve">Say why a </a:t>
                </a:r>
                <a:r>
                  <a:rPr lang="en-US" sz="1800" b="1" dirty="0">
                    <a:solidFill>
                      <a:schemeClr val="accent1"/>
                    </a:solidFill>
                    <a:latin typeface="+mn-lt"/>
                    <a:ea typeface="+mn-ea"/>
                    <a:cs typeface="+mn-cs"/>
                  </a:rPr>
                  <a:t>rainbow ramp</a:t>
                </a:r>
                <a:r>
                  <a:rPr lang="en-US" sz="1800" dirty="0">
                    <a:solidFill>
                      <a:schemeClr val="dk1"/>
                    </a:solidFill>
                    <a:latin typeface="+mn-lt"/>
                    <a:ea typeface="+mn-ea"/>
                    <a:cs typeface="+mn-cs"/>
                  </a:rPr>
                  <a:t xml:space="preserve"> is the wrong</a:t>
                </a:r>
                <a:br/>
                <a:r>
                  <a:rPr lang="en-US" sz="1800" dirty="0">
                    <a:solidFill>
                      <a:schemeClr val="dk1"/>
                    </a:solidFill>
                    <a:latin typeface="+mn-lt"/>
                    <a:ea typeface="+mn-ea"/>
                    <a:cs typeface="+mn-cs"/>
                  </a:rPr>
                  <a:t>default for ordered data</a:t>
                </a:r>
              </a:p>
            </p:txBody>
          </p:sp>
        </p:grpSp>
      </p:grpSp>
      <p:grpSp>
        <p:nvGrpSpPr>
          <p:cNvPr id="25" name="Group 25"/>
          <p:cNvGrpSpPr/>
          <p:nvPr/>
        </p:nvGrpSpPr>
        <p:grpSpPr>
          <a:xfrm>
            <a:off x="602742" y="5759768"/>
            <a:ext cx="5717373" cy="264033"/>
            <a:chOff x="602742" y="5759768"/>
            <a:chExt cx="5717373" cy="264033"/>
          </a:xfrm>
        </p:grpSpPr>
        <p:sp>
          <p:nvSpPr>
            <p:cNvPr id="24" name="TextBox 24"/>
            <p:cNvSpPr txBox="1"/>
            <p:nvPr/>
          </p:nvSpPr>
          <p:spPr>
            <a:xfrm>
              <a:off x="602742" y="5759768"/>
              <a:ext cx="5717373"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This session simplifies in two places, and says so where it does.</a:t>
              </a:r>
            </a:p>
          </p:txBody>
        </p:sp>
      </p:grpSp>
      <p:grpSp>
        <p:nvGrpSpPr>
          <p:cNvPr id="49" name="Group 49"/>
          <p:cNvGrpSpPr/>
          <p:nvPr/>
        </p:nvGrpSpPr>
        <p:grpSpPr>
          <a:xfrm>
            <a:off x="7810500" y="1828800"/>
            <a:ext cx="3771900" cy="4267200"/>
            <a:chOff x="7810500" y="1828800"/>
            <a:chExt cx="3771900" cy="4267200"/>
          </a:xfrm>
        </p:grpSpPr>
        <p:sp>
          <p:nvSpPr>
            <p:cNvPr id="26" name="Rectangle 26"/>
            <p:cNvSpPr/>
            <p:nvPr/>
          </p:nvSpPr>
          <p:spPr>
            <a:xfrm>
              <a:off x="7810500" y="1828800"/>
              <a:ext cx="3771900" cy="4267200"/>
            </a:xfrm>
            <a:prstGeom prst="rect">
              <a:avLst/>
            </a:prstGeom>
            <a:solidFill>
              <a:schemeClr val="lt2"/>
            </a:solidFill>
            <a:ln>
              <a:noFill/>
            </a:ln>
          </p:spPr>
        </p:sp>
        <p:grpSp>
          <p:nvGrpSpPr>
            <p:cNvPr id="29" name="Group 29"/>
            <p:cNvGrpSpPr/>
            <p:nvPr/>
          </p:nvGrpSpPr>
          <p:grpSpPr>
            <a:xfrm>
              <a:off x="8146256" y="2069306"/>
              <a:ext cx="185737" cy="185737"/>
              <a:chOff x="8146256" y="2069306"/>
              <a:chExt cx="185737" cy="185737"/>
            </a:xfrm>
          </p:grpSpPr>
          <p:sp>
            <p:nvSpPr>
              <p:cNvPr id="27" name="Freeform 27"/>
              <p:cNvSpPr/>
              <p:nvPr/>
            </p:nvSpPr>
            <p:spPr>
              <a:xfrm>
                <a:off x="8146256" y="2069306"/>
                <a:ext cx="185737" cy="185737"/>
              </a:xfrm>
              <a:custGeom>
                <a:avLst/>
                <a:gdLst/>
                <a:ahLst/>
                <a:cxnLst/>
                <a:rect l="l" t="t" r="r" b="b"/>
                <a:pathLst>
                  <a:path w="185737" h="185737">
                    <a:moveTo>
                      <a:pt x="0" y="92868"/>
                    </a:moveTo>
                    <a:cubicBezTo>
                      <a:pt x="0" y="144158"/>
                      <a:pt x="41579" y="185737"/>
                      <a:pt x="92868" y="185737"/>
                    </a:cubicBezTo>
                    <a:cubicBezTo>
                      <a:pt x="144158" y="185737"/>
                      <a:pt x="185737" y="144158"/>
                      <a:pt x="185737" y="92868"/>
                    </a:cubicBezTo>
                    <a:cubicBezTo>
                      <a:pt x="185737" y="41579"/>
                      <a:pt x="144158" y="0"/>
                      <a:pt x="92868" y="0"/>
                    </a:cubicBezTo>
                    <a:cubicBezTo>
                      <a:pt x="41579" y="0"/>
                      <a:pt x="0" y="41579"/>
                      <a:pt x="0" y="92868"/>
                    </a:cubicBezTo>
                  </a:path>
                </a:pathLst>
              </a:custGeom>
              <a:noFill/>
              <a:ln w="20637">
                <a:solidFill>
                  <a:schemeClr val="accent2"/>
                </a:solidFill>
              </a:ln>
            </p:spPr>
          </p:sp>
          <p:sp>
            <p:nvSpPr>
              <p:cNvPr id="28" name="Freeform 28"/>
              <p:cNvSpPr/>
              <p:nvPr/>
            </p:nvSpPr>
            <p:spPr>
              <a:xfrm>
                <a:off x="8239125" y="2110581"/>
                <a:ext cx="30956" cy="82550"/>
              </a:xfrm>
              <a:custGeom>
                <a:avLst/>
                <a:gdLst/>
                <a:ahLst/>
                <a:cxnLst/>
                <a:rect l="l" t="t" r="r" b="b"/>
                <a:pathLst>
                  <a:path w="30956" h="82550">
                    <a:moveTo>
                      <a:pt x="0" y="0"/>
                    </a:moveTo>
                    <a:lnTo>
                      <a:pt x="0" y="51594"/>
                    </a:lnTo>
                    <a:lnTo>
                      <a:pt x="30956" y="82550"/>
                    </a:lnTo>
                  </a:path>
                </a:pathLst>
              </a:custGeom>
              <a:noFill/>
              <a:ln w="20637">
                <a:solidFill>
                  <a:schemeClr val="accent2"/>
                </a:solidFill>
              </a:ln>
            </p:spPr>
          </p:sp>
        </p:grpSp>
        <p:sp>
          <p:nvSpPr>
            <p:cNvPr id="30" name="TextBox 30"/>
            <p:cNvSpPr txBox="1"/>
            <p:nvPr/>
          </p:nvSpPr>
          <p:spPr>
            <a:xfrm>
              <a:off x="8468106" y="2053590"/>
              <a:ext cx="1847773"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The 90 minutes</a:t>
              </a:r>
            </a:p>
          </p:txBody>
        </p:sp>
        <p:sp>
          <p:nvSpPr>
            <p:cNvPr id="31" name="Line 31"/>
            <p:cNvSpPr/>
            <p:nvPr/>
          </p:nvSpPr>
          <p:spPr>
            <a:xfrm>
              <a:off x="8115300" y="2457450"/>
              <a:ext cx="3162300" cy="9525"/>
            </a:xfrm>
            <a:custGeom>
              <a:avLst/>
              <a:gdLst/>
              <a:ahLst/>
              <a:cxnLst/>
              <a:rect l="l" t="t" r="r" b="b"/>
              <a:pathLst>
                <a:path w="3162300" h="9525">
                  <a:moveTo>
                    <a:pt x="0" y="0"/>
                  </a:moveTo>
                  <a:lnTo>
                    <a:pt x="3162300" y="0"/>
                  </a:lnTo>
                </a:path>
              </a:pathLst>
            </a:custGeom>
            <a:noFill/>
            <a:ln w="9525">
              <a:solidFill>
                <a:schemeClr val="accent6"/>
              </a:solidFill>
            </a:ln>
          </p:spPr>
        </p:sp>
        <p:grpSp>
          <p:nvGrpSpPr>
            <p:cNvPr id="34" name="Group 34"/>
            <p:cNvGrpSpPr/>
            <p:nvPr/>
          </p:nvGrpSpPr>
          <p:grpSpPr>
            <a:xfrm>
              <a:off x="8106918" y="2679382"/>
              <a:ext cx="2898572" cy="322707"/>
              <a:chOff x="8106918" y="2679382"/>
              <a:chExt cx="2898572" cy="322707"/>
            </a:xfrm>
          </p:grpSpPr>
          <p:sp>
            <p:nvSpPr>
              <p:cNvPr id="32" name="TextBox 32"/>
              <p:cNvSpPr txBox="1"/>
              <p:nvPr/>
            </p:nvSpPr>
            <p:spPr>
              <a:xfrm>
                <a:off x="8106918" y="2679382"/>
                <a:ext cx="505435" cy="322707"/>
              </a:xfrm>
              <a:prstGeom prst="rect">
                <a:avLst/>
              </a:prstGeom>
              <a:noFill/>
              <a:ln>
                <a:noFill/>
              </a:ln>
            </p:spPr>
            <p:txBody>
              <a:bodyPr wrap="none" lIns="0" tIns="0" rIns="0" bIns="0" anchor="t" anchorCtr="0">
                <a:spAutoFit/>
              </a:bodyPr>
              <a:lstStyle/>
              <a:p>
                <a:pPr algn="l"/>
                <a:r>
                  <a:rPr lang="en-US" sz="1650" dirty="0">
                    <a:solidFill>
                      <a:schemeClr val="accent2"/>
                    </a:solidFill>
                    <a:latin typeface="Consolas"/>
                    <a:ea typeface="Consolas"/>
                    <a:cs typeface="Consolas"/>
                  </a:rPr>
                  <a:t>0–10</a:t>
                </a:r>
              </a:p>
            </p:txBody>
          </p:sp>
          <p:sp>
            <p:nvSpPr>
              <p:cNvPr id="33" name="TextBox 33"/>
              <p:cNvSpPr txBox="1"/>
              <p:nvPr/>
            </p:nvSpPr>
            <p:spPr>
              <a:xfrm>
                <a:off x="9022842" y="2711768"/>
                <a:ext cx="19826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Why color is not taste</a:t>
                </a:r>
              </a:p>
            </p:txBody>
          </p:sp>
        </p:grpSp>
        <p:grpSp>
          <p:nvGrpSpPr>
            <p:cNvPr id="37" name="Group 37"/>
            <p:cNvGrpSpPr/>
            <p:nvPr/>
          </p:nvGrpSpPr>
          <p:grpSpPr>
            <a:xfrm>
              <a:off x="8106918" y="3250882"/>
              <a:ext cx="2553203" cy="322707"/>
              <a:chOff x="8106918" y="3250882"/>
              <a:chExt cx="2553203" cy="322707"/>
            </a:xfrm>
          </p:grpSpPr>
          <p:sp>
            <p:nvSpPr>
              <p:cNvPr id="35" name="TextBox 35"/>
              <p:cNvSpPr txBox="1"/>
              <p:nvPr/>
            </p:nvSpPr>
            <p:spPr>
              <a:xfrm>
                <a:off x="8106918" y="3250882"/>
                <a:ext cx="627602" cy="322707"/>
              </a:xfrm>
              <a:prstGeom prst="rect">
                <a:avLst/>
              </a:prstGeom>
              <a:noFill/>
              <a:ln>
                <a:noFill/>
              </a:ln>
            </p:spPr>
            <p:txBody>
              <a:bodyPr wrap="none" lIns="0" tIns="0" rIns="0" bIns="0" anchor="t" anchorCtr="0">
                <a:spAutoFit/>
              </a:bodyPr>
              <a:lstStyle/>
              <a:p>
                <a:pPr algn="l"/>
                <a:r>
                  <a:rPr lang="en-US" sz="1650" dirty="0">
                    <a:solidFill>
                      <a:schemeClr val="accent2"/>
                    </a:solidFill>
                    <a:latin typeface="Consolas"/>
                    <a:ea typeface="Consolas"/>
                    <a:cs typeface="Consolas"/>
                  </a:rPr>
                  <a:t>10–35</a:t>
                </a:r>
              </a:p>
            </p:txBody>
          </p:sp>
          <p:sp>
            <p:nvSpPr>
              <p:cNvPr id="36" name="TextBox 36"/>
              <p:cNvSpPr txBox="1"/>
              <p:nvPr/>
            </p:nvSpPr>
            <p:spPr>
              <a:xfrm>
                <a:off x="9022842" y="3283268"/>
                <a:ext cx="163727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The minimum model</a:t>
                </a:r>
              </a:p>
            </p:txBody>
          </p:sp>
        </p:grpSp>
        <p:grpSp>
          <p:nvGrpSpPr>
            <p:cNvPr id="40" name="Group 40"/>
            <p:cNvGrpSpPr/>
            <p:nvPr/>
          </p:nvGrpSpPr>
          <p:grpSpPr>
            <a:xfrm>
              <a:off x="8106918" y="3822382"/>
              <a:ext cx="2916475" cy="322707"/>
              <a:chOff x="8106918" y="3822382"/>
              <a:chExt cx="2916475" cy="322707"/>
            </a:xfrm>
          </p:grpSpPr>
          <p:sp>
            <p:nvSpPr>
              <p:cNvPr id="38" name="TextBox 38"/>
              <p:cNvSpPr txBox="1"/>
              <p:nvPr/>
            </p:nvSpPr>
            <p:spPr>
              <a:xfrm>
                <a:off x="8106918" y="3822382"/>
                <a:ext cx="627602" cy="322707"/>
              </a:xfrm>
              <a:prstGeom prst="rect">
                <a:avLst/>
              </a:prstGeom>
              <a:noFill/>
              <a:ln>
                <a:noFill/>
              </a:ln>
            </p:spPr>
            <p:txBody>
              <a:bodyPr wrap="none" lIns="0" tIns="0" rIns="0" bIns="0" anchor="t" anchorCtr="0">
                <a:spAutoFit/>
              </a:bodyPr>
              <a:lstStyle/>
              <a:p>
                <a:pPr algn="l"/>
                <a:r>
                  <a:rPr lang="en-US" sz="1650" dirty="0">
                    <a:solidFill>
                      <a:schemeClr val="accent2"/>
                    </a:solidFill>
                    <a:latin typeface="Consolas"/>
                    <a:ea typeface="Consolas"/>
                    <a:cs typeface="Consolas"/>
                  </a:rPr>
                  <a:t>35–50</a:t>
                </a:r>
              </a:p>
            </p:txBody>
          </p:sp>
          <p:sp>
            <p:nvSpPr>
              <p:cNvPr id="39" name="TextBox 39"/>
              <p:cNvSpPr txBox="1"/>
              <p:nvPr/>
            </p:nvSpPr>
            <p:spPr>
              <a:xfrm>
                <a:off x="9022842" y="3854768"/>
                <a:ext cx="200055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Worked demonstration</a:t>
                </a:r>
              </a:p>
            </p:txBody>
          </p:sp>
        </p:grpSp>
        <p:grpSp>
          <p:nvGrpSpPr>
            <p:cNvPr id="43" name="Group 43"/>
            <p:cNvGrpSpPr/>
            <p:nvPr/>
          </p:nvGrpSpPr>
          <p:grpSpPr>
            <a:xfrm>
              <a:off x="8106918" y="4393882"/>
              <a:ext cx="2675073" cy="322707"/>
              <a:chOff x="8106918" y="4393882"/>
              <a:chExt cx="2675073" cy="322707"/>
            </a:xfrm>
          </p:grpSpPr>
          <p:sp>
            <p:nvSpPr>
              <p:cNvPr id="41" name="TextBox 41"/>
              <p:cNvSpPr txBox="1"/>
              <p:nvPr/>
            </p:nvSpPr>
            <p:spPr>
              <a:xfrm>
                <a:off x="8106918" y="4393882"/>
                <a:ext cx="627602"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Consolas"/>
                    <a:ea typeface="Consolas"/>
                    <a:cs typeface="Consolas"/>
                  </a:rPr>
                  <a:t>50–62</a:t>
                </a:r>
              </a:p>
            </p:txBody>
          </p:sp>
          <p:sp>
            <p:nvSpPr>
              <p:cNvPr id="42" name="TextBox 42"/>
              <p:cNvSpPr txBox="1"/>
              <p:nvPr/>
            </p:nvSpPr>
            <p:spPr>
              <a:xfrm>
                <a:off x="9022842" y="4426268"/>
                <a:ext cx="1759149"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Your turn (12 min)</a:t>
                </a:r>
              </a:p>
            </p:txBody>
          </p:sp>
        </p:grpSp>
        <p:grpSp>
          <p:nvGrpSpPr>
            <p:cNvPr id="46" name="Group 46"/>
            <p:cNvGrpSpPr/>
            <p:nvPr/>
          </p:nvGrpSpPr>
          <p:grpSpPr>
            <a:xfrm>
              <a:off x="8106918" y="4965382"/>
              <a:ext cx="3243921" cy="322707"/>
              <a:chOff x="8106918" y="4965382"/>
              <a:chExt cx="3243921" cy="322707"/>
            </a:xfrm>
          </p:grpSpPr>
          <p:sp>
            <p:nvSpPr>
              <p:cNvPr id="44" name="TextBox 44"/>
              <p:cNvSpPr txBox="1"/>
              <p:nvPr/>
            </p:nvSpPr>
            <p:spPr>
              <a:xfrm>
                <a:off x="8106918" y="4965382"/>
                <a:ext cx="627602" cy="322707"/>
              </a:xfrm>
              <a:prstGeom prst="rect">
                <a:avLst/>
              </a:prstGeom>
              <a:noFill/>
              <a:ln>
                <a:noFill/>
              </a:ln>
            </p:spPr>
            <p:txBody>
              <a:bodyPr wrap="none" lIns="0" tIns="0" rIns="0" bIns="0" anchor="t" anchorCtr="0">
                <a:spAutoFit/>
              </a:bodyPr>
              <a:lstStyle/>
              <a:p>
                <a:pPr algn="l"/>
                <a:r>
                  <a:rPr lang="en-US" sz="1650" dirty="0">
                    <a:solidFill>
                      <a:schemeClr val="accent2"/>
                    </a:solidFill>
                    <a:latin typeface="Consolas"/>
                    <a:ea typeface="Consolas"/>
                    <a:cs typeface="Consolas"/>
                  </a:rPr>
                  <a:t>62–90</a:t>
                </a:r>
              </a:p>
            </p:txBody>
          </p:sp>
          <p:sp>
            <p:nvSpPr>
              <p:cNvPr id="45" name="TextBox 45"/>
              <p:cNvSpPr txBox="1"/>
              <p:nvPr/>
            </p:nvSpPr>
            <p:spPr>
              <a:xfrm>
                <a:off x="9022842" y="4997768"/>
                <a:ext cx="232799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Mistakes, check and close</a:t>
                </a:r>
              </a:p>
            </p:txBody>
          </p:sp>
        </p:grpSp>
        <p:sp>
          <p:nvSpPr>
            <p:cNvPr id="47" name="Line 47"/>
            <p:cNvSpPr/>
            <p:nvPr/>
          </p:nvSpPr>
          <p:spPr>
            <a:xfrm>
              <a:off x="8115300" y="5486400"/>
              <a:ext cx="3162300" cy="9525"/>
            </a:xfrm>
            <a:custGeom>
              <a:avLst/>
              <a:gdLst/>
              <a:ahLst/>
              <a:cxnLst/>
              <a:rect l="l" t="t" r="r" b="b"/>
              <a:pathLst>
                <a:path w="3162300" h="9525">
                  <a:moveTo>
                    <a:pt x="0" y="0"/>
                  </a:moveTo>
                  <a:lnTo>
                    <a:pt x="3162300" y="0"/>
                  </a:lnTo>
                </a:path>
              </a:pathLst>
            </a:custGeom>
            <a:noFill/>
            <a:ln w="9525">
              <a:solidFill>
                <a:schemeClr val="accent6"/>
              </a:solidFill>
            </a:ln>
          </p:spPr>
        </p:sp>
        <p:sp>
          <p:nvSpPr>
            <p:cNvPr id="48" name="TextBox 48"/>
            <p:cNvSpPr txBox="1"/>
            <p:nvPr/>
          </p:nvSpPr>
          <p:spPr>
            <a:xfrm>
              <a:off x="8109204" y="5661660"/>
              <a:ext cx="299021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Bring a screen you can pick colors on.</a:t>
              </a:r>
            </a:p>
          </p:txBody>
        </p:sp>
      </p:grpSp>
      <p:sp>
        <p:nvSpPr>
          <p:cNvPr id="50" name="TextBox 5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02 / 14</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600"/>
                                        <p:tgtEl>
                                          <p:spTgt spid="23"/>
                                        </p:tgtEl>
                                      </p:cBhvr>
                                    </p:animEffect>
                                  </p:childTnLst>
                                </p:cTn>
                              </p:par>
                            </p:childTnLst>
                          </p:cTn>
                        </p:par>
                        <p:par>
                          <p:cTn id="8" fill="hold">
                            <p:stCondLst>
                              <p:cond delay="6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593598" y="556260"/>
            <a:ext cx="10988802" cy="977075"/>
            <a:chOff x="593598" y="556260"/>
            <a:chExt cx="10988802" cy="977075"/>
          </a:xfrm>
        </p:grpSpPr>
        <p:sp>
          <p:nvSpPr>
            <p:cNvPr id="2" name="TextBox 2"/>
            <p:cNvSpPr txBox="1"/>
            <p:nvPr/>
          </p:nvSpPr>
          <p:spPr>
            <a:xfrm>
              <a:off x="603504" y="556260"/>
              <a:ext cx="2734239" cy="234696"/>
            </a:xfrm>
            <a:prstGeom prst="rect">
              <a:avLst/>
            </a:prstGeom>
            <a:noFill/>
            <a:ln>
              <a:noFill/>
            </a:ln>
          </p:spPr>
          <p:txBody>
            <a:bodyPr wrap="none" lIns="0" tIns="0" rIns="0" bIns="0" anchor="t" anchorCtr="0">
              <a:spAutoFit/>
            </a:bodyPr>
            <a:lstStyle/>
            <a:p>
              <a:pPr algn="l"/>
              <a:r>
                <a:rPr lang="en-US" sz="1200" b="1" spc="150" dirty="0">
                  <a:solidFill>
                    <a:schemeClr val="accent2"/>
                  </a:solidFill>
                  <a:latin typeface="+mn-lt"/>
                  <a:ea typeface="+mn-ea"/>
                  <a:cs typeface="+mn-cs"/>
                </a:rPr>
                <a:t>MINIMUM CONCEPT · 1 OF 3</a:t>
              </a:r>
            </a:p>
          </p:txBody>
        </p:sp>
        <p:sp>
          <p:nvSpPr>
            <p:cNvPr id="3" name="Rectangle 3"/>
            <p:cNvSpPr/>
            <p:nvPr/>
          </p:nvSpPr>
          <p:spPr>
            <a:xfrm>
              <a:off x="609600" y="800100"/>
              <a:ext cx="457200" cy="28575"/>
            </a:xfrm>
            <a:prstGeom prst="rect">
              <a:avLst/>
            </a:prstGeom>
            <a:solidFill>
              <a:schemeClr val="accent2"/>
            </a:solidFill>
            <a:ln>
              <a:noFill/>
            </a:ln>
          </p:spPr>
        </p:sp>
        <p:sp>
          <p:nvSpPr>
            <p:cNvPr id="4" name="TextBox 4"/>
            <p:cNvSpPr txBox="1"/>
            <p:nvPr/>
          </p:nvSpPr>
          <p:spPr>
            <a:xfrm>
              <a:off x="593598" y="917258"/>
              <a:ext cx="6619135" cy="616077"/>
            </a:xfrm>
            <a:prstGeom prst="rect">
              <a:avLst/>
            </a:prstGeom>
            <a:noFill/>
            <a:ln>
              <a:noFill/>
            </a:ln>
          </p:spPr>
          <p:txBody>
            <a:bodyPr wrap="none" lIns="0" tIns="0" rIns="0" bIns="0" anchor="t" anchorCtr="0">
              <a:spAutoFit/>
            </a:bodyPr>
            <a:lstStyle/>
            <a:p>
              <a:pPr algn="l"/>
              <a:r>
                <a:rPr lang="en-US" sz="3150" dirty="0">
                  <a:solidFill>
                    <a:schemeClr val="accent1"/>
                  </a:solidFill>
                  <a:latin typeface="+mj-lt"/>
                  <a:ea typeface="+mj-ea"/>
                  <a:cs typeface="+mj-cs"/>
                </a:rPr>
                <a:t>Your eye does not measure light</a:t>
              </a:r>
            </a:p>
          </p:txBody>
        </p:sp>
        <p:sp>
          <p:nvSpPr>
            <p:cNvPr id="5" name="Line 5"/>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8" name="Group 8"/>
          <p:cNvGrpSpPr/>
          <p:nvPr/>
        </p:nvGrpSpPr>
        <p:grpSpPr>
          <a:xfrm>
            <a:off x="598170" y="1662112"/>
            <a:ext cx="9340453" cy="763905"/>
            <a:chOff x="598170" y="1662112"/>
            <a:chExt cx="9340453" cy="763905"/>
          </a:xfrm>
        </p:grpSpPr>
        <p:sp>
          <p:nvSpPr>
            <p:cNvPr id="7" name="TextBox 7"/>
            <p:cNvSpPr txBox="1"/>
            <p:nvPr/>
          </p:nvSpPr>
          <p:spPr>
            <a:xfrm>
              <a:off x="598170" y="1662112"/>
              <a:ext cx="9340453" cy="763905"/>
            </a:xfrm>
            <a:prstGeom prst="rect">
              <a:avLst/>
            </a:prstGeom>
            <a:noFill/>
            <a:ln>
              <a:noFill/>
            </a:ln>
          </p:spPr>
          <p:txBody>
            <a:bodyPr wrap="none" lIns="0" tIns="0" rIns="0" bIns="0" anchor="t" anchorCtr="0">
              <a:spAutoFit/>
            </a:bodyPr>
            <a:lstStyle/>
            <a:p>
              <a:pPr algn="l">
                <a:lnSpc>
                  <a:spcPts val="2550"/>
                </a:lnSpc>
              </a:pPr>
              <a:r>
                <a:rPr lang="en-US" sz="2250" dirty="0">
                  <a:solidFill>
                    <a:schemeClr val="dk1"/>
                  </a:solidFill>
                  <a:latin typeface="+mn-lt"/>
                  <a:ea typeface="+mn-ea"/>
                  <a:cs typeface="+mn-cs"/>
                </a:rPr>
                <a:t>It samples the spectrum three times.</a:t>
              </a:r>
              <a:br/>
              <a:r>
                <a:rPr lang="en-US" sz="2250" dirty="0">
                  <a:solidFill>
                    <a:schemeClr val="dk1"/>
                  </a:solidFill>
                  <a:latin typeface="+mn-lt"/>
                  <a:ea typeface="+mn-ea"/>
                  <a:cs typeface="+mn-cs"/>
                </a:rPr>
                <a:t xml:space="preserve">Everything you will ever see is rebuilt from </a:t>
              </a:r>
              <a:r>
                <a:rPr lang="en-US" sz="2250" b="1" dirty="0">
                  <a:solidFill>
                    <a:schemeClr val="accent2"/>
                  </a:solidFill>
                  <a:latin typeface="+mn-lt"/>
                  <a:ea typeface="+mn-ea"/>
                  <a:cs typeface="+mn-cs"/>
                </a:rPr>
                <a:t>those three numbers</a:t>
              </a:r>
              <a:r>
                <a:rPr lang="en-US" sz="2250" dirty="0">
                  <a:solidFill>
                    <a:schemeClr val="dk1"/>
                  </a:solidFill>
                  <a:latin typeface="+mn-lt"/>
                  <a:ea typeface="+mn-ea"/>
                  <a:cs typeface="+mn-cs"/>
                </a:rPr>
                <a:t>.</a:t>
              </a:r>
            </a:p>
          </p:txBody>
        </p:sp>
      </p:grpSp>
      <p:grpSp>
        <p:nvGrpSpPr>
          <p:cNvPr id="15" name="Group 15"/>
          <p:cNvGrpSpPr/>
          <p:nvPr/>
        </p:nvGrpSpPr>
        <p:grpSpPr>
          <a:xfrm>
            <a:off x="602742" y="2495550"/>
            <a:ext cx="10986516" cy="937451"/>
            <a:chOff x="602742" y="2495550"/>
            <a:chExt cx="10986516" cy="937451"/>
          </a:xfrm>
        </p:grpSpPr>
        <p:sp>
          <p:nvSpPr>
            <p:cNvPr id="9" name="Rectangle 9"/>
            <p:cNvSpPr/>
            <p:nvPr/>
          </p:nvSpPr>
          <p:spPr>
            <a:xfrm>
              <a:off x="609600" y="2495550"/>
              <a:ext cx="10972800" cy="285750"/>
            </a:xfrm>
            <a:prstGeom prst="rect">
              <a:avLst/>
            </a:prstGeom>
            <a:gradFill>
              <a:gsLst>
                <a:gs pos="0">
                  <a:srgbClr val="3A0A5E">
                    <a:alpha val="8000"/>
                  </a:srgbClr>
                </a:gs>
                <a:gs pos="5000">
                  <a:srgbClr val="4B0082"/>
                </a:gs>
                <a:gs pos="18000">
                  <a:srgbClr val="2000E0"/>
                </a:gs>
                <a:gs pos="30000">
                  <a:srgbClr val="0080FF"/>
                </a:gs>
                <a:gs pos="40000">
                  <a:srgbClr val="00C8C8"/>
                </a:gs>
                <a:gs pos="50000">
                  <a:srgbClr val="00CC33"/>
                </a:gs>
                <a:gs pos="62000">
                  <a:srgbClr val="BEE000"/>
                </a:gs>
                <a:gs pos="72000">
                  <a:srgbClr val="FFD400"/>
                </a:gs>
                <a:gs pos="84000">
                  <a:srgbClr val="FF7A00"/>
                </a:gs>
                <a:gs pos="95000">
                  <a:srgbClr val="D40000"/>
                </a:gs>
                <a:gs pos="100000">
                  <a:srgbClr val="A00000">
                    <a:alpha val="8000"/>
                  </a:srgbClr>
                </a:gs>
              </a:gsLst>
              <a:lin ang="0" scaled="1"/>
            </a:gradFill>
            <a:ln>
              <a:noFill/>
            </a:ln>
          </p:spPr>
        </p:sp>
        <p:sp>
          <p:nvSpPr>
            <p:cNvPr id="10" name="TextBox 10"/>
            <p:cNvSpPr txBox="1"/>
            <p:nvPr/>
          </p:nvSpPr>
          <p:spPr>
            <a:xfrm>
              <a:off x="602742" y="2845118"/>
              <a:ext cx="70431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≈380 nm</a:t>
              </a:r>
            </a:p>
          </p:txBody>
        </p:sp>
        <p:sp>
          <p:nvSpPr>
            <p:cNvPr id="11" name="TextBox 11"/>
            <p:cNvSpPr txBox="1"/>
            <p:nvPr/>
          </p:nvSpPr>
          <p:spPr>
            <a:xfrm>
              <a:off x="10884941" y="2845118"/>
              <a:ext cx="704317"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≈700 nm</a:t>
              </a:r>
            </a:p>
          </p:txBody>
        </p:sp>
        <p:sp>
          <p:nvSpPr>
            <p:cNvPr id="12" name="Freeform 12"/>
            <p:cNvSpPr/>
            <p:nvPr/>
          </p:nvSpPr>
          <p:spPr>
            <a:xfrm>
              <a:off x="609600" y="3143250"/>
              <a:ext cx="1409700" cy="247650"/>
            </a:xfrm>
            <a:prstGeom prst="snip1Rect">
              <a:avLst/>
            </a:prstGeom>
            <a:solidFill>
              <a:schemeClr val="lt2"/>
            </a:solidFill>
            <a:ln>
              <a:noFill/>
            </a:ln>
          </p:spPr>
        </p:sp>
        <p:sp>
          <p:nvSpPr>
            <p:cNvPr id="13" name="TextBox 13"/>
            <p:cNvSpPr txBox="1"/>
            <p:nvPr/>
          </p:nvSpPr>
          <p:spPr>
            <a:xfrm>
              <a:off x="717804" y="3185160"/>
              <a:ext cx="1168176" cy="234696"/>
            </a:xfrm>
            <a:prstGeom prst="rect">
              <a:avLst/>
            </a:prstGeom>
            <a:noFill/>
            <a:ln>
              <a:noFill/>
            </a:ln>
          </p:spPr>
          <p:txBody>
            <a:bodyPr wrap="none" lIns="0" tIns="0" rIns="0" bIns="0" anchor="t" anchorCtr="0">
              <a:spAutoFit/>
            </a:bodyPr>
            <a:lstStyle/>
            <a:p>
              <a:pPr algn="l"/>
              <a:r>
                <a:rPr lang="en-US" sz="1200" b="1" spc="112" dirty="0">
                  <a:solidFill>
                    <a:schemeClr val="accent2"/>
                  </a:solidFill>
                  <a:latin typeface="+mn-lt"/>
                  <a:ea typeface="+mn-ea"/>
                  <a:cs typeface="+mn-cs"/>
                </a:rPr>
                <a:t>CONVENTION</a:t>
              </a:r>
            </a:p>
          </p:txBody>
        </p:sp>
        <p:sp>
          <p:nvSpPr>
            <p:cNvPr id="14" name="TextBox 14"/>
            <p:cNvSpPr txBox="1"/>
            <p:nvPr/>
          </p:nvSpPr>
          <p:spPr>
            <a:xfrm>
              <a:off x="2164842" y="3168968"/>
              <a:ext cx="8461373"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Sensitivity fades out at both ends, and different authorities round the endpoints differently.</a:t>
              </a:r>
            </a:p>
          </p:txBody>
        </p:sp>
      </p:grpSp>
      <p:grpSp>
        <p:nvGrpSpPr>
          <p:cNvPr id="36" name="Group 36"/>
          <p:cNvGrpSpPr/>
          <p:nvPr/>
        </p:nvGrpSpPr>
        <p:grpSpPr>
          <a:xfrm>
            <a:off x="836276" y="3549968"/>
            <a:ext cx="5069224" cy="2569083"/>
            <a:chOff x="836276" y="3549968"/>
            <a:chExt cx="5069224" cy="2569083"/>
          </a:xfrm>
        </p:grpSpPr>
        <p:sp>
          <p:nvSpPr>
            <p:cNvPr id="16" name="TextBox 16"/>
            <p:cNvSpPr txBox="1"/>
            <p:nvPr/>
          </p:nvSpPr>
          <p:spPr>
            <a:xfrm>
              <a:off x="1231392" y="3549968"/>
              <a:ext cx="24997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nm</a:t>
              </a:r>
            </a:p>
          </p:txBody>
        </p:sp>
        <p:grpSp>
          <p:nvGrpSpPr>
            <p:cNvPr id="28" name="Group 28"/>
            <p:cNvGrpSpPr/>
            <p:nvPr/>
          </p:nvGrpSpPr>
          <p:grpSpPr>
            <a:xfrm>
              <a:off x="1238250" y="3771900"/>
              <a:ext cx="4667250" cy="1990725"/>
              <a:chOff x="1238250" y="3771900"/>
              <a:chExt cx="4667250" cy="1990725"/>
            </a:xfrm>
          </p:grpSpPr>
          <p:sp>
            <p:nvSpPr>
              <p:cNvPr id="17" name="Line 17"/>
              <p:cNvSpPr/>
              <p:nvPr/>
            </p:nvSpPr>
            <p:spPr>
              <a:xfrm>
                <a:off x="1238250" y="5093018"/>
                <a:ext cx="4667250" cy="9525"/>
              </a:xfrm>
              <a:custGeom>
                <a:avLst/>
                <a:gdLst/>
                <a:ahLst/>
                <a:cxnLst/>
                <a:rect l="l" t="t" r="r" b="b"/>
                <a:pathLst>
                  <a:path w="4667250" h="9525">
                    <a:moveTo>
                      <a:pt x="0" y="0"/>
                    </a:moveTo>
                    <a:lnTo>
                      <a:pt x="4667250" y="0"/>
                    </a:lnTo>
                  </a:path>
                </a:pathLst>
              </a:custGeom>
              <a:noFill/>
              <a:ln w="9525">
                <a:solidFill>
                  <a:srgbClr val="E8E1D5"/>
                </a:solidFill>
              </a:ln>
            </p:spPr>
          </p:sp>
          <p:sp>
            <p:nvSpPr>
              <p:cNvPr id="18" name="Line 18"/>
              <p:cNvSpPr/>
              <p:nvPr/>
            </p:nvSpPr>
            <p:spPr>
              <a:xfrm>
                <a:off x="1238250" y="4431982"/>
                <a:ext cx="4667250" cy="9525"/>
              </a:xfrm>
              <a:custGeom>
                <a:avLst/>
                <a:gdLst/>
                <a:ahLst/>
                <a:cxnLst/>
                <a:rect l="l" t="t" r="r" b="b"/>
                <a:pathLst>
                  <a:path w="4667250" h="9525">
                    <a:moveTo>
                      <a:pt x="0" y="0"/>
                    </a:moveTo>
                    <a:lnTo>
                      <a:pt x="4667250" y="0"/>
                    </a:lnTo>
                  </a:path>
                </a:pathLst>
              </a:custGeom>
              <a:noFill/>
              <a:ln w="9525">
                <a:solidFill>
                  <a:srgbClr val="E8E1D5"/>
                </a:solidFill>
              </a:ln>
            </p:spPr>
          </p:sp>
          <p:sp>
            <p:nvSpPr>
              <p:cNvPr id="19" name="Line 19"/>
              <p:cNvSpPr/>
              <p:nvPr/>
            </p:nvSpPr>
            <p:spPr>
              <a:xfrm>
                <a:off x="1238250" y="3771900"/>
                <a:ext cx="4667250" cy="9525"/>
              </a:xfrm>
              <a:custGeom>
                <a:avLst/>
                <a:gdLst/>
                <a:ahLst/>
                <a:cxnLst/>
                <a:rect l="l" t="t" r="r" b="b"/>
                <a:pathLst>
                  <a:path w="4667250" h="9525">
                    <a:moveTo>
                      <a:pt x="0" y="0"/>
                    </a:moveTo>
                    <a:lnTo>
                      <a:pt x="4667250" y="0"/>
                    </a:lnTo>
                  </a:path>
                </a:pathLst>
              </a:custGeom>
              <a:noFill/>
              <a:ln w="9525">
                <a:solidFill>
                  <a:srgbClr val="E8E1D5"/>
                </a:solidFill>
              </a:ln>
            </p:spPr>
          </p:sp>
          <p:sp>
            <p:nvSpPr>
              <p:cNvPr id="20" name="Line 20"/>
              <p:cNvSpPr/>
              <p:nvPr/>
            </p:nvSpPr>
            <p:spPr>
              <a:xfrm>
                <a:off x="1238250" y="3771900"/>
                <a:ext cx="9525" cy="1981200"/>
              </a:xfrm>
              <a:custGeom>
                <a:avLst/>
                <a:gdLst/>
                <a:ahLst/>
                <a:cxnLst/>
                <a:rect l="l" t="t" r="r" b="b"/>
                <a:pathLst>
                  <a:path w="9525" h="1981200">
                    <a:moveTo>
                      <a:pt x="0" y="0"/>
                    </a:moveTo>
                    <a:lnTo>
                      <a:pt x="0" y="1981200"/>
                    </a:lnTo>
                  </a:path>
                </a:pathLst>
              </a:custGeom>
              <a:noFill/>
              <a:ln w="9525">
                <a:solidFill>
                  <a:schemeClr val="accent6"/>
                </a:solidFill>
              </a:ln>
            </p:spPr>
          </p:sp>
          <p:sp>
            <p:nvSpPr>
              <p:cNvPr id="21" name="Line 21"/>
              <p:cNvSpPr/>
              <p:nvPr/>
            </p:nvSpPr>
            <p:spPr>
              <a:xfrm>
                <a:off x="1238250" y="5753100"/>
                <a:ext cx="4667250" cy="9525"/>
              </a:xfrm>
              <a:custGeom>
                <a:avLst/>
                <a:gdLst/>
                <a:ahLst/>
                <a:cxnLst/>
                <a:rect l="l" t="t" r="r" b="b"/>
                <a:pathLst>
                  <a:path w="4667250" h="9525">
                    <a:moveTo>
                      <a:pt x="0" y="0"/>
                    </a:moveTo>
                    <a:lnTo>
                      <a:pt x="4667250" y="0"/>
                    </a:lnTo>
                  </a:path>
                </a:pathLst>
              </a:custGeom>
              <a:noFill/>
              <a:ln w="9525">
                <a:solidFill>
                  <a:schemeClr val="accent6"/>
                </a:solidFill>
              </a:ln>
            </p:spPr>
          </p:sp>
          <p:sp>
            <p:nvSpPr>
              <p:cNvPr id="22" name="Rectangle 22"/>
              <p:cNvSpPr/>
              <p:nvPr/>
            </p:nvSpPr>
            <p:spPr>
              <a:xfrm>
                <a:off x="1645920" y="4366260"/>
                <a:ext cx="741045" cy="1386840"/>
              </a:xfrm>
              <a:prstGeom prst="rect">
                <a:avLst/>
              </a:prstGeom>
              <a:solidFill>
                <a:srgbClr val="5B2D8E"/>
              </a:solidFill>
              <a:ln>
                <a:noFill/>
              </a:ln>
            </p:spPr>
          </p:sp>
          <p:sp>
            <p:nvSpPr>
              <p:cNvPr id="23" name="Rectangle 23"/>
              <p:cNvSpPr/>
              <p:nvPr/>
            </p:nvSpPr>
            <p:spPr>
              <a:xfrm>
                <a:off x="3201352" y="3990022"/>
                <a:ext cx="741045" cy="1763078"/>
              </a:xfrm>
              <a:prstGeom prst="rect">
                <a:avLst/>
              </a:prstGeom>
              <a:solidFill>
                <a:srgbClr val="3E9B4F"/>
              </a:solidFill>
              <a:ln>
                <a:noFill/>
              </a:ln>
            </p:spPr>
          </p:sp>
          <p:sp>
            <p:nvSpPr>
              <p:cNvPr id="24" name="Rectangle 24"/>
              <p:cNvSpPr/>
              <p:nvPr/>
            </p:nvSpPr>
            <p:spPr>
              <a:xfrm>
                <a:off x="4756785" y="3893820"/>
                <a:ext cx="741045" cy="1859280"/>
              </a:xfrm>
              <a:prstGeom prst="rect">
                <a:avLst/>
              </a:prstGeom>
              <a:solidFill>
                <a:srgbClr val="A6B02E"/>
              </a:solidFill>
              <a:ln>
                <a:noFill/>
              </a:ln>
            </p:spPr>
          </p:sp>
          <p:sp>
            <p:nvSpPr>
              <p:cNvPr id="25" name="TextBox 25"/>
              <p:cNvSpPr txBox="1"/>
              <p:nvPr/>
            </p:nvSpPr>
            <p:spPr>
              <a:xfrm>
                <a:off x="1824809" y="4451032"/>
                <a:ext cx="383267"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Consolas"/>
                    <a:ea typeface="Consolas"/>
                    <a:cs typeface="Consolas"/>
                  </a:rPr>
                  <a:t>420</a:t>
                </a:r>
              </a:p>
            </p:txBody>
          </p:sp>
          <p:sp>
            <p:nvSpPr>
              <p:cNvPr id="26" name="TextBox 26"/>
              <p:cNvSpPr txBox="1"/>
              <p:nvPr/>
            </p:nvSpPr>
            <p:spPr>
              <a:xfrm>
                <a:off x="3380242" y="4079558"/>
                <a:ext cx="383267"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Consolas"/>
                    <a:ea typeface="Consolas"/>
                    <a:cs typeface="Consolas"/>
                  </a:rPr>
                  <a:t>534</a:t>
                </a:r>
              </a:p>
            </p:txBody>
          </p:sp>
          <p:sp>
            <p:nvSpPr>
              <p:cNvPr id="27" name="TextBox 27"/>
              <p:cNvSpPr txBox="1"/>
              <p:nvPr/>
            </p:nvSpPr>
            <p:spPr>
              <a:xfrm>
                <a:off x="4935674" y="3984308"/>
                <a:ext cx="383267"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Consolas"/>
                    <a:ea typeface="Consolas"/>
                    <a:cs typeface="Consolas"/>
                  </a:rPr>
                  <a:t>563</a:t>
                </a:r>
              </a:p>
            </p:txBody>
          </p:sp>
        </p:grpSp>
        <p:sp>
          <p:nvSpPr>
            <p:cNvPr id="29" name="TextBox 29"/>
            <p:cNvSpPr txBox="1"/>
            <p:nvPr/>
          </p:nvSpPr>
          <p:spPr>
            <a:xfrm>
              <a:off x="1036187" y="5664518"/>
              <a:ext cx="113671"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0</a:t>
              </a:r>
            </a:p>
          </p:txBody>
        </p:sp>
        <p:sp>
          <p:nvSpPr>
            <p:cNvPr id="30" name="TextBox 30"/>
            <p:cNvSpPr txBox="1"/>
            <p:nvPr/>
          </p:nvSpPr>
          <p:spPr>
            <a:xfrm>
              <a:off x="836276" y="5004435"/>
              <a:ext cx="313582"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200</a:t>
              </a:r>
            </a:p>
          </p:txBody>
        </p:sp>
        <p:sp>
          <p:nvSpPr>
            <p:cNvPr id="31" name="TextBox 31"/>
            <p:cNvSpPr txBox="1"/>
            <p:nvPr/>
          </p:nvSpPr>
          <p:spPr>
            <a:xfrm>
              <a:off x="836276" y="4343400"/>
              <a:ext cx="313582"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400</a:t>
              </a:r>
            </a:p>
          </p:txBody>
        </p:sp>
        <p:sp>
          <p:nvSpPr>
            <p:cNvPr id="32" name="TextBox 32"/>
            <p:cNvSpPr txBox="1"/>
            <p:nvPr/>
          </p:nvSpPr>
          <p:spPr>
            <a:xfrm>
              <a:off x="836276" y="3683318"/>
              <a:ext cx="313582"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600</a:t>
              </a:r>
            </a:p>
          </p:txBody>
        </p:sp>
        <p:sp>
          <p:nvSpPr>
            <p:cNvPr id="33" name="TextBox 33"/>
            <p:cNvSpPr txBox="1"/>
            <p:nvPr/>
          </p:nvSpPr>
          <p:spPr>
            <a:xfrm>
              <a:off x="1729298" y="5855018"/>
              <a:ext cx="574289"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S cone</a:t>
              </a:r>
            </a:p>
          </p:txBody>
        </p:sp>
        <p:sp>
          <p:nvSpPr>
            <p:cNvPr id="34" name="TextBox 34"/>
            <p:cNvSpPr txBox="1"/>
            <p:nvPr/>
          </p:nvSpPr>
          <p:spPr>
            <a:xfrm>
              <a:off x="3266351" y="5855018"/>
              <a:ext cx="611048"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M cone</a:t>
              </a:r>
            </a:p>
          </p:txBody>
        </p:sp>
        <p:sp>
          <p:nvSpPr>
            <p:cNvPr id="35" name="TextBox 35"/>
            <p:cNvSpPr txBox="1"/>
            <p:nvPr/>
          </p:nvSpPr>
          <p:spPr>
            <a:xfrm>
              <a:off x="4840163" y="5855018"/>
              <a:ext cx="574289"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L cone</a:t>
              </a:r>
            </a:p>
          </p:txBody>
        </p:sp>
      </p:grpSp>
      <p:grpSp>
        <p:nvGrpSpPr>
          <p:cNvPr id="41" name="Group 41"/>
          <p:cNvGrpSpPr/>
          <p:nvPr/>
        </p:nvGrpSpPr>
        <p:grpSpPr>
          <a:xfrm>
            <a:off x="6667500" y="3638550"/>
            <a:ext cx="4914900" cy="2571750"/>
            <a:chOff x="6667500" y="3638550"/>
            <a:chExt cx="4914900" cy="2571750"/>
          </a:xfrm>
        </p:grpSpPr>
        <p:sp>
          <p:nvSpPr>
            <p:cNvPr id="37" name="Freeform 37"/>
            <p:cNvSpPr/>
            <p:nvPr/>
          </p:nvSpPr>
          <p:spPr>
            <a:xfrm>
              <a:off x="6667500" y="3638550"/>
              <a:ext cx="704850" cy="247650"/>
            </a:xfrm>
            <a:prstGeom prst="snip1Rect">
              <a:avLst/>
            </a:prstGeom>
            <a:solidFill>
              <a:schemeClr val="lt2"/>
            </a:solidFill>
            <a:ln>
              <a:noFill/>
            </a:ln>
          </p:spPr>
        </p:sp>
        <p:sp>
          <p:nvSpPr>
            <p:cNvPr id="38" name="TextBox 38"/>
            <p:cNvSpPr txBox="1"/>
            <p:nvPr/>
          </p:nvSpPr>
          <p:spPr>
            <a:xfrm>
              <a:off x="6775704" y="3680460"/>
              <a:ext cx="454274" cy="234696"/>
            </a:xfrm>
            <a:prstGeom prst="rect">
              <a:avLst/>
            </a:prstGeom>
            <a:noFill/>
            <a:ln>
              <a:noFill/>
            </a:ln>
          </p:spPr>
          <p:txBody>
            <a:bodyPr wrap="none" lIns="0" tIns="0" rIns="0" bIns="0" anchor="t" anchorCtr="0">
              <a:spAutoFit/>
            </a:bodyPr>
            <a:lstStyle/>
            <a:p>
              <a:pPr algn="l"/>
              <a:r>
                <a:rPr lang="en-US" sz="1200" b="1" spc="112" dirty="0">
                  <a:solidFill>
                    <a:schemeClr val="accent2"/>
                  </a:solidFill>
                  <a:latin typeface="+mn-lt"/>
                  <a:ea typeface="+mn-ea"/>
                  <a:cs typeface="+mn-cs"/>
                </a:rPr>
                <a:t>RULE</a:t>
              </a:r>
            </a:p>
          </p:txBody>
        </p:sp>
        <p:sp>
          <p:nvSpPr>
            <p:cNvPr id="39" name="TextBox 39"/>
            <p:cNvSpPr txBox="1"/>
            <p:nvPr/>
          </p:nvSpPr>
          <p:spPr>
            <a:xfrm>
              <a:off x="7517892" y="3664268"/>
              <a:ext cx="370246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Human vision is trichromatic: S, M and L.</a:t>
              </a:r>
            </a:p>
          </p:txBody>
        </p:sp>
        <p:pic>
          <p:nvPicPr>
            <p:cNvPr id="40" name="Image 40"/>
            <p:cNvPicPr>
              <a:picLocks noChangeAspect="1"/>
            </p:cNvPicPr>
            <p:nvPr/>
          </p:nvPicPr>
          <p:blipFill>
            <a:blip r:embed="rId2"/>
            <a:stretch>
              <a:fillRect/>
            </a:stretch>
          </p:blipFill>
          <p:spPr>
            <a:xfrm>
              <a:off x="6667500" y="4095750"/>
              <a:ext cx="4914900" cy="2114550"/>
            </a:xfrm>
            <a:prstGeom prst="rect">
              <a:avLst/>
            </a:prstGeom>
          </p:spPr>
        </p:pic>
      </p:grpSp>
      <p:grpSp>
        <p:nvGrpSpPr>
          <p:cNvPr id="44" name="Group 44"/>
          <p:cNvGrpSpPr/>
          <p:nvPr/>
        </p:nvGrpSpPr>
        <p:grpSpPr>
          <a:xfrm>
            <a:off x="603504" y="6442710"/>
            <a:ext cx="10984992" cy="234696"/>
            <a:chOff x="603504" y="6442710"/>
            <a:chExt cx="10984992" cy="234696"/>
          </a:xfrm>
        </p:grpSpPr>
        <p:sp>
          <p:nvSpPr>
            <p:cNvPr id="42" name="TextBox 42"/>
            <p:cNvSpPr txBox="1"/>
            <p:nvPr/>
          </p:nvSpPr>
          <p:spPr>
            <a:xfrm>
              <a:off x="603504" y="6442710"/>
              <a:ext cx="880542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Peaks: Bowmaker &amp; Dartnall 1980 · retina counts: NCBI Bookshelf · full curves: Stockman &amp; Sharpe via cvrl.org</a:t>
              </a:r>
            </a:p>
          </p:txBody>
        </p:sp>
        <p:sp>
          <p:nvSpPr>
            <p:cNvPr id="43" name="TextBox 4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03 / 14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8"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800"/>
                                        <p:tgtEl>
                                          <p:spTgt spid="15"/>
                                        </p:tgtEl>
                                      </p:cBhvr>
                                    </p:animEffect>
                                  </p:childTnLst>
                                </p:cTn>
                              </p:par>
                            </p:childTnLst>
                          </p:cTn>
                        </p:par>
                        <p:par>
                          <p:cTn id="8" fill="hold">
                            <p:stCondLst>
                              <p:cond delay="800"/>
                            </p:stCondLst>
                            <p:childTnLst>
                              <p:par>
                                <p:cTn xmlns:p="http://schemas.openxmlformats.org/presentationml/2006/main" id="9" presetID="22" presetClass="entr" presetSubtype="4" fill="hold" grpId="0" nodeType="afterEffect">
                                  <p:stCondLst>
                                    <p:cond delay="500"/>
                                  </p:stCondLst>
                                  <p:childTnLst>
                                    <p:set>
                                      <p:cBhvr>
                                        <p:cTn id="10" dur="1" fill="hold">
                                          <p:stCondLst>
                                            <p:cond delay="0"/>
                                          </p:stCondLst>
                                        </p:cTn>
                                        <p:tgtEl>
                                          <p:spTgt spid="36"/>
                                        </p:tgtEl>
                                        <p:attrNameLst>
                                          <p:attrName>style.visibility</p:attrName>
                                        </p:attrNameLst>
                                      </p:cBhvr>
                                      <p:to>
                                        <p:strVal val="visible"/>
                                      </p:to>
                                    </p:set>
                                    <p:animEffect transition="in" filter="wipe(down)">
                                      <p:cBhvr>
                                        <p:cTn id="11" dur="700"/>
                                        <p:tgtEl>
                                          <p:spTgt spid="36"/>
                                        </p:tgtEl>
                                      </p:cBhvr>
                                    </p:animEffect>
                                  </p:childTnLst>
                                </p:cTn>
                              </p:par>
                            </p:childTnLst>
                          </p:cTn>
                        </p:par>
                        <p:par>
                          <p:cTn id="12" fill="hold">
                            <p:stCondLst>
                              <p:cond delay="20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41"/>
                                        </p:tgtEl>
                                        <p:attrNameLst>
                                          <p:attrName>style.visibility</p:attrName>
                                        </p:attrNameLst>
                                      </p:cBhvr>
                                      <p:to>
                                        <p:strVal val="visible"/>
                                      </p:to>
                                    </p:set>
                                    <p:animEffect transition="in" filter="fade">
                                      <p:cBhvr>
                                        <p:cTn id="15"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593598" y="556260"/>
            <a:ext cx="10988802" cy="977075"/>
            <a:chOff x="593598" y="556260"/>
            <a:chExt cx="10988802" cy="977075"/>
          </a:xfrm>
        </p:grpSpPr>
        <p:sp>
          <p:nvSpPr>
            <p:cNvPr id="2" name="TextBox 2"/>
            <p:cNvSpPr txBox="1"/>
            <p:nvPr/>
          </p:nvSpPr>
          <p:spPr>
            <a:xfrm>
              <a:off x="603504" y="556260"/>
              <a:ext cx="2734239" cy="234696"/>
            </a:xfrm>
            <a:prstGeom prst="rect">
              <a:avLst/>
            </a:prstGeom>
            <a:noFill/>
            <a:ln>
              <a:noFill/>
            </a:ln>
          </p:spPr>
          <p:txBody>
            <a:bodyPr wrap="none" lIns="0" tIns="0" rIns="0" bIns="0" anchor="t" anchorCtr="0">
              <a:spAutoFit/>
            </a:bodyPr>
            <a:lstStyle/>
            <a:p>
              <a:pPr algn="l"/>
              <a:r>
                <a:rPr lang="en-US" sz="1200" b="1" spc="150" dirty="0">
                  <a:solidFill>
                    <a:schemeClr val="accent2"/>
                  </a:solidFill>
                  <a:latin typeface="+mn-lt"/>
                  <a:ea typeface="+mn-ea"/>
                  <a:cs typeface="+mn-cs"/>
                </a:rPr>
                <a:t>MINIMUM CONCEPT · 2 OF 3</a:t>
              </a:r>
            </a:p>
          </p:txBody>
        </p:sp>
        <p:sp>
          <p:nvSpPr>
            <p:cNvPr id="3" name="Rectangle 3"/>
            <p:cNvSpPr/>
            <p:nvPr/>
          </p:nvSpPr>
          <p:spPr>
            <a:xfrm>
              <a:off x="609600" y="800100"/>
              <a:ext cx="457200" cy="28575"/>
            </a:xfrm>
            <a:prstGeom prst="rect">
              <a:avLst/>
            </a:prstGeom>
            <a:solidFill>
              <a:schemeClr val="accent2"/>
            </a:solidFill>
            <a:ln>
              <a:noFill/>
            </a:ln>
          </p:spPr>
        </p:sp>
        <p:sp>
          <p:nvSpPr>
            <p:cNvPr id="4" name="TextBox 4"/>
            <p:cNvSpPr txBox="1"/>
            <p:nvPr/>
          </p:nvSpPr>
          <p:spPr>
            <a:xfrm>
              <a:off x="593598" y="917258"/>
              <a:ext cx="9418731" cy="616077"/>
            </a:xfrm>
            <a:prstGeom prst="rect">
              <a:avLst/>
            </a:prstGeom>
            <a:noFill/>
            <a:ln>
              <a:noFill/>
            </a:ln>
          </p:spPr>
          <p:txBody>
            <a:bodyPr wrap="none" lIns="0" tIns="0" rIns="0" bIns="0" anchor="t" anchorCtr="0">
              <a:spAutoFit/>
            </a:bodyPr>
            <a:lstStyle/>
            <a:p>
              <a:pPr algn="l"/>
              <a:r>
                <a:rPr lang="en-US" sz="3150" dirty="0">
                  <a:solidFill>
                    <a:schemeClr val="accent1"/>
                  </a:solidFill>
                  <a:latin typeface="+mj-lt"/>
                  <a:ea typeface="+mj-ea"/>
                  <a:cs typeface="+mj-cs"/>
                </a:rPr>
                <a:t>Two ways color mixes — and you ship into both</a:t>
              </a:r>
            </a:p>
          </p:txBody>
        </p:sp>
        <p:sp>
          <p:nvSpPr>
            <p:cNvPr id="5" name="Line 5"/>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7" name="Group 17"/>
          <p:cNvGrpSpPr/>
          <p:nvPr/>
        </p:nvGrpSpPr>
        <p:grpSpPr>
          <a:xfrm>
            <a:off x="609600" y="1771650"/>
            <a:ext cx="5105400" cy="2651951"/>
            <a:chOff x="609600" y="1771650"/>
            <a:chExt cx="5105400" cy="2651951"/>
          </a:xfrm>
        </p:grpSpPr>
        <p:sp>
          <p:nvSpPr>
            <p:cNvPr id="7" name="Rectangle 7"/>
            <p:cNvSpPr/>
            <p:nvPr/>
          </p:nvSpPr>
          <p:spPr>
            <a:xfrm>
              <a:off x="609600" y="1771650"/>
              <a:ext cx="5105400" cy="2628900"/>
            </a:xfrm>
            <a:prstGeom prst="rect">
              <a:avLst/>
            </a:prstGeom>
            <a:solidFill>
              <a:schemeClr val="accent1"/>
            </a:solidFill>
            <a:ln>
              <a:noFill/>
            </a:ln>
          </p:spPr>
        </p:sp>
        <p:sp>
          <p:nvSpPr>
            <p:cNvPr id="8" name="TextBox 8"/>
            <p:cNvSpPr txBox="1"/>
            <p:nvPr/>
          </p:nvSpPr>
          <p:spPr>
            <a:xfrm>
              <a:off x="832104" y="1908810"/>
              <a:ext cx="3349569" cy="234696"/>
            </a:xfrm>
            <a:prstGeom prst="rect">
              <a:avLst/>
            </a:prstGeom>
            <a:noFill/>
            <a:ln>
              <a:noFill/>
            </a:ln>
          </p:spPr>
          <p:txBody>
            <a:bodyPr wrap="none" lIns="0" tIns="0" rIns="0" bIns="0" anchor="t" anchorCtr="0">
              <a:spAutoFit/>
            </a:bodyPr>
            <a:lstStyle/>
            <a:p>
              <a:pPr algn="l"/>
              <a:r>
                <a:rPr lang="en-US" sz="1200" b="1" spc="150" dirty="0">
                  <a:solidFill>
                    <a:srgbClr val="EDE7DC"/>
                  </a:solidFill>
                  <a:latin typeface="+mn-lt"/>
                  <a:ea typeface="+mn-ea"/>
                  <a:cs typeface="+mn-cs"/>
                </a:rPr>
                <a:t>ADDITIVE · LIGHT · EVERY SCREEN</a:t>
              </a:r>
            </a:p>
          </p:txBody>
        </p:sp>
        <p:sp>
          <p:nvSpPr>
            <p:cNvPr id="9" name="Freeform 9"/>
            <p:cNvSpPr/>
            <p:nvPr/>
          </p:nvSpPr>
          <p:spPr>
            <a:xfrm>
              <a:off x="2476500" y="2114550"/>
              <a:ext cx="1371600" cy="693875"/>
            </a:xfrm>
            <a:custGeom>
              <a:avLst/>
              <a:gdLst/>
              <a:ahLst/>
              <a:cxnLst/>
              <a:rect l="l" t="t" r="r" b="b"/>
              <a:pathLst>
                <a:path w="1371600" h="693875">
                  <a:moveTo>
                    <a:pt x="1032224" y="600075"/>
                  </a:moveTo>
                  <a:cubicBezTo>
                    <a:pt x="905853" y="600075"/>
                    <a:pt x="787464" y="634255"/>
                    <a:pt x="685800" y="693875"/>
                  </a:cubicBezTo>
                  <a:cubicBezTo>
                    <a:pt x="584136" y="634255"/>
                    <a:pt x="465747" y="600075"/>
                    <a:pt x="339376" y="600075"/>
                  </a:cubicBezTo>
                  <a:cubicBezTo>
                    <a:pt x="215919" y="600075"/>
                    <a:pt x="100080" y="632697"/>
                    <a:pt x="11" y="689792"/>
                  </a:cubicBezTo>
                  <a:cubicBezTo>
                    <a:pt x="4" y="688462"/>
                    <a:pt x="0" y="687131"/>
                    <a:pt x="0" y="685800"/>
                  </a:cubicBezTo>
                  <a:cubicBezTo>
                    <a:pt x="0" y="307043"/>
                    <a:pt x="307043" y="0"/>
                    <a:pt x="685800" y="0"/>
                  </a:cubicBezTo>
                  <a:cubicBezTo>
                    <a:pt x="1064557" y="0"/>
                    <a:pt x="1371600" y="307043"/>
                    <a:pt x="1371600" y="685800"/>
                  </a:cubicBezTo>
                  <a:cubicBezTo>
                    <a:pt x="1371600" y="687131"/>
                    <a:pt x="1371596" y="688462"/>
                    <a:pt x="1371589" y="689792"/>
                  </a:cubicBezTo>
                  <a:cubicBezTo>
                    <a:pt x="1271520" y="632697"/>
                    <a:pt x="1155681" y="600075"/>
                    <a:pt x="1032224" y="600075"/>
                  </a:cubicBezTo>
                  <a:close/>
                </a:path>
              </a:pathLst>
            </a:custGeom>
            <a:solidFill>
              <a:srgbClr val="FF0000"/>
            </a:solidFill>
            <a:ln>
              <a:noFill/>
            </a:ln>
          </p:spPr>
        </p:sp>
        <p:sp>
          <p:nvSpPr>
            <p:cNvPr id="10" name="Freeform 10"/>
            <p:cNvSpPr/>
            <p:nvPr/>
          </p:nvSpPr>
          <p:spPr>
            <a:xfrm>
              <a:off x="2476511" y="2714625"/>
              <a:ext cx="685789" cy="681808"/>
            </a:xfrm>
            <a:custGeom>
              <a:avLst/>
              <a:gdLst/>
              <a:ahLst/>
              <a:cxnLst/>
              <a:rect l="l" t="t" r="r" b="b"/>
              <a:pathLst>
                <a:path w="685789" h="681808">
                  <a:moveTo>
                    <a:pt x="685789" y="93800"/>
                  </a:moveTo>
                  <a:cubicBezTo>
                    <a:pt x="483819" y="212244"/>
                    <a:pt x="347853" y="431091"/>
                    <a:pt x="346424" y="681808"/>
                  </a:cubicBezTo>
                  <a:cubicBezTo>
                    <a:pt x="140569" y="564357"/>
                    <a:pt x="1446" y="343345"/>
                    <a:pt x="0" y="89717"/>
                  </a:cubicBezTo>
                  <a:cubicBezTo>
                    <a:pt x="100069" y="32622"/>
                    <a:pt x="215907" y="0"/>
                    <a:pt x="339364" y="0"/>
                  </a:cubicBezTo>
                  <a:cubicBezTo>
                    <a:pt x="465736" y="0"/>
                    <a:pt x="584124" y="34180"/>
                    <a:pt x="685789" y="93800"/>
                  </a:cubicBezTo>
                  <a:close/>
                </a:path>
              </a:pathLst>
            </a:custGeom>
            <a:solidFill>
              <a:srgbClr val="FF00FF"/>
            </a:solidFill>
            <a:ln>
              <a:noFill/>
            </a:ln>
          </p:spPr>
        </p:sp>
        <p:sp>
          <p:nvSpPr>
            <p:cNvPr id="11" name="Freeform 11"/>
            <p:cNvSpPr/>
            <p:nvPr/>
          </p:nvSpPr>
          <p:spPr>
            <a:xfrm>
              <a:off x="3162300" y="2714625"/>
              <a:ext cx="685789" cy="681808"/>
            </a:xfrm>
            <a:custGeom>
              <a:avLst/>
              <a:gdLst/>
              <a:ahLst/>
              <a:cxnLst/>
              <a:rect l="l" t="t" r="r" b="b"/>
              <a:pathLst>
                <a:path w="685789" h="681808">
                  <a:moveTo>
                    <a:pt x="0" y="93800"/>
                  </a:moveTo>
                  <a:cubicBezTo>
                    <a:pt x="101664" y="34180"/>
                    <a:pt x="220053" y="0"/>
                    <a:pt x="346424" y="0"/>
                  </a:cubicBezTo>
                  <a:cubicBezTo>
                    <a:pt x="469881" y="0"/>
                    <a:pt x="585720" y="32622"/>
                    <a:pt x="685789" y="89717"/>
                  </a:cubicBezTo>
                  <a:cubicBezTo>
                    <a:pt x="684343" y="343345"/>
                    <a:pt x="545220" y="564357"/>
                    <a:pt x="339364" y="681808"/>
                  </a:cubicBezTo>
                  <a:cubicBezTo>
                    <a:pt x="337935" y="431091"/>
                    <a:pt x="201970" y="212244"/>
                    <a:pt x="0" y="93800"/>
                  </a:cubicBezTo>
                  <a:close/>
                </a:path>
              </a:pathLst>
            </a:custGeom>
            <a:solidFill>
              <a:srgbClr val="FFFF00"/>
            </a:solidFill>
            <a:ln>
              <a:noFill/>
            </a:ln>
          </p:spPr>
        </p:sp>
        <p:sp>
          <p:nvSpPr>
            <p:cNvPr id="12" name="Freeform 12"/>
            <p:cNvSpPr/>
            <p:nvPr/>
          </p:nvSpPr>
          <p:spPr>
            <a:xfrm>
              <a:off x="2130076" y="2804342"/>
              <a:ext cx="1032224" cy="1281883"/>
            </a:xfrm>
            <a:custGeom>
              <a:avLst/>
              <a:gdLst/>
              <a:ahLst/>
              <a:cxnLst/>
              <a:rect l="l" t="t" r="r" b="b"/>
              <a:pathLst>
                <a:path w="1032224" h="1281883">
                  <a:moveTo>
                    <a:pt x="1032224" y="1188083"/>
                  </a:moveTo>
                  <a:cubicBezTo>
                    <a:pt x="930560" y="1247703"/>
                    <a:pt x="812172" y="1281883"/>
                    <a:pt x="685800" y="1281883"/>
                  </a:cubicBezTo>
                  <a:cubicBezTo>
                    <a:pt x="307043" y="1281883"/>
                    <a:pt x="0" y="974840"/>
                    <a:pt x="0" y="596083"/>
                  </a:cubicBezTo>
                  <a:cubicBezTo>
                    <a:pt x="0" y="340784"/>
                    <a:pt x="139501" y="118067"/>
                    <a:pt x="346436" y="0"/>
                  </a:cubicBezTo>
                  <a:cubicBezTo>
                    <a:pt x="347881" y="253628"/>
                    <a:pt x="487005" y="474641"/>
                    <a:pt x="692860" y="592092"/>
                  </a:cubicBezTo>
                  <a:cubicBezTo>
                    <a:pt x="692852" y="593421"/>
                    <a:pt x="692848" y="594752"/>
                    <a:pt x="692848" y="596083"/>
                  </a:cubicBezTo>
                  <a:cubicBezTo>
                    <a:pt x="692848" y="848469"/>
                    <a:pt x="829183" y="1069011"/>
                    <a:pt x="1032224" y="1188083"/>
                  </a:cubicBezTo>
                  <a:close/>
                </a:path>
              </a:pathLst>
            </a:custGeom>
            <a:solidFill>
              <a:srgbClr val="0000FF"/>
            </a:solidFill>
            <a:ln>
              <a:noFill/>
            </a:ln>
          </p:spPr>
        </p:sp>
        <p:sp>
          <p:nvSpPr>
            <p:cNvPr id="13" name="Freeform 13"/>
            <p:cNvSpPr/>
            <p:nvPr/>
          </p:nvSpPr>
          <p:spPr>
            <a:xfrm>
              <a:off x="3162300" y="2804342"/>
              <a:ext cx="1032224" cy="1281883"/>
            </a:xfrm>
            <a:custGeom>
              <a:avLst/>
              <a:gdLst/>
              <a:ahLst/>
              <a:cxnLst/>
              <a:rect l="l" t="t" r="r" b="b"/>
              <a:pathLst>
                <a:path w="1032224" h="1281883">
                  <a:moveTo>
                    <a:pt x="0" y="1188083"/>
                  </a:moveTo>
                  <a:cubicBezTo>
                    <a:pt x="203041" y="1069011"/>
                    <a:pt x="339376" y="848469"/>
                    <a:pt x="339376" y="596083"/>
                  </a:cubicBezTo>
                  <a:cubicBezTo>
                    <a:pt x="339376" y="594752"/>
                    <a:pt x="339372" y="593421"/>
                    <a:pt x="339364" y="592092"/>
                  </a:cubicBezTo>
                  <a:cubicBezTo>
                    <a:pt x="545220" y="474641"/>
                    <a:pt x="684343" y="253628"/>
                    <a:pt x="685789" y="0"/>
                  </a:cubicBezTo>
                  <a:cubicBezTo>
                    <a:pt x="892723" y="118067"/>
                    <a:pt x="1032224" y="340784"/>
                    <a:pt x="1032224" y="596083"/>
                  </a:cubicBezTo>
                  <a:cubicBezTo>
                    <a:pt x="1032224" y="974840"/>
                    <a:pt x="725181" y="1281883"/>
                    <a:pt x="346424" y="1281883"/>
                  </a:cubicBezTo>
                  <a:cubicBezTo>
                    <a:pt x="220053" y="1281883"/>
                    <a:pt x="101664" y="1247703"/>
                    <a:pt x="0" y="1188083"/>
                  </a:cubicBezTo>
                  <a:close/>
                </a:path>
              </a:pathLst>
            </a:custGeom>
            <a:solidFill>
              <a:srgbClr val="00FF00"/>
            </a:solidFill>
            <a:ln>
              <a:noFill/>
            </a:ln>
          </p:spPr>
        </p:sp>
        <p:sp>
          <p:nvSpPr>
            <p:cNvPr id="14" name="Freeform 14"/>
            <p:cNvSpPr/>
            <p:nvPr/>
          </p:nvSpPr>
          <p:spPr>
            <a:xfrm>
              <a:off x="2822936" y="2808425"/>
              <a:ext cx="678729" cy="677725"/>
            </a:xfrm>
            <a:custGeom>
              <a:avLst/>
              <a:gdLst/>
              <a:ahLst/>
              <a:cxnLst/>
              <a:rect l="l" t="t" r="r" b="b"/>
              <a:pathLst>
                <a:path w="678729" h="677725">
                  <a:moveTo>
                    <a:pt x="678729" y="588008"/>
                  </a:moveTo>
                  <a:cubicBezTo>
                    <a:pt x="578660" y="645102"/>
                    <a:pt x="462822" y="677725"/>
                    <a:pt x="339364" y="677725"/>
                  </a:cubicBezTo>
                  <a:cubicBezTo>
                    <a:pt x="215907" y="677725"/>
                    <a:pt x="100069" y="645102"/>
                    <a:pt x="0" y="588008"/>
                  </a:cubicBezTo>
                  <a:cubicBezTo>
                    <a:pt x="1429" y="337290"/>
                    <a:pt x="137395" y="118443"/>
                    <a:pt x="339364" y="0"/>
                  </a:cubicBezTo>
                  <a:cubicBezTo>
                    <a:pt x="541334" y="118443"/>
                    <a:pt x="677300" y="337290"/>
                    <a:pt x="678729" y="588008"/>
                  </a:cubicBezTo>
                  <a:close/>
                </a:path>
              </a:pathLst>
            </a:custGeom>
            <a:solidFill>
              <a:srgbClr val="FFFFFF"/>
            </a:solidFill>
            <a:ln>
              <a:noFill/>
            </a:ln>
          </p:spPr>
        </p:sp>
        <p:sp>
          <p:nvSpPr>
            <p:cNvPr id="15" name="Freeform 15"/>
            <p:cNvSpPr/>
            <p:nvPr/>
          </p:nvSpPr>
          <p:spPr>
            <a:xfrm>
              <a:off x="2822924" y="3396433"/>
              <a:ext cx="678752" cy="595991"/>
            </a:xfrm>
            <a:custGeom>
              <a:avLst/>
              <a:gdLst/>
              <a:ahLst/>
              <a:cxnLst/>
              <a:rect l="l" t="t" r="r" b="b"/>
              <a:pathLst>
                <a:path w="678752" h="595991">
                  <a:moveTo>
                    <a:pt x="339376" y="595991"/>
                  </a:moveTo>
                  <a:cubicBezTo>
                    <a:pt x="136335" y="476919"/>
                    <a:pt x="0" y="256377"/>
                    <a:pt x="0" y="3992"/>
                  </a:cubicBezTo>
                  <a:cubicBezTo>
                    <a:pt x="0" y="2660"/>
                    <a:pt x="4" y="1330"/>
                    <a:pt x="11" y="0"/>
                  </a:cubicBezTo>
                  <a:cubicBezTo>
                    <a:pt x="100080" y="57094"/>
                    <a:pt x="215919" y="89717"/>
                    <a:pt x="339376" y="89717"/>
                  </a:cubicBezTo>
                  <a:cubicBezTo>
                    <a:pt x="462833" y="89717"/>
                    <a:pt x="578671" y="57094"/>
                    <a:pt x="678740" y="0"/>
                  </a:cubicBezTo>
                  <a:cubicBezTo>
                    <a:pt x="678748" y="1330"/>
                    <a:pt x="678752" y="2660"/>
                    <a:pt x="678752" y="3992"/>
                  </a:cubicBezTo>
                  <a:cubicBezTo>
                    <a:pt x="678752" y="256377"/>
                    <a:pt x="542417" y="476919"/>
                    <a:pt x="339376" y="595991"/>
                  </a:cubicBezTo>
                  <a:close/>
                </a:path>
              </a:pathLst>
            </a:custGeom>
            <a:solidFill>
              <a:srgbClr val="00FFFF"/>
            </a:solidFill>
            <a:ln>
              <a:noFill/>
            </a:ln>
          </p:spPr>
        </p:sp>
        <p:sp>
          <p:nvSpPr>
            <p:cNvPr id="16" name="TextBox 16"/>
            <p:cNvSpPr txBox="1"/>
            <p:nvPr/>
          </p:nvSpPr>
          <p:spPr>
            <a:xfrm>
              <a:off x="831342" y="4159568"/>
              <a:ext cx="4388065" cy="264033"/>
            </a:xfrm>
            <a:prstGeom prst="rect">
              <a:avLst/>
            </a:prstGeom>
            <a:noFill/>
            <a:ln>
              <a:noFill/>
            </a:ln>
          </p:spPr>
          <p:txBody>
            <a:bodyPr wrap="none" lIns="0" tIns="0" rIns="0" bIns="0" anchor="t" anchorCtr="0">
              <a:spAutoFit/>
            </a:bodyPr>
            <a:lstStyle/>
            <a:p>
              <a:pPr algn="l"/>
              <a:r>
                <a:rPr lang="en-US" sz="1350" dirty="0">
                  <a:solidFill>
                    <a:srgbClr val="EDE7DC"/>
                  </a:solidFill>
                  <a:latin typeface="+mn-lt"/>
                  <a:ea typeface="+mn-ea"/>
                  <a:cs typeface="+mn-cs"/>
                </a:rPr>
                <a:t>Start at black. Adding light moves toward white.</a:t>
              </a:r>
            </a:p>
          </p:txBody>
        </p:sp>
      </p:grpSp>
      <p:grpSp>
        <p:nvGrpSpPr>
          <p:cNvPr id="29" name="Group 29"/>
          <p:cNvGrpSpPr/>
          <p:nvPr/>
        </p:nvGrpSpPr>
        <p:grpSpPr>
          <a:xfrm>
            <a:off x="6477000" y="1771650"/>
            <a:ext cx="5105400" cy="2651951"/>
            <a:chOff x="6477000" y="1771650"/>
            <a:chExt cx="5105400" cy="2651951"/>
          </a:xfrm>
        </p:grpSpPr>
        <p:sp>
          <p:nvSpPr>
            <p:cNvPr id="18" name="Rectangle 18"/>
            <p:cNvSpPr/>
            <p:nvPr/>
          </p:nvSpPr>
          <p:spPr>
            <a:xfrm>
              <a:off x="6477000" y="1771650"/>
              <a:ext cx="5105400" cy="2628900"/>
            </a:xfrm>
            <a:prstGeom prst="rect">
              <a:avLst/>
            </a:prstGeom>
            <a:solidFill>
              <a:srgbClr val="FFFFFF"/>
            </a:solidFill>
            <a:ln w="9525">
              <a:solidFill>
                <a:schemeClr val="accent6"/>
              </a:solidFill>
            </a:ln>
          </p:spPr>
        </p:sp>
        <p:sp>
          <p:nvSpPr>
            <p:cNvPr id="19" name="TextBox 19"/>
            <p:cNvSpPr txBox="1"/>
            <p:nvPr/>
          </p:nvSpPr>
          <p:spPr>
            <a:xfrm>
              <a:off x="6699504" y="1908810"/>
              <a:ext cx="3109752" cy="234696"/>
            </a:xfrm>
            <a:prstGeom prst="rect">
              <a:avLst/>
            </a:prstGeom>
            <a:noFill/>
            <a:ln>
              <a:noFill/>
            </a:ln>
          </p:spPr>
          <p:txBody>
            <a:bodyPr wrap="none" lIns="0" tIns="0" rIns="0" bIns="0" anchor="t" anchorCtr="0">
              <a:spAutoFit/>
            </a:bodyPr>
            <a:lstStyle/>
            <a:p>
              <a:pPr algn="l"/>
              <a:r>
                <a:rPr lang="en-US" sz="1200" b="1" spc="150" dirty="0">
                  <a:solidFill>
                    <a:schemeClr val="accent5"/>
                  </a:solidFill>
                  <a:latin typeface="+mn-lt"/>
                  <a:ea typeface="+mn-ea"/>
                  <a:cs typeface="+mn-cs"/>
                </a:rPr>
                <a:t>SUBTRACTIVE · INK · ALL PRINT</a:t>
              </a:r>
            </a:p>
          </p:txBody>
        </p:sp>
        <p:grpSp>
          <p:nvGrpSpPr>
            <p:cNvPr id="27" name="Group 27"/>
            <p:cNvGrpSpPr/>
            <p:nvPr/>
          </p:nvGrpSpPr>
          <p:grpSpPr>
            <a:xfrm>
              <a:off x="7997476" y="2114550"/>
              <a:ext cx="2064448" cy="1971675"/>
              <a:chOff x="7997476" y="2114550"/>
              <a:chExt cx="2064448" cy="1971675"/>
            </a:xfrm>
          </p:grpSpPr>
          <p:sp>
            <p:nvSpPr>
              <p:cNvPr id="20" name="Freeform 20"/>
              <p:cNvSpPr/>
              <p:nvPr/>
            </p:nvSpPr>
            <p:spPr>
              <a:xfrm>
                <a:off x="8343900" y="2114550"/>
                <a:ext cx="1371600" cy="693875"/>
              </a:xfrm>
              <a:custGeom>
                <a:avLst/>
                <a:gdLst/>
                <a:ahLst/>
                <a:cxnLst/>
                <a:rect l="l" t="t" r="r" b="b"/>
                <a:pathLst>
                  <a:path w="1371600" h="693875">
                    <a:moveTo>
                      <a:pt x="1032224" y="600075"/>
                    </a:moveTo>
                    <a:cubicBezTo>
                      <a:pt x="905853" y="600075"/>
                      <a:pt x="787464" y="634255"/>
                      <a:pt x="685800" y="693875"/>
                    </a:cubicBezTo>
                    <a:cubicBezTo>
                      <a:pt x="584136" y="634255"/>
                      <a:pt x="465747" y="600075"/>
                      <a:pt x="339376" y="600075"/>
                    </a:cubicBezTo>
                    <a:cubicBezTo>
                      <a:pt x="215919" y="600075"/>
                      <a:pt x="100080" y="632697"/>
                      <a:pt x="11" y="689792"/>
                    </a:cubicBezTo>
                    <a:cubicBezTo>
                      <a:pt x="4" y="688462"/>
                      <a:pt x="0" y="687131"/>
                      <a:pt x="0" y="685800"/>
                    </a:cubicBezTo>
                    <a:cubicBezTo>
                      <a:pt x="0" y="307043"/>
                      <a:pt x="307043" y="0"/>
                      <a:pt x="685800" y="0"/>
                    </a:cubicBezTo>
                    <a:cubicBezTo>
                      <a:pt x="1064557" y="0"/>
                      <a:pt x="1371600" y="307043"/>
                      <a:pt x="1371600" y="685800"/>
                    </a:cubicBezTo>
                    <a:cubicBezTo>
                      <a:pt x="1371600" y="687131"/>
                      <a:pt x="1371596" y="688462"/>
                      <a:pt x="1371589" y="689792"/>
                    </a:cubicBezTo>
                    <a:cubicBezTo>
                      <a:pt x="1271520" y="632697"/>
                      <a:pt x="1155681" y="600075"/>
                      <a:pt x="1032224" y="600075"/>
                    </a:cubicBezTo>
                    <a:close/>
                  </a:path>
                </a:pathLst>
              </a:custGeom>
              <a:solidFill>
                <a:srgbClr val="00AEEF"/>
              </a:solidFill>
              <a:ln>
                <a:noFill/>
              </a:ln>
            </p:spPr>
          </p:sp>
          <p:sp>
            <p:nvSpPr>
              <p:cNvPr id="21" name="Freeform 21"/>
              <p:cNvSpPr/>
              <p:nvPr/>
            </p:nvSpPr>
            <p:spPr>
              <a:xfrm>
                <a:off x="8343911" y="2714625"/>
                <a:ext cx="685789" cy="681808"/>
              </a:xfrm>
              <a:custGeom>
                <a:avLst/>
                <a:gdLst/>
                <a:ahLst/>
                <a:cxnLst/>
                <a:rect l="l" t="t" r="r" b="b"/>
                <a:pathLst>
                  <a:path w="685789" h="681808">
                    <a:moveTo>
                      <a:pt x="685789" y="93800"/>
                    </a:moveTo>
                    <a:cubicBezTo>
                      <a:pt x="483819" y="212244"/>
                      <a:pt x="347853" y="431091"/>
                      <a:pt x="346424" y="681808"/>
                    </a:cubicBezTo>
                    <a:cubicBezTo>
                      <a:pt x="140569" y="564357"/>
                      <a:pt x="1446" y="343345"/>
                      <a:pt x="0" y="89717"/>
                    </a:cubicBezTo>
                    <a:cubicBezTo>
                      <a:pt x="100069" y="32622"/>
                      <a:pt x="215907" y="0"/>
                      <a:pt x="339364" y="0"/>
                    </a:cubicBezTo>
                    <a:cubicBezTo>
                      <a:pt x="465736" y="0"/>
                      <a:pt x="584124" y="34180"/>
                      <a:pt x="685789" y="93800"/>
                    </a:cubicBezTo>
                    <a:close/>
                  </a:path>
                </a:pathLst>
              </a:custGeom>
              <a:solidFill>
                <a:srgbClr val="2E3192"/>
              </a:solidFill>
              <a:ln>
                <a:noFill/>
              </a:ln>
            </p:spPr>
          </p:sp>
          <p:sp>
            <p:nvSpPr>
              <p:cNvPr id="22" name="Freeform 22"/>
              <p:cNvSpPr/>
              <p:nvPr/>
            </p:nvSpPr>
            <p:spPr>
              <a:xfrm>
                <a:off x="9029700" y="2714625"/>
                <a:ext cx="685789" cy="681808"/>
              </a:xfrm>
              <a:custGeom>
                <a:avLst/>
                <a:gdLst/>
                <a:ahLst/>
                <a:cxnLst/>
                <a:rect l="l" t="t" r="r" b="b"/>
                <a:pathLst>
                  <a:path w="685789" h="681808">
                    <a:moveTo>
                      <a:pt x="0" y="93800"/>
                    </a:moveTo>
                    <a:cubicBezTo>
                      <a:pt x="101664" y="34180"/>
                      <a:pt x="220053" y="0"/>
                      <a:pt x="346424" y="0"/>
                    </a:cubicBezTo>
                    <a:cubicBezTo>
                      <a:pt x="469881" y="0"/>
                      <a:pt x="585720" y="32622"/>
                      <a:pt x="685789" y="89717"/>
                    </a:cubicBezTo>
                    <a:cubicBezTo>
                      <a:pt x="684343" y="343345"/>
                      <a:pt x="545220" y="564357"/>
                      <a:pt x="339364" y="681808"/>
                    </a:cubicBezTo>
                    <a:cubicBezTo>
                      <a:pt x="337935" y="431091"/>
                      <a:pt x="201970" y="212244"/>
                      <a:pt x="0" y="93800"/>
                    </a:cubicBezTo>
                    <a:close/>
                  </a:path>
                </a:pathLst>
              </a:custGeom>
              <a:solidFill>
                <a:srgbClr val="00A651"/>
              </a:solidFill>
              <a:ln>
                <a:noFill/>
              </a:ln>
            </p:spPr>
          </p:sp>
          <p:sp>
            <p:nvSpPr>
              <p:cNvPr id="23" name="Freeform 23"/>
              <p:cNvSpPr/>
              <p:nvPr/>
            </p:nvSpPr>
            <p:spPr>
              <a:xfrm>
                <a:off x="7997476" y="2804342"/>
                <a:ext cx="1032224" cy="1281883"/>
              </a:xfrm>
              <a:custGeom>
                <a:avLst/>
                <a:gdLst/>
                <a:ahLst/>
                <a:cxnLst/>
                <a:rect l="l" t="t" r="r" b="b"/>
                <a:pathLst>
                  <a:path w="1032224" h="1281883">
                    <a:moveTo>
                      <a:pt x="1032224" y="1188083"/>
                    </a:moveTo>
                    <a:cubicBezTo>
                      <a:pt x="930560" y="1247703"/>
                      <a:pt x="812172" y="1281883"/>
                      <a:pt x="685800" y="1281883"/>
                    </a:cubicBezTo>
                    <a:cubicBezTo>
                      <a:pt x="307043" y="1281883"/>
                      <a:pt x="0" y="974840"/>
                      <a:pt x="0" y="596083"/>
                    </a:cubicBezTo>
                    <a:cubicBezTo>
                      <a:pt x="0" y="340784"/>
                      <a:pt x="139501" y="118067"/>
                      <a:pt x="346436" y="0"/>
                    </a:cubicBezTo>
                    <a:cubicBezTo>
                      <a:pt x="347881" y="253628"/>
                      <a:pt x="487005" y="474641"/>
                      <a:pt x="692860" y="592092"/>
                    </a:cubicBezTo>
                    <a:cubicBezTo>
                      <a:pt x="692852" y="593421"/>
                      <a:pt x="692848" y="594752"/>
                      <a:pt x="692848" y="596083"/>
                    </a:cubicBezTo>
                    <a:cubicBezTo>
                      <a:pt x="692848" y="848469"/>
                      <a:pt x="829183" y="1069011"/>
                      <a:pt x="1032224" y="1188083"/>
                    </a:cubicBezTo>
                    <a:close/>
                  </a:path>
                </a:pathLst>
              </a:custGeom>
              <a:solidFill>
                <a:srgbClr val="EC008C"/>
              </a:solidFill>
              <a:ln>
                <a:noFill/>
              </a:ln>
            </p:spPr>
          </p:sp>
          <p:sp>
            <p:nvSpPr>
              <p:cNvPr id="24" name="Freeform 24"/>
              <p:cNvSpPr/>
              <p:nvPr/>
            </p:nvSpPr>
            <p:spPr>
              <a:xfrm>
                <a:off x="9029700" y="2804342"/>
                <a:ext cx="1032224" cy="1281883"/>
              </a:xfrm>
              <a:custGeom>
                <a:avLst/>
                <a:gdLst/>
                <a:ahLst/>
                <a:cxnLst/>
                <a:rect l="l" t="t" r="r" b="b"/>
                <a:pathLst>
                  <a:path w="1032224" h="1281883">
                    <a:moveTo>
                      <a:pt x="0" y="1188083"/>
                    </a:moveTo>
                    <a:cubicBezTo>
                      <a:pt x="203041" y="1069011"/>
                      <a:pt x="339376" y="848469"/>
                      <a:pt x="339376" y="596083"/>
                    </a:cubicBezTo>
                    <a:cubicBezTo>
                      <a:pt x="339376" y="594752"/>
                      <a:pt x="339372" y="593421"/>
                      <a:pt x="339364" y="592092"/>
                    </a:cubicBezTo>
                    <a:cubicBezTo>
                      <a:pt x="545220" y="474641"/>
                      <a:pt x="684343" y="253628"/>
                      <a:pt x="685789" y="0"/>
                    </a:cubicBezTo>
                    <a:cubicBezTo>
                      <a:pt x="892723" y="118067"/>
                      <a:pt x="1032224" y="340784"/>
                      <a:pt x="1032224" y="596083"/>
                    </a:cubicBezTo>
                    <a:cubicBezTo>
                      <a:pt x="1032224" y="974840"/>
                      <a:pt x="725181" y="1281883"/>
                      <a:pt x="346424" y="1281883"/>
                    </a:cubicBezTo>
                    <a:cubicBezTo>
                      <a:pt x="220053" y="1281883"/>
                      <a:pt x="101664" y="1247703"/>
                      <a:pt x="0" y="1188083"/>
                    </a:cubicBezTo>
                    <a:close/>
                  </a:path>
                </a:pathLst>
              </a:custGeom>
              <a:solidFill>
                <a:srgbClr val="FFF200"/>
              </a:solidFill>
              <a:ln>
                <a:noFill/>
              </a:ln>
            </p:spPr>
          </p:sp>
          <p:sp>
            <p:nvSpPr>
              <p:cNvPr id="25" name="Freeform 25"/>
              <p:cNvSpPr/>
              <p:nvPr/>
            </p:nvSpPr>
            <p:spPr>
              <a:xfrm>
                <a:off x="8690336" y="2808425"/>
                <a:ext cx="678729" cy="677725"/>
              </a:xfrm>
              <a:custGeom>
                <a:avLst/>
                <a:gdLst/>
                <a:ahLst/>
                <a:cxnLst/>
                <a:rect l="l" t="t" r="r" b="b"/>
                <a:pathLst>
                  <a:path w="678729" h="677725">
                    <a:moveTo>
                      <a:pt x="678729" y="588008"/>
                    </a:moveTo>
                    <a:cubicBezTo>
                      <a:pt x="578660" y="645102"/>
                      <a:pt x="462822" y="677725"/>
                      <a:pt x="339364" y="677725"/>
                    </a:cubicBezTo>
                    <a:cubicBezTo>
                      <a:pt x="215907" y="677725"/>
                      <a:pt x="100069" y="645102"/>
                      <a:pt x="0" y="588008"/>
                    </a:cubicBezTo>
                    <a:cubicBezTo>
                      <a:pt x="1429" y="337290"/>
                      <a:pt x="137395" y="118443"/>
                      <a:pt x="339364" y="0"/>
                    </a:cubicBezTo>
                    <a:cubicBezTo>
                      <a:pt x="541334" y="118443"/>
                      <a:pt x="677300" y="337290"/>
                      <a:pt x="678729" y="588008"/>
                    </a:cubicBezTo>
                    <a:close/>
                  </a:path>
                </a:pathLst>
              </a:custGeom>
              <a:solidFill>
                <a:srgbClr val="231F20"/>
              </a:solidFill>
              <a:ln>
                <a:noFill/>
              </a:ln>
            </p:spPr>
          </p:sp>
          <p:sp>
            <p:nvSpPr>
              <p:cNvPr id="26" name="Freeform 26"/>
              <p:cNvSpPr/>
              <p:nvPr/>
            </p:nvSpPr>
            <p:spPr>
              <a:xfrm>
                <a:off x="8690324" y="3396433"/>
                <a:ext cx="678752" cy="595991"/>
              </a:xfrm>
              <a:custGeom>
                <a:avLst/>
                <a:gdLst/>
                <a:ahLst/>
                <a:cxnLst/>
                <a:rect l="l" t="t" r="r" b="b"/>
                <a:pathLst>
                  <a:path w="678752" h="595991">
                    <a:moveTo>
                      <a:pt x="339376" y="595991"/>
                    </a:moveTo>
                    <a:cubicBezTo>
                      <a:pt x="136335" y="476919"/>
                      <a:pt x="0" y="256377"/>
                      <a:pt x="0" y="3992"/>
                    </a:cubicBezTo>
                    <a:cubicBezTo>
                      <a:pt x="0" y="2660"/>
                      <a:pt x="4" y="1330"/>
                      <a:pt x="11" y="0"/>
                    </a:cubicBezTo>
                    <a:cubicBezTo>
                      <a:pt x="100080" y="57094"/>
                      <a:pt x="215919" y="89717"/>
                      <a:pt x="339376" y="89717"/>
                    </a:cubicBezTo>
                    <a:cubicBezTo>
                      <a:pt x="462833" y="89717"/>
                      <a:pt x="578671" y="57094"/>
                      <a:pt x="678740" y="0"/>
                    </a:cubicBezTo>
                    <a:cubicBezTo>
                      <a:pt x="678748" y="1330"/>
                      <a:pt x="678752" y="2660"/>
                      <a:pt x="678752" y="3992"/>
                    </a:cubicBezTo>
                    <a:cubicBezTo>
                      <a:pt x="678752" y="256377"/>
                      <a:pt x="542417" y="476919"/>
                      <a:pt x="339376" y="595991"/>
                    </a:cubicBezTo>
                    <a:close/>
                  </a:path>
                </a:pathLst>
              </a:custGeom>
              <a:solidFill>
                <a:srgbClr val="ED1C24"/>
              </a:solidFill>
              <a:ln>
                <a:noFill/>
              </a:ln>
            </p:spPr>
          </p:sp>
        </p:grpSp>
        <p:sp>
          <p:nvSpPr>
            <p:cNvPr id="28" name="TextBox 28"/>
            <p:cNvSpPr txBox="1"/>
            <p:nvPr/>
          </p:nvSpPr>
          <p:spPr>
            <a:xfrm>
              <a:off x="6698742" y="4159568"/>
              <a:ext cx="423380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Start at white. Adding ink moves toward black.</a:t>
              </a:r>
            </a:p>
          </p:txBody>
        </p:sp>
      </p:grpSp>
      <p:grpSp>
        <p:nvGrpSpPr>
          <p:cNvPr id="31" name="Group 31"/>
          <p:cNvGrpSpPr/>
          <p:nvPr/>
        </p:nvGrpSpPr>
        <p:grpSpPr>
          <a:xfrm>
            <a:off x="614548" y="4552950"/>
            <a:ext cx="3800104" cy="1828800"/>
            <a:chOff x="614548" y="4552950"/>
            <a:chExt cx="3800104" cy="1828800"/>
          </a:xfrm>
        </p:grpSpPr>
        <p:pic>
          <p:nvPicPr>
            <p:cNvPr id="30" name="Image 30"/>
            <p:cNvPicPr>
              <a:picLocks noChangeAspect="1"/>
            </p:cNvPicPr>
            <p:nvPr/>
          </p:nvPicPr>
          <p:blipFill>
            <a:blip r:embed="rId2"/>
            <a:stretch>
              <a:fillRect/>
            </a:stretch>
          </p:blipFill>
          <p:spPr>
            <a:xfrm>
              <a:off x="614548" y="4552950"/>
              <a:ext cx="3800104" cy="1828800"/>
            </a:xfrm>
            <a:prstGeom prst="rect">
              <a:avLst/>
            </a:prstGeom>
          </p:spPr>
        </p:pic>
      </p:grpSp>
      <p:grpSp>
        <p:nvGrpSpPr>
          <p:cNvPr id="37" name="Group 37"/>
          <p:cNvGrpSpPr/>
          <p:nvPr/>
        </p:nvGrpSpPr>
        <p:grpSpPr>
          <a:xfrm>
            <a:off x="4753356" y="4552950"/>
            <a:ext cx="6112764" cy="1796034"/>
            <a:chOff x="4753356" y="4552950"/>
            <a:chExt cx="6112764" cy="1796034"/>
          </a:xfrm>
        </p:grpSpPr>
        <p:sp>
          <p:nvSpPr>
            <p:cNvPr id="32" name="Freeform 32"/>
            <p:cNvSpPr/>
            <p:nvPr/>
          </p:nvSpPr>
          <p:spPr>
            <a:xfrm>
              <a:off x="4762500" y="4552950"/>
              <a:ext cx="704850" cy="247650"/>
            </a:xfrm>
            <a:prstGeom prst="snip1Rect">
              <a:avLst/>
            </a:prstGeom>
            <a:solidFill>
              <a:schemeClr val="lt2"/>
            </a:solidFill>
            <a:ln>
              <a:noFill/>
            </a:ln>
          </p:spPr>
        </p:sp>
        <p:sp>
          <p:nvSpPr>
            <p:cNvPr id="33" name="TextBox 33"/>
            <p:cNvSpPr txBox="1"/>
            <p:nvPr/>
          </p:nvSpPr>
          <p:spPr>
            <a:xfrm>
              <a:off x="4870704" y="4594860"/>
              <a:ext cx="454274" cy="234696"/>
            </a:xfrm>
            <a:prstGeom prst="rect">
              <a:avLst/>
            </a:prstGeom>
            <a:noFill/>
            <a:ln>
              <a:noFill/>
            </a:ln>
          </p:spPr>
          <p:txBody>
            <a:bodyPr wrap="none" lIns="0" tIns="0" rIns="0" bIns="0" anchor="t" anchorCtr="0">
              <a:spAutoFit/>
            </a:bodyPr>
            <a:lstStyle/>
            <a:p>
              <a:pPr algn="l"/>
              <a:r>
                <a:rPr lang="en-US" sz="1200" b="1" spc="112" dirty="0">
                  <a:solidFill>
                    <a:schemeClr val="accent2"/>
                  </a:solidFill>
                  <a:latin typeface="+mn-lt"/>
                  <a:ea typeface="+mn-ea"/>
                  <a:cs typeface="+mn-cs"/>
                </a:rPr>
                <a:t>RULE</a:t>
              </a:r>
            </a:p>
          </p:txBody>
        </p:sp>
        <p:sp>
          <p:nvSpPr>
            <p:cNvPr id="34" name="TextBox 34"/>
            <p:cNvSpPr txBox="1"/>
            <p:nvPr/>
          </p:nvSpPr>
          <p:spPr>
            <a:xfrm>
              <a:off x="5612892" y="4578668"/>
              <a:ext cx="2755309"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Two machines, two directions.</a:t>
              </a:r>
            </a:p>
          </p:txBody>
        </p:sp>
        <p:sp>
          <p:nvSpPr>
            <p:cNvPr id="35" name="TextBox 35"/>
            <p:cNvSpPr txBox="1"/>
            <p:nvPr/>
          </p:nvSpPr>
          <p:spPr>
            <a:xfrm>
              <a:off x="4753356" y="5025390"/>
              <a:ext cx="6112764" cy="999744"/>
            </a:xfrm>
            <a:prstGeom prst="rect">
              <a:avLst/>
            </a:prstGeom>
            <a:noFill/>
            <a:ln>
              <a:noFill/>
            </a:ln>
          </p:spPr>
          <p:txBody>
            <a:bodyPr wrap="none" lIns="0" tIns="0" rIns="0" bIns="0" anchor="t" anchorCtr="0">
              <a:spAutoFit/>
            </a:bodyPr>
            <a:lstStyle/>
            <a:p>
              <a:pPr algn="l">
                <a:lnSpc>
                  <a:spcPts val="2550"/>
                </a:lnSpc>
              </a:pPr>
              <a:r>
                <a:rPr lang="en-US" sz="1800" dirty="0">
                  <a:solidFill>
                    <a:schemeClr val="dk1"/>
                  </a:solidFill>
                  <a:latin typeface="+mn-lt"/>
                  <a:ea typeface="+mn-ea"/>
                  <a:cs typeface="+mn-cs"/>
                </a:rPr>
                <a:t xml:space="preserve">The two primary sets are </a:t>
              </a:r>
              <a:r>
                <a:rPr lang="en-US" sz="1800" b="1" dirty="0">
                  <a:solidFill>
                    <a:schemeClr val="accent1"/>
                  </a:solidFill>
                  <a:latin typeface="+mn-lt"/>
                  <a:ea typeface="+mn-ea"/>
                  <a:cs typeface="+mn-cs"/>
                </a:rPr>
                <a:t>complements</a:t>
              </a:r>
              <a:r>
                <a:rPr lang="en-US" sz="1800" dirty="0">
                  <a:solidFill>
                    <a:schemeClr val="dk1"/>
                  </a:solidFill>
                  <a:latin typeface="+mn-lt"/>
                  <a:ea typeface="+mn-ea"/>
                  <a:cs typeface="+mn-cs"/>
                </a:rPr>
                <a:t xml:space="preserve"> of each other:</a:t>
              </a:r>
              <a:br/>
              <a:r>
                <a:rPr lang="en-US" sz="1800" dirty="0">
                  <a:solidFill>
                    <a:schemeClr val="dk1"/>
                  </a:solidFill>
                  <a:latin typeface="+mn-lt"/>
                  <a:ea typeface="+mn-ea"/>
                  <a:cs typeface="+mn-cs"/>
                </a:rPr>
                <a:t>each additive primary is a secondary in the other</a:t>
              </a:r>
              <a:br/>
              <a:r>
                <a:rPr lang="en-US" sz="1800" dirty="0">
                  <a:solidFill>
                    <a:schemeClr val="dk1"/>
                  </a:solidFill>
                  <a:latin typeface="+mn-lt"/>
                  <a:ea typeface="+mn-ea"/>
                  <a:cs typeface="+mn-cs"/>
                </a:rPr>
                <a:t>system, and the other way round.</a:t>
              </a:r>
            </a:p>
          </p:txBody>
        </p:sp>
        <p:sp>
          <p:nvSpPr>
            <p:cNvPr id="36" name="TextBox 36"/>
            <p:cNvSpPr txBox="1"/>
            <p:nvPr/>
          </p:nvSpPr>
          <p:spPr>
            <a:xfrm>
              <a:off x="4753356" y="5996940"/>
              <a:ext cx="5420966"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A screen color need not be reachable in ink.</a:t>
              </a:r>
            </a:p>
          </p:txBody>
        </p:sp>
      </p:grpSp>
      <p:grpSp>
        <p:nvGrpSpPr>
          <p:cNvPr id="40" name="Group 40"/>
          <p:cNvGrpSpPr/>
          <p:nvPr/>
        </p:nvGrpSpPr>
        <p:grpSpPr>
          <a:xfrm>
            <a:off x="603504" y="6442710"/>
            <a:ext cx="10984992" cy="234696"/>
            <a:chOff x="603504" y="6442710"/>
            <a:chExt cx="10984992" cy="234696"/>
          </a:xfrm>
        </p:grpSpPr>
        <p:sp>
          <p:nvSpPr>
            <p:cNvPr id="38" name="TextBox 38"/>
            <p:cNvSpPr txBox="1"/>
            <p:nvPr/>
          </p:nvSpPr>
          <p:spPr>
            <a:xfrm>
              <a:off x="603504" y="6442710"/>
              <a:ext cx="5593808"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Additive / subtractive systems: RMIT Colour Theory 1 (open textbook)</a:t>
              </a:r>
            </a:p>
          </p:txBody>
        </p:sp>
        <p:sp>
          <p:nvSpPr>
            <p:cNvPr id="39" name="TextBox 3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04 / 14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500"/>
                                        <p:tgtEl>
                                          <p:spTgt spid="29"/>
                                        </p:tgtEl>
                                      </p:cBhvr>
                                    </p:animEffect>
                                  </p:childTnLst>
                                </p:cTn>
                              </p:par>
                            </p:childTnLst>
                          </p:cTn>
                        </p:par>
                        <p:par>
                          <p:cTn id="12" fill="hold">
                            <p:stCondLst>
                              <p:cond delay="15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37"/>
                                        </p:tgtEl>
                                        <p:attrNameLst>
                                          <p:attrName>style.visibility</p:attrName>
                                        </p:attrNameLst>
                                      </p:cBhvr>
                                      <p:to>
                                        <p:strVal val="visible"/>
                                      </p:to>
                                    </p:set>
                                    <p:animEffect transition="in" filter="fade">
                                      <p:cBhvr>
                                        <p:cTn id="15"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593598" y="556260"/>
            <a:ext cx="10988802" cy="977075"/>
            <a:chOff x="593598" y="556260"/>
            <a:chExt cx="10988802" cy="977075"/>
          </a:xfrm>
        </p:grpSpPr>
        <p:sp>
          <p:nvSpPr>
            <p:cNvPr id="2" name="TextBox 2"/>
            <p:cNvSpPr txBox="1"/>
            <p:nvPr/>
          </p:nvSpPr>
          <p:spPr>
            <a:xfrm>
              <a:off x="603504" y="556260"/>
              <a:ext cx="2734239" cy="234696"/>
            </a:xfrm>
            <a:prstGeom prst="rect">
              <a:avLst/>
            </a:prstGeom>
            <a:noFill/>
            <a:ln>
              <a:noFill/>
            </a:ln>
          </p:spPr>
          <p:txBody>
            <a:bodyPr wrap="none" lIns="0" tIns="0" rIns="0" bIns="0" anchor="t" anchorCtr="0">
              <a:spAutoFit/>
            </a:bodyPr>
            <a:lstStyle/>
            <a:p>
              <a:pPr algn="l"/>
              <a:r>
                <a:rPr lang="en-US" sz="1200" b="1" spc="150" dirty="0">
                  <a:solidFill>
                    <a:schemeClr val="accent2"/>
                  </a:solidFill>
                  <a:latin typeface="+mn-lt"/>
                  <a:ea typeface="+mn-ea"/>
                  <a:cs typeface="+mn-cs"/>
                </a:rPr>
                <a:t>MINIMUM CONCEPT · 3 OF 3</a:t>
              </a:r>
            </a:p>
          </p:txBody>
        </p:sp>
        <p:sp>
          <p:nvSpPr>
            <p:cNvPr id="3" name="Rectangle 3"/>
            <p:cNvSpPr/>
            <p:nvPr/>
          </p:nvSpPr>
          <p:spPr>
            <a:xfrm>
              <a:off x="609600" y="800100"/>
              <a:ext cx="457200" cy="28575"/>
            </a:xfrm>
            <a:prstGeom prst="rect">
              <a:avLst/>
            </a:prstGeom>
            <a:solidFill>
              <a:schemeClr val="accent2"/>
            </a:solidFill>
            <a:ln>
              <a:noFill/>
            </a:ln>
          </p:spPr>
        </p:sp>
        <p:sp>
          <p:nvSpPr>
            <p:cNvPr id="4" name="TextBox 4"/>
            <p:cNvSpPr txBox="1"/>
            <p:nvPr/>
          </p:nvSpPr>
          <p:spPr>
            <a:xfrm>
              <a:off x="593598" y="917258"/>
              <a:ext cx="9079370" cy="616077"/>
            </a:xfrm>
            <a:prstGeom prst="rect">
              <a:avLst/>
            </a:prstGeom>
            <a:noFill/>
            <a:ln>
              <a:noFill/>
            </a:ln>
          </p:spPr>
          <p:txBody>
            <a:bodyPr wrap="none" lIns="0" tIns="0" rIns="0" bIns="0" anchor="t" anchorCtr="0">
              <a:spAutoFit/>
            </a:bodyPr>
            <a:lstStyle/>
            <a:p>
              <a:pPr algn="l"/>
              <a:r>
                <a:rPr lang="en-US" sz="3150" dirty="0">
                  <a:solidFill>
                    <a:schemeClr val="accent1"/>
                  </a:solidFill>
                  <a:latin typeface="+mj-lt"/>
                  <a:ea typeface="+mj-ea"/>
                  <a:cs typeface="+mj-cs"/>
                </a:rPr>
                <a:t>Three dials — schemes turn only one of them</a:t>
              </a:r>
            </a:p>
          </p:txBody>
        </p:sp>
        <p:sp>
          <p:nvSpPr>
            <p:cNvPr id="5" name="Line 5"/>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9" name="Group 19"/>
          <p:cNvGrpSpPr/>
          <p:nvPr/>
        </p:nvGrpSpPr>
        <p:grpSpPr>
          <a:xfrm>
            <a:off x="600456" y="1805940"/>
            <a:ext cx="5343144" cy="3017711"/>
            <a:chOff x="600456" y="1805940"/>
            <a:chExt cx="5343144" cy="3017711"/>
          </a:xfrm>
        </p:grpSpPr>
        <p:grpSp>
          <p:nvGrpSpPr>
            <p:cNvPr id="10" name="Group 10"/>
            <p:cNvGrpSpPr/>
            <p:nvPr/>
          </p:nvGrpSpPr>
          <p:grpSpPr>
            <a:xfrm>
              <a:off x="600456" y="1805940"/>
              <a:ext cx="5343144" cy="922211"/>
              <a:chOff x="600456" y="1805940"/>
              <a:chExt cx="5343144" cy="922211"/>
            </a:xfrm>
          </p:grpSpPr>
          <p:sp>
            <p:nvSpPr>
              <p:cNvPr id="7" name="TextBox 7"/>
              <p:cNvSpPr txBox="1"/>
              <p:nvPr/>
            </p:nvSpPr>
            <p:spPr>
              <a:xfrm>
                <a:off x="600456" y="1805940"/>
                <a:ext cx="2825751"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HUE — an angle, 0–360°</a:t>
                </a:r>
              </a:p>
            </p:txBody>
          </p:sp>
          <p:sp>
            <p:nvSpPr>
              <p:cNvPr id="8" name="Rectangle 8"/>
              <p:cNvSpPr/>
              <p:nvPr/>
            </p:nvSpPr>
            <p:spPr>
              <a:xfrm>
                <a:off x="609600" y="2095500"/>
                <a:ext cx="5334000" cy="285750"/>
              </a:xfrm>
              <a:prstGeom prst="rect">
                <a:avLst/>
              </a:prstGeom>
              <a:gradFill>
                <a:gsLst>
                  <a:gs pos="0">
                    <a:srgbClr val="D62929"/>
                  </a:gs>
                  <a:gs pos="8330">
                    <a:srgbClr val="D68029"/>
                  </a:gs>
                  <a:gs pos="16670">
                    <a:srgbClr val="D6D629"/>
                  </a:gs>
                  <a:gs pos="25000">
                    <a:srgbClr val="80D629"/>
                  </a:gs>
                  <a:gs pos="33330">
                    <a:srgbClr val="29D629"/>
                  </a:gs>
                  <a:gs pos="41670">
                    <a:srgbClr val="29D680"/>
                  </a:gs>
                  <a:gs pos="50000">
                    <a:srgbClr val="29D6D6"/>
                  </a:gs>
                  <a:gs pos="58330">
                    <a:srgbClr val="297FD6"/>
                  </a:gs>
                  <a:gs pos="66670">
                    <a:srgbClr val="2929D6"/>
                  </a:gs>
                  <a:gs pos="75000">
                    <a:srgbClr val="7F29D6"/>
                  </a:gs>
                  <a:gs pos="83330">
                    <a:srgbClr val="D629D6"/>
                  </a:gs>
                  <a:gs pos="91670">
                    <a:srgbClr val="D62980"/>
                  </a:gs>
                  <a:gs pos="100000">
                    <a:srgbClr val="D62929"/>
                  </a:gs>
                </a:gsLst>
                <a:lin ang="0" scaled="1"/>
              </a:gradFill>
              <a:ln>
                <a:noFill/>
              </a:ln>
            </p:spPr>
          </p:sp>
          <p:sp>
            <p:nvSpPr>
              <p:cNvPr id="9" name="TextBox 9"/>
              <p:cNvSpPr txBox="1"/>
              <p:nvPr/>
            </p:nvSpPr>
            <p:spPr>
              <a:xfrm>
                <a:off x="602742" y="2464118"/>
                <a:ext cx="295785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red 0 / 360 · green 120 · blue 240</a:t>
                </a:r>
              </a:p>
            </p:txBody>
          </p:sp>
        </p:grpSp>
        <p:grpSp>
          <p:nvGrpSpPr>
            <p:cNvPr id="14" name="Group 14"/>
            <p:cNvGrpSpPr/>
            <p:nvPr/>
          </p:nvGrpSpPr>
          <p:grpSpPr>
            <a:xfrm>
              <a:off x="600456" y="2853690"/>
              <a:ext cx="5343144" cy="922211"/>
              <a:chOff x="600456" y="2853690"/>
              <a:chExt cx="5343144" cy="922211"/>
            </a:xfrm>
          </p:grpSpPr>
          <p:sp>
            <p:nvSpPr>
              <p:cNvPr id="11" name="TextBox 11"/>
              <p:cNvSpPr txBox="1"/>
              <p:nvPr/>
            </p:nvSpPr>
            <p:spPr>
              <a:xfrm>
                <a:off x="600456" y="2853690"/>
                <a:ext cx="3838065"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SATURATION — 0% gray to 100%</a:t>
                </a:r>
              </a:p>
            </p:txBody>
          </p:sp>
          <p:sp>
            <p:nvSpPr>
              <p:cNvPr id="12" name="Rectangle 12"/>
              <p:cNvSpPr/>
              <p:nvPr/>
            </p:nvSpPr>
            <p:spPr>
              <a:xfrm>
                <a:off x="609600" y="3143250"/>
                <a:ext cx="5334000" cy="285750"/>
              </a:xfrm>
              <a:prstGeom prst="rect">
                <a:avLst/>
              </a:prstGeom>
              <a:gradFill>
                <a:gsLst>
                  <a:gs pos="0">
                    <a:srgbClr val="808080"/>
                  </a:gs>
                  <a:gs pos="100000">
                    <a:srgbClr val="297FD6"/>
                  </a:gs>
                </a:gsLst>
                <a:lin ang="0" scaled="1"/>
              </a:gradFill>
              <a:ln>
                <a:noFill/>
              </a:ln>
            </p:spPr>
          </p:sp>
          <p:sp>
            <p:nvSpPr>
              <p:cNvPr id="13" name="TextBox 13"/>
              <p:cNvSpPr txBox="1"/>
              <p:nvPr/>
            </p:nvSpPr>
            <p:spPr>
              <a:xfrm>
                <a:off x="602742" y="3511868"/>
                <a:ext cx="349398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how much of the hue is left in the color</a:t>
                </a:r>
              </a:p>
            </p:txBody>
          </p:sp>
        </p:grpSp>
        <p:grpSp>
          <p:nvGrpSpPr>
            <p:cNvPr id="18" name="Group 18"/>
            <p:cNvGrpSpPr/>
            <p:nvPr/>
          </p:nvGrpSpPr>
          <p:grpSpPr>
            <a:xfrm>
              <a:off x="600456" y="3901440"/>
              <a:ext cx="5343144" cy="922211"/>
              <a:chOff x="600456" y="3901440"/>
              <a:chExt cx="5343144" cy="922211"/>
            </a:xfrm>
          </p:grpSpPr>
          <p:sp>
            <p:nvSpPr>
              <p:cNvPr id="15" name="TextBox 15"/>
              <p:cNvSpPr txBox="1"/>
              <p:nvPr/>
            </p:nvSpPr>
            <p:spPr>
              <a:xfrm>
                <a:off x="600456" y="3901440"/>
                <a:ext cx="4461586"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LIGHTNESS — 0% black to 100% white</a:t>
                </a:r>
              </a:p>
            </p:txBody>
          </p:sp>
          <p:sp>
            <p:nvSpPr>
              <p:cNvPr id="16" name="Rectangle 16"/>
              <p:cNvSpPr/>
              <p:nvPr/>
            </p:nvSpPr>
            <p:spPr>
              <a:xfrm>
                <a:off x="609600" y="4191000"/>
                <a:ext cx="5334000" cy="285750"/>
              </a:xfrm>
              <a:prstGeom prst="rect">
                <a:avLst/>
              </a:prstGeom>
              <a:gradFill>
                <a:gsLst>
                  <a:gs pos="0">
                    <a:srgbClr val="000000"/>
                  </a:gs>
                  <a:gs pos="50000">
                    <a:srgbClr val="297FD6"/>
                  </a:gs>
                  <a:gs pos="100000">
                    <a:srgbClr val="FFFFFF"/>
                  </a:gs>
                </a:gsLst>
                <a:lin ang="0" scaled="1"/>
              </a:gradFill>
              <a:ln>
                <a:noFill/>
              </a:ln>
            </p:spPr>
          </p:sp>
          <p:sp>
            <p:nvSpPr>
              <p:cNvPr id="17" name="TextBox 17"/>
              <p:cNvSpPr txBox="1"/>
              <p:nvPr/>
            </p:nvSpPr>
            <p:spPr>
              <a:xfrm>
                <a:off x="602742" y="4559618"/>
                <a:ext cx="3639369"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the only dial the contrast rule looks at</a:t>
                </a:r>
              </a:p>
            </p:txBody>
          </p:sp>
        </p:grpSp>
      </p:grpSp>
      <p:grpSp>
        <p:nvGrpSpPr>
          <p:cNvPr id="24" name="Group 24"/>
          <p:cNvGrpSpPr/>
          <p:nvPr/>
        </p:nvGrpSpPr>
        <p:grpSpPr>
          <a:xfrm>
            <a:off x="602742" y="4876800"/>
            <a:ext cx="5500116" cy="1356551"/>
            <a:chOff x="602742" y="4876800"/>
            <a:chExt cx="5500116" cy="1356551"/>
          </a:xfrm>
        </p:grpSpPr>
        <p:sp>
          <p:nvSpPr>
            <p:cNvPr id="20" name="Freeform 20"/>
            <p:cNvSpPr/>
            <p:nvPr/>
          </p:nvSpPr>
          <p:spPr>
            <a:xfrm>
              <a:off x="609600" y="4876800"/>
              <a:ext cx="1409700" cy="247650"/>
            </a:xfrm>
            <a:prstGeom prst="snip1Rect">
              <a:avLst/>
            </a:prstGeom>
            <a:solidFill>
              <a:schemeClr val="lt2"/>
            </a:solidFill>
            <a:ln>
              <a:noFill/>
            </a:ln>
          </p:spPr>
        </p:sp>
        <p:sp>
          <p:nvSpPr>
            <p:cNvPr id="21" name="TextBox 21"/>
            <p:cNvSpPr txBox="1"/>
            <p:nvPr/>
          </p:nvSpPr>
          <p:spPr>
            <a:xfrm>
              <a:off x="717804" y="4918710"/>
              <a:ext cx="1168176" cy="234696"/>
            </a:xfrm>
            <a:prstGeom prst="rect">
              <a:avLst/>
            </a:prstGeom>
            <a:noFill/>
            <a:ln>
              <a:noFill/>
            </a:ln>
          </p:spPr>
          <p:txBody>
            <a:bodyPr wrap="none" lIns="0" tIns="0" rIns="0" bIns="0" anchor="t" anchorCtr="0">
              <a:spAutoFit/>
            </a:bodyPr>
            <a:lstStyle/>
            <a:p>
              <a:pPr algn="l"/>
              <a:r>
                <a:rPr lang="en-US" sz="1200" b="1" spc="112" dirty="0">
                  <a:solidFill>
                    <a:schemeClr val="accent2"/>
                  </a:solidFill>
                  <a:latin typeface="+mn-lt"/>
                  <a:ea typeface="+mn-ea"/>
                  <a:cs typeface="+mn-cs"/>
                </a:rPr>
                <a:t>CONVENTION</a:t>
              </a:r>
            </a:p>
          </p:txBody>
        </p:sp>
        <p:sp>
          <p:nvSpPr>
            <p:cNvPr id="22" name="TextBox 22"/>
            <p:cNvSpPr txBox="1"/>
            <p:nvPr/>
          </p:nvSpPr>
          <p:spPr>
            <a:xfrm>
              <a:off x="2164842" y="4902518"/>
              <a:ext cx="154030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harmony schemes</a:t>
              </a:r>
            </a:p>
          </p:txBody>
        </p:sp>
        <p:sp>
          <p:nvSpPr>
            <p:cNvPr id="23" name="TextBox 23"/>
            <p:cNvSpPr txBox="1"/>
            <p:nvPr/>
          </p:nvSpPr>
          <p:spPr>
            <a:xfrm>
              <a:off x="602742" y="5283518"/>
              <a:ext cx="5500116" cy="9498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The scheme names come from Johannes Itten’s 1961 Art of Color,</a:t>
              </a:r>
              <a:br/>
              <a:r>
                <a:rPr lang="en-US" sz="1350" dirty="0">
                  <a:solidFill>
                    <a:schemeClr val="dk1"/>
                  </a:solidFill>
                  <a:latin typeface="+mn-lt"/>
                  <a:ea typeface="+mn-ea"/>
                  <a:cs typeface="+mn-cs"/>
                </a:rPr>
                <a:t>taught at the Bauhaus. Munsell drew a different wheel — so which</a:t>
              </a:r>
              <a:br/>
              <a:r>
                <a:rPr lang="en-US" sz="1350" dirty="0">
                  <a:solidFill>
                    <a:schemeClr val="dk1"/>
                  </a:solidFill>
                  <a:latin typeface="+mn-lt"/>
                  <a:ea typeface="+mn-ea"/>
                  <a:cs typeface="+mn-cs"/>
                </a:rPr>
                <a:t>colors count as “complementary” depends on which wheel you</a:t>
              </a:r>
              <a:br/>
              <a:r>
                <a:rPr lang="en-US" sz="1350" dirty="0">
                  <a:solidFill>
                    <a:schemeClr val="dk1"/>
                  </a:solidFill>
                  <a:latin typeface="+mn-lt"/>
                  <a:ea typeface="+mn-ea"/>
                  <a:cs typeface="+mn-cs"/>
                </a:rPr>
                <a:t>started from.</a:t>
              </a:r>
            </a:p>
          </p:txBody>
        </p:sp>
      </p:grpSp>
      <p:grpSp>
        <p:nvGrpSpPr>
          <p:cNvPr id="42" name="!!hue-wheel"/>
          <p:cNvGrpSpPr/>
          <p:nvPr/>
        </p:nvGrpSpPr>
        <p:grpSpPr>
          <a:xfrm>
            <a:off x="7161076" y="1816418"/>
            <a:ext cx="3584848" cy="3826383"/>
            <a:chOff x="7161076" y="1816418"/>
            <a:chExt cx="3584848" cy="3826383"/>
          </a:xfrm>
        </p:grpSpPr>
        <p:sp>
          <p:nvSpPr>
            <p:cNvPr id="25" name="TextBox 25"/>
            <p:cNvSpPr txBox="1"/>
            <p:nvPr/>
          </p:nvSpPr>
          <p:spPr>
            <a:xfrm>
              <a:off x="7232142" y="1816418"/>
              <a:ext cx="3134106" cy="473583"/>
            </a:xfrm>
            <a:prstGeom prst="rect">
              <a:avLst/>
            </a:prstGeom>
            <a:noFill/>
            <a:ln>
              <a:noFill/>
            </a:ln>
          </p:spPr>
          <p:txBody>
            <a:bodyPr wrap="none" lIns="0" tIns="0" rIns="0" bIns="0" anchor="t" anchorCtr="0">
              <a:spAutoFit/>
            </a:bodyPr>
            <a:lstStyle/>
            <a:p>
              <a:pPr algn="l">
                <a:lnSpc>
                  <a:spcPts val="1650"/>
                </a:lnSpc>
              </a:pPr>
              <a:r>
                <a:rPr lang="en-US" sz="1350" dirty="0">
                  <a:solidFill>
                    <a:schemeClr val="accent5"/>
                  </a:solidFill>
                  <a:latin typeface="+mn-lt"/>
                  <a:ea typeface="+mn-ea"/>
                  <a:cs typeface="+mn-cs"/>
                </a:rPr>
                <a:t>Itten’s twelve-hue wheel: a teaching</a:t>
              </a:r>
              <a:br/>
              <a:r>
                <a:rPr lang="en-US" sz="1350" dirty="0">
                  <a:solidFill>
                    <a:schemeClr val="accent5"/>
                  </a:solidFill>
                  <a:latin typeface="+mn-lt"/>
                  <a:ea typeface="+mn-ea"/>
                  <a:cs typeface="+mn-cs"/>
                </a:rPr>
                <a:t>device, not a law of light.</a:t>
              </a:r>
            </a:p>
          </p:txBody>
        </p:sp>
        <p:sp>
          <p:nvSpPr>
            <p:cNvPr id="26" name="Freeform 26"/>
            <p:cNvSpPr/>
            <p:nvPr/>
          </p:nvSpPr>
          <p:spPr>
            <a:xfrm>
              <a:off x="8953500" y="2305050"/>
              <a:ext cx="714375" cy="669893"/>
            </a:xfrm>
            <a:custGeom>
              <a:avLst/>
              <a:gdLst/>
              <a:ahLst/>
              <a:cxnLst/>
              <a:rect l="l" t="t" r="r" b="b"/>
              <a:pathLst>
                <a:path w="714375" h="669893">
                  <a:moveTo>
                    <a:pt x="0" y="0"/>
                  </a:moveTo>
                  <a:cubicBezTo>
                    <a:pt x="250801" y="11"/>
                    <a:pt x="497181" y="66041"/>
                    <a:pt x="714375" y="191453"/>
                  </a:cubicBezTo>
                  <a:lnTo>
                    <a:pt x="438150" y="669893"/>
                  </a:lnTo>
                  <a:cubicBezTo>
                    <a:pt x="304940" y="592967"/>
                    <a:pt x="153827" y="552463"/>
                    <a:pt x="0" y="552450"/>
                  </a:cubicBezTo>
                  <a:close/>
                </a:path>
              </a:pathLst>
            </a:custGeom>
            <a:solidFill>
              <a:srgbClr val="D62929"/>
            </a:solidFill>
            <a:ln>
              <a:noFill/>
            </a:ln>
          </p:spPr>
        </p:sp>
        <p:sp>
          <p:nvSpPr>
            <p:cNvPr id="27" name="Freeform 27"/>
            <p:cNvSpPr/>
            <p:nvPr/>
          </p:nvSpPr>
          <p:spPr>
            <a:xfrm>
              <a:off x="9391650" y="2496502"/>
              <a:ext cx="799147" cy="799147"/>
            </a:xfrm>
            <a:custGeom>
              <a:avLst/>
              <a:gdLst/>
              <a:ahLst/>
              <a:cxnLst/>
              <a:rect l="l" t="t" r="r" b="b"/>
              <a:pathLst>
                <a:path w="799147" h="799147">
                  <a:moveTo>
                    <a:pt x="276225" y="0"/>
                  </a:moveTo>
                  <a:cubicBezTo>
                    <a:pt x="493405" y="125394"/>
                    <a:pt x="673753" y="305743"/>
                    <a:pt x="799147" y="522922"/>
                  </a:cubicBezTo>
                  <a:lnTo>
                    <a:pt x="320707" y="799147"/>
                  </a:lnTo>
                  <a:cubicBezTo>
                    <a:pt x="243801" y="665953"/>
                    <a:pt x="133194" y="555346"/>
                    <a:pt x="0" y="478441"/>
                  </a:cubicBezTo>
                  <a:close/>
                </a:path>
              </a:pathLst>
            </a:custGeom>
            <a:solidFill>
              <a:srgbClr val="D68029"/>
            </a:solidFill>
            <a:ln>
              <a:noFill/>
            </a:ln>
          </p:spPr>
        </p:sp>
        <p:sp>
          <p:nvSpPr>
            <p:cNvPr id="28" name="Freeform 28"/>
            <p:cNvSpPr/>
            <p:nvPr/>
          </p:nvSpPr>
          <p:spPr>
            <a:xfrm>
              <a:off x="9712357" y="3019425"/>
              <a:ext cx="669893" cy="714375"/>
            </a:xfrm>
            <a:custGeom>
              <a:avLst/>
              <a:gdLst/>
              <a:ahLst/>
              <a:cxnLst/>
              <a:rect l="l" t="t" r="r" b="b"/>
              <a:pathLst>
                <a:path w="669893" h="714375">
                  <a:moveTo>
                    <a:pt x="478441" y="0"/>
                  </a:moveTo>
                  <a:cubicBezTo>
                    <a:pt x="603852" y="217194"/>
                    <a:pt x="669882" y="463574"/>
                    <a:pt x="669893" y="714375"/>
                  </a:cubicBezTo>
                  <a:lnTo>
                    <a:pt x="117443" y="714375"/>
                  </a:lnTo>
                  <a:cubicBezTo>
                    <a:pt x="117431" y="560548"/>
                    <a:pt x="76926" y="409435"/>
                    <a:pt x="0" y="276225"/>
                  </a:cubicBezTo>
                  <a:close/>
                </a:path>
              </a:pathLst>
            </a:custGeom>
            <a:solidFill>
              <a:srgbClr val="D6D629"/>
            </a:solidFill>
            <a:ln>
              <a:noFill/>
            </a:ln>
          </p:spPr>
        </p:sp>
        <p:sp>
          <p:nvSpPr>
            <p:cNvPr id="29" name="Freeform 29"/>
            <p:cNvSpPr/>
            <p:nvPr/>
          </p:nvSpPr>
          <p:spPr>
            <a:xfrm>
              <a:off x="9712357" y="3733800"/>
              <a:ext cx="669893" cy="714375"/>
            </a:xfrm>
            <a:custGeom>
              <a:avLst/>
              <a:gdLst/>
              <a:ahLst/>
              <a:cxnLst/>
              <a:rect l="l" t="t" r="r" b="b"/>
              <a:pathLst>
                <a:path w="669893" h="714375">
                  <a:moveTo>
                    <a:pt x="669893" y="0"/>
                  </a:moveTo>
                  <a:cubicBezTo>
                    <a:pt x="669882" y="250801"/>
                    <a:pt x="603852" y="497181"/>
                    <a:pt x="478441" y="714375"/>
                  </a:cubicBezTo>
                  <a:lnTo>
                    <a:pt x="0" y="438150"/>
                  </a:lnTo>
                  <a:cubicBezTo>
                    <a:pt x="76926" y="304940"/>
                    <a:pt x="117431" y="153827"/>
                    <a:pt x="117443" y="0"/>
                  </a:cubicBezTo>
                  <a:close/>
                </a:path>
              </a:pathLst>
            </a:custGeom>
            <a:solidFill>
              <a:srgbClr val="80D629"/>
            </a:solidFill>
            <a:ln>
              <a:noFill/>
            </a:ln>
          </p:spPr>
        </p:sp>
        <p:sp>
          <p:nvSpPr>
            <p:cNvPr id="30" name="Freeform 30"/>
            <p:cNvSpPr/>
            <p:nvPr/>
          </p:nvSpPr>
          <p:spPr>
            <a:xfrm>
              <a:off x="9391650" y="4171950"/>
              <a:ext cx="799148" cy="799147"/>
            </a:xfrm>
            <a:custGeom>
              <a:avLst/>
              <a:gdLst/>
              <a:ahLst/>
              <a:cxnLst/>
              <a:rect l="l" t="t" r="r" b="b"/>
              <a:pathLst>
                <a:path w="799148" h="799147">
                  <a:moveTo>
                    <a:pt x="799148" y="276225"/>
                  </a:moveTo>
                  <a:cubicBezTo>
                    <a:pt x="673753" y="493405"/>
                    <a:pt x="493405" y="673753"/>
                    <a:pt x="276225" y="799147"/>
                  </a:cubicBezTo>
                  <a:lnTo>
                    <a:pt x="0" y="320707"/>
                  </a:lnTo>
                  <a:cubicBezTo>
                    <a:pt x="133194" y="243801"/>
                    <a:pt x="243801" y="133194"/>
                    <a:pt x="320707" y="0"/>
                  </a:cubicBezTo>
                  <a:close/>
                </a:path>
              </a:pathLst>
            </a:custGeom>
            <a:solidFill>
              <a:srgbClr val="29D629"/>
            </a:solidFill>
            <a:ln>
              <a:noFill/>
            </a:ln>
          </p:spPr>
        </p:sp>
        <p:sp>
          <p:nvSpPr>
            <p:cNvPr id="31" name="Freeform 31"/>
            <p:cNvSpPr/>
            <p:nvPr/>
          </p:nvSpPr>
          <p:spPr>
            <a:xfrm>
              <a:off x="8953500" y="4492657"/>
              <a:ext cx="714375" cy="669893"/>
            </a:xfrm>
            <a:custGeom>
              <a:avLst/>
              <a:gdLst/>
              <a:ahLst/>
              <a:cxnLst/>
              <a:rect l="l" t="t" r="r" b="b"/>
              <a:pathLst>
                <a:path w="714375" h="669893">
                  <a:moveTo>
                    <a:pt x="714375" y="478441"/>
                  </a:moveTo>
                  <a:cubicBezTo>
                    <a:pt x="497181" y="603852"/>
                    <a:pt x="250801" y="669882"/>
                    <a:pt x="0" y="669893"/>
                  </a:cubicBezTo>
                  <a:lnTo>
                    <a:pt x="0" y="117443"/>
                  </a:lnTo>
                  <a:cubicBezTo>
                    <a:pt x="153827" y="117431"/>
                    <a:pt x="304940" y="76926"/>
                    <a:pt x="438150" y="0"/>
                  </a:cubicBezTo>
                  <a:close/>
                </a:path>
              </a:pathLst>
            </a:custGeom>
            <a:solidFill>
              <a:srgbClr val="29D680"/>
            </a:solidFill>
            <a:ln>
              <a:noFill/>
            </a:ln>
          </p:spPr>
        </p:sp>
        <p:sp>
          <p:nvSpPr>
            <p:cNvPr id="32" name="Freeform 32"/>
            <p:cNvSpPr/>
            <p:nvPr/>
          </p:nvSpPr>
          <p:spPr>
            <a:xfrm>
              <a:off x="8239125" y="4492657"/>
              <a:ext cx="714375" cy="669893"/>
            </a:xfrm>
            <a:custGeom>
              <a:avLst/>
              <a:gdLst/>
              <a:ahLst/>
              <a:cxnLst/>
              <a:rect l="l" t="t" r="r" b="b"/>
              <a:pathLst>
                <a:path w="714375" h="669893">
                  <a:moveTo>
                    <a:pt x="714375" y="669893"/>
                  </a:moveTo>
                  <a:cubicBezTo>
                    <a:pt x="463574" y="669882"/>
                    <a:pt x="217194" y="603852"/>
                    <a:pt x="0" y="478441"/>
                  </a:cubicBezTo>
                  <a:lnTo>
                    <a:pt x="276225" y="0"/>
                  </a:lnTo>
                  <a:cubicBezTo>
                    <a:pt x="409435" y="76926"/>
                    <a:pt x="560548" y="117431"/>
                    <a:pt x="714375" y="117443"/>
                  </a:cubicBezTo>
                  <a:close/>
                </a:path>
              </a:pathLst>
            </a:custGeom>
            <a:solidFill>
              <a:srgbClr val="29D6D6"/>
            </a:solidFill>
            <a:ln>
              <a:noFill/>
            </a:ln>
          </p:spPr>
        </p:sp>
        <p:sp>
          <p:nvSpPr>
            <p:cNvPr id="33" name="Freeform 33"/>
            <p:cNvSpPr/>
            <p:nvPr/>
          </p:nvSpPr>
          <p:spPr>
            <a:xfrm>
              <a:off x="7716202" y="4171950"/>
              <a:ext cx="799147" cy="799147"/>
            </a:xfrm>
            <a:custGeom>
              <a:avLst/>
              <a:gdLst/>
              <a:ahLst/>
              <a:cxnLst/>
              <a:rect l="l" t="t" r="r" b="b"/>
              <a:pathLst>
                <a:path w="799147" h="799147">
                  <a:moveTo>
                    <a:pt x="522923" y="799147"/>
                  </a:moveTo>
                  <a:cubicBezTo>
                    <a:pt x="305743" y="673753"/>
                    <a:pt x="125394" y="493405"/>
                    <a:pt x="0" y="276225"/>
                  </a:cubicBezTo>
                  <a:lnTo>
                    <a:pt x="478441" y="0"/>
                  </a:lnTo>
                  <a:cubicBezTo>
                    <a:pt x="555346" y="133194"/>
                    <a:pt x="665953" y="243801"/>
                    <a:pt x="799147" y="320707"/>
                  </a:cubicBezTo>
                  <a:close/>
                </a:path>
              </a:pathLst>
            </a:custGeom>
            <a:solidFill>
              <a:srgbClr val="297FD6"/>
            </a:solidFill>
            <a:ln>
              <a:noFill/>
            </a:ln>
          </p:spPr>
        </p:sp>
        <p:sp>
          <p:nvSpPr>
            <p:cNvPr id="34" name="Freeform 34"/>
            <p:cNvSpPr/>
            <p:nvPr/>
          </p:nvSpPr>
          <p:spPr>
            <a:xfrm>
              <a:off x="7524750" y="3733800"/>
              <a:ext cx="669893" cy="714375"/>
            </a:xfrm>
            <a:custGeom>
              <a:avLst/>
              <a:gdLst/>
              <a:ahLst/>
              <a:cxnLst/>
              <a:rect l="l" t="t" r="r" b="b"/>
              <a:pathLst>
                <a:path w="669893" h="714375">
                  <a:moveTo>
                    <a:pt x="191453" y="714375"/>
                  </a:moveTo>
                  <a:cubicBezTo>
                    <a:pt x="66041" y="497181"/>
                    <a:pt x="11" y="250801"/>
                    <a:pt x="0" y="0"/>
                  </a:cubicBezTo>
                  <a:lnTo>
                    <a:pt x="552450" y="0"/>
                  </a:lnTo>
                  <a:cubicBezTo>
                    <a:pt x="552463" y="153827"/>
                    <a:pt x="592967" y="304940"/>
                    <a:pt x="669893" y="438150"/>
                  </a:cubicBezTo>
                  <a:close/>
                </a:path>
              </a:pathLst>
            </a:custGeom>
            <a:solidFill>
              <a:srgbClr val="2929D6"/>
            </a:solidFill>
            <a:ln>
              <a:noFill/>
            </a:ln>
          </p:spPr>
        </p:sp>
        <p:sp>
          <p:nvSpPr>
            <p:cNvPr id="35" name="Freeform 35"/>
            <p:cNvSpPr/>
            <p:nvPr/>
          </p:nvSpPr>
          <p:spPr>
            <a:xfrm>
              <a:off x="7524750" y="3019425"/>
              <a:ext cx="669893" cy="714375"/>
            </a:xfrm>
            <a:custGeom>
              <a:avLst/>
              <a:gdLst/>
              <a:ahLst/>
              <a:cxnLst/>
              <a:rect l="l" t="t" r="r" b="b"/>
              <a:pathLst>
                <a:path w="669893" h="714375">
                  <a:moveTo>
                    <a:pt x="0" y="714375"/>
                  </a:moveTo>
                  <a:cubicBezTo>
                    <a:pt x="11" y="463574"/>
                    <a:pt x="66041" y="217194"/>
                    <a:pt x="191452" y="0"/>
                  </a:cubicBezTo>
                  <a:lnTo>
                    <a:pt x="669893" y="276225"/>
                  </a:lnTo>
                  <a:cubicBezTo>
                    <a:pt x="592967" y="409435"/>
                    <a:pt x="552463" y="560548"/>
                    <a:pt x="552450" y="714375"/>
                  </a:cubicBezTo>
                  <a:close/>
                </a:path>
              </a:pathLst>
            </a:custGeom>
            <a:solidFill>
              <a:srgbClr val="7F29D6"/>
            </a:solidFill>
            <a:ln>
              <a:noFill/>
            </a:ln>
          </p:spPr>
        </p:sp>
        <p:sp>
          <p:nvSpPr>
            <p:cNvPr id="36" name="Freeform 36"/>
            <p:cNvSpPr/>
            <p:nvPr/>
          </p:nvSpPr>
          <p:spPr>
            <a:xfrm>
              <a:off x="7716202" y="2496503"/>
              <a:ext cx="799147" cy="799147"/>
            </a:xfrm>
            <a:custGeom>
              <a:avLst/>
              <a:gdLst/>
              <a:ahLst/>
              <a:cxnLst/>
              <a:rect l="l" t="t" r="r" b="b"/>
              <a:pathLst>
                <a:path w="799147" h="799147">
                  <a:moveTo>
                    <a:pt x="0" y="522922"/>
                  </a:moveTo>
                  <a:cubicBezTo>
                    <a:pt x="125394" y="305743"/>
                    <a:pt x="305743" y="125394"/>
                    <a:pt x="522922" y="0"/>
                  </a:cubicBezTo>
                  <a:lnTo>
                    <a:pt x="799147" y="478441"/>
                  </a:lnTo>
                  <a:cubicBezTo>
                    <a:pt x="665953" y="555346"/>
                    <a:pt x="555346" y="665953"/>
                    <a:pt x="478441" y="799147"/>
                  </a:cubicBezTo>
                  <a:close/>
                </a:path>
              </a:pathLst>
            </a:custGeom>
            <a:solidFill>
              <a:srgbClr val="D629D6"/>
            </a:solidFill>
            <a:ln>
              <a:noFill/>
            </a:ln>
          </p:spPr>
        </p:sp>
        <p:sp>
          <p:nvSpPr>
            <p:cNvPr id="37" name="Freeform 37"/>
            <p:cNvSpPr/>
            <p:nvPr/>
          </p:nvSpPr>
          <p:spPr>
            <a:xfrm>
              <a:off x="8239125" y="2305050"/>
              <a:ext cx="714375" cy="669893"/>
            </a:xfrm>
            <a:custGeom>
              <a:avLst/>
              <a:gdLst/>
              <a:ahLst/>
              <a:cxnLst/>
              <a:rect l="l" t="t" r="r" b="b"/>
              <a:pathLst>
                <a:path w="714375" h="669893">
                  <a:moveTo>
                    <a:pt x="0" y="191452"/>
                  </a:moveTo>
                  <a:cubicBezTo>
                    <a:pt x="217194" y="66041"/>
                    <a:pt x="463574" y="11"/>
                    <a:pt x="714375" y="0"/>
                  </a:cubicBezTo>
                  <a:lnTo>
                    <a:pt x="714375" y="552450"/>
                  </a:lnTo>
                  <a:cubicBezTo>
                    <a:pt x="560548" y="552463"/>
                    <a:pt x="409435" y="592967"/>
                    <a:pt x="276225" y="669893"/>
                  </a:cubicBezTo>
                  <a:close/>
                </a:path>
              </a:pathLst>
            </a:custGeom>
            <a:solidFill>
              <a:srgbClr val="D62980"/>
            </a:solidFill>
            <a:ln>
              <a:noFill/>
            </a:ln>
          </p:spPr>
        </p:sp>
        <p:sp>
          <p:nvSpPr>
            <p:cNvPr id="38" name="Line 38"/>
            <p:cNvSpPr/>
            <p:nvPr/>
          </p:nvSpPr>
          <p:spPr>
            <a:xfrm>
              <a:off x="8655368" y="2620328"/>
              <a:ext cx="596265" cy="2226945"/>
            </a:xfrm>
            <a:custGeom>
              <a:avLst/>
              <a:gdLst/>
              <a:ahLst/>
              <a:cxnLst/>
              <a:rect l="l" t="t" r="r" b="b"/>
              <a:pathLst>
                <a:path w="596265" h="2226945">
                  <a:moveTo>
                    <a:pt x="596265" y="0"/>
                  </a:moveTo>
                  <a:lnTo>
                    <a:pt x="0" y="2226945"/>
                  </a:lnTo>
                </a:path>
              </a:pathLst>
            </a:custGeom>
            <a:noFill/>
            <a:ln w="19050">
              <a:solidFill>
                <a:schemeClr val="accent1"/>
              </a:solidFill>
            </a:ln>
          </p:spPr>
        </p:sp>
        <p:sp>
          <p:nvSpPr>
            <p:cNvPr id="39" name="Ellipse 39"/>
            <p:cNvSpPr/>
            <p:nvPr/>
          </p:nvSpPr>
          <p:spPr>
            <a:xfrm>
              <a:off x="9184958" y="2553652"/>
              <a:ext cx="133350" cy="133350"/>
            </a:xfrm>
            <a:prstGeom prst="ellipse">
              <a:avLst/>
            </a:prstGeom>
            <a:solidFill>
              <a:schemeClr val="accent1"/>
            </a:solidFill>
            <a:ln>
              <a:noFill/>
            </a:ln>
          </p:spPr>
        </p:sp>
        <p:sp>
          <p:nvSpPr>
            <p:cNvPr id="40" name="Ellipse 40"/>
            <p:cNvSpPr/>
            <p:nvPr/>
          </p:nvSpPr>
          <p:spPr>
            <a:xfrm>
              <a:off x="8588692" y="4780598"/>
              <a:ext cx="133350" cy="133350"/>
            </a:xfrm>
            <a:prstGeom prst="ellipse">
              <a:avLst/>
            </a:prstGeom>
            <a:solidFill>
              <a:schemeClr val="accent1"/>
            </a:solidFill>
            <a:ln>
              <a:noFill/>
            </a:ln>
          </p:spPr>
        </p:sp>
        <p:sp>
          <p:nvSpPr>
            <p:cNvPr id="41" name="TextBox 41"/>
            <p:cNvSpPr txBox="1"/>
            <p:nvPr/>
          </p:nvSpPr>
          <p:spPr>
            <a:xfrm>
              <a:off x="7161076" y="5378768"/>
              <a:ext cx="3584848" cy="264033"/>
            </a:xfrm>
            <a:prstGeom prst="rect">
              <a:avLst/>
            </a:prstGeom>
            <a:noFill/>
            <a:ln>
              <a:noFill/>
            </a:ln>
          </p:spPr>
          <p:txBody>
            <a:bodyPr wrap="none" lIns="0" tIns="0" rIns="0" bIns="0" anchor="t" anchorCtr="0">
              <a:spAutoFit/>
            </a:bodyPr>
            <a:lstStyle/>
            <a:p>
              <a:pPr algn="ctr"/>
              <a:r>
                <a:rPr lang="en-US" sz="1350" dirty="0">
                  <a:solidFill>
                    <a:schemeClr val="dk1"/>
                  </a:solidFill>
                  <a:latin typeface="+mn-lt"/>
                  <a:ea typeface="+mn-ea"/>
                  <a:cs typeface="+mn-cs"/>
                </a:rPr>
                <a:t>complementary = two wedges 180° apart</a:t>
              </a:r>
            </a:p>
          </p:txBody>
        </p:sp>
      </p:grpSp>
      <p:grpSp>
        <p:nvGrpSpPr>
          <p:cNvPr id="45" name="Group 45"/>
          <p:cNvGrpSpPr/>
          <p:nvPr/>
        </p:nvGrpSpPr>
        <p:grpSpPr>
          <a:xfrm>
            <a:off x="603504" y="6442710"/>
            <a:ext cx="10984992" cy="234696"/>
            <a:chOff x="603504" y="6442710"/>
            <a:chExt cx="10984992" cy="234696"/>
          </a:xfrm>
        </p:grpSpPr>
        <p:sp>
          <p:nvSpPr>
            <p:cNvPr id="43" name="TextBox 43"/>
            <p:cNvSpPr txBox="1"/>
            <p:nvPr/>
          </p:nvSpPr>
          <p:spPr>
            <a:xfrm>
              <a:off x="603504" y="6442710"/>
              <a:ext cx="8132018"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HSL definition: W3C CSS Color 4 · Itten: Getty Bauhaus teaching materials · competing wheels: Munsell</a:t>
              </a:r>
            </a:p>
          </p:txBody>
        </p:sp>
        <p:sp>
          <p:nvSpPr>
            <p:cNvPr id="44" name="TextBox 4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05 / 14</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600"/>
                                        <p:tgtEl>
                                          <p:spTgt spid="42"/>
                                        </p:tgtEl>
                                      </p:cBhvr>
                                    </p:animEffect>
                                  </p:childTnLst>
                                </p:cTn>
                              </p:par>
                            </p:childTnLst>
                          </p:cTn>
                        </p:par>
                        <p:par>
                          <p:cTn id="8" fill="hold">
                            <p:stCondLst>
                              <p:cond delay="600"/>
                            </p:stCondLst>
                            <p:childTnLst>
                              <p:par>
                                <p:cTn id="9" presetID="22" presetClass="entr" presetSubtype="8" fill="hold" grpId="0" nodeType="afterEffect">
                                  <p:stCondLst>
                                    <p:cond delay="50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700"/>
                                        <p:tgtEl>
                                          <p:spTgt spid="19"/>
                                        </p:tgtEl>
                                      </p:cBhvr>
                                    </p:animEffect>
                                  </p:childTnLst>
                                </p:cTn>
                              </p:par>
                            </p:childTnLst>
                          </p:cTn>
                        </p:par>
                        <p:par>
                          <p:cTn id="12" fill="hold">
                            <p:stCondLst>
                              <p:cond delay="1800"/>
                            </p:stCondLst>
                            <p:childTnLst>
                              <p:par>
                                <p:cTn id="13" presetID="10" presetClass="entr" presetSubtype="0" fill="hold" grpId="0" nodeType="afterEffect">
                                  <p:stCondLst>
                                    <p:cond delay="50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593598" y="556260"/>
            <a:ext cx="10988802" cy="977075"/>
            <a:chOff x="593598" y="556260"/>
            <a:chExt cx="10988802" cy="977075"/>
          </a:xfrm>
        </p:grpSpPr>
        <p:sp>
          <p:nvSpPr>
            <p:cNvPr id="2" name="TextBox 2"/>
            <p:cNvSpPr txBox="1"/>
            <p:nvPr/>
          </p:nvSpPr>
          <p:spPr>
            <a:xfrm>
              <a:off x="603504" y="556260"/>
              <a:ext cx="2686020" cy="234696"/>
            </a:xfrm>
            <a:prstGeom prst="rect">
              <a:avLst/>
            </a:prstGeom>
            <a:noFill/>
            <a:ln>
              <a:noFill/>
            </a:ln>
          </p:spPr>
          <p:txBody>
            <a:bodyPr wrap="none" lIns="0" tIns="0" rIns="0" bIns="0" anchor="t" anchorCtr="0">
              <a:spAutoFit/>
            </a:bodyPr>
            <a:lstStyle/>
            <a:p>
              <a:pPr algn="l"/>
              <a:r>
                <a:rPr lang="en-US" sz="1200" b="1" spc="150" dirty="0">
                  <a:solidFill>
                    <a:schemeClr val="accent2"/>
                  </a:solidFill>
                  <a:latin typeface="+mn-lt"/>
                  <a:ea typeface="+mn-ea"/>
                  <a:cs typeface="+mn-cs"/>
                </a:rPr>
                <a:t>THE ONE MEASURABLE RULE</a:t>
              </a:r>
            </a:p>
          </p:txBody>
        </p:sp>
        <p:sp>
          <p:nvSpPr>
            <p:cNvPr id="3" name="Rectangle 3"/>
            <p:cNvSpPr/>
            <p:nvPr/>
          </p:nvSpPr>
          <p:spPr>
            <a:xfrm>
              <a:off x="609600" y="800100"/>
              <a:ext cx="457200" cy="28575"/>
            </a:xfrm>
            <a:prstGeom prst="rect">
              <a:avLst/>
            </a:prstGeom>
            <a:solidFill>
              <a:schemeClr val="accent2"/>
            </a:solidFill>
            <a:ln>
              <a:noFill/>
            </a:ln>
          </p:spPr>
        </p:sp>
        <p:sp>
          <p:nvSpPr>
            <p:cNvPr id="4" name="TextBox 4"/>
            <p:cNvSpPr txBox="1"/>
            <p:nvPr/>
          </p:nvSpPr>
          <p:spPr>
            <a:xfrm>
              <a:off x="593598" y="917258"/>
              <a:ext cx="8843875" cy="616077"/>
            </a:xfrm>
            <a:prstGeom prst="rect">
              <a:avLst/>
            </a:prstGeom>
            <a:noFill/>
            <a:ln>
              <a:noFill/>
            </a:ln>
          </p:spPr>
          <p:txBody>
            <a:bodyPr wrap="none" lIns="0" tIns="0" rIns="0" bIns="0" anchor="t" anchorCtr="0">
              <a:spAutoFit/>
            </a:bodyPr>
            <a:lstStyle/>
            <a:p>
              <a:pPr algn="l"/>
              <a:r>
                <a:rPr lang="en-US" sz="3150" dirty="0">
                  <a:solidFill>
                    <a:schemeClr val="accent1"/>
                  </a:solidFill>
                  <a:latin typeface="+mj-lt"/>
                  <a:ea typeface="+mj-ea"/>
                  <a:cs typeface="+mj-cs"/>
                </a:rPr>
                <a:t>Lightness is the dial that carries legibility</a:t>
              </a:r>
            </a:p>
          </p:txBody>
        </p:sp>
        <p:sp>
          <p:nvSpPr>
            <p:cNvPr id="5" name="Line 5"/>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1" name="Group 11"/>
          <p:cNvGrpSpPr/>
          <p:nvPr/>
        </p:nvGrpSpPr>
        <p:grpSpPr>
          <a:xfrm>
            <a:off x="600456" y="1809750"/>
            <a:ext cx="5596128" cy="1243584"/>
            <a:chOff x="600456" y="1809750"/>
            <a:chExt cx="5596128" cy="1243584"/>
          </a:xfrm>
        </p:grpSpPr>
        <p:sp>
          <p:nvSpPr>
            <p:cNvPr id="7" name="Freeform 7"/>
            <p:cNvSpPr/>
            <p:nvPr/>
          </p:nvSpPr>
          <p:spPr>
            <a:xfrm>
              <a:off x="609600" y="1809750"/>
              <a:ext cx="704850" cy="247650"/>
            </a:xfrm>
            <a:prstGeom prst="snip1Rect">
              <a:avLst/>
            </a:prstGeom>
            <a:solidFill>
              <a:schemeClr val="lt2"/>
            </a:solidFill>
            <a:ln>
              <a:noFill/>
            </a:ln>
          </p:spPr>
        </p:sp>
        <p:sp>
          <p:nvSpPr>
            <p:cNvPr id="8" name="TextBox 8"/>
            <p:cNvSpPr txBox="1"/>
            <p:nvPr/>
          </p:nvSpPr>
          <p:spPr>
            <a:xfrm>
              <a:off x="717804" y="1851660"/>
              <a:ext cx="454274" cy="234696"/>
            </a:xfrm>
            <a:prstGeom prst="rect">
              <a:avLst/>
            </a:prstGeom>
            <a:noFill/>
            <a:ln>
              <a:noFill/>
            </a:ln>
          </p:spPr>
          <p:txBody>
            <a:bodyPr wrap="none" lIns="0" tIns="0" rIns="0" bIns="0" anchor="t" anchorCtr="0">
              <a:spAutoFit/>
            </a:bodyPr>
            <a:lstStyle/>
            <a:p>
              <a:pPr algn="l"/>
              <a:r>
                <a:rPr lang="en-US" sz="1200" b="1" spc="112" dirty="0">
                  <a:solidFill>
                    <a:schemeClr val="accent2"/>
                  </a:solidFill>
                  <a:latin typeface="+mn-lt"/>
                  <a:ea typeface="+mn-ea"/>
                  <a:cs typeface="+mn-cs"/>
                </a:rPr>
                <a:t>RULE</a:t>
              </a:r>
            </a:p>
          </p:txBody>
        </p:sp>
        <p:sp>
          <p:nvSpPr>
            <p:cNvPr id="9" name="TextBox 9"/>
            <p:cNvSpPr txBox="1"/>
            <p:nvPr/>
          </p:nvSpPr>
          <p:spPr>
            <a:xfrm>
              <a:off x="1459992" y="1835468"/>
              <a:ext cx="132908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WCAG SC 1.4.3</a:t>
              </a:r>
            </a:p>
          </p:txBody>
        </p:sp>
        <p:sp>
          <p:nvSpPr>
            <p:cNvPr id="10" name="TextBox 10"/>
            <p:cNvSpPr txBox="1"/>
            <p:nvPr/>
          </p:nvSpPr>
          <p:spPr>
            <a:xfrm>
              <a:off x="600456" y="2129790"/>
              <a:ext cx="5596128" cy="923544"/>
            </a:xfrm>
            <a:prstGeom prst="rect">
              <a:avLst/>
            </a:prstGeom>
            <a:noFill/>
            <a:ln>
              <a:noFill/>
            </a:ln>
          </p:spPr>
          <p:txBody>
            <a:bodyPr wrap="none" lIns="0" tIns="0" rIns="0" bIns="0" anchor="t" anchorCtr="0">
              <a:spAutoFit/>
            </a:bodyPr>
            <a:lstStyle/>
            <a:p>
              <a:pPr algn="l">
                <a:lnSpc>
                  <a:spcPts val="2250"/>
                </a:lnSpc>
              </a:pPr>
              <a:r>
                <a:rPr lang="en-US" sz="1800" dirty="0">
                  <a:solidFill>
                    <a:schemeClr val="dk1"/>
                  </a:solidFill>
                  <a:latin typeface="+mn-lt"/>
                  <a:ea typeface="+mn-ea"/>
                  <a:cs typeface="+mn-cs"/>
                </a:rPr>
                <a:t>The W3C’s text-contrast rule is defined purely by</a:t>
              </a:r>
              <a:br/>
              <a:r>
                <a:rPr lang="en-US" sz="1800" dirty="0">
                  <a:solidFill>
                    <a:schemeClr val="dk1"/>
                  </a:solidFill>
                  <a:latin typeface="+mn-lt"/>
                  <a:ea typeface="+mn-ea"/>
                  <a:cs typeface="+mn-cs"/>
                </a:rPr>
                <a:t xml:space="preserve">relative luminance. There is </a:t>
              </a:r>
              <a:r>
                <a:rPr lang="en-US" sz="1800" b="1" dirty="0">
                  <a:solidFill>
                    <a:schemeClr val="accent2"/>
                  </a:solidFill>
                  <a:latin typeface="+mn-lt"/>
                  <a:ea typeface="+mn-ea"/>
                  <a:cs typeface="+mn-cs"/>
                </a:rPr>
                <a:t>no hue term</a:t>
              </a:r>
              <a:r>
                <a:rPr lang="en-US" sz="1800" dirty="0">
                  <a:solidFill>
                    <a:schemeClr val="dk1"/>
                  </a:solidFill>
                  <a:latin typeface="+mn-lt"/>
                  <a:ea typeface="+mn-ea"/>
                  <a:cs typeface="+mn-cs"/>
                </a:rPr>
                <a:t xml:space="preserve"> and no</a:t>
              </a:r>
              <a:br/>
              <a:r>
                <a:rPr lang="en-US" sz="1800" dirty="0">
                  <a:solidFill>
                    <a:schemeClr val="dk1"/>
                  </a:solidFill>
                  <a:latin typeface="+mn-lt"/>
                  <a:ea typeface="+mn-ea"/>
                  <a:cs typeface="+mn-cs"/>
                </a:rPr>
                <a:t>saturation term in it.</a:t>
              </a:r>
            </a:p>
          </p:txBody>
        </p:sp>
      </p:grpSp>
      <p:grpSp>
        <p:nvGrpSpPr>
          <p:cNvPr id="14" name="Group 14"/>
          <p:cNvGrpSpPr/>
          <p:nvPr/>
        </p:nvGrpSpPr>
        <p:grpSpPr>
          <a:xfrm>
            <a:off x="609600" y="3143250"/>
            <a:ext cx="6057900" cy="419100"/>
            <a:chOff x="609600" y="3143250"/>
            <a:chExt cx="6057900" cy="419100"/>
          </a:xfrm>
        </p:grpSpPr>
        <p:sp>
          <p:nvSpPr>
            <p:cNvPr id="12" name="Rectangle 12"/>
            <p:cNvSpPr/>
            <p:nvPr/>
          </p:nvSpPr>
          <p:spPr>
            <a:xfrm>
              <a:off x="609600" y="3143250"/>
              <a:ext cx="6057900" cy="419100"/>
            </a:xfrm>
            <a:prstGeom prst="rect">
              <a:avLst/>
            </a:prstGeom>
            <a:solidFill>
              <a:schemeClr val="lt2"/>
            </a:solidFill>
            <a:ln>
              <a:noFill/>
            </a:ln>
          </p:spPr>
        </p:sp>
        <p:sp>
          <p:nvSpPr>
            <p:cNvPr id="13" name="TextBox 13"/>
            <p:cNvSpPr txBox="1"/>
            <p:nvPr/>
          </p:nvSpPr>
          <p:spPr>
            <a:xfrm>
              <a:off x="791718" y="3231832"/>
              <a:ext cx="4405579"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Consolas"/>
                  <a:ea typeface="Consolas"/>
                  <a:cs typeface="Consolas"/>
                </a:rPr>
                <a:t>L = 0.2126 R + 0.7152 G + 0.0722 B</a:t>
              </a:r>
            </a:p>
          </p:txBody>
        </p:sp>
      </p:grpSp>
      <p:grpSp>
        <p:nvGrpSpPr>
          <p:cNvPr id="22" name="Group 22"/>
          <p:cNvGrpSpPr/>
          <p:nvPr/>
        </p:nvGrpSpPr>
        <p:grpSpPr>
          <a:xfrm>
            <a:off x="609600" y="3759518"/>
            <a:ext cx="5961431" cy="1303972"/>
            <a:chOff x="609600" y="3759518"/>
            <a:chExt cx="5961431" cy="1303972"/>
          </a:xfrm>
        </p:grpSpPr>
        <p:grpSp>
          <p:nvGrpSpPr>
            <p:cNvPr id="17" name="Group 17"/>
            <p:cNvGrpSpPr/>
            <p:nvPr/>
          </p:nvGrpSpPr>
          <p:grpSpPr>
            <a:xfrm>
              <a:off x="638175" y="3762375"/>
              <a:ext cx="171450" cy="171450"/>
              <a:chOff x="638175" y="3762375"/>
              <a:chExt cx="171450" cy="171450"/>
            </a:xfrm>
          </p:grpSpPr>
          <p:sp>
            <p:nvSpPr>
              <p:cNvPr id="15" name="Freeform 15"/>
              <p:cNvSpPr/>
              <p:nvPr/>
            </p:nvSpPr>
            <p:spPr>
              <a:xfrm>
                <a:off x="638175" y="3762375"/>
                <a:ext cx="171450" cy="171450"/>
              </a:xfrm>
              <a:custGeom>
                <a:avLst/>
                <a:gdLst/>
                <a:ahLst/>
                <a:cxnLst/>
                <a:rect l="l" t="t" r="r" b="b"/>
                <a:pathLst>
                  <a:path w="171450" h="17145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rgbClr val="C62828"/>
                </a:solidFill>
              </a:ln>
            </p:spPr>
          </p:sp>
          <p:sp>
            <p:nvSpPr>
              <p:cNvPr id="16" name="Freeform 16"/>
              <p:cNvSpPr/>
              <p:nvPr/>
            </p:nvSpPr>
            <p:spPr>
              <a:xfrm>
                <a:off x="704850" y="3829050"/>
                <a:ext cx="38100" cy="38100"/>
              </a:xfrm>
              <a:custGeom>
                <a:avLst/>
                <a:gdLst/>
                <a:ahLst/>
                <a:cxnLst/>
                <a:rect l="l" t="t" r="r" b="b"/>
                <a:pathLst>
                  <a:path w="38100" h="38100">
                    <a:moveTo>
                      <a:pt x="0" y="0"/>
                    </a:moveTo>
                    <a:lnTo>
                      <a:pt x="38100" y="38100"/>
                    </a:lnTo>
                    <a:moveTo>
                      <a:pt x="38100" y="0"/>
                    </a:moveTo>
                    <a:lnTo>
                      <a:pt x="0" y="38100"/>
                    </a:lnTo>
                  </a:path>
                </a:pathLst>
              </a:custGeom>
              <a:noFill/>
              <a:ln w="19050">
                <a:solidFill>
                  <a:srgbClr val="C62828"/>
                </a:solidFill>
              </a:ln>
            </p:spPr>
          </p:sp>
        </p:grpSp>
        <p:sp>
          <p:nvSpPr>
            <p:cNvPr id="18" name="TextBox 18"/>
            <p:cNvSpPr txBox="1"/>
            <p:nvPr/>
          </p:nvSpPr>
          <p:spPr>
            <a:xfrm>
              <a:off x="926592" y="3759518"/>
              <a:ext cx="4600883" cy="264033"/>
            </a:xfrm>
            <a:prstGeom prst="rect">
              <a:avLst/>
            </a:prstGeom>
            <a:noFill/>
            <a:ln>
              <a:noFill/>
            </a:ln>
          </p:spPr>
          <p:txBody>
            <a:bodyPr wrap="none" lIns="0" tIns="0" rIns="0" bIns="0" anchor="t" anchorCtr="0">
              <a:spAutoFit/>
            </a:bodyPr>
            <a:lstStyle/>
            <a:p>
              <a:pPr algn="l"/>
              <a:r>
                <a:rPr lang="en-US" sz="1350" b="1" dirty="0">
                  <a:solidFill>
                    <a:srgbClr val="C62828"/>
                  </a:solidFill>
                  <a:latin typeface="+mn-lt"/>
                  <a:ea typeface="+mn-ea"/>
                  <a:cs typeface="+mn-cs"/>
                </a:rPr>
                <a:t>FAIL — far apart in hue, almost equal in luminance</a:t>
              </a:r>
            </a:p>
          </p:txBody>
        </p:sp>
        <p:sp>
          <p:nvSpPr>
            <p:cNvPr id="19" name="Rectangle 19"/>
            <p:cNvSpPr/>
            <p:nvPr/>
          </p:nvSpPr>
          <p:spPr>
            <a:xfrm>
              <a:off x="609600" y="4038600"/>
              <a:ext cx="3619500" cy="838200"/>
            </a:xfrm>
            <a:prstGeom prst="rect">
              <a:avLst/>
            </a:prstGeom>
            <a:solidFill>
              <a:srgbClr val="C62828"/>
            </a:solidFill>
            <a:ln>
              <a:noFill/>
            </a:ln>
          </p:spPr>
        </p:sp>
        <p:sp>
          <p:nvSpPr>
            <p:cNvPr id="20" name="TextBox 20"/>
            <p:cNvSpPr txBox="1"/>
            <p:nvPr/>
          </p:nvSpPr>
          <p:spPr>
            <a:xfrm>
              <a:off x="1683201" y="4312920"/>
              <a:ext cx="1472298" cy="469392"/>
            </a:xfrm>
            <a:prstGeom prst="rect">
              <a:avLst/>
            </a:prstGeom>
            <a:noFill/>
            <a:ln>
              <a:noFill/>
            </a:ln>
          </p:spPr>
          <p:txBody>
            <a:bodyPr wrap="none" lIns="0" tIns="0" rIns="0" bIns="0" anchor="t" anchorCtr="0">
              <a:spAutoFit/>
            </a:bodyPr>
            <a:lstStyle/>
            <a:p>
              <a:pPr algn="ctr"/>
              <a:r>
                <a:rPr lang="en-US" sz="2400" dirty="0">
                  <a:solidFill>
                    <a:srgbClr val="2E7D32"/>
                  </a:solidFill>
                  <a:latin typeface="+mn-lt"/>
                  <a:ea typeface="+mn-ea"/>
                  <a:cs typeface="+mn-cs"/>
                </a:rPr>
                <a:t>Read this</a:t>
              </a:r>
            </a:p>
          </p:txBody>
        </p:sp>
        <p:sp>
          <p:nvSpPr>
            <p:cNvPr id="21" name="TextBox 21"/>
            <p:cNvSpPr txBox="1"/>
            <p:nvPr/>
          </p:nvSpPr>
          <p:spPr>
            <a:xfrm>
              <a:off x="4400550" y="4130040"/>
              <a:ext cx="2170481" cy="933450"/>
            </a:xfrm>
            <a:prstGeom prst="rect">
              <a:avLst/>
            </a:prstGeom>
            <a:noFill/>
            <a:ln>
              <a:noFill/>
            </a:ln>
          </p:spPr>
          <p:txBody>
            <a:bodyPr wrap="none" lIns="0" tIns="0" rIns="0" bIns="0" anchor="t" anchorCtr="0">
              <a:spAutoFit/>
            </a:bodyPr>
            <a:lstStyle/>
            <a:p>
              <a:pPr algn="l"/>
              <a:r>
                <a:rPr lang="en-US" sz="4800" dirty="0">
                  <a:solidFill>
                    <a:srgbClr val="C62828"/>
                  </a:solidFill>
                  <a:latin typeface="Consolas"/>
                  <a:ea typeface="Consolas"/>
                  <a:cs typeface="Consolas"/>
                </a:rPr>
                <a:t>1.10:1</a:t>
              </a:r>
            </a:p>
          </p:txBody>
        </p:sp>
      </p:grpSp>
      <p:grpSp>
        <p:nvGrpSpPr>
          <p:cNvPr id="30" name="Group 30"/>
          <p:cNvGrpSpPr/>
          <p:nvPr/>
        </p:nvGrpSpPr>
        <p:grpSpPr>
          <a:xfrm>
            <a:off x="609600" y="5054918"/>
            <a:ext cx="5961431" cy="1303972"/>
            <a:chOff x="609600" y="5054918"/>
            <a:chExt cx="5961431" cy="1303972"/>
          </a:xfrm>
        </p:grpSpPr>
        <p:grpSp>
          <p:nvGrpSpPr>
            <p:cNvPr id="25" name="Group 25"/>
            <p:cNvGrpSpPr/>
            <p:nvPr/>
          </p:nvGrpSpPr>
          <p:grpSpPr>
            <a:xfrm>
              <a:off x="638175" y="5057775"/>
              <a:ext cx="171450" cy="171450"/>
              <a:chOff x="638175" y="5057775"/>
              <a:chExt cx="171450" cy="171450"/>
            </a:xfrm>
          </p:grpSpPr>
          <p:sp>
            <p:nvSpPr>
              <p:cNvPr id="23" name="Freeform 23"/>
              <p:cNvSpPr/>
              <p:nvPr/>
            </p:nvSpPr>
            <p:spPr>
              <a:xfrm>
                <a:off x="638175" y="5057775"/>
                <a:ext cx="171450" cy="171450"/>
              </a:xfrm>
              <a:custGeom>
                <a:avLst/>
                <a:gdLst/>
                <a:ahLst/>
                <a:cxnLst/>
                <a:rect l="l" t="t" r="r" b="b"/>
                <a:pathLst>
                  <a:path w="171450" h="17145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rgbClr val="2E7D32"/>
                </a:solidFill>
              </a:ln>
            </p:spPr>
          </p:sp>
          <p:sp>
            <p:nvSpPr>
              <p:cNvPr id="24" name="Freeform 24"/>
              <p:cNvSpPr/>
              <p:nvPr/>
            </p:nvSpPr>
            <p:spPr>
              <a:xfrm>
                <a:off x="695325" y="5124450"/>
                <a:ext cx="57150" cy="38100"/>
              </a:xfrm>
              <a:custGeom>
                <a:avLst/>
                <a:gdLst/>
                <a:ahLst/>
                <a:cxnLst/>
                <a:rect l="l" t="t" r="r" b="b"/>
                <a:pathLst>
                  <a:path w="57150" h="38100">
                    <a:moveTo>
                      <a:pt x="0" y="19050"/>
                    </a:moveTo>
                    <a:lnTo>
                      <a:pt x="19050" y="38100"/>
                    </a:lnTo>
                    <a:lnTo>
                      <a:pt x="57150" y="0"/>
                    </a:lnTo>
                  </a:path>
                </a:pathLst>
              </a:custGeom>
              <a:noFill/>
              <a:ln w="19050">
                <a:solidFill>
                  <a:srgbClr val="2E7D32"/>
                </a:solidFill>
              </a:ln>
            </p:spPr>
          </p:sp>
        </p:grpSp>
        <p:sp>
          <p:nvSpPr>
            <p:cNvPr id="26" name="TextBox 26"/>
            <p:cNvSpPr txBox="1"/>
            <p:nvPr/>
          </p:nvSpPr>
          <p:spPr>
            <a:xfrm>
              <a:off x="926592" y="5054918"/>
              <a:ext cx="3552288" cy="264033"/>
            </a:xfrm>
            <a:prstGeom prst="rect">
              <a:avLst/>
            </a:prstGeom>
            <a:noFill/>
            <a:ln>
              <a:noFill/>
            </a:ln>
          </p:spPr>
          <p:txBody>
            <a:bodyPr wrap="none" lIns="0" tIns="0" rIns="0" bIns="0" anchor="t" anchorCtr="0">
              <a:spAutoFit/>
            </a:bodyPr>
            <a:lstStyle/>
            <a:p>
              <a:pPr algn="l"/>
              <a:r>
                <a:rPr lang="en-US" sz="1350" b="1" dirty="0">
                  <a:solidFill>
                    <a:srgbClr val="2E7D32"/>
                  </a:solidFill>
                  <a:latin typeface="+mn-lt"/>
                  <a:ea typeface="+mn-ea"/>
                  <a:cs typeface="+mn-cs"/>
                </a:rPr>
                <a:t>PASS — one hue, far apart in lightness</a:t>
              </a:r>
            </a:p>
          </p:txBody>
        </p:sp>
        <p:sp>
          <p:nvSpPr>
            <p:cNvPr id="27" name="Rectangle 27"/>
            <p:cNvSpPr/>
            <p:nvPr/>
          </p:nvSpPr>
          <p:spPr>
            <a:xfrm>
              <a:off x="609600" y="5334000"/>
              <a:ext cx="3619500" cy="838200"/>
            </a:xfrm>
            <a:prstGeom prst="rect">
              <a:avLst/>
            </a:prstGeom>
            <a:solidFill>
              <a:srgbClr val="17323F"/>
            </a:solidFill>
            <a:ln>
              <a:noFill/>
            </a:ln>
          </p:spPr>
        </p:sp>
        <p:sp>
          <p:nvSpPr>
            <p:cNvPr id="28" name="TextBox 28"/>
            <p:cNvSpPr txBox="1"/>
            <p:nvPr/>
          </p:nvSpPr>
          <p:spPr>
            <a:xfrm>
              <a:off x="1683201" y="5608320"/>
              <a:ext cx="1472298" cy="469392"/>
            </a:xfrm>
            <a:prstGeom prst="rect">
              <a:avLst/>
            </a:prstGeom>
            <a:noFill/>
            <a:ln>
              <a:noFill/>
            </a:ln>
          </p:spPr>
          <p:txBody>
            <a:bodyPr wrap="none" lIns="0" tIns="0" rIns="0" bIns="0" anchor="t" anchorCtr="0">
              <a:spAutoFit/>
            </a:bodyPr>
            <a:lstStyle/>
            <a:p>
              <a:pPr algn="ctr"/>
              <a:r>
                <a:rPr lang="en-US" sz="2400" dirty="0">
                  <a:solidFill>
                    <a:srgbClr val="CFE0E8"/>
                  </a:solidFill>
                  <a:latin typeface="+mn-lt"/>
                  <a:ea typeface="+mn-ea"/>
                  <a:cs typeface="+mn-cs"/>
                </a:rPr>
                <a:t>Read this</a:t>
              </a:r>
            </a:p>
          </p:txBody>
        </p:sp>
        <p:sp>
          <p:nvSpPr>
            <p:cNvPr id="29" name="TextBox 29"/>
            <p:cNvSpPr txBox="1"/>
            <p:nvPr/>
          </p:nvSpPr>
          <p:spPr>
            <a:xfrm>
              <a:off x="4400550" y="5425440"/>
              <a:ext cx="2170481" cy="933450"/>
            </a:xfrm>
            <a:prstGeom prst="rect">
              <a:avLst/>
            </a:prstGeom>
            <a:noFill/>
            <a:ln>
              <a:noFill/>
            </a:ln>
          </p:spPr>
          <p:txBody>
            <a:bodyPr wrap="none" lIns="0" tIns="0" rIns="0" bIns="0" anchor="t" anchorCtr="0">
              <a:spAutoFit/>
            </a:bodyPr>
            <a:lstStyle/>
            <a:p>
              <a:pPr algn="l"/>
              <a:r>
                <a:rPr lang="en-US" sz="4800" dirty="0">
                  <a:solidFill>
                    <a:srgbClr val="2E7D32"/>
                  </a:solidFill>
                  <a:latin typeface="Consolas"/>
                  <a:ea typeface="Consolas"/>
                  <a:cs typeface="Consolas"/>
                </a:rPr>
                <a:t>9.90:1</a:t>
              </a:r>
            </a:p>
          </p:txBody>
        </p:sp>
      </p:grpSp>
      <p:grpSp>
        <p:nvGrpSpPr>
          <p:cNvPr id="48" name="!!hue-wheel"/>
          <p:cNvGrpSpPr/>
          <p:nvPr/>
        </p:nvGrpSpPr>
        <p:grpSpPr>
          <a:xfrm>
            <a:off x="7232142" y="1816418"/>
            <a:ext cx="3150108" cy="3826383"/>
            <a:chOff x="7232142" y="1816418"/>
            <a:chExt cx="3150108" cy="3826383"/>
          </a:xfrm>
        </p:grpSpPr>
        <p:sp>
          <p:nvSpPr>
            <p:cNvPr id="31" name="TextBox 31"/>
            <p:cNvSpPr txBox="1"/>
            <p:nvPr/>
          </p:nvSpPr>
          <p:spPr>
            <a:xfrm>
              <a:off x="7232142" y="1816418"/>
              <a:ext cx="2936938" cy="473583"/>
            </a:xfrm>
            <a:prstGeom prst="rect">
              <a:avLst/>
            </a:prstGeom>
            <a:noFill/>
            <a:ln>
              <a:noFill/>
            </a:ln>
          </p:spPr>
          <p:txBody>
            <a:bodyPr wrap="none" lIns="0" tIns="0" rIns="0" bIns="0" anchor="t" anchorCtr="0">
              <a:spAutoFit/>
            </a:bodyPr>
            <a:lstStyle/>
            <a:p>
              <a:pPr algn="l">
                <a:lnSpc>
                  <a:spcPts val="1650"/>
                </a:lnSpc>
              </a:pPr>
              <a:r>
                <a:rPr lang="en-US" sz="1350" dirty="0">
                  <a:solidFill>
                    <a:schemeClr val="accent5"/>
                  </a:solidFill>
                  <a:latin typeface="+mn-lt"/>
                  <a:ea typeface="+mn-ea"/>
                  <a:cs typeface="+mn-cs"/>
                </a:rPr>
                <a:t>The same wheel, with only the part</a:t>
              </a:r>
              <a:br/>
              <a:r>
                <a:rPr lang="en-US" sz="1350" dirty="0">
                  <a:solidFill>
                    <a:schemeClr val="accent5"/>
                  </a:solidFill>
                  <a:latin typeface="+mn-lt"/>
                  <a:ea typeface="+mn-ea"/>
                  <a:cs typeface="+mn-cs"/>
                </a:rPr>
                <a:t>the rule actually measures left.</a:t>
              </a:r>
            </a:p>
          </p:txBody>
        </p:sp>
        <p:sp>
          <p:nvSpPr>
            <p:cNvPr id="32" name="Freeform 32"/>
            <p:cNvSpPr/>
            <p:nvPr/>
          </p:nvSpPr>
          <p:spPr>
            <a:xfrm>
              <a:off x="8953500" y="2305050"/>
              <a:ext cx="714375" cy="669893"/>
            </a:xfrm>
            <a:custGeom>
              <a:avLst/>
              <a:gdLst/>
              <a:ahLst/>
              <a:cxnLst/>
              <a:rect l="l" t="t" r="r" b="b"/>
              <a:pathLst>
                <a:path w="714375" h="669893">
                  <a:moveTo>
                    <a:pt x="0" y="0"/>
                  </a:moveTo>
                  <a:cubicBezTo>
                    <a:pt x="250801" y="11"/>
                    <a:pt x="497181" y="66041"/>
                    <a:pt x="714375" y="191453"/>
                  </a:cubicBezTo>
                  <a:lnTo>
                    <a:pt x="438150" y="669893"/>
                  </a:lnTo>
                  <a:cubicBezTo>
                    <a:pt x="304940" y="592967"/>
                    <a:pt x="153827" y="552463"/>
                    <a:pt x="0" y="552450"/>
                  </a:cubicBezTo>
                  <a:close/>
                </a:path>
              </a:pathLst>
            </a:custGeom>
            <a:solidFill>
              <a:srgbClr val="6F6F6F"/>
            </a:solidFill>
            <a:ln>
              <a:noFill/>
            </a:ln>
          </p:spPr>
        </p:sp>
        <p:sp>
          <p:nvSpPr>
            <p:cNvPr id="33" name="Freeform 33"/>
            <p:cNvSpPr/>
            <p:nvPr/>
          </p:nvSpPr>
          <p:spPr>
            <a:xfrm>
              <a:off x="9391650" y="2496502"/>
              <a:ext cx="799147" cy="799147"/>
            </a:xfrm>
            <a:custGeom>
              <a:avLst/>
              <a:gdLst/>
              <a:ahLst/>
              <a:cxnLst/>
              <a:rect l="l" t="t" r="r" b="b"/>
              <a:pathLst>
                <a:path w="799147" h="799147">
                  <a:moveTo>
                    <a:pt x="276225" y="0"/>
                  </a:moveTo>
                  <a:cubicBezTo>
                    <a:pt x="493405" y="125394"/>
                    <a:pt x="673753" y="305743"/>
                    <a:pt x="799147" y="522922"/>
                  </a:cubicBezTo>
                  <a:lnTo>
                    <a:pt x="320707" y="799147"/>
                  </a:lnTo>
                  <a:cubicBezTo>
                    <a:pt x="243801" y="665953"/>
                    <a:pt x="133194" y="555346"/>
                    <a:pt x="0" y="478441"/>
                  </a:cubicBezTo>
                  <a:close/>
                </a:path>
              </a:pathLst>
            </a:custGeom>
            <a:solidFill>
              <a:srgbClr val="959595"/>
            </a:solidFill>
            <a:ln>
              <a:noFill/>
            </a:ln>
          </p:spPr>
        </p:sp>
        <p:sp>
          <p:nvSpPr>
            <p:cNvPr id="34" name="Freeform 34"/>
            <p:cNvSpPr/>
            <p:nvPr/>
          </p:nvSpPr>
          <p:spPr>
            <a:xfrm>
              <a:off x="9712357" y="3019425"/>
              <a:ext cx="669893" cy="714375"/>
            </a:xfrm>
            <a:custGeom>
              <a:avLst/>
              <a:gdLst/>
              <a:ahLst/>
              <a:cxnLst/>
              <a:rect l="l" t="t" r="r" b="b"/>
              <a:pathLst>
                <a:path w="669893" h="714375">
                  <a:moveTo>
                    <a:pt x="478441" y="0"/>
                  </a:moveTo>
                  <a:cubicBezTo>
                    <a:pt x="603852" y="217194"/>
                    <a:pt x="669882" y="463574"/>
                    <a:pt x="669893" y="714375"/>
                  </a:cubicBezTo>
                  <a:lnTo>
                    <a:pt x="117443" y="714375"/>
                  </a:lnTo>
                  <a:cubicBezTo>
                    <a:pt x="117431" y="560548"/>
                    <a:pt x="76926" y="409435"/>
                    <a:pt x="0" y="276225"/>
                  </a:cubicBezTo>
                  <a:close/>
                </a:path>
              </a:pathLst>
            </a:custGeom>
            <a:solidFill>
              <a:srgbClr val="CFCFCF"/>
            </a:solidFill>
            <a:ln>
              <a:noFill/>
            </a:ln>
          </p:spPr>
        </p:sp>
        <p:sp>
          <p:nvSpPr>
            <p:cNvPr id="35" name="Freeform 35"/>
            <p:cNvSpPr/>
            <p:nvPr/>
          </p:nvSpPr>
          <p:spPr>
            <a:xfrm>
              <a:off x="9712357" y="3733800"/>
              <a:ext cx="669893" cy="714375"/>
            </a:xfrm>
            <a:custGeom>
              <a:avLst/>
              <a:gdLst/>
              <a:ahLst/>
              <a:cxnLst/>
              <a:rect l="l" t="t" r="r" b="b"/>
              <a:pathLst>
                <a:path w="669893" h="714375">
                  <a:moveTo>
                    <a:pt x="669893" y="0"/>
                  </a:moveTo>
                  <a:cubicBezTo>
                    <a:pt x="669882" y="250801"/>
                    <a:pt x="603852" y="497181"/>
                    <a:pt x="478441" y="714375"/>
                  </a:cubicBezTo>
                  <a:lnTo>
                    <a:pt x="0" y="438150"/>
                  </a:lnTo>
                  <a:cubicBezTo>
                    <a:pt x="76926" y="304940"/>
                    <a:pt x="117431" y="153827"/>
                    <a:pt x="117443" y="0"/>
                  </a:cubicBezTo>
                  <a:close/>
                </a:path>
              </a:pathLst>
            </a:custGeom>
            <a:solidFill>
              <a:srgbClr val="C0C0C0"/>
            </a:solidFill>
            <a:ln>
              <a:noFill/>
            </a:ln>
          </p:spPr>
        </p:sp>
        <p:sp>
          <p:nvSpPr>
            <p:cNvPr id="36" name="Freeform 36"/>
            <p:cNvSpPr/>
            <p:nvPr/>
          </p:nvSpPr>
          <p:spPr>
            <a:xfrm>
              <a:off x="9391650" y="4171950"/>
              <a:ext cx="799148" cy="799147"/>
            </a:xfrm>
            <a:custGeom>
              <a:avLst/>
              <a:gdLst/>
              <a:ahLst/>
              <a:cxnLst/>
              <a:rect l="l" t="t" r="r" b="b"/>
              <a:pathLst>
                <a:path w="799148" h="799147">
                  <a:moveTo>
                    <a:pt x="799148" y="276225"/>
                  </a:moveTo>
                  <a:cubicBezTo>
                    <a:pt x="673753" y="493405"/>
                    <a:pt x="493405" y="673753"/>
                    <a:pt x="276225" y="799147"/>
                  </a:cubicBezTo>
                  <a:lnTo>
                    <a:pt x="0" y="320707"/>
                  </a:lnTo>
                  <a:cubicBezTo>
                    <a:pt x="133194" y="243801"/>
                    <a:pt x="243801" y="133194"/>
                    <a:pt x="320707" y="0"/>
                  </a:cubicBezTo>
                  <a:close/>
                </a:path>
              </a:pathLst>
            </a:custGeom>
            <a:solidFill>
              <a:srgbClr val="B9B9B9"/>
            </a:solidFill>
            <a:ln>
              <a:noFill/>
            </a:ln>
          </p:spPr>
        </p:sp>
        <p:sp>
          <p:nvSpPr>
            <p:cNvPr id="37" name="Freeform 37"/>
            <p:cNvSpPr/>
            <p:nvPr/>
          </p:nvSpPr>
          <p:spPr>
            <a:xfrm>
              <a:off x="8953500" y="4492657"/>
              <a:ext cx="714375" cy="669893"/>
            </a:xfrm>
            <a:custGeom>
              <a:avLst/>
              <a:gdLst/>
              <a:ahLst/>
              <a:cxnLst/>
              <a:rect l="l" t="t" r="r" b="b"/>
              <a:pathLst>
                <a:path w="714375" h="669893">
                  <a:moveTo>
                    <a:pt x="714375" y="478441"/>
                  </a:moveTo>
                  <a:cubicBezTo>
                    <a:pt x="497181" y="603852"/>
                    <a:pt x="250801" y="669882"/>
                    <a:pt x="0" y="669893"/>
                  </a:cubicBezTo>
                  <a:lnTo>
                    <a:pt x="0" y="117443"/>
                  </a:lnTo>
                  <a:cubicBezTo>
                    <a:pt x="153827" y="117431"/>
                    <a:pt x="304940" y="76926"/>
                    <a:pt x="438150" y="0"/>
                  </a:cubicBezTo>
                  <a:close/>
                </a:path>
              </a:pathLst>
            </a:custGeom>
            <a:solidFill>
              <a:srgbClr val="BCBCBC"/>
            </a:solidFill>
            <a:ln>
              <a:noFill/>
            </a:ln>
          </p:spPr>
        </p:sp>
        <p:sp>
          <p:nvSpPr>
            <p:cNvPr id="38" name="Freeform 38"/>
            <p:cNvSpPr/>
            <p:nvPr/>
          </p:nvSpPr>
          <p:spPr>
            <a:xfrm>
              <a:off x="8239125" y="4492657"/>
              <a:ext cx="714375" cy="669893"/>
            </a:xfrm>
            <a:custGeom>
              <a:avLst/>
              <a:gdLst/>
              <a:ahLst/>
              <a:cxnLst/>
              <a:rect l="l" t="t" r="r" b="b"/>
              <a:pathLst>
                <a:path w="714375" h="669893">
                  <a:moveTo>
                    <a:pt x="714375" y="669893"/>
                  </a:moveTo>
                  <a:cubicBezTo>
                    <a:pt x="463574" y="669882"/>
                    <a:pt x="217194" y="603852"/>
                    <a:pt x="0" y="478441"/>
                  </a:cubicBezTo>
                  <a:lnTo>
                    <a:pt x="276225" y="0"/>
                  </a:lnTo>
                  <a:cubicBezTo>
                    <a:pt x="409435" y="76926"/>
                    <a:pt x="560548" y="117431"/>
                    <a:pt x="714375" y="117443"/>
                  </a:cubicBezTo>
                  <a:close/>
                </a:path>
              </a:pathLst>
            </a:custGeom>
            <a:solidFill>
              <a:srgbClr val="C1C1C1"/>
            </a:solidFill>
            <a:ln>
              <a:noFill/>
            </a:ln>
          </p:spPr>
        </p:sp>
        <p:sp>
          <p:nvSpPr>
            <p:cNvPr id="39" name="Freeform 39"/>
            <p:cNvSpPr/>
            <p:nvPr/>
          </p:nvSpPr>
          <p:spPr>
            <a:xfrm>
              <a:off x="7716202" y="4171950"/>
              <a:ext cx="799147" cy="799147"/>
            </a:xfrm>
            <a:custGeom>
              <a:avLst/>
              <a:gdLst/>
              <a:ahLst/>
              <a:cxnLst/>
              <a:rect l="l" t="t" r="r" b="b"/>
              <a:pathLst>
                <a:path w="799147" h="799147">
                  <a:moveTo>
                    <a:pt x="522923" y="799147"/>
                  </a:moveTo>
                  <a:cubicBezTo>
                    <a:pt x="305743" y="673753"/>
                    <a:pt x="125394" y="493405"/>
                    <a:pt x="0" y="276225"/>
                  </a:cubicBezTo>
                  <a:lnTo>
                    <a:pt x="478441" y="0"/>
                  </a:lnTo>
                  <a:cubicBezTo>
                    <a:pt x="555346" y="133194"/>
                    <a:pt x="665953" y="243801"/>
                    <a:pt x="799147" y="320707"/>
                  </a:cubicBezTo>
                  <a:close/>
                </a:path>
              </a:pathLst>
            </a:custGeom>
            <a:solidFill>
              <a:srgbClr val="7D7D7D"/>
            </a:solidFill>
            <a:ln>
              <a:noFill/>
            </a:ln>
          </p:spPr>
        </p:sp>
        <p:sp>
          <p:nvSpPr>
            <p:cNvPr id="40" name="Freeform 40"/>
            <p:cNvSpPr/>
            <p:nvPr/>
          </p:nvSpPr>
          <p:spPr>
            <a:xfrm>
              <a:off x="7524750" y="3733800"/>
              <a:ext cx="669893" cy="714375"/>
            </a:xfrm>
            <a:custGeom>
              <a:avLst/>
              <a:gdLst/>
              <a:ahLst/>
              <a:cxnLst/>
              <a:rect l="l" t="t" r="r" b="b"/>
              <a:pathLst>
                <a:path w="669893" h="714375">
                  <a:moveTo>
                    <a:pt x="191453" y="714375"/>
                  </a:moveTo>
                  <a:cubicBezTo>
                    <a:pt x="66041" y="497181"/>
                    <a:pt x="11" y="250801"/>
                    <a:pt x="0" y="0"/>
                  </a:cubicBezTo>
                  <a:lnTo>
                    <a:pt x="552450" y="0"/>
                  </a:lnTo>
                  <a:cubicBezTo>
                    <a:pt x="552463" y="153827"/>
                    <a:pt x="592967" y="304940"/>
                    <a:pt x="669893" y="438150"/>
                  </a:cubicBezTo>
                  <a:close/>
                </a:path>
              </a:pathLst>
            </a:custGeom>
            <a:solidFill>
              <a:srgbClr val="4A4A4A"/>
            </a:solidFill>
            <a:ln>
              <a:noFill/>
            </a:ln>
          </p:spPr>
        </p:sp>
        <p:sp>
          <p:nvSpPr>
            <p:cNvPr id="41" name="Freeform 41"/>
            <p:cNvSpPr/>
            <p:nvPr/>
          </p:nvSpPr>
          <p:spPr>
            <a:xfrm>
              <a:off x="7524750" y="3019425"/>
              <a:ext cx="669893" cy="714375"/>
            </a:xfrm>
            <a:custGeom>
              <a:avLst/>
              <a:gdLst/>
              <a:ahLst/>
              <a:cxnLst/>
              <a:rect l="l" t="t" r="r" b="b"/>
              <a:pathLst>
                <a:path w="669893" h="714375">
                  <a:moveTo>
                    <a:pt x="0" y="714375"/>
                  </a:moveTo>
                  <a:cubicBezTo>
                    <a:pt x="11" y="463574"/>
                    <a:pt x="66041" y="217194"/>
                    <a:pt x="191452" y="0"/>
                  </a:cubicBezTo>
                  <a:lnTo>
                    <a:pt x="669893" y="276225"/>
                  </a:lnTo>
                  <a:cubicBezTo>
                    <a:pt x="592967" y="409435"/>
                    <a:pt x="552463" y="560548"/>
                    <a:pt x="552450" y="714375"/>
                  </a:cubicBezTo>
                  <a:close/>
                </a:path>
              </a:pathLst>
            </a:custGeom>
            <a:solidFill>
              <a:srgbClr val="5D5D5D"/>
            </a:solidFill>
            <a:ln>
              <a:noFill/>
            </a:ln>
          </p:spPr>
        </p:sp>
        <p:sp>
          <p:nvSpPr>
            <p:cNvPr id="42" name="Freeform 42"/>
            <p:cNvSpPr/>
            <p:nvPr/>
          </p:nvSpPr>
          <p:spPr>
            <a:xfrm>
              <a:off x="7716202" y="2496503"/>
              <a:ext cx="799147" cy="799147"/>
            </a:xfrm>
            <a:custGeom>
              <a:avLst/>
              <a:gdLst/>
              <a:ahLst/>
              <a:cxnLst/>
              <a:rect l="l" t="t" r="r" b="b"/>
              <a:pathLst>
                <a:path w="799147" h="799147">
                  <a:moveTo>
                    <a:pt x="0" y="522922"/>
                  </a:moveTo>
                  <a:cubicBezTo>
                    <a:pt x="125394" y="305743"/>
                    <a:pt x="305743" y="125394"/>
                    <a:pt x="522922" y="0"/>
                  </a:cubicBezTo>
                  <a:lnTo>
                    <a:pt x="799147" y="478441"/>
                  </a:lnTo>
                  <a:cubicBezTo>
                    <a:pt x="665953" y="555346"/>
                    <a:pt x="555346" y="665953"/>
                    <a:pt x="478441" y="799147"/>
                  </a:cubicBezTo>
                  <a:close/>
                </a:path>
              </a:pathLst>
            </a:custGeom>
            <a:solidFill>
              <a:srgbClr val="7E7E7E"/>
            </a:solidFill>
            <a:ln>
              <a:noFill/>
            </a:ln>
          </p:spPr>
        </p:sp>
        <p:sp>
          <p:nvSpPr>
            <p:cNvPr id="43" name="Freeform 43"/>
            <p:cNvSpPr/>
            <p:nvPr/>
          </p:nvSpPr>
          <p:spPr>
            <a:xfrm>
              <a:off x="8239125" y="2305050"/>
              <a:ext cx="714375" cy="669893"/>
            </a:xfrm>
            <a:custGeom>
              <a:avLst/>
              <a:gdLst/>
              <a:ahLst/>
              <a:cxnLst/>
              <a:rect l="l" t="t" r="r" b="b"/>
              <a:pathLst>
                <a:path w="714375" h="669893">
                  <a:moveTo>
                    <a:pt x="0" y="191452"/>
                  </a:moveTo>
                  <a:cubicBezTo>
                    <a:pt x="217194" y="66041"/>
                    <a:pt x="463574" y="11"/>
                    <a:pt x="714375" y="0"/>
                  </a:cubicBezTo>
                  <a:lnTo>
                    <a:pt x="714375" y="552450"/>
                  </a:lnTo>
                  <a:cubicBezTo>
                    <a:pt x="560548" y="552463"/>
                    <a:pt x="409435" y="592967"/>
                    <a:pt x="276225" y="669893"/>
                  </a:cubicBezTo>
                  <a:close/>
                </a:path>
              </a:pathLst>
            </a:custGeom>
            <a:solidFill>
              <a:srgbClr val="747474"/>
            </a:solidFill>
            <a:ln>
              <a:noFill/>
            </a:ln>
          </p:spPr>
        </p:sp>
        <p:sp>
          <p:nvSpPr>
            <p:cNvPr id="44" name="Line 44"/>
            <p:cNvSpPr/>
            <p:nvPr/>
          </p:nvSpPr>
          <p:spPr>
            <a:xfrm>
              <a:off x="8655368" y="2620328"/>
              <a:ext cx="596265" cy="2226945"/>
            </a:xfrm>
            <a:custGeom>
              <a:avLst/>
              <a:gdLst/>
              <a:ahLst/>
              <a:cxnLst/>
              <a:rect l="l" t="t" r="r" b="b"/>
              <a:pathLst>
                <a:path w="596265" h="2226945">
                  <a:moveTo>
                    <a:pt x="596265" y="0"/>
                  </a:moveTo>
                  <a:lnTo>
                    <a:pt x="0" y="2226945"/>
                  </a:lnTo>
                </a:path>
              </a:pathLst>
            </a:custGeom>
            <a:noFill/>
            <a:ln w="19050">
              <a:solidFill>
                <a:schemeClr val="accent1"/>
              </a:solidFill>
            </a:ln>
          </p:spPr>
        </p:sp>
        <p:sp>
          <p:nvSpPr>
            <p:cNvPr id="45" name="Ellipse 45"/>
            <p:cNvSpPr/>
            <p:nvPr/>
          </p:nvSpPr>
          <p:spPr>
            <a:xfrm>
              <a:off x="9184958" y="2553652"/>
              <a:ext cx="133350" cy="133350"/>
            </a:xfrm>
            <a:prstGeom prst="ellipse">
              <a:avLst/>
            </a:prstGeom>
            <a:solidFill>
              <a:schemeClr val="accent1"/>
            </a:solidFill>
            <a:ln>
              <a:noFill/>
            </a:ln>
          </p:spPr>
        </p:sp>
        <p:sp>
          <p:nvSpPr>
            <p:cNvPr id="46" name="Ellipse 46"/>
            <p:cNvSpPr/>
            <p:nvPr/>
          </p:nvSpPr>
          <p:spPr>
            <a:xfrm>
              <a:off x="8588692" y="4780598"/>
              <a:ext cx="133350" cy="133350"/>
            </a:xfrm>
            <a:prstGeom prst="ellipse">
              <a:avLst/>
            </a:prstGeom>
            <a:solidFill>
              <a:schemeClr val="accent1"/>
            </a:solidFill>
            <a:ln>
              <a:noFill/>
            </a:ln>
          </p:spPr>
        </p:sp>
        <p:sp>
          <p:nvSpPr>
            <p:cNvPr id="47" name="TextBox 47"/>
            <p:cNvSpPr txBox="1"/>
            <p:nvPr/>
          </p:nvSpPr>
          <p:spPr>
            <a:xfrm>
              <a:off x="7633592" y="5378768"/>
              <a:ext cx="2639816" cy="264033"/>
            </a:xfrm>
            <a:prstGeom prst="rect">
              <a:avLst/>
            </a:prstGeom>
            <a:noFill/>
            <a:ln>
              <a:noFill/>
            </a:ln>
          </p:spPr>
          <p:txBody>
            <a:bodyPr wrap="none" lIns="0" tIns="0" rIns="0" bIns="0" anchor="t" anchorCtr="0">
              <a:spAutoFit/>
            </a:bodyPr>
            <a:lstStyle/>
            <a:p>
              <a:pPr algn="ctr"/>
              <a:r>
                <a:rPr lang="en-US" sz="1350" dirty="0">
                  <a:solidFill>
                    <a:schemeClr val="dk1"/>
                  </a:solidFill>
                  <a:latin typeface="+mn-lt"/>
                  <a:ea typeface="+mn-ea"/>
                  <a:cs typeface="+mn-cs"/>
                </a:rPr>
                <a:t xml:space="preserve">the same two wedges: </a:t>
              </a:r>
              <a:r>
                <a:rPr lang="en-US" sz="1350" b="1" dirty="0">
                  <a:solidFill>
                    <a:srgbClr val="C62828"/>
                  </a:solidFill>
                  <a:latin typeface="Consolas"/>
                  <a:ea typeface="Consolas"/>
                  <a:cs typeface="Consolas"/>
                </a:rPr>
                <a:t>2.78:1</a:t>
              </a:r>
            </a:p>
          </p:txBody>
        </p:sp>
      </p:grpSp>
      <p:grpSp>
        <p:nvGrpSpPr>
          <p:cNvPr id="51" name="Group 51"/>
          <p:cNvGrpSpPr/>
          <p:nvPr/>
        </p:nvGrpSpPr>
        <p:grpSpPr>
          <a:xfrm>
            <a:off x="603504" y="6442710"/>
            <a:ext cx="10984992" cy="234696"/>
            <a:chOff x="603504" y="6442710"/>
            <a:chExt cx="10984992" cy="234696"/>
          </a:xfrm>
        </p:grpSpPr>
        <p:sp>
          <p:nvSpPr>
            <p:cNvPr id="49" name="TextBox 49"/>
            <p:cNvSpPr txBox="1"/>
            <p:nvPr/>
          </p:nvSpPr>
          <p:spPr>
            <a:xfrm>
              <a:off x="603504" y="6442710"/>
              <a:ext cx="7727599"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Relative luminance and SC 1.4.3: W3C WCAG 2.1 · ratios computed from the swatches on this page</a:t>
              </a:r>
            </a:p>
          </p:txBody>
        </p:sp>
        <p:sp>
          <p:nvSpPr>
            <p:cNvPr id="50" name="TextBox 5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06 / 14</a:t>
              </a:r>
            </a:p>
          </p:txBody>
        </p:sp>
      </p:grpSp>
    </p:spTree>
  </p:cSld>
  <p:clrMapOvr>
    <a:masterClrMapping/>
  </p:clrMapOvr>
  <mc:AlternateContent>
    <mc:Choice Requires="p159">
      <p:transition p14:dur="10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50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400"/>
                                        <p:tgtEl>
                                          <p:spTgt spid="14"/>
                                        </p:tgtEl>
                                      </p:cBhvr>
                                    </p:animEffect>
                                  </p:childTnLst>
                                </p:cTn>
                              </p:par>
                            </p:childTnLst>
                          </p:cTn>
                        </p:par>
                        <p:par>
                          <p:cTn id="12" fill="hold">
                            <p:stCondLst>
                              <p:cond delay="1400"/>
                            </p:stCondLst>
                            <p:childTnLst>
                              <p:par>
                                <p:cTn id="13" presetID="10" presetClass="entr" presetSubtype="0" fill="hold" grpId="0" nodeType="afterEffect">
                                  <p:stCondLst>
                                    <p:cond delay="50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childTnLst>
                          </p:cTn>
                        </p:par>
                        <p:par>
                          <p:cTn id="16" fill="hold">
                            <p:stCondLst>
                              <p:cond delay="2400"/>
                            </p:stCondLst>
                            <p:childTnLst>
                              <p:par>
                                <p:cTn id="17" presetID="10" presetClass="entr" presetSubtype="0" fill="hold" grpId="0" nodeType="afterEffect">
                                  <p:stCondLst>
                                    <p:cond delay="50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593598" y="556260"/>
            <a:ext cx="10988802" cy="977075"/>
            <a:chOff x="593598" y="556260"/>
            <a:chExt cx="10988802" cy="977075"/>
          </a:xfrm>
        </p:grpSpPr>
        <p:sp>
          <p:nvSpPr>
            <p:cNvPr id="2" name="TextBox 2"/>
            <p:cNvSpPr txBox="1"/>
            <p:nvPr/>
          </p:nvSpPr>
          <p:spPr>
            <a:xfrm>
              <a:off x="603504" y="556260"/>
              <a:ext cx="1624767" cy="234696"/>
            </a:xfrm>
            <a:prstGeom prst="rect">
              <a:avLst/>
            </a:prstGeom>
            <a:noFill/>
            <a:ln>
              <a:noFill/>
            </a:ln>
          </p:spPr>
          <p:txBody>
            <a:bodyPr wrap="none" lIns="0" tIns="0" rIns="0" bIns="0" anchor="t" anchorCtr="0">
              <a:spAutoFit/>
            </a:bodyPr>
            <a:lstStyle/>
            <a:p>
              <a:pPr algn="l"/>
              <a:r>
                <a:rPr lang="en-US" sz="1200" b="1" spc="150" dirty="0">
                  <a:solidFill>
                    <a:schemeClr val="accent2"/>
                  </a:solidFill>
                  <a:latin typeface="+mn-lt"/>
                  <a:ea typeface="+mn-ea"/>
                  <a:cs typeface="+mn-cs"/>
                </a:rPr>
                <a:t>REFERENCE CARD</a:t>
              </a:r>
            </a:p>
          </p:txBody>
        </p:sp>
        <p:sp>
          <p:nvSpPr>
            <p:cNvPr id="3" name="Rectangle 3"/>
            <p:cNvSpPr/>
            <p:nvPr/>
          </p:nvSpPr>
          <p:spPr>
            <a:xfrm>
              <a:off x="609600" y="800100"/>
              <a:ext cx="457200" cy="28575"/>
            </a:xfrm>
            <a:prstGeom prst="rect">
              <a:avLst/>
            </a:prstGeom>
            <a:solidFill>
              <a:schemeClr val="accent2"/>
            </a:solidFill>
            <a:ln>
              <a:noFill/>
            </a:ln>
          </p:spPr>
        </p:sp>
        <p:sp>
          <p:nvSpPr>
            <p:cNvPr id="4" name="TextBox 4"/>
            <p:cNvSpPr txBox="1"/>
            <p:nvPr/>
          </p:nvSpPr>
          <p:spPr>
            <a:xfrm>
              <a:off x="593598" y="917258"/>
              <a:ext cx="7573147" cy="616077"/>
            </a:xfrm>
            <a:prstGeom prst="rect">
              <a:avLst/>
            </a:prstGeom>
            <a:noFill/>
            <a:ln>
              <a:noFill/>
            </a:ln>
          </p:spPr>
          <p:txBody>
            <a:bodyPr wrap="none" lIns="0" tIns="0" rIns="0" bIns="0" anchor="t" anchorCtr="0">
              <a:spAutoFit/>
            </a:bodyPr>
            <a:lstStyle/>
            <a:p>
              <a:pPr algn="l"/>
              <a:r>
                <a:rPr lang="en-US" sz="3150" dirty="0">
                  <a:solidFill>
                    <a:schemeClr val="accent1"/>
                  </a:solidFill>
                  <a:latin typeface="+mj-lt"/>
                  <a:ea typeface="+mj-ea"/>
                  <a:cs typeface="+mj-cs"/>
                </a:rPr>
                <a:t>The numbers you actually have to hit</a:t>
              </a:r>
            </a:p>
          </p:txBody>
        </p:sp>
        <p:sp>
          <p:nvSpPr>
            <p:cNvPr id="5" name="Line 5"/>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8" name="Group 8"/>
          <p:cNvGrpSpPr/>
          <p:nvPr/>
        </p:nvGrpSpPr>
        <p:grpSpPr>
          <a:xfrm>
            <a:off x="598170" y="1604962"/>
            <a:ext cx="9343668" cy="440055"/>
            <a:chOff x="598170" y="1604962"/>
            <a:chExt cx="9343668" cy="440055"/>
          </a:xfrm>
        </p:grpSpPr>
        <p:sp>
          <p:nvSpPr>
            <p:cNvPr id="7" name="TextBox 7"/>
            <p:cNvSpPr txBox="1"/>
            <p:nvPr/>
          </p:nvSpPr>
          <p:spPr>
            <a:xfrm>
              <a:off x="598170" y="1604962"/>
              <a:ext cx="9343668" cy="440055"/>
            </a:xfrm>
            <a:prstGeom prst="rect">
              <a:avLst/>
            </a:prstGeom>
            <a:noFill/>
            <a:ln>
              <a:noFill/>
            </a:ln>
          </p:spPr>
          <p:txBody>
            <a:bodyPr wrap="none" lIns="0" tIns="0" rIns="0" bIns="0" anchor="t" anchorCtr="0">
              <a:spAutoFit/>
            </a:bodyPr>
            <a:lstStyle/>
            <a:p>
              <a:pPr algn="l"/>
              <a:r>
                <a:rPr lang="en-US" sz="2250" dirty="0">
                  <a:solidFill>
                    <a:schemeClr val="dk1"/>
                  </a:solidFill>
                  <a:latin typeface="+mn-lt"/>
                  <a:ea typeface="+mn-ea"/>
                  <a:cs typeface="+mn-cs"/>
                </a:rPr>
                <a:t>Five numbers. You can check any of them in about ten seconds.</a:t>
              </a:r>
            </a:p>
          </p:txBody>
        </p:sp>
      </p:grpSp>
      <p:grpSp>
        <p:nvGrpSpPr>
          <p:cNvPr id="33" name="Group 33"/>
          <p:cNvGrpSpPr/>
          <p:nvPr/>
        </p:nvGrpSpPr>
        <p:grpSpPr>
          <a:xfrm>
            <a:off x="609600" y="2095500"/>
            <a:ext cx="10972800" cy="2676525"/>
            <a:chOff x="609600" y="2095500"/>
            <a:chExt cx="10972800" cy="2676525"/>
          </a:xfrm>
        </p:grpSpPr>
        <p:sp>
          <p:nvSpPr>
            <p:cNvPr id="9" name="Rectangle 9"/>
            <p:cNvSpPr/>
            <p:nvPr/>
          </p:nvSpPr>
          <p:spPr>
            <a:xfrm>
              <a:off x="609600" y="2095500"/>
              <a:ext cx="10972800" cy="609600"/>
            </a:xfrm>
            <a:prstGeom prst="rect">
              <a:avLst/>
            </a:prstGeom>
            <a:solidFill>
              <a:schemeClr val="lt2"/>
            </a:solidFill>
            <a:ln>
              <a:noFill/>
            </a:ln>
          </p:spPr>
        </p:sp>
        <p:grpSp>
          <p:nvGrpSpPr>
            <p:cNvPr id="14" name="Group 14"/>
            <p:cNvGrpSpPr/>
            <p:nvPr/>
          </p:nvGrpSpPr>
          <p:grpSpPr>
            <a:xfrm>
              <a:off x="609600" y="2705100"/>
              <a:ext cx="10972800" cy="2066925"/>
              <a:chOff x="609600" y="2705100"/>
              <a:chExt cx="10972800" cy="2066925"/>
            </a:xfrm>
          </p:grpSpPr>
          <p:sp>
            <p:nvSpPr>
              <p:cNvPr id="10" name="Line 10"/>
              <p:cNvSpPr/>
              <p:nvPr/>
            </p:nvSpPr>
            <p:spPr>
              <a:xfrm>
                <a:off x="609600" y="2705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1" name="Line 11"/>
              <p:cNvSpPr/>
              <p:nvPr/>
            </p:nvSpPr>
            <p:spPr>
              <a:xfrm>
                <a:off x="609600" y="33909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2" name="Line 12"/>
              <p:cNvSpPr/>
              <p:nvPr/>
            </p:nvSpPr>
            <p:spPr>
              <a:xfrm>
                <a:off x="609600" y="40767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Line 13"/>
              <p:cNvSpPr/>
              <p:nvPr/>
            </p:nvSpPr>
            <p:spPr>
              <a:xfrm>
                <a:off x="609600" y="4762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9" name="Group 19"/>
            <p:cNvGrpSpPr/>
            <p:nvPr/>
          </p:nvGrpSpPr>
          <p:grpSpPr>
            <a:xfrm>
              <a:off x="832104" y="2327910"/>
              <a:ext cx="10101239" cy="234696"/>
              <a:chOff x="832104" y="2327910"/>
              <a:chExt cx="10101239" cy="234696"/>
            </a:xfrm>
          </p:grpSpPr>
          <p:sp>
            <p:nvSpPr>
              <p:cNvPr id="15" name="TextBox 15"/>
              <p:cNvSpPr txBox="1"/>
              <p:nvPr/>
            </p:nvSpPr>
            <p:spPr>
              <a:xfrm>
                <a:off x="832104" y="2327910"/>
                <a:ext cx="2019483"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TEXT OR ELEMENT CLASS</a:t>
                </a:r>
              </a:p>
            </p:txBody>
          </p:sp>
          <p:sp>
            <p:nvSpPr>
              <p:cNvPr id="16" name="TextBox 16"/>
              <p:cNvSpPr txBox="1"/>
              <p:nvPr/>
            </p:nvSpPr>
            <p:spPr>
              <a:xfrm>
                <a:off x="5213604" y="2327910"/>
                <a:ext cx="845576"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CRITERION</a:t>
                </a:r>
              </a:p>
            </p:txBody>
          </p:sp>
          <p:sp>
            <p:nvSpPr>
              <p:cNvPr id="17" name="TextBox 17"/>
              <p:cNvSpPr txBox="1"/>
              <p:nvPr/>
            </p:nvSpPr>
            <p:spPr>
              <a:xfrm>
                <a:off x="7975443" y="2327910"/>
                <a:ext cx="755965" cy="234696"/>
              </a:xfrm>
              <a:prstGeom prst="rect">
                <a:avLst/>
              </a:prstGeom>
              <a:noFill/>
              <a:ln>
                <a:noFill/>
              </a:ln>
            </p:spPr>
            <p:txBody>
              <a:bodyPr wrap="none" lIns="0" tIns="0" rIns="0" bIns="0" anchor="t" anchorCtr="0">
                <a:spAutoFit/>
              </a:bodyPr>
              <a:lstStyle/>
              <a:p>
                <a:pPr algn="ctr"/>
                <a:r>
                  <a:rPr lang="en-US" sz="1200" b="1" dirty="0">
                    <a:solidFill>
                      <a:schemeClr val="accent1"/>
                    </a:solidFill>
                    <a:latin typeface="+mn-lt"/>
                    <a:ea typeface="+mn-ea"/>
                    <a:cs typeface="+mn-cs"/>
                  </a:rPr>
                  <a:t>LEVEL AA</a:t>
                </a:r>
              </a:p>
            </p:txBody>
          </p:sp>
          <p:sp>
            <p:nvSpPr>
              <p:cNvPr id="18" name="TextBox 18"/>
              <p:cNvSpPr txBox="1"/>
              <p:nvPr/>
            </p:nvSpPr>
            <p:spPr>
              <a:xfrm>
                <a:off x="10078806" y="2327910"/>
                <a:ext cx="854537" cy="234696"/>
              </a:xfrm>
              <a:prstGeom prst="rect">
                <a:avLst/>
              </a:prstGeom>
              <a:noFill/>
              <a:ln>
                <a:noFill/>
              </a:ln>
            </p:spPr>
            <p:txBody>
              <a:bodyPr wrap="none" lIns="0" tIns="0" rIns="0" bIns="0" anchor="t" anchorCtr="0">
                <a:spAutoFit/>
              </a:bodyPr>
              <a:lstStyle/>
              <a:p>
                <a:pPr algn="ctr"/>
                <a:r>
                  <a:rPr lang="en-US" sz="1200" b="1" dirty="0">
                    <a:solidFill>
                      <a:schemeClr val="accent1"/>
                    </a:solidFill>
                    <a:latin typeface="+mn-lt"/>
                    <a:ea typeface="+mn-ea"/>
                    <a:cs typeface="+mn-cs"/>
                  </a:rPr>
                  <a:t>LEVEL AAA</a:t>
                </a:r>
              </a:p>
            </p:txBody>
          </p:sp>
        </p:grpSp>
        <p:grpSp>
          <p:nvGrpSpPr>
            <p:cNvPr id="32" name="Group 32"/>
            <p:cNvGrpSpPr/>
            <p:nvPr/>
          </p:nvGrpSpPr>
          <p:grpSpPr>
            <a:xfrm>
              <a:off x="829056" y="2929890"/>
              <a:ext cx="10319957" cy="1723644"/>
              <a:chOff x="829056" y="2929890"/>
              <a:chExt cx="10319957" cy="1723644"/>
            </a:xfrm>
          </p:grpSpPr>
          <p:sp>
            <p:nvSpPr>
              <p:cNvPr id="20" name="TextBox 20"/>
              <p:cNvSpPr txBox="1"/>
              <p:nvPr/>
            </p:nvSpPr>
            <p:spPr>
              <a:xfrm>
                <a:off x="829056" y="2929890"/>
                <a:ext cx="1419492"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Normal text</a:t>
                </a:r>
              </a:p>
            </p:txBody>
          </p:sp>
          <p:sp>
            <p:nvSpPr>
              <p:cNvPr id="21" name="TextBox 21"/>
              <p:cNvSpPr txBox="1"/>
              <p:nvPr/>
            </p:nvSpPr>
            <p:spPr>
              <a:xfrm>
                <a:off x="5210556" y="2929890"/>
                <a:ext cx="1629689"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1.4.3 / 1.4.6</a:t>
                </a:r>
              </a:p>
            </p:txBody>
          </p:sp>
          <p:sp>
            <p:nvSpPr>
              <p:cNvPr id="22" name="TextBox 22"/>
              <p:cNvSpPr txBox="1"/>
              <p:nvPr/>
            </p:nvSpPr>
            <p:spPr>
              <a:xfrm>
                <a:off x="7994437" y="2929890"/>
                <a:ext cx="717975" cy="352044"/>
              </a:xfrm>
              <a:prstGeom prst="rect">
                <a:avLst/>
              </a:prstGeom>
              <a:noFill/>
              <a:ln>
                <a:noFill/>
              </a:ln>
            </p:spPr>
            <p:txBody>
              <a:bodyPr wrap="none" lIns="0" tIns="0" rIns="0" bIns="0" anchor="t" anchorCtr="0">
                <a:spAutoFit/>
              </a:bodyPr>
              <a:lstStyle/>
              <a:p>
                <a:pPr algn="ctr"/>
                <a:r>
                  <a:rPr lang="en-US" sz="1800" b="1" dirty="0">
                    <a:solidFill>
                      <a:schemeClr val="accent2"/>
                    </a:solidFill>
                    <a:latin typeface="+mn-lt"/>
                    <a:ea typeface="+mn-ea"/>
                    <a:cs typeface="+mn-cs"/>
                  </a:rPr>
                  <a:t>4.5:1</a:t>
                </a:r>
              </a:p>
            </p:txBody>
          </p:sp>
          <p:sp>
            <p:nvSpPr>
              <p:cNvPr id="23" name="TextBox 23"/>
              <p:cNvSpPr txBox="1"/>
              <p:nvPr/>
            </p:nvSpPr>
            <p:spPr>
              <a:xfrm>
                <a:off x="10297020" y="2929890"/>
                <a:ext cx="418109" cy="352044"/>
              </a:xfrm>
              <a:prstGeom prst="rect">
                <a:avLst/>
              </a:prstGeom>
              <a:noFill/>
              <a:ln>
                <a:noFill/>
              </a:ln>
            </p:spPr>
            <p:txBody>
              <a:bodyPr wrap="none" lIns="0" tIns="0" rIns="0" bIns="0" anchor="t" anchorCtr="0">
                <a:spAutoFit/>
              </a:bodyPr>
              <a:lstStyle/>
              <a:p>
                <a:pPr algn="ctr"/>
                <a:r>
                  <a:rPr lang="en-US" sz="1800" dirty="0">
                    <a:solidFill>
                      <a:schemeClr val="dk1"/>
                    </a:solidFill>
                    <a:latin typeface="+mn-lt"/>
                    <a:ea typeface="+mn-ea"/>
                    <a:cs typeface="+mn-cs"/>
                  </a:rPr>
                  <a:t>7:1</a:t>
                </a:r>
              </a:p>
            </p:txBody>
          </p:sp>
          <p:sp>
            <p:nvSpPr>
              <p:cNvPr id="24" name="TextBox 24"/>
              <p:cNvSpPr txBox="1"/>
              <p:nvPr/>
            </p:nvSpPr>
            <p:spPr>
              <a:xfrm>
                <a:off x="829056" y="3615690"/>
                <a:ext cx="1298448"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Large text</a:t>
                </a:r>
              </a:p>
            </p:txBody>
          </p:sp>
          <p:sp>
            <p:nvSpPr>
              <p:cNvPr id="25" name="TextBox 25"/>
              <p:cNvSpPr txBox="1"/>
              <p:nvPr/>
            </p:nvSpPr>
            <p:spPr>
              <a:xfrm>
                <a:off x="5210556" y="3615690"/>
                <a:ext cx="1629689"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1.4.3 / 1.4.6</a:t>
                </a:r>
              </a:p>
            </p:txBody>
          </p:sp>
          <p:sp>
            <p:nvSpPr>
              <p:cNvPr id="26" name="TextBox 26"/>
              <p:cNvSpPr txBox="1"/>
              <p:nvPr/>
            </p:nvSpPr>
            <p:spPr>
              <a:xfrm>
                <a:off x="8144370" y="3615690"/>
                <a:ext cx="418109" cy="352044"/>
              </a:xfrm>
              <a:prstGeom prst="rect">
                <a:avLst/>
              </a:prstGeom>
              <a:noFill/>
              <a:ln>
                <a:noFill/>
              </a:ln>
            </p:spPr>
            <p:txBody>
              <a:bodyPr wrap="none" lIns="0" tIns="0" rIns="0" bIns="0" anchor="t" anchorCtr="0">
                <a:spAutoFit/>
              </a:bodyPr>
              <a:lstStyle/>
              <a:p>
                <a:pPr algn="ctr"/>
                <a:r>
                  <a:rPr lang="en-US" sz="1800" dirty="0">
                    <a:solidFill>
                      <a:schemeClr val="dk1"/>
                    </a:solidFill>
                    <a:latin typeface="+mn-lt"/>
                    <a:ea typeface="+mn-ea"/>
                    <a:cs typeface="+mn-cs"/>
                  </a:rPr>
                  <a:t>3:1</a:t>
                </a:r>
              </a:p>
            </p:txBody>
          </p:sp>
          <p:sp>
            <p:nvSpPr>
              <p:cNvPr id="27" name="TextBox 27"/>
              <p:cNvSpPr txBox="1"/>
              <p:nvPr/>
            </p:nvSpPr>
            <p:spPr>
              <a:xfrm>
                <a:off x="10163746" y="3615690"/>
                <a:ext cx="684657" cy="352044"/>
              </a:xfrm>
              <a:prstGeom prst="rect">
                <a:avLst/>
              </a:prstGeom>
              <a:noFill/>
              <a:ln>
                <a:noFill/>
              </a:ln>
            </p:spPr>
            <p:txBody>
              <a:bodyPr wrap="none" lIns="0" tIns="0" rIns="0" bIns="0" anchor="t" anchorCtr="0">
                <a:spAutoFit/>
              </a:bodyPr>
              <a:lstStyle/>
              <a:p>
                <a:pPr algn="ctr"/>
                <a:r>
                  <a:rPr lang="en-US" sz="1800" dirty="0">
                    <a:solidFill>
                      <a:schemeClr val="dk1"/>
                    </a:solidFill>
                    <a:latin typeface="+mn-lt"/>
                    <a:ea typeface="+mn-ea"/>
                    <a:cs typeface="+mn-cs"/>
                  </a:rPr>
                  <a:t>4.5:1</a:t>
                </a:r>
              </a:p>
            </p:txBody>
          </p:sp>
          <p:sp>
            <p:nvSpPr>
              <p:cNvPr id="28" name="TextBox 28"/>
              <p:cNvSpPr txBox="1"/>
              <p:nvPr/>
            </p:nvSpPr>
            <p:spPr>
              <a:xfrm>
                <a:off x="829056" y="4301490"/>
                <a:ext cx="3244778"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UI components and graphics</a:t>
                </a:r>
              </a:p>
            </p:txBody>
          </p:sp>
          <p:sp>
            <p:nvSpPr>
              <p:cNvPr id="29" name="TextBox 29"/>
              <p:cNvSpPr txBox="1"/>
              <p:nvPr/>
            </p:nvSpPr>
            <p:spPr>
              <a:xfrm>
                <a:off x="5210556" y="4301490"/>
                <a:ext cx="817931"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1.4.11</a:t>
                </a:r>
              </a:p>
            </p:txBody>
          </p:sp>
          <p:sp>
            <p:nvSpPr>
              <p:cNvPr id="30" name="TextBox 30"/>
              <p:cNvSpPr txBox="1"/>
              <p:nvPr/>
            </p:nvSpPr>
            <p:spPr>
              <a:xfrm>
                <a:off x="8144370" y="4301490"/>
                <a:ext cx="418109" cy="352044"/>
              </a:xfrm>
              <a:prstGeom prst="rect">
                <a:avLst/>
              </a:prstGeom>
              <a:noFill/>
              <a:ln>
                <a:noFill/>
              </a:ln>
            </p:spPr>
            <p:txBody>
              <a:bodyPr wrap="none" lIns="0" tIns="0" rIns="0" bIns="0" anchor="t" anchorCtr="0">
                <a:spAutoFit/>
              </a:bodyPr>
              <a:lstStyle/>
              <a:p>
                <a:pPr algn="ctr"/>
                <a:r>
                  <a:rPr lang="en-US" sz="1800" dirty="0">
                    <a:solidFill>
                      <a:schemeClr val="dk1"/>
                    </a:solidFill>
                    <a:latin typeface="+mn-lt"/>
                    <a:ea typeface="+mn-ea"/>
                    <a:cs typeface="+mn-cs"/>
                  </a:rPr>
                  <a:t>3:1</a:t>
                </a:r>
              </a:p>
            </p:txBody>
          </p:sp>
          <p:sp>
            <p:nvSpPr>
              <p:cNvPr id="31" name="TextBox 31"/>
              <p:cNvSpPr txBox="1"/>
              <p:nvPr/>
            </p:nvSpPr>
            <p:spPr>
              <a:xfrm>
                <a:off x="9863138" y="4350068"/>
                <a:ext cx="1285875" cy="264033"/>
              </a:xfrm>
              <a:prstGeom prst="rect">
                <a:avLst/>
              </a:prstGeom>
              <a:noFill/>
              <a:ln>
                <a:noFill/>
              </a:ln>
            </p:spPr>
            <p:txBody>
              <a:bodyPr wrap="none" lIns="0" tIns="0" rIns="0" bIns="0" anchor="t" anchorCtr="0">
                <a:spAutoFit/>
              </a:bodyPr>
              <a:lstStyle/>
              <a:p>
                <a:pPr algn="ctr"/>
                <a:r>
                  <a:rPr lang="en-US" sz="1350" dirty="0">
                    <a:solidFill>
                      <a:schemeClr val="dk1"/>
                    </a:solidFill>
                    <a:latin typeface="+mn-lt"/>
                    <a:ea typeface="+mn-ea"/>
                    <a:cs typeface="+mn-cs"/>
                  </a:rPr>
                  <a:t>no higher level</a:t>
                </a:r>
              </a:p>
            </p:txBody>
          </p:sp>
        </p:grpSp>
      </p:grpSp>
      <p:grpSp>
        <p:nvGrpSpPr>
          <p:cNvPr id="38" name="Group 38"/>
          <p:cNvGrpSpPr/>
          <p:nvPr/>
        </p:nvGrpSpPr>
        <p:grpSpPr>
          <a:xfrm>
            <a:off x="602742" y="5010150"/>
            <a:ext cx="6065901" cy="1070801"/>
            <a:chOff x="602742" y="5010150"/>
            <a:chExt cx="6065901" cy="1070801"/>
          </a:xfrm>
        </p:grpSpPr>
        <p:sp>
          <p:nvSpPr>
            <p:cNvPr id="34" name="Freeform 34"/>
            <p:cNvSpPr/>
            <p:nvPr/>
          </p:nvSpPr>
          <p:spPr>
            <a:xfrm>
              <a:off x="609600" y="5010150"/>
              <a:ext cx="704850" cy="247650"/>
            </a:xfrm>
            <a:prstGeom prst="snip1Rect">
              <a:avLst/>
            </a:prstGeom>
            <a:solidFill>
              <a:schemeClr val="lt2"/>
            </a:solidFill>
            <a:ln>
              <a:noFill/>
            </a:ln>
          </p:spPr>
        </p:sp>
        <p:sp>
          <p:nvSpPr>
            <p:cNvPr id="35" name="TextBox 35"/>
            <p:cNvSpPr txBox="1"/>
            <p:nvPr/>
          </p:nvSpPr>
          <p:spPr>
            <a:xfrm>
              <a:off x="717804" y="5052060"/>
              <a:ext cx="454274" cy="234696"/>
            </a:xfrm>
            <a:prstGeom prst="rect">
              <a:avLst/>
            </a:prstGeom>
            <a:noFill/>
            <a:ln>
              <a:noFill/>
            </a:ln>
          </p:spPr>
          <p:txBody>
            <a:bodyPr wrap="none" lIns="0" tIns="0" rIns="0" bIns="0" anchor="t" anchorCtr="0">
              <a:spAutoFit/>
            </a:bodyPr>
            <a:lstStyle/>
            <a:p>
              <a:pPr algn="l"/>
              <a:r>
                <a:rPr lang="en-US" sz="1200" b="1" spc="112" dirty="0">
                  <a:solidFill>
                    <a:schemeClr val="accent2"/>
                  </a:solidFill>
                  <a:latin typeface="+mn-lt"/>
                  <a:ea typeface="+mn-ea"/>
                  <a:cs typeface="+mn-cs"/>
                </a:rPr>
                <a:t>RULE</a:t>
              </a:r>
            </a:p>
          </p:txBody>
        </p:sp>
        <p:sp>
          <p:nvSpPr>
            <p:cNvPr id="36" name="TextBox 36"/>
            <p:cNvSpPr txBox="1"/>
            <p:nvPr/>
          </p:nvSpPr>
          <p:spPr>
            <a:xfrm>
              <a:off x="1459992" y="5035868"/>
              <a:ext cx="249442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how the number is computed</a:t>
              </a:r>
            </a:p>
          </p:txBody>
        </p:sp>
        <p:sp>
          <p:nvSpPr>
            <p:cNvPr id="37" name="TextBox 37"/>
            <p:cNvSpPr txBox="1"/>
            <p:nvPr/>
          </p:nvSpPr>
          <p:spPr>
            <a:xfrm>
              <a:off x="602742" y="5359718"/>
              <a:ext cx="6065901" cy="7212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Contrast ratio is (L1 + 0.05) / (L2 + 0.05) with the lighter luminance on</a:t>
              </a:r>
              <a:br/>
              <a:r>
                <a:rPr lang="en-US" sz="1350" dirty="0">
                  <a:solidFill>
                    <a:schemeClr val="dk1"/>
                  </a:solidFill>
                  <a:latin typeface="+mn-lt"/>
                  <a:ea typeface="+mn-ea"/>
                  <a:cs typeface="+mn-cs"/>
                </a:rPr>
                <a:t>top. It runs from 1:1 to 21:1, and must not be rounded before you</a:t>
              </a:r>
              <a:br/>
              <a:r>
                <a:rPr lang="en-US" sz="1350" dirty="0">
                  <a:solidFill>
                    <a:schemeClr val="dk1"/>
                  </a:solidFill>
                  <a:latin typeface="+mn-lt"/>
                  <a:ea typeface="+mn-ea"/>
                  <a:cs typeface="+mn-cs"/>
                </a:rPr>
                <a:t>compare it with a threshold.</a:t>
              </a:r>
            </a:p>
          </p:txBody>
        </p:sp>
      </p:grpSp>
      <p:grpSp>
        <p:nvGrpSpPr>
          <p:cNvPr id="41" name="Group 41"/>
          <p:cNvGrpSpPr/>
          <p:nvPr/>
        </p:nvGrpSpPr>
        <p:grpSpPr>
          <a:xfrm>
            <a:off x="7613142" y="5035868"/>
            <a:ext cx="3314128" cy="1045083"/>
            <a:chOff x="7613142" y="5035868"/>
            <a:chExt cx="3314128" cy="1045083"/>
          </a:xfrm>
        </p:grpSpPr>
        <p:sp>
          <p:nvSpPr>
            <p:cNvPr id="39" name="TextBox 39"/>
            <p:cNvSpPr txBox="1"/>
            <p:nvPr/>
          </p:nvSpPr>
          <p:spPr>
            <a:xfrm>
              <a:off x="7613142" y="5035868"/>
              <a:ext cx="2443711"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What counts as large text</a:t>
              </a:r>
            </a:p>
          </p:txBody>
        </p:sp>
        <p:sp>
          <p:nvSpPr>
            <p:cNvPr id="40" name="TextBox 40"/>
            <p:cNvSpPr txBox="1"/>
            <p:nvPr/>
          </p:nvSpPr>
          <p:spPr>
            <a:xfrm>
              <a:off x="7613142" y="5359718"/>
              <a:ext cx="3314128" cy="7212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Large text means at least 18 pt, or at</a:t>
              </a:r>
              <a:br/>
              <a:r>
                <a:rPr lang="en-US" sz="1350" dirty="0">
                  <a:solidFill>
                    <a:schemeClr val="dk1"/>
                  </a:solidFill>
                  <a:latin typeface="+mn-lt"/>
                  <a:ea typeface="+mn-ea"/>
                  <a:cs typeface="+mn-cs"/>
                </a:rPr>
                <a:t>least 14 pt bold — the spec puts that at</a:t>
              </a:r>
              <a:br/>
              <a:r>
                <a:rPr lang="en-US" sz="1350" dirty="0">
                  <a:solidFill>
                    <a:schemeClr val="dk1"/>
                  </a:solidFill>
                  <a:latin typeface="+mn-lt"/>
                  <a:ea typeface="+mn-ea"/>
                  <a:cs typeface="+mn-cs"/>
                </a:rPr>
                <a:t>roughly 24 px and 18.5 px.</a:t>
              </a:r>
            </a:p>
          </p:txBody>
        </p:sp>
      </p:grpSp>
      <p:grpSp>
        <p:nvGrpSpPr>
          <p:cNvPr id="44" name="Group 44"/>
          <p:cNvGrpSpPr/>
          <p:nvPr/>
        </p:nvGrpSpPr>
        <p:grpSpPr>
          <a:xfrm>
            <a:off x="603504" y="6442710"/>
            <a:ext cx="10984992" cy="234696"/>
            <a:chOff x="603504" y="6442710"/>
            <a:chExt cx="10984992" cy="234696"/>
          </a:xfrm>
        </p:grpSpPr>
        <p:sp>
          <p:nvSpPr>
            <p:cNvPr id="42" name="TextBox 42"/>
            <p:cNvSpPr txBox="1"/>
            <p:nvPr/>
          </p:nvSpPr>
          <p:spPr>
            <a:xfrm>
              <a:off x="603504" y="6442710"/>
              <a:ext cx="500245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W3C WCAG 2.1 Understanding SC 1.4.3, SC 1.4.6 and SC 1.4.11</a:t>
              </a:r>
            </a:p>
          </p:txBody>
        </p:sp>
        <p:sp>
          <p:nvSpPr>
            <p:cNvPr id="43" name="TextBox 4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07 / 14</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593598" y="556260"/>
            <a:ext cx="10988802" cy="977075"/>
            <a:chOff x="593598" y="556260"/>
            <a:chExt cx="10988802" cy="977075"/>
          </a:xfrm>
        </p:grpSpPr>
        <p:sp>
          <p:nvSpPr>
            <p:cNvPr id="2" name="TextBox 2"/>
            <p:cNvSpPr txBox="1"/>
            <p:nvPr/>
          </p:nvSpPr>
          <p:spPr>
            <a:xfrm>
              <a:off x="603504" y="556260"/>
              <a:ext cx="3969167" cy="234696"/>
            </a:xfrm>
            <a:prstGeom prst="rect">
              <a:avLst/>
            </a:prstGeom>
            <a:noFill/>
            <a:ln>
              <a:noFill/>
            </a:ln>
          </p:spPr>
          <p:txBody>
            <a:bodyPr wrap="none" lIns="0" tIns="0" rIns="0" bIns="0" anchor="t" anchorCtr="0">
              <a:spAutoFit/>
            </a:bodyPr>
            <a:lstStyle/>
            <a:p>
              <a:pPr algn="l"/>
              <a:r>
                <a:rPr lang="en-US" sz="1200" b="1" spc="150" dirty="0">
                  <a:solidFill>
                    <a:schemeClr val="accent2"/>
                  </a:solidFill>
                  <a:latin typeface="+mn-lt"/>
                  <a:ea typeface="+mn-ea"/>
                  <a:cs typeface="+mn-cs"/>
                </a:rPr>
                <a:t>WORKED DEMONSTRATION · STEP 1 OF 2</a:t>
              </a:r>
            </a:p>
          </p:txBody>
        </p:sp>
        <p:sp>
          <p:nvSpPr>
            <p:cNvPr id="3" name="Rectangle 3"/>
            <p:cNvSpPr/>
            <p:nvPr/>
          </p:nvSpPr>
          <p:spPr>
            <a:xfrm>
              <a:off x="609600" y="800100"/>
              <a:ext cx="457200" cy="28575"/>
            </a:xfrm>
            <a:prstGeom prst="rect">
              <a:avLst/>
            </a:prstGeom>
            <a:solidFill>
              <a:schemeClr val="accent2"/>
            </a:solidFill>
            <a:ln>
              <a:noFill/>
            </a:ln>
          </p:spPr>
        </p:sp>
        <p:sp>
          <p:nvSpPr>
            <p:cNvPr id="4" name="TextBox 4"/>
            <p:cNvSpPr txBox="1"/>
            <p:nvPr/>
          </p:nvSpPr>
          <p:spPr>
            <a:xfrm>
              <a:off x="593598" y="917258"/>
              <a:ext cx="5728299" cy="616077"/>
            </a:xfrm>
            <a:prstGeom prst="rect">
              <a:avLst/>
            </a:prstGeom>
            <a:noFill/>
            <a:ln>
              <a:noFill/>
            </a:ln>
          </p:spPr>
          <p:txBody>
            <a:bodyPr wrap="none" lIns="0" tIns="0" rIns="0" bIns="0" anchor="t" anchorCtr="0">
              <a:spAutoFit/>
            </a:bodyPr>
            <a:lstStyle/>
            <a:p>
              <a:pPr algn="l"/>
              <a:r>
                <a:rPr lang="en-US" sz="3150" dirty="0">
                  <a:solidFill>
                    <a:schemeClr val="accent1"/>
                  </a:solidFill>
                  <a:latin typeface="+mj-lt"/>
                  <a:ea typeface="+mj-ea"/>
                  <a:cs typeface="+mj-cs"/>
                </a:rPr>
                <a:t>Five colors out of one print</a:t>
              </a:r>
            </a:p>
          </p:txBody>
        </p:sp>
        <p:sp>
          <p:nvSpPr>
            <p:cNvPr id="5" name="Line 5"/>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602742" y="1790700"/>
            <a:ext cx="4727161" cy="3814001"/>
            <a:chOff x="602742" y="1790700"/>
            <a:chExt cx="4727161" cy="3814001"/>
          </a:xfrm>
        </p:grpSpPr>
        <p:pic>
          <p:nvPicPr>
            <p:cNvPr id="7" name="Image 7"/>
            <p:cNvPicPr>
              <a:picLocks noChangeAspect="1"/>
            </p:cNvPicPr>
            <p:nvPr/>
          </p:nvPicPr>
          <p:blipFill>
            <a:blip r:embed="rId2"/>
            <a:stretch>
              <a:fillRect/>
            </a:stretch>
          </p:blipFill>
          <p:spPr>
            <a:xfrm>
              <a:off x="613698" y="1790700"/>
              <a:ext cx="4716205" cy="3257550"/>
            </a:xfrm>
            <a:prstGeom prst="rect">
              <a:avLst/>
            </a:prstGeom>
          </p:spPr>
        </p:pic>
        <p:sp>
          <p:nvSpPr>
            <p:cNvPr id="8" name="TextBox 8"/>
            <p:cNvSpPr txBox="1"/>
            <p:nvPr/>
          </p:nvSpPr>
          <p:spPr>
            <a:xfrm>
              <a:off x="602742" y="5131118"/>
              <a:ext cx="4265676" cy="473583"/>
            </a:xfrm>
            <a:prstGeom prst="rect">
              <a:avLst/>
            </a:prstGeom>
            <a:noFill/>
            <a:ln>
              <a:noFill/>
            </a:ln>
          </p:spPr>
          <p:txBody>
            <a:bodyPr wrap="none" lIns="0" tIns="0" rIns="0" bIns="0" anchor="t" anchorCtr="0">
              <a:spAutoFit/>
            </a:bodyPr>
            <a:lstStyle/>
            <a:p>
              <a:pPr algn="l">
                <a:lnSpc>
                  <a:spcPts val="1650"/>
                </a:lnSpc>
              </a:pPr>
              <a:r>
                <a:rPr lang="en-US" sz="1350" dirty="0">
                  <a:solidFill>
                    <a:schemeClr val="accent5"/>
                  </a:solidFill>
                  <a:latin typeface="+mn-lt"/>
                  <a:ea typeface="+mn-ea"/>
                  <a:cs typeface="+mn-cs"/>
                </a:rPr>
                <a:t>Katsushika Hokusai, Under the Wave off Kanagawa,</a:t>
              </a:r>
              <a:br/>
              <a:r>
                <a:rPr lang="en-US" sz="1350" dirty="0">
                  <a:solidFill>
                    <a:schemeClr val="accent5"/>
                  </a:solidFill>
                  <a:latin typeface="+mn-lt"/>
                  <a:ea typeface="+mn-ea"/>
                  <a:cs typeface="+mn-cs"/>
                </a:rPr>
                <a:t>c. 1830–32. Public domain, via Wikimedia Commons.</a:t>
              </a:r>
            </a:p>
          </p:txBody>
        </p:sp>
      </p:grpSp>
      <p:grpSp>
        <p:nvGrpSpPr>
          <p:cNvPr id="11" name="Group 11"/>
          <p:cNvGrpSpPr/>
          <p:nvPr/>
        </p:nvGrpSpPr>
        <p:grpSpPr>
          <a:xfrm>
            <a:off x="602742" y="5664518"/>
            <a:ext cx="4299966" cy="721233"/>
            <a:chOff x="602742" y="5664518"/>
            <a:chExt cx="4299966" cy="721233"/>
          </a:xfrm>
        </p:grpSpPr>
        <p:sp>
          <p:nvSpPr>
            <p:cNvPr id="10" name="TextBox 10"/>
            <p:cNvSpPr txBox="1"/>
            <p:nvPr/>
          </p:nvSpPr>
          <p:spPr>
            <a:xfrm>
              <a:off x="602742" y="5664518"/>
              <a:ext cx="4299966" cy="7212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Sampled in this order: the largest area first, then</a:t>
              </a:r>
              <a:br/>
              <a:r>
                <a:rPr lang="en-US" sz="1350" dirty="0">
                  <a:solidFill>
                    <a:schemeClr val="dk1"/>
                  </a:solidFill>
                  <a:latin typeface="+mn-lt"/>
                  <a:ea typeface="+mn-ea"/>
                  <a:cs typeface="+mn-cs"/>
                </a:rPr>
                <a:t>the darkest, then the lightest, then two accents</a:t>
              </a:r>
              <a:br/>
              <a:r>
                <a:rPr lang="en-US" sz="1350" dirty="0">
                  <a:solidFill>
                    <a:schemeClr val="dk1"/>
                  </a:solidFill>
                  <a:latin typeface="+mn-lt"/>
                  <a:ea typeface="+mn-ea"/>
                  <a:cs typeface="+mn-cs"/>
                </a:rPr>
                <a:t>chosen for meaning rather than area.</a:t>
              </a:r>
            </a:p>
          </p:txBody>
        </p:sp>
      </p:grpSp>
      <p:grpSp>
        <p:nvGrpSpPr>
          <p:cNvPr id="37" name="!!palette-column"/>
          <p:cNvGrpSpPr/>
          <p:nvPr/>
        </p:nvGrpSpPr>
        <p:grpSpPr>
          <a:xfrm>
            <a:off x="5905500" y="1866900"/>
            <a:ext cx="5350097" cy="4183189"/>
            <a:chOff x="5905500" y="1866900"/>
            <a:chExt cx="5350097" cy="4183189"/>
          </a:xfrm>
        </p:grpSpPr>
        <p:grpSp>
          <p:nvGrpSpPr>
            <p:cNvPr id="16" name="Group 16"/>
            <p:cNvGrpSpPr/>
            <p:nvPr/>
          </p:nvGrpSpPr>
          <p:grpSpPr>
            <a:xfrm>
              <a:off x="5905500" y="1866900"/>
              <a:ext cx="5298662" cy="677989"/>
              <a:chOff x="5905500" y="1866900"/>
              <a:chExt cx="5298662" cy="677989"/>
            </a:xfrm>
          </p:grpSpPr>
          <p:sp>
            <p:nvSpPr>
              <p:cNvPr id="12" name="Rectangle 12"/>
              <p:cNvSpPr/>
              <p:nvPr/>
            </p:nvSpPr>
            <p:spPr>
              <a:xfrm>
                <a:off x="5905500" y="1866900"/>
                <a:ext cx="1143000" cy="609600"/>
              </a:xfrm>
              <a:prstGeom prst="rect">
                <a:avLst/>
              </a:prstGeom>
              <a:solidFill>
                <a:srgbClr val="E3DBCD"/>
              </a:solidFill>
              <a:ln w="9525">
                <a:solidFill>
                  <a:schemeClr val="accent6"/>
                </a:solidFill>
              </a:ln>
            </p:spPr>
          </p:sp>
          <p:sp>
            <p:nvSpPr>
              <p:cNvPr id="13" name="TextBox 13"/>
              <p:cNvSpPr txBox="1"/>
              <p:nvPr/>
            </p:nvSpPr>
            <p:spPr>
              <a:xfrm>
                <a:off x="7229856" y="1939290"/>
                <a:ext cx="1165231" cy="352044"/>
              </a:xfrm>
              <a:prstGeom prst="rect">
                <a:avLst/>
              </a:prstGeom>
              <a:noFill/>
              <a:ln>
                <a:noFill/>
              </a:ln>
            </p:spPr>
            <p:txBody>
              <a:bodyPr wrap="none" lIns="0" tIns="0" rIns="0" bIns="0" anchor="t" anchorCtr="0">
                <a:spAutoFit/>
              </a:bodyPr>
              <a:lstStyle/>
              <a:p>
                <a:pPr algn="l"/>
                <a:r>
                  <a:rPr lang="en-US" sz="1800" dirty="0">
                    <a:solidFill>
                      <a:schemeClr val="accent1"/>
                    </a:solidFill>
                    <a:latin typeface="+mn-lt"/>
                    <a:ea typeface="+mn-ea"/>
                    <a:cs typeface="+mn-cs"/>
                  </a:rPr>
                  <a:t>Sky paper</a:t>
                </a:r>
              </a:p>
            </p:txBody>
          </p:sp>
          <p:sp>
            <p:nvSpPr>
              <p:cNvPr id="14" name="TextBox 14"/>
              <p:cNvSpPr txBox="1"/>
              <p:nvPr/>
            </p:nvSpPr>
            <p:spPr>
              <a:xfrm>
                <a:off x="7230618" y="2222182"/>
                <a:ext cx="920344"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Consolas"/>
                    <a:ea typeface="Consolas"/>
                    <a:cs typeface="Consolas"/>
                  </a:rPr>
                  <a:t>#E3DBCD</a:t>
                </a:r>
              </a:p>
            </p:txBody>
          </p:sp>
          <p:sp>
            <p:nvSpPr>
              <p:cNvPr id="15" name="TextBox 15"/>
              <p:cNvSpPr txBox="1"/>
              <p:nvPr/>
            </p:nvSpPr>
            <p:spPr>
              <a:xfrm>
                <a:off x="9327642" y="2121218"/>
                <a:ext cx="187652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sky and paper ground</a:t>
                </a:r>
              </a:p>
            </p:txBody>
          </p:sp>
        </p:grpSp>
        <p:grpSp>
          <p:nvGrpSpPr>
            <p:cNvPr id="21" name="Group 21"/>
            <p:cNvGrpSpPr/>
            <p:nvPr/>
          </p:nvGrpSpPr>
          <p:grpSpPr>
            <a:xfrm>
              <a:off x="5905500" y="2743200"/>
              <a:ext cx="5107838" cy="677989"/>
              <a:chOff x="5905500" y="2743200"/>
              <a:chExt cx="5107838" cy="677989"/>
            </a:xfrm>
          </p:grpSpPr>
          <p:sp>
            <p:nvSpPr>
              <p:cNvPr id="17" name="Rectangle 17"/>
              <p:cNvSpPr/>
              <p:nvPr/>
            </p:nvSpPr>
            <p:spPr>
              <a:xfrm>
                <a:off x="5905500" y="2743200"/>
                <a:ext cx="1143000" cy="609600"/>
              </a:xfrm>
              <a:prstGeom prst="rect">
                <a:avLst/>
              </a:prstGeom>
              <a:solidFill>
                <a:srgbClr val="C5B4A1"/>
              </a:solidFill>
              <a:ln>
                <a:noFill/>
              </a:ln>
            </p:spPr>
          </p:sp>
          <p:sp>
            <p:nvSpPr>
              <p:cNvPr id="18" name="TextBox 18"/>
              <p:cNvSpPr txBox="1"/>
              <p:nvPr/>
            </p:nvSpPr>
            <p:spPr>
              <a:xfrm>
                <a:off x="7229856" y="2815590"/>
                <a:ext cx="1431676" cy="352044"/>
              </a:xfrm>
              <a:prstGeom prst="rect">
                <a:avLst/>
              </a:prstGeom>
              <a:noFill/>
              <a:ln>
                <a:noFill/>
              </a:ln>
            </p:spPr>
            <p:txBody>
              <a:bodyPr wrap="none" lIns="0" tIns="0" rIns="0" bIns="0" anchor="t" anchorCtr="0">
                <a:spAutoFit/>
              </a:bodyPr>
              <a:lstStyle/>
              <a:p>
                <a:pPr algn="l"/>
                <a:r>
                  <a:rPr lang="en-US" sz="1800" dirty="0">
                    <a:solidFill>
                      <a:schemeClr val="accent1"/>
                    </a:solidFill>
                    <a:latin typeface="+mn-lt"/>
                    <a:ea typeface="+mn-ea"/>
                    <a:cs typeface="+mn-cs"/>
                  </a:rPr>
                  <a:t>Aged ground</a:t>
                </a:r>
              </a:p>
            </p:txBody>
          </p:sp>
          <p:sp>
            <p:nvSpPr>
              <p:cNvPr id="19" name="TextBox 19"/>
              <p:cNvSpPr txBox="1"/>
              <p:nvPr/>
            </p:nvSpPr>
            <p:spPr>
              <a:xfrm>
                <a:off x="7230618" y="3098482"/>
                <a:ext cx="920344"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Consolas"/>
                    <a:ea typeface="Consolas"/>
                    <a:cs typeface="Consolas"/>
                  </a:rPr>
                  <a:t>#C5B4A1</a:t>
                </a:r>
              </a:p>
            </p:txBody>
          </p:sp>
          <p:sp>
            <p:nvSpPr>
              <p:cNvPr id="20" name="TextBox 20"/>
              <p:cNvSpPr txBox="1"/>
              <p:nvPr/>
            </p:nvSpPr>
            <p:spPr>
              <a:xfrm>
                <a:off x="9327642" y="2997518"/>
                <a:ext cx="168569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largest single area</a:t>
                </a:r>
              </a:p>
            </p:txBody>
          </p:sp>
        </p:grpSp>
        <p:grpSp>
          <p:nvGrpSpPr>
            <p:cNvPr id="26" name="Group 26"/>
            <p:cNvGrpSpPr/>
            <p:nvPr/>
          </p:nvGrpSpPr>
          <p:grpSpPr>
            <a:xfrm>
              <a:off x="5905500" y="3619500"/>
              <a:ext cx="4680756" cy="677989"/>
              <a:chOff x="5905500" y="3619500"/>
              <a:chExt cx="4680756" cy="677989"/>
            </a:xfrm>
          </p:grpSpPr>
          <p:sp>
            <p:nvSpPr>
              <p:cNvPr id="22" name="Rectangle 22"/>
              <p:cNvSpPr/>
              <p:nvPr/>
            </p:nvSpPr>
            <p:spPr>
              <a:xfrm>
                <a:off x="5905500" y="3619500"/>
                <a:ext cx="1143000" cy="609600"/>
              </a:xfrm>
              <a:prstGeom prst="rect">
                <a:avLst/>
              </a:prstGeom>
              <a:solidFill>
                <a:srgbClr val="6B8C8E"/>
              </a:solidFill>
              <a:ln>
                <a:noFill/>
              </a:ln>
            </p:spPr>
          </p:sp>
          <p:sp>
            <p:nvSpPr>
              <p:cNvPr id="23" name="TextBox 23"/>
              <p:cNvSpPr txBox="1"/>
              <p:nvPr/>
            </p:nvSpPr>
            <p:spPr>
              <a:xfrm>
                <a:off x="7229856" y="3691890"/>
                <a:ext cx="1165231" cy="352044"/>
              </a:xfrm>
              <a:prstGeom prst="rect">
                <a:avLst/>
              </a:prstGeom>
              <a:noFill/>
              <a:ln>
                <a:noFill/>
              </a:ln>
            </p:spPr>
            <p:txBody>
              <a:bodyPr wrap="none" lIns="0" tIns="0" rIns="0" bIns="0" anchor="t" anchorCtr="0">
                <a:spAutoFit/>
              </a:bodyPr>
              <a:lstStyle/>
              <a:p>
                <a:pPr algn="l"/>
                <a:r>
                  <a:rPr lang="en-US" sz="1800" dirty="0">
                    <a:solidFill>
                      <a:schemeClr val="accent1"/>
                    </a:solidFill>
                    <a:latin typeface="+mn-lt"/>
                    <a:ea typeface="+mn-ea"/>
                    <a:cs typeface="+mn-cs"/>
                  </a:rPr>
                  <a:t>Sea green</a:t>
                </a:r>
              </a:p>
            </p:txBody>
          </p:sp>
          <p:sp>
            <p:nvSpPr>
              <p:cNvPr id="24" name="TextBox 24"/>
              <p:cNvSpPr txBox="1"/>
              <p:nvPr/>
            </p:nvSpPr>
            <p:spPr>
              <a:xfrm>
                <a:off x="7230618" y="3974782"/>
                <a:ext cx="920344"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Consolas"/>
                    <a:ea typeface="Consolas"/>
                    <a:cs typeface="Consolas"/>
                  </a:rPr>
                  <a:t>#6B8C8E</a:t>
                </a:r>
              </a:p>
            </p:txBody>
          </p:sp>
          <p:sp>
            <p:nvSpPr>
              <p:cNvPr id="25" name="TextBox 25"/>
              <p:cNvSpPr txBox="1"/>
              <p:nvPr/>
            </p:nvSpPr>
            <p:spPr>
              <a:xfrm>
                <a:off x="9327642" y="3873818"/>
                <a:ext cx="125861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the wave body</a:t>
                </a:r>
              </a:p>
            </p:txBody>
          </p:sp>
        </p:grpSp>
        <p:grpSp>
          <p:nvGrpSpPr>
            <p:cNvPr id="31" name="Group 31"/>
            <p:cNvGrpSpPr/>
            <p:nvPr/>
          </p:nvGrpSpPr>
          <p:grpSpPr>
            <a:xfrm>
              <a:off x="5905500" y="4495800"/>
              <a:ext cx="5350097" cy="677989"/>
              <a:chOff x="5905500" y="4495800"/>
              <a:chExt cx="5350097" cy="677989"/>
            </a:xfrm>
          </p:grpSpPr>
          <p:sp>
            <p:nvSpPr>
              <p:cNvPr id="27" name="Rectangle 27"/>
              <p:cNvSpPr/>
              <p:nvPr/>
            </p:nvSpPr>
            <p:spPr>
              <a:xfrm>
                <a:off x="5905500" y="4495800"/>
                <a:ext cx="1143000" cy="609600"/>
              </a:xfrm>
              <a:prstGeom prst="rect">
                <a:avLst/>
              </a:prstGeom>
              <a:solidFill>
                <a:srgbClr val="414D59"/>
              </a:solidFill>
              <a:ln>
                <a:noFill/>
              </a:ln>
            </p:spPr>
          </p:sp>
          <p:sp>
            <p:nvSpPr>
              <p:cNvPr id="28" name="TextBox 28"/>
              <p:cNvSpPr txBox="1"/>
              <p:nvPr/>
            </p:nvSpPr>
            <p:spPr>
              <a:xfrm>
                <a:off x="7229856" y="4568190"/>
                <a:ext cx="1237488" cy="352044"/>
              </a:xfrm>
              <a:prstGeom prst="rect">
                <a:avLst/>
              </a:prstGeom>
              <a:noFill/>
              <a:ln>
                <a:noFill/>
              </a:ln>
            </p:spPr>
            <p:txBody>
              <a:bodyPr wrap="none" lIns="0" tIns="0" rIns="0" bIns="0" anchor="t" anchorCtr="0">
                <a:spAutoFit/>
              </a:bodyPr>
              <a:lstStyle/>
              <a:p>
                <a:pPr algn="l"/>
                <a:r>
                  <a:rPr lang="en-US" sz="1800" dirty="0">
                    <a:solidFill>
                      <a:schemeClr val="accent1"/>
                    </a:solidFill>
                    <a:latin typeface="+mn-lt"/>
                    <a:ea typeface="+mn-ea"/>
                    <a:cs typeface="+mn-cs"/>
                  </a:rPr>
                  <a:t>Boat slate</a:t>
                </a:r>
              </a:p>
            </p:txBody>
          </p:sp>
          <p:sp>
            <p:nvSpPr>
              <p:cNvPr id="29" name="TextBox 29"/>
              <p:cNvSpPr txBox="1"/>
              <p:nvPr/>
            </p:nvSpPr>
            <p:spPr>
              <a:xfrm>
                <a:off x="7230618" y="4851082"/>
                <a:ext cx="920344"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Consolas"/>
                    <a:ea typeface="Consolas"/>
                    <a:cs typeface="Consolas"/>
                  </a:rPr>
                  <a:t>#414D59</a:t>
                </a:r>
              </a:p>
            </p:txBody>
          </p:sp>
          <p:sp>
            <p:nvSpPr>
              <p:cNvPr id="30" name="TextBox 30"/>
              <p:cNvSpPr txBox="1"/>
              <p:nvPr/>
            </p:nvSpPr>
            <p:spPr>
              <a:xfrm>
                <a:off x="9327642" y="4750118"/>
                <a:ext cx="192795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boats and Fuji shadow</a:t>
                </a:r>
              </a:p>
            </p:txBody>
          </p:sp>
        </p:grpSp>
        <p:grpSp>
          <p:nvGrpSpPr>
            <p:cNvPr id="36" name="Group 36"/>
            <p:cNvGrpSpPr/>
            <p:nvPr/>
          </p:nvGrpSpPr>
          <p:grpSpPr>
            <a:xfrm>
              <a:off x="5905500" y="5372100"/>
              <a:ext cx="5180533" cy="677989"/>
              <a:chOff x="5905500" y="5372100"/>
              <a:chExt cx="5180533" cy="677989"/>
            </a:xfrm>
          </p:grpSpPr>
          <p:sp>
            <p:nvSpPr>
              <p:cNvPr id="32" name="Rectangle 32"/>
              <p:cNvSpPr/>
              <p:nvPr/>
            </p:nvSpPr>
            <p:spPr>
              <a:xfrm>
                <a:off x="5905500" y="5372100"/>
                <a:ext cx="1143000" cy="609600"/>
              </a:xfrm>
              <a:prstGeom prst="rect">
                <a:avLst/>
              </a:prstGeom>
              <a:solidFill>
                <a:srgbClr val="060F2C"/>
              </a:solidFill>
              <a:ln>
                <a:noFill/>
              </a:ln>
            </p:spPr>
          </p:sp>
          <p:sp>
            <p:nvSpPr>
              <p:cNvPr id="33" name="TextBox 33"/>
              <p:cNvSpPr txBox="1"/>
              <p:nvPr/>
            </p:nvSpPr>
            <p:spPr>
              <a:xfrm>
                <a:off x="7229856" y="5444490"/>
                <a:ext cx="1309832" cy="352044"/>
              </a:xfrm>
              <a:prstGeom prst="rect">
                <a:avLst/>
              </a:prstGeom>
              <a:noFill/>
              <a:ln>
                <a:noFill/>
              </a:ln>
            </p:spPr>
            <p:txBody>
              <a:bodyPr wrap="none" lIns="0" tIns="0" rIns="0" bIns="0" anchor="t" anchorCtr="0">
                <a:spAutoFit/>
              </a:bodyPr>
              <a:lstStyle/>
              <a:p>
                <a:pPr algn="l"/>
                <a:r>
                  <a:rPr lang="en-US" sz="1800" dirty="0">
                    <a:solidFill>
                      <a:schemeClr val="accent1"/>
                    </a:solidFill>
                    <a:latin typeface="+mn-lt"/>
                    <a:ea typeface="+mn-ea"/>
                    <a:cs typeface="+mn-cs"/>
                  </a:rPr>
                  <a:t>Deep indigo</a:t>
                </a:r>
              </a:p>
            </p:txBody>
          </p:sp>
          <p:sp>
            <p:nvSpPr>
              <p:cNvPr id="34" name="TextBox 34"/>
              <p:cNvSpPr txBox="1"/>
              <p:nvPr/>
            </p:nvSpPr>
            <p:spPr>
              <a:xfrm>
                <a:off x="7230618" y="5727382"/>
                <a:ext cx="920344"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Consolas"/>
                    <a:ea typeface="Consolas"/>
                    <a:cs typeface="Consolas"/>
                  </a:rPr>
                  <a:t>#060F2C</a:t>
                </a:r>
              </a:p>
            </p:txBody>
          </p:sp>
          <p:sp>
            <p:nvSpPr>
              <p:cNvPr id="35" name="TextBox 35"/>
              <p:cNvSpPr txBox="1"/>
              <p:nvPr/>
            </p:nvSpPr>
            <p:spPr>
              <a:xfrm>
                <a:off x="9327642" y="5626418"/>
                <a:ext cx="175839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the trough shadows</a:t>
                </a:r>
              </a:p>
            </p:txBody>
          </p:sp>
        </p:grpSp>
      </p:grpSp>
      <p:grpSp>
        <p:nvGrpSpPr>
          <p:cNvPr id="39" name="Group 39"/>
          <p:cNvGrpSpPr/>
          <p:nvPr/>
        </p:nvGrpSpPr>
        <p:grpSpPr>
          <a:xfrm>
            <a:off x="5898642" y="6159818"/>
            <a:ext cx="4511797" cy="264033"/>
            <a:chOff x="5898642" y="6159818"/>
            <a:chExt cx="4511797" cy="264033"/>
          </a:xfrm>
        </p:grpSpPr>
        <p:sp>
          <p:nvSpPr>
            <p:cNvPr id="38" name="TextBox 38"/>
            <p:cNvSpPr txBox="1"/>
            <p:nvPr/>
          </p:nvSpPr>
          <p:spPr>
            <a:xfrm>
              <a:off x="5898642" y="6159818"/>
              <a:ext cx="4511797"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Five samples. Not a palette — nothing measured.</a:t>
              </a:r>
            </a:p>
          </p:txBody>
        </p:sp>
      </p:grpSp>
      <p:grpSp>
        <p:nvGrpSpPr>
          <p:cNvPr id="42" name="Group 42"/>
          <p:cNvGrpSpPr/>
          <p:nvPr/>
        </p:nvGrpSpPr>
        <p:grpSpPr>
          <a:xfrm>
            <a:off x="603504" y="6442710"/>
            <a:ext cx="10984992" cy="234696"/>
            <a:chOff x="603504" y="6442710"/>
            <a:chExt cx="10984992" cy="234696"/>
          </a:xfrm>
        </p:grpSpPr>
        <p:sp>
          <p:nvSpPr>
            <p:cNvPr id="40" name="TextBox 40"/>
            <p:cNvSpPr txBox="1"/>
            <p:nvPr/>
          </p:nvSpPr>
          <p:spPr>
            <a:xfrm>
              <a:off x="603504" y="6442710"/>
              <a:ext cx="911453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Artwork provenance: The Metropolitan Museum of Art (Open Access, CC0) · this impression via Wikimedia Commons</a:t>
              </a:r>
            </a:p>
          </p:txBody>
        </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08 / 14</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childTnLst>
                                </p:cTn>
                              </p:par>
                            </p:childTnLst>
                          </p:cTn>
                        </p:par>
                        <p:par>
                          <p:cTn id="8" fill="hold">
                            <p:stCondLst>
                              <p:cond delay="600"/>
                            </p:stCondLst>
                            <p:childTnLst>
                              <p:par>
                                <p:cTn id="9" presetID="22" presetClass="entr" presetSubtype="1" fill="hold" grpId="0" nodeType="afterEffect">
                                  <p:stCondLst>
                                    <p:cond delay="500"/>
                                  </p:stCondLst>
                                  <p:childTnLst>
                                    <p:set>
                                      <p:cBhvr>
                                        <p:cTn id="10" dur="1" fill="hold">
                                          <p:stCondLst>
                                            <p:cond delay="0"/>
                                          </p:stCondLst>
                                        </p:cTn>
                                        <p:tgtEl>
                                          <p:spTgt spid="37"/>
                                        </p:tgtEl>
                                        <p:attrNameLst>
                                          <p:attrName>style.visibility</p:attrName>
                                        </p:attrNameLst>
                                      </p:cBhvr>
                                      <p:to>
                                        <p:strVal val="visible"/>
                                      </p:to>
                                    </p:set>
                                    <p:animEffect transition="in" filter="wipe(up)">
                                      <p:cBhvr>
                                        <p:cTn id="11" dur="900"/>
                                        <p:tgtEl>
                                          <p:spTgt spid="37"/>
                                        </p:tgtEl>
                                      </p:cBhvr>
                                    </p:animEffect>
                                  </p:childTnLst>
                                </p:cTn>
                              </p:par>
                            </p:childTnLst>
                          </p:cTn>
                        </p:par>
                        <p:par>
                          <p:cTn id="12" fill="hold">
                            <p:stCondLst>
                              <p:cond delay="2000"/>
                            </p:stCondLst>
                            <p:childTnLst>
                              <p:par>
                                <p:cTn id="13" presetID="10" presetClass="entr" presetSubtype="0" fill="hold" grpId="0" nodeType="afterEffect">
                                  <p:stCondLst>
                                    <p:cond delay="50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400"/>
                                        <p:tgtEl>
                                          <p:spTgt spid="11"/>
                                        </p:tgtEl>
                                      </p:cBhvr>
                                    </p:animEffect>
                                  </p:childTnLst>
                                </p:cTn>
                              </p:par>
                            </p:childTnLst>
                          </p:cTn>
                        </p:par>
                        <p:par>
                          <p:cTn id="16" fill="hold">
                            <p:stCondLst>
                              <p:cond delay="2900"/>
                            </p:stCondLst>
                            <p:childTnLst>
                              <p:par>
                                <p:cTn id="17" presetID="10" presetClass="entr" presetSubtype="0" fill="hold" grpId="0" nodeType="afterEffect">
                                  <p:stCondLst>
                                    <p:cond delay="30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593598" y="556260"/>
            <a:ext cx="10988802" cy="977075"/>
            <a:chOff x="593598" y="556260"/>
            <a:chExt cx="10988802" cy="977075"/>
          </a:xfrm>
        </p:grpSpPr>
        <p:sp>
          <p:nvSpPr>
            <p:cNvPr id="2" name="TextBox 2"/>
            <p:cNvSpPr txBox="1"/>
            <p:nvPr/>
          </p:nvSpPr>
          <p:spPr>
            <a:xfrm>
              <a:off x="603504" y="556260"/>
              <a:ext cx="3969167" cy="234696"/>
            </a:xfrm>
            <a:prstGeom prst="rect">
              <a:avLst/>
            </a:prstGeom>
            <a:noFill/>
            <a:ln>
              <a:noFill/>
            </a:ln>
          </p:spPr>
          <p:txBody>
            <a:bodyPr wrap="none" lIns="0" tIns="0" rIns="0" bIns="0" anchor="t" anchorCtr="0">
              <a:spAutoFit/>
            </a:bodyPr>
            <a:lstStyle/>
            <a:p>
              <a:pPr algn="l"/>
              <a:r>
                <a:rPr lang="en-US" sz="1200" b="1" spc="150" dirty="0">
                  <a:solidFill>
                    <a:schemeClr val="accent2"/>
                  </a:solidFill>
                  <a:latin typeface="+mn-lt"/>
                  <a:ea typeface="+mn-ea"/>
                  <a:cs typeface="+mn-cs"/>
                </a:rPr>
                <a:t>WORKED DEMONSTRATION · STEP 2 OF 2</a:t>
              </a:r>
            </a:p>
          </p:txBody>
        </p:sp>
        <p:sp>
          <p:nvSpPr>
            <p:cNvPr id="3" name="Rectangle 3"/>
            <p:cNvSpPr/>
            <p:nvPr/>
          </p:nvSpPr>
          <p:spPr>
            <a:xfrm>
              <a:off x="609600" y="800100"/>
              <a:ext cx="457200" cy="28575"/>
            </a:xfrm>
            <a:prstGeom prst="rect">
              <a:avLst/>
            </a:prstGeom>
            <a:solidFill>
              <a:schemeClr val="accent2"/>
            </a:solidFill>
            <a:ln>
              <a:noFill/>
            </a:ln>
          </p:spPr>
        </p:sp>
        <p:sp>
          <p:nvSpPr>
            <p:cNvPr id="4" name="TextBox 4"/>
            <p:cNvSpPr txBox="1"/>
            <p:nvPr/>
          </p:nvSpPr>
          <p:spPr>
            <a:xfrm>
              <a:off x="593598" y="917258"/>
              <a:ext cx="9799751" cy="616077"/>
            </a:xfrm>
            <a:prstGeom prst="rect">
              <a:avLst/>
            </a:prstGeom>
            <a:noFill/>
            <a:ln>
              <a:noFill/>
            </a:ln>
          </p:spPr>
          <p:txBody>
            <a:bodyPr wrap="none" lIns="0" tIns="0" rIns="0" bIns="0" anchor="t" anchorCtr="0">
              <a:spAutoFit/>
            </a:bodyPr>
            <a:lstStyle/>
            <a:p>
              <a:pPr algn="l"/>
              <a:r>
                <a:rPr lang="en-US" sz="3150" dirty="0">
                  <a:solidFill>
                    <a:schemeClr val="accent1"/>
                  </a:solidFill>
                  <a:latin typeface="+mj-lt"/>
                  <a:ea typeface="+mj-ea"/>
                  <a:cs typeface="+mj-cs"/>
                </a:rPr>
                <a:t>Now measure it, then repair the pair that fails</a:t>
              </a:r>
            </a:p>
          </p:txBody>
        </p:sp>
        <p:sp>
          <p:nvSpPr>
            <p:cNvPr id="5" name="Line 5"/>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22" name="!!palette-column"/>
          <p:cNvGrpSpPr/>
          <p:nvPr/>
        </p:nvGrpSpPr>
        <p:grpSpPr>
          <a:xfrm>
            <a:off x="602742" y="1771650"/>
            <a:ext cx="10979658" cy="880301"/>
            <a:chOff x="602742" y="1771650"/>
            <a:chExt cx="10979658" cy="880301"/>
          </a:xfrm>
        </p:grpSpPr>
        <p:grpSp>
          <p:nvGrpSpPr>
            <p:cNvPr id="9" name="Group 9"/>
            <p:cNvGrpSpPr/>
            <p:nvPr/>
          </p:nvGrpSpPr>
          <p:grpSpPr>
            <a:xfrm>
              <a:off x="602742" y="1771650"/>
              <a:ext cx="1911858" cy="880301"/>
              <a:chOff x="602742" y="1771650"/>
              <a:chExt cx="1911858" cy="880301"/>
            </a:xfrm>
          </p:grpSpPr>
          <p:sp>
            <p:nvSpPr>
              <p:cNvPr id="7" name="Rectangle 7"/>
              <p:cNvSpPr/>
              <p:nvPr/>
            </p:nvSpPr>
            <p:spPr>
              <a:xfrm>
                <a:off x="609600" y="1771650"/>
                <a:ext cx="1905000" cy="533400"/>
              </a:xfrm>
              <a:prstGeom prst="rect">
                <a:avLst/>
              </a:prstGeom>
              <a:solidFill>
                <a:srgbClr val="E3DBCD"/>
              </a:solidFill>
              <a:ln w="9525">
                <a:solidFill>
                  <a:schemeClr val="accent6"/>
                </a:solidFill>
              </a:ln>
            </p:spPr>
          </p:sp>
          <p:sp>
            <p:nvSpPr>
              <p:cNvPr id="8" name="TextBox 8"/>
              <p:cNvSpPr txBox="1"/>
              <p:nvPr/>
            </p:nvSpPr>
            <p:spPr>
              <a:xfrm>
                <a:off x="602742" y="2387918"/>
                <a:ext cx="87392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Sky paper</a:t>
                </a:r>
              </a:p>
            </p:txBody>
          </p:sp>
        </p:grpSp>
        <p:grpSp>
          <p:nvGrpSpPr>
            <p:cNvPr id="12" name="Group 12"/>
            <p:cNvGrpSpPr/>
            <p:nvPr/>
          </p:nvGrpSpPr>
          <p:grpSpPr>
            <a:xfrm>
              <a:off x="2869692" y="1771650"/>
              <a:ext cx="1911858" cy="880301"/>
              <a:chOff x="2869692" y="1771650"/>
              <a:chExt cx="1911858" cy="880301"/>
            </a:xfrm>
          </p:grpSpPr>
          <p:sp>
            <p:nvSpPr>
              <p:cNvPr id="10" name="Rectangle 10"/>
              <p:cNvSpPr/>
              <p:nvPr/>
            </p:nvSpPr>
            <p:spPr>
              <a:xfrm>
                <a:off x="2876550" y="1771650"/>
                <a:ext cx="1905000" cy="533400"/>
              </a:xfrm>
              <a:prstGeom prst="rect">
                <a:avLst/>
              </a:prstGeom>
              <a:solidFill>
                <a:srgbClr val="C5B4A1"/>
              </a:solidFill>
              <a:ln>
                <a:noFill/>
              </a:ln>
            </p:spPr>
          </p:sp>
          <p:sp>
            <p:nvSpPr>
              <p:cNvPr id="11" name="TextBox 11"/>
              <p:cNvSpPr txBox="1"/>
              <p:nvPr/>
            </p:nvSpPr>
            <p:spPr>
              <a:xfrm>
                <a:off x="2869692" y="2387918"/>
                <a:ext cx="107375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Aged ground</a:t>
                </a:r>
              </a:p>
            </p:txBody>
          </p:sp>
        </p:grpSp>
        <p:grpSp>
          <p:nvGrpSpPr>
            <p:cNvPr id="15" name="Group 15"/>
            <p:cNvGrpSpPr/>
            <p:nvPr/>
          </p:nvGrpSpPr>
          <p:grpSpPr>
            <a:xfrm>
              <a:off x="5136642" y="1771650"/>
              <a:ext cx="1911858" cy="880301"/>
              <a:chOff x="5136642" y="1771650"/>
              <a:chExt cx="1911858" cy="880301"/>
            </a:xfrm>
          </p:grpSpPr>
          <p:sp>
            <p:nvSpPr>
              <p:cNvPr id="13" name="Rectangle 13"/>
              <p:cNvSpPr/>
              <p:nvPr/>
            </p:nvSpPr>
            <p:spPr>
              <a:xfrm>
                <a:off x="5143500" y="1771650"/>
                <a:ext cx="1905000" cy="533400"/>
              </a:xfrm>
              <a:prstGeom prst="rect">
                <a:avLst/>
              </a:prstGeom>
              <a:solidFill>
                <a:srgbClr val="6B8C8E"/>
              </a:solidFill>
              <a:ln>
                <a:noFill/>
              </a:ln>
            </p:spPr>
          </p:sp>
          <p:sp>
            <p:nvSpPr>
              <p:cNvPr id="14" name="TextBox 14"/>
              <p:cNvSpPr txBox="1"/>
              <p:nvPr/>
            </p:nvSpPr>
            <p:spPr>
              <a:xfrm>
                <a:off x="5136642" y="2387918"/>
                <a:ext cx="87392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Sea green</a:t>
                </a:r>
              </a:p>
            </p:txBody>
          </p:sp>
        </p:grpSp>
        <p:grpSp>
          <p:nvGrpSpPr>
            <p:cNvPr id="18" name="Group 18"/>
            <p:cNvGrpSpPr/>
            <p:nvPr/>
          </p:nvGrpSpPr>
          <p:grpSpPr>
            <a:xfrm>
              <a:off x="7403592" y="1771650"/>
              <a:ext cx="1911858" cy="880301"/>
              <a:chOff x="7403592" y="1771650"/>
              <a:chExt cx="1911858" cy="880301"/>
            </a:xfrm>
          </p:grpSpPr>
          <p:sp>
            <p:nvSpPr>
              <p:cNvPr id="16" name="Rectangle 16"/>
              <p:cNvSpPr/>
              <p:nvPr/>
            </p:nvSpPr>
            <p:spPr>
              <a:xfrm>
                <a:off x="7410450" y="1771650"/>
                <a:ext cx="1905000" cy="533400"/>
              </a:xfrm>
              <a:prstGeom prst="rect">
                <a:avLst/>
              </a:prstGeom>
              <a:solidFill>
                <a:srgbClr val="414D59"/>
              </a:solidFill>
              <a:ln>
                <a:noFill/>
              </a:ln>
            </p:spPr>
          </p:sp>
          <p:sp>
            <p:nvSpPr>
              <p:cNvPr id="17" name="TextBox 17"/>
              <p:cNvSpPr txBox="1"/>
              <p:nvPr/>
            </p:nvSpPr>
            <p:spPr>
              <a:xfrm>
                <a:off x="7403592" y="2387918"/>
                <a:ext cx="92811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Boat slate</a:t>
                </a:r>
              </a:p>
            </p:txBody>
          </p:sp>
        </p:grpSp>
        <p:grpSp>
          <p:nvGrpSpPr>
            <p:cNvPr id="21" name="Group 21"/>
            <p:cNvGrpSpPr/>
            <p:nvPr/>
          </p:nvGrpSpPr>
          <p:grpSpPr>
            <a:xfrm>
              <a:off x="9670542" y="1771650"/>
              <a:ext cx="1911858" cy="880301"/>
              <a:chOff x="9670542" y="1771650"/>
              <a:chExt cx="1911858" cy="880301"/>
            </a:xfrm>
          </p:grpSpPr>
          <p:sp>
            <p:nvSpPr>
              <p:cNvPr id="19" name="Rectangle 19"/>
              <p:cNvSpPr/>
              <p:nvPr/>
            </p:nvSpPr>
            <p:spPr>
              <a:xfrm>
                <a:off x="9677400" y="1771650"/>
                <a:ext cx="1905000" cy="533400"/>
              </a:xfrm>
              <a:prstGeom prst="rect">
                <a:avLst/>
              </a:prstGeom>
              <a:solidFill>
                <a:srgbClr val="060F2C"/>
              </a:solidFill>
              <a:ln>
                <a:noFill/>
              </a:ln>
            </p:spPr>
          </p:sp>
          <p:sp>
            <p:nvSpPr>
              <p:cNvPr id="20" name="TextBox 20"/>
              <p:cNvSpPr txBox="1"/>
              <p:nvPr/>
            </p:nvSpPr>
            <p:spPr>
              <a:xfrm>
                <a:off x="9670542" y="2387918"/>
                <a:ext cx="98237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Deep indigo</a:t>
                </a:r>
              </a:p>
            </p:txBody>
          </p:sp>
        </p:grpSp>
      </p:grpSp>
      <p:grpSp>
        <p:nvGrpSpPr>
          <p:cNvPr id="85" name="Group 85"/>
          <p:cNvGrpSpPr/>
          <p:nvPr/>
        </p:nvGrpSpPr>
        <p:grpSpPr>
          <a:xfrm>
            <a:off x="602742" y="2711768"/>
            <a:ext cx="5369433" cy="3146107"/>
            <a:chOff x="602742" y="2711768"/>
            <a:chExt cx="5369433" cy="3146107"/>
          </a:xfrm>
        </p:grpSpPr>
        <p:sp>
          <p:nvSpPr>
            <p:cNvPr id="23" name="TextBox 23"/>
            <p:cNvSpPr txBox="1"/>
            <p:nvPr/>
          </p:nvSpPr>
          <p:spPr>
            <a:xfrm>
              <a:off x="602742" y="2711768"/>
              <a:ext cx="4314847"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Every pair, against the 4.5:1 body-text floor</a:t>
              </a:r>
            </a:p>
          </p:txBody>
        </p:sp>
        <p:sp>
          <p:nvSpPr>
            <p:cNvPr id="24" name="Rectangle 24"/>
            <p:cNvSpPr/>
            <p:nvPr/>
          </p:nvSpPr>
          <p:spPr>
            <a:xfrm>
              <a:off x="1543050" y="2914650"/>
              <a:ext cx="266700" cy="266700"/>
            </a:xfrm>
            <a:prstGeom prst="rect">
              <a:avLst/>
            </a:prstGeom>
            <a:solidFill>
              <a:srgbClr val="E3DBCD"/>
            </a:solidFill>
            <a:ln w="9525">
              <a:solidFill>
                <a:schemeClr val="accent6"/>
              </a:solidFill>
            </a:ln>
          </p:spPr>
        </p:sp>
        <p:sp>
          <p:nvSpPr>
            <p:cNvPr id="25" name="Rectangle 25"/>
            <p:cNvSpPr/>
            <p:nvPr/>
          </p:nvSpPr>
          <p:spPr>
            <a:xfrm>
              <a:off x="2495550" y="2914650"/>
              <a:ext cx="266700" cy="266700"/>
            </a:xfrm>
            <a:prstGeom prst="rect">
              <a:avLst/>
            </a:prstGeom>
            <a:solidFill>
              <a:srgbClr val="C5B4A1"/>
            </a:solidFill>
            <a:ln w="9525">
              <a:solidFill>
                <a:schemeClr val="accent6"/>
              </a:solidFill>
            </a:ln>
          </p:spPr>
        </p:sp>
        <p:sp>
          <p:nvSpPr>
            <p:cNvPr id="26" name="Rectangle 26"/>
            <p:cNvSpPr/>
            <p:nvPr/>
          </p:nvSpPr>
          <p:spPr>
            <a:xfrm>
              <a:off x="3448050" y="2914650"/>
              <a:ext cx="266700" cy="266700"/>
            </a:xfrm>
            <a:prstGeom prst="rect">
              <a:avLst/>
            </a:prstGeom>
            <a:solidFill>
              <a:srgbClr val="6B8C8E"/>
            </a:solidFill>
            <a:ln w="9525">
              <a:solidFill>
                <a:schemeClr val="accent6"/>
              </a:solidFill>
            </a:ln>
          </p:spPr>
        </p:sp>
        <p:sp>
          <p:nvSpPr>
            <p:cNvPr id="27" name="Rectangle 27"/>
            <p:cNvSpPr/>
            <p:nvPr/>
          </p:nvSpPr>
          <p:spPr>
            <a:xfrm>
              <a:off x="4400550" y="2914650"/>
              <a:ext cx="266700" cy="266700"/>
            </a:xfrm>
            <a:prstGeom prst="rect">
              <a:avLst/>
            </a:prstGeom>
            <a:solidFill>
              <a:srgbClr val="414D59"/>
            </a:solidFill>
            <a:ln w="9525">
              <a:solidFill>
                <a:schemeClr val="accent6"/>
              </a:solidFill>
            </a:ln>
          </p:spPr>
        </p:sp>
        <p:sp>
          <p:nvSpPr>
            <p:cNvPr id="28" name="Rectangle 28"/>
            <p:cNvSpPr/>
            <p:nvPr/>
          </p:nvSpPr>
          <p:spPr>
            <a:xfrm>
              <a:off x="5353050" y="2914650"/>
              <a:ext cx="266700" cy="266700"/>
            </a:xfrm>
            <a:prstGeom prst="rect">
              <a:avLst/>
            </a:prstGeom>
            <a:solidFill>
              <a:srgbClr val="060F2C"/>
            </a:solidFill>
            <a:ln w="9525">
              <a:solidFill>
                <a:schemeClr val="accent6"/>
              </a:solidFill>
            </a:ln>
          </p:spPr>
        </p:sp>
        <p:sp>
          <p:nvSpPr>
            <p:cNvPr id="29" name="Rectangle 29"/>
            <p:cNvSpPr/>
            <p:nvPr/>
          </p:nvSpPr>
          <p:spPr>
            <a:xfrm>
              <a:off x="723900" y="3400425"/>
              <a:ext cx="266700" cy="266700"/>
            </a:xfrm>
            <a:prstGeom prst="rect">
              <a:avLst/>
            </a:prstGeom>
            <a:solidFill>
              <a:srgbClr val="E3DBCD"/>
            </a:solidFill>
            <a:ln w="9525">
              <a:solidFill>
                <a:schemeClr val="accent6"/>
              </a:solidFill>
            </a:ln>
          </p:spPr>
        </p:sp>
        <p:sp>
          <p:nvSpPr>
            <p:cNvPr id="30" name="Rectangle 30"/>
            <p:cNvSpPr/>
            <p:nvPr/>
          </p:nvSpPr>
          <p:spPr>
            <a:xfrm>
              <a:off x="723900" y="3914775"/>
              <a:ext cx="266700" cy="266700"/>
            </a:xfrm>
            <a:prstGeom prst="rect">
              <a:avLst/>
            </a:prstGeom>
            <a:solidFill>
              <a:srgbClr val="C5B4A1"/>
            </a:solidFill>
            <a:ln w="9525">
              <a:solidFill>
                <a:schemeClr val="accent6"/>
              </a:solidFill>
            </a:ln>
          </p:spPr>
        </p:sp>
        <p:sp>
          <p:nvSpPr>
            <p:cNvPr id="31" name="Rectangle 31"/>
            <p:cNvSpPr/>
            <p:nvPr/>
          </p:nvSpPr>
          <p:spPr>
            <a:xfrm>
              <a:off x="723900" y="4429125"/>
              <a:ext cx="266700" cy="266700"/>
            </a:xfrm>
            <a:prstGeom prst="rect">
              <a:avLst/>
            </a:prstGeom>
            <a:solidFill>
              <a:srgbClr val="6B8C8E"/>
            </a:solidFill>
            <a:ln w="9525">
              <a:solidFill>
                <a:schemeClr val="accent6"/>
              </a:solidFill>
            </a:ln>
          </p:spPr>
        </p:sp>
        <p:sp>
          <p:nvSpPr>
            <p:cNvPr id="32" name="Rectangle 32"/>
            <p:cNvSpPr/>
            <p:nvPr/>
          </p:nvSpPr>
          <p:spPr>
            <a:xfrm>
              <a:off x="723900" y="4943475"/>
              <a:ext cx="266700" cy="266700"/>
            </a:xfrm>
            <a:prstGeom prst="rect">
              <a:avLst/>
            </a:prstGeom>
            <a:solidFill>
              <a:srgbClr val="414D59"/>
            </a:solidFill>
            <a:ln w="9525">
              <a:solidFill>
                <a:schemeClr val="accent6"/>
              </a:solidFill>
            </a:ln>
          </p:spPr>
        </p:sp>
        <p:sp>
          <p:nvSpPr>
            <p:cNvPr id="33" name="Rectangle 33"/>
            <p:cNvSpPr/>
            <p:nvPr/>
          </p:nvSpPr>
          <p:spPr>
            <a:xfrm>
              <a:off x="723900" y="5457825"/>
              <a:ext cx="266700" cy="266700"/>
            </a:xfrm>
            <a:prstGeom prst="rect">
              <a:avLst/>
            </a:prstGeom>
            <a:solidFill>
              <a:srgbClr val="060F2C"/>
            </a:solidFill>
            <a:ln w="9525">
              <a:solidFill>
                <a:schemeClr val="accent6"/>
              </a:solidFill>
            </a:ln>
          </p:spPr>
        </p:sp>
        <p:grpSp>
          <p:nvGrpSpPr>
            <p:cNvPr id="46" name="Group 46"/>
            <p:cNvGrpSpPr/>
            <p:nvPr/>
          </p:nvGrpSpPr>
          <p:grpSpPr>
            <a:xfrm>
              <a:off x="1200150" y="3276600"/>
              <a:ext cx="4772025" cy="2581275"/>
              <a:chOff x="1200150" y="3276600"/>
              <a:chExt cx="4772025" cy="2581275"/>
            </a:xfrm>
          </p:grpSpPr>
          <p:sp>
            <p:nvSpPr>
              <p:cNvPr id="34" name="Line 34"/>
              <p:cNvSpPr/>
              <p:nvPr/>
            </p:nvSpPr>
            <p:spPr>
              <a:xfrm>
                <a:off x="1200150" y="3276600"/>
                <a:ext cx="4762500" cy="9525"/>
              </a:xfrm>
              <a:custGeom>
                <a:avLst/>
                <a:gdLst/>
                <a:ahLst/>
                <a:cxnLst/>
                <a:rect l="l" t="t" r="r" b="b"/>
                <a:pathLst>
                  <a:path w="4762500" h="9525">
                    <a:moveTo>
                      <a:pt x="0" y="0"/>
                    </a:moveTo>
                    <a:lnTo>
                      <a:pt x="4762500" y="0"/>
                    </a:lnTo>
                  </a:path>
                </a:pathLst>
              </a:custGeom>
              <a:noFill/>
              <a:ln w="9525">
                <a:solidFill>
                  <a:schemeClr val="accent6"/>
                </a:solidFill>
              </a:ln>
            </p:spPr>
          </p:sp>
          <p:sp>
            <p:nvSpPr>
              <p:cNvPr id="35" name="Line 35"/>
              <p:cNvSpPr/>
              <p:nvPr/>
            </p:nvSpPr>
            <p:spPr>
              <a:xfrm>
                <a:off x="1200150" y="3790950"/>
                <a:ext cx="4762500" cy="9525"/>
              </a:xfrm>
              <a:custGeom>
                <a:avLst/>
                <a:gdLst/>
                <a:ahLst/>
                <a:cxnLst/>
                <a:rect l="l" t="t" r="r" b="b"/>
                <a:pathLst>
                  <a:path w="4762500" h="9525">
                    <a:moveTo>
                      <a:pt x="0" y="0"/>
                    </a:moveTo>
                    <a:lnTo>
                      <a:pt x="4762500" y="0"/>
                    </a:lnTo>
                  </a:path>
                </a:pathLst>
              </a:custGeom>
              <a:noFill/>
              <a:ln w="9525">
                <a:solidFill>
                  <a:schemeClr val="accent6"/>
                </a:solidFill>
              </a:ln>
            </p:spPr>
          </p:sp>
          <p:sp>
            <p:nvSpPr>
              <p:cNvPr id="36" name="Line 36"/>
              <p:cNvSpPr/>
              <p:nvPr/>
            </p:nvSpPr>
            <p:spPr>
              <a:xfrm>
                <a:off x="1200150" y="4305300"/>
                <a:ext cx="4762500" cy="9525"/>
              </a:xfrm>
              <a:custGeom>
                <a:avLst/>
                <a:gdLst/>
                <a:ahLst/>
                <a:cxnLst/>
                <a:rect l="l" t="t" r="r" b="b"/>
                <a:pathLst>
                  <a:path w="4762500" h="9525">
                    <a:moveTo>
                      <a:pt x="0" y="0"/>
                    </a:moveTo>
                    <a:lnTo>
                      <a:pt x="4762500" y="0"/>
                    </a:lnTo>
                  </a:path>
                </a:pathLst>
              </a:custGeom>
              <a:noFill/>
              <a:ln w="9525">
                <a:solidFill>
                  <a:schemeClr val="accent6"/>
                </a:solidFill>
              </a:ln>
            </p:spPr>
          </p:sp>
          <p:sp>
            <p:nvSpPr>
              <p:cNvPr id="37" name="Line 37"/>
              <p:cNvSpPr/>
              <p:nvPr/>
            </p:nvSpPr>
            <p:spPr>
              <a:xfrm>
                <a:off x="1200150" y="4819650"/>
                <a:ext cx="4762500" cy="9525"/>
              </a:xfrm>
              <a:custGeom>
                <a:avLst/>
                <a:gdLst/>
                <a:ahLst/>
                <a:cxnLst/>
                <a:rect l="l" t="t" r="r" b="b"/>
                <a:pathLst>
                  <a:path w="4762500" h="9525">
                    <a:moveTo>
                      <a:pt x="0" y="0"/>
                    </a:moveTo>
                    <a:lnTo>
                      <a:pt x="4762500" y="0"/>
                    </a:lnTo>
                  </a:path>
                </a:pathLst>
              </a:custGeom>
              <a:noFill/>
              <a:ln w="9525">
                <a:solidFill>
                  <a:schemeClr val="accent6"/>
                </a:solidFill>
              </a:ln>
            </p:spPr>
          </p:sp>
          <p:sp>
            <p:nvSpPr>
              <p:cNvPr id="38" name="Line 38"/>
              <p:cNvSpPr/>
              <p:nvPr/>
            </p:nvSpPr>
            <p:spPr>
              <a:xfrm>
                <a:off x="1200150" y="5334000"/>
                <a:ext cx="4762500" cy="9525"/>
              </a:xfrm>
              <a:custGeom>
                <a:avLst/>
                <a:gdLst/>
                <a:ahLst/>
                <a:cxnLst/>
                <a:rect l="l" t="t" r="r" b="b"/>
                <a:pathLst>
                  <a:path w="4762500" h="9525">
                    <a:moveTo>
                      <a:pt x="0" y="0"/>
                    </a:moveTo>
                    <a:lnTo>
                      <a:pt x="4762500" y="0"/>
                    </a:lnTo>
                  </a:path>
                </a:pathLst>
              </a:custGeom>
              <a:noFill/>
              <a:ln w="9525">
                <a:solidFill>
                  <a:schemeClr val="accent6"/>
                </a:solidFill>
              </a:ln>
            </p:spPr>
          </p:sp>
          <p:sp>
            <p:nvSpPr>
              <p:cNvPr id="39" name="Line 39"/>
              <p:cNvSpPr/>
              <p:nvPr/>
            </p:nvSpPr>
            <p:spPr>
              <a:xfrm>
                <a:off x="1200150" y="5848350"/>
                <a:ext cx="4762500" cy="9525"/>
              </a:xfrm>
              <a:custGeom>
                <a:avLst/>
                <a:gdLst/>
                <a:ahLst/>
                <a:cxnLst/>
                <a:rect l="l" t="t" r="r" b="b"/>
                <a:pathLst>
                  <a:path w="4762500" h="9525">
                    <a:moveTo>
                      <a:pt x="0" y="0"/>
                    </a:moveTo>
                    <a:lnTo>
                      <a:pt x="4762500" y="0"/>
                    </a:lnTo>
                  </a:path>
                </a:pathLst>
              </a:custGeom>
              <a:noFill/>
              <a:ln w="9525">
                <a:solidFill>
                  <a:schemeClr val="accent6"/>
                </a:solidFill>
              </a:ln>
            </p:spPr>
          </p:sp>
          <p:sp>
            <p:nvSpPr>
              <p:cNvPr id="40" name="Line 40"/>
              <p:cNvSpPr/>
              <p:nvPr/>
            </p:nvSpPr>
            <p:spPr>
              <a:xfrm>
                <a:off x="1200150" y="3276600"/>
                <a:ext cx="9525" cy="2571750"/>
              </a:xfrm>
              <a:custGeom>
                <a:avLst/>
                <a:gdLst/>
                <a:ahLst/>
                <a:cxnLst/>
                <a:rect l="l" t="t" r="r" b="b"/>
                <a:pathLst>
                  <a:path w="9525" h="2571750">
                    <a:moveTo>
                      <a:pt x="0" y="0"/>
                    </a:moveTo>
                    <a:lnTo>
                      <a:pt x="0" y="2571750"/>
                    </a:lnTo>
                  </a:path>
                </a:pathLst>
              </a:custGeom>
              <a:noFill/>
              <a:ln w="9525">
                <a:solidFill>
                  <a:schemeClr val="accent6"/>
                </a:solidFill>
              </a:ln>
            </p:spPr>
          </p:sp>
          <p:sp>
            <p:nvSpPr>
              <p:cNvPr id="41" name="Line 41"/>
              <p:cNvSpPr/>
              <p:nvPr/>
            </p:nvSpPr>
            <p:spPr>
              <a:xfrm>
                <a:off x="2152650" y="3276600"/>
                <a:ext cx="9525" cy="2571750"/>
              </a:xfrm>
              <a:custGeom>
                <a:avLst/>
                <a:gdLst/>
                <a:ahLst/>
                <a:cxnLst/>
                <a:rect l="l" t="t" r="r" b="b"/>
                <a:pathLst>
                  <a:path w="9525" h="2571750">
                    <a:moveTo>
                      <a:pt x="0" y="0"/>
                    </a:moveTo>
                    <a:lnTo>
                      <a:pt x="0" y="2571750"/>
                    </a:lnTo>
                  </a:path>
                </a:pathLst>
              </a:custGeom>
              <a:noFill/>
              <a:ln w="9525">
                <a:solidFill>
                  <a:schemeClr val="accent6"/>
                </a:solidFill>
              </a:ln>
            </p:spPr>
          </p:sp>
          <p:sp>
            <p:nvSpPr>
              <p:cNvPr id="42" name="Line 42"/>
              <p:cNvSpPr/>
              <p:nvPr/>
            </p:nvSpPr>
            <p:spPr>
              <a:xfrm>
                <a:off x="3105150" y="3276600"/>
                <a:ext cx="9525" cy="2571750"/>
              </a:xfrm>
              <a:custGeom>
                <a:avLst/>
                <a:gdLst/>
                <a:ahLst/>
                <a:cxnLst/>
                <a:rect l="l" t="t" r="r" b="b"/>
                <a:pathLst>
                  <a:path w="9525" h="2571750">
                    <a:moveTo>
                      <a:pt x="0" y="0"/>
                    </a:moveTo>
                    <a:lnTo>
                      <a:pt x="0" y="2571750"/>
                    </a:lnTo>
                  </a:path>
                </a:pathLst>
              </a:custGeom>
              <a:noFill/>
              <a:ln w="9525">
                <a:solidFill>
                  <a:schemeClr val="accent6"/>
                </a:solidFill>
              </a:ln>
            </p:spPr>
          </p:sp>
          <p:sp>
            <p:nvSpPr>
              <p:cNvPr id="43" name="Line 43"/>
              <p:cNvSpPr/>
              <p:nvPr/>
            </p:nvSpPr>
            <p:spPr>
              <a:xfrm>
                <a:off x="4057650" y="3276600"/>
                <a:ext cx="9525" cy="2571750"/>
              </a:xfrm>
              <a:custGeom>
                <a:avLst/>
                <a:gdLst/>
                <a:ahLst/>
                <a:cxnLst/>
                <a:rect l="l" t="t" r="r" b="b"/>
                <a:pathLst>
                  <a:path w="9525" h="2571750">
                    <a:moveTo>
                      <a:pt x="0" y="0"/>
                    </a:moveTo>
                    <a:lnTo>
                      <a:pt x="0" y="2571750"/>
                    </a:lnTo>
                  </a:path>
                </a:pathLst>
              </a:custGeom>
              <a:noFill/>
              <a:ln w="9525">
                <a:solidFill>
                  <a:schemeClr val="accent6"/>
                </a:solidFill>
              </a:ln>
            </p:spPr>
          </p:sp>
          <p:sp>
            <p:nvSpPr>
              <p:cNvPr id="44" name="Line 44"/>
              <p:cNvSpPr/>
              <p:nvPr/>
            </p:nvSpPr>
            <p:spPr>
              <a:xfrm>
                <a:off x="5010150" y="3276600"/>
                <a:ext cx="9525" cy="2571750"/>
              </a:xfrm>
              <a:custGeom>
                <a:avLst/>
                <a:gdLst/>
                <a:ahLst/>
                <a:cxnLst/>
                <a:rect l="l" t="t" r="r" b="b"/>
                <a:pathLst>
                  <a:path w="9525" h="2571750">
                    <a:moveTo>
                      <a:pt x="0" y="0"/>
                    </a:moveTo>
                    <a:lnTo>
                      <a:pt x="0" y="2571750"/>
                    </a:lnTo>
                  </a:path>
                </a:pathLst>
              </a:custGeom>
              <a:noFill/>
              <a:ln w="9525">
                <a:solidFill>
                  <a:schemeClr val="accent6"/>
                </a:solidFill>
              </a:ln>
            </p:spPr>
          </p:sp>
          <p:sp>
            <p:nvSpPr>
              <p:cNvPr id="45" name="Line 45"/>
              <p:cNvSpPr/>
              <p:nvPr/>
            </p:nvSpPr>
            <p:spPr>
              <a:xfrm>
                <a:off x="5962650" y="3276600"/>
                <a:ext cx="9525" cy="2571750"/>
              </a:xfrm>
              <a:custGeom>
                <a:avLst/>
                <a:gdLst/>
                <a:ahLst/>
                <a:cxnLst/>
                <a:rect l="l" t="t" r="r" b="b"/>
                <a:pathLst>
                  <a:path w="9525" h="2571750">
                    <a:moveTo>
                      <a:pt x="0" y="0"/>
                    </a:moveTo>
                    <a:lnTo>
                      <a:pt x="0" y="2571750"/>
                    </a:lnTo>
                  </a:path>
                </a:pathLst>
              </a:custGeom>
              <a:noFill/>
              <a:ln w="9525">
                <a:solidFill>
                  <a:schemeClr val="accent6"/>
                </a:solidFill>
              </a:ln>
            </p:spPr>
          </p:sp>
        </p:grpSp>
        <p:sp>
          <p:nvSpPr>
            <p:cNvPr id="47" name="TextBox 47"/>
            <p:cNvSpPr txBox="1"/>
            <p:nvPr/>
          </p:nvSpPr>
          <p:spPr>
            <a:xfrm>
              <a:off x="1606934" y="3441382"/>
              <a:ext cx="138932" cy="322707"/>
            </a:xfrm>
            <a:prstGeom prst="rect">
              <a:avLst/>
            </a:prstGeom>
            <a:noFill/>
            <a:ln>
              <a:noFill/>
            </a:ln>
          </p:spPr>
          <p:txBody>
            <a:bodyPr wrap="none" lIns="0" tIns="0" rIns="0" bIns="0" anchor="t" anchorCtr="0">
              <a:spAutoFit/>
            </a:bodyPr>
            <a:lstStyle/>
            <a:p>
              <a:pPr algn="ctr"/>
              <a:r>
                <a:rPr lang="en-US" sz="1650" dirty="0">
                  <a:solidFill>
                    <a:schemeClr val="accent6"/>
                  </a:solidFill>
                  <a:latin typeface="Consolas"/>
                  <a:ea typeface="Consolas"/>
                  <a:cs typeface="Consolas"/>
                </a:rPr>
                <a:t>—</a:t>
              </a:r>
            </a:p>
          </p:txBody>
        </p:sp>
        <p:sp>
          <p:nvSpPr>
            <p:cNvPr id="48" name="Rectangle 48"/>
            <p:cNvSpPr/>
            <p:nvPr/>
          </p:nvSpPr>
          <p:spPr>
            <a:xfrm>
              <a:off x="2152650" y="3276600"/>
              <a:ext cx="952500" cy="514350"/>
            </a:xfrm>
            <a:prstGeom prst="rect">
              <a:avLst/>
            </a:prstGeom>
            <a:solidFill>
              <a:srgbClr val="C62828">
                <a:alpha val="8000"/>
              </a:srgbClr>
            </a:solidFill>
            <a:ln>
              <a:noFill/>
            </a:ln>
          </p:spPr>
        </p:sp>
        <p:sp>
          <p:nvSpPr>
            <p:cNvPr id="49" name="TextBox 49"/>
            <p:cNvSpPr txBox="1"/>
            <p:nvPr/>
          </p:nvSpPr>
          <p:spPr>
            <a:xfrm>
              <a:off x="2376183" y="3441382"/>
              <a:ext cx="505435" cy="322707"/>
            </a:xfrm>
            <a:prstGeom prst="rect">
              <a:avLst/>
            </a:prstGeom>
            <a:noFill/>
            <a:ln>
              <a:noFill/>
            </a:ln>
          </p:spPr>
          <p:txBody>
            <a:bodyPr wrap="none" lIns="0" tIns="0" rIns="0" bIns="0" anchor="t" anchorCtr="0">
              <a:spAutoFit/>
            </a:bodyPr>
            <a:lstStyle/>
            <a:p>
              <a:pPr algn="ctr"/>
              <a:r>
                <a:rPr lang="en-US" sz="1650" dirty="0">
                  <a:solidFill>
                    <a:srgbClr val="C62828"/>
                  </a:solidFill>
                  <a:latin typeface="Consolas"/>
                  <a:ea typeface="Consolas"/>
                  <a:cs typeface="Consolas"/>
                </a:rPr>
                <a:t>1.47</a:t>
              </a:r>
            </a:p>
          </p:txBody>
        </p:sp>
        <p:sp>
          <p:nvSpPr>
            <p:cNvPr id="50" name="Rectangle 50"/>
            <p:cNvSpPr/>
            <p:nvPr/>
          </p:nvSpPr>
          <p:spPr>
            <a:xfrm>
              <a:off x="3105150" y="3276600"/>
              <a:ext cx="952500" cy="514350"/>
            </a:xfrm>
            <a:prstGeom prst="rect">
              <a:avLst/>
            </a:prstGeom>
            <a:solidFill>
              <a:srgbClr val="C62828">
                <a:alpha val="8000"/>
              </a:srgbClr>
            </a:solidFill>
            <a:ln>
              <a:noFill/>
            </a:ln>
          </p:spPr>
        </p:sp>
        <p:sp>
          <p:nvSpPr>
            <p:cNvPr id="51" name="TextBox 51"/>
            <p:cNvSpPr txBox="1"/>
            <p:nvPr/>
          </p:nvSpPr>
          <p:spPr>
            <a:xfrm>
              <a:off x="3328683" y="3441382"/>
              <a:ext cx="505435" cy="322707"/>
            </a:xfrm>
            <a:prstGeom prst="rect">
              <a:avLst/>
            </a:prstGeom>
            <a:noFill/>
            <a:ln>
              <a:noFill/>
            </a:ln>
          </p:spPr>
          <p:txBody>
            <a:bodyPr wrap="none" lIns="0" tIns="0" rIns="0" bIns="0" anchor="t" anchorCtr="0">
              <a:spAutoFit/>
            </a:bodyPr>
            <a:lstStyle/>
            <a:p>
              <a:pPr algn="ctr"/>
              <a:r>
                <a:rPr lang="en-US" sz="1650" dirty="0">
                  <a:solidFill>
                    <a:srgbClr val="C62828"/>
                  </a:solidFill>
                  <a:latin typeface="Consolas"/>
                  <a:ea typeface="Consolas"/>
                  <a:cs typeface="Consolas"/>
                </a:rPr>
                <a:t>2.65</a:t>
              </a:r>
            </a:p>
          </p:txBody>
        </p:sp>
        <p:sp>
          <p:nvSpPr>
            <p:cNvPr id="52" name="TextBox 52"/>
            <p:cNvSpPr txBox="1"/>
            <p:nvPr/>
          </p:nvSpPr>
          <p:spPr>
            <a:xfrm>
              <a:off x="4281183" y="3441382"/>
              <a:ext cx="505435" cy="322707"/>
            </a:xfrm>
            <a:prstGeom prst="rect">
              <a:avLst/>
            </a:prstGeom>
            <a:noFill/>
            <a:ln>
              <a:noFill/>
            </a:ln>
          </p:spPr>
          <p:txBody>
            <a:bodyPr wrap="none" lIns="0" tIns="0" rIns="0" bIns="0" anchor="t" anchorCtr="0">
              <a:spAutoFit/>
            </a:bodyPr>
            <a:lstStyle/>
            <a:p>
              <a:pPr algn="ctr"/>
              <a:r>
                <a:rPr lang="en-US" sz="1650" dirty="0">
                  <a:solidFill>
                    <a:srgbClr val="2E7D32"/>
                  </a:solidFill>
                  <a:latin typeface="Consolas"/>
                  <a:ea typeface="Consolas"/>
                  <a:cs typeface="Consolas"/>
                </a:rPr>
                <a:t>6.29</a:t>
              </a:r>
            </a:p>
          </p:txBody>
        </p:sp>
        <p:sp>
          <p:nvSpPr>
            <p:cNvPr id="53" name="TextBox 53"/>
            <p:cNvSpPr txBox="1"/>
            <p:nvPr/>
          </p:nvSpPr>
          <p:spPr>
            <a:xfrm>
              <a:off x="5172599" y="3441382"/>
              <a:ext cx="627602" cy="322707"/>
            </a:xfrm>
            <a:prstGeom prst="rect">
              <a:avLst/>
            </a:prstGeom>
            <a:noFill/>
            <a:ln>
              <a:noFill/>
            </a:ln>
          </p:spPr>
          <p:txBody>
            <a:bodyPr wrap="none" lIns="0" tIns="0" rIns="0" bIns="0" anchor="t" anchorCtr="0">
              <a:spAutoFit/>
            </a:bodyPr>
            <a:lstStyle/>
            <a:p>
              <a:pPr algn="ctr"/>
              <a:r>
                <a:rPr lang="en-US" sz="1650" dirty="0">
                  <a:solidFill>
                    <a:srgbClr val="2E7D32"/>
                  </a:solidFill>
                  <a:latin typeface="Consolas"/>
                  <a:ea typeface="Consolas"/>
                  <a:cs typeface="Consolas"/>
                </a:rPr>
                <a:t>13.74</a:t>
              </a:r>
            </a:p>
          </p:txBody>
        </p:sp>
        <p:sp>
          <p:nvSpPr>
            <p:cNvPr id="54" name="Rectangle 54"/>
            <p:cNvSpPr/>
            <p:nvPr/>
          </p:nvSpPr>
          <p:spPr>
            <a:xfrm>
              <a:off x="1200150" y="3790950"/>
              <a:ext cx="952500" cy="514350"/>
            </a:xfrm>
            <a:prstGeom prst="rect">
              <a:avLst/>
            </a:prstGeom>
            <a:solidFill>
              <a:srgbClr val="C62828">
                <a:alpha val="8000"/>
              </a:srgbClr>
            </a:solidFill>
            <a:ln>
              <a:noFill/>
            </a:ln>
          </p:spPr>
        </p:sp>
        <p:sp>
          <p:nvSpPr>
            <p:cNvPr id="55" name="TextBox 55"/>
            <p:cNvSpPr txBox="1"/>
            <p:nvPr/>
          </p:nvSpPr>
          <p:spPr>
            <a:xfrm>
              <a:off x="1423683" y="3955732"/>
              <a:ext cx="505435" cy="322707"/>
            </a:xfrm>
            <a:prstGeom prst="rect">
              <a:avLst/>
            </a:prstGeom>
            <a:noFill/>
            <a:ln>
              <a:noFill/>
            </a:ln>
          </p:spPr>
          <p:txBody>
            <a:bodyPr wrap="none" lIns="0" tIns="0" rIns="0" bIns="0" anchor="t" anchorCtr="0">
              <a:spAutoFit/>
            </a:bodyPr>
            <a:lstStyle/>
            <a:p>
              <a:pPr algn="ctr"/>
              <a:r>
                <a:rPr lang="en-US" sz="1650" dirty="0">
                  <a:solidFill>
                    <a:srgbClr val="C62828"/>
                  </a:solidFill>
                  <a:latin typeface="Consolas"/>
                  <a:ea typeface="Consolas"/>
                  <a:cs typeface="Consolas"/>
                </a:rPr>
                <a:t>1.47</a:t>
              </a:r>
            </a:p>
          </p:txBody>
        </p:sp>
        <p:sp>
          <p:nvSpPr>
            <p:cNvPr id="56" name="TextBox 56"/>
            <p:cNvSpPr txBox="1"/>
            <p:nvPr/>
          </p:nvSpPr>
          <p:spPr>
            <a:xfrm>
              <a:off x="2559434" y="3955732"/>
              <a:ext cx="138932" cy="322707"/>
            </a:xfrm>
            <a:prstGeom prst="rect">
              <a:avLst/>
            </a:prstGeom>
            <a:noFill/>
            <a:ln>
              <a:noFill/>
            </a:ln>
          </p:spPr>
          <p:txBody>
            <a:bodyPr wrap="none" lIns="0" tIns="0" rIns="0" bIns="0" anchor="t" anchorCtr="0">
              <a:spAutoFit/>
            </a:bodyPr>
            <a:lstStyle/>
            <a:p>
              <a:pPr algn="ctr"/>
              <a:r>
                <a:rPr lang="en-US" sz="1650" dirty="0">
                  <a:solidFill>
                    <a:schemeClr val="accent6"/>
                  </a:solidFill>
                  <a:latin typeface="Consolas"/>
                  <a:ea typeface="Consolas"/>
                  <a:cs typeface="Consolas"/>
                </a:rPr>
                <a:t>—</a:t>
              </a:r>
            </a:p>
          </p:txBody>
        </p:sp>
        <p:sp>
          <p:nvSpPr>
            <p:cNvPr id="57" name="Rectangle 57"/>
            <p:cNvSpPr/>
            <p:nvPr/>
          </p:nvSpPr>
          <p:spPr>
            <a:xfrm>
              <a:off x="3105150" y="3790950"/>
              <a:ext cx="952500" cy="514350"/>
            </a:xfrm>
            <a:prstGeom prst="rect">
              <a:avLst/>
            </a:prstGeom>
            <a:solidFill>
              <a:srgbClr val="C62828">
                <a:alpha val="8000"/>
              </a:srgbClr>
            </a:solidFill>
            <a:ln>
              <a:noFill/>
            </a:ln>
          </p:spPr>
        </p:sp>
        <p:sp>
          <p:nvSpPr>
            <p:cNvPr id="58" name="TextBox 58"/>
            <p:cNvSpPr txBox="1"/>
            <p:nvPr/>
          </p:nvSpPr>
          <p:spPr>
            <a:xfrm>
              <a:off x="3328683" y="3955732"/>
              <a:ext cx="505435" cy="322707"/>
            </a:xfrm>
            <a:prstGeom prst="rect">
              <a:avLst/>
            </a:prstGeom>
            <a:noFill/>
            <a:ln>
              <a:noFill/>
            </a:ln>
          </p:spPr>
          <p:txBody>
            <a:bodyPr wrap="none" lIns="0" tIns="0" rIns="0" bIns="0" anchor="t" anchorCtr="0">
              <a:spAutoFit/>
            </a:bodyPr>
            <a:lstStyle/>
            <a:p>
              <a:pPr algn="ctr"/>
              <a:r>
                <a:rPr lang="en-US" sz="1650" dirty="0">
                  <a:solidFill>
                    <a:srgbClr val="C62828"/>
                  </a:solidFill>
                  <a:latin typeface="Consolas"/>
                  <a:ea typeface="Consolas"/>
                  <a:cs typeface="Consolas"/>
                </a:rPr>
                <a:t>1.81</a:t>
              </a:r>
            </a:p>
          </p:txBody>
        </p:sp>
        <p:sp>
          <p:nvSpPr>
            <p:cNvPr id="59" name="Rectangle 59"/>
            <p:cNvSpPr/>
            <p:nvPr/>
          </p:nvSpPr>
          <p:spPr>
            <a:xfrm>
              <a:off x="4057650" y="3790950"/>
              <a:ext cx="952500" cy="514350"/>
            </a:xfrm>
            <a:prstGeom prst="rect">
              <a:avLst/>
            </a:prstGeom>
            <a:solidFill>
              <a:srgbClr val="C62828">
                <a:alpha val="8000"/>
              </a:srgbClr>
            </a:solidFill>
            <a:ln>
              <a:noFill/>
            </a:ln>
          </p:spPr>
        </p:sp>
        <p:sp>
          <p:nvSpPr>
            <p:cNvPr id="60" name="TextBox 60"/>
            <p:cNvSpPr txBox="1"/>
            <p:nvPr/>
          </p:nvSpPr>
          <p:spPr>
            <a:xfrm>
              <a:off x="4281183" y="3955732"/>
              <a:ext cx="505435" cy="322707"/>
            </a:xfrm>
            <a:prstGeom prst="rect">
              <a:avLst/>
            </a:prstGeom>
            <a:noFill/>
            <a:ln>
              <a:noFill/>
            </a:ln>
          </p:spPr>
          <p:txBody>
            <a:bodyPr wrap="none" lIns="0" tIns="0" rIns="0" bIns="0" anchor="t" anchorCtr="0">
              <a:spAutoFit/>
            </a:bodyPr>
            <a:lstStyle/>
            <a:p>
              <a:pPr algn="ctr"/>
              <a:r>
                <a:rPr lang="en-US" sz="1650" dirty="0">
                  <a:solidFill>
                    <a:srgbClr val="C62828"/>
                  </a:solidFill>
                  <a:latin typeface="Consolas"/>
                  <a:ea typeface="Consolas"/>
                  <a:cs typeface="Consolas"/>
                </a:rPr>
                <a:t>4.29</a:t>
              </a:r>
            </a:p>
          </p:txBody>
        </p:sp>
        <p:sp>
          <p:nvSpPr>
            <p:cNvPr id="61" name="TextBox 61"/>
            <p:cNvSpPr txBox="1"/>
            <p:nvPr/>
          </p:nvSpPr>
          <p:spPr>
            <a:xfrm>
              <a:off x="5233683" y="3955732"/>
              <a:ext cx="505435" cy="322707"/>
            </a:xfrm>
            <a:prstGeom prst="rect">
              <a:avLst/>
            </a:prstGeom>
            <a:noFill/>
            <a:ln>
              <a:noFill/>
            </a:ln>
          </p:spPr>
          <p:txBody>
            <a:bodyPr wrap="none" lIns="0" tIns="0" rIns="0" bIns="0" anchor="t" anchorCtr="0">
              <a:spAutoFit/>
            </a:bodyPr>
            <a:lstStyle/>
            <a:p>
              <a:pPr algn="ctr"/>
              <a:r>
                <a:rPr lang="en-US" sz="1650" dirty="0">
                  <a:solidFill>
                    <a:srgbClr val="2E7D32"/>
                  </a:solidFill>
                  <a:latin typeface="Consolas"/>
                  <a:ea typeface="Consolas"/>
                  <a:cs typeface="Consolas"/>
                </a:rPr>
                <a:t>9.36</a:t>
              </a:r>
            </a:p>
          </p:txBody>
        </p:sp>
        <p:sp>
          <p:nvSpPr>
            <p:cNvPr id="62" name="Rectangle 62"/>
            <p:cNvSpPr/>
            <p:nvPr/>
          </p:nvSpPr>
          <p:spPr>
            <a:xfrm>
              <a:off x="1200150" y="4305300"/>
              <a:ext cx="952500" cy="514350"/>
            </a:xfrm>
            <a:prstGeom prst="rect">
              <a:avLst/>
            </a:prstGeom>
            <a:solidFill>
              <a:srgbClr val="C62828">
                <a:alpha val="8000"/>
              </a:srgbClr>
            </a:solidFill>
            <a:ln>
              <a:noFill/>
            </a:ln>
          </p:spPr>
        </p:sp>
        <p:sp>
          <p:nvSpPr>
            <p:cNvPr id="63" name="TextBox 63"/>
            <p:cNvSpPr txBox="1"/>
            <p:nvPr/>
          </p:nvSpPr>
          <p:spPr>
            <a:xfrm>
              <a:off x="1423683" y="4470082"/>
              <a:ext cx="505435" cy="322707"/>
            </a:xfrm>
            <a:prstGeom prst="rect">
              <a:avLst/>
            </a:prstGeom>
            <a:noFill/>
            <a:ln>
              <a:noFill/>
            </a:ln>
          </p:spPr>
          <p:txBody>
            <a:bodyPr wrap="none" lIns="0" tIns="0" rIns="0" bIns="0" anchor="t" anchorCtr="0">
              <a:spAutoFit/>
            </a:bodyPr>
            <a:lstStyle/>
            <a:p>
              <a:pPr algn="ctr"/>
              <a:r>
                <a:rPr lang="en-US" sz="1650" dirty="0">
                  <a:solidFill>
                    <a:srgbClr val="C62828"/>
                  </a:solidFill>
                  <a:latin typeface="Consolas"/>
                  <a:ea typeface="Consolas"/>
                  <a:cs typeface="Consolas"/>
                </a:rPr>
                <a:t>2.65</a:t>
              </a:r>
            </a:p>
          </p:txBody>
        </p:sp>
        <p:sp>
          <p:nvSpPr>
            <p:cNvPr id="64" name="Rectangle 64"/>
            <p:cNvSpPr/>
            <p:nvPr/>
          </p:nvSpPr>
          <p:spPr>
            <a:xfrm>
              <a:off x="2152650" y="4305300"/>
              <a:ext cx="952500" cy="514350"/>
            </a:xfrm>
            <a:prstGeom prst="rect">
              <a:avLst/>
            </a:prstGeom>
            <a:solidFill>
              <a:srgbClr val="C62828">
                <a:alpha val="8000"/>
              </a:srgbClr>
            </a:solidFill>
            <a:ln>
              <a:noFill/>
            </a:ln>
          </p:spPr>
        </p:sp>
        <p:sp>
          <p:nvSpPr>
            <p:cNvPr id="65" name="TextBox 65"/>
            <p:cNvSpPr txBox="1"/>
            <p:nvPr/>
          </p:nvSpPr>
          <p:spPr>
            <a:xfrm>
              <a:off x="2376183" y="4470082"/>
              <a:ext cx="505435" cy="322707"/>
            </a:xfrm>
            <a:prstGeom prst="rect">
              <a:avLst/>
            </a:prstGeom>
            <a:noFill/>
            <a:ln>
              <a:noFill/>
            </a:ln>
          </p:spPr>
          <p:txBody>
            <a:bodyPr wrap="none" lIns="0" tIns="0" rIns="0" bIns="0" anchor="t" anchorCtr="0">
              <a:spAutoFit/>
            </a:bodyPr>
            <a:lstStyle/>
            <a:p>
              <a:pPr algn="ctr"/>
              <a:r>
                <a:rPr lang="en-US" sz="1650" dirty="0">
                  <a:solidFill>
                    <a:srgbClr val="C62828"/>
                  </a:solidFill>
                  <a:latin typeface="Consolas"/>
                  <a:ea typeface="Consolas"/>
                  <a:cs typeface="Consolas"/>
                </a:rPr>
                <a:t>1.81</a:t>
              </a:r>
            </a:p>
          </p:txBody>
        </p:sp>
        <p:sp>
          <p:nvSpPr>
            <p:cNvPr id="66" name="TextBox 66"/>
            <p:cNvSpPr txBox="1"/>
            <p:nvPr/>
          </p:nvSpPr>
          <p:spPr>
            <a:xfrm>
              <a:off x="3511934" y="4470082"/>
              <a:ext cx="138932" cy="322707"/>
            </a:xfrm>
            <a:prstGeom prst="rect">
              <a:avLst/>
            </a:prstGeom>
            <a:noFill/>
            <a:ln>
              <a:noFill/>
            </a:ln>
          </p:spPr>
          <p:txBody>
            <a:bodyPr wrap="none" lIns="0" tIns="0" rIns="0" bIns="0" anchor="t" anchorCtr="0">
              <a:spAutoFit/>
            </a:bodyPr>
            <a:lstStyle/>
            <a:p>
              <a:pPr algn="ctr"/>
              <a:r>
                <a:rPr lang="en-US" sz="1650" dirty="0">
                  <a:solidFill>
                    <a:schemeClr val="accent6"/>
                  </a:solidFill>
                  <a:latin typeface="Consolas"/>
                  <a:ea typeface="Consolas"/>
                  <a:cs typeface="Consolas"/>
                </a:rPr>
                <a:t>—</a:t>
              </a:r>
            </a:p>
          </p:txBody>
        </p:sp>
        <p:sp>
          <p:nvSpPr>
            <p:cNvPr id="67" name="Rectangle 67"/>
            <p:cNvSpPr/>
            <p:nvPr/>
          </p:nvSpPr>
          <p:spPr>
            <a:xfrm>
              <a:off x="4057650" y="4305300"/>
              <a:ext cx="952500" cy="514350"/>
            </a:xfrm>
            <a:prstGeom prst="rect">
              <a:avLst/>
            </a:prstGeom>
            <a:solidFill>
              <a:srgbClr val="C62828">
                <a:alpha val="8000"/>
              </a:srgbClr>
            </a:solidFill>
            <a:ln>
              <a:noFill/>
            </a:ln>
          </p:spPr>
        </p:sp>
        <p:sp>
          <p:nvSpPr>
            <p:cNvPr id="68" name="TextBox 68"/>
            <p:cNvSpPr txBox="1"/>
            <p:nvPr/>
          </p:nvSpPr>
          <p:spPr>
            <a:xfrm>
              <a:off x="4281183" y="4470082"/>
              <a:ext cx="505435" cy="322707"/>
            </a:xfrm>
            <a:prstGeom prst="rect">
              <a:avLst/>
            </a:prstGeom>
            <a:noFill/>
            <a:ln>
              <a:noFill/>
            </a:ln>
          </p:spPr>
          <p:txBody>
            <a:bodyPr wrap="none" lIns="0" tIns="0" rIns="0" bIns="0" anchor="t" anchorCtr="0">
              <a:spAutoFit/>
            </a:bodyPr>
            <a:lstStyle/>
            <a:p>
              <a:pPr algn="ctr"/>
              <a:r>
                <a:rPr lang="en-US" sz="1650" dirty="0">
                  <a:solidFill>
                    <a:srgbClr val="C62828"/>
                  </a:solidFill>
                  <a:latin typeface="Consolas"/>
                  <a:ea typeface="Consolas"/>
                  <a:cs typeface="Consolas"/>
                </a:rPr>
                <a:t>2.37</a:t>
              </a:r>
            </a:p>
          </p:txBody>
        </p:sp>
        <p:sp>
          <p:nvSpPr>
            <p:cNvPr id="69" name="TextBox 69"/>
            <p:cNvSpPr txBox="1"/>
            <p:nvPr/>
          </p:nvSpPr>
          <p:spPr>
            <a:xfrm>
              <a:off x="5233683" y="4470082"/>
              <a:ext cx="505435" cy="322707"/>
            </a:xfrm>
            <a:prstGeom prst="rect">
              <a:avLst/>
            </a:prstGeom>
            <a:noFill/>
            <a:ln>
              <a:noFill/>
            </a:ln>
          </p:spPr>
          <p:txBody>
            <a:bodyPr wrap="none" lIns="0" tIns="0" rIns="0" bIns="0" anchor="t" anchorCtr="0">
              <a:spAutoFit/>
            </a:bodyPr>
            <a:lstStyle/>
            <a:p>
              <a:pPr algn="ctr"/>
              <a:r>
                <a:rPr lang="en-US" sz="1650" dirty="0">
                  <a:solidFill>
                    <a:srgbClr val="2E7D32"/>
                  </a:solidFill>
                  <a:latin typeface="Consolas"/>
                  <a:ea typeface="Consolas"/>
                  <a:cs typeface="Consolas"/>
                </a:rPr>
                <a:t>5.18</a:t>
              </a:r>
            </a:p>
          </p:txBody>
        </p:sp>
        <p:sp>
          <p:nvSpPr>
            <p:cNvPr id="70" name="TextBox 70"/>
            <p:cNvSpPr txBox="1"/>
            <p:nvPr/>
          </p:nvSpPr>
          <p:spPr>
            <a:xfrm>
              <a:off x="1423683" y="4984432"/>
              <a:ext cx="505435" cy="322707"/>
            </a:xfrm>
            <a:prstGeom prst="rect">
              <a:avLst/>
            </a:prstGeom>
            <a:noFill/>
            <a:ln>
              <a:noFill/>
            </a:ln>
          </p:spPr>
          <p:txBody>
            <a:bodyPr wrap="none" lIns="0" tIns="0" rIns="0" bIns="0" anchor="t" anchorCtr="0">
              <a:spAutoFit/>
            </a:bodyPr>
            <a:lstStyle/>
            <a:p>
              <a:pPr algn="ctr"/>
              <a:r>
                <a:rPr lang="en-US" sz="1650" dirty="0">
                  <a:solidFill>
                    <a:srgbClr val="2E7D32"/>
                  </a:solidFill>
                  <a:latin typeface="Consolas"/>
                  <a:ea typeface="Consolas"/>
                  <a:cs typeface="Consolas"/>
                </a:rPr>
                <a:t>6.29</a:t>
              </a:r>
            </a:p>
          </p:txBody>
        </p:sp>
        <p:sp>
          <p:nvSpPr>
            <p:cNvPr id="71" name="Rectangle 71"/>
            <p:cNvSpPr/>
            <p:nvPr/>
          </p:nvSpPr>
          <p:spPr>
            <a:xfrm>
              <a:off x="2152650" y="4819650"/>
              <a:ext cx="952500" cy="514350"/>
            </a:xfrm>
            <a:prstGeom prst="rect">
              <a:avLst/>
            </a:prstGeom>
            <a:solidFill>
              <a:srgbClr val="C62828">
                <a:alpha val="8000"/>
              </a:srgbClr>
            </a:solidFill>
            <a:ln>
              <a:noFill/>
            </a:ln>
          </p:spPr>
        </p:sp>
        <p:sp>
          <p:nvSpPr>
            <p:cNvPr id="72" name="TextBox 72"/>
            <p:cNvSpPr txBox="1"/>
            <p:nvPr/>
          </p:nvSpPr>
          <p:spPr>
            <a:xfrm>
              <a:off x="2376183" y="4984432"/>
              <a:ext cx="505435" cy="322707"/>
            </a:xfrm>
            <a:prstGeom prst="rect">
              <a:avLst/>
            </a:prstGeom>
            <a:noFill/>
            <a:ln>
              <a:noFill/>
            </a:ln>
          </p:spPr>
          <p:txBody>
            <a:bodyPr wrap="none" lIns="0" tIns="0" rIns="0" bIns="0" anchor="t" anchorCtr="0">
              <a:spAutoFit/>
            </a:bodyPr>
            <a:lstStyle/>
            <a:p>
              <a:pPr algn="ctr"/>
              <a:r>
                <a:rPr lang="en-US" sz="1650" dirty="0">
                  <a:solidFill>
                    <a:srgbClr val="C62828"/>
                  </a:solidFill>
                  <a:latin typeface="Consolas"/>
                  <a:ea typeface="Consolas"/>
                  <a:cs typeface="Consolas"/>
                </a:rPr>
                <a:t>4.29</a:t>
              </a:r>
            </a:p>
          </p:txBody>
        </p:sp>
        <p:sp>
          <p:nvSpPr>
            <p:cNvPr id="73" name="Rectangle 73"/>
            <p:cNvSpPr/>
            <p:nvPr/>
          </p:nvSpPr>
          <p:spPr>
            <a:xfrm>
              <a:off x="3105150" y="4819650"/>
              <a:ext cx="952500" cy="514350"/>
            </a:xfrm>
            <a:prstGeom prst="rect">
              <a:avLst/>
            </a:prstGeom>
            <a:solidFill>
              <a:srgbClr val="C62828">
                <a:alpha val="8000"/>
              </a:srgbClr>
            </a:solidFill>
            <a:ln>
              <a:noFill/>
            </a:ln>
          </p:spPr>
        </p:sp>
        <p:sp>
          <p:nvSpPr>
            <p:cNvPr id="74" name="TextBox 74"/>
            <p:cNvSpPr txBox="1"/>
            <p:nvPr/>
          </p:nvSpPr>
          <p:spPr>
            <a:xfrm>
              <a:off x="3328683" y="4984432"/>
              <a:ext cx="505435" cy="322707"/>
            </a:xfrm>
            <a:prstGeom prst="rect">
              <a:avLst/>
            </a:prstGeom>
            <a:noFill/>
            <a:ln>
              <a:noFill/>
            </a:ln>
          </p:spPr>
          <p:txBody>
            <a:bodyPr wrap="none" lIns="0" tIns="0" rIns="0" bIns="0" anchor="t" anchorCtr="0">
              <a:spAutoFit/>
            </a:bodyPr>
            <a:lstStyle/>
            <a:p>
              <a:pPr algn="ctr"/>
              <a:r>
                <a:rPr lang="en-US" sz="1650" dirty="0">
                  <a:solidFill>
                    <a:srgbClr val="C62828"/>
                  </a:solidFill>
                  <a:latin typeface="Consolas"/>
                  <a:ea typeface="Consolas"/>
                  <a:cs typeface="Consolas"/>
                </a:rPr>
                <a:t>2.37</a:t>
              </a:r>
            </a:p>
          </p:txBody>
        </p:sp>
        <p:sp>
          <p:nvSpPr>
            <p:cNvPr id="75" name="TextBox 75"/>
            <p:cNvSpPr txBox="1"/>
            <p:nvPr/>
          </p:nvSpPr>
          <p:spPr>
            <a:xfrm>
              <a:off x="4464434" y="4984432"/>
              <a:ext cx="138932" cy="322707"/>
            </a:xfrm>
            <a:prstGeom prst="rect">
              <a:avLst/>
            </a:prstGeom>
            <a:noFill/>
            <a:ln>
              <a:noFill/>
            </a:ln>
          </p:spPr>
          <p:txBody>
            <a:bodyPr wrap="none" lIns="0" tIns="0" rIns="0" bIns="0" anchor="t" anchorCtr="0">
              <a:spAutoFit/>
            </a:bodyPr>
            <a:lstStyle/>
            <a:p>
              <a:pPr algn="ctr"/>
              <a:r>
                <a:rPr lang="en-US" sz="1650" dirty="0">
                  <a:solidFill>
                    <a:schemeClr val="accent6"/>
                  </a:solidFill>
                  <a:latin typeface="Consolas"/>
                  <a:ea typeface="Consolas"/>
                  <a:cs typeface="Consolas"/>
                </a:rPr>
                <a:t>—</a:t>
              </a:r>
            </a:p>
          </p:txBody>
        </p:sp>
        <p:sp>
          <p:nvSpPr>
            <p:cNvPr id="76" name="Rectangle 76"/>
            <p:cNvSpPr/>
            <p:nvPr/>
          </p:nvSpPr>
          <p:spPr>
            <a:xfrm>
              <a:off x="5010150" y="4819650"/>
              <a:ext cx="952500" cy="514350"/>
            </a:xfrm>
            <a:prstGeom prst="rect">
              <a:avLst/>
            </a:prstGeom>
            <a:solidFill>
              <a:srgbClr val="C62828">
                <a:alpha val="8000"/>
              </a:srgbClr>
            </a:solidFill>
            <a:ln>
              <a:noFill/>
            </a:ln>
          </p:spPr>
        </p:sp>
        <p:sp>
          <p:nvSpPr>
            <p:cNvPr id="77" name="TextBox 77"/>
            <p:cNvSpPr txBox="1"/>
            <p:nvPr/>
          </p:nvSpPr>
          <p:spPr>
            <a:xfrm>
              <a:off x="5233683" y="4984432"/>
              <a:ext cx="505435" cy="322707"/>
            </a:xfrm>
            <a:prstGeom prst="rect">
              <a:avLst/>
            </a:prstGeom>
            <a:noFill/>
            <a:ln>
              <a:noFill/>
            </a:ln>
          </p:spPr>
          <p:txBody>
            <a:bodyPr wrap="none" lIns="0" tIns="0" rIns="0" bIns="0" anchor="t" anchorCtr="0">
              <a:spAutoFit/>
            </a:bodyPr>
            <a:lstStyle/>
            <a:p>
              <a:pPr algn="ctr"/>
              <a:r>
                <a:rPr lang="en-US" sz="1650" dirty="0">
                  <a:solidFill>
                    <a:srgbClr val="C62828"/>
                  </a:solidFill>
                  <a:latin typeface="Consolas"/>
                  <a:ea typeface="Consolas"/>
                  <a:cs typeface="Consolas"/>
                </a:rPr>
                <a:t>2.18</a:t>
              </a:r>
            </a:p>
          </p:txBody>
        </p:sp>
        <p:sp>
          <p:nvSpPr>
            <p:cNvPr id="78" name="TextBox 78"/>
            <p:cNvSpPr txBox="1"/>
            <p:nvPr/>
          </p:nvSpPr>
          <p:spPr>
            <a:xfrm>
              <a:off x="1362599" y="5498782"/>
              <a:ext cx="627602" cy="322707"/>
            </a:xfrm>
            <a:prstGeom prst="rect">
              <a:avLst/>
            </a:prstGeom>
            <a:noFill/>
            <a:ln>
              <a:noFill/>
            </a:ln>
          </p:spPr>
          <p:txBody>
            <a:bodyPr wrap="none" lIns="0" tIns="0" rIns="0" bIns="0" anchor="t" anchorCtr="0">
              <a:spAutoFit/>
            </a:bodyPr>
            <a:lstStyle/>
            <a:p>
              <a:pPr algn="ctr"/>
              <a:r>
                <a:rPr lang="en-US" sz="1650" dirty="0">
                  <a:solidFill>
                    <a:srgbClr val="2E7D32"/>
                  </a:solidFill>
                  <a:latin typeface="Consolas"/>
                  <a:ea typeface="Consolas"/>
                  <a:cs typeface="Consolas"/>
                </a:rPr>
                <a:t>13.74</a:t>
              </a:r>
            </a:p>
          </p:txBody>
        </p:sp>
        <p:sp>
          <p:nvSpPr>
            <p:cNvPr id="79" name="TextBox 79"/>
            <p:cNvSpPr txBox="1"/>
            <p:nvPr/>
          </p:nvSpPr>
          <p:spPr>
            <a:xfrm>
              <a:off x="2376183" y="5498782"/>
              <a:ext cx="505435" cy="322707"/>
            </a:xfrm>
            <a:prstGeom prst="rect">
              <a:avLst/>
            </a:prstGeom>
            <a:noFill/>
            <a:ln>
              <a:noFill/>
            </a:ln>
          </p:spPr>
          <p:txBody>
            <a:bodyPr wrap="none" lIns="0" tIns="0" rIns="0" bIns="0" anchor="t" anchorCtr="0">
              <a:spAutoFit/>
            </a:bodyPr>
            <a:lstStyle/>
            <a:p>
              <a:pPr algn="ctr"/>
              <a:r>
                <a:rPr lang="en-US" sz="1650" dirty="0">
                  <a:solidFill>
                    <a:srgbClr val="2E7D32"/>
                  </a:solidFill>
                  <a:latin typeface="Consolas"/>
                  <a:ea typeface="Consolas"/>
                  <a:cs typeface="Consolas"/>
                </a:rPr>
                <a:t>9.36</a:t>
              </a:r>
            </a:p>
          </p:txBody>
        </p:sp>
        <p:sp>
          <p:nvSpPr>
            <p:cNvPr id="80" name="TextBox 80"/>
            <p:cNvSpPr txBox="1"/>
            <p:nvPr/>
          </p:nvSpPr>
          <p:spPr>
            <a:xfrm>
              <a:off x="3328683" y="5498782"/>
              <a:ext cx="505435" cy="322707"/>
            </a:xfrm>
            <a:prstGeom prst="rect">
              <a:avLst/>
            </a:prstGeom>
            <a:noFill/>
            <a:ln>
              <a:noFill/>
            </a:ln>
          </p:spPr>
          <p:txBody>
            <a:bodyPr wrap="none" lIns="0" tIns="0" rIns="0" bIns="0" anchor="t" anchorCtr="0">
              <a:spAutoFit/>
            </a:bodyPr>
            <a:lstStyle/>
            <a:p>
              <a:pPr algn="ctr"/>
              <a:r>
                <a:rPr lang="en-US" sz="1650" dirty="0">
                  <a:solidFill>
                    <a:srgbClr val="2E7D32"/>
                  </a:solidFill>
                  <a:latin typeface="Consolas"/>
                  <a:ea typeface="Consolas"/>
                  <a:cs typeface="Consolas"/>
                </a:rPr>
                <a:t>5.18</a:t>
              </a:r>
            </a:p>
          </p:txBody>
        </p:sp>
        <p:sp>
          <p:nvSpPr>
            <p:cNvPr id="81" name="Rectangle 81"/>
            <p:cNvSpPr/>
            <p:nvPr/>
          </p:nvSpPr>
          <p:spPr>
            <a:xfrm>
              <a:off x="4057650" y="5334000"/>
              <a:ext cx="952500" cy="514350"/>
            </a:xfrm>
            <a:prstGeom prst="rect">
              <a:avLst/>
            </a:prstGeom>
            <a:solidFill>
              <a:srgbClr val="C62828">
                <a:alpha val="8000"/>
              </a:srgbClr>
            </a:solidFill>
            <a:ln>
              <a:noFill/>
            </a:ln>
          </p:spPr>
        </p:sp>
        <p:sp>
          <p:nvSpPr>
            <p:cNvPr id="82" name="TextBox 82"/>
            <p:cNvSpPr txBox="1"/>
            <p:nvPr/>
          </p:nvSpPr>
          <p:spPr>
            <a:xfrm>
              <a:off x="4281183" y="5498782"/>
              <a:ext cx="505435" cy="322707"/>
            </a:xfrm>
            <a:prstGeom prst="rect">
              <a:avLst/>
            </a:prstGeom>
            <a:noFill/>
            <a:ln>
              <a:noFill/>
            </a:ln>
          </p:spPr>
          <p:txBody>
            <a:bodyPr wrap="none" lIns="0" tIns="0" rIns="0" bIns="0" anchor="t" anchorCtr="0">
              <a:spAutoFit/>
            </a:bodyPr>
            <a:lstStyle/>
            <a:p>
              <a:pPr algn="ctr"/>
              <a:r>
                <a:rPr lang="en-US" sz="1650" dirty="0">
                  <a:solidFill>
                    <a:srgbClr val="C62828"/>
                  </a:solidFill>
                  <a:latin typeface="Consolas"/>
                  <a:ea typeface="Consolas"/>
                  <a:cs typeface="Consolas"/>
                </a:rPr>
                <a:t>2.18</a:t>
              </a:r>
            </a:p>
          </p:txBody>
        </p:sp>
        <p:sp>
          <p:nvSpPr>
            <p:cNvPr id="83" name="TextBox 83"/>
            <p:cNvSpPr txBox="1"/>
            <p:nvPr/>
          </p:nvSpPr>
          <p:spPr>
            <a:xfrm>
              <a:off x="5416934" y="5498782"/>
              <a:ext cx="138932" cy="322707"/>
            </a:xfrm>
            <a:prstGeom prst="rect">
              <a:avLst/>
            </a:prstGeom>
            <a:noFill/>
            <a:ln>
              <a:noFill/>
            </a:ln>
          </p:spPr>
          <p:txBody>
            <a:bodyPr wrap="none" lIns="0" tIns="0" rIns="0" bIns="0" anchor="t" anchorCtr="0">
              <a:spAutoFit/>
            </a:bodyPr>
            <a:lstStyle/>
            <a:p>
              <a:pPr algn="ctr"/>
              <a:r>
                <a:rPr lang="en-US" sz="1650" dirty="0">
                  <a:solidFill>
                    <a:schemeClr val="accent6"/>
                  </a:solidFill>
                  <a:latin typeface="Consolas"/>
                  <a:ea typeface="Consolas"/>
                  <a:cs typeface="Consolas"/>
                </a:rPr>
                <a:t>—</a:t>
              </a:r>
            </a:p>
          </p:txBody>
        </p:sp>
        <p:sp>
          <p:nvSpPr>
            <p:cNvPr id="84" name="Rectangle 84"/>
            <p:cNvSpPr/>
            <p:nvPr/>
          </p:nvSpPr>
          <p:spPr>
            <a:xfrm>
              <a:off x="4057650" y="3790950"/>
              <a:ext cx="952500" cy="514350"/>
            </a:xfrm>
            <a:prstGeom prst="rect">
              <a:avLst/>
            </a:prstGeom>
            <a:noFill/>
            <a:ln w="28575">
              <a:solidFill>
                <a:schemeClr val="accent2"/>
              </a:solidFill>
            </a:ln>
          </p:spPr>
        </p:sp>
      </p:grpSp>
      <p:grpSp>
        <p:nvGrpSpPr>
          <p:cNvPr id="101" name="Group 101"/>
          <p:cNvGrpSpPr/>
          <p:nvPr/>
        </p:nvGrpSpPr>
        <p:grpSpPr>
          <a:xfrm>
            <a:off x="6660642" y="2902268"/>
            <a:ext cx="4921758" cy="2492883"/>
            <a:chOff x="6660642" y="2902268"/>
            <a:chExt cx="4921758" cy="2492883"/>
          </a:xfrm>
        </p:grpSpPr>
        <p:sp>
          <p:nvSpPr>
            <p:cNvPr id="86" name="TextBox 86"/>
            <p:cNvSpPr txBox="1"/>
            <p:nvPr/>
          </p:nvSpPr>
          <p:spPr>
            <a:xfrm>
              <a:off x="6660642" y="2902268"/>
              <a:ext cx="3540845"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The one pair that fails, and its repair</a:t>
              </a:r>
            </a:p>
          </p:txBody>
        </p:sp>
        <p:sp>
          <p:nvSpPr>
            <p:cNvPr id="87" name="Rectangle 87"/>
            <p:cNvSpPr/>
            <p:nvPr/>
          </p:nvSpPr>
          <p:spPr>
            <a:xfrm>
              <a:off x="6667500" y="3238500"/>
              <a:ext cx="2190750" cy="857250"/>
            </a:xfrm>
            <a:prstGeom prst="rect">
              <a:avLst/>
            </a:prstGeom>
            <a:solidFill>
              <a:srgbClr val="C5B4A1"/>
            </a:solidFill>
            <a:ln>
              <a:noFill/>
            </a:ln>
          </p:spPr>
        </p:sp>
        <p:sp>
          <p:nvSpPr>
            <p:cNvPr id="88" name="TextBox 88"/>
            <p:cNvSpPr txBox="1"/>
            <p:nvPr/>
          </p:nvSpPr>
          <p:spPr>
            <a:xfrm>
              <a:off x="7131708" y="3542348"/>
              <a:ext cx="1262334" cy="381381"/>
            </a:xfrm>
            <a:prstGeom prst="rect">
              <a:avLst/>
            </a:prstGeom>
            <a:noFill/>
            <a:ln>
              <a:noFill/>
            </a:ln>
          </p:spPr>
          <p:txBody>
            <a:bodyPr wrap="none" lIns="0" tIns="0" rIns="0" bIns="0" anchor="t" anchorCtr="0">
              <a:spAutoFit/>
            </a:bodyPr>
            <a:lstStyle/>
            <a:p>
              <a:pPr algn="ctr"/>
              <a:r>
                <a:rPr lang="en-US" sz="1950" dirty="0">
                  <a:solidFill>
                    <a:srgbClr val="414D59"/>
                  </a:solidFill>
                  <a:latin typeface="+mn-lt"/>
                  <a:ea typeface="+mn-ea"/>
                  <a:cs typeface="+mn-cs"/>
                </a:rPr>
                <a:t>Body text</a:t>
              </a:r>
            </a:p>
          </p:txBody>
        </p:sp>
        <p:sp>
          <p:nvSpPr>
            <p:cNvPr id="89" name="Freeform 89"/>
            <p:cNvSpPr/>
            <p:nvPr/>
          </p:nvSpPr>
          <p:spPr>
            <a:xfrm>
              <a:off x="8953500" y="3505200"/>
              <a:ext cx="400050" cy="323850"/>
            </a:xfrm>
            <a:prstGeom prst="rightArrow">
              <a:avLst/>
            </a:prstGeom>
            <a:solidFill>
              <a:schemeClr val="accent2"/>
            </a:solidFill>
            <a:ln>
              <a:noFill/>
            </a:ln>
          </p:spPr>
        </p:sp>
        <p:sp>
          <p:nvSpPr>
            <p:cNvPr id="90" name="Rectangle 90"/>
            <p:cNvSpPr/>
            <p:nvPr/>
          </p:nvSpPr>
          <p:spPr>
            <a:xfrm>
              <a:off x="9391650" y="3238500"/>
              <a:ext cx="2190750" cy="857250"/>
            </a:xfrm>
            <a:prstGeom prst="rect">
              <a:avLst/>
            </a:prstGeom>
            <a:solidFill>
              <a:srgbClr val="C5B4A1"/>
            </a:solidFill>
            <a:ln>
              <a:noFill/>
            </a:ln>
          </p:spPr>
        </p:sp>
        <p:sp>
          <p:nvSpPr>
            <p:cNvPr id="91" name="TextBox 91"/>
            <p:cNvSpPr txBox="1"/>
            <p:nvPr/>
          </p:nvSpPr>
          <p:spPr>
            <a:xfrm>
              <a:off x="9855858" y="3542348"/>
              <a:ext cx="1262334" cy="381381"/>
            </a:xfrm>
            <a:prstGeom prst="rect">
              <a:avLst/>
            </a:prstGeom>
            <a:noFill/>
            <a:ln>
              <a:noFill/>
            </a:ln>
          </p:spPr>
          <p:txBody>
            <a:bodyPr wrap="none" lIns="0" tIns="0" rIns="0" bIns="0" anchor="t" anchorCtr="0">
              <a:spAutoFit/>
            </a:bodyPr>
            <a:lstStyle/>
            <a:p>
              <a:pPr algn="ctr"/>
              <a:r>
                <a:rPr lang="en-US" sz="1950" dirty="0">
                  <a:solidFill>
                    <a:srgbClr val="3E4955"/>
                  </a:solidFill>
                  <a:latin typeface="+mn-lt"/>
                  <a:ea typeface="+mn-ea"/>
                  <a:cs typeface="+mn-cs"/>
                </a:rPr>
                <a:t>Body text</a:t>
              </a:r>
            </a:p>
          </p:txBody>
        </p:sp>
        <p:grpSp>
          <p:nvGrpSpPr>
            <p:cNvPr id="94" name="Group 94"/>
            <p:cNvGrpSpPr/>
            <p:nvPr/>
          </p:nvGrpSpPr>
          <p:grpSpPr>
            <a:xfrm>
              <a:off x="6693694" y="4255294"/>
              <a:ext cx="157163" cy="157163"/>
              <a:chOff x="6693694" y="4255294"/>
              <a:chExt cx="157163" cy="157163"/>
            </a:xfrm>
          </p:grpSpPr>
          <p:sp>
            <p:nvSpPr>
              <p:cNvPr id="92" name="Freeform 92"/>
              <p:cNvSpPr/>
              <p:nvPr/>
            </p:nvSpPr>
            <p:spPr>
              <a:xfrm>
                <a:off x="6693694" y="4255294"/>
                <a:ext cx="157163" cy="157163"/>
              </a:xfrm>
              <a:custGeom>
                <a:avLst/>
                <a:gdLst/>
                <a:ahLst/>
                <a:cxnLst/>
                <a:rect l="l" t="t" r="r" b="b"/>
                <a:pathLst>
                  <a:path w="157163" h="157163">
                    <a:moveTo>
                      <a:pt x="0" y="78581"/>
                    </a:moveTo>
                    <a:cubicBezTo>
                      <a:pt x="0" y="121981"/>
                      <a:pt x="35182" y="157163"/>
                      <a:pt x="78581" y="157163"/>
                    </a:cubicBezTo>
                    <a:cubicBezTo>
                      <a:pt x="121981" y="157163"/>
                      <a:pt x="157163" y="121981"/>
                      <a:pt x="157163" y="78581"/>
                    </a:cubicBezTo>
                    <a:cubicBezTo>
                      <a:pt x="157163" y="35182"/>
                      <a:pt x="121981" y="0"/>
                      <a:pt x="78581" y="0"/>
                    </a:cubicBezTo>
                    <a:cubicBezTo>
                      <a:pt x="35182" y="0"/>
                      <a:pt x="0" y="35182"/>
                      <a:pt x="0" y="78581"/>
                    </a:cubicBezTo>
                  </a:path>
                </a:pathLst>
              </a:custGeom>
              <a:noFill/>
              <a:ln w="17463">
                <a:solidFill>
                  <a:srgbClr val="C62828"/>
                </a:solidFill>
              </a:ln>
            </p:spPr>
          </p:sp>
          <p:sp>
            <p:nvSpPr>
              <p:cNvPr id="93" name="Freeform 93"/>
              <p:cNvSpPr/>
              <p:nvPr/>
            </p:nvSpPr>
            <p:spPr>
              <a:xfrm>
                <a:off x="6754813" y="4316413"/>
                <a:ext cx="34925" cy="34925"/>
              </a:xfrm>
              <a:custGeom>
                <a:avLst/>
                <a:gdLst/>
                <a:ahLst/>
                <a:cxnLst/>
                <a:rect l="l" t="t" r="r" b="b"/>
                <a:pathLst>
                  <a:path w="34925" h="34925">
                    <a:moveTo>
                      <a:pt x="0" y="0"/>
                    </a:moveTo>
                    <a:lnTo>
                      <a:pt x="34925" y="34925"/>
                    </a:lnTo>
                    <a:moveTo>
                      <a:pt x="34925" y="0"/>
                    </a:moveTo>
                    <a:lnTo>
                      <a:pt x="0" y="34925"/>
                    </a:lnTo>
                  </a:path>
                </a:pathLst>
              </a:custGeom>
              <a:noFill/>
              <a:ln w="17463">
                <a:solidFill>
                  <a:srgbClr val="C62828"/>
                </a:solidFill>
              </a:ln>
            </p:spPr>
          </p:sp>
        </p:grpSp>
        <p:sp>
          <p:nvSpPr>
            <p:cNvPr id="95" name="TextBox 95"/>
            <p:cNvSpPr txBox="1"/>
            <p:nvPr/>
          </p:nvSpPr>
          <p:spPr>
            <a:xfrm>
              <a:off x="6944868" y="4222432"/>
              <a:ext cx="1436675" cy="322707"/>
            </a:xfrm>
            <a:prstGeom prst="rect">
              <a:avLst/>
            </a:prstGeom>
            <a:noFill/>
            <a:ln>
              <a:noFill/>
            </a:ln>
          </p:spPr>
          <p:txBody>
            <a:bodyPr wrap="none" lIns="0" tIns="0" rIns="0" bIns="0" anchor="t" anchorCtr="0">
              <a:spAutoFit/>
            </a:bodyPr>
            <a:lstStyle/>
            <a:p>
              <a:pPr algn="l"/>
              <a:r>
                <a:rPr lang="en-US" sz="1650" b="1" dirty="0">
                  <a:solidFill>
                    <a:srgbClr val="C62828"/>
                  </a:solidFill>
                  <a:latin typeface="Consolas"/>
                  <a:ea typeface="Consolas"/>
                  <a:cs typeface="Consolas"/>
                </a:rPr>
                <a:t>4.29:1 FAIL</a:t>
              </a:r>
            </a:p>
          </p:txBody>
        </p:sp>
        <p:grpSp>
          <p:nvGrpSpPr>
            <p:cNvPr id="98" name="Group 98"/>
            <p:cNvGrpSpPr/>
            <p:nvPr/>
          </p:nvGrpSpPr>
          <p:grpSpPr>
            <a:xfrm>
              <a:off x="9417844" y="4255294"/>
              <a:ext cx="157163" cy="157163"/>
              <a:chOff x="9417844" y="4255294"/>
              <a:chExt cx="157163" cy="157163"/>
            </a:xfrm>
          </p:grpSpPr>
          <p:sp>
            <p:nvSpPr>
              <p:cNvPr id="96" name="Freeform 96"/>
              <p:cNvSpPr/>
              <p:nvPr/>
            </p:nvSpPr>
            <p:spPr>
              <a:xfrm>
                <a:off x="9417844" y="4255294"/>
                <a:ext cx="157163" cy="157163"/>
              </a:xfrm>
              <a:custGeom>
                <a:avLst/>
                <a:gdLst/>
                <a:ahLst/>
                <a:cxnLst/>
                <a:rect l="l" t="t" r="r" b="b"/>
                <a:pathLst>
                  <a:path w="157163" h="157163">
                    <a:moveTo>
                      <a:pt x="0" y="78581"/>
                    </a:moveTo>
                    <a:cubicBezTo>
                      <a:pt x="0" y="121981"/>
                      <a:pt x="35182" y="157163"/>
                      <a:pt x="78581" y="157163"/>
                    </a:cubicBezTo>
                    <a:cubicBezTo>
                      <a:pt x="121981" y="157163"/>
                      <a:pt x="157163" y="121981"/>
                      <a:pt x="157163" y="78581"/>
                    </a:cubicBezTo>
                    <a:cubicBezTo>
                      <a:pt x="157163" y="35182"/>
                      <a:pt x="121981" y="0"/>
                      <a:pt x="78581" y="0"/>
                    </a:cubicBezTo>
                    <a:cubicBezTo>
                      <a:pt x="35182" y="0"/>
                      <a:pt x="0" y="35182"/>
                      <a:pt x="0" y="78581"/>
                    </a:cubicBezTo>
                  </a:path>
                </a:pathLst>
              </a:custGeom>
              <a:noFill/>
              <a:ln w="17463">
                <a:solidFill>
                  <a:srgbClr val="2E7D32"/>
                </a:solidFill>
              </a:ln>
            </p:spPr>
          </p:sp>
          <p:sp>
            <p:nvSpPr>
              <p:cNvPr id="97" name="Freeform 97"/>
              <p:cNvSpPr/>
              <p:nvPr/>
            </p:nvSpPr>
            <p:spPr>
              <a:xfrm>
                <a:off x="9470231" y="4316413"/>
                <a:ext cx="52388" cy="34925"/>
              </a:xfrm>
              <a:custGeom>
                <a:avLst/>
                <a:gdLst/>
                <a:ahLst/>
                <a:cxnLst/>
                <a:rect l="l" t="t" r="r" b="b"/>
                <a:pathLst>
                  <a:path w="52388" h="34925">
                    <a:moveTo>
                      <a:pt x="0" y="17463"/>
                    </a:moveTo>
                    <a:lnTo>
                      <a:pt x="17463" y="34925"/>
                    </a:lnTo>
                    <a:lnTo>
                      <a:pt x="52388" y="0"/>
                    </a:lnTo>
                  </a:path>
                </a:pathLst>
              </a:custGeom>
              <a:noFill/>
              <a:ln w="17463">
                <a:solidFill>
                  <a:srgbClr val="2E7D32"/>
                </a:solidFill>
              </a:ln>
            </p:spPr>
          </p:sp>
        </p:grpSp>
        <p:sp>
          <p:nvSpPr>
            <p:cNvPr id="99" name="TextBox 99"/>
            <p:cNvSpPr txBox="1"/>
            <p:nvPr/>
          </p:nvSpPr>
          <p:spPr>
            <a:xfrm>
              <a:off x="9669018" y="4222432"/>
              <a:ext cx="1436675" cy="322707"/>
            </a:xfrm>
            <a:prstGeom prst="rect">
              <a:avLst/>
            </a:prstGeom>
            <a:noFill/>
            <a:ln>
              <a:noFill/>
            </a:ln>
          </p:spPr>
          <p:txBody>
            <a:bodyPr wrap="none" lIns="0" tIns="0" rIns="0" bIns="0" anchor="t" anchorCtr="0">
              <a:spAutoFit/>
            </a:bodyPr>
            <a:lstStyle/>
            <a:p>
              <a:pPr algn="l"/>
              <a:r>
                <a:rPr lang="en-US" sz="1650" b="1" dirty="0">
                  <a:solidFill>
                    <a:srgbClr val="2E7D32"/>
                  </a:solidFill>
                  <a:latin typeface="Consolas"/>
                  <a:ea typeface="Consolas"/>
                  <a:cs typeface="Consolas"/>
                </a:rPr>
                <a:t>4.55:1 PASS</a:t>
              </a:r>
            </a:p>
          </p:txBody>
        </p:sp>
        <p:sp>
          <p:nvSpPr>
            <p:cNvPr id="100" name="TextBox 100"/>
            <p:cNvSpPr txBox="1"/>
            <p:nvPr/>
          </p:nvSpPr>
          <p:spPr>
            <a:xfrm>
              <a:off x="6660642" y="4673918"/>
              <a:ext cx="4582858" cy="7212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Same hue, same saturation. Only the lightness moved,</a:t>
              </a:r>
              <a:br/>
              <a:r>
                <a:rPr lang="en-US" sz="1350" dirty="0">
                  <a:solidFill>
                    <a:schemeClr val="dk1"/>
                  </a:solidFill>
                  <a:latin typeface="+mn-lt"/>
                  <a:ea typeface="+mn-ea"/>
                  <a:cs typeface="+mn-cs"/>
                </a:rPr>
                <a:t xml:space="preserve">from 30% down to 29%: </a:t>
              </a:r>
              <a:r>
                <a:rPr lang="en-US" sz="1350" dirty="0">
                  <a:solidFill>
                    <a:schemeClr val="accent3"/>
                  </a:solidFill>
                  <a:latin typeface="Consolas"/>
                  <a:ea typeface="Consolas"/>
                  <a:cs typeface="Consolas"/>
                </a:rPr>
                <a:t>#414D59</a:t>
              </a:r>
              <a:r>
                <a:rPr lang="en-US" sz="1350" dirty="0">
                  <a:solidFill>
                    <a:schemeClr val="dk1"/>
                  </a:solidFill>
                  <a:latin typeface="+mn-lt"/>
                  <a:ea typeface="+mn-ea"/>
                  <a:cs typeface="+mn-cs"/>
                </a:rPr>
                <a:t xml:space="preserve"> becomes </a:t>
              </a:r>
              <a:r>
                <a:rPr lang="en-US" sz="1350" dirty="0">
                  <a:solidFill>
                    <a:schemeClr val="accent3"/>
                  </a:solidFill>
                  <a:latin typeface="Consolas"/>
                  <a:ea typeface="Consolas"/>
                  <a:cs typeface="Consolas"/>
                </a:rPr>
                <a:t>#3E4955</a:t>
              </a:r>
              <a:r>
                <a:rPr lang="en-US" sz="1350" dirty="0">
                  <a:solidFill>
                    <a:schemeClr val="dk1"/>
                  </a:solidFill>
                  <a:latin typeface="+mn-lt"/>
                  <a:ea typeface="+mn-ea"/>
                  <a:cs typeface="+mn-cs"/>
                </a:rPr>
                <a:t>.</a:t>
              </a:r>
              <a:br/>
              <a:r>
                <a:rPr lang="en-US" sz="1350" dirty="0">
                  <a:solidFill>
                    <a:schemeClr val="dk1"/>
                  </a:solidFill>
                  <a:latin typeface="+mn-lt"/>
                  <a:ea typeface="+mn-ea"/>
                  <a:cs typeface="+mn-cs"/>
                </a:rPr>
                <a:t>The palette still reads as the same palette.</a:t>
              </a:r>
            </a:p>
          </p:txBody>
        </p:sp>
      </p:grpSp>
      <p:grpSp>
        <p:nvGrpSpPr>
          <p:cNvPr id="105" name="Group 105"/>
          <p:cNvGrpSpPr/>
          <p:nvPr/>
        </p:nvGrpSpPr>
        <p:grpSpPr>
          <a:xfrm>
            <a:off x="6660642" y="5695950"/>
            <a:ext cx="4052211" cy="670751"/>
            <a:chOff x="6660642" y="5695950"/>
            <a:chExt cx="4052211" cy="670751"/>
          </a:xfrm>
        </p:grpSpPr>
        <p:sp>
          <p:nvSpPr>
            <p:cNvPr id="102" name="Freeform 102"/>
            <p:cNvSpPr/>
            <p:nvPr/>
          </p:nvSpPr>
          <p:spPr>
            <a:xfrm>
              <a:off x="6667500" y="5695950"/>
              <a:ext cx="1409700" cy="247650"/>
            </a:xfrm>
            <a:prstGeom prst="snip1Rect">
              <a:avLst/>
            </a:prstGeom>
            <a:solidFill>
              <a:schemeClr val="lt2"/>
            </a:solidFill>
            <a:ln>
              <a:noFill/>
            </a:ln>
          </p:spPr>
        </p:sp>
        <p:sp>
          <p:nvSpPr>
            <p:cNvPr id="103" name="TextBox 103"/>
            <p:cNvSpPr txBox="1"/>
            <p:nvPr/>
          </p:nvSpPr>
          <p:spPr>
            <a:xfrm>
              <a:off x="6775704" y="5737860"/>
              <a:ext cx="1141293" cy="234696"/>
            </a:xfrm>
            <a:prstGeom prst="rect">
              <a:avLst/>
            </a:prstGeom>
            <a:noFill/>
            <a:ln>
              <a:noFill/>
            </a:ln>
          </p:spPr>
          <p:txBody>
            <a:bodyPr wrap="none" lIns="0" tIns="0" rIns="0" bIns="0" anchor="t" anchorCtr="0">
              <a:spAutoFit/>
            </a:bodyPr>
            <a:lstStyle/>
            <a:p>
              <a:pPr algn="l"/>
              <a:r>
                <a:rPr lang="en-US" sz="1200" b="1" spc="112" dirty="0">
                  <a:solidFill>
                    <a:schemeClr val="accent2"/>
                  </a:solidFill>
                  <a:latin typeface="+mn-lt"/>
                  <a:ea typeface="+mn-ea"/>
                  <a:cs typeface="+mn-cs"/>
                </a:rPr>
                <a:t>PREFERENCE</a:t>
              </a:r>
            </a:p>
          </p:txBody>
        </p:sp>
        <p:sp>
          <p:nvSpPr>
            <p:cNvPr id="104" name="TextBox 104"/>
            <p:cNvSpPr txBox="1"/>
            <p:nvPr/>
          </p:nvSpPr>
          <p:spPr>
            <a:xfrm>
              <a:off x="6660642" y="6102668"/>
              <a:ext cx="405221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Passing is not the same as good. Only usable.</a:t>
              </a:r>
            </a:p>
          </p:txBody>
        </p:sp>
      </p:grpSp>
      <p:grpSp>
        <p:nvGrpSpPr>
          <p:cNvPr id="108" name="Group 108"/>
          <p:cNvGrpSpPr/>
          <p:nvPr/>
        </p:nvGrpSpPr>
        <p:grpSpPr>
          <a:xfrm>
            <a:off x="603504" y="6442710"/>
            <a:ext cx="10984992" cy="234696"/>
            <a:chOff x="603504" y="6442710"/>
            <a:chExt cx="10984992" cy="234696"/>
          </a:xfrm>
        </p:grpSpPr>
        <p:sp>
          <p:nvSpPr>
            <p:cNvPr id="106" name="TextBox 106"/>
            <p:cNvSpPr txBox="1"/>
            <p:nvPr/>
          </p:nvSpPr>
          <p:spPr>
            <a:xfrm>
              <a:off x="603504" y="6442710"/>
              <a:ext cx="7017563"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Threshold: W3C WCAG 2.1 SC 1.4.3 · ratios computed from the five sampled values above</a:t>
              </a:r>
            </a:p>
          </p:txBody>
        </p:sp>
        <p:sp>
          <p:nvSpPr>
            <p:cNvPr id="107" name="TextBox 10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09 / 14</a:t>
              </a:r>
            </a:p>
          </p:txBody>
        </p:sp>
      </p:grpSp>
    </p:spTree>
  </p:cSld>
  <p:clrMapOvr>
    <a:masterClrMapping/>
  </p:clrMapOvr>
  <mc:AlternateContent>
    <mc:Choice Requires="p159">
      <p:transition p14:dur="10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5"/>
                                        </p:tgtEl>
                                        <p:attrNameLst>
                                          <p:attrName>style.visibility</p:attrName>
                                        </p:attrNameLst>
                                      </p:cBhvr>
                                      <p:to>
                                        <p:strVal val="visible"/>
                                      </p:to>
                                    </p:set>
                                    <p:animEffect transition="in" filter="fade">
                                      <p:cBhvr>
                                        <p:cTn id="7" dur="600"/>
                                        <p:tgtEl>
                                          <p:spTgt spid="85"/>
                                        </p:tgtEl>
                                      </p:cBhvr>
                                    </p:animEffect>
                                  </p:childTnLst>
                                </p:cTn>
                              </p:par>
                            </p:childTnLst>
                          </p:cTn>
                        </p:par>
                        <p:par>
                          <p:cTn id="8" fill="hold">
                            <p:stCondLst>
                              <p:cond delay="600"/>
                            </p:stCondLst>
                            <p:childTnLst>
                              <p:par>
                                <p:cTn id="9" presetID="10" presetClass="entr" presetSubtype="0" fill="hold" grpId="0" nodeType="afterEffect">
                                  <p:stCondLst>
                                    <p:cond delay="500"/>
                                  </p:stCondLst>
                                  <p:childTnLst>
                                    <p:set>
                                      <p:cBhvr>
                                        <p:cTn id="10" dur="1" fill="hold">
                                          <p:stCondLst>
                                            <p:cond delay="0"/>
                                          </p:stCondLst>
                                        </p:cTn>
                                        <p:tgtEl>
                                          <p:spTgt spid="101"/>
                                        </p:tgtEl>
                                        <p:attrNameLst>
                                          <p:attrName>style.visibility</p:attrName>
                                        </p:attrNameLst>
                                      </p:cBhvr>
                                      <p:to>
                                        <p:strVal val="visible"/>
                                      </p:to>
                                    </p:set>
                                    <p:animEffect transition="in" filter="fade">
                                      <p:cBhvr>
                                        <p:cTn id="11" dur="600"/>
                                        <p:tgtEl>
                                          <p:spTgt spid="101"/>
                                        </p:tgtEl>
                                      </p:cBhvr>
                                    </p:animEffect>
                                  </p:childTnLst>
                                </p:cTn>
                              </p:par>
                            </p:childTnLst>
                          </p:cTn>
                        </p:par>
                        <p:par>
                          <p:cTn id="12" fill="hold">
                            <p:stCondLst>
                              <p:cond delay="1700"/>
                            </p:stCondLst>
                            <p:childTnLst>
                              <p:par>
                                <p:cTn id="13" presetID="10" presetClass="entr" presetSubtype="0" fill="hold" grpId="0" nodeType="afterEffect">
                                  <p:stCondLst>
                                    <p:cond delay="500"/>
                                  </p:stCondLst>
                                  <p:childTnLst>
                                    <p:set>
                                      <p:cBhvr>
                                        <p:cTn id="14" dur="1" fill="hold">
                                          <p:stCondLst>
                                            <p:cond delay="0"/>
                                          </p:stCondLst>
                                        </p:cTn>
                                        <p:tgtEl>
                                          <p:spTgt spid="105"/>
                                        </p:tgtEl>
                                        <p:attrNameLst>
                                          <p:attrName>style.visibility</p:attrName>
                                        </p:attrNameLst>
                                      </p:cBhvr>
                                      <p:to>
                                        <p:strVal val="visible"/>
                                      </p:to>
                                    </p:set>
                                    <p:animEffect transition="in" filter="fade">
                                      <p:cBhvr>
                                        <p:cTn id="15" dur="4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6" name="Group 6"/>
          <p:cNvGrpSpPr/>
          <p:nvPr/>
        </p:nvGrpSpPr>
        <p:grpSpPr>
          <a:xfrm>
            <a:off x="593598" y="556260"/>
            <a:ext cx="10988802" cy="977075"/>
            <a:chOff x="593598" y="556260"/>
            <a:chExt cx="10988802" cy="977075"/>
          </a:xfrm>
        </p:grpSpPr>
        <p:sp>
          <p:nvSpPr>
            <p:cNvPr id="2" name="TextBox 2"/>
            <p:cNvSpPr txBox="1"/>
            <p:nvPr/>
          </p:nvSpPr>
          <p:spPr>
            <a:xfrm>
              <a:off x="603504" y="556260"/>
              <a:ext cx="1655064" cy="234696"/>
            </a:xfrm>
            <a:prstGeom prst="rect">
              <a:avLst/>
            </a:prstGeom>
            <a:noFill/>
            <a:ln>
              <a:noFill/>
            </a:ln>
          </p:spPr>
          <p:txBody>
            <a:bodyPr wrap="none" lIns="0" tIns="0" rIns="0" bIns="0" anchor="t" anchorCtr="0">
              <a:spAutoFit/>
            </a:bodyPr>
            <a:lstStyle/>
            <a:p>
              <a:pPr algn="l"/>
              <a:r>
                <a:rPr lang="en-US" sz="1200" b="1" spc="150" dirty="0">
                  <a:solidFill>
                    <a:schemeClr val="accent2"/>
                  </a:solidFill>
                  <a:latin typeface="+mn-lt"/>
                  <a:ea typeface="+mn-ea"/>
                  <a:cs typeface="+mn-cs"/>
                </a:rPr>
                <a:t>GUIDED PRACTICE</a:t>
              </a:r>
            </a:p>
          </p:txBody>
        </p:sp>
        <p:sp>
          <p:nvSpPr>
            <p:cNvPr id="3" name="Rectangle 3"/>
            <p:cNvSpPr/>
            <p:nvPr/>
          </p:nvSpPr>
          <p:spPr>
            <a:xfrm>
              <a:off x="609600" y="800100"/>
              <a:ext cx="457200" cy="28575"/>
            </a:xfrm>
            <a:prstGeom prst="rect">
              <a:avLst/>
            </a:prstGeom>
            <a:solidFill>
              <a:schemeClr val="accent2"/>
            </a:solidFill>
            <a:ln>
              <a:noFill/>
            </a:ln>
          </p:spPr>
        </p:sp>
        <p:sp>
          <p:nvSpPr>
            <p:cNvPr id="4" name="TextBox 4"/>
            <p:cNvSpPr txBox="1"/>
            <p:nvPr/>
          </p:nvSpPr>
          <p:spPr>
            <a:xfrm>
              <a:off x="593598" y="917258"/>
              <a:ext cx="4735472" cy="616077"/>
            </a:xfrm>
            <a:prstGeom prst="rect">
              <a:avLst/>
            </a:prstGeom>
            <a:noFill/>
            <a:ln>
              <a:noFill/>
            </a:ln>
          </p:spPr>
          <p:txBody>
            <a:bodyPr wrap="none" lIns="0" tIns="0" rIns="0" bIns="0" anchor="t" anchorCtr="0">
              <a:spAutoFit/>
            </a:bodyPr>
            <a:lstStyle/>
            <a:p>
              <a:pPr algn="l"/>
              <a:r>
                <a:rPr lang="en-US" sz="3150" dirty="0">
                  <a:solidFill>
                    <a:schemeClr val="accent1"/>
                  </a:solidFill>
                  <a:latin typeface="+mj-lt"/>
                  <a:ea typeface="+mj-ea"/>
                  <a:cs typeface="+mj-cs"/>
                </a:rPr>
                <a:t>Your turn — 12 minutes</a:t>
              </a:r>
            </a:p>
          </p:txBody>
        </p:sp>
        <p:sp>
          <p:nvSpPr>
            <p:cNvPr id="5" name="Line 5"/>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2" name="Group 12"/>
          <p:cNvGrpSpPr/>
          <p:nvPr/>
        </p:nvGrpSpPr>
        <p:grpSpPr>
          <a:xfrm>
            <a:off x="600456" y="1870666"/>
            <a:ext cx="5116068" cy="1735118"/>
            <a:chOff x="600456" y="1870666"/>
            <a:chExt cx="5116068" cy="1735118"/>
          </a:xfrm>
        </p:grpSpPr>
        <p:grpSp>
          <p:nvGrpSpPr>
            <p:cNvPr id="9" name="Group 9"/>
            <p:cNvGrpSpPr/>
            <p:nvPr/>
          </p:nvGrpSpPr>
          <p:grpSpPr>
            <a:xfrm>
              <a:off x="647700" y="1870666"/>
              <a:ext cx="148634" cy="148634"/>
              <a:chOff x="647700" y="1870666"/>
              <a:chExt cx="148634" cy="148634"/>
            </a:xfrm>
          </p:grpSpPr>
          <p:sp>
            <p:nvSpPr>
              <p:cNvPr id="7" name="Freeform 7"/>
              <p:cNvSpPr/>
              <p:nvPr/>
            </p:nvSpPr>
            <p:spPr>
              <a:xfrm>
                <a:off x="647700" y="1870666"/>
                <a:ext cx="148634" cy="148634"/>
              </a:xfrm>
              <a:custGeom>
                <a:avLst/>
                <a:gdLst/>
                <a:ahLst/>
                <a:cxnLst/>
                <a:rect l="l" t="t" r="r" b="b"/>
                <a:pathLst>
                  <a:path w="148634" h="148634">
                    <a:moveTo>
                      <a:pt x="0" y="148634"/>
                    </a:moveTo>
                    <a:lnTo>
                      <a:pt x="38100" y="148634"/>
                    </a:lnTo>
                    <a:lnTo>
                      <a:pt x="138112" y="48621"/>
                    </a:lnTo>
                    <a:cubicBezTo>
                      <a:pt x="148634" y="38100"/>
                      <a:pt x="148634" y="21042"/>
                      <a:pt x="138112" y="10521"/>
                    </a:cubicBezTo>
                    <a:cubicBezTo>
                      <a:pt x="127591" y="0"/>
                      <a:pt x="110534" y="0"/>
                      <a:pt x="100012" y="10521"/>
                    </a:cubicBezTo>
                    <a:lnTo>
                      <a:pt x="0" y="110534"/>
                    </a:lnTo>
                    <a:lnTo>
                      <a:pt x="0" y="148634"/>
                    </a:lnTo>
                  </a:path>
                </a:pathLst>
              </a:custGeom>
              <a:noFill/>
              <a:ln w="19050">
                <a:solidFill>
                  <a:schemeClr val="accent2"/>
                </a:solidFill>
              </a:ln>
            </p:spPr>
          </p:sp>
          <p:sp>
            <p:nvSpPr>
              <p:cNvPr id="8" name="Freeform 8"/>
              <p:cNvSpPr/>
              <p:nvPr/>
            </p:nvSpPr>
            <p:spPr>
              <a:xfrm>
                <a:off x="738188" y="1890712"/>
                <a:ext cx="38100" cy="38100"/>
              </a:xfrm>
              <a:custGeom>
                <a:avLst/>
                <a:gdLst/>
                <a:ahLst/>
                <a:cxnLst/>
                <a:rect l="l" t="t" r="r" b="b"/>
                <a:pathLst>
                  <a:path w="38100" h="38100">
                    <a:moveTo>
                      <a:pt x="0" y="0"/>
                    </a:moveTo>
                    <a:lnTo>
                      <a:pt x="38100" y="38100"/>
                    </a:lnTo>
                  </a:path>
                </a:pathLst>
              </a:custGeom>
              <a:noFill/>
              <a:ln w="19050">
                <a:solidFill>
                  <a:schemeClr val="accent2"/>
                </a:solidFill>
              </a:ln>
            </p:spPr>
          </p:sp>
        </p:grpSp>
        <p:sp>
          <p:nvSpPr>
            <p:cNvPr id="10" name="TextBox 10"/>
            <p:cNvSpPr txBox="1"/>
            <p:nvPr/>
          </p:nvSpPr>
          <p:spPr>
            <a:xfrm>
              <a:off x="927354" y="1870710"/>
              <a:ext cx="470489" cy="234696"/>
            </a:xfrm>
            <a:prstGeom prst="rect">
              <a:avLst/>
            </a:prstGeom>
            <a:noFill/>
            <a:ln>
              <a:noFill/>
            </a:ln>
          </p:spPr>
          <p:txBody>
            <a:bodyPr wrap="none" lIns="0" tIns="0" rIns="0" bIns="0" anchor="t" anchorCtr="0">
              <a:spAutoFit/>
            </a:bodyPr>
            <a:lstStyle/>
            <a:p>
              <a:pPr algn="l"/>
              <a:r>
                <a:rPr lang="en-US" sz="1200" b="1" spc="150" dirty="0">
                  <a:solidFill>
                    <a:schemeClr val="accent2"/>
                  </a:solidFill>
                  <a:latin typeface="+mn-lt"/>
                  <a:ea typeface="+mn-ea"/>
                  <a:cs typeface="+mn-cs"/>
                </a:rPr>
                <a:t>TASK</a:t>
              </a:r>
            </a:p>
          </p:txBody>
        </p:sp>
        <p:sp>
          <p:nvSpPr>
            <p:cNvPr id="11" name="TextBox 11"/>
            <p:cNvSpPr txBox="1"/>
            <p:nvPr/>
          </p:nvSpPr>
          <p:spPr>
            <a:xfrm>
              <a:off x="600456" y="2282190"/>
              <a:ext cx="5116068" cy="1323594"/>
            </a:xfrm>
            <a:prstGeom prst="rect">
              <a:avLst/>
            </a:prstGeom>
            <a:noFill/>
            <a:ln>
              <a:noFill/>
            </a:ln>
          </p:spPr>
          <p:txBody>
            <a:bodyPr wrap="none" lIns="0" tIns="0" rIns="0" bIns="0" anchor="t" anchorCtr="0">
              <a:spAutoFit/>
            </a:bodyPr>
            <a:lstStyle/>
            <a:p>
              <a:pPr algn="l">
                <a:lnSpc>
                  <a:spcPts val="2550"/>
                </a:lnSpc>
              </a:pPr>
              <a:r>
                <a:rPr lang="en-US" sz="1800" dirty="0">
                  <a:solidFill>
                    <a:schemeClr val="dk1"/>
                  </a:solidFill>
                  <a:latin typeface="+mn-lt"/>
                  <a:ea typeface="+mn-ea"/>
                  <a:cs typeface="+mn-cs"/>
                </a:rPr>
                <a:t>Open any image you own. Sample five colors in</a:t>
              </a:r>
              <a:br/>
              <a:r>
                <a:rPr lang="en-US" sz="1800" dirty="0">
                  <a:solidFill>
                    <a:schemeClr val="dk1"/>
                  </a:solidFill>
                  <a:latin typeface="+mn-lt"/>
                  <a:ea typeface="+mn-ea"/>
                  <a:cs typeface="+mn-cs"/>
                </a:rPr>
                <a:t>the order we just used, then measure the</a:t>
              </a:r>
              <a:br/>
              <a:r>
                <a:rPr lang="en-US" sz="1800" dirty="0">
                  <a:solidFill>
                    <a:schemeClr val="dk1"/>
                  </a:solidFill>
                  <a:latin typeface="+mn-lt"/>
                  <a:ea typeface="+mn-ea"/>
                  <a:cs typeface="+mn-cs"/>
                </a:rPr>
                <a:t>pair you would actually put together for body</a:t>
              </a:r>
              <a:br/>
              <a:r>
                <a:rPr lang="en-US" sz="1800" dirty="0">
                  <a:solidFill>
                    <a:schemeClr val="dk1"/>
                  </a:solidFill>
                  <a:latin typeface="+mn-lt"/>
                  <a:ea typeface="+mn-ea"/>
                  <a:cs typeface="+mn-cs"/>
                </a:rPr>
                <a:t>text on a background.</a:t>
              </a:r>
            </a:p>
          </p:txBody>
        </p:sp>
      </p:grpSp>
      <p:grpSp>
        <p:nvGrpSpPr>
          <p:cNvPr id="15" name="Group 15"/>
          <p:cNvGrpSpPr/>
          <p:nvPr/>
        </p:nvGrpSpPr>
        <p:grpSpPr>
          <a:xfrm>
            <a:off x="602742" y="3947160"/>
            <a:ext cx="5045774" cy="838391"/>
            <a:chOff x="602742" y="3947160"/>
            <a:chExt cx="5045774" cy="838391"/>
          </a:xfrm>
        </p:grpSpPr>
        <p:sp>
          <p:nvSpPr>
            <p:cNvPr id="13" name="TextBox 13"/>
            <p:cNvSpPr txBox="1"/>
            <p:nvPr/>
          </p:nvSpPr>
          <p:spPr>
            <a:xfrm>
              <a:off x="603504" y="3947160"/>
              <a:ext cx="1571000" cy="234696"/>
            </a:xfrm>
            <a:prstGeom prst="rect">
              <a:avLst/>
            </a:prstGeom>
            <a:noFill/>
            <a:ln>
              <a:noFill/>
            </a:ln>
          </p:spPr>
          <p:txBody>
            <a:bodyPr wrap="none" lIns="0" tIns="0" rIns="0" bIns="0" anchor="t" anchorCtr="0">
              <a:spAutoFit/>
            </a:bodyPr>
            <a:lstStyle/>
            <a:p>
              <a:pPr algn="l"/>
              <a:r>
                <a:rPr lang="en-US" sz="1200" b="1" spc="150" dirty="0">
                  <a:solidFill>
                    <a:schemeClr val="accent5"/>
                  </a:solidFill>
                  <a:latin typeface="+mn-lt"/>
                  <a:ea typeface="+mn-ea"/>
                  <a:cs typeface="+mn-cs"/>
                </a:rPr>
                <a:t>STARTING POINT</a:t>
              </a:r>
            </a:p>
          </p:txBody>
        </p:sp>
        <p:sp>
          <p:nvSpPr>
            <p:cNvPr id="14" name="TextBox 14"/>
            <p:cNvSpPr txBox="1"/>
            <p:nvPr/>
          </p:nvSpPr>
          <p:spPr>
            <a:xfrm>
              <a:off x="602742" y="4292918"/>
              <a:ext cx="5045774"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Your own image, and the contrast checker linked on the last</a:t>
              </a:r>
              <a:br/>
              <a:r>
                <a:rPr lang="en-US" sz="1350" dirty="0">
                  <a:solidFill>
                    <a:schemeClr val="dk1"/>
                  </a:solidFill>
                  <a:latin typeface="+mn-lt"/>
                  <a:ea typeface="+mn-ea"/>
                  <a:cs typeface="+mn-cs"/>
                </a:rPr>
                <a:t>page of this deck.</a:t>
              </a:r>
            </a:p>
          </p:txBody>
        </p:sp>
      </p:grpSp>
      <p:grpSp>
        <p:nvGrpSpPr>
          <p:cNvPr id="22" name="Group 22"/>
          <p:cNvGrpSpPr/>
          <p:nvPr/>
        </p:nvGrpSpPr>
        <p:grpSpPr>
          <a:xfrm>
            <a:off x="6667500" y="1809750"/>
            <a:ext cx="4914900" cy="2247900"/>
            <a:chOff x="6667500" y="1809750"/>
            <a:chExt cx="4914900" cy="2247900"/>
          </a:xfrm>
        </p:grpSpPr>
        <p:sp>
          <p:nvSpPr>
            <p:cNvPr id="16" name="Rectangle 16"/>
            <p:cNvSpPr/>
            <p:nvPr/>
          </p:nvSpPr>
          <p:spPr>
            <a:xfrm>
              <a:off x="6667500" y="1809750"/>
              <a:ext cx="4914900" cy="2247900"/>
            </a:xfrm>
            <a:prstGeom prst="rect">
              <a:avLst/>
            </a:prstGeom>
            <a:solidFill>
              <a:srgbClr val="FFFFFF"/>
            </a:solidFill>
            <a:ln>
              <a:noFill/>
            </a:ln>
          </p:spPr>
        </p:sp>
        <p:grpSp>
          <p:nvGrpSpPr>
            <p:cNvPr id="19" name="Group 19"/>
            <p:cNvGrpSpPr/>
            <p:nvPr/>
          </p:nvGrpSpPr>
          <p:grpSpPr>
            <a:xfrm>
              <a:off x="7000875" y="2047875"/>
              <a:ext cx="171450" cy="171450"/>
              <a:chOff x="7000875" y="2047875"/>
              <a:chExt cx="171450" cy="171450"/>
            </a:xfrm>
          </p:grpSpPr>
          <p:sp>
            <p:nvSpPr>
              <p:cNvPr id="17" name="Freeform 17"/>
              <p:cNvSpPr/>
              <p:nvPr/>
            </p:nvSpPr>
            <p:spPr>
              <a:xfrm>
                <a:off x="7000875" y="2047875"/>
                <a:ext cx="171450" cy="171450"/>
              </a:xfrm>
              <a:custGeom>
                <a:avLst/>
                <a:gdLst/>
                <a:ahLst/>
                <a:cxnLst/>
                <a:rect l="l" t="t" r="r" b="b"/>
                <a:pathLst>
                  <a:path w="171450" h="17145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rgbClr val="2E7D32"/>
                </a:solidFill>
              </a:ln>
            </p:spPr>
          </p:sp>
          <p:sp>
            <p:nvSpPr>
              <p:cNvPr id="18" name="Freeform 18"/>
              <p:cNvSpPr/>
              <p:nvPr/>
            </p:nvSpPr>
            <p:spPr>
              <a:xfrm>
                <a:off x="7058025" y="2114550"/>
                <a:ext cx="57150" cy="38100"/>
              </a:xfrm>
              <a:custGeom>
                <a:avLst/>
                <a:gdLst/>
                <a:ahLst/>
                <a:cxnLst/>
                <a:rect l="l" t="t" r="r" b="b"/>
                <a:pathLst>
                  <a:path w="57150" h="38100">
                    <a:moveTo>
                      <a:pt x="0" y="19050"/>
                    </a:moveTo>
                    <a:lnTo>
                      <a:pt x="19050" y="38100"/>
                    </a:lnTo>
                    <a:lnTo>
                      <a:pt x="57150" y="0"/>
                    </a:lnTo>
                  </a:path>
                </a:pathLst>
              </a:custGeom>
              <a:noFill/>
              <a:ln w="19050">
                <a:solidFill>
                  <a:srgbClr val="2E7D32"/>
                </a:solidFill>
              </a:ln>
            </p:spPr>
          </p:sp>
        </p:grpSp>
        <p:sp>
          <p:nvSpPr>
            <p:cNvPr id="20" name="TextBox 20"/>
            <p:cNvSpPr txBox="1"/>
            <p:nvPr/>
          </p:nvSpPr>
          <p:spPr>
            <a:xfrm>
              <a:off x="7290054" y="2061210"/>
              <a:ext cx="1966570" cy="234696"/>
            </a:xfrm>
            <a:prstGeom prst="rect">
              <a:avLst/>
            </a:prstGeom>
            <a:noFill/>
            <a:ln>
              <a:noFill/>
            </a:ln>
          </p:spPr>
          <p:txBody>
            <a:bodyPr wrap="none" lIns="0" tIns="0" rIns="0" bIns="0" anchor="t" anchorCtr="0">
              <a:spAutoFit/>
            </a:bodyPr>
            <a:lstStyle/>
            <a:p>
              <a:pPr algn="l"/>
              <a:r>
                <a:rPr lang="en-US" sz="1200" b="1" spc="150" dirty="0">
                  <a:solidFill>
                    <a:srgbClr val="2E7D32"/>
                  </a:solidFill>
                  <a:latin typeface="+mn-lt"/>
                  <a:ea typeface="+mn-ea"/>
                  <a:cs typeface="+mn-cs"/>
                </a:rPr>
                <a:t>SUCCESS CONDITION</a:t>
              </a:r>
            </a:p>
          </p:txBody>
        </p:sp>
        <p:sp>
          <p:nvSpPr>
            <p:cNvPr id="21" name="TextBox 21"/>
            <p:cNvSpPr txBox="1"/>
            <p:nvPr/>
          </p:nvSpPr>
          <p:spPr>
            <a:xfrm>
              <a:off x="6963156" y="2548890"/>
              <a:ext cx="3813048" cy="961644"/>
            </a:xfrm>
            <a:prstGeom prst="rect">
              <a:avLst/>
            </a:prstGeom>
            <a:noFill/>
            <a:ln>
              <a:noFill/>
            </a:ln>
          </p:spPr>
          <p:txBody>
            <a:bodyPr wrap="none" lIns="0" tIns="0" rIns="0" bIns="0" anchor="t" anchorCtr="0">
              <a:spAutoFit/>
            </a:bodyPr>
            <a:lstStyle/>
            <a:p>
              <a:pPr algn="l">
                <a:lnSpc>
                  <a:spcPts val="2400"/>
                </a:lnSpc>
              </a:pPr>
              <a:r>
                <a:rPr lang="en-US" sz="1800" dirty="0">
                  <a:solidFill>
                    <a:schemeClr val="accent1"/>
                  </a:solidFill>
                  <a:latin typeface="+mn-lt"/>
                  <a:ea typeface="+mn-ea"/>
                  <a:cs typeface="+mn-cs"/>
                </a:rPr>
                <a:t>Five hex values written down, one</a:t>
              </a:r>
              <a:br/>
              <a:r>
                <a:rPr lang="en-US" sz="1800" dirty="0">
                  <a:solidFill>
                    <a:schemeClr val="accent1"/>
                  </a:solidFill>
                  <a:latin typeface="+mn-lt"/>
                  <a:ea typeface="+mn-ea"/>
                  <a:cs typeface="+mn-cs"/>
                </a:rPr>
                <a:t>measured ratio, and that ratio at</a:t>
              </a:r>
              <a:br/>
              <a:r>
                <a:rPr lang="en-US" sz="1800" b="1" dirty="0">
                  <a:solidFill>
                    <a:schemeClr val="accent2"/>
                  </a:solidFill>
                  <a:latin typeface="Consolas"/>
                  <a:ea typeface="Consolas"/>
                  <a:cs typeface="Consolas"/>
                </a:rPr>
                <a:t>4.5:1</a:t>
              </a:r>
              <a:r>
                <a:rPr lang="en-US" sz="1800" dirty="0">
                  <a:solidFill>
                    <a:schemeClr val="accent1"/>
                  </a:solidFill>
                  <a:latin typeface="+mn-lt"/>
                  <a:ea typeface="+mn-ea"/>
                  <a:cs typeface="+mn-cs"/>
                </a:rPr>
                <a:t xml:space="preserve"> or above.</a:t>
              </a:r>
            </a:p>
          </p:txBody>
        </p:sp>
      </p:grpSp>
      <p:grpSp>
        <p:nvGrpSpPr>
          <p:cNvPr id="29" name="Group 29"/>
          <p:cNvGrpSpPr/>
          <p:nvPr/>
        </p:nvGrpSpPr>
        <p:grpSpPr>
          <a:xfrm>
            <a:off x="6660642" y="4352925"/>
            <a:ext cx="4557141" cy="851726"/>
            <a:chOff x="6660642" y="4352925"/>
            <a:chExt cx="4557141" cy="851726"/>
          </a:xfrm>
        </p:grpSpPr>
        <p:grpSp>
          <p:nvGrpSpPr>
            <p:cNvPr id="26" name="Group 26"/>
            <p:cNvGrpSpPr/>
            <p:nvPr/>
          </p:nvGrpSpPr>
          <p:grpSpPr>
            <a:xfrm>
              <a:off x="6696075" y="4352925"/>
              <a:ext cx="171450" cy="171450"/>
              <a:chOff x="6696075" y="4352925"/>
              <a:chExt cx="171450" cy="171450"/>
            </a:xfrm>
          </p:grpSpPr>
          <p:sp>
            <p:nvSpPr>
              <p:cNvPr id="23" name="Freeform 23"/>
              <p:cNvSpPr/>
              <p:nvPr/>
            </p:nvSpPr>
            <p:spPr>
              <a:xfrm>
                <a:off x="6696075" y="4352925"/>
                <a:ext cx="171450" cy="171450"/>
              </a:xfrm>
              <a:custGeom>
                <a:avLst/>
                <a:gdLst/>
                <a:ahLst/>
                <a:cxnLst/>
                <a:rect l="l" t="t" r="r" b="b"/>
                <a:pathLst>
                  <a:path w="171450" h="17145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rgbClr val="6B6259"/>
                </a:solidFill>
              </a:ln>
            </p:spPr>
          </p:sp>
          <p:sp>
            <p:nvSpPr>
              <p:cNvPr id="24" name="Freeform 24"/>
              <p:cNvSpPr/>
              <p:nvPr/>
            </p:nvSpPr>
            <p:spPr>
              <a:xfrm>
                <a:off x="6781800" y="4476750"/>
                <a:ext cx="9525" cy="9525"/>
              </a:xfrm>
              <a:custGeom>
                <a:avLst/>
                <a:gdLst/>
                <a:ahLst/>
                <a:cxnLst/>
                <a:rect l="l" t="t" r="r" b="b"/>
                <a:pathLst>
                  <a:path w="9525" h="9525">
                    <a:moveTo>
                      <a:pt x="0" y="0"/>
                    </a:moveTo>
                    <a:lnTo>
                      <a:pt x="0" y="95"/>
                    </a:lnTo>
                  </a:path>
                </a:pathLst>
              </a:custGeom>
              <a:noFill/>
              <a:ln w="19050">
                <a:solidFill>
                  <a:srgbClr val="6B6259"/>
                </a:solidFill>
              </a:ln>
            </p:spPr>
          </p:sp>
          <p:sp>
            <p:nvSpPr>
              <p:cNvPr id="25" name="Freeform 25"/>
              <p:cNvSpPr/>
              <p:nvPr/>
            </p:nvSpPr>
            <p:spPr>
              <a:xfrm>
                <a:off x="6767512" y="4408155"/>
                <a:ext cx="34933" cy="40047"/>
              </a:xfrm>
              <a:custGeom>
                <a:avLst/>
                <a:gdLst/>
                <a:ahLst/>
                <a:cxnLst/>
                <a:rect l="l" t="t" r="r" b="b"/>
                <a:pathLst>
                  <a:path w="34933" h="40047">
                    <a:moveTo>
                      <a:pt x="14288" y="40020"/>
                    </a:moveTo>
                    <a:cubicBezTo>
                      <a:pt x="23106" y="40047"/>
                      <a:pt x="30790" y="34017"/>
                      <a:pt x="32862" y="25445"/>
                    </a:cubicBezTo>
                    <a:cubicBezTo>
                      <a:pt x="34933" y="16874"/>
                      <a:pt x="30851" y="8000"/>
                      <a:pt x="22993" y="3997"/>
                    </a:cubicBezTo>
                    <a:cubicBezTo>
                      <a:pt x="15191" y="0"/>
                      <a:pt x="5664" y="1906"/>
                      <a:pt x="0" y="8597"/>
                    </a:cubicBezTo>
                  </a:path>
                </a:pathLst>
              </a:custGeom>
              <a:noFill/>
              <a:ln w="19050">
                <a:solidFill>
                  <a:srgbClr val="6B6259"/>
                </a:solidFill>
              </a:ln>
            </p:spPr>
          </p:sp>
        </p:grpSp>
        <p:sp>
          <p:nvSpPr>
            <p:cNvPr id="27" name="TextBox 27"/>
            <p:cNvSpPr txBox="1"/>
            <p:nvPr/>
          </p:nvSpPr>
          <p:spPr>
            <a:xfrm>
              <a:off x="6985254" y="4366260"/>
              <a:ext cx="1766011" cy="234696"/>
            </a:xfrm>
            <a:prstGeom prst="rect">
              <a:avLst/>
            </a:prstGeom>
            <a:noFill/>
            <a:ln>
              <a:noFill/>
            </a:ln>
          </p:spPr>
          <p:txBody>
            <a:bodyPr wrap="none" lIns="0" tIns="0" rIns="0" bIns="0" anchor="t" anchorCtr="0">
              <a:spAutoFit/>
            </a:bodyPr>
            <a:lstStyle/>
            <a:p>
              <a:pPr algn="l"/>
              <a:r>
                <a:rPr lang="en-US" sz="1200" b="1" spc="150" dirty="0">
                  <a:solidFill>
                    <a:schemeClr val="accent5"/>
                  </a:solidFill>
                  <a:latin typeface="+mn-lt"/>
                  <a:ea typeface="+mn-ea"/>
                  <a:cs typeface="+mn-cs"/>
                </a:rPr>
                <a:t>IF YOU GET STUCK</a:t>
              </a:r>
            </a:p>
          </p:txBody>
        </p:sp>
        <p:sp>
          <p:nvSpPr>
            <p:cNvPr id="28" name="TextBox 28"/>
            <p:cNvSpPr txBox="1"/>
            <p:nvPr/>
          </p:nvSpPr>
          <p:spPr>
            <a:xfrm>
              <a:off x="6660642" y="4712018"/>
              <a:ext cx="4557141"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Stop sampling for meaning and sample by area instead:</a:t>
              </a:r>
              <a:br/>
              <a:r>
                <a:rPr lang="en-US" sz="1350" dirty="0">
                  <a:solidFill>
                    <a:schemeClr val="dk1"/>
                  </a:solidFill>
                  <a:latin typeface="+mn-lt"/>
                  <a:ea typeface="+mn-ea"/>
                  <a:cs typeface="+mn-cs"/>
                </a:rPr>
                <a:t>largest first, then darkest, then lightest.</a:t>
              </a:r>
            </a:p>
          </p:txBody>
        </p:sp>
      </p:grpSp>
      <p:grpSp>
        <p:nvGrpSpPr>
          <p:cNvPr id="35" name="Group 35"/>
          <p:cNvGrpSpPr/>
          <p:nvPr/>
        </p:nvGrpSpPr>
        <p:grpSpPr>
          <a:xfrm>
            <a:off x="609600" y="5676900"/>
            <a:ext cx="10972800" cy="653034"/>
            <a:chOff x="609600" y="5676900"/>
            <a:chExt cx="10972800" cy="653034"/>
          </a:xfrm>
        </p:grpSpPr>
        <p:sp>
          <p:nvSpPr>
            <p:cNvPr id="30" name="Line 30"/>
            <p:cNvSpPr/>
            <p:nvPr/>
          </p:nvSpPr>
          <p:spPr>
            <a:xfrm>
              <a:off x="609600" y="56769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nvGrpSpPr>
            <p:cNvPr id="33" name="Group 33"/>
            <p:cNvGrpSpPr/>
            <p:nvPr/>
          </p:nvGrpSpPr>
          <p:grpSpPr>
            <a:xfrm>
              <a:off x="640556" y="5993606"/>
              <a:ext cx="185737" cy="185737"/>
              <a:chOff x="640556" y="5993606"/>
              <a:chExt cx="185737" cy="185737"/>
            </a:xfrm>
          </p:grpSpPr>
          <p:sp>
            <p:nvSpPr>
              <p:cNvPr id="31" name="Freeform 31"/>
              <p:cNvSpPr/>
              <p:nvPr/>
            </p:nvSpPr>
            <p:spPr>
              <a:xfrm>
                <a:off x="640556" y="5993606"/>
                <a:ext cx="185737" cy="185737"/>
              </a:xfrm>
              <a:custGeom>
                <a:avLst/>
                <a:gdLst/>
                <a:ahLst/>
                <a:cxnLst/>
                <a:rect l="l" t="t" r="r" b="b"/>
                <a:pathLst>
                  <a:path w="185737" h="185737">
                    <a:moveTo>
                      <a:pt x="0" y="92868"/>
                    </a:moveTo>
                    <a:cubicBezTo>
                      <a:pt x="0" y="144158"/>
                      <a:pt x="41579" y="185737"/>
                      <a:pt x="92868" y="185737"/>
                    </a:cubicBezTo>
                    <a:cubicBezTo>
                      <a:pt x="144158" y="185737"/>
                      <a:pt x="185737" y="144158"/>
                      <a:pt x="185737" y="92868"/>
                    </a:cubicBezTo>
                    <a:cubicBezTo>
                      <a:pt x="185737" y="41579"/>
                      <a:pt x="144158" y="0"/>
                      <a:pt x="92868" y="0"/>
                    </a:cubicBezTo>
                    <a:cubicBezTo>
                      <a:pt x="41579" y="0"/>
                      <a:pt x="0" y="41579"/>
                      <a:pt x="0" y="92868"/>
                    </a:cubicBezTo>
                  </a:path>
                </a:pathLst>
              </a:custGeom>
              <a:noFill/>
              <a:ln w="20637">
                <a:solidFill>
                  <a:schemeClr val="accent2"/>
                </a:solidFill>
              </a:ln>
            </p:spPr>
          </p:sp>
          <p:sp>
            <p:nvSpPr>
              <p:cNvPr id="32" name="Freeform 32"/>
              <p:cNvSpPr/>
              <p:nvPr/>
            </p:nvSpPr>
            <p:spPr>
              <a:xfrm>
                <a:off x="733425" y="6034881"/>
                <a:ext cx="30956" cy="82550"/>
              </a:xfrm>
              <a:custGeom>
                <a:avLst/>
                <a:gdLst/>
                <a:ahLst/>
                <a:cxnLst/>
                <a:rect l="l" t="t" r="r" b="b"/>
                <a:pathLst>
                  <a:path w="30956" h="82550">
                    <a:moveTo>
                      <a:pt x="0" y="0"/>
                    </a:moveTo>
                    <a:lnTo>
                      <a:pt x="0" y="51594"/>
                    </a:lnTo>
                    <a:lnTo>
                      <a:pt x="30956" y="82550"/>
                    </a:lnTo>
                  </a:path>
                </a:pathLst>
              </a:custGeom>
              <a:noFill/>
              <a:ln w="20637">
                <a:solidFill>
                  <a:schemeClr val="accent2"/>
                </a:solidFill>
              </a:ln>
            </p:spPr>
          </p:sp>
        </p:grpSp>
        <p:sp>
          <p:nvSpPr>
            <p:cNvPr id="34" name="TextBox 34"/>
            <p:cNvSpPr txBox="1"/>
            <p:nvPr/>
          </p:nvSpPr>
          <p:spPr>
            <a:xfrm>
              <a:off x="962406" y="5977890"/>
              <a:ext cx="6478433"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12 minutes</a:t>
              </a:r>
              <a:r>
                <a:rPr lang="en-US" sz="1800" dirty="0">
                  <a:solidFill>
                    <a:schemeClr val="dk1"/>
                  </a:solidFill>
                  <a:latin typeface="+mn-lt"/>
                  <a:ea typeface="+mn-ea"/>
                  <a:cs typeface="+mn-cs"/>
                </a:rPr>
                <a:t xml:space="preserve"> — then we compare three of them out loud.</a:t>
              </a:r>
            </a:p>
          </p:txBody>
        </p:sp>
      </p:grpSp>
      <p:sp>
        <p:nvSpPr>
          <p:cNvPr id="36" name="TextBox 3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10 / 14</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593598" y="556260"/>
            <a:ext cx="10988802" cy="977075"/>
            <a:chOff x="593598" y="556260"/>
            <a:chExt cx="10988802" cy="977075"/>
          </a:xfrm>
        </p:grpSpPr>
        <p:sp>
          <p:nvSpPr>
            <p:cNvPr id="2" name="TextBox 2"/>
            <p:cNvSpPr txBox="1"/>
            <p:nvPr/>
          </p:nvSpPr>
          <p:spPr>
            <a:xfrm>
              <a:off x="603504" y="556260"/>
              <a:ext cx="2694981" cy="234696"/>
            </a:xfrm>
            <a:prstGeom prst="rect">
              <a:avLst/>
            </a:prstGeom>
            <a:noFill/>
            <a:ln>
              <a:noFill/>
            </a:ln>
          </p:spPr>
          <p:txBody>
            <a:bodyPr wrap="none" lIns="0" tIns="0" rIns="0" bIns="0" anchor="t" anchorCtr="0">
              <a:spAutoFit/>
            </a:bodyPr>
            <a:lstStyle/>
            <a:p>
              <a:pPr algn="l"/>
              <a:r>
                <a:rPr lang="en-US" sz="1200" b="1" spc="150" dirty="0">
                  <a:solidFill>
                    <a:schemeClr val="accent2"/>
                  </a:solidFill>
                  <a:latin typeface="+mn-lt"/>
                  <a:ea typeface="+mn-ea"/>
                  <a:cs typeface="+mn-cs"/>
                </a:rPr>
                <a:t>COMMON MISTAKE · 1 OF 2</a:t>
              </a:r>
            </a:p>
          </p:txBody>
        </p:sp>
        <p:sp>
          <p:nvSpPr>
            <p:cNvPr id="3" name="Rectangle 3"/>
            <p:cNvSpPr/>
            <p:nvPr/>
          </p:nvSpPr>
          <p:spPr>
            <a:xfrm>
              <a:off x="609600" y="800100"/>
              <a:ext cx="457200" cy="28575"/>
            </a:xfrm>
            <a:prstGeom prst="rect">
              <a:avLst/>
            </a:prstGeom>
            <a:solidFill>
              <a:schemeClr val="accent2"/>
            </a:solidFill>
            <a:ln>
              <a:noFill/>
            </a:ln>
          </p:spPr>
        </p:sp>
        <p:sp>
          <p:nvSpPr>
            <p:cNvPr id="4" name="TextBox 4"/>
            <p:cNvSpPr txBox="1"/>
            <p:nvPr/>
          </p:nvSpPr>
          <p:spPr>
            <a:xfrm>
              <a:off x="593598" y="917258"/>
              <a:ext cx="7807321" cy="616077"/>
            </a:xfrm>
            <a:prstGeom prst="rect">
              <a:avLst/>
            </a:prstGeom>
            <a:noFill/>
            <a:ln>
              <a:noFill/>
            </a:ln>
          </p:spPr>
          <p:txBody>
            <a:bodyPr wrap="none" lIns="0" tIns="0" rIns="0" bIns="0" anchor="t" anchorCtr="0">
              <a:spAutoFit/>
            </a:bodyPr>
            <a:lstStyle/>
            <a:p>
              <a:pPr algn="l"/>
              <a:r>
                <a:rPr lang="en-US" sz="3150" dirty="0">
                  <a:solidFill>
                    <a:schemeClr val="accent1"/>
                  </a:solidFill>
                  <a:latin typeface="+mj-lt"/>
                  <a:ea typeface="+mj-ea"/>
                  <a:cs typeface="+mj-cs"/>
                </a:rPr>
                <a:t>Mistake 1 — turning up the saturation</a:t>
              </a:r>
            </a:p>
          </p:txBody>
        </p:sp>
        <p:sp>
          <p:nvSpPr>
            <p:cNvPr id="5" name="Line 5"/>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6" name="Group 16"/>
          <p:cNvGrpSpPr/>
          <p:nvPr/>
        </p:nvGrpSpPr>
        <p:grpSpPr>
          <a:xfrm>
            <a:off x="590550" y="1813560"/>
            <a:ext cx="3524250" cy="2735580"/>
            <a:chOff x="590550" y="1813560"/>
            <a:chExt cx="3524250" cy="2735580"/>
          </a:xfrm>
        </p:grpSpPr>
        <p:sp>
          <p:nvSpPr>
            <p:cNvPr id="7" name="TextBox 7"/>
            <p:cNvSpPr txBox="1"/>
            <p:nvPr/>
          </p:nvSpPr>
          <p:spPr>
            <a:xfrm>
              <a:off x="603504" y="1813560"/>
              <a:ext cx="941161" cy="234696"/>
            </a:xfrm>
            <a:prstGeom prst="rect">
              <a:avLst/>
            </a:prstGeom>
            <a:noFill/>
            <a:ln>
              <a:noFill/>
            </a:ln>
          </p:spPr>
          <p:txBody>
            <a:bodyPr wrap="none" lIns="0" tIns="0" rIns="0" bIns="0" anchor="t" anchorCtr="0">
              <a:spAutoFit/>
            </a:bodyPr>
            <a:lstStyle/>
            <a:p>
              <a:pPr algn="l"/>
              <a:r>
                <a:rPr lang="en-US" sz="1200" b="1" spc="150" dirty="0">
                  <a:solidFill>
                    <a:schemeClr val="accent5"/>
                  </a:solidFill>
                  <a:latin typeface="+mn-lt"/>
                  <a:ea typeface="+mn-ea"/>
                  <a:cs typeface="+mn-cs"/>
                </a:rPr>
                <a:t>AS DRAWN</a:t>
              </a:r>
            </a:p>
          </p:txBody>
        </p:sp>
        <p:sp>
          <p:nvSpPr>
            <p:cNvPr id="8" name="Rectangle 8"/>
            <p:cNvSpPr/>
            <p:nvPr/>
          </p:nvSpPr>
          <p:spPr>
            <a:xfrm>
              <a:off x="609600" y="2057400"/>
              <a:ext cx="3505200" cy="1143000"/>
            </a:xfrm>
            <a:prstGeom prst="rect">
              <a:avLst/>
            </a:prstGeom>
            <a:solidFill>
              <a:schemeClr val="lt1"/>
            </a:solidFill>
            <a:ln w="9525">
              <a:solidFill>
                <a:schemeClr val="accent6"/>
              </a:solidFill>
            </a:ln>
          </p:spPr>
        </p:sp>
        <p:sp>
          <p:nvSpPr>
            <p:cNvPr id="9" name="TextBox 9"/>
            <p:cNvSpPr txBox="1"/>
            <p:nvPr/>
          </p:nvSpPr>
          <p:spPr>
            <a:xfrm>
              <a:off x="1610189" y="2510790"/>
              <a:ext cx="1504022" cy="352044"/>
            </a:xfrm>
            <a:prstGeom prst="rect">
              <a:avLst/>
            </a:prstGeom>
            <a:noFill/>
            <a:ln>
              <a:noFill/>
            </a:ln>
          </p:spPr>
          <p:txBody>
            <a:bodyPr wrap="none" lIns="0" tIns="0" rIns="0" bIns="0" anchor="t" anchorCtr="0">
              <a:spAutoFit/>
            </a:bodyPr>
            <a:lstStyle/>
            <a:p>
              <a:pPr algn="ctr"/>
              <a:r>
                <a:rPr lang="en-US" sz="1800" dirty="0">
                  <a:solidFill>
                    <a:srgbClr val="C98E62"/>
                  </a:solidFill>
                  <a:latin typeface="+mn-lt"/>
                  <a:ea typeface="+mn-ea"/>
                  <a:cs typeface="+mn-cs"/>
                </a:rPr>
                <a:t>Caption text</a:t>
              </a:r>
            </a:p>
          </p:txBody>
        </p:sp>
        <p:sp>
          <p:nvSpPr>
            <p:cNvPr id="10" name="TextBox 10"/>
            <p:cNvSpPr txBox="1"/>
            <p:nvPr/>
          </p:nvSpPr>
          <p:spPr>
            <a:xfrm>
              <a:off x="601218" y="3308032"/>
              <a:ext cx="920344"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Consolas"/>
                  <a:ea typeface="Consolas"/>
                  <a:cs typeface="Consolas"/>
                </a:rPr>
                <a:t>#C98E62</a:t>
              </a:r>
            </a:p>
          </p:txBody>
        </p:sp>
        <p:sp>
          <p:nvSpPr>
            <p:cNvPr id="11" name="TextBox 11"/>
            <p:cNvSpPr txBox="1"/>
            <p:nvPr/>
          </p:nvSpPr>
          <p:spPr>
            <a:xfrm>
              <a:off x="590550" y="3615690"/>
              <a:ext cx="2170481" cy="933450"/>
            </a:xfrm>
            <a:prstGeom prst="rect">
              <a:avLst/>
            </a:prstGeom>
            <a:noFill/>
            <a:ln>
              <a:noFill/>
            </a:ln>
          </p:spPr>
          <p:txBody>
            <a:bodyPr wrap="none" lIns="0" tIns="0" rIns="0" bIns="0" anchor="t" anchorCtr="0">
              <a:spAutoFit/>
            </a:bodyPr>
            <a:lstStyle/>
            <a:p>
              <a:pPr algn="l"/>
              <a:r>
                <a:rPr lang="en-US" sz="4800" dirty="0">
                  <a:solidFill>
                    <a:srgbClr val="C62828"/>
                  </a:solidFill>
                  <a:latin typeface="Consolas"/>
                  <a:ea typeface="Consolas"/>
                  <a:cs typeface="Consolas"/>
                </a:rPr>
                <a:t>2.63:1</a:t>
              </a:r>
            </a:p>
          </p:txBody>
        </p:sp>
        <p:grpSp>
          <p:nvGrpSpPr>
            <p:cNvPr id="14" name="Group 14"/>
            <p:cNvGrpSpPr/>
            <p:nvPr/>
          </p:nvGrpSpPr>
          <p:grpSpPr>
            <a:xfrm>
              <a:off x="3021806" y="3898106"/>
              <a:ext cx="185737" cy="185737"/>
              <a:chOff x="3021806" y="3898106"/>
              <a:chExt cx="185737" cy="185737"/>
            </a:xfrm>
          </p:grpSpPr>
          <p:sp>
            <p:nvSpPr>
              <p:cNvPr id="12" name="Freeform 12"/>
              <p:cNvSpPr/>
              <p:nvPr/>
            </p:nvSpPr>
            <p:spPr>
              <a:xfrm>
                <a:off x="3021806" y="3898106"/>
                <a:ext cx="185737" cy="185737"/>
              </a:xfrm>
              <a:custGeom>
                <a:avLst/>
                <a:gdLst/>
                <a:ahLst/>
                <a:cxnLst/>
                <a:rect l="l" t="t" r="r" b="b"/>
                <a:pathLst>
                  <a:path w="185737" h="185737">
                    <a:moveTo>
                      <a:pt x="0" y="92868"/>
                    </a:moveTo>
                    <a:cubicBezTo>
                      <a:pt x="0" y="144158"/>
                      <a:pt x="41579" y="185737"/>
                      <a:pt x="92868" y="185737"/>
                    </a:cubicBezTo>
                    <a:cubicBezTo>
                      <a:pt x="144158" y="185737"/>
                      <a:pt x="185737" y="144158"/>
                      <a:pt x="185737" y="92868"/>
                    </a:cubicBezTo>
                    <a:cubicBezTo>
                      <a:pt x="185737" y="41579"/>
                      <a:pt x="144158" y="0"/>
                      <a:pt x="92868" y="0"/>
                    </a:cubicBezTo>
                    <a:cubicBezTo>
                      <a:pt x="41579" y="0"/>
                      <a:pt x="0" y="41579"/>
                      <a:pt x="0" y="92868"/>
                    </a:cubicBezTo>
                  </a:path>
                </a:pathLst>
              </a:custGeom>
              <a:noFill/>
              <a:ln w="20637">
                <a:solidFill>
                  <a:srgbClr val="C62828"/>
                </a:solidFill>
              </a:ln>
            </p:spPr>
          </p:sp>
          <p:sp>
            <p:nvSpPr>
              <p:cNvPr id="13" name="Freeform 13"/>
              <p:cNvSpPr/>
              <p:nvPr/>
            </p:nvSpPr>
            <p:spPr>
              <a:xfrm>
                <a:off x="3094037" y="3970337"/>
                <a:ext cx="41275" cy="41275"/>
              </a:xfrm>
              <a:custGeom>
                <a:avLst/>
                <a:gdLst/>
                <a:ahLst/>
                <a:cxnLst/>
                <a:rect l="l" t="t" r="r" b="b"/>
                <a:pathLst>
                  <a:path w="41275" h="41275">
                    <a:moveTo>
                      <a:pt x="0" y="0"/>
                    </a:moveTo>
                    <a:lnTo>
                      <a:pt x="41275" y="41275"/>
                    </a:lnTo>
                    <a:moveTo>
                      <a:pt x="41275" y="0"/>
                    </a:moveTo>
                    <a:lnTo>
                      <a:pt x="0" y="41275"/>
                    </a:lnTo>
                  </a:path>
                </a:pathLst>
              </a:custGeom>
              <a:noFill/>
              <a:ln w="20637">
                <a:solidFill>
                  <a:srgbClr val="C62828"/>
                </a:solidFill>
              </a:ln>
            </p:spPr>
          </p:sp>
        </p:grpSp>
        <p:sp>
          <p:nvSpPr>
            <p:cNvPr id="15" name="TextBox 15"/>
            <p:cNvSpPr txBox="1"/>
            <p:nvPr/>
          </p:nvSpPr>
          <p:spPr>
            <a:xfrm>
              <a:off x="3326892" y="3930968"/>
              <a:ext cx="406885" cy="264033"/>
            </a:xfrm>
            <a:prstGeom prst="rect">
              <a:avLst/>
            </a:prstGeom>
            <a:noFill/>
            <a:ln>
              <a:noFill/>
            </a:ln>
          </p:spPr>
          <p:txBody>
            <a:bodyPr wrap="none" lIns="0" tIns="0" rIns="0" bIns="0" anchor="t" anchorCtr="0">
              <a:spAutoFit/>
            </a:bodyPr>
            <a:lstStyle/>
            <a:p>
              <a:pPr algn="l"/>
              <a:r>
                <a:rPr lang="en-US" sz="1350" b="1" dirty="0">
                  <a:solidFill>
                    <a:srgbClr val="C62828"/>
                  </a:solidFill>
                  <a:latin typeface="+mn-lt"/>
                  <a:ea typeface="+mn-ea"/>
                  <a:cs typeface="+mn-cs"/>
                </a:rPr>
                <a:t>FAIL</a:t>
              </a:r>
            </a:p>
          </p:txBody>
        </p:sp>
      </p:grpSp>
      <p:grpSp>
        <p:nvGrpSpPr>
          <p:cNvPr id="26" name="Group 26"/>
          <p:cNvGrpSpPr/>
          <p:nvPr/>
        </p:nvGrpSpPr>
        <p:grpSpPr>
          <a:xfrm>
            <a:off x="4324350" y="1813560"/>
            <a:ext cx="3524250" cy="2735580"/>
            <a:chOff x="4324350" y="1813560"/>
            <a:chExt cx="3524250" cy="2735580"/>
          </a:xfrm>
        </p:grpSpPr>
        <p:sp>
          <p:nvSpPr>
            <p:cNvPr id="17" name="TextBox 17"/>
            <p:cNvSpPr txBox="1"/>
            <p:nvPr/>
          </p:nvSpPr>
          <p:spPr>
            <a:xfrm>
              <a:off x="4337304" y="1813560"/>
              <a:ext cx="1975531" cy="234696"/>
            </a:xfrm>
            <a:prstGeom prst="rect">
              <a:avLst/>
            </a:prstGeom>
            <a:noFill/>
            <a:ln>
              <a:noFill/>
            </a:ln>
          </p:spPr>
          <p:txBody>
            <a:bodyPr wrap="none" lIns="0" tIns="0" rIns="0" bIns="0" anchor="t" anchorCtr="0">
              <a:spAutoFit/>
            </a:bodyPr>
            <a:lstStyle/>
            <a:p>
              <a:pPr algn="l"/>
              <a:r>
                <a:rPr lang="en-US" sz="1200" b="1" spc="150" dirty="0">
                  <a:solidFill>
                    <a:srgbClr val="C62828"/>
                  </a:solidFill>
                  <a:latin typeface="+mn-lt"/>
                  <a:ea typeface="+mn-ea"/>
                  <a:cs typeface="+mn-cs"/>
                </a:rPr>
                <a:t>SATURATION PUSHED</a:t>
              </a:r>
            </a:p>
          </p:txBody>
        </p:sp>
        <p:sp>
          <p:nvSpPr>
            <p:cNvPr id="18" name="Rectangle 18"/>
            <p:cNvSpPr/>
            <p:nvPr/>
          </p:nvSpPr>
          <p:spPr>
            <a:xfrm>
              <a:off x="4343400" y="2057400"/>
              <a:ext cx="3505200" cy="1143000"/>
            </a:xfrm>
            <a:prstGeom prst="rect">
              <a:avLst/>
            </a:prstGeom>
            <a:solidFill>
              <a:schemeClr val="lt1"/>
            </a:solidFill>
            <a:ln w="9525">
              <a:solidFill>
                <a:schemeClr val="accent6"/>
              </a:solidFill>
            </a:ln>
          </p:spPr>
        </p:sp>
        <p:sp>
          <p:nvSpPr>
            <p:cNvPr id="19" name="TextBox 19"/>
            <p:cNvSpPr txBox="1"/>
            <p:nvPr/>
          </p:nvSpPr>
          <p:spPr>
            <a:xfrm>
              <a:off x="5343989" y="2510790"/>
              <a:ext cx="1504022" cy="352044"/>
            </a:xfrm>
            <a:prstGeom prst="rect">
              <a:avLst/>
            </a:prstGeom>
            <a:noFill/>
            <a:ln>
              <a:noFill/>
            </a:ln>
          </p:spPr>
          <p:txBody>
            <a:bodyPr wrap="none" lIns="0" tIns="0" rIns="0" bIns="0" anchor="t" anchorCtr="0">
              <a:spAutoFit/>
            </a:bodyPr>
            <a:lstStyle/>
            <a:p>
              <a:pPr algn="ctr"/>
              <a:r>
                <a:rPr lang="en-US" sz="1800" dirty="0">
                  <a:solidFill>
                    <a:srgbClr val="FF862C"/>
                  </a:solidFill>
                  <a:latin typeface="+mn-lt"/>
                  <a:ea typeface="+mn-ea"/>
                  <a:cs typeface="+mn-cs"/>
                </a:rPr>
                <a:t>Caption text</a:t>
              </a:r>
            </a:p>
          </p:txBody>
        </p:sp>
        <p:sp>
          <p:nvSpPr>
            <p:cNvPr id="20" name="TextBox 20"/>
            <p:cNvSpPr txBox="1"/>
            <p:nvPr/>
          </p:nvSpPr>
          <p:spPr>
            <a:xfrm>
              <a:off x="4335018" y="3308032"/>
              <a:ext cx="920344"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Consolas"/>
                  <a:ea typeface="Consolas"/>
                  <a:cs typeface="Consolas"/>
                </a:rPr>
                <a:t>#FF862C</a:t>
              </a:r>
            </a:p>
          </p:txBody>
        </p:sp>
        <p:sp>
          <p:nvSpPr>
            <p:cNvPr id="21" name="TextBox 21"/>
            <p:cNvSpPr txBox="1"/>
            <p:nvPr/>
          </p:nvSpPr>
          <p:spPr>
            <a:xfrm>
              <a:off x="4324350" y="3615690"/>
              <a:ext cx="2170481" cy="933450"/>
            </a:xfrm>
            <a:prstGeom prst="rect">
              <a:avLst/>
            </a:prstGeom>
            <a:noFill/>
            <a:ln>
              <a:noFill/>
            </a:ln>
          </p:spPr>
          <p:txBody>
            <a:bodyPr wrap="none" lIns="0" tIns="0" rIns="0" bIns="0" anchor="t" anchorCtr="0">
              <a:spAutoFit/>
            </a:bodyPr>
            <a:lstStyle/>
            <a:p>
              <a:pPr algn="l"/>
              <a:r>
                <a:rPr lang="en-US" sz="4800" dirty="0">
                  <a:solidFill>
                    <a:srgbClr val="C62828"/>
                  </a:solidFill>
                  <a:latin typeface="Consolas"/>
                  <a:ea typeface="Consolas"/>
                  <a:cs typeface="Consolas"/>
                </a:rPr>
                <a:t>2.28:1</a:t>
              </a:r>
            </a:p>
          </p:txBody>
        </p:sp>
        <p:grpSp>
          <p:nvGrpSpPr>
            <p:cNvPr id="24" name="Group 24"/>
            <p:cNvGrpSpPr/>
            <p:nvPr/>
          </p:nvGrpSpPr>
          <p:grpSpPr>
            <a:xfrm>
              <a:off x="6755606" y="3898106"/>
              <a:ext cx="185737" cy="185737"/>
              <a:chOff x="6755606" y="3898106"/>
              <a:chExt cx="185737" cy="185737"/>
            </a:xfrm>
          </p:grpSpPr>
          <p:sp>
            <p:nvSpPr>
              <p:cNvPr id="22" name="Freeform 22"/>
              <p:cNvSpPr/>
              <p:nvPr/>
            </p:nvSpPr>
            <p:spPr>
              <a:xfrm>
                <a:off x="6755606" y="3898106"/>
                <a:ext cx="185737" cy="185737"/>
              </a:xfrm>
              <a:custGeom>
                <a:avLst/>
                <a:gdLst/>
                <a:ahLst/>
                <a:cxnLst/>
                <a:rect l="l" t="t" r="r" b="b"/>
                <a:pathLst>
                  <a:path w="185737" h="185737">
                    <a:moveTo>
                      <a:pt x="0" y="92868"/>
                    </a:moveTo>
                    <a:cubicBezTo>
                      <a:pt x="0" y="144158"/>
                      <a:pt x="41579" y="185737"/>
                      <a:pt x="92868" y="185737"/>
                    </a:cubicBezTo>
                    <a:cubicBezTo>
                      <a:pt x="144158" y="185737"/>
                      <a:pt x="185737" y="144158"/>
                      <a:pt x="185737" y="92868"/>
                    </a:cubicBezTo>
                    <a:cubicBezTo>
                      <a:pt x="185737" y="41579"/>
                      <a:pt x="144158" y="0"/>
                      <a:pt x="92868" y="0"/>
                    </a:cubicBezTo>
                    <a:cubicBezTo>
                      <a:pt x="41579" y="0"/>
                      <a:pt x="0" y="41579"/>
                      <a:pt x="0" y="92868"/>
                    </a:cubicBezTo>
                  </a:path>
                </a:pathLst>
              </a:custGeom>
              <a:noFill/>
              <a:ln w="20637">
                <a:solidFill>
                  <a:srgbClr val="C62828"/>
                </a:solidFill>
              </a:ln>
            </p:spPr>
          </p:sp>
          <p:sp>
            <p:nvSpPr>
              <p:cNvPr id="23" name="Freeform 23"/>
              <p:cNvSpPr/>
              <p:nvPr/>
            </p:nvSpPr>
            <p:spPr>
              <a:xfrm>
                <a:off x="6827837" y="3970337"/>
                <a:ext cx="41275" cy="41275"/>
              </a:xfrm>
              <a:custGeom>
                <a:avLst/>
                <a:gdLst/>
                <a:ahLst/>
                <a:cxnLst/>
                <a:rect l="l" t="t" r="r" b="b"/>
                <a:pathLst>
                  <a:path w="41275" h="41275">
                    <a:moveTo>
                      <a:pt x="0" y="0"/>
                    </a:moveTo>
                    <a:lnTo>
                      <a:pt x="41275" y="41275"/>
                    </a:lnTo>
                    <a:moveTo>
                      <a:pt x="41275" y="0"/>
                    </a:moveTo>
                    <a:lnTo>
                      <a:pt x="0" y="41275"/>
                    </a:lnTo>
                  </a:path>
                </a:pathLst>
              </a:custGeom>
              <a:noFill/>
              <a:ln w="20637">
                <a:solidFill>
                  <a:srgbClr val="C62828"/>
                </a:solidFill>
              </a:ln>
            </p:spPr>
          </p:sp>
        </p:grpSp>
        <p:sp>
          <p:nvSpPr>
            <p:cNvPr id="25" name="TextBox 25"/>
            <p:cNvSpPr txBox="1"/>
            <p:nvPr/>
          </p:nvSpPr>
          <p:spPr>
            <a:xfrm>
              <a:off x="7060692" y="3930968"/>
              <a:ext cx="406885" cy="264033"/>
            </a:xfrm>
            <a:prstGeom prst="rect">
              <a:avLst/>
            </a:prstGeom>
            <a:noFill/>
            <a:ln>
              <a:noFill/>
            </a:ln>
          </p:spPr>
          <p:txBody>
            <a:bodyPr wrap="none" lIns="0" tIns="0" rIns="0" bIns="0" anchor="t" anchorCtr="0">
              <a:spAutoFit/>
            </a:bodyPr>
            <a:lstStyle/>
            <a:p>
              <a:pPr algn="l"/>
              <a:r>
                <a:rPr lang="en-US" sz="1350" b="1" dirty="0">
                  <a:solidFill>
                    <a:srgbClr val="C62828"/>
                  </a:solidFill>
                  <a:latin typeface="+mn-lt"/>
                  <a:ea typeface="+mn-ea"/>
                  <a:cs typeface="+mn-cs"/>
                </a:rPr>
                <a:t>FAIL</a:t>
              </a:r>
            </a:p>
          </p:txBody>
        </p:sp>
      </p:grpSp>
      <p:grpSp>
        <p:nvGrpSpPr>
          <p:cNvPr id="36" name="Group 36"/>
          <p:cNvGrpSpPr/>
          <p:nvPr/>
        </p:nvGrpSpPr>
        <p:grpSpPr>
          <a:xfrm>
            <a:off x="8058150" y="1813560"/>
            <a:ext cx="3524250" cy="2735580"/>
            <a:chOff x="8058150" y="1813560"/>
            <a:chExt cx="3524250" cy="2735580"/>
          </a:xfrm>
        </p:grpSpPr>
        <p:sp>
          <p:nvSpPr>
            <p:cNvPr id="27" name="TextBox 27"/>
            <p:cNvSpPr txBox="1"/>
            <p:nvPr/>
          </p:nvSpPr>
          <p:spPr>
            <a:xfrm>
              <a:off x="8071104" y="1813560"/>
              <a:ext cx="2011375" cy="234696"/>
            </a:xfrm>
            <a:prstGeom prst="rect">
              <a:avLst/>
            </a:prstGeom>
            <a:noFill/>
            <a:ln>
              <a:noFill/>
            </a:ln>
          </p:spPr>
          <p:txBody>
            <a:bodyPr wrap="none" lIns="0" tIns="0" rIns="0" bIns="0" anchor="t" anchorCtr="0">
              <a:spAutoFit/>
            </a:bodyPr>
            <a:lstStyle/>
            <a:p>
              <a:pPr algn="l"/>
              <a:r>
                <a:rPr lang="en-US" sz="1200" b="1" spc="150" dirty="0">
                  <a:solidFill>
                    <a:srgbClr val="2E7D32"/>
                  </a:solidFill>
                  <a:latin typeface="+mn-lt"/>
                  <a:ea typeface="+mn-ea"/>
                  <a:cs typeface="+mn-cs"/>
                </a:rPr>
                <a:t>LIGHTNESS LOWERED</a:t>
              </a:r>
            </a:p>
          </p:txBody>
        </p:sp>
        <p:sp>
          <p:nvSpPr>
            <p:cNvPr id="28" name="Rectangle 28"/>
            <p:cNvSpPr/>
            <p:nvPr/>
          </p:nvSpPr>
          <p:spPr>
            <a:xfrm>
              <a:off x="8077200" y="2057400"/>
              <a:ext cx="3505200" cy="1143000"/>
            </a:xfrm>
            <a:prstGeom prst="rect">
              <a:avLst/>
            </a:prstGeom>
            <a:solidFill>
              <a:schemeClr val="lt1"/>
            </a:solidFill>
            <a:ln w="9525">
              <a:solidFill>
                <a:schemeClr val="accent6"/>
              </a:solidFill>
            </a:ln>
          </p:spPr>
        </p:sp>
        <p:sp>
          <p:nvSpPr>
            <p:cNvPr id="29" name="TextBox 29"/>
            <p:cNvSpPr txBox="1"/>
            <p:nvPr/>
          </p:nvSpPr>
          <p:spPr>
            <a:xfrm>
              <a:off x="9077789" y="2510790"/>
              <a:ext cx="1504022" cy="352044"/>
            </a:xfrm>
            <a:prstGeom prst="rect">
              <a:avLst/>
            </a:prstGeom>
            <a:noFill/>
            <a:ln>
              <a:noFill/>
            </a:ln>
          </p:spPr>
          <p:txBody>
            <a:bodyPr wrap="none" lIns="0" tIns="0" rIns="0" bIns="0" anchor="t" anchorCtr="0">
              <a:spAutoFit/>
            </a:bodyPr>
            <a:lstStyle/>
            <a:p>
              <a:pPr algn="ctr"/>
              <a:r>
                <a:rPr lang="en-US" sz="1800" dirty="0">
                  <a:solidFill>
                    <a:srgbClr val="A06437"/>
                  </a:solidFill>
                  <a:latin typeface="+mn-lt"/>
                  <a:ea typeface="+mn-ea"/>
                  <a:cs typeface="+mn-cs"/>
                </a:rPr>
                <a:t>Caption text</a:t>
              </a:r>
            </a:p>
          </p:txBody>
        </p:sp>
        <p:sp>
          <p:nvSpPr>
            <p:cNvPr id="30" name="TextBox 30"/>
            <p:cNvSpPr txBox="1"/>
            <p:nvPr/>
          </p:nvSpPr>
          <p:spPr>
            <a:xfrm>
              <a:off x="8068818" y="3308032"/>
              <a:ext cx="920344"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Consolas"/>
                  <a:ea typeface="Consolas"/>
                  <a:cs typeface="Consolas"/>
                </a:rPr>
                <a:t>#A06437</a:t>
              </a:r>
            </a:p>
          </p:txBody>
        </p:sp>
        <p:sp>
          <p:nvSpPr>
            <p:cNvPr id="31" name="TextBox 31"/>
            <p:cNvSpPr txBox="1"/>
            <p:nvPr/>
          </p:nvSpPr>
          <p:spPr>
            <a:xfrm>
              <a:off x="8058150" y="3615690"/>
              <a:ext cx="2170481" cy="933450"/>
            </a:xfrm>
            <a:prstGeom prst="rect">
              <a:avLst/>
            </a:prstGeom>
            <a:noFill/>
            <a:ln>
              <a:noFill/>
            </a:ln>
          </p:spPr>
          <p:txBody>
            <a:bodyPr wrap="none" lIns="0" tIns="0" rIns="0" bIns="0" anchor="t" anchorCtr="0">
              <a:spAutoFit/>
            </a:bodyPr>
            <a:lstStyle/>
            <a:p>
              <a:pPr algn="l"/>
              <a:r>
                <a:rPr lang="en-US" sz="4800" dirty="0">
                  <a:solidFill>
                    <a:srgbClr val="2E7D32"/>
                  </a:solidFill>
                  <a:latin typeface="Consolas"/>
                  <a:ea typeface="Consolas"/>
                  <a:cs typeface="Consolas"/>
                </a:rPr>
                <a:t>4.53:1</a:t>
              </a:r>
            </a:p>
          </p:txBody>
        </p:sp>
        <p:grpSp>
          <p:nvGrpSpPr>
            <p:cNvPr id="34" name="Group 34"/>
            <p:cNvGrpSpPr/>
            <p:nvPr/>
          </p:nvGrpSpPr>
          <p:grpSpPr>
            <a:xfrm>
              <a:off x="10489406" y="3898106"/>
              <a:ext cx="185737" cy="185737"/>
              <a:chOff x="10489406" y="3898106"/>
              <a:chExt cx="185737" cy="185737"/>
            </a:xfrm>
          </p:grpSpPr>
          <p:sp>
            <p:nvSpPr>
              <p:cNvPr id="32" name="Freeform 32"/>
              <p:cNvSpPr/>
              <p:nvPr/>
            </p:nvSpPr>
            <p:spPr>
              <a:xfrm>
                <a:off x="10489406" y="3898106"/>
                <a:ext cx="185737" cy="185737"/>
              </a:xfrm>
              <a:custGeom>
                <a:avLst/>
                <a:gdLst/>
                <a:ahLst/>
                <a:cxnLst/>
                <a:rect l="l" t="t" r="r" b="b"/>
                <a:pathLst>
                  <a:path w="185737" h="185737">
                    <a:moveTo>
                      <a:pt x="0" y="92868"/>
                    </a:moveTo>
                    <a:cubicBezTo>
                      <a:pt x="0" y="144158"/>
                      <a:pt x="41579" y="185737"/>
                      <a:pt x="92868" y="185737"/>
                    </a:cubicBezTo>
                    <a:cubicBezTo>
                      <a:pt x="144158" y="185737"/>
                      <a:pt x="185737" y="144158"/>
                      <a:pt x="185737" y="92868"/>
                    </a:cubicBezTo>
                    <a:cubicBezTo>
                      <a:pt x="185737" y="41579"/>
                      <a:pt x="144158" y="0"/>
                      <a:pt x="92868" y="0"/>
                    </a:cubicBezTo>
                    <a:cubicBezTo>
                      <a:pt x="41579" y="0"/>
                      <a:pt x="0" y="41579"/>
                      <a:pt x="0" y="92868"/>
                    </a:cubicBezTo>
                  </a:path>
                </a:pathLst>
              </a:custGeom>
              <a:noFill/>
              <a:ln w="20637">
                <a:solidFill>
                  <a:srgbClr val="2E7D32"/>
                </a:solidFill>
              </a:ln>
            </p:spPr>
          </p:sp>
          <p:sp>
            <p:nvSpPr>
              <p:cNvPr id="33" name="Freeform 33"/>
              <p:cNvSpPr/>
              <p:nvPr/>
            </p:nvSpPr>
            <p:spPr>
              <a:xfrm>
                <a:off x="10551318" y="3970337"/>
                <a:ext cx="61912" cy="41275"/>
              </a:xfrm>
              <a:custGeom>
                <a:avLst/>
                <a:gdLst/>
                <a:ahLst/>
                <a:cxnLst/>
                <a:rect l="l" t="t" r="r" b="b"/>
                <a:pathLst>
                  <a:path w="61912" h="41275">
                    <a:moveTo>
                      <a:pt x="0" y="20637"/>
                    </a:moveTo>
                    <a:lnTo>
                      <a:pt x="20637" y="41275"/>
                    </a:lnTo>
                    <a:lnTo>
                      <a:pt x="61912" y="0"/>
                    </a:lnTo>
                  </a:path>
                </a:pathLst>
              </a:custGeom>
              <a:noFill/>
              <a:ln w="20637">
                <a:solidFill>
                  <a:srgbClr val="2E7D32"/>
                </a:solidFill>
              </a:ln>
            </p:spPr>
          </p:sp>
        </p:grpSp>
        <p:sp>
          <p:nvSpPr>
            <p:cNvPr id="35" name="TextBox 35"/>
            <p:cNvSpPr txBox="1"/>
            <p:nvPr/>
          </p:nvSpPr>
          <p:spPr>
            <a:xfrm>
              <a:off x="10794492" y="3930968"/>
              <a:ext cx="457291" cy="264033"/>
            </a:xfrm>
            <a:prstGeom prst="rect">
              <a:avLst/>
            </a:prstGeom>
            <a:noFill/>
            <a:ln>
              <a:noFill/>
            </a:ln>
          </p:spPr>
          <p:txBody>
            <a:bodyPr wrap="none" lIns="0" tIns="0" rIns="0" bIns="0" anchor="t" anchorCtr="0">
              <a:spAutoFit/>
            </a:bodyPr>
            <a:lstStyle/>
            <a:p>
              <a:pPr algn="l"/>
              <a:r>
                <a:rPr lang="en-US" sz="1350" b="1" dirty="0">
                  <a:solidFill>
                    <a:srgbClr val="2E7D32"/>
                  </a:solidFill>
                  <a:latin typeface="+mn-lt"/>
                  <a:ea typeface="+mn-ea"/>
                  <a:cs typeface="+mn-cs"/>
                </a:rPr>
                <a:t>PASS</a:t>
              </a:r>
            </a:p>
          </p:txBody>
        </p:sp>
      </p:grpSp>
      <p:grpSp>
        <p:nvGrpSpPr>
          <p:cNvPr id="44" name="Group 44"/>
          <p:cNvGrpSpPr/>
          <p:nvPr/>
        </p:nvGrpSpPr>
        <p:grpSpPr>
          <a:xfrm>
            <a:off x="602742" y="4731068"/>
            <a:ext cx="9362237" cy="709421"/>
            <a:chOff x="602742" y="4731068"/>
            <a:chExt cx="9362237" cy="709421"/>
          </a:xfrm>
        </p:grpSpPr>
        <p:sp>
          <p:nvSpPr>
            <p:cNvPr id="37" name="TextBox 37"/>
            <p:cNvSpPr txBox="1"/>
            <p:nvPr/>
          </p:nvSpPr>
          <p:spPr>
            <a:xfrm>
              <a:off x="602742" y="4731068"/>
              <a:ext cx="609009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The same three colors, reduced to what the rule actually measures:</a:t>
              </a:r>
            </a:p>
          </p:txBody>
        </p:sp>
        <p:sp>
          <p:nvSpPr>
            <p:cNvPr id="38" name="Rectangle 38"/>
            <p:cNvSpPr/>
            <p:nvPr/>
          </p:nvSpPr>
          <p:spPr>
            <a:xfrm>
              <a:off x="609600" y="5048250"/>
              <a:ext cx="952500" cy="342900"/>
            </a:xfrm>
            <a:prstGeom prst="rect">
              <a:avLst/>
            </a:prstGeom>
            <a:solidFill>
              <a:srgbClr val="9B9B9B"/>
            </a:solidFill>
            <a:ln>
              <a:noFill/>
            </a:ln>
          </p:spPr>
        </p:sp>
        <p:sp>
          <p:nvSpPr>
            <p:cNvPr id="39" name="TextBox 39"/>
            <p:cNvSpPr txBox="1"/>
            <p:nvPr/>
          </p:nvSpPr>
          <p:spPr>
            <a:xfrm>
              <a:off x="1706118" y="5117782"/>
              <a:ext cx="791261"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Consolas"/>
                  <a:ea typeface="Consolas"/>
                  <a:cs typeface="Consolas"/>
                </a:rPr>
                <a:t>L 0.33</a:t>
              </a:r>
            </a:p>
          </p:txBody>
        </p:sp>
        <p:sp>
          <p:nvSpPr>
            <p:cNvPr id="40" name="Rectangle 40"/>
            <p:cNvSpPr/>
            <p:nvPr/>
          </p:nvSpPr>
          <p:spPr>
            <a:xfrm>
              <a:off x="4343400" y="5048250"/>
              <a:ext cx="952500" cy="342900"/>
            </a:xfrm>
            <a:prstGeom prst="rect">
              <a:avLst/>
            </a:prstGeom>
            <a:solidFill>
              <a:srgbClr val="A7A7A7"/>
            </a:solidFill>
            <a:ln>
              <a:noFill/>
            </a:ln>
          </p:spPr>
        </p:sp>
        <p:sp>
          <p:nvSpPr>
            <p:cNvPr id="41" name="TextBox 41"/>
            <p:cNvSpPr txBox="1"/>
            <p:nvPr/>
          </p:nvSpPr>
          <p:spPr>
            <a:xfrm>
              <a:off x="5439918" y="5117782"/>
              <a:ext cx="791261"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Consolas"/>
                  <a:ea typeface="Consolas"/>
                  <a:cs typeface="Consolas"/>
                </a:rPr>
                <a:t>L 0.38</a:t>
              </a:r>
            </a:p>
          </p:txBody>
        </p:sp>
        <p:sp>
          <p:nvSpPr>
            <p:cNvPr id="42" name="Rectangle 42"/>
            <p:cNvSpPr/>
            <p:nvPr/>
          </p:nvSpPr>
          <p:spPr>
            <a:xfrm>
              <a:off x="8077200" y="5048250"/>
              <a:ext cx="952500" cy="342900"/>
            </a:xfrm>
            <a:prstGeom prst="rect">
              <a:avLst/>
            </a:prstGeom>
            <a:solidFill>
              <a:srgbClr val="727272"/>
            </a:solidFill>
            <a:ln>
              <a:noFill/>
            </a:ln>
          </p:spPr>
        </p:sp>
        <p:sp>
          <p:nvSpPr>
            <p:cNvPr id="43" name="TextBox 43"/>
            <p:cNvSpPr txBox="1"/>
            <p:nvPr/>
          </p:nvSpPr>
          <p:spPr>
            <a:xfrm>
              <a:off x="9173718" y="5117782"/>
              <a:ext cx="791261"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Consolas"/>
                  <a:ea typeface="Consolas"/>
                  <a:cs typeface="Consolas"/>
                </a:rPr>
                <a:t>L 0.17</a:t>
              </a:r>
            </a:p>
          </p:txBody>
        </p:sp>
      </p:grpSp>
      <p:grpSp>
        <p:nvGrpSpPr>
          <p:cNvPr id="49" name="Group 49"/>
          <p:cNvGrpSpPr/>
          <p:nvPr/>
        </p:nvGrpSpPr>
        <p:grpSpPr>
          <a:xfrm>
            <a:off x="602742" y="5543550"/>
            <a:ext cx="4299966" cy="861251"/>
            <a:chOff x="602742" y="5543550"/>
            <a:chExt cx="4299966" cy="861251"/>
          </a:xfrm>
        </p:grpSpPr>
        <p:sp>
          <p:nvSpPr>
            <p:cNvPr id="45" name="Freeform 45"/>
            <p:cNvSpPr/>
            <p:nvPr/>
          </p:nvSpPr>
          <p:spPr>
            <a:xfrm>
              <a:off x="609600" y="5543550"/>
              <a:ext cx="1409700" cy="247650"/>
            </a:xfrm>
            <a:prstGeom prst="snip1Rect">
              <a:avLst/>
            </a:prstGeom>
            <a:solidFill>
              <a:schemeClr val="lt2"/>
            </a:solidFill>
            <a:ln>
              <a:noFill/>
            </a:ln>
          </p:spPr>
        </p:sp>
        <p:sp>
          <p:nvSpPr>
            <p:cNvPr id="46" name="TextBox 46"/>
            <p:cNvSpPr txBox="1"/>
            <p:nvPr/>
          </p:nvSpPr>
          <p:spPr>
            <a:xfrm>
              <a:off x="717804" y="5585460"/>
              <a:ext cx="1141293" cy="234696"/>
            </a:xfrm>
            <a:prstGeom prst="rect">
              <a:avLst/>
            </a:prstGeom>
            <a:noFill/>
            <a:ln>
              <a:noFill/>
            </a:ln>
          </p:spPr>
          <p:txBody>
            <a:bodyPr wrap="none" lIns="0" tIns="0" rIns="0" bIns="0" anchor="t" anchorCtr="0">
              <a:spAutoFit/>
            </a:bodyPr>
            <a:lstStyle/>
            <a:p>
              <a:pPr algn="l"/>
              <a:r>
                <a:rPr lang="en-US" sz="1200" b="1" spc="112" dirty="0">
                  <a:solidFill>
                    <a:schemeClr val="accent2"/>
                  </a:solidFill>
                  <a:latin typeface="+mn-lt"/>
                  <a:ea typeface="+mn-ea"/>
                  <a:cs typeface="+mn-cs"/>
                </a:rPr>
                <a:t>PREFERENCE</a:t>
              </a:r>
            </a:p>
          </p:txBody>
        </p:sp>
        <p:sp>
          <p:nvSpPr>
            <p:cNvPr id="47" name="TextBox 47"/>
            <p:cNvSpPr txBox="1"/>
            <p:nvPr/>
          </p:nvSpPr>
          <p:spPr>
            <a:xfrm>
              <a:off x="2164842" y="5569268"/>
              <a:ext cx="161300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why it is tempting</a:t>
              </a:r>
            </a:p>
          </p:txBody>
        </p:sp>
        <p:sp>
          <p:nvSpPr>
            <p:cNvPr id="48" name="TextBox 48"/>
            <p:cNvSpPr txBox="1"/>
            <p:nvPr/>
          </p:nvSpPr>
          <p:spPr>
            <a:xfrm>
              <a:off x="602742" y="5912168"/>
              <a:ext cx="4299966"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On a big bright monitor the louder color really does</a:t>
              </a:r>
              <a:br/>
              <a:r>
                <a:rPr lang="en-US" sz="1350" dirty="0">
                  <a:solidFill>
                    <a:schemeClr val="dk1"/>
                  </a:solidFill>
                  <a:latin typeface="+mn-lt"/>
                  <a:ea typeface="+mn-ea"/>
                  <a:cs typeface="+mn-cs"/>
                </a:rPr>
                <a:t>look stronger to you.</a:t>
              </a:r>
            </a:p>
          </p:txBody>
        </p:sp>
      </p:grpSp>
      <p:grpSp>
        <p:nvGrpSpPr>
          <p:cNvPr id="54" name="Group 54"/>
          <p:cNvGrpSpPr/>
          <p:nvPr/>
        </p:nvGrpSpPr>
        <p:grpSpPr>
          <a:xfrm>
            <a:off x="6089142" y="5543550"/>
            <a:ext cx="5354104" cy="632651"/>
            <a:chOff x="6089142" y="5543550"/>
            <a:chExt cx="5354104" cy="632651"/>
          </a:xfrm>
        </p:grpSpPr>
        <p:sp>
          <p:nvSpPr>
            <p:cNvPr id="50" name="Freeform 50"/>
            <p:cNvSpPr/>
            <p:nvPr/>
          </p:nvSpPr>
          <p:spPr>
            <a:xfrm>
              <a:off x="6096000" y="5543550"/>
              <a:ext cx="1828800" cy="247650"/>
            </a:xfrm>
            <a:prstGeom prst="snip1Rect">
              <a:avLst/>
            </a:prstGeom>
            <a:solidFill>
              <a:schemeClr val="lt2"/>
            </a:solidFill>
            <a:ln>
              <a:noFill/>
            </a:ln>
          </p:spPr>
        </p:sp>
        <p:sp>
          <p:nvSpPr>
            <p:cNvPr id="51" name="TextBox 51"/>
            <p:cNvSpPr txBox="1"/>
            <p:nvPr/>
          </p:nvSpPr>
          <p:spPr>
            <a:xfrm>
              <a:off x="6204204" y="5585460"/>
              <a:ext cx="1697878" cy="234696"/>
            </a:xfrm>
            <a:prstGeom prst="rect">
              <a:avLst/>
            </a:prstGeom>
            <a:noFill/>
            <a:ln>
              <a:noFill/>
            </a:ln>
          </p:spPr>
          <p:txBody>
            <a:bodyPr wrap="none" lIns="0" tIns="0" rIns="0" bIns="0" anchor="t" anchorCtr="0">
              <a:spAutoFit/>
            </a:bodyPr>
            <a:lstStyle/>
            <a:p>
              <a:pPr algn="l"/>
              <a:r>
                <a:rPr lang="en-US" sz="1200" b="1" spc="112" dirty="0">
                  <a:solidFill>
                    <a:schemeClr val="accent2"/>
                  </a:solidFill>
                  <a:latin typeface="+mn-lt"/>
                  <a:ea typeface="+mn-ea"/>
                  <a:cs typeface="+mn-cs"/>
                </a:rPr>
                <a:t>RECOMMENDATION</a:t>
              </a:r>
            </a:p>
          </p:txBody>
        </p:sp>
        <p:sp>
          <p:nvSpPr>
            <p:cNvPr id="52" name="TextBox 52"/>
            <p:cNvSpPr txBox="1"/>
            <p:nvPr/>
          </p:nvSpPr>
          <p:spPr>
            <a:xfrm>
              <a:off x="8070342" y="5569268"/>
              <a:ext cx="1667523"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what to do instead</a:t>
              </a:r>
            </a:p>
          </p:txBody>
        </p:sp>
        <p:sp>
          <p:nvSpPr>
            <p:cNvPr id="53" name="TextBox 53"/>
            <p:cNvSpPr txBox="1"/>
            <p:nvPr/>
          </p:nvSpPr>
          <p:spPr>
            <a:xfrm>
              <a:off x="6089142" y="5912168"/>
              <a:ext cx="5354104"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Move the lightness, keep the hue, then measure it again.</a:t>
              </a:r>
            </a:p>
          </p:txBody>
        </p:sp>
      </p:grpSp>
      <p:grpSp>
        <p:nvGrpSpPr>
          <p:cNvPr id="57" name="Group 57"/>
          <p:cNvGrpSpPr/>
          <p:nvPr/>
        </p:nvGrpSpPr>
        <p:grpSpPr>
          <a:xfrm>
            <a:off x="603504" y="6442710"/>
            <a:ext cx="10984992" cy="234696"/>
            <a:chOff x="603504" y="6442710"/>
            <a:chExt cx="10984992" cy="234696"/>
          </a:xfrm>
        </p:grpSpPr>
        <p:sp>
          <p:nvSpPr>
            <p:cNvPr id="55" name="TextBox 55"/>
            <p:cNvSpPr txBox="1"/>
            <p:nvPr/>
          </p:nvSpPr>
          <p:spPr>
            <a:xfrm>
              <a:off x="603504" y="6442710"/>
              <a:ext cx="775098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Ratios and relative luminances computed from the three swatches on this page, per W3C WCAG 2.1</a:t>
              </a:r>
            </a:p>
          </p:txBody>
        </p:sp>
        <p:sp>
          <p:nvSpPr>
            <p:cNvPr id="56" name="TextBox 5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11 / 14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500"/>
                                        <p:tgtEl>
                                          <p:spTgt spid="26"/>
                                        </p:tgtEl>
                                      </p:cBhvr>
                                    </p:animEffect>
                                  </p:childTnLst>
                                </p:cTn>
                              </p:par>
                            </p:childTnLst>
                          </p:cTn>
                        </p:par>
                        <p:par>
                          <p:cTn id="12" fill="hold">
                            <p:stCondLst>
                              <p:cond delay="15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36"/>
                                        </p:tgtEl>
                                        <p:attrNameLst>
                                          <p:attrName>style.visibility</p:attrName>
                                        </p:attrNameLst>
                                      </p:cBhvr>
                                      <p:to>
                                        <p:strVal val="visible"/>
                                      </p:to>
                                    </p:set>
                                    <p:animEffect transition="in" filter="fade">
                                      <p:cBhvr>
                                        <p:cTn id="15" dur="500"/>
                                        <p:tgtEl>
                                          <p:spTgt spid="36"/>
                                        </p:tgtEl>
                                      </p:cBhvr>
                                    </p:animEffect>
                                  </p:childTnLst>
                                </p:cTn>
                              </p:par>
                            </p:childTnLst>
                          </p:cTn>
                        </p:par>
                        <p:par>
                          <p:cTn id="16" fill="hold">
                            <p:stCondLst>
                              <p:cond delay="2500"/>
                            </p:stCondLst>
                            <p:childTnLst>
                              <p:par>
                                <p:cTn xmlns:p="http://schemas.openxmlformats.org/presentationml/2006/main" id="17" presetID="22" presetClass="entr" presetSubtype="8" fill="hold" grpId="0" nodeType="afterEffect">
                                  <p:stCondLst>
                                    <p:cond delay="500"/>
                                  </p:stCondLst>
                                  <p:childTnLst>
                                    <p:set>
                                      <p:cBhvr>
                                        <p:cTn id="18" dur="1" fill="hold">
                                          <p:stCondLst>
                                            <p:cond delay="0"/>
                                          </p:stCondLst>
                                        </p:cTn>
                                        <p:tgtEl>
                                          <p:spTgt spid="44"/>
                                        </p:tgtEl>
                                        <p:attrNameLst>
                                          <p:attrName>style.visibility</p:attrName>
                                        </p:attrNameLst>
                                      </p:cBhvr>
                                      <p:to>
                                        <p:strVal val="visible"/>
                                      </p:to>
                                    </p:set>
                                    <p:animEffect transition="in" filter="wipe(left)">
                                      <p:cBhvr>
                                        <p:cTn id="19" dur="700"/>
                                        <p:tgtEl>
                                          <p:spTgt spid="44"/>
                                        </p:tgtEl>
                                      </p:cBhvr>
                                    </p:animEffect>
                                  </p:childTnLst>
                                </p:cTn>
                              </p:par>
                            </p:childTnLst>
                          </p:cTn>
                        </p:par>
                        <p:par>
                          <p:cTn id="20" fill="hold">
                            <p:stCondLst>
                              <p:cond delay="37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54"/>
                                        </p:tgtEl>
                                        <p:attrNameLst>
                                          <p:attrName>style.visibility</p:attrName>
                                        </p:attrNameLst>
                                      </p:cBhvr>
                                      <p:to>
                                        <p:strVal val="visible"/>
                                      </p:to>
                                    </p:set>
                                    <p:animEffect transition="in" filter="fade">
                                      <p:cBhvr>
                                        <p:cTn id="23" dur="4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593598" y="556260"/>
            <a:ext cx="10988802" cy="977075"/>
            <a:chOff x="593598" y="556260"/>
            <a:chExt cx="10988802" cy="977075"/>
          </a:xfrm>
        </p:grpSpPr>
        <p:sp>
          <p:nvSpPr>
            <p:cNvPr id="2" name="TextBox 2"/>
            <p:cNvSpPr txBox="1"/>
            <p:nvPr/>
          </p:nvSpPr>
          <p:spPr>
            <a:xfrm>
              <a:off x="603504" y="556260"/>
              <a:ext cx="2694981" cy="234696"/>
            </a:xfrm>
            <a:prstGeom prst="rect">
              <a:avLst/>
            </a:prstGeom>
            <a:noFill/>
            <a:ln>
              <a:noFill/>
            </a:ln>
          </p:spPr>
          <p:txBody>
            <a:bodyPr wrap="none" lIns="0" tIns="0" rIns="0" bIns="0" anchor="t" anchorCtr="0">
              <a:spAutoFit/>
            </a:bodyPr>
            <a:lstStyle/>
            <a:p>
              <a:pPr algn="l"/>
              <a:r>
                <a:rPr lang="en-US" sz="1200" b="1" spc="150" dirty="0">
                  <a:solidFill>
                    <a:schemeClr val="accent2"/>
                  </a:solidFill>
                  <a:latin typeface="+mn-lt"/>
                  <a:ea typeface="+mn-ea"/>
                  <a:cs typeface="+mn-cs"/>
                </a:rPr>
                <a:t>COMMON MISTAKE · 2 OF 2</a:t>
              </a:r>
            </a:p>
          </p:txBody>
        </p:sp>
        <p:sp>
          <p:nvSpPr>
            <p:cNvPr id="3" name="Rectangle 3"/>
            <p:cNvSpPr/>
            <p:nvPr/>
          </p:nvSpPr>
          <p:spPr>
            <a:xfrm>
              <a:off x="609600" y="800100"/>
              <a:ext cx="457200" cy="28575"/>
            </a:xfrm>
            <a:prstGeom prst="rect">
              <a:avLst/>
            </a:prstGeom>
            <a:solidFill>
              <a:schemeClr val="accent2"/>
            </a:solidFill>
            <a:ln>
              <a:noFill/>
            </a:ln>
          </p:spPr>
        </p:sp>
        <p:sp>
          <p:nvSpPr>
            <p:cNvPr id="4" name="TextBox 4"/>
            <p:cNvSpPr txBox="1"/>
            <p:nvPr/>
          </p:nvSpPr>
          <p:spPr>
            <a:xfrm>
              <a:off x="593598" y="917258"/>
              <a:ext cx="9270977" cy="616077"/>
            </a:xfrm>
            <a:prstGeom prst="rect">
              <a:avLst/>
            </a:prstGeom>
            <a:noFill/>
            <a:ln>
              <a:noFill/>
            </a:ln>
          </p:spPr>
          <p:txBody>
            <a:bodyPr wrap="none" lIns="0" tIns="0" rIns="0" bIns="0" anchor="t" anchorCtr="0">
              <a:spAutoFit/>
            </a:bodyPr>
            <a:lstStyle/>
            <a:p>
              <a:pPr algn="l"/>
              <a:r>
                <a:rPr lang="en-US" sz="3150" dirty="0">
                  <a:solidFill>
                    <a:schemeClr val="accent1"/>
                  </a:solidFill>
                  <a:latin typeface="+mj-lt"/>
                  <a:ea typeface="+mj-ea"/>
                  <a:cs typeface="+mj-cs"/>
                </a:rPr>
                <a:t>Mistake 2 — a rainbow ramp for ordered data</a:t>
              </a:r>
            </a:p>
          </p:txBody>
        </p:sp>
        <p:sp>
          <p:nvSpPr>
            <p:cNvPr id="5" name="Line 5"/>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9" name="Group 19"/>
          <p:cNvGrpSpPr/>
          <p:nvPr/>
        </p:nvGrpSpPr>
        <p:grpSpPr>
          <a:xfrm>
            <a:off x="601218" y="1813560"/>
            <a:ext cx="5485257" cy="1409891"/>
            <a:chOff x="601218" y="1813560"/>
            <a:chExt cx="5485257" cy="1409891"/>
          </a:xfrm>
        </p:grpSpPr>
        <p:sp>
          <p:nvSpPr>
            <p:cNvPr id="7" name="TextBox 7"/>
            <p:cNvSpPr txBox="1"/>
            <p:nvPr/>
          </p:nvSpPr>
          <p:spPr>
            <a:xfrm>
              <a:off x="603504" y="1813560"/>
              <a:ext cx="3777569" cy="234696"/>
            </a:xfrm>
            <a:prstGeom prst="rect">
              <a:avLst/>
            </a:prstGeom>
            <a:noFill/>
            <a:ln>
              <a:noFill/>
            </a:ln>
          </p:spPr>
          <p:txBody>
            <a:bodyPr wrap="none" lIns="0" tIns="0" rIns="0" bIns="0" anchor="t" anchorCtr="0">
              <a:spAutoFit/>
            </a:bodyPr>
            <a:lstStyle/>
            <a:p>
              <a:pPr algn="l"/>
              <a:r>
                <a:rPr lang="en-US" sz="1200" b="1" spc="150" dirty="0">
                  <a:solidFill>
                    <a:srgbClr val="C62828"/>
                  </a:solidFill>
                  <a:latin typeface="+mn-lt"/>
                  <a:ea typeface="+mn-ea"/>
                  <a:cs typeface="+mn-cs"/>
                </a:rPr>
                <a:t>RAINBOW RAMP · FIVE ORDERED STEPS</a:t>
              </a:r>
            </a:p>
          </p:txBody>
        </p:sp>
        <p:sp>
          <p:nvSpPr>
            <p:cNvPr id="8" name="Rectangle 8"/>
            <p:cNvSpPr/>
            <p:nvPr/>
          </p:nvSpPr>
          <p:spPr>
            <a:xfrm>
              <a:off x="609600" y="2057400"/>
              <a:ext cx="1095375" cy="533400"/>
            </a:xfrm>
            <a:prstGeom prst="rect">
              <a:avLst/>
            </a:prstGeom>
            <a:solidFill>
              <a:srgbClr val="3B0F70"/>
            </a:solidFill>
            <a:ln>
              <a:noFill/>
            </a:ln>
          </p:spPr>
        </p:sp>
        <p:sp>
          <p:nvSpPr>
            <p:cNvPr id="9" name="TextBox 9"/>
            <p:cNvSpPr txBox="1"/>
            <p:nvPr/>
          </p:nvSpPr>
          <p:spPr>
            <a:xfrm>
              <a:off x="601218" y="2660332"/>
              <a:ext cx="505435"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Consolas"/>
                  <a:ea typeface="Consolas"/>
                  <a:cs typeface="Consolas"/>
                </a:rPr>
                <a:t>0.02</a:t>
              </a:r>
            </a:p>
          </p:txBody>
        </p:sp>
        <p:sp>
          <p:nvSpPr>
            <p:cNvPr id="10" name="Rectangle 10"/>
            <p:cNvSpPr/>
            <p:nvPr/>
          </p:nvSpPr>
          <p:spPr>
            <a:xfrm>
              <a:off x="1704975" y="2057400"/>
              <a:ext cx="1095375" cy="533400"/>
            </a:xfrm>
            <a:prstGeom prst="rect">
              <a:avLst/>
            </a:prstGeom>
            <a:solidFill>
              <a:srgbClr val="1F77B4"/>
            </a:solidFill>
            <a:ln>
              <a:noFill/>
            </a:ln>
          </p:spPr>
        </p:sp>
        <p:sp>
          <p:nvSpPr>
            <p:cNvPr id="11" name="TextBox 11"/>
            <p:cNvSpPr txBox="1"/>
            <p:nvPr/>
          </p:nvSpPr>
          <p:spPr>
            <a:xfrm>
              <a:off x="1696593" y="2660332"/>
              <a:ext cx="505435"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Consolas"/>
                  <a:ea typeface="Consolas"/>
                  <a:cs typeface="Consolas"/>
                </a:rPr>
                <a:t>0.17</a:t>
              </a:r>
            </a:p>
          </p:txBody>
        </p:sp>
        <p:sp>
          <p:nvSpPr>
            <p:cNvPr id="12" name="Rectangle 12"/>
            <p:cNvSpPr/>
            <p:nvPr/>
          </p:nvSpPr>
          <p:spPr>
            <a:xfrm>
              <a:off x="2800350" y="2057400"/>
              <a:ext cx="1095375" cy="533400"/>
            </a:xfrm>
            <a:prstGeom prst="rect">
              <a:avLst/>
            </a:prstGeom>
            <a:solidFill>
              <a:srgbClr val="2CA02C"/>
            </a:solidFill>
            <a:ln>
              <a:noFill/>
            </a:ln>
          </p:spPr>
        </p:sp>
        <p:sp>
          <p:nvSpPr>
            <p:cNvPr id="13" name="TextBox 13"/>
            <p:cNvSpPr txBox="1"/>
            <p:nvPr/>
          </p:nvSpPr>
          <p:spPr>
            <a:xfrm>
              <a:off x="2791968" y="2660332"/>
              <a:ext cx="505435"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Consolas"/>
                  <a:ea typeface="Consolas"/>
                  <a:cs typeface="Consolas"/>
                </a:rPr>
                <a:t>0.26</a:t>
              </a:r>
            </a:p>
          </p:txBody>
        </p:sp>
        <p:sp>
          <p:nvSpPr>
            <p:cNvPr id="14" name="Rectangle 14"/>
            <p:cNvSpPr/>
            <p:nvPr/>
          </p:nvSpPr>
          <p:spPr>
            <a:xfrm>
              <a:off x="3895725" y="2057400"/>
              <a:ext cx="1095375" cy="533400"/>
            </a:xfrm>
            <a:prstGeom prst="rect">
              <a:avLst/>
            </a:prstGeom>
            <a:solidFill>
              <a:srgbClr val="F2E205"/>
            </a:solidFill>
            <a:ln>
              <a:noFill/>
            </a:ln>
          </p:spPr>
        </p:sp>
        <p:sp>
          <p:nvSpPr>
            <p:cNvPr id="15" name="TextBox 15"/>
            <p:cNvSpPr txBox="1"/>
            <p:nvPr/>
          </p:nvSpPr>
          <p:spPr>
            <a:xfrm>
              <a:off x="3887343" y="2660332"/>
              <a:ext cx="505435"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Consolas"/>
                  <a:ea typeface="Consolas"/>
                  <a:cs typeface="Consolas"/>
                </a:rPr>
                <a:t>0.73</a:t>
              </a:r>
            </a:p>
          </p:txBody>
        </p:sp>
        <p:sp>
          <p:nvSpPr>
            <p:cNvPr id="16" name="Rectangle 16"/>
            <p:cNvSpPr/>
            <p:nvPr/>
          </p:nvSpPr>
          <p:spPr>
            <a:xfrm>
              <a:off x="4991100" y="2057400"/>
              <a:ext cx="1095375" cy="533400"/>
            </a:xfrm>
            <a:prstGeom prst="rect">
              <a:avLst/>
            </a:prstGeom>
            <a:solidFill>
              <a:srgbClr val="D62728"/>
            </a:solidFill>
            <a:ln>
              <a:noFill/>
            </a:ln>
          </p:spPr>
        </p:sp>
        <p:sp>
          <p:nvSpPr>
            <p:cNvPr id="17" name="TextBox 17"/>
            <p:cNvSpPr txBox="1"/>
            <p:nvPr/>
          </p:nvSpPr>
          <p:spPr>
            <a:xfrm>
              <a:off x="4982718" y="2660332"/>
              <a:ext cx="505435"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Consolas"/>
                  <a:ea typeface="Consolas"/>
                  <a:cs typeface="Consolas"/>
                </a:rPr>
                <a:t>0.16</a:t>
              </a:r>
            </a:p>
          </p:txBody>
        </p:sp>
        <p:sp>
          <p:nvSpPr>
            <p:cNvPr id="18" name="TextBox 18"/>
            <p:cNvSpPr txBox="1"/>
            <p:nvPr/>
          </p:nvSpPr>
          <p:spPr>
            <a:xfrm>
              <a:off x="602742" y="2959418"/>
              <a:ext cx="3916064" cy="264033"/>
            </a:xfrm>
            <a:prstGeom prst="rect">
              <a:avLst/>
            </a:prstGeom>
            <a:noFill/>
            <a:ln>
              <a:noFill/>
            </a:ln>
          </p:spPr>
          <p:txBody>
            <a:bodyPr wrap="none" lIns="0" tIns="0" rIns="0" bIns="0" anchor="t" anchorCtr="0">
              <a:spAutoFit/>
            </a:bodyPr>
            <a:lstStyle/>
            <a:p>
              <a:pPr algn="l"/>
              <a:r>
                <a:rPr lang="en-US" sz="1350" b="1" dirty="0">
                  <a:solidFill>
                    <a:srgbClr val="C62828"/>
                  </a:solidFill>
                  <a:latin typeface="+mn-lt"/>
                  <a:ea typeface="+mn-ea"/>
                  <a:cs typeface="+mn-cs"/>
                </a:rPr>
                <a:t>relative luminance: up, up, up, then down</a:t>
              </a:r>
            </a:p>
          </p:txBody>
        </p:sp>
      </p:grpSp>
      <p:grpSp>
        <p:nvGrpSpPr>
          <p:cNvPr id="32" name="Group 32"/>
          <p:cNvGrpSpPr/>
          <p:nvPr/>
        </p:nvGrpSpPr>
        <p:grpSpPr>
          <a:xfrm>
            <a:off x="6659118" y="1813560"/>
            <a:ext cx="4913757" cy="1409891"/>
            <a:chOff x="6659118" y="1813560"/>
            <a:chExt cx="4913757" cy="1409891"/>
          </a:xfrm>
        </p:grpSpPr>
        <p:sp>
          <p:nvSpPr>
            <p:cNvPr id="20" name="TextBox 20"/>
            <p:cNvSpPr txBox="1"/>
            <p:nvPr/>
          </p:nvSpPr>
          <p:spPr>
            <a:xfrm>
              <a:off x="6661404" y="1813560"/>
              <a:ext cx="3729350" cy="234696"/>
            </a:xfrm>
            <a:prstGeom prst="rect">
              <a:avLst/>
            </a:prstGeom>
            <a:noFill/>
            <a:ln>
              <a:noFill/>
            </a:ln>
          </p:spPr>
          <p:txBody>
            <a:bodyPr wrap="none" lIns="0" tIns="0" rIns="0" bIns="0" anchor="t" anchorCtr="0">
              <a:spAutoFit/>
            </a:bodyPr>
            <a:lstStyle/>
            <a:p>
              <a:pPr algn="l"/>
              <a:r>
                <a:rPr lang="en-US" sz="1200" b="1" spc="150" dirty="0">
                  <a:solidFill>
                    <a:srgbClr val="2E7D32"/>
                  </a:solidFill>
                  <a:latin typeface="+mn-lt"/>
                  <a:ea typeface="+mn-ea"/>
                  <a:cs typeface="+mn-cs"/>
                </a:rPr>
                <a:t>MONOTONIC RAMP · SAME FIVE STEPS</a:t>
              </a:r>
            </a:p>
          </p:txBody>
        </p:sp>
        <p:sp>
          <p:nvSpPr>
            <p:cNvPr id="21" name="Rectangle 21"/>
            <p:cNvSpPr/>
            <p:nvPr/>
          </p:nvSpPr>
          <p:spPr>
            <a:xfrm>
              <a:off x="6667500" y="2057400"/>
              <a:ext cx="981075" cy="533400"/>
            </a:xfrm>
            <a:prstGeom prst="rect">
              <a:avLst/>
            </a:prstGeom>
            <a:solidFill>
              <a:srgbClr val="F4E7DC"/>
            </a:solidFill>
            <a:ln w="9525">
              <a:solidFill>
                <a:schemeClr val="accent6"/>
              </a:solidFill>
            </a:ln>
          </p:spPr>
        </p:sp>
        <p:sp>
          <p:nvSpPr>
            <p:cNvPr id="22" name="TextBox 22"/>
            <p:cNvSpPr txBox="1"/>
            <p:nvPr/>
          </p:nvSpPr>
          <p:spPr>
            <a:xfrm>
              <a:off x="6659118" y="2660332"/>
              <a:ext cx="505435"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Consolas"/>
                  <a:ea typeface="Consolas"/>
                  <a:cs typeface="Consolas"/>
                </a:rPr>
                <a:t>0.82</a:t>
              </a:r>
            </a:p>
          </p:txBody>
        </p:sp>
        <p:sp>
          <p:nvSpPr>
            <p:cNvPr id="23" name="Rectangle 23"/>
            <p:cNvSpPr/>
            <p:nvPr/>
          </p:nvSpPr>
          <p:spPr>
            <a:xfrm>
              <a:off x="7648575" y="2057400"/>
              <a:ext cx="981075" cy="533400"/>
            </a:xfrm>
            <a:prstGeom prst="rect">
              <a:avLst/>
            </a:prstGeom>
            <a:solidFill>
              <a:srgbClr val="DCC0A6"/>
            </a:solidFill>
            <a:ln>
              <a:noFill/>
            </a:ln>
          </p:spPr>
        </p:sp>
        <p:sp>
          <p:nvSpPr>
            <p:cNvPr id="24" name="TextBox 24"/>
            <p:cNvSpPr txBox="1"/>
            <p:nvPr/>
          </p:nvSpPr>
          <p:spPr>
            <a:xfrm>
              <a:off x="7640193" y="2660332"/>
              <a:ext cx="505435"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Consolas"/>
                  <a:ea typeface="Consolas"/>
                  <a:cs typeface="Consolas"/>
                </a:rPr>
                <a:t>0.56</a:t>
              </a:r>
            </a:p>
          </p:txBody>
        </p:sp>
        <p:sp>
          <p:nvSpPr>
            <p:cNvPr id="25" name="Rectangle 25"/>
            <p:cNvSpPr/>
            <p:nvPr/>
          </p:nvSpPr>
          <p:spPr>
            <a:xfrm>
              <a:off x="8629650" y="2057400"/>
              <a:ext cx="981075" cy="533400"/>
            </a:xfrm>
            <a:prstGeom prst="rect">
              <a:avLst/>
            </a:prstGeom>
            <a:solidFill>
              <a:srgbClr val="B98F72"/>
            </a:solidFill>
            <a:ln>
              <a:noFill/>
            </a:ln>
          </p:spPr>
        </p:sp>
        <p:sp>
          <p:nvSpPr>
            <p:cNvPr id="26" name="TextBox 26"/>
            <p:cNvSpPr txBox="1"/>
            <p:nvPr/>
          </p:nvSpPr>
          <p:spPr>
            <a:xfrm>
              <a:off x="8621268" y="2660332"/>
              <a:ext cx="505435"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Consolas"/>
                  <a:ea typeface="Consolas"/>
                  <a:cs typeface="Consolas"/>
                </a:rPr>
                <a:t>0.31</a:t>
              </a:r>
            </a:p>
          </p:txBody>
        </p:sp>
        <p:sp>
          <p:nvSpPr>
            <p:cNvPr id="27" name="Rectangle 27"/>
            <p:cNvSpPr/>
            <p:nvPr/>
          </p:nvSpPr>
          <p:spPr>
            <a:xfrm>
              <a:off x="9610725" y="2057400"/>
              <a:ext cx="981075" cy="533400"/>
            </a:xfrm>
            <a:prstGeom prst="rect">
              <a:avLst/>
            </a:prstGeom>
            <a:solidFill>
              <a:srgbClr val="8A5F49"/>
            </a:solidFill>
            <a:ln>
              <a:noFill/>
            </a:ln>
          </p:spPr>
        </p:sp>
        <p:sp>
          <p:nvSpPr>
            <p:cNvPr id="28" name="TextBox 28"/>
            <p:cNvSpPr txBox="1"/>
            <p:nvPr/>
          </p:nvSpPr>
          <p:spPr>
            <a:xfrm>
              <a:off x="9602343" y="2660332"/>
              <a:ext cx="505435"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Consolas"/>
                  <a:ea typeface="Consolas"/>
                  <a:cs typeface="Consolas"/>
                </a:rPr>
                <a:t>0.14</a:t>
              </a:r>
            </a:p>
          </p:txBody>
        </p:sp>
        <p:sp>
          <p:nvSpPr>
            <p:cNvPr id="29" name="Rectangle 29"/>
            <p:cNvSpPr/>
            <p:nvPr/>
          </p:nvSpPr>
          <p:spPr>
            <a:xfrm>
              <a:off x="10591800" y="2057400"/>
              <a:ext cx="981075" cy="533400"/>
            </a:xfrm>
            <a:prstGeom prst="rect">
              <a:avLst/>
            </a:prstGeom>
            <a:solidFill>
              <a:srgbClr val="4A2E24"/>
            </a:solidFill>
            <a:ln>
              <a:noFill/>
            </a:ln>
          </p:spPr>
        </p:sp>
        <p:sp>
          <p:nvSpPr>
            <p:cNvPr id="30" name="TextBox 30"/>
            <p:cNvSpPr txBox="1"/>
            <p:nvPr/>
          </p:nvSpPr>
          <p:spPr>
            <a:xfrm>
              <a:off x="10583418" y="2660332"/>
              <a:ext cx="505435"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Consolas"/>
                  <a:ea typeface="Consolas"/>
                  <a:cs typeface="Consolas"/>
                </a:rPr>
                <a:t>0.04</a:t>
              </a:r>
            </a:p>
          </p:txBody>
        </p:sp>
        <p:sp>
          <p:nvSpPr>
            <p:cNvPr id="31" name="TextBox 31"/>
            <p:cNvSpPr txBox="1"/>
            <p:nvPr/>
          </p:nvSpPr>
          <p:spPr>
            <a:xfrm>
              <a:off x="6660642" y="2959418"/>
              <a:ext cx="3486710" cy="264033"/>
            </a:xfrm>
            <a:prstGeom prst="rect">
              <a:avLst/>
            </a:prstGeom>
            <a:noFill/>
            <a:ln>
              <a:noFill/>
            </a:ln>
          </p:spPr>
          <p:txBody>
            <a:bodyPr wrap="none" lIns="0" tIns="0" rIns="0" bIns="0" anchor="t" anchorCtr="0">
              <a:spAutoFit/>
            </a:bodyPr>
            <a:lstStyle/>
            <a:p>
              <a:pPr algn="l"/>
              <a:r>
                <a:rPr lang="en-US" sz="1350" b="1" dirty="0">
                  <a:solidFill>
                    <a:srgbClr val="2E7D32"/>
                  </a:solidFill>
                  <a:latin typeface="+mn-lt"/>
                  <a:ea typeface="+mn-ea"/>
                  <a:cs typeface="+mn-cs"/>
                </a:rPr>
                <a:t>relative luminance: down, every step</a:t>
              </a:r>
            </a:p>
          </p:txBody>
        </p:sp>
      </p:grpSp>
      <p:grpSp>
        <p:nvGrpSpPr>
          <p:cNvPr id="48" name="Group 48"/>
          <p:cNvGrpSpPr/>
          <p:nvPr/>
        </p:nvGrpSpPr>
        <p:grpSpPr>
          <a:xfrm>
            <a:off x="601218" y="3371850"/>
            <a:ext cx="5257402" cy="2956751"/>
            <a:chOff x="601218" y="3371850"/>
            <a:chExt cx="5257402" cy="2956751"/>
          </a:xfrm>
        </p:grpSpPr>
        <p:sp>
          <p:nvSpPr>
            <p:cNvPr id="33" name="Freeform 33"/>
            <p:cNvSpPr/>
            <p:nvPr/>
          </p:nvSpPr>
          <p:spPr>
            <a:xfrm>
              <a:off x="609600" y="3371850"/>
              <a:ext cx="704850" cy="247650"/>
            </a:xfrm>
            <a:prstGeom prst="snip1Rect">
              <a:avLst/>
            </a:prstGeom>
            <a:solidFill>
              <a:schemeClr val="lt2"/>
            </a:solidFill>
            <a:ln>
              <a:noFill/>
            </a:ln>
          </p:spPr>
        </p:sp>
        <p:sp>
          <p:nvSpPr>
            <p:cNvPr id="34" name="TextBox 34"/>
            <p:cNvSpPr txBox="1"/>
            <p:nvPr/>
          </p:nvSpPr>
          <p:spPr>
            <a:xfrm>
              <a:off x="717804" y="3413760"/>
              <a:ext cx="454274" cy="234696"/>
            </a:xfrm>
            <a:prstGeom prst="rect">
              <a:avLst/>
            </a:prstGeom>
            <a:noFill/>
            <a:ln>
              <a:noFill/>
            </a:ln>
          </p:spPr>
          <p:txBody>
            <a:bodyPr wrap="none" lIns="0" tIns="0" rIns="0" bIns="0" anchor="t" anchorCtr="0">
              <a:spAutoFit/>
            </a:bodyPr>
            <a:lstStyle/>
            <a:p>
              <a:pPr algn="l"/>
              <a:r>
                <a:rPr lang="en-US" sz="1200" b="1" spc="112" dirty="0">
                  <a:solidFill>
                    <a:schemeClr val="accent2"/>
                  </a:solidFill>
                  <a:latin typeface="+mn-lt"/>
                  <a:ea typeface="+mn-ea"/>
                  <a:cs typeface="+mn-cs"/>
                </a:rPr>
                <a:t>RULE</a:t>
              </a:r>
            </a:p>
          </p:txBody>
        </p:sp>
        <p:sp>
          <p:nvSpPr>
            <p:cNvPr id="35" name="TextBox 35"/>
            <p:cNvSpPr txBox="1"/>
            <p:nvPr/>
          </p:nvSpPr>
          <p:spPr>
            <a:xfrm>
              <a:off x="1459992" y="3397568"/>
              <a:ext cx="439862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Borland &amp; Taylor 2007: three documented defects</a:t>
              </a:r>
            </a:p>
          </p:txBody>
        </p:sp>
        <p:grpSp>
          <p:nvGrpSpPr>
            <p:cNvPr id="38" name="Group 38"/>
            <p:cNvGrpSpPr/>
            <p:nvPr/>
          </p:nvGrpSpPr>
          <p:grpSpPr>
            <a:xfrm>
              <a:off x="601218" y="3803332"/>
              <a:ext cx="5194935" cy="525019"/>
              <a:chOff x="601218" y="3803332"/>
              <a:chExt cx="5194935" cy="525019"/>
            </a:xfrm>
          </p:grpSpPr>
          <p:sp>
            <p:nvSpPr>
              <p:cNvPr id="36" name="TextBox 36"/>
              <p:cNvSpPr txBox="1"/>
              <p:nvPr/>
            </p:nvSpPr>
            <p:spPr>
              <a:xfrm>
                <a:off x="601218" y="3803332"/>
                <a:ext cx="138932" cy="322707"/>
              </a:xfrm>
              <a:prstGeom prst="rect">
                <a:avLst/>
              </a:prstGeom>
              <a:noFill/>
              <a:ln>
                <a:noFill/>
              </a:ln>
            </p:spPr>
            <p:txBody>
              <a:bodyPr wrap="none" lIns="0" tIns="0" rIns="0" bIns="0" anchor="t" anchorCtr="0">
                <a:spAutoFit/>
              </a:bodyPr>
              <a:lstStyle/>
              <a:p>
                <a:pPr algn="l"/>
                <a:r>
                  <a:rPr lang="en-US" sz="1650" dirty="0">
                    <a:solidFill>
                      <a:schemeClr val="accent2"/>
                    </a:solidFill>
                    <a:latin typeface="Consolas"/>
                    <a:ea typeface="Consolas"/>
                    <a:cs typeface="Consolas"/>
                  </a:rPr>
                  <a:t>1</a:t>
                </a:r>
              </a:p>
            </p:txBody>
          </p:sp>
          <p:sp>
            <p:nvSpPr>
              <p:cNvPr id="37" name="TextBox 37"/>
              <p:cNvSpPr txBox="1"/>
              <p:nvPr/>
            </p:nvSpPr>
            <p:spPr>
              <a:xfrm>
                <a:off x="964692" y="3835718"/>
                <a:ext cx="4831461"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No perceptual ordering: equal-looking color steps are not</a:t>
                </a:r>
                <a:br/>
                <a:r>
                  <a:rPr lang="en-US" sz="1350" dirty="0">
                    <a:solidFill>
                      <a:schemeClr val="dk1"/>
                    </a:solidFill>
                    <a:latin typeface="+mn-lt"/>
                    <a:ea typeface="+mn-ea"/>
                    <a:cs typeface="+mn-cs"/>
                  </a:rPr>
                  <a:t>equal data steps.</a:t>
                </a:r>
              </a:p>
            </p:txBody>
          </p:sp>
        </p:grpSp>
        <p:grpSp>
          <p:nvGrpSpPr>
            <p:cNvPr id="41" name="Group 41"/>
            <p:cNvGrpSpPr/>
            <p:nvPr/>
          </p:nvGrpSpPr>
          <p:grpSpPr>
            <a:xfrm>
              <a:off x="601218" y="4431982"/>
              <a:ext cx="4937760" cy="525019"/>
              <a:chOff x="601218" y="4431982"/>
              <a:chExt cx="4937760" cy="525019"/>
            </a:xfrm>
          </p:grpSpPr>
          <p:sp>
            <p:nvSpPr>
              <p:cNvPr id="39" name="TextBox 39"/>
              <p:cNvSpPr txBox="1"/>
              <p:nvPr/>
            </p:nvSpPr>
            <p:spPr>
              <a:xfrm>
                <a:off x="601218" y="4431982"/>
                <a:ext cx="138932" cy="322707"/>
              </a:xfrm>
              <a:prstGeom prst="rect">
                <a:avLst/>
              </a:prstGeom>
              <a:noFill/>
              <a:ln>
                <a:noFill/>
              </a:ln>
            </p:spPr>
            <p:txBody>
              <a:bodyPr wrap="none" lIns="0" tIns="0" rIns="0" bIns="0" anchor="t" anchorCtr="0">
                <a:spAutoFit/>
              </a:bodyPr>
              <a:lstStyle/>
              <a:p>
                <a:pPr algn="l"/>
                <a:r>
                  <a:rPr lang="en-US" sz="1650" dirty="0">
                    <a:solidFill>
                      <a:schemeClr val="accent2"/>
                    </a:solidFill>
                    <a:latin typeface="Consolas"/>
                    <a:ea typeface="Consolas"/>
                    <a:cs typeface="Consolas"/>
                  </a:rPr>
                  <a:t>2</a:t>
                </a:r>
              </a:p>
            </p:txBody>
          </p:sp>
          <p:sp>
            <p:nvSpPr>
              <p:cNvPr id="40" name="TextBox 40"/>
              <p:cNvSpPr txBox="1"/>
              <p:nvPr/>
            </p:nvSpPr>
            <p:spPr>
              <a:xfrm>
                <a:off x="964692" y="4464368"/>
                <a:ext cx="4574286"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Uncontrolled luminance variation across hues obscures</a:t>
                </a:r>
                <a:br/>
                <a:r>
                  <a:rPr lang="en-US" sz="1350" dirty="0">
                    <a:solidFill>
                      <a:schemeClr val="dk1"/>
                    </a:solidFill>
                    <a:latin typeface="+mn-lt"/>
                    <a:ea typeface="+mn-ea"/>
                    <a:cs typeface="+mn-cs"/>
                  </a:rPr>
                  <a:t>the data.</a:t>
                </a:r>
              </a:p>
            </p:txBody>
          </p:sp>
        </p:grpSp>
        <p:grpSp>
          <p:nvGrpSpPr>
            <p:cNvPr id="44" name="Group 44"/>
            <p:cNvGrpSpPr/>
            <p:nvPr/>
          </p:nvGrpSpPr>
          <p:grpSpPr>
            <a:xfrm>
              <a:off x="601218" y="5060632"/>
              <a:ext cx="4869180" cy="525019"/>
              <a:chOff x="601218" y="5060632"/>
              <a:chExt cx="4869180" cy="525019"/>
            </a:xfrm>
          </p:grpSpPr>
          <p:sp>
            <p:nvSpPr>
              <p:cNvPr id="42" name="TextBox 42"/>
              <p:cNvSpPr txBox="1"/>
              <p:nvPr/>
            </p:nvSpPr>
            <p:spPr>
              <a:xfrm>
                <a:off x="601218" y="5060632"/>
                <a:ext cx="138932" cy="322707"/>
              </a:xfrm>
              <a:prstGeom prst="rect">
                <a:avLst/>
              </a:prstGeom>
              <a:noFill/>
              <a:ln>
                <a:noFill/>
              </a:ln>
            </p:spPr>
            <p:txBody>
              <a:bodyPr wrap="none" lIns="0" tIns="0" rIns="0" bIns="0" anchor="t" anchorCtr="0">
                <a:spAutoFit/>
              </a:bodyPr>
              <a:lstStyle/>
              <a:p>
                <a:pPr algn="l"/>
                <a:r>
                  <a:rPr lang="en-US" sz="1650" dirty="0">
                    <a:solidFill>
                      <a:schemeClr val="accent2"/>
                    </a:solidFill>
                    <a:latin typeface="Consolas"/>
                    <a:ea typeface="Consolas"/>
                    <a:cs typeface="Consolas"/>
                  </a:rPr>
                  <a:t>3</a:t>
                </a:r>
              </a:p>
            </p:txBody>
          </p:sp>
          <p:sp>
            <p:nvSpPr>
              <p:cNvPr id="43" name="TextBox 43"/>
              <p:cNvSpPr txBox="1"/>
              <p:nvPr/>
            </p:nvSpPr>
            <p:spPr>
              <a:xfrm>
                <a:off x="964692" y="5093018"/>
                <a:ext cx="4505706"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It can create gradients that are not in the underlying</a:t>
                </a:r>
                <a:br/>
                <a:r>
                  <a:rPr lang="en-US" sz="1350" dirty="0">
                    <a:solidFill>
                      <a:schemeClr val="dk1"/>
                    </a:solidFill>
                    <a:latin typeface="+mn-lt"/>
                    <a:ea typeface="+mn-ea"/>
                    <a:cs typeface="+mn-cs"/>
                  </a:rPr>
                  <a:t>data at all.</a:t>
                </a:r>
              </a:p>
            </p:txBody>
          </p:sp>
        </p:grpSp>
        <p:sp>
          <p:nvSpPr>
            <p:cNvPr id="45" name="Freeform 45"/>
            <p:cNvSpPr/>
            <p:nvPr/>
          </p:nvSpPr>
          <p:spPr>
            <a:xfrm>
              <a:off x="609600" y="5676900"/>
              <a:ext cx="1828800" cy="247650"/>
            </a:xfrm>
            <a:prstGeom prst="snip1Rect">
              <a:avLst/>
            </a:prstGeom>
            <a:solidFill>
              <a:schemeClr val="lt2"/>
            </a:solidFill>
            <a:ln>
              <a:noFill/>
            </a:ln>
          </p:spPr>
        </p:sp>
        <p:sp>
          <p:nvSpPr>
            <p:cNvPr id="46" name="TextBox 46"/>
            <p:cNvSpPr txBox="1"/>
            <p:nvPr/>
          </p:nvSpPr>
          <p:spPr>
            <a:xfrm>
              <a:off x="717804" y="5718810"/>
              <a:ext cx="1697878" cy="234696"/>
            </a:xfrm>
            <a:prstGeom prst="rect">
              <a:avLst/>
            </a:prstGeom>
            <a:noFill/>
            <a:ln>
              <a:noFill/>
            </a:ln>
          </p:spPr>
          <p:txBody>
            <a:bodyPr wrap="none" lIns="0" tIns="0" rIns="0" bIns="0" anchor="t" anchorCtr="0">
              <a:spAutoFit/>
            </a:bodyPr>
            <a:lstStyle/>
            <a:p>
              <a:pPr algn="l"/>
              <a:r>
                <a:rPr lang="en-US" sz="1200" b="1" spc="112" dirty="0">
                  <a:solidFill>
                    <a:schemeClr val="accent2"/>
                  </a:solidFill>
                  <a:latin typeface="+mn-lt"/>
                  <a:ea typeface="+mn-ea"/>
                  <a:cs typeface="+mn-cs"/>
                </a:rPr>
                <a:t>RECOMMENDATION</a:t>
              </a:r>
            </a:p>
          </p:txBody>
        </p:sp>
        <p:sp>
          <p:nvSpPr>
            <p:cNvPr id="47" name="TextBox 47"/>
            <p:cNvSpPr txBox="1"/>
            <p:nvPr/>
          </p:nvSpPr>
          <p:spPr>
            <a:xfrm>
              <a:off x="602742" y="6064568"/>
              <a:ext cx="5183398"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Crameri et al. (2020): use a perceptually uniform map.</a:t>
              </a:r>
            </a:p>
          </p:txBody>
        </p:sp>
      </p:grpSp>
      <p:grpSp>
        <p:nvGrpSpPr>
          <p:cNvPr id="72" name="Group 72"/>
          <p:cNvGrpSpPr/>
          <p:nvPr/>
        </p:nvGrpSpPr>
        <p:grpSpPr>
          <a:xfrm>
            <a:off x="6774391" y="3619500"/>
            <a:ext cx="4674344" cy="2594801"/>
            <a:chOff x="6774391" y="3619500"/>
            <a:chExt cx="4674344" cy="2594801"/>
          </a:xfrm>
        </p:grpSpPr>
        <p:grpSp>
          <p:nvGrpSpPr>
            <p:cNvPr id="62" name="Group 62"/>
            <p:cNvGrpSpPr/>
            <p:nvPr/>
          </p:nvGrpSpPr>
          <p:grpSpPr>
            <a:xfrm>
              <a:off x="8191500" y="3619500"/>
              <a:ext cx="3209925" cy="2009775"/>
              <a:chOff x="8191500" y="3619500"/>
              <a:chExt cx="3209925" cy="2009775"/>
            </a:xfrm>
          </p:grpSpPr>
          <p:sp>
            <p:nvSpPr>
              <p:cNvPr id="49" name="Line 49"/>
              <p:cNvSpPr/>
              <p:nvPr/>
            </p:nvSpPr>
            <p:spPr>
              <a:xfrm>
                <a:off x="9258300" y="3619500"/>
                <a:ext cx="9525" cy="2000250"/>
              </a:xfrm>
              <a:custGeom>
                <a:avLst/>
                <a:gdLst/>
                <a:ahLst/>
                <a:cxnLst/>
                <a:rect l="l" t="t" r="r" b="b"/>
                <a:pathLst>
                  <a:path w="9525" h="2000250">
                    <a:moveTo>
                      <a:pt x="0" y="0"/>
                    </a:moveTo>
                    <a:lnTo>
                      <a:pt x="0" y="2000250"/>
                    </a:lnTo>
                  </a:path>
                </a:pathLst>
              </a:custGeom>
              <a:noFill/>
              <a:ln w="9525">
                <a:solidFill>
                  <a:srgbClr val="E8E1D5"/>
                </a:solidFill>
              </a:ln>
            </p:spPr>
          </p:sp>
          <p:sp>
            <p:nvSpPr>
              <p:cNvPr id="50" name="Line 50"/>
              <p:cNvSpPr/>
              <p:nvPr/>
            </p:nvSpPr>
            <p:spPr>
              <a:xfrm>
                <a:off x="10325100" y="3619500"/>
                <a:ext cx="9525" cy="2000250"/>
              </a:xfrm>
              <a:custGeom>
                <a:avLst/>
                <a:gdLst/>
                <a:ahLst/>
                <a:cxnLst/>
                <a:rect l="l" t="t" r="r" b="b"/>
                <a:pathLst>
                  <a:path w="9525" h="2000250">
                    <a:moveTo>
                      <a:pt x="0" y="0"/>
                    </a:moveTo>
                    <a:lnTo>
                      <a:pt x="0" y="2000250"/>
                    </a:lnTo>
                  </a:path>
                </a:pathLst>
              </a:custGeom>
              <a:noFill/>
              <a:ln w="9525">
                <a:solidFill>
                  <a:srgbClr val="E8E1D5"/>
                </a:solidFill>
              </a:ln>
            </p:spPr>
          </p:sp>
          <p:sp>
            <p:nvSpPr>
              <p:cNvPr id="51" name="Line 51"/>
              <p:cNvSpPr/>
              <p:nvPr/>
            </p:nvSpPr>
            <p:spPr>
              <a:xfrm>
                <a:off x="11391900" y="3619500"/>
                <a:ext cx="9525" cy="2000250"/>
              </a:xfrm>
              <a:custGeom>
                <a:avLst/>
                <a:gdLst/>
                <a:ahLst/>
                <a:cxnLst/>
                <a:rect l="l" t="t" r="r" b="b"/>
                <a:pathLst>
                  <a:path w="9525" h="2000250">
                    <a:moveTo>
                      <a:pt x="0" y="0"/>
                    </a:moveTo>
                    <a:lnTo>
                      <a:pt x="0" y="2000250"/>
                    </a:lnTo>
                  </a:path>
                </a:pathLst>
              </a:custGeom>
              <a:noFill/>
              <a:ln w="9525">
                <a:solidFill>
                  <a:srgbClr val="E8E1D5"/>
                </a:solidFill>
              </a:ln>
            </p:spPr>
          </p:sp>
          <p:sp>
            <p:nvSpPr>
              <p:cNvPr id="52" name="Line 52"/>
              <p:cNvSpPr/>
              <p:nvPr/>
            </p:nvSpPr>
            <p:spPr>
              <a:xfrm>
                <a:off x="8191500" y="3619500"/>
                <a:ext cx="9525" cy="2000250"/>
              </a:xfrm>
              <a:custGeom>
                <a:avLst/>
                <a:gdLst/>
                <a:ahLst/>
                <a:cxnLst/>
                <a:rect l="l" t="t" r="r" b="b"/>
                <a:pathLst>
                  <a:path w="9525" h="2000250">
                    <a:moveTo>
                      <a:pt x="0" y="0"/>
                    </a:moveTo>
                    <a:lnTo>
                      <a:pt x="0" y="2000250"/>
                    </a:lnTo>
                  </a:path>
                </a:pathLst>
              </a:custGeom>
              <a:noFill/>
              <a:ln w="9525">
                <a:solidFill>
                  <a:schemeClr val="accent6"/>
                </a:solidFill>
              </a:ln>
            </p:spPr>
          </p:sp>
          <p:sp>
            <p:nvSpPr>
              <p:cNvPr id="53" name="Line 53"/>
              <p:cNvSpPr/>
              <p:nvPr/>
            </p:nvSpPr>
            <p:spPr>
              <a:xfrm>
                <a:off x="8191500" y="5619750"/>
                <a:ext cx="3200400" cy="9525"/>
              </a:xfrm>
              <a:custGeom>
                <a:avLst/>
                <a:gdLst/>
                <a:ahLst/>
                <a:cxnLst/>
                <a:rect l="l" t="t" r="r" b="b"/>
                <a:pathLst>
                  <a:path w="3200400" h="9525">
                    <a:moveTo>
                      <a:pt x="0" y="0"/>
                    </a:moveTo>
                    <a:lnTo>
                      <a:pt x="3200400" y="0"/>
                    </a:lnTo>
                  </a:path>
                </a:pathLst>
              </a:custGeom>
              <a:noFill/>
              <a:ln w="9525">
                <a:solidFill>
                  <a:schemeClr val="accent6"/>
                </a:solidFill>
              </a:ln>
            </p:spPr>
          </p:sp>
          <p:sp>
            <p:nvSpPr>
              <p:cNvPr id="54" name="Rectangle 54"/>
              <p:cNvSpPr/>
              <p:nvPr/>
            </p:nvSpPr>
            <p:spPr>
              <a:xfrm>
                <a:off x="8191500" y="3707606"/>
                <a:ext cx="2667000" cy="323850"/>
              </a:xfrm>
              <a:prstGeom prst="rect">
                <a:avLst/>
              </a:prstGeom>
              <a:solidFill>
                <a:schemeClr val="accent2"/>
              </a:solidFill>
              <a:ln>
                <a:noFill/>
              </a:ln>
            </p:spPr>
          </p:sp>
          <p:sp>
            <p:nvSpPr>
              <p:cNvPr id="55" name="Rectangle 55"/>
              <p:cNvSpPr/>
              <p:nvPr/>
            </p:nvSpPr>
            <p:spPr>
              <a:xfrm>
                <a:off x="8191500" y="4207669"/>
                <a:ext cx="533400" cy="323850"/>
              </a:xfrm>
              <a:prstGeom prst="rect">
                <a:avLst/>
              </a:prstGeom>
              <a:solidFill>
                <a:schemeClr val="accent3"/>
              </a:solidFill>
              <a:ln>
                <a:noFill/>
              </a:ln>
            </p:spPr>
          </p:sp>
          <p:sp>
            <p:nvSpPr>
              <p:cNvPr id="56" name="Rectangle 56"/>
              <p:cNvSpPr/>
              <p:nvPr/>
            </p:nvSpPr>
            <p:spPr>
              <a:xfrm>
                <a:off x="8191500" y="4707731"/>
                <a:ext cx="533400" cy="323850"/>
              </a:xfrm>
              <a:prstGeom prst="rect">
                <a:avLst/>
              </a:prstGeom>
              <a:solidFill>
                <a:schemeClr val="accent3"/>
              </a:solidFill>
              <a:ln>
                <a:noFill/>
              </a:ln>
            </p:spPr>
          </p:sp>
          <p:sp>
            <p:nvSpPr>
              <p:cNvPr id="57" name="Rectangle 57"/>
              <p:cNvSpPr/>
              <p:nvPr/>
            </p:nvSpPr>
            <p:spPr>
              <a:xfrm>
                <a:off x="8191500" y="5207794"/>
                <a:ext cx="533400" cy="323850"/>
              </a:xfrm>
              <a:prstGeom prst="rect">
                <a:avLst/>
              </a:prstGeom>
              <a:solidFill>
                <a:schemeClr val="accent3"/>
              </a:solidFill>
              <a:ln>
                <a:noFill/>
              </a:ln>
            </p:spPr>
          </p:sp>
          <p:sp>
            <p:nvSpPr>
              <p:cNvPr id="58" name="TextBox 58"/>
              <p:cNvSpPr txBox="1"/>
              <p:nvPr/>
            </p:nvSpPr>
            <p:spPr>
              <a:xfrm>
                <a:off x="10964418" y="3758089"/>
                <a:ext cx="138932"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Consolas"/>
                    <a:ea typeface="Consolas"/>
                    <a:cs typeface="Consolas"/>
                  </a:rPr>
                  <a:t>5</a:t>
                </a:r>
              </a:p>
            </p:txBody>
          </p:sp>
          <p:sp>
            <p:nvSpPr>
              <p:cNvPr id="59" name="TextBox 59"/>
              <p:cNvSpPr txBox="1"/>
              <p:nvPr/>
            </p:nvSpPr>
            <p:spPr>
              <a:xfrm>
                <a:off x="8830818" y="4258151"/>
                <a:ext cx="138932"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Consolas"/>
                    <a:ea typeface="Consolas"/>
                    <a:cs typeface="Consolas"/>
                  </a:rPr>
                  <a:t>1</a:t>
                </a:r>
              </a:p>
            </p:txBody>
          </p:sp>
          <p:sp>
            <p:nvSpPr>
              <p:cNvPr id="60" name="TextBox 60"/>
              <p:cNvSpPr txBox="1"/>
              <p:nvPr/>
            </p:nvSpPr>
            <p:spPr>
              <a:xfrm>
                <a:off x="8830818" y="4758214"/>
                <a:ext cx="138932"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Consolas"/>
                    <a:ea typeface="Consolas"/>
                    <a:cs typeface="Consolas"/>
                  </a:rPr>
                  <a:t>1</a:t>
                </a:r>
              </a:p>
            </p:txBody>
          </p:sp>
          <p:sp>
            <p:nvSpPr>
              <p:cNvPr id="61" name="TextBox 61"/>
              <p:cNvSpPr txBox="1"/>
              <p:nvPr/>
            </p:nvSpPr>
            <p:spPr>
              <a:xfrm>
                <a:off x="8830818" y="5258276"/>
                <a:ext cx="138932"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Consolas"/>
                    <a:ea typeface="Consolas"/>
                    <a:cs typeface="Consolas"/>
                  </a:rPr>
                  <a:t>1</a:t>
                </a:r>
              </a:p>
            </p:txBody>
          </p:sp>
        </p:grpSp>
        <p:sp>
          <p:nvSpPr>
            <p:cNvPr id="63" name="TextBox 63"/>
            <p:cNvSpPr txBox="1"/>
            <p:nvPr/>
          </p:nvSpPr>
          <p:spPr>
            <a:xfrm>
              <a:off x="6774391" y="3780949"/>
              <a:ext cx="1309667"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Deuteranomaly</a:t>
              </a:r>
            </a:p>
          </p:txBody>
        </p:sp>
        <p:sp>
          <p:nvSpPr>
            <p:cNvPr id="64" name="TextBox 64"/>
            <p:cNvSpPr txBox="1"/>
            <p:nvPr/>
          </p:nvSpPr>
          <p:spPr>
            <a:xfrm>
              <a:off x="6910869" y="4281011"/>
              <a:ext cx="1173189"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Deuteranopia</a:t>
              </a:r>
            </a:p>
          </p:txBody>
        </p:sp>
        <p:sp>
          <p:nvSpPr>
            <p:cNvPr id="65" name="TextBox 65"/>
            <p:cNvSpPr txBox="1"/>
            <p:nvPr/>
          </p:nvSpPr>
          <p:spPr>
            <a:xfrm>
              <a:off x="6974309" y="4781074"/>
              <a:ext cx="1109749"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Protanomaly</a:t>
              </a:r>
            </a:p>
          </p:txBody>
        </p:sp>
        <p:sp>
          <p:nvSpPr>
            <p:cNvPr id="66" name="TextBox 66"/>
            <p:cNvSpPr txBox="1"/>
            <p:nvPr/>
          </p:nvSpPr>
          <p:spPr>
            <a:xfrm>
              <a:off x="7110822" y="5281136"/>
              <a:ext cx="973236"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Protanopia</a:t>
              </a:r>
            </a:p>
          </p:txBody>
        </p:sp>
        <p:sp>
          <p:nvSpPr>
            <p:cNvPr id="67" name="TextBox 67"/>
            <p:cNvSpPr txBox="1"/>
            <p:nvPr/>
          </p:nvSpPr>
          <p:spPr>
            <a:xfrm>
              <a:off x="8134664" y="5702618"/>
              <a:ext cx="113671"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0</a:t>
              </a:r>
            </a:p>
          </p:txBody>
        </p:sp>
        <p:sp>
          <p:nvSpPr>
            <p:cNvPr id="68" name="TextBox 68"/>
            <p:cNvSpPr txBox="1"/>
            <p:nvPr/>
          </p:nvSpPr>
          <p:spPr>
            <a:xfrm>
              <a:off x="9201464" y="5702618"/>
              <a:ext cx="113671"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2</a:t>
              </a:r>
            </a:p>
          </p:txBody>
        </p:sp>
        <p:sp>
          <p:nvSpPr>
            <p:cNvPr id="69" name="TextBox 69"/>
            <p:cNvSpPr txBox="1"/>
            <p:nvPr/>
          </p:nvSpPr>
          <p:spPr>
            <a:xfrm>
              <a:off x="10268264" y="5702618"/>
              <a:ext cx="113671"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4</a:t>
              </a:r>
            </a:p>
          </p:txBody>
        </p:sp>
        <p:sp>
          <p:nvSpPr>
            <p:cNvPr id="70" name="TextBox 70"/>
            <p:cNvSpPr txBox="1"/>
            <p:nvPr/>
          </p:nvSpPr>
          <p:spPr>
            <a:xfrm>
              <a:off x="11335064" y="5702618"/>
              <a:ext cx="113671"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6</a:t>
              </a:r>
            </a:p>
          </p:txBody>
        </p:sp>
        <p:sp>
          <p:nvSpPr>
            <p:cNvPr id="71" name="TextBox 71"/>
            <p:cNvSpPr txBox="1"/>
            <p:nvPr/>
          </p:nvSpPr>
          <p:spPr>
            <a:xfrm>
              <a:off x="9394107" y="5950268"/>
              <a:ext cx="79518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 of men</a:t>
              </a:r>
            </a:p>
          </p:txBody>
        </p:sp>
      </p:grpSp>
      <p:grpSp>
        <p:nvGrpSpPr>
          <p:cNvPr id="75" name="Group 75"/>
          <p:cNvGrpSpPr/>
          <p:nvPr/>
        </p:nvGrpSpPr>
        <p:grpSpPr>
          <a:xfrm>
            <a:off x="603504" y="6442710"/>
            <a:ext cx="10984992" cy="234696"/>
            <a:chOff x="603504" y="6442710"/>
            <a:chExt cx="10984992" cy="234696"/>
          </a:xfrm>
        </p:grpSpPr>
        <p:sp>
          <p:nvSpPr>
            <p:cNvPr id="73" name="TextBox 73"/>
            <p:cNvSpPr txBox="1"/>
            <p:nvPr/>
          </p:nvSpPr>
          <p:spPr>
            <a:xfrm>
              <a:off x="603504" y="6442710"/>
              <a:ext cx="790415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Rainbow maps: Borland &amp; Taylor 2007; Crameri et al. 2020 · prevalence: NEI, Colour Blind Awareness</a:t>
              </a:r>
            </a:p>
          </p:txBody>
        </p:sp>
        <p:sp>
          <p:nvSpPr>
            <p:cNvPr id="74" name="TextBox 7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12 / 14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500"/>
                                        <p:tgtEl>
                                          <p:spTgt spid="32"/>
                                        </p:tgtEl>
                                      </p:cBhvr>
                                    </p:animEffect>
                                  </p:childTnLst>
                                </p:cTn>
                              </p:par>
                            </p:childTnLst>
                          </p:cTn>
                        </p:par>
                        <p:par>
                          <p:cTn id="12" fill="hold">
                            <p:stCondLst>
                              <p:cond delay="15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48"/>
                                        </p:tgtEl>
                                        <p:attrNameLst>
                                          <p:attrName>style.visibility</p:attrName>
                                        </p:attrNameLst>
                                      </p:cBhvr>
                                      <p:to>
                                        <p:strVal val="visible"/>
                                      </p:to>
                                    </p:set>
                                    <p:animEffect transition="in" filter="fade">
                                      <p:cBhvr>
                                        <p:cTn id="15" dur="500"/>
                                        <p:tgtEl>
                                          <p:spTgt spid="48"/>
                                        </p:tgtEl>
                                      </p:cBhvr>
                                    </p:animEffect>
                                  </p:childTnLst>
                                </p:cTn>
                              </p:par>
                            </p:childTnLst>
                          </p:cTn>
                        </p:par>
                        <p:par>
                          <p:cTn id="16" fill="hold">
                            <p:stCondLst>
                              <p:cond delay="2500"/>
                            </p:stCondLst>
                            <p:childTnLst>
                              <p:par>
                                <p:cTn xmlns:p="http://schemas.openxmlformats.org/presentationml/2006/main" id="17" presetID="22" presetClass="entr" presetSubtype="8" fill="hold" grpId="0" nodeType="afterEffect">
                                  <p:stCondLst>
                                    <p:cond delay="500"/>
                                  </p:stCondLst>
                                  <p:childTnLst>
                                    <p:set>
                                      <p:cBhvr>
                                        <p:cTn id="18" dur="1" fill="hold">
                                          <p:stCondLst>
                                            <p:cond delay="0"/>
                                          </p:stCondLst>
                                        </p:cTn>
                                        <p:tgtEl>
                                          <p:spTgt spid="72"/>
                                        </p:tgtEl>
                                        <p:attrNameLst>
                                          <p:attrName>style.visibility</p:attrName>
                                        </p:attrNameLst>
                                      </p:cBhvr>
                                      <p:to>
                                        <p:strVal val="visible"/>
                                      </p:to>
                                    </p:set>
                                    <p:animEffect transition="in" filter="wipe(left)">
                                      <p:cBhvr>
                                        <p:cTn id="19" dur="8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6" name="Group 6"/>
          <p:cNvGrpSpPr/>
          <p:nvPr/>
        </p:nvGrpSpPr>
        <p:grpSpPr>
          <a:xfrm>
            <a:off x="593598" y="556260"/>
            <a:ext cx="10988802" cy="977075"/>
            <a:chOff x="593598" y="556260"/>
            <a:chExt cx="10988802" cy="977075"/>
          </a:xfrm>
        </p:grpSpPr>
        <p:sp>
          <p:nvSpPr>
            <p:cNvPr id="2" name="TextBox 2"/>
            <p:cNvSpPr txBox="1"/>
            <p:nvPr/>
          </p:nvSpPr>
          <p:spPr>
            <a:xfrm>
              <a:off x="603504" y="556260"/>
              <a:ext cx="2179503" cy="234696"/>
            </a:xfrm>
            <a:prstGeom prst="rect">
              <a:avLst/>
            </a:prstGeom>
            <a:noFill/>
            <a:ln>
              <a:noFill/>
            </a:ln>
          </p:spPr>
          <p:txBody>
            <a:bodyPr wrap="none" lIns="0" tIns="0" rIns="0" bIns="0" anchor="t" anchorCtr="0">
              <a:spAutoFit/>
            </a:bodyPr>
            <a:lstStyle/>
            <a:p>
              <a:pPr algn="l"/>
              <a:r>
                <a:rPr lang="en-US" sz="1200" b="1" spc="150" dirty="0">
                  <a:solidFill>
                    <a:schemeClr val="accent2"/>
                  </a:solidFill>
                  <a:latin typeface="+mn-lt"/>
                  <a:ea typeface="+mn-ea"/>
                  <a:cs typeface="+mn-cs"/>
                </a:rPr>
                <a:t>UNDERSTANDING CHECK</a:t>
              </a:r>
            </a:p>
          </p:txBody>
        </p:sp>
        <p:sp>
          <p:nvSpPr>
            <p:cNvPr id="3" name="Rectangle 3"/>
            <p:cNvSpPr/>
            <p:nvPr/>
          </p:nvSpPr>
          <p:spPr>
            <a:xfrm>
              <a:off x="609600" y="800100"/>
              <a:ext cx="457200" cy="28575"/>
            </a:xfrm>
            <a:prstGeom prst="rect">
              <a:avLst/>
            </a:prstGeom>
            <a:solidFill>
              <a:schemeClr val="accent2"/>
            </a:solidFill>
            <a:ln>
              <a:noFill/>
            </a:ln>
          </p:spPr>
        </p:sp>
        <p:sp>
          <p:nvSpPr>
            <p:cNvPr id="4" name="TextBox 4"/>
            <p:cNvSpPr txBox="1"/>
            <p:nvPr/>
          </p:nvSpPr>
          <p:spPr>
            <a:xfrm>
              <a:off x="593598" y="917258"/>
              <a:ext cx="6873570" cy="616077"/>
            </a:xfrm>
            <a:prstGeom prst="rect">
              <a:avLst/>
            </a:prstGeom>
            <a:noFill/>
            <a:ln>
              <a:noFill/>
            </a:ln>
          </p:spPr>
          <p:txBody>
            <a:bodyPr wrap="none" lIns="0" tIns="0" rIns="0" bIns="0" anchor="t" anchorCtr="0">
              <a:spAutoFit/>
            </a:bodyPr>
            <a:lstStyle/>
            <a:p>
              <a:pPr algn="l"/>
              <a:r>
                <a:rPr lang="en-US" sz="3150" dirty="0">
                  <a:solidFill>
                    <a:schemeClr val="accent1"/>
                  </a:solidFill>
                  <a:latin typeface="+mj-lt"/>
                  <a:ea typeface="+mj-ea"/>
                  <a:cs typeface="+mj-cs"/>
                </a:rPr>
                <a:t>Check yourself — three questions</a:t>
              </a:r>
            </a:p>
          </p:txBody>
        </p:sp>
        <p:sp>
          <p:nvSpPr>
            <p:cNvPr id="5" name="Line 5"/>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0" name="Group 10"/>
          <p:cNvGrpSpPr/>
          <p:nvPr/>
        </p:nvGrpSpPr>
        <p:grpSpPr>
          <a:xfrm>
            <a:off x="609600" y="1809750"/>
            <a:ext cx="3505200" cy="2571750"/>
            <a:chOff x="609600" y="1809750"/>
            <a:chExt cx="3505200" cy="2571750"/>
          </a:xfrm>
        </p:grpSpPr>
        <p:sp>
          <p:nvSpPr>
            <p:cNvPr id="7" name="Rectangle 7"/>
            <p:cNvSpPr/>
            <p:nvPr/>
          </p:nvSpPr>
          <p:spPr>
            <a:xfrm>
              <a:off x="609600" y="1809750"/>
              <a:ext cx="3505200" cy="2571750"/>
            </a:xfrm>
            <a:prstGeom prst="rect">
              <a:avLst/>
            </a:prstGeom>
            <a:solidFill>
              <a:srgbClr val="FFFFFF"/>
            </a:solidFill>
            <a:ln>
              <a:noFill/>
            </a:ln>
          </p:spPr>
        </p:sp>
        <p:sp>
          <p:nvSpPr>
            <p:cNvPr id="8" name="TextBox 8"/>
            <p:cNvSpPr txBox="1"/>
            <p:nvPr/>
          </p:nvSpPr>
          <p:spPr>
            <a:xfrm>
              <a:off x="829818" y="1993582"/>
              <a:ext cx="274930"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Consolas"/>
                  <a:ea typeface="Consolas"/>
                  <a:cs typeface="Consolas"/>
                </a:rPr>
                <a:t>Q1</a:t>
              </a:r>
            </a:p>
          </p:txBody>
        </p:sp>
        <p:sp>
          <p:nvSpPr>
            <p:cNvPr id="9" name="TextBox 9"/>
            <p:cNvSpPr txBox="1"/>
            <p:nvPr/>
          </p:nvSpPr>
          <p:spPr>
            <a:xfrm>
              <a:off x="829056" y="2396490"/>
              <a:ext cx="2727198" cy="1876044"/>
            </a:xfrm>
            <a:prstGeom prst="rect">
              <a:avLst/>
            </a:prstGeom>
            <a:noFill/>
            <a:ln>
              <a:noFill/>
            </a:ln>
          </p:spPr>
          <p:txBody>
            <a:bodyPr wrap="none" lIns="0" tIns="0" rIns="0" bIns="0" anchor="t" anchorCtr="0">
              <a:spAutoFit/>
            </a:bodyPr>
            <a:lstStyle/>
            <a:p>
              <a:pPr algn="l">
                <a:lnSpc>
                  <a:spcPts val="2400"/>
                </a:lnSpc>
              </a:pPr>
              <a:r>
                <a:rPr lang="en-US" sz="1800" dirty="0">
                  <a:solidFill>
                    <a:schemeClr val="accent1"/>
                  </a:solidFill>
                  <a:latin typeface="+mn-lt"/>
                  <a:ea typeface="+mn-ea"/>
                  <a:cs typeface="+mn-cs"/>
                </a:rPr>
                <a:t>You have two colors</a:t>
              </a:r>
              <a:br/>
              <a:r>
                <a:rPr lang="en-US" sz="1800" dirty="0">
                  <a:solidFill>
                    <a:schemeClr val="accent1"/>
                  </a:solidFill>
                  <a:latin typeface="+mn-lt"/>
                  <a:ea typeface="+mn-ea"/>
                  <a:cs typeface="+mn-cs"/>
                </a:rPr>
                <a:t>measured at 3.8:1 and</a:t>
              </a:r>
              <a:br/>
              <a:r>
                <a:rPr lang="en-US" sz="1800" dirty="0">
                  <a:solidFill>
                    <a:schemeClr val="accent1"/>
                  </a:solidFill>
                  <a:latin typeface="+mn-lt"/>
                  <a:ea typeface="+mn-ea"/>
                  <a:cs typeface="+mn-cs"/>
                </a:rPr>
                <a:t>you need them for 16 px</a:t>
              </a:r>
              <a:br/>
              <a:r>
                <a:rPr lang="en-US" sz="1800" dirty="0">
                  <a:solidFill>
                    <a:schemeClr val="accent1"/>
                  </a:solidFill>
                  <a:latin typeface="+mn-lt"/>
                  <a:ea typeface="+mn-ea"/>
                  <a:cs typeface="+mn-cs"/>
                </a:rPr>
                <a:t>body text. What exactly</a:t>
              </a:r>
              <a:br/>
              <a:r>
                <a:rPr lang="en-US" sz="1800" dirty="0">
                  <a:solidFill>
                    <a:schemeClr val="accent1"/>
                  </a:solidFill>
                  <a:latin typeface="+mn-lt"/>
                  <a:ea typeface="+mn-ea"/>
                  <a:cs typeface="+mn-cs"/>
                </a:rPr>
                <a:t>do you change, and why</a:t>
              </a:r>
              <a:br/>
              <a:r>
                <a:rPr lang="en-US" sz="1800" dirty="0">
                  <a:solidFill>
                    <a:schemeClr val="accent1"/>
                  </a:solidFill>
                  <a:latin typeface="+mn-lt"/>
                  <a:ea typeface="+mn-ea"/>
                  <a:cs typeface="+mn-cs"/>
                </a:rPr>
                <a:t>that and not the hue?</a:t>
              </a:r>
            </a:p>
          </p:txBody>
        </p:sp>
      </p:grpSp>
      <p:grpSp>
        <p:nvGrpSpPr>
          <p:cNvPr id="14" name="Group 14"/>
          <p:cNvGrpSpPr/>
          <p:nvPr/>
        </p:nvGrpSpPr>
        <p:grpSpPr>
          <a:xfrm>
            <a:off x="4343400" y="1809750"/>
            <a:ext cx="3505200" cy="2571750"/>
            <a:chOff x="4343400" y="1809750"/>
            <a:chExt cx="3505200" cy="2571750"/>
          </a:xfrm>
        </p:grpSpPr>
        <p:sp>
          <p:nvSpPr>
            <p:cNvPr id="11" name="Rectangle 11"/>
            <p:cNvSpPr/>
            <p:nvPr/>
          </p:nvSpPr>
          <p:spPr>
            <a:xfrm>
              <a:off x="4343400" y="1809750"/>
              <a:ext cx="3505200" cy="2571750"/>
            </a:xfrm>
            <a:prstGeom prst="rect">
              <a:avLst/>
            </a:prstGeom>
            <a:solidFill>
              <a:srgbClr val="FFFFFF"/>
            </a:solidFill>
            <a:ln>
              <a:noFill/>
            </a:ln>
          </p:spPr>
        </p:sp>
        <p:sp>
          <p:nvSpPr>
            <p:cNvPr id="12" name="TextBox 12"/>
            <p:cNvSpPr txBox="1"/>
            <p:nvPr/>
          </p:nvSpPr>
          <p:spPr>
            <a:xfrm>
              <a:off x="4563618" y="1993582"/>
              <a:ext cx="274930"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Consolas"/>
                  <a:ea typeface="Consolas"/>
                  <a:cs typeface="Consolas"/>
                </a:rPr>
                <a:t>Q2</a:t>
              </a:r>
            </a:p>
          </p:txBody>
        </p:sp>
        <p:sp>
          <p:nvSpPr>
            <p:cNvPr id="13" name="TextBox 13"/>
            <p:cNvSpPr txBox="1"/>
            <p:nvPr/>
          </p:nvSpPr>
          <p:spPr>
            <a:xfrm>
              <a:off x="4562856" y="2396490"/>
              <a:ext cx="2624328" cy="1876044"/>
            </a:xfrm>
            <a:prstGeom prst="rect">
              <a:avLst/>
            </a:prstGeom>
            <a:noFill/>
            <a:ln>
              <a:noFill/>
            </a:ln>
          </p:spPr>
          <p:txBody>
            <a:bodyPr wrap="none" lIns="0" tIns="0" rIns="0" bIns="0" anchor="t" anchorCtr="0">
              <a:spAutoFit/>
            </a:bodyPr>
            <a:lstStyle/>
            <a:p>
              <a:pPr algn="l">
                <a:lnSpc>
                  <a:spcPts val="2400"/>
                </a:lnSpc>
              </a:pPr>
              <a:r>
                <a:rPr lang="en-US" sz="1800" dirty="0">
                  <a:solidFill>
                    <a:schemeClr val="accent1"/>
                  </a:solidFill>
                  <a:latin typeface="+mn-lt"/>
                  <a:ea typeface="+mn-ea"/>
                  <a:cs typeface="+mn-cs"/>
                </a:rPr>
                <a:t>A colleague says a</a:t>
              </a:r>
              <a:br/>
              <a:r>
                <a:rPr lang="en-US" sz="1800" dirty="0">
                  <a:solidFill>
                    <a:schemeClr val="accent1"/>
                  </a:solidFill>
                  <a:latin typeface="+mn-lt"/>
                  <a:ea typeface="+mn-ea"/>
                  <a:cs typeface="+mn-cs"/>
                </a:rPr>
                <a:t>palette is harmonious</a:t>
              </a:r>
              <a:br/>
              <a:r>
                <a:rPr lang="en-US" sz="1800" dirty="0">
                  <a:solidFill>
                    <a:schemeClr val="accent1"/>
                  </a:solidFill>
                  <a:latin typeface="+mn-lt"/>
                  <a:ea typeface="+mn-ea"/>
                  <a:cs typeface="+mn-cs"/>
                </a:rPr>
                <a:t>because it is triadic.</a:t>
              </a:r>
              <a:br/>
              <a:r>
                <a:rPr lang="en-US" sz="1800" dirty="0">
                  <a:solidFill>
                    <a:schemeClr val="accent1"/>
                  </a:solidFill>
                  <a:latin typeface="+mn-lt"/>
                  <a:ea typeface="+mn-ea"/>
                  <a:cs typeface="+mn-cs"/>
                </a:rPr>
                <a:t>Which part of that is a</a:t>
              </a:r>
              <a:br/>
              <a:r>
                <a:rPr lang="en-US" sz="1800" dirty="0">
                  <a:solidFill>
                    <a:schemeClr val="accent1"/>
                  </a:solidFill>
                  <a:latin typeface="+mn-lt"/>
                  <a:ea typeface="+mn-ea"/>
                  <a:cs typeface="+mn-cs"/>
                </a:rPr>
                <a:t>rule and which part is a</a:t>
              </a:r>
              <a:br/>
              <a:r>
                <a:rPr lang="en-US" sz="1800" dirty="0">
                  <a:solidFill>
                    <a:schemeClr val="accent1"/>
                  </a:solidFill>
                  <a:latin typeface="+mn-lt"/>
                  <a:ea typeface="+mn-ea"/>
                  <a:cs typeface="+mn-cs"/>
                </a:rPr>
                <a:t>convention?</a:t>
              </a:r>
            </a:p>
          </p:txBody>
        </p:sp>
      </p:grpSp>
      <p:grpSp>
        <p:nvGrpSpPr>
          <p:cNvPr id="18" name="Group 18"/>
          <p:cNvGrpSpPr/>
          <p:nvPr/>
        </p:nvGrpSpPr>
        <p:grpSpPr>
          <a:xfrm>
            <a:off x="8077200" y="1809750"/>
            <a:ext cx="3505200" cy="2571750"/>
            <a:chOff x="8077200" y="1809750"/>
            <a:chExt cx="3505200" cy="2571750"/>
          </a:xfrm>
        </p:grpSpPr>
        <p:sp>
          <p:nvSpPr>
            <p:cNvPr id="15" name="Rectangle 15"/>
            <p:cNvSpPr/>
            <p:nvPr/>
          </p:nvSpPr>
          <p:spPr>
            <a:xfrm>
              <a:off x="8077200" y="1809750"/>
              <a:ext cx="3505200" cy="2571750"/>
            </a:xfrm>
            <a:prstGeom prst="rect">
              <a:avLst/>
            </a:prstGeom>
            <a:solidFill>
              <a:srgbClr val="FFFFFF"/>
            </a:solidFill>
            <a:ln>
              <a:noFill/>
            </a:ln>
          </p:spPr>
        </p:sp>
        <p:sp>
          <p:nvSpPr>
            <p:cNvPr id="16" name="TextBox 16"/>
            <p:cNvSpPr txBox="1"/>
            <p:nvPr/>
          </p:nvSpPr>
          <p:spPr>
            <a:xfrm>
              <a:off x="8297418" y="1993582"/>
              <a:ext cx="274930"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Consolas"/>
                  <a:ea typeface="Consolas"/>
                  <a:cs typeface="Consolas"/>
                </a:rPr>
                <a:t>Q3</a:t>
              </a:r>
            </a:p>
          </p:txBody>
        </p:sp>
        <p:sp>
          <p:nvSpPr>
            <p:cNvPr id="17" name="TextBox 17"/>
            <p:cNvSpPr txBox="1"/>
            <p:nvPr/>
          </p:nvSpPr>
          <p:spPr>
            <a:xfrm>
              <a:off x="8296656" y="2396490"/>
              <a:ext cx="2818638" cy="1876044"/>
            </a:xfrm>
            <a:prstGeom prst="rect">
              <a:avLst/>
            </a:prstGeom>
            <a:noFill/>
            <a:ln>
              <a:noFill/>
            </a:ln>
          </p:spPr>
          <p:txBody>
            <a:bodyPr wrap="none" lIns="0" tIns="0" rIns="0" bIns="0" anchor="t" anchorCtr="0">
              <a:spAutoFit/>
            </a:bodyPr>
            <a:lstStyle/>
            <a:p>
              <a:pPr algn="l">
                <a:lnSpc>
                  <a:spcPts val="2400"/>
                </a:lnSpc>
              </a:pPr>
              <a:r>
                <a:rPr lang="en-US" sz="1800" dirty="0">
                  <a:solidFill>
                    <a:schemeClr val="accent1"/>
                  </a:solidFill>
                  <a:latin typeface="+mn-lt"/>
                  <a:ea typeface="+mn-ea"/>
                  <a:cs typeface="+mn-cs"/>
                </a:rPr>
                <a:t>You have a sequential</a:t>
              </a:r>
              <a:br/>
              <a:r>
                <a:rPr lang="en-US" sz="1800" dirty="0">
                  <a:solidFill>
                    <a:schemeClr val="accent1"/>
                  </a:solidFill>
                  <a:latin typeface="+mn-lt"/>
                  <a:ea typeface="+mn-ea"/>
                  <a:cs typeface="+mn-cs"/>
                </a:rPr>
                <a:t>heat map drawn in a</a:t>
              </a:r>
              <a:br/>
              <a:r>
                <a:rPr lang="en-US" sz="1800" dirty="0">
                  <a:solidFill>
                    <a:schemeClr val="accent1"/>
                  </a:solidFill>
                  <a:latin typeface="+mn-lt"/>
                  <a:ea typeface="+mn-ea"/>
                  <a:cs typeface="+mn-cs"/>
                </a:rPr>
                <a:t>rainbow ramp. Name two</a:t>
              </a:r>
              <a:br/>
              <a:r>
                <a:rPr lang="en-US" sz="1800" dirty="0">
                  <a:solidFill>
                    <a:schemeClr val="accent1"/>
                  </a:solidFill>
                  <a:latin typeface="+mn-lt"/>
                  <a:ea typeface="+mn-ea"/>
                  <a:cs typeface="+mn-cs"/>
                </a:rPr>
                <a:t>things that go wrong</a:t>
              </a:r>
              <a:br/>
              <a:r>
                <a:rPr lang="en-US" sz="1800" dirty="0">
                  <a:solidFill>
                    <a:schemeClr val="accent1"/>
                  </a:solidFill>
                  <a:latin typeface="+mn-lt"/>
                  <a:ea typeface="+mn-ea"/>
                  <a:cs typeface="+mn-cs"/>
                </a:rPr>
                <a:t>before anyone’s vision is</a:t>
              </a:r>
              <a:br/>
              <a:r>
                <a:rPr lang="en-US" sz="1800" dirty="0">
                  <a:solidFill>
                    <a:schemeClr val="accent1"/>
                  </a:solidFill>
                  <a:latin typeface="+mn-lt"/>
                  <a:ea typeface="+mn-ea"/>
                  <a:cs typeface="+mn-cs"/>
                </a:rPr>
                <a:t>involved.</a:t>
              </a:r>
            </a:p>
          </p:txBody>
        </p:sp>
      </p:grpSp>
      <p:grpSp>
        <p:nvGrpSpPr>
          <p:cNvPr id="24" name="Group 24"/>
          <p:cNvGrpSpPr/>
          <p:nvPr/>
        </p:nvGrpSpPr>
        <p:grpSpPr>
          <a:xfrm>
            <a:off x="602742" y="4648200"/>
            <a:ext cx="10979658" cy="1413701"/>
            <a:chOff x="602742" y="4648200"/>
            <a:chExt cx="10979658" cy="1413701"/>
          </a:xfrm>
        </p:grpSpPr>
        <p:sp>
          <p:nvSpPr>
            <p:cNvPr id="19" name="Line 19"/>
            <p:cNvSpPr/>
            <p:nvPr/>
          </p:nvSpPr>
          <p:spPr>
            <a:xfrm>
              <a:off x="609600" y="4648200"/>
              <a:ext cx="10972800" cy="9525"/>
            </a:xfrm>
            <a:custGeom>
              <a:avLst/>
              <a:gdLst/>
              <a:ahLst/>
              <a:cxnLst/>
              <a:rect l="l" t="t" r="r" b="b"/>
              <a:pathLst>
                <a:path w="10972800" h="9525">
                  <a:moveTo>
                    <a:pt x="0" y="0"/>
                  </a:moveTo>
                  <a:lnTo>
                    <a:pt x="10972800" y="0"/>
                  </a:lnTo>
                </a:path>
              </a:pathLst>
            </a:custGeom>
            <a:noFill/>
            <a:ln w="19050">
              <a:solidFill>
                <a:schemeClr val="accent2"/>
              </a:solidFill>
            </a:ln>
          </p:spPr>
        </p:sp>
        <p:sp>
          <p:nvSpPr>
            <p:cNvPr id="20" name="TextBox 20"/>
            <p:cNvSpPr txBox="1"/>
            <p:nvPr/>
          </p:nvSpPr>
          <p:spPr>
            <a:xfrm>
              <a:off x="603504" y="4785360"/>
              <a:ext cx="5693969" cy="234696"/>
            </a:xfrm>
            <a:prstGeom prst="rect">
              <a:avLst/>
            </a:prstGeom>
            <a:noFill/>
            <a:ln>
              <a:noFill/>
            </a:ln>
          </p:spPr>
          <p:txBody>
            <a:bodyPr wrap="none" lIns="0" tIns="0" rIns="0" bIns="0" anchor="t" anchorCtr="0">
              <a:spAutoFit/>
            </a:bodyPr>
            <a:lstStyle/>
            <a:p>
              <a:pPr algn="l"/>
              <a:r>
                <a:rPr lang="en-US" sz="1200" b="1" spc="150" dirty="0">
                  <a:solidFill>
                    <a:schemeClr val="accent2"/>
                  </a:solidFill>
                  <a:latin typeface="+mn-lt"/>
                  <a:ea typeface="+mn-ea"/>
                  <a:cs typeface="+mn-cs"/>
                </a:rPr>
                <a:t>ANSWERS — ALL THREE ARE CHECKABLE AGAINST THIS DECK</a:t>
              </a:r>
            </a:p>
          </p:txBody>
        </p:sp>
        <p:sp>
          <p:nvSpPr>
            <p:cNvPr id="21" name="TextBox 21"/>
            <p:cNvSpPr txBox="1"/>
            <p:nvPr/>
          </p:nvSpPr>
          <p:spPr>
            <a:xfrm>
              <a:off x="602742" y="5112068"/>
              <a:ext cx="3254121" cy="9498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4.5:1 is the AA floor at that size, so</a:t>
              </a:r>
              <a:br/>
              <a:r>
                <a:rPr lang="en-US" sz="1350" dirty="0">
                  <a:solidFill>
                    <a:schemeClr val="dk1"/>
                  </a:solidFill>
                  <a:latin typeface="+mn-lt"/>
                  <a:ea typeface="+mn-ea"/>
                  <a:cs typeface="+mn-cs"/>
                </a:rPr>
                <a:t>move the lightness until the measured</a:t>
              </a:r>
              <a:br/>
              <a:r>
                <a:rPr lang="en-US" sz="1350" dirty="0">
                  <a:solidFill>
                    <a:schemeClr val="dk1"/>
                  </a:solidFill>
                  <a:latin typeface="+mn-lt"/>
                  <a:ea typeface="+mn-ea"/>
                  <a:cs typeface="+mn-cs"/>
                </a:rPr>
                <a:t>ratio clears it. The formula has no hue</a:t>
              </a:r>
              <a:br/>
              <a:r>
                <a:rPr lang="en-US" sz="1350" dirty="0">
                  <a:solidFill>
                    <a:schemeClr val="dk1"/>
                  </a:solidFill>
                  <a:latin typeface="+mn-lt"/>
                  <a:ea typeface="+mn-ea"/>
                  <a:cs typeface="+mn-cs"/>
                </a:rPr>
                <a:t>term in it.</a:t>
              </a:r>
            </a:p>
          </p:txBody>
        </p:sp>
        <p:sp>
          <p:nvSpPr>
            <p:cNvPr id="22" name="TextBox 22"/>
            <p:cNvSpPr txBox="1"/>
            <p:nvPr/>
          </p:nvSpPr>
          <p:spPr>
            <a:xfrm>
              <a:off x="4336542" y="5112068"/>
              <a:ext cx="3271266" cy="7212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None of it is a rule. Triadic is an</a:t>
              </a:r>
              <a:br/>
              <a:r>
                <a:rPr lang="en-US" sz="1350" dirty="0">
                  <a:solidFill>
                    <a:schemeClr val="dk1"/>
                  </a:solidFill>
                  <a:latin typeface="+mn-lt"/>
                  <a:ea typeface="+mn-ea"/>
                  <a:cs typeface="+mn-cs"/>
                </a:rPr>
                <a:t>angular convention on the hue dial, and</a:t>
              </a:r>
              <a:br/>
              <a:r>
                <a:rPr lang="en-US" sz="1350" dirty="0">
                  <a:solidFill>
                    <a:schemeClr val="dk1"/>
                  </a:solidFill>
                  <a:latin typeface="+mn-lt"/>
                  <a:ea typeface="+mn-ea"/>
                  <a:cs typeface="+mn-cs"/>
                </a:rPr>
                <a:t>harmony is not a measurable property.</a:t>
              </a:r>
            </a:p>
          </p:txBody>
        </p:sp>
        <p:sp>
          <p:nvSpPr>
            <p:cNvPr id="23" name="TextBox 23"/>
            <p:cNvSpPr txBox="1"/>
            <p:nvPr/>
          </p:nvSpPr>
          <p:spPr>
            <a:xfrm>
              <a:off x="8070342" y="5112068"/>
              <a:ext cx="2722626" cy="7212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No perceptual ordering, and</a:t>
              </a:r>
              <a:br/>
              <a:r>
                <a:rPr lang="en-US" sz="1350" dirty="0">
                  <a:solidFill>
                    <a:schemeClr val="dk1"/>
                  </a:solidFill>
                  <a:latin typeface="+mn-lt"/>
                  <a:ea typeface="+mn-ea"/>
                  <a:cs typeface="+mn-cs"/>
                </a:rPr>
                <a:t>uncontrolled luminance variation</a:t>
              </a:r>
              <a:br/>
              <a:r>
                <a:rPr lang="en-US" sz="1350" dirty="0">
                  <a:solidFill>
                    <a:schemeClr val="dk1"/>
                  </a:solidFill>
                  <a:latin typeface="+mn-lt"/>
                  <a:ea typeface="+mn-ea"/>
                  <a:cs typeface="+mn-cs"/>
                </a:rPr>
                <a:t>across hues.</a:t>
              </a:r>
            </a:p>
          </p:txBody>
        </p:sp>
      </p:grpSp>
      <p:sp>
        <p:nvSpPr>
          <p:cNvPr id="25" name="TextBox 2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13 / 14</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0"/>
                            </p:stCondLst>
                            <p:childTnLst>
                              <p:par>
                                <p:cTn xmlns:p="http://schemas.openxmlformats.org/presentationml/2006/main" id="9" presetID="10"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par>
                          <p:cTn id="12" fill="hold">
                            <p:stCondLst>
                              <p:cond delay="0"/>
                            </p:stCondLst>
                            <p:childTnLst>
                              <p:par>
                                <p:cTn xmlns:p="http://schemas.openxmlformats.org/presentationml/2006/main" id="13" presetID="10"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xmlns:p="http://schemas.openxmlformats.org/presentationml/2006/main" id="18" presetID="10" presetClass="entr" presetSubtype="0" fill="hold" grpId="0"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593598" y="556260"/>
            <a:ext cx="10988802" cy="977075"/>
            <a:chOff x="593598" y="556260"/>
            <a:chExt cx="10988802" cy="977075"/>
          </a:xfrm>
        </p:grpSpPr>
        <p:sp>
          <p:nvSpPr>
            <p:cNvPr id="2" name="TextBox 2"/>
            <p:cNvSpPr txBox="1"/>
            <p:nvPr/>
          </p:nvSpPr>
          <p:spPr>
            <a:xfrm>
              <a:off x="603504" y="556260"/>
              <a:ext cx="2254606" cy="234696"/>
            </a:xfrm>
            <a:prstGeom prst="rect">
              <a:avLst/>
            </a:prstGeom>
            <a:noFill/>
            <a:ln>
              <a:noFill/>
            </a:ln>
          </p:spPr>
          <p:txBody>
            <a:bodyPr wrap="none" lIns="0" tIns="0" rIns="0" bIns="0" anchor="t" anchorCtr="0">
              <a:spAutoFit/>
            </a:bodyPr>
            <a:lstStyle/>
            <a:p>
              <a:pPr algn="l"/>
              <a:r>
                <a:rPr lang="en-US" sz="1200" b="1" spc="150" dirty="0">
                  <a:solidFill>
                    <a:schemeClr val="accent2"/>
                  </a:solidFill>
                  <a:latin typeface="+mn-lt"/>
                  <a:ea typeface="+mn-ea"/>
                  <a:cs typeface="+mn-cs"/>
                </a:rPr>
                <a:t>RECAP AND NEXT STEPS</a:t>
              </a:r>
            </a:p>
          </p:txBody>
        </p:sp>
        <p:sp>
          <p:nvSpPr>
            <p:cNvPr id="3" name="Rectangle 3"/>
            <p:cNvSpPr/>
            <p:nvPr/>
          </p:nvSpPr>
          <p:spPr>
            <a:xfrm>
              <a:off x="609600" y="800100"/>
              <a:ext cx="457200" cy="28575"/>
            </a:xfrm>
            <a:prstGeom prst="rect">
              <a:avLst/>
            </a:prstGeom>
            <a:solidFill>
              <a:schemeClr val="accent2"/>
            </a:solidFill>
            <a:ln>
              <a:noFill/>
            </a:ln>
          </p:spPr>
        </p:sp>
        <p:sp>
          <p:nvSpPr>
            <p:cNvPr id="4" name="TextBox 4"/>
            <p:cNvSpPr txBox="1"/>
            <p:nvPr/>
          </p:nvSpPr>
          <p:spPr>
            <a:xfrm>
              <a:off x="593598" y="917258"/>
              <a:ext cx="8910894" cy="616077"/>
            </a:xfrm>
            <a:prstGeom prst="rect">
              <a:avLst/>
            </a:prstGeom>
            <a:noFill/>
            <a:ln>
              <a:noFill/>
            </a:ln>
          </p:spPr>
          <p:txBody>
            <a:bodyPr wrap="none" lIns="0" tIns="0" rIns="0" bIns="0" anchor="t" anchorCtr="0">
              <a:spAutoFit/>
            </a:bodyPr>
            <a:lstStyle/>
            <a:p>
              <a:pPr algn="l"/>
              <a:r>
                <a:rPr lang="en-US" sz="3150" dirty="0">
                  <a:solidFill>
                    <a:schemeClr val="accent1"/>
                  </a:solidFill>
                  <a:latin typeface="+mj-lt"/>
                  <a:ea typeface="+mj-ea"/>
                  <a:cs typeface="+mj-cs"/>
                </a:rPr>
                <a:t>What you can do now, and where to go next</a:t>
              </a:r>
            </a:p>
          </p:txBody>
        </p:sp>
        <p:sp>
          <p:nvSpPr>
            <p:cNvPr id="5" name="Line 5"/>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8" name="Group 8"/>
          <p:cNvGrpSpPr/>
          <p:nvPr/>
        </p:nvGrpSpPr>
        <p:grpSpPr>
          <a:xfrm>
            <a:off x="598170" y="1814512"/>
            <a:ext cx="10227130" cy="440055"/>
            <a:chOff x="598170" y="1814512"/>
            <a:chExt cx="10227130" cy="440055"/>
          </a:xfrm>
        </p:grpSpPr>
        <p:sp>
          <p:nvSpPr>
            <p:cNvPr id="7" name="TextBox 7"/>
            <p:cNvSpPr txBox="1"/>
            <p:nvPr/>
          </p:nvSpPr>
          <p:spPr>
            <a:xfrm>
              <a:off x="598170" y="1814512"/>
              <a:ext cx="10227130"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Separate hue from lightness, measure the lightness, then argue.</a:t>
              </a:r>
            </a:p>
          </p:txBody>
        </p:sp>
      </p:grpSp>
      <p:grpSp>
        <p:nvGrpSpPr>
          <p:cNvPr id="15" name="Group 15"/>
          <p:cNvGrpSpPr/>
          <p:nvPr/>
        </p:nvGrpSpPr>
        <p:grpSpPr>
          <a:xfrm>
            <a:off x="603504" y="2461260"/>
            <a:ext cx="4401175" cy="1844040"/>
            <a:chOff x="603504" y="2461260"/>
            <a:chExt cx="4401175" cy="1844040"/>
          </a:xfrm>
        </p:grpSpPr>
        <p:sp>
          <p:nvSpPr>
            <p:cNvPr id="9" name="TextBox 9"/>
            <p:cNvSpPr txBox="1"/>
            <p:nvPr/>
          </p:nvSpPr>
          <p:spPr>
            <a:xfrm>
              <a:off x="603504" y="2461260"/>
              <a:ext cx="1327770" cy="234696"/>
            </a:xfrm>
            <a:prstGeom prst="rect">
              <a:avLst/>
            </a:prstGeom>
            <a:noFill/>
            <a:ln>
              <a:noFill/>
            </a:ln>
          </p:spPr>
          <p:txBody>
            <a:bodyPr wrap="none" lIns="0" tIns="0" rIns="0" bIns="0" anchor="t" anchorCtr="0">
              <a:spAutoFit/>
            </a:bodyPr>
            <a:lstStyle/>
            <a:p>
              <a:pPr algn="l"/>
              <a:r>
                <a:rPr lang="en-US" sz="1200" b="1" spc="150" dirty="0">
                  <a:solidFill>
                    <a:schemeClr val="accent5"/>
                  </a:solidFill>
                  <a:latin typeface="+mn-lt"/>
                  <a:ea typeface="+mn-ea"/>
                  <a:cs typeface="+mn-cs"/>
                </a:rPr>
                <a:t>YOU CAN NOW</a:t>
              </a:r>
            </a:p>
          </p:txBody>
        </p:sp>
        <p:sp>
          <p:nvSpPr>
            <p:cNvPr id="10" name="Freeform 10"/>
            <p:cNvSpPr/>
            <p:nvPr/>
          </p:nvSpPr>
          <p:spPr>
            <a:xfrm>
              <a:off x="609600" y="2819400"/>
              <a:ext cx="209550" cy="1485900"/>
            </a:xfrm>
            <a:prstGeom prst="leftBrace">
              <a:avLst/>
            </a:prstGeom>
            <a:noFill/>
            <a:ln w="19050">
              <a:solidFill>
                <a:schemeClr val="accent2"/>
              </a:solidFill>
            </a:ln>
          </p:spPr>
        </p:sp>
        <p:sp>
          <p:nvSpPr>
            <p:cNvPr id="11" name="TextBox 11"/>
            <p:cNvSpPr txBox="1"/>
            <p:nvPr/>
          </p:nvSpPr>
          <p:spPr>
            <a:xfrm>
              <a:off x="1040892" y="2902268"/>
              <a:ext cx="309128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Name why a color pair fails to read</a:t>
              </a:r>
            </a:p>
          </p:txBody>
        </p:sp>
        <p:sp>
          <p:nvSpPr>
            <p:cNvPr id="12" name="TextBox 12"/>
            <p:cNvSpPr txBox="1"/>
            <p:nvPr/>
          </p:nvSpPr>
          <p:spPr>
            <a:xfrm>
              <a:off x="1040892" y="3245168"/>
              <a:ext cx="356965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Check any pair against a WCAG threshold</a:t>
              </a:r>
            </a:p>
          </p:txBody>
        </p:sp>
        <p:sp>
          <p:nvSpPr>
            <p:cNvPr id="13" name="TextBox 13"/>
            <p:cNvSpPr txBox="1"/>
            <p:nvPr/>
          </p:nvSpPr>
          <p:spPr>
            <a:xfrm>
              <a:off x="1040892" y="3588068"/>
              <a:ext cx="311817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Pull and repair a five-color palette</a:t>
              </a:r>
            </a:p>
          </p:txBody>
        </p:sp>
        <p:sp>
          <p:nvSpPr>
            <p:cNvPr id="14" name="TextBox 14"/>
            <p:cNvSpPr txBox="1"/>
            <p:nvPr/>
          </p:nvSpPr>
          <p:spPr>
            <a:xfrm>
              <a:off x="1040892" y="3930968"/>
              <a:ext cx="396378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Say why a rainbow ramp is the wrong default</a:t>
              </a:r>
            </a:p>
          </p:txBody>
        </p:sp>
      </p:grpSp>
      <p:grpSp>
        <p:nvGrpSpPr>
          <p:cNvPr id="47" name="Group 47"/>
          <p:cNvGrpSpPr/>
          <p:nvPr/>
        </p:nvGrpSpPr>
        <p:grpSpPr>
          <a:xfrm>
            <a:off x="5899404" y="2461260"/>
            <a:ext cx="5367267" cy="2400491"/>
            <a:chOff x="5899404" y="2461260"/>
            <a:chExt cx="5367267" cy="2400491"/>
          </a:xfrm>
        </p:grpSpPr>
        <p:sp>
          <p:nvSpPr>
            <p:cNvPr id="16" name="TextBox 16"/>
            <p:cNvSpPr txBox="1"/>
            <p:nvPr/>
          </p:nvSpPr>
          <p:spPr>
            <a:xfrm>
              <a:off x="5899404" y="2461260"/>
              <a:ext cx="1882506" cy="234696"/>
            </a:xfrm>
            <a:prstGeom prst="rect">
              <a:avLst/>
            </a:prstGeom>
            <a:noFill/>
            <a:ln>
              <a:noFill/>
            </a:ln>
          </p:spPr>
          <p:txBody>
            <a:bodyPr wrap="none" lIns="0" tIns="0" rIns="0" bIns="0" anchor="t" anchorCtr="0">
              <a:spAutoFit/>
            </a:bodyPr>
            <a:lstStyle/>
            <a:p>
              <a:pPr algn="l"/>
              <a:r>
                <a:rPr lang="en-US" sz="1200" b="1" spc="150" dirty="0">
                  <a:solidFill>
                    <a:schemeClr val="accent5"/>
                  </a:solidFill>
                  <a:latin typeface="+mn-lt"/>
                  <a:ea typeface="+mn-ea"/>
                  <a:cs typeface="+mn-cs"/>
                </a:rPr>
                <a:t>WHERE TO GO NEXT</a:t>
              </a:r>
            </a:p>
          </p:txBody>
        </p:sp>
        <p:grpSp>
          <p:nvGrpSpPr>
            <p:cNvPr id="20" name="Group 20"/>
            <p:cNvGrpSpPr/>
            <p:nvPr/>
          </p:nvGrpSpPr>
          <p:grpSpPr>
            <a:xfrm>
              <a:off x="5940424" y="2888159"/>
              <a:ext cx="143954" cy="148214"/>
              <a:chOff x="5940424" y="2888159"/>
              <a:chExt cx="143954" cy="148214"/>
            </a:xfrm>
          </p:grpSpPr>
          <p:sp>
            <p:nvSpPr>
              <p:cNvPr id="17" name="Freeform 17"/>
              <p:cNvSpPr/>
              <p:nvPr/>
            </p:nvSpPr>
            <p:spPr>
              <a:xfrm>
                <a:off x="5984081" y="2936081"/>
                <a:ext cx="52388" cy="52388"/>
              </a:xfrm>
              <a:custGeom>
                <a:avLst/>
                <a:gdLst/>
                <a:ahLst/>
                <a:cxnLst/>
                <a:rect l="l" t="t" r="r" b="b"/>
                <a:pathLst>
                  <a:path w="52388" h="52388">
                    <a:moveTo>
                      <a:pt x="0" y="52388"/>
                    </a:moveTo>
                    <a:lnTo>
                      <a:pt x="52388" y="0"/>
                    </a:lnTo>
                  </a:path>
                </a:pathLst>
              </a:custGeom>
              <a:noFill/>
              <a:ln w="17463">
                <a:solidFill>
                  <a:schemeClr val="accent3"/>
                </a:solidFill>
              </a:ln>
            </p:spPr>
          </p:sp>
          <p:sp>
            <p:nvSpPr>
              <p:cNvPr id="18" name="Freeform 18"/>
              <p:cNvSpPr/>
              <p:nvPr/>
            </p:nvSpPr>
            <p:spPr>
              <a:xfrm>
                <a:off x="6001544" y="2888159"/>
                <a:ext cx="82834" cy="82847"/>
              </a:xfrm>
              <a:custGeom>
                <a:avLst/>
                <a:gdLst/>
                <a:ahLst/>
                <a:cxnLst/>
                <a:rect l="l" t="t" r="r" b="b"/>
                <a:pathLst>
                  <a:path w="82834" h="82847">
                    <a:moveTo>
                      <a:pt x="0" y="21729"/>
                    </a:moveTo>
                    <a:lnTo>
                      <a:pt x="4043" y="17049"/>
                    </a:lnTo>
                    <a:cubicBezTo>
                      <a:pt x="21094" y="0"/>
                      <a:pt x="48737" y="2"/>
                      <a:pt x="65786" y="17053"/>
                    </a:cubicBezTo>
                    <a:cubicBezTo>
                      <a:pt x="82834" y="34104"/>
                      <a:pt x="82832" y="61747"/>
                      <a:pt x="65781" y="78796"/>
                    </a:cubicBezTo>
                    <a:lnTo>
                      <a:pt x="61119" y="82847"/>
                    </a:lnTo>
                  </a:path>
                </a:pathLst>
              </a:custGeom>
              <a:noFill/>
              <a:ln w="17463">
                <a:solidFill>
                  <a:schemeClr val="accent3"/>
                </a:solidFill>
              </a:ln>
            </p:spPr>
          </p:sp>
          <p:sp>
            <p:nvSpPr>
              <p:cNvPr id="19" name="Freeform 19"/>
              <p:cNvSpPr/>
              <p:nvPr/>
            </p:nvSpPr>
            <p:spPr>
              <a:xfrm>
                <a:off x="5940424" y="2953544"/>
                <a:ext cx="78583" cy="82829"/>
              </a:xfrm>
              <a:custGeom>
                <a:avLst/>
                <a:gdLst/>
                <a:ahLst/>
                <a:cxnLst/>
                <a:rect l="l" t="t" r="r" b="b"/>
                <a:pathLst>
                  <a:path w="78583" h="82829">
                    <a:moveTo>
                      <a:pt x="78583" y="61119"/>
                    </a:moveTo>
                    <a:lnTo>
                      <a:pt x="75116" y="65781"/>
                    </a:lnTo>
                    <a:cubicBezTo>
                      <a:pt x="57876" y="82829"/>
                      <a:pt x="30128" y="82829"/>
                      <a:pt x="12889" y="65781"/>
                    </a:cubicBezTo>
                    <a:cubicBezTo>
                      <a:pt x="4641" y="57626"/>
                      <a:pt x="0" y="46510"/>
                      <a:pt x="0" y="34912"/>
                    </a:cubicBezTo>
                    <a:cubicBezTo>
                      <a:pt x="0" y="23314"/>
                      <a:pt x="4641" y="12197"/>
                      <a:pt x="12889" y="4043"/>
                    </a:cubicBezTo>
                    <a:lnTo>
                      <a:pt x="17464" y="0"/>
                    </a:lnTo>
                  </a:path>
                </a:pathLst>
              </a:custGeom>
              <a:noFill/>
              <a:ln w="17463">
                <a:solidFill>
                  <a:schemeClr val="accent3"/>
                </a:solidFill>
              </a:ln>
            </p:spPr>
          </p:sp>
        </p:grpSp>
        <p:sp>
          <p:nvSpPr>
            <p:cNvPr id="21" name="TextBox 21"/>
            <p:cNvSpPr txBox="1"/>
            <p:nvPr/>
          </p:nvSpPr>
          <p:spPr>
            <a:xfrm>
              <a:off x="6203442" y="2883218"/>
              <a:ext cx="5063229" cy="264033"/>
            </a:xfrm>
            <a:prstGeom prst="rect">
              <a:avLst/>
            </a:prstGeom>
            <a:noFill/>
            <a:ln>
              <a:noFill/>
            </a:ln>
          </p:spPr>
          <p:txBody>
            <a:bodyPr wrap="none" lIns="0" tIns="0" rIns="0" bIns="0" anchor="t" anchorCtr="0">
              <a:spAutoFit/>
            </a:bodyPr>
            <a:lstStyle/>
            <a:p>
              <a:pPr algn="l"/>
              <a:r>
                <a:rPr lang="en-US" sz="1350" u="sng" dirty="0">
                  <a:solidFill>
                    <a:schemeClr val="accent3"/>
                  </a:solidFill>
                  <a:latin typeface="+mn-lt"/>
                  <a:ea typeface="+mn-ea"/>
                  <a:cs typeface="+mn-cs"/>
                  <a:hlinkClick r:id="rId2"/>
                </a:rPr>
                <a:t>WebAIM Contrast Checker</a:t>
              </a:r>
              <a:r>
                <a:rPr lang="en-US" sz="1350" dirty="0">
                  <a:solidFill>
                    <a:schemeClr val="dk1"/>
                  </a:solidFill>
                  <a:latin typeface="+mn-lt"/>
                  <a:ea typeface="+mn-ea"/>
                  <a:cs typeface="+mn-cs"/>
                </a:rPr>
                <a:t xml:space="preserve"> — a ratio plus AA/AAA pass-fail</a:t>
              </a:r>
            </a:p>
          </p:txBody>
        </p:sp>
        <p:grpSp>
          <p:nvGrpSpPr>
            <p:cNvPr id="25" name="Group 25"/>
            <p:cNvGrpSpPr/>
            <p:nvPr/>
          </p:nvGrpSpPr>
          <p:grpSpPr>
            <a:xfrm>
              <a:off x="5940424" y="3231059"/>
              <a:ext cx="143954" cy="148214"/>
              <a:chOff x="5940424" y="3231059"/>
              <a:chExt cx="143954" cy="148214"/>
            </a:xfrm>
          </p:grpSpPr>
          <p:sp>
            <p:nvSpPr>
              <p:cNvPr id="22" name="Freeform 22"/>
              <p:cNvSpPr/>
              <p:nvPr/>
            </p:nvSpPr>
            <p:spPr>
              <a:xfrm>
                <a:off x="5984081" y="3278981"/>
                <a:ext cx="52388" cy="52388"/>
              </a:xfrm>
              <a:custGeom>
                <a:avLst/>
                <a:gdLst/>
                <a:ahLst/>
                <a:cxnLst/>
                <a:rect l="l" t="t" r="r" b="b"/>
                <a:pathLst>
                  <a:path w="52388" h="52388">
                    <a:moveTo>
                      <a:pt x="0" y="52388"/>
                    </a:moveTo>
                    <a:lnTo>
                      <a:pt x="52388" y="0"/>
                    </a:lnTo>
                  </a:path>
                </a:pathLst>
              </a:custGeom>
              <a:noFill/>
              <a:ln w="17463">
                <a:solidFill>
                  <a:schemeClr val="accent3"/>
                </a:solidFill>
              </a:ln>
            </p:spPr>
          </p:sp>
          <p:sp>
            <p:nvSpPr>
              <p:cNvPr id="23" name="Freeform 23"/>
              <p:cNvSpPr/>
              <p:nvPr/>
            </p:nvSpPr>
            <p:spPr>
              <a:xfrm>
                <a:off x="6001544" y="3231059"/>
                <a:ext cx="82834" cy="82847"/>
              </a:xfrm>
              <a:custGeom>
                <a:avLst/>
                <a:gdLst/>
                <a:ahLst/>
                <a:cxnLst/>
                <a:rect l="l" t="t" r="r" b="b"/>
                <a:pathLst>
                  <a:path w="82834" h="82847">
                    <a:moveTo>
                      <a:pt x="0" y="21729"/>
                    </a:moveTo>
                    <a:lnTo>
                      <a:pt x="4043" y="17049"/>
                    </a:lnTo>
                    <a:cubicBezTo>
                      <a:pt x="21094" y="0"/>
                      <a:pt x="48737" y="2"/>
                      <a:pt x="65786" y="17053"/>
                    </a:cubicBezTo>
                    <a:cubicBezTo>
                      <a:pt x="82834" y="34104"/>
                      <a:pt x="82832" y="61747"/>
                      <a:pt x="65781" y="78796"/>
                    </a:cubicBezTo>
                    <a:lnTo>
                      <a:pt x="61119" y="82847"/>
                    </a:lnTo>
                  </a:path>
                </a:pathLst>
              </a:custGeom>
              <a:noFill/>
              <a:ln w="17463">
                <a:solidFill>
                  <a:schemeClr val="accent3"/>
                </a:solidFill>
              </a:ln>
            </p:spPr>
          </p:sp>
          <p:sp>
            <p:nvSpPr>
              <p:cNvPr id="24" name="Freeform 24"/>
              <p:cNvSpPr/>
              <p:nvPr/>
            </p:nvSpPr>
            <p:spPr>
              <a:xfrm>
                <a:off x="5940424" y="3296444"/>
                <a:ext cx="78583" cy="82829"/>
              </a:xfrm>
              <a:custGeom>
                <a:avLst/>
                <a:gdLst/>
                <a:ahLst/>
                <a:cxnLst/>
                <a:rect l="l" t="t" r="r" b="b"/>
                <a:pathLst>
                  <a:path w="78583" h="82829">
                    <a:moveTo>
                      <a:pt x="78583" y="61119"/>
                    </a:moveTo>
                    <a:lnTo>
                      <a:pt x="75116" y="65781"/>
                    </a:lnTo>
                    <a:cubicBezTo>
                      <a:pt x="57876" y="82829"/>
                      <a:pt x="30128" y="82829"/>
                      <a:pt x="12889" y="65781"/>
                    </a:cubicBezTo>
                    <a:cubicBezTo>
                      <a:pt x="4641" y="57626"/>
                      <a:pt x="0" y="46510"/>
                      <a:pt x="0" y="34912"/>
                    </a:cubicBezTo>
                    <a:cubicBezTo>
                      <a:pt x="0" y="23314"/>
                      <a:pt x="4641" y="12197"/>
                      <a:pt x="12889" y="4043"/>
                    </a:cubicBezTo>
                    <a:lnTo>
                      <a:pt x="17464" y="0"/>
                    </a:lnTo>
                  </a:path>
                </a:pathLst>
              </a:custGeom>
              <a:noFill/>
              <a:ln w="17463">
                <a:solidFill>
                  <a:schemeClr val="accent3"/>
                </a:solidFill>
              </a:ln>
            </p:spPr>
          </p:sp>
        </p:grpSp>
        <p:sp>
          <p:nvSpPr>
            <p:cNvPr id="26" name="TextBox 26"/>
            <p:cNvSpPr txBox="1"/>
            <p:nvPr/>
          </p:nvSpPr>
          <p:spPr>
            <a:xfrm>
              <a:off x="6203442" y="3226118"/>
              <a:ext cx="4625481" cy="264033"/>
            </a:xfrm>
            <a:prstGeom prst="rect">
              <a:avLst/>
            </a:prstGeom>
            <a:noFill/>
            <a:ln>
              <a:noFill/>
            </a:ln>
          </p:spPr>
          <p:txBody>
            <a:bodyPr wrap="none" lIns="0" tIns="0" rIns="0" bIns="0" anchor="t" anchorCtr="0">
              <a:spAutoFit/>
            </a:bodyPr>
            <a:lstStyle/>
            <a:p>
              <a:pPr algn="l"/>
              <a:r>
                <a:rPr lang="en-US" sz="1350" u="sng" dirty="0">
                  <a:solidFill>
                    <a:schemeClr val="accent3"/>
                  </a:solidFill>
                  <a:latin typeface="+mn-lt"/>
                  <a:ea typeface="+mn-ea"/>
                  <a:cs typeface="+mn-cs"/>
                  <a:hlinkClick r:id="rId3"/>
                </a:rPr>
                <a:t>W3C How to Meet WCAG</a:t>
              </a:r>
              <a:r>
                <a:rPr lang="en-US" sz="1350" dirty="0">
                  <a:solidFill>
                    <a:schemeClr val="dk1"/>
                  </a:solidFill>
                  <a:latin typeface="+mn-lt"/>
                  <a:ea typeface="+mn-ea"/>
                  <a:cs typeface="+mn-cs"/>
                </a:rPr>
                <a:t xml:space="preserve"> — every criterion, filterable</a:t>
              </a:r>
            </a:p>
          </p:txBody>
        </p:sp>
        <p:grpSp>
          <p:nvGrpSpPr>
            <p:cNvPr id="30" name="Group 30"/>
            <p:cNvGrpSpPr/>
            <p:nvPr/>
          </p:nvGrpSpPr>
          <p:grpSpPr>
            <a:xfrm>
              <a:off x="5940424" y="3573959"/>
              <a:ext cx="143954" cy="148214"/>
              <a:chOff x="5940424" y="3573959"/>
              <a:chExt cx="143954" cy="148214"/>
            </a:xfrm>
          </p:grpSpPr>
          <p:sp>
            <p:nvSpPr>
              <p:cNvPr id="27" name="Freeform 27"/>
              <p:cNvSpPr/>
              <p:nvPr/>
            </p:nvSpPr>
            <p:spPr>
              <a:xfrm>
                <a:off x="5984081" y="3621881"/>
                <a:ext cx="52388" cy="52388"/>
              </a:xfrm>
              <a:custGeom>
                <a:avLst/>
                <a:gdLst/>
                <a:ahLst/>
                <a:cxnLst/>
                <a:rect l="l" t="t" r="r" b="b"/>
                <a:pathLst>
                  <a:path w="52388" h="52388">
                    <a:moveTo>
                      <a:pt x="0" y="52388"/>
                    </a:moveTo>
                    <a:lnTo>
                      <a:pt x="52388" y="0"/>
                    </a:lnTo>
                  </a:path>
                </a:pathLst>
              </a:custGeom>
              <a:noFill/>
              <a:ln w="17463">
                <a:solidFill>
                  <a:schemeClr val="accent3"/>
                </a:solidFill>
              </a:ln>
            </p:spPr>
          </p:sp>
          <p:sp>
            <p:nvSpPr>
              <p:cNvPr id="28" name="Freeform 28"/>
              <p:cNvSpPr/>
              <p:nvPr/>
            </p:nvSpPr>
            <p:spPr>
              <a:xfrm>
                <a:off x="6001544" y="3573959"/>
                <a:ext cx="82834" cy="82847"/>
              </a:xfrm>
              <a:custGeom>
                <a:avLst/>
                <a:gdLst/>
                <a:ahLst/>
                <a:cxnLst/>
                <a:rect l="l" t="t" r="r" b="b"/>
                <a:pathLst>
                  <a:path w="82834" h="82847">
                    <a:moveTo>
                      <a:pt x="0" y="21729"/>
                    </a:moveTo>
                    <a:lnTo>
                      <a:pt x="4043" y="17049"/>
                    </a:lnTo>
                    <a:cubicBezTo>
                      <a:pt x="21094" y="0"/>
                      <a:pt x="48737" y="2"/>
                      <a:pt x="65786" y="17053"/>
                    </a:cubicBezTo>
                    <a:cubicBezTo>
                      <a:pt x="82834" y="34104"/>
                      <a:pt x="82832" y="61747"/>
                      <a:pt x="65781" y="78796"/>
                    </a:cubicBezTo>
                    <a:lnTo>
                      <a:pt x="61119" y="82847"/>
                    </a:lnTo>
                  </a:path>
                </a:pathLst>
              </a:custGeom>
              <a:noFill/>
              <a:ln w="17463">
                <a:solidFill>
                  <a:schemeClr val="accent3"/>
                </a:solidFill>
              </a:ln>
            </p:spPr>
          </p:sp>
          <p:sp>
            <p:nvSpPr>
              <p:cNvPr id="29" name="Freeform 29"/>
              <p:cNvSpPr/>
              <p:nvPr/>
            </p:nvSpPr>
            <p:spPr>
              <a:xfrm>
                <a:off x="5940424" y="3639344"/>
                <a:ext cx="78583" cy="82829"/>
              </a:xfrm>
              <a:custGeom>
                <a:avLst/>
                <a:gdLst/>
                <a:ahLst/>
                <a:cxnLst/>
                <a:rect l="l" t="t" r="r" b="b"/>
                <a:pathLst>
                  <a:path w="78583" h="82829">
                    <a:moveTo>
                      <a:pt x="78583" y="61119"/>
                    </a:moveTo>
                    <a:lnTo>
                      <a:pt x="75116" y="65781"/>
                    </a:lnTo>
                    <a:cubicBezTo>
                      <a:pt x="57876" y="82829"/>
                      <a:pt x="30128" y="82829"/>
                      <a:pt x="12889" y="65781"/>
                    </a:cubicBezTo>
                    <a:cubicBezTo>
                      <a:pt x="4641" y="57626"/>
                      <a:pt x="0" y="46510"/>
                      <a:pt x="0" y="34912"/>
                    </a:cubicBezTo>
                    <a:cubicBezTo>
                      <a:pt x="0" y="23314"/>
                      <a:pt x="4641" y="12197"/>
                      <a:pt x="12889" y="4043"/>
                    </a:cubicBezTo>
                    <a:lnTo>
                      <a:pt x="17464" y="0"/>
                    </a:lnTo>
                  </a:path>
                </a:pathLst>
              </a:custGeom>
              <a:noFill/>
              <a:ln w="17463">
                <a:solidFill>
                  <a:schemeClr val="accent3"/>
                </a:solidFill>
              </a:ln>
            </p:spPr>
          </p:sp>
        </p:grpSp>
        <p:sp>
          <p:nvSpPr>
            <p:cNvPr id="31" name="TextBox 31"/>
            <p:cNvSpPr txBox="1"/>
            <p:nvPr/>
          </p:nvSpPr>
          <p:spPr>
            <a:xfrm>
              <a:off x="6203442" y="3569018"/>
              <a:ext cx="4262076" cy="264033"/>
            </a:xfrm>
            <a:prstGeom prst="rect">
              <a:avLst/>
            </a:prstGeom>
            <a:noFill/>
            <a:ln>
              <a:noFill/>
            </a:ln>
          </p:spPr>
          <p:txBody>
            <a:bodyPr wrap="none" lIns="0" tIns="0" rIns="0" bIns="0" anchor="t" anchorCtr="0">
              <a:spAutoFit/>
            </a:bodyPr>
            <a:lstStyle/>
            <a:p>
              <a:pPr algn="l"/>
              <a:r>
                <a:rPr lang="en-US" sz="1350" u="sng" dirty="0">
                  <a:solidFill>
                    <a:schemeClr val="accent3"/>
                  </a:solidFill>
                  <a:latin typeface="+mn-lt"/>
                  <a:ea typeface="+mn-ea"/>
                  <a:cs typeface="+mn-cs"/>
                  <a:hlinkClick r:id="rId4"/>
                </a:rPr>
                <a:t>Coblis</a:t>
              </a:r>
              <a:r>
                <a:rPr lang="en-US" sz="1350" dirty="0">
                  <a:solidFill>
                    <a:schemeClr val="dk1"/>
                  </a:solidFill>
                  <a:latin typeface="+mn-lt"/>
                  <a:ea typeface="+mn-ea"/>
                  <a:cs typeface="+mn-cs"/>
                </a:rPr>
                <a:t xml:space="preserve"> — any image under each type of deficiency</a:t>
              </a:r>
            </a:p>
          </p:txBody>
        </p:sp>
        <p:grpSp>
          <p:nvGrpSpPr>
            <p:cNvPr id="35" name="Group 35"/>
            <p:cNvGrpSpPr/>
            <p:nvPr/>
          </p:nvGrpSpPr>
          <p:grpSpPr>
            <a:xfrm>
              <a:off x="5940424" y="3916859"/>
              <a:ext cx="143954" cy="148214"/>
              <a:chOff x="5940424" y="3916859"/>
              <a:chExt cx="143954" cy="148214"/>
            </a:xfrm>
          </p:grpSpPr>
          <p:sp>
            <p:nvSpPr>
              <p:cNvPr id="32" name="Freeform 32"/>
              <p:cNvSpPr/>
              <p:nvPr/>
            </p:nvSpPr>
            <p:spPr>
              <a:xfrm>
                <a:off x="5984081" y="3964781"/>
                <a:ext cx="52388" cy="52388"/>
              </a:xfrm>
              <a:custGeom>
                <a:avLst/>
                <a:gdLst/>
                <a:ahLst/>
                <a:cxnLst/>
                <a:rect l="l" t="t" r="r" b="b"/>
                <a:pathLst>
                  <a:path w="52388" h="52388">
                    <a:moveTo>
                      <a:pt x="0" y="52388"/>
                    </a:moveTo>
                    <a:lnTo>
                      <a:pt x="52388" y="0"/>
                    </a:lnTo>
                  </a:path>
                </a:pathLst>
              </a:custGeom>
              <a:noFill/>
              <a:ln w="17463">
                <a:solidFill>
                  <a:schemeClr val="accent3"/>
                </a:solidFill>
              </a:ln>
            </p:spPr>
          </p:sp>
          <p:sp>
            <p:nvSpPr>
              <p:cNvPr id="33" name="Freeform 33"/>
              <p:cNvSpPr/>
              <p:nvPr/>
            </p:nvSpPr>
            <p:spPr>
              <a:xfrm>
                <a:off x="6001544" y="3916859"/>
                <a:ext cx="82834" cy="82847"/>
              </a:xfrm>
              <a:custGeom>
                <a:avLst/>
                <a:gdLst/>
                <a:ahLst/>
                <a:cxnLst/>
                <a:rect l="l" t="t" r="r" b="b"/>
                <a:pathLst>
                  <a:path w="82834" h="82847">
                    <a:moveTo>
                      <a:pt x="0" y="21729"/>
                    </a:moveTo>
                    <a:lnTo>
                      <a:pt x="4043" y="17049"/>
                    </a:lnTo>
                    <a:cubicBezTo>
                      <a:pt x="21094" y="0"/>
                      <a:pt x="48737" y="2"/>
                      <a:pt x="65786" y="17053"/>
                    </a:cubicBezTo>
                    <a:cubicBezTo>
                      <a:pt x="82834" y="34104"/>
                      <a:pt x="82832" y="61747"/>
                      <a:pt x="65781" y="78796"/>
                    </a:cubicBezTo>
                    <a:lnTo>
                      <a:pt x="61119" y="82847"/>
                    </a:lnTo>
                  </a:path>
                </a:pathLst>
              </a:custGeom>
              <a:noFill/>
              <a:ln w="17463">
                <a:solidFill>
                  <a:schemeClr val="accent3"/>
                </a:solidFill>
              </a:ln>
            </p:spPr>
          </p:sp>
          <p:sp>
            <p:nvSpPr>
              <p:cNvPr id="34" name="Freeform 34"/>
              <p:cNvSpPr/>
              <p:nvPr/>
            </p:nvSpPr>
            <p:spPr>
              <a:xfrm>
                <a:off x="5940424" y="3982244"/>
                <a:ext cx="78583" cy="82829"/>
              </a:xfrm>
              <a:custGeom>
                <a:avLst/>
                <a:gdLst/>
                <a:ahLst/>
                <a:cxnLst/>
                <a:rect l="l" t="t" r="r" b="b"/>
                <a:pathLst>
                  <a:path w="78583" h="82829">
                    <a:moveTo>
                      <a:pt x="78583" y="61119"/>
                    </a:moveTo>
                    <a:lnTo>
                      <a:pt x="75116" y="65781"/>
                    </a:lnTo>
                    <a:cubicBezTo>
                      <a:pt x="57876" y="82829"/>
                      <a:pt x="30128" y="82829"/>
                      <a:pt x="12889" y="65781"/>
                    </a:cubicBezTo>
                    <a:cubicBezTo>
                      <a:pt x="4641" y="57626"/>
                      <a:pt x="0" y="46510"/>
                      <a:pt x="0" y="34912"/>
                    </a:cubicBezTo>
                    <a:cubicBezTo>
                      <a:pt x="0" y="23314"/>
                      <a:pt x="4641" y="12197"/>
                      <a:pt x="12889" y="4043"/>
                    </a:cubicBezTo>
                    <a:lnTo>
                      <a:pt x="17464" y="0"/>
                    </a:lnTo>
                  </a:path>
                </a:pathLst>
              </a:custGeom>
              <a:noFill/>
              <a:ln w="17463">
                <a:solidFill>
                  <a:schemeClr val="accent3"/>
                </a:solidFill>
              </a:ln>
            </p:spPr>
          </p:sp>
        </p:grpSp>
        <p:sp>
          <p:nvSpPr>
            <p:cNvPr id="36" name="TextBox 36"/>
            <p:cNvSpPr txBox="1"/>
            <p:nvPr/>
          </p:nvSpPr>
          <p:spPr>
            <a:xfrm>
              <a:off x="6203442" y="3911918"/>
              <a:ext cx="4313931" cy="264033"/>
            </a:xfrm>
            <a:prstGeom prst="rect">
              <a:avLst/>
            </a:prstGeom>
            <a:noFill/>
            <a:ln>
              <a:noFill/>
            </a:ln>
          </p:spPr>
          <p:txBody>
            <a:bodyPr wrap="none" lIns="0" tIns="0" rIns="0" bIns="0" anchor="t" anchorCtr="0">
              <a:spAutoFit/>
            </a:bodyPr>
            <a:lstStyle/>
            <a:p>
              <a:pPr algn="l"/>
              <a:r>
                <a:rPr lang="en-US" sz="1350" u="sng" dirty="0">
                  <a:solidFill>
                    <a:schemeClr val="accent3"/>
                  </a:solidFill>
                  <a:latin typeface="+mn-lt"/>
                  <a:ea typeface="+mn-ea"/>
                  <a:cs typeface="+mn-cs"/>
                  <a:hlinkClick r:id="rId5"/>
                </a:rPr>
                <a:t>ColorBrewer</a:t>
              </a:r>
              <a:r>
                <a:rPr lang="en-US" sz="1350" dirty="0">
                  <a:solidFill>
                    <a:schemeClr val="dk1"/>
                  </a:solidFill>
                  <a:latin typeface="+mn-lt"/>
                  <a:ea typeface="+mn-ea"/>
                  <a:cs typeface="+mn-cs"/>
                </a:rPr>
                <a:t xml:space="preserve"> — sequential, diverging, qualitative</a:t>
              </a:r>
            </a:p>
          </p:txBody>
        </p:sp>
        <p:grpSp>
          <p:nvGrpSpPr>
            <p:cNvPr id="40" name="Group 40"/>
            <p:cNvGrpSpPr/>
            <p:nvPr/>
          </p:nvGrpSpPr>
          <p:grpSpPr>
            <a:xfrm>
              <a:off x="5940424" y="4259759"/>
              <a:ext cx="143954" cy="148214"/>
              <a:chOff x="5940424" y="4259759"/>
              <a:chExt cx="143954" cy="148214"/>
            </a:xfrm>
          </p:grpSpPr>
          <p:sp>
            <p:nvSpPr>
              <p:cNvPr id="37" name="Freeform 37"/>
              <p:cNvSpPr/>
              <p:nvPr/>
            </p:nvSpPr>
            <p:spPr>
              <a:xfrm>
                <a:off x="5984081" y="4307681"/>
                <a:ext cx="52388" cy="52388"/>
              </a:xfrm>
              <a:custGeom>
                <a:avLst/>
                <a:gdLst/>
                <a:ahLst/>
                <a:cxnLst/>
                <a:rect l="l" t="t" r="r" b="b"/>
                <a:pathLst>
                  <a:path w="52388" h="52388">
                    <a:moveTo>
                      <a:pt x="0" y="52388"/>
                    </a:moveTo>
                    <a:lnTo>
                      <a:pt x="52388" y="0"/>
                    </a:lnTo>
                  </a:path>
                </a:pathLst>
              </a:custGeom>
              <a:noFill/>
              <a:ln w="17463">
                <a:solidFill>
                  <a:schemeClr val="accent3"/>
                </a:solidFill>
              </a:ln>
            </p:spPr>
          </p:sp>
          <p:sp>
            <p:nvSpPr>
              <p:cNvPr id="38" name="Freeform 38"/>
              <p:cNvSpPr/>
              <p:nvPr/>
            </p:nvSpPr>
            <p:spPr>
              <a:xfrm>
                <a:off x="6001544" y="4259759"/>
                <a:ext cx="82834" cy="82847"/>
              </a:xfrm>
              <a:custGeom>
                <a:avLst/>
                <a:gdLst/>
                <a:ahLst/>
                <a:cxnLst/>
                <a:rect l="l" t="t" r="r" b="b"/>
                <a:pathLst>
                  <a:path w="82834" h="82847">
                    <a:moveTo>
                      <a:pt x="0" y="21729"/>
                    </a:moveTo>
                    <a:lnTo>
                      <a:pt x="4043" y="17049"/>
                    </a:lnTo>
                    <a:cubicBezTo>
                      <a:pt x="21094" y="0"/>
                      <a:pt x="48737" y="2"/>
                      <a:pt x="65786" y="17053"/>
                    </a:cubicBezTo>
                    <a:cubicBezTo>
                      <a:pt x="82834" y="34104"/>
                      <a:pt x="82832" y="61747"/>
                      <a:pt x="65781" y="78796"/>
                    </a:cubicBezTo>
                    <a:lnTo>
                      <a:pt x="61119" y="82847"/>
                    </a:lnTo>
                  </a:path>
                </a:pathLst>
              </a:custGeom>
              <a:noFill/>
              <a:ln w="17463">
                <a:solidFill>
                  <a:schemeClr val="accent3"/>
                </a:solidFill>
              </a:ln>
            </p:spPr>
          </p:sp>
          <p:sp>
            <p:nvSpPr>
              <p:cNvPr id="39" name="Freeform 39"/>
              <p:cNvSpPr/>
              <p:nvPr/>
            </p:nvSpPr>
            <p:spPr>
              <a:xfrm>
                <a:off x="5940424" y="4325144"/>
                <a:ext cx="78583" cy="82829"/>
              </a:xfrm>
              <a:custGeom>
                <a:avLst/>
                <a:gdLst/>
                <a:ahLst/>
                <a:cxnLst/>
                <a:rect l="l" t="t" r="r" b="b"/>
                <a:pathLst>
                  <a:path w="78583" h="82829">
                    <a:moveTo>
                      <a:pt x="78583" y="61119"/>
                    </a:moveTo>
                    <a:lnTo>
                      <a:pt x="75116" y="65781"/>
                    </a:lnTo>
                    <a:cubicBezTo>
                      <a:pt x="57876" y="82829"/>
                      <a:pt x="30128" y="82829"/>
                      <a:pt x="12889" y="65781"/>
                    </a:cubicBezTo>
                    <a:cubicBezTo>
                      <a:pt x="4641" y="57626"/>
                      <a:pt x="0" y="46510"/>
                      <a:pt x="0" y="34912"/>
                    </a:cubicBezTo>
                    <a:cubicBezTo>
                      <a:pt x="0" y="23314"/>
                      <a:pt x="4641" y="12197"/>
                      <a:pt x="12889" y="4043"/>
                    </a:cubicBezTo>
                    <a:lnTo>
                      <a:pt x="17464" y="0"/>
                    </a:lnTo>
                  </a:path>
                </a:pathLst>
              </a:custGeom>
              <a:noFill/>
              <a:ln w="17463">
                <a:solidFill>
                  <a:schemeClr val="accent3"/>
                </a:solidFill>
              </a:ln>
            </p:spPr>
          </p:sp>
        </p:grpSp>
        <p:sp>
          <p:nvSpPr>
            <p:cNvPr id="41" name="TextBox 41"/>
            <p:cNvSpPr txBox="1"/>
            <p:nvPr/>
          </p:nvSpPr>
          <p:spPr>
            <a:xfrm>
              <a:off x="6203442" y="4254818"/>
              <a:ext cx="4077870" cy="264033"/>
            </a:xfrm>
            <a:prstGeom prst="rect">
              <a:avLst/>
            </a:prstGeom>
            <a:noFill/>
            <a:ln>
              <a:noFill/>
            </a:ln>
          </p:spPr>
          <p:txBody>
            <a:bodyPr wrap="none" lIns="0" tIns="0" rIns="0" bIns="0" anchor="t" anchorCtr="0">
              <a:spAutoFit/>
            </a:bodyPr>
            <a:lstStyle/>
            <a:p>
              <a:pPr algn="l"/>
              <a:r>
                <a:rPr lang="en-US" sz="1350" u="sng" dirty="0">
                  <a:solidFill>
                    <a:schemeClr val="accent3"/>
                  </a:solidFill>
                  <a:latin typeface="+mn-lt"/>
                  <a:ea typeface="+mn-ea"/>
                  <a:cs typeface="+mn-cs"/>
                  <a:hlinkClick r:id="rId6"/>
                </a:rPr>
                <a:t>Adobe Color</a:t>
              </a:r>
              <a:r>
                <a:rPr lang="en-US" sz="1350" dirty="0">
                  <a:solidFill>
                    <a:schemeClr val="dk1"/>
                  </a:solidFill>
                  <a:latin typeface="+mn-lt"/>
                  <a:ea typeface="+mn-ea"/>
                  <a:cs typeface="+mn-cs"/>
                </a:rPr>
                <a:t xml:space="preserve"> — themes and harmony generators</a:t>
              </a:r>
            </a:p>
          </p:txBody>
        </p:sp>
        <p:grpSp>
          <p:nvGrpSpPr>
            <p:cNvPr id="45" name="Group 45"/>
            <p:cNvGrpSpPr/>
            <p:nvPr/>
          </p:nvGrpSpPr>
          <p:grpSpPr>
            <a:xfrm>
              <a:off x="5940424" y="4602659"/>
              <a:ext cx="143954" cy="148214"/>
              <a:chOff x="5940424" y="4602659"/>
              <a:chExt cx="143954" cy="148214"/>
            </a:xfrm>
          </p:grpSpPr>
          <p:sp>
            <p:nvSpPr>
              <p:cNvPr id="42" name="Freeform 42"/>
              <p:cNvSpPr/>
              <p:nvPr/>
            </p:nvSpPr>
            <p:spPr>
              <a:xfrm>
                <a:off x="5984081" y="4650581"/>
                <a:ext cx="52388" cy="52388"/>
              </a:xfrm>
              <a:custGeom>
                <a:avLst/>
                <a:gdLst/>
                <a:ahLst/>
                <a:cxnLst/>
                <a:rect l="l" t="t" r="r" b="b"/>
                <a:pathLst>
                  <a:path w="52388" h="52388">
                    <a:moveTo>
                      <a:pt x="0" y="52388"/>
                    </a:moveTo>
                    <a:lnTo>
                      <a:pt x="52388" y="0"/>
                    </a:lnTo>
                  </a:path>
                </a:pathLst>
              </a:custGeom>
              <a:noFill/>
              <a:ln w="17463">
                <a:solidFill>
                  <a:schemeClr val="accent3"/>
                </a:solidFill>
              </a:ln>
            </p:spPr>
          </p:sp>
          <p:sp>
            <p:nvSpPr>
              <p:cNvPr id="43" name="Freeform 43"/>
              <p:cNvSpPr/>
              <p:nvPr/>
            </p:nvSpPr>
            <p:spPr>
              <a:xfrm>
                <a:off x="6001544" y="4602659"/>
                <a:ext cx="82834" cy="82847"/>
              </a:xfrm>
              <a:custGeom>
                <a:avLst/>
                <a:gdLst/>
                <a:ahLst/>
                <a:cxnLst/>
                <a:rect l="l" t="t" r="r" b="b"/>
                <a:pathLst>
                  <a:path w="82834" h="82847">
                    <a:moveTo>
                      <a:pt x="0" y="21729"/>
                    </a:moveTo>
                    <a:lnTo>
                      <a:pt x="4043" y="17049"/>
                    </a:lnTo>
                    <a:cubicBezTo>
                      <a:pt x="21094" y="0"/>
                      <a:pt x="48737" y="2"/>
                      <a:pt x="65786" y="17053"/>
                    </a:cubicBezTo>
                    <a:cubicBezTo>
                      <a:pt x="82834" y="34104"/>
                      <a:pt x="82832" y="61747"/>
                      <a:pt x="65781" y="78796"/>
                    </a:cubicBezTo>
                    <a:lnTo>
                      <a:pt x="61119" y="82847"/>
                    </a:lnTo>
                  </a:path>
                </a:pathLst>
              </a:custGeom>
              <a:noFill/>
              <a:ln w="17463">
                <a:solidFill>
                  <a:schemeClr val="accent3"/>
                </a:solidFill>
              </a:ln>
            </p:spPr>
          </p:sp>
          <p:sp>
            <p:nvSpPr>
              <p:cNvPr id="44" name="Freeform 44"/>
              <p:cNvSpPr/>
              <p:nvPr/>
            </p:nvSpPr>
            <p:spPr>
              <a:xfrm>
                <a:off x="5940424" y="4668044"/>
                <a:ext cx="78583" cy="82829"/>
              </a:xfrm>
              <a:custGeom>
                <a:avLst/>
                <a:gdLst/>
                <a:ahLst/>
                <a:cxnLst/>
                <a:rect l="l" t="t" r="r" b="b"/>
                <a:pathLst>
                  <a:path w="78583" h="82829">
                    <a:moveTo>
                      <a:pt x="78583" y="61119"/>
                    </a:moveTo>
                    <a:lnTo>
                      <a:pt x="75116" y="65781"/>
                    </a:lnTo>
                    <a:cubicBezTo>
                      <a:pt x="57876" y="82829"/>
                      <a:pt x="30128" y="82829"/>
                      <a:pt x="12889" y="65781"/>
                    </a:cubicBezTo>
                    <a:cubicBezTo>
                      <a:pt x="4641" y="57626"/>
                      <a:pt x="0" y="46510"/>
                      <a:pt x="0" y="34912"/>
                    </a:cubicBezTo>
                    <a:cubicBezTo>
                      <a:pt x="0" y="23314"/>
                      <a:pt x="4641" y="12197"/>
                      <a:pt x="12889" y="4043"/>
                    </a:cubicBezTo>
                    <a:lnTo>
                      <a:pt x="17464" y="0"/>
                    </a:lnTo>
                  </a:path>
                </a:pathLst>
              </a:custGeom>
              <a:noFill/>
              <a:ln w="17463">
                <a:solidFill>
                  <a:schemeClr val="accent3"/>
                </a:solidFill>
              </a:ln>
            </p:spPr>
          </p:sp>
        </p:grpSp>
        <p:sp>
          <p:nvSpPr>
            <p:cNvPr id="46" name="TextBox 46"/>
            <p:cNvSpPr txBox="1"/>
            <p:nvPr/>
          </p:nvSpPr>
          <p:spPr>
            <a:xfrm>
              <a:off x="6203442" y="4597718"/>
              <a:ext cx="4841748" cy="264033"/>
            </a:xfrm>
            <a:prstGeom prst="rect">
              <a:avLst/>
            </a:prstGeom>
            <a:noFill/>
            <a:ln>
              <a:noFill/>
            </a:ln>
          </p:spPr>
          <p:txBody>
            <a:bodyPr wrap="none" lIns="0" tIns="0" rIns="0" bIns="0" anchor="t" anchorCtr="0">
              <a:spAutoFit/>
            </a:bodyPr>
            <a:lstStyle/>
            <a:p>
              <a:pPr algn="l"/>
              <a:r>
                <a:rPr lang="en-US" sz="1350" u="sng" dirty="0">
                  <a:solidFill>
                    <a:schemeClr val="accent3"/>
                  </a:solidFill>
                  <a:latin typeface="+mn-lt"/>
                  <a:ea typeface="+mn-ea"/>
                  <a:cs typeface="+mn-cs"/>
                  <a:hlinkClick r:id="rId7"/>
                </a:rPr>
                <a:t>CVRL, UCL</a:t>
              </a:r>
              <a:r>
                <a:rPr lang="en-US" sz="1350" dirty="0">
                  <a:solidFill>
                    <a:schemeClr val="dk1"/>
                  </a:solidFill>
                  <a:latin typeface="+mn-lt"/>
                  <a:ea typeface="+mn-ea"/>
                  <a:cs typeface="+mn-cs"/>
                </a:rPr>
                <a:t xml:space="preserve"> — the cone-fundamentals data behind page 3</a:t>
              </a:r>
            </a:p>
          </p:txBody>
        </p:sp>
      </p:grpSp>
      <p:grpSp>
        <p:nvGrpSpPr>
          <p:cNvPr id="50" name="Group 50"/>
          <p:cNvGrpSpPr/>
          <p:nvPr/>
        </p:nvGrpSpPr>
        <p:grpSpPr>
          <a:xfrm>
            <a:off x="602742" y="5372100"/>
            <a:ext cx="10979658" cy="689801"/>
            <a:chOff x="602742" y="5372100"/>
            <a:chExt cx="10979658" cy="689801"/>
          </a:xfrm>
        </p:grpSpPr>
        <p:sp>
          <p:nvSpPr>
            <p:cNvPr id="48" name="Line 48"/>
            <p:cNvSpPr/>
            <p:nvPr/>
          </p:nvSpPr>
          <p:spPr>
            <a:xfrm>
              <a:off x="609600" y="5372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9" name="TextBox 49"/>
            <p:cNvSpPr txBox="1"/>
            <p:nvPr/>
          </p:nvSpPr>
          <p:spPr>
            <a:xfrm>
              <a:off x="602742" y="5569268"/>
              <a:ext cx="9983534"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mn-lt"/>
                  <a:ea typeface="+mn-ea"/>
                  <a:cs typeface="+mn-cs"/>
                </a:rPr>
                <a:t>What this session simplified: the cone sensitivity curves overlap far more than three columns suggest, and a contrast</a:t>
              </a:r>
              <a:br/>
              <a:r>
                <a:rPr lang="en-US" sz="1350" dirty="0">
                  <a:solidFill>
                    <a:schemeClr val="accent5"/>
                  </a:solidFill>
                  <a:latin typeface="+mn-lt"/>
                  <a:ea typeface="+mn-ea"/>
                  <a:cs typeface="+mn-cs"/>
                </a:rPr>
                <a:t>ratio is a floor, not a measure of quality.</a:t>
              </a:r>
            </a:p>
          </p:txBody>
        </p:sp>
      </p:grpSp>
      <p:grpSp>
        <p:nvGrpSpPr>
          <p:cNvPr id="53" name="Group 53"/>
          <p:cNvGrpSpPr/>
          <p:nvPr/>
        </p:nvGrpSpPr>
        <p:grpSpPr>
          <a:xfrm>
            <a:off x="603504" y="6442710"/>
            <a:ext cx="10984992" cy="234696"/>
            <a:chOff x="603504" y="6442710"/>
            <a:chExt cx="10984992" cy="234696"/>
          </a:xfrm>
        </p:grpSpPr>
        <p:sp>
          <p:nvSpPr>
            <p:cNvPr id="51" name="TextBox 51"/>
            <p:cNvSpPr txBox="1"/>
            <p:nvPr/>
          </p:nvSpPr>
          <p:spPr>
            <a:xfrm>
              <a:off x="603504" y="6442710"/>
              <a:ext cx="816751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Every destination above is linked live in this file; sources for each claim are on the page that makes it.</a:t>
              </a:r>
            </a:p>
          </p:txBody>
        </p:sp>
        <p:sp>
          <p:nvSpPr>
            <p:cNvPr id="52" name="TextBox 5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14 / 14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par>
                          <p:cTn id="12" fill="hold">
                            <p:stCondLst>
                              <p:cond delay="15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47"/>
                                        </p:tgtEl>
                                        <p:attrNameLst>
                                          <p:attrName>style.visibility</p:attrName>
                                        </p:attrNameLst>
                                      </p:cBhvr>
                                      <p:to>
                                        <p:strVal val="visible"/>
                                      </p:to>
                                    </p:set>
                                    <p:animEffect transition="in" filter="fade">
                                      <p:cBhvr>
                                        <p:cTn id="15" dur="500"/>
                                        <p:tgtEl>
                                          <p:spTgt spid="47"/>
                                        </p:tgtEl>
                                      </p:cBhvr>
                                    </p:animEffect>
                                  </p:childTnLst>
                                </p:cTn>
                              </p:par>
                            </p:childTnLst>
                          </p:cTn>
                        </p:par>
                        <p:par>
                          <p:cTn id="16" fill="hold">
                            <p:stCondLst>
                              <p:cond delay="25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how_color_works_workshop">
  <a:themeElements>
    <a:clrScheme name="ppt169_how_color_works_workshop">
      <a:dk1>
        <a:srgbClr val="2E2A25"/>
      </a:dk1>
      <a:lt1>
        <a:srgbClr val="FAF8F4"/>
      </a:lt1>
      <a:dk2>
        <a:srgbClr val="1F497D"/>
      </a:dk2>
      <a:lt2>
        <a:srgbClr val="EDE7DC"/>
      </a:lt2>
      <a:accent1>
        <a:srgbClr val="23201C"/>
      </a:accent1>
      <a:accent2>
        <a:srgbClr val="A8452B"/>
      </a:accent2>
      <a:accent3>
        <a:srgbClr val="3E5C6B"/>
      </a:accent3>
      <a:accent4>
        <a:srgbClr val="23201C"/>
      </a:accent4>
      <a:accent5>
        <a:srgbClr val="6B6259"/>
      </a:accent5>
      <a:accent6>
        <a:srgbClr val="D8D0C3"/>
      </a:accent6>
      <a:hlink>
        <a:srgbClr val="A8452B"/>
      </a:hlink>
      <a:folHlink>
        <a:srgbClr val="3E5C6B"/>
      </a:folHlink>
    </a:clrScheme>
    <a:fontScheme name="ppt169_how_color_works_workshop">
      <a:majorFont>
        <a:latin typeface="Trebuchet MS"/>
        <a:ea typeface="Microsoft YaHei"/>
        <a:cs typeface="Trebuchet MS"/>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how_color_works_workshop">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how_color_works_workshop">
  <a:themeElements>
    <a:clrScheme name="ppt169_how_color_works_workshop">
      <a:dk1>
        <a:srgbClr val="2E2A25"/>
      </a:dk1>
      <a:lt1>
        <a:srgbClr val="FAF8F4"/>
      </a:lt1>
      <a:dk2>
        <a:srgbClr val="1F497D"/>
      </a:dk2>
      <a:lt2>
        <a:srgbClr val="EDE7DC"/>
      </a:lt2>
      <a:accent1>
        <a:srgbClr val="23201C"/>
      </a:accent1>
      <a:accent2>
        <a:srgbClr val="A8452B"/>
      </a:accent2>
      <a:accent3>
        <a:srgbClr val="3E5C6B"/>
      </a:accent3>
      <a:accent4>
        <a:srgbClr val="23201C"/>
      </a:accent4>
      <a:accent5>
        <a:srgbClr val="6B6259"/>
      </a:accent5>
      <a:accent6>
        <a:srgbClr val="D8D0C3"/>
      </a:accent6>
      <a:hlink>
        <a:srgbClr val="A8452B"/>
      </a:hlink>
      <a:folHlink>
        <a:srgbClr val="3E5C6B"/>
      </a:folHlink>
    </a:clrScheme>
    <a:fontScheme name="ppt169_how_color_works_workshop">
      <a:majorFont>
        <a:latin typeface="Trebuchet MS"/>
        <a:ea typeface="Microsoft YaHei"/>
        <a:cs typeface="Trebuchet MS"/>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how_color_works_workshop">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2026-09-10T08:26:09Z</dcterms:created>
  <dcterms:modified xsi:type="dcterms:W3CDTF">2026-09-10T08:26:09Z</dcterms:modified>
  <cp:category/>
  <cp:contentStatus/>
</cp:coreProperties>
</file>