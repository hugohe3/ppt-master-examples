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3"/>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  <Relationship Id="rId23"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zh-CN"/>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zh-CN"/>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zh-CN"/>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zh-CN"/>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zh-CN"/>
          </a:p>
        </p:txBody>
      </p:sp>
    </p:spTree>
  </p:cSld>
  <p:clrMap bg1="lt1" tx1="dk1" bg2="lt2" tx2="dk2" accent1="accent1" accent2="accent2" accent3="accent3" accent4="accent4" accent5="accent5" accent6="accent6" hlink="hlink" folHlink="folHlink"/>
  <p:hf/>
  <p:notesStyle>
    <a:lvl1pPr marL="0" algn="l">
      <a:defRPr sz="1200" lang="zh-CN"/>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今天要讲的不是怎么过中秋，而是中秋是怎么变成今天这个样子的。先给各位一个可能有点意外的事实：在南宋的一张点心菜单上，月饼只是一味随时都能点的市井小吃，跟团圆没有半点关系。它跟团圆挂上钩，是三百年以后的事。所以这一晚我们要顺着一枚月饼往回走，看看礼、诗、饼、传说、灯火、名录、假期这七层，各自是哪一代人加上去的。今年的中秋是公历九月二十五日，星期五。</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先解决一个最基本的问题：为什么偏偏是八月十五。古人自己给过两条理由，而且都写下来了。第一条是时序上的。南宋的《梦粱录》开篇就解释，这一天正好是秋天三个月的正中间，所以叫中秋；又因为这一夜的月色比平时明亮得多，所以还有个名字叫月夕。第二条是天象上的，这一夜月亮最大、最圆、最亮，古人还给它起过秋节、仲秋节、八月节这些别名。唐朝人欧阳詹在他的赏月诗序里把这两条合成了一句话：从天道上看，寒暑刚好持平；从月数上看，月亮刚好正圆。冷热适中而月相恰满，这就是八月十五被选中的全部理由。落到今年，就是九月二十五号那天晚上。</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第一幕，我们从头说起。这一幕要讲的是，中秋先是一场祭仪，其次才是一批诗,最后才成为一个节日。它走完这段路，用了差不多一千年。</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先看周代。那个时候文献里已经有中秋这两个字了，但它指的是时令和祭仪：中秋夜迎寒、中秋献良裘、秋分那天祭拜月亮。注意，这时候的中秋还不是一个节日，它是礼制的一部分。真正的转折发生在唐代，唐人把嫦娥、吴刚这些神话接进了月亮里，赏月这件事才从祭仪变成风尚。这个转变有多彻底，有一个数字可以说明：四万多首《全唐诗》里，专门写八月十五赏月的诗有一百一十一首，出自六十五位诗人之手。一百一十一首听着不多，但它意味着赏月已经是整个文人阶层的普遍习惯，而不是个别人的雅事。他们赏月的去处也很具体：寺院和观星台、泛舟水边、登山望月、值夜班时在宫里看月亮、摆酒赋诗联句，还有借着月亮思念远方的人。最后这一条，会一直延续到我们今天。</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风尚变成节日，是在北宋。八月十五被正式定为中秋节，而开封这座城替它作了证。《东京梦华录》里专门有一条写中秋，先写节前的酒市：各家店铺都在卖新酒，门面重新扎起彩楼花头；市民抢着喝，到了中午前后，家家的酒都卖光了，只能把招牌摘下来。再写节夜的城市：有钱人家在台榭上装饰起来，普通人抢着占酒楼看月亮；丝竹声鼎沸，街坊的孩子整夜嬉戏，夜市热闹到天亮。还有一个更有说服力的结构性证据：这一条在书里的位置，前后依次是四月八日、端午、七夕、中元、立秋、秋社、重阳。中秋已经和其他岁时节日并排成条了，这就是它成为节日最硬的证明。</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到了南宋的临安，中秋已经不分阶层。《梦粱录》里这段话值得逐句听：王孙公子、富贵人家，没有不登上高楼、临着窗户赏月的；至于开铺子的人家，也会爬上自家的小月台，安排一桌家宴，把子女聚在一起，来酬答这个好节日；就算是陋巷里的穷人，也要脱下衣服换酒喝，勉强凑个热闹，不肯白白错过这一夜。三个阶层，一个都没落下。还有一个细节更能说明它的分量：这一夜天街上的买卖一直做到五更，赏月的游人在市上流连到天亮都不断，因为金吾不禁——也就是说，这一夜，连宵禁都为它让路。</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第二幕，我们只讲一样东西：月饼。这一幕的核心是一个时间差。月饼这个词，比中秋送月饼这个习俗，早了大约三百年。所以问题就来了：如果南宋人已经在吃月饼，他们为什么不在中秋送？</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答案要分四步看，每一步都有文本落点。第一步在南宋，月饼这个词最早出现在《梦粱录》卷十六的荤素从食店里，跟芙蓉饼、菊花饼排在一起，注明四时皆有、任便索唤——一年四季都有，想吃随时点。它当时就是一味市井小吃，不属于任何节日。第二步还是南宋，周密的《武林旧事》把月饼列在临安五十多种蒸食当中，位置和上一步一样，还是一种普通点心。第三步跳到明代，田汝成的《西湖游览志余》写：八月十五日叫中秋，民间用月饼互相馈赠，取团圆的意思。这一句非常关键，因为它同时给出了时间、行为和意义三个要素，月饼和团圆是在这里绑上的。第四步是明代后期，《宛署杂记》记载士人和百姓家都在这个月做面饼互相赠送，市面上还用果子做馅，名目稀奇，有一块饼值好几百钱的；《帝京景物略》更夸张，说有直径两尺的饼。到这一步，月饼已经不只是点心，它成了社交货币。</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说到月饼，绕不开流派之争。但流派的分野其实不在馅，在饼皮怎么起。这个说法不是我编的，它写在现行的国家标准里，也就是二〇二三年发布、二〇二四年四月起实施的月饼质量通则。广式月饼产在广东，饼皮加或者不加糖浆，包馅成形以后刷蛋再烘烤，口感柔软，代表品种是蓉沙、果仁和蛋黄。苏式的关键在于另外用粉和油制酥，做成酥皮再包馅烘烤，所以成品有明显的酥层，口感松酥。京式用的是提浆工艺做糖浆皮，或者做成松酥皮、酥皮，口感松酥或者松软，自来白和自来红都属于这一派。潮式用小麦粉或者食用淀粉制皮，糖可加可不加，所以有酥皮、水晶皮和奶油皮的分别。滇式则用小麦粉掺杂粮粉制皮，馅料是云腿这一类，咸口。这里要补一句：国家标准按地方派式其实分了九类，除了这五个还有晋式、琼式、台式和哈式，我们今天只讲其中五个。另外两条冷知识：果仁总量不低于百分之二十，而且只用核桃、杏仁、橄榄、瓜子、芝麻这五种果仁，再按广东工艺做，才能叫广式五仁；莲子添加量必须是百分之百，才能叫纯莲蓉。</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第三幕讲传说。月亮里的三个人，嫦娥、吴刚、玉兔，我们从小就听。但我想先问一个问题：嫦娥变成蟾蜍这件事，出自《淮南子》吗？大多数人会点头。接下来这一页，可能会让各位改口。</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答案是：不出自《淮南子》。流行说法把嫦娥奔月化为蟾蜍整件事都记在《淮南子》名下，但核对原文就会发现，《淮南子·览冥训》那一段只写到姮娥偷了不死药奔向月亮，全段既没有蟾蜍，用的字也是姮娥而不是嫦娥。化蟾这个说法，实际出自东汉张衡的《灵宪》，那里才写姮娥托身于月，是为蟾蜍。所以这个形象是三本书叠加出来的。比《淮南子》更早的一层是《归藏易》，刘勰在《文心雕龙》里引它说羿射落十个太阳、恒娥奔月；一九九三年出土的秦简里，这一条只剩两枚残简。名字为什么会变，也有确切的解释：刘安编《淮南子》的时候要避汉文帝刘恒的名讳，把恒改成了嫦，恒我于是演变成嫦娥和姮娥，后人就混着用了。一个避讳，造成了一千多年的两个名字。</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另外两位的故事要短一些，但意象很强。吴刚伐桂最早见于唐代段成式的《酉阳杂俎》：月亮里的桂树高五百丈，树下有一个人不停地砍，砍出的伤口随砍随合。这个人姓吴名刚，西河人，学仙的时候犯了过错，被罚在这里伐树。请注意树创随合这四个字，它讲的是一种永远完不成的劳作。玉兔捣药出自汉乐府的《董逃行》：玉兔长跪着捣蛤蟆丸，捧上一个玉盘，说吃了这药可以成仙。它讲的则是一种永远的等待。顺便说一句，月中有桂这个说法比吴刚更早，晋代虞喜的《安天论》里就有了；我们中秋喝桂花酒的习惯，也是从这条线上来的。</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第四幕回到人间。同一个晚上，中国人的过法差别大到超出想象。香港大坑的舞火龙，相传起于光绪六年，也就是一八八〇年，当地发生瘟疫，村民扎了一条火龙巡游社区驱瘟，从此成俗。它的做法是在龙骨里插满点燃的线香；时间上是农历八月十四晚上在莲花宫开光，连着巡游三个晚上，十六晚举行游大运仪式之后把火龙投进海里，叫龙归天。灯的花样也不少：湖广一带用瓦片叠成塔来点灯，叫瓦子灯；江西的烧塔流程分垒塔、烧塔、封塔三段；广东和香港则是把各式彩灯竖在高杆上，叫树中秋。福建厦门有博饼，六个骰子轮流投掷，博状元、榜眼、探花、进士、举人、秀才六个等第，按等第拿大小不同的月饼。江南明清还有走月，人们穿得漂漂亮亮，三五结伴逛街市、泛舟或者登楼看月华，当时还有专门的望月楼和玩月桥。这些做法彼此之间几乎没有关系，它们只是共用了同一个日子。</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这种多样性，在国家级非物质文化遗产名录里被完整地记了下来。中秋节在名录里的编号，属于民俗类的第五项，项目序号是四百五十三。有意思的是，这一个编号下面挂着五条记录。主项是二〇〇六年第一批公布的，由文化部申报、文化和旅游部保护。另外四条是地方扩展项目：二〇〇八年第二批的中秋博饼，来自福建厦门；二〇一一年第三批的泽州中秋习俗，来自山西泽州，当地的珏山被称为中国赏月名山；同一批的秋夕，来自吉林延边朝鲜族自治州；还有同一批的大坑舞火龙，来自香港特别行政区。所以中秋的非遗身份不是一块笼统的牌子，是一个主项加四个地方扩展项。名录本体是国务院二〇〇六年五月二十日公布的第一批国家级非遗名录，一共五百一十八项、十个类别，其中民俗类七十项。最后提醒一点，北京兔儿爷是另一个条目，属于传统美术类，二〇一四年第四批才公布，跟中秋节主项不要合并着说。</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最后看今天。有一个常见的误解需要澄清：中秋放假三天，但法定节假日只有一天。这条线是这样走的：一九四九年政务院发布《全国年节及纪念日放假办法》，此后修订过四次。真正的转折在二〇〇八年——二〇〇七年那次修订由国务院令第五百一十三号公布，从二〇〇八年一月一日起施行，新增了中秋节放假一天这一条，中秋从这一年起才成为中国内地的法定节假日。到现在也只有十八年。二〇二五年施行的最新修订增加了除夕和五月二日，中秋的法定假期仍然是一天。所以今年九月二十五号到二十七号放假三天，是调休以后的实际假期，跟法定天数是两回事。规模上给三个数：二〇二四年中秋假期，全国国内出游一点零七亿人次，出游总花费五百一十点四七亿元，按可比口径比二〇一九年同期分别增长百分之六点三和百分之八；月饼这一头，行业协会预计当年产量大约三十万吨、销售额大约两百亿元。这里也要小心口径：二〇二五年那个八点八八亿人次，是国庆和中秋合并八天的数字，不能拿来跟中秋单独的口径比。</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讲了一晚上考据，最后我想把它交还给一个人。一〇七六年，也就是北宋熙宁九年的中秋，苏轼在密州做太守。他因为跟王安石这些变法者政见不同，自己请求外放，写这首词的时候，他和弟弟苏辙已经分别七年没能团聚。小序里他自己写得很清楚：丙辰中秋，欢饮达旦，大醉，作此篇，兼怀子由。然后就是那两句——但愿人长久，千里共婵娟。我们今天讲的这条线，从《梦粱录》记下月饼这两个字算起，将近八百年；从这首词算起，正好九百五十年。这条线的末端就是今晚：同一轮月亮，第九百五十次照着有人在等另一个人。</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ppt169_mid_autumn_papercut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ppt169_mid_autumn_papercut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315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8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7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5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3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25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1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9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700" kern="1200">
          <a:solidFill>
            <a:schemeClr val="tx1"/>
          </a:solidFill>
          <a:latin typeface="+mn-lt"/>
          <a:ea typeface="+mn-ea"/>
          <a:cs typeface="+mn-cs"/>
        </a:defRPr>
      </a:lvl2pPr>
      <a:lvl3pPr marL="914400" algn="l" defTabSz="457200" rtl="0" eaLnBrk="1" latinLnBrk="0" hangingPunct="1">
        <a:defRPr sz="1600" kern="1200">
          <a:solidFill>
            <a:schemeClr val="tx1"/>
          </a:solidFill>
          <a:latin typeface="+mn-lt"/>
          <a:ea typeface="+mn-ea"/>
          <a:cs typeface="+mn-cs"/>
        </a:defRPr>
      </a:lvl3pPr>
      <a:lvl4pPr marL="1371600" algn="l" defTabSz="457200" rtl="0" eaLnBrk="1" latinLnBrk="0" hangingPunct="1">
        <a:defRPr sz="1450" kern="1200">
          <a:solidFill>
            <a:schemeClr val="tx1"/>
          </a:solidFill>
          <a:latin typeface="+mn-lt"/>
          <a:ea typeface="+mn-ea"/>
          <a:cs typeface="+mn-cs"/>
        </a:defRPr>
      </a:lvl4pPr>
      <a:lvl5pPr marL="1828800" algn="l" defTabSz="457200" rtl="0" eaLnBrk="1" latinLnBrk="0" hangingPunct="1">
        <a:defRPr sz="1350" kern="1200">
          <a:solidFill>
            <a:schemeClr val="tx1"/>
          </a:solidFill>
          <a:latin typeface="+mn-lt"/>
          <a:ea typeface="+mn-ea"/>
          <a:cs typeface="+mn-cs"/>
        </a:defRPr>
      </a:lvl5pPr>
      <a:lvl6pPr marL="2286000" algn="l" defTabSz="457200" rtl="0" eaLnBrk="1" latinLnBrk="0" hangingPunct="1">
        <a:defRPr sz="1250" kern="1200">
          <a:solidFill>
            <a:schemeClr val="tx1"/>
          </a:solidFill>
          <a:latin typeface="+mn-lt"/>
          <a:ea typeface="+mn-ea"/>
          <a:cs typeface="+mn-cs"/>
        </a:defRPr>
      </a:lvl6pPr>
      <a:lvl7pPr marL="2743200" algn="l" defTabSz="457200" rtl="0" eaLnBrk="1" latinLnBrk="0" hangingPunct="1">
        <a:defRPr sz="1100" kern="1200">
          <a:solidFill>
            <a:schemeClr val="tx1"/>
          </a:solidFill>
          <a:latin typeface="+mn-lt"/>
          <a:ea typeface="+mn-ea"/>
          <a:cs typeface="+mn-cs"/>
        </a:defRPr>
      </a:lvl7pPr>
      <a:lvl8pPr marL="3200400" algn="l" defTabSz="457200" rtl="0" eaLnBrk="1" latinLnBrk="0" hangingPunct="1">
        <a:defRPr sz="1000" kern="1200">
          <a:solidFill>
            <a:schemeClr val="tx1"/>
          </a:solidFill>
          <a:latin typeface="+mn-lt"/>
          <a:ea typeface="+mn-ea"/>
          <a:cs typeface="+mn-cs"/>
        </a:defRPr>
      </a:lvl8pPr>
      <a:lvl9pPr marL="3657600" algn="l" defTabSz="457200" rtl="0" eaLnBrk="1" latinLnBrk="0" hangingPunct="1">
        <a:defRPr sz="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f41e6e6d6cd13695.jpg"/>
  <Relationship Id="rId3" Type="http://schemas.openxmlformats.org/officeDocument/2006/relationships/image" Target="../media/image_d92308902074245d.png"/>
  <Relationship Id="rId4" Type="http://schemas.openxmlformats.org/officeDocument/2006/relationships/image" Target="../media/image_69fcf2ee992bafb2.png"/>
  <Relationship Id="rId5" Type="http://schemas.openxmlformats.org/officeDocument/2006/relationships/image" Target="../media/image_c5e745d87a9ad957.png"/>
  <Relationship Id="rId6" Type="http://schemas.openxmlformats.org/officeDocument/2006/relationships/image" Target="../media/image_78f2e6480d1e3023.png"/>
  <Relationship Id="rId7"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84acf55fee415b5c.png"/>
  <Relationship Id="rId3" Type="http://schemas.openxmlformats.org/officeDocument/2006/relationships/image" Target="../media/image_1c451552fbfe67d9.png"/>
  <Relationship Id="rId4"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b1e780350ed0eaad.png"/>
  <Relationship Id="rId3" Type="http://schemas.openxmlformats.org/officeDocument/2006/relationships/image" Target="../media/image_69fcf2ee992bafb2.png"/>
  <Relationship Id="rId4" Type="http://schemas.openxmlformats.org/officeDocument/2006/relationships/image" Target="../media/image_e28b0ff14a185f63.png"/>
  <Relationship Id="rId5"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92308902074245d.png"/>
  <Relationship Id="rId3" Type="http://schemas.openxmlformats.org/officeDocument/2006/relationships/image" Target="../media/image_46bf7a9bd1419388.png"/>
  <Relationship Id="rId4"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0121af125dfc012e.jpg"/>
  <Relationship Id="rId3" Type="http://schemas.openxmlformats.org/officeDocument/2006/relationships/image" Target="../media/image_5f7913a723335f07.png"/>
  <Relationship Id="rId4"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88bf77d7982b67e.pn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b1e780350ed0eaad.png"/>
  <Relationship Id="rId3" Type="http://schemas.openxmlformats.org/officeDocument/2006/relationships/image" Target="../media/image_e00b7b2c610e9b75.png"/>
  <Relationship Id="rId4" Type="http://schemas.openxmlformats.org/officeDocument/2006/relationships/image" Target="../media/image_6091529b412fbc23.png"/>
  <Relationship Id="rId5"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6a28ca86ecb0cc6c.png"/>
  <Relationship Id="rId3" Type="http://schemas.openxmlformats.org/officeDocument/2006/relationships/image" Target="../media/image_d17c40805b714493.png"/>
  <Relationship Id="rId4"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693f99d0a2dcbbbe.png"/>
  <Relationship Id="rId3" Type="http://schemas.openxmlformats.org/officeDocument/2006/relationships/image" Target="../media/image_8f9c1eb2a12f0a7e.png"/>
  <Relationship Id="rId4" Type="http://schemas.openxmlformats.org/officeDocument/2006/relationships/image" Target="../media/image_6a28ca86ecb0cc6c.png"/>
  <Relationship Id="rId5" Type="http://schemas.openxmlformats.org/officeDocument/2006/relationships/image" Target="../media/image_d17c40805b714493.png"/>
  <Relationship Id="rId6" Type="http://schemas.openxmlformats.org/officeDocument/2006/relationships/image" Target="../media/image_4ac961790437c424.png"/>
  <Relationship Id="rId7" Type="http://schemas.openxmlformats.org/officeDocument/2006/relationships/image" Target="../media/image_b22b802ce8d057d2.png"/>
  <Relationship Id="rId8"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263dea3b2ebe5e2.png"/>
  <Relationship Id="rId3" Type="http://schemas.openxmlformats.org/officeDocument/2006/relationships/image" Target="../media/image_69fcf2ee992bafb2.png"/>
  <Relationship Id="rId4"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d4a3f21ad7243a2.png"/>
  <Relationship Id="rId3" Type="http://schemas.openxmlformats.org/officeDocument/2006/relationships/image" Target="../media/image_a01192ef17eb5125.png"/>
  <Relationship Id="rId4" Type="http://schemas.openxmlformats.org/officeDocument/2006/relationships/image" Target="../media/image_245011b50b7901c0.png"/>
  <Relationship Id="rId5" Type="http://schemas.openxmlformats.org/officeDocument/2006/relationships/image" Target="../media/image_413a307acebe816c.png"/>
  <Relationship Id="rId6"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46bf7a9bd1419388.png"/>
  <Relationship Id="rId3" Type="http://schemas.openxmlformats.org/officeDocument/2006/relationships/image" Target="../media/image_59fb82ed423bd67d.png"/>
  <Relationship Id="rId4" Type="http://schemas.openxmlformats.org/officeDocument/2006/relationships/image" Target="../media/image_6bbf7e2f07652bba.png"/>
  <Relationship Id="rId5" Type="http://schemas.openxmlformats.org/officeDocument/2006/relationships/image" Target="../media/image_05176f746534dc05.png"/>
  <Relationship Id="rId6"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be5ae854ebe3ef47.png"/>
  <Relationship Id="rId3" Type="http://schemas.openxmlformats.org/officeDocument/2006/relationships/image" Target="../media/image_1af9afa489018925.png"/>
  <Relationship Id="rId4" Type="http://schemas.openxmlformats.org/officeDocument/2006/relationships/image" Target="../media/image_92b165033252f6a5.png"/>
  <Relationship Id="rId5" Type="http://schemas.openxmlformats.org/officeDocument/2006/relationships/image" Target="../media/image_e4d65931295c1cec.png"/>
  <Relationship Id="rId6" Type="http://schemas.openxmlformats.org/officeDocument/2006/relationships/image" Target="../media/image_a88bf77d7982b67e.png"/>
  <Relationship Id="rId7"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4d2ec9471981cd43.png"/>
  <Relationship Id="rId3"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b1e780350ed0eaad.png"/>
  <Relationship Id="rId3" Type="http://schemas.openxmlformats.org/officeDocument/2006/relationships/notesSlide" Target="../notesSlides/notesSlide15.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93743b127c5141c.jpg"/>
  <Relationship Id="rId3" Type="http://schemas.openxmlformats.org/officeDocument/2006/relationships/image" Target="../media/image_3263dea3b2ebe5e2.png"/>
  <Relationship Id="rId4" Type="http://schemas.openxmlformats.org/officeDocument/2006/relationships/image" Target="../media/image_46d070970c22d594.png"/>
  <Relationship Id="rId5" Type="http://schemas.openxmlformats.org/officeDocument/2006/relationships/notesSlide" Target="../notesSlides/notesSlide16.xml"/>
</Relationships>
</file>

<file path=ppt/slides/slide1.xml><?xml version="1.0" encoding="utf-8"?>
<p:sld xmlns:a="http://schemas.openxmlformats.org/drawingml/2006/main" xmlns:p="http://schemas.openxmlformats.org/presentationml/2006/main" xmlns:p14="http://schemas.microsoft.com/office/powerpoint/2010/main" xmlns:r="http://schemas.openxmlformats.org/officeDocument/2006/relationships">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stretch>
            <a:fillRect/>
          </a:stretch>
        </p:blipFill>
        <p:spPr>
          <a:xfrm>
            <a:off x="0" y="25400"/>
            <a:ext cx="12192000" cy="6807200"/>
          </a:xfrm>
          <a:prstGeom prst="rect">
            <a:avLst/>
          </a:prstGeom>
        </p:spPr>
      </p:pic>
      <p:sp>
        <p:nvSpPr>
          <p:cNvPr id="3" name="Rectangle 3"/>
          <p:cNvSpPr/>
          <p:nvPr/>
        </p:nvSpPr>
        <p:spPr>
          <a:xfrm>
            <a:off x="0" y="0"/>
            <a:ext cx="12192000" cy="6858000"/>
          </a:xfrm>
          <a:prstGeom prst="rect">
            <a:avLst/>
          </a:prstGeom>
          <a:gradFill>
            <a:gsLst>
              <a:gs pos="0">
                <a:srgbClr val="0C1026">
                  <a:alpha val="88000"/>
                </a:srgbClr>
              </a:gs>
              <a:gs pos="55000">
                <a:srgbClr val="0C1026">
                  <a:alpha val="30000"/>
                </a:srgbClr>
              </a:gs>
              <a:gs pos="100000">
                <a:srgbClr val="0C1026">
                  <a:alpha val="0"/>
                </a:srgbClr>
              </a:gs>
            </a:gsLst>
            <a:lin ang="0" scaled="1"/>
          </a:gradFill>
          <a:ln>
            <a:noFill/>
          </a:ln>
        </p:spPr>
      </p:sp>
      <p:pic>
        <p:nvPicPr>
          <p:cNvPr id="4" name="Image 4"/>
          <p:cNvPicPr>
            <a:picLocks noChangeAspect="1"/>
          </p:cNvPicPr>
          <p:nvPr/>
        </p:nvPicPr>
        <p:blipFill>
          <a:blip r:embed="rId3"/>
          <a:stretch>
            <a:fillRect/>
          </a:stretch>
        </p:blipFill>
        <p:spPr>
          <a:xfrm>
            <a:off x="10403681" y="247650"/>
            <a:ext cx="1423988" cy="1476375"/>
          </a:xfrm>
          <a:prstGeom prst="rect">
            <a:avLst/>
          </a:prstGeom>
        </p:spPr>
      </p:pic>
      <p:pic>
        <p:nvPicPr>
          <p:cNvPr id="5" name="Image 5"/>
          <p:cNvPicPr>
            <a:picLocks noChangeAspect="1"/>
          </p:cNvPicPr>
          <p:nvPr/>
        </p:nvPicPr>
        <p:blipFill>
          <a:blip r:embed="rId4"/>
          <a:stretch>
            <a:fillRect/>
          </a:stretch>
        </p:blipFill>
        <p:spPr>
          <a:xfrm>
            <a:off x="7962900" y="1866900"/>
            <a:ext cx="3619500" cy="1543050"/>
          </a:xfrm>
          <a:prstGeom prst="rect">
            <a:avLst/>
          </a:prstGeom>
        </p:spPr>
      </p:pic>
      <p:grpSp>
        <p:nvGrpSpPr>
          <p:cNvPr id="7" name="!!moon"/>
          <p:cNvGrpSpPr/>
          <p:nvPr/>
        </p:nvGrpSpPr>
        <p:grpSpPr>
          <a:xfrm>
            <a:off x="9753600" y="3848100"/>
            <a:ext cx="1428750" cy="1704975"/>
            <a:chOff x="9753600" y="3848100"/>
            <a:chExt cx="1428750" cy="1704975"/>
          </a:xfrm>
        </p:grpSpPr>
        <p:pic>
          <p:nvPicPr>
            <p:cNvPr id="6" name="Image 6"/>
            <p:cNvPicPr>
              <a:picLocks noChangeAspect="1"/>
            </p:cNvPicPr>
            <p:nvPr/>
          </p:nvPicPr>
          <p:blipFill>
            <a:blip r:embed="rId5"/>
            <a:stretch>
              <a:fillRect/>
            </a:stretch>
          </p:blipFill>
          <p:spPr>
            <a:xfrm>
              <a:off x="9753600" y="3848100"/>
              <a:ext cx="1428750" cy="1704975"/>
            </a:xfrm>
            <a:prstGeom prst="rect">
              <a:avLst/>
            </a:prstGeom>
            <a:effectLst>
              <a:outerShdw blurRad="171450" dist="57150" dir="5400000" algn="ctr" rotWithShape="0">
                <a:srgbClr val="05070F">
                  <a:alpha val="15000"/>
                </a:srgbClr>
              </a:outerShdw>
            </a:effectLst>
          </p:spPr>
        </p:pic>
      </p:grpSp>
      <p:grpSp>
        <p:nvGrpSpPr>
          <p:cNvPr id="9" name="Group 9"/>
          <p:cNvGrpSpPr/>
          <p:nvPr/>
        </p:nvGrpSpPr>
        <p:grpSpPr>
          <a:xfrm>
            <a:off x="857250" y="914400"/>
            <a:ext cx="2028825" cy="1428750"/>
            <a:chOff x="857250" y="914400"/>
            <a:chExt cx="2028825" cy="1428750"/>
          </a:xfrm>
        </p:grpSpPr>
        <p:pic>
          <p:nvPicPr>
            <p:cNvPr id="8" name="Image 8"/>
            <p:cNvPicPr>
              <a:picLocks noChangeAspect="1"/>
            </p:cNvPicPr>
            <p:nvPr/>
          </p:nvPicPr>
          <p:blipFill>
            <a:blip r:embed="rId6"/>
            <a:stretch>
              <a:fillRect/>
            </a:stretch>
          </p:blipFill>
          <p:spPr>
            <a:xfrm>
              <a:off x="857250" y="914400"/>
              <a:ext cx="2028825" cy="1428750"/>
            </a:xfrm>
            <a:prstGeom prst="rect">
              <a:avLst/>
            </a:prstGeom>
            <a:effectLst>
              <a:outerShdw blurRad="171450" dist="57150" dir="5400000" algn="ctr" rotWithShape="0">
                <a:srgbClr val="05070F">
                  <a:alpha val="15000"/>
                </a:srgbClr>
              </a:outerShdw>
            </a:effectLst>
          </p:spPr>
        </p:pic>
      </p:grpSp>
      <p:grpSp>
        <p:nvGrpSpPr>
          <p:cNvPr id="13" name="Group 13"/>
          <p:cNvGrpSpPr/>
          <p:nvPr/>
        </p:nvGrpSpPr>
        <p:grpSpPr>
          <a:xfrm>
            <a:off x="838200" y="2769870"/>
            <a:ext cx="7602855" cy="1890903"/>
            <a:chOff x="838200" y="2769870"/>
            <a:chExt cx="7602855" cy="1890903"/>
          </a:xfrm>
        </p:grpSpPr>
        <p:sp>
          <p:nvSpPr>
            <p:cNvPr id="10" name="TextBox 10"/>
            <p:cNvSpPr txBox="1"/>
            <p:nvPr/>
          </p:nvSpPr>
          <p:spPr>
            <a:xfrm>
              <a:off x="838200" y="2769870"/>
              <a:ext cx="6950964" cy="1047750"/>
            </a:xfrm>
            <a:prstGeom prst="rect">
              <a:avLst/>
            </a:prstGeom>
            <a:noFill/>
            <a:ln>
              <a:noFill/>
            </a:ln>
          </p:spPr>
          <p:txBody>
            <a:bodyPr wrap="none" lIns="0" tIns="0" rIns="0" bIns="0" anchor="t" anchorCtr="0">
              <a:spAutoFit/>
            </a:bodyPr>
            <a:lstStyle/>
            <a:p>
              <a:pPr algn="l"/>
              <a:r>
                <a:rPr lang="zh-CN" sz="5400" dirty="0">
                  <a:solidFill>
                    <a:schemeClr val="dk1"/>
                  </a:solidFill>
                  <a:latin typeface="+mj-lt"/>
                  <a:ea typeface="+mj-ea"/>
                  <a:cs typeface="+mj-cs"/>
                </a:rPr>
                <a:t>一枚月饼里的八百年</a:t>
              </a:r>
            </a:p>
          </p:txBody>
        </p:sp>
        <p:sp>
          <p:nvSpPr>
            <p:cNvPr id="11" name="TextBox 11"/>
            <p:cNvSpPr txBox="1"/>
            <p:nvPr/>
          </p:nvSpPr>
          <p:spPr>
            <a:xfrm>
              <a:off x="845820" y="3681412"/>
              <a:ext cx="7595235" cy="440055"/>
            </a:xfrm>
            <a:prstGeom prst="rect">
              <a:avLst/>
            </a:prstGeom>
            <a:noFill/>
            <a:ln>
              <a:noFill/>
            </a:ln>
          </p:spPr>
          <p:txBody>
            <a:bodyPr wrap="none" lIns="0" tIns="0" rIns="0" bIns="0" anchor="t" anchorCtr="0">
              <a:spAutoFit/>
            </a:bodyPr>
            <a:lstStyle/>
            <a:p>
              <a:pPr algn="l"/>
              <a:r>
                <a:rPr lang="zh-CN" sz="2250" dirty="0">
                  <a:solidFill>
                    <a:schemeClr val="accent1"/>
                  </a:solidFill>
                  <a:latin typeface="+mn-lt"/>
                  <a:ea typeface="+mn-ea"/>
                  <a:cs typeface="+mn-cs"/>
                </a:rPr>
                <a:t>南宋的一张菜单上，月饼还只是一味「四时皆有」的点心</a:t>
              </a:r>
            </a:p>
          </p:txBody>
        </p:sp>
        <p:sp>
          <p:nvSpPr>
            <p:cNvPr id="12" name="TextBox 12"/>
            <p:cNvSpPr txBox="1"/>
            <p:nvPr/>
          </p:nvSpPr>
          <p:spPr>
            <a:xfrm>
              <a:off x="846582" y="4250055"/>
              <a:ext cx="5392674" cy="410718"/>
            </a:xfrm>
            <a:prstGeom prst="rect">
              <a:avLst/>
            </a:prstGeom>
            <a:noFill/>
            <a:ln>
              <a:noFill/>
            </a:ln>
          </p:spPr>
          <p:txBody>
            <a:bodyPr wrap="none" lIns="0" tIns="0" rIns="0" bIns="0" anchor="t" anchorCtr="0">
              <a:spAutoFit/>
            </a:bodyPr>
            <a:lstStyle/>
            <a:p>
              <a:pPr algn="l"/>
              <a:r>
                <a:rPr lang="zh-CN" sz="2100" dirty="0">
                  <a:solidFill>
                    <a:schemeClr val="accent5"/>
                  </a:solidFill>
                  <a:latin typeface="+mn-lt"/>
                  <a:ea typeface="+mn-ea"/>
                  <a:cs typeface="+mn-cs"/>
                </a:rPr>
                <a:t>它和「团圆」发生关系，是三百年以后的事</a:t>
              </a:r>
            </a:p>
          </p:txBody>
        </p:sp>
      </p:grpSp>
      <p:grpSp>
        <p:nvGrpSpPr>
          <p:cNvPr id="15" name="Group 15"/>
          <p:cNvGrpSpPr/>
          <p:nvPr/>
        </p:nvGrpSpPr>
        <p:grpSpPr>
          <a:xfrm>
            <a:off x="851154" y="5109210"/>
            <a:ext cx="2193036" cy="234696"/>
            <a:chOff x="851154" y="5109210"/>
            <a:chExt cx="2193036" cy="234696"/>
          </a:xfrm>
        </p:grpSpPr>
        <p:sp>
          <p:nvSpPr>
            <p:cNvPr id="14" name="TextBox 14"/>
            <p:cNvSpPr txBox="1"/>
            <p:nvPr/>
          </p:nvSpPr>
          <p:spPr>
            <a:xfrm>
              <a:off x="851154" y="5109210"/>
              <a:ext cx="2193036" cy="234696"/>
            </a:xfrm>
            <a:prstGeom prst="rect">
              <a:avLst/>
            </a:prstGeom>
            <a:noFill/>
            <a:ln>
              <a:noFill/>
            </a:ln>
          </p:spPr>
          <p:txBody>
            <a:bodyPr wrap="none" lIns="0" tIns="0" rIns="0" bIns="0" anchor="t" anchorCtr="0">
              <a:spAutoFit/>
            </a:bodyPr>
            <a:lstStyle/>
            <a:p>
              <a:pPr algn="l"/>
              <a:r>
                <a:rPr lang="zh-CN" sz="1200" dirty="0">
                  <a:solidFill>
                    <a:schemeClr val="accent3"/>
                  </a:solidFill>
                  <a:latin typeface="+mn-lt"/>
                  <a:ea typeface="+mn-ea"/>
                  <a:cs typeface="+mn-cs"/>
                </a:rPr>
                <a:t>2026 年中秋 · 公历 9 月 25 日</a:t>
              </a:r>
            </a:p>
          </p:txBody>
        </p:sp>
      </p:grpSp>
    </p:spTree>
  </p:cSld>
  <p:clrMapOvr>
    <a:masterClrMapping/>
  </p:clrMapOvr>
  <p:transitio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900"/>
                                        <p:tgtEl>
                                          <p:spTgt spid="7"/>
                                        </p:tgtEl>
                                      </p:cBhvr>
                                    </p:animEffect>
                                  </p:childTnLst>
                                </p:cTn>
                              </p:par>
                            </p:childTnLst>
                          </p:cTn>
                        </p:par>
                        <p:par>
                          <p:cTn id="8" fill="hold">
                            <p:stCondLst>
                              <p:cond delay="900"/>
                            </p:stCondLst>
                            <p:childTnLst>
                              <p:par>
                                <p:cTn id="9" presetID="22" presetClass="entr" presetSubtype="4" fill="hold" grpId="0" nodeType="afterEffect">
                                  <p:stCondLst>
                                    <p:cond delay="120"/>
                                  </p:stCondLst>
                                  <p:childTnLst>
                                    <p:set>
                                      <p:cBhvr>
                                        <p:cTn id="10" dur="1" fill="hold">
                                          <p:stCondLst>
                                            <p:cond delay="0"/>
                                          </p:stCondLst>
                                        </p:cTn>
                                        <p:tgtEl>
                                          <p:spTgt spid="9"/>
                                        </p:tgtEl>
                                        <p:attrNameLst>
                                          <p:attrName>style.visibility</p:attrName>
                                        </p:attrNameLst>
                                      </p:cBhvr>
                                      <p:to>
                                        <p:strVal val="visible"/>
                                      </p:to>
                                    </p:set>
                                    <p:animEffect transition="in" filter="wipe(down)">
                                      <p:cBhvr>
                                        <p:cTn id="11" dur="500"/>
                                        <p:tgtEl>
                                          <p:spTgt spid="9"/>
                                        </p:tgtEl>
                                      </p:cBhvr>
                                    </p:animEffect>
                                  </p:childTnLst>
                                </p:cTn>
                              </p:par>
                            </p:childTnLst>
                          </p:cTn>
                        </p:par>
                        <p:par>
                          <p:cTn id="12" fill="hold">
                            <p:stCondLst>
                              <p:cond delay="1520"/>
                            </p:stCondLst>
                            <p:childTnLst>
                              <p:par>
                                <p:cTn id="13" presetID="22" presetClass="entr" presetSubtype="2" fill="hold" grpId="0" nodeType="afterEffect">
                                  <p:stCondLst>
                                    <p:cond delay="150"/>
                                  </p:stCondLst>
                                  <p:childTnLst>
                                    <p:set>
                                      <p:cBhvr>
                                        <p:cTn id="14" dur="1" fill="hold">
                                          <p:stCondLst>
                                            <p:cond delay="0"/>
                                          </p:stCondLst>
                                        </p:cTn>
                                        <p:tgtEl>
                                          <p:spTgt spid="13"/>
                                        </p:tgtEl>
                                        <p:attrNameLst>
                                          <p:attrName>style.visibility</p:attrName>
                                        </p:attrNameLst>
                                      </p:cBhvr>
                                      <p:to>
                                        <p:strVal val="visible"/>
                                      </p:to>
                                    </p:set>
                                    <p:animEffect transition="in" filter="wipe(right)">
                                      <p:cBhvr>
                                        <p:cTn id="15" dur="550"/>
                                        <p:tgtEl>
                                          <p:spTgt spid="13"/>
                                        </p:tgtEl>
                                      </p:cBhvr>
                                    </p:animEffect>
                                  </p:childTnLst>
                                </p:cTn>
                              </p:par>
                            </p:childTnLst>
                          </p:cTn>
                        </p:par>
                        <p:par>
                          <p:cTn id="16" fill="hold">
                            <p:stCondLst>
                              <p:cond delay="2220"/>
                            </p:stCondLst>
                            <p:childTnLst>
                              <p:par>
                                <p:cTn id="17" presetID="10" presetClass="entr" presetSubtype="0" fill="hold" grpId="0" nodeType="afterEffect">
                                  <p:stCondLst>
                                    <p:cond delay="12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mc="http://schemas.openxmlformats.org/markup-compatibility/2006" xmlns:p="http://schemas.openxmlformats.org/presentationml/2006/main" xmlns:p14="http://schemas.microsoft.com/office/powerpoint/2010/main" xmlns:p159="http://schemas.microsoft.com/office/powerpoint/2015/09/main" xmlns:r="http://schemas.openxmlformats.org/officeDocument/2006/relationships">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stretch>
            <a:fillRect/>
          </a:stretch>
        </p:blipFill>
        <p:spPr>
          <a:xfrm>
            <a:off x="6572250" y="3162300"/>
            <a:ext cx="4953000" cy="1524000"/>
          </a:xfrm>
          <a:prstGeom prst="rect">
            <a:avLst/>
          </a:prstGeom>
        </p:spPr>
      </p:pic>
      <p:grpSp>
        <p:nvGrpSpPr>
          <p:cNvPr id="5" name="Group 5"/>
          <p:cNvGrpSpPr/>
          <p:nvPr/>
        </p:nvGrpSpPr>
        <p:grpSpPr>
          <a:xfrm>
            <a:off x="669798" y="783908"/>
            <a:ext cx="4064508" cy="924115"/>
            <a:chOff x="669798" y="783908"/>
            <a:chExt cx="4064508" cy="924115"/>
          </a:xfrm>
        </p:grpSpPr>
        <p:sp>
          <p:nvSpPr>
            <p:cNvPr id="3" name="TextBox 3"/>
            <p:cNvSpPr txBox="1"/>
            <p:nvPr/>
          </p:nvSpPr>
          <p:spPr>
            <a:xfrm>
              <a:off x="669798" y="783908"/>
              <a:ext cx="4064508" cy="616077"/>
            </a:xfrm>
            <a:prstGeom prst="rect">
              <a:avLst/>
            </a:prstGeom>
            <a:noFill/>
            <a:ln>
              <a:noFill/>
            </a:ln>
          </p:spPr>
          <p:txBody>
            <a:bodyPr wrap="none" lIns="0" tIns="0" rIns="0" bIns="0" anchor="t" anchorCtr="0">
              <a:spAutoFit/>
            </a:bodyPr>
            <a:lstStyle/>
            <a:p>
              <a:pPr algn="l"/>
              <a:r>
                <a:rPr lang="zh-CN" sz="3150" dirty="0">
                  <a:solidFill>
                    <a:schemeClr val="dk1"/>
                  </a:solidFill>
                  <a:latin typeface="+mj-lt"/>
                  <a:ea typeface="+mj-ea"/>
                  <a:cs typeface="+mj-cs"/>
                </a:rPr>
                <a:t>三秋恰半，蟾兔正圆</a:t>
              </a:r>
            </a:p>
          </p:txBody>
        </p:sp>
        <p:sp>
          <p:nvSpPr>
            <p:cNvPr id="4" name="TextBox 4"/>
            <p:cNvSpPr txBox="1"/>
            <p:nvPr/>
          </p:nvSpPr>
          <p:spPr>
            <a:xfrm>
              <a:off x="675132" y="1297305"/>
              <a:ext cx="3413760" cy="410718"/>
            </a:xfrm>
            <a:prstGeom prst="rect">
              <a:avLst/>
            </a:prstGeom>
            <a:noFill/>
            <a:ln>
              <a:noFill/>
            </a:ln>
          </p:spPr>
          <p:txBody>
            <a:bodyPr wrap="none" lIns="0" tIns="0" rIns="0" bIns="0" anchor="t" anchorCtr="0">
              <a:spAutoFit/>
            </a:bodyPr>
            <a:lstStyle/>
            <a:p>
              <a:pPr algn="l"/>
              <a:r>
                <a:rPr lang="zh-CN" sz="2100" dirty="0">
                  <a:solidFill>
                    <a:schemeClr val="accent5"/>
                  </a:solidFill>
                  <a:latin typeface="+mn-lt"/>
                  <a:ea typeface="+mn-ea"/>
                  <a:cs typeface="+mn-cs"/>
                </a:rPr>
                <a:t>八月十五不是随意挑的日子</a:t>
              </a:r>
            </a:p>
          </p:txBody>
        </p:sp>
      </p:grpSp>
      <p:grpSp>
        <p:nvGrpSpPr>
          <p:cNvPr id="12" name="Group 12"/>
          <p:cNvGrpSpPr/>
          <p:nvPr/>
        </p:nvGrpSpPr>
        <p:grpSpPr>
          <a:xfrm>
            <a:off x="685800" y="1866900"/>
            <a:ext cx="5257800" cy="3276600"/>
            <a:chOff x="685800" y="1866900"/>
            <a:chExt cx="5257800" cy="3276600"/>
          </a:xfrm>
        </p:grpSpPr>
        <p:sp>
          <p:nvSpPr>
            <p:cNvPr id="6" name="Freeform 6"/>
            <p:cNvSpPr/>
            <p:nvPr/>
          </p:nvSpPr>
          <p:spPr>
            <a:xfrm>
              <a:off x="685800" y="1866900"/>
              <a:ext cx="5257800" cy="3276600"/>
            </a:xfrm>
            <a:prstGeom prst="snip2DiagRect">
              <a:avLst/>
            </a:prstGeom>
            <a:solidFill>
              <a:schemeClr val="lt2"/>
            </a:solidFill>
            <a:ln>
              <a:noFill/>
            </a:ln>
            <a:effectLst>
              <a:outerShdw blurRad="171450" dist="57150" dir="5400000" algn="ctr" rotWithShape="0">
                <a:srgbClr val="05070F">
                  <a:alpha val="15000"/>
                </a:srgbClr>
              </a:outerShdw>
            </a:effectLst>
          </p:spPr>
        </p:sp>
        <p:sp>
          <p:nvSpPr>
            <p:cNvPr id="7" name="TextBox 7"/>
            <p:cNvSpPr txBox="1"/>
            <p:nvPr/>
          </p:nvSpPr>
          <p:spPr>
            <a:xfrm>
              <a:off x="983742" y="2102168"/>
              <a:ext cx="1831086" cy="264033"/>
            </a:xfrm>
            <a:prstGeom prst="rect">
              <a:avLst/>
            </a:prstGeom>
            <a:noFill/>
            <a:ln>
              <a:noFill/>
            </a:ln>
          </p:spPr>
          <p:txBody>
            <a:bodyPr wrap="none" lIns="0" tIns="0" rIns="0" bIns="0" anchor="t" anchorCtr="0">
              <a:spAutoFit/>
            </a:bodyPr>
            <a:lstStyle/>
            <a:p>
              <a:pPr algn="l"/>
              <a:r>
                <a:rPr lang="zh-CN" sz="1350" dirty="0">
                  <a:solidFill>
                    <a:schemeClr val="accent3"/>
                  </a:solidFill>
                  <a:latin typeface="+mn-lt"/>
                  <a:ea typeface="+mn-ea"/>
                  <a:cs typeface="+mn-cs"/>
                </a:rPr>
                <a:t>古人自己给过两条理由</a:t>
              </a:r>
            </a:p>
          </p:txBody>
        </p:sp>
        <p:sp>
          <p:nvSpPr>
            <p:cNvPr id="8" name="TextBox 8"/>
            <p:cNvSpPr txBox="1"/>
            <p:nvPr/>
          </p:nvSpPr>
          <p:spPr>
            <a:xfrm>
              <a:off x="981456" y="2472690"/>
              <a:ext cx="1037833"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一 · 时序</a:t>
              </a:r>
            </a:p>
          </p:txBody>
        </p:sp>
        <p:sp>
          <p:nvSpPr>
            <p:cNvPr id="9" name="TextBox 9"/>
            <p:cNvSpPr txBox="1"/>
            <p:nvPr/>
          </p:nvSpPr>
          <p:spPr>
            <a:xfrm>
              <a:off x="981456" y="2834640"/>
              <a:ext cx="3218688" cy="1075944"/>
            </a:xfrm>
            <a:prstGeom prst="rect">
              <a:avLst/>
            </a:prstGeom>
            <a:noFill/>
            <a:ln>
              <a:noFill/>
            </a:ln>
          </p:spPr>
          <p:txBody>
            <a:bodyPr wrap="none" lIns="0" tIns="0" rIns="0" bIns="0" anchor="t" anchorCtr="0">
              <a:spAutoFit/>
            </a:bodyPr>
            <a:lstStyle/>
            <a:p>
              <a:pPr algn="l">
                <a:lnSpc>
                  <a:spcPts val="2850"/>
                </a:lnSpc>
              </a:pPr>
              <a:r>
                <a:rPr lang="zh-CN" sz="1800" dirty="0">
                  <a:solidFill>
                    <a:schemeClr val="dk1"/>
                  </a:solidFill>
                  <a:latin typeface="+mn-lt"/>
                  <a:ea typeface="+mn-ea"/>
                  <a:cs typeface="+mn-cs"/>
                </a:rPr>
                <a:t>《梦粱录》：「此日三秋恰半，</a:t>
              </a:r>
              <a:br/>
              <a:r>
                <a:rPr lang="zh-CN" sz="1800" dirty="0">
                  <a:solidFill>
                    <a:schemeClr val="dk1"/>
                  </a:solidFill>
                  <a:latin typeface="+mn-lt"/>
                  <a:ea typeface="+mn-ea"/>
                  <a:cs typeface="+mn-cs"/>
                </a:rPr>
                <a:t>故谓之『中秋』」；月色倍明于</a:t>
              </a:r>
              <a:br/>
              <a:r>
                <a:rPr lang="zh-CN" sz="1800" dirty="0">
                  <a:solidFill>
                    <a:schemeClr val="dk1"/>
                  </a:solidFill>
                  <a:latin typeface="+mn-lt"/>
                  <a:ea typeface="+mn-ea"/>
                  <a:cs typeface="+mn-cs"/>
                </a:rPr>
                <a:t>常时，又谓之「月夕」。</a:t>
              </a:r>
            </a:p>
          </p:txBody>
        </p:sp>
        <p:sp>
          <p:nvSpPr>
            <p:cNvPr id="10" name="TextBox 10"/>
            <p:cNvSpPr txBox="1"/>
            <p:nvPr/>
          </p:nvSpPr>
          <p:spPr>
            <a:xfrm>
              <a:off x="981456" y="3977640"/>
              <a:ext cx="1037833"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二 · 天象</a:t>
              </a:r>
            </a:p>
          </p:txBody>
        </p:sp>
        <p:sp>
          <p:nvSpPr>
            <p:cNvPr id="11" name="TextBox 11"/>
            <p:cNvSpPr txBox="1"/>
            <p:nvPr/>
          </p:nvSpPr>
          <p:spPr>
            <a:xfrm>
              <a:off x="981456" y="4339590"/>
              <a:ext cx="3447288" cy="713994"/>
            </a:xfrm>
            <a:prstGeom prst="rect">
              <a:avLst/>
            </a:prstGeom>
            <a:noFill/>
            <a:ln>
              <a:noFill/>
            </a:ln>
          </p:spPr>
          <p:txBody>
            <a:bodyPr wrap="none" lIns="0" tIns="0" rIns="0" bIns="0" anchor="t" anchorCtr="0">
              <a:spAutoFit/>
            </a:bodyPr>
            <a:lstStyle/>
            <a:p>
              <a:pPr algn="l">
                <a:lnSpc>
                  <a:spcPts val="2850"/>
                </a:lnSpc>
              </a:pPr>
              <a:r>
                <a:rPr lang="zh-CN" sz="1800" dirty="0">
                  <a:solidFill>
                    <a:schemeClr val="dk1"/>
                  </a:solidFill>
                  <a:latin typeface="+mn-lt"/>
                  <a:ea typeface="+mn-ea"/>
                  <a:cs typeface="+mn-cs"/>
                </a:rPr>
                <a:t>此夜月亮</a:t>
              </a:r>
              <a:r>
                <a:rPr lang="zh-CN" sz="1800" b="1" dirty="0">
                  <a:solidFill>
                    <a:schemeClr val="accent1"/>
                  </a:solidFill>
                  <a:latin typeface="+mn-lt"/>
                  <a:ea typeface="+mn-ea"/>
                  <a:cs typeface="+mn-cs"/>
                </a:rPr>
                <a:t>最大、最圆、最亮</a:t>
              </a:r>
              <a:r>
                <a:rPr lang="zh-CN" sz="1800" dirty="0">
                  <a:solidFill>
                    <a:schemeClr val="dk1"/>
                  </a:solidFill>
                  <a:latin typeface="+mn-lt"/>
                  <a:ea typeface="+mn-ea"/>
                  <a:cs typeface="+mn-cs"/>
                </a:rPr>
                <a:t>；</a:t>
              </a:r>
              <a:br/>
              <a:r>
                <a:rPr lang="zh-CN" sz="1800" dirty="0">
                  <a:solidFill>
                    <a:schemeClr val="dk1"/>
                  </a:solidFill>
                  <a:latin typeface="+mn-lt"/>
                  <a:ea typeface="+mn-ea"/>
                  <a:cs typeface="+mn-cs"/>
                </a:rPr>
                <a:t>别称还有秋节、仲秋节、八月节。</a:t>
              </a:r>
            </a:p>
          </p:txBody>
        </p:sp>
      </p:grpSp>
      <p:grpSp>
        <p:nvGrpSpPr>
          <p:cNvPr id="16" name="!!moon"/>
          <p:cNvGrpSpPr/>
          <p:nvPr/>
        </p:nvGrpSpPr>
        <p:grpSpPr>
          <a:xfrm>
            <a:off x="7543800" y="1409700"/>
            <a:ext cx="2895600" cy="2895600"/>
            <a:chOff x="7543800" y="1409700"/>
            <a:chExt cx="2895600" cy="2895600"/>
          </a:xfrm>
        </p:grpSpPr>
        <p:sp>
          <p:nvSpPr>
            <p:cNvPr id="13" name="Ellipse 13"/>
            <p:cNvSpPr/>
            <p:nvPr/>
          </p:nvSpPr>
          <p:spPr>
            <a:xfrm>
              <a:off x="7543800" y="1409700"/>
              <a:ext cx="2895600" cy="2895600"/>
            </a:xfrm>
            <a:prstGeom prst="ellipse">
              <a:avLst/>
            </a:prstGeom>
            <a:gradFill>
              <a:gsLst>
                <a:gs pos="0">
                  <a:schemeClr val="accent1">
                    <a:alpha val="22000"/>
                  </a:schemeClr>
                </a:gs>
                <a:gs pos="100000">
                  <a:schemeClr val="accent1">
                    <a:alpha val="0"/>
                  </a:schemeClr>
                </a:gs>
              </a:gsLst>
              <a:path path="circle">
                <a:fillToRect l="50000" t="45000" r="50000" b="55000"/>
              </a:path>
            </a:gradFill>
            <a:ln>
              <a:noFill/>
            </a:ln>
          </p:spPr>
        </p:sp>
        <p:sp>
          <p:nvSpPr>
            <p:cNvPr id="14" name="Ellipse 14"/>
            <p:cNvSpPr/>
            <p:nvPr/>
          </p:nvSpPr>
          <p:spPr>
            <a:xfrm>
              <a:off x="7829550" y="1695450"/>
              <a:ext cx="2324100" cy="2324100"/>
            </a:xfrm>
            <a:prstGeom prst="ellipse">
              <a:avLst/>
            </a:prstGeom>
            <a:solidFill>
              <a:schemeClr val="lt2"/>
            </a:solidFill>
            <a:ln>
              <a:noFill/>
            </a:ln>
            <a:effectLst>
              <a:outerShdw blurRad="171450" dist="57150" dir="5400000" algn="ctr" rotWithShape="0">
                <a:srgbClr val="05070F">
                  <a:alpha val="15000"/>
                </a:srgbClr>
              </a:outerShdw>
            </a:effectLst>
          </p:spPr>
        </p:sp>
        <p:pic>
          <p:nvPicPr>
            <p:cNvPr id="15" name="Image 15"/>
            <p:cNvPicPr>
              <a:picLocks noChangeAspect="1"/>
            </p:cNvPicPr>
            <p:nvPr/>
          </p:nvPicPr>
          <p:blipFill>
            <a:blip r:embed="rId3"/>
            <a:stretch>
              <a:fillRect/>
            </a:stretch>
          </p:blipFill>
          <p:spPr>
            <a:xfrm>
              <a:off x="8458200" y="1809750"/>
              <a:ext cx="1066800" cy="2095500"/>
            </a:xfrm>
            <a:prstGeom prst="rect">
              <a:avLst/>
            </a:prstGeom>
          </p:spPr>
        </p:pic>
      </p:grpSp>
      <p:grpSp>
        <p:nvGrpSpPr>
          <p:cNvPr id="19" name="Group 19"/>
          <p:cNvGrpSpPr/>
          <p:nvPr/>
        </p:nvGrpSpPr>
        <p:grpSpPr>
          <a:xfrm>
            <a:off x="6654546" y="4792028"/>
            <a:ext cx="3588258" cy="1231773"/>
            <a:chOff x="6654546" y="4792028"/>
            <a:chExt cx="3588258" cy="1231773"/>
          </a:xfrm>
        </p:grpSpPr>
        <p:sp>
          <p:nvSpPr>
            <p:cNvPr id="17" name="TextBox 17"/>
            <p:cNvSpPr txBox="1"/>
            <p:nvPr/>
          </p:nvSpPr>
          <p:spPr>
            <a:xfrm>
              <a:off x="6654546" y="4792028"/>
              <a:ext cx="3588258" cy="936879"/>
            </a:xfrm>
            <a:prstGeom prst="rect">
              <a:avLst/>
            </a:prstGeom>
            <a:noFill/>
            <a:ln>
              <a:noFill/>
            </a:ln>
          </p:spPr>
          <p:txBody>
            <a:bodyPr wrap="none" lIns="0" tIns="0" rIns="0" bIns="0" anchor="t" anchorCtr="0">
              <a:spAutoFit/>
            </a:bodyPr>
            <a:lstStyle/>
            <a:p>
              <a:pPr algn="l">
                <a:lnSpc>
                  <a:spcPts val="3450"/>
                </a:lnSpc>
              </a:pPr>
              <a:r>
                <a:rPr lang="zh-CN" sz="2550" dirty="0">
                  <a:solidFill>
                    <a:schemeClr val="dk1"/>
                  </a:solidFill>
                  <a:latin typeface="+mj-lt"/>
                  <a:ea typeface="+mj-ea"/>
                  <a:cs typeface="+mj-cs"/>
                </a:rPr>
                <a:t>「稽于天道，则寒暑均；</a:t>
              </a:r>
              <a:br/>
              <a:r>
                <a:rPr lang="zh-CN" sz="2550" dirty="0">
                  <a:solidFill>
                    <a:schemeClr val="dk1"/>
                  </a:solidFill>
                  <a:latin typeface="+mj-lt"/>
                  <a:ea typeface="+mj-ea"/>
                  <a:cs typeface="+mj-cs"/>
                </a:rPr>
                <a:t>取于月数，则蟾兔圆。」</a:t>
              </a:r>
            </a:p>
          </p:txBody>
        </p:sp>
        <p:sp>
          <p:nvSpPr>
            <p:cNvPr id="18" name="TextBox 18"/>
            <p:cNvSpPr txBox="1"/>
            <p:nvPr/>
          </p:nvSpPr>
          <p:spPr>
            <a:xfrm>
              <a:off x="6660642" y="5759768"/>
              <a:ext cx="2040084" cy="264033"/>
            </a:xfrm>
            <a:prstGeom prst="rect">
              <a:avLst/>
            </a:prstGeom>
            <a:noFill/>
            <a:ln>
              <a:noFill/>
            </a:ln>
          </p:spPr>
          <p:txBody>
            <a:bodyPr wrap="none" lIns="0" tIns="0" rIns="0" bIns="0" anchor="t" anchorCtr="0">
              <a:spAutoFit/>
            </a:bodyPr>
            <a:lstStyle/>
            <a:p>
              <a:pPr algn="l"/>
              <a:r>
                <a:rPr lang="zh-CN" sz="1350" dirty="0">
                  <a:solidFill>
                    <a:schemeClr val="accent3"/>
                  </a:solidFill>
                  <a:latin typeface="+mn-lt"/>
                  <a:ea typeface="+mn-ea"/>
                  <a:cs typeface="+mn-cs"/>
                </a:rPr>
                <a:t>唐 · 欧阳詹《玩月》诗序</a:t>
              </a:r>
            </a:p>
          </p:txBody>
        </p:sp>
      </p:grpSp>
      <p:grpSp>
        <p:nvGrpSpPr>
          <p:cNvPr id="21" name="Group 21"/>
          <p:cNvGrpSpPr/>
          <p:nvPr/>
        </p:nvGrpSpPr>
        <p:grpSpPr>
          <a:xfrm>
            <a:off x="679704" y="5585460"/>
            <a:ext cx="4438498" cy="234696"/>
            <a:chOff x="679704" y="5585460"/>
            <a:chExt cx="4438498" cy="234696"/>
          </a:xfrm>
        </p:grpSpPr>
        <p:sp>
          <p:nvSpPr>
            <p:cNvPr id="20" name="TextBox 20"/>
            <p:cNvSpPr txBox="1"/>
            <p:nvPr/>
          </p:nvSpPr>
          <p:spPr>
            <a:xfrm>
              <a:off x="679704" y="5585460"/>
              <a:ext cx="4438498" cy="234696"/>
            </a:xfrm>
            <a:prstGeom prst="rect">
              <a:avLst/>
            </a:prstGeom>
            <a:noFill/>
            <a:ln>
              <a:noFill/>
            </a:ln>
          </p:spPr>
          <p:txBody>
            <a:bodyPr wrap="none" lIns="0" tIns="0" rIns="0" bIns="0" anchor="t" anchorCtr="0">
              <a:spAutoFit/>
            </a:bodyPr>
            <a:lstStyle/>
            <a:p>
              <a:pPr algn="l"/>
              <a:r>
                <a:rPr lang="zh-CN" sz="1200" dirty="0">
                  <a:solidFill>
                    <a:schemeClr val="accent3"/>
                  </a:solidFill>
                  <a:latin typeface="+mn-lt"/>
                  <a:ea typeface="+mn-ea"/>
                  <a:cs typeface="+mn-cs"/>
                </a:rPr>
                <a:t>2026 年中秋落在公历 9 月 25 日（国办发明电〔2025〕7 号）</a:t>
              </a:r>
            </a:p>
          </p:txBody>
        </p:sp>
      </p:grpSp>
    </p:spTree>
  </p:cSld>
  <p:clrMapOvr>
    <a:masterClrMapping/>
  </p:clrMapOvr>
  <mc:AlternateContent>
    <mc:Choice Requires="p159">
      <p:transition p14:dur="90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after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right)">
                                      <p:cBhvr>
                                        <p:cTn id="7" dur="600"/>
                                        <p:tgtEl>
                                          <p:spTgt spid="12"/>
                                        </p:tgtEl>
                                      </p:cBhvr>
                                    </p:animEffect>
                                  </p:childTnLst>
                                </p:cTn>
                              </p:par>
                            </p:childTnLst>
                          </p:cTn>
                        </p:par>
                        <p:par>
                          <p:cTn id="8" fill="hold">
                            <p:stCondLst>
                              <p:cond delay="600"/>
                            </p:stCondLst>
                            <p:childTnLst>
                              <p:par>
                                <p:cTn id="9" presetID="10" presetClass="entr" presetSubtype="0" fill="hold" grpId="0" nodeType="afterEffect">
                                  <p:stCondLst>
                                    <p:cond delay="200"/>
                                  </p:stCondLst>
                                  <p:childTnLst>
                                    <p:set>
                                      <p:cBhvr>
                                        <p:cTn id="10" dur="1" fill="hold">
                                          <p:stCondLst>
                                            <p:cond delay="0"/>
                                          </p:stCondLst>
                                        </p:cTn>
                                        <p:tgtEl>
                                          <p:spTgt spid="19"/>
                                        </p:tgtEl>
                                        <p:attrNameLst>
                                          <p:attrName>style.visibility</p:attrName>
                                        </p:attrNameLst>
                                      </p:cBhvr>
                                      <p:to>
                                        <p:strVal val="visible"/>
                                      </p:to>
                                    </p:set>
                                    <p:animEffect transition="in" filter="fade">
                                      <p:cBhvr>
                                        <p:cTn id="11" dur="600"/>
                                        <p:tgtEl>
                                          <p:spTgt spid="19"/>
                                        </p:tgtEl>
                                      </p:cBhvr>
                                    </p:animEffect>
                                  </p:childTnLst>
                                </p:cTn>
                              </p:par>
                            </p:childTnLst>
                          </p:cTn>
                        </p:par>
                        <p:par>
                          <p:cTn id="12" fill="hold">
                            <p:stCondLst>
                              <p:cond delay="1400"/>
                            </p:stCondLst>
                            <p:childTnLst>
                              <p:par>
                                <p:cTn id="13" presetID="10" presetClass="entr" presetSubtype="0" fill="hold" grpId="0" nodeType="afterEffect">
                                  <p:stCondLst>
                                    <p:cond delay="12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mc="http://schemas.openxmlformats.org/markup-compatibility/2006" xmlns:p="http://schemas.openxmlformats.org/presentationml/2006/main" xmlns:p14="http://schemas.microsoft.com/office/powerpoint/2010/main" xmlns:p159="http://schemas.microsoft.com/office/powerpoint/2015/09/main" xmlns:r="http://schemas.openxmlformats.org/officeDocument/2006/relationships">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gradFill>
            <a:gsLst>
              <a:gs pos="0">
                <a:schemeClr val="lt2">
                  <a:alpha val="85000"/>
                </a:schemeClr>
              </a:gs>
              <a:gs pos="100000">
                <a:schemeClr val="lt1">
                  <a:alpha val="0"/>
                </a:schemeClr>
              </a:gs>
            </a:gsLst>
            <a:lin ang="4242597" scaled="1"/>
          </a:gradFill>
          <a:ln>
            <a:noFill/>
          </a:ln>
        </p:spPr>
      </p:sp>
      <p:grpSp>
        <p:nvGrpSpPr>
          <p:cNvPr id="4" name="!!moon"/>
          <p:cNvGrpSpPr/>
          <p:nvPr/>
        </p:nvGrpSpPr>
        <p:grpSpPr>
          <a:xfrm>
            <a:off x="8991600" y="1333500"/>
            <a:ext cx="1905000" cy="1914525"/>
            <a:chOff x="8991600" y="1333500"/>
            <a:chExt cx="1905000" cy="1914525"/>
          </a:xfrm>
        </p:grpSpPr>
        <p:pic>
          <p:nvPicPr>
            <p:cNvPr id="3" name="Image 3"/>
            <p:cNvPicPr>
              <a:picLocks noChangeAspect="1"/>
            </p:cNvPicPr>
            <p:nvPr/>
          </p:nvPicPr>
          <p:blipFill>
            <a:blip r:embed="rId2"/>
            <a:stretch>
              <a:fillRect/>
            </a:stretch>
          </p:blipFill>
          <p:spPr>
            <a:xfrm>
              <a:off x="8991600" y="1333500"/>
              <a:ext cx="1905000" cy="1914525"/>
            </a:xfrm>
            <a:prstGeom prst="rect">
              <a:avLst/>
            </a:prstGeom>
            <a:effectLst>
              <a:outerShdw blurRad="171450" dist="57150" dir="5400000" algn="ctr" rotWithShape="0">
                <a:srgbClr val="05070F">
                  <a:alpha val="15000"/>
                </a:srgbClr>
              </a:outerShdw>
            </a:effectLst>
          </p:spPr>
        </p:pic>
      </p:grpSp>
      <p:pic>
        <p:nvPicPr>
          <p:cNvPr id="5" name="Image 5"/>
          <p:cNvPicPr>
            <a:picLocks noChangeAspect="1"/>
          </p:cNvPicPr>
          <p:nvPr/>
        </p:nvPicPr>
        <p:blipFill>
          <a:blip r:embed="rId3"/>
          <a:stretch>
            <a:fillRect/>
          </a:stretch>
        </p:blipFill>
        <p:spPr>
          <a:xfrm>
            <a:off x="7206684" y="2819400"/>
            <a:ext cx="3988931" cy="1695450"/>
          </a:xfrm>
          <a:prstGeom prst="rect">
            <a:avLst/>
          </a:prstGeom>
        </p:spPr>
      </p:pic>
      <p:grpSp>
        <p:nvGrpSpPr>
          <p:cNvPr id="7" name="Group 7"/>
          <p:cNvGrpSpPr/>
          <p:nvPr/>
        </p:nvGrpSpPr>
        <p:grpSpPr>
          <a:xfrm>
            <a:off x="1333500" y="2002631"/>
            <a:ext cx="2590800" cy="1900238"/>
            <a:chOff x="1333500" y="2002631"/>
            <a:chExt cx="2590800" cy="1900238"/>
          </a:xfrm>
        </p:grpSpPr>
        <p:pic>
          <p:nvPicPr>
            <p:cNvPr id="6" name="Image 6"/>
            <p:cNvPicPr>
              <a:picLocks noChangeAspect="1"/>
            </p:cNvPicPr>
            <p:nvPr/>
          </p:nvPicPr>
          <p:blipFill>
            <a:blip r:embed="rId4"/>
            <a:stretch>
              <a:fillRect/>
            </a:stretch>
          </p:blipFill>
          <p:spPr>
            <a:xfrm>
              <a:off x="1333500" y="2002631"/>
              <a:ext cx="2590800" cy="1900238"/>
            </a:xfrm>
            <a:prstGeom prst="rect">
              <a:avLst/>
            </a:prstGeom>
            <a:effectLst>
              <a:outerShdw blurRad="171450" dist="57150" dir="5400000" algn="ctr" rotWithShape="0">
                <a:srgbClr val="05070F">
                  <a:alpha val="15000"/>
                </a:srgbClr>
              </a:outerShdw>
            </a:effectLst>
          </p:spPr>
        </p:pic>
      </p:grpSp>
      <p:grpSp>
        <p:nvGrpSpPr>
          <p:cNvPr id="10" name="Group 10"/>
          <p:cNvGrpSpPr/>
          <p:nvPr/>
        </p:nvGrpSpPr>
        <p:grpSpPr>
          <a:xfrm>
            <a:off x="1314450" y="4341495"/>
            <a:ext cx="7887614" cy="1138428"/>
            <a:chOff x="1314450" y="4341495"/>
            <a:chExt cx="7887614" cy="1138428"/>
          </a:xfrm>
        </p:grpSpPr>
        <p:sp>
          <p:nvSpPr>
            <p:cNvPr id="8" name="TextBox 8"/>
            <p:cNvSpPr txBox="1"/>
            <p:nvPr/>
          </p:nvSpPr>
          <p:spPr>
            <a:xfrm>
              <a:off x="1314450" y="4341495"/>
              <a:ext cx="7887614" cy="762000"/>
            </a:xfrm>
            <a:prstGeom prst="rect">
              <a:avLst/>
            </a:prstGeom>
            <a:noFill/>
            <a:ln>
              <a:noFill/>
            </a:ln>
          </p:spPr>
          <p:txBody>
            <a:bodyPr wrap="none" lIns="0" tIns="0" rIns="0" bIns="0" anchor="t" anchorCtr="0">
              <a:spAutoFit/>
            </a:bodyPr>
            <a:lstStyle/>
            <a:p>
              <a:pPr algn="l"/>
              <a:r>
                <a:rPr lang="zh-CN" sz="3900" dirty="0">
                  <a:solidFill>
                    <a:schemeClr val="accent1"/>
                  </a:solidFill>
                  <a:latin typeface="+mj-lt"/>
                  <a:ea typeface="+mj-ea"/>
                  <a:cs typeface="+mj-cs"/>
                </a:rPr>
                <a:t>一 · 起：从一场祭仪到一个节日</a:t>
              </a:r>
            </a:p>
          </p:txBody>
        </p:sp>
        <p:sp>
          <p:nvSpPr>
            <p:cNvPr id="9" name="TextBox 9"/>
            <p:cNvSpPr txBox="1"/>
            <p:nvPr/>
          </p:nvSpPr>
          <p:spPr>
            <a:xfrm>
              <a:off x="1322832" y="5069205"/>
              <a:ext cx="4827270" cy="410718"/>
            </a:xfrm>
            <a:prstGeom prst="rect">
              <a:avLst/>
            </a:prstGeom>
            <a:noFill/>
            <a:ln>
              <a:noFill/>
            </a:ln>
          </p:spPr>
          <p:txBody>
            <a:bodyPr wrap="none" lIns="0" tIns="0" rIns="0" bIns="0" anchor="t" anchorCtr="0">
              <a:spAutoFit/>
            </a:bodyPr>
            <a:lstStyle/>
            <a:p>
              <a:pPr algn="l"/>
              <a:r>
                <a:rPr lang="zh-CN" sz="2100" dirty="0">
                  <a:solidFill>
                    <a:schemeClr val="accent5"/>
                  </a:solidFill>
                  <a:latin typeface="+mn-lt"/>
                  <a:ea typeface="+mn-ea"/>
                  <a:cs typeface="+mn-cs"/>
                </a:rPr>
                <a:t>它花了大约一千年，才从祭仪变成假日</a:t>
              </a:r>
            </a:p>
          </p:txBody>
        </p:sp>
      </p:grpSp>
    </p:spTree>
  </p:cSld>
  <p:clrMapOvr>
    <a:masterClrMapping/>
  </p:clrMapOvr>
  <mc:AlternateContent>
    <mc:Choice Requires="p159">
      <p:transition p14:dur="90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down)">
                                      <p:cBhvr>
                                        <p:cTn id="7" dur="500"/>
                                        <p:tgtEl>
                                          <p:spTgt spid="7"/>
                                        </p:tgtEl>
                                      </p:cBhvr>
                                    </p:animEffect>
                                  </p:childTnLst>
                                </p:cTn>
                              </p:par>
                            </p:childTnLst>
                          </p:cTn>
                        </p:par>
                        <p:par>
                          <p:cTn id="8" fill="hold">
                            <p:stCondLst>
                              <p:cond delay="500"/>
                            </p:stCondLst>
                            <p:childTnLst>
                              <p:par>
                                <p:cTn id="9" presetID="22" presetClass="entr" presetSubtype="2" fill="hold" grpId="0" nodeType="afterEffect">
                                  <p:stCondLst>
                                    <p:cond delay="100"/>
                                  </p:stCondLst>
                                  <p:childTnLst>
                                    <p:set>
                                      <p:cBhvr>
                                        <p:cTn id="10" dur="1" fill="hold">
                                          <p:stCondLst>
                                            <p:cond delay="0"/>
                                          </p:stCondLst>
                                        </p:cTn>
                                        <p:tgtEl>
                                          <p:spTgt spid="10"/>
                                        </p:tgtEl>
                                        <p:attrNameLst>
                                          <p:attrName>style.visibility</p:attrName>
                                        </p:attrNameLst>
                                      </p:cBhvr>
                                      <p:to>
                                        <p:strVal val="visible"/>
                                      </p:to>
                                    </p:set>
                                    <p:animEffect transition="in" filter="wipe(right)">
                                      <p:cBhvr>
                                        <p:cTn id="11"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stretch>
            <a:fillRect/>
          </a:stretch>
        </p:blipFill>
        <p:spPr>
          <a:xfrm>
            <a:off x="10401300" y="533400"/>
            <a:ext cx="1333500" cy="1381125"/>
          </a:xfrm>
          <a:prstGeom prst="rect">
            <a:avLst/>
          </a:prstGeom>
        </p:spPr>
      </p:pic>
      <p:pic>
        <p:nvPicPr>
          <p:cNvPr id="3" name="Image 3"/>
          <p:cNvPicPr>
            <a:picLocks noChangeAspect="1"/>
          </p:cNvPicPr>
          <p:nvPr/>
        </p:nvPicPr>
        <p:blipFill>
          <a:blip r:embed="rId3"/>
          <a:stretch>
            <a:fillRect/>
          </a:stretch>
        </p:blipFill>
        <p:spPr>
          <a:xfrm>
            <a:off x="8629650" y="3543300"/>
            <a:ext cx="2476500" cy="2476500"/>
          </a:xfrm>
          <a:prstGeom prst="rect">
            <a:avLst/>
          </a:prstGeom>
        </p:spPr>
      </p:pic>
      <p:grpSp>
        <p:nvGrpSpPr>
          <p:cNvPr id="6" name="Group 6"/>
          <p:cNvGrpSpPr/>
          <p:nvPr/>
        </p:nvGrpSpPr>
        <p:grpSpPr>
          <a:xfrm>
            <a:off x="669798" y="726758"/>
            <a:ext cx="8993124" cy="962215"/>
            <a:chOff x="669798" y="726758"/>
            <a:chExt cx="8993124" cy="962215"/>
          </a:xfrm>
        </p:grpSpPr>
        <p:sp>
          <p:nvSpPr>
            <p:cNvPr id="4" name="TextBox 4"/>
            <p:cNvSpPr txBox="1"/>
            <p:nvPr/>
          </p:nvSpPr>
          <p:spPr>
            <a:xfrm>
              <a:off x="669798" y="726758"/>
              <a:ext cx="8993124" cy="616077"/>
            </a:xfrm>
            <a:prstGeom prst="rect">
              <a:avLst/>
            </a:prstGeom>
            <a:noFill/>
            <a:ln>
              <a:noFill/>
            </a:ln>
          </p:spPr>
          <p:txBody>
            <a:bodyPr wrap="none" lIns="0" tIns="0" rIns="0" bIns="0" anchor="t" anchorCtr="0">
              <a:spAutoFit/>
            </a:bodyPr>
            <a:lstStyle/>
            <a:p>
              <a:pPr algn="l"/>
              <a:r>
                <a:rPr lang="zh-CN" sz="3150" dirty="0">
                  <a:solidFill>
                    <a:schemeClr val="dk1"/>
                  </a:solidFill>
                  <a:latin typeface="+mj-lt"/>
                  <a:ea typeface="+mj-ea"/>
                  <a:cs typeface="+mj-cs"/>
                </a:rPr>
                <a:t>先有「中秋夜迎寒」，一千年后才有赏月的诗</a:t>
              </a:r>
            </a:p>
          </p:txBody>
        </p:sp>
        <p:sp>
          <p:nvSpPr>
            <p:cNvPr id="5" name="TextBox 5"/>
            <p:cNvSpPr txBox="1"/>
            <p:nvPr/>
          </p:nvSpPr>
          <p:spPr>
            <a:xfrm>
              <a:off x="675132" y="1278255"/>
              <a:ext cx="5675376" cy="410718"/>
            </a:xfrm>
            <a:prstGeom prst="rect">
              <a:avLst/>
            </a:prstGeom>
            <a:noFill/>
            <a:ln>
              <a:noFill/>
            </a:ln>
          </p:spPr>
          <p:txBody>
            <a:bodyPr wrap="none" lIns="0" tIns="0" rIns="0" bIns="0" anchor="t" anchorCtr="0">
              <a:spAutoFit/>
            </a:bodyPr>
            <a:lstStyle/>
            <a:p>
              <a:pPr algn="l"/>
              <a:r>
                <a:rPr lang="zh-CN" sz="2100" dirty="0">
                  <a:solidFill>
                    <a:schemeClr val="accent5"/>
                  </a:solidFill>
                  <a:latin typeface="+mn-lt"/>
                  <a:ea typeface="+mn-ea"/>
                  <a:cs typeface="+mn-cs"/>
                </a:rPr>
                <a:t>唐代把神话接进月亮，赏月才从祭仪变成风尚</a:t>
              </a:r>
            </a:p>
          </p:txBody>
        </p:sp>
      </p:grpSp>
      <p:grpSp>
        <p:nvGrpSpPr>
          <p:cNvPr id="13" name="Group 13"/>
          <p:cNvGrpSpPr/>
          <p:nvPr/>
        </p:nvGrpSpPr>
        <p:grpSpPr>
          <a:xfrm>
            <a:off x="685800" y="2000250"/>
            <a:ext cx="6362700" cy="1160145"/>
            <a:chOff x="685800" y="2000250"/>
            <a:chExt cx="6362700" cy="1160145"/>
          </a:xfrm>
        </p:grpSpPr>
        <p:sp>
          <p:nvSpPr>
            <p:cNvPr id="7" name="Freeform 7"/>
            <p:cNvSpPr/>
            <p:nvPr/>
          </p:nvSpPr>
          <p:spPr>
            <a:xfrm>
              <a:off x="685800" y="2000250"/>
              <a:ext cx="3238500" cy="1143000"/>
            </a:xfrm>
            <a:prstGeom prst="homePlate">
              <a:avLst/>
            </a:prstGeom>
            <a:solidFill>
              <a:srgbClr val="26305A"/>
            </a:solidFill>
            <a:ln>
              <a:noFill/>
            </a:ln>
          </p:spPr>
        </p:sp>
        <p:sp>
          <p:nvSpPr>
            <p:cNvPr id="8" name="Freeform 8"/>
            <p:cNvSpPr/>
            <p:nvPr/>
          </p:nvSpPr>
          <p:spPr>
            <a:xfrm>
              <a:off x="3810000" y="2000250"/>
              <a:ext cx="3238500" cy="1143000"/>
            </a:xfrm>
            <a:prstGeom prst="chevron">
              <a:avLst/>
            </a:prstGeom>
            <a:solidFill>
              <a:schemeClr val="accent1"/>
            </a:solidFill>
            <a:ln>
              <a:noFill/>
            </a:ln>
            <a:effectLst>
              <a:outerShdw blurRad="171450" dist="57150" dir="5400000" algn="ctr" rotWithShape="0">
                <a:srgbClr val="05070F">
                  <a:alpha val="15000"/>
                </a:srgbClr>
              </a:outerShdw>
            </a:effectLst>
          </p:spPr>
        </p:sp>
        <p:sp>
          <p:nvSpPr>
            <p:cNvPr id="9" name="TextBox 9"/>
            <p:cNvSpPr txBox="1"/>
            <p:nvPr/>
          </p:nvSpPr>
          <p:spPr>
            <a:xfrm>
              <a:off x="981456" y="2205990"/>
              <a:ext cx="1037833"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周代 · 礼</a:t>
              </a:r>
            </a:p>
          </p:txBody>
        </p:sp>
        <p:sp>
          <p:nvSpPr>
            <p:cNvPr id="10" name="TextBox 10"/>
            <p:cNvSpPr txBox="1"/>
            <p:nvPr/>
          </p:nvSpPr>
          <p:spPr>
            <a:xfrm>
              <a:off x="982980" y="2581275"/>
              <a:ext cx="2139315" cy="579120"/>
            </a:xfrm>
            <a:prstGeom prst="rect">
              <a:avLst/>
            </a:prstGeom>
            <a:noFill/>
            <a:ln>
              <a:noFill/>
            </a:ln>
          </p:spPr>
          <p:txBody>
            <a:bodyPr wrap="none" lIns="0" tIns="0" rIns="0" bIns="0" anchor="t" anchorCtr="0">
              <a:spAutoFit/>
            </a:bodyPr>
            <a:lstStyle/>
            <a:p>
              <a:pPr algn="l">
                <a:lnSpc>
                  <a:spcPts val="2250"/>
                </a:lnSpc>
              </a:pPr>
              <a:r>
                <a:rPr lang="zh-CN" sz="1500" dirty="0">
                  <a:solidFill>
                    <a:schemeClr val="dk1"/>
                  </a:solidFill>
                  <a:latin typeface="+mn-lt"/>
                  <a:ea typeface="+mn-ea"/>
                  <a:cs typeface="+mn-cs"/>
                </a:rPr>
                <a:t>中秋夜迎寒 · 中秋献良裘</a:t>
              </a:r>
              <a:br/>
              <a:r>
                <a:rPr lang="zh-CN" sz="1500" dirty="0">
                  <a:solidFill>
                    <a:schemeClr val="dk1"/>
                  </a:solidFill>
                  <a:latin typeface="+mn-lt"/>
                  <a:ea typeface="+mn-ea"/>
                  <a:cs typeface="+mn-cs"/>
                </a:rPr>
                <a:t>秋分夕月（拜月）</a:t>
              </a:r>
            </a:p>
          </p:txBody>
        </p:sp>
        <p:sp>
          <p:nvSpPr>
            <p:cNvPr id="11" name="TextBox 11"/>
            <p:cNvSpPr txBox="1"/>
            <p:nvPr/>
          </p:nvSpPr>
          <p:spPr>
            <a:xfrm>
              <a:off x="4620006" y="2205990"/>
              <a:ext cx="1037833" cy="352044"/>
            </a:xfrm>
            <a:prstGeom prst="rect">
              <a:avLst/>
            </a:prstGeom>
            <a:noFill/>
            <a:ln>
              <a:noFill/>
            </a:ln>
          </p:spPr>
          <p:txBody>
            <a:bodyPr wrap="none" lIns="0" tIns="0" rIns="0" bIns="0" anchor="t" anchorCtr="0">
              <a:spAutoFit/>
            </a:bodyPr>
            <a:lstStyle/>
            <a:p>
              <a:pPr algn="l"/>
              <a:r>
                <a:rPr lang="zh-CN" sz="1800" b="1" dirty="0">
                  <a:solidFill>
                    <a:srgbClr val="131A33"/>
                  </a:solidFill>
                  <a:latin typeface="+mn-lt"/>
                  <a:ea typeface="+mn-ea"/>
                  <a:cs typeface="+mn-cs"/>
                </a:rPr>
                <a:t>唐代 · 诗</a:t>
              </a:r>
            </a:p>
          </p:txBody>
        </p:sp>
        <p:sp>
          <p:nvSpPr>
            <p:cNvPr id="12" name="TextBox 12"/>
            <p:cNvSpPr txBox="1"/>
            <p:nvPr/>
          </p:nvSpPr>
          <p:spPr>
            <a:xfrm>
              <a:off x="4621530" y="2581275"/>
              <a:ext cx="1729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26305A"/>
                  </a:solidFill>
                  <a:latin typeface="+mn-lt"/>
                  <a:ea typeface="+mn-ea"/>
                  <a:cs typeface="+mn-cs"/>
                </a:rPr>
                <a:t>神话入月，赏月大兴</a:t>
              </a:r>
              <a:br/>
              <a:r>
                <a:rPr lang="zh-CN" sz="1500" dirty="0">
                  <a:solidFill>
                    <a:srgbClr val="26305A"/>
                  </a:solidFill>
                  <a:latin typeface="+mn-lt"/>
                  <a:ea typeface="+mn-ea"/>
                  <a:cs typeface="+mn-cs"/>
                </a:rPr>
                <a:t>从祭仪走向风尚</a:t>
              </a:r>
            </a:p>
          </p:txBody>
        </p:sp>
      </p:grpSp>
      <p:grpSp>
        <p:nvGrpSpPr>
          <p:cNvPr id="18" name="Group 18"/>
          <p:cNvGrpSpPr/>
          <p:nvPr/>
        </p:nvGrpSpPr>
        <p:grpSpPr>
          <a:xfrm>
            <a:off x="666750" y="3764280"/>
            <a:ext cx="5590604" cy="1822704"/>
            <a:chOff x="666750" y="3764280"/>
            <a:chExt cx="5590604" cy="1822704"/>
          </a:xfrm>
        </p:grpSpPr>
        <p:sp>
          <p:nvSpPr>
            <p:cNvPr id="14" name="TextBox 14"/>
            <p:cNvSpPr txBox="1"/>
            <p:nvPr/>
          </p:nvSpPr>
          <p:spPr>
            <a:xfrm>
              <a:off x="666750" y="3764280"/>
              <a:ext cx="1664543" cy="1276350"/>
            </a:xfrm>
            <a:prstGeom prst="rect">
              <a:avLst/>
            </a:prstGeom>
            <a:noFill/>
            <a:ln>
              <a:noFill/>
            </a:ln>
          </p:spPr>
          <p:txBody>
            <a:bodyPr wrap="none" lIns="0" tIns="0" rIns="0" bIns="0" anchor="t" anchorCtr="0">
              <a:spAutoFit/>
            </a:bodyPr>
            <a:lstStyle/>
            <a:p>
              <a:pPr algn="l"/>
              <a:r>
                <a:rPr lang="zh-CN" sz="6600" b="1" dirty="0">
                  <a:solidFill>
                    <a:schemeClr val="accent1"/>
                  </a:solidFill>
                  <a:latin typeface="Georgia"/>
                  <a:ea typeface="Georgia"/>
                  <a:cs typeface="Georgia"/>
                </a:rPr>
                <a:t>111</a:t>
              </a:r>
            </a:p>
          </p:txBody>
        </p:sp>
        <p:sp>
          <p:nvSpPr>
            <p:cNvPr id="15" name="TextBox 15"/>
            <p:cNvSpPr txBox="1"/>
            <p:nvPr/>
          </p:nvSpPr>
          <p:spPr>
            <a:xfrm>
              <a:off x="2260092" y="3969068"/>
              <a:ext cx="1831086" cy="264033"/>
            </a:xfrm>
            <a:prstGeom prst="rect">
              <a:avLst/>
            </a:prstGeom>
            <a:noFill/>
            <a:ln>
              <a:noFill/>
            </a:ln>
          </p:spPr>
          <p:txBody>
            <a:bodyPr wrap="none" lIns="0" tIns="0" rIns="0" bIns="0" anchor="t" anchorCtr="0">
              <a:spAutoFit/>
            </a:bodyPr>
            <a:lstStyle/>
            <a:p>
              <a:pPr algn="l"/>
              <a:r>
                <a:rPr lang="zh-CN" sz="1350" dirty="0">
                  <a:solidFill>
                    <a:schemeClr val="accent3"/>
                  </a:solidFill>
                  <a:latin typeface="+mn-lt"/>
                  <a:ea typeface="+mn-ea"/>
                  <a:cs typeface="+mn-cs"/>
                </a:rPr>
                <a:t>写八月十五赏月的唐诗</a:t>
              </a:r>
            </a:p>
          </p:txBody>
        </p:sp>
        <p:sp>
          <p:nvSpPr>
            <p:cNvPr id="16" name="TextBox 16"/>
            <p:cNvSpPr txBox="1"/>
            <p:nvPr/>
          </p:nvSpPr>
          <p:spPr>
            <a:xfrm>
              <a:off x="2255520" y="4233862"/>
              <a:ext cx="325755" cy="440055"/>
            </a:xfrm>
            <a:prstGeom prst="rect">
              <a:avLst/>
            </a:prstGeom>
            <a:noFill/>
            <a:ln>
              <a:noFill/>
            </a:ln>
          </p:spPr>
          <p:txBody>
            <a:bodyPr wrap="none" lIns="0" tIns="0" rIns="0" bIns="0" anchor="t" anchorCtr="0">
              <a:spAutoFit/>
            </a:bodyPr>
            <a:lstStyle/>
            <a:p>
              <a:pPr algn="l"/>
              <a:r>
                <a:rPr lang="zh-CN" sz="2250" dirty="0">
                  <a:solidFill>
                    <a:schemeClr val="dk1"/>
                  </a:solidFill>
                  <a:latin typeface="+mn-lt"/>
                  <a:ea typeface="+mn-ea"/>
                  <a:cs typeface="+mn-cs"/>
                </a:rPr>
                <a:t>首</a:t>
              </a:r>
            </a:p>
          </p:txBody>
        </p:sp>
        <p:sp>
          <p:nvSpPr>
            <p:cNvPr id="17" name="TextBox 17"/>
            <p:cNvSpPr txBox="1"/>
            <p:nvPr/>
          </p:nvSpPr>
          <p:spPr>
            <a:xfrm>
              <a:off x="676656" y="4872990"/>
              <a:ext cx="5580698" cy="713994"/>
            </a:xfrm>
            <a:prstGeom prst="rect">
              <a:avLst/>
            </a:prstGeom>
            <a:noFill/>
            <a:ln>
              <a:noFill/>
            </a:ln>
          </p:spPr>
          <p:txBody>
            <a:bodyPr wrap="none" lIns="0" tIns="0" rIns="0" bIns="0" anchor="t" anchorCtr="0">
              <a:spAutoFit/>
            </a:bodyPr>
            <a:lstStyle/>
            <a:p>
              <a:pPr algn="l">
                <a:lnSpc>
                  <a:spcPts val="2850"/>
                </a:lnSpc>
              </a:pPr>
              <a:r>
                <a:rPr lang="zh-CN" sz="1800" dirty="0">
                  <a:solidFill>
                    <a:schemeClr val="dk1"/>
                  </a:solidFill>
                  <a:latin typeface="+mn-lt"/>
                  <a:ea typeface="+mn-ea"/>
                  <a:cs typeface="+mn-cs"/>
                </a:rPr>
                <a:t xml:space="preserve">四万余首《全唐诗》中，写八月十五赏月者共 </a:t>
              </a:r>
              <a:r>
                <a:rPr lang="zh-CN" sz="1800" b="1" dirty="0">
                  <a:solidFill>
                    <a:schemeClr val="accent1"/>
                  </a:solidFill>
                  <a:latin typeface="+mn-lt"/>
                  <a:ea typeface="+mn-ea"/>
                  <a:cs typeface="+mn-cs"/>
                </a:rPr>
                <a:t>111</a:t>
              </a:r>
              <a:r>
                <a:rPr lang="zh-CN" sz="1800" dirty="0">
                  <a:solidFill>
                    <a:schemeClr val="dk1"/>
                  </a:solidFill>
                  <a:latin typeface="+mn-lt"/>
                  <a:ea typeface="+mn-ea"/>
                  <a:cs typeface="+mn-cs"/>
                </a:rPr>
                <a:t xml:space="preserve"> 首，</a:t>
              </a:r>
              <a:br/>
              <a:r>
                <a:rPr lang="zh-CN" sz="1800" dirty="0">
                  <a:solidFill>
                    <a:schemeClr val="dk1"/>
                  </a:solidFill>
                  <a:latin typeface="+mn-lt"/>
                  <a:ea typeface="+mn-ea"/>
                  <a:cs typeface="+mn-cs"/>
                </a:rPr>
                <a:t xml:space="preserve">出自 </a:t>
              </a:r>
              <a:r>
                <a:rPr lang="zh-CN" sz="1800" b="1" dirty="0">
                  <a:solidFill>
                    <a:schemeClr val="accent1"/>
                  </a:solidFill>
                  <a:latin typeface="+mn-lt"/>
                  <a:ea typeface="+mn-ea"/>
                  <a:cs typeface="+mn-cs"/>
                </a:rPr>
                <a:t>65</a:t>
              </a:r>
              <a:r>
                <a:rPr lang="zh-CN" sz="1800" dirty="0">
                  <a:solidFill>
                    <a:schemeClr val="dk1"/>
                  </a:solidFill>
                  <a:latin typeface="+mn-lt"/>
                  <a:ea typeface="+mn-ea"/>
                  <a:cs typeface="+mn-cs"/>
                </a:rPr>
                <a:t xml:space="preserve"> 位诗人之手——赏月已是文人阶层的普遍习惯。</a:t>
              </a:r>
            </a:p>
          </p:txBody>
        </p:sp>
      </p:grpSp>
      <p:grpSp>
        <p:nvGrpSpPr>
          <p:cNvPr id="20" name="Group 20"/>
          <p:cNvGrpSpPr/>
          <p:nvPr/>
        </p:nvGrpSpPr>
        <p:grpSpPr>
          <a:xfrm>
            <a:off x="678942" y="5721668"/>
            <a:ext cx="7782973" cy="264033"/>
            <a:chOff x="678942" y="5721668"/>
            <a:chExt cx="7782973" cy="264033"/>
          </a:xfrm>
        </p:grpSpPr>
        <p:sp>
          <p:nvSpPr>
            <p:cNvPr id="19" name="TextBox 19"/>
            <p:cNvSpPr txBox="1"/>
            <p:nvPr/>
          </p:nvSpPr>
          <p:spPr>
            <a:xfrm>
              <a:off x="678942" y="5721668"/>
              <a:ext cx="7782973"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唐人赏月的去处：寺院与观星台 · 泛舟水滨 · 登山望月 · 值宿宫禁 · 置酒赋诗联句 · 借月思远人</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22" presetClass="entr" presetSubtype="2"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right)">
                                      <p:cBhvr>
                                        <p:cTn id="7" dur="900"/>
                                        <p:tgtEl>
                                          <p:spTgt spid="13"/>
                                        </p:tgtEl>
                                      </p:cBhvr>
                                    </p:animEffect>
                                  </p:childTnLst>
                                </p:cTn>
                              </p:par>
                            </p:childTnLst>
                          </p:cTn>
                        </p:par>
                        <p:par>
                          <p:cTn id="8" fill="hold">
                            <p:stCondLst>
                              <p:cond delay="900"/>
                            </p:stCondLst>
                            <p:childTnLst>
                              <p:par>
                                <p:cTn xmlns:p="http://schemas.openxmlformats.org/presentationml/2006/main" id="9" presetID="10" presetClass="entr" presetSubtype="0" fill="hold" grpId="0" nodeType="afterEffect">
                                  <p:stCondLst>
                                    <p:cond delay="20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childTnLst>
                                </p:cTn>
                              </p:par>
                            </p:childTnLst>
                          </p:cTn>
                        </p:par>
                        <p:par>
                          <p:cTn id="12" fill="hold">
                            <p:stCondLst>
                              <p:cond delay="1600"/>
                            </p:stCondLst>
                            <p:childTnLst>
                              <p:par>
                                <p:cTn xmlns:p="http://schemas.openxmlformats.org/presentationml/2006/main" id="13" presetID="10" presetClass="entr" presetSubtype="0" fill="hold" grpId="0" nodeType="afterEffect">
                                  <p:stCondLst>
                                    <p:cond delay="12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stretch>
            <a:fillRect/>
          </a:stretch>
        </p:blipFill>
        <p:spPr>
          <a:xfrm>
            <a:off x="0" y="25400"/>
            <a:ext cx="12192000" cy="6807200"/>
          </a:xfrm>
          <a:prstGeom prst="rect">
            <a:avLst/>
          </a:prstGeom>
        </p:spPr>
      </p:pic>
      <p:sp>
        <p:nvSpPr>
          <p:cNvPr id="3" name="Rectangle 3"/>
          <p:cNvSpPr/>
          <p:nvPr/>
        </p:nvSpPr>
        <p:spPr>
          <a:xfrm>
            <a:off x="0" y="0"/>
            <a:ext cx="12192000" cy="6858000"/>
          </a:xfrm>
          <a:prstGeom prst="rect">
            <a:avLst/>
          </a:prstGeom>
          <a:gradFill>
            <a:gsLst>
              <a:gs pos="0">
                <a:srgbClr val="0C1026">
                  <a:alpha val="92000"/>
                </a:srgbClr>
              </a:gs>
              <a:gs pos="50000">
                <a:srgbClr val="0C1026">
                  <a:alpha val="42000"/>
                </a:srgbClr>
              </a:gs>
              <a:gs pos="100000">
                <a:srgbClr val="0C1026">
                  <a:alpha val="0"/>
                </a:srgbClr>
              </a:gs>
            </a:gsLst>
            <a:lin ang="0" scaled="1"/>
          </a:gradFill>
          <a:ln>
            <a:noFill/>
          </a:ln>
        </p:spPr>
      </p:sp>
      <p:pic>
        <p:nvPicPr>
          <p:cNvPr id="4" name="Image 4"/>
          <p:cNvPicPr>
            <a:picLocks noChangeAspect="1"/>
          </p:cNvPicPr>
          <p:nvPr/>
        </p:nvPicPr>
        <p:blipFill>
          <a:blip r:embed="rId3"/>
          <a:stretch>
            <a:fillRect/>
          </a:stretch>
        </p:blipFill>
        <p:spPr>
          <a:xfrm>
            <a:off x="9528347" y="419100"/>
            <a:ext cx="2088805" cy="1485900"/>
          </a:xfrm>
          <a:prstGeom prst="rect">
            <a:avLst/>
          </a:prstGeom>
        </p:spPr>
      </p:pic>
      <p:grpSp>
        <p:nvGrpSpPr>
          <p:cNvPr id="7" name="Group 7"/>
          <p:cNvGrpSpPr/>
          <p:nvPr/>
        </p:nvGrpSpPr>
        <p:grpSpPr>
          <a:xfrm>
            <a:off x="669798" y="783908"/>
            <a:ext cx="4032504" cy="1495615"/>
            <a:chOff x="669798" y="783908"/>
            <a:chExt cx="4032504" cy="1495615"/>
          </a:xfrm>
        </p:grpSpPr>
        <p:sp>
          <p:nvSpPr>
            <p:cNvPr id="5" name="TextBox 5"/>
            <p:cNvSpPr txBox="1"/>
            <p:nvPr/>
          </p:nvSpPr>
          <p:spPr>
            <a:xfrm>
              <a:off x="669798" y="783908"/>
              <a:ext cx="4032504" cy="1130427"/>
            </a:xfrm>
            <a:prstGeom prst="rect">
              <a:avLst/>
            </a:prstGeom>
            <a:noFill/>
            <a:ln>
              <a:noFill/>
            </a:ln>
          </p:spPr>
          <p:txBody>
            <a:bodyPr wrap="none" lIns="0" tIns="0" rIns="0" bIns="0" anchor="t" anchorCtr="0">
              <a:spAutoFit/>
            </a:bodyPr>
            <a:lstStyle/>
            <a:p>
              <a:pPr algn="l">
                <a:lnSpc>
                  <a:spcPts val="4050"/>
                </a:lnSpc>
              </a:pPr>
              <a:r>
                <a:rPr lang="zh-CN" sz="3150" dirty="0">
                  <a:solidFill>
                    <a:schemeClr val="dk1"/>
                  </a:solidFill>
                  <a:latin typeface="+mj-lt"/>
                  <a:ea typeface="+mj-ea"/>
                  <a:cs typeface="+mj-cs"/>
                </a:rPr>
                <a:t>至午未间，家家无酒，</a:t>
              </a:r>
              <a:br/>
              <a:r>
                <a:rPr lang="zh-CN" sz="3150" dirty="0">
                  <a:solidFill>
                    <a:schemeClr val="dk1"/>
                  </a:solidFill>
                  <a:latin typeface="+mj-lt"/>
                  <a:ea typeface="+mj-ea"/>
                  <a:cs typeface="+mj-cs"/>
                </a:rPr>
                <a:t>拽下望子</a:t>
              </a:r>
            </a:p>
          </p:txBody>
        </p:sp>
        <p:sp>
          <p:nvSpPr>
            <p:cNvPr id="6" name="TextBox 6"/>
            <p:cNvSpPr txBox="1"/>
            <p:nvPr/>
          </p:nvSpPr>
          <p:spPr>
            <a:xfrm>
              <a:off x="675132" y="1868805"/>
              <a:ext cx="3131058" cy="410718"/>
            </a:xfrm>
            <a:prstGeom prst="rect">
              <a:avLst/>
            </a:prstGeom>
            <a:noFill/>
            <a:ln>
              <a:noFill/>
            </a:ln>
          </p:spPr>
          <p:txBody>
            <a:bodyPr wrap="none" lIns="0" tIns="0" rIns="0" bIns="0" anchor="t" anchorCtr="0">
              <a:spAutoFit/>
            </a:bodyPr>
            <a:lstStyle/>
            <a:p>
              <a:pPr algn="l"/>
              <a:r>
                <a:rPr lang="zh-CN" sz="2100" dirty="0">
                  <a:solidFill>
                    <a:schemeClr val="accent1"/>
                  </a:solidFill>
                  <a:latin typeface="+mn-lt"/>
                  <a:ea typeface="+mn-ea"/>
                  <a:cs typeface="+mn-cs"/>
                </a:rPr>
                <a:t>北宋定八月十五为中秋节</a:t>
              </a:r>
            </a:p>
          </p:txBody>
        </p:sp>
      </p:grpSp>
      <p:grpSp>
        <p:nvGrpSpPr>
          <p:cNvPr id="14" name="Group 14"/>
          <p:cNvGrpSpPr/>
          <p:nvPr/>
        </p:nvGrpSpPr>
        <p:grpSpPr>
          <a:xfrm>
            <a:off x="676656" y="2524125"/>
            <a:ext cx="3447288" cy="3481959"/>
            <a:chOff x="676656" y="2524125"/>
            <a:chExt cx="3447288" cy="3481959"/>
          </a:xfrm>
        </p:grpSpPr>
        <p:sp>
          <p:nvSpPr>
            <p:cNvPr id="8" name="TextBox 8"/>
            <p:cNvSpPr txBox="1"/>
            <p:nvPr/>
          </p:nvSpPr>
          <p:spPr>
            <a:xfrm>
              <a:off x="678180" y="2524125"/>
              <a:ext cx="1066790"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节前 · 酒市</a:t>
              </a:r>
            </a:p>
          </p:txBody>
        </p:sp>
        <p:sp>
          <p:nvSpPr>
            <p:cNvPr id="9" name="TextBox 9"/>
            <p:cNvSpPr txBox="1"/>
            <p:nvPr/>
          </p:nvSpPr>
          <p:spPr>
            <a:xfrm>
              <a:off x="676656" y="2853690"/>
              <a:ext cx="2990088" cy="713994"/>
            </a:xfrm>
            <a:prstGeom prst="rect">
              <a:avLst/>
            </a:prstGeom>
            <a:noFill/>
            <a:ln>
              <a:noFill/>
            </a:ln>
          </p:spPr>
          <p:txBody>
            <a:bodyPr wrap="none" lIns="0" tIns="0" rIns="0" bIns="0" anchor="t" anchorCtr="0">
              <a:spAutoFit/>
            </a:bodyPr>
            <a:lstStyle/>
            <a:p>
              <a:pPr algn="l">
                <a:lnSpc>
                  <a:spcPts val="2850"/>
                </a:lnSpc>
              </a:pPr>
              <a:r>
                <a:rPr lang="zh-CN" sz="1800" dirty="0">
                  <a:solidFill>
                    <a:schemeClr val="dk1"/>
                  </a:solidFill>
                  <a:latin typeface="+mn-lt"/>
                  <a:ea typeface="+mn-ea"/>
                  <a:cs typeface="+mn-cs"/>
                </a:rPr>
                <a:t>诸店皆卖新酒，重新结络门面</a:t>
              </a:r>
              <a:br/>
              <a:r>
                <a:rPr lang="zh-CN" sz="1800" dirty="0">
                  <a:solidFill>
                    <a:schemeClr val="dk1"/>
                  </a:solidFill>
                  <a:latin typeface="+mn-lt"/>
                  <a:ea typeface="+mn-ea"/>
                  <a:cs typeface="+mn-cs"/>
                </a:rPr>
                <a:t>彩楼花头；市人争饮。</a:t>
              </a:r>
            </a:p>
          </p:txBody>
        </p:sp>
        <p:sp>
          <p:nvSpPr>
            <p:cNvPr id="10" name="TextBox 10"/>
            <p:cNvSpPr txBox="1"/>
            <p:nvPr/>
          </p:nvSpPr>
          <p:spPr>
            <a:xfrm>
              <a:off x="678180" y="3743325"/>
              <a:ext cx="1066790"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节夜 · 通宵</a:t>
              </a:r>
            </a:p>
          </p:txBody>
        </p:sp>
        <p:sp>
          <p:nvSpPr>
            <p:cNvPr id="11" name="TextBox 11"/>
            <p:cNvSpPr txBox="1"/>
            <p:nvPr/>
          </p:nvSpPr>
          <p:spPr>
            <a:xfrm>
              <a:off x="676656" y="4072890"/>
              <a:ext cx="2990088" cy="713994"/>
            </a:xfrm>
            <a:prstGeom prst="rect">
              <a:avLst/>
            </a:prstGeom>
            <a:noFill/>
            <a:ln>
              <a:noFill/>
            </a:ln>
          </p:spPr>
          <p:txBody>
            <a:bodyPr wrap="none" lIns="0" tIns="0" rIns="0" bIns="0" anchor="t" anchorCtr="0">
              <a:spAutoFit/>
            </a:bodyPr>
            <a:lstStyle/>
            <a:p>
              <a:pPr algn="l">
                <a:lnSpc>
                  <a:spcPts val="2850"/>
                </a:lnSpc>
              </a:pPr>
              <a:r>
                <a:rPr lang="zh-CN" sz="1800" dirty="0">
                  <a:solidFill>
                    <a:schemeClr val="dk1"/>
                  </a:solidFill>
                  <a:latin typeface="+mn-lt"/>
                  <a:ea typeface="+mn-ea"/>
                  <a:cs typeface="+mn-cs"/>
                </a:rPr>
                <a:t>贵家结饰台榭，民间争占酒楼</a:t>
              </a:r>
              <a:br/>
              <a:r>
                <a:rPr lang="zh-CN" sz="1800" dirty="0">
                  <a:solidFill>
                    <a:schemeClr val="dk1"/>
                  </a:solidFill>
                  <a:latin typeface="+mn-lt"/>
                  <a:ea typeface="+mn-ea"/>
                  <a:cs typeface="+mn-cs"/>
                </a:rPr>
                <a:t>玩月；夜市骈阗，至于通晓。</a:t>
              </a:r>
            </a:p>
          </p:txBody>
        </p:sp>
        <p:sp>
          <p:nvSpPr>
            <p:cNvPr id="12" name="TextBox 12"/>
            <p:cNvSpPr txBox="1"/>
            <p:nvPr/>
          </p:nvSpPr>
          <p:spPr>
            <a:xfrm>
              <a:off x="678180" y="4962525"/>
              <a:ext cx="1024890"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结构性证据</a:t>
              </a:r>
            </a:p>
          </p:txBody>
        </p:sp>
        <p:sp>
          <p:nvSpPr>
            <p:cNvPr id="13" name="TextBox 13"/>
            <p:cNvSpPr txBox="1"/>
            <p:nvPr/>
          </p:nvSpPr>
          <p:spPr>
            <a:xfrm>
              <a:off x="676656" y="5292090"/>
              <a:ext cx="3447288" cy="713994"/>
            </a:xfrm>
            <a:prstGeom prst="rect">
              <a:avLst/>
            </a:prstGeom>
            <a:noFill/>
            <a:ln>
              <a:noFill/>
            </a:ln>
          </p:spPr>
          <p:txBody>
            <a:bodyPr wrap="none" lIns="0" tIns="0" rIns="0" bIns="0" anchor="t" anchorCtr="0">
              <a:spAutoFit/>
            </a:bodyPr>
            <a:lstStyle/>
            <a:p>
              <a:pPr algn="l">
                <a:lnSpc>
                  <a:spcPts val="2850"/>
                </a:lnSpc>
              </a:pPr>
              <a:r>
                <a:rPr lang="zh-CN" sz="1800" dirty="0">
                  <a:solidFill>
                    <a:schemeClr val="dk1"/>
                  </a:solidFill>
                  <a:latin typeface="+mn-lt"/>
                  <a:ea typeface="+mn-ea"/>
                  <a:cs typeface="+mn-cs"/>
                </a:rPr>
                <a:t>《东京梦华录》卷八「中秋」条</a:t>
              </a:r>
              <a:br/>
              <a:r>
                <a:rPr lang="zh-CN" sz="1800" dirty="0">
                  <a:solidFill>
                    <a:schemeClr val="dk1"/>
                  </a:solidFill>
                  <a:latin typeface="+mn-lt"/>
                  <a:ea typeface="+mn-ea"/>
                  <a:cs typeface="+mn-cs"/>
                </a:rPr>
                <a:t>与端午、七夕、中元、重阳并列。</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3429000"/>
            <a:ext cx="12192000" cy="3429000"/>
          </a:xfrm>
          <a:prstGeom prst="rect">
            <a:avLst/>
          </a:prstGeom>
          <a:gradFill>
            <a:gsLst>
              <a:gs pos="0">
                <a:schemeClr val="lt2">
                  <a:alpha val="90000"/>
                </a:schemeClr>
              </a:gs>
              <a:gs pos="100000">
                <a:schemeClr val="lt1">
                  <a:alpha val="0"/>
                </a:schemeClr>
              </a:gs>
            </a:gsLst>
            <a:lin ang="16200000" scaled="1"/>
          </a:gradFill>
          <a:ln>
            <a:noFill/>
          </a:ln>
        </p:spPr>
      </p:sp>
      <p:pic>
        <p:nvPicPr>
          <p:cNvPr id="3" name="Image 3"/>
          <p:cNvPicPr>
            <a:picLocks noChangeAspect="1"/>
          </p:cNvPicPr>
          <p:nvPr/>
        </p:nvPicPr>
        <p:blipFill>
          <a:blip r:embed="rId2"/>
          <a:stretch>
            <a:fillRect/>
          </a:stretch>
        </p:blipFill>
        <p:spPr>
          <a:xfrm>
            <a:off x="9436894" y="2381250"/>
            <a:ext cx="2014538" cy="3619500"/>
          </a:xfrm>
          <a:prstGeom prst="rect">
            <a:avLst/>
          </a:prstGeom>
          <a:effectLst>
            <a:outerShdw blurRad="171450" dist="57150" dir="5400000" algn="ctr" rotWithShape="0">
              <a:srgbClr val="05070F">
                <a:alpha val="15000"/>
              </a:srgbClr>
            </a:outerShdw>
          </a:effectLst>
        </p:spPr>
      </p:pic>
      <p:grpSp>
        <p:nvGrpSpPr>
          <p:cNvPr id="6" name="Group 6"/>
          <p:cNvGrpSpPr/>
          <p:nvPr/>
        </p:nvGrpSpPr>
        <p:grpSpPr>
          <a:xfrm>
            <a:off x="669798" y="730568"/>
            <a:ext cx="5453482" cy="802767"/>
            <a:chOff x="669798" y="730568"/>
            <a:chExt cx="5453482" cy="802767"/>
          </a:xfrm>
        </p:grpSpPr>
        <p:sp>
          <p:nvSpPr>
            <p:cNvPr id="4" name="TextBox 4"/>
            <p:cNvSpPr txBox="1"/>
            <p:nvPr/>
          </p:nvSpPr>
          <p:spPr>
            <a:xfrm>
              <a:off x="678942" y="730568"/>
              <a:ext cx="949662" cy="264033"/>
            </a:xfrm>
            <a:prstGeom prst="rect">
              <a:avLst/>
            </a:prstGeom>
            <a:noFill/>
            <a:ln>
              <a:noFill/>
            </a:ln>
          </p:spPr>
          <p:txBody>
            <a:bodyPr wrap="none" lIns="0" tIns="0" rIns="0" bIns="0" anchor="t" anchorCtr="0">
              <a:spAutoFit/>
            </a:bodyPr>
            <a:lstStyle/>
            <a:p>
              <a:pPr algn="l"/>
              <a:r>
                <a:rPr lang="zh-CN" sz="1350" dirty="0">
                  <a:solidFill>
                    <a:schemeClr val="accent3"/>
                  </a:solidFill>
                  <a:latin typeface="+mn-lt"/>
                  <a:ea typeface="+mn-ea"/>
                  <a:cs typeface="+mn-cs"/>
                </a:rPr>
                <a:t>南宋 · 临安</a:t>
              </a:r>
            </a:p>
          </p:txBody>
        </p:sp>
        <p:sp>
          <p:nvSpPr>
            <p:cNvPr id="5" name="TextBox 5"/>
            <p:cNvSpPr txBox="1"/>
            <p:nvPr/>
          </p:nvSpPr>
          <p:spPr>
            <a:xfrm>
              <a:off x="669798" y="917258"/>
              <a:ext cx="5453482" cy="616077"/>
            </a:xfrm>
            <a:prstGeom prst="rect">
              <a:avLst/>
            </a:prstGeom>
            <a:noFill/>
            <a:ln>
              <a:noFill/>
            </a:ln>
          </p:spPr>
          <p:txBody>
            <a:bodyPr wrap="none" lIns="0" tIns="0" rIns="0" bIns="0" anchor="t" anchorCtr="0">
              <a:spAutoFit/>
            </a:bodyPr>
            <a:lstStyle/>
            <a:p>
              <a:pPr algn="l"/>
              <a:r>
                <a:rPr lang="zh-CN" sz="3150" dirty="0">
                  <a:solidFill>
                    <a:schemeClr val="dk1"/>
                  </a:solidFill>
                  <a:latin typeface="+mj-lt"/>
                  <a:ea typeface="+mj-ea"/>
                  <a:cs typeface="+mj-cs"/>
                </a:rPr>
                <a:t>虽陋巷贫窭之人……不肯虚度</a:t>
              </a:r>
            </a:p>
          </p:txBody>
        </p:sp>
      </p:grpSp>
      <p:grpSp>
        <p:nvGrpSpPr>
          <p:cNvPr id="9" name="Group 9"/>
          <p:cNvGrpSpPr/>
          <p:nvPr/>
        </p:nvGrpSpPr>
        <p:grpSpPr>
          <a:xfrm>
            <a:off x="672846" y="1820228"/>
            <a:ext cx="7150608" cy="2279523"/>
            <a:chOff x="672846" y="1820228"/>
            <a:chExt cx="7150608" cy="2279523"/>
          </a:xfrm>
        </p:grpSpPr>
        <p:sp>
          <p:nvSpPr>
            <p:cNvPr id="7" name="TextBox 7"/>
            <p:cNvSpPr txBox="1"/>
            <p:nvPr/>
          </p:nvSpPr>
          <p:spPr>
            <a:xfrm>
              <a:off x="672846" y="1820228"/>
              <a:ext cx="7150608" cy="1984629"/>
            </a:xfrm>
            <a:prstGeom prst="rect">
              <a:avLst/>
            </a:prstGeom>
            <a:noFill/>
            <a:ln>
              <a:noFill/>
            </a:ln>
          </p:spPr>
          <p:txBody>
            <a:bodyPr wrap="none" lIns="0" tIns="0" rIns="0" bIns="0" anchor="t" anchorCtr="0">
              <a:spAutoFit/>
            </a:bodyPr>
            <a:lstStyle/>
            <a:p>
              <a:pPr algn="l">
                <a:lnSpc>
                  <a:spcPts val="3900"/>
                </a:lnSpc>
              </a:pPr>
              <a:r>
                <a:rPr lang="zh-CN" sz="2550" dirty="0">
                  <a:solidFill>
                    <a:schemeClr val="dk1"/>
                  </a:solidFill>
                  <a:latin typeface="+mj-lt"/>
                  <a:ea typeface="+mj-ea"/>
                  <a:cs typeface="+mj-cs"/>
                </a:rPr>
                <a:t>王孙公子，富家巨室，莫不登危楼，</a:t>
              </a:r>
              <a:br/>
              <a:r>
                <a:rPr lang="zh-CN" sz="2550" dirty="0">
                  <a:solidFill>
                    <a:schemeClr val="dk1"/>
                  </a:solidFill>
                  <a:latin typeface="+mj-lt"/>
                  <a:ea typeface="+mj-ea"/>
                  <a:cs typeface="+mj-cs"/>
                </a:rPr>
                <a:t>临轩玩月……至如铺席之家，亦登小小月台，</a:t>
              </a:r>
              <a:br/>
              <a:r>
                <a:rPr lang="zh-CN" sz="2550" dirty="0">
                  <a:solidFill>
                    <a:schemeClr val="dk1"/>
                  </a:solidFill>
                  <a:latin typeface="+mj-lt"/>
                  <a:ea typeface="+mj-ea"/>
                  <a:cs typeface="+mj-cs"/>
                </a:rPr>
                <a:t>安排家宴，团子女，以酬佳节。虽陋巷贫窭之人，</a:t>
              </a:r>
              <a:br/>
              <a:r>
                <a:rPr lang="zh-CN" sz="2550" dirty="0">
                  <a:solidFill>
                    <a:schemeClr val="dk1"/>
                  </a:solidFill>
                  <a:latin typeface="+mj-lt"/>
                  <a:ea typeface="+mj-ea"/>
                  <a:cs typeface="+mj-cs"/>
                </a:rPr>
                <a:t>解衣市酒，勉强迎欢，不肯虚度。</a:t>
              </a:r>
            </a:p>
          </p:txBody>
        </p:sp>
        <p:sp>
          <p:nvSpPr>
            <p:cNvPr id="8" name="TextBox 8"/>
            <p:cNvSpPr txBox="1"/>
            <p:nvPr/>
          </p:nvSpPr>
          <p:spPr>
            <a:xfrm>
              <a:off x="678942" y="3835718"/>
              <a:ext cx="2403558" cy="264033"/>
            </a:xfrm>
            <a:prstGeom prst="rect">
              <a:avLst/>
            </a:prstGeom>
            <a:noFill/>
            <a:ln>
              <a:noFill/>
            </a:ln>
          </p:spPr>
          <p:txBody>
            <a:bodyPr wrap="none" lIns="0" tIns="0" rIns="0" bIns="0" anchor="t" anchorCtr="0">
              <a:spAutoFit/>
            </a:bodyPr>
            <a:lstStyle/>
            <a:p>
              <a:pPr algn="l"/>
              <a:r>
                <a:rPr lang="zh-CN" sz="1350" dirty="0">
                  <a:solidFill>
                    <a:schemeClr val="accent3"/>
                  </a:solidFill>
                  <a:latin typeface="+mn-lt"/>
                  <a:ea typeface="+mn-ea"/>
                  <a:cs typeface="+mn-cs"/>
                </a:rPr>
                <a:t>南宋 · 吴自牧《梦粱录》卷四</a:t>
              </a:r>
            </a:p>
          </p:txBody>
        </p:sp>
      </p:grpSp>
      <p:grpSp>
        <p:nvGrpSpPr>
          <p:cNvPr id="12" name="Group 12"/>
          <p:cNvGrpSpPr/>
          <p:nvPr/>
        </p:nvGrpSpPr>
        <p:grpSpPr>
          <a:xfrm>
            <a:off x="675132" y="4568190"/>
            <a:ext cx="5049012" cy="1292733"/>
            <a:chOff x="675132" y="4568190"/>
            <a:chExt cx="5049012" cy="1292733"/>
          </a:xfrm>
        </p:grpSpPr>
        <p:sp>
          <p:nvSpPr>
            <p:cNvPr id="10" name="TextBox 10"/>
            <p:cNvSpPr txBox="1"/>
            <p:nvPr/>
          </p:nvSpPr>
          <p:spPr>
            <a:xfrm>
              <a:off x="676656" y="4568190"/>
              <a:ext cx="5047488" cy="713994"/>
            </a:xfrm>
            <a:prstGeom prst="rect">
              <a:avLst/>
            </a:prstGeom>
            <a:noFill/>
            <a:ln>
              <a:noFill/>
            </a:ln>
          </p:spPr>
          <p:txBody>
            <a:bodyPr wrap="none" lIns="0" tIns="0" rIns="0" bIns="0" anchor="t" anchorCtr="0">
              <a:spAutoFit/>
            </a:bodyPr>
            <a:lstStyle/>
            <a:p>
              <a:pPr algn="l">
                <a:lnSpc>
                  <a:spcPts val="2850"/>
                </a:lnSpc>
              </a:pPr>
              <a:r>
                <a:rPr lang="zh-CN" sz="1800" dirty="0">
                  <a:solidFill>
                    <a:schemeClr val="accent5"/>
                  </a:solidFill>
                  <a:latin typeface="+mn-lt"/>
                  <a:ea typeface="+mn-ea"/>
                  <a:cs typeface="+mn-cs"/>
                </a:rPr>
                <a:t>此夜天街卖买，直到五鼓，玩月游人，婆娑于市，</a:t>
              </a:r>
              <a:br/>
              <a:r>
                <a:rPr lang="zh-CN" sz="1800" dirty="0">
                  <a:solidFill>
                    <a:schemeClr val="accent5"/>
                  </a:solidFill>
                  <a:latin typeface="+mn-lt"/>
                  <a:ea typeface="+mn-ea"/>
                  <a:cs typeface="+mn-cs"/>
                </a:rPr>
                <a:t>至晚不绝。</a:t>
              </a:r>
              <a:r>
                <a:rPr lang="zh-CN" sz="1800" b="1" dirty="0">
                  <a:solidFill>
                    <a:schemeClr val="accent1"/>
                  </a:solidFill>
                  <a:latin typeface="+mn-lt"/>
                  <a:ea typeface="+mn-ea"/>
                  <a:cs typeface="+mn-cs"/>
                </a:rPr>
                <a:t>盖金吾不禁故也。</a:t>
              </a:r>
            </a:p>
          </p:txBody>
        </p:sp>
        <p:sp>
          <p:nvSpPr>
            <p:cNvPr id="11" name="TextBox 11"/>
            <p:cNvSpPr txBox="1"/>
            <p:nvPr/>
          </p:nvSpPr>
          <p:spPr>
            <a:xfrm>
              <a:off x="675132" y="5450205"/>
              <a:ext cx="3696462" cy="410718"/>
            </a:xfrm>
            <a:prstGeom prst="rect">
              <a:avLst/>
            </a:prstGeom>
            <a:noFill/>
            <a:ln>
              <a:noFill/>
            </a:ln>
          </p:spPr>
          <p:txBody>
            <a:bodyPr wrap="none" lIns="0" tIns="0" rIns="0" bIns="0" anchor="t" anchorCtr="0">
              <a:spAutoFit/>
            </a:bodyPr>
            <a:lstStyle/>
            <a:p>
              <a:pPr algn="l"/>
              <a:r>
                <a:rPr lang="zh-CN" sz="2100" dirty="0">
                  <a:solidFill>
                    <a:schemeClr val="accent1"/>
                  </a:solidFill>
                  <a:latin typeface="+mn-lt"/>
                  <a:ea typeface="+mn-ea"/>
                  <a:cs typeface="+mn-cs"/>
                </a:rPr>
                <a:t>这一夜，连宵禁都为它让路。</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gradFill>
            <a:gsLst>
              <a:gs pos="0">
                <a:schemeClr val="lt2">
                  <a:alpha val="85000"/>
                </a:schemeClr>
              </a:gs>
              <a:gs pos="100000">
                <a:schemeClr val="lt1">
                  <a:alpha val="0"/>
                </a:schemeClr>
              </a:gs>
            </a:gsLst>
            <a:lin ang="4242597" scaled="1"/>
          </a:gradFill>
          <a:ln>
            <a:noFill/>
          </a:ln>
        </p:spPr>
      </p:sp>
      <p:pic>
        <p:nvPicPr>
          <p:cNvPr id="3" name="Image 3"/>
          <p:cNvPicPr>
            <a:picLocks noChangeAspect="1"/>
          </p:cNvPicPr>
          <p:nvPr/>
        </p:nvPicPr>
        <p:blipFill>
          <a:blip r:embed="rId2"/>
          <a:stretch>
            <a:fillRect/>
          </a:stretch>
        </p:blipFill>
        <p:spPr>
          <a:xfrm>
            <a:off x="9620250" y="1047750"/>
            <a:ext cx="1619250" cy="1628775"/>
          </a:xfrm>
          <a:prstGeom prst="rect">
            <a:avLst/>
          </a:prstGeom>
          <a:effectLst>
            <a:outerShdw blurRad="171450" dist="57150" dir="5400000" algn="ctr" rotWithShape="0">
              <a:srgbClr val="05070F">
                <a:alpha val="15000"/>
              </a:srgbClr>
            </a:outerShdw>
          </a:effectLst>
        </p:spPr>
      </p:pic>
      <p:pic>
        <p:nvPicPr>
          <p:cNvPr id="4" name="Image 4"/>
          <p:cNvPicPr>
            <a:picLocks noChangeAspect="1"/>
          </p:cNvPicPr>
          <p:nvPr/>
        </p:nvPicPr>
        <p:blipFill>
          <a:blip r:embed="rId3"/>
          <a:stretch>
            <a:fillRect/>
          </a:stretch>
        </p:blipFill>
        <p:spPr>
          <a:xfrm>
            <a:off x="9356079" y="4038600"/>
            <a:ext cx="2852442" cy="2686050"/>
          </a:xfrm>
          <a:prstGeom prst="rect">
            <a:avLst/>
          </a:prstGeom>
        </p:spPr>
      </p:pic>
      <p:grpSp>
        <p:nvGrpSpPr>
          <p:cNvPr id="6" name="Group 6"/>
          <p:cNvGrpSpPr/>
          <p:nvPr/>
        </p:nvGrpSpPr>
        <p:grpSpPr>
          <a:xfrm>
            <a:off x="1333500" y="2000250"/>
            <a:ext cx="2705100" cy="1905000"/>
            <a:chOff x="1333500" y="2000250"/>
            <a:chExt cx="2705100" cy="1905000"/>
          </a:xfrm>
        </p:grpSpPr>
        <p:pic>
          <p:nvPicPr>
            <p:cNvPr id="5" name="Image 5"/>
            <p:cNvPicPr>
              <a:picLocks noChangeAspect="1"/>
            </p:cNvPicPr>
            <p:nvPr/>
          </p:nvPicPr>
          <p:blipFill>
            <a:blip r:embed="rId4"/>
            <a:stretch>
              <a:fillRect/>
            </a:stretch>
          </p:blipFill>
          <p:spPr>
            <a:xfrm>
              <a:off x="1333500" y="2000250"/>
              <a:ext cx="2705100" cy="1905000"/>
            </a:xfrm>
            <a:prstGeom prst="rect">
              <a:avLst/>
            </a:prstGeom>
            <a:effectLst>
              <a:outerShdw blurRad="171450" dist="57150" dir="5400000" algn="ctr" rotWithShape="0">
                <a:srgbClr val="05070F">
                  <a:alpha val="15000"/>
                </a:srgbClr>
              </a:outerShdw>
            </a:effectLst>
          </p:spPr>
        </p:pic>
      </p:grpSp>
      <p:grpSp>
        <p:nvGrpSpPr>
          <p:cNvPr id="9" name="Group 9"/>
          <p:cNvGrpSpPr/>
          <p:nvPr/>
        </p:nvGrpSpPr>
        <p:grpSpPr>
          <a:xfrm>
            <a:off x="1314450" y="4341495"/>
            <a:ext cx="8997086" cy="1138428"/>
            <a:chOff x="1314450" y="4341495"/>
            <a:chExt cx="8997086" cy="1138428"/>
          </a:xfrm>
        </p:grpSpPr>
        <p:sp>
          <p:nvSpPr>
            <p:cNvPr id="7" name="TextBox 7"/>
            <p:cNvSpPr txBox="1"/>
            <p:nvPr/>
          </p:nvSpPr>
          <p:spPr>
            <a:xfrm>
              <a:off x="1314450" y="4341495"/>
              <a:ext cx="8997086" cy="762000"/>
            </a:xfrm>
            <a:prstGeom prst="rect">
              <a:avLst/>
            </a:prstGeom>
            <a:noFill/>
            <a:ln>
              <a:noFill/>
            </a:ln>
          </p:spPr>
          <p:txBody>
            <a:bodyPr wrap="none" lIns="0" tIns="0" rIns="0" bIns="0" anchor="t" anchorCtr="0">
              <a:spAutoFit/>
            </a:bodyPr>
            <a:lstStyle/>
            <a:p>
              <a:pPr algn="l"/>
              <a:r>
                <a:rPr lang="zh-CN" sz="3900" dirty="0">
                  <a:solidFill>
                    <a:schemeClr val="accent1"/>
                  </a:solidFill>
                  <a:latin typeface="+mj-lt"/>
                  <a:ea typeface="+mj-ea"/>
                  <a:cs typeface="+mj-cs"/>
                </a:rPr>
                <a:t>二 · 饼：这个词比这个习俗早三百年</a:t>
              </a:r>
            </a:p>
          </p:txBody>
        </p:sp>
        <p:sp>
          <p:nvSpPr>
            <p:cNvPr id="8" name="TextBox 8"/>
            <p:cNvSpPr txBox="1"/>
            <p:nvPr/>
          </p:nvSpPr>
          <p:spPr>
            <a:xfrm>
              <a:off x="1322832" y="5069205"/>
              <a:ext cx="6523482" cy="410718"/>
            </a:xfrm>
            <a:prstGeom prst="rect">
              <a:avLst/>
            </a:prstGeom>
            <a:noFill/>
            <a:ln>
              <a:noFill/>
            </a:ln>
          </p:spPr>
          <p:txBody>
            <a:bodyPr wrap="none" lIns="0" tIns="0" rIns="0" bIns="0" anchor="t" anchorCtr="0">
              <a:spAutoFit/>
            </a:bodyPr>
            <a:lstStyle/>
            <a:p>
              <a:pPr algn="l"/>
              <a:r>
                <a:rPr lang="zh-CN" sz="2100" dirty="0">
                  <a:solidFill>
                    <a:schemeClr val="accent5"/>
                  </a:solidFill>
                  <a:latin typeface="+mn-lt"/>
                  <a:ea typeface="+mn-ea"/>
                  <a:cs typeface="+mn-cs"/>
                </a:rPr>
                <a:t>如果南宋人已经在吃月饼，他们为什么不在中秋送？</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22" presetClass="entr" presetSubtype="4"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00"/>
                                        <p:tgtEl>
                                          <p:spTgt spid="6"/>
                                        </p:tgtEl>
                                      </p:cBhvr>
                                    </p:animEffect>
                                  </p:childTnLst>
                                </p:cTn>
                              </p:par>
                            </p:childTnLst>
                          </p:cTn>
                        </p:par>
                        <p:par>
                          <p:cTn id="8" fill="hold">
                            <p:stCondLst>
                              <p:cond delay="500"/>
                            </p:stCondLst>
                            <p:childTnLst>
                              <p:par>
                                <p:cTn xmlns:p="http://schemas.openxmlformats.org/presentationml/2006/main" id="9" presetID="22" presetClass="entr" presetSubtype="2" fill="hold" grpId="0" nodeType="afterEffect">
                                  <p:stCondLst>
                                    <p:cond delay="100"/>
                                  </p:stCondLst>
                                  <p:childTnLst>
                                    <p:set>
                                      <p:cBhvr>
                                        <p:cTn id="10" dur="1" fill="hold">
                                          <p:stCondLst>
                                            <p:cond delay="0"/>
                                          </p:stCondLst>
                                        </p:cTn>
                                        <p:tgtEl>
                                          <p:spTgt spid="9"/>
                                        </p:tgtEl>
                                        <p:attrNameLst>
                                          <p:attrName>style.visibility</p:attrName>
                                        </p:attrNameLst>
                                      </p:cBhvr>
                                      <p:to>
                                        <p:strVal val="visible"/>
                                      </p:to>
                                    </p:set>
                                    <p:animEffect transition="in" filter="wipe(right)">
                                      <p:cBhvr>
                                        <p:cTn id="11" dur="5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69798" y="726758"/>
            <a:ext cx="8545068" cy="962215"/>
            <a:chOff x="669798" y="726758"/>
            <a:chExt cx="8545068" cy="962215"/>
          </a:xfrm>
        </p:grpSpPr>
        <p:sp>
          <p:nvSpPr>
            <p:cNvPr id="2" name="TextBox 2"/>
            <p:cNvSpPr txBox="1"/>
            <p:nvPr/>
          </p:nvSpPr>
          <p:spPr>
            <a:xfrm>
              <a:off x="669798" y="726758"/>
              <a:ext cx="8545068" cy="616077"/>
            </a:xfrm>
            <a:prstGeom prst="rect">
              <a:avLst/>
            </a:prstGeom>
            <a:noFill/>
            <a:ln>
              <a:noFill/>
            </a:ln>
          </p:spPr>
          <p:txBody>
            <a:bodyPr wrap="none" lIns="0" tIns="0" rIns="0" bIns="0" anchor="t" anchorCtr="0">
              <a:spAutoFit/>
            </a:bodyPr>
            <a:lstStyle/>
            <a:p>
              <a:pPr algn="l"/>
              <a:r>
                <a:rPr lang="zh-CN" sz="3150" dirty="0">
                  <a:solidFill>
                    <a:schemeClr val="dk1"/>
                  </a:solidFill>
                  <a:latin typeface="+mj-lt"/>
                  <a:ea typeface="+mj-ea"/>
                  <a:cs typeface="+mj-cs"/>
                </a:rPr>
                <a:t>南宋菜单上的点心，怎么变成一饼值数百钱</a:t>
              </a:r>
            </a:p>
          </p:txBody>
        </p:sp>
        <p:sp>
          <p:nvSpPr>
            <p:cNvPr id="3" name="TextBox 3"/>
            <p:cNvSpPr txBox="1"/>
            <p:nvPr/>
          </p:nvSpPr>
          <p:spPr>
            <a:xfrm>
              <a:off x="675132" y="1278255"/>
              <a:ext cx="5958078" cy="410718"/>
            </a:xfrm>
            <a:prstGeom prst="rect">
              <a:avLst/>
            </a:prstGeom>
            <a:noFill/>
            <a:ln>
              <a:noFill/>
            </a:ln>
          </p:spPr>
          <p:txBody>
            <a:bodyPr wrap="none" lIns="0" tIns="0" rIns="0" bIns="0" anchor="t" anchorCtr="0">
              <a:spAutoFit/>
            </a:bodyPr>
            <a:lstStyle/>
            <a:p>
              <a:pPr algn="l"/>
              <a:r>
                <a:rPr lang="zh-CN" sz="2100" dirty="0">
                  <a:solidFill>
                    <a:schemeClr val="accent5"/>
                  </a:solidFill>
                  <a:latin typeface="+mn-lt"/>
                  <a:ea typeface="+mn-ea"/>
                  <a:cs typeface="+mn-cs"/>
                </a:rPr>
                <a:t>被写进历史的顺序是：先有词，后有俗，再有价</a:t>
              </a:r>
            </a:p>
          </p:txBody>
        </p:sp>
      </p:grpSp>
      <p:grpSp>
        <p:nvGrpSpPr>
          <p:cNvPr id="8" name="Group 8"/>
          <p:cNvGrpSpPr/>
          <p:nvPr/>
        </p:nvGrpSpPr>
        <p:grpSpPr>
          <a:xfrm>
            <a:off x="685800" y="2000250"/>
            <a:ext cx="5334000" cy="786384"/>
            <a:chOff x="685800" y="2000250"/>
            <a:chExt cx="5334000" cy="786384"/>
          </a:xfrm>
        </p:grpSpPr>
        <p:sp>
          <p:nvSpPr>
            <p:cNvPr id="5" name="Freeform 5"/>
            <p:cNvSpPr/>
            <p:nvPr/>
          </p:nvSpPr>
          <p:spPr>
            <a:xfrm>
              <a:off x="685800" y="2000250"/>
              <a:ext cx="5334000" cy="781050"/>
            </a:xfrm>
            <a:prstGeom prst="snip1Rect">
              <a:avLst/>
            </a:prstGeom>
            <a:solidFill>
              <a:schemeClr val="lt2"/>
            </a:solidFill>
            <a:ln>
              <a:noFill/>
            </a:ln>
          </p:spPr>
        </p:sp>
        <p:sp>
          <p:nvSpPr>
            <p:cNvPr id="6" name="TextBox 6"/>
            <p:cNvSpPr txBox="1"/>
            <p:nvPr/>
          </p:nvSpPr>
          <p:spPr>
            <a:xfrm>
              <a:off x="944880" y="2143125"/>
              <a:ext cx="2278370"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南宋 · 《梦粱录》卷十六</a:t>
              </a:r>
            </a:p>
          </p:txBody>
        </p:sp>
        <p:sp>
          <p:nvSpPr>
            <p:cNvPr id="7" name="TextBox 7"/>
            <p:cNvSpPr txBox="1"/>
            <p:nvPr/>
          </p:nvSpPr>
          <p:spPr>
            <a:xfrm>
              <a:off x="943356" y="2434590"/>
              <a:ext cx="4404208"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「四时皆有，任便索唤」——只是市井小吃</a:t>
              </a:r>
            </a:p>
          </p:txBody>
        </p:sp>
      </p:grpSp>
      <p:grpSp>
        <p:nvGrpSpPr>
          <p:cNvPr id="12" name="Group 12"/>
          <p:cNvGrpSpPr/>
          <p:nvPr/>
        </p:nvGrpSpPr>
        <p:grpSpPr>
          <a:xfrm>
            <a:off x="685800" y="2857500"/>
            <a:ext cx="6096000" cy="786384"/>
            <a:chOff x="685800" y="2857500"/>
            <a:chExt cx="6096000" cy="786384"/>
          </a:xfrm>
        </p:grpSpPr>
        <p:sp>
          <p:nvSpPr>
            <p:cNvPr id="9" name="Freeform 9"/>
            <p:cNvSpPr/>
            <p:nvPr/>
          </p:nvSpPr>
          <p:spPr>
            <a:xfrm>
              <a:off x="685800" y="2857500"/>
              <a:ext cx="6096000" cy="781050"/>
            </a:xfrm>
            <a:prstGeom prst="snip1Rect">
              <a:avLst/>
            </a:prstGeom>
            <a:solidFill>
              <a:srgbClr val="232D57"/>
            </a:solidFill>
            <a:ln>
              <a:noFill/>
            </a:ln>
          </p:spPr>
        </p:sp>
        <p:sp>
          <p:nvSpPr>
            <p:cNvPr id="10" name="TextBox 10"/>
            <p:cNvSpPr txBox="1"/>
            <p:nvPr/>
          </p:nvSpPr>
          <p:spPr>
            <a:xfrm>
              <a:off x="944880" y="3000375"/>
              <a:ext cx="1874510"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南宋 · 《武林旧事》</a:t>
              </a:r>
            </a:p>
          </p:txBody>
        </p:sp>
        <p:sp>
          <p:nvSpPr>
            <p:cNvPr id="11" name="TextBox 11"/>
            <p:cNvSpPr txBox="1"/>
            <p:nvPr/>
          </p:nvSpPr>
          <p:spPr>
            <a:xfrm>
              <a:off x="943356" y="3291840"/>
              <a:ext cx="4864608"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列于临安五十余种蒸食之中，仍不属任何节日</a:t>
              </a:r>
            </a:p>
          </p:txBody>
        </p:sp>
      </p:grpSp>
      <p:grpSp>
        <p:nvGrpSpPr>
          <p:cNvPr id="16" name="Group 16"/>
          <p:cNvGrpSpPr/>
          <p:nvPr/>
        </p:nvGrpSpPr>
        <p:grpSpPr>
          <a:xfrm>
            <a:off x="685800" y="3714750"/>
            <a:ext cx="6858000" cy="786384"/>
            <a:chOff x="685800" y="3714750"/>
            <a:chExt cx="6858000" cy="786384"/>
          </a:xfrm>
        </p:grpSpPr>
        <p:sp>
          <p:nvSpPr>
            <p:cNvPr id="13" name="Freeform 13"/>
            <p:cNvSpPr/>
            <p:nvPr/>
          </p:nvSpPr>
          <p:spPr>
            <a:xfrm>
              <a:off x="685800" y="3714750"/>
              <a:ext cx="6858000" cy="781050"/>
            </a:xfrm>
            <a:prstGeom prst="snip1Rect">
              <a:avLst/>
            </a:prstGeom>
            <a:solidFill>
              <a:srgbClr val="293466"/>
            </a:solidFill>
            <a:ln>
              <a:noFill/>
            </a:ln>
          </p:spPr>
        </p:sp>
        <p:sp>
          <p:nvSpPr>
            <p:cNvPr id="14" name="TextBox 14"/>
            <p:cNvSpPr txBox="1"/>
            <p:nvPr/>
          </p:nvSpPr>
          <p:spPr>
            <a:xfrm>
              <a:off x="944880" y="3857625"/>
              <a:ext cx="2278370"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明代 · 《西湖游览志余》</a:t>
              </a:r>
            </a:p>
          </p:txBody>
        </p:sp>
        <p:sp>
          <p:nvSpPr>
            <p:cNvPr id="15" name="TextBox 15"/>
            <p:cNvSpPr txBox="1"/>
            <p:nvPr/>
          </p:nvSpPr>
          <p:spPr>
            <a:xfrm>
              <a:off x="943356" y="4149090"/>
              <a:ext cx="6342736"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「民间以月饼相遗，</a:t>
              </a:r>
              <a:r>
                <a:rPr lang="zh-CN" sz="1800" b="1" dirty="0">
                  <a:solidFill>
                    <a:schemeClr val="accent1"/>
                  </a:solidFill>
                  <a:latin typeface="+mn-lt"/>
                  <a:ea typeface="+mn-ea"/>
                  <a:cs typeface="+mn-cs"/>
                </a:rPr>
                <a:t>取团圆之义</a:t>
              </a:r>
              <a:r>
                <a:rPr lang="zh-CN" sz="1800" dirty="0">
                  <a:solidFill>
                    <a:schemeClr val="dk1"/>
                  </a:solidFill>
                  <a:latin typeface="+mn-lt"/>
                  <a:ea typeface="+mn-ea"/>
                  <a:cs typeface="+mn-cs"/>
                </a:rPr>
                <a:t>」——时间、行为、意义齐了</a:t>
              </a:r>
            </a:p>
          </p:txBody>
        </p:sp>
      </p:grpSp>
      <p:grpSp>
        <p:nvGrpSpPr>
          <p:cNvPr id="20" name="Group 20"/>
          <p:cNvGrpSpPr/>
          <p:nvPr/>
        </p:nvGrpSpPr>
        <p:grpSpPr>
          <a:xfrm>
            <a:off x="685800" y="4572000"/>
            <a:ext cx="7620000" cy="786384"/>
            <a:chOff x="685800" y="4572000"/>
            <a:chExt cx="7620000" cy="786384"/>
          </a:xfrm>
        </p:grpSpPr>
        <p:sp>
          <p:nvSpPr>
            <p:cNvPr id="17" name="Freeform 17"/>
            <p:cNvSpPr/>
            <p:nvPr/>
          </p:nvSpPr>
          <p:spPr>
            <a:xfrm>
              <a:off x="685800" y="4572000"/>
              <a:ext cx="7620000" cy="781050"/>
            </a:xfrm>
            <a:prstGeom prst="snip1Rect">
              <a:avLst/>
            </a:prstGeom>
            <a:solidFill>
              <a:srgbClr val="2F3B75"/>
            </a:solidFill>
            <a:ln>
              <a:noFill/>
            </a:ln>
            <a:effectLst>
              <a:outerShdw blurRad="171450" dist="57150" dir="5400000" algn="ctr" rotWithShape="0">
                <a:srgbClr val="05070F">
                  <a:alpha val="15000"/>
                </a:srgbClr>
              </a:outerShdw>
            </a:effectLst>
          </p:spPr>
        </p:sp>
        <p:sp>
          <p:nvSpPr>
            <p:cNvPr id="18" name="TextBox 18"/>
            <p:cNvSpPr txBox="1"/>
            <p:nvPr/>
          </p:nvSpPr>
          <p:spPr>
            <a:xfrm>
              <a:off x="944880" y="4714875"/>
              <a:ext cx="4381471"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明万历 · 《宛署杂记》 / 明末 · 《帝京景物略》</a:t>
              </a:r>
            </a:p>
          </p:txBody>
        </p:sp>
        <p:sp>
          <p:nvSpPr>
            <p:cNvPr id="19" name="TextBox 19"/>
            <p:cNvSpPr txBox="1"/>
            <p:nvPr/>
          </p:nvSpPr>
          <p:spPr>
            <a:xfrm>
              <a:off x="943356" y="5006340"/>
              <a:ext cx="6342736"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「有一饼值</a:t>
              </a:r>
              <a:r>
                <a:rPr lang="zh-CN" sz="1800" b="1" dirty="0">
                  <a:solidFill>
                    <a:schemeClr val="accent1"/>
                  </a:solidFill>
                  <a:latin typeface="+mn-lt"/>
                  <a:ea typeface="+mn-ea"/>
                  <a:cs typeface="+mn-cs"/>
                </a:rPr>
                <a:t>数百钱</a:t>
              </a:r>
              <a:r>
                <a:rPr lang="zh-CN" sz="1800" dirty="0">
                  <a:solidFill>
                    <a:schemeClr val="dk1"/>
                  </a:solidFill>
                  <a:latin typeface="+mn-lt"/>
                  <a:ea typeface="+mn-ea"/>
                  <a:cs typeface="+mn-cs"/>
                </a:rPr>
                <a:t>者」；「饼有径二尺者」——成了社交货币</a:t>
              </a:r>
            </a:p>
          </p:txBody>
        </p:sp>
      </p:grpSp>
      <p:grpSp>
        <p:nvGrpSpPr>
          <p:cNvPr id="23" name="Group 23"/>
          <p:cNvGrpSpPr/>
          <p:nvPr/>
        </p:nvGrpSpPr>
        <p:grpSpPr>
          <a:xfrm>
            <a:off x="8858250" y="2038350"/>
            <a:ext cx="1714500" cy="3743325"/>
            <a:chOff x="8858250" y="2038350"/>
            <a:chExt cx="1714500" cy="3743325"/>
          </a:xfrm>
        </p:grpSpPr>
        <p:pic>
          <p:nvPicPr>
            <p:cNvPr id="21" name="Image 21"/>
            <p:cNvPicPr>
              <a:picLocks noChangeAspect="1"/>
            </p:cNvPicPr>
            <p:nvPr/>
          </p:nvPicPr>
          <p:blipFill>
            <a:blip r:embed="rId2"/>
            <a:stretch>
              <a:fillRect/>
            </a:stretch>
          </p:blipFill>
          <p:spPr>
            <a:xfrm>
              <a:off x="8858250" y="2038350"/>
              <a:ext cx="1714500" cy="1371600"/>
            </a:xfrm>
            <a:prstGeom prst="rect">
              <a:avLst/>
            </a:prstGeom>
          </p:spPr>
        </p:pic>
        <p:pic>
          <p:nvPicPr>
            <p:cNvPr id="22" name="Image 22"/>
            <p:cNvPicPr>
              <a:picLocks noChangeAspect="1"/>
            </p:cNvPicPr>
            <p:nvPr/>
          </p:nvPicPr>
          <p:blipFill>
            <a:blip r:embed="rId3"/>
            <a:stretch>
              <a:fillRect/>
            </a:stretch>
          </p:blipFill>
          <p:spPr>
            <a:xfrm>
              <a:off x="8858250" y="4095750"/>
              <a:ext cx="1714500" cy="1685925"/>
            </a:xfrm>
            <a:prstGeom prst="rect">
              <a:avLst/>
            </a:prstGeom>
          </p:spPr>
        </p:pic>
      </p:grpSp>
      <p:grpSp>
        <p:nvGrpSpPr>
          <p:cNvPr id="25" name="Group 25"/>
          <p:cNvGrpSpPr/>
          <p:nvPr/>
        </p:nvGrpSpPr>
        <p:grpSpPr>
          <a:xfrm>
            <a:off x="678942" y="5702618"/>
            <a:ext cx="4375404" cy="264033"/>
            <a:chOff x="678942" y="5702618"/>
            <a:chExt cx="4375404" cy="264033"/>
          </a:xfrm>
        </p:grpSpPr>
        <p:sp>
          <p:nvSpPr>
            <p:cNvPr id="24" name="TextBox 24"/>
            <p:cNvSpPr txBox="1"/>
            <p:nvPr/>
          </p:nvSpPr>
          <p:spPr>
            <a:xfrm>
              <a:off x="678942" y="5702618"/>
              <a:ext cx="4375404" cy="264033"/>
            </a:xfrm>
            <a:prstGeom prst="rect">
              <a:avLst/>
            </a:prstGeom>
            <a:noFill/>
            <a:ln>
              <a:noFill/>
            </a:ln>
          </p:spPr>
          <p:txBody>
            <a:bodyPr wrap="none" lIns="0" tIns="0" rIns="0" bIns="0" anchor="t" anchorCtr="0">
              <a:spAutoFit/>
            </a:bodyPr>
            <a:lstStyle/>
            <a:p>
              <a:pPr algn="l"/>
              <a:r>
                <a:rPr lang="zh-CN" sz="1350" dirty="0">
                  <a:solidFill>
                    <a:schemeClr val="accent3"/>
                  </a:solidFill>
                  <a:latin typeface="+mn-lt"/>
                  <a:ea typeface="+mn-ea"/>
                  <a:cs typeface="+mn-cs"/>
                </a:rPr>
                <a:t>「月饼」一词，比「中秋送月饼」这件事早了约三百年</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22" presetClass="entr" presetSubtype="2"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right)">
                                      <p:cBhvr>
                                        <p:cTn id="7" dur="450"/>
                                        <p:tgtEl>
                                          <p:spTgt spid="8"/>
                                        </p:tgtEl>
                                      </p:cBhvr>
                                    </p:animEffect>
                                  </p:childTnLst>
                                </p:cTn>
                              </p:par>
                            </p:childTnLst>
                          </p:cTn>
                        </p:par>
                        <p:par>
                          <p:cTn id="8" fill="hold">
                            <p:stCondLst>
                              <p:cond delay="450"/>
                            </p:stCondLst>
                            <p:childTnLst>
                              <p:par>
                                <p:cTn xmlns:p="http://schemas.openxmlformats.org/presentationml/2006/main" id="9" presetID="22" presetClass="entr" presetSubtype="2" fill="hold" grpId="0" nodeType="afterEffect">
                                  <p:stCondLst>
                                    <p:cond delay="120"/>
                                  </p:stCondLst>
                                  <p:childTnLst>
                                    <p:set>
                                      <p:cBhvr>
                                        <p:cTn id="10" dur="1" fill="hold">
                                          <p:stCondLst>
                                            <p:cond delay="0"/>
                                          </p:stCondLst>
                                        </p:cTn>
                                        <p:tgtEl>
                                          <p:spTgt spid="12"/>
                                        </p:tgtEl>
                                        <p:attrNameLst>
                                          <p:attrName>style.visibility</p:attrName>
                                        </p:attrNameLst>
                                      </p:cBhvr>
                                      <p:to>
                                        <p:strVal val="visible"/>
                                      </p:to>
                                    </p:set>
                                    <p:animEffect transition="in" filter="wipe(right)">
                                      <p:cBhvr>
                                        <p:cTn id="11" dur="450"/>
                                        <p:tgtEl>
                                          <p:spTgt spid="12"/>
                                        </p:tgtEl>
                                      </p:cBhvr>
                                    </p:animEffect>
                                  </p:childTnLst>
                                </p:cTn>
                              </p:par>
                            </p:childTnLst>
                          </p:cTn>
                        </p:par>
                        <p:par>
                          <p:cTn id="12" fill="hold">
                            <p:stCondLst>
                              <p:cond delay="1020"/>
                            </p:stCondLst>
                            <p:childTnLst>
                              <p:par>
                                <p:cTn xmlns:p="http://schemas.openxmlformats.org/presentationml/2006/main" id="13" presetID="22" presetClass="entr" presetSubtype="2" fill="hold" grpId="0" nodeType="afterEffect">
                                  <p:stCondLst>
                                    <p:cond delay="120"/>
                                  </p:stCondLst>
                                  <p:childTnLst>
                                    <p:set>
                                      <p:cBhvr>
                                        <p:cTn id="14" dur="1" fill="hold">
                                          <p:stCondLst>
                                            <p:cond delay="0"/>
                                          </p:stCondLst>
                                        </p:cTn>
                                        <p:tgtEl>
                                          <p:spTgt spid="16"/>
                                        </p:tgtEl>
                                        <p:attrNameLst>
                                          <p:attrName>style.visibility</p:attrName>
                                        </p:attrNameLst>
                                      </p:cBhvr>
                                      <p:to>
                                        <p:strVal val="visible"/>
                                      </p:to>
                                    </p:set>
                                    <p:animEffect transition="in" filter="wipe(right)">
                                      <p:cBhvr>
                                        <p:cTn id="15" dur="450"/>
                                        <p:tgtEl>
                                          <p:spTgt spid="16"/>
                                        </p:tgtEl>
                                      </p:cBhvr>
                                    </p:animEffect>
                                  </p:childTnLst>
                                </p:cTn>
                              </p:par>
                            </p:childTnLst>
                          </p:cTn>
                        </p:par>
                        <p:par>
                          <p:cTn id="16" fill="hold">
                            <p:stCondLst>
                              <p:cond delay="1590"/>
                            </p:stCondLst>
                            <p:childTnLst>
                              <p:par>
                                <p:cTn xmlns:p="http://schemas.openxmlformats.org/presentationml/2006/main" id="17" presetID="22" presetClass="entr" presetSubtype="2" fill="hold" grpId="0" nodeType="afterEffect">
                                  <p:stCondLst>
                                    <p:cond delay="120"/>
                                  </p:stCondLst>
                                  <p:childTnLst>
                                    <p:set>
                                      <p:cBhvr>
                                        <p:cTn id="18" dur="1" fill="hold">
                                          <p:stCondLst>
                                            <p:cond delay="0"/>
                                          </p:stCondLst>
                                        </p:cTn>
                                        <p:tgtEl>
                                          <p:spTgt spid="20"/>
                                        </p:tgtEl>
                                        <p:attrNameLst>
                                          <p:attrName>style.visibility</p:attrName>
                                        </p:attrNameLst>
                                      </p:cBhvr>
                                      <p:to>
                                        <p:strVal val="visible"/>
                                      </p:to>
                                    </p:set>
                                    <p:animEffect transition="in" filter="wipe(right)">
                                      <p:cBhvr>
                                        <p:cTn id="19" dur="450"/>
                                        <p:tgtEl>
                                          <p:spTgt spid="20"/>
                                        </p:tgtEl>
                                      </p:cBhvr>
                                    </p:animEffect>
                                  </p:childTnLst>
                                </p:cTn>
                              </p:par>
                            </p:childTnLst>
                          </p:cTn>
                        </p:par>
                        <p:par>
                          <p:cTn id="20" fill="hold">
                            <p:stCondLst>
                              <p:cond delay="2160"/>
                            </p:stCondLst>
                            <p:childTnLst>
                              <p:par>
                                <p:cTn xmlns:p="http://schemas.openxmlformats.org/presentationml/2006/main" id="21" presetID="10" presetClass="entr" presetSubtype="0" fill="hold" grpId="0" nodeType="afterEffect">
                                  <p:stCondLst>
                                    <p:cond delay="12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500"/>
                                        <p:tgtEl>
                                          <p:spTgt spid="23"/>
                                        </p:tgtEl>
                                      </p:cBhvr>
                                    </p:animEffect>
                                  </p:childTnLst>
                                </p:cTn>
                              </p:par>
                            </p:childTnLst>
                          </p:cTn>
                        </p:par>
                        <p:par>
                          <p:cTn id="24" fill="hold">
                            <p:stCondLst>
                              <p:cond delay="2780"/>
                            </p:stCondLst>
                            <p:childTnLst>
                              <p:par>
                                <p:cTn xmlns:p="http://schemas.openxmlformats.org/presentationml/2006/main" id="25" presetID="10" presetClass="entr" presetSubtype="0" fill="hold" grpId="0" nodeType="afterEffect">
                                  <p:stCondLst>
                                    <p:cond delay="12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alphaModFix amt="55000"/>
          </a:blip>
          <a:stretch>
            <a:fillRect/>
          </a:stretch>
        </p:blipFill>
        <p:spPr>
          <a:xfrm>
            <a:off x="9563100" y="-682709"/>
            <a:ext cx="3333750" cy="3137069"/>
          </a:xfrm>
          <a:prstGeom prst="rect">
            <a:avLst/>
          </a:prstGeom>
        </p:spPr>
      </p:pic>
      <p:grpSp>
        <p:nvGrpSpPr>
          <p:cNvPr id="5" name="Group 5"/>
          <p:cNvGrpSpPr/>
          <p:nvPr/>
        </p:nvGrpSpPr>
        <p:grpSpPr>
          <a:xfrm>
            <a:off x="669798" y="726758"/>
            <a:ext cx="7285177" cy="962215"/>
            <a:chOff x="669798" y="726758"/>
            <a:chExt cx="7285177" cy="962215"/>
          </a:xfrm>
        </p:grpSpPr>
        <p:sp>
          <p:nvSpPr>
            <p:cNvPr id="3" name="TextBox 3"/>
            <p:cNvSpPr txBox="1"/>
            <p:nvPr/>
          </p:nvSpPr>
          <p:spPr>
            <a:xfrm>
              <a:off x="669798" y="726758"/>
              <a:ext cx="5408676" cy="616077"/>
            </a:xfrm>
            <a:prstGeom prst="rect">
              <a:avLst/>
            </a:prstGeom>
            <a:noFill/>
            <a:ln>
              <a:noFill/>
            </a:ln>
          </p:spPr>
          <p:txBody>
            <a:bodyPr wrap="none" lIns="0" tIns="0" rIns="0" bIns="0" anchor="t" anchorCtr="0">
              <a:spAutoFit/>
            </a:bodyPr>
            <a:lstStyle/>
            <a:p>
              <a:pPr algn="l"/>
              <a:r>
                <a:rPr lang="zh-CN" sz="3150" dirty="0">
                  <a:solidFill>
                    <a:schemeClr val="dk1"/>
                  </a:solidFill>
                  <a:latin typeface="+mj-lt"/>
                  <a:ea typeface="+mj-ea"/>
                  <a:cs typeface="+mj-cs"/>
                </a:rPr>
                <a:t>差别不在馅，在饼皮怎么起</a:t>
              </a:r>
            </a:p>
          </p:txBody>
        </p:sp>
        <p:sp>
          <p:nvSpPr>
            <p:cNvPr id="4" name="TextBox 4"/>
            <p:cNvSpPr txBox="1"/>
            <p:nvPr/>
          </p:nvSpPr>
          <p:spPr>
            <a:xfrm>
              <a:off x="675132" y="1278255"/>
              <a:ext cx="7279843" cy="410718"/>
            </a:xfrm>
            <a:prstGeom prst="rect">
              <a:avLst/>
            </a:prstGeom>
            <a:noFill/>
            <a:ln>
              <a:noFill/>
            </a:ln>
          </p:spPr>
          <p:txBody>
            <a:bodyPr wrap="none" lIns="0" tIns="0" rIns="0" bIns="0" anchor="t" anchorCtr="0">
              <a:spAutoFit/>
            </a:bodyPr>
            <a:lstStyle/>
            <a:p>
              <a:pPr algn="l"/>
              <a:r>
                <a:rPr lang="zh-CN" sz="2100" dirty="0">
                  <a:solidFill>
                    <a:schemeClr val="accent5"/>
                  </a:solidFill>
                  <a:latin typeface="+mn-lt"/>
                  <a:ea typeface="+mn-ea"/>
                  <a:cs typeface="+mn-cs"/>
                </a:rPr>
                <a:t>依据现行国家标准 GB/T 19855—2023《月饼质量通则》</a:t>
              </a:r>
            </a:p>
          </p:txBody>
        </p:sp>
      </p:grpSp>
      <p:grpSp>
        <p:nvGrpSpPr>
          <p:cNvPr id="11" name="Group 11"/>
          <p:cNvGrpSpPr/>
          <p:nvPr/>
        </p:nvGrpSpPr>
        <p:grpSpPr>
          <a:xfrm>
            <a:off x="828735" y="2466975"/>
            <a:ext cx="742830" cy="3181350"/>
            <a:chOff x="828735" y="2466975"/>
            <a:chExt cx="742830" cy="3181350"/>
          </a:xfrm>
        </p:grpSpPr>
        <p:pic>
          <p:nvPicPr>
            <p:cNvPr id="6" name="Image 6"/>
            <p:cNvPicPr>
              <a:picLocks noChangeAspect="1"/>
            </p:cNvPicPr>
            <p:nvPr/>
          </p:nvPicPr>
          <p:blipFill>
            <a:blip r:embed="rId3"/>
            <a:stretch>
              <a:fillRect/>
            </a:stretch>
          </p:blipFill>
          <p:spPr>
            <a:xfrm>
              <a:off x="916686" y="2466975"/>
              <a:ext cx="566928" cy="590550"/>
            </a:xfrm>
            <a:prstGeom prst="rect">
              <a:avLst/>
            </a:prstGeom>
          </p:spPr>
        </p:pic>
        <p:pic>
          <p:nvPicPr>
            <p:cNvPr id="7" name="Image 7"/>
            <p:cNvPicPr>
              <a:picLocks noChangeAspect="1"/>
            </p:cNvPicPr>
            <p:nvPr/>
          </p:nvPicPr>
          <p:blipFill>
            <a:blip r:embed="rId4"/>
            <a:stretch>
              <a:fillRect/>
            </a:stretch>
          </p:blipFill>
          <p:spPr>
            <a:xfrm>
              <a:off x="831056" y="3114675"/>
              <a:ext cx="738188" cy="590550"/>
            </a:xfrm>
            <a:prstGeom prst="rect">
              <a:avLst/>
            </a:prstGeom>
          </p:spPr>
        </p:pic>
        <p:pic>
          <p:nvPicPr>
            <p:cNvPr id="8" name="Image 8"/>
            <p:cNvPicPr>
              <a:picLocks noChangeAspect="1"/>
            </p:cNvPicPr>
            <p:nvPr/>
          </p:nvPicPr>
          <p:blipFill>
            <a:blip r:embed="rId5"/>
            <a:stretch>
              <a:fillRect/>
            </a:stretch>
          </p:blipFill>
          <p:spPr>
            <a:xfrm>
              <a:off x="899870" y="3762375"/>
              <a:ext cx="600559" cy="590550"/>
            </a:xfrm>
            <a:prstGeom prst="rect">
              <a:avLst/>
            </a:prstGeom>
          </p:spPr>
        </p:pic>
        <p:pic>
          <p:nvPicPr>
            <p:cNvPr id="9" name="Image 9"/>
            <p:cNvPicPr>
              <a:picLocks noChangeAspect="1"/>
            </p:cNvPicPr>
            <p:nvPr/>
          </p:nvPicPr>
          <p:blipFill>
            <a:blip r:embed="rId6"/>
            <a:stretch>
              <a:fillRect/>
            </a:stretch>
          </p:blipFill>
          <p:spPr>
            <a:xfrm>
              <a:off x="907828" y="4410075"/>
              <a:ext cx="584644" cy="590550"/>
            </a:xfrm>
            <a:prstGeom prst="rect">
              <a:avLst/>
            </a:prstGeom>
          </p:spPr>
        </p:pic>
        <p:pic>
          <p:nvPicPr>
            <p:cNvPr id="10" name="Image 10"/>
            <p:cNvPicPr>
              <a:picLocks noChangeAspect="1"/>
            </p:cNvPicPr>
            <p:nvPr/>
          </p:nvPicPr>
          <p:blipFill>
            <a:blip r:embed="rId7"/>
            <a:stretch>
              <a:fillRect/>
            </a:stretch>
          </p:blipFill>
          <p:spPr>
            <a:xfrm>
              <a:off x="828735" y="5057775"/>
              <a:ext cx="742830" cy="590550"/>
            </a:xfrm>
            <a:prstGeom prst="rect">
              <a:avLst/>
            </a:prstGeom>
          </p:spPr>
        </p:pic>
      </p:grpSp>
      <p:grpSp>
        <p:nvGrpSpPr>
          <p:cNvPr id="54" name="Group 54"/>
          <p:cNvGrpSpPr/>
          <p:nvPr/>
        </p:nvGrpSpPr>
        <p:grpSpPr>
          <a:xfrm>
            <a:off x="1809750" y="1905000"/>
            <a:ext cx="9715500" cy="3781425"/>
            <a:chOff x="1809750" y="1905000"/>
            <a:chExt cx="9715500" cy="3781425"/>
          </a:xfrm>
        </p:grpSpPr>
        <p:sp>
          <p:nvSpPr>
            <p:cNvPr id="12" name="Rectangle 12"/>
            <p:cNvSpPr/>
            <p:nvPr/>
          </p:nvSpPr>
          <p:spPr>
            <a:xfrm>
              <a:off x="1809750" y="1905000"/>
              <a:ext cx="9715500" cy="533400"/>
            </a:xfrm>
            <a:prstGeom prst="rect">
              <a:avLst/>
            </a:prstGeom>
            <a:solidFill>
              <a:srgbClr val="26305A"/>
            </a:solidFill>
            <a:ln>
              <a:noFill/>
            </a:ln>
          </p:spPr>
        </p:sp>
        <p:sp>
          <p:nvSpPr>
            <p:cNvPr id="13" name="TextBox 13"/>
            <p:cNvSpPr txBox="1"/>
            <p:nvPr/>
          </p:nvSpPr>
          <p:spPr>
            <a:xfrm>
              <a:off x="1935480" y="2076450"/>
              <a:ext cx="419100" cy="293370"/>
            </a:xfrm>
            <a:prstGeom prst="rect">
              <a:avLst/>
            </a:prstGeom>
            <a:noFill/>
            <a:ln>
              <a:noFill/>
            </a:ln>
          </p:spPr>
          <p:txBody>
            <a:bodyPr wrap="none" lIns="0" tIns="0" rIns="0" bIns="0" anchor="t" anchorCtr="0">
              <a:spAutoFit/>
            </a:bodyPr>
            <a:lstStyle/>
            <a:p>
              <a:pPr algn="l"/>
              <a:r>
                <a:rPr lang="zh-CN" sz="1500" b="1" dirty="0">
                  <a:solidFill>
                    <a:schemeClr val="dk1"/>
                  </a:solidFill>
                  <a:latin typeface="+mn-lt"/>
                  <a:ea typeface="+mn-ea"/>
                  <a:cs typeface="+mn-cs"/>
                </a:rPr>
                <a:t>派式</a:t>
              </a:r>
            </a:p>
          </p:txBody>
        </p:sp>
        <p:sp>
          <p:nvSpPr>
            <p:cNvPr id="14" name="TextBox 14"/>
            <p:cNvSpPr txBox="1"/>
            <p:nvPr/>
          </p:nvSpPr>
          <p:spPr>
            <a:xfrm>
              <a:off x="2983230" y="2076450"/>
              <a:ext cx="419100" cy="293370"/>
            </a:xfrm>
            <a:prstGeom prst="rect">
              <a:avLst/>
            </a:prstGeom>
            <a:noFill/>
            <a:ln>
              <a:noFill/>
            </a:ln>
          </p:spPr>
          <p:txBody>
            <a:bodyPr wrap="none" lIns="0" tIns="0" rIns="0" bIns="0" anchor="t" anchorCtr="0">
              <a:spAutoFit/>
            </a:bodyPr>
            <a:lstStyle/>
            <a:p>
              <a:pPr algn="l"/>
              <a:r>
                <a:rPr lang="zh-CN" sz="1500" b="1" dirty="0">
                  <a:solidFill>
                    <a:schemeClr val="dk1"/>
                  </a:solidFill>
                  <a:latin typeface="+mn-lt"/>
                  <a:ea typeface="+mn-ea"/>
                  <a:cs typeface="+mn-cs"/>
                </a:rPr>
                <a:t>产地</a:t>
              </a:r>
            </a:p>
          </p:txBody>
        </p:sp>
        <p:sp>
          <p:nvSpPr>
            <p:cNvPr id="15" name="TextBox 15"/>
            <p:cNvSpPr txBox="1"/>
            <p:nvPr/>
          </p:nvSpPr>
          <p:spPr>
            <a:xfrm>
              <a:off x="4030980" y="2076450"/>
              <a:ext cx="822960" cy="293370"/>
            </a:xfrm>
            <a:prstGeom prst="rect">
              <a:avLst/>
            </a:prstGeom>
            <a:noFill/>
            <a:ln>
              <a:noFill/>
            </a:ln>
          </p:spPr>
          <p:txBody>
            <a:bodyPr wrap="none" lIns="0" tIns="0" rIns="0" bIns="0" anchor="t" anchorCtr="0">
              <a:spAutoFit/>
            </a:bodyPr>
            <a:lstStyle/>
            <a:p>
              <a:pPr algn="l"/>
              <a:r>
                <a:rPr lang="zh-CN" sz="1500" b="1" dirty="0">
                  <a:solidFill>
                    <a:schemeClr val="dk1"/>
                  </a:solidFill>
                  <a:latin typeface="+mn-lt"/>
                  <a:ea typeface="+mn-ea"/>
                  <a:cs typeface="+mn-cs"/>
                </a:rPr>
                <a:t>饼皮工艺</a:t>
              </a:r>
            </a:p>
          </p:txBody>
        </p:sp>
        <p:sp>
          <p:nvSpPr>
            <p:cNvPr id="16" name="TextBox 16"/>
            <p:cNvSpPr txBox="1"/>
            <p:nvPr/>
          </p:nvSpPr>
          <p:spPr>
            <a:xfrm>
              <a:off x="7745730" y="2076450"/>
              <a:ext cx="419100" cy="293370"/>
            </a:xfrm>
            <a:prstGeom prst="rect">
              <a:avLst/>
            </a:prstGeom>
            <a:noFill/>
            <a:ln>
              <a:noFill/>
            </a:ln>
          </p:spPr>
          <p:txBody>
            <a:bodyPr wrap="none" lIns="0" tIns="0" rIns="0" bIns="0" anchor="t" anchorCtr="0">
              <a:spAutoFit/>
            </a:bodyPr>
            <a:lstStyle/>
            <a:p>
              <a:pPr algn="l"/>
              <a:r>
                <a:rPr lang="zh-CN" sz="1500" b="1" dirty="0">
                  <a:solidFill>
                    <a:schemeClr val="dk1"/>
                  </a:solidFill>
                  <a:latin typeface="+mn-lt"/>
                  <a:ea typeface="+mn-ea"/>
                  <a:cs typeface="+mn-cs"/>
                </a:rPr>
                <a:t>口感</a:t>
              </a:r>
            </a:p>
          </p:txBody>
        </p:sp>
        <p:sp>
          <p:nvSpPr>
            <p:cNvPr id="17" name="TextBox 17"/>
            <p:cNvSpPr txBox="1"/>
            <p:nvPr/>
          </p:nvSpPr>
          <p:spPr>
            <a:xfrm>
              <a:off x="9269730" y="2076450"/>
              <a:ext cx="822960" cy="293370"/>
            </a:xfrm>
            <a:prstGeom prst="rect">
              <a:avLst/>
            </a:prstGeom>
            <a:noFill/>
            <a:ln>
              <a:noFill/>
            </a:ln>
          </p:spPr>
          <p:txBody>
            <a:bodyPr wrap="none" lIns="0" tIns="0" rIns="0" bIns="0" anchor="t" anchorCtr="0">
              <a:spAutoFit/>
            </a:bodyPr>
            <a:lstStyle/>
            <a:p>
              <a:pPr algn="l"/>
              <a:r>
                <a:rPr lang="zh-CN" sz="1500" b="1" dirty="0">
                  <a:solidFill>
                    <a:schemeClr val="dk1"/>
                  </a:solidFill>
                  <a:latin typeface="+mn-lt"/>
                  <a:ea typeface="+mn-ea"/>
                  <a:cs typeface="+mn-cs"/>
                </a:rPr>
                <a:t>代表品种</a:t>
              </a:r>
            </a:p>
          </p:txBody>
        </p:sp>
        <p:sp>
          <p:nvSpPr>
            <p:cNvPr id="18" name="Rectangle 18"/>
            <p:cNvSpPr/>
            <p:nvPr/>
          </p:nvSpPr>
          <p:spPr>
            <a:xfrm>
              <a:off x="1809750" y="2438400"/>
              <a:ext cx="9715500" cy="647700"/>
            </a:xfrm>
            <a:prstGeom prst="rect">
              <a:avLst/>
            </a:prstGeom>
            <a:solidFill>
              <a:schemeClr val="lt2"/>
            </a:solidFill>
            <a:ln>
              <a:noFill/>
            </a:ln>
          </p:spPr>
        </p:sp>
        <p:sp>
          <p:nvSpPr>
            <p:cNvPr id="19" name="Line 19"/>
            <p:cNvSpPr/>
            <p:nvPr/>
          </p:nvSpPr>
          <p:spPr>
            <a:xfrm>
              <a:off x="1809750" y="2438400"/>
              <a:ext cx="9715500" cy="9525"/>
            </a:xfrm>
            <a:custGeom>
              <a:avLst/>
              <a:gdLst/>
              <a:ahLst/>
              <a:cxnLst/>
              <a:rect l="l" t="t" r="r" b="b"/>
              <a:pathLst>
                <a:path w="9715500" h="9525">
                  <a:moveTo>
                    <a:pt x="0" y="0"/>
                  </a:moveTo>
                  <a:lnTo>
                    <a:pt x="9715500" y="0"/>
                  </a:lnTo>
                </a:path>
              </a:pathLst>
            </a:custGeom>
            <a:noFill/>
            <a:ln w="9525">
              <a:solidFill>
                <a:schemeClr val="accent6"/>
              </a:solidFill>
            </a:ln>
          </p:spPr>
        </p:sp>
        <p:sp>
          <p:nvSpPr>
            <p:cNvPr id="20" name="TextBox 20"/>
            <p:cNvSpPr txBox="1"/>
            <p:nvPr/>
          </p:nvSpPr>
          <p:spPr>
            <a:xfrm>
              <a:off x="1935480" y="2667000"/>
              <a:ext cx="419100"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广式</a:t>
              </a:r>
            </a:p>
          </p:txBody>
        </p:sp>
        <p:sp>
          <p:nvSpPr>
            <p:cNvPr id="21" name="TextBox 21"/>
            <p:cNvSpPr txBox="1"/>
            <p:nvPr/>
          </p:nvSpPr>
          <p:spPr>
            <a:xfrm>
              <a:off x="2983230" y="2667000"/>
              <a:ext cx="419100" cy="293370"/>
            </a:xfrm>
            <a:prstGeom prst="rect">
              <a:avLst/>
            </a:prstGeom>
            <a:noFill/>
            <a:ln>
              <a:noFill/>
            </a:ln>
          </p:spPr>
          <p:txBody>
            <a:bodyPr wrap="none" lIns="0" tIns="0" rIns="0" bIns="0" anchor="t" anchorCtr="0">
              <a:spAutoFit/>
            </a:bodyPr>
            <a:lstStyle/>
            <a:p>
              <a:pPr algn="l"/>
              <a:r>
                <a:rPr lang="zh-CN" sz="1500" dirty="0">
                  <a:solidFill>
                    <a:schemeClr val="dk1"/>
                  </a:solidFill>
                  <a:latin typeface="+mn-lt"/>
                  <a:ea typeface="+mn-ea"/>
                  <a:cs typeface="+mn-cs"/>
                </a:rPr>
                <a:t>广东</a:t>
              </a:r>
            </a:p>
          </p:txBody>
        </p:sp>
        <p:sp>
          <p:nvSpPr>
            <p:cNvPr id="22" name="TextBox 22"/>
            <p:cNvSpPr txBox="1"/>
            <p:nvPr/>
          </p:nvSpPr>
          <p:spPr>
            <a:xfrm>
              <a:off x="4030980" y="2667000"/>
              <a:ext cx="3044190" cy="293370"/>
            </a:xfrm>
            <a:prstGeom prst="rect">
              <a:avLst/>
            </a:prstGeom>
            <a:noFill/>
            <a:ln>
              <a:noFill/>
            </a:ln>
          </p:spPr>
          <p:txBody>
            <a:bodyPr wrap="none" lIns="0" tIns="0" rIns="0" bIns="0" anchor="t" anchorCtr="0">
              <a:spAutoFit/>
            </a:bodyPr>
            <a:lstStyle/>
            <a:p>
              <a:pPr algn="l"/>
              <a:r>
                <a:rPr lang="zh-CN" sz="1500" dirty="0">
                  <a:solidFill>
                    <a:schemeClr val="dk1"/>
                  </a:solidFill>
                  <a:latin typeface="+mn-lt"/>
                  <a:ea typeface="+mn-ea"/>
                  <a:cs typeface="+mn-cs"/>
                </a:rPr>
                <a:t>加或不加糖浆制饼皮，刷蛋后烘烤</a:t>
              </a:r>
            </a:p>
          </p:txBody>
        </p:sp>
        <p:sp>
          <p:nvSpPr>
            <p:cNvPr id="23" name="TextBox 23"/>
            <p:cNvSpPr txBox="1"/>
            <p:nvPr/>
          </p:nvSpPr>
          <p:spPr>
            <a:xfrm>
              <a:off x="7745730" y="2667000"/>
              <a:ext cx="419100" cy="293370"/>
            </a:xfrm>
            <a:prstGeom prst="rect">
              <a:avLst/>
            </a:prstGeom>
            <a:noFill/>
            <a:ln>
              <a:noFill/>
            </a:ln>
          </p:spPr>
          <p:txBody>
            <a:bodyPr wrap="none" lIns="0" tIns="0" rIns="0" bIns="0" anchor="t" anchorCtr="0">
              <a:spAutoFit/>
            </a:bodyPr>
            <a:lstStyle/>
            <a:p>
              <a:pPr algn="l"/>
              <a:r>
                <a:rPr lang="zh-CN" sz="1500" dirty="0">
                  <a:solidFill>
                    <a:schemeClr val="dk1"/>
                  </a:solidFill>
                  <a:latin typeface="+mn-lt"/>
                  <a:ea typeface="+mn-ea"/>
                  <a:cs typeface="+mn-cs"/>
                </a:rPr>
                <a:t>柔软</a:t>
              </a:r>
            </a:p>
          </p:txBody>
        </p:sp>
        <p:sp>
          <p:nvSpPr>
            <p:cNvPr id="24" name="TextBox 24"/>
            <p:cNvSpPr txBox="1"/>
            <p:nvPr/>
          </p:nvSpPr>
          <p:spPr>
            <a:xfrm>
              <a:off x="9269730" y="2667000"/>
              <a:ext cx="1630680" cy="293370"/>
            </a:xfrm>
            <a:prstGeom prst="rect">
              <a:avLst/>
            </a:prstGeom>
            <a:noFill/>
            <a:ln>
              <a:noFill/>
            </a:ln>
          </p:spPr>
          <p:txBody>
            <a:bodyPr wrap="none" lIns="0" tIns="0" rIns="0" bIns="0" anchor="t" anchorCtr="0">
              <a:spAutoFit/>
            </a:bodyPr>
            <a:lstStyle/>
            <a:p>
              <a:pPr algn="l"/>
              <a:r>
                <a:rPr lang="zh-CN" sz="1500" dirty="0">
                  <a:solidFill>
                    <a:schemeClr val="dk1"/>
                  </a:solidFill>
                  <a:latin typeface="+mn-lt"/>
                  <a:ea typeface="+mn-ea"/>
                  <a:cs typeface="+mn-cs"/>
                </a:rPr>
                <a:t>蓉沙、果仁、蛋黄</a:t>
              </a:r>
            </a:p>
          </p:txBody>
        </p:sp>
        <p:sp>
          <p:nvSpPr>
            <p:cNvPr id="25" name="Rectangle 25"/>
            <p:cNvSpPr/>
            <p:nvPr/>
          </p:nvSpPr>
          <p:spPr>
            <a:xfrm>
              <a:off x="1809750" y="3086100"/>
              <a:ext cx="9715500" cy="647700"/>
            </a:xfrm>
            <a:prstGeom prst="rect">
              <a:avLst/>
            </a:prstGeom>
            <a:solidFill>
              <a:srgbClr val="182140"/>
            </a:solidFill>
            <a:ln>
              <a:noFill/>
            </a:ln>
          </p:spPr>
        </p:sp>
        <p:sp>
          <p:nvSpPr>
            <p:cNvPr id="26" name="Line 26"/>
            <p:cNvSpPr/>
            <p:nvPr/>
          </p:nvSpPr>
          <p:spPr>
            <a:xfrm>
              <a:off x="1809750" y="3086100"/>
              <a:ext cx="9715500" cy="9525"/>
            </a:xfrm>
            <a:custGeom>
              <a:avLst/>
              <a:gdLst/>
              <a:ahLst/>
              <a:cxnLst/>
              <a:rect l="l" t="t" r="r" b="b"/>
              <a:pathLst>
                <a:path w="9715500" h="9525">
                  <a:moveTo>
                    <a:pt x="0" y="0"/>
                  </a:moveTo>
                  <a:lnTo>
                    <a:pt x="9715500" y="0"/>
                  </a:lnTo>
                </a:path>
              </a:pathLst>
            </a:custGeom>
            <a:noFill/>
            <a:ln w="9525">
              <a:solidFill>
                <a:schemeClr val="accent6"/>
              </a:solidFill>
            </a:ln>
          </p:spPr>
        </p:sp>
        <p:sp>
          <p:nvSpPr>
            <p:cNvPr id="27" name="TextBox 27"/>
            <p:cNvSpPr txBox="1"/>
            <p:nvPr/>
          </p:nvSpPr>
          <p:spPr>
            <a:xfrm>
              <a:off x="1935480" y="3314700"/>
              <a:ext cx="419100"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苏式</a:t>
              </a:r>
            </a:p>
          </p:txBody>
        </p:sp>
        <p:sp>
          <p:nvSpPr>
            <p:cNvPr id="28" name="TextBox 28"/>
            <p:cNvSpPr txBox="1"/>
            <p:nvPr/>
          </p:nvSpPr>
          <p:spPr>
            <a:xfrm>
              <a:off x="2983230" y="3314700"/>
              <a:ext cx="419100" cy="293370"/>
            </a:xfrm>
            <a:prstGeom prst="rect">
              <a:avLst/>
            </a:prstGeom>
            <a:noFill/>
            <a:ln>
              <a:noFill/>
            </a:ln>
          </p:spPr>
          <p:txBody>
            <a:bodyPr wrap="none" lIns="0" tIns="0" rIns="0" bIns="0" anchor="t" anchorCtr="0">
              <a:spAutoFit/>
            </a:bodyPr>
            <a:lstStyle/>
            <a:p>
              <a:pPr algn="l"/>
              <a:r>
                <a:rPr lang="zh-CN" sz="1500" dirty="0">
                  <a:solidFill>
                    <a:schemeClr val="dk1"/>
                  </a:solidFill>
                  <a:latin typeface="+mn-lt"/>
                  <a:ea typeface="+mn-ea"/>
                  <a:cs typeface="+mn-cs"/>
                </a:rPr>
                <a:t>苏州</a:t>
              </a:r>
            </a:p>
          </p:txBody>
        </p:sp>
        <p:sp>
          <p:nvSpPr>
            <p:cNvPr id="29" name="TextBox 29"/>
            <p:cNvSpPr txBox="1"/>
            <p:nvPr/>
          </p:nvSpPr>
          <p:spPr>
            <a:xfrm>
              <a:off x="4030980" y="3314700"/>
              <a:ext cx="3044190" cy="293370"/>
            </a:xfrm>
            <a:prstGeom prst="rect">
              <a:avLst/>
            </a:prstGeom>
            <a:noFill/>
            <a:ln>
              <a:noFill/>
            </a:ln>
          </p:spPr>
          <p:txBody>
            <a:bodyPr wrap="none" lIns="0" tIns="0" rIns="0" bIns="0" anchor="t" anchorCtr="0">
              <a:spAutoFit/>
            </a:bodyPr>
            <a:lstStyle/>
            <a:p>
              <a:pPr algn="l"/>
              <a:r>
                <a:rPr lang="zh-CN" sz="1500" dirty="0">
                  <a:solidFill>
                    <a:schemeClr val="dk1"/>
                  </a:solidFill>
                  <a:latin typeface="+mn-lt"/>
                  <a:ea typeface="+mn-ea"/>
                  <a:cs typeface="+mn-cs"/>
                </a:rPr>
                <a:t>另以粉油制酥，制酥皮后包馅烘烤</a:t>
              </a:r>
            </a:p>
          </p:txBody>
        </p:sp>
        <p:sp>
          <p:nvSpPr>
            <p:cNvPr id="30" name="TextBox 30"/>
            <p:cNvSpPr txBox="1"/>
            <p:nvPr/>
          </p:nvSpPr>
          <p:spPr>
            <a:xfrm>
              <a:off x="7745730" y="3314700"/>
              <a:ext cx="1226820" cy="293370"/>
            </a:xfrm>
            <a:prstGeom prst="rect">
              <a:avLst/>
            </a:prstGeom>
            <a:noFill/>
            <a:ln>
              <a:noFill/>
            </a:ln>
          </p:spPr>
          <p:txBody>
            <a:bodyPr wrap="none" lIns="0" tIns="0" rIns="0" bIns="0" anchor="t" anchorCtr="0">
              <a:spAutoFit/>
            </a:bodyPr>
            <a:lstStyle/>
            <a:p>
              <a:pPr algn="l"/>
              <a:r>
                <a:rPr lang="zh-CN" sz="1500" dirty="0">
                  <a:solidFill>
                    <a:schemeClr val="dk1"/>
                  </a:solidFill>
                  <a:latin typeface="+mn-lt"/>
                  <a:ea typeface="+mn-ea"/>
                  <a:cs typeface="+mn-cs"/>
                </a:rPr>
                <a:t>松酥、有酥层</a:t>
              </a:r>
            </a:p>
          </p:txBody>
        </p:sp>
        <p:sp>
          <p:nvSpPr>
            <p:cNvPr id="31" name="TextBox 31"/>
            <p:cNvSpPr txBox="1"/>
            <p:nvPr/>
          </p:nvSpPr>
          <p:spPr>
            <a:xfrm>
              <a:off x="9269730" y="3314700"/>
              <a:ext cx="1630680" cy="293370"/>
            </a:xfrm>
            <a:prstGeom prst="rect">
              <a:avLst/>
            </a:prstGeom>
            <a:noFill/>
            <a:ln>
              <a:noFill/>
            </a:ln>
          </p:spPr>
          <p:txBody>
            <a:bodyPr wrap="none" lIns="0" tIns="0" rIns="0" bIns="0" anchor="t" anchorCtr="0">
              <a:spAutoFit/>
            </a:bodyPr>
            <a:lstStyle/>
            <a:p>
              <a:pPr algn="l"/>
              <a:r>
                <a:rPr lang="zh-CN" sz="1500" dirty="0">
                  <a:solidFill>
                    <a:schemeClr val="dk1"/>
                  </a:solidFill>
                  <a:latin typeface="+mn-lt"/>
                  <a:ea typeface="+mn-ea"/>
                  <a:cs typeface="+mn-cs"/>
                </a:rPr>
                <a:t>蓉沙、果仁、果蔬</a:t>
              </a:r>
            </a:p>
          </p:txBody>
        </p:sp>
        <p:sp>
          <p:nvSpPr>
            <p:cNvPr id="32" name="Rectangle 32"/>
            <p:cNvSpPr/>
            <p:nvPr/>
          </p:nvSpPr>
          <p:spPr>
            <a:xfrm>
              <a:off x="1809750" y="3733800"/>
              <a:ext cx="9715500" cy="647700"/>
            </a:xfrm>
            <a:prstGeom prst="rect">
              <a:avLst/>
            </a:prstGeom>
            <a:solidFill>
              <a:schemeClr val="lt2"/>
            </a:solidFill>
            <a:ln>
              <a:noFill/>
            </a:ln>
          </p:spPr>
        </p:sp>
        <p:sp>
          <p:nvSpPr>
            <p:cNvPr id="33" name="Line 33"/>
            <p:cNvSpPr/>
            <p:nvPr/>
          </p:nvSpPr>
          <p:spPr>
            <a:xfrm>
              <a:off x="1809750" y="3733800"/>
              <a:ext cx="9715500" cy="9525"/>
            </a:xfrm>
            <a:custGeom>
              <a:avLst/>
              <a:gdLst/>
              <a:ahLst/>
              <a:cxnLst/>
              <a:rect l="l" t="t" r="r" b="b"/>
              <a:pathLst>
                <a:path w="9715500" h="9525">
                  <a:moveTo>
                    <a:pt x="0" y="0"/>
                  </a:moveTo>
                  <a:lnTo>
                    <a:pt x="9715500" y="0"/>
                  </a:lnTo>
                </a:path>
              </a:pathLst>
            </a:custGeom>
            <a:noFill/>
            <a:ln w="9525">
              <a:solidFill>
                <a:schemeClr val="accent6"/>
              </a:solidFill>
            </a:ln>
          </p:spPr>
        </p:sp>
        <p:sp>
          <p:nvSpPr>
            <p:cNvPr id="34" name="TextBox 34"/>
            <p:cNvSpPr txBox="1"/>
            <p:nvPr/>
          </p:nvSpPr>
          <p:spPr>
            <a:xfrm>
              <a:off x="1935480" y="3962400"/>
              <a:ext cx="419100"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京式</a:t>
              </a:r>
            </a:p>
          </p:txBody>
        </p:sp>
        <p:sp>
          <p:nvSpPr>
            <p:cNvPr id="35" name="TextBox 35"/>
            <p:cNvSpPr txBox="1"/>
            <p:nvPr/>
          </p:nvSpPr>
          <p:spPr>
            <a:xfrm>
              <a:off x="2983230" y="3962400"/>
              <a:ext cx="419100" cy="293370"/>
            </a:xfrm>
            <a:prstGeom prst="rect">
              <a:avLst/>
            </a:prstGeom>
            <a:noFill/>
            <a:ln>
              <a:noFill/>
            </a:ln>
          </p:spPr>
          <p:txBody>
            <a:bodyPr wrap="none" lIns="0" tIns="0" rIns="0" bIns="0" anchor="t" anchorCtr="0">
              <a:spAutoFit/>
            </a:bodyPr>
            <a:lstStyle/>
            <a:p>
              <a:pPr algn="l"/>
              <a:r>
                <a:rPr lang="zh-CN" sz="1500" dirty="0">
                  <a:solidFill>
                    <a:schemeClr val="dk1"/>
                  </a:solidFill>
                  <a:latin typeface="+mn-lt"/>
                  <a:ea typeface="+mn-ea"/>
                  <a:cs typeface="+mn-cs"/>
                </a:rPr>
                <a:t>北京</a:t>
              </a:r>
            </a:p>
          </p:txBody>
        </p:sp>
        <p:sp>
          <p:nvSpPr>
            <p:cNvPr id="36" name="TextBox 36"/>
            <p:cNvSpPr txBox="1"/>
            <p:nvPr/>
          </p:nvSpPr>
          <p:spPr>
            <a:xfrm>
              <a:off x="4030980" y="3962400"/>
              <a:ext cx="3044190" cy="293370"/>
            </a:xfrm>
            <a:prstGeom prst="rect">
              <a:avLst/>
            </a:prstGeom>
            <a:noFill/>
            <a:ln>
              <a:noFill/>
            </a:ln>
          </p:spPr>
          <p:txBody>
            <a:bodyPr wrap="none" lIns="0" tIns="0" rIns="0" bIns="0" anchor="t" anchorCtr="0">
              <a:spAutoFit/>
            </a:bodyPr>
            <a:lstStyle/>
            <a:p>
              <a:pPr algn="l"/>
              <a:r>
                <a:rPr lang="zh-CN" sz="1500" dirty="0">
                  <a:solidFill>
                    <a:schemeClr val="dk1"/>
                  </a:solidFill>
                  <a:latin typeface="+mn-lt"/>
                  <a:ea typeface="+mn-ea"/>
                  <a:cs typeface="+mn-cs"/>
                </a:rPr>
                <a:t>提浆制糖浆皮，或制松酥皮、酥皮</a:t>
              </a:r>
            </a:p>
          </p:txBody>
        </p:sp>
        <p:sp>
          <p:nvSpPr>
            <p:cNvPr id="37" name="TextBox 37"/>
            <p:cNvSpPr txBox="1"/>
            <p:nvPr/>
          </p:nvSpPr>
          <p:spPr>
            <a:xfrm>
              <a:off x="7745730" y="3962400"/>
              <a:ext cx="1024890" cy="293370"/>
            </a:xfrm>
            <a:prstGeom prst="rect">
              <a:avLst/>
            </a:prstGeom>
            <a:noFill/>
            <a:ln>
              <a:noFill/>
            </a:ln>
          </p:spPr>
          <p:txBody>
            <a:bodyPr wrap="none" lIns="0" tIns="0" rIns="0" bIns="0" anchor="t" anchorCtr="0">
              <a:spAutoFit/>
            </a:bodyPr>
            <a:lstStyle/>
            <a:p>
              <a:pPr algn="l"/>
              <a:r>
                <a:rPr lang="zh-CN" sz="1500" dirty="0">
                  <a:solidFill>
                    <a:schemeClr val="dk1"/>
                  </a:solidFill>
                  <a:latin typeface="+mn-lt"/>
                  <a:ea typeface="+mn-ea"/>
                  <a:cs typeface="+mn-cs"/>
                </a:rPr>
                <a:t>松酥或松软</a:t>
              </a:r>
            </a:p>
          </p:txBody>
        </p:sp>
        <p:sp>
          <p:nvSpPr>
            <p:cNvPr id="38" name="TextBox 38"/>
            <p:cNvSpPr txBox="1"/>
            <p:nvPr/>
          </p:nvSpPr>
          <p:spPr>
            <a:xfrm>
              <a:off x="9269730" y="3962400"/>
              <a:ext cx="2034540" cy="293370"/>
            </a:xfrm>
            <a:prstGeom prst="rect">
              <a:avLst/>
            </a:prstGeom>
            <a:noFill/>
            <a:ln>
              <a:noFill/>
            </a:ln>
          </p:spPr>
          <p:txBody>
            <a:bodyPr wrap="none" lIns="0" tIns="0" rIns="0" bIns="0" anchor="t" anchorCtr="0">
              <a:spAutoFit/>
            </a:bodyPr>
            <a:lstStyle/>
            <a:p>
              <a:pPr algn="l"/>
              <a:r>
                <a:rPr lang="zh-CN" sz="1500" dirty="0">
                  <a:solidFill>
                    <a:schemeClr val="dk1"/>
                  </a:solidFill>
                  <a:latin typeface="+mn-lt"/>
                  <a:ea typeface="+mn-ea"/>
                  <a:cs typeface="+mn-cs"/>
                </a:rPr>
                <a:t>提浆、自来白、自来红</a:t>
              </a:r>
            </a:p>
          </p:txBody>
        </p:sp>
        <p:sp>
          <p:nvSpPr>
            <p:cNvPr id="39" name="Rectangle 39"/>
            <p:cNvSpPr/>
            <p:nvPr/>
          </p:nvSpPr>
          <p:spPr>
            <a:xfrm>
              <a:off x="1809750" y="4381500"/>
              <a:ext cx="9715500" cy="647700"/>
            </a:xfrm>
            <a:prstGeom prst="rect">
              <a:avLst/>
            </a:prstGeom>
            <a:solidFill>
              <a:srgbClr val="182140"/>
            </a:solidFill>
            <a:ln>
              <a:noFill/>
            </a:ln>
          </p:spPr>
        </p:sp>
        <p:sp>
          <p:nvSpPr>
            <p:cNvPr id="40" name="Line 40"/>
            <p:cNvSpPr/>
            <p:nvPr/>
          </p:nvSpPr>
          <p:spPr>
            <a:xfrm>
              <a:off x="1809750" y="4381500"/>
              <a:ext cx="9715500" cy="9525"/>
            </a:xfrm>
            <a:custGeom>
              <a:avLst/>
              <a:gdLst/>
              <a:ahLst/>
              <a:cxnLst/>
              <a:rect l="l" t="t" r="r" b="b"/>
              <a:pathLst>
                <a:path w="9715500" h="9525">
                  <a:moveTo>
                    <a:pt x="0" y="0"/>
                  </a:moveTo>
                  <a:lnTo>
                    <a:pt x="9715500" y="0"/>
                  </a:lnTo>
                </a:path>
              </a:pathLst>
            </a:custGeom>
            <a:noFill/>
            <a:ln w="9525">
              <a:solidFill>
                <a:schemeClr val="accent6"/>
              </a:solidFill>
            </a:ln>
          </p:spPr>
        </p:sp>
        <p:sp>
          <p:nvSpPr>
            <p:cNvPr id="41" name="TextBox 41"/>
            <p:cNvSpPr txBox="1"/>
            <p:nvPr/>
          </p:nvSpPr>
          <p:spPr>
            <a:xfrm>
              <a:off x="1935480" y="4610100"/>
              <a:ext cx="419100"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潮式</a:t>
              </a:r>
            </a:p>
          </p:txBody>
        </p:sp>
        <p:sp>
          <p:nvSpPr>
            <p:cNvPr id="42" name="TextBox 42"/>
            <p:cNvSpPr txBox="1"/>
            <p:nvPr/>
          </p:nvSpPr>
          <p:spPr>
            <a:xfrm>
              <a:off x="2983230" y="4610100"/>
              <a:ext cx="419100" cy="293370"/>
            </a:xfrm>
            <a:prstGeom prst="rect">
              <a:avLst/>
            </a:prstGeom>
            <a:noFill/>
            <a:ln>
              <a:noFill/>
            </a:ln>
          </p:spPr>
          <p:txBody>
            <a:bodyPr wrap="none" lIns="0" tIns="0" rIns="0" bIns="0" anchor="t" anchorCtr="0">
              <a:spAutoFit/>
            </a:bodyPr>
            <a:lstStyle/>
            <a:p>
              <a:pPr algn="l"/>
              <a:r>
                <a:rPr lang="zh-CN" sz="1500" dirty="0">
                  <a:solidFill>
                    <a:schemeClr val="dk1"/>
                  </a:solidFill>
                  <a:latin typeface="+mn-lt"/>
                  <a:ea typeface="+mn-ea"/>
                  <a:cs typeface="+mn-cs"/>
                </a:rPr>
                <a:t>潮汕</a:t>
              </a:r>
            </a:p>
          </p:txBody>
        </p:sp>
        <p:sp>
          <p:nvSpPr>
            <p:cNvPr id="43" name="TextBox 43"/>
            <p:cNvSpPr txBox="1"/>
            <p:nvPr/>
          </p:nvSpPr>
          <p:spPr>
            <a:xfrm>
              <a:off x="4030980" y="4610100"/>
              <a:ext cx="3246120" cy="293370"/>
            </a:xfrm>
            <a:prstGeom prst="rect">
              <a:avLst/>
            </a:prstGeom>
            <a:noFill/>
            <a:ln>
              <a:noFill/>
            </a:ln>
          </p:spPr>
          <p:txBody>
            <a:bodyPr wrap="none" lIns="0" tIns="0" rIns="0" bIns="0" anchor="t" anchorCtr="0">
              <a:spAutoFit/>
            </a:bodyPr>
            <a:lstStyle/>
            <a:p>
              <a:pPr algn="l"/>
              <a:r>
                <a:rPr lang="zh-CN" sz="1500" dirty="0">
                  <a:solidFill>
                    <a:schemeClr val="dk1"/>
                  </a:solidFill>
                  <a:latin typeface="+mn-lt"/>
                  <a:ea typeface="+mn-ea"/>
                  <a:cs typeface="+mn-cs"/>
                </a:rPr>
                <a:t>小麦粉或食用淀粉制皮，加或不加糖</a:t>
              </a:r>
            </a:p>
          </p:txBody>
        </p:sp>
        <p:sp>
          <p:nvSpPr>
            <p:cNvPr id="44" name="TextBox 44"/>
            <p:cNvSpPr txBox="1"/>
            <p:nvPr/>
          </p:nvSpPr>
          <p:spPr>
            <a:xfrm>
              <a:off x="7745730" y="4610100"/>
              <a:ext cx="621030" cy="293370"/>
            </a:xfrm>
            <a:prstGeom prst="rect">
              <a:avLst/>
            </a:prstGeom>
            <a:noFill/>
            <a:ln>
              <a:noFill/>
            </a:ln>
          </p:spPr>
          <p:txBody>
            <a:bodyPr wrap="none" lIns="0" tIns="0" rIns="0" bIns="0" anchor="t" anchorCtr="0">
              <a:spAutoFit/>
            </a:bodyPr>
            <a:lstStyle/>
            <a:p>
              <a:pPr algn="l"/>
              <a:r>
                <a:rPr lang="zh-CN" sz="1500" dirty="0">
                  <a:solidFill>
                    <a:schemeClr val="dk1"/>
                  </a:solidFill>
                  <a:latin typeface="+mn-lt"/>
                  <a:ea typeface="+mn-ea"/>
                  <a:cs typeface="+mn-cs"/>
                </a:rPr>
                <a:t>酥、透</a:t>
              </a:r>
            </a:p>
          </p:txBody>
        </p:sp>
        <p:sp>
          <p:nvSpPr>
            <p:cNvPr id="45" name="TextBox 45"/>
            <p:cNvSpPr txBox="1"/>
            <p:nvPr/>
          </p:nvSpPr>
          <p:spPr>
            <a:xfrm>
              <a:off x="9269730" y="4610100"/>
              <a:ext cx="2034540" cy="293370"/>
            </a:xfrm>
            <a:prstGeom prst="rect">
              <a:avLst/>
            </a:prstGeom>
            <a:noFill/>
            <a:ln>
              <a:noFill/>
            </a:ln>
          </p:spPr>
          <p:txBody>
            <a:bodyPr wrap="none" lIns="0" tIns="0" rIns="0" bIns="0" anchor="t" anchorCtr="0">
              <a:spAutoFit/>
            </a:bodyPr>
            <a:lstStyle/>
            <a:p>
              <a:pPr algn="l"/>
              <a:r>
                <a:rPr lang="zh-CN" sz="1500" dirty="0">
                  <a:solidFill>
                    <a:schemeClr val="dk1"/>
                  </a:solidFill>
                  <a:latin typeface="+mn-lt"/>
                  <a:ea typeface="+mn-ea"/>
                  <a:cs typeface="+mn-cs"/>
                </a:rPr>
                <a:t>酥皮、水晶皮、奶油皮</a:t>
              </a:r>
            </a:p>
          </p:txBody>
        </p:sp>
        <p:sp>
          <p:nvSpPr>
            <p:cNvPr id="46" name="Rectangle 46"/>
            <p:cNvSpPr/>
            <p:nvPr/>
          </p:nvSpPr>
          <p:spPr>
            <a:xfrm>
              <a:off x="1809750" y="5029200"/>
              <a:ext cx="9715500" cy="647700"/>
            </a:xfrm>
            <a:prstGeom prst="rect">
              <a:avLst/>
            </a:prstGeom>
            <a:solidFill>
              <a:schemeClr val="lt2"/>
            </a:solidFill>
            <a:ln>
              <a:noFill/>
            </a:ln>
          </p:spPr>
        </p:sp>
        <p:sp>
          <p:nvSpPr>
            <p:cNvPr id="47" name="Line 47"/>
            <p:cNvSpPr/>
            <p:nvPr/>
          </p:nvSpPr>
          <p:spPr>
            <a:xfrm>
              <a:off x="1809750" y="5029200"/>
              <a:ext cx="9715500" cy="9525"/>
            </a:xfrm>
            <a:custGeom>
              <a:avLst/>
              <a:gdLst/>
              <a:ahLst/>
              <a:cxnLst/>
              <a:rect l="l" t="t" r="r" b="b"/>
              <a:pathLst>
                <a:path w="9715500" h="9525">
                  <a:moveTo>
                    <a:pt x="0" y="0"/>
                  </a:moveTo>
                  <a:lnTo>
                    <a:pt x="9715500" y="0"/>
                  </a:lnTo>
                </a:path>
              </a:pathLst>
            </a:custGeom>
            <a:noFill/>
            <a:ln w="9525">
              <a:solidFill>
                <a:schemeClr val="accent6"/>
              </a:solidFill>
            </a:ln>
          </p:spPr>
        </p:sp>
        <p:sp>
          <p:nvSpPr>
            <p:cNvPr id="48" name="TextBox 48"/>
            <p:cNvSpPr txBox="1"/>
            <p:nvPr/>
          </p:nvSpPr>
          <p:spPr>
            <a:xfrm>
              <a:off x="1935480" y="5257800"/>
              <a:ext cx="419100"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滇式</a:t>
              </a:r>
            </a:p>
          </p:txBody>
        </p:sp>
        <p:sp>
          <p:nvSpPr>
            <p:cNvPr id="49" name="TextBox 49"/>
            <p:cNvSpPr txBox="1"/>
            <p:nvPr/>
          </p:nvSpPr>
          <p:spPr>
            <a:xfrm>
              <a:off x="2983230" y="5257800"/>
              <a:ext cx="419100" cy="293370"/>
            </a:xfrm>
            <a:prstGeom prst="rect">
              <a:avLst/>
            </a:prstGeom>
            <a:noFill/>
            <a:ln>
              <a:noFill/>
            </a:ln>
          </p:spPr>
          <p:txBody>
            <a:bodyPr wrap="none" lIns="0" tIns="0" rIns="0" bIns="0" anchor="t" anchorCtr="0">
              <a:spAutoFit/>
            </a:bodyPr>
            <a:lstStyle/>
            <a:p>
              <a:pPr algn="l"/>
              <a:r>
                <a:rPr lang="zh-CN" sz="1500" dirty="0">
                  <a:solidFill>
                    <a:schemeClr val="dk1"/>
                  </a:solidFill>
                  <a:latin typeface="+mn-lt"/>
                  <a:ea typeface="+mn-ea"/>
                  <a:cs typeface="+mn-cs"/>
                </a:rPr>
                <a:t>云南</a:t>
              </a:r>
            </a:p>
          </p:txBody>
        </p:sp>
        <p:sp>
          <p:nvSpPr>
            <p:cNvPr id="50" name="TextBox 50"/>
            <p:cNvSpPr txBox="1"/>
            <p:nvPr/>
          </p:nvSpPr>
          <p:spPr>
            <a:xfrm>
              <a:off x="4030980" y="5257800"/>
              <a:ext cx="3044190" cy="293370"/>
            </a:xfrm>
            <a:prstGeom prst="rect">
              <a:avLst/>
            </a:prstGeom>
            <a:noFill/>
            <a:ln>
              <a:noFill/>
            </a:ln>
          </p:spPr>
          <p:txBody>
            <a:bodyPr wrap="none" lIns="0" tIns="0" rIns="0" bIns="0" anchor="t" anchorCtr="0">
              <a:spAutoFit/>
            </a:bodyPr>
            <a:lstStyle/>
            <a:p>
              <a:pPr algn="l"/>
              <a:r>
                <a:rPr lang="zh-CN" sz="1500" dirty="0">
                  <a:solidFill>
                    <a:schemeClr val="dk1"/>
                  </a:solidFill>
                  <a:latin typeface="+mn-lt"/>
                  <a:ea typeface="+mn-ea"/>
                  <a:cs typeface="+mn-cs"/>
                </a:rPr>
                <a:t>小麦粉和杂粮粉制皮，云腿等入馅</a:t>
              </a:r>
            </a:p>
          </p:txBody>
        </p:sp>
        <p:sp>
          <p:nvSpPr>
            <p:cNvPr id="51" name="TextBox 51"/>
            <p:cNvSpPr txBox="1"/>
            <p:nvPr/>
          </p:nvSpPr>
          <p:spPr>
            <a:xfrm>
              <a:off x="7745730" y="5257800"/>
              <a:ext cx="419100" cy="293370"/>
            </a:xfrm>
            <a:prstGeom prst="rect">
              <a:avLst/>
            </a:prstGeom>
            <a:noFill/>
            <a:ln>
              <a:noFill/>
            </a:ln>
          </p:spPr>
          <p:txBody>
            <a:bodyPr wrap="none" lIns="0" tIns="0" rIns="0" bIns="0" anchor="t" anchorCtr="0">
              <a:spAutoFit/>
            </a:bodyPr>
            <a:lstStyle/>
            <a:p>
              <a:pPr algn="l"/>
              <a:r>
                <a:rPr lang="zh-CN" sz="1500" dirty="0">
                  <a:solidFill>
                    <a:schemeClr val="dk1"/>
                  </a:solidFill>
                  <a:latin typeface="+mn-lt"/>
                  <a:ea typeface="+mn-ea"/>
                  <a:cs typeface="+mn-cs"/>
                </a:rPr>
                <a:t>咸香</a:t>
              </a:r>
            </a:p>
          </p:txBody>
        </p:sp>
        <p:sp>
          <p:nvSpPr>
            <p:cNvPr id="52" name="TextBox 52"/>
            <p:cNvSpPr txBox="1"/>
            <p:nvPr/>
          </p:nvSpPr>
          <p:spPr>
            <a:xfrm>
              <a:off x="9269730" y="5257800"/>
              <a:ext cx="1428750" cy="293370"/>
            </a:xfrm>
            <a:prstGeom prst="rect">
              <a:avLst/>
            </a:prstGeom>
            <a:noFill/>
            <a:ln>
              <a:noFill/>
            </a:ln>
          </p:spPr>
          <p:txBody>
            <a:bodyPr wrap="none" lIns="0" tIns="0" rIns="0" bIns="0" anchor="t" anchorCtr="0">
              <a:spAutoFit/>
            </a:bodyPr>
            <a:lstStyle/>
            <a:p>
              <a:pPr algn="l"/>
              <a:r>
                <a:rPr lang="zh-CN" sz="1500" dirty="0">
                  <a:solidFill>
                    <a:schemeClr val="dk1"/>
                  </a:solidFill>
                  <a:latin typeface="+mn-lt"/>
                  <a:ea typeface="+mn-ea"/>
                  <a:cs typeface="+mn-cs"/>
                </a:rPr>
                <a:t>云腿、食用花卉</a:t>
              </a:r>
            </a:p>
          </p:txBody>
        </p:sp>
        <p:sp>
          <p:nvSpPr>
            <p:cNvPr id="53" name="Line 53"/>
            <p:cNvSpPr/>
            <p:nvPr/>
          </p:nvSpPr>
          <p:spPr>
            <a:xfrm>
              <a:off x="1809750" y="5676900"/>
              <a:ext cx="9715500" cy="9525"/>
            </a:xfrm>
            <a:custGeom>
              <a:avLst/>
              <a:gdLst/>
              <a:ahLst/>
              <a:cxnLst/>
              <a:rect l="l" t="t" r="r" b="b"/>
              <a:pathLst>
                <a:path w="9715500" h="9525">
                  <a:moveTo>
                    <a:pt x="0" y="0"/>
                  </a:moveTo>
                  <a:lnTo>
                    <a:pt x="9715500" y="0"/>
                  </a:lnTo>
                </a:path>
              </a:pathLst>
            </a:custGeom>
            <a:noFill/>
            <a:ln w="9525">
              <a:solidFill>
                <a:schemeClr val="accent6"/>
              </a:solidFill>
            </a:ln>
          </p:spPr>
        </p:sp>
      </p:grpSp>
      <p:grpSp>
        <p:nvGrpSpPr>
          <p:cNvPr id="56" name="Group 56"/>
          <p:cNvGrpSpPr/>
          <p:nvPr/>
        </p:nvGrpSpPr>
        <p:grpSpPr>
          <a:xfrm>
            <a:off x="678942" y="5835968"/>
            <a:ext cx="8174736" cy="568833"/>
            <a:chOff x="678942" y="5835968"/>
            <a:chExt cx="8174736" cy="568833"/>
          </a:xfrm>
        </p:grpSpPr>
        <p:sp>
          <p:nvSpPr>
            <p:cNvPr id="55" name="TextBox 55"/>
            <p:cNvSpPr txBox="1"/>
            <p:nvPr/>
          </p:nvSpPr>
          <p:spPr>
            <a:xfrm>
              <a:off x="678942" y="5835968"/>
              <a:ext cx="8174736" cy="568833"/>
            </a:xfrm>
            <a:prstGeom prst="rect">
              <a:avLst/>
            </a:prstGeom>
            <a:noFill/>
            <a:ln>
              <a:noFill/>
            </a:ln>
          </p:spPr>
          <p:txBody>
            <a:bodyPr wrap="none" lIns="0" tIns="0" rIns="0" bIns="0" anchor="t" anchorCtr="0">
              <a:spAutoFit/>
            </a:bodyPr>
            <a:lstStyle/>
            <a:p>
              <a:pPr algn="l">
                <a:lnSpc>
                  <a:spcPts val="2400"/>
                </a:lnSpc>
              </a:pPr>
              <a:r>
                <a:rPr lang="zh-CN" sz="1350" dirty="0">
                  <a:solidFill>
                    <a:schemeClr val="accent3"/>
                  </a:solidFill>
                  <a:latin typeface="+mn-lt"/>
                  <a:ea typeface="+mn-ea"/>
                  <a:cs typeface="+mn-cs"/>
                </a:rPr>
                <a:t>国标按地方派式分九类：广式、京式、苏式、潮式、滇式、晋式、琼式、台式、哈式——本页讲其中五个</a:t>
              </a:r>
              <a:br/>
              <a:r>
                <a:rPr lang="zh-CN" sz="1350" dirty="0">
                  <a:solidFill>
                    <a:schemeClr val="accent3"/>
                  </a:solidFill>
                  <a:latin typeface="+mn-lt"/>
                  <a:ea typeface="+mn-ea"/>
                  <a:cs typeface="+mn-cs"/>
                </a:rPr>
                <a:t>冷知识：果仁总量不低于 20% 且仅限五种果仁 + 广东工艺，才叫「广式五仁」；莲子 100% 才叫「纯莲蓉」</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gradFill>
            <a:gsLst>
              <a:gs pos="0">
                <a:schemeClr val="lt2">
                  <a:alpha val="85000"/>
                </a:schemeClr>
              </a:gs>
              <a:gs pos="100000">
                <a:schemeClr val="lt1">
                  <a:alpha val="0"/>
                </a:schemeClr>
              </a:gs>
            </a:gsLst>
            <a:lin ang="4242597" scaled="1"/>
          </a:gradFill>
          <a:ln>
            <a:noFill/>
          </a:ln>
        </p:spPr>
      </p:sp>
      <p:grpSp>
        <p:nvGrpSpPr>
          <p:cNvPr id="4" name="Group 4"/>
          <p:cNvGrpSpPr/>
          <p:nvPr/>
        </p:nvGrpSpPr>
        <p:grpSpPr>
          <a:xfrm>
            <a:off x="4953000" y="1143000"/>
            <a:ext cx="2286000" cy="2305050"/>
            <a:chOff x="4953000" y="1143000"/>
            <a:chExt cx="2286000" cy="2305050"/>
          </a:xfrm>
        </p:grpSpPr>
        <p:pic>
          <p:nvPicPr>
            <p:cNvPr id="3" name="Image 3"/>
            <p:cNvPicPr>
              <a:picLocks noChangeAspect="1"/>
            </p:cNvPicPr>
            <p:nvPr/>
          </p:nvPicPr>
          <p:blipFill>
            <a:blip r:embed="rId2"/>
            <a:stretch>
              <a:fillRect/>
            </a:stretch>
          </p:blipFill>
          <p:spPr>
            <a:xfrm>
              <a:off x="4953000" y="1143000"/>
              <a:ext cx="2286000" cy="2305050"/>
            </a:xfrm>
            <a:prstGeom prst="rect">
              <a:avLst/>
            </a:prstGeom>
            <a:effectLst>
              <a:outerShdw blurRad="171450" dist="57150" dir="5400000" algn="ctr" rotWithShape="0">
                <a:srgbClr val="05070F">
                  <a:alpha val="15000"/>
                </a:srgbClr>
              </a:outerShdw>
            </a:effectLst>
          </p:spPr>
        </p:pic>
      </p:grpSp>
      <p:pic>
        <p:nvPicPr>
          <p:cNvPr id="5" name="Image 5"/>
          <p:cNvPicPr>
            <a:picLocks noChangeAspect="1"/>
          </p:cNvPicPr>
          <p:nvPr/>
        </p:nvPicPr>
        <p:blipFill>
          <a:blip r:embed="rId3"/>
          <a:stretch>
            <a:fillRect/>
          </a:stretch>
        </p:blipFill>
        <p:spPr>
          <a:xfrm>
            <a:off x="3886200" y="2724150"/>
            <a:ext cx="4191000" cy="1781175"/>
          </a:xfrm>
          <a:prstGeom prst="rect">
            <a:avLst/>
          </a:prstGeom>
        </p:spPr>
      </p:pic>
      <p:grpSp>
        <p:nvGrpSpPr>
          <p:cNvPr id="8" name="Group 8"/>
          <p:cNvGrpSpPr/>
          <p:nvPr/>
        </p:nvGrpSpPr>
        <p:grpSpPr>
          <a:xfrm>
            <a:off x="1314450" y="4341495"/>
            <a:ext cx="9551822" cy="1138428"/>
            <a:chOff x="1314450" y="4341495"/>
            <a:chExt cx="9551822" cy="1138428"/>
          </a:xfrm>
        </p:grpSpPr>
        <p:sp>
          <p:nvSpPr>
            <p:cNvPr id="6" name="TextBox 6"/>
            <p:cNvSpPr txBox="1"/>
            <p:nvPr/>
          </p:nvSpPr>
          <p:spPr>
            <a:xfrm>
              <a:off x="1314450" y="4341495"/>
              <a:ext cx="9551822" cy="762000"/>
            </a:xfrm>
            <a:prstGeom prst="rect">
              <a:avLst/>
            </a:prstGeom>
            <a:noFill/>
            <a:ln>
              <a:noFill/>
            </a:ln>
          </p:spPr>
          <p:txBody>
            <a:bodyPr wrap="none" lIns="0" tIns="0" rIns="0" bIns="0" anchor="t" anchorCtr="0">
              <a:spAutoFit/>
            </a:bodyPr>
            <a:lstStyle/>
            <a:p>
              <a:pPr algn="l"/>
              <a:r>
                <a:rPr lang="zh-CN" sz="3900" dirty="0">
                  <a:solidFill>
                    <a:schemeClr val="accent1"/>
                  </a:solidFill>
                  <a:latin typeface="+mj-lt"/>
                  <a:ea typeface="+mj-ea"/>
                  <a:cs typeface="+mj-cs"/>
                </a:rPr>
                <a:t>三 · 说：月亮里的三个人，来自三本书</a:t>
              </a:r>
            </a:p>
          </p:txBody>
        </p:sp>
        <p:sp>
          <p:nvSpPr>
            <p:cNvPr id="7" name="TextBox 7"/>
            <p:cNvSpPr txBox="1"/>
            <p:nvPr/>
          </p:nvSpPr>
          <p:spPr>
            <a:xfrm>
              <a:off x="1322832" y="5069205"/>
              <a:ext cx="4544568" cy="410718"/>
            </a:xfrm>
            <a:prstGeom prst="rect">
              <a:avLst/>
            </a:prstGeom>
            <a:noFill/>
            <a:ln>
              <a:noFill/>
            </a:ln>
          </p:spPr>
          <p:txBody>
            <a:bodyPr wrap="none" lIns="0" tIns="0" rIns="0" bIns="0" anchor="t" anchorCtr="0">
              <a:spAutoFit/>
            </a:bodyPr>
            <a:lstStyle/>
            <a:p>
              <a:pPr algn="l"/>
              <a:r>
                <a:rPr lang="zh-CN" sz="2100" dirty="0">
                  <a:solidFill>
                    <a:schemeClr val="accent5"/>
                  </a:solidFill>
                  <a:latin typeface="+mn-lt"/>
                  <a:ea typeface="+mn-ea"/>
                  <a:cs typeface="+mn-cs"/>
                </a:rPr>
                <a:t>嫦娥变成蟾蜍，出自《淮南子》吗？</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6" presetClass="entr" presetSubtype="32"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circle(out)">
                                      <p:cBhvr>
                                        <p:cTn id="7" dur="1000"/>
                                        <p:tgtEl>
                                          <p:spTgt spid="4"/>
                                        </p:tgtEl>
                                      </p:cBhvr>
                                    </p:animEffect>
                                  </p:childTnLst>
                                </p:cTn>
                              </p:par>
                            </p:childTnLst>
                          </p:cTn>
                        </p:par>
                        <p:par>
                          <p:cTn id="8" fill="hold">
                            <p:stCondLst>
                              <p:cond delay="1000"/>
                            </p:stCondLst>
                            <p:childTnLst>
                              <p:par>
                                <p:cTn xmlns:p="http://schemas.openxmlformats.org/presentationml/2006/main" id="9" presetID="22" presetClass="entr" presetSubtype="2" fill="hold" grpId="0" nodeType="afterEffect">
                                  <p:stCondLst>
                                    <p:cond delay="150"/>
                                  </p:stCondLst>
                                  <p:childTnLst>
                                    <p:set>
                                      <p:cBhvr>
                                        <p:cTn id="10" dur="1" fill="hold">
                                          <p:stCondLst>
                                            <p:cond delay="0"/>
                                          </p:stCondLst>
                                        </p:cTn>
                                        <p:tgtEl>
                                          <p:spTgt spid="8"/>
                                        </p:tgtEl>
                                        <p:attrNameLst>
                                          <p:attrName>style.visibility</p:attrName>
                                        </p:attrNameLst>
                                      </p:cBhvr>
                                      <p:to>
                                        <p:strVal val="visible"/>
                                      </p:to>
                                    </p:set>
                                    <p:animEffect transition="in" filter="wipe(right)">
                                      <p:cBhvr>
                                        <p:cTn id="11" dur="5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stretch>
            <a:fillRect/>
          </a:stretch>
        </p:blipFill>
        <p:spPr>
          <a:xfrm>
            <a:off x="8858250" y="1047750"/>
            <a:ext cx="3810000" cy="3190875"/>
          </a:xfrm>
          <a:prstGeom prst="rect">
            <a:avLst/>
          </a:prstGeom>
        </p:spPr>
      </p:pic>
      <p:grpSp>
        <p:nvGrpSpPr>
          <p:cNvPr id="5" name="Group 5"/>
          <p:cNvGrpSpPr/>
          <p:nvPr/>
        </p:nvGrpSpPr>
        <p:grpSpPr>
          <a:xfrm>
            <a:off x="669798" y="726758"/>
            <a:ext cx="4832604" cy="962215"/>
            <a:chOff x="669798" y="726758"/>
            <a:chExt cx="4832604" cy="962215"/>
          </a:xfrm>
        </p:grpSpPr>
        <p:sp>
          <p:nvSpPr>
            <p:cNvPr id="3" name="TextBox 3"/>
            <p:cNvSpPr txBox="1"/>
            <p:nvPr/>
          </p:nvSpPr>
          <p:spPr>
            <a:xfrm>
              <a:off x="669798" y="726758"/>
              <a:ext cx="4512564" cy="616077"/>
            </a:xfrm>
            <a:prstGeom prst="rect">
              <a:avLst/>
            </a:prstGeom>
            <a:noFill/>
            <a:ln>
              <a:noFill/>
            </a:ln>
          </p:spPr>
          <p:txBody>
            <a:bodyPr wrap="none" lIns="0" tIns="0" rIns="0" bIns="0" anchor="t" anchorCtr="0">
              <a:spAutoFit/>
            </a:bodyPr>
            <a:lstStyle/>
            <a:p>
              <a:pPr algn="l"/>
              <a:r>
                <a:rPr lang="zh-CN" sz="3150" dirty="0">
                  <a:solidFill>
                    <a:schemeClr val="dk1"/>
                  </a:solidFill>
                  <a:latin typeface="+mj-lt"/>
                  <a:ea typeface="+mj-ea"/>
                  <a:cs typeface="+mj-cs"/>
                </a:rPr>
                <a:t>《淮南子》里没有蟾蜍</a:t>
              </a:r>
            </a:p>
          </p:txBody>
        </p:sp>
        <p:sp>
          <p:nvSpPr>
            <p:cNvPr id="4" name="TextBox 4"/>
            <p:cNvSpPr txBox="1"/>
            <p:nvPr/>
          </p:nvSpPr>
          <p:spPr>
            <a:xfrm>
              <a:off x="675132" y="1278255"/>
              <a:ext cx="4827270" cy="410718"/>
            </a:xfrm>
            <a:prstGeom prst="rect">
              <a:avLst/>
            </a:prstGeom>
            <a:noFill/>
            <a:ln>
              <a:noFill/>
            </a:ln>
          </p:spPr>
          <p:txBody>
            <a:bodyPr wrap="none" lIns="0" tIns="0" rIns="0" bIns="0" anchor="t" anchorCtr="0">
              <a:spAutoFit/>
            </a:bodyPr>
            <a:lstStyle/>
            <a:p>
              <a:pPr algn="l"/>
              <a:r>
                <a:rPr lang="zh-CN" sz="2100" dirty="0">
                  <a:solidFill>
                    <a:schemeClr val="accent5"/>
                  </a:solidFill>
                  <a:latin typeface="+mn-lt"/>
                  <a:ea typeface="+mn-ea"/>
                  <a:cs typeface="+mn-cs"/>
                </a:rPr>
                <a:t>熟悉的嫦娥，是三部书叠加出来的形象</a:t>
              </a:r>
            </a:p>
          </p:txBody>
        </p:sp>
      </p:grpSp>
      <p:sp>
        <p:nvSpPr>
          <p:cNvPr id="6" name="Line 6"/>
          <p:cNvSpPr/>
          <p:nvPr/>
        </p:nvSpPr>
        <p:spPr>
          <a:xfrm>
            <a:off x="4038600" y="2000250"/>
            <a:ext cx="9525" cy="1676400"/>
          </a:xfrm>
          <a:custGeom>
            <a:avLst/>
            <a:gdLst/>
            <a:ahLst/>
            <a:cxnLst/>
            <a:rect l="l" t="t" r="r" b="b"/>
            <a:pathLst>
              <a:path w="9525" h="1676400">
                <a:moveTo>
                  <a:pt x="0" y="0"/>
                </a:moveTo>
                <a:lnTo>
                  <a:pt x="0" y="1676400"/>
                </a:lnTo>
              </a:path>
            </a:pathLst>
          </a:custGeom>
          <a:noFill/>
          <a:ln w="19050">
            <a:solidFill>
              <a:schemeClr val="accent6"/>
            </a:solidFill>
            <a:prstDash val="dash"/>
          </a:ln>
        </p:spPr>
      </p:sp>
      <p:grpSp>
        <p:nvGrpSpPr>
          <p:cNvPr id="10" name="Group 10"/>
          <p:cNvGrpSpPr/>
          <p:nvPr/>
        </p:nvGrpSpPr>
        <p:grpSpPr>
          <a:xfrm>
            <a:off x="685800" y="2000250"/>
            <a:ext cx="3238500" cy="1676400"/>
            <a:chOff x="685800" y="2000250"/>
            <a:chExt cx="3238500" cy="1676400"/>
          </a:xfrm>
        </p:grpSpPr>
        <p:sp>
          <p:nvSpPr>
            <p:cNvPr id="7" name="Rectangle 7"/>
            <p:cNvSpPr/>
            <p:nvPr/>
          </p:nvSpPr>
          <p:spPr>
            <a:xfrm>
              <a:off x="685800" y="2000250"/>
              <a:ext cx="3238500" cy="1676400"/>
            </a:xfrm>
            <a:prstGeom prst="rect">
              <a:avLst/>
            </a:prstGeom>
            <a:solidFill>
              <a:schemeClr val="lt2"/>
            </a:solidFill>
            <a:ln>
              <a:noFill/>
            </a:ln>
          </p:spPr>
        </p:sp>
        <p:sp>
          <p:nvSpPr>
            <p:cNvPr id="8" name="TextBox 8"/>
            <p:cNvSpPr txBox="1"/>
            <p:nvPr/>
          </p:nvSpPr>
          <p:spPr>
            <a:xfrm>
              <a:off x="944880" y="2181225"/>
              <a:ext cx="822960" cy="293370"/>
            </a:xfrm>
            <a:prstGeom prst="rect">
              <a:avLst/>
            </a:prstGeom>
            <a:noFill/>
            <a:ln>
              <a:noFill/>
            </a:ln>
          </p:spPr>
          <p:txBody>
            <a:bodyPr wrap="none" lIns="0" tIns="0" rIns="0" bIns="0" anchor="t" anchorCtr="0">
              <a:spAutoFit/>
            </a:bodyPr>
            <a:lstStyle/>
            <a:p>
              <a:pPr algn="l"/>
              <a:r>
                <a:rPr lang="zh-CN" sz="1500" b="1" dirty="0">
                  <a:solidFill>
                    <a:schemeClr val="accent3"/>
                  </a:solidFill>
                  <a:latin typeface="+mn-lt"/>
                  <a:ea typeface="+mn-ea"/>
                  <a:cs typeface="+mn-cs"/>
                </a:rPr>
                <a:t>流行说法</a:t>
              </a:r>
            </a:p>
          </p:txBody>
        </p:sp>
        <p:sp>
          <p:nvSpPr>
            <p:cNvPr id="9" name="TextBox 9"/>
            <p:cNvSpPr txBox="1"/>
            <p:nvPr/>
          </p:nvSpPr>
          <p:spPr>
            <a:xfrm>
              <a:off x="944880" y="2562225"/>
              <a:ext cx="1729740" cy="941070"/>
            </a:xfrm>
            <a:prstGeom prst="rect">
              <a:avLst/>
            </a:prstGeom>
            <a:noFill/>
            <a:ln>
              <a:noFill/>
            </a:ln>
          </p:spPr>
          <p:txBody>
            <a:bodyPr wrap="none" lIns="0" tIns="0" rIns="0" bIns="0" anchor="t" anchorCtr="0">
              <a:spAutoFit/>
            </a:bodyPr>
            <a:lstStyle/>
            <a:p>
              <a:pPr algn="l">
                <a:lnSpc>
                  <a:spcPts val="2550"/>
                </a:lnSpc>
              </a:pPr>
              <a:r>
                <a:rPr lang="zh-CN" sz="1500" dirty="0">
                  <a:solidFill>
                    <a:schemeClr val="accent5"/>
                  </a:solidFill>
                  <a:latin typeface="+mn-lt"/>
                  <a:ea typeface="+mn-ea"/>
                  <a:cs typeface="+mn-cs"/>
                </a:rPr>
                <a:t>嫦娥奔月，化为蟾蜍</a:t>
              </a:r>
              <a:br/>
              <a:r>
                <a:rPr lang="zh-CN" sz="1500" dirty="0">
                  <a:solidFill>
                    <a:schemeClr val="accent5"/>
                  </a:solidFill>
                  <a:latin typeface="+mn-lt"/>
                  <a:ea typeface="+mn-ea"/>
                  <a:cs typeface="+mn-cs"/>
                </a:rPr>
                <a:t>——常被记在</a:t>
              </a:r>
              <a:br/>
              <a:r>
                <a:rPr lang="zh-CN" sz="1500" strike="sngStrike" dirty="0">
                  <a:solidFill>
                    <a:schemeClr val="accent2"/>
                  </a:solidFill>
                  <a:latin typeface="+mn-lt"/>
                  <a:ea typeface="+mn-ea"/>
                  <a:cs typeface="+mn-cs"/>
                </a:rPr>
                <a:t>《淮南子》名下</a:t>
              </a:r>
            </a:p>
          </p:txBody>
        </p:sp>
      </p:grpSp>
      <p:grpSp>
        <p:nvGrpSpPr>
          <p:cNvPr id="14" name="Group 14"/>
          <p:cNvGrpSpPr/>
          <p:nvPr/>
        </p:nvGrpSpPr>
        <p:grpSpPr>
          <a:xfrm>
            <a:off x="4152900" y="2000250"/>
            <a:ext cx="3238500" cy="1676400"/>
            <a:chOff x="4152900" y="2000250"/>
            <a:chExt cx="3238500" cy="1676400"/>
          </a:xfrm>
        </p:grpSpPr>
        <p:sp>
          <p:nvSpPr>
            <p:cNvPr id="11" name="Rectangle 11"/>
            <p:cNvSpPr/>
            <p:nvPr/>
          </p:nvSpPr>
          <p:spPr>
            <a:xfrm>
              <a:off x="4152900" y="2000250"/>
              <a:ext cx="3238500" cy="1676400"/>
            </a:xfrm>
            <a:prstGeom prst="rect">
              <a:avLst/>
            </a:prstGeom>
            <a:solidFill>
              <a:srgbClr val="26305A"/>
            </a:solidFill>
            <a:ln>
              <a:noFill/>
            </a:ln>
            <a:effectLst>
              <a:outerShdw blurRad="171450" dist="57150" dir="5400000" algn="ctr" rotWithShape="0">
                <a:srgbClr val="05070F">
                  <a:alpha val="15000"/>
                </a:srgbClr>
              </a:outerShdw>
            </a:effectLst>
          </p:spPr>
        </p:sp>
        <p:sp>
          <p:nvSpPr>
            <p:cNvPr id="12" name="TextBox 12"/>
            <p:cNvSpPr txBox="1"/>
            <p:nvPr/>
          </p:nvSpPr>
          <p:spPr>
            <a:xfrm>
              <a:off x="4411980" y="2181225"/>
              <a:ext cx="822960"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核对原文</a:t>
              </a:r>
            </a:p>
          </p:txBody>
        </p:sp>
        <p:sp>
          <p:nvSpPr>
            <p:cNvPr id="13" name="TextBox 13"/>
            <p:cNvSpPr txBox="1"/>
            <p:nvPr/>
          </p:nvSpPr>
          <p:spPr>
            <a:xfrm>
              <a:off x="4411980" y="2562225"/>
              <a:ext cx="2682240" cy="941070"/>
            </a:xfrm>
            <a:prstGeom prst="rect">
              <a:avLst/>
            </a:prstGeom>
            <a:noFill/>
            <a:ln>
              <a:noFill/>
            </a:ln>
          </p:spPr>
          <p:txBody>
            <a:bodyPr wrap="none" lIns="0" tIns="0" rIns="0" bIns="0" anchor="t" anchorCtr="0">
              <a:spAutoFit/>
            </a:bodyPr>
            <a:lstStyle/>
            <a:p>
              <a:pPr algn="l">
                <a:lnSpc>
                  <a:spcPts val="2550"/>
                </a:lnSpc>
              </a:pPr>
              <a:r>
                <a:rPr lang="zh-CN" sz="1500" dirty="0">
                  <a:solidFill>
                    <a:schemeClr val="dk1"/>
                  </a:solidFill>
                  <a:latin typeface="+mn-lt"/>
                  <a:ea typeface="+mn-ea"/>
                  <a:cs typeface="+mn-cs"/>
                </a:rPr>
                <a:t>《淮南子·览冥训》原文只作</a:t>
              </a:r>
              <a:br/>
              <a:r>
                <a:rPr lang="zh-CN" sz="1500" dirty="0">
                  <a:solidFill>
                    <a:schemeClr val="dk1"/>
                  </a:solidFill>
                  <a:latin typeface="+mn-lt"/>
                  <a:ea typeface="+mn-ea"/>
                  <a:cs typeface="+mn-cs"/>
                </a:rPr>
                <a:t>「姮娥竊以奔月」</a:t>
              </a:r>
              <a:br/>
              <a:r>
                <a:rPr lang="zh-CN" sz="1500" dirty="0">
                  <a:solidFill>
                    <a:schemeClr val="dk1"/>
                  </a:solidFill>
                  <a:latin typeface="+mn-lt"/>
                  <a:ea typeface="+mn-ea"/>
                  <a:cs typeface="+mn-cs"/>
                </a:rPr>
                <a:t>全段无「蟾蜍」，且作「姮娥」</a:t>
              </a:r>
            </a:p>
          </p:txBody>
        </p:sp>
      </p:grpSp>
      <p:grpSp>
        <p:nvGrpSpPr>
          <p:cNvPr id="17" name="Group 17"/>
          <p:cNvGrpSpPr/>
          <p:nvPr/>
        </p:nvGrpSpPr>
        <p:grpSpPr>
          <a:xfrm>
            <a:off x="7620000" y="1962150"/>
            <a:ext cx="1181100" cy="1847850"/>
            <a:chOff x="7620000" y="1962150"/>
            <a:chExt cx="1181100" cy="1847850"/>
          </a:xfrm>
        </p:grpSpPr>
        <p:pic>
          <p:nvPicPr>
            <p:cNvPr id="15" name="Image 15"/>
            <p:cNvPicPr>
              <a:picLocks noChangeAspect="1"/>
            </p:cNvPicPr>
            <p:nvPr/>
          </p:nvPicPr>
          <p:blipFill>
            <a:blip r:embed="rId3"/>
            <a:stretch>
              <a:fillRect/>
            </a:stretch>
          </p:blipFill>
          <p:spPr>
            <a:xfrm>
              <a:off x="7620000" y="1962150"/>
              <a:ext cx="1181100" cy="981075"/>
            </a:xfrm>
            <a:prstGeom prst="rect">
              <a:avLst/>
            </a:prstGeom>
          </p:spPr>
        </p:pic>
        <p:pic>
          <p:nvPicPr>
            <p:cNvPr id="16" name="Image 16"/>
            <p:cNvPicPr>
              <a:picLocks noChangeAspect="1"/>
            </p:cNvPicPr>
            <p:nvPr/>
          </p:nvPicPr>
          <p:blipFill>
            <a:blip r:embed="rId4"/>
            <a:stretch>
              <a:fillRect/>
            </a:stretch>
          </p:blipFill>
          <p:spPr>
            <a:xfrm>
              <a:off x="7734300" y="3028950"/>
              <a:ext cx="628650" cy="781050"/>
            </a:xfrm>
            <a:prstGeom prst="rect">
              <a:avLst/>
            </a:prstGeom>
          </p:spPr>
        </p:pic>
      </p:grpSp>
      <p:grpSp>
        <p:nvGrpSpPr>
          <p:cNvPr id="28" name="Group 28"/>
          <p:cNvGrpSpPr/>
          <p:nvPr/>
        </p:nvGrpSpPr>
        <p:grpSpPr>
          <a:xfrm>
            <a:off x="1047750" y="4086225"/>
            <a:ext cx="7283958" cy="1099376"/>
            <a:chOff x="1047750" y="4086225"/>
            <a:chExt cx="7283958" cy="1099376"/>
          </a:xfrm>
        </p:grpSpPr>
        <p:sp>
          <p:nvSpPr>
            <p:cNvPr id="18" name="Line 18"/>
            <p:cNvSpPr/>
            <p:nvPr/>
          </p:nvSpPr>
          <p:spPr>
            <a:xfrm>
              <a:off x="1047750" y="4476750"/>
              <a:ext cx="6191250" cy="9525"/>
            </a:xfrm>
            <a:custGeom>
              <a:avLst/>
              <a:gdLst/>
              <a:ahLst/>
              <a:cxnLst/>
              <a:rect l="l" t="t" r="r" b="b"/>
              <a:pathLst>
                <a:path w="6191250" h="9525">
                  <a:moveTo>
                    <a:pt x="0" y="0"/>
                  </a:moveTo>
                  <a:lnTo>
                    <a:pt x="6191250" y="0"/>
                  </a:lnTo>
                </a:path>
              </a:pathLst>
            </a:custGeom>
            <a:noFill/>
            <a:ln w="19050">
              <a:solidFill>
                <a:schemeClr val="accent6"/>
              </a:solidFill>
              <a:prstDash val="lgDash"/>
            </a:ln>
          </p:spPr>
        </p:sp>
        <p:sp>
          <p:nvSpPr>
            <p:cNvPr id="19" name="Ellipse 19"/>
            <p:cNvSpPr/>
            <p:nvPr/>
          </p:nvSpPr>
          <p:spPr>
            <a:xfrm>
              <a:off x="1238250" y="4381500"/>
              <a:ext cx="190500" cy="190500"/>
            </a:xfrm>
            <a:prstGeom prst="ellipse">
              <a:avLst/>
            </a:prstGeom>
            <a:solidFill>
              <a:schemeClr val="accent3"/>
            </a:solidFill>
            <a:ln>
              <a:noFill/>
            </a:ln>
          </p:spPr>
        </p:sp>
        <p:sp>
          <p:nvSpPr>
            <p:cNvPr id="20" name="Ellipse 20"/>
            <p:cNvSpPr/>
            <p:nvPr/>
          </p:nvSpPr>
          <p:spPr>
            <a:xfrm>
              <a:off x="3905250" y="4381500"/>
              <a:ext cx="190500" cy="190500"/>
            </a:xfrm>
            <a:prstGeom prst="ellipse">
              <a:avLst/>
            </a:prstGeom>
            <a:solidFill>
              <a:schemeClr val="accent1"/>
            </a:solidFill>
            <a:ln>
              <a:noFill/>
            </a:ln>
          </p:spPr>
        </p:sp>
        <p:sp>
          <p:nvSpPr>
            <p:cNvPr id="21" name="Ellipse 21"/>
            <p:cNvSpPr/>
            <p:nvPr/>
          </p:nvSpPr>
          <p:spPr>
            <a:xfrm>
              <a:off x="6572250" y="4381500"/>
              <a:ext cx="190500" cy="190500"/>
            </a:xfrm>
            <a:prstGeom prst="ellipse">
              <a:avLst/>
            </a:prstGeom>
            <a:solidFill>
              <a:schemeClr val="accent2"/>
            </a:solidFill>
            <a:ln>
              <a:noFill/>
            </a:ln>
          </p:spPr>
        </p:sp>
        <p:sp>
          <p:nvSpPr>
            <p:cNvPr id="22" name="TextBox 22"/>
            <p:cNvSpPr txBox="1"/>
            <p:nvPr/>
          </p:nvSpPr>
          <p:spPr>
            <a:xfrm>
              <a:off x="1097280" y="4086225"/>
              <a:ext cx="1608973"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《归藏易》· 先秦</a:t>
              </a:r>
            </a:p>
          </p:txBody>
        </p:sp>
        <p:sp>
          <p:nvSpPr>
            <p:cNvPr id="23" name="TextBox 23"/>
            <p:cNvSpPr txBox="1"/>
            <p:nvPr/>
          </p:nvSpPr>
          <p:spPr>
            <a:xfrm>
              <a:off x="1098042" y="4673918"/>
              <a:ext cx="1899666" cy="511683"/>
            </a:xfrm>
            <a:prstGeom prst="rect">
              <a:avLst/>
            </a:prstGeom>
            <a:noFill/>
            <a:ln>
              <a:noFill/>
            </a:ln>
          </p:spPr>
          <p:txBody>
            <a:bodyPr wrap="none" lIns="0" tIns="0" rIns="0" bIns="0" anchor="t" anchorCtr="0">
              <a:spAutoFit/>
            </a:bodyPr>
            <a:lstStyle/>
            <a:p>
              <a:pPr algn="l">
                <a:lnSpc>
                  <a:spcPts val="1950"/>
                </a:lnSpc>
              </a:pPr>
              <a:r>
                <a:rPr lang="zh-CN" sz="1350" dirty="0">
                  <a:solidFill>
                    <a:schemeClr val="accent5"/>
                  </a:solidFill>
                  <a:latin typeface="+mn-lt"/>
                  <a:ea typeface="+mn-ea"/>
                  <a:cs typeface="+mn-cs"/>
                </a:rPr>
                <a:t>「羿毙十日，恒娥奔月」</a:t>
              </a:r>
              <a:br/>
              <a:r>
                <a:rPr lang="zh-CN" sz="1350" dirty="0">
                  <a:solidFill>
                    <a:schemeClr val="accent5"/>
                  </a:solidFill>
                  <a:latin typeface="+mn-lt"/>
                  <a:ea typeface="+mn-ea"/>
                  <a:cs typeface="+mn-cs"/>
                </a:rPr>
                <a:t>秦简仅存两枚残简</a:t>
              </a:r>
            </a:p>
          </p:txBody>
        </p:sp>
        <p:sp>
          <p:nvSpPr>
            <p:cNvPr id="24" name="TextBox 24"/>
            <p:cNvSpPr txBox="1"/>
            <p:nvPr/>
          </p:nvSpPr>
          <p:spPr>
            <a:xfrm>
              <a:off x="3764280" y="4086225"/>
              <a:ext cx="1608973"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《淮南子》· 西汉</a:t>
              </a:r>
            </a:p>
          </p:txBody>
        </p:sp>
        <p:sp>
          <p:nvSpPr>
            <p:cNvPr id="25" name="TextBox 25"/>
            <p:cNvSpPr txBox="1"/>
            <p:nvPr/>
          </p:nvSpPr>
          <p:spPr>
            <a:xfrm>
              <a:off x="3765042" y="4673918"/>
              <a:ext cx="1556766" cy="511683"/>
            </a:xfrm>
            <a:prstGeom prst="rect">
              <a:avLst/>
            </a:prstGeom>
            <a:noFill/>
            <a:ln>
              <a:noFill/>
            </a:ln>
          </p:spPr>
          <p:txBody>
            <a:bodyPr wrap="none" lIns="0" tIns="0" rIns="0" bIns="0" anchor="t" anchorCtr="0">
              <a:spAutoFit/>
            </a:bodyPr>
            <a:lstStyle/>
            <a:p>
              <a:pPr algn="l">
                <a:lnSpc>
                  <a:spcPts val="1950"/>
                </a:lnSpc>
              </a:pPr>
              <a:r>
                <a:rPr lang="zh-CN" sz="1350" dirty="0">
                  <a:solidFill>
                    <a:schemeClr val="accent5"/>
                  </a:solidFill>
                  <a:latin typeface="+mn-lt"/>
                  <a:ea typeface="+mn-ea"/>
                  <a:cs typeface="+mn-cs"/>
                </a:rPr>
                <a:t>「姮娥竊以奔月」</a:t>
              </a:r>
              <a:br/>
              <a:r>
                <a:rPr lang="zh-CN" sz="1350" dirty="0">
                  <a:solidFill>
                    <a:schemeClr val="accent5"/>
                  </a:solidFill>
                  <a:latin typeface="+mn-lt"/>
                  <a:ea typeface="+mn-ea"/>
                  <a:cs typeface="+mn-cs"/>
                </a:rPr>
                <a:t>无蟾蜍，用「姮娥」</a:t>
              </a:r>
            </a:p>
          </p:txBody>
        </p:sp>
        <p:sp>
          <p:nvSpPr>
            <p:cNvPr id="26" name="TextBox 26"/>
            <p:cNvSpPr txBox="1"/>
            <p:nvPr/>
          </p:nvSpPr>
          <p:spPr>
            <a:xfrm>
              <a:off x="6431280" y="4086225"/>
              <a:ext cx="1810903"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《灵宪》· 东汉张衡</a:t>
              </a:r>
            </a:p>
          </p:txBody>
        </p:sp>
        <p:sp>
          <p:nvSpPr>
            <p:cNvPr id="27" name="TextBox 27"/>
            <p:cNvSpPr txBox="1"/>
            <p:nvPr/>
          </p:nvSpPr>
          <p:spPr>
            <a:xfrm>
              <a:off x="6432042" y="4673918"/>
              <a:ext cx="1899666" cy="511683"/>
            </a:xfrm>
            <a:prstGeom prst="rect">
              <a:avLst/>
            </a:prstGeom>
            <a:noFill/>
            <a:ln>
              <a:noFill/>
            </a:ln>
          </p:spPr>
          <p:txBody>
            <a:bodyPr wrap="none" lIns="0" tIns="0" rIns="0" bIns="0" anchor="t" anchorCtr="0">
              <a:spAutoFit/>
            </a:bodyPr>
            <a:lstStyle/>
            <a:p>
              <a:pPr algn="l">
                <a:lnSpc>
                  <a:spcPts val="1950"/>
                </a:lnSpc>
              </a:pPr>
              <a:r>
                <a:rPr lang="zh-CN" sz="1350" dirty="0">
                  <a:solidFill>
                    <a:schemeClr val="accent5"/>
                  </a:solidFill>
                  <a:latin typeface="+mn-lt"/>
                  <a:ea typeface="+mn-ea"/>
                  <a:cs typeface="+mn-cs"/>
                </a:rPr>
                <a:t>「托身于月，是为蟾蜍」</a:t>
              </a:r>
              <a:br/>
              <a:r>
                <a:rPr lang="zh-CN" sz="1350" dirty="0">
                  <a:solidFill>
                    <a:schemeClr val="accent5"/>
                  </a:solidFill>
                  <a:latin typeface="+mn-lt"/>
                  <a:ea typeface="+mn-ea"/>
                  <a:cs typeface="+mn-cs"/>
                </a:rPr>
                <a:t>化蟾之说出于此</a:t>
              </a:r>
            </a:p>
          </p:txBody>
        </p:sp>
      </p:grpSp>
      <p:grpSp>
        <p:nvGrpSpPr>
          <p:cNvPr id="30" name="Group 30"/>
          <p:cNvGrpSpPr/>
          <p:nvPr/>
        </p:nvGrpSpPr>
        <p:grpSpPr>
          <a:xfrm>
            <a:off x="678180" y="5553075"/>
            <a:ext cx="4777740" cy="617220"/>
            <a:chOff x="678180" y="5553075"/>
            <a:chExt cx="4777740" cy="617220"/>
          </a:xfrm>
        </p:grpSpPr>
        <p:sp>
          <p:nvSpPr>
            <p:cNvPr id="29" name="TextBox 29"/>
            <p:cNvSpPr txBox="1"/>
            <p:nvPr/>
          </p:nvSpPr>
          <p:spPr>
            <a:xfrm>
              <a:off x="678180" y="5553075"/>
              <a:ext cx="4777740" cy="617220"/>
            </a:xfrm>
            <a:prstGeom prst="rect">
              <a:avLst/>
            </a:prstGeom>
            <a:noFill/>
            <a:ln>
              <a:noFill/>
            </a:ln>
          </p:spPr>
          <p:txBody>
            <a:bodyPr wrap="none" lIns="0" tIns="0" rIns="0" bIns="0" anchor="t" anchorCtr="0">
              <a:spAutoFit/>
            </a:bodyPr>
            <a:lstStyle/>
            <a:p>
              <a:pPr algn="l">
                <a:lnSpc>
                  <a:spcPts val="2550"/>
                </a:lnSpc>
              </a:pPr>
              <a:r>
                <a:rPr lang="zh-CN" sz="1500" dirty="0">
                  <a:solidFill>
                    <a:schemeClr val="dk1"/>
                  </a:solidFill>
                  <a:latin typeface="+mn-lt"/>
                  <a:ea typeface="+mn-ea"/>
                  <a:cs typeface="+mn-cs"/>
                </a:rPr>
                <a:t>刘安编《淮南子》避汉文帝</a:t>
              </a:r>
              <a:r>
                <a:rPr lang="zh-CN" sz="1500" b="1" dirty="0">
                  <a:solidFill>
                    <a:schemeClr val="accent1"/>
                  </a:solidFill>
                  <a:latin typeface="+mn-lt"/>
                  <a:ea typeface="+mn-ea"/>
                  <a:cs typeface="+mn-cs"/>
                </a:rPr>
                <a:t>刘恒</a:t>
              </a:r>
              <a:r>
                <a:rPr lang="zh-CN" sz="1500" dirty="0">
                  <a:solidFill>
                    <a:schemeClr val="dk1"/>
                  </a:solidFill>
                  <a:latin typeface="+mn-lt"/>
                  <a:ea typeface="+mn-ea"/>
                  <a:cs typeface="+mn-cs"/>
                </a:rPr>
                <a:t>之讳，改「恒」为「嫦」</a:t>
              </a:r>
              <a:br/>
              <a:r>
                <a:rPr lang="zh-CN" sz="1500" dirty="0">
                  <a:solidFill>
                    <a:schemeClr val="dk1"/>
                  </a:solidFill>
                  <a:latin typeface="+mn-lt"/>
                  <a:ea typeface="+mn-ea"/>
                  <a:cs typeface="+mn-cs"/>
                </a:rPr>
                <a:t>——「恒我」遂演变为「嫦娥」与「姮娥」，后人混用</a:t>
              </a:r>
            </a:p>
          </p:txBody>
        </p:sp>
      </p:grpSp>
      <p:grpSp>
        <p:nvGrpSpPr>
          <p:cNvPr id="32" name="Group 32"/>
          <p:cNvGrpSpPr/>
          <p:nvPr/>
        </p:nvGrpSpPr>
        <p:grpSpPr>
          <a:xfrm>
            <a:off x="9239250" y="3717131"/>
            <a:ext cx="2571750" cy="2157412"/>
            <a:chOff x="9239250" y="3717131"/>
            <a:chExt cx="2571750" cy="2157412"/>
          </a:xfrm>
        </p:grpSpPr>
        <p:pic>
          <p:nvPicPr>
            <p:cNvPr id="31" name="Image 31"/>
            <p:cNvPicPr>
              <a:picLocks noChangeAspect="1"/>
            </p:cNvPicPr>
            <p:nvPr/>
          </p:nvPicPr>
          <p:blipFill>
            <a:blip r:embed="rId5"/>
            <a:stretch>
              <a:fillRect/>
            </a:stretch>
          </p:blipFill>
          <p:spPr>
            <a:xfrm>
              <a:off x="9239250" y="3717131"/>
              <a:ext cx="2571750" cy="2157412"/>
            </a:xfrm>
            <a:prstGeom prst="rect">
              <a:avLst/>
            </a:prstGeom>
            <a:effectLst>
              <a:outerShdw blurRad="171450" dist="57150" dir="5400000" algn="ctr" rotWithShape="0">
                <a:srgbClr val="05070F">
                  <a:alpha val="15000"/>
                </a:srgbClr>
              </a:outerShdw>
            </a:effectLst>
          </p:spPr>
        </p:pic>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10" presetClass="entr" presetSubtype="0" fill="hold" grpId="0" nodeType="after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par>
                          <p:cTn id="8" fill="hold">
                            <p:stCondLst>
                              <p:cond delay="500"/>
                            </p:stCondLst>
                            <p:childTnLst>
                              <p:par>
                                <p:cTn xmlns:p="http://schemas.openxmlformats.org/presentationml/2006/main" id="9" presetID="22" presetClass="entr" presetSubtype="2" fill="hold" grpId="0" nodeType="afterEffect">
                                  <p:stCondLst>
                                    <p:cond delay="350"/>
                                  </p:stCondLst>
                                  <p:childTnLst>
                                    <p:set>
                                      <p:cBhvr>
                                        <p:cTn id="10" dur="1" fill="hold">
                                          <p:stCondLst>
                                            <p:cond delay="0"/>
                                          </p:stCondLst>
                                        </p:cTn>
                                        <p:tgtEl>
                                          <p:spTgt spid="14"/>
                                        </p:tgtEl>
                                        <p:attrNameLst>
                                          <p:attrName>style.visibility</p:attrName>
                                        </p:attrNameLst>
                                      </p:cBhvr>
                                      <p:to>
                                        <p:strVal val="visible"/>
                                      </p:to>
                                    </p:set>
                                    <p:animEffect transition="in" filter="wipe(right)">
                                      <p:cBhvr>
                                        <p:cTn id="11" dur="500"/>
                                        <p:tgtEl>
                                          <p:spTgt spid="14"/>
                                        </p:tgtEl>
                                      </p:cBhvr>
                                    </p:animEffect>
                                  </p:childTnLst>
                                </p:cTn>
                              </p:par>
                            </p:childTnLst>
                          </p:cTn>
                        </p:par>
                        <p:par>
                          <p:cTn id="12" fill="hold">
                            <p:stCondLst>
                              <p:cond delay="850"/>
                            </p:stCondLst>
                            <p:childTnLst>
                              <p:par>
                                <p:cTn xmlns:p="http://schemas.openxmlformats.org/presentationml/2006/main" id="13" presetID="10"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500"/>
                                        <p:tgtEl>
                                          <p:spTgt spid="17"/>
                                        </p:tgtEl>
                                      </p:cBhvr>
                                    </p:animEffect>
                                  </p:childTnLst>
                                </p:cTn>
                              </p:par>
                            </p:childTnLst>
                          </p:cTn>
                        </p:par>
                        <p:par>
                          <p:cTn id="16" fill="hold">
                            <p:stCondLst>
                              <p:cond delay="1350"/>
                            </p:stCondLst>
                            <p:childTnLst>
                              <p:par>
                                <p:cTn xmlns:p="http://schemas.openxmlformats.org/presentationml/2006/main" id="17" presetID="22" presetClass="entr" presetSubtype="2" fill="hold" grpId="0" nodeType="afterEffect">
                                  <p:stCondLst>
                                    <p:cond delay="120"/>
                                  </p:stCondLst>
                                  <p:childTnLst>
                                    <p:set>
                                      <p:cBhvr>
                                        <p:cTn id="18" dur="1" fill="hold">
                                          <p:stCondLst>
                                            <p:cond delay="0"/>
                                          </p:stCondLst>
                                        </p:cTn>
                                        <p:tgtEl>
                                          <p:spTgt spid="28"/>
                                        </p:tgtEl>
                                        <p:attrNameLst>
                                          <p:attrName>style.visibility</p:attrName>
                                        </p:attrNameLst>
                                      </p:cBhvr>
                                      <p:to>
                                        <p:strVal val="visible"/>
                                      </p:to>
                                    </p:set>
                                    <p:animEffect transition="in" filter="wipe(right)">
                                      <p:cBhvr>
                                        <p:cTn id="19" dur="800"/>
                                        <p:tgtEl>
                                          <p:spTgt spid="28"/>
                                        </p:tgtEl>
                                      </p:cBhvr>
                                    </p:animEffect>
                                  </p:childTnLst>
                                </p:cTn>
                              </p:par>
                            </p:childTnLst>
                          </p:cTn>
                        </p:par>
                        <p:par>
                          <p:cTn id="20" fill="hold">
                            <p:stCondLst>
                              <p:cond delay="2270"/>
                            </p:stCondLst>
                            <p:childTnLst>
                              <p:par>
                                <p:cTn xmlns:p="http://schemas.openxmlformats.org/presentationml/2006/main" id="21" presetID="10" presetClass="entr" presetSubtype="0" fill="hold" grpId="0" nodeType="afterEffect">
                                  <p:stCondLst>
                                    <p:cond delay="120"/>
                                  </p:stCondLst>
                                  <p:childTnLst>
                                    <p:set>
                                      <p:cBhvr>
                                        <p:cTn id="22" dur="1" fill="hold">
                                          <p:stCondLst>
                                            <p:cond delay="0"/>
                                          </p:stCondLst>
                                        </p:cTn>
                                        <p:tgtEl>
                                          <p:spTgt spid="30"/>
                                        </p:tgtEl>
                                        <p:attrNameLst>
                                          <p:attrName>style.visibility</p:attrName>
                                        </p:attrNameLst>
                                      </p:cBhvr>
                                      <p:to>
                                        <p:strVal val="visible"/>
                                      </p:to>
                                    </p:set>
                                    <p:animEffect transition="in" filter="fade">
                                      <p:cBhvr>
                                        <p:cTn id="23" dur="45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stretch>
            <a:fillRect/>
          </a:stretch>
        </p:blipFill>
        <p:spPr>
          <a:xfrm>
            <a:off x="5257800" y="2400300"/>
            <a:ext cx="1676400" cy="1676400"/>
          </a:xfrm>
          <a:prstGeom prst="rect">
            <a:avLst/>
          </a:prstGeom>
        </p:spPr>
      </p:pic>
      <p:grpSp>
        <p:nvGrpSpPr>
          <p:cNvPr id="5" name="Group 5"/>
          <p:cNvGrpSpPr/>
          <p:nvPr/>
        </p:nvGrpSpPr>
        <p:grpSpPr>
          <a:xfrm>
            <a:off x="669798" y="726758"/>
            <a:ext cx="4832604" cy="962215"/>
            <a:chOff x="669798" y="726758"/>
            <a:chExt cx="4832604" cy="962215"/>
          </a:xfrm>
        </p:grpSpPr>
        <p:sp>
          <p:nvSpPr>
            <p:cNvPr id="3" name="TextBox 3"/>
            <p:cNvSpPr txBox="1"/>
            <p:nvPr/>
          </p:nvSpPr>
          <p:spPr>
            <a:xfrm>
              <a:off x="669798" y="726758"/>
              <a:ext cx="4064508" cy="616077"/>
            </a:xfrm>
            <a:prstGeom prst="rect">
              <a:avLst/>
            </a:prstGeom>
            <a:noFill/>
            <a:ln>
              <a:noFill/>
            </a:ln>
          </p:spPr>
          <p:txBody>
            <a:bodyPr wrap="none" lIns="0" tIns="0" rIns="0" bIns="0" anchor="t" anchorCtr="0">
              <a:spAutoFit/>
            </a:bodyPr>
            <a:lstStyle/>
            <a:p>
              <a:pPr algn="l"/>
              <a:r>
                <a:rPr lang="zh-CN" sz="3150" dirty="0">
                  <a:solidFill>
                    <a:schemeClr val="dk1"/>
                  </a:solidFill>
                  <a:latin typeface="+mj-lt"/>
                  <a:ea typeface="+mj-ea"/>
                  <a:cs typeface="+mj-cs"/>
                </a:rPr>
                <a:t>树创随合，长跪捣药</a:t>
              </a:r>
            </a:p>
          </p:txBody>
        </p:sp>
        <p:sp>
          <p:nvSpPr>
            <p:cNvPr id="4" name="TextBox 4"/>
            <p:cNvSpPr txBox="1"/>
            <p:nvPr/>
          </p:nvSpPr>
          <p:spPr>
            <a:xfrm>
              <a:off x="675132" y="1278255"/>
              <a:ext cx="4827270" cy="410718"/>
            </a:xfrm>
            <a:prstGeom prst="rect">
              <a:avLst/>
            </a:prstGeom>
            <a:noFill/>
            <a:ln>
              <a:noFill/>
            </a:ln>
          </p:spPr>
          <p:txBody>
            <a:bodyPr wrap="none" lIns="0" tIns="0" rIns="0" bIns="0" anchor="t" anchorCtr="0">
              <a:spAutoFit/>
            </a:bodyPr>
            <a:lstStyle/>
            <a:p>
              <a:pPr algn="l"/>
              <a:r>
                <a:rPr lang="zh-CN" sz="2100" dirty="0">
                  <a:solidFill>
                    <a:schemeClr val="accent5"/>
                  </a:solidFill>
                  <a:latin typeface="+mn-lt"/>
                  <a:ea typeface="+mn-ea"/>
                  <a:cs typeface="+mn-cs"/>
                </a:rPr>
                <a:t>一个讲无尽的重复，一个讲无尽的等待</a:t>
              </a:r>
            </a:p>
          </p:txBody>
        </p:sp>
      </p:grpSp>
      <p:grpSp>
        <p:nvGrpSpPr>
          <p:cNvPr id="10" name="Group 10"/>
          <p:cNvGrpSpPr/>
          <p:nvPr/>
        </p:nvGrpSpPr>
        <p:grpSpPr>
          <a:xfrm>
            <a:off x="676656" y="2000250"/>
            <a:ext cx="3895344" cy="3522345"/>
            <a:chOff x="676656" y="2000250"/>
            <a:chExt cx="3895344" cy="3522345"/>
          </a:xfrm>
        </p:grpSpPr>
        <p:pic>
          <p:nvPicPr>
            <p:cNvPr id="6" name="Image 6"/>
            <p:cNvPicPr>
              <a:picLocks noChangeAspect="1"/>
            </p:cNvPicPr>
            <p:nvPr/>
          </p:nvPicPr>
          <p:blipFill>
            <a:blip r:embed="rId3"/>
            <a:stretch>
              <a:fillRect/>
            </a:stretch>
          </p:blipFill>
          <p:spPr>
            <a:xfrm>
              <a:off x="2667000" y="2000250"/>
              <a:ext cx="1905000" cy="1685925"/>
            </a:xfrm>
            <a:prstGeom prst="rect">
              <a:avLst/>
            </a:prstGeom>
          </p:spPr>
        </p:pic>
        <p:pic>
          <p:nvPicPr>
            <p:cNvPr id="7" name="Image 7"/>
            <p:cNvPicPr>
              <a:picLocks noChangeAspect="1"/>
            </p:cNvPicPr>
            <p:nvPr/>
          </p:nvPicPr>
          <p:blipFill>
            <a:blip r:embed="rId4"/>
            <a:stretch>
              <a:fillRect/>
            </a:stretch>
          </p:blipFill>
          <p:spPr>
            <a:xfrm>
              <a:off x="1238250" y="2195020"/>
              <a:ext cx="1238250" cy="2220310"/>
            </a:xfrm>
            <a:prstGeom prst="rect">
              <a:avLst/>
            </a:prstGeom>
            <a:effectLst>
              <a:outerShdw blurRad="171450" dist="57150" dir="5400000" algn="ctr" rotWithShape="0">
                <a:srgbClr val="05070F">
                  <a:alpha val="15000"/>
                </a:srgbClr>
              </a:outerShdw>
            </a:effectLst>
          </p:spPr>
        </p:pic>
        <p:sp>
          <p:nvSpPr>
            <p:cNvPr id="8" name="TextBox 8"/>
            <p:cNvSpPr txBox="1"/>
            <p:nvPr/>
          </p:nvSpPr>
          <p:spPr>
            <a:xfrm>
              <a:off x="676656" y="4568190"/>
              <a:ext cx="1280149"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吴刚 · 伐桂</a:t>
              </a:r>
            </a:p>
          </p:txBody>
        </p:sp>
        <p:sp>
          <p:nvSpPr>
            <p:cNvPr id="9" name="TextBox 9"/>
            <p:cNvSpPr txBox="1"/>
            <p:nvPr/>
          </p:nvSpPr>
          <p:spPr>
            <a:xfrm>
              <a:off x="678180" y="4924425"/>
              <a:ext cx="2872740" cy="598170"/>
            </a:xfrm>
            <a:prstGeom prst="rect">
              <a:avLst/>
            </a:prstGeom>
            <a:noFill/>
            <a:ln>
              <a:noFill/>
            </a:ln>
          </p:spPr>
          <p:txBody>
            <a:bodyPr wrap="none" lIns="0" tIns="0" rIns="0" bIns="0" anchor="t" anchorCtr="0">
              <a:spAutoFit/>
            </a:bodyPr>
            <a:lstStyle/>
            <a:p>
              <a:pPr algn="l">
                <a:lnSpc>
                  <a:spcPts val="2400"/>
                </a:lnSpc>
              </a:pPr>
              <a:r>
                <a:rPr lang="zh-CN" sz="1500" dirty="0">
                  <a:solidFill>
                    <a:schemeClr val="dk1"/>
                  </a:solidFill>
                  <a:latin typeface="+mn-lt"/>
                  <a:ea typeface="+mn-ea"/>
                  <a:cs typeface="+mn-cs"/>
                </a:rPr>
                <a:t>月桂高五百丈，下有一人常斫之，</a:t>
              </a:r>
              <a:br/>
              <a:r>
                <a:rPr lang="zh-CN" sz="1500" dirty="0">
                  <a:solidFill>
                    <a:schemeClr val="dk1"/>
                  </a:solidFill>
                  <a:latin typeface="+mn-lt"/>
                  <a:ea typeface="+mn-ea"/>
                  <a:cs typeface="+mn-cs"/>
                </a:rPr>
                <a:t>树创随合。学仙有过，谪令伐树。</a:t>
              </a:r>
            </a:p>
          </p:txBody>
        </p:sp>
      </p:grpSp>
      <p:grpSp>
        <p:nvGrpSpPr>
          <p:cNvPr id="14" name="Group 14"/>
          <p:cNvGrpSpPr/>
          <p:nvPr/>
        </p:nvGrpSpPr>
        <p:grpSpPr>
          <a:xfrm>
            <a:off x="6658356" y="2047875"/>
            <a:ext cx="3445764" cy="3474720"/>
            <a:chOff x="6658356" y="2047875"/>
            <a:chExt cx="3445764" cy="3474720"/>
          </a:xfrm>
        </p:grpSpPr>
        <p:pic>
          <p:nvPicPr>
            <p:cNvPr id="11" name="Image 11"/>
            <p:cNvPicPr>
              <a:picLocks noChangeAspect="1"/>
            </p:cNvPicPr>
            <p:nvPr/>
          </p:nvPicPr>
          <p:blipFill>
            <a:blip r:embed="rId5"/>
            <a:stretch>
              <a:fillRect/>
            </a:stretch>
          </p:blipFill>
          <p:spPr>
            <a:xfrm>
              <a:off x="7239000" y="2047875"/>
              <a:ext cx="1905000" cy="2200275"/>
            </a:xfrm>
            <a:prstGeom prst="rect">
              <a:avLst/>
            </a:prstGeom>
            <a:effectLst>
              <a:outerShdw blurRad="171450" dist="57150" dir="5400000" algn="ctr" rotWithShape="0">
                <a:srgbClr val="05070F">
                  <a:alpha val="15000"/>
                </a:srgbClr>
              </a:outerShdw>
            </a:effectLst>
          </p:spPr>
        </p:pic>
        <p:sp>
          <p:nvSpPr>
            <p:cNvPr id="12" name="TextBox 12"/>
            <p:cNvSpPr txBox="1"/>
            <p:nvPr/>
          </p:nvSpPr>
          <p:spPr>
            <a:xfrm>
              <a:off x="6658356" y="4568190"/>
              <a:ext cx="1280149"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玉兔 · 捣药</a:t>
              </a:r>
            </a:p>
          </p:txBody>
        </p:sp>
        <p:sp>
          <p:nvSpPr>
            <p:cNvPr id="13" name="TextBox 13"/>
            <p:cNvSpPr txBox="1"/>
            <p:nvPr/>
          </p:nvSpPr>
          <p:spPr>
            <a:xfrm>
              <a:off x="6659880" y="4924425"/>
              <a:ext cx="3444240" cy="598170"/>
            </a:xfrm>
            <a:prstGeom prst="rect">
              <a:avLst/>
            </a:prstGeom>
            <a:noFill/>
            <a:ln>
              <a:noFill/>
            </a:ln>
          </p:spPr>
          <p:txBody>
            <a:bodyPr wrap="none" lIns="0" tIns="0" rIns="0" bIns="0" anchor="t" anchorCtr="0">
              <a:spAutoFit/>
            </a:bodyPr>
            <a:lstStyle/>
            <a:p>
              <a:pPr algn="l">
                <a:lnSpc>
                  <a:spcPts val="2400"/>
                </a:lnSpc>
              </a:pPr>
              <a:r>
                <a:rPr lang="zh-CN" sz="1500" dirty="0">
                  <a:solidFill>
                    <a:schemeClr val="dk1"/>
                  </a:solidFill>
                  <a:latin typeface="+mn-lt"/>
                  <a:ea typeface="+mn-ea"/>
                  <a:cs typeface="+mn-cs"/>
                </a:rPr>
                <a:t>玉兔长跪捣药蛤蟆丸，奉上陛下一玉盘，</a:t>
              </a:r>
              <a:br/>
              <a:r>
                <a:rPr lang="zh-CN" sz="1500" dirty="0">
                  <a:solidFill>
                    <a:schemeClr val="dk1"/>
                  </a:solidFill>
                  <a:latin typeface="+mn-lt"/>
                  <a:ea typeface="+mn-ea"/>
                  <a:cs typeface="+mn-cs"/>
                </a:rPr>
                <a:t>服此药可得神仙。——汉乐府《董逃行》</a:t>
              </a:r>
            </a:p>
          </p:txBody>
        </p:sp>
      </p:grpSp>
      <p:grpSp>
        <p:nvGrpSpPr>
          <p:cNvPr id="16" name="Group 16"/>
          <p:cNvGrpSpPr/>
          <p:nvPr/>
        </p:nvGrpSpPr>
        <p:grpSpPr>
          <a:xfrm>
            <a:off x="678942" y="5855018"/>
            <a:ext cx="8791613" cy="264033"/>
            <a:chOff x="678942" y="5855018"/>
            <a:chExt cx="8791613" cy="264033"/>
          </a:xfrm>
        </p:grpSpPr>
        <p:sp>
          <p:nvSpPr>
            <p:cNvPr id="15" name="TextBox 15"/>
            <p:cNvSpPr txBox="1"/>
            <p:nvPr/>
          </p:nvSpPr>
          <p:spPr>
            <a:xfrm>
              <a:off x="678942" y="5855018"/>
              <a:ext cx="8791613" cy="264033"/>
            </a:xfrm>
            <a:prstGeom prst="rect">
              <a:avLst/>
            </a:prstGeom>
            <a:noFill/>
            <a:ln>
              <a:noFill/>
            </a:ln>
          </p:spPr>
          <p:txBody>
            <a:bodyPr wrap="none" lIns="0" tIns="0" rIns="0" bIns="0" anchor="t" anchorCtr="0">
              <a:spAutoFit/>
            </a:bodyPr>
            <a:lstStyle/>
            <a:p>
              <a:pPr algn="l"/>
              <a:r>
                <a:rPr lang="zh-CN" sz="1350" dirty="0">
                  <a:solidFill>
                    <a:schemeClr val="accent3"/>
                  </a:solidFill>
                  <a:latin typeface="+mn-lt"/>
                  <a:ea typeface="+mn-ea"/>
                  <a:cs typeface="+mn-cs"/>
                </a:rPr>
                <a:t>吴刚伐桂始见唐 · 段成式《酉阳杂俎》；「月中有桂」更早见晋 · 虞喜《安天论》；饮桂花酒的习俗与此相连</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69798" y="726758"/>
            <a:ext cx="7648956" cy="962215"/>
            <a:chOff x="669798" y="726758"/>
            <a:chExt cx="7648956" cy="962215"/>
          </a:xfrm>
        </p:grpSpPr>
        <p:sp>
          <p:nvSpPr>
            <p:cNvPr id="2" name="TextBox 2"/>
            <p:cNvSpPr txBox="1"/>
            <p:nvPr/>
          </p:nvSpPr>
          <p:spPr>
            <a:xfrm>
              <a:off x="669798" y="726758"/>
              <a:ext cx="7648956" cy="616077"/>
            </a:xfrm>
            <a:prstGeom prst="rect">
              <a:avLst/>
            </a:prstGeom>
            <a:noFill/>
            <a:ln>
              <a:noFill/>
            </a:ln>
          </p:spPr>
          <p:txBody>
            <a:bodyPr wrap="none" lIns="0" tIns="0" rIns="0" bIns="0" anchor="t" anchorCtr="0">
              <a:spAutoFit/>
            </a:bodyPr>
            <a:lstStyle/>
            <a:p>
              <a:pPr algn="l"/>
              <a:r>
                <a:rPr lang="zh-CN" sz="3150" dirty="0">
                  <a:solidFill>
                    <a:schemeClr val="dk1"/>
                  </a:solidFill>
                  <a:latin typeface="+mj-lt"/>
                  <a:ea typeface="+mj-ea"/>
                  <a:cs typeface="+mj-cs"/>
                </a:rPr>
                <a:t>同一个晚上，有人扎火龙，有人掷骰子</a:t>
              </a:r>
            </a:p>
          </p:txBody>
        </p:sp>
        <p:sp>
          <p:nvSpPr>
            <p:cNvPr id="3" name="TextBox 3"/>
            <p:cNvSpPr txBox="1"/>
            <p:nvPr/>
          </p:nvSpPr>
          <p:spPr>
            <a:xfrm>
              <a:off x="675132" y="1278255"/>
              <a:ext cx="2848356" cy="410718"/>
            </a:xfrm>
            <a:prstGeom prst="rect">
              <a:avLst/>
            </a:prstGeom>
            <a:noFill/>
            <a:ln>
              <a:noFill/>
            </a:ln>
          </p:spPr>
          <p:txBody>
            <a:bodyPr wrap="none" lIns="0" tIns="0" rIns="0" bIns="0" anchor="t" anchorCtr="0">
              <a:spAutoFit/>
            </a:bodyPr>
            <a:lstStyle/>
            <a:p>
              <a:pPr algn="l"/>
              <a:r>
                <a:rPr lang="zh-CN" sz="2100" dirty="0">
                  <a:solidFill>
                    <a:schemeClr val="accent5"/>
                  </a:solidFill>
                  <a:latin typeface="+mn-lt"/>
                  <a:ea typeface="+mn-ea"/>
                  <a:cs typeface="+mn-cs"/>
                </a:rPr>
                <a:t>中秋从来不是一种过法</a:t>
              </a:r>
            </a:p>
          </p:txBody>
        </p:sp>
      </p:grpSp>
      <p:grpSp>
        <p:nvGrpSpPr>
          <p:cNvPr id="8" name="Group 8"/>
          <p:cNvGrpSpPr/>
          <p:nvPr/>
        </p:nvGrpSpPr>
        <p:grpSpPr>
          <a:xfrm>
            <a:off x="381000" y="1719951"/>
            <a:ext cx="6065520" cy="3532398"/>
            <a:chOff x="381000" y="1719951"/>
            <a:chExt cx="6065520" cy="3532398"/>
          </a:xfrm>
        </p:grpSpPr>
        <p:pic>
          <p:nvPicPr>
            <p:cNvPr id="5" name="Image 5"/>
            <p:cNvPicPr>
              <a:picLocks noChangeAspect="1"/>
            </p:cNvPicPr>
            <p:nvPr/>
          </p:nvPicPr>
          <p:blipFill>
            <a:blip r:embed="rId2"/>
            <a:stretch>
              <a:fillRect/>
            </a:stretch>
          </p:blipFill>
          <p:spPr>
            <a:xfrm>
              <a:off x="381000" y="1719951"/>
              <a:ext cx="3086100" cy="3532398"/>
            </a:xfrm>
            <a:prstGeom prst="rect">
              <a:avLst/>
            </a:prstGeom>
            <a:effectLst>
              <a:outerShdw blurRad="171450" dist="57150" dir="5400000" algn="ctr" rotWithShape="0">
                <a:srgbClr val="05070F">
                  <a:alpha val="15000"/>
                </a:srgbClr>
              </a:outerShdw>
            </a:effectLst>
          </p:spPr>
        </p:pic>
        <p:sp>
          <p:nvSpPr>
            <p:cNvPr id="6" name="TextBox 6"/>
            <p:cNvSpPr txBox="1"/>
            <p:nvPr/>
          </p:nvSpPr>
          <p:spPr>
            <a:xfrm>
              <a:off x="3762756" y="2186940"/>
              <a:ext cx="2007097"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香港大坑 · 舞火龙</a:t>
              </a:r>
            </a:p>
          </p:txBody>
        </p:sp>
        <p:sp>
          <p:nvSpPr>
            <p:cNvPr id="7" name="TextBox 7"/>
            <p:cNvSpPr txBox="1"/>
            <p:nvPr/>
          </p:nvSpPr>
          <p:spPr>
            <a:xfrm>
              <a:off x="3764280" y="2581275"/>
              <a:ext cx="2682240" cy="1512570"/>
            </a:xfrm>
            <a:prstGeom prst="rect">
              <a:avLst/>
            </a:prstGeom>
            <a:noFill/>
            <a:ln>
              <a:noFill/>
            </a:ln>
          </p:spPr>
          <p:txBody>
            <a:bodyPr wrap="none" lIns="0" tIns="0" rIns="0" bIns="0" anchor="t" anchorCtr="0">
              <a:spAutoFit/>
            </a:bodyPr>
            <a:lstStyle/>
            <a:p>
              <a:pPr algn="l">
                <a:lnSpc>
                  <a:spcPts val="2400"/>
                </a:lnSpc>
              </a:pPr>
              <a:r>
                <a:rPr lang="zh-CN" sz="1500" dirty="0">
                  <a:solidFill>
                    <a:schemeClr val="dk1"/>
                  </a:solidFill>
                  <a:latin typeface="+mn-lt"/>
                  <a:ea typeface="+mn-ea"/>
                  <a:cs typeface="+mn-cs"/>
                </a:rPr>
                <a:t>相传光绪六年（1880）瘟疫，</a:t>
              </a:r>
              <a:br/>
              <a:r>
                <a:rPr lang="zh-CN" sz="1500" dirty="0">
                  <a:solidFill>
                    <a:schemeClr val="dk1"/>
                  </a:solidFill>
                  <a:latin typeface="+mn-lt"/>
                  <a:ea typeface="+mn-ea"/>
                  <a:cs typeface="+mn-cs"/>
                </a:rPr>
                <a:t>村民扎火龙巡游驱瘟。</a:t>
              </a:r>
              <a:br/>
              <a:r>
                <a:rPr lang="zh-CN" sz="1500" dirty="0">
                  <a:solidFill>
                    <a:schemeClr val="dk1"/>
                  </a:solidFill>
                  <a:latin typeface="+mn-lt"/>
                  <a:ea typeface="+mn-ea"/>
                  <a:cs typeface="+mn-cs"/>
                </a:rPr>
                <a:t>龙骨内插满点燃的线香；</a:t>
              </a:r>
              <a:br/>
              <a:r>
                <a:rPr lang="zh-CN" sz="1500" dirty="0">
                  <a:solidFill>
                    <a:schemeClr val="dk1"/>
                  </a:solidFill>
                  <a:latin typeface="+mn-lt"/>
                  <a:ea typeface="+mn-ea"/>
                  <a:cs typeface="+mn-cs"/>
                </a:rPr>
                <a:t>八月十四开光，连巡三晚，</a:t>
              </a:r>
              <a:br/>
              <a:r>
                <a:rPr lang="zh-CN" sz="1500" dirty="0">
                  <a:solidFill>
                    <a:schemeClr val="dk1"/>
                  </a:solidFill>
                  <a:latin typeface="+mn-lt"/>
                  <a:ea typeface="+mn-ea"/>
                  <a:cs typeface="+mn-cs"/>
                </a:rPr>
                <a:t>十六晚「游大运」后投龙入海。</a:t>
              </a:r>
            </a:p>
          </p:txBody>
        </p:sp>
      </p:grpSp>
      <p:grpSp>
        <p:nvGrpSpPr>
          <p:cNvPr id="12" name="Group 12"/>
          <p:cNvGrpSpPr/>
          <p:nvPr/>
        </p:nvGrpSpPr>
        <p:grpSpPr>
          <a:xfrm>
            <a:off x="6945630" y="1905000"/>
            <a:ext cx="2071878" cy="2804351"/>
            <a:chOff x="6945630" y="1905000"/>
            <a:chExt cx="2071878" cy="2804351"/>
          </a:xfrm>
        </p:grpSpPr>
        <p:pic>
          <p:nvPicPr>
            <p:cNvPr id="9" name="Image 9"/>
            <p:cNvPicPr>
              <a:picLocks noChangeAspect="1"/>
            </p:cNvPicPr>
            <p:nvPr/>
          </p:nvPicPr>
          <p:blipFill>
            <a:blip r:embed="rId3"/>
            <a:stretch>
              <a:fillRect/>
            </a:stretch>
          </p:blipFill>
          <p:spPr>
            <a:xfrm>
              <a:off x="7334250" y="1905000"/>
              <a:ext cx="1047750" cy="1533525"/>
            </a:xfrm>
            <a:prstGeom prst="rect">
              <a:avLst/>
            </a:prstGeom>
          </p:spPr>
        </p:pic>
        <p:sp>
          <p:nvSpPr>
            <p:cNvPr id="10" name="TextBox 10"/>
            <p:cNvSpPr txBox="1"/>
            <p:nvPr/>
          </p:nvSpPr>
          <p:spPr>
            <a:xfrm>
              <a:off x="6945630" y="3648075"/>
              <a:ext cx="1672580"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江西烧塔 · 瓦子灯</a:t>
              </a:r>
            </a:p>
          </p:txBody>
        </p:sp>
        <p:sp>
          <p:nvSpPr>
            <p:cNvPr id="11" name="TextBox 11"/>
            <p:cNvSpPr txBox="1"/>
            <p:nvPr/>
          </p:nvSpPr>
          <p:spPr>
            <a:xfrm>
              <a:off x="6946392" y="3950018"/>
              <a:ext cx="2071116" cy="759333"/>
            </a:xfrm>
            <a:prstGeom prst="rect">
              <a:avLst/>
            </a:prstGeom>
            <a:noFill/>
            <a:ln>
              <a:noFill/>
            </a:ln>
          </p:spPr>
          <p:txBody>
            <a:bodyPr wrap="none" lIns="0" tIns="0" rIns="0" bIns="0" anchor="t" anchorCtr="0">
              <a:spAutoFit/>
            </a:bodyPr>
            <a:lstStyle/>
            <a:p>
              <a:pPr algn="l">
                <a:lnSpc>
                  <a:spcPts val="1950"/>
                </a:lnSpc>
              </a:pPr>
              <a:r>
                <a:rPr lang="zh-CN" sz="1350" dirty="0">
                  <a:solidFill>
                    <a:schemeClr val="dk1"/>
                  </a:solidFill>
                  <a:latin typeface="+mn-lt"/>
                  <a:ea typeface="+mn-ea"/>
                  <a:cs typeface="+mn-cs"/>
                </a:rPr>
                <a:t>湖广以瓦片叠塔燃灯，</a:t>
              </a:r>
              <a:br/>
              <a:r>
                <a:rPr lang="zh-CN" sz="1350" dirty="0">
                  <a:solidFill>
                    <a:schemeClr val="dk1"/>
                  </a:solidFill>
                  <a:latin typeface="+mn-lt"/>
                  <a:ea typeface="+mn-ea"/>
                  <a:cs typeface="+mn-cs"/>
                </a:rPr>
                <a:t>称「瓦子灯」；江西烧塔</a:t>
              </a:r>
              <a:br/>
              <a:r>
                <a:rPr lang="zh-CN" sz="1350" dirty="0">
                  <a:solidFill>
                    <a:schemeClr val="dk1"/>
                  </a:solidFill>
                  <a:latin typeface="+mn-lt"/>
                  <a:ea typeface="+mn-ea"/>
                  <a:cs typeface="+mn-cs"/>
                </a:rPr>
                <a:t>分垒塔、烧塔、封塔三段。</a:t>
              </a:r>
            </a:p>
          </p:txBody>
        </p:sp>
      </p:grpSp>
      <p:grpSp>
        <p:nvGrpSpPr>
          <p:cNvPr id="16" name="Group 16"/>
          <p:cNvGrpSpPr/>
          <p:nvPr/>
        </p:nvGrpSpPr>
        <p:grpSpPr>
          <a:xfrm>
            <a:off x="9422130" y="1905000"/>
            <a:ext cx="1672580" cy="2842451"/>
            <a:chOff x="9422130" y="1905000"/>
            <a:chExt cx="1672580" cy="2842451"/>
          </a:xfrm>
        </p:grpSpPr>
        <p:pic>
          <p:nvPicPr>
            <p:cNvPr id="13" name="Image 13"/>
            <p:cNvPicPr>
              <a:picLocks noChangeAspect="1"/>
            </p:cNvPicPr>
            <p:nvPr/>
          </p:nvPicPr>
          <p:blipFill>
            <a:blip r:embed="rId4"/>
            <a:stretch>
              <a:fillRect/>
            </a:stretch>
          </p:blipFill>
          <p:spPr>
            <a:xfrm>
              <a:off x="10096500" y="1905000"/>
              <a:ext cx="762000" cy="1885950"/>
            </a:xfrm>
            <a:prstGeom prst="rect">
              <a:avLst/>
            </a:prstGeom>
          </p:spPr>
        </p:pic>
        <p:sp>
          <p:nvSpPr>
            <p:cNvPr id="14" name="TextBox 14"/>
            <p:cNvSpPr txBox="1"/>
            <p:nvPr/>
          </p:nvSpPr>
          <p:spPr>
            <a:xfrm>
              <a:off x="9422130" y="3933825"/>
              <a:ext cx="1672580"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广东香港 · 树中秋</a:t>
              </a:r>
            </a:p>
          </p:txBody>
        </p:sp>
        <p:sp>
          <p:nvSpPr>
            <p:cNvPr id="15" name="TextBox 15"/>
            <p:cNvSpPr txBox="1"/>
            <p:nvPr/>
          </p:nvSpPr>
          <p:spPr>
            <a:xfrm>
              <a:off x="9422892" y="4235768"/>
              <a:ext cx="1385316" cy="511683"/>
            </a:xfrm>
            <a:prstGeom prst="rect">
              <a:avLst/>
            </a:prstGeom>
            <a:noFill/>
            <a:ln>
              <a:noFill/>
            </a:ln>
          </p:spPr>
          <p:txBody>
            <a:bodyPr wrap="none" lIns="0" tIns="0" rIns="0" bIns="0" anchor="t" anchorCtr="0">
              <a:spAutoFit/>
            </a:bodyPr>
            <a:lstStyle/>
            <a:p>
              <a:pPr algn="l">
                <a:lnSpc>
                  <a:spcPts val="1950"/>
                </a:lnSpc>
              </a:pPr>
              <a:r>
                <a:rPr lang="zh-CN" sz="1350" dirty="0">
                  <a:solidFill>
                    <a:schemeClr val="dk1"/>
                  </a:solidFill>
                  <a:latin typeface="+mn-lt"/>
                  <a:ea typeface="+mn-ea"/>
                  <a:cs typeface="+mn-cs"/>
                </a:rPr>
                <a:t>彩灯竖于高杆，</a:t>
              </a:r>
              <a:br/>
              <a:r>
                <a:rPr lang="zh-CN" sz="1350" dirty="0">
                  <a:solidFill>
                    <a:schemeClr val="dk1"/>
                  </a:solidFill>
                  <a:latin typeface="+mn-lt"/>
                  <a:ea typeface="+mn-ea"/>
                  <a:cs typeface="+mn-cs"/>
                </a:rPr>
                <a:t>又称「竖中秋」。</a:t>
              </a:r>
            </a:p>
          </p:txBody>
        </p:sp>
      </p:grpSp>
      <p:grpSp>
        <p:nvGrpSpPr>
          <p:cNvPr id="20" name="Group 20"/>
          <p:cNvGrpSpPr/>
          <p:nvPr/>
        </p:nvGrpSpPr>
        <p:grpSpPr>
          <a:xfrm>
            <a:off x="762000" y="5450681"/>
            <a:ext cx="4693158" cy="957262"/>
            <a:chOff x="762000" y="5450681"/>
            <a:chExt cx="4693158" cy="957262"/>
          </a:xfrm>
        </p:grpSpPr>
        <p:pic>
          <p:nvPicPr>
            <p:cNvPr id="17" name="Image 17"/>
            <p:cNvPicPr>
              <a:picLocks noChangeAspect="1"/>
            </p:cNvPicPr>
            <p:nvPr/>
          </p:nvPicPr>
          <p:blipFill>
            <a:blip r:embed="rId5"/>
            <a:stretch>
              <a:fillRect/>
            </a:stretch>
          </p:blipFill>
          <p:spPr>
            <a:xfrm>
              <a:off x="762000" y="5450681"/>
              <a:ext cx="1238250" cy="957262"/>
            </a:xfrm>
            <a:prstGeom prst="rect">
              <a:avLst/>
            </a:prstGeom>
          </p:spPr>
        </p:pic>
        <p:sp>
          <p:nvSpPr>
            <p:cNvPr id="18" name="TextBox 18"/>
            <p:cNvSpPr txBox="1"/>
            <p:nvPr/>
          </p:nvSpPr>
          <p:spPr>
            <a:xfrm>
              <a:off x="2183130" y="5534025"/>
              <a:ext cx="1470650"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福建厦门 · 博饼</a:t>
              </a:r>
            </a:p>
          </p:txBody>
        </p:sp>
        <p:sp>
          <p:nvSpPr>
            <p:cNvPr id="19" name="TextBox 19"/>
            <p:cNvSpPr txBox="1"/>
            <p:nvPr/>
          </p:nvSpPr>
          <p:spPr>
            <a:xfrm>
              <a:off x="2183892" y="5855018"/>
              <a:ext cx="3271266" cy="511683"/>
            </a:xfrm>
            <a:prstGeom prst="rect">
              <a:avLst/>
            </a:prstGeom>
            <a:noFill/>
            <a:ln>
              <a:noFill/>
            </a:ln>
          </p:spPr>
          <p:txBody>
            <a:bodyPr wrap="none" lIns="0" tIns="0" rIns="0" bIns="0" anchor="t" anchorCtr="0">
              <a:spAutoFit/>
            </a:bodyPr>
            <a:lstStyle/>
            <a:p>
              <a:pPr algn="l">
                <a:lnSpc>
                  <a:spcPts val="1950"/>
                </a:lnSpc>
              </a:pPr>
              <a:r>
                <a:rPr lang="zh-CN" sz="1350" dirty="0">
                  <a:solidFill>
                    <a:schemeClr val="dk1"/>
                  </a:solidFill>
                  <a:latin typeface="+mn-lt"/>
                  <a:ea typeface="+mn-ea"/>
                  <a:cs typeface="+mn-cs"/>
                </a:rPr>
                <a:t>六个骰子轮流投掷，博状元、榜眼、探花、</a:t>
              </a:r>
              <a:br/>
              <a:r>
                <a:rPr lang="zh-CN" sz="1350" dirty="0">
                  <a:solidFill>
                    <a:schemeClr val="dk1"/>
                  </a:solidFill>
                  <a:latin typeface="+mn-lt"/>
                  <a:ea typeface="+mn-ea"/>
                  <a:cs typeface="+mn-cs"/>
                </a:rPr>
                <a:t>进士、举人、秀才六个等第，按等第取饼。</a:t>
              </a:r>
            </a:p>
          </p:txBody>
        </p:sp>
      </p:grpSp>
      <p:grpSp>
        <p:nvGrpSpPr>
          <p:cNvPr id="24" name="Group 24"/>
          <p:cNvGrpSpPr/>
          <p:nvPr/>
        </p:nvGrpSpPr>
        <p:grpSpPr>
          <a:xfrm>
            <a:off x="6381750" y="5353050"/>
            <a:ext cx="4140708" cy="1543050"/>
            <a:chOff x="6381750" y="5353050"/>
            <a:chExt cx="4140708" cy="1543050"/>
          </a:xfrm>
        </p:grpSpPr>
        <p:pic>
          <p:nvPicPr>
            <p:cNvPr id="21" name="Image 21"/>
            <p:cNvPicPr>
              <a:picLocks noChangeAspect="1"/>
            </p:cNvPicPr>
            <p:nvPr/>
          </p:nvPicPr>
          <p:blipFill>
            <a:blip r:embed="rId6"/>
            <a:stretch>
              <a:fillRect/>
            </a:stretch>
          </p:blipFill>
          <p:spPr>
            <a:xfrm>
              <a:off x="6381750" y="5353050"/>
              <a:ext cx="857250" cy="1543050"/>
            </a:xfrm>
            <a:prstGeom prst="rect">
              <a:avLst/>
            </a:prstGeom>
          </p:spPr>
        </p:pic>
        <p:sp>
          <p:nvSpPr>
            <p:cNvPr id="22" name="TextBox 22"/>
            <p:cNvSpPr txBox="1"/>
            <p:nvPr/>
          </p:nvSpPr>
          <p:spPr>
            <a:xfrm>
              <a:off x="7421880" y="5534025"/>
              <a:ext cx="1470650"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江南明清 · 走月</a:t>
              </a:r>
            </a:p>
          </p:txBody>
        </p:sp>
        <p:sp>
          <p:nvSpPr>
            <p:cNvPr id="23" name="TextBox 23"/>
            <p:cNvSpPr txBox="1"/>
            <p:nvPr/>
          </p:nvSpPr>
          <p:spPr>
            <a:xfrm>
              <a:off x="7422642" y="5855018"/>
              <a:ext cx="3099816" cy="511683"/>
            </a:xfrm>
            <a:prstGeom prst="rect">
              <a:avLst/>
            </a:prstGeom>
            <a:noFill/>
            <a:ln>
              <a:noFill/>
            </a:ln>
          </p:spPr>
          <p:txBody>
            <a:bodyPr wrap="none" lIns="0" tIns="0" rIns="0" bIns="0" anchor="t" anchorCtr="0">
              <a:spAutoFit/>
            </a:bodyPr>
            <a:lstStyle/>
            <a:p>
              <a:pPr algn="l">
                <a:lnSpc>
                  <a:spcPts val="1950"/>
                </a:lnSpc>
              </a:pPr>
              <a:r>
                <a:rPr lang="zh-CN" sz="1350" dirty="0">
                  <a:solidFill>
                    <a:schemeClr val="dk1"/>
                  </a:solidFill>
                  <a:latin typeface="+mn-lt"/>
                  <a:ea typeface="+mn-ea"/>
                  <a:cs typeface="+mn-cs"/>
                </a:rPr>
                <a:t>衣着华美，三五结伴，游街市、泛舟或</a:t>
              </a:r>
              <a:br/>
              <a:r>
                <a:rPr lang="zh-CN" sz="1350" dirty="0">
                  <a:solidFill>
                    <a:schemeClr val="dk1"/>
                  </a:solidFill>
                  <a:latin typeface="+mn-lt"/>
                  <a:ea typeface="+mn-ea"/>
                  <a:cs typeface="+mn-cs"/>
                </a:rPr>
                <a:t>登楼观月华；明代曾有望月楼、玩月桥。</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10" presetClass="entr" presetSubtype="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700"/>
                                        <p:tgtEl>
                                          <p:spTgt spid="8"/>
                                        </p:tgtEl>
                                      </p:cBhvr>
                                    </p:animEffect>
                                  </p:childTnLst>
                                </p:cTn>
                              </p:par>
                            </p:childTnLst>
                          </p:cTn>
                        </p:par>
                        <p:par>
                          <p:cTn id="8" fill="hold">
                            <p:stCondLst>
                              <p:cond delay="700"/>
                            </p:stCondLst>
                            <p:childTnLst>
                              <p:par>
                                <p:cTn xmlns:p="http://schemas.openxmlformats.org/presentationml/2006/main" id="9" presetID="22" presetClass="entr" presetSubtype="4" fill="hold" grpId="0" nodeType="afterEffect">
                                  <p:stCondLst>
                                    <p:cond delay="120"/>
                                  </p:stCondLst>
                                  <p:childTnLst>
                                    <p:set>
                                      <p:cBhvr>
                                        <p:cTn id="10" dur="1" fill="hold">
                                          <p:stCondLst>
                                            <p:cond delay="0"/>
                                          </p:stCondLst>
                                        </p:cTn>
                                        <p:tgtEl>
                                          <p:spTgt spid="12"/>
                                        </p:tgtEl>
                                        <p:attrNameLst>
                                          <p:attrName>style.visibility</p:attrName>
                                        </p:attrNameLst>
                                      </p:cBhvr>
                                      <p:to>
                                        <p:strVal val="visible"/>
                                      </p:to>
                                    </p:set>
                                    <p:animEffect transition="in" filter="wipe(down)">
                                      <p:cBhvr>
                                        <p:cTn id="11" dur="400"/>
                                        <p:tgtEl>
                                          <p:spTgt spid="12"/>
                                        </p:tgtEl>
                                      </p:cBhvr>
                                    </p:animEffect>
                                  </p:childTnLst>
                                </p:cTn>
                              </p:par>
                            </p:childTnLst>
                          </p:cTn>
                        </p:par>
                        <p:par>
                          <p:cTn id="12" fill="hold">
                            <p:stCondLst>
                              <p:cond delay="1220"/>
                            </p:stCondLst>
                            <p:childTnLst>
                              <p:par>
                                <p:cTn xmlns:p="http://schemas.openxmlformats.org/presentationml/2006/main" id="13" presetID="22" presetClass="entr" presetSubtype="4" fill="hold" grpId="0" nodeType="afterEffect">
                                  <p:stCondLst>
                                    <p:cond delay="120"/>
                                  </p:stCondLst>
                                  <p:childTnLst>
                                    <p:set>
                                      <p:cBhvr>
                                        <p:cTn id="14" dur="1" fill="hold">
                                          <p:stCondLst>
                                            <p:cond delay="0"/>
                                          </p:stCondLst>
                                        </p:cTn>
                                        <p:tgtEl>
                                          <p:spTgt spid="16"/>
                                        </p:tgtEl>
                                        <p:attrNameLst>
                                          <p:attrName>style.visibility</p:attrName>
                                        </p:attrNameLst>
                                      </p:cBhvr>
                                      <p:to>
                                        <p:strVal val="visible"/>
                                      </p:to>
                                    </p:set>
                                    <p:animEffect transition="in" filter="wipe(down)">
                                      <p:cBhvr>
                                        <p:cTn id="15" dur="400"/>
                                        <p:tgtEl>
                                          <p:spTgt spid="16"/>
                                        </p:tgtEl>
                                      </p:cBhvr>
                                    </p:animEffect>
                                  </p:childTnLst>
                                </p:cTn>
                              </p:par>
                            </p:childTnLst>
                          </p:cTn>
                        </p:par>
                        <p:par>
                          <p:cTn id="16" fill="hold">
                            <p:stCondLst>
                              <p:cond delay="1740"/>
                            </p:stCondLst>
                            <p:childTnLst>
                              <p:par>
                                <p:cTn xmlns:p="http://schemas.openxmlformats.org/presentationml/2006/main" id="17" presetID="22" presetClass="entr" presetSubtype="4" fill="hold" grpId="0" nodeType="afterEffect">
                                  <p:stCondLst>
                                    <p:cond delay="120"/>
                                  </p:stCondLst>
                                  <p:childTnLst>
                                    <p:set>
                                      <p:cBhvr>
                                        <p:cTn id="18" dur="1" fill="hold">
                                          <p:stCondLst>
                                            <p:cond delay="0"/>
                                          </p:stCondLst>
                                        </p:cTn>
                                        <p:tgtEl>
                                          <p:spTgt spid="20"/>
                                        </p:tgtEl>
                                        <p:attrNameLst>
                                          <p:attrName>style.visibility</p:attrName>
                                        </p:attrNameLst>
                                      </p:cBhvr>
                                      <p:to>
                                        <p:strVal val="visible"/>
                                      </p:to>
                                    </p:set>
                                    <p:animEffect transition="in" filter="wipe(down)">
                                      <p:cBhvr>
                                        <p:cTn id="19" dur="400"/>
                                        <p:tgtEl>
                                          <p:spTgt spid="20"/>
                                        </p:tgtEl>
                                      </p:cBhvr>
                                    </p:animEffect>
                                  </p:childTnLst>
                                </p:cTn>
                              </p:par>
                            </p:childTnLst>
                          </p:cTn>
                        </p:par>
                        <p:par>
                          <p:cTn id="20" fill="hold">
                            <p:stCondLst>
                              <p:cond delay="2260"/>
                            </p:stCondLst>
                            <p:childTnLst>
                              <p:par>
                                <p:cTn xmlns:p="http://schemas.openxmlformats.org/presentationml/2006/main" id="21" presetID="22" presetClass="entr" presetSubtype="4" fill="hold" grpId="0" nodeType="afterEffect">
                                  <p:stCondLst>
                                    <p:cond delay="120"/>
                                  </p:stCondLst>
                                  <p:childTnLst>
                                    <p:set>
                                      <p:cBhvr>
                                        <p:cTn id="22" dur="1" fill="hold">
                                          <p:stCondLst>
                                            <p:cond delay="0"/>
                                          </p:stCondLst>
                                        </p:cTn>
                                        <p:tgtEl>
                                          <p:spTgt spid="24"/>
                                        </p:tgtEl>
                                        <p:attrNameLst>
                                          <p:attrName>style.visibility</p:attrName>
                                        </p:attrNameLst>
                                      </p:cBhvr>
                                      <p:to>
                                        <p:strVal val="visible"/>
                                      </p:to>
                                    </p:set>
                                    <p:animEffect transition="in" filter="wipe(down)">
                                      <p:cBhvr>
                                        <p:cTn id="23"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69798" y="726758"/>
            <a:ext cx="9253957" cy="962215"/>
            <a:chOff x="669798" y="726758"/>
            <a:chExt cx="9253957" cy="962215"/>
          </a:xfrm>
        </p:grpSpPr>
        <p:sp>
          <p:nvSpPr>
            <p:cNvPr id="2" name="TextBox 2"/>
            <p:cNvSpPr txBox="1"/>
            <p:nvPr/>
          </p:nvSpPr>
          <p:spPr>
            <a:xfrm>
              <a:off x="669798" y="726758"/>
              <a:ext cx="9253957" cy="616077"/>
            </a:xfrm>
            <a:prstGeom prst="rect">
              <a:avLst/>
            </a:prstGeom>
            <a:noFill/>
            <a:ln>
              <a:noFill/>
            </a:ln>
          </p:spPr>
          <p:txBody>
            <a:bodyPr wrap="none" lIns="0" tIns="0" rIns="0" bIns="0" anchor="t" anchorCtr="0">
              <a:spAutoFit/>
            </a:bodyPr>
            <a:lstStyle/>
            <a:p>
              <a:pPr algn="l"/>
              <a:r>
                <a:rPr lang="zh-CN" sz="3150" dirty="0">
                  <a:solidFill>
                    <a:schemeClr val="dk1"/>
                  </a:solidFill>
                  <a:latin typeface="+mj-lt"/>
                  <a:ea typeface="+mj-ea"/>
                  <a:cs typeface="+mj-cs"/>
                </a:rPr>
                <a:t>同一个编号 Ⅹ-5，写着五个地方的名字</a:t>
              </a:r>
            </a:p>
          </p:txBody>
        </p:sp>
        <p:sp>
          <p:nvSpPr>
            <p:cNvPr id="3" name="TextBox 3"/>
            <p:cNvSpPr txBox="1"/>
            <p:nvPr/>
          </p:nvSpPr>
          <p:spPr>
            <a:xfrm>
              <a:off x="675132" y="1278255"/>
              <a:ext cx="6240780" cy="410718"/>
            </a:xfrm>
            <a:prstGeom prst="rect">
              <a:avLst/>
            </a:prstGeom>
            <a:noFill/>
            <a:ln>
              <a:noFill/>
            </a:ln>
          </p:spPr>
          <p:txBody>
            <a:bodyPr wrap="none" lIns="0" tIns="0" rIns="0" bIns="0" anchor="t" anchorCtr="0">
              <a:spAutoFit/>
            </a:bodyPr>
            <a:lstStyle/>
            <a:p>
              <a:pPr algn="l"/>
              <a:r>
                <a:rPr lang="zh-CN" sz="2100" dirty="0">
                  <a:solidFill>
                    <a:schemeClr val="accent5"/>
                  </a:solidFill>
                  <a:latin typeface="+mn-lt"/>
                  <a:ea typeface="+mn-ea"/>
                  <a:cs typeface="+mn-cs"/>
                </a:rPr>
                <a:t>一个主项加四个地方扩展项，不是一块笼统的牌子</a:t>
              </a:r>
            </a:p>
          </p:txBody>
        </p:sp>
      </p:grpSp>
      <p:grpSp>
        <p:nvGrpSpPr>
          <p:cNvPr id="7" name="Group 7"/>
          <p:cNvGrpSpPr/>
          <p:nvPr/>
        </p:nvGrpSpPr>
        <p:grpSpPr>
          <a:xfrm>
            <a:off x="666750" y="1992630"/>
            <a:ext cx="2280476" cy="1478471"/>
            <a:chOff x="666750" y="1992630"/>
            <a:chExt cx="2280476" cy="1478471"/>
          </a:xfrm>
        </p:grpSpPr>
        <p:sp>
          <p:nvSpPr>
            <p:cNvPr id="5" name="TextBox 5"/>
            <p:cNvSpPr txBox="1"/>
            <p:nvPr/>
          </p:nvSpPr>
          <p:spPr>
            <a:xfrm>
              <a:off x="666750" y="1992630"/>
              <a:ext cx="2013067" cy="1276350"/>
            </a:xfrm>
            <a:prstGeom prst="rect">
              <a:avLst/>
            </a:prstGeom>
            <a:noFill/>
            <a:ln>
              <a:noFill/>
            </a:ln>
          </p:spPr>
          <p:txBody>
            <a:bodyPr wrap="none" lIns="0" tIns="0" rIns="0" bIns="0" anchor="t" anchorCtr="0">
              <a:spAutoFit/>
            </a:bodyPr>
            <a:lstStyle/>
            <a:p>
              <a:pPr algn="l"/>
              <a:r>
                <a:rPr lang="zh-CN" sz="6600" b="1" dirty="0">
                  <a:solidFill>
                    <a:schemeClr val="accent1"/>
                  </a:solidFill>
                  <a:latin typeface="Georgia"/>
                  <a:ea typeface="Georgia"/>
                  <a:cs typeface="Georgia"/>
                </a:rPr>
                <a:t>Ⅹ-5</a:t>
              </a:r>
            </a:p>
          </p:txBody>
        </p:sp>
        <p:sp>
          <p:nvSpPr>
            <p:cNvPr id="6" name="TextBox 6"/>
            <p:cNvSpPr txBox="1"/>
            <p:nvPr/>
          </p:nvSpPr>
          <p:spPr>
            <a:xfrm>
              <a:off x="678942" y="2940368"/>
              <a:ext cx="2268284" cy="530733"/>
            </a:xfrm>
            <a:prstGeom prst="rect">
              <a:avLst/>
            </a:prstGeom>
            <a:noFill/>
            <a:ln>
              <a:noFill/>
            </a:ln>
          </p:spPr>
          <p:txBody>
            <a:bodyPr wrap="none" lIns="0" tIns="0" rIns="0" bIns="0" anchor="t" anchorCtr="0">
              <a:spAutoFit/>
            </a:bodyPr>
            <a:lstStyle/>
            <a:p>
              <a:pPr algn="l">
                <a:lnSpc>
                  <a:spcPts val="2100"/>
                </a:lnSpc>
              </a:pPr>
              <a:r>
                <a:rPr lang="zh-CN" sz="1350" dirty="0">
                  <a:solidFill>
                    <a:schemeClr val="accent5"/>
                  </a:solidFill>
                  <a:latin typeface="+mn-lt"/>
                  <a:ea typeface="+mn-ea"/>
                  <a:cs typeface="+mn-cs"/>
                </a:rPr>
                <a:t>国家级非遗项目编号 · 民俗类</a:t>
              </a:r>
              <a:br/>
              <a:r>
                <a:rPr lang="zh-CN" sz="1350" dirty="0">
                  <a:solidFill>
                    <a:schemeClr val="accent5"/>
                  </a:solidFill>
                  <a:latin typeface="+mn-lt"/>
                  <a:ea typeface="+mn-ea"/>
                  <a:cs typeface="+mn-cs"/>
                </a:rPr>
                <a:t>项目序号 453</a:t>
              </a:r>
            </a:p>
          </p:txBody>
        </p:sp>
      </p:grpSp>
      <p:grpSp>
        <p:nvGrpSpPr>
          <p:cNvPr id="19" name="Group 19"/>
          <p:cNvGrpSpPr/>
          <p:nvPr/>
        </p:nvGrpSpPr>
        <p:grpSpPr>
          <a:xfrm>
            <a:off x="4000500" y="1905000"/>
            <a:ext cx="3794227" cy="3375851"/>
            <a:chOff x="4000500" y="1905000"/>
            <a:chExt cx="3794227" cy="3375851"/>
          </a:xfrm>
        </p:grpSpPr>
        <p:sp>
          <p:nvSpPr>
            <p:cNvPr id="8" name="Freeform 8"/>
            <p:cNvSpPr/>
            <p:nvPr/>
          </p:nvSpPr>
          <p:spPr>
            <a:xfrm>
              <a:off x="4000500" y="1905000"/>
              <a:ext cx="342900" cy="3333750"/>
            </a:xfrm>
            <a:prstGeom prst="leftBrace">
              <a:avLst/>
            </a:prstGeom>
            <a:noFill/>
            <a:ln w="28575">
              <a:solidFill>
                <a:schemeClr val="accent1"/>
              </a:solidFill>
            </a:ln>
          </p:spPr>
        </p:sp>
        <p:sp>
          <p:nvSpPr>
            <p:cNvPr id="9" name="TextBox 9"/>
            <p:cNvSpPr txBox="1"/>
            <p:nvPr/>
          </p:nvSpPr>
          <p:spPr>
            <a:xfrm>
              <a:off x="4545330" y="2085975"/>
              <a:ext cx="1428750" cy="293370"/>
            </a:xfrm>
            <a:prstGeom prst="rect">
              <a:avLst/>
            </a:prstGeom>
            <a:noFill/>
            <a:ln>
              <a:noFill/>
            </a:ln>
          </p:spPr>
          <p:txBody>
            <a:bodyPr wrap="none" lIns="0" tIns="0" rIns="0" bIns="0" anchor="t" anchorCtr="0">
              <a:spAutoFit/>
            </a:bodyPr>
            <a:lstStyle/>
            <a:p>
              <a:pPr algn="l"/>
              <a:r>
                <a:rPr lang="zh-CN" sz="1500" b="1" dirty="0">
                  <a:solidFill>
                    <a:schemeClr val="dk1"/>
                  </a:solidFill>
                  <a:latin typeface="+mn-lt"/>
                  <a:ea typeface="+mn-ea"/>
                  <a:cs typeface="+mn-cs"/>
                </a:rPr>
                <a:t>中秋节（主项）</a:t>
              </a:r>
            </a:p>
          </p:txBody>
        </p:sp>
        <p:sp>
          <p:nvSpPr>
            <p:cNvPr id="10" name="TextBox 10"/>
            <p:cNvSpPr txBox="1"/>
            <p:nvPr/>
          </p:nvSpPr>
          <p:spPr>
            <a:xfrm>
              <a:off x="4546092" y="2349818"/>
              <a:ext cx="3248635" cy="264033"/>
            </a:xfrm>
            <a:prstGeom prst="rect">
              <a:avLst/>
            </a:prstGeom>
            <a:noFill/>
            <a:ln>
              <a:noFill/>
            </a:ln>
          </p:spPr>
          <p:txBody>
            <a:bodyPr wrap="none" lIns="0" tIns="0" rIns="0" bIns="0" anchor="t" anchorCtr="0">
              <a:spAutoFit/>
            </a:bodyPr>
            <a:lstStyle/>
            <a:p>
              <a:pPr algn="l"/>
              <a:r>
                <a:rPr lang="zh-CN" sz="1350" dirty="0">
                  <a:solidFill>
                    <a:schemeClr val="accent3"/>
                  </a:solidFill>
                  <a:latin typeface="+mn-lt"/>
                  <a:ea typeface="+mn-ea"/>
                  <a:cs typeface="+mn-cs"/>
                </a:rPr>
                <a:t>2006 第一批 · 文化部申报 · 文旅部保护</a:t>
              </a:r>
            </a:p>
          </p:txBody>
        </p:sp>
        <p:sp>
          <p:nvSpPr>
            <p:cNvPr id="11" name="TextBox 11"/>
            <p:cNvSpPr txBox="1"/>
            <p:nvPr/>
          </p:nvSpPr>
          <p:spPr>
            <a:xfrm>
              <a:off x="4545330" y="2752725"/>
              <a:ext cx="1832610" cy="293370"/>
            </a:xfrm>
            <a:prstGeom prst="rect">
              <a:avLst/>
            </a:prstGeom>
            <a:noFill/>
            <a:ln>
              <a:noFill/>
            </a:ln>
          </p:spPr>
          <p:txBody>
            <a:bodyPr wrap="none" lIns="0" tIns="0" rIns="0" bIns="0" anchor="t" anchorCtr="0">
              <a:spAutoFit/>
            </a:bodyPr>
            <a:lstStyle/>
            <a:p>
              <a:pPr algn="l"/>
              <a:r>
                <a:rPr lang="zh-CN" sz="1500" b="1" dirty="0">
                  <a:solidFill>
                    <a:schemeClr val="dk1"/>
                  </a:solidFill>
                  <a:latin typeface="+mn-lt"/>
                  <a:ea typeface="+mn-ea"/>
                  <a:cs typeface="+mn-cs"/>
                </a:rPr>
                <a:t>中秋节（中秋博饼）</a:t>
              </a:r>
            </a:p>
          </p:txBody>
        </p:sp>
        <p:sp>
          <p:nvSpPr>
            <p:cNvPr id="12" name="TextBox 12"/>
            <p:cNvSpPr txBox="1"/>
            <p:nvPr/>
          </p:nvSpPr>
          <p:spPr>
            <a:xfrm>
              <a:off x="4546092" y="3016568"/>
              <a:ext cx="2312689" cy="264033"/>
            </a:xfrm>
            <a:prstGeom prst="rect">
              <a:avLst/>
            </a:prstGeom>
            <a:noFill/>
            <a:ln>
              <a:noFill/>
            </a:ln>
          </p:spPr>
          <p:txBody>
            <a:bodyPr wrap="none" lIns="0" tIns="0" rIns="0" bIns="0" anchor="t" anchorCtr="0">
              <a:spAutoFit/>
            </a:bodyPr>
            <a:lstStyle/>
            <a:p>
              <a:pPr algn="l"/>
              <a:r>
                <a:rPr lang="zh-CN" sz="1350" dirty="0">
                  <a:solidFill>
                    <a:schemeClr val="accent3"/>
                  </a:solidFill>
                  <a:latin typeface="+mn-lt"/>
                  <a:ea typeface="+mn-ea"/>
                  <a:cs typeface="+mn-cs"/>
                </a:rPr>
                <a:t>2008 第二批 · 福建省厦门市</a:t>
              </a:r>
            </a:p>
          </p:txBody>
        </p:sp>
        <p:sp>
          <p:nvSpPr>
            <p:cNvPr id="13" name="TextBox 13"/>
            <p:cNvSpPr txBox="1"/>
            <p:nvPr/>
          </p:nvSpPr>
          <p:spPr>
            <a:xfrm>
              <a:off x="4545330" y="3419475"/>
              <a:ext cx="2236470" cy="293370"/>
            </a:xfrm>
            <a:prstGeom prst="rect">
              <a:avLst/>
            </a:prstGeom>
            <a:noFill/>
            <a:ln>
              <a:noFill/>
            </a:ln>
          </p:spPr>
          <p:txBody>
            <a:bodyPr wrap="none" lIns="0" tIns="0" rIns="0" bIns="0" anchor="t" anchorCtr="0">
              <a:spAutoFit/>
            </a:bodyPr>
            <a:lstStyle/>
            <a:p>
              <a:pPr algn="l"/>
              <a:r>
                <a:rPr lang="zh-CN" sz="1500" b="1" dirty="0">
                  <a:solidFill>
                    <a:schemeClr val="dk1"/>
                  </a:solidFill>
                  <a:latin typeface="+mn-lt"/>
                  <a:ea typeface="+mn-ea"/>
                  <a:cs typeface="+mn-cs"/>
                </a:rPr>
                <a:t>中秋节（泽州中秋习俗）</a:t>
              </a:r>
            </a:p>
          </p:txBody>
        </p:sp>
        <p:sp>
          <p:nvSpPr>
            <p:cNvPr id="14" name="TextBox 14"/>
            <p:cNvSpPr txBox="1"/>
            <p:nvPr/>
          </p:nvSpPr>
          <p:spPr>
            <a:xfrm>
              <a:off x="4546092" y="3683318"/>
              <a:ext cx="3248635" cy="264033"/>
            </a:xfrm>
            <a:prstGeom prst="rect">
              <a:avLst/>
            </a:prstGeom>
            <a:noFill/>
            <a:ln>
              <a:noFill/>
            </a:ln>
          </p:spPr>
          <p:txBody>
            <a:bodyPr wrap="none" lIns="0" tIns="0" rIns="0" bIns="0" anchor="t" anchorCtr="0">
              <a:spAutoFit/>
            </a:bodyPr>
            <a:lstStyle/>
            <a:p>
              <a:pPr algn="l"/>
              <a:r>
                <a:rPr lang="zh-CN" sz="1350" dirty="0">
                  <a:solidFill>
                    <a:schemeClr val="accent3"/>
                  </a:solidFill>
                  <a:latin typeface="+mn-lt"/>
                  <a:ea typeface="+mn-ea"/>
                  <a:cs typeface="+mn-cs"/>
                </a:rPr>
                <a:t>2011 第三批 · 山西省泽州县 · 珏山吐月</a:t>
              </a:r>
            </a:p>
          </p:txBody>
        </p:sp>
        <p:sp>
          <p:nvSpPr>
            <p:cNvPr id="15" name="TextBox 15"/>
            <p:cNvSpPr txBox="1"/>
            <p:nvPr/>
          </p:nvSpPr>
          <p:spPr>
            <a:xfrm>
              <a:off x="4545330" y="4086225"/>
              <a:ext cx="1428750" cy="293370"/>
            </a:xfrm>
            <a:prstGeom prst="rect">
              <a:avLst/>
            </a:prstGeom>
            <a:noFill/>
            <a:ln>
              <a:noFill/>
            </a:ln>
          </p:spPr>
          <p:txBody>
            <a:bodyPr wrap="none" lIns="0" tIns="0" rIns="0" bIns="0" anchor="t" anchorCtr="0">
              <a:spAutoFit/>
            </a:bodyPr>
            <a:lstStyle/>
            <a:p>
              <a:pPr algn="l"/>
              <a:r>
                <a:rPr lang="zh-CN" sz="1500" b="1" dirty="0">
                  <a:solidFill>
                    <a:schemeClr val="dk1"/>
                  </a:solidFill>
                  <a:latin typeface="+mn-lt"/>
                  <a:ea typeface="+mn-ea"/>
                  <a:cs typeface="+mn-cs"/>
                </a:rPr>
                <a:t>中秋节（秋夕）</a:t>
              </a:r>
            </a:p>
          </p:txBody>
        </p:sp>
        <p:sp>
          <p:nvSpPr>
            <p:cNvPr id="16" name="TextBox 16"/>
            <p:cNvSpPr txBox="1"/>
            <p:nvPr/>
          </p:nvSpPr>
          <p:spPr>
            <a:xfrm>
              <a:off x="4546092" y="4350068"/>
              <a:ext cx="3221374" cy="264033"/>
            </a:xfrm>
            <a:prstGeom prst="rect">
              <a:avLst/>
            </a:prstGeom>
            <a:noFill/>
            <a:ln>
              <a:noFill/>
            </a:ln>
          </p:spPr>
          <p:txBody>
            <a:bodyPr wrap="none" lIns="0" tIns="0" rIns="0" bIns="0" anchor="t" anchorCtr="0">
              <a:spAutoFit/>
            </a:bodyPr>
            <a:lstStyle/>
            <a:p>
              <a:pPr algn="l"/>
              <a:r>
                <a:rPr lang="zh-CN" sz="1350" dirty="0">
                  <a:solidFill>
                    <a:schemeClr val="accent3"/>
                  </a:solidFill>
                  <a:latin typeface="+mn-lt"/>
                  <a:ea typeface="+mn-ea"/>
                  <a:cs typeface="+mn-cs"/>
                </a:rPr>
                <a:t>2011 第三批 · 吉林省延边朝鲜族自治州</a:t>
              </a:r>
            </a:p>
          </p:txBody>
        </p:sp>
        <p:sp>
          <p:nvSpPr>
            <p:cNvPr id="17" name="TextBox 17"/>
            <p:cNvSpPr txBox="1"/>
            <p:nvPr/>
          </p:nvSpPr>
          <p:spPr>
            <a:xfrm>
              <a:off x="4545330" y="4752975"/>
              <a:ext cx="2034540" cy="293370"/>
            </a:xfrm>
            <a:prstGeom prst="rect">
              <a:avLst/>
            </a:prstGeom>
            <a:noFill/>
            <a:ln>
              <a:noFill/>
            </a:ln>
          </p:spPr>
          <p:txBody>
            <a:bodyPr wrap="none" lIns="0" tIns="0" rIns="0" bIns="0" anchor="t" anchorCtr="0">
              <a:spAutoFit/>
            </a:bodyPr>
            <a:lstStyle/>
            <a:p>
              <a:pPr algn="l"/>
              <a:r>
                <a:rPr lang="zh-CN" sz="1500" b="1" dirty="0">
                  <a:solidFill>
                    <a:schemeClr val="dk1"/>
                  </a:solidFill>
                  <a:latin typeface="+mn-lt"/>
                  <a:ea typeface="+mn-ea"/>
                  <a:cs typeface="+mn-cs"/>
                </a:rPr>
                <a:t>中秋节（大坑舞火龙）</a:t>
              </a:r>
            </a:p>
          </p:txBody>
        </p:sp>
        <p:sp>
          <p:nvSpPr>
            <p:cNvPr id="18" name="TextBox 18"/>
            <p:cNvSpPr txBox="1"/>
            <p:nvPr/>
          </p:nvSpPr>
          <p:spPr>
            <a:xfrm>
              <a:off x="4546092" y="5016818"/>
              <a:ext cx="2494426" cy="264033"/>
            </a:xfrm>
            <a:prstGeom prst="rect">
              <a:avLst/>
            </a:prstGeom>
            <a:noFill/>
            <a:ln>
              <a:noFill/>
            </a:ln>
          </p:spPr>
          <p:txBody>
            <a:bodyPr wrap="none" lIns="0" tIns="0" rIns="0" bIns="0" anchor="t" anchorCtr="0">
              <a:spAutoFit/>
            </a:bodyPr>
            <a:lstStyle/>
            <a:p>
              <a:pPr algn="l"/>
              <a:r>
                <a:rPr lang="zh-CN" sz="1350" dirty="0">
                  <a:solidFill>
                    <a:schemeClr val="accent3"/>
                  </a:solidFill>
                  <a:latin typeface="+mn-lt"/>
                  <a:ea typeface="+mn-ea"/>
                  <a:cs typeface="+mn-cs"/>
                </a:rPr>
                <a:t>2011 第三批 · 香港特别行政区</a:t>
              </a:r>
            </a:p>
          </p:txBody>
        </p:sp>
      </p:grpSp>
      <p:grpSp>
        <p:nvGrpSpPr>
          <p:cNvPr id="23" name="Group 23"/>
          <p:cNvGrpSpPr/>
          <p:nvPr/>
        </p:nvGrpSpPr>
        <p:grpSpPr>
          <a:xfrm>
            <a:off x="9422892" y="1905000"/>
            <a:ext cx="1759458" cy="4023551"/>
            <a:chOff x="9422892" y="1905000"/>
            <a:chExt cx="1759458" cy="4023551"/>
          </a:xfrm>
        </p:grpSpPr>
        <p:pic>
          <p:nvPicPr>
            <p:cNvPr id="20" name="Image 20"/>
            <p:cNvPicPr>
              <a:picLocks noChangeAspect="1"/>
            </p:cNvPicPr>
            <p:nvPr/>
          </p:nvPicPr>
          <p:blipFill>
            <a:blip r:embed="rId2"/>
            <a:stretch>
              <a:fillRect/>
            </a:stretch>
          </p:blipFill>
          <p:spPr>
            <a:xfrm>
              <a:off x="9753600" y="1905000"/>
              <a:ext cx="1428750" cy="2809875"/>
            </a:xfrm>
            <a:prstGeom prst="rect">
              <a:avLst/>
            </a:prstGeom>
            <a:effectLst>
              <a:outerShdw blurRad="171450" dist="57150" dir="5400000" algn="ctr" rotWithShape="0">
                <a:srgbClr val="05070F">
                  <a:alpha val="15000"/>
                </a:srgbClr>
              </a:outerShdw>
            </a:effectLst>
          </p:spPr>
        </p:pic>
        <p:sp>
          <p:nvSpPr>
            <p:cNvPr id="21" name="TextBox 21"/>
            <p:cNvSpPr txBox="1"/>
            <p:nvPr/>
          </p:nvSpPr>
          <p:spPr>
            <a:xfrm>
              <a:off x="9422892" y="4902518"/>
              <a:ext cx="1649349"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mn-lt"/>
                  <a:ea typeface="+mn-ea"/>
                  <a:cs typeface="+mn-cs"/>
                </a:rPr>
                <a:t>泥塑（北京兔儿爷）</a:t>
              </a:r>
            </a:p>
          </p:txBody>
        </p:sp>
        <p:sp>
          <p:nvSpPr>
            <p:cNvPr id="22" name="TextBox 22"/>
            <p:cNvSpPr txBox="1"/>
            <p:nvPr/>
          </p:nvSpPr>
          <p:spPr>
            <a:xfrm>
              <a:off x="9422892" y="5169218"/>
              <a:ext cx="1573911" cy="759333"/>
            </a:xfrm>
            <a:prstGeom prst="rect">
              <a:avLst/>
            </a:prstGeom>
            <a:noFill/>
            <a:ln>
              <a:noFill/>
            </a:ln>
          </p:spPr>
          <p:txBody>
            <a:bodyPr wrap="none" lIns="0" tIns="0" rIns="0" bIns="0" anchor="t" anchorCtr="0">
              <a:spAutoFit/>
            </a:bodyPr>
            <a:lstStyle/>
            <a:p>
              <a:pPr algn="l">
                <a:lnSpc>
                  <a:spcPts val="1950"/>
                </a:lnSpc>
              </a:pPr>
              <a:r>
                <a:rPr lang="zh-CN" sz="1350" dirty="0">
                  <a:solidFill>
                    <a:schemeClr val="accent5"/>
                  </a:solidFill>
                  <a:latin typeface="+mn-lt"/>
                  <a:ea typeface="+mn-ea"/>
                  <a:cs typeface="+mn-cs"/>
                </a:rPr>
                <a:t>是另一条目：Ⅶ-47</a:t>
              </a:r>
              <a:br/>
              <a:r>
                <a:rPr lang="zh-CN" sz="1350" dirty="0">
                  <a:solidFill>
                    <a:schemeClr val="accent5"/>
                  </a:solidFill>
                  <a:latin typeface="+mn-lt"/>
                  <a:ea typeface="+mn-ea"/>
                  <a:cs typeface="+mn-cs"/>
                </a:rPr>
                <a:t>序号 346 · 传统美术</a:t>
              </a:r>
              <a:br/>
              <a:r>
                <a:rPr lang="zh-CN" sz="1350" dirty="0">
                  <a:solidFill>
                    <a:schemeClr val="accent5"/>
                  </a:solidFill>
                  <a:latin typeface="+mn-lt"/>
                  <a:ea typeface="+mn-ea"/>
                  <a:cs typeface="+mn-cs"/>
                </a:rPr>
                <a:t>2014 年第四批公布</a:t>
              </a:r>
            </a:p>
          </p:txBody>
        </p:sp>
      </p:grpSp>
      <p:grpSp>
        <p:nvGrpSpPr>
          <p:cNvPr id="25" name="Group 25"/>
          <p:cNvGrpSpPr/>
          <p:nvPr/>
        </p:nvGrpSpPr>
        <p:grpSpPr>
          <a:xfrm>
            <a:off x="678942" y="5797868"/>
            <a:ext cx="6005894" cy="530733"/>
            <a:chOff x="678942" y="5797868"/>
            <a:chExt cx="6005894" cy="530733"/>
          </a:xfrm>
        </p:grpSpPr>
        <p:sp>
          <p:nvSpPr>
            <p:cNvPr id="24" name="TextBox 24"/>
            <p:cNvSpPr txBox="1"/>
            <p:nvPr/>
          </p:nvSpPr>
          <p:spPr>
            <a:xfrm>
              <a:off x="678942" y="5797868"/>
              <a:ext cx="6005894" cy="530733"/>
            </a:xfrm>
            <a:prstGeom prst="rect">
              <a:avLst/>
            </a:prstGeom>
            <a:noFill/>
            <a:ln>
              <a:noFill/>
            </a:ln>
          </p:spPr>
          <p:txBody>
            <a:bodyPr wrap="none" lIns="0" tIns="0" rIns="0" bIns="0" anchor="t" anchorCtr="0">
              <a:spAutoFit/>
            </a:bodyPr>
            <a:lstStyle/>
            <a:p>
              <a:pPr algn="l">
                <a:lnSpc>
                  <a:spcPts val="2100"/>
                </a:lnSpc>
              </a:pPr>
              <a:r>
                <a:rPr lang="zh-CN" sz="1350" dirty="0">
                  <a:solidFill>
                    <a:schemeClr val="accent3"/>
                  </a:solidFill>
                  <a:latin typeface="+mn-lt"/>
                  <a:ea typeface="+mn-ea"/>
                  <a:cs typeface="+mn-cs"/>
                </a:rPr>
                <a:t>名录本体：国发〔2006〕18 号，2006 年 5 月 20 日公布第一批国家级非遗名录</a:t>
              </a:r>
              <a:br/>
              <a:r>
                <a:rPr lang="zh-CN" sz="1350" dirty="0">
                  <a:solidFill>
                    <a:schemeClr val="accent3"/>
                  </a:solidFill>
                  <a:latin typeface="+mn-lt"/>
                  <a:ea typeface="+mn-ea"/>
                  <a:cs typeface="+mn-cs"/>
                </a:rPr>
                <a:t>共 518 项、十个类别，其中民俗类 70 项</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55"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500" fill="hold"/>
                                        <p:tgtEl>
                                          <p:spTgt spid="7"/>
                                        </p:tgtEl>
                                        <p:attrNameLst>
                                          <p:attrName>ppt_w</p:attrName>
                                        </p:attrNameLst>
                                      </p:cBhvr>
                                      <p:tavLst>
                                        <p:tav tm="0">
                                          <p:val>
                                            <p:strVal val="#ppt_w*0.70"/>
                                          </p:val>
                                        </p:tav>
                                        <p:tav tm="100000">
                                          <p:val>
                                            <p:strVal val="#ppt_w"/>
                                          </p:val>
                                        </p:tav>
                                      </p:tavLst>
                                    </p:anim>
                                    <p:anim calcmode="lin" valueType="num">
                                      <p:cBhvr>
                                        <p:cTn id="8" dur="500" fill="hold"/>
                                        <p:tgtEl>
                                          <p:spTgt spid="7"/>
                                        </p:tgtEl>
                                        <p:attrNameLst>
                                          <p:attrName>ppt_h</p:attrName>
                                        </p:attrNameLst>
                                      </p:cBhvr>
                                      <p:tavLst>
                                        <p:tav tm="0">
                                          <p:val>
                                            <p:strVal val="#ppt_h"/>
                                          </p:val>
                                        </p:tav>
                                        <p:tav tm="100000">
                                          <p:val>
                                            <p:strVal val="#ppt_h"/>
                                          </p:val>
                                        </p:tav>
                                      </p:tavLst>
                                    </p:anim>
                                    <p:animEffect transition="in" filter="fade">
                                      <p:cBhvr>
                                        <p:cTn id="9" dur="500"/>
                                        <p:tgtEl>
                                          <p:spTgt spid="7"/>
                                        </p:tgtEl>
                                      </p:cBhvr>
                                    </p:animEffect>
                                  </p:childTnLst>
                                </p:cTn>
                              </p:par>
                            </p:childTnLst>
                          </p:cTn>
                        </p:par>
                        <p:par>
                          <p:cTn id="10" fill="hold">
                            <p:stCondLst>
                              <p:cond delay="500"/>
                            </p:stCondLst>
                            <p:childTnLst>
                              <p:par>
                                <p:cTn xmlns:p="http://schemas.openxmlformats.org/presentationml/2006/main" id="11" presetID="22" presetClass="entr" presetSubtype="4" fill="hold" grpId="0" nodeType="afterEffect">
                                  <p:stCondLst>
                                    <p:cond delay="120"/>
                                  </p:stCondLst>
                                  <p:childTnLst>
                                    <p:set>
                                      <p:cBhvr>
                                        <p:cTn id="12" dur="1" fill="hold">
                                          <p:stCondLst>
                                            <p:cond delay="0"/>
                                          </p:stCondLst>
                                        </p:cTn>
                                        <p:tgtEl>
                                          <p:spTgt spid="19"/>
                                        </p:tgtEl>
                                        <p:attrNameLst>
                                          <p:attrName>style.visibility</p:attrName>
                                        </p:attrNameLst>
                                      </p:cBhvr>
                                      <p:to>
                                        <p:strVal val="visible"/>
                                      </p:to>
                                    </p:set>
                                    <p:animEffect transition="in" filter="wipe(down)">
                                      <p:cBhvr>
                                        <p:cTn id="13" dur="900"/>
                                        <p:tgtEl>
                                          <p:spTgt spid="19"/>
                                        </p:tgtEl>
                                      </p:cBhvr>
                                    </p:animEffect>
                                  </p:childTnLst>
                                </p:cTn>
                              </p:par>
                            </p:childTnLst>
                          </p:cTn>
                        </p:par>
                        <p:par>
                          <p:cTn id="14" fill="hold">
                            <p:stCondLst>
                              <p:cond delay="1520"/>
                            </p:stCondLst>
                            <p:childTnLst>
                              <p:par>
                                <p:cTn xmlns:p="http://schemas.openxmlformats.org/presentationml/2006/main" id="15" presetID="10" presetClass="entr" presetSubtype="0" fill="hold" grpId="0" nodeType="afterEffect">
                                  <p:stCondLst>
                                    <p:cond delay="12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500"/>
                                        <p:tgtEl>
                                          <p:spTgt spid="23"/>
                                        </p:tgtEl>
                                      </p:cBhvr>
                                    </p:animEffect>
                                  </p:childTnLst>
                                </p:cTn>
                              </p:par>
                            </p:childTnLst>
                          </p:cTn>
                        </p:par>
                        <p:par>
                          <p:cTn id="18" fill="hold">
                            <p:stCondLst>
                              <p:cond delay="2140"/>
                            </p:stCondLst>
                            <p:childTnLst>
                              <p:par>
                                <p:cTn xmlns:p="http://schemas.openxmlformats.org/presentationml/2006/main" id="19" presetID="10" presetClass="entr" presetSubtype="0" fill="hold" grpId="0" nodeType="afterEffect">
                                  <p:stCondLst>
                                    <p:cond delay="12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p14="http://schemas.microsoft.com/office/powerpoint/2010/main" xmlns:r="http://schemas.openxmlformats.org/officeDocument/2006/relationships">
  <p:cSld>
    <p:bg>
      <p:bgPr>
        <a:solidFill>
          <a:schemeClr val="lt1"/>
        </a:solidFill>
        <a:effectLst/>
      </p:bgPr>
    </p:bg>
    <p:spTree>
      <p:nvGrpSpPr>
        <p:cNvPr id="1" name=""/>
        <p:cNvGrpSpPr/>
        <p:nvPr/>
      </p:nvGrpSpPr>
      <p:grpSpPr>
        <a:xfrm>
          <a:off x="0" y="0"/>
          <a:ext cx="0" cy="0"/>
          <a:chOff x="0" y="0"/>
          <a:chExt cx="0" cy="0"/>
        </a:xfrm>
      </p:grpSpPr>
      <p:grpSp>
        <p:nvGrpSpPr>
          <p:cNvPr id="3" name="!!moon"/>
          <p:cNvGrpSpPr/>
          <p:nvPr/>
        </p:nvGrpSpPr>
        <p:grpSpPr>
          <a:xfrm>
            <a:off x="10763250" y="342900"/>
            <a:ext cx="1047750" cy="1057275"/>
            <a:chOff x="10763250" y="342900"/>
            <a:chExt cx="1047750" cy="1057275"/>
          </a:xfrm>
        </p:grpSpPr>
        <p:pic>
          <p:nvPicPr>
            <p:cNvPr id="2" name="Image 2"/>
            <p:cNvPicPr>
              <a:picLocks noChangeAspect="1"/>
            </p:cNvPicPr>
            <p:nvPr/>
          </p:nvPicPr>
          <p:blipFill>
            <a:blip r:embed="rId2"/>
            <a:stretch>
              <a:fillRect/>
            </a:stretch>
          </p:blipFill>
          <p:spPr>
            <a:xfrm>
              <a:off x="10763250" y="342900"/>
              <a:ext cx="1047750" cy="1057275"/>
            </a:xfrm>
            <a:prstGeom prst="rect">
              <a:avLst/>
            </a:prstGeom>
          </p:spPr>
        </p:pic>
      </p:grpSp>
      <p:grpSp>
        <p:nvGrpSpPr>
          <p:cNvPr id="6" name="Group 6"/>
          <p:cNvGrpSpPr/>
          <p:nvPr/>
        </p:nvGrpSpPr>
        <p:grpSpPr>
          <a:xfrm>
            <a:off x="669798" y="726758"/>
            <a:ext cx="5856732" cy="962215"/>
            <a:chOff x="669798" y="726758"/>
            <a:chExt cx="5856732" cy="962215"/>
          </a:xfrm>
        </p:grpSpPr>
        <p:sp>
          <p:nvSpPr>
            <p:cNvPr id="4" name="TextBox 4"/>
            <p:cNvSpPr txBox="1"/>
            <p:nvPr/>
          </p:nvSpPr>
          <p:spPr>
            <a:xfrm>
              <a:off x="669798" y="726758"/>
              <a:ext cx="5856732" cy="616077"/>
            </a:xfrm>
            <a:prstGeom prst="rect">
              <a:avLst/>
            </a:prstGeom>
            <a:noFill/>
            <a:ln>
              <a:noFill/>
            </a:ln>
          </p:spPr>
          <p:txBody>
            <a:bodyPr wrap="none" lIns="0" tIns="0" rIns="0" bIns="0" anchor="t" anchorCtr="0">
              <a:spAutoFit/>
            </a:bodyPr>
            <a:lstStyle/>
            <a:p>
              <a:pPr algn="l"/>
              <a:r>
                <a:rPr lang="zh-CN" sz="3150" dirty="0">
                  <a:solidFill>
                    <a:schemeClr val="dk1"/>
                  </a:solidFill>
                  <a:latin typeface="+mj-lt"/>
                  <a:ea typeface="+mj-ea"/>
                  <a:cs typeface="+mj-cs"/>
                </a:rPr>
                <a:t>法定是一天，我们过的是三天</a:t>
              </a:r>
            </a:p>
          </p:txBody>
        </p:sp>
        <p:sp>
          <p:nvSpPr>
            <p:cNvPr id="5" name="TextBox 5"/>
            <p:cNvSpPr txBox="1"/>
            <p:nvPr/>
          </p:nvSpPr>
          <p:spPr>
            <a:xfrm>
              <a:off x="675132" y="1278255"/>
              <a:ext cx="3696462" cy="410718"/>
            </a:xfrm>
            <a:prstGeom prst="rect">
              <a:avLst/>
            </a:prstGeom>
            <a:noFill/>
            <a:ln>
              <a:noFill/>
            </a:ln>
          </p:spPr>
          <p:txBody>
            <a:bodyPr wrap="none" lIns="0" tIns="0" rIns="0" bIns="0" anchor="t" anchorCtr="0">
              <a:spAutoFit/>
            </a:bodyPr>
            <a:lstStyle/>
            <a:p>
              <a:pPr algn="l"/>
              <a:r>
                <a:rPr lang="zh-CN" sz="2100" dirty="0">
                  <a:solidFill>
                    <a:schemeClr val="accent5"/>
                  </a:solidFill>
                  <a:latin typeface="+mn-lt"/>
                  <a:ea typeface="+mn-ea"/>
                  <a:cs typeface="+mn-cs"/>
                </a:rPr>
                <a:t>中秋成为法定假日只有十八年</a:t>
              </a:r>
            </a:p>
          </p:txBody>
        </p:sp>
      </p:grpSp>
      <p:grpSp>
        <p:nvGrpSpPr>
          <p:cNvPr id="17" name="Group 17"/>
          <p:cNvGrpSpPr/>
          <p:nvPr/>
        </p:nvGrpSpPr>
        <p:grpSpPr>
          <a:xfrm>
            <a:off x="1047750" y="1952625"/>
            <a:ext cx="10096500" cy="1194626"/>
            <a:chOff x="1047750" y="1952625"/>
            <a:chExt cx="10096500" cy="1194626"/>
          </a:xfrm>
        </p:grpSpPr>
        <p:sp>
          <p:nvSpPr>
            <p:cNvPr id="7" name="Line 7"/>
            <p:cNvSpPr/>
            <p:nvPr/>
          </p:nvSpPr>
          <p:spPr>
            <a:xfrm>
              <a:off x="1047750" y="2381250"/>
              <a:ext cx="10096500" cy="9525"/>
            </a:xfrm>
            <a:custGeom>
              <a:avLst/>
              <a:gdLst/>
              <a:ahLst/>
              <a:cxnLst/>
              <a:rect l="l" t="t" r="r" b="b"/>
              <a:pathLst>
                <a:path w="10096500" h="9525">
                  <a:moveTo>
                    <a:pt x="0" y="0"/>
                  </a:moveTo>
                  <a:lnTo>
                    <a:pt x="10096500" y="0"/>
                  </a:lnTo>
                </a:path>
              </a:pathLst>
            </a:custGeom>
            <a:noFill/>
            <a:ln w="19050">
              <a:solidFill>
                <a:schemeClr val="accent6"/>
              </a:solidFill>
              <a:prstDash val="lgDash"/>
            </a:ln>
          </p:spPr>
        </p:sp>
        <p:sp>
          <p:nvSpPr>
            <p:cNvPr id="8" name="Ellipse 8"/>
            <p:cNvSpPr/>
            <p:nvPr/>
          </p:nvSpPr>
          <p:spPr>
            <a:xfrm>
              <a:off x="1238250" y="2286000"/>
              <a:ext cx="190500" cy="190500"/>
            </a:xfrm>
            <a:prstGeom prst="ellipse">
              <a:avLst/>
            </a:prstGeom>
            <a:solidFill>
              <a:schemeClr val="accent3"/>
            </a:solidFill>
            <a:ln>
              <a:noFill/>
            </a:ln>
          </p:spPr>
        </p:sp>
        <p:sp>
          <p:nvSpPr>
            <p:cNvPr id="9" name="Ellipse 9"/>
            <p:cNvSpPr/>
            <p:nvPr/>
          </p:nvSpPr>
          <p:spPr>
            <a:xfrm>
              <a:off x="4857750" y="2286000"/>
              <a:ext cx="190500" cy="190500"/>
            </a:xfrm>
            <a:prstGeom prst="ellipse">
              <a:avLst/>
            </a:prstGeom>
            <a:solidFill>
              <a:schemeClr val="accent1"/>
            </a:solidFill>
            <a:ln>
              <a:noFill/>
            </a:ln>
          </p:spPr>
        </p:sp>
        <p:sp>
          <p:nvSpPr>
            <p:cNvPr id="10" name="Ellipse 10"/>
            <p:cNvSpPr/>
            <p:nvPr/>
          </p:nvSpPr>
          <p:spPr>
            <a:xfrm>
              <a:off x="8477250" y="2286000"/>
              <a:ext cx="190500" cy="190500"/>
            </a:xfrm>
            <a:prstGeom prst="ellipse">
              <a:avLst/>
            </a:prstGeom>
            <a:solidFill>
              <a:schemeClr val="accent3"/>
            </a:solidFill>
            <a:ln>
              <a:noFill/>
            </a:ln>
          </p:spPr>
        </p:sp>
        <p:sp>
          <p:nvSpPr>
            <p:cNvPr id="11" name="TextBox 11"/>
            <p:cNvSpPr txBox="1"/>
            <p:nvPr/>
          </p:nvSpPr>
          <p:spPr>
            <a:xfrm>
              <a:off x="1097280" y="1952625"/>
              <a:ext cx="508102"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Georgia"/>
                  <a:ea typeface="Georgia"/>
                  <a:cs typeface="Georgia"/>
                </a:rPr>
                <a:t>1949</a:t>
              </a:r>
            </a:p>
          </p:txBody>
        </p:sp>
        <p:sp>
          <p:nvSpPr>
            <p:cNvPr id="12" name="TextBox 12"/>
            <p:cNvSpPr txBox="1"/>
            <p:nvPr/>
          </p:nvSpPr>
          <p:spPr>
            <a:xfrm>
              <a:off x="1098042" y="2635568"/>
              <a:ext cx="1899666" cy="511683"/>
            </a:xfrm>
            <a:prstGeom prst="rect">
              <a:avLst/>
            </a:prstGeom>
            <a:noFill/>
            <a:ln>
              <a:noFill/>
            </a:ln>
          </p:spPr>
          <p:txBody>
            <a:bodyPr wrap="none" lIns="0" tIns="0" rIns="0" bIns="0" anchor="t" anchorCtr="0">
              <a:spAutoFit/>
            </a:bodyPr>
            <a:lstStyle/>
            <a:p>
              <a:pPr algn="l">
                <a:lnSpc>
                  <a:spcPts val="1950"/>
                </a:lnSpc>
              </a:pPr>
              <a:r>
                <a:rPr lang="zh-CN" sz="1350" dirty="0">
                  <a:solidFill>
                    <a:schemeClr val="accent5"/>
                  </a:solidFill>
                  <a:latin typeface="+mn-lt"/>
                  <a:ea typeface="+mn-ea"/>
                  <a:cs typeface="+mn-cs"/>
                </a:rPr>
                <a:t>政务院发布《全国年节及</a:t>
              </a:r>
              <a:br/>
              <a:r>
                <a:rPr lang="zh-CN" sz="1350" dirty="0">
                  <a:solidFill>
                    <a:schemeClr val="accent5"/>
                  </a:solidFill>
                  <a:latin typeface="+mn-lt"/>
                  <a:ea typeface="+mn-ea"/>
                  <a:cs typeface="+mn-cs"/>
                </a:rPr>
                <a:t>纪念日放假办法》</a:t>
              </a:r>
            </a:p>
          </p:txBody>
        </p:sp>
        <p:sp>
          <p:nvSpPr>
            <p:cNvPr id="13" name="TextBox 13"/>
            <p:cNvSpPr txBox="1"/>
            <p:nvPr/>
          </p:nvSpPr>
          <p:spPr>
            <a:xfrm>
              <a:off x="4716780" y="1952625"/>
              <a:ext cx="508102"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Georgia"/>
                  <a:ea typeface="Georgia"/>
                  <a:cs typeface="Georgia"/>
                </a:rPr>
                <a:t>2008</a:t>
              </a:r>
            </a:p>
          </p:txBody>
        </p:sp>
        <p:sp>
          <p:nvSpPr>
            <p:cNvPr id="14" name="TextBox 14"/>
            <p:cNvSpPr txBox="1"/>
            <p:nvPr/>
          </p:nvSpPr>
          <p:spPr>
            <a:xfrm>
              <a:off x="4717542" y="2635568"/>
              <a:ext cx="2285428" cy="511683"/>
            </a:xfrm>
            <a:prstGeom prst="rect">
              <a:avLst/>
            </a:prstGeom>
            <a:noFill/>
            <a:ln>
              <a:noFill/>
            </a:ln>
          </p:spPr>
          <p:txBody>
            <a:bodyPr wrap="none" lIns="0" tIns="0" rIns="0" bIns="0" anchor="t" anchorCtr="0">
              <a:spAutoFit/>
            </a:bodyPr>
            <a:lstStyle/>
            <a:p>
              <a:pPr algn="l">
                <a:lnSpc>
                  <a:spcPts val="1950"/>
                </a:lnSpc>
              </a:pPr>
              <a:r>
                <a:rPr lang="zh-CN" sz="1350" dirty="0">
                  <a:solidFill>
                    <a:schemeClr val="dk1"/>
                  </a:solidFill>
                  <a:latin typeface="+mn-lt"/>
                  <a:ea typeface="+mn-ea"/>
                  <a:cs typeface="+mn-cs"/>
                </a:rPr>
                <a:t>国务院令第 513 号施行，新增</a:t>
              </a:r>
              <a:br/>
              <a:r>
                <a:rPr lang="zh-CN" sz="1350" dirty="0">
                  <a:solidFill>
                    <a:schemeClr val="dk1"/>
                  </a:solidFill>
                  <a:latin typeface="+mn-lt"/>
                  <a:ea typeface="+mn-ea"/>
                  <a:cs typeface="+mn-cs"/>
                </a:rPr>
                <a:t>「中秋节，放假 1 天」</a:t>
              </a:r>
            </a:p>
          </p:txBody>
        </p:sp>
        <p:sp>
          <p:nvSpPr>
            <p:cNvPr id="15" name="TextBox 15"/>
            <p:cNvSpPr txBox="1"/>
            <p:nvPr/>
          </p:nvSpPr>
          <p:spPr>
            <a:xfrm>
              <a:off x="8336280" y="1952625"/>
              <a:ext cx="508102"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Georgia"/>
                  <a:ea typeface="Georgia"/>
                  <a:cs typeface="Georgia"/>
                </a:rPr>
                <a:t>2025</a:t>
              </a:r>
            </a:p>
          </p:txBody>
        </p:sp>
        <p:sp>
          <p:nvSpPr>
            <p:cNvPr id="16" name="TextBox 16"/>
            <p:cNvSpPr txBox="1"/>
            <p:nvPr/>
          </p:nvSpPr>
          <p:spPr>
            <a:xfrm>
              <a:off x="8337042" y="2635568"/>
              <a:ext cx="2285428" cy="511683"/>
            </a:xfrm>
            <a:prstGeom prst="rect">
              <a:avLst/>
            </a:prstGeom>
            <a:noFill/>
            <a:ln>
              <a:noFill/>
            </a:ln>
          </p:spPr>
          <p:txBody>
            <a:bodyPr wrap="none" lIns="0" tIns="0" rIns="0" bIns="0" anchor="t" anchorCtr="0">
              <a:spAutoFit/>
            </a:bodyPr>
            <a:lstStyle/>
            <a:p>
              <a:pPr algn="l">
                <a:lnSpc>
                  <a:spcPts val="1950"/>
                </a:lnSpc>
              </a:pPr>
              <a:r>
                <a:rPr lang="zh-CN" sz="1350" dirty="0">
                  <a:solidFill>
                    <a:schemeClr val="accent5"/>
                  </a:solidFill>
                  <a:latin typeface="+mn-lt"/>
                  <a:ea typeface="+mn-ea"/>
                  <a:cs typeface="+mn-cs"/>
                </a:rPr>
                <a:t>国令第 795 号施行，增除夕与</a:t>
              </a:r>
              <a:br/>
              <a:r>
                <a:rPr lang="zh-CN" sz="1350" dirty="0">
                  <a:solidFill>
                    <a:schemeClr val="accent5"/>
                  </a:solidFill>
                  <a:latin typeface="+mn-lt"/>
                  <a:ea typeface="+mn-ea"/>
                  <a:cs typeface="+mn-cs"/>
                </a:rPr>
                <a:t>5 月 2 日；中秋仍为 1 天</a:t>
              </a:r>
            </a:p>
          </p:txBody>
        </p:sp>
      </p:grpSp>
      <p:grpSp>
        <p:nvGrpSpPr>
          <p:cNvPr id="21" name="Group 21"/>
          <p:cNvGrpSpPr/>
          <p:nvPr/>
        </p:nvGrpSpPr>
        <p:grpSpPr>
          <a:xfrm>
            <a:off x="685800" y="3581400"/>
            <a:ext cx="4953000" cy="1524000"/>
            <a:chOff x="685800" y="3581400"/>
            <a:chExt cx="4953000" cy="1524000"/>
          </a:xfrm>
        </p:grpSpPr>
        <p:sp>
          <p:nvSpPr>
            <p:cNvPr id="18" name="Freeform 18"/>
            <p:cNvSpPr/>
            <p:nvPr/>
          </p:nvSpPr>
          <p:spPr>
            <a:xfrm>
              <a:off x="685800" y="3581400"/>
              <a:ext cx="4953000" cy="1524000"/>
            </a:xfrm>
            <a:prstGeom prst="wedgeRectCallout">
              <a:avLst>
                <a:gd name="adj1" fmla="val 30000"/>
                <a:gd name="adj2" fmla="val -75000"/>
              </a:avLst>
            </a:prstGeom>
            <a:solidFill>
              <a:srgbClr val="26305A"/>
            </a:solidFill>
            <a:ln>
              <a:noFill/>
            </a:ln>
            <a:effectLst>
              <a:outerShdw blurRad="171450" dist="57150" dir="5400000" algn="ctr" rotWithShape="0">
                <a:srgbClr val="05070F">
                  <a:alpha val="15000"/>
                </a:srgbClr>
              </a:outerShdw>
            </a:effectLst>
          </p:spPr>
        </p:sp>
        <p:sp>
          <p:nvSpPr>
            <p:cNvPr id="19" name="TextBox 19"/>
            <p:cNvSpPr txBox="1"/>
            <p:nvPr/>
          </p:nvSpPr>
          <p:spPr>
            <a:xfrm>
              <a:off x="982980" y="3800475"/>
              <a:ext cx="822960"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口径提醒</a:t>
              </a:r>
            </a:p>
          </p:txBody>
        </p:sp>
        <p:sp>
          <p:nvSpPr>
            <p:cNvPr id="20" name="TextBox 20"/>
            <p:cNvSpPr txBox="1"/>
            <p:nvPr/>
          </p:nvSpPr>
          <p:spPr>
            <a:xfrm>
              <a:off x="982980" y="4143375"/>
              <a:ext cx="3091815" cy="902970"/>
            </a:xfrm>
            <a:prstGeom prst="rect">
              <a:avLst/>
            </a:prstGeom>
            <a:noFill/>
            <a:ln>
              <a:noFill/>
            </a:ln>
          </p:spPr>
          <p:txBody>
            <a:bodyPr wrap="none" lIns="0" tIns="0" rIns="0" bIns="0" anchor="t" anchorCtr="0">
              <a:spAutoFit/>
            </a:bodyPr>
            <a:lstStyle/>
            <a:p>
              <a:pPr algn="l">
                <a:lnSpc>
                  <a:spcPts val="2400"/>
                </a:lnSpc>
              </a:pPr>
              <a:r>
                <a:rPr lang="zh-CN" sz="1500" dirty="0">
                  <a:solidFill>
                    <a:schemeClr val="dk1"/>
                  </a:solidFill>
                  <a:latin typeface="+mn-lt"/>
                  <a:ea typeface="+mn-ea"/>
                  <a:cs typeface="+mn-cs"/>
                </a:rPr>
                <a:t>2026 年中秋「9 月 25 日至 27 日</a:t>
              </a:r>
              <a:br/>
              <a:r>
                <a:rPr lang="zh-CN" sz="1500" dirty="0">
                  <a:solidFill>
                    <a:schemeClr val="dk1"/>
                  </a:solidFill>
                  <a:latin typeface="+mn-lt"/>
                  <a:ea typeface="+mn-ea"/>
                  <a:cs typeface="+mn-cs"/>
                </a:rPr>
                <a:t>放假共 3 天」是调休后的实际假期；</a:t>
              </a:r>
              <a:br/>
              <a:r>
                <a:rPr lang="zh-CN" sz="1500" dirty="0">
                  <a:solidFill>
                    <a:schemeClr val="dk1"/>
                  </a:solidFill>
                  <a:latin typeface="+mn-lt"/>
                  <a:ea typeface="+mn-ea"/>
                  <a:cs typeface="+mn-cs"/>
                </a:rPr>
                <a:t xml:space="preserve">法定节假日始终是 </a:t>
              </a:r>
              <a:r>
                <a:rPr lang="zh-CN" sz="1500" b="1" dirty="0">
                  <a:solidFill>
                    <a:schemeClr val="accent1"/>
                  </a:solidFill>
                  <a:latin typeface="+mn-lt"/>
                  <a:ea typeface="+mn-ea"/>
                  <a:cs typeface="+mn-cs"/>
                </a:rPr>
                <a:t>1 天</a:t>
              </a:r>
              <a:r>
                <a:rPr lang="zh-CN" sz="1500" dirty="0">
                  <a:solidFill>
                    <a:schemeClr val="dk1"/>
                  </a:solidFill>
                  <a:latin typeface="+mn-lt"/>
                  <a:ea typeface="+mn-ea"/>
                  <a:cs typeface="+mn-cs"/>
                </a:rPr>
                <a:t>。</a:t>
              </a:r>
            </a:p>
          </p:txBody>
        </p:sp>
      </p:grpSp>
      <p:grpSp>
        <p:nvGrpSpPr>
          <p:cNvPr id="27" name="Group 27"/>
          <p:cNvGrpSpPr/>
          <p:nvPr/>
        </p:nvGrpSpPr>
        <p:grpSpPr>
          <a:xfrm>
            <a:off x="6267450" y="3669030"/>
            <a:ext cx="4487551" cy="2070354"/>
            <a:chOff x="6267450" y="3669030"/>
            <a:chExt cx="4487551" cy="2070354"/>
          </a:xfrm>
        </p:grpSpPr>
        <p:sp>
          <p:nvSpPr>
            <p:cNvPr id="22" name="TextBox 22"/>
            <p:cNvSpPr txBox="1"/>
            <p:nvPr/>
          </p:nvSpPr>
          <p:spPr>
            <a:xfrm>
              <a:off x="6267450" y="3669030"/>
              <a:ext cx="2206691" cy="1276350"/>
            </a:xfrm>
            <a:prstGeom prst="rect">
              <a:avLst/>
            </a:prstGeom>
            <a:noFill/>
            <a:ln>
              <a:noFill/>
            </a:ln>
          </p:spPr>
          <p:txBody>
            <a:bodyPr wrap="none" lIns="0" tIns="0" rIns="0" bIns="0" anchor="t" anchorCtr="0">
              <a:spAutoFit/>
            </a:bodyPr>
            <a:lstStyle/>
            <a:p>
              <a:pPr algn="l"/>
              <a:r>
                <a:rPr lang="zh-CN" sz="6600" b="1" dirty="0">
                  <a:solidFill>
                    <a:schemeClr val="accent1"/>
                  </a:solidFill>
                  <a:latin typeface="Georgia"/>
                  <a:ea typeface="Georgia"/>
                  <a:cs typeface="Georgia"/>
                </a:rPr>
                <a:t>1.07</a:t>
              </a:r>
            </a:p>
          </p:txBody>
        </p:sp>
        <p:sp>
          <p:nvSpPr>
            <p:cNvPr id="23" name="TextBox 23"/>
            <p:cNvSpPr txBox="1"/>
            <p:nvPr/>
          </p:nvSpPr>
          <p:spPr>
            <a:xfrm>
              <a:off x="8370570" y="4138612"/>
              <a:ext cx="931545" cy="440055"/>
            </a:xfrm>
            <a:prstGeom prst="rect">
              <a:avLst/>
            </a:prstGeom>
            <a:noFill/>
            <a:ln>
              <a:noFill/>
            </a:ln>
          </p:spPr>
          <p:txBody>
            <a:bodyPr wrap="none" lIns="0" tIns="0" rIns="0" bIns="0" anchor="t" anchorCtr="0">
              <a:spAutoFit/>
            </a:bodyPr>
            <a:lstStyle/>
            <a:p>
              <a:pPr algn="l"/>
              <a:r>
                <a:rPr lang="zh-CN" sz="2250" dirty="0">
                  <a:solidFill>
                    <a:schemeClr val="dk1"/>
                  </a:solidFill>
                  <a:latin typeface="+mn-lt"/>
                  <a:ea typeface="+mn-ea"/>
                  <a:cs typeface="+mn-cs"/>
                </a:rPr>
                <a:t>亿人次</a:t>
              </a:r>
            </a:p>
          </p:txBody>
        </p:sp>
        <p:sp>
          <p:nvSpPr>
            <p:cNvPr id="24" name="TextBox 24"/>
            <p:cNvSpPr txBox="1"/>
            <p:nvPr/>
          </p:nvSpPr>
          <p:spPr>
            <a:xfrm>
              <a:off x="6279642" y="4578668"/>
              <a:ext cx="4475359"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2024 年中秋假期全国国内出游（较 2019 同期 +6.3%）</a:t>
              </a:r>
            </a:p>
          </p:txBody>
        </p:sp>
        <p:sp>
          <p:nvSpPr>
            <p:cNvPr id="25" name="TextBox 25"/>
            <p:cNvSpPr txBox="1"/>
            <p:nvPr/>
          </p:nvSpPr>
          <p:spPr>
            <a:xfrm>
              <a:off x="6277356" y="5025390"/>
              <a:ext cx="2699515"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 xml:space="preserve">出游总花费 </a:t>
              </a:r>
              <a:r>
                <a:rPr lang="zh-CN" sz="1800" b="1" dirty="0">
                  <a:solidFill>
                    <a:schemeClr val="accent1"/>
                  </a:solidFill>
                  <a:latin typeface="+mn-lt"/>
                  <a:ea typeface="+mn-ea"/>
                  <a:cs typeface="+mn-cs"/>
                </a:rPr>
                <a:t>510.47</a:t>
              </a:r>
              <a:r>
                <a:rPr lang="zh-CN" sz="1800" dirty="0">
                  <a:solidFill>
                    <a:schemeClr val="dk1"/>
                  </a:solidFill>
                  <a:latin typeface="+mn-lt"/>
                  <a:ea typeface="+mn-ea"/>
                  <a:cs typeface="+mn-cs"/>
                </a:rPr>
                <a:t xml:space="preserve"> 亿元</a:t>
              </a:r>
            </a:p>
          </p:txBody>
        </p:sp>
        <p:sp>
          <p:nvSpPr>
            <p:cNvPr id="26" name="TextBox 26"/>
            <p:cNvSpPr txBox="1"/>
            <p:nvPr/>
          </p:nvSpPr>
          <p:spPr>
            <a:xfrm>
              <a:off x="6277356" y="5387340"/>
              <a:ext cx="4401179"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 xml:space="preserve">月饼产量约 </a:t>
              </a:r>
              <a:r>
                <a:rPr lang="zh-CN" sz="1800" b="1" dirty="0">
                  <a:solidFill>
                    <a:schemeClr val="accent1"/>
                  </a:solidFill>
                  <a:latin typeface="+mn-lt"/>
                  <a:ea typeface="+mn-ea"/>
                  <a:cs typeface="+mn-cs"/>
                </a:rPr>
                <a:t>30</a:t>
              </a:r>
              <a:r>
                <a:rPr lang="zh-CN" sz="1800" dirty="0">
                  <a:solidFill>
                    <a:schemeClr val="dk1"/>
                  </a:solidFill>
                  <a:latin typeface="+mn-lt"/>
                  <a:ea typeface="+mn-ea"/>
                  <a:cs typeface="+mn-cs"/>
                </a:rPr>
                <a:t xml:space="preserve"> 万吨，销售额约 </a:t>
              </a:r>
              <a:r>
                <a:rPr lang="zh-CN" sz="1800" b="1" dirty="0">
                  <a:solidFill>
                    <a:schemeClr val="accent1"/>
                  </a:solidFill>
                  <a:latin typeface="+mn-lt"/>
                  <a:ea typeface="+mn-ea"/>
                  <a:cs typeface="+mn-cs"/>
                </a:rPr>
                <a:t>200</a:t>
              </a:r>
              <a:r>
                <a:rPr lang="zh-CN" sz="1800" dirty="0">
                  <a:solidFill>
                    <a:schemeClr val="dk1"/>
                  </a:solidFill>
                  <a:latin typeface="+mn-lt"/>
                  <a:ea typeface="+mn-ea"/>
                  <a:cs typeface="+mn-cs"/>
                </a:rPr>
                <a:t xml:space="preserve"> 亿元</a:t>
              </a:r>
            </a:p>
          </p:txBody>
        </p:sp>
      </p:grpSp>
      <p:grpSp>
        <p:nvGrpSpPr>
          <p:cNvPr id="29" name="Group 29"/>
          <p:cNvGrpSpPr/>
          <p:nvPr/>
        </p:nvGrpSpPr>
        <p:grpSpPr>
          <a:xfrm>
            <a:off x="678942" y="6026468"/>
            <a:ext cx="10781633" cy="264033"/>
            <a:chOff x="678942" y="6026468"/>
            <a:chExt cx="10781633" cy="264033"/>
          </a:xfrm>
        </p:grpSpPr>
        <p:sp>
          <p:nvSpPr>
            <p:cNvPr id="28" name="TextBox 28"/>
            <p:cNvSpPr txBox="1"/>
            <p:nvPr/>
          </p:nvSpPr>
          <p:spPr>
            <a:xfrm>
              <a:off x="678942" y="6026468"/>
              <a:ext cx="10781633" cy="264033"/>
            </a:xfrm>
            <a:prstGeom prst="rect">
              <a:avLst/>
            </a:prstGeom>
            <a:noFill/>
            <a:ln>
              <a:noFill/>
            </a:ln>
          </p:spPr>
          <p:txBody>
            <a:bodyPr wrap="none" lIns="0" tIns="0" rIns="0" bIns="0" anchor="t" anchorCtr="0">
              <a:spAutoFit/>
            </a:bodyPr>
            <a:lstStyle/>
            <a:p>
              <a:pPr algn="l"/>
              <a:r>
                <a:rPr lang="zh-CN" sz="1350" dirty="0">
                  <a:solidFill>
                    <a:schemeClr val="accent3"/>
                  </a:solidFill>
                  <a:latin typeface="+mn-lt"/>
                  <a:ea typeface="+mn-ea"/>
                  <a:cs typeface="+mn-cs"/>
                </a:rPr>
                <a:t>月饼数据为中国焙烤食品糖制品工业协会 2024 年预计值；2025 年的 8.88 亿人次是国庆＋中秋合并 8 天口径，不与中秋单独口径比较</a:t>
              </a:r>
            </a:p>
          </p:txBody>
        </p:sp>
      </p:grpSp>
    </p:spTree>
  </p:cSld>
  <p:clrMapOvr>
    <a:masterClrMapping/>
  </p:clrMapOvr>
  <p:transitio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after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right)">
                                      <p:cBhvr>
                                        <p:cTn id="7" dur="1000"/>
                                        <p:tgtEl>
                                          <p:spTgt spid="17"/>
                                        </p:tgtEl>
                                      </p:cBhvr>
                                    </p:animEffect>
                                  </p:childTnLst>
                                </p:cTn>
                              </p:par>
                            </p:childTnLst>
                          </p:cTn>
                        </p:par>
                        <p:par>
                          <p:cTn id="8" fill="hold">
                            <p:stCondLst>
                              <p:cond delay="1000"/>
                            </p:stCondLst>
                            <p:childTnLst>
                              <p:par>
                                <p:cTn id="9" presetID="2" presetClass="entr" presetSubtype="1" fill="hold" grpId="0" nodeType="afterEffect">
                                  <p:stCondLst>
                                    <p:cond delay="120"/>
                                  </p:stCondLst>
                                  <p:childTnLst>
                                    <p:set>
                                      <p:cBhvr>
                                        <p:cTn id="10" dur="1" fill="hold">
                                          <p:stCondLst>
                                            <p:cond delay="0"/>
                                          </p:stCondLst>
                                        </p:cTn>
                                        <p:tgtEl>
                                          <p:spTgt spid="21"/>
                                        </p:tgtEl>
                                        <p:attrNameLst>
                                          <p:attrName>style.visibility</p:attrName>
                                        </p:attrNameLst>
                                      </p:cBhvr>
                                      <p:to>
                                        <p:strVal val="visible"/>
                                      </p:to>
                                    </p:set>
                                    <p:anim calcmode="lin" valueType="num">
                                      <p:cBhvr additive="base">
                                        <p:cTn id="11" dur="500" fill="hold"/>
                                        <p:tgtEl>
                                          <p:spTgt spid="21"/>
                                        </p:tgtEl>
                                        <p:attrNameLst>
                                          <p:attrName>ppt_x</p:attrName>
                                        </p:attrNameLst>
                                      </p:cBhvr>
                                      <p:tavLst>
                                        <p:tav tm="0">
                                          <p:val>
                                            <p:strVal val="#ppt_x"/>
                                          </p:val>
                                        </p:tav>
                                        <p:tav tm="100000">
                                          <p:val>
                                            <p:strVal val="#ppt_x"/>
                                          </p:val>
                                        </p:tav>
                                      </p:tavLst>
                                    </p:anim>
                                    <p:anim calcmode="lin" valueType="num">
                                      <p:cBhvr additive="base">
                                        <p:cTn id="12" dur="500" fill="hold"/>
                                        <p:tgtEl>
                                          <p:spTgt spid="21"/>
                                        </p:tgtEl>
                                        <p:attrNameLst>
                                          <p:attrName>ppt_y</p:attrName>
                                        </p:attrNameLst>
                                      </p:cBhvr>
                                      <p:tavLst>
                                        <p:tav tm="0">
                                          <p:val>
                                            <p:strVal val="0-#ppt_h/2"/>
                                          </p:val>
                                        </p:tav>
                                        <p:tav tm="100000">
                                          <p:val>
                                            <p:strVal val="#ppt_y"/>
                                          </p:val>
                                        </p:tav>
                                      </p:tavLst>
                                    </p:anim>
                                  </p:childTnLst>
                                </p:cTn>
                              </p:par>
                            </p:childTnLst>
                          </p:cTn>
                        </p:par>
                        <p:par>
                          <p:cTn id="13" fill="hold">
                            <p:stCondLst>
                              <p:cond delay="1620"/>
                            </p:stCondLst>
                            <p:childTnLst>
                              <p:par>
                                <p:cTn id="14" presetID="10" presetClass="entr" presetSubtype="0" fill="hold" grpId="0" nodeType="afterEffect">
                                  <p:stCondLst>
                                    <p:cond delay="20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600"/>
                                        <p:tgtEl>
                                          <p:spTgt spid="27"/>
                                        </p:tgtEl>
                                      </p:cBhvr>
                                    </p:animEffect>
                                  </p:childTnLst>
                                </p:cTn>
                              </p:par>
                            </p:childTnLst>
                          </p:cTn>
                        </p:par>
                        <p:par>
                          <p:cTn id="17" fill="hold">
                            <p:stCondLst>
                              <p:cond delay="2420"/>
                            </p:stCondLst>
                            <p:childTnLst>
                              <p:par>
                                <p:cTn id="18" presetID="10" presetClass="entr" presetSubtype="0" fill="hold" grpId="0" nodeType="afterEffect">
                                  <p:stCondLst>
                                    <p:cond delay="120"/>
                                  </p:stCondLst>
                                  <p:childTnLst>
                                    <p:set>
                                      <p:cBhvr>
                                        <p:cTn id="19" dur="1" fill="hold">
                                          <p:stCondLst>
                                            <p:cond delay="0"/>
                                          </p:stCondLst>
                                        </p:cTn>
                                        <p:tgtEl>
                                          <p:spTgt spid="29"/>
                                        </p:tgtEl>
                                        <p:attrNameLst>
                                          <p:attrName>style.visibility</p:attrName>
                                        </p:attrNameLst>
                                      </p:cBhvr>
                                      <p:to>
                                        <p:strVal val="visible"/>
                                      </p:to>
                                    </p:set>
                                    <p:animEffect transition="in" filter="fade">
                                      <p:cBhvr>
                                        <p:cTn id="2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mc="http://schemas.openxmlformats.org/markup-compatibility/2006" xmlns:p="http://schemas.openxmlformats.org/presentationml/2006/main" xmlns:p14="http://schemas.microsoft.com/office/powerpoint/2010/main" xmlns:p159="http://schemas.microsoft.com/office/powerpoint/2015/09/main" xmlns:r="http://schemas.openxmlformats.org/officeDocument/2006/relationships">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stretch>
            <a:fillRect/>
          </a:stretch>
        </p:blipFill>
        <p:spPr>
          <a:xfrm>
            <a:off x="0" y="26670"/>
            <a:ext cx="12192000" cy="6804660"/>
          </a:xfrm>
          <a:prstGeom prst="rect">
            <a:avLst/>
          </a:prstGeom>
        </p:spPr>
      </p:pic>
      <p:sp>
        <p:nvSpPr>
          <p:cNvPr id="3" name="Rectangle 3"/>
          <p:cNvSpPr/>
          <p:nvPr/>
        </p:nvSpPr>
        <p:spPr>
          <a:xfrm>
            <a:off x="0" y="0"/>
            <a:ext cx="12192000" cy="6858000"/>
          </a:xfrm>
          <a:prstGeom prst="rect">
            <a:avLst/>
          </a:prstGeom>
          <a:gradFill>
            <a:gsLst>
              <a:gs pos="0">
                <a:srgbClr val="0C1026">
                  <a:alpha val="86000"/>
                </a:srgbClr>
              </a:gs>
              <a:gs pos="58000">
                <a:srgbClr val="0C1026">
                  <a:alpha val="28000"/>
                </a:srgbClr>
              </a:gs>
              <a:gs pos="100000">
                <a:srgbClr val="0C1026">
                  <a:alpha val="0"/>
                </a:srgbClr>
              </a:gs>
            </a:gsLst>
            <a:lin ang="0" scaled="1"/>
          </a:gradFill>
          <a:ln>
            <a:noFill/>
          </a:ln>
        </p:spPr>
      </p:sp>
      <p:sp>
        <p:nvSpPr>
          <p:cNvPr id="4" name="Ellipse 4"/>
          <p:cNvSpPr/>
          <p:nvPr/>
        </p:nvSpPr>
        <p:spPr>
          <a:xfrm>
            <a:off x="7143750" y="304800"/>
            <a:ext cx="4762500" cy="4762500"/>
          </a:xfrm>
          <a:prstGeom prst="ellipse">
            <a:avLst/>
          </a:prstGeom>
          <a:gradFill>
            <a:gsLst>
              <a:gs pos="0">
                <a:schemeClr val="accent1">
                  <a:alpha val="24000"/>
                </a:schemeClr>
              </a:gs>
              <a:gs pos="100000">
                <a:schemeClr val="accent1">
                  <a:alpha val="0"/>
                </a:schemeClr>
              </a:gs>
            </a:gsLst>
            <a:path path="circle">
              <a:fillToRect l="50000" t="50000" r="50000" b="50000"/>
            </a:path>
          </a:gradFill>
          <a:ln>
            <a:noFill/>
          </a:ln>
        </p:spPr>
      </p:sp>
      <p:grpSp>
        <p:nvGrpSpPr>
          <p:cNvPr id="6" name="!!moon"/>
          <p:cNvGrpSpPr/>
          <p:nvPr/>
        </p:nvGrpSpPr>
        <p:grpSpPr>
          <a:xfrm>
            <a:off x="7905750" y="1047750"/>
            <a:ext cx="3238500" cy="3267075"/>
            <a:chOff x="7905750" y="1047750"/>
            <a:chExt cx="3238500" cy="3267075"/>
          </a:xfrm>
        </p:grpSpPr>
        <p:pic>
          <p:nvPicPr>
            <p:cNvPr id="5" name="Image 5"/>
            <p:cNvPicPr>
              <a:picLocks noChangeAspect="1"/>
            </p:cNvPicPr>
            <p:nvPr/>
          </p:nvPicPr>
          <p:blipFill>
            <a:blip r:embed="rId3"/>
            <a:stretch>
              <a:fillRect/>
            </a:stretch>
          </p:blipFill>
          <p:spPr>
            <a:xfrm>
              <a:off x="7905750" y="1047750"/>
              <a:ext cx="3238500" cy="3267075"/>
            </a:xfrm>
            <a:prstGeom prst="rect">
              <a:avLst/>
            </a:prstGeom>
            <a:effectLst>
              <a:outerShdw blurRad="171450" dist="57150" dir="5400000" algn="ctr" rotWithShape="0">
                <a:srgbClr val="05070F">
                  <a:alpha val="15000"/>
                </a:srgbClr>
              </a:outerShdw>
            </a:effectLst>
          </p:spPr>
        </p:pic>
      </p:grpSp>
      <p:grpSp>
        <p:nvGrpSpPr>
          <p:cNvPr id="8" name="Group 8"/>
          <p:cNvGrpSpPr/>
          <p:nvPr/>
        </p:nvGrpSpPr>
        <p:grpSpPr>
          <a:xfrm>
            <a:off x="678942" y="1587818"/>
            <a:ext cx="4011930" cy="264033"/>
            <a:chOff x="678942" y="1587818"/>
            <a:chExt cx="4011930" cy="264033"/>
          </a:xfrm>
        </p:grpSpPr>
        <p:sp>
          <p:nvSpPr>
            <p:cNvPr id="7" name="TextBox 7"/>
            <p:cNvSpPr txBox="1"/>
            <p:nvPr/>
          </p:nvSpPr>
          <p:spPr>
            <a:xfrm>
              <a:off x="678942" y="1587818"/>
              <a:ext cx="4011930" cy="264033"/>
            </a:xfrm>
            <a:prstGeom prst="rect">
              <a:avLst/>
            </a:prstGeom>
            <a:noFill/>
            <a:ln>
              <a:noFill/>
            </a:ln>
          </p:spPr>
          <p:txBody>
            <a:bodyPr wrap="none" lIns="0" tIns="0" rIns="0" bIns="0" anchor="t" anchorCtr="0">
              <a:spAutoFit/>
            </a:bodyPr>
            <a:lstStyle/>
            <a:p>
              <a:pPr algn="l"/>
              <a:r>
                <a:rPr lang="zh-CN" sz="1350" dirty="0">
                  <a:solidFill>
                    <a:schemeClr val="accent3"/>
                  </a:solidFill>
                  <a:latin typeface="+mn-lt"/>
                  <a:ea typeface="+mn-ea"/>
                  <a:cs typeface="+mn-cs"/>
                </a:rPr>
                <a:t>丙辰中秋，欢饮达旦，大醉，作此篇，兼怀子由。</a:t>
              </a:r>
            </a:p>
          </p:txBody>
        </p:sp>
      </p:grpSp>
      <p:grpSp>
        <p:nvGrpSpPr>
          <p:cNvPr id="10" name="Group 10"/>
          <p:cNvGrpSpPr/>
          <p:nvPr/>
        </p:nvGrpSpPr>
        <p:grpSpPr>
          <a:xfrm>
            <a:off x="672846" y="2125028"/>
            <a:ext cx="1969008" cy="994029"/>
            <a:chOff x="672846" y="2125028"/>
            <a:chExt cx="1969008" cy="994029"/>
          </a:xfrm>
        </p:grpSpPr>
        <p:sp>
          <p:nvSpPr>
            <p:cNvPr id="9" name="TextBox 9"/>
            <p:cNvSpPr txBox="1"/>
            <p:nvPr/>
          </p:nvSpPr>
          <p:spPr>
            <a:xfrm>
              <a:off x="672846" y="2125028"/>
              <a:ext cx="1969008" cy="994029"/>
            </a:xfrm>
            <a:prstGeom prst="rect">
              <a:avLst/>
            </a:prstGeom>
            <a:noFill/>
            <a:ln>
              <a:noFill/>
            </a:ln>
          </p:spPr>
          <p:txBody>
            <a:bodyPr wrap="none" lIns="0" tIns="0" rIns="0" bIns="0" anchor="t" anchorCtr="0">
              <a:spAutoFit/>
            </a:bodyPr>
            <a:lstStyle/>
            <a:p>
              <a:pPr algn="l">
                <a:lnSpc>
                  <a:spcPts val="3900"/>
                </a:lnSpc>
              </a:pPr>
              <a:r>
                <a:rPr lang="zh-CN" sz="2550" dirty="0">
                  <a:solidFill>
                    <a:schemeClr val="dk1"/>
                  </a:solidFill>
                  <a:latin typeface="+mj-lt"/>
                  <a:ea typeface="+mj-ea"/>
                  <a:cs typeface="+mj-cs"/>
                </a:rPr>
                <a:t>但愿人长久，</a:t>
              </a:r>
              <a:br/>
              <a:r>
                <a:rPr lang="zh-CN" sz="2550" dirty="0">
                  <a:solidFill>
                    <a:schemeClr val="dk1"/>
                  </a:solidFill>
                  <a:latin typeface="+mj-lt"/>
                  <a:ea typeface="+mj-ea"/>
                  <a:cs typeface="+mj-cs"/>
                </a:rPr>
                <a:t>千里共婵娟。</a:t>
              </a:r>
            </a:p>
          </p:txBody>
        </p:sp>
      </p:grpSp>
      <p:grpSp>
        <p:nvGrpSpPr>
          <p:cNvPr id="12" name="Group 12"/>
          <p:cNvGrpSpPr/>
          <p:nvPr/>
        </p:nvGrpSpPr>
        <p:grpSpPr>
          <a:xfrm>
            <a:off x="676656" y="3444240"/>
            <a:ext cx="4933188" cy="713994"/>
            <a:chOff x="676656" y="3444240"/>
            <a:chExt cx="4933188" cy="713994"/>
          </a:xfrm>
        </p:grpSpPr>
        <p:sp>
          <p:nvSpPr>
            <p:cNvPr id="11" name="TextBox 11"/>
            <p:cNvSpPr txBox="1"/>
            <p:nvPr/>
          </p:nvSpPr>
          <p:spPr>
            <a:xfrm>
              <a:off x="676656" y="3444240"/>
              <a:ext cx="4933188" cy="713994"/>
            </a:xfrm>
            <a:prstGeom prst="rect">
              <a:avLst/>
            </a:prstGeom>
            <a:noFill/>
            <a:ln>
              <a:noFill/>
            </a:ln>
          </p:spPr>
          <p:txBody>
            <a:bodyPr wrap="none" lIns="0" tIns="0" rIns="0" bIns="0" anchor="t" anchorCtr="0">
              <a:spAutoFit/>
            </a:bodyPr>
            <a:lstStyle/>
            <a:p>
              <a:pPr algn="l">
                <a:lnSpc>
                  <a:spcPts val="2850"/>
                </a:lnSpc>
              </a:pPr>
              <a:r>
                <a:rPr lang="zh-CN" sz="1800" dirty="0">
                  <a:solidFill>
                    <a:schemeClr val="accent5"/>
                  </a:solidFill>
                  <a:latin typeface="+mn-lt"/>
                  <a:ea typeface="+mn-ea"/>
                  <a:cs typeface="+mn-cs"/>
                </a:rPr>
                <a:t>1076 年（熙宁九年）中秋，苏轼在密州任太守；</a:t>
              </a:r>
              <a:br/>
              <a:r>
                <a:rPr lang="zh-CN" sz="1800" dirty="0">
                  <a:solidFill>
                    <a:schemeClr val="accent5"/>
                  </a:solidFill>
                  <a:latin typeface="+mn-lt"/>
                  <a:ea typeface="+mn-ea"/>
                  <a:cs typeface="+mn-cs"/>
                </a:rPr>
                <a:t>作此词时，他与胞弟苏辙分别已七年。</a:t>
              </a:r>
            </a:p>
          </p:txBody>
        </p:sp>
      </p:grpSp>
      <p:grpSp>
        <p:nvGrpSpPr>
          <p:cNvPr id="14" name="Group 14"/>
          <p:cNvGrpSpPr/>
          <p:nvPr/>
        </p:nvGrpSpPr>
        <p:grpSpPr>
          <a:xfrm>
            <a:off x="675132" y="4459605"/>
            <a:ext cx="4555236" cy="772668"/>
            <a:chOff x="675132" y="4459605"/>
            <a:chExt cx="4555236" cy="772668"/>
          </a:xfrm>
        </p:grpSpPr>
        <p:sp>
          <p:nvSpPr>
            <p:cNvPr id="13" name="TextBox 13"/>
            <p:cNvSpPr txBox="1"/>
            <p:nvPr/>
          </p:nvSpPr>
          <p:spPr>
            <a:xfrm>
              <a:off x="675132" y="4459605"/>
              <a:ext cx="4555236" cy="772668"/>
            </a:xfrm>
            <a:prstGeom prst="rect">
              <a:avLst/>
            </a:prstGeom>
            <a:noFill/>
            <a:ln>
              <a:noFill/>
            </a:ln>
          </p:spPr>
          <p:txBody>
            <a:bodyPr wrap="none" lIns="0" tIns="0" rIns="0" bIns="0" anchor="t" anchorCtr="0">
              <a:spAutoFit/>
            </a:bodyPr>
            <a:lstStyle/>
            <a:p>
              <a:pPr algn="l">
                <a:lnSpc>
                  <a:spcPts val="2850"/>
                </a:lnSpc>
              </a:pPr>
              <a:r>
                <a:rPr lang="zh-CN" sz="2100" dirty="0">
                  <a:solidFill>
                    <a:schemeClr val="accent1"/>
                  </a:solidFill>
                  <a:latin typeface="+mn-lt"/>
                  <a:ea typeface="+mn-ea"/>
                  <a:cs typeface="+mn-cs"/>
                </a:rPr>
                <a:t>这条线的末端是今晚：同一轮月亮，</a:t>
              </a:r>
              <a:br/>
              <a:r>
                <a:rPr lang="zh-CN" sz="2100" dirty="0">
                  <a:solidFill>
                    <a:schemeClr val="accent1"/>
                  </a:solidFill>
                  <a:latin typeface="+mn-lt"/>
                  <a:ea typeface="+mn-ea"/>
                  <a:cs typeface="+mn-cs"/>
                </a:rPr>
                <a:t>第九百五十次照着有人在等另一个人。</a:t>
              </a:r>
            </a:p>
          </p:txBody>
        </p:sp>
      </p:grpSp>
      <p:grpSp>
        <p:nvGrpSpPr>
          <p:cNvPr id="16" name="Group 16"/>
          <p:cNvGrpSpPr/>
          <p:nvPr/>
        </p:nvGrpSpPr>
        <p:grpSpPr>
          <a:xfrm>
            <a:off x="679704" y="5547360"/>
            <a:ext cx="3671164" cy="234696"/>
            <a:chOff x="679704" y="5547360"/>
            <a:chExt cx="3671164" cy="234696"/>
          </a:xfrm>
        </p:grpSpPr>
        <p:sp>
          <p:nvSpPr>
            <p:cNvPr id="15" name="TextBox 15"/>
            <p:cNvSpPr txBox="1"/>
            <p:nvPr/>
          </p:nvSpPr>
          <p:spPr>
            <a:xfrm>
              <a:off x="679704" y="5547360"/>
              <a:ext cx="3671164" cy="234696"/>
            </a:xfrm>
            <a:prstGeom prst="rect">
              <a:avLst/>
            </a:prstGeom>
            <a:noFill/>
            <a:ln>
              <a:noFill/>
            </a:ln>
          </p:spPr>
          <p:txBody>
            <a:bodyPr wrap="none" lIns="0" tIns="0" rIns="0" bIns="0" anchor="t" anchorCtr="0">
              <a:spAutoFit/>
            </a:bodyPr>
            <a:lstStyle/>
            <a:p>
              <a:pPr algn="l"/>
              <a:r>
                <a:rPr lang="zh-CN" sz="1200" dirty="0">
                  <a:solidFill>
                    <a:schemeClr val="accent3"/>
                  </a:solidFill>
                  <a:latin typeface="+mn-lt"/>
                  <a:ea typeface="+mn-ea"/>
                  <a:cs typeface="+mn-cs"/>
                </a:rPr>
                <a:t>苏轼《水调歌头 · 明月几时有》，1076 年作于密州</a:t>
              </a:r>
            </a:p>
          </p:txBody>
        </p:sp>
      </p:grpSp>
      <p:grpSp>
        <p:nvGrpSpPr>
          <p:cNvPr id="18" name="Group 18"/>
          <p:cNvGrpSpPr/>
          <p:nvPr/>
        </p:nvGrpSpPr>
        <p:grpSpPr>
          <a:xfrm>
            <a:off x="8572500" y="4572000"/>
            <a:ext cx="1905000" cy="1352550"/>
            <a:chOff x="8572500" y="4572000"/>
            <a:chExt cx="1905000" cy="1352550"/>
          </a:xfrm>
        </p:grpSpPr>
        <p:pic>
          <p:nvPicPr>
            <p:cNvPr id="17" name="Image 17"/>
            <p:cNvPicPr>
              <a:picLocks noChangeAspect="1"/>
            </p:cNvPicPr>
            <p:nvPr/>
          </p:nvPicPr>
          <p:blipFill>
            <a:blip r:embed="rId4"/>
            <a:stretch>
              <a:fillRect/>
            </a:stretch>
          </p:blipFill>
          <p:spPr>
            <a:xfrm>
              <a:off x="8572500" y="4572000"/>
              <a:ext cx="1905000" cy="1352550"/>
            </a:xfrm>
            <a:prstGeom prst="rect">
              <a:avLst/>
            </a:prstGeom>
            <a:effectLst>
              <a:outerShdw blurRad="171450" dist="57150" dir="5400000" algn="ctr" rotWithShape="0">
                <a:srgbClr val="05070F">
                  <a:alpha val="15000"/>
                </a:srgbClr>
              </a:outerShdw>
            </a:effectLst>
          </p:spPr>
        </p:pic>
      </p:grpSp>
    </p:spTree>
  </p:cSld>
  <p:clrMapOvr>
    <a:masterClrMapping/>
  </p:clrMapOvr>
  <mc:AlternateContent>
    <mc:Choice Requires="p159">
      <p:transition p14:dur="120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par>
                          <p:cTn id="8" fill="hold">
                            <p:stCondLst>
                              <p:cond delay="500"/>
                            </p:stCondLst>
                            <p:childTnLst>
                              <p:par>
                                <p:cTn id="9" presetID="22" presetClass="entr" presetSubtype="2" fill="hold" grpId="0" nodeType="afterEffect">
                                  <p:stCondLst>
                                    <p:cond delay="120"/>
                                  </p:stCondLst>
                                  <p:childTnLst>
                                    <p:set>
                                      <p:cBhvr>
                                        <p:cTn id="10" dur="1" fill="hold">
                                          <p:stCondLst>
                                            <p:cond delay="0"/>
                                          </p:stCondLst>
                                        </p:cTn>
                                        <p:tgtEl>
                                          <p:spTgt spid="10"/>
                                        </p:tgtEl>
                                        <p:attrNameLst>
                                          <p:attrName>style.visibility</p:attrName>
                                        </p:attrNameLst>
                                      </p:cBhvr>
                                      <p:to>
                                        <p:strVal val="visible"/>
                                      </p:to>
                                    </p:set>
                                    <p:animEffect transition="in" filter="wipe(right)">
                                      <p:cBhvr>
                                        <p:cTn id="11" dur="900"/>
                                        <p:tgtEl>
                                          <p:spTgt spid="10"/>
                                        </p:tgtEl>
                                      </p:cBhvr>
                                    </p:animEffect>
                                  </p:childTnLst>
                                </p:cTn>
                              </p:par>
                            </p:childTnLst>
                          </p:cTn>
                        </p:par>
                        <p:par>
                          <p:cTn id="12" fill="hold">
                            <p:stCondLst>
                              <p:cond delay="1520"/>
                            </p:stCondLst>
                            <p:childTnLst>
                              <p:par>
                                <p:cTn id="13" presetID="10" presetClass="entr" presetSubtype="0" fill="hold" grpId="0" nodeType="afterEffect">
                                  <p:stCondLst>
                                    <p:cond delay="120"/>
                                  </p:stCondLst>
                                  <p:childTnLst>
                                    <p:set>
                                      <p:cBhvr>
                                        <p:cTn id="14" dur="1" fill="hold">
                                          <p:stCondLst>
                                            <p:cond delay="0"/>
                                          </p:stCondLst>
                                        </p:cTn>
                                        <p:tgtEl>
                                          <p:spTgt spid="12"/>
                                        </p:tgtEl>
                                        <p:attrNameLst>
                                          <p:attrName>style.visibility</p:attrName>
                                        </p:attrNameLst>
                                      </p:cBhvr>
                                      <p:to>
                                        <p:strVal val="visible"/>
                                      </p:to>
                                    </p:set>
                                    <p:animEffect transition="in" filter="fade">
                                      <p:cBhvr>
                                        <p:cTn id="15" dur="500"/>
                                        <p:tgtEl>
                                          <p:spTgt spid="12"/>
                                        </p:tgtEl>
                                      </p:cBhvr>
                                    </p:animEffect>
                                  </p:childTnLst>
                                </p:cTn>
                              </p:par>
                            </p:childTnLst>
                          </p:cTn>
                        </p:par>
                        <p:par>
                          <p:cTn id="16" fill="hold">
                            <p:stCondLst>
                              <p:cond delay="2140"/>
                            </p:stCondLst>
                            <p:childTnLst>
                              <p:par>
                                <p:cTn id="17" presetID="10" presetClass="entr" presetSubtype="0" fill="hold" grpId="0" nodeType="afterEffect">
                                  <p:stCondLst>
                                    <p:cond delay="30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600"/>
                                        <p:tgtEl>
                                          <p:spTgt spid="14"/>
                                        </p:tgtEl>
                                      </p:cBhvr>
                                    </p:animEffect>
                                  </p:childTnLst>
                                </p:cTn>
                              </p:par>
                            </p:childTnLst>
                          </p:cTn>
                        </p:par>
                        <p:par>
                          <p:cTn id="20" fill="hold">
                            <p:stCondLst>
                              <p:cond delay="3040"/>
                            </p:stCondLst>
                            <p:childTnLst>
                              <p:par>
                                <p:cTn id="21" presetID="55" presetClass="entr" presetSubtype="0" fill="hold" grpId="0" nodeType="afterEffect">
                                  <p:stCondLst>
                                    <p:cond delay="400"/>
                                  </p:stCondLst>
                                  <p:childTnLst>
                                    <p:set>
                                      <p:cBhvr>
                                        <p:cTn id="22" dur="1" fill="hold">
                                          <p:stCondLst>
                                            <p:cond delay="0"/>
                                          </p:stCondLst>
                                        </p:cTn>
                                        <p:tgtEl>
                                          <p:spTgt spid="18"/>
                                        </p:tgtEl>
                                        <p:attrNameLst>
                                          <p:attrName>style.visibility</p:attrName>
                                        </p:attrNameLst>
                                      </p:cBhvr>
                                      <p:to>
                                        <p:strVal val="visible"/>
                                      </p:to>
                                    </p:set>
                                    <p:anim calcmode="lin" valueType="num">
                                      <p:cBhvr>
                                        <p:cTn id="23" dur="600" fill="hold"/>
                                        <p:tgtEl>
                                          <p:spTgt spid="18"/>
                                        </p:tgtEl>
                                        <p:attrNameLst>
                                          <p:attrName>ppt_w</p:attrName>
                                        </p:attrNameLst>
                                      </p:cBhvr>
                                      <p:tavLst>
                                        <p:tav tm="0">
                                          <p:val>
                                            <p:strVal val="#ppt_w*0.70"/>
                                          </p:val>
                                        </p:tav>
                                        <p:tav tm="100000">
                                          <p:val>
                                            <p:strVal val="#ppt_w"/>
                                          </p:val>
                                        </p:tav>
                                      </p:tavLst>
                                    </p:anim>
                                    <p:anim calcmode="lin" valueType="num">
                                      <p:cBhvr>
                                        <p:cTn id="24" dur="600" fill="hold"/>
                                        <p:tgtEl>
                                          <p:spTgt spid="18"/>
                                        </p:tgtEl>
                                        <p:attrNameLst>
                                          <p:attrName>ppt_h</p:attrName>
                                        </p:attrNameLst>
                                      </p:cBhvr>
                                      <p:tavLst>
                                        <p:tav tm="0">
                                          <p:val>
                                            <p:strVal val="#ppt_h"/>
                                          </p:val>
                                        </p:tav>
                                        <p:tav tm="100000">
                                          <p:val>
                                            <p:strVal val="#ppt_h"/>
                                          </p:val>
                                        </p:tav>
                                      </p:tavLst>
                                    </p:anim>
                                    <p:animEffect transition="in" filter="fade">
                                      <p:cBhvr>
                                        <p:cTn id="25" dur="600"/>
                                        <p:tgtEl>
                                          <p:spTgt spid="18"/>
                                        </p:tgtEl>
                                      </p:cBhvr>
                                    </p:animEffect>
                                  </p:childTnLst>
                                </p:cTn>
                              </p:par>
                            </p:childTnLst>
                          </p:cTn>
                        </p:par>
                        <p:par>
                          <p:cTn id="26" fill="hold">
                            <p:stCondLst>
                              <p:cond delay="4040"/>
                            </p:stCondLst>
                            <p:childTnLst>
                              <p:par>
                                <p:cTn id="27" presetID="10" presetClass="entr" presetSubtype="0" fill="hold" grpId="0" nodeType="afterEffect">
                                  <p:stCondLst>
                                    <p:cond delay="12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3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pt169_mid_autumn_papercut">
  <a:themeElements>
    <a:clrScheme name="ppt169_mid_autumn_papercut">
      <a:dk1>
        <a:srgbClr val="F2ECE0"/>
      </a:dk1>
      <a:lt1>
        <a:srgbClr val="131A33"/>
      </a:lt1>
      <a:dk2>
        <a:srgbClr val="1F497D"/>
      </a:dk2>
      <a:lt2>
        <a:srgbClr val="1E2748"/>
      </a:lt2>
      <a:accent1>
        <a:srgbClr val="E8B04B"/>
      </a:accent1>
      <a:accent2>
        <a:srgbClr val="D4453A"/>
      </a:accent2>
      <a:accent3>
        <a:srgbClr val="7FA8C9"/>
      </a:accent3>
      <a:accent4>
        <a:srgbClr val="E8B04B"/>
      </a:accent4>
      <a:accent5>
        <a:srgbClr val="B9C2D8"/>
      </a:accent5>
      <a:accent6>
        <a:srgbClr val="33406B"/>
      </a:accent6>
      <a:hlink>
        <a:srgbClr val="D4453A"/>
      </a:hlink>
      <a:folHlink>
        <a:srgbClr val="7FA8C9"/>
      </a:folHlink>
    </a:clrScheme>
    <a:fontScheme name="ppt169_mid_autumn_papercut">
      <a:majorFont>
        <a:latin typeface="Georgia"/>
        <a:ea typeface="KaiTi"/>
        <a:cs typeface="Georgia"/>
        <a:font script="Jpan" typeface="KaiTi"/>
        <a:font script="Hang" typeface="KaiTi"/>
        <a:font script="Hans" typeface="KaiTi"/>
        <a:font script="Hant" typeface="KaiT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pt169_mid_autumn_papercu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ppt169_mid_autumn_papercut">
  <a:themeElements>
    <a:clrScheme name="ppt169_mid_autumn_papercut">
      <a:dk1>
        <a:srgbClr val="F2ECE0"/>
      </a:dk1>
      <a:lt1>
        <a:srgbClr val="131A33"/>
      </a:lt1>
      <a:dk2>
        <a:srgbClr val="1F497D"/>
      </a:dk2>
      <a:lt2>
        <a:srgbClr val="1E2748"/>
      </a:lt2>
      <a:accent1>
        <a:srgbClr val="E8B04B"/>
      </a:accent1>
      <a:accent2>
        <a:srgbClr val="D4453A"/>
      </a:accent2>
      <a:accent3>
        <a:srgbClr val="7FA8C9"/>
      </a:accent3>
      <a:accent4>
        <a:srgbClr val="E8B04B"/>
      </a:accent4>
      <a:accent5>
        <a:srgbClr val="B9C2D8"/>
      </a:accent5>
      <a:accent6>
        <a:srgbClr val="33406B"/>
      </a:accent6>
      <a:hlink>
        <a:srgbClr val="D4453A"/>
      </a:hlink>
      <a:folHlink>
        <a:srgbClr val="7FA8C9"/>
      </a:folHlink>
    </a:clrScheme>
    <a:fontScheme name="ppt169_mid_autumn_papercut">
      <a:majorFont>
        <a:latin typeface="Georgia"/>
        <a:ea typeface="KaiTi"/>
        <a:cs typeface="Georgia"/>
        <a:font script="Jpan" typeface="KaiTi"/>
        <a:font script="Hang" typeface="KaiTi"/>
        <a:font script="Hans" typeface="KaiTi"/>
        <a:font script="Hant" typeface="KaiT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pt169_mid_autumn_papercu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16</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zh-CN</dc:language>
  <cp:lastModifiedBy/>
  <cp:revision>1</cp:revision>
  <dcterms:created xsi:type="dcterms:W3CDTF">2026-09-02T14:06:44Z</dcterms:created>
  <dcterms:modified xsi:type="dcterms:W3CDTF">2026-09-02T14:06:44Z</dcterms:modified>
  <cp:category/>
  <cp:contentStatus/>
</cp:coreProperties>
</file>