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1101.xml" ContentType="application/vnd.openxmlformats-officedocument.drawingml.chart+xml"/>
  <Override PartName="/ppt/charts/chart401.xml" ContentType="application/vnd.openxmlformats-officedocument.drawingml.chart+xml"/>
  <Override PartName="/ppt/charts/chart501.xml" ContentType="application/vnd.openxmlformats-officedocument.drawingml.chart+xml"/>
  <Override PartName="/ppt/charts/chart502.xml" ContentType="application/vnd.openxmlformats-officedocument.drawingml.chart+xml"/>
  <Override PartName="/ppt/charts/chart503.xml" ContentType="application/vnd.openxmlformats-officedocument.drawingml.chart+xml"/>
  <Override PartName="/ppt/charts/chart601.xml" ContentType="application/vnd.openxmlformats-officedocument.drawingml.chart+xml"/>
  <Override PartName="/ppt/charts/chart701.xml" ContentType="application/vnd.openxmlformats-officedocument.drawingml.chart+xml"/>
  <Override PartName="/ppt/charts/chart801.xml" ContentType="application/vnd.openxmlformats-officedocument.drawingml.chart+xml"/>
  <Override PartName="/ppt/charts/chartEx301.xml" ContentType="application/vnd.ms-office.chartex+xml"/>
  <Override PartName="/ppt/charts/colors301.xml" ContentType="application/vnd.ms-office.chartcolorstyle+xml"/>
  <Override PartName="/ppt/charts/style301.xml" ContentType="application/vnd.ms-office.chartstyl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
</Relationships>
</file>

<file path=ppt/charts/_rels/chart4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401.xlsx"/>
</Relationships>
</file>

<file path=ppt/charts/_rels/chart5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501.xlsx"/>
</Relationships>
</file>

<file path=ppt/charts/_rels/chart502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502.xlsx"/>
</Relationships>
</file>

<file path=ppt/charts/_rels/chart503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503.xlsx"/>
</Relationships>
</file>

<file path=ppt/charts/_rels/chart6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601.xlsx"/>
</Relationships>
</file>

<file path=ppt/charts/_rels/chart7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701.xlsx"/>
</Relationships>
</file>

<file path=ppt/charts/_rels/chart8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801.xlsx"/>
</Relationships>
</file>

<file path=ppt/charts/_rels/chart11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101.xlsx"/>
</Relationships>
</file>

<file path=ppt/charts/_rels/chartEx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301.xlsx"/>
<Relationship Id="rId2" Type="http://schemas.microsoft.com/office/2011/relationships/chartStyle" Target="style301.xml"/>
<Relationship Id="rId3" Type="http://schemas.microsoft.com/office/2011/relationships/chartColorStyle" Target="colors301.xml"/>
</Relationships>
</file>

<file path=ppt/charts/chart4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46527777778"/>
          <c:y val="0.0606060606061"/>
          <c:w val="0.911458333333"/>
          <c:h val="0.81818181818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净销售额合计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7BA7D4"/>
              </a:solidFill>
              <a:ln>
                <a:solidFill>
                  <a:srgbClr val="7BA7D4"/>
                </a:solidFill>
              </a:ln>
            </c:spPr>
          </c:dPt>
          <c:dPt>
            <c:idx val="1"/>
            <c:invertIfNegative val="0"/>
            <c:spPr>
              <a:solidFill>
                <a:srgbClr val="7BA7D4"/>
              </a:solidFill>
              <a:ln>
                <a:solidFill>
                  <a:srgbClr val="7BA7D4"/>
                </a:solidFill>
              </a:ln>
            </c:spPr>
          </c:dPt>
          <c:dPt>
            <c:idx val="2"/>
            <c:invertIfNegative val="0"/>
            <c:spPr>
              <a:solidFill>
                <a:srgbClr val="7BA7D4"/>
              </a:solidFill>
              <a:ln>
                <a:solidFill>
                  <a:srgbClr val="7BA7D4"/>
                </a:solidFill>
              </a:ln>
            </c:spPr>
          </c:dPt>
          <c:dPt>
            <c:idx val="3"/>
            <c:invertIfNegative val="0"/>
            <c:spPr>
              <a:solidFill>
                <a:srgbClr val="7BA7D4"/>
              </a:solidFill>
              <a:ln>
                <a:solidFill>
                  <a:srgbClr val="7BA7D4"/>
                </a:solidFill>
              </a:ln>
            </c:spPr>
          </c:dPt>
          <c:dPt>
            <c:idx val="4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5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6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7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cat>
            <c:strRef>
              <c:f>Sheet1!$A$2:$A$9</c:f>
              <c:strCache>
                <c:ptCount val="8"/>
                <c:pt idx="0">
                  <c:v>FY24 Q1</c:v>
                </c:pt>
                <c:pt idx="1">
                  <c:v>FY24 Q2</c:v>
                </c:pt>
                <c:pt idx="2">
                  <c:v>FY24 Q3</c:v>
                </c:pt>
                <c:pt idx="3">
                  <c:v>FY24 Q4</c:v>
                </c:pt>
                <c:pt idx="4">
                  <c:v>FY25 Q1</c:v>
                </c:pt>
                <c:pt idx="5">
                  <c:v>FY25 Q2</c:v>
                </c:pt>
                <c:pt idx="6">
                  <c:v>FY25 Q3</c:v>
                </c:pt>
                <c:pt idx="7">
                  <c:v>FY25 Q4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119575</c:v>
                </c:pt>
                <c:pt idx="1">
                  <c:v>90753</c:v>
                </c:pt>
                <c:pt idx="2">
                  <c:v>85777</c:v>
                </c:pt>
                <c:pt idx="3">
                  <c:v>94930</c:v>
                </c:pt>
                <c:pt idx="4">
                  <c:v>124300</c:v>
                </c:pt>
                <c:pt idx="5">
                  <c:v>95359</c:v>
                </c:pt>
                <c:pt idx="6">
                  <c:v>94036</c:v>
                </c:pt>
                <c:pt idx="7">
                  <c:v>102466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lang="zh-CN" sz="135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1"/>
        <c:axPos val="l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chemeClr val="accent1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5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523255813953"/>
          <c:y val="0.0555555555556"/>
          <c:w val="0.93023255814"/>
          <c:h val="0.67901234567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服务净销售额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7BA7D4"/>
              </a:solidFill>
              <a:ln>
                <a:solidFill>
                  <a:srgbClr val="7BA7D4"/>
                </a:solidFill>
              </a:ln>
            </c:spPr>
          </c:dPt>
          <c:dPt>
            <c:idx val="1"/>
            <c:invertIfNegative val="0"/>
            <c:spPr>
              <a:solidFill>
                <a:srgbClr val="7BA7D4"/>
              </a:solidFill>
              <a:ln>
                <a:solidFill>
                  <a:srgbClr val="7BA7D4"/>
                </a:solidFill>
              </a:ln>
            </c:spPr>
          </c:dPt>
          <c:dPt>
            <c:idx val="2"/>
            <c:invertIfNegative val="0"/>
            <c:spPr>
              <a:solidFill>
                <a:srgbClr val="7BA7D4"/>
              </a:solidFill>
              <a:ln>
                <a:solidFill>
                  <a:srgbClr val="7BA7D4"/>
                </a:solidFill>
              </a:ln>
            </c:spPr>
          </c:dPt>
          <c:dPt>
            <c:idx val="3"/>
            <c:invertIfNegative val="0"/>
            <c:spPr>
              <a:solidFill>
                <a:srgbClr val="7BA7D4"/>
              </a:solidFill>
              <a:ln>
                <a:solidFill>
                  <a:srgbClr val="7BA7D4"/>
                </a:solidFill>
              </a:ln>
            </c:spPr>
          </c:dPt>
          <c:dPt>
            <c:idx val="4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5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6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7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cat>
            <c:strRef>
              <c:f>Sheet1!$A$2:$A$9</c:f>
              <c:strCache>
                <c:ptCount val="8"/>
                <c:pt idx="0">
                  <c:v>FY24 Q1</c:v>
                </c:pt>
                <c:pt idx="1">
                  <c:v>FY24 Q2</c:v>
                </c:pt>
                <c:pt idx="2">
                  <c:v>FY24 Q3</c:v>
                </c:pt>
                <c:pt idx="3">
                  <c:v>FY24 Q4</c:v>
                </c:pt>
                <c:pt idx="4">
                  <c:v>FY25 Q1</c:v>
                </c:pt>
                <c:pt idx="5">
                  <c:v>FY25 Q2</c:v>
                </c:pt>
                <c:pt idx="6">
                  <c:v>FY25 Q3</c:v>
                </c:pt>
                <c:pt idx="7">
                  <c:v>FY25 Q4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23117</c:v>
                </c:pt>
                <c:pt idx="1">
                  <c:v>23867</c:v>
                </c:pt>
                <c:pt idx="2">
                  <c:v>24213</c:v>
                </c:pt>
                <c:pt idx="3">
                  <c:v>24972</c:v>
                </c:pt>
                <c:pt idx="4">
                  <c:v>26340</c:v>
                </c:pt>
                <c:pt idx="5">
                  <c:v>26645</c:v>
                </c:pt>
                <c:pt idx="6">
                  <c:v>27423</c:v>
                </c:pt>
                <c:pt idx="7">
                  <c:v>28750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lang="zh-CN" sz="135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2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1"/>
        <c:axPos val="l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rgbClr val="64748B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5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20192307692"/>
          <c:y val="0.126315789474"/>
          <c:w val="0.769230769231"/>
          <c:h val="0.70526315789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服务</c:v>
                </c:pt>
              </c:strCache>
            </c:strRef>
          </c:tx>
          <c:spPr>
            <a:solidFill>
              <a:schemeClr val="accent2"/>
            </a:solidFill>
            <a:ln w="28575">
              <a:solidFill>
                <a:schemeClr val="accent2"/>
              </a:solidFill>
            </a:ln>
          </c:spPr>
          <c:marker>
            <c:symbol val="circle"/>
            <c:size val="8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72.8</c:v>
                </c:pt>
                <c:pt idx="1">
                  <c:v>74.6</c:v>
                </c:pt>
                <c:pt idx="2">
                  <c:v>74</c:v>
                </c:pt>
                <c:pt idx="3">
                  <c:v>74</c:v>
                </c:pt>
                <c:pt idx="4">
                  <c:v>75</c:v>
                </c:pt>
                <c:pt idx="5">
                  <c:v>75.7</c:v>
                </c:pt>
                <c:pt idx="6">
                  <c:v>75.6</c:v>
                </c:pt>
                <c:pt idx="7">
                  <c:v>75.3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产品</c:v>
                </c:pt>
              </c:strCache>
            </c:strRef>
          </c:tx>
          <c:spPr>
            <a:solidFill>
              <a:srgbClr val="94A3B8"/>
            </a:solidFill>
            <a:ln w="28575">
              <a:solidFill>
                <a:srgbClr val="94A3B8"/>
              </a:solidFill>
            </a:ln>
          </c:spPr>
          <c:marker>
            <c:symbol val="circle"/>
            <c:size val="8"/>
            <c:spPr>
              <a:solidFill>
                <a:srgbClr val="94A3B8"/>
              </a:solidFill>
              <a:ln>
                <a:solidFill>
                  <a:srgbClr val="94A3B8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39.4</c:v>
                </c:pt>
                <c:pt idx="1">
                  <c:v>36.6</c:v>
                </c:pt>
                <c:pt idx="2">
                  <c:v>35.3</c:v>
                </c:pt>
                <c:pt idx="3">
                  <c:v>36.3</c:v>
                </c:pt>
                <c:pt idx="4">
                  <c:v>39.3</c:v>
                </c:pt>
                <c:pt idx="5">
                  <c:v>35.9</c:v>
                </c:pt>
                <c:pt idx="6">
                  <c:v>34.5</c:v>
                </c:pt>
                <c:pt idx="7">
                  <c:v>36.2</c:v>
                </c:pt>
              </c:numCache>
            </c:numRef>
          </c:val>
          <c:smooth val="0"/>
        </c:ser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rgbClr val="64748B"/>
                </a:solidFill>
                <a:latin typeface="Consolas"/>
                <a:ea typeface="Microsoft YaHei"/>
                <a:cs typeface="Consolas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80"/>
          <c:min val="30"/>
        </c:scaling>
        <c:delete val="0"/>
        <c:axPos val="l"/>
        <c:majorGridlines>
          <c:spPr>
            <a:ln w="6350" cap="flat" cmpd="sng" algn="ctr">
              <a:solidFill>
                <a:srgbClr val="E8EDF2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rgbClr val="64748B"/>
                </a:solidFill>
                <a:latin typeface="Consolas"/>
                <a:ea typeface="Microsoft YaHei"/>
                <a:cs typeface="Consolas"/>
              </a:defRPr>
            </a:pPr>
            <a:endParaRPr lang="zh-CN"/>
          </a:p>
        </c:txPr>
        <c:crossAx val="2068027336"/>
        <c:crosses val="autoZero"/>
        <c:crossBetween val="midCat"/>
        <c:majorUnit val="1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lang="zh-CN" sz="1200">
              <a:solidFill>
                <a:srgbClr val="64748B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zh-CN" sz="1050">
          <a:solidFill>
            <a:srgbClr val="64748B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5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336538461538"/>
          <c:y val="0.0869565217391"/>
          <c:w val="0.625"/>
          <c:h val="0.84782608695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服务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收入增量</c:v>
                </c:pt>
                <c:pt idx="1">
                  <c:v>毛利增量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51.7</c:v>
                </c:pt>
                <c:pt idx="1">
                  <c:v>77.6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产品</c:v>
                </c:pt>
              </c:strCache>
            </c:strRef>
          </c:tx>
          <c:spPr>
            <a:solidFill>
              <a:srgbClr val="7BA7D4"/>
            </a:solidFill>
            <a:ln>
              <a:solidFill>
                <a:srgbClr val="7BA7D4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收入增量</c:v>
                </c:pt>
                <c:pt idx="1">
                  <c:v>毛利增量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48.3</c:v>
                </c:pt>
                <c:pt idx="1">
                  <c:v>22.4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zh-CN" sz="12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defRPr>
              </a:pPr>
              <a:endParaRPr lang="zh-CN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1"/>
        <c:axPos val="b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max"/>
        <c:crossBetween val="between"/>
      </c:valAx>
      <c:spPr>
        <a:noFill/>
        <a:ln>
          <a:noFill/>
        </a:ln>
      </c:spPr>
    </c:plotArea>
    <c:plotVisOnly val="1"/>
    <c:dispBlanksAs val="gap"/>
  </c:chart>
  <c:spPr>
    <a:solidFill>
      <a:schemeClr val="accent2"/>
    </a:solidFill>
    <a:ln>
      <a:noFill/>
    </a:ln>
  </c:spPr>
  <c:txPr>
    <a:bodyPr/>
    <a:lstStyle/>
    <a:p>
      <a:pPr>
        <a:defRPr lang="zh-CN" sz="1200">
          <a:solidFill>
            <a:srgbClr val="FFFFFF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6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7"/>
          <c:y val="0.139784946237"/>
          <c:w val="0.6375"/>
          <c:h val="0.860215053763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FY2025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1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2"/>
            <c:invertIfNegative val="0"/>
            <c:spPr>
              <a:solidFill>
                <a:srgbClr val="B4342C"/>
              </a:solidFill>
              <a:ln>
                <a:solidFill>
                  <a:srgbClr val="B4342C"/>
                </a:solidFill>
              </a:ln>
            </c:spPr>
          </c:dPt>
          <c:dPt>
            <c:idx val="3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4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iPhone</c:v>
                </c:pt>
                <c:pt idx="1">
                  <c:v>服务</c:v>
                </c:pt>
                <c:pt idx="2">
                  <c:v>可穿戴、家居及配件</c:v>
                </c:pt>
                <c:pt idx="3">
                  <c:v>Mac</c:v>
                </c:pt>
                <c:pt idx="4">
                  <c:v>iPad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209586</c:v>
                </c:pt>
                <c:pt idx="1">
                  <c:v>109158</c:v>
                </c:pt>
                <c:pt idx="2">
                  <c:v>35686</c:v>
                </c:pt>
                <c:pt idx="3">
                  <c:v>33708</c:v>
                </c:pt>
                <c:pt idx="4">
                  <c:v>28023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FY2024</c:v>
                </c:pt>
              </c:strCache>
            </c:strRef>
          </c:tx>
          <c:spPr>
            <a:solidFill>
              <a:srgbClr val="7BA7D4"/>
            </a:solidFill>
            <a:ln>
              <a:solidFill>
                <a:srgbClr val="7BA7D4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iPhone</c:v>
                </c:pt>
                <c:pt idx="1">
                  <c:v>服务</c:v>
                </c:pt>
                <c:pt idx="2">
                  <c:v>可穿戴、家居及配件</c:v>
                </c:pt>
                <c:pt idx="3">
                  <c:v>Mac</c:v>
                </c:pt>
                <c:pt idx="4">
                  <c:v>iPad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201183</c:v>
                </c:pt>
                <c:pt idx="1">
                  <c:v>96169</c:v>
                </c:pt>
                <c:pt idx="2">
                  <c:v>37005</c:v>
                </c:pt>
                <c:pt idx="3">
                  <c:v>29984</c:v>
                </c:pt>
                <c:pt idx="4">
                  <c:v>26694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lang="zh-CN" sz="135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3"/>
        <c:overlap val="-18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max"/>
        <c:crossBetween val="between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lang="zh-CN" sz="1350">
              <a:solidFill>
                <a:schemeClr val="accent1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chemeClr val="accent1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7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0663507109"/>
          <c:y val="0.010582010582"/>
          <c:w val="0.864928909953"/>
          <c:h val="0.79365079365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美洲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FY24 Q1</c:v>
                </c:pt>
                <c:pt idx="1">
                  <c:v>FY24 Q2</c:v>
                </c:pt>
                <c:pt idx="2">
                  <c:v>FY24 Q3</c:v>
                </c:pt>
                <c:pt idx="3">
                  <c:v>FY24 Q4</c:v>
                </c:pt>
                <c:pt idx="4">
                  <c:v>FY25 Q1</c:v>
                </c:pt>
                <c:pt idx="5">
                  <c:v>FY25 Q2</c:v>
                </c:pt>
                <c:pt idx="6">
                  <c:v>FY25 Q3</c:v>
                </c:pt>
                <c:pt idx="7">
                  <c:v>FY25 Q4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50430</c:v>
                </c:pt>
                <c:pt idx="1">
                  <c:v>37273</c:v>
                </c:pt>
                <c:pt idx="2">
                  <c:v>37678</c:v>
                </c:pt>
                <c:pt idx="3">
                  <c:v>41664</c:v>
                </c:pt>
                <c:pt idx="4">
                  <c:v>52648</c:v>
                </c:pt>
                <c:pt idx="5">
                  <c:v>40315</c:v>
                </c:pt>
                <c:pt idx="6">
                  <c:v>41198</c:v>
                </c:pt>
                <c:pt idx="7">
                  <c:v>44192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欧洲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FY24 Q1</c:v>
                </c:pt>
                <c:pt idx="1">
                  <c:v>FY24 Q2</c:v>
                </c:pt>
                <c:pt idx="2">
                  <c:v>FY24 Q3</c:v>
                </c:pt>
                <c:pt idx="3">
                  <c:v>FY24 Q4</c:v>
                </c:pt>
                <c:pt idx="4">
                  <c:v>FY25 Q1</c:v>
                </c:pt>
                <c:pt idx="5">
                  <c:v>FY25 Q2</c:v>
                </c:pt>
                <c:pt idx="6">
                  <c:v>FY25 Q3</c:v>
                </c:pt>
                <c:pt idx="7">
                  <c:v>FY25 Q4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30397</c:v>
                </c:pt>
                <c:pt idx="1">
                  <c:v>24123</c:v>
                </c:pt>
                <c:pt idx="2">
                  <c:v>21884</c:v>
                </c:pt>
                <c:pt idx="3">
                  <c:v>24924</c:v>
                </c:pt>
                <c:pt idx="4">
                  <c:v>33861</c:v>
                </c:pt>
                <c:pt idx="5">
                  <c:v>24454</c:v>
                </c:pt>
                <c:pt idx="6">
                  <c:v>24014</c:v>
                </c:pt>
                <c:pt idx="7">
                  <c:v>28703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大中华区</c:v>
                </c:pt>
              </c:strCache>
            </c:strRef>
          </c:tx>
          <c:spPr>
            <a:solidFill>
              <a:srgbClr val="B4342C"/>
            </a:solidFill>
            <a:ln>
              <a:solidFill>
                <a:srgbClr val="B4342C"/>
              </a:solidFill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FY24 Q1</c:v>
                </c:pt>
                <c:pt idx="1">
                  <c:v>FY24 Q2</c:v>
                </c:pt>
                <c:pt idx="2">
                  <c:v>FY24 Q3</c:v>
                </c:pt>
                <c:pt idx="3">
                  <c:v>FY24 Q4</c:v>
                </c:pt>
                <c:pt idx="4">
                  <c:v>FY25 Q1</c:v>
                </c:pt>
                <c:pt idx="5">
                  <c:v>FY25 Q2</c:v>
                </c:pt>
                <c:pt idx="6">
                  <c:v>FY25 Q3</c:v>
                </c:pt>
                <c:pt idx="7">
                  <c:v>FY25 Q4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20819</c:v>
                </c:pt>
                <c:pt idx="1">
                  <c:v>16372</c:v>
                </c:pt>
                <c:pt idx="2">
                  <c:v>14728</c:v>
                </c:pt>
                <c:pt idx="3">
                  <c:v>15033</c:v>
                </c:pt>
                <c:pt idx="4">
                  <c:v>18513</c:v>
                </c:pt>
                <c:pt idx="5">
                  <c:v>16002</c:v>
                </c:pt>
                <c:pt idx="6">
                  <c:v>15369</c:v>
                </c:pt>
                <c:pt idx="7">
                  <c:v>14493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日本</c:v>
                </c:pt>
              </c:strCache>
            </c:strRef>
          </c:tx>
          <c:spPr>
            <a:solidFill>
              <a:srgbClr val="7BA7D4"/>
            </a:solidFill>
            <a:ln>
              <a:solidFill>
                <a:srgbClr val="7BA7D4"/>
              </a:solidFill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FY24 Q1</c:v>
                </c:pt>
                <c:pt idx="1">
                  <c:v>FY24 Q2</c:v>
                </c:pt>
                <c:pt idx="2">
                  <c:v>FY24 Q3</c:v>
                </c:pt>
                <c:pt idx="3">
                  <c:v>FY24 Q4</c:v>
                </c:pt>
                <c:pt idx="4">
                  <c:v>FY25 Q1</c:v>
                </c:pt>
                <c:pt idx="5">
                  <c:v>FY25 Q2</c:v>
                </c:pt>
                <c:pt idx="6">
                  <c:v>FY25 Q3</c:v>
                </c:pt>
                <c:pt idx="7">
                  <c:v>FY25 Q4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7767</c:v>
                </c:pt>
                <c:pt idx="1">
                  <c:v>6262</c:v>
                </c:pt>
                <c:pt idx="2">
                  <c:v>5097</c:v>
                </c:pt>
                <c:pt idx="3">
                  <c:v>5926</c:v>
                </c:pt>
                <c:pt idx="4">
                  <c:v>8987</c:v>
                </c:pt>
                <c:pt idx="5">
                  <c:v>7298</c:v>
                </c:pt>
                <c:pt idx="6">
                  <c:v>5782</c:v>
                </c:pt>
                <c:pt idx="7">
                  <c:v>6636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亚太其他地区</c:v>
                </c:pt>
              </c:strCache>
            </c:strRef>
          </c:tx>
          <c:spPr>
            <a:solidFill>
              <a:srgbClr val="94A3B8"/>
            </a:solidFill>
            <a:ln>
              <a:solidFill>
                <a:srgbClr val="94A3B8"/>
              </a:solidFill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FY24 Q1</c:v>
                </c:pt>
                <c:pt idx="1">
                  <c:v>FY24 Q2</c:v>
                </c:pt>
                <c:pt idx="2">
                  <c:v>FY24 Q3</c:v>
                </c:pt>
                <c:pt idx="3">
                  <c:v>FY24 Q4</c:v>
                </c:pt>
                <c:pt idx="4">
                  <c:v>FY25 Q1</c:v>
                </c:pt>
                <c:pt idx="5">
                  <c:v>FY25 Q2</c:v>
                </c:pt>
                <c:pt idx="6">
                  <c:v>FY25 Q3</c:v>
                </c:pt>
                <c:pt idx="7">
                  <c:v>FY25 Q4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10162</c:v>
                </c:pt>
                <c:pt idx="1">
                  <c:v>6723</c:v>
                </c:pt>
                <c:pt idx="2">
                  <c:v>6390</c:v>
                </c:pt>
                <c:pt idx="3">
                  <c:v>7383</c:v>
                </c:pt>
                <c:pt idx="4">
                  <c:v>10291</c:v>
                </c:pt>
                <c:pt idx="5">
                  <c:v>7290</c:v>
                </c:pt>
                <c:pt idx="6">
                  <c:v>7673</c:v>
                </c:pt>
                <c:pt idx="7">
                  <c:v>8442</c:v>
                </c:pt>
              </c:numCache>
            </c:numRef>
          </c:val>
        </c:ser>
        <c:gapWidth val="63"/>
        <c:overlap val="10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30000"/>
          <c:min val="0"/>
        </c:scaling>
        <c:delete val="0"/>
        <c:axPos val="l"/>
        <c:majorGridlines>
          <c:spPr>
            <a:ln w="6350" cap="flat" cmpd="sng" algn="ctr">
              <a:solidFill>
                <a:srgbClr val="E8EDF2"/>
              </a:solidFill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64748B"/>
                </a:solidFill>
                <a:latin typeface="Consolas"/>
                <a:ea typeface="Microsoft YaHei"/>
                <a:cs typeface="Consolas"/>
              </a:defRPr>
            </a:pPr>
            <a:endParaRPr lang="zh-CN"/>
          </a:p>
        </c:txPr>
        <c:crossAx val="2068027336"/>
        <c:crosses val="autoZero"/>
        <c:crossBetween val="between"/>
        <c:majorUnit val="40000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lang="zh-CN" sz="1350">
              <a:solidFill>
                <a:srgbClr val="64748B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rgbClr val="64748B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8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03365384615"/>
          <c:y val="0.0432098765432"/>
          <c:w val="0.841346153846"/>
          <c:h val="0.8333333333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大中华区净销售额</c:v>
                </c:pt>
              </c:strCache>
            </c:strRef>
          </c:tx>
          <c:spPr>
            <a:solidFill>
              <a:srgbClr val="B4342C"/>
            </a:solidFill>
            <a:ln w="28575">
              <a:solidFill>
                <a:srgbClr val="B4342C"/>
              </a:solidFill>
            </a:ln>
          </c:spPr>
          <c:marker>
            <c:symbol val="circle"/>
            <c:size val="9"/>
            <c:spPr>
              <a:solidFill>
                <a:srgbClr val="B4342C"/>
              </a:solidFill>
              <a:ln>
                <a:solidFill>
                  <a:srgbClr val="B4342C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FY24 Q1</c:v>
                </c:pt>
                <c:pt idx="1">
                  <c:v>FY24 Q2</c:v>
                </c:pt>
                <c:pt idx="2">
                  <c:v>FY24 Q3</c:v>
                </c:pt>
                <c:pt idx="3">
                  <c:v>FY24 Q4</c:v>
                </c:pt>
                <c:pt idx="4">
                  <c:v>FY25 Q1</c:v>
                </c:pt>
                <c:pt idx="5">
                  <c:v>FY25 Q2</c:v>
                </c:pt>
                <c:pt idx="6">
                  <c:v>FY25 Q3</c:v>
                </c:pt>
                <c:pt idx="7">
                  <c:v>FY25 Q4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20819</c:v>
                </c:pt>
                <c:pt idx="1">
                  <c:v>16372</c:v>
                </c:pt>
                <c:pt idx="2">
                  <c:v>14728</c:v>
                </c:pt>
                <c:pt idx="3">
                  <c:v>15033</c:v>
                </c:pt>
                <c:pt idx="4">
                  <c:v>18513</c:v>
                </c:pt>
                <c:pt idx="5">
                  <c:v>16002</c:v>
                </c:pt>
                <c:pt idx="6">
                  <c:v>15369</c:v>
                </c:pt>
                <c:pt idx="7">
                  <c:v>14493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lang="zh-CN" sz="135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defRPr>
              </a:pPr>
              <a:endParaRPr lang="zh-CN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24000"/>
          <c:min val="0"/>
        </c:scaling>
        <c:delete val="0"/>
        <c:axPos val="l"/>
        <c:majorGridlines>
          <c:spPr>
            <a:ln w="6350" cap="flat" cmpd="sng" algn="ctr">
              <a:solidFill>
                <a:srgbClr val="E8EDF2"/>
              </a:solidFill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64748B"/>
                </a:solidFill>
                <a:latin typeface="Consolas"/>
                <a:ea typeface="Microsoft YaHei"/>
                <a:cs typeface="Consolas"/>
              </a:defRPr>
            </a:pPr>
            <a:endParaRPr lang="zh-CN"/>
          </a:p>
        </c:txPr>
        <c:crossAx val="2068027336"/>
        <c:crosses val="autoZero"/>
        <c:crossBetween val="midCat"/>
        <c:majorUnit val="6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rgbClr val="64748B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1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80487804878"/>
          <c:y val="0.136904761905"/>
          <c:w val="0.80487804878"/>
          <c:h val="0.74404761904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研发费用占收入 %</c:v>
                </c:pt>
              </c:strCache>
            </c:strRef>
          </c:tx>
          <c:spPr>
            <a:solidFill>
              <a:schemeClr val="accent2"/>
            </a:solidFill>
            <a:ln w="28575">
              <a:solidFill>
                <a:schemeClr val="accent2"/>
              </a:solidFill>
            </a:ln>
          </c:spPr>
          <c:marker>
            <c:symbol val="circle"/>
            <c:size val="9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FY24 Q1</c:v>
                </c:pt>
                <c:pt idx="1">
                  <c:v>FY24 Q2</c:v>
                </c:pt>
                <c:pt idx="2">
                  <c:v>FY24 Q3</c:v>
                </c:pt>
                <c:pt idx="3">
                  <c:v>FY24 Q4</c:v>
                </c:pt>
                <c:pt idx="4">
                  <c:v>FY25 Q1</c:v>
                </c:pt>
                <c:pt idx="5">
                  <c:v>FY25 Q2</c:v>
                </c:pt>
                <c:pt idx="6">
                  <c:v>FY25 Q3</c:v>
                </c:pt>
                <c:pt idx="7">
                  <c:v>FY25 Q4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6.4</c:v>
                </c:pt>
                <c:pt idx="1">
                  <c:v>8.7</c:v>
                </c:pt>
                <c:pt idx="2">
                  <c:v>9.3</c:v>
                </c:pt>
                <c:pt idx="3">
                  <c:v>8.2</c:v>
                </c:pt>
                <c:pt idx="4">
                  <c:v>6.7</c:v>
                </c:pt>
                <c:pt idx="5">
                  <c:v>9</c:v>
                </c:pt>
                <c:pt idx="6">
                  <c:v>9.4</c:v>
                </c:pt>
                <c:pt idx="7">
                  <c:v>8.7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销售及管理费用占收入 %</c:v>
                </c:pt>
              </c:strCache>
            </c:strRef>
          </c:tx>
          <c:spPr>
            <a:solidFill>
              <a:srgbClr val="94A3B8"/>
            </a:solidFill>
            <a:ln w="28575">
              <a:solidFill>
                <a:srgbClr val="94A3B8"/>
              </a:solidFill>
            </a:ln>
          </c:spPr>
          <c:marker>
            <c:symbol val="circle"/>
            <c:size val="9"/>
            <c:spPr>
              <a:solidFill>
                <a:srgbClr val="94A3B8"/>
              </a:solidFill>
              <a:ln>
                <a:solidFill>
                  <a:srgbClr val="94A3B8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FY24 Q1</c:v>
                </c:pt>
                <c:pt idx="1">
                  <c:v>FY24 Q2</c:v>
                </c:pt>
                <c:pt idx="2">
                  <c:v>FY24 Q3</c:v>
                </c:pt>
                <c:pt idx="3">
                  <c:v>FY24 Q4</c:v>
                </c:pt>
                <c:pt idx="4">
                  <c:v>FY25 Q1</c:v>
                </c:pt>
                <c:pt idx="5">
                  <c:v>FY25 Q2</c:v>
                </c:pt>
                <c:pt idx="6">
                  <c:v>FY25 Q3</c:v>
                </c:pt>
                <c:pt idx="7">
                  <c:v>FY25 Q4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5.7</c:v>
                </c:pt>
                <c:pt idx="1">
                  <c:v>7.1</c:v>
                </c:pt>
                <c:pt idx="2">
                  <c:v>7.4</c:v>
                </c:pt>
                <c:pt idx="3">
                  <c:v>6.9</c:v>
                </c:pt>
                <c:pt idx="4">
                  <c:v>5.8</c:v>
                </c:pt>
                <c:pt idx="5">
                  <c:v>7.1</c:v>
                </c:pt>
                <c:pt idx="6">
                  <c:v>7.1</c:v>
                </c:pt>
                <c:pt idx="7">
                  <c:v>6.9</c:v>
                </c:pt>
              </c:numCache>
            </c:numRef>
          </c:val>
          <c:smooth val="0"/>
        </c:ser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"/>
          <c:min val="0"/>
        </c:scaling>
        <c:delete val="0"/>
        <c:axPos val="l"/>
        <c:majorGridlines>
          <c:spPr>
            <a:ln w="6350" cap="flat" cmpd="sng" algn="ctr">
              <a:solidFill>
                <a:srgbClr val="E8EDF2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64748B"/>
                </a:solidFill>
                <a:latin typeface="Consolas"/>
                <a:ea typeface="Microsoft YaHei"/>
                <a:cs typeface="Consolas"/>
              </a:defRPr>
            </a:pPr>
            <a:endParaRPr lang="zh-CN"/>
          </a:p>
        </c:txPr>
        <c:crossAx val="2068027336"/>
        <c:crosses val="autoZero"/>
        <c:crossBetween val="midCat"/>
        <c:majorUnit val="2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lang="zh-CN" sz="1350">
              <a:solidFill>
                <a:srgbClr val="64748B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rgbClr val="64748B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Ex30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Sheet1!$A$2:$A$4</cx:f>
        <cx:lvl ptCount="3">
          <cx:pt idx="0">产品贡献</cx:pt>
          <cx:pt idx="1">服务贡献</cx:pt>
          <cx:pt idx="2">增量合计</cx:pt>
        </cx:lvl>
      </cx:strDim>
      <cx:numDim type="val">
        <cx:f>Sheet1!$B$2:$B$4</cx:f>
        <cx:lvl ptCount="3" formatCode="General">
          <cx:pt idx="0">12137</cx:pt>
          <cx:pt idx="1">12989</cx:pt>
          <cx:pt idx="2">25126</cx:pt>
        </cx:lvl>
      </cx:numDim>
    </cx:data>
  </cx:chartData>
  <cx:chart>
    <cx:plotArea>
      <cx:plotAreaRegion>
        <cx:series layoutId="waterfall" uniqueId="{00000000-0000-4000-8000-000000000001}">
          <cx:tx>
            <cx:txData>
              <cx:f>Sheet1!$B$1</cx:f>
              <cx:v>revenue-bridge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2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</cx:chart>
</cx:chartSpace>
</file>

<file path=ppt/charts/colors301.xml><?xml version="1.0" encoding="utf-8"?>
<cs:colorStyle xmlns:cs="http://schemas.microsoft.com/office/drawing/2012/chartStyle" xmlns:a="http://schemas.openxmlformats.org/drawingml/2006/main" meth="cycle" id="10">
  <a:srgbClr val="7BA7D4"/>
  <a:schemeClr val="accent2"/>
  <a:schemeClr val="accent1"/>
</cs:colorStyle>
</file>

<file path=ppt/charts/style301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FY2025 苹果净销售额 416,161 百万美元,比 FY2024 的 391,035 增加 25,126,同比 +6.43%(25,126 ÷ 391,035 = 6.43%)。今天这份复盘只回答一个问题:这 25,126 是谁带来的。答案已经写在封面上——服务贡献 12,989,占增量的 51.7%(12,989 ÷ 25,126 = 51.7%),超过 iPhone、Mac、iPad、可穿戴四个产品品类加起来的 12,137。所有数字取自「年度汇总」sheet,单位统一为百万美元,财年按苹果财年口径、截止 2025-09-27。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先把全年记分卡放在一起看:九项核心指标全部改善,没有一项在总量层面恶化。比较基准统一为上年同期,本项目没有计划值,所以"变化"列读的是 FY2025 减 FY2024,"变化率"列读的是该差额除以 FY2024。三个地方值得先记住,后面各有一页解释。第一,服务净销售额 +13.51%(12,989 ÷ 96,169),是收入整体 +6.43% 的两倍多。第二,净利润 +19.50%(18,274 ÷ 93,736)远高于营业利润的 +7.98%(9,834 ÷ 123,216),两者之间的差不是经营带来的,原因在第十页。第三,研发费用 +10.14%(3,180 ÷ 31,370)快于收入,这是主动加码还是失控,第十一页给答案。稀释每股收益从 6.08 美元升到 7.46 美元,+22.70%,单位是美元而不是百万美元。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 25,126 的增量拆开。产品口径贡献 12,137,即 307,003 减 294,866;服务口径贡献 12,989,即 109,158 减 96,169;两者相加正好合回 25,126,没有残差,也不需要为了凑平而设一个"其他"项。份额上服务占 51.7%,产品占 48.3%(12,137 ÷ 25,126)。结论是服务已经是收入增长的主要引擎,而不是配角。需要提醒的是,产品这 12,137 并非四个品类齐涨——其中有一个品类在收缩,那一层拆解放在第六页。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年度合计会掩盖节奏,所以把八个季度并排放在同一条零基线上。左边四根浅色柱是 FY2024,右边四根深色柱是 FY2025。FY2025 四个季度同比全部为正:Q1 +3.95%(124,300 对 119,575),Q2 +5.08%(95,359 对 90,753),Q3 +9.63%(94,036 对 85,777),Q4 +7.94%(102,466 对 94,930)。也就是说增长不是靠某一个季度拉起来的。季节性方面,Q1 仍然是全年最大的季度,FY2025 Q1 占全年 29.87%(124,300 ÷ 416,161),FY2024 Q1 占 30.58%,节奏与上年基本一致,没有出现结构性的季节漂移。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服务是这份报表里唯一一条八个季度逐季走高、一次都没有回落的序列,从 FY2024 Q1 的 23,117 一路到 FY2025 Q4 的 28,750。全年 109,158,同比 +13.51%,占收入 26.23%(109,158 ÷ 416,161),上年这个比例是 24.59%。更关键的是毛利率:用四个季度合计口径,FY2025 服务毛利为服务净销售额 109,158 减服务销售成本 26,844,等于 82,314,毛利率 75.41%;同口径产品毛利为 307,003 减 194,116,等于 112,887,毛利率 36.77%。服务的毛利率是产品的两倍以上,所以它同时解释了收入增量和后面第九页要讲的毛利增量。面板 A 的八根柱里,FY2025 四根标出了同比:一季度 +13.9%,二季度 +11.6%,三季度 +13.3%,四季度 +15.1%,没有一个季度低于 11%。面板 B 按季度算毛利率,服务从 72.8% 走到 75.3%,产品在 34.5% 到 39.4% 之间起伏,两条线之间隔着差不多四十个百分点。面板 C 把两笔增量拆开:收入增量 25,126 里服务占 51.7%,毛利增量 14,518 里服务占 77.6%,后者用 FY2025 服务毛利 82,314 减 FY2024 服务毛利 71,050 得到 11,264,再除以毛利增量。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产品内部并不齐涨。五个品类按 FY2025 规模降序排列:iPhone 209,586,服务 109,158,可穿戴、家居及配件 35,686,Mac 33,708,iPad 28,023。iPhone 同比 +4.18%,慢于收入整体,所以依赖度从 51.45% 降到 50.36%(209,586 ÷ 416,161),下降 1.09 个百分点——这是好消息,但幅度很小,iPhone 仍然占半壁江山。Mac +12.42% 是产品端增速最快的一项,iPad +4.98%。真正需要解释的是可穿戴、家居及配件:全年 35,686 对 37,005,同比 −3.56%,是五个品类里唯一收缩的一项。逐季看,FY2025 四个季度同比分别是 −1.7%、−4.9%、−8.6%、−0.3%,降幅在 Q3 最深,Q4 又几乎回到持平,这个形状后面会变成一个待回答的问题。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按地区看,增长同样不是全面的。堆叠柱的每一段是一个地区,五段相加等于当季净销售额合计,这一点逐季都做过校验。全年口径:美洲 178,353,同比 +6.77%;欧洲 111,032,+9.58%;日本 28,703,+14.57%,是增速最快的地区;亚太其他地区 33,696,+9.91%。只有大中华区在收缩,64,377 对 66,952,同比 −3.85%,并且把该地区占收入的比重从 17.12% 拉低到 15.47%(64,377 ÷ 416,161)。图上大中华区那一段用的是收缩色,下一页把它单独拿出来看趋势。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大中华区八个季度的序列是 20,819、16,372、14,728、15,033、18,513、16,002、15,369、14,493。判断这是趋势还是波动,要同时看两个口径。同比口径下,FY2025 四个季度分别是 −11.1%、−2.3%、+4.4%、−3.6%,四个里有三个为负,只有 Q3 因为上年基数最低而转正。环比口径下,FY2025 Q1 之后连续三个季度走低:Q1 到 Q2 −13.6%,Q2 到 Q3 −4.0%,Q3 到 Q4 −5.7%,而 14,493 是这八个季度里的最低值,低于上年同期,也低于上一季的 15,369。同期日本 +14.57%、亚太其他地区 +9.91%,说明这不是整个亚太区的普遍现象。但要说清楚一点:源表只到地区合计,没有地区与品类的交叉,所以下滑究竟由哪一类产品造成,现有口径无法判定,不能靠推测填上。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毛利率从 46.21% 升到 46.91%(195,201 ÷ 416,161),营业利润率从 31.51% 升到 31.97%,看上去是全面改善。但拆开就会发现,产品毛利率其实在下降:四季合计口径下从 37.18% 降到 36.77%。毛利率仍然上升,原因只有一个,就是高毛利的服务在收入里的占比从 24.59% 升到 26.23%。用增量口径更直接:FY2025 毛利比上年多 14,518,其中服务毛利多了 11,264(82,314 减 71,050),产品毛利只多了 3,254,服务贡献了 77.6%(11,264 ÷ 14,518)。服务毛利现在已占全部毛利的 42.17%(82,314 ÷ 195,201),上年是 39.32%。下面这张矩阵是八个季度的损益摘要,竖线左边是 FY2024,右边是 FY2025,毛利率和营业利润率两行以百分比列示,可以逐列对比同一季度的跨年变化。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净利润 +19.50% 这个数字不能直接当成经营改善来读。「来源与口径」sheet 的特殊事项行写明,FY2024 Q4 的所得税费用 14,874 里含有欧盟 State Aid 一次性税项 10,246,把当季净利润压到了 14,736。把这笔一次性事项剔除,FY2024 净利润应还原为 103,982,即 93,736 加 10,246;以这个可比口径重算,FY2025 的 112,010 同比是 +7.72%,而不是 +19.50%。证据在有效税率上也一致:FY2024 Q4 的有效税率是 50.23%,即 14,874 除以税前利润 29,610,而剔除一次性税项后是 15.63%;其余七个季度的有效税率都在 14.69% 到 16.40% 之间。所以对外沟通时,+7.72% 才是与经营对应的那个数。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费用这一页要回答的是:收入涨了,费用有没有跟着膨胀。研发费用 34,550,同比 +10.14%,快于收入的 +6.43%,占收入比从 8.02% 升到 8.30%,升 0.28 个百分点——这是主动加码。销售及管理费用 27,601,同比 +5.76%,慢于收入,占收入比从 6.67% 降到 6.63%,反而降了 0.04 个百分点。两者相加,营业费用占收入比只升了 0.23 个百分点,而营业利润率仍然从 31.51% 升到 31.97%。图上两条线是八个季度的费率,每一点等于当季该项费用除以当季净销售额合计。两条线都在 Q1 明显下探,那是收入分母在旺季变大造成的,不是费用本身在跳动,这也是为什么费率要跨期同季比较而不是逐季比较。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前面十一页确立的事实,留下三个必须由管理层回答的问题,三条都由本卷的数字推出,而且三条在现有口径下都收不了口。第一,大中华区连降三个季度、FY2025 Q4 的 14,493 是八季最低,而同期日本是 +14.57%,那么这是区域需求问题还是产品组合问题?要回答它,需要地区与品类的交叉数据,源表里没有。第二,可穿戴、家居及配件全年 −3.56%,降幅在 FY2025 Q3 达到 −8.56% 最深,Q4 又收窄到 −0.32% 几乎持平,那么这是产品周期还是趋势性下行?要回答它,需要品类内部的单品与出货口径。第三,毛利增量的 77.6% 来自服务、服务毛利已占全部毛利的 42.17%,那么这个集中度的敞口有多大?要回答它,需要服务收入的构成拆分。这三条不给责任人和到期日,因为源数据里没有这两项,不虚构。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用三个数字复述 FY2025。总量:收入 416,161,同比 +6.43%,四个季度同比全部为正,总量是健康的。质量:毛利率 46.91%,确有提升,但提升全部来自服务在收入里占比的提高,产品毛利率本身在降,所以这是结构带来的质量而不是产品端的定价或成本改善。风险:大中华区 −3.85%、可穿戴 −3.56%,是全表仅有的两条收缩序列,风险不是弥散的,而是集中在两个可以定位的地方。要补充的是,净利润口径请用可比的 +7.72%,不是报告口径的 +19.50%。下一期复盘请带三项数据回来:地区与品类的交叉、可穿戴的单品与出货口径、服务收入的构成拆分——这三项正好对应上一页的三个问题。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全部数字取自 Apple Newsroom 公开的四份季度合并财务报表,页面上的四个链接可以直接点开对应的 PDF。口径有四点需要说明。第一,单位统一为百万美元,每股收益单位是美元。第二,财年为苹果财年,九月底截止,所以 FY2025 覆盖的是 2024-09-29 之后到 2025-09-27 的四个季度。第三,FY2024 各季度不是单独取自当年的报表,而是取自对应 FY2025 季度报表中的上年同期列,这样口径与重述保持一致。第四,FY2024 Q4 所得税费用 14,874 含一次性税项 10,246,凡涉及净利润同比的地方都已在第十页做过还原。品类明细来自另一个源文件,已与「年度汇总」sheet 交叉校验一致。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apple_fy2025_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apple_fy2025_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microsoft.com/office/2014/relationships/chartEx" Target="../charts/chartEx301.xml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401.xml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501.xml"/>
  <Relationship Id="rId3" Type="http://schemas.openxmlformats.org/officeDocument/2006/relationships/chart" Target="../charts/chart502.xml"/>
  <Relationship Id="rId4" Type="http://schemas.openxmlformats.org/officeDocument/2006/relationships/chart" Target="../charts/chart503.xml"/>
  <Relationship Id="rId5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601.xml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701.xml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801.xml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1101.xml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www.apple.com/newsroom/pdfs/fy2025-q1/FY25_Q1_Consolidated_Financial_Statements.pdf" TargetMode="External"/>
  <Relationship Id="rId3" Type="http://schemas.openxmlformats.org/officeDocument/2006/relationships/hyperlink" Target="https://www.apple.com/newsroom/pdfs/fy2025-q2/FY25_Q2_Consolidated_Financial_Statements.pdf" TargetMode="External"/>
  <Relationship Id="rId4" Type="http://schemas.openxmlformats.org/officeDocument/2006/relationships/hyperlink" Target="https://www.apple.com/newsroom/pdfs/fy2025-q3/FY25_Q3_Consolidated_Financial_Statements.pdf" TargetMode="External"/>
  <Relationship Id="rId5" Type="http://schemas.openxmlformats.org/officeDocument/2006/relationships/hyperlink" Target="https://www.apple.com/newsroom/pdfs/fy2025-q4/FY25_Q4_Consolidated_Financial_Statements.pdf" TargetMode="External"/>
  <Relationship Id="rId6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0550" y="1187768"/>
            <a:ext cx="7639050" cy="2631757"/>
            <a:chOff x="590550" y="1187768"/>
            <a:chExt cx="7639050" cy="263175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187768"/>
              <a:ext cx="3396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APPLE INC. · 财年 2025 经营复盘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817370"/>
              <a:ext cx="6239447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750"/>
                </a:lnSpc>
              </a:pPr>
              <a:r>
                <a:rPr lang="zh-CN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FY2025:收入创新高</a:t>
              </a:r>
              <a:br/>
              <a:r>
                <a:rPr lang="zh-CN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增长的一半来自服务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38100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9" name="!!net-sales"/>
          <p:cNvGrpSpPr/>
          <p:nvPr/>
        </p:nvGrpSpPr>
        <p:grpSpPr>
          <a:xfrm>
            <a:off x="590550" y="4331018"/>
            <a:ext cx="2525878" cy="1389316"/>
            <a:chOff x="590550" y="4331018"/>
            <a:chExt cx="2525878" cy="1389316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433101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净销售额合计(百万美元)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4682490"/>
              <a:ext cx="252587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416,161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5368290"/>
              <a:ext cx="15812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 xml:space="preserve">▲ 同比 </a:t>
              </a:r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+6.43%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29050" y="4331018"/>
            <a:ext cx="2215667" cy="1389316"/>
            <a:chOff x="3829050" y="4331018"/>
            <a:chExt cx="2215667" cy="1389316"/>
          </a:xfrm>
        </p:grpSpPr>
        <p:sp>
          <p:nvSpPr>
            <p:cNvPr id="10" name="TextBox 10"/>
            <p:cNvSpPr txBox="1"/>
            <p:nvPr/>
          </p:nvSpPr>
          <p:spPr>
            <a:xfrm>
              <a:off x="3841242" y="43310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收入增量(百万美元)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29050" y="468249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25,126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38956" y="5368290"/>
              <a:ext cx="22057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FY2024 为 </a:t>
              </a:r>
              <a:r>
                <a:rPr lang="zh-CN" sz="18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391,035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67550" y="4331018"/>
            <a:ext cx="1966722" cy="1389316"/>
            <a:chOff x="7067550" y="4331018"/>
            <a:chExt cx="1966722" cy="1389316"/>
          </a:xfrm>
        </p:grpSpPr>
        <p:sp>
          <p:nvSpPr>
            <p:cNvPr id="14" name="TextBox 14"/>
            <p:cNvSpPr txBox="1"/>
            <p:nvPr/>
          </p:nvSpPr>
          <p:spPr>
            <a:xfrm>
              <a:off x="7079742" y="4331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服务在增量中的贡献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67550" y="4682490"/>
              <a:ext cx="18150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51.7%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7456" y="53682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高于全部产品之和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94519" y="1047750"/>
            <a:ext cx="1794739" cy="937451"/>
            <a:chOff x="9794519" y="1047750"/>
            <a:chExt cx="1794739" cy="937451"/>
          </a:xfrm>
        </p:grpSpPr>
        <p:sp>
          <p:nvSpPr>
            <p:cNvPr id="18" name="Freeform 18"/>
            <p:cNvSpPr/>
            <p:nvPr/>
          </p:nvSpPr>
          <p:spPr>
            <a:xfrm>
              <a:off x="11146422" y="1047750"/>
              <a:ext cx="393592" cy="458152"/>
            </a:xfrm>
            <a:custGeom>
              <a:avLst/>
              <a:gdLst/>
              <a:ahLst/>
              <a:cxnLst/>
              <a:rect l="l" t="t" r="r" b="b"/>
              <a:pathLst>
                <a:path w="393592" h="458152">
                  <a:moveTo>
                    <a:pt x="210274" y="131369"/>
                  </a:moveTo>
                  <a:cubicBezTo>
                    <a:pt x="192214" y="131369"/>
                    <a:pt x="164268" y="110833"/>
                    <a:pt x="134836" y="111557"/>
                  </a:cubicBezTo>
                  <a:cubicBezTo>
                    <a:pt x="95974" y="112071"/>
                    <a:pt x="60350" y="134093"/>
                    <a:pt x="40329" y="168973"/>
                  </a:cubicBezTo>
                  <a:cubicBezTo>
                    <a:pt x="0" y="238982"/>
                    <a:pt x="29928" y="342386"/>
                    <a:pt x="69266" y="399288"/>
                  </a:cubicBezTo>
                  <a:cubicBezTo>
                    <a:pt x="88563" y="426987"/>
                    <a:pt x="111328" y="458152"/>
                    <a:pt x="141503" y="457181"/>
                  </a:cubicBezTo>
                  <a:cubicBezTo>
                    <a:pt x="170459" y="455943"/>
                    <a:pt x="181318" y="438379"/>
                    <a:pt x="216465" y="438379"/>
                  </a:cubicBezTo>
                  <a:cubicBezTo>
                    <a:pt x="251346" y="438379"/>
                    <a:pt x="261233" y="457181"/>
                    <a:pt x="291903" y="456438"/>
                  </a:cubicBezTo>
                  <a:cubicBezTo>
                    <a:pt x="323088" y="455943"/>
                    <a:pt x="342881" y="428244"/>
                    <a:pt x="361931" y="400279"/>
                  </a:cubicBezTo>
                  <a:cubicBezTo>
                    <a:pt x="383953" y="368122"/>
                    <a:pt x="393097" y="336937"/>
                    <a:pt x="393592" y="335223"/>
                  </a:cubicBezTo>
                  <a:cubicBezTo>
                    <a:pt x="392849" y="334975"/>
                    <a:pt x="332975" y="311963"/>
                    <a:pt x="332251" y="242697"/>
                  </a:cubicBezTo>
                  <a:cubicBezTo>
                    <a:pt x="331756" y="184785"/>
                    <a:pt x="379495" y="157086"/>
                    <a:pt x="381724" y="155848"/>
                  </a:cubicBezTo>
                  <a:cubicBezTo>
                    <a:pt x="354501" y="116034"/>
                    <a:pt x="312706" y="111576"/>
                    <a:pt x="298094" y="110585"/>
                  </a:cubicBezTo>
                  <a:cubicBezTo>
                    <a:pt x="259994" y="107613"/>
                    <a:pt x="228086" y="131350"/>
                    <a:pt x="210274" y="131350"/>
                  </a:cubicBezTo>
                  <a:close/>
                  <a:moveTo>
                    <a:pt x="274625" y="72961"/>
                  </a:moveTo>
                  <a:cubicBezTo>
                    <a:pt x="290684" y="53683"/>
                    <a:pt x="301295" y="26727"/>
                    <a:pt x="298342" y="0"/>
                  </a:cubicBezTo>
                  <a:cubicBezTo>
                    <a:pt x="275349" y="991"/>
                    <a:pt x="247631" y="15335"/>
                    <a:pt x="231057" y="34633"/>
                  </a:cubicBezTo>
                  <a:cubicBezTo>
                    <a:pt x="216198" y="51702"/>
                    <a:pt x="203359" y="79172"/>
                    <a:pt x="206807" y="105385"/>
                  </a:cubicBezTo>
                  <a:cubicBezTo>
                    <a:pt x="232296" y="107366"/>
                    <a:pt x="258528" y="92278"/>
                    <a:pt x="274606" y="729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94519" y="172116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财年截止 2025-09-27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3504" y="6172200"/>
            <a:ext cx="10978896" cy="448056"/>
            <a:chOff x="603504" y="6172200"/>
            <a:chExt cx="10978896" cy="448056"/>
          </a:xfrm>
        </p:grpSpPr>
        <p:sp>
          <p:nvSpPr>
            <p:cNvPr id="21" name="Line 21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504" y="6385560"/>
              <a:ext cx="8645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数据来源:Apple Inc. 各季度 Condensed Consolidated Financial Statements(Unaudited),Apple Newsroom 公开 PDF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4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2000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4" name="Group 4"/>
          <p:cNvGrpSpPr/>
          <p:nvPr/>
        </p:nvGrpSpPr>
        <p:grpSpPr>
          <a:xfrm>
            <a:off x="592836" y="558165"/>
            <a:ext cx="4224528" cy="1169289"/>
            <a:chOff x="592836" y="558165"/>
            <a:chExt cx="4224528" cy="1169289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58165"/>
              <a:ext cx="4224528" cy="11692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125"/>
                </a:lnSpc>
              </a:pPr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九项核心指标全部改善</a:t>
              </a:r>
              <a:br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问题不在总量而在结构</a:t>
              </a:r>
            </a:p>
          </p:txBody>
        </p:sp>
      </p:grpSp>
      <p:grpSp>
        <p:nvGrpSpPr>
          <p:cNvPr id="8" name="!!net-sales"/>
          <p:cNvGrpSpPr/>
          <p:nvPr/>
        </p:nvGrpSpPr>
        <p:grpSpPr>
          <a:xfrm>
            <a:off x="9075572" y="768668"/>
            <a:ext cx="2525878" cy="1160716"/>
            <a:chOff x="9075572" y="768668"/>
            <a:chExt cx="2525878" cy="1160716"/>
          </a:xfrm>
        </p:grpSpPr>
        <p:sp>
          <p:nvSpPr>
            <p:cNvPr id="5" name="TextBox 5"/>
            <p:cNvSpPr txBox="1"/>
            <p:nvPr/>
          </p:nvSpPr>
          <p:spPr>
            <a:xfrm>
              <a:off x="9558261" y="7686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净销售额合计(百万美元)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75572" y="929640"/>
              <a:ext cx="252587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416,161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010318" y="1577340"/>
              <a:ext cx="15812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 xml:space="preserve">▲ 同比 </a:t>
              </a:r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+6.43%</a:t>
              </a:r>
            </a:p>
          </p:txBody>
        </p:sp>
      </p:grpSp>
      <p:graphicFrame>
        <p:nvGraphicFramePr>
          <p:cNvPr id="9" name="annual-scorecard"/>
          <p:cNvGraphicFramePr>
            <a:graphicFrameLocks noGrp="1"/>
          </p:cNvGraphicFramePr>
          <p:nvPr/>
        </p:nvGraphicFramePr>
        <p:xfrm>
          <a:off x="609600" y="2247900"/>
          <a:ext cx="10972800" cy="381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857500"/>
                <a:gridCol w="2028825"/>
                <a:gridCol w="2028825"/>
                <a:gridCol w="2028825"/>
                <a:gridCol w="2028825"/>
              </a:tblGrid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项目(百万美元)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FY2025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FY2024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变化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变化率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净销售额合计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416,161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391,035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+25,126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+6.43%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产品净销售额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307,003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294,866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+12,137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+4.12%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服务净销售额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109,158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96,169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+12,989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+13.51%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毛利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195,201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180,683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+14,518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+8.04%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研发费用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34,550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31,370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+3,180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+10.14%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销售及管理费用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27,601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26,097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+1,504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+5.76%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营业利润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133,050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123,216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+9,834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+7.98%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净利润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112,010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93,736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+18,274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+19.50%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稀释每股收益(美元)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7.46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6.08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+1.38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3"/>
                          </a:solidFill>
                          <a:latin typeface="Consolas"/>
                          <a:ea typeface="Microsoft YaHei"/>
                          <a:cs typeface="Consolas"/>
                        </a:rPr>
                        <a:t>+22.70%</a:t>
                      </a:r>
                    </a:p>
                  </a:txBody>
                  <a:tcPr anchor="ctr" marL="152400" marR="1524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603504" y="6210300"/>
            <a:ext cx="10984992" cy="409956"/>
            <a:chOff x="603504" y="6210300"/>
            <a:chExt cx="10984992" cy="409956"/>
          </a:xfrm>
        </p:grpSpPr>
        <p:sp>
          <p:nvSpPr>
            <p:cNvPr id="10" name="Line 10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3504" y="6385560"/>
              <a:ext cx="46000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来源:「年度汇总」sheet;比较基准为上年同期,本项目无计划值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ns2="http://schemas.microsoft.com/office/drawing/2014/chartex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71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96265"/>
            <a:ext cx="8372025" cy="978408"/>
            <a:chOff x="592836" y="596265"/>
            <a:chExt cx="8372025" cy="9784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96265"/>
              <a:ext cx="837202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25,126 百万美元增量里,服务贡献 51.7%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63955"/>
              <a:ext cx="73150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收入增量的过半来自服务,产品四个品类合计只贡献 48.3%</a:t>
              </a:r>
            </a:p>
          </p:txBody>
        </p:sp>
      </p:grpSp>
      <p:grpSp>
        <p:nvGrpSpPr>
          <p:cNvPr id="10" name="revenue-bridge"/>
          <p:cNvGrpSpPr/>
          <p:nvPr/>
        </p:nvGrpSpPr>
        <p:grpSpPr>
          <a:xfrm>
            <a:off x="-1400175" y="2552700"/>
            <a:ext cx="11563350" cy="3238500"/>
            <a:chOff x="-1400175" y="2552700"/>
            <a:chExt cx="11563350" cy="3238500"/>
          </a:xfrm>
        </p:grpSpPr>
        <p:graphicFrame>
          <p:nvGraphicFramePr>
            <p:cNvPr id="6" name="revenue-bridge"/>
            <p:cNvGraphicFramePr>
              <a:graphicFrameLocks noGrp="1"/>
            </p:cNvGraphicFramePr>
            <p:nvPr/>
          </p:nvGraphicFramePr>
          <p:xfrm>
            <a:off x="609600" y="2552700"/>
            <a:ext cx="7239000" cy="3238500"/>
          </p:xfrm>
          <a:graphic>
            <a:graphicData uri="http://schemas.microsoft.com/office/drawing/2014/chartex">
              <ns2:chart r:id="rId2"/>
            </a:graphicData>
          </a:graphic>
        </p:graphicFrame>
        <p:sp>
          <p:nvSpPr>
            <p:cNvPr id="7" name="Chart Note 7"/>
            <p:cNvSpPr txBox="1"/>
            <p:nvPr/>
          </p:nvSpPr>
          <p:spPr>
            <a:xfrm>
              <a:off x="-1400175" y="3831908"/>
              <a:ext cx="7239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350">
                  <a:solidFill>
                    <a:srgbClr val="1E293B"/>
                  </a:solidFill>
                  <a:latin typeface="Microsoft YaHei"/>
                  <a:ea typeface="Microsoft YaHei"/>
                  <a:cs typeface="Microsoft YaHei"/>
                </a:rPr>
                <a:t>+12,137</a:t>
              </a:r>
            </a:p>
          </p:txBody>
        </p:sp>
        <p:sp>
          <p:nvSpPr>
            <p:cNvPr id="8" name="Chart Note 8"/>
            <p:cNvSpPr txBox="1"/>
            <p:nvPr/>
          </p:nvSpPr>
          <p:spPr>
            <a:xfrm>
              <a:off x="762000" y="2594610"/>
              <a:ext cx="7239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350">
                  <a:solidFill>
                    <a:srgbClr val="1E293B"/>
                  </a:solidFill>
                  <a:latin typeface="Microsoft YaHei"/>
                  <a:ea typeface="Microsoft YaHei"/>
                  <a:cs typeface="Microsoft YaHei"/>
                </a:rPr>
                <a:t>+12,989</a:t>
              </a:r>
            </a:p>
          </p:txBody>
        </p:sp>
        <p:sp>
          <p:nvSpPr>
            <p:cNvPr id="9" name="Chart Note 9"/>
            <p:cNvSpPr txBox="1"/>
            <p:nvPr/>
          </p:nvSpPr>
          <p:spPr>
            <a:xfrm>
              <a:off x="2924175" y="2594610"/>
              <a:ext cx="7239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350">
                  <a:solidFill>
                    <a:srgbClr val="1E293B"/>
                  </a:solidFill>
                  <a:latin typeface="Microsoft YaHei"/>
                  <a:ea typeface="Microsoft YaHei"/>
                  <a:cs typeface="Microsoft YaHei"/>
                </a:rPr>
                <a:t>25,126</a:t>
              </a:r>
            </a:p>
          </p:txBody>
        </p:sp>
      </p:grpSp>
      <p:grpSp>
        <p:nvGrpSpPr>
          <p:cNvPr id="18" name="!!net-sales"/>
          <p:cNvGrpSpPr/>
          <p:nvPr/>
        </p:nvGrpSpPr>
        <p:grpSpPr>
          <a:xfrm>
            <a:off x="8220456" y="2711768"/>
            <a:ext cx="3361944" cy="2873883"/>
            <a:chOff x="8220456" y="2711768"/>
            <a:chExt cx="3361944" cy="2873883"/>
          </a:xfrm>
        </p:grpSpPr>
        <p:sp>
          <p:nvSpPr>
            <p:cNvPr id="11" name="TextBox 11"/>
            <p:cNvSpPr txBox="1"/>
            <p:nvPr/>
          </p:nvSpPr>
          <p:spPr>
            <a:xfrm>
              <a:off x="8222742" y="27117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收入增量拆分(百万美元)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20456" y="3158490"/>
              <a:ext cx="187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FY2024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391,035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0456" y="3539490"/>
              <a:ext cx="15812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+ 产品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12,137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0456" y="3920490"/>
              <a:ext cx="15812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+ 服务 </a:t>
              </a:r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12,989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229600" y="43243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20456" y="4491990"/>
              <a:ext cx="19190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FY2025 </a:t>
              </a:r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416,161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2742" y="5073968"/>
              <a:ext cx="220827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服务在增量中的贡献 51.7%,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超过全部产品之和(48.3%)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3504" y="6210300"/>
            <a:ext cx="10984992" cy="409956"/>
            <a:chOff x="603504" y="6210300"/>
            <a:chExt cx="10984992" cy="409956"/>
          </a:xfrm>
        </p:grpSpPr>
        <p:sp>
          <p:nvSpPr>
            <p:cNvPr id="19" name="Line 19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3504" y="6385560"/>
              <a:ext cx="5915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来源:「年度汇总」sheet 产品/服务净销售额两行;产品内部并非齐涨,细节见 P06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71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96265"/>
            <a:ext cx="9542236" cy="978408"/>
            <a:chOff x="592836" y="596265"/>
            <a:chExt cx="9542236" cy="9784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96265"/>
              <a:ext cx="95422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四个季度同比全部为正,Q1 峰值节奏保持不变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63955"/>
              <a:ext cx="77815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增长不是靠某一个季度拉起来的:同比区间 +3.95% 到 +9.63%</a:t>
              </a:r>
            </a:p>
          </p:txBody>
        </p:sp>
      </p:grpSp>
      <p:graphicFrame>
        <p:nvGraphicFramePr>
          <p:cNvPr id="6" name="quarterly-revenue"/>
          <p:cNvGraphicFramePr>
            <a:graphicFrameLocks noGrp="1"/>
          </p:cNvGraphicFramePr>
          <p:nvPr/>
        </p:nvGraphicFramePr>
        <p:xfrm>
          <a:off x="609600" y="2190750"/>
          <a:ext cx="10972800" cy="3143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600456" y="5562600"/>
            <a:ext cx="10981944" cy="462534"/>
            <a:chOff x="600456" y="5562600"/>
            <a:chExt cx="10981944" cy="462534"/>
          </a:xfrm>
        </p:grpSpPr>
        <p:sp>
          <p:nvSpPr>
            <p:cNvPr id="7" name="Line 7"/>
            <p:cNvSpPr/>
            <p:nvPr/>
          </p:nvSpPr>
          <p:spPr>
            <a:xfrm>
              <a:off x="609600" y="5562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0456" y="5673090"/>
              <a:ext cx="33595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FY25 四个季度同比全部为正: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45250" y="567309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+3.95%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95882" y="567309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+5.08%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45562" y="567309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+9.63%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96195" y="567309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+7.94%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3504" y="6210300"/>
            <a:ext cx="10984992" cy="409956"/>
            <a:chOff x="603504" y="6210300"/>
            <a:chExt cx="10984992" cy="409956"/>
          </a:xfrm>
        </p:grpSpPr>
        <p:sp>
          <p:nvSpPr>
            <p:cNvPr id="14" name="Line 14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3504" y="6385560"/>
              <a:ext cx="65901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来源:「季度损益」sheet 净销售额合计行;FY25 Q1 占全年 29.87%,FY24 Q1 占 30.58%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71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96265"/>
            <a:ext cx="8762924" cy="978408"/>
            <a:chOff x="592836" y="596265"/>
            <a:chExt cx="8762924" cy="9784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9626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服务是唯一八个季度连续增长的业务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63955"/>
              <a:ext cx="87568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毛利率 75.41%,是产品的两倍以上;它同时解释了收入增量与毛利增量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3504" y="1943100"/>
            <a:ext cx="4369365" cy="486156"/>
            <a:chOff x="603504" y="1943100"/>
            <a:chExt cx="4369365" cy="486156"/>
          </a:xfrm>
        </p:grpSpPr>
        <p:sp>
          <p:nvSpPr>
            <p:cNvPr id="6" name="Ellipse 6"/>
            <p:cNvSpPr/>
            <p:nvPr/>
          </p:nvSpPr>
          <p:spPr>
            <a:xfrm>
              <a:off x="609600" y="19431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7969" y="199167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7730" y="1952625"/>
              <a:ext cx="4085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服务净销售额:八个季度逐季走高,无一次回落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504" y="2194560"/>
              <a:ext cx="22396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百万美元;FY25 各季标注同比</a:t>
              </a:r>
            </a:p>
          </p:txBody>
        </p:sp>
      </p:grpSp>
      <p:grpSp>
        <p:nvGrpSpPr>
          <p:cNvPr id="17" name="services-trend"/>
          <p:cNvGrpSpPr/>
          <p:nvPr/>
        </p:nvGrpSpPr>
        <p:grpSpPr>
          <a:xfrm>
            <a:off x="609600" y="2495550"/>
            <a:ext cx="6553200" cy="3086100"/>
            <a:chOff x="609600" y="2495550"/>
            <a:chExt cx="6553200" cy="3086100"/>
          </a:xfrm>
        </p:grpSpPr>
        <p:graphicFrame>
          <p:nvGraphicFramePr>
            <p:cNvPr id="11" name="services-trend"/>
            <p:cNvGraphicFramePr>
              <a:graphicFrameLocks noGrp="1"/>
            </p:cNvGraphicFramePr>
            <p:nvPr/>
          </p:nvGraphicFramePr>
          <p:xfrm>
            <a:off x="609600" y="2495550"/>
            <a:ext cx="6553200" cy="30861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12" name="Chart Note 12"/>
            <p:cNvSpPr txBox="1"/>
            <p:nvPr/>
          </p:nvSpPr>
          <p:spPr>
            <a:xfrm>
              <a:off x="952500" y="5261610"/>
              <a:ext cx="12382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20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同比 FY24 同季</a:t>
              </a:r>
            </a:p>
          </p:txBody>
        </p:sp>
        <p:sp>
          <p:nvSpPr>
            <p:cNvPr id="13" name="Chart Note 13"/>
            <p:cNvSpPr txBox="1"/>
            <p:nvPr/>
          </p:nvSpPr>
          <p:spPr>
            <a:xfrm>
              <a:off x="4029075" y="5235892"/>
              <a:ext cx="704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350" b="1">
                  <a:solidFill>
                    <a:srgbClr val="2E7D5B"/>
                  </a:solidFill>
                  <a:latin typeface="Consolas"/>
                  <a:ea typeface="Microsoft YaHei"/>
                  <a:cs typeface="Consolas"/>
                </a:rPr>
                <a:t>+13.9%</a:t>
              </a:r>
            </a:p>
          </p:txBody>
        </p:sp>
        <p:sp>
          <p:nvSpPr>
            <p:cNvPr id="14" name="Chart Note 14"/>
            <p:cNvSpPr txBox="1"/>
            <p:nvPr/>
          </p:nvSpPr>
          <p:spPr>
            <a:xfrm>
              <a:off x="4791075" y="5235892"/>
              <a:ext cx="704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350" b="1">
                  <a:solidFill>
                    <a:srgbClr val="2E7D5B"/>
                  </a:solidFill>
                  <a:latin typeface="Consolas"/>
                  <a:ea typeface="Microsoft YaHei"/>
                  <a:cs typeface="Consolas"/>
                </a:rPr>
                <a:t>+11.6%</a:t>
              </a:r>
            </a:p>
          </p:txBody>
        </p:sp>
        <p:sp>
          <p:nvSpPr>
            <p:cNvPr id="15" name="Chart Note 15"/>
            <p:cNvSpPr txBox="1"/>
            <p:nvPr/>
          </p:nvSpPr>
          <p:spPr>
            <a:xfrm>
              <a:off x="5553075" y="5235892"/>
              <a:ext cx="704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350" b="1">
                  <a:solidFill>
                    <a:srgbClr val="2E7D5B"/>
                  </a:solidFill>
                  <a:latin typeface="Consolas"/>
                  <a:ea typeface="Microsoft YaHei"/>
                  <a:cs typeface="Consolas"/>
                </a:rPr>
                <a:t>+13.3%</a:t>
              </a:r>
            </a:p>
          </p:txBody>
        </p:sp>
        <p:sp>
          <p:nvSpPr>
            <p:cNvPr id="16" name="Chart Note 16"/>
            <p:cNvSpPr txBox="1"/>
            <p:nvPr/>
          </p:nvSpPr>
          <p:spPr>
            <a:xfrm>
              <a:off x="6315075" y="5235892"/>
              <a:ext cx="704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350" b="1">
                  <a:solidFill>
                    <a:srgbClr val="2E7D5B"/>
                  </a:solidFill>
                  <a:latin typeface="Consolas"/>
                  <a:ea typeface="Microsoft YaHei"/>
                  <a:cs typeface="Consolas"/>
                </a:rPr>
                <a:t>+15.1%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13904" y="1943100"/>
            <a:ext cx="3568713" cy="486156"/>
            <a:chOff x="7613904" y="1943100"/>
            <a:chExt cx="3568713" cy="486156"/>
          </a:xfrm>
        </p:grpSpPr>
        <p:sp>
          <p:nvSpPr>
            <p:cNvPr id="18" name="Ellipse 18"/>
            <p:cNvSpPr/>
            <p:nvPr/>
          </p:nvSpPr>
          <p:spPr>
            <a:xfrm>
              <a:off x="7620000" y="19431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78369" y="199167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98130" y="1952625"/>
              <a:ext cx="32844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毛利率:服务约 75%,产品 35%–39%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13904" y="2194560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%,按季;毛利率 = 毛利 ÷ 净销售额</a:t>
              </a:r>
            </a:p>
          </p:txBody>
        </p:sp>
      </p:grpSp>
      <p:grpSp>
        <p:nvGrpSpPr>
          <p:cNvPr id="26" name="services-margin-lines"/>
          <p:cNvGrpSpPr/>
          <p:nvPr/>
        </p:nvGrpSpPr>
        <p:grpSpPr>
          <a:xfrm>
            <a:off x="7620000" y="2495550"/>
            <a:ext cx="4010025" cy="1809750"/>
            <a:chOff x="7620000" y="2495550"/>
            <a:chExt cx="4010025" cy="1809750"/>
          </a:xfrm>
        </p:grpSpPr>
        <p:graphicFrame>
          <p:nvGraphicFramePr>
            <p:cNvPr id="23" name="services-margin-lines"/>
            <p:cNvGraphicFramePr>
              <a:graphicFrameLocks noGrp="1"/>
            </p:cNvGraphicFramePr>
            <p:nvPr/>
          </p:nvGraphicFramePr>
          <p:xfrm>
            <a:off x="7620000" y="2495550"/>
            <a:ext cx="3962400" cy="1809750"/>
          </p:xfrm>
          <a:graphic>
            <a:graphicData uri="http://schemas.openxmlformats.org/drawingml/2006/chart">
              <c:chart xmlns:c="http://schemas.openxmlformats.org/drawingml/2006/chart" r:id="rId3"/>
            </a:graphicData>
          </a:graphic>
        </p:graphicFrame>
        <p:sp>
          <p:nvSpPr>
            <p:cNvPr id="24" name="Chart Note 24"/>
            <p:cNvSpPr txBox="1"/>
            <p:nvPr/>
          </p:nvSpPr>
          <p:spPr>
            <a:xfrm>
              <a:off x="11182350" y="2543175"/>
              <a:ext cx="4476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200" b="1">
                  <a:solidFill>
                    <a:srgbClr val="2B6CB0"/>
                  </a:solidFill>
                  <a:latin typeface="Consolas"/>
                  <a:ea typeface="Microsoft YaHei"/>
                  <a:cs typeface="Consolas"/>
                </a:rPr>
                <a:t>75.3</a:t>
              </a:r>
            </a:p>
          </p:txBody>
        </p:sp>
        <p:sp>
          <p:nvSpPr>
            <p:cNvPr id="25" name="Chart Note 25"/>
            <p:cNvSpPr txBox="1"/>
            <p:nvPr/>
          </p:nvSpPr>
          <p:spPr>
            <a:xfrm>
              <a:off x="11182350" y="3846195"/>
              <a:ext cx="4476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200" b="1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36.2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13904" y="4381500"/>
            <a:ext cx="3946855" cy="486156"/>
            <a:chOff x="7613904" y="4381500"/>
            <a:chExt cx="3946855" cy="486156"/>
          </a:xfrm>
        </p:grpSpPr>
        <p:sp>
          <p:nvSpPr>
            <p:cNvPr id="27" name="Ellipse 27"/>
            <p:cNvSpPr/>
            <p:nvPr/>
          </p:nvSpPr>
          <p:spPr>
            <a:xfrm>
              <a:off x="7620000" y="43815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78369" y="443007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98130" y="4391025"/>
              <a:ext cx="3662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服务占 FY25 增量:收入过半,毛利八成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13904" y="4632960"/>
              <a:ext cx="3533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%;收入增量 25,126、毛利增量 14,518 百万美元</a:t>
              </a:r>
            </a:p>
          </p:txBody>
        </p:sp>
      </p:grpSp>
      <p:graphicFrame>
        <p:nvGraphicFramePr>
          <p:cNvPr id="32" name="increment-share"/>
          <p:cNvGraphicFramePr>
            <a:graphicFrameLocks noGrp="1"/>
          </p:cNvGraphicFramePr>
          <p:nvPr/>
        </p:nvGraphicFramePr>
        <p:xfrm>
          <a:off x="7620000" y="4819650"/>
          <a:ext cx="3962400" cy="8763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pSp>
        <p:nvGrpSpPr>
          <p:cNvPr id="35" name="Group 35"/>
          <p:cNvGrpSpPr/>
          <p:nvPr/>
        </p:nvGrpSpPr>
        <p:grpSpPr>
          <a:xfrm>
            <a:off x="609600" y="5753100"/>
            <a:ext cx="8379333" cy="350520"/>
            <a:chOff x="609600" y="5753100"/>
            <a:chExt cx="8379333" cy="350520"/>
          </a:xfrm>
        </p:grpSpPr>
        <p:sp>
          <p:nvSpPr>
            <p:cNvPr id="33" name="Rectangle 33"/>
            <p:cNvSpPr/>
            <p:nvPr/>
          </p:nvSpPr>
          <p:spPr>
            <a:xfrm>
              <a:off x="609600" y="5753100"/>
              <a:ext cx="3810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3430" y="5810250"/>
              <a:ext cx="82155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服务占全年收入 </a:t>
              </a:r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26.23%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(FY24 24.59%),却贡献了收入增量的 </a:t>
              </a:r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51.7%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和毛利增量的 </a:t>
              </a:r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77.6%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3504" y="6210300"/>
            <a:ext cx="10984992" cy="409956"/>
            <a:chOff x="603504" y="6210300"/>
            <a:chExt cx="10984992" cy="409956"/>
          </a:xfrm>
        </p:grpSpPr>
        <p:sp>
          <p:nvSpPr>
            <p:cNvPr id="36" name="Line 36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3504" y="6385560"/>
              <a:ext cx="9582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来源:「季度损益」sheet 产品/服务净销售额与销售成本四行,「年度汇总」sheet;毛利增量 = FY25 毛利 195,201 − FY24 180,683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10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100"/>
                            </p:stCondLst>
                            <p:childTnLst>
                              <p:par>
                                <p:cTn xmlns:p="http://schemas.openxmlformats.org/presentationml/2006/main" id="2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0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71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96265"/>
            <a:ext cx="9040385" cy="978408"/>
            <a:chOff x="592836" y="596265"/>
            <a:chExt cx="9040385" cy="9784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96265"/>
              <a:ext cx="904038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iPhone 依赖度降至 50.36%,可穿戴唯一收缩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63955"/>
              <a:ext cx="76719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iPhone 仍是半壁江山,但依赖度较 FY24 下降 1.09 个百分点</a:t>
              </a:r>
            </a:p>
          </p:txBody>
        </p:sp>
      </p:grpSp>
      <p:graphicFrame>
        <p:nvGraphicFramePr>
          <p:cNvPr id="6" name="category-compare"/>
          <p:cNvGraphicFramePr>
            <a:graphicFrameLocks noGrp="1"/>
          </p:cNvGraphicFramePr>
          <p:nvPr/>
        </p:nvGraphicFramePr>
        <p:xfrm>
          <a:off x="609600" y="1981200"/>
          <a:ext cx="7620000" cy="35433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8439150" y="2235518"/>
            <a:ext cx="2415007" cy="1864233"/>
            <a:chOff x="8439150" y="2235518"/>
            <a:chExt cx="2415007" cy="1864233"/>
          </a:xfrm>
        </p:grpSpPr>
        <p:sp>
          <p:nvSpPr>
            <p:cNvPr id="7" name="TextBox 7"/>
            <p:cNvSpPr txBox="1"/>
            <p:nvPr/>
          </p:nvSpPr>
          <p:spPr>
            <a:xfrm>
              <a:off x="8451342" y="22355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唯一收缩的品类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39150" y="249174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−3.56%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49056" y="3196590"/>
              <a:ext cx="24051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▼ 可穿戴、家居及配件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51342" y="3588068"/>
              <a:ext cx="12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FY25 逐季同比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51342" y="3835718"/>
              <a:ext cx="2312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−1.7% −4.9% −8.6% −0.3%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439150" y="4343400"/>
            <a:ext cx="3143250" cy="1737551"/>
            <a:chOff x="8439150" y="4343400"/>
            <a:chExt cx="3143250" cy="1737551"/>
          </a:xfrm>
        </p:grpSpPr>
        <p:sp>
          <p:nvSpPr>
            <p:cNvPr id="13" name="Line 13"/>
            <p:cNvSpPr/>
            <p:nvPr/>
          </p:nvSpPr>
          <p:spPr>
            <a:xfrm>
              <a:off x="8458200" y="43434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1342" y="4502468"/>
              <a:ext cx="1178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iPhone 依赖度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0" y="475869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50.36%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49056" y="5463540"/>
              <a:ext cx="17908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FY24 为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51.45%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51342" y="5816918"/>
              <a:ext cx="2158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较上年下降 1.09 个百分点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3504" y="6210300"/>
            <a:ext cx="10984992" cy="409956"/>
            <a:chOff x="603504" y="6210300"/>
            <a:chExt cx="10984992" cy="409956"/>
          </a:xfrm>
        </p:grpSpPr>
        <p:sp>
          <p:nvSpPr>
            <p:cNvPr id="19" name="Line 19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3504" y="6385560"/>
              <a:ext cx="69492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来源:apple_fy2025_product_categories.csv 与「年度汇总」sheet;按 FY2025 规模降序排列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71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96265"/>
            <a:ext cx="8084439" cy="978408"/>
            <a:chOff x="592836" y="596265"/>
            <a:chExt cx="8084439" cy="9784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96265"/>
              <a:ext cx="78422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四个地区增长,大中华区是唯一下滑地区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63955"/>
              <a:ext cx="80783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日本 +14.57%、欧洲 +9.58%、美洲 +6.77%,只有大中华区为负</a:t>
              </a:r>
            </a:p>
          </p:txBody>
        </p:sp>
      </p:grpSp>
      <p:graphicFrame>
        <p:nvGraphicFramePr>
          <p:cNvPr id="6" name="region-stack"/>
          <p:cNvGraphicFramePr>
            <a:graphicFrameLocks noGrp="1"/>
          </p:cNvGraphicFramePr>
          <p:nvPr/>
        </p:nvGraphicFramePr>
        <p:xfrm>
          <a:off x="381000" y="2438400"/>
          <a:ext cx="8039100" cy="3600450"/>
        </p:xfrm>
        <a:graphic>
          <a:graphicData uri="http://schemas.openxmlformats.org/drawingml/2006/chart">
            <c:chart r:id="rId2"/>
          </a:graphicData>
        </a:graphic>
      </p:graphicFrame>
      <p:grpSp>
        <p:nvGrpSpPr>
          <p:cNvPr id="11" name="!!greater-china"/>
          <p:cNvGrpSpPr/>
          <p:nvPr/>
        </p:nvGrpSpPr>
        <p:grpSpPr>
          <a:xfrm>
            <a:off x="8629650" y="2502218"/>
            <a:ext cx="2288534" cy="1692783"/>
            <a:chOff x="8629650" y="2502218"/>
            <a:chExt cx="2288534" cy="1692783"/>
          </a:xfrm>
        </p:grpSpPr>
        <p:sp>
          <p:nvSpPr>
            <p:cNvPr id="7" name="TextBox 7"/>
            <p:cNvSpPr txBox="1"/>
            <p:nvPr/>
          </p:nvSpPr>
          <p:spPr>
            <a:xfrm>
              <a:off x="8641842" y="2502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大中华区 FY2025 同比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0" y="283464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−3.85%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39556" y="3539490"/>
              <a:ext cx="19204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▼ 唯一下滑的地区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41842" y="3930968"/>
              <a:ext cx="2276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占收入比 17.12% → 15.47%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641842" y="4552950"/>
            <a:ext cx="2947416" cy="1508951"/>
            <a:chOff x="8641842" y="4552950"/>
            <a:chExt cx="2947416" cy="1508951"/>
          </a:xfrm>
        </p:grpSpPr>
        <p:sp>
          <p:nvSpPr>
            <p:cNvPr id="12" name="Line 12"/>
            <p:cNvSpPr/>
            <p:nvPr/>
          </p:nvSpPr>
          <p:spPr>
            <a:xfrm>
              <a:off x="8648700" y="455295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41842" y="47120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其余地区 FY2025 同比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41842" y="4997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美洲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75810" y="49977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+6.77%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41842" y="526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欧洲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75810" y="52644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+9.58%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41842" y="5531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75855" y="553116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+14.57%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41842" y="5797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亚太其他地区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75810" y="57978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+9.91%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504" y="6210300"/>
            <a:ext cx="10984992" cy="409956"/>
            <a:chOff x="603504" y="6210300"/>
            <a:chExt cx="10984992" cy="409956"/>
          </a:xfrm>
        </p:grpSpPr>
        <p:sp>
          <p:nvSpPr>
            <p:cNvPr id="23" name="Line 23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3504" y="6385560"/>
              <a:ext cx="5084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来源:「地区分部」sheet;五个地区合计等于净销售额合计,已逐季校验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c="http://schemas.openxmlformats.org/drawingml/2006/chart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71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96265"/>
            <a:ext cx="9003487" cy="978408"/>
            <a:chOff x="592836" y="596265"/>
            <a:chExt cx="9003487" cy="9784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96265"/>
              <a:ext cx="860345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大中华区连降三个季度,Q4 是八季最低点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63955"/>
              <a:ext cx="899739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FY25 逐季环比 −13.6% / −4.0% / −5.7%;同比四个季度中三个为负</a:t>
              </a:r>
            </a:p>
          </p:txBody>
        </p:sp>
      </p:grpSp>
      <p:graphicFrame>
        <p:nvGraphicFramePr>
          <p:cNvPr id="6" name="greater-china-trend"/>
          <p:cNvGraphicFramePr>
            <a:graphicFrameLocks noGrp="1"/>
          </p:cNvGraphicFramePr>
          <p:nvPr/>
        </p:nvGraphicFramePr>
        <p:xfrm>
          <a:off x="609600" y="2247900"/>
          <a:ext cx="7924800" cy="3086100"/>
        </p:xfrm>
        <a:graphic>
          <a:graphicData uri="http://schemas.openxmlformats.org/drawingml/2006/chart">
            <c:chart r:id="rId2"/>
          </a:graphicData>
        </a:graphic>
      </p:graphicFrame>
      <p:grpSp>
        <p:nvGrpSpPr>
          <p:cNvPr id="11" name="!!greater-china"/>
          <p:cNvGrpSpPr/>
          <p:nvPr/>
        </p:nvGrpSpPr>
        <p:grpSpPr>
          <a:xfrm>
            <a:off x="8629650" y="2311718"/>
            <a:ext cx="2288534" cy="1692783"/>
            <a:chOff x="8629650" y="2311718"/>
            <a:chExt cx="2288534" cy="1692783"/>
          </a:xfrm>
        </p:grpSpPr>
        <p:sp>
          <p:nvSpPr>
            <p:cNvPr id="7" name="TextBox 7"/>
            <p:cNvSpPr txBox="1"/>
            <p:nvPr/>
          </p:nvSpPr>
          <p:spPr>
            <a:xfrm>
              <a:off x="8641842" y="23117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大中华区 FY2025 同比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0" y="264414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−3.85%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39556" y="3348990"/>
              <a:ext cx="19204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▼ 唯一下滑的地区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41842" y="3740468"/>
              <a:ext cx="2276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占收入比 17.12% → 15.47%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629650" y="4362450"/>
            <a:ext cx="2952750" cy="1775651"/>
            <a:chOff x="8629650" y="4362450"/>
            <a:chExt cx="2952750" cy="1775651"/>
          </a:xfrm>
        </p:grpSpPr>
        <p:sp>
          <p:nvSpPr>
            <p:cNvPr id="12" name="Line 12"/>
            <p:cNvSpPr/>
            <p:nvPr/>
          </p:nvSpPr>
          <p:spPr>
            <a:xfrm>
              <a:off x="8648700" y="436245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41842" y="4521518"/>
              <a:ext cx="2337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FY25 Q4 是八个季度最低点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29650" y="483489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14,493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39556" y="5539740"/>
              <a:ext cx="1241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环比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−5.7%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41842" y="5874068"/>
              <a:ext cx="20299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前值 15,369(FY25 Q3)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0456" y="5562600"/>
            <a:ext cx="7838122" cy="462534"/>
            <a:chOff x="600456" y="5562600"/>
            <a:chExt cx="7838122" cy="462534"/>
          </a:xfrm>
        </p:grpSpPr>
        <p:sp>
          <p:nvSpPr>
            <p:cNvPr id="18" name="Line 18"/>
            <p:cNvSpPr/>
            <p:nvPr/>
          </p:nvSpPr>
          <p:spPr>
            <a:xfrm>
              <a:off x="609600" y="5562600"/>
              <a:ext cx="7810500" cy="9525"/>
            </a:xfrm>
            <a:custGeom>
              <a:avLst/>
              <a:gdLst/>
              <a:ahLst/>
              <a:cxnLst/>
              <a:rect l="l" t="t" r="r" b="b"/>
              <a:pathLst>
                <a:path w="7810500" h="9525">
                  <a:moveTo>
                    <a:pt x="0" y="0"/>
                  </a:moveTo>
                  <a:lnTo>
                    <a:pt x="781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0456" y="5673090"/>
              <a:ext cx="32186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FY25 连续三个季度环比下降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82285" y="567309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−13.6%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01421" y="56730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−4.0%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921" y="56730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−5.7%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3504" y="6210300"/>
            <a:ext cx="10984992" cy="409956"/>
            <a:chOff x="603504" y="6210300"/>
            <a:chExt cx="10984992" cy="409956"/>
          </a:xfrm>
        </p:grpSpPr>
        <p:sp>
          <p:nvSpPr>
            <p:cNvPr id="24" name="Line 24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504" y="6385560"/>
              <a:ext cx="7596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来源:「地区分部」sheet 大中华区行;源表无地区 × 品类交叉,下滑归因于哪一类产品——现有口径无法判定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866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58165"/>
            <a:ext cx="8726312" cy="1283208"/>
            <a:chOff x="592836" y="558165"/>
            <a:chExt cx="8726312" cy="12832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58165"/>
              <a:ext cx="87263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毛利率升至 46.91%,提升全部来自服务占比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06805"/>
              <a:ext cx="4795266" cy="7345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产品毛利率反而由 37.18% 降到 36.77%</a:t>
              </a:r>
              <a:br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毛利率仍上升,全部来自服务占比的提高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0550" y="2292668"/>
            <a:ext cx="2170481" cy="1370266"/>
            <a:chOff x="590550" y="2292668"/>
            <a:chExt cx="2170481" cy="1370266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2292668"/>
              <a:ext cx="1281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毛利率 FY2025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260604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46.91%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3310890"/>
              <a:ext cx="1675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 xml:space="preserve">▲ FY24 </a:t>
              </a:r>
              <a:r>
                <a:rPr lang="zh-CN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46.21%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248150" y="2292668"/>
            <a:ext cx="2445410" cy="1370266"/>
            <a:chOff x="4248150" y="2292668"/>
            <a:chExt cx="2445410" cy="1370266"/>
          </a:xfrm>
        </p:grpSpPr>
        <p:sp>
          <p:nvSpPr>
            <p:cNvPr id="10" name="TextBox 10"/>
            <p:cNvSpPr txBox="1"/>
            <p:nvPr/>
          </p:nvSpPr>
          <p:spPr>
            <a:xfrm>
              <a:off x="4260342" y="2292668"/>
              <a:ext cx="2433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服务毛利率(FY25 四季合计)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48150" y="260604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75.41%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58056" y="3310890"/>
              <a:ext cx="21022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产品毛利率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36.77%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905750" y="2292668"/>
            <a:ext cx="2596744" cy="1370266"/>
            <a:chOff x="7905750" y="2292668"/>
            <a:chExt cx="2596744" cy="1370266"/>
          </a:xfrm>
        </p:grpSpPr>
        <p:sp>
          <p:nvSpPr>
            <p:cNvPr id="14" name="TextBox 14"/>
            <p:cNvSpPr txBox="1"/>
            <p:nvPr/>
          </p:nvSpPr>
          <p:spPr>
            <a:xfrm>
              <a:off x="7917942" y="22926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毛利增量中服务的贡献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05750" y="2606040"/>
              <a:ext cx="18150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77.6%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15656" y="3310890"/>
              <a:ext cx="25868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服务占全部毛利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42.17%</a:t>
              </a:r>
            </a:p>
          </p:txBody>
        </p:sp>
      </p:grpSp>
      <p:graphicFrame>
        <p:nvGraphicFramePr>
          <p:cNvPr id="18" name="quarterly-pl-matrix"/>
          <p:cNvGraphicFramePr>
            <a:graphicFrameLocks noGrp="1"/>
          </p:cNvGraphicFramePr>
          <p:nvPr/>
        </p:nvGraphicFramePr>
        <p:xfrm>
          <a:off x="609600" y="3810000"/>
          <a:ext cx="10972800" cy="2286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05000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FY24 Q1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FY24 Q2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FY24 Q3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FY24 Q4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FY25 Q1</a:t>
                      </a:r>
                    </a:p>
                  </a:txBody>
                  <a:tcPr anchor="ctr" marL="114300" marR="114300" marT="43815" marB="43815"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FY25 Q2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FY25 Q3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Consolas"/>
                          <a:ea typeface="Microsoft YaHei"/>
                          <a:cs typeface="Consolas"/>
                        </a:rPr>
                        <a:t>FY25 Q4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净销售额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119,575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90,753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85,777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94,930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124,300</a:t>
                      </a:r>
                    </a:p>
                  </a:txBody>
                  <a:tcPr anchor="ctr" marL="114300" marR="114300" marT="43815" marB="43815">
                    <a:lnL w="19050">
                      <a:solidFill>
                        <a:schemeClr val="accent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95,359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94,036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102,466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毛利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54,855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42,271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39,678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43,879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58,275</a:t>
                      </a:r>
                    </a:p>
                  </a:txBody>
                  <a:tcPr anchor="ctr" marL="114300" marR="114300" marT="43815" marB="43815">
                    <a:lnL w="19050">
                      <a:solidFill>
                        <a:schemeClr val="accent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44,867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43,718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48,341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毛利率 %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45.87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46.58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46.26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46.22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46.88</a:t>
                      </a:r>
                    </a:p>
                  </a:txBody>
                  <a:tcPr anchor="ctr" marL="114300" marR="114300" marT="43815" marB="43815">
                    <a:lnL w="19050">
                      <a:solidFill>
                        <a:schemeClr val="accent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47.05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46.49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47.18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营业利润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40,373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27,900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25,352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29,591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42,832</a:t>
                      </a:r>
                    </a:p>
                  </a:txBody>
                  <a:tcPr anchor="ctr" marL="114300" marR="114300" marT="43815" marB="43815">
                    <a:lnL w="19050">
                      <a:solidFill>
                        <a:schemeClr val="accent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29,589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28,202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32,427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营业利润率 %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33.76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30.74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29.56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31.17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34.46</a:t>
                      </a:r>
                    </a:p>
                  </a:txBody>
                  <a:tcPr anchor="ctr" marL="114300" marR="114300" marT="43815" marB="43815">
                    <a:lnL w="19050">
                      <a:solidFill>
                        <a:schemeClr val="accent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31.03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29.99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accent2"/>
                          </a:solidFill>
                          <a:latin typeface="Consolas"/>
                          <a:ea typeface="Microsoft YaHei"/>
                          <a:cs typeface="Consolas"/>
                        </a:rPr>
                        <a:t>31.65</a:t>
                      </a:r>
                    </a:p>
                  </a:txBody>
                  <a:tcPr anchor="ctr" marL="114300" marR="114300" marT="43815" marB="4381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1" name="Group 21"/>
          <p:cNvGrpSpPr/>
          <p:nvPr/>
        </p:nvGrpSpPr>
        <p:grpSpPr>
          <a:xfrm>
            <a:off x="603504" y="6385560"/>
            <a:ext cx="10984992" cy="234696"/>
            <a:chOff x="603504" y="6385560"/>
            <a:chExt cx="109849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603504" y="6385560"/>
              <a:ext cx="6958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来源:「季度损益」sheet;毛利率 = 毛利 ÷ 净销售额合计,营业利润率 = 营业利润 ÷ 净销售额合计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10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71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96265"/>
            <a:ext cx="9562605" cy="978408"/>
            <a:chOff x="592836" y="596265"/>
            <a:chExt cx="9562605" cy="9784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96265"/>
              <a:ext cx="956260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净利润 +19.50% 有基数效应,可比口径 +7.72%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63955"/>
              <a:ext cx="86191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FY24 Q4 所得税费用 14,874 含欧盟 State Aid 一次性税项 10,246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2381250"/>
            <a:ext cx="4381500" cy="2857500"/>
            <a:chOff x="609600" y="2381250"/>
            <a:chExt cx="4381500" cy="2857500"/>
          </a:xfrm>
        </p:grpSpPr>
        <p:sp>
          <p:nvSpPr>
            <p:cNvPr id="6" name="Rectangle 6"/>
            <p:cNvSpPr/>
            <p:nvPr/>
          </p:nvSpPr>
          <p:spPr>
            <a:xfrm>
              <a:off x="609600" y="2381250"/>
              <a:ext cx="4381500" cy="285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7542" y="2616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报告口径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5350" y="3101340"/>
              <a:ext cx="252587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+19.50%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5256" y="3901440"/>
              <a:ext cx="27178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FY2025 净利润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112,010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5256" y="4244340"/>
              <a:ext cx="2584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FY2024 净利润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93,736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4712018"/>
              <a:ext cx="2625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FY2024 基数被一次性税项压低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8224" y="3245168"/>
            <a:ext cx="1895551" cy="1313116"/>
            <a:chOff x="5148224" y="3245168"/>
            <a:chExt cx="1895551" cy="1313116"/>
          </a:xfrm>
        </p:grpSpPr>
        <p:sp>
          <p:nvSpPr>
            <p:cNvPr id="13" name="TextBox 13"/>
            <p:cNvSpPr txBox="1"/>
            <p:nvPr/>
          </p:nvSpPr>
          <p:spPr>
            <a:xfrm>
              <a:off x="5148224" y="3245168"/>
              <a:ext cx="1895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4342C"/>
                  </a:solidFill>
                  <a:latin typeface="+mn-lt"/>
                  <a:ea typeface="+mn-ea"/>
                  <a:cs typeface="+mn-cs"/>
                </a:rPr>
                <a:t>剔除 FY24 一次性税项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0" y="3619500"/>
              <a:ext cx="1524000" cy="419100"/>
            </a:xfrm>
            <a:prstGeom prst="rightArrow">
              <a:avLst/>
            </a:prstGeom>
            <a:solidFill>
              <a:srgbClr val="B4342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87035" y="420624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10,246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200900" y="2381250"/>
            <a:ext cx="4381500" cy="2857500"/>
            <a:chOff x="7200900" y="2381250"/>
            <a:chExt cx="4381500" cy="2857500"/>
          </a:xfrm>
        </p:grpSpPr>
        <p:sp>
          <p:nvSpPr>
            <p:cNvPr id="17" name="Rectangle 17"/>
            <p:cNvSpPr/>
            <p:nvPr/>
          </p:nvSpPr>
          <p:spPr>
            <a:xfrm>
              <a:off x="7200900" y="2381250"/>
              <a:ext cx="4381500" cy="285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98842" y="261651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可比口径(剔除一次性税项)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0" y="310134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+7.72%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556" y="3901440"/>
              <a:ext cx="27178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FY2025 净利润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112,010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556" y="4244340"/>
              <a:ext cx="24617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FY2024 还原 </a:t>
              </a:r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103,982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8842" y="4712018"/>
              <a:ext cx="2330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103,982 = 93,736 + 10,246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0456" y="5486400"/>
            <a:ext cx="10981944" cy="481584"/>
            <a:chOff x="600456" y="5486400"/>
            <a:chExt cx="10981944" cy="481584"/>
          </a:xfrm>
        </p:grpSpPr>
        <p:sp>
          <p:nvSpPr>
            <p:cNvPr id="24" name="Line 24"/>
            <p:cNvSpPr/>
            <p:nvPr/>
          </p:nvSpPr>
          <p:spPr>
            <a:xfrm>
              <a:off x="609600" y="5486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0456" y="5615940"/>
              <a:ext cx="8093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FY24 Q4 有效税率 </a:t>
              </a:r>
              <a:r>
                <a:rPr lang="zh-CN" sz="18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50.23%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,剔除后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15.63%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;其余七个季度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14.69%–16.40%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3504" y="6210300"/>
            <a:ext cx="10984992" cy="409956"/>
            <a:chOff x="603504" y="6210300"/>
            <a:chExt cx="10984992" cy="409956"/>
          </a:xfrm>
        </p:grpSpPr>
        <p:sp>
          <p:nvSpPr>
            <p:cNvPr id="27" name="Line 27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3504" y="6385560"/>
              <a:ext cx="9341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来源:「来源与口径」sheet 特殊事项行 与「季度损益」sheet 所得税费用行;有效税率 = 所得税费用 ÷(营业利润 + 其他收益净额)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71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96265"/>
            <a:ext cx="8730754" cy="978408"/>
            <a:chOff x="592836" y="596265"/>
            <a:chExt cx="8730754" cy="9784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96265"/>
              <a:ext cx="873075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研发增速快于收入,销售及管理占比反而下降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63955"/>
              <a:ext cx="69051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研发 +10.14% 快于收入 +6.43%;费率 8.02% → 8.30%</a:t>
              </a:r>
            </a:p>
          </p:txBody>
        </p:sp>
      </p:grpSp>
      <p:graphicFrame>
        <p:nvGraphicFramePr>
          <p:cNvPr id="6" name="opex-ratio-lines"/>
          <p:cNvGraphicFramePr>
            <a:graphicFrameLocks noGrp="1"/>
          </p:cNvGraphicFramePr>
          <p:nvPr/>
        </p:nvGraphicFramePr>
        <p:xfrm>
          <a:off x="609600" y="2133600"/>
          <a:ext cx="78105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8629650" y="2311718"/>
            <a:ext cx="2483815" cy="1635633"/>
            <a:chOff x="8629650" y="2311718"/>
            <a:chExt cx="2483815" cy="1635633"/>
          </a:xfrm>
        </p:grpSpPr>
        <p:sp>
          <p:nvSpPr>
            <p:cNvPr id="7" name="TextBox 7"/>
            <p:cNvSpPr txBox="1"/>
            <p:nvPr/>
          </p:nvSpPr>
          <p:spPr>
            <a:xfrm>
              <a:off x="8641842" y="2311718"/>
              <a:ext cx="245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研发费用 FY2025(百万美元)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0" y="262509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34,550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39556" y="3329940"/>
              <a:ext cx="15085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同比 </a:t>
              </a:r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+10.14%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41842" y="3683318"/>
              <a:ext cx="24716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占收入 8.30%(FY24 8.02%)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629650" y="4133850"/>
            <a:ext cx="2952750" cy="1794701"/>
            <a:chOff x="8629650" y="4133850"/>
            <a:chExt cx="2952750" cy="1794701"/>
          </a:xfrm>
        </p:grpSpPr>
        <p:sp>
          <p:nvSpPr>
            <p:cNvPr id="12" name="Line 12"/>
            <p:cNvSpPr/>
            <p:nvPr/>
          </p:nvSpPr>
          <p:spPr>
            <a:xfrm>
              <a:off x="8648700" y="413385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41842" y="4292918"/>
              <a:ext cx="204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销售及管理费用 FY2025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29650" y="460629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27,601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39556" y="5311140"/>
              <a:ext cx="13752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同比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+5.76%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41842" y="5664518"/>
              <a:ext cx="24716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占收入 6.63%(FY24 6.67%)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0456" y="5562600"/>
            <a:ext cx="7819644" cy="462534"/>
            <a:chOff x="600456" y="5562600"/>
            <a:chExt cx="7819644" cy="462534"/>
          </a:xfrm>
        </p:grpSpPr>
        <p:sp>
          <p:nvSpPr>
            <p:cNvPr id="18" name="Line 18"/>
            <p:cNvSpPr/>
            <p:nvPr/>
          </p:nvSpPr>
          <p:spPr>
            <a:xfrm>
              <a:off x="609600" y="5562600"/>
              <a:ext cx="7810500" cy="9525"/>
            </a:xfrm>
            <a:custGeom>
              <a:avLst/>
              <a:gdLst/>
              <a:ahLst/>
              <a:cxnLst/>
              <a:rect l="l" t="t" r="r" b="b"/>
              <a:pathLst>
                <a:path w="7810500" h="9525">
                  <a:moveTo>
                    <a:pt x="0" y="0"/>
                  </a:moveTo>
                  <a:lnTo>
                    <a:pt x="781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0456" y="5673090"/>
              <a:ext cx="6548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营业费用占比仅升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0.23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个百分点,营业利润率仍升到 </a:t>
              </a:r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31.97%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3504" y="6210300"/>
            <a:ext cx="10984992" cy="409956"/>
            <a:chOff x="603504" y="6210300"/>
            <a:chExt cx="10984992" cy="409956"/>
          </a:xfrm>
        </p:grpSpPr>
        <p:sp>
          <p:nvSpPr>
            <p:cNvPr id="21" name="Line 21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504" y="6385560"/>
              <a:ext cx="6869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来源:「季度损益」sheet 研发费用、销售及管理费用两行;费率 = 该项费用 ÷ 当季净销售额合计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71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96265"/>
            <a:ext cx="8286508" cy="978408"/>
            <a:chOff x="592836" y="596265"/>
            <a:chExt cx="8286508" cy="9784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96265"/>
              <a:ext cx="828650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三个必须回答的问题,每一个都缺一项数据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63955"/>
              <a:ext cx="82479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三条都由本卷数字推出;源数据不含责任人与到期日,因此不写承诺</a:t>
              </a:r>
            </a:p>
          </p:txBody>
        </p:sp>
      </p:grpSp>
      <p:grpSp>
        <p:nvGrpSpPr>
          <p:cNvPr id="15" name="!!china-risk"/>
          <p:cNvGrpSpPr/>
          <p:nvPr/>
        </p:nvGrpSpPr>
        <p:grpSpPr>
          <a:xfrm>
            <a:off x="609600" y="2190750"/>
            <a:ext cx="10972800" cy="1219200"/>
            <a:chOff x="609600" y="2190750"/>
            <a:chExt cx="10972800" cy="1219200"/>
          </a:xfrm>
        </p:grpSpPr>
        <p:sp>
          <p:nvSpPr>
            <p:cNvPr id="6" name="Rectangle 6"/>
            <p:cNvSpPr/>
            <p:nvPr/>
          </p:nvSpPr>
          <p:spPr>
            <a:xfrm>
              <a:off x="609600" y="2190750"/>
              <a:ext cx="10972800" cy="1219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7636" y="2482215"/>
              <a:ext cx="52219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65732" y="2364105"/>
              <a:ext cx="65673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大中华区的下滑是区域需求问题,还是产品组合问题?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7256" y="2758440"/>
              <a:ext cx="707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证据:连降三季,FY25 Q4 </a:t>
              </a:r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14,493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为八季最低;同期日本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+14.57%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9542" y="3111818"/>
              <a:ext cx="3593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现有口径无法判定;需要地区 × 品类交叉数据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0847759" y="2609866"/>
              <a:ext cx="288171" cy="247577"/>
              <a:chOff x="10847759" y="2609866"/>
              <a:chExt cx="288171" cy="2475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991850" y="27003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B4342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847759" y="260986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rgbClr val="B4342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991850" y="2800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B4342C"/>
                </a:solidFill>
              </a:ln>
            </p:spPr>
          </p:sp>
        </p:grpSp>
      </p:grpSp>
      <p:grpSp>
        <p:nvGrpSpPr>
          <p:cNvPr id="25" name="Group 25"/>
          <p:cNvGrpSpPr/>
          <p:nvPr/>
        </p:nvGrpSpPr>
        <p:grpSpPr>
          <a:xfrm>
            <a:off x="609600" y="3543300"/>
            <a:ext cx="10972800" cy="1219200"/>
            <a:chOff x="609600" y="3543300"/>
            <a:chExt cx="10972800" cy="1219200"/>
          </a:xfrm>
        </p:grpSpPr>
        <p:sp>
          <p:nvSpPr>
            <p:cNvPr id="16" name="Rectangle 16"/>
            <p:cNvSpPr/>
            <p:nvPr/>
          </p:nvSpPr>
          <p:spPr>
            <a:xfrm>
              <a:off x="609600" y="3543300"/>
              <a:ext cx="10972800" cy="1219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7636" y="3834765"/>
              <a:ext cx="52219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5732" y="3716655"/>
              <a:ext cx="54364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可穿戴的收缩是产品周期,还是趋势性下行?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67256" y="4110990"/>
              <a:ext cx="69642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证据:全年 </a:t>
              </a:r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−3.56%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,FY25 Q3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−8.56%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最深,Q4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−0.32%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几乎持平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9542" y="4464368"/>
              <a:ext cx="3930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现有口径无法判定;需要品类内的单品与出货口径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0847759" y="3962416"/>
              <a:ext cx="288171" cy="247577"/>
              <a:chOff x="10847759" y="3962416"/>
              <a:chExt cx="288171" cy="24757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0991850" y="405288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B4342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847759" y="396241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rgbClr val="B4342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991850" y="4152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B4342C"/>
                </a:solidFill>
              </a:ln>
            </p:spPr>
          </p:sp>
        </p:grpSp>
      </p:grpSp>
      <p:grpSp>
        <p:nvGrpSpPr>
          <p:cNvPr id="35" name="Group 35"/>
          <p:cNvGrpSpPr/>
          <p:nvPr/>
        </p:nvGrpSpPr>
        <p:grpSpPr>
          <a:xfrm>
            <a:off x="609600" y="4895850"/>
            <a:ext cx="10972800" cy="1219200"/>
            <a:chOff x="609600" y="4895850"/>
            <a:chExt cx="10972800" cy="1219200"/>
          </a:xfrm>
        </p:grpSpPr>
        <p:sp>
          <p:nvSpPr>
            <p:cNvPr id="26" name="Rectangle 26"/>
            <p:cNvSpPr/>
            <p:nvPr/>
          </p:nvSpPr>
          <p:spPr>
            <a:xfrm>
              <a:off x="609600" y="4895850"/>
              <a:ext cx="10972800" cy="1219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7636" y="5187315"/>
              <a:ext cx="52219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8A5A1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65732" y="5069205"/>
              <a:ext cx="43056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毛利对服务的依赖度,敞口有多大?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67256" y="5463540"/>
              <a:ext cx="70575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证据:毛利增量的 </a:t>
              </a:r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77.6%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来自服务,服务毛利已占全部毛利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42.17%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69542" y="5816918"/>
              <a:ext cx="3566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现有口径无法判定;需要服务收入的构成拆分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0847759" y="5314966"/>
              <a:ext cx="288171" cy="247577"/>
              <a:chOff x="10847759" y="5314966"/>
              <a:chExt cx="288171" cy="24757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991850" y="54054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8A5A1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847759" y="531496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rgbClr val="8A5A1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991850" y="550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8A5A12"/>
                </a:solidFill>
              </a:ln>
            </p:spPr>
          </p:sp>
        </p:grpSp>
      </p:grpSp>
      <p:grpSp>
        <p:nvGrpSpPr>
          <p:cNvPr id="38" name="Group 38"/>
          <p:cNvGrpSpPr/>
          <p:nvPr/>
        </p:nvGrpSpPr>
        <p:grpSpPr>
          <a:xfrm>
            <a:off x="603504" y="6385560"/>
            <a:ext cx="10984992" cy="234696"/>
            <a:chOff x="603504" y="6385560"/>
            <a:chExt cx="109849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385560"/>
              <a:ext cx="7232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来源:P06 / P08 / P09 的页面证据;"现有口径无法判定"指两个源文件不含该维度,不是尚未分析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71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96265"/>
            <a:ext cx="8973617" cy="978408"/>
            <a:chOff x="592836" y="596265"/>
            <a:chExt cx="8973617" cy="9784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96265"/>
              <a:ext cx="721032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总量健康,质量提升,风险集中在两处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63955"/>
              <a:ext cx="89675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FY2025 可以用三个数字复述:+6.43%、46.91%、可比口径 +7.72%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0550" y="2292668"/>
            <a:ext cx="2170481" cy="2130933"/>
            <a:chOff x="590550" y="2292668"/>
            <a:chExt cx="2170481" cy="2130933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2292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260604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+6.43%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3392805"/>
              <a:ext cx="1888236" cy="7345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收入 </a:t>
              </a:r>
              <a:r>
                <a:rPr lang="zh-CN" sz="21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416,161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四季同比全为正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4159568"/>
              <a:ext cx="1693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FY2024 为 391,035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248150" y="2292668"/>
            <a:ext cx="2170481" cy="2130933"/>
            <a:chOff x="4248150" y="2292668"/>
            <a:chExt cx="2170481" cy="2130933"/>
          </a:xfrm>
        </p:grpSpPr>
        <p:sp>
          <p:nvSpPr>
            <p:cNvPr id="11" name="TextBox 11"/>
            <p:cNvSpPr txBox="1"/>
            <p:nvPr/>
          </p:nvSpPr>
          <p:spPr>
            <a:xfrm>
              <a:off x="4260342" y="2292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质量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48150" y="260604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46.91%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56532" y="3392805"/>
              <a:ext cx="2154936" cy="7345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毛利率上升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但产品毛利率在降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60342" y="4159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提升全部来自服务占比</a:t>
              </a:r>
            </a:p>
          </p:txBody>
        </p:sp>
      </p:grpSp>
      <p:grpSp>
        <p:nvGrpSpPr>
          <p:cNvPr id="20" name="!!china-risk"/>
          <p:cNvGrpSpPr/>
          <p:nvPr/>
        </p:nvGrpSpPr>
        <p:grpSpPr>
          <a:xfrm>
            <a:off x="7905750" y="2292668"/>
            <a:ext cx="2170481" cy="2130933"/>
            <a:chOff x="7905750" y="2292668"/>
            <a:chExt cx="2170481" cy="2130933"/>
          </a:xfrm>
        </p:grpSpPr>
        <p:sp>
          <p:nvSpPr>
            <p:cNvPr id="16" name="TextBox 16"/>
            <p:cNvSpPr txBox="1"/>
            <p:nvPr/>
          </p:nvSpPr>
          <p:spPr>
            <a:xfrm>
              <a:off x="7917942" y="2292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05750" y="2606040"/>
              <a:ext cx="21704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B4342C"/>
                  </a:solidFill>
                  <a:latin typeface="Consolas"/>
                  <a:ea typeface="Consolas"/>
                  <a:cs typeface="Consolas"/>
                </a:rPr>
                <a:t>−3.85%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14132" y="3392805"/>
              <a:ext cx="1781556" cy="7345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大中华区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可穿戴 </a:t>
              </a:r>
              <a:r>
                <a:rPr lang="zh-CN" sz="21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−3.56%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7942" y="41595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仅有的两条收缩序列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0456" y="5029200"/>
            <a:ext cx="10981944" cy="957834"/>
            <a:chOff x="600456" y="5029200"/>
            <a:chExt cx="10981944" cy="957834"/>
          </a:xfrm>
        </p:grpSpPr>
        <p:sp>
          <p:nvSpPr>
            <p:cNvPr id="21" name="Line 21"/>
            <p:cNvSpPr/>
            <p:nvPr/>
          </p:nvSpPr>
          <p:spPr>
            <a:xfrm>
              <a:off x="609600" y="502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7700" y="5162550"/>
              <a:ext cx="228599" cy="228599"/>
              <a:chOff x="647700" y="5162550"/>
              <a:chExt cx="228599" cy="22859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49300" y="52641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98500" y="52133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7700" y="51625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19556" y="51777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下一期复盘请带上三项数据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0456" y="5634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地区 × 品类交叉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10456" y="5634990"/>
              <a:ext cx="26474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可穿戴单品与出货口径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20456" y="5634990"/>
              <a:ext cx="21627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服务收入构成拆分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3504" y="6385560"/>
            <a:ext cx="10984992" cy="234696"/>
            <a:chOff x="603504" y="6385560"/>
            <a:chExt cx="109849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385560"/>
              <a:ext cx="67624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可比口径 = 剔除 FY24 Q4 欧盟 State Aid 一次性税项 10,246 后的 FY2024 净利润 103,982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" y="171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2836" y="596265"/>
            <a:ext cx="7783889" cy="978408"/>
            <a:chOff x="592836" y="596265"/>
            <a:chExt cx="7783889" cy="978408"/>
          </a:xfrm>
        </p:grpSpPr>
        <p:sp>
          <p:nvSpPr>
            <p:cNvPr id="3" name="TextBox 3"/>
            <p:cNvSpPr txBox="1"/>
            <p:nvPr/>
          </p:nvSpPr>
          <p:spPr>
            <a:xfrm>
              <a:off x="592836" y="59626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数据来源与口径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163955"/>
              <a:ext cx="77777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全部数字取自 Apple Newsroom 公开的四份季度合并财务报表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2095500"/>
            <a:ext cx="6477000" cy="708851"/>
            <a:chOff x="609600" y="2095500"/>
            <a:chExt cx="6477000" cy="708851"/>
          </a:xfrm>
        </p:grpSpPr>
        <p:sp>
          <p:nvSpPr>
            <p:cNvPr id="6" name="Rectangle 6">
              <a:hlinkClick r:id="rId2"/>
            </p:cNvPr>
            <p:cNvSpPr/>
            <p:nvPr/>
          </p:nvSpPr>
          <p:spPr>
            <a:xfrm>
              <a:off x="609600" y="2095500"/>
              <a:ext cx="64770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44549" y="2353596"/>
              <a:ext cx="183215" cy="188636"/>
              <a:chOff x="844549" y="2353596"/>
              <a:chExt cx="183215" cy="188636"/>
            </a:xfrm>
          </p:grpSpPr>
          <p:sp>
            <p:nvSpPr>
              <p:cNvPr id="7" name="Freeform 7">
                <a:hlinkClick r:id="rId2"/>
              </p:cNvPr>
              <p:cNvSpPr/>
              <p:nvPr/>
            </p:nvSpPr>
            <p:spPr>
              <a:xfrm>
                <a:off x="900113" y="24145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8" name="Freeform 8">
                <a:hlinkClick r:id="rId2"/>
              </p:cNvPr>
              <p:cNvSpPr/>
              <p:nvPr/>
            </p:nvSpPr>
            <p:spPr>
              <a:xfrm>
                <a:off x="922338" y="2353596"/>
                <a:ext cx="105426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6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7" y="0"/>
                      <a:pt x="62029" y="2"/>
                      <a:pt x="83727" y="21704"/>
                    </a:cubicBezTo>
                    <a:cubicBezTo>
                      <a:pt x="105426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9" name="Freeform 9">
                <a:hlinkClick r:id="rId2"/>
              </p:cNvPr>
              <p:cNvSpPr/>
              <p:nvPr/>
            </p:nvSpPr>
            <p:spPr>
              <a:xfrm>
                <a:off x="844549" y="2436813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8"/>
                    </a:moveTo>
                    <a:lnTo>
                      <a:pt x="95603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1" name="TextBox 11">
              <a:hlinkClick r:id="rId2"/>
            </p:cNvPr>
            <p:cNvSpPr txBox="1"/>
            <p:nvPr/>
          </p:nvSpPr>
          <p:spPr>
            <a:xfrm>
              <a:off x="1210056" y="2205990"/>
              <a:ext cx="26566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FY25 Q1 合并财务报表</a:t>
              </a:r>
            </a:p>
          </p:txBody>
        </p:sp>
        <p:sp>
          <p:nvSpPr>
            <p:cNvPr id="12" name="TextBox 12">
              <a:hlinkClick r:id="rId2"/>
            </p:cNvPr>
            <p:cNvSpPr txBox="1"/>
            <p:nvPr/>
          </p:nvSpPr>
          <p:spPr>
            <a:xfrm>
              <a:off x="1212342" y="2540318"/>
              <a:ext cx="386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apple.com/newsroom · 季度截止 2024-12-28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914650"/>
            <a:ext cx="6477000" cy="708851"/>
            <a:chOff x="609600" y="2914650"/>
            <a:chExt cx="6477000" cy="708851"/>
          </a:xfrm>
        </p:grpSpPr>
        <p:sp>
          <p:nvSpPr>
            <p:cNvPr id="14" name="Rectangle 14">
              <a:hlinkClick r:id="rId3"/>
            </p:cNvPr>
            <p:cNvSpPr/>
            <p:nvPr/>
          </p:nvSpPr>
          <p:spPr>
            <a:xfrm>
              <a:off x="609600" y="2914650"/>
              <a:ext cx="64770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44549" y="3172746"/>
              <a:ext cx="183215" cy="188636"/>
              <a:chOff x="844549" y="3172746"/>
              <a:chExt cx="183215" cy="188636"/>
            </a:xfrm>
          </p:grpSpPr>
          <p:sp>
            <p:nvSpPr>
              <p:cNvPr id="15" name="Freeform 15">
                <a:hlinkClick r:id="rId3"/>
              </p:cNvPr>
              <p:cNvSpPr/>
              <p:nvPr/>
            </p:nvSpPr>
            <p:spPr>
              <a:xfrm>
                <a:off x="900113" y="32337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6" name="Freeform 16">
                <a:hlinkClick r:id="rId3"/>
              </p:cNvPr>
              <p:cNvSpPr/>
              <p:nvPr/>
            </p:nvSpPr>
            <p:spPr>
              <a:xfrm>
                <a:off x="922338" y="3172746"/>
                <a:ext cx="105426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6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7" y="0"/>
                      <a:pt x="62029" y="2"/>
                      <a:pt x="83727" y="21704"/>
                    </a:cubicBezTo>
                    <a:cubicBezTo>
                      <a:pt x="105426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7" name="Freeform 17">
                <a:hlinkClick r:id="rId3"/>
              </p:cNvPr>
              <p:cNvSpPr/>
              <p:nvPr/>
            </p:nvSpPr>
            <p:spPr>
              <a:xfrm>
                <a:off x="844549" y="3255963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8"/>
                    </a:moveTo>
                    <a:lnTo>
                      <a:pt x="95603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9" name="TextBox 19">
              <a:hlinkClick r:id="rId3"/>
            </p:cNvPr>
            <p:cNvSpPr txBox="1"/>
            <p:nvPr/>
          </p:nvSpPr>
          <p:spPr>
            <a:xfrm>
              <a:off x="1210056" y="3025140"/>
              <a:ext cx="26566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FY25 Q2 合并财务报表</a:t>
              </a:r>
            </a:p>
          </p:txBody>
        </p:sp>
        <p:sp>
          <p:nvSpPr>
            <p:cNvPr id="20" name="TextBox 20">
              <a:hlinkClick r:id="rId3"/>
            </p:cNvPr>
            <p:cNvSpPr txBox="1"/>
            <p:nvPr/>
          </p:nvSpPr>
          <p:spPr>
            <a:xfrm>
              <a:off x="1212342" y="3359468"/>
              <a:ext cx="386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apple.com/newsroom · 季度截止 2025-03-29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733800"/>
            <a:ext cx="6477000" cy="708851"/>
            <a:chOff x="609600" y="3733800"/>
            <a:chExt cx="6477000" cy="708851"/>
          </a:xfrm>
        </p:grpSpPr>
        <p:sp>
          <p:nvSpPr>
            <p:cNvPr id="22" name="Rectangle 22">
              <a:hlinkClick r:id="rId4"/>
            </p:cNvPr>
            <p:cNvSpPr/>
            <p:nvPr/>
          </p:nvSpPr>
          <p:spPr>
            <a:xfrm>
              <a:off x="609600" y="3733800"/>
              <a:ext cx="64770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44549" y="3991896"/>
              <a:ext cx="183215" cy="188636"/>
              <a:chOff x="844549" y="3991896"/>
              <a:chExt cx="183215" cy="188636"/>
            </a:xfrm>
          </p:grpSpPr>
          <p:sp>
            <p:nvSpPr>
              <p:cNvPr id="23" name="Freeform 23">
                <a:hlinkClick r:id="rId4"/>
              </p:cNvPr>
              <p:cNvSpPr/>
              <p:nvPr/>
            </p:nvSpPr>
            <p:spPr>
              <a:xfrm>
                <a:off x="900113" y="40528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4" name="Freeform 24">
                <a:hlinkClick r:id="rId4"/>
              </p:cNvPr>
              <p:cNvSpPr/>
              <p:nvPr/>
            </p:nvSpPr>
            <p:spPr>
              <a:xfrm>
                <a:off x="922338" y="3991896"/>
                <a:ext cx="105426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6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7" y="0"/>
                      <a:pt x="62029" y="2"/>
                      <a:pt x="83727" y="21704"/>
                    </a:cubicBezTo>
                    <a:cubicBezTo>
                      <a:pt x="105426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5" name="Freeform 25">
                <a:hlinkClick r:id="rId4"/>
              </p:cNvPr>
              <p:cNvSpPr/>
              <p:nvPr/>
            </p:nvSpPr>
            <p:spPr>
              <a:xfrm>
                <a:off x="844549" y="4075113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8"/>
                    </a:moveTo>
                    <a:lnTo>
                      <a:pt x="95603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7" name="TextBox 27">
              <a:hlinkClick r:id="rId4"/>
            </p:cNvPr>
            <p:cNvSpPr txBox="1"/>
            <p:nvPr/>
          </p:nvSpPr>
          <p:spPr>
            <a:xfrm>
              <a:off x="1210056" y="3844290"/>
              <a:ext cx="26566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FY25 Q3 合并财务报表</a:t>
              </a:r>
            </a:p>
          </p:txBody>
        </p:sp>
        <p:sp>
          <p:nvSpPr>
            <p:cNvPr id="28" name="TextBox 28">
              <a:hlinkClick r:id="rId4"/>
            </p:cNvPr>
            <p:cNvSpPr txBox="1"/>
            <p:nvPr/>
          </p:nvSpPr>
          <p:spPr>
            <a:xfrm>
              <a:off x="1212342" y="4178618"/>
              <a:ext cx="386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apple.com/newsroom · 季度截止 2025-06-28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4552950"/>
            <a:ext cx="6477000" cy="708851"/>
            <a:chOff x="609600" y="4552950"/>
            <a:chExt cx="6477000" cy="708851"/>
          </a:xfrm>
        </p:grpSpPr>
        <p:sp>
          <p:nvSpPr>
            <p:cNvPr id="30" name="Rectangle 30">
              <a:hlinkClick r:id="rId5"/>
            </p:cNvPr>
            <p:cNvSpPr/>
            <p:nvPr/>
          </p:nvSpPr>
          <p:spPr>
            <a:xfrm>
              <a:off x="609600" y="4552950"/>
              <a:ext cx="64770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44549" y="4811046"/>
              <a:ext cx="183215" cy="188636"/>
              <a:chOff x="844549" y="4811046"/>
              <a:chExt cx="183215" cy="188636"/>
            </a:xfrm>
          </p:grpSpPr>
          <p:sp>
            <p:nvSpPr>
              <p:cNvPr id="31" name="Freeform 31">
                <a:hlinkClick r:id="rId5"/>
              </p:cNvPr>
              <p:cNvSpPr/>
              <p:nvPr/>
            </p:nvSpPr>
            <p:spPr>
              <a:xfrm>
                <a:off x="900113" y="48720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2" name="Freeform 32">
                <a:hlinkClick r:id="rId5"/>
              </p:cNvPr>
              <p:cNvSpPr/>
              <p:nvPr/>
            </p:nvSpPr>
            <p:spPr>
              <a:xfrm>
                <a:off x="922338" y="4811046"/>
                <a:ext cx="105426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6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7" y="0"/>
                      <a:pt x="62029" y="2"/>
                      <a:pt x="83727" y="21704"/>
                    </a:cubicBezTo>
                    <a:cubicBezTo>
                      <a:pt x="105426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3" name="Freeform 33">
                <a:hlinkClick r:id="rId5"/>
              </p:cNvPr>
              <p:cNvSpPr/>
              <p:nvPr/>
            </p:nvSpPr>
            <p:spPr>
              <a:xfrm>
                <a:off x="844549" y="4894263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8"/>
                    </a:moveTo>
                    <a:lnTo>
                      <a:pt x="95603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5" name="TextBox 35">
              <a:hlinkClick r:id="rId5"/>
            </p:cNvPr>
            <p:cNvSpPr txBox="1"/>
            <p:nvPr/>
          </p:nvSpPr>
          <p:spPr>
            <a:xfrm>
              <a:off x="1210056" y="4663440"/>
              <a:ext cx="26566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FY25 Q4 合并财务报表</a:t>
              </a:r>
            </a:p>
          </p:txBody>
        </p:sp>
        <p:sp>
          <p:nvSpPr>
            <p:cNvPr id="36" name="TextBox 36">
              <a:hlinkClick r:id="rId5"/>
            </p:cNvPr>
            <p:cNvSpPr txBox="1"/>
            <p:nvPr/>
          </p:nvSpPr>
          <p:spPr>
            <a:xfrm>
              <a:off x="1212342" y="4997768"/>
              <a:ext cx="5012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apple.com/newsroom · 含 FY2025 与 FY2024 十二个月合计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382256" y="2147888"/>
            <a:ext cx="3434944" cy="2848546"/>
            <a:chOff x="7382256" y="2147888"/>
            <a:chExt cx="3434944" cy="2848546"/>
          </a:xfrm>
        </p:grpSpPr>
        <p:grpSp>
          <p:nvGrpSpPr>
            <p:cNvPr id="43" name="Group 43"/>
            <p:cNvGrpSpPr/>
            <p:nvPr/>
          </p:nvGrpSpPr>
          <p:grpSpPr>
            <a:xfrm>
              <a:off x="7446963" y="2147888"/>
              <a:ext cx="155575" cy="200026"/>
              <a:chOff x="7446963" y="2147888"/>
              <a:chExt cx="155575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546975" y="21478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rgbClr val="64748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446963" y="214788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rgbClr val="64748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491413" y="221456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rgbClr val="64748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91413" y="22590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64748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491413" y="23034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64748B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765542" y="2178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82256" y="2567940"/>
              <a:ext cx="3434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单位:百万美元;每股收益为美元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82256" y="3044190"/>
              <a:ext cx="30230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财年为苹果财年,9 月底截止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82256" y="3520440"/>
              <a:ext cx="276148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FY24 各季度取自对应 FY25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季度报表的上年同期列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82256" y="4320540"/>
              <a:ext cx="313867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特殊事项:FY24 Q4 所得税费用</a:t>
              </a:r>
              <a:br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14,874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含一次性税项 </a:t>
              </a:r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10,246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2742" y="5486400"/>
            <a:ext cx="10979658" cy="442151"/>
            <a:chOff x="602742" y="5486400"/>
            <a:chExt cx="10979658" cy="442151"/>
          </a:xfrm>
        </p:grpSpPr>
        <p:sp>
          <p:nvSpPr>
            <p:cNvPr id="50" name="Line 50"/>
            <p:cNvSpPr/>
            <p:nvPr/>
          </p:nvSpPr>
          <p:spPr>
            <a:xfrm>
              <a:off x="609600" y="5486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2742" y="5664518"/>
              <a:ext cx="8687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整理:2026-09-05 由 PPT Master 维护者从上述 PDF 逐项抄录并校验各分部/品类合计等于净销售额合计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3504" y="6385560"/>
            <a:ext cx="10984992" cy="234696"/>
            <a:chOff x="603504" y="6385560"/>
            <a:chExt cx="10984992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603504" y="6385560"/>
              <a:ext cx="6740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品类明细另见 apple_fy2025_product_categories.csv,与「年度汇总」sheet 交叉校验一致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98606" y="63855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apple_fy2025_review">
  <a:themeElements>
    <a:clrScheme name="ppt169_apple_fy2025_review">
      <a:dk1>
        <a:srgbClr val="1E293B"/>
      </a:dk1>
      <a:lt1>
        <a:srgbClr val="FFFFFF"/>
      </a:lt1>
      <a:dk2>
        <a:srgbClr val="1F497D"/>
      </a:dk2>
      <a:lt2>
        <a:srgbClr val="F4F6F8"/>
      </a:lt2>
      <a:accent1>
        <a:srgbClr val="1E293B"/>
      </a:accent1>
      <a:accent2>
        <a:srgbClr val="2B6CB0"/>
      </a:accent2>
      <a:accent3>
        <a:srgbClr val="2E7D5B"/>
      </a:accent3>
      <a:accent4>
        <a:srgbClr val="1E293B"/>
      </a:accent4>
      <a:accent5>
        <a:srgbClr val="64748B"/>
      </a:accent5>
      <a:accent6>
        <a:srgbClr val="D8DEE6"/>
      </a:accent6>
      <a:hlink>
        <a:srgbClr val="2B6CB0"/>
      </a:hlink>
      <a:folHlink>
        <a:srgbClr val="2E7D5B"/>
      </a:folHlink>
    </a:clrScheme>
    <a:fontScheme name="ppt169_apple_fy2025_review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apple_fy2025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apple_fy2025_review">
  <a:themeElements>
    <a:clrScheme name="ppt169_apple_fy2025_review">
      <a:dk1>
        <a:srgbClr val="1E293B"/>
      </a:dk1>
      <a:lt1>
        <a:srgbClr val="FFFFFF"/>
      </a:lt1>
      <a:dk2>
        <a:srgbClr val="1F497D"/>
      </a:dk2>
      <a:lt2>
        <a:srgbClr val="F4F6F8"/>
      </a:lt2>
      <a:accent1>
        <a:srgbClr val="1E293B"/>
      </a:accent1>
      <a:accent2>
        <a:srgbClr val="2B6CB0"/>
      </a:accent2>
      <a:accent3>
        <a:srgbClr val="2E7D5B"/>
      </a:accent3>
      <a:accent4>
        <a:srgbClr val="1E293B"/>
      </a:accent4>
      <a:accent5>
        <a:srgbClr val="64748B"/>
      </a:accent5>
      <a:accent6>
        <a:srgbClr val="D8DEE6"/>
      </a:accent6>
      <a:hlink>
        <a:srgbClr val="2B6CB0"/>
      </a:hlink>
      <a:folHlink>
        <a:srgbClr val="2E7D5B"/>
      </a:folHlink>
    </a:clrScheme>
    <a:fontScheme name="ppt169_apple_fy2025_review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apple_fy2025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2026-09-05T13:57:42Z</dcterms:created>
  <dcterms:modified xsi:type="dcterms:W3CDTF">2026-09-05T13:57:42Z</dcterms:modified>
  <cp:category/>
  <cp:contentStatus/>
</cp:coreProperties>
</file>