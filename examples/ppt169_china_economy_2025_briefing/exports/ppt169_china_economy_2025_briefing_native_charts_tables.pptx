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charts/chart1001.xml" ContentType="application/vnd.openxmlformats-officedocument.drawingml.chart+xml"/>
  <Override PartName="/ppt/charts/chart1101.xml" ContentType="application/vnd.openxmlformats-officedocument.drawingml.chart+xml"/>
  <Override PartName="/ppt/charts/chart1301.xml" ContentType="application/vnd.openxmlformats-officedocument.drawingml.chart+xml"/>
  <Override PartName="/ppt/charts/chart1401.xml" ContentType="application/vnd.openxmlformats-officedocument.drawingml.chart+xml"/>
  <Override PartName="/ppt/charts/chart301.xml" ContentType="application/vnd.openxmlformats-officedocument.drawingml.chart+xml"/>
  <Override PartName="/ppt/charts/chart401.xml" ContentType="application/vnd.openxmlformats-officedocument.drawingml.chart+xml"/>
  <Override PartName="/ppt/charts/chart701.xml" ContentType="application/vnd.openxmlformats-officedocument.drawingml.chart+xml"/>
  <Override PartName="/ppt/charts/chart801.xml" ContentType="application/vnd.openxmlformats-officedocument.drawingml.chart+xml"/>
  <Override PartName="/ppt/charts/chart901.xml" ContentType="application/vnd.openxmlformats-officedocument.drawingml.chart+xml"/>
  <Override PartName="/ppt/charts/chartEx501.xml" ContentType="application/vnd.ms-office.chartex+xml"/>
  <Override PartName="/ppt/charts/colors501.xml" ContentType="application/vnd.ms-office.chartcolorstyle+xml"/>
  <Override PartName="/ppt/charts/style501.xml" ContentType="application/vnd.ms-office.chartstyle+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24"/>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  <Relationship Id="rId24" Type="http://schemas.openxmlformats.org/officeDocument/2006/relationships/notesMaster" Target="notesMasters/notesMaster1.xml"/>
</Relationships>
</file>

<file path=ppt/charts/_rels/chart301.xml.rels><?xml version="1.0" encoding="UTF-8" standalone="yes"?>
<Relationships xmlns="http://schemas.openxmlformats.org/package/2006/relationships">
<Relationship Id="rId1" Type="http://schemas.openxmlformats.org/officeDocument/2006/relationships/package" Target="../embeddings/Microsoft_Excel_Sheet301.xlsx"/>
</Relationships>
</file>

<file path=ppt/charts/_rels/chart401.xml.rels><?xml version="1.0" encoding="UTF-8" standalone="yes"?>
<Relationships xmlns="http://schemas.openxmlformats.org/package/2006/relationships">
<Relationship Id="rId1" Type="http://schemas.openxmlformats.org/officeDocument/2006/relationships/package" Target="../embeddings/Microsoft_Excel_Sheet401.xlsx"/>
</Relationships>
</file>

<file path=ppt/charts/_rels/chart701.xml.rels><?xml version="1.0" encoding="UTF-8" standalone="yes"?>
<Relationships xmlns="http://schemas.openxmlformats.org/package/2006/relationships">
<Relationship Id="rId1" Type="http://schemas.openxmlformats.org/officeDocument/2006/relationships/package" Target="../embeddings/Microsoft_Excel_Sheet701.xlsx"/>
</Relationships>
</file>

<file path=ppt/charts/_rels/chart801.xml.rels><?xml version="1.0" encoding="UTF-8" standalone="yes"?>
<Relationships xmlns="http://schemas.openxmlformats.org/package/2006/relationships">
<Relationship Id="rId1" Type="http://schemas.openxmlformats.org/officeDocument/2006/relationships/package" Target="../embeddings/Microsoft_Excel_Sheet801.xlsx"/>
</Relationships>
</file>

<file path=ppt/charts/_rels/chart901.xml.rels><?xml version="1.0" encoding="UTF-8" standalone="yes"?>
<Relationships xmlns="http://schemas.openxmlformats.org/package/2006/relationships">
<Relationship Id="rId1" Type="http://schemas.openxmlformats.org/officeDocument/2006/relationships/package" Target="../embeddings/Microsoft_Excel_Sheet901.xlsx"/>
</Relationships>
</file>

<file path=ppt/charts/_rels/chart1001.xml.rels><?xml version="1.0" encoding="UTF-8" standalone="yes"?>
<Relationships xmlns="http://schemas.openxmlformats.org/package/2006/relationships">
<Relationship Id="rId1" Type="http://schemas.openxmlformats.org/officeDocument/2006/relationships/package" Target="../embeddings/Microsoft_Excel_Sheet1001.xlsx"/>
</Relationships>
</file>

<file path=ppt/charts/_rels/chart1101.xml.rels><?xml version="1.0" encoding="UTF-8" standalone="yes"?>
<Relationships xmlns="http://schemas.openxmlformats.org/package/2006/relationships">
<Relationship Id="rId1" Type="http://schemas.openxmlformats.org/officeDocument/2006/relationships/package" Target="../embeddings/Microsoft_Excel_Sheet1101.xlsx"/>
</Relationships>
</file>

<file path=ppt/charts/_rels/chart1301.xml.rels><?xml version="1.0" encoding="UTF-8" standalone="yes"?>
<Relationships xmlns="http://schemas.openxmlformats.org/package/2006/relationships">
<Relationship Id="rId1" Type="http://schemas.openxmlformats.org/officeDocument/2006/relationships/package" Target="../embeddings/Microsoft_Excel_Sheet1301.xlsx"/>
</Relationships>
</file>

<file path=ppt/charts/_rels/chart1401.xml.rels><?xml version="1.0" encoding="UTF-8" standalone="yes"?>
<Relationships xmlns="http://schemas.openxmlformats.org/package/2006/relationships">
<Relationship Id="rId1" Type="http://schemas.openxmlformats.org/officeDocument/2006/relationships/package" Target="../embeddings/Microsoft_Excel_Sheet1401.xlsx"/>
</Relationships>
</file>

<file path=ppt/charts/_rels/chartEx501.xml.rels><?xml version="1.0" encoding="UTF-8" standalone="yes"?>
<Relationships xmlns="http://schemas.openxmlformats.org/package/2006/relationships">
<Relationship Id="rId1" Type="http://schemas.openxmlformats.org/officeDocument/2006/relationships/package" Target="../embeddings/Microsoft_Excel_Sheet501.xlsx"/>
<Relationship Id="rId2" Type="http://schemas.microsoft.com/office/2011/relationships/chartStyle" Target="style501.xml"/>
<Relationship Id="rId3" Type="http://schemas.microsoft.com/office/2011/relationships/chartColorStyle" Target="colors501.xml"/>
</Relationships>
</file>

<file path=ppt/charts/chart301.xml><?xml version="1.0" encoding="utf-8"?>
<c:chartSpace xmlns:c="http://schemas.openxmlformats.org/drawingml/2006/chart" xmlns:a="http://schemas.openxmlformats.org/drawingml/2006/main" xmlns:r="http://schemas.openxmlformats.org/officeDocument/2006/relationships">
  <c:date1904 val="0"/>
  <c:lang val="zh-CN"/>
  <c:chart>
    <c:autoTitleDeleted val="1"/>
    <c:plotArea>
      <c:layout>
        <c:manualLayout>
          <c:layoutTarget val="inner"/>
          <c:xMode val="edge"/>
          <c:yMode val="edge"/>
          <c:wMode val="factor"/>
          <c:hMode val="factor"/>
          <c:x val="0.104651162791"/>
          <c:y val="0.0952380952381"/>
          <c:w val="0.843023255814"/>
          <c:h val="0.738095238095"/>
        </c:manualLayout>
      </c:layout>
      <c:lineChart>
        <c:grouping val="standard"/>
        <c:varyColors val="0"/>
        <c:ser>
          <c:idx val="0"/>
          <c:order val="0"/>
          <c:tx>
            <c:strRef>
              <c:f>Sheet1!$B$1</c:f>
              <c:strCache>
                <c:ptCount val="1"/>
                <c:pt idx="0">
                  <c:v>国内生产总值同比增速</c:v>
                </c:pt>
              </c:strCache>
            </c:strRef>
          </c:tx>
          <c:spPr>
            <a:solidFill>
              <a:schemeClr val="accent1"/>
            </a:solidFill>
            <a:ln w="28575">
              <a:solidFill>
                <a:schemeClr val="accent1"/>
              </a:solidFill>
            </a:ln>
          </c:spPr>
          <c:marker>
            <c:symbol val="circle"/>
          </c:marker>
          <c:cat>
            <c:strRef>
              <c:f>Sheet1!$A$2:$A$5</c:f>
              <c:strCache>
                <c:ptCount val="4"/>
                <c:pt idx="0">
                  <c:v>一季度</c:v>
                </c:pt>
                <c:pt idx="1">
                  <c:v>二季度</c:v>
                </c:pt>
                <c:pt idx="2">
                  <c:v>三季度</c:v>
                </c:pt>
                <c:pt idx="3">
                  <c:v>四季度</c:v>
                </c:pt>
              </c:strCache>
            </c:strRef>
          </c:cat>
          <c:val>
            <c:numRef>
              <c:f>Sheet1!$B$2:$B$5</c:f>
              <c:numCache>
                <c:formatCode>General</c:formatCode>
                <c:ptCount val="4"/>
                <c:pt idx="0">
                  <c:v>5.4</c:v>
                </c:pt>
                <c:pt idx="1">
                  <c:v>5.2</c:v>
                </c:pt>
                <c:pt idx="2">
                  <c:v>4.8</c:v>
                </c:pt>
                <c:pt idx="3">
                  <c:v>4.5</c:v>
                </c:pt>
              </c:numCache>
            </c:numRef>
          </c:val>
          <c:smooth val="0"/>
        </c:ser>
        <c:dLbls>
          <c:txPr>
            <a:bodyPr/>
            <a:lstStyle/>
            <a:p>
              <a:pPr>
                <a:defRPr lang="zh-CN" sz="1500">
                  <a:solidFill>
                    <a:schemeClr val="accent1"/>
                  </a:solidFill>
                  <a:latin typeface="Arial"/>
                  <a:ea typeface="Microsoft YaHei"/>
                  <a:cs typeface="Arial"/>
                </a:defRPr>
              </a:pPr>
              <a:endParaRPr lang="zh-CN"/>
            </a:p>
          </c:txPr>
          <c:dLblPos val="t"/>
          <c:showLegendKey val="0"/>
          <c:showVal val="1"/>
          <c:showCatName val="0"/>
          <c:showSerName val="0"/>
          <c:showPercent val="0"/>
          <c:showBubbleSize val="0"/>
          <c:showLeaderLines val="0"/>
        </c:dLbls>
        <c:marker val="1"/>
        <c:smooth val="0"/>
        <c:axId val="2068027336"/>
        <c:axId val="2113994440"/>
      </c:lineChart>
      <c:catAx>
        <c:axId val="2068027336"/>
        <c:scaling>
          <c:orientation val="minMax"/>
        </c:scaling>
        <c:delete val="0"/>
        <c:axPos val="b"/>
        <c:majorTickMark val="out"/>
        <c:minorTickMark val="none"/>
        <c:tickLblPos val="nextTo"/>
        <c:spPr>
          <a:ln w="9525" cap="flat" cmpd="sng" algn="ctr">
            <a:solidFill>
              <a:srgbClr val="E4DED0"/>
            </a:solidFill>
            <a:round/>
          </a:ln>
        </c:spPr>
        <c:txPr>
          <a:bodyPr/>
          <a:lstStyle/>
          <a:p>
            <a:pPr>
              <a:defRPr lang="zh-CN" sz="1500">
                <a:solidFill>
                  <a:srgbClr val="5F6B72"/>
                </a:solidFill>
                <a:latin typeface="Microsoft YaHei"/>
                <a:ea typeface="Microsoft YaHei"/>
                <a:cs typeface="Microsoft YaHei"/>
              </a:defRPr>
            </a:pPr>
            <a:endParaRPr lang="zh-CN"/>
          </a:p>
        </c:txPr>
        <c:crossAx val="2113994440"/>
        <c:crosses val="autoZero"/>
        <c:auto val="1"/>
        <c:lblAlgn val="ctr"/>
        <c:lblOffset val="100"/>
        <c:noMultiLvlLbl val="0"/>
      </c:catAx>
      <c:valAx>
        <c:axId val="2113994440"/>
        <c:scaling>
          <c:orientation val="minMax"/>
          <c:max val="5.6"/>
          <c:min val="4"/>
        </c:scaling>
        <c:delete val="0"/>
        <c:axPos val="l"/>
        <c:majorGridlines>
          <c:spPr>
            <a:ln w="6350" cap="flat" cmpd="sng" algn="ctr">
              <a:solidFill>
                <a:srgbClr val="E4DED0"/>
              </a:solidFill>
              <a:round/>
            </a:ln>
          </c:spPr>
        </c:majorGridlines>
        <c:majorTickMark val="out"/>
        <c:minorTickMark val="none"/>
        <c:tickLblPos val="nextTo"/>
        <c:spPr>
          <a:ln w="9525" cap="flat" cmpd="sng" algn="ctr">
            <a:solidFill>
              <a:srgbClr val="E4DED0"/>
            </a:solidFill>
            <a:round/>
          </a:ln>
        </c:spPr>
        <c:txPr>
          <a:bodyPr/>
          <a:lstStyle/>
          <a:p>
            <a:pPr>
              <a:defRPr lang="zh-CN" sz="1500">
                <a:solidFill>
                  <a:srgbClr val="5F6B72"/>
                </a:solidFill>
                <a:latin typeface="Microsoft YaHei"/>
                <a:ea typeface="Microsoft YaHei"/>
                <a:cs typeface="Microsoft YaHei"/>
              </a:defRPr>
            </a:pPr>
            <a:endParaRPr lang="zh-CN"/>
          </a:p>
        </c:txPr>
        <c:crossAx val="2068027336"/>
        <c:crosses val="autoZero"/>
        <c:majorUnit val="0.4"/>
      </c:valAx>
      <c:spPr>
        <a:solidFill>
          <a:srgbClr val="F4F1EA"/>
        </a:solidFill>
        <a:ln>
          <a:noFill/>
        </a:ln>
      </c:spPr>
    </c:plotArea>
    <c:plotVisOnly val="1"/>
    <c:dispBlanksAs val="gap"/>
  </c:chart>
  <c:spPr>
    <a:solidFill>
      <a:srgbClr val="F4F1EA"/>
    </a:solidFill>
    <a:ln>
      <a:noFill/>
    </a:ln>
  </c:spPr>
  <c:txPr>
    <a:bodyPr/>
    <a:lstStyle/>
    <a:p>
      <a:pPr>
        <a:defRPr lang="zh-CN" sz="1500">
          <a:solidFill>
            <a:srgbClr val="5F6B72"/>
          </a:solidFill>
          <a:latin typeface="Microsoft YaHei"/>
          <a:ea typeface="Microsoft YaHei"/>
          <a:cs typeface="Microsoft YaHei"/>
        </a:defRPr>
      </a:pPr>
      <a:endParaRPr lang="zh-CN"/>
    </a:p>
  </c:txPr>
  <c:externalData r:id="rId1">
    <c:autoUpdate val="0"/>
  </c:externalData>
</c:chartSpace>
</file>

<file path=ppt/charts/chart401.xml><?xml version="1.0" encoding="utf-8"?>
<c:chartSpace xmlns:c="http://schemas.openxmlformats.org/drawingml/2006/chart" xmlns:a="http://schemas.openxmlformats.org/drawingml/2006/main" xmlns:r="http://schemas.openxmlformats.org/officeDocument/2006/relationships">
  <c:date1904 val="0"/>
  <c:lang val="zh-CN"/>
  <c:chart>
    <c:autoTitleDeleted val="1"/>
    <c:plotArea>
      <c:layout/>
      <c:doughnutChart>
        <c:varyColors val="1"/>
        <c:ser>
          <c:idx val="0"/>
          <c:order val="0"/>
          <c:tx>
            <c:strRef>
              <c:f>Sheet1!$B$1</c:f>
              <c:strCache>
                <c:ptCount val="1"/>
                <c:pt idx="0">
                  <c:v>占国内生产总值比重</c:v>
                </c:pt>
              </c:strCache>
            </c:strRef>
          </c:tx>
          <c:dPt>
            <c:idx val="0"/>
            <c:spPr>
              <a:solidFill>
                <a:srgbClr val="9DB4C4"/>
              </a:solidFill>
              <a:ln>
                <a:solidFill>
                  <a:srgbClr val="9DB4C4"/>
                </a:solidFill>
              </a:ln>
            </c:spPr>
          </c:dPt>
          <c:dPt>
            <c:idx val="1"/>
            <c:spPr>
              <a:solidFill>
                <a:srgbClr val="4A7593"/>
              </a:solidFill>
              <a:ln>
                <a:solidFill>
                  <a:srgbClr val="4A7593"/>
                </a:solidFill>
              </a:ln>
            </c:spPr>
          </c:dPt>
          <c:dPt>
            <c:idx val="2"/>
            <c:spPr>
              <a:solidFill>
                <a:schemeClr val="accent1"/>
              </a:solidFill>
              <a:ln>
                <a:solidFill>
                  <a:schemeClr val="accent1"/>
                </a:solidFill>
              </a:ln>
            </c:spPr>
          </c:dPt>
          <c:cat>
            <c:strRef>
              <c:f>Sheet1!$A$2:$A$4</c:f>
              <c:strCache>
                <c:ptCount val="3"/>
                <c:pt idx="0">
                  <c:v>第一产业</c:v>
                </c:pt>
                <c:pt idx="1">
                  <c:v>第二产业</c:v>
                </c:pt>
                <c:pt idx="2">
                  <c:v>第三产业</c:v>
                </c:pt>
              </c:strCache>
            </c:strRef>
          </c:cat>
          <c:val>
            <c:numRef>
              <c:f>Sheet1!$B$2:$B$4</c:f>
              <c:numCache>
                <c:formatCode>General</c:formatCode>
                <c:ptCount val="3"/>
                <c:pt idx="0">
                  <c:v>6.7</c:v>
                </c:pt>
                <c:pt idx="1">
                  <c:v>35.6</c:v>
                </c:pt>
                <c:pt idx="2">
                  <c:v>57.7</c:v>
                </c:pt>
              </c:numCache>
            </c:numRef>
          </c:val>
        </c:ser>
        <c:firstSliceAng val="0"/>
        <c:holeSize val="60"/>
      </c:doughnutChart>
      <c:spPr>
        <a:solidFill>
          <a:srgbClr val="F4F1EA"/>
        </a:solidFill>
        <a:ln>
          <a:noFill/>
        </a:ln>
      </c:spPr>
    </c:plotArea>
    <c:plotVisOnly val="1"/>
    <c:dispBlanksAs val="gap"/>
  </c:chart>
  <c:spPr>
    <a:solidFill>
      <a:srgbClr val="F4F1EA"/>
    </a:solidFill>
    <a:ln>
      <a:noFill/>
    </a:ln>
  </c:spPr>
  <c:txPr>
    <a:bodyPr/>
    <a:lstStyle/>
    <a:p>
      <a:pPr>
        <a:defRPr lang="zh-CN" sz="1350">
          <a:solidFill>
            <a:srgbClr val="1F2A30"/>
          </a:solidFill>
          <a:latin typeface="Microsoft YaHei"/>
          <a:ea typeface="Microsoft YaHei"/>
          <a:cs typeface="Microsoft YaHei"/>
        </a:defRPr>
      </a:pPr>
      <a:endParaRPr lang="zh-CN"/>
    </a:p>
  </c:txPr>
  <c:externalData r:id="rId1">
    <c:autoUpdate val="0"/>
  </c:externalData>
</c:chartSpace>
</file>

<file path=ppt/charts/chart701.xml><?xml version="1.0" encoding="utf-8"?>
<c:chartSpace xmlns:c="http://schemas.openxmlformats.org/drawingml/2006/chart" xmlns:a="http://schemas.openxmlformats.org/drawingml/2006/main" xmlns:r="http://schemas.openxmlformats.org/officeDocument/2006/relationships">
  <c:date1904 val="0"/>
  <c:lang val="zh-CN"/>
  <c:chart>
    <c:autoTitleDeleted val="1"/>
    <c:plotArea>
      <c:layout>
        <c:manualLayout>
          <c:layoutTarget val="inner"/>
          <c:xMode val="edge"/>
          <c:yMode val="edge"/>
          <c:wMode val="factor"/>
          <c:hMode val="factor"/>
          <c:x val="0.166666666667"/>
          <c:y val="0.119047619048"/>
          <c:w val="0.763888888889"/>
          <c:h val="0.666666666667"/>
        </c:manualLayout>
      </c:layout>
      <c:barChart>
        <c:barDir val="col"/>
        <c:grouping val="clustered"/>
        <c:varyColors val="1"/>
        <c:ser>
          <c:idx val="0"/>
          <c:order val="0"/>
          <c:tx>
            <c:strRef>
              <c:f>Sheet1!$B$1</c:f>
              <c:strCache>
                <c:ptCount val="1"/>
                <c:pt idx="0">
                  <c:v>人数（万人）</c:v>
                </c:pt>
              </c:strCache>
            </c:strRef>
          </c:tx>
          <c:spPr>
            <a:solidFill>
              <a:schemeClr val="accent1"/>
            </a:solidFill>
            <a:ln>
              <a:solidFill>
                <a:schemeClr val="accent1"/>
              </a:solidFill>
            </a:ln>
          </c:spPr>
          <c:invertIfNegative val="0"/>
          <c:dPt>
            <c:idx val="0"/>
            <c:invertIfNegative val="0"/>
            <c:spPr>
              <a:solidFill>
                <a:schemeClr val="accent3"/>
              </a:solidFill>
              <a:ln>
                <a:solidFill>
                  <a:schemeClr val="accent3"/>
                </a:solidFill>
              </a:ln>
            </c:spPr>
          </c:dPt>
          <c:dPt>
            <c:idx val="1"/>
            <c:invertIfNegative val="0"/>
            <c:spPr>
              <a:solidFill>
                <a:schemeClr val="accent2"/>
              </a:solidFill>
              <a:ln>
                <a:solidFill>
                  <a:schemeClr val="accent2"/>
                </a:solidFill>
              </a:ln>
            </c:spPr>
          </c:dPt>
          <c:cat>
            <c:strRef>
              <c:f>Sheet1!$A$2:$A$3</c:f>
              <c:strCache>
                <c:ptCount val="2"/>
                <c:pt idx="0">
                  <c:v>出生人口</c:v>
                </c:pt>
                <c:pt idx="1">
                  <c:v>死亡人口</c:v>
                </c:pt>
              </c:strCache>
            </c:strRef>
          </c:cat>
          <c:val>
            <c:numRef>
              <c:f>Sheet1!$B$2:$B$3</c:f>
              <c:numCache>
                <c:formatCode>General</c:formatCode>
                <c:ptCount val="2"/>
                <c:pt idx="0">
                  <c:v>792</c:v>
                </c:pt>
                <c:pt idx="1">
                  <c:v>1131</c:v>
                </c:pt>
              </c:numCache>
            </c:numRef>
          </c:val>
        </c:ser>
        <c:dLbls>
          <c:txPr>
            <a:bodyPr/>
            <a:lstStyle/>
            <a:p>
              <a:pPr>
                <a:defRPr lang="zh-CN" sz="1500" b="1">
                  <a:solidFill>
                    <a:srgbClr val="1F2A30"/>
                  </a:solidFill>
                  <a:latin typeface="Arial"/>
                  <a:ea typeface="Microsoft YaHei"/>
                  <a:cs typeface="Arial"/>
                </a:defRPr>
              </a:pPr>
              <a:endParaRPr lang="zh-CN"/>
            </a:p>
          </c:txPr>
          <c:dLblPos val="outEnd"/>
          <c:showLegendKey val="0"/>
          <c:showVal val="1"/>
          <c:showCatName val="0"/>
          <c:showSerName val="0"/>
          <c:showPercent val="0"/>
          <c:showBubbleSize val="0"/>
          <c:showLeaderLines val="0"/>
        </c:dLbls>
        <c:gapWidth val="150"/>
        <c:axId val="2068027336"/>
        <c:axId val="2113994440"/>
      </c:barChart>
      <c:catAx>
        <c:axId val="2068027336"/>
        <c:scaling>
          <c:orientation val="minMax"/>
        </c:scaling>
        <c:delete val="0"/>
        <c:axPos val="b"/>
        <c:majorTickMark val="out"/>
        <c:minorTickMark val="none"/>
        <c:tickLblPos val="nextTo"/>
        <c:spPr>
          <a:ln w="9525" cap="flat" cmpd="sng" algn="ctr">
            <a:solidFill>
              <a:srgbClr val="E4DED0"/>
            </a:solidFill>
            <a:round/>
          </a:ln>
        </c:spPr>
        <c:txPr>
          <a:bodyPr/>
          <a:lstStyle/>
          <a:p>
            <a:pPr>
              <a:defRPr lang="zh-CN" sz="1500">
                <a:solidFill>
                  <a:srgbClr val="5F6B72"/>
                </a:solidFill>
                <a:latin typeface="Microsoft YaHei"/>
                <a:ea typeface="Microsoft YaHei"/>
                <a:cs typeface="Microsoft YaHei"/>
              </a:defRPr>
            </a:pPr>
            <a:endParaRPr lang="zh-CN"/>
          </a:p>
        </c:txPr>
        <c:crossAx val="2113994440"/>
        <c:crosses val="autoZero"/>
        <c:auto val="1"/>
        <c:lblAlgn val="ctr"/>
        <c:lblOffset val="100"/>
        <c:noMultiLvlLbl val="0"/>
      </c:catAx>
      <c:valAx>
        <c:axId val="2113994440"/>
        <c:scaling>
          <c:orientation val="minMax"/>
          <c:max val="1200"/>
          <c:min val="0"/>
        </c:scaling>
        <c:delete val="0"/>
        <c:axPos val="l"/>
        <c:majorGridlines>
          <c:spPr>
            <a:ln w="6350" cap="flat" cmpd="sng" algn="ctr">
              <a:solidFill>
                <a:srgbClr val="E4DED0"/>
              </a:solidFill>
              <a:round/>
            </a:ln>
          </c:spPr>
        </c:majorGridlines>
        <c:majorTickMark val="out"/>
        <c:minorTickMark val="none"/>
        <c:tickLblPos val="nextTo"/>
        <c:spPr>
          <a:ln w="9525" cap="flat" cmpd="sng" algn="ctr">
            <a:solidFill>
              <a:srgbClr val="E4DED0"/>
            </a:solidFill>
            <a:round/>
          </a:ln>
        </c:spPr>
        <c:txPr>
          <a:bodyPr/>
          <a:lstStyle/>
          <a:p>
            <a:pPr>
              <a:defRPr lang="zh-CN" sz="1500">
                <a:solidFill>
                  <a:srgbClr val="5F6B72"/>
                </a:solidFill>
                <a:latin typeface="Microsoft YaHei"/>
                <a:ea typeface="Microsoft YaHei"/>
                <a:cs typeface="Microsoft YaHei"/>
              </a:defRPr>
            </a:pPr>
            <a:endParaRPr lang="zh-CN"/>
          </a:p>
        </c:txPr>
        <c:crossAx val="2068027336"/>
        <c:crosses val="autoZero"/>
        <c:majorUnit val="300"/>
      </c:valAx>
      <c:spPr>
        <a:solidFill>
          <a:srgbClr val="F4F1EA"/>
        </a:solidFill>
        <a:ln>
          <a:noFill/>
        </a:ln>
      </c:spPr>
    </c:plotArea>
    <c:plotVisOnly val="1"/>
    <c:dispBlanksAs val="gap"/>
  </c:chart>
  <c:spPr>
    <a:solidFill>
      <a:srgbClr val="F4F1EA"/>
    </a:solidFill>
    <a:ln>
      <a:noFill/>
    </a:ln>
  </c:spPr>
  <c:txPr>
    <a:bodyPr/>
    <a:lstStyle/>
    <a:p>
      <a:pPr>
        <a:defRPr lang="zh-CN" sz="1500">
          <a:solidFill>
            <a:srgbClr val="5F6B72"/>
          </a:solidFill>
          <a:latin typeface="Microsoft YaHei"/>
          <a:ea typeface="Microsoft YaHei"/>
          <a:cs typeface="Microsoft YaHei"/>
        </a:defRPr>
      </a:pPr>
      <a:endParaRPr lang="zh-CN"/>
    </a:p>
  </c:txPr>
  <c:externalData r:id="rId1">
    <c:autoUpdate val="0"/>
  </c:externalData>
</c:chartSpace>
</file>

<file path=ppt/charts/chart801.xml><?xml version="1.0" encoding="utf-8"?>
<c:chartSpace xmlns:c="http://schemas.openxmlformats.org/drawingml/2006/chart" xmlns:a="http://schemas.openxmlformats.org/drawingml/2006/main" xmlns:r="http://schemas.openxmlformats.org/officeDocument/2006/relationships">
  <c:date1904 val="0"/>
  <c:lang val="zh-CN"/>
  <c:chart>
    <c:autoTitleDeleted val="1"/>
    <c:plotArea>
      <c:layout>
        <c:manualLayout>
          <c:layoutTarget val="inner"/>
          <c:xMode val="edge"/>
          <c:yMode val="edge"/>
          <c:wMode val="factor"/>
          <c:hMode val="factor"/>
          <c:x val="0.25"/>
          <c:y val="0.0714285714286"/>
          <c:w val="0.697674418605"/>
          <c:h val="0.761904761905"/>
        </c:manualLayout>
      </c:layout>
      <c:barChart>
        <c:barDir val="bar"/>
        <c:grouping val="clustered"/>
        <c:varyColors val="1"/>
        <c:ser>
          <c:idx val="0"/>
          <c:order val="0"/>
          <c:tx>
            <c:strRef>
              <c:f>Sheet1!$B$1</c:f>
              <c:strCache>
                <c:ptCount val="1"/>
                <c:pt idx="0">
                  <c:v>人均可支配收入（元）</c:v>
                </c:pt>
              </c:strCache>
            </c:strRef>
          </c:tx>
          <c:spPr>
            <a:solidFill>
              <a:schemeClr val="accent1"/>
            </a:solidFill>
            <a:ln>
              <a:solidFill>
                <a:schemeClr val="accent1"/>
              </a:solidFill>
            </a:ln>
          </c:spPr>
          <c:invertIfNegative val="0"/>
          <c:dPt>
            <c:idx val="0"/>
            <c:invertIfNegative val="0"/>
            <c:spPr>
              <a:solidFill>
                <a:srgbClr val="9DB4C4"/>
              </a:solidFill>
              <a:ln>
                <a:solidFill>
                  <a:srgbClr val="9DB4C4"/>
                </a:solidFill>
              </a:ln>
            </c:spPr>
          </c:dPt>
          <c:dPt>
            <c:idx val="1"/>
            <c:invertIfNegative val="0"/>
            <c:spPr>
              <a:solidFill>
                <a:srgbClr val="7E9DB0"/>
              </a:solidFill>
              <a:ln>
                <a:solidFill>
                  <a:srgbClr val="7E9DB0"/>
                </a:solidFill>
              </a:ln>
            </c:spPr>
          </c:dPt>
          <c:dPt>
            <c:idx val="2"/>
            <c:invertIfNegative val="0"/>
            <c:spPr>
              <a:solidFill>
                <a:srgbClr val="5E829C"/>
              </a:solidFill>
              <a:ln>
                <a:solidFill>
                  <a:srgbClr val="5E829C"/>
                </a:solidFill>
              </a:ln>
            </c:spPr>
          </c:dPt>
          <c:dPt>
            <c:idx val="3"/>
            <c:invertIfNegative val="0"/>
            <c:spPr>
              <a:solidFill>
                <a:srgbClr val="3E6B8A"/>
              </a:solidFill>
              <a:ln>
                <a:solidFill>
                  <a:srgbClr val="3E6B8A"/>
                </a:solidFill>
              </a:ln>
            </c:spPr>
          </c:dPt>
          <c:dPt>
            <c:idx val="4"/>
            <c:invertIfNegative val="0"/>
            <c:spPr>
              <a:solidFill>
                <a:schemeClr val="accent1"/>
              </a:solidFill>
              <a:ln>
                <a:solidFill>
                  <a:schemeClr val="accent1"/>
                </a:solidFill>
              </a:ln>
            </c:spPr>
          </c:dPt>
          <c:cat>
            <c:strRef>
              <c:f>Sheet1!$A$2:$A$6</c:f>
              <c:strCache>
                <c:ptCount val="5"/>
                <c:pt idx="0">
                  <c:v>低收入组</c:v>
                </c:pt>
                <c:pt idx="1">
                  <c:v>中间偏下收入组</c:v>
                </c:pt>
                <c:pt idx="2">
                  <c:v>中间收入组</c:v>
                </c:pt>
                <c:pt idx="3">
                  <c:v>中间偏上收入组</c:v>
                </c:pt>
                <c:pt idx="4">
                  <c:v>高收入组</c:v>
                </c:pt>
              </c:strCache>
            </c:strRef>
          </c:cat>
          <c:val>
            <c:numRef>
              <c:f>Sheet1!$B$2:$B$6</c:f>
              <c:numCache>
                <c:formatCode>General</c:formatCode>
                <c:ptCount val="5"/>
                <c:pt idx="0">
                  <c:v>10150</c:v>
                </c:pt>
                <c:pt idx="1">
                  <c:v>22702</c:v>
                </c:pt>
                <c:pt idx="2">
                  <c:v>35536</c:v>
                </c:pt>
                <c:pt idx="3">
                  <c:v>55586</c:v>
                </c:pt>
                <c:pt idx="4">
                  <c:v>103778</c:v>
                </c:pt>
              </c:numCache>
            </c:numRef>
          </c:val>
        </c:ser>
        <c:dLbls>
          <c:txPr>
            <a:bodyPr/>
            <a:lstStyle/>
            <a:p>
              <a:pPr>
                <a:defRPr lang="zh-CN" sz="1500" b="1">
                  <a:solidFill>
                    <a:srgbClr val="1F2A30"/>
                  </a:solidFill>
                  <a:latin typeface="Arial"/>
                  <a:ea typeface="Microsoft YaHei"/>
                  <a:cs typeface="Arial"/>
                </a:defRPr>
              </a:pPr>
              <a:endParaRPr lang="zh-CN"/>
            </a:p>
          </c:txPr>
          <c:dLblPos val="outEnd"/>
          <c:showLegendKey val="0"/>
          <c:showVal val="1"/>
          <c:showCatName val="0"/>
          <c:showSerName val="0"/>
          <c:showPercent val="0"/>
          <c:showBubbleSize val="0"/>
          <c:showLeaderLines val="0"/>
        </c:dLbls>
        <c:gapWidth val="150"/>
        <c:axId val="2068027336"/>
        <c:axId val="2113994440"/>
      </c:barChart>
      <c:catAx>
        <c:axId val="2068027336"/>
        <c:scaling>
          <c:orientation val="minMax"/>
        </c:scaling>
        <c:delete val="0"/>
        <c:axPos val="l"/>
        <c:majorTickMark val="out"/>
        <c:minorTickMark val="none"/>
        <c:tickLblPos val="nextTo"/>
        <c:spPr>
          <a:ln w="9525" cap="flat" cmpd="sng" algn="ctr">
            <a:solidFill>
              <a:srgbClr val="E4DED0"/>
            </a:solidFill>
            <a:round/>
          </a:ln>
        </c:spPr>
        <c:txPr>
          <a:bodyPr/>
          <a:lstStyle/>
          <a:p>
            <a:pPr>
              <a:defRPr lang="zh-CN" sz="1500">
                <a:solidFill>
                  <a:srgbClr val="5F6B72"/>
                </a:solidFill>
                <a:latin typeface="Microsoft YaHei"/>
                <a:ea typeface="Microsoft YaHei"/>
                <a:cs typeface="Microsoft YaHei"/>
              </a:defRPr>
            </a:pPr>
            <a:endParaRPr lang="zh-CN"/>
          </a:p>
        </c:txPr>
        <c:crossAx val="2113994440"/>
        <c:crosses val="autoZero"/>
        <c:auto val="1"/>
        <c:lblAlgn val="ctr"/>
        <c:lblOffset val="100"/>
        <c:noMultiLvlLbl val="0"/>
      </c:catAx>
      <c:valAx>
        <c:axId val="2113994440"/>
        <c:scaling>
          <c:orientation val="minMax"/>
          <c:max val="120000"/>
          <c:min val="0"/>
        </c:scaling>
        <c:delete val="0"/>
        <c:axPos val="b"/>
        <c:majorGridlines>
          <c:spPr>
            <a:ln w="6350" cap="flat" cmpd="sng" algn="ctr">
              <a:solidFill>
                <a:srgbClr val="E4DED0"/>
              </a:solidFill>
              <a:round/>
            </a:ln>
          </c:spPr>
        </c:majorGridlines>
        <c:majorTickMark val="out"/>
        <c:minorTickMark val="none"/>
        <c:tickLblPos val="nextTo"/>
        <c:spPr>
          <a:ln w="9525" cap="flat" cmpd="sng" algn="ctr">
            <a:solidFill>
              <a:srgbClr val="E4DED0"/>
            </a:solidFill>
            <a:round/>
          </a:ln>
        </c:spPr>
        <c:txPr>
          <a:bodyPr/>
          <a:lstStyle/>
          <a:p>
            <a:pPr>
              <a:defRPr lang="zh-CN" sz="1500">
                <a:solidFill>
                  <a:srgbClr val="5F6B72"/>
                </a:solidFill>
                <a:latin typeface="Microsoft YaHei"/>
                <a:ea typeface="Microsoft YaHei"/>
                <a:cs typeface="Microsoft YaHei"/>
              </a:defRPr>
            </a:pPr>
            <a:endParaRPr lang="zh-CN"/>
          </a:p>
        </c:txPr>
        <c:crossAx val="2068027336"/>
        <c:crosses val="autoZero"/>
        <c:majorUnit val="30000"/>
      </c:valAx>
      <c:spPr>
        <a:solidFill>
          <a:srgbClr val="F4F1EA"/>
        </a:solidFill>
        <a:ln>
          <a:noFill/>
        </a:ln>
      </c:spPr>
    </c:plotArea>
    <c:plotVisOnly val="1"/>
    <c:dispBlanksAs val="gap"/>
  </c:chart>
  <c:spPr>
    <a:solidFill>
      <a:srgbClr val="F4F1EA"/>
    </a:solidFill>
    <a:ln>
      <a:noFill/>
    </a:ln>
  </c:spPr>
  <c:txPr>
    <a:bodyPr/>
    <a:lstStyle/>
    <a:p>
      <a:pPr>
        <a:defRPr lang="zh-CN" sz="1500">
          <a:solidFill>
            <a:srgbClr val="5F6B72"/>
          </a:solidFill>
          <a:latin typeface="Microsoft YaHei"/>
          <a:ea typeface="Microsoft YaHei"/>
          <a:cs typeface="Microsoft YaHei"/>
        </a:defRPr>
      </a:pPr>
      <a:endParaRPr lang="zh-CN"/>
    </a:p>
  </c:txPr>
  <c:externalData r:id="rId1">
    <c:autoUpdate val="0"/>
  </c:externalData>
</c:chartSpace>
</file>

<file path=ppt/charts/chart901.xml><?xml version="1.0" encoding="utf-8"?>
<c:chartSpace xmlns:c="http://schemas.openxmlformats.org/drawingml/2006/chart" xmlns:a="http://schemas.openxmlformats.org/drawingml/2006/main" xmlns:r="http://schemas.openxmlformats.org/officeDocument/2006/relationships">
  <c:date1904 val="0"/>
  <c:lang val="zh-CN"/>
  <c:chart>
    <c:autoTitleDeleted val="1"/>
    <c:plotArea>
      <c:layout>
        <c:manualLayout>
          <c:layoutTarget val="inner"/>
          <c:xMode val="edge"/>
          <c:yMode val="edge"/>
          <c:wMode val="factor"/>
          <c:hMode val="factor"/>
          <c:x val="0.135416666667"/>
          <c:y val="0.184615384615"/>
          <c:w val="0.833333333333"/>
          <c:h val="0.461538461538"/>
        </c:manualLayout>
      </c:layout>
      <c:barChart>
        <c:barDir val="bar"/>
        <c:grouping val="stacked"/>
        <c:varyColors val="0"/>
        <c:ser>
          <c:idx val="0"/>
          <c:order val="0"/>
          <c:tx>
            <c:strRef>
              <c:f>Sheet1!$B$1</c:f>
              <c:strCache>
                <c:ptCount val="1"/>
                <c:pt idx="0">
                  <c:v>商品零售额</c:v>
                </c:pt>
              </c:strCache>
            </c:strRef>
          </c:tx>
          <c:spPr>
            <a:solidFill>
              <a:schemeClr val="accent1"/>
            </a:solidFill>
            <a:ln>
              <a:solidFill>
                <a:schemeClr val="accent1"/>
              </a:solidFill>
            </a:ln>
          </c:spPr>
          <c:invertIfNegative val="0"/>
          <c:cat>
            <c:strRef>
              <c:f>Sheet1!$A$2:$A$2</c:f>
              <c:strCache>
                <c:ptCount val="1"/>
                <c:pt idx="0">
                  <c:v>社会消费品零售总额</c:v>
                </c:pt>
              </c:strCache>
            </c:strRef>
          </c:cat>
          <c:val>
            <c:numRef>
              <c:f>Sheet1!$B$2:$B$2</c:f>
              <c:numCache>
                <c:formatCode>General</c:formatCode>
                <c:ptCount val="1"/>
                <c:pt idx="0">
                  <c:v>443220</c:v>
                </c:pt>
              </c:numCache>
            </c:numRef>
          </c:val>
        </c:ser>
        <c:ser>
          <c:idx val="1"/>
          <c:order val="1"/>
          <c:tx>
            <c:strRef>
              <c:f>Sheet1!$C$1</c:f>
              <c:strCache>
                <c:ptCount val="1"/>
                <c:pt idx="0">
                  <c:v>餐饮收入</c:v>
                </c:pt>
              </c:strCache>
            </c:strRef>
          </c:tx>
          <c:spPr>
            <a:solidFill>
              <a:srgbClr val="4A7593"/>
            </a:solidFill>
            <a:ln>
              <a:solidFill>
                <a:srgbClr val="4A7593"/>
              </a:solidFill>
            </a:ln>
          </c:spPr>
          <c:invertIfNegative val="0"/>
          <c:cat>
            <c:strRef>
              <c:f>Sheet1!$A$2:$A$2</c:f>
              <c:strCache>
                <c:ptCount val="1"/>
                <c:pt idx="0">
                  <c:v>社会消费品零售总额</c:v>
                </c:pt>
              </c:strCache>
            </c:strRef>
          </c:cat>
          <c:val>
            <c:numRef>
              <c:f>Sheet1!$C$2:$C$2</c:f>
              <c:numCache>
                <c:formatCode>General</c:formatCode>
                <c:ptCount val="1"/>
                <c:pt idx="0">
                  <c:v>57982</c:v>
                </c:pt>
              </c:numCache>
            </c:numRef>
          </c:val>
        </c:ser>
        <c:dLbls>
          <c:txPr>
            <a:bodyPr/>
            <a:lstStyle/>
            <a:p>
              <a:pPr>
                <a:defRPr lang="zh-CN" sz="1500" b="1">
                  <a:solidFill>
                    <a:srgbClr val="FFFFFF"/>
                  </a:solidFill>
                  <a:latin typeface="Arial"/>
                  <a:ea typeface="Microsoft YaHei"/>
                  <a:cs typeface="Arial"/>
                </a:defRPr>
              </a:pPr>
              <a:endParaRPr lang="zh-CN"/>
            </a:p>
          </c:txPr>
          <c:dLblPos val="ctr"/>
          <c:showLegendKey val="0"/>
          <c:showVal val="1"/>
          <c:showCatName val="0"/>
          <c:showSerName val="0"/>
          <c:showPercent val="0"/>
          <c:showBubbleSize val="0"/>
          <c:showLeaderLines val="0"/>
        </c:dLbls>
        <c:gapWidth val="150"/>
        <c:overlap val="100"/>
        <c:axId val="2068027336"/>
        <c:axId val="2113994440"/>
      </c:barChart>
      <c:catAx>
        <c:axId val="2068027336"/>
        <c:scaling>
          <c:orientation val="minMax"/>
        </c:scaling>
        <c:delete val="1"/>
        <c:axPos val="l"/>
        <c:majorTickMark val="out"/>
        <c:minorTickMark val="none"/>
        <c:tickLblPos val="none"/>
        <c:spPr>
          <a:ln w="9525" cap="flat" cmpd="sng" algn="ctr">
            <a:solidFill>
              <a:srgbClr val="5F6B72"/>
            </a:solidFill>
            <a:round/>
          </a:ln>
        </c:spPr>
        <c:txPr>
          <a:bodyPr/>
          <a:lstStyle/>
          <a:p>
            <a:pPr>
              <a:defRPr lang="zh-CN" sz="1350">
                <a:solidFill>
                  <a:srgbClr val="5F6B72"/>
                </a:solidFill>
                <a:latin typeface="Microsoft YaHei"/>
                <a:ea typeface="Microsoft YaHei"/>
                <a:cs typeface="Microsoft YaHei"/>
              </a:defRPr>
            </a:pPr>
            <a:endParaRPr lang="zh-CN"/>
          </a:p>
        </c:txPr>
        <c:crossAx val="2113994440"/>
        <c:crosses val="autoZero"/>
        <c:auto val="1"/>
        <c:lblAlgn val="ctr"/>
        <c:lblOffset val="100"/>
        <c:noMultiLvlLbl val="0"/>
      </c:catAx>
      <c:valAx>
        <c:axId val="2113994440"/>
        <c:scaling>
          <c:orientation val="minMax"/>
          <c:max val="501202"/>
          <c:min val="0"/>
        </c:scaling>
        <c:delete val="1"/>
        <c:axPos val="b"/>
        <c:majorTickMark val="out"/>
        <c:minorTickMark val="none"/>
        <c:tickLblPos val="none"/>
        <c:spPr>
          <a:ln w="9525" cap="flat" cmpd="sng" algn="ctr">
            <a:solidFill>
              <a:srgbClr val="5F6B72"/>
            </a:solidFill>
            <a:round/>
          </a:ln>
        </c:spPr>
        <c:txPr>
          <a:bodyPr/>
          <a:lstStyle/>
          <a:p>
            <a:pPr>
              <a:defRPr lang="zh-CN" sz="1350">
                <a:solidFill>
                  <a:srgbClr val="5F6B72"/>
                </a:solidFill>
                <a:latin typeface="Microsoft YaHei"/>
                <a:ea typeface="Microsoft YaHei"/>
                <a:cs typeface="Microsoft YaHei"/>
              </a:defRPr>
            </a:pPr>
            <a:endParaRPr lang="zh-CN"/>
          </a:p>
        </c:txPr>
        <c:crossAx val="2068027336"/>
        <c:crosses val="autoZero"/>
      </c:valAx>
      <c:spPr>
        <a:solidFill>
          <a:srgbClr val="F4F1EA"/>
        </a:solidFill>
        <a:ln>
          <a:noFill/>
        </a:ln>
      </c:spPr>
    </c:plotArea>
    <c:legend>
      <c:legendPos val="b"/>
      <c:layout/>
      <c:overlay val="0"/>
      <c:txPr>
        <a:bodyPr/>
        <a:lstStyle/>
        <a:p>
          <a:pPr>
            <a:defRPr lang="zh-CN" sz="1350">
              <a:solidFill>
                <a:srgbClr val="5F6B72"/>
              </a:solidFill>
              <a:latin typeface="Microsoft YaHei"/>
              <a:ea typeface="Microsoft YaHei"/>
              <a:cs typeface="Microsoft YaHei"/>
            </a:defRPr>
          </a:pPr>
          <a:endParaRPr lang="zh-CN"/>
        </a:p>
      </c:txPr>
    </c:legend>
    <c:plotVisOnly val="1"/>
    <c:dispBlanksAs val="gap"/>
  </c:chart>
  <c:spPr>
    <a:solidFill>
      <a:srgbClr val="F4F1EA"/>
    </a:solidFill>
    <a:ln>
      <a:noFill/>
    </a:ln>
  </c:spPr>
  <c:txPr>
    <a:bodyPr/>
    <a:lstStyle/>
    <a:p>
      <a:pPr>
        <a:defRPr lang="zh-CN" sz="1350">
          <a:solidFill>
            <a:srgbClr val="5F6B72"/>
          </a:solidFill>
          <a:latin typeface="Microsoft YaHei"/>
          <a:ea typeface="Microsoft YaHei"/>
          <a:cs typeface="Microsoft YaHei"/>
        </a:defRPr>
      </a:pPr>
      <a:endParaRPr lang="zh-CN"/>
    </a:p>
  </c:txPr>
  <c:externalData r:id="rId1">
    <c:autoUpdate val="0"/>
  </c:externalData>
</c:chartSpace>
</file>

<file path=ppt/charts/chart1001.xml><?xml version="1.0" encoding="utf-8"?>
<c:chartSpace xmlns:c="http://schemas.openxmlformats.org/drawingml/2006/chart" xmlns:a="http://schemas.openxmlformats.org/drawingml/2006/main" xmlns:r="http://schemas.openxmlformats.org/officeDocument/2006/relationships">
  <c:date1904 val="0"/>
  <c:lang val="zh-CN"/>
  <c:chart>
    <c:autoTitleDeleted val="1"/>
    <c:plotArea>
      <c:layout>
        <c:manualLayout>
          <c:layoutTarget val="inner"/>
          <c:xMode val="edge"/>
          <c:yMode val="edge"/>
          <c:wMode val="factor"/>
          <c:hMode val="factor"/>
          <c:x val="0.309027777778"/>
          <c:y val="0.0588235294118"/>
          <c:w val="0.659722222222"/>
          <c:h val="0.823529411765"/>
        </c:manualLayout>
      </c:layout>
      <c:barChart>
        <c:barDir val="bar"/>
        <c:grouping val="clustered"/>
        <c:varyColors val="1"/>
        <c:ser>
          <c:idx val="0"/>
          <c:order val="0"/>
          <c:tx>
            <c:strRef>
              <c:f>Sheet1!$B$1</c:f>
              <c:strCache>
                <c:ptCount val="1"/>
                <c:pt idx="0">
                  <c:v>比上年增长（%）</c:v>
                </c:pt>
              </c:strCache>
            </c:strRef>
          </c:tx>
          <c:spPr>
            <a:solidFill>
              <a:schemeClr val="accent1"/>
            </a:solidFill>
            <a:ln>
              <a:solidFill>
                <a:schemeClr val="accent1"/>
              </a:solidFill>
            </a:ln>
          </c:spPr>
          <c:invertIfNegative val="0"/>
          <c:dPt>
            <c:idx val="0"/>
            <c:invertIfNegative val="0"/>
            <c:spPr>
              <a:solidFill>
                <a:schemeClr val="accent3"/>
              </a:solidFill>
              <a:ln>
                <a:solidFill>
                  <a:schemeClr val="accent3"/>
                </a:solidFill>
              </a:ln>
            </c:spPr>
          </c:dPt>
          <c:dPt>
            <c:idx val="1"/>
            <c:invertIfNegative val="0"/>
            <c:spPr>
              <a:solidFill>
                <a:schemeClr val="accent3"/>
              </a:solidFill>
              <a:ln>
                <a:solidFill>
                  <a:schemeClr val="accent3"/>
                </a:solidFill>
              </a:ln>
            </c:spPr>
          </c:dPt>
          <c:dPt>
            <c:idx val="2"/>
            <c:invertIfNegative val="0"/>
            <c:spPr>
              <a:solidFill>
                <a:schemeClr val="accent3"/>
              </a:solidFill>
              <a:ln>
                <a:solidFill>
                  <a:schemeClr val="accent3"/>
                </a:solidFill>
              </a:ln>
            </c:spPr>
          </c:dPt>
          <c:dPt>
            <c:idx val="3"/>
            <c:invertIfNegative val="0"/>
            <c:spPr>
              <a:solidFill>
                <a:schemeClr val="accent3"/>
              </a:solidFill>
              <a:ln>
                <a:solidFill>
                  <a:schemeClr val="accent3"/>
                </a:solidFill>
              </a:ln>
            </c:spPr>
          </c:dPt>
          <c:dPt>
            <c:idx val="4"/>
            <c:invertIfNegative val="0"/>
            <c:spPr>
              <a:solidFill>
                <a:schemeClr val="accent3"/>
              </a:solidFill>
              <a:ln>
                <a:solidFill>
                  <a:schemeClr val="accent3"/>
                </a:solidFill>
              </a:ln>
            </c:spPr>
          </c:dPt>
          <c:dPt>
            <c:idx val="5"/>
            <c:invertIfNegative val="0"/>
            <c:spPr>
              <a:solidFill>
                <a:schemeClr val="accent1"/>
              </a:solidFill>
              <a:ln>
                <a:solidFill>
                  <a:schemeClr val="accent1"/>
                </a:solidFill>
              </a:ln>
            </c:spPr>
          </c:dPt>
          <c:dPt>
            <c:idx val="6"/>
            <c:invertIfNegative val="0"/>
            <c:spPr>
              <a:solidFill>
                <a:schemeClr val="accent2"/>
              </a:solidFill>
              <a:ln>
                <a:solidFill>
                  <a:schemeClr val="accent2"/>
                </a:solidFill>
              </a:ln>
            </c:spPr>
          </c:dPt>
          <c:dPt>
            <c:idx val="7"/>
            <c:invertIfNegative val="0"/>
            <c:spPr>
              <a:solidFill>
                <a:schemeClr val="accent2"/>
              </a:solidFill>
              <a:ln>
                <a:solidFill>
                  <a:schemeClr val="accent2"/>
                </a:solidFill>
              </a:ln>
            </c:spPr>
          </c:dPt>
          <c:dPt>
            <c:idx val="8"/>
            <c:invertIfNegative val="0"/>
            <c:spPr>
              <a:solidFill>
                <a:schemeClr val="accent2"/>
              </a:solidFill>
              <a:ln>
                <a:solidFill>
                  <a:schemeClr val="accent2"/>
                </a:solidFill>
              </a:ln>
            </c:spPr>
          </c:dPt>
          <c:dPt>
            <c:idx val="9"/>
            <c:invertIfNegative val="0"/>
            <c:spPr>
              <a:solidFill>
                <a:schemeClr val="accent2"/>
              </a:solidFill>
              <a:ln>
                <a:solidFill>
                  <a:schemeClr val="accent2"/>
                </a:solidFill>
              </a:ln>
            </c:spPr>
          </c:dPt>
          <c:cat>
            <c:strRef>
              <c:f>Sheet1!$A$2:$A$11</c:f>
              <c:strCache>
                <c:ptCount val="10"/>
                <c:pt idx="0">
                  <c:v>电力、热力、燃气及水生产和供应业</c:v>
                </c:pt>
                <c:pt idx="1">
                  <c:v>信息传输、软件和信息技术服务业</c:v>
                </c:pt>
                <c:pt idx="2">
                  <c:v>金融业</c:v>
                </c:pt>
                <c:pt idx="3">
                  <c:v>批发和零售业</c:v>
                </c:pt>
                <c:pt idx="4">
                  <c:v>制造业</c:v>
                </c:pt>
                <c:pt idx="5">
                  <c:v>总计</c:v>
                </c:pt>
                <c:pt idx="6">
                  <c:v>水利、环境和公共设施管理业</c:v>
                </c:pt>
                <c:pt idx="7">
                  <c:v>卫生和社会工作</c:v>
                </c:pt>
                <c:pt idx="8">
                  <c:v>房地产业</c:v>
                </c:pt>
                <c:pt idx="9">
                  <c:v>建筑业</c:v>
                </c:pt>
              </c:strCache>
            </c:strRef>
          </c:cat>
          <c:val>
            <c:numRef>
              <c:f>Sheet1!$B$2:$B$11</c:f>
              <c:numCache>
                <c:formatCode>General</c:formatCode>
                <c:ptCount val="10"/>
                <c:pt idx="0">
                  <c:v>9.1</c:v>
                </c:pt>
                <c:pt idx="1">
                  <c:v>8.8</c:v>
                </c:pt>
                <c:pt idx="2">
                  <c:v>7.2</c:v>
                </c:pt>
                <c:pt idx="3">
                  <c:v>5.6</c:v>
                </c:pt>
                <c:pt idx="4">
                  <c:v>0.6</c:v>
                </c:pt>
                <c:pt idx="5">
                  <c:v>-3.8</c:v>
                </c:pt>
                <c:pt idx="6">
                  <c:v>-8.4</c:v>
                </c:pt>
                <c:pt idx="7">
                  <c:v>-12.3</c:v>
                </c:pt>
                <c:pt idx="8">
                  <c:v>-17.5</c:v>
                </c:pt>
                <c:pt idx="9">
                  <c:v>-22.2</c:v>
                </c:pt>
              </c:numCache>
            </c:numRef>
          </c:val>
        </c:ser>
        <c:dLbls>
          <c:txPr>
            <a:bodyPr/>
            <a:lstStyle/>
            <a:p>
              <a:pPr>
                <a:defRPr lang="zh-CN" sz="1500" b="1">
                  <a:solidFill>
                    <a:srgbClr val="1F2A30"/>
                  </a:solidFill>
                  <a:latin typeface="Arial"/>
                  <a:ea typeface="Microsoft YaHei"/>
                  <a:cs typeface="Arial"/>
                </a:defRPr>
              </a:pPr>
              <a:endParaRPr lang="zh-CN"/>
            </a:p>
          </c:txPr>
          <c:dLblPos val="outEnd"/>
          <c:showLegendKey val="0"/>
          <c:showVal val="1"/>
          <c:showCatName val="0"/>
          <c:showSerName val="0"/>
          <c:showPercent val="0"/>
          <c:showBubbleSize val="0"/>
          <c:showLeaderLines val="0"/>
        </c:dLbls>
        <c:gapWidth val="150"/>
        <c:axId val="2068027336"/>
        <c:axId val="2113994440"/>
      </c:barChart>
      <c:catAx>
        <c:axId val="2068027336"/>
        <c:scaling>
          <c:orientation val="maxMin"/>
        </c:scaling>
        <c:delete val="0"/>
        <c:axPos val="l"/>
        <c:majorTickMark val="out"/>
        <c:minorTickMark val="none"/>
        <c:tickLblPos val="low"/>
        <c:spPr>
          <a:ln w="9525" cap="flat" cmpd="sng" algn="ctr">
            <a:solidFill>
              <a:srgbClr val="E4DED0"/>
            </a:solidFill>
            <a:round/>
          </a:ln>
        </c:spPr>
        <c:txPr>
          <a:bodyPr/>
          <a:lstStyle/>
          <a:p>
            <a:pPr>
              <a:defRPr lang="zh-CN" sz="1350">
                <a:solidFill>
                  <a:srgbClr val="5F6B72"/>
                </a:solidFill>
                <a:latin typeface="Microsoft YaHei"/>
                <a:ea typeface="Microsoft YaHei"/>
                <a:cs typeface="Microsoft YaHei"/>
              </a:defRPr>
            </a:pPr>
            <a:endParaRPr lang="zh-CN"/>
          </a:p>
        </c:txPr>
        <c:crossAx val="2113994440"/>
        <c:crosses val="autoZero"/>
        <c:auto val="1"/>
        <c:lblAlgn val="ctr"/>
        <c:lblOffset val="100"/>
        <c:noMultiLvlLbl val="0"/>
      </c:catAx>
      <c:valAx>
        <c:axId val="2113994440"/>
        <c:scaling>
          <c:orientation val="minMax"/>
          <c:max val="12"/>
          <c:min val="-24"/>
        </c:scaling>
        <c:delete val="0"/>
        <c:axPos val="b"/>
        <c:majorGridlines>
          <c:spPr>
            <a:ln w="6350" cap="flat" cmpd="sng" algn="ctr">
              <a:solidFill>
                <a:srgbClr val="E4DED0"/>
              </a:solidFill>
              <a:round/>
            </a:ln>
          </c:spPr>
        </c:majorGridlines>
        <c:majorTickMark val="out"/>
        <c:minorTickMark val="none"/>
        <c:tickLblPos val="nextTo"/>
        <c:spPr>
          <a:ln w="9525" cap="flat" cmpd="sng" algn="ctr">
            <a:solidFill>
              <a:srgbClr val="E4DED0"/>
            </a:solidFill>
            <a:round/>
          </a:ln>
        </c:spPr>
        <c:txPr>
          <a:bodyPr/>
          <a:lstStyle/>
          <a:p>
            <a:pPr>
              <a:defRPr lang="zh-CN" sz="1350">
                <a:solidFill>
                  <a:srgbClr val="5F6B72"/>
                </a:solidFill>
                <a:latin typeface="Microsoft YaHei"/>
                <a:ea typeface="Microsoft YaHei"/>
                <a:cs typeface="Microsoft YaHei"/>
              </a:defRPr>
            </a:pPr>
            <a:endParaRPr lang="zh-CN"/>
          </a:p>
        </c:txPr>
        <c:crossAx val="2068027336"/>
        <c:crosses val="autoZero"/>
        <c:majorUnit val="6"/>
      </c:valAx>
      <c:spPr>
        <a:solidFill>
          <a:srgbClr val="F4F1EA"/>
        </a:solidFill>
        <a:ln>
          <a:noFill/>
        </a:ln>
      </c:spPr>
    </c:plotArea>
    <c:plotVisOnly val="1"/>
    <c:dispBlanksAs val="gap"/>
  </c:chart>
  <c:spPr>
    <a:solidFill>
      <a:srgbClr val="F4F1EA"/>
    </a:solidFill>
    <a:ln>
      <a:noFill/>
    </a:ln>
  </c:spPr>
  <c:txPr>
    <a:bodyPr/>
    <a:lstStyle/>
    <a:p>
      <a:pPr>
        <a:defRPr lang="zh-CN" sz="1350">
          <a:solidFill>
            <a:srgbClr val="5F6B72"/>
          </a:solidFill>
          <a:latin typeface="Microsoft YaHei"/>
          <a:ea typeface="Microsoft YaHei"/>
          <a:cs typeface="Microsoft YaHei"/>
        </a:defRPr>
      </a:pPr>
      <a:endParaRPr lang="zh-CN"/>
    </a:p>
  </c:txPr>
  <c:externalData r:id="rId1">
    <c:autoUpdate val="0"/>
  </c:externalData>
</c:chartSpace>
</file>

<file path=ppt/charts/chart1101.xml><?xml version="1.0" encoding="utf-8"?>
<c:chartSpace xmlns:c="http://schemas.openxmlformats.org/drawingml/2006/chart" xmlns:a="http://schemas.openxmlformats.org/drawingml/2006/main" xmlns:r="http://schemas.openxmlformats.org/officeDocument/2006/relationships">
  <c:date1904 val="0"/>
  <c:lang val="zh-CN"/>
  <c:chart>
    <c:autoTitleDeleted val="1"/>
    <c:plotArea>
      <c:layout>
        <c:manualLayout>
          <c:layoutTarget val="inner"/>
          <c:xMode val="edge"/>
          <c:yMode val="edge"/>
          <c:wMode val="factor"/>
          <c:hMode val="factor"/>
          <c:x val="0.118055555556"/>
          <c:y val="0.0909090909091"/>
          <c:w val="0.850694444444"/>
          <c:h val="0.757575757576"/>
        </c:manualLayout>
      </c:layout>
      <c:barChart>
        <c:barDir val="col"/>
        <c:grouping val="clustered"/>
        <c:varyColors val="0"/>
        <c:ser>
          <c:idx val="0"/>
          <c:order val="0"/>
          <c:tx>
            <c:strRef>
              <c:f>Sheet1!$B$1</c:f>
              <c:strCache>
                <c:ptCount val="1"/>
                <c:pt idx="0">
                  <c:v>出口额</c:v>
                </c:pt>
              </c:strCache>
            </c:strRef>
          </c:tx>
          <c:spPr>
            <a:solidFill>
              <a:schemeClr val="accent1"/>
            </a:solidFill>
            <a:ln>
              <a:solidFill>
                <a:schemeClr val="accent1"/>
              </a:solidFill>
            </a:ln>
          </c:spPr>
          <c:invertIfNegative val="0"/>
          <c:cat>
            <c:strRef>
              <c:f>Sheet1!$A$2:$A$5</c:f>
              <c:strCache>
                <c:ptCount val="4"/>
                <c:pt idx="0">
                  <c:v>一般贸易</c:v>
                </c:pt>
                <c:pt idx="1">
                  <c:v>加工贸易</c:v>
                </c:pt>
                <c:pt idx="2">
                  <c:v>机电产品</c:v>
                </c:pt>
                <c:pt idx="3">
                  <c:v>高新技术产品</c:v>
                </c:pt>
              </c:strCache>
            </c:strRef>
          </c:cat>
          <c:val>
            <c:numRef>
              <c:f>Sheet1!$B$2:$B$5</c:f>
              <c:numCache>
                <c:formatCode>General</c:formatCode>
                <c:ptCount val="4"/>
                <c:pt idx="0">
                  <c:v>176411</c:v>
                </c:pt>
                <c:pt idx="1">
                  <c:v>52633</c:v>
                </c:pt>
                <c:pt idx="2">
                  <c:v>164683</c:v>
                </c:pt>
                <c:pt idx="3">
                  <c:v>67806</c:v>
                </c:pt>
              </c:numCache>
            </c:numRef>
          </c:val>
        </c:ser>
        <c:ser>
          <c:idx val="1"/>
          <c:order val="1"/>
          <c:tx>
            <c:strRef>
              <c:f>Sheet1!$C$1</c:f>
              <c:strCache>
                <c:ptCount val="1"/>
                <c:pt idx="0">
                  <c:v>进口额</c:v>
                </c:pt>
              </c:strCache>
            </c:strRef>
          </c:tx>
          <c:spPr>
            <a:solidFill>
              <a:srgbClr val="4A7593"/>
            </a:solidFill>
            <a:ln>
              <a:solidFill>
                <a:srgbClr val="4A7593"/>
              </a:solidFill>
            </a:ln>
          </c:spPr>
          <c:invertIfNegative val="0"/>
          <c:cat>
            <c:strRef>
              <c:f>Sheet1!$A$2:$A$5</c:f>
              <c:strCache>
                <c:ptCount val="4"/>
                <c:pt idx="0">
                  <c:v>一般贸易</c:v>
                </c:pt>
                <c:pt idx="1">
                  <c:v>加工贸易</c:v>
                </c:pt>
                <c:pt idx="2">
                  <c:v>机电产品</c:v>
                </c:pt>
                <c:pt idx="3">
                  <c:v>高新技术产品</c:v>
                </c:pt>
              </c:strCache>
            </c:strRef>
          </c:cat>
          <c:val>
            <c:numRef>
              <c:f>Sheet1!$C$2:$C$5</c:f>
              <c:numCache>
                <c:formatCode>General</c:formatCode>
                <c:ptCount val="4"/>
                <c:pt idx="0">
                  <c:v>110650</c:v>
                </c:pt>
                <c:pt idx="1">
                  <c:v>32527</c:v>
                </c:pt>
                <c:pt idx="2">
                  <c:v>74069</c:v>
                </c:pt>
                <c:pt idx="3">
                  <c:v>58844</c:v>
                </c:pt>
              </c:numCache>
            </c:numRef>
          </c:val>
        </c:ser>
        <c:dLbls>
          <c:txPr>
            <a:bodyPr/>
            <a:lstStyle/>
            <a:p>
              <a:pPr>
                <a:defRPr lang="zh-CN" sz="1500" b="1">
                  <a:solidFill>
                    <a:srgbClr val="1F2A30"/>
                  </a:solidFill>
                  <a:latin typeface="Arial"/>
                  <a:ea typeface="Microsoft YaHei"/>
                  <a:cs typeface="Arial"/>
                </a:defRPr>
              </a:pPr>
              <a:endParaRPr lang="zh-CN"/>
            </a:p>
          </c:txPr>
          <c:dLblPos val="outEnd"/>
          <c:showLegendKey val="0"/>
          <c:showVal val="1"/>
          <c:showCatName val="0"/>
          <c:showSerName val="0"/>
          <c:showPercent val="0"/>
          <c:showBubbleSize val="0"/>
          <c:showLeaderLines val="0"/>
        </c:dLbls>
        <c:gapWidth val="150"/>
        <c:axId val="2068027336"/>
        <c:axId val="2113994440"/>
      </c:barChart>
      <c:catAx>
        <c:axId val="2068027336"/>
        <c:scaling>
          <c:orientation val="minMax"/>
        </c:scaling>
        <c:delete val="0"/>
        <c:axPos val="b"/>
        <c:majorTickMark val="out"/>
        <c:minorTickMark val="none"/>
        <c:tickLblPos val="nextTo"/>
        <c:spPr>
          <a:ln w="9525" cap="flat" cmpd="sng" algn="ctr">
            <a:solidFill>
              <a:srgbClr val="E4DED0"/>
            </a:solidFill>
            <a:round/>
          </a:ln>
        </c:spPr>
        <c:txPr>
          <a:bodyPr/>
          <a:lstStyle/>
          <a:p>
            <a:pPr>
              <a:defRPr lang="zh-CN" sz="1500">
                <a:solidFill>
                  <a:srgbClr val="5F6B72"/>
                </a:solidFill>
                <a:latin typeface="Microsoft YaHei"/>
                <a:ea typeface="Microsoft YaHei"/>
                <a:cs typeface="Microsoft YaHei"/>
              </a:defRPr>
            </a:pPr>
            <a:endParaRPr lang="zh-CN"/>
          </a:p>
        </c:txPr>
        <c:crossAx val="2113994440"/>
        <c:crosses val="autoZero"/>
        <c:auto val="1"/>
        <c:lblAlgn val="ctr"/>
        <c:lblOffset val="100"/>
        <c:noMultiLvlLbl val="0"/>
      </c:catAx>
      <c:valAx>
        <c:axId val="2113994440"/>
        <c:scaling>
          <c:orientation val="minMax"/>
          <c:max val="180000"/>
          <c:min val="0"/>
        </c:scaling>
        <c:delete val="0"/>
        <c:axPos val="l"/>
        <c:majorGridlines>
          <c:spPr>
            <a:ln w="6350" cap="flat" cmpd="sng" algn="ctr">
              <a:solidFill>
                <a:srgbClr val="E4DED0"/>
              </a:solidFill>
              <a:round/>
            </a:ln>
          </c:spPr>
        </c:majorGridlines>
        <c:majorTickMark val="out"/>
        <c:minorTickMark val="none"/>
        <c:tickLblPos val="nextTo"/>
        <c:spPr>
          <a:ln w="9525" cap="flat" cmpd="sng" algn="ctr">
            <a:solidFill>
              <a:srgbClr val="E4DED0"/>
            </a:solidFill>
            <a:round/>
          </a:ln>
        </c:spPr>
        <c:txPr>
          <a:bodyPr/>
          <a:lstStyle/>
          <a:p>
            <a:pPr>
              <a:defRPr lang="zh-CN" sz="1500">
                <a:solidFill>
                  <a:srgbClr val="5F6B72"/>
                </a:solidFill>
                <a:latin typeface="Microsoft YaHei"/>
                <a:ea typeface="Microsoft YaHei"/>
                <a:cs typeface="Microsoft YaHei"/>
              </a:defRPr>
            </a:pPr>
            <a:endParaRPr lang="zh-CN"/>
          </a:p>
        </c:txPr>
        <c:crossAx val="2068027336"/>
        <c:crosses val="autoZero"/>
        <c:majorUnit val="60000"/>
      </c:valAx>
      <c:spPr>
        <a:solidFill>
          <a:srgbClr val="F4F1EA"/>
        </a:solidFill>
        <a:ln>
          <a:noFill/>
        </a:ln>
      </c:spPr>
    </c:plotArea>
    <c:legend>
      <c:legendPos val="t"/>
      <c:layout/>
      <c:overlay val="0"/>
      <c:txPr>
        <a:bodyPr/>
        <a:lstStyle/>
        <a:p>
          <a:pPr>
            <a:defRPr lang="zh-CN" sz="1350">
              <a:solidFill>
                <a:srgbClr val="5F6B72"/>
              </a:solidFill>
              <a:latin typeface="Microsoft YaHei"/>
              <a:ea typeface="Microsoft YaHei"/>
              <a:cs typeface="Microsoft YaHei"/>
            </a:defRPr>
          </a:pPr>
          <a:endParaRPr lang="zh-CN"/>
        </a:p>
      </c:txPr>
    </c:legend>
    <c:plotVisOnly val="1"/>
    <c:dispBlanksAs val="gap"/>
  </c:chart>
  <c:spPr>
    <a:solidFill>
      <a:srgbClr val="F4F1EA"/>
    </a:solidFill>
    <a:ln>
      <a:noFill/>
    </a:ln>
  </c:spPr>
  <c:txPr>
    <a:bodyPr/>
    <a:lstStyle/>
    <a:p>
      <a:pPr>
        <a:defRPr lang="zh-CN" sz="1500">
          <a:solidFill>
            <a:srgbClr val="5F6B72"/>
          </a:solidFill>
          <a:latin typeface="Microsoft YaHei"/>
          <a:ea typeface="Microsoft YaHei"/>
          <a:cs typeface="Microsoft YaHei"/>
        </a:defRPr>
      </a:pPr>
      <a:endParaRPr lang="zh-CN"/>
    </a:p>
  </c:txPr>
  <c:externalData r:id="rId1">
    <c:autoUpdate val="0"/>
  </c:externalData>
</c:chartSpace>
</file>

<file path=ppt/charts/chart1301.xml><?xml version="1.0" encoding="utf-8"?>
<c:chartSpace xmlns:c="http://schemas.openxmlformats.org/drawingml/2006/chart" xmlns:a="http://schemas.openxmlformats.org/drawingml/2006/main" xmlns:r="http://schemas.openxmlformats.org/officeDocument/2006/relationships">
  <c:date1904 val="0"/>
  <c:lang val="zh-CN"/>
  <c:chart>
    <c:autoTitleDeleted val="1"/>
    <c:plotArea>
      <c:layout/>
      <c:pieChart>
        <c:varyColors val="1"/>
        <c:ser>
          <c:idx val="0"/>
          <c:order val="0"/>
          <c:tx>
            <c:strRef>
              <c:f>Sheet1!$B$1</c:f>
              <c:strCache>
                <c:ptCount val="1"/>
                <c:pt idx="0">
                  <c:v>发电量（亿千瓦时）</c:v>
                </c:pt>
              </c:strCache>
            </c:strRef>
          </c:tx>
          <c:dPt>
            <c:idx val="0"/>
            <c:spPr>
              <a:solidFill>
                <a:srgbClr val="5F6B72"/>
              </a:solidFill>
              <a:ln>
                <a:solidFill>
                  <a:srgbClr val="5F6B72"/>
                </a:solidFill>
              </a:ln>
            </c:spPr>
          </c:dPt>
          <c:dPt>
            <c:idx val="1"/>
            <c:spPr>
              <a:solidFill>
                <a:srgbClr val="4A7593"/>
              </a:solidFill>
              <a:ln>
                <a:solidFill>
                  <a:srgbClr val="4A7593"/>
                </a:solidFill>
              </a:ln>
            </c:spPr>
          </c:dPt>
          <c:dPt>
            <c:idx val="2"/>
            <c:spPr>
              <a:solidFill>
                <a:srgbClr val="7E9DB0"/>
              </a:solidFill>
              <a:ln>
                <a:solidFill>
                  <a:srgbClr val="7E9DB0"/>
                </a:solidFill>
              </a:ln>
            </c:spPr>
          </c:dPt>
          <c:dPt>
            <c:idx val="3"/>
            <c:spPr>
              <a:solidFill>
                <a:schemeClr val="accent3"/>
              </a:solidFill>
              <a:ln>
                <a:solidFill>
                  <a:schemeClr val="accent3"/>
                </a:solidFill>
              </a:ln>
            </c:spPr>
          </c:dPt>
          <c:dPt>
            <c:idx val="4"/>
            <c:spPr>
              <a:solidFill>
                <a:srgbClr val="C98B2E"/>
              </a:solidFill>
              <a:ln>
                <a:solidFill>
                  <a:srgbClr val="C98B2E"/>
                </a:solidFill>
              </a:ln>
            </c:spPr>
          </c:dPt>
          <c:cat>
            <c:strRef>
              <c:f>Sheet1!$A$2:$A$6</c:f>
              <c:strCache>
                <c:ptCount val="5"/>
                <c:pt idx="0">
                  <c:v>火电</c:v>
                </c:pt>
                <c:pt idx="1">
                  <c:v>水电</c:v>
                </c:pt>
                <c:pt idx="2">
                  <c:v>核电</c:v>
                </c:pt>
                <c:pt idx="3">
                  <c:v>风电</c:v>
                </c:pt>
                <c:pt idx="4">
                  <c:v>太阳能发电</c:v>
                </c:pt>
              </c:strCache>
            </c:strRef>
          </c:cat>
          <c:val>
            <c:numRef>
              <c:f>Sheet1!$B$2:$B$6</c:f>
              <c:numCache>
                <c:formatCode>General</c:formatCode>
                <c:ptCount val="5"/>
                <c:pt idx="0">
                  <c:v>63271.5</c:v>
                </c:pt>
                <c:pt idx="1">
                  <c:v>14616.7</c:v>
                </c:pt>
                <c:pt idx="2">
                  <c:v>4852.3</c:v>
                </c:pt>
                <c:pt idx="3">
                  <c:v>11279.2</c:v>
                </c:pt>
                <c:pt idx="4">
                  <c:v>11732.4</c:v>
                </c:pt>
              </c:numCache>
            </c:numRef>
          </c:val>
        </c:ser>
        <c:firstSliceAng val="0"/>
      </c:pieChart>
      <c:spPr>
        <a:solidFill>
          <a:srgbClr val="F4F1EA"/>
        </a:solidFill>
        <a:ln>
          <a:noFill/>
        </a:ln>
      </c:spPr>
    </c:plotArea>
    <c:plotVisOnly val="1"/>
    <c:dispBlanksAs val="gap"/>
  </c:chart>
  <c:spPr>
    <a:solidFill>
      <a:srgbClr val="F4F1EA"/>
    </a:solidFill>
    <a:ln>
      <a:noFill/>
    </a:ln>
  </c:spPr>
  <c:txPr>
    <a:bodyPr/>
    <a:lstStyle/>
    <a:p>
      <a:pPr>
        <a:defRPr lang="zh-CN" sz="1350">
          <a:solidFill>
            <a:srgbClr val="1F2A30"/>
          </a:solidFill>
          <a:latin typeface="Microsoft YaHei"/>
          <a:ea typeface="Microsoft YaHei"/>
          <a:cs typeface="Microsoft YaHei"/>
        </a:defRPr>
      </a:pPr>
      <a:endParaRPr lang="zh-CN"/>
    </a:p>
  </c:txPr>
  <c:externalData r:id="rId1">
    <c:autoUpdate val="0"/>
  </c:externalData>
</c:chartSpace>
</file>

<file path=ppt/charts/chart1401.xml><?xml version="1.0" encoding="utf-8"?>
<c:chartSpace xmlns:c="http://schemas.openxmlformats.org/drawingml/2006/chart" xmlns:a="http://schemas.openxmlformats.org/drawingml/2006/main" xmlns:r="http://schemas.openxmlformats.org/officeDocument/2006/relationships">
  <c:date1904 val="0"/>
  <c:lang val="zh-CN"/>
  <c:chart>
    <c:autoTitleDeleted val="1"/>
    <c:plotArea>
      <c:layout>
        <c:manualLayout>
          <c:layoutTarget val="inner"/>
          <c:xMode val="edge"/>
          <c:yMode val="edge"/>
          <c:wMode val="factor"/>
          <c:hMode val="factor"/>
          <c:x val="0.0659722222222"/>
          <c:y val="0.08"/>
          <c:w val="0.902777777778"/>
          <c:h val="0.76"/>
        </c:manualLayout>
      </c:layout>
      <c:barChart>
        <c:barDir val="col"/>
        <c:grouping val="clustered"/>
        <c:varyColors val="0"/>
        <c:ser>
          <c:idx val="0"/>
          <c:order val="0"/>
          <c:tx>
            <c:strRef>
              <c:f>Sheet1!$B$1</c:f>
              <c:strCache>
                <c:ptCount val="1"/>
                <c:pt idx="0">
                  <c:v>比上年增长（%）</c:v>
                </c:pt>
              </c:strCache>
            </c:strRef>
          </c:tx>
          <c:spPr>
            <a:solidFill>
              <a:schemeClr val="accent3"/>
            </a:solidFill>
            <a:ln>
              <a:solidFill>
                <a:schemeClr val="accent3"/>
              </a:solidFill>
            </a:ln>
          </c:spPr>
          <c:invertIfNegative val="0"/>
          <c:cat>
            <c:strRef>
              <c:f>Sheet1!$A$2:$A$9</c:f>
              <c:strCache>
                <c:ptCount val="8"/>
                <c:pt idx="0">
                  <c:v>3D 打印设备</c:v>
                </c:pt>
                <c:pt idx="1">
                  <c:v>工业机器人</c:v>
                </c:pt>
                <c:pt idx="2">
                  <c:v>新能源汽车</c:v>
                </c:pt>
                <c:pt idx="3">
                  <c:v>服务机器人</c:v>
                </c:pt>
                <c:pt idx="4">
                  <c:v>集成电路</c:v>
                </c:pt>
                <c:pt idx="5">
                  <c:v>高技术制造业</c:v>
                </c:pt>
                <c:pt idx="6">
                  <c:v>数字产品制造业</c:v>
                </c:pt>
                <c:pt idx="7">
                  <c:v>装备制造业</c:v>
                </c:pt>
              </c:strCache>
            </c:strRef>
          </c:cat>
          <c:val>
            <c:numRef>
              <c:f>Sheet1!$B$2:$B$9</c:f>
              <c:numCache>
                <c:formatCode>General</c:formatCode>
                <c:ptCount val="8"/>
                <c:pt idx="0">
                  <c:v>52.5</c:v>
                </c:pt>
                <c:pt idx="1">
                  <c:v>28</c:v>
                </c:pt>
                <c:pt idx="2">
                  <c:v>25.1</c:v>
                </c:pt>
                <c:pt idx="3">
                  <c:v>16.1</c:v>
                </c:pt>
                <c:pt idx="4">
                  <c:v>10.9</c:v>
                </c:pt>
                <c:pt idx="5">
                  <c:v>9.4</c:v>
                </c:pt>
                <c:pt idx="6">
                  <c:v>9.3</c:v>
                </c:pt>
                <c:pt idx="7">
                  <c:v>9.2</c:v>
                </c:pt>
              </c:numCache>
            </c:numRef>
          </c:val>
        </c:ser>
        <c:dLbls>
          <c:txPr>
            <a:bodyPr/>
            <a:lstStyle/>
            <a:p>
              <a:pPr>
                <a:defRPr lang="zh-CN" sz="1500" b="1">
                  <a:solidFill>
                    <a:srgbClr val="1F2A30"/>
                  </a:solidFill>
                  <a:latin typeface="Arial"/>
                  <a:ea typeface="Microsoft YaHei"/>
                  <a:cs typeface="Arial"/>
                </a:defRPr>
              </a:pPr>
              <a:endParaRPr lang="zh-CN"/>
            </a:p>
          </c:txPr>
          <c:dLblPos val="outEnd"/>
          <c:showLegendKey val="0"/>
          <c:showVal val="1"/>
          <c:showCatName val="0"/>
          <c:showSerName val="0"/>
          <c:showPercent val="0"/>
          <c:showBubbleSize val="0"/>
          <c:showLeaderLines val="0"/>
        </c:dLbls>
        <c:gapWidth val="150"/>
        <c:axId val="2068027336"/>
        <c:axId val="2113994440"/>
      </c:barChart>
      <c:catAx>
        <c:axId val="2068027336"/>
        <c:scaling>
          <c:orientation val="minMax"/>
        </c:scaling>
        <c:delete val="0"/>
        <c:axPos val="b"/>
        <c:majorTickMark val="out"/>
        <c:minorTickMark val="none"/>
        <c:tickLblPos val="nextTo"/>
        <c:spPr>
          <a:ln w="9525" cap="flat" cmpd="sng" algn="ctr">
            <a:solidFill>
              <a:srgbClr val="E4DED0"/>
            </a:solidFill>
            <a:round/>
          </a:ln>
        </c:spPr>
        <c:txPr>
          <a:bodyPr/>
          <a:lstStyle/>
          <a:p>
            <a:pPr>
              <a:defRPr lang="zh-CN" sz="1350">
                <a:solidFill>
                  <a:srgbClr val="5F6B72"/>
                </a:solidFill>
                <a:latin typeface="Microsoft YaHei"/>
                <a:ea typeface="Microsoft YaHei"/>
                <a:cs typeface="Microsoft YaHei"/>
              </a:defRPr>
            </a:pPr>
            <a:endParaRPr lang="zh-CN"/>
          </a:p>
        </c:txPr>
        <c:crossAx val="2113994440"/>
        <c:crosses val="autoZero"/>
        <c:auto val="1"/>
        <c:lblAlgn val="ctr"/>
        <c:lblOffset val="100"/>
        <c:noMultiLvlLbl val="0"/>
      </c:catAx>
      <c:valAx>
        <c:axId val="2113994440"/>
        <c:scaling>
          <c:orientation val="minMax"/>
          <c:max val="60"/>
          <c:min val="0"/>
        </c:scaling>
        <c:delete val="0"/>
        <c:axPos val="l"/>
        <c:majorGridlines>
          <c:spPr>
            <a:ln w="6350" cap="flat" cmpd="sng" algn="ctr">
              <a:solidFill>
                <a:srgbClr val="E4DED0"/>
              </a:solidFill>
              <a:round/>
            </a:ln>
          </c:spPr>
        </c:majorGridlines>
        <c:majorTickMark val="out"/>
        <c:minorTickMark val="none"/>
        <c:tickLblPos val="nextTo"/>
        <c:spPr>
          <a:ln w="9525" cap="flat" cmpd="sng" algn="ctr">
            <a:solidFill>
              <a:srgbClr val="E4DED0"/>
            </a:solidFill>
            <a:round/>
          </a:ln>
        </c:spPr>
        <c:txPr>
          <a:bodyPr/>
          <a:lstStyle/>
          <a:p>
            <a:pPr>
              <a:defRPr lang="zh-CN" sz="1350">
                <a:solidFill>
                  <a:srgbClr val="5F6B72"/>
                </a:solidFill>
                <a:latin typeface="Microsoft YaHei"/>
                <a:ea typeface="Microsoft YaHei"/>
                <a:cs typeface="Microsoft YaHei"/>
              </a:defRPr>
            </a:pPr>
            <a:endParaRPr lang="zh-CN"/>
          </a:p>
        </c:txPr>
        <c:crossAx val="2068027336"/>
        <c:crosses val="autoZero"/>
        <c:majorUnit val="15"/>
      </c:valAx>
      <c:spPr>
        <a:solidFill>
          <a:srgbClr val="F4F1EA"/>
        </a:solidFill>
        <a:ln>
          <a:noFill/>
        </a:ln>
      </c:spPr>
    </c:plotArea>
    <c:plotVisOnly val="1"/>
    <c:dispBlanksAs val="gap"/>
  </c:chart>
  <c:spPr>
    <a:solidFill>
      <a:srgbClr val="F4F1EA"/>
    </a:solidFill>
    <a:ln>
      <a:noFill/>
    </a:ln>
  </c:spPr>
  <c:txPr>
    <a:bodyPr/>
    <a:lstStyle/>
    <a:p>
      <a:pPr>
        <a:defRPr lang="zh-CN" sz="1350">
          <a:solidFill>
            <a:srgbClr val="5F6B72"/>
          </a:solidFill>
          <a:latin typeface="Microsoft YaHei"/>
          <a:ea typeface="Microsoft YaHei"/>
          <a:cs typeface="Microsoft YaHei"/>
        </a:defRPr>
      </a:pPr>
      <a:endParaRPr lang="zh-CN"/>
    </a:p>
  </c:txPr>
  <c:externalData r:id="rId1">
    <c:autoUpdate val="0"/>
  </c:externalData>
</c:chartSpace>
</file>

<file path=ppt/charts/chartEx501.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Sheet1!$A$2:$A$5</cx:f>
        <cx:lvl ptCount="4">
          <cx:pt idx="0">最终消费支出</cx:pt>
          <cx:pt idx="1">资本形成总额</cx:pt>
          <cx:pt idx="2">货物和服务净出口</cx:pt>
          <cx:pt idx="3">全年增速</cx:pt>
        </cx:lvl>
      </cx:strDim>
      <cx:numDim type="val">
        <cx:f>Sheet1!$B$2:$B$5</cx:f>
        <cx:lvl ptCount="4" formatCode="General">
          <cx:pt idx="0">2.6</cx:pt>
          <cx:pt idx="1">0.8</cx:pt>
          <cx:pt idx="2">1.6</cx:pt>
          <cx:pt idx="3">5</cx:pt>
        </cx:lvl>
      </cx:numDim>
    </cx:data>
  </cx:chartData>
  <cx:chart>
    <cx:plotArea>
      <cx:plotAreaRegion>
        <cx:series layoutId="waterfall" uniqueId="{00000000-0000-4000-8000-000000000001}">
          <cx:tx>
            <cx:txData>
              <cx:f>Sheet1!$B$1</cx:f>
              <cx:v>gdp-contribution</cx:v>
            </cx:txData>
          </cx:tx>
          <cx:dataLabels pos="outEnd">
            <cx:visibility seriesName="0" categoryName="0" value="1"/>
          </cx:dataLabels>
          <cx:dataId val="0"/>
          <cx:layoutPr>
            <cx:subtotals>
              <cx:idx val="3"/>
            </cx:subtotals>
          </cx:layoutPr>
        </cx:series>
      </cx:plotAreaRegion>
      <cx:axis id="0">
        <cx:catScaling gapWidth="0.5"/>
        <cx:tickLabels/>
      </cx:axis>
      <cx:axis id="1">
        <cx:valScaling/>
        <cx:majorGridlines/>
        <cx:tickLabels/>
      </cx:axis>
    </cx:plotArea>
  </cx:chart>
</cx:chartSpace>
</file>

<file path=ppt/charts/colors501.xml><?xml version="1.0" encoding="utf-8"?>
<cs:colorStyle xmlns:cs="http://schemas.microsoft.com/office/drawing/2012/chartStyle" xmlns:a="http://schemas.openxmlformats.org/drawingml/2006/main" meth="cycle" id="10">
  <a:schemeClr val="accent1"/>
  <a:schemeClr val="accent2"/>
</cs:colorStyle>
</file>

<file path=ppt/charts/style501.xml><?xml version="1.0" encoding="utf-8"?>
<cs:chartStyle xmlns:cs="http://schemas.microsoft.com/office/drawing/2012/chartStyle" xmlns:a="http://schemas.openxmlformats.org/drawingml/2006/main" id="410">
  <cs:axisTitle>
    <cs:lnRef idx="0"/>
    <cs:fillRef idx="0"/>
    <cs:effectRef idx="0"/>
    <cs:fontRef idx="minor">
      <a:schemeClr val="tx1">
        <a:lumMod val="65000"/>
        <a:lumOff val="35000"/>
      </a:schemeClr>
    </cs:fontRef>
    <cs:spPr>
      <a:solidFill>
        <a:schemeClr val="bg1">
          <a:lumMod val="65000"/>
        </a:schemeClr>
      </a:solidFill>
      <a:ln w="19050">
        <a:solidFill>
          <a:schemeClr val="bg1"/>
        </a:solidFill>
      </a:ln>
    </cs:spPr>
    <cs:defRPr sz="1197"/>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cs:chartArea>
  <cs:dataLabel>
    <cs:lnRef idx="0"/>
    <cs:fillRef idx="0"/>
    <cs:effectRef idx="0"/>
    <cs:fontRef idx="minor">
      <a:schemeClr val="lt1"/>
    </cs:fontRef>
    <cs:defRPr sz="1197"/>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a:ln w="19050">
        <a:solidFill>
          <a:schemeClr val="lt1"/>
        </a:solidFill>
      </a:ln>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862"/>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cs:valueAxis>
  <cs:wall>
    <cs:lnRef idx="0"/>
    <cs:fillRef idx="0"/>
    <cs:effectRef idx="0"/>
    <cs:fontRef idx="minor">
      <a:schemeClr val="tx1"/>
    </cs:fontRef>
  </cs:wall>
</cs:chartStyle>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zh-CN"/>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zh-CN"/>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zh-CN"/>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zh-CN"/>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zh-CN"/>
          </a:p>
        </p:txBody>
      </p:sp>
    </p:spTree>
  </p:cSld>
  <p:clrMap bg1="lt1" tx1="dk1" bg2="lt2" tx2="dk2" accent1="accent1" accent2="accent2" accent3="accent3" accent4="accent4" accent5="accent5" accent6="accent6" hlink="hlink" folHlink="folHlink"/>
  <p:hf/>
  <p:notesStyle>
    <a:lvl1pPr marL="0" algn="l">
      <a:defRPr sz="1200" lang="zh-CN"/>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份简报读的是国家统计局二〇二六年二月二十八日发布的《中华人民共和国二〇二五年国民经济和社会发展统计公报》。全篇只引用公报原文的数字。先看总量：二〇二五年国内生产总值一百四十万一千八百七十九亿元，比上年增长百分之五点零。</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把六个量级各不相同的锚点放在一起。国内生产总值一百四十万一千八百七十九亿元，增长百分之五点零。年末全国人口十四亿零四百八十九万人，比上年末减少三百三十九万人。常住人口城镇化率百分之六十七点八九，比上年末提高零点八九个百分点。全国居民人均可支配收入四万三千三百七十七元，增长百分之五点零。货物进出口总额四十五万四千六百八十五亿元，增长百分之三点八。社会消费品零售总额五十万一千二百零二亿元，增长百分之三点七。六项里只有人口是减少的，其余五项都在增长。</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全年增速是百分之五点零，但这个年度数字内部是逐季走低的：一季度百分之五点四，二季度百分之五点二，三季度百分之四点八，四季度百分之四点五。折线上四个点连起来，是一条向下的线。同一年里，人均国内生产总值九万九千六百六十五元，增长百分之五点一；国民总收入一百三十九万三千七百亿元，同样增长百分之五点一；全员劳动生产率是每人十八万四千四百一十三元，比上年提高百分之六点一。人均和效率两项的增速都高于总量增速。</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按三次产业拆开看。第一产业增加值九万三千三百四十七亿元，增长百分之三点九，占国内生产总值的百分之六点七。第二产业增加值四十九万九千六百五十三亿元，增长百分之四点五，占百分之三十五点六。第三产业增加值八十万八千八百七十九亿元，增长百分之五点四，占百分之五十七点七。第三产业既是份额最大的一块，增速也是三者中最快的。需要说明的是，绝对数按现价计算，增长速度按不变价格计算，两者口径不同。</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百分之五点零这个增速，可以拆成三段。最终消费支出拉动国内生产总值增长二点六个百分点，资本形成总额拉动零点八个百分点，货物和服务净出口拉动一点六个百分点。三段相加正好是全年的百分之五点零。消费是三大需求里拉动最多的一项，净出口的拉动超过了资本形成。这里要提醒一句：公报只给出了三项各自的拉动百分点，没有给出三者各自的绝对规模，所以本页不作推算。</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年末全国人口十四亿零四百八十九万人。按城乡分，城镇九亿五千三百八十万人，占百分之六十七点九；乡村四亿五千一百零九万人，占百分之三十二点一。按性别分，男性七亿一千六百八十五万人，占百分之五十一；女性六亿八千八百零四万人，占百分之四十九。按年龄分，零到十五岁两亿三千零一十五万人，占百分之十六点四；十六到五十九岁八亿五千一百三十六万人，占百分之六十点六；六十周岁及以上三亿二千三百三十八万人，占百分之二十三，其中六十五周岁及以上两亿二千三百六十五万人，占百分之十五点九。口径上，全国人口指大陆三十一个省、自治区、直辖市和现役军人的人口。</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人口为什么在减少，这一页给出算式。全年出生人口七百九十二万人，出生率千分之五点六三；死亡人口一千一百三十一万人，死亡率千分之八点零四。死亡多于出生，人口自然增长率是负的千分之二点四一。年末全国人口比上年末减少三百三十九万人。与此同时，城镇化仍在推进：年末常住人口城镇化率百分之六十七点八九，比上年末提高零点八九个百分点，城镇常住人口九亿五千三百八十万人。总量在减少和城镇化在提高，这两件事在同一年里同时发生。</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年末全国就业人员七亿二千五百零四万人，其中城镇就业人员四亿七千五百三十五万人，占百分之六十五点六。全年城镇新增就业一千二百六十七万人，比上年多增十一万人；城镇调查失业率全年平均值百分之五点二，年末百分之五点一。收入方面，全国居民人均可支配收入四万三千三百七十七元，增长百分之五点零，中位数是三万六千二百三十一元；城镇居民五万六千五百零二元，农村居民二万四千四百五十六元，城乡比值二点三一，比上年缩小零点零三。右侧的五等份分组显示了分布的跨度：低收入组人均一万零一百五十元，中间偏下二万二千七百零二元，中间三万五千五百三十六元，中间偏上五万五千五百八十六元，高收入组十万三千七百七十八元。最高一组是最低一组的十倍以上。</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全年社会消费品零售总额五十万一千二百零二亿元，比上年增长百分之三点七；全国居民人均消费支出二万九千四百七十六元，增长百分之四点四。这五十万亿元按消费类型可以拆成两段：商品零售额四十四万三千二百二十亿元，增长百分之三点八；餐饮收入五万七千九百八十二亿元，增长百分之三点二。按经营地拆，城镇消费品零售额四十三万二千九百七十二亿元，增长百分之三点六；乡村六万八千二百三十亿元，增长百分之四点一，乡村增速高于城镇。服务零售额比上年增长百分之五点五。实物商品网上零售额十三万零九百二十三亿元，增长百分之五点二，占社会消费品零售总额的百分之二十六点一。全国居民恩格尔系数是百分之二十九点三。</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投资是本篇里唯一整体下行的一面。全社会固定资产投资四十九万一千一百零九亿元，比上年下降百分之三点九；不含农户的固定资产投资四十八万五千一百八十六亿元，下降百分之三点八。分产业看，第一产业投资九千五百七十亿元增长百分之二点三，第二产业十七万七千三百六十八亿元增长百分之二点五，第三产业二十九万八千二百四十八亿元下降百分之七点四。基础设施投资下降百分之二点二，民间投资下降百分之六点四。房地产开发投资八万二千七百八十八亿元，下降百分之十七点二，其中住宅投资六万三千五百一十四亿元，下降百分之十六点三。图上按增速排序的十个行业里，电力热力燃气及水的生产和供应业增长百分之九点一居首，信息传输软件和信息技术服务业增长百分之八点八；下行最深的是建筑业，下降百分之二十二点二，房地产业下降百分之十七点五。总计这一根落在负的百分之三点八。这一页的增速按可比口径计算。</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全年货物进出口总额四十五万四千六百八十五亿元，比上年增长百分之三点八。其中出口二十六万九千八百九十亿元，增长百分之六点一；进口十八万四千七百九十五亿元，增长百分之零点五。出口比进口涨得多，货物进出口顺差八万五千零九十四亿元，比上年增长百分之二十点四。分口径看，一般贸易出口十七万六千四百一十一亿元增长百分之六，进口十一万零六百五十亿元下降百分之三点七；加工贸易出口五万二千六百三十三亿元增长百分之四点九，进口三万二千五百二十七亿元增长百分之十二点七。机电产品出口十六万四千六百八十三亿元增长百分之八点九，高新技术产品出口六万七千八百零六亿元增长百分之八。对共建一带一路国家进出口额二十三万六千零一十八亿元，增长百分之六点三，占进出口总额的百分之五十一点九；民营企业进出口额二十六万零四百零三亿元，增长百分之七点一，占百分之五十七点三。</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按出口额从大到小排，东盟是最大的出口目的地，四万七千五百九十六亿元，增长百分之十四，占全部出口的百分之十七点六，对东盟的进口二万七千八百六十一亿元，下降百分之一。欧盟出口四万零七十一亿元增长百分之九，占百分之十四点八。美国出口三万零六十七亿元，下降百分之十九点五，占百分之十一点一，进口一万亿元下降百分之十四点一，是表中出口降幅最大的一栏。中国香港出口二万四千零一亿元增长百分之十六点一，进口二千二百六十六亿元增长百分之七十三点四。日本出口一万一千二百六十一亿元增长百分之四点一，韩国出口一万零三百一十九亿元下降百分之零点六，印度出口九千七百二十三亿元增长百分之十三点四，俄罗斯出口七千三百八十四亿元下降百分之九点九，中国台湾出口五千九百八十二亿元增长百分之十一点八，对中国台湾的进口一万六千五百零九亿元增长百分之六点五。需要说明的是，各项统计数据均未包括香港特别行政区、澳门特别行政区和台湾省。</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全年发电量十万五千七百五十二点五亿千瓦时，比上年增长百分之四点八。饼图上，火电六万三千二百七十一点五亿千瓦时，比上年下降百分之零点七，仍是最大的一块；水电一万四千六百一十六点七亿千瓦时增长百分之二点五，核电四千八百五十二点三亿千瓦时增长百分之七点六，风电一万一千二百七十九点二亿千瓦时增长百分之十三点一，太阳能发电一万一千七百三十二点四亿千瓦时增长百分之三十九点八，是增速最快的一类。水电核电风电太阳能等清洁能源发电量四万二千四百八十一亿千瓦时，增长百分之十四点四。年末发电装机容量三十八万九千一百三十四万千瓦，增长百分之十六点一，其中太阳能发电装机十二万零一百七十三万千瓦增长百分之三十五点四，风电装机六万四千零一万千瓦增长百分之二十二点九。消费侧，全年能源消费总量六十一点七亿吨标准煤，增长百分之三点五；煤炭消费量占能源消费总量的百分之五十一点四，比上年下降一点八个百分点；清洁能源消费量占百分之三十点四，上升一点八个百分点。万元国内生产总值二氧化碳排放比上年下降百分之五，能耗下降百分之五点一；监测的三百三十九个地级及以上城市中，空气质量达标的占百分之七十二点六。这里要说明：公报分别给出了清洁能源发电量和全年发电量，但没有给出清洁能源占总发电量的比重，本页不作推算。</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研究与试验发展经费支出三万九千二百六十二亿元，比上年增长百分之八点一，与国内生产总值之比是百分之二点八零；其中基础研究经费二千七百七十八亿元，增长百分之十一点一，占研发经费支出的百分之七点零八。年末有效发明专利六百三十一点八万件，比上年末增长百分之十一点一；每万人口高价值发明专利拥有量十六件。柱图按增速排序：三维打印设备产量增长百分之五十二点五居首，工业机器人增长百分之二十八，新能源汽车增长百分之二十五点一，服务机器人增长百分之十六点一，集成电路增长百分之十点九；高技术制造业增加值增长百分之九点四，数字产品制造业增长百分之九点三，装备制造业增长百分之九点二，三者都明显高于规模以上工业的整体水平。数字经济方面，电子商务交易额四十六万七千三百三十九亿元增长百分之二点五，网上零售额十五万九千七百二十二亿元增长百分之八点六，软件业务收入十五万四千八百三十一亿元增长百分之十三点二；年末五G基站四百八十四万个，互联网普及率百分之八十点一。装备制造业占规模以上工业增加值比重百分之三十六点八，高技术制造业百分之十七点一，数字产品制造业百分之十二点五。公报没有给出数字经济总规模这一口径的数值，本页不作估算。</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社会保险的覆盖规模在这一页。年末参加基本医疗保险的有十三亿三千零六十八万人，比上年末增加四百零六万人；参加基本养老保险十亿七千五百九十九万人，增加三百一十六万人；参加工伤保险三亿零五百万人，增加一百零二万人；参加生育保险二亿五千九百六十六万人，增加六百六十六万人；参加失业保险二亿四千九百一十八万人，增加三百二十九万人。五项都比上年末有所增加。兜底方面，年末有五百九十五万人享受城市最低生活保障，三千三百四十万人享受农村最低生活保障。医疗卫生方面，年末全国医疗卫生机构一百一十点七万个，床位一千零九万张，卫生技术人员一千三百四十万人，全年总诊疗一百零五点八亿人次，出院三亿人次。教育方面，九年义务教育巩固率百分之九十六点一，高中阶段毛入学率百分之九十二；十六到五十九岁人口平均受教育年限十一点三年，比上年提高零点一年；在学研究生四百三十万人。</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把前面十五页收成五条。第一条，总量与增速：国内生产总值一百四十万一千八百七十九亿元，比上年增长百分之五点零，分季度增速由百分之五点四回落至百分之四点五。第二条，结构：第三产业增加值占比百分之五十七点七；最终消费支出拉动增长二点六个百分点，是三大需求中最大的一项。第三条，人口：年末全国人口十四亿零四百八十九万人，比上年末减少三百三十九万人；常住人口城镇化率百分之六十七点八九，提高零点八九个百分点。第四条，需求三面：社会消费品零售总额五十万一千二百零二亿元增长百分之三点七，货物进出口四十五万四千六百八十五亿元增长百分之三点八，不含农户的固定资产投资下降百分之三点八。第五条，新与绿：太阳能发电量增长百分之三十九点八，新能源汽车产量一千六百五十二点四万辆增长百分之二十五点一，万元国内生产总值二氧化碳排放下降百分之五。每一条都出自公报原文，没有新增判断。</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本简报全部数字的出处只有一个：国家统计局发布的《中华人民共和国二〇二五年国民经济和社会发展统计公报》，发布日期是二〇二六年二月二十八日，页面上的链接指向公报原文。读数时有三条口径需要记住：第一，本公报中数据均为初步统计数；第二，各项统计数据均未包括香港特别行政区、澳门特别行政区和台湾省；第三，部分数据因四舍五入的原因，存在总计与分项合计不等的情况。本简报只引用公报原文数值，不作换算与推算；公报未给出的量，已在相应页面标注为无数据。</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ppt169_china_economy_2025_briefing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ppt169_china_economy_2025_briefing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1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8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7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6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45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3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2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1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9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700" kern="1200">
          <a:solidFill>
            <a:schemeClr val="tx1"/>
          </a:solidFill>
          <a:latin typeface="+mn-lt"/>
          <a:ea typeface="+mn-ea"/>
          <a:cs typeface="+mn-cs"/>
        </a:defRPr>
      </a:lvl2pPr>
      <a:lvl3pPr marL="914400" algn="l" defTabSz="457200" rtl="0" eaLnBrk="1" latinLnBrk="0" hangingPunct="1">
        <a:defRPr sz="1600" kern="1200">
          <a:solidFill>
            <a:schemeClr val="tx1"/>
          </a:solidFill>
          <a:latin typeface="+mn-lt"/>
          <a:ea typeface="+mn-ea"/>
          <a:cs typeface="+mn-cs"/>
        </a:defRPr>
      </a:lvl3pPr>
      <a:lvl4pPr marL="1371600" algn="l" defTabSz="457200" rtl="0" eaLnBrk="1" latinLnBrk="0" hangingPunct="1">
        <a:defRPr sz="1450" kern="1200">
          <a:solidFill>
            <a:schemeClr val="tx1"/>
          </a:solidFill>
          <a:latin typeface="+mn-lt"/>
          <a:ea typeface="+mn-ea"/>
          <a:cs typeface="+mn-cs"/>
        </a:defRPr>
      </a:lvl4pPr>
      <a:lvl5pPr marL="1828800" algn="l" defTabSz="457200" rtl="0" eaLnBrk="1" latinLnBrk="0" hangingPunct="1">
        <a:defRPr sz="1350" kern="1200">
          <a:solidFill>
            <a:schemeClr val="tx1"/>
          </a:solidFill>
          <a:latin typeface="+mn-lt"/>
          <a:ea typeface="+mn-ea"/>
          <a:cs typeface="+mn-cs"/>
        </a:defRPr>
      </a:lvl5pPr>
      <a:lvl6pPr marL="2286000" algn="l" defTabSz="457200" rtl="0" eaLnBrk="1" latinLnBrk="0" hangingPunct="1">
        <a:defRPr sz="1250" kern="1200">
          <a:solidFill>
            <a:schemeClr val="tx1"/>
          </a:solidFill>
          <a:latin typeface="+mn-lt"/>
          <a:ea typeface="+mn-ea"/>
          <a:cs typeface="+mn-cs"/>
        </a:defRPr>
      </a:lvl6pPr>
      <a:lvl7pPr marL="2743200" algn="l" defTabSz="457200" rtl="0" eaLnBrk="1" latinLnBrk="0" hangingPunct="1">
        <a:defRPr sz="1100" kern="1200">
          <a:solidFill>
            <a:schemeClr val="tx1"/>
          </a:solidFill>
          <a:latin typeface="+mn-lt"/>
          <a:ea typeface="+mn-ea"/>
          <a:cs typeface="+mn-cs"/>
        </a:defRPr>
      </a:lvl7pPr>
      <a:lvl8pPr marL="3200400" algn="l" defTabSz="457200" rtl="0" eaLnBrk="1" latinLnBrk="0" hangingPunct="1">
        <a:defRPr sz="1000" kern="1200">
          <a:solidFill>
            <a:schemeClr val="tx1"/>
          </a:solidFill>
          <a:latin typeface="+mn-lt"/>
          <a:ea typeface="+mn-ea"/>
          <a:cs typeface="+mn-cs"/>
        </a:defRPr>
      </a:lvl8pPr>
      <a:lvl9pPr marL="3657600" algn="l" defTabSz="457200" rtl="0" eaLnBrk="1" latinLnBrk="0" hangingPunct="1">
        <a:defRPr sz="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chart" Target="../charts/chart301.xml"/>
  <Relationship Id="rId3"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chart" Target="../charts/chart401.xml"/>
  <Relationship Id="rId3"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microsoft.com/office/2014/relationships/chartEx" Target="../charts/chartEx501.xml"/>
  <Relationship Id="rId3"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chart" Target="../charts/chart701.xml"/>
  <Relationship Id="rId3"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chart" Target="../charts/chart801.xml"/>
  <Relationship Id="rId3"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chart" Target="../charts/chart901.xml"/>
  <Relationship Id="rId3"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chart" Target="../charts/chart1001.xml"/>
  <Relationship Id="rId3"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chart" Target="../charts/chart1101.xml"/>
  <Relationship Id="rId3"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chart" Target="../charts/chart1301.xml"/>
  <Relationship Id="rId3"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chart" Target="../charts/chart1401.xml"/>
  <Relationship Id="rId3"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hyperlink" Target="https://www.stats.gov.cn/sj/zxfbhjd/202602/t20260228_1962662.html" TargetMode="External"/>
  <Relationship Id="rId3" Type="http://schemas.openxmlformats.org/officeDocument/2006/relationships/notesSlide" Target="../notesSlides/notesSlide17.xml"/>
</Relationships>
</file>

<file path=ppt/slides/slide1.xml><?xml version="1.0" encoding="utf-8"?>
<p:sld xmlns:a="http://schemas.openxmlformats.org/drawingml/2006/main" xmlns:p="http://schemas.openxmlformats.org/presentationml/2006/main" xmlns:p14="http://schemas.microsoft.com/office/powerpoint/2010/main">
  <p:cSld>
    <p:bg>
      <p:bgPr>
        <a:solidFill>
          <a:schemeClr val="lt1"/>
        </a:solidFill>
        <a:effectLst/>
      </p:bgPr>
    </p:bg>
    <p:spTree>
      <p:nvGrpSpPr>
        <p:cNvPr id="1" name=""/>
        <p:cNvGrpSpPr/>
        <p:nvPr/>
      </p:nvGrpSpPr>
      <p:grpSpPr>
        <a:xfrm>
          <a:off x="0" y="0"/>
          <a:ext cx="0" cy="0"/>
          <a:chOff x="0" y="0"/>
          <a:chExt cx="0" cy="0"/>
        </a:xfrm>
      </p:grpSpPr>
      <p:sp>
        <p:nvSpPr>
          <p:cNvPr id="2" name="Freeform 2"/>
          <p:cNvSpPr/>
          <p:nvPr/>
        </p:nvSpPr>
        <p:spPr>
          <a:xfrm>
            <a:off x="8572500" y="3619500"/>
            <a:ext cx="2667000" cy="2667000"/>
          </a:xfrm>
          <a:prstGeom prst="corner">
            <a:avLst/>
          </a:prstGeom>
          <a:solidFill>
            <a:schemeClr val="accent1">
              <a:alpha val="7000"/>
            </a:schemeClr>
          </a:solidFill>
          <a:ln>
            <a:noFill/>
          </a:ln>
        </p:spPr>
      </p:sp>
      <p:grpSp>
        <p:nvGrpSpPr>
          <p:cNvPr id="4" name="Group 4"/>
          <p:cNvGrpSpPr/>
          <p:nvPr/>
        </p:nvGrpSpPr>
        <p:grpSpPr>
          <a:xfrm>
            <a:off x="602742" y="1187768"/>
            <a:ext cx="2484330" cy="264033"/>
            <a:chOff x="602742" y="1187768"/>
            <a:chExt cx="2484330" cy="264033"/>
          </a:xfrm>
        </p:grpSpPr>
        <p:sp>
          <p:nvSpPr>
            <p:cNvPr id="3" name="TextBox 3"/>
            <p:cNvSpPr txBox="1"/>
            <p:nvPr/>
          </p:nvSpPr>
          <p:spPr>
            <a:xfrm>
              <a:off x="602742" y="1187768"/>
              <a:ext cx="2484330" cy="264033"/>
            </a:xfrm>
            <a:prstGeom prst="rect">
              <a:avLst/>
            </a:prstGeom>
            <a:noFill/>
            <a:ln>
              <a:noFill/>
            </a:ln>
          </p:spPr>
          <p:txBody>
            <a:bodyPr wrap="none" lIns="0" tIns="0" rIns="0" bIns="0" anchor="t" anchorCtr="0">
              <a:spAutoFit/>
            </a:bodyPr>
            <a:lstStyle/>
            <a:p>
              <a:pPr algn="l"/>
              <a:r>
                <a:rPr lang="zh-CN" sz="1350" spc="150" dirty="0">
                  <a:solidFill>
                    <a:schemeClr val="accent5"/>
                  </a:solidFill>
                  <a:latin typeface="+mn-lt"/>
                  <a:ea typeface="+mn-ea"/>
                  <a:cs typeface="+mn-cs"/>
                </a:rPr>
                <a:t>国家统计局 · 年度统计公报</a:t>
              </a:r>
            </a:p>
          </p:txBody>
        </p:sp>
      </p:grpSp>
      <p:grpSp>
        <p:nvGrpSpPr>
          <p:cNvPr id="7" name="Group 7"/>
          <p:cNvGrpSpPr/>
          <p:nvPr/>
        </p:nvGrpSpPr>
        <p:grpSpPr>
          <a:xfrm>
            <a:off x="590550" y="1701165"/>
            <a:ext cx="10455402" cy="1480947"/>
            <a:chOff x="590550" y="1701165"/>
            <a:chExt cx="10455402" cy="1480947"/>
          </a:xfrm>
        </p:grpSpPr>
        <p:sp>
          <p:nvSpPr>
            <p:cNvPr id="5" name="TextBox 5"/>
            <p:cNvSpPr txBox="1"/>
            <p:nvPr/>
          </p:nvSpPr>
          <p:spPr>
            <a:xfrm>
              <a:off x="590550" y="1701165"/>
              <a:ext cx="10455402" cy="1219200"/>
            </a:xfrm>
            <a:prstGeom prst="rect">
              <a:avLst/>
            </a:prstGeom>
            <a:noFill/>
            <a:ln>
              <a:noFill/>
            </a:ln>
          </p:spPr>
          <p:txBody>
            <a:bodyPr wrap="none" lIns="0" tIns="0" rIns="0" bIns="0" anchor="t" anchorCtr="0">
              <a:spAutoFit/>
            </a:bodyPr>
            <a:lstStyle/>
            <a:p>
              <a:pPr algn="l"/>
              <a:r>
                <a:rPr lang="zh-CN" sz="6300" b="1" dirty="0">
                  <a:solidFill>
                    <a:schemeClr val="accent1"/>
                  </a:solidFill>
                  <a:latin typeface="+mj-lt"/>
                  <a:ea typeface="+mj-ea"/>
                  <a:cs typeface="+mj-cs"/>
                </a:rPr>
                <a:t>2025 年中国经济数据简报</a:t>
              </a:r>
            </a:p>
          </p:txBody>
        </p:sp>
        <p:sp>
          <p:nvSpPr>
            <p:cNvPr id="6" name="TextBox 6"/>
            <p:cNvSpPr txBox="1"/>
            <p:nvPr/>
          </p:nvSpPr>
          <p:spPr>
            <a:xfrm>
              <a:off x="597408" y="2712720"/>
              <a:ext cx="8683142" cy="469392"/>
            </a:xfrm>
            <a:prstGeom prst="rect">
              <a:avLst/>
            </a:prstGeom>
            <a:noFill/>
            <a:ln>
              <a:noFill/>
            </a:ln>
          </p:spPr>
          <p:txBody>
            <a:bodyPr wrap="none" lIns="0" tIns="0" rIns="0" bIns="0" anchor="t" anchorCtr="0">
              <a:spAutoFit/>
            </a:bodyPr>
            <a:lstStyle/>
            <a:p>
              <a:pPr algn="l"/>
              <a:r>
                <a:rPr lang="zh-CN" sz="2400" dirty="0">
                  <a:solidFill>
                    <a:schemeClr val="dk1"/>
                  </a:solidFill>
                  <a:latin typeface="+mn-lt"/>
                  <a:ea typeface="+mn-ea"/>
                  <a:cs typeface="+mn-cs"/>
                </a:rPr>
                <a:t>读《中华人民共和国 2025 年国民经济和社会发展统计公报》</a:t>
              </a:r>
            </a:p>
          </p:txBody>
        </p:sp>
      </p:grpSp>
      <p:grpSp>
        <p:nvGrpSpPr>
          <p:cNvPr id="12" name="!!hero-gdp"/>
          <p:cNvGrpSpPr/>
          <p:nvPr/>
        </p:nvGrpSpPr>
        <p:grpSpPr>
          <a:xfrm>
            <a:off x="590550" y="3524250"/>
            <a:ext cx="3886230" cy="2006917"/>
            <a:chOff x="590550" y="3524250"/>
            <a:chExt cx="3886230" cy="2006917"/>
          </a:xfrm>
        </p:grpSpPr>
        <p:sp>
          <p:nvSpPr>
            <p:cNvPr id="8" name="Rectangle 8"/>
            <p:cNvSpPr/>
            <p:nvPr/>
          </p:nvSpPr>
          <p:spPr>
            <a:xfrm>
              <a:off x="609600" y="3524250"/>
              <a:ext cx="3200400" cy="38100"/>
            </a:xfrm>
            <a:prstGeom prst="rect">
              <a:avLst/>
            </a:prstGeom>
            <a:gradFill>
              <a:gsLst>
                <a:gs pos="0">
                  <a:schemeClr val="accent1"/>
                </a:gs>
                <a:gs pos="100000">
                  <a:schemeClr val="accent2"/>
                </a:gs>
              </a:gsLst>
              <a:lin ang="0" scaled="1"/>
            </a:gradFill>
            <a:ln>
              <a:noFill/>
            </a:ln>
          </p:spPr>
        </p:sp>
        <p:sp>
          <p:nvSpPr>
            <p:cNvPr id="9" name="TextBox 9"/>
            <p:cNvSpPr txBox="1"/>
            <p:nvPr/>
          </p:nvSpPr>
          <p:spPr>
            <a:xfrm>
              <a:off x="600456" y="3749040"/>
              <a:ext cx="1472184"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国内生产总值</a:t>
              </a:r>
            </a:p>
          </p:txBody>
        </p:sp>
        <p:sp>
          <p:nvSpPr>
            <p:cNvPr id="10" name="TextBox 10"/>
            <p:cNvSpPr txBox="1"/>
            <p:nvPr/>
          </p:nvSpPr>
          <p:spPr>
            <a:xfrm>
              <a:off x="590550" y="4236720"/>
              <a:ext cx="3886230" cy="1047750"/>
            </a:xfrm>
            <a:prstGeom prst="rect">
              <a:avLst/>
            </a:prstGeom>
            <a:noFill/>
            <a:ln>
              <a:noFill/>
            </a:ln>
          </p:spPr>
          <p:txBody>
            <a:bodyPr wrap="none" lIns="0" tIns="0" rIns="0" bIns="0" anchor="t" anchorCtr="0">
              <a:spAutoFit/>
            </a:bodyPr>
            <a:lstStyle/>
            <a:p>
              <a:pPr algn="l"/>
              <a:r>
                <a:rPr lang="zh-CN" sz="5400" b="1" dirty="0">
                  <a:solidFill>
                    <a:schemeClr val="accent1"/>
                  </a:solidFill>
                  <a:latin typeface="Times New Roman"/>
                  <a:ea typeface="Times New Roman"/>
                  <a:cs typeface="Times New Roman"/>
                </a:rPr>
                <a:t>1401879</a:t>
              </a:r>
              <a:r>
                <a:rPr lang="zh-CN" sz="2400" dirty="0">
                  <a:solidFill>
                    <a:schemeClr val="dk1"/>
                  </a:solidFill>
                  <a:latin typeface="+mn-lt"/>
                  <a:ea typeface="+mn-ea"/>
                  <a:cs typeface="+mn-cs"/>
                </a:rPr>
                <a:t xml:space="preserve"> 亿元</a:t>
              </a:r>
            </a:p>
          </p:txBody>
        </p:sp>
        <p:sp>
          <p:nvSpPr>
            <p:cNvPr id="11" name="TextBox 11"/>
            <p:cNvSpPr txBox="1"/>
            <p:nvPr/>
          </p:nvSpPr>
          <p:spPr>
            <a:xfrm>
              <a:off x="598170" y="5091112"/>
              <a:ext cx="2391499" cy="440055"/>
            </a:xfrm>
            <a:prstGeom prst="rect">
              <a:avLst/>
            </a:prstGeom>
            <a:noFill/>
            <a:ln>
              <a:noFill/>
            </a:ln>
          </p:spPr>
          <p:txBody>
            <a:bodyPr wrap="none" lIns="0" tIns="0" rIns="0" bIns="0" anchor="t" anchorCtr="0">
              <a:spAutoFit/>
            </a:bodyPr>
            <a:lstStyle/>
            <a:p>
              <a:pPr algn="l"/>
              <a:r>
                <a:rPr lang="zh-CN" sz="2250" dirty="0">
                  <a:solidFill>
                    <a:schemeClr val="dk1"/>
                  </a:solidFill>
                  <a:latin typeface="+mn-lt"/>
                  <a:ea typeface="+mn-ea"/>
                  <a:cs typeface="+mn-cs"/>
                </a:rPr>
                <a:t xml:space="preserve">比上年增长 </a:t>
              </a:r>
              <a:r>
                <a:rPr lang="zh-CN" sz="2250" b="1" dirty="0">
                  <a:solidFill>
                    <a:schemeClr val="accent2"/>
                  </a:solidFill>
                  <a:latin typeface="+mn-lt"/>
                  <a:ea typeface="+mn-ea"/>
                  <a:cs typeface="+mn-cs"/>
                </a:rPr>
                <a:t>5.0%</a:t>
              </a:r>
            </a:p>
          </p:txBody>
        </p:sp>
      </p:grpSp>
      <p:grpSp>
        <p:nvGrpSpPr>
          <p:cNvPr id="14" name="Group 14"/>
          <p:cNvGrpSpPr/>
          <p:nvPr/>
        </p:nvGrpSpPr>
        <p:grpSpPr>
          <a:xfrm>
            <a:off x="603504" y="6061710"/>
            <a:ext cx="7628992" cy="234696"/>
            <a:chOff x="603504" y="6061710"/>
            <a:chExt cx="7628992" cy="234696"/>
          </a:xfrm>
        </p:grpSpPr>
        <p:sp>
          <p:nvSpPr>
            <p:cNvPr id="13" name="TextBox 13"/>
            <p:cNvSpPr txBox="1"/>
            <p:nvPr/>
          </p:nvSpPr>
          <p:spPr>
            <a:xfrm>
              <a:off x="603504" y="6061710"/>
              <a:ext cx="7628992"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数据来源：国家统计局《中华人民共和国 2025 年国民经济和社会发展统计公报》，2026 年 2 月 28 日发布</a:t>
              </a:r>
            </a:p>
          </p:txBody>
        </p:sp>
      </p:grpSp>
    </p:spTree>
  </p:cSld>
  <p:clrMapOvr>
    <a:masterClrMapping/>
  </p:clrMapOvr>
  <p:transitio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600"/>
                                        <p:tgtEl>
                                          <p:spTgt spid="12"/>
                                        </p:tgtEl>
                                      </p:cBhvr>
                                    </p:animEffect>
                                  </p:childTnLst>
                                </p:cTn>
                              </p:par>
                            </p:childTnLst>
                          </p:cTn>
                        </p:par>
                        <p:par>
                          <p:cTn id="8" fill="hold">
                            <p:stCondLst>
                              <p:cond delay="600"/>
                            </p:stCondLst>
                            <p:childTnLst>
                              <p:par>
                                <p:cTn id="9" presetID="10" presetClass="entr" presetSubtype="0" fill="hold" grpId="0" nodeType="afterEffect">
                                  <p:stCondLst>
                                    <p:cond delay="50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childTnLst>
                          </p:cTn>
                        </p:par>
                        <p:par>
                          <p:cTn id="12" fill="hold">
                            <p:stCondLst>
                              <p:cond delay="1600"/>
                            </p:stCondLst>
                            <p:childTnLst>
                              <p:par>
                                <p:cTn id="13" presetID="10" presetClass="entr" presetSubtype="0" fill="hold" grpId="0" nodeType="afterEffect">
                                  <p:stCondLst>
                                    <p:cond delay="50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400"/>
                                        <p:tgtEl>
                                          <p:spTgt spid="4"/>
                                        </p:tgtEl>
                                      </p:cBhvr>
                                    </p:animEffect>
                                  </p:childTnLst>
                                </p:cTn>
                              </p:par>
                            </p:childTnLst>
                          </p:cTn>
                        </p:par>
                        <p:par>
                          <p:cTn id="16" fill="hold">
                            <p:stCondLst>
                              <p:cond delay="2500"/>
                            </p:stCondLst>
                            <p:childTnLst>
                              <p:par>
                                <p:cTn id="17" presetID="10" presetClass="entr" presetSubtype="0" fill="hold" grpId="0" nodeType="afterEffect">
                                  <p:stCondLst>
                                    <p:cond delay="50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00"/>
                                        <p:tgtEl>
                                          <p:spTgt spid="14"/>
                                        </p:tgtEl>
                                      </p:cBhvr>
                                    </p:animEffect>
                                  </p:childTnLst>
                                </p:cTn>
                              </p:par>
                            </p:childTnLst>
                          </p:cTn>
                        </p:par>
                        <p:par>
                          <p:cTn id="20" fill="hold">
                            <p:stCondLst>
                              <p:cond delay="3400"/>
                            </p:stCondLst>
                            <p:childTnLst>
                              <p:par>
                                <p:cTn id="21" presetID="10" presetClass="entr" presetSubtype="0" fill="hold" grpId="0" nodeType="afterEffect">
                                  <p:stCondLst>
                                    <p:cond delay="500"/>
                                  </p:stCondLst>
                                  <p:childTnLst>
                                    <p:set>
                                      <p:cBhvr>
                                        <p:cTn id="22" dur="1" fill="hold">
                                          <p:stCondLst>
                                            <p:cond delay="0"/>
                                          </p:stCondLst>
                                        </p:cTn>
                                        <p:tgtEl>
                                          <p:spTgt spid="2"/>
                                        </p:tgtEl>
                                        <p:attrNameLst>
                                          <p:attrName>style.visibility</p:attrName>
                                        </p:attrNameLst>
                                      </p:cBhvr>
                                      <p:to>
                                        <p:strVal val="visible"/>
                                      </p:to>
                                    </p:set>
                                    <p:animEffect transition="in" filter="fade">
                                      <p:cBhvr>
                                        <p:cTn id="2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p:cSld>
    <p:bg>
      <p:bgPr>
        <a:solidFill>
          <a:schemeClr val="lt1"/>
        </a:solidFill>
        <a:effectLst/>
      </p:bgPr>
    </p:bg>
    <p:spTree>
      <p:nvGrpSpPr>
        <p:cNvPr id="1" name=""/>
        <p:cNvGrpSpPr/>
        <p:nvPr/>
      </p:nvGrpSpPr>
      <p:grpSpPr>
        <a:xfrm>
          <a:off x="0" y="0"/>
          <a:ext cx="0" cy="0"/>
          <a:chOff x="0" y="0"/>
          <a:chExt cx="0" cy="0"/>
        </a:xfrm>
      </p:grpSpPr>
      <p:grpSp>
        <p:nvGrpSpPr>
          <p:cNvPr id="10" name="Group 10"/>
          <p:cNvGrpSpPr/>
          <p:nvPr/>
        </p:nvGrpSpPr>
        <p:grpSpPr>
          <a:xfrm>
            <a:off x="593598" y="597218"/>
            <a:ext cx="3896487" cy="878967"/>
            <a:chOff x="593598" y="597218"/>
            <a:chExt cx="3896487" cy="878967"/>
          </a:xfrm>
        </p:grpSpPr>
        <p:grpSp>
          <p:nvGrpSpPr>
            <p:cNvPr id="6" name="Group 6"/>
            <p:cNvGrpSpPr/>
            <p:nvPr/>
          </p:nvGrpSpPr>
          <p:grpSpPr>
            <a:xfrm>
              <a:off x="633412" y="622300"/>
              <a:ext cx="142875" cy="136525"/>
              <a:chOff x="633412" y="622300"/>
              <a:chExt cx="142875" cy="136525"/>
            </a:xfrm>
          </p:grpSpPr>
          <p:sp>
            <p:nvSpPr>
              <p:cNvPr id="2" name="Freeform 2"/>
              <p:cNvSpPr/>
              <p:nvPr/>
            </p:nvSpPr>
            <p:spPr>
              <a:xfrm>
                <a:off x="633412" y="685800"/>
                <a:ext cx="47625" cy="63500"/>
              </a:xfrm>
              <a:custGeom>
                <a:avLst/>
                <a:gdLst/>
                <a:ahLst/>
                <a:cxnLst/>
                <a:rect l="l" t="t" r="r" b="b"/>
                <a:pathLst>
                  <a:path w="47625" h="63500">
                    <a:moveTo>
                      <a:pt x="0" y="7937"/>
                    </a:moveTo>
                    <a:cubicBezTo>
                      <a:pt x="0" y="3554"/>
                      <a:pt x="3554" y="0"/>
                      <a:pt x="7937" y="0"/>
                    </a:cubicBezTo>
                    <a:lnTo>
                      <a:pt x="39687" y="0"/>
                    </a:lnTo>
                    <a:cubicBezTo>
                      <a:pt x="44071" y="0"/>
                      <a:pt x="47625" y="3554"/>
                      <a:pt x="47625" y="7937"/>
                    </a:cubicBezTo>
                    <a:lnTo>
                      <a:pt x="47625" y="55562"/>
                    </a:lnTo>
                    <a:cubicBezTo>
                      <a:pt x="47625" y="59946"/>
                      <a:pt x="44071" y="63500"/>
                      <a:pt x="39687" y="63500"/>
                    </a:cubicBezTo>
                    <a:lnTo>
                      <a:pt x="7937" y="63500"/>
                    </a:lnTo>
                    <a:cubicBezTo>
                      <a:pt x="3554" y="63500"/>
                      <a:pt x="0" y="59946"/>
                      <a:pt x="0" y="55562"/>
                    </a:cubicBezTo>
                    <a:lnTo>
                      <a:pt x="0" y="7937"/>
                    </a:lnTo>
                  </a:path>
                </a:pathLst>
              </a:custGeom>
              <a:noFill/>
              <a:ln w="15875">
                <a:solidFill>
                  <a:srgbClr val="5F6B72"/>
                </a:solidFill>
              </a:ln>
            </p:spPr>
          </p:sp>
          <p:sp>
            <p:nvSpPr>
              <p:cNvPr id="3" name="Freeform 3"/>
              <p:cNvSpPr/>
              <p:nvPr/>
            </p:nvSpPr>
            <p:spPr>
              <a:xfrm>
                <a:off x="728662" y="654050"/>
                <a:ext cx="47625" cy="95250"/>
              </a:xfrm>
              <a:custGeom>
                <a:avLst/>
                <a:gdLst/>
                <a:ahLst/>
                <a:cxnLst/>
                <a:rect l="l" t="t" r="r" b="b"/>
                <a:pathLst>
                  <a:path w="47625" h="95250">
                    <a:moveTo>
                      <a:pt x="0" y="7937"/>
                    </a:moveTo>
                    <a:cubicBezTo>
                      <a:pt x="0" y="3554"/>
                      <a:pt x="3554" y="0"/>
                      <a:pt x="7937" y="0"/>
                    </a:cubicBezTo>
                    <a:lnTo>
                      <a:pt x="39687" y="0"/>
                    </a:lnTo>
                    <a:cubicBezTo>
                      <a:pt x="44071" y="0"/>
                      <a:pt x="47625" y="3554"/>
                      <a:pt x="47625" y="7937"/>
                    </a:cubicBezTo>
                    <a:lnTo>
                      <a:pt x="47625" y="87312"/>
                    </a:lnTo>
                    <a:cubicBezTo>
                      <a:pt x="47625" y="91696"/>
                      <a:pt x="44071" y="95250"/>
                      <a:pt x="39687" y="95250"/>
                    </a:cubicBezTo>
                    <a:lnTo>
                      <a:pt x="7937" y="95250"/>
                    </a:lnTo>
                    <a:cubicBezTo>
                      <a:pt x="3554" y="95250"/>
                      <a:pt x="0" y="91696"/>
                      <a:pt x="0" y="87312"/>
                    </a:cubicBezTo>
                    <a:lnTo>
                      <a:pt x="0" y="7937"/>
                    </a:lnTo>
                  </a:path>
                </a:pathLst>
              </a:custGeom>
              <a:noFill/>
              <a:ln w="15875">
                <a:solidFill>
                  <a:srgbClr val="5F6B72"/>
                </a:solidFill>
              </a:ln>
            </p:spPr>
          </p:sp>
          <p:sp>
            <p:nvSpPr>
              <p:cNvPr id="4" name="Freeform 4"/>
              <p:cNvSpPr/>
              <p:nvPr/>
            </p:nvSpPr>
            <p:spPr>
              <a:xfrm>
                <a:off x="681037" y="622300"/>
                <a:ext cx="47625" cy="127000"/>
              </a:xfrm>
              <a:custGeom>
                <a:avLst/>
                <a:gdLst/>
                <a:ahLst/>
                <a:cxnLst/>
                <a:rect l="l" t="t" r="r" b="b"/>
                <a:pathLst>
                  <a:path w="47625" h="127000">
                    <a:moveTo>
                      <a:pt x="0" y="7937"/>
                    </a:moveTo>
                    <a:cubicBezTo>
                      <a:pt x="0" y="3554"/>
                      <a:pt x="3554" y="0"/>
                      <a:pt x="7937" y="0"/>
                    </a:cubicBezTo>
                    <a:lnTo>
                      <a:pt x="39687" y="0"/>
                    </a:lnTo>
                    <a:cubicBezTo>
                      <a:pt x="44071" y="0"/>
                      <a:pt x="47625" y="3554"/>
                      <a:pt x="47625" y="7937"/>
                    </a:cubicBezTo>
                    <a:lnTo>
                      <a:pt x="47625" y="119062"/>
                    </a:lnTo>
                    <a:cubicBezTo>
                      <a:pt x="47625" y="123446"/>
                      <a:pt x="44071" y="127000"/>
                      <a:pt x="39687" y="127000"/>
                    </a:cubicBezTo>
                    <a:lnTo>
                      <a:pt x="7937" y="127000"/>
                    </a:lnTo>
                    <a:cubicBezTo>
                      <a:pt x="3554" y="127000"/>
                      <a:pt x="0" y="123446"/>
                      <a:pt x="0" y="119062"/>
                    </a:cubicBezTo>
                    <a:lnTo>
                      <a:pt x="0" y="7937"/>
                    </a:lnTo>
                  </a:path>
                </a:pathLst>
              </a:custGeom>
              <a:noFill/>
              <a:ln w="15875">
                <a:solidFill>
                  <a:srgbClr val="5F6B72"/>
                </a:solidFill>
              </a:ln>
            </p:spPr>
          </p:sp>
          <p:sp>
            <p:nvSpPr>
              <p:cNvPr id="5" name="Freeform 5"/>
              <p:cNvSpPr/>
              <p:nvPr/>
            </p:nvSpPr>
            <p:spPr>
              <a:xfrm>
                <a:off x="641350" y="749300"/>
                <a:ext cx="111125" cy="9525"/>
              </a:xfrm>
              <a:custGeom>
                <a:avLst/>
                <a:gdLst/>
                <a:ahLst/>
                <a:cxnLst/>
                <a:rect l="l" t="t" r="r" b="b"/>
                <a:pathLst>
                  <a:path w="111125" h="9525">
                    <a:moveTo>
                      <a:pt x="0" y="0"/>
                    </a:moveTo>
                    <a:lnTo>
                      <a:pt x="111125" y="0"/>
                    </a:lnTo>
                  </a:path>
                </a:pathLst>
              </a:custGeom>
              <a:noFill/>
              <a:ln w="15875">
                <a:solidFill>
                  <a:srgbClr val="5F6B72"/>
                </a:solidFill>
              </a:ln>
            </p:spPr>
          </p:sp>
        </p:grpSp>
        <p:sp>
          <p:nvSpPr>
            <p:cNvPr id="7" name="TextBox 7"/>
            <p:cNvSpPr txBox="1"/>
            <p:nvPr/>
          </p:nvSpPr>
          <p:spPr>
            <a:xfrm>
              <a:off x="888492" y="597218"/>
              <a:ext cx="397383" cy="264033"/>
            </a:xfrm>
            <a:prstGeom prst="rect">
              <a:avLst/>
            </a:prstGeom>
            <a:noFill/>
            <a:ln>
              <a:noFill/>
            </a:ln>
          </p:spPr>
          <p:txBody>
            <a:bodyPr wrap="none" lIns="0" tIns="0" rIns="0" bIns="0" anchor="t" anchorCtr="0">
              <a:spAutoFit/>
            </a:bodyPr>
            <a:lstStyle/>
            <a:p>
              <a:pPr algn="l"/>
              <a:r>
                <a:rPr lang="zh-CN" sz="1350" spc="150" dirty="0">
                  <a:solidFill>
                    <a:schemeClr val="accent5"/>
                  </a:solidFill>
                  <a:latin typeface="+mn-lt"/>
                  <a:ea typeface="+mn-ea"/>
                  <a:cs typeface="+mn-cs"/>
                </a:rPr>
                <a:t>导读</a:t>
              </a:r>
            </a:p>
          </p:txBody>
        </p:sp>
        <p:sp>
          <p:nvSpPr>
            <p:cNvPr id="8" name="TextBox 8"/>
            <p:cNvSpPr txBox="1"/>
            <p:nvPr/>
          </p:nvSpPr>
          <p:spPr>
            <a:xfrm>
              <a:off x="593598" y="860108"/>
              <a:ext cx="3896487"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j-lt"/>
                  <a:ea typeface="+mj-ea"/>
                  <a:cs typeface="+mj-cs"/>
                </a:rPr>
                <a:t>六个数字读懂 2025</a:t>
              </a:r>
            </a:p>
          </p:txBody>
        </p:sp>
        <p:sp>
          <p:nvSpPr>
            <p:cNvPr id="9" name="Rectangle 9"/>
            <p:cNvSpPr/>
            <p:nvPr/>
          </p:nvSpPr>
          <p:spPr>
            <a:xfrm>
              <a:off x="609600" y="1381125"/>
              <a:ext cx="1295400" cy="38100"/>
            </a:xfrm>
            <a:prstGeom prst="rect">
              <a:avLst/>
            </a:prstGeom>
            <a:gradFill>
              <a:gsLst>
                <a:gs pos="0">
                  <a:schemeClr val="accent1"/>
                </a:gs>
                <a:gs pos="100000">
                  <a:schemeClr val="accent2"/>
                </a:gs>
              </a:gsLst>
              <a:lin ang="0" scaled="1"/>
            </a:gradFill>
            <a:ln>
              <a:noFill/>
            </a:ln>
          </p:spPr>
        </p:sp>
      </p:grpSp>
      <p:grpSp>
        <p:nvGrpSpPr>
          <p:cNvPr id="15" name="!!hero-gdp"/>
          <p:cNvGrpSpPr/>
          <p:nvPr/>
        </p:nvGrpSpPr>
        <p:grpSpPr>
          <a:xfrm>
            <a:off x="609600" y="1638300"/>
            <a:ext cx="3352800" cy="1771650"/>
            <a:chOff x="609600" y="1638300"/>
            <a:chExt cx="3352800" cy="1771650"/>
          </a:xfrm>
        </p:grpSpPr>
        <p:sp>
          <p:nvSpPr>
            <p:cNvPr id="11" name="Freeform 11"/>
            <p:cNvSpPr/>
            <p:nvPr/>
          </p:nvSpPr>
          <p:spPr>
            <a:xfrm>
              <a:off x="609600" y="1638300"/>
              <a:ext cx="3352800" cy="1771650"/>
            </a:xfrm>
            <a:prstGeom prst="snip1Rect">
              <a:avLst>
                <a:gd name="adj" fmla="val 14000"/>
              </a:avLst>
            </a:prstGeom>
            <a:solidFill>
              <a:schemeClr val="lt2"/>
            </a:solidFill>
            <a:ln w="9525">
              <a:solidFill>
                <a:schemeClr val="accent6"/>
              </a:solidFill>
            </a:ln>
          </p:spPr>
        </p:sp>
        <p:sp>
          <p:nvSpPr>
            <p:cNvPr id="12" name="TextBox 12"/>
            <p:cNvSpPr txBox="1"/>
            <p:nvPr/>
          </p:nvSpPr>
          <p:spPr>
            <a:xfrm>
              <a:off x="829056" y="1920240"/>
              <a:ext cx="1472184"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国内生产总值</a:t>
              </a:r>
            </a:p>
          </p:txBody>
        </p:sp>
        <p:sp>
          <p:nvSpPr>
            <p:cNvPr id="13" name="TextBox 13"/>
            <p:cNvSpPr txBox="1"/>
            <p:nvPr/>
          </p:nvSpPr>
          <p:spPr>
            <a:xfrm>
              <a:off x="819150" y="2274570"/>
              <a:ext cx="3143128" cy="1047750"/>
            </a:xfrm>
            <a:prstGeom prst="rect">
              <a:avLst/>
            </a:prstGeom>
            <a:noFill/>
            <a:ln>
              <a:noFill/>
            </a:ln>
          </p:spPr>
          <p:txBody>
            <a:bodyPr wrap="none" lIns="0" tIns="0" rIns="0" bIns="0" anchor="t" anchorCtr="0">
              <a:spAutoFit/>
            </a:bodyPr>
            <a:lstStyle/>
            <a:p>
              <a:pPr algn="l"/>
              <a:r>
                <a:rPr lang="zh-CN" sz="5400" b="1" dirty="0">
                  <a:solidFill>
                    <a:schemeClr val="accent1"/>
                  </a:solidFill>
                  <a:latin typeface="Times New Roman"/>
                  <a:ea typeface="Times New Roman"/>
                  <a:cs typeface="Times New Roman"/>
                </a:rPr>
                <a:t>1401879</a:t>
              </a:r>
            </a:p>
          </p:txBody>
        </p:sp>
        <p:sp>
          <p:nvSpPr>
            <p:cNvPr id="14" name="TextBox 14"/>
            <p:cNvSpPr txBox="1"/>
            <p:nvPr/>
          </p:nvSpPr>
          <p:spPr>
            <a:xfrm>
              <a:off x="829056" y="3044190"/>
              <a:ext cx="2676495"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 xml:space="preserve">亿元 · 比上年增长 </a:t>
              </a:r>
              <a:r>
                <a:rPr lang="zh-CN" sz="1800" b="1" dirty="0">
                  <a:solidFill>
                    <a:schemeClr val="accent2"/>
                  </a:solidFill>
                  <a:latin typeface="+mn-lt"/>
                  <a:ea typeface="+mn-ea"/>
                  <a:cs typeface="+mn-cs"/>
                </a:rPr>
                <a:t>5.0%</a:t>
              </a:r>
            </a:p>
          </p:txBody>
        </p:sp>
      </p:grpSp>
      <p:grpSp>
        <p:nvGrpSpPr>
          <p:cNvPr id="20" name="Group 20"/>
          <p:cNvGrpSpPr/>
          <p:nvPr/>
        </p:nvGrpSpPr>
        <p:grpSpPr>
          <a:xfrm>
            <a:off x="4248150" y="1676400"/>
            <a:ext cx="3371850" cy="1719834"/>
            <a:chOff x="4248150" y="1676400"/>
            <a:chExt cx="3371850" cy="1719834"/>
          </a:xfrm>
        </p:grpSpPr>
        <p:sp>
          <p:nvSpPr>
            <p:cNvPr id="16" name="Line 16"/>
            <p:cNvSpPr/>
            <p:nvPr/>
          </p:nvSpPr>
          <p:spPr>
            <a:xfrm>
              <a:off x="4267200" y="1676400"/>
              <a:ext cx="3352800" cy="9525"/>
            </a:xfrm>
            <a:custGeom>
              <a:avLst/>
              <a:gdLst/>
              <a:ahLst/>
              <a:cxnLst/>
              <a:rect l="l" t="t" r="r" b="b"/>
              <a:pathLst>
                <a:path w="3352800" h="9525">
                  <a:moveTo>
                    <a:pt x="0" y="0"/>
                  </a:moveTo>
                  <a:lnTo>
                    <a:pt x="3352800" y="0"/>
                  </a:lnTo>
                </a:path>
              </a:pathLst>
            </a:custGeom>
            <a:noFill/>
            <a:ln w="9525">
              <a:solidFill>
                <a:schemeClr val="accent6"/>
              </a:solidFill>
            </a:ln>
          </p:spPr>
        </p:sp>
        <p:sp>
          <p:nvSpPr>
            <p:cNvPr id="17" name="TextBox 17"/>
            <p:cNvSpPr txBox="1"/>
            <p:nvPr/>
          </p:nvSpPr>
          <p:spPr>
            <a:xfrm>
              <a:off x="4258056" y="1920240"/>
              <a:ext cx="1472184"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年末全国人口</a:t>
              </a:r>
            </a:p>
          </p:txBody>
        </p:sp>
        <p:sp>
          <p:nvSpPr>
            <p:cNvPr id="18" name="TextBox 18"/>
            <p:cNvSpPr txBox="1"/>
            <p:nvPr/>
          </p:nvSpPr>
          <p:spPr>
            <a:xfrm>
              <a:off x="4248150" y="2274570"/>
              <a:ext cx="2699553" cy="1047750"/>
            </a:xfrm>
            <a:prstGeom prst="rect">
              <a:avLst/>
            </a:prstGeom>
            <a:noFill/>
            <a:ln>
              <a:noFill/>
            </a:ln>
          </p:spPr>
          <p:txBody>
            <a:bodyPr wrap="none" lIns="0" tIns="0" rIns="0" bIns="0" anchor="t" anchorCtr="0">
              <a:spAutoFit/>
            </a:bodyPr>
            <a:lstStyle/>
            <a:p>
              <a:pPr algn="l"/>
              <a:r>
                <a:rPr lang="zh-CN" sz="5400" b="1" dirty="0">
                  <a:solidFill>
                    <a:schemeClr val="accent1"/>
                  </a:solidFill>
                  <a:latin typeface="Times New Roman"/>
                  <a:ea typeface="Times New Roman"/>
                  <a:cs typeface="Times New Roman"/>
                </a:rPr>
                <a:t>140489</a:t>
              </a:r>
            </a:p>
          </p:txBody>
        </p:sp>
        <p:sp>
          <p:nvSpPr>
            <p:cNvPr id="19" name="TextBox 19"/>
            <p:cNvSpPr txBox="1"/>
            <p:nvPr/>
          </p:nvSpPr>
          <p:spPr>
            <a:xfrm>
              <a:off x="4258056" y="3044190"/>
              <a:ext cx="3050267"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万人 · 较上年末</a:t>
              </a:r>
              <a:r>
                <a:rPr lang="zh-CN" sz="1800" b="1" dirty="0">
                  <a:solidFill>
                    <a:schemeClr val="accent2"/>
                  </a:solidFill>
                  <a:latin typeface="+mn-lt"/>
                  <a:ea typeface="+mn-ea"/>
                  <a:cs typeface="+mn-cs"/>
                </a:rPr>
                <a:t>减少 339 万</a:t>
              </a:r>
            </a:p>
          </p:txBody>
        </p:sp>
      </p:grpSp>
      <p:grpSp>
        <p:nvGrpSpPr>
          <p:cNvPr id="25" name="Group 25"/>
          <p:cNvGrpSpPr/>
          <p:nvPr/>
        </p:nvGrpSpPr>
        <p:grpSpPr>
          <a:xfrm>
            <a:off x="7905750" y="1676400"/>
            <a:ext cx="3371850" cy="1719834"/>
            <a:chOff x="7905750" y="1676400"/>
            <a:chExt cx="3371850" cy="1719834"/>
          </a:xfrm>
        </p:grpSpPr>
        <p:sp>
          <p:nvSpPr>
            <p:cNvPr id="21" name="Line 21"/>
            <p:cNvSpPr/>
            <p:nvPr/>
          </p:nvSpPr>
          <p:spPr>
            <a:xfrm>
              <a:off x="7924800" y="1676400"/>
              <a:ext cx="3352800" cy="9525"/>
            </a:xfrm>
            <a:custGeom>
              <a:avLst/>
              <a:gdLst/>
              <a:ahLst/>
              <a:cxnLst/>
              <a:rect l="l" t="t" r="r" b="b"/>
              <a:pathLst>
                <a:path w="3352800" h="9525">
                  <a:moveTo>
                    <a:pt x="0" y="0"/>
                  </a:moveTo>
                  <a:lnTo>
                    <a:pt x="3352800" y="0"/>
                  </a:lnTo>
                </a:path>
              </a:pathLst>
            </a:custGeom>
            <a:noFill/>
            <a:ln w="9525">
              <a:solidFill>
                <a:schemeClr val="accent6"/>
              </a:solidFill>
            </a:ln>
          </p:spPr>
        </p:sp>
        <p:sp>
          <p:nvSpPr>
            <p:cNvPr id="22" name="TextBox 22"/>
            <p:cNvSpPr txBox="1"/>
            <p:nvPr/>
          </p:nvSpPr>
          <p:spPr>
            <a:xfrm>
              <a:off x="7915656" y="1920240"/>
              <a:ext cx="1956816"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常住人口城镇化率</a:t>
              </a:r>
            </a:p>
          </p:txBody>
        </p:sp>
        <p:sp>
          <p:nvSpPr>
            <p:cNvPr id="23" name="TextBox 23"/>
            <p:cNvSpPr txBox="1"/>
            <p:nvPr/>
          </p:nvSpPr>
          <p:spPr>
            <a:xfrm>
              <a:off x="7905750" y="2274570"/>
              <a:ext cx="2255977" cy="1047750"/>
            </a:xfrm>
            <a:prstGeom prst="rect">
              <a:avLst/>
            </a:prstGeom>
            <a:noFill/>
            <a:ln>
              <a:noFill/>
            </a:ln>
          </p:spPr>
          <p:txBody>
            <a:bodyPr wrap="none" lIns="0" tIns="0" rIns="0" bIns="0" anchor="t" anchorCtr="0">
              <a:spAutoFit/>
            </a:bodyPr>
            <a:lstStyle/>
            <a:p>
              <a:pPr algn="l"/>
              <a:r>
                <a:rPr lang="zh-CN" sz="5400" b="1" dirty="0">
                  <a:solidFill>
                    <a:schemeClr val="accent1"/>
                  </a:solidFill>
                  <a:latin typeface="Times New Roman"/>
                  <a:ea typeface="Times New Roman"/>
                  <a:cs typeface="Times New Roman"/>
                </a:rPr>
                <a:t>67.89</a:t>
              </a:r>
            </a:p>
          </p:txBody>
        </p:sp>
        <p:sp>
          <p:nvSpPr>
            <p:cNvPr id="24" name="TextBox 24"/>
            <p:cNvSpPr txBox="1"/>
            <p:nvPr/>
          </p:nvSpPr>
          <p:spPr>
            <a:xfrm>
              <a:off x="7915656" y="3044190"/>
              <a:ext cx="3193233"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 · 较上年末</a:t>
              </a:r>
              <a:r>
                <a:rPr lang="zh-CN" sz="1800" b="1" dirty="0">
                  <a:solidFill>
                    <a:schemeClr val="accent3"/>
                  </a:solidFill>
                  <a:latin typeface="+mn-lt"/>
                  <a:ea typeface="+mn-ea"/>
                  <a:cs typeface="+mn-cs"/>
                </a:rPr>
                <a:t>+0.89 个百分点</a:t>
              </a:r>
            </a:p>
          </p:txBody>
        </p:sp>
      </p:grpSp>
      <p:grpSp>
        <p:nvGrpSpPr>
          <p:cNvPr id="30" name="Group 30"/>
          <p:cNvGrpSpPr/>
          <p:nvPr/>
        </p:nvGrpSpPr>
        <p:grpSpPr>
          <a:xfrm>
            <a:off x="590550" y="4019550"/>
            <a:ext cx="3371850" cy="1719834"/>
            <a:chOff x="590550" y="4019550"/>
            <a:chExt cx="3371850" cy="1719834"/>
          </a:xfrm>
        </p:grpSpPr>
        <p:sp>
          <p:nvSpPr>
            <p:cNvPr id="26" name="Line 26"/>
            <p:cNvSpPr/>
            <p:nvPr/>
          </p:nvSpPr>
          <p:spPr>
            <a:xfrm>
              <a:off x="609600" y="4019550"/>
              <a:ext cx="3352800" cy="9525"/>
            </a:xfrm>
            <a:custGeom>
              <a:avLst/>
              <a:gdLst/>
              <a:ahLst/>
              <a:cxnLst/>
              <a:rect l="l" t="t" r="r" b="b"/>
              <a:pathLst>
                <a:path w="3352800" h="9525">
                  <a:moveTo>
                    <a:pt x="0" y="0"/>
                  </a:moveTo>
                  <a:lnTo>
                    <a:pt x="3352800" y="0"/>
                  </a:lnTo>
                </a:path>
              </a:pathLst>
            </a:custGeom>
            <a:noFill/>
            <a:ln w="9525">
              <a:solidFill>
                <a:schemeClr val="accent6"/>
              </a:solidFill>
            </a:ln>
          </p:spPr>
        </p:sp>
        <p:sp>
          <p:nvSpPr>
            <p:cNvPr id="27" name="TextBox 27"/>
            <p:cNvSpPr txBox="1"/>
            <p:nvPr/>
          </p:nvSpPr>
          <p:spPr>
            <a:xfrm>
              <a:off x="600456" y="4263390"/>
              <a:ext cx="2199132"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居民人均可支配收入</a:t>
              </a:r>
            </a:p>
          </p:txBody>
        </p:sp>
        <p:sp>
          <p:nvSpPr>
            <p:cNvPr id="28" name="TextBox 28"/>
            <p:cNvSpPr txBox="1"/>
            <p:nvPr/>
          </p:nvSpPr>
          <p:spPr>
            <a:xfrm>
              <a:off x="590550" y="4617720"/>
              <a:ext cx="2255977" cy="1047750"/>
            </a:xfrm>
            <a:prstGeom prst="rect">
              <a:avLst/>
            </a:prstGeom>
            <a:noFill/>
            <a:ln>
              <a:noFill/>
            </a:ln>
          </p:spPr>
          <p:txBody>
            <a:bodyPr wrap="none" lIns="0" tIns="0" rIns="0" bIns="0" anchor="t" anchorCtr="0">
              <a:spAutoFit/>
            </a:bodyPr>
            <a:lstStyle/>
            <a:p>
              <a:pPr algn="l"/>
              <a:r>
                <a:rPr lang="zh-CN" sz="5400" b="1" dirty="0">
                  <a:solidFill>
                    <a:schemeClr val="accent1"/>
                  </a:solidFill>
                  <a:latin typeface="Times New Roman"/>
                  <a:ea typeface="Times New Roman"/>
                  <a:cs typeface="Times New Roman"/>
                </a:rPr>
                <a:t>43377</a:t>
              </a:r>
            </a:p>
          </p:txBody>
        </p:sp>
        <p:sp>
          <p:nvSpPr>
            <p:cNvPr id="29" name="TextBox 29"/>
            <p:cNvSpPr txBox="1"/>
            <p:nvPr/>
          </p:nvSpPr>
          <p:spPr>
            <a:xfrm>
              <a:off x="600456" y="5387340"/>
              <a:ext cx="2437813"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元 · 比上年</a:t>
              </a:r>
              <a:r>
                <a:rPr lang="zh-CN" sz="1800" b="1" dirty="0">
                  <a:solidFill>
                    <a:schemeClr val="accent3"/>
                  </a:solidFill>
                  <a:latin typeface="+mn-lt"/>
                  <a:ea typeface="+mn-ea"/>
                  <a:cs typeface="+mn-cs"/>
                </a:rPr>
                <a:t>增长 5.0%</a:t>
              </a:r>
            </a:p>
          </p:txBody>
        </p:sp>
      </p:grpSp>
      <p:grpSp>
        <p:nvGrpSpPr>
          <p:cNvPr id="35" name="Group 35"/>
          <p:cNvGrpSpPr/>
          <p:nvPr/>
        </p:nvGrpSpPr>
        <p:grpSpPr>
          <a:xfrm>
            <a:off x="4248150" y="4019550"/>
            <a:ext cx="3371850" cy="1719834"/>
            <a:chOff x="4248150" y="4019550"/>
            <a:chExt cx="3371850" cy="1719834"/>
          </a:xfrm>
        </p:grpSpPr>
        <p:sp>
          <p:nvSpPr>
            <p:cNvPr id="31" name="Line 31"/>
            <p:cNvSpPr/>
            <p:nvPr/>
          </p:nvSpPr>
          <p:spPr>
            <a:xfrm>
              <a:off x="4267200" y="4019550"/>
              <a:ext cx="3352800" cy="9525"/>
            </a:xfrm>
            <a:custGeom>
              <a:avLst/>
              <a:gdLst/>
              <a:ahLst/>
              <a:cxnLst/>
              <a:rect l="l" t="t" r="r" b="b"/>
              <a:pathLst>
                <a:path w="3352800" h="9525">
                  <a:moveTo>
                    <a:pt x="0" y="0"/>
                  </a:moveTo>
                  <a:lnTo>
                    <a:pt x="3352800" y="0"/>
                  </a:lnTo>
                </a:path>
              </a:pathLst>
            </a:custGeom>
            <a:noFill/>
            <a:ln w="9525">
              <a:solidFill>
                <a:schemeClr val="accent6"/>
              </a:solidFill>
            </a:ln>
          </p:spPr>
        </p:sp>
        <p:sp>
          <p:nvSpPr>
            <p:cNvPr id="32" name="TextBox 32"/>
            <p:cNvSpPr txBox="1"/>
            <p:nvPr/>
          </p:nvSpPr>
          <p:spPr>
            <a:xfrm>
              <a:off x="4258056" y="4263390"/>
              <a:ext cx="1714500"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货物进出口总额</a:t>
              </a:r>
            </a:p>
          </p:txBody>
        </p:sp>
        <p:sp>
          <p:nvSpPr>
            <p:cNvPr id="33" name="TextBox 33"/>
            <p:cNvSpPr txBox="1"/>
            <p:nvPr/>
          </p:nvSpPr>
          <p:spPr>
            <a:xfrm>
              <a:off x="4248150" y="4617720"/>
              <a:ext cx="2699553" cy="1047750"/>
            </a:xfrm>
            <a:prstGeom prst="rect">
              <a:avLst/>
            </a:prstGeom>
            <a:noFill/>
            <a:ln>
              <a:noFill/>
            </a:ln>
          </p:spPr>
          <p:txBody>
            <a:bodyPr wrap="none" lIns="0" tIns="0" rIns="0" bIns="0" anchor="t" anchorCtr="0">
              <a:spAutoFit/>
            </a:bodyPr>
            <a:lstStyle/>
            <a:p>
              <a:pPr algn="l"/>
              <a:r>
                <a:rPr lang="zh-CN" sz="5400" b="1" dirty="0">
                  <a:solidFill>
                    <a:schemeClr val="accent1"/>
                  </a:solidFill>
                  <a:latin typeface="Times New Roman"/>
                  <a:ea typeface="Times New Roman"/>
                  <a:cs typeface="Times New Roman"/>
                </a:rPr>
                <a:t>454685</a:t>
              </a:r>
            </a:p>
          </p:txBody>
        </p:sp>
        <p:sp>
          <p:nvSpPr>
            <p:cNvPr id="34" name="TextBox 34"/>
            <p:cNvSpPr txBox="1"/>
            <p:nvPr/>
          </p:nvSpPr>
          <p:spPr>
            <a:xfrm>
              <a:off x="4258056" y="5387340"/>
              <a:ext cx="2680129"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亿元 · 比上年</a:t>
              </a:r>
              <a:r>
                <a:rPr lang="zh-CN" sz="1800" b="1" dirty="0">
                  <a:solidFill>
                    <a:schemeClr val="accent3"/>
                  </a:solidFill>
                  <a:latin typeface="+mn-lt"/>
                  <a:ea typeface="+mn-ea"/>
                  <a:cs typeface="+mn-cs"/>
                </a:rPr>
                <a:t>增长 3.8%</a:t>
              </a:r>
            </a:p>
          </p:txBody>
        </p:sp>
      </p:grpSp>
      <p:grpSp>
        <p:nvGrpSpPr>
          <p:cNvPr id="40" name="Group 40"/>
          <p:cNvGrpSpPr/>
          <p:nvPr/>
        </p:nvGrpSpPr>
        <p:grpSpPr>
          <a:xfrm>
            <a:off x="7905750" y="4019550"/>
            <a:ext cx="3371850" cy="1719834"/>
            <a:chOff x="7905750" y="4019550"/>
            <a:chExt cx="3371850" cy="1719834"/>
          </a:xfrm>
        </p:grpSpPr>
        <p:sp>
          <p:nvSpPr>
            <p:cNvPr id="36" name="Line 36"/>
            <p:cNvSpPr/>
            <p:nvPr/>
          </p:nvSpPr>
          <p:spPr>
            <a:xfrm>
              <a:off x="7924800" y="4019550"/>
              <a:ext cx="3352800" cy="9525"/>
            </a:xfrm>
            <a:custGeom>
              <a:avLst/>
              <a:gdLst/>
              <a:ahLst/>
              <a:cxnLst/>
              <a:rect l="l" t="t" r="r" b="b"/>
              <a:pathLst>
                <a:path w="3352800" h="9525">
                  <a:moveTo>
                    <a:pt x="0" y="0"/>
                  </a:moveTo>
                  <a:lnTo>
                    <a:pt x="3352800" y="0"/>
                  </a:lnTo>
                </a:path>
              </a:pathLst>
            </a:custGeom>
            <a:noFill/>
            <a:ln w="9525">
              <a:solidFill>
                <a:schemeClr val="accent6"/>
              </a:solidFill>
            </a:ln>
          </p:spPr>
        </p:sp>
        <p:sp>
          <p:nvSpPr>
            <p:cNvPr id="37" name="TextBox 37"/>
            <p:cNvSpPr txBox="1"/>
            <p:nvPr/>
          </p:nvSpPr>
          <p:spPr>
            <a:xfrm>
              <a:off x="7915656" y="4263390"/>
              <a:ext cx="2199132"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社会消费品零售总额</a:t>
              </a:r>
            </a:p>
          </p:txBody>
        </p:sp>
        <p:sp>
          <p:nvSpPr>
            <p:cNvPr id="38" name="TextBox 38"/>
            <p:cNvSpPr txBox="1"/>
            <p:nvPr/>
          </p:nvSpPr>
          <p:spPr>
            <a:xfrm>
              <a:off x="7905750" y="4617720"/>
              <a:ext cx="2699553" cy="1047750"/>
            </a:xfrm>
            <a:prstGeom prst="rect">
              <a:avLst/>
            </a:prstGeom>
            <a:noFill/>
            <a:ln>
              <a:noFill/>
            </a:ln>
          </p:spPr>
          <p:txBody>
            <a:bodyPr wrap="none" lIns="0" tIns="0" rIns="0" bIns="0" anchor="t" anchorCtr="0">
              <a:spAutoFit/>
            </a:bodyPr>
            <a:lstStyle/>
            <a:p>
              <a:pPr algn="l"/>
              <a:r>
                <a:rPr lang="zh-CN" sz="5400" b="1" dirty="0">
                  <a:solidFill>
                    <a:schemeClr val="accent1"/>
                  </a:solidFill>
                  <a:latin typeface="Times New Roman"/>
                  <a:ea typeface="Times New Roman"/>
                  <a:cs typeface="Times New Roman"/>
                </a:rPr>
                <a:t>501202</a:t>
              </a:r>
            </a:p>
          </p:txBody>
        </p:sp>
        <p:sp>
          <p:nvSpPr>
            <p:cNvPr id="39" name="TextBox 39"/>
            <p:cNvSpPr txBox="1"/>
            <p:nvPr/>
          </p:nvSpPr>
          <p:spPr>
            <a:xfrm>
              <a:off x="7915656" y="5387340"/>
              <a:ext cx="2680129"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亿元 · 比上年</a:t>
              </a:r>
              <a:r>
                <a:rPr lang="zh-CN" sz="1800" b="1" dirty="0">
                  <a:solidFill>
                    <a:schemeClr val="accent3"/>
                  </a:solidFill>
                  <a:latin typeface="+mn-lt"/>
                  <a:ea typeface="+mn-ea"/>
                  <a:cs typeface="+mn-cs"/>
                </a:rPr>
                <a:t>增长 3.7%</a:t>
              </a:r>
            </a:p>
          </p:txBody>
        </p:sp>
      </p:grpSp>
      <p:grpSp>
        <p:nvGrpSpPr>
          <p:cNvPr id="44" name="Group 44"/>
          <p:cNvGrpSpPr/>
          <p:nvPr/>
        </p:nvGrpSpPr>
        <p:grpSpPr>
          <a:xfrm>
            <a:off x="603504" y="6172200"/>
            <a:ext cx="10984992" cy="371856"/>
            <a:chOff x="603504" y="6172200"/>
            <a:chExt cx="10984992" cy="371856"/>
          </a:xfrm>
        </p:grpSpPr>
        <p:sp>
          <p:nvSpPr>
            <p:cNvPr id="41" name="Line 41"/>
            <p:cNvSpPr/>
            <p:nvPr/>
          </p:nvSpPr>
          <p:spPr>
            <a:xfrm>
              <a:off x="609600" y="61722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42" name="TextBox 42"/>
            <p:cNvSpPr txBox="1"/>
            <p:nvPr/>
          </p:nvSpPr>
          <p:spPr>
            <a:xfrm>
              <a:off x="603504" y="6309360"/>
              <a:ext cx="5472379"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来源：国家统计局《中华人民共和国 2025 年国民经济和社会发展统计公报》</a:t>
              </a:r>
            </a:p>
          </p:txBody>
        </p:sp>
        <p:sp>
          <p:nvSpPr>
            <p:cNvPr id="43" name="TextBox 43"/>
            <p:cNvSpPr txBox="1"/>
            <p:nvPr/>
          </p:nvSpPr>
          <p:spPr>
            <a:xfrm>
              <a:off x="11398606" y="6309360"/>
              <a:ext cx="189890"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02</a:t>
              </a:r>
            </a:p>
          </p:txBody>
        </p:sp>
      </p:grpSp>
    </p:spTree>
  </p:cSld>
  <p:clrMapOvr>
    <a:masterClrMapping/>
  </p:clrMapOvr>
  <mc:AlternateContent>
    <mc:Choice Requires="p159">
      <p:transition p14:dur="8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after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right)">
                                      <p:cBhvr>
                                        <p:cTn id="7" dur="450"/>
                                        <p:tgtEl>
                                          <p:spTgt spid="20"/>
                                        </p:tgtEl>
                                      </p:cBhvr>
                                    </p:animEffect>
                                  </p:childTnLst>
                                </p:cTn>
                              </p:par>
                            </p:childTnLst>
                          </p:cTn>
                        </p:par>
                        <p:par>
                          <p:cTn id="8" fill="hold">
                            <p:stCondLst>
                              <p:cond delay="450"/>
                            </p:stCondLst>
                            <p:childTnLst>
                              <p:par>
                                <p:cTn id="9" presetID="22" presetClass="entr" presetSubtype="2" fill="hold" grpId="0" nodeType="afterEffect">
                                  <p:stCondLst>
                                    <p:cond delay="500"/>
                                  </p:stCondLst>
                                  <p:childTnLst>
                                    <p:set>
                                      <p:cBhvr>
                                        <p:cTn id="10" dur="1" fill="hold">
                                          <p:stCondLst>
                                            <p:cond delay="0"/>
                                          </p:stCondLst>
                                        </p:cTn>
                                        <p:tgtEl>
                                          <p:spTgt spid="25"/>
                                        </p:tgtEl>
                                        <p:attrNameLst>
                                          <p:attrName>style.visibility</p:attrName>
                                        </p:attrNameLst>
                                      </p:cBhvr>
                                      <p:to>
                                        <p:strVal val="visible"/>
                                      </p:to>
                                    </p:set>
                                    <p:animEffect transition="in" filter="wipe(right)">
                                      <p:cBhvr>
                                        <p:cTn id="11" dur="450"/>
                                        <p:tgtEl>
                                          <p:spTgt spid="25"/>
                                        </p:tgtEl>
                                      </p:cBhvr>
                                    </p:animEffect>
                                  </p:childTnLst>
                                </p:cTn>
                              </p:par>
                            </p:childTnLst>
                          </p:cTn>
                        </p:par>
                        <p:par>
                          <p:cTn id="12" fill="hold">
                            <p:stCondLst>
                              <p:cond delay="1400"/>
                            </p:stCondLst>
                            <p:childTnLst>
                              <p:par>
                                <p:cTn id="13" presetID="22" presetClass="entr" presetSubtype="2" fill="hold" grpId="0" nodeType="afterEffect">
                                  <p:stCondLst>
                                    <p:cond delay="500"/>
                                  </p:stCondLst>
                                  <p:childTnLst>
                                    <p:set>
                                      <p:cBhvr>
                                        <p:cTn id="14" dur="1" fill="hold">
                                          <p:stCondLst>
                                            <p:cond delay="0"/>
                                          </p:stCondLst>
                                        </p:cTn>
                                        <p:tgtEl>
                                          <p:spTgt spid="30"/>
                                        </p:tgtEl>
                                        <p:attrNameLst>
                                          <p:attrName>style.visibility</p:attrName>
                                        </p:attrNameLst>
                                      </p:cBhvr>
                                      <p:to>
                                        <p:strVal val="visible"/>
                                      </p:to>
                                    </p:set>
                                    <p:animEffect transition="in" filter="wipe(right)">
                                      <p:cBhvr>
                                        <p:cTn id="15" dur="450"/>
                                        <p:tgtEl>
                                          <p:spTgt spid="30"/>
                                        </p:tgtEl>
                                      </p:cBhvr>
                                    </p:animEffect>
                                  </p:childTnLst>
                                </p:cTn>
                              </p:par>
                            </p:childTnLst>
                          </p:cTn>
                        </p:par>
                        <p:par>
                          <p:cTn id="16" fill="hold">
                            <p:stCondLst>
                              <p:cond delay="2350"/>
                            </p:stCondLst>
                            <p:childTnLst>
                              <p:par>
                                <p:cTn id="17" presetID="22" presetClass="entr" presetSubtype="2" fill="hold" grpId="0" nodeType="afterEffect">
                                  <p:stCondLst>
                                    <p:cond delay="500"/>
                                  </p:stCondLst>
                                  <p:childTnLst>
                                    <p:set>
                                      <p:cBhvr>
                                        <p:cTn id="18" dur="1" fill="hold">
                                          <p:stCondLst>
                                            <p:cond delay="0"/>
                                          </p:stCondLst>
                                        </p:cTn>
                                        <p:tgtEl>
                                          <p:spTgt spid="35"/>
                                        </p:tgtEl>
                                        <p:attrNameLst>
                                          <p:attrName>style.visibility</p:attrName>
                                        </p:attrNameLst>
                                      </p:cBhvr>
                                      <p:to>
                                        <p:strVal val="visible"/>
                                      </p:to>
                                    </p:set>
                                    <p:animEffect transition="in" filter="wipe(right)">
                                      <p:cBhvr>
                                        <p:cTn id="19" dur="450"/>
                                        <p:tgtEl>
                                          <p:spTgt spid="35"/>
                                        </p:tgtEl>
                                      </p:cBhvr>
                                    </p:animEffect>
                                  </p:childTnLst>
                                </p:cTn>
                              </p:par>
                            </p:childTnLst>
                          </p:cTn>
                        </p:par>
                        <p:par>
                          <p:cTn id="20" fill="hold">
                            <p:stCondLst>
                              <p:cond delay="3300"/>
                            </p:stCondLst>
                            <p:childTnLst>
                              <p:par>
                                <p:cTn id="21" presetID="22" presetClass="entr" presetSubtype="2" fill="hold" grpId="0" nodeType="afterEffect">
                                  <p:stCondLst>
                                    <p:cond delay="500"/>
                                  </p:stCondLst>
                                  <p:childTnLst>
                                    <p:set>
                                      <p:cBhvr>
                                        <p:cTn id="22" dur="1" fill="hold">
                                          <p:stCondLst>
                                            <p:cond delay="0"/>
                                          </p:stCondLst>
                                        </p:cTn>
                                        <p:tgtEl>
                                          <p:spTgt spid="40"/>
                                        </p:tgtEl>
                                        <p:attrNameLst>
                                          <p:attrName>style.visibility</p:attrName>
                                        </p:attrNameLst>
                                      </p:cBhvr>
                                      <p:to>
                                        <p:strVal val="visible"/>
                                      </p:to>
                                    </p:set>
                                    <p:animEffect transition="in" filter="wipe(right)">
                                      <p:cBhvr>
                                        <p:cTn id="23" dur="45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c="http://schemas.openxmlformats.org/drawingml/2006/chart" xmlns:mc="http://schemas.openxmlformats.org/markup-compatibility/2006" xmlns:p="http://schemas.openxmlformats.org/presentationml/2006/main" xmlns:p14="http://schemas.microsoft.com/office/powerpoint/2010/main" xmlns:p159="http://schemas.microsoft.com/office/powerpoint/2015/09/main" xmlns:r="http://schemas.openxmlformats.org/officeDocument/2006/relationships">
  <p:cSld>
    <p:bg>
      <p:bgPr>
        <a:solidFill>
          <a:schemeClr val="lt1"/>
        </a:solidFill>
        <a:effectLst/>
      </p:bgPr>
    </p:bg>
    <p:spTree>
      <p:nvGrpSpPr>
        <p:cNvPr id="1" name=""/>
        <p:cNvGrpSpPr/>
        <p:nvPr/>
      </p:nvGrpSpPr>
      <p:grpSpPr>
        <a:xfrm>
          <a:off x="0" y="0"/>
          <a:ext cx="0" cy="0"/>
          <a:chOff x="0" y="0"/>
          <a:chExt cx="0" cy="0"/>
        </a:xfrm>
      </p:grpSpPr>
      <p:grpSp>
        <p:nvGrpSpPr>
          <p:cNvPr id="9" name="Group 9"/>
          <p:cNvGrpSpPr/>
          <p:nvPr/>
        </p:nvGrpSpPr>
        <p:grpSpPr>
          <a:xfrm>
            <a:off x="593598" y="597218"/>
            <a:ext cx="10995660" cy="878967"/>
            <a:chOff x="593598" y="597218"/>
            <a:chExt cx="10995660" cy="878967"/>
          </a:xfrm>
        </p:grpSpPr>
        <p:grpSp>
          <p:nvGrpSpPr>
            <p:cNvPr id="4" name="Group 4"/>
            <p:cNvGrpSpPr/>
            <p:nvPr/>
          </p:nvGrpSpPr>
          <p:grpSpPr>
            <a:xfrm>
              <a:off x="633412" y="646112"/>
              <a:ext cx="142875" cy="79375"/>
              <a:chOff x="633412" y="646112"/>
              <a:chExt cx="142875" cy="79375"/>
            </a:xfrm>
          </p:grpSpPr>
          <p:sp>
            <p:nvSpPr>
              <p:cNvPr id="2" name="Freeform 2"/>
              <p:cNvSpPr/>
              <p:nvPr/>
            </p:nvSpPr>
            <p:spPr>
              <a:xfrm>
                <a:off x="633412" y="646112"/>
                <a:ext cx="142875" cy="79375"/>
              </a:xfrm>
              <a:custGeom>
                <a:avLst/>
                <a:gdLst/>
                <a:ahLst/>
                <a:cxnLst/>
                <a:rect l="l" t="t" r="r" b="b"/>
                <a:pathLst>
                  <a:path w="142875" h="79375">
                    <a:moveTo>
                      <a:pt x="0" y="79375"/>
                    </a:moveTo>
                    <a:lnTo>
                      <a:pt x="47625" y="31750"/>
                    </a:lnTo>
                    <a:lnTo>
                      <a:pt x="79375" y="63500"/>
                    </a:lnTo>
                    <a:lnTo>
                      <a:pt x="142875" y="0"/>
                    </a:lnTo>
                  </a:path>
                </a:pathLst>
              </a:custGeom>
              <a:noFill/>
              <a:ln w="15875">
                <a:solidFill>
                  <a:srgbClr val="5F6B72"/>
                </a:solidFill>
              </a:ln>
            </p:spPr>
          </p:sp>
          <p:sp>
            <p:nvSpPr>
              <p:cNvPr id="3" name="Freeform 3"/>
              <p:cNvSpPr/>
              <p:nvPr/>
            </p:nvSpPr>
            <p:spPr>
              <a:xfrm>
                <a:off x="720725" y="646112"/>
                <a:ext cx="55562" cy="55562"/>
              </a:xfrm>
              <a:custGeom>
                <a:avLst/>
                <a:gdLst/>
                <a:ahLst/>
                <a:cxnLst/>
                <a:rect l="l" t="t" r="r" b="b"/>
                <a:pathLst>
                  <a:path w="55562" h="55562">
                    <a:moveTo>
                      <a:pt x="0" y="0"/>
                    </a:moveTo>
                    <a:lnTo>
                      <a:pt x="55562" y="0"/>
                    </a:lnTo>
                    <a:lnTo>
                      <a:pt x="55562" y="55562"/>
                    </a:lnTo>
                  </a:path>
                </a:pathLst>
              </a:custGeom>
              <a:noFill/>
              <a:ln w="15875">
                <a:solidFill>
                  <a:srgbClr val="5F6B72"/>
                </a:solidFill>
              </a:ln>
            </p:spPr>
          </p:sp>
        </p:grpSp>
        <p:sp>
          <p:nvSpPr>
            <p:cNvPr id="5" name="TextBox 5"/>
            <p:cNvSpPr txBox="1"/>
            <p:nvPr/>
          </p:nvSpPr>
          <p:spPr>
            <a:xfrm>
              <a:off x="888492" y="597218"/>
              <a:ext cx="868890" cy="264033"/>
            </a:xfrm>
            <a:prstGeom prst="rect">
              <a:avLst/>
            </a:prstGeom>
            <a:noFill/>
            <a:ln>
              <a:noFill/>
            </a:ln>
          </p:spPr>
          <p:txBody>
            <a:bodyPr wrap="none" lIns="0" tIns="0" rIns="0" bIns="0" anchor="t" anchorCtr="0">
              <a:spAutoFit/>
            </a:bodyPr>
            <a:lstStyle/>
            <a:p>
              <a:pPr algn="l"/>
              <a:r>
                <a:rPr lang="zh-CN" sz="1350" spc="150" dirty="0">
                  <a:solidFill>
                    <a:schemeClr val="accent5"/>
                  </a:solidFill>
                  <a:latin typeface="+mn-lt"/>
                  <a:ea typeface="+mn-ea"/>
                  <a:cs typeface="+mn-cs"/>
                </a:rPr>
                <a:t>一 · 坐标</a:t>
              </a:r>
            </a:p>
          </p:txBody>
        </p:sp>
        <p:sp>
          <p:nvSpPr>
            <p:cNvPr id="6" name="TextBox 6"/>
            <p:cNvSpPr txBox="1"/>
            <p:nvPr/>
          </p:nvSpPr>
          <p:spPr>
            <a:xfrm>
              <a:off x="593598" y="860108"/>
              <a:ext cx="2272284"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j-lt"/>
                  <a:ea typeface="+mj-ea"/>
                  <a:cs typeface="+mj-cs"/>
                </a:rPr>
                <a:t>总量与增速</a:t>
              </a:r>
            </a:p>
          </p:txBody>
        </p:sp>
        <p:sp>
          <p:nvSpPr>
            <p:cNvPr id="7" name="TextBox 7"/>
            <p:cNvSpPr txBox="1"/>
            <p:nvPr/>
          </p:nvSpPr>
          <p:spPr>
            <a:xfrm>
              <a:off x="8322450" y="1054418"/>
              <a:ext cx="3266808"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n-lt"/>
                  <a:ea typeface="+mn-ea"/>
                  <a:cs typeface="+mn-cs"/>
                </a:rPr>
                <a:t>分季度国内生产总值同比增速 · 单位：%</a:t>
              </a:r>
            </a:p>
          </p:txBody>
        </p:sp>
        <p:sp>
          <p:nvSpPr>
            <p:cNvPr id="8" name="Rectangle 8"/>
            <p:cNvSpPr/>
            <p:nvPr/>
          </p:nvSpPr>
          <p:spPr>
            <a:xfrm>
              <a:off x="609600" y="1381125"/>
              <a:ext cx="1295400" cy="38100"/>
            </a:xfrm>
            <a:prstGeom prst="rect">
              <a:avLst/>
            </a:prstGeom>
            <a:gradFill>
              <a:gsLst>
                <a:gs pos="0">
                  <a:schemeClr val="accent1"/>
                </a:gs>
                <a:gs pos="100000">
                  <a:schemeClr val="accent2"/>
                </a:gs>
              </a:gsLst>
              <a:lin ang="0" scaled="1"/>
            </a:gradFill>
            <a:ln>
              <a:noFill/>
            </a:ln>
          </p:spPr>
        </p:sp>
      </p:grpSp>
      <p:grpSp>
        <p:nvGrpSpPr>
          <p:cNvPr id="13" name="!!hero-gdp"/>
          <p:cNvGrpSpPr/>
          <p:nvPr/>
        </p:nvGrpSpPr>
        <p:grpSpPr>
          <a:xfrm>
            <a:off x="590550" y="1863090"/>
            <a:ext cx="2288534" cy="1459230"/>
            <a:chOff x="590550" y="1863090"/>
            <a:chExt cx="2288534" cy="1459230"/>
          </a:xfrm>
        </p:grpSpPr>
        <p:sp>
          <p:nvSpPr>
            <p:cNvPr id="10" name="TextBox 10"/>
            <p:cNvSpPr txBox="1"/>
            <p:nvPr/>
          </p:nvSpPr>
          <p:spPr>
            <a:xfrm>
              <a:off x="600456" y="1863090"/>
              <a:ext cx="987552"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全年增速</a:t>
              </a:r>
            </a:p>
          </p:txBody>
        </p:sp>
        <p:sp>
          <p:nvSpPr>
            <p:cNvPr id="11" name="TextBox 11"/>
            <p:cNvSpPr txBox="1"/>
            <p:nvPr/>
          </p:nvSpPr>
          <p:spPr>
            <a:xfrm>
              <a:off x="590550" y="2274570"/>
              <a:ext cx="1611142" cy="1047750"/>
            </a:xfrm>
            <a:prstGeom prst="rect">
              <a:avLst/>
            </a:prstGeom>
            <a:noFill/>
            <a:ln>
              <a:noFill/>
            </a:ln>
          </p:spPr>
          <p:txBody>
            <a:bodyPr wrap="none" lIns="0" tIns="0" rIns="0" bIns="0" anchor="t" anchorCtr="0">
              <a:spAutoFit/>
            </a:bodyPr>
            <a:lstStyle/>
            <a:p>
              <a:pPr algn="l"/>
              <a:r>
                <a:rPr lang="zh-CN" sz="5400" b="1" dirty="0">
                  <a:solidFill>
                    <a:schemeClr val="accent1"/>
                  </a:solidFill>
                  <a:latin typeface="Times New Roman"/>
                  <a:ea typeface="Times New Roman"/>
                  <a:cs typeface="Times New Roman"/>
                </a:rPr>
                <a:t>5.0</a:t>
              </a:r>
              <a:r>
                <a:rPr lang="zh-CN" sz="2400" dirty="0">
                  <a:solidFill>
                    <a:schemeClr val="dk1"/>
                  </a:solidFill>
                  <a:latin typeface="+mn-lt"/>
                  <a:ea typeface="+mn-ea"/>
                  <a:cs typeface="+mn-cs"/>
                </a:rPr>
                <a:t>%</a:t>
              </a:r>
            </a:p>
          </p:txBody>
        </p:sp>
        <p:sp>
          <p:nvSpPr>
            <p:cNvPr id="12" name="TextBox 12"/>
            <p:cNvSpPr txBox="1"/>
            <p:nvPr/>
          </p:nvSpPr>
          <p:spPr>
            <a:xfrm>
              <a:off x="602742" y="3016568"/>
              <a:ext cx="2276342"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国内生产总值 1401879 亿元</a:t>
              </a:r>
            </a:p>
          </p:txBody>
        </p:sp>
      </p:grpSp>
      <p:grpSp>
        <p:nvGrpSpPr>
          <p:cNvPr id="26" name="Group 26"/>
          <p:cNvGrpSpPr/>
          <p:nvPr/>
        </p:nvGrpSpPr>
        <p:grpSpPr>
          <a:xfrm>
            <a:off x="600456" y="3543300"/>
            <a:ext cx="3978402" cy="1853184"/>
            <a:chOff x="600456" y="3543300"/>
            <a:chExt cx="3978402" cy="1853184"/>
          </a:xfrm>
        </p:grpSpPr>
        <p:sp>
          <p:nvSpPr>
            <p:cNvPr id="14" name="Line 14"/>
            <p:cNvSpPr/>
            <p:nvPr/>
          </p:nvSpPr>
          <p:spPr>
            <a:xfrm>
              <a:off x="609600" y="3543300"/>
              <a:ext cx="3962400" cy="9525"/>
            </a:xfrm>
            <a:custGeom>
              <a:avLst/>
              <a:gdLst/>
              <a:ahLst/>
              <a:cxnLst/>
              <a:rect l="l" t="t" r="r" b="b"/>
              <a:pathLst>
                <a:path w="3962400" h="9525">
                  <a:moveTo>
                    <a:pt x="0" y="0"/>
                  </a:moveTo>
                  <a:lnTo>
                    <a:pt x="3962400" y="0"/>
                  </a:lnTo>
                </a:path>
              </a:pathLst>
            </a:custGeom>
            <a:noFill/>
            <a:ln w="9525">
              <a:solidFill>
                <a:schemeClr val="accent6"/>
              </a:solidFill>
            </a:ln>
          </p:spPr>
        </p:sp>
        <p:sp>
          <p:nvSpPr>
            <p:cNvPr id="15" name="TextBox 15"/>
            <p:cNvSpPr txBox="1"/>
            <p:nvPr/>
          </p:nvSpPr>
          <p:spPr>
            <a:xfrm>
              <a:off x="600456" y="3672840"/>
              <a:ext cx="1956816"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人均国内生产总值</a:t>
              </a:r>
            </a:p>
          </p:txBody>
        </p:sp>
        <p:sp>
          <p:nvSpPr>
            <p:cNvPr id="16" name="TextBox 16"/>
            <p:cNvSpPr txBox="1"/>
            <p:nvPr/>
          </p:nvSpPr>
          <p:spPr>
            <a:xfrm>
              <a:off x="2849880" y="3705225"/>
              <a:ext cx="860822" cy="293370"/>
            </a:xfrm>
            <a:prstGeom prst="rect">
              <a:avLst/>
            </a:prstGeom>
            <a:noFill/>
            <a:ln>
              <a:noFill/>
            </a:ln>
          </p:spPr>
          <p:txBody>
            <a:bodyPr wrap="none" lIns="0" tIns="0" rIns="0" bIns="0" anchor="t" anchorCtr="0">
              <a:spAutoFit/>
            </a:bodyPr>
            <a:lstStyle/>
            <a:p>
              <a:pPr algn="l"/>
              <a:r>
                <a:rPr lang="zh-CN" sz="1500" b="1" dirty="0">
                  <a:solidFill>
                    <a:schemeClr val="accent1"/>
                  </a:solidFill>
                  <a:latin typeface="Arial"/>
                  <a:ea typeface="Arial"/>
                  <a:cs typeface="Arial"/>
                </a:rPr>
                <a:t>99665</a:t>
              </a:r>
              <a:r>
                <a:rPr lang="zh-CN" sz="1500" dirty="0">
                  <a:solidFill>
                    <a:schemeClr val="accent5"/>
                  </a:solidFill>
                  <a:latin typeface="+mn-lt"/>
                  <a:ea typeface="+mn-ea"/>
                  <a:cs typeface="+mn-cs"/>
                </a:rPr>
                <a:t xml:space="preserve"> 元</a:t>
              </a:r>
            </a:p>
          </p:txBody>
        </p:sp>
        <p:sp>
          <p:nvSpPr>
            <p:cNvPr id="17" name="TextBox 17"/>
            <p:cNvSpPr txBox="1"/>
            <p:nvPr/>
          </p:nvSpPr>
          <p:spPr>
            <a:xfrm>
              <a:off x="4029018" y="3721418"/>
              <a:ext cx="549840" cy="264033"/>
            </a:xfrm>
            <a:prstGeom prst="rect">
              <a:avLst/>
            </a:prstGeom>
            <a:noFill/>
            <a:ln>
              <a:noFill/>
            </a:ln>
          </p:spPr>
          <p:txBody>
            <a:bodyPr wrap="none" lIns="0" tIns="0" rIns="0" bIns="0" anchor="t" anchorCtr="0">
              <a:spAutoFit/>
            </a:bodyPr>
            <a:lstStyle/>
            <a:p>
              <a:pPr algn="r"/>
              <a:r>
                <a:rPr lang="zh-CN" sz="1350" dirty="0">
                  <a:solidFill>
                    <a:schemeClr val="accent3"/>
                  </a:solidFill>
                  <a:latin typeface="+mn-lt"/>
                  <a:ea typeface="+mn-ea"/>
                  <a:cs typeface="+mn-cs"/>
                </a:rPr>
                <a:t>+5.1%</a:t>
              </a:r>
            </a:p>
          </p:txBody>
        </p:sp>
        <p:sp>
          <p:nvSpPr>
            <p:cNvPr id="18" name="Line 18"/>
            <p:cNvSpPr/>
            <p:nvPr/>
          </p:nvSpPr>
          <p:spPr>
            <a:xfrm>
              <a:off x="609600" y="4229100"/>
              <a:ext cx="3962400" cy="9525"/>
            </a:xfrm>
            <a:custGeom>
              <a:avLst/>
              <a:gdLst/>
              <a:ahLst/>
              <a:cxnLst/>
              <a:rect l="l" t="t" r="r" b="b"/>
              <a:pathLst>
                <a:path w="3962400" h="9525">
                  <a:moveTo>
                    <a:pt x="0" y="0"/>
                  </a:moveTo>
                  <a:lnTo>
                    <a:pt x="3962400" y="0"/>
                  </a:lnTo>
                </a:path>
              </a:pathLst>
            </a:custGeom>
            <a:noFill/>
            <a:ln w="9525">
              <a:solidFill>
                <a:schemeClr val="accent6"/>
              </a:solidFill>
            </a:ln>
          </p:spPr>
        </p:sp>
        <p:sp>
          <p:nvSpPr>
            <p:cNvPr id="19" name="TextBox 19"/>
            <p:cNvSpPr txBox="1"/>
            <p:nvPr/>
          </p:nvSpPr>
          <p:spPr>
            <a:xfrm>
              <a:off x="600456" y="4358640"/>
              <a:ext cx="122986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国民总收入</a:t>
              </a:r>
            </a:p>
          </p:txBody>
        </p:sp>
        <p:sp>
          <p:nvSpPr>
            <p:cNvPr id="20" name="TextBox 20"/>
            <p:cNvSpPr txBox="1"/>
            <p:nvPr/>
          </p:nvSpPr>
          <p:spPr>
            <a:xfrm>
              <a:off x="2849880" y="4391025"/>
              <a:ext cx="1295981" cy="293370"/>
            </a:xfrm>
            <a:prstGeom prst="rect">
              <a:avLst/>
            </a:prstGeom>
            <a:noFill/>
            <a:ln>
              <a:noFill/>
            </a:ln>
          </p:spPr>
          <p:txBody>
            <a:bodyPr wrap="none" lIns="0" tIns="0" rIns="0" bIns="0" anchor="t" anchorCtr="0">
              <a:spAutoFit/>
            </a:bodyPr>
            <a:lstStyle/>
            <a:p>
              <a:pPr algn="l"/>
              <a:r>
                <a:rPr lang="zh-CN" sz="1500" b="1" dirty="0">
                  <a:solidFill>
                    <a:schemeClr val="accent1"/>
                  </a:solidFill>
                  <a:latin typeface="Arial"/>
                  <a:ea typeface="Arial"/>
                  <a:cs typeface="Arial"/>
                </a:rPr>
                <a:t>1393700</a:t>
              </a:r>
              <a:r>
                <a:rPr lang="zh-CN" sz="1500" dirty="0">
                  <a:solidFill>
                    <a:schemeClr val="accent5"/>
                  </a:solidFill>
                  <a:latin typeface="+mn-lt"/>
                  <a:ea typeface="+mn-ea"/>
                  <a:cs typeface="+mn-cs"/>
                </a:rPr>
                <a:t xml:space="preserve"> 亿元</a:t>
              </a:r>
            </a:p>
          </p:txBody>
        </p:sp>
        <p:sp>
          <p:nvSpPr>
            <p:cNvPr id="21" name="TextBox 21"/>
            <p:cNvSpPr txBox="1"/>
            <p:nvPr/>
          </p:nvSpPr>
          <p:spPr>
            <a:xfrm>
              <a:off x="4029018" y="4407218"/>
              <a:ext cx="549840" cy="264033"/>
            </a:xfrm>
            <a:prstGeom prst="rect">
              <a:avLst/>
            </a:prstGeom>
            <a:noFill/>
            <a:ln>
              <a:noFill/>
            </a:ln>
          </p:spPr>
          <p:txBody>
            <a:bodyPr wrap="none" lIns="0" tIns="0" rIns="0" bIns="0" anchor="t" anchorCtr="0">
              <a:spAutoFit/>
            </a:bodyPr>
            <a:lstStyle/>
            <a:p>
              <a:pPr algn="r"/>
              <a:r>
                <a:rPr lang="zh-CN" sz="1350" dirty="0">
                  <a:solidFill>
                    <a:schemeClr val="accent3"/>
                  </a:solidFill>
                  <a:latin typeface="+mn-lt"/>
                  <a:ea typeface="+mn-ea"/>
                  <a:cs typeface="+mn-cs"/>
                </a:rPr>
                <a:t>+5.1%</a:t>
              </a:r>
            </a:p>
          </p:txBody>
        </p:sp>
        <p:sp>
          <p:nvSpPr>
            <p:cNvPr id="22" name="Line 22"/>
            <p:cNvSpPr/>
            <p:nvPr/>
          </p:nvSpPr>
          <p:spPr>
            <a:xfrm>
              <a:off x="609600" y="4914900"/>
              <a:ext cx="3962400" cy="9525"/>
            </a:xfrm>
            <a:custGeom>
              <a:avLst/>
              <a:gdLst/>
              <a:ahLst/>
              <a:cxnLst/>
              <a:rect l="l" t="t" r="r" b="b"/>
              <a:pathLst>
                <a:path w="3962400" h="9525">
                  <a:moveTo>
                    <a:pt x="0" y="0"/>
                  </a:moveTo>
                  <a:lnTo>
                    <a:pt x="3962400" y="0"/>
                  </a:lnTo>
                </a:path>
              </a:pathLst>
            </a:custGeom>
            <a:noFill/>
            <a:ln w="9525">
              <a:solidFill>
                <a:schemeClr val="accent6"/>
              </a:solidFill>
            </a:ln>
          </p:spPr>
        </p:sp>
        <p:sp>
          <p:nvSpPr>
            <p:cNvPr id="23" name="TextBox 23"/>
            <p:cNvSpPr txBox="1"/>
            <p:nvPr/>
          </p:nvSpPr>
          <p:spPr>
            <a:xfrm>
              <a:off x="600456" y="5044440"/>
              <a:ext cx="171450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全员劳动生产率</a:t>
              </a:r>
            </a:p>
          </p:txBody>
        </p:sp>
        <p:sp>
          <p:nvSpPr>
            <p:cNvPr id="24" name="TextBox 24"/>
            <p:cNvSpPr txBox="1"/>
            <p:nvPr/>
          </p:nvSpPr>
          <p:spPr>
            <a:xfrm>
              <a:off x="2849880" y="5076825"/>
              <a:ext cx="1290428" cy="293370"/>
            </a:xfrm>
            <a:prstGeom prst="rect">
              <a:avLst/>
            </a:prstGeom>
            <a:noFill/>
            <a:ln>
              <a:noFill/>
            </a:ln>
          </p:spPr>
          <p:txBody>
            <a:bodyPr wrap="none" lIns="0" tIns="0" rIns="0" bIns="0" anchor="t" anchorCtr="0">
              <a:spAutoFit/>
            </a:bodyPr>
            <a:lstStyle/>
            <a:p>
              <a:pPr algn="l"/>
              <a:r>
                <a:rPr lang="zh-CN" sz="1500" b="1" dirty="0">
                  <a:solidFill>
                    <a:schemeClr val="accent1"/>
                  </a:solidFill>
                  <a:latin typeface="Arial"/>
                  <a:ea typeface="Arial"/>
                  <a:cs typeface="Arial"/>
                </a:rPr>
                <a:t>184413</a:t>
              </a:r>
              <a:r>
                <a:rPr lang="zh-CN" sz="1500" dirty="0">
                  <a:solidFill>
                    <a:schemeClr val="accent5"/>
                  </a:solidFill>
                  <a:latin typeface="+mn-lt"/>
                  <a:ea typeface="+mn-ea"/>
                  <a:cs typeface="+mn-cs"/>
                </a:rPr>
                <a:t xml:space="preserve"> 元/人</a:t>
              </a:r>
            </a:p>
          </p:txBody>
        </p:sp>
        <p:sp>
          <p:nvSpPr>
            <p:cNvPr id="25" name="TextBox 25"/>
            <p:cNvSpPr txBox="1"/>
            <p:nvPr/>
          </p:nvSpPr>
          <p:spPr>
            <a:xfrm>
              <a:off x="4029018" y="5093018"/>
              <a:ext cx="549840" cy="264033"/>
            </a:xfrm>
            <a:prstGeom prst="rect">
              <a:avLst/>
            </a:prstGeom>
            <a:noFill/>
            <a:ln>
              <a:noFill/>
            </a:ln>
          </p:spPr>
          <p:txBody>
            <a:bodyPr wrap="none" lIns="0" tIns="0" rIns="0" bIns="0" anchor="t" anchorCtr="0">
              <a:spAutoFit/>
            </a:bodyPr>
            <a:lstStyle/>
            <a:p>
              <a:pPr algn="r"/>
              <a:r>
                <a:rPr lang="zh-CN" sz="1350" dirty="0">
                  <a:solidFill>
                    <a:schemeClr val="accent3"/>
                  </a:solidFill>
                  <a:latin typeface="+mn-lt"/>
                  <a:ea typeface="+mn-ea"/>
                  <a:cs typeface="+mn-cs"/>
                </a:rPr>
                <a:t>+6.1%</a:t>
              </a:r>
            </a:p>
          </p:txBody>
        </p:sp>
      </p:grpSp>
      <p:graphicFrame>
        <p:nvGraphicFramePr>
          <p:cNvPr id="27" name="quarterly-gdp-growth"/>
          <p:cNvGraphicFramePr>
            <a:graphicFrameLocks noGrp="1"/>
          </p:cNvGraphicFramePr>
          <p:nvPr/>
        </p:nvGraphicFramePr>
        <p:xfrm>
          <a:off x="5029200" y="1809750"/>
          <a:ext cx="6553200" cy="4000500"/>
        </p:xfrm>
        <a:graphic>
          <a:graphicData uri="http://schemas.openxmlformats.org/drawingml/2006/chart">
            <c:chart r:id="rId2"/>
          </a:graphicData>
        </a:graphic>
      </p:graphicFrame>
      <p:grpSp>
        <p:nvGrpSpPr>
          <p:cNvPr id="31" name="Group 31"/>
          <p:cNvGrpSpPr/>
          <p:nvPr/>
        </p:nvGrpSpPr>
        <p:grpSpPr>
          <a:xfrm>
            <a:off x="603504" y="6172200"/>
            <a:ext cx="10984992" cy="371856"/>
            <a:chOff x="603504" y="6172200"/>
            <a:chExt cx="10984992" cy="371856"/>
          </a:xfrm>
        </p:grpSpPr>
        <p:sp>
          <p:nvSpPr>
            <p:cNvPr id="28" name="Line 28"/>
            <p:cNvSpPr/>
            <p:nvPr/>
          </p:nvSpPr>
          <p:spPr>
            <a:xfrm>
              <a:off x="609600" y="61722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29" name="TextBox 29"/>
            <p:cNvSpPr txBox="1"/>
            <p:nvPr/>
          </p:nvSpPr>
          <p:spPr>
            <a:xfrm>
              <a:off x="603504" y="6309360"/>
              <a:ext cx="4939284"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来源：国家统计局《2025 年国民经济和社会发展统计公报》一、综合</a:t>
              </a:r>
            </a:p>
          </p:txBody>
        </p:sp>
        <p:sp>
          <p:nvSpPr>
            <p:cNvPr id="30" name="TextBox 30"/>
            <p:cNvSpPr txBox="1"/>
            <p:nvPr/>
          </p:nvSpPr>
          <p:spPr>
            <a:xfrm>
              <a:off x="11398606" y="6309360"/>
              <a:ext cx="189890"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03</a:t>
              </a:r>
            </a:p>
          </p:txBody>
        </p:sp>
      </p:grpSp>
    </p:spTree>
  </p:cSld>
  <p:clrMapOvr>
    <a:masterClrMapping/>
  </p:clrMapOvr>
  <mc:AlternateContent>
    <mc:Choice Requires="p159">
      <p:transition p14:dur="8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right)">
                                      <p:cBhvr>
                                        <p:cTn id="7" dur="900"/>
                                        <p:tgtEl>
                                          <p:spTgt spid="27"/>
                                        </p:tgtEl>
                                      </p:cBhvr>
                                    </p:animEffect>
                                  </p:childTnLst>
                                </p:cTn>
                              </p:par>
                            </p:childTnLst>
                          </p:cTn>
                        </p:par>
                        <p:par>
                          <p:cTn id="8" fill="hold">
                            <p:stCondLst>
                              <p:cond delay="900"/>
                            </p:stCondLst>
                            <p:childTnLst>
                              <p:par>
                                <p:cTn id="9" presetID="10" presetClass="entr" presetSubtype="0" fill="hold" grpId="0" nodeType="afterEffect">
                                  <p:stCondLst>
                                    <p:cond delay="500"/>
                                  </p:stCondLst>
                                  <p:childTnLst>
                                    <p:set>
                                      <p:cBhvr>
                                        <p:cTn id="10" dur="1" fill="hold">
                                          <p:stCondLst>
                                            <p:cond delay="0"/>
                                          </p:stCondLst>
                                        </p:cTn>
                                        <p:tgtEl>
                                          <p:spTgt spid="26"/>
                                        </p:tgtEl>
                                        <p:attrNameLst>
                                          <p:attrName>style.visibility</p:attrName>
                                        </p:attrNameLst>
                                      </p:cBhvr>
                                      <p:to>
                                        <p:strVal val="visible"/>
                                      </p:to>
                                    </p:set>
                                    <p:animEffect transition="in" filter="fade">
                                      <p:cBhvr>
                                        <p:cTn id="11"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9" name="Group 9"/>
          <p:cNvGrpSpPr/>
          <p:nvPr/>
        </p:nvGrpSpPr>
        <p:grpSpPr>
          <a:xfrm>
            <a:off x="593598" y="597218"/>
            <a:ext cx="10995660" cy="878967"/>
            <a:chOff x="593598" y="597218"/>
            <a:chExt cx="10995660" cy="878967"/>
          </a:xfrm>
        </p:grpSpPr>
        <p:grpSp>
          <p:nvGrpSpPr>
            <p:cNvPr id="4" name="Group 4"/>
            <p:cNvGrpSpPr/>
            <p:nvPr/>
          </p:nvGrpSpPr>
          <p:grpSpPr>
            <a:xfrm>
              <a:off x="631200" y="615727"/>
              <a:ext cx="143500" cy="143723"/>
              <a:chOff x="631200" y="615727"/>
              <a:chExt cx="143500" cy="143723"/>
            </a:xfrm>
          </p:grpSpPr>
          <p:sp>
            <p:nvSpPr>
              <p:cNvPr id="2" name="Freeform 2"/>
              <p:cNvSpPr/>
              <p:nvPr/>
            </p:nvSpPr>
            <p:spPr>
              <a:xfrm>
                <a:off x="631200" y="615727"/>
                <a:ext cx="143500" cy="143723"/>
              </a:xfrm>
              <a:custGeom>
                <a:avLst/>
                <a:gdLst/>
                <a:ahLst/>
                <a:cxnLst/>
                <a:rect l="l" t="t" r="r" b="b"/>
                <a:pathLst>
                  <a:path w="143500" h="143723">
                    <a:moveTo>
                      <a:pt x="57775" y="223"/>
                    </a:moveTo>
                    <a:cubicBezTo>
                      <a:pt x="23406" y="8190"/>
                      <a:pt x="0" y="40055"/>
                      <a:pt x="2676" y="75234"/>
                    </a:cubicBezTo>
                    <a:cubicBezTo>
                      <a:pt x="5353" y="110413"/>
                      <a:pt x="33310" y="138370"/>
                      <a:pt x="68489" y="141046"/>
                    </a:cubicBezTo>
                    <a:cubicBezTo>
                      <a:pt x="103668" y="143723"/>
                      <a:pt x="135532" y="120317"/>
                      <a:pt x="143500" y="85948"/>
                    </a:cubicBezTo>
                    <a:cubicBezTo>
                      <a:pt x="143500" y="81564"/>
                      <a:pt x="139946" y="78010"/>
                      <a:pt x="135562" y="78010"/>
                    </a:cubicBezTo>
                    <a:lnTo>
                      <a:pt x="81587" y="78010"/>
                    </a:lnTo>
                    <a:cubicBezTo>
                      <a:pt x="72820" y="78010"/>
                      <a:pt x="65712" y="70903"/>
                      <a:pt x="65712" y="62135"/>
                    </a:cubicBezTo>
                    <a:lnTo>
                      <a:pt x="65712" y="6573"/>
                    </a:lnTo>
                    <a:cubicBezTo>
                      <a:pt x="65513" y="4673"/>
                      <a:pt x="64562" y="2932"/>
                      <a:pt x="63070" y="1739"/>
                    </a:cubicBezTo>
                    <a:cubicBezTo>
                      <a:pt x="61579" y="546"/>
                      <a:pt x="59672" y="0"/>
                      <a:pt x="57775" y="223"/>
                    </a:cubicBezTo>
                  </a:path>
                </a:pathLst>
              </a:custGeom>
              <a:noFill/>
              <a:ln w="15875">
                <a:solidFill>
                  <a:srgbClr val="5F6B72"/>
                </a:solidFill>
              </a:ln>
            </p:spPr>
          </p:sp>
          <p:sp>
            <p:nvSpPr>
              <p:cNvPr id="3" name="Freeform 3"/>
              <p:cNvSpPr/>
              <p:nvPr/>
            </p:nvSpPr>
            <p:spPr>
              <a:xfrm>
                <a:off x="728662" y="618331"/>
                <a:ext cx="43656" cy="43656"/>
              </a:xfrm>
              <a:custGeom>
                <a:avLst/>
                <a:gdLst/>
                <a:ahLst/>
                <a:cxnLst/>
                <a:rect l="l" t="t" r="r" b="b"/>
                <a:pathLst>
                  <a:path w="43656" h="43656">
                    <a:moveTo>
                      <a:pt x="0" y="0"/>
                    </a:moveTo>
                    <a:cubicBezTo>
                      <a:pt x="20414" y="7188"/>
                      <a:pt x="36468" y="23243"/>
                      <a:pt x="43656" y="43656"/>
                    </a:cubicBezTo>
                    <a:lnTo>
                      <a:pt x="7937" y="43656"/>
                    </a:lnTo>
                    <a:cubicBezTo>
                      <a:pt x="3554" y="43656"/>
                      <a:pt x="0" y="40102"/>
                      <a:pt x="0" y="35719"/>
                    </a:cubicBezTo>
                    <a:lnTo>
                      <a:pt x="0" y="0"/>
                    </a:lnTo>
                  </a:path>
                </a:pathLst>
              </a:custGeom>
              <a:noFill/>
              <a:ln w="15875">
                <a:solidFill>
                  <a:srgbClr val="5F6B72"/>
                </a:solidFill>
              </a:ln>
            </p:spPr>
          </p:sp>
        </p:grpSp>
        <p:sp>
          <p:nvSpPr>
            <p:cNvPr id="5" name="TextBox 5"/>
            <p:cNvSpPr txBox="1"/>
            <p:nvPr/>
          </p:nvSpPr>
          <p:spPr>
            <a:xfrm>
              <a:off x="888492" y="597218"/>
              <a:ext cx="868890" cy="264033"/>
            </a:xfrm>
            <a:prstGeom prst="rect">
              <a:avLst/>
            </a:prstGeom>
            <a:noFill/>
            <a:ln>
              <a:noFill/>
            </a:ln>
          </p:spPr>
          <p:txBody>
            <a:bodyPr wrap="none" lIns="0" tIns="0" rIns="0" bIns="0" anchor="t" anchorCtr="0">
              <a:spAutoFit/>
            </a:bodyPr>
            <a:lstStyle/>
            <a:p>
              <a:pPr algn="l"/>
              <a:r>
                <a:rPr lang="zh-CN" sz="1350" spc="150" dirty="0">
                  <a:solidFill>
                    <a:schemeClr val="accent5"/>
                  </a:solidFill>
                  <a:latin typeface="+mn-lt"/>
                  <a:ea typeface="+mn-ea"/>
                  <a:cs typeface="+mn-cs"/>
                </a:rPr>
                <a:t>一 · 坐标</a:t>
              </a:r>
            </a:p>
          </p:txBody>
        </p:sp>
        <p:sp>
          <p:nvSpPr>
            <p:cNvPr id="6" name="TextBox 6"/>
            <p:cNvSpPr txBox="1"/>
            <p:nvPr/>
          </p:nvSpPr>
          <p:spPr>
            <a:xfrm>
              <a:off x="593598" y="860108"/>
              <a:ext cx="4512564"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j-lt"/>
                  <a:ea typeface="+mj-ea"/>
                  <a:cs typeface="+mj-cs"/>
                </a:rPr>
                <a:t>三次产业：结构与贡献</a:t>
              </a:r>
            </a:p>
          </p:txBody>
        </p:sp>
        <p:sp>
          <p:nvSpPr>
            <p:cNvPr id="7" name="TextBox 7"/>
            <p:cNvSpPr txBox="1"/>
            <p:nvPr/>
          </p:nvSpPr>
          <p:spPr>
            <a:xfrm>
              <a:off x="9049398" y="1054418"/>
              <a:ext cx="2539860"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n-lt"/>
                  <a:ea typeface="+mn-ea"/>
                  <a:cs typeface="+mn-cs"/>
                </a:rPr>
                <a:t>占国内生产总值比重 · 单位：%</a:t>
              </a:r>
            </a:p>
          </p:txBody>
        </p:sp>
        <p:sp>
          <p:nvSpPr>
            <p:cNvPr id="8" name="Rectangle 8"/>
            <p:cNvSpPr/>
            <p:nvPr/>
          </p:nvSpPr>
          <p:spPr>
            <a:xfrm>
              <a:off x="609600" y="1381125"/>
              <a:ext cx="1295400" cy="38100"/>
            </a:xfrm>
            <a:prstGeom prst="rect">
              <a:avLst/>
            </a:prstGeom>
            <a:gradFill>
              <a:gsLst>
                <a:gs pos="0">
                  <a:schemeClr val="accent1"/>
                </a:gs>
                <a:gs pos="100000">
                  <a:schemeClr val="accent2"/>
                </a:gs>
              </a:gsLst>
              <a:lin ang="0" scaled="1"/>
            </a:gradFill>
            <a:ln>
              <a:noFill/>
            </a:ln>
          </p:spPr>
        </p:sp>
      </p:grpSp>
      <p:graphicFrame>
        <p:nvGraphicFramePr>
          <p:cNvPr id="10" name="industry-share"/>
          <p:cNvGraphicFramePr>
            <a:graphicFrameLocks noGrp="1"/>
          </p:cNvGraphicFramePr>
          <p:nvPr/>
        </p:nvGraphicFramePr>
        <p:xfrm>
          <a:off x="609600" y="1809750"/>
          <a:ext cx="5105400" cy="4000500"/>
        </p:xfrm>
        <a:graphic>
          <a:graphicData uri="http://schemas.openxmlformats.org/drawingml/2006/chart">
            <c:chart xmlns:c="http://schemas.openxmlformats.org/drawingml/2006/chart" r:id="rId2"/>
          </a:graphicData>
        </a:graphic>
      </p:graphicFrame>
      <p:sp>
        <p:nvSpPr>
          <p:cNvPr id="11" name="Chart Note 11"/>
          <p:cNvSpPr txBox="1"/>
          <p:nvPr/>
        </p:nvSpPr>
        <p:spPr>
          <a:xfrm>
            <a:off x="3600450" y="1943100"/>
            <a:ext cx="571500" cy="247650"/>
          </a:xfrm>
          <a:prstGeom prst="rect">
            <a:avLst/>
          </a:prstGeom>
          <a:noFill/>
          <a:ln>
            <a:noFill/>
          </a:ln>
        </p:spPr>
        <p:txBody>
          <a:bodyPr wrap="square" lIns="0" tIns="0" rIns="0" bIns="0" anchor="t" anchorCtr="0"/>
          <a:lstStyle/>
          <a:p>
            <a:pPr algn="l"/>
            <a:r>
              <a:rPr lang="zh-CN" sz="1500" b="1">
                <a:solidFill>
                  <a:srgbClr val="1F2A30"/>
                </a:solidFill>
                <a:latin typeface="Microsoft YaHei"/>
                <a:ea typeface="Microsoft YaHei"/>
                <a:cs typeface="Microsoft YaHei"/>
              </a:rPr>
              <a:t>6.7</a:t>
            </a:r>
          </a:p>
        </p:txBody>
      </p:sp>
      <p:sp>
        <p:nvSpPr>
          <p:cNvPr id="12" name="Chart Note 12"/>
          <p:cNvSpPr txBox="1"/>
          <p:nvPr/>
        </p:nvSpPr>
        <p:spPr>
          <a:xfrm>
            <a:off x="4762500" y="3581400"/>
            <a:ext cx="685800" cy="247650"/>
          </a:xfrm>
          <a:prstGeom prst="rect">
            <a:avLst/>
          </a:prstGeom>
          <a:noFill/>
          <a:ln>
            <a:noFill/>
          </a:ln>
        </p:spPr>
        <p:txBody>
          <a:bodyPr wrap="square" lIns="0" tIns="0" rIns="0" bIns="0" anchor="t" anchorCtr="0"/>
          <a:lstStyle/>
          <a:p>
            <a:pPr algn="l"/>
            <a:r>
              <a:rPr lang="zh-CN" sz="1500" b="1">
                <a:solidFill>
                  <a:srgbClr val="1F2A30"/>
                </a:solidFill>
                <a:latin typeface="Microsoft YaHei"/>
                <a:ea typeface="Microsoft YaHei"/>
                <a:cs typeface="Microsoft YaHei"/>
              </a:rPr>
              <a:t>35.6</a:t>
            </a:r>
          </a:p>
        </p:txBody>
      </p:sp>
      <p:sp>
        <p:nvSpPr>
          <p:cNvPr id="13" name="Chart Note 13"/>
          <p:cNvSpPr txBox="1"/>
          <p:nvPr/>
        </p:nvSpPr>
        <p:spPr>
          <a:xfrm>
            <a:off x="1047750" y="4048125"/>
            <a:ext cx="571500" cy="247650"/>
          </a:xfrm>
          <a:prstGeom prst="rect">
            <a:avLst/>
          </a:prstGeom>
          <a:noFill/>
          <a:ln>
            <a:noFill/>
          </a:ln>
        </p:spPr>
        <p:txBody>
          <a:bodyPr wrap="square" lIns="0" tIns="0" rIns="0" bIns="0" anchor="t" anchorCtr="0"/>
          <a:lstStyle/>
          <a:p>
            <a:pPr algn="r"/>
            <a:r>
              <a:rPr lang="zh-CN" sz="1500" b="1">
                <a:solidFill>
                  <a:srgbClr val="1F2A30"/>
                </a:solidFill>
                <a:latin typeface="Microsoft YaHei"/>
                <a:ea typeface="Microsoft YaHei"/>
                <a:cs typeface="Microsoft YaHei"/>
              </a:rPr>
              <a:t>57.7</a:t>
            </a:r>
          </a:p>
        </p:txBody>
      </p:sp>
      <p:grpSp>
        <p:nvGrpSpPr>
          <p:cNvPr id="19" name="Group 19"/>
          <p:cNvGrpSpPr/>
          <p:nvPr/>
        </p:nvGrpSpPr>
        <p:grpSpPr>
          <a:xfrm>
            <a:off x="6089142" y="2114550"/>
            <a:ext cx="5500878" cy="823151"/>
            <a:chOff x="6089142" y="2114550"/>
            <a:chExt cx="5500878" cy="823151"/>
          </a:xfrm>
        </p:grpSpPr>
        <p:sp>
          <p:nvSpPr>
            <p:cNvPr id="14" name="Line 14"/>
            <p:cNvSpPr/>
            <p:nvPr/>
          </p:nvSpPr>
          <p:spPr>
            <a:xfrm>
              <a:off x="6096000" y="2114550"/>
              <a:ext cx="5486400" cy="9525"/>
            </a:xfrm>
            <a:custGeom>
              <a:avLst/>
              <a:gdLst/>
              <a:ahLst/>
              <a:cxnLst/>
              <a:rect l="l" t="t" r="r" b="b"/>
              <a:pathLst>
                <a:path w="5486400" h="9525">
                  <a:moveTo>
                    <a:pt x="0" y="0"/>
                  </a:moveTo>
                  <a:lnTo>
                    <a:pt x="5486400" y="0"/>
                  </a:lnTo>
                </a:path>
              </a:pathLst>
            </a:custGeom>
            <a:noFill/>
            <a:ln w="9525">
              <a:solidFill>
                <a:schemeClr val="accent6"/>
              </a:solidFill>
            </a:ln>
          </p:spPr>
        </p:sp>
        <p:sp>
          <p:nvSpPr>
            <p:cNvPr id="15" name="Rectangle 15"/>
            <p:cNvSpPr/>
            <p:nvPr/>
          </p:nvSpPr>
          <p:spPr>
            <a:xfrm>
              <a:off x="6096000" y="2343150"/>
              <a:ext cx="171450" cy="171450"/>
            </a:xfrm>
            <a:prstGeom prst="rect">
              <a:avLst/>
            </a:prstGeom>
            <a:solidFill>
              <a:srgbClr val="9DB4C4"/>
            </a:solidFill>
            <a:ln>
              <a:noFill/>
            </a:ln>
          </p:spPr>
        </p:sp>
        <p:sp>
          <p:nvSpPr>
            <p:cNvPr id="16" name="TextBox 16"/>
            <p:cNvSpPr txBox="1"/>
            <p:nvPr/>
          </p:nvSpPr>
          <p:spPr>
            <a:xfrm>
              <a:off x="6391656" y="2301240"/>
              <a:ext cx="98755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第一产业</a:t>
              </a:r>
            </a:p>
          </p:txBody>
        </p:sp>
        <p:sp>
          <p:nvSpPr>
            <p:cNvPr id="17" name="TextBox 17"/>
            <p:cNvSpPr txBox="1"/>
            <p:nvPr/>
          </p:nvSpPr>
          <p:spPr>
            <a:xfrm>
              <a:off x="11073489" y="2333625"/>
              <a:ext cx="516531" cy="293370"/>
            </a:xfrm>
            <a:prstGeom prst="rect">
              <a:avLst/>
            </a:prstGeom>
            <a:noFill/>
            <a:ln>
              <a:noFill/>
            </a:ln>
          </p:spPr>
          <p:txBody>
            <a:bodyPr wrap="none" lIns="0" tIns="0" rIns="0" bIns="0" anchor="t" anchorCtr="0">
              <a:spAutoFit/>
            </a:bodyPr>
            <a:lstStyle/>
            <a:p>
              <a:pPr algn="r"/>
              <a:r>
                <a:rPr lang="zh-CN" sz="1500" b="1" dirty="0">
                  <a:solidFill>
                    <a:schemeClr val="accent1"/>
                  </a:solidFill>
                  <a:latin typeface="Arial"/>
                  <a:ea typeface="Arial"/>
                  <a:cs typeface="Arial"/>
                </a:rPr>
                <a:t>6.7</a:t>
              </a:r>
              <a:r>
                <a:rPr lang="zh-CN" sz="1500" dirty="0">
                  <a:solidFill>
                    <a:schemeClr val="accent5"/>
                  </a:solidFill>
                  <a:latin typeface="+mn-lt"/>
                  <a:ea typeface="+mn-ea"/>
                  <a:cs typeface="+mn-cs"/>
                </a:rPr>
                <a:t>%</a:t>
              </a:r>
            </a:p>
          </p:txBody>
        </p:sp>
        <p:sp>
          <p:nvSpPr>
            <p:cNvPr id="18" name="TextBox 18"/>
            <p:cNvSpPr txBox="1"/>
            <p:nvPr/>
          </p:nvSpPr>
          <p:spPr>
            <a:xfrm>
              <a:off x="6089142" y="2673668"/>
              <a:ext cx="3139592"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增加值 93347 亿元 · 比上年增长 3.9%</a:t>
              </a:r>
            </a:p>
          </p:txBody>
        </p:sp>
      </p:grpSp>
      <p:grpSp>
        <p:nvGrpSpPr>
          <p:cNvPr id="25" name="Group 25"/>
          <p:cNvGrpSpPr/>
          <p:nvPr/>
        </p:nvGrpSpPr>
        <p:grpSpPr>
          <a:xfrm>
            <a:off x="6089142" y="3257550"/>
            <a:ext cx="5500878" cy="823151"/>
            <a:chOff x="6089142" y="3257550"/>
            <a:chExt cx="5500878" cy="823151"/>
          </a:xfrm>
        </p:grpSpPr>
        <p:sp>
          <p:nvSpPr>
            <p:cNvPr id="20" name="Line 20"/>
            <p:cNvSpPr/>
            <p:nvPr/>
          </p:nvSpPr>
          <p:spPr>
            <a:xfrm>
              <a:off x="6096000" y="3257550"/>
              <a:ext cx="5486400" cy="9525"/>
            </a:xfrm>
            <a:custGeom>
              <a:avLst/>
              <a:gdLst/>
              <a:ahLst/>
              <a:cxnLst/>
              <a:rect l="l" t="t" r="r" b="b"/>
              <a:pathLst>
                <a:path w="5486400" h="9525">
                  <a:moveTo>
                    <a:pt x="0" y="0"/>
                  </a:moveTo>
                  <a:lnTo>
                    <a:pt x="5486400" y="0"/>
                  </a:lnTo>
                </a:path>
              </a:pathLst>
            </a:custGeom>
            <a:noFill/>
            <a:ln w="9525">
              <a:solidFill>
                <a:schemeClr val="accent6"/>
              </a:solidFill>
            </a:ln>
          </p:spPr>
        </p:sp>
        <p:sp>
          <p:nvSpPr>
            <p:cNvPr id="21" name="Rectangle 21"/>
            <p:cNvSpPr/>
            <p:nvPr/>
          </p:nvSpPr>
          <p:spPr>
            <a:xfrm>
              <a:off x="6096000" y="3486150"/>
              <a:ext cx="171450" cy="171450"/>
            </a:xfrm>
            <a:prstGeom prst="rect">
              <a:avLst/>
            </a:prstGeom>
            <a:solidFill>
              <a:srgbClr val="4A7593"/>
            </a:solidFill>
            <a:ln>
              <a:noFill/>
            </a:ln>
          </p:spPr>
        </p:sp>
        <p:sp>
          <p:nvSpPr>
            <p:cNvPr id="22" name="TextBox 22"/>
            <p:cNvSpPr txBox="1"/>
            <p:nvPr/>
          </p:nvSpPr>
          <p:spPr>
            <a:xfrm>
              <a:off x="6391656" y="3444240"/>
              <a:ext cx="98755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第二产业</a:t>
              </a:r>
            </a:p>
          </p:txBody>
        </p:sp>
        <p:sp>
          <p:nvSpPr>
            <p:cNvPr id="23" name="TextBox 23"/>
            <p:cNvSpPr txBox="1"/>
            <p:nvPr/>
          </p:nvSpPr>
          <p:spPr>
            <a:xfrm>
              <a:off x="10956874" y="3476625"/>
              <a:ext cx="633146" cy="293370"/>
            </a:xfrm>
            <a:prstGeom prst="rect">
              <a:avLst/>
            </a:prstGeom>
            <a:noFill/>
            <a:ln>
              <a:noFill/>
            </a:ln>
          </p:spPr>
          <p:txBody>
            <a:bodyPr wrap="none" lIns="0" tIns="0" rIns="0" bIns="0" anchor="t" anchorCtr="0">
              <a:spAutoFit/>
            </a:bodyPr>
            <a:lstStyle/>
            <a:p>
              <a:pPr algn="r"/>
              <a:r>
                <a:rPr lang="zh-CN" sz="1500" b="1" dirty="0">
                  <a:solidFill>
                    <a:schemeClr val="accent1"/>
                  </a:solidFill>
                  <a:latin typeface="Arial"/>
                  <a:ea typeface="Arial"/>
                  <a:cs typeface="Arial"/>
                </a:rPr>
                <a:t>35.6</a:t>
              </a:r>
              <a:r>
                <a:rPr lang="zh-CN" sz="1500" dirty="0">
                  <a:solidFill>
                    <a:schemeClr val="accent5"/>
                  </a:solidFill>
                  <a:latin typeface="+mn-lt"/>
                  <a:ea typeface="+mn-ea"/>
                  <a:cs typeface="+mn-cs"/>
                </a:rPr>
                <a:t>%</a:t>
              </a:r>
            </a:p>
          </p:txBody>
        </p:sp>
        <p:sp>
          <p:nvSpPr>
            <p:cNvPr id="24" name="TextBox 24"/>
            <p:cNvSpPr txBox="1"/>
            <p:nvPr/>
          </p:nvSpPr>
          <p:spPr>
            <a:xfrm>
              <a:off x="6089142" y="3816668"/>
              <a:ext cx="3239548"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增加值 499653 亿元 · 比上年增长 4.5%</a:t>
              </a:r>
            </a:p>
          </p:txBody>
        </p:sp>
      </p:grpSp>
      <p:grpSp>
        <p:nvGrpSpPr>
          <p:cNvPr id="31" name="Group 31"/>
          <p:cNvGrpSpPr/>
          <p:nvPr/>
        </p:nvGrpSpPr>
        <p:grpSpPr>
          <a:xfrm>
            <a:off x="6089142" y="4400550"/>
            <a:ext cx="5500878" cy="823151"/>
            <a:chOff x="6089142" y="4400550"/>
            <a:chExt cx="5500878" cy="823151"/>
          </a:xfrm>
        </p:grpSpPr>
        <p:sp>
          <p:nvSpPr>
            <p:cNvPr id="26" name="Line 26"/>
            <p:cNvSpPr/>
            <p:nvPr/>
          </p:nvSpPr>
          <p:spPr>
            <a:xfrm>
              <a:off x="6096000" y="4400550"/>
              <a:ext cx="5486400" cy="9525"/>
            </a:xfrm>
            <a:custGeom>
              <a:avLst/>
              <a:gdLst/>
              <a:ahLst/>
              <a:cxnLst/>
              <a:rect l="l" t="t" r="r" b="b"/>
              <a:pathLst>
                <a:path w="5486400" h="9525">
                  <a:moveTo>
                    <a:pt x="0" y="0"/>
                  </a:moveTo>
                  <a:lnTo>
                    <a:pt x="5486400" y="0"/>
                  </a:lnTo>
                </a:path>
              </a:pathLst>
            </a:custGeom>
            <a:noFill/>
            <a:ln w="9525">
              <a:solidFill>
                <a:schemeClr val="accent6"/>
              </a:solidFill>
            </a:ln>
          </p:spPr>
        </p:sp>
        <p:sp>
          <p:nvSpPr>
            <p:cNvPr id="27" name="Rectangle 27"/>
            <p:cNvSpPr/>
            <p:nvPr/>
          </p:nvSpPr>
          <p:spPr>
            <a:xfrm>
              <a:off x="6096000" y="4629150"/>
              <a:ext cx="171450" cy="171450"/>
            </a:xfrm>
            <a:prstGeom prst="rect">
              <a:avLst/>
            </a:prstGeom>
            <a:solidFill>
              <a:schemeClr val="accent1"/>
            </a:solidFill>
            <a:ln>
              <a:noFill/>
            </a:ln>
          </p:spPr>
        </p:sp>
        <p:sp>
          <p:nvSpPr>
            <p:cNvPr id="28" name="TextBox 28"/>
            <p:cNvSpPr txBox="1"/>
            <p:nvPr/>
          </p:nvSpPr>
          <p:spPr>
            <a:xfrm>
              <a:off x="6391656" y="4587240"/>
              <a:ext cx="98755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第三产业</a:t>
              </a:r>
            </a:p>
          </p:txBody>
        </p:sp>
        <p:sp>
          <p:nvSpPr>
            <p:cNvPr id="29" name="TextBox 29"/>
            <p:cNvSpPr txBox="1"/>
            <p:nvPr/>
          </p:nvSpPr>
          <p:spPr>
            <a:xfrm>
              <a:off x="10956874" y="4619625"/>
              <a:ext cx="633146" cy="293370"/>
            </a:xfrm>
            <a:prstGeom prst="rect">
              <a:avLst/>
            </a:prstGeom>
            <a:noFill/>
            <a:ln>
              <a:noFill/>
            </a:ln>
          </p:spPr>
          <p:txBody>
            <a:bodyPr wrap="none" lIns="0" tIns="0" rIns="0" bIns="0" anchor="t" anchorCtr="0">
              <a:spAutoFit/>
            </a:bodyPr>
            <a:lstStyle/>
            <a:p>
              <a:pPr algn="r"/>
              <a:r>
                <a:rPr lang="zh-CN" sz="1500" b="1" dirty="0">
                  <a:solidFill>
                    <a:schemeClr val="accent1"/>
                  </a:solidFill>
                  <a:latin typeface="Arial"/>
                  <a:ea typeface="Arial"/>
                  <a:cs typeface="Arial"/>
                </a:rPr>
                <a:t>57.7</a:t>
              </a:r>
              <a:r>
                <a:rPr lang="zh-CN" sz="1500" dirty="0">
                  <a:solidFill>
                    <a:schemeClr val="accent5"/>
                  </a:solidFill>
                  <a:latin typeface="+mn-lt"/>
                  <a:ea typeface="+mn-ea"/>
                  <a:cs typeface="+mn-cs"/>
                </a:rPr>
                <a:t>%</a:t>
              </a:r>
            </a:p>
          </p:txBody>
        </p:sp>
        <p:sp>
          <p:nvSpPr>
            <p:cNvPr id="30" name="TextBox 30"/>
            <p:cNvSpPr txBox="1"/>
            <p:nvPr/>
          </p:nvSpPr>
          <p:spPr>
            <a:xfrm>
              <a:off x="6089142" y="4959668"/>
              <a:ext cx="3239548"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增加值 808879 亿元 · 比上年增长 5.4%</a:t>
              </a:r>
            </a:p>
          </p:txBody>
        </p:sp>
      </p:grpSp>
      <p:grpSp>
        <p:nvGrpSpPr>
          <p:cNvPr id="33" name="Group 33"/>
          <p:cNvGrpSpPr/>
          <p:nvPr/>
        </p:nvGrpSpPr>
        <p:grpSpPr>
          <a:xfrm>
            <a:off x="6089142" y="5454968"/>
            <a:ext cx="4375404" cy="264033"/>
            <a:chOff x="6089142" y="5454968"/>
            <a:chExt cx="4375404" cy="264033"/>
          </a:xfrm>
        </p:grpSpPr>
        <p:sp>
          <p:nvSpPr>
            <p:cNvPr id="32" name="TextBox 32"/>
            <p:cNvSpPr txBox="1"/>
            <p:nvPr/>
          </p:nvSpPr>
          <p:spPr>
            <a:xfrm>
              <a:off x="6089142" y="5454968"/>
              <a:ext cx="4375404"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口径：绝对数按现价计算，增长速度按不变价格计算。</a:t>
              </a:r>
            </a:p>
          </p:txBody>
        </p:sp>
      </p:grpSp>
      <p:grpSp>
        <p:nvGrpSpPr>
          <p:cNvPr id="37" name="Group 37"/>
          <p:cNvGrpSpPr/>
          <p:nvPr/>
        </p:nvGrpSpPr>
        <p:grpSpPr>
          <a:xfrm>
            <a:off x="603504" y="6172200"/>
            <a:ext cx="10984992" cy="371856"/>
            <a:chOff x="603504" y="6172200"/>
            <a:chExt cx="10984992" cy="371856"/>
          </a:xfrm>
        </p:grpSpPr>
        <p:sp>
          <p:nvSpPr>
            <p:cNvPr id="34" name="Line 34"/>
            <p:cNvSpPr/>
            <p:nvPr/>
          </p:nvSpPr>
          <p:spPr>
            <a:xfrm>
              <a:off x="609600" y="61722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35" name="TextBox 35"/>
            <p:cNvSpPr txBox="1"/>
            <p:nvPr/>
          </p:nvSpPr>
          <p:spPr>
            <a:xfrm>
              <a:off x="603504" y="6309360"/>
              <a:ext cx="5690464"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来源：国家统计局《2025 年国民经济和社会发展统计公报》一、综合；注释[2]</a:t>
              </a:r>
            </a:p>
          </p:txBody>
        </p:sp>
        <p:sp>
          <p:nvSpPr>
            <p:cNvPr id="36" name="TextBox 36"/>
            <p:cNvSpPr txBox="1"/>
            <p:nvPr/>
          </p:nvSpPr>
          <p:spPr>
            <a:xfrm>
              <a:off x="11398606" y="6309360"/>
              <a:ext cx="189890"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04</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21" presetClass="entr" presetSubtype="1"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heel(1)">
                                      <p:cBhvr>
                                        <p:cTn id="7" dur="900"/>
                                        <p:tgtEl>
                                          <p:spTgt spid="10"/>
                                        </p:tgtEl>
                                      </p:cBhvr>
                                    </p:animEffect>
                                  </p:childTnLst>
                                </p:cTn>
                              </p:par>
                            </p:childTnLst>
                          </p:cTn>
                        </p:par>
                        <p:par>
                          <p:cTn id="8" fill="hold">
                            <p:stCondLst>
                              <p:cond delay="900"/>
                            </p:stCondLst>
                            <p:childTnLst>
                              <p:par>
                                <p:cTn xmlns:p="http://schemas.openxmlformats.org/presentationml/2006/main" id="9" presetID="22" presetClass="entr" presetSubtype="2" fill="hold" grpId="0" nodeType="afterEffect">
                                  <p:stCondLst>
                                    <p:cond delay="500"/>
                                  </p:stCondLst>
                                  <p:childTnLst>
                                    <p:set>
                                      <p:cBhvr>
                                        <p:cTn id="10" dur="1" fill="hold">
                                          <p:stCondLst>
                                            <p:cond delay="0"/>
                                          </p:stCondLst>
                                        </p:cTn>
                                        <p:tgtEl>
                                          <p:spTgt spid="19"/>
                                        </p:tgtEl>
                                        <p:attrNameLst>
                                          <p:attrName>style.visibility</p:attrName>
                                        </p:attrNameLst>
                                      </p:cBhvr>
                                      <p:to>
                                        <p:strVal val="visible"/>
                                      </p:to>
                                    </p:set>
                                    <p:animEffect transition="in" filter="wipe(right)">
                                      <p:cBhvr>
                                        <p:cTn id="11" dur="400"/>
                                        <p:tgtEl>
                                          <p:spTgt spid="19"/>
                                        </p:tgtEl>
                                      </p:cBhvr>
                                    </p:animEffect>
                                  </p:childTnLst>
                                </p:cTn>
                              </p:par>
                            </p:childTnLst>
                          </p:cTn>
                        </p:par>
                        <p:par>
                          <p:cTn id="12" fill="hold">
                            <p:stCondLst>
                              <p:cond delay="1800"/>
                            </p:stCondLst>
                            <p:childTnLst>
                              <p:par>
                                <p:cTn xmlns:p="http://schemas.openxmlformats.org/presentationml/2006/main" id="13" presetID="22" presetClass="entr" presetSubtype="2" fill="hold" grpId="0" nodeType="afterEffect">
                                  <p:stCondLst>
                                    <p:cond delay="500"/>
                                  </p:stCondLst>
                                  <p:childTnLst>
                                    <p:set>
                                      <p:cBhvr>
                                        <p:cTn id="14" dur="1" fill="hold">
                                          <p:stCondLst>
                                            <p:cond delay="0"/>
                                          </p:stCondLst>
                                        </p:cTn>
                                        <p:tgtEl>
                                          <p:spTgt spid="25"/>
                                        </p:tgtEl>
                                        <p:attrNameLst>
                                          <p:attrName>style.visibility</p:attrName>
                                        </p:attrNameLst>
                                      </p:cBhvr>
                                      <p:to>
                                        <p:strVal val="visible"/>
                                      </p:to>
                                    </p:set>
                                    <p:animEffect transition="in" filter="wipe(right)">
                                      <p:cBhvr>
                                        <p:cTn id="15" dur="400"/>
                                        <p:tgtEl>
                                          <p:spTgt spid="25"/>
                                        </p:tgtEl>
                                      </p:cBhvr>
                                    </p:animEffect>
                                  </p:childTnLst>
                                </p:cTn>
                              </p:par>
                            </p:childTnLst>
                          </p:cTn>
                        </p:par>
                        <p:par>
                          <p:cTn id="16" fill="hold">
                            <p:stCondLst>
                              <p:cond delay="2700"/>
                            </p:stCondLst>
                            <p:childTnLst>
                              <p:par>
                                <p:cTn xmlns:p="http://schemas.openxmlformats.org/presentationml/2006/main" id="17" presetID="22" presetClass="entr" presetSubtype="2" fill="hold" grpId="0" nodeType="afterEffect">
                                  <p:stCondLst>
                                    <p:cond delay="500"/>
                                  </p:stCondLst>
                                  <p:childTnLst>
                                    <p:set>
                                      <p:cBhvr>
                                        <p:cTn id="18" dur="1" fill="hold">
                                          <p:stCondLst>
                                            <p:cond delay="0"/>
                                          </p:stCondLst>
                                        </p:cTn>
                                        <p:tgtEl>
                                          <p:spTgt spid="31"/>
                                        </p:tgtEl>
                                        <p:attrNameLst>
                                          <p:attrName>style.visibility</p:attrName>
                                        </p:attrNameLst>
                                      </p:cBhvr>
                                      <p:to>
                                        <p:strVal val="visible"/>
                                      </p:to>
                                    </p:set>
                                    <p:animEffect transition="in" filter="wipe(right)">
                                      <p:cBhvr>
                                        <p:cTn id="19" dur="400"/>
                                        <p:tgtEl>
                                          <p:spTgt spid="31"/>
                                        </p:tgtEl>
                                      </p:cBhvr>
                                    </p:animEffect>
                                  </p:childTnLst>
                                </p:cTn>
                              </p:par>
                            </p:childTnLst>
                          </p:cTn>
                        </p:par>
                        <p:par>
                          <p:cTn id="20" fill="hold">
                            <p:stCondLst>
                              <p:cond delay="3600"/>
                            </p:stCondLst>
                            <p:childTnLst>
                              <p:par>
                                <p:cTn xmlns:p="http://schemas.openxmlformats.org/presentationml/2006/main" id="21" presetID="10" presetClass="entr" presetSubtype="0" fill="hold" grpId="0" nodeType="afterEffect">
                                  <p:stCondLst>
                                    <p:cond delay="500"/>
                                  </p:stCondLst>
                                  <p:childTnLst>
                                    <p:set>
                                      <p:cBhvr>
                                        <p:cTn id="22" dur="1" fill="hold">
                                          <p:stCondLst>
                                            <p:cond delay="0"/>
                                          </p:stCondLst>
                                        </p:cTn>
                                        <p:tgtEl>
                                          <p:spTgt spid="33"/>
                                        </p:tgtEl>
                                        <p:attrNameLst>
                                          <p:attrName>style.visibility</p:attrName>
                                        </p:attrNameLst>
                                      </p:cBhvr>
                                      <p:to>
                                        <p:strVal val="visible"/>
                                      </p:to>
                                    </p:set>
                                    <p:animEffect transition="in" filter="fade">
                                      <p:cBhvr>
                                        <p:cTn id="23" dur="4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10" name="Group 10"/>
          <p:cNvGrpSpPr/>
          <p:nvPr/>
        </p:nvGrpSpPr>
        <p:grpSpPr>
          <a:xfrm>
            <a:off x="593598" y="597218"/>
            <a:ext cx="10995660" cy="878967"/>
            <a:chOff x="593598" y="597218"/>
            <a:chExt cx="10995660" cy="878967"/>
          </a:xfrm>
        </p:grpSpPr>
        <p:grpSp>
          <p:nvGrpSpPr>
            <p:cNvPr id="5" name="Group 5"/>
            <p:cNvGrpSpPr/>
            <p:nvPr/>
          </p:nvGrpSpPr>
          <p:grpSpPr>
            <a:xfrm>
              <a:off x="633412" y="614362"/>
              <a:ext cx="142875" cy="142875"/>
              <a:chOff x="633412" y="614362"/>
              <a:chExt cx="142875" cy="142875"/>
            </a:xfrm>
          </p:grpSpPr>
          <p:sp>
            <p:nvSpPr>
              <p:cNvPr id="2" name="Freeform 2"/>
              <p:cNvSpPr/>
              <p:nvPr/>
            </p:nvSpPr>
            <p:spPr>
              <a:xfrm>
                <a:off x="633412" y="614362"/>
                <a:ext cx="142875" cy="142875"/>
              </a:xfrm>
              <a:custGeom>
                <a:avLst/>
                <a:gdLst/>
                <a:ahLst/>
                <a:cxnLst/>
                <a:rect l="l" t="t" r="r" b="b"/>
                <a:pathLst>
                  <a:path w="142875" h="142875">
                    <a:moveTo>
                      <a:pt x="0" y="71437"/>
                    </a:moveTo>
                    <a:cubicBezTo>
                      <a:pt x="0" y="110891"/>
                      <a:pt x="31984" y="142875"/>
                      <a:pt x="71437" y="142875"/>
                    </a:cubicBezTo>
                    <a:cubicBezTo>
                      <a:pt x="110891" y="142875"/>
                      <a:pt x="142875" y="110891"/>
                      <a:pt x="142875" y="71437"/>
                    </a:cubicBezTo>
                    <a:cubicBezTo>
                      <a:pt x="142875" y="31984"/>
                      <a:pt x="110891" y="0"/>
                      <a:pt x="71437" y="0"/>
                    </a:cubicBezTo>
                    <a:cubicBezTo>
                      <a:pt x="31984" y="0"/>
                      <a:pt x="0" y="31984"/>
                      <a:pt x="0" y="71437"/>
                    </a:cubicBezTo>
                  </a:path>
                </a:pathLst>
              </a:custGeom>
              <a:noFill/>
              <a:ln w="15875">
                <a:solidFill>
                  <a:srgbClr val="5F6B72"/>
                </a:solidFill>
              </a:ln>
            </p:spPr>
          </p:sp>
          <p:sp>
            <p:nvSpPr>
              <p:cNvPr id="3" name="Freeform 3"/>
              <p:cNvSpPr/>
              <p:nvPr/>
            </p:nvSpPr>
            <p:spPr>
              <a:xfrm>
                <a:off x="681037" y="653853"/>
                <a:ext cx="47625" cy="63895"/>
              </a:xfrm>
              <a:custGeom>
                <a:avLst/>
                <a:gdLst/>
                <a:ahLst/>
                <a:cxnLst/>
                <a:rect l="l" t="t" r="r" b="b"/>
                <a:pathLst>
                  <a:path w="47625" h="63895">
                    <a:moveTo>
                      <a:pt x="46037" y="8135"/>
                    </a:moveTo>
                    <a:cubicBezTo>
                      <a:pt x="43107" y="3052"/>
                      <a:pt x="37613" y="0"/>
                      <a:pt x="31750" y="197"/>
                    </a:cubicBezTo>
                    <a:lnTo>
                      <a:pt x="15875" y="197"/>
                    </a:lnTo>
                    <a:cubicBezTo>
                      <a:pt x="7107" y="197"/>
                      <a:pt x="0" y="7305"/>
                      <a:pt x="0" y="16072"/>
                    </a:cubicBezTo>
                    <a:cubicBezTo>
                      <a:pt x="0" y="24840"/>
                      <a:pt x="7107" y="31947"/>
                      <a:pt x="15875" y="31947"/>
                    </a:cubicBezTo>
                    <a:lnTo>
                      <a:pt x="31750" y="31947"/>
                    </a:lnTo>
                    <a:cubicBezTo>
                      <a:pt x="40518" y="31947"/>
                      <a:pt x="47625" y="39055"/>
                      <a:pt x="47625" y="47822"/>
                    </a:cubicBezTo>
                    <a:cubicBezTo>
                      <a:pt x="47625" y="56590"/>
                      <a:pt x="40518" y="63697"/>
                      <a:pt x="31750" y="63697"/>
                    </a:cubicBezTo>
                    <a:lnTo>
                      <a:pt x="15875" y="63697"/>
                    </a:lnTo>
                    <a:cubicBezTo>
                      <a:pt x="10012" y="63895"/>
                      <a:pt x="4517" y="60842"/>
                      <a:pt x="1587" y="55760"/>
                    </a:cubicBezTo>
                  </a:path>
                </a:pathLst>
              </a:custGeom>
              <a:noFill/>
              <a:ln w="15875">
                <a:solidFill>
                  <a:srgbClr val="5F6B72"/>
                </a:solidFill>
              </a:ln>
            </p:spPr>
          </p:sp>
          <p:sp>
            <p:nvSpPr>
              <p:cNvPr id="4" name="Freeform 4"/>
              <p:cNvSpPr/>
              <p:nvPr/>
            </p:nvSpPr>
            <p:spPr>
              <a:xfrm>
                <a:off x="704850" y="646112"/>
                <a:ext cx="9525" cy="79375"/>
              </a:xfrm>
              <a:custGeom>
                <a:avLst/>
                <a:gdLst/>
                <a:ahLst/>
                <a:cxnLst/>
                <a:rect l="l" t="t" r="r" b="b"/>
                <a:pathLst>
                  <a:path w="9525" h="79375">
                    <a:moveTo>
                      <a:pt x="0" y="0"/>
                    </a:moveTo>
                    <a:lnTo>
                      <a:pt x="0" y="79375"/>
                    </a:lnTo>
                  </a:path>
                </a:pathLst>
              </a:custGeom>
              <a:noFill/>
              <a:ln w="15875">
                <a:solidFill>
                  <a:srgbClr val="5F6B72"/>
                </a:solidFill>
              </a:ln>
            </p:spPr>
          </p:sp>
        </p:grpSp>
        <p:sp>
          <p:nvSpPr>
            <p:cNvPr id="6" name="TextBox 6"/>
            <p:cNvSpPr txBox="1"/>
            <p:nvPr/>
          </p:nvSpPr>
          <p:spPr>
            <a:xfrm>
              <a:off x="888492" y="597218"/>
              <a:ext cx="868890" cy="264033"/>
            </a:xfrm>
            <a:prstGeom prst="rect">
              <a:avLst/>
            </a:prstGeom>
            <a:noFill/>
            <a:ln>
              <a:noFill/>
            </a:ln>
          </p:spPr>
          <p:txBody>
            <a:bodyPr wrap="none" lIns="0" tIns="0" rIns="0" bIns="0" anchor="t" anchorCtr="0">
              <a:spAutoFit/>
            </a:bodyPr>
            <a:lstStyle/>
            <a:p>
              <a:pPr algn="l"/>
              <a:r>
                <a:rPr lang="zh-CN" sz="1350" spc="150" dirty="0">
                  <a:solidFill>
                    <a:schemeClr val="accent5"/>
                  </a:solidFill>
                  <a:latin typeface="+mn-lt"/>
                  <a:ea typeface="+mn-ea"/>
                  <a:cs typeface="+mn-cs"/>
                </a:rPr>
                <a:t>一 · 坐标</a:t>
              </a:r>
            </a:p>
          </p:txBody>
        </p:sp>
        <p:sp>
          <p:nvSpPr>
            <p:cNvPr id="7" name="TextBox 7"/>
            <p:cNvSpPr txBox="1"/>
            <p:nvPr/>
          </p:nvSpPr>
          <p:spPr>
            <a:xfrm>
              <a:off x="593598" y="860108"/>
              <a:ext cx="2720340"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j-lt"/>
                  <a:ea typeface="+mj-ea"/>
                  <a:cs typeface="+mj-cs"/>
                </a:rPr>
                <a:t>增长从哪里来</a:t>
              </a:r>
            </a:p>
          </p:txBody>
        </p:sp>
        <p:sp>
          <p:nvSpPr>
            <p:cNvPr id="8" name="TextBox 8"/>
            <p:cNvSpPr txBox="1"/>
            <p:nvPr/>
          </p:nvSpPr>
          <p:spPr>
            <a:xfrm>
              <a:off x="7186593" y="1054418"/>
              <a:ext cx="4402665"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n-lt"/>
                  <a:ea typeface="+mn-ea"/>
                  <a:cs typeface="+mn-cs"/>
                </a:rPr>
                <a:t>三大需求对国内生产总值增长的拉动 · 单位：个百分点</a:t>
              </a:r>
            </a:p>
          </p:txBody>
        </p:sp>
        <p:sp>
          <p:nvSpPr>
            <p:cNvPr id="9" name="Rectangle 9"/>
            <p:cNvSpPr/>
            <p:nvPr/>
          </p:nvSpPr>
          <p:spPr>
            <a:xfrm>
              <a:off x="609600" y="1381125"/>
              <a:ext cx="1295400" cy="38100"/>
            </a:xfrm>
            <a:prstGeom prst="rect">
              <a:avLst/>
            </a:prstGeom>
            <a:gradFill>
              <a:gsLst>
                <a:gs pos="0">
                  <a:schemeClr val="accent1"/>
                </a:gs>
                <a:gs pos="100000">
                  <a:schemeClr val="accent2"/>
                </a:gs>
              </a:gsLst>
              <a:lin ang="0" scaled="1"/>
            </a:gradFill>
            <a:ln>
              <a:noFill/>
            </a:ln>
          </p:spPr>
        </p:sp>
      </p:grpSp>
      <p:graphicFrame>
        <p:nvGraphicFramePr>
          <p:cNvPr id="11" name="gdp-contribution"/>
          <p:cNvGraphicFramePr>
            <a:graphicFrameLocks noGrp="1"/>
          </p:cNvGraphicFramePr>
          <p:nvPr/>
        </p:nvGraphicFramePr>
        <p:xfrm>
          <a:off x="609600" y="1809750"/>
          <a:ext cx="10972800" cy="3238500"/>
        </p:xfrm>
        <a:graphic>
          <a:graphicData uri="http://schemas.microsoft.com/office/drawing/2014/chartex">
            <cx:chart xmlns:cx="http://schemas.microsoft.com/office/drawing/2014/chartex" xmlns:r="http://schemas.openxmlformats.org/officeDocument/2006/relationships" r:id="rId2"/>
          </a:graphicData>
        </a:graphic>
      </p:graphicFrame>
      <p:sp>
        <p:nvSpPr>
          <p:cNvPr id="12" name="Chart Note 12"/>
          <p:cNvSpPr txBox="1"/>
          <p:nvPr/>
        </p:nvSpPr>
        <p:spPr>
          <a:xfrm>
            <a:off x="2781300" y="3200400"/>
            <a:ext cx="590550" cy="247650"/>
          </a:xfrm>
          <a:prstGeom prst="rect">
            <a:avLst/>
          </a:prstGeom>
          <a:noFill/>
          <a:ln>
            <a:noFill/>
          </a:ln>
        </p:spPr>
        <p:txBody>
          <a:bodyPr wrap="square" lIns="0" tIns="0" rIns="0" bIns="0" anchor="t" anchorCtr="0"/>
          <a:lstStyle/>
          <a:p>
            <a:pPr algn="ctr"/>
            <a:r>
              <a:rPr lang="zh-CN" sz="1500" b="1">
                <a:solidFill>
                  <a:srgbClr val="123B57"/>
                </a:solidFill>
                <a:latin typeface="Microsoft YaHei"/>
                <a:ea typeface="Microsoft YaHei"/>
                <a:cs typeface="Microsoft YaHei"/>
              </a:rPr>
              <a:t>2.6</a:t>
            </a:r>
          </a:p>
        </p:txBody>
      </p:sp>
      <p:sp>
        <p:nvSpPr>
          <p:cNvPr id="13" name="Chart Note 13"/>
          <p:cNvSpPr txBox="1"/>
          <p:nvPr/>
        </p:nvSpPr>
        <p:spPr>
          <a:xfrm>
            <a:off x="5114925" y="2895600"/>
            <a:ext cx="590550" cy="247650"/>
          </a:xfrm>
          <a:prstGeom prst="rect">
            <a:avLst/>
          </a:prstGeom>
          <a:noFill/>
          <a:ln>
            <a:noFill/>
          </a:ln>
        </p:spPr>
        <p:txBody>
          <a:bodyPr wrap="square" lIns="0" tIns="0" rIns="0" bIns="0" anchor="t" anchorCtr="0"/>
          <a:lstStyle/>
          <a:p>
            <a:pPr algn="ctr"/>
            <a:r>
              <a:rPr lang="zh-CN" sz="1500" b="1">
                <a:solidFill>
                  <a:srgbClr val="123B57"/>
                </a:solidFill>
                <a:latin typeface="Microsoft YaHei"/>
                <a:ea typeface="Microsoft YaHei"/>
                <a:cs typeface="Microsoft YaHei"/>
              </a:rPr>
              <a:t>0.8</a:t>
            </a:r>
          </a:p>
        </p:txBody>
      </p:sp>
      <p:sp>
        <p:nvSpPr>
          <p:cNvPr id="14" name="Chart Note 14"/>
          <p:cNvSpPr txBox="1"/>
          <p:nvPr/>
        </p:nvSpPr>
        <p:spPr>
          <a:xfrm>
            <a:off x="7448550" y="2286000"/>
            <a:ext cx="590550" cy="247650"/>
          </a:xfrm>
          <a:prstGeom prst="rect">
            <a:avLst/>
          </a:prstGeom>
          <a:noFill/>
          <a:ln>
            <a:noFill/>
          </a:ln>
        </p:spPr>
        <p:txBody>
          <a:bodyPr wrap="square" lIns="0" tIns="0" rIns="0" bIns="0" anchor="t" anchorCtr="0"/>
          <a:lstStyle/>
          <a:p>
            <a:pPr algn="ctr"/>
            <a:r>
              <a:rPr lang="zh-CN" sz="1500" b="1">
                <a:solidFill>
                  <a:srgbClr val="123B57"/>
                </a:solidFill>
                <a:latin typeface="Microsoft YaHei"/>
                <a:ea typeface="Microsoft YaHei"/>
                <a:cs typeface="Microsoft YaHei"/>
              </a:rPr>
              <a:t>1.6</a:t>
            </a:r>
          </a:p>
        </p:txBody>
      </p:sp>
      <p:sp>
        <p:nvSpPr>
          <p:cNvPr id="15" name="Chart Note 15"/>
          <p:cNvSpPr txBox="1"/>
          <p:nvPr/>
        </p:nvSpPr>
        <p:spPr>
          <a:xfrm>
            <a:off x="9782175" y="2286000"/>
            <a:ext cx="590550" cy="247650"/>
          </a:xfrm>
          <a:prstGeom prst="rect">
            <a:avLst/>
          </a:prstGeom>
          <a:noFill/>
          <a:ln>
            <a:noFill/>
          </a:ln>
        </p:spPr>
        <p:txBody>
          <a:bodyPr wrap="square" lIns="0" tIns="0" rIns="0" bIns="0" anchor="t" anchorCtr="0"/>
          <a:lstStyle/>
          <a:p>
            <a:pPr algn="ctr"/>
            <a:r>
              <a:rPr lang="zh-CN" sz="1500" b="1">
                <a:solidFill>
                  <a:srgbClr val="123B57"/>
                </a:solidFill>
                <a:latin typeface="Microsoft YaHei"/>
                <a:ea typeface="Microsoft YaHei"/>
                <a:cs typeface="Microsoft YaHei"/>
              </a:rPr>
              <a:t>5.0</a:t>
            </a:r>
          </a:p>
        </p:txBody>
      </p:sp>
      <p:grpSp>
        <p:nvGrpSpPr>
          <p:cNvPr id="19" name="Group 19"/>
          <p:cNvGrpSpPr/>
          <p:nvPr/>
        </p:nvGrpSpPr>
        <p:grpSpPr>
          <a:xfrm>
            <a:off x="600456" y="5276850"/>
            <a:ext cx="10981944" cy="785051"/>
            <a:chOff x="600456" y="5276850"/>
            <a:chExt cx="10981944" cy="785051"/>
          </a:xfrm>
        </p:grpSpPr>
        <p:sp>
          <p:nvSpPr>
            <p:cNvPr id="16" name="Line 16"/>
            <p:cNvSpPr/>
            <p:nvPr/>
          </p:nvSpPr>
          <p:spPr>
            <a:xfrm>
              <a:off x="609600" y="52768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7" name="TextBox 17"/>
            <p:cNvSpPr txBox="1"/>
            <p:nvPr/>
          </p:nvSpPr>
          <p:spPr>
            <a:xfrm>
              <a:off x="600456" y="5406390"/>
              <a:ext cx="664139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 xml:space="preserve">最终消费支出拉动 </a:t>
              </a:r>
              <a:r>
                <a:rPr lang="zh-CN" sz="1800" b="1" dirty="0">
                  <a:solidFill>
                    <a:schemeClr val="accent2"/>
                  </a:solidFill>
                  <a:latin typeface="Arial"/>
                  <a:ea typeface="Arial"/>
                  <a:cs typeface="Arial"/>
                </a:rPr>
                <a:t>2.6</a:t>
              </a:r>
              <a:r>
                <a:rPr lang="zh-CN" sz="1800" dirty="0">
                  <a:solidFill>
                    <a:schemeClr val="dk1"/>
                  </a:solidFill>
                  <a:latin typeface="+mn-lt"/>
                  <a:ea typeface="+mn-ea"/>
                  <a:cs typeface="+mn-cs"/>
                </a:rPr>
                <a:t xml:space="preserve"> 个百分点，是三大需求中最大的一项。</a:t>
              </a:r>
            </a:p>
          </p:txBody>
        </p:sp>
        <p:sp>
          <p:nvSpPr>
            <p:cNvPr id="18" name="TextBox 18"/>
            <p:cNvSpPr txBox="1"/>
            <p:nvPr/>
          </p:nvSpPr>
          <p:spPr>
            <a:xfrm>
              <a:off x="602742" y="5797868"/>
              <a:ext cx="8232343"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NO DATA：公报只给出三大需求各自的拉动百分点，未给出三者各自的绝对规模，本页不作推算。</a:t>
              </a:r>
            </a:p>
          </p:txBody>
        </p:sp>
      </p:grpSp>
      <p:grpSp>
        <p:nvGrpSpPr>
          <p:cNvPr id="23" name="Group 23"/>
          <p:cNvGrpSpPr/>
          <p:nvPr/>
        </p:nvGrpSpPr>
        <p:grpSpPr>
          <a:xfrm>
            <a:off x="603504" y="6172200"/>
            <a:ext cx="10984992" cy="371856"/>
            <a:chOff x="603504" y="6172200"/>
            <a:chExt cx="10984992" cy="371856"/>
          </a:xfrm>
        </p:grpSpPr>
        <p:sp>
          <p:nvSpPr>
            <p:cNvPr id="20" name="Line 20"/>
            <p:cNvSpPr/>
            <p:nvPr/>
          </p:nvSpPr>
          <p:spPr>
            <a:xfrm>
              <a:off x="609600" y="61722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21" name="TextBox 21"/>
            <p:cNvSpPr txBox="1"/>
            <p:nvPr/>
          </p:nvSpPr>
          <p:spPr>
            <a:xfrm>
              <a:off x="603504" y="6309360"/>
              <a:ext cx="4939284"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来源：国家统计局《2025 年国民经济和社会发展统计公报》一、综合</a:t>
              </a:r>
            </a:p>
          </p:txBody>
        </p:sp>
        <p:sp>
          <p:nvSpPr>
            <p:cNvPr id="22" name="TextBox 22"/>
            <p:cNvSpPr txBox="1"/>
            <p:nvPr/>
          </p:nvSpPr>
          <p:spPr>
            <a:xfrm>
              <a:off x="11398606" y="6309360"/>
              <a:ext cx="189890"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22" presetClass="entr" presetSubtype="1"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up)">
                                      <p:cBhvr>
                                        <p:cTn id="7" dur="900"/>
                                        <p:tgtEl>
                                          <p:spTgt spid="11"/>
                                        </p:tgtEl>
                                      </p:cBhvr>
                                    </p:animEffect>
                                  </p:childTnLst>
                                </p:cTn>
                              </p:par>
                            </p:childTnLst>
                          </p:cTn>
                        </p:par>
                        <p:par>
                          <p:cTn id="8" fill="hold">
                            <p:stCondLst>
                              <p:cond delay="90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19"/>
                                        </p:tgtEl>
                                        <p:attrNameLst>
                                          <p:attrName>style.visibility</p:attrName>
                                        </p:attrNameLst>
                                      </p:cBhvr>
                                      <p:to>
                                        <p:strVal val="visible"/>
                                      </p:to>
                                    </p:set>
                                    <p:animEffect transition="in" filter="fade">
                                      <p:cBhvr>
                                        <p:cTn id="11"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p14="http://schemas.microsoft.com/office/powerpoint/2010/main">
  <p:cSld>
    <p:bg>
      <p:bgPr>
        <a:solidFill>
          <a:schemeClr val="lt1"/>
        </a:solidFill>
        <a:effectLst/>
      </p:bgPr>
    </p:bg>
    <p:spTree>
      <p:nvGrpSpPr>
        <p:cNvPr id="1" name=""/>
        <p:cNvGrpSpPr/>
        <p:nvPr/>
      </p:nvGrpSpPr>
      <p:grpSpPr>
        <a:xfrm>
          <a:off x="0" y="0"/>
          <a:ext cx="0" cy="0"/>
          <a:chOff x="0" y="0"/>
          <a:chExt cx="0" cy="0"/>
        </a:xfrm>
      </p:grpSpPr>
      <p:grpSp>
        <p:nvGrpSpPr>
          <p:cNvPr id="11" name="Group 11"/>
          <p:cNvGrpSpPr/>
          <p:nvPr/>
        </p:nvGrpSpPr>
        <p:grpSpPr>
          <a:xfrm>
            <a:off x="593598" y="597218"/>
            <a:ext cx="10995660" cy="878967"/>
            <a:chOff x="593598" y="597218"/>
            <a:chExt cx="10995660" cy="878967"/>
          </a:xfrm>
        </p:grpSpPr>
        <p:grpSp>
          <p:nvGrpSpPr>
            <p:cNvPr id="6" name="Group 6"/>
            <p:cNvGrpSpPr/>
            <p:nvPr/>
          </p:nvGrpSpPr>
          <p:grpSpPr>
            <a:xfrm>
              <a:off x="633412" y="614362"/>
              <a:ext cx="142875" cy="142875"/>
              <a:chOff x="633412" y="614362"/>
              <a:chExt cx="142875" cy="142875"/>
            </a:xfrm>
          </p:grpSpPr>
          <p:sp>
            <p:nvSpPr>
              <p:cNvPr id="2" name="Freeform 2"/>
              <p:cNvSpPr/>
              <p:nvPr/>
            </p:nvSpPr>
            <p:spPr>
              <a:xfrm>
                <a:off x="649287" y="614362"/>
                <a:ext cx="63500" cy="63500"/>
              </a:xfrm>
              <a:custGeom>
                <a:avLst/>
                <a:gdLst/>
                <a:ahLst/>
                <a:cxnLst/>
                <a:rect l="l" t="t" r="r" b="b"/>
                <a:pathLst>
                  <a:path w="63500" h="63500">
                    <a:moveTo>
                      <a:pt x="0" y="31750"/>
                    </a:moveTo>
                    <a:cubicBezTo>
                      <a:pt x="0" y="49285"/>
                      <a:pt x="14215" y="63500"/>
                      <a:pt x="31750" y="63500"/>
                    </a:cubicBezTo>
                    <a:cubicBezTo>
                      <a:pt x="49285" y="63500"/>
                      <a:pt x="63500" y="49285"/>
                      <a:pt x="63500" y="31750"/>
                    </a:cubicBezTo>
                    <a:cubicBezTo>
                      <a:pt x="63500" y="14215"/>
                      <a:pt x="49285" y="0"/>
                      <a:pt x="31750" y="0"/>
                    </a:cubicBezTo>
                    <a:cubicBezTo>
                      <a:pt x="14215" y="0"/>
                      <a:pt x="0" y="14215"/>
                      <a:pt x="0" y="31750"/>
                    </a:cubicBezTo>
                  </a:path>
                </a:pathLst>
              </a:custGeom>
              <a:noFill/>
              <a:ln w="15875">
                <a:solidFill>
                  <a:srgbClr val="5F6B72"/>
                </a:solidFill>
              </a:ln>
            </p:spPr>
          </p:sp>
          <p:sp>
            <p:nvSpPr>
              <p:cNvPr id="3" name="Freeform 3"/>
              <p:cNvSpPr/>
              <p:nvPr/>
            </p:nvSpPr>
            <p:spPr>
              <a:xfrm>
                <a:off x="633412" y="709612"/>
                <a:ext cx="95250" cy="47625"/>
              </a:xfrm>
              <a:custGeom>
                <a:avLst/>
                <a:gdLst/>
                <a:ahLst/>
                <a:cxnLst/>
                <a:rect l="l" t="t" r="r" b="b"/>
                <a:pathLst>
                  <a:path w="95250" h="47625">
                    <a:moveTo>
                      <a:pt x="0" y="47625"/>
                    </a:moveTo>
                    <a:lnTo>
                      <a:pt x="0" y="31750"/>
                    </a:lnTo>
                    <a:cubicBezTo>
                      <a:pt x="0" y="14215"/>
                      <a:pt x="14215" y="0"/>
                      <a:pt x="31750" y="0"/>
                    </a:cubicBezTo>
                    <a:lnTo>
                      <a:pt x="63500" y="0"/>
                    </a:lnTo>
                    <a:cubicBezTo>
                      <a:pt x="81035" y="0"/>
                      <a:pt x="95250" y="14215"/>
                      <a:pt x="95250" y="31750"/>
                    </a:cubicBezTo>
                    <a:lnTo>
                      <a:pt x="95250" y="47625"/>
                    </a:lnTo>
                  </a:path>
                </a:pathLst>
              </a:custGeom>
              <a:noFill/>
              <a:ln w="15875">
                <a:solidFill>
                  <a:srgbClr val="5F6B72"/>
                </a:solidFill>
              </a:ln>
            </p:spPr>
          </p:sp>
          <p:sp>
            <p:nvSpPr>
              <p:cNvPr id="4" name="Freeform 4"/>
              <p:cNvSpPr/>
              <p:nvPr/>
            </p:nvSpPr>
            <p:spPr>
              <a:xfrm>
                <a:off x="736600" y="615394"/>
                <a:ext cx="23875" cy="61516"/>
              </a:xfrm>
              <a:custGeom>
                <a:avLst/>
                <a:gdLst/>
                <a:ahLst/>
                <a:cxnLst/>
                <a:rect l="l" t="t" r="r" b="b"/>
                <a:pathLst>
                  <a:path w="23875" h="61516">
                    <a:moveTo>
                      <a:pt x="0" y="0"/>
                    </a:moveTo>
                    <a:cubicBezTo>
                      <a:pt x="14049" y="3597"/>
                      <a:pt x="23875" y="16256"/>
                      <a:pt x="23875" y="30758"/>
                    </a:cubicBezTo>
                    <a:cubicBezTo>
                      <a:pt x="23875" y="45260"/>
                      <a:pt x="14049" y="57919"/>
                      <a:pt x="0" y="61516"/>
                    </a:cubicBezTo>
                  </a:path>
                </a:pathLst>
              </a:custGeom>
              <a:noFill/>
              <a:ln w="15875">
                <a:solidFill>
                  <a:srgbClr val="5F6B72"/>
                </a:solidFill>
              </a:ln>
            </p:spPr>
          </p:sp>
          <p:sp>
            <p:nvSpPr>
              <p:cNvPr id="5" name="Freeform 5"/>
              <p:cNvSpPr/>
              <p:nvPr/>
            </p:nvSpPr>
            <p:spPr>
              <a:xfrm>
                <a:off x="752475" y="710803"/>
                <a:ext cx="23812" cy="46434"/>
              </a:xfrm>
              <a:custGeom>
                <a:avLst/>
                <a:gdLst/>
                <a:ahLst/>
                <a:cxnLst/>
                <a:rect l="l" t="t" r="r" b="b"/>
                <a:pathLst>
                  <a:path w="23812" h="46434">
                    <a:moveTo>
                      <a:pt x="23812" y="46434"/>
                    </a:moveTo>
                    <a:lnTo>
                      <a:pt x="23812" y="30559"/>
                    </a:lnTo>
                    <a:cubicBezTo>
                      <a:pt x="23730" y="16149"/>
                      <a:pt x="13953" y="3602"/>
                      <a:pt x="0" y="0"/>
                    </a:cubicBezTo>
                  </a:path>
                </a:pathLst>
              </a:custGeom>
              <a:noFill/>
              <a:ln w="15875">
                <a:solidFill>
                  <a:srgbClr val="5F6B72"/>
                </a:solidFill>
              </a:ln>
            </p:spPr>
          </p:sp>
        </p:grpSp>
        <p:sp>
          <p:nvSpPr>
            <p:cNvPr id="7" name="TextBox 7"/>
            <p:cNvSpPr txBox="1"/>
            <p:nvPr/>
          </p:nvSpPr>
          <p:spPr>
            <a:xfrm>
              <a:off x="888492" y="597218"/>
              <a:ext cx="666960" cy="264033"/>
            </a:xfrm>
            <a:prstGeom prst="rect">
              <a:avLst/>
            </a:prstGeom>
            <a:noFill/>
            <a:ln>
              <a:noFill/>
            </a:ln>
          </p:spPr>
          <p:txBody>
            <a:bodyPr wrap="none" lIns="0" tIns="0" rIns="0" bIns="0" anchor="t" anchorCtr="0">
              <a:spAutoFit/>
            </a:bodyPr>
            <a:lstStyle/>
            <a:p>
              <a:pPr algn="l"/>
              <a:r>
                <a:rPr lang="zh-CN" sz="1350" spc="150" dirty="0">
                  <a:solidFill>
                    <a:schemeClr val="accent5"/>
                  </a:solidFill>
                  <a:latin typeface="+mn-lt"/>
                  <a:ea typeface="+mn-ea"/>
                  <a:cs typeface="+mn-cs"/>
                </a:rPr>
                <a:t>二 · 人</a:t>
              </a:r>
            </a:p>
          </p:txBody>
        </p:sp>
        <p:sp>
          <p:nvSpPr>
            <p:cNvPr id="8" name="TextBox 8"/>
            <p:cNvSpPr txBox="1"/>
            <p:nvPr/>
          </p:nvSpPr>
          <p:spPr>
            <a:xfrm>
              <a:off x="593598" y="860108"/>
              <a:ext cx="3616452"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j-lt"/>
                  <a:ea typeface="+mj-ea"/>
                  <a:cs typeface="+mj-cs"/>
                </a:rPr>
                <a:t>人口：总量与结构</a:t>
              </a:r>
            </a:p>
          </p:txBody>
        </p:sp>
        <p:sp>
          <p:nvSpPr>
            <p:cNvPr id="9" name="TextBox 9"/>
            <p:cNvSpPr txBox="1"/>
            <p:nvPr/>
          </p:nvSpPr>
          <p:spPr>
            <a:xfrm>
              <a:off x="9303830" y="1054418"/>
              <a:ext cx="2285428"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n-lt"/>
                  <a:ea typeface="+mn-ea"/>
                  <a:cs typeface="+mn-cs"/>
                </a:rPr>
                <a:t>2025 年年末人口数及其构成</a:t>
              </a:r>
            </a:p>
          </p:txBody>
        </p:sp>
        <p:sp>
          <p:nvSpPr>
            <p:cNvPr id="10" name="Rectangle 10"/>
            <p:cNvSpPr/>
            <p:nvPr/>
          </p:nvSpPr>
          <p:spPr>
            <a:xfrm>
              <a:off x="609600" y="1381125"/>
              <a:ext cx="1295400" cy="38100"/>
            </a:xfrm>
            <a:prstGeom prst="rect">
              <a:avLst/>
            </a:prstGeom>
            <a:gradFill>
              <a:gsLst>
                <a:gs pos="0">
                  <a:schemeClr val="accent1"/>
                </a:gs>
                <a:gs pos="100000">
                  <a:schemeClr val="accent2"/>
                </a:gs>
              </a:gsLst>
              <a:lin ang="0" scaled="1"/>
            </a:gradFill>
            <a:ln>
              <a:noFill/>
            </a:ln>
          </p:spPr>
        </p:sp>
      </p:grpSp>
      <p:grpSp>
        <p:nvGrpSpPr>
          <p:cNvPr id="15" name="!!population-hero"/>
          <p:cNvGrpSpPr/>
          <p:nvPr/>
        </p:nvGrpSpPr>
        <p:grpSpPr>
          <a:xfrm>
            <a:off x="590550" y="1863090"/>
            <a:ext cx="3060173" cy="1533144"/>
            <a:chOff x="590550" y="1863090"/>
            <a:chExt cx="3060173" cy="1533144"/>
          </a:xfrm>
        </p:grpSpPr>
        <p:sp>
          <p:nvSpPr>
            <p:cNvPr id="12" name="TextBox 12"/>
            <p:cNvSpPr txBox="1"/>
            <p:nvPr/>
          </p:nvSpPr>
          <p:spPr>
            <a:xfrm>
              <a:off x="600456" y="1863090"/>
              <a:ext cx="1472184"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年末全国人口</a:t>
              </a:r>
            </a:p>
          </p:txBody>
        </p:sp>
        <p:sp>
          <p:nvSpPr>
            <p:cNvPr id="13" name="TextBox 13"/>
            <p:cNvSpPr txBox="1"/>
            <p:nvPr/>
          </p:nvSpPr>
          <p:spPr>
            <a:xfrm>
              <a:off x="590550" y="2274570"/>
              <a:ext cx="2699553" cy="1047750"/>
            </a:xfrm>
            <a:prstGeom prst="rect">
              <a:avLst/>
            </a:prstGeom>
            <a:noFill/>
            <a:ln>
              <a:noFill/>
            </a:ln>
          </p:spPr>
          <p:txBody>
            <a:bodyPr wrap="none" lIns="0" tIns="0" rIns="0" bIns="0" anchor="t" anchorCtr="0">
              <a:spAutoFit/>
            </a:bodyPr>
            <a:lstStyle/>
            <a:p>
              <a:pPr algn="l"/>
              <a:r>
                <a:rPr lang="zh-CN" sz="5400" b="1" dirty="0">
                  <a:solidFill>
                    <a:schemeClr val="accent1"/>
                  </a:solidFill>
                  <a:latin typeface="Times New Roman"/>
                  <a:ea typeface="Times New Roman"/>
                  <a:cs typeface="Times New Roman"/>
                </a:rPr>
                <a:t>140489</a:t>
              </a:r>
            </a:p>
          </p:txBody>
        </p:sp>
        <p:sp>
          <p:nvSpPr>
            <p:cNvPr id="14" name="TextBox 14"/>
            <p:cNvSpPr txBox="1"/>
            <p:nvPr/>
          </p:nvSpPr>
          <p:spPr>
            <a:xfrm>
              <a:off x="600456" y="3044190"/>
              <a:ext cx="3050267"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万人 · 较上年末</a:t>
              </a:r>
              <a:r>
                <a:rPr lang="zh-CN" sz="1800" b="1" dirty="0">
                  <a:solidFill>
                    <a:schemeClr val="accent2"/>
                  </a:solidFill>
                  <a:latin typeface="+mn-lt"/>
                  <a:ea typeface="+mn-ea"/>
                  <a:cs typeface="+mn-cs"/>
                </a:rPr>
                <a:t>减少 339 万</a:t>
              </a:r>
            </a:p>
          </p:txBody>
        </p:sp>
      </p:grpSp>
      <p:grpSp>
        <p:nvGrpSpPr>
          <p:cNvPr id="22" name="Group 22"/>
          <p:cNvGrpSpPr/>
          <p:nvPr/>
        </p:nvGrpSpPr>
        <p:grpSpPr>
          <a:xfrm>
            <a:off x="600456" y="3657600"/>
            <a:ext cx="3514344" cy="2309051"/>
            <a:chOff x="600456" y="3657600"/>
            <a:chExt cx="3514344" cy="2309051"/>
          </a:xfrm>
        </p:grpSpPr>
        <p:sp>
          <p:nvSpPr>
            <p:cNvPr id="16" name="Line 16"/>
            <p:cNvSpPr/>
            <p:nvPr/>
          </p:nvSpPr>
          <p:spPr>
            <a:xfrm>
              <a:off x="609600" y="3657600"/>
              <a:ext cx="3505200" cy="9525"/>
            </a:xfrm>
            <a:custGeom>
              <a:avLst/>
              <a:gdLst/>
              <a:ahLst/>
              <a:cxnLst/>
              <a:rect l="l" t="t" r="r" b="b"/>
              <a:pathLst>
                <a:path w="3505200" h="9525">
                  <a:moveTo>
                    <a:pt x="0" y="0"/>
                  </a:moveTo>
                  <a:lnTo>
                    <a:pt x="3505200" y="0"/>
                  </a:lnTo>
                </a:path>
              </a:pathLst>
            </a:custGeom>
            <a:noFill/>
            <a:ln w="9525">
              <a:solidFill>
                <a:schemeClr val="accent6"/>
              </a:solidFill>
            </a:ln>
          </p:spPr>
        </p:sp>
        <p:sp>
          <p:nvSpPr>
            <p:cNvPr id="17" name="TextBox 17"/>
            <p:cNvSpPr txBox="1"/>
            <p:nvPr/>
          </p:nvSpPr>
          <p:spPr>
            <a:xfrm>
              <a:off x="600456" y="3787140"/>
              <a:ext cx="1472184"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城镇常住人口</a:t>
              </a:r>
            </a:p>
          </p:txBody>
        </p:sp>
        <p:sp>
          <p:nvSpPr>
            <p:cNvPr id="18" name="TextBox 18"/>
            <p:cNvSpPr txBox="1"/>
            <p:nvPr/>
          </p:nvSpPr>
          <p:spPr>
            <a:xfrm>
              <a:off x="601980" y="4143375"/>
              <a:ext cx="2153174" cy="293370"/>
            </a:xfrm>
            <a:prstGeom prst="rect">
              <a:avLst/>
            </a:prstGeom>
            <a:noFill/>
            <a:ln>
              <a:noFill/>
            </a:ln>
          </p:spPr>
          <p:txBody>
            <a:bodyPr wrap="none" lIns="0" tIns="0" rIns="0" bIns="0" anchor="t" anchorCtr="0">
              <a:spAutoFit/>
            </a:bodyPr>
            <a:lstStyle/>
            <a:p>
              <a:pPr algn="l"/>
              <a:r>
                <a:rPr lang="zh-CN" sz="1500" b="1" dirty="0">
                  <a:solidFill>
                    <a:schemeClr val="accent1"/>
                  </a:solidFill>
                  <a:latin typeface="Arial"/>
                  <a:ea typeface="Arial"/>
                  <a:cs typeface="Arial"/>
                </a:rPr>
                <a:t>95380</a:t>
              </a:r>
              <a:r>
                <a:rPr lang="zh-CN" sz="1500" dirty="0">
                  <a:solidFill>
                    <a:schemeClr val="accent5"/>
                  </a:solidFill>
                  <a:latin typeface="+mn-lt"/>
                  <a:ea typeface="+mn-ea"/>
                  <a:cs typeface="+mn-cs"/>
                </a:rPr>
                <a:t xml:space="preserve"> 万人 · 占 67.9%</a:t>
              </a:r>
            </a:p>
          </p:txBody>
        </p:sp>
        <p:sp>
          <p:nvSpPr>
            <p:cNvPr id="19" name="TextBox 19"/>
            <p:cNvSpPr txBox="1"/>
            <p:nvPr/>
          </p:nvSpPr>
          <p:spPr>
            <a:xfrm>
              <a:off x="600456" y="4663440"/>
              <a:ext cx="1472184"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乡村常住人口</a:t>
              </a:r>
            </a:p>
          </p:txBody>
        </p:sp>
        <p:sp>
          <p:nvSpPr>
            <p:cNvPr id="20" name="TextBox 20"/>
            <p:cNvSpPr txBox="1"/>
            <p:nvPr/>
          </p:nvSpPr>
          <p:spPr>
            <a:xfrm>
              <a:off x="601980" y="5019675"/>
              <a:ext cx="2153174" cy="293370"/>
            </a:xfrm>
            <a:prstGeom prst="rect">
              <a:avLst/>
            </a:prstGeom>
            <a:noFill/>
            <a:ln>
              <a:noFill/>
            </a:ln>
          </p:spPr>
          <p:txBody>
            <a:bodyPr wrap="none" lIns="0" tIns="0" rIns="0" bIns="0" anchor="t" anchorCtr="0">
              <a:spAutoFit/>
            </a:bodyPr>
            <a:lstStyle/>
            <a:p>
              <a:pPr algn="l"/>
              <a:r>
                <a:rPr lang="zh-CN" sz="1500" b="1" dirty="0">
                  <a:solidFill>
                    <a:schemeClr val="accent1"/>
                  </a:solidFill>
                  <a:latin typeface="Arial"/>
                  <a:ea typeface="Arial"/>
                  <a:cs typeface="Arial"/>
                </a:rPr>
                <a:t>45109</a:t>
              </a:r>
              <a:r>
                <a:rPr lang="zh-CN" sz="1500" dirty="0">
                  <a:solidFill>
                    <a:schemeClr val="accent5"/>
                  </a:solidFill>
                  <a:latin typeface="+mn-lt"/>
                  <a:ea typeface="+mn-ea"/>
                  <a:cs typeface="+mn-cs"/>
                </a:rPr>
                <a:t xml:space="preserve"> 万人 · 占 32.1%</a:t>
              </a:r>
            </a:p>
          </p:txBody>
        </p:sp>
        <p:sp>
          <p:nvSpPr>
            <p:cNvPr id="21" name="TextBox 21"/>
            <p:cNvSpPr txBox="1"/>
            <p:nvPr/>
          </p:nvSpPr>
          <p:spPr>
            <a:xfrm>
              <a:off x="602742" y="5454968"/>
              <a:ext cx="2756916"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accent5"/>
                  </a:solidFill>
                  <a:latin typeface="+mn-lt"/>
                  <a:ea typeface="+mn-ea"/>
                  <a:cs typeface="+mn-cs"/>
                </a:rPr>
                <a:t>口径：全国人口指大陆 31 个省、</a:t>
              </a:r>
              <a:br/>
              <a:r>
                <a:rPr lang="zh-CN" sz="1350" dirty="0">
                  <a:solidFill>
                    <a:schemeClr val="accent5"/>
                  </a:solidFill>
                  <a:latin typeface="+mn-lt"/>
                  <a:ea typeface="+mn-ea"/>
                  <a:cs typeface="+mn-cs"/>
                </a:rPr>
                <a:t>自治区、直辖市和现役军人的人口。</a:t>
              </a:r>
            </a:p>
          </p:txBody>
        </p:sp>
      </p:grpSp>
      <p:graphicFrame>
        <p:nvGraphicFramePr>
          <p:cNvPr id="23" name="population-structure-table"/>
          <p:cNvGraphicFramePr>
            <a:graphicFrameLocks noGrp="1"/>
          </p:cNvGraphicFramePr>
          <p:nvPr/>
        </p:nvGraphicFramePr>
        <p:xfrm>
          <a:off x="4267200" y="1905000"/>
          <a:ext cx="7315200" cy="3810000"/>
        </p:xfrm>
        <a:graphic>
          <a:graphicData uri="http://schemas.openxmlformats.org/drawingml/2006/table">
            <a:tbl>
              <a:tblPr firstRow="1" bandRow="0">
                <a:tableStyleId>{5C22544A-7EE6-4342-B048-85BDC9FD1C3A}</a:tableStyleId>
              </a:tblPr>
              <a:tblGrid>
                <a:gridCol w="3619500"/>
                <a:gridCol w="1905000"/>
                <a:gridCol w="1790700"/>
              </a:tblGrid>
              <a:tr h="381000">
                <a:tc>
                  <a:txBody>
                    <a:bodyPr/>
                    <a:lstStyle/>
                    <a:p>
                      <a:pPr/>
                      <a:r>
                        <a:rPr lang="zh-CN" sz="1500" b="1">
                          <a:solidFill>
                            <a:srgbClr val="FFFFFF"/>
                          </a:solidFill>
                          <a:latin typeface="Microsoft YaHei"/>
                          <a:ea typeface="Microsoft YaHei"/>
                          <a:cs typeface="Microsoft YaHei"/>
                        </a:rPr>
                        <a:t>指标</a:t>
                      </a:r>
                    </a:p>
                  </a:txBody>
                  <a:tcPr anchor="ctr" marL="76200" marR="76200" marT="76200" marB="76200">
                    <a:lnL>
                      <a:noFill/>
                    </a:lnL>
                    <a:lnR>
                      <a:noFill/>
                    </a:lnR>
                    <a:lnT>
                      <a:noFill/>
                    </a:lnT>
                    <a:lnB w="9525">
                      <a:solidFill>
                        <a:schemeClr val="accent6"/>
                      </a:solidFill>
                      <a:prstDash val="solid"/>
                    </a:lnB>
                    <a:solidFill>
                      <a:schemeClr val="accent1"/>
                    </a:solidFill>
                  </a:tcPr>
                </a:tc>
                <a:tc>
                  <a:txBody>
                    <a:bodyPr/>
                    <a:lstStyle/>
                    <a:p>
                      <a:pPr algn="r"/>
                      <a:r>
                        <a:rPr lang="zh-CN" sz="1500" b="1">
                          <a:solidFill>
                            <a:srgbClr val="FFFFFF"/>
                          </a:solidFill>
                          <a:latin typeface="Microsoft YaHei"/>
                          <a:ea typeface="Microsoft YaHei"/>
                          <a:cs typeface="Microsoft YaHei"/>
                        </a:rPr>
                        <a:t>年末数（万人）</a:t>
                      </a:r>
                    </a:p>
                  </a:txBody>
                  <a:tcPr anchor="ctr" marL="76200" marR="76200" marT="76200" marB="76200">
                    <a:lnL>
                      <a:noFill/>
                    </a:lnL>
                    <a:lnR>
                      <a:noFill/>
                    </a:lnR>
                    <a:lnT>
                      <a:noFill/>
                    </a:lnT>
                    <a:lnB w="9525">
                      <a:solidFill>
                        <a:schemeClr val="accent6"/>
                      </a:solidFill>
                      <a:prstDash val="solid"/>
                    </a:lnB>
                    <a:solidFill>
                      <a:schemeClr val="accent1"/>
                    </a:solidFill>
                  </a:tcPr>
                </a:tc>
                <a:tc>
                  <a:txBody>
                    <a:bodyPr/>
                    <a:lstStyle/>
                    <a:p>
                      <a:pPr algn="r"/>
                      <a:r>
                        <a:rPr lang="zh-CN" sz="1500" b="1">
                          <a:solidFill>
                            <a:srgbClr val="FFFFFF"/>
                          </a:solidFill>
                          <a:latin typeface="Microsoft YaHei"/>
                          <a:ea typeface="Microsoft YaHei"/>
                          <a:cs typeface="Microsoft YaHei"/>
                        </a:rPr>
                        <a:t>比重（%）</a:t>
                      </a:r>
                    </a:p>
                  </a:txBody>
                  <a:tcPr anchor="ctr" marL="76200" marR="76200" marT="76200" marB="76200">
                    <a:lnL>
                      <a:noFill/>
                    </a:lnL>
                    <a:lnR>
                      <a:noFill/>
                    </a:lnR>
                    <a:lnT>
                      <a:noFill/>
                    </a:lnT>
                    <a:lnB w="9525">
                      <a:solidFill>
                        <a:schemeClr val="accent6"/>
                      </a:solidFill>
                      <a:prstDash val="solid"/>
                    </a:lnB>
                    <a:solidFill>
                      <a:schemeClr val="accent1"/>
                    </a:solidFill>
                  </a:tcPr>
                </a:tc>
              </a:tr>
              <a:tr h="381000">
                <a:tc>
                  <a:txBody>
                    <a:bodyPr/>
                    <a:lstStyle/>
                    <a:p>
                      <a:pPr/>
                      <a:r>
                        <a:rPr lang="zh-CN" sz="1500" b="1">
                          <a:solidFill>
                            <a:schemeClr val="dk1"/>
                          </a:solidFill>
                          <a:latin typeface="Microsoft YaHei"/>
                          <a:ea typeface="Microsoft YaHei"/>
                          <a:cs typeface="Microsoft YaHei"/>
                        </a:rPr>
                        <a:t>全国人口</a:t>
                      </a:r>
                    </a:p>
                  </a:txBody>
                  <a:tcPr anchor="ctr" marL="76200" marR="76200" marT="76200" marB="76200">
                    <a:lnL>
                      <a:noFill/>
                    </a:lnL>
                    <a:lnR>
                      <a:noFill/>
                    </a:lnR>
                    <a:lnT>
                      <a:noFill/>
                    </a:lnT>
                    <a:lnB w="9525">
                      <a:solidFill>
                        <a:schemeClr val="accent6"/>
                      </a:solidFill>
                      <a:prstDash val="solid"/>
                    </a:lnB>
                    <a:solidFill>
                      <a:schemeClr val="lt2"/>
                    </a:solidFill>
                  </a:tcPr>
                </a:tc>
                <a:tc>
                  <a:txBody>
                    <a:bodyPr/>
                    <a:lstStyle/>
                    <a:p>
                      <a:pPr algn="r"/>
                      <a:r>
                        <a:rPr lang="zh-CN" sz="1500" b="1">
                          <a:solidFill>
                            <a:schemeClr val="dk1"/>
                          </a:solidFill>
                          <a:latin typeface="Microsoft YaHei"/>
                          <a:ea typeface="Microsoft YaHei"/>
                          <a:cs typeface="Microsoft YaHei"/>
                        </a:rPr>
                        <a:t>140489</a:t>
                      </a:r>
                    </a:p>
                  </a:txBody>
                  <a:tcPr anchor="ctr" marL="76200" marR="76200" marT="76200" marB="76200">
                    <a:lnL>
                      <a:noFill/>
                    </a:lnL>
                    <a:lnR>
                      <a:noFill/>
                    </a:lnR>
                    <a:lnT>
                      <a:noFill/>
                    </a:lnT>
                    <a:lnB w="9525">
                      <a:solidFill>
                        <a:schemeClr val="accent6"/>
                      </a:solidFill>
                      <a:prstDash val="solid"/>
                    </a:lnB>
                    <a:solidFill>
                      <a:schemeClr val="lt2"/>
                    </a:solidFill>
                  </a:tcPr>
                </a:tc>
                <a:tc>
                  <a:txBody>
                    <a:bodyPr/>
                    <a:lstStyle/>
                    <a:p>
                      <a:pPr algn="r"/>
                      <a:r>
                        <a:rPr lang="zh-CN" sz="1500" b="1">
                          <a:solidFill>
                            <a:schemeClr val="dk1"/>
                          </a:solidFill>
                          <a:latin typeface="Microsoft YaHei"/>
                          <a:ea typeface="Microsoft YaHei"/>
                          <a:cs typeface="Microsoft YaHei"/>
                        </a:rPr>
                        <a:t>100.0</a:t>
                      </a:r>
                    </a:p>
                  </a:txBody>
                  <a:tcPr anchor="ctr" marL="76200" marR="76200" marT="76200" marB="76200">
                    <a:lnL>
                      <a:noFill/>
                    </a:lnL>
                    <a:lnR>
                      <a:noFill/>
                    </a:lnR>
                    <a:lnT>
                      <a:noFill/>
                    </a:lnT>
                    <a:lnB w="9525">
                      <a:solidFill>
                        <a:schemeClr val="accent6"/>
                      </a:solidFill>
                      <a:prstDash val="solid"/>
                    </a:lnB>
                    <a:solidFill>
                      <a:schemeClr val="lt2"/>
                    </a:solidFill>
                  </a:tcPr>
                </a:tc>
              </a:tr>
              <a:tr h="381000">
                <a:tc>
                  <a:txBody>
                    <a:bodyPr/>
                    <a:lstStyle/>
                    <a:p>
                      <a:pPr/>
                      <a:r>
                        <a:rPr lang="zh-CN" sz="1500" b="0">
                          <a:solidFill>
                            <a:schemeClr val="dk1"/>
                          </a:solidFill>
                          <a:latin typeface="Microsoft YaHei"/>
                          <a:ea typeface="Microsoft YaHei"/>
                          <a:cs typeface="Microsoft YaHei"/>
                        </a:rPr>
                        <a:t>其中：城镇</a:t>
                      </a:r>
                    </a:p>
                  </a:txBody>
                  <a:tcPr anchor="ctr" marL="76200" marR="76200" marT="76200" marB="76200">
                    <a:lnL>
                      <a:noFill/>
                    </a:lnL>
                    <a:lnR>
                      <a:noFill/>
                    </a:lnR>
                    <a:lnT>
                      <a:noFill/>
                    </a:lnT>
                    <a:lnB w="9525">
                      <a:solidFill>
                        <a:schemeClr val="accent6"/>
                      </a:solidFill>
                      <a:prstDash val="solid"/>
                    </a:lnB>
                    <a:solidFill>
                      <a:schemeClr val="lt2"/>
                    </a:solidFill>
                  </a:tcPr>
                </a:tc>
                <a:tc>
                  <a:txBody>
                    <a:bodyPr/>
                    <a:lstStyle/>
                    <a:p>
                      <a:pPr algn="r"/>
                      <a:r>
                        <a:rPr lang="zh-CN" sz="1500" b="0">
                          <a:solidFill>
                            <a:schemeClr val="dk1"/>
                          </a:solidFill>
                          <a:latin typeface="Microsoft YaHei"/>
                          <a:ea typeface="Microsoft YaHei"/>
                          <a:cs typeface="Microsoft YaHei"/>
                        </a:rPr>
                        <a:t>95380</a:t>
                      </a:r>
                    </a:p>
                  </a:txBody>
                  <a:tcPr anchor="ctr" marL="76200" marR="76200" marT="76200" marB="76200">
                    <a:lnL>
                      <a:noFill/>
                    </a:lnL>
                    <a:lnR>
                      <a:noFill/>
                    </a:lnR>
                    <a:lnT>
                      <a:noFill/>
                    </a:lnT>
                    <a:lnB w="9525">
                      <a:solidFill>
                        <a:schemeClr val="accent6"/>
                      </a:solidFill>
                      <a:prstDash val="solid"/>
                    </a:lnB>
                    <a:solidFill>
                      <a:schemeClr val="lt2"/>
                    </a:solidFill>
                  </a:tcPr>
                </a:tc>
                <a:tc>
                  <a:txBody>
                    <a:bodyPr/>
                    <a:lstStyle/>
                    <a:p>
                      <a:pPr algn="r"/>
                      <a:r>
                        <a:rPr lang="zh-CN" sz="1500" b="0">
                          <a:solidFill>
                            <a:schemeClr val="dk1"/>
                          </a:solidFill>
                          <a:latin typeface="Microsoft YaHei"/>
                          <a:ea typeface="Microsoft YaHei"/>
                          <a:cs typeface="Microsoft YaHei"/>
                        </a:rPr>
                        <a:t>67.9</a:t>
                      </a:r>
                    </a:p>
                  </a:txBody>
                  <a:tcPr anchor="ctr" marL="76200" marR="76200" marT="76200" marB="76200">
                    <a:lnL>
                      <a:noFill/>
                    </a:lnL>
                    <a:lnR>
                      <a:noFill/>
                    </a:lnR>
                    <a:lnT>
                      <a:noFill/>
                    </a:lnT>
                    <a:lnB w="9525">
                      <a:solidFill>
                        <a:schemeClr val="accent6"/>
                      </a:solidFill>
                      <a:prstDash val="solid"/>
                    </a:lnB>
                    <a:solidFill>
                      <a:schemeClr val="lt2"/>
                    </a:solidFill>
                  </a:tcPr>
                </a:tc>
              </a:tr>
              <a:tr h="381000">
                <a:tc>
                  <a:txBody>
                    <a:bodyPr/>
                    <a:lstStyle/>
                    <a:p>
                      <a:pPr/>
                      <a:r>
                        <a:rPr lang="zh-CN" sz="1500" b="0">
                          <a:solidFill>
                            <a:schemeClr val="dk1"/>
                          </a:solidFill>
                          <a:latin typeface="Microsoft YaHei"/>
                          <a:ea typeface="Microsoft YaHei"/>
                          <a:cs typeface="Microsoft YaHei"/>
                        </a:rPr>
                        <a:t xml:space="preserve">　　　乡村</a:t>
                      </a:r>
                    </a:p>
                  </a:txBody>
                  <a:tcPr anchor="ctr" marL="76200" marR="76200" marT="76200" marB="76200">
                    <a:lnL>
                      <a:noFill/>
                    </a:lnL>
                    <a:lnR>
                      <a:noFill/>
                    </a:lnR>
                    <a:lnT>
                      <a:noFill/>
                    </a:lnT>
                    <a:lnB w="9525">
                      <a:solidFill>
                        <a:schemeClr val="accent6"/>
                      </a:solidFill>
                      <a:prstDash val="solid"/>
                    </a:lnB>
                    <a:solidFill>
                      <a:schemeClr val="lt2"/>
                    </a:solidFill>
                  </a:tcPr>
                </a:tc>
                <a:tc>
                  <a:txBody>
                    <a:bodyPr/>
                    <a:lstStyle/>
                    <a:p>
                      <a:pPr algn="r"/>
                      <a:r>
                        <a:rPr lang="zh-CN" sz="1500" b="0">
                          <a:solidFill>
                            <a:schemeClr val="dk1"/>
                          </a:solidFill>
                          <a:latin typeface="Microsoft YaHei"/>
                          <a:ea typeface="Microsoft YaHei"/>
                          <a:cs typeface="Microsoft YaHei"/>
                        </a:rPr>
                        <a:t>45109</a:t>
                      </a:r>
                    </a:p>
                  </a:txBody>
                  <a:tcPr anchor="ctr" marL="76200" marR="76200" marT="76200" marB="76200">
                    <a:lnL>
                      <a:noFill/>
                    </a:lnL>
                    <a:lnR>
                      <a:noFill/>
                    </a:lnR>
                    <a:lnT>
                      <a:noFill/>
                    </a:lnT>
                    <a:lnB w="9525">
                      <a:solidFill>
                        <a:schemeClr val="accent6"/>
                      </a:solidFill>
                      <a:prstDash val="solid"/>
                    </a:lnB>
                    <a:solidFill>
                      <a:schemeClr val="lt2"/>
                    </a:solidFill>
                  </a:tcPr>
                </a:tc>
                <a:tc>
                  <a:txBody>
                    <a:bodyPr/>
                    <a:lstStyle/>
                    <a:p>
                      <a:pPr algn="r"/>
                      <a:r>
                        <a:rPr lang="zh-CN" sz="1500" b="0">
                          <a:solidFill>
                            <a:schemeClr val="dk1"/>
                          </a:solidFill>
                          <a:latin typeface="Microsoft YaHei"/>
                          <a:ea typeface="Microsoft YaHei"/>
                          <a:cs typeface="Microsoft YaHei"/>
                        </a:rPr>
                        <a:t>32.1</a:t>
                      </a:r>
                    </a:p>
                  </a:txBody>
                  <a:tcPr anchor="ctr" marL="76200" marR="76200" marT="76200" marB="76200">
                    <a:lnL>
                      <a:noFill/>
                    </a:lnL>
                    <a:lnR>
                      <a:noFill/>
                    </a:lnR>
                    <a:lnT>
                      <a:noFill/>
                    </a:lnT>
                    <a:lnB w="9525">
                      <a:solidFill>
                        <a:schemeClr val="accent6"/>
                      </a:solidFill>
                      <a:prstDash val="solid"/>
                    </a:lnB>
                    <a:solidFill>
                      <a:schemeClr val="lt2"/>
                    </a:solidFill>
                  </a:tcPr>
                </a:tc>
              </a:tr>
              <a:tr h="381000">
                <a:tc>
                  <a:txBody>
                    <a:bodyPr/>
                    <a:lstStyle/>
                    <a:p>
                      <a:pPr/>
                      <a:r>
                        <a:rPr lang="zh-CN" sz="1500" b="0">
                          <a:solidFill>
                            <a:schemeClr val="dk1"/>
                          </a:solidFill>
                          <a:latin typeface="Microsoft YaHei"/>
                          <a:ea typeface="Microsoft YaHei"/>
                          <a:cs typeface="Microsoft YaHei"/>
                        </a:rPr>
                        <a:t>其中：男性</a:t>
                      </a:r>
                    </a:p>
                  </a:txBody>
                  <a:tcPr anchor="ctr" marL="76200" marR="76200" marT="76200" marB="76200">
                    <a:lnL>
                      <a:noFill/>
                    </a:lnL>
                    <a:lnR>
                      <a:noFill/>
                    </a:lnR>
                    <a:lnT>
                      <a:noFill/>
                    </a:lnT>
                    <a:lnB w="9525">
                      <a:solidFill>
                        <a:schemeClr val="accent6"/>
                      </a:solidFill>
                      <a:prstDash val="solid"/>
                    </a:lnB>
                    <a:solidFill>
                      <a:schemeClr val="lt2"/>
                    </a:solidFill>
                  </a:tcPr>
                </a:tc>
                <a:tc>
                  <a:txBody>
                    <a:bodyPr/>
                    <a:lstStyle/>
                    <a:p>
                      <a:pPr algn="r"/>
                      <a:r>
                        <a:rPr lang="zh-CN" sz="1500" b="0">
                          <a:solidFill>
                            <a:schemeClr val="dk1"/>
                          </a:solidFill>
                          <a:latin typeface="Microsoft YaHei"/>
                          <a:ea typeface="Microsoft YaHei"/>
                          <a:cs typeface="Microsoft YaHei"/>
                        </a:rPr>
                        <a:t>71685</a:t>
                      </a:r>
                    </a:p>
                  </a:txBody>
                  <a:tcPr anchor="ctr" marL="76200" marR="76200" marT="76200" marB="76200">
                    <a:lnL>
                      <a:noFill/>
                    </a:lnL>
                    <a:lnR>
                      <a:noFill/>
                    </a:lnR>
                    <a:lnT>
                      <a:noFill/>
                    </a:lnT>
                    <a:lnB w="9525">
                      <a:solidFill>
                        <a:schemeClr val="accent6"/>
                      </a:solidFill>
                      <a:prstDash val="solid"/>
                    </a:lnB>
                    <a:solidFill>
                      <a:schemeClr val="lt2"/>
                    </a:solidFill>
                  </a:tcPr>
                </a:tc>
                <a:tc>
                  <a:txBody>
                    <a:bodyPr/>
                    <a:lstStyle/>
                    <a:p>
                      <a:pPr algn="r"/>
                      <a:r>
                        <a:rPr lang="zh-CN" sz="1500" b="0">
                          <a:solidFill>
                            <a:schemeClr val="dk1"/>
                          </a:solidFill>
                          <a:latin typeface="Microsoft YaHei"/>
                          <a:ea typeface="Microsoft YaHei"/>
                          <a:cs typeface="Microsoft YaHei"/>
                        </a:rPr>
                        <a:t>51.0</a:t>
                      </a:r>
                    </a:p>
                  </a:txBody>
                  <a:tcPr anchor="ctr" marL="76200" marR="76200" marT="76200" marB="76200">
                    <a:lnL>
                      <a:noFill/>
                    </a:lnL>
                    <a:lnR>
                      <a:noFill/>
                    </a:lnR>
                    <a:lnT>
                      <a:noFill/>
                    </a:lnT>
                    <a:lnB w="9525">
                      <a:solidFill>
                        <a:schemeClr val="accent6"/>
                      </a:solidFill>
                      <a:prstDash val="solid"/>
                    </a:lnB>
                    <a:solidFill>
                      <a:schemeClr val="lt2"/>
                    </a:solidFill>
                  </a:tcPr>
                </a:tc>
              </a:tr>
              <a:tr h="381000">
                <a:tc>
                  <a:txBody>
                    <a:bodyPr/>
                    <a:lstStyle/>
                    <a:p>
                      <a:pPr/>
                      <a:r>
                        <a:rPr lang="zh-CN" sz="1500" b="0">
                          <a:solidFill>
                            <a:schemeClr val="dk1"/>
                          </a:solidFill>
                          <a:latin typeface="Microsoft YaHei"/>
                          <a:ea typeface="Microsoft YaHei"/>
                          <a:cs typeface="Microsoft YaHei"/>
                        </a:rPr>
                        <a:t xml:space="preserve">　　　女性</a:t>
                      </a:r>
                    </a:p>
                  </a:txBody>
                  <a:tcPr anchor="ctr" marL="76200" marR="76200" marT="76200" marB="76200">
                    <a:lnL>
                      <a:noFill/>
                    </a:lnL>
                    <a:lnR>
                      <a:noFill/>
                    </a:lnR>
                    <a:lnT>
                      <a:noFill/>
                    </a:lnT>
                    <a:lnB w="9525">
                      <a:solidFill>
                        <a:schemeClr val="accent6"/>
                      </a:solidFill>
                      <a:prstDash val="solid"/>
                    </a:lnB>
                    <a:solidFill>
                      <a:schemeClr val="lt2"/>
                    </a:solidFill>
                  </a:tcPr>
                </a:tc>
                <a:tc>
                  <a:txBody>
                    <a:bodyPr/>
                    <a:lstStyle/>
                    <a:p>
                      <a:pPr algn="r"/>
                      <a:r>
                        <a:rPr lang="zh-CN" sz="1500" b="0">
                          <a:solidFill>
                            <a:schemeClr val="dk1"/>
                          </a:solidFill>
                          <a:latin typeface="Microsoft YaHei"/>
                          <a:ea typeface="Microsoft YaHei"/>
                          <a:cs typeface="Microsoft YaHei"/>
                        </a:rPr>
                        <a:t>68804</a:t>
                      </a:r>
                    </a:p>
                  </a:txBody>
                  <a:tcPr anchor="ctr" marL="76200" marR="76200" marT="76200" marB="76200">
                    <a:lnL>
                      <a:noFill/>
                    </a:lnL>
                    <a:lnR>
                      <a:noFill/>
                    </a:lnR>
                    <a:lnT>
                      <a:noFill/>
                    </a:lnT>
                    <a:lnB w="9525">
                      <a:solidFill>
                        <a:schemeClr val="accent6"/>
                      </a:solidFill>
                      <a:prstDash val="solid"/>
                    </a:lnB>
                    <a:solidFill>
                      <a:schemeClr val="lt2"/>
                    </a:solidFill>
                  </a:tcPr>
                </a:tc>
                <a:tc>
                  <a:txBody>
                    <a:bodyPr/>
                    <a:lstStyle/>
                    <a:p>
                      <a:pPr algn="r"/>
                      <a:r>
                        <a:rPr lang="zh-CN" sz="1500" b="0">
                          <a:solidFill>
                            <a:schemeClr val="dk1"/>
                          </a:solidFill>
                          <a:latin typeface="Microsoft YaHei"/>
                          <a:ea typeface="Microsoft YaHei"/>
                          <a:cs typeface="Microsoft YaHei"/>
                        </a:rPr>
                        <a:t>49.0</a:t>
                      </a:r>
                    </a:p>
                  </a:txBody>
                  <a:tcPr anchor="ctr" marL="76200" marR="76200" marT="76200" marB="76200">
                    <a:lnL>
                      <a:noFill/>
                    </a:lnL>
                    <a:lnR>
                      <a:noFill/>
                    </a:lnR>
                    <a:lnT>
                      <a:noFill/>
                    </a:lnT>
                    <a:lnB w="9525">
                      <a:solidFill>
                        <a:schemeClr val="accent6"/>
                      </a:solidFill>
                      <a:prstDash val="solid"/>
                    </a:lnB>
                    <a:solidFill>
                      <a:schemeClr val="lt2"/>
                    </a:solidFill>
                  </a:tcPr>
                </a:tc>
              </a:tr>
              <a:tr h="381000">
                <a:tc>
                  <a:txBody>
                    <a:bodyPr/>
                    <a:lstStyle/>
                    <a:p>
                      <a:pPr/>
                      <a:r>
                        <a:rPr lang="zh-CN" sz="1500" b="0">
                          <a:solidFill>
                            <a:schemeClr val="dk1"/>
                          </a:solidFill>
                          <a:latin typeface="Microsoft YaHei"/>
                          <a:ea typeface="Microsoft YaHei"/>
                          <a:cs typeface="Microsoft YaHei"/>
                        </a:rPr>
                        <a:t>其中：0—15 岁（含不满 16 周岁）</a:t>
                      </a:r>
                    </a:p>
                  </a:txBody>
                  <a:tcPr anchor="ctr" marL="76200" marR="76200" marT="76200" marB="76200">
                    <a:lnL>
                      <a:noFill/>
                    </a:lnL>
                    <a:lnR>
                      <a:noFill/>
                    </a:lnR>
                    <a:lnT>
                      <a:noFill/>
                    </a:lnT>
                    <a:lnB w="9525">
                      <a:solidFill>
                        <a:schemeClr val="accent6"/>
                      </a:solidFill>
                      <a:prstDash val="solid"/>
                    </a:lnB>
                    <a:solidFill>
                      <a:schemeClr val="lt2"/>
                    </a:solidFill>
                  </a:tcPr>
                </a:tc>
                <a:tc>
                  <a:txBody>
                    <a:bodyPr/>
                    <a:lstStyle/>
                    <a:p>
                      <a:pPr algn="r"/>
                      <a:r>
                        <a:rPr lang="zh-CN" sz="1500" b="0">
                          <a:solidFill>
                            <a:schemeClr val="dk1"/>
                          </a:solidFill>
                          <a:latin typeface="Microsoft YaHei"/>
                          <a:ea typeface="Microsoft YaHei"/>
                          <a:cs typeface="Microsoft YaHei"/>
                        </a:rPr>
                        <a:t>23015</a:t>
                      </a:r>
                    </a:p>
                  </a:txBody>
                  <a:tcPr anchor="ctr" marL="76200" marR="76200" marT="76200" marB="76200">
                    <a:lnL>
                      <a:noFill/>
                    </a:lnL>
                    <a:lnR>
                      <a:noFill/>
                    </a:lnR>
                    <a:lnT>
                      <a:noFill/>
                    </a:lnT>
                    <a:lnB w="9525">
                      <a:solidFill>
                        <a:schemeClr val="accent6"/>
                      </a:solidFill>
                      <a:prstDash val="solid"/>
                    </a:lnB>
                    <a:solidFill>
                      <a:schemeClr val="lt2"/>
                    </a:solidFill>
                  </a:tcPr>
                </a:tc>
                <a:tc>
                  <a:txBody>
                    <a:bodyPr/>
                    <a:lstStyle/>
                    <a:p>
                      <a:pPr algn="r"/>
                      <a:r>
                        <a:rPr lang="zh-CN" sz="1500" b="0">
                          <a:solidFill>
                            <a:schemeClr val="dk1"/>
                          </a:solidFill>
                          <a:latin typeface="Microsoft YaHei"/>
                          <a:ea typeface="Microsoft YaHei"/>
                          <a:cs typeface="Microsoft YaHei"/>
                        </a:rPr>
                        <a:t>16.4</a:t>
                      </a:r>
                    </a:p>
                  </a:txBody>
                  <a:tcPr anchor="ctr" marL="76200" marR="76200" marT="76200" marB="76200">
                    <a:lnL>
                      <a:noFill/>
                    </a:lnL>
                    <a:lnR>
                      <a:noFill/>
                    </a:lnR>
                    <a:lnT>
                      <a:noFill/>
                    </a:lnT>
                    <a:lnB w="9525">
                      <a:solidFill>
                        <a:schemeClr val="accent6"/>
                      </a:solidFill>
                      <a:prstDash val="solid"/>
                    </a:lnB>
                    <a:solidFill>
                      <a:schemeClr val="lt2"/>
                    </a:solidFill>
                  </a:tcPr>
                </a:tc>
              </a:tr>
              <a:tr h="381000">
                <a:tc>
                  <a:txBody>
                    <a:bodyPr/>
                    <a:lstStyle/>
                    <a:p>
                      <a:pPr/>
                      <a:r>
                        <a:rPr lang="zh-CN" sz="1500" b="0">
                          <a:solidFill>
                            <a:schemeClr val="dk1"/>
                          </a:solidFill>
                          <a:latin typeface="Microsoft YaHei"/>
                          <a:ea typeface="Microsoft YaHei"/>
                          <a:cs typeface="Microsoft YaHei"/>
                        </a:rPr>
                        <a:t xml:space="preserve">　　　16—59 岁（含不满 60 周岁）</a:t>
                      </a:r>
                    </a:p>
                  </a:txBody>
                  <a:tcPr anchor="ctr" marL="76200" marR="76200" marT="76200" marB="76200">
                    <a:lnL>
                      <a:noFill/>
                    </a:lnL>
                    <a:lnR>
                      <a:noFill/>
                    </a:lnR>
                    <a:lnT>
                      <a:noFill/>
                    </a:lnT>
                    <a:lnB w="9525">
                      <a:solidFill>
                        <a:schemeClr val="accent6"/>
                      </a:solidFill>
                      <a:prstDash val="solid"/>
                    </a:lnB>
                    <a:solidFill>
                      <a:schemeClr val="lt2"/>
                    </a:solidFill>
                  </a:tcPr>
                </a:tc>
                <a:tc>
                  <a:txBody>
                    <a:bodyPr/>
                    <a:lstStyle/>
                    <a:p>
                      <a:pPr algn="r"/>
                      <a:r>
                        <a:rPr lang="zh-CN" sz="1500" b="0">
                          <a:solidFill>
                            <a:schemeClr val="dk1"/>
                          </a:solidFill>
                          <a:latin typeface="Microsoft YaHei"/>
                          <a:ea typeface="Microsoft YaHei"/>
                          <a:cs typeface="Microsoft YaHei"/>
                        </a:rPr>
                        <a:t>85136</a:t>
                      </a:r>
                    </a:p>
                  </a:txBody>
                  <a:tcPr anchor="ctr" marL="76200" marR="76200" marT="76200" marB="76200">
                    <a:lnL>
                      <a:noFill/>
                    </a:lnL>
                    <a:lnR>
                      <a:noFill/>
                    </a:lnR>
                    <a:lnT>
                      <a:noFill/>
                    </a:lnT>
                    <a:lnB w="9525">
                      <a:solidFill>
                        <a:schemeClr val="accent6"/>
                      </a:solidFill>
                      <a:prstDash val="solid"/>
                    </a:lnB>
                    <a:solidFill>
                      <a:schemeClr val="lt2"/>
                    </a:solidFill>
                  </a:tcPr>
                </a:tc>
                <a:tc>
                  <a:txBody>
                    <a:bodyPr/>
                    <a:lstStyle/>
                    <a:p>
                      <a:pPr algn="r"/>
                      <a:r>
                        <a:rPr lang="zh-CN" sz="1500" b="0">
                          <a:solidFill>
                            <a:schemeClr val="dk1"/>
                          </a:solidFill>
                          <a:latin typeface="Microsoft YaHei"/>
                          <a:ea typeface="Microsoft YaHei"/>
                          <a:cs typeface="Microsoft YaHei"/>
                        </a:rPr>
                        <a:t>60.6</a:t>
                      </a:r>
                    </a:p>
                  </a:txBody>
                  <a:tcPr anchor="ctr" marL="76200" marR="76200" marT="76200" marB="76200">
                    <a:lnL>
                      <a:noFill/>
                    </a:lnL>
                    <a:lnR>
                      <a:noFill/>
                    </a:lnR>
                    <a:lnT>
                      <a:noFill/>
                    </a:lnT>
                    <a:lnB w="9525">
                      <a:solidFill>
                        <a:schemeClr val="accent6"/>
                      </a:solidFill>
                      <a:prstDash val="solid"/>
                    </a:lnB>
                    <a:solidFill>
                      <a:schemeClr val="lt2"/>
                    </a:solidFill>
                  </a:tcPr>
                </a:tc>
              </a:tr>
              <a:tr h="381000">
                <a:tc>
                  <a:txBody>
                    <a:bodyPr/>
                    <a:lstStyle/>
                    <a:p>
                      <a:pPr/>
                      <a:r>
                        <a:rPr lang="zh-CN" sz="1500" b="0">
                          <a:solidFill>
                            <a:schemeClr val="dk1"/>
                          </a:solidFill>
                          <a:latin typeface="Microsoft YaHei"/>
                          <a:ea typeface="Microsoft YaHei"/>
                          <a:cs typeface="Microsoft YaHei"/>
                        </a:rPr>
                        <a:t xml:space="preserve">　　　60 周岁及以上</a:t>
                      </a:r>
                    </a:p>
                  </a:txBody>
                  <a:tcPr anchor="ctr" marL="76200" marR="76200" marT="76200" marB="76200">
                    <a:lnL>
                      <a:noFill/>
                    </a:lnL>
                    <a:lnR>
                      <a:noFill/>
                    </a:lnR>
                    <a:lnT>
                      <a:noFill/>
                    </a:lnT>
                    <a:lnB w="9525">
                      <a:solidFill>
                        <a:schemeClr val="accent6"/>
                      </a:solidFill>
                      <a:prstDash val="solid"/>
                    </a:lnB>
                    <a:solidFill>
                      <a:schemeClr val="lt2"/>
                    </a:solidFill>
                  </a:tcPr>
                </a:tc>
                <a:tc>
                  <a:txBody>
                    <a:bodyPr/>
                    <a:lstStyle/>
                    <a:p>
                      <a:pPr algn="r"/>
                      <a:r>
                        <a:rPr lang="zh-CN" sz="1500" b="0">
                          <a:solidFill>
                            <a:schemeClr val="dk1"/>
                          </a:solidFill>
                          <a:latin typeface="Microsoft YaHei"/>
                          <a:ea typeface="Microsoft YaHei"/>
                          <a:cs typeface="Microsoft YaHei"/>
                        </a:rPr>
                        <a:t>32338</a:t>
                      </a:r>
                    </a:p>
                  </a:txBody>
                  <a:tcPr anchor="ctr" marL="76200" marR="76200" marT="76200" marB="76200">
                    <a:lnL>
                      <a:noFill/>
                    </a:lnL>
                    <a:lnR>
                      <a:noFill/>
                    </a:lnR>
                    <a:lnT>
                      <a:noFill/>
                    </a:lnT>
                    <a:lnB w="9525">
                      <a:solidFill>
                        <a:schemeClr val="accent6"/>
                      </a:solidFill>
                      <a:prstDash val="solid"/>
                    </a:lnB>
                    <a:solidFill>
                      <a:schemeClr val="lt2"/>
                    </a:solidFill>
                  </a:tcPr>
                </a:tc>
                <a:tc>
                  <a:txBody>
                    <a:bodyPr/>
                    <a:lstStyle/>
                    <a:p>
                      <a:pPr algn="r"/>
                      <a:r>
                        <a:rPr lang="zh-CN" sz="1500" b="0">
                          <a:solidFill>
                            <a:schemeClr val="dk1"/>
                          </a:solidFill>
                          <a:latin typeface="Microsoft YaHei"/>
                          <a:ea typeface="Microsoft YaHei"/>
                          <a:cs typeface="Microsoft YaHei"/>
                        </a:rPr>
                        <a:t>23.0</a:t>
                      </a:r>
                    </a:p>
                  </a:txBody>
                  <a:tcPr anchor="ctr" marL="76200" marR="76200" marT="76200" marB="76200">
                    <a:lnL>
                      <a:noFill/>
                    </a:lnL>
                    <a:lnR>
                      <a:noFill/>
                    </a:lnR>
                    <a:lnT>
                      <a:noFill/>
                    </a:lnT>
                    <a:lnB w="9525">
                      <a:solidFill>
                        <a:schemeClr val="accent6"/>
                      </a:solidFill>
                      <a:prstDash val="solid"/>
                    </a:lnB>
                    <a:solidFill>
                      <a:schemeClr val="lt2"/>
                    </a:solidFill>
                  </a:tcPr>
                </a:tc>
              </a:tr>
              <a:tr h="381000">
                <a:tc>
                  <a:txBody>
                    <a:bodyPr/>
                    <a:lstStyle/>
                    <a:p>
                      <a:pPr/>
                      <a:r>
                        <a:rPr lang="zh-CN" sz="1500" b="0">
                          <a:solidFill>
                            <a:schemeClr val="dk1"/>
                          </a:solidFill>
                          <a:latin typeface="Microsoft YaHei"/>
                          <a:ea typeface="Microsoft YaHei"/>
                          <a:cs typeface="Microsoft YaHei"/>
                        </a:rPr>
                        <a:t xml:space="preserve">　　　其中：65 周岁及以上</a:t>
                      </a:r>
                    </a:p>
                  </a:txBody>
                  <a:tcPr anchor="ctr" marL="76200" marR="76200" marT="76200" marB="76200">
                    <a:lnL>
                      <a:noFill/>
                    </a:lnL>
                    <a:lnR>
                      <a:noFill/>
                    </a:lnR>
                    <a:lnT>
                      <a:noFill/>
                    </a:lnT>
                    <a:lnB w="9525">
                      <a:solidFill>
                        <a:schemeClr val="accent6"/>
                      </a:solidFill>
                      <a:prstDash val="solid"/>
                    </a:lnB>
                    <a:solidFill>
                      <a:schemeClr val="lt2"/>
                    </a:solidFill>
                  </a:tcPr>
                </a:tc>
                <a:tc>
                  <a:txBody>
                    <a:bodyPr/>
                    <a:lstStyle/>
                    <a:p>
                      <a:pPr algn="r"/>
                      <a:r>
                        <a:rPr lang="zh-CN" sz="1500" b="0">
                          <a:solidFill>
                            <a:schemeClr val="dk1"/>
                          </a:solidFill>
                          <a:latin typeface="Microsoft YaHei"/>
                          <a:ea typeface="Microsoft YaHei"/>
                          <a:cs typeface="Microsoft YaHei"/>
                        </a:rPr>
                        <a:t>22365</a:t>
                      </a:r>
                    </a:p>
                  </a:txBody>
                  <a:tcPr anchor="ctr" marL="76200" marR="76200" marT="76200" marB="76200">
                    <a:lnL>
                      <a:noFill/>
                    </a:lnL>
                    <a:lnR>
                      <a:noFill/>
                    </a:lnR>
                    <a:lnT>
                      <a:noFill/>
                    </a:lnT>
                    <a:lnB w="9525">
                      <a:solidFill>
                        <a:schemeClr val="accent6"/>
                      </a:solidFill>
                      <a:prstDash val="solid"/>
                    </a:lnB>
                    <a:solidFill>
                      <a:schemeClr val="lt2"/>
                    </a:solidFill>
                  </a:tcPr>
                </a:tc>
                <a:tc>
                  <a:txBody>
                    <a:bodyPr/>
                    <a:lstStyle/>
                    <a:p>
                      <a:pPr algn="r"/>
                      <a:r>
                        <a:rPr lang="zh-CN" sz="1500" b="0">
                          <a:solidFill>
                            <a:schemeClr val="dk1"/>
                          </a:solidFill>
                          <a:latin typeface="Microsoft YaHei"/>
                          <a:ea typeface="Microsoft YaHei"/>
                          <a:cs typeface="Microsoft YaHei"/>
                        </a:rPr>
                        <a:t>15.9</a:t>
                      </a:r>
                    </a:p>
                  </a:txBody>
                  <a:tcPr anchor="ctr" marL="76200" marR="76200" marT="76200" marB="76200">
                    <a:lnL>
                      <a:noFill/>
                    </a:lnL>
                    <a:lnR>
                      <a:noFill/>
                    </a:lnR>
                    <a:lnT>
                      <a:noFill/>
                    </a:lnT>
                    <a:lnB w="9525">
                      <a:solidFill>
                        <a:schemeClr val="accent6"/>
                      </a:solidFill>
                      <a:prstDash val="solid"/>
                    </a:lnB>
                    <a:solidFill>
                      <a:schemeClr val="lt2"/>
                    </a:solidFill>
                  </a:tcPr>
                </a:tc>
              </a:tr>
            </a:tbl>
          </a:graphicData>
        </a:graphic>
      </p:graphicFrame>
      <p:grpSp>
        <p:nvGrpSpPr>
          <p:cNvPr id="27" name="Group 27"/>
          <p:cNvGrpSpPr/>
          <p:nvPr/>
        </p:nvGrpSpPr>
        <p:grpSpPr>
          <a:xfrm>
            <a:off x="603504" y="6172200"/>
            <a:ext cx="10984992" cy="371856"/>
            <a:chOff x="603504" y="6172200"/>
            <a:chExt cx="10984992" cy="371856"/>
          </a:xfrm>
        </p:grpSpPr>
        <p:sp>
          <p:nvSpPr>
            <p:cNvPr id="24" name="Line 24"/>
            <p:cNvSpPr/>
            <p:nvPr/>
          </p:nvSpPr>
          <p:spPr>
            <a:xfrm>
              <a:off x="609600" y="61722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25" name="TextBox 25"/>
            <p:cNvSpPr txBox="1"/>
            <p:nvPr/>
          </p:nvSpPr>
          <p:spPr>
            <a:xfrm>
              <a:off x="603504" y="6309360"/>
              <a:ext cx="5343144"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来源：国家统计局《2025 年国民经济和社会发展统计公报》表 1；注释[5]</a:t>
              </a:r>
            </a:p>
          </p:txBody>
        </p:sp>
        <p:sp>
          <p:nvSpPr>
            <p:cNvPr id="26" name="TextBox 26"/>
            <p:cNvSpPr txBox="1"/>
            <p:nvPr/>
          </p:nvSpPr>
          <p:spPr>
            <a:xfrm>
              <a:off x="11398606" y="6309360"/>
              <a:ext cx="189890"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06</a:t>
              </a:r>
            </a:p>
          </p:txBody>
        </p:sp>
      </p:grpSp>
    </p:spTree>
  </p:cSld>
  <p:clrMapOvr>
    <a:masterClrMapping/>
  </p:clrMapOvr>
  <p:transitio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600"/>
                                        <p:tgtEl>
                                          <p:spTgt spid="15"/>
                                        </p:tgtEl>
                                      </p:cBhvr>
                                    </p:animEffect>
                                    <p:anim calcmode="lin" valueType="num">
                                      <p:cBhvr>
                                        <p:cTn id="8" dur="600" fill="hold"/>
                                        <p:tgtEl>
                                          <p:spTgt spid="15"/>
                                        </p:tgtEl>
                                        <p:attrNameLst>
                                          <p:attrName>ppt_x</p:attrName>
                                        </p:attrNameLst>
                                      </p:cBhvr>
                                      <p:tavLst>
                                        <p:tav tm="0">
                                          <p:val>
                                            <p:strVal val="#ppt_x"/>
                                          </p:val>
                                        </p:tav>
                                        <p:tav tm="100000">
                                          <p:val>
                                            <p:strVal val="#ppt_x"/>
                                          </p:val>
                                        </p:tav>
                                      </p:tavLst>
                                    </p:anim>
                                    <p:anim calcmode="lin" valueType="num">
                                      <p:cBhvr>
                                        <p:cTn id="9" dur="540" decel="100000" fill="hold"/>
                                        <p:tgtEl>
                                          <p:spTgt spid="15"/>
                                        </p:tgtEl>
                                        <p:attrNameLst>
                                          <p:attrName>ppt_y</p:attrName>
                                        </p:attrNameLst>
                                      </p:cBhvr>
                                      <p:tavLst>
                                        <p:tav tm="0">
                                          <p:val>
                                            <p:strVal val="#ppt_y+1"/>
                                          </p:val>
                                        </p:tav>
                                        <p:tav tm="100000">
                                          <p:val>
                                            <p:strVal val="#ppt_y-.03"/>
                                          </p:val>
                                        </p:tav>
                                      </p:tavLst>
                                    </p:anim>
                                    <p:anim calcmode="lin" valueType="num">
                                      <p:cBhvr>
                                        <p:cTn id="10" dur="60" accel="100000" fill="hold">
                                          <p:stCondLst>
                                            <p:cond delay="540"/>
                                          </p:stCondLst>
                                        </p:cTn>
                                        <p:tgtEl>
                                          <p:spTgt spid="15"/>
                                        </p:tgtEl>
                                        <p:attrNameLst>
                                          <p:attrName>ppt_y</p:attrName>
                                        </p:attrNameLst>
                                      </p:cBhvr>
                                      <p:tavLst>
                                        <p:tav tm="0">
                                          <p:val>
                                            <p:strVal val="#ppt_y-.03"/>
                                          </p:val>
                                        </p:tav>
                                        <p:tav tm="100000">
                                          <p:val>
                                            <p:strVal val="#ppt_y"/>
                                          </p:val>
                                        </p:tav>
                                      </p:tavLst>
                                    </p:anim>
                                  </p:childTnLst>
                                </p:cTn>
                              </p:par>
                            </p:childTnLst>
                          </p:cTn>
                        </p:par>
                        <p:par>
                          <p:cTn id="11" fill="hold">
                            <p:stCondLst>
                              <p:cond delay="600"/>
                            </p:stCondLst>
                            <p:childTnLst>
                              <p:par>
                                <p:cTn id="12" presetID="22" presetClass="entr" presetSubtype="4" fill="hold" grpId="0" nodeType="afterEffect">
                                  <p:stCondLst>
                                    <p:cond delay="500"/>
                                  </p:stCondLst>
                                  <p:childTnLst>
                                    <p:set>
                                      <p:cBhvr>
                                        <p:cTn id="13" dur="1" fill="hold">
                                          <p:stCondLst>
                                            <p:cond delay="0"/>
                                          </p:stCondLst>
                                        </p:cTn>
                                        <p:tgtEl>
                                          <p:spTgt spid="23"/>
                                        </p:tgtEl>
                                        <p:attrNameLst>
                                          <p:attrName>style.visibility</p:attrName>
                                        </p:attrNameLst>
                                      </p:cBhvr>
                                      <p:to>
                                        <p:strVal val="visible"/>
                                      </p:to>
                                    </p:set>
                                    <p:animEffect transition="in" filter="wipe(down)">
                                      <p:cBhvr>
                                        <p:cTn id="14" dur="900"/>
                                        <p:tgtEl>
                                          <p:spTgt spid="23"/>
                                        </p:tgtEl>
                                      </p:cBhvr>
                                    </p:animEffect>
                                  </p:childTnLst>
                                </p:cTn>
                              </p:par>
                            </p:childTnLst>
                          </p:cTn>
                        </p:par>
                        <p:par>
                          <p:cTn id="15" fill="hold">
                            <p:stCondLst>
                              <p:cond delay="2000"/>
                            </p:stCondLst>
                            <p:childTnLst>
                              <p:par>
                                <p:cTn id="16" presetID="10" presetClass="entr" presetSubtype="0" fill="hold" grpId="0" nodeType="afterEffect">
                                  <p:stCondLst>
                                    <p:cond delay="50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c="http://schemas.openxmlformats.org/drawingml/2006/chart" xmlns:mc="http://schemas.openxmlformats.org/markup-compatibility/2006" xmlns:p="http://schemas.openxmlformats.org/presentationml/2006/main" xmlns:p14="http://schemas.microsoft.com/office/powerpoint/2010/main" xmlns:p159="http://schemas.microsoft.com/office/powerpoint/2015/09/main" xmlns:r="http://schemas.openxmlformats.org/officeDocument/2006/relationships">
  <p:cSld>
    <p:bg>
      <p:bgPr>
        <a:solidFill>
          <a:schemeClr val="lt1"/>
        </a:solidFill>
        <a:effectLst/>
      </p:bgPr>
    </p:bg>
    <p:spTree>
      <p:nvGrpSpPr>
        <p:cNvPr id="1" name=""/>
        <p:cNvGrpSpPr/>
        <p:nvPr/>
      </p:nvGrpSpPr>
      <p:grpSpPr>
        <a:xfrm>
          <a:off x="0" y="0"/>
          <a:ext cx="0" cy="0"/>
          <a:chOff x="0" y="0"/>
          <a:chExt cx="0" cy="0"/>
        </a:xfrm>
      </p:grpSpPr>
      <p:grpSp>
        <p:nvGrpSpPr>
          <p:cNvPr id="10" name="Group 10"/>
          <p:cNvGrpSpPr/>
          <p:nvPr/>
        </p:nvGrpSpPr>
        <p:grpSpPr>
          <a:xfrm>
            <a:off x="593598" y="597218"/>
            <a:ext cx="10995660" cy="878967"/>
            <a:chOff x="593598" y="597218"/>
            <a:chExt cx="10995660" cy="878967"/>
          </a:xfrm>
        </p:grpSpPr>
        <p:grpSp>
          <p:nvGrpSpPr>
            <p:cNvPr id="5" name="Group 5"/>
            <p:cNvGrpSpPr/>
            <p:nvPr/>
          </p:nvGrpSpPr>
          <p:grpSpPr>
            <a:xfrm>
              <a:off x="633412" y="614362"/>
              <a:ext cx="142875" cy="142875"/>
              <a:chOff x="633412" y="614362"/>
              <a:chExt cx="142875" cy="142875"/>
            </a:xfrm>
          </p:grpSpPr>
          <p:sp>
            <p:nvSpPr>
              <p:cNvPr id="2" name="Freeform 2"/>
              <p:cNvSpPr/>
              <p:nvPr/>
            </p:nvSpPr>
            <p:spPr>
              <a:xfrm>
                <a:off x="633412" y="614362"/>
                <a:ext cx="142875" cy="71437"/>
              </a:xfrm>
              <a:custGeom>
                <a:avLst/>
                <a:gdLst/>
                <a:ahLst/>
                <a:cxnLst/>
                <a:rect l="l" t="t" r="r" b="b"/>
                <a:pathLst>
                  <a:path w="142875" h="71437">
                    <a:moveTo>
                      <a:pt x="15875" y="71437"/>
                    </a:moveTo>
                    <a:lnTo>
                      <a:pt x="0" y="71437"/>
                    </a:lnTo>
                    <a:lnTo>
                      <a:pt x="71437" y="0"/>
                    </a:lnTo>
                    <a:lnTo>
                      <a:pt x="142875" y="71437"/>
                    </a:lnTo>
                    <a:lnTo>
                      <a:pt x="127000" y="71437"/>
                    </a:lnTo>
                  </a:path>
                </a:pathLst>
              </a:custGeom>
              <a:noFill/>
              <a:ln w="15875">
                <a:solidFill>
                  <a:srgbClr val="5F6B72"/>
                </a:solidFill>
              </a:ln>
            </p:spPr>
          </p:sp>
          <p:sp>
            <p:nvSpPr>
              <p:cNvPr id="3" name="Freeform 3"/>
              <p:cNvSpPr/>
              <p:nvPr/>
            </p:nvSpPr>
            <p:spPr>
              <a:xfrm>
                <a:off x="649287" y="685800"/>
                <a:ext cx="111125" cy="71437"/>
              </a:xfrm>
              <a:custGeom>
                <a:avLst/>
                <a:gdLst/>
                <a:ahLst/>
                <a:cxnLst/>
                <a:rect l="l" t="t" r="r" b="b"/>
                <a:pathLst>
                  <a:path w="111125" h="71437">
                    <a:moveTo>
                      <a:pt x="0" y="0"/>
                    </a:moveTo>
                    <a:lnTo>
                      <a:pt x="0" y="55562"/>
                    </a:lnTo>
                    <a:cubicBezTo>
                      <a:pt x="0" y="64330"/>
                      <a:pt x="7107" y="71437"/>
                      <a:pt x="15875" y="71437"/>
                    </a:cubicBezTo>
                    <a:lnTo>
                      <a:pt x="95250" y="71437"/>
                    </a:lnTo>
                    <a:cubicBezTo>
                      <a:pt x="104017" y="71437"/>
                      <a:pt x="111125" y="64330"/>
                      <a:pt x="111125" y="55562"/>
                    </a:cubicBezTo>
                    <a:lnTo>
                      <a:pt x="111125" y="0"/>
                    </a:lnTo>
                  </a:path>
                </a:pathLst>
              </a:custGeom>
              <a:noFill/>
              <a:ln w="15875">
                <a:solidFill>
                  <a:srgbClr val="5F6B72"/>
                </a:solidFill>
              </a:ln>
            </p:spPr>
          </p:sp>
          <p:sp>
            <p:nvSpPr>
              <p:cNvPr id="4" name="Freeform 4"/>
              <p:cNvSpPr/>
              <p:nvPr/>
            </p:nvSpPr>
            <p:spPr>
              <a:xfrm>
                <a:off x="681037" y="693737"/>
                <a:ext cx="47625" cy="63500"/>
              </a:xfrm>
              <a:custGeom>
                <a:avLst/>
                <a:gdLst/>
                <a:ahLst/>
                <a:cxnLst/>
                <a:rect l="l" t="t" r="r" b="b"/>
                <a:pathLst>
                  <a:path w="47625" h="63500">
                    <a:moveTo>
                      <a:pt x="0" y="63500"/>
                    </a:moveTo>
                    <a:lnTo>
                      <a:pt x="0" y="15875"/>
                    </a:lnTo>
                    <a:cubicBezTo>
                      <a:pt x="0" y="7107"/>
                      <a:pt x="7107" y="0"/>
                      <a:pt x="15875" y="0"/>
                    </a:cubicBezTo>
                    <a:lnTo>
                      <a:pt x="31750" y="0"/>
                    </a:lnTo>
                    <a:cubicBezTo>
                      <a:pt x="40518" y="0"/>
                      <a:pt x="47625" y="7107"/>
                      <a:pt x="47625" y="15875"/>
                    </a:cubicBezTo>
                    <a:lnTo>
                      <a:pt x="47625" y="63500"/>
                    </a:lnTo>
                  </a:path>
                </a:pathLst>
              </a:custGeom>
              <a:noFill/>
              <a:ln w="15875">
                <a:solidFill>
                  <a:srgbClr val="5F6B72"/>
                </a:solidFill>
              </a:ln>
            </p:spPr>
          </p:sp>
        </p:grpSp>
        <p:sp>
          <p:nvSpPr>
            <p:cNvPr id="6" name="TextBox 6"/>
            <p:cNvSpPr txBox="1"/>
            <p:nvPr/>
          </p:nvSpPr>
          <p:spPr>
            <a:xfrm>
              <a:off x="888492" y="597218"/>
              <a:ext cx="666960" cy="264033"/>
            </a:xfrm>
            <a:prstGeom prst="rect">
              <a:avLst/>
            </a:prstGeom>
            <a:noFill/>
            <a:ln>
              <a:noFill/>
            </a:ln>
          </p:spPr>
          <p:txBody>
            <a:bodyPr wrap="none" lIns="0" tIns="0" rIns="0" bIns="0" anchor="t" anchorCtr="0">
              <a:spAutoFit/>
            </a:bodyPr>
            <a:lstStyle/>
            <a:p>
              <a:pPr algn="l"/>
              <a:r>
                <a:rPr lang="zh-CN" sz="1350" spc="150" dirty="0">
                  <a:solidFill>
                    <a:schemeClr val="accent5"/>
                  </a:solidFill>
                  <a:latin typeface="+mn-lt"/>
                  <a:ea typeface="+mn-ea"/>
                  <a:cs typeface="+mn-cs"/>
                </a:rPr>
                <a:t>二 · 人</a:t>
              </a:r>
            </a:p>
          </p:txBody>
        </p:sp>
        <p:sp>
          <p:nvSpPr>
            <p:cNvPr id="7" name="TextBox 7"/>
            <p:cNvSpPr txBox="1"/>
            <p:nvPr/>
          </p:nvSpPr>
          <p:spPr>
            <a:xfrm>
              <a:off x="593598" y="860108"/>
              <a:ext cx="1824228"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j-lt"/>
                  <a:ea typeface="+mj-ea"/>
                  <a:cs typeface="+mj-cs"/>
                </a:rPr>
                <a:t>人口变动</a:t>
              </a:r>
            </a:p>
          </p:txBody>
        </p:sp>
        <p:sp>
          <p:nvSpPr>
            <p:cNvPr id="8" name="TextBox 8"/>
            <p:cNvSpPr txBox="1"/>
            <p:nvPr/>
          </p:nvSpPr>
          <p:spPr>
            <a:xfrm>
              <a:off x="8822226" y="1054418"/>
              <a:ext cx="2767032"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n-lt"/>
                  <a:ea typeface="+mn-ea"/>
                  <a:cs typeface="+mn-cs"/>
                </a:rPr>
                <a:t>出生、死亡与城镇化 · 单位：万人</a:t>
              </a:r>
            </a:p>
          </p:txBody>
        </p:sp>
        <p:sp>
          <p:nvSpPr>
            <p:cNvPr id="9" name="Rectangle 9"/>
            <p:cNvSpPr/>
            <p:nvPr/>
          </p:nvSpPr>
          <p:spPr>
            <a:xfrm>
              <a:off x="609600" y="1381125"/>
              <a:ext cx="1295400" cy="38100"/>
            </a:xfrm>
            <a:prstGeom prst="rect">
              <a:avLst/>
            </a:prstGeom>
            <a:gradFill>
              <a:gsLst>
                <a:gs pos="0">
                  <a:schemeClr val="accent1"/>
                </a:gs>
                <a:gs pos="100000">
                  <a:schemeClr val="accent2"/>
                </a:gs>
              </a:gsLst>
              <a:lin ang="0" scaled="1"/>
            </a:gradFill>
            <a:ln>
              <a:noFill/>
            </a:ln>
          </p:spPr>
        </p:sp>
      </p:grpSp>
      <p:graphicFrame>
        <p:nvGraphicFramePr>
          <p:cNvPr id="11" name="births-deaths"/>
          <p:cNvGraphicFramePr>
            <a:graphicFrameLocks noGrp="1"/>
          </p:cNvGraphicFramePr>
          <p:nvPr/>
        </p:nvGraphicFramePr>
        <p:xfrm>
          <a:off x="609600" y="1809750"/>
          <a:ext cx="5486400" cy="4000500"/>
        </p:xfrm>
        <a:graphic>
          <a:graphicData uri="http://schemas.openxmlformats.org/drawingml/2006/chart">
            <c:chart r:id="rId2"/>
          </a:graphicData>
        </a:graphic>
      </p:graphicFrame>
      <p:grpSp>
        <p:nvGrpSpPr>
          <p:cNvPr id="15" name="!!population-hero"/>
          <p:cNvGrpSpPr/>
          <p:nvPr/>
        </p:nvGrpSpPr>
        <p:grpSpPr>
          <a:xfrm>
            <a:off x="6534150" y="1863090"/>
            <a:ext cx="2433923" cy="1493711"/>
            <a:chOff x="6534150" y="1863090"/>
            <a:chExt cx="2433923" cy="1493711"/>
          </a:xfrm>
        </p:grpSpPr>
        <p:sp>
          <p:nvSpPr>
            <p:cNvPr id="12" name="TextBox 12"/>
            <p:cNvSpPr txBox="1"/>
            <p:nvPr/>
          </p:nvSpPr>
          <p:spPr>
            <a:xfrm>
              <a:off x="6544056" y="1863090"/>
              <a:ext cx="1714500"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人口自然增长率</a:t>
              </a:r>
            </a:p>
          </p:txBody>
        </p:sp>
        <p:sp>
          <p:nvSpPr>
            <p:cNvPr id="13" name="TextBox 13"/>
            <p:cNvSpPr txBox="1"/>
            <p:nvPr/>
          </p:nvSpPr>
          <p:spPr>
            <a:xfrm>
              <a:off x="6534150" y="2274570"/>
              <a:ext cx="2433676" cy="1047750"/>
            </a:xfrm>
            <a:prstGeom prst="rect">
              <a:avLst/>
            </a:prstGeom>
            <a:noFill/>
            <a:ln>
              <a:noFill/>
            </a:ln>
          </p:spPr>
          <p:txBody>
            <a:bodyPr wrap="none" lIns="0" tIns="0" rIns="0" bIns="0" anchor="t" anchorCtr="0">
              <a:spAutoFit/>
            </a:bodyPr>
            <a:lstStyle/>
            <a:p>
              <a:pPr algn="l"/>
              <a:r>
                <a:rPr lang="zh-CN" sz="5400" b="1" dirty="0">
                  <a:solidFill>
                    <a:schemeClr val="accent2"/>
                  </a:solidFill>
                  <a:latin typeface="Times New Roman"/>
                  <a:ea typeface="Times New Roman"/>
                  <a:cs typeface="Times New Roman"/>
                </a:rPr>
                <a:t>−2.41</a:t>
              </a:r>
              <a:r>
                <a:rPr lang="zh-CN" sz="2400" dirty="0">
                  <a:solidFill>
                    <a:schemeClr val="dk1"/>
                  </a:solidFill>
                  <a:latin typeface="+mn-lt"/>
                  <a:ea typeface="+mn-ea"/>
                  <a:cs typeface="+mn-cs"/>
                </a:rPr>
                <a:t>‰</a:t>
              </a:r>
            </a:p>
          </p:txBody>
        </p:sp>
        <p:sp>
          <p:nvSpPr>
            <p:cNvPr id="14" name="TextBox 14"/>
            <p:cNvSpPr txBox="1"/>
            <p:nvPr/>
          </p:nvSpPr>
          <p:spPr>
            <a:xfrm>
              <a:off x="6546342" y="3092768"/>
              <a:ext cx="2421731"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出生率 5.63‰ · 死亡率 8.04‰</a:t>
              </a:r>
            </a:p>
          </p:txBody>
        </p:sp>
      </p:grpSp>
      <p:grpSp>
        <p:nvGrpSpPr>
          <p:cNvPr id="19" name="Group 19"/>
          <p:cNvGrpSpPr/>
          <p:nvPr/>
        </p:nvGrpSpPr>
        <p:grpSpPr>
          <a:xfrm>
            <a:off x="6553200" y="3676650"/>
            <a:ext cx="3232404" cy="914400"/>
            <a:chOff x="6553200" y="3676650"/>
            <a:chExt cx="3232404" cy="914400"/>
          </a:xfrm>
        </p:grpSpPr>
        <p:sp>
          <p:nvSpPr>
            <p:cNvPr id="16" name="Freeform 16"/>
            <p:cNvSpPr/>
            <p:nvPr/>
          </p:nvSpPr>
          <p:spPr>
            <a:xfrm>
              <a:off x="6553200" y="3676650"/>
              <a:ext cx="533400" cy="914400"/>
            </a:xfrm>
            <a:prstGeom prst="downArrow">
              <a:avLst/>
            </a:prstGeom>
            <a:solidFill>
              <a:schemeClr val="accent2"/>
            </a:solidFill>
            <a:ln>
              <a:noFill/>
            </a:ln>
          </p:spPr>
        </p:sp>
        <p:sp>
          <p:nvSpPr>
            <p:cNvPr id="17" name="TextBox 17"/>
            <p:cNvSpPr txBox="1"/>
            <p:nvPr/>
          </p:nvSpPr>
          <p:spPr>
            <a:xfrm>
              <a:off x="7344156" y="3844290"/>
              <a:ext cx="244144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年末全国人口比上年末</a:t>
              </a:r>
            </a:p>
          </p:txBody>
        </p:sp>
        <p:sp>
          <p:nvSpPr>
            <p:cNvPr id="18" name="TextBox 18"/>
            <p:cNvSpPr txBox="1"/>
            <p:nvPr/>
          </p:nvSpPr>
          <p:spPr>
            <a:xfrm>
              <a:off x="7344156" y="4225290"/>
              <a:ext cx="1560024" cy="352044"/>
            </a:xfrm>
            <a:prstGeom prst="rect">
              <a:avLst/>
            </a:prstGeom>
            <a:noFill/>
            <a:ln>
              <a:noFill/>
            </a:ln>
          </p:spPr>
          <p:txBody>
            <a:bodyPr wrap="none" lIns="0" tIns="0" rIns="0" bIns="0" anchor="t" anchorCtr="0">
              <a:spAutoFit/>
            </a:bodyPr>
            <a:lstStyle/>
            <a:p>
              <a:pPr algn="l"/>
              <a:r>
                <a:rPr lang="zh-CN" sz="1800" b="1" dirty="0">
                  <a:solidFill>
                    <a:schemeClr val="accent2"/>
                  </a:solidFill>
                  <a:latin typeface="+mn-lt"/>
                  <a:ea typeface="+mn-ea"/>
                  <a:cs typeface="+mn-cs"/>
                </a:rPr>
                <a:t>减少 339 万人</a:t>
              </a:r>
            </a:p>
          </p:txBody>
        </p:sp>
      </p:grpSp>
      <p:grpSp>
        <p:nvGrpSpPr>
          <p:cNvPr id="26" name="Group 26"/>
          <p:cNvGrpSpPr/>
          <p:nvPr/>
        </p:nvGrpSpPr>
        <p:grpSpPr>
          <a:xfrm>
            <a:off x="6544056" y="4895850"/>
            <a:ext cx="5045964" cy="1051751"/>
            <a:chOff x="6544056" y="4895850"/>
            <a:chExt cx="5045964" cy="1051751"/>
          </a:xfrm>
        </p:grpSpPr>
        <p:sp>
          <p:nvSpPr>
            <p:cNvPr id="20" name="Line 20"/>
            <p:cNvSpPr/>
            <p:nvPr/>
          </p:nvSpPr>
          <p:spPr>
            <a:xfrm>
              <a:off x="6553200" y="4895850"/>
              <a:ext cx="5029200" cy="9525"/>
            </a:xfrm>
            <a:custGeom>
              <a:avLst/>
              <a:gdLst/>
              <a:ahLst/>
              <a:cxnLst/>
              <a:rect l="l" t="t" r="r" b="b"/>
              <a:pathLst>
                <a:path w="5029200" h="9525">
                  <a:moveTo>
                    <a:pt x="0" y="0"/>
                  </a:moveTo>
                  <a:lnTo>
                    <a:pt x="5029200" y="0"/>
                  </a:lnTo>
                </a:path>
              </a:pathLst>
            </a:custGeom>
            <a:noFill/>
            <a:ln w="9525">
              <a:solidFill>
                <a:schemeClr val="accent6"/>
              </a:solidFill>
            </a:ln>
          </p:spPr>
        </p:sp>
        <p:sp>
          <p:nvSpPr>
            <p:cNvPr id="21" name="TextBox 21"/>
            <p:cNvSpPr txBox="1"/>
            <p:nvPr/>
          </p:nvSpPr>
          <p:spPr>
            <a:xfrm>
              <a:off x="6544056" y="5025390"/>
              <a:ext cx="1956816"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常住人口城镇化率</a:t>
              </a:r>
            </a:p>
          </p:txBody>
        </p:sp>
        <p:sp>
          <p:nvSpPr>
            <p:cNvPr id="22" name="TextBox 22"/>
            <p:cNvSpPr txBox="1"/>
            <p:nvPr/>
          </p:nvSpPr>
          <p:spPr>
            <a:xfrm>
              <a:off x="10832687" y="5057775"/>
              <a:ext cx="757333" cy="293370"/>
            </a:xfrm>
            <a:prstGeom prst="rect">
              <a:avLst/>
            </a:prstGeom>
            <a:noFill/>
            <a:ln>
              <a:noFill/>
            </a:ln>
          </p:spPr>
          <p:txBody>
            <a:bodyPr wrap="none" lIns="0" tIns="0" rIns="0" bIns="0" anchor="t" anchorCtr="0">
              <a:spAutoFit/>
            </a:bodyPr>
            <a:lstStyle/>
            <a:p>
              <a:pPr algn="r"/>
              <a:r>
                <a:rPr lang="zh-CN" sz="1500" b="1" dirty="0">
                  <a:solidFill>
                    <a:schemeClr val="accent1"/>
                  </a:solidFill>
                  <a:latin typeface="Arial"/>
                  <a:ea typeface="Arial"/>
                  <a:cs typeface="Arial"/>
                </a:rPr>
                <a:t>67.89%</a:t>
              </a:r>
            </a:p>
          </p:txBody>
        </p:sp>
        <p:sp>
          <p:nvSpPr>
            <p:cNvPr id="23" name="Rectangle 23"/>
            <p:cNvSpPr/>
            <p:nvPr/>
          </p:nvSpPr>
          <p:spPr>
            <a:xfrm>
              <a:off x="6553200" y="5391150"/>
              <a:ext cx="5029200" cy="152400"/>
            </a:xfrm>
            <a:prstGeom prst="rect">
              <a:avLst/>
            </a:prstGeom>
            <a:solidFill>
              <a:srgbClr val="E4DED0"/>
            </a:solidFill>
            <a:ln>
              <a:noFill/>
            </a:ln>
          </p:spPr>
        </p:sp>
        <p:sp>
          <p:nvSpPr>
            <p:cNvPr id="24" name="Rectangle 24"/>
            <p:cNvSpPr/>
            <p:nvPr/>
          </p:nvSpPr>
          <p:spPr>
            <a:xfrm>
              <a:off x="6553200" y="5391150"/>
              <a:ext cx="3414712" cy="152400"/>
            </a:xfrm>
            <a:prstGeom prst="rect">
              <a:avLst/>
            </a:prstGeom>
            <a:solidFill>
              <a:schemeClr val="accent1"/>
            </a:solidFill>
            <a:ln>
              <a:noFill/>
            </a:ln>
          </p:spPr>
        </p:sp>
        <p:sp>
          <p:nvSpPr>
            <p:cNvPr id="25" name="TextBox 25"/>
            <p:cNvSpPr txBox="1"/>
            <p:nvPr/>
          </p:nvSpPr>
          <p:spPr>
            <a:xfrm>
              <a:off x="6546342" y="5683568"/>
              <a:ext cx="4584402"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比上年末提高 0.89 个百分点；城镇常住人口 95380 万人</a:t>
              </a:r>
            </a:p>
          </p:txBody>
        </p:sp>
      </p:grpSp>
      <p:grpSp>
        <p:nvGrpSpPr>
          <p:cNvPr id="30" name="Group 30"/>
          <p:cNvGrpSpPr/>
          <p:nvPr/>
        </p:nvGrpSpPr>
        <p:grpSpPr>
          <a:xfrm>
            <a:off x="603504" y="6172200"/>
            <a:ext cx="10984992" cy="371856"/>
            <a:chOff x="603504" y="6172200"/>
            <a:chExt cx="10984992" cy="371856"/>
          </a:xfrm>
        </p:grpSpPr>
        <p:sp>
          <p:nvSpPr>
            <p:cNvPr id="27" name="Line 27"/>
            <p:cNvSpPr/>
            <p:nvPr/>
          </p:nvSpPr>
          <p:spPr>
            <a:xfrm>
              <a:off x="609600" y="61722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28" name="TextBox 28"/>
            <p:cNvSpPr txBox="1"/>
            <p:nvPr/>
          </p:nvSpPr>
          <p:spPr>
            <a:xfrm>
              <a:off x="603504" y="6309360"/>
              <a:ext cx="4939284"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来源：国家统计局《2025 年国民经济和社会发展统计公报》一、综合</a:t>
              </a:r>
            </a:p>
          </p:txBody>
        </p:sp>
        <p:sp>
          <p:nvSpPr>
            <p:cNvPr id="29" name="TextBox 29"/>
            <p:cNvSpPr txBox="1"/>
            <p:nvPr/>
          </p:nvSpPr>
          <p:spPr>
            <a:xfrm>
              <a:off x="11398606" y="6309360"/>
              <a:ext cx="189890"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07</a:t>
              </a:r>
            </a:p>
          </p:txBody>
        </p:sp>
      </p:grpSp>
    </p:spTree>
  </p:cSld>
  <p:clrMapOvr>
    <a:masterClrMapping/>
  </p:clrMapOvr>
  <mc:AlternateContent>
    <mc:Choice Requires="p159">
      <p:transition p14:dur="8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up)">
                                      <p:cBhvr>
                                        <p:cTn id="7" dur="800"/>
                                        <p:tgtEl>
                                          <p:spTgt spid="11"/>
                                        </p:tgtEl>
                                      </p:cBhvr>
                                    </p:animEffect>
                                  </p:childTnLst>
                                </p:cTn>
                              </p:par>
                            </p:childTnLst>
                          </p:cTn>
                        </p:par>
                        <p:par>
                          <p:cTn id="8" fill="hold">
                            <p:stCondLst>
                              <p:cond delay="800"/>
                            </p:stCondLst>
                            <p:childTnLst>
                              <p:par>
                                <p:cTn id="9" presetID="47" presetClass="entr" presetSubtype="0" fill="hold" grpId="0" nodeType="afterEffect">
                                  <p:stCondLst>
                                    <p:cond delay="500"/>
                                  </p:stCondLst>
                                  <p:childTnLst>
                                    <p:set>
                                      <p:cBhvr>
                                        <p:cTn id="10" dur="1" fill="hold">
                                          <p:stCondLst>
                                            <p:cond delay="0"/>
                                          </p:stCondLst>
                                        </p:cTn>
                                        <p:tgtEl>
                                          <p:spTgt spid="19"/>
                                        </p:tgtEl>
                                        <p:attrNameLst>
                                          <p:attrName>style.visibility</p:attrName>
                                        </p:attrNameLst>
                                      </p:cBhvr>
                                      <p:to>
                                        <p:strVal val="visible"/>
                                      </p:to>
                                    </p:set>
                                    <p:animEffect transition="in" filter="fade">
                                      <p:cBhvr>
                                        <p:cTn id="11" dur="600"/>
                                        <p:tgtEl>
                                          <p:spTgt spid="19"/>
                                        </p:tgtEl>
                                      </p:cBhvr>
                                    </p:animEffect>
                                    <p:anim calcmode="lin" valueType="num">
                                      <p:cBhvr>
                                        <p:cTn id="12" dur="600" fill="hold"/>
                                        <p:tgtEl>
                                          <p:spTgt spid="19"/>
                                        </p:tgtEl>
                                        <p:attrNameLst>
                                          <p:attrName>ppt_x</p:attrName>
                                        </p:attrNameLst>
                                      </p:cBhvr>
                                      <p:tavLst>
                                        <p:tav tm="0">
                                          <p:val>
                                            <p:strVal val="#ppt_x"/>
                                          </p:val>
                                        </p:tav>
                                        <p:tav tm="100000">
                                          <p:val>
                                            <p:strVal val="#ppt_x"/>
                                          </p:val>
                                        </p:tav>
                                      </p:tavLst>
                                    </p:anim>
                                    <p:anim calcmode="lin" valueType="num">
                                      <p:cBhvr>
                                        <p:cTn id="13" dur="600" fill="hold"/>
                                        <p:tgtEl>
                                          <p:spTgt spid="19"/>
                                        </p:tgtEl>
                                        <p:attrNameLst>
                                          <p:attrName>ppt_y</p:attrName>
                                        </p:attrNameLst>
                                      </p:cBhvr>
                                      <p:tavLst>
                                        <p:tav tm="0">
                                          <p:val>
                                            <p:strVal val="#ppt_y-.1"/>
                                          </p:val>
                                        </p:tav>
                                        <p:tav tm="100000">
                                          <p:val>
                                            <p:strVal val="#ppt_y"/>
                                          </p:val>
                                        </p:tav>
                                      </p:tavLst>
                                    </p:anim>
                                  </p:childTnLst>
                                </p:cTn>
                              </p:par>
                            </p:childTnLst>
                          </p:cTn>
                        </p:par>
                        <p:par>
                          <p:cTn id="14" fill="hold">
                            <p:stCondLst>
                              <p:cond delay="1900"/>
                            </p:stCondLst>
                            <p:childTnLst>
                              <p:par>
                                <p:cTn id="15" presetID="22" presetClass="entr" presetSubtype="2" fill="hold" grpId="0" nodeType="afterEffect">
                                  <p:stCondLst>
                                    <p:cond delay="500"/>
                                  </p:stCondLst>
                                  <p:childTnLst>
                                    <p:set>
                                      <p:cBhvr>
                                        <p:cTn id="16" dur="1" fill="hold">
                                          <p:stCondLst>
                                            <p:cond delay="0"/>
                                          </p:stCondLst>
                                        </p:cTn>
                                        <p:tgtEl>
                                          <p:spTgt spid="26"/>
                                        </p:tgtEl>
                                        <p:attrNameLst>
                                          <p:attrName>style.visibility</p:attrName>
                                        </p:attrNameLst>
                                      </p:cBhvr>
                                      <p:to>
                                        <p:strVal val="visible"/>
                                      </p:to>
                                    </p:set>
                                    <p:animEffect transition="in" filter="wipe(right)">
                                      <p:cBhvr>
                                        <p:cTn id="17" dur="7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11" name="Group 11"/>
          <p:cNvGrpSpPr/>
          <p:nvPr/>
        </p:nvGrpSpPr>
        <p:grpSpPr>
          <a:xfrm>
            <a:off x="593598" y="597218"/>
            <a:ext cx="10995660" cy="878967"/>
            <a:chOff x="593598" y="597218"/>
            <a:chExt cx="10995660" cy="878967"/>
          </a:xfrm>
        </p:grpSpPr>
        <p:grpSp>
          <p:nvGrpSpPr>
            <p:cNvPr id="6" name="Group 6"/>
            <p:cNvGrpSpPr/>
            <p:nvPr/>
          </p:nvGrpSpPr>
          <p:grpSpPr>
            <a:xfrm>
              <a:off x="633412" y="614362"/>
              <a:ext cx="142875" cy="134937"/>
              <a:chOff x="633412" y="614362"/>
              <a:chExt cx="142875" cy="134937"/>
            </a:xfrm>
          </p:grpSpPr>
          <p:sp>
            <p:nvSpPr>
              <p:cNvPr id="2" name="Freeform 2"/>
              <p:cNvSpPr/>
              <p:nvPr/>
            </p:nvSpPr>
            <p:spPr>
              <a:xfrm>
                <a:off x="633412" y="646112"/>
                <a:ext cx="142875" cy="103187"/>
              </a:xfrm>
              <a:custGeom>
                <a:avLst/>
                <a:gdLst/>
                <a:ahLst/>
                <a:cxnLst/>
                <a:rect l="l" t="t" r="r" b="b"/>
                <a:pathLst>
                  <a:path w="142875" h="103187">
                    <a:moveTo>
                      <a:pt x="0" y="15875"/>
                    </a:moveTo>
                    <a:cubicBezTo>
                      <a:pt x="0" y="7107"/>
                      <a:pt x="7107" y="0"/>
                      <a:pt x="15875" y="0"/>
                    </a:cubicBezTo>
                    <a:lnTo>
                      <a:pt x="127000" y="0"/>
                    </a:lnTo>
                    <a:cubicBezTo>
                      <a:pt x="135767" y="0"/>
                      <a:pt x="142875" y="7107"/>
                      <a:pt x="142875" y="15875"/>
                    </a:cubicBezTo>
                    <a:lnTo>
                      <a:pt x="142875" y="87312"/>
                    </a:lnTo>
                    <a:cubicBezTo>
                      <a:pt x="142875" y="96080"/>
                      <a:pt x="135767" y="103187"/>
                      <a:pt x="127000" y="103187"/>
                    </a:cubicBezTo>
                    <a:lnTo>
                      <a:pt x="15875" y="103187"/>
                    </a:lnTo>
                    <a:cubicBezTo>
                      <a:pt x="7107" y="103187"/>
                      <a:pt x="0" y="96080"/>
                      <a:pt x="0" y="87312"/>
                    </a:cubicBezTo>
                    <a:lnTo>
                      <a:pt x="0" y="15875"/>
                    </a:lnTo>
                  </a:path>
                </a:pathLst>
              </a:custGeom>
              <a:noFill/>
              <a:ln w="15875">
                <a:solidFill>
                  <a:srgbClr val="5F6B72"/>
                </a:solidFill>
              </a:ln>
            </p:spPr>
          </p:sp>
          <p:sp>
            <p:nvSpPr>
              <p:cNvPr id="3" name="Freeform 3"/>
              <p:cNvSpPr/>
              <p:nvPr/>
            </p:nvSpPr>
            <p:spPr>
              <a:xfrm>
                <a:off x="673100" y="614362"/>
                <a:ext cx="63500" cy="31750"/>
              </a:xfrm>
              <a:custGeom>
                <a:avLst/>
                <a:gdLst/>
                <a:ahLst/>
                <a:cxnLst/>
                <a:rect l="l" t="t" r="r" b="b"/>
                <a:pathLst>
                  <a:path w="63500" h="31750">
                    <a:moveTo>
                      <a:pt x="0" y="31750"/>
                    </a:moveTo>
                    <a:lnTo>
                      <a:pt x="0" y="15875"/>
                    </a:lnTo>
                    <a:cubicBezTo>
                      <a:pt x="0" y="7107"/>
                      <a:pt x="7107" y="0"/>
                      <a:pt x="15875" y="0"/>
                    </a:cubicBezTo>
                    <a:lnTo>
                      <a:pt x="47625" y="0"/>
                    </a:lnTo>
                    <a:cubicBezTo>
                      <a:pt x="56392" y="0"/>
                      <a:pt x="63500" y="7107"/>
                      <a:pt x="63500" y="15875"/>
                    </a:cubicBezTo>
                    <a:lnTo>
                      <a:pt x="63500" y="31750"/>
                    </a:lnTo>
                  </a:path>
                </a:pathLst>
              </a:custGeom>
              <a:noFill/>
              <a:ln w="15875">
                <a:solidFill>
                  <a:srgbClr val="5F6B72"/>
                </a:solidFill>
              </a:ln>
            </p:spPr>
          </p:sp>
          <p:sp>
            <p:nvSpPr>
              <p:cNvPr id="4" name="Freeform 4"/>
              <p:cNvSpPr/>
              <p:nvPr/>
            </p:nvSpPr>
            <p:spPr>
              <a:xfrm>
                <a:off x="704850" y="685800"/>
                <a:ext cx="9525" cy="9525"/>
              </a:xfrm>
              <a:custGeom>
                <a:avLst/>
                <a:gdLst/>
                <a:ahLst/>
                <a:cxnLst/>
                <a:rect l="l" t="t" r="r" b="b"/>
                <a:pathLst>
                  <a:path w="9525" h="9525">
                    <a:moveTo>
                      <a:pt x="0" y="0"/>
                    </a:moveTo>
                    <a:lnTo>
                      <a:pt x="0" y="79"/>
                    </a:lnTo>
                  </a:path>
                </a:pathLst>
              </a:custGeom>
              <a:noFill/>
              <a:ln w="15875">
                <a:solidFill>
                  <a:srgbClr val="5F6B72"/>
                </a:solidFill>
              </a:ln>
            </p:spPr>
          </p:sp>
          <p:sp>
            <p:nvSpPr>
              <p:cNvPr id="5" name="Freeform 5"/>
              <p:cNvSpPr/>
              <p:nvPr/>
            </p:nvSpPr>
            <p:spPr>
              <a:xfrm>
                <a:off x="633412" y="693737"/>
                <a:ext cx="142875" cy="22642"/>
              </a:xfrm>
              <a:custGeom>
                <a:avLst/>
                <a:gdLst/>
                <a:ahLst/>
                <a:cxnLst/>
                <a:rect l="l" t="t" r="r" b="b"/>
                <a:pathLst>
                  <a:path w="142875" h="22642">
                    <a:moveTo>
                      <a:pt x="0" y="0"/>
                    </a:moveTo>
                    <a:cubicBezTo>
                      <a:pt x="44934" y="22642"/>
                      <a:pt x="97941" y="22642"/>
                      <a:pt x="142875" y="0"/>
                    </a:cubicBezTo>
                  </a:path>
                </a:pathLst>
              </a:custGeom>
              <a:noFill/>
              <a:ln w="15875">
                <a:solidFill>
                  <a:srgbClr val="5F6B72"/>
                </a:solidFill>
              </a:ln>
            </p:spPr>
          </p:sp>
        </p:grpSp>
        <p:sp>
          <p:nvSpPr>
            <p:cNvPr id="7" name="TextBox 7"/>
            <p:cNvSpPr txBox="1"/>
            <p:nvPr/>
          </p:nvSpPr>
          <p:spPr>
            <a:xfrm>
              <a:off x="888492" y="597218"/>
              <a:ext cx="666960" cy="264033"/>
            </a:xfrm>
            <a:prstGeom prst="rect">
              <a:avLst/>
            </a:prstGeom>
            <a:noFill/>
            <a:ln>
              <a:noFill/>
            </a:ln>
          </p:spPr>
          <p:txBody>
            <a:bodyPr wrap="none" lIns="0" tIns="0" rIns="0" bIns="0" anchor="t" anchorCtr="0">
              <a:spAutoFit/>
            </a:bodyPr>
            <a:lstStyle/>
            <a:p>
              <a:pPr algn="l"/>
              <a:r>
                <a:rPr lang="zh-CN" sz="1350" spc="150" dirty="0">
                  <a:solidFill>
                    <a:schemeClr val="accent5"/>
                  </a:solidFill>
                  <a:latin typeface="+mn-lt"/>
                  <a:ea typeface="+mn-ea"/>
                  <a:cs typeface="+mn-cs"/>
                </a:rPr>
                <a:t>二 · 人</a:t>
              </a:r>
            </a:p>
          </p:txBody>
        </p:sp>
        <p:sp>
          <p:nvSpPr>
            <p:cNvPr id="8" name="TextBox 8"/>
            <p:cNvSpPr txBox="1"/>
            <p:nvPr/>
          </p:nvSpPr>
          <p:spPr>
            <a:xfrm>
              <a:off x="593598" y="860108"/>
              <a:ext cx="3168396"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j-lt"/>
                  <a:ea typeface="+mj-ea"/>
                  <a:cs typeface="+mj-cs"/>
                </a:rPr>
                <a:t>就业与居民收入</a:t>
              </a:r>
            </a:p>
          </p:txBody>
        </p:sp>
        <p:sp>
          <p:nvSpPr>
            <p:cNvPr id="9" name="TextBox 9"/>
            <p:cNvSpPr txBox="1"/>
            <p:nvPr/>
          </p:nvSpPr>
          <p:spPr>
            <a:xfrm>
              <a:off x="7731804" y="1054418"/>
              <a:ext cx="3857454"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n-lt"/>
                  <a:ea typeface="+mn-ea"/>
                  <a:cs typeface="+mn-cs"/>
                </a:rPr>
                <a:t>全国居民五等份分组人均可支配收入 · 单位：元</a:t>
              </a:r>
            </a:p>
          </p:txBody>
        </p:sp>
        <p:sp>
          <p:nvSpPr>
            <p:cNvPr id="10" name="Rectangle 10"/>
            <p:cNvSpPr/>
            <p:nvPr/>
          </p:nvSpPr>
          <p:spPr>
            <a:xfrm>
              <a:off x="609600" y="1381125"/>
              <a:ext cx="1295400" cy="38100"/>
            </a:xfrm>
            <a:prstGeom prst="rect">
              <a:avLst/>
            </a:prstGeom>
            <a:gradFill>
              <a:gsLst>
                <a:gs pos="0">
                  <a:schemeClr val="accent1"/>
                </a:gs>
                <a:gs pos="100000">
                  <a:schemeClr val="accent2"/>
                </a:gs>
              </a:gsLst>
              <a:lin ang="0" scaled="1"/>
            </a:gradFill>
            <a:ln>
              <a:noFill/>
            </a:ln>
          </p:spPr>
        </p:sp>
      </p:grpSp>
      <p:grpSp>
        <p:nvGrpSpPr>
          <p:cNvPr id="17" name="Group 17"/>
          <p:cNvGrpSpPr/>
          <p:nvPr/>
        </p:nvGrpSpPr>
        <p:grpSpPr>
          <a:xfrm>
            <a:off x="590550" y="1863090"/>
            <a:ext cx="3251740" cy="2046161"/>
            <a:chOff x="590550" y="1863090"/>
            <a:chExt cx="3251740" cy="2046161"/>
          </a:xfrm>
        </p:grpSpPr>
        <p:sp>
          <p:nvSpPr>
            <p:cNvPr id="12" name="TextBox 12"/>
            <p:cNvSpPr txBox="1"/>
            <p:nvPr/>
          </p:nvSpPr>
          <p:spPr>
            <a:xfrm>
              <a:off x="600456" y="1863090"/>
              <a:ext cx="1956816"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年末全国就业人员</a:t>
              </a:r>
            </a:p>
          </p:txBody>
        </p:sp>
        <p:sp>
          <p:nvSpPr>
            <p:cNvPr id="13" name="TextBox 13"/>
            <p:cNvSpPr txBox="1"/>
            <p:nvPr/>
          </p:nvSpPr>
          <p:spPr>
            <a:xfrm>
              <a:off x="590550" y="2179320"/>
              <a:ext cx="2255977" cy="1047750"/>
            </a:xfrm>
            <a:prstGeom prst="rect">
              <a:avLst/>
            </a:prstGeom>
            <a:noFill/>
            <a:ln>
              <a:noFill/>
            </a:ln>
          </p:spPr>
          <p:txBody>
            <a:bodyPr wrap="none" lIns="0" tIns="0" rIns="0" bIns="0" anchor="t" anchorCtr="0">
              <a:spAutoFit/>
            </a:bodyPr>
            <a:lstStyle/>
            <a:p>
              <a:pPr algn="l"/>
              <a:r>
                <a:rPr lang="zh-CN" sz="5400" b="1" dirty="0">
                  <a:solidFill>
                    <a:schemeClr val="accent1"/>
                  </a:solidFill>
                  <a:latin typeface="Times New Roman"/>
                  <a:ea typeface="Times New Roman"/>
                  <a:cs typeface="Times New Roman"/>
                </a:rPr>
                <a:t>72504</a:t>
              </a:r>
            </a:p>
          </p:txBody>
        </p:sp>
        <p:sp>
          <p:nvSpPr>
            <p:cNvPr id="14" name="TextBox 14"/>
            <p:cNvSpPr txBox="1"/>
            <p:nvPr/>
          </p:nvSpPr>
          <p:spPr>
            <a:xfrm>
              <a:off x="602742" y="2997518"/>
              <a:ext cx="3239548"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万人 · 城镇就业 47535 万人，占 65.6%</a:t>
              </a:r>
            </a:p>
          </p:txBody>
        </p:sp>
        <p:sp>
          <p:nvSpPr>
            <p:cNvPr id="15" name="TextBox 15"/>
            <p:cNvSpPr txBox="1"/>
            <p:nvPr/>
          </p:nvSpPr>
          <p:spPr>
            <a:xfrm>
              <a:off x="602742" y="3321368"/>
              <a:ext cx="3194114"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城镇新增就业 1267 万人（多增 11 万）</a:t>
              </a:r>
            </a:p>
          </p:txBody>
        </p:sp>
        <p:sp>
          <p:nvSpPr>
            <p:cNvPr id="16" name="TextBox 16"/>
            <p:cNvSpPr txBox="1"/>
            <p:nvPr/>
          </p:nvSpPr>
          <p:spPr>
            <a:xfrm>
              <a:off x="602742" y="3645218"/>
              <a:ext cx="3175940"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城镇调查失业率平均 5.2%，年末 5.1%</a:t>
              </a:r>
            </a:p>
          </p:txBody>
        </p:sp>
      </p:grpSp>
      <p:grpSp>
        <p:nvGrpSpPr>
          <p:cNvPr id="23" name="Group 23"/>
          <p:cNvGrpSpPr/>
          <p:nvPr/>
        </p:nvGrpSpPr>
        <p:grpSpPr>
          <a:xfrm>
            <a:off x="600456" y="4133850"/>
            <a:ext cx="4123944" cy="1851851"/>
            <a:chOff x="600456" y="4133850"/>
            <a:chExt cx="4123944" cy="1851851"/>
          </a:xfrm>
        </p:grpSpPr>
        <p:sp>
          <p:nvSpPr>
            <p:cNvPr id="18" name="Line 18"/>
            <p:cNvSpPr/>
            <p:nvPr/>
          </p:nvSpPr>
          <p:spPr>
            <a:xfrm>
              <a:off x="609600" y="4133850"/>
              <a:ext cx="4114800" cy="9525"/>
            </a:xfrm>
            <a:custGeom>
              <a:avLst/>
              <a:gdLst/>
              <a:ahLst/>
              <a:cxnLst/>
              <a:rect l="l" t="t" r="r" b="b"/>
              <a:pathLst>
                <a:path w="4114800" h="9525">
                  <a:moveTo>
                    <a:pt x="0" y="0"/>
                  </a:moveTo>
                  <a:lnTo>
                    <a:pt x="4114800" y="0"/>
                  </a:lnTo>
                </a:path>
              </a:pathLst>
            </a:custGeom>
            <a:noFill/>
            <a:ln w="9525">
              <a:solidFill>
                <a:schemeClr val="accent6"/>
              </a:solidFill>
            </a:ln>
          </p:spPr>
        </p:sp>
        <p:sp>
          <p:nvSpPr>
            <p:cNvPr id="19" name="TextBox 19"/>
            <p:cNvSpPr txBox="1"/>
            <p:nvPr/>
          </p:nvSpPr>
          <p:spPr>
            <a:xfrm>
              <a:off x="600456" y="4263390"/>
              <a:ext cx="2683764"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全国居民人均可支配收入</a:t>
              </a:r>
            </a:p>
          </p:txBody>
        </p:sp>
        <p:sp>
          <p:nvSpPr>
            <p:cNvPr id="20" name="TextBox 20"/>
            <p:cNvSpPr txBox="1"/>
            <p:nvPr/>
          </p:nvSpPr>
          <p:spPr>
            <a:xfrm>
              <a:off x="601980" y="4714875"/>
              <a:ext cx="2577227" cy="293370"/>
            </a:xfrm>
            <a:prstGeom prst="rect">
              <a:avLst/>
            </a:prstGeom>
            <a:noFill/>
            <a:ln>
              <a:noFill/>
            </a:ln>
          </p:spPr>
          <p:txBody>
            <a:bodyPr wrap="none" lIns="0" tIns="0" rIns="0" bIns="0" anchor="t" anchorCtr="0">
              <a:spAutoFit/>
            </a:bodyPr>
            <a:lstStyle/>
            <a:p>
              <a:pPr algn="l"/>
              <a:r>
                <a:rPr lang="zh-CN" sz="1500" b="1" dirty="0">
                  <a:solidFill>
                    <a:schemeClr val="accent1"/>
                  </a:solidFill>
                  <a:latin typeface="Arial"/>
                  <a:ea typeface="Arial"/>
                  <a:cs typeface="Arial"/>
                </a:rPr>
                <a:t>43377</a:t>
              </a:r>
              <a:r>
                <a:rPr lang="zh-CN" sz="1500" dirty="0">
                  <a:solidFill>
                    <a:schemeClr val="accent5"/>
                  </a:solidFill>
                  <a:latin typeface="+mn-lt"/>
                  <a:ea typeface="+mn-ea"/>
                  <a:cs typeface="+mn-cs"/>
                </a:rPr>
                <a:t xml:space="preserve"> 元 · 中位数 36231 元</a:t>
              </a:r>
            </a:p>
          </p:txBody>
        </p:sp>
        <p:sp>
          <p:nvSpPr>
            <p:cNvPr id="21" name="TextBox 21"/>
            <p:cNvSpPr txBox="1"/>
            <p:nvPr/>
          </p:nvSpPr>
          <p:spPr>
            <a:xfrm>
              <a:off x="602742" y="5150168"/>
              <a:ext cx="2530773"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城镇 56502 元 · 农村 24456 元</a:t>
              </a:r>
            </a:p>
          </p:txBody>
        </p:sp>
        <p:sp>
          <p:nvSpPr>
            <p:cNvPr id="22" name="TextBox 22"/>
            <p:cNvSpPr txBox="1"/>
            <p:nvPr/>
          </p:nvSpPr>
          <p:spPr>
            <a:xfrm>
              <a:off x="602742" y="5474018"/>
              <a:ext cx="2842641"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accent5"/>
                  </a:solidFill>
                  <a:latin typeface="+mn-lt"/>
                  <a:ea typeface="+mn-ea"/>
                  <a:cs typeface="+mn-cs"/>
                </a:rPr>
                <a:t>城乡居民人均可支配收入比值 2.31，</a:t>
              </a:r>
              <a:br/>
              <a:r>
                <a:rPr lang="zh-CN" sz="1350" dirty="0">
                  <a:solidFill>
                    <a:schemeClr val="accent5"/>
                  </a:solidFill>
                  <a:latin typeface="+mn-lt"/>
                  <a:ea typeface="+mn-ea"/>
                  <a:cs typeface="+mn-cs"/>
                </a:rPr>
                <a:t>比上年缩小 0.03</a:t>
              </a:r>
            </a:p>
          </p:txBody>
        </p:sp>
      </p:grpSp>
      <p:graphicFrame>
        <p:nvGraphicFramePr>
          <p:cNvPr id="24" name="income-quintiles"/>
          <p:cNvGraphicFramePr>
            <a:graphicFrameLocks noGrp="1"/>
          </p:cNvGraphicFramePr>
          <p:nvPr/>
        </p:nvGraphicFramePr>
        <p:xfrm>
          <a:off x="5029200" y="1809750"/>
          <a:ext cx="6553200" cy="4000500"/>
        </p:xfrm>
        <a:graphic>
          <a:graphicData uri="http://schemas.openxmlformats.org/drawingml/2006/chart">
            <c:chart xmlns:c="http://schemas.openxmlformats.org/drawingml/2006/chart" r:id="rId2"/>
          </a:graphicData>
        </a:graphic>
      </p:graphicFrame>
      <p:grpSp>
        <p:nvGrpSpPr>
          <p:cNvPr id="28" name="Group 28"/>
          <p:cNvGrpSpPr/>
          <p:nvPr/>
        </p:nvGrpSpPr>
        <p:grpSpPr>
          <a:xfrm>
            <a:off x="603504" y="6172200"/>
            <a:ext cx="10984992" cy="371856"/>
            <a:chOff x="603504" y="6172200"/>
            <a:chExt cx="10984992" cy="371856"/>
          </a:xfrm>
        </p:grpSpPr>
        <p:sp>
          <p:nvSpPr>
            <p:cNvPr id="25" name="Line 25"/>
            <p:cNvSpPr/>
            <p:nvPr/>
          </p:nvSpPr>
          <p:spPr>
            <a:xfrm>
              <a:off x="609600" y="61722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26" name="TextBox 26"/>
            <p:cNvSpPr txBox="1"/>
            <p:nvPr/>
          </p:nvSpPr>
          <p:spPr>
            <a:xfrm>
              <a:off x="603504" y="6309360"/>
              <a:ext cx="8040929"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来源：国家统计局《2025 年国民经济和社会发展统计公报》一、综合；九、居民收入消费和社会保障；注释[64]</a:t>
              </a:r>
            </a:p>
          </p:txBody>
        </p:sp>
        <p:sp>
          <p:nvSpPr>
            <p:cNvPr id="27" name="TextBox 27"/>
            <p:cNvSpPr txBox="1"/>
            <p:nvPr/>
          </p:nvSpPr>
          <p:spPr>
            <a:xfrm>
              <a:off x="11398606" y="6309360"/>
              <a:ext cx="189890"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08</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22" presetClass="entr" presetSubtype="2" fill="hold" grpId="0"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right)">
                                      <p:cBhvr>
                                        <p:cTn id="7" dur="900"/>
                                        <p:tgtEl>
                                          <p:spTgt spid="24"/>
                                        </p:tgtEl>
                                      </p:cBhvr>
                                    </p:animEffect>
                                  </p:childTnLst>
                                </p:cTn>
                              </p:par>
                            </p:childTnLst>
                          </p:cTn>
                        </p:par>
                        <p:par>
                          <p:cTn id="8" fill="hold">
                            <p:stCondLst>
                              <p:cond delay="90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17"/>
                                        </p:tgtEl>
                                        <p:attrNameLst>
                                          <p:attrName>style.visibility</p:attrName>
                                        </p:attrNameLst>
                                      </p:cBhvr>
                                      <p:to>
                                        <p:strVal val="visible"/>
                                      </p:to>
                                    </p:set>
                                    <p:animEffect transition="in" filter="fade">
                                      <p:cBhvr>
                                        <p:cTn id="11" dur="500"/>
                                        <p:tgtEl>
                                          <p:spTgt spid="17"/>
                                        </p:tgtEl>
                                      </p:cBhvr>
                                    </p:animEffect>
                                  </p:childTnLst>
                                </p:cTn>
                              </p:par>
                            </p:childTnLst>
                          </p:cTn>
                        </p:par>
                        <p:par>
                          <p:cTn id="12" fill="hold">
                            <p:stCondLst>
                              <p:cond delay="190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11" name="Group 11"/>
          <p:cNvGrpSpPr/>
          <p:nvPr/>
        </p:nvGrpSpPr>
        <p:grpSpPr>
          <a:xfrm>
            <a:off x="593598" y="597218"/>
            <a:ext cx="10995660" cy="878967"/>
            <a:chOff x="593598" y="597218"/>
            <a:chExt cx="10995660" cy="878967"/>
          </a:xfrm>
        </p:grpSpPr>
        <p:grpSp>
          <p:nvGrpSpPr>
            <p:cNvPr id="6" name="Group 6"/>
            <p:cNvGrpSpPr/>
            <p:nvPr/>
          </p:nvGrpSpPr>
          <p:grpSpPr>
            <a:xfrm>
              <a:off x="641350" y="614362"/>
              <a:ext cx="127000" cy="142875"/>
              <a:chOff x="641350" y="614362"/>
              <a:chExt cx="127000" cy="142875"/>
            </a:xfrm>
          </p:grpSpPr>
          <p:sp>
            <p:nvSpPr>
              <p:cNvPr id="2" name="Freeform 2"/>
              <p:cNvSpPr/>
              <p:nvPr/>
            </p:nvSpPr>
            <p:spPr>
              <a:xfrm>
                <a:off x="641350" y="725487"/>
                <a:ext cx="31750" cy="31750"/>
              </a:xfrm>
              <a:custGeom>
                <a:avLst/>
                <a:gdLst/>
                <a:ahLst/>
                <a:cxnLst/>
                <a:rect l="l" t="t" r="r" b="b"/>
                <a:pathLst>
                  <a:path w="31750" h="31750">
                    <a:moveTo>
                      <a:pt x="0" y="15875"/>
                    </a:moveTo>
                    <a:cubicBezTo>
                      <a:pt x="0" y="24643"/>
                      <a:pt x="7107" y="31750"/>
                      <a:pt x="15875" y="31750"/>
                    </a:cubicBezTo>
                    <a:cubicBezTo>
                      <a:pt x="24643" y="31750"/>
                      <a:pt x="31750" y="24643"/>
                      <a:pt x="31750" y="15875"/>
                    </a:cubicBezTo>
                    <a:cubicBezTo>
                      <a:pt x="31750" y="7107"/>
                      <a:pt x="24643" y="0"/>
                      <a:pt x="15875" y="0"/>
                    </a:cubicBezTo>
                    <a:cubicBezTo>
                      <a:pt x="7107" y="0"/>
                      <a:pt x="0" y="7107"/>
                      <a:pt x="0" y="15875"/>
                    </a:cubicBezTo>
                  </a:path>
                </a:pathLst>
              </a:custGeom>
              <a:noFill/>
              <a:ln w="15875">
                <a:solidFill>
                  <a:srgbClr val="5F6B72"/>
                </a:solidFill>
              </a:ln>
            </p:spPr>
          </p:sp>
          <p:sp>
            <p:nvSpPr>
              <p:cNvPr id="3" name="Freeform 3"/>
              <p:cNvSpPr/>
              <p:nvPr/>
            </p:nvSpPr>
            <p:spPr>
              <a:xfrm>
                <a:off x="728662" y="725487"/>
                <a:ext cx="31750" cy="31750"/>
              </a:xfrm>
              <a:custGeom>
                <a:avLst/>
                <a:gdLst/>
                <a:ahLst/>
                <a:cxnLst/>
                <a:rect l="l" t="t" r="r" b="b"/>
                <a:pathLst>
                  <a:path w="31750" h="31750">
                    <a:moveTo>
                      <a:pt x="0" y="15875"/>
                    </a:moveTo>
                    <a:cubicBezTo>
                      <a:pt x="0" y="24643"/>
                      <a:pt x="7107" y="31750"/>
                      <a:pt x="15875" y="31750"/>
                    </a:cubicBezTo>
                    <a:cubicBezTo>
                      <a:pt x="24643" y="31750"/>
                      <a:pt x="31750" y="24643"/>
                      <a:pt x="31750" y="15875"/>
                    </a:cubicBezTo>
                    <a:cubicBezTo>
                      <a:pt x="31750" y="7107"/>
                      <a:pt x="24643" y="0"/>
                      <a:pt x="15875" y="0"/>
                    </a:cubicBezTo>
                    <a:cubicBezTo>
                      <a:pt x="7107" y="0"/>
                      <a:pt x="0" y="7107"/>
                      <a:pt x="0" y="15875"/>
                    </a:cubicBezTo>
                  </a:path>
                </a:pathLst>
              </a:custGeom>
              <a:noFill/>
              <a:ln w="15875">
                <a:solidFill>
                  <a:srgbClr val="5F6B72"/>
                </a:solidFill>
              </a:ln>
            </p:spPr>
          </p:sp>
          <p:sp>
            <p:nvSpPr>
              <p:cNvPr id="4" name="Freeform 4"/>
              <p:cNvSpPr/>
              <p:nvPr/>
            </p:nvSpPr>
            <p:spPr>
              <a:xfrm>
                <a:off x="641350" y="614362"/>
                <a:ext cx="103187" cy="111125"/>
              </a:xfrm>
              <a:custGeom>
                <a:avLst/>
                <a:gdLst/>
                <a:ahLst/>
                <a:cxnLst/>
                <a:rect l="l" t="t" r="r" b="b"/>
                <a:pathLst>
                  <a:path w="103187" h="111125">
                    <a:moveTo>
                      <a:pt x="103187" y="111125"/>
                    </a:moveTo>
                    <a:lnTo>
                      <a:pt x="15875" y="111125"/>
                    </a:lnTo>
                    <a:lnTo>
                      <a:pt x="15875" y="0"/>
                    </a:lnTo>
                    <a:lnTo>
                      <a:pt x="0" y="0"/>
                    </a:lnTo>
                  </a:path>
                </a:pathLst>
              </a:custGeom>
              <a:noFill/>
              <a:ln w="15875">
                <a:solidFill>
                  <a:srgbClr val="5F6B72"/>
                </a:solidFill>
              </a:ln>
            </p:spPr>
          </p:sp>
          <p:sp>
            <p:nvSpPr>
              <p:cNvPr id="5" name="Freeform 5"/>
              <p:cNvSpPr/>
              <p:nvPr/>
            </p:nvSpPr>
            <p:spPr>
              <a:xfrm>
                <a:off x="657225" y="630237"/>
                <a:ext cx="111125" cy="63500"/>
              </a:xfrm>
              <a:custGeom>
                <a:avLst/>
                <a:gdLst/>
                <a:ahLst/>
                <a:cxnLst/>
                <a:rect l="l" t="t" r="r" b="b"/>
                <a:pathLst>
                  <a:path w="111125" h="63500">
                    <a:moveTo>
                      <a:pt x="0" y="0"/>
                    </a:moveTo>
                    <a:lnTo>
                      <a:pt x="111125" y="7937"/>
                    </a:lnTo>
                    <a:lnTo>
                      <a:pt x="103187" y="63500"/>
                    </a:lnTo>
                    <a:lnTo>
                      <a:pt x="0" y="63500"/>
                    </a:lnTo>
                  </a:path>
                </a:pathLst>
              </a:custGeom>
              <a:noFill/>
              <a:ln w="15875">
                <a:solidFill>
                  <a:srgbClr val="5F6B72"/>
                </a:solidFill>
              </a:ln>
            </p:spPr>
          </p:sp>
        </p:grpSp>
        <p:sp>
          <p:nvSpPr>
            <p:cNvPr id="7" name="TextBox 7"/>
            <p:cNvSpPr txBox="1"/>
            <p:nvPr/>
          </p:nvSpPr>
          <p:spPr>
            <a:xfrm>
              <a:off x="888492" y="597218"/>
              <a:ext cx="1272750" cy="264033"/>
            </a:xfrm>
            <a:prstGeom prst="rect">
              <a:avLst/>
            </a:prstGeom>
            <a:noFill/>
            <a:ln>
              <a:noFill/>
            </a:ln>
          </p:spPr>
          <p:txBody>
            <a:bodyPr wrap="none" lIns="0" tIns="0" rIns="0" bIns="0" anchor="t" anchorCtr="0">
              <a:spAutoFit/>
            </a:bodyPr>
            <a:lstStyle/>
            <a:p>
              <a:pPr algn="l"/>
              <a:r>
                <a:rPr lang="zh-CN" sz="1350" spc="150" dirty="0">
                  <a:solidFill>
                    <a:schemeClr val="accent5"/>
                  </a:solidFill>
                  <a:latin typeface="+mn-lt"/>
                  <a:ea typeface="+mn-ea"/>
                  <a:cs typeface="+mn-cs"/>
                </a:rPr>
                <a:t>三 · 需求三面</a:t>
              </a:r>
            </a:p>
          </p:txBody>
        </p:sp>
        <p:sp>
          <p:nvSpPr>
            <p:cNvPr id="8" name="TextBox 8"/>
            <p:cNvSpPr txBox="1"/>
            <p:nvPr/>
          </p:nvSpPr>
          <p:spPr>
            <a:xfrm>
              <a:off x="593598" y="860108"/>
              <a:ext cx="4512564"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j-lt"/>
                  <a:ea typeface="+mj-ea"/>
                  <a:cs typeface="+mj-cs"/>
                </a:rPr>
                <a:t>消费：社零总额与结构</a:t>
              </a:r>
            </a:p>
          </p:txBody>
        </p:sp>
        <p:sp>
          <p:nvSpPr>
            <p:cNvPr id="9" name="TextBox 9"/>
            <p:cNvSpPr txBox="1"/>
            <p:nvPr/>
          </p:nvSpPr>
          <p:spPr>
            <a:xfrm>
              <a:off x="10666857" y="1054418"/>
              <a:ext cx="922401"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n-lt"/>
                  <a:ea typeface="+mn-ea"/>
                  <a:cs typeface="+mn-cs"/>
                </a:rPr>
                <a:t>单位：亿元</a:t>
              </a:r>
            </a:p>
          </p:txBody>
        </p:sp>
        <p:sp>
          <p:nvSpPr>
            <p:cNvPr id="10" name="Rectangle 10"/>
            <p:cNvSpPr/>
            <p:nvPr/>
          </p:nvSpPr>
          <p:spPr>
            <a:xfrm>
              <a:off x="609600" y="1381125"/>
              <a:ext cx="1295400" cy="38100"/>
            </a:xfrm>
            <a:prstGeom prst="rect">
              <a:avLst/>
            </a:prstGeom>
            <a:gradFill>
              <a:gsLst>
                <a:gs pos="0">
                  <a:schemeClr val="accent1"/>
                </a:gs>
                <a:gs pos="100000">
                  <a:schemeClr val="accent2"/>
                </a:gs>
              </a:gsLst>
              <a:lin ang="0" scaled="1"/>
            </a:gradFill>
            <a:ln>
              <a:noFill/>
            </a:ln>
          </p:spPr>
        </p:sp>
      </p:grpSp>
      <p:grpSp>
        <p:nvGrpSpPr>
          <p:cNvPr id="15" name="Group 15"/>
          <p:cNvGrpSpPr/>
          <p:nvPr/>
        </p:nvGrpSpPr>
        <p:grpSpPr>
          <a:xfrm>
            <a:off x="590550" y="1863090"/>
            <a:ext cx="5124801" cy="1383030"/>
            <a:chOff x="590550" y="1863090"/>
            <a:chExt cx="5124801" cy="1383030"/>
          </a:xfrm>
        </p:grpSpPr>
        <p:sp>
          <p:nvSpPr>
            <p:cNvPr id="12" name="TextBox 12"/>
            <p:cNvSpPr txBox="1"/>
            <p:nvPr/>
          </p:nvSpPr>
          <p:spPr>
            <a:xfrm>
              <a:off x="600456" y="1863090"/>
              <a:ext cx="2199132"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社会消费品零售总额</a:t>
              </a:r>
            </a:p>
          </p:txBody>
        </p:sp>
        <p:sp>
          <p:nvSpPr>
            <p:cNvPr id="13" name="TextBox 13"/>
            <p:cNvSpPr txBox="1"/>
            <p:nvPr/>
          </p:nvSpPr>
          <p:spPr>
            <a:xfrm>
              <a:off x="590550" y="2198370"/>
              <a:ext cx="2699553" cy="1047750"/>
            </a:xfrm>
            <a:prstGeom prst="rect">
              <a:avLst/>
            </a:prstGeom>
            <a:noFill/>
            <a:ln>
              <a:noFill/>
            </a:ln>
          </p:spPr>
          <p:txBody>
            <a:bodyPr wrap="none" lIns="0" tIns="0" rIns="0" bIns="0" anchor="t" anchorCtr="0">
              <a:spAutoFit/>
            </a:bodyPr>
            <a:lstStyle/>
            <a:p>
              <a:pPr algn="l"/>
              <a:r>
                <a:rPr lang="zh-CN" sz="5400" b="1" dirty="0">
                  <a:solidFill>
                    <a:schemeClr val="accent1"/>
                  </a:solidFill>
                  <a:latin typeface="Times New Roman"/>
                  <a:ea typeface="Times New Roman"/>
                  <a:cs typeface="Times New Roman"/>
                </a:rPr>
                <a:t>501202</a:t>
              </a:r>
            </a:p>
          </p:txBody>
        </p:sp>
        <p:sp>
          <p:nvSpPr>
            <p:cNvPr id="14" name="TextBox 14"/>
            <p:cNvSpPr txBox="1"/>
            <p:nvPr/>
          </p:nvSpPr>
          <p:spPr>
            <a:xfrm>
              <a:off x="3038856" y="2586990"/>
              <a:ext cx="2676495"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 xml:space="preserve">亿元 · 比上年增长 </a:t>
              </a:r>
              <a:r>
                <a:rPr lang="zh-CN" sz="1800" b="1" dirty="0">
                  <a:solidFill>
                    <a:schemeClr val="accent3"/>
                  </a:solidFill>
                  <a:latin typeface="+mn-lt"/>
                  <a:ea typeface="+mn-ea"/>
                  <a:cs typeface="+mn-cs"/>
                </a:rPr>
                <a:t>3.7%</a:t>
              </a:r>
            </a:p>
          </p:txBody>
        </p:sp>
      </p:grpSp>
      <p:grpSp>
        <p:nvGrpSpPr>
          <p:cNvPr id="19" name="Group 19"/>
          <p:cNvGrpSpPr/>
          <p:nvPr/>
        </p:nvGrpSpPr>
        <p:grpSpPr>
          <a:xfrm>
            <a:off x="6305550" y="1863090"/>
            <a:ext cx="4501485" cy="1383030"/>
            <a:chOff x="6305550" y="1863090"/>
            <a:chExt cx="4501485" cy="1383030"/>
          </a:xfrm>
        </p:grpSpPr>
        <p:sp>
          <p:nvSpPr>
            <p:cNvPr id="16" name="TextBox 16"/>
            <p:cNvSpPr txBox="1"/>
            <p:nvPr/>
          </p:nvSpPr>
          <p:spPr>
            <a:xfrm>
              <a:off x="6315456" y="1863090"/>
              <a:ext cx="2441448"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全国居民人均消费支出</a:t>
              </a:r>
            </a:p>
          </p:txBody>
        </p:sp>
        <p:sp>
          <p:nvSpPr>
            <p:cNvPr id="17" name="TextBox 17"/>
            <p:cNvSpPr txBox="1"/>
            <p:nvPr/>
          </p:nvSpPr>
          <p:spPr>
            <a:xfrm>
              <a:off x="6305550" y="2198370"/>
              <a:ext cx="2255977" cy="1047750"/>
            </a:xfrm>
            <a:prstGeom prst="rect">
              <a:avLst/>
            </a:prstGeom>
            <a:noFill/>
            <a:ln>
              <a:noFill/>
            </a:ln>
          </p:spPr>
          <p:txBody>
            <a:bodyPr wrap="none" lIns="0" tIns="0" rIns="0" bIns="0" anchor="t" anchorCtr="0">
              <a:spAutoFit/>
            </a:bodyPr>
            <a:lstStyle/>
            <a:p>
              <a:pPr algn="l"/>
              <a:r>
                <a:rPr lang="zh-CN" sz="5400" b="1" dirty="0">
                  <a:solidFill>
                    <a:schemeClr val="accent1"/>
                  </a:solidFill>
                  <a:latin typeface="Times New Roman"/>
                  <a:ea typeface="Times New Roman"/>
                  <a:cs typeface="Times New Roman"/>
                </a:rPr>
                <a:t>29476</a:t>
              </a:r>
            </a:p>
          </p:txBody>
        </p:sp>
        <p:sp>
          <p:nvSpPr>
            <p:cNvPr id="18" name="TextBox 18"/>
            <p:cNvSpPr txBox="1"/>
            <p:nvPr/>
          </p:nvSpPr>
          <p:spPr>
            <a:xfrm>
              <a:off x="8372856" y="2586990"/>
              <a:ext cx="2434179"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 xml:space="preserve">元 · 比上年增长 </a:t>
              </a:r>
              <a:r>
                <a:rPr lang="zh-CN" sz="1800" b="1" dirty="0">
                  <a:solidFill>
                    <a:schemeClr val="accent3"/>
                  </a:solidFill>
                  <a:latin typeface="+mn-lt"/>
                  <a:ea typeface="+mn-ea"/>
                  <a:cs typeface="+mn-cs"/>
                </a:rPr>
                <a:t>4.4%</a:t>
              </a:r>
            </a:p>
          </p:txBody>
        </p:sp>
      </p:grpSp>
      <p:graphicFrame>
        <p:nvGraphicFramePr>
          <p:cNvPr id="20" name="retail-composition"/>
          <p:cNvGraphicFramePr>
            <a:graphicFrameLocks noGrp="1"/>
          </p:cNvGraphicFramePr>
          <p:nvPr/>
        </p:nvGraphicFramePr>
        <p:xfrm>
          <a:off x="609600" y="3105150"/>
          <a:ext cx="10972800" cy="1238250"/>
        </p:xfrm>
        <a:graphic>
          <a:graphicData uri="http://schemas.openxmlformats.org/drawingml/2006/chart">
            <c:chart xmlns:c="http://schemas.openxmlformats.org/drawingml/2006/chart" r:id="rId2"/>
          </a:graphicData>
        </a:graphic>
      </p:graphicFrame>
      <p:sp>
        <p:nvSpPr>
          <p:cNvPr id="21" name="Chart Caption 21"/>
          <p:cNvSpPr txBox="1"/>
          <p:nvPr/>
        </p:nvSpPr>
        <p:spPr>
          <a:xfrm>
            <a:off x="2095500" y="3124200"/>
            <a:ext cx="2857500" cy="228600"/>
          </a:xfrm>
          <a:prstGeom prst="rect">
            <a:avLst/>
          </a:prstGeom>
          <a:noFill/>
          <a:ln>
            <a:noFill/>
          </a:ln>
        </p:spPr>
        <p:txBody>
          <a:bodyPr wrap="square" lIns="0" tIns="0" rIns="0" bIns="0" anchor="t" anchorCtr="0"/>
          <a:lstStyle/>
          <a:p>
            <a:pPr algn="l"/>
            <a:r>
              <a:rPr lang="zh-CN" sz="1350">
                <a:solidFill>
                  <a:srgbClr val="5F6B72"/>
                </a:solidFill>
                <a:latin typeface="Microsoft YaHei"/>
                <a:ea typeface="Microsoft YaHei"/>
                <a:cs typeface="Microsoft YaHei"/>
              </a:rPr>
              <a:t>按消费类型拆分</a:t>
            </a:r>
          </a:p>
        </p:txBody>
      </p:sp>
      <p:grpSp>
        <p:nvGrpSpPr>
          <p:cNvPr id="30" name="Group 30"/>
          <p:cNvGrpSpPr/>
          <p:nvPr/>
        </p:nvGrpSpPr>
        <p:grpSpPr>
          <a:xfrm>
            <a:off x="601980" y="4572000"/>
            <a:ext cx="10980420" cy="937451"/>
            <a:chOff x="601980" y="4572000"/>
            <a:chExt cx="10980420" cy="937451"/>
          </a:xfrm>
        </p:grpSpPr>
        <p:sp>
          <p:nvSpPr>
            <p:cNvPr id="22" name="Line 22"/>
            <p:cNvSpPr/>
            <p:nvPr/>
          </p:nvSpPr>
          <p:spPr>
            <a:xfrm>
              <a:off x="609600" y="45720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23" name="TextBox 23"/>
            <p:cNvSpPr txBox="1"/>
            <p:nvPr/>
          </p:nvSpPr>
          <p:spPr>
            <a:xfrm>
              <a:off x="601980" y="4676775"/>
              <a:ext cx="3821621"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城镇消费品零售额 432972 亿元（+3.6%）</a:t>
              </a:r>
            </a:p>
          </p:txBody>
        </p:sp>
        <p:sp>
          <p:nvSpPr>
            <p:cNvPr id="24" name="Rectangle 24"/>
            <p:cNvSpPr/>
            <p:nvPr/>
          </p:nvSpPr>
          <p:spPr>
            <a:xfrm>
              <a:off x="609600" y="4972050"/>
              <a:ext cx="5372100" cy="133350"/>
            </a:xfrm>
            <a:prstGeom prst="rect">
              <a:avLst/>
            </a:prstGeom>
            <a:solidFill>
              <a:srgbClr val="E4DED0"/>
            </a:solidFill>
            <a:ln>
              <a:noFill/>
            </a:ln>
          </p:spPr>
        </p:sp>
        <p:sp>
          <p:nvSpPr>
            <p:cNvPr id="25" name="Rectangle 25"/>
            <p:cNvSpPr/>
            <p:nvPr/>
          </p:nvSpPr>
          <p:spPr>
            <a:xfrm>
              <a:off x="609600" y="4972050"/>
              <a:ext cx="4640580" cy="133350"/>
            </a:xfrm>
            <a:prstGeom prst="rect">
              <a:avLst/>
            </a:prstGeom>
            <a:solidFill>
              <a:schemeClr val="accent1"/>
            </a:solidFill>
            <a:ln>
              <a:noFill/>
            </a:ln>
          </p:spPr>
        </p:sp>
        <p:sp>
          <p:nvSpPr>
            <p:cNvPr id="26" name="TextBox 26"/>
            <p:cNvSpPr txBox="1"/>
            <p:nvPr/>
          </p:nvSpPr>
          <p:spPr>
            <a:xfrm>
              <a:off x="6316980" y="4676775"/>
              <a:ext cx="3710559"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乡村消费品零售额 68230 亿元（+4.1%）</a:t>
              </a:r>
            </a:p>
          </p:txBody>
        </p:sp>
        <p:sp>
          <p:nvSpPr>
            <p:cNvPr id="27" name="Rectangle 27"/>
            <p:cNvSpPr/>
            <p:nvPr/>
          </p:nvSpPr>
          <p:spPr>
            <a:xfrm>
              <a:off x="6324600" y="4972050"/>
              <a:ext cx="5257800" cy="133350"/>
            </a:xfrm>
            <a:prstGeom prst="rect">
              <a:avLst/>
            </a:prstGeom>
            <a:solidFill>
              <a:srgbClr val="E4DED0"/>
            </a:solidFill>
            <a:ln>
              <a:noFill/>
            </a:ln>
          </p:spPr>
        </p:sp>
        <p:sp>
          <p:nvSpPr>
            <p:cNvPr id="28" name="Rectangle 28"/>
            <p:cNvSpPr/>
            <p:nvPr/>
          </p:nvSpPr>
          <p:spPr>
            <a:xfrm>
              <a:off x="6324600" y="4972050"/>
              <a:ext cx="716280" cy="133350"/>
            </a:xfrm>
            <a:prstGeom prst="rect">
              <a:avLst/>
            </a:prstGeom>
            <a:solidFill>
              <a:schemeClr val="accent3"/>
            </a:solidFill>
            <a:ln>
              <a:noFill/>
            </a:ln>
          </p:spPr>
        </p:sp>
        <p:sp>
          <p:nvSpPr>
            <p:cNvPr id="29" name="TextBox 29"/>
            <p:cNvSpPr txBox="1"/>
            <p:nvPr/>
          </p:nvSpPr>
          <p:spPr>
            <a:xfrm>
              <a:off x="602742" y="5245418"/>
              <a:ext cx="8110099"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商品零售额 443220 亿元（+3.8%）· 餐饮收入 57982 亿元（+3.2%）· 服务零售额比上年增长 5.5%</a:t>
              </a:r>
            </a:p>
          </p:txBody>
        </p:sp>
      </p:grpSp>
      <p:grpSp>
        <p:nvGrpSpPr>
          <p:cNvPr id="33" name="Group 33"/>
          <p:cNvGrpSpPr/>
          <p:nvPr/>
        </p:nvGrpSpPr>
        <p:grpSpPr>
          <a:xfrm>
            <a:off x="609600" y="5581650"/>
            <a:ext cx="10972800" cy="457200"/>
            <a:chOff x="609600" y="5581650"/>
            <a:chExt cx="10972800" cy="457200"/>
          </a:xfrm>
        </p:grpSpPr>
        <p:sp>
          <p:nvSpPr>
            <p:cNvPr id="31" name="Freeform 31"/>
            <p:cNvSpPr/>
            <p:nvPr/>
          </p:nvSpPr>
          <p:spPr>
            <a:xfrm>
              <a:off x="609600" y="5581650"/>
              <a:ext cx="10972800" cy="457200"/>
            </a:xfrm>
            <a:prstGeom prst="snip1Rect">
              <a:avLst>
                <a:gd name="adj" fmla="val 30000"/>
              </a:avLst>
            </a:prstGeom>
            <a:solidFill>
              <a:schemeClr val="lt2"/>
            </a:solidFill>
            <a:ln w="9525">
              <a:solidFill>
                <a:schemeClr val="accent6"/>
              </a:solidFill>
            </a:ln>
          </p:spPr>
        </p:sp>
        <p:sp>
          <p:nvSpPr>
            <p:cNvPr id="32" name="TextBox 32"/>
            <p:cNvSpPr txBox="1"/>
            <p:nvPr/>
          </p:nvSpPr>
          <p:spPr>
            <a:xfrm>
              <a:off x="830580" y="5715000"/>
              <a:ext cx="9930003"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实物商品网上零售额 130923 亿元，比上年增长 5.2%，占社会消费品零售总额比重 26.1%；恩格尔系数 29.3%</a:t>
              </a:r>
            </a:p>
          </p:txBody>
        </p:sp>
      </p:grpSp>
      <p:grpSp>
        <p:nvGrpSpPr>
          <p:cNvPr id="37" name="Group 37"/>
          <p:cNvGrpSpPr/>
          <p:nvPr/>
        </p:nvGrpSpPr>
        <p:grpSpPr>
          <a:xfrm>
            <a:off x="603504" y="6172200"/>
            <a:ext cx="10984992" cy="371856"/>
            <a:chOff x="603504" y="6172200"/>
            <a:chExt cx="10984992" cy="371856"/>
          </a:xfrm>
        </p:grpSpPr>
        <p:sp>
          <p:nvSpPr>
            <p:cNvPr id="34" name="Line 34"/>
            <p:cNvSpPr/>
            <p:nvPr/>
          </p:nvSpPr>
          <p:spPr>
            <a:xfrm>
              <a:off x="609600" y="61722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35" name="TextBox 35"/>
            <p:cNvSpPr txBox="1"/>
            <p:nvPr/>
          </p:nvSpPr>
          <p:spPr>
            <a:xfrm>
              <a:off x="603504" y="6309360"/>
              <a:ext cx="7523988"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来源：国家统计局《2025 年国民经济和社会发展统计公报》五、国内贸易；九、居民收入消费和社会保障</a:t>
              </a:r>
            </a:p>
          </p:txBody>
        </p:sp>
        <p:sp>
          <p:nvSpPr>
            <p:cNvPr id="36" name="TextBox 36"/>
            <p:cNvSpPr txBox="1"/>
            <p:nvPr/>
          </p:nvSpPr>
          <p:spPr>
            <a:xfrm>
              <a:off x="11398606" y="6309360"/>
              <a:ext cx="189890"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09</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37"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anim calcmode="lin" valueType="num">
                                      <p:cBhvr>
                                        <p:cTn id="8" dur="500" fill="hold"/>
                                        <p:tgtEl>
                                          <p:spTgt spid="15"/>
                                        </p:tgtEl>
                                        <p:attrNameLst>
                                          <p:attrName>ppt_x</p:attrName>
                                        </p:attrNameLst>
                                      </p:cBhvr>
                                      <p:tavLst>
                                        <p:tav tm="0">
                                          <p:val>
                                            <p:strVal val="#ppt_x"/>
                                          </p:val>
                                        </p:tav>
                                        <p:tav tm="100000">
                                          <p:val>
                                            <p:strVal val="#ppt_x"/>
                                          </p:val>
                                        </p:tav>
                                      </p:tavLst>
                                    </p:anim>
                                    <p:anim calcmode="lin" valueType="num">
                                      <p:cBhvr>
                                        <p:cTn id="9" dur="450" decel="100000" fill="hold"/>
                                        <p:tgtEl>
                                          <p:spTgt spid="15"/>
                                        </p:tgtEl>
                                        <p:attrNameLst>
                                          <p:attrName>ppt_y</p:attrName>
                                        </p:attrNameLst>
                                      </p:cBhvr>
                                      <p:tavLst>
                                        <p:tav tm="0">
                                          <p:val>
                                            <p:strVal val="#ppt_y+1"/>
                                          </p:val>
                                        </p:tav>
                                        <p:tav tm="100000">
                                          <p:val>
                                            <p:strVal val="#ppt_y-.03"/>
                                          </p:val>
                                        </p:tav>
                                      </p:tavLst>
                                    </p:anim>
                                    <p:anim calcmode="lin" valueType="num">
                                      <p:cBhvr>
                                        <p:cTn id="10" dur="50" accel="100000" fill="hold">
                                          <p:stCondLst>
                                            <p:cond delay="450"/>
                                          </p:stCondLst>
                                        </p:cTn>
                                        <p:tgtEl>
                                          <p:spTgt spid="15"/>
                                        </p:tgtEl>
                                        <p:attrNameLst>
                                          <p:attrName>ppt_y</p:attrName>
                                        </p:attrNameLst>
                                      </p:cBhvr>
                                      <p:tavLst>
                                        <p:tav tm="0">
                                          <p:val>
                                            <p:strVal val="#ppt_y-.03"/>
                                          </p:val>
                                        </p:tav>
                                        <p:tav tm="100000">
                                          <p:val>
                                            <p:strVal val="#ppt_y"/>
                                          </p:val>
                                        </p:tav>
                                      </p:tavLst>
                                    </p:anim>
                                  </p:childTnLst>
                                </p:cTn>
                              </p:par>
                            </p:childTnLst>
                          </p:cTn>
                        </p:par>
                        <p:par>
                          <p:cTn id="11" fill="hold">
                            <p:stCondLst>
                              <p:cond delay="500"/>
                            </p:stCondLst>
                            <p:childTnLst>
                              <p:par>
                                <p:cTn xmlns:p="http://schemas.openxmlformats.org/presentationml/2006/main" id="12" presetID="37" presetClass="entr" presetSubtype="0" fill="hold" grpId="0" nodeType="afterEffect">
                                  <p:stCondLst>
                                    <p:cond delay="500"/>
                                  </p:stCondLst>
                                  <p:childTnLst>
                                    <p:set>
                                      <p:cBhvr>
                                        <p:cTn id="13" dur="1" fill="hold">
                                          <p:stCondLst>
                                            <p:cond delay="0"/>
                                          </p:stCondLst>
                                        </p:cTn>
                                        <p:tgtEl>
                                          <p:spTgt spid="19"/>
                                        </p:tgtEl>
                                        <p:attrNameLst>
                                          <p:attrName>style.visibility</p:attrName>
                                        </p:attrNameLst>
                                      </p:cBhvr>
                                      <p:to>
                                        <p:strVal val="visible"/>
                                      </p:to>
                                    </p:set>
                                    <p:animEffect transition="in" filter="fade">
                                      <p:cBhvr>
                                        <p:cTn id="14" dur="500"/>
                                        <p:tgtEl>
                                          <p:spTgt spid="19"/>
                                        </p:tgtEl>
                                      </p:cBhvr>
                                    </p:animEffect>
                                    <p:anim calcmode="lin" valueType="num">
                                      <p:cBhvr>
                                        <p:cTn id="15" dur="500" fill="hold"/>
                                        <p:tgtEl>
                                          <p:spTgt spid="19"/>
                                        </p:tgtEl>
                                        <p:attrNameLst>
                                          <p:attrName>ppt_x</p:attrName>
                                        </p:attrNameLst>
                                      </p:cBhvr>
                                      <p:tavLst>
                                        <p:tav tm="0">
                                          <p:val>
                                            <p:strVal val="#ppt_x"/>
                                          </p:val>
                                        </p:tav>
                                        <p:tav tm="100000">
                                          <p:val>
                                            <p:strVal val="#ppt_x"/>
                                          </p:val>
                                        </p:tav>
                                      </p:tavLst>
                                    </p:anim>
                                    <p:anim calcmode="lin" valueType="num">
                                      <p:cBhvr>
                                        <p:cTn id="16" dur="450" decel="100000" fill="hold"/>
                                        <p:tgtEl>
                                          <p:spTgt spid="19"/>
                                        </p:tgtEl>
                                        <p:attrNameLst>
                                          <p:attrName>ppt_y</p:attrName>
                                        </p:attrNameLst>
                                      </p:cBhvr>
                                      <p:tavLst>
                                        <p:tav tm="0">
                                          <p:val>
                                            <p:strVal val="#ppt_y+1"/>
                                          </p:val>
                                        </p:tav>
                                        <p:tav tm="100000">
                                          <p:val>
                                            <p:strVal val="#ppt_y-.03"/>
                                          </p:val>
                                        </p:tav>
                                      </p:tavLst>
                                    </p:anim>
                                    <p:anim calcmode="lin" valueType="num">
                                      <p:cBhvr>
                                        <p:cTn id="17" dur="50" accel="100000" fill="hold">
                                          <p:stCondLst>
                                            <p:cond delay="450"/>
                                          </p:stCondLst>
                                        </p:cTn>
                                        <p:tgtEl>
                                          <p:spTgt spid="19"/>
                                        </p:tgtEl>
                                        <p:attrNameLst>
                                          <p:attrName>ppt_y</p:attrName>
                                        </p:attrNameLst>
                                      </p:cBhvr>
                                      <p:tavLst>
                                        <p:tav tm="0">
                                          <p:val>
                                            <p:strVal val="#ppt_y-.03"/>
                                          </p:val>
                                        </p:tav>
                                        <p:tav tm="100000">
                                          <p:val>
                                            <p:strVal val="#ppt_y"/>
                                          </p:val>
                                        </p:tav>
                                      </p:tavLst>
                                    </p:anim>
                                  </p:childTnLst>
                                </p:cTn>
                              </p:par>
                            </p:childTnLst>
                          </p:cTn>
                        </p:par>
                        <p:par>
                          <p:cTn id="18" fill="hold">
                            <p:stCondLst>
                              <p:cond delay="1500"/>
                            </p:stCondLst>
                            <p:childTnLst>
                              <p:par>
                                <p:cTn xmlns:p="http://schemas.openxmlformats.org/presentationml/2006/main" id="19" presetID="22" presetClass="entr" presetSubtype="2" fill="hold" grpId="0" nodeType="afterEffect">
                                  <p:stCondLst>
                                    <p:cond delay="500"/>
                                  </p:stCondLst>
                                  <p:childTnLst>
                                    <p:set>
                                      <p:cBhvr>
                                        <p:cTn id="20" dur="1" fill="hold">
                                          <p:stCondLst>
                                            <p:cond delay="0"/>
                                          </p:stCondLst>
                                        </p:cTn>
                                        <p:tgtEl>
                                          <p:spTgt spid="20"/>
                                        </p:tgtEl>
                                        <p:attrNameLst>
                                          <p:attrName>style.visibility</p:attrName>
                                        </p:attrNameLst>
                                      </p:cBhvr>
                                      <p:to>
                                        <p:strVal val="visible"/>
                                      </p:to>
                                    </p:set>
                                    <p:animEffect transition="in" filter="wipe(right)">
                                      <p:cBhvr>
                                        <p:cTn id="21" dur="800"/>
                                        <p:tgtEl>
                                          <p:spTgt spid="20"/>
                                        </p:tgtEl>
                                      </p:cBhvr>
                                    </p:animEffect>
                                  </p:childTnLst>
                                </p:cTn>
                              </p:par>
                            </p:childTnLst>
                          </p:cTn>
                        </p:par>
                        <p:par>
                          <p:cTn id="22" fill="hold">
                            <p:stCondLst>
                              <p:cond delay="2800"/>
                            </p:stCondLst>
                            <p:childTnLst>
                              <p:par>
                                <p:cTn xmlns:p="http://schemas.openxmlformats.org/presentationml/2006/main" id="23" presetID="22" presetClass="entr" presetSubtype="2" fill="hold" grpId="0" nodeType="afterEffect">
                                  <p:stCondLst>
                                    <p:cond delay="500"/>
                                  </p:stCondLst>
                                  <p:childTnLst>
                                    <p:set>
                                      <p:cBhvr>
                                        <p:cTn id="24" dur="1" fill="hold">
                                          <p:stCondLst>
                                            <p:cond delay="0"/>
                                          </p:stCondLst>
                                        </p:cTn>
                                        <p:tgtEl>
                                          <p:spTgt spid="30"/>
                                        </p:tgtEl>
                                        <p:attrNameLst>
                                          <p:attrName>style.visibility</p:attrName>
                                        </p:attrNameLst>
                                      </p:cBhvr>
                                      <p:to>
                                        <p:strVal val="visible"/>
                                      </p:to>
                                    </p:set>
                                    <p:animEffect transition="in" filter="wipe(right)">
                                      <p:cBhvr>
                                        <p:cTn id="25" dur="600"/>
                                        <p:tgtEl>
                                          <p:spTgt spid="30"/>
                                        </p:tgtEl>
                                      </p:cBhvr>
                                    </p:animEffect>
                                  </p:childTnLst>
                                </p:cTn>
                              </p:par>
                            </p:childTnLst>
                          </p:cTn>
                        </p:par>
                        <p:par>
                          <p:cTn id="26" fill="hold">
                            <p:stCondLst>
                              <p:cond delay="3900"/>
                            </p:stCondLst>
                            <p:childTnLst>
                              <p:par>
                                <p:cTn xmlns:p="http://schemas.openxmlformats.org/presentationml/2006/main" id="27" presetID="10" presetClass="entr" presetSubtype="0" fill="hold" grpId="0" nodeType="afterEffect">
                                  <p:stCondLst>
                                    <p:cond delay="500"/>
                                  </p:stCondLst>
                                  <p:childTnLst>
                                    <p:set>
                                      <p:cBhvr>
                                        <p:cTn id="28" dur="1" fill="hold">
                                          <p:stCondLst>
                                            <p:cond delay="0"/>
                                          </p:stCondLst>
                                        </p:cTn>
                                        <p:tgtEl>
                                          <p:spTgt spid="33"/>
                                        </p:tgtEl>
                                        <p:attrNameLst>
                                          <p:attrName>style.visibility</p:attrName>
                                        </p:attrNameLst>
                                      </p:cBhvr>
                                      <p:to>
                                        <p:strVal val="visible"/>
                                      </p:to>
                                    </p:set>
                                    <p:animEffect transition="in" filter="fade">
                                      <p:cBhvr>
                                        <p:cTn id="29" dur="4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7" name="Group 7"/>
          <p:cNvGrpSpPr/>
          <p:nvPr/>
        </p:nvGrpSpPr>
        <p:grpSpPr>
          <a:xfrm>
            <a:off x="593598" y="597218"/>
            <a:ext cx="10995660" cy="878967"/>
            <a:chOff x="593598" y="597218"/>
            <a:chExt cx="10995660" cy="878967"/>
          </a:xfrm>
        </p:grpSpPr>
        <p:sp>
          <p:nvSpPr>
            <p:cNvPr id="2" name="Freeform 2"/>
            <p:cNvSpPr/>
            <p:nvPr/>
          </p:nvSpPr>
          <p:spPr>
            <a:xfrm>
              <a:off x="641350" y="646112"/>
              <a:ext cx="127000" cy="95250"/>
            </a:xfrm>
            <a:custGeom>
              <a:avLst/>
              <a:gdLst/>
              <a:ahLst/>
              <a:cxnLst/>
              <a:rect l="l" t="t" r="r" b="b"/>
              <a:pathLst>
                <a:path w="127000" h="95250">
                  <a:moveTo>
                    <a:pt x="15875" y="0"/>
                  </a:moveTo>
                  <a:lnTo>
                    <a:pt x="111125" y="0"/>
                  </a:lnTo>
                  <a:cubicBezTo>
                    <a:pt x="119892" y="0"/>
                    <a:pt x="127000" y="7107"/>
                    <a:pt x="127000" y="15875"/>
                  </a:cubicBezTo>
                  <a:lnTo>
                    <a:pt x="127000" y="87312"/>
                  </a:lnTo>
                  <a:cubicBezTo>
                    <a:pt x="127000" y="91696"/>
                    <a:pt x="123446" y="95250"/>
                    <a:pt x="119062" y="95250"/>
                  </a:cubicBezTo>
                  <a:lnTo>
                    <a:pt x="103187" y="95250"/>
                  </a:lnTo>
                  <a:cubicBezTo>
                    <a:pt x="98804" y="95250"/>
                    <a:pt x="95250" y="91696"/>
                    <a:pt x="95250" y="87312"/>
                  </a:cubicBezTo>
                  <a:lnTo>
                    <a:pt x="95250" y="71437"/>
                  </a:lnTo>
                  <a:cubicBezTo>
                    <a:pt x="95250" y="53902"/>
                    <a:pt x="81035" y="39687"/>
                    <a:pt x="63500" y="39687"/>
                  </a:cubicBezTo>
                  <a:cubicBezTo>
                    <a:pt x="45965" y="39687"/>
                    <a:pt x="31750" y="53902"/>
                    <a:pt x="31750" y="71437"/>
                  </a:cubicBezTo>
                  <a:lnTo>
                    <a:pt x="31750" y="87312"/>
                  </a:lnTo>
                  <a:cubicBezTo>
                    <a:pt x="31750" y="91696"/>
                    <a:pt x="28196" y="95250"/>
                    <a:pt x="23812" y="95250"/>
                  </a:cubicBezTo>
                  <a:lnTo>
                    <a:pt x="7937" y="95250"/>
                  </a:lnTo>
                  <a:cubicBezTo>
                    <a:pt x="3554" y="95250"/>
                    <a:pt x="0" y="91696"/>
                    <a:pt x="0" y="87312"/>
                  </a:cubicBezTo>
                  <a:lnTo>
                    <a:pt x="0" y="15875"/>
                  </a:lnTo>
                  <a:cubicBezTo>
                    <a:pt x="0" y="7107"/>
                    <a:pt x="7107" y="0"/>
                    <a:pt x="15875" y="0"/>
                  </a:cubicBezTo>
                </a:path>
              </a:pathLst>
            </a:custGeom>
            <a:noFill/>
            <a:ln w="15875">
              <a:solidFill>
                <a:srgbClr val="5F6B72"/>
              </a:solidFill>
            </a:ln>
          </p:spPr>
        </p:sp>
        <p:sp>
          <p:nvSpPr>
            <p:cNvPr id="3" name="TextBox 3"/>
            <p:cNvSpPr txBox="1"/>
            <p:nvPr/>
          </p:nvSpPr>
          <p:spPr>
            <a:xfrm>
              <a:off x="888492" y="597218"/>
              <a:ext cx="1272750" cy="264033"/>
            </a:xfrm>
            <a:prstGeom prst="rect">
              <a:avLst/>
            </a:prstGeom>
            <a:noFill/>
            <a:ln>
              <a:noFill/>
            </a:ln>
          </p:spPr>
          <p:txBody>
            <a:bodyPr wrap="none" lIns="0" tIns="0" rIns="0" bIns="0" anchor="t" anchorCtr="0">
              <a:spAutoFit/>
            </a:bodyPr>
            <a:lstStyle/>
            <a:p>
              <a:pPr algn="l"/>
              <a:r>
                <a:rPr lang="zh-CN" sz="1350" spc="150" dirty="0">
                  <a:solidFill>
                    <a:schemeClr val="accent5"/>
                  </a:solidFill>
                  <a:latin typeface="+mn-lt"/>
                  <a:ea typeface="+mn-ea"/>
                  <a:cs typeface="+mn-cs"/>
                </a:rPr>
                <a:t>三 · 需求三面</a:t>
              </a:r>
            </a:p>
          </p:txBody>
        </p:sp>
        <p:sp>
          <p:nvSpPr>
            <p:cNvPr id="4" name="TextBox 4"/>
            <p:cNvSpPr txBox="1"/>
            <p:nvPr/>
          </p:nvSpPr>
          <p:spPr>
            <a:xfrm>
              <a:off x="593598" y="860108"/>
              <a:ext cx="3168396"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j-lt"/>
                  <a:ea typeface="+mj-ea"/>
                  <a:cs typeface="+mj-cs"/>
                </a:rPr>
                <a:t>投资：全面收缩</a:t>
              </a:r>
            </a:p>
          </p:txBody>
        </p:sp>
        <p:sp>
          <p:nvSpPr>
            <p:cNvPr id="5" name="TextBox 5"/>
            <p:cNvSpPr txBox="1"/>
            <p:nvPr/>
          </p:nvSpPr>
          <p:spPr>
            <a:xfrm>
              <a:off x="7595502" y="1054418"/>
              <a:ext cx="3993756"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n-lt"/>
                  <a:ea typeface="+mn-ea"/>
                  <a:cs typeface="+mn-cs"/>
                </a:rPr>
                <a:t>分行业固定资产投资（不含农户）增速 · 单位：%</a:t>
              </a:r>
            </a:p>
          </p:txBody>
        </p:sp>
        <p:sp>
          <p:nvSpPr>
            <p:cNvPr id="6" name="Rectangle 6"/>
            <p:cNvSpPr/>
            <p:nvPr/>
          </p:nvSpPr>
          <p:spPr>
            <a:xfrm>
              <a:off x="609600" y="1381125"/>
              <a:ext cx="1295400" cy="38100"/>
            </a:xfrm>
            <a:prstGeom prst="rect">
              <a:avLst/>
            </a:prstGeom>
            <a:gradFill>
              <a:gsLst>
                <a:gs pos="0">
                  <a:schemeClr val="accent1"/>
                </a:gs>
                <a:gs pos="100000">
                  <a:schemeClr val="accent2"/>
                </a:gs>
              </a:gsLst>
              <a:lin ang="0" scaled="1"/>
            </a:gradFill>
            <a:ln>
              <a:noFill/>
            </a:ln>
          </p:spPr>
        </p:sp>
      </p:grpSp>
      <p:grpSp>
        <p:nvGrpSpPr>
          <p:cNvPr id="11" name="Group 11"/>
          <p:cNvGrpSpPr/>
          <p:nvPr/>
        </p:nvGrpSpPr>
        <p:grpSpPr>
          <a:xfrm>
            <a:off x="601980" y="1876425"/>
            <a:ext cx="9501149" cy="832676"/>
            <a:chOff x="601980" y="1876425"/>
            <a:chExt cx="9501149" cy="832676"/>
          </a:xfrm>
        </p:grpSpPr>
        <p:sp>
          <p:nvSpPr>
            <p:cNvPr id="8" name="TextBox 8"/>
            <p:cNvSpPr txBox="1"/>
            <p:nvPr/>
          </p:nvSpPr>
          <p:spPr>
            <a:xfrm>
              <a:off x="601980" y="1876425"/>
              <a:ext cx="8247926"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 xml:space="preserve">全社会固定资产投资 </a:t>
              </a:r>
              <a:r>
                <a:rPr lang="zh-CN" sz="1500" b="1" dirty="0">
                  <a:solidFill>
                    <a:schemeClr val="dk1"/>
                  </a:solidFill>
                  <a:latin typeface="Arial"/>
                  <a:ea typeface="Arial"/>
                  <a:cs typeface="Arial"/>
                </a:rPr>
                <a:t>491109</a:t>
              </a:r>
              <a:r>
                <a:rPr lang="zh-CN" sz="1500" dirty="0">
                  <a:solidFill>
                    <a:schemeClr val="dk1"/>
                  </a:solidFill>
                  <a:latin typeface="+mn-lt"/>
                  <a:ea typeface="+mn-ea"/>
                  <a:cs typeface="+mn-cs"/>
                </a:rPr>
                <a:t xml:space="preserve"> 亿元，比上年下降 </a:t>
              </a:r>
              <a:r>
                <a:rPr lang="zh-CN" sz="1500" b="1" dirty="0">
                  <a:solidFill>
                    <a:schemeClr val="accent2"/>
                  </a:solidFill>
                  <a:latin typeface="+mn-lt"/>
                  <a:ea typeface="+mn-ea"/>
                  <a:cs typeface="+mn-cs"/>
                </a:rPr>
                <a:t>3.9%</a:t>
              </a:r>
              <a:r>
                <a:rPr lang="zh-CN" sz="1500" dirty="0">
                  <a:solidFill>
                    <a:schemeClr val="dk1"/>
                  </a:solidFill>
                  <a:latin typeface="+mn-lt"/>
                  <a:ea typeface="+mn-ea"/>
                  <a:cs typeface="+mn-cs"/>
                </a:rPr>
                <a:t xml:space="preserve">；不含农户 </a:t>
              </a:r>
              <a:r>
                <a:rPr lang="zh-CN" sz="1500" b="1" dirty="0">
                  <a:solidFill>
                    <a:schemeClr val="dk1"/>
                  </a:solidFill>
                  <a:latin typeface="Arial"/>
                  <a:ea typeface="Arial"/>
                  <a:cs typeface="Arial"/>
                </a:rPr>
                <a:t>485186</a:t>
              </a:r>
              <a:r>
                <a:rPr lang="zh-CN" sz="1500" dirty="0">
                  <a:solidFill>
                    <a:schemeClr val="dk1"/>
                  </a:solidFill>
                  <a:latin typeface="+mn-lt"/>
                  <a:ea typeface="+mn-ea"/>
                  <a:cs typeface="+mn-cs"/>
                </a:rPr>
                <a:t xml:space="preserve"> 亿元，下降 </a:t>
              </a:r>
              <a:r>
                <a:rPr lang="zh-CN" sz="1500" b="1" dirty="0">
                  <a:solidFill>
                    <a:schemeClr val="accent2"/>
                  </a:solidFill>
                  <a:latin typeface="+mn-lt"/>
                  <a:ea typeface="+mn-ea"/>
                  <a:cs typeface="+mn-cs"/>
                </a:rPr>
                <a:t>3.8%</a:t>
              </a:r>
            </a:p>
          </p:txBody>
        </p:sp>
        <p:sp>
          <p:nvSpPr>
            <p:cNvPr id="9" name="TextBox 9"/>
            <p:cNvSpPr txBox="1"/>
            <p:nvPr/>
          </p:nvSpPr>
          <p:spPr>
            <a:xfrm>
              <a:off x="602742" y="2178368"/>
              <a:ext cx="8219142"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第一产业 9570 亿元（+2.3%）· 第二产业 177368 亿元（+2.5%）· 第三产业 298248 亿元（-7.4%）</a:t>
              </a:r>
            </a:p>
          </p:txBody>
        </p:sp>
        <p:sp>
          <p:nvSpPr>
            <p:cNvPr id="10" name="TextBox 10"/>
            <p:cNvSpPr txBox="1"/>
            <p:nvPr/>
          </p:nvSpPr>
          <p:spPr>
            <a:xfrm>
              <a:off x="602742" y="2445068"/>
              <a:ext cx="9500387"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房地产开发投资 82788 亿元（-17.2%），其中住宅 63514 亿元（-16.3%）· 基础设施投资 -2.2% · 民间投资 -6.4%</a:t>
              </a:r>
            </a:p>
          </p:txBody>
        </p:sp>
      </p:grpSp>
      <p:graphicFrame>
        <p:nvGraphicFramePr>
          <p:cNvPr id="12" name="investment-by-industry"/>
          <p:cNvGraphicFramePr>
            <a:graphicFrameLocks noGrp="1"/>
          </p:cNvGraphicFramePr>
          <p:nvPr/>
        </p:nvGraphicFramePr>
        <p:xfrm>
          <a:off x="609600" y="2857500"/>
          <a:ext cx="10972800" cy="3238500"/>
        </p:xfrm>
        <a:graphic>
          <a:graphicData uri="http://schemas.openxmlformats.org/drawingml/2006/chart">
            <c:chart xmlns:c="http://schemas.openxmlformats.org/drawingml/2006/chart" r:id="rId2"/>
          </a:graphicData>
        </a:graphic>
      </p:graphicFrame>
      <p:grpSp>
        <p:nvGrpSpPr>
          <p:cNvPr id="16" name="Group 16"/>
          <p:cNvGrpSpPr/>
          <p:nvPr/>
        </p:nvGrpSpPr>
        <p:grpSpPr>
          <a:xfrm>
            <a:off x="603504" y="6172200"/>
            <a:ext cx="10984992" cy="371856"/>
            <a:chOff x="603504" y="6172200"/>
            <a:chExt cx="10984992" cy="371856"/>
          </a:xfrm>
        </p:grpSpPr>
        <p:sp>
          <p:nvSpPr>
            <p:cNvPr id="13" name="Line 13"/>
            <p:cNvSpPr/>
            <p:nvPr/>
          </p:nvSpPr>
          <p:spPr>
            <a:xfrm>
              <a:off x="609600" y="61722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4" name="TextBox 14"/>
            <p:cNvSpPr txBox="1"/>
            <p:nvPr/>
          </p:nvSpPr>
          <p:spPr>
            <a:xfrm>
              <a:off x="603504" y="6309360"/>
              <a:ext cx="6772808"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来源：国家统计局《2025 年国民经济和社会发展统计公报》六、固定资产投资 表 7；注释[20]</a:t>
              </a:r>
            </a:p>
          </p:txBody>
        </p:sp>
        <p:sp>
          <p:nvSpPr>
            <p:cNvPr id="15" name="TextBox 15"/>
            <p:cNvSpPr txBox="1"/>
            <p:nvPr/>
          </p:nvSpPr>
          <p:spPr>
            <a:xfrm>
              <a:off x="11398606" y="6309360"/>
              <a:ext cx="189890"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10</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par>
                          <p:cTn id="8" fill="hold">
                            <p:stCondLst>
                              <p:cond delay="500"/>
                            </p:stCondLst>
                            <p:childTnLst>
                              <p:par>
                                <p:cTn xmlns:p="http://schemas.openxmlformats.org/presentationml/2006/main" id="9" presetID="16" presetClass="entr" presetSubtype="42" fill="hold" grpId="0" nodeType="afterEffect">
                                  <p:stCondLst>
                                    <p:cond delay="500"/>
                                  </p:stCondLst>
                                  <p:childTnLst>
                                    <p:set>
                                      <p:cBhvr>
                                        <p:cTn id="10" dur="1" fill="hold">
                                          <p:stCondLst>
                                            <p:cond delay="0"/>
                                          </p:stCondLst>
                                        </p:cTn>
                                        <p:tgtEl>
                                          <p:spTgt spid="12"/>
                                        </p:tgtEl>
                                        <p:attrNameLst>
                                          <p:attrName>style.visibility</p:attrName>
                                        </p:attrNameLst>
                                      </p:cBhvr>
                                      <p:to>
                                        <p:strVal val="visible"/>
                                      </p:to>
                                    </p:set>
                                    <p:animEffect transition="in" filter="barn(outHorizontal)">
                                      <p:cBhvr>
                                        <p:cTn id="11" dur="1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11" name="Group 11"/>
          <p:cNvGrpSpPr/>
          <p:nvPr/>
        </p:nvGrpSpPr>
        <p:grpSpPr>
          <a:xfrm>
            <a:off x="593598" y="597218"/>
            <a:ext cx="10995660" cy="878967"/>
            <a:chOff x="593598" y="597218"/>
            <a:chExt cx="10995660" cy="878967"/>
          </a:xfrm>
        </p:grpSpPr>
        <p:grpSp>
          <p:nvGrpSpPr>
            <p:cNvPr id="6" name="Group 6"/>
            <p:cNvGrpSpPr/>
            <p:nvPr/>
          </p:nvGrpSpPr>
          <p:grpSpPr>
            <a:xfrm>
              <a:off x="625475" y="614362"/>
              <a:ext cx="158750" cy="143007"/>
              <a:chOff x="625475" y="614362"/>
              <a:chExt cx="158750" cy="143007"/>
            </a:xfrm>
          </p:grpSpPr>
          <p:sp>
            <p:nvSpPr>
              <p:cNvPr id="2" name="Freeform 2"/>
              <p:cNvSpPr/>
              <p:nvPr/>
            </p:nvSpPr>
            <p:spPr>
              <a:xfrm>
                <a:off x="625475" y="741231"/>
                <a:ext cx="158750" cy="16138"/>
              </a:xfrm>
              <a:custGeom>
                <a:avLst/>
                <a:gdLst/>
                <a:ahLst/>
                <a:cxnLst/>
                <a:rect l="l" t="t" r="r" b="b"/>
                <a:pathLst>
                  <a:path w="158750" h="16138">
                    <a:moveTo>
                      <a:pt x="0" y="8069"/>
                    </a:moveTo>
                    <a:cubicBezTo>
                      <a:pt x="3661" y="13169"/>
                      <a:pt x="9599" y="16138"/>
                      <a:pt x="15875" y="16006"/>
                    </a:cubicBezTo>
                    <a:cubicBezTo>
                      <a:pt x="22151" y="16138"/>
                      <a:pt x="28089" y="13169"/>
                      <a:pt x="31750" y="8069"/>
                    </a:cubicBezTo>
                    <a:cubicBezTo>
                      <a:pt x="35411" y="2969"/>
                      <a:pt x="41349" y="0"/>
                      <a:pt x="47625" y="131"/>
                    </a:cubicBezTo>
                    <a:cubicBezTo>
                      <a:pt x="53901" y="0"/>
                      <a:pt x="59839" y="2969"/>
                      <a:pt x="63500" y="8069"/>
                    </a:cubicBezTo>
                    <a:cubicBezTo>
                      <a:pt x="67161" y="13169"/>
                      <a:pt x="73099" y="16138"/>
                      <a:pt x="79375" y="16006"/>
                    </a:cubicBezTo>
                    <a:cubicBezTo>
                      <a:pt x="85651" y="16138"/>
                      <a:pt x="91589" y="13169"/>
                      <a:pt x="95250" y="8069"/>
                    </a:cubicBezTo>
                    <a:cubicBezTo>
                      <a:pt x="98911" y="2969"/>
                      <a:pt x="104849" y="0"/>
                      <a:pt x="111125" y="131"/>
                    </a:cubicBezTo>
                    <a:cubicBezTo>
                      <a:pt x="117401" y="0"/>
                      <a:pt x="123339" y="2969"/>
                      <a:pt x="127000" y="8069"/>
                    </a:cubicBezTo>
                    <a:cubicBezTo>
                      <a:pt x="130661" y="13169"/>
                      <a:pt x="136599" y="16138"/>
                      <a:pt x="142875" y="16006"/>
                    </a:cubicBezTo>
                    <a:cubicBezTo>
                      <a:pt x="149151" y="16138"/>
                      <a:pt x="155089" y="13169"/>
                      <a:pt x="158750" y="8069"/>
                    </a:cubicBezTo>
                  </a:path>
                </a:pathLst>
              </a:custGeom>
              <a:noFill/>
              <a:ln w="15875">
                <a:solidFill>
                  <a:srgbClr val="5F6B72"/>
                </a:solidFill>
              </a:ln>
            </p:spPr>
          </p:sp>
          <p:sp>
            <p:nvSpPr>
              <p:cNvPr id="3" name="Freeform 3"/>
              <p:cNvSpPr/>
              <p:nvPr/>
            </p:nvSpPr>
            <p:spPr>
              <a:xfrm>
                <a:off x="633412" y="693737"/>
                <a:ext cx="142875" cy="39687"/>
              </a:xfrm>
              <a:custGeom>
                <a:avLst/>
                <a:gdLst/>
                <a:ahLst/>
                <a:cxnLst/>
                <a:rect l="l" t="t" r="r" b="b"/>
                <a:pathLst>
                  <a:path w="142875" h="39687">
                    <a:moveTo>
                      <a:pt x="7937" y="39687"/>
                    </a:moveTo>
                    <a:lnTo>
                      <a:pt x="0" y="0"/>
                    </a:lnTo>
                    <a:lnTo>
                      <a:pt x="142875" y="0"/>
                    </a:lnTo>
                    <a:lnTo>
                      <a:pt x="127000" y="31750"/>
                    </a:lnTo>
                  </a:path>
                </a:pathLst>
              </a:custGeom>
              <a:noFill/>
              <a:ln w="15875">
                <a:solidFill>
                  <a:srgbClr val="5F6B72"/>
                </a:solidFill>
              </a:ln>
            </p:spPr>
          </p:sp>
          <p:sp>
            <p:nvSpPr>
              <p:cNvPr id="4" name="Freeform 4"/>
              <p:cNvSpPr/>
              <p:nvPr/>
            </p:nvSpPr>
            <p:spPr>
              <a:xfrm>
                <a:off x="649287" y="646112"/>
                <a:ext cx="95250" cy="47625"/>
              </a:xfrm>
              <a:custGeom>
                <a:avLst/>
                <a:gdLst/>
                <a:ahLst/>
                <a:cxnLst/>
                <a:rect l="l" t="t" r="r" b="b"/>
                <a:pathLst>
                  <a:path w="95250" h="47625">
                    <a:moveTo>
                      <a:pt x="0" y="47625"/>
                    </a:moveTo>
                    <a:lnTo>
                      <a:pt x="0" y="0"/>
                    </a:lnTo>
                    <a:lnTo>
                      <a:pt x="63500" y="0"/>
                    </a:lnTo>
                    <a:lnTo>
                      <a:pt x="95250" y="47625"/>
                    </a:lnTo>
                  </a:path>
                </a:pathLst>
              </a:custGeom>
              <a:noFill/>
              <a:ln w="15875">
                <a:solidFill>
                  <a:srgbClr val="5F6B72"/>
                </a:solidFill>
              </a:ln>
            </p:spPr>
          </p:sp>
          <p:sp>
            <p:nvSpPr>
              <p:cNvPr id="5" name="Freeform 5"/>
              <p:cNvSpPr/>
              <p:nvPr/>
            </p:nvSpPr>
            <p:spPr>
              <a:xfrm>
                <a:off x="657225" y="614362"/>
                <a:ext cx="9525" cy="31750"/>
              </a:xfrm>
              <a:custGeom>
                <a:avLst/>
                <a:gdLst/>
                <a:ahLst/>
                <a:cxnLst/>
                <a:rect l="l" t="t" r="r" b="b"/>
                <a:pathLst>
                  <a:path w="9525" h="31750">
                    <a:moveTo>
                      <a:pt x="7937" y="31750"/>
                    </a:moveTo>
                    <a:lnTo>
                      <a:pt x="7937" y="0"/>
                    </a:lnTo>
                    <a:lnTo>
                      <a:pt x="0" y="0"/>
                    </a:lnTo>
                  </a:path>
                </a:pathLst>
              </a:custGeom>
              <a:noFill/>
              <a:ln w="15875">
                <a:solidFill>
                  <a:srgbClr val="5F6B72"/>
                </a:solidFill>
              </a:ln>
            </p:spPr>
          </p:sp>
        </p:grpSp>
        <p:sp>
          <p:nvSpPr>
            <p:cNvPr id="7" name="TextBox 7"/>
            <p:cNvSpPr txBox="1"/>
            <p:nvPr/>
          </p:nvSpPr>
          <p:spPr>
            <a:xfrm>
              <a:off x="888492" y="597218"/>
              <a:ext cx="1272750" cy="264033"/>
            </a:xfrm>
            <a:prstGeom prst="rect">
              <a:avLst/>
            </a:prstGeom>
            <a:noFill/>
            <a:ln>
              <a:noFill/>
            </a:ln>
          </p:spPr>
          <p:txBody>
            <a:bodyPr wrap="none" lIns="0" tIns="0" rIns="0" bIns="0" anchor="t" anchorCtr="0">
              <a:spAutoFit/>
            </a:bodyPr>
            <a:lstStyle/>
            <a:p>
              <a:pPr algn="l"/>
              <a:r>
                <a:rPr lang="zh-CN" sz="1350" spc="150" dirty="0">
                  <a:solidFill>
                    <a:schemeClr val="accent5"/>
                  </a:solidFill>
                  <a:latin typeface="+mn-lt"/>
                  <a:ea typeface="+mn-ea"/>
                  <a:cs typeface="+mn-cs"/>
                </a:rPr>
                <a:t>三 · 需求三面</a:t>
              </a:r>
            </a:p>
          </p:txBody>
        </p:sp>
        <p:sp>
          <p:nvSpPr>
            <p:cNvPr id="8" name="TextBox 8"/>
            <p:cNvSpPr txBox="1"/>
            <p:nvPr/>
          </p:nvSpPr>
          <p:spPr>
            <a:xfrm>
              <a:off x="593598" y="860108"/>
              <a:ext cx="4512564"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j-lt"/>
                  <a:ea typeface="+mj-ea"/>
                  <a:cs typeface="+mj-cs"/>
                </a:rPr>
                <a:t>对外贸易：规模与口径</a:t>
              </a:r>
            </a:p>
          </p:txBody>
        </p:sp>
        <p:sp>
          <p:nvSpPr>
            <p:cNvPr id="9" name="TextBox 9"/>
            <p:cNvSpPr txBox="1"/>
            <p:nvPr/>
          </p:nvSpPr>
          <p:spPr>
            <a:xfrm>
              <a:off x="8095278" y="1054418"/>
              <a:ext cx="3493980"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n-lt"/>
                  <a:ea typeface="+mn-ea"/>
                  <a:cs typeface="+mn-cs"/>
                </a:rPr>
                <a:t>四类口径下的出口额与进口额 · 单位：亿元</a:t>
              </a:r>
            </a:p>
          </p:txBody>
        </p:sp>
        <p:sp>
          <p:nvSpPr>
            <p:cNvPr id="10" name="Rectangle 10"/>
            <p:cNvSpPr/>
            <p:nvPr/>
          </p:nvSpPr>
          <p:spPr>
            <a:xfrm>
              <a:off x="609600" y="1381125"/>
              <a:ext cx="1295400" cy="38100"/>
            </a:xfrm>
            <a:prstGeom prst="rect">
              <a:avLst/>
            </a:prstGeom>
            <a:gradFill>
              <a:gsLst>
                <a:gs pos="0">
                  <a:schemeClr val="accent1"/>
                </a:gs>
                <a:gs pos="100000">
                  <a:schemeClr val="accent2"/>
                </a:gs>
              </a:gsLst>
              <a:lin ang="0" scaled="1"/>
            </a:gradFill>
            <a:ln>
              <a:noFill/>
            </a:ln>
          </p:spPr>
        </p:sp>
      </p:grpSp>
      <p:grpSp>
        <p:nvGrpSpPr>
          <p:cNvPr id="15" name="Group 15"/>
          <p:cNvGrpSpPr/>
          <p:nvPr/>
        </p:nvGrpSpPr>
        <p:grpSpPr>
          <a:xfrm>
            <a:off x="601980" y="1876425"/>
            <a:ext cx="10455269" cy="889826"/>
            <a:chOff x="601980" y="1876425"/>
            <a:chExt cx="10455269" cy="889826"/>
          </a:xfrm>
        </p:grpSpPr>
        <p:sp>
          <p:nvSpPr>
            <p:cNvPr id="12" name="TextBox 12"/>
            <p:cNvSpPr txBox="1"/>
            <p:nvPr/>
          </p:nvSpPr>
          <p:spPr>
            <a:xfrm>
              <a:off x="601980" y="1876425"/>
              <a:ext cx="10027939"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 xml:space="preserve">货物进出口总额 </a:t>
              </a:r>
              <a:r>
                <a:rPr lang="zh-CN" sz="1500" b="1" dirty="0">
                  <a:solidFill>
                    <a:schemeClr val="dk1"/>
                  </a:solidFill>
                  <a:latin typeface="Arial"/>
                  <a:ea typeface="Arial"/>
                  <a:cs typeface="Arial"/>
                </a:rPr>
                <a:t>454685</a:t>
              </a:r>
              <a:r>
                <a:rPr lang="zh-CN" sz="1500" dirty="0">
                  <a:solidFill>
                    <a:schemeClr val="dk1"/>
                  </a:solidFill>
                  <a:latin typeface="+mn-lt"/>
                  <a:ea typeface="+mn-ea"/>
                  <a:cs typeface="+mn-cs"/>
                </a:rPr>
                <a:t xml:space="preserve"> 亿元，比上年增长 </a:t>
              </a:r>
              <a:r>
                <a:rPr lang="zh-CN" sz="1500" b="1" dirty="0">
                  <a:solidFill>
                    <a:schemeClr val="accent3"/>
                  </a:solidFill>
                  <a:latin typeface="+mn-lt"/>
                  <a:ea typeface="+mn-ea"/>
                  <a:cs typeface="+mn-cs"/>
                </a:rPr>
                <a:t>3.8%</a:t>
              </a:r>
              <a:r>
                <a:rPr lang="zh-CN" sz="1500" dirty="0">
                  <a:solidFill>
                    <a:schemeClr val="dk1"/>
                  </a:solidFill>
                  <a:latin typeface="+mn-lt"/>
                  <a:ea typeface="+mn-ea"/>
                  <a:cs typeface="+mn-cs"/>
                </a:rPr>
                <a:t>；出口 269890 亿元（+6.1%），进口 184795 亿元（+0.5%）</a:t>
              </a:r>
            </a:p>
          </p:txBody>
        </p:sp>
        <p:sp>
          <p:nvSpPr>
            <p:cNvPr id="13" name="TextBox 13"/>
            <p:cNvSpPr txBox="1"/>
            <p:nvPr/>
          </p:nvSpPr>
          <p:spPr>
            <a:xfrm>
              <a:off x="601980" y="2181225"/>
              <a:ext cx="4434478"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 xml:space="preserve">货物进出口顺差 </a:t>
              </a:r>
              <a:r>
                <a:rPr lang="zh-CN" sz="1500" b="1" dirty="0">
                  <a:solidFill>
                    <a:schemeClr val="dk1"/>
                  </a:solidFill>
                  <a:latin typeface="Arial"/>
                  <a:ea typeface="Arial"/>
                  <a:cs typeface="Arial"/>
                </a:rPr>
                <a:t>85094</a:t>
              </a:r>
              <a:r>
                <a:rPr lang="zh-CN" sz="1500" dirty="0">
                  <a:solidFill>
                    <a:schemeClr val="dk1"/>
                  </a:solidFill>
                  <a:latin typeface="+mn-lt"/>
                  <a:ea typeface="+mn-ea"/>
                  <a:cs typeface="+mn-cs"/>
                </a:rPr>
                <a:t xml:space="preserve"> 亿元，比上年增长 </a:t>
              </a:r>
              <a:r>
                <a:rPr lang="zh-CN" sz="1500" b="1" dirty="0">
                  <a:solidFill>
                    <a:schemeClr val="accent3"/>
                  </a:solidFill>
                  <a:latin typeface="+mn-lt"/>
                  <a:ea typeface="+mn-ea"/>
                  <a:cs typeface="+mn-cs"/>
                </a:rPr>
                <a:t>20.4%</a:t>
              </a:r>
            </a:p>
          </p:txBody>
        </p:sp>
        <p:sp>
          <p:nvSpPr>
            <p:cNvPr id="14" name="TextBox 14"/>
            <p:cNvSpPr txBox="1"/>
            <p:nvPr/>
          </p:nvSpPr>
          <p:spPr>
            <a:xfrm>
              <a:off x="602742" y="2502218"/>
              <a:ext cx="10454507"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对共建“一带一路”国家进出口额 236018 亿元（+6.3%），占比 51.9% · 民营企业进出口额 260403 亿元（+7.1%），占比 57.3%</a:t>
              </a:r>
            </a:p>
          </p:txBody>
        </p:sp>
      </p:grpSp>
      <p:graphicFrame>
        <p:nvGraphicFramePr>
          <p:cNvPr id="16" name="trade-composition"/>
          <p:cNvGraphicFramePr>
            <a:graphicFrameLocks noGrp="1"/>
          </p:cNvGraphicFramePr>
          <p:nvPr/>
        </p:nvGraphicFramePr>
        <p:xfrm>
          <a:off x="609600" y="2952750"/>
          <a:ext cx="10972800" cy="3143250"/>
        </p:xfrm>
        <a:graphic>
          <a:graphicData uri="http://schemas.openxmlformats.org/drawingml/2006/chart">
            <c:chart xmlns:c="http://schemas.openxmlformats.org/drawingml/2006/chart" r:id="rId2"/>
          </a:graphicData>
        </a:graphic>
      </p:graphicFrame>
      <p:grpSp>
        <p:nvGrpSpPr>
          <p:cNvPr id="20" name="Group 20"/>
          <p:cNvGrpSpPr/>
          <p:nvPr/>
        </p:nvGrpSpPr>
        <p:grpSpPr>
          <a:xfrm>
            <a:off x="603504" y="6172200"/>
            <a:ext cx="10984992" cy="371856"/>
            <a:chOff x="603504" y="6172200"/>
            <a:chExt cx="10984992" cy="371856"/>
          </a:xfrm>
        </p:grpSpPr>
        <p:sp>
          <p:nvSpPr>
            <p:cNvPr id="17" name="Line 17"/>
            <p:cNvSpPr/>
            <p:nvPr/>
          </p:nvSpPr>
          <p:spPr>
            <a:xfrm>
              <a:off x="609600" y="61722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8" name="TextBox 18"/>
            <p:cNvSpPr txBox="1"/>
            <p:nvPr/>
          </p:nvSpPr>
          <p:spPr>
            <a:xfrm>
              <a:off x="603504" y="6309360"/>
              <a:ext cx="5698541"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来源：国家统计局《2025 年国民经济和社会发展统计公报》七、对外经济 表 10</a:t>
              </a:r>
            </a:p>
          </p:txBody>
        </p:sp>
        <p:sp>
          <p:nvSpPr>
            <p:cNvPr id="19" name="TextBox 19"/>
            <p:cNvSpPr txBox="1"/>
            <p:nvPr/>
          </p:nvSpPr>
          <p:spPr>
            <a:xfrm>
              <a:off x="11398606" y="6309360"/>
              <a:ext cx="189890"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11</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par>
                          <p:cTn id="8" fill="hold">
                            <p:stCondLst>
                              <p:cond delay="500"/>
                            </p:stCondLst>
                            <p:childTnLst>
                              <p:par>
                                <p:cTn xmlns:p="http://schemas.openxmlformats.org/presentationml/2006/main" id="9" presetID="22" presetClass="entr" presetSubtype="1" fill="hold" grpId="0" nodeType="afterEffect">
                                  <p:stCondLst>
                                    <p:cond delay="500"/>
                                  </p:stCondLst>
                                  <p:childTnLst>
                                    <p:set>
                                      <p:cBhvr>
                                        <p:cTn id="10" dur="1" fill="hold">
                                          <p:stCondLst>
                                            <p:cond delay="0"/>
                                          </p:stCondLst>
                                        </p:cTn>
                                        <p:tgtEl>
                                          <p:spTgt spid="16"/>
                                        </p:tgtEl>
                                        <p:attrNameLst>
                                          <p:attrName>style.visibility</p:attrName>
                                        </p:attrNameLst>
                                      </p:cBhvr>
                                      <p:to>
                                        <p:strVal val="visible"/>
                                      </p:to>
                                    </p:set>
                                    <p:animEffect transition="in" filter="wipe(up)">
                                      <p:cBhvr>
                                        <p:cTn id="11" dur="9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12" name="Group 12"/>
          <p:cNvGrpSpPr/>
          <p:nvPr/>
        </p:nvGrpSpPr>
        <p:grpSpPr>
          <a:xfrm>
            <a:off x="593598" y="597218"/>
            <a:ext cx="10995660" cy="878967"/>
            <a:chOff x="593598" y="597218"/>
            <a:chExt cx="10995660" cy="878967"/>
          </a:xfrm>
        </p:grpSpPr>
        <p:grpSp>
          <p:nvGrpSpPr>
            <p:cNvPr id="7" name="Group 7"/>
            <p:cNvGrpSpPr/>
            <p:nvPr/>
          </p:nvGrpSpPr>
          <p:grpSpPr>
            <a:xfrm>
              <a:off x="633412" y="614362"/>
              <a:ext cx="142875" cy="142875"/>
              <a:chOff x="633412" y="614362"/>
              <a:chExt cx="142875" cy="142875"/>
            </a:xfrm>
          </p:grpSpPr>
          <p:sp>
            <p:nvSpPr>
              <p:cNvPr id="2" name="Freeform 2"/>
              <p:cNvSpPr/>
              <p:nvPr/>
            </p:nvSpPr>
            <p:spPr>
              <a:xfrm>
                <a:off x="633412" y="614362"/>
                <a:ext cx="142875" cy="142875"/>
              </a:xfrm>
              <a:custGeom>
                <a:avLst/>
                <a:gdLst/>
                <a:ahLst/>
                <a:cxnLst/>
                <a:rect l="l" t="t" r="r" b="b"/>
                <a:pathLst>
                  <a:path w="142875" h="142875">
                    <a:moveTo>
                      <a:pt x="0" y="71437"/>
                    </a:moveTo>
                    <a:cubicBezTo>
                      <a:pt x="0" y="110891"/>
                      <a:pt x="31984" y="142875"/>
                      <a:pt x="71437" y="142875"/>
                    </a:cubicBezTo>
                    <a:cubicBezTo>
                      <a:pt x="110891" y="142875"/>
                      <a:pt x="142875" y="110891"/>
                      <a:pt x="142875" y="71437"/>
                    </a:cubicBezTo>
                    <a:cubicBezTo>
                      <a:pt x="142875" y="31984"/>
                      <a:pt x="110891" y="0"/>
                      <a:pt x="71437" y="0"/>
                    </a:cubicBezTo>
                    <a:cubicBezTo>
                      <a:pt x="31984" y="0"/>
                      <a:pt x="0" y="31984"/>
                      <a:pt x="0" y="71437"/>
                    </a:cubicBezTo>
                  </a:path>
                </a:pathLst>
              </a:custGeom>
              <a:noFill/>
              <a:ln w="15875">
                <a:solidFill>
                  <a:srgbClr val="5F6B72"/>
                </a:solidFill>
              </a:ln>
            </p:spPr>
          </p:sp>
          <p:sp>
            <p:nvSpPr>
              <p:cNvPr id="3" name="Freeform 3"/>
              <p:cNvSpPr/>
              <p:nvPr/>
            </p:nvSpPr>
            <p:spPr>
              <a:xfrm>
                <a:off x="638175" y="661987"/>
                <a:ext cx="133350" cy="9525"/>
              </a:xfrm>
              <a:custGeom>
                <a:avLst/>
                <a:gdLst/>
                <a:ahLst/>
                <a:cxnLst/>
                <a:rect l="l" t="t" r="r" b="b"/>
                <a:pathLst>
                  <a:path w="133350" h="9525">
                    <a:moveTo>
                      <a:pt x="0" y="0"/>
                    </a:moveTo>
                    <a:lnTo>
                      <a:pt x="133350" y="0"/>
                    </a:lnTo>
                  </a:path>
                </a:pathLst>
              </a:custGeom>
              <a:noFill/>
              <a:ln w="15875">
                <a:solidFill>
                  <a:srgbClr val="5F6B72"/>
                </a:solidFill>
              </a:ln>
            </p:spPr>
          </p:sp>
          <p:sp>
            <p:nvSpPr>
              <p:cNvPr id="4" name="Freeform 4"/>
              <p:cNvSpPr/>
              <p:nvPr/>
            </p:nvSpPr>
            <p:spPr>
              <a:xfrm>
                <a:off x="638175" y="709612"/>
                <a:ext cx="133350" cy="9525"/>
              </a:xfrm>
              <a:custGeom>
                <a:avLst/>
                <a:gdLst/>
                <a:ahLst/>
                <a:cxnLst/>
                <a:rect l="l" t="t" r="r" b="b"/>
                <a:pathLst>
                  <a:path w="133350" h="9525">
                    <a:moveTo>
                      <a:pt x="0" y="0"/>
                    </a:moveTo>
                    <a:lnTo>
                      <a:pt x="133350" y="0"/>
                    </a:lnTo>
                  </a:path>
                </a:pathLst>
              </a:custGeom>
              <a:noFill/>
              <a:ln w="15875">
                <a:solidFill>
                  <a:srgbClr val="5F6B72"/>
                </a:solidFill>
              </a:ln>
            </p:spPr>
          </p:sp>
          <p:sp>
            <p:nvSpPr>
              <p:cNvPr id="5" name="Freeform 5"/>
              <p:cNvSpPr/>
              <p:nvPr/>
            </p:nvSpPr>
            <p:spPr>
              <a:xfrm>
                <a:off x="673600" y="614362"/>
                <a:ext cx="27282" cy="142875"/>
              </a:xfrm>
              <a:custGeom>
                <a:avLst/>
                <a:gdLst/>
                <a:ahLst/>
                <a:cxnLst/>
                <a:rect l="l" t="t" r="r" b="b"/>
                <a:pathLst>
                  <a:path w="27282" h="142875">
                    <a:moveTo>
                      <a:pt x="27282" y="0"/>
                    </a:moveTo>
                    <a:cubicBezTo>
                      <a:pt x="0" y="43718"/>
                      <a:pt x="0" y="99157"/>
                      <a:pt x="27282" y="142875"/>
                    </a:cubicBezTo>
                  </a:path>
                </a:pathLst>
              </a:custGeom>
              <a:noFill/>
              <a:ln w="15875">
                <a:solidFill>
                  <a:srgbClr val="5F6B72"/>
                </a:solidFill>
              </a:ln>
            </p:spPr>
          </p:sp>
          <p:sp>
            <p:nvSpPr>
              <p:cNvPr id="6" name="Freeform 6"/>
              <p:cNvSpPr/>
              <p:nvPr/>
            </p:nvSpPr>
            <p:spPr>
              <a:xfrm>
                <a:off x="708819" y="614362"/>
                <a:ext cx="27282" cy="142875"/>
              </a:xfrm>
              <a:custGeom>
                <a:avLst/>
                <a:gdLst/>
                <a:ahLst/>
                <a:cxnLst/>
                <a:rect l="l" t="t" r="r" b="b"/>
                <a:pathLst>
                  <a:path w="27282" h="142875">
                    <a:moveTo>
                      <a:pt x="0" y="0"/>
                    </a:moveTo>
                    <a:cubicBezTo>
                      <a:pt x="27282" y="43718"/>
                      <a:pt x="27282" y="99157"/>
                      <a:pt x="0" y="142875"/>
                    </a:cubicBezTo>
                  </a:path>
                </a:pathLst>
              </a:custGeom>
              <a:noFill/>
              <a:ln w="15875">
                <a:solidFill>
                  <a:srgbClr val="5F6B72"/>
                </a:solidFill>
              </a:ln>
            </p:spPr>
          </p:sp>
        </p:grpSp>
        <p:sp>
          <p:nvSpPr>
            <p:cNvPr id="8" name="TextBox 8"/>
            <p:cNvSpPr txBox="1"/>
            <p:nvPr/>
          </p:nvSpPr>
          <p:spPr>
            <a:xfrm>
              <a:off x="888492" y="597218"/>
              <a:ext cx="1272750" cy="264033"/>
            </a:xfrm>
            <a:prstGeom prst="rect">
              <a:avLst/>
            </a:prstGeom>
            <a:noFill/>
            <a:ln>
              <a:noFill/>
            </a:ln>
          </p:spPr>
          <p:txBody>
            <a:bodyPr wrap="none" lIns="0" tIns="0" rIns="0" bIns="0" anchor="t" anchorCtr="0">
              <a:spAutoFit/>
            </a:bodyPr>
            <a:lstStyle/>
            <a:p>
              <a:pPr algn="l"/>
              <a:r>
                <a:rPr lang="zh-CN" sz="1350" spc="150" dirty="0">
                  <a:solidFill>
                    <a:schemeClr val="accent5"/>
                  </a:solidFill>
                  <a:latin typeface="+mn-lt"/>
                  <a:ea typeface="+mn-ea"/>
                  <a:cs typeface="+mn-cs"/>
                </a:rPr>
                <a:t>三 · 需求三面</a:t>
              </a:r>
            </a:p>
          </p:txBody>
        </p:sp>
        <p:sp>
          <p:nvSpPr>
            <p:cNvPr id="9" name="TextBox 9"/>
            <p:cNvSpPr txBox="1"/>
            <p:nvPr/>
          </p:nvSpPr>
          <p:spPr>
            <a:xfrm>
              <a:off x="593598" y="860108"/>
              <a:ext cx="2720340"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j-lt"/>
                  <a:ea typeface="+mj-ea"/>
                  <a:cs typeface="+mj-cs"/>
                </a:rPr>
                <a:t>主要贸易伙伴</a:t>
              </a:r>
            </a:p>
          </p:txBody>
        </p:sp>
        <p:sp>
          <p:nvSpPr>
            <p:cNvPr id="10" name="TextBox 10"/>
            <p:cNvSpPr txBox="1"/>
            <p:nvPr/>
          </p:nvSpPr>
          <p:spPr>
            <a:xfrm>
              <a:off x="9758172" y="1054418"/>
              <a:ext cx="1831086"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n-lt"/>
                  <a:ea typeface="+mn-ea"/>
                  <a:cs typeface="+mn-cs"/>
                </a:rPr>
                <a:t>按出口额从大到小排列</a:t>
              </a:r>
            </a:p>
          </p:txBody>
        </p:sp>
        <p:sp>
          <p:nvSpPr>
            <p:cNvPr id="11" name="Rectangle 11"/>
            <p:cNvSpPr/>
            <p:nvPr/>
          </p:nvSpPr>
          <p:spPr>
            <a:xfrm>
              <a:off x="609600" y="1381125"/>
              <a:ext cx="1295400" cy="38100"/>
            </a:xfrm>
            <a:prstGeom prst="rect">
              <a:avLst/>
            </a:prstGeom>
            <a:gradFill>
              <a:gsLst>
                <a:gs pos="0">
                  <a:schemeClr val="accent1"/>
                </a:gs>
                <a:gs pos="100000">
                  <a:schemeClr val="accent2"/>
                </a:gs>
              </a:gsLst>
              <a:lin ang="0" scaled="1"/>
            </a:gradFill>
            <a:ln>
              <a:noFill/>
            </a:ln>
          </p:spPr>
        </p:sp>
      </p:grpSp>
      <p:graphicFrame>
        <p:nvGraphicFramePr>
          <p:cNvPr id="13" name="trade-partners-table"/>
          <p:cNvGraphicFramePr>
            <a:graphicFrameLocks noGrp="1"/>
          </p:cNvGraphicFramePr>
          <p:nvPr/>
        </p:nvGraphicFramePr>
        <p:xfrm>
          <a:off x="609600" y="1905000"/>
          <a:ext cx="10972800" cy="3810000"/>
        </p:xfrm>
        <a:graphic>
          <a:graphicData uri="http://schemas.openxmlformats.org/drawingml/2006/table">
            <a:tbl>
              <a:tblPr firstRow="1" bandRow="0">
                <a:tableStyleId>{5C22544A-7EE6-4342-B048-85BDC9FD1C3A}</a:tableStyleId>
              </a:tblPr>
              <a:tblGrid>
                <a:gridCol w="2286000"/>
                <a:gridCol w="1809750"/>
                <a:gridCol w="1619250"/>
                <a:gridCol w="2000250"/>
                <a:gridCol w="1809750"/>
                <a:gridCol w="1447800"/>
              </a:tblGrid>
              <a:tr h="381000">
                <a:tc>
                  <a:txBody>
                    <a:bodyPr/>
                    <a:lstStyle/>
                    <a:p>
                      <a:pPr/>
                      <a:r>
                        <a:rPr lang="zh-CN" sz="1500" b="1">
                          <a:solidFill>
                            <a:srgbClr val="FFFFFF"/>
                          </a:solidFill>
                          <a:latin typeface="Microsoft YaHei"/>
                          <a:ea typeface="Microsoft YaHei"/>
                          <a:cs typeface="Microsoft YaHei"/>
                        </a:rPr>
                        <a:t>国家和地区</a:t>
                      </a:r>
                    </a:p>
                  </a:txBody>
                  <a:tcPr anchor="ctr" marL="76200" marR="76200" marT="76200" marB="76200">
                    <a:lnL>
                      <a:noFill/>
                    </a:lnL>
                    <a:lnR>
                      <a:noFill/>
                    </a:lnR>
                    <a:lnT>
                      <a:noFill/>
                    </a:lnT>
                    <a:lnB w="9525">
                      <a:solidFill>
                        <a:schemeClr val="accent6"/>
                      </a:solidFill>
                      <a:prstDash val="solid"/>
                    </a:lnB>
                    <a:solidFill>
                      <a:schemeClr val="accent1"/>
                    </a:solidFill>
                  </a:tcPr>
                </a:tc>
                <a:tc>
                  <a:txBody>
                    <a:bodyPr/>
                    <a:lstStyle/>
                    <a:p>
                      <a:pPr algn="r"/>
                      <a:r>
                        <a:rPr lang="zh-CN" sz="1500" b="1">
                          <a:solidFill>
                            <a:srgbClr val="FFFFFF"/>
                          </a:solidFill>
                          <a:latin typeface="Microsoft YaHei"/>
                          <a:ea typeface="Microsoft YaHei"/>
                          <a:cs typeface="Microsoft YaHei"/>
                        </a:rPr>
                        <a:t>出口额（亿元）</a:t>
                      </a:r>
                    </a:p>
                  </a:txBody>
                  <a:tcPr anchor="ctr" marL="76200" marR="76200" marT="76200" marB="76200">
                    <a:lnL>
                      <a:noFill/>
                    </a:lnL>
                    <a:lnR>
                      <a:noFill/>
                    </a:lnR>
                    <a:lnT>
                      <a:noFill/>
                    </a:lnT>
                    <a:lnB w="9525">
                      <a:solidFill>
                        <a:schemeClr val="accent6"/>
                      </a:solidFill>
                      <a:prstDash val="solid"/>
                    </a:lnB>
                    <a:solidFill>
                      <a:schemeClr val="accent1"/>
                    </a:solidFill>
                  </a:tcPr>
                </a:tc>
                <a:tc>
                  <a:txBody>
                    <a:bodyPr/>
                    <a:lstStyle/>
                    <a:p>
                      <a:pPr algn="r"/>
                      <a:r>
                        <a:rPr lang="zh-CN" sz="1500" b="1">
                          <a:solidFill>
                            <a:srgbClr val="FFFFFF"/>
                          </a:solidFill>
                          <a:latin typeface="Microsoft YaHei"/>
                          <a:ea typeface="Microsoft YaHei"/>
                          <a:cs typeface="Microsoft YaHei"/>
                        </a:rPr>
                        <a:t>出口增速（%）</a:t>
                      </a:r>
                    </a:p>
                  </a:txBody>
                  <a:tcPr anchor="ctr" marL="76200" marR="76200" marT="76200" marB="76200">
                    <a:lnL>
                      <a:noFill/>
                    </a:lnL>
                    <a:lnR>
                      <a:noFill/>
                    </a:lnR>
                    <a:lnT>
                      <a:noFill/>
                    </a:lnT>
                    <a:lnB w="9525">
                      <a:solidFill>
                        <a:schemeClr val="accent6"/>
                      </a:solidFill>
                      <a:prstDash val="solid"/>
                    </a:lnB>
                    <a:solidFill>
                      <a:schemeClr val="accent1"/>
                    </a:solidFill>
                  </a:tcPr>
                </a:tc>
                <a:tc>
                  <a:txBody>
                    <a:bodyPr/>
                    <a:lstStyle/>
                    <a:p>
                      <a:pPr algn="r"/>
                      <a:r>
                        <a:rPr lang="zh-CN" sz="1500" b="1">
                          <a:solidFill>
                            <a:srgbClr val="FFFFFF"/>
                          </a:solidFill>
                          <a:latin typeface="Microsoft YaHei"/>
                          <a:ea typeface="Microsoft YaHei"/>
                          <a:cs typeface="Microsoft YaHei"/>
                        </a:rPr>
                        <a:t>占全部出口比重（%）</a:t>
                      </a:r>
                    </a:p>
                  </a:txBody>
                  <a:tcPr anchor="ctr" marL="76200" marR="76200" marT="76200" marB="76200">
                    <a:lnL>
                      <a:noFill/>
                    </a:lnL>
                    <a:lnR>
                      <a:noFill/>
                    </a:lnR>
                    <a:lnT>
                      <a:noFill/>
                    </a:lnT>
                    <a:lnB w="9525">
                      <a:solidFill>
                        <a:schemeClr val="accent6"/>
                      </a:solidFill>
                      <a:prstDash val="solid"/>
                    </a:lnB>
                    <a:solidFill>
                      <a:schemeClr val="accent1"/>
                    </a:solidFill>
                  </a:tcPr>
                </a:tc>
                <a:tc>
                  <a:txBody>
                    <a:bodyPr/>
                    <a:lstStyle/>
                    <a:p>
                      <a:pPr algn="r"/>
                      <a:r>
                        <a:rPr lang="zh-CN" sz="1500" b="1">
                          <a:solidFill>
                            <a:srgbClr val="FFFFFF"/>
                          </a:solidFill>
                          <a:latin typeface="Microsoft YaHei"/>
                          <a:ea typeface="Microsoft YaHei"/>
                          <a:cs typeface="Microsoft YaHei"/>
                        </a:rPr>
                        <a:t>进口额（亿元）</a:t>
                      </a:r>
                    </a:p>
                  </a:txBody>
                  <a:tcPr anchor="ctr" marL="76200" marR="76200" marT="76200" marB="76200">
                    <a:lnL>
                      <a:noFill/>
                    </a:lnL>
                    <a:lnR>
                      <a:noFill/>
                    </a:lnR>
                    <a:lnT>
                      <a:noFill/>
                    </a:lnT>
                    <a:lnB w="9525">
                      <a:solidFill>
                        <a:schemeClr val="accent6"/>
                      </a:solidFill>
                      <a:prstDash val="solid"/>
                    </a:lnB>
                    <a:solidFill>
                      <a:schemeClr val="accent1"/>
                    </a:solidFill>
                  </a:tcPr>
                </a:tc>
                <a:tc>
                  <a:txBody>
                    <a:bodyPr/>
                    <a:lstStyle/>
                    <a:p>
                      <a:pPr algn="r"/>
                      <a:r>
                        <a:rPr lang="zh-CN" sz="1500" b="1">
                          <a:solidFill>
                            <a:srgbClr val="FFFFFF"/>
                          </a:solidFill>
                          <a:latin typeface="Microsoft YaHei"/>
                          <a:ea typeface="Microsoft YaHei"/>
                          <a:cs typeface="Microsoft YaHei"/>
                        </a:rPr>
                        <a:t>进口增速（%）</a:t>
                      </a:r>
                    </a:p>
                  </a:txBody>
                  <a:tcPr anchor="ctr" marL="76200" marR="76200" marT="76200" marB="76200">
                    <a:lnL>
                      <a:noFill/>
                    </a:lnL>
                    <a:lnR>
                      <a:noFill/>
                    </a:lnR>
                    <a:lnT>
                      <a:noFill/>
                    </a:lnT>
                    <a:lnB w="9525">
                      <a:solidFill>
                        <a:schemeClr val="accent6"/>
                      </a:solidFill>
                      <a:prstDash val="solid"/>
                    </a:lnB>
                    <a:solidFill>
                      <a:schemeClr val="accent1"/>
                    </a:solidFill>
                  </a:tcPr>
                </a:tc>
              </a:tr>
              <a:tr h="381000">
                <a:tc>
                  <a:txBody>
                    <a:bodyPr/>
                    <a:lstStyle/>
                    <a:p>
                      <a:pPr/>
                      <a:r>
                        <a:rPr lang="zh-CN" sz="1500" b="0">
                          <a:solidFill>
                            <a:schemeClr val="dk1"/>
                          </a:solidFill>
                          <a:latin typeface="Microsoft YaHei"/>
                          <a:ea typeface="Microsoft YaHei"/>
                          <a:cs typeface="Microsoft YaHei"/>
                        </a:rPr>
                        <a:t>东盟</a:t>
                      </a:r>
                    </a:p>
                  </a:txBody>
                  <a:tcPr anchor="ctr" marL="76200" marR="76200" marT="76200" marB="76200">
                    <a:lnL>
                      <a:noFill/>
                    </a:lnL>
                    <a:lnR>
                      <a:noFill/>
                    </a:lnR>
                    <a:lnT>
                      <a:noFill/>
                    </a:lnT>
                    <a:lnB w="9525">
                      <a:solidFill>
                        <a:schemeClr val="accent6"/>
                      </a:solidFill>
                      <a:prstDash val="solid"/>
                    </a:lnB>
                    <a:solidFill>
                      <a:schemeClr val="lt2"/>
                    </a:solidFill>
                  </a:tcPr>
                </a:tc>
                <a:tc>
                  <a:txBody>
                    <a:bodyPr/>
                    <a:lstStyle/>
                    <a:p>
                      <a:pPr algn="r"/>
                      <a:r>
                        <a:rPr lang="zh-CN" sz="1500" b="0">
                          <a:solidFill>
                            <a:schemeClr val="dk1"/>
                          </a:solidFill>
                          <a:latin typeface="Microsoft YaHei"/>
                          <a:ea typeface="Microsoft YaHei"/>
                          <a:cs typeface="Microsoft YaHei"/>
                        </a:rPr>
                        <a:t>47596</a:t>
                      </a:r>
                    </a:p>
                  </a:txBody>
                  <a:tcPr anchor="ctr" marL="76200" marR="76200" marT="76200" marB="76200">
                    <a:lnL>
                      <a:noFill/>
                    </a:lnL>
                    <a:lnR>
                      <a:noFill/>
                    </a:lnR>
                    <a:lnT>
                      <a:noFill/>
                    </a:lnT>
                    <a:lnB w="9525">
                      <a:solidFill>
                        <a:schemeClr val="accent6"/>
                      </a:solidFill>
                      <a:prstDash val="solid"/>
                    </a:lnB>
                    <a:solidFill>
                      <a:schemeClr val="lt2"/>
                    </a:solidFill>
                  </a:tcPr>
                </a:tc>
                <a:tc>
                  <a:txBody>
                    <a:bodyPr/>
                    <a:lstStyle/>
                    <a:p>
                      <a:pPr algn="r"/>
                      <a:r>
                        <a:rPr lang="zh-CN" sz="1500" b="0">
                          <a:solidFill>
                            <a:schemeClr val="accent3"/>
                          </a:solidFill>
                          <a:latin typeface="Microsoft YaHei"/>
                          <a:ea typeface="Microsoft YaHei"/>
                          <a:cs typeface="Microsoft YaHei"/>
                        </a:rPr>
                        <a:t>+14.0</a:t>
                      </a:r>
                    </a:p>
                  </a:txBody>
                  <a:tcPr anchor="ctr" marL="76200" marR="76200" marT="76200" marB="76200">
                    <a:lnL>
                      <a:noFill/>
                    </a:lnL>
                    <a:lnR>
                      <a:noFill/>
                    </a:lnR>
                    <a:lnT>
                      <a:noFill/>
                    </a:lnT>
                    <a:lnB w="9525">
                      <a:solidFill>
                        <a:schemeClr val="accent6"/>
                      </a:solidFill>
                      <a:prstDash val="solid"/>
                    </a:lnB>
                    <a:solidFill>
                      <a:schemeClr val="lt2"/>
                    </a:solidFill>
                  </a:tcPr>
                </a:tc>
                <a:tc>
                  <a:txBody>
                    <a:bodyPr/>
                    <a:lstStyle/>
                    <a:p>
                      <a:pPr algn="r"/>
                      <a:r>
                        <a:rPr lang="zh-CN" sz="1500" b="0">
                          <a:solidFill>
                            <a:schemeClr val="dk1"/>
                          </a:solidFill>
                          <a:latin typeface="Microsoft YaHei"/>
                          <a:ea typeface="Microsoft YaHei"/>
                          <a:cs typeface="Microsoft YaHei"/>
                        </a:rPr>
                        <a:t>17.6</a:t>
                      </a:r>
                    </a:p>
                  </a:txBody>
                  <a:tcPr anchor="ctr" marL="76200" marR="76200" marT="76200" marB="76200">
                    <a:lnL>
                      <a:noFill/>
                    </a:lnL>
                    <a:lnR>
                      <a:noFill/>
                    </a:lnR>
                    <a:lnT>
                      <a:noFill/>
                    </a:lnT>
                    <a:lnB w="9525">
                      <a:solidFill>
                        <a:schemeClr val="accent6"/>
                      </a:solidFill>
                      <a:prstDash val="solid"/>
                    </a:lnB>
                    <a:solidFill>
                      <a:schemeClr val="lt2"/>
                    </a:solidFill>
                  </a:tcPr>
                </a:tc>
                <a:tc>
                  <a:txBody>
                    <a:bodyPr/>
                    <a:lstStyle/>
                    <a:p>
                      <a:pPr algn="r"/>
                      <a:r>
                        <a:rPr lang="zh-CN" sz="1500" b="0">
                          <a:solidFill>
                            <a:schemeClr val="dk1"/>
                          </a:solidFill>
                          <a:latin typeface="Microsoft YaHei"/>
                          <a:ea typeface="Microsoft YaHei"/>
                          <a:cs typeface="Microsoft YaHei"/>
                        </a:rPr>
                        <a:t>27861</a:t>
                      </a:r>
                    </a:p>
                  </a:txBody>
                  <a:tcPr anchor="ctr" marL="76200" marR="76200" marT="76200" marB="76200">
                    <a:lnL>
                      <a:noFill/>
                    </a:lnL>
                    <a:lnR>
                      <a:noFill/>
                    </a:lnR>
                    <a:lnT>
                      <a:noFill/>
                    </a:lnT>
                    <a:lnB w="9525">
                      <a:solidFill>
                        <a:schemeClr val="accent6"/>
                      </a:solidFill>
                      <a:prstDash val="solid"/>
                    </a:lnB>
                    <a:solidFill>
                      <a:schemeClr val="lt2"/>
                    </a:solidFill>
                  </a:tcPr>
                </a:tc>
                <a:tc>
                  <a:txBody>
                    <a:bodyPr/>
                    <a:lstStyle/>
                    <a:p>
                      <a:pPr algn="r"/>
                      <a:r>
                        <a:rPr lang="zh-CN" sz="1500" b="0">
                          <a:solidFill>
                            <a:schemeClr val="accent2"/>
                          </a:solidFill>
                          <a:latin typeface="Microsoft YaHei"/>
                          <a:ea typeface="Microsoft YaHei"/>
                          <a:cs typeface="Microsoft YaHei"/>
                        </a:rPr>
                        <a:t>-1.0</a:t>
                      </a:r>
                    </a:p>
                  </a:txBody>
                  <a:tcPr anchor="ctr" marL="76200" marR="76200" marT="76200" marB="76200">
                    <a:lnL>
                      <a:noFill/>
                    </a:lnL>
                    <a:lnR>
                      <a:noFill/>
                    </a:lnR>
                    <a:lnT>
                      <a:noFill/>
                    </a:lnT>
                    <a:lnB w="9525">
                      <a:solidFill>
                        <a:schemeClr val="accent6"/>
                      </a:solidFill>
                      <a:prstDash val="solid"/>
                    </a:lnB>
                    <a:solidFill>
                      <a:schemeClr val="lt2"/>
                    </a:solidFill>
                  </a:tcPr>
                </a:tc>
              </a:tr>
              <a:tr h="381000">
                <a:tc>
                  <a:txBody>
                    <a:bodyPr/>
                    <a:lstStyle/>
                    <a:p>
                      <a:pPr/>
                      <a:r>
                        <a:rPr lang="zh-CN" sz="1500" b="0">
                          <a:solidFill>
                            <a:schemeClr val="dk1"/>
                          </a:solidFill>
                          <a:latin typeface="Microsoft YaHei"/>
                          <a:ea typeface="Microsoft YaHei"/>
                          <a:cs typeface="Microsoft YaHei"/>
                        </a:rPr>
                        <a:t>欧盟</a:t>
                      </a:r>
                    </a:p>
                  </a:txBody>
                  <a:tcPr anchor="ctr" marL="76200" marR="76200" marT="76200" marB="76200">
                    <a:lnL>
                      <a:noFill/>
                    </a:lnL>
                    <a:lnR>
                      <a:noFill/>
                    </a:lnR>
                    <a:lnT>
                      <a:noFill/>
                    </a:lnT>
                    <a:lnB w="9525">
                      <a:solidFill>
                        <a:schemeClr val="accent6"/>
                      </a:solidFill>
                      <a:prstDash val="solid"/>
                    </a:lnB>
                    <a:solidFill>
                      <a:schemeClr val="lt2"/>
                    </a:solidFill>
                  </a:tcPr>
                </a:tc>
                <a:tc>
                  <a:txBody>
                    <a:bodyPr/>
                    <a:lstStyle/>
                    <a:p>
                      <a:pPr algn="r"/>
                      <a:r>
                        <a:rPr lang="zh-CN" sz="1500" b="0">
                          <a:solidFill>
                            <a:schemeClr val="dk1"/>
                          </a:solidFill>
                          <a:latin typeface="Microsoft YaHei"/>
                          <a:ea typeface="Microsoft YaHei"/>
                          <a:cs typeface="Microsoft YaHei"/>
                        </a:rPr>
                        <a:t>40071</a:t>
                      </a:r>
                    </a:p>
                  </a:txBody>
                  <a:tcPr anchor="ctr" marL="76200" marR="76200" marT="76200" marB="76200">
                    <a:lnL>
                      <a:noFill/>
                    </a:lnL>
                    <a:lnR>
                      <a:noFill/>
                    </a:lnR>
                    <a:lnT>
                      <a:noFill/>
                    </a:lnT>
                    <a:lnB w="9525">
                      <a:solidFill>
                        <a:schemeClr val="accent6"/>
                      </a:solidFill>
                      <a:prstDash val="solid"/>
                    </a:lnB>
                    <a:solidFill>
                      <a:schemeClr val="lt2"/>
                    </a:solidFill>
                  </a:tcPr>
                </a:tc>
                <a:tc>
                  <a:txBody>
                    <a:bodyPr/>
                    <a:lstStyle/>
                    <a:p>
                      <a:pPr algn="r"/>
                      <a:r>
                        <a:rPr lang="zh-CN" sz="1500" b="0">
                          <a:solidFill>
                            <a:schemeClr val="accent3"/>
                          </a:solidFill>
                          <a:latin typeface="Microsoft YaHei"/>
                          <a:ea typeface="Microsoft YaHei"/>
                          <a:cs typeface="Microsoft YaHei"/>
                        </a:rPr>
                        <a:t>+9.0</a:t>
                      </a:r>
                    </a:p>
                  </a:txBody>
                  <a:tcPr anchor="ctr" marL="76200" marR="76200" marT="76200" marB="76200">
                    <a:lnL>
                      <a:noFill/>
                    </a:lnL>
                    <a:lnR>
                      <a:noFill/>
                    </a:lnR>
                    <a:lnT>
                      <a:noFill/>
                    </a:lnT>
                    <a:lnB w="9525">
                      <a:solidFill>
                        <a:schemeClr val="accent6"/>
                      </a:solidFill>
                      <a:prstDash val="solid"/>
                    </a:lnB>
                    <a:solidFill>
                      <a:schemeClr val="lt2"/>
                    </a:solidFill>
                  </a:tcPr>
                </a:tc>
                <a:tc>
                  <a:txBody>
                    <a:bodyPr/>
                    <a:lstStyle/>
                    <a:p>
                      <a:pPr algn="r"/>
                      <a:r>
                        <a:rPr lang="zh-CN" sz="1500" b="0">
                          <a:solidFill>
                            <a:schemeClr val="dk1"/>
                          </a:solidFill>
                          <a:latin typeface="Microsoft YaHei"/>
                          <a:ea typeface="Microsoft YaHei"/>
                          <a:cs typeface="Microsoft YaHei"/>
                        </a:rPr>
                        <a:t>14.8</a:t>
                      </a:r>
                    </a:p>
                  </a:txBody>
                  <a:tcPr anchor="ctr" marL="76200" marR="76200" marT="76200" marB="76200">
                    <a:lnL>
                      <a:noFill/>
                    </a:lnL>
                    <a:lnR>
                      <a:noFill/>
                    </a:lnR>
                    <a:lnT>
                      <a:noFill/>
                    </a:lnT>
                    <a:lnB w="9525">
                      <a:solidFill>
                        <a:schemeClr val="accent6"/>
                      </a:solidFill>
                      <a:prstDash val="solid"/>
                    </a:lnB>
                    <a:solidFill>
                      <a:schemeClr val="lt2"/>
                    </a:solidFill>
                  </a:tcPr>
                </a:tc>
                <a:tc>
                  <a:txBody>
                    <a:bodyPr/>
                    <a:lstStyle/>
                    <a:p>
                      <a:pPr algn="r"/>
                      <a:r>
                        <a:rPr lang="zh-CN" sz="1500" b="0">
                          <a:solidFill>
                            <a:schemeClr val="dk1"/>
                          </a:solidFill>
                          <a:latin typeface="Microsoft YaHei"/>
                          <a:ea typeface="Microsoft YaHei"/>
                          <a:cs typeface="Microsoft YaHei"/>
                        </a:rPr>
                        <a:t>19182</a:t>
                      </a:r>
                    </a:p>
                  </a:txBody>
                  <a:tcPr anchor="ctr" marL="76200" marR="76200" marT="76200" marB="76200">
                    <a:lnL>
                      <a:noFill/>
                    </a:lnL>
                    <a:lnR>
                      <a:noFill/>
                    </a:lnR>
                    <a:lnT>
                      <a:noFill/>
                    </a:lnT>
                    <a:lnB w="9525">
                      <a:solidFill>
                        <a:schemeClr val="accent6"/>
                      </a:solidFill>
                      <a:prstDash val="solid"/>
                    </a:lnB>
                    <a:solidFill>
                      <a:schemeClr val="lt2"/>
                    </a:solidFill>
                  </a:tcPr>
                </a:tc>
                <a:tc>
                  <a:txBody>
                    <a:bodyPr/>
                    <a:lstStyle/>
                    <a:p>
                      <a:pPr algn="r"/>
                      <a:r>
                        <a:rPr lang="zh-CN" sz="1500" b="0">
                          <a:solidFill>
                            <a:schemeClr val="accent3"/>
                          </a:solidFill>
                          <a:latin typeface="Microsoft YaHei"/>
                          <a:ea typeface="Microsoft YaHei"/>
                          <a:cs typeface="Microsoft YaHei"/>
                        </a:rPr>
                        <a:t>+0.1</a:t>
                      </a:r>
                    </a:p>
                  </a:txBody>
                  <a:tcPr anchor="ctr" marL="76200" marR="76200" marT="76200" marB="76200">
                    <a:lnL>
                      <a:noFill/>
                    </a:lnL>
                    <a:lnR>
                      <a:noFill/>
                    </a:lnR>
                    <a:lnT>
                      <a:noFill/>
                    </a:lnT>
                    <a:lnB w="9525">
                      <a:solidFill>
                        <a:schemeClr val="accent6"/>
                      </a:solidFill>
                      <a:prstDash val="solid"/>
                    </a:lnB>
                    <a:solidFill>
                      <a:schemeClr val="lt2"/>
                    </a:solidFill>
                  </a:tcPr>
                </a:tc>
              </a:tr>
              <a:tr h="381000">
                <a:tc>
                  <a:txBody>
                    <a:bodyPr/>
                    <a:lstStyle/>
                    <a:p>
                      <a:pPr/>
                      <a:r>
                        <a:rPr lang="zh-CN" sz="1500" b="0">
                          <a:solidFill>
                            <a:schemeClr val="dk1"/>
                          </a:solidFill>
                          <a:latin typeface="Microsoft YaHei"/>
                          <a:ea typeface="Microsoft YaHei"/>
                          <a:cs typeface="Microsoft YaHei"/>
                        </a:rPr>
                        <a:t>美国</a:t>
                      </a:r>
                    </a:p>
                  </a:txBody>
                  <a:tcPr anchor="ctr" marL="76200" marR="76200" marT="76200" marB="76200">
                    <a:lnL>
                      <a:noFill/>
                    </a:lnL>
                    <a:lnR>
                      <a:noFill/>
                    </a:lnR>
                    <a:lnT>
                      <a:noFill/>
                    </a:lnT>
                    <a:lnB w="9525">
                      <a:solidFill>
                        <a:schemeClr val="accent6"/>
                      </a:solidFill>
                      <a:prstDash val="solid"/>
                    </a:lnB>
                    <a:solidFill>
                      <a:schemeClr val="lt2"/>
                    </a:solidFill>
                  </a:tcPr>
                </a:tc>
                <a:tc>
                  <a:txBody>
                    <a:bodyPr/>
                    <a:lstStyle/>
                    <a:p>
                      <a:pPr algn="r"/>
                      <a:r>
                        <a:rPr lang="zh-CN" sz="1500" b="0">
                          <a:solidFill>
                            <a:schemeClr val="dk1"/>
                          </a:solidFill>
                          <a:latin typeface="Microsoft YaHei"/>
                          <a:ea typeface="Microsoft YaHei"/>
                          <a:cs typeface="Microsoft YaHei"/>
                        </a:rPr>
                        <a:t>30067</a:t>
                      </a:r>
                    </a:p>
                  </a:txBody>
                  <a:tcPr anchor="ctr" marL="76200" marR="76200" marT="76200" marB="76200">
                    <a:lnL>
                      <a:noFill/>
                    </a:lnL>
                    <a:lnR>
                      <a:noFill/>
                    </a:lnR>
                    <a:lnT>
                      <a:noFill/>
                    </a:lnT>
                    <a:lnB w="9525">
                      <a:solidFill>
                        <a:schemeClr val="accent6"/>
                      </a:solidFill>
                      <a:prstDash val="solid"/>
                    </a:lnB>
                    <a:solidFill>
                      <a:schemeClr val="lt2"/>
                    </a:solidFill>
                  </a:tcPr>
                </a:tc>
                <a:tc>
                  <a:txBody>
                    <a:bodyPr/>
                    <a:lstStyle/>
                    <a:p>
                      <a:pPr algn="r"/>
                      <a:r>
                        <a:rPr lang="zh-CN" sz="1500" b="0">
                          <a:solidFill>
                            <a:schemeClr val="accent2"/>
                          </a:solidFill>
                          <a:latin typeface="Microsoft YaHei"/>
                          <a:ea typeface="Microsoft YaHei"/>
                          <a:cs typeface="Microsoft YaHei"/>
                        </a:rPr>
                        <a:t>-19.5</a:t>
                      </a:r>
                    </a:p>
                  </a:txBody>
                  <a:tcPr anchor="ctr" marL="76200" marR="76200" marT="76200" marB="76200">
                    <a:lnL>
                      <a:noFill/>
                    </a:lnL>
                    <a:lnR>
                      <a:noFill/>
                    </a:lnR>
                    <a:lnT>
                      <a:noFill/>
                    </a:lnT>
                    <a:lnB w="9525">
                      <a:solidFill>
                        <a:schemeClr val="accent6"/>
                      </a:solidFill>
                      <a:prstDash val="solid"/>
                    </a:lnB>
                    <a:solidFill>
                      <a:schemeClr val="lt2"/>
                    </a:solidFill>
                  </a:tcPr>
                </a:tc>
                <a:tc>
                  <a:txBody>
                    <a:bodyPr/>
                    <a:lstStyle/>
                    <a:p>
                      <a:pPr algn="r"/>
                      <a:r>
                        <a:rPr lang="zh-CN" sz="1500" b="0">
                          <a:solidFill>
                            <a:schemeClr val="dk1"/>
                          </a:solidFill>
                          <a:latin typeface="Microsoft YaHei"/>
                          <a:ea typeface="Microsoft YaHei"/>
                          <a:cs typeface="Microsoft YaHei"/>
                        </a:rPr>
                        <a:t>11.1</a:t>
                      </a:r>
                    </a:p>
                  </a:txBody>
                  <a:tcPr anchor="ctr" marL="76200" marR="76200" marT="76200" marB="76200">
                    <a:lnL>
                      <a:noFill/>
                    </a:lnL>
                    <a:lnR>
                      <a:noFill/>
                    </a:lnR>
                    <a:lnT>
                      <a:noFill/>
                    </a:lnT>
                    <a:lnB w="9525">
                      <a:solidFill>
                        <a:schemeClr val="accent6"/>
                      </a:solidFill>
                      <a:prstDash val="solid"/>
                    </a:lnB>
                    <a:solidFill>
                      <a:schemeClr val="lt2"/>
                    </a:solidFill>
                  </a:tcPr>
                </a:tc>
                <a:tc>
                  <a:txBody>
                    <a:bodyPr/>
                    <a:lstStyle/>
                    <a:p>
                      <a:pPr algn="r"/>
                      <a:r>
                        <a:rPr lang="zh-CN" sz="1500" b="0">
                          <a:solidFill>
                            <a:schemeClr val="dk1"/>
                          </a:solidFill>
                          <a:latin typeface="Microsoft YaHei"/>
                          <a:ea typeface="Microsoft YaHei"/>
                          <a:cs typeface="Microsoft YaHei"/>
                        </a:rPr>
                        <a:t>10000</a:t>
                      </a:r>
                    </a:p>
                  </a:txBody>
                  <a:tcPr anchor="ctr" marL="76200" marR="76200" marT="76200" marB="76200">
                    <a:lnL>
                      <a:noFill/>
                    </a:lnL>
                    <a:lnR>
                      <a:noFill/>
                    </a:lnR>
                    <a:lnT>
                      <a:noFill/>
                    </a:lnT>
                    <a:lnB w="9525">
                      <a:solidFill>
                        <a:schemeClr val="accent6"/>
                      </a:solidFill>
                      <a:prstDash val="solid"/>
                    </a:lnB>
                    <a:solidFill>
                      <a:schemeClr val="lt2"/>
                    </a:solidFill>
                  </a:tcPr>
                </a:tc>
                <a:tc>
                  <a:txBody>
                    <a:bodyPr/>
                    <a:lstStyle/>
                    <a:p>
                      <a:pPr algn="r"/>
                      <a:r>
                        <a:rPr lang="zh-CN" sz="1500" b="0">
                          <a:solidFill>
                            <a:schemeClr val="accent2"/>
                          </a:solidFill>
                          <a:latin typeface="Microsoft YaHei"/>
                          <a:ea typeface="Microsoft YaHei"/>
                          <a:cs typeface="Microsoft YaHei"/>
                        </a:rPr>
                        <a:t>-14.1</a:t>
                      </a:r>
                    </a:p>
                  </a:txBody>
                  <a:tcPr anchor="ctr" marL="76200" marR="76200" marT="76200" marB="76200">
                    <a:lnL>
                      <a:noFill/>
                    </a:lnL>
                    <a:lnR>
                      <a:noFill/>
                    </a:lnR>
                    <a:lnT>
                      <a:noFill/>
                    </a:lnT>
                    <a:lnB w="9525">
                      <a:solidFill>
                        <a:schemeClr val="accent6"/>
                      </a:solidFill>
                      <a:prstDash val="solid"/>
                    </a:lnB>
                    <a:solidFill>
                      <a:schemeClr val="lt2"/>
                    </a:solidFill>
                  </a:tcPr>
                </a:tc>
              </a:tr>
              <a:tr h="381000">
                <a:tc>
                  <a:txBody>
                    <a:bodyPr/>
                    <a:lstStyle/>
                    <a:p>
                      <a:pPr/>
                      <a:r>
                        <a:rPr lang="zh-CN" sz="1500" b="0">
                          <a:solidFill>
                            <a:schemeClr val="dk1"/>
                          </a:solidFill>
                          <a:latin typeface="Microsoft YaHei"/>
                          <a:ea typeface="Microsoft YaHei"/>
                          <a:cs typeface="Microsoft YaHei"/>
                        </a:rPr>
                        <a:t>中国香港</a:t>
                      </a:r>
                    </a:p>
                  </a:txBody>
                  <a:tcPr anchor="ctr" marL="76200" marR="76200" marT="76200" marB="76200">
                    <a:lnL>
                      <a:noFill/>
                    </a:lnL>
                    <a:lnR>
                      <a:noFill/>
                    </a:lnR>
                    <a:lnT>
                      <a:noFill/>
                    </a:lnT>
                    <a:lnB w="9525">
                      <a:solidFill>
                        <a:schemeClr val="accent6"/>
                      </a:solidFill>
                      <a:prstDash val="solid"/>
                    </a:lnB>
                    <a:solidFill>
                      <a:schemeClr val="lt2"/>
                    </a:solidFill>
                  </a:tcPr>
                </a:tc>
                <a:tc>
                  <a:txBody>
                    <a:bodyPr/>
                    <a:lstStyle/>
                    <a:p>
                      <a:pPr algn="r"/>
                      <a:r>
                        <a:rPr lang="zh-CN" sz="1500" b="0">
                          <a:solidFill>
                            <a:schemeClr val="dk1"/>
                          </a:solidFill>
                          <a:latin typeface="Microsoft YaHei"/>
                          <a:ea typeface="Microsoft YaHei"/>
                          <a:cs typeface="Microsoft YaHei"/>
                        </a:rPr>
                        <a:t>24001</a:t>
                      </a:r>
                    </a:p>
                  </a:txBody>
                  <a:tcPr anchor="ctr" marL="76200" marR="76200" marT="76200" marB="76200">
                    <a:lnL>
                      <a:noFill/>
                    </a:lnL>
                    <a:lnR>
                      <a:noFill/>
                    </a:lnR>
                    <a:lnT>
                      <a:noFill/>
                    </a:lnT>
                    <a:lnB w="9525">
                      <a:solidFill>
                        <a:schemeClr val="accent6"/>
                      </a:solidFill>
                      <a:prstDash val="solid"/>
                    </a:lnB>
                    <a:solidFill>
                      <a:schemeClr val="lt2"/>
                    </a:solidFill>
                  </a:tcPr>
                </a:tc>
                <a:tc>
                  <a:txBody>
                    <a:bodyPr/>
                    <a:lstStyle/>
                    <a:p>
                      <a:pPr algn="r"/>
                      <a:r>
                        <a:rPr lang="zh-CN" sz="1500" b="0">
                          <a:solidFill>
                            <a:schemeClr val="accent3"/>
                          </a:solidFill>
                          <a:latin typeface="Microsoft YaHei"/>
                          <a:ea typeface="Microsoft YaHei"/>
                          <a:cs typeface="Microsoft YaHei"/>
                        </a:rPr>
                        <a:t>+16.1</a:t>
                      </a:r>
                    </a:p>
                  </a:txBody>
                  <a:tcPr anchor="ctr" marL="76200" marR="76200" marT="76200" marB="76200">
                    <a:lnL>
                      <a:noFill/>
                    </a:lnL>
                    <a:lnR>
                      <a:noFill/>
                    </a:lnR>
                    <a:lnT>
                      <a:noFill/>
                    </a:lnT>
                    <a:lnB w="9525">
                      <a:solidFill>
                        <a:schemeClr val="accent6"/>
                      </a:solidFill>
                      <a:prstDash val="solid"/>
                    </a:lnB>
                    <a:solidFill>
                      <a:schemeClr val="lt2"/>
                    </a:solidFill>
                  </a:tcPr>
                </a:tc>
                <a:tc>
                  <a:txBody>
                    <a:bodyPr/>
                    <a:lstStyle/>
                    <a:p>
                      <a:pPr algn="r"/>
                      <a:r>
                        <a:rPr lang="zh-CN" sz="1500" b="0">
                          <a:solidFill>
                            <a:schemeClr val="dk1"/>
                          </a:solidFill>
                          <a:latin typeface="Microsoft YaHei"/>
                          <a:ea typeface="Microsoft YaHei"/>
                          <a:cs typeface="Microsoft YaHei"/>
                        </a:rPr>
                        <a:t>8.9</a:t>
                      </a:r>
                    </a:p>
                  </a:txBody>
                  <a:tcPr anchor="ctr" marL="76200" marR="76200" marT="76200" marB="76200">
                    <a:lnL>
                      <a:noFill/>
                    </a:lnL>
                    <a:lnR>
                      <a:noFill/>
                    </a:lnR>
                    <a:lnT>
                      <a:noFill/>
                    </a:lnT>
                    <a:lnB w="9525">
                      <a:solidFill>
                        <a:schemeClr val="accent6"/>
                      </a:solidFill>
                      <a:prstDash val="solid"/>
                    </a:lnB>
                    <a:solidFill>
                      <a:schemeClr val="lt2"/>
                    </a:solidFill>
                  </a:tcPr>
                </a:tc>
                <a:tc>
                  <a:txBody>
                    <a:bodyPr/>
                    <a:lstStyle/>
                    <a:p>
                      <a:pPr algn="r"/>
                      <a:r>
                        <a:rPr lang="zh-CN" sz="1500" b="0">
                          <a:solidFill>
                            <a:schemeClr val="dk1"/>
                          </a:solidFill>
                          <a:latin typeface="Microsoft YaHei"/>
                          <a:ea typeface="Microsoft YaHei"/>
                          <a:cs typeface="Microsoft YaHei"/>
                        </a:rPr>
                        <a:t>2266</a:t>
                      </a:r>
                    </a:p>
                  </a:txBody>
                  <a:tcPr anchor="ctr" marL="76200" marR="76200" marT="76200" marB="76200">
                    <a:lnL>
                      <a:noFill/>
                    </a:lnL>
                    <a:lnR>
                      <a:noFill/>
                    </a:lnR>
                    <a:lnT>
                      <a:noFill/>
                    </a:lnT>
                    <a:lnB w="9525">
                      <a:solidFill>
                        <a:schemeClr val="accent6"/>
                      </a:solidFill>
                      <a:prstDash val="solid"/>
                    </a:lnB>
                    <a:solidFill>
                      <a:schemeClr val="lt2"/>
                    </a:solidFill>
                  </a:tcPr>
                </a:tc>
                <a:tc>
                  <a:txBody>
                    <a:bodyPr/>
                    <a:lstStyle/>
                    <a:p>
                      <a:pPr algn="r"/>
                      <a:r>
                        <a:rPr lang="zh-CN" sz="1500" b="0">
                          <a:solidFill>
                            <a:schemeClr val="accent3"/>
                          </a:solidFill>
                          <a:latin typeface="Microsoft YaHei"/>
                          <a:ea typeface="Microsoft YaHei"/>
                          <a:cs typeface="Microsoft YaHei"/>
                        </a:rPr>
                        <a:t>+73.4</a:t>
                      </a:r>
                    </a:p>
                  </a:txBody>
                  <a:tcPr anchor="ctr" marL="76200" marR="76200" marT="76200" marB="76200">
                    <a:lnL>
                      <a:noFill/>
                    </a:lnL>
                    <a:lnR>
                      <a:noFill/>
                    </a:lnR>
                    <a:lnT>
                      <a:noFill/>
                    </a:lnT>
                    <a:lnB w="9525">
                      <a:solidFill>
                        <a:schemeClr val="accent6"/>
                      </a:solidFill>
                      <a:prstDash val="solid"/>
                    </a:lnB>
                    <a:solidFill>
                      <a:schemeClr val="lt2"/>
                    </a:solidFill>
                  </a:tcPr>
                </a:tc>
              </a:tr>
              <a:tr h="381000">
                <a:tc>
                  <a:txBody>
                    <a:bodyPr/>
                    <a:lstStyle/>
                    <a:p>
                      <a:pPr/>
                      <a:r>
                        <a:rPr lang="zh-CN" sz="1500" b="0">
                          <a:solidFill>
                            <a:schemeClr val="dk1"/>
                          </a:solidFill>
                          <a:latin typeface="Microsoft YaHei"/>
                          <a:ea typeface="Microsoft YaHei"/>
                          <a:cs typeface="Microsoft YaHei"/>
                        </a:rPr>
                        <a:t>日本</a:t>
                      </a:r>
                    </a:p>
                  </a:txBody>
                  <a:tcPr anchor="ctr" marL="76200" marR="76200" marT="76200" marB="76200">
                    <a:lnL>
                      <a:noFill/>
                    </a:lnL>
                    <a:lnR>
                      <a:noFill/>
                    </a:lnR>
                    <a:lnT>
                      <a:noFill/>
                    </a:lnT>
                    <a:lnB w="9525">
                      <a:solidFill>
                        <a:schemeClr val="accent6"/>
                      </a:solidFill>
                      <a:prstDash val="solid"/>
                    </a:lnB>
                    <a:solidFill>
                      <a:schemeClr val="lt2"/>
                    </a:solidFill>
                  </a:tcPr>
                </a:tc>
                <a:tc>
                  <a:txBody>
                    <a:bodyPr/>
                    <a:lstStyle/>
                    <a:p>
                      <a:pPr algn="r"/>
                      <a:r>
                        <a:rPr lang="zh-CN" sz="1500" b="0">
                          <a:solidFill>
                            <a:schemeClr val="dk1"/>
                          </a:solidFill>
                          <a:latin typeface="Microsoft YaHei"/>
                          <a:ea typeface="Microsoft YaHei"/>
                          <a:cs typeface="Microsoft YaHei"/>
                        </a:rPr>
                        <a:t>11261</a:t>
                      </a:r>
                    </a:p>
                  </a:txBody>
                  <a:tcPr anchor="ctr" marL="76200" marR="76200" marT="76200" marB="76200">
                    <a:lnL>
                      <a:noFill/>
                    </a:lnL>
                    <a:lnR>
                      <a:noFill/>
                    </a:lnR>
                    <a:lnT>
                      <a:noFill/>
                    </a:lnT>
                    <a:lnB w="9525">
                      <a:solidFill>
                        <a:schemeClr val="accent6"/>
                      </a:solidFill>
                      <a:prstDash val="solid"/>
                    </a:lnB>
                    <a:solidFill>
                      <a:schemeClr val="lt2"/>
                    </a:solidFill>
                  </a:tcPr>
                </a:tc>
                <a:tc>
                  <a:txBody>
                    <a:bodyPr/>
                    <a:lstStyle/>
                    <a:p>
                      <a:pPr algn="r"/>
                      <a:r>
                        <a:rPr lang="zh-CN" sz="1500" b="0">
                          <a:solidFill>
                            <a:schemeClr val="accent3"/>
                          </a:solidFill>
                          <a:latin typeface="Microsoft YaHei"/>
                          <a:ea typeface="Microsoft YaHei"/>
                          <a:cs typeface="Microsoft YaHei"/>
                        </a:rPr>
                        <a:t>+4.1</a:t>
                      </a:r>
                    </a:p>
                  </a:txBody>
                  <a:tcPr anchor="ctr" marL="76200" marR="76200" marT="76200" marB="76200">
                    <a:lnL>
                      <a:noFill/>
                    </a:lnL>
                    <a:lnR>
                      <a:noFill/>
                    </a:lnR>
                    <a:lnT>
                      <a:noFill/>
                    </a:lnT>
                    <a:lnB w="9525">
                      <a:solidFill>
                        <a:schemeClr val="accent6"/>
                      </a:solidFill>
                      <a:prstDash val="solid"/>
                    </a:lnB>
                    <a:solidFill>
                      <a:schemeClr val="lt2"/>
                    </a:solidFill>
                  </a:tcPr>
                </a:tc>
                <a:tc>
                  <a:txBody>
                    <a:bodyPr/>
                    <a:lstStyle/>
                    <a:p>
                      <a:pPr algn="r"/>
                      <a:r>
                        <a:rPr lang="zh-CN" sz="1500" b="0">
                          <a:solidFill>
                            <a:schemeClr val="dk1"/>
                          </a:solidFill>
                          <a:latin typeface="Microsoft YaHei"/>
                          <a:ea typeface="Microsoft YaHei"/>
                          <a:cs typeface="Microsoft YaHei"/>
                        </a:rPr>
                        <a:t>4.2</a:t>
                      </a:r>
                    </a:p>
                  </a:txBody>
                  <a:tcPr anchor="ctr" marL="76200" marR="76200" marT="76200" marB="76200">
                    <a:lnL>
                      <a:noFill/>
                    </a:lnL>
                    <a:lnR>
                      <a:noFill/>
                    </a:lnR>
                    <a:lnT>
                      <a:noFill/>
                    </a:lnT>
                    <a:lnB w="9525">
                      <a:solidFill>
                        <a:schemeClr val="accent6"/>
                      </a:solidFill>
                      <a:prstDash val="solid"/>
                    </a:lnB>
                    <a:solidFill>
                      <a:schemeClr val="lt2"/>
                    </a:solidFill>
                  </a:tcPr>
                </a:tc>
                <a:tc>
                  <a:txBody>
                    <a:bodyPr/>
                    <a:lstStyle/>
                    <a:p>
                      <a:pPr algn="r"/>
                      <a:r>
                        <a:rPr lang="zh-CN" sz="1500" b="0">
                          <a:solidFill>
                            <a:schemeClr val="dk1"/>
                          </a:solidFill>
                          <a:latin typeface="Microsoft YaHei"/>
                          <a:ea typeface="Microsoft YaHei"/>
                          <a:cs typeface="Microsoft YaHei"/>
                        </a:rPr>
                        <a:t>11792</a:t>
                      </a:r>
                    </a:p>
                  </a:txBody>
                  <a:tcPr anchor="ctr" marL="76200" marR="76200" marT="76200" marB="76200">
                    <a:lnL>
                      <a:noFill/>
                    </a:lnL>
                    <a:lnR>
                      <a:noFill/>
                    </a:lnR>
                    <a:lnT>
                      <a:noFill/>
                    </a:lnT>
                    <a:lnB w="9525">
                      <a:solidFill>
                        <a:schemeClr val="accent6"/>
                      </a:solidFill>
                      <a:prstDash val="solid"/>
                    </a:lnB>
                    <a:solidFill>
                      <a:schemeClr val="lt2"/>
                    </a:solidFill>
                  </a:tcPr>
                </a:tc>
                <a:tc>
                  <a:txBody>
                    <a:bodyPr/>
                    <a:lstStyle/>
                    <a:p>
                      <a:pPr algn="r"/>
                      <a:r>
                        <a:rPr lang="zh-CN" sz="1500" b="0">
                          <a:solidFill>
                            <a:schemeClr val="accent3"/>
                          </a:solidFill>
                          <a:latin typeface="Microsoft YaHei"/>
                          <a:ea typeface="Microsoft YaHei"/>
                          <a:cs typeface="Microsoft YaHei"/>
                        </a:rPr>
                        <a:t>+6.1</a:t>
                      </a:r>
                    </a:p>
                  </a:txBody>
                  <a:tcPr anchor="ctr" marL="76200" marR="76200" marT="76200" marB="76200">
                    <a:lnL>
                      <a:noFill/>
                    </a:lnL>
                    <a:lnR>
                      <a:noFill/>
                    </a:lnR>
                    <a:lnT>
                      <a:noFill/>
                    </a:lnT>
                    <a:lnB w="9525">
                      <a:solidFill>
                        <a:schemeClr val="accent6"/>
                      </a:solidFill>
                      <a:prstDash val="solid"/>
                    </a:lnB>
                    <a:solidFill>
                      <a:schemeClr val="lt2"/>
                    </a:solidFill>
                  </a:tcPr>
                </a:tc>
              </a:tr>
              <a:tr h="381000">
                <a:tc>
                  <a:txBody>
                    <a:bodyPr/>
                    <a:lstStyle/>
                    <a:p>
                      <a:pPr/>
                      <a:r>
                        <a:rPr lang="zh-CN" sz="1500" b="0">
                          <a:solidFill>
                            <a:schemeClr val="dk1"/>
                          </a:solidFill>
                          <a:latin typeface="Microsoft YaHei"/>
                          <a:ea typeface="Microsoft YaHei"/>
                          <a:cs typeface="Microsoft YaHei"/>
                        </a:rPr>
                        <a:t>韩国</a:t>
                      </a:r>
                    </a:p>
                  </a:txBody>
                  <a:tcPr anchor="ctr" marL="76200" marR="76200" marT="76200" marB="76200">
                    <a:lnL>
                      <a:noFill/>
                    </a:lnL>
                    <a:lnR>
                      <a:noFill/>
                    </a:lnR>
                    <a:lnT>
                      <a:noFill/>
                    </a:lnT>
                    <a:lnB w="9525">
                      <a:solidFill>
                        <a:schemeClr val="accent6"/>
                      </a:solidFill>
                      <a:prstDash val="solid"/>
                    </a:lnB>
                    <a:solidFill>
                      <a:schemeClr val="lt2"/>
                    </a:solidFill>
                  </a:tcPr>
                </a:tc>
                <a:tc>
                  <a:txBody>
                    <a:bodyPr/>
                    <a:lstStyle/>
                    <a:p>
                      <a:pPr algn="r"/>
                      <a:r>
                        <a:rPr lang="zh-CN" sz="1500" b="0">
                          <a:solidFill>
                            <a:schemeClr val="dk1"/>
                          </a:solidFill>
                          <a:latin typeface="Microsoft YaHei"/>
                          <a:ea typeface="Microsoft YaHei"/>
                          <a:cs typeface="Microsoft YaHei"/>
                        </a:rPr>
                        <a:t>10319</a:t>
                      </a:r>
                    </a:p>
                  </a:txBody>
                  <a:tcPr anchor="ctr" marL="76200" marR="76200" marT="76200" marB="76200">
                    <a:lnL>
                      <a:noFill/>
                    </a:lnL>
                    <a:lnR>
                      <a:noFill/>
                    </a:lnR>
                    <a:lnT>
                      <a:noFill/>
                    </a:lnT>
                    <a:lnB w="9525">
                      <a:solidFill>
                        <a:schemeClr val="accent6"/>
                      </a:solidFill>
                      <a:prstDash val="solid"/>
                    </a:lnB>
                    <a:solidFill>
                      <a:schemeClr val="lt2"/>
                    </a:solidFill>
                  </a:tcPr>
                </a:tc>
                <a:tc>
                  <a:txBody>
                    <a:bodyPr/>
                    <a:lstStyle/>
                    <a:p>
                      <a:pPr algn="r"/>
                      <a:r>
                        <a:rPr lang="zh-CN" sz="1500" b="0">
                          <a:solidFill>
                            <a:schemeClr val="accent2"/>
                          </a:solidFill>
                          <a:latin typeface="Microsoft YaHei"/>
                          <a:ea typeface="Microsoft YaHei"/>
                          <a:cs typeface="Microsoft YaHei"/>
                        </a:rPr>
                        <a:t>-0.6</a:t>
                      </a:r>
                    </a:p>
                  </a:txBody>
                  <a:tcPr anchor="ctr" marL="76200" marR="76200" marT="76200" marB="76200">
                    <a:lnL>
                      <a:noFill/>
                    </a:lnL>
                    <a:lnR>
                      <a:noFill/>
                    </a:lnR>
                    <a:lnT>
                      <a:noFill/>
                    </a:lnT>
                    <a:lnB w="9525">
                      <a:solidFill>
                        <a:schemeClr val="accent6"/>
                      </a:solidFill>
                      <a:prstDash val="solid"/>
                    </a:lnB>
                    <a:solidFill>
                      <a:schemeClr val="lt2"/>
                    </a:solidFill>
                  </a:tcPr>
                </a:tc>
                <a:tc>
                  <a:txBody>
                    <a:bodyPr/>
                    <a:lstStyle/>
                    <a:p>
                      <a:pPr algn="r"/>
                      <a:r>
                        <a:rPr lang="zh-CN" sz="1500" b="0">
                          <a:solidFill>
                            <a:schemeClr val="dk1"/>
                          </a:solidFill>
                          <a:latin typeface="Microsoft YaHei"/>
                          <a:ea typeface="Microsoft YaHei"/>
                          <a:cs typeface="Microsoft YaHei"/>
                        </a:rPr>
                        <a:t>3.8</a:t>
                      </a:r>
                    </a:p>
                  </a:txBody>
                  <a:tcPr anchor="ctr" marL="76200" marR="76200" marT="76200" marB="76200">
                    <a:lnL>
                      <a:noFill/>
                    </a:lnL>
                    <a:lnR>
                      <a:noFill/>
                    </a:lnR>
                    <a:lnT>
                      <a:noFill/>
                    </a:lnT>
                    <a:lnB w="9525">
                      <a:solidFill>
                        <a:schemeClr val="accent6"/>
                      </a:solidFill>
                      <a:prstDash val="solid"/>
                    </a:lnB>
                    <a:solidFill>
                      <a:schemeClr val="lt2"/>
                    </a:solidFill>
                  </a:tcPr>
                </a:tc>
                <a:tc>
                  <a:txBody>
                    <a:bodyPr/>
                    <a:lstStyle/>
                    <a:p>
                      <a:pPr algn="r"/>
                      <a:r>
                        <a:rPr lang="zh-CN" sz="1500" b="0">
                          <a:solidFill>
                            <a:schemeClr val="dk1"/>
                          </a:solidFill>
                          <a:latin typeface="Microsoft YaHei"/>
                          <a:ea typeface="Microsoft YaHei"/>
                          <a:cs typeface="Microsoft YaHei"/>
                        </a:rPr>
                        <a:t>13379</a:t>
                      </a:r>
                    </a:p>
                  </a:txBody>
                  <a:tcPr anchor="ctr" marL="76200" marR="76200" marT="76200" marB="76200">
                    <a:lnL>
                      <a:noFill/>
                    </a:lnL>
                    <a:lnR>
                      <a:noFill/>
                    </a:lnR>
                    <a:lnT>
                      <a:noFill/>
                    </a:lnT>
                    <a:lnB w="9525">
                      <a:solidFill>
                        <a:schemeClr val="accent6"/>
                      </a:solidFill>
                      <a:prstDash val="solid"/>
                    </a:lnB>
                    <a:solidFill>
                      <a:schemeClr val="lt2"/>
                    </a:solidFill>
                  </a:tcPr>
                </a:tc>
                <a:tc>
                  <a:txBody>
                    <a:bodyPr/>
                    <a:lstStyle/>
                    <a:p>
                      <a:pPr algn="r"/>
                      <a:r>
                        <a:rPr lang="zh-CN" sz="1500" b="0">
                          <a:solidFill>
                            <a:schemeClr val="accent3"/>
                          </a:solidFill>
                          <a:latin typeface="Microsoft YaHei"/>
                          <a:ea typeface="Microsoft YaHei"/>
                          <a:cs typeface="Microsoft YaHei"/>
                        </a:rPr>
                        <a:t>+3.6</a:t>
                      </a:r>
                    </a:p>
                  </a:txBody>
                  <a:tcPr anchor="ctr" marL="76200" marR="76200" marT="76200" marB="76200">
                    <a:lnL>
                      <a:noFill/>
                    </a:lnL>
                    <a:lnR>
                      <a:noFill/>
                    </a:lnR>
                    <a:lnT>
                      <a:noFill/>
                    </a:lnT>
                    <a:lnB w="9525">
                      <a:solidFill>
                        <a:schemeClr val="accent6"/>
                      </a:solidFill>
                      <a:prstDash val="solid"/>
                    </a:lnB>
                    <a:solidFill>
                      <a:schemeClr val="lt2"/>
                    </a:solidFill>
                  </a:tcPr>
                </a:tc>
              </a:tr>
              <a:tr h="381000">
                <a:tc>
                  <a:txBody>
                    <a:bodyPr/>
                    <a:lstStyle/>
                    <a:p>
                      <a:pPr/>
                      <a:r>
                        <a:rPr lang="zh-CN" sz="1500" b="0">
                          <a:solidFill>
                            <a:schemeClr val="dk1"/>
                          </a:solidFill>
                          <a:latin typeface="Microsoft YaHei"/>
                          <a:ea typeface="Microsoft YaHei"/>
                          <a:cs typeface="Microsoft YaHei"/>
                        </a:rPr>
                        <a:t>印度</a:t>
                      </a:r>
                    </a:p>
                  </a:txBody>
                  <a:tcPr anchor="ctr" marL="76200" marR="76200" marT="76200" marB="76200">
                    <a:lnL>
                      <a:noFill/>
                    </a:lnL>
                    <a:lnR>
                      <a:noFill/>
                    </a:lnR>
                    <a:lnT>
                      <a:noFill/>
                    </a:lnT>
                    <a:lnB w="9525">
                      <a:solidFill>
                        <a:schemeClr val="accent6"/>
                      </a:solidFill>
                      <a:prstDash val="solid"/>
                    </a:lnB>
                    <a:solidFill>
                      <a:schemeClr val="lt2"/>
                    </a:solidFill>
                  </a:tcPr>
                </a:tc>
                <a:tc>
                  <a:txBody>
                    <a:bodyPr/>
                    <a:lstStyle/>
                    <a:p>
                      <a:pPr algn="r"/>
                      <a:r>
                        <a:rPr lang="zh-CN" sz="1500" b="0">
                          <a:solidFill>
                            <a:schemeClr val="dk1"/>
                          </a:solidFill>
                          <a:latin typeface="Microsoft YaHei"/>
                          <a:ea typeface="Microsoft YaHei"/>
                          <a:cs typeface="Microsoft YaHei"/>
                        </a:rPr>
                        <a:t>9723</a:t>
                      </a:r>
                    </a:p>
                  </a:txBody>
                  <a:tcPr anchor="ctr" marL="76200" marR="76200" marT="76200" marB="76200">
                    <a:lnL>
                      <a:noFill/>
                    </a:lnL>
                    <a:lnR>
                      <a:noFill/>
                    </a:lnR>
                    <a:lnT>
                      <a:noFill/>
                    </a:lnT>
                    <a:lnB w="9525">
                      <a:solidFill>
                        <a:schemeClr val="accent6"/>
                      </a:solidFill>
                      <a:prstDash val="solid"/>
                    </a:lnB>
                    <a:solidFill>
                      <a:schemeClr val="lt2"/>
                    </a:solidFill>
                  </a:tcPr>
                </a:tc>
                <a:tc>
                  <a:txBody>
                    <a:bodyPr/>
                    <a:lstStyle/>
                    <a:p>
                      <a:pPr algn="r"/>
                      <a:r>
                        <a:rPr lang="zh-CN" sz="1500" b="0">
                          <a:solidFill>
                            <a:schemeClr val="accent3"/>
                          </a:solidFill>
                          <a:latin typeface="Microsoft YaHei"/>
                          <a:ea typeface="Microsoft YaHei"/>
                          <a:cs typeface="Microsoft YaHei"/>
                        </a:rPr>
                        <a:t>+13.4</a:t>
                      </a:r>
                    </a:p>
                  </a:txBody>
                  <a:tcPr anchor="ctr" marL="76200" marR="76200" marT="76200" marB="76200">
                    <a:lnL>
                      <a:noFill/>
                    </a:lnL>
                    <a:lnR>
                      <a:noFill/>
                    </a:lnR>
                    <a:lnT>
                      <a:noFill/>
                    </a:lnT>
                    <a:lnB w="9525">
                      <a:solidFill>
                        <a:schemeClr val="accent6"/>
                      </a:solidFill>
                      <a:prstDash val="solid"/>
                    </a:lnB>
                    <a:solidFill>
                      <a:schemeClr val="lt2"/>
                    </a:solidFill>
                  </a:tcPr>
                </a:tc>
                <a:tc>
                  <a:txBody>
                    <a:bodyPr/>
                    <a:lstStyle/>
                    <a:p>
                      <a:pPr algn="r"/>
                      <a:r>
                        <a:rPr lang="zh-CN" sz="1500" b="0">
                          <a:solidFill>
                            <a:schemeClr val="dk1"/>
                          </a:solidFill>
                          <a:latin typeface="Microsoft YaHei"/>
                          <a:ea typeface="Microsoft YaHei"/>
                          <a:cs typeface="Microsoft YaHei"/>
                        </a:rPr>
                        <a:t>3.6</a:t>
                      </a:r>
                    </a:p>
                  </a:txBody>
                  <a:tcPr anchor="ctr" marL="76200" marR="76200" marT="76200" marB="76200">
                    <a:lnL>
                      <a:noFill/>
                    </a:lnL>
                    <a:lnR>
                      <a:noFill/>
                    </a:lnR>
                    <a:lnT>
                      <a:noFill/>
                    </a:lnT>
                    <a:lnB w="9525">
                      <a:solidFill>
                        <a:schemeClr val="accent6"/>
                      </a:solidFill>
                      <a:prstDash val="solid"/>
                    </a:lnB>
                    <a:solidFill>
                      <a:schemeClr val="lt2"/>
                    </a:solidFill>
                  </a:tcPr>
                </a:tc>
                <a:tc>
                  <a:txBody>
                    <a:bodyPr/>
                    <a:lstStyle/>
                    <a:p>
                      <a:pPr algn="r"/>
                      <a:r>
                        <a:rPr lang="zh-CN" sz="1500" b="0">
                          <a:solidFill>
                            <a:schemeClr val="dk1"/>
                          </a:solidFill>
                          <a:latin typeface="Microsoft YaHei"/>
                          <a:ea typeface="Microsoft YaHei"/>
                          <a:cs typeface="Microsoft YaHei"/>
                        </a:rPr>
                        <a:t>1412</a:t>
                      </a:r>
                    </a:p>
                  </a:txBody>
                  <a:tcPr anchor="ctr" marL="76200" marR="76200" marT="76200" marB="76200">
                    <a:lnL>
                      <a:noFill/>
                    </a:lnL>
                    <a:lnR>
                      <a:noFill/>
                    </a:lnR>
                    <a:lnT>
                      <a:noFill/>
                    </a:lnT>
                    <a:lnB w="9525">
                      <a:solidFill>
                        <a:schemeClr val="accent6"/>
                      </a:solidFill>
                      <a:prstDash val="solid"/>
                    </a:lnB>
                    <a:solidFill>
                      <a:schemeClr val="lt2"/>
                    </a:solidFill>
                  </a:tcPr>
                </a:tc>
                <a:tc>
                  <a:txBody>
                    <a:bodyPr/>
                    <a:lstStyle/>
                    <a:p>
                      <a:pPr algn="r"/>
                      <a:r>
                        <a:rPr lang="zh-CN" sz="1500" b="0">
                          <a:solidFill>
                            <a:schemeClr val="accent3"/>
                          </a:solidFill>
                          <a:latin typeface="Microsoft YaHei"/>
                          <a:ea typeface="Microsoft YaHei"/>
                          <a:cs typeface="Microsoft YaHei"/>
                        </a:rPr>
                        <a:t>+10.3</a:t>
                      </a:r>
                    </a:p>
                  </a:txBody>
                  <a:tcPr anchor="ctr" marL="76200" marR="76200" marT="76200" marB="76200">
                    <a:lnL>
                      <a:noFill/>
                    </a:lnL>
                    <a:lnR>
                      <a:noFill/>
                    </a:lnR>
                    <a:lnT>
                      <a:noFill/>
                    </a:lnT>
                    <a:lnB w="9525">
                      <a:solidFill>
                        <a:schemeClr val="accent6"/>
                      </a:solidFill>
                      <a:prstDash val="solid"/>
                    </a:lnB>
                    <a:solidFill>
                      <a:schemeClr val="lt2"/>
                    </a:solidFill>
                  </a:tcPr>
                </a:tc>
              </a:tr>
              <a:tr h="381000">
                <a:tc>
                  <a:txBody>
                    <a:bodyPr/>
                    <a:lstStyle/>
                    <a:p>
                      <a:pPr/>
                      <a:r>
                        <a:rPr lang="zh-CN" sz="1500" b="0">
                          <a:solidFill>
                            <a:schemeClr val="dk1"/>
                          </a:solidFill>
                          <a:latin typeface="Microsoft YaHei"/>
                          <a:ea typeface="Microsoft YaHei"/>
                          <a:cs typeface="Microsoft YaHei"/>
                        </a:rPr>
                        <a:t>俄罗斯</a:t>
                      </a:r>
                    </a:p>
                  </a:txBody>
                  <a:tcPr anchor="ctr" marL="76200" marR="76200" marT="76200" marB="76200">
                    <a:lnL>
                      <a:noFill/>
                    </a:lnL>
                    <a:lnR>
                      <a:noFill/>
                    </a:lnR>
                    <a:lnT>
                      <a:noFill/>
                    </a:lnT>
                    <a:lnB w="9525">
                      <a:solidFill>
                        <a:schemeClr val="accent6"/>
                      </a:solidFill>
                      <a:prstDash val="solid"/>
                    </a:lnB>
                    <a:solidFill>
                      <a:schemeClr val="lt2"/>
                    </a:solidFill>
                  </a:tcPr>
                </a:tc>
                <a:tc>
                  <a:txBody>
                    <a:bodyPr/>
                    <a:lstStyle/>
                    <a:p>
                      <a:pPr algn="r"/>
                      <a:r>
                        <a:rPr lang="zh-CN" sz="1500" b="0">
                          <a:solidFill>
                            <a:schemeClr val="dk1"/>
                          </a:solidFill>
                          <a:latin typeface="Microsoft YaHei"/>
                          <a:ea typeface="Microsoft YaHei"/>
                          <a:cs typeface="Microsoft YaHei"/>
                        </a:rPr>
                        <a:t>7384</a:t>
                      </a:r>
                    </a:p>
                  </a:txBody>
                  <a:tcPr anchor="ctr" marL="76200" marR="76200" marT="76200" marB="76200">
                    <a:lnL>
                      <a:noFill/>
                    </a:lnL>
                    <a:lnR>
                      <a:noFill/>
                    </a:lnR>
                    <a:lnT>
                      <a:noFill/>
                    </a:lnT>
                    <a:lnB w="9525">
                      <a:solidFill>
                        <a:schemeClr val="accent6"/>
                      </a:solidFill>
                      <a:prstDash val="solid"/>
                    </a:lnB>
                    <a:solidFill>
                      <a:schemeClr val="lt2"/>
                    </a:solidFill>
                  </a:tcPr>
                </a:tc>
                <a:tc>
                  <a:txBody>
                    <a:bodyPr/>
                    <a:lstStyle/>
                    <a:p>
                      <a:pPr algn="r"/>
                      <a:r>
                        <a:rPr lang="zh-CN" sz="1500" b="0">
                          <a:solidFill>
                            <a:schemeClr val="accent2"/>
                          </a:solidFill>
                          <a:latin typeface="Microsoft YaHei"/>
                          <a:ea typeface="Microsoft YaHei"/>
                          <a:cs typeface="Microsoft YaHei"/>
                        </a:rPr>
                        <a:t>-9.9</a:t>
                      </a:r>
                    </a:p>
                  </a:txBody>
                  <a:tcPr anchor="ctr" marL="76200" marR="76200" marT="76200" marB="76200">
                    <a:lnL>
                      <a:noFill/>
                    </a:lnL>
                    <a:lnR>
                      <a:noFill/>
                    </a:lnR>
                    <a:lnT>
                      <a:noFill/>
                    </a:lnT>
                    <a:lnB w="9525">
                      <a:solidFill>
                        <a:schemeClr val="accent6"/>
                      </a:solidFill>
                      <a:prstDash val="solid"/>
                    </a:lnB>
                    <a:solidFill>
                      <a:schemeClr val="lt2"/>
                    </a:solidFill>
                  </a:tcPr>
                </a:tc>
                <a:tc>
                  <a:txBody>
                    <a:bodyPr/>
                    <a:lstStyle/>
                    <a:p>
                      <a:pPr algn="r"/>
                      <a:r>
                        <a:rPr lang="zh-CN" sz="1500" b="0">
                          <a:solidFill>
                            <a:schemeClr val="dk1"/>
                          </a:solidFill>
                          <a:latin typeface="Microsoft YaHei"/>
                          <a:ea typeface="Microsoft YaHei"/>
                          <a:cs typeface="Microsoft YaHei"/>
                        </a:rPr>
                        <a:t>2.7</a:t>
                      </a:r>
                    </a:p>
                  </a:txBody>
                  <a:tcPr anchor="ctr" marL="76200" marR="76200" marT="76200" marB="76200">
                    <a:lnL>
                      <a:noFill/>
                    </a:lnL>
                    <a:lnR>
                      <a:noFill/>
                    </a:lnR>
                    <a:lnT>
                      <a:noFill/>
                    </a:lnT>
                    <a:lnB w="9525">
                      <a:solidFill>
                        <a:schemeClr val="accent6"/>
                      </a:solidFill>
                      <a:prstDash val="solid"/>
                    </a:lnB>
                    <a:solidFill>
                      <a:schemeClr val="lt2"/>
                    </a:solidFill>
                  </a:tcPr>
                </a:tc>
                <a:tc>
                  <a:txBody>
                    <a:bodyPr/>
                    <a:lstStyle/>
                    <a:p>
                      <a:pPr algn="r"/>
                      <a:r>
                        <a:rPr lang="zh-CN" sz="1500" b="0">
                          <a:solidFill>
                            <a:schemeClr val="dk1"/>
                          </a:solidFill>
                          <a:latin typeface="Microsoft YaHei"/>
                          <a:ea typeface="Microsoft YaHei"/>
                          <a:cs typeface="Microsoft YaHei"/>
                        </a:rPr>
                        <a:t>8924</a:t>
                      </a:r>
                    </a:p>
                  </a:txBody>
                  <a:tcPr anchor="ctr" marL="76200" marR="76200" marT="76200" marB="76200">
                    <a:lnL>
                      <a:noFill/>
                    </a:lnL>
                    <a:lnR>
                      <a:noFill/>
                    </a:lnR>
                    <a:lnT>
                      <a:noFill/>
                    </a:lnT>
                    <a:lnB w="9525">
                      <a:solidFill>
                        <a:schemeClr val="accent6"/>
                      </a:solidFill>
                      <a:prstDash val="solid"/>
                    </a:lnB>
                    <a:solidFill>
                      <a:schemeClr val="lt2"/>
                    </a:solidFill>
                  </a:tcPr>
                </a:tc>
                <a:tc>
                  <a:txBody>
                    <a:bodyPr/>
                    <a:lstStyle/>
                    <a:p>
                      <a:pPr algn="r"/>
                      <a:r>
                        <a:rPr lang="zh-CN" sz="1500" b="0">
                          <a:solidFill>
                            <a:schemeClr val="accent2"/>
                          </a:solidFill>
                          <a:latin typeface="Microsoft YaHei"/>
                          <a:ea typeface="Microsoft YaHei"/>
                          <a:cs typeface="Microsoft YaHei"/>
                        </a:rPr>
                        <a:t>-3.4</a:t>
                      </a:r>
                    </a:p>
                  </a:txBody>
                  <a:tcPr anchor="ctr" marL="76200" marR="76200" marT="76200" marB="76200">
                    <a:lnL>
                      <a:noFill/>
                    </a:lnL>
                    <a:lnR>
                      <a:noFill/>
                    </a:lnR>
                    <a:lnT>
                      <a:noFill/>
                    </a:lnT>
                    <a:lnB w="9525">
                      <a:solidFill>
                        <a:schemeClr val="accent6"/>
                      </a:solidFill>
                      <a:prstDash val="solid"/>
                    </a:lnB>
                    <a:solidFill>
                      <a:schemeClr val="lt2"/>
                    </a:solidFill>
                  </a:tcPr>
                </a:tc>
              </a:tr>
              <a:tr h="381000">
                <a:tc>
                  <a:txBody>
                    <a:bodyPr/>
                    <a:lstStyle/>
                    <a:p>
                      <a:pPr/>
                      <a:r>
                        <a:rPr lang="zh-CN" sz="1500" b="0">
                          <a:solidFill>
                            <a:schemeClr val="dk1"/>
                          </a:solidFill>
                          <a:latin typeface="Microsoft YaHei"/>
                          <a:ea typeface="Microsoft YaHei"/>
                          <a:cs typeface="Microsoft YaHei"/>
                        </a:rPr>
                        <a:t>中国台湾</a:t>
                      </a:r>
                    </a:p>
                  </a:txBody>
                  <a:tcPr anchor="ctr" marL="76200" marR="76200" marT="76200" marB="76200">
                    <a:lnL>
                      <a:noFill/>
                    </a:lnL>
                    <a:lnR>
                      <a:noFill/>
                    </a:lnR>
                    <a:lnT>
                      <a:noFill/>
                    </a:lnT>
                    <a:lnB w="9525">
                      <a:solidFill>
                        <a:schemeClr val="accent6"/>
                      </a:solidFill>
                      <a:prstDash val="solid"/>
                    </a:lnB>
                    <a:solidFill>
                      <a:schemeClr val="lt2"/>
                    </a:solidFill>
                  </a:tcPr>
                </a:tc>
                <a:tc>
                  <a:txBody>
                    <a:bodyPr/>
                    <a:lstStyle/>
                    <a:p>
                      <a:pPr algn="r"/>
                      <a:r>
                        <a:rPr lang="zh-CN" sz="1500" b="0">
                          <a:solidFill>
                            <a:schemeClr val="dk1"/>
                          </a:solidFill>
                          <a:latin typeface="Microsoft YaHei"/>
                          <a:ea typeface="Microsoft YaHei"/>
                          <a:cs typeface="Microsoft YaHei"/>
                        </a:rPr>
                        <a:t>5982</a:t>
                      </a:r>
                    </a:p>
                  </a:txBody>
                  <a:tcPr anchor="ctr" marL="76200" marR="76200" marT="76200" marB="76200">
                    <a:lnL>
                      <a:noFill/>
                    </a:lnL>
                    <a:lnR>
                      <a:noFill/>
                    </a:lnR>
                    <a:lnT>
                      <a:noFill/>
                    </a:lnT>
                    <a:lnB w="9525">
                      <a:solidFill>
                        <a:schemeClr val="accent6"/>
                      </a:solidFill>
                      <a:prstDash val="solid"/>
                    </a:lnB>
                    <a:solidFill>
                      <a:schemeClr val="lt2"/>
                    </a:solidFill>
                  </a:tcPr>
                </a:tc>
                <a:tc>
                  <a:txBody>
                    <a:bodyPr/>
                    <a:lstStyle/>
                    <a:p>
                      <a:pPr algn="r"/>
                      <a:r>
                        <a:rPr lang="zh-CN" sz="1500" b="0">
                          <a:solidFill>
                            <a:schemeClr val="accent3"/>
                          </a:solidFill>
                          <a:latin typeface="Microsoft YaHei"/>
                          <a:ea typeface="Microsoft YaHei"/>
                          <a:cs typeface="Microsoft YaHei"/>
                        </a:rPr>
                        <a:t>+11.8</a:t>
                      </a:r>
                    </a:p>
                  </a:txBody>
                  <a:tcPr anchor="ctr" marL="76200" marR="76200" marT="76200" marB="76200">
                    <a:lnL>
                      <a:noFill/>
                    </a:lnL>
                    <a:lnR>
                      <a:noFill/>
                    </a:lnR>
                    <a:lnT>
                      <a:noFill/>
                    </a:lnT>
                    <a:lnB w="9525">
                      <a:solidFill>
                        <a:schemeClr val="accent6"/>
                      </a:solidFill>
                      <a:prstDash val="solid"/>
                    </a:lnB>
                    <a:solidFill>
                      <a:schemeClr val="lt2"/>
                    </a:solidFill>
                  </a:tcPr>
                </a:tc>
                <a:tc>
                  <a:txBody>
                    <a:bodyPr/>
                    <a:lstStyle/>
                    <a:p>
                      <a:pPr algn="r"/>
                      <a:r>
                        <a:rPr lang="zh-CN" sz="1500" b="0">
                          <a:solidFill>
                            <a:schemeClr val="dk1"/>
                          </a:solidFill>
                          <a:latin typeface="Microsoft YaHei"/>
                          <a:ea typeface="Microsoft YaHei"/>
                          <a:cs typeface="Microsoft YaHei"/>
                        </a:rPr>
                        <a:t>2.2</a:t>
                      </a:r>
                    </a:p>
                  </a:txBody>
                  <a:tcPr anchor="ctr" marL="76200" marR="76200" marT="76200" marB="76200">
                    <a:lnL>
                      <a:noFill/>
                    </a:lnL>
                    <a:lnR>
                      <a:noFill/>
                    </a:lnR>
                    <a:lnT>
                      <a:noFill/>
                    </a:lnT>
                    <a:lnB w="9525">
                      <a:solidFill>
                        <a:schemeClr val="accent6"/>
                      </a:solidFill>
                      <a:prstDash val="solid"/>
                    </a:lnB>
                    <a:solidFill>
                      <a:schemeClr val="lt2"/>
                    </a:solidFill>
                  </a:tcPr>
                </a:tc>
                <a:tc>
                  <a:txBody>
                    <a:bodyPr/>
                    <a:lstStyle/>
                    <a:p>
                      <a:pPr algn="r"/>
                      <a:r>
                        <a:rPr lang="zh-CN" sz="1500" b="0">
                          <a:solidFill>
                            <a:schemeClr val="dk1"/>
                          </a:solidFill>
                          <a:latin typeface="Microsoft YaHei"/>
                          <a:ea typeface="Microsoft YaHei"/>
                          <a:cs typeface="Microsoft YaHei"/>
                        </a:rPr>
                        <a:t>16509</a:t>
                      </a:r>
                    </a:p>
                  </a:txBody>
                  <a:tcPr anchor="ctr" marL="76200" marR="76200" marT="76200" marB="76200">
                    <a:lnL>
                      <a:noFill/>
                    </a:lnL>
                    <a:lnR>
                      <a:noFill/>
                    </a:lnR>
                    <a:lnT>
                      <a:noFill/>
                    </a:lnT>
                    <a:lnB w="9525">
                      <a:solidFill>
                        <a:schemeClr val="accent6"/>
                      </a:solidFill>
                      <a:prstDash val="solid"/>
                    </a:lnB>
                    <a:solidFill>
                      <a:schemeClr val="lt2"/>
                    </a:solidFill>
                  </a:tcPr>
                </a:tc>
                <a:tc>
                  <a:txBody>
                    <a:bodyPr/>
                    <a:lstStyle/>
                    <a:p>
                      <a:pPr algn="r"/>
                      <a:r>
                        <a:rPr lang="zh-CN" sz="1500" b="0">
                          <a:solidFill>
                            <a:schemeClr val="accent3"/>
                          </a:solidFill>
                          <a:latin typeface="Microsoft YaHei"/>
                          <a:ea typeface="Microsoft YaHei"/>
                          <a:cs typeface="Microsoft YaHei"/>
                        </a:rPr>
                        <a:t>+6.5</a:t>
                      </a:r>
                    </a:p>
                  </a:txBody>
                  <a:tcPr anchor="ctr" marL="76200" marR="76200" marT="76200" marB="76200">
                    <a:lnL>
                      <a:noFill/>
                    </a:lnL>
                    <a:lnR>
                      <a:noFill/>
                    </a:lnR>
                    <a:lnT>
                      <a:noFill/>
                    </a:lnT>
                    <a:lnB w="9525">
                      <a:solidFill>
                        <a:schemeClr val="accent6"/>
                      </a:solidFill>
                      <a:prstDash val="solid"/>
                    </a:lnB>
                    <a:solidFill>
                      <a:schemeClr val="lt2"/>
                    </a:solidFill>
                  </a:tcPr>
                </a:tc>
              </a:tr>
            </a:tbl>
          </a:graphicData>
        </a:graphic>
      </p:graphicFrame>
      <p:grpSp>
        <p:nvGrpSpPr>
          <p:cNvPr id="15" name="Group 15"/>
          <p:cNvGrpSpPr/>
          <p:nvPr/>
        </p:nvGrpSpPr>
        <p:grpSpPr>
          <a:xfrm>
            <a:off x="602742" y="5855018"/>
            <a:ext cx="10045598" cy="264033"/>
            <a:chOff x="602742" y="5855018"/>
            <a:chExt cx="10045598" cy="264033"/>
          </a:xfrm>
        </p:grpSpPr>
        <p:sp>
          <p:nvSpPr>
            <p:cNvPr id="14" name="TextBox 14"/>
            <p:cNvSpPr txBox="1"/>
            <p:nvPr/>
          </p:nvSpPr>
          <p:spPr>
            <a:xfrm>
              <a:off x="602742" y="5855018"/>
              <a:ext cx="10045598"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口径：各项统计数据均未包括香港特别行政区、澳门特别行政区和台湾省；表中“中国香港”“中国台湾”为货物贸易统计口径。</a:t>
              </a:r>
            </a:p>
          </p:txBody>
        </p:sp>
      </p:grpSp>
      <p:grpSp>
        <p:nvGrpSpPr>
          <p:cNvPr id="19" name="Group 19"/>
          <p:cNvGrpSpPr/>
          <p:nvPr/>
        </p:nvGrpSpPr>
        <p:grpSpPr>
          <a:xfrm>
            <a:off x="603504" y="6172200"/>
            <a:ext cx="10984992" cy="371856"/>
            <a:chOff x="603504" y="6172200"/>
            <a:chExt cx="10984992" cy="371856"/>
          </a:xfrm>
        </p:grpSpPr>
        <p:sp>
          <p:nvSpPr>
            <p:cNvPr id="16" name="Line 16"/>
            <p:cNvSpPr/>
            <p:nvPr/>
          </p:nvSpPr>
          <p:spPr>
            <a:xfrm>
              <a:off x="609600" y="61722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7" name="TextBox 17"/>
            <p:cNvSpPr txBox="1"/>
            <p:nvPr/>
          </p:nvSpPr>
          <p:spPr>
            <a:xfrm>
              <a:off x="603504" y="6309360"/>
              <a:ext cx="6449720"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来源：国家统计局《2025 年国民经济和社会发展统计公报》七、对外经济 表 13；注释[1]</a:t>
              </a:r>
            </a:p>
          </p:txBody>
        </p:sp>
        <p:sp>
          <p:nvSpPr>
            <p:cNvPr id="18" name="TextBox 18"/>
            <p:cNvSpPr txBox="1"/>
            <p:nvPr/>
          </p:nvSpPr>
          <p:spPr>
            <a:xfrm>
              <a:off x="11398606" y="6309360"/>
              <a:ext cx="189890"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12</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22" presetClass="entr" presetSubtype="4"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down)">
                                      <p:cBhvr>
                                        <p:cTn id="7" dur="900"/>
                                        <p:tgtEl>
                                          <p:spTgt spid="13"/>
                                        </p:tgtEl>
                                      </p:cBhvr>
                                    </p:animEffect>
                                  </p:childTnLst>
                                </p:cTn>
                              </p:par>
                            </p:childTnLst>
                          </p:cTn>
                        </p:par>
                        <p:par>
                          <p:cTn id="8" fill="hold">
                            <p:stCondLst>
                              <p:cond delay="90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7" name="Group 7"/>
          <p:cNvGrpSpPr/>
          <p:nvPr/>
        </p:nvGrpSpPr>
        <p:grpSpPr>
          <a:xfrm>
            <a:off x="593598" y="597218"/>
            <a:ext cx="10995660" cy="878967"/>
            <a:chOff x="593598" y="597218"/>
            <a:chExt cx="10995660" cy="878967"/>
          </a:xfrm>
        </p:grpSpPr>
        <p:sp>
          <p:nvSpPr>
            <p:cNvPr id="2" name="Freeform 2"/>
            <p:cNvSpPr/>
            <p:nvPr/>
          </p:nvSpPr>
          <p:spPr>
            <a:xfrm>
              <a:off x="649287" y="614362"/>
              <a:ext cx="111125" cy="142875"/>
            </a:xfrm>
            <a:custGeom>
              <a:avLst/>
              <a:gdLst/>
              <a:ahLst/>
              <a:cxnLst/>
              <a:rect l="l" t="t" r="r" b="b"/>
              <a:pathLst>
                <a:path w="111125" h="142875">
                  <a:moveTo>
                    <a:pt x="63500" y="0"/>
                  </a:moveTo>
                  <a:lnTo>
                    <a:pt x="63500" y="55562"/>
                  </a:lnTo>
                  <a:lnTo>
                    <a:pt x="111125" y="55562"/>
                  </a:lnTo>
                  <a:lnTo>
                    <a:pt x="47625" y="142875"/>
                  </a:lnTo>
                  <a:lnTo>
                    <a:pt x="47625" y="87312"/>
                  </a:lnTo>
                  <a:lnTo>
                    <a:pt x="0" y="87312"/>
                  </a:lnTo>
                  <a:lnTo>
                    <a:pt x="63500" y="0"/>
                  </a:lnTo>
                </a:path>
              </a:pathLst>
            </a:custGeom>
            <a:noFill/>
            <a:ln w="15875">
              <a:solidFill>
                <a:srgbClr val="5F6B72"/>
              </a:solidFill>
            </a:ln>
          </p:spPr>
        </p:sp>
        <p:sp>
          <p:nvSpPr>
            <p:cNvPr id="3" name="TextBox 3"/>
            <p:cNvSpPr txBox="1"/>
            <p:nvPr/>
          </p:nvSpPr>
          <p:spPr>
            <a:xfrm>
              <a:off x="888492" y="597218"/>
              <a:ext cx="2080470" cy="264033"/>
            </a:xfrm>
            <a:prstGeom prst="rect">
              <a:avLst/>
            </a:prstGeom>
            <a:noFill/>
            <a:ln>
              <a:noFill/>
            </a:ln>
          </p:spPr>
          <p:txBody>
            <a:bodyPr wrap="none" lIns="0" tIns="0" rIns="0" bIns="0" anchor="t" anchorCtr="0">
              <a:spAutoFit/>
            </a:bodyPr>
            <a:lstStyle/>
            <a:p>
              <a:pPr algn="l"/>
              <a:r>
                <a:rPr lang="zh-CN" sz="1350" spc="150" dirty="0">
                  <a:solidFill>
                    <a:schemeClr val="accent5"/>
                  </a:solidFill>
                  <a:latin typeface="+mn-lt"/>
                  <a:ea typeface="+mn-ea"/>
                  <a:cs typeface="+mn-cs"/>
                </a:rPr>
                <a:t>四 · 能源、创新与民生</a:t>
              </a:r>
            </a:p>
          </p:txBody>
        </p:sp>
        <p:sp>
          <p:nvSpPr>
            <p:cNvPr id="4" name="TextBox 4"/>
            <p:cNvSpPr txBox="1"/>
            <p:nvPr/>
          </p:nvSpPr>
          <p:spPr>
            <a:xfrm>
              <a:off x="593598" y="860108"/>
              <a:ext cx="3168396"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j-lt"/>
                  <a:ea typeface="+mj-ea"/>
                  <a:cs typeface="+mj-cs"/>
                </a:rPr>
                <a:t>能源与绿色转型</a:t>
              </a:r>
            </a:p>
          </p:txBody>
        </p:sp>
        <p:sp>
          <p:nvSpPr>
            <p:cNvPr id="5" name="TextBox 5"/>
            <p:cNvSpPr txBox="1"/>
            <p:nvPr/>
          </p:nvSpPr>
          <p:spPr>
            <a:xfrm>
              <a:off x="8822226" y="1054418"/>
              <a:ext cx="2767032"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n-lt"/>
                  <a:ea typeface="+mn-ea"/>
                  <a:cs typeface="+mn-cs"/>
                </a:rPr>
                <a:t>全年发电量构成 · 单位：亿千瓦时</a:t>
              </a:r>
            </a:p>
          </p:txBody>
        </p:sp>
        <p:sp>
          <p:nvSpPr>
            <p:cNvPr id="6" name="Rectangle 6"/>
            <p:cNvSpPr/>
            <p:nvPr/>
          </p:nvSpPr>
          <p:spPr>
            <a:xfrm>
              <a:off x="609600" y="1381125"/>
              <a:ext cx="1295400" cy="38100"/>
            </a:xfrm>
            <a:prstGeom prst="rect">
              <a:avLst/>
            </a:prstGeom>
            <a:gradFill>
              <a:gsLst>
                <a:gs pos="0">
                  <a:schemeClr val="accent1"/>
                </a:gs>
                <a:gs pos="100000">
                  <a:schemeClr val="accent2"/>
                </a:gs>
              </a:gsLst>
              <a:lin ang="0" scaled="1"/>
            </a:gradFill>
            <a:ln>
              <a:noFill/>
            </a:ln>
          </p:spPr>
        </p:sp>
      </p:grpSp>
      <p:graphicFrame>
        <p:nvGraphicFramePr>
          <p:cNvPr id="8" name="power-generation-mix"/>
          <p:cNvGraphicFramePr>
            <a:graphicFrameLocks noGrp="1"/>
          </p:cNvGraphicFramePr>
          <p:nvPr/>
        </p:nvGraphicFramePr>
        <p:xfrm>
          <a:off x="609600" y="1562100"/>
          <a:ext cx="5105400" cy="3581400"/>
        </p:xfrm>
        <a:graphic>
          <a:graphicData uri="http://schemas.openxmlformats.org/drawingml/2006/chart">
            <c:chart xmlns:c="http://schemas.openxmlformats.org/drawingml/2006/chart" r:id="rId2"/>
          </a:graphicData>
        </a:graphic>
      </p:graphicFrame>
      <p:sp>
        <p:nvSpPr>
          <p:cNvPr id="9" name="Chart Note 9"/>
          <p:cNvSpPr txBox="1"/>
          <p:nvPr/>
        </p:nvSpPr>
        <p:spPr>
          <a:xfrm>
            <a:off x="4476750" y="3600450"/>
            <a:ext cx="914400" cy="247650"/>
          </a:xfrm>
          <a:prstGeom prst="rect">
            <a:avLst/>
          </a:prstGeom>
          <a:noFill/>
          <a:ln>
            <a:noFill/>
          </a:ln>
        </p:spPr>
        <p:txBody>
          <a:bodyPr wrap="square" lIns="0" tIns="0" rIns="0" bIns="0" anchor="t" anchorCtr="0"/>
          <a:lstStyle/>
          <a:p>
            <a:pPr algn="l"/>
            <a:r>
              <a:rPr lang="zh-CN" sz="1500" b="1">
                <a:solidFill>
                  <a:srgbClr val="1F2A30"/>
                </a:solidFill>
                <a:latin typeface="Microsoft YaHei"/>
                <a:ea typeface="Microsoft YaHei"/>
                <a:cs typeface="Microsoft YaHei"/>
              </a:rPr>
              <a:t>63271.5</a:t>
            </a:r>
          </a:p>
        </p:txBody>
      </p:sp>
      <p:sp>
        <p:nvSpPr>
          <p:cNvPr id="10" name="Chart Note 10"/>
          <p:cNvSpPr txBox="1"/>
          <p:nvPr/>
        </p:nvSpPr>
        <p:spPr>
          <a:xfrm>
            <a:off x="800100" y="3905250"/>
            <a:ext cx="914400" cy="247650"/>
          </a:xfrm>
          <a:prstGeom prst="rect">
            <a:avLst/>
          </a:prstGeom>
          <a:noFill/>
          <a:ln>
            <a:noFill/>
          </a:ln>
        </p:spPr>
        <p:txBody>
          <a:bodyPr wrap="square" lIns="0" tIns="0" rIns="0" bIns="0" anchor="t" anchorCtr="0"/>
          <a:lstStyle/>
          <a:p>
            <a:pPr algn="r"/>
            <a:r>
              <a:rPr lang="zh-CN" sz="1500" b="1">
                <a:solidFill>
                  <a:srgbClr val="1F2A30"/>
                </a:solidFill>
                <a:latin typeface="Microsoft YaHei"/>
                <a:ea typeface="Microsoft YaHei"/>
                <a:cs typeface="Microsoft YaHei"/>
              </a:rPr>
              <a:t>14616.7</a:t>
            </a:r>
          </a:p>
        </p:txBody>
      </p:sp>
      <p:sp>
        <p:nvSpPr>
          <p:cNvPr id="11" name="Chart Note 11"/>
          <p:cNvSpPr txBox="1"/>
          <p:nvPr/>
        </p:nvSpPr>
        <p:spPr>
          <a:xfrm>
            <a:off x="704850" y="3009900"/>
            <a:ext cx="819150" cy="247650"/>
          </a:xfrm>
          <a:prstGeom prst="rect">
            <a:avLst/>
          </a:prstGeom>
          <a:noFill/>
          <a:ln>
            <a:noFill/>
          </a:ln>
        </p:spPr>
        <p:txBody>
          <a:bodyPr wrap="square" lIns="0" tIns="0" rIns="0" bIns="0" anchor="t" anchorCtr="0"/>
          <a:lstStyle/>
          <a:p>
            <a:pPr algn="r"/>
            <a:r>
              <a:rPr lang="zh-CN" sz="1500" b="1">
                <a:solidFill>
                  <a:srgbClr val="1F2A30"/>
                </a:solidFill>
                <a:latin typeface="Microsoft YaHei"/>
                <a:ea typeface="Microsoft YaHei"/>
                <a:cs typeface="Microsoft YaHei"/>
              </a:rPr>
              <a:t>4852.3</a:t>
            </a:r>
          </a:p>
        </p:txBody>
      </p:sp>
      <p:sp>
        <p:nvSpPr>
          <p:cNvPr id="12" name="Chart Note 12"/>
          <p:cNvSpPr txBox="1"/>
          <p:nvPr/>
        </p:nvSpPr>
        <p:spPr>
          <a:xfrm>
            <a:off x="838200" y="2276475"/>
            <a:ext cx="914400" cy="247650"/>
          </a:xfrm>
          <a:prstGeom prst="rect">
            <a:avLst/>
          </a:prstGeom>
          <a:noFill/>
          <a:ln>
            <a:noFill/>
          </a:ln>
        </p:spPr>
        <p:txBody>
          <a:bodyPr wrap="square" lIns="0" tIns="0" rIns="0" bIns="0" anchor="t" anchorCtr="0"/>
          <a:lstStyle/>
          <a:p>
            <a:pPr algn="r"/>
            <a:r>
              <a:rPr lang="zh-CN" sz="1500" b="1">
                <a:solidFill>
                  <a:srgbClr val="1F2A30"/>
                </a:solidFill>
                <a:latin typeface="Microsoft YaHei"/>
                <a:ea typeface="Microsoft YaHei"/>
                <a:cs typeface="Microsoft YaHei"/>
              </a:rPr>
              <a:t>11279.2</a:t>
            </a:r>
          </a:p>
        </p:txBody>
      </p:sp>
      <p:sp>
        <p:nvSpPr>
          <p:cNvPr id="13" name="Chart Note 13"/>
          <p:cNvSpPr txBox="1"/>
          <p:nvPr/>
        </p:nvSpPr>
        <p:spPr>
          <a:xfrm>
            <a:off x="2038350" y="1581150"/>
            <a:ext cx="914400" cy="247650"/>
          </a:xfrm>
          <a:prstGeom prst="rect">
            <a:avLst/>
          </a:prstGeom>
          <a:noFill/>
          <a:ln>
            <a:noFill/>
          </a:ln>
        </p:spPr>
        <p:txBody>
          <a:bodyPr wrap="square" lIns="0" tIns="0" rIns="0" bIns="0" anchor="t" anchorCtr="0"/>
          <a:lstStyle/>
          <a:p>
            <a:pPr algn="ctr"/>
            <a:r>
              <a:rPr lang="zh-CN" sz="1500" b="1">
                <a:solidFill>
                  <a:srgbClr val="1F2A30"/>
                </a:solidFill>
                <a:latin typeface="Microsoft YaHei"/>
                <a:ea typeface="Microsoft YaHei"/>
                <a:cs typeface="Microsoft YaHei"/>
              </a:rPr>
              <a:t>11732.4</a:t>
            </a:r>
          </a:p>
        </p:txBody>
      </p:sp>
      <p:grpSp>
        <p:nvGrpSpPr>
          <p:cNvPr id="18" name="Group 18"/>
          <p:cNvGrpSpPr/>
          <p:nvPr/>
        </p:nvGrpSpPr>
        <p:grpSpPr>
          <a:xfrm>
            <a:off x="6153150" y="1672590"/>
            <a:ext cx="3633387" cy="1684211"/>
            <a:chOff x="6153150" y="1672590"/>
            <a:chExt cx="3633387" cy="1684211"/>
          </a:xfrm>
        </p:grpSpPr>
        <p:sp>
          <p:nvSpPr>
            <p:cNvPr id="14" name="TextBox 14"/>
            <p:cNvSpPr txBox="1"/>
            <p:nvPr/>
          </p:nvSpPr>
          <p:spPr>
            <a:xfrm>
              <a:off x="6163056" y="1672590"/>
              <a:ext cx="1229868"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全年发电量</a:t>
              </a:r>
            </a:p>
          </p:txBody>
        </p:sp>
        <p:sp>
          <p:nvSpPr>
            <p:cNvPr id="15" name="TextBox 15"/>
            <p:cNvSpPr txBox="1"/>
            <p:nvPr/>
          </p:nvSpPr>
          <p:spPr>
            <a:xfrm>
              <a:off x="6153150" y="2007870"/>
              <a:ext cx="3586704" cy="1047750"/>
            </a:xfrm>
            <a:prstGeom prst="rect">
              <a:avLst/>
            </a:prstGeom>
            <a:noFill/>
            <a:ln>
              <a:noFill/>
            </a:ln>
          </p:spPr>
          <p:txBody>
            <a:bodyPr wrap="none" lIns="0" tIns="0" rIns="0" bIns="0" anchor="t" anchorCtr="0">
              <a:spAutoFit/>
            </a:bodyPr>
            <a:lstStyle/>
            <a:p>
              <a:pPr algn="l"/>
              <a:r>
                <a:rPr lang="zh-CN" sz="5400" b="1" dirty="0">
                  <a:solidFill>
                    <a:schemeClr val="accent1"/>
                  </a:solidFill>
                  <a:latin typeface="Times New Roman"/>
                  <a:ea typeface="Times New Roman"/>
                  <a:cs typeface="Times New Roman"/>
                </a:rPr>
                <a:t>105752.5</a:t>
              </a:r>
            </a:p>
          </p:txBody>
        </p:sp>
        <p:sp>
          <p:nvSpPr>
            <p:cNvPr id="16" name="TextBox 16"/>
            <p:cNvSpPr txBox="1"/>
            <p:nvPr/>
          </p:nvSpPr>
          <p:spPr>
            <a:xfrm>
              <a:off x="6164580" y="2790825"/>
              <a:ext cx="2634272"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 xml:space="preserve">亿千瓦时 · 比上年增长 </a:t>
              </a:r>
              <a:r>
                <a:rPr lang="zh-CN" sz="1500" b="1" dirty="0">
                  <a:solidFill>
                    <a:schemeClr val="accent3"/>
                  </a:solidFill>
                  <a:latin typeface="+mn-lt"/>
                  <a:ea typeface="+mn-ea"/>
                  <a:cs typeface="+mn-cs"/>
                </a:rPr>
                <a:t>4.8%</a:t>
              </a:r>
            </a:p>
          </p:txBody>
        </p:sp>
        <p:sp>
          <p:nvSpPr>
            <p:cNvPr id="17" name="TextBox 17"/>
            <p:cNvSpPr txBox="1"/>
            <p:nvPr/>
          </p:nvSpPr>
          <p:spPr>
            <a:xfrm>
              <a:off x="6165342" y="3092768"/>
              <a:ext cx="3621195"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清洁能源发电量 42481 亿千瓦时（+14.4%）</a:t>
              </a:r>
            </a:p>
          </p:txBody>
        </p:sp>
      </p:grpSp>
      <p:grpSp>
        <p:nvGrpSpPr>
          <p:cNvPr id="24" name="Group 24"/>
          <p:cNvGrpSpPr/>
          <p:nvPr/>
        </p:nvGrpSpPr>
        <p:grpSpPr>
          <a:xfrm>
            <a:off x="6164580" y="3467100"/>
            <a:ext cx="5417820" cy="1318451"/>
            <a:chOff x="6164580" y="3467100"/>
            <a:chExt cx="5417820" cy="1318451"/>
          </a:xfrm>
        </p:grpSpPr>
        <p:sp>
          <p:nvSpPr>
            <p:cNvPr id="19" name="Line 19"/>
            <p:cNvSpPr/>
            <p:nvPr/>
          </p:nvSpPr>
          <p:spPr>
            <a:xfrm>
              <a:off x="6172200" y="3467100"/>
              <a:ext cx="5410200" cy="9525"/>
            </a:xfrm>
            <a:custGeom>
              <a:avLst/>
              <a:gdLst/>
              <a:ahLst/>
              <a:cxnLst/>
              <a:rect l="l" t="t" r="r" b="b"/>
              <a:pathLst>
                <a:path w="5410200" h="9525">
                  <a:moveTo>
                    <a:pt x="0" y="0"/>
                  </a:moveTo>
                  <a:lnTo>
                    <a:pt x="5410200" y="0"/>
                  </a:lnTo>
                </a:path>
              </a:pathLst>
            </a:custGeom>
            <a:noFill/>
            <a:ln w="9525">
              <a:solidFill>
                <a:schemeClr val="accent6"/>
              </a:solidFill>
            </a:ln>
          </p:spPr>
        </p:sp>
        <p:sp>
          <p:nvSpPr>
            <p:cNvPr id="20" name="TextBox 20"/>
            <p:cNvSpPr txBox="1"/>
            <p:nvPr/>
          </p:nvSpPr>
          <p:spPr>
            <a:xfrm>
              <a:off x="6164580" y="3609975"/>
              <a:ext cx="4167930"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 xml:space="preserve">年末发电装机容量 </a:t>
              </a:r>
              <a:r>
                <a:rPr lang="zh-CN" sz="1500" b="1" dirty="0">
                  <a:solidFill>
                    <a:schemeClr val="dk1"/>
                  </a:solidFill>
                  <a:latin typeface="Arial"/>
                  <a:ea typeface="Arial"/>
                  <a:cs typeface="Arial"/>
                </a:rPr>
                <a:t>389134</a:t>
              </a:r>
              <a:r>
                <a:rPr lang="zh-CN" sz="1500" dirty="0">
                  <a:solidFill>
                    <a:schemeClr val="dk1"/>
                  </a:solidFill>
                  <a:latin typeface="+mn-lt"/>
                  <a:ea typeface="+mn-ea"/>
                  <a:cs typeface="+mn-cs"/>
                </a:rPr>
                <a:t xml:space="preserve"> 万千瓦（+16.1%）</a:t>
              </a:r>
            </a:p>
          </p:txBody>
        </p:sp>
        <p:sp>
          <p:nvSpPr>
            <p:cNvPr id="21" name="TextBox 21"/>
            <p:cNvSpPr txBox="1"/>
            <p:nvPr/>
          </p:nvSpPr>
          <p:spPr>
            <a:xfrm>
              <a:off x="6165342" y="3950018"/>
              <a:ext cx="3539414"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太阳能发电装机 120173 万千瓦（+35.4%）</a:t>
              </a:r>
            </a:p>
          </p:txBody>
        </p:sp>
        <p:sp>
          <p:nvSpPr>
            <p:cNvPr id="22" name="TextBox 22"/>
            <p:cNvSpPr txBox="1"/>
            <p:nvPr/>
          </p:nvSpPr>
          <p:spPr>
            <a:xfrm>
              <a:off x="6165342" y="4235768"/>
              <a:ext cx="2894247"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风电装机 64001 万千瓦（+22.9%）</a:t>
              </a:r>
            </a:p>
          </p:txBody>
        </p:sp>
        <p:sp>
          <p:nvSpPr>
            <p:cNvPr id="23" name="TextBox 23"/>
            <p:cNvSpPr txBox="1"/>
            <p:nvPr/>
          </p:nvSpPr>
          <p:spPr>
            <a:xfrm>
              <a:off x="6165342" y="4521518"/>
              <a:ext cx="3357677"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新能源汽车产量 1652.4 万辆（+25.1%）</a:t>
              </a:r>
            </a:p>
          </p:txBody>
        </p:sp>
      </p:grpSp>
      <p:grpSp>
        <p:nvGrpSpPr>
          <p:cNvPr id="26" name="Group 26"/>
          <p:cNvGrpSpPr/>
          <p:nvPr/>
        </p:nvGrpSpPr>
        <p:grpSpPr>
          <a:xfrm>
            <a:off x="6165342" y="4845368"/>
            <a:ext cx="4265676" cy="492633"/>
            <a:chOff x="6165342" y="4845368"/>
            <a:chExt cx="4265676" cy="492633"/>
          </a:xfrm>
        </p:grpSpPr>
        <p:sp>
          <p:nvSpPr>
            <p:cNvPr id="25" name="TextBox 25"/>
            <p:cNvSpPr txBox="1"/>
            <p:nvPr/>
          </p:nvSpPr>
          <p:spPr>
            <a:xfrm>
              <a:off x="6165342" y="4845368"/>
              <a:ext cx="4265676" cy="492633"/>
            </a:xfrm>
            <a:prstGeom prst="rect">
              <a:avLst/>
            </a:prstGeom>
            <a:noFill/>
            <a:ln>
              <a:noFill/>
            </a:ln>
          </p:spPr>
          <p:txBody>
            <a:bodyPr wrap="none" lIns="0" tIns="0" rIns="0" bIns="0" anchor="t" anchorCtr="0">
              <a:spAutoFit/>
            </a:bodyPr>
            <a:lstStyle/>
            <a:p>
              <a:pPr algn="l">
                <a:lnSpc>
                  <a:spcPts val="1800"/>
                </a:lnSpc>
              </a:pPr>
              <a:r>
                <a:rPr lang="zh-CN" sz="1350" dirty="0">
                  <a:solidFill>
                    <a:schemeClr val="accent5"/>
                  </a:solidFill>
                  <a:latin typeface="+mn-lt"/>
                  <a:ea typeface="+mn-ea"/>
                  <a:cs typeface="+mn-cs"/>
                </a:rPr>
                <a:t>NO DATA：公报分别给出清洁能源发电量与全年发电量，</a:t>
              </a:r>
              <a:br/>
              <a:r>
                <a:rPr lang="zh-CN" sz="1350" dirty="0">
                  <a:solidFill>
                    <a:schemeClr val="accent5"/>
                  </a:solidFill>
                  <a:latin typeface="+mn-lt"/>
                  <a:ea typeface="+mn-ea"/>
                  <a:cs typeface="+mn-cs"/>
                </a:rPr>
                <a:t>未给出清洁能源占总发电量的比重，本页不作推算。</a:t>
              </a:r>
            </a:p>
          </p:txBody>
        </p:sp>
      </p:grpSp>
      <p:grpSp>
        <p:nvGrpSpPr>
          <p:cNvPr id="30" name="Group 30"/>
          <p:cNvGrpSpPr/>
          <p:nvPr/>
        </p:nvGrpSpPr>
        <p:grpSpPr>
          <a:xfrm>
            <a:off x="602742" y="5372100"/>
            <a:ext cx="10979658" cy="689801"/>
            <a:chOff x="602742" y="5372100"/>
            <a:chExt cx="10979658" cy="689801"/>
          </a:xfrm>
        </p:grpSpPr>
        <p:sp>
          <p:nvSpPr>
            <p:cNvPr id="27" name="Line 27"/>
            <p:cNvSpPr/>
            <p:nvPr/>
          </p:nvSpPr>
          <p:spPr>
            <a:xfrm>
              <a:off x="609600" y="53721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28" name="TextBox 28"/>
            <p:cNvSpPr txBox="1"/>
            <p:nvPr/>
          </p:nvSpPr>
          <p:spPr>
            <a:xfrm>
              <a:off x="602742" y="5512118"/>
              <a:ext cx="10908849"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能源消费总量 61.7 亿吨标准煤（+3.5%）· 煤炭消费量占比 51.4%（-1.8 个百分点）· 清洁能源消费量占比 30.4%（+1.8 个百分点）</a:t>
              </a:r>
            </a:p>
          </p:txBody>
        </p:sp>
        <p:sp>
          <p:nvSpPr>
            <p:cNvPr id="29" name="TextBox 29"/>
            <p:cNvSpPr txBox="1"/>
            <p:nvPr/>
          </p:nvSpPr>
          <p:spPr>
            <a:xfrm>
              <a:off x="602742" y="5797868"/>
              <a:ext cx="9518561"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万元国内生产总值二氧化碳排放 -5.0% · 万元国内生产总值能耗 -5.1% · 监测的 339 个城市中空气质量达标占 72.6%</a:t>
              </a:r>
            </a:p>
          </p:txBody>
        </p:sp>
      </p:grpSp>
      <p:grpSp>
        <p:nvGrpSpPr>
          <p:cNvPr id="34" name="Group 34"/>
          <p:cNvGrpSpPr/>
          <p:nvPr/>
        </p:nvGrpSpPr>
        <p:grpSpPr>
          <a:xfrm>
            <a:off x="603504" y="6172200"/>
            <a:ext cx="10984992" cy="371856"/>
            <a:chOff x="603504" y="6172200"/>
            <a:chExt cx="10984992" cy="371856"/>
          </a:xfrm>
        </p:grpSpPr>
        <p:sp>
          <p:nvSpPr>
            <p:cNvPr id="31" name="Line 31"/>
            <p:cNvSpPr/>
            <p:nvPr/>
          </p:nvSpPr>
          <p:spPr>
            <a:xfrm>
              <a:off x="609600" y="61722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32" name="TextBox 32"/>
            <p:cNvSpPr txBox="1"/>
            <p:nvPr/>
          </p:nvSpPr>
          <p:spPr>
            <a:xfrm>
              <a:off x="603504" y="6309360"/>
              <a:ext cx="7661300"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来源：国家统计局《2025 年国民经济和社会发展统计公报》表 4；一、综合；十二、资源、环境和应急管理</a:t>
              </a:r>
            </a:p>
          </p:txBody>
        </p:sp>
        <p:sp>
          <p:nvSpPr>
            <p:cNvPr id="33" name="TextBox 33"/>
            <p:cNvSpPr txBox="1"/>
            <p:nvPr/>
          </p:nvSpPr>
          <p:spPr>
            <a:xfrm>
              <a:off x="11398606" y="6309360"/>
              <a:ext cx="189890"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13</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21" presetClass="entr" presetSubtype="1"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heel(1)">
                                      <p:cBhvr>
                                        <p:cTn id="7" dur="900"/>
                                        <p:tgtEl>
                                          <p:spTgt spid="8"/>
                                        </p:tgtEl>
                                      </p:cBhvr>
                                    </p:animEffect>
                                  </p:childTnLst>
                                </p:cTn>
                              </p:par>
                            </p:childTnLst>
                          </p:cTn>
                        </p:par>
                        <p:par>
                          <p:cTn id="8" fill="hold">
                            <p:stCondLst>
                              <p:cond delay="900"/>
                            </p:stCondLst>
                            <p:childTnLst>
                              <p:par>
                                <p:cTn xmlns:p="http://schemas.openxmlformats.org/presentationml/2006/main" id="9" presetID="37" presetClass="entr" presetSubtype="0" fill="hold" grpId="0" nodeType="afterEffect">
                                  <p:stCondLst>
                                    <p:cond delay="500"/>
                                  </p:stCondLst>
                                  <p:childTnLst>
                                    <p:set>
                                      <p:cBhvr>
                                        <p:cTn id="10" dur="1" fill="hold">
                                          <p:stCondLst>
                                            <p:cond delay="0"/>
                                          </p:stCondLst>
                                        </p:cTn>
                                        <p:tgtEl>
                                          <p:spTgt spid="18"/>
                                        </p:tgtEl>
                                        <p:attrNameLst>
                                          <p:attrName>style.visibility</p:attrName>
                                        </p:attrNameLst>
                                      </p:cBhvr>
                                      <p:to>
                                        <p:strVal val="visible"/>
                                      </p:to>
                                    </p:set>
                                    <p:animEffect transition="in" filter="fade">
                                      <p:cBhvr>
                                        <p:cTn id="11" dur="500"/>
                                        <p:tgtEl>
                                          <p:spTgt spid="18"/>
                                        </p:tgtEl>
                                      </p:cBhvr>
                                    </p:animEffect>
                                    <p:anim calcmode="lin" valueType="num">
                                      <p:cBhvr>
                                        <p:cTn id="12" dur="500" fill="hold"/>
                                        <p:tgtEl>
                                          <p:spTgt spid="18"/>
                                        </p:tgtEl>
                                        <p:attrNameLst>
                                          <p:attrName>ppt_x</p:attrName>
                                        </p:attrNameLst>
                                      </p:cBhvr>
                                      <p:tavLst>
                                        <p:tav tm="0">
                                          <p:val>
                                            <p:strVal val="#ppt_x"/>
                                          </p:val>
                                        </p:tav>
                                        <p:tav tm="100000">
                                          <p:val>
                                            <p:strVal val="#ppt_x"/>
                                          </p:val>
                                        </p:tav>
                                      </p:tavLst>
                                    </p:anim>
                                    <p:anim calcmode="lin" valueType="num">
                                      <p:cBhvr>
                                        <p:cTn id="13" dur="450" decel="100000" fill="hold"/>
                                        <p:tgtEl>
                                          <p:spTgt spid="18"/>
                                        </p:tgtEl>
                                        <p:attrNameLst>
                                          <p:attrName>ppt_y</p:attrName>
                                        </p:attrNameLst>
                                      </p:cBhvr>
                                      <p:tavLst>
                                        <p:tav tm="0">
                                          <p:val>
                                            <p:strVal val="#ppt_y+1"/>
                                          </p:val>
                                        </p:tav>
                                        <p:tav tm="100000">
                                          <p:val>
                                            <p:strVal val="#ppt_y-.03"/>
                                          </p:val>
                                        </p:tav>
                                      </p:tavLst>
                                    </p:anim>
                                    <p:anim calcmode="lin" valueType="num">
                                      <p:cBhvr>
                                        <p:cTn id="14" dur="50" accel="100000" fill="hold">
                                          <p:stCondLst>
                                            <p:cond delay="450"/>
                                          </p:stCondLst>
                                        </p:cTn>
                                        <p:tgtEl>
                                          <p:spTgt spid="18"/>
                                        </p:tgtEl>
                                        <p:attrNameLst>
                                          <p:attrName>ppt_y</p:attrName>
                                        </p:attrNameLst>
                                      </p:cBhvr>
                                      <p:tavLst>
                                        <p:tav tm="0">
                                          <p:val>
                                            <p:strVal val="#ppt_y-.03"/>
                                          </p:val>
                                        </p:tav>
                                        <p:tav tm="100000">
                                          <p:val>
                                            <p:strVal val="#ppt_y"/>
                                          </p:val>
                                        </p:tav>
                                      </p:tavLst>
                                    </p:anim>
                                  </p:childTnLst>
                                </p:cTn>
                              </p:par>
                            </p:childTnLst>
                          </p:cTn>
                        </p:par>
                        <p:par>
                          <p:cTn id="15" fill="hold">
                            <p:stCondLst>
                              <p:cond delay="1900"/>
                            </p:stCondLst>
                            <p:childTnLst>
                              <p:par>
                                <p:cTn xmlns:p="http://schemas.openxmlformats.org/presentationml/2006/main" id="16" presetID="10" presetClass="entr" presetSubtype="0" fill="hold" grpId="0" nodeType="afterEffect">
                                  <p:stCondLst>
                                    <p:cond delay="500"/>
                                  </p:stCondLst>
                                  <p:childTnLst>
                                    <p:set>
                                      <p:cBhvr>
                                        <p:cTn id="17" dur="1" fill="hold">
                                          <p:stCondLst>
                                            <p:cond delay="0"/>
                                          </p:stCondLst>
                                        </p:cTn>
                                        <p:tgtEl>
                                          <p:spTgt spid="24"/>
                                        </p:tgtEl>
                                        <p:attrNameLst>
                                          <p:attrName>style.visibility</p:attrName>
                                        </p:attrNameLst>
                                      </p:cBhvr>
                                      <p:to>
                                        <p:strVal val="visible"/>
                                      </p:to>
                                    </p:set>
                                    <p:animEffect transition="in" filter="fade">
                                      <p:cBhvr>
                                        <p:cTn id="18" dur="500"/>
                                        <p:tgtEl>
                                          <p:spTgt spid="24"/>
                                        </p:tgtEl>
                                      </p:cBhvr>
                                    </p:animEffect>
                                  </p:childTnLst>
                                </p:cTn>
                              </p:par>
                            </p:childTnLst>
                          </p:cTn>
                        </p:par>
                        <p:par>
                          <p:cTn id="19" fill="hold">
                            <p:stCondLst>
                              <p:cond delay="2900"/>
                            </p:stCondLst>
                            <p:childTnLst>
                              <p:par>
                                <p:cTn xmlns:p="http://schemas.openxmlformats.org/presentationml/2006/main" id="20" presetID="10" presetClass="entr" presetSubtype="0" fill="hold" grpId="0" nodeType="afterEffect">
                                  <p:stCondLst>
                                    <p:cond delay="500"/>
                                  </p:stCondLst>
                                  <p:childTnLst>
                                    <p:set>
                                      <p:cBhvr>
                                        <p:cTn id="21" dur="1" fill="hold">
                                          <p:stCondLst>
                                            <p:cond delay="0"/>
                                          </p:stCondLst>
                                        </p:cTn>
                                        <p:tgtEl>
                                          <p:spTgt spid="26"/>
                                        </p:tgtEl>
                                        <p:attrNameLst>
                                          <p:attrName>style.visibility</p:attrName>
                                        </p:attrNameLst>
                                      </p:cBhvr>
                                      <p:to>
                                        <p:strVal val="visible"/>
                                      </p:to>
                                    </p:set>
                                    <p:animEffect transition="in" filter="fade">
                                      <p:cBhvr>
                                        <p:cTn id="22" dur="400"/>
                                        <p:tgtEl>
                                          <p:spTgt spid="26"/>
                                        </p:tgtEl>
                                      </p:cBhvr>
                                    </p:animEffect>
                                  </p:childTnLst>
                                </p:cTn>
                              </p:par>
                            </p:childTnLst>
                          </p:cTn>
                        </p:par>
                        <p:par>
                          <p:cTn id="23" fill="hold">
                            <p:stCondLst>
                              <p:cond delay="3800"/>
                            </p:stCondLst>
                            <p:childTnLst>
                              <p:par>
                                <p:cTn xmlns:p="http://schemas.openxmlformats.org/presentationml/2006/main" id="24" presetID="10" presetClass="entr" presetSubtype="0" fill="hold" grpId="0" nodeType="afterEffect">
                                  <p:stCondLst>
                                    <p:cond delay="500"/>
                                  </p:stCondLst>
                                  <p:childTnLst>
                                    <p:set>
                                      <p:cBhvr>
                                        <p:cTn id="25" dur="1" fill="hold">
                                          <p:stCondLst>
                                            <p:cond delay="0"/>
                                          </p:stCondLst>
                                        </p:cTn>
                                        <p:tgtEl>
                                          <p:spTgt spid="30"/>
                                        </p:tgtEl>
                                        <p:attrNameLst>
                                          <p:attrName>style.visibility</p:attrName>
                                        </p:attrNameLst>
                                      </p:cBhvr>
                                      <p:to>
                                        <p:strVal val="visible"/>
                                      </p:to>
                                    </p:set>
                                    <p:animEffect transition="in" filter="fade">
                                      <p:cBhvr>
                                        <p:cTn id="26"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17" name="Group 17"/>
          <p:cNvGrpSpPr/>
          <p:nvPr/>
        </p:nvGrpSpPr>
        <p:grpSpPr>
          <a:xfrm>
            <a:off x="593598" y="597218"/>
            <a:ext cx="10995660" cy="878967"/>
            <a:chOff x="593598" y="597218"/>
            <a:chExt cx="10995660" cy="878967"/>
          </a:xfrm>
        </p:grpSpPr>
        <p:grpSp>
          <p:nvGrpSpPr>
            <p:cNvPr id="12" name="Group 12"/>
            <p:cNvGrpSpPr/>
            <p:nvPr/>
          </p:nvGrpSpPr>
          <p:grpSpPr>
            <a:xfrm>
              <a:off x="633412" y="614362"/>
              <a:ext cx="142875" cy="142875"/>
              <a:chOff x="633412" y="614362"/>
              <a:chExt cx="142875" cy="142875"/>
            </a:xfrm>
          </p:grpSpPr>
          <p:sp>
            <p:nvSpPr>
              <p:cNvPr id="2" name="Freeform 2"/>
              <p:cNvSpPr/>
              <p:nvPr/>
            </p:nvSpPr>
            <p:spPr>
              <a:xfrm>
                <a:off x="649287" y="630237"/>
                <a:ext cx="111125" cy="111125"/>
              </a:xfrm>
              <a:custGeom>
                <a:avLst/>
                <a:gdLst/>
                <a:ahLst/>
                <a:cxnLst/>
                <a:rect l="l" t="t" r="r" b="b"/>
                <a:pathLst>
                  <a:path w="111125" h="111125">
                    <a:moveTo>
                      <a:pt x="0" y="7937"/>
                    </a:moveTo>
                    <a:cubicBezTo>
                      <a:pt x="0" y="3554"/>
                      <a:pt x="3554" y="0"/>
                      <a:pt x="7937" y="0"/>
                    </a:cubicBezTo>
                    <a:lnTo>
                      <a:pt x="103187" y="0"/>
                    </a:lnTo>
                    <a:cubicBezTo>
                      <a:pt x="107571" y="0"/>
                      <a:pt x="111125" y="3554"/>
                      <a:pt x="111125" y="7937"/>
                    </a:cubicBezTo>
                    <a:lnTo>
                      <a:pt x="111125" y="103187"/>
                    </a:lnTo>
                    <a:cubicBezTo>
                      <a:pt x="111125" y="107571"/>
                      <a:pt x="107571" y="111125"/>
                      <a:pt x="103187" y="111125"/>
                    </a:cubicBezTo>
                    <a:lnTo>
                      <a:pt x="7937" y="111125"/>
                    </a:lnTo>
                    <a:cubicBezTo>
                      <a:pt x="3554" y="111125"/>
                      <a:pt x="0" y="107571"/>
                      <a:pt x="0" y="103187"/>
                    </a:cubicBezTo>
                    <a:lnTo>
                      <a:pt x="0" y="7937"/>
                    </a:lnTo>
                  </a:path>
                </a:pathLst>
              </a:custGeom>
              <a:noFill/>
              <a:ln w="15875">
                <a:solidFill>
                  <a:srgbClr val="5F6B72"/>
                </a:solidFill>
              </a:ln>
            </p:spPr>
          </p:sp>
          <p:sp>
            <p:nvSpPr>
              <p:cNvPr id="3" name="Freeform 3"/>
              <p:cNvSpPr/>
              <p:nvPr/>
            </p:nvSpPr>
            <p:spPr>
              <a:xfrm>
                <a:off x="681037" y="661987"/>
                <a:ext cx="47625" cy="47625"/>
              </a:xfrm>
              <a:custGeom>
                <a:avLst/>
                <a:gdLst/>
                <a:ahLst/>
                <a:cxnLst/>
                <a:rect l="l" t="t" r="r" b="b"/>
                <a:pathLst>
                  <a:path w="47625" h="47625">
                    <a:moveTo>
                      <a:pt x="0" y="0"/>
                    </a:moveTo>
                    <a:lnTo>
                      <a:pt x="47625" y="0"/>
                    </a:lnTo>
                    <a:lnTo>
                      <a:pt x="47625" y="47625"/>
                    </a:lnTo>
                    <a:lnTo>
                      <a:pt x="0" y="47625"/>
                    </a:lnTo>
                    <a:lnTo>
                      <a:pt x="0" y="0"/>
                    </a:lnTo>
                  </a:path>
                </a:pathLst>
              </a:custGeom>
              <a:noFill/>
              <a:ln w="15875">
                <a:solidFill>
                  <a:srgbClr val="5F6B72"/>
                </a:solidFill>
              </a:ln>
            </p:spPr>
          </p:sp>
          <p:sp>
            <p:nvSpPr>
              <p:cNvPr id="4" name="Freeform 4"/>
              <p:cNvSpPr/>
              <p:nvPr/>
            </p:nvSpPr>
            <p:spPr>
              <a:xfrm>
                <a:off x="633412" y="669925"/>
                <a:ext cx="15875" cy="9525"/>
              </a:xfrm>
              <a:custGeom>
                <a:avLst/>
                <a:gdLst/>
                <a:ahLst/>
                <a:cxnLst/>
                <a:rect l="l" t="t" r="r" b="b"/>
                <a:pathLst>
                  <a:path w="15875" h="9525">
                    <a:moveTo>
                      <a:pt x="0" y="0"/>
                    </a:moveTo>
                    <a:lnTo>
                      <a:pt x="15875" y="0"/>
                    </a:lnTo>
                  </a:path>
                </a:pathLst>
              </a:custGeom>
              <a:noFill/>
              <a:ln w="15875">
                <a:solidFill>
                  <a:srgbClr val="5F6B72"/>
                </a:solidFill>
              </a:ln>
            </p:spPr>
          </p:sp>
          <p:sp>
            <p:nvSpPr>
              <p:cNvPr id="5" name="Freeform 5"/>
              <p:cNvSpPr/>
              <p:nvPr/>
            </p:nvSpPr>
            <p:spPr>
              <a:xfrm>
                <a:off x="633412" y="701675"/>
                <a:ext cx="15875" cy="9525"/>
              </a:xfrm>
              <a:custGeom>
                <a:avLst/>
                <a:gdLst/>
                <a:ahLst/>
                <a:cxnLst/>
                <a:rect l="l" t="t" r="r" b="b"/>
                <a:pathLst>
                  <a:path w="15875" h="9525">
                    <a:moveTo>
                      <a:pt x="0" y="0"/>
                    </a:moveTo>
                    <a:lnTo>
                      <a:pt x="15875" y="0"/>
                    </a:lnTo>
                  </a:path>
                </a:pathLst>
              </a:custGeom>
              <a:noFill/>
              <a:ln w="15875">
                <a:solidFill>
                  <a:srgbClr val="5F6B72"/>
                </a:solidFill>
              </a:ln>
            </p:spPr>
          </p:sp>
          <p:sp>
            <p:nvSpPr>
              <p:cNvPr id="6" name="Freeform 6"/>
              <p:cNvSpPr/>
              <p:nvPr/>
            </p:nvSpPr>
            <p:spPr>
              <a:xfrm>
                <a:off x="688975" y="614362"/>
                <a:ext cx="9525" cy="15875"/>
              </a:xfrm>
              <a:custGeom>
                <a:avLst/>
                <a:gdLst/>
                <a:ahLst/>
                <a:cxnLst/>
                <a:rect l="l" t="t" r="r" b="b"/>
                <a:pathLst>
                  <a:path w="9525" h="15875">
                    <a:moveTo>
                      <a:pt x="0" y="0"/>
                    </a:moveTo>
                    <a:lnTo>
                      <a:pt x="0" y="15875"/>
                    </a:lnTo>
                  </a:path>
                </a:pathLst>
              </a:custGeom>
              <a:noFill/>
              <a:ln w="15875">
                <a:solidFill>
                  <a:srgbClr val="5F6B72"/>
                </a:solidFill>
              </a:ln>
            </p:spPr>
          </p:sp>
          <p:sp>
            <p:nvSpPr>
              <p:cNvPr id="7" name="Freeform 7"/>
              <p:cNvSpPr/>
              <p:nvPr/>
            </p:nvSpPr>
            <p:spPr>
              <a:xfrm>
                <a:off x="720725" y="614362"/>
                <a:ext cx="9525" cy="15875"/>
              </a:xfrm>
              <a:custGeom>
                <a:avLst/>
                <a:gdLst/>
                <a:ahLst/>
                <a:cxnLst/>
                <a:rect l="l" t="t" r="r" b="b"/>
                <a:pathLst>
                  <a:path w="9525" h="15875">
                    <a:moveTo>
                      <a:pt x="0" y="0"/>
                    </a:moveTo>
                    <a:lnTo>
                      <a:pt x="0" y="15875"/>
                    </a:lnTo>
                  </a:path>
                </a:pathLst>
              </a:custGeom>
              <a:noFill/>
              <a:ln w="15875">
                <a:solidFill>
                  <a:srgbClr val="5F6B72"/>
                </a:solidFill>
              </a:ln>
            </p:spPr>
          </p:sp>
          <p:sp>
            <p:nvSpPr>
              <p:cNvPr id="8" name="Freeform 8"/>
              <p:cNvSpPr/>
              <p:nvPr/>
            </p:nvSpPr>
            <p:spPr>
              <a:xfrm>
                <a:off x="760412" y="669925"/>
                <a:ext cx="15875" cy="9525"/>
              </a:xfrm>
              <a:custGeom>
                <a:avLst/>
                <a:gdLst/>
                <a:ahLst/>
                <a:cxnLst/>
                <a:rect l="l" t="t" r="r" b="b"/>
                <a:pathLst>
                  <a:path w="15875" h="9525">
                    <a:moveTo>
                      <a:pt x="15875" y="0"/>
                    </a:moveTo>
                    <a:lnTo>
                      <a:pt x="0" y="0"/>
                    </a:lnTo>
                  </a:path>
                </a:pathLst>
              </a:custGeom>
              <a:noFill/>
              <a:ln w="15875">
                <a:solidFill>
                  <a:srgbClr val="5F6B72"/>
                </a:solidFill>
              </a:ln>
            </p:spPr>
          </p:sp>
          <p:sp>
            <p:nvSpPr>
              <p:cNvPr id="9" name="Freeform 9"/>
              <p:cNvSpPr/>
              <p:nvPr/>
            </p:nvSpPr>
            <p:spPr>
              <a:xfrm>
                <a:off x="760412" y="701675"/>
                <a:ext cx="15875" cy="9525"/>
              </a:xfrm>
              <a:custGeom>
                <a:avLst/>
                <a:gdLst/>
                <a:ahLst/>
                <a:cxnLst/>
                <a:rect l="l" t="t" r="r" b="b"/>
                <a:pathLst>
                  <a:path w="15875" h="9525">
                    <a:moveTo>
                      <a:pt x="15875" y="0"/>
                    </a:moveTo>
                    <a:lnTo>
                      <a:pt x="0" y="0"/>
                    </a:lnTo>
                  </a:path>
                </a:pathLst>
              </a:custGeom>
              <a:noFill/>
              <a:ln w="15875">
                <a:solidFill>
                  <a:srgbClr val="5F6B72"/>
                </a:solidFill>
              </a:ln>
            </p:spPr>
          </p:sp>
          <p:sp>
            <p:nvSpPr>
              <p:cNvPr id="10" name="Freeform 10"/>
              <p:cNvSpPr/>
              <p:nvPr/>
            </p:nvSpPr>
            <p:spPr>
              <a:xfrm>
                <a:off x="720725" y="741362"/>
                <a:ext cx="9525" cy="15875"/>
              </a:xfrm>
              <a:custGeom>
                <a:avLst/>
                <a:gdLst/>
                <a:ahLst/>
                <a:cxnLst/>
                <a:rect l="l" t="t" r="r" b="b"/>
                <a:pathLst>
                  <a:path w="9525" h="15875">
                    <a:moveTo>
                      <a:pt x="0" y="15875"/>
                    </a:moveTo>
                    <a:lnTo>
                      <a:pt x="0" y="0"/>
                    </a:lnTo>
                  </a:path>
                </a:pathLst>
              </a:custGeom>
              <a:noFill/>
              <a:ln w="15875">
                <a:solidFill>
                  <a:srgbClr val="5F6B72"/>
                </a:solidFill>
              </a:ln>
            </p:spPr>
          </p:sp>
          <p:sp>
            <p:nvSpPr>
              <p:cNvPr id="11" name="Freeform 11"/>
              <p:cNvSpPr/>
              <p:nvPr/>
            </p:nvSpPr>
            <p:spPr>
              <a:xfrm>
                <a:off x="688975" y="741362"/>
                <a:ext cx="9525" cy="15875"/>
              </a:xfrm>
              <a:custGeom>
                <a:avLst/>
                <a:gdLst/>
                <a:ahLst/>
                <a:cxnLst/>
                <a:rect l="l" t="t" r="r" b="b"/>
                <a:pathLst>
                  <a:path w="9525" h="15875">
                    <a:moveTo>
                      <a:pt x="0" y="15875"/>
                    </a:moveTo>
                    <a:lnTo>
                      <a:pt x="0" y="0"/>
                    </a:lnTo>
                  </a:path>
                </a:pathLst>
              </a:custGeom>
              <a:noFill/>
              <a:ln w="15875">
                <a:solidFill>
                  <a:srgbClr val="5F6B72"/>
                </a:solidFill>
              </a:ln>
            </p:spPr>
          </p:sp>
        </p:grpSp>
        <p:sp>
          <p:nvSpPr>
            <p:cNvPr id="13" name="TextBox 13"/>
            <p:cNvSpPr txBox="1"/>
            <p:nvPr/>
          </p:nvSpPr>
          <p:spPr>
            <a:xfrm>
              <a:off x="888492" y="597218"/>
              <a:ext cx="2080470" cy="264033"/>
            </a:xfrm>
            <a:prstGeom prst="rect">
              <a:avLst/>
            </a:prstGeom>
            <a:noFill/>
            <a:ln>
              <a:noFill/>
            </a:ln>
          </p:spPr>
          <p:txBody>
            <a:bodyPr wrap="none" lIns="0" tIns="0" rIns="0" bIns="0" anchor="t" anchorCtr="0">
              <a:spAutoFit/>
            </a:bodyPr>
            <a:lstStyle/>
            <a:p>
              <a:pPr algn="l"/>
              <a:r>
                <a:rPr lang="zh-CN" sz="1350" spc="150" dirty="0">
                  <a:solidFill>
                    <a:schemeClr val="accent5"/>
                  </a:solidFill>
                  <a:latin typeface="+mn-lt"/>
                  <a:ea typeface="+mn-ea"/>
                  <a:cs typeface="+mn-cs"/>
                </a:rPr>
                <a:t>四 · 能源、创新与民生</a:t>
              </a:r>
            </a:p>
          </p:txBody>
        </p:sp>
        <p:sp>
          <p:nvSpPr>
            <p:cNvPr id="14" name="TextBox 14"/>
            <p:cNvSpPr txBox="1"/>
            <p:nvPr/>
          </p:nvSpPr>
          <p:spPr>
            <a:xfrm>
              <a:off x="593598" y="860108"/>
              <a:ext cx="3168396"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j-lt"/>
                  <a:ea typeface="+mj-ea"/>
                  <a:cs typeface="+mj-cs"/>
                </a:rPr>
                <a:t>创新与数字经济</a:t>
              </a:r>
            </a:p>
          </p:txBody>
        </p:sp>
        <p:sp>
          <p:nvSpPr>
            <p:cNvPr id="15" name="TextBox 15"/>
            <p:cNvSpPr txBox="1"/>
            <p:nvPr/>
          </p:nvSpPr>
          <p:spPr>
            <a:xfrm>
              <a:off x="8504187" y="1054418"/>
              <a:ext cx="3085071"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n-lt"/>
                  <a:ea typeface="+mn-ea"/>
                  <a:cs typeface="+mn-cs"/>
                </a:rPr>
                <a:t>相关行业与产品比上年增速 · 单位：%</a:t>
              </a:r>
            </a:p>
          </p:txBody>
        </p:sp>
        <p:sp>
          <p:nvSpPr>
            <p:cNvPr id="16" name="Rectangle 16"/>
            <p:cNvSpPr/>
            <p:nvPr/>
          </p:nvSpPr>
          <p:spPr>
            <a:xfrm>
              <a:off x="609600" y="1381125"/>
              <a:ext cx="1295400" cy="38100"/>
            </a:xfrm>
            <a:prstGeom prst="rect">
              <a:avLst/>
            </a:prstGeom>
            <a:gradFill>
              <a:gsLst>
                <a:gs pos="0">
                  <a:schemeClr val="accent1"/>
                </a:gs>
                <a:gs pos="100000">
                  <a:schemeClr val="accent2"/>
                </a:gs>
              </a:gsLst>
              <a:lin ang="0" scaled="1"/>
            </a:gradFill>
            <a:ln>
              <a:noFill/>
            </a:ln>
          </p:spPr>
        </p:sp>
      </p:grpSp>
      <p:grpSp>
        <p:nvGrpSpPr>
          <p:cNvPr id="21" name="Group 21"/>
          <p:cNvGrpSpPr/>
          <p:nvPr/>
        </p:nvGrpSpPr>
        <p:grpSpPr>
          <a:xfrm>
            <a:off x="601980" y="1876425"/>
            <a:ext cx="6366186" cy="851726"/>
            <a:chOff x="601980" y="1876425"/>
            <a:chExt cx="6366186" cy="851726"/>
          </a:xfrm>
        </p:grpSpPr>
        <p:sp>
          <p:nvSpPr>
            <p:cNvPr id="18" name="TextBox 18"/>
            <p:cNvSpPr txBox="1"/>
            <p:nvPr/>
          </p:nvSpPr>
          <p:spPr>
            <a:xfrm>
              <a:off x="601980" y="1876425"/>
              <a:ext cx="5252037"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 xml:space="preserve">研究与试验发展（R&amp;D）经费支出 </a:t>
              </a:r>
              <a:r>
                <a:rPr lang="zh-CN" sz="1500" b="1" dirty="0">
                  <a:solidFill>
                    <a:schemeClr val="dk1"/>
                  </a:solidFill>
                  <a:latin typeface="Arial"/>
                  <a:ea typeface="Arial"/>
                  <a:cs typeface="Arial"/>
                </a:rPr>
                <a:t>39262</a:t>
              </a:r>
              <a:r>
                <a:rPr lang="zh-CN" sz="1500" dirty="0">
                  <a:solidFill>
                    <a:schemeClr val="dk1"/>
                  </a:solidFill>
                  <a:latin typeface="+mn-lt"/>
                  <a:ea typeface="+mn-ea"/>
                  <a:cs typeface="+mn-cs"/>
                </a:rPr>
                <a:t xml:space="preserve"> 亿元（+8.1%）</a:t>
              </a:r>
            </a:p>
          </p:txBody>
        </p:sp>
        <p:sp>
          <p:nvSpPr>
            <p:cNvPr id="19" name="TextBox 19"/>
            <p:cNvSpPr txBox="1"/>
            <p:nvPr/>
          </p:nvSpPr>
          <p:spPr>
            <a:xfrm>
              <a:off x="602742" y="2178368"/>
              <a:ext cx="6365424"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与国内生产总值之比 2.80% · 基础研究经费 2778 亿元（+11.1%），占 7.08%</a:t>
              </a:r>
            </a:p>
          </p:txBody>
        </p:sp>
        <p:sp>
          <p:nvSpPr>
            <p:cNvPr id="20" name="TextBox 20"/>
            <p:cNvSpPr txBox="1"/>
            <p:nvPr/>
          </p:nvSpPr>
          <p:spPr>
            <a:xfrm>
              <a:off x="602742" y="2464118"/>
              <a:ext cx="6083732"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年末有效发明专利 631.8 万件（+11.1%）· 每万人口高价值发明专利 16 件</a:t>
              </a:r>
            </a:p>
          </p:txBody>
        </p:sp>
      </p:grpSp>
      <p:grpSp>
        <p:nvGrpSpPr>
          <p:cNvPr id="24" name="Group 24"/>
          <p:cNvGrpSpPr/>
          <p:nvPr/>
        </p:nvGrpSpPr>
        <p:grpSpPr>
          <a:xfrm>
            <a:off x="7620000" y="1714500"/>
            <a:ext cx="3962400" cy="876300"/>
            <a:chOff x="7620000" y="1714500"/>
            <a:chExt cx="3962400" cy="876300"/>
          </a:xfrm>
        </p:grpSpPr>
        <p:sp>
          <p:nvSpPr>
            <p:cNvPr id="22" name="Freeform 22"/>
            <p:cNvSpPr/>
            <p:nvPr/>
          </p:nvSpPr>
          <p:spPr>
            <a:xfrm>
              <a:off x="7620000" y="1714500"/>
              <a:ext cx="3962400" cy="876300"/>
            </a:xfrm>
            <a:prstGeom prst="wedgeRectCallout">
              <a:avLst>
                <a:gd name="adj1" fmla="val -30000"/>
                <a:gd name="adj2" fmla="val 80000"/>
              </a:avLst>
            </a:prstGeom>
            <a:solidFill>
              <a:schemeClr val="lt2"/>
            </a:solidFill>
            <a:ln w="9525">
              <a:solidFill>
                <a:schemeClr val="accent2"/>
              </a:solidFill>
            </a:ln>
          </p:spPr>
        </p:sp>
        <p:sp>
          <p:nvSpPr>
            <p:cNvPr id="23" name="TextBox 23"/>
            <p:cNvSpPr txBox="1"/>
            <p:nvPr/>
          </p:nvSpPr>
          <p:spPr>
            <a:xfrm>
              <a:off x="7803642" y="1911668"/>
              <a:ext cx="3082671"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accent5"/>
                  </a:solidFill>
                  <a:latin typeface="+mn-lt"/>
                  <a:ea typeface="+mn-ea"/>
                  <a:cs typeface="+mn-cs"/>
                </a:rPr>
                <a:t>NO DATA：公报未给出“数字经济总规模”</a:t>
              </a:r>
              <a:br/>
              <a:r>
                <a:rPr lang="zh-CN" sz="1350" dirty="0">
                  <a:solidFill>
                    <a:schemeClr val="accent5"/>
                  </a:solidFill>
                  <a:latin typeface="+mn-lt"/>
                  <a:ea typeface="+mn-ea"/>
                  <a:cs typeface="+mn-cs"/>
                </a:rPr>
                <a:t>这一口径的数值，本页不作估算。</a:t>
              </a:r>
            </a:p>
          </p:txBody>
        </p:sp>
      </p:grpSp>
      <p:graphicFrame>
        <p:nvGraphicFramePr>
          <p:cNvPr id="25" name="innovation-growth"/>
          <p:cNvGraphicFramePr>
            <a:graphicFrameLocks noGrp="1"/>
          </p:cNvGraphicFramePr>
          <p:nvPr/>
        </p:nvGraphicFramePr>
        <p:xfrm>
          <a:off x="609600" y="2857500"/>
          <a:ext cx="10972800" cy="2381250"/>
        </p:xfrm>
        <a:graphic>
          <a:graphicData uri="http://schemas.openxmlformats.org/drawingml/2006/chart">
            <c:chart xmlns:c="http://schemas.openxmlformats.org/drawingml/2006/chart" r:id="rId2"/>
          </a:graphicData>
        </a:graphic>
      </p:graphicFrame>
      <p:grpSp>
        <p:nvGrpSpPr>
          <p:cNvPr id="30" name="Group 30"/>
          <p:cNvGrpSpPr/>
          <p:nvPr/>
        </p:nvGrpSpPr>
        <p:grpSpPr>
          <a:xfrm>
            <a:off x="602742" y="5353050"/>
            <a:ext cx="10979658" cy="842201"/>
            <a:chOff x="602742" y="5353050"/>
            <a:chExt cx="10979658" cy="842201"/>
          </a:xfrm>
        </p:grpSpPr>
        <p:sp>
          <p:nvSpPr>
            <p:cNvPr id="26" name="Line 26"/>
            <p:cNvSpPr/>
            <p:nvPr/>
          </p:nvSpPr>
          <p:spPr>
            <a:xfrm>
              <a:off x="609600" y="53530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27" name="TextBox 27"/>
            <p:cNvSpPr txBox="1"/>
            <p:nvPr/>
          </p:nvSpPr>
          <p:spPr>
            <a:xfrm>
              <a:off x="602742" y="5435918"/>
              <a:ext cx="6292729"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电子商务交易额 467339 亿元（+2.5%）· 网上零售额 159722 亿元（+8.6%）</a:t>
              </a:r>
            </a:p>
          </p:txBody>
        </p:sp>
        <p:sp>
          <p:nvSpPr>
            <p:cNvPr id="28" name="TextBox 28"/>
            <p:cNvSpPr txBox="1"/>
            <p:nvPr/>
          </p:nvSpPr>
          <p:spPr>
            <a:xfrm>
              <a:off x="602742" y="5683568"/>
              <a:ext cx="6984187"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软件业务收入 154831 亿元（+13.2%）· 5G 基站 484 万个 · 互联网普及率 80.1%</a:t>
              </a:r>
            </a:p>
          </p:txBody>
        </p:sp>
        <p:sp>
          <p:nvSpPr>
            <p:cNvPr id="29" name="TextBox 29"/>
            <p:cNvSpPr txBox="1"/>
            <p:nvPr/>
          </p:nvSpPr>
          <p:spPr>
            <a:xfrm>
              <a:off x="602742" y="5931218"/>
              <a:ext cx="7782973"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占规模以上工业增加值比重：装备制造业 36.8%、高技术制造业 17.1%、数字产品制造业 12.5%</a:t>
              </a:r>
            </a:p>
          </p:txBody>
        </p:sp>
      </p:grpSp>
      <p:grpSp>
        <p:nvGrpSpPr>
          <p:cNvPr id="34" name="Group 34"/>
          <p:cNvGrpSpPr/>
          <p:nvPr/>
        </p:nvGrpSpPr>
        <p:grpSpPr>
          <a:xfrm>
            <a:off x="603504" y="6229350"/>
            <a:ext cx="10984992" cy="352806"/>
            <a:chOff x="603504" y="6229350"/>
            <a:chExt cx="10984992" cy="352806"/>
          </a:xfrm>
        </p:grpSpPr>
        <p:sp>
          <p:nvSpPr>
            <p:cNvPr id="31" name="Line 31"/>
            <p:cNvSpPr/>
            <p:nvPr/>
          </p:nvSpPr>
          <p:spPr>
            <a:xfrm>
              <a:off x="609600" y="62293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32" name="TextBox 32"/>
            <p:cNvSpPr txBox="1"/>
            <p:nvPr/>
          </p:nvSpPr>
          <p:spPr>
            <a:xfrm>
              <a:off x="603504" y="6347460"/>
              <a:ext cx="7984388"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来源：国家统计局《2025 年国民经济和社会发展统计公报》一、综合；表 3；四、服务业；十、科学技术和教育</a:t>
              </a:r>
            </a:p>
          </p:txBody>
        </p:sp>
        <p:sp>
          <p:nvSpPr>
            <p:cNvPr id="33" name="TextBox 33"/>
            <p:cNvSpPr txBox="1"/>
            <p:nvPr/>
          </p:nvSpPr>
          <p:spPr>
            <a:xfrm>
              <a:off x="11398606" y="6347460"/>
              <a:ext cx="189890"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14</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childTnLst>
                          </p:cTn>
                        </p:par>
                        <p:par>
                          <p:cTn id="8" fill="hold">
                            <p:stCondLst>
                              <p:cond delay="500"/>
                            </p:stCondLst>
                            <p:childTnLst>
                              <p:par>
                                <p:cTn xmlns:p="http://schemas.openxmlformats.org/presentationml/2006/main" id="9" presetID="22" presetClass="entr" presetSubtype="1" fill="hold" grpId="0" nodeType="afterEffect">
                                  <p:stCondLst>
                                    <p:cond delay="500"/>
                                  </p:stCondLst>
                                  <p:childTnLst>
                                    <p:set>
                                      <p:cBhvr>
                                        <p:cTn id="10" dur="1" fill="hold">
                                          <p:stCondLst>
                                            <p:cond delay="0"/>
                                          </p:stCondLst>
                                        </p:cTn>
                                        <p:tgtEl>
                                          <p:spTgt spid="25"/>
                                        </p:tgtEl>
                                        <p:attrNameLst>
                                          <p:attrName>style.visibility</p:attrName>
                                        </p:attrNameLst>
                                      </p:cBhvr>
                                      <p:to>
                                        <p:strVal val="visible"/>
                                      </p:to>
                                    </p:set>
                                    <p:animEffect transition="in" filter="wipe(up)">
                                      <p:cBhvr>
                                        <p:cTn id="11" dur="900"/>
                                        <p:tgtEl>
                                          <p:spTgt spid="25"/>
                                        </p:tgtEl>
                                      </p:cBhvr>
                                    </p:animEffect>
                                  </p:childTnLst>
                                </p:cTn>
                              </p:par>
                            </p:childTnLst>
                          </p:cTn>
                        </p:par>
                        <p:par>
                          <p:cTn id="12" fill="hold">
                            <p:stCondLst>
                              <p:cond delay="1900"/>
                            </p:stCondLst>
                            <p:childTnLst>
                              <p:par>
                                <p:cTn xmlns:p="http://schemas.openxmlformats.org/presentationml/2006/main" id="13" presetID="23" presetClass="entr" presetSubtype="16" fill="hold" grpId="0" nodeType="afterEffect">
                                  <p:stCondLst>
                                    <p:cond delay="500"/>
                                  </p:stCondLst>
                                  <p:childTnLst>
                                    <p:set>
                                      <p:cBhvr>
                                        <p:cTn id="14" dur="1" fill="hold">
                                          <p:stCondLst>
                                            <p:cond delay="0"/>
                                          </p:stCondLst>
                                        </p:cTn>
                                        <p:tgtEl>
                                          <p:spTgt spid="24"/>
                                        </p:tgtEl>
                                        <p:attrNameLst>
                                          <p:attrName>style.visibility</p:attrName>
                                        </p:attrNameLst>
                                      </p:cBhvr>
                                      <p:to>
                                        <p:strVal val="visible"/>
                                      </p:to>
                                    </p:set>
                                    <p:anim calcmode="lin" valueType="num">
                                      <p:cBhvr>
                                        <p:cTn id="15" dur="500" fill="hold"/>
                                        <p:tgtEl>
                                          <p:spTgt spid="24"/>
                                        </p:tgtEl>
                                        <p:attrNameLst>
                                          <p:attrName>ppt_w</p:attrName>
                                        </p:attrNameLst>
                                      </p:cBhvr>
                                      <p:tavLst>
                                        <p:tav tm="0">
                                          <p:val>
                                            <p:fltVal val="0"/>
                                          </p:val>
                                        </p:tav>
                                        <p:tav tm="100000">
                                          <p:val>
                                            <p:strVal val="#ppt_w"/>
                                          </p:val>
                                        </p:tav>
                                      </p:tavLst>
                                    </p:anim>
                                    <p:anim calcmode="lin" valueType="num">
                                      <p:cBhvr>
                                        <p:cTn id="16" dur="500" fill="hold"/>
                                        <p:tgtEl>
                                          <p:spTgt spid="24"/>
                                        </p:tgtEl>
                                        <p:attrNameLst>
                                          <p:attrName>ppt_h</p:attrName>
                                        </p:attrNameLst>
                                      </p:cBhvr>
                                      <p:tavLst>
                                        <p:tav tm="0">
                                          <p:val>
                                            <p:fltVal val="0"/>
                                          </p:val>
                                        </p:tav>
                                        <p:tav tm="100000">
                                          <p:val>
                                            <p:strVal val="#ppt_h"/>
                                          </p:val>
                                        </p:tav>
                                      </p:tavLst>
                                    </p:anim>
                                  </p:childTnLst>
                                </p:cTn>
                              </p:par>
                            </p:childTnLst>
                          </p:cTn>
                        </p:par>
                        <p:par>
                          <p:cTn id="17" fill="hold">
                            <p:stCondLst>
                              <p:cond delay="2900"/>
                            </p:stCondLst>
                            <p:childTnLst>
                              <p:par>
                                <p:cTn xmlns:p="http://schemas.openxmlformats.org/presentationml/2006/main" id="18" presetID="10" presetClass="entr" presetSubtype="0" fill="hold" grpId="0" nodeType="afterEffect">
                                  <p:stCondLst>
                                    <p:cond delay="500"/>
                                  </p:stCondLst>
                                  <p:childTnLst>
                                    <p:set>
                                      <p:cBhvr>
                                        <p:cTn id="19" dur="1" fill="hold">
                                          <p:stCondLst>
                                            <p:cond delay="0"/>
                                          </p:stCondLst>
                                        </p:cTn>
                                        <p:tgtEl>
                                          <p:spTgt spid="30"/>
                                        </p:tgtEl>
                                        <p:attrNameLst>
                                          <p:attrName>style.visibility</p:attrName>
                                        </p:attrNameLst>
                                      </p:cBhvr>
                                      <p:to>
                                        <p:strVal val="visible"/>
                                      </p:to>
                                    </p:set>
                                    <p:animEffect transition="in" filter="fade">
                                      <p:cBhvr>
                                        <p:cTn id="20"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9" name="Group 9"/>
          <p:cNvGrpSpPr/>
          <p:nvPr/>
        </p:nvGrpSpPr>
        <p:grpSpPr>
          <a:xfrm>
            <a:off x="593598" y="597218"/>
            <a:ext cx="10995660" cy="878967"/>
            <a:chOff x="593598" y="597218"/>
            <a:chExt cx="10995660" cy="878967"/>
          </a:xfrm>
        </p:grpSpPr>
        <p:grpSp>
          <p:nvGrpSpPr>
            <p:cNvPr id="4" name="Group 4"/>
            <p:cNvGrpSpPr/>
            <p:nvPr/>
          </p:nvGrpSpPr>
          <p:grpSpPr>
            <a:xfrm>
              <a:off x="622700" y="614362"/>
              <a:ext cx="155005" cy="142875"/>
              <a:chOff x="622700" y="614362"/>
              <a:chExt cx="155005" cy="142875"/>
            </a:xfrm>
          </p:grpSpPr>
          <p:sp>
            <p:nvSpPr>
              <p:cNvPr id="2" name="Freeform 2"/>
              <p:cNvSpPr/>
              <p:nvPr/>
            </p:nvSpPr>
            <p:spPr>
              <a:xfrm>
                <a:off x="622700" y="614362"/>
                <a:ext cx="155005" cy="141653"/>
              </a:xfrm>
              <a:custGeom>
                <a:avLst/>
                <a:gdLst/>
                <a:ahLst/>
                <a:cxnLst/>
                <a:rect l="l" t="t" r="r" b="b"/>
                <a:pathLst>
                  <a:path w="155005" h="141653">
                    <a:moveTo>
                      <a:pt x="77863" y="141653"/>
                    </a:moveTo>
                    <a:cubicBezTo>
                      <a:pt x="28138" y="126239"/>
                      <a:pt x="0" y="73759"/>
                      <a:pt x="14681" y="23812"/>
                    </a:cubicBezTo>
                    <a:cubicBezTo>
                      <a:pt x="39410" y="24944"/>
                      <a:pt x="63609" y="16403"/>
                      <a:pt x="82150" y="0"/>
                    </a:cubicBezTo>
                    <a:cubicBezTo>
                      <a:pt x="100690" y="16403"/>
                      <a:pt x="124889" y="24944"/>
                      <a:pt x="149618" y="23812"/>
                    </a:cubicBezTo>
                    <a:cubicBezTo>
                      <a:pt x="155005" y="42141"/>
                      <a:pt x="154756" y="61666"/>
                      <a:pt x="148904" y="79851"/>
                    </a:cubicBezTo>
                  </a:path>
                </a:pathLst>
              </a:custGeom>
              <a:noFill/>
              <a:ln w="15875">
                <a:solidFill>
                  <a:srgbClr val="5F6B72"/>
                </a:solidFill>
              </a:ln>
            </p:spPr>
          </p:sp>
          <p:sp>
            <p:nvSpPr>
              <p:cNvPr id="3" name="Freeform 3"/>
              <p:cNvSpPr/>
              <p:nvPr/>
            </p:nvSpPr>
            <p:spPr>
              <a:xfrm>
                <a:off x="728662" y="725487"/>
                <a:ext cx="47625" cy="31750"/>
              </a:xfrm>
              <a:custGeom>
                <a:avLst/>
                <a:gdLst/>
                <a:ahLst/>
                <a:cxnLst/>
                <a:rect l="l" t="t" r="r" b="b"/>
                <a:pathLst>
                  <a:path w="47625" h="31750">
                    <a:moveTo>
                      <a:pt x="0" y="15875"/>
                    </a:moveTo>
                    <a:lnTo>
                      <a:pt x="15875" y="31750"/>
                    </a:lnTo>
                    <a:lnTo>
                      <a:pt x="47625" y="0"/>
                    </a:lnTo>
                  </a:path>
                </a:pathLst>
              </a:custGeom>
              <a:noFill/>
              <a:ln w="15875">
                <a:solidFill>
                  <a:srgbClr val="5F6B72"/>
                </a:solidFill>
              </a:ln>
            </p:spPr>
          </p:sp>
        </p:grpSp>
        <p:sp>
          <p:nvSpPr>
            <p:cNvPr id="5" name="TextBox 5"/>
            <p:cNvSpPr txBox="1"/>
            <p:nvPr/>
          </p:nvSpPr>
          <p:spPr>
            <a:xfrm>
              <a:off x="888492" y="597218"/>
              <a:ext cx="2080470" cy="264033"/>
            </a:xfrm>
            <a:prstGeom prst="rect">
              <a:avLst/>
            </a:prstGeom>
            <a:noFill/>
            <a:ln>
              <a:noFill/>
            </a:ln>
          </p:spPr>
          <p:txBody>
            <a:bodyPr wrap="none" lIns="0" tIns="0" rIns="0" bIns="0" anchor="t" anchorCtr="0">
              <a:spAutoFit/>
            </a:bodyPr>
            <a:lstStyle/>
            <a:p>
              <a:pPr algn="l"/>
              <a:r>
                <a:rPr lang="zh-CN" sz="1350" spc="150" dirty="0">
                  <a:solidFill>
                    <a:schemeClr val="accent5"/>
                  </a:solidFill>
                  <a:latin typeface="+mn-lt"/>
                  <a:ea typeface="+mn-ea"/>
                  <a:cs typeface="+mn-cs"/>
                </a:rPr>
                <a:t>四 · 能源、创新与民生</a:t>
              </a:r>
            </a:p>
          </p:txBody>
        </p:sp>
        <p:sp>
          <p:nvSpPr>
            <p:cNvPr id="6" name="TextBox 6"/>
            <p:cNvSpPr txBox="1"/>
            <p:nvPr/>
          </p:nvSpPr>
          <p:spPr>
            <a:xfrm>
              <a:off x="593598" y="860108"/>
              <a:ext cx="4960620"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j-lt"/>
                  <a:ea typeface="+mj-ea"/>
                  <a:cs typeface="+mj-cs"/>
                </a:rPr>
                <a:t>民生：社保、医疗与教育</a:t>
              </a:r>
            </a:p>
          </p:txBody>
        </p:sp>
        <p:sp>
          <p:nvSpPr>
            <p:cNvPr id="7" name="TextBox 7"/>
            <p:cNvSpPr txBox="1"/>
            <p:nvPr/>
          </p:nvSpPr>
          <p:spPr>
            <a:xfrm>
              <a:off x="9394698" y="1054418"/>
              <a:ext cx="2194560"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n-lt"/>
                  <a:ea typeface="+mn-ea"/>
                  <a:cs typeface="+mn-cs"/>
                </a:rPr>
                <a:t>五项社会保险年末参保人数</a:t>
              </a:r>
            </a:p>
          </p:txBody>
        </p:sp>
        <p:sp>
          <p:nvSpPr>
            <p:cNvPr id="8" name="Rectangle 8"/>
            <p:cNvSpPr/>
            <p:nvPr/>
          </p:nvSpPr>
          <p:spPr>
            <a:xfrm>
              <a:off x="609600" y="1381125"/>
              <a:ext cx="1295400" cy="38100"/>
            </a:xfrm>
            <a:prstGeom prst="rect">
              <a:avLst/>
            </a:prstGeom>
            <a:gradFill>
              <a:gsLst>
                <a:gs pos="0">
                  <a:schemeClr val="accent1"/>
                </a:gs>
                <a:gs pos="100000">
                  <a:schemeClr val="accent2"/>
                </a:gs>
              </a:gsLst>
              <a:lin ang="0" scaled="1"/>
            </a:gradFill>
            <a:ln>
              <a:noFill/>
            </a:ln>
          </p:spPr>
        </p:sp>
      </p:grpSp>
      <p:graphicFrame>
        <p:nvGraphicFramePr>
          <p:cNvPr id="10" name="social-insurance-table"/>
          <p:cNvGraphicFramePr>
            <a:graphicFrameLocks noGrp="1"/>
          </p:cNvGraphicFramePr>
          <p:nvPr/>
        </p:nvGraphicFramePr>
        <p:xfrm>
          <a:off x="609600" y="1905000"/>
          <a:ext cx="6096000" cy="2514600"/>
        </p:xfrm>
        <a:graphic>
          <a:graphicData uri="http://schemas.openxmlformats.org/drawingml/2006/table">
            <a:tbl>
              <a:tblPr firstRow="1" bandRow="0">
                <a:tableStyleId>{5C22544A-7EE6-4342-B048-85BDC9FD1C3A}</a:tableStyleId>
              </a:tblPr>
              <a:tblGrid>
                <a:gridCol w="2095500"/>
                <a:gridCol w="2000250"/>
                <a:gridCol w="2000250"/>
              </a:tblGrid>
              <a:tr h="419100">
                <a:tc>
                  <a:txBody>
                    <a:bodyPr/>
                    <a:lstStyle/>
                    <a:p>
                      <a:pPr/>
                      <a:r>
                        <a:rPr lang="zh-CN" sz="1350" b="1">
                          <a:solidFill>
                            <a:srgbClr val="FFFFFF"/>
                          </a:solidFill>
                          <a:latin typeface="Microsoft YaHei"/>
                          <a:ea typeface="Microsoft YaHei"/>
                          <a:cs typeface="Microsoft YaHei"/>
                        </a:rPr>
                        <a:t>险种</a:t>
                      </a:r>
                    </a:p>
                  </a:txBody>
                  <a:tcPr anchor="ctr" marL="76200" marR="76200" marT="76200" marB="76200">
                    <a:lnL>
                      <a:noFill/>
                    </a:lnL>
                    <a:lnR>
                      <a:noFill/>
                    </a:lnR>
                    <a:lnT>
                      <a:noFill/>
                    </a:lnT>
                    <a:lnB w="9525">
                      <a:solidFill>
                        <a:schemeClr val="accent6"/>
                      </a:solidFill>
                      <a:prstDash val="solid"/>
                    </a:lnB>
                    <a:solidFill>
                      <a:schemeClr val="accent1"/>
                    </a:solidFill>
                  </a:tcPr>
                </a:tc>
                <a:tc>
                  <a:txBody>
                    <a:bodyPr/>
                    <a:lstStyle/>
                    <a:p>
                      <a:pPr algn="r"/>
                      <a:r>
                        <a:rPr lang="zh-CN" sz="1350" b="1">
                          <a:solidFill>
                            <a:srgbClr val="FFFFFF"/>
                          </a:solidFill>
                          <a:latin typeface="Microsoft YaHei"/>
                          <a:ea typeface="Microsoft YaHei"/>
                          <a:cs typeface="Microsoft YaHei"/>
                        </a:rPr>
                        <a:t>年末参保人数（万人）</a:t>
                      </a:r>
                    </a:p>
                  </a:txBody>
                  <a:tcPr anchor="ctr" marL="76200" marR="76200" marT="76200" marB="76200">
                    <a:lnL>
                      <a:noFill/>
                    </a:lnL>
                    <a:lnR>
                      <a:noFill/>
                    </a:lnR>
                    <a:lnT>
                      <a:noFill/>
                    </a:lnT>
                    <a:lnB w="9525">
                      <a:solidFill>
                        <a:schemeClr val="accent6"/>
                      </a:solidFill>
                      <a:prstDash val="solid"/>
                    </a:lnB>
                    <a:solidFill>
                      <a:schemeClr val="accent1"/>
                    </a:solidFill>
                  </a:tcPr>
                </a:tc>
                <a:tc>
                  <a:txBody>
                    <a:bodyPr/>
                    <a:lstStyle/>
                    <a:p>
                      <a:pPr algn="r"/>
                      <a:r>
                        <a:rPr lang="zh-CN" sz="1350" b="1">
                          <a:solidFill>
                            <a:srgbClr val="FFFFFF"/>
                          </a:solidFill>
                          <a:latin typeface="Microsoft YaHei"/>
                          <a:ea typeface="Microsoft YaHei"/>
                          <a:cs typeface="Microsoft YaHei"/>
                        </a:rPr>
                        <a:t>比上年末增加（万人）</a:t>
                      </a:r>
                    </a:p>
                  </a:txBody>
                  <a:tcPr anchor="ctr" marL="76200" marR="76200" marT="76200" marB="76200">
                    <a:lnL>
                      <a:noFill/>
                    </a:lnL>
                    <a:lnR>
                      <a:noFill/>
                    </a:lnR>
                    <a:lnT>
                      <a:noFill/>
                    </a:lnT>
                    <a:lnB w="9525">
                      <a:solidFill>
                        <a:schemeClr val="accent6"/>
                      </a:solidFill>
                      <a:prstDash val="solid"/>
                    </a:lnB>
                    <a:solidFill>
                      <a:schemeClr val="accent1"/>
                    </a:solidFill>
                  </a:tcPr>
                </a:tc>
              </a:tr>
              <a:tr h="419100">
                <a:tc>
                  <a:txBody>
                    <a:bodyPr/>
                    <a:lstStyle/>
                    <a:p>
                      <a:pPr/>
                      <a:r>
                        <a:rPr lang="zh-CN" sz="1350" b="0">
                          <a:solidFill>
                            <a:schemeClr val="dk1"/>
                          </a:solidFill>
                          <a:latin typeface="Microsoft YaHei"/>
                          <a:ea typeface="Microsoft YaHei"/>
                          <a:cs typeface="Microsoft YaHei"/>
                        </a:rPr>
                        <a:t>基本医疗保险</a:t>
                      </a:r>
                    </a:p>
                  </a:txBody>
                  <a:tcPr anchor="ctr" marL="76200" marR="76200" marT="76200" marB="76200">
                    <a:lnL>
                      <a:noFill/>
                    </a:lnL>
                    <a:lnR>
                      <a:noFill/>
                    </a:lnR>
                    <a:lnT>
                      <a:noFill/>
                    </a:lnT>
                    <a:lnB w="9525">
                      <a:solidFill>
                        <a:schemeClr val="accent6"/>
                      </a:solidFill>
                      <a:prstDash val="solid"/>
                    </a:lnB>
                    <a:solidFill>
                      <a:schemeClr val="lt2"/>
                    </a:solidFill>
                  </a:tcPr>
                </a:tc>
                <a:tc>
                  <a:txBody>
                    <a:bodyPr/>
                    <a:lstStyle/>
                    <a:p>
                      <a:pPr algn="r"/>
                      <a:r>
                        <a:rPr lang="zh-CN" sz="1350" b="0">
                          <a:solidFill>
                            <a:schemeClr val="dk1"/>
                          </a:solidFill>
                          <a:latin typeface="Microsoft YaHei"/>
                          <a:ea typeface="Microsoft YaHei"/>
                          <a:cs typeface="Microsoft YaHei"/>
                        </a:rPr>
                        <a:t>133068</a:t>
                      </a:r>
                    </a:p>
                  </a:txBody>
                  <a:tcPr anchor="ctr" marL="76200" marR="76200" marT="76200" marB="76200">
                    <a:lnL>
                      <a:noFill/>
                    </a:lnL>
                    <a:lnR>
                      <a:noFill/>
                    </a:lnR>
                    <a:lnT>
                      <a:noFill/>
                    </a:lnT>
                    <a:lnB w="9525">
                      <a:solidFill>
                        <a:schemeClr val="accent6"/>
                      </a:solidFill>
                      <a:prstDash val="solid"/>
                    </a:lnB>
                    <a:solidFill>
                      <a:schemeClr val="lt2"/>
                    </a:solidFill>
                  </a:tcPr>
                </a:tc>
                <a:tc>
                  <a:txBody>
                    <a:bodyPr/>
                    <a:lstStyle/>
                    <a:p>
                      <a:pPr algn="r"/>
                      <a:r>
                        <a:rPr lang="zh-CN" sz="1350" b="0">
                          <a:solidFill>
                            <a:schemeClr val="accent3"/>
                          </a:solidFill>
                          <a:latin typeface="Microsoft YaHei"/>
                          <a:ea typeface="Microsoft YaHei"/>
                          <a:cs typeface="Microsoft YaHei"/>
                        </a:rPr>
                        <a:t>+406</a:t>
                      </a:r>
                    </a:p>
                  </a:txBody>
                  <a:tcPr anchor="ctr" marL="76200" marR="76200" marT="76200" marB="76200">
                    <a:lnL>
                      <a:noFill/>
                    </a:lnL>
                    <a:lnR>
                      <a:noFill/>
                    </a:lnR>
                    <a:lnT>
                      <a:noFill/>
                    </a:lnT>
                    <a:lnB w="9525">
                      <a:solidFill>
                        <a:schemeClr val="accent6"/>
                      </a:solidFill>
                      <a:prstDash val="solid"/>
                    </a:lnB>
                    <a:solidFill>
                      <a:schemeClr val="lt2"/>
                    </a:solidFill>
                  </a:tcPr>
                </a:tc>
              </a:tr>
              <a:tr h="419100">
                <a:tc>
                  <a:txBody>
                    <a:bodyPr/>
                    <a:lstStyle/>
                    <a:p>
                      <a:pPr/>
                      <a:r>
                        <a:rPr lang="zh-CN" sz="1350" b="0">
                          <a:solidFill>
                            <a:schemeClr val="dk1"/>
                          </a:solidFill>
                          <a:latin typeface="Microsoft YaHei"/>
                          <a:ea typeface="Microsoft YaHei"/>
                          <a:cs typeface="Microsoft YaHei"/>
                        </a:rPr>
                        <a:t>基本养老保险</a:t>
                      </a:r>
                    </a:p>
                  </a:txBody>
                  <a:tcPr anchor="ctr" marL="76200" marR="76200" marT="76200" marB="76200">
                    <a:lnL>
                      <a:noFill/>
                    </a:lnL>
                    <a:lnR>
                      <a:noFill/>
                    </a:lnR>
                    <a:lnT>
                      <a:noFill/>
                    </a:lnT>
                    <a:lnB w="9525">
                      <a:solidFill>
                        <a:schemeClr val="accent6"/>
                      </a:solidFill>
                      <a:prstDash val="solid"/>
                    </a:lnB>
                    <a:solidFill>
                      <a:schemeClr val="lt2"/>
                    </a:solidFill>
                  </a:tcPr>
                </a:tc>
                <a:tc>
                  <a:txBody>
                    <a:bodyPr/>
                    <a:lstStyle/>
                    <a:p>
                      <a:pPr algn="r"/>
                      <a:r>
                        <a:rPr lang="zh-CN" sz="1350" b="0">
                          <a:solidFill>
                            <a:schemeClr val="dk1"/>
                          </a:solidFill>
                          <a:latin typeface="Microsoft YaHei"/>
                          <a:ea typeface="Microsoft YaHei"/>
                          <a:cs typeface="Microsoft YaHei"/>
                        </a:rPr>
                        <a:t>107599</a:t>
                      </a:r>
                    </a:p>
                  </a:txBody>
                  <a:tcPr anchor="ctr" marL="76200" marR="76200" marT="76200" marB="76200">
                    <a:lnL>
                      <a:noFill/>
                    </a:lnL>
                    <a:lnR>
                      <a:noFill/>
                    </a:lnR>
                    <a:lnT>
                      <a:noFill/>
                    </a:lnT>
                    <a:lnB w="9525">
                      <a:solidFill>
                        <a:schemeClr val="accent6"/>
                      </a:solidFill>
                      <a:prstDash val="solid"/>
                    </a:lnB>
                    <a:solidFill>
                      <a:schemeClr val="lt2"/>
                    </a:solidFill>
                  </a:tcPr>
                </a:tc>
                <a:tc>
                  <a:txBody>
                    <a:bodyPr/>
                    <a:lstStyle/>
                    <a:p>
                      <a:pPr algn="r"/>
                      <a:r>
                        <a:rPr lang="zh-CN" sz="1350" b="0">
                          <a:solidFill>
                            <a:schemeClr val="accent3"/>
                          </a:solidFill>
                          <a:latin typeface="Microsoft YaHei"/>
                          <a:ea typeface="Microsoft YaHei"/>
                          <a:cs typeface="Microsoft YaHei"/>
                        </a:rPr>
                        <a:t>+316</a:t>
                      </a:r>
                    </a:p>
                  </a:txBody>
                  <a:tcPr anchor="ctr" marL="76200" marR="76200" marT="76200" marB="76200">
                    <a:lnL>
                      <a:noFill/>
                    </a:lnL>
                    <a:lnR>
                      <a:noFill/>
                    </a:lnR>
                    <a:lnT>
                      <a:noFill/>
                    </a:lnT>
                    <a:lnB w="9525">
                      <a:solidFill>
                        <a:schemeClr val="accent6"/>
                      </a:solidFill>
                      <a:prstDash val="solid"/>
                    </a:lnB>
                    <a:solidFill>
                      <a:schemeClr val="lt2"/>
                    </a:solidFill>
                  </a:tcPr>
                </a:tc>
              </a:tr>
              <a:tr h="419100">
                <a:tc>
                  <a:txBody>
                    <a:bodyPr/>
                    <a:lstStyle/>
                    <a:p>
                      <a:pPr/>
                      <a:r>
                        <a:rPr lang="zh-CN" sz="1350" b="0">
                          <a:solidFill>
                            <a:schemeClr val="dk1"/>
                          </a:solidFill>
                          <a:latin typeface="Microsoft YaHei"/>
                          <a:ea typeface="Microsoft YaHei"/>
                          <a:cs typeface="Microsoft YaHei"/>
                        </a:rPr>
                        <a:t>工伤保险</a:t>
                      </a:r>
                    </a:p>
                  </a:txBody>
                  <a:tcPr anchor="ctr" marL="76200" marR="76200" marT="76200" marB="76200">
                    <a:lnL>
                      <a:noFill/>
                    </a:lnL>
                    <a:lnR>
                      <a:noFill/>
                    </a:lnR>
                    <a:lnT>
                      <a:noFill/>
                    </a:lnT>
                    <a:lnB w="9525">
                      <a:solidFill>
                        <a:schemeClr val="accent6"/>
                      </a:solidFill>
                      <a:prstDash val="solid"/>
                    </a:lnB>
                    <a:solidFill>
                      <a:schemeClr val="lt2"/>
                    </a:solidFill>
                  </a:tcPr>
                </a:tc>
                <a:tc>
                  <a:txBody>
                    <a:bodyPr/>
                    <a:lstStyle/>
                    <a:p>
                      <a:pPr algn="r"/>
                      <a:r>
                        <a:rPr lang="zh-CN" sz="1350" b="0">
                          <a:solidFill>
                            <a:schemeClr val="dk1"/>
                          </a:solidFill>
                          <a:latin typeface="Microsoft YaHei"/>
                          <a:ea typeface="Microsoft YaHei"/>
                          <a:cs typeface="Microsoft YaHei"/>
                        </a:rPr>
                        <a:t>30500</a:t>
                      </a:r>
                    </a:p>
                  </a:txBody>
                  <a:tcPr anchor="ctr" marL="76200" marR="76200" marT="76200" marB="76200">
                    <a:lnL>
                      <a:noFill/>
                    </a:lnL>
                    <a:lnR>
                      <a:noFill/>
                    </a:lnR>
                    <a:lnT>
                      <a:noFill/>
                    </a:lnT>
                    <a:lnB w="9525">
                      <a:solidFill>
                        <a:schemeClr val="accent6"/>
                      </a:solidFill>
                      <a:prstDash val="solid"/>
                    </a:lnB>
                    <a:solidFill>
                      <a:schemeClr val="lt2"/>
                    </a:solidFill>
                  </a:tcPr>
                </a:tc>
                <a:tc>
                  <a:txBody>
                    <a:bodyPr/>
                    <a:lstStyle/>
                    <a:p>
                      <a:pPr algn="r"/>
                      <a:r>
                        <a:rPr lang="zh-CN" sz="1350" b="0">
                          <a:solidFill>
                            <a:schemeClr val="accent3"/>
                          </a:solidFill>
                          <a:latin typeface="Microsoft YaHei"/>
                          <a:ea typeface="Microsoft YaHei"/>
                          <a:cs typeface="Microsoft YaHei"/>
                        </a:rPr>
                        <a:t>+102</a:t>
                      </a:r>
                    </a:p>
                  </a:txBody>
                  <a:tcPr anchor="ctr" marL="76200" marR="76200" marT="76200" marB="76200">
                    <a:lnL>
                      <a:noFill/>
                    </a:lnL>
                    <a:lnR>
                      <a:noFill/>
                    </a:lnR>
                    <a:lnT>
                      <a:noFill/>
                    </a:lnT>
                    <a:lnB w="9525">
                      <a:solidFill>
                        <a:schemeClr val="accent6"/>
                      </a:solidFill>
                      <a:prstDash val="solid"/>
                    </a:lnB>
                    <a:solidFill>
                      <a:schemeClr val="lt2"/>
                    </a:solidFill>
                  </a:tcPr>
                </a:tc>
              </a:tr>
              <a:tr h="419100">
                <a:tc>
                  <a:txBody>
                    <a:bodyPr/>
                    <a:lstStyle/>
                    <a:p>
                      <a:pPr/>
                      <a:r>
                        <a:rPr lang="zh-CN" sz="1350" b="0">
                          <a:solidFill>
                            <a:schemeClr val="dk1"/>
                          </a:solidFill>
                          <a:latin typeface="Microsoft YaHei"/>
                          <a:ea typeface="Microsoft YaHei"/>
                          <a:cs typeface="Microsoft YaHei"/>
                        </a:rPr>
                        <a:t>生育保险</a:t>
                      </a:r>
                    </a:p>
                  </a:txBody>
                  <a:tcPr anchor="ctr" marL="76200" marR="76200" marT="76200" marB="76200">
                    <a:lnL>
                      <a:noFill/>
                    </a:lnL>
                    <a:lnR>
                      <a:noFill/>
                    </a:lnR>
                    <a:lnT>
                      <a:noFill/>
                    </a:lnT>
                    <a:lnB w="9525">
                      <a:solidFill>
                        <a:schemeClr val="accent6"/>
                      </a:solidFill>
                      <a:prstDash val="solid"/>
                    </a:lnB>
                    <a:solidFill>
                      <a:schemeClr val="lt2"/>
                    </a:solidFill>
                  </a:tcPr>
                </a:tc>
                <a:tc>
                  <a:txBody>
                    <a:bodyPr/>
                    <a:lstStyle/>
                    <a:p>
                      <a:pPr algn="r"/>
                      <a:r>
                        <a:rPr lang="zh-CN" sz="1350" b="0">
                          <a:solidFill>
                            <a:schemeClr val="dk1"/>
                          </a:solidFill>
                          <a:latin typeface="Microsoft YaHei"/>
                          <a:ea typeface="Microsoft YaHei"/>
                          <a:cs typeface="Microsoft YaHei"/>
                        </a:rPr>
                        <a:t>25966</a:t>
                      </a:r>
                    </a:p>
                  </a:txBody>
                  <a:tcPr anchor="ctr" marL="76200" marR="76200" marT="76200" marB="76200">
                    <a:lnL>
                      <a:noFill/>
                    </a:lnL>
                    <a:lnR>
                      <a:noFill/>
                    </a:lnR>
                    <a:lnT>
                      <a:noFill/>
                    </a:lnT>
                    <a:lnB w="9525">
                      <a:solidFill>
                        <a:schemeClr val="accent6"/>
                      </a:solidFill>
                      <a:prstDash val="solid"/>
                    </a:lnB>
                    <a:solidFill>
                      <a:schemeClr val="lt2"/>
                    </a:solidFill>
                  </a:tcPr>
                </a:tc>
                <a:tc>
                  <a:txBody>
                    <a:bodyPr/>
                    <a:lstStyle/>
                    <a:p>
                      <a:pPr algn="r"/>
                      <a:r>
                        <a:rPr lang="zh-CN" sz="1350" b="0">
                          <a:solidFill>
                            <a:schemeClr val="accent3"/>
                          </a:solidFill>
                          <a:latin typeface="Microsoft YaHei"/>
                          <a:ea typeface="Microsoft YaHei"/>
                          <a:cs typeface="Microsoft YaHei"/>
                        </a:rPr>
                        <a:t>+666</a:t>
                      </a:r>
                    </a:p>
                  </a:txBody>
                  <a:tcPr anchor="ctr" marL="76200" marR="76200" marT="76200" marB="76200">
                    <a:lnL>
                      <a:noFill/>
                    </a:lnL>
                    <a:lnR>
                      <a:noFill/>
                    </a:lnR>
                    <a:lnT>
                      <a:noFill/>
                    </a:lnT>
                    <a:lnB w="9525">
                      <a:solidFill>
                        <a:schemeClr val="accent6"/>
                      </a:solidFill>
                      <a:prstDash val="solid"/>
                    </a:lnB>
                    <a:solidFill>
                      <a:schemeClr val="lt2"/>
                    </a:solidFill>
                  </a:tcPr>
                </a:tc>
              </a:tr>
              <a:tr h="419100">
                <a:tc>
                  <a:txBody>
                    <a:bodyPr/>
                    <a:lstStyle/>
                    <a:p>
                      <a:pPr/>
                      <a:r>
                        <a:rPr lang="zh-CN" sz="1350" b="0">
                          <a:solidFill>
                            <a:schemeClr val="dk1"/>
                          </a:solidFill>
                          <a:latin typeface="Microsoft YaHei"/>
                          <a:ea typeface="Microsoft YaHei"/>
                          <a:cs typeface="Microsoft YaHei"/>
                        </a:rPr>
                        <a:t>失业保险</a:t>
                      </a:r>
                    </a:p>
                  </a:txBody>
                  <a:tcPr anchor="ctr" marL="76200" marR="76200" marT="76200" marB="76200">
                    <a:lnL>
                      <a:noFill/>
                    </a:lnL>
                    <a:lnR>
                      <a:noFill/>
                    </a:lnR>
                    <a:lnT>
                      <a:noFill/>
                    </a:lnT>
                    <a:lnB w="9525">
                      <a:solidFill>
                        <a:schemeClr val="accent6"/>
                      </a:solidFill>
                      <a:prstDash val="solid"/>
                    </a:lnB>
                    <a:solidFill>
                      <a:schemeClr val="lt2"/>
                    </a:solidFill>
                  </a:tcPr>
                </a:tc>
                <a:tc>
                  <a:txBody>
                    <a:bodyPr/>
                    <a:lstStyle/>
                    <a:p>
                      <a:pPr algn="r"/>
                      <a:r>
                        <a:rPr lang="zh-CN" sz="1350" b="0">
                          <a:solidFill>
                            <a:schemeClr val="dk1"/>
                          </a:solidFill>
                          <a:latin typeface="Microsoft YaHei"/>
                          <a:ea typeface="Microsoft YaHei"/>
                          <a:cs typeface="Microsoft YaHei"/>
                        </a:rPr>
                        <a:t>24918</a:t>
                      </a:r>
                    </a:p>
                  </a:txBody>
                  <a:tcPr anchor="ctr" marL="76200" marR="76200" marT="76200" marB="76200">
                    <a:lnL>
                      <a:noFill/>
                    </a:lnL>
                    <a:lnR>
                      <a:noFill/>
                    </a:lnR>
                    <a:lnT>
                      <a:noFill/>
                    </a:lnT>
                    <a:lnB w="9525">
                      <a:solidFill>
                        <a:schemeClr val="accent6"/>
                      </a:solidFill>
                      <a:prstDash val="solid"/>
                    </a:lnB>
                    <a:solidFill>
                      <a:schemeClr val="lt2"/>
                    </a:solidFill>
                  </a:tcPr>
                </a:tc>
                <a:tc>
                  <a:txBody>
                    <a:bodyPr/>
                    <a:lstStyle/>
                    <a:p>
                      <a:pPr algn="r"/>
                      <a:r>
                        <a:rPr lang="zh-CN" sz="1350" b="0">
                          <a:solidFill>
                            <a:schemeClr val="accent3"/>
                          </a:solidFill>
                          <a:latin typeface="Microsoft YaHei"/>
                          <a:ea typeface="Microsoft YaHei"/>
                          <a:cs typeface="Microsoft YaHei"/>
                        </a:rPr>
                        <a:t>+329</a:t>
                      </a:r>
                    </a:p>
                  </a:txBody>
                  <a:tcPr anchor="ctr" marL="76200" marR="76200" marT="76200" marB="76200">
                    <a:lnL>
                      <a:noFill/>
                    </a:lnL>
                    <a:lnR>
                      <a:noFill/>
                    </a:lnR>
                    <a:lnT>
                      <a:noFill/>
                    </a:lnT>
                    <a:lnB w="9525">
                      <a:solidFill>
                        <a:schemeClr val="accent6"/>
                      </a:solidFill>
                      <a:prstDash val="solid"/>
                    </a:lnB>
                    <a:solidFill>
                      <a:schemeClr val="lt2"/>
                    </a:solidFill>
                  </a:tcPr>
                </a:tc>
              </a:tr>
            </a:tbl>
          </a:graphicData>
        </a:graphic>
      </p:graphicFrame>
      <p:grpSp>
        <p:nvGrpSpPr>
          <p:cNvPr id="13" name="Group 13"/>
          <p:cNvGrpSpPr/>
          <p:nvPr/>
        </p:nvGrpSpPr>
        <p:grpSpPr>
          <a:xfrm>
            <a:off x="601980" y="4705350"/>
            <a:ext cx="6103620" cy="741045"/>
            <a:chOff x="601980" y="4705350"/>
            <a:chExt cx="6103620" cy="741045"/>
          </a:xfrm>
        </p:grpSpPr>
        <p:sp>
          <p:nvSpPr>
            <p:cNvPr id="11" name="Line 11"/>
            <p:cNvSpPr/>
            <p:nvPr/>
          </p:nvSpPr>
          <p:spPr>
            <a:xfrm>
              <a:off x="609600" y="4705350"/>
              <a:ext cx="6096000" cy="9525"/>
            </a:xfrm>
            <a:custGeom>
              <a:avLst/>
              <a:gdLst/>
              <a:ahLst/>
              <a:cxnLst/>
              <a:rect l="l" t="t" r="r" b="b"/>
              <a:pathLst>
                <a:path w="6096000" h="9525">
                  <a:moveTo>
                    <a:pt x="0" y="0"/>
                  </a:moveTo>
                  <a:lnTo>
                    <a:pt x="6096000" y="0"/>
                  </a:lnTo>
                </a:path>
              </a:pathLst>
            </a:custGeom>
            <a:noFill/>
            <a:ln w="9525">
              <a:solidFill>
                <a:schemeClr val="accent6"/>
              </a:solidFill>
            </a:ln>
          </p:spPr>
        </p:sp>
        <p:sp>
          <p:nvSpPr>
            <p:cNvPr id="12" name="TextBox 12"/>
            <p:cNvSpPr txBox="1"/>
            <p:nvPr/>
          </p:nvSpPr>
          <p:spPr>
            <a:xfrm>
              <a:off x="601980" y="4867275"/>
              <a:ext cx="3301365" cy="579120"/>
            </a:xfrm>
            <a:prstGeom prst="rect">
              <a:avLst/>
            </a:prstGeom>
            <a:noFill/>
            <a:ln>
              <a:noFill/>
            </a:ln>
          </p:spPr>
          <p:txBody>
            <a:bodyPr wrap="none" lIns="0" tIns="0" rIns="0" bIns="0" anchor="t" anchorCtr="0">
              <a:spAutoFit/>
            </a:bodyPr>
            <a:lstStyle/>
            <a:p>
              <a:pPr algn="l">
                <a:lnSpc>
                  <a:spcPts val="2250"/>
                </a:lnSpc>
              </a:pPr>
              <a:r>
                <a:rPr lang="zh-CN" sz="1500" dirty="0">
                  <a:solidFill>
                    <a:schemeClr val="dk1"/>
                  </a:solidFill>
                  <a:latin typeface="+mn-lt"/>
                  <a:ea typeface="+mn-ea"/>
                  <a:cs typeface="+mn-cs"/>
                </a:rPr>
                <a:t>年末 595 万人享受城市最低生活保障，</a:t>
              </a:r>
              <a:br/>
              <a:r>
                <a:rPr lang="zh-CN" sz="1500" dirty="0">
                  <a:solidFill>
                    <a:schemeClr val="dk1"/>
                  </a:solidFill>
                  <a:latin typeface="+mn-lt"/>
                  <a:ea typeface="+mn-ea"/>
                  <a:cs typeface="+mn-cs"/>
                </a:rPr>
                <a:t>3340 万人享受农村最低生活保障。</a:t>
              </a:r>
            </a:p>
          </p:txBody>
        </p:sp>
      </p:grpSp>
      <p:grpSp>
        <p:nvGrpSpPr>
          <p:cNvPr id="18" name="Group 18"/>
          <p:cNvGrpSpPr/>
          <p:nvPr/>
        </p:nvGrpSpPr>
        <p:grpSpPr>
          <a:xfrm>
            <a:off x="7153656" y="1920240"/>
            <a:ext cx="3974592" cy="1278255"/>
            <a:chOff x="7153656" y="1920240"/>
            <a:chExt cx="3974592" cy="1278255"/>
          </a:xfrm>
        </p:grpSpPr>
        <p:sp>
          <p:nvSpPr>
            <p:cNvPr id="14" name="TextBox 14"/>
            <p:cNvSpPr txBox="1"/>
            <p:nvPr/>
          </p:nvSpPr>
          <p:spPr>
            <a:xfrm>
              <a:off x="7153656" y="1920240"/>
              <a:ext cx="987552"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医疗卫生</a:t>
              </a:r>
            </a:p>
          </p:txBody>
        </p:sp>
        <p:sp>
          <p:nvSpPr>
            <p:cNvPr id="15" name="TextBox 15"/>
            <p:cNvSpPr txBox="1"/>
            <p:nvPr/>
          </p:nvSpPr>
          <p:spPr>
            <a:xfrm>
              <a:off x="7155180" y="2333625"/>
              <a:ext cx="2738771"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 xml:space="preserve">年末医疗卫生机构 </a:t>
              </a:r>
              <a:r>
                <a:rPr lang="zh-CN" sz="1500" b="1" dirty="0">
                  <a:solidFill>
                    <a:schemeClr val="dk1"/>
                  </a:solidFill>
                  <a:latin typeface="Arial"/>
                  <a:ea typeface="Arial"/>
                  <a:cs typeface="Arial"/>
                </a:rPr>
                <a:t>110.7</a:t>
              </a:r>
              <a:r>
                <a:rPr lang="zh-CN" sz="1500" dirty="0">
                  <a:solidFill>
                    <a:schemeClr val="dk1"/>
                  </a:solidFill>
                  <a:latin typeface="+mn-lt"/>
                  <a:ea typeface="+mn-ea"/>
                  <a:cs typeface="+mn-cs"/>
                </a:rPr>
                <a:t xml:space="preserve"> 万个</a:t>
              </a:r>
            </a:p>
          </p:txBody>
        </p:sp>
        <p:sp>
          <p:nvSpPr>
            <p:cNvPr id="16" name="TextBox 16"/>
            <p:cNvSpPr txBox="1"/>
            <p:nvPr/>
          </p:nvSpPr>
          <p:spPr>
            <a:xfrm>
              <a:off x="7155180" y="2619375"/>
              <a:ext cx="3801428"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床位 1009 万张 · 卫生技术人员 1340 万人</a:t>
              </a:r>
            </a:p>
          </p:txBody>
        </p:sp>
        <p:sp>
          <p:nvSpPr>
            <p:cNvPr id="17" name="TextBox 17"/>
            <p:cNvSpPr txBox="1"/>
            <p:nvPr/>
          </p:nvSpPr>
          <p:spPr>
            <a:xfrm>
              <a:off x="7155180" y="2905125"/>
              <a:ext cx="3973068"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全年总诊疗 105.8 亿人次，出院 3.0 亿人次</a:t>
              </a:r>
            </a:p>
          </p:txBody>
        </p:sp>
      </p:grpSp>
      <p:grpSp>
        <p:nvGrpSpPr>
          <p:cNvPr id="25" name="Group 25"/>
          <p:cNvGrpSpPr/>
          <p:nvPr/>
        </p:nvGrpSpPr>
        <p:grpSpPr>
          <a:xfrm>
            <a:off x="7153656" y="3371850"/>
            <a:ext cx="4428744" cy="2150745"/>
            <a:chOff x="7153656" y="3371850"/>
            <a:chExt cx="4428744" cy="2150745"/>
          </a:xfrm>
        </p:grpSpPr>
        <p:sp>
          <p:nvSpPr>
            <p:cNvPr id="19" name="Line 19"/>
            <p:cNvSpPr/>
            <p:nvPr/>
          </p:nvSpPr>
          <p:spPr>
            <a:xfrm>
              <a:off x="7162800" y="3371850"/>
              <a:ext cx="4419600" cy="9525"/>
            </a:xfrm>
            <a:custGeom>
              <a:avLst/>
              <a:gdLst/>
              <a:ahLst/>
              <a:cxnLst/>
              <a:rect l="l" t="t" r="r" b="b"/>
              <a:pathLst>
                <a:path w="4419600" h="9525">
                  <a:moveTo>
                    <a:pt x="0" y="0"/>
                  </a:moveTo>
                  <a:lnTo>
                    <a:pt x="4419600" y="0"/>
                  </a:lnTo>
                </a:path>
              </a:pathLst>
            </a:custGeom>
            <a:noFill/>
            <a:ln w="9525">
              <a:solidFill>
                <a:schemeClr val="accent6"/>
              </a:solidFill>
            </a:ln>
          </p:spPr>
        </p:sp>
        <p:sp>
          <p:nvSpPr>
            <p:cNvPr id="20" name="TextBox 20"/>
            <p:cNvSpPr txBox="1"/>
            <p:nvPr/>
          </p:nvSpPr>
          <p:spPr>
            <a:xfrm>
              <a:off x="7153656" y="3501390"/>
              <a:ext cx="502920"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教育</a:t>
              </a:r>
            </a:p>
          </p:txBody>
        </p:sp>
        <p:sp>
          <p:nvSpPr>
            <p:cNvPr id="21" name="TextBox 21"/>
            <p:cNvSpPr txBox="1"/>
            <p:nvPr/>
          </p:nvSpPr>
          <p:spPr>
            <a:xfrm>
              <a:off x="7155180" y="3914775"/>
              <a:ext cx="2518667"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 xml:space="preserve">九年义务教育巩固率 </a:t>
              </a:r>
              <a:r>
                <a:rPr lang="zh-CN" sz="1500" b="1" dirty="0">
                  <a:solidFill>
                    <a:schemeClr val="dk1"/>
                  </a:solidFill>
                  <a:latin typeface="Arial"/>
                  <a:ea typeface="Arial"/>
                  <a:cs typeface="Arial"/>
                </a:rPr>
                <a:t>96.1%</a:t>
              </a:r>
            </a:p>
          </p:txBody>
        </p:sp>
        <p:sp>
          <p:nvSpPr>
            <p:cNvPr id="22" name="TextBox 22"/>
            <p:cNvSpPr txBox="1"/>
            <p:nvPr/>
          </p:nvSpPr>
          <p:spPr>
            <a:xfrm>
              <a:off x="7155180" y="4200525"/>
              <a:ext cx="2316737"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 xml:space="preserve">高中阶段毛入学率 </a:t>
              </a:r>
              <a:r>
                <a:rPr lang="zh-CN" sz="1500" b="1" dirty="0">
                  <a:solidFill>
                    <a:schemeClr val="dk1"/>
                  </a:solidFill>
                  <a:latin typeface="Arial"/>
                  <a:ea typeface="Arial"/>
                  <a:cs typeface="Arial"/>
                </a:rPr>
                <a:t>92.0%</a:t>
              </a:r>
            </a:p>
          </p:txBody>
        </p:sp>
        <p:sp>
          <p:nvSpPr>
            <p:cNvPr id="23" name="TextBox 23"/>
            <p:cNvSpPr txBox="1"/>
            <p:nvPr/>
          </p:nvSpPr>
          <p:spPr>
            <a:xfrm>
              <a:off x="7155180" y="4562475"/>
              <a:ext cx="3415665" cy="579120"/>
            </a:xfrm>
            <a:prstGeom prst="rect">
              <a:avLst/>
            </a:prstGeom>
            <a:noFill/>
            <a:ln>
              <a:noFill/>
            </a:ln>
          </p:spPr>
          <p:txBody>
            <a:bodyPr wrap="none" lIns="0" tIns="0" rIns="0" bIns="0" anchor="t" anchorCtr="0">
              <a:spAutoFit/>
            </a:bodyPr>
            <a:lstStyle/>
            <a:p>
              <a:pPr algn="l">
                <a:lnSpc>
                  <a:spcPts val="2250"/>
                </a:lnSpc>
              </a:pPr>
              <a:r>
                <a:rPr lang="zh-CN" sz="1500" dirty="0">
                  <a:solidFill>
                    <a:schemeClr val="dk1"/>
                  </a:solidFill>
                  <a:latin typeface="+mn-lt"/>
                  <a:ea typeface="+mn-ea"/>
                  <a:cs typeface="+mn-cs"/>
                </a:rPr>
                <a:t>16—59 岁人口平均受教育年限 11.3 年，</a:t>
              </a:r>
              <a:br/>
              <a:r>
                <a:rPr lang="zh-CN" sz="1500" dirty="0">
                  <a:solidFill>
                    <a:schemeClr val="dk1"/>
                  </a:solidFill>
                  <a:latin typeface="+mn-lt"/>
                  <a:ea typeface="+mn-ea"/>
                  <a:cs typeface="+mn-cs"/>
                </a:rPr>
                <a:t>比上年提高 0.1 年</a:t>
              </a:r>
            </a:p>
          </p:txBody>
        </p:sp>
        <p:sp>
          <p:nvSpPr>
            <p:cNvPr id="24" name="TextBox 24"/>
            <p:cNvSpPr txBox="1"/>
            <p:nvPr/>
          </p:nvSpPr>
          <p:spPr>
            <a:xfrm>
              <a:off x="7155180" y="5229225"/>
              <a:ext cx="2105216"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在学研究生 430.0 万人</a:t>
              </a:r>
            </a:p>
          </p:txBody>
        </p:sp>
      </p:grpSp>
      <p:grpSp>
        <p:nvGrpSpPr>
          <p:cNvPr id="29" name="Group 29"/>
          <p:cNvGrpSpPr/>
          <p:nvPr/>
        </p:nvGrpSpPr>
        <p:grpSpPr>
          <a:xfrm>
            <a:off x="603504" y="6172200"/>
            <a:ext cx="10984992" cy="371856"/>
            <a:chOff x="603504" y="6172200"/>
            <a:chExt cx="10984992" cy="371856"/>
          </a:xfrm>
        </p:grpSpPr>
        <p:sp>
          <p:nvSpPr>
            <p:cNvPr id="26" name="Line 26"/>
            <p:cNvSpPr/>
            <p:nvPr/>
          </p:nvSpPr>
          <p:spPr>
            <a:xfrm>
              <a:off x="609600" y="61722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27" name="TextBox 27"/>
            <p:cNvSpPr txBox="1"/>
            <p:nvPr/>
          </p:nvSpPr>
          <p:spPr>
            <a:xfrm>
              <a:off x="603504" y="6309360"/>
              <a:ext cx="10593324"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来源：国家统计局《2025 年国民经济和社会发展统计公报》九、居民收入消费和社会保障；十、科学技术和教育；十一、文化旅游、卫生健康和体育</a:t>
              </a:r>
            </a:p>
          </p:txBody>
        </p:sp>
        <p:sp>
          <p:nvSpPr>
            <p:cNvPr id="28" name="TextBox 28"/>
            <p:cNvSpPr txBox="1"/>
            <p:nvPr/>
          </p:nvSpPr>
          <p:spPr>
            <a:xfrm>
              <a:off x="11398606" y="6309360"/>
              <a:ext cx="189890"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22" presetClass="entr" presetSubtype="4"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900"/>
                                        <p:tgtEl>
                                          <p:spTgt spid="10"/>
                                        </p:tgtEl>
                                      </p:cBhvr>
                                    </p:animEffect>
                                  </p:childTnLst>
                                </p:cTn>
                              </p:par>
                            </p:childTnLst>
                          </p:cTn>
                        </p:par>
                        <p:par>
                          <p:cTn id="8" fill="hold">
                            <p:stCondLst>
                              <p:cond delay="90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400"/>
                                        <p:tgtEl>
                                          <p:spTgt spid="13"/>
                                        </p:tgtEl>
                                      </p:cBhvr>
                                    </p:animEffect>
                                  </p:childTnLst>
                                </p:cTn>
                              </p:par>
                            </p:childTnLst>
                          </p:cTn>
                        </p:par>
                        <p:par>
                          <p:cTn id="12" fill="hold">
                            <p:stCondLst>
                              <p:cond delay="180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500"/>
                                        <p:tgtEl>
                                          <p:spTgt spid="18"/>
                                        </p:tgtEl>
                                      </p:cBhvr>
                                    </p:animEffect>
                                  </p:childTnLst>
                                </p:cTn>
                              </p:par>
                            </p:childTnLst>
                          </p:cTn>
                        </p:par>
                        <p:par>
                          <p:cTn id="16" fill="hold">
                            <p:stCondLst>
                              <p:cond delay="2800"/>
                            </p:stCondLst>
                            <p:childTnLst>
                              <p:par>
                                <p:cTn xmlns:p="http://schemas.openxmlformats.org/presentationml/2006/main" id="17" presetID="10" presetClass="entr" presetSubtype="0" fill="hold" grpId="0" nodeType="afterEffect">
                                  <p:stCondLst>
                                    <p:cond delay="500"/>
                                  </p:stCondLst>
                                  <p:childTnLst>
                                    <p:set>
                                      <p:cBhvr>
                                        <p:cTn id="18" dur="1" fill="hold">
                                          <p:stCondLst>
                                            <p:cond delay="0"/>
                                          </p:stCondLst>
                                        </p:cTn>
                                        <p:tgtEl>
                                          <p:spTgt spid="25"/>
                                        </p:tgtEl>
                                        <p:attrNameLst>
                                          <p:attrName>style.visibility</p:attrName>
                                        </p:attrNameLst>
                                      </p:cBhvr>
                                      <p:to>
                                        <p:strVal val="visible"/>
                                      </p:to>
                                    </p:set>
                                    <p:animEffect transition="in" filter="fade">
                                      <p:cBhvr>
                                        <p:cTn id="19"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p14="http://schemas.microsoft.com/office/powerpoint/2010/main">
  <p:cSld>
    <p:bg>
      <p:bgPr>
        <a:solidFill>
          <a:schemeClr val="lt1"/>
        </a:solidFill>
        <a:effectLst/>
      </p:bgPr>
    </p:bg>
    <p:spTree>
      <p:nvGrpSpPr>
        <p:cNvPr id="1" name=""/>
        <p:cNvGrpSpPr/>
        <p:nvPr/>
      </p:nvGrpSpPr>
      <p:grpSpPr>
        <a:xfrm>
          <a:off x="0" y="0"/>
          <a:ext cx="0" cy="0"/>
          <a:chOff x="0" y="0"/>
          <a:chExt cx="0" cy="0"/>
        </a:xfrm>
      </p:grpSpPr>
      <p:grpSp>
        <p:nvGrpSpPr>
          <p:cNvPr id="11" name="Group 11"/>
          <p:cNvGrpSpPr/>
          <p:nvPr/>
        </p:nvGrpSpPr>
        <p:grpSpPr>
          <a:xfrm>
            <a:off x="593598" y="597218"/>
            <a:ext cx="2720340" cy="878967"/>
            <a:chOff x="593598" y="597218"/>
            <a:chExt cx="2720340" cy="878967"/>
          </a:xfrm>
        </p:grpSpPr>
        <p:grpSp>
          <p:nvGrpSpPr>
            <p:cNvPr id="7" name="Group 7"/>
            <p:cNvGrpSpPr/>
            <p:nvPr/>
          </p:nvGrpSpPr>
          <p:grpSpPr>
            <a:xfrm>
              <a:off x="649287" y="614362"/>
              <a:ext cx="111125" cy="142875"/>
              <a:chOff x="649287" y="614362"/>
              <a:chExt cx="111125" cy="142875"/>
            </a:xfrm>
          </p:grpSpPr>
          <p:sp>
            <p:nvSpPr>
              <p:cNvPr id="2" name="Freeform 2"/>
              <p:cNvSpPr/>
              <p:nvPr/>
            </p:nvSpPr>
            <p:spPr>
              <a:xfrm>
                <a:off x="720725" y="614362"/>
                <a:ext cx="39687" cy="39687"/>
              </a:xfrm>
              <a:custGeom>
                <a:avLst/>
                <a:gdLst/>
                <a:ahLst/>
                <a:cxnLst/>
                <a:rect l="l" t="t" r="r" b="b"/>
                <a:pathLst>
                  <a:path w="39687" h="39687">
                    <a:moveTo>
                      <a:pt x="0" y="0"/>
                    </a:moveTo>
                    <a:lnTo>
                      <a:pt x="0" y="31750"/>
                    </a:lnTo>
                    <a:cubicBezTo>
                      <a:pt x="0" y="36134"/>
                      <a:pt x="3554" y="39687"/>
                      <a:pt x="7937" y="39687"/>
                    </a:cubicBezTo>
                    <a:lnTo>
                      <a:pt x="39687" y="39687"/>
                    </a:lnTo>
                  </a:path>
                </a:pathLst>
              </a:custGeom>
              <a:noFill/>
              <a:ln w="15875">
                <a:solidFill>
                  <a:srgbClr val="5F6B72"/>
                </a:solidFill>
              </a:ln>
            </p:spPr>
          </p:sp>
          <p:sp>
            <p:nvSpPr>
              <p:cNvPr id="3" name="Freeform 3"/>
              <p:cNvSpPr/>
              <p:nvPr/>
            </p:nvSpPr>
            <p:spPr>
              <a:xfrm>
                <a:off x="649287" y="614362"/>
                <a:ext cx="111125" cy="142875"/>
              </a:xfrm>
              <a:custGeom>
                <a:avLst/>
                <a:gdLst/>
                <a:ahLst/>
                <a:cxnLst/>
                <a:rect l="l" t="t" r="r" b="b"/>
                <a:pathLst>
                  <a:path w="111125" h="142875">
                    <a:moveTo>
                      <a:pt x="95250" y="142875"/>
                    </a:moveTo>
                    <a:lnTo>
                      <a:pt x="15875" y="142875"/>
                    </a:lnTo>
                    <a:cubicBezTo>
                      <a:pt x="7107" y="142875"/>
                      <a:pt x="0" y="135767"/>
                      <a:pt x="0" y="127000"/>
                    </a:cubicBezTo>
                    <a:lnTo>
                      <a:pt x="0" y="15875"/>
                    </a:lnTo>
                    <a:cubicBezTo>
                      <a:pt x="0" y="7107"/>
                      <a:pt x="7107" y="0"/>
                      <a:pt x="15875" y="0"/>
                    </a:cubicBezTo>
                    <a:lnTo>
                      <a:pt x="71437" y="0"/>
                    </a:lnTo>
                    <a:lnTo>
                      <a:pt x="111125" y="39687"/>
                    </a:lnTo>
                    <a:lnTo>
                      <a:pt x="111125" y="127000"/>
                    </a:lnTo>
                    <a:cubicBezTo>
                      <a:pt x="111125" y="135767"/>
                      <a:pt x="104017" y="142875"/>
                      <a:pt x="95250" y="142875"/>
                    </a:cubicBezTo>
                  </a:path>
                </a:pathLst>
              </a:custGeom>
              <a:noFill/>
              <a:ln w="15875">
                <a:solidFill>
                  <a:srgbClr val="5F6B72"/>
                </a:solidFill>
              </a:ln>
            </p:spPr>
          </p:sp>
          <p:sp>
            <p:nvSpPr>
              <p:cNvPr id="4" name="Freeform 4"/>
              <p:cNvSpPr/>
              <p:nvPr/>
            </p:nvSpPr>
            <p:spPr>
              <a:xfrm>
                <a:off x="681037" y="661987"/>
                <a:ext cx="9525" cy="9525"/>
              </a:xfrm>
              <a:custGeom>
                <a:avLst/>
                <a:gdLst/>
                <a:ahLst/>
                <a:cxnLst/>
                <a:rect l="l" t="t" r="r" b="b"/>
                <a:pathLst>
                  <a:path w="9525" h="9525">
                    <a:moveTo>
                      <a:pt x="0" y="0"/>
                    </a:moveTo>
                    <a:lnTo>
                      <a:pt x="7937" y="0"/>
                    </a:lnTo>
                  </a:path>
                </a:pathLst>
              </a:custGeom>
              <a:noFill/>
              <a:ln w="15875">
                <a:solidFill>
                  <a:srgbClr val="5F6B72"/>
                </a:solidFill>
              </a:ln>
            </p:spPr>
          </p:sp>
          <p:sp>
            <p:nvSpPr>
              <p:cNvPr id="5" name="Freeform 5"/>
              <p:cNvSpPr/>
              <p:nvPr/>
            </p:nvSpPr>
            <p:spPr>
              <a:xfrm>
                <a:off x="681037" y="693737"/>
                <a:ext cx="47625" cy="9525"/>
              </a:xfrm>
              <a:custGeom>
                <a:avLst/>
                <a:gdLst/>
                <a:ahLst/>
                <a:cxnLst/>
                <a:rect l="l" t="t" r="r" b="b"/>
                <a:pathLst>
                  <a:path w="47625" h="9525">
                    <a:moveTo>
                      <a:pt x="0" y="0"/>
                    </a:moveTo>
                    <a:lnTo>
                      <a:pt x="47625" y="0"/>
                    </a:lnTo>
                  </a:path>
                </a:pathLst>
              </a:custGeom>
              <a:noFill/>
              <a:ln w="15875">
                <a:solidFill>
                  <a:srgbClr val="5F6B72"/>
                </a:solidFill>
              </a:ln>
            </p:spPr>
          </p:sp>
          <p:sp>
            <p:nvSpPr>
              <p:cNvPr id="6" name="Freeform 6"/>
              <p:cNvSpPr/>
              <p:nvPr/>
            </p:nvSpPr>
            <p:spPr>
              <a:xfrm>
                <a:off x="681037" y="725487"/>
                <a:ext cx="47625" cy="9525"/>
              </a:xfrm>
              <a:custGeom>
                <a:avLst/>
                <a:gdLst/>
                <a:ahLst/>
                <a:cxnLst/>
                <a:rect l="l" t="t" r="r" b="b"/>
                <a:pathLst>
                  <a:path w="47625" h="9525">
                    <a:moveTo>
                      <a:pt x="0" y="0"/>
                    </a:moveTo>
                    <a:lnTo>
                      <a:pt x="47625" y="0"/>
                    </a:lnTo>
                  </a:path>
                </a:pathLst>
              </a:custGeom>
              <a:noFill/>
              <a:ln w="15875">
                <a:solidFill>
                  <a:srgbClr val="5F6B72"/>
                </a:solidFill>
              </a:ln>
            </p:spPr>
          </p:sp>
        </p:grpSp>
        <p:sp>
          <p:nvSpPr>
            <p:cNvPr id="8" name="TextBox 8"/>
            <p:cNvSpPr txBox="1"/>
            <p:nvPr/>
          </p:nvSpPr>
          <p:spPr>
            <a:xfrm>
              <a:off x="888492" y="597218"/>
              <a:ext cx="868890" cy="264033"/>
            </a:xfrm>
            <a:prstGeom prst="rect">
              <a:avLst/>
            </a:prstGeom>
            <a:noFill/>
            <a:ln>
              <a:noFill/>
            </a:ln>
          </p:spPr>
          <p:txBody>
            <a:bodyPr wrap="none" lIns="0" tIns="0" rIns="0" bIns="0" anchor="t" anchorCtr="0">
              <a:spAutoFit/>
            </a:bodyPr>
            <a:lstStyle/>
            <a:p>
              <a:pPr algn="l"/>
              <a:r>
                <a:rPr lang="zh-CN" sz="1350" spc="150" dirty="0">
                  <a:solidFill>
                    <a:schemeClr val="accent5"/>
                  </a:solidFill>
                  <a:latin typeface="+mn-lt"/>
                  <a:ea typeface="+mn-ea"/>
                  <a:cs typeface="+mn-cs"/>
                </a:rPr>
                <a:t>五 · 收束</a:t>
              </a:r>
            </a:p>
          </p:txBody>
        </p:sp>
        <p:sp>
          <p:nvSpPr>
            <p:cNvPr id="9" name="TextBox 9"/>
            <p:cNvSpPr txBox="1"/>
            <p:nvPr/>
          </p:nvSpPr>
          <p:spPr>
            <a:xfrm>
              <a:off x="593598" y="860108"/>
              <a:ext cx="2720340"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j-lt"/>
                  <a:ea typeface="+mj-ea"/>
                  <a:cs typeface="+mj-cs"/>
                </a:rPr>
                <a:t>关键要点回顾</a:t>
              </a:r>
            </a:p>
          </p:txBody>
        </p:sp>
        <p:sp>
          <p:nvSpPr>
            <p:cNvPr id="10" name="Rectangle 10"/>
            <p:cNvSpPr/>
            <p:nvPr/>
          </p:nvSpPr>
          <p:spPr>
            <a:xfrm>
              <a:off x="609600" y="1381125"/>
              <a:ext cx="1295400" cy="38100"/>
            </a:xfrm>
            <a:prstGeom prst="rect">
              <a:avLst/>
            </a:prstGeom>
            <a:gradFill>
              <a:gsLst>
                <a:gs pos="0">
                  <a:schemeClr val="accent1"/>
                </a:gs>
                <a:gs pos="100000">
                  <a:schemeClr val="accent2"/>
                </a:gs>
              </a:gsLst>
              <a:lin ang="0" scaled="1"/>
            </a:gradFill>
            <a:ln>
              <a:noFill/>
            </a:ln>
          </p:spPr>
        </p:sp>
      </p:grpSp>
      <p:grpSp>
        <p:nvGrpSpPr>
          <p:cNvPr id="14" name="!!takeaway-banner"/>
          <p:cNvGrpSpPr/>
          <p:nvPr/>
        </p:nvGrpSpPr>
        <p:grpSpPr>
          <a:xfrm>
            <a:off x="602742" y="1676400"/>
            <a:ext cx="10979658" cy="423101"/>
            <a:chOff x="602742" y="1676400"/>
            <a:chExt cx="10979658" cy="423101"/>
          </a:xfrm>
        </p:grpSpPr>
        <p:sp>
          <p:nvSpPr>
            <p:cNvPr id="12" name="Rectangle 12"/>
            <p:cNvSpPr/>
            <p:nvPr/>
          </p:nvSpPr>
          <p:spPr>
            <a:xfrm>
              <a:off x="609600" y="1676400"/>
              <a:ext cx="10972800" cy="57150"/>
            </a:xfrm>
            <a:prstGeom prst="rect">
              <a:avLst/>
            </a:prstGeom>
            <a:gradFill>
              <a:gsLst>
                <a:gs pos="0">
                  <a:schemeClr val="accent1"/>
                </a:gs>
                <a:gs pos="100000">
                  <a:schemeClr val="accent2"/>
                </a:gs>
              </a:gsLst>
              <a:lin ang="0" scaled="1"/>
            </a:gradFill>
            <a:ln>
              <a:noFill/>
            </a:ln>
          </p:spPr>
        </p:sp>
        <p:sp>
          <p:nvSpPr>
            <p:cNvPr id="13" name="TextBox 13"/>
            <p:cNvSpPr txBox="1"/>
            <p:nvPr/>
          </p:nvSpPr>
          <p:spPr>
            <a:xfrm>
              <a:off x="602742" y="1835468"/>
              <a:ext cx="3284982"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五条可复述的事实，每条都出自公报原文</a:t>
              </a:r>
            </a:p>
          </p:txBody>
        </p:sp>
      </p:grpSp>
      <p:grpSp>
        <p:nvGrpSpPr>
          <p:cNvPr id="16" name="Group 16"/>
          <p:cNvGrpSpPr/>
          <p:nvPr/>
        </p:nvGrpSpPr>
        <p:grpSpPr>
          <a:xfrm>
            <a:off x="609600" y="2286000"/>
            <a:ext cx="381000" cy="3657600"/>
            <a:chOff x="609600" y="2286000"/>
            <a:chExt cx="381000" cy="3657600"/>
          </a:xfrm>
        </p:grpSpPr>
        <p:sp>
          <p:nvSpPr>
            <p:cNvPr id="15" name="Freeform 15"/>
            <p:cNvSpPr/>
            <p:nvPr/>
          </p:nvSpPr>
          <p:spPr>
            <a:xfrm>
              <a:off x="609600" y="2286000"/>
              <a:ext cx="381000" cy="3657600"/>
            </a:xfrm>
            <a:prstGeom prst="leftBracket">
              <a:avLst/>
            </a:prstGeom>
            <a:noFill/>
            <a:ln w="19050">
              <a:solidFill>
                <a:schemeClr val="accent2"/>
              </a:solidFill>
            </a:ln>
          </p:spPr>
        </p:sp>
      </p:grpSp>
      <p:grpSp>
        <p:nvGrpSpPr>
          <p:cNvPr id="20" name="Group 20"/>
          <p:cNvGrpSpPr/>
          <p:nvPr/>
        </p:nvGrpSpPr>
        <p:grpSpPr>
          <a:xfrm>
            <a:off x="1203198" y="2307908"/>
            <a:ext cx="7405668" cy="686943"/>
            <a:chOff x="1203198" y="2307908"/>
            <a:chExt cx="7405668" cy="686943"/>
          </a:xfrm>
        </p:grpSpPr>
        <p:sp>
          <p:nvSpPr>
            <p:cNvPr id="17" name="TextBox 17"/>
            <p:cNvSpPr txBox="1"/>
            <p:nvPr/>
          </p:nvSpPr>
          <p:spPr>
            <a:xfrm>
              <a:off x="1203198" y="2307908"/>
              <a:ext cx="480060" cy="616077"/>
            </a:xfrm>
            <a:prstGeom prst="rect">
              <a:avLst/>
            </a:prstGeom>
            <a:noFill/>
            <a:ln>
              <a:noFill/>
            </a:ln>
          </p:spPr>
          <p:txBody>
            <a:bodyPr wrap="none" lIns="0" tIns="0" rIns="0" bIns="0" anchor="t" anchorCtr="0">
              <a:spAutoFit/>
            </a:bodyPr>
            <a:lstStyle/>
            <a:p>
              <a:pPr algn="l"/>
              <a:r>
                <a:rPr lang="zh-CN" sz="3150" b="1" dirty="0">
                  <a:solidFill>
                    <a:schemeClr val="accent2"/>
                  </a:solidFill>
                  <a:latin typeface="+mj-lt"/>
                  <a:ea typeface="+mj-ea"/>
                  <a:cs typeface="+mj-cs"/>
                </a:rPr>
                <a:t>一</a:t>
              </a:r>
            </a:p>
          </p:txBody>
        </p:sp>
        <p:sp>
          <p:nvSpPr>
            <p:cNvPr id="18" name="TextBox 18"/>
            <p:cNvSpPr txBox="1"/>
            <p:nvPr/>
          </p:nvSpPr>
          <p:spPr>
            <a:xfrm>
              <a:off x="1895856" y="2377440"/>
              <a:ext cx="1229868"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总量与增速</a:t>
              </a:r>
            </a:p>
          </p:txBody>
        </p:sp>
        <p:sp>
          <p:nvSpPr>
            <p:cNvPr id="19" name="TextBox 19"/>
            <p:cNvSpPr txBox="1"/>
            <p:nvPr/>
          </p:nvSpPr>
          <p:spPr>
            <a:xfrm>
              <a:off x="1898142" y="2730818"/>
              <a:ext cx="671072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国内生产总值 1401879 亿元，比上年增长 5.0%；分季度增速由 5.4% 回落至 4.5%</a:t>
              </a:r>
            </a:p>
          </p:txBody>
        </p:sp>
      </p:grpSp>
      <p:grpSp>
        <p:nvGrpSpPr>
          <p:cNvPr id="24" name="Group 24"/>
          <p:cNvGrpSpPr/>
          <p:nvPr/>
        </p:nvGrpSpPr>
        <p:grpSpPr>
          <a:xfrm>
            <a:off x="1203198" y="3031808"/>
            <a:ext cx="8250746" cy="686943"/>
            <a:chOff x="1203198" y="3031808"/>
            <a:chExt cx="8250746" cy="686943"/>
          </a:xfrm>
        </p:grpSpPr>
        <p:sp>
          <p:nvSpPr>
            <p:cNvPr id="21" name="TextBox 21"/>
            <p:cNvSpPr txBox="1"/>
            <p:nvPr/>
          </p:nvSpPr>
          <p:spPr>
            <a:xfrm>
              <a:off x="1203198" y="3031808"/>
              <a:ext cx="480060" cy="616077"/>
            </a:xfrm>
            <a:prstGeom prst="rect">
              <a:avLst/>
            </a:prstGeom>
            <a:noFill/>
            <a:ln>
              <a:noFill/>
            </a:ln>
          </p:spPr>
          <p:txBody>
            <a:bodyPr wrap="none" lIns="0" tIns="0" rIns="0" bIns="0" anchor="t" anchorCtr="0">
              <a:spAutoFit/>
            </a:bodyPr>
            <a:lstStyle/>
            <a:p>
              <a:pPr algn="l"/>
              <a:r>
                <a:rPr lang="zh-CN" sz="3150" b="1" dirty="0">
                  <a:solidFill>
                    <a:schemeClr val="accent2"/>
                  </a:solidFill>
                  <a:latin typeface="+mj-lt"/>
                  <a:ea typeface="+mj-ea"/>
                  <a:cs typeface="+mj-cs"/>
                </a:rPr>
                <a:t>二</a:t>
              </a:r>
            </a:p>
          </p:txBody>
        </p:sp>
        <p:sp>
          <p:nvSpPr>
            <p:cNvPr id="22" name="TextBox 22"/>
            <p:cNvSpPr txBox="1"/>
            <p:nvPr/>
          </p:nvSpPr>
          <p:spPr>
            <a:xfrm>
              <a:off x="1895856" y="3101340"/>
              <a:ext cx="502920"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结构</a:t>
              </a:r>
            </a:p>
          </p:txBody>
        </p:sp>
        <p:sp>
          <p:nvSpPr>
            <p:cNvPr id="23" name="TextBox 23"/>
            <p:cNvSpPr txBox="1"/>
            <p:nvPr/>
          </p:nvSpPr>
          <p:spPr>
            <a:xfrm>
              <a:off x="1898142" y="3454718"/>
              <a:ext cx="755580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第三产业增加值占比 57.7%；最终消费支出拉动增长 2.6 个百分点，是三大需求中最大的一项</a:t>
              </a:r>
            </a:p>
          </p:txBody>
        </p:sp>
      </p:grpSp>
      <p:grpSp>
        <p:nvGrpSpPr>
          <p:cNvPr id="28" name="Group 28"/>
          <p:cNvGrpSpPr/>
          <p:nvPr/>
        </p:nvGrpSpPr>
        <p:grpSpPr>
          <a:xfrm>
            <a:off x="1203198" y="3755708"/>
            <a:ext cx="9023128" cy="686943"/>
            <a:chOff x="1203198" y="3755708"/>
            <a:chExt cx="9023128" cy="686943"/>
          </a:xfrm>
        </p:grpSpPr>
        <p:sp>
          <p:nvSpPr>
            <p:cNvPr id="25" name="TextBox 25"/>
            <p:cNvSpPr txBox="1"/>
            <p:nvPr/>
          </p:nvSpPr>
          <p:spPr>
            <a:xfrm>
              <a:off x="1203198" y="3755708"/>
              <a:ext cx="480060" cy="616077"/>
            </a:xfrm>
            <a:prstGeom prst="rect">
              <a:avLst/>
            </a:prstGeom>
            <a:noFill/>
            <a:ln>
              <a:noFill/>
            </a:ln>
          </p:spPr>
          <p:txBody>
            <a:bodyPr wrap="none" lIns="0" tIns="0" rIns="0" bIns="0" anchor="t" anchorCtr="0">
              <a:spAutoFit/>
            </a:bodyPr>
            <a:lstStyle/>
            <a:p>
              <a:pPr algn="l"/>
              <a:r>
                <a:rPr lang="zh-CN" sz="3150" b="1" dirty="0">
                  <a:solidFill>
                    <a:schemeClr val="accent2"/>
                  </a:solidFill>
                  <a:latin typeface="+mj-lt"/>
                  <a:ea typeface="+mj-ea"/>
                  <a:cs typeface="+mj-cs"/>
                </a:rPr>
                <a:t>三</a:t>
              </a:r>
            </a:p>
          </p:txBody>
        </p:sp>
        <p:sp>
          <p:nvSpPr>
            <p:cNvPr id="26" name="TextBox 26"/>
            <p:cNvSpPr txBox="1"/>
            <p:nvPr/>
          </p:nvSpPr>
          <p:spPr>
            <a:xfrm>
              <a:off x="1895856" y="3825240"/>
              <a:ext cx="502920"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人口</a:t>
              </a:r>
            </a:p>
          </p:txBody>
        </p:sp>
        <p:sp>
          <p:nvSpPr>
            <p:cNvPr id="27" name="TextBox 27"/>
            <p:cNvSpPr txBox="1"/>
            <p:nvPr/>
          </p:nvSpPr>
          <p:spPr>
            <a:xfrm>
              <a:off x="1898142" y="4178618"/>
              <a:ext cx="832818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年末全国人口 140489 万人，比上年末减少 339 万人；常住人口城镇化率 67.89%，提高 0.89 个百分点</a:t>
              </a:r>
            </a:p>
          </p:txBody>
        </p:sp>
      </p:grpSp>
      <p:grpSp>
        <p:nvGrpSpPr>
          <p:cNvPr id="32" name="Group 32"/>
          <p:cNvGrpSpPr/>
          <p:nvPr/>
        </p:nvGrpSpPr>
        <p:grpSpPr>
          <a:xfrm>
            <a:off x="1203198" y="4479608"/>
            <a:ext cx="10222592" cy="686943"/>
            <a:chOff x="1203198" y="4479608"/>
            <a:chExt cx="10222592" cy="686943"/>
          </a:xfrm>
        </p:grpSpPr>
        <p:sp>
          <p:nvSpPr>
            <p:cNvPr id="29" name="TextBox 29"/>
            <p:cNvSpPr txBox="1"/>
            <p:nvPr/>
          </p:nvSpPr>
          <p:spPr>
            <a:xfrm>
              <a:off x="1203198" y="4479608"/>
              <a:ext cx="480060" cy="616077"/>
            </a:xfrm>
            <a:prstGeom prst="rect">
              <a:avLst/>
            </a:prstGeom>
            <a:noFill/>
            <a:ln>
              <a:noFill/>
            </a:ln>
          </p:spPr>
          <p:txBody>
            <a:bodyPr wrap="none" lIns="0" tIns="0" rIns="0" bIns="0" anchor="t" anchorCtr="0">
              <a:spAutoFit/>
            </a:bodyPr>
            <a:lstStyle/>
            <a:p>
              <a:pPr algn="l"/>
              <a:r>
                <a:rPr lang="zh-CN" sz="3150" b="1" dirty="0">
                  <a:solidFill>
                    <a:schemeClr val="accent2"/>
                  </a:solidFill>
                  <a:latin typeface="+mj-lt"/>
                  <a:ea typeface="+mj-ea"/>
                  <a:cs typeface="+mj-cs"/>
                </a:rPr>
                <a:t>四</a:t>
              </a:r>
            </a:p>
          </p:txBody>
        </p:sp>
        <p:sp>
          <p:nvSpPr>
            <p:cNvPr id="30" name="TextBox 30"/>
            <p:cNvSpPr txBox="1"/>
            <p:nvPr/>
          </p:nvSpPr>
          <p:spPr>
            <a:xfrm>
              <a:off x="1895856" y="4549140"/>
              <a:ext cx="987552"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需求三面</a:t>
              </a:r>
            </a:p>
          </p:txBody>
        </p:sp>
        <p:sp>
          <p:nvSpPr>
            <p:cNvPr id="31" name="TextBox 31"/>
            <p:cNvSpPr txBox="1"/>
            <p:nvPr/>
          </p:nvSpPr>
          <p:spPr>
            <a:xfrm>
              <a:off x="1898142" y="4902518"/>
              <a:ext cx="952764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社会消费品零售总额 501202 亿元（+3.7%）· 货物进出口 454685 亿元（+3.8%）· 固定资产投资（不含农户）-3.8%</a:t>
              </a:r>
            </a:p>
          </p:txBody>
        </p:sp>
      </p:grpSp>
      <p:grpSp>
        <p:nvGrpSpPr>
          <p:cNvPr id="36" name="Group 36"/>
          <p:cNvGrpSpPr/>
          <p:nvPr/>
        </p:nvGrpSpPr>
        <p:grpSpPr>
          <a:xfrm>
            <a:off x="1203198" y="5203508"/>
            <a:ext cx="9813684" cy="686943"/>
            <a:chOff x="1203198" y="5203508"/>
            <a:chExt cx="9813684" cy="686943"/>
          </a:xfrm>
        </p:grpSpPr>
        <p:sp>
          <p:nvSpPr>
            <p:cNvPr id="33" name="TextBox 33"/>
            <p:cNvSpPr txBox="1"/>
            <p:nvPr/>
          </p:nvSpPr>
          <p:spPr>
            <a:xfrm>
              <a:off x="1203198" y="5203508"/>
              <a:ext cx="480060" cy="616077"/>
            </a:xfrm>
            <a:prstGeom prst="rect">
              <a:avLst/>
            </a:prstGeom>
            <a:noFill/>
            <a:ln>
              <a:noFill/>
            </a:ln>
          </p:spPr>
          <p:txBody>
            <a:bodyPr wrap="none" lIns="0" tIns="0" rIns="0" bIns="0" anchor="t" anchorCtr="0">
              <a:spAutoFit/>
            </a:bodyPr>
            <a:lstStyle/>
            <a:p>
              <a:pPr algn="l"/>
              <a:r>
                <a:rPr lang="zh-CN" sz="3150" b="1" dirty="0">
                  <a:solidFill>
                    <a:schemeClr val="accent2"/>
                  </a:solidFill>
                  <a:latin typeface="+mj-lt"/>
                  <a:ea typeface="+mj-ea"/>
                  <a:cs typeface="+mj-cs"/>
                </a:rPr>
                <a:t>五</a:t>
              </a:r>
            </a:p>
          </p:txBody>
        </p:sp>
        <p:sp>
          <p:nvSpPr>
            <p:cNvPr id="34" name="TextBox 34"/>
            <p:cNvSpPr txBox="1"/>
            <p:nvPr/>
          </p:nvSpPr>
          <p:spPr>
            <a:xfrm>
              <a:off x="1895856" y="5273040"/>
              <a:ext cx="745236"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新与绿</a:t>
              </a:r>
            </a:p>
          </p:txBody>
        </p:sp>
        <p:sp>
          <p:nvSpPr>
            <p:cNvPr id="35" name="TextBox 35"/>
            <p:cNvSpPr txBox="1"/>
            <p:nvPr/>
          </p:nvSpPr>
          <p:spPr>
            <a:xfrm>
              <a:off x="1898142" y="5626418"/>
              <a:ext cx="911874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太阳能发电量增长 39.8%，新能源汽车产量 1652.4 万辆增长 25.1%；万元国内生产总值二氧化碳排放下降 5.0%</a:t>
              </a:r>
            </a:p>
          </p:txBody>
        </p:sp>
      </p:grpSp>
      <p:grpSp>
        <p:nvGrpSpPr>
          <p:cNvPr id="40" name="Group 40"/>
          <p:cNvGrpSpPr/>
          <p:nvPr/>
        </p:nvGrpSpPr>
        <p:grpSpPr>
          <a:xfrm>
            <a:off x="603504" y="6172200"/>
            <a:ext cx="10984992" cy="371856"/>
            <a:chOff x="603504" y="6172200"/>
            <a:chExt cx="10984992" cy="371856"/>
          </a:xfrm>
        </p:grpSpPr>
        <p:sp>
          <p:nvSpPr>
            <p:cNvPr id="37" name="Line 37"/>
            <p:cNvSpPr/>
            <p:nvPr/>
          </p:nvSpPr>
          <p:spPr>
            <a:xfrm>
              <a:off x="609600" y="61722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38" name="TextBox 38"/>
            <p:cNvSpPr txBox="1"/>
            <p:nvPr/>
          </p:nvSpPr>
          <p:spPr>
            <a:xfrm>
              <a:off x="603504" y="6309360"/>
              <a:ext cx="4293108"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来源：国家统计局《2025 年国民经济和社会发展统计公报》</a:t>
              </a:r>
            </a:p>
          </p:txBody>
        </p:sp>
        <p:sp>
          <p:nvSpPr>
            <p:cNvPr id="39" name="TextBox 39"/>
            <p:cNvSpPr txBox="1"/>
            <p:nvPr/>
          </p:nvSpPr>
          <p:spPr>
            <a:xfrm>
              <a:off x="11398606" y="6309360"/>
              <a:ext cx="189890"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16</a:t>
              </a:r>
            </a:p>
          </p:txBody>
        </p:sp>
      </p:grpSp>
    </p:spTree>
  </p:cSld>
  <p:clrMapOvr>
    <a:masterClrMapping/>
  </p:clrMapOvr>
  <p:transitio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right)">
                                      <p:cBhvr>
                                        <p:cTn id="7" dur="600"/>
                                        <p:tgtEl>
                                          <p:spTgt spid="14"/>
                                        </p:tgtEl>
                                      </p:cBhvr>
                                    </p:animEffect>
                                  </p:childTnLst>
                                </p:cTn>
                              </p:par>
                            </p:childTnLst>
                          </p:cTn>
                        </p:par>
                        <p:par>
                          <p:cTn id="8" fill="hold">
                            <p:stCondLst>
                              <p:cond delay="600"/>
                            </p:stCondLst>
                            <p:childTnLst>
                              <p:par>
                                <p:cTn id="9" presetID="22" presetClass="entr" presetSubtype="4" fill="hold" grpId="0" nodeType="afterEffect">
                                  <p:stCondLst>
                                    <p:cond delay="500"/>
                                  </p:stCondLst>
                                  <p:childTnLst>
                                    <p:set>
                                      <p:cBhvr>
                                        <p:cTn id="10" dur="1" fill="hold">
                                          <p:stCondLst>
                                            <p:cond delay="0"/>
                                          </p:stCondLst>
                                        </p:cTn>
                                        <p:tgtEl>
                                          <p:spTgt spid="16"/>
                                        </p:tgtEl>
                                        <p:attrNameLst>
                                          <p:attrName>style.visibility</p:attrName>
                                        </p:attrNameLst>
                                      </p:cBhvr>
                                      <p:to>
                                        <p:strVal val="visible"/>
                                      </p:to>
                                    </p:set>
                                    <p:animEffect transition="in" filter="wipe(down)">
                                      <p:cBhvr>
                                        <p:cTn id="11" dur="500"/>
                                        <p:tgtEl>
                                          <p:spTgt spid="16"/>
                                        </p:tgtEl>
                                      </p:cBhvr>
                                    </p:animEffect>
                                  </p:childTnLst>
                                </p:cTn>
                              </p:par>
                            </p:childTnLst>
                          </p:cTn>
                        </p:par>
                        <p:par>
                          <p:cTn id="12" fill="hold">
                            <p:stCondLst>
                              <p:cond delay="1600"/>
                            </p:stCondLst>
                            <p:childTnLst>
                              <p:par>
                                <p:cTn id="13" presetID="42" presetClass="entr" presetSubtype="0" fill="hold" grpId="0" nodeType="afterEffect">
                                  <p:stCondLst>
                                    <p:cond delay="50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450"/>
                                        <p:tgtEl>
                                          <p:spTgt spid="20"/>
                                        </p:tgtEl>
                                      </p:cBhvr>
                                    </p:animEffect>
                                    <p:anim calcmode="lin" valueType="num">
                                      <p:cBhvr>
                                        <p:cTn id="16" dur="450" fill="hold"/>
                                        <p:tgtEl>
                                          <p:spTgt spid="20"/>
                                        </p:tgtEl>
                                        <p:attrNameLst>
                                          <p:attrName>ppt_x</p:attrName>
                                        </p:attrNameLst>
                                      </p:cBhvr>
                                      <p:tavLst>
                                        <p:tav tm="0">
                                          <p:val>
                                            <p:strVal val="#ppt_x"/>
                                          </p:val>
                                        </p:tav>
                                        <p:tav tm="100000">
                                          <p:val>
                                            <p:strVal val="#ppt_x"/>
                                          </p:val>
                                        </p:tav>
                                      </p:tavLst>
                                    </p:anim>
                                    <p:anim calcmode="lin" valueType="num">
                                      <p:cBhvr>
                                        <p:cTn id="17" dur="450" fill="hold"/>
                                        <p:tgtEl>
                                          <p:spTgt spid="20"/>
                                        </p:tgtEl>
                                        <p:attrNameLst>
                                          <p:attrName>ppt_y</p:attrName>
                                        </p:attrNameLst>
                                      </p:cBhvr>
                                      <p:tavLst>
                                        <p:tav tm="0">
                                          <p:val>
                                            <p:strVal val="#ppt_y+.1"/>
                                          </p:val>
                                        </p:tav>
                                        <p:tav tm="100000">
                                          <p:val>
                                            <p:strVal val="#ppt_y"/>
                                          </p:val>
                                        </p:tav>
                                      </p:tavLst>
                                    </p:anim>
                                  </p:childTnLst>
                                </p:cTn>
                              </p:par>
                            </p:childTnLst>
                          </p:cTn>
                        </p:par>
                        <p:par>
                          <p:cTn id="18" fill="hold">
                            <p:stCondLst>
                              <p:cond delay="2550"/>
                            </p:stCondLst>
                            <p:childTnLst>
                              <p:par>
                                <p:cTn id="19" presetID="42" presetClass="entr" presetSubtype="0" fill="hold" grpId="0" nodeType="afterEffect">
                                  <p:stCondLst>
                                    <p:cond delay="500"/>
                                  </p:stCondLst>
                                  <p:childTnLst>
                                    <p:set>
                                      <p:cBhvr>
                                        <p:cTn id="20" dur="1" fill="hold">
                                          <p:stCondLst>
                                            <p:cond delay="0"/>
                                          </p:stCondLst>
                                        </p:cTn>
                                        <p:tgtEl>
                                          <p:spTgt spid="24"/>
                                        </p:tgtEl>
                                        <p:attrNameLst>
                                          <p:attrName>style.visibility</p:attrName>
                                        </p:attrNameLst>
                                      </p:cBhvr>
                                      <p:to>
                                        <p:strVal val="visible"/>
                                      </p:to>
                                    </p:set>
                                    <p:animEffect transition="in" filter="fade">
                                      <p:cBhvr>
                                        <p:cTn id="21" dur="450"/>
                                        <p:tgtEl>
                                          <p:spTgt spid="24"/>
                                        </p:tgtEl>
                                      </p:cBhvr>
                                    </p:animEffect>
                                    <p:anim calcmode="lin" valueType="num">
                                      <p:cBhvr>
                                        <p:cTn id="22" dur="450" fill="hold"/>
                                        <p:tgtEl>
                                          <p:spTgt spid="24"/>
                                        </p:tgtEl>
                                        <p:attrNameLst>
                                          <p:attrName>ppt_x</p:attrName>
                                        </p:attrNameLst>
                                      </p:cBhvr>
                                      <p:tavLst>
                                        <p:tav tm="0">
                                          <p:val>
                                            <p:strVal val="#ppt_x"/>
                                          </p:val>
                                        </p:tav>
                                        <p:tav tm="100000">
                                          <p:val>
                                            <p:strVal val="#ppt_x"/>
                                          </p:val>
                                        </p:tav>
                                      </p:tavLst>
                                    </p:anim>
                                    <p:anim calcmode="lin" valueType="num">
                                      <p:cBhvr>
                                        <p:cTn id="23" dur="450" fill="hold"/>
                                        <p:tgtEl>
                                          <p:spTgt spid="24"/>
                                        </p:tgtEl>
                                        <p:attrNameLst>
                                          <p:attrName>ppt_y</p:attrName>
                                        </p:attrNameLst>
                                      </p:cBhvr>
                                      <p:tavLst>
                                        <p:tav tm="0">
                                          <p:val>
                                            <p:strVal val="#ppt_y+.1"/>
                                          </p:val>
                                        </p:tav>
                                        <p:tav tm="100000">
                                          <p:val>
                                            <p:strVal val="#ppt_y"/>
                                          </p:val>
                                        </p:tav>
                                      </p:tavLst>
                                    </p:anim>
                                  </p:childTnLst>
                                </p:cTn>
                              </p:par>
                            </p:childTnLst>
                          </p:cTn>
                        </p:par>
                        <p:par>
                          <p:cTn id="24" fill="hold">
                            <p:stCondLst>
                              <p:cond delay="3500"/>
                            </p:stCondLst>
                            <p:childTnLst>
                              <p:par>
                                <p:cTn id="25" presetID="42" presetClass="entr" presetSubtype="0" fill="hold" grpId="0" nodeType="afterEffect">
                                  <p:stCondLst>
                                    <p:cond delay="500"/>
                                  </p:stCondLst>
                                  <p:childTnLst>
                                    <p:set>
                                      <p:cBhvr>
                                        <p:cTn id="26" dur="1" fill="hold">
                                          <p:stCondLst>
                                            <p:cond delay="0"/>
                                          </p:stCondLst>
                                        </p:cTn>
                                        <p:tgtEl>
                                          <p:spTgt spid="28"/>
                                        </p:tgtEl>
                                        <p:attrNameLst>
                                          <p:attrName>style.visibility</p:attrName>
                                        </p:attrNameLst>
                                      </p:cBhvr>
                                      <p:to>
                                        <p:strVal val="visible"/>
                                      </p:to>
                                    </p:set>
                                    <p:animEffect transition="in" filter="fade">
                                      <p:cBhvr>
                                        <p:cTn id="27" dur="450"/>
                                        <p:tgtEl>
                                          <p:spTgt spid="28"/>
                                        </p:tgtEl>
                                      </p:cBhvr>
                                    </p:animEffect>
                                    <p:anim calcmode="lin" valueType="num">
                                      <p:cBhvr>
                                        <p:cTn id="28" dur="450" fill="hold"/>
                                        <p:tgtEl>
                                          <p:spTgt spid="28"/>
                                        </p:tgtEl>
                                        <p:attrNameLst>
                                          <p:attrName>ppt_x</p:attrName>
                                        </p:attrNameLst>
                                      </p:cBhvr>
                                      <p:tavLst>
                                        <p:tav tm="0">
                                          <p:val>
                                            <p:strVal val="#ppt_x"/>
                                          </p:val>
                                        </p:tav>
                                        <p:tav tm="100000">
                                          <p:val>
                                            <p:strVal val="#ppt_x"/>
                                          </p:val>
                                        </p:tav>
                                      </p:tavLst>
                                    </p:anim>
                                    <p:anim calcmode="lin" valueType="num">
                                      <p:cBhvr>
                                        <p:cTn id="29" dur="450" fill="hold"/>
                                        <p:tgtEl>
                                          <p:spTgt spid="28"/>
                                        </p:tgtEl>
                                        <p:attrNameLst>
                                          <p:attrName>ppt_y</p:attrName>
                                        </p:attrNameLst>
                                      </p:cBhvr>
                                      <p:tavLst>
                                        <p:tav tm="0">
                                          <p:val>
                                            <p:strVal val="#ppt_y+.1"/>
                                          </p:val>
                                        </p:tav>
                                        <p:tav tm="100000">
                                          <p:val>
                                            <p:strVal val="#ppt_y"/>
                                          </p:val>
                                        </p:tav>
                                      </p:tavLst>
                                    </p:anim>
                                  </p:childTnLst>
                                </p:cTn>
                              </p:par>
                            </p:childTnLst>
                          </p:cTn>
                        </p:par>
                        <p:par>
                          <p:cTn id="30" fill="hold">
                            <p:stCondLst>
                              <p:cond delay="4450"/>
                            </p:stCondLst>
                            <p:childTnLst>
                              <p:par>
                                <p:cTn id="31" presetID="42" presetClass="entr" presetSubtype="0" fill="hold" grpId="0" nodeType="afterEffect">
                                  <p:stCondLst>
                                    <p:cond delay="500"/>
                                  </p:stCondLst>
                                  <p:childTnLst>
                                    <p:set>
                                      <p:cBhvr>
                                        <p:cTn id="32" dur="1" fill="hold">
                                          <p:stCondLst>
                                            <p:cond delay="0"/>
                                          </p:stCondLst>
                                        </p:cTn>
                                        <p:tgtEl>
                                          <p:spTgt spid="32"/>
                                        </p:tgtEl>
                                        <p:attrNameLst>
                                          <p:attrName>style.visibility</p:attrName>
                                        </p:attrNameLst>
                                      </p:cBhvr>
                                      <p:to>
                                        <p:strVal val="visible"/>
                                      </p:to>
                                    </p:set>
                                    <p:animEffect transition="in" filter="fade">
                                      <p:cBhvr>
                                        <p:cTn id="33" dur="450"/>
                                        <p:tgtEl>
                                          <p:spTgt spid="32"/>
                                        </p:tgtEl>
                                      </p:cBhvr>
                                    </p:animEffect>
                                    <p:anim calcmode="lin" valueType="num">
                                      <p:cBhvr>
                                        <p:cTn id="34" dur="450" fill="hold"/>
                                        <p:tgtEl>
                                          <p:spTgt spid="32"/>
                                        </p:tgtEl>
                                        <p:attrNameLst>
                                          <p:attrName>ppt_x</p:attrName>
                                        </p:attrNameLst>
                                      </p:cBhvr>
                                      <p:tavLst>
                                        <p:tav tm="0">
                                          <p:val>
                                            <p:strVal val="#ppt_x"/>
                                          </p:val>
                                        </p:tav>
                                        <p:tav tm="100000">
                                          <p:val>
                                            <p:strVal val="#ppt_x"/>
                                          </p:val>
                                        </p:tav>
                                      </p:tavLst>
                                    </p:anim>
                                    <p:anim calcmode="lin" valueType="num">
                                      <p:cBhvr>
                                        <p:cTn id="35" dur="450" fill="hold"/>
                                        <p:tgtEl>
                                          <p:spTgt spid="32"/>
                                        </p:tgtEl>
                                        <p:attrNameLst>
                                          <p:attrName>ppt_y</p:attrName>
                                        </p:attrNameLst>
                                      </p:cBhvr>
                                      <p:tavLst>
                                        <p:tav tm="0">
                                          <p:val>
                                            <p:strVal val="#ppt_y+.1"/>
                                          </p:val>
                                        </p:tav>
                                        <p:tav tm="100000">
                                          <p:val>
                                            <p:strVal val="#ppt_y"/>
                                          </p:val>
                                        </p:tav>
                                      </p:tavLst>
                                    </p:anim>
                                  </p:childTnLst>
                                </p:cTn>
                              </p:par>
                            </p:childTnLst>
                          </p:cTn>
                        </p:par>
                        <p:par>
                          <p:cTn id="36" fill="hold">
                            <p:stCondLst>
                              <p:cond delay="5400"/>
                            </p:stCondLst>
                            <p:childTnLst>
                              <p:par>
                                <p:cTn id="37" presetID="42" presetClass="entr" presetSubtype="0" fill="hold" grpId="0" nodeType="afterEffect">
                                  <p:stCondLst>
                                    <p:cond delay="500"/>
                                  </p:stCondLst>
                                  <p:childTnLst>
                                    <p:set>
                                      <p:cBhvr>
                                        <p:cTn id="38" dur="1" fill="hold">
                                          <p:stCondLst>
                                            <p:cond delay="0"/>
                                          </p:stCondLst>
                                        </p:cTn>
                                        <p:tgtEl>
                                          <p:spTgt spid="36"/>
                                        </p:tgtEl>
                                        <p:attrNameLst>
                                          <p:attrName>style.visibility</p:attrName>
                                        </p:attrNameLst>
                                      </p:cBhvr>
                                      <p:to>
                                        <p:strVal val="visible"/>
                                      </p:to>
                                    </p:set>
                                    <p:animEffect transition="in" filter="fade">
                                      <p:cBhvr>
                                        <p:cTn id="39" dur="450"/>
                                        <p:tgtEl>
                                          <p:spTgt spid="36"/>
                                        </p:tgtEl>
                                      </p:cBhvr>
                                    </p:animEffect>
                                    <p:anim calcmode="lin" valueType="num">
                                      <p:cBhvr>
                                        <p:cTn id="40" dur="450" fill="hold"/>
                                        <p:tgtEl>
                                          <p:spTgt spid="36"/>
                                        </p:tgtEl>
                                        <p:attrNameLst>
                                          <p:attrName>ppt_x</p:attrName>
                                        </p:attrNameLst>
                                      </p:cBhvr>
                                      <p:tavLst>
                                        <p:tav tm="0">
                                          <p:val>
                                            <p:strVal val="#ppt_x"/>
                                          </p:val>
                                        </p:tav>
                                        <p:tav tm="100000">
                                          <p:val>
                                            <p:strVal val="#ppt_x"/>
                                          </p:val>
                                        </p:tav>
                                      </p:tavLst>
                                    </p:anim>
                                    <p:anim calcmode="lin" valueType="num">
                                      <p:cBhvr>
                                        <p:cTn id="41" dur="450" fill="hold"/>
                                        <p:tgtEl>
                                          <p:spTgt spid="3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xmlns:r="http://schemas.openxmlformats.org/officeDocument/2006/relationships">
  <p:cSld>
    <p:bg>
      <p:bgPr>
        <a:solidFill>
          <a:schemeClr val="lt1"/>
        </a:solidFill>
        <a:effectLst/>
      </p:bgPr>
    </p:bg>
    <p:spTree>
      <p:nvGrpSpPr>
        <p:cNvPr id="1" name=""/>
        <p:cNvGrpSpPr/>
        <p:nvPr/>
      </p:nvGrpSpPr>
      <p:grpSpPr>
        <a:xfrm>
          <a:off x="0" y="0"/>
          <a:ext cx="0" cy="0"/>
          <a:chOff x="0" y="0"/>
          <a:chExt cx="0" cy="0"/>
        </a:xfrm>
      </p:grpSpPr>
      <p:grpSp>
        <p:nvGrpSpPr>
          <p:cNvPr id="9" name="Group 9"/>
          <p:cNvGrpSpPr/>
          <p:nvPr/>
        </p:nvGrpSpPr>
        <p:grpSpPr>
          <a:xfrm>
            <a:off x="593598" y="597218"/>
            <a:ext cx="3168396" cy="878967"/>
            <a:chOff x="593598" y="597218"/>
            <a:chExt cx="3168396" cy="878967"/>
          </a:xfrm>
        </p:grpSpPr>
        <p:grpSp>
          <p:nvGrpSpPr>
            <p:cNvPr id="5" name="Group 5"/>
            <p:cNvGrpSpPr/>
            <p:nvPr/>
          </p:nvGrpSpPr>
          <p:grpSpPr>
            <a:xfrm>
              <a:off x="641349" y="618422"/>
              <a:ext cx="130867" cy="134739"/>
              <a:chOff x="641349" y="618422"/>
              <a:chExt cx="130867" cy="134739"/>
            </a:xfrm>
          </p:grpSpPr>
          <p:sp>
            <p:nvSpPr>
              <p:cNvPr id="2" name="Freeform 2"/>
              <p:cNvSpPr/>
              <p:nvPr/>
            </p:nvSpPr>
            <p:spPr>
              <a:xfrm>
                <a:off x="681037" y="661987"/>
                <a:ext cx="47625" cy="47625"/>
              </a:xfrm>
              <a:custGeom>
                <a:avLst/>
                <a:gdLst/>
                <a:ahLst/>
                <a:cxnLst/>
                <a:rect l="l" t="t" r="r" b="b"/>
                <a:pathLst>
                  <a:path w="47625" h="47625">
                    <a:moveTo>
                      <a:pt x="0" y="47625"/>
                    </a:moveTo>
                    <a:lnTo>
                      <a:pt x="47625" y="0"/>
                    </a:lnTo>
                  </a:path>
                </a:pathLst>
              </a:custGeom>
              <a:noFill/>
              <a:ln w="15875">
                <a:solidFill>
                  <a:srgbClr val="5F6B72"/>
                </a:solidFill>
              </a:ln>
            </p:spPr>
          </p:sp>
          <p:sp>
            <p:nvSpPr>
              <p:cNvPr id="3" name="Freeform 3"/>
              <p:cNvSpPr/>
              <p:nvPr/>
            </p:nvSpPr>
            <p:spPr>
              <a:xfrm>
                <a:off x="696912" y="618422"/>
                <a:ext cx="75304" cy="75316"/>
              </a:xfrm>
              <a:custGeom>
                <a:avLst/>
                <a:gdLst/>
                <a:ahLst/>
                <a:cxnLst/>
                <a:rect l="l" t="t" r="r" b="b"/>
                <a:pathLst>
                  <a:path w="75304" h="75316">
                    <a:moveTo>
                      <a:pt x="0" y="19753"/>
                    </a:moveTo>
                    <a:lnTo>
                      <a:pt x="3675" y="15499"/>
                    </a:lnTo>
                    <a:cubicBezTo>
                      <a:pt x="19176" y="0"/>
                      <a:pt x="44306" y="2"/>
                      <a:pt x="59805" y="15503"/>
                    </a:cubicBezTo>
                    <a:cubicBezTo>
                      <a:pt x="75304" y="31004"/>
                      <a:pt x="75302" y="56134"/>
                      <a:pt x="59801" y="71633"/>
                    </a:cubicBezTo>
                    <a:lnTo>
                      <a:pt x="55562" y="75316"/>
                    </a:lnTo>
                  </a:path>
                </a:pathLst>
              </a:custGeom>
              <a:noFill/>
              <a:ln w="15875">
                <a:solidFill>
                  <a:srgbClr val="5F6B72"/>
                </a:solidFill>
              </a:ln>
            </p:spPr>
          </p:sp>
          <p:sp>
            <p:nvSpPr>
              <p:cNvPr id="4" name="Freeform 4"/>
              <p:cNvSpPr/>
              <p:nvPr/>
            </p:nvSpPr>
            <p:spPr>
              <a:xfrm>
                <a:off x="641349" y="677862"/>
                <a:ext cx="71439" cy="75299"/>
              </a:xfrm>
              <a:custGeom>
                <a:avLst/>
                <a:gdLst/>
                <a:ahLst/>
                <a:cxnLst/>
                <a:rect l="l" t="t" r="r" b="b"/>
                <a:pathLst>
                  <a:path w="71439" h="75299">
                    <a:moveTo>
                      <a:pt x="71439" y="55562"/>
                    </a:moveTo>
                    <a:lnTo>
                      <a:pt x="68287" y="59801"/>
                    </a:lnTo>
                    <a:cubicBezTo>
                      <a:pt x="52615" y="75299"/>
                      <a:pt x="27389" y="75299"/>
                      <a:pt x="11717" y="59801"/>
                    </a:cubicBezTo>
                    <a:cubicBezTo>
                      <a:pt x="4219" y="52388"/>
                      <a:pt x="0" y="42282"/>
                      <a:pt x="0" y="31738"/>
                    </a:cubicBezTo>
                    <a:cubicBezTo>
                      <a:pt x="0" y="21194"/>
                      <a:pt x="4219" y="11089"/>
                      <a:pt x="11717" y="3675"/>
                    </a:cubicBezTo>
                    <a:lnTo>
                      <a:pt x="15876" y="0"/>
                    </a:lnTo>
                  </a:path>
                </a:pathLst>
              </a:custGeom>
              <a:noFill/>
              <a:ln w="15875">
                <a:solidFill>
                  <a:srgbClr val="5F6B72"/>
                </a:solidFill>
              </a:ln>
            </p:spPr>
          </p:sp>
        </p:grpSp>
        <p:sp>
          <p:nvSpPr>
            <p:cNvPr id="6" name="TextBox 6"/>
            <p:cNvSpPr txBox="1"/>
            <p:nvPr/>
          </p:nvSpPr>
          <p:spPr>
            <a:xfrm>
              <a:off x="888492" y="597218"/>
              <a:ext cx="868890" cy="264033"/>
            </a:xfrm>
            <a:prstGeom prst="rect">
              <a:avLst/>
            </a:prstGeom>
            <a:noFill/>
            <a:ln>
              <a:noFill/>
            </a:ln>
          </p:spPr>
          <p:txBody>
            <a:bodyPr wrap="none" lIns="0" tIns="0" rIns="0" bIns="0" anchor="t" anchorCtr="0">
              <a:spAutoFit/>
            </a:bodyPr>
            <a:lstStyle/>
            <a:p>
              <a:pPr algn="l"/>
              <a:r>
                <a:rPr lang="zh-CN" sz="1350" spc="150" dirty="0">
                  <a:solidFill>
                    <a:schemeClr val="accent5"/>
                  </a:solidFill>
                  <a:latin typeface="+mn-lt"/>
                  <a:ea typeface="+mn-ea"/>
                  <a:cs typeface="+mn-cs"/>
                </a:rPr>
                <a:t>五 · 收束</a:t>
              </a:r>
            </a:p>
          </p:txBody>
        </p:sp>
        <p:sp>
          <p:nvSpPr>
            <p:cNvPr id="7" name="TextBox 7"/>
            <p:cNvSpPr txBox="1"/>
            <p:nvPr/>
          </p:nvSpPr>
          <p:spPr>
            <a:xfrm>
              <a:off x="593598" y="860108"/>
              <a:ext cx="3168396"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j-lt"/>
                  <a:ea typeface="+mj-ea"/>
                  <a:cs typeface="+mj-cs"/>
                </a:rPr>
                <a:t>数据来源与口径</a:t>
              </a:r>
            </a:p>
          </p:txBody>
        </p:sp>
        <p:sp>
          <p:nvSpPr>
            <p:cNvPr id="8" name="Rectangle 8"/>
            <p:cNvSpPr/>
            <p:nvPr/>
          </p:nvSpPr>
          <p:spPr>
            <a:xfrm>
              <a:off x="609600" y="1381125"/>
              <a:ext cx="1295400" cy="38100"/>
            </a:xfrm>
            <a:prstGeom prst="rect">
              <a:avLst/>
            </a:prstGeom>
            <a:gradFill>
              <a:gsLst>
                <a:gs pos="0">
                  <a:schemeClr val="accent1"/>
                </a:gs>
                <a:gs pos="100000">
                  <a:schemeClr val="accent2"/>
                </a:gs>
              </a:gsLst>
              <a:lin ang="0" scaled="1"/>
            </a:gradFill>
            <a:ln>
              <a:noFill/>
            </a:ln>
          </p:spPr>
        </p:sp>
      </p:grpSp>
      <p:grpSp>
        <p:nvGrpSpPr>
          <p:cNvPr id="12" name="!!takeaway-banner"/>
          <p:cNvGrpSpPr/>
          <p:nvPr/>
        </p:nvGrpSpPr>
        <p:grpSpPr>
          <a:xfrm>
            <a:off x="602742" y="1676400"/>
            <a:ext cx="10979658" cy="423101"/>
            <a:chOff x="602742" y="1676400"/>
            <a:chExt cx="10979658" cy="423101"/>
          </a:xfrm>
        </p:grpSpPr>
        <p:sp>
          <p:nvSpPr>
            <p:cNvPr id="10" name="Rectangle 10"/>
            <p:cNvSpPr/>
            <p:nvPr/>
          </p:nvSpPr>
          <p:spPr>
            <a:xfrm>
              <a:off x="609600" y="1676400"/>
              <a:ext cx="10972800" cy="57150"/>
            </a:xfrm>
            <a:prstGeom prst="rect">
              <a:avLst/>
            </a:prstGeom>
            <a:gradFill>
              <a:gsLst>
                <a:gs pos="0">
                  <a:schemeClr val="accent1"/>
                </a:gs>
                <a:gs pos="100000">
                  <a:schemeClr val="accent2"/>
                </a:gs>
              </a:gsLst>
              <a:lin ang="0" scaled="1"/>
            </a:gradFill>
            <a:ln>
              <a:noFill/>
            </a:ln>
          </p:spPr>
        </p:sp>
        <p:sp>
          <p:nvSpPr>
            <p:cNvPr id="11" name="TextBox 11"/>
            <p:cNvSpPr txBox="1"/>
            <p:nvPr/>
          </p:nvSpPr>
          <p:spPr>
            <a:xfrm>
              <a:off x="602742" y="1835468"/>
              <a:ext cx="2194560"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本简报全部数字的唯一出处</a:t>
              </a:r>
            </a:p>
          </p:txBody>
        </p:sp>
      </p:grpSp>
      <p:grpSp>
        <p:nvGrpSpPr>
          <p:cNvPr id="17" name="Group 17"/>
          <p:cNvGrpSpPr/>
          <p:nvPr/>
        </p:nvGrpSpPr>
        <p:grpSpPr>
          <a:xfrm>
            <a:off x="609600" y="2381250"/>
            <a:ext cx="10972800" cy="1600200"/>
            <a:chOff x="609600" y="2381250"/>
            <a:chExt cx="10972800" cy="1600200"/>
          </a:xfrm>
        </p:grpSpPr>
        <p:sp>
          <p:nvSpPr>
            <p:cNvPr id="13" name="Freeform 13"/>
            <p:cNvSpPr/>
            <p:nvPr/>
          </p:nvSpPr>
          <p:spPr>
            <a:xfrm>
              <a:off x="609600" y="2381250"/>
              <a:ext cx="10972800" cy="1600200"/>
            </a:xfrm>
            <a:prstGeom prst="frame">
              <a:avLst>
                <a:gd name="adj1" fmla="val 2000"/>
              </a:avLst>
            </a:prstGeom>
            <a:solidFill>
              <a:schemeClr val="accent6"/>
            </a:solidFill>
            <a:ln>
              <a:noFill/>
            </a:ln>
          </p:spPr>
        </p:sp>
        <p:sp>
          <p:nvSpPr>
            <p:cNvPr id="14" name="TextBox 14"/>
            <p:cNvSpPr txBox="1"/>
            <p:nvPr/>
          </p:nvSpPr>
          <p:spPr>
            <a:xfrm>
              <a:off x="905256" y="2663190"/>
              <a:ext cx="6303965"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《中华人民共和国 2025 年国民经济和社会发展统计公报》</a:t>
              </a:r>
            </a:p>
          </p:txBody>
        </p:sp>
        <p:sp>
          <p:nvSpPr>
            <p:cNvPr id="15" name="TextBox 15"/>
            <p:cNvSpPr txBox="1"/>
            <p:nvPr/>
          </p:nvSpPr>
          <p:spPr>
            <a:xfrm>
              <a:off x="906780" y="3095625"/>
              <a:ext cx="3347085"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国家统计局 · 2026 年 2 月 28 日发布</a:t>
              </a:r>
            </a:p>
          </p:txBody>
        </p:sp>
        <p:sp>
          <p:nvSpPr>
            <p:cNvPr id="16" name="TextBox 16"/>
            <p:cNvSpPr txBox="1"/>
            <p:nvPr/>
          </p:nvSpPr>
          <p:spPr>
            <a:xfrm>
              <a:off x="906780" y="3552825"/>
              <a:ext cx="8253984" cy="293370"/>
            </a:xfrm>
            <a:prstGeom prst="rect">
              <a:avLst/>
            </a:prstGeom>
            <a:noFill/>
            <a:ln>
              <a:noFill/>
            </a:ln>
          </p:spPr>
          <p:txBody>
            <a:bodyPr wrap="none" lIns="0" tIns="0" rIns="0" bIns="0" anchor="t" anchorCtr="0">
              <a:spAutoFit/>
            </a:bodyPr>
            <a:lstStyle/>
            <a:p>
              <a:pPr algn="l"/>
              <a:r>
                <a:rPr lang="zh-CN" sz="1500" dirty="0">
                  <a:solidFill>
                    <a:schemeClr val="accent5"/>
                  </a:solidFill>
                  <a:latin typeface="+mn-lt"/>
                  <a:ea typeface="+mn-ea"/>
                  <a:cs typeface="+mn-cs"/>
                </a:rPr>
                <a:t>原文链接：</a:t>
              </a:r>
              <a:r>
                <a:rPr lang="zh-CN" sz="1500" u="sng" dirty="0">
                  <a:solidFill>
                    <a:schemeClr val="accent2"/>
                  </a:solidFill>
                  <a:latin typeface="+mn-lt"/>
                  <a:ea typeface="+mn-ea"/>
                  <a:cs typeface="+mn-cs"/>
                  <a:hlinkClick r:id="rId2"/>
                </a:rPr>
                <a:t>https://www.stats.gov.cn/sj/zxfbhjd/202602/t20260228_1962662.html</a:t>
              </a:r>
            </a:p>
          </p:txBody>
        </p:sp>
      </p:grpSp>
      <p:grpSp>
        <p:nvGrpSpPr>
          <p:cNvPr id="23" name="Group 23"/>
          <p:cNvGrpSpPr/>
          <p:nvPr/>
        </p:nvGrpSpPr>
        <p:grpSpPr>
          <a:xfrm>
            <a:off x="601980" y="4324350"/>
            <a:ext cx="10980420" cy="1604201"/>
            <a:chOff x="601980" y="4324350"/>
            <a:chExt cx="10980420" cy="1604201"/>
          </a:xfrm>
        </p:grpSpPr>
        <p:sp>
          <p:nvSpPr>
            <p:cNvPr id="18" name="Line 18"/>
            <p:cNvSpPr/>
            <p:nvPr/>
          </p:nvSpPr>
          <p:spPr>
            <a:xfrm>
              <a:off x="609600" y="43243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9" name="TextBox 19"/>
            <p:cNvSpPr txBox="1"/>
            <p:nvPr/>
          </p:nvSpPr>
          <p:spPr>
            <a:xfrm>
              <a:off x="601980" y="4505325"/>
              <a:ext cx="3649980"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口径一：本公报中数据均为初步统计数。</a:t>
              </a:r>
            </a:p>
          </p:txBody>
        </p:sp>
        <p:sp>
          <p:nvSpPr>
            <p:cNvPr id="20" name="TextBox 20"/>
            <p:cNvSpPr txBox="1"/>
            <p:nvPr/>
          </p:nvSpPr>
          <p:spPr>
            <a:xfrm>
              <a:off x="601980" y="4886325"/>
              <a:ext cx="6880860"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口径二：各项统计数据均未包括香港特别行政区、澳门特别行政区和台湾省。</a:t>
              </a:r>
            </a:p>
          </p:txBody>
        </p:sp>
        <p:sp>
          <p:nvSpPr>
            <p:cNvPr id="21" name="TextBox 21"/>
            <p:cNvSpPr txBox="1"/>
            <p:nvPr/>
          </p:nvSpPr>
          <p:spPr>
            <a:xfrm>
              <a:off x="601980" y="5267325"/>
              <a:ext cx="6477000"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口径三：部分数据因四舍五入的原因，存在总计与分项合计不等的情况。</a:t>
              </a:r>
            </a:p>
          </p:txBody>
        </p:sp>
        <p:sp>
          <p:nvSpPr>
            <p:cNvPr id="22" name="TextBox 22"/>
            <p:cNvSpPr txBox="1"/>
            <p:nvPr/>
          </p:nvSpPr>
          <p:spPr>
            <a:xfrm>
              <a:off x="602742" y="5664518"/>
              <a:ext cx="7905902"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本简报只引用公报原文数值，不作换算与推算；公报未给出的量已在相应页面标注 NO DATA。</a:t>
              </a:r>
            </a:p>
          </p:txBody>
        </p:sp>
      </p:grpSp>
      <p:grpSp>
        <p:nvGrpSpPr>
          <p:cNvPr id="27" name="Group 27"/>
          <p:cNvGrpSpPr/>
          <p:nvPr/>
        </p:nvGrpSpPr>
        <p:grpSpPr>
          <a:xfrm>
            <a:off x="603504" y="6172200"/>
            <a:ext cx="10984992" cy="371856"/>
            <a:chOff x="603504" y="6172200"/>
            <a:chExt cx="10984992" cy="371856"/>
          </a:xfrm>
        </p:grpSpPr>
        <p:sp>
          <p:nvSpPr>
            <p:cNvPr id="24" name="Line 24"/>
            <p:cNvSpPr/>
            <p:nvPr/>
          </p:nvSpPr>
          <p:spPr>
            <a:xfrm>
              <a:off x="609600" y="61722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25" name="TextBox 25"/>
            <p:cNvSpPr txBox="1"/>
            <p:nvPr/>
          </p:nvSpPr>
          <p:spPr>
            <a:xfrm>
              <a:off x="603504" y="6309360"/>
              <a:ext cx="5690464"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来源：国家统计局《2025 年国民经济和社会发展统计公报》注释[1]；资料来源</a:t>
              </a:r>
            </a:p>
          </p:txBody>
        </p:sp>
        <p:sp>
          <p:nvSpPr>
            <p:cNvPr id="26" name="TextBox 26"/>
            <p:cNvSpPr txBox="1"/>
            <p:nvPr/>
          </p:nvSpPr>
          <p:spPr>
            <a:xfrm>
              <a:off x="11398606" y="6309360"/>
              <a:ext cx="189890"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17</a:t>
              </a:r>
            </a:p>
          </p:txBody>
        </p:sp>
      </p:grpSp>
    </p:spTree>
  </p:cSld>
  <p:clrMapOvr>
    <a:masterClrMapping/>
  </p:clrMapOvr>
  <mc:AlternateContent>
    <mc:Choice Requires="p159">
      <p:transition p14:dur="8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600"/>
                                        <p:tgtEl>
                                          <p:spTgt spid="17"/>
                                        </p:tgtEl>
                                      </p:cBhvr>
                                    </p:animEffect>
                                  </p:childTnLst>
                                </p:cTn>
                              </p:par>
                            </p:childTnLst>
                          </p:cTn>
                        </p:par>
                        <p:par>
                          <p:cTn id="8" fill="hold">
                            <p:stCondLst>
                              <p:cond delay="600"/>
                            </p:stCondLst>
                            <p:childTnLst>
                              <p:par>
                                <p:cTn id="9" presetID="10" presetClass="entr" presetSubtype="0" fill="hold" grpId="0" nodeType="afterEffect">
                                  <p:stCondLst>
                                    <p:cond delay="500"/>
                                  </p:stCondLst>
                                  <p:childTnLst>
                                    <p:set>
                                      <p:cBhvr>
                                        <p:cTn id="10" dur="1" fill="hold">
                                          <p:stCondLst>
                                            <p:cond delay="0"/>
                                          </p:stCondLst>
                                        </p:cTn>
                                        <p:tgtEl>
                                          <p:spTgt spid="23"/>
                                        </p:tgtEl>
                                        <p:attrNameLst>
                                          <p:attrName>style.visibility</p:attrName>
                                        </p:attrNameLst>
                                      </p:cBhvr>
                                      <p:to>
                                        <p:strVal val="visible"/>
                                      </p:to>
                                    </p:set>
                                    <p:animEffect transition="in" filter="fade">
                                      <p:cBhvr>
                                        <p:cTn id="11"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ppt169_china_economy_2025_briefing">
  <a:themeElements>
    <a:clrScheme name="ppt169_china_economy_2025_briefing">
      <a:dk1>
        <a:srgbClr val="1F2A30"/>
      </a:dk1>
      <a:lt1>
        <a:srgbClr val="F4F1EA"/>
      </a:lt1>
      <a:dk2>
        <a:srgbClr val="1F497D"/>
      </a:dk2>
      <a:lt2>
        <a:srgbClr val="FFFFFF"/>
      </a:lt2>
      <a:accent1>
        <a:srgbClr val="123B57"/>
      </a:accent1>
      <a:accent2>
        <a:srgbClr val="C0392B"/>
      </a:accent2>
      <a:accent3>
        <a:srgbClr val="2E6F4E"/>
      </a:accent3>
      <a:accent4>
        <a:srgbClr val="123B57"/>
      </a:accent4>
      <a:accent5>
        <a:srgbClr val="5F6B72"/>
      </a:accent5>
      <a:accent6>
        <a:srgbClr val="CFC7B8"/>
      </a:accent6>
      <a:hlink>
        <a:srgbClr val="C0392B"/>
      </a:hlink>
      <a:folHlink>
        <a:srgbClr val="2E6F4E"/>
      </a:folHlink>
    </a:clrScheme>
    <a:fontScheme name="ppt169_china_economy_2025_briefing">
      <a:majorFont>
        <a:latin typeface="SimSun"/>
        <a:ea typeface="SimSun"/>
        <a:cs typeface="SimSun"/>
        <a:font script="Jpan" typeface="SimSun"/>
        <a:font script="Hang" typeface="SimSun"/>
        <a:font script="Hans" typeface="SimSun"/>
        <a:font script="Hant" typeface="SimSu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Microsoft YaHei"/>
        <a:ea typeface="Microsoft YaHei"/>
        <a:cs typeface="Microsoft YaHei"/>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pt169_china_economy_2025_briefing">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ppt169_china_economy_2025_briefing">
  <a:themeElements>
    <a:clrScheme name="ppt169_china_economy_2025_briefing">
      <a:dk1>
        <a:srgbClr val="1F2A30"/>
      </a:dk1>
      <a:lt1>
        <a:srgbClr val="F4F1EA"/>
      </a:lt1>
      <a:dk2>
        <a:srgbClr val="1F497D"/>
      </a:dk2>
      <a:lt2>
        <a:srgbClr val="FFFFFF"/>
      </a:lt2>
      <a:accent1>
        <a:srgbClr val="123B57"/>
      </a:accent1>
      <a:accent2>
        <a:srgbClr val="C0392B"/>
      </a:accent2>
      <a:accent3>
        <a:srgbClr val="2E6F4E"/>
      </a:accent3>
      <a:accent4>
        <a:srgbClr val="123B57"/>
      </a:accent4>
      <a:accent5>
        <a:srgbClr val="5F6B72"/>
      </a:accent5>
      <a:accent6>
        <a:srgbClr val="CFC7B8"/>
      </a:accent6>
      <a:hlink>
        <a:srgbClr val="C0392B"/>
      </a:hlink>
      <a:folHlink>
        <a:srgbClr val="2E6F4E"/>
      </a:folHlink>
    </a:clrScheme>
    <a:fontScheme name="ppt169_china_economy_2025_briefing">
      <a:majorFont>
        <a:latin typeface="SimSun"/>
        <a:ea typeface="SimSun"/>
        <a:cs typeface="SimSun"/>
        <a:font script="Jpan" typeface="SimSun"/>
        <a:font script="Hang" typeface="SimSun"/>
        <a:font script="Hans" typeface="SimSun"/>
        <a:font script="Hant" typeface="SimSu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Microsoft YaHei"/>
        <a:ea typeface="Microsoft YaHei"/>
        <a:cs typeface="Microsoft YaHei"/>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pt169_china_economy_2025_briefing">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17</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zh-CN</dc:language>
  <cp:lastModifiedBy/>
  <cp:revision>1</cp:revision>
  <dcterms:created xsi:type="dcterms:W3CDTF">2026-09-04T03:26:51Z</dcterms:created>
  <dcterms:modified xsi:type="dcterms:W3CDTF">2026-09-04T03:26:51Z</dcterms:modified>
  <cp:category/>
  <cp:contentStatus/>
</cp:coreProperties>
</file>