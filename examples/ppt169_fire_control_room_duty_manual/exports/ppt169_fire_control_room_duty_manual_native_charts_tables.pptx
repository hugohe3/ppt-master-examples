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3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charts/_rels/chart301.xml.rels><?xml version="1.0" encoding="UTF-8" standalone="yes"?>
<Relationships xmlns="http://schemas.openxmlformats.org/package/2006/relationships">
<Relationship Id="rId1" Type="http://schemas.openxmlformats.org/officeDocument/2006/relationships/package" Target="../embeddings/Microsoft_Excel_Sheet301.xlsx"/>
</Relationships>
</file>

<file path=ppt/charts/chart3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32352941176"/>
          <c:y val="0.0820512820513"/>
          <c:w val="0.845588235294"/>
          <c:h val="0.74358974359"/>
        </c:manualLayout>
      </c:layout>
      <c:barChart>
        <c:barDir val="col"/>
        <c:grouping val="clustered"/>
        <c:varyColors val="0"/>
        <c:ser>
          <c:idx val="0"/>
          <c:order val="0"/>
          <c:tx>
            <c:strRef>
              <c:f>Sheet1!$B$1</c:f>
              <c:strCache>
                <c:ptCount val="1"/>
                <c:pt idx="0">
                  <c:v>火灾起数占比</c:v>
                </c:pt>
              </c:strCache>
            </c:strRef>
          </c:tx>
          <c:spPr>
            <a:solidFill>
              <a:schemeClr val="accent1"/>
            </a:solidFill>
            <a:ln>
              <a:solidFill>
                <a:schemeClr val="accent1"/>
              </a:solidFill>
            </a:ln>
          </c:spPr>
          <c:invertIfNegative val="0"/>
          <c:cat>
            <c:strRef>
              <c:f>Sheet1!$A$2:$A$3</c:f>
              <c:strCache>
                <c:ptCount val="2"/>
                <c:pt idx="0">
                  <c:v>0—6 时</c:v>
                </c:pt>
                <c:pt idx="1">
                  <c:v>10—20 时</c:v>
                </c:pt>
              </c:strCache>
            </c:strRef>
          </c:cat>
          <c:val>
            <c:numRef>
              <c:f>Sheet1!$B$2:$B$3</c:f>
              <c:numCache>
                <c:formatCode>General</c:formatCode>
                <c:ptCount val="2"/>
                <c:pt idx="0">
                  <c:v>10.3</c:v>
                </c:pt>
                <c:pt idx="1">
                  <c:v>61.4</c:v>
                </c:pt>
              </c:numCache>
            </c:numRef>
          </c:val>
        </c:ser>
        <c:ser>
          <c:idx val="1"/>
          <c:order val="1"/>
          <c:tx>
            <c:strRef>
              <c:f>Sheet1!$C$1</c:f>
              <c:strCache>
                <c:ptCount val="1"/>
                <c:pt idx="0">
                  <c:v>亡人数占比</c:v>
                </c:pt>
              </c:strCache>
            </c:strRef>
          </c:tx>
          <c:spPr>
            <a:solidFill>
              <a:schemeClr val="accent3"/>
            </a:solidFill>
            <a:ln>
              <a:solidFill>
                <a:schemeClr val="accent3"/>
              </a:solidFill>
            </a:ln>
          </c:spPr>
          <c:invertIfNegative val="0"/>
          <c:cat>
            <c:strRef>
              <c:f>Sheet1!$A$2:$A$3</c:f>
              <c:strCache>
                <c:ptCount val="2"/>
                <c:pt idx="0">
                  <c:v>0—6 时</c:v>
                </c:pt>
                <c:pt idx="1">
                  <c:v>10—20 时</c:v>
                </c:pt>
              </c:strCache>
            </c:strRef>
          </c:cat>
          <c:val>
            <c:numRef>
              <c:f>Sheet1!$C$2:$C$3</c:f>
              <c:numCache>
                <c:formatCode>General</c:formatCode>
                <c:ptCount val="2"/>
                <c:pt idx="0">
                  <c:v>31.3</c:v>
                </c:pt>
                <c:pt idx="1">
                  <c:v>37.4</c:v>
                </c:pt>
              </c:numCache>
            </c:numRef>
          </c:val>
        </c:ser>
        <c:dLbls>
          <c:numFmt formatCode="0.0&quot;%&quot;" sourceLinked="0"/>
          <c:txPr>
            <a:bodyPr/>
            <a:lstStyle/>
            <a:p>
              <a:pPr>
                <a:defRPr lang="zh-CN" sz="1650">
                  <a:solidFill>
                    <a:srgbClr val="DCE6F0"/>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114"/>
        <c:overlap val="-14"/>
        <c:axId val="2068027336"/>
        <c:axId val="2113994440"/>
      </c:barChart>
      <c:catAx>
        <c:axId val="2068027336"/>
        <c:scaling>
          <c:orientation val="minMax"/>
        </c:scaling>
        <c:delete val="0"/>
        <c:axPos val="b"/>
        <c:majorTickMark val="none"/>
        <c:minorTickMark val="none"/>
        <c:tickLblPos val="nextTo"/>
        <c:spPr>
          <a:ln w="9525" cap="flat" cmpd="sng" algn="ctr">
            <a:solidFill>
              <a:srgbClr val="2A3F5C"/>
            </a:solidFill>
            <a:round/>
          </a:ln>
        </c:spPr>
        <c:txPr>
          <a:bodyPr/>
          <a:lstStyle/>
          <a:p>
            <a:pPr>
              <a:defRPr lang="zh-CN" sz="1350">
                <a:solidFill>
                  <a:srgbClr val="8FA3BC"/>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70"/>
          <c:min val="0"/>
        </c:scaling>
        <c:delete val="0"/>
        <c:axPos val="l"/>
        <c:majorGridlines>
          <c:spPr>
            <a:ln w="6350" cap="flat" cmpd="sng" algn="ctr">
              <a:solidFill>
                <a:srgbClr val="1C2E49"/>
              </a:solidFill>
              <a:round/>
            </a:ln>
          </c:spPr>
        </c:majorGridlines>
        <c:title>
          <c:tx>
            <c:rich>
              <a:bodyPr/>
              <a:lstStyle/>
              <a:p>
                <a:pPr/>
                <a:r>
                  <a:rPr lang="zh-CN" sz="1350">
                    <a:solidFill>
                      <a:srgbClr val="8FA3BC"/>
                    </a:solidFill>
                    <a:latin typeface="Arial"/>
                    <a:ea typeface="Microsoft YaHei"/>
                    <a:cs typeface="Arial"/>
                  </a:rPr>
                  <a:t>占全年总量的百分比</a:t>
                </a:r>
              </a:p>
            </c:rich>
          </c:tx>
          <c:layout/>
          <c:overlay val="0"/>
        </c:title>
        <c:majorTickMark val="none"/>
        <c:minorTickMark val="none"/>
        <c:tickLblPos val="nextTo"/>
        <c:spPr>
          <a:ln w="9525" cap="flat" cmpd="sng" algn="ctr">
            <a:solidFill>
              <a:srgbClr val="2A3F5C"/>
            </a:solidFill>
            <a:round/>
          </a:ln>
        </c:spPr>
        <c:txPr>
          <a:bodyPr/>
          <a:lstStyle/>
          <a:p>
            <a:pPr>
              <a:defRPr lang="zh-CN" sz="1350">
                <a:solidFill>
                  <a:srgbClr val="8FA3BC"/>
                </a:solidFill>
                <a:latin typeface="Arial"/>
                <a:ea typeface="Microsoft YaHei"/>
                <a:cs typeface="Arial"/>
              </a:defRPr>
            </a:pPr>
            <a:endParaRPr lang="zh-CN"/>
          </a:p>
        </c:txPr>
        <c:crossAx val="2068027336"/>
        <c:crosses val="autoZero"/>
        <c:crossBetween val="between"/>
        <c:majorUnit val="20"/>
      </c:valAx>
      <c:spPr>
        <a:noFill/>
        <a:ln>
          <a:noFill/>
        </a:ln>
      </c:spPr>
    </c:plotArea>
    <c:legend>
      <c:legendPos val="t"/>
      <c:layout/>
      <c:overlay val="0"/>
      <c:txPr>
        <a:bodyPr/>
        <a:lstStyle/>
        <a:p>
          <a:pPr>
            <a:defRPr lang="zh-CN" sz="1350">
              <a:solidFill>
                <a:srgbClr val="8FA3BC"/>
              </a:solidFill>
              <a:latin typeface="Arial"/>
              <a:ea typeface="Microsoft YaHei"/>
              <a:cs typeface="Arial"/>
            </a:defRPr>
          </a:pPr>
          <a:endParaRPr lang="zh-CN"/>
        </a:p>
      </c:txPr>
    </c:legend>
    <c:plotVisOnly val="1"/>
    <c:dispBlanksAs val="gap"/>
  </c:chart>
  <c:spPr>
    <a:noFill/>
    <a:ln>
      <a:noFill/>
    </a:ln>
  </c:spPr>
  <c:txPr>
    <a:bodyPr/>
    <a:lstStyle/>
    <a:p>
      <a:pPr>
        <a:defRPr lang="zh-CN" sz="1350">
          <a:solidFill>
            <a:srgbClr val="8FA3BC"/>
          </a:solidFill>
          <a:latin typeface="Arial"/>
          <a:ea typeface="Microsoft YaHei"/>
          <a:cs typeface="Arial"/>
        </a:defRPr>
      </a:pPr>
      <a:endParaRPr lang="zh-CN"/>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把今天这堂课的判断句摆在最前面:接到信号那一刻,你已经在某一级上。很多新上岗的同志把值班理解成盯屏幕、别睡着,这句话要在今天被换掉。值班真正要做的,是把每一个报警信号推进到一个明确的级别,然后在那一级上执行唯一正确的动作。今天的全部内容都挂在这条轴上,依据来自《消防控制室通用技术要求》、《中华人民共和国消防法》和国家职业标准《消防设施操作员》。</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说为什么这堂课值得重讲。二零二四年,全国消防救援队伍共接报火灾九十点八万起,亡两千零一人,伤两千六百六十五人,直接财产损失七十七点四亿元,另有较大火灾七十起、重大火灾三起。这些数字来自国家消防救援局二零二五年一月发布的年度火灾情况。真正要记住的是下面这句翻转:凌晨零时到六时的火灾只占全年起数的百分之十点三,亡人数却占到百分之三十一点三。也就是说,夜班的一次确认,和白班的一次确认,权重不一样。</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图把刚才那句翻转画了出来。横轴是两个时段,纵轴是占全年总量的百分比,蓝色是火灾起数占比,橙色是亡人数占比。白天十时到二十时,起数占到百分之六十一点四,亡人占百分之三十七点四,两根柱子的高度差不太大;而凌晨零时到六时,起数只有百分之十点三,亡人却是百分之三十一点三,两根柱子完全倒过来。这里请注意,占比背离说明的是处置问题,不是探测问题——它指向报警到处置之间的那段时间差,而不是夜里探测器更容易失灵。这句因果是本手册的整理,不是统计口径里的结论。人手最少的时段,正是这段时间差最容易被拉长的时段,而压缩它的人就坐在消防控制室里。</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进入第一节。这一节不讲规则,先讲机制。顺序是有意的:先弄清信号从哪里来,再谈接到信号该怎么办。两个问题——消防控制室里到底有哪七类设备,以及信息在十秒和一百秒之间是怎么走的。把这两件事讲清楚,后面每一条值班规则都能自己推出来。</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消防控制室通用技术要求》第三点一条列了七类设备:火灾报警控制器、消防联动控制器、消防控制室图形显示装置、消防电话总机、消防应急广播控制装置、消防应急照明和疏散指示系统控制装置,以及消防电源监控器。请注意中间那一项,图形显示装置——第三点二条要求这些设备能监控并显示建筑消防设施的运行状态信息,并且具有向城市消防远程监控中心传输的功能。所以你操作的不是七台孤立的设备,而是一个状态必须可见、可控、可外传的汇聚点。第三点三条还要求室内保存第四点一条规定的资料和附录 B 的消防安全管理信息。结论很直接:任何一类设备离线,你的工作面就少一块。</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标准给了非常具体的秒数。第五点一条第五款要求,图形显示装置应在十秒内显示输入的火灾报警信号和反馈信号,一百秒内显示其他输入信号。第七点一条和第七点二条要求,接收到火灾报警或联动信号后十秒内、接收到运行状态信息后一百秒内,把信息传送给监控中心。第七点六条还规定,火灾报警信息应优先于其他信息传输。右边这张线图是信号的完整路径:探测器和手动报警按钮把信号送进火灾报警控制器,再到消防联动控制器和受控设备,同时有一条支路上传到远程监控中心。另外第六点一条到第六点三条要求三类记录的容量都不少于一万条,记录备份后才可以被覆盖。把这几条放在一起看,有一句话要带走:设备侧的几十秒是标准给出来的,人为侧的几分钟,是自己丢的。</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给出贯穿全课的判断轴。要先说清楚,这个四级分级是本手册的整理,条文本身只区分接到警报、确认、以及确认为火灾之后三个状态。第零级待确认,信号已经到了,性质还没定,时间开始计时;第一级非火警,核实结果是误报或者非火灾报警,时间压力解除,但记录义务不解除;第二级确认火警,代价最高,三项动作同时启动,而且动作不可撤销;第三级移交与记录,指挥权交给到场力量,记录和归档收尾。随着级别上升,有两项代价同步上升:一是可用时间越来越紧,二是动作的不可撤销性越来越高。右下角这张对照表列出了每一级对应的条文,记不住级别名字没关系,记住"先定级、再动作"这个顺序就行。</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零级,待确认。标准在第四点二点二条第一款只给了一个动作:接到火灾警报后,值班人员应立即以最快方式确认。左边是该做的:一人到现场核实,一人留守工作面;核实前不消音、不复位;记录接报时间和报警部位。每班不少于两人的编制,正是为了让这两件事能同时发生。右边是不该做的:先凭经验判断是不是那个常报的点位,先消音让声音停下来,先复位再补一句没事,或者查完历史记录再决定去不去。这四种做法的共同点是用解释替代了到现场看一眼。还要补一句,标准没有给出"最快方式"的具体秒数,这个本地上限要由单位制度写死,这一条是整理,不是条文。</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级,非火警。核实结果是误报,可以复位,但不可以不留痕。第四点一条第五款要求控制室保存值班情况、消防安全检查情况和巡查情况的记录;第五款之外,第八款还要求设备运行状况、接报警记录、火灾处理情况和设备检修检测报告能够定期保存和归档。国家职业标准把"能填写消防控制室值班记录表"列为五级初级工的技能要求。降级只解除时间压力,不解除记录义务,误报的价值全部在记录里。再加一条整理出来的判断:同一个点位反复误报,应该转为检修申报,而不是继续复位。另外,消防安全重点单位还要按《消防法》第十七条实行每日防火巡查并建立巡查记录。</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级,确认火警。这一页要纠正一个常见误解:三个动作不是排队,而是同时开始。第四点二点二条第二款和第三款是这么写的——火灾确认后,值班人员应立即确认火灾报警联动控制开关处于自动状态,同时拨打一一九报警;并且应立即启动单位内部应急疏散和灭火预案,同时报告单位负责人。三个动作,条文用的都是"立即"和"同时"。晚一步的代价各不相同:联动开关晚一步,联动就要靠人手一台一台补回来;报警电话晚一步,消防车到场时间整体后移;预案晚一步,疏散就错过最有利的那段时间。这一页依赖的机制页是讲优先级和时限的那一页。</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刚才第二步展开。拨打一一九的时候,第四点二点二条第二款要求说满五件事:着火单位地址、起火部位、着火物种类、火势大小,以及报警人姓名和联系电话。这五项是条文写死的,不是话术建议。实际当中最容易漏掉的是第五项,而它恰恰决定接警方能不能回拨核实——这句是整理。漏一项的直接后果就是被补问一轮,而补问一轮就是多花一轮时间。</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进入第二节。机制讲完了,判断轴也有了,这一节把它们落到两张能签字的表上:交接班检查表,每班岗位与人数表,最后加一个必须避开的反例。判断轴的价值不在于记住,而在于交接班的时候能被逐项核对。</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交接班清单有七行,每一行都对应一条会在夜里付出代价的条款。值班人数与证件,要求在岗两人且都持证,来自第四点二点一条第一款;联动控制开关,要求应处于自动状态的设备一台都没有被置于手动,来自第一款之后的第三款;消防储水设施、管道阀门、配电柜启动开关三项都来自第四款,分别对应水量充足、阀门常开、启动开关在自动位置;图形显示装置一行对应第五点一条第六款的中文界面要求和第六章的记录容量要求;最后一行是上一班的未闭环事项。最右边那一列写的是每一项挡住的风险,这一列是本手册的整理,不是条文原文。清单不是用来留痕的,是用来在接班的头十分钟里把七种已知失败挡在外面。</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每班两人,是标准写死的下限,不是编制建议。第四点二点一条第一款要求实行每日二十四小时专人值班制度,每班不应少于两人,值班人员应持有消防控制室操作职业资格证书。更重要的是,这两个人不做同一件事:一个留守工作面,负责按值班应急程序处置火警信息、对外报警与报告;一个负责到现场核实并回传结果。为什么必须拆开,前面第零级那一页已经给了理由——要求立即到现场核实,而工作面不能空,一人外出、一人留守是唯一解。需要说明的是,岗位名称和这样的分工是本手册的整理,标准只规定了人数和资格。证书这一侧,国家职业标准《消防设施操作员》的职业编码是四零七零五零三,设五级初级工到一级高级技师五个等级,其中"能按照消防控制室值班应急程序处置火警信息"是五级初级工的核心技能。</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反例,左边这条指示条整条变成了警示色,表示内容离开了判断轴。常见做法是:为了避免误喷、误动作,把应处于自动状态的联动控制设备长期置于手动。它同时废掉了两条我们刚讲过的机制。第一条,标准给的十秒和一百秒只覆盖信号侧,手动状态下受控设备的启动完全落在人身上;第二条,凌晨零时到六时亡人占比百分之三十一点三,而那正是人手最少的时段。条文层面,第四点二点一条第三款明确规定,不得将应处于自动状态的设备设在手动状态。法律层面,《消防法》第六十条规定,消防设施未保持完好有效,或者损坏、挪用、擅自拆除、停用的,责令改正,处五千元以上五万元以下罚款。替代做法是整理出来的:临时转手动必须在值班记录里写明原因与恢复人,并且在本班内恢复自动位。</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把规则折回机制。每班两人持证走回人员配置那一页;接警后立即核实走回第零级和时限那两页;误报留痕走回第一级和设备构成那两页;三动作同时开始走回第二级;五个要素走回报警展开那一页;禁止把该自动的设成手动走回反例和时限那两页。被反复回溯的只有两页——讲时限额度的那一页,和讲工作面构成的那一页,这两页是整门课的地基。右边四个出处都可以点开核验:标准全文、国家职业标准、消防法条文,以及年度火灾统计的发布稿。手册可以合上,轴不能丢。接到信号那一刻,先定级,再动作。</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fire_control_room_duty_manu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fire_control_room_duty_manual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73150aaa080a6b2.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301.xml"/>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9aea8b6ea35c63.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97eb99eea2ef54d.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5992924eaa84cff.jp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9a55a6ac68603bd.jp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js.119.gov.cn/group1/M00/00/86/rBPe7WOQFC-ADUCxACEPrA_OX9w654.pdf" TargetMode="External"/>
  <Relationship Id="rId3" Type="http://schemas.openxmlformats.org/officeDocument/2006/relationships/hyperlink" Target="https://www.119.gov.cn/images/zfxxgk/fdzdgknr/zcfg/2026/05/10/1778399688277005154.pdf" TargetMode="External"/>
  <Relationship Id="rId4" Type="http://schemas.openxmlformats.org/officeDocument/2006/relationships/hyperlink" Target="http://www.npc.gov.cn/npc/c2/c183/c198/201905/t20190522_73607.html" TargetMode="External"/>
  <Relationship Id="rId5" Type="http://schemas.openxmlformats.org/officeDocument/2006/relationships/hyperlink" Target="https://news.cctv.com/2025/01/24/ARTIzxLWxFYy5ewOGCrrZPKV250124.shtml" TargetMode="External"/>
  <Relationship Id="rId6"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416" t="0" r="417" b="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A1422">
                  <a:alpha val="90000"/>
                </a:srgbClr>
              </a:gs>
              <a:gs pos="58000">
                <a:srgbClr val="0A1422">
                  <a:alpha val="66000"/>
                </a:srgbClr>
              </a:gs>
              <a:gs pos="100000">
                <a:srgbClr val="0A1422">
                  <a:alpha val="22000"/>
                </a:srgbClr>
              </a:gs>
            </a:gsLst>
            <a:lin ang="0" scaled="1"/>
          </a:gradFill>
          <a:ln>
            <a:noFill/>
          </a:ln>
        </p:spPr>
      </p:sp>
      <p:grpSp>
        <p:nvGrpSpPr>
          <p:cNvPr id="8" name="Group 8"/>
          <p:cNvGrpSpPr/>
          <p:nvPr/>
        </p:nvGrpSpPr>
        <p:grpSpPr>
          <a:xfrm>
            <a:off x="457200" y="533400"/>
            <a:ext cx="114300" cy="5715000"/>
            <a:chOff x="457200" y="533400"/>
            <a:chExt cx="114300" cy="5715000"/>
          </a:xfrm>
        </p:grpSpPr>
        <p:sp>
          <p:nvSpPr>
            <p:cNvPr id="4" name="Rectangle 4"/>
            <p:cNvSpPr/>
            <p:nvPr/>
          </p:nvSpPr>
          <p:spPr>
            <a:xfrm>
              <a:off x="457200" y="533400"/>
              <a:ext cx="114300" cy="1371600"/>
            </a:xfrm>
            <a:prstGeom prst="rect">
              <a:avLst/>
            </a:prstGeom>
            <a:solidFill>
              <a:schemeClr val="accent6"/>
            </a:solidFill>
            <a:ln>
              <a:noFill/>
            </a:ln>
          </p:spPr>
        </p:sp>
        <p:sp>
          <p:nvSpPr>
            <p:cNvPr id="5" name="Rectangle 5"/>
            <p:cNvSpPr/>
            <p:nvPr/>
          </p:nvSpPr>
          <p:spPr>
            <a:xfrm>
              <a:off x="457200" y="1981200"/>
              <a:ext cx="114300" cy="1371600"/>
            </a:xfrm>
            <a:prstGeom prst="rect">
              <a:avLst/>
            </a:prstGeom>
            <a:solidFill>
              <a:schemeClr val="accent6"/>
            </a:solidFill>
            <a:ln>
              <a:noFill/>
            </a:ln>
          </p:spPr>
        </p:sp>
        <p:sp>
          <p:nvSpPr>
            <p:cNvPr id="6" name="Rectangle 6"/>
            <p:cNvSpPr/>
            <p:nvPr/>
          </p:nvSpPr>
          <p:spPr>
            <a:xfrm>
              <a:off x="457200" y="3429000"/>
              <a:ext cx="114300" cy="1371600"/>
            </a:xfrm>
            <a:prstGeom prst="rect">
              <a:avLst/>
            </a:prstGeom>
            <a:solidFill>
              <a:schemeClr val="accent6"/>
            </a:solidFill>
            <a:ln>
              <a:noFill/>
            </a:ln>
          </p:spPr>
        </p:sp>
        <p:sp>
          <p:nvSpPr>
            <p:cNvPr id="7" name="Rectangle 7"/>
            <p:cNvSpPr/>
            <p:nvPr/>
          </p:nvSpPr>
          <p:spPr>
            <a:xfrm>
              <a:off x="457200" y="4876800"/>
              <a:ext cx="114300" cy="1371600"/>
            </a:xfrm>
            <a:prstGeom prst="rect">
              <a:avLst/>
            </a:prstGeom>
            <a:solidFill>
              <a:schemeClr val="accent6"/>
            </a:solidFill>
            <a:ln>
              <a:noFill/>
            </a:ln>
          </p:spPr>
        </p:sp>
      </p:grpSp>
      <p:grpSp>
        <p:nvGrpSpPr>
          <p:cNvPr id="10" name="Group 10"/>
          <p:cNvGrpSpPr/>
          <p:nvPr/>
        </p:nvGrpSpPr>
        <p:grpSpPr>
          <a:xfrm>
            <a:off x="907542" y="1721168"/>
            <a:ext cx="2964390" cy="264033"/>
            <a:chOff x="907542" y="1721168"/>
            <a:chExt cx="2964390" cy="264033"/>
          </a:xfrm>
        </p:grpSpPr>
        <p:sp>
          <p:nvSpPr>
            <p:cNvPr id="9" name="TextBox 9"/>
            <p:cNvSpPr txBox="1"/>
            <p:nvPr/>
          </p:nvSpPr>
          <p:spPr>
            <a:xfrm>
              <a:off x="907542" y="1721168"/>
              <a:ext cx="2964390" cy="264033"/>
            </a:xfrm>
            <a:prstGeom prst="rect">
              <a:avLst/>
            </a:prstGeom>
            <a:noFill/>
            <a:ln>
              <a:noFill/>
            </a:ln>
          </p:spPr>
          <p:txBody>
            <a:bodyPr wrap="none" lIns="0" tIns="0" rIns="0" bIns="0" anchor="t" anchorCtr="0">
              <a:spAutoFit/>
            </a:bodyPr>
            <a:lstStyle/>
            <a:p>
              <a:pPr algn="l"/>
              <a:r>
                <a:rPr lang="zh-CN" sz="1350" spc="300" dirty="0">
                  <a:solidFill>
                    <a:schemeClr val="accent1"/>
                  </a:solidFill>
                  <a:latin typeface="+mn-lt"/>
                  <a:ea typeface="+mn-ea"/>
                  <a:cs typeface="+mn-cs"/>
                </a:rPr>
                <a:t>内部培训课件 · 新上岗值班员</a:t>
              </a:r>
            </a:p>
          </p:txBody>
        </p:sp>
      </p:grpSp>
      <p:grpSp>
        <p:nvGrpSpPr>
          <p:cNvPr id="13" name="Group 13"/>
          <p:cNvGrpSpPr/>
          <p:nvPr/>
        </p:nvGrpSpPr>
        <p:grpSpPr>
          <a:xfrm>
            <a:off x="895350" y="2556510"/>
            <a:ext cx="7792212" cy="2533650"/>
            <a:chOff x="895350" y="2556510"/>
            <a:chExt cx="7792212" cy="2533650"/>
          </a:xfrm>
        </p:grpSpPr>
        <p:sp>
          <p:nvSpPr>
            <p:cNvPr id="11" name="TextBox 11"/>
            <p:cNvSpPr txBox="1"/>
            <p:nvPr/>
          </p:nvSpPr>
          <p:spPr>
            <a:xfrm>
              <a:off x="895350" y="2556510"/>
              <a:ext cx="6822948" cy="1390650"/>
            </a:xfrm>
            <a:prstGeom prst="rect">
              <a:avLst/>
            </a:prstGeom>
            <a:noFill/>
            <a:ln>
              <a:noFill/>
            </a:ln>
          </p:spPr>
          <p:txBody>
            <a:bodyPr wrap="none" lIns="0" tIns="0" rIns="0" bIns="0" anchor="t" anchorCtr="0">
              <a:spAutoFit/>
            </a:bodyPr>
            <a:lstStyle/>
            <a:p>
              <a:pPr algn="l"/>
              <a:r>
                <a:rPr lang="zh-CN" sz="7200" b="1" dirty="0">
                  <a:solidFill>
                    <a:schemeClr val="dk1"/>
                  </a:solidFill>
                  <a:latin typeface="+mn-lt"/>
                  <a:ea typeface="+mn-ea"/>
                  <a:cs typeface="+mn-cs"/>
                </a:rPr>
                <a:t>接到信号那一刻</a:t>
              </a:r>
            </a:p>
          </p:txBody>
        </p:sp>
        <p:sp>
          <p:nvSpPr>
            <p:cNvPr id="12" name="TextBox 12"/>
            <p:cNvSpPr txBox="1"/>
            <p:nvPr/>
          </p:nvSpPr>
          <p:spPr>
            <a:xfrm>
              <a:off x="895350" y="3699510"/>
              <a:ext cx="7792212" cy="1390650"/>
            </a:xfrm>
            <a:prstGeom prst="rect">
              <a:avLst/>
            </a:prstGeom>
            <a:noFill/>
            <a:ln>
              <a:noFill/>
            </a:ln>
          </p:spPr>
          <p:txBody>
            <a:bodyPr wrap="none" lIns="0" tIns="0" rIns="0" bIns="0" anchor="t" anchorCtr="0">
              <a:spAutoFit/>
            </a:bodyPr>
            <a:lstStyle/>
            <a:p>
              <a:pPr algn="l"/>
              <a:r>
                <a:rPr lang="zh-CN" sz="7200" b="1" dirty="0">
                  <a:solidFill>
                    <a:schemeClr val="dk1"/>
                  </a:solidFill>
                  <a:latin typeface="+mn-lt"/>
                  <a:ea typeface="+mn-ea"/>
                  <a:cs typeface="+mn-cs"/>
                </a:rPr>
                <a:t>你已经在</a:t>
              </a:r>
              <a:r>
                <a:rPr lang="zh-CN" sz="7200" b="1" dirty="0">
                  <a:solidFill>
                    <a:schemeClr val="accent2"/>
                  </a:solidFill>
                  <a:latin typeface="+mn-lt"/>
                  <a:ea typeface="+mn-ea"/>
                  <a:cs typeface="+mn-cs"/>
                </a:rPr>
                <a:t>某一级</a:t>
              </a:r>
              <a:r>
                <a:rPr lang="zh-CN" sz="7200" b="1" dirty="0">
                  <a:solidFill>
                    <a:schemeClr val="dk1"/>
                  </a:solidFill>
                  <a:latin typeface="+mn-lt"/>
                  <a:ea typeface="+mn-ea"/>
                  <a:cs typeface="+mn-cs"/>
                </a:rPr>
                <a:t>上</a:t>
              </a:r>
            </a:p>
          </p:txBody>
        </p:sp>
      </p:grpSp>
      <p:grpSp>
        <p:nvGrpSpPr>
          <p:cNvPr id="15" name="Group 15"/>
          <p:cNvGrpSpPr/>
          <p:nvPr/>
        </p:nvGrpSpPr>
        <p:grpSpPr>
          <a:xfrm>
            <a:off x="902970" y="5091112"/>
            <a:ext cx="5217509" cy="440055"/>
            <a:chOff x="902970" y="5091112"/>
            <a:chExt cx="5217509" cy="440055"/>
          </a:xfrm>
        </p:grpSpPr>
        <p:sp>
          <p:nvSpPr>
            <p:cNvPr id="14" name="TextBox 14"/>
            <p:cNvSpPr txBox="1"/>
            <p:nvPr/>
          </p:nvSpPr>
          <p:spPr>
            <a:xfrm>
              <a:off x="902970" y="5091112"/>
              <a:ext cx="5217509"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消防控制室值班手册 · 报警处置判断轴</a:t>
              </a:r>
            </a:p>
          </p:txBody>
        </p:sp>
      </p:grpSp>
      <p:grpSp>
        <p:nvGrpSpPr>
          <p:cNvPr id="17" name="Group 17"/>
          <p:cNvGrpSpPr/>
          <p:nvPr/>
        </p:nvGrpSpPr>
        <p:grpSpPr>
          <a:xfrm>
            <a:off x="907542" y="5702618"/>
            <a:ext cx="7144493" cy="264033"/>
            <a:chOff x="907542" y="5702618"/>
            <a:chExt cx="7144493" cy="264033"/>
          </a:xfrm>
        </p:grpSpPr>
        <p:sp>
          <p:nvSpPr>
            <p:cNvPr id="16" name="TextBox 16"/>
            <p:cNvSpPr txBox="1"/>
            <p:nvPr/>
          </p:nvSpPr>
          <p:spPr>
            <a:xfrm>
              <a:off x="907542" y="5702618"/>
              <a:ext cx="71444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依据:GB 25506-2010 · 《中华人民共和国消防法》 · 国家职业标准《消防设施操作员》</a:t>
              </a:r>
            </a:p>
          </p:txBody>
        </p:sp>
      </p:grpSp>
      <p:grpSp>
        <p:nvGrpSpPr>
          <p:cNvPr id="20" name="Group 20"/>
          <p:cNvGrpSpPr/>
          <p:nvPr/>
        </p:nvGrpSpPr>
        <p:grpSpPr>
          <a:xfrm>
            <a:off x="908304" y="6423660"/>
            <a:ext cx="10680192" cy="234696"/>
            <a:chOff x="908304" y="6423660"/>
            <a:chExt cx="10680192" cy="234696"/>
          </a:xfrm>
        </p:grpSpPr>
        <p:sp>
          <p:nvSpPr>
            <p:cNvPr id="18" name="TextBox 18"/>
            <p:cNvSpPr txBox="1"/>
            <p:nvPr/>
          </p:nvSpPr>
          <p:spPr>
            <a:xfrm>
              <a:off x="908304" y="6423660"/>
              <a:ext cx="15226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内部培训材料 · 2026</a:t>
              </a:r>
            </a:p>
          </p:txBody>
        </p:sp>
        <p:sp>
          <p:nvSpPr>
            <p:cNvPr id="19" name="TextBox 1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xmlns:p="http://schemas.openxmlformats.org/presentationml/2006/main" id="9" presetID="37" presetClass="entr" presetSubtype="0"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700"/>
                                        <p:tgtEl>
                                          <p:spTgt spid="13"/>
                                        </p:tgtEl>
                                      </p:cBhvr>
                                    </p:animEffect>
                                    <p:anim calcmode="lin" valueType="num">
                                      <p:cBhvr>
                                        <p:cTn id="12" dur="700" fill="hold"/>
                                        <p:tgtEl>
                                          <p:spTgt spid="13"/>
                                        </p:tgtEl>
                                        <p:attrNameLst>
                                          <p:attrName>ppt_x</p:attrName>
                                        </p:attrNameLst>
                                      </p:cBhvr>
                                      <p:tavLst>
                                        <p:tav tm="0">
                                          <p:val>
                                            <p:strVal val="#ppt_x"/>
                                          </p:val>
                                        </p:tav>
                                        <p:tav tm="100000">
                                          <p:val>
                                            <p:strVal val="#ppt_x"/>
                                          </p:val>
                                        </p:tav>
                                      </p:tavLst>
                                    </p:anim>
                                    <p:anim calcmode="lin" valueType="num">
                                      <p:cBhvr>
                                        <p:cTn id="13" dur="630" decel="100000" fill="hold"/>
                                        <p:tgtEl>
                                          <p:spTgt spid="13"/>
                                        </p:tgtEl>
                                        <p:attrNameLst>
                                          <p:attrName>ppt_y</p:attrName>
                                        </p:attrNameLst>
                                      </p:cBhvr>
                                      <p:tavLst>
                                        <p:tav tm="0">
                                          <p:val>
                                            <p:strVal val="#ppt_y+1"/>
                                          </p:val>
                                        </p:tav>
                                        <p:tav tm="100000">
                                          <p:val>
                                            <p:strVal val="#ppt_y-.03"/>
                                          </p:val>
                                        </p:tav>
                                      </p:tavLst>
                                    </p:anim>
                                    <p:anim calcmode="lin" valueType="num">
                                      <p:cBhvr>
                                        <p:cTn id="14" dur="70" accel="100000" fill="hold">
                                          <p:stCondLst>
                                            <p:cond delay="630"/>
                                          </p:stCondLst>
                                        </p:cTn>
                                        <p:tgtEl>
                                          <p:spTgt spid="13"/>
                                        </p:tgtEl>
                                        <p:attrNameLst>
                                          <p:attrName>ppt_y</p:attrName>
                                        </p:attrNameLst>
                                      </p:cBhvr>
                                      <p:tavLst>
                                        <p:tav tm="0">
                                          <p:val>
                                            <p:strVal val="#ppt_y-.03"/>
                                          </p:val>
                                        </p:tav>
                                        <p:tav tm="100000">
                                          <p:val>
                                            <p:strVal val="#ppt_y"/>
                                          </p:val>
                                        </p:tav>
                                      </p:tavLst>
                                    </p:anim>
                                  </p:childTnLst>
                                </p:cTn>
                              </p:par>
                            </p:childTnLst>
                          </p:cTn>
                        </p:par>
                        <p:par>
                          <p:cTn id="15" fill="hold">
                            <p:stCondLst>
                              <p:cond delay="1600"/>
                            </p:stCondLst>
                            <p:childTnLst>
                              <p:par>
                                <p:cTn xmlns:p="http://schemas.openxmlformats.org/presentationml/2006/main" id="16" presetID="10" presetClass="entr" presetSubtype="0" fill="hold" grpId="0" nodeType="afterEffect">
                                  <p:stCondLst>
                                    <p:cond delay="50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2"/>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3248235" cy="264033"/>
            <a:chOff x="907542" y="787718"/>
            <a:chExt cx="3248235" cy="264033"/>
          </a:xfrm>
        </p:grpSpPr>
        <p:sp>
          <p:nvSpPr>
            <p:cNvPr id="17" name="TextBox 17"/>
            <p:cNvSpPr txBox="1"/>
            <p:nvPr/>
          </p:nvSpPr>
          <p:spPr>
            <a:xfrm>
              <a:off x="907542" y="787718"/>
              <a:ext cx="3248235"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第一节 · 为什么这本手册值得重讲</a:t>
              </a:r>
            </a:p>
          </p:txBody>
        </p:sp>
      </p:grpSp>
      <p:grpSp>
        <p:nvGrpSpPr>
          <p:cNvPr id="20" name="Group 20"/>
          <p:cNvGrpSpPr/>
          <p:nvPr/>
        </p:nvGrpSpPr>
        <p:grpSpPr>
          <a:xfrm>
            <a:off x="899160" y="1123950"/>
            <a:ext cx="7912818" cy="586740"/>
            <a:chOff x="899160" y="1123950"/>
            <a:chExt cx="7912818" cy="586740"/>
          </a:xfrm>
        </p:grpSpPr>
        <p:sp>
          <p:nvSpPr>
            <p:cNvPr id="19" name="TextBox 19"/>
            <p:cNvSpPr txBox="1"/>
            <p:nvPr/>
          </p:nvSpPr>
          <p:spPr>
            <a:xfrm>
              <a:off x="899160" y="1123950"/>
              <a:ext cx="7912818"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一年 90.8 万起火灾,最危险的六小时在夜里</a:t>
              </a:r>
            </a:p>
          </p:txBody>
        </p:sp>
      </p:grpSp>
      <p:grpSp>
        <p:nvGrpSpPr>
          <p:cNvPr id="22" name="Group 22"/>
          <p:cNvGrpSpPr/>
          <p:nvPr/>
        </p:nvGrpSpPr>
        <p:grpSpPr>
          <a:xfrm>
            <a:off x="903732" y="1678305"/>
            <a:ext cx="8092478" cy="410718"/>
            <a:chOff x="903732" y="1678305"/>
            <a:chExt cx="8092478" cy="410718"/>
          </a:xfrm>
        </p:grpSpPr>
        <p:sp>
          <p:nvSpPr>
            <p:cNvPr id="21" name="TextBox 21"/>
            <p:cNvSpPr txBox="1"/>
            <p:nvPr/>
          </p:nvSpPr>
          <p:spPr>
            <a:xfrm>
              <a:off x="903732" y="1678305"/>
              <a:ext cx="809247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总量说明它值得重讲,时段结构说明夜班值班员的判断代价最高。</a:t>
              </a:r>
            </a:p>
          </p:txBody>
        </p:sp>
      </p:grpSp>
      <p:grpSp>
        <p:nvGrpSpPr>
          <p:cNvPr id="26" name="Group 26"/>
          <p:cNvGrpSpPr/>
          <p:nvPr/>
        </p:nvGrpSpPr>
        <p:grpSpPr>
          <a:xfrm>
            <a:off x="895350" y="2857500"/>
            <a:ext cx="3219450" cy="1813751"/>
            <a:chOff x="895350" y="2857500"/>
            <a:chExt cx="3219450" cy="1813751"/>
          </a:xfrm>
        </p:grpSpPr>
        <p:sp>
          <p:nvSpPr>
            <p:cNvPr id="23" name="Line 23"/>
            <p:cNvSpPr/>
            <p:nvPr/>
          </p:nvSpPr>
          <p:spPr>
            <a:xfrm>
              <a:off x="914400" y="28575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24" name="TextBox 24"/>
            <p:cNvSpPr txBox="1"/>
            <p:nvPr/>
          </p:nvSpPr>
          <p:spPr>
            <a:xfrm>
              <a:off x="895350" y="3128010"/>
              <a:ext cx="2973758"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mn-lt"/>
                  <a:ea typeface="+mn-ea"/>
                  <a:cs typeface="+mn-cs"/>
                </a:rPr>
                <a:t>90.8</a:t>
              </a:r>
              <a:r>
                <a:rPr lang="zh-CN" sz="2250" dirty="0">
                  <a:solidFill>
                    <a:schemeClr val="dk1"/>
                  </a:solidFill>
                  <a:latin typeface="+mn-lt"/>
                  <a:ea typeface="+mn-ea"/>
                  <a:cs typeface="+mn-cs"/>
                </a:rPr>
                <a:t xml:space="preserve"> 万起</a:t>
              </a:r>
            </a:p>
          </p:txBody>
        </p:sp>
        <p:sp>
          <p:nvSpPr>
            <p:cNvPr id="25" name="TextBox 25"/>
            <p:cNvSpPr txBox="1"/>
            <p:nvPr/>
          </p:nvSpPr>
          <p:spPr>
            <a:xfrm>
              <a:off x="907542" y="4159568"/>
              <a:ext cx="17282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全年接报火灾总量</a:t>
              </a:r>
              <a:br/>
              <a:r>
                <a:rPr lang="zh-CN" sz="1350" dirty="0">
                  <a:solidFill>
                    <a:schemeClr val="accent5"/>
                  </a:solidFill>
                  <a:latin typeface="+mn-lt"/>
                  <a:ea typeface="+mn-ea"/>
                  <a:cs typeface="+mn-cs"/>
                </a:rPr>
                <a:t>消防救援队伍接报口径</a:t>
              </a:r>
            </a:p>
          </p:txBody>
        </p:sp>
      </p:grpSp>
      <p:grpSp>
        <p:nvGrpSpPr>
          <p:cNvPr id="30" name="Group 30"/>
          <p:cNvGrpSpPr/>
          <p:nvPr/>
        </p:nvGrpSpPr>
        <p:grpSpPr>
          <a:xfrm>
            <a:off x="4476750" y="2857500"/>
            <a:ext cx="3219450" cy="1813751"/>
            <a:chOff x="4476750" y="2857500"/>
            <a:chExt cx="3219450" cy="1813751"/>
          </a:xfrm>
        </p:grpSpPr>
        <p:sp>
          <p:nvSpPr>
            <p:cNvPr id="27" name="Line 27"/>
            <p:cNvSpPr/>
            <p:nvPr/>
          </p:nvSpPr>
          <p:spPr>
            <a:xfrm>
              <a:off x="4495800" y="28575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28" name="TextBox 28"/>
            <p:cNvSpPr txBox="1"/>
            <p:nvPr/>
          </p:nvSpPr>
          <p:spPr>
            <a:xfrm>
              <a:off x="4476750" y="3128010"/>
              <a:ext cx="2670863"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mn-lt"/>
                  <a:ea typeface="+mn-ea"/>
                  <a:cs typeface="+mn-cs"/>
                </a:rPr>
                <a:t>2001</a:t>
              </a:r>
              <a:r>
                <a:rPr lang="zh-CN" sz="2250" dirty="0">
                  <a:solidFill>
                    <a:schemeClr val="dk1"/>
                  </a:solidFill>
                  <a:latin typeface="+mn-lt"/>
                  <a:ea typeface="+mn-ea"/>
                  <a:cs typeface="+mn-cs"/>
                </a:rPr>
                <a:t xml:space="preserve"> 人</a:t>
              </a:r>
            </a:p>
          </p:txBody>
        </p:sp>
        <p:sp>
          <p:nvSpPr>
            <p:cNvPr id="29" name="TextBox 29"/>
            <p:cNvSpPr txBox="1"/>
            <p:nvPr/>
          </p:nvSpPr>
          <p:spPr>
            <a:xfrm>
              <a:off x="4488942" y="4159568"/>
              <a:ext cx="135102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全年火灾亡人</a:t>
              </a:r>
              <a:br/>
              <a:r>
                <a:rPr lang="zh-CN" sz="1350" dirty="0">
                  <a:solidFill>
                    <a:schemeClr val="accent5"/>
                  </a:solidFill>
                  <a:latin typeface="+mn-lt"/>
                  <a:ea typeface="+mn-ea"/>
                  <a:cs typeface="+mn-cs"/>
                </a:rPr>
                <a:t>另有 2665 人受伤</a:t>
              </a:r>
            </a:p>
          </p:txBody>
        </p:sp>
      </p:grpSp>
      <p:grpSp>
        <p:nvGrpSpPr>
          <p:cNvPr id="34" name="Group 34"/>
          <p:cNvGrpSpPr/>
          <p:nvPr/>
        </p:nvGrpSpPr>
        <p:grpSpPr>
          <a:xfrm>
            <a:off x="8058150" y="2857500"/>
            <a:ext cx="3219450" cy="1813751"/>
            <a:chOff x="8058150" y="2857500"/>
            <a:chExt cx="3219450" cy="1813751"/>
          </a:xfrm>
        </p:grpSpPr>
        <p:sp>
          <p:nvSpPr>
            <p:cNvPr id="31" name="Line 31"/>
            <p:cNvSpPr/>
            <p:nvPr/>
          </p:nvSpPr>
          <p:spPr>
            <a:xfrm>
              <a:off x="8077200" y="28575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32" name="TextBox 32"/>
            <p:cNvSpPr txBox="1"/>
            <p:nvPr/>
          </p:nvSpPr>
          <p:spPr>
            <a:xfrm>
              <a:off x="8058150" y="3128010"/>
              <a:ext cx="2973758"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mn-lt"/>
                  <a:ea typeface="+mn-ea"/>
                  <a:cs typeface="+mn-cs"/>
                </a:rPr>
                <a:t>77.4</a:t>
              </a:r>
              <a:r>
                <a:rPr lang="zh-CN" sz="2250" dirty="0">
                  <a:solidFill>
                    <a:schemeClr val="dk1"/>
                  </a:solidFill>
                  <a:latin typeface="+mn-lt"/>
                  <a:ea typeface="+mn-ea"/>
                  <a:cs typeface="+mn-cs"/>
                </a:rPr>
                <a:t xml:space="preserve"> 亿元</a:t>
              </a:r>
            </a:p>
          </p:txBody>
        </p:sp>
        <p:sp>
          <p:nvSpPr>
            <p:cNvPr id="33" name="TextBox 33"/>
            <p:cNvSpPr txBox="1"/>
            <p:nvPr/>
          </p:nvSpPr>
          <p:spPr>
            <a:xfrm>
              <a:off x="8070342" y="4159568"/>
              <a:ext cx="204539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直接财产损失</a:t>
              </a:r>
              <a:br/>
              <a:r>
                <a:rPr lang="zh-CN" sz="1350" dirty="0">
                  <a:solidFill>
                    <a:schemeClr val="accent5"/>
                  </a:solidFill>
                  <a:latin typeface="+mn-lt"/>
                  <a:ea typeface="+mn-ea"/>
                  <a:cs typeface="+mn-cs"/>
                </a:rPr>
                <a:t>较大火灾 70 起、重大 3 起</a:t>
              </a:r>
            </a:p>
          </p:txBody>
        </p:sp>
      </p:grpSp>
      <p:grpSp>
        <p:nvGrpSpPr>
          <p:cNvPr id="39" name="Group 39"/>
          <p:cNvGrpSpPr/>
          <p:nvPr/>
        </p:nvGrpSpPr>
        <p:grpSpPr>
          <a:xfrm>
            <a:off x="914400" y="4914900"/>
            <a:ext cx="10668000" cy="1028700"/>
            <a:chOff x="914400" y="4914900"/>
            <a:chExt cx="10668000" cy="1028700"/>
          </a:xfrm>
        </p:grpSpPr>
        <p:sp>
          <p:nvSpPr>
            <p:cNvPr id="35" name="Rectangle 35"/>
            <p:cNvSpPr/>
            <p:nvPr/>
          </p:nvSpPr>
          <p:spPr>
            <a:xfrm>
              <a:off x="914400" y="4914900"/>
              <a:ext cx="10668000" cy="1028700"/>
            </a:xfrm>
            <a:prstGeom prst="rect">
              <a:avLst/>
            </a:prstGeom>
            <a:noFill/>
            <a:ln w="9525">
              <a:solidFill>
                <a:schemeClr val="accent6"/>
              </a:solidFill>
            </a:ln>
          </p:spPr>
        </p:sp>
        <p:sp>
          <p:nvSpPr>
            <p:cNvPr id="36" name="Rectangle 36"/>
            <p:cNvSpPr/>
            <p:nvPr/>
          </p:nvSpPr>
          <p:spPr>
            <a:xfrm>
              <a:off x="914400" y="4914900"/>
              <a:ext cx="47625" cy="1028700"/>
            </a:xfrm>
            <a:prstGeom prst="rect">
              <a:avLst/>
            </a:prstGeom>
            <a:solidFill>
              <a:schemeClr val="accent2"/>
            </a:solidFill>
            <a:ln>
              <a:noFill/>
            </a:ln>
          </p:spPr>
        </p:sp>
        <p:sp>
          <p:nvSpPr>
            <p:cNvPr id="37" name="TextBox 37"/>
            <p:cNvSpPr txBox="1"/>
            <p:nvPr/>
          </p:nvSpPr>
          <p:spPr>
            <a:xfrm>
              <a:off x="1210056" y="5120640"/>
              <a:ext cx="688673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0 时至 6 时的火灾只占全年起数的 </a:t>
              </a:r>
              <a:r>
                <a:rPr lang="zh-CN" sz="1800" b="1" dirty="0">
                  <a:solidFill>
                    <a:schemeClr val="accent2"/>
                  </a:solidFill>
                  <a:latin typeface="+mn-lt"/>
                  <a:ea typeface="+mn-ea"/>
                  <a:cs typeface="+mn-cs"/>
                </a:rPr>
                <a:t>10.3%</a:t>
              </a:r>
              <a:r>
                <a:rPr lang="zh-CN" sz="1800" dirty="0">
                  <a:solidFill>
                    <a:schemeClr val="dk1"/>
                  </a:solidFill>
                  <a:latin typeface="+mn-lt"/>
                  <a:ea typeface="+mn-ea"/>
                  <a:cs typeface="+mn-cs"/>
                </a:rPr>
                <a:t xml:space="preserve">,亡人数却占 </a:t>
              </a:r>
              <a:r>
                <a:rPr lang="zh-CN" sz="1800" b="1" dirty="0">
                  <a:solidFill>
                    <a:schemeClr val="accent3"/>
                  </a:solidFill>
                  <a:latin typeface="+mn-lt"/>
                  <a:ea typeface="+mn-ea"/>
                  <a:cs typeface="+mn-cs"/>
                </a:rPr>
                <a:t>31.3%</a:t>
              </a:r>
              <a:r>
                <a:rPr lang="zh-CN" sz="1800" dirty="0">
                  <a:solidFill>
                    <a:schemeClr val="dk1"/>
                  </a:solidFill>
                  <a:latin typeface="+mn-lt"/>
                  <a:ea typeface="+mn-ea"/>
                  <a:cs typeface="+mn-cs"/>
                </a:rPr>
                <a:t>。</a:t>
              </a:r>
            </a:p>
          </p:txBody>
        </p:sp>
        <p:sp>
          <p:nvSpPr>
            <p:cNvPr id="38" name="TextBox 38"/>
            <p:cNvSpPr txBox="1"/>
            <p:nvPr/>
          </p:nvSpPr>
          <p:spPr>
            <a:xfrm>
              <a:off x="1210056" y="5482590"/>
              <a:ext cx="451325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夜班的一次确认,不等于白班的一次确认。</a:t>
              </a:r>
            </a:p>
          </p:txBody>
        </p:sp>
      </p:grpSp>
      <p:grpSp>
        <p:nvGrpSpPr>
          <p:cNvPr id="42" name="Group 42"/>
          <p:cNvGrpSpPr/>
          <p:nvPr/>
        </p:nvGrpSpPr>
        <p:grpSpPr>
          <a:xfrm>
            <a:off x="908304" y="6423660"/>
            <a:ext cx="10680192" cy="234696"/>
            <a:chOff x="908304" y="6423660"/>
            <a:chExt cx="10680192" cy="234696"/>
          </a:xfrm>
        </p:grpSpPr>
        <p:sp>
          <p:nvSpPr>
            <p:cNvPr id="40" name="TextBox 40"/>
            <p:cNvSpPr txBox="1"/>
            <p:nvPr/>
          </p:nvSpPr>
          <p:spPr>
            <a:xfrm>
              <a:off x="908304" y="6423660"/>
              <a:ext cx="455157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来源:国家消防救援局 2024 年全国火灾情况(2025 年 1 月发布)</a:t>
              </a:r>
            </a:p>
          </p:txBody>
        </p:sp>
        <p:sp>
          <p:nvSpPr>
            <p:cNvPr id="41" name="TextBox 41"/>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37"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50"/>
                                        <p:tgtEl>
                                          <p:spTgt spid="26"/>
                                        </p:tgtEl>
                                      </p:cBhvr>
                                    </p:animEffect>
                                    <p:anim calcmode="lin" valueType="num">
                                      <p:cBhvr>
                                        <p:cTn id="8" dur="450" fill="hold"/>
                                        <p:tgtEl>
                                          <p:spTgt spid="26"/>
                                        </p:tgtEl>
                                        <p:attrNameLst>
                                          <p:attrName>ppt_x</p:attrName>
                                        </p:attrNameLst>
                                      </p:cBhvr>
                                      <p:tavLst>
                                        <p:tav tm="0">
                                          <p:val>
                                            <p:strVal val="#ppt_x"/>
                                          </p:val>
                                        </p:tav>
                                        <p:tav tm="100000">
                                          <p:val>
                                            <p:strVal val="#ppt_x"/>
                                          </p:val>
                                        </p:tav>
                                      </p:tavLst>
                                    </p:anim>
                                    <p:anim calcmode="lin" valueType="num">
                                      <p:cBhvr>
                                        <p:cTn id="9" dur="405" decel="100000" fill="hold"/>
                                        <p:tgtEl>
                                          <p:spTgt spid="26"/>
                                        </p:tgtEl>
                                        <p:attrNameLst>
                                          <p:attrName>ppt_y</p:attrName>
                                        </p:attrNameLst>
                                      </p:cBhvr>
                                      <p:tavLst>
                                        <p:tav tm="0">
                                          <p:val>
                                            <p:strVal val="#ppt_y+1"/>
                                          </p:val>
                                        </p:tav>
                                        <p:tav tm="100000">
                                          <p:val>
                                            <p:strVal val="#ppt_y-.03"/>
                                          </p:val>
                                        </p:tav>
                                      </p:tavLst>
                                    </p:anim>
                                    <p:anim calcmode="lin" valueType="num">
                                      <p:cBhvr>
                                        <p:cTn id="10" dur="45" accel="100000" fill="hold">
                                          <p:stCondLst>
                                            <p:cond delay="405"/>
                                          </p:stCondLst>
                                        </p:cTn>
                                        <p:tgtEl>
                                          <p:spTgt spid="26"/>
                                        </p:tgtEl>
                                        <p:attrNameLst>
                                          <p:attrName>ppt_y</p:attrName>
                                        </p:attrNameLst>
                                      </p:cBhvr>
                                      <p:tavLst>
                                        <p:tav tm="0">
                                          <p:val>
                                            <p:strVal val="#ppt_y-.03"/>
                                          </p:val>
                                        </p:tav>
                                        <p:tav tm="100000">
                                          <p:val>
                                            <p:strVal val="#ppt_y"/>
                                          </p:val>
                                        </p:tav>
                                      </p:tavLst>
                                    </p:anim>
                                  </p:childTnLst>
                                </p:cTn>
                              </p:par>
                            </p:childTnLst>
                          </p:cTn>
                        </p:par>
                        <p:par>
                          <p:cTn id="11" fill="hold">
                            <p:stCondLst>
                              <p:cond delay="450"/>
                            </p:stCondLst>
                            <p:childTnLst>
                              <p:par>
                                <p:cTn xmlns:p="http://schemas.openxmlformats.org/presentationml/2006/main" id="12" presetID="37" presetClass="entr" presetSubtype="0" fill="hold" grpId="0" nodeType="afterEffect">
                                  <p:stCondLst>
                                    <p:cond delay="50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450"/>
                                        <p:tgtEl>
                                          <p:spTgt spid="30"/>
                                        </p:tgtEl>
                                      </p:cBhvr>
                                    </p:animEffect>
                                    <p:anim calcmode="lin" valueType="num">
                                      <p:cBhvr>
                                        <p:cTn id="15" dur="450" fill="hold"/>
                                        <p:tgtEl>
                                          <p:spTgt spid="30"/>
                                        </p:tgtEl>
                                        <p:attrNameLst>
                                          <p:attrName>ppt_x</p:attrName>
                                        </p:attrNameLst>
                                      </p:cBhvr>
                                      <p:tavLst>
                                        <p:tav tm="0">
                                          <p:val>
                                            <p:strVal val="#ppt_x"/>
                                          </p:val>
                                        </p:tav>
                                        <p:tav tm="100000">
                                          <p:val>
                                            <p:strVal val="#ppt_x"/>
                                          </p:val>
                                        </p:tav>
                                      </p:tavLst>
                                    </p:anim>
                                    <p:anim calcmode="lin" valueType="num">
                                      <p:cBhvr>
                                        <p:cTn id="16" dur="405" decel="100000" fill="hold"/>
                                        <p:tgtEl>
                                          <p:spTgt spid="30"/>
                                        </p:tgtEl>
                                        <p:attrNameLst>
                                          <p:attrName>ppt_y</p:attrName>
                                        </p:attrNameLst>
                                      </p:cBhvr>
                                      <p:tavLst>
                                        <p:tav tm="0">
                                          <p:val>
                                            <p:strVal val="#ppt_y+1"/>
                                          </p:val>
                                        </p:tav>
                                        <p:tav tm="100000">
                                          <p:val>
                                            <p:strVal val="#ppt_y-.03"/>
                                          </p:val>
                                        </p:tav>
                                      </p:tavLst>
                                    </p:anim>
                                    <p:anim calcmode="lin" valueType="num">
                                      <p:cBhvr>
                                        <p:cTn id="17" dur="45" accel="100000" fill="hold">
                                          <p:stCondLst>
                                            <p:cond delay="405"/>
                                          </p:stCondLst>
                                        </p:cTn>
                                        <p:tgtEl>
                                          <p:spTgt spid="30"/>
                                        </p:tgtEl>
                                        <p:attrNameLst>
                                          <p:attrName>ppt_y</p:attrName>
                                        </p:attrNameLst>
                                      </p:cBhvr>
                                      <p:tavLst>
                                        <p:tav tm="0">
                                          <p:val>
                                            <p:strVal val="#ppt_y-.03"/>
                                          </p:val>
                                        </p:tav>
                                        <p:tav tm="100000">
                                          <p:val>
                                            <p:strVal val="#ppt_y"/>
                                          </p:val>
                                        </p:tav>
                                      </p:tavLst>
                                    </p:anim>
                                  </p:childTnLst>
                                </p:cTn>
                              </p:par>
                            </p:childTnLst>
                          </p:cTn>
                        </p:par>
                        <p:par>
                          <p:cTn id="18" fill="hold">
                            <p:stCondLst>
                              <p:cond delay="1400"/>
                            </p:stCondLst>
                            <p:childTnLst>
                              <p:par>
                                <p:cTn xmlns:p="http://schemas.openxmlformats.org/presentationml/2006/main" id="19" presetID="37" presetClass="entr" presetSubtype="0" fill="hold" grpId="0" nodeType="afterEffect">
                                  <p:stCondLst>
                                    <p:cond delay="50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450"/>
                                        <p:tgtEl>
                                          <p:spTgt spid="34"/>
                                        </p:tgtEl>
                                      </p:cBhvr>
                                    </p:animEffect>
                                    <p:anim calcmode="lin" valueType="num">
                                      <p:cBhvr>
                                        <p:cTn id="22" dur="450" fill="hold"/>
                                        <p:tgtEl>
                                          <p:spTgt spid="34"/>
                                        </p:tgtEl>
                                        <p:attrNameLst>
                                          <p:attrName>ppt_x</p:attrName>
                                        </p:attrNameLst>
                                      </p:cBhvr>
                                      <p:tavLst>
                                        <p:tav tm="0">
                                          <p:val>
                                            <p:strVal val="#ppt_x"/>
                                          </p:val>
                                        </p:tav>
                                        <p:tav tm="100000">
                                          <p:val>
                                            <p:strVal val="#ppt_x"/>
                                          </p:val>
                                        </p:tav>
                                      </p:tavLst>
                                    </p:anim>
                                    <p:anim calcmode="lin" valueType="num">
                                      <p:cBhvr>
                                        <p:cTn id="23" dur="405" decel="100000" fill="hold"/>
                                        <p:tgtEl>
                                          <p:spTgt spid="34"/>
                                        </p:tgtEl>
                                        <p:attrNameLst>
                                          <p:attrName>ppt_y</p:attrName>
                                        </p:attrNameLst>
                                      </p:cBhvr>
                                      <p:tavLst>
                                        <p:tav tm="0">
                                          <p:val>
                                            <p:strVal val="#ppt_y+1"/>
                                          </p:val>
                                        </p:tav>
                                        <p:tav tm="100000">
                                          <p:val>
                                            <p:strVal val="#ppt_y-.03"/>
                                          </p:val>
                                        </p:tav>
                                      </p:tavLst>
                                    </p:anim>
                                    <p:anim calcmode="lin" valueType="num">
                                      <p:cBhvr>
                                        <p:cTn id="24" dur="45" accel="100000" fill="hold">
                                          <p:stCondLst>
                                            <p:cond delay="405"/>
                                          </p:stCondLst>
                                        </p:cTn>
                                        <p:tgtEl>
                                          <p:spTgt spid="34"/>
                                        </p:tgtEl>
                                        <p:attrNameLst>
                                          <p:attrName>ppt_y</p:attrName>
                                        </p:attrNameLst>
                                      </p:cBhvr>
                                      <p:tavLst>
                                        <p:tav tm="0">
                                          <p:val>
                                            <p:strVal val="#ppt_y-.03"/>
                                          </p:val>
                                        </p:tav>
                                        <p:tav tm="100000">
                                          <p:val>
                                            <p:strVal val="#ppt_y"/>
                                          </p:val>
                                        </p:tav>
                                      </p:tavLst>
                                    </p:anim>
                                  </p:childTnLst>
                                </p:cTn>
                              </p:par>
                            </p:childTnLst>
                          </p:cTn>
                        </p:par>
                        <p:par>
                          <p:cTn id="25" fill="hold">
                            <p:stCondLst>
                              <p:cond delay="2350"/>
                            </p:stCondLst>
                            <p:childTnLst>
                              <p:par>
                                <p:cTn xmlns:p="http://schemas.openxmlformats.org/presentationml/2006/main" id="26" presetID="10" presetClass="entr" presetSubtype="0" fill="hold" grpId="0" nodeType="afterEffect">
                                  <p:stCondLst>
                                    <p:cond delay="25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2"/>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552023" cy="264033"/>
            <a:chOff x="907542" y="787718"/>
            <a:chExt cx="1552023" cy="264033"/>
          </a:xfrm>
        </p:grpSpPr>
        <p:sp>
          <p:nvSpPr>
            <p:cNvPr id="17" name="TextBox 17"/>
            <p:cNvSpPr txBox="1"/>
            <p:nvPr/>
          </p:nvSpPr>
          <p:spPr>
            <a:xfrm>
              <a:off x="907542" y="787718"/>
              <a:ext cx="1552023"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第一节 · 机制页</a:t>
              </a:r>
            </a:p>
          </p:txBody>
        </p:sp>
      </p:grpSp>
      <p:grpSp>
        <p:nvGrpSpPr>
          <p:cNvPr id="20" name="Group 20"/>
          <p:cNvGrpSpPr/>
          <p:nvPr/>
        </p:nvGrpSpPr>
        <p:grpSpPr>
          <a:xfrm>
            <a:off x="899160" y="1123950"/>
            <a:ext cx="5917749" cy="586740"/>
            <a:chOff x="899160" y="1123950"/>
            <a:chExt cx="5917749" cy="586740"/>
          </a:xfrm>
        </p:grpSpPr>
        <p:sp>
          <p:nvSpPr>
            <p:cNvPr id="19" name="TextBox 19"/>
            <p:cNvSpPr txBox="1"/>
            <p:nvPr/>
          </p:nvSpPr>
          <p:spPr>
            <a:xfrm>
              <a:off x="899160" y="1123950"/>
              <a:ext cx="591774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夜里六小时,起数最少、死亡最多</a:t>
              </a:r>
            </a:p>
          </p:txBody>
        </p:sp>
      </p:grpSp>
      <p:grpSp>
        <p:nvGrpSpPr>
          <p:cNvPr id="22" name="Group 22"/>
          <p:cNvGrpSpPr/>
          <p:nvPr/>
        </p:nvGrpSpPr>
        <p:grpSpPr>
          <a:xfrm>
            <a:off x="903732" y="1678305"/>
            <a:ext cx="9378772" cy="410718"/>
            <a:chOff x="903732" y="1678305"/>
            <a:chExt cx="9378772" cy="410718"/>
          </a:xfrm>
        </p:grpSpPr>
        <p:sp>
          <p:nvSpPr>
            <p:cNvPr id="21" name="TextBox 21"/>
            <p:cNvSpPr txBox="1"/>
            <p:nvPr/>
          </p:nvSpPr>
          <p:spPr>
            <a:xfrm>
              <a:off x="903732" y="1678305"/>
              <a:ext cx="937877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同一口径下两条占比背离,失败不在有没有报警,而在报警之后多久被处理。</a:t>
              </a:r>
            </a:p>
          </p:txBody>
        </p:sp>
      </p:grpSp>
      <p:graphicFrame>
        <p:nvGraphicFramePr>
          <p:cNvPr id="23" name="night-vs-day-share"/>
          <p:cNvGraphicFramePr>
            <a:graphicFrameLocks noGrp="1"/>
          </p:cNvGraphicFramePr>
          <p:nvPr/>
        </p:nvGraphicFramePr>
        <p:xfrm>
          <a:off x="914400" y="2457450"/>
          <a:ext cx="5181600" cy="3714750"/>
        </p:xfrm>
        <a:graphic>
          <a:graphicData uri="http://schemas.openxmlformats.org/drawingml/2006/chart">
            <c:chart xmlns:c="http://schemas.openxmlformats.org/drawingml/2006/chart" r:id="rId2"/>
          </a:graphicData>
        </a:graphic>
      </p:graphicFrame>
      <p:grpSp>
        <p:nvGrpSpPr>
          <p:cNvPr id="32" name="Group 32"/>
          <p:cNvGrpSpPr/>
          <p:nvPr/>
        </p:nvGrpSpPr>
        <p:grpSpPr>
          <a:xfrm>
            <a:off x="6618732" y="2552700"/>
            <a:ext cx="4963668" cy="3624834"/>
            <a:chOff x="6618732" y="2552700"/>
            <a:chExt cx="4963668" cy="3624834"/>
          </a:xfrm>
        </p:grpSpPr>
        <p:grpSp>
          <p:nvGrpSpPr>
            <p:cNvPr id="26" name="Group 26"/>
            <p:cNvGrpSpPr/>
            <p:nvPr/>
          </p:nvGrpSpPr>
          <p:grpSpPr>
            <a:xfrm>
              <a:off x="6618732" y="2552700"/>
              <a:ext cx="4963668" cy="641223"/>
              <a:chOff x="6618732" y="2552700"/>
              <a:chExt cx="4963668" cy="641223"/>
            </a:xfrm>
          </p:grpSpPr>
          <p:sp>
            <p:nvSpPr>
              <p:cNvPr id="24" name="Line 24"/>
              <p:cNvSpPr/>
              <p:nvPr/>
            </p:nvSpPr>
            <p:spPr>
              <a:xfrm>
                <a:off x="6629400" y="2552700"/>
                <a:ext cx="4953000" cy="9525"/>
              </a:xfrm>
              <a:custGeom>
                <a:avLst/>
                <a:gdLst/>
                <a:ahLst/>
                <a:cxnLst/>
                <a:rect l="l" t="t" r="r" b="b"/>
                <a:pathLst>
                  <a:path w="4953000" h="9525">
                    <a:moveTo>
                      <a:pt x="0" y="0"/>
                    </a:moveTo>
                    <a:lnTo>
                      <a:pt x="4953000" y="0"/>
                    </a:lnTo>
                  </a:path>
                </a:pathLst>
              </a:custGeom>
              <a:noFill/>
              <a:ln w="28575">
                <a:solidFill>
                  <a:schemeClr val="accent1"/>
                </a:solidFill>
              </a:ln>
            </p:spPr>
          </p:sp>
          <p:sp>
            <p:nvSpPr>
              <p:cNvPr id="25" name="TextBox 25"/>
              <p:cNvSpPr txBox="1"/>
              <p:nvPr/>
            </p:nvSpPr>
            <p:spPr>
              <a:xfrm>
                <a:off x="6618732" y="2783205"/>
                <a:ext cx="30038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背离的不是探测,是处置</a:t>
                </a:r>
              </a:p>
            </p:txBody>
          </p:sp>
        </p:grpSp>
        <p:sp>
          <p:nvSpPr>
            <p:cNvPr id="27" name="TextBox 27"/>
            <p:cNvSpPr txBox="1"/>
            <p:nvPr/>
          </p:nvSpPr>
          <p:spPr>
            <a:xfrm>
              <a:off x="6620256" y="3348990"/>
              <a:ext cx="3344418" cy="713994"/>
            </a:xfrm>
            <a:prstGeom prst="rect">
              <a:avLst/>
            </a:prstGeom>
            <a:noFill/>
            <a:ln>
              <a:noFill/>
            </a:ln>
          </p:spPr>
          <p:txBody>
            <a:bodyPr wrap="none" lIns="0" tIns="0" rIns="0" bIns="0" anchor="t" anchorCtr="0">
              <a:spAutoFit/>
            </a:bodyPr>
            <a:lstStyle/>
            <a:p>
              <a:pPr algn="l">
                <a:lnSpc>
                  <a:spcPts val="2850"/>
                </a:lnSpc>
              </a:pPr>
              <a:r>
                <a:rPr lang="zh-CN" sz="1800" dirty="0">
                  <a:solidFill>
                    <a:schemeClr val="dk1"/>
                  </a:solidFill>
                  <a:latin typeface="+mn-lt"/>
                  <a:ea typeface="+mn-ea"/>
                  <a:cs typeface="+mn-cs"/>
                </a:rPr>
                <a:t>同一年度、同一口径下,起数占比</a:t>
              </a:r>
              <a:br/>
              <a:r>
                <a:rPr lang="zh-CN" sz="1800" dirty="0">
                  <a:solidFill>
                    <a:schemeClr val="dk1"/>
                  </a:solidFill>
                  <a:latin typeface="+mn-lt"/>
                  <a:ea typeface="+mn-ea"/>
                  <a:cs typeface="+mn-cs"/>
                </a:rPr>
                <a:t>与亡人占比出现明显背离。</a:t>
              </a:r>
            </a:p>
          </p:txBody>
        </p:sp>
        <p:grpSp>
          <p:nvGrpSpPr>
            <p:cNvPr id="31" name="Group 31"/>
            <p:cNvGrpSpPr/>
            <p:nvPr/>
          </p:nvGrpSpPr>
          <p:grpSpPr>
            <a:xfrm>
              <a:off x="6620256" y="4248150"/>
              <a:ext cx="3344418" cy="1929384"/>
              <a:chOff x="6620256" y="4248150"/>
              <a:chExt cx="3344418" cy="1929384"/>
            </a:xfrm>
          </p:grpSpPr>
          <p:sp>
            <p:nvSpPr>
              <p:cNvPr id="28" name="Rectangle 28"/>
              <p:cNvSpPr/>
              <p:nvPr/>
            </p:nvSpPr>
            <p:spPr>
              <a:xfrm>
                <a:off x="6629400" y="4248150"/>
                <a:ext cx="838200" cy="285750"/>
              </a:xfrm>
              <a:prstGeom prst="rect">
                <a:avLst/>
              </a:prstGeom>
              <a:noFill/>
              <a:ln w="9525">
                <a:solidFill>
                  <a:schemeClr val="accent2"/>
                </a:solidFill>
              </a:ln>
            </p:spPr>
          </p:sp>
          <p:sp>
            <p:nvSpPr>
              <p:cNvPr id="29" name="TextBox 29"/>
              <p:cNvSpPr txBox="1"/>
              <p:nvPr/>
            </p:nvSpPr>
            <p:spPr>
              <a:xfrm>
                <a:off x="6859905" y="4302442"/>
                <a:ext cx="377190"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整理</a:t>
                </a:r>
              </a:p>
            </p:txBody>
          </p:sp>
          <p:sp>
            <p:nvSpPr>
              <p:cNvPr id="30" name="TextBox 30"/>
              <p:cNvSpPr txBox="1"/>
              <p:nvPr/>
            </p:nvSpPr>
            <p:spPr>
              <a:xfrm>
                <a:off x="6620256" y="4739640"/>
                <a:ext cx="3344418" cy="1437894"/>
              </a:xfrm>
              <a:prstGeom prst="rect">
                <a:avLst/>
              </a:prstGeom>
              <a:noFill/>
              <a:ln>
                <a:noFill/>
              </a:ln>
            </p:spPr>
            <p:txBody>
              <a:bodyPr wrap="none" lIns="0" tIns="0" rIns="0" bIns="0" anchor="t" anchorCtr="0">
                <a:spAutoFit/>
              </a:bodyPr>
              <a:lstStyle/>
              <a:p>
                <a:pPr algn="l">
                  <a:lnSpc>
                    <a:spcPts val="2850"/>
                  </a:lnSpc>
                </a:pPr>
                <a:r>
                  <a:rPr lang="zh-CN" sz="1800" dirty="0">
                    <a:solidFill>
                      <a:schemeClr val="dk1"/>
                    </a:solidFill>
                    <a:latin typeface="+mn-lt"/>
                    <a:ea typeface="+mn-ea"/>
                    <a:cs typeface="+mn-cs"/>
                  </a:rPr>
                  <a:t>这指向报警到处置之间的时间差,</a:t>
                </a:r>
                <a:br/>
                <a:r>
                  <a:rPr lang="zh-CN" sz="1800" dirty="0">
                    <a:solidFill>
                      <a:schemeClr val="dk1"/>
                    </a:solidFill>
                    <a:latin typeface="+mn-lt"/>
                    <a:ea typeface="+mn-ea"/>
                    <a:cs typeface="+mn-cs"/>
                  </a:rPr>
                  <a:t>而不是夜里探测器更容易失灵。</a:t>
                </a:r>
                <a:br/>
                <a:r>
                  <a:rPr lang="zh-CN" sz="1800" dirty="0">
                    <a:solidFill>
                      <a:schemeClr val="dk1"/>
                    </a:solidFill>
                    <a:latin typeface="+mn-lt"/>
                    <a:ea typeface="+mn-ea"/>
                    <a:cs typeface="+mn-cs"/>
                  </a:rPr>
                  <a:t>人手最少的时段,正是这段时间</a:t>
                </a:r>
                <a:br/>
                <a:r>
                  <a:rPr lang="zh-CN" sz="1800" dirty="0">
                    <a:solidFill>
                      <a:schemeClr val="dk1"/>
                    </a:solidFill>
                    <a:latin typeface="+mn-lt"/>
                    <a:ea typeface="+mn-ea"/>
                    <a:cs typeface="+mn-cs"/>
                  </a:rPr>
                  <a:t>差最容易被拉长的时段。</a:t>
                </a:r>
              </a:p>
            </p:txBody>
          </p:sp>
        </p:grpSp>
      </p:grpSp>
      <p:grpSp>
        <p:nvGrpSpPr>
          <p:cNvPr id="35" name="Group 35"/>
          <p:cNvGrpSpPr/>
          <p:nvPr/>
        </p:nvGrpSpPr>
        <p:grpSpPr>
          <a:xfrm>
            <a:off x="908304" y="6423660"/>
            <a:ext cx="10680192" cy="234696"/>
            <a:chOff x="908304" y="6423660"/>
            <a:chExt cx="10680192" cy="234696"/>
          </a:xfrm>
        </p:grpSpPr>
        <p:sp>
          <p:nvSpPr>
            <p:cNvPr id="33" name="TextBox 33"/>
            <p:cNvSpPr txBox="1"/>
            <p:nvPr/>
          </p:nvSpPr>
          <p:spPr>
            <a:xfrm>
              <a:off x="908304" y="6423660"/>
              <a:ext cx="646587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来源:国家消防救援局 2024 年全国火灾情况(2025 年 1 月发布)· 分级与推论为本手册整理</a:t>
              </a:r>
            </a:p>
          </p:txBody>
        </p:sp>
        <p:sp>
          <p:nvSpPr>
            <p:cNvPr id="34" name="TextBox 34"/>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30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416" t="0" r="417" b="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A1422">
                  <a:alpha val="94000"/>
                </a:srgbClr>
              </a:gs>
              <a:gs pos="55000">
                <a:srgbClr val="0A1422">
                  <a:alpha val="60000"/>
                </a:srgbClr>
              </a:gs>
              <a:gs pos="100000">
                <a:srgbClr val="0A1422">
                  <a:alpha val="18000"/>
                </a:srgbClr>
              </a:gs>
            </a:gsLst>
            <a:lin ang="0" scaled="1"/>
          </a:gradFill>
          <a:ln>
            <a:noFill/>
          </a:ln>
        </p:spPr>
      </p:sp>
      <p:grpSp>
        <p:nvGrpSpPr>
          <p:cNvPr id="8" name="Group 8"/>
          <p:cNvGrpSpPr/>
          <p:nvPr/>
        </p:nvGrpSpPr>
        <p:grpSpPr>
          <a:xfrm>
            <a:off x="457200" y="533400"/>
            <a:ext cx="114300" cy="5715000"/>
            <a:chOff x="457200" y="533400"/>
            <a:chExt cx="114300" cy="5715000"/>
          </a:xfrm>
        </p:grpSpPr>
        <p:sp>
          <p:nvSpPr>
            <p:cNvPr id="4" name="Rectangle 4"/>
            <p:cNvSpPr/>
            <p:nvPr/>
          </p:nvSpPr>
          <p:spPr>
            <a:xfrm>
              <a:off x="457200" y="533400"/>
              <a:ext cx="114300" cy="1371600"/>
            </a:xfrm>
            <a:prstGeom prst="rect">
              <a:avLst/>
            </a:prstGeom>
            <a:solidFill>
              <a:schemeClr val="accent6"/>
            </a:solidFill>
            <a:ln>
              <a:noFill/>
            </a:ln>
          </p:spPr>
        </p:sp>
        <p:sp>
          <p:nvSpPr>
            <p:cNvPr id="5" name="Rectangle 5"/>
            <p:cNvSpPr/>
            <p:nvPr/>
          </p:nvSpPr>
          <p:spPr>
            <a:xfrm>
              <a:off x="457200" y="1981200"/>
              <a:ext cx="114300" cy="1371600"/>
            </a:xfrm>
            <a:prstGeom prst="rect">
              <a:avLst/>
            </a:prstGeom>
            <a:solidFill>
              <a:schemeClr val="accent2"/>
            </a:solidFill>
            <a:ln>
              <a:noFill/>
            </a:ln>
          </p:spPr>
        </p:sp>
        <p:sp>
          <p:nvSpPr>
            <p:cNvPr id="6" name="Rectangle 6"/>
            <p:cNvSpPr/>
            <p:nvPr/>
          </p:nvSpPr>
          <p:spPr>
            <a:xfrm>
              <a:off x="457200" y="3429000"/>
              <a:ext cx="114300" cy="1371600"/>
            </a:xfrm>
            <a:prstGeom prst="rect">
              <a:avLst/>
            </a:prstGeom>
            <a:solidFill>
              <a:schemeClr val="accent6"/>
            </a:solidFill>
            <a:ln>
              <a:noFill/>
            </a:ln>
          </p:spPr>
        </p:sp>
        <p:sp>
          <p:nvSpPr>
            <p:cNvPr id="7" name="Rectangle 7"/>
            <p:cNvSpPr/>
            <p:nvPr/>
          </p:nvSpPr>
          <p:spPr>
            <a:xfrm>
              <a:off x="457200" y="4876800"/>
              <a:ext cx="114300" cy="1371600"/>
            </a:xfrm>
            <a:prstGeom prst="rect">
              <a:avLst/>
            </a:prstGeom>
            <a:solidFill>
              <a:schemeClr val="accent6"/>
            </a:solidFill>
            <a:ln>
              <a:noFill/>
            </a:ln>
          </p:spPr>
        </p:sp>
      </p:grpSp>
      <p:grpSp>
        <p:nvGrpSpPr>
          <p:cNvPr id="10" name="Group 10"/>
          <p:cNvGrpSpPr/>
          <p:nvPr/>
        </p:nvGrpSpPr>
        <p:grpSpPr>
          <a:xfrm>
            <a:off x="895350" y="1394460"/>
            <a:ext cx="1224770" cy="1390650"/>
            <a:chOff x="895350" y="1394460"/>
            <a:chExt cx="1224770" cy="1390650"/>
          </a:xfrm>
        </p:grpSpPr>
        <p:sp>
          <p:nvSpPr>
            <p:cNvPr id="9" name="TextBox 9"/>
            <p:cNvSpPr txBox="1"/>
            <p:nvPr/>
          </p:nvSpPr>
          <p:spPr>
            <a:xfrm>
              <a:off x="895350" y="1394460"/>
              <a:ext cx="1224770"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Arial Black"/>
                  <a:ea typeface="Arial Black"/>
                  <a:cs typeface="Arial Black"/>
                </a:rPr>
                <a:t>01</a:t>
              </a:r>
            </a:p>
          </p:txBody>
        </p:sp>
      </p:grpSp>
      <p:grpSp>
        <p:nvGrpSpPr>
          <p:cNvPr id="12" name="Group 12"/>
          <p:cNvGrpSpPr/>
          <p:nvPr/>
        </p:nvGrpSpPr>
        <p:grpSpPr>
          <a:xfrm>
            <a:off x="899160" y="2724150"/>
            <a:ext cx="3679508" cy="1082040"/>
            <a:chOff x="899160" y="2724150"/>
            <a:chExt cx="3679508" cy="1082040"/>
          </a:xfrm>
        </p:grpSpPr>
        <p:sp>
          <p:nvSpPr>
            <p:cNvPr id="11" name="TextBox 11"/>
            <p:cNvSpPr txBox="1"/>
            <p:nvPr/>
          </p:nvSpPr>
          <p:spPr>
            <a:xfrm>
              <a:off x="899160" y="2724150"/>
              <a:ext cx="3679508" cy="1082040"/>
            </a:xfrm>
            <a:prstGeom prst="rect">
              <a:avLst/>
            </a:prstGeom>
            <a:noFill/>
            <a:ln>
              <a:noFill/>
            </a:ln>
          </p:spPr>
          <p:txBody>
            <a:bodyPr wrap="none" lIns="0" tIns="0" rIns="0" bIns="0" anchor="t" anchorCtr="0">
              <a:spAutoFit/>
            </a:bodyPr>
            <a:lstStyle/>
            <a:p>
              <a:pPr algn="l">
                <a:lnSpc>
                  <a:spcPts val="3900"/>
                </a:lnSpc>
              </a:pPr>
              <a:r>
                <a:rPr lang="zh-CN" sz="3000" b="1" dirty="0">
                  <a:solidFill>
                    <a:schemeClr val="dk1"/>
                  </a:solidFill>
                  <a:latin typeface="+mn-lt"/>
                  <a:ea typeface="+mn-ea"/>
                  <a:cs typeface="+mn-cs"/>
                </a:rPr>
                <a:t>先弄清信号从哪里来,</a:t>
              </a:r>
              <a:br/>
              <a:r>
                <a:rPr lang="zh-CN" sz="3000" b="1" dirty="0">
                  <a:solidFill>
                    <a:schemeClr val="dk1"/>
                  </a:solidFill>
                  <a:latin typeface="+mn-lt"/>
                  <a:ea typeface="+mn-ea"/>
                  <a:cs typeface="+mn-cs"/>
                </a:rPr>
                <a:t>再谈接到信号怎么办</a:t>
              </a:r>
            </a:p>
          </p:txBody>
        </p:sp>
      </p:grpSp>
      <p:grpSp>
        <p:nvGrpSpPr>
          <p:cNvPr id="16" name="Group 16"/>
          <p:cNvGrpSpPr/>
          <p:nvPr/>
        </p:nvGrpSpPr>
        <p:grpSpPr>
          <a:xfrm>
            <a:off x="905256" y="4191000"/>
            <a:ext cx="4962144" cy="1129284"/>
            <a:chOff x="905256" y="4191000"/>
            <a:chExt cx="4962144" cy="1129284"/>
          </a:xfrm>
        </p:grpSpPr>
        <p:sp>
          <p:nvSpPr>
            <p:cNvPr id="13" name="Line 13"/>
            <p:cNvSpPr/>
            <p:nvPr/>
          </p:nvSpPr>
          <p:spPr>
            <a:xfrm>
              <a:off x="914400" y="4191000"/>
              <a:ext cx="4953000" cy="9525"/>
            </a:xfrm>
            <a:custGeom>
              <a:avLst/>
              <a:gdLst/>
              <a:ahLst/>
              <a:cxnLst/>
              <a:rect l="l" t="t" r="r" b="b"/>
              <a:pathLst>
                <a:path w="4953000" h="9525">
                  <a:moveTo>
                    <a:pt x="0" y="0"/>
                  </a:moveTo>
                  <a:lnTo>
                    <a:pt x="4953000" y="0"/>
                  </a:lnTo>
                </a:path>
              </a:pathLst>
            </a:custGeom>
            <a:noFill/>
            <a:ln w="19050">
              <a:solidFill>
                <a:schemeClr val="accent1"/>
              </a:solidFill>
            </a:ln>
          </p:spPr>
        </p:sp>
        <p:sp>
          <p:nvSpPr>
            <p:cNvPr id="14" name="TextBox 14"/>
            <p:cNvSpPr txBox="1"/>
            <p:nvPr/>
          </p:nvSpPr>
          <p:spPr>
            <a:xfrm>
              <a:off x="905256" y="4491990"/>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消防控制室里有哪七类设备</a:t>
              </a:r>
            </a:p>
          </p:txBody>
        </p:sp>
        <p:sp>
          <p:nvSpPr>
            <p:cNvPr id="15" name="TextBox 15"/>
            <p:cNvSpPr txBox="1"/>
            <p:nvPr/>
          </p:nvSpPr>
          <p:spPr>
            <a:xfrm>
              <a:off x="905256" y="4968240"/>
              <a:ext cx="36409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信息在 10 秒与 100 秒之间怎么走</a:t>
              </a:r>
            </a:p>
          </p:txBody>
        </p:sp>
      </p:grpSp>
      <p:grpSp>
        <p:nvGrpSpPr>
          <p:cNvPr id="19" name="Group 19"/>
          <p:cNvGrpSpPr/>
          <p:nvPr/>
        </p:nvGrpSpPr>
        <p:grpSpPr>
          <a:xfrm>
            <a:off x="908304" y="6423660"/>
            <a:ext cx="10680192" cy="234696"/>
            <a:chOff x="908304" y="6423660"/>
            <a:chExt cx="10680192" cy="234696"/>
          </a:xfrm>
        </p:grpSpPr>
        <p:sp>
          <p:nvSpPr>
            <p:cNvPr id="17" name="TextBox 17"/>
            <p:cNvSpPr txBox="1"/>
            <p:nvPr/>
          </p:nvSpPr>
          <p:spPr>
            <a:xfrm>
              <a:off x="908304" y="6423660"/>
              <a:ext cx="222534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第一节 · 信号从哪里来,走多快</a:t>
              </a:r>
            </a:p>
          </p:txBody>
        </p:sp>
        <p:sp>
          <p:nvSpPr>
            <p:cNvPr id="18" name="TextBox 18"/>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600"/>
                                        <p:tgtEl>
                                          <p:spTgt spid="12"/>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2"/>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552023" cy="264033"/>
            <a:chOff x="907542" y="787718"/>
            <a:chExt cx="1552023" cy="264033"/>
          </a:xfrm>
        </p:grpSpPr>
        <p:sp>
          <p:nvSpPr>
            <p:cNvPr id="17" name="TextBox 17"/>
            <p:cNvSpPr txBox="1"/>
            <p:nvPr/>
          </p:nvSpPr>
          <p:spPr>
            <a:xfrm>
              <a:off x="907542" y="787718"/>
              <a:ext cx="1552023"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第一节 · 机制页</a:t>
              </a:r>
            </a:p>
          </p:txBody>
        </p:sp>
      </p:grpSp>
      <p:grpSp>
        <p:nvGrpSpPr>
          <p:cNvPr id="20" name="Group 20"/>
          <p:cNvGrpSpPr/>
          <p:nvPr/>
        </p:nvGrpSpPr>
        <p:grpSpPr>
          <a:xfrm>
            <a:off x="899160" y="1123950"/>
            <a:ext cx="9148629" cy="586740"/>
            <a:chOff x="899160" y="1123950"/>
            <a:chExt cx="9148629" cy="586740"/>
          </a:xfrm>
        </p:grpSpPr>
        <p:sp>
          <p:nvSpPr>
            <p:cNvPr id="19" name="TextBox 19"/>
            <p:cNvSpPr txBox="1"/>
            <p:nvPr/>
          </p:nvSpPr>
          <p:spPr>
            <a:xfrm>
              <a:off x="899160" y="1123950"/>
              <a:ext cx="914862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七类设备把状态汇进一块屏,这块屏才是你的工作面</a:t>
              </a:r>
            </a:p>
          </p:txBody>
        </p:sp>
      </p:grpSp>
      <p:grpSp>
        <p:nvGrpSpPr>
          <p:cNvPr id="22" name="Group 22"/>
          <p:cNvGrpSpPr/>
          <p:nvPr/>
        </p:nvGrpSpPr>
        <p:grpSpPr>
          <a:xfrm>
            <a:off x="903732" y="1678305"/>
            <a:ext cx="5265458" cy="410718"/>
            <a:chOff x="903732" y="1678305"/>
            <a:chExt cx="5265458" cy="410718"/>
          </a:xfrm>
        </p:grpSpPr>
        <p:sp>
          <p:nvSpPr>
            <p:cNvPr id="21" name="TextBox 21"/>
            <p:cNvSpPr txBox="1"/>
            <p:nvPr/>
          </p:nvSpPr>
          <p:spPr>
            <a:xfrm>
              <a:off x="903732" y="1678305"/>
              <a:ext cx="526545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任何一类设备离线,你的工作面就少一块。</a:t>
              </a:r>
            </a:p>
          </p:txBody>
        </p:sp>
      </p:grpSp>
      <p:grpSp>
        <p:nvGrpSpPr>
          <p:cNvPr id="32" name="Group 32"/>
          <p:cNvGrpSpPr/>
          <p:nvPr/>
        </p:nvGrpSpPr>
        <p:grpSpPr>
          <a:xfrm>
            <a:off x="905256" y="2445068"/>
            <a:ext cx="4197325" cy="3389566"/>
            <a:chOff x="905256" y="2445068"/>
            <a:chExt cx="4197325" cy="3389566"/>
          </a:xfrm>
        </p:grpSpPr>
        <p:sp>
          <p:nvSpPr>
            <p:cNvPr id="23" name="TextBox 23"/>
            <p:cNvSpPr txBox="1"/>
            <p:nvPr/>
          </p:nvSpPr>
          <p:spPr>
            <a:xfrm>
              <a:off x="907542" y="2445068"/>
              <a:ext cx="419503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3.1 条 · 室内应设置的消防设备</a:t>
              </a:r>
            </a:p>
          </p:txBody>
        </p:sp>
        <p:grpSp>
          <p:nvGrpSpPr>
            <p:cNvPr id="31" name="Group 31"/>
            <p:cNvGrpSpPr/>
            <p:nvPr/>
          </p:nvGrpSpPr>
          <p:grpSpPr>
            <a:xfrm>
              <a:off x="905256" y="2739390"/>
              <a:ext cx="4137660" cy="3095244"/>
              <a:chOff x="905256" y="2739390"/>
              <a:chExt cx="4137660" cy="3095244"/>
            </a:xfrm>
          </p:grpSpPr>
          <p:sp>
            <p:nvSpPr>
              <p:cNvPr id="24" name="TextBox 24"/>
              <p:cNvSpPr txBox="1"/>
              <p:nvPr/>
            </p:nvSpPr>
            <p:spPr>
              <a:xfrm>
                <a:off x="905256" y="2739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火灾报警控制器</a:t>
                </a:r>
              </a:p>
            </p:txBody>
          </p:sp>
          <p:sp>
            <p:nvSpPr>
              <p:cNvPr id="25" name="TextBox 25"/>
              <p:cNvSpPr txBox="1"/>
              <p:nvPr/>
            </p:nvSpPr>
            <p:spPr>
              <a:xfrm>
                <a:off x="905256" y="31965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消防联动控制器</a:t>
                </a:r>
              </a:p>
            </p:txBody>
          </p:sp>
          <p:sp>
            <p:nvSpPr>
              <p:cNvPr id="26" name="TextBox 26"/>
              <p:cNvSpPr txBox="1"/>
              <p:nvPr/>
            </p:nvSpPr>
            <p:spPr>
              <a:xfrm>
                <a:off x="905256" y="3653790"/>
                <a:ext cx="2683764"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消防控制室图形显示装置</a:t>
                </a:r>
              </a:p>
            </p:txBody>
          </p:sp>
          <p:sp>
            <p:nvSpPr>
              <p:cNvPr id="27" name="TextBox 27"/>
              <p:cNvSpPr txBox="1"/>
              <p:nvPr/>
            </p:nvSpPr>
            <p:spPr>
              <a:xfrm>
                <a:off x="905256" y="41109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消防电话总机</a:t>
                </a:r>
              </a:p>
            </p:txBody>
          </p:sp>
          <p:sp>
            <p:nvSpPr>
              <p:cNvPr id="28" name="TextBox 28"/>
              <p:cNvSpPr txBox="1"/>
              <p:nvPr/>
            </p:nvSpPr>
            <p:spPr>
              <a:xfrm>
                <a:off x="905256" y="4568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消防应急广播控制装置</a:t>
                </a:r>
              </a:p>
            </p:txBody>
          </p:sp>
          <p:sp>
            <p:nvSpPr>
              <p:cNvPr id="29" name="TextBox 29"/>
              <p:cNvSpPr txBox="1"/>
              <p:nvPr/>
            </p:nvSpPr>
            <p:spPr>
              <a:xfrm>
                <a:off x="905256" y="5025390"/>
                <a:ext cx="41376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消防应急照明和疏散指示系统控制装置</a:t>
                </a:r>
              </a:p>
            </p:txBody>
          </p:sp>
          <p:sp>
            <p:nvSpPr>
              <p:cNvPr id="30" name="TextBox 30"/>
              <p:cNvSpPr txBox="1"/>
              <p:nvPr/>
            </p:nvSpPr>
            <p:spPr>
              <a:xfrm>
                <a:off x="905256" y="54825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消防电源监控器</a:t>
                </a:r>
              </a:p>
            </p:txBody>
          </p:sp>
        </p:grpSp>
      </p:grpSp>
      <p:sp>
        <p:nvSpPr>
          <p:cNvPr id="33" name="Freeform 33"/>
          <p:cNvSpPr/>
          <p:nvPr/>
        </p:nvSpPr>
        <p:spPr>
          <a:xfrm>
            <a:off x="5676900" y="2647950"/>
            <a:ext cx="266700" cy="3143250"/>
          </a:xfrm>
          <a:prstGeom prst="rightBracket">
            <a:avLst/>
          </a:prstGeom>
          <a:noFill/>
          <a:ln w="19050">
            <a:solidFill>
              <a:schemeClr val="accent1"/>
            </a:solidFill>
          </a:ln>
        </p:spPr>
      </p:sp>
      <p:sp>
        <p:nvSpPr>
          <p:cNvPr id="34" name="Freeform 34"/>
          <p:cNvSpPr/>
          <p:nvPr/>
        </p:nvSpPr>
        <p:spPr>
          <a:xfrm>
            <a:off x="6191250" y="3886200"/>
            <a:ext cx="1047750" cy="571500"/>
          </a:xfrm>
          <a:prstGeom prst="rightArrow">
            <a:avLst/>
          </a:prstGeom>
          <a:solidFill>
            <a:schemeClr val="accent1"/>
          </a:solidFill>
          <a:ln>
            <a:noFill/>
          </a:ln>
        </p:spPr>
      </p:sp>
      <p:grpSp>
        <p:nvGrpSpPr>
          <p:cNvPr id="38" name="Group 38"/>
          <p:cNvGrpSpPr/>
          <p:nvPr/>
        </p:nvGrpSpPr>
        <p:grpSpPr>
          <a:xfrm>
            <a:off x="7524750" y="3048000"/>
            <a:ext cx="4057650" cy="2133600"/>
            <a:chOff x="7524750" y="3048000"/>
            <a:chExt cx="4057650" cy="2133600"/>
          </a:xfrm>
        </p:grpSpPr>
        <p:sp>
          <p:nvSpPr>
            <p:cNvPr id="35" name="Freeform 35"/>
            <p:cNvSpPr/>
            <p:nvPr/>
          </p:nvSpPr>
          <p:spPr>
            <a:xfrm>
              <a:off x="7524750" y="3048000"/>
              <a:ext cx="4057650" cy="2133600"/>
            </a:xfrm>
            <a:prstGeom prst="snip2DiagRect">
              <a:avLst/>
            </a:prstGeom>
            <a:noFill/>
            <a:ln w="19050">
              <a:solidFill>
                <a:schemeClr val="accent1"/>
              </a:solidFill>
            </a:ln>
          </p:spPr>
        </p:sp>
        <p:sp>
          <p:nvSpPr>
            <p:cNvPr id="36" name="TextBox 36"/>
            <p:cNvSpPr txBox="1"/>
            <p:nvPr/>
          </p:nvSpPr>
          <p:spPr>
            <a:xfrm>
              <a:off x="7818882" y="3316605"/>
              <a:ext cx="284835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城市消防远程监控中心</a:t>
              </a:r>
            </a:p>
          </p:txBody>
        </p:sp>
        <p:sp>
          <p:nvSpPr>
            <p:cNvPr id="37" name="TextBox 37"/>
            <p:cNvSpPr txBox="1"/>
            <p:nvPr/>
          </p:nvSpPr>
          <p:spPr>
            <a:xfrm>
              <a:off x="7822692" y="3854768"/>
              <a:ext cx="3065526" cy="835533"/>
            </a:xfrm>
            <a:prstGeom prst="rect">
              <a:avLst/>
            </a:prstGeom>
            <a:noFill/>
            <a:ln>
              <a:noFill/>
            </a:ln>
          </p:spPr>
          <p:txBody>
            <a:bodyPr wrap="none" lIns="0" tIns="0" rIns="0" bIns="0" anchor="t" anchorCtr="0">
              <a:spAutoFit/>
            </a:bodyPr>
            <a:lstStyle/>
            <a:p>
              <a:pPr algn="l">
                <a:lnSpc>
                  <a:spcPts val="2250"/>
                </a:lnSpc>
              </a:pPr>
              <a:r>
                <a:rPr lang="zh-CN" sz="1350" dirty="0">
                  <a:solidFill>
                    <a:schemeClr val="accent5"/>
                  </a:solidFill>
                  <a:latin typeface="+mn-lt"/>
                  <a:ea typeface="+mn-ea"/>
                  <a:cs typeface="+mn-cs"/>
                </a:rPr>
                <a:t>第 3.2 条:室内设备应能监控并显示建筑</a:t>
              </a:r>
              <a:br/>
              <a:r>
                <a:rPr lang="zh-CN" sz="1350" dirty="0">
                  <a:solidFill>
                    <a:schemeClr val="accent5"/>
                  </a:solidFill>
                  <a:latin typeface="+mn-lt"/>
                  <a:ea typeface="+mn-ea"/>
                  <a:cs typeface="+mn-cs"/>
                </a:rPr>
                <a:t>消防设施运行状态信息,并应具有向监控</a:t>
              </a:r>
              <a:br/>
              <a:r>
                <a:rPr lang="zh-CN" sz="1350" dirty="0">
                  <a:solidFill>
                    <a:schemeClr val="accent5"/>
                  </a:solidFill>
                  <a:latin typeface="+mn-lt"/>
                  <a:ea typeface="+mn-ea"/>
                  <a:cs typeface="+mn-cs"/>
                </a:rPr>
                <a:t>中心传输这些信息的功能。</a:t>
              </a:r>
            </a:p>
          </p:txBody>
        </p:sp>
      </p:grpSp>
      <p:grpSp>
        <p:nvGrpSpPr>
          <p:cNvPr id="41" name="Group 41"/>
          <p:cNvGrpSpPr/>
          <p:nvPr/>
        </p:nvGrpSpPr>
        <p:grpSpPr>
          <a:xfrm>
            <a:off x="7524750" y="5391150"/>
            <a:ext cx="3730180" cy="723900"/>
            <a:chOff x="7524750" y="5391150"/>
            <a:chExt cx="3730180" cy="723900"/>
          </a:xfrm>
        </p:grpSpPr>
        <p:sp>
          <p:nvSpPr>
            <p:cNvPr id="39" name="Rectangle 39"/>
            <p:cNvSpPr/>
            <p:nvPr/>
          </p:nvSpPr>
          <p:spPr>
            <a:xfrm>
              <a:off x="7524750" y="5391150"/>
              <a:ext cx="47625" cy="723900"/>
            </a:xfrm>
            <a:prstGeom prst="rect">
              <a:avLst/>
            </a:prstGeom>
            <a:solidFill>
              <a:schemeClr val="accent2"/>
            </a:solidFill>
            <a:ln>
              <a:noFill/>
            </a:ln>
          </p:spPr>
        </p:sp>
        <p:sp>
          <p:nvSpPr>
            <p:cNvPr id="40" name="TextBox 40"/>
            <p:cNvSpPr txBox="1"/>
            <p:nvPr/>
          </p:nvSpPr>
          <p:spPr>
            <a:xfrm>
              <a:off x="7803642" y="5531168"/>
              <a:ext cx="3451288" cy="549783"/>
            </a:xfrm>
            <a:prstGeom prst="rect">
              <a:avLst/>
            </a:prstGeom>
            <a:noFill/>
            <a:ln>
              <a:noFill/>
            </a:ln>
          </p:spPr>
          <p:txBody>
            <a:bodyPr wrap="none" lIns="0" tIns="0" rIns="0" bIns="0" anchor="t" anchorCtr="0">
              <a:spAutoFit/>
            </a:bodyPr>
            <a:lstStyle/>
            <a:p>
              <a:pPr algn="l">
                <a:lnSpc>
                  <a:spcPts val="2250"/>
                </a:lnSpc>
              </a:pPr>
              <a:r>
                <a:rPr lang="zh-CN" sz="1350" dirty="0">
                  <a:solidFill>
                    <a:schemeClr val="dk1"/>
                  </a:solidFill>
                  <a:latin typeface="+mn-lt"/>
                  <a:ea typeface="+mn-ea"/>
                  <a:cs typeface="+mn-cs"/>
                </a:rPr>
                <a:t>第 3.3 条:室内还应保存第 4.1 条规定的资料</a:t>
              </a:r>
              <a:br/>
              <a:r>
                <a:rPr lang="zh-CN" sz="1350" dirty="0">
                  <a:solidFill>
                    <a:schemeClr val="dk1"/>
                  </a:solidFill>
                  <a:latin typeface="+mn-lt"/>
                  <a:ea typeface="+mn-ea"/>
                  <a:cs typeface="+mn-cs"/>
                </a:rPr>
                <a:t>与附录 B 的消防安全管理信息。</a:t>
              </a:r>
            </a:p>
          </p:txBody>
        </p:sp>
      </p:grpSp>
      <p:grpSp>
        <p:nvGrpSpPr>
          <p:cNvPr id="44" name="Group 44"/>
          <p:cNvGrpSpPr/>
          <p:nvPr/>
        </p:nvGrpSpPr>
        <p:grpSpPr>
          <a:xfrm>
            <a:off x="908304" y="6423660"/>
            <a:ext cx="10680192" cy="234696"/>
            <a:chOff x="908304" y="6423660"/>
            <a:chExt cx="10680192" cy="234696"/>
          </a:xfrm>
        </p:grpSpPr>
        <p:sp>
          <p:nvSpPr>
            <p:cNvPr id="42" name="TextBox 42"/>
            <p:cNvSpPr txBox="1"/>
            <p:nvPr/>
          </p:nvSpPr>
          <p:spPr>
            <a:xfrm>
              <a:off x="908304" y="6423660"/>
              <a:ext cx="421584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25506-2010《消防控制室通用技术要求》第 3 章</a:t>
              </a:r>
            </a:p>
          </p:txBody>
        </p:sp>
        <p:sp>
          <p:nvSpPr>
            <p:cNvPr id="43" name="TextBox 43"/>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par>
                          <p:cTn id="8" fill="hold">
                            <p:stCondLst>
                              <p:cond delay="5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33"/>
                                        </p:tgtEl>
                                        <p:attrNameLst>
                                          <p:attrName>style.visibility</p:attrName>
                                        </p:attrNameLst>
                                      </p:cBhvr>
                                      <p:to>
                                        <p:strVal val="visible"/>
                                      </p:to>
                                    </p:set>
                                    <p:animEffect transition="in" filter="wipe(down)">
                                      <p:cBhvr>
                                        <p:cTn id="11" dur="500"/>
                                        <p:tgtEl>
                                          <p:spTgt spid="33"/>
                                        </p:tgtEl>
                                      </p:cBhvr>
                                    </p:animEffect>
                                  </p:childTnLst>
                                </p:cTn>
                              </p:par>
                            </p:childTnLst>
                          </p:cTn>
                        </p:par>
                        <p:par>
                          <p:cTn id="12" fill="hold">
                            <p:stCondLst>
                              <p:cond delay="15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34"/>
                                        </p:tgtEl>
                                        <p:attrNameLst>
                                          <p:attrName>style.visibility</p:attrName>
                                        </p:attrNameLst>
                                      </p:cBhvr>
                                      <p:to>
                                        <p:strVal val="visible"/>
                                      </p:to>
                                    </p:set>
                                    <p:animEffect transition="in" filter="wipe(right)">
                                      <p:cBhvr>
                                        <p:cTn id="15" dur="400"/>
                                        <p:tgtEl>
                                          <p:spTgt spid="34"/>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500"/>
                                        <p:tgtEl>
                                          <p:spTgt spid="38"/>
                                        </p:tgtEl>
                                      </p:cBhvr>
                                    </p:animEffect>
                                  </p:childTnLst>
                                </p:cTn>
                              </p:par>
                            </p:childTnLst>
                          </p:cTn>
                        </p:par>
                        <p:par>
                          <p:cTn id="20" fill="hold">
                            <p:stCondLst>
                              <p:cond delay="34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2"/>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552023" cy="264033"/>
            <a:chOff x="907542" y="787718"/>
            <a:chExt cx="1552023" cy="264033"/>
          </a:xfrm>
        </p:grpSpPr>
        <p:sp>
          <p:nvSpPr>
            <p:cNvPr id="17" name="TextBox 17"/>
            <p:cNvSpPr txBox="1"/>
            <p:nvPr/>
          </p:nvSpPr>
          <p:spPr>
            <a:xfrm>
              <a:off x="907542" y="787718"/>
              <a:ext cx="1552023"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第一节 · 技术页</a:t>
              </a:r>
            </a:p>
          </p:txBody>
        </p:sp>
      </p:grpSp>
      <p:grpSp>
        <p:nvGrpSpPr>
          <p:cNvPr id="20" name="Group 20"/>
          <p:cNvGrpSpPr/>
          <p:nvPr/>
        </p:nvGrpSpPr>
        <p:grpSpPr>
          <a:xfrm>
            <a:off x="899160" y="1123950"/>
            <a:ext cx="7996618" cy="586740"/>
            <a:chOff x="899160" y="1123950"/>
            <a:chExt cx="7996618" cy="586740"/>
          </a:xfrm>
        </p:grpSpPr>
        <p:sp>
          <p:nvSpPr>
            <p:cNvPr id="19" name="TextBox 19"/>
            <p:cNvSpPr txBox="1"/>
            <p:nvPr/>
          </p:nvSpPr>
          <p:spPr>
            <a:xfrm>
              <a:off x="899160" y="1123950"/>
              <a:ext cx="7996618"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火警信号只有 10 秒额度,其他信号是 100 秒</a:t>
              </a:r>
            </a:p>
          </p:txBody>
        </p:sp>
      </p:grpSp>
      <p:grpSp>
        <p:nvGrpSpPr>
          <p:cNvPr id="22" name="Group 22"/>
          <p:cNvGrpSpPr/>
          <p:nvPr/>
        </p:nvGrpSpPr>
        <p:grpSpPr>
          <a:xfrm>
            <a:off x="903732" y="1678305"/>
            <a:ext cx="7809776" cy="410718"/>
            <a:chOff x="903732" y="1678305"/>
            <a:chExt cx="7809776" cy="410718"/>
          </a:xfrm>
        </p:grpSpPr>
        <p:sp>
          <p:nvSpPr>
            <p:cNvPr id="21" name="TextBox 21"/>
            <p:cNvSpPr txBox="1"/>
            <p:nvPr/>
          </p:nvSpPr>
          <p:spPr>
            <a:xfrm>
              <a:off x="903732" y="1678305"/>
              <a:ext cx="780977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设备侧的几十秒是标准给出来的,人为侧的几分钟是自己丢的。</a:t>
              </a:r>
            </a:p>
          </p:txBody>
        </p:sp>
      </p:grpSp>
      <p:grpSp>
        <p:nvGrpSpPr>
          <p:cNvPr id="63" name="Group 63"/>
          <p:cNvGrpSpPr/>
          <p:nvPr/>
        </p:nvGrpSpPr>
        <p:grpSpPr>
          <a:xfrm>
            <a:off x="914400" y="2595562"/>
            <a:ext cx="5181600" cy="3352039"/>
            <a:chOff x="914400" y="2595562"/>
            <a:chExt cx="5181600" cy="3352039"/>
          </a:xfrm>
        </p:grpSpPr>
        <p:grpSp>
          <p:nvGrpSpPr>
            <p:cNvPr id="30" name="Group 30"/>
            <p:cNvGrpSpPr/>
            <p:nvPr/>
          </p:nvGrpSpPr>
          <p:grpSpPr>
            <a:xfrm>
              <a:off x="914400" y="2595562"/>
              <a:ext cx="5181600" cy="608839"/>
              <a:chOff x="914400" y="2595562"/>
              <a:chExt cx="5181600" cy="608839"/>
            </a:xfrm>
          </p:grpSpPr>
          <p:grpSp>
            <p:nvGrpSpPr>
              <p:cNvPr id="25" name="Group 25"/>
              <p:cNvGrpSpPr/>
              <p:nvPr/>
            </p:nvGrpSpPr>
            <p:grpSpPr>
              <a:xfrm>
                <a:off x="1031875" y="2678906"/>
                <a:ext cx="165099" cy="185737"/>
                <a:chOff x="1031875" y="2678906"/>
                <a:chExt cx="165099" cy="185737"/>
              </a:xfrm>
            </p:grpSpPr>
            <p:sp>
              <p:nvSpPr>
                <p:cNvPr id="23" name="Freeform 23"/>
                <p:cNvSpPr/>
                <p:nvPr/>
              </p:nvSpPr>
              <p:spPr>
                <a:xfrm>
                  <a:off x="1031875" y="2678906"/>
                  <a:ext cx="165099" cy="144462"/>
                </a:xfrm>
                <a:custGeom>
                  <a:avLst/>
                  <a:gdLst/>
                  <a:ahLst/>
                  <a:cxnLst/>
                  <a:rect l="l" t="t" r="r" b="b"/>
                  <a:pathLst>
                    <a:path w="165099" h="144462">
                      <a:moveTo>
                        <a:pt x="61912" y="20637"/>
                      </a:moveTo>
                      <a:cubicBezTo>
                        <a:pt x="61912" y="9240"/>
                        <a:pt x="71152" y="0"/>
                        <a:pt x="82550" y="0"/>
                      </a:cubicBezTo>
                      <a:cubicBezTo>
                        <a:pt x="93947" y="0"/>
                        <a:pt x="103187" y="9240"/>
                        <a:pt x="103187" y="20637"/>
                      </a:cubicBezTo>
                      <a:cubicBezTo>
                        <a:pt x="127335" y="32056"/>
                        <a:pt x="143210" y="55868"/>
                        <a:pt x="144462" y="82550"/>
                      </a:cubicBezTo>
                      <a:lnTo>
                        <a:pt x="144462" y="113506"/>
                      </a:lnTo>
                      <a:cubicBezTo>
                        <a:pt x="146037" y="126516"/>
                        <a:pt x="153696" y="138005"/>
                        <a:pt x="165099" y="144462"/>
                      </a:cubicBezTo>
                      <a:lnTo>
                        <a:pt x="0" y="144462"/>
                      </a:lnTo>
                      <a:cubicBezTo>
                        <a:pt x="11403" y="138005"/>
                        <a:pt x="19063" y="126516"/>
                        <a:pt x="20637" y="113506"/>
                      </a:cubicBezTo>
                      <a:lnTo>
                        <a:pt x="20637" y="82550"/>
                      </a:lnTo>
                      <a:cubicBezTo>
                        <a:pt x="21890" y="55868"/>
                        <a:pt x="37765" y="32056"/>
                        <a:pt x="61912" y="20637"/>
                      </a:cubicBezTo>
                    </a:path>
                  </a:pathLst>
                </a:custGeom>
                <a:noFill/>
                <a:ln w="20637">
                  <a:solidFill>
                    <a:schemeClr val="accent1"/>
                  </a:solidFill>
                </a:ln>
              </p:spPr>
            </p:sp>
            <p:sp>
              <p:nvSpPr>
                <p:cNvPr id="24" name="Freeform 24"/>
                <p:cNvSpPr/>
                <p:nvPr/>
              </p:nvSpPr>
              <p:spPr>
                <a:xfrm>
                  <a:off x="1083468" y="2823368"/>
                  <a:ext cx="61912" cy="41275"/>
                </a:xfrm>
                <a:custGeom>
                  <a:avLst/>
                  <a:gdLst/>
                  <a:ahLst/>
                  <a:cxnLst/>
                  <a:rect l="l" t="t" r="r" b="b"/>
                  <a:pathLst>
                    <a:path w="61912" h="41275">
                      <a:moveTo>
                        <a:pt x="0" y="0"/>
                      </a:moveTo>
                      <a:lnTo>
                        <a:pt x="0" y="10319"/>
                      </a:lnTo>
                      <a:cubicBezTo>
                        <a:pt x="0" y="27415"/>
                        <a:pt x="13860" y="41275"/>
                        <a:pt x="30956" y="41275"/>
                      </a:cubicBezTo>
                      <a:cubicBezTo>
                        <a:pt x="48053" y="41275"/>
                        <a:pt x="61912" y="27415"/>
                        <a:pt x="61912" y="10319"/>
                      </a:cubicBezTo>
                      <a:lnTo>
                        <a:pt x="61912" y="0"/>
                      </a:lnTo>
                    </a:path>
                  </a:pathLst>
                </a:custGeom>
                <a:noFill/>
                <a:ln w="20637">
                  <a:solidFill>
                    <a:schemeClr val="accent1"/>
                  </a:solidFill>
                </a:ln>
              </p:spPr>
            </p:sp>
          </p:grpSp>
          <p:sp>
            <p:nvSpPr>
              <p:cNvPr id="26" name="TextBox 26"/>
              <p:cNvSpPr txBox="1"/>
              <p:nvPr/>
            </p:nvSpPr>
            <p:spPr>
              <a:xfrm>
                <a:off x="1417320" y="2595562"/>
                <a:ext cx="643038"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10 s</a:t>
                </a:r>
              </a:p>
            </p:txBody>
          </p:sp>
          <p:sp>
            <p:nvSpPr>
              <p:cNvPr id="27" name="TextBox 27"/>
              <p:cNvSpPr txBox="1"/>
              <p:nvPr/>
            </p:nvSpPr>
            <p:spPr>
              <a:xfrm>
                <a:off x="2429256" y="2644140"/>
                <a:ext cx="330167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显示:火灾报警信号与反馈信号</a:t>
                </a:r>
              </a:p>
            </p:txBody>
          </p:sp>
          <p:sp>
            <p:nvSpPr>
              <p:cNvPr id="28" name="TextBox 28"/>
              <p:cNvSpPr txBox="1"/>
              <p:nvPr/>
            </p:nvSpPr>
            <p:spPr>
              <a:xfrm>
                <a:off x="2431542" y="2940368"/>
                <a:ext cx="242310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5.1 条 e)</a:t>
                </a:r>
              </a:p>
            </p:txBody>
          </p:sp>
          <p:sp>
            <p:nvSpPr>
              <p:cNvPr id="29" name="Line 29"/>
              <p:cNvSpPr/>
              <p:nvPr/>
            </p:nvSpPr>
            <p:spPr>
              <a:xfrm>
                <a:off x="914400" y="3162300"/>
                <a:ext cx="5181600" cy="9525"/>
              </a:xfrm>
              <a:custGeom>
                <a:avLst/>
                <a:gdLst/>
                <a:ahLst/>
                <a:cxnLst/>
                <a:rect l="l" t="t" r="r" b="b"/>
                <a:pathLst>
                  <a:path w="5181600" h="9525">
                    <a:moveTo>
                      <a:pt x="0" y="0"/>
                    </a:moveTo>
                    <a:lnTo>
                      <a:pt x="5181600" y="0"/>
                    </a:lnTo>
                  </a:path>
                </a:pathLst>
              </a:custGeom>
              <a:noFill/>
              <a:ln w="9525">
                <a:solidFill>
                  <a:schemeClr val="accent6"/>
                </a:solidFill>
              </a:ln>
            </p:spPr>
          </p:sp>
        </p:grpSp>
        <p:grpSp>
          <p:nvGrpSpPr>
            <p:cNvPr id="38" name="Group 38"/>
            <p:cNvGrpSpPr/>
            <p:nvPr/>
          </p:nvGrpSpPr>
          <p:grpSpPr>
            <a:xfrm>
              <a:off x="914400" y="3281362"/>
              <a:ext cx="5181600" cy="608839"/>
              <a:chOff x="914400" y="3281362"/>
              <a:chExt cx="5181600" cy="608839"/>
            </a:xfrm>
          </p:grpSpPr>
          <p:grpSp>
            <p:nvGrpSpPr>
              <p:cNvPr id="33" name="Group 33"/>
              <p:cNvGrpSpPr/>
              <p:nvPr/>
            </p:nvGrpSpPr>
            <p:grpSpPr>
              <a:xfrm>
                <a:off x="1021556" y="3395662"/>
                <a:ext cx="185737" cy="123825"/>
                <a:chOff x="1021556" y="3395662"/>
                <a:chExt cx="185737" cy="123825"/>
              </a:xfrm>
            </p:grpSpPr>
            <p:sp>
              <p:nvSpPr>
                <p:cNvPr id="31" name="Freeform 31"/>
                <p:cNvSpPr/>
                <p:nvPr/>
              </p:nvSpPr>
              <p:spPr>
                <a:xfrm>
                  <a:off x="1093787" y="3436937"/>
                  <a:ext cx="41275" cy="41275"/>
                </a:xfrm>
                <a:custGeom>
                  <a:avLst/>
                  <a:gdLst/>
                  <a:ahLst/>
                  <a:cxnLst/>
                  <a:rect l="l" t="t" r="r" b="b"/>
                  <a:pathLst>
                    <a:path w="41275" h="41275">
                      <a:moveTo>
                        <a:pt x="0" y="20637"/>
                      </a:moveTo>
                      <a:cubicBezTo>
                        <a:pt x="0" y="32035"/>
                        <a:pt x="9240" y="41275"/>
                        <a:pt x="20637" y="41275"/>
                      </a:cubicBezTo>
                      <a:cubicBezTo>
                        <a:pt x="32035" y="41275"/>
                        <a:pt x="41275" y="32035"/>
                        <a:pt x="41275" y="20637"/>
                      </a:cubicBezTo>
                      <a:cubicBezTo>
                        <a:pt x="41275" y="9240"/>
                        <a:pt x="32035" y="0"/>
                        <a:pt x="20637" y="0"/>
                      </a:cubicBezTo>
                      <a:cubicBezTo>
                        <a:pt x="9240" y="0"/>
                        <a:pt x="0" y="9240"/>
                        <a:pt x="0" y="20637"/>
                      </a:cubicBezTo>
                    </a:path>
                  </a:pathLst>
                </a:custGeom>
                <a:noFill/>
                <a:ln w="20637">
                  <a:solidFill>
                    <a:schemeClr val="accent1"/>
                  </a:solidFill>
                </a:ln>
              </p:spPr>
            </p:sp>
            <p:sp>
              <p:nvSpPr>
                <p:cNvPr id="32" name="Freeform 32"/>
                <p:cNvSpPr/>
                <p:nvPr/>
              </p:nvSpPr>
              <p:spPr>
                <a:xfrm>
                  <a:off x="1021556" y="3395662"/>
                  <a:ext cx="185737" cy="123825"/>
                </a:xfrm>
                <a:custGeom>
                  <a:avLst/>
                  <a:gdLst/>
                  <a:ahLst/>
                  <a:cxnLst/>
                  <a:rect l="l" t="t" r="r" b="b"/>
                  <a:pathLst>
                    <a:path w="185737" h="123825">
                      <a:moveTo>
                        <a:pt x="185737" y="61912"/>
                      </a:moveTo>
                      <a:cubicBezTo>
                        <a:pt x="160972" y="103187"/>
                        <a:pt x="130016" y="123825"/>
                        <a:pt x="92868" y="123825"/>
                      </a:cubicBezTo>
                      <a:cubicBezTo>
                        <a:pt x="55721" y="123825"/>
                        <a:pt x="24765" y="103187"/>
                        <a:pt x="0" y="61912"/>
                      </a:cubicBezTo>
                      <a:cubicBezTo>
                        <a:pt x="24765" y="20637"/>
                        <a:pt x="55721" y="0"/>
                        <a:pt x="92868" y="0"/>
                      </a:cubicBezTo>
                      <a:cubicBezTo>
                        <a:pt x="130016" y="0"/>
                        <a:pt x="160972" y="20637"/>
                        <a:pt x="185737" y="61912"/>
                      </a:cubicBezTo>
                    </a:path>
                  </a:pathLst>
                </a:custGeom>
                <a:noFill/>
                <a:ln w="20637">
                  <a:solidFill>
                    <a:schemeClr val="accent1"/>
                  </a:solidFill>
                </a:ln>
              </p:spPr>
            </p:sp>
          </p:grpSp>
          <p:sp>
            <p:nvSpPr>
              <p:cNvPr id="34" name="TextBox 34"/>
              <p:cNvSpPr txBox="1"/>
              <p:nvPr/>
            </p:nvSpPr>
            <p:spPr>
              <a:xfrm>
                <a:off x="1417320" y="3281362"/>
                <a:ext cx="81795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100 s</a:t>
                </a:r>
              </a:p>
            </p:txBody>
          </p:sp>
          <p:sp>
            <p:nvSpPr>
              <p:cNvPr id="35" name="TextBox 35"/>
              <p:cNvSpPr txBox="1"/>
              <p:nvPr/>
            </p:nvSpPr>
            <p:spPr>
              <a:xfrm>
                <a:off x="2429256" y="3329940"/>
                <a:ext cx="209009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显示:其他输入信号</a:t>
                </a:r>
              </a:p>
            </p:txBody>
          </p:sp>
          <p:sp>
            <p:nvSpPr>
              <p:cNvPr id="36" name="TextBox 36"/>
              <p:cNvSpPr txBox="1"/>
              <p:nvPr/>
            </p:nvSpPr>
            <p:spPr>
              <a:xfrm>
                <a:off x="2431542" y="3626168"/>
                <a:ext cx="242310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5.1 条 e)</a:t>
                </a:r>
              </a:p>
            </p:txBody>
          </p:sp>
          <p:sp>
            <p:nvSpPr>
              <p:cNvPr id="37" name="Line 37"/>
              <p:cNvSpPr/>
              <p:nvPr/>
            </p:nvSpPr>
            <p:spPr>
              <a:xfrm>
                <a:off x="914400" y="3848100"/>
                <a:ext cx="5181600" cy="9525"/>
              </a:xfrm>
              <a:custGeom>
                <a:avLst/>
                <a:gdLst/>
                <a:ahLst/>
                <a:cxnLst/>
                <a:rect l="l" t="t" r="r" b="b"/>
                <a:pathLst>
                  <a:path w="5181600" h="9525">
                    <a:moveTo>
                      <a:pt x="0" y="0"/>
                    </a:moveTo>
                    <a:lnTo>
                      <a:pt x="5181600" y="0"/>
                    </a:lnTo>
                  </a:path>
                </a:pathLst>
              </a:custGeom>
              <a:noFill/>
              <a:ln w="9525">
                <a:solidFill>
                  <a:schemeClr val="accent6"/>
                </a:solidFill>
              </a:ln>
            </p:spPr>
          </p:sp>
        </p:grpSp>
        <p:grpSp>
          <p:nvGrpSpPr>
            <p:cNvPr id="47" name="Group 47"/>
            <p:cNvGrpSpPr/>
            <p:nvPr/>
          </p:nvGrpSpPr>
          <p:grpSpPr>
            <a:xfrm>
              <a:off x="914400" y="3967162"/>
              <a:ext cx="5181600" cy="608839"/>
              <a:chOff x="914400" y="3967162"/>
              <a:chExt cx="5181600" cy="608839"/>
            </a:xfrm>
          </p:grpSpPr>
          <p:grpSp>
            <p:nvGrpSpPr>
              <p:cNvPr id="42" name="Group 42"/>
              <p:cNvGrpSpPr/>
              <p:nvPr/>
            </p:nvGrpSpPr>
            <p:grpSpPr>
              <a:xfrm>
                <a:off x="1031873" y="4055783"/>
                <a:ext cx="170128" cy="175162"/>
                <a:chOff x="1031873" y="4055783"/>
                <a:chExt cx="170128" cy="175162"/>
              </a:xfrm>
            </p:grpSpPr>
            <p:sp>
              <p:nvSpPr>
                <p:cNvPr id="39" name="Freeform 39"/>
                <p:cNvSpPr/>
                <p:nvPr/>
              </p:nvSpPr>
              <p:spPr>
                <a:xfrm>
                  <a:off x="1083468" y="4112418"/>
                  <a:ext cx="61912" cy="61912"/>
                </a:xfrm>
                <a:custGeom>
                  <a:avLst/>
                  <a:gdLst/>
                  <a:ahLst/>
                  <a:cxnLst/>
                  <a:rect l="l" t="t" r="r" b="b"/>
                  <a:pathLst>
                    <a:path w="61912" h="61912">
                      <a:moveTo>
                        <a:pt x="0" y="61912"/>
                      </a:moveTo>
                      <a:lnTo>
                        <a:pt x="61912" y="0"/>
                      </a:lnTo>
                    </a:path>
                  </a:pathLst>
                </a:custGeom>
                <a:noFill/>
                <a:ln w="20637">
                  <a:solidFill>
                    <a:schemeClr val="accent1"/>
                  </a:solidFill>
                </a:ln>
              </p:spPr>
            </p:sp>
            <p:sp>
              <p:nvSpPr>
                <p:cNvPr id="40" name="Freeform 40"/>
                <p:cNvSpPr/>
                <p:nvPr/>
              </p:nvSpPr>
              <p:spPr>
                <a:xfrm>
                  <a:off x="1104106" y="4055783"/>
                  <a:ext cx="97895" cy="97910"/>
                </a:xfrm>
                <a:custGeom>
                  <a:avLst/>
                  <a:gdLst/>
                  <a:ahLst/>
                  <a:cxnLst/>
                  <a:rect l="l" t="t" r="r" b="b"/>
                  <a:pathLst>
                    <a:path w="97895" h="97910">
                      <a:moveTo>
                        <a:pt x="0" y="25679"/>
                      </a:moveTo>
                      <a:lnTo>
                        <a:pt x="4778" y="20148"/>
                      </a:lnTo>
                      <a:cubicBezTo>
                        <a:pt x="24929" y="0"/>
                        <a:pt x="57598" y="2"/>
                        <a:pt x="77746" y="20154"/>
                      </a:cubicBezTo>
                      <a:cubicBezTo>
                        <a:pt x="97895" y="40305"/>
                        <a:pt x="97892" y="72974"/>
                        <a:pt x="77741" y="93122"/>
                      </a:cubicBezTo>
                      <a:lnTo>
                        <a:pt x="72231" y="97910"/>
                      </a:lnTo>
                    </a:path>
                  </a:pathLst>
                </a:custGeom>
                <a:noFill/>
                <a:ln w="20637">
                  <a:solidFill>
                    <a:schemeClr val="accent1"/>
                  </a:solidFill>
                </a:ln>
              </p:spPr>
            </p:sp>
            <p:sp>
              <p:nvSpPr>
                <p:cNvPr id="41" name="Freeform 41"/>
                <p:cNvSpPr/>
                <p:nvPr/>
              </p:nvSpPr>
              <p:spPr>
                <a:xfrm>
                  <a:off x="1031873" y="4133056"/>
                  <a:ext cx="92870" cy="97889"/>
                </a:xfrm>
                <a:custGeom>
                  <a:avLst/>
                  <a:gdLst/>
                  <a:ahLst/>
                  <a:cxnLst/>
                  <a:rect l="l" t="t" r="r" b="b"/>
                  <a:pathLst>
                    <a:path w="92870" h="97889">
                      <a:moveTo>
                        <a:pt x="92870" y="72231"/>
                      </a:moveTo>
                      <a:lnTo>
                        <a:pt x="88773" y="77741"/>
                      </a:lnTo>
                      <a:cubicBezTo>
                        <a:pt x="68399" y="97889"/>
                        <a:pt x="35606" y="97889"/>
                        <a:pt x="15232" y="77741"/>
                      </a:cubicBezTo>
                      <a:cubicBezTo>
                        <a:pt x="5485" y="68104"/>
                        <a:pt x="0" y="54966"/>
                        <a:pt x="0" y="41259"/>
                      </a:cubicBezTo>
                      <a:cubicBezTo>
                        <a:pt x="0" y="27552"/>
                        <a:pt x="5485" y="14415"/>
                        <a:pt x="15232" y="4778"/>
                      </a:cubicBezTo>
                      <a:lnTo>
                        <a:pt x="20639" y="0"/>
                      </a:lnTo>
                    </a:path>
                  </a:pathLst>
                </a:custGeom>
                <a:noFill/>
                <a:ln w="20637">
                  <a:solidFill>
                    <a:schemeClr val="accent1"/>
                  </a:solidFill>
                </a:ln>
              </p:spPr>
            </p:sp>
          </p:grpSp>
          <p:sp>
            <p:nvSpPr>
              <p:cNvPr id="43" name="TextBox 43"/>
              <p:cNvSpPr txBox="1"/>
              <p:nvPr/>
            </p:nvSpPr>
            <p:spPr>
              <a:xfrm>
                <a:off x="1417320" y="3967162"/>
                <a:ext cx="643038"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10 s</a:t>
                </a:r>
              </a:p>
            </p:txBody>
          </p:sp>
          <p:sp>
            <p:nvSpPr>
              <p:cNvPr id="44" name="TextBox 44"/>
              <p:cNvSpPr txBox="1"/>
              <p:nvPr/>
            </p:nvSpPr>
            <p:spPr>
              <a:xfrm>
                <a:off x="2429256" y="4015740"/>
                <a:ext cx="281703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传输:报警与联动信号上传</a:t>
                </a:r>
              </a:p>
            </p:txBody>
          </p:sp>
          <p:sp>
            <p:nvSpPr>
              <p:cNvPr id="45" name="TextBox 45"/>
              <p:cNvSpPr txBox="1"/>
              <p:nvPr/>
            </p:nvSpPr>
            <p:spPr>
              <a:xfrm>
                <a:off x="2431542" y="4311968"/>
                <a:ext cx="21686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7.1 条</a:t>
                </a:r>
              </a:p>
            </p:txBody>
          </p:sp>
          <p:sp>
            <p:nvSpPr>
              <p:cNvPr id="46" name="Line 46"/>
              <p:cNvSpPr/>
              <p:nvPr/>
            </p:nvSpPr>
            <p:spPr>
              <a:xfrm>
                <a:off x="914400" y="4533900"/>
                <a:ext cx="5181600" cy="9525"/>
              </a:xfrm>
              <a:custGeom>
                <a:avLst/>
                <a:gdLst/>
                <a:ahLst/>
                <a:cxnLst/>
                <a:rect l="l" t="t" r="r" b="b"/>
                <a:pathLst>
                  <a:path w="5181600" h="9525">
                    <a:moveTo>
                      <a:pt x="0" y="0"/>
                    </a:moveTo>
                    <a:lnTo>
                      <a:pt x="5181600" y="0"/>
                    </a:lnTo>
                  </a:path>
                </a:pathLst>
              </a:custGeom>
              <a:noFill/>
              <a:ln w="9525">
                <a:solidFill>
                  <a:schemeClr val="accent6"/>
                </a:solidFill>
              </a:ln>
            </p:spPr>
          </p:sp>
        </p:grpSp>
        <p:grpSp>
          <p:nvGrpSpPr>
            <p:cNvPr id="57" name="Group 57"/>
            <p:cNvGrpSpPr/>
            <p:nvPr/>
          </p:nvGrpSpPr>
          <p:grpSpPr>
            <a:xfrm>
              <a:off x="914400" y="4652962"/>
              <a:ext cx="5181600" cy="608839"/>
              <a:chOff x="914400" y="4652962"/>
              <a:chExt cx="5181600" cy="608839"/>
            </a:xfrm>
          </p:grpSpPr>
          <p:grpSp>
            <p:nvGrpSpPr>
              <p:cNvPr id="52" name="Group 52"/>
              <p:cNvGrpSpPr/>
              <p:nvPr/>
            </p:nvGrpSpPr>
            <p:grpSpPr>
              <a:xfrm>
                <a:off x="1021556" y="4746625"/>
                <a:ext cx="185737" cy="174624"/>
                <a:chOff x="1021556" y="4746625"/>
                <a:chExt cx="185737" cy="174624"/>
              </a:xfrm>
            </p:grpSpPr>
            <p:sp>
              <p:nvSpPr>
                <p:cNvPr id="48" name="Freeform 48"/>
                <p:cNvSpPr/>
                <p:nvPr/>
              </p:nvSpPr>
              <p:spPr>
                <a:xfrm>
                  <a:off x="1021556" y="4746625"/>
                  <a:ext cx="185737" cy="123825"/>
                </a:xfrm>
                <a:custGeom>
                  <a:avLst/>
                  <a:gdLst/>
                  <a:ahLst/>
                  <a:cxnLst/>
                  <a:rect l="l" t="t" r="r" b="b"/>
                  <a:pathLst>
                    <a:path w="185737" h="123825">
                      <a:moveTo>
                        <a:pt x="0" y="10319"/>
                      </a:moveTo>
                      <a:cubicBezTo>
                        <a:pt x="0" y="4620"/>
                        <a:pt x="4620" y="0"/>
                        <a:pt x="10319" y="0"/>
                      </a:cubicBezTo>
                      <a:lnTo>
                        <a:pt x="175418" y="0"/>
                      </a:lnTo>
                      <a:cubicBezTo>
                        <a:pt x="181117" y="0"/>
                        <a:pt x="185737" y="4620"/>
                        <a:pt x="185737" y="10319"/>
                      </a:cubicBezTo>
                      <a:lnTo>
                        <a:pt x="185737" y="113506"/>
                      </a:lnTo>
                      <a:cubicBezTo>
                        <a:pt x="185737" y="119205"/>
                        <a:pt x="181117" y="123825"/>
                        <a:pt x="175418" y="123825"/>
                      </a:cubicBezTo>
                      <a:lnTo>
                        <a:pt x="10319" y="123825"/>
                      </a:lnTo>
                      <a:cubicBezTo>
                        <a:pt x="4620" y="123825"/>
                        <a:pt x="0" y="119205"/>
                        <a:pt x="0" y="113506"/>
                      </a:cubicBezTo>
                      <a:lnTo>
                        <a:pt x="0" y="10319"/>
                      </a:lnTo>
                    </a:path>
                  </a:pathLst>
                </a:custGeom>
                <a:noFill/>
                <a:ln w="20637">
                  <a:solidFill>
                    <a:schemeClr val="accent1"/>
                  </a:solidFill>
                </a:ln>
              </p:spPr>
            </p:sp>
            <p:sp>
              <p:nvSpPr>
                <p:cNvPr id="49" name="Freeform 49"/>
                <p:cNvSpPr/>
                <p:nvPr/>
              </p:nvSpPr>
              <p:spPr>
                <a:xfrm>
                  <a:off x="1062831" y="4911724"/>
                  <a:ext cx="103187" cy="9525"/>
                </a:xfrm>
                <a:custGeom>
                  <a:avLst/>
                  <a:gdLst/>
                  <a:ahLst/>
                  <a:cxnLst/>
                  <a:rect l="l" t="t" r="r" b="b"/>
                  <a:pathLst>
                    <a:path w="103187" h="9525">
                      <a:moveTo>
                        <a:pt x="0" y="0"/>
                      </a:moveTo>
                      <a:lnTo>
                        <a:pt x="103187" y="0"/>
                      </a:lnTo>
                    </a:path>
                  </a:pathLst>
                </a:custGeom>
                <a:noFill/>
                <a:ln w="20637">
                  <a:solidFill>
                    <a:schemeClr val="accent1"/>
                  </a:solidFill>
                </a:ln>
              </p:spPr>
            </p:sp>
            <p:sp>
              <p:nvSpPr>
                <p:cNvPr id="50" name="Freeform 50"/>
                <p:cNvSpPr/>
                <p:nvPr/>
              </p:nvSpPr>
              <p:spPr>
                <a:xfrm>
                  <a:off x="1083468" y="4870449"/>
                  <a:ext cx="9525" cy="41275"/>
                </a:xfrm>
                <a:custGeom>
                  <a:avLst/>
                  <a:gdLst/>
                  <a:ahLst/>
                  <a:cxnLst/>
                  <a:rect l="l" t="t" r="r" b="b"/>
                  <a:pathLst>
                    <a:path w="9525" h="41275">
                      <a:moveTo>
                        <a:pt x="0" y="0"/>
                      </a:moveTo>
                      <a:lnTo>
                        <a:pt x="0" y="41275"/>
                      </a:lnTo>
                    </a:path>
                  </a:pathLst>
                </a:custGeom>
                <a:noFill/>
                <a:ln w="20637">
                  <a:solidFill>
                    <a:schemeClr val="accent1"/>
                  </a:solidFill>
                </a:ln>
              </p:spPr>
            </p:sp>
            <p:sp>
              <p:nvSpPr>
                <p:cNvPr id="51" name="Freeform 51"/>
                <p:cNvSpPr/>
                <p:nvPr/>
              </p:nvSpPr>
              <p:spPr>
                <a:xfrm>
                  <a:off x="1145381" y="4870449"/>
                  <a:ext cx="9525" cy="41275"/>
                </a:xfrm>
                <a:custGeom>
                  <a:avLst/>
                  <a:gdLst/>
                  <a:ahLst/>
                  <a:cxnLst/>
                  <a:rect l="l" t="t" r="r" b="b"/>
                  <a:pathLst>
                    <a:path w="9525" h="41275">
                      <a:moveTo>
                        <a:pt x="0" y="0"/>
                      </a:moveTo>
                      <a:lnTo>
                        <a:pt x="0" y="41275"/>
                      </a:lnTo>
                    </a:path>
                  </a:pathLst>
                </a:custGeom>
                <a:noFill/>
                <a:ln w="20637">
                  <a:solidFill>
                    <a:schemeClr val="accent1"/>
                  </a:solidFill>
                </a:ln>
              </p:spPr>
            </p:sp>
          </p:grpSp>
          <p:sp>
            <p:nvSpPr>
              <p:cNvPr id="53" name="TextBox 53"/>
              <p:cNvSpPr txBox="1"/>
              <p:nvPr/>
            </p:nvSpPr>
            <p:spPr>
              <a:xfrm>
                <a:off x="1417320" y="4652962"/>
                <a:ext cx="81795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100 s</a:t>
                </a:r>
              </a:p>
            </p:txBody>
          </p:sp>
          <p:sp>
            <p:nvSpPr>
              <p:cNvPr id="54" name="TextBox 54"/>
              <p:cNvSpPr txBox="1"/>
              <p:nvPr/>
            </p:nvSpPr>
            <p:spPr>
              <a:xfrm>
                <a:off x="2429256" y="4701540"/>
                <a:ext cx="257472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传输:运行状态信息上传</a:t>
                </a:r>
              </a:p>
            </p:txBody>
          </p:sp>
          <p:sp>
            <p:nvSpPr>
              <p:cNvPr id="55" name="TextBox 55"/>
              <p:cNvSpPr txBox="1"/>
              <p:nvPr/>
            </p:nvSpPr>
            <p:spPr>
              <a:xfrm>
                <a:off x="2431542" y="4997768"/>
                <a:ext cx="21686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7.2 条</a:t>
                </a:r>
              </a:p>
            </p:txBody>
          </p:sp>
          <p:sp>
            <p:nvSpPr>
              <p:cNvPr id="56" name="Line 56"/>
              <p:cNvSpPr/>
              <p:nvPr/>
            </p:nvSpPr>
            <p:spPr>
              <a:xfrm>
                <a:off x="914400" y="5219700"/>
                <a:ext cx="5181600" cy="9525"/>
              </a:xfrm>
              <a:custGeom>
                <a:avLst/>
                <a:gdLst/>
                <a:ahLst/>
                <a:cxnLst/>
                <a:rect l="l" t="t" r="r" b="b"/>
                <a:pathLst>
                  <a:path w="5181600" h="9525">
                    <a:moveTo>
                      <a:pt x="0" y="0"/>
                    </a:moveTo>
                    <a:lnTo>
                      <a:pt x="5181600" y="0"/>
                    </a:lnTo>
                  </a:path>
                </a:pathLst>
              </a:custGeom>
              <a:noFill/>
              <a:ln w="9525">
                <a:solidFill>
                  <a:schemeClr val="accent6"/>
                </a:solidFill>
              </a:ln>
            </p:spPr>
          </p:sp>
        </p:grpSp>
        <p:grpSp>
          <p:nvGrpSpPr>
            <p:cNvPr id="62" name="Group 62"/>
            <p:cNvGrpSpPr/>
            <p:nvPr/>
          </p:nvGrpSpPr>
          <p:grpSpPr>
            <a:xfrm>
              <a:off x="1042194" y="5338762"/>
              <a:ext cx="4555458" cy="608839"/>
              <a:chOff x="1042194" y="5338762"/>
              <a:chExt cx="4555458" cy="608839"/>
            </a:xfrm>
          </p:grpSpPr>
          <p:sp>
            <p:nvSpPr>
              <p:cNvPr id="58" name="Freeform 58"/>
              <p:cNvSpPr/>
              <p:nvPr/>
            </p:nvSpPr>
            <p:spPr>
              <a:xfrm>
                <a:off x="1042194" y="5411787"/>
                <a:ext cx="144462" cy="196056"/>
              </a:xfrm>
              <a:custGeom>
                <a:avLst/>
                <a:gdLst/>
                <a:ahLst/>
                <a:cxnLst/>
                <a:rect l="l" t="t" r="r" b="b"/>
                <a:pathLst>
                  <a:path w="144462" h="196056">
                    <a:moveTo>
                      <a:pt x="72231" y="92260"/>
                    </a:moveTo>
                    <a:cubicBezTo>
                      <a:pt x="96305" y="58125"/>
                      <a:pt x="73954" y="11536"/>
                      <a:pt x="61912" y="0"/>
                    </a:cubicBezTo>
                    <a:cubicBezTo>
                      <a:pt x="61912" y="35032"/>
                      <a:pt x="38850" y="54679"/>
                      <a:pt x="24074" y="69197"/>
                    </a:cubicBezTo>
                    <a:cubicBezTo>
                      <a:pt x="9318" y="83726"/>
                      <a:pt x="0" y="103187"/>
                      <a:pt x="0" y="126858"/>
                    </a:cubicBezTo>
                    <a:cubicBezTo>
                      <a:pt x="0" y="165079"/>
                      <a:pt x="32339" y="196056"/>
                      <a:pt x="72231" y="196056"/>
                    </a:cubicBezTo>
                    <a:cubicBezTo>
                      <a:pt x="112123" y="196056"/>
                      <a:pt x="144462" y="165079"/>
                      <a:pt x="144462" y="126858"/>
                    </a:cubicBezTo>
                    <a:cubicBezTo>
                      <a:pt x="144462" y="109193"/>
                      <a:pt x="131749" y="81425"/>
                      <a:pt x="120388" y="69197"/>
                    </a:cubicBezTo>
                    <a:cubicBezTo>
                      <a:pt x="98884" y="103796"/>
                      <a:pt x="86780" y="103796"/>
                      <a:pt x="72231" y="92260"/>
                    </a:cubicBezTo>
                  </a:path>
                </a:pathLst>
              </a:custGeom>
              <a:noFill/>
              <a:ln w="20637">
                <a:solidFill>
                  <a:schemeClr val="accent3"/>
                </a:solidFill>
              </a:ln>
            </p:spPr>
          </p:sp>
          <p:sp>
            <p:nvSpPr>
              <p:cNvPr id="59" name="TextBox 59"/>
              <p:cNvSpPr txBox="1"/>
              <p:nvPr/>
            </p:nvSpPr>
            <p:spPr>
              <a:xfrm>
                <a:off x="1417320" y="5338762"/>
                <a:ext cx="628650" cy="440055"/>
              </a:xfrm>
              <a:prstGeom prst="rect">
                <a:avLst/>
              </a:prstGeom>
              <a:noFill/>
              <a:ln>
                <a:noFill/>
              </a:ln>
            </p:spPr>
            <p:txBody>
              <a:bodyPr wrap="none" lIns="0" tIns="0" rIns="0" bIns="0" anchor="t" anchorCtr="0">
                <a:spAutoFit/>
              </a:bodyPr>
              <a:lstStyle/>
              <a:p>
                <a:pPr algn="l"/>
                <a:r>
                  <a:rPr lang="zh-CN" sz="2250" b="1" dirty="0">
                    <a:solidFill>
                      <a:schemeClr val="accent3"/>
                    </a:solidFill>
                    <a:latin typeface="+mn-lt"/>
                    <a:ea typeface="+mn-ea"/>
                    <a:cs typeface="+mn-cs"/>
                  </a:rPr>
                  <a:t>优先</a:t>
                </a:r>
              </a:p>
            </p:txBody>
          </p:sp>
          <p:sp>
            <p:nvSpPr>
              <p:cNvPr id="60" name="TextBox 60"/>
              <p:cNvSpPr txBox="1"/>
              <p:nvPr/>
            </p:nvSpPr>
            <p:spPr>
              <a:xfrm>
                <a:off x="2429256" y="5387340"/>
                <a:ext cx="31683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火灾报警信息优先于其他信息</a:t>
                </a:r>
              </a:p>
            </p:txBody>
          </p:sp>
          <p:sp>
            <p:nvSpPr>
              <p:cNvPr id="61" name="TextBox 61"/>
              <p:cNvSpPr txBox="1"/>
              <p:nvPr/>
            </p:nvSpPr>
            <p:spPr>
              <a:xfrm>
                <a:off x="2431542" y="5683568"/>
                <a:ext cx="21686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7.6 条</a:t>
                </a:r>
              </a:p>
            </p:txBody>
          </p:sp>
        </p:grpSp>
      </p:grpSp>
      <p:grpSp>
        <p:nvGrpSpPr>
          <p:cNvPr id="65" name="Group 65"/>
          <p:cNvGrpSpPr/>
          <p:nvPr/>
        </p:nvGrpSpPr>
        <p:grpSpPr>
          <a:xfrm>
            <a:off x="6670377" y="2400300"/>
            <a:ext cx="4909145" cy="3295650"/>
            <a:chOff x="6670377" y="2400300"/>
            <a:chExt cx="4909145" cy="3295650"/>
          </a:xfrm>
        </p:grpSpPr>
        <p:pic>
          <p:nvPicPr>
            <p:cNvPr id="64" name="Image 64"/>
            <p:cNvPicPr>
              <a:picLocks noChangeAspect="1"/>
            </p:cNvPicPr>
            <p:nvPr/>
          </p:nvPicPr>
          <p:blipFill>
            <a:blip r:embed="rId2"/>
            <a:stretch>
              <a:fillRect/>
            </a:stretch>
          </p:blipFill>
          <p:spPr>
            <a:xfrm>
              <a:off x="6670377" y="2400300"/>
              <a:ext cx="4909145" cy="3295650"/>
            </a:xfrm>
            <a:prstGeom prst="rect">
              <a:avLst/>
            </a:prstGeom>
          </p:spPr>
        </p:pic>
      </p:grpSp>
      <p:grpSp>
        <p:nvGrpSpPr>
          <p:cNvPr id="68" name="Group 68"/>
          <p:cNvGrpSpPr/>
          <p:nvPr/>
        </p:nvGrpSpPr>
        <p:grpSpPr>
          <a:xfrm>
            <a:off x="6667500" y="5810250"/>
            <a:ext cx="3359658" cy="575501"/>
            <a:chOff x="6667500" y="5810250"/>
            <a:chExt cx="3359658" cy="575501"/>
          </a:xfrm>
        </p:grpSpPr>
        <p:sp>
          <p:nvSpPr>
            <p:cNvPr id="66" name="Rectangle 66"/>
            <p:cNvSpPr/>
            <p:nvPr/>
          </p:nvSpPr>
          <p:spPr>
            <a:xfrm>
              <a:off x="6667500" y="5810250"/>
              <a:ext cx="47625" cy="514350"/>
            </a:xfrm>
            <a:prstGeom prst="rect">
              <a:avLst/>
            </a:prstGeom>
            <a:solidFill>
              <a:schemeClr val="accent1"/>
            </a:solidFill>
            <a:ln>
              <a:noFill/>
            </a:ln>
          </p:spPr>
        </p:sp>
        <p:sp>
          <p:nvSpPr>
            <p:cNvPr id="67" name="TextBox 67"/>
            <p:cNvSpPr txBox="1"/>
            <p:nvPr/>
          </p:nvSpPr>
          <p:spPr>
            <a:xfrm>
              <a:off x="6927342" y="5874068"/>
              <a:ext cx="30998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第 6.1—6.3 条:三类记录容量均不应少于</a:t>
              </a:r>
              <a:br/>
              <a:r>
                <a:rPr lang="zh-CN" sz="1350" dirty="0">
                  <a:solidFill>
                    <a:schemeClr val="dk1"/>
                  </a:solidFill>
                  <a:latin typeface="+mn-lt"/>
                  <a:ea typeface="+mn-ea"/>
                  <a:cs typeface="+mn-cs"/>
                </a:rPr>
                <a:t>10 000 条,记录备份后方可被覆盖。</a:t>
              </a:r>
            </a:p>
          </p:txBody>
        </p:sp>
      </p:grpSp>
      <p:grpSp>
        <p:nvGrpSpPr>
          <p:cNvPr id="71" name="Group 71"/>
          <p:cNvGrpSpPr/>
          <p:nvPr/>
        </p:nvGrpSpPr>
        <p:grpSpPr>
          <a:xfrm>
            <a:off x="908304" y="6423660"/>
            <a:ext cx="10680192" cy="234696"/>
            <a:chOff x="908304" y="6423660"/>
            <a:chExt cx="10680192" cy="234696"/>
          </a:xfrm>
        </p:grpSpPr>
        <p:sp>
          <p:nvSpPr>
            <p:cNvPr id="69" name="TextBox 69"/>
            <p:cNvSpPr txBox="1"/>
            <p:nvPr/>
          </p:nvSpPr>
          <p:spPr>
            <a:xfrm>
              <a:off x="908304" y="6423660"/>
              <a:ext cx="439354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25506-2010《消防控制室通用技术要求》第 5—7 章</a:t>
              </a:r>
            </a:p>
          </p:txBody>
        </p:sp>
        <p:sp>
          <p:nvSpPr>
            <p:cNvPr id="70" name="TextBox 70"/>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600"/>
                                        <p:tgtEl>
                                          <p:spTgt spid="65"/>
                                        </p:tgtEl>
                                      </p:cBhvr>
                                    </p:animEffect>
                                  </p:childTnLst>
                                </p:cTn>
                              </p:par>
                            </p:childTnLst>
                          </p:cTn>
                        </p:par>
                        <p:par>
                          <p:cTn id="8" fill="hold">
                            <p:stCondLst>
                              <p:cond delay="6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63"/>
                                        </p:tgtEl>
                                        <p:attrNameLst>
                                          <p:attrName>style.visibility</p:attrName>
                                        </p:attrNameLst>
                                      </p:cBhvr>
                                      <p:to>
                                        <p:strVal val="visible"/>
                                      </p:to>
                                    </p:set>
                                    <p:animEffect transition="in" filter="wipe(down)">
                                      <p:cBhvr>
                                        <p:cTn id="11" dur="700"/>
                                        <p:tgtEl>
                                          <p:spTgt spid="63"/>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976076" cy="264033"/>
            <a:chOff x="907542" y="787718"/>
            <a:chExt cx="1976076" cy="264033"/>
          </a:xfrm>
        </p:grpSpPr>
        <p:sp>
          <p:nvSpPr>
            <p:cNvPr id="17" name="TextBox 17"/>
            <p:cNvSpPr txBox="1"/>
            <p:nvPr/>
          </p:nvSpPr>
          <p:spPr>
            <a:xfrm>
              <a:off x="907542" y="787718"/>
              <a:ext cx="1976076"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第三节 · 判断轴总览</a:t>
              </a:r>
            </a:p>
          </p:txBody>
        </p:sp>
      </p:grpSp>
      <p:grpSp>
        <p:nvGrpSpPr>
          <p:cNvPr id="20" name="Group 20"/>
          <p:cNvGrpSpPr/>
          <p:nvPr/>
        </p:nvGrpSpPr>
        <p:grpSpPr>
          <a:xfrm>
            <a:off x="899160" y="1123950"/>
            <a:ext cx="8170278" cy="586740"/>
            <a:chOff x="899160" y="1123950"/>
            <a:chExt cx="8170278" cy="586740"/>
          </a:xfrm>
        </p:grpSpPr>
        <p:sp>
          <p:nvSpPr>
            <p:cNvPr id="19" name="TextBox 19"/>
            <p:cNvSpPr txBox="1"/>
            <p:nvPr/>
          </p:nvSpPr>
          <p:spPr>
            <a:xfrm>
              <a:off x="899160" y="1123950"/>
              <a:ext cx="8170278"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四级判断轴:你在哪一级,决定你下一步做什么</a:t>
              </a:r>
            </a:p>
          </p:txBody>
        </p:sp>
      </p:grpSp>
      <p:grpSp>
        <p:nvGrpSpPr>
          <p:cNvPr id="22" name="Group 22"/>
          <p:cNvGrpSpPr/>
          <p:nvPr/>
        </p:nvGrpSpPr>
        <p:grpSpPr>
          <a:xfrm>
            <a:off x="903732" y="1678305"/>
            <a:ext cx="9223286" cy="410718"/>
            <a:chOff x="903732" y="1678305"/>
            <a:chExt cx="9223286" cy="410718"/>
          </a:xfrm>
        </p:grpSpPr>
        <p:sp>
          <p:nvSpPr>
            <p:cNvPr id="21" name="TextBox 21"/>
            <p:cNvSpPr txBox="1"/>
            <p:nvPr/>
          </p:nvSpPr>
          <p:spPr>
            <a:xfrm>
              <a:off x="903732" y="1678305"/>
              <a:ext cx="922328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分级为本手册整理;条文只区分接到警报、确认、确认为火灾后三个状态。</a:t>
              </a:r>
            </a:p>
          </p:txBody>
        </p:sp>
      </p:grpSp>
      <p:grpSp>
        <p:nvGrpSpPr>
          <p:cNvPr id="45" name="!!judgment-axis"/>
          <p:cNvGrpSpPr/>
          <p:nvPr/>
        </p:nvGrpSpPr>
        <p:grpSpPr>
          <a:xfrm>
            <a:off x="1200150" y="2495550"/>
            <a:ext cx="4352811" cy="3276600"/>
            <a:chOff x="1200150" y="2495550"/>
            <a:chExt cx="4352811" cy="3276600"/>
          </a:xfrm>
        </p:grpSpPr>
        <p:sp>
          <p:nvSpPr>
            <p:cNvPr id="23" name="Line 23"/>
            <p:cNvSpPr/>
            <p:nvPr/>
          </p:nvSpPr>
          <p:spPr>
            <a:xfrm>
              <a:off x="1333500" y="2628900"/>
              <a:ext cx="1" cy="3143250"/>
            </a:xfrm>
            <a:prstGeom prst="line">
              <a:avLst/>
            </a:prstGeom>
            <a:noFill/>
            <a:ln w="28575">
              <a:solidFill>
                <a:schemeClr val="accent1"/>
              </a:solidFill>
              <a:tailEnd type="triangle" w="lg" len="lg"/>
            </a:ln>
          </p:spPr>
        </p:sp>
        <p:sp>
          <p:nvSpPr>
            <p:cNvPr id="24" name="Ellipse 24"/>
            <p:cNvSpPr/>
            <p:nvPr/>
          </p:nvSpPr>
          <p:spPr>
            <a:xfrm>
              <a:off x="1257300" y="2495550"/>
              <a:ext cx="152400" cy="152400"/>
            </a:xfrm>
            <a:prstGeom prst="ellipse">
              <a:avLst/>
            </a:prstGeom>
            <a:solidFill>
              <a:schemeClr val="accent2"/>
            </a:solidFill>
            <a:ln>
              <a:noFill/>
            </a:ln>
          </p:spPr>
        </p:sp>
        <p:grpSp>
          <p:nvGrpSpPr>
            <p:cNvPr id="29" name="Group 29"/>
            <p:cNvGrpSpPr/>
            <p:nvPr/>
          </p:nvGrpSpPr>
          <p:grpSpPr>
            <a:xfrm>
              <a:off x="1200150" y="2701290"/>
              <a:ext cx="3989337" cy="579311"/>
              <a:chOff x="1200150" y="2701290"/>
              <a:chExt cx="3989337" cy="579311"/>
            </a:xfrm>
          </p:grpSpPr>
          <p:sp>
            <p:nvSpPr>
              <p:cNvPr id="25" name="Ellipse 25"/>
              <p:cNvSpPr/>
              <p:nvPr/>
            </p:nvSpPr>
            <p:spPr>
              <a:xfrm>
                <a:off x="1200150" y="2724150"/>
                <a:ext cx="266700" cy="266700"/>
              </a:xfrm>
              <a:prstGeom prst="ellipse">
                <a:avLst/>
              </a:prstGeom>
              <a:solidFill>
                <a:schemeClr val="lt1"/>
              </a:solidFill>
              <a:ln w="28575">
                <a:solidFill>
                  <a:schemeClr val="accent1"/>
                </a:solidFill>
              </a:ln>
            </p:spPr>
          </p:sp>
          <p:sp>
            <p:nvSpPr>
              <p:cNvPr id="26" name="TextBox 26"/>
              <p:cNvSpPr txBox="1"/>
              <p:nvPr/>
            </p:nvSpPr>
            <p:spPr>
              <a:xfrm>
                <a:off x="1703070" y="2709862"/>
                <a:ext cx="392506"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L0</a:t>
                </a:r>
              </a:p>
            </p:txBody>
          </p:sp>
          <p:sp>
            <p:nvSpPr>
              <p:cNvPr id="27" name="TextBox 27"/>
              <p:cNvSpPr txBox="1"/>
              <p:nvPr/>
            </p:nvSpPr>
            <p:spPr>
              <a:xfrm>
                <a:off x="2429256" y="2701290"/>
                <a:ext cx="745236"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待确认</a:t>
                </a:r>
              </a:p>
            </p:txBody>
          </p:sp>
          <p:sp>
            <p:nvSpPr>
              <p:cNvPr id="28" name="TextBox 28"/>
              <p:cNvSpPr txBox="1"/>
              <p:nvPr/>
            </p:nvSpPr>
            <p:spPr>
              <a:xfrm>
                <a:off x="2431542" y="3016568"/>
                <a:ext cx="275794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信号已到,性质未定;时间开始计时</a:t>
                </a:r>
              </a:p>
            </p:txBody>
          </p:sp>
        </p:grpSp>
        <p:grpSp>
          <p:nvGrpSpPr>
            <p:cNvPr id="34" name="Group 34"/>
            <p:cNvGrpSpPr/>
            <p:nvPr/>
          </p:nvGrpSpPr>
          <p:grpSpPr>
            <a:xfrm>
              <a:off x="1200150" y="3520440"/>
              <a:ext cx="4352811" cy="579311"/>
              <a:chOff x="1200150" y="3520440"/>
              <a:chExt cx="4352811" cy="579311"/>
            </a:xfrm>
          </p:grpSpPr>
          <p:sp>
            <p:nvSpPr>
              <p:cNvPr id="30" name="Ellipse 30"/>
              <p:cNvSpPr/>
              <p:nvPr/>
            </p:nvSpPr>
            <p:spPr>
              <a:xfrm>
                <a:off x="1200150" y="3543300"/>
                <a:ext cx="266700" cy="266700"/>
              </a:xfrm>
              <a:prstGeom prst="ellipse">
                <a:avLst/>
              </a:prstGeom>
              <a:solidFill>
                <a:schemeClr val="lt1"/>
              </a:solidFill>
              <a:ln w="28575">
                <a:solidFill>
                  <a:schemeClr val="accent1"/>
                </a:solidFill>
              </a:ln>
            </p:spPr>
          </p:sp>
          <p:sp>
            <p:nvSpPr>
              <p:cNvPr id="31" name="TextBox 31"/>
              <p:cNvSpPr txBox="1"/>
              <p:nvPr/>
            </p:nvSpPr>
            <p:spPr>
              <a:xfrm>
                <a:off x="1703070" y="3529012"/>
                <a:ext cx="392506"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L1</a:t>
                </a:r>
              </a:p>
            </p:txBody>
          </p:sp>
          <p:sp>
            <p:nvSpPr>
              <p:cNvPr id="32" name="TextBox 32"/>
              <p:cNvSpPr txBox="1"/>
              <p:nvPr/>
            </p:nvSpPr>
            <p:spPr>
              <a:xfrm>
                <a:off x="2429256" y="3520440"/>
                <a:ext cx="745236"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非火警</a:t>
                </a:r>
              </a:p>
            </p:txBody>
          </p:sp>
          <p:sp>
            <p:nvSpPr>
              <p:cNvPr id="33" name="TextBox 33"/>
              <p:cNvSpPr txBox="1"/>
              <p:nvPr/>
            </p:nvSpPr>
            <p:spPr>
              <a:xfrm>
                <a:off x="2431542" y="3835718"/>
                <a:ext cx="31214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核实为误报;时间压力解除,记录不解除</a:t>
                </a:r>
              </a:p>
            </p:txBody>
          </p:sp>
        </p:grpSp>
        <p:grpSp>
          <p:nvGrpSpPr>
            <p:cNvPr id="39" name="Group 39"/>
            <p:cNvGrpSpPr/>
            <p:nvPr/>
          </p:nvGrpSpPr>
          <p:grpSpPr>
            <a:xfrm>
              <a:off x="1200150" y="4339590"/>
              <a:ext cx="3889381" cy="579311"/>
              <a:chOff x="1200150" y="4339590"/>
              <a:chExt cx="3889381" cy="579311"/>
            </a:xfrm>
          </p:grpSpPr>
          <p:sp>
            <p:nvSpPr>
              <p:cNvPr id="35" name="Ellipse 35"/>
              <p:cNvSpPr/>
              <p:nvPr/>
            </p:nvSpPr>
            <p:spPr>
              <a:xfrm>
                <a:off x="1200150" y="4362450"/>
                <a:ext cx="266700" cy="266700"/>
              </a:xfrm>
              <a:prstGeom prst="ellipse">
                <a:avLst/>
              </a:prstGeom>
              <a:solidFill>
                <a:schemeClr val="lt1"/>
              </a:solidFill>
              <a:ln w="28575">
                <a:solidFill>
                  <a:schemeClr val="accent3"/>
                </a:solidFill>
              </a:ln>
            </p:spPr>
          </p:sp>
          <p:sp>
            <p:nvSpPr>
              <p:cNvPr id="36" name="TextBox 36"/>
              <p:cNvSpPr txBox="1"/>
              <p:nvPr/>
            </p:nvSpPr>
            <p:spPr>
              <a:xfrm>
                <a:off x="1703070" y="4348162"/>
                <a:ext cx="392506" cy="440055"/>
              </a:xfrm>
              <a:prstGeom prst="rect">
                <a:avLst/>
              </a:prstGeom>
              <a:noFill/>
              <a:ln>
                <a:noFill/>
              </a:ln>
            </p:spPr>
            <p:txBody>
              <a:bodyPr wrap="none" lIns="0" tIns="0" rIns="0" bIns="0" anchor="t" anchorCtr="0">
                <a:spAutoFit/>
              </a:bodyPr>
              <a:lstStyle/>
              <a:p>
                <a:pPr algn="l"/>
                <a:r>
                  <a:rPr lang="zh-CN" sz="2250" b="1" dirty="0">
                    <a:solidFill>
                      <a:schemeClr val="accent3"/>
                    </a:solidFill>
                    <a:latin typeface="+mn-lt"/>
                    <a:ea typeface="+mn-ea"/>
                    <a:cs typeface="+mn-cs"/>
                  </a:rPr>
                  <a:t>L2</a:t>
                </a:r>
              </a:p>
            </p:txBody>
          </p:sp>
          <p:sp>
            <p:nvSpPr>
              <p:cNvPr id="37" name="TextBox 37"/>
              <p:cNvSpPr txBox="1"/>
              <p:nvPr/>
            </p:nvSpPr>
            <p:spPr>
              <a:xfrm>
                <a:off x="2429256" y="4339590"/>
                <a:ext cx="98755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确认火警</a:t>
                </a:r>
              </a:p>
            </p:txBody>
          </p:sp>
          <p:sp>
            <p:nvSpPr>
              <p:cNvPr id="38" name="TextBox 38"/>
              <p:cNvSpPr txBox="1"/>
              <p:nvPr/>
            </p:nvSpPr>
            <p:spPr>
              <a:xfrm>
                <a:off x="2431542" y="4654868"/>
                <a:ext cx="265798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三项动作同时启动,动作不可撤销</a:t>
                </a:r>
              </a:p>
            </p:txBody>
          </p:sp>
        </p:grpSp>
        <p:grpSp>
          <p:nvGrpSpPr>
            <p:cNvPr id="44" name="Group 44"/>
            <p:cNvGrpSpPr/>
            <p:nvPr/>
          </p:nvGrpSpPr>
          <p:grpSpPr>
            <a:xfrm>
              <a:off x="1200150" y="5158740"/>
              <a:ext cx="4252855" cy="579311"/>
              <a:chOff x="1200150" y="5158740"/>
              <a:chExt cx="4252855" cy="579311"/>
            </a:xfrm>
          </p:grpSpPr>
          <p:sp>
            <p:nvSpPr>
              <p:cNvPr id="40" name="Ellipse 40"/>
              <p:cNvSpPr/>
              <p:nvPr/>
            </p:nvSpPr>
            <p:spPr>
              <a:xfrm>
                <a:off x="1200150" y="5181600"/>
                <a:ext cx="266700" cy="266700"/>
              </a:xfrm>
              <a:prstGeom prst="ellipse">
                <a:avLst/>
              </a:prstGeom>
              <a:solidFill>
                <a:schemeClr val="lt1"/>
              </a:solidFill>
              <a:ln w="28575">
                <a:solidFill>
                  <a:schemeClr val="accent1"/>
                </a:solidFill>
              </a:ln>
            </p:spPr>
          </p:sp>
          <p:sp>
            <p:nvSpPr>
              <p:cNvPr id="41" name="TextBox 41"/>
              <p:cNvSpPr txBox="1"/>
              <p:nvPr/>
            </p:nvSpPr>
            <p:spPr>
              <a:xfrm>
                <a:off x="1703070" y="5167312"/>
                <a:ext cx="392506"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L3</a:t>
                </a:r>
              </a:p>
            </p:txBody>
          </p:sp>
          <p:sp>
            <p:nvSpPr>
              <p:cNvPr id="42" name="TextBox 42"/>
              <p:cNvSpPr txBox="1"/>
              <p:nvPr/>
            </p:nvSpPr>
            <p:spPr>
              <a:xfrm>
                <a:off x="2429256" y="5158740"/>
                <a:ext cx="1229868"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移交与记录</a:t>
                </a:r>
              </a:p>
            </p:txBody>
          </p:sp>
          <p:sp>
            <p:nvSpPr>
              <p:cNvPr id="43" name="TextBox 43"/>
              <p:cNvSpPr txBox="1"/>
              <p:nvPr/>
            </p:nvSpPr>
            <p:spPr>
              <a:xfrm>
                <a:off x="2431542" y="5474018"/>
                <a:ext cx="302146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指挥权移交到场力量,记录与归档收尾</a:t>
                </a:r>
              </a:p>
            </p:txBody>
          </p:sp>
        </p:grpSp>
      </p:grpSp>
      <p:grpSp>
        <p:nvGrpSpPr>
          <p:cNvPr id="60" name="Group 60"/>
          <p:cNvGrpSpPr/>
          <p:nvPr/>
        </p:nvGrpSpPr>
        <p:grpSpPr>
          <a:xfrm>
            <a:off x="6466332" y="2552700"/>
            <a:ext cx="5116068" cy="1813751"/>
            <a:chOff x="6466332" y="2552700"/>
            <a:chExt cx="5116068" cy="1813751"/>
          </a:xfrm>
        </p:grpSpPr>
        <p:sp>
          <p:nvSpPr>
            <p:cNvPr id="46" name="Line 46"/>
            <p:cNvSpPr/>
            <p:nvPr/>
          </p:nvSpPr>
          <p:spPr>
            <a:xfrm>
              <a:off x="6477000" y="2552700"/>
              <a:ext cx="5105400" cy="9525"/>
            </a:xfrm>
            <a:custGeom>
              <a:avLst/>
              <a:gdLst/>
              <a:ahLst/>
              <a:cxnLst/>
              <a:rect l="l" t="t" r="r" b="b"/>
              <a:pathLst>
                <a:path w="5105400" h="9525">
                  <a:moveTo>
                    <a:pt x="0" y="0"/>
                  </a:moveTo>
                  <a:lnTo>
                    <a:pt x="5105400" y="0"/>
                  </a:lnTo>
                </a:path>
              </a:pathLst>
            </a:custGeom>
            <a:noFill/>
            <a:ln w="28575">
              <a:solidFill>
                <a:schemeClr val="accent1"/>
              </a:solidFill>
            </a:ln>
          </p:spPr>
        </p:sp>
        <p:sp>
          <p:nvSpPr>
            <p:cNvPr id="47" name="TextBox 47"/>
            <p:cNvSpPr txBox="1"/>
            <p:nvPr/>
          </p:nvSpPr>
          <p:spPr>
            <a:xfrm>
              <a:off x="6466332" y="2726055"/>
              <a:ext cx="284835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随级别上升的两项代价</a:t>
              </a:r>
            </a:p>
          </p:txBody>
        </p:sp>
        <p:grpSp>
          <p:nvGrpSpPr>
            <p:cNvPr id="53" name="Group 53"/>
            <p:cNvGrpSpPr/>
            <p:nvPr/>
          </p:nvGrpSpPr>
          <p:grpSpPr>
            <a:xfrm>
              <a:off x="6507956" y="3196590"/>
              <a:ext cx="3996957" cy="560261"/>
              <a:chOff x="6507956" y="3196590"/>
              <a:chExt cx="3996957" cy="560261"/>
            </a:xfrm>
          </p:grpSpPr>
          <p:grpSp>
            <p:nvGrpSpPr>
              <p:cNvPr id="50" name="Group 50"/>
              <p:cNvGrpSpPr/>
              <p:nvPr/>
            </p:nvGrpSpPr>
            <p:grpSpPr>
              <a:xfrm>
                <a:off x="6507956" y="3231356"/>
                <a:ext cx="185737" cy="185737"/>
                <a:chOff x="6507956" y="3231356"/>
                <a:chExt cx="185737" cy="185737"/>
              </a:xfrm>
            </p:grpSpPr>
            <p:sp>
              <p:nvSpPr>
                <p:cNvPr id="48" name="Freeform 48"/>
                <p:cNvSpPr/>
                <p:nvPr/>
              </p:nvSpPr>
              <p:spPr>
                <a:xfrm>
                  <a:off x="6507956" y="32313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2"/>
                  </a:solidFill>
                </a:ln>
              </p:spPr>
            </p:sp>
            <p:sp>
              <p:nvSpPr>
                <p:cNvPr id="49" name="Freeform 49"/>
                <p:cNvSpPr/>
                <p:nvPr/>
              </p:nvSpPr>
              <p:spPr>
                <a:xfrm>
                  <a:off x="6600825" y="3272631"/>
                  <a:ext cx="30956" cy="82550"/>
                </a:xfrm>
                <a:custGeom>
                  <a:avLst/>
                  <a:gdLst/>
                  <a:ahLst/>
                  <a:cxnLst/>
                  <a:rect l="l" t="t" r="r" b="b"/>
                  <a:pathLst>
                    <a:path w="30956" h="82550">
                      <a:moveTo>
                        <a:pt x="0" y="0"/>
                      </a:moveTo>
                      <a:lnTo>
                        <a:pt x="0" y="51594"/>
                      </a:lnTo>
                      <a:lnTo>
                        <a:pt x="30956" y="82550"/>
                      </a:lnTo>
                    </a:path>
                  </a:pathLst>
                </a:custGeom>
                <a:noFill/>
                <a:ln w="20637">
                  <a:solidFill>
                    <a:schemeClr val="accent2"/>
                  </a:solidFill>
                </a:ln>
              </p:spPr>
            </p:sp>
          </p:grpSp>
          <p:sp>
            <p:nvSpPr>
              <p:cNvPr id="51" name="TextBox 51"/>
              <p:cNvSpPr txBox="1"/>
              <p:nvPr/>
            </p:nvSpPr>
            <p:spPr>
              <a:xfrm>
                <a:off x="6848856" y="31965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可用时间收紧</a:t>
                </a:r>
              </a:p>
            </p:txBody>
          </p:sp>
          <p:sp>
            <p:nvSpPr>
              <p:cNvPr id="52" name="TextBox 52"/>
              <p:cNvSpPr txBox="1"/>
              <p:nvPr/>
            </p:nvSpPr>
            <p:spPr>
              <a:xfrm>
                <a:off x="6851142" y="3492818"/>
                <a:ext cx="36537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L0 起开始计时,越往下每一步越影响到场时间</a:t>
                </a:r>
              </a:p>
            </p:txBody>
          </p:sp>
        </p:grpSp>
        <p:grpSp>
          <p:nvGrpSpPr>
            <p:cNvPr id="59" name="Group 59"/>
            <p:cNvGrpSpPr/>
            <p:nvPr/>
          </p:nvGrpSpPr>
          <p:grpSpPr>
            <a:xfrm>
              <a:off x="6507956" y="3806190"/>
              <a:ext cx="3907974" cy="560261"/>
              <a:chOff x="6507956" y="3806190"/>
              <a:chExt cx="3907974" cy="560261"/>
            </a:xfrm>
          </p:grpSpPr>
          <p:grpSp>
            <p:nvGrpSpPr>
              <p:cNvPr id="56" name="Group 56"/>
              <p:cNvGrpSpPr/>
              <p:nvPr/>
            </p:nvGrpSpPr>
            <p:grpSpPr>
              <a:xfrm>
                <a:off x="6507956" y="3840956"/>
                <a:ext cx="185737" cy="185737"/>
                <a:chOff x="6507956" y="3840956"/>
                <a:chExt cx="185737" cy="185737"/>
              </a:xfrm>
            </p:grpSpPr>
            <p:sp>
              <p:nvSpPr>
                <p:cNvPr id="54" name="Freeform 54"/>
                <p:cNvSpPr/>
                <p:nvPr/>
              </p:nvSpPr>
              <p:spPr>
                <a:xfrm>
                  <a:off x="6507956" y="38409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3"/>
                  </a:solidFill>
                </a:ln>
              </p:spPr>
            </p:sp>
            <p:sp>
              <p:nvSpPr>
                <p:cNvPr id="55" name="Freeform 55"/>
                <p:cNvSpPr/>
                <p:nvPr/>
              </p:nvSpPr>
              <p:spPr>
                <a:xfrm>
                  <a:off x="6535817" y="3868817"/>
                  <a:ext cx="130016" cy="130016"/>
                </a:xfrm>
                <a:custGeom>
                  <a:avLst/>
                  <a:gdLst/>
                  <a:ahLst/>
                  <a:cxnLst/>
                  <a:rect l="l" t="t" r="r" b="b"/>
                  <a:pathLst>
                    <a:path w="130016" h="130016">
                      <a:moveTo>
                        <a:pt x="0" y="0"/>
                      </a:moveTo>
                      <a:lnTo>
                        <a:pt x="130016" y="130016"/>
                      </a:lnTo>
                    </a:path>
                  </a:pathLst>
                </a:custGeom>
                <a:noFill/>
                <a:ln w="20637">
                  <a:solidFill>
                    <a:schemeClr val="accent3"/>
                  </a:solidFill>
                </a:ln>
              </p:spPr>
            </p:sp>
          </p:grpSp>
          <p:sp>
            <p:nvSpPr>
              <p:cNvPr id="57" name="TextBox 57"/>
              <p:cNvSpPr txBox="1"/>
              <p:nvPr/>
            </p:nvSpPr>
            <p:spPr>
              <a:xfrm>
                <a:off x="6848856" y="3806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动作的不可撤销性上升</a:t>
                </a:r>
              </a:p>
            </p:txBody>
          </p:sp>
          <p:sp>
            <p:nvSpPr>
              <p:cNvPr id="58" name="TextBox 58"/>
              <p:cNvSpPr txBox="1"/>
              <p:nvPr/>
            </p:nvSpPr>
            <p:spPr>
              <a:xfrm>
                <a:off x="6851142" y="4102418"/>
                <a:ext cx="356478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L1 可以复位,L2 之后的联动与疏散不能撤回</a:t>
                </a:r>
              </a:p>
            </p:txBody>
          </p:sp>
        </p:grpSp>
      </p:grpSp>
      <p:grpSp>
        <p:nvGrpSpPr>
          <p:cNvPr id="75" name="Group 75"/>
          <p:cNvGrpSpPr/>
          <p:nvPr/>
        </p:nvGrpSpPr>
        <p:grpSpPr>
          <a:xfrm>
            <a:off x="6468618" y="4540568"/>
            <a:ext cx="5120640" cy="1751266"/>
            <a:chOff x="6468618" y="4540568"/>
            <a:chExt cx="5120640" cy="1751266"/>
          </a:xfrm>
        </p:grpSpPr>
        <p:sp>
          <p:nvSpPr>
            <p:cNvPr id="61" name="TextBox 61"/>
            <p:cNvSpPr txBox="1"/>
            <p:nvPr/>
          </p:nvSpPr>
          <p:spPr>
            <a:xfrm>
              <a:off x="6470142" y="4540568"/>
              <a:ext cx="1608963" cy="264033"/>
            </a:xfrm>
            <a:prstGeom prst="rect">
              <a:avLst/>
            </a:prstGeom>
            <a:noFill/>
            <a:ln>
              <a:noFill/>
            </a:ln>
          </p:spPr>
          <p:txBody>
            <a:bodyPr wrap="none" lIns="0" tIns="0" rIns="0" bIns="0" anchor="t" anchorCtr="0">
              <a:spAutoFit/>
            </a:bodyPr>
            <a:lstStyle/>
            <a:p>
              <a:pPr algn="l"/>
              <a:r>
                <a:rPr lang="zh-CN" sz="1350" spc="150" dirty="0">
                  <a:solidFill>
                    <a:schemeClr val="accent1"/>
                  </a:solidFill>
                  <a:latin typeface="+mn-lt"/>
                  <a:ea typeface="+mn-ea"/>
                  <a:cs typeface="+mn-cs"/>
                </a:rPr>
                <a:t>每一级对应的条文</a:t>
              </a:r>
            </a:p>
          </p:txBody>
        </p:sp>
        <p:grpSp>
          <p:nvGrpSpPr>
            <p:cNvPr id="74" name="Group 74"/>
            <p:cNvGrpSpPr/>
            <p:nvPr/>
          </p:nvGrpSpPr>
          <p:grpSpPr>
            <a:xfrm>
              <a:off x="6468618" y="4911090"/>
              <a:ext cx="5120640" cy="1380744"/>
              <a:chOff x="6468618" y="4911090"/>
              <a:chExt cx="5120640" cy="1380744"/>
            </a:xfrm>
          </p:grpSpPr>
          <p:sp>
            <p:nvSpPr>
              <p:cNvPr id="62" name="TextBox 62"/>
              <p:cNvSpPr txBox="1"/>
              <p:nvPr/>
            </p:nvSpPr>
            <p:spPr>
              <a:xfrm>
                <a:off x="6468618" y="4927282"/>
                <a:ext cx="27784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L0</a:t>
                </a:r>
              </a:p>
            </p:txBody>
          </p:sp>
          <p:sp>
            <p:nvSpPr>
              <p:cNvPr id="63" name="TextBox 63"/>
              <p:cNvSpPr txBox="1"/>
              <p:nvPr/>
            </p:nvSpPr>
            <p:spPr>
              <a:xfrm>
                <a:off x="6925056" y="49110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立即以最快方式确认</a:t>
                </a:r>
              </a:p>
            </p:txBody>
          </p:sp>
          <p:sp>
            <p:nvSpPr>
              <p:cNvPr id="64" name="TextBox 64"/>
              <p:cNvSpPr txBox="1"/>
              <p:nvPr/>
            </p:nvSpPr>
            <p:spPr>
              <a:xfrm>
                <a:off x="10348817" y="4959668"/>
                <a:ext cx="124044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第 4.2.2 条 a)</a:t>
                </a:r>
              </a:p>
            </p:txBody>
          </p:sp>
          <p:sp>
            <p:nvSpPr>
              <p:cNvPr id="65" name="TextBox 65"/>
              <p:cNvSpPr txBox="1"/>
              <p:nvPr/>
            </p:nvSpPr>
            <p:spPr>
              <a:xfrm>
                <a:off x="6468618" y="5270182"/>
                <a:ext cx="27784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L1</a:t>
                </a:r>
              </a:p>
            </p:txBody>
          </p:sp>
          <p:sp>
            <p:nvSpPr>
              <p:cNvPr id="66" name="TextBox 66"/>
              <p:cNvSpPr txBox="1"/>
              <p:nvPr/>
            </p:nvSpPr>
            <p:spPr>
              <a:xfrm>
                <a:off x="6925056" y="525399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记录、归档、复盘</a:t>
                </a:r>
              </a:p>
            </p:txBody>
          </p:sp>
          <p:sp>
            <p:nvSpPr>
              <p:cNvPr id="67" name="TextBox 67"/>
              <p:cNvSpPr txBox="1"/>
              <p:nvPr/>
            </p:nvSpPr>
            <p:spPr>
              <a:xfrm>
                <a:off x="10167080" y="5302568"/>
                <a:ext cx="1422178"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第 4.1 条 e)、h)</a:t>
                </a:r>
              </a:p>
            </p:txBody>
          </p:sp>
          <p:sp>
            <p:nvSpPr>
              <p:cNvPr id="68" name="TextBox 68"/>
              <p:cNvSpPr txBox="1"/>
              <p:nvPr/>
            </p:nvSpPr>
            <p:spPr>
              <a:xfrm>
                <a:off x="6468618" y="5613082"/>
                <a:ext cx="27784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L2</a:t>
                </a:r>
              </a:p>
            </p:txBody>
          </p:sp>
          <p:sp>
            <p:nvSpPr>
              <p:cNvPr id="69" name="TextBox 69"/>
              <p:cNvSpPr txBox="1"/>
              <p:nvPr/>
            </p:nvSpPr>
            <p:spPr>
              <a:xfrm>
                <a:off x="6925056" y="559689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三项动作同时启动</a:t>
                </a:r>
              </a:p>
            </p:txBody>
          </p:sp>
          <p:sp>
            <p:nvSpPr>
              <p:cNvPr id="70" name="TextBox 70"/>
              <p:cNvSpPr txBox="1"/>
              <p:nvPr/>
            </p:nvSpPr>
            <p:spPr>
              <a:xfrm>
                <a:off x="9967170" y="5645468"/>
                <a:ext cx="1622088"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第 4.2.2 条 b)、c)</a:t>
                </a:r>
              </a:p>
            </p:txBody>
          </p:sp>
          <p:sp>
            <p:nvSpPr>
              <p:cNvPr id="71" name="TextBox 71"/>
              <p:cNvSpPr txBox="1"/>
              <p:nvPr/>
            </p:nvSpPr>
            <p:spPr>
              <a:xfrm>
                <a:off x="6468618" y="5955982"/>
                <a:ext cx="27784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L3</a:t>
                </a:r>
              </a:p>
            </p:txBody>
          </p:sp>
          <p:sp>
            <p:nvSpPr>
              <p:cNvPr id="72" name="TextBox 72"/>
              <p:cNvSpPr txBox="1"/>
              <p:nvPr/>
            </p:nvSpPr>
            <p:spPr>
              <a:xfrm>
                <a:off x="6925056" y="593979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移交、记录、交接</a:t>
                </a:r>
              </a:p>
            </p:txBody>
          </p:sp>
          <p:sp>
            <p:nvSpPr>
              <p:cNvPr id="73" name="TextBox 73"/>
              <p:cNvSpPr txBox="1"/>
              <p:nvPr/>
            </p:nvSpPr>
            <p:spPr>
              <a:xfrm>
                <a:off x="11212068" y="5988368"/>
                <a:ext cx="37719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整理</a:t>
                </a:r>
              </a:p>
            </p:txBody>
          </p:sp>
        </p:grpSp>
      </p:grpSp>
      <p:grpSp>
        <p:nvGrpSpPr>
          <p:cNvPr id="78" name="Group 78"/>
          <p:cNvGrpSpPr/>
          <p:nvPr/>
        </p:nvGrpSpPr>
        <p:grpSpPr>
          <a:xfrm>
            <a:off x="908304" y="6423660"/>
            <a:ext cx="10680192" cy="234696"/>
            <a:chOff x="908304" y="6423660"/>
            <a:chExt cx="10680192" cy="234696"/>
          </a:xfrm>
        </p:grpSpPr>
        <p:sp>
          <p:nvSpPr>
            <p:cNvPr id="76" name="TextBox 76"/>
            <p:cNvSpPr txBox="1"/>
            <p:nvPr/>
          </p:nvSpPr>
          <p:spPr>
            <a:xfrm>
              <a:off x="908304" y="6423660"/>
              <a:ext cx="50747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条文来源:GB 25506-2010 第 4.1、4.2.2 条 · 四级分级为本手册整理</a:t>
              </a:r>
            </a:p>
          </p:txBody>
        </p:sp>
        <p:sp>
          <p:nvSpPr>
            <p:cNvPr id="77" name="TextBox 77"/>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800"/>
                                        <p:tgtEl>
                                          <p:spTgt spid="45"/>
                                        </p:tgtEl>
                                      </p:cBhvr>
                                    </p:animEffect>
                                  </p:childTnLst>
                                </p:cTn>
                              </p:par>
                            </p:childTnLst>
                          </p:cTn>
                        </p:par>
                        <p:par>
                          <p:cTn id="8" fill="hold">
                            <p:stCondLst>
                              <p:cond delay="800"/>
                            </p:stCondLst>
                            <p:childTnLst>
                              <p:par>
                                <p:cTn id="9" presetID="10" presetClass="entr" presetSubtype="0" fill="hold" grpId="0" nodeType="afterEffect">
                                  <p:stCondLst>
                                    <p:cond delay="500"/>
                                  </p:stCondLst>
                                  <p:childTnLst>
                                    <p:set>
                                      <p:cBhvr>
                                        <p:cTn id="10" dur="1" fill="hold">
                                          <p:stCondLst>
                                            <p:cond delay="0"/>
                                          </p:stCondLst>
                                        </p:cTn>
                                        <p:tgtEl>
                                          <p:spTgt spid="60"/>
                                        </p:tgtEl>
                                        <p:attrNameLst>
                                          <p:attrName>style.visibility</p:attrName>
                                        </p:attrNameLst>
                                      </p:cBhvr>
                                      <p:to>
                                        <p:strVal val="visible"/>
                                      </p:to>
                                    </p:set>
                                    <p:animEffect transition="in" filter="fade">
                                      <p:cBhvr>
                                        <p:cTn id="11" dur="500"/>
                                        <p:tgtEl>
                                          <p:spTgt spid="60"/>
                                        </p:tgtEl>
                                      </p:cBhvr>
                                    </p:animEffect>
                                  </p:childTnLst>
                                </p:cTn>
                              </p:par>
                            </p:childTnLst>
                          </p:cTn>
                        </p:par>
                        <p:par>
                          <p:cTn id="12" fill="hold">
                            <p:stCondLst>
                              <p:cond delay="1800"/>
                            </p:stCondLst>
                            <p:childTnLst>
                              <p:par>
                                <p:cTn id="13" presetID="10" presetClass="entr" presetSubtype="0" fill="hold" grpId="0" nodeType="afterEffect">
                                  <p:stCondLst>
                                    <p:cond delay="500"/>
                                  </p:stCondLst>
                                  <p:childTnLst>
                                    <p:set>
                                      <p:cBhvr>
                                        <p:cTn id="14" dur="1" fill="hold">
                                          <p:stCondLst>
                                            <p:cond delay="0"/>
                                          </p:stCondLst>
                                        </p:cTn>
                                        <p:tgtEl>
                                          <p:spTgt spid="75"/>
                                        </p:tgtEl>
                                        <p:attrNameLst>
                                          <p:attrName>style.visibility</p:attrName>
                                        </p:attrNameLst>
                                      </p:cBhvr>
                                      <p:to>
                                        <p:strVal val="visible"/>
                                      </p:to>
                                    </p:set>
                                    <p:animEffect transition="in" filter="fade">
                                      <p:cBhvr>
                                        <p:cTn id="15"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913439" cy="264033"/>
            <a:chOff x="907542" y="787718"/>
            <a:chExt cx="1913439" cy="264033"/>
          </a:xfrm>
        </p:grpSpPr>
        <p:sp>
          <p:nvSpPr>
            <p:cNvPr id="17" name="TextBox 17"/>
            <p:cNvSpPr txBox="1"/>
            <p:nvPr/>
          </p:nvSpPr>
          <p:spPr>
            <a:xfrm>
              <a:off x="907542" y="787718"/>
              <a:ext cx="1913439"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第三节 · 层级页 L0</a:t>
              </a:r>
            </a:p>
          </p:txBody>
        </p:sp>
      </p:grpSp>
      <p:grpSp>
        <p:nvGrpSpPr>
          <p:cNvPr id="20" name="Group 20"/>
          <p:cNvGrpSpPr/>
          <p:nvPr/>
        </p:nvGrpSpPr>
        <p:grpSpPr>
          <a:xfrm>
            <a:off x="899160" y="1123950"/>
            <a:ext cx="8223066" cy="586740"/>
            <a:chOff x="899160" y="1123950"/>
            <a:chExt cx="8223066" cy="586740"/>
          </a:xfrm>
        </p:grpSpPr>
        <p:sp>
          <p:nvSpPr>
            <p:cNvPr id="19" name="TextBox 19"/>
            <p:cNvSpPr txBox="1"/>
            <p:nvPr/>
          </p:nvSpPr>
          <p:spPr>
            <a:xfrm>
              <a:off x="899160" y="1123950"/>
              <a:ext cx="8223066"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L0 待确认:标准只给了一个动作——立刻去核实</a:t>
              </a:r>
            </a:p>
          </p:txBody>
        </p:sp>
      </p:grpSp>
      <p:grpSp>
        <p:nvGrpSpPr>
          <p:cNvPr id="22" name="Group 22"/>
          <p:cNvGrpSpPr/>
          <p:nvPr/>
        </p:nvGrpSpPr>
        <p:grpSpPr>
          <a:xfrm>
            <a:off x="903732" y="1678305"/>
            <a:ext cx="6396266" cy="410718"/>
            <a:chOff x="903732" y="1678305"/>
            <a:chExt cx="6396266" cy="410718"/>
          </a:xfrm>
        </p:grpSpPr>
        <p:sp>
          <p:nvSpPr>
            <p:cNvPr id="21" name="TextBox 21"/>
            <p:cNvSpPr txBox="1"/>
            <p:nvPr/>
          </p:nvSpPr>
          <p:spPr>
            <a:xfrm>
              <a:off x="903732" y="1678305"/>
              <a:ext cx="639626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性质未定之前,任何解释都不能替代到现场看一眼。</a:t>
              </a:r>
            </a:p>
          </p:txBody>
        </p:sp>
      </p:grpSp>
      <p:grpSp>
        <p:nvGrpSpPr>
          <p:cNvPr id="37" name="!!judgment-axis"/>
          <p:cNvGrpSpPr/>
          <p:nvPr/>
        </p:nvGrpSpPr>
        <p:grpSpPr>
          <a:xfrm>
            <a:off x="1123950" y="2628900"/>
            <a:ext cx="971626" cy="3143250"/>
            <a:chOff x="1123950" y="2628900"/>
            <a:chExt cx="971626" cy="3143250"/>
          </a:xfrm>
        </p:grpSpPr>
        <p:sp>
          <p:nvSpPr>
            <p:cNvPr id="23" name="Line 23"/>
            <p:cNvSpPr/>
            <p:nvPr/>
          </p:nvSpPr>
          <p:spPr>
            <a:xfrm>
              <a:off x="1333500" y="2628900"/>
              <a:ext cx="1" cy="3143250"/>
            </a:xfrm>
            <a:prstGeom prst="line">
              <a:avLst/>
            </a:prstGeom>
            <a:noFill/>
            <a:ln w="28575">
              <a:solidFill>
                <a:schemeClr val="accent1"/>
              </a:solidFill>
              <a:tailEnd type="triangle" w="lg" len="lg"/>
            </a:ln>
          </p:spPr>
        </p:sp>
        <p:sp>
          <p:nvSpPr>
            <p:cNvPr id="24" name="Ellipse 24"/>
            <p:cNvSpPr/>
            <p:nvPr/>
          </p:nvSpPr>
          <p:spPr>
            <a:xfrm>
              <a:off x="1123950" y="2647950"/>
              <a:ext cx="419100" cy="419100"/>
            </a:xfrm>
            <a:prstGeom prst="ellipse">
              <a:avLst/>
            </a:prstGeom>
            <a:noFill/>
            <a:ln w="28575">
              <a:solidFill>
                <a:schemeClr val="accent2"/>
              </a:solidFill>
            </a:ln>
          </p:spPr>
        </p:sp>
        <p:grpSp>
          <p:nvGrpSpPr>
            <p:cNvPr id="27" name="Group 27"/>
            <p:cNvGrpSpPr/>
            <p:nvPr/>
          </p:nvGrpSpPr>
          <p:grpSpPr>
            <a:xfrm>
              <a:off x="1200150" y="2709862"/>
              <a:ext cx="895426" cy="440055"/>
              <a:chOff x="1200150" y="2709862"/>
              <a:chExt cx="895426" cy="440055"/>
            </a:xfrm>
          </p:grpSpPr>
          <p:sp>
            <p:nvSpPr>
              <p:cNvPr id="25" name="Ellipse 25"/>
              <p:cNvSpPr/>
              <p:nvPr/>
            </p:nvSpPr>
            <p:spPr>
              <a:xfrm>
                <a:off x="1200150" y="2724150"/>
                <a:ext cx="266700" cy="266700"/>
              </a:xfrm>
              <a:prstGeom prst="ellipse">
                <a:avLst/>
              </a:prstGeom>
              <a:solidFill>
                <a:schemeClr val="accent2"/>
              </a:solidFill>
              <a:ln w="28575">
                <a:solidFill>
                  <a:schemeClr val="accent2"/>
                </a:solidFill>
              </a:ln>
            </p:spPr>
          </p:sp>
          <p:sp>
            <p:nvSpPr>
              <p:cNvPr id="26" name="TextBox 26"/>
              <p:cNvSpPr txBox="1"/>
              <p:nvPr/>
            </p:nvSpPr>
            <p:spPr>
              <a:xfrm>
                <a:off x="1703070" y="2709862"/>
                <a:ext cx="392506"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L0</a:t>
                </a:r>
              </a:p>
            </p:txBody>
          </p:sp>
        </p:grpSp>
        <p:grpSp>
          <p:nvGrpSpPr>
            <p:cNvPr id="30" name="Group 30"/>
            <p:cNvGrpSpPr/>
            <p:nvPr/>
          </p:nvGrpSpPr>
          <p:grpSpPr>
            <a:xfrm>
              <a:off x="1200150" y="3529012"/>
              <a:ext cx="895426" cy="440055"/>
              <a:chOff x="1200150" y="3529012"/>
              <a:chExt cx="895426" cy="440055"/>
            </a:xfrm>
          </p:grpSpPr>
          <p:sp>
            <p:nvSpPr>
              <p:cNvPr id="28" name="Ellipse 28"/>
              <p:cNvSpPr/>
              <p:nvPr/>
            </p:nvSpPr>
            <p:spPr>
              <a:xfrm>
                <a:off x="1200150" y="3543300"/>
                <a:ext cx="266700" cy="266700"/>
              </a:xfrm>
              <a:prstGeom prst="ellipse">
                <a:avLst/>
              </a:prstGeom>
              <a:solidFill>
                <a:schemeClr val="lt1"/>
              </a:solidFill>
              <a:ln w="28575">
                <a:solidFill>
                  <a:schemeClr val="accent6"/>
                </a:solidFill>
              </a:ln>
            </p:spPr>
          </p:sp>
          <p:sp>
            <p:nvSpPr>
              <p:cNvPr id="29" name="TextBox 29"/>
              <p:cNvSpPr txBox="1"/>
              <p:nvPr/>
            </p:nvSpPr>
            <p:spPr>
              <a:xfrm>
                <a:off x="1703070" y="35290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L1</a:t>
                </a:r>
              </a:p>
            </p:txBody>
          </p:sp>
        </p:grpSp>
        <p:grpSp>
          <p:nvGrpSpPr>
            <p:cNvPr id="33" name="Group 33"/>
            <p:cNvGrpSpPr/>
            <p:nvPr/>
          </p:nvGrpSpPr>
          <p:grpSpPr>
            <a:xfrm>
              <a:off x="1200150" y="4348162"/>
              <a:ext cx="895426" cy="440055"/>
              <a:chOff x="1200150" y="4348162"/>
              <a:chExt cx="895426" cy="440055"/>
            </a:xfrm>
          </p:grpSpPr>
          <p:sp>
            <p:nvSpPr>
              <p:cNvPr id="31" name="Ellipse 31"/>
              <p:cNvSpPr/>
              <p:nvPr/>
            </p:nvSpPr>
            <p:spPr>
              <a:xfrm>
                <a:off x="1200150" y="4362450"/>
                <a:ext cx="266700" cy="266700"/>
              </a:xfrm>
              <a:prstGeom prst="ellipse">
                <a:avLst/>
              </a:prstGeom>
              <a:solidFill>
                <a:schemeClr val="lt1"/>
              </a:solidFill>
              <a:ln w="28575">
                <a:solidFill>
                  <a:schemeClr val="accent6"/>
                </a:solidFill>
              </a:ln>
            </p:spPr>
          </p:sp>
          <p:sp>
            <p:nvSpPr>
              <p:cNvPr id="32" name="TextBox 32"/>
              <p:cNvSpPr txBox="1"/>
              <p:nvPr/>
            </p:nvSpPr>
            <p:spPr>
              <a:xfrm>
                <a:off x="1703070" y="434816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L2</a:t>
                </a:r>
              </a:p>
            </p:txBody>
          </p:sp>
        </p:grpSp>
        <p:grpSp>
          <p:nvGrpSpPr>
            <p:cNvPr id="36" name="Group 36"/>
            <p:cNvGrpSpPr/>
            <p:nvPr/>
          </p:nvGrpSpPr>
          <p:grpSpPr>
            <a:xfrm>
              <a:off x="1200150" y="5029200"/>
              <a:ext cx="895426" cy="578167"/>
              <a:chOff x="1200150" y="5029200"/>
              <a:chExt cx="895426" cy="578167"/>
            </a:xfrm>
          </p:grpSpPr>
          <p:sp>
            <p:nvSpPr>
              <p:cNvPr id="34" name="Ellipse 34"/>
              <p:cNvSpPr/>
              <p:nvPr/>
            </p:nvSpPr>
            <p:spPr>
              <a:xfrm>
                <a:off x="1200150" y="5029200"/>
                <a:ext cx="266700" cy="266700"/>
              </a:xfrm>
              <a:prstGeom prst="ellipse">
                <a:avLst/>
              </a:prstGeom>
              <a:solidFill>
                <a:schemeClr val="lt1"/>
              </a:solidFill>
              <a:ln w="28575">
                <a:solidFill>
                  <a:schemeClr val="accent6"/>
                </a:solidFill>
              </a:ln>
            </p:spPr>
          </p:sp>
          <p:sp>
            <p:nvSpPr>
              <p:cNvPr id="35" name="TextBox 35"/>
              <p:cNvSpPr txBox="1"/>
              <p:nvPr/>
            </p:nvSpPr>
            <p:spPr>
              <a:xfrm>
                <a:off x="1703070" y="51673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L3</a:t>
                </a:r>
              </a:p>
            </p:txBody>
          </p:sp>
        </p:grpSp>
      </p:grpSp>
      <p:sp>
        <p:nvSpPr>
          <p:cNvPr id="38" name="Freeform 38"/>
          <p:cNvSpPr/>
          <p:nvPr/>
        </p:nvSpPr>
        <p:spPr>
          <a:xfrm>
            <a:off x="3429000" y="2495550"/>
            <a:ext cx="8153400" cy="990600"/>
          </a:xfrm>
          <a:prstGeom prst="bracketPair">
            <a:avLst/>
          </a:prstGeom>
          <a:noFill/>
          <a:ln w="19050">
            <a:solidFill>
              <a:schemeClr val="accent1"/>
            </a:solidFill>
          </a:ln>
        </p:spPr>
      </p:sp>
      <p:grpSp>
        <p:nvGrpSpPr>
          <p:cNvPr id="41" name="Group 41"/>
          <p:cNvGrpSpPr/>
          <p:nvPr/>
        </p:nvGrpSpPr>
        <p:grpSpPr>
          <a:xfrm>
            <a:off x="3800856" y="2730818"/>
            <a:ext cx="5482514" cy="703516"/>
            <a:chOff x="3800856" y="2730818"/>
            <a:chExt cx="5482514" cy="703516"/>
          </a:xfrm>
        </p:grpSpPr>
        <p:sp>
          <p:nvSpPr>
            <p:cNvPr id="39" name="TextBox 39"/>
            <p:cNvSpPr txBox="1"/>
            <p:nvPr/>
          </p:nvSpPr>
          <p:spPr>
            <a:xfrm>
              <a:off x="3803142" y="2730818"/>
              <a:ext cx="3138126" cy="264033"/>
            </a:xfrm>
            <a:prstGeom prst="rect">
              <a:avLst/>
            </a:prstGeom>
            <a:noFill/>
            <a:ln>
              <a:noFill/>
            </a:ln>
          </p:spPr>
          <p:txBody>
            <a:bodyPr wrap="none" lIns="0" tIns="0" rIns="0" bIns="0" anchor="t" anchorCtr="0">
              <a:spAutoFit/>
            </a:bodyPr>
            <a:lstStyle/>
            <a:p>
              <a:pPr algn="l"/>
              <a:r>
                <a:rPr lang="zh-CN" sz="1350" spc="150" dirty="0">
                  <a:solidFill>
                    <a:schemeClr val="accent1"/>
                  </a:solidFill>
                  <a:latin typeface="+mn-lt"/>
                  <a:ea typeface="+mn-ea"/>
                  <a:cs typeface="+mn-cs"/>
                </a:rPr>
                <a:t>GB 25506-2010 第 4.2.2 条 a)</a:t>
              </a:r>
            </a:p>
          </p:txBody>
        </p:sp>
        <p:sp>
          <p:nvSpPr>
            <p:cNvPr id="40" name="TextBox 40"/>
            <p:cNvSpPr txBox="1"/>
            <p:nvPr/>
          </p:nvSpPr>
          <p:spPr>
            <a:xfrm>
              <a:off x="3800856" y="3082290"/>
              <a:ext cx="548251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接到火灾警报后,值班人员应</a:t>
              </a:r>
              <a:r>
                <a:rPr lang="zh-CN" sz="1800" b="1" dirty="0">
                  <a:solidFill>
                    <a:schemeClr val="accent2"/>
                  </a:solidFill>
                  <a:latin typeface="+mn-lt"/>
                  <a:ea typeface="+mn-ea"/>
                  <a:cs typeface="+mn-cs"/>
                </a:rPr>
                <a:t>立即以最快方式确认</a:t>
              </a:r>
              <a:r>
                <a:rPr lang="zh-CN" sz="1800" dirty="0">
                  <a:solidFill>
                    <a:schemeClr val="dk1"/>
                  </a:solidFill>
                  <a:latin typeface="+mn-lt"/>
                  <a:ea typeface="+mn-ea"/>
                  <a:cs typeface="+mn-cs"/>
                </a:rPr>
                <a:t>。</a:t>
              </a:r>
            </a:p>
          </p:txBody>
        </p:sp>
      </p:grpSp>
      <p:grpSp>
        <p:nvGrpSpPr>
          <p:cNvPr id="51" name="Group 51"/>
          <p:cNvGrpSpPr/>
          <p:nvPr/>
        </p:nvGrpSpPr>
        <p:grpSpPr>
          <a:xfrm>
            <a:off x="3419856" y="3602355"/>
            <a:ext cx="3543986" cy="2059496"/>
            <a:chOff x="3419856" y="3602355"/>
            <a:chExt cx="3543986" cy="2059496"/>
          </a:xfrm>
        </p:grpSpPr>
        <p:grpSp>
          <p:nvGrpSpPr>
            <p:cNvPr id="45" name="Group 45"/>
            <p:cNvGrpSpPr/>
            <p:nvPr/>
          </p:nvGrpSpPr>
          <p:grpSpPr>
            <a:xfrm>
              <a:off x="3480594" y="3669506"/>
              <a:ext cx="144462" cy="185737"/>
              <a:chOff x="3480594" y="3669506"/>
              <a:chExt cx="144462" cy="185737"/>
            </a:xfrm>
          </p:grpSpPr>
          <p:sp>
            <p:nvSpPr>
              <p:cNvPr id="42" name="Freeform 42"/>
              <p:cNvSpPr/>
              <p:nvPr/>
            </p:nvSpPr>
            <p:spPr>
              <a:xfrm>
                <a:off x="3480594" y="3690144"/>
                <a:ext cx="144462" cy="165099"/>
              </a:xfrm>
              <a:custGeom>
                <a:avLst/>
                <a:gdLst/>
                <a:ahLst/>
                <a:cxnLst/>
                <a:rect l="l" t="t" r="r" b="b"/>
                <a:pathLst>
                  <a:path w="144462" h="165099">
                    <a:moveTo>
                      <a:pt x="41275" y="0"/>
                    </a:moveTo>
                    <a:lnTo>
                      <a:pt x="20637" y="0"/>
                    </a:lnTo>
                    <a:cubicBezTo>
                      <a:pt x="9240" y="0"/>
                      <a:pt x="0" y="9240"/>
                      <a:pt x="0" y="20637"/>
                    </a:cubicBezTo>
                    <a:lnTo>
                      <a:pt x="0" y="144462"/>
                    </a:lnTo>
                    <a:cubicBezTo>
                      <a:pt x="0" y="155860"/>
                      <a:pt x="9240" y="165099"/>
                      <a:pt x="20637" y="165099"/>
                    </a:cubicBezTo>
                    <a:lnTo>
                      <a:pt x="123825" y="165099"/>
                    </a:lnTo>
                    <a:cubicBezTo>
                      <a:pt x="135222" y="165099"/>
                      <a:pt x="144462" y="155860"/>
                      <a:pt x="144462" y="144462"/>
                    </a:cubicBezTo>
                    <a:lnTo>
                      <a:pt x="144462" y="20637"/>
                    </a:lnTo>
                    <a:cubicBezTo>
                      <a:pt x="144462" y="9240"/>
                      <a:pt x="135222" y="0"/>
                      <a:pt x="123825" y="0"/>
                    </a:cubicBezTo>
                    <a:lnTo>
                      <a:pt x="103187" y="0"/>
                    </a:lnTo>
                  </a:path>
                </a:pathLst>
              </a:custGeom>
              <a:noFill/>
              <a:ln w="20637">
                <a:solidFill>
                  <a:schemeClr val="accent2"/>
                </a:solidFill>
              </a:ln>
            </p:spPr>
          </p:sp>
          <p:sp>
            <p:nvSpPr>
              <p:cNvPr id="43" name="Freeform 43"/>
              <p:cNvSpPr/>
              <p:nvPr/>
            </p:nvSpPr>
            <p:spPr>
              <a:xfrm>
                <a:off x="3521868" y="3669506"/>
                <a:ext cx="61912" cy="41275"/>
              </a:xfrm>
              <a:custGeom>
                <a:avLst/>
                <a:gdLst/>
                <a:ahLst/>
                <a:cxnLst/>
                <a:rect l="l" t="t" r="r" b="b"/>
                <a:pathLst>
                  <a:path w="61912" h="41275">
                    <a:moveTo>
                      <a:pt x="0" y="20637"/>
                    </a:moveTo>
                    <a:cubicBezTo>
                      <a:pt x="0" y="9240"/>
                      <a:pt x="9240" y="0"/>
                      <a:pt x="20637" y="0"/>
                    </a:cubicBezTo>
                    <a:lnTo>
                      <a:pt x="41275" y="0"/>
                    </a:lnTo>
                    <a:cubicBezTo>
                      <a:pt x="52673" y="0"/>
                      <a:pt x="61912" y="9240"/>
                      <a:pt x="61912" y="20637"/>
                    </a:cubicBezTo>
                    <a:cubicBezTo>
                      <a:pt x="61912" y="32035"/>
                      <a:pt x="52673" y="41275"/>
                      <a:pt x="41275" y="41275"/>
                    </a:cubicBezTo>
                    <a:lnTo>
                      <a:pt x="20637" y="41275"/>
                    </a:lnTo>
                    <a:cubicBezTo>
                      <a:pt x="9240" y="41275"/>
                      <a:pt x="0" y="32035"/>
                      <a:pt x="0" y="20637"/>
                    </a:cubicBezTo>
                  </a:path>
                </a:pathLst>
              </a:custGeom>
              <a:noFill/>
              <a:ln w="20637">
                <a:solidFill>
                  <a:schemeClr val="accent2"/>
                </a:solidFill>
              </a:ln>
            </p:spPr>
          </p:sp>
          <p:sp>
            <p:nvSpPr>
              <p:cNvPr id="44" name="Freeform 44"/>
              <p:cNvSpPr/>
              <p:nvPr/>
            </p:nvSpPr>
            <p:spPr>
              <a:xfrm>
                <a:off x="3521868" y="3762375"/>
                <a:ext cx="61912" cy="41275"/>
              </a:xfrm>
              <a:custGeom>
                <a:avLst/>
                <a:gdLst/>
                <a:ahLst/>
                <a:cxnLst/>
                <a:rect l="l" t="t" r="r" b="b"/>
                <a:pathLst>
                  <a:path w="61912" h="41275">
                    <a:moveTo>
                      <a:pt x="0" y="20637"/>
                    </a:moveTo>
                    <a:lnTo>
                      <a:pt x="20637" y="41275"/>
                    </a:lnTo>
                    <a:lnTo>
                      <a:pt x="61912" y="0"/>
                    </a:lnTo>
                  </a:path>
                </a:pathLst>
              </a:custGeom>
              <a:noFill/>
              <a:ln w="20637">
                <a:solidFill>
                  <a:schemeClr val="accent2"/>
                </a:solidFill>
              </a:ln>
            </p:spPr>
          </p:sp>
        </p:grpSp>
        <p:sp>
          <p:nvSpPr>
            <p:cNvPr id="46" name="TextBox 46"/>
            <p:cNvSpPr txBox="1"/>
            <p:nvPr/>
          </p:nvSpPr>
          <p:spPr>
            <a:xfrm>
              <a:off x="3799332" y="3602355"/>
              <a:ext cx="58674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该做</a:t>
              </a:r>
            </a:p>
          </p:txBody>
        </p:sp>
        <p:sp>
          <p:nvSpPr>
            <p:cNvPr id="47" name="TextBox 47"/>
            <p:cNvSpPr txBox="1"/>
            <p:nvPr/>
          </p:nvSpPr>
          <p:spPr>
            <a:xfrm>
              <a:off x="3419856" y="4168140"/>
              <a:ext cx="354398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一人到现场核实,一人留守工作面</a:t>
              </a:r>
            </a:p>
          </p:txBody>
        </p:sp>
        <p:sp>
          <p:nvSpPr>
            <p:cNvPr id="48" name="TextBox 48"/>
            <p:cNvSpPr txBox="1"/>
            <p:nvPr/>
          </p:nvSpPr>
          <p:spPr>
            <a:xfrm>
              <a:off x="3419856" y="4568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核实前不消音、不复位</a:t>
              </a:r>
            </a:p>
          </p:txBody>
        </p:sp>
        <p:sp>
          <p:nvSpPr>
            <p:cNvPr id="49" name="TextBox 49"/>
            <p:cNvSpPr txBox="1"/>
            <p:nvPr/>
          </p:nvSpPr>
          <p:spPr>
            <a:xfrm>
              <a:off x="3419856" y="496824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记录接报时间与报警部位</a:t>
              </a:r>
            </a:p>
          </p:txBody>
        </p:sp>
        <p:sp>
          <p:nvSpPr>
            <p:cNvPr id="50" name="TextBox 50"/>
            <p:cNvSpPr txBox="1"/>
            <p:nvPr/>
          </p:nvSpPr>
          <p:spPr>
            <a:xfrm>
              <a:off x="3422142" y="5397818"/>
              <a:ext cx="276703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每班不少于 2 人的编制正为此而设</a:t>
              </a:r>
            </a:p>
          </p:txBody>
        </p:sp>
      </p:grpSp>
      <p:grpSp>
        <p:nvGrpSpPr>
          <p:cNvPr id="60" name="Group 60"/>
          <p:cNvGrpSpPr/>
          <p:nvPr/>
        </p:nvGrpSpPr>
        <p:grpSpPr>
          <a:xfrm>
            <a:off x="7763256" y="3602355"/>
            <a:ext cx="3168396" cy="2059496"/>
            <a:chOff x="7763256" y="3602355"/>
            <a:chExt cx="3168396" cy="2059496"/>
          </a:xfrm>
        </p:grpSpPr>
        <p:grpSp>
          <p:nvGrpSpPr>
            <p:cNvPr id="54" name="Group 54"/>
            <p:cNvGrpSpPr/>
            <p:nvPr/>
          </p:nvGrpSpPr>
          <p:grpSpPr>
            <a:xfrm>
              <a:off x="7803356" y="3669506"/>
              <a:ext cx="185737" cy="185737"/>
              <a:chOff x="7803356" y="3669506"/>
              <a:chExt cx="185737" cy="185737"/>
            </a:xfrm>
          </p:grpSpPr>
          <p:sp>
            <p:nvSpPr>
              <p:cNvPr id="52" name="Freeform 52"/>
              <p:cNvSpPr/>
              <p:nvPr/>
            </p:nvSpPr>
            <p:spPr>
              <a:xfrm>
                <a:off x="7803356" y="366950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3"/>
                </a:solidFill>
              </a:ln>
            </p:spPr>
          </p:sp>
          <p:sp>
            <p:nvSpPr>
              <p:cNvPr id="53" name="Freeform 53"/>
              <p:cNvSpPr/>
              <p:nvPr/>
            </p:nvSpPr>
            <p:spPr>
              <a:xfrm>
                <a:off x="7831217" y="3697367"/>
                <a:ext cx="130016" cy="130016"/>
              </a:xfrm>
              <a:custGeom>
                <a:avLst/>
                <a:gdLst/>
                <a:ahLst/>
                <a:cxnLst/>
                <a:rect l="l" t="t" r="r" b="b"/>
                <a:pathLst>
                  <a:path w="130016" h="130016">
                    <a:moveTo>
                      <a:pt x="0" y="0"/>
                    </a:moveTo>
                    <a:lnTo>
                      <a:pt x="130016" y="130016"/>
                    </a:lnTo>
                  </a:path>
                </a:pathLst>
              </a:custGeom>
              <a:noFill/>
              <a:ln w="20637">
                <a:solidFill>
                  <a:schemeClr val="accent3"/>
                </a:solidFill>
              </a:ln>
            </p:spPr>
          </p:sp>
        </p:grpSp>
        <p:sp>
          <p:nvSpPr>
            <p:cNvPr id="55" name="TextBox 55"/>
            <p:cNvSpPr txBox="1"/>
            <p:nvPr/>
          </p:nvSpPr>
          <p:spPr>
            <a:xfrm>
              <a:off x="8142732" y="3602355"/>
              <a:ext cx="869442"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不该做</a:t>
              </a:r>
            </a:p>
          </p:txBody>
        </p:sp>
        <p:sp>
          <p:nvSpPr>
            <p:cNvPr id="56" name="TextBox 56"/>
            <p:cNvSpPr txBox="1"/>
            <p:nvPr/>
          </p:nvSpPr>
          <p:spPr>
            <a:xfrm>
              <a:off x="7763256" y="4168140"/>
              <a:ext cx="31683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先按经验判断是不是常报点位</a:t>
              </a:r>
            </a:p>
          </p:txBody>
        </p:sp>
        <p:sp>
          <p:nvSpPr>
            <p:cNvPr id="57" name="TextBox 57"/>
            <p:cNvSpPr txBox="1"/>
            <p:nvPr/>
          </p:nvSpPr>
          <p:spPr>
            <a:xfrm>
              <a:off x="7763256" y="45681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先消音让声音停下来</a:t>
              </a:r>
            </a:p>
          </p:txBody>
        </p:sp>
        <p:sp>
          <p:nvSpPr>
            <p:cNvPr id="58" name="TextBox 58"/>
            <p:cNvSpPr txBox="1"/>
            <p:nvPr/>
          </p:nvSpPr>
          <p:spPr>
            <a:xfrm>
              <a:off x="7763256" y="4968240"/>
              <a:ext cx="233240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先复位,再补一句没事</a:t>
              </a:r>
            </a:p>
          </p:txBody>
        </p:sp>
        <p:sp>
          <p:nvSpPr>
            <p:cNvPr id="59" name="TextBox 59"/>
            <p:cNvSpPr txBox="1"/>
            <p:nvPr/>
          </p:nvSpPr>
          <p:spPr>
            <a:xfrm>
              <a:off x="7765542" y="5397818"/>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查完历史记录再决定去不去</a:t>
              </a:r>
            </a:p>
          </p:txBody>
        </p:sp>
      </p:grpSp>
      <p:grpSp>
        <p:nvGrpSpPr>
          <p:cNvPr id="63" name="Group 63"/>
          <p:cNvGrpSpPr/>
          <p:nvPr/>
        </p:nvGrpSpPr>
        <p:grpSpPr>
          <a:xfrm>
            <a:off x="3422142" y="5772150"/>
            <a:ext cx="8160258" cy="594551"/>
            <a:chOff x="3422142" y="5772150"/>
            <a:chExt cx="8160258" cy="594551"/>
          </a:xfrm>
        </p:grpSpPr>
        <p:sp>
          <p:nvSpPr>
            <p:cNvPr id="61" name="Line 61"/>
            <p:cNvSpPr/>
            <p:nvPr/>
          </p:nvSpPr>
          <p:spPr>
            <a:xfrm>
              <a:off x="3429000" y="5772150"/>
              <a:ext cx="8153400" cy="9525"/>
            </a:xfrm>
            <a:custGeom>
              <a:avLst/>
              <a:gdLst/>
              <a:ahLst/>
              <a:cxnLst/>
              <a:rect l="l" t="t" r="r" b="b"/>
              <a:pathLst>
                <a:path w="8153400" h="9525">
                  <a:moveTo>
                    <a:pt x="0" y="0"/>
                  </a:moveTo>
                  <a:lnTo>
                    <a:pt x="8153400" y="0"/>
                  </a:lnTo>
                </a:path>
              </a:pathLst>
            </a:custGeom>
            <a:noFill/>
            <a:ln w="9525">
              <a:solidFill>
                <a:schemeClr val="accent6"/>
              </a:solidFill>
            </a:ln>
          </p:spPr>
        </p:sp>
        <p:sp>
          <p:nvSpPr>
            <p:cNvPr id="62" name="TextBox 62"/>
            <p:cNvSpPr txBox="1"/>
            <p:nvPr/>
          </p:nvSpPr>
          <p:spPr>
            <a:xfrm>
              <a:off x="3422142" y="5855018"/>
              <a:ext cx="5114354"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本页依赖的机制页:第 06 页(时限额度)· 第 05 页(工作面构成)</a:t>
              </a:r>
              <a:br/>
              <a:r>
                <a:rPr lang="zh-CN" sz="1350" dirty="0">
                  <a:solidFill>
                    <a:schemeClr val="accent5"/>
                  </a:solidFill>
                  <a:latin typeface="+mn-lt"/>
                  <a:ea typeface="+mn-ea"/>
                  <a:cs typeface="+mn-cs"/>
                </a:rPr>
                <a:t>"最快方式"的本地上限由单位制度写死,标准未给出具体秒数(整理)</a:t>
              </a:r>
            </a:p>
          </p:txBody>
        </p:sp>
      </p:grpSp>
      <p:grpSp>
        <p:nvGrpSpPr>
          <p:cNvPr id="66" name="Group 66"/>
          <p:cNvGrpSpPr/>
          <p:nvPr/>
        </p:nvGrpSpPr>
        <p:grpSpPr>
          <a:xfrm>
            <a:off x="908304" y="6423660"/>
            <a:ext cx="10680192" cy="234696"/>
            <a:chOff x="908304" y="6423660"/>
            <a:chExt cx="10680192" cy="234696"/>
          </a:xfrm>
        </p:grpSpPr>
        <p:sp>
          <p:nvSpPr>
            <p:cNvPr id="64" name="TextBox 64"/>
            <p:cNvSpPr txBox="1"/>
            <p:nvPr/>
          </p:nvSpPr>
          <p:spPr>
            <a:xfrm>
              <a:off x="908304" y="6423660"/>
              <a:ext cx="582594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 第 4.2.2 条 a) · 第 4.2.1 条 a) · 执行细则为本手册整理</a:t>
              </a:r>
            </a:p>
          </p:txBody>
        </p:sp>
        <p:sp>
          <p:nvSpPr>
            <p:cNvPr id="65" name="TextBox 65"/>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400"/>
                                        <p:tgtEl>
                                          <p:spTgt spid="38"/>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500"/>
                                        <p:tgtEl>
                                          <p:spTgt spid="41"/>
                                        </p:tgtEl>
                                      </p:cBhvr>
                                    </p:animEffect>
                                  </p:childTnLst>
                                </p:cTn>
                              </p:par>
                            </p:childTnLst>
                          </p:cTn>
                        </p:par>
                        <p:par>
                          <p:cTn id="12" fill="hold">
                            <p:stCondLst>
                              <p:cond delay="1400"/>
                            </p:stCondLst>
                            <p:childTnLst>
                              <p:par>
                                <p:cTn id="13" presetID="22" presetClass="entr" presetSubtype="2" fill="hold" grpId="0" nodeType="afterEffect">
                                  <p:stCondLst>
                                    <p:cond delay="500"/>
                                  </p:stCondLst>
                                  <p:childTnLst>
                                    <p:set>
                                      <p:cBhvr>
                                        <p:cTn id="14" dur="1" fill="hold">
                                          <p:stCondLst>
                                            <p:cond delay="0"/>
                                          </p:stCondLst>
                                        </p:cTn>
                                        <p:tgtEl>
                                          <p:spTgt spid="51"/>
                                        </p:tgtEl>
                                        <p:attrNameLst>
                                          <p:attrName>style.visibility</p:attrName>
                                        </p:attrNameLst>
                                      </p:cBhvr>
                                      <p:to>
                                        <p:strVal val="visible"/>
                                      </p:to>
                                    </p:set>
                                    <p:animEffect transition="in" filter="wipe(right)">
                                      <p:cBhvr>
                                        <p:cTn id="15" dur="500"/>
                                        <p:tgtEl>
                                          <p:spTgt spid="51"/>
                                        </p:tgtEl>
                                      </p:cBhvr>
                                    </p:animEffect>
                                  </p:childTnLst>
                                </p:cTn>
                              </p:par>
                            </p:childTnLst>
                          </p:cTn>
                        </p:par>
                        <p:par>
                          <p:cTn id="16" fill="hold">
                            <p:stCondLst>
                              <p:cond delay="2400"/>
                            </p:stCondLst>
                            <p:childTnLst>
                              <p:par>
                                <p:cTn id="17" presetID="22" presetClass="entr" presetSubtype="2" fill="hold" grpId="0" nodeType="afterEffect">
                                  <p:stCondLst>
                                    <p:cond delay="500"/>
                                  </p:stCondLst>
                                  <p:childTnLst>
                                    <p:set>
                                      <p:cBhvr>
                                        <p:cTn id="18" dur="1" fill="hold">
                                          <p:stCondLst>
                                            <p:cond delay="0"/>
                                          </p:stCondLst>
                                        </p:cTn>
                                        <p:tgtEl>
                                          <p:spTgt spid="60"/>
                                        </p:tgtEl>
                                        <p:attrNameLst>
                                          <p:attrName>style.visibility</p:attrName>
                                        </p:attrNameLst>
                                      </p:cBhvr>
                                      <p:to>
                                        <p:strVal val="visible"/>
                                      </p:to>
                                    </p:set>
                                    <p:animEffect transition="in" filter="wipe(right)">
                                      <p:cBhvr>
                                        <p:cTn id="19" dur="500"/>
                                        <p:tgtEl>
                                          <p:spTgt spid="60"/>
                                        </p:tgtEl>
                                      </p:cBhvr>
                                    </p:animEffect>
                                  </p:childTnLst>
                                </p:cTn>
                              </p:par>
                            </p:childTnLst>
                          </p:cTn>
                        </p:par>
                        <p:par>
                          <p:cTn id="20" fill="hold">
                            <p:stCondLst>
                              <p:cond delay="3400"/>
                            </p:stCondLst>
                            <p:childTnLst>
                              <p:par>
                                <p:cTn id="21" presetID="10" presetClass="entr" presetSubtype="0" fill="hold" grpId="0" nodeType="afterEffect">
                                  <p:stCondLst>
                                    <p:cond delay="500"/>
                                  </p:stCondLst>
                                  <p:childTnLst>
                                    <p:set>
                                      <p:cBhvr>
                                        <p:cTn id="22" dur="1" fill="hold">
                                          <p:stCondLst>
                                            <p:cond delay="0"/>
                                          </p:stCondLst>
                                        </p:cTn>
                                        <p:tgtEl>
                                          <p:spTgt spid="63"/>
                                        </p:tgtEl>
                                        <p:attrNameLst>
                                          <p:attrName>style.visibility</p:attrName>
                                        </p:attrNameLst>
                                      </p:cBhvr>
                                      <p:to>
                                        <p:strVal val="visible"/>
                                      </p:to>
                                    </p:set>
                                    <p:animEffect transition="in" filter="fade">
                                      <p:cBhvr>
                                        <p:cTn id="23"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913439" cy="264033"/>
            <a:chOff x="907542" y="787718"/>
            <a:chExt cx="1913439" cy="264033"/>
          </a:xfrm>
        </p:grpSpPr>
        <p:sp>
          <p:nvSpPr>
            <p:cNvPr id="17" name="TextBox 17"/>
            <p:cNvSpPr txBox="1"/>
            <p:nvPr/>
          </p:nvSpPr>
          <p:spPr>
            <a:xfrm>
              <a:off x="907542" y="787718"/>
              <a:ext cx="1913439"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第三节 · 层级页 L1</a:t>
              </a:r>
            </a:p>
          </p:txBody>
        </p:sp>
      </p:grpSp>
      <p:grpSp>
        <p:nvGrpSpPr>
          <p:cNvPr id="20" name="Group 20"/>
          <p:cNvGrpSpPr/>
          <p:nvPr/>
        </p:nvGrpSpPr>
        <p:grpSpPr>
          <a:xfrm>
            <a:off x="899160" y="1123950"/>
            <a:ext cx="6374397" cy="586740"/>
            <a:chOff x="899160" y="1123950"/>
            <a:chExt cx="6374397" cy="586740"/>
          </a:xfrm>
        </p:grpSpPr>
        <p:sp>
          <p:nvSpPr>
            <p:cNvPr id="19" name="TextBox 19"/>
            <p:cNvSpPr txBox="1"/>
            <p:nvPr/>
          </p:nvSpPr>
          <p:spPr>
            <a:xfrm>
              <a:off x="899160" y="1123950"/>
              <a:ext cx="6374397"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L1 非火警:可以复位,不可以不留痕</a:t>
              </a:r>
            </a:p>
          </p:txBody>
        </p:sp>
      </p:grpSp>
      <p:grpSp>
        <p:nvGrpSpPr>
          <p:cNvPr id="22" name="Group 22"/>
          <p:cNvGrpSpPr/>
          <p:nvPr/>
        </p:nvGrpSpPr>
        <p:grpSpPr>
          <a:xfrm>
            <a:off x="903732" y="1678305"/>
            <a:ext cx="7965262" cy="410718"/>
            <a:chOff x="903732" y="1678305"/>
            <a:chExt cx="7965262" cy="410718"/>
          </a:xfrm>
        </p:grpSpPr>
        <p:sp>
          <p:nvSpPr>
            <p:cNvPr id="21" name="TextBox 21"/>
            <p:cNvSpPr txBox="1"/>
            <p:nvPr/>
          </p:nvSpPr>
          <p:spPr>
            <a:xfrm>
              <a:off x="903732" y="1678305"/>
              <a:ext cx="796526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降级只解除时间压力,不解除记录义务;误报的价值全在记录里。</a:t>
              </a:r>
            </a:p>
          </p:txBody>
        </p:sp>
      </p:grpSp>
      <p:grpSp>
        <p:nvGrpSpPr>
          <p:cNvPr id="37" name="!!judgment-axis"/>
          <p:cNvGrpSpPr/>
          <p:nvPr/>
        </p:nvGrpSpPr>
        <p:grpSpPr>
          <a:xfrm>
            <a:off x="1123950" y="2628900"/>
            <a:ext cx="971626" cy="3143250"/>
            <a:chOff x="1123950" y="2628900"/>
            <a:chExt cx="971626" cy="3143250"/>
          </a:xfrm>
        </p:grpSpPr>
        <p:sp>
          <p:nvSpPr>
            <p:cNvPr id="23" name="Line 23"/>
            <p:cNvSpPr/>
            <p:nvPr/>
          </p:nvSpPr>
          <p:spPr>
            <a:xfrm>
              <a:off x="1333500" y="2628900"/>
              <a:ext cx="1" cy="3143250"/>
            </a:xfrm>
            <a:prstGeom prst="line">
              <a:avLst/>
            </a:prstGeom>
            <a:noFill/>
            <a:ln w="28575">
              <a:solidFill>
                <a:schemeClr val="accent1"/>
              </a:solidFill>
              <a:tailEnd type="triangle" w="lg" len="lg"/>
            </a:ln>
          </p:spPr>
        </p:sp>
        <p:sp>
          <p:nvSpPr>
            <p:cNvPr id="24" name="Ellipse 24"/>
            <p:cNvSpPr/>
            <p:nvPr/>
          </p:nvSpPr>
          <p:spPr>
            <a:xfrm>
              <a:off x="1123950" y="3467100"/>
              <a:ext cx="419100" cy="419100"/>
            </a:xfrm>
            <a:prstGeom prst="ellipse">
              <a:avLst/>
            </a:prstGeom>
            <a:noFill/>
            <a:ln w="28575">
              <a:solidFill>
                <a:schemeClr val="accent2"/>
              </a:solidFill>
            </a:ln>
          </p:spPr>
        </p:sp>
        <p:grpSp>
          <p:nvGrpSpPr>
            <p:cNvPr id="27" name="Group 27"/>
            <p:cNvGrpSpPr/>
            <p:nvPr/>
          </p:nvGrpSpPr>
          <p:grpSpPr>
            <a:xfrm>
              <a:off x="1200150" y="2709862"/>
              <a:ext cx="895426" cy="440055"/>
              <a:chOff x="1200150" y="2709862"/>
              <a:chExt cx="895426" cy="440055"/>
            </a:xfrm>
          </p:grpSpPr>
          <p:sp>
            <p:nvSpPr>
              <p:cNvPr id="25" name="Ellipse 25"/>
              <p:cNvSpPr/>
              <p:nvPr/>
            </p:nvSpPr>
            <p:spPr>
              <a:xfrm>
                <a:off x="1200150" y="2724150"/>
                <a:ext cx="266700" cy="266700"/>
              </a:xfrm>
              <a:prstGeom prst="ellipse">
                <a:avLst/>
              </a:prstGeom>
              <a:solidFill>
                <a:schemeClr val="lt1"/>
              </a:solidFill>
              <a:ln w="28575">
                <a:solidFill>
                  <a:schemeClr val="accent6"/>
                </a:solidFill>
              </a:ln>
            </p:spPr>
          </p:sp>
          <p:sp>
            <p:nvSpPr>
              <p:cNvPr id="26" name="TextBox 26"/>
              <p:cNvSpPr txBox="1"/>
              <p:nvPr/>
            </p:nvSpPr>
            <p:spPr>
              <a:xfrm>
                <a:off x="1703070" y="270986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L0</a:t>
                </a:r>
              </a:p>
            </p:txBody>
          </p:sp>
        </p:grpSp>
        <p:grpSp>
          <p:nvGrpSpPr>
            <p:cNvPr id="30" name="Group 30"/>
            <p:cNvGrpSpPr/>
            <p:nvPr/>
          </p:nvGrpSpPr>
          <p:grpSpPr>
            <a:xfrm>
              <a:off x="1200150" y="3529012"/>
              <a:ext cx="895426" cy="440055"/>
              <a:chOff x="1200150" y="3529012"/>
              <a:chExt cx="895426" cy="440055"/>
            </a:xfrm>
          </p:grpSpPr>
          <p:sp>
            <p:nvSpPr>
              <p:cNvPr id="28" name="Ellipse 28"/>
              <p:cNvSpPr/>
              <p:nvPr/>
            </p:nvSpPr>
            <p:spPr>
              <a:xfrm>
                <a:off x="1200150" y="3543300"/>
                <a:ext cx="266700" cy="266700"/>
              </a:xfrm>
              <a:prstGeom prst="ellipse">
                <a:avLst/>
              </a:prstGeom>
              <a:solidFill>
                <a:schemeClr val="accent2"/>
              </a:solidFill>
              <a:ln w="28575">
                <a:solidFill>
                  <a:schemeClr val="accent2"/>
                </a:solidFill>
              </a:ln>
            </p:spPr>
          </p:sp>
          <p:sp>
            <p:nvSpPr>
              <p:cNvPr id="29" name="TextBox 29"/>
              <p:cNvSpPr txBox="1"/>
              <p:nvPr/>
            </p:nvSpPr>
            <p:spPr>
              <a:xfrm>
                <a:off x="1703070" y="3529012"/>
                <a:ext cx="392506"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L1</a:t>
                </a:r>
              </a:p>
            </p:txBody>
          </p:sp>
        </p:grpSp>
        <p:grpSp>
          <p:nvGrpSpPr>
            <p:cNvPr id="33" name="Group 33"/>
            <p:cNvGrpSpPr/>
            <p:nvPr/>
          </p:nvGrpSpPr>
          <p:grpSpPr>
            <a:xfrm>
              <a:off x="1200150" y="4348162"/>
              <a:ext cx="895426" cy="440055"/>
              <a:chOff x="1200150" y="4348162"/>
              <a:chExt cx="895426" cy="440055"/>
            </a:xfrm>
          </p:grpSpPr>
          <p:sp>
            <p:nvSpPr>
              <p:cNvPr id="31" name="Ellipse 31"/>
              <p:cNvSpPr/>
              <p:nvPr/>
            </p:nvSpPr>
            <p:spPr>
              <a:xfrm>
                <a:off x="1200150" y="4362450"/>
                <a:ext cx="266700" cy="266700"/>
              </a:xfrm>
              <a:prstGeom prst="ellipse">
                <a:avLst/>
              </a:prstGeom>
              <a:solidFill>
                <a:schemeClr val="lt1"/>
              </a:solidFill>
              <a:ln w="28575">
                <a:solidFill>
                  <a:schemeClr val="accent6"/>
                </a:solidFill>
              </a:ln>
            </p:spPr>
          </p:sp>
          <p:sp>
            <p:nvSpPr>
              <p:cNvPr id="32" name="TextBox 32"/>
              <p:cNvSpPr txBox="1"/>
              <p:nvPr/>
            </p:nvSpPr>
            <p:spPr>
              <a:xfrm>
                <a:off x="1703070" y="434816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L2</a:t>
                </a:r>
              </a:p>
            </p:txBody>
          </p:sp>
        </p:grpSp>
        <p:grpSp>
          <p:nvGrpSpPr>
            <p:cNvPr id="36" name="Group 36"/>
            <p:cNvGrpSpPr/>
            <p:nvPr/>
          </p:nvGrpSpPr>
          <p:grpSpPr>
            <a:xfrm>
              <a:off x="1200150" y="5167312"/>
              <a:ext cx="895426" cy="440055"/>
              <a:chOff x="1200150" y="5167312"/>
              <a:chExt cx="895426" cy="440055"/>
            </a:xfrm>
          </p:grpSpPr>
          <p:sp>
            <p:nvSpPr>
              <p:cNvPr id="34" name="Ellipse 34"/>
              <p:cNvSpPr/>
              <p:nvPr/>
            </p:nvSpPr>
            <p:spPr>
              <a:xfrm>
                <a:off x="1200150" y="5181600"/>
                <a:ext cx="266700" cy="266700"/>
              </a:xfrm>
              <a:prstGeom prst="ellipse">
                <a:avLst/>
              </a:prstGeom>
              <a:solidFill>
                <a:schemeClr val="lt1"/>
              </a:solidFill>
              <a:ln w="28575">
                <a:solidFill>
                  <a:schemeClr val="accent6"/>
                </a:solidFill>
              </a:ln>
            </p:spPr>
          </p:sp>
          <p:sp>
            <p:nvSpPr>
              <p:cNvPr id="35" name="TextBox 35"/>
              <p:cNvSpPr txBox="1"/>
              <p:nvPr/>
            </p:nvSpPr>
            <p:spPr>
              <a:xfrm>
                <a:off x="1703070" y="51673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L3</a:t>
                </a:r>
              </a:p>
            </p:txBody>
          </p:sp>
        </p:grpSp>
      </p:grpSp>
      <p:grpSp>
        <p:nvGrpSpPr>
          <p:cNvPr id="41" name="Group 41"/>
          <p:cNvGrpSpPr/>
          <p:nvPr/>
        </p:nvGrpSpPr>
        <p:grpSpPr>
          <a:xfrm>
            <a:off x="3429000" y="3390900"/>
            <a:ext cx="2476500" cy="831723"/>
            <a:chOff x="3429000" y="3390900"/>
            <a:chExt cx="2476500" cy="831723"/>
          </a:xfrm>
        </p:grpSpPr>
        <p:sp>
          <p:nvSpPr>
            <p:cNvPr id="38" name="Freeform 38"/>
            <p:cNvSpPr/>
            <p:nvPr/>
          </p:nvSpPr>
          <p:spPr>
            <a:xfrm>
              <a:off x="3429000" y="3390900"/>
              <a:ext cx="2476500" cy="762000"/>
            </a:xfrm>
            <a:prstGeom prst="snip1Rect">
              <a:avLst/>
            </a:prstGeom>
            <a:noFill/>
            <a:ln w="19050">
              <a:solidFill>
                <a:schemeClr val="accent1"/>
              </a:solidFill>
            </a:ln>
          </p:spPr>
        </p:sp>
        <p:sp>
          <p:nvSpPr>
            <p:cNvPr id="39" name="TextBox 39"/>
            <p:cNvSpPr txBox="1"/>
            <p:nvPr/>
          </p:nvSpPr>
          <p:spPr>
            <a:xfrm>
              <a:off x="3650742" y="35880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核实结果</a:t>
              </a:r>
            </a:p>
          </p:txBody>
        </p:sp>
        <p:sp>
          <p:nvSpPr>
            <p:cNvPr id="40" name="TextBox 40"/>
            <p:cNvSpPr txBox="1"/>
            <p:nvPr/>
          </p:nvSpPr>
          <p:spPr>
            <a:xfrm>
              <a:off x="3646932" y="3811905"/>
              <a:ext cx="869442"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非火警</a:t>
              </a:r>
            </a:p>
          </p:txBody>
        </p:sp>
      </p:grpSp>
      <p:grpSp>
        <p:nvGrpSpPr>
          <p:cNvPr id="45" name="Group 45"/>
          <p:cNvGrpSpPr/>
          <p:nvPr/>
        </p:nvGrpSpPr>
        <p:grpSpPr>
          <a:xfrm>
            <a:off x="5981700" y="3143250"/>
            <a:ext cx="1143000" cy="1676400"/>
            <a:chOff x="5981700" y="3143250"/>
            <a:chExt cx="1143000" cy="1676400"/>
          </a:xfrm>
        </p:grpSpPr>
        <p:sp>
          <p:nvSpPr>
            <p:cNvPr id="42" name="Line 42"/>
            <p:cNvSpPr/>
            <p:nvPr/>
          </p:nvSpPr>
          <p:spPr>
            <a:xfrm flipV="1">
              <a:off x="5981700" y="3143250"/>
              <a:ext cx="1143000" cy="571500"/>
            </a:xfrm>
            <a:prstGeom prst="line">
              <a:avLst/>
            </a:prstGeom>
            <a:noFill/>
            <a:ln w="19050">
              <a:solidFill>
                <a:schemeClr val="accent1"/>
              </a:solidFill>
              <a:tailEnd type="triangle" w="lg" len="lg"/>
            </a:ln>
          </p:spPr>
        </p:sp>
        <p:sp>
          <p:nvSpPr>
            <p:cNvPr id="43" name="Line 43"/>
            <p:cNvSpPr/>
            <p:nvPr/>
          </p:nvSpPr>
          <p:spPr>
            <a:xfrm>
              <a:off x="5981700" y="3771900"/>
              <a:ext cx="1143000" cy="209550"/>
            </a:xfrm>
            <a:prstGeom prst="line">
              <a:avLst/>
            </a:prstGeom>
            <a:noFill/>
            <a:ln w="19050">
              <a:solidFill>
                <a:schemeClr val="accent1"/>
              </a:solidFill>
              <a:tailEnd type="triangle" w="lg" len="lg"/>
            </a:ln>
          </p:spPr>
        </p:sp>
        <p:sp>
          <p:nvSpPr>
            <p:cNvPr id="44" name="Line 44"/>
            <p:cNvSpPr/>
            <p:nvPr/>
          </p:nvSpPr>
          <p:spPr>
            <a:xfrm>
              <a:off x="5981700" y="3829050"/>
              <a:ext cx="1143000" cy="990600"/>
            </a:xfrm>
            <a:prstGeom prst="line">
              <a:avLst/>
            </a:prstGeom>
            <a:noFill/>
            <a:ln w="19050">
              <a:solidFill>
                <a:schemeClr val="accent1"/>
              </a:solidFill>
              <a:tailEnd type="triangle" w="lg" len="lg"/>
            </a:ln>
          </p:spPr>
        </p:sp>
      </p:grpSp>
      <p:grpSp>
        <p:nvGrpSpPr>
          <p:cNvPr id="55" name="Group 55"/>
          <p:cNvGrpSpPr/>
          <p:nvPr/>
        </p:nvGrpSpPr>
        <p:grpSpPr>
          <a:xfrm>
            <a:off x="7239000" y="2819400"/>
            <a:ext cx="4343400" cy="651701"/>
            <a:chOff x="7239000" y="2819400"/>
            <a:chExt cx="4343400" cy="651701"/>
          </a:xfrm>
        </p:grpSpPr>
        <p:sp>
          <p:nvSpPr>
            <p:cNvPr id="46" name="Rectangle 46"/>
            <p:cNvSpPr/>
            <p:nvPr/>
          </p:nvSpPr>
          <p:spPr>
            <a:xfrm>
              <a:off x="7239000" y="2819400"/>
              <a:ext cx="4343400" cy="647700"/>
            </a:xfrm>
            <a:prstGeom prst="rect">
              <a:avLst/>
            </a:prstGeom>
            <a:noFill/>
            <a:ln w="9525">
              <a:solidFill>
                <a:schemeClr val="accent6"/>
              </a:solidFill>
            </a:ln>
          </p:spPr>
        </p:sp>
        <p:grpSp>
          <p:nvGrpSpPr>
            <p:cNvPr id="52" name="Group 52"/>
            <p:cNvGrpSpPr/>
            <p:nvPr/>
          </p:nvGrpSpPr>
          <p:grpSpPr>
            <a:xfrm>
              <a:off x="7519194" y="3050381"/>
              <a:ext cx="144462" cy="185737"/>
              <a:chOff x="7519194" y="3050381"/>
              <a:chExt cx="144462" cy="185737"/>
            </a:xfrm>
          </p:grpSpPr>
          <p:sp>
            <p:nvSpPr>
              <p:cNvPr id="47" name="Freeform 47"/>
              <p:cNvSpPr/>
              <p:nvPr/>
            </p:nvSpPr>
            <p:spPr>
              <a:xfrm>
                <a:off x="7612062" y="3050381"/>
                <a:ext cx="51594" cy="51594"/>
              </a:xfrm>
              <a:custGeom>
                <a:avLst/>
                <a:gdLst/>
                <a:ahLst/>
                <a:cxnLst/>
                <a:rect l="l" t="t" r="r" b="b"/>
                <a:pathLst>
                  <a:path w="51594" h="51594">
                    <a:moveTo>
                      <a:pt x="0" y="0"/>
                    </a:moveTo>
                    <a:lnTo>
                      <a:pt x="0" y="41275"/>
                    </a:lnTo>
                    <a:cubicBezTo>
                      <a:pt x="0" y="46974"/>
                      <a:pt x="4620" y="51594"/>
                      <a:pt x="10319" y="51594"/>
                    </a:cubicBezTo>
                    <a:lnTo>
                      <a:pt x="51594" y="51594"/>
                    </a:lnTo>
                  </a:path>
                </a:pathLst>
              </a:custGeom>
              <a:noFill/>
              <a:ln w="20637">
                <a:solidFill>
                  <a:schemeClr val="accent1"/>
                </a:solidFill>
              </a:ln>
            </p:spPr>
          </p:sp>
          <p:sp>
            <p:nvSpPr>
              <p:cNvPr id="48" name="Freeform 48"/>
              <p:cNvSpPr/>
              <p:nvPr/>
            </p:nvSpPr>
            <p:spPr>
              <a:xfrm>
                <a:off x="7519194" y="3050381"/>
                <a:ext cx="144462" cy="185737"/>
              </a:xfrm>
              <a:custGeom>
                <a:avLst/>
                <a:gdLst/>
                <a:ahLst/>
                <a:cxnLst/>
                <a:rect l="l" t="t" r="r" b="b"/>
                <a:pathLst>
                  <a:path w="144462" h="185737">
                    <a:moveTo>
                      <a:pt x="123825" y="185737"/>
                    </a:moveTo>
                    <a:lnTo>
                      <a:pt x="20637" y="185737"/>
                    </a:lnTo>
                    <a:cubicBezTo>
                      <a:pt x="9240" y="185737"/>
                      <a:pt x="0" y="176497"/>
                      <a:pt x="0" y="165099"/>
                    </a:cubicBezTo>
                    <a:lnTo>
                      <a:pt x="0" y="20637"/>
                    </a:lnTo>
                    <a:cubicBezTo>
                      <a:pt x="0" y="9240"/>
                      <a:pt x="9240" y="0"/>
                      <a:pt x="20637" y="0"/>
                    </a:cubicBezTo>
                    <a:lnTo>
                      <a:pt x="92868" y="0"/>
                    </a:lnTo>
                    <a:lnTo>
                      <a:pt x="144462" y="51594"/>
                    </a:lnTo>
                    <a:lnTo>
                      <a:pt x="144462" y="165099"/>
                    </a:lnTo>
                    <a:cubicBezTo>
                      <a:pt x="144462" y="176497"/>
                      <a:pt x="135222" y="185737"/>
                      <a:pt x="123825" y="185737"/>
                    </a:cubicBezTo>
                  </a:path>
                </a:pathLst>
              </a:custGeom>
              <a:noFill/>
              <a:ln w="20637">
                <a:solidFill>
                  <a:schemeClr val="accent1"/>
                </a:solidFill>
              </a:ln>
            </p:spPr>
          </p:sp>
          <p:sp>
            <p:nvSpPr>
              <p:cNvPr id="49" name="Freeform 49"/>
              <p:cNvSpPr/>
              <p:nvPr/>
            </p:nvSpPr>
            <p:spPr>
              <a:xfrm>
                <a:off x="7560468" y="3112293"/>
                <a:ext cx="10319" cy="9525"/>
              </a:xfrm>
              <a:custGeom>
                <a:avLst/>
                <a:gdLst/>
                <a:ahLst/>
                <a:cxnLst/>
                <a:rect l="l" t="t" r="r" b="b"/>
                <a:pathLst>
                  <a:path w="10319" h="9525">
                    <a:moveTo>
                      <a:pt x="0" y="0"/>
                    </a:moveTo>
                    <a:lnTo>
                      <a:pt x="10319" y="0"/>
                    </a:lnTo>
                  </a:path>
                </a:pathLst>
              </a:custGeom>
              <a:noFill/>
              <a:ln w="20637">
                <a:solidFill>
                  <a:schemeClr val="accent1"/>
                </a:solidFill>
              </a:ln>
            </p:spPr>
          </p:sp>
          <p:sp>
            <p:nvSpPr>
              <p:cNvPr id="50" name="Freeform 50"/>
              <p:cNvSpPr/>
              <p:nvPr/>
            </p:nvSpPr>
            <p:spPr>
              <a:xfrm>
                <a:off x="7560468" y="3153568"/>
                <a:ext cx="61912" cy="9525"/>
              </a:xfrm>
              <a:custGeom>
                <a:avLst/>
                <a:gdLst/>
                <a:ahLst/>
                <a:cxnLst/>
                <a:rect l="l" t="t" r="r" b="b"/>
                <a:pathLst>
                  <a:path w="61912" h="9525">
                    <a:moveTo>
                      <a:pt x="0" y="0"/>
                    </a:moveTo>
                    <a:lnTo>
                      <a:pt x="61912" y="0"/>
                    </a:lnTo>
                  </a:path>
                </a:pathLst>
              </a:custGeom>
              <a:noFill/>
              <a:ln w="20637">
                <a:solidFill>
                  <a:schemeClr val="accent1"/>
                </a:solidFill>
              </a:ln>
            </p:spPr>
          </p:sp>
          <p:sp>
            <p:nvSpPr>
              <p:cNvPr id="51" name="Freeform 51"/>
              <p:cNvSpPr/>
              <p:nvPr/>
            </p:nvSpPr>
            <p:spPr>
              <a:xfrm>
                <a:off x="7560468" y="3194843"/>
                <a:ext cx="61912" cy="9525"/>
              </a:xfrm>
              <a:custGeom>
                <a:avLst/>
                <a:gdLst/>
                <a:ahLst/>
                <a:cxnLst/>
                <a:rect l="l" t="t" r="r" b="b"/>
                <a:pathLst>
                  <a:path w="61912" h="9525">
                    <a:moveTo>
                      <a:pt x="0" y="0"/>
                    </a:moveTo>
                    <a:lnTo>
                      <a:pt x="61912" y="0"/>
                    </a:lnTo>
                  </a:path>
                </a:pathLst>
              </a:custGeom>
              <a:noFill/>
              <a:ln w="20637">
                <a:solidFill>
                  <a:schemeClr val="accent1"/>
                </a:solidFill>
              </a:ln>
            </p:spPr>
          </p:sp>
        </p:grpSp>
        <p:sp>
          <p:nvSpPr>
            <p:cNvPr id="53" name="TextBox 53"/>
            <p:cNvSpPr txBox="1"/>
            <p:nvPr/>
          </p:nvSpPr>
          <p:spPr>
            <a:xfrm>
              <a:off x="7877556" y="291084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值班情况与检查巡查记录</a:t>
              </a:r>
            </a:p>
          </p:txBody>
        </p:sp>
        <p:sp>
          <p:nvSpPr>
            <p:cNvPr id="54" name="TextBox 54"/>
            <p:cNvSpPr txBox="1"/>
            <p:nvPr/>
          </p:nvSpPr>
          <p:spPr>
            <a:xfrm>
              <a:off x="7879842" y="3207068"/>
              <a:ext cx="242310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4.1 条 e)</a:t>
              </a:r>
            </a:p>
          </p:txBody>
        </p:sp>
      </p:grpSp>
      <p:grpSp>
        <p:nvGrpSpPr>
          <p:cNvPr id="63" name="Group 63"/>
          <p:cNvGrpSpPr/>
          <p:nvPr/>
        </p:nvGrpSpPr>
        <p:grpSpPr>
          <a:xfrm>
            <a:off x="7239000" y="3657600"/>
            <a:ext cx="4343400" cy="651701"/>
            <a:chOff x="7239000" y="3657600"/>
            <a:chExt cx="4343400" cy="651701"/>
          </a:xfrm>
        </p:grpSpPr>
        <p:sp>
          <p:nvSpPr>
            <p:cNvPr id="56" name="Rectangle 56"/>
            <p:cNvSpPr/>
            <p:nvPr/>
          </p:nvSpPr>
          <p:spPr>
            <a:xfrm>
              <a:off x="7239000" y="3657600"/>
              <a:ext cx="4343400" cy="647700"/>
            </a:xfrm>
            <a:prstGeom prst="rect">
              <a:avLst/>
            </a:prstGeom>
            <a:noFill/>
            <a:ln w="9525">
              <a:solidFill>
                <a:schemeClr val="accent6"/>
              </a:solidFill>
            </a:ln>
          </p:spPr>
        </p:sp>
        <p:grpSp>
          <p:nvGrpSpPr>
            <p:cNvPr id="60" name="Group 60"/>
            <p:cNvGrpSpPr/>
            <p:nvPr/>
          </p:nvGrpSpPr>
          <p:grpSpPr>
            <a:xfrm>
              <a:off x="7519194" y="3888581"/>
              <a:ext cx="144462" cy="185737"/>
              <a:chOff x="7519194" y="3888581"/>
              <a:chExt cx="144462" cy="185737"/>
            </a:xfrm>
          </p:grpSpPr>
          <p:sp>
            <p:nvSpPr>
              <p:cNvPr id="57" name="Freeform 57"/>
              <p:cNvSpPr/>
              <p:nvPr/>
            </p:nvSpPr>
            <p:spPr>
              <a:xfrm>
                <a:off x="7519194" y="3909219"/>
                <a:ext cx="144462" cy="165099"/>
              </a:xfrm>
              <a:custGeom>
                <a:avLst/>
                <a:gdLst/>
                <a:ahLst/>
                <a:cxnLst/>
                <a:rect l="l" t="t" r="r" b="b"/>
                <a:pathLst>
                  <a:path w="144462" h="165099">
                    <a:moveTo>
                      <a:pt x="41275" y="0"/>
                    </a:moveTo>
                    <a:lnTo>
                      <a:pt x="20637" y="0"/>
                    </a:lnTo>
                    <a:cubicBezTo>
                      <a:pt x="9240" y="0"/>
                      <a:pt x="0" y="9240"/>
                      <a:pt x="0" y="20637"/>
                    </a:cubicBezTo>
                    <a:lnTo>
                      <a:pt x="0" y="144462"/>
                    </a:lnTo>
                    <a:cubicBezTo>
                      <a:pt x="0" y="155860"/>
                      <a:pt x="9240" y="165099"/>
                      <a:pt x="20637" y="165099"/>
                    </a:cubicBezTo>
                    <a:lnTo>
                      <a:pt x="123825" y="165099"/>
                    </a:lnTo>
                    <a:cubicBezTo>
                      <a:pt x="135222" y="165099"/>
                      <a:pt x="144462" y="155860"/>
                      <a:pt x="144462" y="144462"/>
                    </a:cubicBezTo>
                    <a:lnTo>
                      <a:pt x="144462" y="20637"/>
                    </a:lnTo>
                    <a:cubicBezTo>
                      <a:pt x="144462" y="9240"/>
                      <a:pt x="135222" y="0"/>
                      <a:pt x="123825" y="0"/>
                    </a:cubicBezTo>
                    <a:lnTo>
                      <a:pt x="103187" y="0"/>
                    </a:lnTo>
                  </a:path>
                </a:pathLst>
              </a:custGeom>
              <a:noFill/>
              <a:ln w="20637">
                <a:solidFill>
                  <a:schemeClr val="accent1"/>
                </a:solidFill>
              </a:ln>
            </p:spPr>
          </p:sp>
          <p:sp>
            <p:nvSpPr>
              <p:cNvPr id="58" name="Freeform 58"/>
              <p:cNvSpPr/>
              <p:nvPr/>
            </p:nvSpPr>
            <p:spPr>
              <a:xfrm>
                <a:off x="7560468" y="3888581"/>
                <a:ext cx="61912" cy="41275"/>
              </a:xfrm>
              <a:custGeom>
                <a:avLst/>
                <a:gdLst/>
                <a:ahLst/>
                <a:cxnLst/>
                <a:rect l="l" t="t" r="r" b="b"/>
                <a:pathLst>
                  <a:path w="61912" h="41275">
                    <a:moveTo>
                      <a:pt x="0" y="20637"/>
                    </a:moveTo>
                    <a:cubicBezTo>
                      <a:pt x="0" y="9240"/>
                      <a:pt x="9240" y="0"/>
                      <a:pt x="20637" y="0"/>
                    </a:cubicBezTo>
                    <a:lnTo>
                      <a:pt x="41275" y="0"/>
                    </a:lnTo>
                    <a:cubicBezTo>
                      <a:pt x="52673" y="0"/>
                      <a:pt x="61912" y="9240"/>
                      <a:pt x="61912" y="20637"/>
                    </a:cubicBezTo>
                    <a:cubicBezTo>
                      <a:pt x="61912" y="32035"/>
                      <a:pt x="52673" y="41275"/>
                      <a:pt x="41275" y="41275"/>
                    </a:cubicBezTo>
                    <a:lnTo>
                      <a:pt x="20637" y="41275"/>
                    </a:lnTo>
                    <a:cubicBezTo>
                      <a:pt x="9240" y="41275"/>
                      <a:pt x="0" y="32035"/>
                      <a:pt x="0" y="20637"/>
                    </a:cubicBezTo>
                  </a:path>
                </a:pathLst>
              </a:custGeom>
              <a:noFill/>
              <a:ln w="20637">
                <a:solidFill>
                  <a:schemeClr val="accent1"/>
                </a:solidFill>
              </a:ln>
            </p:spPr>
          </p:sp>
          <p:sp>
            <p:nvSpPr>
              <p:cNvPr id="59" name="Freeform 59"/>
              <p:cNvSpPr/>
              <p:nvPr/>
            </p:nvSpPr>
            <p:spPr>
              <a:xfrm>
                <a:off x="7560468" y="3981450"/>
                <a:ext cx="61912" cy="41275"/>
              </a:xfrm>
              <a:custGeom>
                <a:avLst/>
                <a:gdLst/>
                <a:ahLst/>
                <a:cxnLst/>
                <a:rect l="l" t="t" r="r" b="b"/>
                <a:pathLst>
                  <a:path w="61912" h="41275">
                    <a:moveTo>
                      <a:pt x="0" y="20637"/>
                    </a:moveTo>
                    <a:lnTo>
                      <a:pt x="20637" y="41275"/>
                    </a:lnTo>
                    <a:lnTo>
                      <a:pt x="61912" y="0"/>
                    </a:lnTo>
                  </a:path>
                </a:pathLst>
              </a:custGeom>
              <a:noFill/>
              <a:ln w="20637">
                <a:solidFill>
                  <a:schemeClr val="accent1"/>
                </a:solidFill>
              </a:ln>
            </p:spPr>
          </p:sp>
        </p:grpSp>
        <p:sp>
          <p:nvSpPr>
            <p:cNvPr id="61" name="TextBox 61"/>
            <p:cNvSpPr txBox="1"/>
            <p:nvPr/>
          </p:nvSpPr>
          <p:spPr>
            <a:xfrm>
              <a:off x="7877556" y="3749040"/>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接报警记录与火灾处理情况</a:t>
              </a:r>
            </a:p>
          </p:txBody>
        </p:sp>
        <p:sp>
          <p:nvSpPr>
            <p:cNvPr id="62" name="TextBox 62"/>
            <p:cNvSpPr txBox="1"/>
            <p:nvPr/>
          </p:nvSpPr>
          <p:spPr>
            <a:xfrm>
              <a:off x="7879842" y="4045268"/>
              <a:ext cx="325000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4.1 条 h)·定期归档</a:t>
              </a:r>
            </a:p>
          </p:txBody>
        </p:sp>
      </p:grpSp>
      <p:grpSp>
        <p:nvGrpSpPr>
          <p:cNvPr id="74" name="Group 74"/>
          <p:cNvGrpSpPr/>
          <p:nvPr/>
        </p:nvGrpSpPr>
        <p:grpSpPr>
          <a:xfrm>
            <a:off x="7239000" y="4495800"/>
            <a:ext cx="4343400" cy="651701"/>
            <a:chOff x="7239000" y="4495800"/>
            <a:chExt cx="4343400" cy="651701"/>
          </a:xfrm>
        </p:grpSpPr>
        <p:sp>
          <p:nvSpPr>
            <p:cNvPr id="64" name="Rectangle 64"/>
            <p:cNvSpPr/>
            <p:nvPr/>
          </p:nvSpPr>
          <p:spPr>
            <a:xfrm>
              <a:off x="7239000" y="4495800"/>
              <a:ext cx="4343400" cy="647700"/>
            </a:xfrm>
            <a:prstGeom prst="rect">
              <a:avLst/>
            </a:prstGeom>
            <a:noFill/>
            <a:ln w="9525">
              <a:solidFill>
                <a:schemeClr val="accent6"/>
              </a:solidFill>
            </a:ln>
          </p:spPr>
        </p:sp>
        <p:grpSp>
          <p:nvGrpSpPr>
            <p:cNvPr id="71" name="Group 71"/>
            <p:cNvGrpSpPr/>
            <p:nvPr/>
          </p:nvGrpSpPr>
          <p:grpSpPr>
            <a:xfrm>
              <a:off x="7498556" y="4747419"/>
              <a:ext cx="185737" cy="175418"/>
              <a:chOff x="7498556" y="4747419"/>
              <a:chExt cx="185737" cy="175418"/>
            </a:xfrm>
          </p:grpSpPr>
          <p:sp>
            <p:nvSpPr>
              <p:cNvPr id="65" name="Freeform 65"/>
              <p:cNvSpPr/>
              <p:nvPr/>
            </p:nvSpPr>
            <p:spPr>
              <a:xfrm>
                <a:off x="7591425" y="4819650"/>
                <a:ext cx="61912" cy="61912"/>
              </a:xfrm>
              <a:custGeom>
                <a:avLst/>
                <a:gdLst/>
                <a:ahLst/>
                <a:cxnLst/>
                <a:rect l="l" t="t" r="r" b="b"/>
                <a:pathLst>
                  <a:path w="61912" h="61912">
                    <a:moveTo>
                      <a:pt x="0" y="30956"/>
                    </a:moveTo>
                    <a:cubicBezTo>
                      <a:pt x="0" y="48053"/>
                      <a:pt x="13860" y="61912"/>
                      <a:pt x="30956" y="61912"/>
                    </a:cubicBezTo>
                    <a:cubicBezTo>
                      <a:pt x="48053" y="61912"/>
                      <a:pt x="61912" y="48053"/>
                      <a:pt x="61912" y="30956"/>
                    </a:cubicBezTo>
                    <a:cubicBezTo>
                      <a:pt x="61912" y="13860"/>
                      <a:pt x="48053" y="0"/>
                      <a:pt x="30956" y="0"/>
                    </a:cubicBezTo>
                    <a:cubicBezTo>
                      <a:pt x="13860" y="0"/>
                      <a:pt x="0" y="13860"/>
                      <a:pt x="0" y="30956"/>
                    </a:cubicBezTo>
                  </a:path>
                </a:pathLst>
              </a:custGeom>
              <a:noFill/>
              <a:ln w="20637">
                <a:solidFill>
                  <a:schemeClr val="accent1"/>
                </a:solidFill>
              </a:ln>
            </p:spPr>
          </p:sp>
          <p:sp>
            <p:nvSpPr>
              <p:cNvPr id="66" name="Freeform 66"/>
              <p:cNvSpPr/>
              <p:nvPr/>
            </p:nvSpPr>
            <p:spPr>
              <a:xfrm>
                <a:off x="7601743" y="4876403"/>
                <a:ext cx="41275" cy="46434"/>
              </a:xfrm>
              <a:custGeom>
                <a:avLst/>
                <a:gdLst/>
                <a:ahLst/>
                <a:cxnLst/>
                <a:rect l="l" t="t" r="r" b="b"/>
                <a:pathLst>
                  <a:path w="41275" h="46434">
                    <a:moveTo>
                      <a:pt x="0" y="0"/>
                    </a:moveTo>
                    <a:lnTo>
                      <a:pt x="0" y="46434"/>
                    </a:lnTo>
                    <a:lnTo>
                      <a:pt x="20637" y="30956"/>
                    </a:lnTo>
                    <a:lnTo>
                      <a:pt x="41275" y="46434"/>
                    </a:lnTo>
                    <a:lnTo>
                      <a:pt x="41275" y="0"/>
                    </a:lnTo>
                  </a:path>
                </a:pathLst>
              </a:custGeom>
              <a:noFill/>
              <a:ln w="20637">
                <a:solidFill>
                  <a:schemeClr val="accent1"/>
                </a:solidFill>
              </a:ln>
            </p:spPr>
          </p:sp>
          <p:sp>
            <p:nvSpPr>
              <p:cNvPr id="67" name="Freeform 67"/>
              <p:cNvSpPr/>
              <p:nvPr/>
            </p:nvSpPr>
            <p:spPr>
              <a:xfrm>
                <a:off x="7498556" y="4747419"/>
                <a:ext cx="185737" cy="144462"/>
              </a:xfrm>
              <a:custGeom>
                <a:avLst/>
                <a:gdLst/>
                <a:ahLst/>
                <a:cxnLst/>
                <a:rect l="l" t="t" r="r" b="b"/>
                <a:pathLst>
                  <a:path w="185737" h="144462">
                    <a:moveTo>
                      <a:pt x="72231" y="144462"/>
                    </a:moveTo>
                    <a:lnTo>
                      <a:pt x="20637" y="144462"/>
                    </a:lnTo>
                    <a:cubicBezTo>
                      <a:pt x="9240" y="144462"/>
                      <a:pt x="0" y="135222"/>
                      <a:pt x="0" y="123825"/>
                    </a:cubicBezTo>
                    <a:lnTo>
                      <a:pt x="0" y="20637"/>
                    </a:lnTo>
                    <a:cubicBezTo>
                      <a:pt x="0" y="9287"/>
                      <a:pt x="9287" y="0"/>
                      <a:pt x="20637" y="0"/>
                    </a:cubicBezTo>
                    <a:lnTo>
                      <a:pt x="165099" y="0"/>
                    </a:lnTo>
                    <a:cubicBezTo>
                      <a:pt x="176497" y="0"/>
                      <a:pt x="185737" y="9240"/>
                      <a:pt x="185737" y="20637"/>
                    </a:cubicBezTo>
                    <a:lnTo>
                      <a:pt x="185737" y="123825"/>
                    </a:lnTo>
                    <a:cubicBezTo>
                      <a:pt x="185729" y="131190"/>
                      <a:pt x="181797" y="137993"/>
                      <a:pt x="175418" y="141676"/>
                    </a:cubicBezTo>
                  </a:path>
                </a:pathLst>
              </a:custGeom>
              <a:noFill/>
              <a:ln w="20637">
                <a:solidFill>
                  <a:schemeClr val="accent1"/>
                </a:solidFill>
              </a:ln>
            </p:spPr>
          </p:sp>
          <p:sp>
            <p:nvSpPr>
              <p:cNvPr id="68" name="Freeform 68"/>
              <p:cNvSpPr/>
              <p:nvPr/>
            </p:nvSpPr>
            <p:spPr>
              <a:xfrm>
                <a:off x="7529512" y="4788693"/>
                <a:ext cx="123825" cy="9525"/>
              </a:xfrm>
              <a:custGeom>
                <a:avLst/>
                <a:gdLst/>
                <a:ahLst/>
                <a:cxnLst/>
                <a:rect l="l" t="t" r="r" b="b"/>
                <a:pathLst>
                  <a:path w="123825" h="9525">
                    <a:moveTo>
                      <a:pt x="0" y="0"/>
                    </a:moveTo>
                    <a:lnTo>
                      <a:pt x="123825" y="0"/>
                    </a:lnTo>
                  </a:path>
                </a:pathLst>
              </a:custGeom>
              <a:noFill/>
              <a:ln w="20637">
                <a:solidFill>
                  <a:schemeClr val="accent1"/>
                </a:solidFill>
              </a:ln>
            </p:spPr>
          </p:sp>
          <p:sp>
            <p:nvSpPr>
              <p:cNvPr id="69" name="Freeform 69"/>
              <p:cNvSpPr/>
              <p:nvPr/>
            </p:nvSpPr>
            <p:spPr>
              <a:xfrm>
                <a:off x="7529512" y="4819650"/>
                <a:ext cx="30956" cy="9525"/>
              </a:xfrm>
              <a:custGeom>
                <a:avLst/>
                <a:gdLst/>
                <a:ahLst/>
                <a:cxnLst/>
                <a:rect l="l" t="t" r="r" b="b"/>
                <a:pathLst>
                  <a:path w="30956" h="9525">
                    <a:moveTo>
                      <a:pt x="0" y="0"/>
                    </a:moveTo>
                    <a:lnTo>
                      <a:pt x="30956" y="0"/>
                    </a:lnTo>
                  </a:path>
                </a:pathLst>
              </a:custGeom>
              <a:noFill/>
              <a:ln w="20637">
                <a:solidFill>
                  <a:schemeClr val="accent1"/>
                </a:solidFill>
              </a:ln>
            </p:spPr>
          </p:sp>
          <p:sp>
            <p:nvSpPr>
              <p:cNvPr id="70" name="Freeform 70"/>
              <p:cNvSpPr/>
              <p:nvPr/>
            </p:nvSpPr>
            <p:spPr>
              <a:xfrm>
                <a:off x="7529512" y="4850606"/>
                <a:ext cx="20637" cy="9525"/>
              </a:xfrm>
              <a:custGeom>
                <a:avLst/>
                <a:gdLst/>
                <a:ahLst/>
                <a:cxnLst/>
                <a:rect l="l" t="t" r="r" b="b"/>
                <a:pathLst>
                  <a:path w="20637" h="9525">
                    <a:moveTo>
                      <a:pt x="0" y="0"/>
                    </a:moveTo>
                    <a:lnTo>
                      <a:pt x="20637" y="0"/>
                    </a:lnTo>
                  </a:path>
                </a:pathLst>
              </a:custGeom>
              <a:noFill/>
              <a:ln w="20637">
                <a:solidFill>
                  <a:schemeClr val="accent1"/>
                </a:solidFill>
              </a:ln>
            </p:spPr>
          </p:sp>
        </p:grpSp>
        <p:sp>
          <p:nvSpPr>
            <p:cNvPr id="72" name="TextBox 72"/>
            <p:cNvSpPr txBox="1"/>
            <p:nvPr/>
          </p:nvSpPr>
          <p:spPr>
            <a:xfrm>
              <a:off x="7877556" y="4587240"/>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填写消防控制室值班记录表</a:t>
              </a:r>
            </a:p>
          </p:txBody>
        </p:sp>
        <p:sp>
          <p:nvSpPr>
            <p:cNvPr id="73" name="TextBox 73"/>
            <p:cNvSpPr txBox="1"/>
            <p:nvPr/>
          </p:nvSpPr>
          <p:spPr>
            <a:xfrm>
              <a:off x="7879842" y="4883468"/>
              <a:ext cx="282155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国家职业标准 五级/初级工 1.1.14</a:t>
              </a:r>
            </a:p>
          </p:txBody>
        </p:sp>
      </p:grpSp>
      <p:grpSp>
        <p:nvGrpSpPr>
          <p:cNvPr id="80" name="Group 80"/>
          <p:cNvGrpSpPr/>
          <p:nvPr/>
        </p:nvGrpSpPr>
        <p:grpSpPr>
          <a:xfrm>
            <a:off x="3429000" y="5410200"/>
            <a:ext cx="6470790" cy="937451"/>
            <a:chOff x="3429000" y="5410200"/>
            <a:chExt cx="6470790" cy="937451"/>
          </a:xfrm>
        </p:grpSpPr>
        <p:sp>
          <p:nvSpPr>
            <p:cNvPr id="75" name="Rectangle 75"/>
            <p:cNvSpPr/>
            <p:nvPr/>
          </p:nvSpPr>
          <p:spPr>
            <a:xfrm>
              <a:off x="3429000" y="5410200"/>
              <a:ext cx="47625" cy="838200"/>
            </a:xfrm>
            <a:prstGeom prst="rect">
              <a:avLst/>
            </a:prstGeom>
            <a:solidFill>
              <a:schemeClr val="accent2"/>
            </a:solidFill>
            <a:ln>
              <a:noFill/>
            </a:ln>
          </p:spPr>
        </p:sp>
        <p:sp>
          <p:nvSpPr>
            <p:cNvPr id="76" name="Rectangle 76"/>
            <p:cNvSpPr/>
            <p:nvPr/>
          </p:nvSpPr>
          <p:spPr>
            <a:xfrm>
              <a:off x="3695700" y="5429250"/>
              <a:ext cx="838200" cy="285750"/>
            </a:xfrm>
            <a:prstGeom prst="rect">
              <a:avLst/>
            </a:prstGeom>
            <a:noFill/>
            <a:ln w="9525">
              <a:solidFill>
                <a:schemeClr val="accent2"/>
              </a:solidFill>
            </a:ln>
          </p:spPr>
        </p:sp>
        <p:sp>
          <p:nvSpPr>
            <p:cNvPr id="77" name="TextBox 77"/>
            <p:cNvSpPr txBox="1"/>
            <p:nvPr/>
          </p:nvSpPr>
          <p:spPr>
            <a:xfrm>
              <a:off x="3926205" y="5483542"/>
              <a:ext cx="377190"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整理</a:t>
              </a:r>
            </a:p>
          </p:txBody>
        </p:sp>
        <p:sp>
          <p:nvSpPr>
            <p:cNvPr id="78" name="TextBox 78"/>
            <p:cNvSpPr txBox="1"/>
            <p:nvPr/>
          </p:nvSpPr>
          <p:spPr>
            <a:xfrm>
              <a:off x="3686556" y="5787390"/>
              <a:ext cx="574906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同一点位重复误报,应转为检修申报,而不是继续复位;</a:t>
              </a:r>
            </a:p>
          </p:txBody>
        </p:sp>
        <p:sp>
          <p:nvSpPr>
            <p:cNvPr id="79" name="TextBox 79"/>
            <p:cNvSpPr txBox="1"/>
            <p:nvPr/>
          </p:nvSpPr>
          <p:spPr>
            <a:xfrm>
              <a:off x="3688842" y="6083618"/>
              <a:ext cx="621094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消防安全重点单位还须每日防火巡查并建立巡查记录(《消防法》第十七条)。</a:t>
              </a:r>
            </a:p>
          </p:txBody>
        </p:sp>
      </p:grpSp>
      <p:grpSp>
        <p:nvGrpSpPr>
          <p:cNvPr id="83" name="Group 83"/>
          <p:cNvGrpSpPr/>
          <p:nvPr/>
        </p:nvGrpSpPr>
        <p:grpSpPr>
          <a:xfrm>
            <a:off x="908304" y="6423660"/>
            <a:ext cx="10680192" cy="234696"/>
            <a:chOff x="908304" y="6423660"/>
            <a:chExt cx="10680192" cy="234696"/>
          </a:xfrm>
        </p:grpSpPr>
        <p:sp>
          <p:nvSpPr>
            <p:cNvPr id="81" name="TextBox 81"/>
            <p:cNvSpPr txBox="1"/>
            <p:nvPr/>
          </p:nvSpPr>
          <p:spPr>
            <a:xfrm>
              <a:off x="908304" y="6423660"/>
              <a:ext cx="772408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 第 4.1 条 · 《中华人民共和国消防法》第十七条 · 国家职业标准《消防设施操作员》</a:t>
              </a:r>
            </a:p>
          </p:txBody>
        </p:sp>
        <p:sp>
          <p:nvSpPr>
            <p:cNvPr id="82" name="TextBox 82"/>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par>
                          <p:cTn id="8" fill="hold">
                            <p:stCondLst>
                              <p:cond delay="500"/>
                            </p:stCondLst>
                            <p:childTnLst>
                              <p:par>
                                <p:cTn id="9" presetID="22" presetClass="entr" presetSubtype="2" fill="hold" grpId="0" nodeType="afterEffect">
                                  <p:stCondLst>
                                    <p:cond delay="500"/>
                                  </p:stCondLst>
                                  <p:childTnLst>
                                    <p:set>
                                      <p:cBhvr>
                                        <p:cTn id="10" dur="1" fill="hold">
                                          <p:stCondLst>
                                            <p:cond delay="0"/>
                                          </p:stCondLst>
                                        </p:cTn>
                                        <p:tgtEl>
                                          <p:spTgt spid="45"/>
                                        </p:tgtEl>
                                        <p:attrNameLst>
                                          <p:attrName>style.visibility</p:attrName>
                                        </p:attrNameLst>
                                      </p:cBhvr>
                                      <p:to>
                                        <p:strVal val="visible"/>
                                      </p:to>
                                    </p:set>
                                    <p:animEffect transition="in" filter="wipe(right)">
                                      <p:cBhvr>
                                        <p:cTn id="11" dur="500"/>
                                        <p:tgtEl>
                                          <p:spTgt spid="45"/>
                                        </p:tgtEl>
                                      </p:cBhvr>
                                    </p:animEffect>
                                  </p:childTnLst>
                                </p:cTn>
                              </p:par>
                            </p:childTnLst>
                          </p:cTn>
                        </p:par>
                        <p:par>
                          <p:cTn id="12" fill="hold">
                            <p:stCondLst>
                              <p:cond delay="1500"/>
                            </p:stCondLst>
                            <p:childTnLst>
                              <p:par>
                                <p:cTn id="13" presetID="10" presetClass="entr" presetSubtype="0" fill="hold" grpId="0" nodeType="afterEffect">
                                  <p:stCondLst>
                                    <p:cond delay="50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400"/>
                                        <p:tgtEl>
                                          <p:spTgt spid="55"/>
                                        </p:tgtEl>
                                      </p:cBhvr>
                                    </p:animEffect>
                                  </p:childTnLst>
                                </p:cTn>
                              </p:par>
                            </p:childTnLst>
                          </p:cTn>
                        </p:par>
                        <p:par>
                          <p:cTn id="16" fill="hold">
                            <p:stCondLst>
                              <p:cond delay="2400"/>
                            </p:stCondLst>
                            <p:childTnLst>
                              <p:par>
                                <p:cTn id="17" presetID="10" presetClass="entr" presetSubtype="0" fill="hold" grpId="0" nodeType="afterEffect">
                                  <p:stCondLst>
                                    <p:cond delay="500"/>
                                  </p:stCondLst>
                                  <p:childTnLst>
                                    <p:set>
                                      <p:cBhvr>
                                        <p:cTn id="18" dur="1" fill="hold">
                                          <p:stCondLst>
                                            <p:cond delay="0"/>
                                          </p:stCondLst>
                                        </p:cTn>
                                        <p:tgtEl>
                                          <p:spTgt spid="63"/>
                                        </p:tgtEl>
                                        <p:attrNameLst>
                                          <p:attrName>style.visibility</p:attrName>
                                        </p:attrNameLst>
                                      </p:cBhvr>
                                      <p:to>
                                        <p:strVal val="visible"/>
                                      </p:to>
                                    </p:set>
                                    <p:animEffect transition="in" filter="fade">
                                      <p:cBhvr>
                                        <p:cTn id="19" dur="400"/>
                                        <p:tgtEl>
                                          <p:spTgt spid="63"/>
                                        </p:tgtEl>
                                      </p:cBhvr>
                                    </p:animEffect>
                                  </p:childTnLst>
                                </p:cTn>
                              </p:par>
                            </p:childTnLst>
                          </p:cTn>
                        </p:par>
                        <p:par>
                          <p:cTn id="20" fill="hold">
                            <p:stCondLst>
                              <p:cond delay="3300"/>
                            </p:stCondLst>
                            <p:childTnLst>
                              <p:par>
                                <p:cTn id="21" presetID="10" presetClass="entr" presetSubtype="0" fill="hold" grpId="0" nodeType="afterEffect">
                                  <p:stCondLst>
                                    <p:cond delay="500"/>
                                  </p:stCondLst>
                                  <p:childTnLst>
                                    <p:set>
                                      <p:cBhvr>
                                        <p:cTn id="22" dur="1" fill="hold">
                                          <p:stCondLst>
                                            <p:cond delay="0"/>
                                          </p:stCondLst>
                                        </p:cTn>
                                        <p:tgtEl>
                                          <p:spTgt spid="74"/>
                                        </p:tgtEl>
                                        <p:attrNameLst>
                                          <p:attrName>style.visibility</p:attrName>
                                        </p:attrNameLst>
                                      </p:cBhvr>
                                      <p:to>
                                        <p:strVal val="visible"/>
                                      </p:to>
                                    </p:set>
                                    <p:animEffect transition="in" filter="fade">
                                      <p:cBhvr>
                                        <p:cTn id="23" dur="400"/>
                                        <p:tgtEl>
                                          <p:spTgt spid="74"/>
                                        </p:tgtEl>
                                      </p:cBhvr>
                                    </p:animEffect>
                                  </p:childTnLst>
                                </p:cTn>
                              </p:par>
                            </p:childTnLst>
                          </p:cTn>
                        </p:par>
                        <p:par>
                          <p:cTn id="24" fill="hold">
                            <p:stCondLst>
                              <p:cond delay="4200"/>
                            </p:stCondLst>
                            <p:childTnLst>
                              <p:par>
                                <p:cTn id="25" presetID="10" presetClass="entr" presetSubtype="0" fill="hold" grpId="0" nodeType="afterEffect">
                                  <p:stCondLst>
                                    <p:cond delay="200"/>
                                  </p:stCondLst>
                                  <p:childTnLst>
                                    <p:set>
                                      <p:cBhvr>
                                        <p:cTn id="26" dur="1" fill="hold">
                                          <p:stCondLst>
                                            <p:cond delay="0"/>
                                          </p:stCondLst>
                                        </p:cTn>
                                        <p:tgtEl>
                                          <p:spTgt spid="80"/>
                                        </p:tgtEl>
                                        <p:attrNameLst>
                                          <p:attrName>style.visibility</p:attrName>
                                        </p:attrNameLst>
                                      </p:cBhvr>
                                      <p:to>
                                        <p:strVal val="visible"/>
                                      </p:to>
                                    </p:set>
                                    <p:animEffect transition="in" filter="fade">
                                      <p:cBhvr>
                                        <p:cTn id="27" dur="4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2337492" cy="264033"/>
            <a:chOff x="907542" y="787718"/>
            <a:chExt cx="2337492" cy="264033"/>
          </a:xfrm>
        </p:grpSpPr>
        <p:sp>
          <p:nvSpPr>
            <p:cNvPr id="17" name="TextBox 17"/>
            <p:cNvSpPr txBox="1"/>
            <p:nvPr/>
          </p:nvSpPr>
          <p:spPr>
            <a:xfrm>
              <a:off x="907542" y="787718"/>
              <a:ext cx="2337492"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第三节 · 流程顺序页 L2</a:t>
              </a:r>
            </a:p>
          </p:txBody>
        </p:sp>
      </p:grpSp>
      <p:grpSp>
        <p:nvGrpSpPr>
          <p:cNvPr id="20" name="Group 20"/>
          <p:cNvGrpSpPr/>
          <p:nvPr/>
        </p:nvGrpSpPr>
        <p:grpSpPr>
          <a:xfrm>
            <a:off x="899160" y="1123950"/>
            <a:ext cx="8393697" cy="586740"/>
            <a:chOff x="899160" y="1123950"/>
            <a:chExt cx="8393697" cy="586740"/>
          </a:xfrm>
        </p:grpSpPr>
        <p:sp>
          <p:nvSpPr>
            <p:cNvPr id="19" name="TextBox 19"/>
            <p:cNvSpPr txBox="1"/>
            <p:nvPr/>
          </p:nvSpPr>
          <p:spPr>
            <a:xfrm>
              <a:off x="899160" y="1123950"/>
              <a:ext cx="8393697"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L2 确认火警:三个动作同时开始,没有先后可挑</a:t>
              </a:r>
            </a:p>
          </p:txBody>
        </p:sp>
      </p:grpSp>
      <p:grpSp>
        <p:nvGrpSpPr>
          <p:cNvPr id="22" name="Group 22"/>
          <p:cNvGrpSpPr/>
          <p:nvPr/>
        </p:nvGrpSpPr>
        <p:grpSpPr>
          <a:xfrm>
            <a:off x="903732" y="1678305"/>
            <a:ext cx="9096070" cy="410718"/>
            <a:chOff x="903732" y="1678305"/>
            <a:chExt cx="9096070" cy="410718"/>
          </a:xfrm>
        </p:grpSpPr>
        <p:sp>
          <p:nvSpPr>
            <p:cNvPr id="21" name="TextBox 21"/>
            <p:cNvSpPr txBox="1"/>
            <p:nvPr/>
          </p:nvSpPr>
          <p:spPr>
            <a:xfrm>
              <a:off x="903732" y="1678305"/>
              <a:ext cx="909607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三项动作在条文里并列启动;排到后面的那一项,丢掉的是不可逆的时间。</a:t>
              </a:r>
            </a:p>
          </p:txBody>
        </p:sp>
      </p:grpSp>
      <p:grpSp>
        <p:nvGrpSpPr>
          <p:cNvPr id="37" name="!!judgment-axis"/>
          <p:cNvGrpSpPr/>
          <p:nvPr/>
        </p:nvGrpSpPr>
        <p:grpSpPr>
          <a:xfrm>
            <a:off x="1123950" y="2628900"/>
            <a:ext cx="971626" cy="3143250"/>
            <a:chOff x="1123950" y="2628900"/>
            <a:chExt cx="971626" cy="3143250"/>
          </a:xfrm>
        </p:grpSpPr>
        <p:sp>
          <p:nvSpPr>
            <p:cNvPr id="23" name="Line 23"/>
            <p:cNvSpPr/>
            <p:nvPr/>
          </p:nvSpPr>
          <p:spPr>
            <a:xfrm>
              <a:off x="1333500" y="2628900"/>
              <a:ext cx="1" cy="3143250"/>
            </a:xfrm>
            <a:prstGeom prst="line">
              <a:avLst/>
            </a:prstGeom>
            <a:noFill/>
            <a:ln w="28575">
              <a:solidFill>
                <a:schemeClr val="accent1"/>
              </a:solidFill>
              <a:tailEnd type="triangle" w="lg" len="lg"/>
            </a:ln>
          </p:spPr>
        </p:sp>
        <p:sp>
          <p:nvSpPr>
            <p:cNvPr id="24" name="Ellipse 24"/>
            <p:cNvSpPr/>
            <p:nvPr/>
          </p:nvSpPr>
          <p:spPr>
            <a:xfrm>
              <a:off x="1123950" y="4286250"/>
              <a:ext cx="419100" cy="419100"/>
            </a:xfrm>
            <a:prstGeom prst="ellipse">
              <a:avLst/>
            </a:prstGeom>
            <a:noFill/>
            <a:ln w="28575">
              <a:solidFill>
                <a:schemeClr val="accent3"/>
              </a:solidFill>
            </a:ln>
          </p:spPr>
        </p:sp>
        <p:grpSp>
          <p:nvGrpSpPr>
            <p:cNvPr id="27" name="Group 27"/>
            <p:cNvGrpSpPr/>
            <p:nvPr/>
          </p:nvGrpSpPr>
          <p:grpSpPr>
            <a:xfrm>
              <a:off x="1200150" y="2709862"/>
              <a:ext cx="895426" cy="440055"/>
              <a:chOff x="1200150" y="2709862"/>
              <a:chExt cx="895426" cy="440055"/>
            </a:xfrm>
          </p:grpSpPr>
          <p:sp>
            <p:nvSpPr>
              <p:cNvPr id="25" name="Ellipse 25"/>
              <p:cNvSpPr/>
              <p:nvPr/>
            </p:nvSpPr>
            <p:spPr>
              <a:xfrm>
                <a:off x="1200150" y="2724150"/>
                <a:ext cx="266700" cy="266700"/>
              </a:xfrm>
              <a:prstGeom prst="ellipse">
                <a:avLst/>
              </a:prstGeom>
              <a:solidFill>
                <a:schemeClr val="lt1"/>
              </a:solidFill>
              <a:ln w="28575">
                <a:solidFill>
                  <a:schemeClr val="accent6"/>
                </a:solidFill>
              </a:ln>
            </p:spPr>
          </p:sp>
          <p:sp>
            <p:nvSpPr>
              <p:cNvPr id="26" name="TextBox 26"/>
              <p:cNvSpPr txBox="1"/>
              <p:nvPr/>
            </p:nvSpPr>
            <p:spPr>
              <a:xfrm>
                <a:off x="1703070" y="270986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L0</a:t>
                </a:r>
              </a:p>
            </p:txBody>
          </p:sp>
        </p:grpSp>
        <p:grpSp>
          <p:nvGrpSpPr>
            <p:cNvPr id="30" name="Group 30"/>
            <p:cNvGrpSpPr/>
            <p:nvPr/>
          </p:nvGrpSpPr>
          <p:grpSpPr>
            <a:xfrm>
              <a:off x="1200150" y="3529012"/>
              <a:ext cx="895426" cy="440055"/>
              <a:chOff x="1200150" y="3529012"/>
              <a:chExt cx="895426" cy="440055"/>
            </a:xfrm>
          </p:grpSpPr>
          <p:sp>
            <p:nvSpPr>
              <p:cNvPr id="28" name="Ellipse 28"/>
              <p:cNvSpPr/>
              <p:nvPr/>
            </p:nvSpPr>
            <p:spPr>
              <a:xfrm>
                <a:off x="1200150" y="3543300"/>
                <a:ext cx="266700" cy="266700"/>
              </a:xfrm>
              <a:prstGeom prst="ellipse">
                <a:avLst/>
              </a:prstGeom>
              <a:solidFill>
                <a:schemeClr val="lt1"/>
              </a:solidFill>
              <a:ln w="28575">
                <a:solidFill>
                  <a:schemeClr val="accent6"/>
                </a:solidFill>
              </a:ln>
            </p:spPr>
          </p:sp>
          <p:sp>
            <p:nvSpPr>
              <p:cNvPr id="29" name="TextBox 29"/>
              <p:cNvSpPr txBox="1"/>
              <p:nvPr/>
            </p:nvSpPr>
            <p:spPr>
              <a:xfrm>
                <a:off x="1703070" y="35290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L1</a:t>
                </a:r>
              </a:p>
            </p:txBody>
          </p:sp>
        </p:grpSp>
        <p:grpSp>
          <p:nvGrpSpPr>
            <p:cNvPr id="33" name="Group 33"/>
            <p:cNvGrpSpPr/>
            <p:nvPr/>
          </p:nvGrpSpPr>
          <p:grpSpPr>
            <a:xfrm>
              <a:off x="1200150" y="4348162"/>
              <a:ext cx="895426" cy="440055"/>
              <a:chOff x="1200150" y="4348162"/>
              <a:chExt cx="895426" cy="440055"/>
            </a:xfrm>
          </p:grpSpPr>
          <p:sp>
            <p:nvSpPr>
              <p:cNvPr id="31" name="Ellipse 31"/>
              <p:cNvSpPr/>
              <p:nvPr/>
            </p:nvSpPr>
            <p:spPr>
              <a:xfrm>
                <a:off x="1200150" y="4362450"/>
                <a:ext cx="266700" cy="266700"/>
              </a:xfrm>
              <a:prstGeom prst="ellipse">
                <a:avLst/>
              </a:prstGeom>
              <a:solidFill>
                <a:schemeClr val="accent3"/>
              </a:solidFill>
              <a:ln w="28575">
                <a:solidFill>
                  <a:schemeClr val="accent3"/>
                </a:solidFill>
              </a:ln>
            </p:spPr>
          </p:sp>
          <p:sp>
            <p:nvSpPr>
              <p:cNvPr id="32" name="TextBox 32"/>
              <p:cNvSpPr txBox="1"/>
              <p:nvPr/>
            </p:nvSpPr>
            <p:spPr>
              <a:xfrm>
                <a:off x="1703070" y="4348162"/>
                <a:ext cx="392506" cy="440055"/>
              </a:xfrm>
              <a:prstGeom prst="rect">
                <a:avLst/>
              </a:prstGeom>
              <a:noFill/>
              <a:ln>
                <a:noFill/>
              </a:ln>
            </p:spPr>
            <p:txBody>
              <a:bodyPr wrap="none" lIns="0" tIns="0" rIns="0" bIns="0" anchor="t" anchorCtr="0">
                <a:spAutoFit/>
              </a:bodyPr>
              <a:lstStyle/>
              <a:p>
                <a:pPr algn="l"/>
                <a:r>
                  <a:rPr lang="zh-CN" sz="2250" b="1" dirty="0">
                    <a:solidFill>
                      <a:schemeClr val="accent3"/>
                    </a:solidFill>
                    <a:latin typeface="+mn-lt"/>
                    <a:ea typeface="+mn-ea"/>
                    <a:cs typeface="+mn-cs"/>
                  </a:rPr>
                  <a:t>L2</a:t>
                </a:r>
              </a:p>
            </p:txBody>
          </p:sp>
        </p:grpSp>
        <p:grpSp>
          <p:nvGrpSpPr>
            <p:cNvPr id="36" name="Group 36"/>
            <p:cNvGrpSpPr/>
            <p:nvPr/>
          </p:nvGrpSpPr>
          <p:grpSpPr>
            <a:xfrm>
              <a:off x="1200150" y="5167312"/>
              <a:ext cx="895426" cy="440055"/>
              <a:chOff x="1200150" y="5167312"/>
              <a:chExt cx="895426" cy="440055"/>
            </a:xfrm>
          </p:grpSpPr>
          <p:sp>
            <p:nvSpPr>
              <p:cNvPr id="34" name="Ellipse 34"/>
              <p:cNvSpPr/>
              <p:nvPr/>
            </p:nvSpPr>
            <p:spPr>
              <a:xfrm>
                <a:off x="1200150" y="5181600"/>
                <a:ext cx="266700" cy="266700"/>
              </a:xfrm>
              <a:prstGeom prst="ellipse">
                <a:avLst/>
              </a:prstGeom>
              <a:solidFill>
                <a:schemeClr val="lt1"/>
              </a:solidFill>
              <a:ln w="28575">
                <a:solidFill>
                  <a:schemeClr val="accent6"/>
                </a:solidFill>
              </a:ln>
            </p:spPr>
          </p:sp>
          <p:sp>
            <p:nvSpPr>
              <p:cNvPr id="35" name="TextBox 35"/>
              <p:cNvSpPr txBox="1"/>
              <p:nvPr/>
            </p:nvSpPr>
            <p:spPr>
              <a:xfrm>
                <a:off x="1703070" y="51673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L3</a:t>
                </a:r>
              </a:p>
            </p:txBody>
          </p:sp>
        </p:grpSp>
      </p:grpSp>
      <p:grpSp>
        <p:nvGrpSpPr>
          <p:cNvPr id="40" name="Group 40"/>
          <p:cNvGrpSpPr/>
          <p:nvPr/>
        </p:nvGrpSpPr>
        <p:grpSpPr>
          <a:xfrm>
            <a:off x="3733800" y="2483168"/>
            <a:ext cx="1236345" cy="3136582"/>
            <a:chOff x="3733800" y="2483168"/>
            <a:chExt cx="1236345" cy="3136582"/>
          </a:xfrm>
        </p:grpSpPr>
        <p:sp>
          <p:nvSpPr>
            <p:cNvPr id="38" name="TextBox 38"/>
            <p:cNvSpPr txBox="1"/>
            <p:nvPr/>
          </p:nvSpPr>
          <p:spPr>
            <a:xfrm>
              <a:off x="3765042" y="2483168"/>
              <a:ext cx="1205103" cy="264033"/>
            </a:xfrm>
            <a:prstGeom prst="rect">
              <a:avLst/>
            </a:prstGeom>
            <a:noFill/>
            <a:ln>
              <a:noFill/>
            </a:ln>
          </p:spPr>
          <p:txBody>
            <a:bodyPr wrap="none" lIns="0" tIns="0" rIns="0" bIns="0" anchor="t" anchorCtr="0">
              <a:spAutoFit/>
            </a:bodyPr>
            <a:lstStyle/>
            <a:p>
              <a:pPr algn="l"/>
              <a:r>
                <a:rPr lang="zh-CN" sz="1350" spc="150" dirty="0">
                  <a:solidFill>
                    <a:schemeClr val="accent3"/>
                  </a:solidFill>
                  <a:latin typeface="+mn-lt"/>
                  <a:ea typeface="+mn-ea"/>
                  <a:cs typeface="+mn-cs"/>
                </a:rPr>
                <a:t>火灾确认时刻</a:t>
              </a:r>
            </a:p>
          </p:txBody>
        </p:sp>
        <p:sp>
          <p:nvSpPr>
            <p:cNvPr id="39" name="Line 39"/>
            <p:cNvSpPr/>
            <p:nvPr/>
          </p:nvSpPr>
          <p:spPr>
            <a:xfrm>
              <a:off x="3733800" y="2762250"/>
              <a:ext cx="9525" cy="2857500"/>
            </a:xfrm>
            <a:custGeom>
              <a:avLst/>
              <a:gdLst/>
              <a:ahLst/>
              <a:cxnLst/>
              <a:rect l="l" t="t" r="r" b="b"/>
              <a:pathLst>
                <a:path w="9525" h="2857500">
                  <a:moveTo>
                    <a:pt x="0" y="0"/>
                  </a:moveTo>
                  <a:lnTo>
                    <a:pt x="0" y="2857500"/>
                  </a:lnTo>
                </a:path>
              </a:pathLst>
            </a:custGeom>
            <a:noFill/>
            <a:ln w="28575">
              <a:solidFill>
                <a:schemeClr val="accent3"/>
              </a:solidFill>
            </a:ln>
          </p:spPr>
        </p:sp>
      </p:grpSp>
      <p:sp>
        <p:nvSpPr>
          <p:cNvPr id="41" name="Freeform 41"/>
          <p:cNvSpPr/>
          <p:nvPr/>
        </p:nvSpPr>
        <p:spPr>
          <a:xfrm>
            <a:off x="3810000" y="2933700"/>
            <a:ext cx="1143000" cy="419100"/>
          </a:xfrm>
          <a:prstGeom prst="rightArrow">
            <a:avLst/>
          </a:prstGeom>
          <a:solidFill>
            <a:schemeClr val="accent3"/>
          </a:solidFill>
          <a:ln>
            <a:noFill/>
          </a:ln>
        </p:spPr>
      </p:sp>
      <p:sp>
        <p:nvSpPr>
          <p:cNvPr id="42" name="Freeform 42"/>
          <p:cNvSpPr/>
          <p:nvPr/>
        </p:nvSpPr>
        <p:spPr>
          <a:xfrm>
            <a:off x="3810000" y="3981450"/>
            <a:ext cx="1143000" cy="419100"/>
          </a:xfrm>
          <a:prstGeom prst="rightArrow">
            <a:avLst/>
          </a:prstGeom>
          <a:solidFill>
            <a:schemeClr val="accent3"/>
          </a:solidFill>
          <a:ln>
            <a:noFill/>
          </a:ln>
        </p:spPr>
      </p:sp>
      <p:sp>
        <p:nvSpPr>
          <p:cNvPr id="43" name="Freeform 43"/>
          <p:cNvSpPr/>
          <p:nvPr/>
        </p:nvSpPr>
        <p:spPr>
          <a:xfrm>
            <a:off x="3810000" y="5029200"/>
            <a:ext cx="1143000" cy="419100"/>
          </a:xfrm>
          <a:prstGeom prst="rightArrow">
            <a:avLst/>
          </a:prstGeom>
          <a:solidFill>
            <a:schemeClr val="accent3"/>
          </a:solidFill>
          <a:ln>
            <a:noFill/>
          </a:ln>
        </p:spPr>
      </p:sp>
      <p:grpSp>
        <p:nvGrpSpPr>
          <p:cNvPr id="48" name="Group 48"/>
          <p:cNvGrpSpPr/>
          <p:nvPr/>
        </p:nvGrpSpPr>
        <p:grpSpPr>
          <a:xfrm>
            <a:off x="5143500" y="2819400"/>
            <a:ext cx="6438900" cy="685800"/>
            <a:chOff x="5143500" y="2819400"/>
            <a:chExt cx="6438900" cy="685800"/>
          </a:xfrm>
        </p:grpSpPr>
        <p:sp>
          <p:nvSpPr>
            <p:cNvPr id="44" name="Rectangle 44"/>
            <p:cNvSpPr/>
            <p:nvPr/>
          </p:nvSpPr>
          <p:spPr>
            <a:xfrm>
              <a:off x="5143500" y="2819400"/>
              <a:ext cx="6438900" cy="685800"/>
            </a:xfrm>
            <a:prstGeom prst="rect">
              <a:avLst/>
            </a:prstGeom>
            <a:noFill/>
            <a:ln w="9525">
              <a:solidFill>
                <a:schemeClr val="accent6"/>
              </a:solidFill>
            </a:ln>
          </p:spPr>
        </p:sp>
        <p:sp>
          <p:nvSpPr>
            <p:cNvPr id="45" name="TextBox 45"/>
            <p:cNvSpPr txBox="1"/>
            <p:nvPr/>
          </p:nvSpPr>
          <p:spPr>
            <a:xfrm>
              <a:off x="5363718" y="3003232"/>
              <a:ext cx="26385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01</a:t>
              </a:r>
            </a:p>
          </p:txBody>
        </p:sp>
        <p:sp>
          <p:nvSpPr>
            <p:cNvPr id="46" name="TextBox 46"/>
            <p:cNvSpPr txBox="1"/>
            <p:nvPr/>
          </p:nvSpPr>
          <p:spPr>
            <a:xfrm>
              <a:off x="5743956" y="2910840"/>
              <a:ext cx="43799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确认火灾报警联动控制开关处于自动状态</a:t>
              </a:r>
            </a:p>
          </p:txBody>
        </p:sp>
        <p:sp>
          <p:nvSpPr>
            <p:cNvPr id="47" name="TextBox 47"/>
            <p:cNvSpPr txBox="1"/>
            <p:nvPr/>
          </p:nvSpPr>
          <p:spPr>
            <a:xfrm>
              <a:off x="5746242" y="3207068"/>
              <a:ext cx="320320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晚一步,联动就要靠人手一台一台补回来</a:t>
              </a:r>
            </a:p>
          </p:txBody>
        </p:sp>
      </p:grpSp>
      <p:grpSp>
        <p:nvGrpSpPr>
          <p:cNvPr id="53" name="!!call-step"/>
          <p:cNvGrpSpPr/>
          <p:nvPr/>
        </p:nvGrpSpPr>
        <p:grpSpPr>
          <a:xfrm>
            <a:off x="5143500" y="3867150"/>
            <a:ext cx="6438900" cy="685800"/>
            <a:chOff x="5143500" y="3867150"/>
            <a:chExt cx="6438900" cy="685800"/>
          </a:xfrm>
        </p:grpSpPr>
        <p:sp>
          <p:nvSpPr>
            <p:cNvPr id="49" name="Rectangle 49"/>
            <p:cNvSpPr/>
            <p:nvPr/>
          </p:nvSpPr>
          <p:spPr>
            <a:xfrm>
              <a:off x="5143500" y="3867150"/>
              <a:ext cx="6438900" cy="685800"/>
            </a:xfrm>
            <a:prstGeom prst="rect">
              <a:avLst/>
            </a:prstGeom>
            <a:noFill/>
            <a:ln w="19050">
              <a:solidFill>
                <a:schemeClr val="accent2"/>
              </a:solidFill>
            </a:ln>
          </p:spPr>
        </p:sp>
        <p:sp>
          <p:nvSpPr>
            <p:cNvPr id="50" name="TextBox 50"/>
            <p:cNvSpPr txBox="1"/>
            <p:nvPr/>
          </p:nvSpPr>
          <p:spPr>
            <a:xfrm>
              <a:off x="5363718" y="4050982"/>
              <a:ext cx="26385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02</a:t>
              </a:r>
            </a:p>
          </p:txBody>
        </p:sp>
        <p:sp>
          <p:nvSpPr>
            <p:cNvPr id="51" name="TextBox 51"/>
            <p:cNvSpPr txBox="1"/>
            <p:nvPr/>
          </p:nvSpPr>
          <p:spPr>
            <a:xfrm>
              <a:off x="5743956" y="3958590"/>
              <a:ext cx="396803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同时拨打"119"报警,并说满五个要素</a:t>
              </a:r>
            </a:p>
          </p:txBody>
        </p:sp>
        <p:sp>
          <p:nvSpPr>
            <p:cNvPr id="52" name="TextBox 52"/>
            <p:cNvSpPr txBox="1"/>
            <p:nvPr/>
          </p:nvSpPr>
          <p:spPr>
            <a:xfrm>
              <a:off x="5746242" y="4254818"/>
              <a:ext cx="265798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晚一步,消防车到场时间整体后移</a:t>
              </a:r>
            </a:p>
          </p:txBody>
        </p:sp>
      </p:grpSp>
      <p:grpSp>
        <p:nvGrpSpPr>
          <p:cNvPr id="58" name="Group 58"/>
          <p:cNvGrpSpPr/>
          <p:nvPr/>
        </p:nvGrpSpPr>
        <p:grpSpPr>
          <a:xfrm>
            <a:off x="5143500" y="4914900"/>
            <a:ext cx="6438900" cy="685800"/>
            <a:chOff x="5143500" y="4914900"/>
            <a:chExt cx="6438900" cy="685800"/>
          </a:xfrm>
        </p:grpSpPr>
        <p:sp>
          <p:nvSpPr>
            <p:cNvPr id="54" name="Rectangle 54"/>
            <p:cNvSpPr/>
            <p:nvPr/>
          </p:nvSpPr>
          <p:spPr>
            <a:xfrm>
              <a:off x="5143500" y="4914900"/>
              <a:ext cx="6438900" cy="685800"/>
            </a:xfrm>
            <a:prstGeom prst="rect">
              <a:avLst/>
            </a:prstGeom>
            <a:noFill/>
            <a:ln w="9525">
              <a:solidFill>
                <a:schemeClr val="accent6"/>
              </a:solidFill>
            </a:ln>
          </p:spPr>
        </p:sp>
        <p:sp>
          <p:nvSpPr>
            <p:cNvPr id="55" name="TextBox 55"/>
            <p:cNvSpPr txBox="1"/>
            <p:nvPr/>
          </p:nvSpPr>
          <p:spPr>
            <a:xfrm>
              <a:off x="5363718" y="5098732"/>
              <a:ext cx="26385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03</a:t>
              </a:r>
            </a:p>
          </p:txBody>
        </p:sp>
        <p:sp>
          <p:nvSpPr>
            <p:cNvPr id="56" name="TextBox 56"/>
            <p:cNvSpPr txBox="1"/>
            <p:nvPr/>
          </p:nvSpPr>
          <p:spPr>
            <a:xfrm>
              <a:off x="5743956" y="5006340"/>
              <a:ext cx="475556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启动应急疏散和灭火预案,并报告单位负责人</a:t>
              </a:r>
            </a:p>
          </p:txBody>
        </p:sp>
        <p:sp>
          <p:nvSpPr>
            <p:cNvPr id="57" name="TextBox 57"/>
            <p:cNvSpPr txBox="1"/>
            <p:nvPr/>
          </p:nvSpPr>
          <p:spPr>
            <a:xfrm>
              <a:off x="5746242" y="5302568"/>
              <a:ext cx="302146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晚一步,疏散就错过最有利的那段时间</a:t>
              </a:r>
            </a:p>
          </p:txBody>
        </p:sp>
      </p:grpSp>
      <p:grpSp>
        <p:nvGrpSpPr>
          <p:cNvPr id="61" name="Group 61"/>
          <p:cNvGrpSpPr/>
          <p:nvPr/>
        </p:nvGrpSpPr>
        <p:grpSpPr>
          <a:xfrm>
            <a:off x="5136642" y="5829300"/>
            <a:ext cx="6445758" cy="594551"/>
            <a:chOff x="5136642" y="5829300"/>
            <a:chExt cx="6445758" cy="594551"/>
          </a:xfrm>
        </p:grpSpPr>
        <p:sp>
          <p:nvSpPr>
            <p:cNvPr id="59" name="Line 59"/>
            <p:cNvSpPr/>
            <p:nvPr/>
          </p:nvSpPr>
          <p:spPr>
            <a:xfrm>
              <a:off x="5143500" y="5829300"/>
              <a:ext cx="6438900" cy="9525"/>
            </a:xfrm>
            <a:custGeom>
              <a:avLst/>
              <a:gdLst/>
              <a:ahLst/>
              <a:cxnLst/>
              <a:rect l="l" t="t" r="r" b="b"/>
              <a:pathLst>
                <a:path w="6438900" h="9525">
                  <a:moveTo>
                    <a:pt x="0" y="0"/>
                  </a:moveTo>
                  <a:lnTo>
                    <a:pt x="6438900" y="0"/>
                  </a:lnTo>
                </a:path>
              </a:pathLst>
            </a:custGeom>
            <a:noFill/>
            <a:ln w="9525">
              <a:solidFill>
                <a:schemeClr val="accent6"/>
              </a:solidFill>
            </a:ln>
          </p:spPr>
        </p:sp>
        <p:sp>
          <p:nvSpPr>
            <p:cNvPr id="60" name="TextBox 60"/>
            <p:cNvSpPr txBox="1"/>
            <p:nvPr/>
          </p:nvSpPr>
          <p:spPr>
            <a:xfrm>
              <a:off x="5136642" y="5912168"/>
              <a:ext cx="354558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条文出处:GB 25506-2010 第 4.2.2 条 b)、c)</a:t>
              </a:r>
              <a:br/>
              <a:r>
                <a:rPr lang="zh-CN" sz="1350" dirty="0">
                  <a:solidFill>
                    <a:schemeClr val="accent5"/>
                  </a:solidFill>
                  <a:latin typeface="+mn-lt"/>
                  <a:ea typeface="+mn-ea"/>
                  <a:cs typeface="+mn-cs"/>
                </a:rPr>
                <a:t>本页依赖的机制页:第 06 页(优先级与时限)</a:t>
              </a:r>
            </a:p>
          </p:txBody>
        </p:sp>
      </p:grpSp>
      <p:grpSp>
        <p:nvGrpSpPr>
          <p:cNvPr id="64" name="Group 64"/>
          <p:cNvGrpSpPr/>
          <p:nvPr/>
        </p:nvGrpSpPr>
        <p:grpSpPr>
          <a:xfrm>
            <a:off x="908304" y="6423660"/>
            <a:ext cx="10680192" cy="234696"/>
            <a:chOff x="908304" y="6423660"/>
            <a:chExt cx="10680192" cy="234696"/>
          </a:xfrm>
        </p:grpSpPr>
        <p:sp>
          <p:nvSpPr>
            <p:cNvPr id="62" name="TextBox 62"/>
            <p:cNvSpPr txBox="1"/>
            <p:nvPr/>
          </p:nvSpPr>
          <p:spPr>
            <a:xfrm>
              <a:off x="908304" y="6423660"/>
              <a:ext cx="457123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25506-2010《消防控制室通用技术要求》第 4.2.2 条</a:t>
              </a:r>
            </a:p>
          </p:txBody>
        </p:sp>
        <p:sp>
          <p:nvSpPr>
            <p:cNvPr id="63" name="TextBox 63"/>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600"/>
                                        <p:tgtEl>
                                          <p:spTgt spid="40"/>
                                        </p:tgtEl>
                                      </p:cBhvr>
                                    </p:animEffect>
                                  </p:childTnLst>
                                </p:cTn>
                              </p:par>
                            </p:childTnLst>
                          </p:cTn>
                        </p:par>
                        <p:par>
                          <p:cTn id="8" fill="hold">
                            <p:stCondLst>
                              <p:cond delay="600"/>
                            </p:stCondLst>
                            <p:childTnLst>
                              <p:par>
                                <p:cTn id="9" presetID="22" presetClass="entr" presetSubtype="2" fill="hold" grpId="0" nodeType="afterEffect">
                                  <p:stCondLst>
                                    <p:cond delay="500"/>
                                  </p:stCondLst>
                                  <p:childTnLst>
                                    <p:set>
                                      <p:cBhvr>
                                        <p:cTn id="10" dur="1" fill="hold">
                                          <p:stCondLst>
                                            <p:cond delay="0"/>
                                          </p:stCondLst>
                                        </p:cTn>
                                        <p:tgtEl>
                                          <p:spTgt spid="41"/>
                                        </p:tgtEl>
                                        <p:attrNameLst>
                                          <p:attrName>style.visibility</p:attrName>
                                        </p:attrNameLst>
                                      </p:cBhvr>
                                      <p:to>
                                        <p:strVal val="visible"/>
                                      </p:to>
                                    </p:set>
                                    <p:animEffect transition="in" filter="wipe(right)">
                                      <p:cBhvr>
                                        <p:cTn id="11" dur="400"/>
                                        <p:tgtEl>
                                          <p:spTgt spid="41"/>
                                        </p:tgtEl>
                                      </p:cBhvr>
                                    </p:animEffect>
                                  </p:childTnLst>
                                </p:cTn>
                              </p:par>
                            </p:childTnLst>
                          </p:cTn>
                        </p:par>
                        <p:par>
                          <p:cTn id="12" fill="hold">
                            <p:stCondLst>
                              <p:cond delay="1100"/>
                            </p:stCondLst>
                            <p:childTnLst>
                              <p:par>
                                <p:cTn id="13" presetID="10"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400"/>
                                        <p:tgtEl>
                                          <p:spTgt spid="48"/>
                                        </p:tgtEl>
                                      </p:cBhvr>
                                    </p:animEffect>
                                  </p:childTnLst>
                                </p:cTn>
                              </p:par>
                            </p:childTnLst>
                          </p:cTn>
                        </p:par>
                        <p:par>
                          <p:cTn id="16" fill="hold">
                            <p:stCondLst>
                              <p:cond delay="1500"/>
                            </p:stCondLst>
                            <p:childTnLst>
                              <p:par>
                                <p:cTn id="17" presetID="22" presetClass="entr" presetSubtype="2" fill="hold" grpId="0" nodeType="afterEffect">
                                  <p:stCondLst>
                                    <p:cond delay="500"/>
                                  </p:stCondLst>
                                  <p:childTnLst>
                                    <p:set>
                                      <p:cBhvr>
                                        <p:cTn id="18" dur="1" fill="hold">
                                          <p:stCondLst>
                                            <p:cond delay="0"/>
                                          </p:stCondLst>
                                        </p:cTn>
                                        <p:tgtEl>
                                          <p:spTgt spid="42"/>
                                        </p:tgtEl>
                                        <p:attrNameLst>
                                          <p:attrName>style.visibility</p:attrName>
                                        </p:attrNameLst>
                                      </p:cBhvr>
                                      <p:to>
                                        <p:strVal val="visible"/>
                                      </p:to>
                                    </p:set>
                                    <p:animEffect transition="in" filter="wipe(right)">
                                      <p:cBhvr>
                                        <p:cTn id="19" dur="400"/>
                                        <p:tgtEl>
                                          <p:spTgt spid="42"/>
                                        </p:tgtEl>
                                      </p:cBhvr>
                                    </p:animEffect>
                                  </p:childTnLst>
                                </p:cTn>
                              </p:par>
                            </p:childTnLst>
                          </p:cTn>
                        </p:par>
                        <p:par>
                          <p:cTn id="20" fill="hold">
                            <p:stCondLst>
                              <p:cond delay="2000"/>
                            </p:stCondLst>
                            <p:childTnLst>
                              <p:par>
                                <p:cTn id="21" presetID="10" presetClass="entr" presetSubtype="0" fill="hold" grpId="0" nodeType="with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fade">
                                      <p:cBhvr>
                                        <p:cTn id="23" dur="400"/>
                                        <p:tgtEl>
                                          <p:spTgt spid="53"/>
                                        </p:tgtEl>
                                      </p:cBhvr>
                                    </p:animEffect>
                                  </p:childTnLst>
                                </p:cTn>
                              </p:par>
                            </p:childTnLst>
                          </p:cTn>
                        </p:par>
                        <p:par>
                          <p:cTn id="24" fill="hold">
                            <p:stCondLst>
                              <p:cond delay="2400"/>
                            </p:stCondLst>
                            <p:childTnLst>
                              <p:par>
                                <p:cTn id="25" presetID="22" presetClass="entr" presetSubtype="2" fill="hold" grpId="0" nodeType="afterEffect">
                                  <p:stCondLst>
                                    <p:cond delay="500"/>
                                  </p:stCondLst>
                                  <p:childTnLst>
                                    <p:set>
                                      <p:cBhvr>
                                        <p:cTn id="26" dur="1" fill="hold">
                                          <p:stCondLst>
                                            <p:cond delay="0"/>
                                          </p:stCondLst>
                                        </p:cTn>
                                        <p:tgtEl>
                                          <p:spTgt spid="43"/>
                                        </p:tgtEl>
                                        <p:attrNameLst>
                                          <p:attrName>style.visibility</p:attrName>
                                        </p:attrNameLst>
                                      </p:cBhvr>
                                      <p:to>
                                        <p:strVal val="visible"/>
                                      </p:to>
                                    </p:set>
                                    <p:animEffect transition="in" filter="wipe(right)">
                                      <p:cBhvr>
                                        <p:cTn id="27" dur="400"/>
                                        <p:tgtEl>
                                          <p:spTgt spid="43"/>
                                        </p:tgtEl>
                                      </p:cBhvr>
                                    </p:animEffect>
                                  </p:childTnLst>
                                </p:cTn>
                              </p:par>
                            </p:childTnLst>
                          </p:cTn>
                        </p:par>
                        <p:par>
                          <p:cTn id="28" fill="hold">
                            <p:stCondLst>
                              <p:cond delay="2900"/>
                            </p:stCondLst>
                            <p:childTnLst>
                              <p:par>
                                <p:cTn id="29" presetID="10" presetClass="entr" presetSubtype="0"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fade">
                                      <p:cBhvr>
                                        <p:cTn id="31" dur="400"/>
                                        <p:tgtEl>
                                          <p:spTgt spid="58"/>
                                        </p:tgtEl>
                                      </p:cBhvr>
                                    </p:animEffect>
                                  </p:childTnLst>
                                </p:cTn>
                              </p:par>
                            </p:childTnLst>
                          </p:cTn>
                        </p:par>
                        <p:par>
                          <p:cTn id="32" fill="hold">
                            <p:stCondLst>
                              <p:cond delay="3300"/>
                            </p:stCondLst>
                            <p:childTnLst>
                              <p:par>
                                <p:cTn id="33" presetID="10" presetClass="entr" presetSubtype="0" fill="hold" grpId="0" nodeType="afterEffect">
                                  <p:stCondLst>
                                    <p:cond delay="500"/>
                                  </p:stCondLst>
                                  <p:childTnLst>
                                    <p:set>
                                      <p:cBhvr>
                                        <p:cTn id="34" dur="1" fill="hold">
                                          <p:stCondLst>
                                            <p:cond delay="0"/>
                                          </p:stCondLst>
                                        </p:cTn>
                                        <p:tgtEl>
                                          <p:spTgt spid="61"/>
                                        </p:tgtEl>
                                        <p:attrNameLst>
                                          <p:attrName>style.visibility</p:attrName>
                                        </p:attrNameLst>
                                      </p:cBhvr>
                                      <p:to>
                                        <p:strVal val="visible"/>
                                      </p:to>
                                    </p:set>
                                    <p:animEffect transition="in" filter="fade">
                                      <p:cBhvr>
                                        <p:cTn id="35"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3288697" cy="264033"/>
            <a:chOff x="907542" y="787718"/>
            <a:chExt cx="3288697" cy="264033"/>
          </a:xfrm>
        </p:grpSpPr>
        <p:sp>
          <p:nvSpPr>
            <p:cNvPr id="17" name="TextBox 17"/>
            <p:cNvSpPr txBox="1"/>
            <p:nvPr/>
          </p:nvSpPr>
          <p:spPr>
            <a:xfrm>
              <a:off x="907542" y="787718"/>
              <a:ext cx="3288697"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第三节 · 技术页 · L2 第二步展开</a:t>
              </a:r>
            </a:p>
          </p:txBody>
        </p:sp>
      </p:grpSp>
      <p:grpSp>
        <p:nvGrpSpPr>
          <p:cNvPr id="20" name="Group 20"/>
          <p:cNvGrpSpPr/>
          <p:nvPr/>
        </p:nvGrpSpPr>
        <p:grpSpPr>
          <a:xfrm>
            <a:off x="899160" y="1123950"/>
            <a:ext cx="7129329" cy="586740"/>
            <a:chOff x="899160" y="1123950"/>
            <a:chExt cx="7129329" cy="586740"/>
          </a:xfrm>
        </p:grpSpPr>
        <p:sp>
          <p:nvSpPr>
            <p:cNvPr id="19" name="TextBox 19"/>
            <p:cNvSpPr txBox="1"/>
            <p:nvPr/>
          </p:nvSpPr>
          <p:spPr>
            <a:xfrm>
              <a:off x="899160" y="1123950"/>
              <a:ext cx="712932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报警时说满五件事,少一件就要再问一轮</a:t>
              </a:r>
            </a:p>
          </p:txBody>
        </p:sp>
      </p:grpSp>
      <p:grpSp>
        <p:nvGrpSpPr>
          <p:cNvPr id="22" name="Group 22"/>
          <p:cNvGrpSpPr/>
          <p:nvPr/>
        </p:nvGrpSpPr>
        <p:grpSpPr>
          <a:xfrm>
            <a:off x="903732" y="1678305"/>
            <a:ext cx="8530666" cy="410718"/>
            <a:chOff x="903732" y="1678305"/>
            <a:chExt cx="8530666" cy="410718"/>
          </a:xfrm>
        </p:grpSpPr>
        <p:sp>
          <p:nvSpPr>
            <p:cNvPr id="21" name="TextBox 21"/>
            <p:cNvSpPr txBox="1"/>
            <p:nvPr/>
          </p:nvSpPr>
          <p:spPr>
            <a:xfrm>
              <a:off x="903732" y="1678305"/>
              <a:ext cx="853066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五个要素是条文写死的,不是话术建议;补问一轮就是多花一轮时间。</a:t>
              </a:r>
            </a:p>
          </p:txBody>
        </p:sp>
      </p:grpSp>
      <p:grpSp>
        <p:nvGrpSpPr>
          <p:cNvPr id="37" name="!!judgment-axis"/>
          <p:cNvGrpSpPr/>
          <p:nvPr/>
        </p:nvGrpSpPr>
        <p:grpSpPr>
          <a:xfrm>
            <a:off x="1123950" y="2628900"/>
            <a:ext cx="971626" cy="3143250"/>
            <a:chOff x="1123950" y="2628900"/>
            <a:chExt cx="971626" cy="3143250"/>
          </a:xfrm>
        </p:grpSpPr>
        <p:sp>
          <p:nvSpPr>
            <p:cNvPr id="23" name="Line 23"/>
            <p:cNvSpPr/>
            <p:nvPr/>
          </p:nvSpPr>
          <p:spPr>
            <a:xfrm>
              <a:off x="1333500" y="2628900"/>
              <a:ext cx="1" cy="3143250"/>
            </a:xfrm>
            <a:prstGeom prst="line">
              <a:avLst/>
            </a:prstGeom>
            <a:noFill/>
            <a:ln w="28575">
              <a:solidFill>
                <a:schemeClr val="accent1"/>
              </a:solidFill>
              <a:tailEnd type="triangle" w="lg" len="lg"/>
            </a:ln>
          </p:spPr>
        </p:sp>
        <p:sp>
          <p:nvSpPr>
            <p:cNvPr id="24" name="Ellipse 24"/>
            <p:cNvSpPr/>
            <p:nvPr/>
          </p:nvSpPr>
          <p:spPr>
            <a:xfrm>
              <a:off x="1123950" y="4286250"/>
              <a:ext cx="419100" cy="419100"/>
            </a:xfrm>
            <a:prstGeom prst="ellipse">
              <a:avLst/>
            </a:prstGeom>
            <a:noFill/>
            <a:ln w="28575">
              <a:solidFill>
                <a:schemeClr val="accent3"/>
              </a:solidFill>
            </a:ln>
          </p:spPr>
        </p:sp>
        <p:grpSp>
          <p:nvGrpSpPr>
            <p:cNvPr id="27" name="Group 27"/>
            <p:cNvGrpSpPr/>
            <p:nvPr/>
          </p:nvGrpSpPr>
          <p:grpSpPr>
            <a:xfrm>
              <a:off x="1200150" y="2709862"/>
              <a:ext cx="895426" cy="440055"/>
              <a:chOff x="1200150" y="2709862"/>
              <a:chExt cx="895426" cy="440055"/>
            </a:xfrm>
          </p:grpSpPr>
          <p:sp>
            <p:nvSpPr>
              <p:cNvPr id="25" name="Ellipse 25"/>
              <p:cNvSpPr/>
              <p:nvPr/>
            </p:nvSpPr>
            <p:spPr>
              <a:xfrm>
                <a:off x="1200150" y="2724150"/>
                <a:ext cx="266700" cy="266700"/>
              </a:xfrm>
              <a:prstGeom prst="ellipse">
                <a:avLst/>
              </a:prstGeom>
              <a:solidFill>
                <a:schemeClr val="lt1"/>
              </a:solidFill>
              <a:ln w="28575">
                <a:solidFill>
                  <a:schemeClr val="accent6"/>
                </a:solidFill>
              </a:ln>
            </p:spPr>
          </p:sp>
          <p:sp>
            <p:nvSpPr>
              <p:cNvPr id="26" name="TextBox 26"/>
              <p:cNvSpPr txBox="1"/>
              <p:nvPr/>
            </p:nvSpPr>
            <p:spPr>
              <a:xfrm>
                <a:off x="1703070" y="270986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L0</a:t>
                </a:r>
              </a:p>
            </p:txBody>
          </p:sp>
        </p:grpSp>
        <p:grpSp>
          <p:nvGrpSpPr>
            <p:cNvPr id="30" name="Group 30"/>
            <p:cNvGrpSpPr/>
            <p:nvPr/>
          </p:nvGrpSpPr>
          <p:grpSpPr>
            <a:xfrm>
              <a:off x="1200150" y="3529012"/>
              <a:ext cx="895426" cy="440055"/>
              <a:chOff x="1200150" y="3529012"/>
              <a:chExt cx="895426" cy="440055"/>
            </a:xfrm>
          </p:grpSpPr>
          <p:sp>
            <p:nvSpPr>
              <p:cNvPr id="28" name="Ellipse 28"/>
              <p:cNvSpPr/>
              <p:nvPr/>
            </p:nvSpPr>
            <p:spPr>
              <a:xfrm>
                <a:off x="1200150" y="3543300"/>
                <a:ext cx="266700" cy="266700"/>
              </a:xfrm>
              <a:prstGeom prst="ellipse">
                <a:avLst/>
              </a:prstGeom>
              <a:solidFill>
                <a:schemeClr val="lt1"/>
              </a:solidFill>
              <a:ln w="28575">
                <a:solidFill>
                  <a:schemeClr val="accent6"/>
                </a:solidFill>
              </a:ln>
            </p:spPr>
          </p:sp>
          <p:sp>
            <p:nvSpPr>
              <p:cNvPr id="29" name="TextBox 29"/>
              <p:cNvSpPr txBox="1"/>
              <p:nvPr/>
            </p:nvSpPr>
            <p:spPr>
              <a:xfrm>
                <a:off x="1703070" y="35290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L1</a:t>
                </a:r>
              </a:p>
            </p:txBody>
          </p:sp>
        </p:grpSp>
        <p:grpSp>
          <p:nvGrpSpPr>
            <p:cNvPr id="33" name="Group 33"/>
            <p:cNvGrpSpPr/>
            <p:nvPr/>
          </p:nvGrpSpPr>
          <p:grpSpPr>
            <a:xfrm>
              <a:off x="1200150" y="4348162"/>
              <a:ext cx="895426" cy="440055"/>
              <a:chOff x="1200150" y="4348162"/>
              <a:chExt cx="895426" cy="440055"/>
            </a:xfrm>
          </p:grpSpPr>
          <p:sp>
            <p:nvSpPr>
              <p:cNvPr id="31" name="Ellipse 31"/>
              <p:cNvSpPr/>
              <p:nvPr/>
            </p:nvSpPr>
            <p:spPr>
              <a:xfrm>
                <a:off x="1200150" y="4362450"/>
                <a:ext cx="266700" cy="266700"/>
              </a:xfrm>
              <a:prstGeom prst="ellipse">
                <a:avLst/>
              </a:prstGeom>
              <a:solidFill>
                <a:schemeClr val="accent3"/>
              </a:solidFill>
              <a:ln w="28575">
                <a:solidFill>
                  <a:schemeClr val="accent3"/>
                </a:solidFill>
              </a:ln>
            </p:spPr>
          </p:sp>
          <p:sp>
            <p:nvSpPr>
              <p:cNvPr id="32" name="TextBox 32"/>
              <p:cNvSpPr txBox="1"/>
              <p:nvPr/>
            </p:nvSpPr>
            <p:spPr>
              <a:xfrm>
                <a:off x="1703070" y="4348162"/>
                <a:ext cx="392506" cy="440055"/>
              </a:xfrm>
              <a:prstGeom prst="rect">
                <a:avLst/>
              </a:prstGeom>
              <a:noFill/>
              <a:ln>
                <a:noFill/>
              </a:ln>
            </p:spPr>
            <p:txBody>
              <a:bodyPr wrap="none" lIns="0" tIns="0" rIns="0" bIns="0" anchor="t" anchorCtr="0">
                <a:spAutoFit/>
              </a:bodyPr>
              <a:lstStyle/>
              <a:p>
                <a:pPr algn="l"/>
                <a:r>
                  <a:rPr lang="zh-CN" sz="2250" b="1" dirty="0">
                    <a:solidFill>
                      <a:schemeClr val="accent3"/>
                    </a:solidFill>
                    <a:latin typeface="+mn-lt"/>
                    <a:ea typeface="+mn-ea"/>
                    <a:cs typeface="+mn-cs"/>
                  </a:rPr>
                  <a:t>L2</a:t>
                </a:r>
              </a:p>
            </p:txBody>
          </p:sp>
        </p:grpSp>
        <p:grpSp>
          <p:nvGrpSpPr>
            <p:cNvPr id="36" name="Group 36"/>
            <p:cNvGrpSpPr/>
            <p:nvPr/>
          </p:nvGrpSpPr>
          <p:grpSpPr>
            <a:xfrm>
              <a:off x="1200150" y="5167312"/>
              <a:ext cx="895426" cy="440055"/>
              <a:chOff x="1200150" y="5167312"/>
              <a:chExt cx="895426" cy="440055"/>
            </a:xfrm>
          </p:grpSpPr>
          <p:sp>
            <p:nvSpPr>
              <p:cNvPr id="34" name="Ellipse 34"/>
              <p:cNvSpPr/>
              <p:nvPr/>
            </p:nvSpPr>
            <p:spPr>
              <a:xfrm>
                <a:off x="1200150" y="5181600"/>
                <a:ext cx="266700" cy="266700"/>
              </a:xfrm>
              <a:prstGeom prst="ellipse">
                <a:avLst/>
              </a:prstGeom>
              <a:solidFill>
                <a:schemeClr val="lt1"/>
              </a:solidFill>
              <a:ln w="28575">
                <a:solidFill>
                  <a:schemeClr val="accent6"/>
                </a:solidFill>
              </a:ln>
            </p:spPr>
          </p:sp>
          <p:sp>
            <p:nvSpPr>
              <p:cNvPr id="35" name="TextBox 35"/>
              <p:cNvSpPr txBox="1"/>
              <p:nvPr/>
            </p:nvSpPr>
            <p:spPr>
              <a:xfrm>
                <a:off x="1703070" y="51673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L3</a:t>
                </a:r>
              </a:p>
            </p:txBody>
          </p:sp>
        </p:grpSp>
      </p:grpSp>
      <p:grpSp>
        <p:nvGrpSpPr>
          <p:cNvPr id="56" name="!!call-step"/>
          <p:cNvGrpSpPr/>
          <p:nvPr/>
        </p:nvGrpSpPr>
        <p:grpSpPr>
          <a:xfrm>
            <a:off x="3429000" y="2552700"/>
            <a:ext cx="8153400" cy="3585210"/>
            <a:chOff x="3429000" y="2552700"/>
            <a:chExt cx="8153400" cy="3585210"/>
          </a:xfrm>
        </p:grpSpPr>
        <p:sp>
          <p:nvSpPr>
            <p:cNvPr id="38" name="Rectangle 38"/>
            <p:cNvSpPr/>
            <p:nvPr/>
          </p:nvSpPr>
          <p:spPr>
            <a:xfrm>
              <a:off x="3429000" y="2552700"/>
              <a:ext cx="8153400" cy="3390900"/>
            </a:xfrm>
            <a:prstGeom prst="rect">
              <a:avLst/>
            </a:prstGeom>
            <a:noFill/>
            <a:ln w="19050">
              <a:solidFill>
                <a:schemeClr val="accent2"/>
              </a:solidFill>
            </a:ln>
          </p:spPr>
        </p:sp>
        <p:sp>
          <p:nvSpPr>
            <p:cNvPr id="39" name="Freeform 39"/>
            <p:cNvSpPr/>
            <p:nvPr/>
          </p:nvSpPr>
          <p:spPr>
            <a:xfrm>
              <a:off x="3767138" y="2787650"/>
              <a:ext cx="188913" cy="188913"/>
            </a:xfrm>
            <a:custGeom>
              <a:avLst/>
              <a:gdLst/>
              <a:ahLst/>
              <a:cxnLst/>
              <a:rect l="l" t="t" r="r" b="b"/>
              <a:pathLst>
                <a:path w="188913" h="188913">
                  <a:moveTo>
                    <a:pt x="22225" y="0"/>
                  </a:moveTo>
                  <a:lnTo>
                    <a:pt x="66675" y="0"/>
                  </a:lnTo>
                  <a:lnTo>
                    <a:pt x="88900" y="55563"/>
                  </a:lnTo>
                  <a:lnTo>
                    <a:pt x="61119" y="72231"/>
                  </a:lnTo>
                  <a:cubicBezTo>
                    <a:pt x="73020" y="96363"/>
                    <a:pt x="92550" y="115893"/>
                    <a:pt x="116682" y="127794"/>
                  </a:cubicBezTo>
                  <a:lnTo>
                    <a:pt x="133350" y="100013"/>
                  </a:lnTo>
                  <a:lnTo>
                    <a:pt x="188913" y="122238"/>
                  </a:lnTo>
                  <a:lnTo>
                    <a:pt x="188913" y="166688"/>
                  </a:lnTo>
                  <a:cubicBezTo>
                    <a:pt x="188913" y="178963"/>
                    <a:pt x="178963" y="188913"/>
                    <a:pt x="166688" y="188913"/>
                  </a:cubicBezTo>
                  <a:cubicBezTo>
                    <a:pt x="76984" y="183462"/>
                    <a:pt x="5451" y="111929"/>
                    <a:pt x="0" y="22225"/>
                  </a:cubicBezTo>
                  <a:cubicBezTo>
                    <a:pt x="0" y="9950"/>
                    <a:pt x="9950" y="0"/>
                    <a:pt x="22225" y="0"/>
                  </a:cubicBezTo>
                </a:path>
              </a:pathLst>
            </a:custGeom>
            <a:noFill/>
            <a:ln w="22225">
              <a:solidFill>
                <a:schemeClr val="accent2"/>
              </a:solidFill>
            </a:ln>
          </p:spPr>
        </p:sp>
        <p:sp>
          <p:nvSpPr>
            <p:cNvPr id="40" name="TextBox 40"/>
            <p:cNvSpPr txBox="1"/>
            <p:nvPr/>
          </p:nvSpPr>
          <p:spPr>
            <a:xfrm>
              <a:off x="4142232" y="2745105"/>
              <a:ext cx="5675376"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02 · 同时拨打"119"报警时必须说满的五件事</a:t>
              </a:r>
            </a:p>
          </p:txBody>
        </p:sp>
        <p:grpSp>
          <p:nvGrpSpPr>
            <p:cNvPr id="43" name="Group 43"/>
            <p:cNvGrpSpPr/>
            <p:nvPr/>
          </p:nvGrpSpPr>
          <p:grpSpPr>
            <a:xfrm>
              <a:off x="3714750" y="3032760"/>
              <a:ext cx="2625090" cy="1390650"/>
              <a:chOff x="3714750" y="3032760"/>
              <a:chExt cx="2625090" cy="1390650"/>
            </a:xfrm>
          </p:grpSpPr>
          <p:sp>
            <p:nvSpPr>
              <p:cNvPr id="41" name="TextBox 41"/>
              <p:cNvSpPr txBox="1"/>
              <p:nvPr/>
            </p:nvSpPr>
            <p:spPr>
              <a:xfrm>
                <a:off x="3714750" y="3032760"/>
                <a:ext cx="1007364" cy="1390650"/>
              </a:xfrm>
              <a:prstGeom prst="rect">
                <a:avLst/>
              </a:prstGeom>
              <a:noFill/>
              <a:ln>
                <a:noFill/>
              </a:ln>
            </p:spPr>
            <p:txBody>
              <a:bodyPr wrap="none" lIns="0" tIns="0" rIns="0" bIns="0" anchor="t" anchorCtr="0">
                <a:spAutoFit/>
              </a:bodyPr>
              <a:lstStyle/>
              <a:p>
                <a:pPr algn="l"/>
                <a:r>
                  <a:rPr lang="zh-CN" sz="7200" b="1" dirty="0">
                    <a:solidFill>
                      <a:schemeClr val="accent6"/>
                    </a:solidFill>
                    <a:latin typeface="+mn-lt"/>
                    <a:ea typeface="+mn-ea"/>
                    <a:cs typeface="+mn-cs"/>
                  </a:rPr>
                  <a:t>一</a:t>
                </a:r>
              </a:p>
            </p:txBody>
          </p:sp>
          <p:sp>
            <p:nvSpPr>
              <p:cNvPr id="42" name="TextBox 42"/>
              <p:cNvSpPr txBox="1"/>
              <p:nvPr/>
            </p:nvSpPr>
            <p:spPr>
              <a:xfrm>
                <a:off x="4867656" y="36156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着火单位地址</a:t>
                </a:r>
              </a:p>
            </p:txBody>
          </p:sp>
        </p:grpSp>
        <p:grpSp>
          <p:nvGrpSpPr>
            <p:cNvPr id="46" name="Group 46"/>
            <p:cNvGrpSpPr/>
            <p:nvPr/>
          </p:nvGrpSpPr>
          <p:grpSpPr>
            <a:xfrm>
              <a:off x="7791450" y="3032760"/>
              <a:ext cx="2140458" cy="1390650"/>
              <a:chOff x="7791450" y="3032760"/>
              <a:chExt cx="2140458" cy="1390650"/>
            </a:xfrm>
          </p:grpSpPr>
          <p:sp>
            <p:nvSpPr>
              <p:cNvPr id="44" name="TextBox 44"/>
              <p:cNvSpPr txBox="1"/>
              <p:nvPr/>
            </p:nvSpPr>
            <p:spPr>
              <a:xfrm>
                <a:off x="7791450" y="3032760"/>
                <a:ext cx="1007364" cy="1390650"/>
              </a:xfrm>
              <a:prstGeom prst="rect">
                <a:avLst/>
              </a:prstGeom>
              <a:noFill/>
              <a:ln>
                <a:noFill/>
              </a:ln>
            </p:spPr>
            <p:txBody>
              <a:bodyPr wrap="none" lIns="0" tIns="0" rIns="0" bIns="0" anchor="t" anchorCtr="0">
                <a:spAutoFit/>
              </a:bodyPr>
              <a:lstStyle/>
              <a:p>
                <a:pPr algn="l"/>
                <a:r>
                  <a:rPr lang="zh-CN" sz="7200" b="1" dirty="0">
                    <a:solidFill>
                      <a:schemeClr val="accent6"/>
                    </a:solidFill>
                    <a:latin typeface="+mn-lt"/>
                    <a:ea typeface="+mn-ea"/>
                    <a:cs typeface="+mn-cs"/>
                  </a:rPr>
                  <a:t>二</a:t>
                </a:r>
              </a:p>
            </p:txBody>
          </p:sp>
          <p:sp>
            <p:nvSpPr>
              <p:cNvPr id="45" name="TextBox 45"/>
              <p:cNvSpPr txBox="1"/>
              <p:nvPr/>
            </p:nvSpPr>
            <p:spPr>
              <a:xfrm>
                <a:off x="8944356" y="361569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起火部位</a:t>
                </a:r>
              </a:p>
            </p:txBody>
          </p:sp>
        </p:grpSp>
        <p:grpSp>
          <p:nvGrpSpPr>
            <p:cNvPr id="49" name="Group 49"/>
            <p:cNvGrpSpPr/>
            <p:nvPr/>
          </p:nvGrpSpPr>
          <p:grpSpPr>
            <a:xfrm>
              <a:off x="3714750" y="3890010"/>
              <a:ext cx="2382774" cy="1390650"/>
              <a:chOff x="3714750" y="3890010"/>
              <a:chExt cx="2382774" cy="1390650"/>
            </a:xfrm>
          </p:grpSpPr>
          <p:sp>
            <p:nvSpPr>
              <p:cNvPr id="47" name="TextBox 47"/>
              <p:cNvSpPr txBox="1"/>
              <p:nvPr/>
            </p:nvSpPr>
            <p:spPr>
              <a:xfrm>
                <a:off x="3714750" y="3890010"/>
                <a:ext cx="1007364" cy="1390650"/>
              </a:xfrm>
              <a:prstGeom prst="rect">
                <a:avLst/>
              </a:prstGeom>
              <a:noFill/>
              <a:ln>
                <a:noFill/>
              </a:ln>
            </p:spPr>
            <p:txBody>
              <a:bodyPr wrap="none" lIns="0" tIns="0" rIns="0" bIns="0" anchor="t" anchorCtr="0">
                <a:spAutoFit/>
              </a:bodyPr>
              <a:lstStyle/>
              <a:p>
                <a:pPr algn="l"/>
                <a:r>
                  <a:rPr lang="zh-CN" sz="7200" b="1" dirty="0">
                    <a:solidFill>
                      <a:schemeClr val="accent6"/>
                    </a:solidFill>
                    <a:latin typeface="+mn-lt"/>
                    <a:ea typeface="+mn-ea"/>
                    <a:cs typeface="+mn-cs"/>
                  </a:rPr>
                  <a:t>三</a:t>
                </a:r>
              </a:p>
            </p:txBody>
          </p:sp>
          <p:sp>
            <p:nvSpPr>
              <p:cNvPr id="48" name="TextBox 48"/>
              <p:cNvSpPr txBox="1"/>
              <p:nvPr/>
            </p:nvSpPr>
            <p:spPr>
              <a:xfrm>
                <a:off x="4867656" y="44729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着火物种类</a:t>
                </a:r>
              </a:p>
            </p:txBody>
          </p:sp>
        </p:grpSp>
        <p:grpSp>
          <p:nvGrpSpPr>
            <p:cNvPr id="52" name="Group 52"/>
            <p:cNvGrpSpPr/>
            <p:nvPr/>
          </p:nvGrpSpPr>
          <p:grpSpPr>
            <a:xfrm>
              <a:off x="7791450" y="3890010"/>
              <a:ext cx="2140458" cy="1390650"/>
              <a:chOff x="7791450" y="3890010"/>
              <a:chExt cx="2140458" cy="1390650"/>
            </a:xfrm>
          </p:grpSpPr>
          <p:sp>
            <p:nvSpPr>
              <p:cNvPr id="50" name="TextBox 50"/>
              <p:cNvSpPr txBox="1"/>
              <p:nvPr/>
            </p:nvSpPr>
            <p:spPr>
              <a:xfrm>
                <a:off x="7791450" y="3890010"/>
                <a:ext cx="1007364" cy="1390650"/>
              </a:xfrm>
              <a:prstGeom prst="rect">
                <a:avLst/>
              </a:prstGeom>
              <a:noFill/>
              <a:ln>
                <a:noFill/>
              </a:ln>
            </p:spPr>
            <p:txBody>
              <a:bodyPr wrap="none" lIns="0" tIns="0" rIns="0" bIns="0" anchor="t" anchorCtr="0">
                <a:spAutoFit/>
              </a:bodyPr>
              <a:lstStyle/>
              <a:p>
                <a:pPr algn="l"/>
                <a:r>
                  <a:rPr lang="zh-CN" sz="7200" b="1" dirty="0">
                    <a:solidFill>
                      <a:schemeClr val="accent6"/>
                    </a:solidFill>
                    <a:latin typeface="+mn-lt"/>
                    <a:ea typeface="+mn-ea"/>
                    <a:cs typeface="+mn-cs"/>
                  </a:rPr>
                  <a:t>四</a:t>
                </a:r>
              </a:p>
            </p:txBody>
          </p:sp>
          <p:sp>
            <p:nvSpPr>
              <p:cNvPr id="51" name="TextBox 51"/>
              <p:cNvSpPr txBox="1"/>
              <p:nvPr/>
            </p:nvSpPr>
            <p:spPr>
              <a:xfrm>
                <a:off x="8944356" y="44729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火势大小</a:t>
                </a:r>
              </a:p>
            </p:txBody>
          </p:sp>
        </p:grpSp>
        <p:grpSp>
          <p:nvGrpSpPr>
            <p:cNvPr id="55" name="Group 55"/>
            <p:cNvGrpSpPr/>
            <p:nvPr/>
          </p:nvGrpSpPr>
          <p:grpSpPr>
            <a:xfrm>
              <a:off x="3714750" y="4747260"/>
              <a:ext cx="3594354" cy="1390650"/>
              <a:chOff x="3714750" y="4747260"/>
              <a:chExt cx="3594354" cy="1390650"/>
            </a:xfrm>
          </p:grpSpPr>
          <p:sp>
            <p:nvSpPr>
              <p:cNvPr id="53" name="TextBox 53"/>
              <p:cNvSpPr txBox="1"/>
              <p:nvPr/>
            </p:nvSpPr>
            <p:spPr>
              <a:xfrm>
                <a:off x="3714750" y="4747260"/>
                <a:ext cx="1007364"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mn-lt"/>
                    <a:ea typeface="+mn-ea"/>
                    <a:cs typeface="+mn-cs"/>
                  </a:rPr>
                  <a:t>五</a:t>
                </a:r>
              </a:p>
            </p:txBody>
          </p:sp>
          <p:sp>
            <p:nvSpPr>
              <p:cNvPr id="54" name="TextBox 54"/>
              <p:cNvSpPr txBox="1"/>
              <p:nvPr/>
            </p:nvSpPr>
            <p:spPr>
              <a:xfrm>
                <a:off x="4867656" y="5330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报警人姓名和联系电话</a:t>
                </a:r>
              </a:p>
            </p:txBody>
          </p:sp>
        </p:grpSp>
      </p:grpSp>
      <p:grpSp>
        <p:nvGrpSpPr>
          <p:cNvPr id="58" name="Group 58"/>
          <p:cNvGrpSpPr/>
          <p:nvPr/>
        </p:nvGrpSpPr>
        <p:grpSpPr>
          <a:xfrm>
            <a:off x="3422142" y="6064568"/>
            <a:ext cx="4675270" cy="264033"/>
            <a:chOff x="3422142" y="6064568"/>
            <a:chExt cx="4675270" cy="264033"/>
          </a:xfrm>
        </p:grpSpPr>
        <p:sp>
          <p:nvSpPr>
            <p:cNvPr id="57" name="TextBox 57"/>
            <p:cNvSpPr txBox="1"/>
            <p:nvPr/>
          </p:nvSpPr>
          <p:spPr>
            <a:xfrm>
              <a:off x="3422142" y="6064568"/>
              <a:ext cx="467527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第五项最常被漏掉,而它决定接警方能否回拨核实(整理)。</a:t>
              </a:r>
            </a:p>
          </p:txBody>
        </p:sp>
      </p:grpSp>
      <p:grpSp>
        <p:nvGrpSpPr>
          <p:cNvPr id="61" name="Group 61"/>
          <p:cNvGrpSpPr/>
          <p:nvPr/>
        </p:nvGrpSpPr>
        <p:grpSpPr>
          <a:xfrm>
            <a:off x="908304" y="6423660"/>
            <a:ext cx="10680192" cy="234696"/>
            <a:chOff x="908304" y="6423660"/>
            <a:chExt cx="10680192" cy="234696"/>
          </a:xfrm>
        </p:grpSpPr>
        <p:sp>
          <p:nvSpPr>
            <p:cNvPr id="59" name="TextBox 59"/>
            <p:cNvSpPr txBox="1"/>
            <p:nvPr/>
          </p:nvSpPr>
          <p:spPr>
            <a:xfrm>
              <a:off x="908304" y="6423660"/>
              <a:ext cx="479740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25506-2010《消防控制室通用技术要求》第 4.2.2 条 b)</a:t>
              </a:r>
            </a:p>
          </p:txBody>
        </p:sp>
        <p:sp>
          <p:nvSpPr>
            <p:cNvPr id="60" name="TextBox 60"/>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416" t="0" r="417" b="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A1422">
                  <a:alpha val="18000"/>
                </a:srgbClr>
              </a:gs>
              <a:gs pos="45000">
                <a:srgbClr val="0A1422">
                  <a:alpha val="60000"/>
                </a:srgbClr>
              </a:gs>
              <a:gs pos="100000">
                <a:srgbClr val="0A1422">
                  <a:alpha val="94000"/>
                </a:srgbClr>
              </a:gs>
            </a:gsLst>
            <a:lin ang="0" scaled="1"/>
          </a:gradFill>
          <a:ln>
            <a:noFill/>
          </a:ln>
        </p:spPr>
      </p:sp>
      <p:grpSp>
        <p:nvGrpSpPr>
          <p:cNvPr id="8" name="Group 8"/>
          <p:cNvGrpSpPr/>
          <p:nvPr/>
        </p:nvGrpSpPr>
        <p:grpSpPr>
          <a:xfrm>
            <a:off x="457200" y="533400"/>
            <a:ext cx="114300" cy="5715000"/>
            <a:chOff x="457200" y="533400"/>
            <a:chExt cx="114300" cy="5715000"/>
          </a:xfrm>
        </p:grpSpPr>
        <p:sp>
          <p:nvSpPr>
            <p:cNvPr id="4" name="Rectangle 4"/>
            <p:cNvSpPr/>
            <p:nvPr/>
          </p:nvSpPr>
          <p:spPr>
            <a:xfrm>
              <a:off x="457200" y="533400"/>
              <a:ext cx="114300" cy="1371600"/>
            </a:xfrm>
            <a:prstGeom prst="rect">
              <a:avLst/>
            </a:prstGeom>
            <a:solidFill>
              <a:schemeClr val="accent6"/>
            </a:solidFill>
            <a:ln>
              <a:noFill/>
            </a:ln>
          </p:spPr>
        </p:sp>
        <p:sp>
          <p:nvSpPr>
            <p:cNvPr id="5" name="Rectangle 5"/>
            <p:cNvSpPr/>
            <p:nvPr/>
          </p:nvSpPr>
          <p:spPr>
            <a:xfrm>
              <a:off x="457200" y="1981200"/>
              <a:ext cx="114300" cy="1371600"/>
            </a:xfrm>
            <a:prstGeom prst="rect">
              <a:avLst/>
            </a:prstGeom>
            <a:solidFill>
              <a:schemeClr val="accent6"/>
            </a:solidFill>
            <a:ln>
              <a:noFill/>
            </a:ln>
          </p:spPr>
        </p:sp>
        <p:sp>
          <p:nvSpPr>
            <p:cNvPr id="6" name="Rectangle 6"/>
            <p:cNvSpPr/>
            <p:nvPr/>
          </p:nvSpPr>
          <p:spPr>
            <a:xfrm>
              <a:off x="457200" y="3429000"/>
              <a:ext cx="114300" cy="1371600"/>
            </a:xfrm>
            <a:prstGeom prst="rect">
              <a:avLst/>
            </a:prstGeom>
            <a:solidFill>
              <a:schemeClr val="accent6"/>
            </a:solidFill>
            <a:ln>
              <a:noFill/>
            </a:ln>
          </p:spPr>
        </p:sp>
        <p:sp>
          <p:nvSpPr>
            <p:cNvPr id="7" name="Rectangle 7"/>
            <p:cNvSpPr/>
            <p:nvPr/>
          </p:nvSpPr>
          <p:spPr>
            <a:xfrm>
              <a:off x="457200" y="4876800"/>
              <a:ext cx="114300" cy="1371600"/>
            </a:xfrm>
            <a:prstGeom prst="rect">
              <a:avLst/>
            </a:prstGeom>
            <a:solidFill>
              <a:schemeClr val="accent2"/>
            </a:solidFill>
            <a:ln>
              <a:noFill/>
            </a:ln>
          </p:spPr>
        </p:sp>
      </p:grpSp>
      <p:grpSp>
        <p:nvGrpSpPr>
          <p:cNvPr id="10" name="Group 10"/>
          <p:cNvGrpSpPr/>
          <p:nvPr/>
        </p:nvGrpSpPr>
        <p:grpSpPr>
          <a:xfrm>
            <a:off x="6648450" y="1394460"/>
            <a:ext cx="1224770" cy="1390650"/>
            <a:chOff x="6648450" y="1394460"/>
            <a:chExt cx="1224770" cy="1390650"/>
          </a:xfrm>
        </p:grpSpPr>
        <p:sp>
          <p:nvSpPr>
            <p:cNvPr id="9" name="TextBox 9"/>
            <p:cNvSpPr txBox="1"/>
            <p:nvPr/>
          </p:nvSpPr>
          <p:spPr>
            <a:xfrm>
              <a:off x="6648450" y="1394460"/>
              <a:ext cx="1224770"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Arial Black"/>
                  <a:ea typeface="Arial Black"/>
                  <a:cs typeface="Arial Black"/>
                </a:rPr>
                <a:t>02</a:t>
              </a:r>
            </a:p>
          </p:txBody>
        </p:sp>
      </p:grpSp>
      <p:grpSp>
        <p:nvGrpSpPr>
          <p:cNvPr id="12" name="Group 12"/>
          <p:cNvGrpSpPr/>
          <p:nvPr/>
        </p:nvGrpSpPr>
        <p:grpSpPr>
          <a:xfrm>
            <a:off x="6652260" y="2724150"/>
            <a:ext cx="3078480" cy="1082040"/>
            <a:chOff x="6652260" y="2724150"/>
            <a:chExt cx="3078480" cy="1082040"/>
          </a:xfrm>
        </p:grpSpPr>
        <p:sp>
          <p:nvSpPr>
            <p:cNvPr id="11" name="TextBox 11"/>
            <p:cNvSpPr txBox="1"/>
            <p:nvPr/>
          </p:nvSpPr>
          <p:spPr>
            <a:xfrm>
              <a:off x="6652260" y="2724150"/>
              <a:ext cx="3078480" cy="1082040"/>
            </a:xfrm>
            <a:prstGeom prst="rect">
              <a:avLst/>
            </a:prstGeom>
            <a:noFill/>
            <a:ln>
              <a:noFill/>
            </a:ln>
          </p:spPr>
          <p:txBody>
            <a:bodyPr wrap="none" lIns="0" tIns="0" rIns="0" bIns="0" anchor="t" anchorCtr="0">
              <a:spAutoFit/>
            </a:bodyPr>
            <a:lstStyle/>
            <a:p>
              <a:pPr algn="l">
                <a:lnSpc>
                  <a:spcPts val="3900"/>
                </a:lnSpc>
              </a:pPr>
              <a:r>
                <a:rPr lang="zh-CN" sz="3000" b="1" dirty="0">
                  <a:solidFill>
                    <a:schemeClr val="dk1"/>
                  </a:solidFill>
                  <a:latin typeface="+mn-lt"/>
                  <a:ea typeface="+mn-ea"/>
                  <a:cs typeface="+mn-cs"/>
                </a:rPr>
                <a:t>判断轴要落到</a:t>
              </a:r>
              <a:br/>
              <a:r>
                <a:rPr lang="zh-CN" sz="3000" b="1" dirty="0">
                  <a:solidFill>
                    <a:schemeClr val="dk1"/>
                  </a:solidFill>
                  <a:latin typeface="+mn-lt"/>
                  <a:ea typeface="+mn-ea"/>
                  <a:cs typeface="+mn-cs"/>
                </a:rPr>
                <a:t>两张能签字的表上</a:t>
              </a:r>
            </a:p>
          </p:txBody>
        </p:sp>
      </p:grpSp>
      <p:grpSp>
        <p:nvGrpSpPr>
          <p:cNvPr id="17" name="Group 17"/>
          <p:cNvGrpSpPr/>
          <p:nvPr/>
        </p:nvGrpSpPr>
        <p:grpSpPr>
          <a:xfrm>
            <a:off x="6658356" y="4191000"/>
            <a:ext cx="4924044" cy="1605534"/>
            <a:chOff x="6658356" y="4191000"/>
            <a:chExt cx="4924044" cy="1605534"/>
          </a:xfrm>
        </p:grpSpPr>
        <p:sp>
          <p:nvSpPr>
            <p:cNvPr id="13" name="Line 13"/>
            <p:cNvSpPr/>
            <p:nvPr/>
          </p:nvSpPr>
          <p:spPr>
            <a:xfrm>
              <a:off x="6667500" y="4191000"/>
              <a:ext cx="4914900" cy="9525"/>
            </a:xfrm>
            <a:custGeom>
              <a:avLst/>
              <a:gdLst/>
              <a:ahLst/>
              <a:cxnLst/>
              <a:rect l="l" t="t" r="r" b="b"/>
              <a:pathLst>
                <a:path w="4914900" h="9525">
                  <a:moveTo>
                    <a:pt x="0" y="0"/>
                  </a:moveTo>
                  <a:lnTo>
                    <a:pt x="4914900" y="0"/>
                  </a:lnTo>
                </a:path>
              </a:pathLst>
            </a:custGeom>
            <a:noFill/>
            <a:ln w="19050">
              <a:solidFill>
                <a:schemeClr val="accent1"/>
              </a:solidFill>
            </a:ln>
          </p:spPr>
        </p:sp>
        <p:sp>
          <p:nvSpPr>
            <p:cNvPr id="14" name="TextBox 14"/>
            <p:cNvSpPr txBox="1"/>
            <p:nvPr/>
          </p:nvSpPr>
          <p:spPr>
            <a:xfrm>
              <a:off x="6658356" y="44919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交接班检查表</a:t>
              </a:r>
            </a:p>
          </p:txBody>
        </p:sp>
        <p:sp>
          <p:nvSpPr>
            <p:cNvPr id="15" name="TextBox 15"/>
            <p:cNvSpPr txBox="1"/>
            <p:nvPr/>
          </p:nvSpPr>
          <p:spPr>
            <a:xfrm>
              <a:off x="6658356" y="496824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每班岗位、人数与职责</a:t>
              </a:r>
            </a:p>
          </p:txBody>
        </p:sp>
        <p:sp>
          <p:nvSpPr>
            <p:cNvPr id="16" name="TextBox 16"/>
            <p:cNvSpPr txBox="1"/>
            <p:nvPr/>
          </p:nvSpPr>
          <p:spPr>
            <a:xfrm>
              <a:off x="6658356" y="54444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一个必须避开的反例</a:t>
              </a:r>
            </a:p>
          </p:txBody>
        </p:sp>
      </p:grpSp>
      <p:grpSp>
        <p:nvGrpSpPr>
          <p:cNvPr id="20" name="Group 20"/>
          <p:cNvGrpSpPr/>
          <p:nvPr/>
        </p:nvGrpSpPr>
        <p:grpSpPr>
          <a:xfrm>
            <a:off x="908304" y="6423660"/>
            <a:ext cx="10680192" cy="234696"/>
            <a:chOff x="908304" y="6423660"/>
            <a:chExt cx="10680192" cy="234696"/>
          </a:xfrm>
        </p:grpSpPr>
        <p:sp>
          <p:nvSpPr>
            <p:cNvPr id="18" name="TextBox 18"/>
            <p:cNvSpPr txBox="1"/>
            <p:nvPr/>
          </p:nvSpPr>
          <p:spPr>
            <a:xfrm>
              <a:off x="908304" y="6423660"/>
              <a:ext cx="278267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第二节 · 把规则变成当班能执行的动作</a:t>
              </a:r>
            </a:p>
          </p:txBody>
        </p:sp>
        <p:sp>
          <p:nvSpPr>
            <p:cNvPr id="19" name="TextBox 1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600"/>
                                        <p:tgtEl>
                                          <p:spTgt spid="12"/>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2"/>
            </a:solidFill>
            <a:ln>
              <a:noFill/>
            </a:ln>
          </p:spPr>
        </p:sp>
      </p:grpSp>
      <p:grpSp>
        <p:nvGrpSpPr>
          <p:cNvPr id="18" name="Group 18"/>
          <p:cNvGrpSpPr/>
          <p:nvPr/>
        </p:nvGrpSpPr>
        <p:grpSpPr>
          <a:xfrm>
            <a:off x="907542" y="787718"/>
            <a:ext cx="1764049" cy="264033"/>
            <a:chOff x="907542" y="787718"/>
            <a:chExt cx="1764049" cy="264033"/>
          </a:xfrm>
        </p:grpSpPr>
        <p:sp>
          <p:nvSpPr>
            <p:cNvPr id="17" name="TextBox 17"/>
            <p:cNvSpPr txBox="1"/>
            <p:nvPr/>
          </p:nvSpPr>
          <p:spPr>
            <a:xfrm>
              <a:off x="907542" y="787718"/>
              <a:ext cx="1764049"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第四节 · 检查表页</a:t>
              </a:r>
            </a:p>
          </p:txBody>
        </p:sp>
      </p:grpSp>
      <p:grpSp>
        <p:nvGrpSpPr>
          <p:cNvPr id="20" name="Group 20"/>
          <p:cNvGrpSpPr/>
          <p:nvPr/>
        </p:nvGrpSpPr>
        <p:grpSpPr>
          <a:xfrm>
            <a:off x="899160" y="1123950"/>
            <a:ext cx="7533189" cy="586740"/>
            <a:chOff x="899160" y="1123950"/>
            <a:chExt cx="7533189" cy="586740"/>
          </a:xfrm>
        </p:grpSpPr>
        <p:sp>
          <p:nvSpPr>
            <p:cNvPr id="19" name="TextBox 19"/>
            <p:cNvSpPr txBox="1"/>
            <p:nvPr/>
          </p:nvSpPr>
          <p:spPr>
            <a:xfrm>
              <a:off x="899160" y="1123950"/>
              <a:ext cx="753318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交接班清单:每一项都挡住一个已知的失败</a:t>
              </a:r>
            </a:p>
          </p:txBody>
        </p:sp>
      </p:grpSp>
      <p:grpSp>
        <p:nvGrpSpPr>
          <p:cNvPr id="22" name="Group 22"/>
          <p:cNvGrpSpPr/>
          <p:nvPr/>
        </p:nvGrpSpPr>
        <p:grpSpPr>
          <a:xfrm>
            <a:off x="903732" y="1678305"/>
            <a:ext cx="7527074" cy="410718"/>
            <a:chOff x="903732" y="1678305"/>
            <a:chExt cx="7527074" cy="410718"/>
          </a:xfrm>
        </p:grpSpPr>
        <p:sp>
          <p:nvSpPr>
            <p:cNvPr id="21" name="TextBox 21"/>
            <p:cNvSpPr txBox="1"/>
            <p:nvPr/>
          </p:nvSpPr>
          <p:spPr>
            <a:xfrm>
              <a:off x="903732" y="1678305"/>
              <a:ext cx="752707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清单不是留痕,每一行都对应一条会在夜里付出代价的条款。</a:t>
              </a:r>
            </a:p>
          </p:txBody>
        </p:sp>
      </p:grpSp>
      <p:graphicFrame>
        <p:nvGraphicFramePr>
          <p:cNvPr id="23" name="handover-checklist"/>
          <p:cNvGraphicFramePr>
            <a:graphicFrameLocks noGrp="1"/>
          </p:cNvGraphicFramePr>
          <p:nvPr/>
        </p:nvGraphicFramePr>
        <p:xfrm>
          <a:off x="914400" y="2552700"/>
          <a:ext cx="10668000" cy="3486150"/>
        </p:xfrm>
        <a:graphic>
          <a:graphicData uri="http://schemas.openxmlformats.org/drawingml/2006/table">
            <a:tbl>
              <a:tblPr firstRow="1" bandRow="1">
                <a:tableStyleId>{5C22544A-7EE6-4342-B048-85BDC9FD1C3A}</a:tableStyleId>
              </a:tblPr>
              <a:tblGrid>
                <a:gridCol w="2095500"/>
                <a:gridCol w="3810000"/>
                <a:gridCol w="1905000"/>
                <a:gridCol w="2857500"/>
              </a:tblGrid>
              <a:tr h="419100">
                <a:tc>
                  <a:txBody>
                    <a:bodyPr/>
                    <a:lstStyle/>
                    <a:p>
                      <a:pPr/>
                      <a:r>
                        <a:rPr lang="zh-CN" sz="1350" b="1">
                          <a:solidFill>
                            <a:schemeClr val="accent5"/>
                          </a:solidFill>
                        </a:rPr>
                        <a:t>检查项</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r>
                        <a:rPr lang="zh-CN" sz="1350" b="1">
                          <a:solidFill>
                            <a:schemeClr val="accent5"/>
                          </a:solidFill>
                        </a:rPr>
                        <a:t>合格判据</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1">
                          <a:solidFill>
                            <a:schemeClr val="accent5"/>
                          </a:solidFill>
                        </a:rPr>
                        <a:t>依据条款</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r>
                        <a:rPr lang="zh-CN" sz="1350" b="1">
                          <a:solidFill>
                            <a:schemeClr val="accent5"/>
                          </a:solidFill>
                        </a:rPr>
                        <a:t>挡住的风险</a:t>
                      </a:r>
                    </a:p>
                  </a:txBody>
                  <a:tcPr anchor="ctr" marL="76200" marR="76200" marT="76200" marB="76200">
                    <a:lnL>
                      <a:noFill/>
                    </a:lnL>
                    <a:lnR>
                      <a:noFill/>
                    </a:lnR>
                    <a:lnT>
                      <a:noFill/>
                    </a:lnT>
                    <a:lnB w="9525">
                      <a:solidFill>
                        <a:schemeClr val="accent6"/>
                      </a:solidFill>
                      <a:prstDash val="solid"/>
                    </a:lnB>
                    <a:solidFill>
                      <a:schemeClr val="lt2"/>
                    </a:solidFill>
                  </a:tcPr>
                </a:tc>
              </a:tr>
              <a:tr h="438150">
                <a:tc>
                  <a:txBody>
                    <a:bodyPr/>
                    <a:lstStyle/>
                    <a:p>
                      <a:pPr/>
                      <a:r>
                        <a:rPr lang="zh-CN" sz="1350" b="0">
                          <a:solidFill>
                            <a:schemeClr val="dk1"/>
                          </a:solidFill>
                        </a:rPr>
                        <a:t>值班人数与证件</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0">
                          <a:solidFill>
                            <a:schemeClr val="dk1"/>
                          </a:solidFill>
                        </a:rPr>
                        <a:t>在岗 2 人,均持消防控制室操作资格证书</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lgn="r"/>
                      <a:r>
                        <a:rPr lang="zh-CN" sz="1350" b="0">
                          <a:solidFill>
                            <a:schemeClr val="dk1"/>
                          </a:solidFill>
                        </a:rPr>
                        <a:t>第 4.2.1 条 a)</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0">
                          <a:solidFill>
                            <a:schemeClr val="dk1"/>
                          </a:solidFill>
                        </a:rPr>
                        <a:t>无人可外出核实</a:t>
                      </a:r>
                    </a:p>
                  </a:txBody>
                  <a:tcPr anchor="ctr" marL="76200" marR="76200" marT="76200" marB="76200">
                    <a:lnL>
                      <a:noFill/>
                    </a:lnL>
                    <a:lnR>
                      <a:noFill/>
                    </a:lnR>
                    <a:lnT>
                      <a:noFill/>
                    </a:lnT>
                    <a:lnB w="9525">
                      <a:solidFill>
                        <a:schemeClr val="accent6"/>
                      </a:solidFill>
                      <a:prstDash val="solid"/>
                    </a:lnB>
                    <a:solidFill>
                      <a:schemeClr val="lt1"/>
                    </a:solidFill>
                  </a:tcPr>
                </a:tc>
              </a:tr>
              <a:tr h="438150">
                <a:tc>
                  <a:txBody>
                    <a:bodyPr/>
                    <a:lstStyle/>
                    <a:p>
                      <a:pPr/>
                      <a:r>
                        <a:rPr lang="zh-CN" sz="1350" b="1">
                          <a:solidFill>
                            <a:schemeClr val="accent2"/>
                          </a:solidFill>
                        </a:rPr>
                        <a:t>联动控制开关</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r>
                        <a:rPr lang="zh-CN" sz="1350" b="0">
                          <a:solidFill>
                            <a:schemeClr val="dk1"/>
                          </a:solidFill>
                        </a:rPr>
                        <a:t>应处于自动状态的设备无一被置于手动</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lgn="r"/>
                      <a:r>
                        <a:rPr lang="zh-CN" sz="1350" b="0">
                          <a:solidFill>
                            <a:schemeClr val="dk1"/>
                          </a:solidFill>
                        </a:rPr>
                        <a:t>第 4.2.1 条 c)</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r>
                        <a:rPr lang="zh-CN" sz="1350" b="0">
                          <a:solidFill>
                            <a:schemeClr val="dk1"/>
                          </a:solidFill>
                        </a:rPr>
                        <a:t>联动整体失效</a:t>
                      </a:r>
                    </a:p>
                  </a:txBody>
                  <a:tcPr anchor="ctr" marL="76200" marR="76200" marT="76200" marB="76200">
                    <a:lnL>
                      <a:noFill/>
                    </a:lnL>
                    <a:lnR>
                      <a:noFill/>
                    </a:lnR>
                    <a:lnT>
                      <a:noFill/>
                    </a:lnT>
                    <a:lnB w="9525">
                      <a:solidFill>
                        <a:schemeClr val="accent6"/>
                      </a:solidFill>
                      <a:prstDash val="solid"/>
                    </a:lnB>
                    <a:solidFill>
                      <a:srgbClr val="16273D"/>
                    </a:solidFill>
                  </a:tcPr>
                </a:tc>
              </a:tr>
              <a:tr h="438150">
                <a:tc>
                  <a:txBody>
                    <a:bodyPr/>
                    <a:lstStyle/>
                    <a:p>
                      <a:pPr/>
                      <a:r>
                        <a:rPr lang="zh-CN" sz="1350" b="0">
                          <a:solidFill>
                            <a:schemeClr val="dk1"/>
                          </a:solidFill>
                        </a:rPr>
                        <a:t>消防储水设施</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0">
                          <a:solidFill>
                            <a:schemeClr val="dk1"/>
                          </a:solidFill>
                        </a:rPr>
                        <a:t>高位水箱、水池、气压水罐水量充足</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lgn="r"/>
                      <a:r>
                        <a:rPr lang="zh-CN" sz="1350" b="0">
                          <a:solidFill>
                            <a:schemeClr val="dk1"/>
                          </a:solidFill>
                        </a:rPr>
                        <a:t>第 4.2.1 条 d)</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0">
                          <a:solidFill>
                            <a:schemeClr val="dk1"/>
                          </a:solidFill>
                        </a:rPr>
                        <a:t>出水量不足</a:t>
                      </a:r>
                    </a:p>
                  </a:txBody>
                  <a:tcPr anchor="ctr" marL="76200" marR="76200" marT="76200" marB="76200">
                    <a:lnL>
                      <a:noFill/>
                    </a:lnL>
                    <a:lnR>
                      <a:noFill/>
                    </a:lnR>
                    <a:lnT>
                      <a:noFill/>
                    </a:lnT>
                    <a:lnB w="9525">
                      <a:solidFill>
                        <a:schemeClr val="accent6"/>
                      </a:solidFill>
                      <a:prstDash val="solid"/>
                    </a:lnB>
                    <a:solidFill>
                      <a:schemeClr val="lt1"/>
                    </a:solidFill>
                  </a:tcPr>
                </a:tc>
              </a:tr>
              <a:tr h="438150">
                <a:tc>
                  <a:txBody>
                    <a:bodyPr/>
                    <a:lstStyle/>
                    <a:p>
                      <a:pPr/>
                      <a:r>
                        <a:rPr lang="zh-CN" sz="1350" b="0">
                          <a:solidFill>
                            <a:schemeClr val="dk1"/>
                          </a:solidFill>
                        </a:rPr>
                        <a:t>管道阀门</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r>
                        <a:rPr lang="zh-CN" sz="1350" b="0">
                          <a:solidFill>
                            <a:schemeClr val="dk1"/>
                          </a:solidFill>
                        </a:rPr>
                        <a:t>消防泵出水管、自动喷水系统管道阀门常开</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lgn="r"/>
                      <a:r>
                        <a:rPr lang="zh-CN" sz="1350" b="0">
                          <a:solidFill>
                            <a:schemeClr val="dk1"/>
                          </a:solidFill>
                        </a:rPr>
                        <a:t>第 4.2.1 条 d)</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r>
                        <a:rPr lang="zh-CN" sz="1350" b="0">
                          <a:solidFill>
                            <a:schemeClr val="dk1"/>
                          </a:solidFill>
                        </a:rPr>
                        <a:t>水送不到着火层</a:t>
                      </a:r>
                    </a:p>
                  </a:txBody>
                  <a:tcPr anchor="ctr" marL="76200" marR="76200" marT="76200" marB="76200">
                    <a:lnL>
                      <a:noFill/>
                    </a:lnL>
                    <a:lnR>
                      <a:noFill/>
                    </a:lnR>
                    <a:lnT>
                      <a:noFill/>
                    </a:lnT>
                    <a:lnB w="9525">
                      <a:solidFill>
                        <a:schemeClr val="accent6"/>
                      </a:solidFill>
                      <a:prstDash val="solid"/>
                    </a:lnB>
                    <a:solidFill>
                      <a:srgbClr val="16273D"/>
                    </a:solidFill>
                  </a:tcPr>
                </a:tc>
              </a:tr>
              <a:tr h="438150">
                <a:tc>
                  <a:txBody>
                    <a:bodyPr/>
                    <a:lstStyle/>
                    <a:p>
                      <a:pPr/>
                      <a:r>
                        <a:rPr lang="zh-CN" sz="1350" b="0">
                          <a:solidFill>
                            <a:schemeClr val="dk1"/>
                          </a:solidFill>
                        </a:rPr>
                        <a:t>配电柜启动开关</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0">
                          <a:solidFill>
                            <a:schemeClr val="dk1"/>
                          </a:solidFill>
                        </a:rPr>
                        <a:t>水泵、防排烟风机、防火卷帘开关在自动位置</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lgn="r"/>
                      <a:r>
                        <a:rPr lang="zh-CN" sz="1350" b="0">
                          <a:solidFill>
                            <a:schemeClr val="dk1"/>
                          </a:solidFill>
                        </a:rPr>
                        <a:t>第 4.2.1 条 d)</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0">
                          <a:solidFill>
                            <a:schemeClr val="dk1"/>
                          </a:solidFill>
                        </a:rPr>
                        <a:t>设备启动不了</a:t>
                      </a:r>
                    </a:p>
                  </a:txBody>
                  <a:tcPr anchor="ctr" marL="76200" marR="76200" marT="76200" marB="76200">
                    <a:lnL>
                      <a:noFill/>
                    </a:lnL>
                    <a:lnR>
                      <a:noFill/>
                    </a:lnR>
                    <a:lnT>
                      <a:noFill/>
                    </a:lnT>
                    <a:lnB w="9525">
                      <a:solidFill>
                        <a:schemeClr val="accent6"/>
                      </a:solidFill>
                      <a:prstDash val="solid"/>
                    </a:lnB>
                    <a:solidFill>
                      <a:schemeClr val="lt1"/>
                    </a:solidFill>
                  </a:tcPr>
                </a:tc>
              </a:tr>
              <a:tr h="438150">
                <a:tc>
                  <a:txBody>
                    <a:bodyPr/>
                    <a:lstStyle/>
                    <a:p>
                      <a:pPr/>
                      <a:r>
                        <a:rPr lang="zh-CN" sz="1350" b="0">
                          <a:solidFill>
                            <a:schemeClr val="dk1"/>
                          </a:solidFill>
                        </a:rPr>
                        <a:t>图形显示装置</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r>
                        <a:rPr lang="zh-CN" sz="1350" b="0">
                          <a:solidFill>
                            <a:schemeClr val="dk1"/>
                          </a:solidFill>
                        </a:rPr>
                        <a:t>中文界面正常,三类记录容量与备份可用</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lgn="r"/>
                      <a:r>
                        <a:rPr lang="zh-CN" sz="1350" b="0">
                          <a:solidFill>
                            <a:schemeClr val="dk1"/>
                          </a:solidFill>
                        </a:rPr>
                        <a:t>第 5.1 条 f)、第 6 章</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r>
                        <a:rPr lang="zh-CN" sz="1350" b="0">
                          <a:solidFill>
                            <a:schemeClr val="dk1"/>
                          </a:solidFill>
                        </a:rPr>
                        <a:t>信息看不到、查不回</a:t>
                      </a:r>
                    </a:p>
                  </a:txBody>
                  <a:tcPr anchor="ctr" marL="76200" marR="76200" marT="76200" marB="76200">
                    <a:lnL>
                      <a:noFill/>
                    </a:lnL>
                    <a:lnR>
                      <a:noFill/>
                    </a:lnR>
                    <a:lnT>
                      <a:noFill/>
                    </a:lnT>
                    <a:lnB w="9525">
                      <a:solidFill>
                        <a:schemeClr val="accent6"/>
                      </a:solidFill>
                      <a:prstDash val="solid"/>
                    </a:lnB>
                    <a:solidFill>
                      <a:srgbClr val="16273D"/>
                    </a:solidFill>
                  </a:tcPr>
                </a:tc>
              </a:tr>
              <a:tr h="438150">
                <a:tc>
                  <a:txBody>
                    <a:bodyPr/>
                    <a:lstStyle/>
                    <a:p>
                      <a:pPr/>
                      <a:r>
                        <a:rPr lang="zh-CN" sz="1350" b="0">
                          <a:solidFill>
                            <a:schemeClr val="dk1"/>
                          </a:solidFill>
                        </a:rPr>
                        <a:t>上一班未闭环事项</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0">
                          <a:solidFill>
                            <a:schemeClr val="dk1"/>
                          </a:solidFill>
                        </a:rPr>
                        <a:t>重复报警点位、检修申报、未归档记录</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lgn="r"/>
                      <a:r>
                        <a:rPr lang="zh-CN" sz="1350" b="0">
                          <a:solidFill>
                            <a:schemeClr val="dk1"/>
                          </a:solidFill>
                        </a:rPr>
                        <a:t>第 4.1 条 h)</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0">
                          <a:solidFill>
                            <a:schemeClr val="dk1"/>
                          </a:solidFill>
                        </a:rPr>
                        <a:t>问题跨班消失</a:t>
                      </a:r>
                    </a:p>
                  </a:txBody>
                  <a:tcPr anchor="ctr" marL="76200" marR="76200" marT="76200" marB="76200">
                    <a:lnL>
                      <a:noFill/>
                    </a:lnL>
                    <a:lnR>
                      <a:noFill/>
                    </a:lnR>
                    <a:lnT>
                      <a:noFill/>
                    </a:lnT>
                    <a:lnB w="9525">
                      <a:solidFill>
                        <a:schemeClr val="accent6"/>
                      </a:solidFill>
                      <a:prstDash val="solid"/>
                    </a:lnB>
                    <a:solidFill>
                      <a:schemeClr val="lt1"/>
                    </a:solidFill>
                  </a:tcPr>
                </a:tc>
              </a:tr>
            </a:tbl>
          </a:graphicData>
        </a:graphic>
      </p:graphicFrame>
      <p:grpSp>
        <p:nvGrpSpPr>
          <p:cNvPr id="26" name="Group 26"/>
          <p:cNvGrpSpPr/>
          <p:nvPr/>
        </p:nvGrpSpPr>
        <p:grpSpPr>
          <a:xfrm>
            <a:off x="908304" y="6423660"/>
            <a:ext cx="10680192" cy="234696"/>
            <a:chOff x="908304" y="6423660"/>
            <a:chExt cx="10680192" cy="234696"/>
          </a:xfrm>
        </p:grpSpPr>
        <p:sp>
          <p:nvSpPr>
            <p:cNvPr id="24" name="TextBox 24"/>
            <p:cNvSpPr txBox="1"/>
            <p:nvPr/>
          </p:nvSpPr>
          <p:spPr>
            <a:xfrm>
              <a:off x="908304" y="6423660"/>
              <a:ext cx="814136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25506-2010《消防控制室通用技术要求》第 4.1、4.2.1、5.1、6 章 · "挡住的风险"一列为本手册整理</a:t>
              </a:r>
            </a:p>
          </p:txBody>
        </p:sp>
        <p:sp>
          <p:nvSpPr>
            <p:cNvPr id="25" name="TextBox 25"/>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2"/>
            </a:solidFill>
            <a:ln>
              <a:noFill/>
            </a:ln>
          </p:spPr>
        </p:sp>
      </p:grpSp>
      <p:grpSp>
        <p:nvGrpSpPr>
          <p:cNvPr id="18" name="Group 18"/>
          <p:cNvGrpSpPr/>
          <p:nvPr/>
        </p:nvGrpSpPr>
        <p:grpSpPr>
          <a:xfrm>
            <a:off x="907542" y="787718"/>
            <a:ext cx="2188102" cy="264033"/>
            <a:chOff x="907542" y="787718"/>
            <a:chExt cx="2188102" cy="264033"/>
          </a:xfrm>
        </p:grpSpPr>
        <p:sp>
          <p:nvSpPr>
            <p:cNvPr id="17" name="TextBox 17"/>
            <p:cNvSpPr txBox="1"/>
            <p:nvPr/>
          </p:nvSpPr>
          <p:spPr>
            <a:xfrm>
              <a:off x="907542" y="787718"/>
              <a:ext cx="2188102"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第四节 · 人员配置表页</a:t>
              </a:r>
            </a:p>
          </p:txBody>
        </p:sp>
      </p:grpSp>
      <p:grpSp>
        <p:nvGrpSpPr>
          <p:cNvPr id="20" name="Group 20"/>
          <p:cNvGrpSpPr/>
          <p:nvPr/>
        </p:nvGrpSpPr>
        <p:grpSpPr>
          <a:xfrm>
            <a:off x="899160" y="1123950"/>
            <a:ext cx="8744769" cy="586740"/>
            <a:chOff x="899160" y="1123950"/>
            <a:chExt cx="8744769" cy="586740"/>
          </a:xfrm>
        </p:grpSpPr>
        <p:sp>
          <p:nvSpPr>
            <p:cNvPr id="19" name="TextBox 19"/>
            <p:cNvSpPr txBox="1"/>
            <p:nvPr/>
          </p:nvSpPr>
          <p:spPr>
            <a:xfrm>
              <a:off x="899160" y="1123950"/>
              <a:ext cx="874476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每班两人是标准写死的下限,且两人不做同一件事</a:t>
              </a:r>
            </a:p>
          </p:txBody>
        </p:sp>
      </p:grpSp>
      <p:grpSp>
        <p:nvGrpSpPr>
          <p:cNvPr id="22" name="Group 22"/>
          <p:cNvGrpSpPr/>
          <p:nvPr/>
        </p:nvGrpSpPr>
        <p:grpSpPr>
          <a:xfrm>
            <a:off x="903732" y="1678305"/>
            <a:ext cx="8615477" cy="410718"/>
            <a:chOff x="903732" y="1678305"/>
            <a:chExt cx="8615477" cy="410718"/>
          </a:xfrm>
        </p:grpSpPr>
        <p:sp>
          <p:nvSpPr>
            <p:cNvPr id="21" name="TextBox 21"/>
            <p:cNvSpPr txBox="1"/>
            <p:nvPr/>
          </p:nvSpPr>
          <p:spPr>
            <a:xfrm>
              <a:off x="903732" y="1678305"/>
              <a:ext cx="8615477"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2 人不是冗余,是把留守工作面与外出核实拆成两个不能合并的岗位。</a:t>
              </a:r>
            </a:p>
          </p:txBody>
        </p:sp>
      </p:grpSp>
      <p:graphicFrame>
        <p:nvGraphicFramePr>
          <p:cNvPr id="23" name="shift-staffing"/>
          <p:cNvGraphicFramePr>
            <a:graphicFrameLocks noGrp="1"/>
          </p:cNvGraphicFramePr>
          <p:nvPr/>
        </p:nvGraphicFramePr>
        <p:xfrm>
          <a:off x="914400" y="2552700"/>
          <a:ext cx="10668000" cy="2019300"/>
        </p:xfrm>
        <a:graphic>
          <a:graphicData uri="http://schemas.openxmlformats.org/drawingml/2006/table">
            <a:tbl>
              <a:tblPr firstRow="1" bandRow="1">
                <a:tableStyleId>{5C22544A-7EE6-4342-B048-85BDC9FD1C3A}</a:tableStyleId>
              </a:tblPr>
              <a:tblGrid>
                <a:gridCol w="1905000"/>
                <a:gridCol w="1143000"/>
                <a:gridCol w="2476500"/>
                <a:gridCol w="3238500"/>
                <a:gridCol w="1905000"/>
              </a:tblGrid>
              <a:tr h="419100">
                <a:tc>
                  <a:txBody>
                    <a:bodyPr/>
                    <a:lstStyle/>
                    <a:p>
                      <a:pPr/>
                      <a:r>
                        <a:rPr lang="zh-CN" sz="1350" b="1">
                          <a:solidFill>
                            <a:schemeClr val="accent5"/>
                          </a:solidFill>
                        </a:rPr>
                        <a:t>岗位</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1">
                          <a:solidFill>
                            <a:schemeClr val="accent5"/>
                          </a:solidFill>
                        </a:rPr>
                        <a:t>每班人数</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r>
                        <a:rPr lang="zh-CN" sz="1350" b="1">
                          <a:solidFill>
                            <a:schemeClr val="accent5"/>
                          </a:solidFill>
                        </a:rPr>
                        <a:t>资格要求</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r>
                        <a:rPr lang="zh-CN" sz="1350" b="1">
                          <a:solidFill>
                            <a:schemeClr val="accent5"/>
                          </a:solidFill>
                        </a:rPr>
                        <a:t>主要职责</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r>
                        <a:rPr lang="zh-CN" sz="1350" b="1">
                          <a:solidFill>
                            <a:schemeClr val="accent5"/>
                          </a:solidFill>
                        </a:rPr>
                        <a:t>依据</a:t>
                      </a:r>
                    </a:p>
                  </a:txBody>
                  <a:tcPr anchor="ctr" marL="76200" marR="76200" marT="76200" marB="76200">
                    <a:lnL>
                      <a:noFill/>
                    </a:lnL>
                    <a:lnR>
                      <a:noFill/>
                    </a:lnR>
                    <a:lnT>
                      <a:noFill/>
                    </a:lnT>
                    <a:lnB w="9525">
                      <a:solidFill>
                        <a:schemeClr val="accent6"/>
                      </a:solidFill>
                      <a:prstDash val="solid"/>
                    </a:lnB>
                    <a:solidFill>
                      <a:schemeClr val="lt2"/>
                    </a:solidFill>
                  </a:tcPr>
                </a:tc>
              </a:tr>
              <a:tr h="533400">
                <a:tc>
                  <a:txBody>
                    <a:bodyPr/>
                    <a:lstStyle/>
                    <a:p>
                      <a:pPr/>
                      <a:r>
                        <a:rPr lang="zh-CN" sz="1350" b="0">
                          <a:solidFill>
                            <a:schemeClr val="dk1"/>
                          </a:solidFill>
                        </a:rPr>
                        <a:t>值班长(留守)</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lgn="r"/>
                      <a:r>
                        <a:rPr lang="zh-CN" sz="1650" b="1">
                          <a:solidFill>
                            <a:schemeClr val="accent2"/>
                          </a:solidFill>
                        </a:rPr>
                        <a:t>1 人</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0">
                          <a:solidFill>
                            <a:schemeClr val="dk1"/>
                          </a:solidFill>
                        </a:rPr>
                        <a:t>持消防控制室操作资格证书</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0">
                          <a:solidFill>
                            <a:schemeClr val="dk1"/>
                          </a:solidFill>
                        </a:rPr>
                        <a:t>守住工作面、对外报警与报告</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0">
                          <a:solidFill>
                            <a:schemeClr val="dk1"/>
                          </a:solidFill>
                        </a:rPr>
                        <a:t>第 4.2.1 条 a)</a:t>
                      </a:r>
                    </a:p>
                  </a:txBody>
                  <a:tcPr anchor="ctr" marL="76200" marR="76200" marT="76200" marB="76200">
                    <a:lnL>
                      <a:noFill/>
                    </a:lnL>
                    <a:lnR>
                      <a:noFill/>
                    </a:lnR>
                    <a:lnT>
                      <a:noFill/>
                    </a:lnT>
                    <a:lnB w="9525">
                      <a:solidFill>
                        <a:schemeClr val="accent6"/>
                      </a:solidFill>
                      <a:prstDash val="solid"/>
                    </a:lnB>
                    <a:solidFill>
                      <a:schemeClr val="lt1"/>
                    </a:solidFill>
                  </a:tcPr>
                </a:tc>
              </a:tr>
              <a:tr h="533400">
                <a:tc>
                  <a:txBody>
                    <a:bodyPr/>
                    <a:lstStyle/>
                    <a:p>
                      <a:pPr/>
                      <a:r>
                        <a:rPr lang="zh-CN" sz="1350" b="0">
                          <a:solidFill>
                            <a:schemeClr val="dk1"/>
                          </a:solidFill>
                        </a:rPr>
                        <a:t>值班员(核实)</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lgn="r"/>
                      <a:r>
                        <a:rPr lang="zh-CN" sz="1650" b="1">
                          <a:solidFill>
                            <a:schemeClr val="accent2"/>
                          </a:solidFill>
                        </a:rPr>
                        <a:t>1 人</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r>
                        <a:rPr lang="zh-CN" sz="1350" b="0">
                          <a:solidFill>
                            <a:schemeClr val="dk1"/>
                          </a:solidFill>
                        </a:rPr>
                        <a:t>同一证书、同一等级要求</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r>
                        <a:rPr lang="zh-CN" sz="1350" b="0">
                          <a:solidFill>
                            <a:schemeClr val="dk1"/>
                          </a:solidFill>
                        </a:rPr>
                        <a:t>到现场核实并回传结果</a:t>
                      </a:r>
                    </a:p>
                  </a:txBody>
                  <a:tcPr anchor="ctr" marL="76200" marR="76200" marT="76200" marB="76200">
                    <a:lnL>
                      <a:noFill/>
                    </a:lnL>
                    <a:lnR>
                      <a:noFill/>
                    </a:lnR>
                    <a:lnT>
                      <a:noFill/>
                    </a:lnT>
                    <a:lnB w="9525">
                      <a:solidFill>
                        <a:schemeClr val="accent6"/>
                      </a:solidFill>
                      <a:prstDash val="solid"/>
                    </a:lnB>
                    <a:solidFill>
                      <a:srgbClr val="16273D"/>
                    </a:solidFill>
                  </a:tcPr>
                </a:tc>
                <a:tc>
                  <a:txBody>
                    <a:bodyPr/>
                    <a:lstStyle/>
                    <a:p>
                      <a:pPr/>
                      <a:r>
                        <a:rPr lang="zh-CN" sz="1350" b="0">
                          <a:solidFill>
                            <a:schemeClr val="dk1"/>
                          </a:solidFill>
                        </a:rPr>
                        <a:t>第 4.2.2 条 a)</a:t>
                      </a:r>
                    </a:p>
                  </a:txBody>
                  <a:tcPr anchor="ctr" marL="76200" marR="76200" marT="76200" marB="76200">
                    <a:lnL>
                      <a:noFill/>
                    </a:lnL>
                    <a:lnR>
                      <a:noFill/>
                    </a:lnR>
                    <a:lnT>
                      <a:noFill/>
                    </a:lnT>
                    <a:lnB w="9525">
                      <a:solidFill>
                        <a:schemeClr val="accent6"/>
                      </a:solidFill>
                      <a:prstDash val="solid"/>
                    </a:lnB>
                    <a:solidFill>
                      <a:srgbClr val="16273D"/>
                    </a:solidFill>
                  </a:tcPr>
                </a:tc>
              </a:tr>
              <a:tr h="533400">
                <a:tc>
                  <a:txBody>
                    <a:bodyPr/>
                    <a:lstStyle/>
                    <a:p>
                      <a:pPr/>
                      <a:r>
                        <a:rPr lang="zh-CN" sz="1350" b="1">
                          <a:solidFill>
                            <a:schemeClr val="dk1"/>
                          </a:solidFill>
                        </a:rPr>
                        <a:t>合计(下限)</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lgn="r"/>
                      <a:r>
                        <a:rPr lang="zh-CN" sz="1650" b="1">
                          <a:solidFill>
                            <a:schemeClr val="accent2"/>
                          </a:solidFill>
                        </a:rPr>
                        <a:t>2 人</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1">
                          <a:solidFill>
                            <a:schemeClr val="dk1"/>
                          </a:solidFill>
                        </a:rPr>
                        <a:t>两人均须持证</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1">
                          <a:solidFill>
                            <a:schemeClr val="dk1"/>
                          </a:solidFill>
                        </a:rPr>
                        <a:t>每班不应少于 2 人</a:t>
                      </a:r>
                    </a:p>
                  </a:txBody>
                  <a:tcPr anchor="ctr" marL="76200" marR="76200" marT="76200" marB="76200">
                    <a:lnL>
                      <a:noFill/>
                    </a:lnL>
                    <a:lnR>
                      <a:noFill/>
                    </a:lnR>
                    <a:lnT>
                      <a:noFill/>
                    </a:lnT>
                    <a:lnB w="9525">
                      <a:solidFill>
                        <a:schemeClr val="accent6"/>
                      </a:solidFill>
                      <a:prstDash val="solid"/>
                    </a:lnB>
                    <a:solidFill>
                      <a:schemeClr val="lt1"/>
                    </a:solidFill>
                  </a:tcPr>
                </a:tc>
                <a:tc>
                  <a:txBody>
                    <a:bodyPr/>
                    <a:lstStyle/>
                    <a:p>
                      <a:pPr/>
                      <a:r>
                        <a:rPr lang="zh-CN" sz="1350" b="1">
                          <a:solidFill>
                            <a:schemeClr val="dk1"/>
                          </a:solidFill>
                        </a:rPr>
                        <a:t>第 4.2.1 条 a)</a:t>
                      </a:r>
                    </a:p>
                  </a:txBody>
                  <a:tcPr anchor="ctr" marL="76200" marR="76200" marT="76200" marB="76200">
                    <a:lnL>
                      <a:noFill/>
                    </a:lnL>
                    <a:lnR>
                      <a:noFill/>
                    </a:lnR>
                    <a:lnT>
                      <a:noFill/>
                    </a:lnT>
                    <a:lnB w="9525">
                      <a:solidFill>
                        <a:schemeClr val="accent6"/>
                      </a:solidFill>
                      <a:prstDash val="solid"/>
                    </a:lnB>
                    <a:solidFill>
                      <a:schemeClr val="lt1"/>
                    </a:solidFill>
                  </a:tcPr>
                </a:tc>
              </a:tr>
            </a:tbl>
          </a:graphicData>
        </a:graphic>
      </p:graphicFrame>
      <p:grpSp>
        <p:nvGrpSpPr>
          <p:cNvPr id="31" name="Group 31"/>
          <p:cNvGrpSpPr/>
          <p:nvPr/>
        </p:nvGrpSpPr>
        <p:grpSpPr>
          <a:xfrm>
            <a:off x="907542" y="4815840"/>
            <a:ext cx="4222814" cy="1246061"/>
            <a:chOff x="907542" y="4815840"/>
            <a:chExt cx="4222814" cy="1246061"/>
          </a:xfrm>
        </p:grpSpPr>
        <p:grpSp>
          <p:nvGrpSpPr>
            <p:cNvPr id="28" name="Group 28"/>
            <p:cNvGrpSpPr/>
            <p:nvPr/>
          </p:nvGrpSpPr>
          <p:grpSpPr>
            <a:xfrm>
              <a:off x="945356" y="4850606"/>
              <a:ext cx="185737" cy="185738"/>
              <a:chOff x="945356" y="4850606"/>
              <a:chExt cx="185737" cy="185738"/>
            </a:xfrm>
          </p:grpSpPr>
          <p:sp>
            <p:nvSpPr>
              <p:cNvPr id="24" name="Freeform 24"/>
              <p:cNvSpPr/>
              <p:nvPr/>
            </p:nvSpPr>
            <p:spPr>
              <a:xfrm>
                <a:off x="965994" y="4850606"/>
                <a:ext cx="82550" cy="82550"/>
              </a:xfrm>
              <a:custGeom>
                <a:avLst/>
                <a:gdLst/>
                <a:ahLst/>
                <a:cxnLst/>
                <a:rect l="l" t="t" r="r" b="b"/>
                <a:pathLst>
                  <a:path w="82550" h="82550">
                    <a:moveTo>
                      <a:pt x="0" y="41275"/>
                    </a:moveTo>
                    <a:cubicBezTo>
                      <a:pt x="0" y="64070"/>
                      <a:pt x="18479" y="82550"/>
                      <a:pt x="41275" y="82550"/>
                    </a:cubicBezTo>
                    <a:cubicBezTo>
                      <a:pt x="64070" y="82550"/>
                      <a:pt x="82550" y="64070"/>
                      <a:pt x="82550" y="41275"/>
                    </a:cubicBezTo>
                    <a:cubicBezTo>
                      <a:pt x="82550" y="18479"/>
                      <a:pt x="64070" y="0"/>
                      <a:pt x="41275" y="0"/>
                    </a:cubicBezTo>
                    <a:cubicBezTo>
                      <a:pt x="18479" y="0"/>
                      <a:pt x="0" y="18479"/>
                      <a:pt x="0" y="41275"/>
                    </a:cubicBezTo>
                  </a:path>
                </a:pathLst>
              </a:custGeom>
              <a:noFill/>
              <a:ln w="20637">
                <a:solidFill>
                  <a:schemeClr val="accent2"/>
                </a:solidFill>
              </a:ln>
            </p:spPr>
          </p:sp>
          <p:sp>
            <p:nvSpPr>
              <p:cNvPr id="25" name="Freeform 25"/>
              <p:cNvSpPr/>
              <p:nvPr/>
            </p:nvSpPr>
            <p:spPr>
              <a:xfrm>
                <a:off x="945356" y="4974431"/>
                <a:ext cx="123825" cy="61912"/>
              </a:xfrm>
              <a:custGeom>
                <a:avLst/>
                <a:gdLst/>
                <a:ahLst/>
                <a:cxnLst/>
                <a:rect l="l" t="t" r="r" b="b"/>
                <a:pathLst>
                  <a:path w="123825" h="61912">
                    <a:moveTo>
                      <a:pt x="0" y="61912"/>
                    </a:moveTo>
                    <a:lnTo>
                      <a:pt x="0" y="41275"/>
                    </a:lnTo>
                    <a:cubicBezTo>
                      <a:pt x="0" y="18479"/>
                      <a:pt x="18479" y="0"/>
                      <a:pt x="41275" y="0"/>
                    </a:cubicBezTo>
                    <a:lnTo>
                      <a:pt x="82550" y="0"/>
                    </a:lnTo>
                    <a:cubicBezTo>
                      <a:pt x="105345" y="0"/>
                      <a:pt x="123825" y="18479"/>
                      <a:pt x="123825" y="41275"/>
                    </a:cubicBezTo>
                    <a:lnTo>
                      <a:pt x="123825" y="61912"/>
                    </a:lnTo>
                  </a:path>
                </a:pathLst>
              </a:custGeom>
              <a:noFill/>
              <a:ln w="20637">
                <a:solidFill>
                  <a:schemeClr val="accent2"/>
                </a:solidFill>
              </a:ln>
            </p:spPr>
          </p:sp>
          <p:sp>
            <p:nvSpPr>
              <p:cNvPr id="26" name="Freeform 26"/>
              <p:cNvSpPr/>
              <p:nvPr/>
            </p:nvSpPr>
            <p:spPr>
              <a:xfrm>
                <a:off x="1079499" y="4851948"/>
                <a:ext cx="31037" cy="79970"/>
              </a:xfrm>
              <a:custGeom>
                <a:avLst/>
                <a:gdLst/>
                <a:ahLst/>
                <a:cxnLst/>
                <a:rect l="l" t="t" r="r" b="b"/>
                <a:pathLst>
                  <a:path w="31037" h="79970">
                    <a:moveTo>
                      <a:pt x="0" y="0"/>
                    </a:moveTo>
                    <a:cubicBezTo>
                      <a:pt x="18263" y="4676"/>
                      <a:pt x="31037" y="21133"/>
                      <a:pt x="31037" y="39985"/>
                    </a:cubicBezTo>
                    <a:cubicBezTo>
                      <a:pt x="31037" y="58837"/>
                      <a:pt x="18263" y="75294"/>
                      <a:pt x="0" y="79970"/>
                    </a:cubicBezTo>
                  </a:path>
                </a:pathLst>
              </a:custGeom>
              <a:noFill/>
              <a:ln w="20637">
                <a:solidFill>
                  <a:schemeClr val="accent2"/>
                </a:solidFill>
              </a:ln>
            </p:spPr>
          </p:sp>
          <p:sp>
            <p:nvSpPr>
              <p:cNvPr id="27" name="Freeform 27"/>
              <p:cNvSpPr/>
              <p:nvPr/>
            </p:nvSpPr>
            <p:spPr>
              <a:xfrm>
                <a:off x="1100137" y="4975979"/>
                <a:ext cx="30956" cy="60365"/>
              </a:xfrm>
              <a:custGeom>
                <a:avLst/>
                <a:gdLst/>
                <a:ahLst/>
                <a:cxnLst/>
                <a:rect l="l" t="t" r="r" b="b"/>
                <a:pathLst>
                  <a:path w="30956" h="60365">
                    <a:moveTo>
                      <a:pt x="30956" y="60365"/>
                    </a:moveTo>
                    <a:lnTo>
                      <a:pt x="30956" y="39727"/>
                    </a:lnTo>
                    <a:cubicBezTo>
                      <a:pt x="30848" y="20994"/>
                      <a:pt x="18138" y="4683"/>
                      <a:pt x="0" y="0"/>
                    </a:cubicBezTo>
                  </a:path>
                </a:pathLst>
              </a:custGeom>
              <a:noFill/>
              <a:ln w="20637">
                <a:solidFill>
                  <a:schemeClr val="accent2"/>
                </a:solidFill>
              </a:ln>
            </p:spPr>
          </p:sp>
        </p:grpSp>
        <p:sp>
          <p:nvSpPr>
            <p:cNvPr id="29" name="TextBox 29"/>
            <p:cNvSpPr txBox="1"/>
            <p:nvPr/>
          </p:nvSpPr>
          <p:spPr>
            <a:xfrm>
              <a:off x="1286256" y="481584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为什么必须是两个人</a:t>
              </a:r>
            </a:p>
          </p:txBody>
        </p:sp>
        <p:sp>
          <p:nvSpPr>
            <p:cNvPr id="30" name="TextBox 30"/>
            <p:cNvSpPr txBox="1"/>
            <p:nvPr/>
          </p:nvSpPr>
          <p:spPr>
            <a:xfrm>
              <a:off x="907542" y="5302568"/>
              <a:ext cx="4222814"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L0 要求立即到现场核实,而工作面不能空;</a:t>
              </a:r>
              <a:br/>
              <a:r>
                <a:rPr lang="zh-CN" sz="1350" dirty="0">
                  <a:solidFill>
                    <a:schemeClr val="accent5"/>
                  </a:solidFill>
                  <a:latin typeface="+mn-lt"/>
                  <a:ea typeface="+mn-ea"/>
                  <a:cs typeface="+mn-cs"/>
                </a:rPr>
                <a:t>一人外出、一人留守,是这条要求的唯一解(整理)。</a:t>
              </a:r>
              <a:br/>
              <a:r>
                <a:rPr lang="zh-CN" sz="1350" dirty="0">
                  <a:solidFill>
                    <a:schemeClr val="accent5"/>
                  </a:solidFill>
                  <a:latin typeface="+mn-lt"/>
                  <a:ea typeface="+mn-ea"/>
                  <a:cs typeface="+mn-cs"/>
                </a:rPr>
                <a:t>岗位名称与分工为本手册整理,标准只规定人数与资格。</a:t>
              </a:r>
            </a:p>
          </p:txBody>
        </p:sp>
      </p:grpSp>
      <p:grpSp>
        <p:nvGrpSpPr>
          <p:cNvPr id="41" name="Group 41"/>
          <p:cNvGrpSpPr/>
          <p:nvPr/>
        </p:nvGrpSpPr>
        <p:grpSpPr>
          <a:xfrm>
            <a:off x="6622542" y="4815840"/>
            <a:ext cx="4128516" cy="1246061"/>
            <a:chOff x="6622542" y="4815840"/>
            <a:chExt cx="4128516" cy="1246061"/>
          </a:xfrm>
        </p:grpSpPr>
        <p:grpSp>
          <p:nvGrpSpPr>
            <p:cNvPr id="38" name="Group 38"/>
            <p:cNvGrpSpPr/>
            <p:nvPr/>
          </p:nvGrpSpPr>
          <p:grpSpPr>
            <a:xfrm>
              <a:off x="6660356" y="4871244"/>
              <a:ext cx="185737" cy="175418"/>
              <a:chOff x="6660356" y="4871244"/>
              <a:chExt cx="185737" cy="175418"/>
            </a:xfrm>
          </p:grpSpPr>
          <p:sp>
            <p:nvSpPr>
              <p:cNvPr id="32" name="Freeform 32"/>
              <p:cNvSpPr/>
              <p:nvPr/>
            </p:nvSpPr>
            <p:spPr>
              <a:xfrm>
                <a:off x="6753225" y="4943475"/>
                <a:ext cx="61912" cy="61912"/>
              </a:xfrm>
              <a:custGeom>
                <a:avLst/>
                <a:gdLst/>
                <a:ahLst/>
                <a:cxnLst/>
                <a:rect l="l" t="t" r="r" b="b"/>
                <a:pathLst>
                  <a:path w="61912" h="61912">
                    <a:moveTo>
                      <a:pt x="0" y="30956"/>
                    </a:moveTo>
                    <a:cubicBezTo>
                      <a:pt x="0" y="48053"/>
                      <a:pt x="13860" y="61912"/>
                      <a:pt x="30956" y="61912"/>
                    </a:cubicBezTo>
                    <a:cubicBezTo>
                      <a:pt x="48053" y="61912"/>
                      <a:pt x="61912" y="48053"/>
                      <a:pt x="61912" y="30956"/>
                    </a:cubicBezTo>
                    <a:cubicBezTo>
                      <a:pt x="61912" y="13860"/>
                      <a:pt x="48053" y="0"/>
                      <a:pt x="30956" y="0"/>
                    </a:cubicBezTo>
                    <a:cubicBezTo>
                      <a:pt x="13860" y="0"/>
                      <a:pt x="0" y="13860"/>
                      <a:pt x="0" y="30956"/>
                    </a:cubicBezTo>
                  </a:path>
                </a:pathLst>
              </a:custGeom>
              <a:noFill/>
              <a:ln w="20637">
                <a:solidFill>
                  <a:schemeClr val="accent1"/>
                </a:solidFill>
              </a:ln>
            </p:spPr>
          </p:sp>
          <p:sp>
            <p:nvSpPr>
              <p:cNvPr id="33" name="Freeform 33"/>
              <p:cNvSpPr/>
              <p:nvPr/>
            </p:nvSpPr>
            <p:spPr>
              <a:xfrm>
                <a:off x="6763543" y="5000228"/>
                <a:ext cx="41275" cy="46434"/>
              </a:xfrm>
              <a:custGeom>
                <a:avLst/>
                <a:gdLst/>
                <a:ahLst/>
                <a:cxnLst/>
                <a:rect l="l" t="t" r="r" b="b"/>
                <a:pathLst>
                  <a:path w="41275" h="46434">
                    <a:moveTo>
                      <a:pt x="0" y="0"/>
                    </a:moveTo>
                    <a:lnTo>
                      <a:pt x="0" y="46434"/>
                    </a:lnTo>
                    <a:lnTo>
                      <a:pt x="20637" y="30956"/>
                    </a:lnTo>
                    <a:lnTo>
                      <a:pt x="41275" y="46434"/>
                    </a:lnTo>
                    <a:lnTo>
                      <a:pt x="41275" y="0"/>
                    </a:lnTo>
                  </a:path>
                </a:pathLst>
              </a:custGeom>
              <a:noFill/>
              <a:ln w="20637">
                <a:solidFill>
                  <a:schemeClr val="accent1"/>
                </a:solidFill>
              </a:ln>
            </p:spPr>
          </p:sp>
          <p:sp>
            <p:nvSpPr>
              <p:cNvPr id="34" name="Freeform 34"/>
              <p:cNvSpPr/>
              <p:nvPr/>
            </p:nvSpPr>
            <p:spPr>
              <a:xfrm>
                <a:off x="6660356" y="4871244"/>
                <a:ext cx="185737" cy="144462"/>
              </a:xfrm>
              <a:custGeom>
                <a:avLst/>
                <a:gdLst/>
                <a:ahLst/>
                <a:cxnLst/>
                <a:rect l="l" t="t" r="r" b="b"/>
                <a:pathLst>
                  <a:path w="185737" h="144462">
                    <a:moveTo>
                      <a:pt x="72231" y="144462"/>
                    </a:moveTo>
                    <a:lnTo>
                      <a:pt x="20637" y="144462"/>
                    </a:lnTo>
                    <a:cubicBezTo>
                      <a:pt x="9240" y="144462"/>
                      <a:pt x="0" y="135222"/>
                      <a:pt x="0" y="123825"/>
                    </a:cubicBezTo>
                    <a:lnTo>
                      <a:pt x="0" y="20637"/>
                    </a:lnTo>
                    <a:cubicBezTo>
                      <a:pt x="0" y="9287"/>
                      <a:pt x="9287" y="0"/>
                      <a:pt x="20637" y="0"/>
                    </a:cubicBezTo>
                    <a:lnTo>
                      <a:pt x="165099" y="0"/>
                    </a:lnTo>
                    <a:cubicBezTo>
                      <a:pt x="176497" y="0"/>
                      <a:pt x="185737" y="9240"/>
                      <a:pt x="185737" y="20637"/>
                    </a:cubicBezTo>
                    <a:lnTo>
                      <a:pt x="185737" y="123825"/>
                    </a:lnTo>
                    <a:cubicBezTo>
                      <a:pt x="185729" y="131190"/>
                      <a:pt x="181797" y="137993"/>
                      <a:pt x="175418" y="141676"/>
                    </a:cubicBezTo>
                  </a:path>
                </a:pathLst>
              </a:custGeom>
              <a:noFill/>
              <a:ln w="20637">
                <a:solidFill>
                  <a:schemeClr val="accent1"/>
                </a:solidFill>
              </a:ln>
            </p:spPr>
          </p:sp>
          <p:sp>
            <p:nvSpPr>
              <p:cNvPr id="35" name="Freeform 35"/>
              <p:cNvSpPr/>
              <p:nvPr/>
            </p:nvSpPr>
            <p:spPr>
              <a:xfrm>
                <a:off x="6691312" y="4912518"/>
                <a:ext cx="123825" cy="9525"/>
              </a:xfrm>
              <a:custGeom>
                <a:avLst/>
                <a:gdLst/>
                <a:ahLst/>
                <a:cxnLst/>
                <a:rect l="l" t="t" r="r" b="b"/>
                <a:pathLst>
                  <a:path w="123825" h="9525">
                    <a:moveTo>
                      <a:pt x="0" y="0"/>
                    </a:moveTo>
                    <a:lnTo>
                      <a:pt x="123825" y="0"/>
                    </a:lnTo>
                  </a:path>
                </a:pathLst>
              </a:custGeom>
              <a:noFill/>
              <a:ln w="20637">
                <a:solidFill>
                  <a:schemeClr val="accent1"/>
                </a:solidFill>
              </a:ln>
            </p:spPr>
          </p:sp>
          <p:sp>
            <p:nvSpPr>
              <p:cNvPr id="36" name="Freeform 36"/>
              <p:cNvSpPr/>
              <p:nvPr/>
            </p:nvSpPr>
            <p:spPr>
              <a:xfrm>
                <a:off x="6691312" y="4943475"/>
                <a:ext cx="30956" cy="9525"/>
              </a:xfrm>
              <a:custGeom>
                <a:avLst/>
                <a:gdLst/>
                <a:ahLst/>
                <a:cxnLst/>
                <a:rect l="l" t="t" r="r" b="b"/>
                <a:pathLst>
                  <a:path w="30956" h="9525">
                    <a:moveTo>
                      <a:pt x="0" y="0"/>
                    </a:moveTo>
                    <a:lnTo>
                      <a:pt x="30956" y="0"/>
                    </a:lnTo>
                  </a:path>
                </a:pathLst>
              </a:custGeom>
              <a:noFill/>
              <a:ln w="20637">
                <a:solidFill>
                  <a:schemeClr val="accent1"/>
                </a:solidFill>
              </a:ln>
            </p:spPr>
          </p:sp>
          <p:sp>
            <p:nvSpPr>
              <p:cNvPr id="37" name="Freeform 37"/>
              <p:cNvSpPr/>
              <p:nvPr/>
            </p:nvSpPr>
            <p:spPr>
              <a:xfrm>
                <a:off x="6691312" y="4974431"/>
                <a:ext cx="20637" cy="9525"/>
              </a:xfrm>
              <a:custGeom>
                <a:avLst/>
                <a:gdLst/>
                <a:ahLst/>
                <a:cxnLst/>
                <a:rect l="l" t="t" r="r" b="b"/>
                <a:pathLst>
                  <a:path w="20637" h="9525">
                    <a:moveTo>
                      <a:pt x="0" y="0"/>
                    </a:moveTo>
                    <a:lnTo>
                      <a:pt x="20637" y="0"/>
                    </a:lnTo>
                  </a:path>
                </a:pathLst>
              </a:custGeom>
              <a:noFill/>
              <a:ln w="20637">
                <a:solidFill>
                  <a:schemeClr val="accent1"/>
                </a:solidFill>
              </a:ln>
            </p:spPr>
          </p:sp>
        </p:grpSp>
        <p:sp>
          <p:nvSpPr>
            <p:cNvPr id="39" name="TextBox 39"/>
            <p:cNvSpPr txBox="1"/>
            <p:nvPr/>
          </p:nvSpPr>
          <p:spPr>
            <a:xfrm>
              <a:off x="7001256" y="48158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证书从哪里来</a:t>
              </a:r>
            </a:p>
          </p:txBody>
        </p:sp>
        <p:sp>
          <p:nvSpPr>
            <p:cNvPr id="40" name="TextBox 40"/>
            <p:cNvSpPr txBox="1"/>
            <p:nvPr/>
          </p:nvSpPr>
          <p:spPr>
            <a:xfrm>
              <a:off x="6622542" y="5302568"/>
              <a:ext cx="41285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国家职业标准《消防设施操作员》,职业编码</a:t>
              </a:r>
              <a:br/>
              <a:r>
                <a:rPr lang="zh-CN" sz="1350" dirty="0">
                  <a:solidFill>
                    <a:schemeClr val="accent5"/>
                  </a:solidFill>
                  <a:latin typeface="+mn-lt"/>
                  <a:ea typeface="+mn-ea"/>
                  <a:cs typeface="+mn-cs"/>
                </a:rPr>
                <a:t>4-07-05-03,设五级/初级工至一级/高级技师;</a:t>
              </a:r>
              <a:br/>
              <a:r>
                <a:rPr lang="zh-CN" sz="1350" dirty="0">
                  <a:solidFill>
                    <a:schemeClr val="accent5"/>
                  </a:solidFill>
                  <a:latin typeface="+mn-lt"/>
                  <a:ea typeface="+mn-ea"/>
                  <a:cs typeface="+mn-cs"/>
                </a:rPr>
                <a:t>"按值班应急程序处置火警信息"是 1.1.12 核心技能。</a:t>
              </a:r>
            </a:p>
          </p:txBody>
        </p:sp>
      </p:grpSp>
      <p:grpSp>
        <p:nvGrpSpPr>
          <p:cNvPr id="44" name="Group 44"/>
          <p:cNvGrpSpPr/>
          <p:nvPr/>
        </p:nvGrpSpPr>
        <p:grpSpPr>
          <a:xfrm>
            <a:off x="908304" y="6423660"/>
            <a:ext cx="10680192" cy="234696"/>
            <a:chOff x="908304" y="6423660"/>
            <a:chExt cx="10680192" cy="234696"/>
          </a:xfrm>
        </p:grpSpPr>
        <p:sp>
          <p:nvSpPr>
            <p:cNvPr id="42" name="TextBox 42"/>
            <p:cNvSpPr txBox="1"/>
            <p:nvPr/>
          </p:nvSpPr>
          <p:spPr>
            <a:xfrm>
              <a:off x="908304" y="6423660"/>
              <a:ext cx="664174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 第 4.2.1、4.2.2 条 · 国家职业标准《消防设施操作员》(2026 年版)</a:t>
              </a:r>
            </a:p>
          </p:txBody>
        </p:sp>
        <p:sp>
          <p:nvSpPr>
            <p:cNvPr id="43" name="TextBox 43"/>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914400" y="533400"/>
            <a:ext cx="10668000" cy="5791200"/>
            <a:chOff x="914400" y="533400"/>
            <a:chExt cx="10668000"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3"/>
              </a:solidFill>
            </a:ln>
          </p:spPr>
        </p:sp>
      </p:grpSp>
      <p:grpSp>
        <p:nvGrpSpPr>
          <p:cNvPr id="13" name="Group 13"/>
          <p:cNvGrpSpPr/>
          <p:nvPr/>
        </p:nvGrpSpPr>
        <p:grpSpPr>
          <a:xfrm>
            <a:off x="457200" y="533400"/>
            <a:ext cx="114300" cy="5715000"/>
            <a:chOff x="457200" y="533400"/>
            <a:chExt cx="114300" cy="5715000"/>
          </a:xfrm>
        </p:grpSpPr>
        <p:sp>
          <p:nvSpPr>
            <p:cNvPr id="9" name="Rectangle 9"/>
            <p:cNvSpPr/>
            <p:nvPr/>
          </p:nvSpPr>
          <p:spPr>
            <a:xfrm>
              <a:off x="457200" y="533400"/>
              <a:ext cx="114300" cy="1371600"/>
            </a:xfrm>
            <a:prstGeom prst="rect">
              <a:avLst/>
            </a:prstGeom>
            <a:solidFill>
              <a:schemeClr val="accent3"/>
            </a:solidFill>
            <a:ln>
              <a:noFill/>
            </a:ln>
          </p:spPr>
        </p:sp>
        <p:sp>
          <p:nvSpPr>
            <p:cNvPr id="10" name="Rectangle 10"/>
            <p:cNvSpPr/>
            <p:nvPr/>
          </p:nvSpPr>
          <p:spPr>
            <a:xfrm>
              <a:off x="457200" y="1981200"/>
              <a:ext cx="114300" cy="1371600"/>
            </a:xfrm>
            <a:prstGeom prst="rect">
              <a:avLst/>
            </a:prstGeom>
            <a:solidFill>
              <a:schemeClr val="accent3"/>
            </a:solidFill>
            <a:ln>
              <a:noFill/>
            </a:ln>
          </p:spPr>
        </p:sp>
        <p:sp>
          <p:nvSpPr>
            <p:cNvPr id="11" name="Rectangle 11"/>
            <p:cNvSpPr/>
            <p:nvPr/>
          </p:nvSpPr>
          <p:spPr>
            <a:xfrm>
              <a:off x="457200" y="3429000"/>
              <a:ext cx="114300" cy="1371600"/>
            </a:xfrm>
            <a:prstGeom prst="rect">
              <a:avLst/>
            </a:prstGeom>
            <a:solidFill>
              <a:schemeClr val="accent3"/>
            </a:solidFill>
            <a:ln>
              <a:noFill/>
            </a:ln>
          </p:spPr>
        </p:sp>
        <p:sp>
          <p:nvSpPr>
            <p:cNvPr id="12" name="Rectangle 12"/>
            <p:cNvSpPr/>
            <p:nvPr/>
          </p:nvSpPr>
          <p:spPr>
            <a:xfrm>
              <a:off x="457200" y="4876800"/>
              <a:ext cx="114300" cy="1371600"/>
            </a:xfrm>
            <a:prstGeom prst="rect">
              <a:avLst/>
            </a:prstGeom>
            <a:solidFill>
              <a:schemeClr val="accent3"/>
            </a:solidFill>
            <a:ln>
              <a:noFill/>
            </a:ln>
          </p:spPr>
        </p:sp>
      </p:grpSp>
      <p:grpSp>
        <p:nvGrpSpPr>
          <p:cNvPr id="15" name="Group 15"/>
          <p:cNvGrpSpPr/>
          <p:nvPr/>
        </p:nvGrpSpPr>
        <p:grpSpPr>
          <a:xfrm>
            <a:off x="907542" y="787718"/>
            <a:ext cx="2696566" cy="264033"/>
            <a:chOff x="907542" y="787718"/>
            <a:chExt cx="2696566" cy="264033"/>
          </a:xfrm>
        </p:grpSpPr>
        <p:sp>
          <p:nvSpPr>
            <p:cNvPr id="14" name="TextBox 14"/>
            <p:cNvSpPr txBox="1"/>
            <p:nvPr/>
          </p:nvSpPr>
          <p:spPr>
            <a:xfrm>
              <a:off x="907542" y="787718"/>
              <a:ext cx="2696566" cy="264033"/>
            </a:xfrm>
            <a:prstGeom prst="rect">
              <a:avLst/>
            </a:prstGeom>
            <a:noFill/>
            <a:ln>
              <a:noFill/>
            </a:ln>
          </p:spPr>
          <p:txBody>
            <a:bodyPr wrap="none" lIns="0" tIns="0" rIns="0" bIns="0" anchor="t" anchorCtr="0">
              <a:spAutoFit/>
            </a:bodyPr>
            <a:lstStyle/>
            <a:p>
              <a:pPr algn="l"/>
              <a:r>
                <a:rPr lang="zh-CN" sz="1350" spc="225" dirty="0">
                  <a:solidFill>
                    <a:schemeClr val="accent3"/>
                  </a:solidFill>
                  <a:latin typeface="+mn-lt"/>
                  <a:ea typeface="+mn-ea"/>
                  <a:cs typeface="+mn-cs"/>
                </a:rPr>
                <a:t>第四节 · 反例页 · 离轴内容</a:t>
              </a:r>
            </a:p>
          </p:txBody>
        </p:sp>
      </p:grpSp>
      <p:grpSp>
        <p:nvGrpSpPr>
          <p:cNvPr id="17" name="Group 17"/>
          <p:cNvGrpSpPr/>
          <p:nvPr/>
        </p:nvGrpSpPr>
        <p:grpSpPr>
          <a:xfrm>
            <a:off x="899160" y="1123950"/>
            <a:ext cx="7533189" cy="586740"/>
            <a:chOff x="899160" y="1123950"/>
            <a:chExt cx="7533189" cy="586740"/>
          </a:xfrm>
        </p:grpSpPr>
        <p:sp>
          <p:nvSpPr>
            <p:cNvPr id="16" name="TextBox 16"/>
            <p:cNvSpPr txBox="1"/>
            <p:nvPr/>
          </p:nvSpPr>
          <p:spPr>
            <a:xfrm>
              <a:off x="899160" y="1123950"/>
              <a:ext cx="753318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把该自动的设成手动,等于把整套联动关掉</a:t>
              </a:r>
            </a:p>
          </p:txBody>
        </p:sp>
      </p:grpSp>
      <p:grpSp>
        <p:nvGrpSpPr>
          <p:cNvPr id="19" name="Group 19"/>
          <p:cNvGrpSpPr/>
          <p:nvPr/>
        </p:nvGrpSpPr>
        <p:grpSpPr>
          <a:xfrm>
            <a:off x="903732" y="1678305"/>
            <a:ext cx="8940584" cy="410718"/>
            <a:chOff x="903732" y="1678305"/>
            <a:chExt cx="8940584" cy="410718"/>
          </a:xfrm>
        </p:grpSpPr>
        <p:sp>
          <p:nvSpPr>
            <p:cNvPr id="18" name="TextBox 18"/>
            <p:cNvSpPr txBox="1"/>
            <p:nvPr/>
          </p:nvSpPr>
          <p:spPr>
            <a:xfrm>
              <a:off x="903732" y="1678305"/>
              <a:ext cx="894058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为了少一次误动作而关掉自动,换来的是最需要联动的那一刻没有联动。</a:t>
              </a:r>
            </a:p>
          </p:txBody>
        </p:sp>
      </p:grpSp>
      <p:grpSp>
        <p:nvGrpSpPr>
          <p:cNvPr id="26" name="Group 26"/>
          <p:cNvGrpSpPr/>
          <p:nvPr/>
        </p:nvGrpSpPr>
        <p:grpSpPr>
          <a:xfrm>
            <a:off x="905256" y="2478405"/>
            <a:ext cx="6333744" cy="1089279"/>
            <a:chOff x="905256" y="2478405"/>
            <a:chExt cx="6333744" cy="1089279"/>
          </a:xfrm>
        </p:grpSpPr>
        <p:grpSp>
          <p:nvGrpSpPr>
            <p:cNvPr id="22" name="Group 22"/>
            <p:cNvGrpSpPr/>
            <p:nvPr/>
          </p:nvGrpSpPr>
          <p:grpSpPr>
            <a:xfrm>
              <a:off x="947738" y="2528888"/>
              <a:ext cx="200026" cy="200026"/>
              <a:chOff x="947738" y="2528888"/>
              <a:chExt cx="200026" cy="200026"/>
            </a:xfrm>
          </p:grpSpPr>
          <p:sp>
            <p:nvSpPr>
              <p:cNvPr id="20" name="Freeform 20"/>
              <p:cNvSpPr/>
              <p:nvPr/>
            </p:nvSpPr>
            <p:spPr>
              <a:xfrm>
                <a:off x="947738" y="252888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chemeClr val="accent3"/>
                </a:solidFill>
              </a:ln>
            </p:spPr>
          </p:sp>
          <p:sp>
            <p:nvSpPr>
              <p:cNvPr id="21" name="Freeform 21"/>
              <p:cNvSpPr/>
              <p:nvPr/>
            </p:nvSpPr>
            <p:spPr>
              <a:xfrm>
                <a:off x="977741" y="2558891"/>
                <a:ext cx="140018" cy="140018"/>
              </a:xfrm>
              <a:custGeom>
                <a:avLst/>
                <a:gdLst/>
                <a:ahLst/>
                <a:cxnLst/>
                <a:rect l="l" t="t" r="r" b="b"/>
                <a:pathLst>
                  <a:path w="140018" h="140018">
                    <a:moveTo>
                      <a:pt x="0" y="0"/>
                    </a:moveTo>
                    <a:lnTo>
                      <a:pt x="140018" y="140018"/>
                    </a:lnTo>
                  </a:path>
                </a:pathLst>
              </a:custGeom>
              <a:noFill/>
              <a:ln w="22225">
                <a:solidFill>
                  <a:schemeClr val="accent3"/>
                </a:solidFill>
              </a:ln>
            </p:spPr>
          </p:sp>
        </p:grpSp>
        <p:sp>
          <p:nvSpPr>
            <p:cNvPr id="23" name="TextBox 23"/>
            <p:cNvSpPr txBox="1"/>
            <p:nvPr/>
          </p:nvSpPr>
          <p:spPr>
            <a:xfrm>
              <a:off x="1322832" y="2478405"/>
              <a:ext cx="1152144"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常见做法</a:t>
              </a:r>
            </a:p>
          </p:txBody>
        </p:sp>
        <p:sp>
          <p:nvSpPr>
            <p:cNvPr id="24" name="TextBox 24"/>
            <p:cNvSpPr txBox="1"/>
            <p:nvPr/>
          </p:nvSpPr>
          <p:spPr>
            <a:xfrm>
              <a:off x="905256" y="2910840"/>
              <a:ext cx="5173218" cy="656844"/>
            </a:xfrm>
            <a:prstGeom prst="rect">
              <a:avLst/>
            </a:prstGeom>
            <a:noFill/>
            <a:ln>
              <a:noFill/>
            </a:ln>
          </p:spPr>
          <p:txBody>
            <a:bodyPr wrap="none" lIns="0" tIns="0" rIns="0" bIns="0" anchor="t" anchorCtr="0">
              <a:spAutoFit/>
            </a:bodyPr>
            <a:lstStyle/>
            <a:p>
              <a:pPr algn="l">
                <a:lnSpc>
                  <a:spcPts val="2400"/>
                </a:lnSpc>
              </a:pPr>
              <a:r>
                <a:rPr lang="zh-CN" sz="1800" dirty="0">
                  <a:solidFill>
                    <a:schemeClr val="dk1"/>
                  </a:solidFill>
                  <a:latin typeface="+mn-lt"/>
                  <a:ea typeface="+mn-ea"/>
                  <a:cs typeface="+mn-cs"/>
                </a:rPr>
                <a:t>为避免误喷、误动作,把应处于自动状态的联动控制</a:t>
              </a:r>
              <a:br/>
              <a:r>
                <a:rPr lang="zh-CN" sz="1800" dirty="0">
                  <a:solidFill>
                    <a:schemeClr val="dk1"/>
                  </a:solidFill>
                  <a:latin typeface="+mn-lt"/>
                  <a:ea typeface="+mn-ea"/>
                  <a:cs typeface="+mn-cs"/>
                </a:rPr>
                <a:t>设备长期置于手动。</a:t>
              </a:r>
            </a:p>
          </p:txBody>
        </p:sp>
        <p:sp>
          <p:nvSpPr>
            <p:cNvPr id="25" name="Line 25"/>
            <p:cNvSpPr/>
            <p:nvPr/>
          </p:nvSpPr>
          <p:spPr>
            <a:xfrm>
              <a:off x="914400" y="3543300"/>
              <a:ext cx="6324600" cy="9525"/>
            </a:xfrm>
            <a:custGeom>
              <a:avLst/>
              <a:gdLst/>
              <a:ahLst/>
              <a:cxnLst/>
              <a:rect l="l" t="t" r="r" b="b"/>
              <a:pathLst>
                <a:path w="6324600" h="9525">
                  <a:moveTo>
                    <a:pt x="0" y="0"/>
                  </a:moveTo>
                  <a:lnTo>
                    <a:pt x="6324600" y="0"/>
                  </a:lnTo>
                </a:path>
              </a:pathLst>
            </a:custGeom>
            <a:noFill/>
            <a:ln w="9525">
              <a:solidFill>
                <a:schemeClr val="accent6"/>
              </a:solidFill>
            </a:ln>
          </p:spPr>
        </p:sp>
      </p:grpSp>
      <p:grpSp>
        <p:nvGrpSpPr>
          <p:cNvPr id="31" name="Group 31"/>
          <p:cNvGrpSpPr/>
          <p:nvPr/>
        </p:nvGrpSpPr>
        <p:grpSpPr>
          <a:xfrm>
            <a:off x="905256" y="3702368"/>
            <a:ext cx="6333744" cy="1255966"/>
            <a:chOff x="905256" y="3702368"/>
            <a:chExt cx="6333744" cy="1255966"/>
          </a:xfrm>
        </p:grpSpPr>
        <p:sp>
          <p:nvSpPr>
            <p:cNvPr id="27" name="TextBox 27"/>
            <p:cNvSpPr txBox="1"/>
            <p:nvPr/>
          </p:nvSpPr>
          <p:spPr>
            <a:xfrm>
              <a:off x="907542" y="3702368"/>
              <a:ext cx="1810893" cy="264033"/>
            </a:xfrm>
            <a:prstGeom prst="rect">
              <a:avLst/>
            </a:prstGeom>
            <a:noFill/>
            <a:ln>
              <a:noFill/>
            </a:ln>
          </p:spPr>
          <p:txBody>
            <a:bodyPr wrap="none" lIns="0" tIns="0" rIns="0" bIns="0" anchor="t" anchorCtr="0">
              <a:spAutoFit/>
            </a:bodyPr>
            <a:lstStyle/>
            <a:p>
              <a:pPr algn="l"/>
              <a:r>
                <a:rPr lang="zh-CN" sz="1350" spc="150" dirty="0">
                  <a:solidFill>
                    <a:schemeClr val="accent1"/>
                  </a:solidFill>
                  <a:latin typeface="+mn-lt"/>
                  <a:ea typeface="+mn-ea"/>
                  <a:cs typeface="+mn-cs"/>
                </a:rPr>
                <a:t>它同时废掉两条机制</a:t>
              </a:r>
            </a:p>
          </p:txBody>
        </p:sp>
        <p:sp>
          <p:nvSpPr>
            <p:cNvPr id="28" name="TextBox 28"/>
            <p:cNvSpPr txBox="1"/>
            <p:nvPr/>
          </p:nvSpPr>
          <p:spPr>
            <a:xfrm>
              <a:off x="905256" y="3996690"/>
              <a:ext cx="4773168" cy="637794"/>
            </a:xfrm>
            <a:prstGeom prst="rect">
              <a:avLst/>
            </a:prstGeom>
            <a:noFill/>
            <a:ln>
              <a:noFill/>
            </a:ln>
          </p:spPr>
          <p:txBody>
            <a:bodyPr wrap="none" lIns="0" tIns="0" rIns="0" bIns="0" anchor="t" anchorCtr="0">
              <a:spAutoFit/>
            </a:bodyPr>
            <a:lstStyle/>
            <a:p>
              <a:pPr algn="l">
                <a:lnSpc>
                  <a:spcPts val="2250"/>
                </a:lnSpc>
              </a:pPr>
              <a:r>
                <a:rPr lang="zh-CN" sz="1800" dirty="0">
                  <a:solidFill>
                    <a:schemeClr val="dk1"/>
                  </a:solidFill>
                  <a:latin typeface="+mn-lt"/>
                  <a:ea typeface="+mn-ea"/>
                  <a:cs typeface="+mn-cs"/>
                </a:rPr>
                <a:t>机制一(第 06 页):10 s / 100 s 只覆盖信号侧,</a:t>
              </a:r>
              <a:br/>
              <a:r>
                <a:rPr lang="zh-CN" sz="1800" dirty="0">
                  <a:solidFill>
                    <a:schemeClr val="dk1"/>
                  </a:solidFill>
                  <a:latin typeface="+mn-lt"/>
                  <a:ea typeface="+mn-ea"/>
                  <a:cs typeface="+mn-cs"/>
                </a:rPr>
                <a:t>手动状态下启动完全落在人身上。</a:t>
              </a:r>
            </a:p>
          </p:txBody>
        </p:sp>
        <p:sp>
          <p:nvSpPr>
            <p:cNvPr id="29" name="TextBox 29"/>
            <p:cNvSpPr txBox="1"/>
            <p:nvPr/>
          </p:nvSpPr>
          <p:spPr>
            <a:xfrm>
              <a:off x="905256" y="4606290"/>
              <a:ext cx="610042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机制二(第 02 页):0—6 时亡人占比 31.3%,而人手最少。</a:t>
              </a:r>
            </a:p>
          </p:txBody>
        </p:sp>
        <p:sp>
          <p:nvSpPr>
            <p:cNvPr id="30" name="Line 30"/>
            <p:cNvSpPr/>
            <p:nvPr/>
          </p:nvSpPr>
          <p:spPr>
            <a:xfrm>
              <a:off x="914400" y="4933950"/>
              <a:ext cx="6324600" cy="9525"/>
            </a:xfrm>
            <a:custGeom>
              <a:avLst/>
              <a:gdLst/>
              <a:ahLst/>
              <a:cxnLst/>
              <a:rect l="l" t="t" r="r" b="b"/>
              <a:pathLst>
                <a:path w="6324600" h="9525">
                  <a:moveTo>
                    <a:pt x="0" y="0"/>
                  </a:moveTo>
                  <a:lnTo>
                    <a:pt x="6324600" y="0"/>
                  </a:lnTo>
                </a:path>
              </a:pathLst>
            </a:custGeom>
            <a:noFill/>
            <a:ln w="9525">
              <a:solidFill>
                <a:schemeClr val="accent6"/>
              </a:solidFill>
            </a:ln>
          </p:spPr>
        </p:sp>
      </p:grpSp>
      <p:grpSp>
        <p:nvGrpSpPr>
          <p:cNvPr id="36" name="Group 36"/>
          <p:cNvGrpSpPr/>
          <p:nvPr/>
        </p:nvGrpSpPr>
        <p:grpSpPr>
          <a:xfrm>
            <a:off x="914400" y="5067300"/>
            <a:ext cx="5234978" cy="1223201"/>
            <a:chOff x="914400" y="5067300"/>
            <a:chExt cx="5234978" cy="1223201"/>
          </a:xfrm>
        </p:grpSpPr>
        <p:sp>
          <p:nvSpPr>
            <p:cNvPr id="32" name="Rectangle 32"/>
            <p:cNvSpPr/>
            <p:nvPr/>
          </p:nvSpPr>
          <p:spPr>
            <a:xfrm>
              <a:off x="914400" y="5067300"/>
              <a:ext cx="47625" cy="1219200"/>
            </a:xfrm>
            <a:prstGeom prst="rect">
              <a:avLst/>
            </a:prstGeom>
            <a:solidFill>
              <a:schemeClr val="accent3"/>
            </a:solidFill>
            <a:ln>
              <a:noFill/>
            </a:ln>
          </p:spPr>
        </p:sp>
        <p:sp>
          <p:nvSpPr>
            <p:cNvPr id="33" name="TextBox 33"/>
            <p:cNvSpPr txBox="1"/>
            <p:nvPr/>
          </p:nvSpPr>
          <p:spPr>
            <a:xfrm>
              <a:off x="1174242" y="5131118"/>
              <a:ext cx="1810893" cy="264033"/>
            </a:xfrm>
            <a:prstGeom prst="rect">
              <a:avLst/>
            </a:prstGeom>
            <a:noFill/>
            <a:ln>
              <a:noFill/>
            </a:ln>
          </p:spPr>
          <p:txBody>
            <a:bodyPr wrap="none" lIns="0" tIns="0" rIns="0" bIns="0" anchor="t" anchorCtr="0">
              <a:spAutoFit/>
            </a:bodyPr>
            <a:lstStyle/>
            <a:p>
              <a:pPr algn="l"/>
              <a:r>
                <a:rPr lang="zh-CN" sz="1350" spc="150" dirty="0">
                  <a:solidFill>
                    <a:schemeClr val="accent3"/>
                  </a:solidFill>
                  <a:latin typeface="+mn-lt"/>
                  <a:ea typeface="+mn-ea"/>
                  <a:cs typeface="+mn-cs"/>
                </a:rPr>
                <a:t>条文禁止与法律后果</a:t>
              </a:r>
            </a:p>
          </p:txBody>
        </p:sp>
        <p:sp>
          <p:nvSpPr>
            <p:cNvPr id="34" name="TextBox 34"/>
            <p:cNvSpPr txBox="1"/>
            <p:nvPr/>
          </p:nvSpPr>
          <p:spPr>
            <a:xfrm>
              <a:off x="1174242" y="5454968"/>
              <a:ext cx="49751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第 4.2.1 条 c):不得将应处于自动状态的设备设在手动状态。</a:t>
              </a:r>
            </a:p>
          </p:txBody>
        </p:sp>
        <p:sp>
          <p:nvSpPr>
            <p:cNvPr id="35" name="TextBox 35"/>
            <p:cNvSpPr txBox="1"/>
            <p:nvPr/>
          </p:nvSpPr>
          <p:spPr>
            <a:xfrm>
              <a:off x="1174242" y="5740718"/>
              <a:ext cx="3974211" cy="549783"/>
            </a:xfrm>
            <a:prstGeom prst="rect">
              <a:avLst/>
            </a:prstGeom>
            <a:noFill/>
            <a:ln>
              <a:noFill/>
            </a:ln>
          </p:spPr>
          <p:txBody>
            <a:bodyPr wrap="none" lIns="0" tIns="0" rIns="0" bIns="0" anchor="t" anchorCtr="0">
              <a:spAutoFit/>
            </a:bodyPr>
            <a:lstStyle/>
            <a:p>
              <a:pPr algn="l">
                <a:lnSpc>
                  <a:spcPts val="2250"/>
                </a:lnSpc>
              </a:pPr>
              <a:r>
                <a:rPr lang="zh-CN" sz="1350" dirty="0">
                  <a:solidFill>
                    <a:schemeClr val="dk1"/>
                  </a:solidFill>
                  <a:latin typeface="+mn-lt"/>
                  <a:ea typeface="+mn-ea"/>
                  <a:cs typeface="+mn-cs"/>
                </a:rPr>
                <a:t>《消防法》第六十条:未保持完好有效或擅自停用的,</a:t>
              </a:r>
              <a:br/>
              <a:r>
                <a:rPr lang="zh-CN" sz="1350" dirty="0">
                  <a:solidFill>
                    <a:schemeClr val="dk1"/>
                  </a:solidFill>
                  <a:latin typeface="+mn-lt"/>
                  <a:ea typeface="+mn-ea"/>
                  <a:cs typeface="+mn-cs"/>
                </a:rPr>
                <a:t>责令改正,</a:t>
              </a:r>
              <a:r>
                <a:rPr lang="zh-CN" sz="1350" b="1" dirty="0">
                  <a:solidFill>
                    <a:schemeClr val="accent3"/>
                  </a:solidFill>
                  <a:latin typeface="+mn-lt"/>
                  <a:ea typeface="+mn-ea"/>
                  <a:cs typeface="+mn-cs"/>
                </a:rPr>
                <a:t>处五千元以上五万元以下罚款</a:t>
              </a:r>
              <a:r>
                <a:rPr lang="zh-CN" sz="1350" dirty="0">
                  <a:solidFill>
                    <a:schemeClr val="dk1"/>
                  </a:solidFill>
                  <a:latin typeface="+mn-lt"/>
                  <a:ea typeface="+mn-ea"/>
                  <a:cs typeface="+mn-cs"/>
                </a:rPr>
                <a:t>。</a:t>
              </a:r>
            </a:p>
          </p:txBody>
        </p:sp>
      </p:grpSp>
      <p:grpSp>
        <p:nvGrpSpPr>
          <p:cNvPr id="38" name="Group 38"/>
          <p:cNvGrpSpPr/>
          <p:nvPr/>
        </p:nvGrpSpPr>
        <p:grpSpPr>
          <a:xfrm>
            <a:off x="7810500" y="2400300"/>
            <a:ext cx="3771900" cy="2933700"/>
            <a:chOff x="7810500" y="2400300"/>
            <a:chExt cx="3771900" cy="2933700"/>
          </a:xfrm>
        </p:grpSpPr>
        <p:pic>
          <p:nvPicPr>
            <p:cNvPr id="37" name="Image 37"/>
            <p:cNvPicPr>
              <a:picLocks noChangeAspect="1"/>
            </p:cNvPicPr>
            <p:nvPr/>
          </p:nvPicPr>
          <p:blipFill>
            <a:blip r:embed="rId2"/>
            <a:srcRect l="0" t="11111" r="0" b="11111"/>
            <a:stretch>
              <a:fillRect/>
            </a:stretch>
          </p:blipFill>
          <p:spPr>
            <a:xfrm>
              <a:off x="7810500" y="2400300"/>
              <a:ext cx="3771900" cy="2933700"/>
            </a:xfrm>
            <a:prstGeom prst="rect">
              <a:avLst/>
            </a:prstGeom>
          </p:spPr>
        </p:pic>
      </p:grpSp>
      <p:sp>
        <p:nvSpPr>
          <p:cNvPr id="39" name="Freeform 39"/>
          <p:cNvSpPr/>
          <p:nvPr/>
        </p:nvSpPr>
        <p:spPr>
          <a:xfrm>
            <a:off x="8877300" y="3048000"/>
            <a:ext cx="1638300" cy="1638300"/>
          </a:xfrm>
          <a:prstGeom prst="noSmoking">
            <a:avLst/>
          </a:prstGeom>
          <a:solidFill>
            <a:schemeClr val="accent3">
              <a:alpha val="85000"/>
            </a:schemeClr>
          </a:solidFill>
          <a:ln>
            <a:noFill/>
          </a:ln>
        </p:spPr>
      </p:sp>
      <p:grpSp>
        <p:nvGrpSpPr>
          <p:cNvPr id="42" name="Group 42"/>
          <p:cNvGrpSpPr/>
          <p:nvPr/>
        </p:nvGrpSpPr>
        <p:grpSpPr>
          <a:xfrm>
            <a:off x="7803642" y="5531168"/>
            <a:ext cx="2508313" cy="797433"/>
            <a:chOff x="7803642" y="5531168"/>
            <a:chExt cx="2508313" cy="797433"/>
          </a:xfrm>
        </p:grpSpPr>
        <p:sp>
          <p:nvSpPr>
            <p:cNvPr id="40" name="TextBox 40"/>
            <p:cNvSpPr txBox="1"/>
            <p:nvPr/>
          </p:nvSpPr>
          <p:spPr>
            <a:xfrm>
              <a:off x="7803642" y="5531168"/>
              <a:ext cx="1304049"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替代做法(整理)</a:t>
              </a:r>
            </a:p>
          </p:txBody>
        </p:sp>
        <p:sp>
          <p:nvSpPr>
            <p:cNvPr id="41" name="TextBox 41"/>
            <p:cNvSpPr txBox="1"/>
            <p:nvPr/>
          </p:nvSpPr>
          <p:spPr>
            <a:xfrm>
              <a:off x="7803642" y="5816918"/>
              <a:ext cx="2508313"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临时转手动须记录原因与恢复人,</a:t>
              </a:r>
              <a:br/>
              <a:r>
                <a:rPr lang="zh-CN" sz="1350" dirty="0">
                  <a:solidFill>
                    <a:schemeClr val="accent5"/>
                  </a:solidFill>
                  <a:latin typeface="+mn-lt"/>
                  <a:ea typeface="+mn-ea"/>
                  <a:cs typeface="+mn-cs"/>
                </a:rPr>
                <a:t>并在本班内恢复自动位。</a:t>
              </a:r>
            </a:p>
          </p:txBody>
        </p:sp>
      </p:grpSp>
      <p:grpSp>
        <p:nvGrpSpPr>
          <p:cNvPr id="45" name="Group 45"/>
          <p:cNvGrpSpPr/>
          <p:nvPr/>
        </p:nvGrpSpPr>
        <p:grpSpPr>
          <a:xfrm>
            <a:off x="908304" y="6423660"/>
            <a:ext cx="10680192" cy="234696"/>
            <a:chOff x="908304" y="6423660"/>
            <a:chExt cx="10680192" cy="234696"/>
          </a:xfrm>
        </p:grpSpPr>
        <p:sp>
          <p:nvSpPr>
            <p:cNvPr id="43" name="TextBox 43"/>
            <p:cNvSpPr txBox="1"/>
            <p:nvPr/>
          </p:nvSpPr>
          <p:spPr>
            <a:xfrm>
              <a:off x="908304" y="6423660"/>
              <a:ext cx="809564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 第 4.2.1 条 c) · 《中华人民共和国消防法》第六十条 · 国家消防救援局 2024 年火灾统计</a:t>
              </a:r>
            </a:p>
          </p:txBody>
        </p:sp>
        <p:sp>
          <p:nvSpPr>
            <p:cNvPr id="44" name="TextBox 44"/>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childTnLst>
                          </p:cTn>
                        </p:par>
                        <p:par>
                          <p:cTn id="12" fill="hold">
                            <p:stCondLst>
                              <p:cond delay="15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36"/>
                                        </p:tgtEl>
                                        <p:attrNameLst>
                                          <p:attrName>style.visibility</p:attrName>
                                        </p:attrNameLst>
                                      </p:cBhvr>
                                      <p:to>
                                        <p:strVal val="visible"/>
                                      </p:to>
                                    </p:set>
                                    <p:animEffect transition="in" filter="wipe(right)">
                                      <p:cBhvr>
                                        <p:cTn id="15" dur="500"/>
                                        <p:tgtEl>
                                          <p:spTgt spid="36"/>
                                        </p:tgtEl>
                                      </p:cBhvr>
                                    </p:animEffect>
                                  </p:childTnLst>
                                </p:cTn>
                              </p:par>
                            </p:childTnLst>
                          </p:cTn>
                        </p:par>
                        <p:par>
                          <p:cTn id="16" fill="hold">
                            <p:stCondLst>
                              <p:cond delay="2500"/>
                            </p:stCondLst>
                            <p:childTnLst>
                              <p:par>
                                <p:cTn xmlns:p="http://schemas.openxmlformats.org/presentationml/2006/main" id="17" presetID="23" presetClass="entr" presetSubtype="16" fill="hold" grpId="0" nodeType="afterEffect">
                                  <p:stCondLst>
                                    <p:cond delay="500"/>
                                  </p:stCondLst>
                                  <p:childTnLst>
                                    <p:set>
                                      <p:cBhvr>
                                        <p:cTn id="18" dur="1" fill="hold">
                                          <p:stCondLst>
                                            <p:cond delay="0"/>
                                          </p:stCondLst>
                                        </p:cTn>
                                        <p:tgtEl>
                                          <p:spTgt spid="39"/>
                                        </p:tgtEl>
                                        <p:attrNameLst>
                                          <p:attrName>style.visibility</p:attrName>
                                        </p:attrNameLst>
                                      </p:cBhvr>
                                      <p:to>
                                        <p:strVal val="visible"/>
                                      </p:to>
                                    </p:set>
                                    <p:anim calcmode="lin" valueType="num">
                                      <p:cBhvr>
                                        <p:cTn id="19" dur="500" fill="hold"/>
                                        <p:tgtEl>
                                          <p:spTgt spid="39"/>
                                        </p:tgtEl>
                                        <p:attrNameLst>
                                          <p:attrName>ppt_w</p:attrName>
                                        </p:attrNameLst>
                                      </p:cBhvr>
                                      <p:tavLst>
                                        <p:tav tm="0">
                                          <p:val>
                                            <p:fltVal val="0"/>
                                          </p:val>
                                        </p:tav>
                                        <p:tav tm="100000">
                                          <p:val>
                                            <p:strVal val="#ppt_w"/>
                                          </p:val>
                                        </p:tav>
                                      </p:tavLst>
                                    </p:anim>
                                    <p:anim calcmode="lin" valueType="num">
                                      <p:cBhvr>
                                        <p:cTn id="20" dur="500" fill="hold"/>
                                        <p:tgtEl>
                                          <p:spTgt spid="39"/>
                                        </p:tgtEl>
                                        <p:attrNameLst>
                                          <p:attrName>ppt_h</p:attrName>
                                        </p:attrNameLst>
                                      </p:cBhvr>
                                      <p:tavLst>
                                        <p:tav tm="0">
                                          <p:val>
                                            <p:fltVal val="0"/>
                                          </p:val>
                                        </p:tav>
                                        <p:tav tm="100000">
                                          <p:val>
                                            <p:strVal val="#ppt_h"/>
                                          </p:val>
                                        </p:tav>
                                      </p:tavLst>
                                    </p:anim>
                                  </p:childTnLst>
                                </p:cTn>
                              </p:par>
                            </p:childTnLst>
                          </p:cTn>
                        </p:par>
                        <p:par>
                          <p:cTn id="21" fill="hold">
                            <p:stCondLst>
                              <p:cond delay="3500"/>
                            </p:stCondLst>
                            <p:childTnLst>
                              <p:par>
                                <p:cTn xmlns:p="http://schemas.openxmlformats.org/presentationml/2006/main" id="22" presetID="10" presetClass="entr" presetSubtype="0" fill="hold" grpId="0" nodeType="afterEffect">
                                  <p:stCondLst>
                                    <p:cond delay="50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2"/>
            </a:solidFill>
            <a:ln>
              <a:noFill/>
            </a:ln>
          </p:spPr>
        </p:sp>
        <p:sp>
          <p:nvSpPr>
            <p:cNvPr id="13" name="Rectangle 13"/>
            <p:cNvSpPr/>
            <p:nvPr/>
          </p:nvSpPr>
          <p:spPr>
            <a:xfrm>
              <a:off x="457200" y="1981200"/>
              <a:ext cx="114300" cy="1371600"/>
            </a:xfrm>
            <a:prstGeom prst="rect">
              <a:avLst/>
            </a:prstGeom>
            <a:solidFill>
              <a:schemeClr val="accent2"/>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2"/>
            </a:solidFill>
            <a:ln>
              <a:noFill/>
            </a:ln>
          </p:spPr>
        </p:sp>
      </p:grpSp>
      <p:grpSp>
        <p:nvGrpSpPr>
          <p:cNvPr id="18" name="Group 18"/>
          <p:cNvGrpSpPr/>
          <p:nvPr/>
        </p:nvGrpSpPr>
        <p:grpSpPr>
          <a:xfrm>
            <a:off x="907542" y="787718"/>
            <a:ext cx="1976076" cy="264033"/>
            <a:chOff x="907542" y="787718"/>
            <a:chExt cx="1976076" cy="264033"/>
          </a:xfrm>
        </p:grpSpPr>
        <p:sp>
          <p:nvSpPr>
            <p:cNvPr id="17" name="TextBox 17"/>
            <p:cNvSpPr txBox="1"/>
            <p:nvPr/>
          </p:nvSpPr>
          <p:spPr>
            <a:xfrm>
              <a:off x="907542" y="787718"/>
              <a:ext cx="1976076"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第四节 · 收束标准页</a:t>
              </a:r>
            </a:p>
          </p:txBody>
        </p:sp>
      </p:grpSp>
      <p:grpSp>
        <p:nvGrpSpPr>
          <p:cNvPr id="20" name="Group 20"/>
          <p:cNvGrpSpPr/>
          <p:nvPr/>
        </p:nvGrpSpPr>
        <p:grpSpPr>
          <a:xfrm>
            <a:off x="899160" y="1123950"/>
            <a:ext cx="6725469" cy="586740"/>
            <a:chOff x="899160" y="1123950"/>
            <a:chExt cx="6725469" cy="586740"/>
          </a:xfrm>
        </p:grpSpPr>
        <p:sp>
          <p:nvSpPr>
            <p:cNvPr id="19" name="TextBox 19"/>
            <p:cNvSpPr txBox="1"/>
            <p:nvPr/>
          </p:nvSpPr>
          <p:spPr>
            <a:xfrm>
              <a:off x="899160" y="1123950"/>
              <a:ext cx="672546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每一条规则,都能走回它依赖的那一页</a:t>
              </a:r>
            </a:p>
          </p:txBody>
        </p:sp>
      </p:grpSp>
      <p:grpSp>
        <p:nvGrpSpPr>
          <p:cNvPr id="22" name="Group 22"/>
          <p:cNvGrpSpPr/>
          <p:nvPr/>
        </p:nvGrpSpPr>
        <p:grpSpPr>
          <a:xfrm>
            <a:off x="903732" y="1678305"/>
            <a:ext cx="8247964" cy="410718"/>
            <a:chOff x="903732" y="1678305"/>
            <a:chExt cx="8247964" cy="410718"/>
          </a:xfrm>
        </p:grpSpPr>
        <p:sp>
          <p:nvSpPr>
            <p:cNvPr id="21" name="TextBox 21"/>
            <p:cNvSpPr txBox="1"/>
            <p:nvPr/>
          </p:nvSpPr>
          <p:spPr>
            <a:xfrm>
              <a:off x="903732" y="1678305"/>
              <a:ext cx="824796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手册可以合上,轴不能丢:任何一条规则都能在两步内走回机制页。</a:t>
              </a:r>
            </a:p>
          </p:txBody>
        </p:sp>
      </p:grpSp>
      <p:grpSp>
        <p:nvGrpSpPr>
          <p:cNvPr id="37" name="Group 37"/>
          <p:cNvGrpSpPr/>
          <p:nvPr/>
        </p:nvGrpSpPr>
        <p:grpSpPr>
          <a:xfrm>
            <a:off x="905256" y="2559368"/>
            <a:ext cx="6340602" cy="3046666"/>
            <a:chOff x="905256" y="2559368"/>
            <a:chExt cx="6340602" cy="3046666"/>
          </a:xfrm>
        </p:grpSpPr>
        <p:sp>
          <p:nvSpPr>
            <p:cNvPr id="23" name="TextBox 23"/>
            <p:cNvSpPr txBox="1"/>
            <p:nvPr/>
          </p:nvSpPr>
          <p:spPr>
            <a:xfrm>
              <a:off x="907542" y="2559368"/>
              <a:ext cx="2078184" cy="264033"/>
            </a:xfrm>
            <a:prstGeom prst="rect">
              <a:avLst/>
            </a:prstGeom>
            <a:noFill/>
            <a:ln>
              <a:noFill/>
            </a:ln>
          </p:spPr>
          <p:txBody>
            <a:bodyPr wrap="none" lIns="0" tIns="0" rIns="0" bIns="0" anchor="t" anchorCtr="0">
              <a:spAutoFit/>
            </a:bodyPr>
            <a:lstStyle/>
            <a:p>
              <a:pPr algn="l"/>
              <a:r>
                <a:rPr lang="zh-CN" sz="1350" spc="150" dirty="0">
                  <a:solidFill>
                    <a:schemeClr val="accent1"/>
                  </a:solidFill>
                  <a:latin typeface="+mn-lt"/>
                  <a:ea typeface="+mn-ea"/>
                  <a:cs typeface="+mn-cs"/>
                </a:rPr>
                <a:t>规则 → 它依赖的机制页</a:t>
              </a:r>
            </a:p>
          </p:txBody>
        </p:sp>
        <p:grpSp>
          <p:nvGrpSpPr>
            <p:cNvPr id="36" name="Group 36"/>
            <p:cNvGrpSpPr/>
            <p:nvPr/>
          </p:nvGrpSpPr>
          <p:grpSpPr>
            <a:xfrm>
              <a:off x="905256" y="2967990"/>
              <a:ext cx="6340602" cy="2638044"/>
              <a:chOff x="905256" y="2967990"/>
              <a:chExt cx="6340602" cy="2638044"/>
            </a:xfrm>
          </p:grpSpPr>
          <p:sp>
            <p:nvSpPr>
              <p:cNvPr id="24" name="TextBox 24"/>
              <p:cNvSpPr txBox="1"/>
              <p:nvPr/>
            </p:nvSpPr>
            <p:spPr>
              <a:xfrm>
                <a:off x="905256" y="2967990"/>
                <a:ext cx="199316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每班 2 人持证上岗</a:t>
                </a:r>
              </a:p>
            </p:txBody>
          </p:sp>
          <p:sp>
            <p:nvSpPr>
              <p:cNvPr id="25" name="TextBox 25"/>
              <p:cNvSpPr txBox="1"/>
              <p:nvPr/>
            </p:nvSpPr>
            <p:spPr>
              <a:xfrm>
                <a:off x="6559715" y="3016568"/>
                <a:ext cx="686143" cy="264033"/>
              </a:xfrm>
              <a:prstGeom prst="rect">
                <a:avLst/>
              </a:prstGeom>
              <a:noFill/>
              <a:ln>
                <a:noFill/>
              </a:ln>
            </p:spPr>
            <p:txBody>
              <a:bodyPr wrap="none" lIns="0" tIns="0" rIns="0" bIns="0" anchor="t" anchorCtr="0">
                <a:spAutoFit/>
              </a:bodyPr>
              <a:lstStyle/>
              <a:p>
                <a:pPr algn="r"/>
                <a:r>
                  <a:rPr lang="zh-CN" sz="1350" dirty="0">
                    <a:solidFill>
                      <a:schemeClr val="accent2"/>
                    </a:solidFill>
                    <a:latin typeface="+mn-lt"/>
                    <a:ea typeface="+mn-ea"/>
                    <a:cs typeface="+mn-cs"/>
                  </a:rPr>
                  <a:t>第 14 页</a:t>
                </a:r>
              </a:p>
            </p:txBody>
          </p:sp>
          <p:sp>
            <p:nvSpPr>
              <p:cNvPr id="26" name="TextBox 26"/>
              <p:cNvSpPr txBox="1"/>
              <p:nvPr/>
            </p:nvSpPr>
            <p:spPr>
              <a:xfrm>
                <a:off x="905256" y="3425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接警后立即到现场核实</a:t>
                </a:r>
              </a:p>
            </p:txBody>
          </p:sp>
          <p:sp>
            <p:nvSpPr>
              <p:cNvPr id="27" name="TextBox 27"/>
              <p:cNvSpPr txBox="1"/>
              <p:nvPr/>
            </p:nvSpPr>
            <p:spPr>
              <a:xfrm>
                <a:off x="5678291" y="3473768"/>
                <a:ext cx="1567567" cy="264033"/>
              </a:xfrm>
              <a:prstGeom prst="rect">
                <a:avLst/>
              </a:prstGeom>
              <a:noFill/>
              <a:ln>
                <a:noFill/>
              </a:ln>
            </p:spPr>
            <p:txBody>
              <a:bodyPr wrap="none" lIns="0" tIns="0" rIns="0" bIns="0" anchor="t" anchorCtr="0">
                <a:spAutoFit/>
              </a:bodyPr>
              <a:lstStyle/>
              <a:p>
                <a:pPr algn="r"/>
                <a:r>
                  <a:rPr lang="zh-CN" sz="1350" dirty="0">
                    <a:solidFill>
                      <a:schemeClr val="accent2"/>
                    </a:solidFill>
                    <a:latin typeface="+mn-lt"/>
                    <a:ea typeface="+mn-ea"/>
                    <a:cs typeface="+mn-cs"/>
                  </a:rPr>
                  <a:t>第 08 页 · 第 06 页</a:t>
                </a:r>
              </a:p>
            </p:txBody>
          </p:sp>
          <p:sp>
            <p:nvSpPr>
              <p:cNvPr id="28" name="TextBox 28"/>
              <p:cNvSpPr txBox="1"/>
              <p:nvPr/>
            </p:nvSpPr>
            <p:spPr>
              <a:xfrm>
                <a:off x="905256" y="3882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误报也必须留痕归档</a:t>
                </a:r>
              </a:p>
            </p:txBody>
          </p:sp>
          <p:sp>
            <p:nvSpPr>
              <p:cNvPr id="29" name="TextBox 29"/>
              <p:cNvSpPr txBox="1"/>
              <p:nvPr/>
            </p:nvSpPr>
            <p:spPr>
              <a:xfrm>
                <a:off x="5678291" y="3930968"/>
                <a:ext cx="1567567" cy="264033"/>
              </a:xfrm>
              <a:prstGeom prst="rect">
                <a:avLst/>
              </a:prstGeom>
              <a:noFill/>
              <a:ln>
                <a:noFill/>
              </a:ln>
            </p:spPr>
            <p:txBody>
              <a:bodyPr wrap="none" lIns="0" tIns="0" rIns="0" bIns="0" anchor="t" anchorCtr="0">
                <a:spAutoFit/>
              </a:bodyPr>
              <a:lstStyle/>
              <a:p>
                <a:pPr algn="r"/>
                <a:r>
                  <a:rPr lang="zh-CN" sz="1350" dirty="0">
                    <a:solidFill>
                      <a:schemeClr val="accent2"/>
                    </a:solidFill>
                    <a:latin typeface="+mn-lt"/>
                    <a:ea typeface="+mn-ea"/>
                    <a:cs typeface="+mn-cs"/>
                  </a:rPr>
                  <a:t>第 09 页 · 第 05 页</a:t>
                </a:r>
              </a:p>
            </p:txBody>
          </p:sp>
          <p:sp>
            <p:nvSpPr>
              <p:cNvPr id="30" name="TextBox 30"/>
              <p:cNvSpPr txBox="1"/>
              <p:nvPr/>
            </p:nvSpPr>
            <p:spPr>
              <a:xfrm>
                <a:off x="905256" y="433959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确认火警三动作同时开始</a:t>
                </a:r>
              </a:p>
            </p:txBody>
          </p:sp>
          <p:sp>
            <p:nvSpPr>
              <p:cNvPr id="31" name="TextBox 31"/>
              <p:cNvSpPr txBox="1"/>
              <p:nvPr/>
            </p:nvSpPr>
            <p:spPr>
              <a:xfrm>
                <a:off x="6559715" y="4388168"/>
                <a:ext cx="686143" cy="264033"/>
              </a:xfrm>
              <a:prstGeom prst="rect">
                <a:avLst/>
              </a:prstGeom>
              <a:noFill/>
              <a:ln>
                <a:noFill/>
              </a:ln>
            </p:spPr>
            <p:txBody>
              <a:bodyPr wrap="none" lIns="0" tIns="0" rIns="0" bIns="0" anchor="t" anchorCtr="0">
                <a:spAutoFit/>
              </a:bodyPr>
              <a:lstStyle/>
              <a:p>
                <a:pPr algn="r"/>
                <a:r>
                  <a:rPr lang="zh-CN" sz="1350" dirty="0">
                    <a:solidFill>
                      <a:schemeClr val="accent2"/>
                    </a:solidFill>
                    <a:latin typeface="+mn-lt"/>
                    <a:ea typeface="+mn-ea"/>
                    <a:cs typeface="+mn-cs"/>
                  </a:rPr>
                  <a:t>第 10 页</a:t>
                </a:r>
              </a:p>
            </p:txBody>
          </p:sp>
          <p:sp>
            <p:nvSpPr>
              <p:cNvPr id="32" name="TextBox 32"/>
              <p:cNvSpPr txBox="1"/>
              <p:nvPr/>
            </p:nvSpPr>
            <p:spPr>
              <a:xfrm>
                <a:off x="905256" y="47967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报警必须说满五个要素</a:t>
                </a:r>
              </a:p>
            </p:txBody>
          </p:sp>
          <p:sp>
            <p:nvSpPr>
              <p:cNvPr id="33" name="TextBox 33"/>
              <p:cNvSpPr txBox="1"/>
              <p:nvPr/>
            </p:nvSpPr>
            <p:spPr>
              <a:xfrm>
                <a:off x="6559715" y="4845368"/>
                <a:ext cx="686143" cy="264033"/>
              </a:xfrm>
              <a:prstGeom prst="rect">
                <a:avLst/>
              </a:prstGeom>
              <a:noFill/>
              <a:ln>
                <a:noFill/>
              </a:ln>
            </p:spPr>
            <p:txBody>
              <a:bodyPr wrap="none" lIns="0" tIns="0" rIns="0" bIns="0" anchor="t" anchorCtr="0">
                <a:spAutoFit/>
              </a:bodyPr>
              <a:lstStyle/>
              <a:p>
                <a:pPr algn="r"/>
                <a:r>
                  <a:rPr lang="zh-CN" sz="1350" dirty="0">
                    <a:solidFill>
                      <a:schemeClr val="accent2"/>
                    </a:solidFill>
                    <a:latin typeface="+mn-lt"/>
                    <a:ea typeface="+mn-ea"/>
                    <a:cs typeface="+mn-cs"/>
                  </a:rPr>
                  <a:t>第 11 页</a:t>
                </a:r>
              </a:p>
            </p:txBody>
          </p:sp>
          <p:sp>
            <p:nvSpPr>
              <p:cNvPr id="34" name="TextBox 34"/>
              <p:cNvSpPr txBox="1"/>
              <p:nvPr/>
            </p:nvSpPr>
            <p:spPr>
              <a:xfrm>
                <a:off x="905256" y="525399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禁止把该自动的设成手动</a:t>
                </a:r>
              </a:p>
            </p:txBody>
          </p:sp>
          <p:sp>
            <p:nvSpPr>
              <p:cNvPr id="35" name="TextBox 35"/>
              <p:cNvSpPr txBox="1"/>
              <p:nvPr/>
            </p:nvSpPr>
            <p:spPr>
              <a:xfrm>
                <a:off x="5678291" y="5302568"/>
                <a:ext cx="1567567"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第 15 页 · 第 06 页</a:t>
                </a:r>
              </a:p>
            </p:txBody>
          </p:sp>
        </p:grpSp>
      </p:grpSp>
      <p:grpSp>
        <p:nvGrpSpPr>
          <p:cNvPr id="55" name="Group 55"/>
          <p:cNvGrpSpPr/>
          <p:nvPr/>
        </p:nvGrpSpPr>
        <p:grpSpPr>
          <a:xfrm>
            <a:off x="7613142" y="2559368"/>
            <a:ext cx="3969258" cy="2765488"/>
            <a:chOff x="7613142" y="2559368"/>
            <a:chExt cx="3969258" cy="2765488"/>
          </a:xfrm>
        </p:grpSpPr>
        <p:sp>
          <p:nvSpPr>
            <p:cNvPr id="38" name="TextBox 38"/>
            <p:cNvSpPr txBox="1"/>
            <p:nvPr/>
          </p:nvSpPr>
          <p:spPr>
            <a:xfrm>
              <a:off x="7613142" y="2559368"/>
              <a:ext cx="1608963" cy="264033"/>
            </a:xfrm>
            <a:prstGeom prst="rect">
              <a:avLst/>
            </a:prstGeom>
            <a:noFill/>
            <a:ln>
              <a:noFill/>
            </a:ln>
          </p:spPr>
          <p:txBody>
            <a:bodyPr wrap="none" lIns="0" tIns="0" rIns="0" bIns="0" anchor="t" anchorCtr="0">
              <a:spAutoFit/>
            </a:bodyPr>
            <a:lstStyle/>
            <a:p>
              <a:pPr algn="l"/>
              <a:r>
                <a:rPr lang="zh-CN" sz="1350" spc="150" dirty="0">
                  <a:solidFill>
                    <a:schemeClr val="accent1"/>
                  </a:solidFill>
                  <a:latin typeface="+mn-lt"/>
                  <a:ea typeface="+mn-ea"/>
                  <a:cs typeface="+mn-cs"/>
                </a:rPr>
                <a:t>四个可核验的出处</a:t>
              </a:r>
            </a:p>
          </p:txBody>
        </p:sp>
        <p:grpSp>
          <p:nvGrpSpPr>
            <p:cNvPr id="42" name="Group 42"/>
            <p:cNvGrpSpPr/>
            <p:nvPr/>
          </p:nvGrpSpPr>
          <p:grpSpPr>
            <a:xfrm>
              <a:off x="7620000" y="2857500"/>
              <a:ext cx="3962400" cy="581406"/>
              <a:chOff x="7620000" y="2857500"/>
              <a:chExt cx="3962400" cy="581406"/>
            </a:xfrm>
          </p:grpSpPr>
          <p:sp>
            <p:nvSpPr>
              <p:cNvPr id="39" name="Rectangle 39">
                <a:hlinkClick r:id="rId2"/>
              </p:cNvPr>
              <p:cNvSpPr/>
              <p:nvPr/>
            </p:nvSpPr>
            <p:spPr>
              <a:xfrm>
                <a:off x="7620000" y="2857500"/>
                <a:ext cx="3962400" cy="552450"/>
              </a:xfrm>
              <a:prstGeom prst="rect">
                <a:avLst/>
              </a:prstGeom>
              <a:solidFill>
                <a:srgbClr val="16273D"/>
              </a:solidFill>
              <a:ln>
                <a:noFill/>
              </a:ln>
            </p:spPr>
          </p:sp>
          <p:sp>
            <p:nvSpPr>
              <p:cNvPr id="40" name="TextBox 40">
                <a:hlinkClick r:id="rId2"/>
              </p:cNvPr>
              <p:cNvSpPr txBox="1"/>
              <p:nvPr/>
            </p:nvSpPr>
            <p:spPr>
              <a:xfrm>
                <a:off x="7803642" y="2959418"/>
                <a:ext cx="212323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GB 25506-2010 标准全文</a:t>
                </a:r>
              </a:p>
            </p:txBody>
          </p:sp>
          <p:sp>
            <p:nvSpPr>
              <p:cNvPr id="41" name="TextBox 41">
                <a:hlinkClick r:id="rId2"/>
              </p:cNvPr>
              <p:cNvSpPr txBox="1"/>
              <p:nvPr/>
            </p:nvSpPr>
            <p:spPr>
              <a:xfrm>
                <a:off x="7804404" y="3204210"/>
                <a:ext cx="276651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js.119.gov.cn · 江苏省消防救援总队</a:t>
                </a:r>
              </a:p>
            </p:txBody>
          </p:sp>
        </p:grpSp>
        <p:grpSp>
          <p:nvGrpSpPr>
            <p:cNvPr id="46" name="Group 46"/>
            <p:cNvGrpSpPr/>
            <p:nvPr/>
          </p:nvGrpSpPr>
          <p:grpSpPr>
            <a:xfrm>
              <a:off x="7620000" y="3486150"/>
              <a:ext cx="3962400" cy="581406"/>
              <a:chOff x="7620000" y="3486150"/>
              <a:chExt cx="3962400" cy="581406"/>
            </a:xfrm>
          </p:grpSpPr>
          <p:sp>
            <p:nvSpPr>
              <p:cNvPr id="43" name="Rectangle 43">
                <a:hlinkClick r:id="rId3"/>
              </p:cNvPr>
              <p:cNvSpPr/>
              <p:nvPr/>
            </p:nvSpPr>
            <p:spPr>
              <a:xfrm>
                <a:off x="7620000" y="3486150"/>
                <a:ext cx="3962400" cy="552450"/>
              </a:xfrm>
              <a:prstGeom prst="rect">
                <a:avLst/>
              </a:prstGeom>
              <a:solidFill>
                <a:srgbClr val="16273D"/>
              </a:solidFill>
              <a:ln>
                <a:noFill/>
              </a:ln>
            </p:spPr>
          </p:sp>
          <p:sp>
            <p:nvSpPr>
              <p:cNvPr id="44" name="TextBox 44">
                <a:hlinkClick r:id="rId3"/>
              </p:cNvPr>
              <p:cNvSpPr txBox="1"/>
              <p:nvPr/>
            </p:nvSpPr>
            <p:spPr>
              <a:xfrm>
                <a:off x="7803642" y="3588068"/>
                <a:ext cx="273977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国家职业标准《消防设施操作员》</a:t>
                </a:r>
              </a:p>
            </p:txBody>
          </p:sp>
          <p:sp>
            <p:nvSpPr>
              <p:cNvPr id="45" name="TextBox 45">
                <a:hlinkClick r:id="rId3"/>
              </p:cNvPr>
              <p:cNvSpPr txBox="1"/>
              <p:nvPr/>
            </p:nvSpPr>
            <p:spPr>
              <a:xfrm>
                <a:off x="7804404" y="3832860"/>
                <a:ext cx="266959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www.119.gov.cn · 国家消防救援局</a:t>
                </a:r>
              </a:p>
            </p:txBody>
          </p:sp>
        </p:grpSp>
        <p:grpSp>
          <p:nvGrpSpPr>
            <p:cNvPr id="50" name="Group 50"/>
            <p:cNvGrpSpPr/>
            <p:nvPr/>
          </p:nvGrpSpPr>
          <p:grpSpPr>
            <a:xfrm>
              <a:off x="7620000" y="4114800"/>
              <a:ext cx="3962400" cy="581406"/>
              <a:chOff x="7620000" y="4114800"/>
              <a:chExt cx="3962400" cy="581406"/>
            </a:xfrm>
          </p:grpSpPr>
          <p:sp>
            <p:nvSpPr>
              <p:cNvPr id="47" name="Rectangle 47">
                <a:hlinkClick r:id="rId4"/>
              </p:cNvPr>
              <p:cNvSpPr/>
              <p:nvPr/>
            </p:nvSpPr>
            <p:spPr>
              <a:xfrm>
                <a:off x="7620000" y="4114800"/>
                <a:ext cx="3962400" cy="552450"/>
              </a:xfrm>
              <a:prstGeom prst="rect">
                <a:avLst/>
              </a:prstGeom>
              <a:solidFill>
                <a:srgbClr val="16273D"/>
              </a:solidFill>
              <a:ln>
                <a:noFill/>
              </a:ln>
            </p:spPr>
          </p:sp>
          <p:sp>
            <p:nvSpPr>
              <p:cNvPr id="48" name="TextBox 48">
                <a:hlinkClick r:id="rId4"/>
              </p:cNvPr>
              <p:cNvSpPr txBox="1"/>
              <p:nvPr/>
            </p:nvSpPr>
            <p:spPr>
              <a:xfrm>
                <a:off x="7803642" y="4216718"/>
                <a:ext cx="21945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《中华人民共和国消防法》</a:t>
                </a:r>
              </a:p>
            </p:txBody>
          </p:sp>
          <p:sp>
            <p:nvSpPr>
              <p:cNvPr id="49" name="TextBox 49">
                <a:hlinkClick r:id="rId4"/>
              </p:cNvPr>
              <p:cNvSpPr txBox="1"/>
              <p:nvPr/>
            </p:nvSpPr>
            <p:spPr>
              <a:xfrm>
                <a:off x="7804404" y="4461510"/>
                <a:ext cx="234650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www.npc.gov.cn · 中国人大网</a:t>
                </a:r>
              </a:p>
            </p:txBody>
          </p:sp>
        </p:grpSp>
        <p:grpSp>
          <p:nvGrpSpPr>
            <p:cNvPr id="54" name="Group 54"/>
            <p:cNvGrpSpPr/>
            <p:nvPr/>
          </p:nvGrpSpPr>
          <p:grpSpPr>
            <a:xfrm>
              <a:off x="7620000" y="4743450"/>
              <a:ext cx="3962400" cy="581406"/>
              <a:chOff x="7620000" y="4743450"/>
              <a:chExt cx="3962400" cy="581406"/>
            </a:xfrm>
          </p:grpSpPr>
          <p:sp>
            <p:nvSpPr>
              <p:cNvPr id="51" name="Rectangle 51">
                <a:hlinkClick r:id="rId5"/>
              </p:cNvPr>
              <p:cNvSpPr/>
              <p:nvPr/>
            </p:nvSpPr>
            <p:spPr>
              <a:xfrm>
                <a:off x="7620000" y="4743450"/>
                <a:ext cx="3962400" cy="552450"/>
              </a:xfrm>
              <a:prstGeom prst="rect">
                <a:avLst/>
              </a:prstGeom>
              <a:solidFill>
                <a:srgbClr val="16273D"/>
              </a:solidFill>
              <a:ln>
                <a:noFill/>
              </a:ln>
            </p:spPr>
          </p:sp>
          <p:sp>
            <p:nvSpPr>
              <p:cNvPr id="52" name="TextBox 52">
                <a:hlinkClick r:id="rId5"/>
              </p:cNvPr>
              <p:cNvSpPr txBox="1"/>
              <p:nvPr/>
            </p:nvSpPr>
            <p:spPr>
              <a:xfrm>
                <a:off x="7803642" y="4845368"/>
                <a:ext cx="174021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2024 年全国火灾情况</a:t>
                </a:r>
              </a:p>
            </p:txBody>
          </p:sp>
          <p:sp>
            <p:nvSpPr>
              <p:cNvPr id="53" name="TextBox 53">
                <a:hlinkClick r:id="rId5"/>
              </p:cNvPr>
              <p:cNvSpPr txBox="1"/>
              <p:nvPr/>
            </p:nvSpPr>
            <p:spPr>
              <a:xfrm>
                <a:off x="7804404" y="5090160"/>
                <a:ext cx="265343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news.cctv.com · 2025 年 1 月发布</a:t>
                </a:r>
              </a:p>
            </p:txBody>
          </p:sp>
        </p:grpSp>
      </p:grpSp>
      <p:grpSp>
        <p:nvGrpSpPr>
          <p:cNvPr id="59" name="Group 59"/>
          <p:cNvGrpSpPr/>
          <p:nvPr/>
        </p:nvGrpSpPr>
        <p:grpSpPr>
          <a:xfrm>
            <a:off x="907542" y="5734050"/>
            <a:ext cx="10685526" cy="717423"/>
            <a:chOff x="907542" y="5734050"/>
            <a:chExt cx="10685526" cy="717423"/>
          </a:xfrm>
        </p:grpSpPr>
        <p:sp>
          <p:nvSpPr>
            <p:cNvPr id="56" name="Line 56"/>
            <p:cNvSpPr/>
            <p:nvPr/>
          </p:nvSpPr>
          <p:spPr>
            <a:xfrm>
              <a:off x="914400" y="5734050"/>
              <a:ext cx="10668000" cy="9525"/>
            </a:xfrm>
            <a:custGeom>
              <a:avLst/>
              <a:gdLst/>
              <a:ahLst/>
              <a:cxnLst/>
              <a:rect l="l" t="t" r="r" b="b"/>
              <a:pathLst>
                <a:path w="10668000" h="9525">
                  <a:moveTo>
                    <a:pt x="0" y="0"/>
                  </a:moveTo>
                  <a:lnTo>
                    <a:pt x="10668000" y="0"/>
                  </a:lnTo>
                </a:path>
              </a:pathLst>
            </a:custGeom>
            <a:noFill/>
            <a:ln w="28575">
              <a:solidFill>
                <a:schemeClr val="accent1"/>
              </a:solidFill>
            </a:ln>
          </p:spPr>
        </p:sp>
        <p:sp>
          <p:nvSpPr>
            <p:cNvPr id="57" name="TextBox 57"/>
            <p:cNvSpPr txBox="1"/>
            <p:nvPr/>
          </p:nvSpPr>
          <p:spPr>
            <a:xfrm>
              <a:off x="907542" y="5835968"/>
              <a:ext cx="512961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被反复回溯的两页:第 06 页(时限额度)与第 05 页(工作面构成)</a:t>
              </a:r>
            </a:p>
          </p:txBody>
        </p:sp>
        <p:sp>
          <p:nvSpPr>
            <p:cNvPr id="58" name="TextBox 58"/>
            <p:cNvSpPr txBox="1"/>
            <p:nvPr/>
          </p:nvSpPr>
          <p:spPr>
            <a:xfrm>
              <a:off x="7287383" y="6040755"/>
              <a:ext cx="4305685" cy="410718"/>
            </a:xfrm>
            <a:prstGeom prst="rect">
              <a:avLst/>
            </a:prstGeom>
            <a:noFill/>
            <a:ln>
              <a:noFill/>
            </a:ln>
          </p:spPr>
          <p:txBody>
            <a:bodyPr wrap="none" lIns="0" tIns="0" rIns="0" bIns="0" anchor="t" anchorCtr="0">
              <a:spAutoFit/>
            </a:bodyPr>
            <a:lstStyle/>
            <a:p>
              <a:pPr algn="r"/>
              <a:r>
                <a:rPr lang="zh-CN" sz="2100" b="1" dirty="0">
                  <a:solidFill>
                    <a:schemeClr val="accent2"/>
                  </a:solidFill>
                  <a:latin typeface="+mn-lt"/>
                  <a:ea typeface="+mn-ea"/>
                  <a:cs typeface="+mn-cs"/>
                </a:rPr>
                <a:t>接到信号那一刻,先定级,再动作。</a:t>
              </a:r>
            </a:p>
          </p:txBody>
        </p:sp>
      </p:grpSp>
      <p:grpSp>
        <p:nvGrpSpPr>
          <p:cNvPr id="62" name="Group 62"/>
          <p:cNvGrpSpPr/>
          <p:nvPr/>
        </p:nvGrpSpPr>
        <p:grpSpPr>
          <a:xfrm>
            <a:off x="908304" y="6461760"/>
            <a:ext cx="10680192" cy="234696"/>
            <a:chOff x="908304" y="6461760"/>
            <a:chExt cx="10680192" cy="234696"/>
          </a:xfrm>
        </p:grpSpPr>
        <p:sp>
          <p:nvSpPr>
            <p:cNvPr id="60" name="TextBox 60"/>
            <p:cNvSpPr txBox="1"/>
            <p:nvPr/>
          </p:nvSpPr>
          <p:spPr>
            <a:xfrm>
              <a:off x="908304" y="6461760"/>
              <a:ext cx="364693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内部培训材料 · 2026 · 分级与整理项已在各页标注</a:t>
              </a:r>
            </a:p>
          </p:txBody>
        </p:sp>
        <p:sp>
          <p:nvSpPr>
            <p:cNvPr id="61" name="TextBox 61"/>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55"/>
                                        </p:tgtEl>
                                        <p:attrNameLst>
                                          <p:attrName>style.visibility</p:attrName>
                                        </p:attrNameLst>
                                      </p:cBhvr>
                                      <p:to>
                                        <p:strVal val="visible"/>
                                      </p:to>
                                    </p:set>
                                    <p:animEffect transition="in" filter="fade">
                                      <p:cBhvr>
                                        <p:cTn id="11" dur="500"/>
                                        <p:tgtEl>
                                          <p:spTgt spid="55"/>
                                        </p:tgtEl>
                                      </p:cBhvr>
                                    </p:animEffect>
                                  </p:childTnLst>
                                </p:cTn>
                              </p:par>
                            </p:childTnLst>
                          </p:cTn>
                        </p:par>
                        <p:par>
                          <p:cTn id="12" fill="hold">
                            <p:stCondLst>
                              <p:cond delay="1500"/>
                            </p:stCondLst>
                            <p:childTnLst>
                              <p:par>
                                <p:cTn xmlns:p="http://schemas.openxmlformats.org/presentationml/2006/main" id="13" presetID="37" presetClass="entr" presetSubtype="0" fill="hold" grpId="0" nodeType="afterEffect">
                                  <p:stCondLst>
                                    <p:cond delay="50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600"/>
                                        <p:tgtEl>
                                          <p:spTgt spid="59"/>
                                        </p:tgtEl>
                                      </p:cBhvr>
                                    </p:animEffect>
                                    <p:anim calcmode="lin" valueType="num">
                                      <p:cBhvr>
                                        <p:cTn id="16" dur="600" fill="hold"/>
                                        <p:tgtEl>
                                          <p:spTgt spid="59"/>
                                        </p:tgtEl>
                                        <p:attrNameLst>
                                          <p:attrName>ppt_x</p:attrName>
                                        </p:attrNameLst>
                                      </p:cBhvr>
                                      <p:tavLst>
                                        <p:tav tm="0">
                                          <p:val>
                                            <p:strVal val="#ppt_x"/>
                                          </p:val>
                                        </p:tav>
                                        <p:tav tm="100000">
                                          <p:val>
                                            <p:strVal val="#ppt_x"/>
                                          </p:val>
                                        </p:tav>
                                      </p:tavLst>
                                    </p:anim>
                                    <p:anim calcmode="lin" valueType="num">
                                      <p:cBhvr>
                                        <p:cTn id="17" dur="540" decel="100000" fill="hold"/>
                                        <p:tgtEl>
                                          <p:spTgt spid="59"/>
                                        </p:tgtEl>
                                        <p:attrNameLst>
                                          <p:attrName>ppt_y</p:attrName>
                                        </p:attrNameLst>
                                      </p:cBhvr>
                                      <p:tavLst>
                                        <p:tav tm="0">
                                          <p:val>
                                            <p:strVal val="#ppt_y+1"/>
                                          </p:val>
                                        </p:tav>
                                        <p:tav tm="100000">
                                          <p:val>
                                            <p:strVal val="#ppt_y-.03"/>
                                          </p:val>
                                        </p:tav>
                                      </p:tavLst>
                                    </p:anim>
                                    <p:anim calcmode="lin" valueType="num">
                                      <p:cBhvr>
                                        <p:cTn id="18" dur="60" accel="100000" fill="hold">
                                          <p:stCondLst>
                                            <p:cond delay="540"/>
                                          </p:stCondLst>
                                        </p:cTn>
                                        <p:tgtEl>
                                          <p:spTgt spid="5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fire_control_room_duty_manual">
  <a:themeElements>
    <a:clrScheme name="ppt169_fire_control_room_duty_manual">
      <a:dk1>
        <a:srgbClr val="DCE6F0"/>
      </a:dk1>
      <a:lt1>
        <a:srgbClr val="0E1B2E"/>
      </a:lt1>
      <a:dk2>
        <a:srgbClr val="1F497D"/>
      </a:dk2>
      <a:lt2>
        <a:srgbClr val="1A2C46"/>
      </a:lt2>
      <a:accent1>
        <a:srgbClr val="4A9FD8"/>
      </a:accent1>
      <a:accent2>
        <a:srgbClr val="D8F04A"/>
      </a:accent2>
      <a:accent3>
        <a:srgbClr val="E85D2B"/>
      </a:accent3>
      <a:accent4>
        <a:srgbClr val="4A9FD8"/>
      </a:accent4>
      <a:accent5>
        <a:srgbClr val="8FA3BC"/>
      </a:accent5>
      <a:accent6>
        <a:srgbClr val="2A3F5C"/>
      </a:accent6>
      <a:hlink>
        <a:srgbClr val="D8F04A"/>
      </a:hlink>
      <a:folHlink>
        <a:srgbClr val="E85D2B"/>
      </a:folHlink>
    </a:clrScheme>
    <a:fontScheme name="ppt169_fire_control_room_duty_manu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fire_control_room_duty_manu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fire_control_room_duty_manual">
  <a:themeElements>
    <a:clrScheme name="ppt169_fire_control_room_duty_manual">
      <a:dk1>
        <a:srgbClr val="DCE6F0"/>
      </a:dk1>
      <a:lt1>
        <a:srgbClr val="0E1B2E"/>
      </a:lt1>
      <a:dk2>
        <a:srgbClr val="1F497D"/>
      </a:dk2>
      <a:lt2>
        <a:srgbClr val="1A2C46"/>
      </a:lt2>
      <a:accent1>
        <a:srgbClr val="4A9FD8"/>
      </a:accent1>
      <a:accent2>
        <a:srgbClr val="D8F04A"/>
      </a:accent2>
      <a:accent3>
        <a:srgbClr val="E85D2B"/>
      </a:accent3>
      <a:accent4>
        <a:srgbClr val="4A9FD8"/>
      </a:accent4>
      <a:accent5>
        <a:srgbClr val="8FA3BC"/>
      </a:accent5>
      <a:accent6>
        <a:srgbClr val="2A3F5C"/>
      </a:accent6>
      <a:hlink>
        <a:srgbClr val="D8F04A"/>
      </a:hlink>
      <a:folHlink>
        <a:srgbClr val="E85D2B"/>
      </a:folHlink>
    </a:clrScheme>
    <a:fontScheme name="ppt169_fire_control_room_duty_manu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fire_control_room_duty_manu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2026-09-11T03:49:01Z</dcterms:created>
  <dcterms:modified xsi:type="dcterms:W3CDTF">2026-09-11T03:49:01Z</dcterms:modified>
  <cp:category/>
  <cp:contentStatus/>
</cp:coreProperties>
</file>