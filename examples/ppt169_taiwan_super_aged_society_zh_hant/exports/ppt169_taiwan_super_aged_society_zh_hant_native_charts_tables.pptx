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rts/chart1001.xml" ContentType="application/vnd.openxmlformats-officedocument.drawingml.chart+xml"/>
  <Override PartName="/ppt/charts/chart1101.xml" ContentType="application/vnd.openxmlformats-officedocument.drawingml.chart+xml"/>
  <Override PartName="/ppt/charts/chart701.xml" ContentType="application/vnd.openxmlformats-officedocument.drawingml.char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16x9"/>
  <p:notesSz cx="6858000" cy="9144000"/>
  <p:defaultTextStyle>
    <a:defPPr>
      <a:defRPr lang="zh-TW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  <Relationship Id="rId22" Type="http://schemas.openxmlformats.org/officeDocument/2006/relationships/notesMaster" Target="notesMasters/notesMaster1.xml"/>
</Relationships>
</file>

<file path=ppt/charts/_rels/chart7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701.xlsx"/>
</Relationships>
</file>

<file path=ppt/charts/_rels/chart10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1001.xlsx"/>
</Relationships>
</file>

<file path=ppt/charts/_rels/chart11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1101.xlsx"/>
</Relationships>
</file>

<file path=ppt/charts/chart7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372093023256"/>
          <c:y val="0.0666666666667"/>
          <c:w val="0.911627906977"/>
          <c:h val="0.82222222222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出生數</c:v>
                </c:pt>
              </c:strCache>
            </c:strRef>
          </c:tx>
          <c:spPr>
            <a:solidFill>
              <a:schemeClr val="accent3"/>
            </a:solidFill>
            <a:ln w="28575">
              <a:solidFill>
                <a:schemeClr val="accent3"/>
              </a:solidFill>
            </a:ln>
          </c:spPr>
          <c:marker>
            <c:symbol val="none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numFmt formatCode="0.0&quot;萬人&quot;" sourceLinked="0"/>
              <c:txPr>
                <a:bodyPr/>
                <a:lstStyle/>
                <a:p>
                  <a:pPr>
                    <a:defRPr lang="zh-TW" sz="1350" b="1">
                      <a:solidFill>
                        <a:schemeClr val="accent3"/>
                      </a:solidFill>
                      <a:latin typeface="Microsoft JhengHei"/>
                      <a:ea typeface="Microsoft JhengHei"/>
                      <a:cs typeface="Microsoft JhengHei"/>
                    </a:defRPr>
                  </a:pPr>
                  <a:endParaRPr lang="zh-TW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numFmt formatCode="0.0&quot;萬人&quot;" sourceLinked="0"/>
              <c:txPr>
                <a:bodyPr/>
                <a:lstStyle/>
                <a:p>
                  <a:pPr>
                    <a:defRPr lang="zh-TW" sz="1350" b="1">
                      <a:solidFill>
                        <a:schemeClr val="accent3"/>
                      </a:solidFill>
                      <a:latin typeface="Microsoft JhengHei"/>
                      <a:ea typeface="Microsoft JhengHei"/>
                      <a:cs typeface="Microsoft JhengHei"/>
                    </a:defRPr>
                  </a:pPr>
                  <a:endParaRPr lang="zh-TW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aderLines val="0"/>
          </c:dLbls>
          <c:cat>
            <c:strRef>
              <c:f>Sheet1!$A$2:$A$19</c:f>
              <c:strCache>
                <c:ptCount val="18"/>
                <c:pt idx="0">
                  <c:v>1990</c:v>
                </c:pt>
                <c:pt idx="1">
                  <c:v>1995</c:v>
                </c:pt>
                <c:pt idx="2">
                  <c:v>2000</c:v>
                </c:pt>
                <c:pt idx="3">
                  <c:v>2005</c:v>
                </c:pt>
                <c:pt idx="4">
                  <c:v>2010</c:v>
                </c:pt>
                <c:pt idx="5">
                  <c:v>2015</c:v>
                </c:pt>
                <c:pt idx="6">
                  <c:v>2020</c:v>
                </c:pt>
                <c:pt idx="7">
                  <c:v>2025</c:v>
                </c:pt>
                <c:pt idx="8">
                  <c:v>2030</c:v>
                </c:pt>
                <c:pt idx="9">
                  <c:v>2035</c:v>
                </c:pt>
                <c:pt idx="10">
                  <c:v>2040</c:v>
                </c:pt>
                <c:pt idx="11">
                  <c:v>2045</c:v>
                </c:pt>
                <c:pt idx="12">
                  <c:v>2050</c:v>
                </c:pt>
                <c:pt idx="13">
                  <c:v>2055</c:v>
                </c:pt>
                <c:pt idx="14">
                  <c:v>2060</c:v>
                </c:pt>
                <c:pt idx="15">
                  <c:v>2065</c:v>
                </c:pt>
                <c:pt idx="16">
                  <c:v>2070</c:v>
                </c:pt>
                <c:pt idx="17">
                  <c:v>2075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33.6</c:v>
                </c:pt>
                <c:pt idx="1">
                  <c:v>33</c:v>
                </c:pt>
                <c:pt idx="2">
                  <c:v>30.5</c:v>
                </c:pt>
                <c:pt idx="3">
                  <c:v>20.6</c:v>
                </c:pt>
                <c:pt idx="4">
                  <c:v>16.7</c:v>
                </c:pt>
                <c:pt idx="5">
                  <c:v>21.4</c:v>
                </c:pt>
                <c:pt idx="6">
                  <c:v>16.5</c:v>
                </c:pt>
                <c:pt idx="7">
                  <c:v>10.8</c:v>
                </c:pt>
                <c:pt idx="8">
                  <c:v>7.9</c:v>
                </c:pt>
                <c:pt idx="9">
                  <c:v>6.8</c:v>
                </c:pt>
                <c:pt idx="10">
                  <c:v>6</c:v>
                </c:pt>
                <c:pt idx="11">
                  <c:v>5.7</c:v>
                </c:pt>
                <c:pt idx="12">
                  <c:v>5.6</c:v>
                </c:pt>
                <c:pt idx="13">
                  <c:v>5</c:v>
                </c:pt>
                <c:pt idx="14">
                  <c:v>4.1</c:v>
                </c:pt>
                <c:pt idx="15">
                  <c:v>3.3</c:v>
                </c:pt>
                <c:pt idx="16">
                  <c:v>2.9</c:v>
                </c:pt>
                <c:pt idx="17">
                  <c:v>2.7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死亡數</c:v>
                </c:pt>
              </c:strCache>
            </c:strRef>
          </c:tx>
          <c:spPr>
            <a:solidFill>
              <a:schemeClr val="accent1"/>
            </a:solidFill>
            <a:ln w="28575">
              <a:solidFill>
                <a:schemeClr val="accent1"/>
              </a:solidFill>
            </a:ln>
          </c:spPr>
          <c:marker>
            <c:symbol val="none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numFmt formatCode="0.0&quot;萬人&quot;" sourceLinked="0"/>
              <c:txPr>
                <a:bodyPr/>
                <a:lstStyle/>
                <a:p>
                  <a:pPr>
                    <a:defRPr lang="zh-TW" sz="1350" b="1">
                      <a:solidFill>
                        <a:schemeClr val="accent1"/>
                      </a:solidFill>
                      <a:latin typeface="Microsoft JhengHei"/>
                      <a:ea typeface="Microsoft JhengHei"/>
                      <a:cs typeface="Microsoft JhengHei"/>
                    </a:defRPr>
                  </a:pPr>
                  <a:endParaRPr lang="zh-TW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numFmt formatCode="0.0&quot;萬人&quot;" sourceLinked="0"/>
              <c:txPr>
                <a:bodyPr/>
                <a:lstStyle/>
                <a:p>
                  <a:pPr>
                    <a:defRPr lang="zh-TW" sz="1350" b="1">
                      <a:solidFill>
                        <a:schemeClr val="accent1"/>
                      </a:solidFill>
                      <a:latin typeface="Microsoft JhengHei"/>
                      <a:ea typeface="Microsoft JhengHei"/>
                      <a:cs typeface="Microsoft JhengHei"/>
                    </a:defRPr>
                  </a:pPr>
                  <a:endParaRPr lang="zh-TW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aderLines val="0"/>
          </c:dLbls>
          <c:cat>
            <c:strRef>
              <c:f>Sheet1!$A$2:$A$19</c:f>
              <c:strCache>
                <c:ptCount val="18"/>
                <c:pt idx="0">
                  <c:v>1990</c:v>
                </c:pt>
                <c:pt idx="1">
                  <c:v>1995</c:v>
                </c:pt>
                <c:pt idx="2">
                  <c:v>2000</c:v>
                </c:pt>
                <c:pt idx="3">
                  <c:v>2005</c:v>
                </c:pt>
                <c:pt idx="4">
                  <c:v>2010</c:v>
                </c:pt>
                <c:pt idx="5">
                  <c:v>2015</c:v>
                </c:pt>
                <c:pt idx="6">
                  <c:v>2020</c:v>
                </c:pt>
                <c:pt idx="7">
                  <c:v>2025</c:v>
                </c:pt>
                <c:pt idx="8">
                  <c:v>2030</c:v>
                </c:pt>
                <c:pt idx="9">
                  <c:v>2035</c:v>
                </c:pt>
                <c:pt idx="10">
                  <c:v>2040</c:v>
                </c:pt>
                <c:pt idx="11">
                  <c:v>2045</c:v>
                </c:pt>
                <c:pt idx="12">
                  <c:v>2050</c:v>
                </c:pt>
                <c:pt idx="13">
                  <c:v>2055</c:v>
                </c:pt>
                <c:pt idx="14">
                  <c:v>2060</c:v>
                </c:pt>
                <c:pt idx="15">
                  <c:v>2065</c:v>
                </c:pt>
                <c:pt idx="16">
                  <c:v>2070</c:v>
                </c:pt>
                <c:pt idx="17">
                  <c:v>2075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10.6</c:v>
                </c:pt>
                <c:pt idx="1">
                  <c:v>11.9</c:v>
                </c:pt>
                <c:pt idx="2">
                  <c:v>12.6</c:v>
                </c:pt>
                <c:pt idx="3">
                  <c:v>13.9</c:v>
                </c:pt>
                <c:pt idx="4">
                  <c:v>14.6</c:v>
                </c:pt>
                <c:pt idx="5">
                  <c:v>16.4</c:v>
                </c:pt>
                <c:pt idx="6">
                  <c:v>17.3</c:v>
                </c:pt>
                <c:pt idx="7">
                  <c:v>20</c:v>
                </c:pt>
                <c:pt idx="8">
                  <c:v>21.4</c:v>
                </c:pt>
                <c:pt idx="9">
                  <c:v>23.7</c:v>
                </c:pt>
                <c:pt idx="10">
                  <c:v>26.3</c:v>
                </c:pt>
                <c:pt idx="11">
                  <c:v>28.8</c:v>
                </c:pt>
                <c:pt idx="12">
                  <c:v>30.6</c:v>
                </c:pt>
                <c:pt idx="13">
                  <c:v>31.5</c:v>
                </c:pt>
                <c:pt idx="14">
                  <c:v>31.8</c:v>
                </c:pt>
                <c:pt idx="15">
                  <c:v>31.7</c:v>
                </c:pt>
                <c:pt idx="16">
                  <c:v>31.4</c:v>
                </c:pt>
                <c:pt idx="17">
                  <c:v>30.5</c:v>
                </c:pt>
              </c:numCache>
            </c:numRef>
          </c:val>
          <c:smooth val="0"/>
        </c:ser>
        <c:marker val="1"/>
        <c:smooth val="0"/>
        <c:axId val="2068027336"/>
        <c:axId val="2113994440"/>
      </c:line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chemeClr val="accent1"/>
            </a:solidFill>
            <a:round/>
          </a:ln>
        </c:spPr>
        <c:txPr>
          <a:bodyPr/>
          <a:lstStyle/>
          <a:p>
            <a:pPr>
              <a:defRPr lang="zh-TW" sz="1200">
                <a:solidFill>
                  <a:srgbClr val="1E232B"/>
                </a:solidFill>
                <a:latin typeface="Microsoft JhengHei"/>
                <a:ea typeface="Microsoft JhengHei"/>
                <a:cs typeface="Microsoft JhengHei"/>
              </a:defRPr>
            </a:pPr>
            <a:endParaRPr lang="zh-TW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35"/>
          <c:min val="0"/>
        </c:scaling>
        <c:delete val="0"/>
        <c:axPos val="l"/>
        <c:majorGridlines>
          <c:spPr>
            <a:ln w="6350" cap="flat" cmpd="sng" algn="ctr">
              <a:solidFill>
                <a:srgbClr val="E3DCCF"/>
              </a:solidFill>
              <a:round/>
            </a:ln>
          </c:spPr>
        </c:majorGridlines>
        <c:title>
          <c:tx>
            <c:rich>
              <a:bodyPr/>
              <a:lstStyle/>
              <a:p>
                <a:pPr/>
                <a:r>
                  <a:rPr lang="zh-TW" sz="1200">
                    <a:solidFill>
                      <a:srgbClr val="1E232B"/>
                    </a:solidFill>
                    <a:latin typeface="Microsoft JhengHei"/>
                    <a:ea typeface="Microsoft JhengHei"/>
                    <a:cs typeface="Microsoft JhengHei"/>
                  </a:rPr>
                  <a:t>萬人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chemeClr val="accent1"/>
            </a:solidFill>
            <a:round/>
          </a:ln>
        </c:spPr>
        <c:txPr>
          <a:bodyPr/>
          <a:lstStyle/>
          <a:p>
            <a:pPr>
              <a:defRPr lang="zh-TW" sz="1200">
                <a:solidFill>
                  <a:srgbClr val="1E232B"/>
                </a:solidFill>
                <a:latin typeface="Microsoft JhengHei"/>
                <a:ea typeface="Microsoft JhengHei"/>
                <a:cs typeface="Microsoft JhengHei"/>
              </a:defRPr>
            </a:pPr>
            <a:endParaRPr lang="zh-TW"/>
          </a:p>
        </c:txPr>
        <c:crossAx val="2068027336"/>
        <c:crosses val="autoZero"/>
        <c:crossBetween val="midCat"/>
        <c:majorUnit val="5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zh-TW" sz="1200">
          <a:solidFill>
            <a:srgbClr val="1E232B"/>
          </a:solidFill>
          <a:latin typeface="Microsoft JhengHei"/>
          <a:ea typeface="Microsoft JhengHei"/>
          <a:cs typeface="Microsoft JhengHei"/>
        </a:defRPr>
      </a:pPr>
      <a:endParaRPr lang="zh-TW"/>
    </a:p>
  </c:txPr>
  <c:externalData r:id="rId1">
    <c:autoUpdate val="0"/>
  </c:externalData>
</c:chartSpace>
</file>

<file path=ppt/charts/chart10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561797752809"/>
          <c:y val="0.0666666666667"/>
          <c:w val="0.921348314607"/>
          <c:h val="0.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扶幼比（0–14 歲）</c:v>
                </c:pt>
              </c:strCache>
            </c:strRef>
          </c:tx>
          <c:spPr>
            <a:solidFill>
              <a:schemeClr val="accent3"/>
            </a:solidFill>
            <a:ln>
              <a:solidFill>
                <a:schemeClr val="accent3"/>
              </a:solidFill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2035</c:v>
                </c:pt>
                <c:pt idx="2">
                  <c:v>2045</c:v>
                </c:pt>
                <c:pt idx="3">
                  <c:v>2055</c:v>
                </c:pt>
                <c:pt idx="4">
                  <c:v>2065</c:v>
                </c:pt>
                <c:pt idx="5">
                  <c:v>2075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16.4</c:v>
                </c:pt>
                <c:pt idx="1">
                  <c:v>10.7</c:v>
                </c:pt>
                <c:pt idx="2">
                  <c:v>8.9</c:v>
                </c:pt>
                <c:pt idx="3">
                  <c:v>10.3</c:v>
                </c:pt>
                <c:pt idx="4">
                  <c:v>11.6</c:v>
                </c:pt>
                <c:pt idx="5">
                  <c:v>11.4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扶老比（65 歲以上）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accent2"/>
              </a:solidFill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2035</c:v>
                </c:pt>
                <c:pt idx="2">
                  <c:v>2045</c:v>
                </c:pt>
                <c:pt idx="3">
                  <c:v>2055</c:v>
                </c:pt>
                <c:pt idx="4">
                  <c:v>2065</c:v>
                </c:pt>
                <c:pt idx="5">
                  <c:v>2075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30.8</c:v>
                </c:pt>
                <c:pt idx="1">
                  <c:v>44.5</c:v>
                </c:pt>
                <c:pt idx="2">
                  <c:v>63.9</c:v>
                </c:pt>
                <c:pt idx="3">
                  <c:v>86.1</c:v>
                </c:pt>
                <c:pt idx="4">
                  <c:v>113.3</c:v>
                </c:pt>
                <c:pt idx="5">
                  <c:v>125.2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lang="zh-TW" sz="1200" b="1">
                  <a:solidFill>
                    <a:srgbClr val="FFFFFF"/>
                  </a:solidFill>
                  <a:latin typeface="Microsoft JhengHei"/>
                  <a:ea typeface="Microsoft JhengHei"/>
                  <a:cs typeface="Microsoft JhengHei"/>
                </a:defRPr>
              </a:pPr>
              <a:endParaRPr lang="zh-TW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1"/>
        <c:overlap val="10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chemeClr val="accent1"/>
            </a:solidFill>
            <a:round/>
          </a:ln>
        </c:spPr>
        <c:txPr>
          <a:bodyPr/>
          <a:lstStyle/>
          <a:p>
            <a:pPr>
              <a:defRPr lang="zh-TW" sz="1200">
                <a:solidFill>
                  <a:srgbClr val="1E232B"/>
                </a:solidFill>
                <a:latin typeface="Microsoft JhengHei"/>
                <a:ea typeface="Microsoft JhengHei"/>
                <a:cs typeface="Microsoft JhengHei"/>
              </a:defRPr>
            </a:pPr>
            <a:endParaRPr lang="zh-TW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140"/>
          <c:min val="0"/>
        </c:scaling>
        <c:delete val="0"/>
        <c:axPos val="l"/>
        <c:majorGridlines>
          <c:spPr>
            <a:ln w="6350" cap="flat" cmpd="sng" algn="ctr">
              <a:solidFill>
                <a:srgbClr val="E3DCCF"/>
              </a:solidFill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chemeClr val="accent1"/>
            </a:solidFill>
            <a:round/>
          </a:ln>
        </c:spPr>
        <c:txPr>
          <a:bodyPr/>
          <a:lstStyle/>
          <a:p>
            <a:pPr>
              <a:defRPr lang="zh-TW" sz="1200">
                <a:solidFill>
                  <a:srgbClr val="1E232B"/>
                </a:solidFill>
                <a:latin typeface="Microsoft JhengHei"/>
                <a:ea typeface="Microsoft JhengHei"/>
                <a:cs typeface="Microsoft JhengHei"/>
              </a:defRPr>
            </a:pPr>
            <a:endParaRPr lang="zh-TW"/>
          </a:p>
        </c:txPr>
        <c:crossAx val="2068027336"/>
        <c:crosses val="autoZero"/>
        <c:crossBetween val="between"/>
        <c:majorUnit val="20"/>
      </c:valAx>
      <c:spPr>
        <a:noFill/>
        <a:ln>
          <a:noFill/>
        </a:ln>
      </c:spPr>
    </c:plotArea>
    <c:legend>
      <c:legendPos val="t"/>
      <c:layout/>
      <c:overlay val="0"/>
      <c:txPr>
        <a:bodyPr/>
        <a:lstStyle/>
        <a:p>
          <a:pPr>
            <a:defRPr lang="zh-TW" sz="1350">
              <a:solidFill>
                <a:srgbClr val="1E232B"/>
              </a:solidFill>
              <a:latin typeface="Microsoft JhengHei"/>
              <a:ea typeface="Microsoft JhengHei"/>
              <a:cs typeface="Microsoft JhengHei"/>
            </a:defRPr>
          </a:pPr>
          <a:endParaRPr lang="zh-TW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lang="zh-TW" sz="1200">
          <a:solidFill>
            <a:srgbClr val="1E232B"/>
          </a:solidFill>
          <a:latin typeface="Microsoft JhengHei"/>
          <a:ea typeface="Microsoft JhengHei"/>
          <a:cs typeface="Microsoft JhengHei"/>
        </a:defRPr>
      </a:pPr>
      <a:endParaRPr lang="zh-TW"/>
    </a:p>
  </c:txPr>
  <c:externalData r:id="rId1">
    <c:autoUpdate val="0"/>
  </c:externalData>
</c:chartSpace>
</file>

<file path=ppt/charts/chart11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833333333333"/>
          <c:y val="0.15625"/>
          <c:w val="0.916666666667"/>
          <c:h val="0.75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15–24 歲</c:v>
                </c:pt>
              </c:strCache>
            </c:strRef>
          </c:tx>
          <c:spPr>
            <a:solidFill>
              <a:srgbClr val="A9B8CB"/>
            </a:solidFill>
            <a:ln>
              <a:solidFill>
                <a:srgbClr val="A9B8CB"/>
              </a:solidFill>
            </a:ln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lang="zh-TW" sz="1350" b="1">
                    <a:solidFill>
                      <a:srgbClr val="1E232B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2026</c:v>
                </c:pt>
                <c:pt idx="1">
                  <c:v>2040</c:v>
                </c:pt>
                <c:pt idx="2">
                  <c:v>2075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13.1</c:v>
                </c:pt>
                <c:pt idx="1">
                  <c:v>12.4</c:v>
                </c:pt>
                <c:pt idx="2">
                  <c:v>11.2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25–44 歲</c:v>
                </c:pt>
              </c:strCache>
            </c:strRef>
          </c:tx>
          <c:spPr>
            <a:solidFill>
              <a:srgbClr val="6F87A6"/>
            </a:solidFill>
            <a:ln>
              <a:solidFill>
                <a:srgbClr val="6F87A6"/>
              </a:solidFill>
            </a:ln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lang="zh-TW" sz="1350" b="1">
                    <a:solidFill>
                      <a:srgbClr val="FFFFFF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2026</c:v>
                </c:pt>
                <c:pt idx="1">
                  <c:v>2040</c:v>
                </c:pt>
                <c:pt idx="2">
                  <c:v>2075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40.6</c:v>
                </c:pt>
                <c:pt idx="1">
                  <c:v>35.7</c:v>
                </c:pt>
                <c:pt idx="2">
                  <c:v>28.1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45–64 歲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lang="zh-TW" sz="1350" b="1">
                    <a:solidFill>
                      <a:srgbClr val="FFFFFF"/>
                    </a:solidFill>
                    <a:latin typeface="Microsoft JhengHei"/>
                    <a:ea typeface="Microsoft JhengHei"/>
                    <a:cs typeface="Microsoft JhengHei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2026</c:v>
                </c:pt>
                <c:pt idx="1">
                  <c:v>2040</c:v>
                </c:pt>
                <c:pt idx="2">
                  <c:v>2075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46.3</c:v>
                </c:pt>
                <c:pt idx="1">
                  <c:v>51.9</c:v>
                </c:pt>
                <c:pt idx="2">
                  <c:v>60.8</c:v>
                </c:pt>
              </c:numCache>
            </c:numRef>
          </c:val>
        </c:ser>
        <c:gapWidth val="67"/>
        <c:overlap val="100"/>
        <c:axId val="2068027336"/>
        <c:axId val="2113994440"/>
      </c:barChart>
      <c:catAx>
        <c:axId val="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 cap="flat" cmpd="sng" algn="ctr">
            <a:solidFill>
              <a:schemeClr val="accent1"/>
            </a:solidFill>
            <a:round/>
          </a:ln>
        </c:spPr>
        <c:txPr>
          <a:bodyPr/>
          <a:lstStyle/>
          <a:p>
            <a:pPr>
              <a:defRPr lang="zh-TW" sz="1350">
                <a:solidFill>
                  <a:srgbClr val="1E232B"/>
                </a:solidFill>
                <a:latin typeface="Microsoft JhengHei"/>
                <a:ea typeface="Microsoft JhengHei"/>
                <a:cs typeface="Microsoft JhengHei"/>
              </a:defRPr>
            </a:pPr>
            <a:endParaRPr lang="zh-TW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</c:scaling>
        <c:delete val="1"/>
        <c:axPos val="b"/>
        <c:numFmt formatCode="0%" sourceLinked="0"/>
        <c:majorTickMark val="none"/>
        <c:minorTickMark val="none"/>
        <c:tickLblPos val="nextTo"/>
        <c:spPr>
          <a:ln w="9525" cap="flat" cmpd="sng" algn="ctr">
            <a:solidFill>
              <a:schemeClr val="accent1"/>
            </a:solidFill>
            <a:round/>
          </a:ln>
        </c:spPr>
        <c:txPr>
          <a:bodyPr/>
          <a:lstStyle/>
          <a:p>
            <a:pPr>
              <a:defRPr lang="zh-TW" sz="1350">
                <a:solidFill>
                  <a:srgbClr val="1E232B"/>
                </a:solidFill>
                <a:latin typeface="Microsoft JhengHei"/>
                <a:ea typeface="Microsoft JhengHei"/>
                <a:cs typeface="Microsoft JhengHei"/>
              </a:defRPr>
            </a:pPr>
            <a:endParaRPr lang="zh-TW"/>
          </a:p>
        </c:txPr>
        <c:crossAx val="2068027336"/>
        <c:crosses val="max"/>
        <c:crossBetween val="between"/>
      </c:valAx>
      <c:spPr>
        <a:noFill/>
        <a:ln>
          <a:noFill/>
        </a:ln>
      </c:spPr>
    </c:plotArea>
    <c:legend>
      <c:legendPos val="t"/>
      <c:layout/>
      <c:overlay val="0"/>
      <c:txPr>
        <a:bodyPr/>
        <a:lstStyle/>
        <a:p>
          <a:pPr>
            <a:defRPr lang="zh-TW" sz="1350">
              <a:solidFill>
                <a:srgbClr val="1E232B"/>
              </a:solidFill>
              <a:latin typeface="Microsoft JhengHei"/>
              <a:ea typeface="Microsoft JhengHei"/>
              <a:cs typeface="Microsoft JhengHei"/>
            </a:defRPr>
          </a:pPr>
          <a:endParaRPr lang="zh-TW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lang="zh-TW" sz="1350">
          <a:solidFill>
            <a:srgbClr val="1E232B"/>
          </a:solidFill>
          <a:latin typeface="Microsoft JhengHei"/>
          <a:ea typeface="Microsoft JhengHei"/>
          <a:cs typeface="Microsoft JhengHei"/>
        </a:defRPr>
      </a:pPr>
      <a:endParaRPr lang="zh-TW"/>
    </a:p>
  </c:tx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TW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T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TW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各位好，今天要談的是一件已經發生、而不是即將發生的事：臺灣進入了超高齡社會。根據內政部公布的戶籍統計，2025 年 12 月底，65 歲以上的人口占總人口的 20.06%，也就是每 5 個人裡，就有 1 位 65 歲以上。接下來的時間，我們主要依據國家發展委員會今年 8 月 28 日發布的《中華民國人口推估（2026 年至 2075 年）》，看看跨過 20% 之後，臺灣的人口結構會怎麼重新排列。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先把名詞講清楚。高齡化社會、高齡社會、超高齡社會，看的都是同一個比率：65 歲以上的人占總人口多少。跨過 7% 叫高齡化社會，跨過 14% 叫高齡社會，跨過 20% 就是超高齡社會。去年底臺灣 65 歲以上的人口是 467 萬 3,155 人，占總人口 2,329 萬 9,132 人的 20.06%，正式跨過了第三道門檻。所以今天說的「超高齡」，不是形容詞，而是一個有明確定義的統計門檻。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門檻本身不稀奇，值得注意的是門檻之間的時間差。臺灣在 1993 年跨過 7%，當時 65 歲以上約 149 萬人；2018 年跨過 14%，約 343 萬人；2025 年跨過 20%，約 467 萬人。從 7% 到 14% 花了 25 年，從 14% 到 20% 只花了 7 年，還不到前一段的三分之一。換句話說，老化不是等速前進，而是在加速。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那 20% 之後呢？同一把時間尺往後拉長來看。依國發會的中推估，65 歲以上人口占比在 2037 年會超過 30%，大約 652 萬人；2049 年達到 40%；2065 年超過 50%。從 20% 到 30%，只需要再 12 年。65 歲以上的人數會在 2050 年達到最高峰 771 萬人，之後人數雖然減少，但因為總人口減少得更快，占比到 2075 年仍會來到 52.9%。這些都是推估值，右半邊用虛線表示。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臺灣算快嗎？國發會報告整理了 18 個國家跨過各道門檻的年份。從 14% 到 20%，臺灣和韓國都只用了 7 年，是表中最短的；日本用了 11 年，法國 28 年，德國 36 年。美國和英國依推估，要到 2029 年和 2028 年才會跨過 20%。要提醒的是，各國統計的基準日不同，有些年份也是推估值，所以這張表看的是大致的速度差距，而不是精確到某一年的排名。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為什麼臺灣老化得這麼快？有兩股力量同時在作用。第一股是出生變少：2025 年的總生育率降到 0.695 人，是歷史最低，前一年還有 0.885 人。第二股是壽命變長：零歲平均餘命 2025 年是 81.3 歲，依中推估到 2075 年會到 87.7 歲。再加上戰後嬰兒潮世代陸續邁入老年，年輕的一端變窄、年長的一端變長，占比自然上升得快。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把出生和死亡人數放在同一張圖上，就能看到一個關鍵的交叉。2020 年，死亡 17.3 萬人，出生 16.5 萬人，死亡第一次超過出生，人口的自然增加由正轉負。之後這個缺口持續拉大：依中推估，2075 年出生只剩 2.7 萬人，死亡則是 30.5 萬人；死亡數大約在 2061 年達到高峰 31.8 萬人。圖上 2025 年以前是內政部的實際值，2026 年以後是推估。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另一個看結構的方法是人口金字塔。左邊是男性、右邊是女性，每一條代表 5 歲一組的人數。2026 年的形狀是中間寬、兩端窄，報告稱為「燈籠型」，人數最多的是 45 到 49 歲這一組。三個年齡段的占比分別是：0 到 14 歲 11.1%，15 到 64 歲 67.9%，65 歲以上 20.9%。這是青壯年勞動力還算充沛的階段。請記住這個形狀，下一頁我們用同一把尺看 50 年後。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同樣的長條，換成 2075 年的推估。整個形狀翻了過來，上寬下窄，報告稱為「倒金鐘型」。人數最多的年齡組變成 75 到 79 歲；65 歲以上占 52.9%，15 到 64 歲占 42.3%，0 到 14 歲只剩 4.8%，總人口約 1,215 萬人。這裡有一點很值得注意：2075 年 50 歲以上的人，今天都已經出生了，所以金字塔上半部的規模幾乎已經確定，不受未來生育率假設的影響。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年齡結構改變，最直接的影響是扶養比。扶養比是指每 100 位 15 到 64 歲的人，對應多少位 0 到 14 歲和 65 歲以上的人。依中推估，2026 年是 47.2，2057 年會超過 100，也就是依賴人口多於工作年齡人口，2075 年到 136.6。從圖上可以看到，上升幾乎都來自紅色的扶老比。換個說法：2026 年大約 3.2 位青壯年對應 1 位長者，2075 年只剩 0.8 位。要提醒的是，這個指標只反映年齡結構，不代表實際的經濟扶養情況。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工作年齡人口，也就是 15 到 64 歲的人，在 2015 年達到最高峰 1,737 萬人，之後開始減少：2026 年約 1,576 萬人，2040 年約 1,309 萬人，依中推估到 2075 年只剩 513 萬人。而且不只是變少，也在變老：45 到 64 歲在工作年齡人口中的占比，2026 年是 46.3%，2040 年 51.9%，2075 年到 60.8%。報告也提醒，工作年齡人口指的是年齡層，不等於實際就業的人數。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長者不只變多，也更高齡。85 歲以上的超高齡人口，2026 年約 48 萬人，大約每 10 位長者中有 1 位；2039 年會超過 100 萬人，大約每 6.5 位長者中有 1 位；依中推估到 2075 年是 208 萬人，約為現在的 4 倍多，每 10 位長者裡約有 3 位是 85 歲以上。國發會報告指出，隨著老年人口持續老化，「老老照顧」會漸成常態，失能、失智等專業照護需求也會相應擴張。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面對這些趨勢，政府已經公布了什麼？依國發會的新聞稿，行政院成立了跨部會的「人口對策新戰略執行小組」，並在今年 5 月推出「台灣人口對策新戰略—家庭支持篇」，涵蓋安心生養、強化托育、教育加碼、友善職場和居住減壓，共 18 項措施。接下來還規劃陸續提出銀髮世代篇、全齡育才篇和全球攬才篇。後三篇目前還在規劃中，內容以日後正式公布為準。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最後，把前面的數字放回生活裡。這一頁是我們整理的讀法，四個場景的分法不是報告原有的架構，但每個數字和課題都出自國發會報告。在家庭，2075 年長者中 85 歲以上的比率約 32.3%；在職場，工作年齡人口裡約六成是 45 到 64 歲；在學校，6 歲入學年齡人口 2040 學年度會降到 7 到 8 萬人，2026 學年度還有 17 萬人；在公共服務，扶養比 2057 年超過 100，照護資源會逐步向高齡傾斜。這裡只說推估與報告指出的課題，不是個人建議。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TW" dirty="0"/>
              <a:t>總結一句：20% 不是終點，而是結構改變的起點。臺灣從 14% 到 20% 只用了 7 年，接下來改變的，是出生、工作與照顧的整體結構。今天的數字都來自國發會的人口推估和內政部的戶籍統計，右邊列出的來源都可以直接點開查證。謝謝大家。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169_taiwan_super_aged_society_zh_han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TW" smtClean="0"/>
              <a:t>1/27/13</a:t>
            </a:fld>
            <a:endParaRPr 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TW" smtClean="0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169_taiwan_super_aged_society_zh_han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TW" smtClean="0"/>
              <a:t>1/27/13</a:t>
            </a:fld>
            <a:endParaRPr 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TW" smtClean="0"/>
              <a:t>‹#›</a:t>
            </a:fld>
            <a:endParaRPr 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5953b63d771a916.jp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6507d708e34c729.jp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701.xml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1001.xml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1101.xml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85326ad37885be9.jp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hyperlink" Target="https://pop-proj.ndc.gov.tw/" TargetMode="External"/>
  <Relationship Id="rId3" Type="http://schemas.openxmlformats.org/officeDocument/2006/relationships/hyperlink" Target="https://ppws.ndc.gov.tw/Download.ashx?u=LzAwMS9VcGxvYWQvNDY0L3JlbGZpbGUvMTAzNDcvMTY4L2VjN2NmNjg1LWJlZjYtNGQwNS05YmVkLWQzNWFlMDA2ZThjZi5wZGY%3d&amp;n=5Lit6I%2bv5rCR5ZyL5Lq65Y%2bj5o6o5LywKDIwMjblubToh7MyMDc15bm0KeWgseWRii5wZGY%3d&amp;icon=.pdf" TargetMode="External"/>
  <Relationship Id="rId4" Type="http://schemas.openxmlformats.org/officeDocument/2006/relationships/hyperlink" Target="https://ppws.ndc.gov.tw/Download.ashx?u=LzAwMS9VcGxvYWQvNDY0L3JlbGZpbGUvMTAzNDcvMTcwLzBiYTliOTJlLTViM2UtNDE1OC1iZDZiLWQ3NTE4NWJmZGMxZi5wZGY%3d&amp;n=5Lit6I%2bv5rCR5ZyL5Lq65Y%2bj5o6o5LywKDIwMjblubToh7MyMDc15bm0KeaWsOiBnueovy5wZGY%3d&amp;icon=.pdf" TargetMode="External"/>
  <Relationship Id="rId5" Type="http://schemas.openxmlformats.org/officeDocument/2006/relationships/hyperlink" Target="https://www.cna.com.tw/news/ahel/202601090067.aspx" TargetMode="External"/>
  <Relationship Id="rId6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05500" y="0"/>
            <a:ext cx="6286500" cy="6858000"/>
            <a:chOff x="5905500" y="0"/>
            <a:chExt cx="6286500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48839" t="0" r="0" b="0"/>
            <a:stretch>
              <a:fillRect/>
            </a:stretch>
          </p:blipFill>
          <p:spPr>
            <a:xfrm>
              <a:off x="5905500" y="0"/>
              <a:ext cx="6286500" cy="6858000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5905500" y="0"/>
              <a:ext cx="57150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90550" y="1073468"/>
            <a:ext cx="3467100" cy="2248852"/>
            <a:chOff x="590550" y="1073468"/>
            <a:chExt cx="3467100" cy="2248852"/>
          </a:xfrm>
        </p:grpSpPr>
        <p:sp>
          <p:nvSpPr>
            <p:cNvPr id="5" name="TextBox 5"/>
            <p:cNvSpPr txBox="1"/>
            <p:nvPr/>
          </p:nvSpPr>
          <p:spPr>
            <a:xfrm>
              <a:off x="602742" y="1073468"/>
              <a:ext cx="2481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公開講座　·　國發會人口推估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0550" y="1455420"/>
              <a:ext cx="3467100" cy="1866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6450"/>
                </a:lnSpc>
              </a:pPr>
              <a:r>
                <a:rPr lang="zh-TW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臺灣進入</a:t>
              </a:r>
              <a:br/>
              <a:r>
                <a:rPr lang="zh-TW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超高齡社會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98932" y="3221355"/>
            <a:ext cx="4304271" cy="410718"/>
            <a:chOff x="598932" y="3221355"/>
            <a:chExt cx="4304271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598932" y="3221355"/>
              <a:ext cx="430427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20% 之後，人口結構正在重新排列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90550" y="3897630"/>
            <a:ext cx="3420618" cy="1289304"/>
            <a:chOff x="590550" y="3897630"/>
            <a:chExt cx="3420618" cy="1289304"/>
          </a:xfrm>
        </p:grpSpPr>
        <p:sp>
          <p:nvSpPr>
            <p:cNvPr id="10" name="TextBox 10"/>
            <p:cNvSpPr txBox="1"/>
            <p:nvPr/>
          </p:nvSpPr>
          <p:spPr>
            <a:xfrm>
              <a:off x="590550" y="3897630"/>
              <a:ext cx="3303308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66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20.06%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0456" y="48348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 5 個人，就有 1 位 65 歲以上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5354002"/>
            <a:ext cx="4572000" cy="643509"/>
            <a:chOff x="609600" y="5354002"/>
            <a:chExt cx="4572000" cy="643509"/>
          </a:xfrm>
        </p:grpSpPr>
        <p:sp>
          <p:nvSpPr>
            <p:cNvPr id="13" name="Line 13"/>
            <p:cNvSpPr/>
            <p:nvPr/>
          </p:nvSpPr>
          <p:spPr>
            <a:xfrm>
              <a:off x="609600" y="563880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143000" y="55626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676400" y="55626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2133600" y="550545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2066925" y="55721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1045788" y="5792152"/>
              <a:ext cx="3509895" cy="205359"/>
              <a:chOff x="1045788" y="5792152"/>
              <a:chExt cx="3509895" cy="205359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1045788" y="5792152"/>
                <a:ext cx="1944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7%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540316" y="5792152"/>
                <a:ext cx="27216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14%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759516" y="5792152"/>
                <a:ext cx="27216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30%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521516" y="5792152"/>
                <a:ext cx="27216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40%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283516" y="5792152"/>
                <a:ext cx="27216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50%</a:t>
                </a:r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990979" y="5792152"/>
              <a:ext cx="285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2895600" y="5581650"/>
              <a:ext cx="1533525" cy="114300"/>
              <a:chOff x="2895600" y="5581650"/>
              <a:chExt cx="1533525" cy="114300"/>
            </a:xfrm>
          </p:grpSpPr>
          <p:sp>
            <p:nvSpPr>
              <p:cNvPr id="25" name="Line 25"/>
              <p:cNvSpPr/>
              <p:nvPr/>
            </p:nvSpPr>
            <p:spPr>
              <a:xfrm>
                <a:off x="2895600" y="558165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chemeClr val="accent6"/>
                </a:solidFill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3657600" y="558165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chemeClr val="accent6"/>
                </a:solidFill>
              </a:ln>
            </p:spPr>
          </p:sp>
          <p:sp>
            <p:nvSpPr>
              <p:cNvPr id="27" name="Line 27"/>
              <p:cNvSpPr/>
              <p:nvPr/>
            </p:nvSpPr>
            <p:spPr>
              <a:xfrm>
                <a:off x="4419600" y="558165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chemeClr val="accent6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2242566" y="5354002"/>
              <a:ext cx="6467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2025 年底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604266" y="6173152"/>
            <a:ext cx="4091178" cy="3958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500"/>
              </a:lnSpc>
            </a:pPr>
            <a:r>
              <a:rPr lang="zh-TW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資料：內政部 2025 年 12 月底戶籍統計（中央社 2026-01-09 報導）</a:t>
            </a:r>
            <a:br/>
            <a:r>
              <a:rPr lang="zh-TW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國發會《中華民國人口推估（2026 年至 2075 年）》2026-08-28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94360" y="685800"/>
            <a:ext cx="5765292" cy="586740"/>
            <a:chOff x="594360" y="685800"/>
            <a:chExt cx="5765292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594360" y="685800"/>
              <a:ext cx="576529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 5 個人，就有 1 位 65 歲以上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85800" y="1955800"/>
            <a:ext cx="6037121" cy="1802384"/>
            <a:chOff x="685800" y="1955800"/>
            <a:chExt cx="6037121" cy="1802384"/>
          </a:xfrm>
        </p:grpSpPr>
        <p:grpSp>
          <p:nvGrpSpPr>
            <p:cNvPr id="6" name="Group 6"/>
            <p:cNvGrpSpPr/>
            <p:nvPr/>
          </p:nvGrpSpPr>
          <p:grpSpPr>
            <a:xfrm>
              <a:off x="831850" y="1955800"/>
              <a:ext cx="622300" cy="889000"/>
              <a:chOff x="831850" y="1955800"/>
              <a:chExt cx="622300" cy="8890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920750" y="1955800"/>
                <a:ext cx="444500" cy="444500"/>
              </a:xfrm>
              <a:custGeom>
                <a:avLst/>
                <a:gdLst/>
                <a:ahLst/>
                <a:cxnLst/>
                <a:rect l="l" t="t" r="r" b="b"/>
                <a:pathLst>
                  <a:path w="444500" h="444500">
                    <a:moveTo>
                      <a:pt x="222250" y="0"/>
                    </a:moveTo>
                    <a:cubicBezTo>
                      <a:pt x="344996" y="0"/>
                      <a:pt x="444500" y="99505"/>
                      <a:pt x="444500" y="222250"/>
                    </a:cubicBezTo>
                    <a:cubicBezTo>
                      <a:pt x="444500" y="344996"/>
                      <a:pt x="344996" y="444500"/>
                      <a:pt x="222250" y="444500"/>
                    </a:cubicBezTo>
                    <a:cubicBezTo>
                      <a:pt x="99505" y="444500"/>
                      <a:pt x="0" y="344996"/>
                      <a:pt x="0" y="222250"/>
                    </a:cubicBezTo>
                    <a:lnTo>
                      <a:pt x="222" y="212605"/>
                    </a:lnTo>
                    <a:cubicBezTo>
                      <a:pt x="5386" y="93728"/>
                      <a:pt x="103261" y="7"/>
                      <a:pt x="2222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831850" y="2489200"/>
                <a:ext cx="622300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622300" h="355600">
                    <a:moveTo>
                      <a:pt x="400050" y="0"/>
                    </a:moveTo>
                    <a:cubicBezTo>
                      <a:pt x="522796" y="0"/>
                      <a:pt x="622300" y="99505"/>
                      <a:pt x="622300" y="222250"/>
                    </a:cubicBezTo>
                    <a:lnTo>
                      <a:pt x="622300" y="266700"/>
                    </a:lnTo>
                    <a:cubicBezTo>
                      <a:pt x="622300" y="315798"/>
                      <a:pt x="582499" y="355600"/>
                      <a:pt x="533400" y="355600"/>
                    </a:cubicBezTo>
                    <a:lnTo>
                      <a:pt x="88900" y="355600"/>
                    </a:lnTo>
                    <a:cubicBezTo>
                      <a:pt x="39802" y="355600"/>
                      <a:pt x="0" y="315798"/>
                      <a:pt x="0" y="266700"/>
                    </a:cubicBezTo>
                    <a:lnTo>
                      <a:pt x="0" y="222250"/>
                    </a:lnTo>
                    <a:cubicBezTo>
                      <a:pt x="0" y="99505"/>
                      <a:pt x="99505" y="0"/>
                      <a:pt x="222250" y="0"/>
                    </a:cubicBezTo>
                    <a:lnTo>
                      <a:pt x="40005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9" name="Group 9"/>
            <p:cNvGrpSpPr/>
            <p:nvPr/>
          </p:nvGrpSpPr>
          <p:grpSpPr>
            <a:xfrm>
              <a:off x="2089150" y="1955800"/>
              <a:ext cx="622300" cy="889000"/>
              <a:chOff x="2089150" y="1955800"/>
              <a:chExt cx="622300" cy="889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2178050" y="1955800"/>
                <a:ext cx="444500" cy="444500"/>
              </a:xfrm>
              <a:custGeom>
                <a:avLst/>
                <a:gdLst/>
                <a:ahLst/>
                <a:cxnLst/>
                <a:rect l="l" t="t" r="r" b="b"/>
                <a:pathLst>
                  <a:path w="444500" h="444500">
                    <a:moveTo>
                      <a:pt x="222250" y="0"/>
                    </a:moveTo>
                    <a:cubicBezTo>
                      <a:pt x="344996" y="0"/>
                      <a:pt x="444500" y="99505"/>
                      <a:pt x="444500" y="222250"/>
                    </a:cubicBezTo>
                    <a:cubicBezTo>
                      <a:pt x="444500" y="344996"/>
                      <a:pt x="344996" y="444500"/>
                      <a:pt x="222250" y="444500"/>
                    </a:cubicBezTo>
                    <a:cubicBezTo>
                      <a:pt x="99505" y="444500"/>
                      <a:pt x="0" y="344996"/>
                      <a:pt x="0" y="222250"/>
                    </a:cubicBezTo>
                    <a:lnTo>
                      <a:pt x="222" y="212605"/>
                    </a:lnTo>
                    <a:cubicBezTo>
                      <a:pt x="5386" y="93728"/>
                      <a:pt x="103261" y="7"/>
                      <a:pt x="2222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2089150" y="2489200"/>
                <a:ext cx="622300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622300" h="355600">
                    <a:moveTo>
                      <a:pt x="400050" y="0"/>
                    </a:moveTo>
                    <a:cubicBezTo>
                      <a:pt x="522796" y="0"/>
                      <a:pt x="622300" y="99505"/>
                      <a:pt x="622300" y="222250"/>
                    </a:cubicBezTo>
                    <a:lnTo>
                      <a:pt x="622300" y="266700"/>
                    </a:lnTo>
                    <a:cubicBezTo>
                      <a:pt x="622300" y="315798"/>
                      <a:pt x="582499" y="355600"/>
                      <a:pt x="533400" y="355600"/>
                    </a:cubicBezTo>
                    <a:lnTo>
                      <a:pt x="88900" y="355600"/>
                    </a:lnTo>
                    <a:cubicBezTo>
                      <a:pt x="39802" y="355600"/>
                      <a:pt x="0" y="315798"/>
                      <a:pt x="0" y="266700"/>
                    </a:cubicBezTo>
                    <a:lnTo>
                      <a:pt x="0" y="222250"/>
                    </a:lnTo>
                    <a:cubicBezTo>
                      <a:pt x="0" y="99505"/>
                      <a:pt x="99505" y="0"/>
                      <a:pt x="222250" y="0"/>
                    </a:cubicBezTo>
                    <a:lnTo>
                      <a:pt x="40005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12" name="Group 12"/>
            <p:cNvGrpSpPr/>
            <p:nvPr/>
          </p:nvGrpSpPr>
          <p:grpSpPr>
            <a:xfrm>
              <a:off x="3346450" y="1955800"/>
              <a:ext cx="622300" cy="889000"/>
              <a:chOff x="3346450" y="1955800"/>
              <a:chExt cx="622300" cy="889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3435350" y="1955800"/>
                <a:ext cx="444500" cy="444500"/>
              </a:xfrm>
              <a:custGeom>
                <a:avLst/>
                <a:gdLst/>
                <a:ahLst/>
                <a:cxnLst/>
                <a:rect l="l" t="t" r="r" b="b"/>
                <a:pathLst>
                  <a:path w="444500" h="444500">
                    <a:moveTo>
                      <a:pt x="222250" y="0"/>
                    </a:moveTo>
                    <a:cubicBezTo>
                      <a:pt x="344996" y="0"/>
                      <a:pt x="444500" y="99505"/>
                      <a:pt x="444500" y="222250"/>
                    </a:cubicBezTo>
                    <a:cubicBezTo>
                      <a:pt x="444500" y="344996"/>
                      <a:pt x="344996" y="444500"/>
                      <a:pt x="222250" y="444500"/>
                    </a:cubicBezTo>
                    <a:cubicBezTo>
                      <a:pt x="99505" y="444500"/>
                      <a:pt x="0" y="344996"/>
                      <a:pt x="0" y="222250"/>
                    </a:cubicBezTo>
                    <a:lnTo>
                      <a:pt x="222" y="212605"/>
                    </a:lnTo>
                    <a:cubicBezTo>
                      <a:pt x="5386" y="93728"/>
                      <a:pt x="103261" y="7"/>
                      <a:pt x="2222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3346450" y="2489200"/>
                <a:ext cx="622300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622300" h="355600">
                    <a:moveTo>
                      <a:pt x="400050" y="0"/>
                    </a:moveTo>
                    <a:cubicBezTo>
                      <a:pt x="522796" y="0"/>
                      <a:pt x="622300" y="99505"/>
                      <a:pt x="622300" y="222250"/>
                    </a:cubicBezTo>
                    <a:lnTo>
                      <a:pt x="622300" y="266700"/>
                    </a:lnTo>
                    <a:cubicBezTo>
                      <a:pt x="622300" y="315798"/>
                      <a:pt x="582499" y="355600"/>
                      <a:pt x="533400" y="355600"/>
                    </a:cubicBezTo>
                    <a:lnTo>
                      <a:pt x="88900" y="355600"/>
                    </a:lnTo>
                    <a:cubicBezTo>
                      <a:pt x="39802" y="355600"/>
                      <a:pt x="0" y="315798"/>
                      <a:pt x="0" y="266700"/>
                    </a:cubicBezTo>
                    <a:lnTo>
                      <a:pt x="0" y="222250"/>
                    </a:lnTo>
                    <a:cubicBezTo>
                      <a:pt x="0" y="99505"/>
                      <a:pt x="99505" y="0"/>
                      <a:pt x="222250" y="0"/>
                    </a:cubicBezTo>
                    <a:lnTo>
                      <a:pt x="40005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4603750" y="1955800"/>
              <a:ext cx="622300" cy="889000"/>
              <a:chOff x="4603750" y="1955800"/>
              <a:chExt cx="622300" cy="889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4692650" y="1955800"/>
                <a:ext cx="444500" cy="444500"/>
              </a:xfrm>
              <a:custGeom>
                <a:avLst/>
                <a:gdLst/>
                <a:ahLst/>
                <a:cxnLst/>
                <a:rect l="l" t="t" r="r" b="b"/>
                <a:pathLst>
                  <a:path w="444500" h="444500">
                    <a:moveTo>
                      <a:pt x="222250" y="0"/>
                    </a:moveTo>
                    <a:cubicBezTo>
                      <a:pt x="344996" y="0"/>
                      <a:pt x="444500" y="99505"/>
                      <a:pt x="444500" y="222250"/>
                    </a:cubicBezTo>
                    <a:cubicBezTo>
                      <a:pt x="444500" y="344996"/>
                      <a:pt x="344996" y="444500"/>
                      <a:pt x="222250" y="444500"/>
                    </a:cubicBezTo>
                    <a:cubicBezTo>
                      <a:pt x="99505" y="444500"/>
                      <a:pt x="0" y="344996"/>
                      <a:pt x="0" y="222250"/>
                    </a:cubicBezTo>
                    <a:lnTo>
                      <a:pt x="222" y="212605"/>
                    </a:lnTo>
                    <a:cubicBezTo>
                      <a:pt x="5386" y="93728"/>
                      <a:pt x="103261" y="7"/>
                      <a:pt x="2222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4603750" y="2489200"/>
                <a:ext cx="622300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622300" h="355600">
                    <a:moveTo>
                      <a:pt x="400050" y="0"/>
                    </a:moveTo>
                    <a:cubicBezTo>
                      <a:pt x="522796" y="0"/>
                      <a:pt x="622300" y="99505"/>
                      <a:pt x="622300" y="222250"/>
                    </a:cubicBezTo>
                    <a:lnTo>
                      <a:pt x="622300" y="266700"/>
                    </a:lnTo>
                    <a:cubicBezTo>
                      <a:pt x="622300" y="315798"/>
                      <a:pt x="582499" y="355600"/>
                      <a:pt x="533400" y="355600"/>
                    </a:cubicBezTo>
                    <a:lnTo>
                      <a:pt x="88900" y="355600"/>
                    </a:lnTo>
                    <a:cubicBezTo>
                      <a:pt x="39802" y="355600"/>
                      <a:pt x="0" y="315798"/>
                      <a:pt x="0" y="266700"/>
                    </a:cubicBezTo>
                    <a:lnTo>
                      <a:pt x="0" y="222250"/>
                    </a:lnTo>
                    <a:cubicBezTo>
                      <a:pt x="0" y="99505"/>
                      <a:pt x="99505" y="0"/>
                      <a:pt x="222250" y="0"/>
                    </a:cubicBezTo>
                    <a:lnTo>
                      <a:pt x="40005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18" name="Group 18"/>
            <p:cNvGrpSpPr/>
            <p:nvPr/>
          </p:nvGrpSpPr>
          <p:grpSpPr>
            <a:xfrm>
              <a:off x="5861050" y="1955800"/>
              <a:ext cx="622300" cy="889000"/>
              <a:chOff x="5861050" y="1955800"/>
              <a:chExt cx="622300" cy="889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5949950" y="1955800"/>
                <a:ext cx="444500" cy="444500"/>
              </a:xfrm>
              <a:custGeom>
                <a:avLst/>
                <a:gdLst/>
                <a:ahLst/>
                <a:cxnLst/>
                <a:rect l="l" t="t" r="r" b="b"/>
                <a:pathLst>
                  <a:path w="444500" h="444500">
                    <a:moveTo>
                      <a:pt x="222250" y="0"/>
                    </a:moveTo>
                    <a:cubicBezTo>
                      <a:pt x="344996" y="0"/>
                      <a:pt x="444500" y="99505"/>
                      <a:pt x="444500" y="222250"/>
                    </a:cubicBezTo>
                    <a:cubicBezTo>
                      <a:pt x="444500" y="344996"/>
                      <a:pt x="344996" y="444500"/>
                      <a:pt x="222250" y="444500"/>
                    </a:cubicBezTo>
                    <a:cubicBezTo>
                      <a:pt x="99505" y="444500"/>
                      <a:pt x="0" y="344996"/>
                      <a:pt x="0" y="222250"/>
                    </a:cubicBezTo>
                    <a:lnTo>
                      <a:pt x="222" y="212605"/>
                    </a:lnTo>
                    <a:cubicBezTo>
                      <a:pt x="5386" y="93728"/>
                      <a:pt x="103261" y="7"/>
                      <a:pt x="2222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5861050" y="2489200"/>
                <a:ext cx="622300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622300" h="355600">
                    <a:moveTo>
                      <a:pt x="400050" y="0"/>
                    </a:moveTo>
                    <a:cubicBezTo>
                      <a:pt x="522796" y="0"/>
                      <a:pt x="622300" y="99505"/>
                      <a:pt x="622300" y="222250"/>
                    </a:cubicBezTo>
                    <a:lnTo>
                      <a:pt x="622300" y="266700"/>
                    </a:lnTo>
                    <a:cubicBezTo>
                      <a:pt x="622300" y="315798"/>
                      <a:pt x="582499" y="355600"/>
                      <a:pt x="533400" y="355600"/>
                    </a:cubicBezTo>
                    <a:lnTo>
                      <a:pt x="88900" y="355600"/>
                    </a:lnTo>
                    <a:cubicBezTo>
                      <a:pt x="39802" y="355600"/>
                      <a:pt x="0" y="315798"/>
                      <a:pt x="0" y="266700"/>
                    </a:cubicBezTo>
                    <a:lnTo>
                      <a:pt x="0" y="222250"/>
                    </a:lnTo>
                    <a:cubicBezTo>
                      <a:pt x="0" y="99505"/>
                      <a:pt x="99505" y="0"/>
                      <a:pt x="222250" y="0"/>
                    </a:cubicBezTo>
                    <a:lnTo>
                      <a:pt x="40005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19" name="Line 19"/>
            <p:cNvSpPr/>
            <p:nvPr/>
          </p:nvSpPr>
          <p:spPr>
            <a:xfrm>
              <a:off x="685800" y="3238500"/>
              <a:ext cx="4686300" cy="9525"/>
            </a:xfrm>
            <a:custGeom>
              <a:avLst/>
              <a:gdLst/>
              <a:ahLst/>
              <a:cxnLst/>
              <a:rect l="l" t="t" r="r" b="b"/>
              <a:pathLst>
                <a:path w="4686300" h="9525">
                  <a:moveTo>
                    <a:pt x="0" y="0"/>
                  </a:moveTo>
                  <a:lnTo>
                    <a:pt x="46863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5715000" y="3238500"/>
              <a:ext cx="914400" cy="9525"/>
            </a:xfrm>
            <a:custGeom>
              <a:avLst/>
              <a:gdLst/>
              <a:ahLst/>
              <a:cxnLst/>
              <a:rect l="l" t="t" r="r" b="b"/>
              <a:pathLst>
                <a:path w="914400" h="9525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226221" y="3406140"/>
              <a:ext cx="16054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 位未滿 65 歲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21480" y="3406140"/>
              <a:ext cx="11014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65 歲以上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219950" y="1759268"/>
            <a:ext cx="3634271" cy="2360866"/>
            <a:chOff x="7219950" y="1759268"/>
            <a:chExt cx="3634271" cy="2360866"/>
          </a:xfrm>
        </p:grpSpPr>
        <p:sp>
          <p:nvSpPr>
            <p:cNvPr id="24" name="TextBox 24"/>
            <p:cNvSpPr txBox="1"/>
            <p:nvPr/>
          </p:nvSpPr>
          <p:spPr>
            <a:xfrm>
              <a:off x="7232142" y="1759268"/>
              <a:ext cx="35030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2025 年 12 月底實際值（內政部戶籍統計）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19950" y="2068830"/>
              <a:ext cx="3634271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66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467 萬人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29856" y="3082290"/>
              <a:ext cx="3355848" cy="1037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2025 年 12 月底，65 歲以上人口</a:t>
              </a:r>
              <a:br/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467 萬 3,155 人</a:t>
              </a:r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，占總人口</a:t>
              </a:r>
              <a:br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2,329 萬 9,132 人的 </a:t>
              </a:r>
              <a:r>
                <a:rPr lang="zh-TW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20.06%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2742" y="4597718"/>
            <a:ext cx="10979658" cy="1389316"/>
            <a:chOff x="602742" y="4597718"/>
            <a:chExt cx="10979658" cy="1389316"/>
          </a:xfrm>
        </p:grpSpPr>
        <p:sp>
          <p:nvSpPr>
            <p:cNvPr id="28" name="TextBox 28"/>
            <p:cNvSpPr txBox="1"/>
            <p:nvPr/>
          </p:nvSpPr>
          <p:spPr>
            <a:xfrm>
              <a:off x="602742" y="4597718"/>
              <a:ext cx="29942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定義：65 歲以上人口占總人口的比率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09600" y="5391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3682365" y="5295900"/>
              <a:ext cx="3081338" cy="190500"/>
              <a:chOff x="3682365" y="5295900"/>
              <a:chExt cx="3081338" cy="190500"/>
            </a:xfrm>
          </p:grpSpPr>
          <p:sp>
            <p:nvSpPr>
              <p:cNvPr id="30" name="Line 30"/>
              <p:cNvSpPr/>
              <p:nvPr/>
            </p:nvSpPr>
            <p:spPr>
              <a:xfrm>
                <a:off x="3682365" y="5295900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">
                    <a:moveTo>
                      <a:pt x="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1" name="Line 31"/>
              <p:cNvSpPr/>
              <p:nvPr/>
            </p:nvSpPr>
            <p:spPr>
              <a:xfrm>
                <a:off x="6754178" y="5295900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">
                    <a:moveTo>
                      <a:pt x="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33" name="Line 33"/>
            <p:cNvSpPr/>
            <p:nvPr/>
          </p:nvSpPr>
          <p:spPr>
            <a:xfrm>
              <a:off x="9387840" y="521970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3464209" y="4900612"/>
              <a:ext cx="3595586" cy="440055"/>
              <a:chOff x="3464209" y="4900612"/>
              <a:chExt cx="3595586" cy="440055"/>
            </a:xfrm>
          </p:grpSpPr>
          <p:sp>
            <p:nvSpPr>
              <p:cNvPr id="34" name="TextBox 34"/>
              <p:cNvSpPr txBox="1"/>
              <p:nvPr/>
            </p:nvSpPr>
            <p:spPr>
              <a:xfrm>
                <a:off x="3464209" y="4900612"/>
                <a:ext cx="436312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22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7%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448561" y="4900612"/>
                <a:ext cx="611234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22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14%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9082223" y="4900612"/>
              <a:ext cx="61123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3067431" y="5634990"/>
              <a:ext cx="4180523" cy="352044"/>
              <a:chOff x="3067431" y="5634990"/>
              <a:chExt cx="4180523" cy="352044"/>
            </a:xfrm>
          </p:grpSpPr>
          <p:sp>
            <p:nvSpPr>
              <p:cNvPr id="38" name="TextBox 38"/>
              <p:cNvSpPr txBox="1"/>
              <p:nvPr/>
            </p:nvSpPr>
            <p:spPr>
              <a:xfrm>
                <a:off x="3067431" y="563499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高齡化社會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260402" y="563499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高齡社會</a:t>
                </a:r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8772906" y="56349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超高齡社會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43" name="TextBox 43"/>
            <p:cNvSpPr txBox="1"/>
            <p:nvPr/>
          </p:nvSpPr>
          <p:spPr>
            <a:xfrm>
              <a:off x="604266" y="6325552"/>
              <a:ext cx="81100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資料：內政部 2025 年 12 月底戶籍統計（中央社 2026-01-09 報導）；國發會《中華民國人口推估（2026 年至 2075 年）》表 21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10354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685800"/>
            <a:ext cx="6103525" cy="900684"/>
            <a:chOff x="594360" y="685800"/>
            <a:chExt cx="6103525" cy="900684"/>
          </a:xfrm>
        </p:grpSpPr>
        <p:sp>
          <p:nvSpPr>
            <p:cNvPr id="2" name="TextBox 2"/>
            <p:cNvSpPr txBox="1"/>
            <p:nvPr/>
          </p:nvSpPr>
          <p:spPr>
            <a:xfrm>
              <a:off x="594360" y="685800"/>
              <a:ext cx="610352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從 14% 到 20%，臺灣只用了 7 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0456" y="1234440"/>
              <a:ext cx="48282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跨過前一道門檻花了 25 年，下一道只花 7 年</a:t>
              </a:r>
            </a:p>
          </p:txBody>
        </p:sp>
      </p:grpSp>
      <p:grpSp>
        <p:nvGrpSpPr>
          <p:cNvPr id="19" name="!!ruler-axis"/>
          <p:cNvGrpSpPr/>
          <p:nvPr/>
        </p:nvGrpSpPr>
        <p:grpSpPr>
          <a:xfrm>
            <a:off x="609600" y="3733800"/>
            <a:ext cx="11582400" cy="415861"/>
            <a:chOff x="609600" y="3733800"/>
            <a:chExt cx="11582400" cy="415861"/>
          </a:xfrm>
        </p:grpSpPr>
        <p:sp>
          <p:nvSpPr>
            <p:cNvPr id="5" name="Line 5"/>
            <p:cNvSpPr/>
            <p:nvPr/>
          </p:nvSpPr>
          <p:spPr>
            <a:xfrm>
              <a:off x="609600" y="3810000"/>
              <a:ext cx="9639300" cy="9525"/>
            </a:xfrm>
            <a:custGeom>
              <a:avLst/>
              <a:gdLst/>
              <a:ahLst/>
              <a:cxnLst/>
              <a:rect l="l" t="t" r="r" b="b"/>
              <a:pathLst>
                <a:path w="9639300" h="9525">
                  <a:moveTo>
                    <a:pt x="0" y="0"/>
                  </a:moveTo>
                  <a:lnTo>
                    <a:pt x="96393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0248900" y="3810000"/>
              <a:ext cx="1943100" cy="9525"/>
            </a:xfrm>
            <a:custGeom>
              <a:avLst/>
              <a:gdLst/>
              <a:ahLst/>
              <a:cxnLst/>
              <a:rect l="l" t="t" r="r" b="b"/>
              <a:pathLst>
                <a:path w="1943100" h="9525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  <a:prstDash val="lgDash"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914400" y="3733800"/>
              <a:ext cx="10677525" cy="152400"/>
              <a:chOff x="914400" y="3733800"/>
              <a:chExt cx="10677525" cy="152400"/>
            </a:xfrm>
          </p:grpSpPr>
          <p:sp>
            <p:nvSpPr>
              <p:cNvPr id="7" name="Line 7"/>
              <p:cNvSpPr/>
              <p:nvPr/>
            </p:nvSpPr>
            <p:spPr>
              <a:xfrm>
                <a:off x="914400" y="373380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3581400" y="373380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6248400" y="373380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8915400" y="373380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11582400" y="373380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grpSp>
          <p:nvGrpSpPr>
            <p:cNvPr id="18" name="Group 18"/>
            <p:cNvGrpSpPr/>
            <p:nvPr/>
          </p:nvGrpSpPr>
          <p:grpSpPr>
            <a:xfrm>
              <a:off x="753580" y="3944302"/>
              <a:ext cx="10989640" cy="205359"/>
              <a:chOff x="753580" y="3944302"/>
              <a:chExt cx="10989640" cy="205359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753580" y="3944302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1990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420580" y="3944302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2000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087580" y="3944302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2010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754580" y="3944302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2020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1421580" y="3944302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2030</a:t>
                </a:r>
              </a:p>
            </p:txBody>
          </p:sp>
        </p:grpSp>
      </p:grpSp>
      <p:grpSp>
        <p:nvGrpSpPr>
          <p:cNvPr id="26" name="!!gate-1993"/>
          <p:cNvGrpSpPr/>
          <p:nvPr/>
        </p:nvGrpSpPr>
        <p:grpSpPr>
          <a:xfrm>
            <a:off x="1099566" y="2005012"/>
            <a:ext cx="1229868" cy="2477072"/>
            <a:chOff x="1099566" y="2005012"/>
            <a:chExt cx="1229868" cy="2477072"/>
          </a:xfrm>
        </p:grpSpPr>
        <p:sp>
          <p:nvSpPr>
            <p:cNvPr id="20" name="TextBox 20"/>
            <p:cNvSpPr txBox="1"/>
            <p:nvPr/>
          </p:nvSpPr>
          <p:spPr>
            <a:xfrm>
              <a:off x="1496344" y="2005012"/>
              <a:ext cx="43631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7%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9566" y="23774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高齡化社會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48711" y="2673668"/>
              <a:ext cx="731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149 萬人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1714500" y="295275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1628775" y="3724275"/>
              <a:ext cx="171450" cy="171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425481" y="413004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1993</a:t>
              </a:r>
            </a:p>
          </p:txBody>
        </p:sp>
      </p:grpSp>
      <p:grpSp>
        <p:nvGrpSpPr>
          <p:cNvPr id="33" name="!!gate-2018"/>
          <p:cNvGrpSpPr/>
          <p:nvPr/>
        </p:nvGrpSpPr>
        <p:grpSpPr>
          <a:xfrm>
            <a:off x="7888224" y="2005012"/>
            <a:ext cx="987552" cy="2477072"/>
            <a:chOff x="7888224" y="2005012"/>
            <a:chExt cx="987552" cy="2477072"/>
          </a:xfrm>
        </p:grpSpPr>
        <p:sp>
          <p:nvSpPr>
            <p:cNvPr id="27" name="TextBox 27"/>
            <p:cNvSpPr txBox="1"/>
            <p:nvPr/>
          </p:nvSpPr>
          <p:spPr>
            <a:xfrm>
              <a:off x="8076383" y="2005012"/>
              <a:ext cx="61123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14%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88224" y="23774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高齡社會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16211" y="2673668"/>
              <a:ext cx="731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343 萬人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8382000" y="295275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8296275" y="3724275"/>
              <a:ext cx="171450" cy="171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92981" y="413004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2018</a:t>
              </a:r>
            </a:p>
          </p:txBody>
        </p:sp>
      </p:grpSp>
      <p:grpSp>
        <p:nvGrpSpPr>
          <p:cNvPr id="40" name="!!gate-2025"/>
          <p:cNvGrpSpPr/>
          <p:nvPr/>
        </p:nvGrpSpPr>
        <p:grpSpPr>
          <a:xfrm>
            <a:off x="9633966" y="2005012"/>
            <a:ext cx="1229868" cy="2477072"/>
            <a:chOff x="9633966" y="2005012"/>
            <a:chExt cx="1229868" cy="2477072"/>
          </a:xfrm>
        </p:grpSpPr>
        <p:sp>
          <p:nvSpPr>
            <p:cNvPr id="34" name="TextBox 34"/>
            <p:cNvSpPr txBox="1"/>
            <p:nvPr/>
          </p:nvSpPr>
          <p:spPr>
            <a:xfrm>
              <a:off x="9943283" y="2005012"/>
              <a:ext cx="61123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33966" y="23774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超高齡社會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883111" y="2673668"/>
              <a:ext cx="731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467 萬人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10248900" y="2952750"/>
              <a:ext cx="9525" cy="742950"/>
            </a:xfrm>
            <a:custGeom>
              <a:avLst/>
              <a:gdLst/>
              <a:ahLst/>
              <a:cxnLst/>
              <a:rect l="l" t="t" r="r" b="b"/>
              <a:pathLst>
                <a:path w="9525" h="742950">
                  <a:moveTo>
                    <a:pt x="0" y="0"/>
                  </a:moveTo>
                  <a:lnTo>
                    <a:pt x="0" y="7429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10134600" y="36957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959881" y="413004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2025</a:t>
              </a:r>
            </a:p>
          </p:txBody>
        </p:sp>
      </p:grpSp>
      <p:grpSp>
        <p:nvGrpSpPr>
          <p:cNvPr id="43" name="!!interval-25"/>
          <p:cNvGrpSpPr/>
          <p:nvPr/>
        </p:nvGrpSpPr>
        <p:grpSpPr>
          <a:xfrm>
            <a:off x="1714500" y="4476750"/>
            <a:ext cx="6667500" cy="3448050"/>
            <a:chOff x="1714500" y="4476750"/>
            <a:chExt cx="6667500" cy="3448050"/>
          </a:xfrm>
        </p:grpSpPr>
        <p:sp>
          <p:nvSpPr>
            <p:cNvPr id="41" name="Freeform 41"/>
            <p:cNvSpPr/>
            <p:nvPr/>
          </p:nvSpPr>
          <p:spPr>
            <a:xfrm rot="-5400000">
              <a:off x="4933950" y="1257300"/>
              <a:ext cx="228600" cy="6667500"/>
            </a:xfrm>
            <a:prstGeom prst="leftBrac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534243" y="4838700"/>
              <a:ext cx="102801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25 年</a:t>
              </a:r>
            </a:p>
          </p:txBody>
        </p:sp>
      </p:grpSp>
      <p:grpSp>
        <p:nvGrpSpPr>
          <p:cNvPr id="46" name="!!interval-7"/>
          <p:cNvGrpSpPr/>
          <p:nvPr/>
        </p:nvGrpSpPr>
        <p:grpSpPr>
          <a:xfrm>
            <a:off x="8382000" y="4476750"/>
            <a:ext cx="1866900" cy="1047750"/>
            <a:chOff x="8382000" y="4476750"/>
            <a:chExt cx="1866900" cy="1047750"/>
          </a:xfrm>
        </p:grpSpPr>
        <p:sp>
          <p:nvSpPr>
            <p:cNvPr id="44" name="Freeform 44"/>
            <p:cNvSpPr/>
            <p:nvPr/>
          </p:nvSpPr>
          <p:spPr>
            <a:xfrm rot="-5400000">
              <a:off x="9201150" y="3657600"/>
              <a:ext cx="228600" cy="1866900"/>
            </a:xfrm>
            <a:prstGeom prst="leftBrace">
              <a:avLst/>
            </a:pr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918057" y="4838700"/>
              <a:ext cx="79478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7 年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00456" y="5634990"/>
            <a:ext cx="8232800" cy="352044"/>
            <a:chOff x="600456" y="5634990"/>
            <a:chExt cx="8232800" cy="352044"/>
          </a:xfrm>
        </p:grpSpPr>
        <p:sp>
          <p:nvSpPr>
            <p:cNvPr id="47" name="TextBox 47"/>
            <p:cNvSpPr txBox="1"/>
            <p:nvPr/>
          </p:nvSpPr>
          <p:spPr>
            <a:xfrm>
              <a:off x="600456" y="5634990"/>
              <a:ext cx="82328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門檻之間的距離愈縮愈短：從 14% 到 20% 的時間，不到前一段的三分之一。</a:t>
              </a:r>
            </a:p>
          </p:txBody>
        </p:sp>
      </p:grpSp>
      <p:grpSp>
        <p:nvGrpSpPr>
          <p:cNvPr id="55" name="!!gate-2037"/>
          <p:cNvGrpSpPr/>
          <p:nvPr/>
        </p:nvGrpSpPr>
        <p:grpSpPr>
          <a:xfrm>
            <a:off x="12695682" y="2005012"/>
            <a:ext cx="745236" cy="2477072"/>
            <a:chOff x="12695682" y="2005012"/>
            <a:chExt cx="745236" cy="2477072"/>
          </a:xfrm>
        </p:grpSpPr>
        <p:sp>
          <p:nvSpPr>
            <p:cNvPr id="49" name="TextBox 49"/>
            <p:cNvSpPr txBox="1"/>
            <p:nvPr/>
          </p:nvSpPr>
          <p:spPr>
            <a:xfrm>
              <a:off x="12762683" y="2005012"/>
              <a:ext cx="61123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30%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2695682" y="23774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中推估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2702511" y="2673668"/>
              <a:ext cx="731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652 萬人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13068300" y="295275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prstDash val="lgDash"/>
            </a:ln>
          </p:spPr>
        </p:sp>
        <p:sp>
          <p:nvSpPr>
            <p:cNvPr id="53" name="Ellipse 53"/>
            <p:cNvSpPr/>
            <p:nvPr/>
          </p:nvSpPr>
          <p:spPr>
            <a:xfrm>
              <a:off x="12982575" y="3724275"/>
              <a:ext cx="171450" cy="17145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2779281" y="413004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2037</a:t>
              </a:r>
            </a:p>
          </p:txBody>
        </p:sp>
      </p:grpSp>
      <p:grpSp>
        <p:nvGrpSpPr>
          <p:cNvPr id="62" name="!!gate-2049"/>
          <p:cNvGrpSpPr/>
          <p:nvPr/>
        </p:nvGrpSpPr>
        <p:grpSpPr>
          <a:xfrm>
            <a:off x="14219682" y="2005012"/>
            <a:ext cx="745236" cy="2477072"/>
            <a:chOff x="14219682" y="2005012"/>
            <a:chExt cx="745236" cy="2477072"/>
          </a:xfrm>
        </p:grpSpPr>
        <p:sp>
          <p:nvSpPr>
            <p:cNvPr id="56" name="TextBox 56"/>
            <p:cNvSpPr txBox="1"/>
            <p:nvPr/>
          </p:nvSpPr>
          <p:spPr>
            <a:xfrm>
              <a:off x="14286683" y="2005012"/>
              <a:ext cx="61123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40%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4219682" y="23774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中推估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4226511" y="2673668"/>
              <a:ext cx="731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769 萬人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14592300" y="295275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prstDash val="lgDash"/>
            </a:ln>
          </p:spPr>
        </p:sp>
        <p:sp>
          <p:nvSpPr>
            <p:cNvPr id="60" name="Ellipse 60"/>
            <p:cNvSpPr/>
            <p:nvPr/>
          </p:nvSpPr>
          <p:spPr>
            <a:xfrm>
              <a:off x="14506575" y="3724275"/>
              <a:ext cx="171450" cy="17145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4303281" y="413004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2049</a:t>
              </a:r>
            </a:p>
          </p:txBody>
        </p:sp>
      </p:grpSp>
      <p:grpSp>
        <p:nvGrpSpPr>
          <p:cNvPr id="69" name="!!gate-2065"/>
          <p:cNvGrpSpPr/>
          <p:nvPr/>
        </p:nvGrpSpPr>
        <p:grpSpPr>
          <a:xfrm>
            <a:off x="15743682" y="2005012"/>
            <a:ext cx="745236" cy="2477072"/>
            <a:chOff x="15743682" y="2005012"/>
            <a:chExt cx="745236" cy="2477072"/>
          </a:xfrm>
        </p:grpSpPr>
        <p:sp>
          <p:nvSpPr>
            <p:cNvPr id="63" name="TextBox 63"/>
            <p:cNvSpPr txBox="1"/>
            <p:nvPr/>
          </p:nvSpPr>
          <p:spPr>
            <a:xfrm>
              <a:off x="15810683" y="2005012"/>
              <a:ext cx="61123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50%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5743682" y="23774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中推估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5750511" y="2673668"/>
              <a:ext cx="731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748 萬人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16116300" y="295275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prstDash val="lgDash"/>
            </a:ln>
          </p:spPr>
        </p:sp>
        <p:sp>
          <p:nvSpPr>
            <p:cNvPr id="67" name="Ellipse 67"/>
            <p:cNvSpPr/>
            <p:nvPr/>
          </p:nvSpPr>
          <p:spPr>
            <a:xfrm>
              <a:off x="16030575" y="3724275"/>
              <a:ext cx="171450" cy="17145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5827281" y="413004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2065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70" name="TextBox 70"/>
            <p:cNvSpPr txBox="1"/>
            <p:nvPr/>
          </p:nvSpPr>
          <p:spPr>
            <a:xfrm>
              <a:off x="604266" y="6325552"/>
              <a:ext cx="76506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資料：國發會《中華民國人口推估（2026 年至 2075 年）》人口重要年表、表 24-11；人數為跨過門檻當年 65 歲以上人口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10354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15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685800"/>
            <a:ext cx="5912663" cy="900684"/>
            <a:chOff x="594360" y="685800"/>
            <a:chExt cx="5912663" cy="900684"/>
          </a:xfrm>
        </p:grpSpPr>
        <p:sp>
          <p:nvSpPr>
            <p:cNvPr id="2" name="TextBox 2"/>
            <p:cNvSpPr txBox="1"/>
            <p:nvPr/>
          </p:nvSpPr>
          <p:spPr>
            <a:xfrm>
              <a:off x="594360" y="685800"/>
              <a:ext cx="482934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下一站：2037 年超過 30%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0456" y="1234440"/>
              <a:ext cx="59065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從 20% 到 30%，依中推估只需再 12 年；虛線段為推估</a:t>
              </a:r>
            </a:p>
          </p:txBody>
        </p:sp>
      </p:grpSp>
      <p:grpSp>
        <p:nvGrpSpPr>
          <p:cNvPr id="19" name="!!ruler-axis"/>
          <p:cNvGrpSpPr/>
          <p:nvPr/>
        </p:nvGrpSpPr>
        <p:grpSpPr>
          <a:xfrm>
            <a:off x="609600" y="3733800"/>
            <a:ext cx="11582400" cy="415861"/>
            <a:chOff x="609600" y="3733800"/>
            <a:chExt cx="11582400" cy="415861"/>
          </a:xfrm>
        </p:grpSpPr>
        <p:sp>
          <p:nvSpPr>
            <p:cNvPr id="5" name="Line 5"/>
            <p:cNvSpPr/>
            <p:nvPr/>
          </p:nvSpPr>
          <p:spPr>
            <a:xfrm>
              <a:off x="609600" y="381000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181600" y="3810000"/>
              <a:ext cx="7010400" cy="9525"/>
            </a:xfrm>
            <a:custGeom>
              <a:avLst/>
              <a:gdLst/>
              <a:ahLst/>
              <a:cxnLst/>
              <a:rect l="l" t="t" r="r" b="b"/>
              <a:pathLst>
                <a:path w="7010400" h="9525">
                  <a:moveTo>
                    <a:pt x="0" y="0"/>
                  </a:moveTo>
                  <a:lnTo>
                    <a:pt x="70104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  <a:prstDash val="lgDash"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914400" y="3733800"/>
              <a:ext cx="9763125" cy="152400"/>
              <a:chOff x="914400" y="3733800"/>
              <a:chExt cx="9763125" cy="152400"/>
            </a:xfrm>
          </p:grpSpPr>
          <p:sp>
            <p:nvSpPr>
              <p:cNvPr id="7" name="Line 7"/>
              <p:cNvSpPr/>
              <p:nvPr/>
            </p:nvSpPr>
            <p:spPr>
              <a:xfrm>
                <a:off x="914400" y="373380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3352800" y="373380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5791200" y="373380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8229600" y="373380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10668000" y="373380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grpSp>
          <p:nvGrpSpPr>
            <p:cNvPr id="18" name="Group 18"/>
            <p:cNvGrpSpPr/>
            <p:nvPr/>
          </p:nvGrpSpPr>
          <p:grpSpPr>
            <a:xfrm>
              <a:off x="753580" y="3944302"/>
              <a:ext cx="10075240" cy="205359"/>
              <a:chOff x="753580" y="3944302"/>
              <a:chExt cx="10075240" cy="205359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753580" y="3944302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1990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191980" y="3944302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2010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630380" y="3944302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2030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068780" y="3944302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2050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507180" y="3944302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2070</a:t>
                </a:r>
              </a:p>
            </p:txBody>
          </p:sp>
        </p:grpSp>
      </p:grpSp>
      <p:grpSp>
        <p:nvGrpSpPr>
          <p:cNvPr id="26" name="!!gate-1993"/>
          <p:cNvGrpSpPr/>
          <p:nvPr/>
        </p:nvGrpSpPr>
        <p:grpSpPr>
          <a:xfrm>
            <a:off x="665226" y="2005012"/>
            <a:ext cx="1229868" cy="2477072"/>
            <a:chOff x="665226" y="2005012"/>
            <a:chExt cx="1229868" cy="2477072"/>
          </a:xfrm>
        </p:grpSpPr>
        <p:sp>
          <p:nvSpPr>
            <p:cNvPr id="20" name="TextBox 20"/>
            <p:cNvSpPr txBox="1"/>
            <p:nvPr/>
          </p:nvSpPr>
          <p:spPr>
            <a:xfrm>
              <a:off x="1062004" y="2005012"/>
              <a:ext cx="43631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7%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5226" y="23774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高齡化社會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14371" y="2673668"/>
              <a:ext cx="731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149 萬人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1280160" y="295275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1194435" y="3724275"/>
              <a:ext cx="171450" cy="171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91141" y="413004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1993</a:t>
              </a:r>
            </a:p>
          </p:txBody>
        </p:sp>
      </p:grpSp>
      <p:grpSp>
        <p:nvGrpSpPr>
          <p:cNvPr id="33" name="!!gate-2018"/>
          <p:cNvGrpSpPr/>
          <p:nvPr/>
        </p:nvGrpSpPr>
        <p:grpSpPr>
          <a:xfrm>
            <a:off x="3231642" y="2005012"/>
            <a:ext cx="1182243" cy="2477072"/>
            <a:chOff x="3231642" y="2005012"/>
            <a:chExt cx="1182243" cy="2477072"/>
          </a:xfrm>
        </p:grpSpPr>
        <p:sp>
          <p:nvSpPr>
            <p:cNvPr id="27" name="TextBox 27"/>
            <p:cNvSpPr txBox="1"/>
            <p:nvPr/>
          </p:nvSpPr>
          <p:spPr>
            <a:xfrm>
              <a:off x="3610246" y="2005012"/>
              <a:ext cx="61123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14%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231642" y="23774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高齡社會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485331" y="2673668"/>
              <a:ext cx="731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343 萬人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4328160" y="2095500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4242435" y="3724275"/>
              <a:ext cx="171450" cy="171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660206" y="413004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2018</a:t>
              </a:r>
            </a:p>
          </p:txBody>
        </p:sp>
      </p:grpSp>
      <p:grpSp>
        <p:nvGrpSpPr>
          <p:cNvPr id="40" name="!!gate-2025"/>
          <p:cNvGrpSpPr/>
          <p:nvPr/>
        </p:nvGrpSpPr>
        <p:grpSpPr>
          <a:xfrm>
            <a:off x="4566666" y="2005012"/>
            <a:ext cx="1229868" cy="2477072"/>
            <a:chOff x="4566666" y="2005012"/>
            <a:chExt cx="1229868" cy="2477072"/>
          </a:xfrm>
        </p:grpSpPr>
        <p:sp>
          <p:nvSpPr>
            <p:cNvPr id="34" name="TextBox 34"/>
            <p:cNvSpPr txBox="1"/>
            <p:nvPr/>
          </p:nvSpPr>
          <p:spPr>
            <a:xfrm>
              <a:off x="4875983" y="2005012"/>
              <a:ext cx="61123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66666" y="23774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超高齡社會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815811" y="2673668"/>
              <a:ext cx="731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467 萬人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5181600" y="2952750"/>
              <a:ext cx="9525" cy="742950"/>
            </a:xfrm>
            <a:custGeom>
              <a:avLst/>
              <a:gdLst/>
              <a:ahLst/>
              <a:cxnLst/>
              <a:rect l="l" t="t" r="r" b="b"/>
              <a:pathLst>
                <a:path w="9525" h="742950">
                  <a:moveTo>
                    <a:pt x="0" y="0"/>
                  </a:moveTo>
                  <a:lnTo>
                    <a:pt x="0" y="7429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5067300" y="36957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892581" y="413004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2025</a:t>
              </a:r>
            </a:p>
          </p:txBody>
        </p:sp>
      </p:grpSp>
      <p:grpSp>
        <p:nvGrpSpPr>
          <p:cNvPr id="47" name="!!gate-2037"/>
          <p:cNvGrpSpPr/>
          <p:nvPr/>
        </p:nvGrpSpPr>
        <p:grpSpPr>
          <a:xfrm>
            <a:off x="6272022" y="2005012"/>
            <a:ext cx="745236" cy="2477072"/>
            <a:chOff x="6272022" y="2005012"/>
            <a:chExt cx="745236" cy="2477072"/>
          </a:xfrm>
        </p:grpSpPr>
        <p:sp>
          <p:nvSpPr>
            <p:cNvPr id="41" name="TextBox 41"/>
            <p:cNvSpPr txBox="1"/>
            <p:nvPr/>
          </p:nvSpPr>
          <p:spPr>
            <a:xfrm>
              <a:off x="6339023" y="2005012"/>
              <a:ext cx="61123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30%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72022" y="23774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中推估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78851" y="2673668"/>
              <a:ext cx="731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652 萬人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6644640" y="295275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prstDash val="lgDash"/>
            </a:ln>
          </p:spPr>
        </p:sp>
        <p:sp>
          <p:nvSpPr>
            <p:cNvPr id="45" name="Ellipse 45"/>
            <p:cNvSpPr/>
            <p:nvPr/>
          </p:nvSpPr>
          <p:spPr>
            <a:xfrm>
              <a:off x="6558915" y="3724275"/>
              <a:ext cx="171450" cy="17145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55621" y="413004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2037</a:t>
              </a:r>
            </a:p>
          </p:txBody>
        </p:sp>
      </p:grpSp>
      <p:grpSp>
        <p:nvGrpSpPr>
          <p:cNvPr id="54" name="!!gate-2049"/>
          <p:cNvGrpSpPr/>
          <p:nvPr/>
        </p:nvGrpSpPr>
        <p:grpSpPr>
          <a:xfrm>
            <a:off x="7735062" y="2005012"/>
            <a:ext cx="745236" cy="2477072"/>
            <a:chOff x="7735062" y="2005012"/>
            <a:chExt cx="745236" cy="2477072"/>
          </a:xfrm>
        </p:grpSpPr>
        <p:sp>
          <p:nvSpPr>
            <p:cNvPr id="48" name="TextBox 48"/>
            <p:cNvSpPr txBox="1"/>
            <p:nvPr/>
          </p:nvSpPr>
          <p:spPr>
            <a:xfrm>
              <a:off x="7802063" y="2005012"/>
              <a:ext cx="61123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40%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735062" y="23774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中推估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741891" y="2673668"/>
              <a:ext cx="731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769 萬人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8107680" y="295275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prstDash val="lgDash"/>
            </a:ln>
          </p:spPr>
        </p:sp>
        <p:sp>
          <p:nvSpPr>
            <p:cNvPr id="52" name="Ellipse 52"/>
            <p:cNvSpPr/>
            <p:nvPr/>
          </p:nvSpPr>
          <p:spPr>
            <a:xfrm>
              <a:off x="8021955" y="3724275"/>
              <a:ext cx="171450" cy="17145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818661" y="413004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2049</a:t>
              </a:r>
            </a:p>
          </p:txBody>
        </p:sp>
      </p:grpSp>
      <p:grpSp>
        <p:nvGrpSpPr>
          <p:cNvPr id="61" name="!!gate-2065"/>
          <p:cNvGrpSpPr/>
          <p:nvPr/>
        </p:nvGrpSpPr>
        <p:grpSpPr>
          <a:xfrm>
            <a:off x="9685782" y="2005012"/>
            <a:ext cx="745236" cy="2477072"/>
            <a:chOff x="9685782" y="2005012"/>
            <a:chExt cx="745236" cy="2477072"/>
          </a:xfrm>
        </p:grpSpPr>
        <p:sp>
          <p:nvSpPr>
            <p:cNvPr id="55" name="TextBox 55"/>
            <p:cNvSpPr txBox="1"/>
            <p:nvPr/>
          </p:nvSpPr>
          <p:spPr>
            <a:xfrm>
              <a:off x="9752783" y="2005012"/>
              <a:ext cx="61123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50%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685782" y="23774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中推估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692611" y="2673668"/>
              <a:ext cx="731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748 萬人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10058400" y="295275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prstDash val="lgDash"/>
            </a:ln>
          </p:spPr>
        </p:sp>
        <p:sp>
          <p:nvSpPr>
            <p:cNvPr id="59" name="Ellipse 59"/>
            <p:cNvSpPr/>
            <p:nvPr/>
          </p:nvSpPr>
          <p:spPr>
            <a:xfrm>
              <a:off x="9972675" y="3724275"/>
              <a:ext cx="171450" cy="17145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769381" y="413004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2065</a:t>
              </a:r>
            </a:p>
          </p:txBody>
        </p:sp>
      </p:grpSp>
      <p:grpSp>
        <p:nvGrpSpPr>
          <p:cNvPr id="64" name="!!interval-25"/>
          <p:cNvGrpSpPr/>
          <p:nvPr/>
        </p:nvGrpSpPr>
        <p:grpSpPr>
          <a:xfrm>
            <a:off x="1280160" y="4480560"/>
            <a:ext cx="3048000" cy="1638300"/>
            <a:chOff x="1280160" y="4480560"/>
            <a:chExt cx="3048000" cy="1638300"/>
          </a:xfrm>
        </p:grpSpPr>
        <p:sp>
          <p:nvSpPr>
            <p:cNvPr id="62" name="Freeform 62"/>
            <p:cNvSpPr/>
            <p:nvPr/>
          </p:nvSpPr>
          <p:spPr>
            <a:xfrm rot="-5400000">
              <a:off x="2689860" y="3070860"/>
              <a:ext cx="228600" cy="3048000"/>
            </a:xfrm>
            <a:prstGeom prst="leftBrac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2290153" y="4838700"/>
              <a:ext cx="102801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25 年</a:t>
              </a:r>
            </a:p>
          </p:txBody>
        </p:sp>
      </p:grpSp>
      <p:grpSp>
        <p:nvGrpSpPr>
          <p:cNvPr id="67" name="!!interval-7"/>
          <p:cNvGrpSpPr/>
          <p:nvPr/>
        </p:nvGrpSpPr>
        <p:grpSpPr>
          <a:xfrm>
            <a:off x="4328160" y="4476750"/>
            <a:ext cx="853440" cy="948690"/>
            <a:chOff x="4328160" y="4476750"/>
            <a:chExt cx="853440" cy="948690"/>
          </a:xfrm>
        </p:grpSpPr>
        <p:sp>
          <p:nvSpPr>
            <p:cNvPr id="65" name="Freeform 65"/>
            <p:cNvSpPr/>
            <p:nvPr/>
          </p:nvSpPr>
          <p:spPr>
            <a:xfrm rot="-5400000">
              <a:off x="4640580" y="4164330"/>
              <a:ext cx="228600" cy="853440"/>
            </a:xfrm>
            <a:prstGeom prst="leftBrace">
              <a:avLst/>
            </a:pr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4357487" y="4838700"/>
              <a:ext cx="79478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7 年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181600" y="4476750"/>
            <a:ext cx="1463040" cy="882967"/>
            <a:chOff x="5181600" y="4476750"/>
            <a:chExt cx="1463040" cy="882967"/>
          </a:xfrm>
        </p:grpSpPr>
        <p:sp>
          <p:nvSpPr>
            <p:cNvPr id="68" name="Freeform 68"/>
            <p:cNvSpPr/>
            <p:nvPr/>
          </p:nvSpPr>
          <p:spPr>
            <a:xfrm rot="-5400000">
              <a:off x="5798820" y="3859530"/>
              <a:ext cx="228600" cy="1463040"/>
            </a:xfrm>
            <a:prstGeom prst="leftBrac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527615" y="4919662"/>
              <a:ext cx="77101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12 年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00456" y="5634990"/>
            <a:ext cx="8607179" cy="352044"/>
            <a:chOff x="600456" y="5634990"/>
            <a:chExt cx="8607179" cy="352044"/>
          </a:xfrm>
        </p:grpSpPr>
        <p:sp>
          <p:nvSpPr>
            <p:cNvPr id="71" name="TextBox 71"/>
            <p:cNvSpPr txBox="1"/>
            <p:nvPr/>
          </p:nvSpPr>
          <p:spPr>
            <a:xfrm>
              <a:off x="600456" y="5634990"/>
              <a:ext cx="86071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依中推估，65 歲以上人口 2050 年達最高峰 </a:t>
              </a:r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771 萬人</a:t>
              </a:r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；2075 年占比為 </a:t>
              </a:r>
              <a:r>
                <a:rPr lang="zh-TW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52.9%</a:t>
              </a:r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73" name="TextBox 73"/>
            <p:cNvSpPr txBox="1"/>
            <p:nvPr/>
          </p:nvSpPr>
          <p:spPr>
            <a:xfrm>
              <a:off x="604266" y="6325552"/>
              <a:ext cx="66965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資料：國發會《中華民國人口推估（2026 年至 2075 年）》人口重要年表、表 19-3；2026 年以後為中推估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10354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15</a:t>
              </a:r>
            </a:p>
          </p:txBody>
        </p:sp>
      </p:grpSp>
    </p:spTree>
  </p:cSld>
  <p:clrMapOvr>
    <a:masterClrMapping/>
  </p:clrMapOvr>
  <mc:AlternateContent>
    <mc:Choice Requires="p159">
      <p:transition p14:dur="10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685800"/>
            <a:ext cx="7383761" cy="900684"/>
            <a:chOff x="594360" y="685800"/>
            <a:chExt cx="7383761" cy="900684"/>
          </a:xfrm>
        </p:grpSpPr>
        <p:sp>
          <p:nvSpPr>
            <p:cNvPr id="2" name="TextBox 2"/>
            <p:cNvSpPr txBox="1"/>
            <p:nvPr/>
          </p:nvSpPr>
          <p:spPr>
            <a:xfrm>
              <a:off x="594360" y="685800"/>
              <a:ext cx="738376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從高齡到超高齡，臺灣與韓國都只用 7 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0456" y="1234440"/>
              <a:ext cx="54461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65 歲以上人口占比跨過各道門檻的年份與所需年數</a:t>
              </a:r>
            </a:p>
          </p:txBody>
        </p:sp>
      </p:grpSp>
      <p:graphicFrame>
        <p:nvGraphicFramePr>
          <p:cNvPr id="5" name="aging-speed-table"/>
          <p:cNvGraphicFramePr>
            <a:graphicFrameLocks noGrp="1"/>
          </p:cNvGraphicFramePr>
          <p:nvPr/>
        </p:nvGraphicFramePr>
        <p:xfrm>
          <a:off x="609600" y="1714500"/>
          <a:ext cx="7620000" cy="382905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333500"/>
                <a:gridCol w="1333500"/>
                <a:gridCol w="1333500"/>
                <a:gridCol w="1333500"/>
                <a:gridCol w="1143000"/>
                <a:gridCol w="1143000"/>
              </a:tblGrid>
              <a:tr h="495300">
                <a:tc>
                  <a:txBody>
                    <a:bodyPr/>
                    <a:lstStyle/>
                    <a:p>
                      <a:pPr/>
                      <a:r>
                        <a:rPr lang="zh-TW" sz="1350" b="1">
                          <a:solidFill>
                            <a:schemeClr val="accent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國家</a:t>
                      </a:r>
                    </a:p>
                  </a:txBody>
                  <a:tcPr anchor="ctr">
                    <a:lnB w="19050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350" b="1">
                          <a:solidFill>
                            <a:schemeClr val="accent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高齡化 7%</a:t>
                      </a:r>
                    </a:p>
                  </a:txBody>
                  <a:tcPr anchor="ctr">
                    <a:lnB w="19050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350" b="1">
                          <a:solidFill>
                            <a:schemeClr val="accent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高齡 14%</a:t>
                      </a:r>
                    </a:p>
                  </a:txBody>
                  <a:tcPr anchor="ctr">
                    <a:lnB w="19050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350" b="1">
                          <a:solidFill>
                            <a:schemeClr val="accent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超高齡 20%</a:t>
                      </a:r>
                    </a:p>
                  </a:txBody>
                  <a:tcPr anchor="ctr">
                    <a:lnB w="19050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350" b="1">
                          <a:solidFill>
                            <a:schemeClr val="accent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7→14% 年數</a:t>
                      </a:r>
                    </a:p>
                  </a:txBody>
                  <a:tcPr anchor="ctr">
                    <a:lnB w="19050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350" b="1">
                          <a:solidFill>
                            <a:schemeClr val="accent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14→20% 年數</a:t>
                      </a:r>
                    </a:p>
                  </a:txBody>
                  <a:tcPr anchor="ctr">
                    <a:lnB w="19050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/>
                      <a:r>
                        <a:rPr lang="zh-TW" sz="1800" b="1">
                          <a:solidFill>
                            <a:schemeClr val="accent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臺灣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2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8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1993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2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8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2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800" b="1">
                          <a:solidFill>
                            <a:schemeClr val="accent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2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8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2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800" b="1">
                          <a:solidFill>
                            <a:schemeClr val="accent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2">
                        <a:alpha val="10000"/>
                      </a:schemeClr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/>
                      <a:r>
                        <a:rPr lang="zh-TW" sz="18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8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1970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8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1994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8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8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8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/>
                      <a:r>
                        <a:rPr lang="zh-TW" sz="18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韓國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8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8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8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8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800" b="1">
                          <a:solidFill>
                            <a:schemeClr val="accent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/>
                      <a:r>
                        <a:rPr lang="zh-TW" sz="18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美國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8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1942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8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8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2029*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8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8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16*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/>
                      <a:r>
                        <a:rPr lang="zh-TW" sz="18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英國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8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1929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8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1975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8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2028*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8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8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53*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/>
                      <a:r>
                        <a:rPr lang="zh-TW" sz="18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德國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8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1932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8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1971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8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8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8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/>
                      <a:r>
                        <a:rPr lang="zh-TW" sz="18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法國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8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1864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8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1990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8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8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800" b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0" name="Group 10"/>
          <p:cNvGrpSpPr/>
          <p:nvPr/>
        </p:nvGrpSpPr>
        <p:grpSpPr>
          <a:xfrm>
            <a:off x="8610600" y="1714500"/>
            <a:ext cx="2767584" cy="3829050"/>
            <a:chOff x="8610600" y="1714500"/>
            <a:chExt cx="2767584" cy="3829050"/>
          </a:xfrm>
        </p:grpSpPr>
        <p:sp>
          <p:nvSpPr>
            <p:cNvPr id="6" name="Line 6"/>
            <p:cNvSpPr/>
            <p:nvPr/>
          </p:nvSpPr>
          <p:spPr>
            <a:xfrm>
              <a:off x="8610600" y="1714500"/>
              <a:ext cx="9525" cy="3829050"/>
            </a:xfrm>
            <a:custGeom>
              <a:avLst/>
              <a:gdLst/>
              <a:ahLst/>
              <a:cxnLst/>
              <a:rect l="l" t="t" r="r" b="b"/>
              <a:pathLst>
                <a:path w="9525" h="3829050">
                  <a:moveTo>
                    <a:pt x="0" y="0"/>
                  </a:moveTo>
                  <a:lnTo>
                    <a:pt x="0" y="38290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56142" y="19307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怎麼讀這張表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752332" y="2268855"/>
              <a:ext cx="2364296" cy="1172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TW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報告所列 18 國中，</a:t>
              </a:r>
              <a:br/>
              <a:r>
                <a:rPr lang="zh-TW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14%→20% 最短的是</a:t>
              </a:r>
              <a:br/>
              <a:r>
                <a:rPr lang="zh-TW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臺灣與韓國的 7 年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53856" y="3615690"/>
              <a:ext cx="2624328" cy="1723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日本用了 11 年，</a:t>
              </a:r>
              <a:br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德國 36 年，法國 28 年。</a:t>
              </a:r>
              <a:br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美國、英國依推估要到</a:t>
              </a:r>
              <a:br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2029、2028 年</a:t>
              </a:r>
              <a:br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才跨過 20%。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4266" y="5735002"/>
            <a:ext cx="10983468" cy="795909"/>
            <a:chOff x="604266" y="5735002"/>
            <a:chExt cx="10983468" cy="795909"/>
          </a:xfrm>
        </p:grpSpPr>
        <p:sp>
          <p:nvSpPr>
            <p:cNvPr id="11" name="TextBox 11"/>
            <p:cNvSpPr txBox="1"/>
            <p:nvPr/>
          </p:nvSpPr>
          <p:spPr>
            <a:xfrm>
              <a:off x="604266" y="5735002"/>
              <a:ext cx="43713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註：* 為中推估，其餘為實際值；各國基準日不同（臺灣為年底數）。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4266" y="6325552"/>
              <a:ext cx="58979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資料：國發會《中華民國人口推估（2026 年至 2075 年）》表 24-11 主要國家高齡化轉變速度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10354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654368"/>
            <a:ext cx="7299960" cy="884872"/>
            <a:chOff x="594360" y="654368"/>
            <a:chExt cx="7299960" cy="88487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6543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為什麼這麼快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952500"/>
              <a:ext cx="72999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兩股力量同時作用：出生變少、壽命變長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324350" y="2038350"/>
            <a:ext cx="3543300" cy="3543300"/>
            <a:chOff x="4324350" y="2038350"/>
            <a:chExt cx="3543300" cy="3543300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81500" y="2095500"/>
              <a:ext cx="3429000" cy="3429000"/>
            </a:xfrm>
            <a:prstGeom prst="ellipse">
              <a:avLst/>
            </a:prstGeom>
          </p:spPr>
        </p:pic>
        <p:sp>
          <p:nvSpPr>
            <p:cNvPr id="6" name="Ellipse 6"/>
            <p:cNvSpPr/>
            <p:nvPr/>
          </p:nvSpPr>
          <p:spPr>
            <a:xfrm>
              <a:off x="4324350" y="2038350"/>
              <a:ext cx="3543300" cy="3543300"/>
            </a:xfrm>
            <a:prstGeom prst="ellipse">
              <a:avLst/>
            </a:prstGeom>
            <a:noFill/>
            <a:ln w="19050">
              <a:solidFill>
                <a:schemeClr val="accent6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90550" y="2663190"/>
            <a:ext cx="2975374" cy="1817561"/>
            <a:chOff x="590550" y="2663190"/>
            <a:chExt cx="2975374" cy="1817561"/>
          </a:xfrm>
        </p:grpSpPr>
        <p:sp>
          <p:nvSpPr>
            <p:cNvPr id="8" name="TextBox 8"/>
            <p:cNvSpPr txBox="1"/>
            <p:nvPr/>
          </p:nvSpPr>
          <p:spPr>
            <a:xfrm>
              <a:off x="600456" y="26631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出生變少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0550" y="3021330"/>
              <a:ext cx="2975374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66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0.695</a:t>
              </a:r>
              <a:r>
                <a:rPr lang="zh-TW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 xml:space="preserve"> 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2742" y="3969068"/>
              <a:ext cx="22854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2025 年總生育率，歷史最低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2742" y="4216718"/>
              <a:ext cx="16220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2024 年為 0.885 人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3810000" y="3848100"/>
            <a:ext cx="381000" cy="304800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8515350" y="2663190"/>
            <a:ext cx="2661094" cy="1817561"/>
            <a:chOff x="8515350" y="2663190"/>
            <a:chExt cx="2661094" cy="1817561"/>
          </a:xfrm>
        </p:grpSpPr>
        <p:sp>
          <p:nvSpPr>
            <p:cNvPr id="14" name="TextBox 14"/>
            <p:cNvSpPr txBox="1"/>
            <p:nvPr/>
          </p:nvSpPr>
          <p:spPr>
            <a:xfrm>
              <a:off x="8525256" y="26631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壽命變長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15350" y="3021330"/>
              <a:ext cx="2462270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6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87.7</a:t>
              </a:r>
              <a:r>
                <a:rPr lang="zh-TW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歲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27542" y="3969068"/>
              <a:ext cx="26489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2075 年零歲平均餘命（中推估）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27542" y="4216718"/>
              <a:ext cx="1522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2025 年為 81.3 歲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8001000" y="3848100"/>
            <a:ext cx="381000" cy="304800"/>
          </a:xfrm>
          <a:prstGeom prst="leftArrow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1555547" y="5787390"/>
            <a:ext cx="9080906" cy="352044"/>
            <a:chOff x="1555547" y="5787390"/>
            <a:chExt cx="9080906" cy="352044"/>
          </a:xfrm>
        </p:grpSpPr>
        <p:sp>
          <p:nvSpPr>
            <p:cNvPr id="20" name="TextBox 20"/>
            <p:cNvSpPr txBox="1"/>
            <p:nvPr/>
          </p:nvSpPr>
          <p:spPr>
            <a:xfrm>
              <a:off x="1555547" y="5787390"/>
              <a:ext cx="90809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再加上戰後嬰兒潮世代陸續邁入老年，65 歲以上人口的占比與年齡中位數持續上升。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22" name="TextBox 22"/>
            <p:cNvSpPr txBox="1"/>
            <p:nvPr/>
          </p:nvSpPr>
          <p:spPr>
            <a:xfrm>
              <a:off x="604266" y="6325552"/>
              <a:ext cx="68167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資料：國發會《中華民國人口推估（2026 年至 2075 年）》百年人口重要指標、表 1；總生育率為內政部統計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0354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xmlns:p="http://schemas.openxmlformats.org/presentationml/2006/main" id="18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685800"/>
            <a:ext cx="5533073" cy="881634"/>
            <a:chOff x="594360" y="685800"/>
            <a:chExt cx="5533073" cy="881634"/>
          </a:xfrm>
        </p:grpSpPr>
        <p:sp>
          <p:nvSpPr>
            <p:cNvPr id="2" name="TextBox 2"/>
            <p:cNvSpPr txBox="1"/>
            <p:nvPr/>
          </p:nvSpPr>
          <p:spPr>
            <a:xfrm>
              <a:off x="594360" y="685800"/>
              <a:ext cx="553307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2020 年起，死亡數超過出生數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0456" y="1215390"/>
              <a:ext cx="52038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出生與死亡人數，1990–2075 年（每 5 年一點）</a:t>
              </a:r>
            </a:p>
          </p:txBody>
        </p:sp>
      </p:grpSp>
      <p:grpSp>
        <p:nvGrpSpPr>
          <p:cNvPr id="10" name="births-deaths-line"/>
          <p:cNvGrpSpPr/>
          <p:nvPr/>
        </p:nvGrpSpPr>
        <p:grpSpPr>
          <a:xfrm>
            <a:off x="609600" y="1524000"/>
            <a:ext cx="14249400" cy="4286250"/>
            <a:chOff x="609600" y="1524000"/>
            <a:chExt cx="14249400" cy="4286250"/>
          </a:xfrm>
        </p:grpSpPr>
        <p:graphicFrame>
          <p:nvGraphicFramePr>
            <p:cNvPr id="5" name="births-deaths-line"/>
            <p:cNvGraphicFramePr>
              <a:graphicFrameLocks noGrp="1"/>
            </p:cNvGraphicFramePr>
            <p:nvPr/>
          </p:nvGraphicFramePr>
          <p:xfrm>
            <a:off x="609600" y="1524000"/>
            <a:ext cx="8191500" cy="4286250"/>
          </p:xfrm>
          <a:graphic>
            <a:graphicData uri="http://schemas.openxmlformats.org/drawingml/2006/chart">
              <c:chart xmlns:c="http://schemas.openxmlformats.org/drawingml/2006/chart" r:id="rId2"/>
            </a:graphicData>
          </a:graphic>
        </p:graphicFrame>
        <p:sp>
          <p:nvSpPr>
            <p:cNvPr id="6" name="Chart Note 6"/>
            <p:cNvSpPr txBox="1"/>
            <p:nvPr/>
          </p:nvSpPr>
          <p:spPr>
            <a:xfrm>
              <a:off x="6667500" y="1768792"/>
              <a:ext cx="81915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l"/>
              <a:r>
                <a:rPr lang="zh-TW" sz="1350">
                  <a:solidFill>
                    <a:srgbClr val="1E232B"/>
                  </a:solidFill>
                  <a:latin typeface="Microsoft JhengHei"/>
                  <a:ea typeface="Microsoft JhengHei"/>
                  <a:cs typeface="Microsoft JhengHei"/>
                </a:rPr>
                <a:t>死亡數</a:t>
              </a:r>
            </a:p>
          </p:txBody>
        </p:sp>
        <p:sp>
          <p:nvSpPr>
            <p:cNvPr id="7" name="Chart Note 7"/>
            <p:cNvSpPr txBox="1"/>
            <p:nvPr/>
          </p:nvSpPr>
          <p:spPr>
            <a:xfrm>
              <a:off x="6667500" y="4988242"/>
              <a:ext cx="81915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l"/>
              <a:r>
                <a:rPr lang="zh-TW" sz="1350">
                  <a:solidFill>
                    <a:srgbClr val="1E232B"/>
                  </a:solidFill>
                  <a:latin typeface="Microsoft JhengHei"/>
                  <a:ea typeface="Microsoft JhengHei"/>
                  <a:cs typeface="Microsoft JhengHei"/>
                </a:rPr>
                <a:t>出生數</a:t>
              </a:r>
            </a:p>
          </p:txBody>
        </p:sp>
        <p:sp>
          <p:nvSpPr>
            <p:cNvPr id="8" name="Chart Note 8"/>
            <p:cNvSpPr txBox="1"/>
            <p:nvPr/>
          </p:nvSpPr>
          <p:spPr>
            <a:xfrm>
              <a:off x="4191000" y="1730692"/>
              <a:ext cx="81915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l"/>
              <a:r>
                <a:rPr lang="zh-TW" sz="1350">
                  <a:solidFill>
                    <a:srgbClr val="1E232B"/>
                  </a:solidFill>
                  <a:latin typeface="Microsoft JhengHei"/>
                  <a:ea typeface="Microsoft JhengHei"/>
                  <a:cs typeface="Microsoft JhengHei"/>
                </a:rPr>
                <a:t>2026 年起為中推估</a:t>
              </a:r>
            </a:p>
          </p:txBody>
        </p:sp>
        <p:sp>
          <p:nvSpPr>
            <p:cNvPr id="9" name="Chart Note 9"/>
            <p:cNvSpPr txBox="1"/>
            <p:nvPr/>
          </p:nvSpPr>
          <p:spPr>
            <a:xfrm>
              <a:off x="1143000" y="4816792"/>
              <a:ext cx="81915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l"/>
              <a:r>
                <a:rPr lang="zh-TW" sz="1350">
                  <a:solidFill>
                    <a:srgbClr val="1E232B"/>
                  </a:solidFill>
                  <a:latin typeface="Microsoft JhengHei"/>
                  <a:ea typeface="Microsoft JhengHei"/>
                  <a:cs typeface="Microsoft JhengHei"/>
                </a:rPr>
                <a:t>2020 年起死亡數超過出生數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991600" y="1714500"/>
            <a:ext cx="2590800" cy="4095750"/>
            <a:chOff x="8991600" y="1714500"/>
            <a:chExt cx="2590800" cy="4095750"/>
          </a:xfrm>
        </p:grpSpPr>
        <p:sp>
          <p:nvSpPr>
            <p:cNvPr id="11" name="Line 11"/>
            <p:cNvSpPr/>
            <p:nvPr/>
          </p:nvSpPr>
          <p:spPr>
            <a:xfrm>
              <a:off x="8991600" y="1714500"/>
              <a:ext cx="9525" cy="4095750"/>
            </a:xfrm>
            <a:custGeom>
              <a:avLst/>
              <a:gdLst/>
              <a:ahLst/>
              <a:cxnLst/>
              <a:rect l="l" t="t" r="r" b="b"/>
              <a:pathLst>
                <a:path w="9525" h="4095750">
                  <a:moveTo>
                    <a:pt x="0" y="0"/>
                  </a:moveTo>
                  <a:lnTo>
                    <a:pt x="0" y="40957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13342" y="18545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交叉點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209532" y="2192655"/>
              <a:ext cx="104613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2020 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211056" y="2606040"/>
              <a:ext cx="1572768" cy="13235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死亡 17.3 萬人</a:t>
              </a:r>
              <a:br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出生 16.5 萬人</a:t>
              </a:r>
              <a:br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人口自然增加</a:t>
              </a:r>
              <a:br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由正轉負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9220200" y="3810000"/>
              <a:ext cx="2362200" cy="9525"/>
            </a:xfrm>
            <a:custGeom>
              <a:avLst/>
              <a:gdLst/>
              <a:ahLst/>
              <a:cxnLst/>
              <a:rect l="l" t="t" r="r" b="b"/>
              <a:pathLst>
                <a:path w="2362200" h="9525">
                  <a:moveTo>
                    <a:pt x="0" y="0"/>
                  </a:moveTo>
                  <a:lnTo>
                    <a:pt x="2362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13342" y="4007168"/>
              <a:ext cx="12749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中推估 2075 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211056" y="4320540"/>
              <a:ext cx="1601343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出生 </a:t>
              </a:r>
              <a:r>
                <a:rPr lang="zh-TW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2.7 萬人</a:t>
              </a:r>
              <a:br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死亡 </a:t>
              </a:r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30.5 萬人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213342" y="5264468"/>
              <a:ext cx="169392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死亡數 2061 年達高峰</a:t>
              </a:r>
              <a:br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31.8 萬人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20" name="TextBox 20"/>
            <p:cNvSpPr txBox="1"/>
            <p:nvPr/>
          </p:nvSpPr>
          <p:spPr>
            <a:xfrm>
              <a:off x="604266" y="6325552"/>
              <a:ext cx="82514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資料：國發會《中華民國人口推估（2026 年至 2075 年）》表 19-2、表 21-2；2025 年以前為內政部實際值，2026 年以後為中推估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10354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685800"/>
            <a:ext cx="7148512" cy="862584"/>
            <a:chOff x="594360" y="685800"/>
            <a:chExt cx="7148512" cy="862584"/>
          </a:xfrm>
        </p:grpSpPr>
        <p:sp>
          <p:nvSpPr>
            <p:cNvPr id="2" name="TextBox 2"/>
            <p:cNvSpPr txBox="1"/>
            <p:nvPr/>
          </p:nvSpPr>
          <p:spPr>
            <a:xfrm>
              <a:off x="594360" y="685800"/>
              <a:ext cx="714851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2026 年：中間寬、兩端窄的「燈籠型」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0456" y="1196340"/>
              <a:ext cx="44163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分性別、每 5 歲一組的人口數（中推估）</a:t>
              </a:r>
            </a:p>
          </p:txBody>
        </p:sp>
      </p:grpSp>
      <p:grpSp>
        <p:nvGrpSpPr>
          <p:cNvPr id="49" name="!!pyramid-frame"/>
          <p:cNvGrpSpPr/>
          <p:nvPr/>
        </p:nvGrpSpPr>
        <p:grpSpPr>
          <a:xfrm>
            <a:off x="697201" y="1587818"/>
            <a:ext cx="7559097" cy="4714493"/>
            <a:chOff x="697201" y="1587818"/>
            <a:chExt cx="7559097" cy="4714493"/>
          </a:xfrm>
        </p:grpSpPr>
        <p:grpSp>
          <p:nvGrpSpPr>
            <p:cNvPr id="13" name="Group 13"/>
            <p:cNvGrpSpPr/>
            <p:nvPr/>
          </p:nvGrpSpPr>
          <p:grpSpPr>
            <a:xfrm>
              <a:off x="819150" y="1809750"/>
              <a:ext cx="7324725" cy="4019550"/>
              <a:chOff x="819150" y="1809750"/>
              <a:chExt cx="7324725" cy="4019550"/>
            </a:xfrm>
          </p:grpSpPr>
          <p:grpSp>
            <p:nvGrpSpPr>
              <p:cNvPr id="9" name="Group 9"/>
              <p:cNvGrpSpPr/>
              <p:nvPr/>
            </p:nvGrpSpPr>
            <p:grpSpPr>
              <a:xfrm>
                <a:off x="819150" y="1809750"/>
                <a:ext cx="7324725" cy="4019550"/>
                <a:chOff x="819150" y="1809750"/>
                <a:chExt cx="7324725" cy="4019550"/>
              </a:xfrm>
            </p:grpSpPr>
            <p:sp>
              <p:nvSpPr>
                <p:cNvPr id="5" name="Line 5"/>
                <p:cNvSpPr/>
                <p:nvPr/>
              </p:nvSpPr>
              <p:spPr>
                <a:xfrm>
                  <a:off x="819150" y="1809750"/>
                  <a:ext cx="9525" cy="401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019550">
                      <a:moveTo>
                        <a:pt x="0" y="0"/>
                      </a:moveTo>
                      <a:lnTo>
                        <a:pt x="0" y="4019550"/>
                      </a:lnTo>
                    </a:path>
                  </a:pathLst>
                </a:custGeom>
                <a:noFill/>
                <a:ln w="9525">
                  <a:solidFill>
                    <a:srgbClr val="E3DCCF"/>
                  </a:solidFill>
                </a:ln>
              </p:spPr>
            </p:sp>
            <p:sp>
              <p:nvSpPr>
                <p:cNvPr id="6" name="Line 6"/>
                <p:cNvSpPr/>
                <p:nvPr/>
              </p:nvSpPr>
              <p:spPr>
                <a:xfrm>
                  <a:off x="2438400" y="1809750"/>
                  <a:ext cx="9525" cy="401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019550">
                      <a:moveTo>
                        <a:pt x="0" y="0"/>
                      </a:moveTo>
                      <a:lnTo>
                        <a:pt x="0" y="4019550"/>
                      </a:lnTo>
                    </a:path>
                  </a:pathLst>
                </a:custGeom>
                <a:noFill/>
                <a:ln w="9525">
                  <a:solidFill>
                    <a:srgbClr val="E3DCCF"/>
                  </a:solidFill>
                </a:ln>
              </p:spPr>
            </p:sp>
            <p:sp>
              <p:nvSpPr>
                <p:cNvPr id="7" name="Line 7"/>
                <p:cNvSpPr/>
                <p:nvPr/>
              </p:nvSpPr>
              <p:spPr>
                <a:xfrm>
                  <a:off x="6515100" y="1809750"/>
                  <a:ext cx="9525" cy="401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019550">
                      <a:moveTo>
                        <a:pt x="0" y="0"/>
                      </a:moveTo>
                      <a:lnTo>
                        <a:pt x="0" y="4019550"/>
                      </a:lnTo>
                    </a:path>
                  </a:pathLst>
                </a:custGeom>
                <a:noFill/>
                <a:ln w="9525">
                  <a:solidFill>
                    <a:srgbClr val="E3DCCF"/>
                  </a:solidFill>
                </a:ln>
              </p:spPr>
            </p:sp>
            <p:sp>
              <p:nvSpPr>
                <p:cNvPr id="8" name="Line 8"/>
                <p:cNvSpPr/>
                <p:nvPr/>
              </p:nvSpPr>
              <p:spPr>
                <a:xfrm>
                  <a:off x="8134350" y="1809750"/>
                  <a:ext cx="9525" cy="401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019550">
                      <a:moveTo>
                        <a:pt x="0" y="0"/>
                      </a:moveTo>
                      <a:lnTo>
                        <a:pt x="0" y="4019550"/>
                      </a:lnTo>
                    </a:path>
                  </a:pathLst>
                </a:custGeom>
                <a:noFill/>
                <a:ln w="9525">
                  <a:solidFill>
                    <a:srgbClr val="E3DCCF"/>
                  </a:solidFill>
                </a:ln>
              </p:spPr>
            </p:sp>
          </p:grpSp>
          <p:grpSp>
            <p:nvGrpSpPr>
              <p:cNvPr id="12" name="Group 12"/>
              <p:cNvGrpSpPr/>
              <p:nvPr/>
            </p:nvGrpSpPr>
            <p:grpSpPr>
              <a:xfrm>
                <a:off x="4057650" y="1809750"/>
                <a:ext cx="847725" cy="4019550"/>
                <a:chOff x="4057650" y="1809750"/>
                <a:chExt cx="847725" cy="4019550"/>
              </a:xfrm>
            </p:grpSpPr>
            <p:sp>
              <p:nvSpPr>
                <p:cNvPr id="10" name="Line 10"/>
                <p:cNvSpPr/>
                <p:nvPr/>
              </p:nvSpPr>
              <p:spPr>
                <a:xfrm>
                  <a:off x="4057650" y="1809750"/>
                  <a:ext cx="9525" cy="401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019550">
                      <a:moveTo>
                        <a:pt x="0" y="0"/>
                      </a:moveTo>
                      <a:lnTo>
                        <a:pt x="0" y="4019550"/>
                      </a:lnTo>
                    </a:path>
                  </a:pathLst>
                </a:custGeom>
                <a:noFill/>
                <a:ln w="14288">
                  <a:solidFill>
                    <a:schemeClr val="accent1"/>
                  </a:solidFill>
                </a:ln>
              </p:spPr>
            </p:sp>
            <p:sp>
              <p:nvSpPr>
                <p:cNvPr id="11" name="Line 11"/>
                <p:cNvSpPr/>
                <p:nvPr/>
              </p:nvSpPr>
              <p:spPr>
                <a:xfrm>
                  <a:off x="4895850" y="1809750"/>
                  <a:ext cx="9525" cy="401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019550">
                      <a:moveTo>
                        <a:pt x="0" y="0"/>
                      </a:moveTo>
                      <a:lnTo>
                        <a:pt x="0" y="4019550"/>
                      </a:lnTo>
                    </a:path>
                  </a:pathLst>
                </a:custGeom>
                <a:noFill/>
                <a:ln w="14288">
                  <a:solidFill>
                    <a:schemeClr val="accent1"/>
                  </a:solidFill>
                </a:ln>
              </p:spPr>
            </p:sp>
          </p:grpSp>
        </p:grpSp>
        <p:sp>
          <p:nvSpPr>
            <p:cNvPr id="14" name="Line 14"/>
            <p:cNvSpPr/>
            <p:nvPr/>
          </p:nvSpPr>
          <p:spPr>
            <a:xfrm>
              <a:off x="762000" y="3333750"/>
              <a:ext cx="7429500" cy="9525"/>
            </a:xfrm>
            <a:custGeom>
              <a:avLst/>
              <a:gdLst/>
              <a:ahLst/>
              <a:cxnLst/>
              <a:rect l="l" t="t" r="r" b="b"/>
              <a:pathLst>
                <a:path w="7429500" h="9525">
                  <a:moveTo>
                    <a:pt x="0" y="0"/>
                  </a:moveTo>
                  <a:lnTo>
                    <a:pt x="74295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  <a:prstDash val="lgDash"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6666" y="3163252"/>
              <a:ext cx="3598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65 歲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4277058" y="1839278"/>
              <a:ext cx="399383" cy="4015359"/>
              <a:chOff x="4277058" y="1839278"/>
              <a:chExt cx="399383" cy="4015359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4354801" y="5649278"/>
                <a:ext cx="24389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0–4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354801" y="5458778"/>
                <a:ext cx="24389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5–9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277058" y="52682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10–14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277058" y="50777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15–19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277058" y="48872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20–24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277058" y="46967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25–29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277058" y="45062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30–34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277058" y="43157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35–39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277058" y="41252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40–44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277058" y="39347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45–49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277058" y="37442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50–54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277058" y="35537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55–59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277058" y="33632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60–64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277058" y="31727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65–69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277058" y="29822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70–74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277058" y="27917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75–79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277058" y="26012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80–84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277058" y="24107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85–89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277058" y="22202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90–94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277058" y="20297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95–99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315930" y="1839278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100+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697201" y="5906452"/>
              <a:ext cx="7559097" cy="205359"/>
              <a:chOff x="697201" y="5906452"/>
              <a:chExt cx="7559097" cy="205359"/>
            </a:xfrm>
          </p:grpSpPr>
          <p:sp>
            <p:nvSpPr>
              <p:cNvPr id="38" name="TextBox 38"/>
              <p:cNvSpPr txBox="1"/>
              <p:nvPr/>
            </p:nvSpPr>
            <p:spPr>
              <a:xfrm>
                <a:off x="697201" y="5906452"/>
                <a:ext cx="24389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100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2355323" y="5906452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50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013444" y="5906452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851644" y="5906452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432023" y="5906452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50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012401" y="5906452"/>
                <a:ext cx="24389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100</a:t>
                </a:r>
              </a:p>
            </p:txBody>
          </p:sp>
        </p:grpSp>
        <p:sp>
          <p:nvSpPr>
            <p:cNvPr id="45" name="TextBox 45"/>
            <p:cNvSpPr txBox="1"/>
            <p:nvPr/>
          </p:nvSpPr>
          <p:spPr>
            <a:xfrm>
              <a:off x="4330065" y="60969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萬人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773805" y="158781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男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984242" y="158781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女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400740" y="162020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歲</a:t>
              </a:r>
            </a:p>
          </p:txBody>
        </p:sp>
      </p:grpSp>
      <p:grpSp>
        <p:nvGrpSpPr>
          <p:cNvPr id="51" name="!!bar-m-00"/>
          <p:cNvGrpSpPr/>
          <p:nvPr/>
        </p:nvGrpSpPr>
        <p:grpSpPr>
          <a:xfrm>
            <a:off x="3016187" y="5638800"/>
            <a:ext cx="1041464" cy="152400"/>
            <a:chOff x="3016187" y="5638800"/>
            <a:chExt cx="1041464" cy="152400"/>
          </a:xfrm>
        </p:grpSpPr>
        <p:sp>
          <p:nvSpPr>
            <p:cNvPr id="50" name="Rectangle 50"/>
            <p:cNvSpPr/>
            <p:nvPr/>
          </p:nvSpPr>
          <p:spPr>
            <a:xfrm>
              <a:off x="3016187" y="5638800"/>
              <a:ext cx="1041464" cy="152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53" name="!!bar-m-01"/>
          <p:cNvGrpSpPr/>
          <p:nvPr/>
        </p:nvGrpSpPr>
        <p:grpSpPr>
          <a:xfrm>
            <a:off x="2575846" y="5448300"/>
            <a:ext cx="1481804" cy="152400"/>
            <a:chOff x="2575846" y="5448300"/>
            <a:chExt cx="1481804" cy="152400"/>
          </a:xfrm>
        </p:grpSpPr>
        <p:sp>
          <p:nvSpPr>
            <p:cNvPr id="52" name="Rectangle 52"/>
            <p:cNvSpPr/>
            <p:nvPr/>
          </p:nvSpPr>
          <p:spPr>
            <a:xfrm>
              <a:off x="2575846" y="5448300"/>
              <a:ext cx="1481804" cy="152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55" name="!!bar-m-02"/>
          <p:cNvGrpSpPr/>
          <p:nvPr/>
        </p:nvGrpSpPr>
        <p:grpSpPr>
          <a:xfrm>
            <a:off x="2262568" y="5257800"/>
            <a:ext cx="1795082" cy="152400"/>
            <a:chOff x="2262568" y="5257800"/>
            <a:chExt cx="1795082" cy="152400"/>
          </a:xfrm>
        </p:grpSpPr>
        <p:sp>
          <p:nvSpPr>
            <p:cNvPr id="54" name="Rectangle 54"/>
            <p:cNvSpPr/>
            <p:nvPr/>
          </p:nvSpPr>
          <p:spPr>
            <a:xfrm>
              <a:off x="2262568" y="5257800"/>
              <a:ext cx="1795082" cy="152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57" name="!!bar-m-03"/>
          <p:cNvGrpSpPr/>
          <p:nvPr/>
        </p:nvGrpSpPr>
        <p:grpSpPr>
          <a:xfrm>
            <a:off x="2431161" y="5067300"/>
            <a:ext cx="1626489" cy="152400"/>
            <a:chOff x="2431161" y="5067300"/>
            <a:chExt cx="1626489" cy="152400"/>
          </a:xfrm>
        </p:grpSpPr>
        <p:sp>
          <p:nvSpPr>
            <p:cNvPr id="56" name="Rectangle 56"/>
            <p:cNvSpPr/>
            <p:nvPr/>
          </p:nvSpPr>
          <p:spPr>
            <a:xfrm>
              <a:off x="2431161" y="5067300"/>
              <a:ext cx="1626489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59" name="!!bar-m-04"/>
          <p:cNvGrpSpPr/>
          <p:nvPr/>
        </p:nvGrpSpPr>
        <p:grpSpPr>
          <a:xfrm>
            <a:off x="2198084" y="4876800"/>
            <a:ext cx="1859566" cy="152400"/>
            <a:chOff x="2198084" y="4876800"/>
            <a:chExt cx="1859566" cy="152400"/>
          </a:xfrm>
        </p:grpSpPr>
        <p:sp>
          <p:nvSpPr>
            <p:cNvPr id="58" name="Rectangle 58"/>
            <p:cNvSpPr/>
            <p:nvPr/>
          </p:nvSpPr>
          <p:spPr>
            <a:xfrm>
              <a:off x="2198084" y="4876800"/>
              <a:ext cx="1859566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61" name="!!bar-m-05"/>
          <p:cNvGrpSpPr/>
          <p:nvPr/>
        </p:nvGrpSpPr>
        <p:grpSpPr>
          <a:xfrm>
            <a:off x="1663541" y="4686300"/>
            <a:ext cx="2394109" cy="152400"/>
            <a:chOff x="1663541" y="4686300"/>
            <a:chExt cx="2394109" cy="152400"/>
          </a:xfrm>
        </p:grpSpPr>
        <p:sp>
          <p:nvSpPr>
            <p:cNvPr id="60" name="Rectangle 60"/>
            <p:cNvSpPr/>
            <p:nvPr/>
          </p:nvSpPr>
          <p:spPr>
            <a:xfrm>
              <a:off x="1663541" y="4686300"/>
              <a:ext cx="2394109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63" name="!!bar-m-06"/>
          <p:cNvGrpSpPr/>
          <p:nvPr/>
        </p:nvGrpSpPr>
        <p:grpSpPr>
          <a:xfrm>
            <a:off x="1387888" y="4495800"/>
            <a:ext cx="2669762" cy="152400"/>
            <a:chOff x="1387888" y="4495800"/>
            <a:chExt cx="2669762" cy="152400"/>
          </a:xfrm>
        </p:grpSpPr>
        <p:sp>
          <p:nvSpPr>
            <p:cNvPr id="62" name="Rectangle 62"/>
            <p:cNvSpPr/>
            <p:nvPr/>
          </p:nvSpPr>
          <p:spPr>
            <a:xfrm>
              <a:off x="1387888" y="4495800"/>
              <a:ext cx="2669762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65" name="!!bar-m-07"/>
          <p:cNvGrpSpPr/>
          <p:nvPr/>
        </p:nvGrpSpPr>
        <p:grpSpPr>
          <a:xfrm>
            <a:off x="1402842" y="4305300"/>
            <a:ext cx="2654808" cy="152400"/>
            <a:chOff x="1402842" y="4305300"/>
            <a:chExt cx="2654808" cy="152400"/>
          </a:xfrm>
        </p:grpSpPr>
        <p:sp>
          <p:nvSpPr>
            <p:cNvPr id="64" name="Rectangle 64"/>
            <p:cNvSpPr/>
            <p:nvPr/>
          </p:nvSpPr>
          <p:spPr>
            <a:xfrm>
              <a:off x="1402842" y="4305300"/>
              <a:ext cx="2654808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67" name="!!bar-m-08"/>
          <p:cNvGrpSpPr/>
          <p:nvPr/>
        </p:nvGrpSpPr>
        <p:grpSpPr>
          <a:xfrm>
            <a:off x="1200817" y="4114800"/>
            <a:ext cx="2856833" cy="152400"/>
            <a:chOff x="1200817" y="4114800"/>
            <a:chExt cx="2856833" cy="152400"/>
          </a:xfrm>
        </p:grpSpPr>
        <p:sp>
          <p:nvSpPr>
            <p:cNvPr id="66" name="Rectangle 66"/>
            <p:cNvSpPr/>
            <p:nvPr/>
          </p:nvSpPr>
          <p:spPr>
            <a:xfrm>
              <a:off x="1200817" y="4114800"/>
              <a:ext cx="2856833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69" name="!!bar-m-09"/>
          <p:cNvGrpSpPr/>
          <p:nvPr/>
        </p:nvGrpSpPr>
        <p:grpSpPr>
          <a:xfrm>
            <a:off x="899731" y="3924300"/>
            <a:ext cx="3157918" cy="152400"/>
            <a:chOff x="899731" y="3924300"/>
            <a:chExt cx="3157918" cy="152400"/>
          </a:xfrm>
        </p:grpSpPr>
        <p:sp>
          <p:nvSpPr>
            <p:cNvPr id="68" name="Rectangle 68"/>
            <p:cNvSpPr/>
            <p:nvPr/>
          </p:nvSpPr>
          <p:spPr>
            <a:xfrm>
              <a:off x="899731" y="3924300"/>
              <a:ext cx="3157918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71" name="!!bar-m-10"/>
          <p:cNvGrpSpPr/>
          <p:nvPr/>
        </p:nvGrpSpPr>
        <p:grpSpPr>
          <a:xfrm>
            <a:off x="1254633" y="3733800"/>
            <a:ext cx="2803017" cy="152400"/>
            <a:chOff x="1254633" y="3733800"/>
            <a:chExt cx="2803017" cy="152400"/>
          </a:xfrm>
        </p:grpSpPr>
        <p:sp>
          <p:nvSpPr>
            <p:cNvPr id="70" name="Rectangle 70"/>
            <p:cNvSpPr/>
            <p:nvPr/>
          </p:nvSpPr>
          <p:spPr>
            <a:xfrm>
              <a:off x="1254633" y="3733800"/>
              <a:ext cx="2803017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73" name="!!bar-m-11"/>
          <p:cNvGrpSpPr/>
          <p:nvPr/>
        </p:nvGrpSpPr>
        <p:grpSpPr>
          <a:xfrm>
            <a:off x="1314736" y="3543300"/>
            <a:ext cx="2742914" cy="152400"/>
            <a:chOff x="1314736" y="3543300"/>
            <a:chExt cx="2742914" cy="152400"/>
          </a:xfrm>
        </p:grpSpPr>
        <p:sp>
          <p:nvSpPr>
            <p:cNvPr id="72" name="Rectangle 72"/>
            <p:cNvSpPr/>
            <p:nvPr/>
          </p:nvSpPr>
          <p:spPr>
            <a:xfrm>
              <a:off x="1314736" y="3543300"/>
              <a:ext cx="2742914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75" name="!!bar-m-12"/>
          <p:cNvGrpSpPr/>
          <p:nvPr/>
        </p:nvGrpSpPr>
        <p:grpSpPr>
          <a:xfrm>
            <a:off x="1312831" y="3352800"/>
            <a:ext cx="2744819" cy="152400"/>
            <a:chOff x="1312831" y="3352800"/>
            <a:chExt cx="2744819" cy="152400"/>
          </a:xfrm>
        </p:grpSpPr>
        <p:sp>
          <p:nvSpPr>
            <p:cNvPr id="74" name="Rectangle 74"/>
            <p:cNvSpPr/>
            <p:nvPr/>
          </p:nvSpPr>
          <p:spPr>
            <a:xfrm>
              <a:off x="1312831" y="3352800"/>
              <a:ext cx="2744819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77" name="!!bar-m-13"/>
          <p:cNvGrpSpPr/>
          <p:nvPr/>
        </p:nvGrpSpPr>
        <p:grpSpPr>
          <a:xfrm>
            <a:off x="1583817" y="3162300"/>
            <a:ext cx="2473833" cy="152400"/>
            <a:chOff x="1583817" y="3162300"/>
            <a:chExt cx="2473833" cy="152400"/>
          </a:xfrm>
        </p:grpSpPr>
        <p:sp>
          <p:nvSpPr>
            <p:cNvPr id="76" name="Rectangle 76"/>
            <p:cNvSpPr/>
            <p:nvPr/>
          </p:nvSpPr>
          <p:spPr>
            <a:xfrm>
              <a:off x="1583817" y="3162300"/>
              <a:ext cx="2473833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79" name="!!bar-m-14"/>
          <p:cNvGrpSpPr/>
          <p:nvPr/>
        </p:nvGrpSpPr>
        <p:grpSpPr>
          <a:xfrm>
            <a:off x="2006060" y="2971800"/>
            <a:ext cx="2051590" cy="152400"/>
            <a:chOff x="2006060" y="2971800"/>
            <a:chExt cx="2051590" cy="152400"/>
          </a:xfrm>
        </p:grpSpPr>
        <p:sp>
          <p:nvSpPr>
            <p:cNvPr id="78" name="Rectangle 78"/>
            <p:cNvSpPr/>
            <p:nvPr/>
          </p:nvSpPr>
          <p:spPr>
            <a:xfrm>
              <a:off x="2006060" y="2971800"/>
              <a:ext cx="205159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1" name="!!bar-m-15"/>
          <p:cNvGrpSpPr/>
          <p:nvPr/>
        </p:nvGrpSpPr>
        <p:grpSpPr>
          <a:xfrm>
            <a:off x="2733675" y="2781300"/>
            <a:ext cx="1323975" cy="152400"/>
            <a:chOff x="2733675" y="2781300"/>
            <a:chExt cx="1323975" cy="152400"/>
          </a:xfrm>
        </p:grpSpPr>
        <p:sp>
          <p:nvSpPr>
            <p:cNvPr id="80" name="Rectangle 80"/>
            <p:cNvSpPr/>
            <p:nvPr/>
          </p:nvSpPr>
          <p:spPr>
            <a:xfrm>
              <a:off x="2733675" y="2781300"/>
              <a:ext cx="1323975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3" name="!!bar-m-16"/>
          <p:cNvGrpSpPr/>
          <p:nvPr/>
        </p:nvGrpSpPr>
        <p:grpSpPr>
          <a:xfrm>
            <a:off x="3425476" y="2590800"/>
            <a:ext cx="632174" cy="152400"/>
            <a:chOff x="3425476" y="2590800"/>
            <a:chExt cx="632174" cy="152400"/>
          </a:xfrm>
        </p:grpSpPr>
        <p:sp>
          <p:nvSpPr>
            <p:cNvPr id="82" name="Rectangle 82"/>
            <p:cNvSpPr/>
            <p:nvPr/>
          </p:nvSpPr>
          <p:spPr>
            <a:xfrm>
              <a:off x="3425476" y="2590800"/>
              <a:ext cx="632174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5" name="!!bar-m-17"/>
          <p:cNvGrpSpPr/>
          <p:nvPr/>
        </p:nvGrpSpPr>
        <p:grpSpPr>
          <a:xfrm>
            <a:off x="3669982" y="2400300"/>
            <a:ext cx="387668" cy="152400"/>
            <a:chOff x="3669982" y="2400300"/>
            <a:chExt cx="387668" cy="152400"/>
          </a:xfrm>
        </p:grpSpPr>
        <p:sp>
          <p:nvSpPr>
            <p:cNvPr id="84" name="Rectangle 84"/>
            <p:cNvSpPr/>
            <p:nvPr/>
          </p:nvSpPr>
          <p:spPr>
            <a:xfrm>
              <a:off x="3669982" y="2400300"/>
              <a:ext cx="387668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7" name="!!bar-m-18"/>
          <p:cNvGrpSpPr/>
          <p:nvPr/>
        </p:nvGrpSpPr>
        <p:grpSpPr>
          <a:xfrm>
            <a:off x="3912013" y="2209800"/>
            <a:ext cx="145637" cy="152400"/>
            <a:chOff x="3912013" y="2209800"/>
            <a:chExt cx="145637" cy="152400"/>
          </a:xfrm>
        </p:grpSpPr>
        <p:sp>
          <p:nvSpPr>
            <p:cNvPr id="86" name="Rectangle 86"/>
            <p:cNvSpPr/>
            <p:nvPr/>
          </p:nvSpPr>
          <p:spPr>
            <a:xfrm>
              <a:off x="3912013" y="2209800"/>
              <a:ext cx="145637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9" name="!!bar-m-19"/>
          <p:cNvGrpSpPr/>
          <p:nvPr/>
        </p:nvGrpSpPr>
        <p:grpSpPr>
          <a:xfrm>
            <a:off x="4012311" y="2019300"/>
            <a:ext cx="45339" cy="152400"/>
            <a:chOff x="4012311" y="2019300"/>
            <a:chExt cx="45339" cy="152400"/>
          </a:xfrm>
        </p:grpSpPr>
        <p:sp>
          <p:nvSpPr>
            <p:cNvPr id="88" name="Rectangle 88"/>
            <p:cNvSpPr/>
            <p:nvPr/>
          </p:nvSpPr>
          <p:spPr>
            <a:xfrm>
              <a:off x="4012311" y="2019300"/>
              <a:ext cx="45339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91" name="!!bar-m-20"/>
          <p:cNvGrpSpPr/>
          <p:nvPr/>
        </p:nvGrpSpPr>
        <p:grpSpPr>
          <a:xfrm>
            <a:off x="4049744" y="1828800"/>
            <a:ext cx="7906" cy="152400"/>
            <a:chOff x="4049744" y="1828800"/>
            <a:chExt cx="7906" cy="152400"/>
          </a:xfrm>
        </p:grpSpPr>
        <p:sp>
          <p:nvSpPr>
            <p:cNvPr id="90" name="Rectangle 90"/>
            <p:cNvSpPr/>
            <p:nvPr/>
          </p:nvSpPr>
          <p:spPr>
            <a:xfrm>
              <a:off x="4049744" y="1828800"/>
              <a:ext cx="7906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93" name="!!bar-f-00"/>
          <p:cNvGrpSpPr/>
          <p:nvPr/>
        </p:nvGrpSpPr>
        <p:grpSpPr>
          <a:xfrm>
            <a:off x="4895850" y="5638800"/>
            <a:ext cx="971836" cy="152400"/>
            <a:chOff x="4895850" y="5638800"/>
            <a:chExt cx="971836" cy="152400"/>
          </a:xfrm>
        </p:grpSpPr>
        <p:sp>
          <p:nvSpPr>
            <p:cNvPr id="92" name="Rectangle 92"/>
            <p:cNvSpPr/>
            <p:nvPr/>
          </p:nvSpPr>
          <p:spPr>
            <a:xfrm>
              <a:off x="4895850" y="5638800"/>
              <a:ext cx="971836" cy="152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95" name="!!bar-f-01"/>
          <p:cNvGrpSpPr/>
          <p:nvPr/>
        </p:nvGrpSpPr>
        <p:grpSpPr>
          <a:xfrm>
            <a:off x="4895850" y="5448300"/>
            <a:ext cx="1382173" cy="152400"/>
            <a:chOff x="4895850" y="5448300"/>
            <a:chExt cx="1382173" cy="152400"/>
          </a:xfrm>
        </p:grpSpPr>
        <p:sp>
          <p:nvSpPr>
            <p:cNvPr id="94" name="Rectangle 94"/>
            <p:cNvSpPr/>
            <p:nvPr/>
          </p:nvSpPr>
          <p:spPr>
            <a:xfrm>
              <a:off x="4895850" y="5448300"/>
              <a:ext cx="1382173" cy="152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97" name="!!bar-f-02"/>
          <p:cNvGrpSpPr/>
          <p:nvPr/>
        </p:nvGrpSpPr>
        <p:grpSpPr>
          <a:xfrm>
            <a:off x="4895850" y="5257800"/>
            <a:ext cx="1672876" cy="152400"/>
            <a:chOff x="4895850" y="5257800"/>
            <a:chExt cx="1672876" cy="152400"/>
          </a:xfrm>
        </p:grpSpPr>
        <p:sp>
          <p:nvSpPr>
            <p:cNvPr id="96" name="Rectangle 96"/>
            <p:cNvSpPr/>
            <p:nvPr/>
          </p:nvSpPr>
          <p:spPr>
            <a:xfrm>
              <a:off x="4895850" y="5257800"/>
              <a:ext cx="1672876" cy="152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99" name="!!bar-f-03"/>
          <p:cNvGrpSpPr/>
          <p:nvPr/>
        </p:nvGrpSpPr>
        <p:grpSpPr>
          <a:xfrm>
            <a:off x="4895850" y="5067300"/>
            <a:ext cx="1499330" cy="152400"/>
            <a:chOff x="4895850" y="5067300"/>
            <a:chExt cx="1499330" cy="152400"/>
          </a:xfrm>
        </p:grpSpPr>
        <p:sp>
          <p:nvSpPr>
            <p:cNvPr id="98" name="Rectangle 98"/>
            <p:cNvSpPr/>
            <p:nvPr/>
          </p:nvSpPr>
          <p:spPr>
            <a:xfrm>
              <a:off x="4895850" y="5067300"/>
              <a:ext cx="149933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01" name="!!bar-f-04"/>
          <p:cNvGrpSpPr/>
          <p:nvPr/>
        </p:nvGrpSpPr>
        <p:grpSpPr>
          <a:xfrm>
            <a:off x="4895850" y="4876800"/>
            <a:ext cx="1705356" cy="152400"/>
            <a:chOff x="4895850" y="4876800"/>
            <a:chExt cx="1705356" cy="152400"/>
          </a:xfrm>
        </p:grpSpPr>
        <p:sp>
          <p:nvSpPr>
            <p:cNvPr id="100" name="Rectangle 100"/>
            <p:cNvSpPr/>
            <p:nvPr/>
          </p:nvSpPr>
          <p:spPr>
            <a:xfrm>
              <a:off x="4895850" y="4876800"/>
              <a:ext cx="1705356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03" name="!!bar-f-05"/>
          <p:cNvGrpSpPr/>
          <p:nvPr/>
        </p:nvGrpSpPr>
        <p:grpSpPr>
          <a:xfrm>
            <a:off x="4895850" y="4686300"/>
            <a:ext cx="2221516" cy="152400"/>
            <a:chOff x="4895850" y="4686300"/>
            <a:chExt cx="2221516" cy="152400"/>
          </a:xfrm>
        </p:grpSpPr>
        <p:sp>
          <p:nvSpPr>
            <p:cNvPr id="102" name="Rectangle 102"/>
            <p:cNvSpPr/>
            <p:nvPr/>
          </p:nvSpPr>
          <p:spPr>
            <a:xfrm>
              <a:off x="4895850" y="4686300"/>
              <a:ext cx="2221516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05" name="!!bar-f-06"/>
          <p:cNvGrpSpPr/>
          <p:nvPr/>
        </p:nvGrpSpPr>
        <p:grpSpPr>
          <a:xfrm>
            <a:off x="4895850" y="4495800"/>
            <a:ext cx="2506980" cy="152400"/>
            <a:chOff x="4895850" y="4495800"/>
            <a:chExt cx="2506980" cy="152400"/>
          </a:xfrm>
        </p:grpSpPr>
        <p:sp>
          <p:nvSpPr>
            <p:cNvPr id="104" name="Rectangle 104"/>
            <p:cNvSpPr/>
            <p:nvPr/>
          </p:nvSpPr>
          <p:spPr>
            <a:xfrm>
              <a:off x="4895850" y="4495800"/>
              <a:ext cx="250698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07" name="!!bar-f-07"/>
          <p:cNvGrpSpPr/>
          <p:nvPr/>
        </p:nvGrpSpPr>
        <p:grpSpPr>
          <a:xfrm>
            <a:off x="4895850" y="4305300"/>
            <a:ext cx="2516314" cy="152400"/>
            <a:chOff x="4895850" y="4305300"/>
            <a:chExt cx="2516314" cy="152400"/>
          </a:xfrm>
        </p:grpSpPr>
        <p:sp>
          <p:nvSpPr>
            <p:cNvPr id="106" name="Rectangle 106"/>
            <p:cNvSpPr/>
            <p:nvPr/>
          </p:nvSpPr>
          <p:spPr>
            <a:xfrm>
              <a:off x="4895850" y="4305300"/>
              <a:ext cx="2516314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09" name="!!bar-f-08"/>
          <p:cNvGrpSpPr/>
          <p:nvPr/>
        </p:nvGrpSpPr>
        <p:grpSpPr>
          <a:xfrm>
            <a:off x="4895850" y="4114800"/>
            <a:ext cx="2900362" cy="152400"/>
            <a:chOff x="4895850" y="4114800"/>
            <a:chExt cx="2900362" cy="152400"/>
          </a:xfrm>
        </p:grpSpPr>
        <p:sp>
          <p:nvSpPr>
            <p:cNvPr id="108" name="Rectangle 108"/>
            <p:cNvSpPr/>
            <p:nvPr/>
          </p:nvSpPr>
          <p:spPr>
            <a:xfrm>
              <a:off x="4895850" y="4114800"/>
              <a:ext cx="2900362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11" name="!!bar-f-09"/>
          <p:cNvGrpSpPr/>
          <p:nvPr/>
        </p:nvGrpSpPr>
        <p:grpSpPr>
          <a:xfrm>
            <a:off x="4895850" y="3924300"/>
            <a:ext cx="3293745" cy="152400"/>
            <a:chOff x="4895850" y="3924300"/>
            <a:chExt cx="3293745" cy="152400"/>
          </a:xfrm>
        </p:grpSpPr>
        <p:sp>
          <p:nvSpPr>
            <p:cNvPr id="110" name="Rectangle 110"/>
            <p:cNvSpPr/>
            <p:nvPr/>
          </p:nvSpPr>
          <p:spPr>
            <a:xfrm>
              <a:off x="4895850" y="3924300"/>
              <a:ext cx="3293745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13" name="!!bar-f-10"/>
          <p:cNvGrpSpPr/>
          <p:nvPr/>
        </p:nvGrpSpPr>
        <p:grpSpPr>
          <a:xfrm>
            <a:off x="4895850" y="3733800"/>
            <a:ext cx="2979515" cy="152400"/>
            <a:chOff x="4895850" y="3733800"/>
            <a:chExt cx="2979515" cy="152400"/>
          </a:xfrm>
        </p:grpSpPr>
        <p:sp>
          <p:nvSpPr>
            <p:cNvPr id="112" name="Rectangle 112"/>
            <p:cNvSpPr/>
            <p:nvPr/>
          </p:nvSpPr>
          <p:spPr>
            <a:xfrm>
              <a:off x="4895850" y="3733800"/>
              <a:ext cx="2979515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15" name="!!bar-f-11"/>
          <p:cNvGrpSpPr/>
          <p:nvPr/>
        </p:nvGrpSpPr>
        <p:grpSpPr>
          <a:xfrm>
            <a:off x="4895850" y="3543300"/>
            <a:ext cx="2917698" cy="152400"/>
            <a:chOff x="4895850" y="3543300"/>
            <a:chExt cx="2917698" cy="152400"/>
          </a:xfrm>
        </p:grpSpPr>
        <p:sp>
          <p:nvSpPr>
            <p:cNvPr id="114" name="Rectangle 114"/>
            <p:cNvSpPr/>
            <p:nvPr/>
          </p:nvSpPr>
          <p:spPr>
            <a:xfrm>
              <a:off x="4895850" y="3543300"/>
              <a:ext cx="2917698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17" name="!!bar-f-12"/>
          <p:cNvGrpSpPr/>
          <p:nvPr/>
        </p:nvGrpSpPr>
        <p:grpSpPr>
          <a:xfrm>
            <a:off x="4895850" y="3352800"/>
            <a:ext cx="2974848" cy="152400"/>
            <a:chOff x="4895850" y="3352800"/>
            <a:chExt cx="2974848" cy="152400"/>
          </a:xfrm>
        </p:grpSpPr>
        <p:sp>
          <p:nvSpPr>
            <p:cNvPr id="116" name="Rectangle 116"/>
            <p:cNvSpPr/>
            <p:nvPr/>
          </p:nvSpPr>
          <p:spPr>
            <a:xfrm>
              <a:off x="4895850" y="3352800"/>
              <a:ext cx="2974848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19" name="!!bar-f-13"/>
          <p:cNvGrpSpPr/>
          <p:nvPr/>
        </p:nvGrpSpPr>
        <p:grpSpPr>
          <a:xfrm>
            <a:off x="4895850" y="3162300"/>
            <a:ext cx="2766441" cy="152400"/>
            <a:chOff x="4895850" y="3162300"/>
            <a:chExt cx="2766441" cy="152400"/>
          </a:xfrm>
        </p:grpSpPr>
        <p:sp>
          <p:nvSpPr>
            <p:cNvPr id="118" name="Rectangle 118"/>
            <p:cNvSpPr/>
            <p:nvPr/>
          </p:nvSpPr>
          <p:spPr>
            <a:xfrm>
              <a:off x="4895850" y="3162300"/>
              <a:ext cx="2766441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21" name="!!bar-f-14"/>
          <p:cNvGrpSpPr/>
          <p:nvPr/>
        </p:nvGrpSpPr>
        <p:grpSpPr>
          <a:xfrm>
            <a:off x="4895850" y="2971800"/>
            <a:ext cx="2397442" cy="152400"/>
            <a:chOff x="4895850" y="2971800"/>
            <a:chExt cx="2397442" cy="152400"/>
          </a:xfrm>
        </p:grpSpPr>
        <p:sp>
          <p:nvSpPr>
            <p:cNvPr id="120" name="Rectangle 120"/>
            <p:cNvSpPr/>
            <p:nvPr/>
          </p:nvSpPr>
          <p:spPr>
            <a:xfrm>
              <a:off x="4895850" y="2971800"/>
              <a:ext cx="2397442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23" name="!!bar-f-15"/>
          <p:cNvGrpSpPr/>
          <p:nvPr/>
        </p:nvGrpSpPr>
        <p:grpSpPr>
          <a:xfrm>
            <a:off x="4895850" y="2781300"/>
            <a:ext cx="1640586" cy="152400"/>
            <a:chOff x="4895850" y="2781300"/>
            <a:chExt cx="1640586" cy="152400"/>
          </a:xfrm>
        </p:grpSpPr>
        <p:sp>
          <p:nvSpPr>
            <p:cNvPr id="122" name="Rectangle 122"/>
            <p:cNvSpPr/>
            <p:nvPr/>
          </p:nvSpPr>
          <p:spPr>
            <a:xfrm>
              <a:off x="4895850" y="2781300"/>
              <a:ext cx="1640586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25" name="!!bar-f-16"/>
          <p:cNvGrpSpPr/>
          <p:nvPr/>
        </p:nvGrpSpPr>
        <p:grpSpPr>
          <a:xfrm>
            <a:off x="4895850" y="2590800"/>
            <a:ext cx="877348" cy="152400"/>
            <a:chOff x="4895850" y="2590800"/>
            <a:chExt cx="877348" cy="152400"/>
          </a:xfrm>
        </p:grpSpPr>
        <p:sp>
          <p:nvSpPr>
            <p:cNvPr id="124" name="Rectangle 124"/>
            <p:cNvSpPr/>
            <p:nvPr/>
          </p:nvSpPr>
          <p:spPr>
            <a:xfrm>
              <a:off x="4895850" y="2590800"/>
              <a:ext cx="877348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27" name="!!bar-f-17"/>
          <p:cNvGrpSpPr/>
          <p:nvPr/>
        </p:nvGrpSpPr>
        <p:grpSpPr>
          <a:xfrm>
            <a:off x="4895850" y="2400300"/>
            <a:ext cx="629602" cy="152400"/>
            <a:chOff x="4895850" y="2400300"/>
            <a:chExt cx="629602" cy="152400"/>
          </a:xfrm>
        </p:grpSpPr>
        <p:sp>
          <p:nvSpPr>
            <p:cNvPr id="126" name="Rectangle 126"/>
            <p:cNvSpPr/>
            <p:nvPr/>
          </p:nvSpPr>
          <p:spPr>
            <a:xfrm>
              <a:off x="4895850" y="2400300"/>
              <a:ext cx="629602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29" name="!!bar-f-18"/>
          <p:cNvGrpSpPr/>
          <p:nvPr/>
        </p:nvGrpSpPr>
        <p:grpSpPr>
          <a:xfrm>
            <a:off x="4895850" y="2209800"/>
            <a:ext cx="269653" cy="152400"/>
            <a:chOff x="4895850" y="2209800"/>
            <a:chExt cx="269653" cy="152400"/>
          </a:xfrm>
        </p:grpSpPr>
        <p:sp>
          <p:nvSpPr>
            <p:cNvPr id="128" name="Rectangle 128"/>
            <p:cNvSpPr/>
            <p:nvPr/>
          </p:nvSpPr>
          <p:spPr>
            <a:xfrm>
              <a:off x="4895850" y="2209800"/>
              <a:ext cx="269653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31" name="!!bar-f-19"/>
          <p:cNvGrpSpPr/>
          <p:nvPr/>
        </p:nvGrpSpPr>
        <p:grpSpPr>
          <a:xfrm>
            <a:off x="4895850" y="2019300"/>
            <a:ext cx="71628" cy="152400"/>
            <a:chOff x="4895850" y="2019300"/>
            <a:chExt cx="71628" cy="152400"/>
          </a:xfrm>
        </p:grpSpPr>
        <p:sp>
          <p:nvSpPr>
            <p:cNvPr id="130" name="Rectangle 130"/>
            <p:cNvSpPr/>
            <p:nvPr/>
          </p:nvSpPr>
          <p:spPr>
            <a:xfrm>
              <a:off x="4895850" y="2019300"/>
              <a:ext cx="71628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33" name="!!bar-f-20"/>
          <p:cNvGrpSpPr/>
          <p:nvPr/>
        </p:nvGrpSpPr>
        <p:grpSpPr>
          <a:xfrm>
            <a:off x="4895850" y="1828800"/>
            <a:ext cx="10573" cy="152400"/>
            <a:chOff x="4895850" y="1828800"/>
            <a:chExt cx="10573" cy="152400"/>
          </a:xfrm>
        </p:grpSpPr>
        <p:sp>
          <p:nvSpPr>
            <p:cNvPr id="132" name="Rectangle 132"/>
            <p:cNvSpPr/>
            <p:nvPr/>
          </p:nvSpPr>
          <p:spPr>
            <a:xfrm>
              <a:off x="4895850" y="1828800"/>
              <a:ext cx="10573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46" name="!!reading-shares"/>
          <p:cNvGrpSpPr/>
          <p:nvPr/>
        </p:nvGrpSpPr>
        <p:grpSpPr>
          <a:xfrm>
            <a:off x="8563356" y="1816418"/>
            <a:ext cx="3019044" cy="4056316"/>
            <a:chOff x="8563356" y="1816418"/>
            <a:chExt cx="3019044" cy="4056316"/>
          </a:xfrm>
        </p:grpSpPr>
        <p:sp>
          <p:nvSpPr>
            <p:cNvPr id="134" name="TextBox 134"/>
            <p:cNvSpPr txBox="1"/>
            <p:nvPr/>
          </p:nvSpPr>
          <p:spPr>
            <a:xfrm>
              <a:off x="8565642" y="18164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三個年齡段占總人口</a:t>
              </a:r>
            </a:p>
          </p:txBody>
        </p:sp>
        <p:sp>
          <p:nvSpPr>
            <p:cNvPr id="135" name="Rectangle 135"/>
            <p:cNvSpPr/>
            <p:nvPr/>
          </p:nvSpPr>
          <p:spPr>
            <a:xfrm>
              <a:off x="8572500" y="2209800"/>
              <a:ext cx="152400" cy="419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6" name="TextBox 136"/>
            <p:cNvSpPr txBox="1"/>
            <p:nvPr/>
          </p:nvSpPr>
          <p:spPr>
            <a:xfrm>
              <a:off x="8870442" y="2254568"/>
              <a:ext cx="813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65 歲以上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8862060" y="2400300"/>
              <a:ext cx="12814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20.9%</a:t>
              </a:r>
            </a:p>
          </p:txBody>
        </p:sp>
        <p:sp>
          <p:nvSpPr>
            <p:cNvPr id="138" name="Rectangle 138"/>
            <p:cNvSpPr/>
            <p:nvPr/>
          </p:nvSpPr>
          <p:spPr>
            <a:xfrm>
              <a:off x="8572500" y="3009900"/>
              <a:ext cx="1524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9" name="TextBox 139"/>
            <p:cNvSpPr txBox="1"/>
            <p:nvPr/>
          </p:nvSpPr>
          <p:spPr>
            <a:xfrm>
              <a:off x="8870442" y="3054668"/>
              <a:ext cx="7497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15–64 歲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8862060" y="3200400"/>
              <a:ext cx="12814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67.9%</a:t>
              </a:r>
            </a:p>
          </p:txBody>
        </p:sp>
        <p:sp>
          <p:nvSpPr>
            <p:cNvPr id="141" name="Rectangle 141"/>
            <p:cNvSpPr/>
            <p:nvPr/>
          </p:nvSpPr>
          <p:spPr>
            <a:xfrm>
              <a:off x="8572500" y="3810000"/>
              <a:ext cx="152400" cy="419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2" name="TextBox 142"/>
            <p:cNvSpPr txBox="1"/>
            <p:nvPr/>
          </p:nvSpPr>
          <p:spPr>
            <a:xfrm>
              <a:off x="8870442" y="3854768"/>
              <a:ext cx="649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0–14 歲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8862060" y="4000500"/>
              <a:ext cx="12814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11.1%</a:t>
              </a:r>
            </a:p>
          </p:txBody>
        </p:sp>
        <p:sp>
          <p:nvSpPr>
            <p:cNvPr id="144" name="Line 144"/>
            <p:cNvSpPr/>
            <p:nvPr/>
          </p:nvSpPr>
          <p:spPr>
            <a:xfrm>
              <a:off x="8572500" y="4648200"/>
              <a:ext cx="3009900" cy="9525"/>
            </a:xfrm>
            <a:custGeom>
              <a:avLst/>
              <a:gdLst/>
              <a:ahLst/>
              <a:cxnLst/>
              <a:rect l="l" t="t" r="r" b="b"/>
              <a:pathLst>
                <a:path w="3009900" h="9525">
                  <a:moveTo>
                    <a:pt x="0" y="0"/>
                  </a:moveTo>
                  <a:lnTo>
                    <a:pt x="30099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45" name="TextBox 145"/>
            <p:cNvSpPr txBox="1"/>
            <p:nvPr/>
          </p:nvSpPr>
          <p:spPr>
            <a:xfrm>
              <a:off x="8563356" y="4834890"/>
              <a:ext cx="2075688" cy="1037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人數最多的年齡組：</a:t>
              </a:r>
              <a:br/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45–49 歲</a:t>
              </a:r>
              <a:br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青壯年勞動力仍充沛</a:t>
              </a:r>
            </a:p>
          </p:txBody>
        </p:sp>
      </p:grpSp>
      <p:grpSp>
        <p:nvGrpSpPr>
          <p:cNvPr id="149" name="Group 149"/>
          <p:cNvGrpSpPr/>
          <p:nvPr/>
        </p:nvGrpSpPr>
        <p:grpSpPr>
          <a:xfrm>
            <a:off x="604266" y="6401752"/>
            <a:ext cx="10983468" cy="205359"/>
            <a:chOff x="604266" y="6401752"/>
            <a:chExt cx="10983468" cy="205359"/>
          </a:xfrm>
        </p:grpSpPr>
        <p:sp>
          <p:nvSpPr>
            <p:cNvPr id="147" name="TextBox 147"/>
            <p:cNvSpPr txBox="1"/>
            <p:nvPr/>
          </p:nvSpPr>
          <p:spPr>
            <a:xfrm>
              <a:off x="604266" y="6401752"/>
              <a:ext cx="62089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資料：國發會人口推估查詢系統開放資料「五齡人口數」（中推估）；三段占比取自國發會報告表 6</a:t>
              </a: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11103540" y="64017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15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9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685800"/>
            <a:ext cx="7956233" cy="862584"/>
            <a:chOff x="594360" y="685800"/>
            <a:chExt cx="7956233" cy="862584"/>
          </a:xfrm>
        </p:grpSpPr>
        <p:sp>
          <p:nvSpPr>
            <p:cNvPr id="2" name="TextBox 2"/>
            <p:cNvSpPr txBox="1"/>
            <p:nvPr/>
          </p:nvSpPr>
          <p:spPr>
            <a:xfrm>
              <a:off x="594360" y="685800"/>
              <a:ext cx="795623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2075 年：翻轉成以高齡為主的「倒金鐘型」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0456" y="1196340"/>
              <a:ext cx="69848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同一把尺，50 年後的人口金字塔（中推估，總人口 1,215 萬人）</a:t>
              </a:r>
            </a:p>
          </p:txBody>
        </p:sp>
      </p:grpSp>
      <p:grpSp>
        <p:nvGrpSpPr>
          <p:cNvPr id="49" name="!!pyramid-frame"/>
          <p:cNvGrpSpPr/>
          <p:nvPr/>
        </p:nvGrpSpPr>
        <p:grpSpPr>
          <a:xfrm>
            <a:off x="697201" y="1587818"/>
            <a:ext cx="7559097" cy="4714493"/>
            <a:chOff x="697201" y="1587818"/>
            <a:chExt cx="7559097" cy="4714493"/>
          </a:xfrm>
        </p:grpSpPr>
        <p:grpSp>
          <p:nvGrpSpPr>
            <p:cNvPr id="13" name="Group 13"/>
            <p:cNvGrpSpPr/>
            <p:nvPr/>
          </p:nvGrpSpPr>
          <p:grpSpPr>
            <a:xfrm>
              <a:off x="819150" y="1809750"/>
              <a:ext cx="7324725" cy="4019550"/>
              <a:chOff x="819150" y="1809750"/>
              <a:chExt cx="7324725" cy="4019550"/>
            </a:xfrm>
          </p:grpSpPr>
          <p:grpSp>
            <p:nvGrpSpPr>
              <p:cNvPr id="9" name="Group 9"/>
              <p:cNvGrpSpPr/>
              <p:nvPr/>
            </p:nvGrpSpPr>
            <p:grpSpPr>
              <a:xfrm>
                <a:off x="819150" y="1809750"/>
                <a:ext cx="7324725" cy="4019550"/>
                <a:chOff x="819150" y="1809750"/>
                <a:chExt cx="7324725" cy="4019550"/>
              </a:xfrm>
            </p:grpSpPr>
            <p:sp>
              <p:nvSpPr>
                <p:cNvPr id="5" name="Line 5"/>
                <p:cNvSpPr/>
                <p:nvPr/>
              </p:nvSpPr>
              <p:spPr>
                <a:xfrm>
                  <a:off x="819150" y="1809750"/>
                  <a:ext cx="9525" cy="401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019550">
                      <a:moveTo>
                        <a:pt x="0" y="0"/>
                      </a:moveTo>
                      <a:lnTo>
                        <a:pt x="0" y="4019550"/>
                      </a:lnTo>
                    </a:path>
                  </a:pathLst>
                </a:custGeom>
                <a:noFill/>
                <a:ln w="9525">
                  <a:solidFill>
                    <a:srgbClr val="E3DCCF"/>
                  </a:solidFill>
                </a:ln>
              </p:spPr>
            </p:sp>
            <p:sp>
              <p:nvSpPr>
                <p:cNvPr id="6" name="Line 6"/>
                <p:cNvSpPr/>
                <p:nvPr/>
              </p:nvSpPr>
              <p:spPr>
                <a:xfrm>
                  <a:off x="2438400" y="1809750"/>
                  <a:ext cx="9525" cy="401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019550">
                      <a:moveTo>
                        <a:pt x="0" y="0"/>
                      </a:moveTo>
                      <a:lnTo>
                        <a:pt x="0" y="4019550"/>
                      </a:lnTo>
                    </a:path>
                  </a:pathLst>
                </a:custGeom>
                <a:noFill/>
                <a:ln w="9525">
                  <a:solidFill>
                    <a:srgbClr val="E3DCCF"/>
                  </a:solidFill>
                </a:ln>
              </p:spPr>
            </p:sp>
            <p:sp>
              <p:nvSpPr>
                <p:cNvPr id="7" name="Line 7"/>
                <p:cNvSpPr/>
                <p:nvPr/>
              </p:nvSpPr>
              <p:spPr>
                <a:xfrm>
                  <a:off x="6515100" y="1809750"/>
                  <a:ext cx="9525" cy="401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019550">
                      <a:moveTo>
                        <a:pt x="0" y="0"/>
                      </a:moveTo>
                      <a:lnTo>
                        <a:pt x="0" y="4019550"/>
                      </a:lnTo>
                    </a:path>
                  </a:pathLst>
                </a:custGeom>
                <a:noFill/>
                <a:ln w="9525">
                  <a:solidFill>
                    <a:srgbClr val="E3DCCF"/>
                  </a:solidFill>
                </a:ln>
              </p:spPr>
            </p:sp>
            <p:sp>
              <p:nvSpPr>
                <p:cNvPr id="8" name="Line 8"/>
                <p:cNvSpPr/>
                <p:nvPr/>
              </p:nvSpPr>
              <p:spPr>
                <a:xfrm>
                  <a:off x="8134350" y="1809750"/>
                  <a:ext cx="9525" cy="401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019550">
                      <a:moveTo>
                        <a:pt x="0" y="0"/>
                      </a:moveTo>
                      <a:lnTo>
                        <a:pt x="0" y="4019550"/>
                      </a:lnTo>
                    </a:path>
                  </a:pathLst>
                </a:custGeom>
                <a:noFill/>
                <a:ln w="9525">
                  <a:solidFill>
                    <a:srgbClr val="E3DCCF"/>
                  </a:solidFill>
                </a:ln>
              </p:spPr>
            </p:sp>
          </p:grpSp>
          <p:grpSp>
            <p:nvGrpSpPr>
              <p:cNvPr id="12" name="Group 12"/>
              <p:cNvGrpSpPr/>
              <p:nvPr/>
            </p:nvGrpSpPr>
            <p:grpSpPr>
              <a:xfrm>
                <a:off x="4057650" y="1809750"/>
                <a:ext cx="847725" cy="4019550"/>
                <a:chOff x="4057650" y="1809750"/>
                <a:chExt cx="847725" cy="4019550"/>
              </a:xfrm>
            </p:grpSpPr>
            <p:sp>
              <p:nvSpPr>
                <p:cNvPr id="10" name="Line 10"/>
                <p:cNvSpPr/>
                <p:nvPr/>
              </p:nvSpPr>
              <p:spPr>
                <a:xfrm>
                  <a:off x="4057650" y="1809750"/>
                  <a:ext cx="9525" cy="401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019550">
                      <a:moveTo>
                        <a:pt x="0" y="0"/>
                      </a:moveTo>
                      <a:lnTo>
                        <a:pt x="0" y="4019550"/>
                      </a:lnTo>
                    </a:path>
                  </a:pathLst>
                </a:custGeom>
                <a:noFill/>
                <a:ln w="14288">
                  <a:solidFill>
                    <a:schemeClr val="accent1"/>
                  </a:solidFill>
                </a:ln>
              </p:spPr>
            </p:sp>
            <p:sp>
              <p:nvSpPr>
                <p:cNvPr id="11" name="Line 11"/>
                <p:cNvSpPr/>
                <p:nvPr/>
              </p:nvSpPr>
              <p:spPr>
                <a:xfrm>
                  <a:off x="4895850" y="1809750"/>
                  <a:ext cx="9525" cy="401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019550">
                      <a:moveTo>
                        <a:pt x="0" y="0"/>
                      </a:moveTo>
                      <a:lnTo>
                        <a:pt x="0" y="4019550"/>
                      </a:lnTo>
                    </a:path>
                  </a:pathLst>
                </a:custGeom>
                <a:noFill/>
                <a:ln w="14288">
                  <a:solidFill>
                    <a:schemeClr val="accent1"/>
                  </a:solidFill>
                </a:ln>
              </p:spPr>
            </p:sp>
          </p:grpSp>
        </p:grpSp>
        <p:sp>
          <p:nvSpPr>
            <p:cNvPr id="14" name="Line 14"/>
            <p:cNvSpPr/>
            <p:nvPr/>
          </p:nvSpPr>
          <p:spPr>
            <a:xfrm>
              <a:off x="762000" y="3333750"/>
              <a:ext cx="7429500" cy="9525"/>
            </a:xfrm>
            <a:custGeom>
              <a:avLst/>
              <a:gdLst/>
              <a:ahLst/>
              <a:cxnLst/>
              <a:rect l="l" t="t" r="r" b="b"/>
              <a:pathLst>
                <a:path w="7429500" h="9525">
                  <a:moveTo>
                    <a:pt x="0" y="0"/>
                  </a:moveTo>
                  <a:lnTo>
                    <a:pt x="74295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  <a:prstDash val="lgDash"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6666" y="3163252"/>
              <a:ext cx="3598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65 歲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4277058" y="1839278"/>
              <a:ext cx="399383" cy="4015359"/>
              <a:chOff x="4277058" y="1839278"/>
              <a:chExt cx="399383" cy="4015359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4354801" y="5649278"/>
                <a:ext cx="24389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0–4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354801" y="5458778"/>
                <a:ext cx="24389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5–9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277058" y="52682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10–14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277058" y="50777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15–19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277058" y="48872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20–24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277058" y="46967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25–29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277058" y="45062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30–34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277058" y="43157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35–39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277058" y="41252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40–44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277058" y="39347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45–49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277058" y="37442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50–54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277058" y="35537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55–59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277058" y="33632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60–64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277058" y="31727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65–69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277058" y="29822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70–74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277058" y="27917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75–79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277058" y="26012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80–84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277058" y="24107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85–89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277058" y="22202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90–94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277058" y="2029778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95–99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315930" y="1839278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100+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697201" y="5906452"/>
              <a:ext cx="7559097" cy="205359"/>
              <a:chOff x="697201" y="5906452"/>
              <a:chExt cx="7559097" cy="205359"/>
            </a:xfrm>
          </p:grpSpPr>
          <p:sp>
            <p:nvSpPr>
              <p:cNvPr id="38" name="TextBox 38"/>
              <p:cNvSpPr txBox="1"/>
              <p:nvPr/>
            </p:nvSpPr>
            <p:spPr>
              <a:xfrm>
                <a:off x="697201" y="5906452"/>
                <a:ext cx="24389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100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2355323" y="5906452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50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013444" y="5906452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851644" y="5906452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432023" y="5906452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50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012401" y="5906452"/>
                <a:ext cx="24389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100</a:t>
                </a:r>
              </a:p>
            </p:txBody>
          </p:sp>
        </p:grpSp>
        <p:sp>
          <p:nvSpPr>
            <p:cNvPr id="45" name="TextBox 45"/>
            <p:cNvSpPr txBox="1"/>
            <p:nvPr/>
          </p:nvSpPr>
          <p:spPr>
            <a:xfrm>
              <a:off x="4330065" y="60969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萬人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773805" y="158781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男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984242" y="158781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女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400740" y="162020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歲</a:t>
              </a:r>
            </a:p>
          </p:txBody>
        </p:sp>
      </p:grpSp>
      <p:grpSp>
        <p:nvGrpSpPr>
          <p:cNvPr id="51" name="!!bar-m-00"/>
          <p:cNvGrpSpPr/>
          <p:nvPr/>
        </p:nvGrpSpPr>
        <p:grpSpPr>
          <a:xfrm>
            <a:off x="3755517" y="5638800"/>
            <a:ext cx="302133" cy="152400"/>
            <a:chOff x="3755517" y="5638800"/>
            <a:chExt cx="302133" cy="152400"/>
          </a:xfrm>
        </p:grpSpPr>
        <p:sp>
          <p:nvSpPr>
            <p:cNvPr id="50" name="Rectangle 50"/>
            <p:cNvSpPr/>
            <p:nvPr/>
          </p:nvSpPr>
          <p:spPr>
            <a:xfrm>
              <a:off x="3755517" y="5638800"/>
              <a:ext cx="302133" cy="152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53" name="!!bar-m-01"/>
          <p:cNvGrpSpPr/>
          <p:nvPr/>
        </p:nvGrpSpPr>
        <p:grpSpPr>
          <a:xfrm>
            <a:off x="3711130" y="5448300"/>
            <a:ext cx="346520" cy="152400"/>
            <a:chOff x="3711130" y="5448300"/>
            <a:chExt cx="346520" cy="152400"/>
          </a:xfrm>
        </p:grpSpPr>
        <p:sp>
          <p:nvSpPr>
            <p:cNvPr id="52" name="Rectangle 52"/>
            <p:cNvSpPr/>
            <p:nvPr/>
          </p:nvSpPr>
          <p:spPr>
            <a:xfrm>
              <a:off x="3711130" y="5448300"/>
              <a:ext cx="346520" cy="152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55" name="!!bar-m-02"/>
          <p:cNvGrpSpPr/>
          <p:nvPr/>
        </p:nvGrpSpPr>
        <p:grpSpPr>
          <a:xfrm>
            <a:off x="3659505" y="5257800"/>
            <a:ext cx="398145" cy="152400"/>
            <a:chOff x="3659505" y="5257800"/>
            <a:chExt cx="398145" cy="152400"/>
          </a:xfrm>
        </p:grpSpPr>
        <p:sp>
          <p:nvSpPr>
            <p:cNvPr id="54" name="Rectangle 54"/>
            <p:cNvSpPr/>
            <p:nvPr/>
          </p:nvSpPr>
          <p:spPr>
            <a:xfrm>
              <a:off x="3659505" y="5257800"/>
              <a:ext cx="398145" cy="152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57" name="!!bar-m-03"/>
          <p:cNvGrpSpPr/>
          <p:nvPr/>
        </p:nvGrpSpPr>
        <p:grpSpPr>
          <a:xfrm>
            <a:off x="3587115" y="5067300"/>
            <a:ext cx="470535" cy="152400"/>
            <a:chOff x="3587115" y="5067300"/>
            <a:chExt cx="470535" cy="152400"/>
          </a:xfrm>
        </p:grpSpPr>
        <p:sp>
          <p:nvSpPr>
            <p:cNvPr id="56" name="Rectangle 56"/>
            <p:cNvSpPr/>
            <p:nvPr/>
          </p:nvSpPr>
          <p:spPr>
            <a:xfrm>
              <a:off x="3587115" y="5067300"/>
              <a:ext cx="470535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59" name="!!bar-m-04"/>
          <p:cNvGrpSpPr/>
          <p:nvPr/>
        </p:nvGrpSpPr>
        <p:grpSpPr>
          <a:xfrm>
            <a:off x="3524917" y="4876800"/>
            <a:ext cx="532733" cy="152400"/>
            <a:chOff x="3524917" y="4876800"/>
            <a:chExt cx="532733" cy="152400"/>
          </a:xfrm>
        </p:grpSpPr>
        <p:sp>
          <p:nvSpPr>
            <p:cNvPr id="58" name="Rectangle 58"/>
            <p:cNvSpPr/>
            <p:nvPr/>
          </p:nvSpPr>
          <p:spPr>
            <a:xfrm>
              <a:off x="3524917" y="4876800"/>
              <a:ext cx="532733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61" name="!!bar-m-05"/>
          <p:cNvGrpSpPr/>
          <p:nvPr/>
        </p:nvGrpSpPr>
        <p:grpSpPr>
          <a:xfrm>
            <a:off x="3500342" y="4686300"/>
            <a:ext cx="557308" cy="152400"/>
            <a:chOff x="3500342" y="4686300"/>
            <a:chExt cx="557308" cy="152400"/>
          </a:xfrm>
        </p:grpSpPr>
        <p:sp>
          <p:nvSpPr>
            <p:cNvPr id="60" name="Rectangle 60"/>
            <p:cNvSpPr/>
            <p:nvPr/>
          </p:nvSpPr>
          <p:spPr>
            <a:xfrm>
              <a:off x="3500342" y="4686300"/>
              <a:ext cx="557308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63" name="!!bar-m-06"/>
          <p:cNvGrpSpPr/>
          <p:nvPr/>
        </p:nvGrpSpPr>
        <p:grpSpPr>
          <a:xfrm>
            <a:off x="3498723" y="4495800"/>
            <a:ext cx="558927" cy="152400"/>
            <a:chOff x="3498723" y="4495800"/>
            <a:chExt cx="558927" cy="152400"/>
          </a:xfrm>
        </p:grpSpPr>
        <p:sp>
          <p:nvSpPr>
            <p:cNvPr id="62" name="Rectangle 62"/>
            <p:cNvSpPr/>
            <p:nvPr/>
          </p:nvSpPr>
          <p:spPr>
            <a:xfrm>
              <a:off x="3498723" y="4495800"/>
              <a:ext cx="558927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65" name="!!bar-m-07"/>
          <p:cNvGrpSpPr/>
          <p:nvPr/>
        </p:nvGrpSpPr>
        <p:grpSpPr>
          <a:xfrm>
            <a:off x="3468148" y="4305300"/>
            <a:ext cx="589502" cy="152400"/>
            <a:chOff x="3468148" y="4305300"/>
            <a:chExt cx="589502" cy="152400"/>
          </a:xfrm>
        </p:grpSpPr>
        <p:sp>
          <p:nvSpPr>
            <p:cNvPr id="64" name="Rectangle 64"/>
            <p:cNvSpPr/>
            <p:nvPr/>
          </p:nvSpPr>
          <p:spPr>
            <a:xfrm>
              <a:off x="3468148" y="4305300"/>
              <a:ext cx="589502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67" name="!!bar-m-08"/>
          <p:cNvGrpSpPr/>
          <p:nvPr/>
        </p:nvGrpSpPr>
        <p:grpSpPr>
          <a:xfrm>
            <a:off x="3388900" y="4114800"/>
            <a:ext cx="668750" cy="152400"/>
            <a:chOff x="3388900" y="4114800"/>
            <a:chExt cx="668750" cy="152400"/>
          </a:xfrm>
        </p:grpSpPr>
        <p:sp>
          <p:nvSpPr>
            <p:cNvPr id="66" name="Rectangle 66"/>
            <p:cNvSpPr/>
            <p:nvPr/>
          </p:nvSpPr>
          <p:spPr>
            <a:xfrm>
              <a:off x="3388900" y="4114800"/>
              <a:ext cx="66875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69" name="!!bar-m-09"/>
          <p:cNvGrpSpPr/>
          <p:nvPr/>
        </p:nvGrpSpPr>
        <p:grpSpPr>
          <a:xfrm>
            <a:off x="3295174" y="3924300"/>
            <a:ext cx="762476" cy="152400"/>
            <a:chOff x="3295174" y="3924300"/>
            <a:chExt cx="762476" cy="152400"/>
          </a:xfrm>
        </p:grpSpPr>
        <p:sp>
          <p:nvSpPr>
            <p:cNvPr id="68" name="Rectangle 68"/>
            <p:cNvSpPr/>
            <p:nvPr/>
          </p:nvSpPr>
          <p:spPr>
            <a:xfrm>
              <a:off x="3295174" y="3924300"/>
              <a:ext cx="762476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71" name="!!bar-m-10"/>
          <p:cNvGrpSpPr/>
          <p:nvPr/>
        </p:nvGrpSpPr>
        <p:grpSpPr>
          <a:xfrm>
            <a:off x="2916269" y="3733800"/>
            <a:ext cx="1141381" cy="152400"/>
            <a:chOff x="2916269" y="3733800"/>
            <a:chExt cx="1141381" cy="152400"/>
          </a:xfrm>
        </p:grpSpPr>
        <p:sp>
          <p:nvSpPr>
            <p:cNvPr id="70" name="Rectangle 70"/>
            <p:cNvSpPr/>
            <p:nvPr/>
          </p:nvSpPr>
          <p:spPr>
            <a:xfrm>
              <a:off x="2916269" y="3733800"/>
              <a:ext cx="1141381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73" name="!!bar-m-11"/>
          <p:cNvGrpSpPr/>
          <p:nvPr/>
        </p:nvGrpSpPr>
        <p:grpSpPr>
          <a:xfrm>
            <a:off x="2576132" y="3543300"/>
            <a:ext cx="1481518" cy="152400"/>
            <a:chOff x="2576132" y="3543300"/>
            <a:chExt cx="1481518" cy="152400"/>
          </a:xfrm>
        </p:grpSpPr>
        <p:sp>
          <p:nvSpPr>
            <p:cNvPr id="72" name="Rectangle 72"/>
            <p:cNvSpPr/>
            <p:nvPr/>
          </p:nvSpPr>
          <p:spPr>
            <a:xfrm>
              <a:off x="2576132" y="3543300"/>
              <a:ext cx="1481518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75" name="!!bar-m-12"/>
          <p:cNvGrpSpPr/>
          <p:nvPr/>
        </p:nvGrpSpPr>
        <p:grpSpPr>
          <a:xfrm>
            <a:off x="2432971" y="3352800"/>
            <a:ext cx="1624679" cy="152400"/>
            <a:chOff x="2432971" y="3352800"/>
            <a:chExt cx="1624679" cy="152400"/>
          </a:xfrm>
        </p:grpSpPr>
        <p:sp>
          <p:nvSpPr>
            <p:cNvPr id="74" name="Rectangle 74"/>
            <p:cNvSpPr/>
            <p:nvPr/>
          </p:nvSpPr>
          <p:spPr>
            <a:xfrm>
              <a:off x="2432971" y="3352800"/>
              <a:ext cx="1624679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77" name="!!bar-m-13"/>
          <p:cNvGrpSpPr/>
          <p:nvPr/>
        </p:nvGrpSpPr>
        <p:grpSpPr>
          <a:xfrm>
            <a:off x="2623090" y="3162300"/>
            <a:ext cx="1434560" cy="152400"/>
            <a:chOff x="2623090" y="3162300"/>
            <a:chExt cx="1434560" cy="152400"/>
          </a:xfrm>
        </p:grpSpPr>
        <p:sp>
          <p:nvSpPr>
            <p:cNvPr id="76" name="Rectangle 76"/>
            <p:cNvSpPr/>
            <p:nvPr/>
          </p:nvSpPr>
          <p:spPr>
            <a:xfrm>
              <a:off x="2623090" y="3162300"/>
              <a:ext cx="143456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79" name="!!bar-m-14"/>
          <p:cNvGrpSpPr/>
          <p:nvPr/>
        </p:nvGrpSpPr>
        <p:grpSpPr>
          <a:xfrm>
            <a:off x="2465451" y="2971800"/>
            <a:ext cx="1592199" cy="152400"/>
            <a:chOff x="2465451" y="2971800"/>
            <a:chExt cx="1592199" cy="152400"/>
          </a:xfrm>
        </p:grpSpPr>
        <p:sp>
          <p:nvSpPr>
            <p:cNvPr id="78" name="Rectangle 78"/>
            <p:cNvSpPr/>
            <p:nvPr/>
          </p:nvSpPr>
          <p:spPr>
            <a:xfrm>
              <a:off x="2465451" y="2971800"/>
              <a:ext cx="1592199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1" name="!!bar-m-15"/>
          <p:cNvGrpSpPr/>
          <p:nvPr/>
        </p:nvGrpSpPr>
        <p:grpSpPr>
          <a:xfrm>
            <a:off x="2204466" y="2781300"/>
            <a:ext cx="1853184" cy="152400"/>
            <a:chOff x="2204466" y="2781300"/>
            <a:chExt cx="1853184" cy="152400"/>
          </a:xfrm>
        </p:grpSpPr>
        <p:sp>
          <p:nvSpPr>
            <p:cNvPr id="80" name="Rectangle 80"/>
            <p:cNvSpPr/>
            <p:nvPr/>
          </p:nvSpPr>
          <p:spPr>
            <a:xfrm>
              <a:off x="2204466" y="2781300"/>
              <a:ext cx="1853184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3" name="!!bar-m-16"/>
          <p:cNvGrpSpPr/>
          <p:nvPr/>
        </p:nvGrpSpPr>
        <p:grpSpPr>
          <a:xfrm>
            <a:off x="2393442" y="2590800"/>
            <a:ext cx="1664208" cy="152400"/>
            <a:chOff x="2393442" y="2590800"/>
            <a:chExt cx="1664208" cy="152400"/>
          </a:xfrm>
        </p:grpSpPr>
        <p:sp>
          <p:nvSpPr>
            <p:cNvPr id="82" name="Rectangle 82"/>
            <p:cNvSpPr/>
            <p:nvPr/>
          </p:nvSpPr>
          <p:spPr>
            <a:xfrm>
              <a:off x="2393442" y="2590800"/>
              <a:ext cx="1664208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5" name="!!bar-m-17"/>
          <p:cNvGrpSpPr/>
          <p:nvPr/>
        </p:nvGrpSpPr>
        <p:grpSpPr>
          <a:xfrm>
            <a:off x="2868073" y="2400300"/>
            <a:ext cx="1189577" cy="152400"/>
            <a:chOff x="2868073" y="2400300"/>
            <a:chExt cx="1189577" cy="152400"/>
          </a:xfrm>
        </p:grpSpPr>
        <p:sp>
          <p:nvSpPr>
            <p:cNvPr id="84" name="Rectangle 84"/>
            <p:cNvSpPr/>
            <p:nvPr/>
          </p:nvSpPr>
          <p:spPr>
            <a:xfrm>
              <a:off x="2868073" y="2400300"/>
              <a:ext cx="1189577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7" name="!!bar-m-18"/>
          <p:cNvGrpSpPr/>
          <p:nvPr/>
        </p:nvGrpSpPr>
        <p:grpSpPr>
          <a:xfrm>
            <a:off x="3304508" y="2209800"/>
            <a:ext cx="753142" cy="152400"/>
            <a:chOff x="3304508" y="2209800"/>
            <a:chExt cx="753142" cy="152400"/>
          </a:xfrm>
        </p:grpSpPr>
        <p:sp>
          <p:nvSpPr>
            <p:cNvPr id="86" name="Rectangle 86"/>
            <p:cNvSpPr/>
            <p:nvPr/>
          </p:nvSpPr>
          <p:spPr>
            <a:xfrm>
              <a:off x="3304508" y="2209800"/>
              <a:ext cx="753142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9" name="!!bar-m-19"/>
          <p:cNvGrpSpPr/>
          <p:nvPr/>
        </p:nvGrpSpPr>
        <p:grpSpPr>
          <a:xfrm>
            <a:off x="3758851" y="2019300"/>
            <a:ext cx="298799" cy="152400"/>
            <a:chOff x="3758851" y="2019300"/>
            <a:chExt cx="298799" cy="152400"/>
          </a:xfrm>
        </p:grpSpPr>
        <p:sp>
          <p:nvSpPr>
            <p:cNvPr id="88" name="Rectangle 88"/>
            <p:cNvSpPr/>
            <p:nvPr/>
          </p:nvSpPr>
          <p:spPr>
            <a:xfrm>
              <a:off x="3758851" y="2019300"/>
              <a:ext cx="298799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91" name="!!bar-m-20"/>
          <p:cNvGrpSpPr/>
          <p:nvPr/>
        </p:nvGrpSpPr>
        <p:grpSpPr>
          <a:xfrm>
            <a:off x="3985641" y="1828800"/>
            <a:ext cx="72009" cy="152400"/>
            <a:chOff x="3985641" y="1828800"/>
            <a:chExt cx="72009" cy="152400"/>
          </a:xfrm>
        </p:grpSpPr>
        <p:sp>
          <p:nvSpPr>
            <p:cNvPr id="90" name="Rectangle 90"/>
            <p:cNvSpPr/>
            <p:nvPr/>
          </p:nvSpPr>
          <p:spPr>
            <a:xfrm>
              <a:off x="3985641" y="1828800"/>
              <a:ext cx="72009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93" name="!!bar-f-00"/>
          <p:cNvGrpSpPr/>
          <p:nvPr/>
        </p:nvGrpSpPr>
        <p:grpSpPr>
          <a:xfrm>
            <a:off x="4895850" y="5638800"/>
            <a:ext cx="246126" cy="152400"/>
            <a:chOff x="4895850" y="5638800"/>
            <a:chExt cx="246126" cy="152400"/>
          </a:xfrm>
        </p:grpSpPr>
        <p:sp>
          <p:nvSpPr>
            <p:cNvPr id="92" name="Rectangle 92"/>
            <p:cNvSpPr/>
            <p:nvPr/>
          </p:nvSpPr>
          <p:spPr>
            <a:xfrm>
              <a:off x="4895850" y="5638800"/>
              <a:ext cx="246126" cy="152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95" name="!!bar-f-01"/>
          <p:cNvGrpSpPr/>
          <p:nvPr/>
        </p:nvGrpSpPr>
        <p:grpSpPr>
          <a:xfrm>
            <a:off x="4895850" y="5448300"/>
            <a:ext cx="277368" cy="152400"/>
            <a:chOff x="4895850" y="5448300"/>
            <a:chExt cx="277368" cy="152400"/>
          </a:xfrm>
        </p:grpSpPr>
        <p:sp>
          <p:nvSpPr>
            <p:cNvPr id="94" name="Rectangle 94"/>
            <p:cNvSpPr/>
            <p:nvPr/>
          </p:nvSpPr>
          <p:spPr>
            <a:xfrm>
              <a:off x="4895850" y="5448300"/>
              <a:ext cx="277368" cy="152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97" name="!!bar-f-02"/>
          <p:cNvGrpSpPr/>
          <p:nvPr/>
        </p:nvGrpSpPr>
        <p:grpSpPr>
          <a:xfrm>
            <a:off x="4895850" y="5257800"/>
            <a:ext cx="323850" cy="152400"/>
            <a:chOff x="4895850" y="5257800"/>
            <a:chExt cx="323850" cy="152400"/>
          </a:xfrm>
        </p:grpSpPr>
        <p:sp>
          <p:nvSpPr>
            <p:cNvPr id="96" name="Rectangle 96"/>
            <p:cNvSpPr/>
            <p:nvPr/>
          </p:nvSpPr>
          <p:spPr>
            <a:xfrm>
              <a:off x="4895850" y="5257800"/>
              <a:ext cx="323850" cy="152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99" name="!!bar-f-03"/>
          <p:cNvGrpSpPr/>
          <p:nvPr/>
        </p:nvGrpSpPr>
        <p:grpSpPr>
          <a:xfrm>
            <a:off x="4895850" y="5067300"/>
            <a:ext cx="393764" cy="152400"/>
            <a:chOff x="4895850" y="5067300"/>
            <a:chExt cx="393764" cy="152400"/>
          </a:xfrm>
        </p:grpSpPr>
        <p:sp>
          <p:nvSpPr>
            <p:cNvPr id="98" name="Rectangle 98"/>
            <p:cNvSpPr/>
            <p:nvPr/>
          </p:nvSpPr>
          <p:spPr>
            <a:xfrm>
              <a:off x="4895850" y="5067300"/>
              <a:ext cx="393764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01" name="!!bar-f-04"/>
          <p:cNvGrpSpPr/>
          <p:nvPr/>
        </p:nvGrpSpPr>
        <p:grpSpPr>
          <a:xfrm>
            <a:off x="4895850" y="4876800"/>
            <a:ext cx="458152" cy="152400"/>
            <a:chOff x="4895850" y="4876800"/>
            <a:chExt cx="458152" cy="152400"/>
          </a:xfrm>
        </p:grpSpPr>
        <p:sp>
          <p:nvSpPr>
            <p:cNvPr id="100" name="Rectangle 100"/>
            <p:cNvSpPr/>
            <p:nvPr/>
          </p:nvSpPr>
          <p:spPr>
            <a:xfrm>
              <a:off x="4895850" y="4876800"/>
              <a:ext cx="458152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03" name="!!bar-f-05"/>
          <p:cNvGrpSpPr/>
          <p:nvPr/>
        </p:nvGrpSpPr>
        <p:grpSpPr>
          <a:xfrm>
            <a:off x="4895850" y="4686300"/>
            <a:ext cx="497205" cy="152400"/>
            <a:chOff x="4895850" y="4686300"/>
            <a:chExt cx="497205" cy="152400"/>
          </a:xfrm>
        </p:grpSpPr>
        <p:sp>
          <p:nvSpPr>
            <p:cNvPr id="102" name="Rectangle 102"/>
            <p:cNvSpPr/>
            <p:nvPr/>
          </p:nvSpPr>
          <p:spPr>
            <a:xfrm>
              <a:off x="4895850" y="4686300"/>
              <a:ext cx="497205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05" name="!!bar-f-06"/>
          <p:cNvGrpSpPr/>
          <p:nvPr/>
        </p:nvGrpSpPr>
        <p:grpSpPr>
          <a:xfrm>
            <a:off x="4895850" y="4495800"/>
            <a:ext cx="528638" cy="152400"/>
            <a:chOff x="4895850" y="4495800"/>
            <a:chExt cx="528638" cy="152400"/>
          </a:xfrm>
        </p:grpSpPr>
        <p:sp>
          <p:nvSpPr>
            <p:cNvPr id="104" name="Rectangle 104"/>
            <p:cNvSpPr/>
            <p:nvPr/>
          </p:nvSpPr>
          <p:spPr>
            <a:xfrm>
              <a:off x="4895850" y="4495800"/>
              <a:ext cx="528638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07" name="!!bar-f-07"/>
          <p:cNvGrpSpPr/>
          <p:nvPr/>
        </p:nvGrpSpPr>
        <p:grpSpPr>
          <a:xfrm>
            <a:off x="4895850" y="4305300"/>
            <a:ext cx="586454" cy="152400"/>
            <a:chOff x="4895850" y="4305300"/>
            <a:chExt cx="586454" cy="152400"/>
          </a:xfrm>
        </p:grpSpPr>
        <p:sp>
          <p:nvSpPr>
            <p:cNvPr id="106" name="Rectangle 106"/>
            <p:cNvSpPr/>
            <p:nvPr/>
          </p:nvSpPr>
          <p:spPr>
            <a:xfrm>
              <a:off x="4895850" y="4305300"/>
              <a:ext cx="586454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09" name="!!bar-f-08"/>
          <p:cNvGrpSpPr/>
          <p:nvPr/>
        </p:nvGrpSpPr>
        <p:grpSpPr>
          <a:xfrm>
            <a:off x="4895850" y="4114800"/>
            <a:ext cx="677894" cy="152400"/>
            <a:chOff x="4895850" y="4114800"/>
            <a:chExt cx="677894" cy="152400"/>
          </a:xfrm>
        </p:grpSpPr>
        <p:sp>
          <p:nvSpPr>
            <p:cNvPr id="108" name="Rectangle 108"/>
            <p:cNvSpPr/>
            <p:nvPr/>
          </p:nvSpPr>
          <p:spPr>
            <a:xfrm>
              <a:off x="4895850" y="4114800"/>
              <a:ext cx="677894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11" name="!!bar-f-09"/>
          <p:cNvGrpSpPr/>
          <p:nvPr/>
        </p:nvGrpSpPr>
        <p:grpSpPr>
          <a:xfrm>
            <a:off x="4895850" y="3924300"/>
            <a:ext cx="772192" cy="152400"/>
            <a:chOff x="4895850" y="3924300"/>
            <a:chExt cx="772192" cy="152400"/>
          </a:xfrm>
        </p:grpSpPr>
        <p:sp>
          <p:nvSpPr>
            <p:cNvPr id="110" name="Rectangle 110"/>
            <p:cNvSpPr/>
            <p:nvPr/>
          </p:nvSpPr>
          <p:spPr>
            <a:xfrm>
              <a:off x="4895850" y="3924300"/>
              <a:ext cx="772192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13" name="!!bar-f-10"/>
          <p:cNvGrpSpPr/>
          <p:nvPr/>
        </p:nvGrpSpPr>
        <p:grpSpPr>
          <a:xfrm>
            <a:off x="4895850" y="3733800"/>
            <a:ext cx="1149096" cy="152400"/>
            <a:chOff x="4895850" y="3733800"/>
            <a:chExt cx="1149096" cy="152400"/>
          </a:xfrm>
        </p:grpSpPr>
        <p:sp>
          <p:nvSpPr>
            <p:cNvPr id="112" name="Rectangle 112"/>
            <p:cNvSpPr/>
            <p:nvPr/>
          </p:nvSpPr>
          <p:spPr>
            <a:xfrm>
              <a:off x="4895850" y="3733800"/>
              <a:ext cx="1149096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15" name="!!bar-f-11"/>
          <p:cNvGrpSpPr/>
          <p:nvPr/>
        </p:nvGrpSpPr>
        <p:grpSpPr>
          <a:xfrm>
            <a:off x="4895850" y="3543300"/>
            <a:ext cx="1497711" cy="152400"/>
            <a:chOff x="4895850" y="3543300"/>
            <a:chExt cx="1497711" cy="152400"/>
          </a:xfrm>
        </p:grpSpPr>
        <p:sp>
          <p:nvSpPr>
            <p:cNvPr id="114" name="Rectangle 114"/>
            <p:cNvSpPr/>
            <p:nvPr/>
          </p:nvSpPr>
          <p:spPr>
            <a:xfrm>
              <a:off x="4895850" y="3543300"/>
              <a:ext cx="1497711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17" name="!!bar-f-12"/>
          <p:cNvGrpSpPr/>
          <p:nvPr/>
        </p:nvGrpSpPr>
        <p:grpSpPr>
          <a:xfrm>
            <a:off x="4895850" y="3352800"/>
            <a:ext cx="1678114" cy="152400"/>
            <a:chOff x="4895850" y="3352800"/>
            <a:chExt cx="1678114" cy="152400"/>
          </a:xfrm>
        </p:grpSpPr>
        <p:sp>
          <p:nvSpPr>
            <p:cNvPr id="116" name="Rectangle 116"/>
            <p:cNvSpPr/>
            <p:nvPr/>
          </p:nvSpPr>
          <p:spPr>
            <a:xfrm>
              <a:off x="4895850" y="3352800"/>
              <a:ext cx="1678114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19" name="!!bar-f-13"/>
          <p:cNvGrpSpPr/>
          <p:nvPr/>
        </p:nvGrpSpPr>
        <p:grpSpPr>
          <a:xfrm>
            <a:off x="4895850" y="3162300"/>
            <a:ext cx="1519238" cy="152400"/>
            <a:chOff x="4895850" y="3162300"/>
            <a:chExt cx="1519238" cy="152400"/>
          </a:xfrm>
        </p:grpSpPr>
        <p:sp>
          <p:nvSpPr>
            <p:cNvPr id="118" name="Rectangle 118"/>
            <p:cNvSpPr/>
            <p:nvPr/>
          </p:nvSpPr>
          <p:spPr>
            <a:xfrm>
              <a:off x="4895850" y="3162300"/>
              <a:ext cx="1519238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21" name="!!bar-f-14"/>
          <p:cNvGrpSpPr/>
          <p:nvPr/>
        </p:nvGrpSpPr>
        <p:grpSpPr>
          <a:xfrm>
            <a:off x="4895850" y="2971800"/>
            <a:ext cx="1745742" cy="152400"/>
            <a:chOff x="4895850" y="2971800"/>
            <a:chExt cx="1745742" cy="152400"/>
          </a:xfrm>
        </p:grpSpPr>
        <p:sp>
          <p:nvSpPr>
            <p:cNvPr id="120" name="Rectangle 120"/>
            <p:cNvSpPr/>
            <p:nvPr/>
          </p:nvSpPr>
          <p:spPr>
            <a:xfrm>
              <a:off x="4895850" y="2971800"/>
              <a:ext cx="1745742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23" name="!!bar-f-15"/>
          <p:cNvGrpSpPr/>
          <p:nvPr/>
        </p:nvGrpSpPr>
        <p:grpSpPr>
          <a:xfrm>
            <a:off x="4895850" y="2781300"/>
            <a:ext cx="2158746" cy="152400"/>
            <a:chOff x="4895850" y="2781300"/>
            <a:chExt cx="2158746" cy="152400"/>
          </a:xfrm>
        </p:grpSpPr>
        <p:sp>
          <p:nvSpPr>
            <p:cNvPr id="122" name="Rectangle 122"/>
            <p:cNvSpPr/>
            <p:nvPr/>
          </p:nvSpPr>
          <p:spPr>
            <a:xfrm>
              <a:off x="4895850" y="2781300"/>
              <a:ext cx="2158746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25" name="!!bar-f-16"/>
          <p:cNvGrpSpPr/>
          <p:nvPr/>
        </p:nvGrpSpPr>
        <p:grpSpPr>
          <a:xfrm>
            <a:off x="4895850" y="2590800"/>
            <a:ext cx="2132838" cy="152400"/>
            <a:chOff x="4895850" y="2590800"/>
            <a:chExt cx="2132838" cy="152400"/>
          </a:xfrm>
        </p:grpSpPr>
        <p:sp>
          <p:nvSpPr>
            <p:cNvPr id="124" name="Rectangle 124"/>
            <p:cNvSpPr/>
            <p:nvPr/>
          </p:nvSpPr>
          <p:spPr>
            <a:xfrm>
              <a:off x="4895850" y="2590800"/>
              <a:ext cx="2132838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27" name="!!bar-f-17"/>
          <p:cNvGrpSpPr/>
          <p:nvPr/>
        </p:nvGrpSpPr>
        <p:grpSpPr>
          <a:xfrm>
            <a:off x="4895850" y="2400300"/>
            <a:ext cx="1802320" cy="152400"/>
            <a:chOff x="4895850" y="2400300"/>
            <a:chExt cx="1802320" cy="152400"/>
          </a:xfrm>
        </p:grpSpPr>
        <p:sp>
          <p:nvSpPr>
            <p:cNvPr id="126" name="Rectangle 126"/>
            <p:cNvSpPr/>
            <p:nvPr/>
          </p:nvSpPr>
          <p:spPr>
            <a:xfrm>
              <a:off x="4895850" y="2400300"/>
              <a:ext cx="180232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29" name="!!bar-f-18"/>
          <p:cNvGrpSpPr/>
          <p:nvPr/>
        </p:nvGrpSpPr>
        <p:grpSpPr>
          <a:xfrm>
            <a:off x="4895850" y="2209800"/>
            <a:ext cx="1530477" cy="152400"/>
            <a:chOff x="4895850" y="2209800"/>
            <a:chExt cx="1530477" cy="152400"/>
          </a:xfrm>
        </p:grpSpPr>
        <p:sp>
          <p:nvSpPr>
            <p:cNvPr id="128" name="Rectangle 128"/>
            <p:cNvSpPr/>
            <p:nvPr/>
          </p:nvSpPr>
          <p:spPr>
            <a:xfrm>
              <a:off x="4895850" y="2209800"/>
              <a:ext cx="1530477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31" name="!!bar-f-19"/>
          <p:cNvGrpSpPr/>
          <p:nvPr/>
        </p:nvGrpSpPr>
        <p:grpSpPr>
          <a:xfrm>
            <a:off x="4895850" y="2019300"/>
            <a:ext cx="809244" cy="152400"/>
            <a:chOff x="4895850" y="2019300"/>
            <a:chExt cx="809244" cy="152400"/>
          </a:xfrm>
        </p:grpSpPr>
        <p:sp>
          <p:nvSpPr>
            <p:cNvPr id="130" name="Rectangle 130"/>
            <p:cNvSpPr/>
            <p:nvPr/>
          </p:nvSpPr>
          <p:spPr>
            <a:xfrm>
              <a:off x="4895850" y="2019300"/>
              <a:ext cx="809244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33" name="!!bar-f-20"/>
          <p:cNvGrpSpPr/>
          <p:nvPr/>
        </p:nvGrpSpPr>
        <p:grpSpPr>
          <a:xfrm>
            <a:off x="4895850" y="1828800"/>
            <a:ext cx="267272" cy="152400"/>
            <a:chOff x="4895850" y="1828800"/>
            <a:chExt cx="267272" cy="152400"/>
          </a:xfrm>
        </p:grpSpPr>
        <p:sp>
          <p:nvSpPr>
            <p:cNvPr id="132" name="Rectangle 132"/>
            <p:cNvSpPr/>
            <p:nvPr/>
          </p:nvSpPr>
          <p:spPr>
            <a:xfrm>
              <a:off x="4895850" y="1828800"/>
              <a:ext cx="267272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46" name="!!reading-shares"/>
          <p:cNvGrpSpPr/>
          <p:nvPr/>
        </p:nvGrpSpPr>
        <p:grpSpPr>
          <a:xfrm>
            <a:off x="8563356" y="1816418"/>
            <a:ext cx="3019044" cy="4399216"/>
            <a:chOff x="8563356" y="1816418"/>
            <a:chExt cx="3019044" cy="4399216"/>
          </a:xfrm>
        </p:grpSpPr>
        <p:sp>
          <p:nvSpPr>
            <p:cNvPr id="134" name="TextBox 134"/>
            <p:cNvSpPr txBox="1"/>
            <p:nvPr/>
          </p:nvSpPr>
          <p:spPr>
            <a:xfrm>
              <a:off x="8565642" y="18164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三個年齡段占總人口</a:t>
              </a:r>
            </a:p>
          </p:txBody>
        </p:sp>
        <p:sp>
          <p:nvSpPr>
            <p:cNvPr id="135" name="Rectangle 135"/>
            <p:cNvSpPr/>
            <p:nvPr/>
          </p:nvSpPr>
          <p:spPr>
            <a:xfrm>
              <a:off x="8572500" y="2209800"/>
              <a:ext cx="152400" cy="419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6" name="TextBox 136"/>
            <p:cNvSpPr txBox="1"/>
            <p:nvPr/>
          </p:nvSpPr>
          <p:spPr>
            <a:xfrm>
              <a:off x="8870442" y="2254568"/>
              <a:ext cx="813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65 歲以上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8862060" y="2400300"/>
              <a:ext cx="12814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52.9%</a:t>
              </a:r>
            </a:p>
          </p:txBody>
        </p:sp>
        <p:sp>
          <p:nvSpPr>
            <p:cNvPr id="138" name="Rectangle 138"/>
            <p:cNvSpPr/>
            <p:nvPr/>
          </p:nvSpPr>
          <p:spPr>
            <a:xfrm>
              <a:off x="8572500" y="3009900"/>
              <a:ext cx="1524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9" name="TextBox 139"/>
            <p:cNvSpPr txBox="1"/>
            <p:nvPr/>
          </p:nvSpPr>
          <p:spPr>
            <a:xfrm>
              <a:off x="8870442" y="3054668"/>
              <a:ext cx="7497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15–64 歲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8862060" y="3200400"/>
              <a:ext cx="12814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42.3%</a:t>
              </a:r>
            </a:p>
          </p:txBody>
        </p:sp>
        <p:sp>
          <p:nvSpPr>
            <p:cNvPr id="141" name="Rectangle 141"/>
            <p:cNvSpPr/>
            <p:nvPr/>
          </p:nvSpPr>
          <p:spPr>
            <a:xfrm>
              <a:off x="8572500" y="3810000"/>
              <a:ext cx="152400" cy="419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2" name="TextBox 142"/>
            <p:cNvSpPr txBox="1"/>
            <p:nvPr/>
          </p:nvSpPr>
          <p:spPr>
            <a:xfrm>
              <a:off x="8870442" y="3854768"/>
              <a:ext cx="649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0–14 歲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8862060" y="4000500"/>
              <a:ext cx="104820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4.8%</a:t>
              </a:r>
            </a:p>
          </p:txBody>
        </p:sp>
        <p:sp>
          <p:nvSpPr>
            <p:cNvPr id="144" name="Line 144"/>
            <p:cNvSpPr/>
            <p:nvPr/>
          </p:nvSpPr>
          <p:spPr>
            <a:xfrm>
              <a:off x="8572500" y="4648200"/>
              <a:ext cx="3009900" cy="9525"/>
            </a:xfrm>
            <a:custGeom>
              <a:avLst/>
              <a:gdLst/>
              <a:ahLst/>
              <a:cxnLst/>
              <a:rect l="l" t="t" r="r" b="b"/>
              <a:pathLst>
                <a:path w="3009900" h="9525">
                  <a:moveTo>
                    <a:pt x="0" y="0"/>
                  </a:moveTo>
                  <a:lnTo>
                    <a:pt x="30099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45" name="TextBox 145"/>
            <p:cNvSpPr txBox="1"/>
            <p:nvPr/>
          </p:nvSpPr>
          <p:spPr>
            <a:xfrm>
              <a:off x="8563356" y="4834890"/>
              <a:ext cx="2075688" cy="1380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人數最多的年齡組：</a:t>
              </a:r>
              <a:br/>
              <a:r>
                <a:rPr lang="zh-TW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75–79 歲</a:t>
              </a:r>
              <a:br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50 歲以上的人</a:t>
              </a:r>
              <a:br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今天都已出生</a:t>
              </a:r>
            </a:p>
          </p:txBody>
        </p:sp>
      </p:grpSp>
      <p:grpSp>
        <p:nvGrpSpPr>
          <p:cNvPr id="149" name="Group 149"/>
          <p:cNvGrpSpPr/>
          <p:nvPr/>
        </p:nvGrpSpPr>
        <p:grpSpPr>
          <a:xfrm>
            <a:off x="604266" y="6401752"/>
            <a:ext cx="10983468" cy="205359"/>
            <a:chOff x="604266" y="6401752"/>
            <a:chExt cx="10983468" cy="205359"/>
          </a:xfrm>
        </p:grpSpPr>
        <p:sp>
          <p:nvSpPr>
            <p:cNvPr id="147" name="TextBox 147"/>
            <p:cNvSpPr txBox="1"/>
            <p:nvPr/>
          </p:nvSpPr>
          <p:spPr>
            <a:xfrm>
              <a:off x="604266" y="6401752"/>
              <a:ext cx="60675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資料：國發會人口推估查詢系統開放資料「五齡人口數」（中推估）；國發會報告表 6、第參章四</a:t>
              </a: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11103540" y="64017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15</a:t>
              </a:r>
            </a:p>
          </p:txBody>
        </p:sp>
      </p:grpSp>
    </p:spTree>
  </p:cSld>
  <p:clrMapOvr>
    <a:masterClrMapping/>
  </p:clrMapOvr>
  <mc:AlternateContent>
    <mc:Choice Requires="p159">
      <p:transition p14:dur="1400"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685800"/>
            <a:ext cx="8372170" cy="862584"/>
            <a:chOff x="594360" y="685800"/>
            <a:chExt cx="8372170" cy="862584"/>
          </a:xfrm>
        </p:grpSpPr>
        <p:sp>
          <p:nvSpPr>
            <p:cNvPr id="2" name="TextBox 2"/>
            <p:cNvSpPr txBox="1"/>
            <p:nvPr/>
          </p:nvSpPr>
          <p:spPr>
            <a:xfrm>
              <a:off x="594360" y="685800"/>
              <a:ext cx="767655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從 3.2 位青壯年扶持 1 位長者，到 0.8 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0456" y="1196340"/>
              <a:ext cx="83660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扶養比由 2026 年 47.2 升到 2075 年 136.6，上升主要來自扶老比（中推估）</a:t>
              </a:r>
            </a:p>
          </p:txBody>
        </p:sp>
      </p:grpSp>
      <p:grpSp>
        <p:nvGrpSpPr>
          <p:cNvPr id="13" name="dependency-stacked"/>
          <p:cNvGrpSpPr/>
          <p:nvPr/>
        </p:nvGrpSpPr>
        <p:grpSpPr>
          <a:xfrm>
            <a:off x="-1879568" y="1619250"/>
            <a:ext cx="11988736" cy="4286250"/>
            <a:chOff x="-1879568" y="1619250"/>
            <a:chExt cx="11988736" cy="4286250"/>
          </a:xfrm>
        </p:grpSpPr>
        <p:graphicFrame>
          <p:nvGraphicFramePr>
            <p:cNvPr id="5" name="dependency-stacked"/>
            <p:cNvGraphicFramePr>
              <a:graphicFrameLocks noGrp="1"/>
            </p:cNvGraphicFramePr>
            <p:nvPr/>
          </p:nvGraphicFramePr>
          <p:xfrm>
            <a:off x="609600" y="1619250"/>
            <a:ext cx="6781800" cy="4286250"/>
          </p:xfrm>
          <a:graphic>
            <a:graphicData uri="http://schemas.openxmlformats.org/drawingml/2006/chart">
              <c:chart xmlns:c="http://schemas.openxmlformats.org/drawingml/2006/chart" r:id="rId2"/>
            </a:graphicData>
          </a:graphic>
        </p:graphicFrame>
        <p:sp>
          <p:nvSpPr>
            <p:cNvPr id="6" name="Chart Note 6"/>
            <p:cNvSpPr txBox="1"/>
            <p:nvPr/>
          </p:nvSpPr>
          <p:spPr>
            <a:xfrm>
              <a:off x="-1879568" y="3851243"/>
              <a:ext cx="67818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ctr"/>
              <a:r>
                <a:rPr lang="zh-TW" sz="1350">
                  <a:solidFill>
                    <a:srgbClr val="1E232B"/>
                  </a:solidFill>
                  <a:latin typeface="Microsoft JhengHei"/>
                  <a:ea typeface="Microsoft JhengHei"/>
                  <a:cs typeface="Microsoft JhengHei"/>
                </a:rPr>
                <a:t>47.2</a:t>
              </a:r>
            </a:p>
          </p:txBody>
        </p:sp>
        <p:sp>
          <p:nvSpPr>
            <p:cNvPr id="7" name="Chart Note 7"/>
            <p:cNvSpPr txBox="1"/>
            <p:nvPr/>
          </p:nvSpPr>
          <p:spPr>
            <a:xfrm>
              <a:off x="-838200" y="3655314"/>
              <a:ext cx="67818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ctr"/>
              <a:r>
                <a:rPr lang="zh-TW" sz="1350">
                  <a:solidFill>
                    <a:srgbClr val="1E232B"/>
                  </a:solidFill>
                  <a:latin typeface="Microsoft JhengHei"/>
                  <a:ea typeface="Microsoft JhengHei"/>
                  <a:cs typeface="Microsoft JhengHei"/>
                </a:rPr>
                <a:t>55.2</a:t>
              </a:r>
            </a:p>
          </p:txBody>
        </p:sp>
        <p:sp>
          <p:nvSpPr>
            <p:cNvPr id="8" name="Chart Note 8"/>
            <p:cNvSpPr txBox="1"/>
            <p:nvPr/>
          </p:nvSpPr>
          <p:spPr>
            <a:xfrm>
              <a:off x="203168" y="3224212"/>
              <a:ext cx="67818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ctr"/>
              <a:r>
                <a:rPr lang="zh-TW" sz="1350">
                  <a:solidFill>
                    <a:srgbClr val="1E232B"/>
                  </a:solidFill>
                  <a:latin typeface="Microsoft JhengHei"/>
                  <a:ea typeface="Microsoft JhengHei"/>
                  <a:cs typeface="Microsoft JhengHei"/>
                </a:rPr>
                <a:t>72.8</a:t>
              </a:r>
            </a:p>
          </p:txBody>
        </p:sp>
        <p:sp>
          <p:nvSpPr>
            <p:cNvPr id="9" name="Chart Note 9"/>
            <p:cNvSpPr txBox="1"/>
            <p:nvPr/>
          </p:nvSpPr>
          <p:spPr>
            <a:xfrm>
              <a:off x="1244632" y="2646140"/>
              <a:ext cx="67818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ctr"/>
              <a:r>
                <a:rPr lang="zh-TW" sz="1350">
                  <a:solidFill>
                    <a:srgbClr val="1E232B"/>
                  </a:solidFill>
                  <a:latin typeface="Microsoft JhengHei"/>
                  <a:ea typeface="Microsoft JhengHei"/>
                  <a:cs typeface="Microsoft JhengHei"/>
                </a:rPr>
                <a:t>96.4</a:t>
              </a:r>
            </a:p>
          </p:txBody>
        </p:sp>
        <p:sp>
          <p:nvSpPr>
            <p:cNvPr id="10" name="Chart Note 10"/>
            <p:cNvSpPr txBox="1"/>
            <p:nvPr/>
          </p:nvSpPr>
          <p:spPr>
            <a:xfrm>
              <a:off x="2286000" y="1948148"/>
              <a:ext cx="67818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ctr"/>
              <a:r>
                <a:rPr lang="zh-TW" sz="1350">
                  <a:solidFill>
                    <a:srgbClr val="1E232B"/>
                  </a:solidFill>
                  <a:latin typeface="Microsoft JhengHei"/>
                  <a:ea typeface="Microsoft JhengHei"/>
                  <a:cs typeface="Microsoft JhengHei"/>
                </a:rPr>
                <a:t>125.0</a:t>
              </a:r>
            </a:p>
          </p:txBody>
        </p:sp>
        <p:sp>
          <p:nvSpPr>
            <p:cNvPr id="11" name="Chart Note 11"/>
            <p:cNvSpPr txBox="1"/>
            <p:nvPr/>
          </p:nvSpPr>
          <p:spPr>
            <a:xfrm>
              <a:off x="3327368" y="1661636"/>
              <a:ext cx="67818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ctr"/>
              <a:r>
                <a:rPr lang="zh-TW" sz="1350">
                  <a:solidFill>
                    <a:srgbClr val="1E232B"/>
                  </a:solidFill>
                  <a:latin typeface="Microsoft JhengHei"/>
                  <a:ea typeface="Microsoft JhengHei"/>
                  <a:cs typeface="Microsoft JhengHei"/>
                </a:rPr>
                <a:t>136.6</a:t>
              </a:r>
            </a:p>
          </p:txBody>
        </p:sp>
        <p:sp>
          <p:nvSpPr>
            <p:cNvPr id="12" name="Chart Note 12"/>
            <p:cNvSpPr txBox="1"/>
            <p:nvPr/>
          </p:nvSpPr>
          <p:spPr>
            <a:xfrm>
              <a:off x="1066800" y="2577084"/>
              <a:ext cx="67818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l"/>
              <a:r>
                <a:rPr lang="zh-TW" sz="1350">
                  <a:solidFill>
                    <a:srgbClr val="1E232B"/>
                  </a:solidFill>
                  <a:latin typeface="Microsoft JhengHei"/>
                  <a:ea typeface="Microsoft JhengHei"/>
                  <a:cs typeface="Microsoft JhengHei"/>
                </a:rPr>
                <a:t>2057 年超過 100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696200" y="1714500"/>
            <a:ext cx="3564487" cy="4191000"/>
            <a:chOff x="7696200" y="1714500"/>
            <a:chExt cx="3564487" cy="4191000"/>
          </a:xfrm>
        </p:grpSpPr>
        <p:sp>
          <p:nvSpPr>
            <p:cNvPr id="14" name="Line 14"/>
            <p:cNvSpPr/>
            <p:nvPr/>
          </p:nvSpPr>
          <p:spPr>
            <a:xfrm>
              <a:off x="7696200" y="1714500"/>
              <a:ext cx="9525" cy="4191000"/>
            </a:xfrm>
            <a:custGeom>
              <a:avLst/>
              <a:gdLst/>
              <a:ahLst/>
              <a:cxnLst/>
              <a:rect l="l" t="t" r="r" b="b"/>
              <a:pathLst>
                <a:path w="9525" h="4191000">
                  <a:moveTo>
                    <a:pt x="0" y="0"/>
                  </a:moveTo>
                  <a:lnTo>
                    <a:pt x="0" y="41910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17942" y="18164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潛在支持比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17942" y="2102168"/>
              <a:ext cx="1531048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幾位 15–64 歲人口</a:t>
              </a:r>
              <a:br/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對應 1 位 65 歲以上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05750" y="2750820"/>
              <a:ext cx="1297537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3.2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963150" y="2750820"/>
              <a:ext cx="1297537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5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0.8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17942" y="3530918"/>
              <a:ext cx="649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 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975342" y="3530918"/>
              <a:ext cx="649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2075 年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9334500" y="3028950"/>
              <a:ext cx="457200" cy="342900"/>
            </a:xfrm>
            <a:prstGeom prst="rightArrow">
              <a:avLst/>
            </a:prstGeom>
            <a:solidFill>
              <a:srgbClr val="5A6270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7917942" y="4038600"/>
            <a:ext cx="3664458" cy="1508951"/>
            <a:chOff x="7917942" y="4038600"/>
            <a:chExt cx="3664458" cy="1508951"/>
          </a:xfrm>
        </p:grpSpPr>
        <p:sp>
          <p:nvSpPr>
            <p:cNvPr id="23" name="Line 23"/>
            <p:cNvSpPr/>
            <p:nvPr/>
          </p:nvSpPr>
          <p:spPr>
            <a:xfrm>
              <a:off x="7924800" y="403860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917942" y="42357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扶養比怎麼算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17942" y="4540568"/>
              <a:ext cx="2842641" cy="1006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 100 位 15–64 歲人口，</a:t>
              </a:r>
              <a:br/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對應的 0–14 歲與 65 歲以上人口數；</a:t>
              </a:r>
              <a:br/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只反映年齡結構，</a:t>
              </a:r>
              <a:br/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不代表實際的經濟扶養。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27" name="TextBox 27"/>
            <p:cNvSpPr txBox="1"/>
            <p:nvPr/>
          </p:nvSpPr>
          <p:spPr>
            <a:xfrm>
              <a:off x="604266" y="6325552"/>
              <a:ext cx="73750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資料：國發會《中華民國人口推估（2026 年至 2075 年）》表 7、概念及定義；中推估；四捨五入致合計可能相差 0.1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10354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685800"/>
            <a:ext cx="7269632" cy="862584"/>
            <a:chOff x="594360" y="685800"/>
            <a:chExt cx="7269632" cy="862584"/>
          </a:xfrm>
        </p:grpSpPr>
        <p:sp>
          <p:nvSpPr>
            <p:cNvPr id="2" name="TextBox 2"/>
            <p:cNvSpPr txBox="1"/>
            <p:nvPr/>
          </p:nvSpPr>
          <p:spPr>
            <a:xfrm>
              <a:off x="594360" y="685800"/>
              <a:ext cx="60883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工作年齡人口不只變少，也在變老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0456" y="1196340"/>
              <a:ext cx="72635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15–64 歲人口中，45–64 歲的占比由 46.3% 升到 60.8%（中推估）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09600" y="1714500"/>
            <a:ext cx="2628900" cy="1005840"/>
            <a:chOff x="609600" y="1714500"/>
            <a:chExt cx="2628900" cy="1005840"/>
          </a:xfrm>
        </p:grpSpPr>
        <p:sp>
          <p:nvSpPr>
            <p:cNvPr id="5" name="Freeform 5"/>
            <p:cNvSpPr/>
            <p:nvPr/>
          </p:nvSpPr>
          <p:spPr>
            <a:xfrm>
              <a:off x="609600" y="1714500"/>
              <a:ext cx="2628900" cy="914400"/>
            </a:xfrm>
            <a:prstGeom prst="homePlat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3242" y="1873568"/>
              <a:ext cx="11950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2015 年最高峰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84860" y="2133600"/>
              <a:ext cx="213156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1,737 萬人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390900" y="1714500"/>
            <a:ext cx="2628900" cy="1005840"/>
            <a:chOff x="3390900" y="1714500"/>
            <a:chExt cx="2628900" cy="1005840"/>
          </a:xfrm>
        </p:grpSpPr>
        <p:sp>
          <p:nvSpPr>
            <p:cNvPr id="9" name="Freeform 9"/>
            <p:cNvSpPr/>
            <p:nvPr/>
          </p:nvSpPr>
          <p:spPr>
            <a:xfrm>
              <a:off x="3390900" y="1714500"/>
              <a:ext cx="2628900" cy="914400"/>
            </a:xfrm>
            <a:prstGeom prst="homePlat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574542" y="1873568"/>
              <a:ext cx="649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2026 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66160" y="2133600"/>
              <a:ext cx="213156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1,576 萬人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172200" y="1714500"/>
            <a:ext cx="2628900" cy="1005840"/>
            <a:chOff x="6172200" y="1714500"/>
            <a:chExt cx="2628900" cy="1005840"/>
          </a:xfrm>
        </p:grpSpPr>
        <p:sp>
          <p:nvSpPr>
            <p:cNvPr id="13" name="Freeform 13"/>
            <p:cNvSpPr/>
            <p:nvPr/>
          </p:nvSpPr>
          <p:spPr>
            <a:xfrm>
              <a:off x="6172200" y="1714500"/>
              <a:ext cx="2628900" cy="914400"/>
            </a:xfrm>
            <a:prstGeom prst="homePlat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55842" y="1873568"/>
              <a:ext cx="15584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2040 年（中推估）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47460" y="2133600"/>
              <a:ext cx="213156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1,309 萬人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953500" y="1714500"/>
            <a:ext cx="2628900" cy="1005840"/>
            <a:chOff x="8953500" y="1714500"/>
            <a:chExt cx="2628900" cy="1005840"/>
          </a:xfrm>
        </p:grpSpPr>
        <p:sp>
          <p:nvSpPr>
            <p:cNvPr id="17" name="Freeform 17"/>
            <p:cNvSpPr/>
            <p:nvPr/>
          </p:nvSpPr>
          <p:spPr>
            <a:xfrm>
              <a:off x="8953500" y="1714500"/>
              <a:ext cx="2628900" cy="914400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137142" y="1873568"/>
              <a:ext cx="15584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2075 年（中推估）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128760" y="2133600"/>
              <a:ext cx="166510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513 萬人</a:t>
              </a:r>
            </a:p>
          </p:txBody>
        </p:sp>
      </p:grpSp>
      <p:graphicFrame>
        <p:nvGraphicFramePr>
          <p:cNvPr id="21" name="working-age-mix"/>
          <p:cNvGraphicFramePr>
            <a:graphicFrameLocks noGrp="1"/>
          </p:cNvGraphicFramePr>
          <p:nvPr/>
        </p:nvGraphicFramePr>
        <p:xfrm>
          <a:off x="609600" y="2952750"/>
          <a:ext cx="10972800" cy="304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25" name="Group 25"/>
          <p:cNvGrpSpPr/>
          <p:nvPr/>
        </p:nvGrpSpPr>
        <p:grpSpPr>
          <a:xfrm>
            <a:off x="604266" y="6135052"/>
            <a:ext cx="10983468" cy="433959"/>
            <a:chOff x="604266" y="6135052"/>
            <a:chExt cx="10983468" cy="433959"/>
          </a:xfrm>
        </p:grpSpPr>
        <p:sp>
          <p:nvSpPr>
            <p:cNvPr id="22" name="TextBox 22"/>
            <p:cNvSpPr txBox="1"/>
            <p:nvPr/>
          </p:nvSpPr>
          <p:spPr>
            <a:xfrm>
              <a:off x="604266" y="6135052"/>
              <a:ext cx="62795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註：工作年齡人口指 15–64 歲人口，不等於實際就業人數；橫條為各年齡組占工作年齡人口的比率。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4266" y="6363652"/>
              <a:ext cx="6541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資料：國發會《中華民國人口推估（2026 年至 2075 年）》表 10、人口重要年表；2026 年以後為中推估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103540" y="63636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00"/>
                            </p:stCondLst>
                            <p:childTnLst>
                              <p:par>
                                <p:cTn xmlns:p="http://schemas.openxmlformats.org/presentationml/2006/main" id="17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94360" y="685800"/>
            <a:ext cx="4472940" cy="586740"/>
            <a:chOff x="594360" y="685800"/>
            <a:chExt cx="4472940" cy="586740"/>
          </a:xfrm>
        </p:grpSpPr>
        <p:sp>
          <p:nvSpPr>
            <p:cNvPr id="2" name="TextBox 2"/>
            <p:cNvSpPr txBox="1"/>
            <p:nvPr/>
          </p:nvSpPr>
          <p:spPr>
            <a:xfrm>
              <a:off x="594360" y="685800"/>
              <a:ext cx="44729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長者不只變多，也更高齡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14350" y="1333500"/>
            <a:ext cx="3619500" cy="4762500"/>
            <a:chOff x="514350" y="1333500"/>
            <a:chExt cx="3619500" cy="4762500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rcRect l="0" t="222" r="0" b="222"/>
            <a:stretch>
              <a:fillRect/>
            </a:stretch>
          </p:blipFill>
          <p:spPr>
            <a:xfrm>
              <a:off x="609600" y="1428750"/>
              <a:ext cx="3429000" cy="4572000"/>
            </a:xfrm>
            <a:custGeom>
              <a:avLst/>
              <a:gdLst/>
              <a:ahLst/>
              <a:cxnLst/>
              <a:rect l="l" t="t" r="r" b="b"/>
              <a:pathLst>
                <a:path w="3429000" h="4572000">
                  <a:moveTo>
                    <a:pt x="0" y="4572000"/>
                  </a:moveTo>
                  <a:lnTo>
                    <a:pt x="0" y="1714500"/>
                  </a:lnTo>
                  <a:cubicBezTo>
                    <a:pt x="0" y="767608"/>
                    <a:pt x="767608" y="0"/>
                    <a:pt x="1714500" y="0"/>
                  </a:cubicBezTo>
                  <a:cubicBezTo>
                    <a:pt x="2661392" y="0"/>
                    <a:pt x="3429000" y="767608"/>
                    <a:pt x="3429000" y="1714500"/>
                  </a:cubicBezTo>
                  <a:lnTo>
                    <a:pt x="3429000" y="4572000"/>
                  </a:lnTo>
                  <a:close/>
                </a:path>
              </a:pathLst>
            </a:custGeom>
          </p:spPr>
        </p:pic>
        <p:sp>
          <p:nvSpPr>
            <p:cNvPr id="5" name="Freeform 5"/>
            <p:cNvSpPr/>
            <p:nvPr/>
          </p:nvSpPr>
          <p:spPr>
            <a:xfrm>
              <a:off x="514350" y="1333500"/>
              <a:ext cx="3619500" cy="4762500"/>
            </a:xfrm>
            <a:custGeom>
              <a:avLst/>
              <a:gdLst/>
              <a:ahLst/>
              <a:cxnLst/>
              <a:rect l="l" t="t" r="r" b="b"/>
              <a:pathLst>
                <a:path w="3619500" h="4762500">
                  <a:moveTo>
                    <a:pt x="0" y="4762500"/>
                  </a:moveTo>
                  <a:lnTo>
                    <a:pt x="0" y="1809750"/>
                  </a:lnTo>
                  <a:cubicBezTo>
                    <a:pt x="0" y="810253"/>
                    <a:pt x="810253" y="0"/>
                    <a:pt x="1809750" y="0"/>
                  </a:cubicBezTo>
                  <a:cubicBezTo>
                    <a:pt x="2809247" y="0"/>
                    <a:pt x="3619500" y="810253"/>
                    <a:pt x="3619500" y="1809750"/>
                  </a:cubicBezTo>
                  <a:lnTo>
                    <a:pt x="3619500" y="47625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4552950" y="1721168"/>
            <a:ext cx="3634271" cy="1675066"/>
            <a:chOff x="4552950" y="1721168"/>
            <a:chExt cx="3634271" cy="1675066"/>
          </a:xfrm>
        </p:grpSpPr>
        <p:sp>
          <p:nvSpPr>
            <p:cNvPr id="7" name="TextBox 7"/>
            <p:cNvSpPr txBox="1"/>
            <p:nvPr/>
          </p:nvSpPr>
          <p:spPr>
            <a:xfrm>
              <a:off x="4565142" y="1721168"/>
              <a:ext cx="28251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85 歲以上的超高齡人口（中推估）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552950" y="2106930"/>
              <a:ext cx="3634271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66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208 萬人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562856" y="3044190"/>
              <a:ext cx="32774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2075 年約為 2026 年的 4 倍多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572000" y="3714750"/>
            <a:ext cx="7010400" cy="1127951"/>
            <a:chOff x="4572000" y="3714750"/>
            <a:chExt cx="7010400" cy="1127951"/>
          </a:xfrm>
        </p:grpSpPr>
        <p:sp>
          <p:nvSpPr>
            <p:cNvPr id="11" name="Line 11"/>
            <p:cNvSpPr/>
            <p:nvPr/>
          </p:nvSpPr>
          <p:spPr>
            <a:xfrm>
              <a:off x="4572000" y="3810000"/>
              <a:ext cx="7010400" cy="9525"/>
            </a:xfrm>
            <a:custGeom>
              <a:avLst/>
              <a:gdLst/>
              <a:ahLst/>
              <a:cxnLst/>
              <a:rect l="l" t="t" r="r" b="b"/>
              <a:pathLst>
                <a:path w="7010400" h="9525">
                  <a:moveTo>
                    <a:pt x="0" y="0"/>
                  </a:moveTo>
                  <a:lnTo>
                    <a:pt x="70104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4686300" y="37338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6429375" y="37338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1239500" y="371475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753356" y="399669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2026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55642" y="4331018"/>
              <a:ext cx="135959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48 萬人</a:t>
              </a:r>
              <a:br/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 10 位長者 1 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96431" y="399669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2039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98717" y="4331018"/>
              <a:ext cx="145389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超過 100 萬人</a:t>
              </a:r>
              <a:br/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 6.5 位長者 1 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765856" y="399669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2075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810560" y="4331018"/>
              <a:ext cx="153104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950"/>
                </a:lnSpc>
              </a:pPr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208 萬人</a:t>
              </a:r>
              <a:br/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約每 10 位長者 3 位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562856" y="5257800"/>
            <a:ext cx="5276088" cy="824484"/>
            <a:chOff x="4562856" y="5257800"/>
            <a:chExt cx="5276088" cy="824484"/>
          </a:xfrm>
        </p:grpSpPr>
        <p:sp>
          <p:nvSpPr>
            <p:cNvPr id="22" name="Line 22"/>
            <p:cNvSpPr/>
            <p:nvPr/>
          </p:nvSpPr>
          <p:spPr>
            <a:xfrm>
              <a:off x="4572000" y="525780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562856" y="5387340"/>
              <a:ext cx="527608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國發會報告：隨老年人口持續老化，「老老照顧」</a:t>
              </a:r>
              <a:br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漸成常態，失能、失智等專業照護需求將相應擴張。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25" name="TextBox 25"/>
            <p:cNvSpPr txBox="1"/>
            <p:nvPr/>
          </p:nvSpPr>
          <p:spPr>
            <a:xfrm>
              <a:off x="604266" y="6325552"/>
              <a:ext cx="62513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資料：國發會《中華民國人口推估（2026 年至 2075 年）》第參章六、表 8、人口重要年表；中推估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10354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8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685800"/>
            <a:ext cx="6724421" cy="862584"/>
            <a:chOff x="594360" y="685800"/>
            <a:chExt cx="6724421" cy="862584"/>
          </a:xfrm>
        </p:grpSpPr>
        <p:sp>
          <p:nvSpPr>
            <p:cNvPr id="2" name="TextBox 2"/>
            <p:cNvSpPr txBox="1"/>
            <p:nvPr/>
          </p:nvSpPr>
          <p:spPr>
            <a:xfrm>
              <a:off x="594360" y="685800"/>
              <a:ext cx="6492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已推出家庭支持篇，另有三篇規劃中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0456" y="1196340"/>
              <a:ext cx="67183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政府已公布的對策架構（依國發會 2026 年 8 月 28 日新聞稿）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09600" y="1676400"/>
            <a:ext cx="10896600" cy="533400"/>
            <a:chOff x="609600" y="1676400"/>
            <a:chExt cx="10896600" cy="533400"/>
          </a:xfrm>
        </p:grpSpPr>
        <p:sp>
          <p:nvSpPr>
            <p:cNvPr id="5" name="Rectangle 5"/>
            <p:cNvSpPr/>
            <p:nvPr/>
          </p:nvSpPr>
          <p:spPr>
            <a:xfrm>
              <a:off x="609600" y="1676400"/>
              <a:ext cx="1089660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29056" y="1834515"/>
              <a:ext cx="80147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「台灣人口對策新戰略」</a:t>
              </a:r>
              <a:r>
                <a:rPr lang="zh-TW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　行政院跨部會「人口對策新戰略執行小組」推動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2209800"/>
            <a:ext cx="4267200" cy="3581400"/>
            <a:chOff x="609600" y="2209800"/>
            <a:chExt cx="4267200" cy="3581400"/>
          </a:xfrm>
        </p:grpSpPr>
        <p:sp>
          <p:nvSpPr>
            <p:cNvPr id="8" name="Line 8"/>
            <p:cNvSpPr/>
            <p:nvPr/>
          </p:nvSpPr>
          <p:spPr>
            <a:xfrm>
              <a:off x="2743200" y="220980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609600" y="2628900"/>
              <a:ext cx="4267200" cy="3162300"/>
            </a:xfrm>
            <a:prstGeom prst="snip1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7532" y="284035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家庭支持篇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1342" y="3207068"/>
              <a:ext cx="26489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 年 5 月推出 · 共 18 項措施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849313" y="3584575"/>
              <a:ext cx="223233" cy="225004"/>
            </a:xfrm>
            <a:custGeom>
              <a:avLst/>
              <a:gdLst/>
              <a:ahLst/>
              <a:cxnLst/>
              <a:rect l="l" t="t" r="r" b="b"/>
              <a:pathLst>
                <a:path w="223233" h="225004">
                  <a:moveTo>
                    <a:pt x="150019" y="0"/>
                  </a:moveTo>
                  <a:cubicBezTo>
                    <a:pt x="169866" y="0"/>
                    <a:pt x="188839" y="8167"/>
                    <a:pt x="202481" y="22583"/>
                  </a:cubicBezTo>
                  <a:cubicBezTo>
                    <a:pt x="216123" y="36999"/>
                    <a:pt x="223233" y="56393"/>
                    <a:pt x="222140" y="76210"/>
                  </a:cubicBezTo>
                  <a:cubicBezTo>
                    <a:pt x="222370" y="77911"/>
                    <a:pt x="222218" y="79642"/>
                    <a:pt x="221695" y="81277"/>
                  </a:cubicBezTo>
                  <a:cubicBezTo>
                    <a:pt x="218538" y="106134"/>
                    <a:pt x="202743" y="127588"/>
                    <a:pt x="179945" y="137984"/>
                  </a:cubicBezTo>
                  <a:lnTo>
                    <a:pt x="185857" y="155709"/>
                  </a:lnTo>
                  <a:cubicBezTo>
                    <a:pt x="186857" y="155620"/>
                    <a:pt x="187876" y="155575"/>
                    <a:pt x="188913" y="155575"/>
                  </a:cubicBezTo>
                  <a:cubicBezTo>
                    <a:pt x="207325" y="155575"/>
                    <a:pt x="222251" y="170501"/>
                    <a:pt x="222251" y="188913"/>
                  </a:cubicBezTo>
                  <a:cubicBezTo>
                    <a:pt x="222251" y="207325"/>
                    <a:pt x="207325" y="222251"/>
                    <a:pt x="188913" y="222251"/>
                  </a:cubicBezTo>
                  <a:cubicBezTo>
                    <a:pt x="170501" y="222251"/>
                    <a:pt x="155575" y="207325"/>
                    <a:pt x="155575" y="188913"/>
                  </a:cubicBezTo>
                  <a:lnTo>
                    <a:pt x="155631" y="186957"/>
                  </a:lnTo>
                  <a:cubicBezTo>
                    <a:pt x="156115" y="178694"/>
                    <a:pt x="159657" y="170907"/>
                    <a:pt x="165566" y="165110"/>
                  </a:cubicBezTo>
                  <a:lnTo>
                    <a:pt x="158520" y="143963"/>
                  </a:lnTo>
                  <a:cubicBezTo>
                    <a:pt x="155727" y="144296"/>
                    <a:pt x="152894" y="144463"/>
                    <a:pt x="150019" y="144463"/>
                  </a:cubicBezTo>
                  <a:lnTo>
                    <a:pt x="120293" y="144463"/>
                  </a:lnTo>
                  <a:cubicBezTo>
                    <a:pt x="116241" y="144463"/>
                    <a:pt x="112255" y="144155"/>
                    <a:pt x="108336" y="143541"/>
                  </a:cubicBezTo>
                  <a:lnTo>
                    <a:pt x="101135" y="165110"/>
                  </a:lnTo>
                  <a:cubicBezTo>
                    <a:pt x="111933" y="175704"/>
                    <a:pt x="114245" y="192241"/>
                    <a:pt x="106765" y="205390"/>
                  </a:cubicBezTo>
                  <a:cubicBezTo>
                    <a:pt x="99286" y="218539"/>
                    <a:pt x="83890" y="225004"/>
                    <a:pt x="69266" y="221137"/>
                  </a:cubicBezTo>
                  <a:cubicBezTo>
                    <a:pt x="54641" y="217270"/>
                    <a:pt x="44453" y="204040"/>
                    <a:pt x="44450" y="188913"/>
                  </a:cubicBezTo>
                  <a:lnTo>
                    <a:pt x="44495" y="186957"/>
                  </a:lnTo>
                  <a:cubicBezTo>
                    <a:pt x="45023" y="177938"/>
                    <a:pt x="49189" y="169520"/>
                    <a:pt x="56039" y="163629"/>
                  </a:cubicBezTo>
                  <a:cubicBezTo>
                    <a:pt x="62889" y="157738"/>
                    <a:pt x="71836" y="154880"/>
                    <a:pt x="80833" y="155709"/>
                  </a:cubicBezTo>
                  <a:lnTo>
                    <a:pt x="87056" y="137018"/>
                  </a:lnTo>
                  <a:cubicBezTo>
                    <a:pt x="67849" y="127948"/>
                    <a:pt x="53187" y="111418"/>
                    <a:pt x="46473" y="91267"/>
                  </a:cubicBezTo>
                  <a:lnTo>
                    <a:pt x="30893" y="44450"/>
                  </a:lnTo>
                  <a:lnTo>
                    <a:pt x="11113" y="44450"/>
                  </a:lnTo>
                  <a:cubicBezTo>
                    <a:pt x="5479" y="44449"/>
                    <a:pt x="737" y="40233"/>
                    <a:pt x="78" y="34638"/>
                  </a:cubicBezTo>
                  <a:lnTo>
                    <a:pt x="0" y="33338"/>
                  </a:lnTo>
                  <a:cubicBezTo>
                    <a:pt x="0" y="27200"/>
                    <a:pt x="4975" y="22225"/>
                    <a:pt x="11113" y="22225"/>
                  </a:cubicBezTo>
                  <a:lnTo>
                    <a:pt x="38894" y="22225"/>
                  </a:lnTo>
                  <a:cubicBezTo>
                    <a:pt x="43679" y="22224"/>
                    <a:pt x="47928" y="25286"/>
                    <a:pt x="49440" y="29826"/>
                  </a:cubicBezTo>
                  <a:lnTo>
                    <a:pt x="61708" y="66675"/>
                  </a:lnTo>
                  <a:lnTo>
                    <a:pt x="133350" y="66675"/>
                  </a:lnTo>
                  <a:lnTo>
                    <a:pt x="133350" y="11113"/>
                  </a:lnTo>
                  <a:cubicBezTo>
                    <a:pt x="133350" y="4975"/>
                    <a:pt x="138326" y="0"/>
                    <a:pt x="144463" y="0"/>
                  </a:cubicBezTo>
                  <a:close/>
                  <a:moveTo>
                    <a:pt x="77788" y="177801"/>
                  </a:moveTo>
                  <a:cubicBezTo>
                    <a:pt x="71650" y="177801"/>
                    <a:pt x="66675" y="182776"/>
                    <a:pt x="66675" y="188913"/>
                  </a:cubicBezTo>
                  <a:cubicBezTo>
                    <a:pt x="66675" y="195050"/>
                    <a:pt x="71650" y="200026"/>
                    <a:pt x="77788" y="200026"/>
                  </a:cubicBezTo>
                  <a:cubicBezTo>
                    <a:pt x="83925" y="200026"/>
                    <a:pt x="88900" y="195050"/>
                    <a:pt x="88900" y="188913"/>
                  </a:cubicBezTo>
                  <a:cubicBezTo>
                    <a:pt x="88900" y="182776"/>
                    <a:pt x="83925" y="177801"/>
                    <a:pt x="77788" y="177801"/>
                  </a:cubicBezTo>
                  <a:moveTo>
                    <a:pt x="188913" y="177801"/>
                  </a:moveTo>
                  <a:cubicBezTo>
                    <a:pt x="182776" y="177801"/>
                    <a:pt x="177801" y="182776"/>
                    <a:pt x="177801" y="188913"/>
                  </a:cubicBezTo>
                  <a:cubicBezTo>
                    <a:pt x="177801" y="195050"/>
                    <a:pt x="182776" y="200026"/>
                    <a:pt x="188913" y="200026"/>
                  </a:cubicBezTo>
                  <a:cubicBezTo>
                    <a:pt x="195050" y="200026"/>
                    <a:pt x="200026" y="195050"/>
                    <a:pt x="200026" y="188913"/>
                  </a:cubicBezTo>
                  <a:cubicBezTo>
                    <a:pt x="200026" y="182776"/>
                    <a:pt x="195050" y="177801"/>
                    <a:pt x="188913" y="17780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855838" y="3993166"/>
              <a:ext cx="231125" cy="203686"/>
            </a:xfrm>
            <a:custGeom>
              <a:avLst/>
              <a:gdLst/>
              <a:ahLst/>
              <a:cxnLst/>
              <a:rect l="l" t="t" r="r" b="b"/>
              <a:pathLst>
                <a:path w="231125" h="203686">
                  <a:moveTo>
                    <a:pt x="59916" y="3394"/>
                  </a:moveTo>
                  <a:cubicBezTo>
                    <a:pt x="79838" y="0"/>
                    <a:pt x="100224" y="5824"/>
                    <a:pt x="115345" y="19230"/>
                  </a:cubicBezTo>
                  <a:lnTo>
                    <a:pt x="115757" y="19596"/>
                  </a:lnTo>
                  <a:lnTo>
                    <a:pt x="116134" y="19263"/>
                  </a:lnTo>
                  <a:cubicBezTo>
                    <a:pt x="130549" y="6613"/>
                    <a:pt x="149713" y="783"/>
                    <a:pt x="168730" y="3261"/>
                  </a:cubicBezTo>
                  <a:lnTo>
                    <a:pt x="171464" y="3661"/>
                  </a:lnTo>
                  <a:cubicBezTo>
                    <a:pt x="195604" y="7829"/>
                    <a:pt x="215515" y="24900"/>
                    <a:pt x="223320" y="48120"/>
                  </a:cubicBezTo>
                  <a:cubicBezTo>
                    <a:pt x="231125" y="71341"/>
                    <a:pt x="225568" y="96972"/>
                    <a:pt x="208846" y="114875"/>
                  </a:cubicBezTo>
                  <a:lnTo>
                    <a:pt x="206846" y="116931"/>
                  </a:lnTo>
                  <a:lnTo>
                    <a:pt x="206313" y="117387"/>
                  </a:lnTo>
                  <a:lnTo>
                    <a:pt x="123524" y="199386"/>
                  </a:lnTo>
                  <a:cubicBezTo>
                    <a:pt x="119573" y="203297"/>
                    <a:pt x="113340" y="203686"/>
                    <a:pt x="108934" y="200297"/>
                  </a:cubicBezTo>
                  <a:lnTo>
                    <a:pt x="107889" y="199386"/>
                  </a:lnTo>
                  <a:lnTo>
                    <a:pt x="24623" y="116909"/>
                  </a:lnTo>
                  <a:cubicBezTo>
                    <a:pt x="6636" y="99408"/>
                    <a:pt x="0" y="73290"/>
                    <a:pt x="7451" y="49326"/>
                  </a:cubicBezTo>
                  <a:cubicBezTo>
                    <a:pt x="14902" y="25362"/>
                    <a:pt x="35177" y="7611"/>
                    <a:pt x="59916" y="33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846979" y="4406900"/>
              <a:ext cx="246809" cy="177801"/>
            </a:xfrm>
            <a:custGeom>
              <a:avLst/>
              <a:gdLst/>
              <a:ahLst/>
              <a:cxnLst/>
              <a:rect l="l" t="t" r="r" b="b"/>
              <a:pathLst>
                <a:path w="246809" h="177801">
                  <a:moveTo>
                    <a:pt x="202359" y="104802"/>
                  </a:moveTo>
                  <a:lnTo>
                    <a:pt x="202359" y="133350"/>
                  </a:lnTo>
                  <a:cubicBezTo>
                    <a:pt x="202359" y="159998"/>
                    <a:pt x="166744" y="177801"/>
                    <a:pt x="124571" y="177801"/>
                  </a:cubicBezTo>
                  <a:cubicBezTo>
                    <a:pt x="82399" y="177801"/>
                    <a:pt x="46784" y="159998"/>
                    <a:pt x="46784" y="133350"/>
                  </a:cubicBezTo>
                  <a:lnTo>
                    <a:pt x="46784" y="104802"/>
                  </a:lnTo>
                  <a:lnTo>
                    <a:pt x="112192" y="130961"/>
                  </a:lnTo>
                  <a:cubicBezTo>
                    <a:pt x="119319" y="133815"/>
                    <a:pt x="127213" y="134121"/>
                    <a:pt x="134539" y="131828"/>
                  </a:cubicBezTo>
                  <a:lnTo>
                    <a:pt x="136951" y="130961"/>
                  </a:lnTo>
                  <a:close/>
                  <a:moveTo>
                    <a:pt x="224584" y="71965"/>
                  </a:moveTo>
                  <a:lnTo>
                    <a:pt x="128694" y="110325"/>
                  </a:lnTo>
                  <a:cubicBezTo>
                    <a:pt x="126047" y="111383"/>
                    <a:pt x="123096" y="111383"/>
                    <a:pt x="120449" y="110325"/>
                  </a:cubicBezTo>
                  <a:lnTo>
                    <a:pt x="9323" y="65875"/>
                  </a:lnTo>
                  <a:cubicBezTo>
                    <a:pt x="0" y="62152"/>
                    <a:pt x="0" y="48973"/>
                    <a:pt x="9323" y="45250"/>
                  </a:cubicBezTo>
                  <a:lnTo>
                    <a:pt x="120449" y="800"/>
                  </a:lnTo>
                  <a:cubicBezTo>
                    <a:pt x="121322" y="449"/>
                    <a:pt x="122237" y="210"/>
                    <a:pt x="123171" y="89"/>
                  </a:cubicBezTo>
                  <a:lnTo>
                    <a:pt x="124571" y="0"/>
                  </a:lnTo>
                  <a:lnTo>
                    <a:pt x="125972" y="89"/>
                  </a:lnTo>
                  <a:cubicBezTo>
                    <a:pt x="126906" y="210"/>
                    <a:pt x="127821" y="449"/>
                    <a:pt x="128694" y="800"/>
                  </a:cubicBezTo>
                  <a:lnTo>
                    <a:pt x="240175" y="45395"/>
                  </a:lnTo>
                  <a:lnTo>
                    <a:pt x="241375" y="46006"/>
                  </a:lnTo>
                  <a:lnTo>
                    <a:pt x="242475" y="46762"/>
                  </a:lnTo>
                  <a:lnTo>
                    <a:pt x="243453" y="47606"/>
                  </a:lnTo>
                  <a:lnTo>
                    <a:pt x="244287" y="48517"/>
                  </a:lnTo>
                  <a:lnTo>
                    <a:pt x="244676" y="49006"/>
                  </a:lnTo>
                  <a:lnTo>
                    <a:pt x="245487" y="50284"/>
                  </a:lnTo>
                  <a:lnTo>
                    <a:pt x="246065" y="51562"/>
                  </a:lnTo>
                  <a:lnTo>
                    <a:pt x="246443" y="52696"/>
                  </a:lnTo>
                  <a:lnTo>
                    <a:pt x="246720" y="54196"/>
                  </a:lnTo>
                  <a:lnTo>
                    <a:pt x="246787" y="54840"/>
                  </a:lnTo>
                  <a:lnTo>
                    <a:pt x="246809" y="122238"/>
                  </a:lnTo>
                  <a:cubicBezTo>
                    <a:pt x="246809" y="128375"/>
                    <a:pt x="241834" y="133350"/>
                    <a:pt x="235697" y="133350"/>
                  </a:cubicBezTo>
                  <a:cubicBezTo>
                    <a:pt x="229560" y="133350"/>
                    <a:pt x="224584" y="128375"/>
                    <a:pt x="224584" y="12223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860425" y="4784725"/>
              <a:ext cx="222251" cy="211138"/>
            </a:xfrm>
            <a:custGeom>
              <a:avLst/>
              <a:gdLst/>
              <a:ahLst/>
              <a:cxnLst/>
              <a:rect l="l" t="t" r="r" b="b"/>
              <a:pathLst>
                <a:path w="222251" h="211138">
                  <a:moveTo>
                    <a:pt x="222251" y="127550"/>
                  </a:moveTo>
                  <a:lnTo>
                    <a:pt x="222251" y="177801"/>
                  </a:lnTo>
                  <a:cubicBezTo>
                    <a:pt x="222251" y="196212"/>
                    <a:pt x="207325" y="211138"/>
                    <a:pt x="188913" y="211138"/>
                  </a:cubicBezTo>
                  <a:lnTo>
                    <a:pt x="33338" y="211138"/>
                  </a:lnTo>
                  <a:cubicBezTo>
                    <a:pt x="14926" y="211138"/>
                    <a:pt x="0" y="196212"/>
                    <a:pt x="0" y="177801"/>
                  </a:cubicBezTo>
                  <a:lnTo>
                    <a:pt x="0" y="127550"/>
                  </a:lnTo>
                  <a:lnTo>
                    <a:pt x="6145" y="130628"/>
                  </a:lnTo>
                  <a:cubicBezTo>
                    <a:pt x="72192" y="163896"/>
                    <a:pt x="150099" y="163887"/>
                    <a:pt x="216139" y="130606"/>
                  </a:cubicBezTo>
                  <a:lnTo>
                    <a:pt x="222251" y="127550"/>
                  </a:lnTo>
                  <a:close/>
                  <a:moveTo>
                    <a:pt x="133350" y="0"/>
                  </a:moveTo>
                  <a:cubicBezTo>
                    <a:pt x="151762" y="0"/>
                    <a:pt x="166688" y="14926"/>
                    <a:pt x="166688" y="33338"/>
                  </a:cubicBezTo>
                  <a:lnTo>
                    <a:pt x="166688" y="44450"/>
                  </a:lnTo>
                  <a:lnTo>
                    <a:pt x="188913" y="44450"/>
                  </a:lnTo>
                  <a:cubicBezTo>
                    <a:pt x="207325" y="44450"/>
                    <a:pt x="222251" y="59376"/>
                    <a:pt x="222251" y="77788"/>
                  </a:cubicBezTo>
                  <a:lnTo>
                    <a:pt x="222251" y="102702"/>
                  </a:lnTo>
                  <a:lnTo>
                    <a:pt x="206171" y="110747"/>
                  </a:lnTo>
                  <a:cubicBezTo>
                    <a:pt x="147866" y="140135"/>
                    <a:pt x="79246" y="140898"/>
                    <a:pt x="20303" y="112814"/>
                  </a:cubicBezTo>
                  <a:lnTo>
                    <a:pt x="13113" y="109258"/>
                  </a:lnTo>
                  <a:lnTo>
                    <a:pt x="0" y="102702"/>
                  </a:lnTo>
                  <a:lnTo>
                    <a:pt x="0" y="77788"/>
                  </a:lnTo>
                  <a:cubicBezTo>
                    <a:pt x="0" y="59376"/>
                    <a:pt x="14926" y="44450"/>
                    <a:pt x="33338" y="44450"/>
                  </a:cubicBezTo>
                  <a:lnTo>
                    <a:pt x="55563" y="44450"/>
                  </a:lnTo>
                  <a:lnTo>
                    <a:pt x="55563" y="33338"/>
                  </a:lnTo>
                  <a:cubicBezTo>
                    <a:pt x="55563" y="14926"/>
                    <a:pt x="70488" y="0"/>
                    <a:pt x="88900" y="0"/>
                  </a:cubicBezTo>
                  <a:lnTo>
                    <a:pt x="133350" y="0"/>
                  </a:lnTo>
                  <a:close/>
                  <a:moveTo>
                    <a:pt x="111125" y="88900"/>
                  </a:moveTo>
                  <a:cubicBezTo>
                    <a:pt x="104988" y="88900"/>
                    <a:pt x="100013" y="93876"/>
                    <a:pt x="100013" y="100013"/>
                  </a:cubicBezTo>
                  <a:cubicBezTo>
                    <a:pt x="99993" y="103983"/>
                    <a:pt x="102093" y="107662"/>
                    <a:pt x="105521" y="109664"/>
                  </a:cubicBezTo>
                  <a:cubicBezTo>
                    <a:pt x="108949" y="111667"/>
                    <a:pt x="113185" y="111688"/>
                    <a:pt x="116633" y="109720"/>
                  </a:cubicBezTo>
                  <a:cubicBezTo>
                    <a:pt x="120082" y="107752"/>
                    <a:pt x="122218" y="104094"/>
                    <a:pt x="122238" y="100124"/>
                  </a:cubicBezTo>
                  <a:cubicBezTo>
                    <a:pt x="122238" y="93879"/>
                    <a:pt x="117259" y="88900"/>
                    <a:pt x="111125" y="88900"/>
                  </a:cubicBezTo>
                  <a:close/>
                  <a:moveTo>
                    <a:pt x="133350" y="22225"/>
                  </a:moveTo>
                  <a:lnTo>
                    <a:pt x="88900" y="22225"/>
                  </a:lnTo>
                  <a:cubicBezTo>
                    <a:pt x="82763" y="22225"/>
                    <a:pt x="77788" y="27200"/>
                    <a:pt x="77788" y="33338"/>
                  </a:cubicBezTo>
                  <a:lnTo>
                    <a:pt x="77788" y="44450"/>
                  </a:lnTo>
                  <a:lnTo>
                    <a:pt x="144463" y="44450"/>
                  </a:lnTo>
                  <a:lnTo>
                    <a:pt x="144463" y="33338"/>
                  </a:lnTo>
                  <a:cubicBezTo>
                    <a:pt x="144463" y="27200"/>
                    <a:pt x="139488" y="22225"/>
                    <a:pt x="133350" y="2222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856680" y="5183693"/>
              <a:ext cx="229740" cy="223333"/>
            </a:xfrm>
            <a:custGeom>
              <a:avLst/>
              <a:gdLst/>
              <a:ahLst/>
              <a:cxnLst/>
              <a:rect l="l" t="t" r="r" b="b"/>
              <a:pathLst>
                <a:path w="229740" h="223333">
                  <a:moveTo>
                    <a:pt x="122727" y="4338"/>
                  </a:moveTo>
                  <a:lnTo>
                    <a:pt x="222740" y="104351"/>
                  </a:lnTo>
                  <a:cubicBezTo>
                    <a:pt x="229740" y="111352"/>
                    <a:pt x="224784" y="123320"/>
                    <a:pt x="214883" y="123320"/>
                  </a:cubicBezTo>
                  <a:lnTo>
                    <a:pt x="203770" y="123320"/>
                  </a:lnTo>
                  <a:lnTo>
                    <a:pt x="203770" y="189995"/>
                  </a:lnTo>
                  <a:cubicBezTo>
                    <a:pt x="203770" y="208407"/>
                    <a:pt x="188845" y="223333"/>
                    <a:pt x="170433" y="223333"/>
                  </a:cubicBezTo>
                  <a:lnTo>
                    <a:pt x="159320" y="223333"/>
                  </a:lnTo>
                  <a:lnTo>
                    <a:pt x="159320" y="145545"/>
                  </a:lnTo>
                  <a:cubicBezTo>
                    <a:pt x="159321" y="127892"/>
                    <a:pt x="145561" y="113299"/>
                    <a:pt x="127939" y="112263"/>
                  </a:cubicBezTo>
                  <a:lnTo>
                    <a:pt x="125983" y="112207"/>
                  </a:lnTo>
                  <a:lnTo>
                    <a:pt x="103758" y="112207"/>
                  </a:lnTo>
                  <a:cubicBezTo>
                    <a:pt x="85346" y="112207"/>
                    <a:pt x="70420" y="127133"/>
                    <a:pt x="70420" y="145545"/>
                  </a:cubicBezTo>
                  <a:lnTo>
                    <a:pt x="70420" y="223333"/>
                  </a:lnTo>
                  <a:lnTo>
                    <a:pt x="59308" y="223333"/>
                  </a:lnTo>
                  <a:cubicBezTo>
                    <a:pt x="40896" y="223333"/>
                    <a:pt x="25970" y="208407"/>
                    <a:pt x="25970" y="189995"/>
                  </a:cubicBezTo>
                  <a:lnTo>
                    <a:pt x="25970" y="123320"/>
                  </a:lnTo>
                  <a:lnTo>
                    <a:pt x="14857" y="123320"/>
                  </a:lnTo>
                  <a:cubicBezTo>
                    <a:pt x="4967" y="123320"/>
                    <a:pt x="0" y="111352"/>
                    <a:pt x="7001" y="104351"/>
                  </a:cubicBezTo>
                  <a:lnTo>
                    <a:pt x="107014" y="4338"/>
                  </a:lnTo>
                  <a:cubicBezTo>
                    <a:pt x="111353" y="0"/>
                    <a:pt x="118387" y="0"/>
                    <a:pt x="122727" y="4338"/>
                  </a:cubicBezTo>
                  <a:moveTo>
                    <a:pt x="125983" y="134433"/>
                  </a:moveTo>
                  <a:cubicBezTo>
                    <a:pt x="132120" y="134433"/>
                    <a:pt x="137095" y="139408"/>
                    <a:pt x="137095" y="145545"/>
                  </a:cubicBezTo>
                  <a:lnTo>
                    <a:pt x="137095" y="223333"/>
                  </a:lnTo>
                  <a:lnTo>
                    <a:pt x="92645" y="223333"/>
                  </a:lnTo>
                  <a:lnTo>
                    <a:pt x="92645" y="145545"/>
                  </a:lnTo>
                  <a:cubicBezTo>
                    <a:pt x="92646" y="139911"/>
                    <a:pt x="96862" y="135169"/>
                    <a:pt x="102458" y="134510"/>
                  </a:cubicBezTo>
                  <a:lnTo>
                    <a:pt x="103758" y="13443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1229106" y="3587115"/>
              <a:ext cx="987552" cy="1952244"/>
              <a:chOff x="1229106" y="3587115"/>
              <a:chExt cx="987552" cy="1952244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1229106" y="3587115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安心生養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29106" y="3987165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強化托育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29106" y="4387215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教育加碼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229106" y="4787265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友善職場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29106" y="5187315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TW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居住減壓</a:t>
                </a:r>
              </a:p>
            </p:txBody>
          </p:sp>
        </p:grpSp>
      </p:grpSp>
      <p:grpSp>
        <p:nvGrpSpPr>
          <p:cNvPr id="31" name="Group 31"/>
          <p:cNvGrpSpPr/>
          <p:nvPr/>
        </p:nvGrpSpPr>
        <p:grpSpPr>
          <a:xfrm>
            <a:off x="5105400" y="2209800"/>
            <a:ext cx="1981200" cy="3581400"/>
            <a:chOff x="5105400" y="2209800"/>
            <a:chExt cx="1981200" cy="3581400"/>
          </a:xfrm>
        </p:grpSpPr>
        <p:sp>
          <p:nvSpPr>
            <p:cNvPr id="24" name="Line 24"/>
            <p:cNvSpPr/>
            <p:nvPr/>
          </p:nvSpPr>
          <p:spPr>
            <a:xfrm>
              <a:off x="6096000" y="220980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19050">
              <a:solidFill>
                <a:srgbClr val="5A6270"/>
              </a:solidFill>
              <a:prstDash val="dash"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105400" y="2628900"/>
              <a:ext cx="1981200" cy="3162300"/>
            </a:xfrm>
            <a:prstGeom prst="roundRect">
              <a:avLst>
                <a:gd name="adj" fmla="val 1923"/>
              </a:avLst>
            </a:prstGeom>
            <a:noFill/>
            <a:ln w="19050">
              <a:solidFill>
                <a:srgbClr val="5A6270"/>
              </a:solidFill>
              <a:prstDash val="lgDash"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324856" y="28727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銀髮世代篇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327142" y="32070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規劃中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5429250" y="5105400"/>
              <a:ext cx="266700" cy="381000"/>
              <a:chOff x="5429250" y="5105400"/>
              <a:chExt cx="266700" cy="3810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5467350" y="51054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0"/>
                    </a:moveTo>
                    <a:cubicBezTo>
                      <a:pt x="147855" y="0"/>
                      <a:pt x="190500" y="42645"/>
                      <a:pt x="190500" y="95250"/>
                    </a:cubicBezTo>
                    <a:cubicBezTo>
                      <a:pt x="190500" y="147855"/>
                      <a:pt x="147855" y="190500"/>
                      <a:pt x="95250" y="190500"/>
                    </a:cubicBezTo>
                    <a:cubicBezTo>
                      <a:pt x="42645" y="190500"/>
                      <a:pt x="0" y="147855"/>
                      <a:pt x="0" y="95250"/>
                    </a:cubicBezTo>
                    <a:lnTo>
                      <a:pt x="95" y="91116"/>
                    </a:lnTo>
                    <a:cubicBezTo>
                      <a:pt x="2308" y="40169"/>
                      <a:pt x="44255" y="3"/>
                      <a:pt x="9525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429250" y="5334000"/>
                <a:ext cx="2667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2400">
                    <a:moveTo>
                      <a:pt x="171450" y="0"/>
                    </a:moveTo>
                    <a:cubicBezTo>
                      <a:pt x="224055" y="0"/>
                      <a:pt x="266700" y="42645"/>
                      <a:pt x="266700" y="95250"/>
                    </a:cubicBezTo>
                    <a:lnTo>
                      <a:pt x="266700" y="114300"/>
                    </a:lnTo>
                    <a:cubicBezTo>
                      <a:pt x="266700" y="135342"/>
                      <a:pt x="249642" y="152400"/>
                      <a:pt x="228600" y="152400"/>
                    </a:cubicBezTo>
                    <a:lnTo>
                      <a:pt x="38100" y="152400"/>
                    </a:lnTo>
                    <a:cubicBezTo>
                      <a:pt x="17058" y="152400"/>
                      <a:pt x="0" y="135342"/>
                      <a:pt x="0" y="11430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lnTo>
                      <a:pt x="17145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</p:grpSp>
      </p:grpSp>
      <p:grpSp>
        <p:nvGrpSpPr>
          <p:cNvPr id="37" name="Group 37"/>
          <p:cNvGrpSpPr/>
          <p:nvPr/>
        </p:nvGrpSpPr>
        <p:grpSpPr>
          <a:xfrm>
            <a:off x="7315200" y="2209800"/>
            <a:ext cx="1981200" cy="3581400"/>
            <a:chOff x="7315200" y="2209800"/>
            <a:chExt cx="1981200" cy="3581400"/>
          </a:xfrm>
        </p:grpSpPr>
        <p:sp>
          <p:nvSpPr>
            <p:cNvPr id="32" name="Line 32"/>
            <p:cNvSpPr/>
            <p:nvPr/>
          </p:nvSpPr>
          <p:spPr>
            <a:xfrm>
              <a:off x="8305800" y="220980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19050">
              <a:solidFill>
                <a:srgbClr val="5A6270"/>
              </a:solidFill>
              <a:prstDash val="dash"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15200" y="2628900"/>
              <a:ext cx="1981200" cy="3162300"/>
            </a:xfrm>
            <a:prstGeom prst="roundRect">
              <a:avLst>
                <a:gd name="adj" fmla="val 1923"/>
              </a:avLst>
            </a:prstGeom>
            <a:noFill/>
            <a:ln w="19050">
              <a:solidFill>
                <a:srgbClr val="5A6270"/>
              </a:solidFill>
              <a:prstDash val="lgDash"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34656" y="28727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全齡育才篇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36942" y="32070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規劃中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7558850" y="5143500"/>
              <a:ext cx="423100" cy="304800"/>
            </a:xfrm>
            <a:custGeom>
              <a:avLst/>
              <a:gdLst/>
              <a:ahLst/>
              <a:cxnLst/>
              <a:rect l="l" t="t" r="r" b="b"/>
              <a:pathLst>
                <a:path w="423100" h="304800">
                  <a:moveTo>
                    <a:pt x="346900" y="179661"/>
                  </a:moveTo>
                  <a:lnTo>
                    <a:pt x="346900" y="228600"/>
                  </a:lnTo>
                  <a:cubicBezTo>
                    <a:pt x="346900" y="274282"/>
                    <a:pt x="285845" y="304800"/>
                    <a:pt x="213550" y="304800"/>
                  </a:cubicBezTo>
                  <a:cubicBezTo>
                    <a:pt x="141256" y="304800"/>
                    <a:pt x="80200" y="274282"/>
                    <a:pt x="80200" y="228600"/>
                  </a:cubicBezTo>
                  <a:lnTo>
                    <a:pt x="80200" y="179661"/>
                  </a:lnTo>
                  <a:lnTo>
                    <a:pt x="192329" y="224504"/>
                  </a:lnTo>
                  <a:cubicBezTo>
                    <a:pt x="204547" y="229396"/>
                    <a:pt x="218078" y="229921"/>
                    <a:pt x="230638" y="225990"/>
                  </a:cubicBezTo>
                  <a:lnTo>
                    <a:pt x="234772" y="224504"/>
                  </a:lnTo>
                  <a:close/>
                  <a:moveTo>
                    <a:pt x="385000" y="123368"/>
                  </a:moveTo>
                  <a:lnTo>
                    <a:pt x="220618" y="189128"/>
                  </a:lnTo>
                  <a:cubicBezTo>
                    <a:pt x="216081" y="190941"/>
                    <a:pt x="211020" y="190941"/>
                    <a:pt x="206483" y="189128"/>
                  </a:cubicBezTo>
                  <a:lnTo>
                    <a:pt x="15983" y="112928"/>
                  </a:lnTo>
                  <a:cubicBezTo>
                    <a:pt x="0" y="106547"/>
                    <a:pt x="0" y="83953"/>
                    <a:pt x="15983" y="77572"/>
                  </a:cubicBezTo>
                  <a:lnTo>
                    <a:pt x="206483" y="1372"/>
                  </a:lnTo>
                  <a:cubicBezTo>
                    <a:pt x="207981" y="769"/>
                    <a:pt x="209549" y="359"/>
                    <a:pt x="211150" y="152"/>
                  </a:cubicBezTo>
                  <a:lnTo>
                    <a:pt x="213550" y="0"/>
                  </a:lnTo>
                  <a:lnTo>
                    <a:pt x="215951" y="152"/>
                  </a:lnTo>
                  <a:cubicBezTo>
                    <a:pt x="217552" y="359"/>
                    <a:pt x="219120" y="769"/>
                    <a:pt x="220618" y="1372"/>
                  </a:cubicBezTo>
                  <a:lnTo>
                    <a:pt x="411728" y="77819"/>
                  </a:lnTo>
                  <a:lnTo>
                    <a:pt x="413785" y="78867"/>
                  </a:lnTo>
                  <a:lnTo>
                    <a:pt x="415671" y="80162"/>
                  </a:lnTo>
                  <a:lnTo>
                    <a:pt x="417347" y="81610"/>
                  </a:lnTo>
                  <a:lnTo>
                    <a:pt x="418776" y="83172"/>
                  </a:lnTo>
                  <a:lnTo>
                    <a:pt x="419443" y="84011"/>
                  </a:lnTo>
                  <a:lnTo>
                    <a:pt x="420834" y="86201"/>
                  </a:lnTo>
                  <a:lnTo>
                    <a:pt x="421824" y="88392"/>
                  </a:lnTo>
                  <a:lnTo>
                    <a:pt x="422472" y="90335"/>
                  </a:lnTo>
                  <a:lnTo>
                    <a:pt x="422948" y="92907"/>
                  </a:lnTo>
                  <a:lnTo>
                    <a:pt x="423062" y="94012"/>
                  </a:lnTo>
                  <a:lnTo>
                    <a:pt x="423100" y="209550"/>
                  </a:lnTo>
                  <a:cubicBezTo>
                    <a:pt x="423100" y="220071"/>
                    <a:pt x="414572" y="228600"/>
                    <a:pt x="404050" y="228600"/>
                  </a:cubicBezTo>
                  <a:cubicBezTo>
                    <a:pt x="393529" y="228600"/>
                    <a:pt x="385000" y="220071"/>
                    <a:pt x="385000" y="20955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9525000" y="2209800"/>
            <a:ext cx="1981200" cy="3581400"/>
            <a:chOff x="9525000" y="2209800"/>
            <a:chExt cx="1981200" cy="3581400"/>
          </a:xfrm>
        </p:grpSpPr>
        <p:sp>
          <p:nvSpPr>
            <p:cNvPr id="38" name="Line 38"/>
            <p:cNvSpPr/>
            <p:nvPr/>
          </p:nvSpPr>
          <p:spPr>
            <a:xfrm>
              <a:off x="10515600" y="220980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19050">
              <a:solidFill>
                <a:srgbClr val="5A6270"/>
              </a:solidFill>
              <a:prstDash val="dash"/>
            </a:ln>
          </p:spPr>
        </p:sp>
        <p:sp>
          <p:nvSpPr>
            <p:cNvPr id="39" name="Rectangle 39"/>
            <p:cNvSpPr/>
            <p:nvPr/>
          </p:nvSpPr>
          <p:spPr>
            <a:xfrm>
              <a:off x="9525000" y="2628900"/>
              <a:ext cx="1981200" cy="3162300"/>
            </a:xfrm>
            <a:prstGeom prst="roundRect">
              <a:avLst>
                <a:gd name="adj" fmla="val 1923"/>
              </a:avLst>
            </a:prstGeom>
            <a:noFill/>
            <a:ln w="19050">
              <a:solidFill>
                <a:srgbClr val="5A6270"/>
              </a:solidFill>
              <a:prstDash val="lgDash"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744456" y="28727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全球攬才篇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746742" y="32070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規劃中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9829800" y="5105238"/>
              <a:ext cx="304800" cy="381698"/>
            </a:xfrm>
            <a:custGeom>
              <a:avLst/>
              <a:gdLst/>
              <a:ahLst/>
              <a:cxnLst/>
              <a:rect l="l" t="t" r="r" b="b"/>
              <a:pathLst>
                <a:path w="304800" h="381698">
                  <a:moveTo>
                    <a:pt x="0" y="57312"/>
                  </a:moveTo>
                  <a:cubicBezTo>
                    <a:pt x="1" y="52194"/>
                    <a:pt x="2060" y="47292"/>
                    <a:pt x="5715" y="43710"/>
                  </a:cubicBezTo>
                  <a:cubicBezTo>
                    <a:pt x="48806" y="1468"/>
                    <a:pt x="117311" y="0"/>
                    <a:pt x="162173" y="40357"/>
                  </a:cubicBezTo>
                  <a:lnTo>
                    <a:pt x="168859" y="46606"/>
                  </a:lnTo>
                  <a:cubicBezTo>
                    <a:pt x="197601" y="71788"/>
                    <a:pt x="240549" y="71788"/>
                    <a:pt x="269291" y="46606"/>
                  </a:cubicBezTo>
                  <a:lnTo>
                    <a:pt x="274034" y="42281"/>
                  </a:lnTo>
                  <a:cubicBezTo>
                    <a:pt x="285655" y="33080"/>
                    <a:pt x="303124" y="40433"/>
                    <a:pt x="304705" y="55159"/>
                  </a:cubicBezTo>
                  <a:lnTo>
                    <a:pt x="304800" y="57312"/>
                  </a:lnTo>
                  <a:lnTo>
                    <a:pt x="304800" y="228762"/>
                  </a:lnTo>
                  <a:cubicBezTo>
                    <a:pt x="304799" y="233879"/>
                    <a:pt x="302740" y="238781"/>
                    <a:pt x="299085" y="242363"/>
                  </a:cubicBezTo>
                  <a:cubicBezTo>
                    <a:pt x="255994" y="284605"/>
                    <a:pt x="187489" y="286073"/>
                    <a:pt x="142627" y="245716"/>
                  </a:cubicBezTo>
                  <a:lnTo>
                    <a:pt x="135941" y="239468"/>
                  </a:lnTo>
                  <a:cubicBezTo>
                    <a:pt x="108163" y="215129"/>
                    <a:pt x="66930" y="214214"/>
                    <a:pt x="38100" y="237296"/>
                  </a:cubicBezTo>
                  <a:lnTo>
                    <a:pt x="38100" y="362112"/>
                  </a:lnTo>
                  <a:cubicBezTo>
                    <a:pt x="38089" y="372191"/>
                    <a:pt x="30228" y="380517"/>
                    <a:pt x="20166" y="381108"/>
                  </a:cubicBezTo>
                  <a:cubicBezTo>
                    <a:pt x="10105" y="381698"/>
                    <a:pt x="1324" y="374349"/>
                    <a:pt x="133" y="364340"/>
                  </a:cubicBezTo>
                  <a:lnTo>
                    <a:pt x="0" y="362112"/>
                  </a:lnTo>
                  <a:lnTo>
                    <a:pt x="0" y="57312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44" name="TextBox 44"/>
            <p:cNvSpPr txBox="1"/>
            <p:nvPr/>
          </p:nvSpPr>
          <p:spPr>
            <a:xfrm>
              <a:off x="604266" y="6325552"/>
              <a:ext cx="78768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資料：國發會新聞稿〈國發會發布「中華民國人口推估（2026 年至 2075 年）」〉，2026 年 8 月 28 日；政策名稱依原文用字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10354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4360" y="685800"/>
            <a:ext cx="5355336" cy="862584"/>
            <a:chOff x="594360" y="685800"/>
            <a:chExt cx="5355336" cy="862584"/>
          </a:xfrm>
        </p:grpSpPr>
        <p:sp>
          <p:nvSpPr>
            <p:cNvPr id="2" name="TextBox 2"/>
            <p:cNvSpPr txBox="1"/>
            <p:nvPr/>
          </p:nvSpPr>
          <p:spPr>
            <a:xfrm>
              <a:off x="594360" y="685800"/>
              <a:ext cx="48768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推估落到生活裡的四個場景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0456" y="119634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把前面的數字對應到家庭、職場、學校與公共服務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668000" y="685800"/>
            <a:ext cx="914400" cy="381000"/>
            <a:chOff x="10668000" y="685800"/>
            <a:chExt cx="914400" cy="381000"/>
          </a:xfrm>
        </p:grpSpPr>
        <p:sp>
          <p:nvSpPr>
            <p:cNvPr id="5" name="Rectangle 5"/>
            <p:cNvSpPr/>
            <p:nvPr/>
          </p:nvSpPr>
          <p:spPr>
            <a:xfrm>
              <a:off x="10668000" y="685800"/>
              <a:ext cx="914400" cy="381000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936605" y="7972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整理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09600" y="1828800"/>
            <a:ext cx="2514600" cy="3337751"/>
            <a:chOff x="609600" y="1828800"/>
            <a:chExt cx="2514600" cy="3337751"/>
          </a:xfrm>
        </p:grpSpPr>
        <p:sp>
          <p:nvSpPr>
            <p:cNvPr id="8" name="Rectangle 8"/>
            <p:cNvSpPr/>
            <p:nvPr/>
          </p:nvSpPr>
          <p:spPr>
            <a:xfrm>
              <a:off x="609600" y="1828800"/>
              <a:ext cx="25146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791040" y="2071574"/>
              <a:ext cx="361019" cy="350950"/>
            </a:xfrm>
            <a:custGeom>
              <a:avLst/>
              <a:gdLst/>
              <a:ahLst/>
              <a:cxnLst/>
              <a:rect l="l" t="t" r="r" b="b"/>
              <a:pathLst>
                <a:path w="361019" h="350950">
                  <a:moveTo>
                    <a:pt x="192855" y="6817"/>
                  </a:moveTo>
                  <a:lnTo>
                    <a:pt x="350018" y="163979"/>
                  </a:lnTo>
                  <a:cubicBezTo>
                    <a:pt x="361019" y="174981"/>
                    <a:pt x="353231" y="193788"/>
                    <a:pt x="337672" y="193788"/>
                  </a:cubicBezTo>
                  <a:lnTo>
                    <a:pt x="320209" y="193788"/>
                  </a:lnTo>
                  <a:lnTo>
                    <a:pt x="320209" y="298562"/>
                  </a:lnTo>
                  <a:cubicBezTo>
                    <a:pt x="320209" y="327495"/>
                    <a:pt x="296755" y="350950"/>
                    <a:pt x="267822" y="350950"/>
                  </a:cubicBezTo>
                  <a:lnTo>
                    <a:pt x="250359" y="350950"/>
                  </a:lnTo>
                  <a:lnTo>
                    <a:pt x="250359" y="228713"/>
                  </a:lnTo>
                  <a:cubicBezTo>
                    <a:pt x="250361" y="200972"/>
                    <a:pt x="228738" y="178040"/>
                    <a:pt x="201045" y="176413"/>
                  </a:cubicBezTo>
                  <a:lnTo>
                    <a:pt x="197972" y="176325"/>
                  </a:lnTo>
                  <a:lnTo>
                    <a:pt x="163047" y="176325"/>
                  </a:lnTo>
                  <a:cubicBezTo>
                    <a:pt x="134114" y="176325"/>
                    <a:pt x="110660" y="199780"/>
                    <a:pt x="110660" y="228713"/>
                  </a:cubicBezTo>
                  <a:lnTo>
                    <a:pt x="110660" y="350950"/>
                  </a:lnTo>
                  <a:lnTo>
                    <a:pt x="93197" y="350950"/>
                  </a:lnTo>
                  <a:cubicBezTo>
                    <a:pt x="64264" y="350950"/>
                    <a:pt x="40810" y="327495"/>
                    <a:pt x="40810" y="298562"/>
                  </a:cubicBezTo>
                  <a:lnTo>
                    <a:pt x="40810" y="193788"/>
                  </a:lnTo>
                  <a:lnTo>
                    <a:pt x="23347" y="193788"/>
                  </a:lnTo>
                  <a:cubicBezTo>
                    <a:pt x="7806" y="193788"/>
                    <a:pt x="0" y="174981"/>
                    <a:pt x="11001" y="163979"/>
                  </a:cubicBezTo>
                  <a:lnTo>
                    <a:pt x="168164" y="6817"/>
                  </a:lnTo>
                  <a:cubicBezTo>
                    <a:pt x="174983" y="0"/>
                    <a:pt x="186036" y="0"/>
                    <a:pt x="192855" y="6817"/>
                  </a:cubicBezTo>
                  <a:moveTo>
                    <a:pt x="197972" y="211250"/>
                  </a:moveTo>
                  <a:cubicBezTo>
                    <a:pt x="207616" y="211250"/>
                    <a:pt x="215434" y="219068"/>
                    <a:pt x="215434" y="228713"/>
                  </a:cubicBezTo>
                  <a:lnTo>
                    <a:pt x="215434" y="350950"/>
                  </a:lnTo>
                  <a:lnTo>
                    <a:pt x="145585" y="350950"/>
                  </a:lnTo>
                  <a:lnTo>
                    <a:pt x="145585" y="228713"/>
                  </a:lnTo>
                  <a:cubicBezTo>
                    <a:pt x="145586" y="219860"/>
                    <a:pt x="152212" y="212408"/>
                    <a:pt x="161004" y="211372"/>
                  </a:cubicBezTo>
                  <a:lnTo>
                    <a:pt x="163047" y="2112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22832" y="213550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家庭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6760" y="2762250"/>
              <a:ext cx="12814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32.3%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5142" y="3283268"/>
              <a:ext cx="193395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2075 年長者中 85 歲以上</a:t>
              </a:r>
              <a:br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的比率（中推估）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762000" y="4191000"/>
              <a:ext cx="2209800" cy="9525"/>
            </a:xfrm>
            <a:custGeom>
              <a:avLst/>
              <a:gdLst/>
              <a:ahLst/>
              <a:cxnLst/>
              <a:rect l="l" t="t" r="r" b="b"/>
              <a:pathLst>
                <a:path w="2209800" h="9525">
                  <a:moveTo>
                    <a:pt x="0" y="0"/>
                  </a:moveTo>
                  <a:lnTo>
                    <a:pt x="2209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5142" y="43691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報告中的課題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5142" y="4654868"/>
              <a:ext cx="17282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隨老年人口持續老化，</a:t>
              </a:r>
              <a:br/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「老老照顧」漸成常態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352800" y="1828800"/>
            <a:ext cx="2514600" cy="3337751"/>
            <a:chOff x="3352800" y="1828800"/>
            <a:chExt cx="2514600" cy="3337751"/>
          </a:xfrm>
        </p:grpSpPr>
        <p:sp>
          <p:nvSpPr>
            <p:cNvPr id="17" name="Rectangle 17"/>
            <p:cNvSpPr/>
            <p:nvPr/>
          </p:nvSpPr>
          <p:spPr>
            <a:xfrm>
              <a:off x="3352800" y="1828800"/>
              <a:ext cx="25146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3540125" y="2073275"/>
              <a:ext cx="349249" cy="331787"/>
            </a:xfrm>
            <a:custGeom>
              <a:avLst/>
              <a:gdLst/>
              <a:ahLst/>
              <a:cxnLst/>
              <a:rect l="l" t="t" r="r" b="b"/>
              <a:pathLst>
                <a:path w="349249" h="331787">
                  <a:moveTo>
                    <a:pt x="349249" y="200434"/>
                  </a:moveTo>
                  <a:lnTo>
                    <a:pt x="349249" y="279399"/>
                  </a:lnTo>
                  <a:cubicBezTo>
                    <a:pt x="349249" y="308332"/>
                    <a:pt x="325795" y="331787"/>
                    <a:pt x="296862" y="331787"/>
                  </a:cubicBezTo>
                  <a:lnTo>
                    <a:pt x="52387" y="331787"/>
                  </a:lnTo>
                  <a:cubicBezTo>
                    <a:pt x="23455" y="331787"/>
                    <a:pt x="0" y="308332"/>
                    <a:pt x="0" y="279399"/>
                  </a:cubicBezTo>
                  <a:lnTo>
                    <a:pt x="0" y="200434"/>
                  </a:lnTo>
                  <a:lnTo>
                    <a:pt x="9657" y="205271"/>
                  </a:lnTo>
                  <a:cubicBezTo>
                    <a:pt x="113444" y="257549"/>
                    <a:pt x="235869" y="257536"/>
                    <a:pt x="339645" y="205236"/>
                  </a:cubicBezTo>
                  <a:lnTo>
                    <a:pt x="349249" y="200434"/>
                  </a:lnTo>
                  <a:close/>
                  <a:moveTo>
                    <a:pt x="209550" y="0"/>
                  </a:moveTo>
                  <a:cubicBezTo>
                    <a:pt x="238482" y="0"/>
                    <a:pt x="261937" y="23455"/>
                    <a:pt x="261937" y="52387"/>
                  </a:cubicBezTo>
                  <a:lnTo>
                    <a:pt x="261937" y="69850"/>
                  </a:lnTo>
                  <a:lnTo>
                    <a:pt x="296862" y="69850"/>
                  </a:lnTo>
                  <a:cubicBezTo>
                    <a:pt x="325795" y="69850"/>
                    <a:pt x="349249" y="93305"/>
                    <a:pt x="349249" y="122237"/>
                  </a:cubicBezTo>
                  <a:lnTo>
                    <a:pt x="349249" y="161388"/>
                  </a:lnTo>
                  <a:lnTo>
                    <a:pt x="323981" y="174031"/>
                  </a:lnTo>
                  <a:cubicBezTo>
                    <a:pt x="232360" y="220211"/>
                    <a:pt x="124529" y="221411"/>
                    <a:pt x="31904" y="177279"/>
                  </a:cubicBezTo>
                  <a:lnTo>
                    <a:pt x="20606" y="171691"/>
                  </a:lnTo>
                  <a:lnTo>
                    <a:pt x="0" y="161388"/>
                  </a:lnTo>
                  <a:lnTo>
                    <a:pt x="0" y="122237"/>
                  </a:lnTo>
                  <a:cubicBezTo>
                    <a:pt x="0" y="93305"/>
                    <a:pt x="23455" y="69850"/>
                    <a:pt x="52387" y="69850"/>
                  </a:cubicBezTo>
                  <a:lnTo>
                    <a:pt x="87312" y="69850"/>
                  </a:lnTo>
                  <a:lnTo>
                    <a:pt x="87312" y="52387"/>
                  </a:lnTo>
                  <a:cubicBezTo>
                    <a:pt x="87312" y="23455"/>
                    <a:pt x="110767" y="0"/>
                    <a:pt x="139700" y="0"/>
                  </a:cubicBezTo>
                  <a:lnTo>
                    <a:pt x="209550" y="0"/>
                  </a:lnTo>
                  <a:close/>
                  <a:moveTo>
                    <a:pt x="174625" y="139700"/>
                  </a:moveTo>
                  <a:cubicBezTo>
                    <a:pt x="164980" y="139700"/>
                    <a:pt x="157162" y="147518"/>
                    <a:pt x="157162" y="157162"/>
                  </a:cubicBezTo>
                  <a:cubicBezTo>
                    <a:pt x="157131" y="163401"/>
                    <a:pt x="160431" y="169182"/>
                    <a:pt x="165818" y="172329"/>
                  </a:cubicBezTo>
                  <a:cubicBezTo>
                    <a:pt x="171205" y="175475"/>
                    <a:pt x="177862" y="175508"/>
                    <a:pt x="183280" y="172416"/>
                  </a:cubicBezTo>
                  <a:cubicBezTo>
                    <a:pt x="188699" y="169324"/>
                    <a:pt x="192056" y="163576"/>
                    <a:pt x="192087" y="157337"/>
                  </a:cubicBezTo>
                  <a:cubicBezTo>
                    <a:pt x="192087" y="147523"/>
                    <a:pt x="184264" y="139700"/>
                    <a:pt x="174625" y="139700"/>
                  </a:cubicBezTo>
                  <a:close/>
                  <a:moveTo>
                    <a:pt x="209550" y="34925"/>
                  </a:moveTo>
                  <a:lnTo>
                    <a:pt x="139700" y="34925"/>
                  </a:lnTo>
                  <a:cubicBezTo>
                    <a:pt x="130055" y="34925"/>
                    <a:pt x="122237" y="42743"/>
                    <a:pt x="122237" y="52387"/>
                  </a:cubicBezTo>
                  <a:lnTo>
                    <a:pt x="122237" y="69850"/>
                  </a:lnTo>
                  <a:lnTo>
                    <a:pt x="227012" y="69850"/>
                  </a:lnTo>
                  <a:lnTo>
                    <a:pt x="227012" y="52387"/>
                  </a:lnTo>
                  <a:cubicBezTo>
                    <a:pt x="227012" y="42743"/>
                    <a:pt x="219194" y="34925"/>
                    <a:pt x="209550" y="349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066032" y="213550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職場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89960" y="2762250"/>
              <a:ext cx="12814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60.8%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98342" y="3283268"/>
              <a:ext cx="187394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2075 年 15–64 歲人口中</a:t>
              </a:r>
              <a:br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45–64 歲的比率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3505200" y="4191000"/>
              <a:ext cx="2209800" cy="9525"/>
            </a:xfrm>
            <a:custGeom>
              <a:avLst/>
              <a:gdLst/>
              <a:ahLst/>
              <a:cxnLst/>
              <a:rect l="l" t="t" r="r" b="b"/>
              <a:pathLst>
                <a:path w="2209800" h="9525">
                  <a:moveTo>
                    <a:pt x="0" y="0"/>
                  </a:moveTo>
                  <a:lnTo>
                    <a:pt x="2209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498342" y="43691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報告中的課題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498342" y="4654868"/>
              <a:ext cx="17282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中高齡技能再造、職務</a:t>
              </a:r>
              <a:br/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再設計更形重要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96000" y="1828800"/>
            <a:ext cx="2514600" cy="3337751"/>
            <a:chOff x="6096000" y="1828800"/>
            <a:chExt cx="2514600" cy="3337751"/>
          </a:xfrm>
        </p:grpSpPr>
        <p:sp>
          <p:nvSpPr>
            <p:cNvPr id="26" name="Rectangle 26"/>
            <p:cNvSpPr/>
            <p:nvPr/>
          </p:nvSpPr>
          <p:spPr>
            <a:xfrm>
              <a:off x="6096000" y="1828800"/>
              <a:ext cx="2514600" cy="38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6262195" y="2108200"/>
              <a:ext cx="387841" cy="279399"/>
            </a:xfrm>
            <a:custGeom>
              <a:avLst/>
              <a:gdLst/>
              <a:ahLst/>
              <a:cxnLst/>
              <a:rect l="l" t="t" r="r" b="b"/>
              <a:pathLst>
                <a:path w="387841" h="279399">
                  <a:moveTo>
                    <a:pt x="317992" y="164689"/>
                  </a:moveTo>
                  <a:lnTo>
                    <a:pt x="317992" y="209550"/>
                  </a:lnTo>
                  <a:cubicBezTo>
                    <a:pt x="317992" y="251425"/>
                    <a:pt x="262024" y="279399"/>
                    <a:pt x="195754" y="279399"/>
                  </a:cubicBezTo>
                  <a:cubicBezTo>
                    <a:pt x="129484" y="279399"/>
                    <a:pt x="73517" y="251425"/>
                    <a:pt x="73517" y="209550"/>
                  </a:cubicBezTo>
                  <a:lnTo>
                    <a:pt x="73517" y="164689"/>
                  </a:lnTo>
                  <a:lnTo>
                    <a:pt x="176301" y="205795"/>
                  </a:lnTo>
                  <a:cubicBezTo>
                    <a:pt x="187501" y="210279"/>
                    <a:pt x="199905" y="210760"/>
                    <a:pt x="211418" y="207157"/>
                  </a:cubicBezTo>
                  <a:lnTo>
                    <a:pt x="215207" y="205795"/>
                  </a:lnTo>
                  <a:close/>
                  <a:moveTo>
                    <a:pt x="352916" y="113087"/>
                  </a:moveTo>
                  <a:lnTo>
                    <a:pt x="202233" y="173367"/>
                  </a:lnTo>
                  <a:cubicBezTo>
                    <a:pt x="198074" y="175029"/>
                    <a:pt x="193435" y="175029"/>
                    <a:pt x="189276" y="173367"/>
                  </a:cubicBezTo>
                  <a:lnTo>
                    <a:pt x="14651" y="103518"/>
                  </a:lnTo>
                  <a:cubicBezTo>
                    <a:pt x="0" y="97668"/>
                    <a:pt x="0" y="76957"/>
                    <a:pt x="14651" y="71107"/>
                  </a:cubicBezTo>
                  <a:lnTo>
                    <a:pt x="189276" y="1257"/>
                  </a:lnTo>
                  <a:cubicBezTo>
                    <a:pt x="190649" y="705"/>
                    <a:pt x="192086" y="329"/>
                    <a:pt x="193554" y="140"/>
                  </a:cubicBezTo>
                  <a:lnTo>
                    <a:pt x="195754" y="0"/>
                  </a:lnTo>
                  <a:lnTo>
                    <a:pt x="197955" y="140"/>
                  </a:lnTo>
                  <a:cubicBezTo>
                    <a:pt x="199422" y="329"/>
                    <a:pt x="200860" y="705"/>
                    <a:pt x="202233" y="1257"/>
                  </a:cubicBezTo>
                  <a:lnTo>
                    <a:pt x="377416" y="71334"/>
                  </a:lnTo>
                  <a:lnTo>
                    <a:pt x="379302" y="72295"/>
                  </a:lnTo>
                  <a:lnTo>
                    <a:pt x="381031" y="73482"/>
                  </a:lnTo>
                  <a:lnTo>
                    <a:pt x="382568" y="74809"/>
                  </a:lnTo>
                  <a:lnTo>
                    <a:pt x="383877" y="76241"/>
                  </a:lnTo>
                  <a:lnTo>
                    <a:pt x="384489" y="77009"/>
                  </a:lnTo>
                  <a:lnTo>
                    <a:pt x="385763" y="79018"/>
                  </a:lnTo>
                  <a:lnTo>
                    <a:pt x="386671" y="81026"/>
                  </a:lnTo>
                  <a:lnTo>
                    <a:pt x="387265" y="82807"/>
                  </a:lnTo>
                  <a:lnTo>
                    <a:pt x="387702" y="85164"/>
                  </a:lnTo>
                  <a:lnTo>
                    <a:pt x="387806" y="86177"/>
                  </a:lnTo>
                  <a:lnTo>
                    <a:pt x="387841" y="192087"/>
                  </a:lnTo>
                  <a:cubicBezTo>
                    <a:pt x="387841" y="201731"/>
                    <a:pt x="380023" y="209550"/>
                    <a:pt x="370379" y="209550"/>
                  </a:cubicBezTo>
                  <a:cubicBezTo>
                    <a:pt x="360735" y="209550"/>
                    <a:pt x="352916" y="201731"/>
                    <a:pt x="352916" y="19208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09232" y="213550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學校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33160" y="2762250"/>
              <a:ext cx="166510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7–8 萬人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41542" y="3283268"/>
              <a:ext cx="1813941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2040 學年度 6 歲入學</a:t>
              </a:r>
              <a:br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年齡人口；2026 學年度</a:t>
              </a:r>
              <a:br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為 17 萬人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6248400" y="4191000"/>
              <a:ext cx="2209800" cy="9525"/>
            </a:xfrm>
            <a:custGeom>
              <a:avLst/>
              <a:gdLst/>
              <a:ahLst/>
              <a:cxnLst/>
              <a:rect l="l" t="t" r="r" b="b"/>
              <a:pathLst>
                <a:path w="2209800" h="9525">
                  <a:moveTo>
                    <a:pt x="0" y="0"/>
                  </a:moveTo>
                  <a:lnTo>
                    <a:pt x="2209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41542" y="43691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報告中的課題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41542" y="4654868"/>
              <a:ext cx="189966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各級學校面臨減班、併校</a:t>
              </a:r>
              <a:br/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與退場壓力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839200" y="1828800"/>
            <a:ext cx="2514600" cy="3337751"/>
            <a:chOff x="8839200" y="1828800"/>
            <a:chExt cx="2514600" cy="3337751"/>
          </a:xfrm>
        </p:grpSpPr>
        <p:sp>
          <p:nvSpPr>
            <p:cNvPr id="35" name="Rectangle 35"/>
            <p:cNvSpPr/>
            <p:nvPr/>
          </p:nvSpPr>
          <p:spPr>
            <a:xfrm>
              <a:off x="8839200" y="1828800"/>
              <a:ext cx="25146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9031550" y="2073275"/>
              <a:ext cx="339200" cy="349249"/>
            </a:xfrm>
            <a:custGeom>
              <a:avLst/>
              <a:gdLst/>
              <a:ahLst/>
              <a:cxnLst/>
              <a:rect l="l" t="t" r="r" b="b"/>
              <a:pathLst>
                <a:path w="339200" h="349249">
                  <a:moveTo>
                    <a:pt x="152138" y="0"/>
                  </a:moveTo>
                  <a:lnTo>
                    <a:pt x="149518" y="87"/>
                  </a:lnTo>
                  <a:cubicBezTo>
                    <a:pt x="131293" y="1458"/>
                    <a:pt x="117207" y="16648"/>
                    <a:pt x="117213" y="34925"/>
                  </a:cubicBezTo>
                  <a:lnTo>
                    <a:pt x="117213" y="83872"/>
                  </a:lnTo>
                  <a:lnTo>
                    <a:pt x="74814" y="59407"/>
                  </a:lnTo>
                  <a:cubicBezTo>
                    <a:pt x="58110" y="49764"/>
                    <a:pt x="36751" y="55486"/>
                    <a:pt x="27106" y="72190"/>
                  </a:cubicBezTo>
                  <a:lnTo>
                    <a:pt x="9644" y="102435"/>
                  </a:lnTo>
                  <a:lnTo>
                    <a:pt x="8369" y="104845"/>
                  </a:lnTo>
                  <a:cubicBezTo>
                    <a:pt x="512" y="121298"/>
                    <a:pt x="6635" y="141028"/>
                    <a:pt x="22426" y="150142"/>
                  </a:cubicBezTo>
                  <a:lnTo>
                    <a:pt x="64808" y="174625"/>
                  </a:lnTo>
                  <a:lnTo>
                    <a:pt x="22426" y="199107"/>
                  </a:lnTo>
                  <a:cubicBezTo>
                    <a:pt x="5723" y="208752"/>
                    <a:pt x="0" y="230111"/>
                    <a:pt x="9644" y="246815"/>
                  </a:cubicBezTo>
                  <a:lnTo>
                    <a:pt x="27106" y="277060"/>
                  </a:lnTo>
                  <a:lnTo>
                    <a:pt x="28556" y="279365"/>
                  </a:lnTo>
                  <a:cubicBezTo>
                    <a:pt x="38876" y="294397"/>
                    <a:pt x="59023" y="298961"/>
                    <a:pt x="74814" y="289842"/>
                  </a:cubicBezTo>
                  <a:lnTo>
                    <a:pt x="117213" y="265360"/>
                  </a:lnTo>
                  <a:lnTo>
                    <a:pt x="117213" y="314324"/>
                  </a:lnTo>
                  <a:cubicBezTo>
                    <a:pt x="117213" y="333613"/>
                    <a:pt x="132849" y="349249"/>
                    <a:pt x="152138" y="349249"/>
                  </a:cubicBezTo>
                  <a:lnTo>
                    <a:pt x="187062" y="349249"/>
                  </a:lnTo>
                  <a:lnTo>
                    <a:pt x="189682" y="349162"/>
                  </a:lnTo>
                  <a:cubicBezTo>
                    <a:pt x="207907" y="347791"/>
                    <a:pt x="221993" y="332601"/>
                    <a:pt x="221987" y="314324"/>
                  </a:cubicBezTo>
                  <a:lnTo>
                    <a:pt x="221987" y="265360"/>
                  </a:lnTo>
                  <a:lnTo>
                    <a:pt x="264386" y="289860"/>
                  </a:lnTo>
                  <a:cubicBezTo>
                    <a:pt x="281090" y="299503"/>
                    <a:pt x="302449" y="293780"/>
                    <a:pt x="312094" y="277077"/>
                  </a:cubicBezTo>
                  <a:lnTo>
                    <a:pt x="329556" y="246832"/>
                  </a:lnTo>
                  <a:lnTo>
                    <a:pt x="330831" y="244422"/>
                  </a:lnTo>
                  <a:cubicBezTo>
                    <a:pt x="338688" y="227968"/>
                    <a:pt x="332565" y="208239"/>
                    <a:pt x="316774" y="199125"/>
                  </a:cubicBezTo>
                  <a:lnTo>
                    <a:pt x="274375" y="174625"/>
                  </a:lnTo>
                  <a:lnTo>
                    <a:pt x="316774" y="150142"/>
                  </a:lnTo>
                  <a:cubicBezTo>
                    <a:pt x="333477" y="140498"/>
                    <a:pt x="339200" y="119139"/>
                    <a:pt x="329556" y="102435"/>
                  </a:cubicBezTo>
                  <a:lnTo>
                    <a:pt x="312094" y="72190"/>
                  </a:lnTo>
                  <a:lnTo>
                    <a:pt x="310644" y="69885"/>
                  </a:lnTo>
                  <a:cubicBezTo>
                    <a:pt x="300324" y="54852"/>
                    <a:pt x="280177" y="50289"/>
                    <a:pt x="264386" y="59407"/>
                  </a:cubicBezTo>
                  <a:lnTo>
                    <a:pt x="221987" y="83855"/>
                  </a:lnTo>
                  <a:lnTo>
                    <a:pt x="221987" y="34925"/>
                  </a:lnTo>
                  <a:cubicBezTo>
                    <a:pt x="221987" y="15636"/>
                    <a:pt x="206351" y="0"/>
                    <a:pt x="187062" y="0"/>
                  </a:cubicBezTo>
                  <a:lnTo>
                    <a:pt x="1521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552432" y="21355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公共服務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76360" y="2762250"/>
              <a:ext cx="149447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2057 年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84742" y="3283268"/>
              <a:ext cx="120529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扶養比超過 100</a:t>
              </a:r>
              <a:br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（中推估）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8991600" y="4191000"/>
              <a:ext cx="2209800" cy="9525"/>
            </a:xfrm>
            <a:custGeom>
              <a:avLst/>
              <a:gdLst/>
              <a:ahLst/>
              <a:cxnLst/>
              <a:rect l="l" t="t" r="r" b="b"/>
              <a:pathLst>
                <a:path w="2209800" h="9525">
                  <a:moveTo>
                    <a:pt x="0" y="0"/>
                  </a:moveTo>
                  <a:lnTo>
                    <a:pt x="2209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984742" y="43691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報告中的課題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984742" y="4654868"/>
              <a:ext cx="155676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公共與家庭照護資源</a:t>
              </a:r>
              <a:br/>
              <a:r>
                <a:rPr lang="zh-TW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逐步向高齡傾斜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238500" y="1828800"/>
            <a:ext cx="5495925" cy="3352800"/>
            <a:chOff x="3238500" y="1828800"/>
            <a:chExt cx="5495925" cy="3352800"/>
          </a:xfrm>
        </p:grpSpPr>
        <p:sp>
          <p:nvSpPr>
            <p:cNvPr id="44" name="Line 44"/>
            <p:cNvSpPr/>
            <p:nvPr/>
          </p:nvSpPr>
          <p:spPr>
            <a:xfrm>
              <a:off x="3238500" y="1828800"/>
              <a:ext cx="9525" cy="3352800"/>
            </a:xfrm>
            <a:custGeom>
              <a:avLst/>
              <a:gdLst/>
              <a:ahLst/>
              <a:cxnLst/>
              <a:rect l="l" t="t" r="r" b="b"/>
              <a:pathLst>
                <a:path w="9525" h="3352800">
                  <a:moveTo>
                    <a:pt x="0" y="0"/>
                  </a:moveTo>
                  <a:lnTo>
                    <a:pt x="0" y="33528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5981700" y="1828800"/>
              <a:ext cx="9525" cy="3352800"/>
            </a:xfrm>
            <a:custGeom>
              <a:avLst/>
              <a:gdLst/>
              <a:ahLst/>
              <a:cxnLst/>
              <a:rect l="l" t="t" r="r" b="b"/>
              <a:pathLst>
                <a:path w="9525" h="3352800">
                  <a:moveTo>
                    <a:pt x="0" y="0"/>
                  </a:moveTo>
                  <a:lnTo>
                    <a:pt x="0" y="33528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8724900" y="1828800"/>
              <a:ext cx="9525" cy="3352800"/>
            </a:xfrm>
            <a:custGeom>
              <a:avLst/>
              <a:gdLst/>
              <a:ahLst/>
              <a:cxnLst/>
              <a:rect l="l" t="t" r="r" b="b"/>
              <a:pathLst>
                <a:path w="9525" h="3352800">
                  <a:moveTo>
                    <a:pt x="0" y="0"/>
                  </a:moveTo>
                  <a:lnTo>
                    <a:pt x="0" y="33528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602742" y="5569268"/>
            <a:ext cx="8555355" cy="264033"/>
            <a:chOff x="602742" y="5569268"/>
            <a:chExt cx="8555355" cy="264033"/>
          </a:xfrm>
        </p:grpSpPr>
        <p:sp>
          <p:nvSpPr>
            <p:cNvPr id="48" name="TextBox 48"/>
            <p:cNvSpPr txBox="1"/>
            <p:nvPr/>
          </p:nvSpPr>
          <p:spPr>
            <a:xfrm>
              <a:off x="602742" y="5569268"/>
              <a:ext cx="85553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整理自國發會報告各章「相關課題」；四個場景的分法是本簡報的讀法，不是個人建議。數字均為中推估。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50" name="TextBox 50"/>
            <p:cNvSpPr txBox="1"/>
            <p:nvPr/>
          </p:nvSpPr>
          <p:spPr>
            <a:xfrm>
              <a:off x="604266" y="6325552"/>
              <a:ext cx="54597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資料：國發會《中華民國人口推估（2026 年至 2075 年）》表 8、表 10、第參章五至八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10354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0550" y="1379220"/>
            <a:ext cx="5524500" cy="2417064"/>
            <a:chOff x="590550" y="1379220"/>
            <a:chExt cx="5524500" cy="2417064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1379220"/>
              <a:ext cx="55245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6750"/>
                </a:lnSpc>
              </a:pPr>
              <a:r>
                <a:rPr lang="zh-TW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20% 不是終點，</a:t>
              </a:r>
              <a:br/>
              <a:r>
                <a:rPr lang="zh-TW" sz="5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是結構改變的起點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0456" y="3101340"/>
              <a:ext cx="481888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臺灣從 14% 到 20% 只用了 7 年；</a:t>
              </a:r>
              <a:br/>
              <a:r>
                <a:rPr lang="zh-TW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接下來改變的是出生、工作與照顧的整體結構。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4266" y="4235768"/>
            <a:ext cx="5720334" cy="1037843"/>
            <a:chOff x="604266" y="4235768"/>
            <a:chExt cx="5720334" cy="1037843"/>
          </a:xfrm>
        </p:grpSpPr>
        <p:sp>
          <p:nvSpPr>
            <p:cNvPr id="5" name="Line 5"/>
            <p:cNvSpPr/>
            <p:nvPr/>
          </p:nvSpPr>
          <p:spPr>
            <a:xfrm>
              <a:off x="609600" y="45720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2514600" y="45720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  <a:prstDash val="lgDash"/>
            </a:ln>
          </p:spPr>
        </p:sp>
        <p:sp>
          <p:nvSpPr>
            <p:cNvPr id="7" name="Ellipse 7"/>
            <p:cNvSpPr/>
            <p:nvPr/>
          </p:nvSpPr>
          <p:spPr>
            <a:xfrm>
              <a:off x="1209675" y="4505325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876425" y="4505325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409825" y="4467225"/>
              <a:ext cx="209550" cy="2095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3400425" y="4505325"/>
              <a:ext cx="2038350" cy="133350"/>
              <a:chOff x="3400425" y="4505325"/>
              <a:chExt cx="2038350" cy="133350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3400425" y="4505325"/>
                <a:ext cx="133350" cy="13335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4352925" y="4505325"/>
                <a:ext cx="133350" cy="13335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5305425" y="4505325"/>
                <a:ext cx="133350" cy="13335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2"/>
                </a:solidFill>
              </a:ln>
            </p:spPr>
          </p:sp>
        </p:grpSp>
        <p:grpSp>
          <p:nvGrpSpPr>
            <p:cNvPr id="16" name="Group 16"/>
            <p:cNvGrpSpPr/>
            <p:nvPr/>
          </p:nvGrpSpPr>
          <p:grpSpPr>
            <a:xfrm>
              <a:off x="1145456" y="4235768"/>
              <a:ext cx="981014" cy="264033"/>
              <a:chOff x="1145456" y="4235768"/>
              <a:chExt cx="981014" cy="264033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1145456" y="4235768"/>
                <a:ext cx="26178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7%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759730" y="4235768"/>
                <a:ext cx="3667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14%</a:t>
                </a:r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2331230" y="4235768"/>
              <a:ext cx="3667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3283730" y="4235768"/>
              <a:ext cx="2271740" cy="264033"/>
              <a:chOff x="3283730" y="4235768"/>
              <a:chExt cx="2271740" cy="264033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3283730" y="4235768"/>
                <a:ext cx="3667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30%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236230" y="4235768"/>
                <a:ext cx="3667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40%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188730" y="4235768"/>
                <a:ext cx="3667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50%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1115530" y="4706302"/>
              <a:ext cx="4417390" cy="205359"/>
              <a:chOff x="1115530" y="4706302"/>
              <a:chExt cx="4417390" cy="205359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1115530" y="4706302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1993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782280" y="4706302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2018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306280" y="4706302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2037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258780" y="4706302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2049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211280" y="4706302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2065</a:t>
                </a:r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2182392" y="4706302"/>
              <a:ext cx="664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2025 現在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4266" y="5068252"/>
              <a:ext cx="26822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65 歲以上人口占比；2026 年以後為中推估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086600" y="1181100"/>
            <a:ext cx="4057745" cy="4019550"/>
            <a:chOff x="7086600" y="1181100"/>
            <a:chExt cx="4057745" cy="4019550"/>
          </a:xfrm>
        </p:grpSpPr>
        <p:sp>
          <p:nvSpPr>
            <p:cNvPr id="31" name="Line 31"/>
            <p:cNvSpPr/>
            <p:nvPr/>
          </p:nvSpPr>
          <p:spPr>
            <a:xfrm>
              <a:off x="7086600" y="1181100"/>
              <a:ext cx="9525" cy="4019550"/>
            </a:xfrm>
            <a:custGeom>
              <a:avLst/>
              <a:gdLst/>
              <a:ahLst/>
              <a:cxnLst/>
              <a:rect l="l" t="t" r="r" b="b"/>
              <a:pathLst>
                <a:path w="9525" h="4019550">
                  <a:moveTo>
                    <a:pt x="0" y="0"/>
                  </a:moveTo>
                  <a:lnTo>
                    <a:pt x="0" y="40195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08342" y="13020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資料來源（點選開啟）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7343775" y="17430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19050"/>
                  </a:moveTo>
                  <a:cubicBezTo>
                    <a:pt x="90986" y="19050"/>
                    <a:pt x="95250" y="23314"/>
                    <a:pt x="95250" y="28575"/>
                  </a:cubicBezTo>
                  <a:cubicBezTo>
                    <a:pt x="95250" y="33836"/>
                    <a:pt x="90986" y="38100"/>
                    <a:pt x="85725" y="38100"/>
                  </a:cubicBezTo>
                  <a:lnTo>
                    <a:pt x="28575" y="38100"/>
                  </a:lnTo>
                  <a:cubicBezTo>
                    <a:pt x="23314" y="38100"/>
                    <a:pt x="19050" y="42364"/>
                    <a:pt x="19050" y="47625"/>
                  </a:cubicBezTo>
                  <a:lnTo>
                    <a:pt x="19050" y="142875"/>
                  </a:lnTo>
                  <a:cubicBezTo>
                    <a:pt x="19050" y="148136"/>
                    <a:pt x="23314" y="152400"/>
                    <a:pt x="28575" y="152400"/>
                  </a:cubicBezTo>
                  <a:lnTo>
                    <a:pt x="123825" y="152400"/>
                  </a:lnTo>
                  <a:cubicBezTo>
                    <a:pt x="129086" y="152400"/>
                    <a:pt x="133350" y="148136"/>
                    <a:pt x="133350" y="142875"/>
                  </a:cubicBezTo>
                  <a:lnTo>
                    <a:pt x="133350" y="85725"/>
                  </a:lnTo>
                  <a:cubicBezTo>
                    <a:pt x="133350" y="80464"/>
                    <a:pt x="137614" y="76200"/>
                    <a:pt x="142875" y="76200"/>
                  </a:cubicBezTo>
                  <a:cubicBezTo>
                    <a:pt x="148136" y="76200"/>
                    <a:pt x="152400" y="80464"/>
                    <a:pt x="152400" y="85725"/>
                  </a:cubicBezTo>
                  <a:lnTo>
                    <a:pt x="152400" y="142875"/>
                  </a:lnTo>
                  <a:cubicBezTo>
                    <a:pt x="152400" y="158657"/>
                    <a:pt x="139607" y="171450"/>
                    <a:pt x="123825" y="171450"/>
                  </a:cubicBezTo>
                  <a:lnTo>
                    <a:pt x="28575" y="171450"/>
                  </a:lnTo>
                  <a:cubicBezTo>
                    <a:pt x="12793" y="171450"/>
                    <a:pt x="0" y="158657"/>
                    <a:pt x="0" y="142875"/>
                  </a:cubicBezTo>
                  <a:lnTo>
                    <a:pt x="0" y="47625"/>
                  </a:lnTo>
                  <a:cubicBezTo>
                    <a:pt x="0" y="31843"/>
                    <a:pt x="12793" y="19050"/>
                    <a:pt x="28575" y="19050"/>
                  </a:cubicBezTo>
                  <a:close/>
                  <a:moveTo>
                    <a:pt x="114300" y="0"/>
                  </a:moveTo>
                  <a:lnTo>
                    <a:pt x="161925" y="0"/>
                  </a:lnTo>
                  <a:lnTo>
                    <a:pt x="162639" y="29"/>
                  </a:lnTo>
                  <a:lnTo>
                    <a:pt x="163840" y="191"/>
                  </a:lnTo>
                  <a:lnTo>
                    <a:pt x="164897" y="476"/>
                  </a:lnTo>
                  <a:lnTo>
                    <a:pt x="165954" y="895"/>
                  </a:lnTo>
                  <a:lnTo>
                    <a:pt x="166888" y="1391"/>
                  </a:lnTo>
                  <a:lnTo>
                    <a:pt x="167802" y="2029"/>
                  </a:lnTo>
                  <a:lnTo>
                    <a:pt x="168659" y="2791"/>
                  </a:lnTo>
                  <a:cubicBezTo>
                    <a:pt x="169002" y="3127"/>
                    <a:pt x="169310" y="3483"/>
                    <a:pt x="169583" y="3858"/>
                  </a:cubicBezTo>
                  <a:lnTo>
                    <a:pt x="170259" y="4905"/>
                  </a:lnTo>
                  <a:lnTo>
                    <a:pt x="170774" y="5991"/>
                  </a:lnTo>
                  <a:lnTo>
                    <a:pt x="171107" y="6991"/>
                  </a:lnTo>
                  <a:lnTo>
                    <a:pt x="171393" y="8401"/>
                  </a:lnTo>
                  <a:lnTo>
                    <a:pt x="171450" y="9525"/>
                  </a:lnTo>
                  <a:lnTo>
                    <a:pt x="171450" y="57150"/>
                  </a:lnTo>
                  <a:cubicBezTo>
                    <a:pt x="171450" y="62411"/>
                    <a:pt x="167186" y="66675"/>
                    <a:pt x="161925" y="66675"/>
                  </a:cubicBezTo>
                  <a:cubicBezTo>
                    <a:pt x="156664" y="66675"/>
                    <a:pt x="152400" y="62411"/>
                    <a:pt x="152400" y="57150"/>
                  </a:cubicBezTo>
                  <a:lnTo>
                    <a:pt x="152400" y="32518"/>
                  </a:lnTo>
                  <a:lnTo>
                    <a:pt x="82934" y="101984"/>
                  </a:lnTo>
                  <a:cubicBezTo>
                    <a:pt x="79197" y="105594"/>
                    <a:pt x="73256" y="105542"/>
                    <a:pt x="69582" y="101868"/>
                  </a:cubicBezTo>
                  <a:cubicBezTo>
                    <a:pt x="65908" y="98194"/>
                    <a:pt x="65856" y="92253"/>
                    <a:pt x="69466" y="88516"/>
                  </a:cubicBezTo>
                  <a:lnTo>
                    <a:pt x="138913" y="19050"/>
                  </a:lnTo>
                  <a:lnTo>
                    <a:pt x="114300" y="19050"/>
                  </a:lnTo>
                  <a:cubicBezTo>
                    <a:pt x="109039" y="19050"/>
                    <a:pt x="104775" y="14786"/>
                    <a:pt x="104775" y="9525"/>
                  </a:cubicBezTo>
                  <a:cubicBezTo>
                    <a:pt x="104775" y="4264"/>
                    <a:pt x="109039" y="0"/>
                    <a:pt x="114300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9906" y="17106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  <a:hlinkClick r:id="rId2"/>
                </a:rPr>
                <a:t>國發會人口推估查詢系統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32192" y="2025968"/>
              <a:ext cx="19037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pop-proj.ndc.gov.tw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7343775" y="26574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19050"/>
                  </a:moveTo>
                  <a:cubicBezTo>
                    <a:pt x="90986" y="19050"/>
                    <a:pt x="95250" y="23314"/>
                    <a:pt x="95250" y="28575"/>
                  </a:cubicBezTo>
                  <a:cubicBezTo>
                    <a:pt x="95250" y="33836"/>
                    <a:pt x="90986" y="38100"/>
                    <a:pt x="85725" y="38100"/>
                  </a:cubicBezTo>
                  <a:lnTo>
                    <a:pt x="28575" y="38100"/>
                  </a:lnTo>
                  <a:cubicBezTo>
                    <a:pt x="23314" y="38100"/>
                    <a:pt x="19050" y="42364"/>
                    <a:pt x="19050" y="47625"/>
                  </a:cubicBezTo>
                  <a:lnTo>
                    <a:pt x="19050" y="142875"/>
                  </a:lnTo>
                  <a:cubicBezTo>
                    <a:pt x="19050" y="148136"/>
                    <a:pt x="23314" y="152400"/>
                    <a:pt x="28575" y="152400"/>
                  </a:cubicBezTo>
                  <a:lnTo>
                    <a:pt x="123825" y="152400"/>
                  </a:lnTo>
                  <a:cubicBezTo>
                    <a:pt x="129086" y="152400"/>
                    <a:pt x="133350" y="148136"/>
                    <a:pt x="133350" y="142875"/>
                  </a:cubicBezTo>
                  <a:lnTo>
                    <a:pt x="133350" y="85725"/>
                  </a:lnTo>
                  <a:cubicBezTo>
                    <a:pt x="133350" y="80464"/>
                    <a:pt x="137614" y="76200"/>
                    <a:pt x="142875" y="76200"/>
                  </a:cubicBezTo>
                  <a:cubicBezTo>
                    <a:pt x="148136" y="76200"/>
                    <a:pt x="152400" y="80464"/>
                    <a:pt x="152400" y="85725"/>
                  </a:cubicBezTo>
                  <a:lnTo>
                    <a:pt x="152400" y="142875"/>
                  </a:lnTo>
                  <a:cubicBezTo>
                    <a:pt x="152400" y="158657"/>
                    <a:pt x="139607" y="171450"/>
                    <a:pt x="123825" y="171450"/>
                  </a:cubicBezTo>
                  <a:lnTo>
                    <a:pt x="28575" y="171450"/>
                  </a:lnTo>
                  <a:cubicBezTo>
                    <a:pt x="12793" y="171450"/>
                    <a:pt x="0" y="158657"/>
                    <a:pt x="0" y="142875"/>
                  </a:cubicBezTo>
                  <a:lnTo>
                    <a:pt x="0" y="47625"/>
                  </a:lnTo>
                  <a:cubicBezTo>
                    <a:pt x="0" y="31843"/>
                    <a:pt x="12793" y="19050"/>
                    <a:pt x="28575" y="19050"/>
                  </a:cubicBezTo>
                  <a:close/>
                  <a:moveTo>
                    <a:pt x="114300" y="0"/>
                  </a:moveTo>
                  <a:lnTo>
                    <a:pt x="161925" y="0"/>
                  </a:lnTo>
                  <a:lnTo>
                    <a:pt x="162639" y="29"/>
                  </a:lnTo>
                  <a:lnTo>
                    <a:pt x="163840" y="190"/>
                  </a:lnTo>
                  <a:lnTo>
                    <a:pt x="164897" y="476"/>
                  </a:lnTo>
                  <a:lnTo>
                    <a:pt x="165954" y="895"/>
                  </a:lnTo>
                  <a:lnTo>
                    <a:pt x="166888" y="1391"/>
                  </a:lnTo>
                  <a:lnTo>
                    <a:pt x="167802" y="2029"/>
                  </a:lnTo>
                  <a:lnTo>
                    <a:pt x="168659" y="2791"/>
                  </a:lnTo>
                  <a:cubicBezTo>
                    <a:pt x="169002" y="3127"/>
                    <a:pt x="169310" y="3483"/>
                    <a:pt x="169583" y="3858"/>
                  </a:cubicBezTo>
                  <a:lnTo>
                    <a:pt x="170259" y="4905"/>
                  </a:lnTo>
                  <a:lnTo>
                    <a:pt x="170774" y="5991"/>
                  </a:lnTo>
                  <a:lnTo>
                    <a:pt x="171107" y="6991"/>
                  </a:lnTo>
                  <a:lnTo>
                    <a:pt x="171393" y="8401"/>
                  </a:lnTo>
                  <a:lnTo>
                    <a:pt x="171450" y="9525"/>
                  </a:lnTo>
                  <a:lnTo>
                    <a:pt x="171450" y="57150"/>
                  </a:lnTo>
                  <a:cubicBezTo>
                    <a:pt x="171450" y="62411"/>
                    <a:pt x="167186" y="66675"/>
                    <a:pt x="161925" y="66675"/>
                  </a:cubicBezTo>
                  <a:cubicBezTo>
                    <a:pt x="156664" y="66675"/>
                    <a:pt x="152400" y="62411"/>
                    <a:pt x="152400" y="57150"/>
                  </a:cubicBezTo>
                  <a:lnTo>
                    <a:pt x="152400" y="32518"/>
                  </a:lnTo>
                  <a:lnTo>
                    <a:pt x="82934" y="101984"/>
                  </a:lnTo>
                  <a:cubicBezTo>
                    <a:pt x="79197" y="105594"/>
                    <a:pt x="73256" y="105542"/>
                    <a:pt x="69582" y="101868"/>
                  </a:cubicBezTo>
                  <a:cubicBezTo>
                    <a:pt x="65908" y="98194"/>
                    <a:pt x="65856" y="92253"/>
                    <a:pt x="69466" y="88516"/>
                  </a:cubicBezTo>
                  <a:lnTo>
                    <a:pt x="138913" y="19050"/>
                  </a:lnTo>
                  <a:lnTo>
                    <a:pt x="114300" y="19050"/>
                  </a:lnTo>
                  <a:cubicBezTo>
                    <a:pt x="109039" y="19050"/>
                    <a:pt x="104775" y="14786"/>
                    <a:pt x="104775" y="9525"/>
                  </a:cubicBezTo>
                  <a:cubicBezTo>
                    <a:pt x="104775" y="4264"/>
                    <a:pt x="109039" y="0"/>
                    <a:pt x="114300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9906" y="2625090"/>
              <a:ext cx="34503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  <a:hlinkClick r:id="rId3"/>
                </a:rPr>
                <a:t>《中華民國人口推估》報告 PDF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32192" y="2940368"/>
              <a:ext cx="35121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 年至 2075 年版，國發會 2026 年 8 月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7343775" y="35718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19050"/>
                  </a:moveTo>
                  <a:cubicBezTo>
                    <a:pt x="90986" y="19050"/>
                    <a:pt x="95250" y="23314"/>
                    <a:pt x="95250" y="28575"/>
                  </a:cubicBezTo>
                  <a:cubicBezTo>
                    <a:pt x="95250" y="33836"/>
                    <a:pt x="90986" y="38100"/>
                    <a:pt x="85725" y="38100"/>
                  </a:cubicBezTo>
                  <a:lnTo>
                    <a:pt x="28575" y="38100"/>
                  </a:lnTo>
                  <a:cubicBezTo>
                    <a:pt x="23314" y="38100"/>
                    <a:pt x="19050" y="42364"/>
                    <a:pt x="19050" y="47625"/>
                  </a:cubicBezTo>
                  <a:lnTo>
                    <a:pt x="19050" y="142875"/>
                  </a:lnTo>
                  <a:cubicBezTo>
                    <a:pt x="19050" y="148136"/>
                    <a:pt x="23314" y="152400"/>
                    <a:pt x="28575" y="152400"/>
                  </a:cubicBezTo>
                  <a:lnTo>
                    <a:pt x="123825" y="152400"/>
                  </a:lnTo>
                  <a:cubicBezTo>
                    <a:pt x="129086" y="152400"/>
                    <a:pt x="133350" y="148136"/>
                    <a:pt x="133350" y="142875"/>
                  </a:cubicBezTo>
                  <a:lnTo>
                    <a:pt x="133350" y="85725"/>
                  </a:lnTo>
                  <a:cubicBezTo>
                    <a:pt x="133350" y="80464"/>
                    <a:pt x="137614" y="76200"/>
                    <a:pt x="142875" y="76200"/>
                  </a:cubicBezTo>
                  <a:cubicBezTo>
                    <a:pt x="148136" y="76200"/>
                    <a:pt x="152400" y="80464"/>
                    <a:pt x="152400" y="85725"/>
                  </a:cubicBezTo>
                  <a:lnTo>
                    <a:pt x="152400" y="142875"/>
                  </a:lnTo>
                  <a:cubicBezTo>
                    <a:pt x="152400" y="158657"/>
                    <a:pt x="139607" y="171450"/>
                    <a:pt x="123825" y="171450"/>
                  </a:cubicBezTo>
                  <a:lnTo>
                    <a:pt x="28575" y="171450"/>
                  </a:lnTo>
                  <a:cubicBezTo>
                    <a:pt x="12793" y="171450"/>
                    <a:pt x="0" y="158657"/>
                    <a:pt x="0" y="142875"/>
                  </a:cubicBezTo>
                  <a:lnTo>
                    <a:pt x="0" y="47625"/>
                  </a:lnTo>
                  <a:cubicBezTo>
                    <a:pt x="0" y="31843"/>
                    <a:pt x="12793" y="19050"/>
                    <a:pt x="28575" y="19050"/>
                  </a:cubicBezTo>
                  <a:close/>
                  <a:moveTo>
                    <a:pt x="114300" y="0"/>
                  </a:moveTo>
                  <a:lnTo>
                    <a:pt x="161925" y="0"/>
                  </a:lnTo>
                  <a:lnTo>
                    <a:pt x="162639" y="29"/>
                  </a:lnTo>
                  <a:lnTo>
                    <a:pt x="163840" y="190"/>
                  </a:lnTo>
                  <a:lnTo>
                    <a:pt x="164897" y="476"/>
                  </a:lnTo>
                  <a:lnTo>
                    <a:pt x="165954" y="895"/>
                  </a:lnTo>
                  <a:lnTo>
                    <a:pt x="166888" y="1391"/>
                  </a:lnTo>
                  <a:lnTo>
                    <a:pt x="167802" y="2029"/>
                  </a:lnTo>
                  <a:lnTo>
                    <a:pt x="168659" y="2791"/>
                  </a:lnTo>
                  <a:cubicBezTo>
                    <a:pt x="169002" y="3127"/>
                    <a:pt x="169310" y="3483"/>
                    <a:pt x="169583" y="3858"/>
                  </a:cubicBezTo>
                  <a:lnTo>
                    <a:pt x="170259" y="4905"/>
                  </a:lnTo>
                  <a:lnTo>
                    <a:pt x="170774" y="5991"/>
                  </a:lnTo>
                  <a:lnTo>
                    <a:pt x="171107" y="6991"/>
                  </a:lnTo>
                  <a:lnTo>
                    <a:pt x="171393" y="8401"/>
                  </a:lnTo>
                  <a:lnTo>
                    <a:pt x="171450" y="9525"/>
                  </a:lnTo>
                  <a:lnTo>
                    <a:pt x="171450" y="57150"/>
                  </a:lnTo>
                  <a:cubicBezTo>
                    <a:pt x="171450" y="62411"/>
                    <a:pt x="167186" y="66675"/>
                    <a:pt x="161925" y="66675"/>
                  </a:cubicBezTo>
                  <a:cubicBezTo>
                    <a:pt x="156664" y="66675"/>
                    <a:pt x="152400" y="62411"/>
                    <a:pt x="152400" y="57150"/>
                  </a:cubicBezTo>
                  <a:lnTo>
                    <a:pt x="152400" y="32518"/>
                  </a:lnTo>
                  <a:lnTo>
                    <a:pt x="82934" y="101984"/>
                  </a:lnTo>
                  <a:cubicBezTo>
                    <a:pt x="79197" y="105594"/>
                    <a:pt x="73256" y="105542"/>
                    <a:pt x="69582" y="101868"/>
                  </a:cubicBezTo>
                  <a:cubicBezTo>
                    <a:pt x="65908" y="98194"/>
                    <a:pt x="65856" y="92253"/>
                    <a:pt x="69466" y="88516"/>
                  </a:cubicBezTo>
                  <a:lnTo>
                    <a:pt x="138913" y="19050"/>
                  </a:lnTo>
                  <a:lnTo>
                    <a:pt x="114300" y="19050"/>
                  </a:lnTo>
                  <a:cubicBezTo>
                    <a:pt x="109039" y="19050"/>
                    <a:pt x="104775" y="14786"/>
                    <a:pt x="104775" y="9525"/>
                  </a:cubicBezTo>
                  <a:cubicBezTo>
                    <a:pt x="104775" y="4264"/>
                    <a:pt x="109039" y="0"/>
                    <a:pt x="114300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29906" y="3539490"/>
              <a:ext cx="19964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  <a:hlinkClick r:id="rId4"/>
                </a:rPr>
                <a:t>國發會新聞稿 PDF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32192" y="3854768"/>
              <a:ext cx="18946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 年 8 月 28 日發布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7343775" y="44862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19050"/>
                  </a:moveTo>
                  <a:cubicBezTo>
                    <a:pt x="90986" y="19050"/>
                    <a:pt x="95250" y="23314"/>
                    <a:pt x="95250" y="28575"/>
                  </a:cubicBezTo>
                  <a:cubicBezTo>
                    <a:pt x="95250" y="33836"/>
                    <a:pt x="90986" y="38100"/>
                    <a:pt x="85725" y="38100"/>
                  </a:cubicBezTo>
                  <a:lnTo>
                    <a:pt x="28575" y="38100"/>
                  </a:lnTo>
                  <a:cubicBezTo>
                    <a:pt x="23314" y="38100"/>
                    <a:pt x="19050" y="42364"/>
                    <a:pt x="19050" y="47625"/>
                  </a:cubicBezTo>
                  <a:lnTo>
                    <a:pt x="19050" y="142875"/>
                  </a:lnTo>
                  <a:cubicBezTo>
                    <a:pt x="19050" y="148136"/>
                    <a:pt x="23314" y="152400"/>
                    <a:pt x="28575" y="152400"/>
                  </a:cubicBezTo>
                  <a:lnTo>
                    <a:pt x="123825" y="152400"/>
                  </a:lnTo>
                  <a:cubicBezTo>
                    <a:pt x="129086" y="152400"/>
                    <a:pt x="133350" y="148136"/>
                    <a:pt x="133350" y="142875"/>
                  </a:cubicBezTo>
                  <a:lnTo>
                    <a:pt x="133350" y="85725"/>
                  </a:lnTo>
                  <a:cubicBezTo>
                    <a:pt x="133350" y="80464"/>
                    <a:pt x="137614" y="76200"/>
                    <a:pt x="142875" y="76200"/>
                  </a:cubicBezTo>
                  <a:cubicBezTo>
                    <a:pt x="148136" y="76200"/>
                    <a:pt x="152400" y="80464"/>
                    <a:pt x="152400" y="85725"/>
                  </a:cubicBezTo>
                  <a:lnTo>
                    <a:pt x="152400" y="142875"/>
                  </a:lnTo>
                  <a:cubicBezTo>
                    <a:pt x="152400" y="158657"/>
                    <a:pt x="139607" y="171450"/>
                    <a:pt x="123825" y="171450"/>
                  </a:cubicBezTo>
                  <a:lnTo>
                    <a:pt x="28575" y="171450"/>
                  </a:lnTo>
                  <a:cubicBezTo>
                    <a:pt x="12793" y="171450"/>
                    <a:pt x="0" y="158657"/>
                    <a:pt x="0" y="142875"/>
                  </a:cubicBezTo>
                  <a:lnTo>
                    <a:pt x="0" y="47625"/>
                  </a:lnTo>
                  <a:cubicBezTo>
                    <a:pt x="0" y="31843"/>
                    <a:pt x="12793" y="19050"/>
                    <a:pt x="28575" y="19050"/>
                  </a:cubicBezTo>
                  <a:close/>
                  <a:moveTo>
                    <a:pt x="114300" y="0"/>
                  </a:moveTo>
                  <a:lnTo>
                    <a:pt x="161925" y="0"/>
                  </a:lnTo>
                  <a:lnTo>
                    <a:pt x="162639" y="29"/>
                  </a:lnTo>
                  <a:lnTo>
                    <a:pt x="163840" y="190"/>
                  </a:lnTo>
                  <a:lnTo>
                    <a:pt x="164897" y="476"/>
                  </a:lnTo>
                  <a:lnTo>
                    <a:pt x="165954" y="895"/>
                  </a:lnTo>
                  <a:lnTo>
                    <a:pt x="166888" y="1391"/>
                  </a:lnTo>
                  <a:lnTo>
                    <a:pt x="167802" y="2029"/>
                  </a:lnTo>
                  <a:lnTo>
                    <a:pt x="168659" y="2791"/>
                  </a:lnTo>
                  <a:cubicBezTo>
                    <a:pt x="169002" y="3127"/>
                    <a:pt x="169310" y="3483"/>
                    <a:pt x="169583" y="3858"/>
                  </a:cubicBezTo>
                  <a:lnTo>
                    <a:pt x="170259" y="4905"/>
                  </a:lnTo>
                  <a:lnTo>
                    <a:pt x="170774" y="5991"/>
                  </a:lnTo>
                  <a:lnTo>
                    <a:pt x="171107" y="6991"/>
                  </a:lnTo>
                  <a:lnTo>
                    <a:pt x="171393" y="8401"/>
                  </a:lnTo>
                  <a:lnTo>
                    <a:pt x="171450" y="9525"/>
                  </a:lnTo>
                  <a:lnTo>
                    <a:pt x="171450" y="57150"/>
                  </a:lnTo>
                  <a:cubicBezTo>
                    <a:pt x="171450" y="62411"/>
                    <a:pt x="167186" y="66675"/>
                    <a:pt x="161925" y="66675"/>
                  </a:cubicBezTo>
                  <a:cubicBezTo>
                    <a:pt x="156664" y="66675"/>
                    <a:pt x="152400" y="62411"/>
                    <a:pt x="152400" y="57150"/>
                  </a:cubicBezTo>
                  <a:lnTo>
                    <a:pt x="152400" y="32518"/>
                  </a:lnTo>
                  <a:lnTo>
                    <a:pt x="82934" y="101984"/>
                  </a:lnTo>
                  <a:cubicBezTo>
                    <a:pt x="79197" y="105594"/>
                    <a:pt x="73256" y="105542"/>
                    <a:pt x="69582" y="101868"/>
                  </a:cubicBezTo>
                  <a:cubicBezTo>
                    <a:pt x="65908" y="98194"/>
                    <a:pt x="65856" y="92253"/>
                    <a:pt x="69466" y="88516"/>
                  </a:cubicBezTo>
                  <a:lnTo>
                    <a:pt x="138913" y="19050"/>
                  </a:lnTo>
                  <a:lnTo>
                    <a:pt x="114300" y="19050"/>
                  </a:lnTo>
                  <a:cubicBezTo>
                    <a:pt x="109039" y="19050"/>
                    <a:pt x="104775" y="14786"/>
                    <a:pt x="104775" y="9525"/>
                  </a:cubicBezTo>
                  <a:cubicBezTo>
                    <a:pt x="104775" y="4264"/>
                    <a:pt x="109039" y="0"/>
                    <a:pt x="114300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9906" y="4453890"/>
              <a:ext cx="30775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  <a:hlinkClick r:id="rId5"/>
                </a:rPr>
                <a:t>中央社：2025 年底戶籍統計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32192" y="4769168"/>
              <a:ext cx="3121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報導內政部 2026 年 1 月 9 日公布數字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04266" y="6325552"/>
            <a:ext cx="10983468" cy="205359"/>
            <a:chOff x="604266" y="6325552"/>
            <a:chExt cx="10983468" cy="205359"/>
          </a:xfrm>
        </p:grpSpPr>
        <p:sp>
          <p:nvSpPr>
            <p:cNvPr id="46" name="TextBox 46"/>
            <p:cNvSpPr txBox="1"/>
            <p:nvPr/>
          </p:nvSpPr>
          <p:spPr>
            <a:xfrm>
              <a:off x="604266" y="6325552"/>
              <a:ext cx="68379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本簡報數字取自國發會《中華民國人口推估（2026 年至 2075 年）》與內政部戶籍統計；推估值依中推估情境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10354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pt169_taiwan_super_aged_society_zh_hant">
  <a:themeElements>
    <a:clrScheme name="ppt169_taiwan_super_aged_society_zh_hant">
      <a:dk1>
        <a:srgbClr val="1E232B"/>
      </a:dk1>
      <a:lt1>
        <a:srgbClr val="F6F3EC"/>
      </a:lt1>
      <a:dk2>
        <a:srgbClr val="1F497D"/>
      </a:dk2>
      <a:lt2>
        <a:srgbClr val="ECE6DA"/>
      </a:lt2>
      <a:accent1>
        <a:srgbClr val="1F3A5F"/>
      </a:accent1>
      <a:accent2>
        <a:srgbClr val="B5462F"/>
      </a:accent2>
      <a:accent3>
        <a:srgbClr val="5E8C6A"/>
      </a:accent3>
      <a:accent4>
        <a:srgbClr val="1F3A5F"/>
      </a:accent4>
      <a:accent5>
        <a:srgbClr val="5A6270"/>
      </a:accent5>
      <a:accent6>
        <a:srgbClr val="D5CCBC"/>
      </a:accent6>
      <a:hlink>
        <a:srgbClr val="B5462F"/>
      </a:hlink>
      <a:folHlink>
        <a:srgbClr val="5E8C6A"/>
      </a:folHlink>
    </a:clrScheme>
    <a:fontScheme name="ppt169_taiwan_super_aged_society_zh_hant">
      <a:majorFont>
        <a:latin typeface="Segoe UI"/>
        <a:ea typeface="Microsoft JhengHei"/>
        <a:cs typeface="Segoe UI"/>
        <a:font script="Jpan" typeface="Microsoft JhengHei"/>
        <a:font script="Hang" typeface="Microsoft JhengHei"/>
        <a:font script="Hans" typeface="Microsoft JhengHei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JhengHei"/>
        <a:cs typeface="Segoe UI"/>
        <a:font script="Jpan" typeface="Microsoft JhengHei"/>
        <a:font script="Hang" typeface="Microsoft JhengHei"/>
        <a:font script="Hans" typeface="Microsoft JhengHei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taiwan_super_aged_society_zh_ha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pt169_taiwan_super_aged_society_zh_hant">
  <a:themeElements>
    <a:clrScheme name="ppt169_taiwan_super_aged_society_zh_hant">
      <a:dk1>
        <a:srgbClr val="1E232B"/>
      </a:dk1>
      <a:lt1>
        <a:srgbClr val="F6F3EC"/>
      </a:lt1>
      <a:dk2>
        <a:srgbClr val="1F497D"/>
      </a:dk2>
      <a:lt2>
        <a:srgbClr val="ECE6DA"/>
      </a:lt2>
      <a:accent1>
        <a:srgbClr val="1F3A5F"/>
      </a:accent1>
      <a:accent2>
        <a:srgbClr val="B5462F"/>
      </a:accent2>
      <a:accent3>
        <a:srgbClr val="5E8C6A"/>
      </a:accent3>
      <a:accent4>
        <a:srgbClr val="1F3A5F"/>
      </a:accent4>
      <a:accent5>
        <a:srgbClr val="5A6270"/>
      </a:accent5>
      <a:accent6>
        <a:srgbClr val="D5CCBC"/>
      </a:accent6>
      <a:hlink>
        <a:srgbClr val="B5462F"/>
      </a:hlink>
      <a:folHlink>
        <a:srgbClr val="5E8C6A"/>
      </a:folHlink>
    </a:clrScheme>
    <a:fontScheme name="ppt169_taiwan_super_aged_society_zh_hant">
      <a:majorFont>
        <a:latin typeface="Segoe UI"/>
        <a:ea typeface="Microsoft JhengHei"/>
        <a:cs typeface="Segoe UI"/>
        <a:font script="Jpan" typeface="Microsoft JhengHei"/>
        <a:font script="Hang" typeface="Microsoft JhengHei"/>
        <a:font script="Hans" typeface="Microsoft JhengHei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JhengHei"/>
        <a:cs typeface="Segoe UI"/>
        <a:font script="Jpan" typeface="Microsoft JhengHei"/>
        <a:font script="Hang" typeface="Microsoft JhengHei"/>
        <a:font script="Hans" typeface="Microsoft JhengHei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taiwan_super_aged_society_zh_ha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zh-TW</dc:language>
  <cp:lastModifiedBy/>
  <cp:revision>1</cp:revision>
  <dcterms:created xsi:type="dcterms:W3CDTF">2026-09-11T12:49:54Z</dcterms:created>
  <dcterms:modified xsi:type="dcterms:W3CDTF">2026-09-11T12:49:54Z</dcterms:modified>
  <cp:category/>
  <cp:contentStatus/>
</cp:coreProperties>
</file>