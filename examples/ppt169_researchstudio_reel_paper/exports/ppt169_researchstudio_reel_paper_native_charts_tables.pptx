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201.xml" ContentType="application/vnd.openxmlformats-officedocument.drawingml.chart+xml"/>
  <Override PartName="/ppt/charts/chart1202.xml" ContentType="application/vnd.openxmlformats-officedocument.drawingml.chart+xml"/>
  <Override PartName="/ppt/charts/chart1401.xml" ContentType="application/vnd.openxmlformats-officedocument.drawingml.chart+xml"/>
  <Override PartName="/ppt/charts/chart7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_rels/chart1202.xml.rels><?xml version="1.0" encoding="UTF-8" standalone="yes"?>
<Relationships xmlns="http://schemas.openxmlformats.org/package/2006/relationships">
<Relationship Id="rId1" Type="http://schemas.openxmlformats.org/officeDocument/2006/relationships/package" Target="../embeddings/Microsoft_Excel_Sheet1202.xlsx"/>
</Relationships>
</file>

<file path=ppt/charts/_rels/chart1401.xml.rels><?xml version="1.0" encoding="UTF-8" standalone="yes"?>
<Relationships xmlns="http://schemas.openxmlformats.org/package/2006/relationships">
<Relationship Id="rId1" Type="http://schemas.openxmlformats.org/officeDocument/2006/relationships/package" Target="../embeddings/Microsoft_Excel_Sheet1401.xlsx"/>
</Relationships>
</file>

<file path=ppt/charts/chart7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116666666667"/>
          <c:y val="0.306666666667"/>
          <c:w val="0.85"/>
          <c:h val="0.266666666667"/>
        </c:manualLayout>
      </c:layout>
      <c:barChart>
        <c:barDir val="bar"/>
        <c:grouping val="stacked"/>
        <c:varyColors val="0"/>
        <c:ser>
          <c:idx val="0"/>
          <c:order val="0"/>
          <c:tx>
            <c:strRef>
              <c:f>Sheet1!$B$1</c:f>
              <c:strCache>
                <c:ptCount val="1"/>
                <c:pt idx="0">
                  <c:v>EMPTY</c:v>
                </c:pt>
              </c:strCache>
            </c:strRef>
          </c:tx>
          <c:spPr>
            <a:solidFill>
              <a:srgbClr val="C0392B"/>
            </a:solidFill>
            <a:ln>
              <a:solidFill>
                <a:srgbClr val="C0392B"/>
              </a:solidFill>
            </a:ln>
          </c:spPr>
          <c:invertIfNegative val="0"/>
          <c:cat>
            <c:strRef>
              <c:f>Sheet1!$A$2:$A$2</c:f>
              <c:strCache>
                <c:ptCount val="1"/>
                <c:pt idx="0">
                  <c:v>fullRatio</c:v>
                </c:pt>
              </c:strCache>
            </c:strRef>
          </c:cat>
          <c:val>
            <c:numRef>
              <c:f>Sheet1!$B$2:$B$2</c:f>
              <c:numCache>
                <c:formatCode>General</c:formatCode>
                <c:ptCount val="1"/>
                <c:pt idx="0">
                  <c:v>0.7</c:v>
                </c:pt>
              </c:numCache>
            </c:numRef>
          </c:val>
        </c:ser>
        <c:ser>
          <c:idx val="1"/>
          <c:order val="1"/>
          <c:tx>
            <c:strRef>
              <c:f>Sheet1!$C$1</c:f>
              <c:strCache>
                <c:ptCount val="1"/>
                <c:pt idx="0">
                  <c:v>SPARSE</c:v>
                </c:pt>
              </c:strCache>
            </c:strRef>
          </c:tx>
          <c:spPr>
            <a:solidFill>
              <a:srgbClr val="E0A100"/>
            </a:solidFill>
            <a:ln>
              <a:solidFill>
                <a:srgbClr val="E0A100"/>
              </a:solidFill>
            </a:ln>
          </c:spPr>
          <c:invertIfNegative val="0"/>
          <c:cat>
            <c:strRef>
              <c:f>Sheet1!$A$2:$A$2</c:f>
              <c:strCache>
                <c:ptCount val="1"/>
                <c:pt idx="0">
                  <c:v>fullRatio</c:v>
                </c:pt>
              </c:strCache>
            </c:strRef>
          </c:cat>
          <c:val>
            <c:numRef>
              <c:f>Sheet1!$C$2:$C$2</c:f>
              <c:numCache>
                <c:formatCode>General</c:formatCode>
                <c:ptCount val="1"/>
                <c:pt idx="0">
                  <c:v>0.2</c:v>
                </c:pt>
              </c:numCache>
            </c:numRef>
          </c:val>
        </c:ser>
        <c:ser>
          <c:idx val="2"/>
          <c:order val="2"/>
          <c:tx>
            <c:strRef>
              <c:f>Sheet1!$D$1</c:f>
              <c:strCache>
                <c:ptCount val="1"/>
                <c:pt idx="0">
                  <c:v>FULL (target)</c:v>
                </c:pt>
              </c:strCache>
            </c:strRef>
          </c:tx>
          <c:spPr>
            <a:solidFill>
              <a:srgbClr val="2E8B57"/>
            </a:solidFill>
            <a:ln>
              <a:solidFill>
                <a:srgbClr val="2E8B57"/>
              </a:solidFill>
            </a:ln>
          </c:spPr>
          <c:invertIfNegative val="0"/>
          <c:cat>
            <c:strRef>
              <c:f>Sheet1!$A$2:$A$2</c:f>
              <c:strCache>
                <c:ptCount val="1"/>
                <c:pt idx="0">
                  <c:v>fullRatio</c:v>
                </c:pt>
              </c:strCache>
            </c:strRef>
          </c:cat>
          <c:val>
            <c:numRef>
              <c:f>Sheet1!$D$2:$D$2</c:f>
              <c:numCache>
                <c:formatCode>General</c:formatCode>
                <c:ptCount val="1"/>
                <c:pt idx="0">
                  <c:v>0.08</c:v>
                </c:pt>
              </c:numCache>
            </c:numRef>
          </c:val>
        </c:ser>
        <c:ser>
          <c:idx val="3"/>
          <c:order val="3"/>
          <c:tx>
            <c:strRef>
              <c:f>Sheet1!$E$1</c:f>
              <c:strCache>
                <c:ptCount val="1"/>
                <c:pt idx="0">
                  <c:v>SPILLAGE</c:v>
                </c:pt>
              </c:strCache>
            </c:strRef>
          </c:tx>
          <c:spPr>
            <a:solidFill>
              <a:srgbClr val="E67E22"/>
            </a:solidFill>
            <a:ln>
              <a:solidFill>
                <a:srgbClr val="E67E22"/>
              </a:solidFill>
            </a:ln>
          </c:spPr>
          <c:invertIfNegative val="0"/>
          <c:cat>
            <c:strRef>
              <c:f>Sheet1!$A$2:$A$2</c:f>
              <c:strCache>
                <c:ptCount val="1"/>
                <c:pt idx="0">
                  <c:v>fullRatio</c:v>
                </c:pt>
              </c:strCache>
            </c:strRef>
          </c:cat>
          <c:val>
            <c:numRef>
              <c:f>Sheet1!$E$2:$E$2</c:f>
              <c:numCache>
                <c:formatCode>General</c:formatCode>
                <c:ptCount val="1"/>
                <c:pt idx="0">
                  <c:v>0.12</c:v>
                </c:pt>
              </c:numCache>
            </c:numRef>
          </c:val>
        </c:ser>
        <c:ser>
          <c:idx val="4"/>
          <c:order val="4"/>
          <c:tx>
            <c:strRef>
              <c:f>Sheet1!$F$1</c:f>
              <c:strCache>
                <c:ptCount val="1"/>
                <c:pt idx="0">
                  <c:v>OVERFLOW</c:v>
                </c:pt>
              </c:strCache>
            </c:strRef>
          </c:tx>
          <c:spPr>
            <a:solidFill>
              <a:srgbClr val="B03A8C"/>
            </a:solidFill>
            <a:ln>
              <a:solidFill>
                <a:srgbClr val="B03A8C"/>
              </a:solidFill>
            </a:ln>
          </c:spPr>
          <c:invertIfNegative val="0"/>
          <c:cat>
            <c:strRef>
              <c:f>Sheet1!$A$2:$A$2</c:f>
              <c:strCache>
                <c:ptCount val="1"/>
                <c:pt idx="0">
                  <c:v>fullRatio</c:v>
                </c:pt>
              </c:strCache>
            </c:strRef>
          </c:cat>
          <c:val>
            <c:numRef>
              <c:f>Sheet1!$F$2:$F$2</c:f>
              <c:numCache>
                <c:formatCode>General</c:formatCode>
                <c:ptCount val="1"/>
                <c:pt idx="0">
                  <c:v>0.1</c:v>
                </c:pt>
              </c:numCache>
            </c:numRef>
          </c:val>
        </c:ser>
        <c:gapWidth val="30"/>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C9D0D8"/>
            </a:solidFill>
            <a:round/>
          </a:ln>
        </c:spPr>
        <c:txPr>
          <a:bodyPr/>
          <a:lstStyle/>
          <a:p>
            <a:pPr>
              <a:defRPr lang="en-US" sz="820">
                <a:solidFill>
                  <a:srgbClr val="2F3A48"/>
                </a:solidFill>
                <a:latin typeface="Arial"/>
                <a:ea typeface="Microsoft YaHei"/>
                <a:cs typeface="Arial"/>
              </a:defRPr>
            </a:pPr>
            <a:endParaRPr lang="en-US"/>
          </a:p>
        </c:txPr>
        <c:crossAx val="2113994440"/>
        <c:crosses val="autoZero"/>
        <c:auto val="1"/>
        <c:lblAlgn val="ctr"/>
        <c:lblOffset val="100"/>
        <c:noMultiLvlLbl val="0"/>
      </c:catAx>
      <c:valAx>
        <c:axId val="2113994440"/>
        <c:scaling>
          <c:orientation val="minMax"/>
          <c:max val="1.2"/>
          <c:min val="0"/>
        </c:scaling>
        <c:delete val="0"/>
        <c:axPos val="b"/>
        <c:majorGridlines>
          <c:spPr>
            <a:ln w="6350" cap="flat" cmpd="sng" algn="ctr">
              <a:solidFill>
                <a:srgbClr val="E6EAEF"/>
              </a:solidFill>
              <a:round/>
            </a:ln>
          </c:spPr>
        </c:majorGridlines>
        <c:numFmt formatCode="0.0" sourceLinked="0"/>
        <c:majorTickMark val="none"/>
        <c:minorTickMark val="none"/>
        <c:tickLblPos val="nextTo"/>
        <c:spPr>
          <a:ln w="9525" cap="flat" cmpd="sng" algn="ctr">
            <a:solidFill>
              <a:srgbClr val="C9D0D8"/>
            </a:solidFill>
            <a:round/>
          </a:ln>
        </c:spPr>
        <c:txPr>
          <a:bodyPr/>
          <a:lstStyle/>
          <a:p>
            <a:pPr>
              <a:defRPr lang="en-US" sz="820">
                <a:solidFill>
                  <a:srgbClr val="6B7684"/>
                </a:solidFill>
                <a:latin typeface="Arial"/>
                <a:ea typeface="Microsoft YaHei"/>
                <a:cs typeface="Arial"/>
              </a:defRPr>
            </a:pPr>
            <a:endParaRPr lang="en-US"/>
          </a:p>
        </c:txPr>
        <c:crossAx val="2068027336"/>
        <c:crosses val="max"/>
        <c:crossBetween val="between"/>
        <c:majorUnit val="0.2"/>
      </c:valAx>
      <c:spPr>
        <a:solidFill>
          <a:srgbClr val="FFFFFF"/>
        </a:solidFill>
        <a:ln>
          <a:noFill/>
        </a:ln>
      </c:spPr>
    </c:plotArea>
    <c:legend>
      <c:legendPos val="b"/>
      <c:layout/>
      <c:overlay val="0"/>
      <c:txPr>
        <a:bodyPr/>
        <a:lstStyle/>
        <a:p>
          <a:pPr>
            <a:defRPr lang="en-US" sz="820">
              <a:solidFill>
                <a:srgbClr val="6B7684"/>
              </a:solidFill>
              <a:latin typeface="Arial"/>
              <a:ea typeface="Microsoft YaHei"/>
              <a:cs typeface="Arial"/>
            </a:defRPr>
          </a:pPr>
          <a:endParaRPr lang="en-US"/>
        </a:p>
      </c:txPr>
    </c:legend>
    <c:plotVisOnly val="1"/>
    <c:dispBlanksAs val="gap"/>
  </c:chart>
  <c:spPr>
    <a:solidFill>
      <a:srgbClr val="FFFFFF"/>
    </a:solidFill>
    <a:ln>
      <a:noFill/>
    </a:ln>
  </c:spPr>
  <c:txPr>
    <a:bodyPr/>
    <a:lstStyle/>
    <a:p>
      <a:pPr>
        <a:defRPr lang="en-US" sz="820">
          <a:solidFill>
            <a:srgbClr val="6B7684"/>
          </a:solidFill>
          <a:latin typeface="Arial"/>
          <a:ea typeface="Microsoft YaHei"/>
          <a:cs typeface="Arial"/>
        </a:defRPr>
      </a:pPr>
      <a:endParaRPr lang="en-US"/>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1"/>
          <c:y val="0.08"/>
          <c:w val="0.86875"/>
          <c:h val="0.7"/>
        </c:manualLayout>
      </c:layout>
      <c:scatterChart>
        <c:scatterStyle val="marker"/>
        <c:varyColors val="0"/>
        <c:ser>
          <c:idx val="0"/>
          <c:order val="0"/>
          <c:tx>
            <c:strRef>
              <c:f>Sheet1!$B$1</c:f>
              <c:strCache>
                <c:ptCount val="1"/>
                <c:pt idx="0">
                  <c:v>Single-shot LLM</c:v>
                </c:pt>
              </c:strCache>
            </c:strRef>
          </c:tx>
          <c:spPr>
            <a:solidFill>
              <a:srgbClr val="94A3B8"/>
            </a:solidFill>
            <a:ln>
              <a:noFill/>
            </a:ln>
          </c:spPr>
          <c:marker>
            <c:symbol val="circle"/>
          </c:marker>
          <c:xVal>
            <c:numRef>
              <c:f>Sheet1!$A$2:$A$4</c:f>
              <c:numCache>
                <c:formatCode>General</c:formatCode>
                <c:ptCount val="3"/>
                <c:pt idx="0">
                  <c:v>2.92</c:v>
                </c:pt>
                <c:pt idx="1">
                  <c:v>3.15</c:v>
                </c:pt>
                <c:pt idx="2">
                  <c:v>3.08</c:v>
                </c:pt>
              </c:numCache>
            </c:numRef>
          </c:xVal>
          <c:yVal>
            <c:numRef>
              <c:f>Sheet1!$B$2:$B$4</c:f>
              <c:numCache>
                <c:formatCode>General</c:formatCode>
                <c:ptCount val="3"/>
                <c:pt idx="0">
                  <c:v>69.86</c:v>
                </c:pt>
                <c:pt idx="1">
                  <c:v>70.89</c:v>
                </c:pt>
                <c:pt idx="2">
                  <c:v>65.36</c:v>
                </c:pt>
              </c:numCache>
            </c:numRef>
          </c:yVal>
          <c:smooth val="0"/>
        </c:ser>
        <c:ser>
          <c:idx val="1"/>
          <c:order val="1"/>
          <c:tx>
            <c:strRef>
              <c:f>Sheet1!$D$1</c:f>
              <c:strCache>
                <c:ptCount val="1"/>
                <c:pt idx="0">
                  <c:v>Poster pipeline (reproduced)</c:v>
                </c:pt>
              </c:strCache>
            </c:strRef>
          </c:tx>
          <c:spPr>
            <a:solidFill>
              <a:srgbClr val="C7CDD6"/>
            </a:solidFill>
            <a:ln>
              <a:noFill/>
            </a:ln>
          </c:spPr>
          <c:marker>
            <c:symbol val="circle"/>
          </c:marker>
          <c:xVal>
            <c:numRef>
              <c:f>Sheet1!$C$2:$C$4</c:f>
              <c:numCache>
                <c:formatCode>General</c:formatCode>
                <c:ptCount val="3"/>
                <c:pt idx="0">
                  <c:v>2.72</c:v>
                </c:pt>
                <c:pt idx="1">
                  <c:v>2.72</c:v>
                </c:pt>
                <c:pt idx="2">
                  <c:v>2.71</c:v>
                </c:pt>
              </c:numCache>
            </c:numRef>
          </c:xVal>
          <c:yVal>
            <c:numRef>
              <c:f>Sheet1!$D$2:$D$4</c:f>
              <c:numCache>
                <c:formatCode>General</c:formatCode>
                <c:ptCount val="3"/>
                <c:pt idx="0">
                  <c:v>69.95</c:v>
                </c:pt>
                <c:pt idx="1">
                  <c:v>75.4</c:v>
                </c:pt>
                <c:pt idx="2">
                  <c:v>57.45</c:v>
                </c:pt>
              </c:numCache>
            </c:numRef>
          </c:yVal>
          <c:smooth val="0"/>
        </c:ser>
        <c:ser>
          <c:idx val="2"/>
          <c:order val="2"/>
          <c:tx>
            <c:strRef>
              <c:f>Sheet1!$F$1</c:f>
              <c:strCache>
                <c:ptCount val="1"/>
                <c:pt idx="0">
                  <c:v>ResearchStudio-Reel, Codex</c:v>
                </c:pt>
              </c:strCache>
            </c:strRef>
          </c:tx>
          <c:spPr>
            <a:solidFill>
              <a:schemeClr val="accent3"/>
            </a:solidFill>
            <a:ln>
              <a:noFill/>
            </a:ln>
          </c:spPr>
          <c:marker>
            <c:symbol val="circle"/>
          </c:marker>
          <c:xVal>
            <c:numRef>
              <c:f>Sheet1!$E$2:$E$2</c:f>
              <c:numCache>
                <c:formatCode>General</c:formatCode>
                <c:ptCount val="1"/>
                <c:pt idx="0">
                  <c:v>3.27</c:v>
                </c:pt>
              </c:numCache>
            </c:numRef>
          </c:xVal>
          <c:yVal>
            <c:numRef>
              <c:f>Sheet1!$F$2:$F$2</c:f>
              <c:numCache>
                <c:formatCode>General</c:formatCode>
                <c:ptCount val="1"/>
                <c:pt idx="0">
                  <c:v>55.55</c:v>
                </c:pt>
              </c:numCache>
            </c:numRef>
          </c:yVal>
          <c:smooth val="0"/>
        </c:ser>
        <c:ser>
          <c:idx val="3"/>
          <c:order val="3"/>
          <c:tx>
            <c:strRef>
              <c:f>Sheet1!$H$1</c:f>
              <c:strCache>
                <c:ptCount val="1"/>
                <c:pt idx="0">
                  <c:v>ResearchStudio-Reel, Claude Code</c:v>
                </c:pt>
              </c:strCache>
            </c:strRef>
          </c:tx>
          <c:spPr>
            <a:solidFill>
              <a:schemeClr val="accent2"/>
            </a:solidFill>
            <a:ln>
              <a:noFill/>
            </a:ln>
          </c:spPr>
          <c:marker>
            <c:symbol val="circle"/>
          </c:marker>
          <c:xVal>
            <c:numRef>
              <c:f>Sheet1!$G$2:$G$2</c:f>
              <c:numCache>
                <c:formatCode>General</c:formatCode>
                <c:ptCount val="1"/>
                <c:pt idx="0">
                  <c:v>3.56</c:v>
                </c:pt>
              </c:numCache>
            </c:numRef>
          </c:xVal>
          <c:yVal>
            <c:numRef>
              <c:f>Sheet1!$H$2:$H$2</c:f>
              <c:numCache>
                <c:formatCode>General</c:formatCode>
                <c:ptCount val="1"/>
                <c:pt idx="0">
                  <c:v>56.79</c:v>
                </c:pt>
              </c:numCache>
            </c:numRef>
          </c:yVal>
          <c:smooth val="0"/>
        </c:ser>
        <c:ser>
          <c:idx val="4"/>
          <c:order val="4"/>
          <c:tx>
            <c:strRef>
              <c:f>Sheet1!$J$1</c:f>
              <c:strCache>
                <c:ptCount val="1"/>
                <c:pt idx="0">
                  <c:v>Author ground truth</c:v>
                </c:pt>
              </c:strCache>
            </c:strRef>
          </c:tx>
          <c:spPr>
            <a:solidFill>
              <a:schemeClr val="accent1"/>
            </a:solidFill>
            <a:ln>
              <a:noFill/>
            </a:ln>
          </c:spPr>
          <c:marker>
            <c:symbol val="circle"/>
          </c:marker>
          <c:xVal>
            <c:numRef>
              <c:f>Sheet1!$I$2:$I$2</c:f>
              <c:numCache>
                <c:formatCode>General</c:formatCode>
                <c:ptCount val="1"/>
                <c:pt idx="0">
                  <c:v>3.03</c:v>
                </c:pt>
              </c:numCache>
            </c:numRef>
          </c:xVal>
          <c:yVal>
            <c:numRef>
              <c:f>Sheet1!$J$2:$J$2</c:f>
              <c:numCache>
                <c:formatCode>General</c:formatCode>
                <c:ptCount val="1"/>
                <c:pt idx="0">
                  <c:v>54.73</c:v>
                </c:pt>
              </c:numCache>
            </c:numRef>
          </c:yVal>
          <c:smooth val="0"/>
        </c:ser>
        <c:axId val="2080229232"/>
        <c:axId val="2098941040"/>
      </c:scatterChart>
      <c:valAx>
        <c:axId val="2080229232"/>
        <c:scaling>
          <c:orientation val="minMax"/>
          <c:max val="3.7"/>
          <c:min val="2.6"/>
        </c:scaling>
        <c:delete val="0"/>
        <c:axPos val="b"/>
        <c:numFmt formatCode="0.0" sourceLinked="0"/>
        <c:majorTickMark val="out"/>
        <c:minorTickMark val="none"/>
        <c:tickLblPos val="nextTo"/>
        <c:spPr>
          <a:ln w="9525" cap="flat" cmpd="sng" algn="ctr">
            <a:solidFill>
              <a:srgbClr val="C9D0D8"/>
            </a:solidFill>
            <a:round/>
          </a:ln>
        </c:spPr>
        <c:txPr>
          <a:bodyPr/>
          <a:lstStyle/>
          <a:p>
            <a:pPr>
              <a:defRPr lang="en-US" sz="820">
                <a:solidFill>
                  <a:srgbClr val="6B7684"/>
                </a:solidFill>
                <a:latin typeface="Arial"/>
                <a:ea typeface="Microsoft YaHei"/>
                <a:cs typeface="Arial"/>
              </a:defRPr>
            </a:pPr>
            <a:endParaRPr lang="en-US"/>
          </a:p>
        </c:txPr>
        <c:crossAx val="2098941040"/>
        <c:crosses val="autoZero"/>
        <c:crossBetween val="midCat"/>
        <c:majorUnit val="0.2"/>
      </c:valAx>
      <c:valAx>
        <c:axId val="2098941040"/>
        <c:scaling>
          <c:orientation val="minMax"/>
          <c:max val="80"/>
          <c:min val="50"/>
        </c:scaling>
        <c:delete val="0"/>
        <c:axPos val="l"/>
        <c:majorGridlines>
          <c:spPr>
            <a:ln w="6350" cap="flat" cmpd="sng" algn="ctr">
              <a:solidFill>
                <a:srgbClr val="E6EAEF"/>
              </a:solidFill>
              <a:round/>
            </a:ln>
          </c:spPr>
        </c:majorGridlines>
        <c:numFmt formatCode="0" sourceLinked="0"/>
        <c:majorTickMark val="out"/>
        <c:minorTickMark val="none"/>
        <c:tickLblPos val="nextTo"/>
        <c:spPr>
          <a:ln w="9525" cap="flat" cmpd="sng" algn="ctr">
            <a:solidFill>
              <a:srgbClr val="C9D0D8"/>
            </a:solidFill>
            <a:round/>
          </a:ln>
        </c:spPr>
        <c:txPr>
          <a:bodyPr/>
          <a:lstStyle/>
          <a:p>
            <a:pPr>
              <a:defRPr lang="en-US" sz="820">
                <a:solidFill>
                  <a:srgbClr val="6B7684"/>
                </a:solidFill>
                <a:latin typeface="Arial"/>
                <a:ea typeface="Microsoft YaHei"/>
                <a:cs typeface="Arial"/>
              </a:defRPr>
            </a:pPr>
            <a:endParaRPr lang="en-US"/>
          </a:p>
        </c:txPr>
        <c:crossAx val="2080229232"/>
        <c:crosses val="autoZero"/>
        <c:crossBetween val="midCat"/>
        <c:majorUnit val="10"/>
      </c:valAx>
      <c:spPr>
        <a:solidFill>
          <a:srgbClr val="FFFFFF"/>
        </a:solidFill>
        <a:ln>
          <a:noFill/>
        </a:ln>
      </c:spPr>
    </c:plotArea>
    <c:plotVisOnly val="1"/>
    <c:dispBlanksAs val="gap"/>
  </c:chart>
  <c:spPr>
    <a:solidFill>
      <a:srgbClr val="FFFFFF"/>
    </a:solidFill>
    <a:ln>
      <a:noFill/>
    </a:ln>
  </c:spPr>
  <c:txPr>
    <a:bodyPr/>
    <a:lstStyle/>
    <a:p>
      <a:pPr>
        <a:defRPr lang="en-US" sz="820">
          <a:solidFill>
            <a:srgbClr val="6B7684"/>
          </a:solidFill>
          <a:latin typeface="Arial"/>
          <a:ea typeface="Microsoft YaHei"/>
          <a:cs typeface="Arial"/>
        </a:defRPr>
      </a:pPr>
      <a:endParaRPr lang="en-US"/>
    </a:p>
  </c:txPr>
  <c:externalData r:id="rId1">
    <c:autoUpdate val="0"/>
  </c:externalData>
</c:chartSpace>
</file>

<file path=ppt/charts/chart1202.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0819672131148"/>
          <c:y val="0.133333333333"/>
          <c:w val="0.885245901639"/>
          <c:h val="0.666666666667"/>
        </c:manualLayout>
      </c:layout>
      <c:barChart>
        <c:barDir val="col"/>
        <c:grouping val="clustered"/>
        <c:varyColors val="1"/>
        <c:ser>
          <c:idx val="0"/>
          <c:order val="0"/>
          <c:tx>
            <c:strRef>
              <c:f>Sheet1!$B$1</c:f>
              <c:strCache>
                <c:ptCount val="1"/>
                <c:pt idx="0">
                  <c:v>Aesthetic overall</c:v>
                </c:pt>
              </c:strCache>
            </c:strRef>
          </c:tx>
          <c:spPr>
            <a:solidFill>
              <a:schemeClr val="accent1"/>
            </a:solidFill>
            <a:ln>
              <a:solidFill>
                <a:schemeClr val="accent1"/>
              </a:solidFill>
            </a:ln>
          </c:spPr>
          <c:invertIfNegative val="0"/>
          <c:dPt>
            <c:idx val="0"/>
            <c:invertIfNegative val="0"/>
            <c:spPr>
              <a:solidFill>
                <a:srgbClr val="94A3B8"/>
              </a:solidFill>
              <a:ln>
                <a:solidFill>
                  <a:srgbClr val="94A3B8"/>
                </a:solidFill>
              </a:ln>
            </c:spPr>
          </c:dPt>
          <c:dPt>
            <c:idx val="1"/>
            <c:invertIfNegative val="0"/>
            <c:spPr>
              <a:solidFill>
                <a:schemeClr val="accent3"/>
              </a:solidFill>
              <a:ln>
                <a:solidFill>
                  <a:schemeClr val="accent3"/>
                </a:solidFill>
              </a:ln>
            </c:spPr>
          </c:dPt>
          <c:dPt>
            <c:idx val="2"/>
            <c:invertIfNegative val="0"/>
            <c:spPr>
              <a:solidFill>
                <a:schemeClr val="accent2"/>
              </a:solidFill>
              <a:ln>
                <a:solidFill>
                  <a:schemeClr val="accent2"/>
                </a:solidFill>
              </a:ln>
            </c:spPr>
          </c:dPt>
          <c:dPt>
            <c:idx val="3"/>
            <c:invertIfNegative val="0"/>
            <c:spPr>
              <a:solidFill>
                <a:schemeClr val="accent1"/>
              </a:solidFill>
              <a:ln>
                <a:solidFill>
                  <a:schemeClr val="accent1"/>
                </a:solidFill>
              </a:ln>
            </c:spPr>
          </c:dPt>
          <c:cat>
            <c:strRef>
              <c:f>Sheet1!$A$2:$A$5</c:f>
              <c:strCache>
                <c:ptCount val="4"/>
                <c:pt idx="0">
                  <c:v>1-shot claude-opus-4.8</c:v>
                </c:pt>
                <c:pt idx="1">
                  <c:v>Reel · Codex</c:v>
                </c:pt>
                <c:pt idx="2">
                  <c:v>Reel · Claude Code</c:v>
                </c:pt>
                <c:pt idx="3">
                  <c:v>Author ground truth</c:v>
                </c:pt>
              </c:strCache>
            </c:strRef>
          </c:cat>
          <c:val>
            <c:numRef>
              <c:f>Sheet1!$B$2:$B$5</c:f>
              <c:numCache>
                <c:formatCode>General</c:formatCode>
                <c:ptCount val="4"/>
                <c:pt idx="0">
                  <c:v>2.92</c:v>
                </c:pt>
                <c:pt idx="1">
                  <c:v>3.27</c:v>
                </c:pt>
                <c:pt idx="2">
                  <c:v>3.56</c:v>
                </c:pt>
                <c:pt idx="3">
                  <c:v>3.03</c:v>
                </c:pt>
              </c:numCache>
            </c:numRef>
          </c:val>
        </c:ser>
        <c:dLbls>
          <c:numFmt formatCode="0.00" sourceLinked="0"/>
          <c:txPr>
            <a:bodyPr/>
            <a:lstStyle/>
            <a:p>
              <a:pPr>
                <a:defRPr lang="en-US" sz="900" b="1">
                  <a:solidFill>
                    <a:schemeClr val="accent1"/>
                  </a:solidFill>
                  <a:latin typeface="Arial"/>
                  <a:ea typeface="Microsoft YaHei"/>
                  <a:cs typeface="Arial"/>
                </a:defRPr>
              </a:pPr>
              <a:endParaRPr lang="en-US"/>
            </a:p>
          </c:txPr>
          <c:dLblPos val="outEnd"/>
          <c:showLegendKey val="0"/>
          <c:showVal val="1"/>
          <c:showCatName val="0"/>
          <c:showSerName val="0"/>
          <c:showPercent val="0"/>
          <c:showBubbleSize val="0"/>
          <c:showLeaderLines val="0"/>
        </c:dLbls>
        <c:gapWidth val="86"/>
        <c:axId val="2068027336"/>
        <c:axId val="2113994440"/>
      </c:barChart>
      <c:catAx>
        <c:axId val="2068027336"/>
        <c:scaling>
          <c:orientation val="minMax"/>
        </c:scaling>
        <c:delete val="0"/>
        <c:axPos val="b"/>
        <c:majorTickMark val="none"/>
        <c:minorTickMark val="none"/>
        <c:tickLblPos val="nextTo"/>
        <c:spPr>
          <a:ln w="9525" cap="flat" cmpd="sng" algn="ctr">
            <a:solidFill>
              <a:srgbClr val="C9D0D8"/>
            </a:solidFill>
            <a:round/>
          </a:ln>
        </c:spPr>
        <c:txPr>
          <a:bodyPr/>
          <a:lstStyle/>
          <a:p>
            <a:pPr>
              <a:defRPr lang="en-US" sz="750">
                <a:solidFill>
                  <a:srgbClr val="6B7684"/>
                </a:solidFill>
                <a:latin typeface="Arial"/>
                <a:ea typeface="Microsoft YaHei"/>
                <a:cs typeface="Arial"/>
              </a:defRPr>
            </a:pPr>
            <a:endParaRPr lang="en-US"/>
          </a:p>
        </c:txPr>
        <c:crossAx val="2113994440"/>
        <c:crosses val="autoZero"/>
        <c:auto val="1"/>
        <c:lblAlgn val="ctr"/>
        <c:lblOffset val="100"/>
        <c:noMultiLvlLbl val="0"/>
      </c:catAx>
      <c:valAx>
        <c:axId val="2113994440"/>
        <c:scaling>
          <c:orientation val="minMax"/>
          <c:max val="4"/>
          <c:min val="0"/>
        </c:scaling>
        <c:delete val="0"/>
        <c:axPos val="l"/>
        <c:majorGridlines>
          <c:spPr>
            <a:ln w="6350" cap="flat" cmpd="sng" algn="ctr">
              <a:solidFill>
                <a:srgbClr val="E6EAEF"/>
              </a:solidFill>
              <a:round/>
            </a:ln>
          </c:spPr>
        </c:majorGridlines>
        <c:numFmt formatCode="0" sourceLinked="0"/>
        <c:majorTickMark val="none"/>
        <c:minorTickMark val="none"/>
        <c:tickLblPos val="nextTo"/>
        <c:spPr>
          <a:ln w="9525" cap="flat" cmpd="sng" algn="ctr">
            <a:solidFill>
              <a:srgbClr val="C9D0D8"/>
            </a:solidFill>
            <a:round/>
          </a:ln>
        </c:spPr>
        <c:txPr>
          <a:bodyPr/>
          <a:lstStyle/>
          <a:p>
            <a:pPr>
              <a:defRPr lang="en-US" sz="820">
                <a:solidFill>
                  <a:srgbClr val="6B7684"/>
                </a:solidFill>
                <a:latin typeface="Arial"/>
                <a:ea typeface="Microsoft YaHei"/>
                <a:cs typeface="Arial"/>
              </a:defRPr>
            </a:pPr>
            <a:endParaRPr lang="en-US"/>
          </a:p>
        </c:txPr>
        <c:crossAx val="2068027336"/>
        <c:crosses val="autoZero"/>
        <c:crossBetween val="between"/>
        <c:majorUnit val="1"/>
      </c:valAx>
      <c:spPr>
        <a:solidFill>
          <a:srgbClr val="FFFFFF"/>
        </a:solidFill>
        <a:ln>
          <a:noFill/>
        </a:ln>
      </c:spPr>
    </c:plotArea>
    <c:plotVisOnly val="1"/>
    <c:dispBlanksAs val="gap"/>
  </c:chart>
  <c:spPr>
    <a:solidFill>
      <a:srgbClr val="FFFFFF"/>
    </a:solidFill>
    <a:ln>
      <a:noFill/>
    </a:ln>
  </c:spPr>
  <c:txPr>
    <a:bodyPr/>
    <a:lstStyle/>
    <a:p>
      <a:pPr>
        <a:defRPr lang="en-US" sz="820">
          <a:solidFill>
            <a:srgbClr val="6B7684"/>
          </a:solidFill>
          <a:latin typeface="Arial"/>
          <a:ea typeface="Microsoft YaHei"/>
          <a:cs typeface="Arial"/>
        </a:defRPr>
      </a:pPr>
      <a:endParaRPr lang="en-US"/>
    </a:p>
  </c:txPr>
  <c:externalData r:id="rId1">
    <c:autoUpdate val="0"/>
  </c:externalData>
</c:chartSpace>
</file>

<file path=ppt/charts/chart14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193548387097"/>
          <c:y val="0.0932203389831"/>
          <c:w val="0.693548387097"/>
          <c:h val="0.779661016949"/>
        </c:manualLayout>
      </c:layout>
      <c:barChart>
        <c:barDir val="bar"/>
        <c:grouping val="clustered"/>
        <c:varyColors val="1"/>
        <c:ser>
          <c:idx val="0"/>
          <c:order val="0"/>
          <c:tx>
            <c:strRef>
              <c:f>Sheet1!$B$1</c:f>
              <c:strCache>
                <c:ptCount val="1"/>
                <c:pt idx="0">
                  <c:v>Time (min)</c:v>
                </c:pt>
              </c:strCache>
            </c:strRef>
          </c:tx>
          <c:spPr>
            <a:solidFill>
              <a:schemeClr val="accent1"/>
            </a:solidFill>
            <a:ln>
              <a:solidFill>
                <a:schemeClr val="accent1"/>
              </a:solidFill>
            </a:ln>
          </c:spPr>
          <c:invertIfNegative val="0"/>
          <c:dPt>
            <c:idx val="0"/>
            <c:invertIfNegative val="0"/>
            <c:spPr>
              <a:solidFill>
                <a:schemeClr val="accent2"/>
              </a:solidFill>
              <a:ln>
                <a:solidFill>
                  <a:schemeClr val="accent2"/>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1"/>
              </a:solidFill>
              <a:ln>
                <a:solidFill>
                  <a:schemeClr val="accent1"/>
                </a:solidFill>
              </a:ln>
            </c:spPr>
          </c:dPt>
          <c:cat>
            <c:strRef>
              <c:f>Sheet1!$A$2:$A$6</c:f>
              <c:strCache>
                <c:ptCount val="5"/>
                <c:pt idx="0">
                  <c:v>Paper2Assets</c:v>
                </c:pt>
                <c:pt idx="1">
                  <c:v>Paper2Poster</c:v>
                </c:pt>
                <c:pt idx="2">
                  <c:v>Paper2Video</c:v>
                </c:pt>
                <c:pt idx="3">
                  <c:v>Paper2Blog</c:v>
                </c:pt>
                <c:pt idx="4">
                  <c:v>Paper2Reel</c:v>
                </c:pt>
              </c:strCache>
            </c:strRef>
          </c:cat>
          <c:val>
            <c:numRef>
              <c:f>Sheet1!$B$2:$B$6</c:f>
              <c:numCache>
                <c:formatCode>General</c:formatCode>
                <c:ptCount val="5"/>
                <c:pt idx="0">
                  <c:v>8.6</c:v>
                </c:pt>
                <c:pt idx="1">
                  <c:v>23.3</c:v>
                </c:pt>
                <c:pt idx="2">
                  <c:v>28.5</c:v>
                </c:pt>
                <c:pt idx="3">
                  <c:v>16.7</c:v>
                </c:pt>
                <c:pt idx="4">
                  <c:v>12.1</c:v>
                </c:pt>
              </c:numCache>
            </c:numRef>
          </c:val>
        </c:ser>
        <c:dLbls>
          <c:numFmt formatCode="0.0" sourceLinked="0"/>
          <c:txPr>
            <a:bodyPr/>
            <a:lstStyle/>
            <a:p>
              <a:pPr>
                <a:defRPr lang="en-US" sz="900" b="1">
                  <a:solidFill>
                    <a:schemeClr val="accent1"/>
                  </a:solidFill>
                  <a:latin typeface="Arial"/>
                  <a:ea typeface="Microsoft YaHei"/>
                  <a:cs typeface="Arial"/>
                </a:defRPr>
              </a:pPr>
              <a:endParaRPr lang="en-US"/>
            </a:p>
          </c:txPr>
          <c:dLblPos val="outEnd"/>
          <c:showLegendKey val="0"/>
          <c:showVal val="1"/>
          <c:showCatName val="0"/>
          <c:showSerName val="0"/>
          <c:showPercent val="0"/>
          <c:showBubbleSize val="0"/>
          <c:showLeaderLines val="0"/>
        </c:dLbls>
        <c:gapWidth val="42"/>
        <c:axId val="2068027336"/>
        <c:axId val="2113994440"/>
      </c:barChart>
      <c:catAx>
        <c:axId val="2068027336"/>
        <c:scaling>
          <c:orientation val="maxMin"/>
        </c:scaling>
        <c:delete val="0"/>
        <c:axPos val="l"/>
        <c:majorTickMark val="none"/>
        <c:minorTickMark val="none"/>
        <c:tickLblPos val="nextTo"/>
        <c:spPr>
          <a:ln w="9525" cap="flat" cmpd="sng" algn="ctr">
            <a:solidFill>
              <a:srgbClr val="C9D0D8"/>
            </a:solidFill>
            <a:round/>
          </a:ln>
        </c:spPr>
        <c:txPr>
          <a:bodyPr/>
          <a:lstStyle/>
          <a:p>
            <a:pPr>
              <a:defRPr lang="en-US" sz="900">
                <a:solidFill>
                  <a:srgbClr val="2F3A48"/>
                </a:solidFill>
                <a:latin typeface="Arial"/>
                <a:ea typeface="Microsoft YaHei"/>
                <a:cs typeface="Arial"/>
              </a:defRPr>
            </a:pPr>
            <a:endParaRPr lang="en-US"/>
          </a:p>
        </c:txPr>
        <c:crossAx val="2113994440"/>
        <c:crosses val="autoZero"/>
        <c:auto val="1"/>
        <c:lblAlgn val="ctr"/>
        <c:lblOffset val="100"/>
        <c:noMultiLvlLbl val="0"/>
      </c:catAx>
      <c:valAx>
        <c:axId val="2113994440"/>
        <c:scaling>
          <c:orientation val="minMax"/>
          <c:max val="32"/>
          <c:min val="0"/>
        </c:scaling>
        <c:delete val="1"/>
        <c:axPos val="b"/>
        <c:majorTickMark val="none"/>
        <c:minorTickMark val="none"/>
        <c:tickLblPos val="none"/>
        <c:spPr>
          <a:ln w="9525" cap="flat" cmpd="sng" algn="ctr">
            <a:solidFill>
              <a:srgbClr val="C9D0D8"/>
            </a:solidFill>
            <a:round/>
          </a:ln>
        </c:spPr>
        <c:txPr>
          <a:bodyPr/>
          <a:lstStyle/>
          <a:p>
            <a:pPr>
              <a:defRPr lang="en-US" sz="900">
                <a:solidFill>
                  <a:schemeClr val="accent1"/>
                </a:solidFill>
                <a:latin typeface="Arial"/>
                <a:ea typeface="Microsoft YaHei"/>
                <a:cs typeface="Arial"/>
              </a:defRPr>
            </a:pPr>
            <a:endParaRPr lang="en-US"/>
          </a:p>
        </c:txPr>
        <c:crossAx val="2068027336"/>
        <c:crosses val="max"/>
        <c:crossBetween val="between"/>
      </c:valAx>
      <c:spPr>
        <a:solidFill>
          <a:srgbClr val="FFFFFF"/>
        </a:solidFill>
        <a:ln>
          <a:noFill/>
        </a:ln>
      </c:spPr>
    </c:plotArea>
    <c:plotVisOnly val="1"/>
    <c:dispBlanksAs val="gap"/>
  </c:chart>
  <c:spPr>
    <a:solidFill>
      <a:srgbClr val="FFFFFF"/>
    </a:solidFill>
    <a:ln>
      <a:noFill/>
    </a:ln>
  </c:spPr>
  <c:txPr>
    <a:bodyPr/>
    <a:lstStyle/>
    <a:p>
      <a:pPr>
        <a:defRPr lang="en-US" sz="900">
          <a:solidFill>
            <a:schemeClr val="accent1"/>
          </a:solidFill>
          <a:latin typeface="Arial"/>
          <a:ea typeface="Microsoft YaHei"/>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a paper-reading walkthrough of ResearchStudio-Reel, arXiv 2607.04438, version two of 19 July 2026, by Hugo He, Lingao Xiao, Yalun Dai, Yangyu Huang and sixteen co-authors across Microsoft Research and seven universities. The hook is on the slide: one paper PDF goes in, three editor-ready artifacts come out — a conference poster, a talk video, and a bilingual blog — and one navigable surface binds them. The three panels are Figure 1 of the paper: a generated poster for the BEiT paper, a frame from the generated talk video for the CITransNet paper, and the English Word article for BEiT. We will follow the paper in its own order: the question, prior work, the contribution, each of the five skills, the benchmark result and its analysis, cost, applications, limitations, and what the authors leave open.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of this page is that dissemination is a separate layer with three concrete gaps. The paper's introduction describes the layer as three artifacts prepared in the days right after acceptance — the poster, the talk video on the virtual track or the lab channel, and the blog piece for social media — each needing figure selection, layout, narration, or audience-appropriate writing. The literature on paper-to-poster, paper-to-video, and paper-to-blog systems, together with the multi-artifact suites PaperX and OmniPresent, has moved the practical question from whether several formats can be generated to whether the results remain native-editable and navigable. The three gaps are the paper's own labels. G1, shared grounding: combining artifact-specific systems repeats extraction and leaves cross-artifact references to the user. G2, native editability: a multi-format suite does not by itself give editable PowerPoint and Word sources. G3, experience-level convergence: parallel outputs do not bind poster regions, video segments, and blog passages into one surface. Section 1. Next, where the paper places itself among prior systems.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that prior work is organized by output type and differs in its output contract, while VLM scores are mostly used for evaluation rather than as runtime release gates. The table condenses Section 5. Paper-to-poster systems include Paper2Poster with its benchmark and PaperQuiz probe, PosterGen with specialized agents including color and typography stages, P2P which renders HTML, PosterForest, EfficientPosterGen, APEX which edits existing PPTX, the SciPostLayout and SciPostGen layout work, Any2Poster, and the concurrent PosterHarness. Slide and video work runs from PPSGen through D2S, DOC2PPT, SlideSpawn, PPTAgent, and SlideGen to PresentAgent, VideoAgent, Paper2Video with its PaperTalker system and 101-paper benchmark, Preacher, and AutoLectures. Blog and long-form work includes HERA, PTSPI, GoSum, LongDPO, ProjectMundo, lay-summary studies, and Papers-to-Posts. The multi-artifact suites are PaperX and the concurrent OmniPresent, which the paper discusses qualitatively rather than as a baseline. The positioning sentence at the bottom is quoted from Section 5.5: the paper does not claim the first multi-artifact generator; it claims native editability plus experience-level convergence, backed by release checks. Next, the contribution.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the answer to the three gaps: a native-editable dissemination workspace implemented as five skills that run in Claude Code and Codex. Figure 2 shows the pipeline — one PDF in, three editor-ready artifacts out, one shared extraction in the middle. The list on the right names the five skills in pipeline order: Paper2Assets, the shared extractor, answers G1; Paper2Poster, Paper2Video, and Paper2Blog are the editable generators whose PowerPoint and Word deliverables answer G2; Paper2Reel, the convergence layer, answers G3. The four contribution bullets are the authors' own, quoted from the end of Section 1, including the headline numbers we will see in Table 1: best among automated systems on all three aesthetic sub-criteria, best or tied-best on two of three information sub-criteria, about seventeen and a half percent above the authors' own posters on aesthetics — 3.56 against 3.03 — and overall wins on 74 and 95 of 100 papers under the two judges. The note at the bottom lists the technical ingredients: the two skill runtimes, deterministic primitives such as headless Chromium, LibreOffice with ffmpeg, and python-docx, and Edge TTS for narration; the paper states that the runtime itself is not a contribution. Next, skill 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Skill one of five. The takeaway is that Paper2Assets reads the PDF once and produces one bundle that every generator consumes verbatim, so the expensive figure cleanup runs once instead of once per artifact. The chevrons follow Section 2.1: pull the text and captions and crop each figure with a column-aware margin; synthesize the metadata from the first page and, for arXiv papers, the abstract page; write the nine-section summary — Problem, Motivation, Contribution, Method, Dataset or Benchmark, Key Result, Ablation, Headline Numbers, Takeaway — each with an essential entry, a supplementary entry held in reserve, and a spoken script; fetch institution logos from Wikimedia Commons infoboxes and the venue logo from Wikidata, hiding the slot rather than showing a placeholder when a mark does not resolve; render the QR codes; and emit the canonical record files. A second pass adds the inventory manifest with the PDF checksum, per-section records with stable identifiers, and the narration clip list in reading order. The cleanup chain below is the load-bearing stage: a deterministic prefix handles the easy cases, a visual-AI step judges a tight bounding box, a fresh-context verifier re-reads the original against the proposed crop, and only a clean pass commits, splitting a raster that packs two figures. The panel on the right states the single-owner rule: downstream skills never re-open the PDF, and a stable figure-naming invariant keeps the poster, video, and blog pointing at the same figure without coordination. Next, skill two.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Skill two of five. The takeaway is that the engineering that took the most iteration was not the visual design but five recurring requirements, labeled A1 to A5 in Section 2.2.1, and the page answers them in the paper's order. Figure 3 shows the pipeline: the bundle drives an agent that picks the Method figure plus secondary figures, composes a self-contained poster.html along four axes, runs the staged-fill loop, packs narration audio and logos, renders PDF and PNG plus an editable native-shape PowerPoint, and releases only through a mandatory deliverables gate. The list on the right gives the four coupled formats of one run. The table: A1, composition without a template explosion, is answered by four orthogonal axes — layout, style with eleven interchangeable CSS themes, five header arrangements, and the Scan-to-Read block — where only the layout is fixed by a hard rule and every section carries a distinct widget. A2, the converging fill loop, gets its own page next. A3, a page too large to re-read, is answered by returning only the verbatim source of off-target sections so the hundred-kilobyte file never enters the context window. A4, figures that fill their cards, is answered by sizing figures through their height cap and holding them to a hard floor. A5, a faithful editable export, is answered by rebuilding each slide from the live DOM into native text frames, replaceable pictures, native equations, and styled shapes. Next, the loop itself.</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Still skill two. The takeaway is that the fill loop is deliberately discrete and terminates at a categorical fixed point rather than a learned-score plateau. The bar is the fullRatio axis — painted content height divided by the inner card height, read from getBoundingClientRect — quantized into the five verdicts of Section 2.2.2: EMPTY below 0.70, SPARSE from 0.70 to 0.90, FULL from 0.90 to 0.98 as the target, SPILLAGE from 0.98 to 1.10, and OVERFLOW above 1.10. The verdict alone selects the move, listed beneath: append or promote, polish up, leave untouched, polish down, drop. The Method figure is retuned under a separate figure-fill gate requiring at least ninety percent of its card on one axis. Three mechanisms damp oscillation: moves are sized by the signed pixel delta the measurement reports; the loop refuses to re-apply a move that already overshot on a section; and an on-disk round counter trips a circuit breaker that ships the best-measured state. The gate is deliberately loose at ninety percent because tightening toward ninety-eight sharply increases rounds past 0.94; a single render-time pass then stretches under-filled cards toward ninety-eight percent by growing row whitespace, without resizing figures. Figure 4 on the right shows the loop on the Latent Diffusion Models poster: the initial exploration, the loop in progress, and the completed poster, with the debug overlay colored by verdict. Next, skill three.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Skill three of five. The takeaway is that a good slide deck does not by itself make a reliable paper video, so Paper2Video focuses on five media-level requirements after the deck leaves the authoring workflow. The deck itself comes from the full ppt-master route, reference 22, which is why the paper treats slide design as a dependency rather than a claim. Figure 5 shows the flow: assets, paced narration, deck authoring, anchored visual cues, render, and the fit gate. The three root deliverables on the right are video.pptx, video.mp4, and video_no_subtitles.mp4, with everything else under assets. The table follows Section 2.3: B1, duration planned before rendering, with semantic rewrites before TTS and a bounded speech-rate plan for small residuals; B2, attention guidance, with semantic anchors, a cue resolver producing visual_cues.json, and the spotlight_laser default; B3, two caption contexts, with burned-in subtitles in one file and a clean source for the reel's own toggle; B4, addressability after export through timeline.json; and B5, deterministic media checks in check_video_package.py, whose list is on the right. Next, skill four.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Skill four of five. The takeaway is that Paper2Blog is not a bilingual summarizer: it writes the Chinese and English articles separately from one shared evidence map and then gates the Word files on facts, figures, fonts, and page layout. Figure 7 shows the flow from assets to the evidence map, the multilingual drafts, the editorial QA loop, and the two DOCX deliverables — a WeChat public-account piece and a research-blog piece that share facts, figures, numbers, claims, and links but not pacing or examples. The table follows Section 2.4: C1, one evidence base for two languages, where a missing hard fact is omitted rather than guessed; C2, register controlled during writing through language-specific outlines and a style guide, because a deterministic script cannot check register afterwards; C3, a small shared figure set placed next to the section that prepares the reader; C4, a Word article with fixed filenames, embedded media, and a Latin body font plus a Chinese fallback; and C5, layout treated as a rendered artifact, catching underfilled images, images pushed to the next page, orphan tails, and in strict mode near-blank pages. The gate line at the bottom lists the deterministic checks, which compare the two documents on concrete divergences rather than writing style. Next, skill five.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Skill five of five. The takeaway is that Paper2Reel is a presentation surface rather than a fourth generated summary: one alignment sidecar makes a poster block, a video segment, a slide thumbnail, and a blog passage into different views of the same section. Figure 9 shows the two interaction states from Section 2.5.1: hovering a poster section highlights it while neighbors fade, and double-clicking opens the section modal with video and captions on the left, a language switch in the header, and the aligned blog passage on the right. The viewer is poster-first because the poster is the most compact map of the paper; playback uses the subtitle-free source with captions from sidecars so the toggle never doubles subtitles. The alignment sidecar maps each canonical section id to its poster block, slide targets, video window, subtitle tracks, thumbnails, and blog blocks; the viewer never scrapes filenames or the video. Invoked on a PDF, an arXiv link, or a partial bundle, it completes missing stages through the full upstream workflows so section ids and paths stay consistent. The gates on the right validate the reel as an interactive artifact: a static gate over the bundle, a browser gate that serves the bundle with a range-capable local server and exercises every interaction headlessly, and a file-browser gate for opening from disk. Next, the evidence.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on the slide: on the 100-paper Paper2Poster benchmark, the Claude Code configuration is the best automated system on all three aesthetic sub-criteria — 3.56 overall against the authors' 3.03 — and best or tied-best on two of three information sub-criteria; on PaperQuiz it ranks below the denser systems. The protocol from Section 3: three families scored with the same pipeline — single-shot Claude-4.8 Opus, GPT-5.5, and Gemini-3.1 Pro with one fixed prompt; the reproduced pipelines Paper2Poster tool, P2P, and PosterGen; ResearchStudio-Reel under Claude Code with claude-opus-4.8 and under Codex with gpt-5.5 — plus the author ground truth. Two VLM judges, claude-opus-4.8 and gpt-5.5, score each poster and each cell is their mean; every poster is downscaled to at most 2560 pixels and rendered at its true content size; PaperQuiz is exact-match answer accuracy from the poster image alone. Read across the Reel Claude Code row: 3.53, 3.17, 3.99, 3.56 on the aesthetic side, 3.99, 4.03, 3.41, 3.81 on the information side, 56.79 and 92.16 on the quiz splits. Bold marks the best value per column among the systems. Below the table: the overall score, the mean of the two Overall columns, puts Claude Code first at 3.69, the single-shot models and the Codex configuration in a second tier, and the reproduced pipelines behind; per paper, Claude Code beats the authors' poster on 74 of 100 papers under the Claude judge and 95 under the GPT judge. Next, why the quiz ordering inverts.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a tension the authors state plainly: the PaperQuiz ordering is close to the reverse of the aesthetic ordering. The scatter plots aesthetic overall against PaperQuiz detail accuracy for the nine systems. P2P leads both quiz splits because its portrait canvas is packed with near-verbatim prose, at some of the lowest aesthetic scores; the Paper2Poster tool is close behind because its content is assembled from the benchmark's own question-and-answer extraction; the author posters prune to headline results and place last on both quiz splits; the single-shot models are strong on content and intermediate on aesthetics; ResearchStudio-Reel sits deliberately between the poles because the fill loop packs each column to a target density rather than to exhaustion. The bars on the right are the two controlled comparisons already present in Table 1. First, the same model with and without the loop: claude-opus-4.8 prompted once reaches 2.92 aesthetic and 2.97 Layout; wrapped in the composition step and the measured-fill loop it reaches 3.56 and 3.99 — a gain of 0.64 and more than a full Layout point, although the comparison also changes prompting, the number of calls, and the inference budget. Second, the same skill under Codex with gpt-5.5 reaches 3.27, the second-highest aesthetic score in the table, ahead of every single-shot baseline, every reproduced pipeline, and the author reference. The caution box keeps the authors' own words: the sub-criteria are scored by VLM judges that stand in for but do not equal human preference, so a higher score means the raters prefer the poster, not that human viewers would. Next, the posters themselves.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qualitative: holding the skill, prompt, and pipeline fixed, five configurations each produce a full single page that differs in figure choice, phrasing density, and accent. Figure 10 shows the author ground truth at the top left as the human reference; the other five cells are the same paper generated under Claude Code with claude-opus-4.8 at max and at high reasoning effort, with claude-opus-4.7, with claude-opus-4.6, and under Codex with gpt-5.5 at its default effort. The paper's reading is that the remaining margin between the Claude Code and Codex configurations reflects finer visual hierarchy in the Claude Code renders rather than a failure of the skill under Codex. Next, what it costs.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that a full four-artifact bundle takes about 89 minutes of summed stage time and about 2.6 million input and 276 thousand output tokens per paper, averaged over five papers on claude-opus-4-8, from Table 4. The bars are the per-skill subtotals: Paper2Assets 8.6 minutes, Paper2Poster 23.3, Paper2Video 28.5, Paper2Blog 16.7, Paper2Reel 12.1. The table names each skill's heaviest stage: extraction and figures for Paper2Assets at eighteen percent of input tokens; the fill loop for Paper2Poster at 14.8 minutes and eighteen percent of output; render and mux for Paper2Video; the QA gate and revision for Paper2Blog at seventeen percent of output; and the QA gate for Paper2Reel. The totals strip gives 675 turns, 2,568 thousand distinct input tokens, 108,546 thousand cached re-reads billed at roughly ten percent of fresh input, and 276 thousand output tokens. The notes below repeat the paper's qualifications: each skill runs as an isolated subprocess whose one-time context load folds into its first stage, running the three generators in parallel reduces elapsed time, and when the LaTeX source is available the pipeline can read original figure files instead of the PDF path. Next, who it is for.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that three application contexts drove the design and deliberately span the dissemination spectrum. Section 4.1, the author's camera-ready last mile: one Claude Code session per paper produces the editable poster, the video deck and MP4 pair, and the bilingual Word pair, navigable through one reel.html that doubles as a review surface for co-authors. Section 4.2, lab- and organization-level communication: the pipeline is wired into publication intake so every accepted paper yields draft artifacts a communications team polishes; the editable outputs make it a draft-and-revise workflow. Section 4.3, educational reuse: a course or reading group turns a reading list into paper-of-the-week briefing packs and re-runs on a corrected PDF without manual re-extraction. The audits at the bottom are Tables 2 and 3: they count which objects a video or blog system emits — visual cues, editable PPTX, duration control, narration audio; layout checks, embedded figures, editable DOCX, paper-input summarization — and document breadth of the delivery contract without measuring editing effort or the viewer's usability. The gap-to-human panel is the paper's own: a human designer adds diagrams and icons the paper does not contain, and the pipeline reuses only what appears in the paper. Next, limitations.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is that the paper gives limitations a real page, and so do we. Appendix A lists five recurring failure modes with one-sentence mitigations: L1, figure-cleanup residue, re-cropped by the decaption pass and the fresh-context verifier; L2, fill-loop non-convergence across the ninety-to-ninety-eight band, handled by the round counter, the circuit breaker, and the render-time expand; L3, slide-narration referential drift, rejected by the QA gate through the shared timeline; L4, bilingual blog drift, cross-checked by the evidence map and the DOCX gate; and L5, voice-mismatched narration, addressed by re-running with a different Edge TTS voice. The domain scope is ML, CV, and NLP venues; transfer to biomedicine, physics, or design-heavy fields is untested. Evaluation coverage is the honest limit: quantitative results exist only for the poster under two VLM judges; the video benchmark of Paper2Video is not applied; the audits do not measure human editing effort, fidelity after edits, or whether section-level navigation improves understanding; the Reader-Reconstruction Preference signal is in-loop rather than a headline metric; and a third-party human-rater study is future work. The panel below quotes Appendix B on provenance: preserve which skill, bundle checksum, theme, voice, and model produced an artifact so readers can audit the chain and disclose AI involvement. Next, the conclusion.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takeaway restates only what the evidence supports and names the two gaps the authors put ahead of broader coverage. Established: five composable skills, one Paper2Assets bundle, a native-editable PowerPoint poster and video deck plus a bilingual Word blog, bound by Paper2Reel; posters best among automated systems on all three aesthetic sub-criteria and best or tied-best on two of three information sub-criteria under two VLM judges, 3.56 against 3.03, with overall wins on 74 and 95 of 100 papers; and a delivery-contract pattern that may extend to other targets with native authoring formats, deterministic renderers, and testable package criteria, with its limits still to be studied. Open, from Section 6: first, evaluation is proxy-bound — the aesthetic rubric and PaperQuiz pull in opposite directions and neither measures whether a reader absorbs the work, so the honest next step is a controlled human reading-and-recall signal; second, the generative gap — the pipeline reuses only figures that exist in the paper and cannot produce the bespoke diagrams designers add, and faithful figure synthesis would reintroduce the hallucination risk the categorical gates suppress. The paper's closing sentence is the frame for the whole talk: keeping generated artifacts editable and connected shifts the last mile from one-way automation toward a workflow authors can inspect, navigate, and revise.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Everything on these slides is quoted from arXiv 2607.04438 version two. The three links are the paper on arXiv, the project page at aka.ms slash ResearchStudio, and the code on GitHub under microsoft slash ResearchStudio, released under the MIT license with each skill's SKILL.md as the source of truth. Figures 1 through 10 are reproduced from the paper at their extracted resolution and none is redrawn; Table 1 and Table 4 values are quoted as printed, per-judge scores are in Appendix D, and the single-shot baselines share the fixed prompt in Appendix G. The licensing notes are the paper's: extracted figures follow the source paper's license, logos follow Wikimedia Commons and Wikidata licenses, and the edge-tts client accesses Microsoft Edge's online service. This deck was built with ppt-master, the deck-authoring dependency that Paper2Video itself uses.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researchstudio_reel_pap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researchstudio_reel_pap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1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83d1f034ef9d98f.jpg"/>
  <Relationship Id="rId3" Type="http://schemas.openxmlformats.org/officeDocument/2006/relationships/image" Target="../media/image_dc63f67af763ac0a.jpg"/>
  <Relationship Id="rId4" Type="http://schemas.openxmlformats.org/officeDocument/2006/relationships/image" Target="../media/image_7443b095fc5cc6c3.jpg"/>
  <Relationship Id="rId5" Type="http://schemas.openxmlformats.org/officeDocument/2006/relationships/hyperlink" Target="https://aka.ms/ResearchStudio" TargetMode="External"/>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c36f29b34131173.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0230b2681334598.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image" Target="../media/image_a65a18ba02f3ddc3.png"/>
  <Relationship Id="rId4" Type="http://schemas.openxmlformats.org/officeDocument/2006/relationships/image" Target="../media/image_a43ca465fc1f2785.png"/>
  <Relationship Id="rId5" Type="http://schemas.openxmlformats.org/officeDocument/2006/relationships/image" Target="../media/image_6dec1d89504a8abf.png"/>
  <Relationship Id="rId6"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ba5139f4fe9ce29.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6040918dc42b15.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3cc3ef83897723.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chart" Target="../charts/chart1202.xml"/>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8193e38d63bcf12.jpg"/>
  <Relationship Id="rId3" Type="http://schemas.openxmlformats.org/officeDocument/2006/relationships/image" Target="../media/image_420f14824a8e3a84.jpg"/>
  <Relationship Id="rId4" Type="http://schemas.openxmlformats.org/officeDocument/2006/relationships/image" Target="../media/image_df79bbf70c99d5cd.jpg"/>
  <Relationship Id="rId5" Type="http://schemas.openxmlformats.org/officeDocument/2006/relationships/image" Target="../media/image_03668ca67750df65.jpg"/>
  <Relationship Id="rId6" Type="http://schemas.openxmlformats.org/officeDocument/2006/relationships/image" Target="../media/image_ae38f7bc1d86730c.jpg"/>
  <Relationship Id="rId7" Type="http://schemas.openxmlformats.org/officeDocument/2006/relationships/image" Target="../media/image_37a6e21332d06a0b.jpg"/>
  <Relationship Id="rId8"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401.xml"/>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arxiv.org/abs/2607.04438" TargetMode="External"/>
  <Relationship Id="rId3" Type="http://schemas.openxmlformats.org/officeDocument/2006/relationships/hyperlink" Target="https://aka.ms/ResearchStudio" TargetMode="External"/>
  <Relationship Id="rId4" Type="http://schemas.openxmlformats.org/officeDocument/2006/relationships/hyperlink" Target="https://github.com/microsoft/ResearchStudio" TargetMode="External"/>
  <Relationship Id="rId5"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8638" y="836295"/>
            <a:ext cx="4324824" cy="176212"/>
          </a:xfrm>
          <a:prstGeom prst="rect">
            <a:avLst/>
          </a:prstGeom>
          <a:noFill/>
          <a:ln>
            <a:noFill/>
          </a:ln>
        </p:spPr>
        <p:txBody>
          <a:bodyPr wrap="none" lIns="0" tIns="0" rIns="0" bIns="0" anchor="t" anchorCtr="0">
            <a:spAutoFit/>
          </a:bodyPr>
          <a:lstStyle/>
          <a:p>
            <a:pPr algn="l"/>
            <a:r>
              <a:rPr lang="en-US" sz="900" spc="150" dirty="0">
                <a:solidFill>
                  <a:schemeClr val="accent5"/>
                </a:solidFill>
                <a:latin typeface="+mn-lt"/>
                <a:ea typeface="+mn-ea"/>
                <a:cs typeface="+mn-cs"/>
              </a:rPr>
              <a:t>PAPER READING · arXiv:2607.04438 · v2, 19 JULY 2026</a:t>
            </a:r>
          </a:p>
        </p:txBody>
      </p:sp>
      <p:grpSp>
        <p:nvGrpSpPr>
          <p:cNvPr id="5" name="Group 5"/>
          <p:cNvGrpSpPr/>
          <p:nvPr/>
        </p:nvGrpSpPr>
        <p:grpSpPr>
          <a:xfrm>
            <a:off x="516636" y="1205865"/>
            <a:ext cx="7578250" cy="1636014"/>
            <a:chOff x="516636" y="1205865"/>
            <a:chExt cx="7578250" cy="1636014"/>
          </a:xfrm>
        </p:grpSpPr>
        <p:sp>
          <p:nvSpPr>
            <p:cNvPr id="3" name="TextBox 3"/>
            <p:cNvSpPr txBox="1"/>
            <p:nvPr/>
          </p:nvSpPr>
          <p:spPr>
            <a:xfrm>
              <a:off x="516636" y="1205865"/>
              <a:ext cx="7578250" cy="16360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accent1"/>
                  </a:solidFill>
                  <a:latin typeface="+mn-lt"/>
                  <a:ea typeface="+mn-ea"/>
                  <a:cs typeface="+mn-cs"/>
                </a:rPr>
                <a:t>ResearchStudio-Reel:</a:t>
              </a:r>
              <a:br/>
              <a:r>
                <a:rPr lang="en-US" sz="3300" b="1" dirty="0">
                  <a:solidFill>
                    <a:schemeClr val="accent1"/>
                  </a:solidFill>
                  <a:latin typeface="+mn-lt"/>
                  <a:ea typeface="+mn-ea"/>
                  <a:cs typeface="+mn-cs"/>
                </a:rPr>
                <a:t>Automate the Last Mile of Research</a:t>
              </a:r>
              <a:br/>
              <a:r>
                <a:rPr lang="en-US" sz="3300" b="1" dirty="0">
                  <a:solidFill>
                    <a:schemeClr val="accent1"/>
                  </a:solidFill>
                  <a:latin typeface="+mn-lt"/>
                  <a:ea typeface="+mn-ea"/>
                  <a:cs typeface="+mn-cs"/>
                </a:rPr>
                <a:t>from Paper to Poster, Video, and Blog</a:t>
              </a:r>
            </a:p>
          </p:txBody>
        </p:sp>
        <p:sp>
          <p:nvSpPr>
            <p:cNvPr id="4" name="Rectangle 4"/>
            <p:cNvSpPr/>
            <p:nvPr/>
          </p:nvSpPr>
          <p:spPr>
            <a:xfrm>
              <a:off x="533400" y="2781300"/>
              <a:ext cx="1524000" cy="38100"/>
            </a:xfrm>
            <a:prstGeom prst="rect">
              <a:avLst/>
            </a:prstGeom>
            <a:solidFill>
              <a:schemeClr val="accent2"/>
            </a:solidFill>
            <a:ln>
              <a:noFill/>
            </a:ln>
          </p:spPr>
        </p:sp>
      </p:grpSp>
      <p:grpSp>
        <p:nvGrpSpPr>
          <p:cNvPr id="8" name="Group 8"/>
          <p:cNvGrpSpPr/>
          <p:nvPr/>
        </p:nvGrpSpPr>
        <p:grpSpPr>
          <a:xfrm>
            <a:off x="528066" y="2953702"/>
            <a:ext cx="8972988" cy="706755"/>
            <a:chOff x="528066" y="2953702"/>
            <a:chExt cx="8972988" cy="706755"/>
          </a:xfrm>
        </p:grpSpPr>
        <p:sp>
          <p:nvSpPr>
            <p:cNvPr id="6" name="TextBox 6"/>
            <p:cNvSpPr txBox="1"/>
            <p:nvPr/>
          </p:nvSpPr>
          <p:spPr>
            <a:xfrm>
              <a:off x="528066" y="2953702"/>
              <a:ext cx="8972988" cy="376809"/>
            </a:xfrm>
            <a:prstGeom prst="rect">
              <a:avLst/>
            </a:prstGeom>
            <a:noFill/>
            <a:ln>
              <a:noFill/>
            </a:ln>
          </p:spPr>
          <p:txBody>
            <a:bodyPr wrap="none" lIns="0" tIns="0" rIns="0" bIns="0" anchor="t" anchorCtr="0">
              <a:spAutoFit/>
            </a:bodyPr>
            <a:lstStyle/>
            <a:p>
              <a:pPr algn="l">
                <a:lnSpc>
                  <a:spcPts val="1350"/>
                </a:lnSpc>
              </a:pPr>
              <a:r>
                <a:rPr lang="en-US" sz="1050" dirty="0">
                  <a:solidFill>
                    <a:schemeClr val="dk1"/>
                  </a:solidFill>
                  <a:latin typeface="+mn-lt"/>
                  <a:ea typeface="+mn-ea"/>
                  <a:cs typeface="+mn-cs"/>
                </a:rPr>
                <a:t>Hugo He, Lingao Xiao, Yalun Dai, Yangyu Huang, Qihao Zhao, Wenshan Wu, Ruishuo Chen, Jin Jiang, Qianli Ma, Jiahuan Zhang, Xin Zhang, Ying Xin,</a:t>
              </a:r>
              <a:br/>
              <a:r>
                <a:rPr lang="en-US" sz="1050" dirty="0">
                  <a:solidFill>
                    <a:schemeClr val="dk1"/>
                  </a:solidFill>
                  <a:latin typeface="+mn-lt"/>
                  <a:ea typeface="+mn-ea"/>
                  <a:cs typeface="+mn-cs"/>
                </a:rPr>
                <a:t>Yang Ou, Yan Xia, Scarlett Li, Longbo Huang, Zhipeng Zhang, Yang He, Yap Kim Hui, Yan Lu</a:t>
              </a:r>
            </a:p>
          </p:txBody>
        </p:sp>
        <p:sp>
          <p:nvSpPr>
            <p:cNvPr id="7" name="TextBox 7"/>
            <p:cNvSpPr txBox="1"/>
            <p:nvPr/>
          </p:nvSpPr>
          <p:spPr>
            <a:xfrm>
              <a:off x="528638" y="3331845"/>
              <a:ext cx="6648138"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accent5"/>
                  </a:solidFill>
                  <a:latin typeface="+mn-lt"/>
                  <a:ea typeface="+mn-ea"/>
                  <a:cs typeface="+mn-cs"/>
                </a:rPr>
                <a:t>Microsoft Research · National University of Singapore · Nanyang Technological University · Tsinghua University · Peking University</a:t>
              </a:r>
              <a:br/>
              <a:r>
                <a:rPr lang="en-US" sz="900" dirty="0">
                  <a:solidFill>
                    <a:schemeClr val="accent5"/>
                  </a:solidFill>
                  <a:latin typeface="+mn-lt"/>
                  <a:ea typeface="+mn-ea"/>
                  <a:cs typeface="+mn-cs"/>
                </a:rPr>
                <a:t>Shanghai Jiao Tong University · Westlake University · CFAR, A*STAR</a:t>
              </a:r>
            </a:p>
          </p:txBody>
        </p:sp>
      </p:grpSp>
      <p:grpSp>
        <p:nvGrpSpPr>
          <p:cNvPr id="10" name="Group 10"/>
          <p:cNvGrpSpPr/>
          <p:nvPr/>
        </p:nvGrpSpPr>
        <p:grpSpPr>
          <a:xfrm>
            <a:off x="526542" y="3702368"/>
            <a:ext cx="7789343" cy="264033"/>
            <a:chOff x="526542" y="3702368"/>
            <a:chExt cx="7789343" cy="264033"/>
          </a:xfrm>
        </p:grpSpPr>
        <p:sp>
          <p:nvSpPr>
            <p:cNvPr id="9" name="TextBox 9"/>
            <p:cNvSpPr txBox="1"/>
            <p:nvPr/>
          </p:nvSpPr>
          <p:spPr>
            <a:xfrm>
              <a:off x="526542" y="3702368"/>
              <a:ext cx="7789343"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 xml:space="preserve">One paper PDF in, </a:t>
              </a:r>
              <a:r>
                <a:rPr lang="en-US" sz="1350" b="1" dirty="0">
                  <a:solidFill>
                    <a:schemeClr val="accent2"/>
                  </a:solidFill>
                  <a:latin typeface="+mn-lt"/>
                  <a:ea typeface="+mn-ea"/>
                  <a:cs typeface="+mn-cs"/>
                </a:rPr>
                <a:t>three editor-ready artifacts</a:t>
              </a:r>
              <a:r>
                <a:rPr lang="en-US" sz="1350" dirty="0">
                  <a:solidFill>
                    <a:schemeClr val="accent1"/>
                  </a:solidFill>
                  <a:latin typeface="+mn-lt"/>
                  <a:ea typeface="+mn-ea"/>
                  <a:cs typeface="+mn-cs"/>
                </a:rPr>
                <a:t xml:space="preserve"> out, and one navigable surface that binds them.</a:t>
              </a:r>
            </a:p>
          </p:txBody>
        </p:sp>
      </p:grpSp>
      <p:grpSp>
        <p:nvGrpSpPr>
          <p:cNvPr id="14" name="Group 14"/>
          <p:cNvGrpSpPr/>
          <p:nvPr/>
        </p:nvGrpSpPr>
        <p:grpSpPr>
          <a:xfrm>
            <a:off x="528638" y="4055745"/>
            <a:ext cx="9283419" cy="176212"/>
            <a:chOff x="528638" y="4055745"/>
            <a:chExt cx="9283419" cy="176212"/>
          </a:xfrm>
        </p:grpSpPr>
        <p:sp>
          <p:nvSpPr>
            <p:cNvPr id="11" name="TextBox 11"/>
            <p:cNvSpPr txBox="1"/>
            <p:nvPr/>
          </p:nvSpPr>
          <p:spPr>
            <a:xfrm>
              <a:off x="528638" y="4055745"/>
              <a:ext cx="148457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(a) Poster — Paper2Poster</a:t>
              </a:r>
            </a:p>
          </p:txBody>
        </p:sp>
        <p:sp>
          <p:nvSpPr>
            <p:cNvPr id="12" name="TextBox 12"/>
            <p:cNvSpPr txBox="1"/>
            <p:nvPr/>
          </p:nvSpPr>
          <p:spPr>
            <a:xfrm>
              <a:off x="4186238" y="4055745"/>
              <a:ext cx="1646338"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(b) Talk video — Paper2Video</a:t>
              </a:r>
            </a:p>
          </p:txBody>
        </p:sp>
        <p:sp>
          <p:nvSpPr>
            <p:cNvPr id="13" name="TextBox 13"/>
            <p:cNvSpPr txBox="1"/>
            <p:nvPr/>
          </p:nvSpPr>
          <p:spPr>
            <a:xfrm>
              <a:off x="8072438" y="4055745"/>
              <a:ext cx="173961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(c) Bilingual blog — Paper2Blog</a:t>
              </a:r>
            </a:p>
          </p:txBody>
        </p:sp>
      </p:grpSp>
      <p:grpSp>
        <p:nvGrpSpPr>
          <p:cNvPr id="19" name="Group 19"/>
          <p:cNvGrpSpPr/>
          <p:nvPr/>
        </p:nvGrpSpPr>
        <p:grpSpPr>
          <a:xfrm>
            <a:off x="533400" y="4248150"/>
            <a:ext cx="3429000" cy="1962150"/>
            <a:chOff x="533400" y="4248150"/>
            <a:chExt cx="3429000" cy="1962150"/>
          </a:xfrm>
        </p:grpSpPr>
        <p:sp>
          <p:nvSpPr>
            <p:cNvPr id="15" name="Rectangle 15"/>
            <p:cNvSpPr/>
            <p:nvPr/>
          </p:nvSpPr>
          <p:spPr>
            <a:xfrm>
              <a:off x="533400" y="4248150"/>
              <a:ext cx="3429000" cy="1962150"/>
            </a:xfrm>
            <a:prstGeom prst="rect">
              <a:avLst/>
            </a:prstGeom>
            <a:solidFill>
              <a:schemeClr val="lt1"/>
            </a:solidFill>
            <a:ln w="7144">
              <a:solidFill>
                <a:schemeClr val="accent6"/>
              </a:solidFill>
            </a:ln>
          </p:spPr>
        </p:sp>
        <p:pic>
          <p:nvPicPr>
            <p:cNvPr id="16" name="Image 16"/>
            <p:cNvPicPr>
              <a:picLocks noChangeAspect="1"/>
            </p:cNvPicPr>
            <p:nvPr/>
          </p:nvPicPr>
          <p:blipFill>
            <a:blip r:embed="rId2"/>
            <a:stretch>
              <a:fillRect/>
            </a:stretch>
          </p:blipFill>
          <p:spPr>
            <a:xfrm>
              <a:off x="708025" y="4305300"/>
              <a:ext cx="3079750" cy="1847850"/>
            </a:xfrm>
            <a:prstGeom prst="rect">
              <a:avLst/>
            </a:prstGeom>
          </p:spPr>
        </p:pic>
        <p:sp>
          <p:nvSpPr>
            <p:cNvPr id="17" name="Rectangle 17"/>
            <p:cNvSpPr/>
            <p:nvPr/>
          </p:nvSpPr>
          <p:spPr>
            <a:xfrm>
              <a:off x="533400" y="4248150"/>
              <a:ext cx="542925" cy="152400"/>
            </a:xfrm>
            <a:prstGeom prst="rect">
              <a:avLst/>
            </a:prstGeom>
            <a:solidFill>
              <a:schemeClr val="accent1"/>
            </a:solidFill>
            <a:ln>
              <a:noFill/>
            </a:ln>
          </p:spPr>
        </p:sp>
        <p:sp>
          <p:nvSpPr>
            <p:cNvPr id="18" name="TextBox 18"/>
            <p:cNvSpPr txBox="1"/>
            <p:nvPr/>
          </p:nvSpPr>
          <p:spPr>
            <a:xfrm>
              <a:off x="566738" y="4281488"/>
              <a:ext cx="392471"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1a</a:t>
              </a:r>
            </a:p>
          </p:txBody>
        </p:sp>
      </p:grpSp>
      <p:grpSp>
        <p:nvGrpSpPr>
          <p:cNvPr id="24" name="Group 24"/>
          <p:cNvGrpSpPr/>
          <p:nvPr/>
        </p:nvGrpSpPr>
        <p:grpSpPr>
          <a:xfrm>
            <a:off x="4191000" y="4248150"/>
            <a:ext cx="3657600" cy="1962150"/>
            <a:chOff x="4191000" y="4248150"/>
            <a:chExt cx="3657600" cy="1962150"/>
          </a:xfrm>
        </p:grpSpPr>
        <p:sp>
          <p:nvSpPr>
            <p:cNvPr id="20" name="Rectangle 20"/>
            <p:cNvSpPr/>
            <p:nvPr/>
          </p:nvSpPr>
          <p:spPr>
            <a:xfrm>
              <a:off x="4191000" y="4248150"/>
              <a:ext cx="3657600" cy="1962150"/>
            </a:xfrm>
            <a:prstGeom prst="rect">
              <a:avLst/>
            </a:prstGeom>
            <a:solidFill>
              <a:schemeClr val="lt1"/>
            </a:solidFill>
            <a:ln w="7144">
              <a:solidFill>
                <a:schemeClr val="accent6"/>
              </a:solidFill>
            </a:ln>
          </p:spPr>
        </p:sp>
        <p:pic>
          <p:nvPicPr>
            <p:cNvPr id="21" name="Image 21"/>
            <p:cNvPicPr>
              <a:picLocks noChangeAspect="1"/>
            </p:cNvPicPr>
            <p:nvPr/>
          </p:nvPicPr>
          <p:blipFill>
            <a:blip r:embed="rId3"/>
            <a:stretch>
              <a:fillRect/>
            </a:stretch>
          </p:blipFill>
          <p:spPr>
            <a:xfrm>
              <a:off x="4382155" y="4305300"/>
              <a:ext cx="3275290" cy="1847850"/>
            </a:xfrm>
            <a:prstGeom prst="rect">
              <a:avLst/>
            </a:prstGeom>
          </p:spPr>
        </p:pic>
        <p:sp>
          <p:nvSpPr>
            <p:cNvPr id="22" name="Rectangle 22"/>
            <p:cNvSpPr/>
            <p:nvPr/>
          </p:nvSpPr>
          <p:spPr>
            <a:xfrm>
              <a:off x="4191000" y="4248150"/>
              <a:ext cx="542925" cy="152400"/>
            </a:xfrm>
            <a:prstGeom prst="rect">
              <a:avLst/>
            </a:prstGeom>
            <a:solidFill>
              <a:schemeClr val="accent1"/>
            </a:solidFill>
            <a:ln>
              <a:noFill/>
            </a:ln>
          </p:spPr>
        </p:sp>
        <p:sp>
          <p:nvSpPr>
            <p:cNvPr id="23" name="TextBox 23"/>
            <p:cNvSpPr txBox="1"/>
            <p:nvPr/>
          </p:nvSpPr>
          <p:spPr>
            <a:xfrm>
              <a:off x="4224338" y="4281488"/>
              <a:ext cx="398218"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1b</a:t>
              </a:r>
            </a:p>
          </p:txBody>
        </p:sp>
      </p:grpSp>
      <p:grpSp>
        <p:nvGrpSpPr>
          <p:cNvPr id="29" name="Group 29"/>
          <p:cNvGrpSpPr/>
          <p:nvPr/>
        </p:nvGrpSpPr>
        <p:grpSpPr>
          <a:xfrm>
            <a:off x="8077200" y="4248150"/>
            <a:ext cx="3581400" cy="1962150"/>
            <a:chOff x="8077200" y="4248150"/>
            <a:chExt cx="3581400" cy="1962150"/>
          </a:xfrm>
        </p:grpSpPr>
        <p:sp>
          <p:nvSpPr>
            <p:cNvPr id="25" name="Rectangle 25"/>
            <p:cNvSpPr/>
            <p:nvPr/>
          </p:nvSpPr>
          <p:spPr>
            <a:xfrm>
              <a:off x="8077200" y="4248150"/>
              <a:ext cx="3581400" cy="1962150"/>
            </a:xfrm>
            <a:prstGeom prst="rect">
              <a:avLst/>
            </a:prstGeom>
            <a:solidFill>
              <a:schemeClr val="lt1"/>
            </a:solidFill>
            <a:ln w="7144">
              <a:solidFill>
                <a:schemeClr val="accent6"/>
              </a:solidFill>
            </a:ln>
          </p:spPr>
        </p:sp>
        <p:pic>
          <p:nvPicPr>
            <p:cNvPr id="26" name="Image 26"/>
            <p:cNvPicPr>
              <a:picLocks noChangeAspect="1"/>
            </p:cNvPicPr>
            <p:nvPr/>
          </p:nvPicPr>
          <p:blipFill>
            <a:blip r:embed="rId4"/>
            <a:stretch>
              <a:fillRect/>
            </a:stretch>
          </p:blipFill>
          <p:spPr>
            <a:xfrm>
              <a:off x="9360157" y="4305300"/>
              <a:ext cx="1015485" cy="1847850"/>
            </a:xfrm>
            <a:prstGeom prst="rect">
              <a:avLst/>
            </a:prstGeom>
          </p:spPr>
        </p:pic>
        <p:sp>
          <p:nvSpPr>
            <p:cNvPr id="27" name="Rectangle 27"/>
            <p:cNvSpPr/>
            <p:nvPr/>
          </p:nvSpPr>
          <p:spPr>
            <a:xfrm>
              <a:off x="8077200" y="4248150"/>
              <a:ext cx="542925" cy="152400"/>
            </a:xfrm>
            <a:prstGeom prst="rect">
              <a:avLst/>
            </a:prstGeom>
            <a:solidFill>
              <a:schemeClr val="accent1"/>
            </a:solidFill>
            <a:ln>
              <a:noFill/>
            </a:ln>
          </p:spPr>
        </p:sp>
        <p:sp>
          <p:nvSpPr>
            <p:cNvPr id="28" name="TextBox 28"/>
            <p:cNvSpPr txBox="1"/>
            <p:nvPr/>
          </p:nvSpPr>
          <p:spPr>
            <a:xfrm>
              <a:off x="8110538" y="4281488"/>
              <a:ext cx="392471"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1c</a:t>
              </a:r>
            </a:p>
          </p:txBody>
        </p:sp>
      </p:grpSp>
      <p:grpSp>
        <p:nvGrpSpPr>
          <p:cNvPr id="32" name="Group 32"/>
          <p:cNvGrpSpPr/>
          <p:nvPr/>
        </p:nvGrpSpPr>
        <p:grpSpPr>
          <a:xfrm>
            <a:off x="528638" y="6415088"/>
            <a:ext cx="11134725" cy="147638"/>
            <a:chOff x="528638" y="6415088"/>
            <a:chExt cx="11134725" cy="147638"/>
          </a:xfrm>
        </p:grpSpPr>
        <p:sp>
          <p:nvSpPr>
            <p:cNvPr id="30" name="TextBox 30"/>
            <p:cNvSpPr txBox="1"/>
            <p:nvPr/>
          </p:nvSpPr>
          <p:spPr>
            <a:xfrm>
              <a:off x="528638" y="6415088"/>
              <a:ext cx="4708367"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 xml:space="preserve">Figure 1 of the paper: three editor-ready artifacts from one paper. Project: </a:t>
              </a:r>
              <a:r>
                <a:rPr lang="en-US" sz="750" u="sng" dirty="0">
                  <a:solidFill>
                    <a:schemeClr val="accent2"/>
                  </a:solidFill>
                  <a:latin typeface="+mn-lt"/>
                  <a:ea typeface="+mn-ea"/>
                  <a:cs typeface="+mn-cs"/>
                  <a:hlinkClick r:id="rId5"/>
                </a:rPr>
                <a:t>https://aka.ms/ResearchStudio</a:t>
              </a:r>
            </a:p>
          </p:txBody>
        </p:sp>
        <p:sp>
          <p:nvSpPr>
            <p:cNvPr id="31" name="TextBox 31"/>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par>
                          <p:cTn id="12" fill="hold">
                            <p:stCondLst>
                              <p:cond delay="14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3000"/>
                            </p:stCondLst>
                            <p:childTnLst>
                              <p:par>
                                <p:cTn xmlns:p="http://schemas.openxmlformats.org/presentationml/2006/main" id="21" presetID="22" presetClass="entr" presetSubtype="1" fill="hold" grpId="0"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4000"/>
                            </p:stCondLst>
                            <p:childTnLst>
                              <p:par>
                                <p:cTn xmlns:p="http://schemas.openxmlformats.org/presentationml/2006/main" id="25" presetID="22" presetClass="entr" presetSubtype="1" fill="hold" grpId="0" nodeType="after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wipe(up)">
                                      <p:cBhvr>
                                        <p:cTn id="27" dur="500"/>
                                        <p:tgtEl>
                                          <p:spTgt spid="24"/>
                                        </p:tgtEl>
                                      </p:cBhvr>
                                    </p:animEffect>
                                  </p:childTnLst>
                                </p:cTn>
                              </p:par>
                            </p:childTnLst>
                          </p:cTn>
                        </p:par>
                        <p:par>
                          <p:cTn id="28" fill="hold">
                            <p:stCondLst>
                              <p:cond delay="5000"/>
                            </p:stCondLst>
                            <p:childTnLst>
                              <p:par>
                                <p:cTn xmlns:p="http://schemas.openxmlformats.org/presentationml/2006/main" id="29" presetID="22" presetClass="entr" presetSubtype="1" fill="hold" grpId="0" nodeType="afterEffect">
                                  <p:stCondLst>
                                    <p:cond delay="500"/>
                                  </p:stCondLst>
                                  <p:childTnLst>
                                    <p:set>
                                      <p:cBhvr>
                                        <p:cTn id="30" dur="1" fill="hold">
                                          <p:stCondLst>
                                            <p:cond delay="0"/>
                                          </p:stCondLst>
                                        </p:cTn>
                                        <p:tgtEl>
                                          <p:spTgt spid="29"/>
                                        </p:tgtEl>
                                        <p:attrNameLst>
                                          <p:attrName>style.visibility</p:attrName>
                                        </p:attrNameLst>
                                      </p:cBhvr>
                                      <p:to>
                                        <p:strVal val="visible"/>
                                      </p:to>
                                    </p:set>
                                    <p:animEffect transition="in" filter="wipe(up)">
                                      <p:cBhvr>
                                        <p:cTn id="3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345147" y="321945"/>
            <a:ext cx="1318215"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§1 INTRODUCTION</a:t>
            </a:r>
          </a:p>
        </p:txBody>
      </p:sp>
      <p:grpSp>
        <p:nvGrpSpPr>
          <p:cNvPr id="4" name="Group 4"/>
          <p:cNvGrpSpPr/>
          <p:nvPr/>
        </p:nvGrpSpPr>
        <p:grpSpPr>
          <a:xfrm>
            <a:off x="522732" y="573405"/>
            <a:ext cx="8945118" cy="734568"/>
            <a:chOff x="522732" y="573405"/>
            <a:chExt cx="8945118" cy="734568"/>
          </a:xfrm>
        </p:grpSpPr>
        <p:sp>
          <p:nvSpPr>
            <p:cNvPr id="3" name="TextBox 3"/>
            <p:cNvSpPr txBox="1"/>
            <p:nvPr/>
          </p:nvSpPr>
          <p:spPr>
            <a:xfrm>
              <a:off x="522732" y="573405"/>
              <a:ext cx="8945118"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The last mile of research is a separate layer, prepared in the days after</a:t>
              </a:r>
              <a:br/>
              <a:r>
                <a:rPr lang="en-US" sz="2100" b="1" dirty="0">
                  <a:solidFill>
                    <a:schemeClr val="accent1"/>
                  </a:solidFill>
                  <a:latin typeface="+mn-lt"/>
                  <a:ea typeface="+mn-ea"/>
                  <a:cs typeface="+mn-cs"/>
                </a:rPr>
                <a:t>acceptance, and three gaps remain open</a:t>
              </a:r>
            </a:p>
          </p:txBody>
        </p:sp>
      </p:grpSp>
      <p:grpSp>
        <p:nvGrpSpPr>
          <p:cNvPr id="6" name="Group 6"/>
          <p:cNvGrpSpPr/>
          <p:nvPr/>
        </p:nvGrpSpPr>
        <p:grpSpPr>
          <a:xfrm>
            <a:off x="526542" y="1302068"/>
            <a:ext cx="9253430" cy="264033"/>
            <a:chOff x="526542" y="1302068"/>
            <a:chExt cx="9253430" cy="264033"/>
          </a:xfrm>
        </p:grpSpPr>
        <p:sp>
          <p:nvSpPr>
            <p:cNvPr id="5" name="TextBox 5"/>
            <p:cNvSpPr txBox="1"/>
            <p:nvPr/>
          </p:nvSpPr>
          <p:spPr>
            <a:xfrm>
              <a:off x="526542" y="1302068"/>
              <a:ext cx="925343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Poster, talk video, and blog piece each need figure selection, layout, narration, or audience-appropriate writing (§1)</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9" name="Group 9"/>
          <p:cNvGrpSpPr/>
          <p:nvPr/>
        </p:nvGrpSpPr>
        <p:grpSpPr>
          <a:xfrm>
            <a:off x="527304" y="1870710"/>
            <a:ext cx="10219578" cy="653796"/>
            <a:chOff x="527304" y="1870710"/>
            <a:chExt cx="10219578" cy="653796"/>
          </a:xfrm>
        </p:grpSpPr>
        <p:sp>
          <p:nvSpPr>
            <p:cNvPr id="8" name="TextBox 8"/>
            <p:cNvSpPr txBox="1"/>
            <p:nvPr/>
          </p:nvSpPr>
          <p:spPr>
            <a:xfrm>
              <a:off x="527304" y="1870710"/>
              <a:ext cx="10219578" cy="65379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The dissemination layer covers the poster you stand next to at a conference session, the talk video on the venue's virtual track or the lab's channel, and</a:t>
              </a:r>
              <a:br/>
              <a:r>
                <a:rPr lang="en-US" sz="1200" dirty="0">
                  <a:solidFill>
                    <a:schemeClr val="dk1"/>
                  </a:solidFill>
                  <a:latin typeface="+mn-lt"/>
                  <a:ea typeface="+mn-ea"/>
                  <a:cs typeface="+mn-cs"/>
                </a:rPr>
                <a:t>the blog piece shared through social media. Authors prepare all three in the days right after acceptance, at exactly the moment they have the least time</a:t>
              </a:r>
              <a:br/>
              <a:r>
                <a:rPr lang="en-US" sz="1200" dirty="0">
                  <a:solidFill>
                    <a:schemeClr val="dk1"/>
                  </a:solidFill>
                  <a:latin typeface="+mn-lt"/>
                  <a:ea typeface="+mn-ea"/>
                  <a:cs typeface="+mn-cs"/>
                </a:rPr>
                <a:t>to spare; labs, courses, and multilingual organizations reuse the same layer.</a:t>
              </a:r>
            </a:p>
          </p:txBody>
        </p:sp>
      </p:grpSp>
      <p:grpSp>
        <p:nvGrpSpPr>
          <p:cNvPr id="12" name="Group 12"/>
          <p:cNvGrpSpPr/>
          <p:nvPr/>
        </p:nvGrpSpPr>
        <p:grpSpPr>
          <a:xfrm>
            <a:off x="533400" y="2857500"/>
            <a:ext cx="10052639" cy="666750"/>
            <a:chOff x="533400" y="2857500"/>
            <a:chExt cx="10052639" cy="666750"/>
          </a:xfrm>
        </p:grpSpPr>
        <p:sp>
          <p:nvSpPr>
            <p:cNvPr id="10" name="Rectangle 10"/>
            <p:cNvSpPr/>
            <p:nvPr/>
          </p:nvSpPr>
          <p:spPr>
            <a:xfrm>
              <a:off x="533400" y="2857500"/>
              <a:ext cx="38100" cy="666750"/>
            </a:xfrm>
            <a:prstGeom prst="rect">
              <a:avLst/>
            </a:prstGeom>
            <a:solidFill>
              <a:schemeClr val="accent2"/>
            </a:solidFill>
            <a:ln>
              <a:noFill/>
            </a:ln>
          </p:spPr>
        </p:sp>
        <p:sp>
          <p:nvSpPr>
            <p:cNvPr id="11" name="TextBox 11"/>
            <p:cNvSpPr txBox="1"/>
            <p:nvPr/>
          </p:nvSpPr>
          <p:spPr>
            <a:xfrm>
              <a:off x="679704" y="2918460"/>
              <a:ext cx="9906335"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Paper-to-poster, paper-to-video, and paper-to-blog systems, plus the multi-artifact suites PaperX and OmniPresent, shift the question from whether</a:t>
              </a:r>
              <a:br/>
              <a:r>
                <a:rPr lang="en-US" sz="1200" dirty="0">
                  <a:solidFill>
                    <a:schemeClr val="dk1"/>
                  </a:solidFill>
                  <a:latin typeface="+mn-lt"/>
                  <a:ea typeface="+mn-ea"/>
                  <a:cs typeface="+mn-cs"/>
                </a:rPr>
                <a:t xml:space="preserve">several formats can be generated to </a:t>
              </a:r>
              <a:r>
                <a:rPr lang="en-US" sz="1200" b="1" dirty="0">
                  <a:solidFill>
                    <a:schemeClr val="accent1"/>
                  </a:solidFill>
                  <a:latin typeface="+mn-lt"/>
                  <a:ea typeface="+mn-ea"/>
                  <a:cs typeface="+mn-cs"/>
                </a:rPr>
                <a:t>whether the artifacts remain native-editable and navigable</a:t>
              </a:r>
              <a:r>
                <a:rPr lang="en-US" sz="1200" dirty="0">
                  <a:solidFill>
                    <a:schemeClr val="dk1"/>
                  </a:solidFill>
                  <a:latin typeface="+mn-lt"/>
                  <a:ea typeface="+mn-ea"/>
                  <a:cs typeface="+mn-cs"/>
                </a:rPr>
                <a:t>.</a:t>
              </a:r>
            </a:p>
          </p:txBody>
        </p:sp>
      </p:grpSp>
      <p:grpSp>
        <p:nvGrpSpPr>
          <p:cNvPr id="17" name="Group 17"/>
          <p:cNvGrpSpPr/>
          <p:nvPr/>
        </p:nvGrpSpPr>
        <p:grpSpPr>
          <a:xfrm>
            <a:off x="527304" y="3638550"/>
            <a:ext cx="3511296" cy="1286256"/>
            <a:chOff x="527304" y="3638550"/>
            <a:chExt cx="3511296" cy="1286256"/>
          </a:xfrm>
        </p:grpSpPr>
        <p:sp>
          <p:nvSpPr>
            <p:cNvPr id="13" name="Rectangle 13"/>
            <p:cNvSpPr/>
            <p:nvPr/>
          </p:nvSpPr>
          <p:spPr>
            <a:xfrm>
              <a:off x="533400" y="3638550"/>
              <a:ext cx="3505200" cy="19050"/>
            </a:xfrm>
            <a:prstGeom prst="rect">
              <a:avLst/>
            </a:prstGeom>
            <a:solidFill>
              <a:schemeClr val="accent1"/>
            </a:solidFill>
            <a:ln>
              <a:noFill/>
            </a:ln>
          </p:spPr>
        </p:sp>
        <p:sp>
          <p:nvSpPr>
            <p:cNvPr id="14" name="TextBox 14"/>
            <p:cNvSpPr txBox="1"/>
            <p:nvPr/>
          </p:nvSpPr>
          <p:spPr>
            <a:xfrm>
              <a:off x="528638" y="3827145"/>
              <a:ext cx="201634"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G1</a:t>
              </a:r>
            </a:p>
          </p:txBody>
        </p:sp>
        <p:sp>
          <p:nvSpPr>
            <p:cNvPr id="15" name="TextBox 15"/>
            <p:cNvSpPr txBox="1"/>
            <p:nvPr/>
          </p:nvSpPr>
          <p:spPr>
            <a:xfrm>
              <a:off x="850392" y="3778568"/>
              <a:ext cx="158448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Shared grounding</a:t>
              </a:r>
            </a:p>
          </p:txBody>
        </p:sp>
        <p:sp>
          <p:nvSpPr>
            <p:cNvPr id="16" name="TextBox 16"/>
            <p:cNvSpPr txBox="1"/>
            <p:nvPr/>
          </p:nvSpPr>
          <p:spPr>
            <a:xfrm>
              <a:off x="527304" y="4061460"/>
              <a:ext cx="3112343" cy="8633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Combining artifact-specific systems repeats</a:t>
              </a:r>
              <a:br/>
              <a:r>
                <a:rPr lang="en-US" sz="1200" dirty="0">
                  <a:solidFill>
                    <a:schemeClr val="dk1"/>
                  </a:solidFill>
                  <a:latin typeface="+mn-lt"/>
                  <a:ea typeface="+mn-ea"/>
                  <a:cs typeface="+mn-cs"/>
                </a:rPr>
                <a:t>figure, caption, and metadata extraction, and</a:t>
              </a:r>
              <a:br/>
              <a:r>
                <a:rPr lang="en-US" sz="1200" dirty="0">
                  <a:solidFill>
                    <a:schemeClr val="dk1"/>
                  </a:solidFill>
                  <a:latin typeface="+mn-lt"/>
                  <a:ea typeface="+mn-ea"/>
                  <a:cs typeface="+mn-cs"/>
                </a:rPr>
                <a:t>leaves cross-artifact references for the user to</a:t>
              </a:r>
              <a:br/>
              <a:r>
                <a:rPr lang="en-US" sz="1200" dirty="0">
                  <a:solidFill>
                    <a:schemeClr val="dk1"/>
                  </a:solidFill>
                  <a:latin typeface="+mn-lt"/>
                  <a:ea typeface="+mn-ea"/>
                  <a:cs typeface="+mn-cs"/>
                </a:rPr>
                <a:t>reconcile.</a:t>
              </a:r>
            </a:p>
          </p:txBody>
        </p:sp>
      </p:grpSp>
      <p:grpSp>
        <p:nvGrpSpPr>
          <p:cNvPr id="22" name="Group 22"/>
          <p:cNvGrpSpPr/>
          <p:nvPr/>
        </p:nvGrpSpPr>
        <p:grpSpPr>
          <a:xfrm>
            <a:off x="4337304" y="3638550"/>
            <a:ext cx="3511296" cy="1076706"/>
            <a:chOff x="4337304" y="3638550"/>
            <a:chExt cx="3511296" cy="1076706"/>
          </a:xfrm>
        </p:grpSpPr>
        <p:sp>
          <p:nvSpPr>
            <p:cNvPr id="18" name="Rectangle 18"/>
            <p:cNvSpPr/>
            <p:nvPr/>
          </p:nvSpPr>
          <p:spPr>
            <a:xfrm>
              <a:off x="4343400" y="3638550"/>
              <a:ext cx="3505200" cy="19050"/>
            </a:xfrm>
            <a:prstGeom prst="rect">
              <a:avLst/>
            </a:prstGeom>
            <a:solidFill>
              <a:schemeClr val="accent1"/>
            </a:solidFill>
            <a:ln>
              <a:noFill/>
            </a:ln>
          </p:spPr>
        </p:sp>
        <p:sp>
          <p:nvSpPr>
            <p:cNvPr id="19" name="TextBox 19"/>
            <p:cNvSpPr txBox="1"/>
            <p:nvPr/>
          </p:nvSpPr>
          <p:spPr>
            <a:xfrm>
              <a:off x="4338638" y="3827145"/>
              <a:ext cx="201634"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G2</a:t>
              </a:r>
            </a:p>
          </p:txBody>
        </p:sp>
        <p:sp>
          <p:nvSpPr>
            <p:cNvPr id="20" name="TextBox 20"/>
            <p:cNvSpPr txBox="1"/>
            <p:nvPr/>
          </p:nvSpPr>
          <p:spPr>
            <a:xfrm>
              <a:off x="4660392" y="3778568"/>
              <a:ext cx="146275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Native editability</a:t>
              </a:r>
            </a:p>
          </p:txBody>
        </p:sp>
        <p:sp>
          <p:nvSpPr>
            <p:cNvPr id="21" name="TextBox 21"/>
            <p:cNvSpPr txBox="1"/>
            <p:nvPr/>
          </p:nvSpPr>
          <p:spPr>
            <a:xfrm>
              <a:off x="4337304" y="4061460"/>
              <a:ext cx="3112526" cy="65379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A multi-format suite does not by itself give</a:t>
              </a:r>
              <a:br/>
              <a:r>
                <a:rPr lang="en-US" sz="1200" dirty="0">
                  <a:solidFill>
                    <a:schemeClr val="dk1"/>
                  </a:solidFill>
                  <a:latin typeface="+mn-lt"/>
                  <a:ea typeface="+mn-ea"/>
                  <a:cs typeface="+mn-cs"/>
                </a:rPr>
                <a:t>native-editable source files for every artifact in</a:t>
              </a:r>
              <a:br/>
              <a:r>
                <a:rPr lang="en-US" sz="1200" dirty="0">
                  <a:solidFill>
                    <a:schemeClr val="dk1"/>
                  </a:solidFill>
                  <a:latin typeface="+mn-lt"/>
                  <a:ea typeface="+mn-ea"/>
                  <a:cs typeface="+mn-cs"/>
                </a:rPr>
                <a:t>the author's PowerPoint and Word workflow.</a:t>
              </a:r>
            </a:p>
          </p:txBody>
        </p:sp>
      </p:grpSp>
      <p:grpSp>
        <p:nvGrpSpPr>
          <p:cNvPr id="27" name="Group 27"/>
          <p:cNvGrpSpPr/>
          <p:nvPr/>
        </p:nvGrpSpPr>
        <p:grpSpPr>
          <a:xfrm>
            <a:off x="8147304" y="3638550"/>
            <a:ext cx="3511296" cy="1286256"/>
            <a:chOff x="8147304" y="3638550"/>
            <a:chExt cx="3511296" cy="1286256"/>
          </a:xfrm>
        </p:grpSpPr>
        <p:sp>
          <p:nvSpPr>
            <p:cNvPr id="23" name="Rectangle 23"/>
            <p:cNvSpPr/>
            <p:nvPr/>
          </p:nvSpPr>
          <p:spPr>
            <a:xfrm>
              <a:off x="8153400" y="3638550"/>
              <a:ext cx="3505200" cy="19050"/>
            </a:xfrm>
            <a:prstGeom prst="rect">
              <a:avLst/>
            </a:prstGeom>
            <a:solidFill>
              <a:schemeClr val="accent1"/>
            </a:solidFill>
            <a:ln>
              <a:noFill/>
            </a:ln>
          </p:spPr>
        </p:sp>
        <p:sp>
          <p:nvSpPr>
            <p:cNvPr id="24" name="TextBox 24"/>
            <p:cNvSpPr txBox="1"/>
            <p:nvPr/>
          </p:nvSpPr>
          <p:spPr>
            <a:xfrm>
              <a:off x="8148638" y="3827145"/>
              <a:ext cx="201634"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G3</a:t>
              </a:r>
            </a:p>
          </p:txBody>
        </p:sp>
        <p:sp>
          <p:nvSpPr>
            <p:cNvPr id="25" name="TextBox 25"/>
            <p:cNvSpPr txBox="1"/>
            <p:nvPr/>
          </p:nvSpPr>
          <p:spPr>
            <a:xfrm>
              <a:off x="8470392" y="3778568"/>
              <a:ext cx="262571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Experience-level convergence</a:t>
              </a:r>
            </a:p>
          </p:txBody>
        </p:sp>
        <p:sp>
          <p:nvSpPr>
            <p:cNvPr id="26" name="TextBox 26"/>
            <p:cNvSpPr txBox="1"/>
            <p:nvPr/>
          </p:nvSpPr>
          <p:spPr>
            <a:xfrm>
              <a:off x="8147304" y="4061460"/>
              <a:ext cx="3197687" cy="8633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Parallel or consistently rendered outputs do not</a:t>
              </a:r>
              <a:br/>
              <a:r>
                <a:rPr lang="en-US" sz="1200" dirty="0">
                  <a:solidFill>
                    <a:schemeClr val="dk1"/>
                  </a:solidFill>
                  <a:latin typeface="+mn-lt"/>
                  <a:ea typeface="+mn-ea"/>
                  <a:cs typeface="+mn-cs"/>
                </a:rPr>
                <a:t>bind poster regions, video segments, and blog</a:t>
              </a:r>
              <a:br/>
              <a:r>
                <a:rPr lang="en-US" sz="1200" dirty="0">
                  <a:solidFill>
                    <a:schemeClr val="dk1"/>
                  </a:solidFill>
                  <a:latin typeface="+mn-lt"/>
                  <a:ea typeface="+mn-ea"/>
                  <a:cs typeface="+mn-cs"/>
                </a:rPr>
                <a:t>passages into one interactive surface for</a:t>
              </a:r>
              <a:br/>
              <a:r>
                <a:rPr lang="en-US" sz="1200" dirty="0">
                  <a:solidFill>
                    <a:schemeClr val="dk1"/>
                  </a:solidFill>
                  <a:latin typeface="+mn-lt"/>
                  <a:ea typeface="+mn-ea"/>
                  <a:cs typeface="+mn-cs"/>
                </a:rPr>
                <a:t>revision and reuse.</a:t>
              </a:r>
            </a:p>
          </p:txBody>
        </p:sp>
      </p:grpSp>
      <p:grpSp>
        <p:nvGrpSpPr>
          <p:cNvPr id="30" name="Group 30"/>
          <p:cNvGrpSpPr/>
          <p:nvPr/>
        </p:nvGrpSpPr>
        <p:grpSpPr>
          <a:xfrm>
            <a:off x="528638" y="5427345"/>
            <a:ext cx="11129962" cy="182880"/>
            <a:chOff x="528638" y="5427345"/>
            <a:chExt cx="11129962" cy="182880"/>
          </a:xfrm>
        </p:grpSpPr>
        <p:sp>
          <p:nvSpPr>
            <p:cNvPr id="28" name="TextBox 28"/>
            <p:cNvSpPr txBox="1"/>
            <p:nvPr/>
          </p:nvSpPr>
          <p:spPr>
            <a:xfrm>
              <a:off x="528638" y="5427345"/>
              <a:ext cx="3217273"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WHO ELSE THE LAST MILE SERVES (§1)</a:t>
              </a:r>
            </a:p>
          </p:txBody>
        </p:sp>
        <p:sp>
          <p:nvSpPr>
            <p:cNvPr id="29" name="Line 29"/>
            <p:cNvSpPr/>
            <p:nvPr/>
          </p:nvSpPr>
          <p:spPr>
            <a:xfrm>
              <a:off x="533400" y="5600700"/>
              <a:ext cx="11125200" cy="9525"/>
            </a:xfrm>
            <a:custGeom>
              <a:avLst/>
              <a:gdLst/>
              <a:ahLst/>
              <a:cxnLst/>
              <a:rect l="l" t="t" r="r" b="b"/>
              <a:pathLst>
                <a:path w="11125200" h="9525">
                  <a:moveTo>
                    <a:pt x="0" y="0"/>
                  </a:moveTo>
                  <a:lnTo>
                    <a:pt x="11125200" y="0"/>
                  </a:lnTo>
                </a:path>
              </a:pathLst>
            </a:custGeom>
            <a:noFill/>
            <a:ln w="9525">
              <a:solidFill>
                <a:schemeClr val="accent1"/>
              </a:solidFill>
            </a:ln>
          </p:spPr>
        </p:sp>
      </p:grpSp>
      <p:grpSp>
        <p:nvGrpSpPr>
          <p:cNvPr id="34" name="Group 34"/>
          <p:cNvGrpSpPr/>
          <p:nvPr/>
        </p:nvGrpSpPr>
        <p:grpSpPr>
          <a:xfrm>
            <a:off x="533400" y="5695950"/>
            <a:ext cx="3505200" cy="647700"/>
            <a:chOff x="533400" y="5695950"/>
            <a:chExt cx="3505200" cy="647700"/>
          </a:xfrm>
        </p:grpSpPr>
        <p:sp>
          <p:nvSpPr>
            <p:cNvPr id="31" name="Rectangle 31"/>
            <p:cNvSpPr/>
            <p:nvPr/>
          </p:nvSpPr>
          <p:spPr>
            <a:xfrm>
              <a:off x="533400" y="5695950"/>
              <a:ext cx="3505200" cy="647700"/>
            </a:xfrm>
            <a:prstGeom prst="rect">
              <a:avLst/>
            </a:prstGeom>
            <a:solidFill>
              <a:schemeClr val="lt2"/>
            </a:solidFill>
            <a:ln>
              <a:noFill/>
            </a:ln>
          </p:spPr>
        </p:sp>
        <p:sp>
          <p:nvSpPr>
            <p:cNvPr id="32" name="TextBox 32"/>
            <p:cNvSpPr txBox="1"/>
            <p:nvPr/>
          </p:nvSpPr>
          <p:spPr>
            <a:xfrm>
              <a:off x="642747" y="5800249"/>
              <a:ext cx="1707686"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The accepted-paper author</a:t>
              </a:r>
            </a:p>
          </p:txBody>
        </p:sp>
        <p:sp>
          <p:nvSpPr>
            <p:cNvPr id="33" name="TextBox 33"/>
            <p:cNvSpPr txBox="1"/>
            <p:nvPr/>
          </p:nvSpPr>
          <p:spPr>
            <a:xfrm>
              <a:off x="642938" y="5998845"/>
              <a:ext cx="3205742"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the poster, talk video, and blog piece prepared in the days after</a:t>
              </a:r>
              <a:br/>
              <a:r>
                <a:rPr lang="en-US" sz="900" dirty="0">
                  <a:solidFill>
                    <a:schemeClr val="dk1"/>
                  </a:solidFill>
                  <a:latin typeface="+mn-lt"/>
                  <a:ea typeface="+mn-ea"/>
                  <a:cs typeface="+mn-cs"/>
                </a:rPr>
                <a:t>acceptance, right after the camera-ready</a:t>
              </a:r>
            </a:p>
          </p:txBody>
        </p:sp>
      </p:grpSp>
      <p:grpSp>
        <p:nvGrpSpPr>
          <p:cNvPr id="38" name="Group 38"/>
          <p:cNvGrpSpPr/>
          <p:nvPr/>
        </p:nvGrpSpPr>
        <p:grpSpPr>
          <a:xfrm>
            <a:off x="4343400" y="5695950"/>
            <a:ext cx="3505200" cy="647700"/>
            <a:chOff x="4343400" y="5695950"/>
            <a:chExt cx="3505200" cy="647700"/>
          </a:xfrm>
        </p:grpSpPr>
        <p:sp>
          <p:nvSpPr>
            <p:cNvPr id="35" name="Rectangle 35"/>
            <p:cNvSpPr/>
            <p:nvPr/>
          </p:nvSpPr>
          <p:spPr>
            <a:xfrm>
              <a:off x="4343400" y="5695950"/>
              <a:ext cx="3505200" cy="647700"/>
            </a:xfrm>
            <a:prstGeom prst="rect">
              <a:avLst/>
            </a:prstGeom>
            <a:solidFill>
              <a:schemeClr val="lt2"/>
            </a:solidFill>
            <a:ln>
              <a:noFill/>
            </a:ln>
          </p:spPr>
        </p:sp>
        <p:sp>
          <p:nvSpPr>
            <p:cNvPr id="36" name="TextBox 36"/>
            <p:cNvSpPr txBox="1"/>
            <p:nvPr/>
          </p:nvSpPr>
          <p:spPr>
            <a:xfrm>
              <a:off x="4452747" y="5800249"/>
              <a:ext cx="1634202"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An industrial research lab</a:t>
              </a:r>
            </a:p>
          </p:txBody>
        </p:sp>
        <p:sp>
          <p:nvSpPr>
            <p:cNvPr id="37" name="TextBox 37"/>
            <p:cNvSpPr txBox="1"/>
            <p:nvPr/>
          </p:nvSpPr>
          <p:spPr>
            <a:xfrm>
              <a:off x="4452938" y="5998845"/>
              <a:ext cx="2836827"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public-facing communications for every accepted paper,</a:t>
              </a:r>
              <a:br/>
              <a:r>
                <a:rPr lang="en-US" sz="900" dirty="0">
                  <a:solidFill>
                    <a:schemeClr val="dk1"/>
                  </a:solidFill>
                  <a:latin typeface="+mn-lt"/>
                  <a:ea typeface="+mn-ea"/>
                  <a:cs typeface="+mn-cs"/>
                </a:rPr>
                <a:t>polished by a communications team</a:t>
              </a:r>
            </a:p>
          </p:txBody>
        </p:sp>
      </p:grpSp>
      <p:grpSp>
        <p:nvGrpSpPr>
          <p:cNvPr id="42" name="Group 42"/>
          <p:cNvGrpSpPr/>
          <p:nvPr/>
        </p:nvGrpSpPr>
        <p:grpSpPr>
          <a:xfrm>
            <a:off x="8153400" y="5695950"/>
            <a:ext cx="3505200" cy="647700"/>
            <a:chOff x="8153400" y="5695950"/>
            <a:chExt cx="3505200" cy="647700"/>
          </a:xfrm>
        </p:grpSpPr>
        <p:sp>
          <p:nvSpPr>
            <p:cNvPr id="39" name="Rectangle 39"/>
            <p:cNvSpPr/>
            <p:nvPr/>
          </p:nvSpPr>
          <p:spPr>
            <a:xfrm>
              <a:off x="8153400" y="5695950"/>
              <a:ext cx="3505200" cy="647700"/>
            </a:xfrm>
            <a:prstGeom prst="rect">
              <a:avLst/>
            </a:prstGeom>
            <a:solidFill>
              <a:schemeClr val="lt2"/>
            </a:solidFill>
            <a:ln>
              <a:noFill/>
            </a:ln>
          </p:spPr>
        </p:sp>
        <p:sp>
          <p:nvSpPr>
            <p:cNvPr id="40" name="TextBox 40"/>
            <p:cNvSpPr txBox="1"/>
            <p:nvPr/>
          </p:nvSpPr>
          <p:spPr>
            <a:xfrm>
              <a:off x="8262747" y="5800249"/>
              <a:ext cx="2344748"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A course or multilingual organization</a:t>
              </a:r>
            </a:p>
          </p:txBody>
        </p:sp>
        <p:sp>
          <p:nvSpPr>
            <p:cNvPr id="41" name="TextBox 41"/>
            <p:cNvSpPr txBox="1"/>
            <p:nvPr/>
          </p:nvSpPr>
          <p:spPr>
            <a:xfrm>
              <a:off x="8262938" y="5998845"/>
              <a:ext cx="2680887"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 graduate course's paper-of-the-week briefing pack;</a:t>
              </a:r>
              <a:br/>
              <a:r>
                <a:rPr lang="en-US" sz="900" dirty="0">
                  <a:solidFill>
                    <a:schemeClr val="dk1"/>
                  </a:solidFill>
                  <a:latin typeface="+mn-lt"/>
                  <a:ea typeface="+mn-ea"/>
                  <a:cs typeface="+mn-cs"/>
                </a:rPr>
                <a:t>cross-region outreach in more than one language</a:t>
              </a:r>
            </a:p>
          </p:txBody>
        </p:sp>
      </p:grpSp>
      <p:grpSp>
        <p:nvGrpSpPr>
          <p:cNvPr id="45" name="Group 45"/>
          <p:cNvGrpSpPr/>
          <p:nvPr/>
        </p:nvGrpSpPr>
        <p:grpSpPr>
          <a:xfrm>
            <a:off x="528638" y="6415088"/>
            <a:ext cx="11134725" cy="147638"/>
            <a:chOff x="528638" y="6415088"/>
            <a:chExt cx="11134725" cy="147638"/>
          </a:xfrm>
        </p:grpSpPr>
        <p:sp>
          <p:nvSpPr>
            <p:cNvPr id="43" name="TextBox 43"/>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44" name="TextBox 44"/>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childTnLst>
                          </p:cTn>
                        </p:par>
                        <p:par>
                          <p:cTn id="28" fill="hold">
                            <p:stCondLst>
                              <p:cond delay="48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206207" y="321945"/>
            <a:ext cx="1457156"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§5 RELATED WORKS</a:t>
            </a:r>
          </a:p>
        </p:txBody>
      </p:sp>
      <p:grpSp>
        <p:nvGrpSpPr>
          <p:cNvPr id="4" name="Group 4"/>
          <p:cNvGrpSpPr/>
          <p:nvPr/>
        </p:nvGrpSpPr>
        <p:grpSpPr>
          <a:xfrm>
            <a:off x="522732" y="573405"/>
            <a:ext cx="9875261" cy="734568"/>
            <a:chOff x="522732" y="573405"/>
            <a:chExt cx="9875261" cy="734568"/>
          </a:xfrm>
        </p:grpSpPr>
        <p:sp>
          <p:nvSpPr>
            <p:cNvPr id="3" name="TextBox 3"/>
            <p:cNvSpPr txBox="1"/>
            <p:nvPr/>
          </p:nvSpPr>
          <p:spPr>
            <a:xfrm>
              <a:off x="522732" y="573405"/>
              <a:ext cx="9875261"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Prior work is organized by output type; contracts differ in editability, and VLM</a:t>
              </a:r>
              <a:br/>
              <a:r>
                <a:rPr lang="en-US" sz="2100" b="1" dirty="0">
                  <a:solidFill>
                    <a:schemeClr val="accent1"/>
                  </a:solidFill>
                  <a:latin typeface="+mn-lt"/>
                  <a:ea typeface="+mn-ea"/>
                  <a:cs typeface="+mn-cs"/>
                </a:rPr>
                <a:t>scores are mostly used for evaluation, not as release gates</a:t>
              </a:r>
            </a:p>
          </p:txBody>
        </p:sp>
      </p:grpSp>
      <p:grpSp>
        <p:nvGrpSpPr>
          <p:cNvPr id="6" name="!!claim-carry"/>
          <p:cNvGrpSpPr/>
          <p:nvPr/>
        </p:nvGrpSpPr>
        <p:grpSpPr>
          <a:xfrm>
            <a:off x="526542" y="1302068"/>
            <a:ext cx="8253609" cy="264033"/>
            <a:chOff x="526542" y="1302068"/>
            <a:chExt cx="8253609" cy="264033"/>
          </a:xfrm>
        </p:grpSpPr>
        <p:sp>
          <p:nvSpPr>
            <p:cNvPr id="5" name="TextBox 5"/>
            <p:cNvSpPr txBox="1"/>
            <p:nvPr/>
          </p:nvSpPr>
          <p:spPr>
            <a:xfrm>
              <a:off x="526542" y="1302068"/>
              <a:ext cx="82536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Representative systems per output type, what they emit, and the contract each leaves open (§5.1–5.5)</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aphicFrame>
        <p:nvGraphicFramePr>
          <p:cNvPr id="8" name="related-systems"/>
          <p:cNvGraphicFramePr>
            <a:graphicFrameLocks noGrp="1"/>
          </p:cNvGraphicFramePr>
          <p:nvPr/>
        </p:nvGraphicFramePr>
        <p:xfrm>
          <a:off x="533400" y="1866900"/>
          <a:ext cx="11125200" cy="2819400"/>
        </p:xfrm>
        <a:graphic>
          <a:graphicData uri="http://schemas.openxmlformats.org/drawingml/2006/table">
            <a:tbl>
              <a:tblPr firstRow="1" bandRow="0">
                <a:tableStyleId>{5C22544A-7EE6-4342-B048-85BDC9FD1C3A}</a:tableStyleId>
              </a:tblPr>
              <a:tblGrid>
                <a:gridCol w="1428751"/>
                <a:gridCol w="4952999"/>
                <a:gridCol w="2190750"/>
                <a:gridCol w="2552700"/>
              </a:tblGrid>
              <a:tr h="285750">
                <a:tc>
                  <a:txBody>
                    <a:bodyPr/>
                    <a:lstStyle/>
                    <a:p>
                      <a:pPr/>
                      <a:r>
                        <a:rPr lang="en-US" sz="900" b="1">
                          <a:solidFill>
                            <a:schemeClr val="accent1"/>
                          </a:solidFill>
                          <a:latin typeface="Arial"/>
                          <a:ea typeface="Microsoft YaHei"/>
                          <a:cs typeface="Arial"/>
                        </a:rPr>
                        <a:t>Output type</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Representative systems</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Output contract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What remains open</a:t>
                      </a:r>
                    </a:p>
                  </a:txBody>
                  <a:tcPr anchor="ctr" marL="76200" marR="76200" marT="19050" marB="19050">
                    <a:lnL>
                      <a:noFill/>
                    </a:lnL>
                    <a:lnR>
                      <a:noFill/>
                    </a:lnR>
                    <a:lnT>
                      <a:noFill/>
                    </a:lnT>
                    <a:lnB w="9525">
                      <a:solidFill>
                        <a:schemeClr val="accent1"/>
                      </a:solidFill>
                      <a:prstDash val="solid"/>
                    </a:lnB>
                    <a:solidFill>
                      <a:schemeClr val="lt2"/>
                    </a:solidFill>
                  </a:tcPr>
                </a:tc>
              </a:tr>
              <a:tr h="704850">
                <a:tc>
                  <a:txBody>
                    <a:bodyPr/>
                    <a:lstStyle/>
                    <a:p>
                      <a:pPr/>
                      <a:r>
                        <a:rPr lang="en-US" sz="900" b="1">
                          <a:solidFill>
                            <a:schemeClr val="dk1"/>
                          </a:solidFill>
                          <a:latin typeface="Arial"/>
                          <a:ea typeface="Microsoft YaHei"/>
                          <a:cs typeface="Arial"/>
                        </a:rPr>
                        <a:t>Paper-to-poster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Paper2Poster (PosterAgent, benchmark, PaperQuiz) [1]; PosterGen (specialized</a:t>
                      </a:r>
                    </a:p>
                    <a:p>
                      <a:pPr algn="l"/>
                      <a:r>
                        <a:rPr lang="en-US" sz="900" b="0">
                          <a:solidFill>
                            <a:schemeClr val="dk1"/>
                          </a:solidFill>
                          <a:latin typeface="Arial"/>
                          <a:ea typeface="Microsoft YaHei"/>
                          <a:cs typeface="Arial"/>
                        </a:rPr>
                        <a:t>agents incl. color and typography) [2]; P2P (HTML poster, fine-grained benchmark) [3];</a:t>
                      </a:r>
                    </a:p>
                    <a:p>
                      <a:pPr algn="l"/>
                      <a:r>
                        <a:rPr lang="en-US" sz="900" b="0">
                          <a:solidFill>
                            <a:schemeClr val="dk1"/>
                          </a:solidFill>
                          <a:latin typeface="Arial"/>
                          <a:ea typeface="Microsoft YaHei"/>
                          <a:cs typeface="Arial"/>
                        </a:rPr>
                        <a:t>PosterForest [28]; EfficientPosterGen [29]; APEX (edits PPTX) [30]; SciPostLayout /</a:t>
                      </a:r>
                    </a:p>
                    <a:p>
                      <a:pPr algn="l"/>
                      <a:r>
                        <a:rPr lang="en-US" sz="900" b="0">
                          <a:solidFill>
                            <a:schemeClr val="dk1"/>
                          </a:solidFill>
                          <a:latin typeface="Arial"/>
                          <a:ea typeface="Microsoft YaHei"/>
                          <a:cs typeface="Arial"/>
                        </a:rPr>
                        <a:t>SciPostGen [31, 32]; Any2Poster [33]; PosterHarness [34]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Paper2Poster and PosterGen emit</a:t>
                      </a:r>
                    </a:p>
                    <a:p>
                      <a:pPr algn="l"/>
                      <a:r>
                        <a:rPr lang="en-US" sz="900" b="0">
                          <a:solidFill>
                            <a:schemeClr val="dk1"/>
                          </a:solidFill>
                          <a:latin typeface="Arial"/>
                          <a:ea typeface="Microsoft YaHei"/>
                          <a:cs typeface="Arial"/>
                        </a:rPr>
                        <a:t>PPTX; APEX edits PPTX; P2P</a:t>
                      </a:r>
                    </a:p>
                    <a:p>
                      <a:pPr algn="l"/>
                      <a:r>
                        <a:rPr lang="en-US" sz="900" b="0">
                          <a:solidFill>
                            <a:schemeClr val="dk1"/>
                          </a:solidFill>
                          <a:latin typeface="Arial"/>
                          <a:ea typeface="Microsoft YaHei"/>
                          <a:cs typeface="Arial"/>
                        </a:rPr>
                        <a:t>renders HTML</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accent1"/>
                          </a:solidFill>
                          <a:latin typeface="Arial"/>
                          <a:ea typeface="Microsoft YaHei"/>
                          <a:cs typeface="Arial"/>
                        </a:rPr>
                        <a:t>VLM scores serve evaluation rather than</a:t>
                      </a:r>
                    </a:p>
                    <a:p>
                      <a:pPr algn="l"/>
                      <a:r>
                        <a:rPr lang="en-US" sz="900" b="0">
                          <a:solidFill>
                            <a:schemeClr val="accent1"/>
                          </a:solidFill>
                          <a:latin typeface="Arial"/>
                          <a:ea typeface="Microsoft YaHei"/>
                          <a:cs typeface="Arial"/>
                        </a:rPr>
                        <a:t>runtime release gates; no shared upstream</a:t>
                      </a:r>
                    </a:p>
                    <a:p>
                      <a:pPr algn="l"/>
                      <a:r>
                        <a:rPr lang="en-US" sz="900" b="0">
                          <a:solidFill>
                            <a:schemeClr val="accent1"/>
                          </a:solidFill>
                          <a:latin typeface="Arial"/>
                          <a:ea typeface="Microsoft YaHei"/>
                          <a:cs typeface="Arial"/>
                        </a:rPr>
                        <a:t>asset bundle across artifacts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704850">
                <a:tc>
                  <a:txBody>
                    <a:bodyPr/>
                    <a:lstStyle/>
                    <a:p>
                      <a:pPr/>
                      <a:r>
                        <a:rPr lang="en-US" sz="900" b="1">
                          <a:solidFill>
                            <a:schemeClr val="dk1"/>
                          </a:solidFill>
                          <a:latin typeface="Arial"/>
                          <a:ea typeface="Microsoft YaHei"/>
                          <a:cs typeface="Arial"/>
                        </a:rPr>
                        <a:t>Slides and video</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PPSGen [37] → D2S [38] → DOC2PPT [39] → SlideSpawn [40] → PPTAgent [41],</a:t>
                      </a:r>
                    </a:p>
                    <a:p>
                      <a:pPr algn="l"/>
                      <a:r>
                        <a:rPr lang="en-US" sz="900" b="0">
                          <a:solidFill>
                            <a:schemeClr val="dk1"/>
                          </a:solidFill>
                          <a:latin typeface="Arial"/>
                          <a:ea typeface="Microsoft YaHei"/>
                          <a:cs typeface="Arial"/>
                        </a:rPr>
                        <a:t>SlideGen [42]; PresentAgent [26, 27]; VideoAgent (Manim, duration, style) [5];</a:t>
                      </a:r>
                    </a:p>
                    <a:p>
                      <a:pPr algn="l"/>
                      <a:r>
                        <a:rPr lang="en-US" sz="900" b="0">
                          <a:solidFill>
                            <a:schemeClr val="dk1"/>
                          </a:solidFill>
                          <a:latin typeface="Arial"/>
                          <a:ea typeface="Microsoft YaHei"/>
                          <a:cs typeface="Arial"/>
                        </a:rPr>
                        <a:t>Paper2Video / PaperTalker (101-paper benchmark, cursor grounding, talking head) [4];</a:t>
                      </a:r>
                    </a:p>
                    <a:p>
                      <a:pPr algn="l"/>
                      <a:r>
                        <a:rPr lang="en-US" sz="900" b="0">
                          <a:solidFill>
                            <a:schemeClr val="dk1"/>
                          </a:solidFill>
                          <a:latin typeface="Arial"/>
                          <a:ea typeface="Microsoft YaHei"/>
                          <a:cs typeface="Arial"/>
                        </a:rPr>
                        <a:t>Preacher [6]; AutoLectures [43]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Synchronized frames, narration,</a:t>
                      </a:r>
                    </a:p>
                    <a:p>
                      <a:pPr algn="l"/>
                      <a:r>
                        <a:rPr lang="en-US" sz="900" b="0">
                          <a:solidFill>
                            <a:schemeClr val="dk1"/>
                          </a:solidFill>
                          <a:latin typeface="Arial"/>
                          <a:ea typeface="Microsoft YaHei"/>
                          <a:cs typeface="Arial"/>
                        </a:rPr>
                        <a:t>captions; some editable PPTX;</a:t>
                      </a:r>
                    </a:p>
                    <a:p>
                      <a:pPr algn="l"/>
                      <a:r>
                        <a:rPr lang="en-US" sz="900" b="0">
                          <a:solidFill>
                            <a:schemeClr val="dk1"/>
                          </a:solidFill>
                          <a:latin typeface="Arial"/>
                          <a:ea typeface="Microsoft YaHei"/>
                          <a:cs typeface="Arial"/>
                        </a:rPr>
                        <a:t>LaTeX slides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accent1"/>
                          </a:solidFill>
                          <a:latin typeface="Arial"/>
                          <a:ea typeface="Microsoft YaHei"/>
                          <a:cs typeface="Arial"/>
                        </a:rPr>
                        <a:t>A section-addressable timeline retained</a:t>
                      </a:r>
                    </a:p>
                    <a:p>
                      <a:pPr algn="l"/>
                      <a:r>
                        <a:rPr lang="en-US" sz="900" b="0">
                          <a:solidFill>
                            <a:schemeClr val="accent1"/>
                          </a:solidFill>
                          <a:latin typeface="Arial"/>
                          <a:ea typeface="Microsoft YaHei"/>
                          <a:cs typeface="Arial"/>
                        </a:rPr>
                        <a:t>after export for downstream navigation</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561975">
                <a:tc>
                  <a:txBody>
                    <a:bodyPr/>
                    <a:lstStyle/>
                    <a:p>
                      <a:pPr/>
                      <a:r>
                        <a:rPr lang="en-US" sz="900" b="1">
                          <a:solidFill>
                            <a:schemeClr val="dk1"/>
                          </a:solidFill>
                          <a:latin typeface="Arial"/>
                          <a:ea typeface="Microsoft YaHei"/>
                          <a:cs typeface="Arial"/>
                        </a:rPr>
                        <a:t>Blog and long-form</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HERA [8]; PTSPI [9]; GoSum [10]; LongDPO [44]; ProjectMundo (JATS-preserving</a:t>
                      </a:r>
                    </a:p>
                    <a:p>
                      <a:pPr algn="l"/>
                      <a:r>
                        <a:rPr lang="en-US" sz="900" b="0">
                          <a:solidFill>
                            <a:schemeClr val="dk1"/>
                          </a:solidFill>
                          <a:latin typeface="Arial"/>
                          <a:ea typeface="Microsoft YaHei"/>
                          <a:cs typeface="Arial"/>
                        </a:rPr>
                        <a:t>translation) [45]; lay-summary accessibility studies [46]; Papers-to-Posts (interactive</a:t>
                      </a:r>
                    </a:p>
                    <a:p>
                      <a:pPr algn="l"/>
                      <a:r>
                        <a:rPr lang="en-US" sz="900" b="0">
                          <a:solidFill>
                            <a:schemeClr val="dk1"/>
                          </a:solidFill>
                          <a:latin typeface="Arial"/>
                          <a:ea typeface="Microsoft YaHei"/>
                          <a:cs typeface="Arial"/>
                        </a:rPr>
                        <a:t>reverse source outline) [7]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Summaries, translations, one</a:t>
                      </a:r>
                    </a:p>
                    <a:p>
                      <a:pPr algn="l"/>
                      <a:r>
                        <a:rPr lang="en-US" sz="900" b="0">
                          <a:solidFill>
                            <a:schemeClr val="dk1"/>
                          </a:solidFill>
                          <a:latin typeface="Arial"/>
                          <a:ea typeface="Microsoft YaHei"/>
                          <a:cs typeface="Arial"/>
                        </a:rPr>
                        <a:t>research blog piece from an outline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accent1"/>
                          </a:solidFill>
                          <a:latin typeface="Arial"/>
                          <a:ea typeface="Microsoft YaHei"/>
                          <a:cs typeface="Arial"/>
                        </a:rPr>
                        <a:t>Editable Word output with layout-aware</a:t>
                      </a:r>
                    </a:p>
                    <a:p>
                      <a:pPr algn="l"/>
                      <a:r>
                        <a:rPr lang="en-US" sz="900" b="0">
                          <a:solidFill>
                            <a:schemeClr val="accent1"/>
                          </a:solidFill>
                          <a:latin typeface="Arial"/>
                          <a:ea typeface="Microsoft YaHei"/>
                          <a:cs typeface="Arial"/>
                        </a:rPr>
                        <a:t>checks, for a paired Chinese and English</a:t>
                      </a:r>
                    </a:p>
                    <a:p>
                      <a:pPr algn="l"/>
                      <a:r>
                        <a:rPr lang="en-US" sz="900" b="0">
                          <a:solidFill>
                            <a:schemeClr val="accent1"/>
                          </a:solidFill>
                          <a:latin typeface="Arial"/>
                          <a:ea typeface="Microsoft YaHei"/>
                          <a:cs typeface="Arial"/>
                        </a:rPr>
                        <a:t>article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561975">
                <a:tc>
                  <a:txBody>
                    <a:bodyPr/>
                    <a:lstStyle/>
                    <a:p>
                      <a:pPr/>
                      <a:r>
                        <a:rPr lang="en-US" sz="900" b="1">
                          <a:solidFill>
                            <a:schemeClr val="dk1"/>
                          </a:solidFill>
                          <a:latin typeface="Arial"/>
                          <a:ea typeface="Microsoft YaHei"/>
                          <a:cs typeface="Arial"/>
                        </a:rPr>
                        <a:t>Multi-artifact suites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PaperX (Scholar DAG → PPT, poster, public-relations posts) [11]; OmniPresent</a:t>
                      </a:r>
                    </a:p>
                    <a:p>
                      <a:pPr algn="l"/>
                      <a:r>
                        <a:rPr lang="en-US" sz="900" b="0">
                          <a:solidFill>
                            <a:schemeClr val="dk1"/>
                          </a:solidFill>
                          <a:latin typeface="Arial"/>
                          <a:ea typeface="Microsoft YaHei"/>
                          <a:cs typeface="Arial"/>
                        </a:rPr>
                        <a:t>(concurrent: poster, slide, and video suites from one HTML representation with</a:t>
                      </a:r>
                    </a:p>
                    <a:p>
                      <a:pPr algn="l"/>
                      <a:r>
                        <a:rPr lang="en-US" sz="900" b="0">
                          <a:solidFill>
                            <a:schemeClr val="dk1"/>
                          </a:solidFill>
                          <a:latin typeface="Arial"/>
                          <a:ea typeface="Microsoft YaHei"/>
                          <a:cs typeface="Arial"/>
                        </a:rPr>
                        <a:t>cross-modal verify-and-repair) [12], discussed qualitatively</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dk1"/>
                          </a:solidFill>
                          <a:latin typeface="Arial"/>
                          <a:ea typeface="Microsoft YaHei"/>
                          <a:cs typeface="Arial"/>
                        </a:rPr>
                        <a:t>Several formats from one</a:t>
                      </a:r>
                    </a:p>
                    <a:p>
                      <a:pPr algn="l"/>
                      <a:r>
                        <a:rPr lang="en-US" sz="900" b="0">
                          <a:solidFill>
                            <a:schemeClr val="dk1"/>
                          </a:solidFill>
                          <a:latin typeface="Arial"/>
                          <a:ea typeface="Microsoft YaHei"/>
                          <a:cs typeface="Arial"/>
                        </a:rPr>
                        <a:t>representation</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900" b="0">
                          <a:solidFill>
                            <a:schemeClr val="accent1"/>
                          </a:solidFill>
                          <a:latin typeface="Arial"/>
                          <a:ea typeface="Microsoft YaHei"/>
                          <a:cs typeface="Arial"/>
                        </a:rPr>
                        <a:t>Native-editable source per artifact and</a:t>
                      </a:r>
                    </a:p>
                    <a:p>
                      <a:pPr algn="l"/>
                      <a:r>
                        <a:rPr lang="en-US" sz="900" b="0">
                          <a:solidFill>
                            <a:schemeClr val="accent1"/>
                          </a:solidFill>
                          <a:latin typeface="Arial"/>
                          <a:ea typeface="Microsoft YaHei"/>
                          <a:cs typeface="Arial"/>
                        </a:rPr>
                        <a:t>experience-level convergence into one</a:t>
                      </a:r>
                    </a:p>
                    <a:p>
                      <a:pPr algn="l"/>
                      <a:r>
                        <a:rPr lang="en-US" sz="900" b="0">
                          <a:solidFill>
                            <a:schemeClr val="accent1"/>
                          </a:solidFill>
                          <a:latin typeface="Arial"/>
                          <a:ea typeface="Microsoft YaHei"/>
                          <a:cs typeface="Arial"/>
                        </a:rPr>
                        <a:t>interactive viewer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11" name="Group 11"/>
          <p:cNvGrpSpPr/>
          <p:nvPr/>
        </p:nvGrpSpPr>
        <p:grpSpPr>
          <a:xfrm>
            <a:off x="533400" y="4838700"/>
            <a:ext cx="10144201" cy="647700"/>
            <a:chOff x="533400" y="4838700"/>
            <a:chExt cx="10144201" cy="647700"/>
          </a:xfrm>
        </p:grpSpPr>
        <p:sp>
          <p:nvSpPr>
            <p:cNvPr id="9" name="Rectangle 9"/>
            <p:cNvSpPr/>
            <p:nvPr/>
          </p:nvSpPr>
          <p:spPr>
            <a:xfrm>
              <a:off x="533400" y="4838700"/>
              <a:ext cx="38100" cy="647700"/>
            </a:xfrm>
            <a:prstGeom prst="rect">
              <a:avLst/>
            </a:prstGeom>
            <a:solidFill>
              <a:schemeClr val="accent2"/>
            </a:solidFill>
            <a:ln>
              <a:noFill/>
            </a:ln>
          </p:spPr>
        </p:sp>
        <p:sp>
          <p:nvSpPr>
            <p:cNvPr id="10" name="TextBox 10"/>
            <p:cNvSpPr txBox="1"/>
            <p:nvPr/>
          </p:nvSpPr>
          <p:spPr>
            <a:xfrm>
              <a:off x="679704" y="4918710"/>
              <a:ext cx="9997897"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"Rather than claiming the first multi-artifact generator, ResearchStudio-Reel focuses on a native-editable, section-aligned dissemination workspace."</a:t>
              </a:r>
              <a:br/>
              <a:r>
                <a:rPr lang="en-US" sz="1200" dirty="0">
                  <a:solidFill>
                    <a:schemeClr val="dk1"/>
                  </a:solidFill>
                  <a:latin typeface="+mn-lt"/>
                  <a:ea typeface="+mn-ea"/>
                  <a:cs typeface="+mn-cs"/>
                </a:rPr>
                <a:t>(§5.5) The distinction it draws is native editability plus experience-level convergence, backed by release checks.</a:t>
              </a:r>
            </a:p>
          </p:txBody>
        </p:sp>
      </p:grpSp>
      <p:grpSp>
        <p:nvGrpSpPr>
          <p:cNvPr id="14" name="Group 14"/>
          <p:cNvGrpSpPr/>
          <p:nvPr/>
        </p:nvGrpSpPr>
        <p:grpSpPr>
          <a:xfrm>
            <a:off x="528638" y="5751195"/>
            <a:ext cx="11129962" cy="182880"/>
            <a:chOff x="528638" y="5751195"/>
            <a:chExt cx="11129962" cy="182880"/>
          </a:xfrm>
        </p:grpSpPr>
        <p:sp>
          <p:nvSpPr>
            <p:cNvPr id="12" name="TextBox 12"/>
            <p:cNvSpPr txBox="1"/>
            <p:nvPr/>
          </p:nvSpPr>
          <p:spPr>
            <a:xfrm>
              <a:off x="528638" y="5751195"/>
              <a:ext cx="4511686"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WHAT THE PAPER IS SCORED AGAINST IN TABLE 1 (§3)</a:t>
              </a:r>
            </a:p>
          </p:txBody>
        </p:sp>
        <p:sp>
          <p:nvSpPr>
            <p:cNvPr id="13" name="Line 13"/>
            <p:cNvSpPr/>
            <p:nvPr/>
          </p:nvSpPr>
          <p:spPr>
            <a:xfrm>
              <a:off x="533400" y="5924550"/>
              <a:ext cx="11125200" cy="9525"/>
            </a:xfrm>
            <a:custGeom>
              <a:avLst/>
              <a:gdLst/>
              <a:ahLst/>
              <a:cxnLst/>
              <a:rect l="l" t="t" r="r" b="b"/>
              <a:pathLst>
                <a:path w="11125200" h="9525">
                  <a:moveTo>
                    <a:pt x="0" y="0"/>
                  </a:moveTo>
                  <a:lnTo>
                    <a:pt x="11125200" y="0"/>
                  </a:lnTo>
                </a:path>
              </a:pathLst>
            </a:custGeom>
            <a:noFill/>
            <a:ln w="9525">
              <a:solidFill>
                <a:schemeClr val="accent1"/>
              </a:solidFill>
            </a:ln>
          </p:spPr>
        </p:sp>
      </p:grpSp>
      <p:grpSp>
        <p:nvGrpSpPr>
          <p:cNvPr id="18" name="Group 18"/>
          <p:cNvGrpSpPr/>
          <p:nvPr/>
        </p:nvGrpSpPr>
        <p:grpSpPr>
          <a:xfrm>
            <a:off x="533400" y="6038850"/>
            <a:ext cx="3130418" cy="593407"/>
            <a:chOff x="533400" y="6038850"/>
            <a:chExt cx="3130418" cy="593407"/>
          </a:xfrm>
        </p:grpSpPr>
        <p:sp>
          <p:nvSpPr>
            <p:cNvPr id="15" name="Rectangle 15"/>
            <p:cNvSpPr/>
            <p:nvPr/>
          </p:nvSpPr>
          <p:spPr>
            <a:xfrm>
              <a:off x="533400" y="6038850"/>
              <a:ext cx="38100" cy="552450"/>
            </a:xfrm>
            <a:prstGeom prst="rect">
              <a:avLst/>
            </a:prstGeom>
            <a:solidFill>
              <a:srgbClr val="94A3B8"/>
            </a:solidFill>
            <a:ln>
              <a:noFill/>
            </a:ln>
          </p:spPr>
        </p:sp>
        <p:sp>
          <p:nvSpPr>
            <p:cNvPr id="16" name="TextBox 16"/>
            <p:cNvSpPr txBox="1"/>
            <p:nvPr/>
          </p:nvSpPr>
          <p:spPr>
            <a:xfrm>
              <a:off x="661797" y="6105049"/>
              <a:ext cx="1624072"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Single-shot frontier LLMs</a:t>
              </a:r>
            </a:p>
          </p:txBody>
        </p:sp>
        <p:sp>
          <p:nvSpPr>
            <p:cNvPr id="17" name="TextBox 17"/>
            <p:cNvSpPr txBox="1"/>
            <p:nvPr/>
          </p:nvSpPr>
          <p:spPr>
            <a:xfrm>
              <a:off x="661988" y="6303645"/>
              <a:ext cx="300183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Claude-4.8 Opus, GPT-5.5, Gemini-3.1 Pro — one fixed</a:t>
              </a:r>
              <a:br/>
              <a:r>
                <a:rPr lang="en-US" sz="900" dirty="0">
                  <a:solidFill>
                    <a:schemeClr val="dk1"/>
                  </a:solidFill>
                  <a:latin typeface="+mn-lt"/>
                  <a:ea typeface="+mn-ea"/>
                  <a:cs typeface="+mn-cs"/>
                </a:rPr>
                <a:t>prompt, one call, a whole A0 poster as HTML (Appendix G)</a:t>
              </a:r>
            </a:p>
          </p:txBody>
        </p:sp>
      </p:grpSp>
      <p:grpSp>
        <p:nvGrpSpPr>
          <p:cNvPr id="22" name="Group 22"/>
          <p:cNvGrpSpPr/>
          <p:nvPr/>
        </p:nvGrpSpPr>
        <p:grpSpPr>
          <a:xfrm>
            <a:off x="4343400" y="6038850"/>
            <a:ext cx="2991018" cy="593407"/>
            <a:chOff x="4343400" y="6038850"/>
            <a:chExt cx="2991018" cy="593407"/>
          </a:xfrm>
        </p:grpSpPr>
        <p:sp>
          <p:nvSpPr>
            <p:cNvPr id="19" name="Rectangle 19"/>
            <p:cNvSpPr/>
            <p:nvPr/>
          </p:nvSpPr>
          <p:spPr>
            <a:xfrm>
              <a:off x="4343400" y="6038850"/>
              <a:ext cx="38100" cy="552450"/>
            </a:xfrm>
            <a:prstGeom prst="rect">
              <a:avLst/>
            </a:prstGeom>
            <a:solidFill>
              <a:srgbClr val="C7CDD6"/>
            </a:solidFill>
            <a:ln>
              <a:noFill/>
            </a:ln>
          </p:spPr>
        </p:sp>
        <p:sp>
          <p:nvSpPr>
            <p:cNvPr id="20" name="TextBox 20"/>
            <p:cNvSpPr txBox="1"/>
            <p:nvPr/>
          </p:nvSpPr>
          <p:spPr>
            <a:xfrm>
              <a:off x="4471797" y="6105049"/>
              <a:ext cx="1832011"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Reproduced poster pipelines</a:t>
              </a:r>
            </a:p>
          </p:txBody>
        </p:sp>
        <p:sp>
          <p:nvSpPr>
            <p:cNvPr id="21" name="TextBox 21"/>
            <p:cNvSpPr txBox="1"/>
            <p:nvPr/>
          </p:nvSpPr>
          <p:spPr>
            <a:xfrm>
              <a:off x="4471988" y="6303645"/>
              <a:ext cx="286243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Paper2Poster tool, P2P, PosterGen under their released</a:t>
              </a:r>
              <a:br/>
              <a:r>
                <a:rPr lang="en-US" sz="900" dirty="0">
                  <a:solidFill>
                    <a:schemeClr val="dk1"/>
                  </a:solidFill>
                  <a:latin typeface="+mn-lt"/>
                  <a:ea typeface="+mn-ea"/>
                  <a:cs typeface="+mn-cs"/>
                </a:rPr>
                <a:t>configurations, scored by the same pipeline</a:t>
              </a:r>
            </a:p>
          </p:txBody>
        </p:sp>
      </p:grpSp>
      <p:grpSp>
        <p:nvGrpSpPr>
          <p:cNvPr id="26" name="Group 26"/>
          <p:cNvGrpSpPr/>
          <p:nvPr/>
        </p:nvGrpSpPr>
        <p:grpSpPr>
          <a:xfrm>
            <a:off x="8153400" y="6038850"/>
            <a:ext cx="3006414" cy="593407"/>
            <a:chOff x="8153400" y="6038850"/>
            <a:chExt cx="3006414" cy="593407"/>
          </a:xfrm>
        </p:grpSpPr>
        <p:sp>
          <p:nvSpPr>
            <p:cNvPr id="23" name="Rectangle 23"/>
            <p:cNvSpPr/>
            <p:nvPr/>
          </p:nvSpPr>
          <p:spPr>
            <a:xfrm>
              <a:off x="8153400" y="6038850"/>
              <a:ext cx="38100" cy="552450"/>
            </a:xfrm>
            <a:prstGeom prst="rect">
              <a:avLst/>
            </a:prstGeom>
            <a:solidFill>
              <a:schemeClr val="accent1"/>
            </a:solidFill>
            <a:ln>
              <a:noFill/>
            </a:ln>
          </p:spPr>
        </p:sp>
        <p:sp>
          <p:nvSpPr>
            <p:cNvPr id="24" name="TextBox 24"/>
            <p:cNvSpPr txBox="1"/>
            <p:nvPr/>
          </p:nvSpPr>
          <p:spPr>
            <a:xfrm>
              <a:off x="8281797" y="6105049"/>
              <a:ext cx="1092139"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Human reference</a:t>
              </a:r>
            </a:p>
          </p:txBody>
        </p:sp>
        <p:sp>
          <p:nvSpPr>
            <p:cNvPr id="25" name="TextBox 25"/>
            <p:cNvSpPr txBox="1"/>
            <p:nvPr/>
          </p:nvSpPr>
          <p:spPr>
            <a:xfrm>
              <a:off x="8281988" y="6303645"/>
              <a:ext cx="2877826"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The authors' own posters for the 100 benchmark papers;</a:t>
              </a:r>
              <a:br/>
              <a:r>
                <a:rPr lang="en-US" sz="900" dirty="0">
                  <a:solidFill>
                    <a:schemeClr val="dk1"/>
                  </a:solidFill>
                  <a:latin typeface="+mn-lt"/>
                  <a:ea typeface="+mn-ea"/>
                  <a:cs typeface="+mn-cs"/>
                </a:rPr>
                <a:t>OmniPresent is discussed qualitatively, not scored</a:t>
              </a:r>
            </a:p>
          </p:txBody>
        </p:sp>
      </p:grpSp>
      <p:grpSp>
        <p:nvGrpSpPr>
          <p:cNvPr id="29" name="Group 29"/>
          <p:cNvGrpSpPr/>
          <p:nvPr/>
        </p:nvGrpSpPr>
        <p:grpSpPr>
          <a:xfrm>
            <a:off x="528638" y="6415088"/>
            <a:ext cx="11134725" cy="147638"/>
            <a:chOff x="528638" y="6415088"/>
            <a:chExt cx="11134725" cy="147638"/>
          </a:xfrm>
        </p:grpSpPr>
        <p:sp>
          <p:nvSpPr>
            <p:cNvPr id="27" name="TextBox 27"/>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8" name="TextBox 28"/>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3</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4" fill="hold" grpId="0" nodeType="after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700"/>
                                        <p:tgtEl>
                                          <p:spTgt spid="8"/>
                                        </p:tgtEl>
                                      </p:cBhvr>
                                    </p:animEffect>
                                  </p:childTnLst>
                                </p:cTn>
                              </p:par>
                            </p:childTnLst>
                          </p:cTn>
                        </p:par>
                        <p:par>
                          <p:cTn id="16" fill="hold">
                            <p:stCondLst>
                              <p:cond delay="2400"/>
                            </p:stCondLst>
                            <p:childTnLst>
                              <p:par>
                                <p:cTn id="17" presetID="10" presetClass="entr" presetSubtype="0" fill="hold" grpId="0" nodeType="after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434672" y="321945"/>
            <a:ext cx="2228691"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§1 CONTRIBUTIONS · FIGURE 2</a:t>
            </a:r>
          </a:p>
        </p:txBody>
      </p:sp>
      <p:grpSp>
        <p:nvGrpSpPr>
          <p:cNvPr id="4" name="Group 4"/>
          <p:cNvGrpSpPr/>
          <p:nvPr/>
        </p:nvGrpSpPr>
        <p:grpSpPr>
          <a:xfrm>
            <a:off x="522732" y="573405"/>
            <a:ext cx="9922520" cy="734568"/>
            <a:chOff x="522732" y="573405"/>
            <a:chExt cx="9922520" cy="734568"/>
          </a:xfrm>
        </p:grpSpPr>
        <p:sp>
          <p:nvSpPr>
            <p:cNvPr id="3" name="TextBox 3"/>
            <p:cNvSpPr txBox="1"/>
            <p:nvPr/>
          </p:nvSpPr>
          <p:spPr>
            <a:xfrm>
              <a:off x="522732" y="573405"/>
              <a:ext cx="9922520"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The answer: a native-editable workspace of five skills — one shared extractor,</a:t>
              </a:r>
              <a:br/>
              <a:r>
                <a:rPr lang="en-US" sz="2100" b="1" dirty="0">
                  <a:solidFill>
                    <a:schemeClr val="accent1"/>
                  </a:solidFill>
                  <a:latin typeface="+mn-lt"/>
                  <a:ea typeface="+mn-ea"/>
                  <a:cs typeface="+mn-cs"/>
                </a:rPr>
                <a:t>three editable generators, one convergence layer</a:t>
              </a:r>
            </a:p>
          </p:txBody>
        </p:sp>
      </p:grpSp>
      <p:grpSp>
        <p:nvGrpSpPr>
          <p:cNvPr id="6" name="!!claim-carry"/>
          <p:cNvGrpSpPr/>
          <p:nvPr/>
        </p:nvGrpSpPr>
        <p:grpSpPr>
          <a:xfrm>
            <a:off x="526542" y="1302068"/>
            <a:ext cx="7847148" cy="264033"/>
            <a:chOff x="526542" y="1302068"/>
            <a:chExt cx="7847148" cy="264033"/>
          </a:xfrm>
        </p:grpSpPr>
        <p:sp>
          <p:nvSpPr>
            <p:cNvPr id="5" name="TextBox 5"/>
            <p:cNvSpPr txBox="1"/>
            <p:nvPr/>
          </p:nvSpPr>
          <p:spPr>
            <a:xfrm>
              <a:off x="526542" y="1302068"/>
              <a:ext cx="784714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2: one PDF in, three editor-ready artifacts out, one shared extraction in the middle (§1, §2)</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7239000" cy="1695450"/>
            <a:chOff x="533400" y="1847850"/>
            <a:chExt cx="7239000" cy="1695450"/>
          </a:xfrm>
        </p:grpSpPr>
        <p:sp>
          <p:nvSpPr>
            <p:cNvPr id="8" name="Rectangle 8"/>
            <p:cNvSpPr/>
            <p:nvPr/>
          </p:nvSpPr>
          <p:spPr>
            <a:xfrm>
              <a:off x="533400" y="1847850"/>
              <a:ext cx="7239000" cy="169545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590550" y="1914331"/>
              <a:ext cx="7124700" cy="1562487"/>
            </a:xfrm>
            <a:prstGeom prst="rect">
              <a:avLst/>
            </a:prstGeom>
          </p:spPr>
        </p:pic>
        <p:sp>
          <p:nvSpPr>
            <p:cNvPr id="10" name="Rectangle 10"/>
            <p:cNvSpPr/>
            <p:nvPr/>
          </p:nvSpPr>
          <p:spPr>
            <a:xfrm>
              <a:off x="533400" y="1847850"/>
              <a:ext cx="476250" cy="152400"/>
            </a:xfrm>
            <a:prstGeom prst="rect">
              <a:avLst/>
            </a:prstGeom>
            <a:solidFill>
              <a:schemeClr val="accent1"/>
            </a:solidFill>
            <a:ln>
              <a:noFill/>
            </a:ln>
          </p:spPr>
        </p:sp>
        <p:sp>
          <p:nvSpPr>
            <p:cNvPr id="11" name="TextBox 11"/>
            <p:cNvSpPr txBox="1"/>
            <p:nvPr/>
          </p:nvSpPr>
          <p:spPr>
            <a:xfrm>
              <a:off x="566738" y="1881188"/>
              <a:ext cx="3329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2</a:t>
              </a:r>
            </a:p>
          </p:txBody>
        </p:sp>
      </p:grpSp>
      <p:grpSp>
        <p:nvGrpSpPr>
          <p:cNvPr id="40" name="Group 40"/>
          <p:cNvGrpSpPr/>
          <p:nvPr/>
        </p:nvGrpSpPr>
        <p:grpSpPr>
          <a:xfrm>
            <a:off x="8072438" y="1864995"/>
            <a:ext cx="3591115" cy="1650111"/>
            <a:chOff x="8072438" y="1864995"/>
            <a:chExt cx="3591115" cy="1650111"/>
          </a:xfrm>
        </p:grpSpPr>
        <p:sp>
          <p:nvSpPr>
            <p:cNvPr id="13" name="TextBox 13"/>
            <p:cNvSpPr txBox="1"/>
            <p:nvPr/>
          </p:nvSpPr>
          <p:spPr>
            <a:xfrm>
              <a:off x="8072438" y="1864995"/>
              <a:ext cx="2719436"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FIVE SKILLS, IN PIPELINE ORDER</a:t>
              </a:r>
            </a:p>
          </p:txBody>
        </p:sp>
        <p:sp>
          <p:nvSpPr>
            <p:cNvPr id="14" name="Line 14"/>
            <p:cNvSpPr/>
            <p:nvPr/>
          </p:nvSpPr>
          <p:spPr>
            <a:xfrm>
              <a:off x="8077200" y="2038350"/>
              <a:ext cx="3581400" cy="9525"/>
            </a:xfrm>
            <a:custGeom>
              <a:avLst/>
              <a:gdLst/>
              <a:ahLst/>
              <a:cxnLst/>
              <a:rect l="l" t="t" r="r" b="b"/>
              <a:pathLst>
                <a:path w="3581400" h="9525">
                  <a:moveTo>
                    <a:pt x="0" y="0"/>
                  </a:moveTo>
                  <a:lnTo>
                    <a:pt x="3581400" y="0"/>
                  </a:lnTo>
                </a:path>
              </a:pathLst>
            </a:custGeom>
            <a:noFill/>
            <a:ln w="9525">
              <a:solidFill>
                <a:schemeClr val="accent1"/>
              </a:solidFill>
            </a:ln>
          </p:spPr>
        </p:sp>
        <p:sp>
          <p:nvSpPr>
            <p:cNvPr id="15" name="Ellipse 15"/>
            <p:cNvSpPr/>
            <p:nvPr/>
          </p:nvSpPr>
          <p:spPr>
            <a:xfrm>
              <a:off x="8077200" y="2124075"/>
              <a:ext cx="190500" cy="190500"/>
            </a:xfrm>
            <a:prstGeom prst="ellipse">
              <a:avLst/>
            </a:prstGeom>
            <a:solidFill>
              <a:schemeClr val="accent2"/>
            </a:solidFill>
            <a:ln>
              <a:noFill/>
            </a:ln>
          </p:spPr>
        </p:sp>
        <p:sp>
          <p:nvSpPr>
            <p:cNvPr id="16" name="TextBox 16"/>
            <p:cNvSpPr txBox="1"/>
            <p:nvPr/>
          </p:nvSpPr>
          <p:spPr>
            <a:xfrm>
              <a:off x="8136988" y="216836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1</a:t>
              </a:r>
            </a:p>
          </p:txBody>
        </p:sp>
        <p:sp>
          <p:nvSpPr>
            <p:cNvPr id="17" name="TextBox 17"/>
            <p:cNvSpPr txBox="1"/>
            <p:nvPr/>
          </p:nvSpPr>
          <p:spPr>
            <a:xfrm>
              <a:off x="8337804" y="2137410"/>
              <a:ext cx="1091901"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Paper2Assets</a:t>
              </a:r>
            </a:p>
          </p:txBody>
        </p:sp>
        <p:sp>
          <p:nvSpPr>
            <p:cNvPr id="18" name="TextBox 18"/>
            <p:cNvSpPr txBox="1"/>
            <p:nvPr/>
          </p:nvSpPr>
          <p:spPr>
            <a:xfrm>
              <a:off x="9615297" y="2161699"/>
              <a:ext cx="963188"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shared extractor</a:t>
              </a:r>
            </a:p>
          </p:txBody>
        </p:sp>
        <p:sp>
          <p:nvSpPr>
            <p:cNvPr id="19" name="TextBox 19"/>
            <p:cNvSpPr txBox="1"/>
            <p:nvPr/>
          </p:nvSpPr>
          <p:spPr>
            <a:xfrm>
              <a:off x="10907712" y="2161699"/>
              <a:ext cx="755841"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mn-lt"/>
                  <a:ea typeface="+mn-ea"/>
                  <a:cs typeface="+mn-cs"/>
                </a:rPr>
                <a:t>answers G1</a:t>
              </a:r>
            </a:p>
          </p:txBody>
        </p:sp>
        <p:sp>
          <p:nvSpPr>
            <p:cNvPr id="20" name="Ellipse 20"/>
            <p:cNvSpPr/>
            <p:nvPr/>
          </p:nvSpPr>
          <p:spPr>
            <a:xfrm>
              <a:off x="8077200" y="2409825"/>
              <a:ext cx="190500" cy="190500"/>
            </a:xfrm>
            <a:prstGeom prst="ellipse">
              <a:avLst/>
            </a:prstGeom>
            <a:solidFill>
              <a:schemeClr val="accent1"/>
            </a:solidFill>
            <a:ln>
              <a:noFill/>
            </a:ln>
          </p:spPr>
        </p:sp>
        <p:sp>
          <p:nvSpPr>
            <p:cNvPr id="21" name="TextBox 21"/>
            <p:cNvSpPr txBox="1"/>
            <p:nvPr/>
          </p:nvSpPr>
          <p:spPr>
            <a:xfrm>
              <a:off x="8136988" y="24541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2</a:t>
              </a:r>
            </a:p>
          </p:txBody>
        </p:sp>
        <p:sp>
          <p:nvSpPr>
            <p:cNvPr id="22" name="TextBox 22"/>
            <p:cNvSpPr txBox="1"/>
            <p:nvPr/>
          </p:nvSpPr>
          <p:spPr>
            <a:xfrm>
              <a:off x="8337804" y="2423160"/>
              <a:ext cx="106454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Paper2Poster</a:t>
              </a:r>
            </a:p>
          </p:txBody>
        </p:sp>
        <p:sp>
          <p:nvSpPr>
            <p:cNvPr id="23" name="TextBox 23"/>
            <p:cNvSpPr txBox="1"/>
            <p:nvPr/>
          </p:nvSpPr>
          <p:spPr>
            <a:xfrm>
              <a:off x="9615297" y="2447449"/>
              <a:ext cx="1073506"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editable generator</a:t>
              </a:r>
            </a:p>
          </p:txBody>
        </p:sp>
        <p:sp>
          <p:nvSpPr>
            <p:cNvPr id="24" name="TextBox 24"/>
            <p:cNvSpPr txBox="1"/>
            <p:nvPr/>
          </p:nvSpPr>
          <p:spPr>
            <a:xfrm>
              <a:off x="10907712" y="2447449"/>
              <a:ext cx="755841"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mn-lt"/>
                  <a:ea typeface="+mn-ea"/>
                  <a:cs typeface="+mn-cs"/>
                </a:rPr>
                <a:t>answers G2</a:t>
              </a:r>
            </a:p>
          </p:txBody>
        </p:sp>
        <p:sp>
          <p:nvSpPr>
            <p:cNvPr id="25" name="Ellipse 25"/>
            <p:cNvSpPr/>
            <p:nvPr/>
          </p:nvSpPr>
          <p:spPr>
            <a:xfrm>
              <a:off x="8077200" y="2695575"/>
              <a:ext cx="190500" cy="190500"/>
            </a:xfrm>
            <a:prstGeom prst="ellipse">
              <a:avLst/>
            </a:prstGeom>
            <a:solidFill>
              <a:schemeClr val="accent1"/>
            </a:solidFill>
            <a:ln>
              <a:noFill/>
            </a:ln>
          </p:spPr>
        </p:sp>
        <p:sp>
          <p:nvSpPr>
            <p:cNvPr id="26" name="TextBox 26"/>
            <p:cNvSpPr txBox="1"/>
            <p:nvPr/>
          </p:nvSpPr>
          <p:spPr>
            <a:xfrm>
              <a:off x="8136988" y="273986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3</a:t>
              </a:r>
            </a:p>
          </p:txBody>
        </p:sp>
        <p:sp>
          <p:nvSpPr>
            <p:cNvPr id="27" name="TextBox 27"/>
            <p:cNvSpPr txBox="1"/>
            <p:nvPr/>
          </p:nvSpPr>
          <p:spPr>
            <a:xfrm>
              <a:off x="8337804" y="2708910"/>
              <a:ext cx="100193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Paper2Video</a:t>
              </a:r>
            </a:p>
          </p:txBody>
        </p:sp>
        <p:sp>
          <p:nvSpPr>
            <p:cNvPr id="28" name="TextBox 28"/>
            <p:cNvSpPr txBox="1"/>
            <p:nvPr/>
          </p:nvSpPr>
          <p:spPr>
            <a:xfrm>
              <a:off x="9615297" y="2733199"/>
              <a:ext cx="1073506"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editable generator</a:t>
              </a:r>
            </a:p>
          </p:txBody>
        </p:sp>
        <p:sp>
          <p:nvSpPr>
            <p:cNvPr id="29" name="TextBox 29"/>
            <p:cNvSpPr txBox="1"/>
            <p:nvPr/>
          </p:nvSpPr>
          <p:spPr>
            <a:xfrm>
              <a:off x="10907712" y="2733199"/>
              <a:ext cx="755841"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mn-lt"/>
                  <a:ea typeface="+mn-ea"/>
                  <a:cs typeface="+mn-cs"/>
                </a:rPr>
                <a:t>answers G2</a:t>
              </a:r>
            </a:p>
          </p:txBody>
        </p:sp>
        <p:sp>
          <p:nvSpPr>
            <p:cNvPr id="30" name="Ellipse 30"/>
            <p:cNvSpPr/>
            <p:nvPr/>
          </p:nvSpPr>
          <p:spPr>
            <a:xfrm>
              <a:off x="8077200" y="2981325"/>
              <a:ext cx="190500" cy="190500"/>
            </a:xfrm>
            <a:prstGeom prst="ellipse">
              <a:avLst/>
            </a:prstGeom>
            <a:solidFill>
              <a:schemeClr val="accent1"/>
            </a:solidFill>
            <a:ln>
              <a:noFill/>
            </a:ln>
          </p:spPr>
        </p:sp>
        <p:sp>
          <p:nvSpPr>
            <p:cNvPr id="31" name="TextBox 31"/>
            <p:cNvSpPr txBox="1"/>
            <p:nvPr/>
          </p:nvSpPr>
          <p:spPr>
            <a:xfrm>
              <a:off x="8136988" y="30256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4</a:t>
              </a:r>
            </a:p>
          </p:txBody>
        </p:sp>
        <p:sp>
          <p:nvSpPr>
            <p:cNvPr id="32" name="TextBox 32"/>
            <p:cNvSpPr txBox="1"/>
            <p:nvPr/>
          </p:nvSpPr>
          <p:spPr>
            <a:xfrm>
              <a:off x="8337804" y="2994660"/>
              <a:ext cx="92121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Paper2Blog</a:t>
              </a:r>
            </a:p>
          </p:txBody>
        </p:sp>
        <p:sp>
          <p:nvSpPr>
            <p:cNvPr id="33" name="TextBox 33"/>
            <p:cNvSpPr txBox="1"/>
            <p:nvPr/>
          </p:nvSpPr>
          <p:spPr>
            <a:xfrm>
              <a:off x="9615297" y="3018949"/>
              <a:ext cx="1073506"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editable generator</a:t>
              </a:r>
            </a:p>
          </p:txBody>
        </p:sp>
        <p:sp>
          <p:nvSpPr>
            <p:cNvPr id="34" name="TextBox 34"/>
            <p:cNvSpPr txBox="1"/>
            <p:nvPr/>
          </p:nvSpPr>
          <p:spPr>
            <a:xfrm>
              <a:off x="10907712" y="3018949"/>
              <a:ext cx="755841"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mn-lt"/>
                  <a:ea typeface="+mn-ea"/>
                  <a:cs typeface="+mn-cs"/>
                </a:rPr>
                <a:t>answers G2</a:t>
              </a:r>
            </a:p>
          </p:txBody>
        </p:sp>
        <p:sp>
          <p:nvSpPr>
            <p:cNvPr id="35" name="Ellipse 35"/>
            <p:cNvSpPr/>
            <p:nvPr/>
          </p:nvSpPr>
          <p:spPr>
            <a:xfrm>
              <a:off x="8077200" y="3267075"/>
              <a:ext cx="190500" cy="190500"/>
            </a:xfrm>
            <a:prstGeom prst="ellipse">
              <a:avLst/>
            </a:prstGeom>
            <a:solidFill>
              <a:schemeClr val="accent2"/>
            </a:solidFill>
            <a:ln>
              <a:noFill/>
            </a:ln>
          </p:spPr>
        </p:sp>
        <p:sp>
          <p:nvSpPr>
            <p:cNvPr id="36" name="TextBox 36"/>
            <p:cNvSpPr txBox="1"/>
            <p:nvPr/>
          </p:nvSpPr>
          <p:spPr>
            <a:xfrm>
              <a:off x="8136988" y="331136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5</a:t>
              </a:r>
            </a:p>
          </p:txBody>
        </p:sp>
        <p:sp>
          <p:nvSpPr>
            <p:cNvPr id="37" name="TextBox 37"/>
            <p:cNvSpPr txBox="1"/>
            <p:nvPr/>
          </p:nvSpPr>
          <p:spPr>
            <a:xfrm>
              <a:off x="8337804" y="3280410"/>
              <a:ext cx="903354"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Paper2Reel</a:t>
              </a:r>
            </a:p>
          </p:txBody>
        </p:sp>
        <p:sp>
          <p:nvSpPr>
            <p:cNvPr id="38" name="TextBox 38"/>
            <p:cNvSpPr txBox="1"/>
            <p:nvPr/>
          </p:nvSpPr>
          <p:spPr>
            <a:xfrm>
              <a:off x="9615297" y="3304699"/>
              <a:ext cx="1087992"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convergence layer</a:t>
              </a:r>
            </a:p>
          </p:txBody>
        </p:sp>
        <p:sp>
          <p:nvSpPr>
            <p:cNvPr id="39" name="TextBox 39"/>
            <p:cNvSpPr txBox="1"/>
            <p:nvPr/>
          </p:nvSpPr>
          <p:spPr>
            <a:xfrm>
              <a:off x="10907712" y="3304699"/>
              <a:ext cx="755841" cy="190690"/>
            </a:xfrm>
            <a:prstGeom prst="rect">
              <a:avLst/>
            </a:prstGeom>
            <a:noFill/>
            <a:ln>
              <a:noFill/>
            </a:ln>
          </p:spPr>
          <p:txBody>
            <a:bodyPr wrap="none" lIns="0" tIns="0" rIns="0" bIns="0" anchor="t" anchorCtr="0">
              <a:spAutoFit/>
            </a:bodyPr>
            <a:lstStyle/>
            <a:p>
              <a:pPr algn="r"/>
              <a:r>
                <a:rPr lang="en-US" sz="980" b="1" dirty="0">
                  <a:solidFill>
                    <a:schemeClr val="accent2"/>
                  </a:solidFill>
                  <a:latin typeface="+mn-lt"/>
                  <a:ea typeface="+mn-ea"/>
                  <a:cs typeface="+mn-cs"/>
                </a:rPr>
                <a:t>answers G3</a:t>
              </a:r>
            </a:p>
          </p:txBody>
        </p:sp>
      </p:grpSp>
      <p:grpSp>
        <p:nvGrpSpPr>
          <p:cNvPr id="43" name="Group 43"/>
          <p:cNvGrpSpPr/>
          <p:nvPr/>
        </p:nvGrpSpPr>
        <p:grpSpPr>
          <a:xfrm>
            <a:off x="528638" y="3769995"/>
            <a:ext cx="11129962" cy="182880"/>
            <a:chOff x="528638" y="3769995"/>
            <a:chExt cx="11129962" cy="182880"/>
          </a:xfrm>
        </p:grpSpPr>
        <p:sp>
          <p:nvSpPr>
            <p:cNvPr id="41" name="TextBox 41"/>
            <p:cNvSpPr txBox="1"/>
            <p:nvPr/>
          </p:nvSpPr>
          <p:spPr>
            <a:xfrm>
              <a:off x="528638" y="3769995"/>
              <a:ext cx="3970878"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CONTRIBUTIONS, AS THE AUTHORS STATE THEM</a:t>
              </a:r>
            </a:p>
          </p:txBody>
        </p:sp>
        <p:sp>
          <p:nvSpPr>
            <p:cNvPr id="42" name="Line 42"/>
            <p:cNvSpPr/>
            <p:nvPr/>
          </p:nvSpPr>
          <p:spPr>
            <a:xfrm>
              <a:off x="533400" y="3943350"/>
              <a:ext cx="11125200" cy="9525"/>
            </a:xfrm>
            <a:custGeom>
              <a:avLst/>
              <a:gdLst/>
              <a:ahLst/>
              <a:cxnLst/>
              <a:rect l="l" t="t" r="r" b="b"/>
              <a:pathLst>
                <a:path w="11125200" h="9525">
                  <a:moveTo>
                    <a:pt x="0" y="0"/>
                  </a:moveTo>
                  <a:lnTo>
                    <a:pt x="11125200" y="0"/>
                  </a:lnTo>
                </a:path>
              </a:pathLst>
            </a:custGeom>
            <a:noFill/>
            <a:ln w="9525">
              <a:solidFill>
                <a:schemeClr val="accent1"/>
              </a:solidFill>
            </a:ln>
          </p:spPr>
        </p:sp>
      </p:grpSp>
      <p:grpSp>
        <p:nvGrpSpPr>
          <p:cNvPr id="47" name="Group 47"/>
          <p:cNvGrpSpPr/>
          <p:nvPr/>
        </p:nvGrpSpPr>
        <p:grpSpPr>
          <a:xfrm>
            <a:off x="533400" y="4086225"/>
            <a:ext cx="4971395" cy="415861"/>
            <a:chOff x="533400" y="4086225"/>
            <a:chExt cx="4971395" cy="415861"/>
          </a:xfrm>
        </p:grpSpPr>
        <p:sp>
          <p:nvSpPr>
            <p:cNvPr id="44" name="Ellipse 44"/>
            <p:cNvSpPr/>
            <p:nvPr/>
          </p:nvSpPr>
          <p:spPr>
            <a:xfrm>
              <a:off x="533400" y="4086225"/>
              <a:ext cx="190500" cy="190500"/>
            </a:xfrm>
            <a:prstGeom prst="ellipse">
              <a:avLst/>
            </a:prstGeom>
            <a:solidFill>
              <a:schemeClr val="accent1"/>
            </a:solidFill>
            <a:ln>
              <a:noFill/>
            </a:ln>
          </p:spPr>
        </p:sp>
        <p:sp>
          <p:nvSpPr>
            <p:cNvPr id="45" name="TextBox 45"/>
            <p:cNvSpPr txBox="1"/>
            <p:nvPr/>
          </p:nvSpPr>
          <p:spPr>
            <a:xfrm>
              <a:off x="593188" y="41305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1</a:t>
              </a:r>
            </a:p>
          </p:txBody>
        </p:sp>
        <p:sp>
          <p:nvSpPr>
            <p:cNvPr id="46" name="TextBox 46"/>
            <p:cNvSpPr txBox="1"/>
            <p:nvPr/>
          </p:nvSpPr>
          <p:spPr>
            <a:xfrm>
              <a:off x="794766" y="4115752"/>
              <a:ext cx="4710029" cy="386334"/>
            </a:xfrm>
            <a:prstGeom prst="rect">
              <a:avLst/>
            </a:prstGeom>
            <a:noFill/>
            <a:ln>
              <a:noFill/>
            </a:ln>
          </p:spPr>
          <p:txBody>
            <a:bodyPr wrap="none" lIns="0" tIns="0" rIns="0" bIns="0" anchor="t" anchorCtr="0">
              <a:spAutoFit/>
            </a:bodyPr>
            <a:lstStyle/>
            <a:p>
              <a:pPr algn="l">
                <a:lnSpc>
                  <a:spcPts val="1425"/>
                </a:lnSpc>
              </a:pPr>
              <a:r>
                <a:rPr lang="en-US" sz="1050" dirty="0">
                  <a:solidFill>
                    <a:schemeClr val="dk1"/>
                  </a:solidFill>
                  <a:latin typeface="+mn-lt"/>
                  <a:ea typeface="+mn-ea"/>
                  <a:cs typeface="+mn-cs"/>
                </a:rPr>
                <a:t>The workspace itself: one paper PDF becomes a print-ready conference poster,</a:t>
              </a:r>
              <a:br/>
              <a:r>
                <a:rPr lang="en-US" sz="1050" dirty="0">
                  <a:solidFill>
                    <a:schemeClr val="dk1"/>
                  </a:solidFill>
                  <a:latin typeface="+mn-lt"/>
                  <a:ea typeface="+mn-ea"/>
                  <a:cs typeface="+mn-cs"/>
                </a:rPr>
                <a:t>a narrated talk video, and a bilingual blog through composable skills.</a:t>
              </a:r>
            </a:p>
          </p:txBody>
        </p:sp>
      </p:grpSp>
      <p:grpSp>
        <p:nvGrpSpPr>
          <p:cNvPr id="51" name="Group 51"/>
          <p:cNvGrpSpPr/>
          <p:nvPr/>
        </p:nvGrpSpPr>
        <p:grpSpPr>
          <a:xfrm>
            <a:off x="6248400" y="4086225"/>
            <a:ext cx="4979289" cy="596836"/>
            <a:chOff x="6248400" y="4086225"/>
            <a:chExt cx="4979289" cy="596836"/>
          </a:xfrm>
        </p:grpSpPr>
        <p:sp>
          <p:nvSpPr>
            <p:cNvPr id="48" name="Ellipse 48"/>
            <p:cNvSpPr/>
            <p:nvPr/>
          </p:nvSpPr>
          <p:spPr>
            <a:xfrm>
              <a:off x="6248400" y="4086225"/>
              <a:ext cx="190500" cy="190500"/>
            </a:xfrm>
            <a:prstGeom prst="ellipse">
              <a:avLst/>
            </a:prstGeom>
            <a:solidFill>
              <a:schemeClr val="accent1"/>
            </a:solidFill>
            <a:ln>
              <a:noFill/>
            </a:ln>
          </p:spPr>
        </p:sp>
        <p:sp>
          <p:nvSpPr>
            <p:cNvPr id="49" name="TextBox 49"/>
            <p:cNvSpPr txBox="1"/>
            <p:nvPr/>
          </p:nvSpPr>
          <p:spPr>
            <a:xfrm>
              <a:off x="6308188" y="41305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2</a:t>
              </a:r>
            </a:p>
          </p:txBody>
        </p:sp>
        <p:sp>
          <p:nvSpPr>
            <p:cNvPr id="50" name="TextBox 50"/>
            <p:cNvSpPr txBox="1"/>
            <p:nvPr/>
          </p:nvSpPr>
          <p:spPr>
            <a:xfrm>
              <a:off x="6509766" y="4115752"/>
              <a:ext cx="4717923" cy="567309"/>
            </a:xfrm>
            <a:prstGeom prst="rect">
              <a:avLst/>
            </a:prstGeom>
            <a:noFill/>
            <a:ln>
              <a:noFill/>
            </a:ln>
          </p:spPr>
          <p:txBody>
            <a:bodyPr wrap="none" lIns="0" tIns="0" rIns="0" bIns="0" anchor="t" anchorCtr="0">
              <a:spAutoFit/>
            </a:bodyPr>
            <a:lstStyle/>
            <a:p>
              <a:pPr algn="l">
                <a:lnSpc>
                  <a:spcPts val="1425"/>
                </a:lnSpc>
              </a:pPr>
              <a:r>
                <a:rPr lang="en-US" sz="1050" dirty="0">
                  <a:solidFill>
                    <a:schemeClr val="dk1"/>
                  </a:solidFill>
                  <a:latin typeface="+mn-lt"/>
                  <a:ea typeface="+mn-ea"/>
                  <a:cs typeface="+mn-cs"/>
                </a:rPr>
                <a:t>Paper2Reel, an experience-level convergence layer whose interactions connect</a:t>
              </a:r>
              <a:br/>
              <a:r>
                <a:rPr lang="en-US" sz="1050" dirty="0">
                  <a:solidFill>
                    <a:schemeClr val="dk1"/>
                  </a:solidFill>
                  <a:latin typeface="+mn-lt"/>
                  <a:ea typeface="+mn-ea"/>
                  <a:cs typeface="+mn-cs"/>
                </a:rPr>
                <a:t>poster regions, video segments, and blog passages in one navigable HTML</a:t>
              </a:r>
              <a:br/>
              <a:r>
                <a:rPr lang="en-US" sz="1050" dirty="0">
                  <a:solidFill>
                    <a:schemeClr val="dk1"/>
                  </a:solidFill>
                  <a:latin typeface="+mn-lt"/>
                  <a:ea typeface="+mn-ea"/>
                  <a:cs typeface="+mn-cs"/>
                </a:rPr>
                <a:t>surface.</a:t>
              </a:r>
            </a:p>
          </p:txBody>
        </p:sp>
      </p:grpSp>
      <p:grpSp>
        <p:nvGrpSpPr>
          <p:cNvPr id="55" name="Group 55"/>
          <p:cNvGrpSpPr/>
          <p:nvPr/>
        </p:nvGrpSpPr>
        <p:grpSpPr>
          <a:xfrm>
            <a:off x="533400" y="4810125"/>
            <a:ext cx="4941898" cy="596836"/>
            <a:chOff x="533400" y="4810125"/>
            <a:chExt cx="4941898" cy="596836"/>
          </a:xfrm>
        </p:grpSpPr>
        <p:sp>
          <p:nvSpPr>
            <p:cNvPr id="52" name="Ellipse 52"/>
            <p:cNvSpPr/>
            <p:nvPr/>
          </p:nvSpPr>
          <p:spPr>
            <a:xfrm>
              <a:off x="533400" y="4810125"/>
              <a:ext cx="190500" cy="190500"/>
            </a:xfrm>
            <a:prstGeom prst="ellipse">
              <a:avLst/>
            </a:prstGeom>
            <a:solidFill>
              <a:schemeClr val="accent1"/>
            </a:solidFill>
            <a:ln>
              <a:noFill/>
            </a:ln>
          </p:spPr>
        </p:sp>
        <p:sp>
          <p:nvSpPr>
            <p:cNvPr id="53" name="TextBox 53"/>
            <p:cNvSpPr txBox="1"/>
            <p:nvPr/>
          </p:nvSpPr>
          <p:spPr>
            <a:xfrm>
              <a:off x="593188" y="48544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3</a:t>
              </a:r>
            </a:p>
          </p:txBody>
        </p:sp>
        <p:sp>
          <p:nvSpPr>
            <p:cNvPr id="54" name="TextBox 54"/>
            <p:cNvSpPr txBox="1"/>
            <p:nvPr/>
          </p:nvSpPr>
          <p:spPr>
            <a:xfrm>
              <a:off x="794766" y="4839652"/>
              <a:ext cx="4680532" cy="567309"/>
            </a:xfrm>
            <a:prstGeom prst="rect">
              <a:avLst/>
            </a:prstGeom>
            <a:noFill/>
            <a:ln>
              <a:noFill/>
            </a:ln>
          </p:spPr>
          <p:txBody>
            <a:bodyPr wrap="none" lIns="0" tIns="0" rIns="0" bIns="0" anchor="t" anchorCtr="0">
              <a:spAutoFit/>
            </a:bodyPr>
            <a:lstStyle/>
            <a:p>
              <a:pPr algn="l">
                <a:lnSpc>
                  <a:spcPts val="1425"/>
                </a:lnSpc>
              </a:pPr>
              <a:r>
                <a:rPr lang="en-US" sz="1050" dirty="0">
                  <a:solidFill>
                    <a:schemeClr val="dk1"/>
                  </a:solidFill>
                  <a:latin typeface="+mn-lt"/>
                  <a:ea typeface="+mn-ea"/>
                  <a:cs typeface="+mn-cs"/>
                </a:rPr>
                <a:t>A delivery contract: one shared Paper2Assets bundle plus native-editable</a:t>
              </a:r>
              <a:br/>
              <a:r>
                <a:rPr lang="en-US" sz="1050" dirty="0">
                  <a:solidFill>
                    <a:schemeClr val="dk1"/>
                  </a:solidFill>
                  <a:latin typeface="+mn-lt"/>
                  <a:ea typeface="+mn-ea"/>
                  <a:cs typeface="+mn-cs"/>
                </a:rPr>
                <a:t>sources — PowerPoint for the poster and the video deck, Word for the bilingual</a:t>
              </a:r>
              <a:br/>
              <a:r>
                <a:rPr lang="en-US" sz="1050" dirty="0">
                  <a:solidFill>
                    <a:schemeClr val="dk1"/>
                  </a:solidFill>
                  <a:latin typeface="+mn-lt"/>
                  <a:ea typeface="+mn-ea"/>
                  <a:cs typeface="+mn-cs"/>
                </a:rPr>
                <a:t>blog.</a:t>
              </a:r>
            </a:p>
          </p:txBody>
        </p:sp>
      </p:grpSp>
      <p:grpSp>
        <p:nvGrpSpPr>
          <p:cNvPr id="59" name="Group 59"/>
          <p:cNvGrpSpPr/>
          <p:nvPr/>
        </p:nvGrpSpPr>
        <p:grpSpPr>
          <a:xfrm>
            <a:off x="6248400" y="4810125"/>
            <a:ext cx="4986570" cy="1139761"/>
            <a:chOff x="6248400" y="4810125"/>
            <a:chExt cx="4986570" cy="1139761"/>
          </a:xfrm>
        </p:grpSpPr>
        <p:sp>
          <p:nvSpPr>
            <p:cNvPr id="56" name="Ellipse 56"/>
            <p:cNvSpPr/>
            <p:nvPr/>
          </p:nvSpPr>
          <p:spPr>
            <a:xfrm>
              <a:off x="6248400" y="4810125"/>
              <a:ext cx="190500" cy="190500"/>
            </a:xfrm>
            <a:prstGeom prst="ellipse">
              <a:avLst/>
            </a:prstGeom>
            <a:solidFill>
              <a:schemeClr val="accent1"/>
            </a:solidFill>
            <a:ln>
              <a:noFill/>
            </a:ln>
          </p:spPr>
        </p:sp>
        <p:sp>
          <p:nvSpPr>
            <p:cNvPr id="57" name="TextBox 57"/>
            <p:cNvSpPr txBox="1"/>
            <p:nvPr/>
          </p:nvSpPr>
          <p:spPr>
            <a:xfrm>
              <a:off x="6308188" y="48544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4</a:t>
              </a:r>
            </a:p>
          </p:txBody>
        </p:sp>
        <p:sp>
          <p:nvSpPr>
            <p:cNvPr id="58" name="TextBox 58"/>
            <p:cNvSpPr txBox="1"/>
            <p:nvPr/>
          </p:nvSpPr>
          <p:spPr>
            <a:xfrm>
              <a:off x="6509766" y="4839652"/>
              <a:ext cx="4725204" cy="1110234"/>
            </a:xfrm>
            <a:prstGeom prst="rect">
              <a:avLst/>
            </a:prstGeom>
            <a:noFill/>
            <a:ln>
              <a:noFill/>
            </a:ln>
          </p:spPr>
          <p:txBody>
            <a:bodyPr wrap="none" lIns="0" tIns="0" rIns="0" bIns="0" anchor="t" anchorCtr="0">
              <a:spAutoFit/>
            </a:bodyPr>
            <a:lstStyle/>
            <a:p>
              <a:pPr algn="l">
                <a:lnSpc>
                  <a:spcPts val="1425"/>
                </a:lnSpc>
              </a:pPr>
              <a:r>
                <a:rPr lang="en-US" sz="1050" dirty="0">
                  <a:solidFill>
                    <a:schemeClr val="dk1"/>
                  </a:solidFill>
                  <a:latin typeface="+mn-lt"/>
                  <a:ea typeface="+mn-ea"/>
                  <a:cs typeface="+mn-cs"/>
                </a:rPr>
                <a:t>Posters best among automated systems on all three aesthetic sub-criteria and</a:t>
              </a:r>
              <a:br/>
              <a:r>
                <a:rPr lang="en-US" sz="1050" dirty="0">
                  <a:solidFill>
                    <a:schemeClr val="dk1"/>
                  </a:solidFill>
                  <a:latin typeface="+mn-lt"/>
                  <a:ea typeface="+mn-ea"/>
                  <a:cs typeface="+mn-cs"/>
                </a:rPr>
                <a:t>best or tied-best on two of three information sub-criteria; about 17.5% above the</a:t>
              </a:r>
              <a:br/>
              <a:r>
                <a:rPr lang="en-US" sz="1050" dirty="0">
                  <a:solidFill>
                    <a:schemeClr val="dk1"/>
                  </a:solidFill>
                  <a:latin typeface="+mn-lt"/>
                  <a:ea typeface="+mn-ea"/>
                  <a:cs typeface="+mn-cs"/>
                </a:rPr>
                <a:t>authors' own on aesthetics (3.56 vs 3.03); overall wins on 74 and 95 of 100</a:t>
              </a:r>
              <a:br/>
              <a:r>
                <a:rPr lang="en-US" sz="1050" dirty="0">
                  <a:solidFill>
                    <a:schemeClr val="dk1"/>
                  </a:solidFill>
                  <a:latin typeface="+mn-lt"/>
                  <a:ea typeface="+mn-ea"/>
                  <a:cs typeface="+mn-cs"/>
                </a:rPr>
                <a:t>papers under the two judges. The video ships narration-aligned highlights,</a:t>
              </a:r>
              <a:br/>
              <a:r>
                <a:rPr lang="en-US" sz="1050" dirty="0">
                  <a:solidFill>
                    <a:schemeClr val="dk1"/>
                  </a:solidFill>
                  <a:latin typeface="+mn-lt"/>
                  <a:ea typeface="+mn-ea"/>
                  <a:cs typeface="+mn-cs"/>
                </a:rPr>
                <a:t>burned-in and sidecar subtitles, and duration control; the blog ships in two</a:t>
              </a:r>
              <a:br/>
              <a:r>
                <a:rPr lang="en-US" sz="1050" dirty="0">
                  <a:solidFill>
                    <a:schemeClr val="dk1"/>
                  </a:solidFill>
                  <a:latin typeface="+mn-lt"/>
                  <a:ea typeface="+mn-ea"/>
                  <a:cs typeface="+mn-cs"/>
                </a:rPr>
                <a:t>languages with layout-aware DOCX repair.</a:t>
              </a:r>
            </a:p>
          </p:txBody>
        </p:sp>
      </p:grpSp>
      <p:grpSp>
        <p:nvGrpSpPr>
          <p:cNvPr id="61" name="Group 61"/>
          <p:cNvGrpSpPr/>
          <p:nvPr/>
        </p:nvGrpSpPr>
        <p:grpSpPr>
          <a:xfrm>
            <a:off x="528638" y="5884545"/>
            <a:ext cx="4827567" cy="481012"/>
            <a:chOff x="528638" y="5884545"/>
            <a:chExt cx="4827567" cy="481012"/>
          </a:xfrm>
        </p:grpSpPr>
        <p:sp>
          <p:nvSpPr>
            <p:cNvPr id="60" name="TextBox 60"/>
            <p:cNvSpPr txBox="1"/>
            <p:nvPr/>
          </p:nvSpPr>
          <p:spPr>
            <a:xfrm>
              <a:off x="528638" y="5884545"/>
              <a:ext cx="4827567"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accent5"/>
                  </a:solidFill>
                  <a:latin typeface="+mn-lt"/>
                  <a:ea typeface="+mn-ea"/>
                  <a:cs typeface="+mn-cs"/>
                </a:rPr>
                <a:t>Runtimes: Claude Code and Codex skill mechanisms; deterministic primitives — headless</a:t>
              </a:r>
              <a:br/>
              <a:r>
                <a:rPr lang="en-US" sz="900" dirty="0">
                  <a:solidFill>
                    <a:schemeClr val="accent5"/>
                  </a:solidFill>
                  <a:latin typeface="+mn-lt"/>
                  <a:ea typeface="+mn-ea"/>
                  <a:cs typeface="+mn-cs"/>
                </a:rPr>
                <a:t>Chromium (HTML→PDF), LibreOffice + ffmpeg (slides→video), python-docx (.docx); Edge TTS</a:t>
              </a:r>
              <a:br/>
              <a:r>
                <a:rPr lang="en-US" sz="900" dirty="0">
                  <a:solidFill>
                    <a:schemeClr val="accent5"/>
                  </a:solidFill>
                  <a:latin typeface="+mn-lt"/>
                  <a:ea typeface="+mn-ea"/>
                  <a:cs typeface="+mn-cs"/>
                </a:rPr>
                <a:t>for narration. The runtime itself is not a contribution.</a:t>
              </a:r>
            </a:p>
          </p:txBody>
        </p:sp>
      </p:grpSp>
      <p:grpSp>
        <p:nvGrpSpPr>
          <p:cNvPr id="64" name="Group 64"/>
          <p:cNvGrpSpPr/>
          <p:nvPr/>
        </p:nvGrpSpPr>
        <p:grpSpPr>
          <a:xfrm>
            <a:off x="528638" y="6415088"/>
            <a:ext cx="11134725" cy="147638"/>
            <a:chOff x="528638" y="6415088"/>
            <a:chExt cx="11134725" cy="147638"/>
          </a:xfrm>
        </p:grpSpPr>
        <p:sp>
          <p:nvSpPr>
            <p:cNvPr id="62" name="TextBox 62"/>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63" name="TextBox 63"/>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4</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800"/>
                                        <p:tgtEl>
                                          <p:spTgt spid="12"/>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200"/>
                                        <p:tgtEl>
                                          <p:spTgt spid="43"/>
                                        </p:tgtEl>
                                      </p:cBhvr>
                                    </p:animEffect>
                                  </p:childTnLst>
                                </p:cTn>
                              </p:par>
                            </p:childTnLst>
                          </p:cTn>
                        </p:par>
                        <p:par>
                          <p:cTn id="24" fill="hold">
                            <p:stCondLst>
                              <p:cond delay="4100"/>
                            </p:stCondLst>
                            <p:childTnLst>
                              <p:par>
                                <p:cTn id="25" presetID="10" presetClass="entr" presetSubtype="0" fill="hold" grpId="0" nodeType="afterEffect">
                                  <p:stCondLst>
                                    <p:cond delay="50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400"/>
                                        <p:tgtEl>
                                          <p:spTgt spid="47"/>
                                        </p:tgtEl>
                                      </p:cBhvr>
                                    </p:animEffect>
                                  </p:childTnLst>
                                </p:cTn>
                              </p:par>
                            </p:childTnLst>
                          </p:cTn>
                        </p:par>
                        <p:par>
                          <p:cTn id="28" fill="hold">
                            <p:stCondLst>
                              <p:cond delay="5000"/>
                            </p:stCondLst>
                            <p:childTnLst>
                              <p:par>
                                <p:cTn id="29" presetID="10" presetClass="entr" presetSubtype="0" fill="hold" grpId="0" nodeType="afterEffect">
                                  <p:stCondLst>
                                    <p:cond delay="50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400"/>
                                        <p:tgtEl>
                                          <p:spTgt spid="51"/>
                                        </p:tgtEl>
                                      </p:cBhvr>
                                    </p:animEffect>
                                  </p:childTnLst>
                                </p:cTn>
                              </p:par>
                            </p:childTnLst>
                          </p:cTn>
                        </p:par>
                        <p:par>
                          <p:cTn id="32" fill="hold">
                            <p:stCondLst>
                              <p:cond delay="5900"/>
                            </p:stCondLst>
                            <p:childTnLst>
                              <p:par>
                                <p:cTn id="33" presetID="10" presetClass="entr" presetSubtype="0" fill="hold" grpId="0" nodeType="afterEffect">
                                  <p:stCondLst>
                                    <p:cond delay="50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400"/>
                                        <p:tgtEl>
                                          <p:spTgt spid="55"/>
                                        </p:tgtEl>
                                      </p:cBhvr>
                                    </p:animEffect>
                                  </p:childTnLst>
                                </p:cTn>
                              </p:par>
                            </p:childTnLst>
                          </p:cTn>
                        </p:par>
                        <p:par>
                          <p:cTn id="36" fill="hold">
                            <p:stCondLst>
                              <p:cond delay="6800"/>
                            </p:stCondLst>
                            <p:childTnLst>
                              <p:par>
                                <p:cTn id="37" presetID="10" presetClass="entr" presetSubtype="0" fill="hold" grpId="0" nodeType="afterEffect">
                                  <p:stCondLst>
                                    <p:cond delay="500"/>
                                  </p:stCondLst>
                                  <p:childTnLst>
                                    <p:set>
                                      <p:cBhvr>
                                        <p:cTn id="38" dur="1" fill="hold">
                                          <p:stCondLst>
                                            <p:cond delay="0"/>
                                          </p:stCondLst>
                                        </p:cTn>
                                        <p:tgtEl>
                                          <p:spTgt spid="59"/>
                                        </p:tgtEl>
                                        <p:attrNameLst>
                                          <p:attrName>style.visibility</p:attrName>
                                        </p:attrNameLst>
                                      </p:cBhvr>
                                      <p:to>
                                        <p:strVal val="visible"/>
                                      </p:to>
                                    </p:set>
                                    <p:animEffect transition="in" filter="fade">
                                      <p:cBhvr>
                                        <p:cTn id="39" dur="400"/>
                                        <p:tgtEl>
                                          <p:spTgt spid="59"/>
                                        </p:tgtEl>
                                      </p:cBhvr>
                                    </p:animEffect>
                                  </p:childTnLst>
                                </p:cTn>
                              </p:par>
                            </p:childTnLst>
                          </p:cTn>
                        </p:par>
                        <p:par>
                          <p:cTn id="40" fill="hold">
                            <p:stCondLst>
                              <p:cond delay="7700"/>
                            </p:stCondLst>
                            <p:childTnLst>
                              <p:par>
                                <p:cTn id="41" presetID="10" presetClass="entr" presetSubtype="0" fill="hold" grpId="0" nodeType="afterEffect">
                                  <p:stCondLst>
                                    <p:cond delay="50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3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138716" y="321945"/>
            <a:ext cx="2524647"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1 OF 5 · §2.1 PAPER2ASSETS</a:t>
            </a:r>
          </a:p>
        </p:txBody>
      </p:sp>
      <p:grpSp>
        <p:nvGrpSpPr>
          <p:cNvPr id="4" name="Group 4"/>
          <p:cNvGrpSpPr/>
          <p:nvPr/>
        </p:nvGrpSpPr>
        <p:grpSpPr>
          <a:xfrm>
            <a:off x="522732" y="573405"/>
            <a:ext cx="9240568" cy="734568"/>
            <a:chOff x="522732" y="573405"/>
            <a:chExt cx="9240568" cy="734568"/>
          </a:xfrm>
        </p:grpSpPr>
        <p:sp>
          <p:nvSpPr>
            <p:cNvPr id="3" name="TextBox 3"/>
            <p:cNvSpPr txBox="1"/>
            <p:nvPr/>
          </p:nvSpPr>
          <p:spPr>
            <a:xfrm>
              <a:off x="522732" y="573405"/>
              <a:ext cx="9240568"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Paper2Assets reads the PDF once and emits one bundle every generator</a:t>
              </a:r>
              <a:br/>
              <a:r>
                <a:rPr lang="en-US" sz="2100" b="1" dirty="0">
                  <a:solidFill>
                    <a:schemeClr val="accent1"/>
                  </a:solidFill>
                  <a:latin typeface="+mn-lt"/>
                  <a:ea typeface="+mn-ea"/>
                  <a:cs typeface="+mn-cs"/>
                </a:rPr>
                <a:t>consumes verbatim; figure cleanup runs once</a:t>
              </a:r>
            </a:p>
          </p:txBody>
        </p:sp>
      </p:grpSp>
      <p:grpSp>
        <p:nvGrpSpPr>
          <p:cNvPr id="6" name="!!claim-carry"/>
          <p:cNvGrpSpPr/>
          <p:nvPr/>
        </p:nvGrpSpPr>
        <p:grpSpPr>
          <a:xfrm>
            <a:off x="526542" y="1302068"/>
            <a:ext cx="8723202" cy="264033"/>
            <a:chOff x="526542" y="1302068"/>
            <a:chExt cx="8723202" cy="264033"/>
          </a:xfrm>
        </p:grpSpPr>
        <p:sp>
          <p:nvSpPr>
            <p:cNvPr id="5" name="TextBox 5"/>
            <p:cNvSpPr txBox="1"/>
            <p:nvPr/>
          </p:nvSpPr>
          <p:spPr>
            <a:xfrm>
              <a:off x="526542" y="1302068"/>
              <a:ext cx="87232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bundle is the only interface; stable ids, figure handles, and claim anchors keep the artifacts aligned (G1)</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1" name="Group 11"/>
          <p:cNvGrpSpPr/>
          <p:nvPr/>
        </p:nvGrpSpPr>
        <p:grpSpPr>
          <a:xfrm>
            <a:off x="533400" y="1866900"/>
            <a:ext cx="1809750" cy="1126807"/>
            <a:chOff x="533400" y="1866900"/>
            <a:chExt cx="1809750" cy="1126807"/>
          </a:xfrm>
        </p:grpSpPr>
        <p:sp>
          <p:nvSpPr>
            <p:cNvPr id="8" name="Freeform 8"/>
            <p:cNvSpPr/>
            <p:nvPr/>
          </p:nvSpPr>
          <p:spPr>
            <a:xfrm>
              <a:off x="533400" y="1866900"/>
              <a:ext cx="1809750" cy="533400"/>
            </a:xfrm>
            <a:prstGeom prst="chevron">
              <a:avLst>
                <a:gd name="adj" fmla="val 22000"/>
              </a:avLst>
            </a:prstGeom>
            <a:solidFill>
              <a:schemeClr val="accent2"/>
            </a:solidFill>
            <a:ln>
              <a:noFill/>
            </a:ln>
          </p:spPr>
        </p:sp>
        <p:sp>
          <p:nvSpPr>
            <p:cNvPr id="9" name="TextBox 9"/>
            <p:cNvSpPr txBox="1"/>
            <p:nvPr/>
          </p:nvSpPr>
          <p:spPr>
            <a:xfrm>
              <a:off x="681038" y="2084070"/>
              <a:ext cx="1299230"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Text, captions, figures</a:t>
              </a:r>
            </a:p>
          </p:txBody>
        </p:sp>
        <p:sp>
          <p:nvSpPr>
            <p:cNvPr id="10" name="TextBox 10"/>
            <p:cNvSpPr txBox="1"/>
            <p:nvPr/>
          </p:nvSpPr>
          <p:spPr>
            <a:xfrm>
              <a:off x="585788" y="2512695"/>
              <a:ext cx="1369284"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pull text and captions; crop</a:t>
              </a:r>
              <a:br/>
              <a:r>
                <a:rPr lang="en-US" sz="900" dirty="0">
                  <a:solidFill>
                    <a:schemeClr val="dk1"/>
                  </a:solidFill>
                  <a:latin typeface="+mn-lt"/>
                  <a:ea typeface="+mn-ea"/>
                  <a:cs typeface="+mn-cs"/>
                </a:rPr>
                <a:t>each figure with a</a:t>
              </a:r>
              <a:br/>
              <a:r>
                <a:rPr lang="en-US" sz="900" dirty="0">
                  <a:solidFill>
                    <a:schemeClr val="dk1"/>
                  </a:solidFill>
                  <a:latin typeface="+mn-lt"/>
                  <a:ea typeface="+mn-ea"/>
                  <a:cs typeface="+mn-cs"/>
                </a:rPr>
                <a:t>column-aware margin</a:t>
              </a:r>
            </a:p>
          </p:txBody>
        </p:sp>
      </p:grpSp>
      <p:grpSp>
        <p:nvGrpSpPr>
          <p:cNvPr id="15" name="Group 15"/>
          <p:cNvGrpSpPr/>
          <p:nvPr/>
        </p:nvGrpSpPr>
        <p:grpSpPr>
          <a:xfrm>
            <a:off x="2381250" y="1866900"/>
            <a:ext cx="1809750" cy="1126807"/>
            <a:chOff x="2381250" y="1866900"/>
            <a:chExt cx="1809750" cy="1126807"/>
          </a:xfrm>
        </p:grpSpPr>
        <p:sp>
          <p:nvSpPr>
            <p:cNvPr id="12" name="Freeform 12"/>
            <p:cNvSpPr/>
            <p:nvPr/>
          </p:nvSpPr>
          <p:spPr>
            <a:xfrm>
              <a:off x="2381250" y="1866900"/>
              <a:ext cx="1809750" cy="533400"/>
            </a:xfrm>
            <a:prstGeom prst="chevron">
              <a:avLst>
                <a:gd name="adj" fmla="val 22000"/>
              </a:avLst>
            </a:prstGeom>
            <a:solidFill>
              <a:schemeClr val="accent1"/>
            </a:solidFill>
            <a:ln>
              <a:noFill/>
            </a:ln>
          </p:spPr>
        </p:sp>
        <p:sp>
          <p:nvSpPr>
            <p:cNvPr id="13" name="TextBox 13"/>
            <p:cNvSpPr txBox="1"/>
            <p:nvPr/>
          </p:nvSpPr>
          <p:spPr>
            <a:xfrm>
              <a:off x="2528888" y="2084070"/>
              <a:ext cx="538412"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Metadata</a:t>
              </a:r>
            </a:p>
          </p:txBody>
        </p:sp>
        <p:sp>
          <p:nvSpPr>
            <p:cNvPr id="14" name="TextBox 14"/>
            <p:cNvSpPr txBox="1"/>
            <p:nvPr/>
          </p:nvSpPr>
          <p:spPr>
            <a:xfrm>
              <a:off x="2433638" y="2512695"/>
              <a:ext cx="1553444"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title, authors, institutes, venue,</a:t>
              </a:r>
              <a:br/>
              <a:r>
                <a:rPr lang="en-US" sz="900" dirty="0">
                  <a:solidFill>
                    <a:schemeClr val="dk1"/>
                  </a:solidFill>
                  <a:latin typeface="+mn-lt"/>
                  <a:ea typeface="+mn-ea"/>
                  <a:cs typeface="+mn-cs"/>
                </a:rPr>
                <a:t>paper and code links from</a:t>
              </a:r>
              <a:br/>
              <a:r>
                <a:rPr lang="en-US" sz="900" dirty="0">
                  <a:solidFill>
                    <a:schemeClr val="dk1"/>
                  </a:solidFill>
                  <a:latin typeface="+mn-lt"/>
                  <a:ea typeface="+mn-ea"/>
                  <a:cs typeface="+mn-cs"/>
                </a:rPr>
                <a:t>page 1 / arXiv page</a:t>
              </a:r>
            </a:p>
          </p:txBody>
        </p:sp>
      </p:grpSp>
      <p:grpSp>
        <p:nvGrpSpPr>
          <p:cNvPr id="19" name="Group 19"/>
          <p:cNvGrpSpPr/>
          <p:nvPr/>
        </p:nvGrpSpPr>
        <p:grpSpPr>
          <a:xfrm>
            <a:off x="4229100" y="1866900"/>
            <a:ext cx="1809750" cy="1279207"/>
            <a:chOff x="4229100" y="1866900"/>
            <a:chExt cx="1809750" cy="1279207"/>
          </a:xfrm>
        </p:grpSpPr>
        <p:sp>
          <p:nvSpPr>
            <p:cNvPr id="16" name="Freeform 16"/>
            <p:cNvSpPr/>
            <p:nvPr/>
          </p:nvSpPr>
          <p:spPr>
            <a:xfrm>
              <a:off x="4229100" y="1866900"/>
              <a:ext cx="1809750" cy="533400"/>
            </a:xfrm>
            <a:prstGeom prst="chevron">
              <a:avLst>
                <a:gd name="adj" fmla="val 22000"/>
              </a:avLst>
            </a:prstGeom>
            <a:solidFill>
              <a:schemeClr val="accent1"/>
            </a:solidFill>
            <a:ln>
              <a:noFill/>
            </a:ln>
          </p:spPr>
        </p:sp>
        <p:sp>
          <p:nvSpPr>
            <p:cNvPr id="17" name="TextBox 17"/>
            <p:cNvSpPr txBox="1"/>
            <p:nvPr/>
          </p:nvSpPr>
          <p:spPr>
            <a:xfrm>
              <a:off x="4376738" y="2084070"/>
              <a:ext cx="1313128"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Nine-section summary</a:t>
              </a:r>
            </a:p>
          </p:txBody>
        </p:sp>
        <p:sp>
          <p:nvSpPr>
            <p:cNvPr id="18" name="TextBox 18"/>
            <p:cNvSpPr txBox="1"/>
            <p:nvPr/>
          </p:nvSpPr>
          <p:spPr>
            <a:xfrm>
              <a:off x="4281488" y="2512695"/>
              <a:ext cx="1445293" cy="6334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Problem … Takeaway; each</a:t>
              </a:r>
              <a:br/>
              <a:r>
                <a:rPr lang="en-US" sz="900" dirty="0">
                  <a:solidFill>
                    <a:schemeClr val="dk1"/>
                  </a:solidFill>
                  <a:latin typeface="+mn-lt"/>
                  <a:ea typeface="+mn-ea"/>
                  <a:cs typeface="+mn-cs"/>
                </a:rPr>
                <a:t>with an essential entry, a</a:t>
              </a:r>
              <a:br/>
              <a:r>
                <a:rPr lang="en-US" sz="900" dirty="0">
                  <a:solidFill>
                    <a:schemeClr val="dk1"/>
                  </a:solidFill>
                  <a:latin typeface="+mn-lt"/>
                  <a:ea typeface="+mn-ea"/>
                  <a:cs typeface="+mn-cs"/>
                </a:rPr>
                <a:t>reserve entry, and a spoken</a:t>
              </a:r>
              <a:br/>
              <a:r>
                <a:rPr lang="en-US" sz="900" dirty="0">
                  <a:solidFill>
                    <a:schemeClr val="dk1"/>
                  </a:solidFill>
                  <a:latin typeface="+mn-lt"/>
                  <a:ea typeface="+mn-ea"/>
                  <a:cs typeface="+mn-cs"/>
                </a:rPr>
                <a:t>script</a:t>
              </a:r>
            </a:p>
          </p:txBody>
        </p:sp>
      </p:grpSp>
      <p:grpSp>
        <p:nvGrpSpPr>
          <p:cNvPr id="23" name="Group 23"/>
          <p:cNvGrpSpPr/>
          <p:nvPr/>
        </p:nvGrpSpPr>
        <p:grpSpPr>
          <a:xfrm>
            <a:off x="6076950" y="1866900"/>
            <a:ext cx="1809750" cy="1279207"/>
            <a:chOff x="6076950" y="1866900"/>
            <a:chExt cx="1809750" cy="1279207"/>
          </a:xfrm>
        </p:grpSpPr>
        <p:sp>
          <p:nvSpPr>
            <p:cNvPr id="20" name="Freeform 20"/>
            <p:cNvSpPr/>
            <p:nvPr/>
          </p:nvSpPr>
          <p:spPr>
            <a:xfrm>
              <a:off x="6076950" y="1866900"/>
              <a:ext cx="1809750" cy="533400"/>
            </a:xfrm>
            <a:prstGeom prst="chevron">
              <a:avLst>
                <a:gd name="adj" fmla="val 22000"/>
              </a:avLst>
            </a:prstGeom>
            <a:solidFill>
              <a:schemeClr val="accent1"/>
            </a:solidFill>
            <a:ln>
              <a:noFill/>
            </a:ln>
          </p:spPr>
        </p:sp>
        <p:sp>
          <p:nvSpPr>
            <p:cNvPr id="21" name="TextBox 21"/>
            <p:cNvSpPr txBox="1"/>
            <p:nvPr/>
          </p:nvSpPr>
          <p:spPr>
            <a:xfrm>
              <a:off x="6224588" y="2084070"/>
              <a:ext cx="851431"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Logos and QR</a:t>
              </a:r>
            </a:p>
          </p:txBody>
        </p:sp>
        <p:sp>
          <p:nvSpPr>
            <p:cNvPr id="22" name="TextBox 22"/>
            <p:cNvSpPr txBox="1"/>
            <p:nvPr/>
          </p:nvSpPr>
          <p:spPr>
            <a:xfrm>
              <a:off x="6129338" y="2512695"/>
              <a:ext cx="1432697" cy="6334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institution marks from</a:t>
              </a:r>
              <a:br/>
              <a:r>
                <a:rPr lang="en-US" sz="900" dirty="0">
                  <a:solidFill>
                    <a:schemeClr val="dk1"/>
                  </a:solidFill>
                  <a:latin typeface="+mn-lt"/>
                  <a:ea typeface="+mn-ea"/>
                  <a:cs typeface="+mn-cs"/>
                </a:rPr>
                <a:t>Wikimedia infoboxes, venue</a:t>
              </a:r>
              <a:br/>
              <a:r>
                <a:rPr lang="en-US" sz="900" dirty="0">
                  <a:solidFill>
                    <a:schemeClr val="dk1"/>
                  </a:solidFill>
                  <a:latin typeface="+mn-lt"/>
                  <a:ea typeface="+mn-ea"/>
                  <a:cs typeface="+mn-cs"/>
                </a:rPr>
                <a:t>from Wikidata; slot hidden</a:t>
              </a:r>
              <a:br/>
              <a:r>
                <a:rPr lang="en-US" sz="900" dirty="0">
                  <a:solidFill>
                    <a:schemeClr val="dk1"/>
                  </a:solidFill>
                  <a:latin typeface="+mn-lt"/>
                  <a:ea typeface="+mn-ea"/>
                  <a:cs typeface="+mn-cs"/>
                </a:rPr>
                <a:t>when unresolved</a:t>
              </a:r>
            </a:p>
          </p:txBody>
        </p:sp>
      </p:grpSp>
      <p:grpSp>
        <p:nvGrpSpPr>
          <p:cNvPr id="27" name="Group 27"/>
          <p:cNvGrpSpPr/>
          <p:nvPr/>
        </p:nvGrpSpPr>
        <p:grpSpPr>
          <a:xfrm>
            <a:off x="7924800" y="1866900"/>
            <a:ext cx="1809750" cy="974407"/>
            <a:chOff x="7924800" y="1866900"/>
            <a:chExt cx="1809750" cy="974407"/>
          </a:xfrm>
        </p:grpSpPr>
        <p:sp>
          <p:nvSpPr>
            <p:cNvPr id="24" name="Freeform 24"/>
            <p:cNvSpPr/>
            <p:nvPr/>
          </p:nvSpPr>
          <p:spPr>
            <a:xfrm>
              <a:off x="7924800" y="1866900"/>
              <a:ext cx="1809750" cy="533400"/>
            </a:xfrm>
            <a:prstGeom prst="chevron">
              <a:avLst>
                <a:gd name="adj" fmla="val 22000"/>
              </a:avLst>
            </a:prstGeom>
            <a:solidFill>
              <a:schemeClr val="accent1"/>
            </a:solidFill>
            <a:ln>
              <a:noFill/>
            </a:ln>
          </p:spPr>
        </p:sp>
        <p:sp>
          <p:nvSpPr>
            <p:cNvPr id="25" name="TextBox 25"/>
            <p:cNvSpPr txBox="1"/>
            <p:nvPr/>
          </p:nvSpPr>
          <p:spPr>
            <a:xfrm>
              <a:off x="8072438" y="2084070"/>
              <a:ext cx="1070393"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Canonical records</a:t>
              </a:r>
            </a:p>
          </p:txBody>
        </p:sp>
        <p:sp>
          <p:nvSpPr>
            <p:cNvPr id="26" name="TextBox 26"/>
            <p:cNvSpPr txBox="1"/>
            <p:nvPr/>
          </p:nvSpPr>
          <p:spPr>
            <a:xfrm>
              <a:off x="7977188" y="2512695"/>
              <a:ext cx="1197536"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emit the record files the</a:t>
              </a:r>
              <a:br/>
              <a:r>
                <a:rPr lang="en-US" sz="900" dirty="0">
                  <a:solidFill>
                    <a:schemeClr val="dk1"/>
                  </a:solidFill>
                  <a:latin typeface="+mn-lt"/>
                  <a:ea typeface="+mn-ea"/>
                  <a:cs typeface="+mn-cs"/>
                </a:rPr>
                <a:t>downstream skills read</a:t>
              </a:r>
            </a:p>
          </p:txBody>
        </p:sp>
      </p:grpSp>
      <p:grpSp>
        <p:nvGrpSpPr>
          <p:cNvPr id="31" name="Group 31"/>
          <p:cNvGrpSpPr/>
          <p:nvPr/>
        </p:nvGrpSpPr>
        <p:grpSpPr>
          <a:xfrm>
            <a:off x="9772650" y="1866900"/>
            <a:ext cx="1809750" cy="1126807"/>
            <a:chOff x="9772650" y="1866900"/>
            <a:chExt cx="1809750" cy="1126807"/>
          </a:xfrm>
        </p:grpSpPr>
        <p:sp>
          <p:nvSpPr>
            <p:cNvPr id="28" name="Freeform 28"/>
            <p:cNvSpPr/>
            <p:nvPr/>
          </p:nvSpPr>
          <p:spPr>
            <a:xfrm>
              <a:off x="9772650" y="1866900"/>
              <a:ext cx="1809750" cy="533400"/>
            </a:xfrm>
            <a:prstGeom prst="chevron">
              <a:avLst>
                <a:gd name="adj" fmla="val 22000"/>
              </a:avLst>
            </a:prstGeom>
            <a:solidFill>
              <a:schemeClr val="accent1"/>
            </a:solidFill>
            <a:ln>
              <a:noFill/>
            </a:ln>
          </p:spPr>
        </p:sp>
        <p:sp>
          <p:nvSpPr>
            <p:cNvPr id="29" name="TextBox 29"/>
            <p:cNvSpPr txBox="1"/>
            <p:nvPr/>
          </p:nvSpPr>
          <p:spPr>
            <a:xfrm>
              <a:off x="9920288" y="2084070"/>
              <a:ext cx="761179"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Second pass</a:t>
              </a:r>
            </a:p>
          </p:txBody>
        </p:sp>
        <p:sp>
          <p:nvSpPr>
            <p:cNvPr id="30" name="TextBox 30"/>
            <p:cNvSpPr txBox="1"/>
            <p:nvPr/>
          </p:nvSpPr>
          <p:spPr>
            <a:xfrm>
              <a:off x="9825038" y="2512695"/>
              <a:ext cx="1464518"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inventory manifest with PDF</a:t>
              </a:r>
              <a:br/>
              <a:r>
                <a:rPr lang="en-US" sz="900" dirty="0">
                  <a:solidFill>
                    <a:schemeClr val="dk1"/>
                  </a:solidFill>
                  <a:latin typeface="+mn-lt"/>
                  <a:ea typeface="+mn-ea"/>
                  <a:cs typeface="+mn-cs"/>
                </a:rPr>
                <a:t>checksum, per-section ids,</a:t>
              </a:r>
              <a:br/>
              <a:r>
                <a:rPr lang="en-US" sz="900" dirty="0">
                  <a:solidFill>
                    <a:schemeClr val="dk1"/>
                  </a:solidFill>
                  <a:latin typeface="+mn-lt"/>
                  <a:ea typeface="+mn-ea"/>
                  <a:cs typeface="+mn-cs"/>
                </a:rPr>
                <a:t>narration list in reading order</a:t>
              </a:r>
            </a:p>
          </p:txBody>
        </p:sp>
      </p:grpSp>
      <p:grpSp>
        <p:nvGrpSpPr>
          <p:cNvPr id="33" name="Group 33"/>
          <p:cNvGrpSpPr/>
          <p:nvPr/>
        </p:nvGrpSpPr>
        <p:grpSpPr>
          <a:xfrm>
            <a:off x="528638" y="3274695"/>
            <a:ext cx="6517133" cy="176212"/>
            <a:chOff x="528638" y="3274695"/>
            <a:chExt cx="6517133" cy="176212"/>
          </a:xfrm>
        </p:grpSpPr>
        <p:sp>
          <p:nvSpPr>
            <p:cNvPr id="32" name="TextBox 32"/>
            <p:cNvSpPr txBox="1"/>
            <p:nvPr/>
          </p:nvSpPr>
          <p:spPr>
            <a:xfrm>
              <a:off x="528638" y="3274695"/>
              <a:ext cx="6517133"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FIGURE-CLEANUP CHAIN — THE LOAD-BEARING STAGE, RUN ONCE PER FIGURE</a:t>
              </a:r>
            </a:p>
          </p:txBody>
        </p:sp>
      </p:grpSp>
      <p:grpSp>
        <p:nvGrpSpPr>
          <p:cNvPr id="37" name="Group 37"/>
          <p:cNvGrpSpPr/>
          <p:nvPr/>
        </p:nvGrpSpPr>
        <p:grpSpPr>
          <a:xfrm>
            <a:off x="533400" y="3581400"/>
            <a:ext cx="2514600" cy="666750"/>
            <a:chOff x="533400" y="3581400"/>
            <a:chExt cx="2514600" cy="666750"/>
          </a:xfrm>
        </p:grpSpPr>
        <p:sp>
          <p:nvSpPr>
            <p:cNvPr id="34" name="Rectangle 34"/>
            <p:cNvSpPr/>
            <p:nvPr/>
          </p:nvSpPr>
          <p:spPr>
            <a:xfrm>
              <a:off x="533400" y="3581400"/>
              <a:ext cx="2514600" cy="666750"/>
            </a:xfrm>
            <a:prstGeom prst="rect">
              <a:avLst/>
            </a:prstGeom>
            <a:solidFill>
              <a:schemeClr val="lt2"/>
            </a:solidFill>
            <a:ln>
              <a:noFill/>
            </a:ln>
          </p:spPr>
        </p:sp>
        <p:sp>
          <p:nvSpPr>
            <p:cNvPr id="35" name="TextBox 35"/>
            <p:cNvSpPr txBox="1"/>
            <p:nvPr/>
          </p:nvSpPr>
          <p:spPr>
            <a:xfrm>
              <a:off x="642366" y="3696652"/>
              <a:ext cx="1334337"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Deterministic prefix</a:t>
              </a:r>
            </a:p>
          </p:txBody>
        </p:sp>
        <p:sp>
          <p:nvSpPr>
            <p:cNvPr id="36" name="TextBox 36"/>
            <p:cNvSpPr txBox="1"/>
            <p:nvPr/>
          </p:nvSpPr>
          <p:spPr>
            <a:xfrm>
              <a:off x="642938" y="3903345"/>
              <a:ext cx="2004494"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strips chrome residue, baked-in caption</a:t>
              </a:r>
              <a:br/>
              <a:r>
                <a:rPr lang="en-US" sz="900" dirty="0">
                  <a:solidFill>
                    <a:schemeClr val="dk1"/>
                  </a:solidFill>
                  <a:latin typeface="+mn-lt"/>
                  <a:ea typeface="+mn-ea"/>
                  <a:cs typeface="+mn-cs"/>
                </a:rPr>
                <a:t>strips, uniform margins</a:t>
              </a:r>
            </a:p>
          </p:txBody>
        </p:sp>
      </p:grpSp>
      <p:sp>
        <p:nvSpPr>
          <p:cNvPr id="38" name="Line 38"/>
          <p:cNvSpPr/>
          <p:nvPr/>
        </p:nvSpPr>
        <p:spPr>
          <a:xfrm>
            <a:off x="3067050" y="3914775"/>
            <a:ext cx="285750" cy="1"/>
          </a:xfrm>
          <a:prstGeom prst="line">
            <a:avLst/>
          </a:prstGeom>
          <a:noFill/>
          <a:ln w="14288">
            <a:solidFill>
              <a:srgbClr val="6B7684"/>
            </a:solidFill>
            <a:tailEnd type="triangle" w="lg" len="lg"/>
          </a:ln>
        </p:spPr>
      </p:sp>
      <p:grpSp>
        <p:nvGrpSpPr>
          <p:cNvPr id="42" name="Group 42"/>
          <p:cNvGrpSpPr/>
          <p:nvPr/>
        </p:nvGrpSpPr>
        <p:grpSpPr>
          <a:xfrm>
            <a:off x="3390900" y="3581400"/>
            <a:ext cx="2514600" cy="666750"/>
            <a:chOff x="3390900" y="3581400"/>
            <a:chExt cx="2514600" cy="666750"/>
          </a:xfrm>
        </p:grpSpPr>
        <p:sp>
          <p:nvSpPr>
            <p:cNvPr id="39" name="Rectangle 39"/>
            <p:cNvSpPr/>
            <p:nvPr/>
          </p:nvSpPr>
          <p:spPr>
            <a:xfrm>
              <a:off x="3390900" y="3581400"/>
              <a:ext cx="2514600" cy="666750"/>
            </a:xfrm>
            <a:prstGeom prst="rect">
              <a:avLst/>
            </a:prstGeom>
            <a:solidFill>
              <a:schemeClr val="lt2"/>
            </a:solidFill>
            <a:ln>
              <a:noFill/>
            </a:ln>
          </p:spPr>
        </p:sp>
        <p:sp>
          <p:nvSpPr>
            <p:cNvPr id="40" name="TextBox 40"/>
            <p:cNvSpPr txBox="1"/>
            <p:nvPr/>
          </p:nvSpPr>
          <p:spPr>
            <a:xfrm>
              <a:off x="3499866" y="3696652"/>
              <a:ext cx="97450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Visual-AI crop</a:t>
              </a:r>
            </a:p>
          </p:txBody>
        </p:sp>
        <p:sp>
          <p:nvSpPr>
            <p:cNvPr id="41" name="TextBox 41"/>
            <p:cNvSpPr txBox="1"/>
            <p:nvPr/>
          </p:nvSpPr>
          <p:spPr>
            <a:xfrm>
              <a:off x="3500438" y="3903345"/>
              <a:ext cx="202404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judges a tight bounding box for the hard</a:t>
              </a:r>
              <a:br/>
              <a:r>
                <a:rPr lang="en-US" sz="900" dirty="0">
                  <a:solidFill>
                    <a:schemeClr val="dk1"/>
                  </a:solidFill>
                  <a:latin typeface="+mn-lt"/>
                  <a:ea typeface="+mn-ea"/>
                  <a:cs typeface="+mn-cs"/>
                </a:rPr>
                <a:t>cases</a:t>
              </a:r>
            </a:p>
          </p:txBody>
        </p:sp>
      </p:grpSp>
      <p:sp>
        <p:nvSpPr>
          <p:cNvPr id="43" name="Line 43"/>
          <p:cNvSpPr/>
          <p:nvPr/>
        </p:nvSpPr>
        <p:spPr>
          <a:xfrm>
            <a:off x="5924550" y="3914775"/>
            <a:ext cx="285750" cy="1"/>
          </a:xfrm>
          <a:prstGeom prst="line">
            <a:avLst/>
          </a:prstGeom>
          <a:noFill/>
          <a:ln w="14288">
            <a:solidFill>
              <a:srgbClr val="6B7684"/>
            </a:solidFill>
            <a:tailEnd type="triangle" w="lg" len="lg"/>
          </a:ln>
        </p:spPr>
      </p:sp>
      <p:grpSp>
        <p:nvGrpSpPr>
          <p:cNvPr id="47" name="Group 47"/>
          <p:cNvGrpSpPr/>
          <p:nvPr/>
        </p:nvGrpSpPr>
        <p:grpSpPr>
          <a:xfrm>
            <a:off x="6248400" y="3581400"/>
            <a:ext cx="2514600" cy="666750"/>
            <a:chOff x="6248400" y="3581400"/>
            <a:chExt cx="2514600" cy="666750"/>
          </a:xfrm>
        </p:grpSpPr>
        <p:sp>
          <p:nvSpPr>
            <p:cNvPr id="44" name="Rectangle 44"/>
            <p:cNvSpPr/>
            <p:nvPr/>
          </p:nvSpPr>
          <p:spPr>
            <a:xfrm>
              <a:off x="6248400" y="3581400"/>
              <a:ext cx="2514600" cy="666750"/>
            </a:xfrm>
            <a:prstGeom prst="rect">
              <a:avLst/>
            </a:prstGeom>
            <a:solidFill>
              <a:schemeClr val="lt2"/>
            </a:solidFill>
            <a:ln>
              <a:noFill/>
            </a:ln>
          </p:spPr>
        </p:sp>
        <p:sp>
          <p:nvSpPr>
            <p:cNvPr id="45" name="TextBox 45"/>
            <p:cNvSpPr txBox="1"/>
            <p:nvPr/>
          </p:nvSpPr>
          <p:spPr>
            <a:xfrm>
              <a:off x="6357366" y="3696652"/>
              <a:ext cx="146018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Fresh-context verifier</a:t>
              </a:r>
            </a:p>
          </p:txBody>
        </p:sp>
        <p:sp>
          <p:nvSpPr>
            <p:cNvPr id="46" name="TextBox 46"/>
            <p:cNvSpPr txBox="1"/>
            <p:nvPr/>
          </p:nvSpPr>
          <p:spPr>
            <a:xfrm>
              <a:off x="6357938" y="3903345"/>
              <a:ext cx="2061942"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 sub-agent re-reads the original against</a:t>
              </a:r>
              <a:br/>
              <a:r>
                <a:rPr lang="en-US" sz="900" dirty="0">
                  <a:solidFill>
                    <a:schemeClr val="dk1"/>
                  </a:solidFill>
                  <a:latin typeface="+mn-lt"/>
                  <a:ea typeface="+mn-ea"/>
                  <a:cs typeface="+mn-cs"/>
                </a:rPr>
                <a:t>the proposed crop</a:t>
              </a:r>
            </a:p>
          </p:txBody>
        </p:sp>
      </p:grpSp>
      <p:sp>
        <p:nvSpPr>
          <p:cNvPr id="48" name="Line 48"/>
          <p:cNvSpPr/>
          <p:nvPr/>
        </p:nvSpPr>
        <p:spPr>
          <a:xfrm>
            <a:off x="8782050" y="3914775"/>
            <a:ext cx="285750" cy="1"/>
          </a:xfrm>
          <a:prstGeom prst="line">
            <a:avLst/>
          </a:prstGeom>
          <a:noFill/>
          <a:ln w="14288">
            <a:solidFill>
              <a:srgbClr val="6B7684"/>
            </a:solidFill>
            <a:tailEnd type="triangle" w="lg" len="lg"/>
          </a:ln>
        </p:spPr>
      </p:sp>
      <p:grpSp>
        <p:nvGrpSpPr>
          <p:cNvPr id="52" name="Group 52"/>
          <p:cNvGrpSpPr/>
          <p:nvPr/>
        </p:nvGrpSpPr>
        <p:grpSpPr>
          <a:xfrm>
            <a:off x="9105900" y="3581400"/>
            <a:ext cx="2514600" cy="666750"/>
            <a:chOff x="9105900" y="3581400"/>
            <a:chExt cx="2514600" cy="666750"/>
          </a:xfrm>
        </p:grpSpPr>
        <p:sp>
          <p:nvSpPr>
            <p:cNvPr id="49" name="Rectangle 49"/>
            <p:cNvSpPr/>
            <p:nvPr/>
          </p:nvSpPr>
          <p:spPr>
            <a:xfrm>
              <a:off x="9105900" y="3581400"/>
              <a:ext cx="2514600" cy="666750"/>
            </a:xfrm>
            <a:prstGeom prst="rect">
              <a:avLst/>
            </a:prstGeom>
            <a:solidFill>
              <a:schemeClr val="lt2"/>
            </a:solidFill>
            <a:ln>
              <a:noFill/>
            </a:ln>
          </p:spPr>
        </p:sp>
        <p:sp>
          <p:nvSpPr>
            <p:cNvPr id="50" name="TextBox 50"/>
            <p:cNvSpPr txBox="1"/>
            <p:nvPr/>
          </p:nvSpPr>
          <p:spPr>
            <a:xfrm>
              <a:off x="9214866" y="3696652"/>
              <a:ext cx="196366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Commit only on a clean pass</a:t>
              </a:r>
            </a:p>
          </p:txBody>
        </p:sp>
        <p:sp>
          <p:nvSpPr>
            <p:cNvPr id="51" name="TextBox 51"/>
            <p:cNvSpPr txBox="1"/>
            <p:nvPr/>
          </p:nvSpPr>
          <p:spPr>
            <a:xfrm>
              <a:off x="9215438" y="3903345"/>
              <a:ext cx="2074103"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splits a raster that packs two figures; raw</a:t>
              </a:r>
              <a:br/>
              <a:r>
                <a:rPr lang="en-US" sz="900" dirty="0">
                  <a:solidFill>
                    <a:schemeClr val="dk1"/>
                  </a:solidFill>
                  <a:latin typeface="+mn-lt"/>
                  <a:ea typeface="+mn-ea"/>
                  <a:cs typeface="+mn-cs"/>
                </a:rPr>
                <a:t>extract backed up once</a:t>
              </a:r>
            </a:p>
          </p:txBody>
        </p:sp>
      </p:grpSp>
      <p:grpSp>
        <p:nvGrpSpPr>
          <p:cNvPr id="61" name="Group 61"/>
          <p:cNvGrpSpPr/>
          <p:nvPr/>
        </p:nvGrpSpPr>
        <p:grpSpPr>
          <a:xfrm>
            <a:off x="528638" y="4531995"/>
            <a:ext cx="6672262" cy="1223962"/>
            <a:chOff x="528638" y="4531995"/>
            <a:chExt cx="6672262" cy="1223962"/>
          </a:xfrm>
        </p:grpSpPr>
        <p:sp>
          <p:nvSpPr>
            <p:cNvPr id="53" name="TextBox 53"/>
            <p:cNvSpPr txBox="1"/>
            <p:nvPr/>
          </p:nvSpPr>
          <p:spPr>
            <a:xfrm>
              <a:off x="528638" y="4531995"/>
              <a:ext cx="2164333"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WHAT THE BUNDLE HOLDS</a:t>
              </a:r>
            </a:p>
          </p:txBody>
        </p:sp>
        <p:sp>
          <p:nvSpPr>
            <p:cNvPr id="54" name="Line 54"/>
            <p:cNvSpPr/>
            <p:nvPr/>
          </p:nvSpPr>
          <p:spPr>
            <a:xfrm>
              <a:off x="533400" y="4705350"/>
              <a:ext cx="6667500" cy="9525"/>
            </a:xfrm>
            <a:custGeom>
              <a:avLst/>
              <a:gdLst/>
              <a:ahLst/>
              <a:cxnLst/>
              <a:rect l="l" t="t" r="r" b="b"/>
              <a:pathLst>
                <a:path w="6667500" h="9525">
                  <a:moveTo>
                    <a:pt x="0" y="0"/>
                  </a:moveTo>
                  <a:lnTo>
                    <a:pt x="6667500" y="0"/>
                  </a:lnTo>
                </a:path>
              </a:pathLst>
            </a:custGeom>
            <a:noFill/>
            <a:ln w="9525">
              <a:solidFill>
                <a:schemeClr val="accent1"/>
              </a:solidFill>
            </a:ln>
          </p:spPr>
        </p:sp>
        <p:sp>
          <p:nvSpPr>
            <p:cNvPr id="55" name="Ellipse 55"/>
            <p:cNvSpPr/>
            <p:nvPr/>
          </p:nvSpPr>
          <p:spPr>
            <a:xfrm>
              <a:off x="542925" y="4850130"/>
              <a:ext cx="57150" cy="57150"/>
            </a:xfrm>
            <a:prstGeom prst="ellipse">
              <a:avLst/>
            </a:prstGeom>
            <a:solidFill>
              <a:schemeClr val="accent2"/>
            </a:solidFill>
            <a:ln>
              <a:noFill/>
            </a:ln>
          </p:spPr>
        </p:sp>
        <p:sp>
          <p:nvSpPr>
            <p:cNvPr id="56" name="TextBox 56"/>
            <p:cNvSpPr txBox="1"/>
            <p:nvPr/>
          </p:nvSpPr>
          <p:spPr>
            <a:xfrm>
              <a:off x="681038" y="4817745"/>
              <a:ext cx="5468466"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Full body text with page breaks; detected figure captions; a per-figure manifest; cleaned figure images</a:t>
              </a:r>
            </a:p>
          </p:txBody>
        </p:sp>
        <p:sp>
          <p:nvSpPr>
            <p:cNvPr id="57" name="Ellipse 57"/>
            <p:cNvSpPr/>
            <p:nvPr/>
          </p:nvSpPr>
          <p:spPr>
            <a:xfrm>
              <a:off x="542925" y="5078730"/>
              <a:ext cx="57150" cy="57150"/>
            </a:xfrm>
            <a:prstGeom prst="ellipse">
              <a:avLst/>
            </a:prstGeom>
            <a:solidFill>
              <a:schemeClr val="accent2"/>
            </a:solidFill>
            <a:ln>
              <a:noFill/>
            </a:ln>
          </p:spPr>
        </p:sp>
        <p:sp>
          <p:nvSpPr>
            <p:cNvPr id="58" name="TextBox 58"/>
            <p:cNvSpPr txBox="1"/>
            <p:nvPr/>
          </p:nvSpPr>
          <p:spPr>
            <a:xfrm>
              <a:off x="681038" y="5046345"/>
              <a:ext cx="606870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Metadata: title, authors, institutes, venue, paper and code links; best-effort institution and venue logos; QR codes</a:t>
              </a:r>
            </a:p>
          </p:txBody>
        </p:sp>
        <p:sp>
          <p:nvSpPr>
            <p:cNvPr id="59" name="Ellipse 59"/>
            <p:cNvSpPr/>
            <p:nvPr/>
          </p:nvSpPr>
          <p:spPr>
            <a:xfrm>
              <a:off x="542925" y="5307330"/>
              <a:ext cx="57150" cy="57150"/>
            </a:xfrm>
            <a:prstGeom prst="ellipse">
              <a:avLst/>
            </a:prstGeom>
            <a:solidFill>
              <a:schemeClr val="accent2"/>
            </a:solidFill>
            <a:ln>
              <a:noFill/>
            </a:ln>
          </p:spPr>
        </p:sp>
        <p:sp>
          <p:nvSpPr>
            <p:cNvPr id="60" name="TextBox 60"/>
            <p:cNvSpPr txBox="1"/>
            <p:nvPr/>
          </p:nvSpPr>
          <p:spPr>
            <a:xfrm>
              <a:off x="681038" y="5274945"/>
              <a:ext cx="6000651"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The nine-section summary — Problem, Motivation, Contribution, Method, Dataset/Benchmark, Key Result, Ablation,</a:t>
              </a:r>
              <a:br/>
              <a:r>
                <a:rPr lang="en-US" sz="900" dirty="0">
                  <a:solidFill>
                    <a:schemeClr val="dk1"/>
                  </a:solidFill>
                  <a:latin typeface="+mn-lt"/>
                  <a:ea typeface="+mn-ea"/>
                  <a:cs typeface="+mn-cs"/>
                </a:rPr>
                <a:t>Headline Numbers, Takeaway — plus the inventory manifest, per-section records with stable ids, and the narration clip</a:t>
              </a:r>
              <a:br/>
              <a:r>
                <a:rPr lang="en-US" sz="900" dirty="0">
                  <a:solidFill>
                    <a:schemeClr val="dk1"/>
                  </a:solidFill>
                  <a:latin typeface="+mn-lt"/>
                  <a:ea typeface="+mn-ea"/>
                  <a:cs typeface="+mn-cs"/>
                </a:rPr>
                <a:t>list</a:t>
              </a:r>
            </a:p>
          </p:txBody>
        </p:sp>
      </p:grpSp>
      <p:grpSp>
        <p:nvGrpSpPr>
          <p:cNvPr id="66" name="Group 66"/>
          <p:cNvGrpSpPr/>
          <p:nvPr/>
        </p:nvGrpSpPr>
        <p:grpSpPr>
          <a:xfrm>
            <a:off x="7505700" y="4495800"/>
            <a:ext cx="4152900" cy="1600200"/>
            <a:chOff x="7505700" y="4495800"/>
            <a:chExt cx="4152900" cy="1600200"/>
          </a:xfrm>
        </p:grpSpPr>
        <p:sp>
          <p:nvSpPr>
            <p:cNvPr id="62" name="Rectangle 62"/>
            <p:cNvSpPr/>
            <p:nvPr/>
          </p:nvSpPr>
          <p:spPr>
            <a:xfrm>
              <a:off x="7505700" y="4495800"/>
              <a:ext cx="4152900" cy="1600200"/>
            </a:xfrm>
            <a:prstGeom prst="rect">
              <a:avLst/>
            </a:prstGeom>
            <a:solidFill>
              <a:schemeClr val="lt2"/>
            </a:solidFill>
            <a:ln>
              <a:noFill/>
            </a:ln>
          </p:spPr>
        </p:sp>
        <p:sp>
          <p:nvSpPr>
            <p:cNvPr id="63" name="Rectangle 63"/>
            <p:cNvSpPr/>
            <p:nvPr/>
          </p:nvSpPr>
          <p:spPr>
            <a:xfrm>
              <a:off x="7505700" y="4495800"/>
              <a:ext cx="38100" cy="1600200"/>
            </a:xfrm>
            <a:prstGeom prst="rect">
              <a:avLst/>
            </a:prstGeom>
            <a:solidFill>
              <a:schemeClr val="accent2"/>
            </a:solidFill>
            <a:ln>
              <a:noFill/>
            </a:ln>
          </p:spPr>
        </p:sp>
        <p:sp>
          <p:nvSpPr>
            <p:cNvPr id="64" name="TextBox 64"/>
            <p:cNvSpPr txBox="1"/>
            <p:nvPr/>
          </p:nvSpPr>
          <p:spPr>
            <a:xfrm>
              <a:off x="7671816" y="4611052"/>
              <a:ext cx="1617257"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Single-owner extraction</a:t>
              </a:r>
            </a:p>
          </p:txBody>
        </p:sp>
        <p:sp>
          <p:nvSpPr>
            <p:cNvPr id="65" name="TextBox 65"/>
            <p:cNvSpPr txBox="1"/>
            <p:nvPr/>
          </p:nvSpPr>
          <p:spPr>
            <a:xfrm>
              <a:off x="7672388" y="4855845"/>
              <a:ext cx="3535269" cy="7858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Downstream skills read the bundle and never re-open the PDF. A</a:t>
              </a:r>
              <a:br/>
              <a:r>
                <a:rPr lang="en-US" sz="900" dirty="0">
                  <a:solidFill>
                    <a:schemeClr val="dk1"/>
                  </a:solidFill>
                  <a:latin typeface="+mn-lt"/>
                  <a:ea typeface="+mn-ea"/>
                  <a:cs typeface="+mn-cs"/>
                </a:rPr>
                <a:t>stable figure-naming invariant means the figure the poster's method</a:t>
              </a:r>
              <a:br/>
              <a:r>
                <a:rPr lang="en-US" sz="900" dirty="0">
                  <a:solidFill>
                    <a:schemeClr val="dk1"/>
                  </a:solidFill>
                  <a:latin typeface="+mn-lt"/>
                  <a:ea typeface="+mn-ea"/>
                  <a:cs typeface="+mn-cs"/>
                </a:rPr>
                <a:t>card embeds is the one the video's slide cites and the blog's evidence</a:t>
              </a:r>
              <a:br/>
              <a:r>
                <a:rPr lang="en-US" sz="900" dirty="0">
                  <a:solidFill>
                    <a:schemeClr val="dk1"/>
                  </a:solidFill>
                  <a:latin typeface="+mn-lt"/>
                  <a:ea typeface="+mn-ea"/>
                  <a:cs typeface="+mn-cs"/>
                </a:rPr>
                <a:t>map references, without any cross-skill coordination. Each step is an</a:t>
              </a:r>
              <a:br/>
              <a:r>
                <a:rPr lang="en-US" sz="900" dirty="0">
                  <a:solidFill>
                    <a:schemeClr val="dk1"/>
                  </a:solidFill>
                  <a:latin typeface="+mn-lt"/>
                  <a:ea typeface="+mn-ea"/>
                  <a:cs typeface="+mn-cs"/>
                </a:rPr>
                <a:t>idempotent script, so a failed stage re-runs in isolation.</a:t>
              </a:r>
            </a:p>
          </p:txBody>
        </p:sp>
      </p:grpSp>
      <p:grpSp>
        <p:nvGrpSpPr>
          <p:cNvPr id="69" name="Group 69"/>
          <p:cNvGrpSpPr/>
          <p:nvPr/>
        </p:nvGrpSpPr>
        <p:grpSpPr>
          <a:xfrm>
            <a:off x="528638" y="6415088"/>
            <a:ext cx="11134725" cy="147638"/>
            <a:chOff x="528638" y="6415088"/>
            <a:chExt cx="11134725" cy="147638"/>
          </a:xfrm>
        </p:grpSpPr>
        <p:sp>
          <p:nvSpPr>
            <p:cNvPr id="67" name="TextBox 67"/>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68" name="TextBox 68"/>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350"/>
                                        <p:tgtEl>
                                          <p:spTgt spid="11"/>
                                        </p:tgtEl>
                                      </p:cBhvr>
                                    </p:animEffect>
                                  </p:childTnLst>
                                </p:cTn>
                              </p:par>
                            </p:childTnLst>
                          </p:cTn>
                        </p:par>
                        <p:par>
                          <p:cTn id="16" fill="hold">
                            <p:stCondLst>
                              <p:cond delay="2050"/>
                            </p:stCondLst>
                            <p:childTnLst>
                              <p:par>
                                <p:cTn id="17" presetID="22" presetClass="entr" presetSubtype="2"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wipe(right)">
                                      <p:cBhvr>
                                        <p:cTn id="19" dur="350"/>
                                        <p:tgtEl>
                                          <p:spTgt spid="15"/>
                                        </p:tgtEl>
                                      </p:cBhvr>
                                    </p:animEffect>
                                  </p:childTnLst>
                                </p:cTn>
                              </p:par>
                            </p:childTnLst>
                          </p:cTn>
                        </p:par>
                        <p:par>
                          <p:cTn id="20" fill="hold">
                            <p:stCondLst>
                              <p:cond delay="2900"/>
                            </p:stCondLst>
                            <p:childTnLst>
                              <p:par>
                                <p:cTn id="21" presetID="22" presetClass="entr" presetSubtype="2" fill="hold" grpId="0"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wipe(right)">
                                      <p:cBhvr>
                                        <p:cTn id="23" dur="350"/>
                                        <p:tgtEl>
                                          <p:spTgt spid="19"/>
                                        </p:tgtEl>
                                      </p:cBhvr>
                                    </p:animEffect>
                                  </p:childTnLst>
                                </p:cTn>
                              </p:par>
                            </p:childTnLst>
                          </p:cTn>
                        </p:par>
                        <p:par>
                          <p:cTn id="24" fill="hold">
                            <p:stCondLst>
                              <p:cond delay="3750"/>
                            </p:stCondLst>
                            <p:childTnLst>
                              <p:par>
                                <p:cTn id="25" presetID="22" presetClass="entr" presetSubtype="2" fill="hold" grpId="0" nodeType="afterEffect">
                                  <p:stCondLst>
                                    <p:cond delay="500"/>
                                  </p:stCondLst>
                                  <p:childTnLst>
                                    <p:set>
                                      <p:cBhvr>
                                        <p:cTn id="26" dur="1" fill="hold">
                                          <p:stCondLst>
                                            <p:cond delay="0"/>
                                          </p:stCondLst>
                                        </p:cTn>
                                        <p:tgtEl>
                                          <p:spTgt spid="23"/>
                                        </p:tgtEl>
                                        <p:attrNameLst>
                                          <p:attrName>style.visibility</p:attrName>
                                        </p:attrNameLst>
                                      </p:cBhvr>
                                      <p:to>
                                        <p:strVal val="visible"/>
                                      </p:to>
                                    </p:set>
                                    <p:animEffect transition="in" filter="wipe(right)">
                                      <p:cBhvr>
                                        <p:cTn id="27" dur="350"/>
                                        <p:tgtEl>
                                          <p:spTgt spid="23"/>
                                        </p:tgtEl>
                                      </p:cBhvr>
                                    </p:animEffect>
                                  </p:childTnLst>
                                </p:cTn>
                              </p:par>
                            </p:childTnLst>
                          </p:cTn>
                        </p:par>
                        <p:par>
                          <p:cTn id="28" fill="hold">
                            <p:stCondLst>
                              <p:cond delay="4600"/>
                            </p:stCondLst>
                            <p:childTnLst>
                              <p:par>
                                <p:cTn id="29" presetID="22" presetClass="entr" presetSubtype="2" fill="hold" grpId="0" nodeType="afterEffect">
                                  <p:stCondLst>
                                    <p:cond delay="500"/>
                                  </p:stCondLst>
                                  <p:childTnLst>
                                    <p:set>
                                      <p:cBhvr>
                                        <p:cTn id="30" dur="1" fill="hold">
                                          <p:stCondLst>
                                            <p:cond delay="0"/>
                                          </p:stCondLst>
                                        </p:cTn>
                                        <p:tgtEl>
                                          <p:spTgt spid="27"/>
                                        </p:tgtEl>
                                        <p:attrNameLst>
                                          <p:attrName>style.visibility</p:attrName>
                                        </p:attrNameLst>
                                      </p:cBhvr>
                                      <p:to>
                                        <p:strVal val="visible"/>
                                      </p:to>
                                    </p:set>
                                    <p:animEffect transition="in" filter="wipe(right)">
                                      <p:cBhvr>
                                        <p:cTn id="31" dur="350"/>
                                        <p:tgtEl>
                                          <p:spTgt spid="27"/>
                                        </p:tgtEl>
                                      </p:cBhvr>
                                    </p:animEffect>
                                  </p:childTnLst>
                                </p:cTn>
                              </p:par>
                            </p:childTnLst>
                          </p:cTn>
                        </p:par>
                        <p:par>
                          <p:cTn id="32" fill="hold">
                            <p:stCondLst>
                              <p:cond delay="5450"/>
                            </p:stCondLst>
                            <p:childTnLst>
                              <p:par>
                                <p:cTn id="33" presetID="22" presetClass="entr" presetSubtype="2" fill="hold" grpId="0" nodeType="afterEffect">
                                  <p:stCondLst>
                                    <p:cond delay="500"/>
                                  </p:stCondLst>
                                  <p:childTnLst>
                                    <p:set>
                                      <p:cBhvr>
                                        <p:cTn id="34" dur="1" fill="hold">
                                          <p:stCondLst>
                                            <p:cond delay="0"/>
                                          </p:stCondLst>
                                        </p:cTn>
                                        <p:tgtEl>
                                          <p:spTgt spid="31"/>
                                        </p:tgtEl>
                                        <p:attrNameLst>
                                          <p:attrName>style.visibility</p:attrName>
                                        </p:attrNameLst>
                                      </p:cBhvr>
                                      <p:to>
                                        <p:strVal val="visible"/>
                                      </p:to>
                                    </p:set>
                                    <p:animEffect transition="in" filter="wipe(right)">
                                      <p:cBhvr>
                                        <p:cTn id="35" dur="350"/>
                                        <p:tgtEl>
                                          <p:spTgt spid="31"/>
                                        </p:tgtEl>
                                      </p:cBhvr>
                                    </p:animEffect>
                                  </p:childTnLst>
                                </p:cTn>
                              </p:par>
                            </p:childTnLst>
                          </p:cTn>
                        </p:par>
                        <p:par>
                          <p:cTn id="36" fill="hold">
                            <p:stCondLst>
                              <p:cond delay="6300"/>
                            </p:stCondLst>
                            <p:childTnLst>
                              <p:par>
                                <p:cTn id="37" presetID="10" presetClass="entr" presetSubtype="0" fill="hold" grpId="0" nodeType="afterEffect">
                                  <p:stCondLst>
                                    <p:cond delay="50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00"/>
                                        <p:tgtEl>
                                          <p:spTgt spid="33"/>
                                        </p:tgtEl>
                                      </p:cBhvr>
                                    </p:animEffect>
                                  </p:childTnLst>
                                </p:cTn>
                              </p:par>
                            </p:childTnLst>
                          </p:cTn>
                        </p:par>
                        <p:par>
                          <p:cTn id="40" fill="hold">
                            <p:stCondLst>
                              <p:cond delay="7000"/>
                            </p:stCondLst>
                            <p:childTnLst>
                              <p:par>
                                <p:cTn id="41" presetID="10" presetClass="entr" presetSubtype="0" fill="hold" grpId="0" nodeType="afterEffect">
                                  <p:stCondLst>
                                    <p:cond delay="50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300"/>
                                        <p:tgtEl>
                                          <p:spTgt spid="37"/>
                                        </p:tgtEl>
                                      </p:cBhvr>
                                    </p:animEffect>
                                  </p:childTnLst>
                                </p:cTn>
                              </p:par>
                            </p:childTnLst>
                          </p:cTn>
                        </p:par>
                        <p:par>
                          <p:cTn id="44" fill="hold">
                            <p:stCondLst>
                              <p:cond delay="7800"/>
                            </p:stCondLst>
                            <p:childTnLst>
                              <p:par>
                                <p:cTn id="45" presetID="10" presetClass="entr" presetSubtype="0" fill="hold" grpId="0" nodeType="afterEffect">
                                  <p:stCondLst>
                                    <p:cond delay="50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300"/>
                                        <p:tgtEl>
                                          <p:spTgt spid="42"/>
                                        </p:tgtEl>
                                      </p:cBhvr>
                                    </p:animEffect>
                                  </p:childTnLst>
                                </p:cTn>
                              </p:par>
                            </p:childTnLst>
                          </p:cTn>
                        </p:par>
                        <p:par>
                          <p:cTn id="48" fill="hold">
                            <p:stCondLst>
                              <p:cond delay="8600"/>
                            </p:stCondLst>
                            <p:childTnLst>
                              <p:par>
                                <p:cTn id="49" presetID="10" presetClass="entr" presetSubtype="0" fill="hold" grpId="0" nodeType="afterEffect">
                                  <p:stCondLst>
                                    <p:cond delay="50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300"/>
                                        <p:tgtEl>
                                          <p:spTgt spid="47"/>
                                        </p:tgtEl>
                                      </p:cBhvr>
                                    </p:animEffect>
                                  </p:childTnLst>
                                </p:cTn>
                              </p:par>
                            </p:childTnLst>
                          </p:cTn>
                        </p:par>
                        <p:par>
                          <p:cTn id="52" fill="hold">
                            <p:stCondLst>
                              <p:cond delay="9400"/>
                            </p:stCondLst>
                            <p:childTnLst>
                              <p:par>
                                <p:cTn id="53" presetID="10" presetClass="entr" presetSubtype="0" fill="hold" grpId="0" nodeType="afterEffect">
                                  <p:stCondLst>
                                    <p:cond delay="50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300"/>
                                        <p:tgtEl>
                                          <p:spTgt spid="52"/>
                                        </p:tgtEl>
                                      </p:cBhvr>
                                    </p:animEffect>
                                  </p:childTnLst>
                                </p:cTn>
                              </p:par>
                            </p:childTnLst>
                          </p:cTn>
                        </p:par>
                        <p:par>
                          <p:cTn id="56" fill="hold">
                            <p:stCondLst>
                              <p:cond delay="10200"/>
                            </p:stCondLst>
                            <p:childTnLst>
                              <p:par>
                                <p:cTn id="57" presetID="10" presetClass="entr" presetSubtype="0" fill="hold" grpId="0" nodeType="afterEffect">
                                  <p:stCondLst>
                                    <p:cond delay="50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400"/>
                                        <p:tgtEl>
                                          <p:spTgt spid="61"/>
                                        </p:tgtEl>
                                      </p:cBhvr>
                                    </p:animEffect>
                                  </p:childTnLst>
                                </p:cTn>
                              </p:par>
                            </p:childTnLst>
                          </p:cTn>
                        </p:par>
                        <p:par>
                          <p:cTn id="60" fill="hold">
                            <p:stCondLst>
                              <p:cond delay="11100"/>
                            </p:stCondLst>
                            <p:childTnLst>
                              <p:par>
                                <p:cTn id="61" presetID="10" presetClass="entr" presetSubtype="0" fill="hold" grpId="0" nodeType="afterEffect">
                                  <p:stCondLst>
                                    <p:cond delay="500"/>
                                  </p:stCondLst>
                                  <p:childTnLst>
                                    <p:set>
                                      <p:cBhvr>
                                        <p:cTn id="62" dur="1" fill="hold">
                                          <p:stCondLst>
                                            <p:cond delay="0"/>
                                          </p:stCondLst>
                                        </p:cTn>
                                        <p:tgtEl>
                                          <p:spTgt spid="66"/>
                                        </p:tgtEl>
                                        <p:attrNameLst>
                                          <p:attrName>style.visibility</p:attrName>
                                        </p:attrNameLst>
                                      </p:cBhvr>
                                      <p:to>
                                        <p:strVal val="visible"/>
                                      </p:to>
                                    </p:set>
                                    <p:animEffect transition="in" filter="fade">
                                      <p:cBhvr>
                                        <p:cTn id="6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117465" y="321945"/>
            <a:ext cx="2545897"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2 OF 5 · §2.2 PAPER2POSTER</a:t>
            </a:r>
          </a:p>
        </p:txBody>
      </p:sp>
      <p:grpSp>
        <p:nvGrpSpPr>
          <p:cNvPr id="4" name="Group 4"/>
          <p:cNvGrpSpPr/>
          <p:nvPr/>
        </p:nvGrpSpPr>
        <p:grpSpPr>
          <a:xfrm>
            <a:off x="522732" y="573405"/>
            <a:ext cx="10202929" cy="734568"/>
            <a:chOff x="522732" y="573405"/>
            <a:chExt cx="10202929" cy="734568"/>
          </a:xfrm>
        </p:grpSpPr>
        <p:sp>
          <p:nvSpPr>
            <p:cNvPr id="3" name="TextBox 3"/>
            <p:cNvSpPr txBox="1"/>
            <p:nvPr/>
          </p:nvSpPr>
          <p:spPr>
            <a:xfrm>
              <a:off x="522732" y="573405"/>
              <a:ext cx="10202929"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Paper2Poster composes on four orthogonal axes, fills the page with a measured</a:t>
              </a:r>
              <a:br/>
              <a:r>
                <a:rPr lang="en-US" sz="2100" b="1" dirty="0">
                  <a:solidFill>
                    <a:schemeClr val="accent1"/>
                  </a:solidFill>
                  <a:latin typeface="+mn-lt"/>
                  <a:ea typeface="+mn-ea"/>
                  <a:cs typeface="+mn-cs"/>
                </a:rPr>
                <a:t>loop, and exports native PowerPoint shapes</a:t>
              </a:r>
            </a:p>
          </p:txBody>
        </p:sp>
      </p:grpSp>
      <p:grpSp>
        <p:nvGrpSpPr>
          <p:cNvPr id="6" name="!!claim-carry"/>
          <p:cNvGrpSpPr/>
          <p:nvPr/>
        </p:nvGrpSpPr>
        <p:grpSpPr>
          <a:xfrm>
            <a:off x="526542" y="1302068"/>
            <a:ext cx="10084696" cy="264033"/>
            <a:chOff x="526542" y="1302068"/>
            <a:chExt cx="10084696" cy="264033"/>
          </a:xfrm>
        </p:grpSpPr>
        <p:sp>
          <p:nvSpPr>
            <p:cNvPr id="5" name="TextBox 5"/>
            <p:cNvSpPr txBox="1"/>
            <p:nvPr/>
          </p:nvSpPr>
          <p:spPr>
            <a:xfrm>
              <a:off x="526542" y="1302068"/>
              <a:ext cx="100846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3: bundle → pick figures → compose poster.html → staged-fill loop → PDF, PNG, editable PPTX → deliverables gate</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5715000" cy="1771650"/>
            <a:chOff x="533400" y="1847850"/>
            <a:chExt cx="5715000" cy="1771650"/>
          </a:xfrm>
        </p:grpSpPr>
        <p:sp>
          <p:nvSpPr>
            <p:cNvPr id="8" name="Rectangle 8"/>
            <p:cNvSpPr/>
            <p:nvPr/>
          </p:nvSpPr>
          <p:spPr>
            <a:xfrm>
              <a:off x="533400" y="1847850"/>
              <a:ext cx="5715000" cy="177165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721211" y="1905000"/>
              <a:ext cx="5339378" cy="1657350"/>
            </a:xfrm>
            <a:prstGeom prst="rect">
              <a:avLst/>
            </a:prstGeom>
          </p:spPr>
        </p:pic>
        <p:sp>
          <p:nvSpPr>
            <p:cNvPr id="10" name="Rectangle 10"/>
            <p:cNvSpPr/>
            <p:nvPr/>
          </p:nvSpPr>
          <p:spPr>
            <a:xfrm>
              <a:off x="533400" y="1847850"/>
              <a:ext cx="476250" cy="152400"/>
            </a:xfrm>
            <a:prstGeom prst="rect">
              <a:avLst/>
            </a:prstGeom>
            <a:solidFill>
              <a:schemeClr val="accent1"/>
            </a:solidFill>
            <a:ln>
              <a:noFill/>
            </a:ln>
          </p:spPr>
        </p:sp>
        <p:sp>
          <p:nvSpPr>
            <p:cNvPr id="11" name="TextBox 11"/>
            <p:cNvSpPr txBox="1"/>
            <p:nvPr/>
          </p:nvSpPr>
          <p:spPr>
            <a:xfrm>
              <a:off x="566738" y="1881188"/>
              <a:ext cx="3329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3</a:t>
              </a:r>
            </a:p>
          </p:txBody>
        </p:sp>
      </p:grpSp>
      <p:grpSp>
        <p:nvGrpSpPr>
          <p:cNvPr id="23" name="Group 23"/>
          <p:cNvGrpSpPr/>
          <p:nvPr/>
        </p:nvGrpSpPr>
        <p:grpSpPr>
          <a:xfrm>
            <a:off x="6472238" y="1864995"/>
            <a:ext cx="4767262" cy="1185862"/>
            <a:chOff x="6472238" y="1864995"/>
            <a:chExt cx="4767262" cy="1185862"/>
          </a:xfrm>
        </p:grpSpPr>
        <p:sp>
          <p:nvSpPr>
            <p:cNvPr id="13" name="TextBox 13"/>
            <p:cNvSpPr txBox="1"/>
            <p:nvPr/>
          </p:nvSpPr>
          <p:spPr>
            <a:xfrm>
              <a:off x="6472238" y="1864995"/>
              <a:ext cx="2960968"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ONE RUN, FOUR COUPLED FORMATS</a:t>
              </a:r>
            </a:p>
          </p:txBody>
        </p:sp>
        <p:sp>
          <p:nvSpPr>
            <p:cNvPr id="14" name="Line 14"/>
            <p:cNvSpPr/>
            <p:nvPr/>
          </p:nvSpPr>
          <p:spPr>
            <a:xfrm>
              <a:off x="6477000" y="2038350"/>
              <a:ext cx="4762500" cy="9525"/>
            </a:xfrm>
            <a:custGeom>
              <a:avLst/>
              <a:gdLst/>
              <a:ahLst/>
              <a:cxnLst/>
              <a:rect l="l" t="t" r="r" b="b"/>
              <a:pathLst>
                <a:path w="4762500" h="9525">
                  <a:moveTo>
                    <a:pt x="0" y="0"/>
                  </a:moveTo>
                  <a:lnTo>
                    <a:pt x="4762500" y="0"/>
                  </a:lnTo>
                </a:path>
              </a:pathLst>
            </a:custGeom>
            <a:noFill/>
            <a:ln w="9525">
              <a:solidFill>
                <a:schemeClr val="accent1"/>
              </a:solidFill>
            </a:ln>
          </p:spPr>
        </p:sp>
        <p:sp>
          <p:nvSpPr>
            <p:cNvPr id="15" name="Ellipse 15"/>
            <p:cNvSpPr/>
            <p:nvPr/>
          </p:nvSpPr>
          <p:spPr>
            <a:xfrm>
              <a:off x="6486525" y="2125980"/>
              <a:ext cx="57150" cy="57150"/>
            </a:xfrm>
            <a:prstGeom prst="ellipse">
              <a:avLst/>
            </a:prstGeom>
            <a:solidFill>
              <a:schemeClr val="accent2"/>
            </a:solidFill>
            <a:ln>
              <a:noFill/>
            </a:ln>
          </p:spPr>
        </p:sp>
        <p:sp>
          <p:nvSpPr>
            <p:cNvPr id="16" name="TextBox 16"/>
            <p:cNvSpPr txBox="1"/>
            <p:nvPr/>
          </p:nvSpPr>
          <p:spPr>
            <a:xfrm>
              <a:off x="6624638" y="2093595"/>
              <a:ext cx="2754558"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A self-contained web page (the visual ground truth)</a:t>
              </a:r>
            </a:p>
          </p:txBody>
        </p:sp>
        <p:sp>
          <p:nvSpPr>
            <p:cNvPr id="17" name="Ellipse 17"/>
            <p:cNvSpPr/>
            <p:nvPr/>
          </p:nvSpPr>
          <p:spPr>
            <a:xfrm>
              <a:off x="6486525" y="2335530"/>
              <a:ext cx="57150" cy="57150"/>
            </a:xfrm>
            <a:prstGeom prst="ellipse">
              <a:avLst/>
            </a:prstGeom>
            <a:solidFill>
              <a:schemeClr val="accent2"/>
            </a:solidFill>
            <a:ln>
              <a:noFill/>
            </a:ln>
          </p:spPr>
        </p:sp>
        <p:sp>
          <p:nvSpPr>
            <p:cNvPr id="18" name="TextBox 18"/>
            <p:cNvSpPr txBox="1"/>
            <p:nvPr/>
          </p:nvSpPr>
          <p:spPr>
            <a:xfrm>
              <a:off x="6624638" y="2303145"/>
              <a:ext cx="4155186"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 print-resolution PDF at the exact venue canvas (60 × 36 in landscape for ICML /</a:t>
              </a:r>
              <a:br/>
              <a:r>
                <a:rPr lang="en-US" sz="900" dirty="0">
                  <a:solidFill>
                    <a:schemeClr val="dk1"/>
                  </a:solidFill>
                  <a:latin typeface="+mn-lt"/>
                  <a:ea typeface="+mn-ea"/>
                  <a:cs typeface="+mn-cs"/>
                </a:rPr>
                <a:t>NeurIPS / CVPR, A0 portrait for the ACL family)</a:t>
              </a:r>
            </a:p>
          </p:txBody>
        </p:sp>
        <p:sp>
          <p:nvSpPr>
            <p:cNvPr id="19" name="Ellipse 19"/>
            <p:cNvSpPr/>
            <p:nvPr/>
          </p:nvSpPr>
          <p:spPr>
            <a:xfrm>
              <a:off x="6486525" y="2697480"/>
              <a:ext cx="57150" cy="57150"/>
            </a:xfrm>
            <a:prstGeom prst="ellipse">
              <a:avLst/>
            </a:prstGeom>
            <a:solidFill>
              <a:schemeClr val="accent2"/>
            </a:solidFill>
            <a:ln>
              <a:noFill/>
            </a:ln>
          </p:spPr>
        </p:sp>
        <p:sp>
          <p:nvSpPr>
            <p:cNvPr id="20" name="TextBox 20"/>
            <p:cNvSpPr txBox="1"/>
            <p:nvPr/>
          </p:nvSpPr>
          <p:spPr>
            <a:xfrm>
              <a:off x="6624638" y="2665095"/>
              <a:ext cx="304862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A thumbnail PNG and a natively editable PowerPoint file</a:t>
              </a:r>
            </a:p>
          </p:txBody>
        </p:sp>
        <p:sp>
          <p:nvSpPr>
            <p:cNvPr id="21" name="Ellipse 21"/>
            <p:cNvSpPr/>
            <p:nvPr/>
          </p:nvSpPr>
          <p:spPr>
            <a:xfrm>
              <a:off x="6486525" y="2907030"/>
              <a:ext cx="57150" cy="57150"/>
            </a:xfrm>
            <a:prstGeom prst="ellipse">
              <a:avLst/>
            </a:prstGeom>
            <a:solidFill>
              <a:schemeClr val="accent2"/>
            </a:solidFill>
            <a:ln>
              <a:noFill/>
            </a:ln>
          </p:spPr>
        </p:sp>
        <p:sp>
          <p:nvSpPr>
            <p:cNvPr id="22" name="TextBox 22"/>
            <p:cNvSpPr txBox="1"/>
            <p:nvPr/>
          </p:nvSpPr>
          <p:spPr>
            <a:xfrm>
              <a:off x="6624638" y="2874645"/>
              <a:ext cx="3558645"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Optional per-section narration audio (Edge TTS or Azure Speech)</a:t>
              </a:r>
            </a:p>
          </p:txBody>
        </p:sp>
      </p:grpSp>
      <p:graphicFrame>
        <p:nvGraphicFramePr>
          <p:cNvPr id="24" name="poster-requirements"/>
          <p:cNvGraphicFramePr>
            <a:graphicFrameLocks noGrp="1"/>
          </p:cNvGraphicFramePr>
          <p:nvPr/>
        </p:nvGraphicFramePr>
        <p:xfrm>
          <a:off x="533400" y="3771900"/>
          <a:ext cx="11125200" cy="2305050"/>
        </p:xfrm>
        <a:graphic>
          <a:graphicData uri="http://schemas.openxmlformats.org/drawingml/2006/table">
            <a:tbl>
              <a:tblPr firstRow="1" bandRow="0">
                <a:tableStyleId>{5C22544A-7EE6-4342-B048-85BDC9FD1C3A}</a:tableStyleId>
              </a:tblPr>
              <a:tblGrid>
                <a:gridCol w="381001"/>
                <a:gridCol w="3619500"/>
                <a:gridCol w="7124699"/>
              </a:tblGrid>
              <a:tr h="266700">
                <a:tc>
                  <a:txBody>
                    <a:bodyPr/>
                    <a:lstStyle/>
                    <a:p>
                      <a:pPr/>
                      <a:r>
                        <a:rPr lang="en-US" sz="900" b="1">
                          <a:solidFill>
                            <a:schemeClr val="accent1"/>
                          </a:solidFill>
                          <a:latin typeface="Arial"/>
                          <a:ea typeface="Microsoft YaHei"/>
                          <a:cs typeface="Arial"/>
                        </a:rPr>
                        <a:t>ID</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Requirement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Solution the paper gives</a:t>
                      </a:r>
                    </a:p>
                  </a:txBody>
                  <a:tcPr anchor="ctr" marL="76200" marR="76200" marT="19050" marB="19050">
                    <a:lnL>
                      <a:noFill/>
                    </a:lnL>
                    <a:lnR>
                      <a:noFill/>
                    </a:lnR>
                    <a:lnT>
                      <a:noFill/>
                    </a:lnT>
                    <a:lnB w="9525">
                      <a:solidFill>
                        <a:schemeClr val="accent1"/>
                      </a:solidFill>
                      <a:prstDash val="solid"/>
                    </a:lnB>
                    <a:solidFill>
                      <a:schemeClr val="lt2"/>
                    </a:solidFill>
                  </a:tcPr>
                </a:tc>
              </a:tr>
              <a:tr h="514350">
                <a:tc>
                  <a:txBody>
                    <a:bodyPr/>
                    <a:lstStyle/>
                    <a:p>
                      <a:pPr/>
                      <a:r>
                        <a:rPr lang="en-US" sz="820" b="1">
                          <a:solidFill>
                            <a:schemeClr val="accent2"/>
                          </a:solidFill>
                          <a:latin typeface="Arial"/>
                          <a:ea typeface="Microsoft YaHei"/>
                          <a:cs typeface="Arial"/>
                        </a:rPr>
                        <a:t>A1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Composition without a template explosion — a bank of fixed</a:t>
                      </a:r>
                    </a:p>
                    <a:p>
                      <a:pPr algn="l"/>
                      <a:r>
                        <a:rPr lang="en-US" sz="820" b="0">
                          <a:solidFill>
                            <a:schemeClr val="dk1"/>
                          </a:solidFill>
                          <a:latin typeface="Arial"/>
                          <a:ea typeface="Microsoft YaHei"/>
                          <a:cs typeface="Arial"/>
                        </a:rPr>
                        <a:t>templates blows up across layout × style × header × QR block and</a:t>
                      </a:r>
                    </a:p>
                    <a:p>
                      <a:pPr algn="l"/>
                      <a:r>
                        <a:rPr lang="en-US" sz="820" b="0">
                          <a:solidFill>
                            <a:schemeClr val="dk1"/>
                          </a:solidFill>
                          <a:latin typeface="Arial"/>
                          <a:ea typeface="Microsoft YaHei"/>
                          <a:cs typeface="Arial"/>
                        </a:rPr>
                        <a:t>still makes posters look alike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Assemble at build time from four orthogonal axes: layout (full / half / three-column), style (11 interchangeable CSS themes), header (5</a:t>
                      </a:r>
                    </a:p>
                    <a:p>
                      <a:pPr algn="l"/>
                      <a:r>
                        <a:rPr lang="en-US" sz="820" b="0">
                          <a:solidFill>
                            <a:schemeClr val="dk1"/>
                          </a:solidFill>
                          <a:latin typeface="Arial"/>
                          <a:ea typeface="Microsoft YaHei"/>
                          <a:cs typeface="Arial"/>
                        </a:rPr>
                        <a:t>arrangements of venue logo, institution logos, QR), Scan-to-Read block; only the layout is fixed by a hard rule (the Method figure's shape),</a:t>
                      </a:r>
                    </a:p>
                    <a:p>
                      <a:pPr algn="l"/>
                      <a:r>
                        <a:rPr lang="en-US" sz="820" b="0">
                          <a:solidFill>
                            <a:schemeClr val="dk1"/>
                          </a:solidFill>
                          <a:latin typeface="Arial"/>
                          <a:ea typeface="Microsoft YaHei"/>
                          <a:cs typeface="Arial"/>
                        </a:rPr>
                        <a:t>the rest sampled reproducibly; every section carries a distinct widget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A2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 fill loop that converges — the band where a section reads full is</a:t>
                      </a:r>
                    </a:p>
                    <a:p>
                      <a:pPr algn="l"/>
                      <a:r>
                        <a:rPr lang="en-US" sz="820" b="0">
                          <a:solidFill>
                            <a:schemeClr val="dk1"/>
                          </a:solidFill>
                          <a:latin typeface="Arial"/>
                          <a:ea typeface="Microsoft YaHei"/>
                          <a:cs typeface="Arial"/>
                        </a:rPr>
                        <a:t>narrow and one discrete edit overshoots it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 staged, discrete measured-fill loop: five categorical verdicts select the move, one section per round, moves sized by the measured pixel</a:t>
                      </a:r>
                    </a:p>
                    <a:p>
                      <a:pPr algn="l"/>
                      <a:r>
                        <a:rPr lang="en-US" sz="820" b="0">
                          <a:solidFill>
                            <a:schemeClr val="dk1"/>
                          </a:solidFill>
                          <a:latin typeface="Arial"/>
                          <a:ea typeface="Microsoft YaHei"/>
                          <a:cs typeface="Arial"/>
                        </a:rPr>
                        <a:t>delta (next page)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A3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 page too large to re-read — a ~100 KB HTML file floods the</a:t>
                      </a:r>
                    </a:p>
                    <a:p>
                      <a:pPr algn="l"/>
                      <a:r>
                        <a:rPr lang="en-US" sz="820" b="0">
                          <a:solidFill>
                            <a:schemeClr val="dk1"/>
                          </a:solidFill>
                          <a:latin typeface="Arial"/>
                          <a:ea typeface="Microsoft YaHei"/>
                          <a:cs typeface="Arial"/>
                        </a:rPr>
                        <a:t>context and overflows the output channel</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Each measurement returns only the verbatim source of off-target sections; the file is generated indirectly and never printed back, so neither</a:t>
                      </a:r>
                    </a:p>
                    <a:p>
                      <a:pPr algn="l"/>
                      <a:r>
                        <a:rPr lang="en-US" sz="820" b="0">
                          <a:solidFill>
                            <a:schemeClr val="dk1"/>
                          </a:solidFill>
                          <a:latin typeface="Arial"/>
                          <a:ea typeface="Microsoft YaHei"/>
                          <a:cs typeface="Arial"/>
                        </a:rPr>
                        <a:t>token budget is spent on the bulk of the page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A4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Figures that fill their cards — a figure absorbs whatever room the text</a:t>
                      </a:r>
                    </a:p>
                    <a:p>
                      <a:pPr algn="l"/>
                      <a:r>
                        <a:rPr lang="en-US" sz="820" b="0">
                          <a:solidFill>
                            <a:schemeClr val="dk1"/>
                          </a:solidFill>
                          <a:latin typeface="Arial"/>
                          <a:ea typeface="Microsoft YaHei"/>
                          <a:cs typeface="Arial"/>
                        </a:rPr>
                        <a:t>leaves and can strand as a small stamp</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Size each figure through its height cap and hold it to a hard floor on its card; a figure below its cap is enlarged by raising the cap, a crowded</a:t>
                      </a:r>
                    </a:p>
                    <a:p>
                      <a:pPr algn="l"/>
                      <a:r>
                        <a:rPr lang="en-US" sz="820" b="0">
                          <a:solidFill>
                            <a:schemeClr val="dk1"/>
                          </a:solidFill>
                          <a:latin typeface="Arial"/>
                          <a:ea typeface="Microsoft YaHei"/>
                          <a:cs typeface="Arial"/>
                        </a:rPr>
                        <a:t>column is relieved by trimming text; the floor is a termination condition</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A5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 faithful editable export — a reopenable poster needs native</a:t>
                      </a:r>
                    </a:p>
                    <a:p>
                      <a:pPr algn="l"/>
                      <a:r>
                        <a:rPr lang="en-US" sz="820" b="0">
                          <a:solidFill>
                            <a:schemeClr val="dk1"/>
                          </a:solidFill>
                          <a:latin typeface="Arial"/>
                          <a:ea typeface="Microsoft YaHei"/>
                          <a:cs typeface="Arial"/>
                        </a:rPr>
                        <a:t>shapes, not a pasted image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Rebuild each slide from the live DOM: text → editable frames keeping bold/italic, figure → replaceable picture, equation → native equation</a:t>
                      </a:r>
                    </a:p>
                    <a:p>
                      <a:pPr algn="l"/>
                      <a:r>
                        <a:rPr lang="en-US" sz="820" b="0">
                          <a:solidFill>
                            <a:schemeClr val="dk1"/>
                          </a:solidFill>
                          <a:latin typeface="Arial"/>
                          <a:ea typeface="Microsoft YaHei"/>
                          <a:cs typeface="Arial"/>
                        </a:rPr>
                        <a:t>object, section card → styled shape; edit in PowerPoint without re-running the loop</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27" name="Group 27"/>
          <p:cNvGrpSpPr/>
          <p:nvPr/>
        </p:nvGrpSpPr>
        <p:grpSpPr>
          <a:xfrm>
            <a:off x="528638" y="6415088"/>
            <a:ext cx="11134725" cy="147638"/>
            <a:chOff x="528638" y="6415088"/>
            <a:chExt cx="11134725" cy="147638"/>
          </a:xfrm>
        </p:grpSpPr>
        <p:sp>
          <p:nvSpPr>
            <p:cNvPr id="25" name="TextBox 25"/>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6" name="TextBox 26"/>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800"/>
                                        <p:tgtEl>
                                          <p:spTgt spid="12"/>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400"/>
                            </p:stCondLst>
                            <p:childTnLst>
                              <p:par>
                                <p:cTn id="21" presetID="22" presetClass="entr" presetSubtype="4" fill="hold" grpId="0" nodeType="afterEffect">
                                  <p:stCondLst>
                                    <p:cond delay="50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8761811" y="321945"/>
            <a:ext cx="2901552"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2 OF 5 · §2.2.2 STAGED-FILL LOOP</a:t>
            </a:r>
          </a:p>
        </p:txBody>
      </p:sp>
      <p:grpSp>
        <p:nvGrpSpPr>
          <p:cNvPr id="4" name="Group 4"/>
          <p:cNvGrpSpPr/>
          <p:nvPr/>
        </p:nvGrpSpPr>
        <p:grpSpPr>
          <a:xfrm>
            <a:off x="522732" y="573405"/>
            <a:ext cx="9224033" cy="734568"/>
            <a:chOff x="522732" y="573405"/>
            <a:chExt cx="9224033" cy="734568"/>
          </a:xfrm>
        </p:grpSpPr>
        <p:sp>
          <p:nvSpPr>
            <p:cNvPr id="3" name="TextBox 3"/>
            <p:cNvSpPr txBox="1"/>
            <p:nvPr/>
          </p:nvSpPr>
          <p:spPr>
            <a:xfrm>
              <a:off x="522732" y="573405"/>
              <a:ext cx="9224033"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The fill loop is discrete: five verdict bands, one section edited per round,</a:t>
              </a:r>
              <a:br/>
              <a:r>
                <a:rPr lang="en-US" sz="2100" b="1" dirty="0">
                  <a:solidFill>
                    <a:schemeClr val="accent1"/>
                  </a:solidFill>
                  <a:latin typeface="+mn-lt"/>
                  <a:ea typeface="+mn-ea"/>
                  <a:cs typeface="+mn-cs"/>
                </a:rPr>
                <a:t>termination as a categorical fixed point</a:t>
              </a:r>
            </a:p>
          </p:txBody>
        </p:sp>
      </p:grpSp>
      <p:grpSp>
        <p:nvGrpSpPr>
          <p:cNvPr id="6" name="!!claim-carry"/>
          <p:cNvGrpSpPr/>
          <p:nvPr/>
        </p:nvGrpSpPr>
        <p:grpSpPr>
          <a:xfrm>
            <a:off x="526542" y="1302068"/>
            <a:ext cx="9161655" cy="264033"/>
            <a:chOff x="526542" y="1302068"/>
            <a:chExt cx="9161655" cy="264033"/>
          </a:xfrm>
        </p:grpSpPr>
        <p:sp>
          <p:nvSpPr>
            <p:cNvPr id="5" name="TextBox 5"/>
            <p:cNvSpPr txBox="1"/>
            <p:nvPr/>
          </p:nvSpPr>
          <p:spPr>
            <a:xfrm>
              <a:off x="526542" y="1302068"/>
              <a:ext cx="91616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fullRatio = content height ÷ card height; the verdict alone selects the move; Figure 4 shows one poster converging</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3" name="verdict-bands"/>
          <p:cNvGrpSpPr/>
          <p:nvPr/>
        </p:nvGrpSpPr>
        <p:grpSpPr>
          <a:xfrm>
            <a:off x="533400" y="1847850"/>
            <a:ext cx="5715000" cy="1428750"/>
            <a:chOff x="533400" y="1847850"/>
            <a:chExt cx="5715000" cy="1428750"/>
          </a:xfrm>
        </p:grpSpPr>
        <p:graphicFrame>
          <p:nvGraphicFramePr>
            <p:cNvPr id="8" name="verdict-bands"/>
            <p:cNvGraphicFramePr>
              <a:graphicFrameLocks noGrp="1"/>
            </p:cNvGraphicFramePr>
            <p:nvPr/>
          </p:nvGraphicFramePr>
          <p:xfrm>
            <a:off x="533400" y="1847850"/>
            <a:ext cx="5715000" cy="1428750"/>
          </p:xfrm>
          <a:graphic>
            <a:graphicData uri="http://schemas.openxmlformats.org/drawingml/2006/chart">
              <c:chart r:id="rId2"/>
            </a:graphicData>
          </a:graphic>
        </p:graphicFrame>
        <p:sp>
          <p:nvSpPr>
            <p:cNvPr id="9" name="Chart Note 9"/>
            <p:cNvSpPr txBox="1"/>
            <p:nvPr/>
          </p:nvSpPr>
          <p:spPr>
            <a:xfrm>
              <a:off x="3890962" y="2069211"/>
              <a:ext cx="285750" cy="166624"/>
            </a:xfrm>
            <a:prstGeom prst="rect">
              <a:avLst/>
            </a:prstGeom>
            <a:noFill/>
            <a:ln>
              <a:noFill/>
            </a:ln>
          </p:spPr>
          <p:txBody>
            <a:bodyPr wrap="square" lIns="0" tIns="0" rIns="0" bIns="0" anchor="b" anchorCtr="0"/>
            <a:lstStyle/>
            <a:p>
              <a:pPr algn="ctr"/>
              <a:r>
                <a:rPr lang="en-US" sz="820" b="1">
                  <a:solidFill>
                    <a:srgbClr val="1B2430"/>
                  </a:solidFill>
                  <a:latin typeface="Arial"/>
                  <a:ea typeface="Microsoft YaHei"/>
                  <a:cs typeface="Arial"/>
                </a:rPr>
                <a:t>0.70</a:t>
              </a:r>
            </a:p>
          </p:txBody>
        </p:sp>
        <p:sp>
          <p:nvSpPr>
            <p:cNvPr id="10" name="Chart Note 10"/>
            <p:cNvSpPr txBox="1"/>
            <p:nvPr/>
          </p:nvSpPr>
          <p:spPr>
            <a:xfrm>
              <a:off x="4700588" y="2069211"/>
              <a:ext cx="285750" cy="166624"/>
            </a:xfrm>
            <a:prstGeom prst="rect">
              <a:avLst/>
            </a:prstGeom>
            <a:noFill/>
            <a:ln>
              <a:noFill/>
            </a:ln>
          </p:spPr>
          <p:txBody>
            <a:bodyPr wrap="square" lIns="0" tIns="0" rIns="0" bIns="0" anchor="b" anchorCtr="0"/>
            <a:lstStyle/>
            <a:p>
              <a:pPr algn="ctr"/>
              <a:r>
                <a:rPr lang="en-US" sz="820" b="1">
                  <a:solidFill>
                    <a:srgbClr val="1B2430"/>
                  </a:solidFill>
                  <a:latin typeface="Arial"/>
                  <a:ea typeface="Microsoft YaHei"/>
                  <a:cs typeface="Arial"/>
                </a:rPr>
                <a:t>0.90</a:t>
              </a:r>
            </a:p>
          </p:txBody>
        </p:sp>
        <p:sp>
          <p:nvSpPr>
            <p:cNvPr id="11" name="Chart Note 11"/>
            <p:cNvSpPr txBox="1"/>
            <p:nvPr/>
          </p:nvSpPr>
          <p:spPr>
            <a:xfrm>
              <a:off x="5024438" y="2069211"/>
              <a:ext cx="285750" cy="166624"/>
            </a:xfrm>
            <a:prstGeom prst="rect">
              <a:avLst/>
            </a:prstGeom>
            <a:noFill/>
            <a:ln>
              <a:noFill/>
            </a:ln>
          </p:spPr>
          <p:txBody>
            <a:bodyPr wrap="square" lIns="0" tIns="0" rIns="0" bIns="0" anchor="b" anchorCtr="0"/>
            <a:lstStyle/>
            <a:p>
              <a:pPr algn="ctr"/>
              <a:r>
                <a:rPr lang="en-US" sz="820" b="1">
                  <a:solidFill>
                    <a:srgbClr val="1B2430"/>
                  </a:solidFill>
                  <a:latin typeface="Arial"/>
                  <a:ea typeface="Microsoft YaHei"/>
                  <a:cs typeface="Arial"/>
                </a:rPr>
                <a:t>0.98</a:t>
              </a:r>
            </a:p>
          </p:txBody>
        </p:sp>
        <p:sp>
          <p:nvSpPr>
            <p:cNvPr id="12" name="Chart Note 12"/>
            <p:cNvSpPr txBox="1"/>
            <p:nvPr/>
          </p:nvSpPr>
          <p:spPr>
            <a:xfrm>
              <a:off x="5510212" y="2069211"/>
              <a:ext cx="285750" cy="166624"/>
            </a:xfrm>
            <a:prstGeom prst="rect">
              <a:avLst/>
            </a:prstGeom>
            <a:noFill/>
            <a:ln>
              <a:noFill/>
            </a:ln>
          </p:spPr>
          <p:txBody>
            <a:bodyPr wrap="square" lIns="0" tIns="0" rIns="0" bIns="0" anchor="b" anchorCtr="0"/>
            <a:lstStyle/>
            <a:p>
              <a:pPr algn="ctr"/>
              <a:r>
                <a:rPr lang="en-US" sz="820" b="1">
                  <a:solidFill>
                    <a:srgbClr val="1B2430"/>
                  </a:solidFill>
                  <a:latin typeface="Arial"/>
                  <a:ea typeface="Microsoft YaHei"/>
                  <a:cs typeface="Arial"/>
                </a:rPr>
                <a:t>1.10</a:t>
              </a:r>
            </a:p>
          </p:txBody>
        </p:sp>
      </p:grpSp>
      <p:grpSp>
        <p:nvGrpSpPr>
          <p:cNvPr id="29" name="Group 29"/>
          <p:cNvGrpSpPr/>
          <p:nvPr/>
        </p:nvGrpSpPr>
        <p:grpSpPr>
          <a:xfrm>
            <a:off x="533400" y="3343275"/>
            <a:ext cx="4877421" cy="1174432"/>
            <a:chOff x="533400" y="3343275"/>
            <a:chExt cx="4877421" cy="1174432"/>
          </a:xfrm>
        </p:grpSpPr>
        <p:sp>
          <p:nvSpPr>
            <p:cNvPr id="14" name="Rectangle 14"/>
            <p:cNvSpPr/>
            <p:nvPr/>
          </p:nvSpPr>
          <p:spPr>
            <a:xfrm>
              <a:off x="533400" y="3343275"/>
              <a:ext cx="38100" cy="133350"/>
            </a:xfrm>
            <a:prstGeom prst="rect">
              <a:avLst/>
            </a:prstGeom>
            <a:solidFill>
              <a:srgbClr val="C0392B"/>
            </a:solidFill>
            <a:ln>
              <a:noFill/>
            </a:ln>
          </p:spPr>
        </p:sp>
        <p:sp>
          <p:nvSpPr>
            <p:cNvPr id="15" name="TextBox 15"/>
            <p:cNvSpPr txBox="1"/>
            <p:nvPr/>
          </p:nvSpPr>
          <p:spPr>
            <a:xfrm>
              <a:off x="642938" y="3350895"/>
              <a:ext cx="1103424"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EMPTY below 0.70</a:t>
              </a:r>
            </a:p>
          </p:txBody>
        </p:sp>
        <p:sp>
          <p:nvSpPr>
            <p:cNvPr id="16" name="TextBox 16"/>
            <p:cNvSpPr txBox="1"/>
            <p:nvPr/>
          </p:nvSpPr>
          <p:spPr>
            <a:xfrm>
              <a:off x="2033588" y="3350895"/>
              <a:ext cx="3202256"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append a reserve paragraph or promote an optional section</a:t>
              </a:r>
            </a:p>
          </p:txBody>
        </p:sp>
        <p:sp>
          <p:nvSpPr>
            <p:cNvPr id="17" name="Rectangle 17"/>
            <p:cNvSpPr/>
            <p:nvPr/>
          </p:nvSpPr>
          <p:spPr>
            <a:xfrm>
              <a:off x="533400" y="3590925"/>
              <a:ext cx="38100" cy="133350"/>
            </a:xfrm>
            <a:prstGeom prst="rect">
              <a:avLst/>
            </a:prstGeom>
            <a:solidFill>
              <a:srgbClr val="E0A100"/>
            </a:solidFill>
            <a:ln>
              <a:noFill/>
            </a:ln>
          </p:spPr>
        </p:sp>
        <p:sp>
          <p:nvSpPr>
            <p:cNvPr id="18" name="TextBox 18"/>
            <p:cNvSpPr txBox="1"/>
            <p:nvPr/>
          </p:nvSpPr>
          <p:spPr>
            <a:xfrm>
              <a:off x="642938" y="3598545"/>
              <a:ext cx="1141084"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SPARSE 0.70–0.90</a:t>
              </a:r>
            </a:p>
          </p:txBody>
        </p:sp>
        <p:sp>
          <p:nvSpPr>
            <p:cNvPr id="19" name="TextBox 19"/>
            <p:cNvSpPr txBox="1"/>
            <p:nvPr/>
          </p:nvSpPr>
          <p:spPr>
            <a:xfrm>
              <a:off x="2033588" y="3598545"/>
              <a:ext cx="337723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polish up: pad prose or enlarge a widget to reach the card floor</a:t>
              </a:r>
            </a:p>
          </p:txBody>
        </p:sp>
        <p:sp>
          <p:nvSpPr>
            <p:cNvPr id="20" name="Rectangle 20"/>
            <p:cNvSpPr/>
            <p:nvPr/>
          </p:nvSpPr>
          <p:spPr>
            <a:xfrm>
              <a:off x="533400" y="3838575"/>
              <a:ext cx="38100" cy="133350"/>
            </a:xfrm>
            <a:prstGeom prst="rect">
              <a:avLst/>
            </a:prstGeom>
            <a:solidFill>
              <a:srgbClr val="2E8B57"/>
            </a:solidFill>
            <a:ln>
              <a:noFill/>
            </a:ln>
          </p:spPr>
        </p:sp>
        <p:sp>
          <p:nvSpPr>
            <p:cNvPr id="21" name="TextBox 21"/>
            <p:cNvSpPr txBox="1"/>
            <p:nvPr/>
          </p:nvSpPr>
          <p:spPr>
            <a:xfrm>
              <a:off x="642938" y="3846195"/>
              <a:ext cx="941661"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FULL 0.90–0.98</a:t>
              </a:r>
            </a:p>
          </p:txBody>
        </p:sp>
        <p:sp>
          <p:nvSpPr>
            <p:cNvPr id="22" name="TextBox 22"/>
            <p:cNvSpPr txBox="1"/>
            <p:nvPr/>
          </p:nvSpPr>
          <p:spPr>
            <a:xfrm>
              <a:off x="2033588" y="3846195"/>
              <a:ext cx="165320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the target band, left untouched</a:t>
              </a:r>
            </a:p>
          </p:txBody>
        </p:sp>
        <p:sp>
          <p:nvSpPr>
            <p:cNvPr id="23" name="Rectangle 23"/>
            <p:cNvSpPr/>
            <p:nvPr/>
          </p:nvSpPr>
          <p:spPr>
            <a:xfrm>
              <a:off x="533400" y="4086225"/>
              <a:ext cx="38100" cy="133350"/>
            </a:xfrm>
            <a:prstGeom prst="rect">
              <a:avLst/>
            </a:prstGeom>
            <a:solidFill>
              <a:srgbClr val="E67E22"/>
            </a:solidFill>
            <a:ln>
              <a:noFill/>
            </a:ln>
          </p:spPr>
        </p:sp>
        <p:sp>
          <p:nvSpPr>
            <p:cNvPr id="24" name="TextBox 24"/>
            <p:cNvSpPr txBox="1"/>
            <p:nvPr/>
          </p:nvSpPr>
          <p:spPr>
            <a:xfrm>
              <a:off x="642938" y="4093845"/>
              <a:ext cx="1254762"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SPILLAGE 0.98–1.10</a:t>
              </a:r>
            </a:p>
          </p:txBody>
        </p:sp>
        <p:sp>
          <p:nvSpPr>
            <p:cNvPr id="25" name="TextBox 25"/>
            <p:cNvSpPr txBox="1"/>
            <p:nvPr/>
          </p:nvSpPr>
          <p:spPr>
            <a:xfrm>
              <a:off x="2033588" y="4093845"/>
              <a:ext cx="2791240"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polish down: tighten prose until it re-enters the band</a:t>
              </a:r>
            </a:p>
          </p:txBody>
        </p:sp>
        <p:sp>
          <p:nvSpPr>
            <p:cNvPr id="26" name="Rectangle 26"/>
            <p:cNvSpPr/>
            <p:nvPr/>
          </p:nvSpPr>
          <p:spPr>
            <a:xfrm>
              <a:off x="533400" y="4333875"/>
              <a:ext cx="38100" cy="133350"/>
            </a:xfrm>
            <a:prstGeom prst="rect">
              <a:avLst/>
            </a:prstGeom>
            <a:solidFill>
              <a:srgbClr val="B03A8C"/>
            </a:solidFill>
            <a:ln>
              <a:noFill/>
            </a:ln>
          </p:spPr>
        </p:sp>
        <p:sp>
          <p:nvSpPr>
            <p:cNvPr id="27" name="TextBox 27"/>
            <p:cNvSpPr txBox="1"/>
            <p:nvPr/>
          </p:nvSpPr>
          <p:spPr>
            <a:xfrm>
              <a:off x="642938" y="4341495"/>
              <a:ext cx="1409925"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OVERFLOW above 1.10</a:t>
              </a:r>
            </a:p>
          </p:txBody>
        </p:sp>
        <p:sp>
          <p:nvSpPr>
            <p:cNvPr id="28" name="TextBox 28"/>
            <p:cNvSpPr txBox="1"/>
            <p:nvPr/>
          </p:nvSpPr>
          <p:spPr>
            <a:xfrm>
              <a:off x="2033588" y="4341495"/>
              <a:ext cx="2899046"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drop a reserve paragraph or an entire optional section</a:t>
              </a:r>
            </a:p>
          </p:txBody>
        </p:sp>
      </p:grpSp>
      <p:grpSp>
        <p:nvGrpSpPr>
          <p:cNvPr id="40" name="Group 40"/>
          <p:cNvGrpSpPr/>
          <p:nvPr/>
        </p:nvGrpSpPr>
        <p:grpSpPr>
          <a:xfrm>
            <a:off x="528638" y="4684395"/>
            <a:ext cx="5719762" cy="1462087"/>
            <a:chOff x="528638" y="4684395"/>
            <a:chExt cx="5719762" cy="1462087"/>
          </a:xfrm>
        </p:grpSpPr>
        <p:sp>
          <p:nvSpPr>
            <p:cNvPr id="30" name="TextBox 30"/>
            <p:cNvSpPr txBox="1"/>
            <p:nvPr/>
          </p:nvSpPr>
          <p:spPr>
            <a:xfrm>
              <a:off x="528638" y="4684395"/>
              <a:ext cx="1666547"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WHY IT TERMINATES</a:t>
              </a:r>
            </a:p>
          </p:txBody>
        </p:sp>
        <p:sp>
          <p:nvSpPr>
            <p:cNvPr id="31" name="Line 31"/>
            <p:cNvSpPr/>
            <p:nvPr/>
          </p:nvSpPr>
          <p:spPr>
            <a:xfrm>
              <a:off x="533400" y="4857750"/>
              <a:ext cx="5715000" cy="9525"/>
            </a:xfrm>
            <a:custGeom>
              <a:avLst/>
              <a:gdLst/>
              <a:ahLst/>
              <a:cxnLst/>
              <a:rect l="l" t="t" r="r" b="b"/>
              <a:pathLst>
                <a:path w="5715000" h="9525">
                  <a:moveTo>
                    <a:pt x="0" y="0"/>
                  </a:moveTo>
                  <a:lnTo>
                    <a:pt x="5715000" y="0"/>
                  </a:lnTo>
                </a:path>
              </a:pathLst>
            </a:custGeom>
            <a:noFill/>
            <a:ln w="9525">
              <a:solidFill>
                <a:schemeClr val="accent1"/>
              </a:solidFill>
            </a:ln>
          </p:spPr>
        </p:sp>
        <p:sp>
          <p:nvSpPr>
            <p:cNvPr id="32" name="Ellipse 32"/>
            <p:cNvSpPr/>
            <p:nvPr/>
          </p:nvSpPr>
          <p:spPr>
            <a:xfrm>
              <a:off x="542925" y="4945380"/>
              <a:ext cx="57150" cy="57150"/>
            </a:xfrm>
            <a:prstGeom prst="ellipse">
              <a:avLst/>
            </a:prstGeom>
            <a:solidFill>
              <a:schemeClr val="accent2"/>
            </a:solidFill>
            <a:ln>
              <a:noFill/>
            </a:ln>
          </p:spPr>
        </p:sp>
        <p:sp>
          <p:nvSpPr>
            <p:cNvPr id="33" name="TextBox 33"/>
            <p:cNvSpPr txBox="1"/>
            <p:nvPr/>
          </p:nvSpPr>
          <p:spPr>
            <a:xfrm>
              <a:off x="681038" y="4912995"/>
              <a:ext cx="4640199"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Each move is sized by the signed pixel delta the measurement reports, never guessed</a:t>
              </a:r>
            </a:p>
          </p:txBody>
        </p:sp>
        <p:sp>
          <p:nvSpPr>
            <p:cNvPr id="34" name="Ellipse 34"/>
            <p:cNvSpPr/>
            <p:nvPr/>
          </p:nvSpPr>
          <p:spPr>
            <a:xfrm>
              <a:off x="542925" y="5145405"/>
              <a:ext cx="57150" cy="57150"/>
            </a:xfrm>
            <a:prstGeom prst="ellipse">
              <a:avLst/>
            </a:prstGeom>
            <a:solidFill>
              <a:schemeClr val="accent2"/>
            </a:solidFill>
            <a:ln>
              <a:noFill/>
            </a:ln>
          </p:spPr>
        </p:sp>
        <p:sp>
          <p:nvSpPr>
            <p:cNvPr id="35" name="TextBox 35"/>
            <p:cNvSpPr txBox="1"/>
            <p:nvPr/>
          </p:nvSpPr>
          <p:spPr>
            <a:xfrm>
              <a:off x="681038" y="5113020"/>
              <a:ext cx="4310436"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The loop refuses to re-apply a move that already overshot the band on a section</a:t>
              </a:r>
            </a:p>
          </p:txBody>
        </p:sp>
        <p:sp>
          <p:nvSpPr>
            <p:cNvPr id="36" name="Ellipse 36"/>
            <p:cNvSpPr/>
            <p:nvPr/>
          </p:nvSpPr>
          <p:spPr>
            <a:xfrm>
              <a:off x="542925" y="5345430"/>
              <a:ext cx="57150" cy="57150"/>
            </a:xfrm>
            <a:prstGeom prst="ellipse">
              <a:avLst/>
            </a:prstGeom>
            <a:solidFill>
              <a:schemeClr val="accent2"/>
            </a:solidFill>
            <a:ln>
              <a:noFill/>
            </a:ln>
          </p:spPr>
        </p:sp>
        <p:sp>
          <p:nvSpPr>
            <p:cNvPr id="37" name="TextBox 37"/>
            <p:cNvSpPr txBox="1"/>
            <p:nvPr/>
          </p:nvSpPr>
          <p:spPr>
            <a:xfrm>
              <a:off x="681038" y="5313045"/>
              <a:ext cx="5072672"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An on-disk round counter trips a circuit breaker (bounded ≈ 12 rounds) and ships the best-measured</a:t>
              </a:r>
              <a:br/>
              <a:r>
                <a:rPr lang="en-US" sz="900" dirty="0">
                  <a:solidFill>
                    <a:schemeClr val="dk1"/>
                  </a:solidFill>
                  <a:latin typeface="+mn-lt"/>
                  <a:ea typeface="+mn-ea"/>
                  <a:cs typeface="+mn-cs"/>
                </a:rPr>
                <a:t>state</a:t>
              </a:r>
            </a:p>
          </p:txBody>
        </p:sp>
        <p:sp>
          <p:nvSpPr>
            <p:cNvPr id="38" name="Ellipse 38"/>
            <p:cNvSpPr/>
            <p:nvPr/>
          </p:nvSpPr>
          <p:spPr>
            <a:xfrm>
              <a:off x="542925" y="5697855"/>
              <a:ext cx="57150" cy="57150"/>
            </a:xfrm>
            <a:prstGeom prst="ellipse">
              <a:avLst/>
            </a:prstGeom>
            <a:solidFill>
              <a:schemeClr val="accent2"/>
            </a:solidFill>
            <a:ln>
              <a:noFill/>
            </a:ln>
          </p:spPr>
        </p:sp>
        <p:sp>
          <p:nvSpPr>
            <p:cNvPr id="39" name="TextBox 39"/>
            <p:cNvSpPr txBox="1"/>
            <p:nvPr/>
          </p:nvSpPr>
          <p:spPr>
            <a:xfrm>
              <a:off x="681038" y="5665470"/>
              <a:ext cx="5162078"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Exit: every section reads FULL and no figure trips the figure-fill gate (≥ 90% of its card on one axis); a</a:t>
              </a:r>
              <a:br/>
              <a:r>
                <a:rPr lang="en-US" sz="900" dirty="0">
                  <a:solidFill>
                    <a:schemeClr val="dk1"/>
                  </a:solidFill>
                  <a:latin typeface="+mn-lt"/>
                  <a:ea typeface="+mn-ea"/>
                  <a:cs typeface="+mn-cs"/>
                </a:rPr>
                <a:t>render-time pass then stretches under-filled cards toward 98% by growing row whitespace, figures not</a:t>
              </a:r>
              <a:br/>
              <a:r>
                <a:rPr lang="en-US" sz="900" dirty="0">
                  <a:solidFill>
                    <a:schemeClr val="dk1"/>
                  </a:solidFill>
                  <a:latin typeface="+mn-lt"/>
                  <a:ea typeface="+mn-ea"/>
                  <a:cs typeface="+mn-cs"/>
                </a:rPr>
                <a:t>resized</a:t>
              </a:r>
            </a:p>
          </p:txBody>
        </p:sp>
      </p:grpSp>
      <p:grpSp>
        <p:nvGrpSpPr>
          <p:cNvPr id="45" name="Group 45"/>
          <p:cNvGrpSpPr/>
          <p:nvPr/>
        </p:nvGrpSpPr>
        <p:grpSpPr>
          <a:xfrm>
            <a:off x="7600950" y="1847850"/>
            <a:ext cx="1219200" cy="2590800"/>
            <a:chOff x="7600950" y="1847850"/>
            <a:chExt cx="1219200" cy="2590800"/>
          </a:xfrm>
        </p:grpSpPr>
        <p:sp>
          <p:nvSpPr>
            <p:cNvPr id="41" name="Rectangle 41"/>
            <p:cNvSpPr/>
            <p:nvPr/>
          </p:nvSpPr>
          <p:spPr>
            <a:xfrm>
              <a:off x="7600950" y="1847850"/>
              <a:ext cx="1219200" cy="2590800"/>
            </a:xfrm>
            <a:prstGeom prst="rect">
              <a:avLst/>
            </a:prstGeom>
            <a:solidFill>
              <a:schemeClr val="lt1"/>
            </a:solidFill>
            <a:ln w="7144">
              <a:solidFill>
                <a:schemeClr val="accent6"/>
              </a:solidFill>
            </a:ln>
          </p:spPr>
        </p:sp>
        <p:pic>
          <p:nvPicPr>
            <p:cNvPr id="42" name="Image 42"/>
            <p:cNvPicPr>
              <a:picLocks noChangeAspect="1"/>
            </p:cNvPicPr>
            <p:nvPr/>
          </p:nvPicPr>
          <p:blipFill>
            <a:blip r:embed="rId3"/>
            <a:stretch>
              <a:fillRect/>
            </a:stretch>
          </p:blipFill>
          <p:spPr>
            <a:xfrm>
              <a:off x="7658100" y="1907888"/>
              <a:ext cx="1104900" cy="2470724"/>
            </a:xfrm>
            <a:prstGeom prst="rect">
              <a:avLst/>
            </a:prstGeom>
          </p:spPr>
        </p:pic>
        <p:sp>
          <p:nvSpPr>
            <p:cNvPr id="43" name="Rectangle 43"/>
            <p:cNvSpPr/>
            <p:nvPr/>
          </p:nvSpPr>
          <p:spPr>
            <a:xfrm>
              <a:off x="7600950" y="1847850"/>
              <a:ext cx="542925" cy="152400"/>
            </a:xfrm>
            <a:prstGeom prst="rect">
              <a:avLst/>
            </a:prstGeom>
            <a:solidFill>
              <a:schemeClr val="accent1"/>
            </a:solidFill>
            <a:ln>
              <a:noFill/>
            </a:ln>
          </p:spPr>
        </p:sp>
        <p:sp>
          <p:nvSpPr>
            <p:cNvPr id="44" name="TextBox 44"/>
            <p:cNvSpPr txBox="1"/>
            <p:nvPr/>
          </p:nvSpPr>
          <p:spPr>
            <a:xfrm>
              <a:off x="7634288" y="1881188"/>
              <a:ext cx="392471"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4a</a:t>
              </a:r>
            </a:p>
          </p:txBody>
        </p:sp>
      </p:grpSp>
      <p:grpSp>
        <p:nvGrpSpPr>
          <p:cNvPr id="47" name="Group 47"/>
          <p:cNvGrpSpPr/>
          <p:nvPr/>
        </p:nvGrpSpPr>
        <p:grpSpPr>
          <a:xfrm>
            <a:off x="7596188" y="4521041"/>
            <a:ext cx="1061714" cy="161925"/>
            <a:chOff x="7596188" y="4521041"/>
            <a:chExt cx="1061714" cy="161925"/>
          </a:xfrm>
        </p:grpSpPr>
        <p:sp>
          <p:nvSpPr>
            <p:cNvPr id="46" name="TextBox 46"/>
            <p:cNvSpPr txBox="1"/>
            <p:nvPr/>
          </p:nvSpPr>
          <p:spPr>
            <a:xfrm>
              <a:off x="7596188" y="4521041"/>
              <a:ext cx="106171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(a) Initial explorations</a:t>
              </a:r>
            </a:p>
          </p:txBody>
        </p:sp>
      </p:grpSp>
      <p:grpSp>
        <p:nvGrpSpPr>
          <p:cNvPr id="52" name="Group 52"/>
          <p:cNvGrpSpPr/>
          <p:nvPr/>
        </p:nvGrpSpPr>
        <p:grpSpPr>
          <a:xfrm>
            <a:off x="9010650" y="1847850"/>
            <a:ext cx="1362075" cy="2590800"/>
            <a:chOff x="9010650" y="1847850"/>
            <a:chExt cx="1362075" cy="2590800"/>
          </a:xfrm>
        </p:grpSpPr>
        <p:sp>
          <p:nvSpPr>
            <p:cNvPr id="48" name="Rectangle 48"/>
            <p:cNvSpPr/>
            <p:nvPr/>
          </p:nvSpPr>
          <p:spPr>
            <a:xfrm>
              <a:off x="9010650" y="1847850"/>
              <a:ext cx="1362075" cy="2590800"/>
            </a:xfrm>
            <a:prstGeom prst="rect">
              <a:avLst/>
            </a:prstGeom>
            <a:solidFill>
              <a:schemeClr val="lt1"/>
            </a:solidFill>
            <a:ln w="7144">
              <a:solidFill>
                <a:schemeClr val="accent6"/>
              </a:solidFill>
            </a:ln>
          </p:spPr>
        </p:sp>
        <p:pic>
          <p:nvPicPr>
            <p:cNvPr id="49" name="Image 49"/>
            <p:cNvPicPr>
              <a:picLocks noChangeAspect="1"/>
            </p:cNvPicPr>
            <p:nvPr/>
          </p:nvPicPr>
          <p:blipFill>
            <a:blip r:embed="rId4"/>
            <a:stretch>
              <a:fillRect/>
            </a:stretch>
          </p:blipFill>
          <p:spPr>
            <a:xfrm>
              <a:off x="9067800" y="1905000"/>
              <a:ext cx="1247775" cy="2476500"/>
            </a:xfrm>
            <a:prstGeom prst="rect">
              <a:avLst/>
            </a:prstGeom>
          </p:spPr>
        </p:pic>
        <p:sp>
          <p:nvSpPr>
            <p:cNvPr id="50" name="Rectangle 50"/>
            <p:cNvSpPr/>
            <p:nvPr/>
          </p:nvSpPr>
          <p:spPr>
            <a:xfrm>
              <a:off x="9010650" y="1847850"/>
              <a:ext cx="542925" cy="152400"/>
            </a:xfrm>
            <a:prstGeom prst="rect">
              <a:avLst/>
            </a:prstGeom>
            <a:solidFill>
              <a:schemeClr val="accent1"/>
            </a:solidFill>
            <a:ln>
              <a:noFill/>
            </a:ln>
          </p:spPr>
        </p:sp>
        <p:sp>
          <p:nvSpPr>
            <p:cNvPr id="51" name="TextBox 51"/>
            <p:cNvSpPr txBox="1"/>
            <p:nvPr/>
          </p:nvSpPr>
          <p:spPr>
            <a:xfrm>
              <a:off x="9043988" y="1881188"/>
              <a:ext cx="398218"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4b</a:t>
              </a:r>
            </a:p>
          </p:txBody>
        </p:sp>
      </p:grpSp>
      <p:grpSp>
        <p:nvGrpSpPr>
          <p:cNvPr id="54" name="Group 54"/>
          <p:cNvGrpSpPr/>
          <p:nvPr/>
        </p:nvGrpSpPr>
        <p:grpSpPr>
          <a:xfrm>
            <a:off x="9005888" y="4521041"/>
            <a:ext cx="1135608" cy="161925"/>
            <a:chOff x="9005888" y="4521041"/>
            <a:chExt cx="1135608" cy="161925"/>
          </a:xfrm>
        </p:grpSpPr>
        <p:sp>
          <p:nvSpPr>
            <p:cNvPr id="53" name="TextBox 53"/>
            <p:cNvSpPr txBox="1"/>
            <p:nvPr/>
          </p:nvSpPr>
          <p:spPr>
            <a:xfrm>
              <a:off x="9005888" y="4521041"/>
              <a:ext cx="1135608"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(b) Fill loop in progress</a:t>
              </a:r>
            </a:p>
          </p:txBody>
        </p:sp>
      </p:grpSp>
      <p:grpSp>
        <p:nvGrpSpPr>
          <p:cNvPr id="59" name="Group 59"/>
          <p:cNvGrpSpPr/>
          <p:nvPr/>
        </p:nvGrpSpPr>
        <p:grpSpPr>
          <a:xfrm>
            <a:off x="10563225" y="1847850"/>
            <a:ext cx="1438275" cy="2590800"/>
            <a:chOff x="10563225" y="1847850"/>
            <a:chExt cx="1438275" cy="2590800"/>
          </a:xfrm>
        </p:grpSpPr>
        <p:sp>
          <p:nvSpPr>
            <p:cNvPr id="55" name="Rectangle 55"/>
            <p:cNvSpPr/>
            <p:nvPr/>
          </p:nvSpPr>
          <p:spPr>
            <a:xfrm>
              <a:off x="10563225" y="1847850"/>
              <a:ext cx="1438275" cy="2590800"/>
            </a:xfrm>
            <a:prstGeom prst="rect">
              <a:avLst/>
            </a:prstGeom>
            <a:solidFill>
              <a:schemeClr val="lt1"/>
            </a:solidFill>
            <a:ln w="7144">
              <a:solidFill>
                <a:schemeClr val="accent6"/>
              </a:solidFill>
            </a:ln>
          </p:spPr>
        </p:sp>
        <p:pic>
          <p:nvPicPr>
            <p:cNvPr id="56" name="Image 56"/>
            <p:cNvPicPr>
              <a:picLocks noChangeAspect="1"/>
            </p:cNvPicPr>
            <p:nvPr/>
          </p:nvPicPr>
          <p:blipFill>
            <a:blip r:embed="rId5"/>
            <a:stretch>
              <a:fillRect/>
            </a:stretch>
          </p:blipFill>
          <p:spPr>
            <a:xfrm>
              <a:off x="10620375" y="1905000"/>
              <a:ext cx="1323975" cy="2476500"/>
            </a:xfrm>
            <a:prstGeom prst="rect">
              <a:avLst/>
            </a:prstGeom>
          </p:spPr>
        </p:pic>
        <p:sp>
          <p:nvSpPr>
            <p:cNvPr id="57" name="Rectangle 57"/>
            <p:cNvSpPr/>
            <p:nvPr/>
          </p:nvSpPr>
          <p:spPr>
            <a:xfrm>
              <a:off x="10563225" y="1847850"/>
              <a:ext cx="542925" cy="152400"/>
            </a:xfrm>
            <a:prstGeom prst="rect">
              <a:avLst/>
            </a:prstGeom>
            <a:solidFill>
              <a:schemeClr val="accent1"/>
            </a:solidFill>
            <a:ln>
              <a:noFill/>
            </a:ln>
          </p:spPr>
        </p:sp>
        <p:sp>
          <p:nvSpPr>
            <p:cNvPr id="58" name="TextBox 58"/>
            <p:cNvSpPr txBox="1"/>
            <p:nvPr/>
          </p:nvSpPr>
          <p:spPr>
            <a:xfrm>
              <a:off x="10596562" y="1881188"/>
              <a:ext cx="392471"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4c</a:t>
              </a:r>
            </a:p>
          </p:txBody>
        </p:sp>
      </p:grpSp>
      <p:grpSp>
        <p:nvGrpSpPr>
          <p:cNvPr id="61" name="Group 61"/>
          <p:cNvGrpSpPr/>
          <p:nvPr/>
        </p:nvGrpSpPr>
        <p:grpSpPr>
          <a:xfrm>
            <a:off x="10558462" y="4521041"/>
            <a:ext cx="1031549" cy="161925"/>
            <a:chOff x="10558462" y="4521041"/>
            <a:chExt cx="1031549" cy="161925"/>
          </a:xfrm>
        </p:grpSpPr>
        <p:sp>
          <p:nvSpPr>
            <p:cNvPr id="60" name="TextBox 60"/>
            <p:cNvSpPr txBox="1"/>
            <p:nvPr/>
          </p:nvSpPr>
          <p:spPr>
            <a:xfrm>
              <a:off x="10558462" y="4521041"/>
              <a:ext cx="1031549"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(c) Poster completed</a:t>
              </a:r>
            </a:p>
          </p:txBody>
        </p:sp>
      </p:grpSp>
      <p:grpSp>
        <p:nvGrpSpPr>
          <p:cNvPr id="63" name="Group 63"/>
          <p:cNvGrpSpPr/>
          <p:nvPr/>
        </p:nvGrpSpPr>
        <p:grpSpPr>
          <a:xfrm>
            <a:off x="7596188" y="4844891"/>
            <a:ext cx="3459579" cy="428625"/>
            <a:chOff x="7596188" y="4844891"/>
            <a:chExt cx="3459579" cy="428625"/>
          </a:xfrm>
        </p:grpSpPr>
        <p:sp>
          <p:nvSpPr>
            <p:cNvPr id="62" name="TextBox 62"/>
            <p:cNvSpPr txBox="1"/>
            <p:nvPr/>
          </p:nvSpPr>
          <p:spPr>
            <a:xfrm>
              <a:off x="7596188" y="4844891"/>
              <a:ext cx="3459579"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accent5"/>
                  </a:solidFill>
                  <a:latin typeface="+mn-lt"/>
                  <a:ea typeface="+mn-ea"/>
                  <a:cs typeface="+mn-cs"/>
                </a:rPr>
                <a:t>Debug overlay: every section boxed and colored by verdict (red / amber for</a:t>
              </a:r>
              <a:br/>
              <a:r>
                <a:rPr lang="en-US" sz="820" dirty="0">
                  <a:solidFill>
                    <a:schemeClr val="accent5"/>
                  </a:solidFill>
                  <a:latin typeface="+mn-lt"/>
                  <a:ea typeface="+mn-ea"/>
                  <a:cs typeface="+mn-cs"/>
                </a:rPr>
                <a:t>EMPTY / SPARSE, green for FULL, orange / magenta for SPILLAGE /</a:t>
              </a:r>
              <a:br/>
              <a:r>
                <a:rPr lang="en-US" sz="820" dirty="0">
                  <a:solidFill>
                    <a:schemeClr val="accent5"/>
                  </a:solidFill>
                  <a:latin typeface="+mn-lt"/>
                  <a:ea typeface="+mn-ea"/>
                  <a:cs typeface="+mn-cs"/>
                </a:rPr>
                <a:t>OVERFLOW), annotated with its fill percentage.</a:t>
              </a:r>
            </a:p>
          </p:txBody>
        </p:sp>
      </p:grpSp>
      <p:grpSp>
        <p:nvGrpSpPr>
          <p:cNvPr id="73" name="Group 73"/>
          <p:cNvGrpSpPr/>
          <p:nvPr/>
        </p:nvGrpSpPr>
        <p:grpSpPr>
          <a:xfrm>
            <a:off x="7592568" y="5372100"/>
            <a:ext cx="4066032" cy="542926"/>
            <a:chOff x="7592568" y="5372100"/>
            <a:chExt cx="4066032" cy="542926"/>
          </a:xfrm>
        </p:grpSpPr>
        <p:sp>
          <p:nvSpPr>
            <p:cNvPr id="64" name="Line 64"/>
            <p:cNvSpPr/>
            <p:nvPr/>
          </p:nvSpPr>
          <p:spPr>
            <a:xfrm>
              <a:off x="7600950" y="5372100"/>
              <a:ext cx="4057650" cy="9525"/>
            </a:xfrm>
            <a:custGeom>
              <a:avLst/>
              <a:gdLst/>
              <a:ahLst/>
              <a:cxnLst/>
              <a:rect l="l" t="t" r="r" b="b"/>
              <a:pathLst>
                <a:path w="4057650" h="9525">
                  <a:moveTo>
                    <a:pt x="0" y="0"/>
                  </a:moveTo>
                  <a:lnTo>
                    <a:pt x="4057650" y="0"/>
                  </a:lnTo>
                </a:path>
              </a:pathLst>
            </a:custGeom>
            <a:noFill/>
            <a:ln w="9525">
              <a:solidFill>
                <a:schemeClr val="accent1"/>
              </a:solidFill>
            </a:ln>
          </p:spPr>
        </p:sp>
        <p:sp>
          <p:nvSpPr>
            <p:cNvPr id="65" name="TextBox 65"/>
            <p:cNvSpPr txBox="1"/>
            <p:nvPr/>
          </p:nvSpPr>
          <p:spPr>
            <a:xfrm>
              <a:off x="7592568" y="5517832"/>
              <a:ext cx="46136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90%</a:t>
              </a:r>
            </a:p>
          </p:txBody>
        </p:sp>
        <p:sp>
          <p:nvSpPr>
            <p:cNvPr id="66" name="TextBox 66"/>
            <p:cNvSpPr txBox="1"/>
            <p:nvPr/>
          </p:nvSpPr>
          <p:spPr>
            <a:xfrm>
              <a:off x="7596188" y="5767388"/>
              <a:ext cx="677408"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section fill gate</a:t>
              </a:r>
            </a:p>
          </p:txBody>
        </p:sp>
        <p:sp>
          <p:nvSpPr>
            <p:cNvPr id="67" name="TextBox 67"/>
            <p:cNvSpPr txBox="1"/>
            <p:nvPr/>
          </p:nvSpPr>
          <p:spPr>
            <a:xfrm>
              <a:off x="8606980" y="5517832"/>
              <a:ext cx="46136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98%</a:t>
              </a:r>
            </a:p>
          </p:txBody>
        </p:sp>
        <p:sp>
          <p:nvSpPr>
            <p:cNvPr id="68" name="TextBox 68"/>
            <p:cNvSpPr txBox="1"/>
            <p:nvPr/>
          </p:nvSpPr>
          <p:spPr>
            <a:xfrm>
              <a:off x="8610600" y="5767388"/>
              <a:ext cx="627027"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expand target</a:t>
              </a:r>
            </a:p>
          </p:txBody>
        </p:sp>
        <p:sp>
          <p:nvSpPr>
            <p:cNvPr id="69" name="TextBox 69"/>
            <p:cNvSpPr txBox="1"/>
            <p:nvPr/>
          </p:nvSpPr>
          <p:spPr>
            <a:xfrm>
              <a:off x="9621393" y="5517832"/>
              <a:ext cx="38575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≈12</a:t>
              </a:r>
            </a:p>
          </p:txBody>
        </p:sp>
        <p:sp>
          <p:nvSpPr>
            <p:cNvPr id="70" name="TextBox 70"/>
            <p:cNvSpPr txBox="1"/>
            <p:nvPr/>
          </p:nvSpPr>
          <p:spPr>
            <a:xfrm>
              <a:off x="9625012" y="5767388"/>
              <a:ext cx="941270"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rounds, then breaker</a:t>
              </a:r>
            </a:p>
          </p:txBody>
        </p:sp>
        <p:sp>
          <p:nvSpPr>
            <p:cNvPr id="71" name="TextBox 71"/>
            <p:cNvSpPr txBox="1"/>
            <p:nvPr/>
          </p:nvSpPr>
          <p:spPr>
            <a:xfrm>
              <a:off x="10635805" y="5517832"/>
              <a:ext cx="46136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90%</a:t>
              </a:r>
            </a:p>
          </p:txBody>
        </p:sp>
        <p:sp>
          <p:nvSpPr>
            <p:cNvPr id="72" name="TextBox 72"/>
            <p:cNvSpPr txBox="1"/>
            <p:nvPr/>
          </p:nvSpPr>
          <p:spPr>
            <a:xfrm>
              <a:off x="10639425" y="5767388"/>
              <a:ext cx="615638"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figure-fill gate</a:t>
              </a:r>
            </a:p>
          </p:txBody>
        </p:sp>
      </p:grpSp>
      <p:grpSp>
        <p:nvGrpSpPr>
          <p:cNvPr id="76" name="Group 76"/>
          <p:cNvGrpSpPr/>
          <p:nvPr/>
        </p:nvGrpSpPr>
        <p:grpSpPr>
          <a:xfrm>
            <a:off x="528638" y="6415088"/>
            <a:ext cx="11134725" cy="147638"/>
            <a:chOff x="528638" y="6415088"/>
            <a:chExt cx="11134725" cy="147638"/>
          </a:xfrm>
        </p:grpSpPr>
        <p:sp>
          <p:nvSpPr>
            <p:cNvPr id="74" name="TextBox 74"/>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75" name="TextBox 75"/>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7</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800"/>
                                        <p:tgtEl>
                                          <p:spTgt spid="13"/>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par>
                          <p:cTn id="24" fill="hold">
                            <p:stCondLst>
                              <p:cond delay="4300"/>
                            </p:stCondLst>
                            <p:childTnLst>
                              <p:par>
                                <p:cTn id="25" presetID="10" presetClass="entr" presetSubtype="0" fill="hold" grpId="0" nodeType="afterEffect">
                                  <p:stCondLst>
                                    <p:cond delay="5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300"/>
                                        <p:tgtEl>
                                          <p:spTgt spid="45"/>
                                        </p:tgtEl>
                                      </p:cBhvr>
                                    </p:animEffect>
                                  </p:childTnLst>
                                </p:cTn>
                              </p:par>
                            </p:childTnLst>
                          </p:cTn>
                        </p:par>
                        <p:par>
                          <p:cTn id="28" fill="hold">
                            <p:stCondLst>
                              <p:cond delay="5100"/>
                            </p:stCondLst>
                            <p:childTnLst>
                              <p:par>
                                <p:cTn id="29" presetID="10" presetClass="entr" presetSubtype="0" fill="hold" grpId="0" nodeType="afterEffect">
                                  <p:stCondLst>
                                    <p:cond delay="50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300"/>
                                        <p:tgtEl>
                                          <p:spTgt spid="47"/>
                                        </p:tgtEl>
                                      </p:cBhvr>
                                    </p:animEffect>
                                  </p:childTnLst>
                                </p:cTn>
                              </p:par>
                            </p:childTnLst>
                          </p:cTn>
                        </p:par>
                        <p:par>
                          <p:cTn id="32" fill="hold">
                            <p:stCondLst>
                              <p:cond delay="5900"/>
                            </p:stCondLst>
                            <p:childTnLst>
                              <p:par>
                                <p:cTn id="33" presetID="10" presetClass="entr" presetSubtype="0" fill="hold" grpId="0" nodeType="afterEffect">
                                  <p:stCondLst>
                                    <p:cond delay="50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300"/>
                                        <p:tgtEl>
                                          <p:spTgt spid="52"/>
                                        </p:tgtEl>
                                      </p:cBhvr>
                                    </p:animEffect>
                                  </p:childTnLst>
                                </p:cTn>
                              </p:par>
                            </p:childTnLst>
                          </p:cTn>
                        </p:par>
                        <p:par>
                          <p:cTn id="36" fill="hold">
                            <p:stCondLst>
                              <p:cond delay="6700"/>
                            </p:stCondLst>
                            <p:childTnLst>
                              <p:par>
                                <p:cTn id="37" presetID="10" presetClass="entr" presetSubtype="0" fill="hold" grpId="0" nodeType="afterEffect">
                                  <p:stCondLst>
                                    <p:cond delay="50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300"/>
                                        <p:tgtEl>
                                          <p:spTgt spid="54"/>
                                        </p:tgtEl>
                                      </p:cBhvr>
                                    </p:animEffect>
                                  </p:childTnLst>
                                </p:cTn>
                              </p:par>
                            </p:childTnLst>
                          </p:cTn>
                        </p:par>
                        <p:par>
                          <p:cTn id="40" fill="hold">
                            <p:stCondLst>
                              <p:cond delay="7500"/>
                            </p:stCondLst>
                            <p:childTnLst>
                              <p:par>
                                <p:cTn id="41" presetID="10" presetClass="entr" presetSubtype="0" fill="hold" grpId="0" nodeType="afterEffect">
                                  <p:stCondLst>
                                    <p:cond delay="50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300"/>
                                        <p:tgtEl>
                                          <p:spTgt spid="59"/>
                                        </p:tgtEl>
                                      </p:cBhvr>
                                    </p:animEffect>
                                  </p:childTnLst>
                                </p:cTn>
                              </p:par>
                            </p:childTnLst>
                          </p:cTn>
                        </p:par>
                        <p:par>
                          <p:cTn id="44" fill="hold">
                            <p:stCondLst>
                              <p:cond delay="8300"/>
                            </p:stCondLst>
                            <p:childTnLst>
                              <p:par>
                                <p:cTn id="45" presetID="10" presetClass="entr" presetSubtype="0" fill="hold" grpId="0" nodeType="afterEffect">
                                  <p:stCondLst>
                                    <p:cond delay="50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300"/>
                                        <p:tgtEl>
                                          <p:spTgt spid="61"/>
                                        </p:tgtEl>
                                      </p:cBhvr>
                                    </p:animEffect>
                                  </p:childTnLst>
                                </p:cTn>
                              </p:par>
                            </p:childTnLst>
                          </p:cTn>
                        </p:par>
                        <p:par>
                          <p:cTn id="48" fill="hold">
                            <p:stCondLst>
                              <p:cond delay="9100"/>
                            </p:stCondLst>
                            <p:childTnLst>
                              <p:par>
                                <p:cTn id="49" presetID="10" presetClass="entr" presetSubtype="0" fill="hold" grpId="0" nodeType="afterEffect">
                                  <p:stCondLst>
                                    <p:cond delay="50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3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256149" y="321945"/>
            <a:ext cx="2407213"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3 OF 5 · §2.3 PAPER2VIDEO</a:t>
            </a:r>
          </a:p>
        </p:txBody>
      </p:sp>
      <p:grpSp>
        <p:nvGrpSpPr>
          <p:cNvPr id="4" name="Group 4"/>
          <p:cNvGrpSpPr/>
          <p:nvPr/>
        </p:nvGrpSpPr>
        <p:grpSpPr>
          <a:xfrm>
            <a:off x="522732" y="573405"/>
            <a:ext cx="9387413" cy="734568"/>
            <a:chOff x="522732" y="573405"/>
            <a:chExt cx="9387413" cy="734568"/>
          </a:xfrm>
        </p:grpSpPr>
        <p:sp>
          <p:nvSpPr>
            <p:cNvPr id="3" name="TextBox 3"/>
            <p:cNvSpPr txBox="1"/>
            <p:nvPr/>
          </p:nvSpPr>
          <p:spPr>
            <a:xfrm>
              <a:off x="522732" y="573405"/>
              <a:ext cx="9387413"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Paper2Video plans duration before rendering, anchors narration to visible</a:t>
              </a:r>
              <a:br/>
              <a:r>
                <a:rPr lang="en-US" sz="2100" b="1" dirty="0">
                  <a:solidFill>
                    <a:schemeClr val="accent1"/>
                  </a:solidFill>
                  <a:latin typeface="+mn-lt"/>
                  <a:ea typeface="+mn-ea"/>
                  <a:cs typeface="+mn-cs"/>
                </a:rPr>
                <a:t>objects, and gates an editable deck plus two MP4s</a:t>
              </a:r>
            </a:p>
          </p:txBody>
        </p:sp>
      </p:grpSp>
      <p:grpSp>
        <p:nvGrpSpPr>
          <p:cNvPr id="6" name="!!claim-carry"/>
          <p:cNvGrpSpPr/>
          <p:nvPr/>
        </p:nvGrpSpPr>
        <p:grpSpPr>
          <a:xfrm>
            <a:off x="526542" y="1302068"/>
            <a:ext cx="9595887" cy="264033"/>
            <a:chOff x="526542" y="1302068"/>
            <a:chExt cx="9595887" cy="264033"/>
          </a:xfrm>
        </p:grpSpPr>
        <p:sp>
          <p:nvSpPr>
            <p:cNvPr id="5" name="TextBox 5"/>
            <p:cNvSpPr txBox="1"/>
            <p:nvPr/>
          </p:nvSpPr>
          <p:spPr>
            <a:xfrm>
              <a:off x="526542" y="1302068"/>
              <a:ext cx="959588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5: assets → pace narration → deck via the full ppt-master workflow → anchored visual cues → render → fit gate</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5715000" cy="1905000"/>
            <a:chOff x="533400" y="1847850"/>
            <a:chExt cx="5715000" cy="1905000"/>
          </a:xfrm>
        </p:grpSpPr>
        <p:sp>
          <p:nvSpPr>
            <p:cNvPr id="8" name="Rectangle 8"/>
            <p:cNvSpPr/>
            <p:nvPr/>
          </p:nvSpPr>
          <p:spPr>
            <a:xfrm>
              <a:off x="533400" y="1847850"/>
              <a:ext cx="5715000" cy="190500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711937" y="1905000"/>
              <a:ext cx="5357926" cy="1790700"/>
            </a:xfrm>
            <a:prstGeom prst="rect">
              <a:avLst/>
            </a:prstGeom>
          </p:spPr>
        </p:pic>
        <p:sp>
          <p:nvSpPr>
            <p:cNvPr id="10" name="Rectangle 10"/>
            <p:cNvSpPr/>
            <p:nvPr/>
          </p:nvSpPr>
          <p:spPr>
            <a:xfrm>
              <a:off x="533400" y="1847850"/>
              <a:ext cx="476250" cy="152400"/>
            </a:xfrm>
            <a:prstGeom prst="rect">
              <a:avLst/>
            </a:prstGeom>
            <a:solidFill>
              <a:schemeClr val="accent1"/>
            </a:solidFill>
            <a:ln>
              <a:noFill/>
            </a:ln>
          </p:spPr>
        </p:sp>
        <p:sp>
          <p:nvSpPr>
            <p:cNvPr id="11" name="TextBox 11"/>
            <p:cNvSpPr txBox="1"/>
            <p:nvPr/>
          </p:nvSpPr>
          <p:spPr>
            <a:xfrm>
              <a:off x="566738" y="1881188"/>
              <a:ext cx="3329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5</a:t>
              </a:r>
            </a:p>
          </p:txBody>
        </p:sp>
      </p:grpSp>
      <p:grpSp>
        <p:nvGrpSpPr>
          <p:cNvPr id="23" name="Group 23"/>
          <p:cNvGrpSpPr/>
          <p:nvPr/>
        </p:nvGrpSpPr>
        <p:grpSpPr>
          <a:xfrm>
            <a:off x="6472238" y="1864995"/>
            <a:ext cx="5186362" cy="1919287"/>
            <a:chOff x="6472238" y="1864995"/>
            <a:chExt cx="5186362" cy="1919287"/>
          </a:xfrm>
        </p:grpSpPr>
        <p:sp>
          <p:nvSpPr>
            <p:cNvPr id="13" name="TextBox 13"/>
            <p:cNvSpPr txBox="1"/>
            <p:nvPr/>
          </p:nvSpPr>
          <p:spPr>
            <a:xfrm>
              <a:off x="6472238" y="1864995"/>
              <a:ext cx="3864403"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ROOT DELIVERABLES AND THE PACKAGE GATE</a:t>
              </a:r>
            </a:p>
          </p:txBody>
        </p:sp>
        <p:sp>
          <p:nvSpPr>
            <p:cNvPr id="14" name="Line 14"/>
            <p:cNvSpPr/>
            <p:nvPr/>
          </p:nvSpPr>
          <p:spPr>
            <a:xfrm>
              <a:off x="6477000" y="2038350"/>
              <a:ext cx="5181600" cy="9525"/>
            </a:xfrm>
            <a:custGeom>
              <a:avLst/>
              <a:gdLst/>
              <a:ahLst/>
              <a:cxnLst/>
              <a:rect l="l" t="t" r="r" b="b"/>
              <a:pathLst>
                <a:path w="5181600" h="9525">
                  <a:moveTo>
                    <a:pt x="0" y="0"/>
                  </a:moveTo>
                  <a:lnTo>
                    <a:pt x="5181600" y="0"/>
                  </a:lnTo>
                </a:path>
              </a:pathLst>
            </a:custGeom>
            <a:noFill/>
            <a:ln w="9525">
              <a:solidFill>
                <a:schemeClr val="accent1"/>
              </a:solidFill>
            </a:ln>
          </p:spPr>
        </p:sp>
        <p:sp>
          <p:nvSpPr>
            <p:cNvPr id="15" name="Ellipse 15"/>
            <p:cNvSpPr/>
            <p:nvPr/>
          </p:nvSpPr>
          <p:spPr>
            <a:xfrm>
              <a:off x="6486525" y="2125980"/>
              <a:ext cx="57150" cy="57150"/>
            </a:xfrm>
            <a:prstGeom prst="ellipse">
              <a:avLst/>
            </a:prstGeom>
            <a:solidFill>
              <a:schemeClr val="accent2"/>
            </a:solidFill>
            <a:ln>
              <a:noFill/>
            </a:ln>
          </p:spPr>
        </p:sp>
        <p:sp>
          <p:nvSpPr>
            <p:cNvPr id="16" name="TextBox 16"/>
            <p:cNvSpPr txBox="1"/>
            <p:nvPr/>
          </p:nvSpPr>
          <p:spPr>
            <a:xfrm>
              <a:off x="6624638" y="2093595"/>
              <a:ext cx="4622582"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video.pptx — the editable deck, produced by the full ppt-master route [22]; not a disposable</a:t>
              </a:r>
              <a:br/>
              <a:r>
                <a:rPr lang="en-US" sz="900" dirty="0">
                  <a:solidFill>
                    <a:schemeClr val="dk1"/>
                  </a:solidFill>
                  <a:latin typeface="+mn-lt"/>
                  <a:ea typeface="+mn-ea"/>
                  <a:cs typeface="+mn-cs"/>
                </a:rPr>
                <a:t>intermediate</a:t>
              </a:r>
            </a:p>
          </p:txBody>
        </p:sp>
        <p:sp>
          <p:nvSpPr>
            <p:cNvPr id="17" name="Ellipse 17"/>
            <p:cNvSpPr/>
            <p:nvPr/>
          </p:nvSpPr>
          <p:spPr>
            <a:xfrm>
              <a:off x="6486525" y="2478405"/>
              <a:ext cx="57150" cy="57150"/>
            </a:xfrm>
            <a:prstGeom prst="ellipse">
              <a:avLst/>
            </a:prstGeom>
            <a:solidFill>
              <a:schemeClr val="accent2"/>
            </a:solidFill>
            <a:ln>
              <a:noFill/>
            </a:ln>
          </p:spPr>
        </p:sp>
        <p:sp>
          <p:nvSpPr>
            <p:cNvPr id="18" name="TextBox 18"/>
            <p:cNvSpPr txBox="1"/>
            <p:nvPr/>
          </p:nvSpPr>
          <p:spPr>
            <a:xfrm>
              <a:off x="6624638" y="2446020"/>
              <a:ext cx="4491857"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video.mp4 with burned-in subtitles and video_no_subtitles.mp4 for the reel's own caption</a:t>
              </a:r>
              <a:br/>
              <a:r>
                <a:rPr lang="en-US" sz="900" dirty="0">
                  <a:solidFill>
                    <a:schemeClr val="dk1"/>
                  </a:solidFill>
                  <a:latin typeface="+mn-lt"/>
                  <a:ea typeface="+mn-ea"/>
                  <a:cs typeface="+mn-cs"/>
                </a:rPr>
                <a:t>toggle; same frames, audio, highlight timing</a:t>
              </a:r>
            </a:p>
          </p:txBody>
        </p:sp>
        <p:sp>
          <p:nvSpPr>
            <p:cNvPr id="19" name="Ellipse 19"/>
            <p:cNvSpPr/>
            <p:nvPr/>
          </p:nvSpPr>
          <p:spPr>
            <a:xfrm>
              <a:off x="6486525" y="2830830"/>
              <a:ext cx="57150" cy="57150"/>
            </a:xfrm>
            <a:prstGeom prst="ellipse">
              <a:avLst/>
            </a:prstGeom>
            <a:solidFill>
              <a:schemeClr val="accent2"/>
            </a:solidFill>
            <a:ln>
              <a:noFill/>
            </a:ln>
          </p:spPr>
        </p:sp>
        <p:sp>
          <p:nvSpPr>
            <p:cNvPr id="20" name="TextBox 20"/>
            <p:cNvSpPr txBox="1"/>
            <p:nvPr/>
          </p:nvSpPr>
          <p:spPr>
            <a:xfrm>
              <a:off x="6624638" y="2798445"/>
              <a:ext cx="4247289"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assets/ keeps narration audio, subtitle sidecars, frames, duration reports, cue plans,</a:t>
              </a:r>
              <a:br/>
              <a:r>
                <a:rPr lang="en-US" sz="900" dirty="0">
                  <a:solidFill>
                    <a:schemeClr val="dk1"/>
                  </a:solidFill>
                  <a:latin typeface="+mn-lt"/>
                  <a:ea typeface="+mn-ea"/>
                  <a:cs typeface="+mn-cs"/>
                </a:rPr>
                <a:t>timeline.json, QA reports</a:t>
              </a:r>
            </a:p>
          </p:txBody>
        </p:sp>
        <p:sp>
          <p:nvSpPr>
            <p:cNvPr id="21" name="Ellipse 21"/>
            <p:cNvSpPr/>
            <p:nvPr/>
          </p:nvSpPr>
          <p:spPr>
            <a:xfrm>
              <a:off x="6486525" y="3183255"/>
              <a:ext cx="57150" cy="57150"/>
            </a:xfrm>
            <a:prstGeom prst="ellipse">
              <a:avLst/>
            </a:prstGeom>
            <a:solidFill>
              <a:schemeClr val="accent2"/>
            </a:solidFill>
            <a:ln>
              <a:noFill/>
            </a:ln>
          </p:spPr>
        </p:sp>
        <p:sp>
          <p:nvSpPr>
            <p:cNvPr id="22" name="TextBox 22"/>
            <p:cNvSpPr txBox="1"/>
            <p:nvPr/>
          </p:nvSpPr>
          <p:spPr>
            <a:xfrm>
              <a:off x="6624638" y="3150870"/>
              <a:ext cx="4609643" cy="6334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check_video_package.py is the release contract: files exist and play, audio stream present,</a:t>
              </a:r>
              <a:br/>
              <a:r>
                <a:rPr lang="en-US" sz="900" dirty="0">
                  <a:solidFill>
                    <a:schemeClr val="dk1"/>
                  </a:solidFill>
                  <a:latin typeface="+mn-lt"/>
                  <a:ea typeface="+mn-ea"/>
                  <a:cs typeface="+mn-cs"/>
                </a:rPr>
                <a:t>duration in tolerance, non-empty sidecar, cues timed inside their audio segment, no</a:t>
              </a:r>
              <a:br/>
              <a:r>
                <a:rPr lang="en-US" sz="900" dirty="0">
                  <a:solidFill>
                    <a:schemeClr val="dk1"/>
                  </a:solidFill>
                  <a:latin typeface="+mn-lt"/>
                  <a:ea typeface="+mn-ea"/>
                  <a:cs typeface="+mn-cs"/>
                </a:rPr>
                <a:t>word-sized highlight boxes, blank frames and text overflow caught, unsafe rate changes</a:t>
              </a:r>
              <a:br/>
              <a:r>
                <a:rPr lang="en-US" sz="900" dirty="0">
                  <a:solidFill>
                    <a:schemeClr val="dk1"/>
                  </a:solidFill>
                  <a:latin typeface="+mn-lt"/>
                  <a:ea typeface="+mn-ea"/>
                  <a:cs typeface="+mn-cs"/>
                </a:rPr>
                <a:t>rejected</a:t>
              </a:r>
            </a:p>
          </p:txBody>
        </p:sp>
      </p:grpSp>
      <p:graphicFrame>
        <p:nvGraphicFramePr>
          <p:cNvPr id="24" name="video-requirements"/>
          <p:cNvGraphicFramePr>
            <a:graphicFrameLocks noGrp="1"/>
          </p:cNvGraphicFramePr>
          <p:nvPr/>
        </p:nvGraphicFramePr>
        <p:xfrm>
          <a:off x="533400" y="3905250"/>
          <a:ext cx="11125200" cy="2171700"/>
        </p:xfrm>
        <a:graphic>
          <a:graphicData uri="http://schemas.openxmlformats.org/drawingml/2006/table">
            <a:tbl>
              <a:tblPr firstRow="1" bandRow="0">
                <a:tableStyleId>{5C22544A-7EE6-4342-B048-85BDC9FD1C3A}</a:tableStyleId>
              </a:tblPr>
              <a:tblGrid>
                <a:gridCol w="381001"/>
                <a:gridCol w="3619500"/>
                <a:gridCol w="7124699"/>
              </a:tblGrid>
              <a:tr h="266700">
                <a:tc>
                  <a:txBody>
                    <a:bodyPr/>
                    <a:lstStyle/>
                    <a:p>
                      <a:pPr/>
                      <a:r>
                        <a:rPr lang="en-US" sz="900" b="1">
                          <a:solidFill>
                            <a:schemeClr val="accent1"/>
                          </a:solidFill>
                          <a:latin typeface="Arial"/>
                          <a:ea typeface="Microsoft YaHei"/>
                          <a:cs typeface="Arial"/>
                        </a:rPr>
                        <a:t>ID</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Requirement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Solution the paper gives</a:t>
                      </a:r>
                    </a:p>
                  </a:txBody>
                  <a:tcPr anchor="ctr" marL="76200" marR="76200" marT="19050" marB="19050">
                    <a:lnL>
                      <a:noFill/>
                    </a:lnL>
                    <a:lnR>
                      <a:noFill/>
                    </a:lnR>
                    <a:lnT>
                      <a:noFill/>
                    </a:lnT>
                    <a:lnB w="9525">
                      <a:solidFill>
                        <a:schemeClr val="accent1"/>
                      </a:solidFill>
                      <a:prstDash val="solid"/>
                    </a:lnB>
                    <a:solidFill>
                      <a:schemeClr val="lt2"/>
                    </a:solidFill>
                  </a:tcPr>
                </a:tc>
              </a:tr>
              <a:tr h="381000">
                <a:tc>
                  <a:txBody>
                    <a:bodyPr/>
                    <a:lstStyle/>
                    <a:p>
                      <a:pPr/>
                      <a:r>
                        <a:rPr lang="en-US" sz="820" b="1">
                          <a:solidFill>
                            <a:schemeClr val="accent2"/>
                          </a:solidFill>
                          <a:latin typeface="Arial"/>
                          <a:ea typeface="Microsoft YaHei"/>
                          <a:cs typeface="Arial"/>
                        </a:rPr>
                        <a:t>B1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Duration must be planned before rendering — cutting the MP4,</a:t>
                      </a:r>
                    </a:p>
                    <a:p>
                      <a:pPr algn="l"/>
                      <a:r>
                        <a:rPr lang="en-US" sz="820" b="0">
                          <a:solidFill>
                            <a:schemeClr val="dk1"/>
                          </a:solidFill>
                          <a:latin typeface="Arial"/>
                          <a:ea typeface="Microsoft YaHei"/>
                          <a:cs typeface="Arial"/>
                        </a:rPr>
                        <a:t>clipping audio, or a large speed-up is unsafe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planner estimates the script before TTS and asks for semantic rewrites; a post-render duration report; small residuals repaired by a</a:t>
                      </a:r>
                    </a:p>
                    <a:p>
                      <a:pPr algn="l"/>
                      <a:r>
                        <a:rPr lang="en-US" sz="820" b="0">
                          <a:solidFill>
                            <a:schemeClr val="dk1"/>
                          </a:solidFill>
                          <a:latin typeface="Arial"/>
                          <a:ea typeface="Microsoft YaHei"/>
                          <a:cs typeface="Arial"/>
                        </a:rPr>
                        <a:t>bounded speech-rate plan, large ones return to rewriting</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B2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viewer needs attention guidance, not only slide playback</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deck workflow attaches semantic anchors to the objects the narration names; a cue resolver combines script, word timings, geometry,</a:t>
                      </a:r>
                    </a:p>
                    <a:p>
                      <a:pPr algn="l"/>
                      <a:r>
                        <a:rPr lang="en-US" sz="820" b="0">
                          <a:solidFill>
                            <a:schemeClr val="dk1"/>
                          </a:solidFill>
                          <a:latin typeface="Arial"/>
                          <a:ea typeface="Microsoft YaHei"/>
                          <a:cs typeface="Arial"/>
                        </a:rPr>
                        <a:t>and anchors into visual_cues.json; normalized geometry survives resolutions; default style spotlight_laser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B3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Captions have two delivery contexts — shareable MP4 vs the</a:t>
                      </a:r>
                    </a:p>
                    <a:p>
                      <a:pPr algn="l"/>
                      <a:r>
                        <a:rPr lang="en-US" sz="820" b="0">
                          <a:solidFill>
                            <a:schemeClr val="dk1"/>
                          </a:solidFill>
                          <a:latin typeface="Arial"/>
                          <a:ea typeface="Microsoft YaHei"/>
                          <a:cs typeface="Arial"/>
                        </a:rPr>
                        <a:t>interactive reel</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Burned-in subtitles in video.mp4; a clean video_no_subtitles.mp4 so the reel's caption toggle never doubles subtitles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B4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video has to remain addressable after export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timeline.json maps each section or narration chunk to its audio window, subtitle cues, slide frame, and accepted visual cue; Paper2Reel</a:t>
                      </a:r>
                    </a:p>
                    <a:p>
                      <a:pPr algn="l"/>
                      <a:r>
                        <a:rPr lang="en-US" sz="820" b="0">
                          <a:solidFill>
                            <a:schemeClr val="dk1"/>
                          </a:solidFill>
                          <a:latin typeface="Arial"/>
                          <a:ea typeface="Microsoft YaHei"/>
                          <a:cs typeface="Arial"/>
                        </a:rPr>
                        <a:t>reads it directly</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B5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Media failures need deterministic checks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One mandatory package gate catches missing audio, empty or doubled subtitles, malformed highlight boxes, timeline drift, blank frames,</a:t>
                      </a:r>
                    </a:p>
                    <a:p>
                      <a:pPr algn="l"/>
                      <a:r>
                        <a:rPr lang="en-US" sz="820" b="0">
                          <a:solidFill>
                            <a:schemeClr val="dk1"/>
                          </a:solidFill>
                          <a:latin typeface="Arial"/>
                          <a:ea typeface="Microsoft YaHei"/>
                          <a:cs typeface="Arial"/>
                        </a:rPr>
                        <a:t>and unsafe duration fixes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27" name="Group 27"/>
          <p:cNvGrpSpPr/>
          <p:nvPr/>
        </p:nvGrpSpPr>
        <p:grpSpPr>
          <a:xfrm>
            <a:off x="528638" y="6415088"/>
            <a:ext cx="11134725" cy="147638"/>
            <a:chOff x="528638" y="6415088"/>
            <a:chExt cx="11134725" cy="147638"/>
          </a:xfrm>
        </p:grpSpPr>
        <p:sp>
          <p:nvSpPr>
            <p:cNvPr id="25" name="TextBox 25"/>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6" name="TextBox 26"/>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800"/>
                                        <p:tgtEl>
                                          <p:spTgt spid="12"/>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400"/>
                            </p:stCondLst>
                            <p:childTnLst>
                              <p:par>
                                <p:cTn id="21" presetID="22" presetClass="entr" presetSubtype="4" fill="hold" grpId="0" nodeType="afterEffect">
                                  <p:stCondLst>
                                    <p:cond delay="50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09446" y="321945"/>
            <a:ext cx="2353916"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4 OF 5 · §2.4 PAPER2BLOG</a:t>
            </a:r>
          </a:p>
        </p:txBody>
      </p:sp>
      <p:grpSp>
        <p:nvGrpSpPr>
          <p:cNvPr id="4" name="Group 4"/>
          <p:cNvGrpSpPr/>
          <p:nvPr/>
        </p:nvGrpSpPr>
        <p:grpSpPr>
          <a:xfrm>
            <a:off x="522732" y="573405"/>
            <a:ext cx="9136449" cy="734568"/>
            <a:chOff x="522732" y="573405"/>
            <a:chExt cx="9136449" cy="734568"/>
          </a:xfrm>
        </p:grpSpPr>
        <p:sp>
          <p:nvSpPr>
            <p:cNvPr id="3" name="TextBox 3"/>
            <p:cNvSpPr txBox="1"/>
            <p:nvPr/>
          </p:nvSpPr>
          <p:spPr>
            <a:xfrm>
              <a:off x="522732" y="573405"/>
              <a:ext cx="9136449"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Paper2Blog writes the Chinese and English articles separately from one</a:t>
              </a:r>
              <a:br/>
              <a:r>
                <a:rPr lang="en-US" sz="2100" b="1" dirty="0">
                  <a:solidFill>
                    <a:schemeClr val="accent1"/>
                  </a:solidFill>
                  <a:latin typeface="+mn-lt"/>
                  <a:ea typeface="+mn-ea"/>
                  <a:cs typeface="+mn-cs"/>
                </a:rPr>
                <a:t>evidence map, then gates the Word files on layout</a:t>
              </a:r>
            </a:p>
          </p:txBody>
        </p:sp>
      </p:grpSp>
      <p:grpSp>
        <p:nvGrpSpPr>
          <p:cNvPr id="6" name="!!claim-carry"/>
          <p:cNvGrpSpPr/>
          <p:nvPr/>
        </p:nvGrpSpPr>
        <p:grpSpPr>
          <a:xfrm>
            <a:off x="526542" y="1302068"/>
            <a:ext cx="9457792" cy="264033"/>
            <a:chOff x="526542" y="1302068"/>
            <a:chExt cx="9457792" cy="264033"/>
          </a:xfrm>
        </p:grpSpPr>
        <p:sp>
          <p:nvSpPr>
            <p:cNvPr id="5" name="TextBox 5"/>
            <p:cNvSpPr txBox="1"/>
            <p:nvPr/>
          </p:nvSpPr>
          <p:spPr>
            <a:xfrm>
              <a:off x="526542" y="1302068"/>
              <a:ext cx="945779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7: assets → evidence map → multilingual drafts → editorial QA loop → the Chinese and English DOCX (§2.4)</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6667500" cy="1371600"/>
            <a:chOff x="533400" y="1847850"/>
            <a:chExt cx="6667500" cy="1371600"/>
          </a:xfrm>
        </p:grpSpPr>
        <p:sp>
          <p:nvSpPr>
            <p:cNvPr id="8" name="Rectangle 8"/>
            <p:cNvSpPr/>
            <p:nvPr/>
          </p:nvSpPr>
          <p:spPr>
            <a:xfrm>
              <a:off x="533400" y="1847850"/>
              <a:ext cx="6667500" cy="137160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590550" y="1915930"/>
              <a:ext cx="6553200" cy="1235439"/>
            </a:xfrm>
            <a:prstGeom prst="rect">
              <a:avLst/>
            </a:prstGeom>
          </p:spPr>
        </p:pic>
        <p:sp>
          <p:nvSpPr>
            <p:cNvPr id="10" name="Rectangle 10"/>
            <p:cNvSpPr/>
            <p:nvPr/>
          </p:nvSpPr>
          <p:spPr>
            <a:xfrm>
              <a:off x="533400" y="1847850"/>
              <a:ext cx="476250" cy="152400"/>
            </a:xfrm>
            <a:prstGeom prst="rect">
              <a:avLst/>
            </a:prstGeom>
            <a:solidFill>
              <a:schemeClr val="accent1"/>
            </a:solidFill>
            <a:ln>
              <a:noFill/>
            </a:ln>
          </p:spPr>
        </p:sp>
        <p:sp>
          <p:nvSpPr>
            <p:cNvPr id="11" name="TextBox 11"/>
            <p:cNvSpPr txBox="1"/>
            <p:nvPr/>
          </p:nvSpPr>
          <p:spPr>
            <a:xfrm>
              <a:off x="566738" y="1881188"/>
              <a:ext cx="3329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7</a:t>
              </a:r>
            </a:p>
          </p:txBody>
        </p:sp>
      </p:grpSp>
      <p:grpSp>
        <p:nvGrpSpPr>
          <p:cNvPr id="21" name="Group 21"/>
          <p:cNvGrpSpPr/>
          <p:nvPr/>
        </p:nvGrpSpPr>
        <p:grpSpPr>
          <a:xfrm>
            <a:off x="7424738" y="1864995"/>
            <a:ext cx="4233862" cy="1109662"/>
            <a:chOff x="7424738" y="1864995"/>
            <a:chExt cx="4233862" cy="1109662"/>
          </a:xfrm>
        </p:grpSpPr>
        <p:sp>
          <p:nvSpPr>
            <p:cNvPr id="13" name="TextBox 13"/>
            <p:cNvSpPr txBox="1"/>
            <p:nvPr/>
          </p:nvSpPr>
          <p:spPr>
            <a:xfrm>
              <a:off x="7424738" y="1864995"/>
              <a:ext cx="1744944"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ROOT DELIVERABLES</a:t>
              </a:r>
            </a:p>
          </p:txBody>
        </p:sp>
        <p:sp>
          <p:nvSpPr>
            <p:cNvPr id="14" name="Line 14"/>
            <p:cNvSpPr/>
            <p:nvPr/>
          </p:nvSpPr>
          <p:spPr>
            <a:xfrm>
              <a:off x="7429500" y="2038350"/>
              <a:ext cx="4229100" cy="9525"/>
            </a:xfrm>
            <a:custGeom>
              <a:avLst/>
              <a:gdLst/>
              <a:ahLst/>
              <a:cxnLst/>
              <a:rect l="l" t="t" r="r" b="b"/>
              <a:pathLst>
                <a:path w="4229100" h="9525">
                  <a:moveTo>
                    <a:pt x="0" y="0"/>
                  </a:moveTo>
                  <a:lnTo>
                    <a:pt x="4229100" y="0"/>
                  </a:lnTo>
                </a:path>
              </a:pathLst>
            </a:custGeom>
            <a:noFill/>
            <a:ln w="9525">
              <a:solidFill>
                <a:schemeClr val="accent1"/>
              </a:solidFill>
            </a:ln>
          </p:spPr>
        </p:sp>
        <p:sp>
          <p:nvSpPr>
            <p:cNvPr id="15" name="Ellipse 15"/>
            <p:cNvSpPr/>
            <p:nvPr/>
          </p:nvSpPr>
          <p:spPr>
            <a:xfrm>
              <a:off x="7439025" y="2125980"/>
              <a:ext cx="57150" cy="57150"/>
            </a:xfrm>
            <a:prstGeom prst="ellipse">
              <a:avLst/>
            </a:prstGeom>
            <a:solidFill>
              <a:schemeClr val="accent2"/>
            </a:solidFill>
            <a:ln>
              <a:noFill/>
            </a:ln>
          </p:spPr>
        </p:sp>
        <p:sp>
          <p:nvSpPr>
            <p:cNvPr id="16" name="TextBox 16"/>
            <p:cNvSpPr txBox="1"/>
            <p:nvPr/>
          </p:nvSpPr>
          <p:spPr>
            <a:xfrm>
              <a:off x="7577138" y="2093595"/>
              <a:ext cx="323029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The Chinese article, cast as a WeChat public-account piece</a:t>
              </a:r>
            </a:p>
          </p:txBody>
        </p:sp>
        <p:sp>
          <p:nvSpPr>
            <p:cNvPr id="17" name="Ellipse 17"/>
            <p:cNvSpPr/>
            <p:nvPr/>
          </p:nvSpPr>
          <p:spPr>
            <a:xfrm>
              <a:off x="7439025" y="2326005"/>
              <a:ext cx="57150" cy="57150"/>
            </a:xfrm>
            <a:prstGeom prst="ellipse">
              <a:avLst/>
            </a:prstGeom>
            <a:solidFill>
              <a:schemeClr val="accent2"/>
            </a:solidFill>
            <a:ln>
              <a:noFill/>
            </a:ln>
          </p:spPr>
        </p:sp>
        <p:sp>
          <p:nvSpPr>
            <p:cNvPr id="18" name="TextBox 18"/>
            <p:cNvSpPr txBox="1"/>
            <p:nvPr/>
          </p:nvSpPr>
          <p:spPr>
            <a:xfrm>
              <a:off x="7577138" y="2293620"/>
              <a:ext cx="2663529"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The English article, cast as a research-blog piece</a:t>
              </a:r>
            </a:p>
          </p:txBody>
        </p:sp>
        <p:sp>
          <p:nvSpPr>
            <p:cNvPr id="19" name="Ellipse 19"/>
            <p:cNvSpPr/>
            <p:nvPr/>
          </p:nvSpPr>
          <p:spPr>
            <a:xfrm>
              <a:off x="7439025" y="2526030"/>
              <a:ext cx="57150" cy="57150"/>
            </a:xfrm>
            <a:prstGeom prst="ellipse">
              <a:avLst/>
            </a:prstGeom>
            <a:solidFill>
              <a:schemeClr val="accent2"/>
            </a:solidFill>
            <a:ln>
              <a:noFill/>
            </a:ln>
          </p:spPr>
        </p:sp>
        <p:sp>
          <p:nvSpPr>
            <p:cNvPr id="20" name="TextBox 20"/>
            <p:cNvSpPr txBox="1"/>
            <p:nvPr/>
          </p:nvSpPr>
          <p:spPr>
            <a:xfrm>
              <a:off x="7577138" y="2493645"/>
              <a:ext cx="3776944" cy="4810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Same facts, figures, numbers, claims, and source links; different openings,</a:t>
              </a:r>
              <a:br/>
              <a:r>
                <a:rPr lang="en-US" sz="900" dirty="0">
                  <a:solidFill>
                    <a:schemeClr val="dk1"/>
                  </a:solidFill>
                  <a:latin typeface="+mn-lt"/>
                  <a:ea typeface="+mn-ea"/>
                  <a:cs typeface="+mn-cs"/>
                </a:rPr>
                <a:t>pacing, and examples; outlines, previews, and QA reports stay in the</a:t>
              </a:r>
              <a:br/>
              <a:r>
                <a:rPr lang="en-US" sz="900" dirty="0">
                  <a:solidFill>
                    <a:schemeClr val="dk1"/>
                  </a:solidFill>
                  <a:latin typeface="+mn-lt"/>
                  <a:ea typeface="+mn-ea"/>
                  <a:cs typeface="+mn-cs"/>
                </a:rPr>
                <a:t>intermediates directory</a:t>
              </a:r>
            </a:p>
          </p:txBody>
        </p:sp>
      </p:grpSp>
      <p:grpSp>
        <p:nvGrpSpPr>
          <p:cNvPr id="23" name="Group 23"/>
          <p:cNvGrpSpPr/>
          <p:nvPr/>
        </p:nvGrpSpPr>
        <p:grpSpPr>
          <a:xfrm>
            <a:off x="528638" y="5721191"/>
            <a:ext cx="9943856" cy="295275"/>
            <a:chOff x="528638" y="5721191"/>
            <a:chExt cx="9943856" cy="295275"/>
          </a:xfrm>
        </p:grpSpPr>
        <p:sp>
          <p:nvSpPr>
            <p:cNvPr id="22" name="TextBox 22"/>
            <p:cNvSpPr txBox="1"/>
            <p:nvPr/>
          </p:nvSpPr>
          <p:spPr>
            <a:xfrm>
              <a:off x="528638" y="5721191"/>
              <a:ext cx="9943856"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accent5"/>
                  </a:solidFill>
                  <a:latin typeface="+mn-lt"/>
                  <a:ea typeface="+mn-ea"/>
                  <a:cs typeface="+mn-cs"/>
                </a:rPr>
                <a:t>Package gate: both DOCX exist and are readable, contain enough article text, embed images rather than link them, carry no placeholder text, declare a Latin body font and a Chinese fallback; embedded image count,</a:t>
              </a:r>
              <a:br/>
              <a:r>
                <a:rPr lang="en-US" sz="820" dirty="0">
                  <a:solidFill>
                    <a:schemeClr val="accent5"/>
                  </a:solidFill>
                  <a:latin typeface="+mn-lt"/>
                  <a:ea typeface="+mn-ea"/>
                  <a:cs typeface="+mn-cs"/>
                </a:rPr>
                <a:t>identity, and order are compared across the two languages, extracted numeric claims and technical-looking terms are cross-checked — concrete divergences, not writing style.</a:t>
              </a:r>
            </a:p>
          </p:txBody>
        </p:sp>
      </p:grpSp>
      <p:graphicFrame>
        <p:nvGraphicFramePr>
          <p:cNvPr id="24" name="blog-requirements"/>
          <p:cNvGraphicFramePr>
            <a:graphicFrameLocks noGrp="1"/>
          </p:cNvGraphicFramePr>
          <p:nvPr/>
        </p:nvGraphicFramePr>
        <p:xfrm>
          <a:off x="533400" y="3390900"/>
          <a:ext cx="11125200" cy="2171700"/>
        </p:xfrm>
        <a:graphic>
          <a:graphicData uri="http://schemas.openxmlformats.org/drawingml/2006/table">
            <a:tbl>
              <a:tblPr firstRow="1" bandRow="0">
                <a:tableStyleId>{5C22544A-7EE6-4342-B048-85BDC9FD1C3A}</a:tableStyleId>
              </a:tblPr>
              <a:tblGrid>
                <a:gridCol w="381001"/>
                <a:gridCol w="3619500"/>
                <a:gridCol w="7124699"/>
              </a:tblGrid>
              <a:tr h="266700">
                <a:tc>
                  <a:txBody>
                    <a:bodyPr/>
                    <a:lstStyle/>
                    <a:p>
                      <a:pPr/>
                      <a:r>
                        <a:rPr lang="en-US" sz="900" b="1">
                          <a:solidFill>
                            <a:schemeClr val="accent1"/>
                          </a:solidFill>
                          <a:latin typeface="Arial"/>
                          <a:ea typeface="Microsoft YaHei"/>
                          <a:cs typeface="Arial"/>
                        </a:rPr>
                        <a:t>ID</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Requirement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Solution the paper gives</a:t>
                      </a:r>
                    </a:p>
                  </a:txBody>
                  <a:tcPr anchor="ctr" marL="76200" marR="76200" marT="19050" marB="19050">
                    <a:lnL>
                      <a:noFill/>
                    </a:lnL>
                    <a:lnR>
                      <a:noFill/>
                    </a:lnR>
                    <a:lnT>
                      <a:noFill/>
                    </a:lnT>
                    <a:lnB w="9525">
                      <a:solidFill>
                        <a:schemeClr val="accent1"/>
                      </a:solidFill>
                      <a:prstDash val="solid"/>
                    </a:lnB>
                    <a:solidFill>
                      <a:schemeClr val="lt2"/>
                    </a:solidFill>
                  </a:tcPr>
                </a:tc>
              </a:tr>
              <a:tr h="381000">
                <a:tc>
                  <a:txBody>
                    <a:bodyPr/>
                    <a:lstStyle/>
                    <a:p>
                      <a:pPr/>
                      <a:r>
                        <a:rPr lang="en-US" sz="820" b="1">
                          <a:solidFill>
                            <a:schemeClr val="accent2"/>
                          </a:solidFill>
                          <a:latin typeface="Arial"/>
                          <a:ea typeface="Microsoft YaHei"/>
                          <a:cs typeface="Arial"/>
                        </a:rPr>
                        <a:t>C1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One evidence base for two languages — the articles may differ in</a:t>
                      </a:r>
                    </a:p>
                    <a:p>
                      <a:pPr algn="l"/>
                      <a:r>
                        <a:rPr lang="en-US" sz="820" b="0">
                          <a:solidFill>
                            <a:schemeClr val="dk1"/>
                          </a:solidFill>
                          <a:latin typeface="Arial"/>
                          <a:ea typeface="Microsoft YaHei"/>
                          <a:cs typeface="Arial"/>
                        </a:rPr>
                        <a:t>pacing but cannot drift on results, method names, figures, or links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One evidence map from the bundle: hook, problem, method components, claims, quantitative results, limitations, links, figure roles; a</a:t>
                      </a:r>
                    </a:p>
                    <a:p>
                      <a:pPr algn="l"/>
                      <a:r>
                        <a:rPr lang="en-US" sz="820" b="0">
                          <a:solidFill>
                            <a:schemeClr val="dk1"/>
                          </a:solidFill>
                          <a:latin typeface="Arial"/>
                          <a:ea typeface="Microsoft YaHei"/>
                          <a:cs typeface="Arial"/>
                        </a:rPr>
                        <a:t>missing hard fact (code link, DOI, venue, affiliation) is omitted, never guessed</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C2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Register must be controlled during writing — a deterministic script</a:t>
                      </a:r>
                    </a:p>
                    <a:p>
                      <a:pPr algn="l"/>
                      <a:r>
                        <a:rPr lang="en-US" sz="820" b="0">
                          <a:solidFill>
                            <a:schemeClr val="dk1"/>
                          </a:solidFill>
                          <a:latin typeface="Arial"/>
                          <a:ea typeface="Microsoft YaHei"/>
                          <a:cs typeface="Arial"/>
                        </a:rPr>
                        <a:t>cannot check it afterwards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two articles are written separately from language-specific outlines and a style guide (restrained public-account register vs neutral</a:t>
                      </a:r>
                    </a:p>
                    <a:p>
                      <a:pPr algn="l"/>
                      <a:r>
                        <a:rPr lang="en-US" sz="820" b="0">
                          <a:solidFill>
                            <a:schemeClr val="dk1"/>
                          </a:solidFill>
                          <a:latin typeface="Arial"/>
                          <a:ea typeface="Microsoft YaHei"/>
                          <a:cs typeface="Arial"/>
                        </a:rPr>
                        <a:t>research blog), not translated sentence by sentence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C3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Figures need article-level selection and placement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A small shared figure set, the same in both languages, each placed next to the section that prepares the reader, with captions per language;</a:t>
                      </a:r>
                    </a:p>
                    <a:p>
                      <a:pPr algn="l"/>
                      <a:r>
                        <a:rPr lang="en-US" sz="820" b="0">
                          <a:solidFill>
                            <a:schemeClr val="dk1"/>
                          </a:solidFill>
                          <a:latin typeface="Arial"/>
                          <a:ea typeface="Microsoft YaHei"/>
                          <a:cs typeface="Arial"/>
                        </a:rPr>
                        <a:t>readability after DOCX resizing is checked</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C4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deliverable is a Word article, not plain text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Fixed filenames, embedded media, captions in the matching language, source links, editor-friendly fonts (Latin body font plus a Chinese</a:t>
                      </a:r>
                    </a:p>
                    <a:p>
                      <a:pPr algn="l"/>
                      <a:r>
                        <a:rPr lang="en-US" sz="820" b="0">
                          <a:solidFill>
                            <a:schemeClr val="dk1"/>
                          </a:solidFill>
                          <a:latin typeface="Arial"/>
                          <a:ea typeface="Microsoft YaHei"/>
                          <a:cs typeface="Arial"/>
                        </a:rPr>
                        <a:t>fallback)</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C5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Word layout has to be editor-ready — blank pages, thumbnails,</a:t>
                      </a:r>
                    </a:p>
                    <a:p>
                      <a:pPr algn="l"/>
                      <a:r>
                        <a:rPr lang="en-US" sz="820" b="0">
                          <a:solidFill>
                            <a:schemeClr val="dk1"/>
                          </a:solidFill>
                          <a:latin typeface="Arial"/>
                          <a:ea typeface="Microsoft YaHei"/>
                          <a:cs typeface="Arial"/>
                        </a:rPr>
                        <a:t>orphan tails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Underfilled images, images pushed to the next page, and orphan tails are read from the document structure; strict mode renders page</a:t>
                      </a:r>
                    </a:p>
                    <a:p>
                      <a:pPr algn="l"/>
                      <a:r>
                        <a:rPr lang="en-US" sz="820" b="0">
                          <a:solidFill>
                            <a:schemeClr val="dk1"/>
                          </a:solidFill>
                          <a:latin typeface="Arial"/>
                          <a:ea typeface="Microsoft YaHei"/>
                          <a:cs typeface="Arial"/>
                        </a:rPr>
                        <a:t>images to catch near-blank pages and bottom whitespace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27" name="Group 27"/>
          <p:cNvGrpSpPr/>
          <p:nvPr/>
        </p:nvGrpSpPr>
        <p:grpSpPr>
          <a:xfrm>
            <a:off x="528638" y="6415088"/>
            <a:ext cx="11134725" cy="147638"/>
            <a:chOff x="528638" y="6415088"/>
            <a:chExt cx="11134725" cy="147638"/>
          </a:xfrm>
        </p:grpSpPr>
        <p:sp>
          <p:nvSpPr>
            <p:cNvPr id="25" name="TextBox 25"/>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6" name="TextBox 26"/>
            <p:cNvSpPr txBox="1"/>
            <p:nvPr/>
          </p:nvSpPr>
          <p:spPr>
            <a:xfrm>
              <a:off x="11597681" y="6415088"/>
              <a:ext cx="65682"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800"/>
                                        <p:tgtEl>
                                          <p:spTgt spid="12"/>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3400"/>
                            </p:stCondLst>
                            <p:childTnLst>
                              <p:par>
                                <p:cTn id="21" presetID="22" presetClass="entr" presetSubtype="4" fill="hold" grpId="0" nodeType="afterEffect">
                                  <p:stCondLst>
                                    <p:cond delay="50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700"/>
                                        <p:tgtEl>
                                          <p:spTgt spid="24"/>
                                        </p:tgtEl>
                                      </p:cBhvr>
                                    </p:animEffect>
                                  </p:childTnLst>
                                </p:cTn>
                              </p:par>
                            </p:childTnLst>
                          </p:cTn>
                        </p:par>
                        <p:par>
                          <p:cTn id="24" fill="hold">
                            <p:stCondLst>
                              <p:cond delay="4600"/>
                            </p:stCondLst>
                            <p:childTnLst>
                              <p:par>
                                <p:cTn id="25" presetID="10" presetClass="entr" presetSubtype="0" fill="hold" grpId="0" nodeType="afterEffect">
                                  <p:stCondLst>
                                    <p:cond delay="5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0748" y="321945"/>
            <a:ext cx="2332614"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SKILL 5 OF 5 · §2.5 PAPER2REEL</a:t>
            </a:r>
          </a:p>
        </p:txBody>
      </p:sp>
      <p:grpSp>
        <p:nvGrpSpPr>
          <p:cNvPr id="4" name="Group 4"/>
          <p:cNvGrpSpPr/>
          <p:nvPr/>
        </p:nvGrpSpPr>
        <p:grpSpPr>
          <a:xfrm>
            <a:off x="522732" y="573405"/>
            <a:ext cx="9550954" cy="734568"/>
            <a:chOff x="522732" y="573405"/>
            <a:chExt cx="9550954" cy="734568"/>
          </a:xfrm>
        </p:grpSpPr>
        <p:sp>
          <p:nvSpPr>
            <p:cNvPr id="3" name="TextBox 3"/>
            <p:cNvSpPr txBox="1"/>
            <p:nvPr/>
          </p:nvSpPr>
          <p:spPr>
            <a:xfrm>
              <a:off x="522732" y="573405"/>
              <a:ext cx="9550954"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Paper2Reel is a presentation surface, not a fourth summary: one alignment</a:t>
              </a:r>
              <a:br/>
              <a:r>
                <a:rPr lang="en-US" sz="2100" b="1" dirty="0">
                  <a:solidFill>
                    <a:schemeClr val="accent1"/>
                  </a:solidFill>
                  <a:latin typeface="+mn-lt"/>
                  <a:ea typeface="+mn-ea"/>
                  <a:cs typeface="+mn-cs"/>
                </a:rPr>
                <a:t>sidecar makes four artifacts views of one section</a:t>
              </a:r>
            </a:p>
          </p:txBody>
        </p:sp>
      </p:grpSp>
      <p:grpSp>
        <p:nvGrpSpPr>
          <p:cNvPr id="6" name="!!claim-carry"/>
          <p:cNvGrpSpPr/>
          <p:nvPr/>
        </p:nvGrpSpPr>
        <p:grpSpPr>
          <a:xfrm>
            <a:off x="526542" y="1302068"/>
            <a:ext cx="9162857" cy="264033"/>
            <a:chOff x="526542" y="1302068"/>
            <a:chExt cx="9162857" cy="264033"/>
          </a:xfrm>
        </p:grpSpPr>
        <p:sp>
          <p:nvSpPr>
            <p:cNvPr id="5" name="TextBox 5"/>
            <p:cNvSpPr txBox="1"/>
            <p:nvPr/>
          </p:nvSpPr>
          <p:spPr>
            <a:xfrm>
              <a:off x="526542" y="1302068"/>
              <a:ext cx="916285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9: hover highlights a section; double-click opens video, captions, thumbnails, and the aligned blog passage</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7391400" cy="2286000"/>
            <a:chOff x="533400" y="1847850"/>
            <a:chExt cx="7391400" cy="2286000"/>
          </a:xfrm>
        </p:grpSpPr>
        <p:sp>
          <p:nvSpPr>
            <p:cNvPr id="8" name="Rectangle 8"/>
            <p:cNvSpPr/>
            <p:nvPr/>
          </p:nvSpPr>
          <p:spPr>
            <a:xfrm>
              <a:off x="533400" y="1847850"/>
              <a:ext cx="7391400" cy="228600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590550" y="1905000"/>
              <a:ext cx="7277100" cy="2171700"/>
            </a:xfrm>
            <a:prstGeom prst="rect">
              <a:avLst/>
            </a:prstGeom>
          </p:spPr>
        </p:pic>
        <p:sp>
          <p:nvSpPr>
            <p:cNvPr id="10" name="Rectangle 10"/>
            <p:cNvSpPr/>
            <p:nvPr/>
          </p:nvSpPr>
          <p:spPr>
            <a:xfrm>
              <a:off x="533400" y="1847850"/>
              <a:ext cx="476250" cy="152400"/>
            </a:xfrm>
            <a:prstGeom prst="rect">
              <a:avLst/>
            </a:prstGeom>
            <a:solidFill>
              <a:schemeClr val="accent1"/>
            </a:solidFill>
            <a:ln>
              <a:noFill/>
            </a:ln>
          </p:spPr>
        </p:sp>
        <p:sp>
          <p:nvSpPr>
            <p:cNvPr id="11" name="TextBox 11"/>
            <p:cNvSpPr txBox="1"/>
            <p:nvPr/>
          </p:nvSpPr>
          <p:spPr>
            <a:xfrm>
              <a:off x="566738" y="1881188"/>
              <a:ext cx="3329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FIG. 9</a:t>
              </a:r>
            </a:p>
          </p:txBody>
        </p:sp>
      </p:grpSp>
      <p:grpSp>
        <p:nvGrpSpPr>
          <p:cNvPr id="23" name="Group 23"/>
          <p:cNvGrpSpPr/>
          <p:nvPr/>
        </p:nvGrpSpPr>
        <p:grpSpPr>
          <a:xfrm>
            <a:off x="8148638" y="1864995"/>
            <a:ext cx="3509962" cy="1427321"/>
            <a:chOff x="8148638" y="1864995"/>
            <a:chExt cx="3509962" cy="1427321"/>
          </a:xfrm>
        </p:grpSpPr>
        <p:sp>
          <p:nvSpPr>
            <p:cNvPr id="13" name="TextBox 13"/>
            <p:cNvSpPr txBox="1"/>
            <p:nvPr/>
          </p:nvSpPr>
          <p:spPr>
            <a:xfrm>
              <a:off x="8148638" y="1864995"/>
              <a:ext cx="1773347"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INTERACTION DESIGN</a:t>
              </a:r>
            </a:p>
          </p:txBody>
        </p:sp>
        <p:sp>
          <p:nvSpPr>
            <p:cNvPr id="14" name="Line 14"/>
            <p:cNvSpPr/>
            <p:nvPr/>
          </p:nvSpPr>
          <p:spPr>
            <a:xfrm>
              <a:off x="8153400" y="2038350"/>
              <a:ext cx="3505200" cy="9525"/>
            </a:xfrm>
            <a:custGeom>
              <a:avLst/>
              <a:gdLst/>
              <a:ahLst/>
              <a:cxnLst/>
              <a:rect l="l" t="t" r="r" b="b"/>
              <a:pathLst>
                <a:path w="3505200" h="9525">
                  <a:moveTo>
                    <a:pt x="0" y="0"/>
                  </a:moveTo>
                  <a:lnTo>
                    <a:pt x="3505200" y="0"/>
                  </a:lnTo>
                </a:path>
              </a:pathLst>
            </a:custGeom>
            <a:noFill/>
            <a:ln w="9525">
              <a:solidFill>
                <a:schemeClr val="accent1"/>
              </a:solidFill>
            </a:ln>
          </p:spPr>
        </p:sp>
        <p:sp>
          <p:nvSpPr>
            <p:cNvPr id="15" name="Ellipse 15"/>
            <p:cNvSpPr/>
            <p:nvPr/>
          </p:nvSpPr>
          <p:spPr>
            <a:xfrm>
              <a:off x="8162925" y="2109788"/>
              <a:ext cx="57150" cy="57150"/>
            </a:xfrm>
            <a:prstGeom prst="ellipse">
              <a:avLst/>
            </a:prstGeom>
            <a:solidFill>
              <a:schemeClr val="accent2"/>
            </a:solidFill>
            <a:ln>
              <a:noFill/>
            </a:ln>
          </p:spPr>
        </p:sp>
        <p:sp>
          <p:nvSpPr>
            <p:cNvPr id="16" name="TextBox 16"/>
            <p:cNvSpPr txBox="1"/>
            <p:nvPr/>
          </p:nvSpPr>
          <p:spPr>
            <a:xfrm>
              <a:off x="8301038" y="2082641"/>
              <a:ext cx="2637477"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Poster-first: the first screen is the generated poster, not a</a:t>
              </a:r>
              <a:br/>
              <a:r>
                <a:rPr lang="en-US" sz="820" dirty="0">
                  <a:solidFill>
                    <a:schemeClr val="dk1"/>
                  </a:solidFill>
                  <a:latin typeface="+mn-lt"/>
                  <a:ea typeface="+mn-ea"/>
                  <a:cs typeface="+mn-cs"/>
                </a:rPr>
                <a:t>dashboard</a:t>
              </a:r>
            </a:p>
          </p:txBody>
        </p:sp>
        <p:sp>
          <p:nvSpPr>
            <p:cNvPr id="17" name="Ellipse 17"/>
            <p:cNvSpPr/>
            <p:nvPr/>
          </p:nvSpPr>
          <p:spPr>
            <a:xfrm>
              <a:off x="8162925" y="2414588"/>
              <a:ext cx="57150" cy="57150"/>
            </a:xfrm>
            <a:prstGeom prst="ellipse">
              <a:avLst/>
            </a:prstGeom>
            <a:solidFill>
              <a:schemeClr val="accent2"/>
            </a:solidFill>
            <a:ln>
              <a:noFill/>
            </a:ln>
          </p:spPr>
        </p:sp>
        <p:sp>
          <p:nvSpPr>
            <p:cNvPr id="18" name="TextBox 18"/>
            <p:cNvSpPr txBox="1"/>
            <p:nvPr/>
          </p:nvSpPr>
          <p:spPr>
            <a:xfrm>
              <a:off x="8301038" y="2387441"/>
              <a:ext cx="3112376"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Hover feedback; double-click opens the section modal — video left,</a:t>
              </a:r>
              <a:br/>
              <a:r>
                <a:rPr lang="en-US" sz="820" dirty="0">
                  <a:solidFill>
                    <a:schemeClr val="dk1"/>
                  </a:solidFill>
                  <a:latin typeface="+mn-lt"/>
                  <a:ea typeface="+mn-ea"/>
                  <a:cs typeface="+mn-cs"/>
                </a:rPr>
                <a:t>blog right, draggable splitter</a:t>
              </a:r>
            </a:p>
          </p:txBody>
        </p:sp>
        <p:sp>
          <p:nvSpPr>
            <p:cNvPr id="19" name="Ellipse 19"/>
            <p:cNvSpPr/>
            <p:nvPr/>
          </p:nvSpPr>
          <p:spPr>
            <a:xfrm>
              <a:off x="8162925" y="2719388"/>
              <a:ext cx="57150" cy="57150"/>
            </a:xfrm>
            <a:prstGeom prst="ellipse">
              <a:avLst/>
            </a:prstGeom>
            <a:solidFill>
              <a:schemeClr val="accent2"/>
            </a:solidFill>
            <a:ln>
              <a:noFill/>
            </a:ln>
          </p:spPr>
        </p:sp>
        <p:sp>
          <p:nvSpPr>
            <p:cNvPr id="20" name="TextBox 20"/>
            <p:cNvSpPr txBox="1"/>
            <p:nvPr/>
          </p:nvSpPr>
          <p:spPr>
            <a:xfrm>
              <a:off x="8301038" y="2692241"/>
              <a:ext cx="2735848"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Playback uses the subtitle-free source; captions come from</a:t>
              </a:r>
              <a:br/>
              <a:r>
                <a:rPr lang="en-US" sz="820" dirty="0">
                  <a:solidFill>
                    <a:schemeClr val="dk1"/>
                  </a:solidFill>
                  <a:latin typeface="+mn-lt"/>
                  <a:ea typeface="+mn-ea"/>
                  <a:cs typeface="+mn-cs"/>
                </a:rPr>
                <a:t>sidecars behind the viewer's toggle</a:t>
              </a:r>
            </a:p>
          </p:txBody>
        </p:sp>
        <p:sp>
          <p:nvSpPr>
            <p:cNvPr id="21" name="Ellipse 21"/>
            <p:cNvSpPr/>
            <p:nvPr/>
          </p:nvSpPr>
          <p:spPr>
            <a:xfrm>
              <a:off x="8162925" y="3024188"/>
              <a:ext cx="57150" cy="57150"/>
            </a:xfrm>
            <a:prstGeom prst="ellipse">
              <a:avLst/>
            </a:prstGeom>
            <a:solidFill>
              <a:schemeClr val="accent2"/>
            </a:solidFill>
            <a:ln>
              <a:noFill/>
            </a:ln>
          </p:spPr>
        </p:sp>
        <p:sp>
          <p:nvSpPr>
            <p:cNvPr id="22" name="TextBox 22"/>
            <p:cNvSpPr txBox="1"/>
            <p:nvPr/>
          </p:nvSpPr>
          <p:spPr>
            <a:xfrm>
              <a:off x="8301038" y="2997041"/>
              <a:ext cx="3089236"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Slide thumbnails seek to their time; the title area opens a full-paper</a:t>
              </a:r>
              <a:br/>
              <a:r>
                <a:rPr lang="zh-CN" sz="820" dirty="0">
                  <a:solidFill>
                    <a:schemeClr val="dk1"/>
                  </a:solidFill>
                  <a:latin typeface="+mn-lt"/>
                  <a:ea typeface="+mn-ea"/>
                  <a:cs typeface="+mn-cs"/>
                </a:rPr>
                <a:t>modal; EN / 中文 switch in the header</a:t>
              </a:r>
            </a:p>
          </p:txBody>
        </p:sp>
      </p:grpSp>
      <p:grpSp>
        <p:nvGrpSpPr>
          <p:cNvPr id="32" name="Group 32"/>
          <p:cNvGrpSpPr/>
          <p:nvPr/>
        </p:nvGrpSpPr>
        <p:grpSpPr>
          <a:xfrm>
            <a:off x="528638" y="4360545"/>
            <a:ext cx="5338762" cy="1255871"/>
            <a:chOff x="528638" y="4360545"/>
            <a:chExt cx="5338762" cy="1255871"/>
          </a:xfrm>
        </p:grpSpPr>
        <p:sp>
          <p:nvSpPr>
            <p:cNvPr id="24" name="TextBox 24"/>
            <p:cNvSpPr txBox="1"/>
            <p:nvPr/>
          </p:nvSpPr>
          <p:spPr>
            <a:xfrm>
              <a:off x="528638" y="4360545"/>
              <a:ext cx="1766067"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CONTENT ALIGNMENT</a:t>
              </a:r>
            </a:p>
          </p:txBody>
        </p:sp>
        <p:sp>
          <p:nvSpPr>
            <p:cNvPr id="25" name="Line 25"/>
            <p:cNvSpPr/>
            <p:nvPr/>
          </p:nvSpPr>
          <p:spPr>
            <a:xfrm>
              <a:off x="533400" y="4533900"/>
              <a:ext cx="5334000" cy="9525"/>
            </a:xfrm>
            <a:custGeom>
              <a:avLst/>
              <a:gdLst/>
              <a:ahLst/>
              <a:cxnLst/>
              <a:rect l="l" t="t" r="r" b="b"/>
              <a:pathLst>
                <a:path w="5334000" h="9525">
                  <a:moveTo>
                    <a:pt x="0" y="0"/>
                  </a:moveTo>
                  <a:lnTo>
                    <a:pt x="5334000" y="0"/>
                  </a:lnTo>
                </a:path>
              </a:pathLst>
            </a:custGeom>
            <a:noFill/>
            <a:ln w="9525">
              <a:solidFill>
                <a:schemeClr val="accent1"/>
              </a:solidFill>
            </a:ln>
          </p:spPr>
        </p:sp>
        <p:sp>
          <p:nvSpPr>
            <p:cNvPr id="26" name="Ellipse 26"/>
            <p:cNvSpPr/>
            <p:nvPr/>
          </p:nvSpPr>
          <p:spPr>
            <a:xfrm>
              <a:off x="542925" y="4605338"/>
              <a:ext cx="57150" cy="57150"/>
            </a:xfrm>
            <a:prstGeom prst="ellipse">
              <a:avLst/>
            </a:prstGeom>
            <a:solidFill>
              <a:schemeClr val="accent2"/>
            </a:solidFill>
            <a:ln>
              <a:noFill/>
            </a:ln>
          </p:spPr>
        </p:sp>
        <p:sp>
          <p:nvSpPr>
            <p:cNvPr id="27" name="TextBox 27"/>
            <p:cNvSpPr txBox="1"/>
            <p:nvPr/>
          </p:nvSpPr>
          <p:spPr>
            <a:xfrm>
              <a:off x="681038" y="4578191"/>
              <a:ext cx="4652086"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The alignment sidecar maps each canonical section id to its poster block, one or more slide targets,</a:t>
              </a:r>
              <a:br/>
              <a:r>
                <a:rPr lang="en-US" sz="820" dirty="0">
                  <a:solidFill>
                    <a:schemeClr val="dk1"/>
                  </a:solidFill>
                  <a:latin typeface="+mn-lt"/>
                  <a:ea typeface="+mn-ea"/>
                  <a:cs typeface="+mn-cs"/>
                </a:rPr>
                <a:t>video start and end, subtitle tracks, thumbnails, and blog blocks; the viewer never scrapes filenames,</a:t>
              </a:r>
              <a:br/>
              <a:r>
                <a:rPr lang="en-US" sz="820" dirty="0">
                  <a:solidFill>
                    <a:schemeClr val="dk1"/>
                  </a:solidFill>
                  <a:latin typeface="+mn-lt"/>
                  <a:ea typeface="+mn-ea"/>
                  <a:cs typeface="+mn-cs"/>
                </a:rPr>
                <a:t>the poster, or the video</a:t>
              </a:r>
            </a:p>
          </p:txBody>
        </p:sp>
        <p:sp>
          <p:nvSpPr>
            <p:cNvPr id="28" name="Ellipse 28"/>
            <p:cNvSpPr/>
            <p:nvPr/>
          </p:nvSpPr>
          <p:spPr>
            <a:xfrm>
              <a:off x="542925" y="5043488"/>
              <a:ext cx="57150" cy="57150"/>
            </a:xfrm>
            <a:prstGeom prst="ellipse">
              <a:avLst/>
            </a:prstGeom>
            <a:solidFill>
              <a:schemeClr val="accent2"/>
            </a:solidFill>
            <a:ln>
              <a:noFill/>
            </a:ln>
          </p:spPr>
        </p:sp>
        <p:sp>
          <p:nvSpPr>
            <p:cNvPr id="29" name="TextBox 29"/>
            <p:cNvSpPr txBox="1"/>
            <p:nvPr/>
          </p:nvSpPr>
          <p:spPr>
            <a:xfrm>
              <a:off x="681038" y="5016341"/>
              <a:ext cx="4605702"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On a PDF, an arXiv link, or a partial bundle, missing upstream stages are completed through the full</a:t>
              </a:r>
              <a:br/>
              <a:r>
                <a:rPr lang="en-US" sz="820" dirty="0">
                  <a:solidFill>
                    <a:schemeClr val="dk1"/>
                  </a:solidFill>
                  <a:latin typeface="+mn-lt"/>
                  <a:ea typeface="+mn-ea"/>
                  <a:cs typeface="+mn-cs"/>
                </a:rPr>
                <a:t>workflows, preserving section ids and asset paths</a:t>
              </a:r>
            </a:p>
          </p:txBody>
        </p:sp>
        <p:sp>
          <p:nvSpPr>
            <p:cNvPr id="30" name="Ellipse 30"/>
            <p:cNvSpPr/>
            <p:nvPr/>
          </p:nvSpPr>
          <p:spPr>
            <a:xfrm>
              <a:off x="542925" y="5348288"/>
              <a:ext cx="57150" cy="57150"/>
            </a:xfrm>
            <a:prstGeom prst="ellipse">
              <a:avLst/>
            </a:prstGeom>
            <a:solidFill>
              <a:schemeClr val="accent2"/>
            </a:solidFill>
            <a:ln>
              <a:noFill/>
            </a:ln>
          </p:spPr>
        </p:sp>
        <p:sp>
          <p:nvSpPr>
            <p:cNvPr id="31" name="TextBox 31"/>
            <p:cNvSpPr txBox="1"/>
            <p:nvPr/>
          </p:nvSpPr>
          <p:spPr>
            <a:xfrm>
              <a:off x="681038" y="5321141"/>
              <a:ext cx="4791280"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Root: the viewer page, the alignment record, the manifest; poster, media, slides, blog, and downloads in</a:t>
              </a:r>
              <a:br/>
              <a:r>
                <a:rPr lang="en-US" sz="820" dirty="0">
                  <a:solidFill>
                    <a:schemeClr val="dk1"/>
                  </a:solidFill>
                  <a:latin typeface="+mn-lt"/>
                  <a:ea typeface="+mn-ea"/>
                  <a:cs typeface="+mn-cs"/>
                </a:rPr>
                <a:t>their own folders; native files stay downloadable</a:t>
              </a:r>
            </a:p>
          </p:txBody>
        </p:sp>
      </p:grpSp>
      <p:grpSp>
        <p:nvGrpSpPr>
          <p:cNvPr id="41" name="Group 41"/>
          <p:cNvGrpSpPr/>
          <p:nvPr/>
        </p:nvGrpSpPr>
        <p:grpSpPr>
          <a:xfrm>
            <a:off x="6091238" y="4360545"/>
            <a:ext cx="5567362" cy="1255871"/>
            <a:chOff x="6091238" y="4360545"/>
            <a:chExt cx="5567362" cy="1255871"/>
          </a:xfrm>
        </p:grpSpPr>
        <p:sp>
          <p:nvSpPr>
            <p:cNvPr id="33" name="TextBox 33"/>
            <p:cNvSpPr txBox="1"/>
            <p:nvPr/>
          </p:nvSpPr>
          <p:spPr>
            <a:xfrm>
              <a:off x="6091238" y="4360545"/>
              <a:ext cx="3487250"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VALIDATED AS AN INTERACTIVE ARTIFACT</a:t>
              </a:r>
            </a:p>
          </p:txBody>
        </p:sp>
        <p:sp>
          <p:nvSpPr>
            <p:cNvPr id="34" name="Line 34"/>
            <p:cNvSpPr/>
            <p:nvPr/>
          </p:nvSpPr>
          <p:spPr>
            <a:xfrm>
              <a:off x="6096000" y="4533900"/>
              <a:ext cx="5562600" cy="9525"/>
            </a:xfrm>
            <a:custGeom>
              <a:avLst/>
              <a:gdLst/>
              <a:ahLst/>
              <a:cxnLst/>
              <a:rect l="l" t="t" r="r" b="b"/>
              <a:pathLst>
                <a:path w="5562600" h="9525">
                  <a:moveTo>
                    <a:pt x="0" y="0"/>
                  </a:moveTo>
                  <a:lnTo>
                    <a:pt x="5562600" y="0"/>
                  </a:lnTo>
                </a:path>
              </a:pathLst>
            </a:custGeom>
            <a:noFill/>
            <a:ln w="9525">
              <a:solidFill>
                <a:schemeClr val="accent1"/>
              </a:solidFill>
            </a:ln>
          </p:spPr>
        </p:sp>
        <p:sp>
          <p:nvSpPr>
            <p:cNvPr id="35" name="Ellipse 35"/>
            <p:cNvSpPr/>
            <p:nvPr/>
          </p:nvSpPr>
          <p:spPr>
            <a:xfrm>
              <a:off x="6105525" y="4605338"/>
              <a:ext cx="57150" cy="57150"/>
            </a:xfrm>
            <a:prstGeom prst="ellipse">
              <a:avLst/>
            </a:prstGeom>
            <a:solidFill>
              <a:schemeClr val="accent2"/>
            </a:solidFill>
            <a:ln>
              <a:noFill/>
            </a:ln>
          </p:spPr>
        </p:sp>
        <p:sp>
          <p:nvSpPr>
            <p:cNvPr id="36" name="TextBox 36"/>
            <p:cNvSpPr txBox="1"/>
            <p:nvPr/>
          </p:nvSpPr>
          <p:spPr>
            <a:xfrm>
              <a:off x="6243638" y="4578191"/>
              <a:ext cx="4981773"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Static gate: viewer, alignment record, manifest, copied poster assets, media, slide frames, blog blocks,</a:t>
              </a:r>
              <a:br/>
              <a:r>
                <a:rPr lang="en-US" sz="820" dirty="0">
                  <a:solidFill>
                    <a:schemeClr val="dk1"/>
                  </a:solidFill>
                  <a:latin typeface="+mn-lt"/>
                  <a:ea typeface="+mn-ea"/>
                  <a:cs typeface="+mn-cs"/>
                </a:rPr>
                <a:t>wordmark, downloads all present; no stale tabbed-viewer markers, machine-local paths, or backup files; raw</a:t>
              </a:r>
              <a:br/>
              <a:r>
                <a:rPr lang="en-US" sz="820" dirty="0">
                  <a:solidFill>
                    <a:schemeClr val="dk1"/>
                  </a:solidFill>
                  <a:latin typeface="+mn-lt"/>
                  <a:ea typeface="+mn-ea"/>
                  <a:cs typeface="+mn-cs"/>
                </a:rPr>
                <a:t>pre-subtitle video as playback source</a:t>
              </a:r>
            </a:p>
          </p:txBody>
        </p:sp>
        <p:sp>
          <p:nvSpPr>
            <p:cNvPr id="37" name="Ellipse 37"/>
            <p:cNvSpPr/>
            <p:nvPr/>
          </p:nvSpPr>
          <p:spPr>
            <a:xfrm>
              <a:off x="6105525" y="5043488"/>
              <a:ext cx="57150" cy="57150"/>
            </a:xfrm>
            <a:prstGeom prst="ellipse">
              <a:avLst/>
            </a:prstGeom>
            <a:solidFill>
              <a:schemeClr val="accent2"/>
            </a:solidFill>
            <a:ln>
              <a:noFill/>
            </a:ln>
          </p:spPr>
        </p:sp>
        <p:sp>
          <p:nvSpPr>
            <p:cNvPr id="38" name="TextBox 38"/>
            <p:cNvSpPr txBox="1"/>
            <p:nvPr/>
          </p:nvSpPr>
          <p:spPr>
            <a:xfrm>
              <a:off x="6243638" y="5016341"/>
              <a:ext cx="4912749"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Browser gate: served with a range-capable local server (seeking and thumbnail jumps need partial-content</a:t>
              </a:r>
              <a:br/>
              <a:r>
                <a:rPr lang="en-US" sz="820" dirty="0">
                  <a:solidFill>
                    <a:schemeClr val="dk1"/>
                  </a:solidFill>
                  <a:latin typeface="+mn-lt"/>
                  <a:ea typeface="+mn-ea"/>
                  <a:cs typeface="+mn-cs"/>
                </a:rPr>
                <a:t>responses); headless checks of poster-first load, hover, both modals, split pane, subtitle toggle, thumbnail</a:t>
              </a:r>
              <a:br/>
              <a:r>
                <a:rPr lang="en-US" sz="820" dirty="0">
                  <a:solidFill>
                    <a:schemeClr val="dk1"/>
                  </a:solidFill>
                  <a:latin typeface="+mn-lt"/>
                  <a:ea typeface="+mn-ea"/>
                  <a:cs typeface="+mn-cs"/>
                </a:rPr>
                <a:t>and direct seeking, menu, downloads, shortcuts, blog rendering</a:t>
              </a:r>
            </a:p>
          </p:txBody>
        </p:sp>
        <p:sp>
          <p:nvSpPr>
            <p:cNvPr id="39" name="Ellipse 39"/>
            <p:cNvSpPr/>
            <p:nvPr/>
          </p:nvSpPr>
          <p:spPr>
            <a:xfrm>
              <a:off x="6105525" y="5481638"/>
              <a:ext cx="57150" cy="57150"/>
            </a:xfrm>
            <a:prstGeom prst="ellipse">
              <a:avLst/>
            </a:prstGeom>
            <a:solidFill>
              <a:schemeClr val="accent2"/>
            </a:solidFill>
            <a:ln>
              <a:noFill/>
            </a:ln>
          </p:spPr>
        </p:sp>
        <p:sp>
          <p:nvSpPr>
            <p:cNvPr id="40" name="TextBox 40"/>
            <p:cNvSpPr txBox="1"/>
            <p:nvPr/>
          </p:nvSpPr>
          <p:spPr>
            <a:xfrm>
              <a:off x="6243638" y="5454491"/>
              <a:ext cx="3724949"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A separate file-browser gate confirms the page also opens directly from disk</a:t>
              </a:r>
            </a:p>
          </p:txBody>
        </p:sp>
      </p:grpSp>
      <p:grpSp>
        <p:nvGrpSpPr>
          <p:cNvPr id="45" name="Group 45"/>
          <p:cNvGrpSpPr/>
          <p:nvPr/>
        </p:nvGrpSpPr>
        <p:grpSpPr>
          <a:xfrm>
            <a:off x="8153400" y="3467100"/>
            <a:ext cx="3505200" cy="781050"/>
            <a:chOff x="8153400" y="3467100"/>
            <a:chExt cx="3505200" cy="781050"/>
          </a:xfrm>
        </p:grpSpPr>
        <p:sp>
          <p:nvSpPr>
            <p:cNvPr id="42" name="Rectangle 42"/>
            <p:cNvSpPr/>
            <p:nvPr/>
          </p:nvSpPr>
          <p:spPr>
            <a:xfrm>
              <a:off x="8153400" y="3467100"/>
              <a:ext cx="3505200" cy="781050"/>
            </a:xfrm>
            <a:prstGeom prst="rect">
              <a:avLst/>
            </a:prstGeom>
            <a:solidFill>
              <a:schemeClr val="lt2"/>
            </a:solidFill>
            <a:ln>
              <a:noFill/>
            </a:ln>
          </p:spPr>
        </p:sp>
        <p:sp>
          <p:nvSpPr>
            <p:cNvPr id="43" name="TextBox 43"/>
            <p:cNvSpPr txBox="1"/>
            <p:nvPr/>
          </p:nvSpPr>
          <p:spPr>
            <a:xfrm>
              <a:off x="8262938" y="3560445"/>
              <a:ext cx="1763535"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Bundle root, kept to three files</a:t>
              </a:r>
            </a:p>
          </p:txBody>
        </p:sp>
        <p:sp>
          <p:nvSpPr>
            <p:cNvPr id="44" name="TextBox 44"/>
            <p:cNvSpPr txBox="1"/>
            <p:nvPr/>
          </p:nvSpPr>
          <p:spPr>
            <a:xfrm>
              <a:off x="8262938" y="3739991"/>
              <a:ext cx="2985096"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The interactive viewer page, the alignment record, and the</a:t>
              </a:r>
              <a:br/>
              <a:r>
                <a:rPr lang="en-US" sz="820" dirty="0">
                  <a:solidFill>
                    <a:schemeClr val="dk1"/>
                  </a:solidFill>
                  <a:latin typeface="+mn-lt"/>
                  <a:ea typeface="+mn-ea"/>
                  <a:cs typeface="+mn-cs"/>
                </a:rPr>
                <a:t>package manifest; poster, media, slides, blog, and downloads sit</a:t>
              </a:r>
              <a:br/>
              <a:r>
                <a:rPr lang="en-US" sz="820" dirty="0">
                  <a:solidFill>
                    <a:schemeClr val="dk1"/>
                  </a:solidFill>
                  <a:latin typeface="+mn-lt"/>
                  <a:ea typeface="+mn-ea"/>
                  <a:cs typeface="+mn-cs"/>
                </a:rPr>
                <a:t>in their own folders and stay downloadable as native files.</a:t>
              </a:r>
            </a:p>
          </p:txBody>
        </p:sp>
      </p:grpSp>
      <p:grpSp>
        <p:nvGrpSpPr>
          <p:cNvPr id="48" name="Group 48"/>
          <p:cNvGrpSpPr/>
          <p:nvPr/>
        </p:nvGrpSpPr>
        <p:grpSpPr>
          <a:xfrm>
            <a:off x="528638" y="6415088"/>
            <a:ext cx="11134724" cy="147638"/>
            <a:chOff x="528638" y="6415088"/>
            <a:chExt cx="11134724" cy="147638"/>
          </a:xfrm>
        </p:grpSpPr>
        <p:sp>
          <p:nvSpPr>
            <p:cNvPr id="46" name="TextBox 46"/>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47" name="TextBox 47"/>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800"/>
                                        <p:tgtEl>
                                          <p:spTgt spid="12"/>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par>
                          <p:cTn id="24" fill="hold">
                            <p:stCondLst>
                              <p:cond delay="4300"/>
                            </p:stCondLst>
                            <p:childTnLst>
                              <p:par>
                                <p:cTn id="25" presetID="10" presetClass="entr" presetSubtype="0" fill="hold" grpId="0" nodeType="afterEffect">
                                  <p:stCondLst>
                                    <p:cond delay="5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686812" y="321945"/>
            <a:ext cx="1976551"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§3 EXPERIMENTS · TABLE 1</a:t>
            </a:r>
          </a:p>
        </p:txBody>
      </p:sp>
      <p:grpSp>
        <p:nvGrpSpPr>
          <p:cNvPr id="4" name="Group 4"/>
          <p:cNvGrpSpPr/>
          <p:nvPr/>
        </p:nvGrpSpPr>
        <p:grpSpPr>
          <a:xfrm>
            <a:off x="522732" y="573405"/>
            <a:ext cx="9911639" cy="734568"/>
            <a:chOff x="522732" y="573405"/>
            <a:chExt cx="9911639" cy="734568"/>
          </a:xfrm>
        </p:grpSpPr>
        <p:sp>
          <p:nvSpPr>
            <p:cNvPr id="3" name="TextBox 3"/>
            <p:cNvSpPr txBox="1"/>
            <p:nvPr/>
          </p:nvSpPr>
          <p:spPr>
            <a:xfrm>
              <a:off x="522732" y="573405"/>
              <a:ext cx="9911639"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Best automated system on all three aesthetic sub-criteria (3.56 vs the authors'</a:t>
              </a:r>
              <a:br/>
              <a:r>
                <a:rPr lang="en-US" sz="2100" b="1" dirty="0">
                  <a:solidFill>
                    <a:schemeClr val="accent1"/>
                  </a:solidFill>
                  <a:latin typeface="+mn-lt"/>
                  <a:ea typeface="+mn-ea"/>
                  <a:cs typeface="+mn-cs"/>
                </a:rPr>
                <a:t>3.03) and on two of three information sub-criteria</a:t>
              </a:r>
            </a:p>
          </p:txBody>
        </p:sp>
      </p:grpSp>
      <p:grpSp>
        <p:nvGrpSpPr>
          <p:cNvPr id="6" name="Group 6"/>
          <p:cNvGrpSpPr/>
          <p:nvPr/>
        </p:nvGrpSpPr>
        <p:grpSpPr>
          <a:xfrm>
            <a:off x="526542" y="1302068"/>
            <a:ext cx="10766751" cy="264033"/>
            <a:chOff x="526542" y="1302068"/>
            <a:chExt cx="10766751" cy="264033"/>
          </a:xfrm>
        </p:grpSpPr>
        <p:sp>
          <p:nvSpPr>
            <p:cNvPr id="5" name="TextBox 5"/>
            <p:cNvSpPr txBox="1"/>
            <p:nvPr/>
          </p:nvSpPr>
          <p:spPr>
            <a:xfrm>
              <a:off x="526542" y="1302068"/>
              <a:ext cx="1076675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Table 1: 100-paper Paper2Poster benchmark; cells average two VLM judges (claude-opus-4.8, gpt-5.5); PaperQuiz is exact-match %</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1" name="Group 11"/>
          <p:cNvGrpSpPr/>
          <p:nvPr/>
        </p:nvGrpSpPr>
        <p:grpSpPr>
          <a:xfrm>
            <a:off x="3462338" y="1873091"/>
            <a:ext cx="7639517" cy="161925"/>
            <a:chOff x="3462338" y="1873091"/>
            <a:chExt cx="7639517" cy="161925"/>
          </a:xfrm>
        </p:grpSpPr>
        <p:sp>
          <p:nvSpPr>
            <p:cNvPr id="8" name="TextBox 8"/>
            <p:cNvSpPr txBox="1"/>
            <p:nvPr/>
          </p:nvSpPr>
          <p:spPr>
            <a:xfrm>
              <a:off x="3462338" y="1873091"/>
              <a:ext cx="1118121" cy="161925"/>
            </a:xfrm>
            <a:prstGeom prst="rect">
              <a:avLst/>
            </a:prstGeom>
            <a:noFill/>
            <a:ln>
              <a:noFill/>
            </a:ln>
          </p:spPr>
          <p:txBody>
            <a:bodyPr wrap="none" lIns="0" tIns="0" rIns="0" bIns="0" anchor="t" anchorCtr="0">
              <a:spAutoFit/>
            </a:bodyPr>
            <a:lstStyle/>
            <a:p>
              <a:pPr algn="l"/>
              <a:r>
                <a:rPr lang="en-US" sz="820" spc="75" dirty="0">
                  <a:solidFill>
                    <a:schemeClr val="accent5"/>
                  </a:solidFill>
                  <a:latin typeface="+mn-lt"/>
                  <a:ea typeface="+mn-ea"/>
                  <a:cs typeface="+mn-cs"/>
                </a:rPr>
                <a:t>AESTHETIC (1–5)</a:t>
              </a:r>
            </a:p>
          </p:txBody>
        </p:sp>
        <p:sp>
          <p:nvSpPr>
            <p:cNvPr id="9" name="TextBox 9"/>
            <p:cNvSpPr txBox="1"/>
            <p:nvPr/>
          </p:nvSpPr>
          <p:spPr>
            <a:xfrm>
              <a:off x="6769418" y="1873091"/>
              <a:ext cx="1301303" cy="161925"/>
            </a:xfrm>
            <a:prstGeom prst="rect">
              <a:avLst/>
            </a:prstGeom>
            <a:noFill/>
            <a:ln>
              <a:noFill/>
            </a:ln>
          </p:spPr>
          <p:txBody>
            <a:bodyPr wrap="none" lIns="0" tIns="0" rIns="0" bIns="0" anchor="t" anchorCtr="0">
              <a:spAutoFit/>
            </a:bodyPr>
            <a:lstStyle/>
            <a:p>
              <a:pPr algn="l"/>
              <a:r>
                <a:rPr lang="en-US" sz="820" spc="75" dirty="0">
                  <a:solidFill>
                    <a:schemeClr val="accent5"/>
                  </a:solidFill>
                  <a:latin typeface="+mn-lt"/>
                  <a:ea typeface="+mn-ea"/>
                  <a:cs typeface="+mn-cs"/>
                </a:rPr>
                <a:t>INFORMATION (1–5)</a:t>
              </a:r>
            </a:p>
          </p:txBody>
        </p:sp>
        <p:sp>
          <p:nvSpPr>
            <p:cNvPr id="10" name="TextBox 10"/>
            <p:cNvSpPr txBox="1"/>
            <p:nvPr/>
          </p:nvSpPr>
          <p:spPr>
            <a:xfrm>
              <a:off x="10076498" y="1873091"/>
              <a:ext cx="1025357" cy="161925"/>
            </a:xfrm>
            <a:prstGeom prst="rect">
              <a:avLst/>
            </a:prstGeom>
            <a:noFill/>
            <a:ln>
              <a:noFill/>
            </a:ln>
          </p:spPr>
          <p:txBody>
            <a:bodyPr wrap="none" lIns="0" tIns="0" rIns="0" bIns="0" anchor="t" anchorCtr="0">
              <a:spAutoFit/>
            </a:bodyPr>
            <a:lstStyle/>
            <a:p>
              <a:pPr algn="l"/>
              <a:r>
                <a:rPr lang="en-US" sz="820" spc="75" dirty="0">
                  <a:solidFill>
                    <a:schemeClr val="accent5"/>
                  </a:solidFill>
                  <a:latin typeface="+mn-lt"/>
                  <a:ea typeface="+mn-ea"/>
                  <a:cs typeface="+mn-cs"/>
                </a:rPr>
                <a:t>PAPERQUIZ (%)</a:t>
              </a:r>
            </a:p>
          </p:txBody>
        </p:sp>
      </p:grpSp>
      <p:graphicFrame>
        <p:nvGraphicFramePr>
          <p:cNvPr id="12" name="table1-results"/>
          <p:cNvGraphicFramePr>
            <a:graphicFrameLocks noGrp="1"/>
          </p:cNvGraphicFramePr>
          <p:nvPr/>
        </p:nvGraphicFramePr>
        <p:xfrm>
          <a:off x="533400" y="2038350"/>
          <a:ext cx="11125200" cy="2933700"/>
        </p:xfrm>
        <a:graphic>
          <a:graphicData uri="http://schemas.openxmlformats.org/drawingml/2006/table">
            <a:tbl>
              <a:tblPr firstRow="1" bandRow="0">
                <a:tableStyleId>{5C22544A-7EE6-4342-B048-85BDC9FD1C3A}</a:tableStyleId>
              </a:tblPr>
              <a:tblGrid>
                <a:gridCol w="2857498"/>
                <a:gridCol w="826771"/>
                <a:gridCol w="826771"/>
                <a:gridCol w="826770"/>
                <a:gridCol w="826770"/>
                <a:gridCol w="826770"/>
                <a:gridCol w="826770"/>
                <a:gridCol w="826770"/>
                <a:gridCol w="826770"/>
                <a:gridCol w="826770"/>
                <a:gridCol w="826770"/>
              </a:tblGrid>
              <a:tr h="361950">
                <a:tc>
                  <a:txBody>
                    <a:bodyPr/>
                    <a:lstStyle/>
                    <a:p>
                      <a:pPr/>
                      <a:r>
                        <a:rPr lang="en-US" sz="820" b="1">
                          <a:solidFill>
                            <a:schemeClr val="accent1"/>
                          </a:solidFill>
                          <a:latin typeface="Arial"/>
                          <a:ea typeface="Microsoft YaHei"/>
                          <a:cs typeface="Arial"/>
                        </a:rPr>
                        <a:t>System</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Elem.</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Engag.</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Layout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Aes.</a:t>
                      </a:r>
                    </a:p>
                    <a:p>
                      <a:pPr algn="r"/>
                      <a:r>
                        <a:rPr lang="en-US" sz="820" b="1">
                          <a:solidFill>
                            <a:schemeClr val="accent1"/>
                          </a:solidFill>
                          <a:latin typeface="Arial"/>
                          <a:ea typeface="Microsoft YaHei"/>
                          <a:cs typeface="Arial"/>
                        </a:rPr>
                        <a:t>overall</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Low</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Logic</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Cont.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Info</a:t>
                      </a:r>
                    </a:p>
                    <a:p>
                      <a:pPr algn="r"/>
                      <a:r>
                        <a:rPr lang="en-US" sz="820" b="1">
                          <a:solidFill>
                            <a:schemeClr val="accent1"/>
                          </a:solidFill>
                          <a:latin typeface="Arial"/>
                          <a:ea typeface="Microsoft YaHei"/>
                          <a:cs typeface="Arial"/>
                        </a:rPr>
                        <a:t>overall</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Quiz</a:t>
                      </a:r>
                    </a:p>
                    <a:p>
                      <a:pPr algn="r"/>
                      <a:r>
                        <a:rPr lang="en-US" sz="820" b="1">
                          <a:solidFill>
                            <a:schemeClr val="accent1"/>
                          </a:solidFill>
                          <a:latin typeface="Arial"/>
                          <a:ea typeface="Microsoft YaHei"/>
                          <a:cs typeface="Arial"/>
                        </a:rPr>
                        <a:t>detail %</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Quiz</a:t>
                      </a:r>
                    </a:p>
                    <a:p>
                      <a:pPr algn="r"/>
                      <a:r>
                        <a:rPr lang="en-US" sz="820" b="1">
                          <a:solidFill>
                            <a:schemeClr val="accent1"/>
                          </a:solidFill>
                          <a:latin typeface="Arial"/>
                          <a:ea typeface="Microsoft YaHei"/>
                          <a:cs typeface="Arial"/>
                        </a:rPr>
                        <a:t>underst. %</a:t>
                      </a:r>
                    </a:p>
                  </a:txBody>
                  <a:tcPr anchor="ctr" marL="76200" marR="76200" marT="19050" marB="19050">
                    <a:lnL>
                      <a:noFill/>
                    </a:lnL>
                    <a:lnR>
                      <a:noFill/>
                    </a:lnR>
                    <a:lnT>
                      <a:noFill/>
                    </a:lnT>
                    <a:lnB w="9525">
                      <a:solidFill>
                        <a:schemeClr val="accent1"/>
                      </a:solidFill>
                      <a:prstDash val="solid"/>
                    </a:lnB>
                    <a:solidFill>
                      <a:schemeClr val="lt2"/>
                    </a:solidFill>
                  </a:tcPr>
                </a:tc>
              </a:tr>
              <a:tr h="285750">
                <a:tc>
                  <a:txBody>
                    <a:bodyPr/>
                    <a:lstStyle/>
                    <a:p>
                      <a:pPr/>
                      <a:r>
                        <a:rPr lang="en-US" sz="900" b="0">
                          <a:solidFill>
                            <a:schemeClr val="dk1"/>
                          </a:solidFill>
                          <a:latin typeface="Arial"/>
                          <a:ea typeface="Microsoft YaHei"/>
                          <a:cs typeface="Arial"/>
                        </a:rPr>
                        <a:t>Claude-4.8 Opus (single-shot)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3.10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2.68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2.97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2.92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3.92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4.01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3.80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3.91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69.86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93.67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dk1"/>
                          </a:solidFill>
                          <a:latin typeface="Arial"/>
                          <a:ea typeface="Microsoft YaHei"/>
                          <a:cs typeface="Arial"/>
                        </a:rPr>
                        <a:t>GPT-5.5 (single-shot)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3.12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2.94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3.40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3.15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1">
                          <a:solidFill>
                            <a:schemeClr val="dk1"/>
                          </a:solidFill>
                          <a:latin typeface="Arial"/>
                          <a:ea typeface="Microsoft YaHei"/>
                          <a:cs typeface="Arial"/>
                        </a:rPr>
                        <a:t>3.99</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4.00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1">
                          <a:solidFill>
                            <a:schemeClr val="dk1"/>
                          </a:solidFill>
                          <a:latin typeface="Arial"/>
                          <a:ea typeface="Microsoft YaHei"/>
                          <a:cs typeface="Arial"/>
                        </a:rPr>
                        <a:t>3.91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1">
                          <a:solidFill>
                            <a:schemeClr val="dk1"/>
                          </a:solidFill>
                          <a:latin typeface="Arial"/>
                          <a:ea typeface="Microsoft YaHei"/>
                          <a:cs typeface="Arial"/>
                        </a:rPr>
                        <a:t>3.97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70.89</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94.25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dk1"/>
                          </a:solidFill>
                          <a:latin typeface="Arial"/>
                          <a:ea typeface="Microsoft YaHei"/>
                          <a:cs typeface="Arial"/>
                        </a:rPr>
                        <a:t>Gemini-3.1 Pro (single-shot)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3.07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2.89</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3.27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3.08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3.95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4.00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3.65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3.87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65.36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93.59</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dk1"/>
                          </a:solidFill>
                          <a:latin typeface="Arial"/>
                          <a:ea typeface="Microsoft YaHei"/>
                          <a:cs typeface="Arial"/>
                        </a:rPr>
                        <a:t>Paper2Poster tool [1]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2.86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2.30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3.00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2.72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3.46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3.41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3.34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3.40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69.95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95.02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dk1"/>
                          </a:solidFill>
                          <a:latin typeface="Arial"/>
                          <a:ea typeface="Microsoft YaHei"/>
                          <a:cs typeface="Arial"/>
                        </a:rPr>
                        <a:t>P2P [3]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2.68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2.34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3.15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2.72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3.92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3.78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3.70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3.80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1">
                          <a:solidFill>
                            <a:schemeClr val="dk1"/>
                          </a:solidFill>
                          <a:latin typeface="Arial"/>
                          <a:ea typeface="Microsoft YaHei"/>
                          <a:cs typeface="Arial"/>
                        </a:rPr>
                        <a:t>75.40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1">
                          <a:solidFill>
                            <a:schemeClr val="dk1"/>
                          </a:solidFill>
                          <a:latin typeface="Arial"/>
                          <a:ea typeface="Microsoft YaHei"/>
                          <a:cs typeface="Arial"/>
                        </a:rPr>
                        <a:t>95.60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dk1"/>
                          </a:solidFill>
                          <a:latin typeface="Arial"/>
                          <a:ea typeface="Microsoft YaHei"/>
                          <a:cs typeface="Arial"/>
                        </a:rPr>
                        <a:t>PosterGen [2]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2.93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2.23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2.98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2.71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3.80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3.76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3.37</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3.64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57.45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91.85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285750">
                <a:tc>
                  <a:txBody>
                    <a:bodyPr/>
                    <a:lstStyle/>
                    <a:p>
                      <a:pPr/>
                      <a:r>
                        <a:rPr lang="en-US" sz="900" b="0">
                          <a:solidFill>
                            <a:schemeClr val="accent3"/>
                          </a:solidFill>
                          <a:latin typeface="Arial"/>
                          <a:ea typeface="Microsoft YaHei"/>
                          <a:cs typeface="Arial"/>
                        </a:rPr>
                        <a:t>ResearchStudio-Reel (Codex, gpt-5.5)</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3.16</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3.03</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3.62</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3.27</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3.95</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3.97</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3.09</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3.67</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55.55</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c>
                  <a:txBody>
                    <a:bodyPr/>
                    <a:lstStyle/>
                    <a:p>
                      <a:pPr algn="r"/>
                      <a:r>
                        <a:rPr lang="en-US" sz="900" b="0">
                          <a:solidFill>
                            <a:schemeClr val="accent3"/>
                          </a:solidFill>
                          <a:latin typeface="Arial"/>
                          <a:ea typeface="Microsoft YaHei"/>
                          <a:cs typeface="Arial"/>
                        </a:rPr>
                        <a:t>92.01</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9F5F2"/>
                    </a:solidFill>
                  </a:tcPr>
                </a:tc>
              </a:tr>
              <a:tr h="285750">
                <a:tc>
                  <a:txBody>
                    <a:bodyPr/>
                    <a:lstStyle/>
                    <a:p>
                      <a:pPr/>
                      <a:r>
                        <a:rPr lang="en-US" sz="900" b="0">
                          <a:solidFill>
                            <a:schemeClr val="accent2"/>
                          </a:solidFill>
                          <a:latin typeface="Arial"/>
                          <a:ea typeface="Microsoft YaHei"/>
                          <a:cs typeface="Arial"/>
                        </a:rPr>
                        <a:t>ResearchStudio-Reel (Claude Code, claude-opus-4.8)</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3.53</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3.17</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3.99</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3.56</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3.99</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1">
                          <a:solidFill>
                            <a:schemeClr val="accent2"/>
                          </a:solidFill>
                          <a:latin typeface="Arial"/>
                          <a:ea typeface="Microsoft YaHei"/>
                          <a:cs typeface="Arial"/>
                        </a:rPr>
                        <a:t>4.03</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0">
                          <a:solidFill>
                            <a:schemeClr val="accent2"/>
                          </a:solidFill>
                          <a:latin typeface="Arial"/>
                          <a:ea typeface="Microsoft YaHei"/>
                          <a:cs typeface="Arial"/>
                        </a:rPr>
                        <a:t>3.41</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0">
                          <a:solidFill>
                            <a:schemeClr val="accent2"/>
                          </a:solidFill>
                          <a:latin typeface="Arial"/>
                          <a:ea typeface="Microsoft YaHei"/>
                          <a:cs typeface="Arial"/>
                        </a:rPr>
                        <a:t>3.81</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0">
                          <a:solidFill>
                            <a:schemeClr val="accent2"/>
                          </a:solidFill>
                          <a:latin typeface="Arial"/>
                          <a:ea typeface="Microsoft YaHei"/>
                          <a:cs typeface="Arial"/>
                        </a:rPr>
                        <a:t>56.79</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c>
                  <a:txBody>
                    <a:bodyPr/>
                    <a:lstStyle/>
                    <a:p>
                      <a:pPr algn="r"/>
                      <a:r>
                        <a:rPr lang="en-US" sz="900" b="0">
                          <a:solidFill>
                            <a:schemeClr val="accent2"/>
                          </a:solidFill>
                          <a:latin typeface="Arial"/>
                          <a:ea typeface="Microsoft YaHei"/>
                          <a:cs typeface="Arial"/>
                        </a:rPr>
                        <a:t>92.16</a:t>
                      </a:r>
                    </a:p>
                  </a:txBody>
                  <a:tcPr anchor="ctr" marL="76200" marR="76200" marT="19050" marB="19050">
                    <a:lnL>
                      <a:noFill/>
                    </a:lnL>
                    <a:lnR>
                      <a:noFill/>
                    </a:lnR>
                    <a:lnT w="7144">
                      <a:solidFill>
                        <a:srgbClr val="E6EAEF"/>
                      </a:solidFill>
                      <a:prstDash val="solid"/>
                    </a:lnT>
                    <a:lnB w="7144">
                      <a:solidFill>
                        <a:srgbClr val="E6EAEF"/>
                      </a:solidFill>
                      <a:prstDash val="solid"/>
                    </a:lnB>
                    <a:solidFill>
                      <a:srgbClr val="E8EEFC"/>
                    </a:solidFill>
                  </a:tcPr>
                </a:tc>
              </a:tr>
              <a:tr h="285750">
                <a:tc>
                  <a:txBody>
                    <a:bodyPr/>
                    <a:lstStyle/>
                    <a:p>
                      <a:pPr/>
                      <a:r>
                        <a:rPr lang="en-US" sz="900" b="0">
                          <a:solidFill>
                            <a:schemeClr val="accent1"/>
                          </a:solidFill>
                          <a:latin typeface="Arial"/>
                          <a:ea typeface="Microsoft YaHei"/>
                          <a:cs typeface="Arial"/>
                        </a:rPr>
                        <a:t>Author ground truth (human reference)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3.13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2.60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3.35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3.03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3.45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3.85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3.50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3.60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54.73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accent1"/>
                          </a:solidFill>
                          <a:latin typeface="Arial"/>
                          <a:ea typeface="Microsoft YaHei"/>
                          <a:cs typeface="Arial"/>
                        </a:rPr>
                        <a:t>91.40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18" name="Group 18"/>
          <p:cNvGrpSpPr/>
          <p:nvPr/>
        </p:nvGrpSpPr>
        <p:grpSpPr>
          <a:xfrm>
            <a:off x="533400" y="5105400"/>
            <a:ext cx="10316115" cy="933450"/>
            <a:chOff x="533400" y="5105400"/>
            <a:chExt cx="10316115" cy="933450"/>
          </a:xfrm>
        </p:grpSpPr>
        <p:sp>
          <p:nvSpPr>
            <p:cNvPr id="13" name="Rectangle 13"/>
            <p:cNvSpPr/>
            <p:nvPr/>
          </p:nvSpPr>
          <p:spPr>
            <a:xfrm>
              <a:off x="533400" y="5105400"/>
              <a:ext cx="38100" cy="933450"/>
            </a:xfrm>
            <a:prstGeom prst="rect">
              <a:avLst/>
            </a:prstGeom>
            <a:solidFill>
              <a:schemeClr val="accent2"/>
            </a:solidFill>
            <a:ln>
              <a:noFill/>
            </a:ln>
          </p:spPr>
        </p:sp>
        <p:sp>
          <p:nvSpPr>
            <p:cNvPr id="14" name="Ellipse 14"/>
            <p:cNvSpPr/>
            <p:nvPr/>
          </p:nvSpPr>
          <p:spPr>
            <a:xfrm>
              <a:off x="695325" y="5195888"/>
              <a:ext cx="57150" cy="57150"/>
            </a:xfrm>
            <a:prstGeom prst="ellipse">
              <a:avLst/>
            </a:prstGeom>
            <a:solidFill>
              <a:schemeClr val="accent2"/>
            </a:solidFill>
            <a:ln>
              <a:noFill/>
            </a:ln>
          </p:spPr>
        </p:sp>
        <p:sp>
          <p:nvSpPr>
            <p:cNvPr id="15" name="TextBox 15"/>
            <p:cNvSpPr txBox="1"/>
            <p:nvPr/>
          </p:nvSpPr>
          <p:spPr>
            <a:xfrm>
              <a:off x="833438" y="5168741"/>
              <a:ext cx="9657055"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Overall score (mean of the two Overall columns): Claude Code leads at 3.69; single-shot LLMs 3.41–3.56 and Codex 3.47 form a second tier; reproduced pipelines 3.06–3.26. Bold = best per column among the</a:t>
              </a:r>
              <a:br/>
              <a:r>
                <a:rPr lang="en-US" sz="820" dirty="0">
                  <a:solidFill>
                    <a:schemeClr val="dk1"/>
                  </a:solidFill>
                  <a:latin typeface="+mn-lt"/>
                  <a:ea typeface="+mn-ea"/>
                  <a:cs typeface="+mn-cs"/>
                </a:rPr>
                <a:t>systems.</a:t>
              </a:r>
            </a:p>
          </p:txBody>
        </p:sp>
        <p:sp>
          <p:nvSpPr>
            <p:cNvPr id="16" name="Ellipse 16"/>
            <p:cNvSpPr/>
            <p:nvPr/>
          </p:nvSpPr>
          <p:spPr>
            <a:xfrm>
              <a:off x="695325" y="5500688"/>
              <a:ext cx="57150" cy="57150"/>
            </a:xfrm>
            <a:prstGeom prst="ellipse">
              <a:avLst/>
            </a:prstGeom>
            <a:solidFill>
              <a:schemeClr val="accent2"/>
            </a:solidFill>
            <a:ln>
              <a:noFill/>
            </a:ln>
          </p:spPr>
        </p:sp>
        <p:sp>
          <p:nvSpPr>
            <p:cNvPr id="17" name="TextBox 17"/>
            <p:cNvSpPr txBox="1"/>
            <p:nvPr/>
          </p:nvSpPr>
          <p:spPr>
            <a:xfrm>
              <a:off x="833438" y="5473541"/>
              <a:ext cx="10016077"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Per paper, Claude Code beats the authors' poster on overall score for 74 of 100 papers under the Claude judge and 95 under the GPT judge (85% and 100% of non-tied papers). On PaperQuiz the ranking inverts (next</a:t>
              </a:r>
              <a:br/>
              <a:r>
                <a:rPr lang="en-US" sz="820" dirty="0">
                  <a:solidFill>
                    <a:schemeClr val="dk1"/>
                  </a:solidFill>
                  <a:latin typeface="+mn-lt"/>
                  <a:ea typeface="+mn-ea"/>
                  <a:cs typeface="+mn-cs"/>
                </a:rPr>
                <a:t>page).</a:t>
              </a:r>
            </a:p>
          </p:txBody>
        </p:sp>
      </p:grpSp>
      <p:grpSp>
        <p:nvGrpSpPr>
          <p:cNvPr id="21" name="Group 21"/>
          <p:cNvGrpSpPr/>
          <p:nvPr/>
        </p:nvGrpSpPr>
        <p:grpSpPr>
          <a:xfrm>
            <a:off x="528638" y="6415088"/>
            <a:ext cx="11134724" cy="147638"/>
            <a:chOff x="528638" y="6415088"/>
            <a:chExt cx="11134724" cy="147638"/>
          </a:xfrm>
        </p:grpSpPr>
        <p:sp>
          <p:nvSpPr>
            <p:cNvPr id="19" name="TextBox 19"/>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0" name="TextBox 20"/>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1900"/>
                            </p:stCondLst>
                            <p:childTnLst>
                              <p:par>
                                <p:cTn xmlns:p="http://schemas.openxmlformats.org/presentationml/2006/main" id="17" presetID="22" presetClass="entr" presetSubtype="4" fill="hold" grpId="0" nodeType="after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900"/>
                                        <p:tgtEl>
                                          <p:spTgt spid="12"/>
                                        </p:tgtEl>
                                      </p:cBhvr>
                                    </p:animEffect>
                                  </p:childTnLst>
                                </p:cTn>
                              </p:par>
                            </p:childTnLst>
                          </p:cTn>
                        </p:par>
                        <p:par>
                          <p:cTn id="20" fill="hold">
                            <p:stCondLst>
                              <p:cond delay="33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8491834" y="321945"/>
            <a:ext cx="3171529"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§3 ANALYSIS · CONTROLLED COMPARISONS</a:t>
            </a:r>
          </a:p>
        </p:txBody>
      </p:sp>
      <p:grpSp>
        <p:nvGrpSpPr>
          <p:cNvPr id="4" name="Group 4"/>
          <p:cNvGrpSpPr/>
          <p:nvPr/>
        </p:nvGrpSpPr>
        <p:grpSpPr>
          <a:xfrm>
            <a:off x="522732" y="573405"/>
            <a:ext cx="10011225" cy="734568"/>
            <a:chOff x="522732" y="573405"/>
            <a:chExt cx="10011225" cy="734568"/>
          </a:xfrm>
        </p:grpSpPr>
        <p:sp>
          <p:nvSpPr>
            <p:cNvPr id="3" name="TextBox 3"/>
            <p:cNvSpPr txBox="1"/>
            <p:nvPr/>
          </p:nvSpPr>
          <p:spPr>
            <a:xfrm>
              <a:off x="522732" y="573405"/>
              <a:ext cx="10011225"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The PaperQuiz ordering nearly reverses the aesthetic ordering: denser posters</a:t>
              </a:r>
              <a:br/>
              <a:r>
                <a:rPr lang="en-US" sz="2100" b="1" dirty="0">
                  <a:solidFill>
                    <a:schemeClr val="accent1"/>
                  </a:solidFill>
                  <a:latin typeface="+mn-lt"/>
                  <a:ea typeface="+mn-ea"/>
                  <a:cs typeface="+mn-cs"/>
                </a:rPr>
                <a:t>answer more; the fill loop packs to a target density</a:t>
              </a:r>
            </a:p>
          </p:txBody>
        </p:sp>
      </p:grpSp>
      <p:grpSp>
        <p:nvGrpSpPr>
          <p:cNvPr id="6" name="Group 6"/>
          <p:cNvGrpSpPr/>
          <p:nvPr/>
        </p:nvGrpSpPr>
        <p:grpSpPr>
          <a:xfrm>
            <a:off x="526542" y="1302068"/>
            <a:ext cx="10127791" cy="264033"/>
            <a:chOff x="526542" y="1302068"/>
            <a:chExt cx="10127791" cy="264033"/>
          </a:xfrm>
        </p:grpSpPr>
        <p:sp>
          <p:nvSpPr>
            <p:cNvPr id="5" name="TextBox 5"/>
            <p:cNvSpPr txBox="1"/>
            <p:nvPr/>
          </p:nvSpPr>
          <p:spPr>
            <a:xfrm>
              <a:off x="526542" y="1302068"/>
              <a:ext cx="1012779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Left: aesthetic overall vs PaperQuiz detail, nine systems; right: same model with and without the loop, same skill under Codex</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20" name="aesthetics-vs-quiz"/>
          <p:cNvGrpSpPr/>
          <p:nvPr/>
        </p:nvGrpSpPr>
        <p:grpSpPr>
          <a:xfrm>
            <a:off x="533400" y="1847850"/>
            <a:ext cx="6096000" cy="2857500"/>
            <a:chOff x="533400" y="1847850"/>
            <a:chExt cx="6096000" cy="2857500"/>
          </a:xfrm>
        </p:grpSpPr>
        <p:graphicFrame>
          <p:nvGraphicFramePr>
            <p:cNvPr id="8" name="aesthetics-vs-quiz"/>
            <p:cNvGraphicFramePr>
              <a:graphicFrameLocks noGrp="1"/>
            </p:cNvGraphicFramePr>
            <p:nvPr/>
          </p:nvGraphicFramePr>
          <p:xfrm>
            <a:off x="533400" y="1847850"/>
            <a:ext cx="6096000" cy="2857500"/>
          </p:xfrm>
          <a:graphic>
            <a:graphicData uri="http://schemas.openxmlformats.org/drawingml/2006/chart">
              <c:chart xmlns:c="http://schemas.openxmlformats.org/drawingml/2006/chart" r:id="rId2"/>
            </a:graphicData>
          </a:graphic>
        </p:graphicFrame>
        <p:sp>
          <p:nvSpPr>
            <p:cNvPr id="9" name="Chart Note 9"/>
            <p:cNvSpPr txBox="1"/>
            <p:nvPr/>
          </p:nvSpPr>
          <p:spPr>
            <a:xfrm>
              <a:off x="2778442" y="2764536"/>
              <a:ext cx="1323975"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Claude-4.8 Opus (1-shot)</a:t>
              </a:r>
            </a:p>
          </p:txBody>
        </p:sp>
        <p:sp>
          <p:nvSpPr>
            <p:cNvPr id="10" name="Chart Note 10"/>
            <p:cNvSpPr txBox="1"/>
            <p:nvPr/>
          </p:nvSpPr>
          <p:spPr>
            <a:xfrm>
              <a:off x="3886200" y="2467356"/>
              <a:ext cx="923925"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GPT-5.5 (1-shot)</a:t>
              </a:r>
            </a:p>
          </p:txBody>
        </p:sp>
        <p:sp>
          <p:nvSpPr>
            <p:cNvPr id="11" name="Chart Note 11"/>
            <p:cNvSpPr txBox="1"/>
            <p:nvPr/>
          </p:nvSpPr>
          <p:spPr>
            <a:xfrm>
              <a:off x="3549015" y="2950274"/>
              <a:ext cx="1238250"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Gemini-3.1 Pro (1-shot)</a:t>
              </a:r>
            </a:p>
          </p:txBody>
        </p:sp>
        <p:sp>
          <p:nvSpPr>
            <p:cNvPr id="12" name="Chart Note 12"/>
            <p:cNvSpPr txBox="1"/>
            <p:nvPr/>
          </p:nvSpPr>
          <p:spPr>
            <a:xfrm>
              <a:off x="1816418" y="2757868"/>
              <a:ext cx="962025"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Paper2Poster tool</a:t>
              </a:r>
            </a:p>
          </p:txBody>
        </p:sp>
        <p:sp>
          <p:nvSpPr>
            <p:cNvPr id="13" name="Chart Note 13"/>
            <p:cNvSpPr txBox="1"/>
            <p:nvPr/>
          </p:nvSpPr>
          <p:spPr>
            <a:xfrm>
              <a:off x="1816418" y="2280666"/>
              <a:ext cx="295275"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P2P</a:t>
              </a:r>
            </a:p>
          </p:txBody>
        </p:sp>
        <p:sp>
          <p:nvSpPr>
            <p:cNvPr id="14" name="Chart Note 14"/>
            <p:cNvSpPr txBox="1"/>
            <p:nvPr/>
          </p:nvSpPr>
          <p:spPr>
            <a:xfrm>
              <a:off x="1767840" y="3477006"/>
              <a:ext cx="609600"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PosterGen</a:t>
              </a:r>
            </a:p>
          </p:txBody>
        </p:sp>
        <p:sp>
          <p:nvSpPr>
            <p:cNvPr id="15" name="Chart Note 15"/>
            <p:cNvSpPr txBox="1"/>
            <p:nvPr/>
          </p:nvSpPr>
          <p:spPr>
            <a:xfrm>
              <a:off x="4483418" y="3604641"/>
              <a:ext cx="752475" cy="166624"/>
            </a:xfrm>
            <a:prstGeom prst="rect">
              <a:avLst/>
            </a:prstGeom>
            <a:noFill/>
            <a:ln>
              <a:noFill/>
            </a:ln>
          </p:spPr>
          <p:txBody>
            <a:bodyPr wrap="square" lIns="0" tIns="0" rIns="0" bIns="0" anchor="b" anchorCtr="0"/>
            <a:lstStyle/>
            <a:p>
              <a:pPr algn="l"/>
              <a:r>
                <a:rPr lang="en-US" sz="820" b="1">
                  <a:solidFill>
                    <a:srgbClr val="0E9F8A"/>
                  </a:solidFill>
                  <a:latin typeface="Arial"/>
                  <a:ea typeface="Microsoft YaHei"/>
                  <a:cs typeface="Arial"/>
                </a:rPr>
                <a:t>Reel · Codex</a:t>
              </a:r>
            </a:p>
          </p:txBody>
        </p:sp>
        <p:sp>
          <p:nvSpPr>
            <p:cNvPr id="16" name="Chart Note 16"/>
            <p:cNvSpPr txBox="1"/>
            <p:nvPr/>
          </p:nvSpPr>
          <p:spPr>
            <a:xfrm>
              <a:off x="4583430" y="3407474"/>
              <a:ext cx="1085850" cy="166624"/>
            </a:xfrm>
            <a:prstGeom prst="rect">
              <a:avLst/>
            </a:prstGeom>
            <a:noFill/>
            <a:ln>
              <a:noFill/>
            </a:ln>
          </p:spPr>
          <p:txBody>
            <a:bodyPr wrap="square" lIns="0" tIns="0" rIns="0" bIns="0" anchor="b" anchorCtr="0"/>
            <a:lstStyle/>
            <a:p>
              <a:pPr algn="r"/>
              <a:r>
                <a:rPr lang="en-US" sz="820" b="1">
                  <a:solidFill>
                    <a:srgbClr val="1D4ED8"/>
                  </a:solidFill>
                  <a:latin typeface="Arial"/>
                  <a:ea typeface="Microsoft YaHei"/>
                  <a:cs typeface="Arial"/>
                </a:rPr>
                <a:t>Reel · Claude Code</a:t>
              </a:r>
            </a:p>
          </p:txBody>
        </p:sp>
        <p:sp>
          <p:nvSpPr>
            <p:cNvPr id="17" name="Chart Note 17"/>
            <p:cNvSpPr txBox="1"/>
            <p:nvPr/>
          </p:nvSpPr>
          <p:spPr>
            <a:xfrm>
              <a:off x="2088832" y="3658934"/>
              <a:ext cx="1028700" cy="166624"/>
            </a:xfrm>
            <a:prstGeom prst="rect">
              <a:avLst/>
            </a:prstGeom>
            <a:noFill/>
            <a:ln>
              <a:noFill/>
            </a:ln>
          </p:spPr>
          <p:txBody>
            <a:bodyPr wrap="square" lIns="0" tIns="0" rIns="0" bIns="0" anchor="b" anchorCtr="0"/>
            <a:lstStyle/>
            <a:p>
              <a:pPr algn="r"/>
              <a:r>
                <a:rPr lang="en-US" sz="820">
                  <a:solidFill>
                    <a:srgbClr val="1B2430"/>
                  </a:solidFill>
                  <a:latin typeface="Arial"/>
                  <a:ea typeface="Microsoft YaHei"/>
                  <a:cs typeface="Arial"/>
                </a:rPr>
                <a:t>Author ground truth</a:t>
              </a:r>
            </a:p>
          </p:txBody>
        </p:sp>
        <p:sp>
          <p:nvSpPr>
            <p:cNvPr id="18" name="Chart Note 18"/>
            <p:cNvSpPr txBox="1"/>
            <p:nvPr/>
          </p:nvSpPr>
          <p:spPr>
            <a:xfrm>
              <a:off x="3205162" y="4259961"/>
              <a:ext cx="1171575" cy="166624"/>
            </a:xfrm>
            <a:prstGeom prst="rect">
              <a:avLst/>
            </a:prstGeom>
            <a:noFill/>
            <a:ln>
              <a:noFill/>
            </a:ln>
          </p:spPr>
          <p:txBody>
            <a:bodyPr wrap="square" lIns="0" tIns="0" rIns="0" bIns="0" anchor="b" anchorCtr="0"/>
            <a:lstStyle/>
            <a:p>
              <a:pPr algn="ctr"/>
              <a:r>
                <a:rPr lang="en-US" sz="820">
                  <a:solidFill>
                    <a:srgbClr val="2F3A48"/>
                  </a:solidFill>
                  <a:latin typeface="Arial"/>
                  <a:ea typeface="Microsoft YaHei"/>
                  <a:cs typeface="Arial"/>
                </a:rPr>
                <a:t>Aesthetic overall (1–5)</a:t>
              </a:r>
            </a:p>
          </p:txBody>
        </p:sp>
        <p:sp>
          <p:nvSpPr>
            <p:cNvPr id="19" name="Chart Note 19"/>
            <p:cNvSpPr txBox="1"/>
            <p:nvPr/>
          </p:nvSpPr>
          <p:spPr>
            <a:xfrm>
              <a:off x="704850" y="1859661"/>
              <a:ext cx="1095375" cy="166624"/>
            </a:xfrm>
            <a:prstGeom prst="rect">
              <a:avLst/>
            </a:prstGeom>
            <a:noFill/>
            <a:ln>
              <a:noFill/>
            </a:ln>
          </p:spPr>
          <p:txBody>
            <a:bodyPr wrap="square" lIns="0" tIns="0" rIns="0" bIns="0" anchor="b" anchorCtr="0"/>
            <a:lstStyle/>
            <a:p>
              <a:pPr algn="l"/>
              <a:r>
                <a:rPr lang="en-US" sz="820">
                  <a:solidFill>
                    <a:srgbClr val="2F3A48"/>
                  </a:solidFill>
                  <a:latin typeface="Arial"/>
                  <a:ea typeface="Microsoft YaHei"/>
                  <a:cs typeface="Arial"/>
                </a:rPr>
                <a:t>PaperQuiz detail (%)</a:t>
              </a:r>
            </a:p>
          </p:txBody>
        </p:sp>
      </p:grpSp>
      <p:grpSp>
        <p:nvGrpSpPr>
          <p:cNvPr id="24" name="controlled-bars"/>
          <p:cNvGrpSpPr/>
          <p:nvPr/>
        </p:nvGrpSpPr>
        <p:grpSpPr>
          <a:xfrm>
            <a:off x="7010400" y="1847850"/>
            <a:ext cx="4648200" cy="2857500"/>
            <a:chOff x="7010400" y="1847850"/>
            <a:chExt cx="4648200" cy="2857500"/>
          </a:xfrm>
        </p:grpSpPr>
        <p:graphicFrame>
          <p:nvGraphicFramePr>
            <p:cNvPr id="21" name="controlled-bars"/>
            <p:cNvGraphicFramePr>
              <a:graphicFrameLocks noGrp="1"/>
            </p:cNvGraphicFramePr>
            <p:nvPr/>
          </p:nvGraphicFramePr>
          <p:xfrm>
            <a:off x="7010400" y="1847850"/>
            <a:ext cx="4648200" cy="2857500"/>
          </p:xfrm>
          <a:graphic>
            <a:graphicData uri="http://schemas.openxmlformats.org/drawingml/2006/chart">
              <c:chart xmlns:c="http://schemas.openxmlformats.org/drawingml/2006/chart" r:id="rId3"/>
            </a:graphicData>
          </a:graphic>
        </p:graphicFrame>
        <p:sp>
          <p:nvSpPr>
            <p:cNvPr id="22" name="Chart Note 22"/>
            <p:cNvSpPr txBox="1"/>
            <p:nvPr/>
          </p:nvSpPr>
          <p:spPr>
            <a:xfrm>
              <a:off x="7391400" y="1954911"/>
              <a:ext cx="962025" cy="166624"/>
            </a:xfrm>
            <a:prstGeom prst="rect">
              <a:avLst/>
            </a:prstGeom>
            <a:noFill/>
            <a:ln>
              <a:noFill/>
            </a:ln>
          </p:spPr>
          <p:txBody>
            <a:bodyPr wrap="square" lIns="0" tIns="0" rIns="0" bIns="0" anchor="b" anchorCtr="0"/>
            <a:lstStyle/>
            <a:p>
              <a:pPr algn="l"/>
              <a:r>
                <a:rPr lang="en-US" sz="820" b="1">
                  <a:solidFill>
                    <a:srgbClr val="1B2430"/>
                  </a:solidFill>
                  <a:latin typeface="Arial"/>
                  <a:ea typeface="Microsoft YaHei"/>
                  <a:cs typeface="Arial"/>
                </a:rPr>
                <a:t>Aesthetic overall</a:t>
              </a:r>
            </a:p>
          </p:txBody>
        </p:sp>
        <p:sp>
          <p:nvSpPr>
            <p:cNvPr id="23" name="Chart Note 23"/>
            <p:cNvSpPr txBox="1"/>
            <p:nvPr/>
          </p:nvSpPr>
          <p:spPr>
            <a:xfrm>
              <a:off x="8420100" y="2012061"/>
              <a:ext cx="1876425" cy="166624"/>
            </a:xfrm>
            <a:prstGeom prst="rect">
              <a:avLst/>
            </a:prstGeom>
            <a:noFill/>
            <a:ln>
              <a:noFill/>
            </a:ln>
          </p:spPr>
          <p:txBody>
            <a:bodyPr wrap="square" lIns="0" tIns="0" rIns="0" bIns="0" anchor="b" anchorCtr="0"/>
            <a:lstStyle/>
            <a:p>
              <a:pPr algn="l"/>
              <a:r>
                <a:rPr lang="en-US" sz="820">
                  <a:solidFill>
                    <a:srgbClr val="1D4ED8"/>
                  </a:solidFill>
                  <a:latin typeface="Arial"/>
                  <a:ea typeface="Microsoft YaHei"/>
                  <a:cs typeface="Arial"/>
                </a:rPr>
                <a:t>+0.64 vs the same model single-shot</a:t>
              </a:r>
            </a:p>
          </p:txBody>
        </p:sp>
      </p:grpSp>
      <p:grpSp>
        <p:nvGrpSpPr>
          <p:cNvPr id="29" name="Group 29"/>
          <p:cNvGrpSpPr/>
          <p:nvPr/>
        </p:nvGrpSpPr>
        <p:grpSpPr>
          <a:xfrm>
            <a:off x="542925" y="4825841"/>
            <a:ext cx="5404271" cy="733425"/>
            <a:chOff x="542925" y="4825841"/>
            <a:chExt cx="5404271" cy="733425"/>
          </a:xfrm>
        </p:grpSpPr>
        <p:sp>
          <p:nvSpPr>
            <p:cNvPr id="25" name="Ellipse 25"/>
            <p:cNvSpPr/>
            <p:nvPr/>
          </p:nvSpPr>
          <p:spPr>
            <a:xfrm>
              <a:off x="542925" y="4852988"/>
              <a:ext cx="57150" cy="57150"/>
            </a:xfrm>
            <a:prstGeom prst="ellipse">
              <a:avLst/>
            </a:prstGeom>
            <a:solidFill>
              <a:schemeClr val="accent2"/>
            </a:solidFill>
            <a:ln>
              <a:noFill/>
            </a:ln>
          </p:spPr>
        </p:sp>
        <p:sp>
          <p:nvSpPr>
            <p:cNvPr id="26" name="TextBox 26"/>
            <p:cNvSpPr txBox="1"/>
            <p:nvPr/>
          </p:nvSpPr>
          <p:spPr>
            <a:xfrm>
              <a:off x="681038" y="4825841"/>
              <a:ext cx="5230688"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P2P leads both Quiz splits: its portrait canvas is packed with near-verbatim prose, at some of the lowest aesthetic</a:t>
              </a:r>
              <a:br/>
              <a:r>
                <a:rPr lang="en-US" sz="820" dirty="0">
                  <a:solidFill>
                    <a:schemeClr val="dk1"/>
                  </a:solidFill>
                  <a:latin typeface="+mn-lt"/>
                  <a:ea typeface="+mn-ea"/>
                  <a:cs typeface="+mn-cs"/>
                </a:rPr>
                <a:t>scores. The Paper2Poster tool is close behind because its content is assembled from the benchmark's own Q&amp;A</a:t>
              </a:r>
              <a:br/>
              <a:r>
                <a:rPr lang="en-US" sz="820" dirty="0">
                  <a:solidFill>
                    <a:schemeClr val="dk1"/>
                  </a:solidFill>
                  <a:latin typeface="+mn-lt"/>
                  <a:ea typeface="+mn-ea"/>
                  <a:cs typeface="+mn-cs"/>
                </a:rPr>
                <a:t>extraction. Author posters prune to headline results and place last on both Quiz splits.</a:t>
              </a:r>
            </a:p>
          </p:txBody>
        </p:sp>
        <p:sp>
          <p:nvSpPr>
            <p:cNvPr id="27" name="Ellipse 27"/>
            <p:cNvSpPr/>
            <p:nvPr/>
          </p:nvSpPr>
          <p:spPr>
            <a:xfrm>
              <a:off x="542925" y="5291138"/>
              <a:ext cx="57150" cy="57150"/>
            </a:xfrm>
            <a:prstGeom prst="ellipse">
              <a:avLst/>
            </a:prstGeom>
            <a:solidFill>
              <a:schemeClr val="accent2"/>
            </a:solidFill>
            <a:ln>
              <a:noFill/>
            </a:ln>
          </p:spPr>
        </p:sp>
        <p:sp>
          <p:nvSpPr>
            <p:cNvPr id="28" name="TextBox 28"/>
            <p:cNvSpPr txBox="1"/>
            <p:nvPr/>
          </p:nvSpPr>
          <p:spPr>
            <a:xfrm>
              <a:off x="681038" y="5263991"/>
              <a:ext cx="5266158"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The single-shot baselines are strong on content and intermediate on aesthetics; Reel sits deliberately between the</a:t>
              </a:r>
              <a:br/>
              <a:r>
                <a:rPr lang="en-US" sz="820" dirty="0">
                  <a:solidFill>
                    <a:schemeClr val="dk1"/>
                  </a:solidFill>
                  <a:latin typeface="+mn-lt"/>
                  <a:ea typeface="+mn-ea"/>
                  <a:cs typeface="+mn-cs"/>
                </a:rPr>
                <a:t>poles.</a:t>
              </a:r>
            </a:p>
          </p:txBody>
        </p:sp>
      </p:grpSp>
      <p:grpSp>
        <p:nvGrpSpPr>
          <p:cNvPr id="34" name="Group 34"/>
          <p:cNvGrpSpPr/>
          <p:nvPr/>
        </p:nvGrpSpPr>
        <p:grpSpPr>
          <a:xfrm>
            <a:off x="7010400" y="4781550"/>
            <a:ext cx="4648200" cy="1314450"/>
            <a:chOff x="7010400" y="4781550"/>
            <a:chExt cx="4648200" cy="1314450"/>
          </a:xfrm>
        </p:grpSpPr>
        <p:sp>
          <p:nvSpPr>
            <p:cNvPr id="30" name="Rectangle 30"/>
            <p:cNvSpPr/>
            <p:nvPr/>
          </p:nvSpPr>
          <p:spPr>
            <a:xfrm>
              <a:off x="7010400" y="4781550"/>
              <a:ext cx="4648200" cy="1314450"/>
            </a:xfrm>
            <a:prstGeom prst="rect">
              <a:avLst/>
            </a:prstGeom>
            <a:solidFill>
              <a:schemeClr val="lt2"/>
            </a:solidFill>
            <a:ln>
              <a:noFill/>
            </a:ln>
          </p:spPr>
        </p:sp>
        <p:sp>
          <p:nvSpPr>
            <p:cNvPr id="31" name="Rectangle 31"/>
            <p:cNvSpPr/>
            <p:nvPr/>
          </p:nvSpPr>
          <p:spPr>
            <a:xfrm>
              <a:off x="7010400" y="4781550"/>
              <a:ext cx="38100" cy="1314450"/>
            </a:xfrm>
            <a:prstGeom prst="rect">
              <a:avLst/>
            </a:prstGeom>
            <a:solidFill>
              <a:srgbClr val="E0A100"/>
            </a:solidFill>
            <a:ln>
              <a:noFill/>
            </a:ln>
          </p:spPr>
        </p:sp>
        <p:sp>
          <p:nvSpPr>
            <p:cNvPr id="32" name="TextBox 32"/>
            <p:cNvSpPr txBox="1"/>
            <p:nvPr/>
          </p:nvSpPr>
          <p:spPr>
            <a:xfrm>
              <a:off x="7158038" y="4855845"/>
              <a:ext cx="1516614"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The authors' caution, kept</a:t>
              </a:r>
            </a:p>
          </p:txBody>
        </p:sp>
        <p:sp>
          <p:nvSpPr>
            <p:cNvPr id="33" name="TextBox 33"/>
            <p:cNvSpPr txBox="1"/>
            <p:nvPr/>
          </p:nvSpPr>
          <p:spPr>
            <a:xfrm>
              <a:off x="7158038" y="5054441"/>
              <a:ext cx="3963658" cy="6953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Aesthetic appeal is subjective and audience-dependent; the sub-criteria are scored by</a:t>
              </a:r>
              <a:br/>
              <a:r>
                <a:rPr lang="en-US" sz="820" dirty="0">
                  <a:solidFill>
                    <a:schemeClr val="dk1"/>
                  </a:solidFill>
                  <a:latin typeface="+mn-lt"/>
                  <a:ea typeface="+mn-ea"/>
                  <a:cs typeface="+mn-cs"/>
                </a:rPr>
                <a:t>VLM judges that stand in for, but do not equal, human preference — a higher score</a:t>
              </a:r>
              <a:br/>
              <a:r>
                <a:rPr lang="en-US" sz="820" dirty="0">
                  <a:solidFill>
                    <a:schemeClr val="dk1"/>
                  </a:solidFill>
                  <a:latin typeface="+mn-lt"/>
                  <a:ea typeface="+mn-ea"/>
                  <a:cs typeface="+mn-cs"/>
                </a:rPr>
                <a:t>means the raters prefer the poster, not that humans would. Comparison (i) also</a:t>
              </a:r>
              <a:br/>
              <a:r>
                <a:rPr lang="en-US" sz="820" dirty="0">
                  <a:solidFill>
                    <a:schemeClr val="dk1"/>
                  </a:solidFill>
                  <a:latin typeface="+mn-lt"/>
                  <a:ea typeface="+mn-ea"/>
                  <a:cs typeface="+mn-cs"/>
                </a:rPr>
                <a:t>changes prompting, call count, and budget, so it does not isolate the loop; Codex at</a:t>
              </a:r>
              <a:br/>
              <a:r>
                <a:rPr lang="en-US" sz="820" dirty="0">
                  <a:solidFill>
                    <a:schemeClr val="dk1"/>
                  </a:solidFill>
                  <a:latin typeface="+mn-lt"/>
                  <a:ea typeface="+mn-ea"/>
                  <a:cs typeface="+mn-cs"/>
                </a:rPr>
                <a:t>3.27 (per judge 3.29 / 3.25) is second-highest in Table 1.</a:t>
              </a:r>
            </a:p>
          </p:txBody>
        </p:sp>
      </p:grpSp>
      <p:grpSp>
        <p:nvGrpSpPr>
          <p:cNvPr id="37" name="Group 37"/>
          <p:cNvGrpSpPr/>
          <p:nvPr/>
        </p:nvGrpSpPr>
        <p:grpSpPr>
          <a:xfrm>
            <a:off x="528638" y="6415088"/>
            <a:ext cx="11134724" cy="147638"/>
            <a:chOff x="528638" y="6415088"/>
            <a:chExt cx="11134724" cy="147638"/>
          </a:xfrm>
        </p:grpSpPr>
        <p:sp>
          <p:nvSpPr>
            <p:cNvPr id="35" name="TextBox 35"/>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36" name="TextBox 36"/>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600"/>
                                        <p:tgtEl>
                                          <p:spTgt spid="20"/>
                                        </p:tgtEl>
                                      </p:cBhvr>
                                    </p:animEffect>
                                  </p:childTnLst>
                                </p:cTn>
                              </p:par>
                            </p:childTnLst>
                          </p:cTn>
                        </p:par>
                        <p:par>
                          <p:cTn id="16" fill="hold">
                            <p:stCondLst>
                              <p:cond delay="2300"/>
                            </p:stCondLst>
                            <p:childTnLst>
                              <p:par>
                                <p:cTn xmlns:p="http://schemas.openxmlformats.org/presentationml/2006/main" id="17" presetID="22" presetClass="entr" presetSubtype="1" fill="hold" grpId="0" nodeType="afterEffect">
                                  <p:stCondLst>
                                    <p:cond delay="50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700"/>
                                        <p:tgtEl>
                                          <p:spTgt spid="24"/>
                                        </p:tgtEl>
                                      </p:cBhvr>
                                    </p:animEffect>
                                  </p:childTnLst>
                                </p:cTn>
                              </p:par>
                            </p:childTnLst>
                          </p:cTn>
                        </p:par>
                        <p:par>
                          <p:cTn id="20" fill="hold">
                            <p:stCondLst>
                              <p:cond delay="35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par>
                          <p:cTn id="24" fill="hold">
                            <p:stCondLst>
                              <p:cond delay="44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597407" y="321945"/>
            <a:ext cx="1065956"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§3 · FIGURE 10</a:t>
            </a:r>
          </a:p>
        </p:txBody>
      </p:sp>
      <p:grpSp>
        <p:nvGrpSpPr>
          <p:cNvPr id="4" name="Group 4"/>
          <p:cNvGrpSpPr/>
          <p:nvPr/>
        </p:nvGrpSpPr>
        <p:grpSpPr>
          <a:xfrm>
            <a:off x="522732" y="573405"/>
            <a:ext cx="10171725" cy="734568"/>
            <a:chOff x="522732" y="573405"/>
            <a:chExt cx="10171725" cy="734568"/>
          </a:xfrm>
        </p:grpSpPr>
        <p:sp>
          <p:nvSpPr>
            <p:cNvPr id="3" name="TextBox 3"/>
            <p:cNvSpPr txBox="1"/>
            <p:nvPr/>
          </p:nvSpPr>
          <p:spPr>
            <a:xfrm>
              <a:off x="522732" y="573405"/>
              <a:ext cx="10171725"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With the skill, prompt, and pipeline fixed, five configurations each produce a full</a:t>
              </a:r>
              <a:br/>
              <a:r>
                <a:rPr lang="en-US" sz="2100" b="1" dirty="0">
                  <a:solidFill>
                    <a:schemeClr val="accent1"/>
                  </a:solidFill>
                  <a:latin typeface="+mn-lt"/>
                  <a:ea typeface="+mn-ea"/>
                  <a:cs typeface="+mn-cs"/>
                </a:rPr>
                <a:t>page differing in figure choice, density, and accent</a:t>
              </a:r>
            </a:p>
          </p:txBody>
        </p:sp>
      </p:grpSp>
      <p:grpSp>
        <p:nvGrpSpPr>
          <p:cNvPr id="6" name="Group 6"/>
          <p:cNvGrpSpPr/>
          <p:nvPr/>
        </p:nvGrpSpPr>
        <p:grpSpPr>
          <a:xfrm>
            <a:off x="526542" y="1302068"/>
            <a:ext cx="8657005" cy="264033"/>
            <a:chOff x="526542" y="1302068"/>
            <a:chExt cx="8657005" cy="264033"/>
          </a:xfrm>
        </p:grpSpPr>
        <p:sp>
          <p:nvSpPr>
            <p:cNvPr id="5" name="TextBox 5"/>
            <p:cNvSpPr txBox="1"/>
            <p:nvPr/>
          </p:nvSpPr>
          <p:spPr>
            <a:xfrm>
              <a:off x="526542" y="1302068"/>
              <a:ext cx="865700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Figure 10: the human reference and five runs of one skill under different harness, model, or reasoning effort</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33400" y="1847850"/>
            <a:ext cx="3543300" cy="1962150"/>
            <a:chOff x="533400" y="1847850"/>
            <a:chExt cx="3543300" cy="1962150"/>
          </a:xfrm>
        </p:grpSpPr>
        <p:sp>
          <p:nvSpPr>
            <p:cNvPr id="8" name="Rectangle 8"/>
            <p:cNvSpPr/>
            <p:nvPr/>
          </p:nvSpPr>
          <p:spPr>
            <a:xfrm>
              <a:off x="533400" y="1847850"/>
              <a:ext cx="3543300" cy="1962150"/>
            </a:xfrm>
            <a:prstGeom prst="rect">
              <a:avLst/>
            </a:prstGeom>
            <a:solidFill>
              <a:schemeClr val="lt1"/>
            </a:solidFill>
            <a:ln w="7144">
              <a:solidFill>
                <a:schemeClr val="accent6"/>
              </a:solidFill>
            </a:ln>
          </p:spPr>
        </p:sp>
        <p:pic>
          <p:nvPicPr>
            <p:cNvPr id="9" name="Image 9"/>
            <p:cNvPicPr>
              <a:picLocks noChangeAspect="1"/>
            </p:cNvPicPr>
            <p:nvPr/>
          </p:nvPicPr>
          <p:blipFill>
            <a:blip r:embed="rId2"/>
            <a:stretch>
              <a:fillRect/>
            </a:stretch>
          </p:blipFill>
          <p:spPr>
            <a:xfrm>
              <a:off x="919162" y="1905000"/>
              <a:ext cx="2771775" cy="1847850"/>
            </a:xfrm>
            <a:prstGeom prst="rect">
              <a:avLst/>
            </a:prstGeom>
          </p:spPr>
        </p:pic>
        <p:sp>
          <p:nvSpPr>
            <p:cNvPr id="10" name="Rectangle 10"/>
            <p:cNvSpPr/>
            <p:nvPr/>
          </p:nvSpPr>
          <p:spPr>
            <a:xfrm>
              <a:off x="533400" y="1847850"/>
              <a:ext cx="2543175" cy="152400"/>
            </a:xfrm>
            <a:prstGeom prst="rect">
              <a:avLst/>
            </a:prstGeom>
            <a:solidFill>
              <a:schemeClr val="accent1"/>
            </a:solidFill>
            <a:ln>
              <a:noFill/>
            </a:ln>
          </p:spPr>
        </p:sp>
        <p:sp>
          <p:nvSpPr>
            <p:cNvPr id="11" name="TextBox 11"/>
            <p:cNvSpPr txBox="1"/>
            <p:nvPr/>
          </p:nvSpPr>
          <p:spPr>
            <a:xfrm>
              <a:off x="566738" y="1881188"/>
              <a:ext cx="2070848"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Author ground truth (human reference)</a:t>
              </a:r>
            </a:p>
          </p:txBody>
        </p:sp>
      </p:grpSp>
      <p:grpSp>
        <p:nvGrpSpPr>
          <p:cNvPr id="17" name="Group 17"/>
          <p:cNvGrpSpPr/>
          <p:nvPr/>
        </p:nvGrpSpPr>
        <p:grpSpPr>
          <a:xfrm>
            <a:off x="4324350" y="1847850"/>
            <a:ext cx="3543300" cy="1962150"/>
            <a:chOff x="4324350" y="1847850"/>
            <a:chExt cx="3543300" cy="1962150"/>
          </a:xfrm>
        </p:grpSpPr>
        <p:sp>
          <p:nvSpPr>
            <p:cNvPr id="13" name="Rectangle 13"/>
            <p:cNvSpPr/>
            <p:nvPr/>
          </p:nvSpPr>
          <p:spPr>
            <a:xfrm>
              <a:off x="4324350" y="1847850"/>
              <a:ext cx="3543300" cy="1962150"/>
            </a:xfrm>
            <a:prstGeom prst="rect">
              <a:avLst/>
            </a:prstGeom>
            <a:solidFill>
              <a:schemeClr val="lt1"/>
            </a:solidFill>
            <a:ln w="7144">
              <a:solidFill>
                <a:schemeClr val="accent6"/>
              </a:solidFill>
            </a:ln>
          </p:spPr>
        </p:sp>
        <p:pic>
          <p:nvPicPr>
            <p:cNvPr id="14" name="Image 14"/>
            <p:cNvPicPr>
              <a:picLocks noChangeAspect="1"/>
            </p:cNvPicPr>
            <p:nvPr/>
          </p:nvPicPr>
          <p:blipFill>
            <a:blip r:embed="rId3"/>
            <a:stretch>
              <a:fillRect/>
            </a:stretch>
          </p:blipFill>
          <p:spPr>
            <a:xfrm>
              <a:off x="4556125" y="1905000"/>
              <a:ext cx="3079750" cy="1847850"/>
            </a:xfrm>
            <a:prstGeom prst="rect">
              <a:avLst/>
            </a:prstGeom>
          </p:spPr>
        </p:pic>
        <p:sp>
          <p:nvSpPr>
            <p:cNvPr id="15" name="Rectangle 15"/>
            <p:cNvSpPr/>
            <p:nvPr/>
          </p:nvSpPr>
          <p:spPr>
            <a:xfrm>
              <a:off x="4324350" y="1847850"/>
              <a:ext cx="3076575" cy="152400"/>
            </a:xfrm>
            <a:prstGeom prst="rect">
              <a:avLst/>
            </a:prstGeom>
            <a:solidFill>
              <a:schemeClr val="accent1"/>
            </a:solidFill>
            <a:ln>
              <a:noFill/>
            </a:ln>
          </p:spPr>
        </p:sp>
        <p:sp>
          <p:nvSpPr>
            <p:cNvPr id="16" name="TextBox 16"/>
            <p:cNvSpPr txBox="1"/>
            <p:nvPr/>
          </p:nvSpPr>
          <p:spPr>
            <a:xfrm>
              <a:off x="4357688" y="1881188"/>
              <a:ext cx="2521234"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Claude Code · claude-opus-4.8 · max reasoning</a:t>
              </a:r>
            </a:p>
          </p:txBody>
        </p:sp>
      </p:grpSp>
      <p:grpSp>
        <p:nvGrpSpPr>
          <p:cNvPr id="22" name="Group 22"/>
          <p:cNvGrpSpPr/>
          <p:nvPr/>
        </p:nvGrpSpPr>
        <p:grpSpPr>
          <a:xfrm>
            <a:off x="8115300" y="1847850"/>
            <a:ext cx="3543300" cy="1962150"/>
            <a:chOff x="8115300" y="1847850"/>
            <a:chExt cx="3543300" cy="1962150"/>
          </a:xfrm>
        </p:grpSpPr>
        <p:sp>
          <p:nvSpPr>
            <p:cNvPr id="18" name="Rectangle 18"/>
            <p:cNvSpPr/>
            <p:nvPr/>
          </p:nvSpPr>
          <p:spPr>
            <a:xfrm>
              <a:off x="8115300" y="1847850"/>
              <a:ext cx="3543300" cy="1962150"/>
            </a:xfrm>
            <a:prstGeom prst="rect">
              <a:avLst/>
            </a:prstGeom>
            <a:solidFill>
              <a:schemeClr val="lt1"/>
            </a:solidFill>
            <a:ln w="7144">
              <a:solidFill>
                <a:schemeClr val="accent6"/>
              </a:solidFill>
            </a:ln>
          </p:spPr>
        </p:sp>
        <p:pic>
          <p:nvPicPr>
            <p:cNvPr id="19" name="Image 19"/>
            <p:cNvPicPr>
              <a:picLocks noChangeAspect="1"/>
            </p:cNvPicPr>
            <p:nvPr/>
          </p:nvPicPr>
          <p:blipFill>
            <a:blip r:embed="rId4"/>
            <a:stretch>
              <a:fillRect/>
            </a:stretch>
          </p:blipFill>
          <p:spPr>
            <a:xfrm>
              <a:off x="8347075" y="1905000"/>
              <a:ext cx="3079750" cy="1847850"/>
            </a:xfrm>
            <a:prstGeom prst="rect">
              <a:avLst/>
            </a:prstGeom>
          </p:spPr>
        </p:pic>
        <p:sp>
          <p:nvSpPr>
            <p:cNvPr id="20" name="Rectangle 20"/>
            <p:cNvSpPr/>
            <p:nvPr/>
          </p:nvSpPr>
          <p:spPr>
            <a:xfrm>
              <a:off x="8115300" y="1847850"/>
              <a:ext cx="3143250" cy="152400"/>
            </a:xfrm>
            <a:prstGeom prst="rect">
              <a:avLst/>
            </a:prstGeom>
            <a:solidFill>
              <a:schemeClr val="accent1"/>
            </a:solidFill>
            <a:ln>
              <a:noFill/>
            </a:ln>
          </p:spPr>
        </p:sp>
        <p:sp>
          <p:nvSpPr>
            <p:cNvPr id="21" name="TextBox 21"/>
            <p:cNvSpPr txBox="1"/>
            <p:nvPr/>
          </p:nvSpPr>
          <p:spPr>
            <a:xfrm>
              <a:off x="8148638" y="1881188"/>
              <a:ext cx="2537102"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Claude Code · claude-opus-4.8 · high reasoning</a:t>
              </a:r>
            </a:p>
          </p:txBody>
        </p:sp>
      </p:grpSp>
      <p:grpSp>
        <p:nvGrpSpPr>
          <p:cNvPr id="27" name="Group 27"/>
          <p:cNvGrpSpPr/>
          <p:nvPr/>
        </p:nvGrpSpPr>
        <p:grpSpPr>
          <a:xfrm>
            <a:off x="533400" y="4019550"/>
            <a:ext cx="3543300" cy="1962150"/>
            <a:chOff x="533400" y="4019550"/>
            <a:chExt cx="3543300" cy="1962150"/>
          </a:xfrm>
        </p:grpSpPr>
        <p:sp>
          <p:nvSpPr>
            <p:cNvPr id="23" name="Rectangle 23"/>
            <p:cNvSpPr/>
            <p:nvPr/>
          </p:nvSpPr>
          <p:spPr>
            <a:xfrm>
              <a:off x="533400" y="4019550"/>
              <a:ext cx="3543300" cy="1962150"/>
            </a:xfrm>
            <a:prstGeom prst="rect">
              <a:avLst/>
            </a:prstGeom>
            <a:solidFill>
              <a:schemeClr val="lt1"/>
            </a:solidFill>
            <a:ln w="7144">
              <a:solidFill>
                <a:schemeClr val="accent6"/>
              </a:solidFill>
            </a:ln>
          </p:spPr>
        </p:sp>
        <p:pic>
          <p:nvPicPr>
            <p:cNvPr id="24" name="Image 24"/>
            <p:cNvPicPr>
              <a:picLocks noChangeAspect="1"/>
            </p:cNvPicPr>
            <p:nvPr/>
          </p:nvPicPr>
          <p:blipFill>
            <a:blip r:embed="rId5"/>
            <a:stretch>
              <a:fillRect/>
            </a:stretch>
          </p:blipFill>
          <p:spPr>
            <a:xfrm>
              <a:off x="765175" y="4076700"/>
              <a:ext cx="3079750" cy="1847850"/>
            </a:xfrm>
            <a:prstGeom prst="rect">
              <a:avLst/>
            </a:prstGeom>
          </p:spPr>
        </p:pic>
        <p:sp>
          <p:nvSpPr>
            <p:cNvPr id="25" name="Rectangle 25"/>
            <p:cNvSpPr/>
            <p:nvPr/>
          </p:nvSpPr>
          <p:spPr>
            <a:xfrm>
              <a:off x="533400" y="4019550"/>
              <a:ext cx="2009775" cy="152400"/>
            </a:xfrm>
            <a:prstGeom prst="rect">
              <a:avLst/>
            </a:prstGeom>
            <a:solidFill>
              <a:schemeClr val="accent1"/>
            </a:solidFill>
            <a:ln>
              <a:noFill/>
            </a:ln>
          </p:spPr>
        </p:sp>
        <p:sp>
          <p:nvSpPr>
            <p:cNvPr id="26" name="TextBox 26"/>
            <p:cNvSpPr txBox="1"/>
            <p:nvPr/>
          </p:nvSpPr>
          <p:spPr>
            <a:xfrm>
              <a:off x="566738" y="4052888"/>
              <a:ext cx="1637345"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Claude Code · claude-opus-4.7</a:t>
              </a:r>
            </a:p>
          </p:txBody>
        </p:sp>
      </p:grpSp>
      <p:grpSp>
        <p:nvGrpSpPr>
          <p:cNvPr id="32" name="Group 32"/>
          <p:cNvGrpSpPr/>
          <p:nvPr/>
        </p:nvGrpSpPr>
        <p:grpSpPr>
          <a:xfrm>
            <a:off x="4324350" y="4019550"/>
            <a:ext cx="3543300" cy="1962150"/>
            <a:chOff x="4324350" y="4019550"/>
            <a:chExt cx="3543300" cy="1962150"/>
          </a:xfrm>
        </p:grpSpPr>
        <p:sp>
          <p:nvSpPr>
            <p:cNvPr id="28" name="Rectangle 28"/>
            <p:cNvSpPr/>
            <p:nvPr/>
          </p:nvSpPr>
          <p:spPr>
            <a:xfrm>
              <a:off x="4324350" y="4019550"/>
              <a:ext cx="3543300" cy="1962150"/>
            </a:xfrm>
            <a:prstGeom prst="rect">
              <a:avLst/>
            </a:prstGeom>
            <a:solidFill>
              <a:schemeClr val="lt1"/>
            </a:solidFill>
            <a:ln w="7144">
              <a:solidFill>
                <a:schemeClr val="accent6"/>
              </a:solidFill>
            </a:ln>
          </p:spPr>
        </p:sp>
        <p:pic>
          <p:nvPicPr>
            <p:cNvPr id="29" name="Image 29"/>
            <p:cNvPicPr>
              <a:picLocks noChangeAspect="1"/>
            </p:cNvPicPr>
            <p:nvPr/>
          </p:nvPicPr>
          <p:blipFill>
            <a:blip r:embed="rId6"/>
            <a:stretch>
              <a:fillRect/>
            </a:stretch>
          </p:blipFill>
          <p:spPr>
            <a:xfrm>
              <a:off x="4556125" y="4076700"/>
              <a:ext cx="3079750" cy="1847850"/>
            </a:xfrm>
            <a:prstGeom prst="rect">
              <a:avLst/>
            </a:prstGeom>
          </p:spPr>
        </p:pic>
        <p:sp>
          <p:nvSpPr>
            <p:cNvPr id="30" name="Rectangle 30"/>
            <p:cNvSpPr/>
            <p:nvPr/>
          </p:nvSpPr>
          <p:spPr>
            <a:xfrm>
              <a:off x="4324350" y="4019550"/>
              <a:ext cx="2009775" cy="152400"/>
            </a:xfrm>
            <a:prstGeom prst="rect">
              <a:avLst/>
            </a:prstGeom>
            <a:solidFill>
              <a:schemeClr val="accent1"/>
            </a:solidFill>
            <a:ln>
              <a:noFill/>
            </a:ln>
          </p:spPr>
        </p:sp>
        <p:sp>
          <p:nvSpPr>
            <p:cNvPr id="31" name="TextBox 31"/>
            <p:cNvSpPr txBox="1"/>
            <p:nvPr/>
          </p:nvSpPr>
          <p:spPr>
            <a:xfrm>
              <a:off x="4357688" y="4052888"/>
              <a:ext cx="1637345"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Claude Code · claude-opus-4.6</a:t>
              </a:r>
            </a:p>
          </p:txBody>
        </p:sp>
      </p:grpSp>
      <p:grpSp>
        <p:nvGrpSpPr>
          <p:cNvPr id="37" name="Group 37"/>
          <p:cNvGrpSpPr/>
          <p:nvPr/>
        </p:nvGrpSpPr>
        <p:grpSpPr>
          <a:xfrm>
            <a:off x="8115300" y="4019550"/>
            <a:ext cx="3543300" cy="1962150"/>
            <a:chOff x="8115300" y="4019550"/>
            <a:chExt cx="3543300" cy="1962150"/>
          </a:xfrm>
        </p:grpSpPr>
        <p:sp>
          <p:nvSpPr>
            <p:cNvPr id="33" name="Rectangle 33"/>
            <p:cNvSpPr/>
            <p:nvPr/>
          </p:nvSpPr>
          <p:spPr>
            <a:xfrm>
              <a:off x="8115300" y="4019550"/>
              <a:ext cx="3543300" cy="1962150"/>
            </a:xfrm>
            <a:prstGeom prst="rect">
              <a:avLst/>
            </a:prstGeom>
            <a:solidFill>
              <a:schemeClr val="lt1"/>
            </a:solidFill>
            <a:ln w="7144">
              <a:solidFill>
                <a:schemeClr val="accent6"/>
              </a:solidFill>
            </a:ln>
          </p:spPr>
        </p:sp>
        <p:pic>
          <p:nvPicPr>
            <p:cNvPr id="34" name="Image 34"/>
            <p:cNvPicPr>
              <a:picLocks noChangeAspect="1"/>
            </p:cNvPicPr>
            <p:nvPr/>
          </p:nvPicPr>
          <p:blipFill>
            <a:blip r:embed="rId7"/>
            <a:stretch>
              <a:fillRect/>
            </a:stretch>
          </p:blipFill>
          <p:spPr>
            <a:xfrm>
              <a:off x="8347075" y="4076700"/>
              <a:ext cx="3079750" cy="1847850"/>
            </a:xfrm>
            <a:prstGeom prst="rect">
              <a:avLst/>
            </a:prstGeom>
          </p:spPr>
        </p:pic>
        <p:sp>
          <p:nvSpPr>
            <p:cNvPr id="35" name="Rectangle 35"/>
            <p:cNvSpPr/>
            <p:nvPr/>
          </p:nvSpPr>
          <p:spPr>
            <a:xfrm>
              <a:off x="8115300" y="4019550"/>
              <a:ext cx="2209800" cy="152400"/>
            </a:xfrm>
            <a:prstGeom prst="rect">
              <a:avLst/>
            </a:prstGeom>
            <a:solidFill>
              <a:schemeClr val="accent1"/>
            </a:solidFill>
            <a:ln>
              <a:noFill/>
            </a:ln>
          </p:spPr>
        </p:sp>
        <p:sp>
          <p:nvSpPr>
            <p:cNvPr id="36" name="TextBox 36"/>
            <p:cNvSpPr txBox="1"/>
            <p:nvPr/>
          </p:nvSpPr>
          <p:spPr>
            <a:xfrm>
              <a:off x="8148638" y="4052888"/>
              <a:ext cx="1608329" cy="147638"/>
            </a:xfrm>
            <a:prstGeom prst="rect">
              <a:avLst/>
            </a:prstGeom>
            <a:noFill/>
            <a:ln>
              <a:noFill/>
            </a:ln>
          </p:spPr>
          <p:txBody>
            <a:bodyPr wrap="none" lIns="0" tIns="0" rIns="0" bIns="0" anchor="t" anchorCtr="0">
              <a:spAutoFit/>
            </a:bodyPr>
            <a:lstStyle/>
            <a:p>
              <a:pPr algn="l"/>
              <a:r>
                <a:rPr lang="en-US" sz="750" b="1" spc="38" dirty="0">
                  <a:solidFill>
                    <a:srgbClr val="FFFFFF"/>
                  </a:solidFill>
                  <a:latin typeface="+mn-lt"/>
                  <a:ea typeface="+mn-ea"/>
                  <a:cs typeface="+mn-cs"/>
                </a:rPr>
                <a:t>Codex · gpt-5.5 · default effort</a:t>
              </a:r>
            </a:p>
          </p:txBody>
        </p:sp>
      </p:grpSp>
      <p:grpSp>
        <p:nvGrpSpPr>
          <p:cNvPr id="40" name="Group 40"/>
          <p:cNvGrpSpPr/>
          <p:nvPr/>
        </p:nvGrpSpPr>
        <p:grpSpPr>
          <a:xfrm>
            <a:off x="528638" y="6415088"/>
            <a:ext cx="11134724" cy="147638"/>
            <a:chOff x="528638" y="6415088"/>
            <a:chExt cx="11134724" cy="147638"/>
          </a:xfrm>
        </p:grpSpPr>
        <p:sp>
          <p:nvSpPr>
            <p:cNvPr id="38" name="TextBox 38"/>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39" name="TextBox 39"/>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300"/>
                                        <p:tgtEl>
                                          <p:spTgt spid="12"/>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00"/>
                                        <p:tgtEl>
                                          <p:spTgt spid="17"/>
                                        </p:tgtEl>
                                      </p:cBhvr>
                                    </p:animEffect>
                                  </p:childTnLst>
                                </p:cTn>
                              </p:par>
                            </p:childTnLst>
                          </p:cTn>
                        </p:par>
                        <p:par>
                          <p:cTn id="20" fill="hold">
                            <p:stCondLst>
                              <p:cond delay="28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300"/>
                                        <p:tgtEl>
                                          <p:spTgt spid="22"/>
                                        </p:tgtEl>
                                      </p:cBhvr>
                                    </p:animEffect>
                                  </p:childTnLst>
                                </p:cTn>
                              </p:par>
                            </p:childTnLst>
                          </p:cTn>
                        </p:par>
                        <p:par>
                          <p:cTn id="24" fill="hold">
                            <p:stCondLst>
                              <p:cond delay="36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00"/>
                                        <p:tgtEl>
                                          <p:spTgt spid="27"/>
                                        </p:tgtEl>
                                      </p:cBhvr>
                                    </p:animEffect>
                                  </p:childTnLst>
                                </p:cTn>
                              </p:par>
                            </p:childTnLst>
                          </p:cTn>
                        </p:par>
                        <p:par>
                          <p:cTn id="28" fill="hold">
                            <p:stCondLst>
                              <p:cond delay="44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300"/>
                                        <p:tgtEl>
                                          <p:spTgt spid="32"/>
                                        </p:tgtEl>
                                      </p:cBhvr>
                                    </p:animEffect>
                                  </p:childTnLst>
                                </p:cTn>
                              </p:par>
                            </p:childTnLst>
                          </p:cTn>
                        </p:par>
                        <p:par>
                          <p:cTn id="32" fill="hold">
                            <p:stCondLst>
                              <p:cond delay="52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025217" y="321945"/>
            <a:ext cx="2638146"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§3 OPERATIONAL PROFILE · TABLE 4</a:t>
            </a:r>
          </a:p>
        </p:txBody>
      </p:sp>
      <p:grpSp>
        <p:nvGrpSpPr>
          <p:cNvPr id="4" name="Group 4"/>
          <p:cNvGrpSpPr/>
          <p:nvPr/>
        </p:nvGrpSpPr>
        <p:grpSpPr>
          <a:xfrm>
            <a:off x="522732" y="573405"/>
            <a:ext cx="10038481" cy="734568"/>
            <a:chOff x="522732" y="573405"/>
            <a:chExt cx="10038481" cy="734568"/>
          </a:xfrm>
        </p:grpSpPr>
        <p:sp>
          <p:nvSpPr>
            <p:cNvPr id="3" name="TextBox 3"/>
            <p:cNvSpPr txBox="1"/>
            <p:nvPr/>
          </p:nvSpPr>
          <p:spPr>
            <a:xfrm>
              <a:off x="522732" y="573405"/>
              <a:ext cx="10038481"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A full four-artifact bundle takes about 89 minutes of stage time and 2.6M input /</a:t>
              </a:r>
              <a:br/>
              <a:r>
                <a:rPr lang="en-US" sz="2100" b="1" dirty="0">
                  <a:solidFill>
                    <a:schemeClr val="accent1"/>
                  </a:solidFill>
                  <a:latin typeface="+mn-lt"/>
                  <a:ea typeface="+mn-ea"/>
                  <a:cs typeface="+mn-cs"/>
                </a:rPr>
                <a:t>276K output tokens per paper</a:t>
              </a:r>
            </a:p>
          </p:txBody>
        </p:sp>
      </p:grpSp>
      <p:grpSp>
        <p:nvGrpSpPr>
          <p:cNvPr id="6" name="Group 6"/>
          <p:cNvGrpSpPr/>
          <p:nvPr/>
        </p:nvGrpSpPr>
        <p:grpSpPr>
          <a:xfrm>
            <a:off x="526542" y="1302068"/>
            <a:ext cx="9566790" cy="264033"/>
            <a:chOff x="526542" y="1302068"/>
            <a:chExt cx="9566790" cy="264033"/>
          </a:xfrm>
        </p:grpSpPr>
        <p:sp>
          <p:nvSpPr>
            <p:cNvPr id="5" name="TextBox 5"/>
            <p:cNvSpPr txBox="1"/>
            <p:nvPr/>
          </p:nvSpPr>
          <p:spPr>
            <a:xfrm>
              <a:off x="526542" y="1302068"/>
              <a:ext cx="956679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Table 4: per-stage time and tokens, mean over 5 papers on claude-opus-4-8; each skill runs as an isolated subprocess</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0" name="minutes-by-skill"/>
          <p:cNvGrpSpPr/>
          <p:nvPr/>
        </p:nvGrpSpPr>
        <p:grpSpPr>
          <a:xfrm>
            <a:off x="533400" y="1847850"/>
            <a:ext cx="5905500" cy="2247900"/>
            <a:chOff x="533400" y="1847850"/>
            <a:chExt cx="5905500" cy="2247900"/>
          </a:xfrm>
        </p:grpSpPr>
        <p:graphicFrame>
          <p:nvGraphicFramePr>
            <p:cNvPr id="8" name="minutes-by-skill"/>
            <p:cNvGraphicFramePr>
              <a:graphicFrameLocks noGrp="1"/>
            </p:cNvGraphicFramePr>
            <p:nvPr/>
          </p:nvGraphicFramePr>
          <p:xfrm>
            <a:off x="533400" y="1847850"/>
            <a:ext cx="5905500" cy="2247900"/>
          </p:xfrm>
          <a:graphic>
            <a:graphicData uri="http://schemas.openxmlformats.org/drawingml/2006/chart">
              <c:chart xmlns:c="http://schemas.openxmlformats.org/drawingml/2006/chart" r:id="rId2"/>
            </a:graphicData>
          </a:graphic>
        </p:graphicFrame>
        <p:sp>
          <p:nvSpPr>
            <p:cNvPr id="9" name="Chart Note 9"/>
            <p:cNvSpPr txBox="1"/>
            <p:nvPr/>
          </p:nvSpPr>
          <p:spPr>
            <a:xfrm>
              <a:off x="1676400" y="1859661"/>
              <a:ext cx="2371725" cy="166624"/>
            </a:xfrm>
            <a:prstGeom prst="rect">
              <a:avLst/>
            </a:prstGeom>
            <a:noFill/>
            <a:ln>
              <a:noFill/>
            </a:ln>
          </p:spPr>
          <p:txBody>
            <a:bodyPr wrap="square" lIns="0" tIns="0" rIns="0" bIns="0" anchor="b" anchorCtr="0"/>
            <a:lstStyle/>
            <a:p>
              <a:pPr algn="l"/>
              <a:r>
                <a:rPr lang="en-US" sz="820">
                  <a:solidFill>
                    <a:srgbClr val="6B7684"/>
                  </a:solidFill>
                  <a:latin typeface="Arial"/>
                  <a:ea typeface="Microsoft YaHei"/>
                  <a:cs typeface="Arial"/>
                </a:rPr>
                <a:t>Wall-clock minutes per skill subtotal (sum 89.2)</a:t>
              </a:r>
            </a:p>
          </p:txBody>
        </p:sp>
      </p:grpSp>
      <p:graphicFrame>
        <p:nvGraphicFramePr>
          <p:cNvPr id="11" name="heaviest-stages"/>
          <p:cNvGraphicFramePr>
            <a:graphicFrameLocks noGrp="1"/>
          </p:cNvGraphicFramePr>
          <p:nvPr/>
        </p:nvGraphicFramePr>
        <p:xfrm>
          <a:off x="6819900" y="1847850"/>
          <a:ext cx="4838700" cy="1905000"/>
        </p:xfrm>
        <a:graphic>
          <a:graphicData uri="http://schemas.openxmlformats.org/drawingml/2006/table">
            <a:tbl>
              <a:tblPr firstRow="1" bandRow="0">
                <a:tableStyleId>{5C22544A-7EE6-4342-B048-85BDC9FD1C3A}</a:tableStyleId>
              </a:tblPr>
              <a:tblGrid>
                <a:gridCol w="1181100"/>
                <a:gridCol w="1619250"/>
                <a:gridCol w="666750"/>
                <a:gridCol w="1371600"/>
              </a:tblGrid>
              <a:tr h="285750">
                <a:tc>
                  <a:txBody>
                    <a:bodyPr/>
                    <a:lstStyle/>
                    <a:p>
                      <a:pPr/>
                      <a:r>
                        <a:rPr lang="en-US" sz="820" b="1">
                          <a:solidFill>
                            <a:schemeClr val="accent1"/>
                          </a:solidFill>
                          <a:latin typeface="Arial"/>
                          <a:ea typeface="Microsoft YaHei"/>
                          <a:cs typeface="Arial"/>
                        </a:rPr>
                        <a:t>Skill</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820" b="1">
                          <a:solidFill>
                            <a:schemeClr val="accent1"/>
                          </a:solidFill>
                          <a:latin typeface="Arial"/>
                          <a:ea typeface="Microsoft YaHei"/>
                          <a:cs typeface="Arial"/>
                        </a:rPr>
                        <a:t>Heaviest stage</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lgn="r"/>
                      <a:r>
                        <a:rPr lang="en-US" sz="820" b="1">
                          <a:solidFill>
                            <a:schemeClr val="accent1"/>
                          </a:solidFill>
                          <a:latin typeface="Arial"/>
                          <a:ea typeface="Microsoft YaHei"/>
                          <a:cs typeface="Arial"/>
                        </a:rPr>
                        <a:t>Minutes</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820" b="1">
                          <a:solidFill>
                            <a:schemeClr val="accent1"/>
                          </a:solidFill>
                          <a:latin typeface="Arial"/>
                          <a:ea typeface="Microsoft YaHei"/>
                          <a:cs typeface="Arial"/>
                        </a:rPr>
                        <a:t>Token share</a:t>
                      </a:r>
                    </a:p>
                  </a:txBody>
                  <a:tcPr anchor="ctr" marL="76200" marR="76200" marT="19050" marB="19050">
                    <a:lnL>
                      <a:noFill/>
                    </a:lnL>
                    <a:lnR>
                      <a:noFill/>
                    </a:lnR>
                    <a:lnT>
                      <a:noFill/>
                    </a:lnT>
                    <a:lnB w="9525">
                      <a:solidFill>
                        <a:schemeClr val="accent1"/>
                      </a:solidFill>
                      <a:prstDash val="solid"/>
                    </a:lnB>
                    <a:solidFill>
                      <a:schemeClr val="lt2"/>
                    </a:solidFill>
                  </a:tcPr>
                </a:tc>
              </a:tr>
              <a:tr h="323850">
                <a:tc>
                  <a:txBody>
                    <a:bodyPr/>
                    <a:lstStyle/>
                    <a:p>
                      <a:pPr/>
                      <a:r>
                        <a:rPr lang="en-US" sz="900" b="0">
                          <a:solidFill>
                            <a:schemeClr val="dk1"/>
                          </a:solidFill>
                          <a:latin typeface="Arial"/>
                          <a:ea typeface="Microsoft YaHei"/>
                          <a:cs typeface="Arial"/>
                        </a:rPr>
                        <a:t>Paper2Assets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1">
                          <a:solidFill>
                            <a:schemeClr val="dk1"/>
                          </a:solidFill>
                          <a:latin typeface="Arial"/>
                          <a:ea typeface="Microsoft YaHei"/>
                          <a:cs typeface="Arial"/>
                        </a:rPr>
                        <a:t>extract &amp; figures</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8.6</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0">
                          <a:solidFill>
                            <a:schemeClr val="dk1"/>
                          </a:solidFill>
                          <a:latin typeface="Arial"/>
                          <a:ea typeface="Microsoft YaHei"/>
                          <a:cs typeface="Arial"/>
                        </a:rPr>
                        <a:t>18% of input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23850">
                <a:tc>
                  <a:txBody>
                    <a:bodyPr/>
                    <a:lstStyle/>
                    <a:p>
                      <a:pPr/>
                      <a:r>
                        <a:rPr lang="en-US" sz="900" b="0">
                          <a:solidFill>
                            <a:schemeClr val="dk1"/>
                          </a:solidFill>
                          <a:latin typeface="Arial"/>
                          <a:ea typeface="Microsoft YaHei"/>
                          <a:cs typeface="Arial"/>
                        </a:rPr>
                        <a:t>Paper2Poster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1">
                          <a:solidFill>
                            <a:schemeClr val="dk1"/>
                          </a:solidFill>
                          <a:latin typeface="Arial"/>
                          <a:ea typeface="Microsoft YaHei"/>
                          <a:cs typeface="Arial"/>
                        </a:rPr>
                        <a:t>fill loop</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14.8</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0">
                          <a:solidFill>
                            <a:schemeClr val="dk1"/>
                          </a:solidFill>
                          <a:latin typeface="Arial"/>
                          <a:ea typeface="Microsoft YaHei"/>
                          <a:cs typeface="Arial"/>
                        </a:rPr>
                        <a:t>18% of output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23850">
                <a:tc>
                  <a:txBody>
                    <a:bodyPr/>
                    <a:lstStyle/>
                    <a:p>
                      <a:pPr/>
                      <a:r>
                        <a:rPr lang="en-US" sz="900" b="0">
                          <a:solidFill>
                            <a:schemeClr val="dk1"/>
                          </a:solidFill>
                          <a:latin typeface="Arial"/>
                          <a:ea typeface="Microsoft YaHei"/>
                          <a:cs typeface="Arial"/>
                        </a:rPr>
                        <a:t>Paper2Video</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1">
                          <a:solidFill>
                            <a:schemeClr val="dk1"/>
                          </a:solidFill>
                          <a:latin typeface="Arial"/>
                          <a:ea typeface="Microsoft YaHei"/>
                          <a:cs typeface="Arial"/>
                        </a:rPr>
                        <a:t>render &amp; mux</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9.2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0">
                          <a:solidFill>
                            <a:schemeClr val="dk1"/>
                          </a:solidFill>
                          <a:latin typeface="Arial"/>
                          <a:ea typeface="Microsoft YaHei"/>
                          <a:cs typeface="Arial"/>
                        </a:rPr>
                        <a:t>6% of output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23850">
                <a:tc>
                  <a:txBody>
                    <a:bodyPr/>
                    <a:lstStyle/>
                    <a:p>
                      <a:pPr/>
                      <a:r>
                        <a:rPr lang="en-US" sz="900" b="0">
                          <a:solidFill>
                            <a:schemeClr val="dk1"/>
                          </a:solidFill>
                          <a:latin typeface="Arial"/>
                          <a:ea typeface="Microsoft YaHei"/>
                          <a:cs typeface="Arial"/>
                        </a:rPr>
                        <a:t>Paper2Blog</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1">
                          <a:solidFill>
                            <a:schemeClr val="dk1"/>
                          </a:solidFill>
                          <a:latin typeface="Arial"/>
                          <a:ea typeface="Microsoft YaHei"/>
                          <a:cs typeface="Arial"/>
                        </a:rPr>
                        <a:t>QA gate &amp; revision</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10.0</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0">
                          <a:solidFill>
                            <a:schemeClr val="dk1"/>
                          </a:solidFill>
                          <a:latin typeface="Arial"/>
                          <a:ea typeface="Microsoft YaHei"/>
                          <a:cs typeface="Arial"/>
                        </a:rPr>
                        <a:t>17% of output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23850">
                <a:tc>
                  <a:txBody>
                    <a:bodyPr/>
                    <a:lstStyle/>
                    <a:p>
                      <a:pPr/>
                      <a:r>
                        <a:rPr lang="en-US" sz="900" b="0">
                          <a:solidFill>
                            <a:schemeClr val="dk1"/>
                          </a:solidFill>
                          <a:latin typeface="Arial"/>
                          <a:ea typeface="Microsoft YaHei"/>
                          <a:cs typeface="Arial"/>
                        </a:rPr>
                        <a:t>Paper2Reel</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1">
                          <a:solidFill>
                            <a:schemeClr val="dk1"/>
                          </a:solidFill>
                          <a:latin typeface="Arial"/>
                          <a:ea typeface="Microsoft YaHei"/>
                          <a:cs typeface="Arial"/>
                        </a:rPr>
                        <a:t>QA gate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r"/>
                      <a:r>
                        <a:rPr lang="en-US" sz="900" b="0">
                          <a:solidFill>
                            <a:schemeClr val="dk1"/>
                          </a:solidFill>
                          <a:latin typeface="Arial"/>
                          <a:ea typeface="Microsoft YaHei"/>
                          <a:cs typeface="Arial"/>
                        </a:rPr>
                        <a:t>6.2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r>
                        <a:rPr lang="en-US" sz="900" b="0">
                          <a:solidFill>
                            <a:schemeClr val="dk1"/>
                          </a:solidFill>
                          <a:latin typeface="Arial"/>
                          <a:ea typeface="Microsoft YaHei"/>
                          <a:cs typeface="Arial"/>
                        </a:rPr>
                        <a:t>8% of output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13" name="Group 13"/>
          <p:cNvGrpSpPr/>
          <p:nvPr/>
        </p:nvGrpSpPr>
        <p:grpSpPr>
          <a:xfrm>
            <a:off x="6815138" y="3930491"/>
            <a:ext cx="4449430" cy="428625"/>
            <a:chOff x="6815138" y="3930491"/>
            <a:chExt cx="4449430" cy="428625"/>
          </a:xfrm>
        </p:grpSpPr>
        <p:sp>
          <p:nvSpPr>
            <p:cNvPr id="12" name="TextBox 12"/>
            <p:cNvSpPr txBox="1"/>
            <p:nvPr/>
          </p:nvSpPr>
          <p:spPr>
            <a:xfrm>
              <a:off x="6815138" y="3930491"/>
              <a:ext cx="4449430"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accent5"/>
                  </a:solidFill>
                  <a:latin typeface="+mn-lt"/>
                  <a:ea typeface="+mn-ea"/>
                  <a:cs typeface="+mn-cs"/>
                </a:rPr>
                <a:t>Input = distinct content tokens (fresh plus cache writes); Cache = cached-context re-reads, billed</a:t>
              </a:r>
              <a:br/>
              <a:r>
                <a:rPr lang="en-US" sz="820" dirty="0">
                  <a:solidFill>
                    <a:schemeClr val="accent5"/>
                  </a:solidFill>
                  <a:latin typeface="+mn-lt"/>
                  <a:ea typeface="+mn-ea"/>
                  <a:cs typeface="+mn-cs"/>
                </a:rPr>
                <a:t>at about 10% of fresh input; Output = prorated generated tokens. Bars in the paper give each</a:t>
              </a:r>
              <a:br/>
              <a:r>
                <a:rPr lang="en-US" sz="820" dirty="0">
                  <a:solidFill>
                    <a:schemeClr val="accent5"/>
                  </a:solidFill>
                  <a:latin typeface="+mn-lt"/>
                  <a:ea typeface="+mn-ea"/>
                  <a:cs typeface="+mn-cs"/>
                </a:rPr>
                <a:t>stage's share of the pipeline total.</a:t>
              </a:r>
            </a:p>
          </p:txBody>
        </p:sp>
      </p:grpSp>
      <p:grpSp>
        <p:nvGrpSpPr>
          <p:cNvPr id="26" name="Group 26"/>
          <p:cNvGrpSpPr/>
          <p:nvPr/>
        </p:nvGrpSpPr>
        <p:grpSpPr>
          <a:xfrm>
            <a:off x="523494" y="4360545"/>
            <a:ext cx="11135106" cy="741521"/>
            <a:chOff x="523494" y="4360545"/>
            <a:chExt cx="11135106" cy="741521"/>
          </a:xfrm>
        </p:grpSpPr>
        <p:sp>
          <p:nvSpPr>
            <p:cNvPr id="14" name="TextBox 14"/>
            <p:cNvSpPr txBox="1"/>
            <p:nvPr/>
          </p:nvSpPr>
          <p:spPr>
            <a:xfrm>
              <a:off x="528638" y="4360545"/>
              <a:ext cx="2200246"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FULL PIPELINE PER PAPER</a:t>
              </a:r>
            </a:p>
          </p:txBody>
        </p:sp>
        <p:sp>
          <p:nvSpPr>
            <p:cNvPr id="15" name="Line 15"/>
            <p:cNvSpPr/>
            <p:nvPr/>
          </p:nvSpPr>
          <p:spPr>
            <a:xfrm>
              <a:off x="533400" y="4533900"/>
              <a:ext cx="11125200" cy="9525"/>
            </a:xfrm>
            <a:custGeom>
              <a:avLst/>
              <a:gdLst/>
              <a:ahLst/>
              <a:cxnLst/>
              <a:rect l="l" t="t" r="r" b="b"/>
              <a:pathLst>
                <a:path w="11125200" h="9525">
                  <a:moveTo>
                    <a:pt x="0" y="0"/>
                  </a:moveTo>
                  <a:lnTo>
                    <a:pt x="11125200" y="0"/>
                  </a:lnTo>
                </a:path>
              </a:pathLst>
            </a:custGeom>
            <a:noFill/>
            <a:ln w="9525">
              <a:solidFill>
                <a:schemeClr val="accent1"/>
              </a:solidFill>
            </a:ln>
          </p:spPr>
        </p:sp>
        <p:sp>
          <p:nvSpPr>
            <p:cNvPr id="16" name="TextBox 16"/>
            <p:cNvSpPr txBox="1"/>
            <p:nvPr/>
          </p:nvSpPr>
          <p:spPr>
            <a:xfrm>
              <a:off x="523494" y="4647248"/>
              <a:ext cx="530760"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89.2</a:t>
              </a:r>
            </a:p>
          </p:txBody>
        </p:sp>
        <p:sp>
          <p:nvSpPr>
            <p:cNvPr id="17" name="TextBox 17"/>
            <p:cNvSpPr txBox="1"/>
            <p:nvPr/>
          </p:nvSpPr>
          <p:spPr>
            <a:xfrm>
              <a:off x="528638" y="4940141"/>
              <a:ext cx="1181298"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min summed stage time</a:t>
              </a:r>
            </a:p>
          </p:txBody>
        </p:sp>
        <p:sp>
          <p:nvSpPr>
            <p:cNvPr id="18" name="TextBox 18"/>
            <p:cNvSpPr txBox="1"/>
            <p:nvPr/>
          </p:nvSpPr>
          <p:spPr>
            <a:xfrm>
              <a:off x="2748534" y="4647248"/>
              <a:ext cx="45783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675</a:t>
              </a:r>
            </a:p>
          </p:txBody>
        </p:sp>
        <p:sp>
          <p:nvSpPr>
            <p:cNvPr id="19" name="TextBox 19"/>
            <p:cNvSpPr txBox="1"/>
            <p:nvPr/>
          </p:nvSpPr>
          <p:spPr>
            <a:xfrm>
              <a:off x="2753678" y="4940141"/>
              <a:ext cx="254940"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turns</a:t>
              </a:r>
            </a:p>
          </p:txBody>
        </p:sp>
        <p:sp>
          <p:nvSpPr>
            <p:cNvPr id="20" name="TextBox 20"/>
            <p:cNvSpPr txBox="1"/>
            <p:nvPr/>
          </p:nvSpPr>
          <p:spPr>
            <a:xfrm>
              <a:off x="4973574" y="4647248"/>
              <a:ext cx="914268"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2,568K</a:t>
              </a:r>
            </a:p>
          </p:txBody>
        </p:sp>
        <p:sp>
          <p:nvSpPr>
            <p:cNvPr id="21" name="TextBox 21"/>
            <p:cNvSpPr txBox="1"/>
            <p:nvPr/>
          </p:nvSpPr>
          <p:spPr>
            <a:xfrm>
              <a:off x="4978718" y="4940141"/>
              <a:ext cx="604828"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input tokens</a:t>
              </a:r>
            </a:p>
          </p:txBody>
        </p:sp>
        <p:sp>
          <p:nvSpPr>
            <p:cNvPr id="22" name="TextBox 22"/>
            <p:cNvSpPr txBox="1"/>
            <p:nvPr/>
          </p:nvSpPr>
          <p:spPr>
            <a:xfrm>
              <a:off x="7198614" y="4647248"/>
              <a:ext cx="1222812"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108,546K</a:t>
              </a:r>
            </a:p>
          </p:txBody>
        </p:sp>
        <p:sp>
          <p:nvSpPr>
            <p:cNvPr id="23" name="TextBox 23"/>
            <p:cNvSpPr txBox="1"/>
            <p:nvPr/>
          </p:nvSpPr>
          <p:spPr>
            <a:xfrm>
              <a:off x="7203758" y="4940141"/>
              <a:ext cx="1595652"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cached re-reads (~10% of fresh)</a:t>
              </a:r>
            </a:p>
          </p:txBody>
        </p:sp>
        <p:sp>
          <p:nvSpPr>
            <p:cNvPr id="24" name="TextBox 24"/>
            <p:cNvSpPr txBox="1"/>
            <p:nvPr/>
          </p:nvSpPr>
          <p:spPr>
            <a:xfrm>
              <a:off x="9423654" y="4647248"/>
              <a:ext cx="68294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276K</a:t>
              </a:r>
            </a:p>
          </p:txBody>
        </p:sp>
        <p:sp>
          <p:nvSpPr>
            <p:cNvPr id="25" name="TextBox 25"/>
            <p:cNvSpPr txBox="1"/>
            <p:nvPr/>
          </p:nvSpPr>
          <p:spPr>
            <a:xfrm>
              <a:off x="9428798" y="4940141"/>
              <a:ext cx="67236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output tokens</a:t>
              </a:r>
            </a:p>
          </p:txBody>
        </p:sp>
      </p:grpSp>
      <p:grpSp>
        <p:nvGrpSpPr>
          <p:cNvPr id="31" name="Group 31"/>
          <p:cNvGrpSpPr/>
          <p:nvPr/>
        </p:nvGrpSpPr>
        <p:grpSpPr>
          <a:xfrm>
            <a:off x="542925" y="5187791"/>
            <a:ext cx="10292363" cy="600075"/>
            <a:chOff x="542925" y="5187791"/>
            <a:chExt cx="10292363" cy="600075"/>
          </a:xfrm>
        </p:grpSpPr>
        <p:sp>
          <p:nvSpPr>
            <p:cNvPr id="27" name="Ellipse 27"/>
            <p:cNvSpPr/>
            <p:nvPr/>
          </p:nvSpPr>
          <p:spPr>
            <a:xfrm>
              <a:off x="542925" y="5214938"/>
              <a:ext cx="57150" cy="57150"/>
            </a:xfrm>
            <a:prstGeom prst="ellipse">
              <a:avLst/>
            </a:prstGeom>
            <a:solidFill>
              <a:schemeClr val="accent2"/>
            </a:solidFill>
            <a:ln>
              <a:noFill/>
            </a:ln>
          </p:spPr>
        </p:sp>
        <p:sp>
          <p:nvSpPr>
            <p:cNvPr id="28" name="TextBox 28"/>
            <p:cNvSpPr txBox="1"/>
            <p:nvPr/>
          </p:nvSpPr>
          <p:spPr>
            <a:xfrm>
              <a:off x="681038" y="5187791"/>
              <a:ext cx="10154250"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Paper2Poster and Paper2Video carry the largest generator subtotals: the measured-fill loop is Paper2Poster's longest stage; Paper2Video spends most of its time across deck construction, rendering and muxing, and QA.</a:t>
              </a:r>
              <a:br/>
              <a:r>
                <a:rPr lang="en-US" sz="820" dirty="0">
                  <a:solidFill>
                    <a:schemeClr val="dk1"/>
                  </a:solidFill>
                  <a:latin typeface="+mn-lt"/>
                  <a:ea typeface="+mn-ea"/>
                  <a:cs typeface="+mn-cs"/>
                </a:rPr>
                <a:t>Paper2Blog is driven by its bilingual revision gate; Paper2Reel has the smallest subtotal.</a:t>
              </a:r>
            </a:p>
          </p:txBody>
        </p:sp>
        <p:sp>
          <p:nvSpPr>
            <p:cNvPr id="29" name="Ellipse 29"/>
            <p:cNvSpPr/>
            <p:nvPr/>
          </p:nvSpPr>
          <p:spPr>
            <a:xfrm>
              <a:off x="542925" y="5519738"/>
              <a:ext cx="57150" cy="57150"/>
            </a:xfrm>
            <a:prstGeom prst="ellipse">
              <a:avLst/>
            </a:prstGeom>
            <a:solidFill>
              <a:schemeClr val="accent2"/>
            </a:solidFill>
            <a:ln>
              <a:noFill/>
            </a:ln>
          </p:spPr>
        </p:sp>
        <p:sp>
          <p:nvSpPr>
            <p:cNvPr id="30" name="TextBox 30"/>
            <p:cNvSpPr txBox="1"/>
            <p:nvPr/>
          </p:nvSpPr>
          <p:spPr>
            <a:xfrm>
              <a:off x="681038" y="5492591"/>
              <a:ext cx="10026866" cy="2952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Running the three generators in parallel reduces elapsed wall-clock time; each skill's one-time context load (reading the paper and its figures) is folded into its first stage. When the LaTeX source is available the pipeline</a:t>
              </a:r>
              <a:br/>
              <a:r>
                <a:rPr lang="en-US" sz="820" dirty="0">
                  <a:solidFill>
                    <a:schemeClr val="dk1"/>
                  </a:solidFill>
                  <a:latin typeface="+mn-lt"/>
                  <a:ea typeface="+mn-ea"/>
                  <a:cs typeface="+mn-cs"/>
                </a:rPr>
                <a:t>can read original figure files and captions instead of the PDF path.</a:t>
              </a:r>
            </a:p>
          </p:txBody>
        </p:sp>
      </p:grpSp>
      <p:grpSp>
        <p:nvGrpSpPr>
          <p:cNvPr id="34" name="Group 34"/>
          <p:cNvGrpSpPr/>
          <p:nvPr/>
        </p:nvGrpSpPr>
        <p:grpSpPr>
          <a:xfrm>
            <a:off x="528638" y="6415088"/>
            <a:ext cx="11134724" cy="147638"/>
            <a:chOff x="528638" y="6415088"/>
            <a:chExt cx="11134724" cy="147638"/>
          </a:xfrm>
        </p:grpSpPr>
        <p:sp>
          <p:nvSpPr>
            <p:cNvPr id="32" name="TextBox 32"/>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33" name="TextBox 33"/>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800"/>
                                        <p:tgtEl>
                                          <p:spTgt spid="10"/>
                                        </p:tgtEl>
                                      </p:cBhvr>
                                    </p:animEffect>
                                  </p:childTnLst>
                                </p:cTn>
                              </p:par>
                            </p:childTnLst>
                          </p:cTn>
                        </p:par>
                        <p:par>
                          <p:cTn id="16" fill="hold">
                            <p:stCondLst>
                              <p:cond delay="2500"/>
                            </p:stCondLst>
                            <p:childTnLst>
                              <p:par>
                                <p:cTn xmlns:p="http://schemas.openxmlformats.org/presentationml/2006/main" id="17" presetID="22" presetClass="entr" presetSubtype="4" fill="hold" grpId="0" nodeType="after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600"/>
                                        <p:tgtEl>
                                          <p:spTgt spid="11"/>
                                        </p:tgtEl>
                                      </p:cBhvr>
                                    </p:animEffect>
                                  </p:childTnLst>
                                </p:cTn>
                              </p:par>
                            </p:childTnLst>
                          </p:cTn>
                        </p:par>
                        <p:par>
                          <p:cTn id="20" fill="hold">
                            <p:stCondLst>
                              <p:cond delay="36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par>
                          <p:cTn id="24" fill="hold">
                            <p:stCondLst>
                              <p:cond delay="46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8335100" y="321945"/>
            <a:ext cx="3328263"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§3 CAPABILITY COVERAGE · §4 APPLICATIONS</a:t>
            </a:r>
          </a:p>
        </p:txBody>
      </p:sp>
      <p:grpSp>
        <p:nvGrpSpPr>
          <p:cNvPr id="4" name="Group 4"/>
          <p:cNvGrpSpPr/>
          <p:nvPr/>
        </p:nvGrpSpPr>
        <p:grpSpPr>
          <a:xfrm>
            <a:off x="522732" y="573405"/>
            <a:ext cx="8572218" cy="734568"/>
            <a:chOff x="522732" y="573405"/>
            <a:chExt cx="8572218" cy="734568"/>
          </a:xfrm>
        </p:grpSpPr>
        <p:sp>
          <p:nvSpPr>
            <p:cNvPr id="3" name="TextBox 3"/>
            <p:cNvSpPr txBox="1"/>
            <p:nvPr/>
          </p:nvSpPr>
          <p:spPr>
            <a:xfrm>
              <a:off x="522732" y="573405"/>
              <a:ext cx="8572218"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Three contexts span the dissemination spectrum on one pipeline: a</a:t>
              </a:r>
              <a:br/>
              <a:r>
                <a:rPr lang="en-US" sz="2100" b="1" dirty="0">
                  <a:solidFill>
                    <a:schemeClr val="accent1"/>
                  </a:solidFill>
                  <a:latin typeface="+mn-lt"/>
                  <a:ea typeface="+mn-ea"/>
                  <a:cs typeface="+mn-cs"/>
                </a:rPr>
                <a:t>camera-ready week, a lab's intake, a course's weekly packs</a:t>
              </a:r>
            </a:p>
          </p:txBody>
        </p:sp>
      </p:grpSp>
      <p:grpSp>
        <p:nvGrpSpPr>
          <p:cNvPr id="6" name="Group 6"/>
          <p:cNvGrpSpPr/>
          <p:nvPr/>
        </p:nvGrpSpPr>
        <p:grpSpPr>
          <a:xfrm>
            <a:off x="526542" y="1302068"/>
            <a:ext cx="9380120" cy="264033"/>
            <a:chOff x="526542" y="1302068"/>
            <a:chExt cx="9380120" cy="264033"/>
          </a:xfrm>
        </p:grpSpPr>
        <p:sp>
          <p:nvSpPr>
            <p:cNvPr id="5" name="TextBox 5"/>
            <p:cNvSpPr txBox="1"/>
            <p:nvPr/>
          </p:nvSpPr>
          <p:spPr>
            <a:xfrm>
              <a:off x="526542" y="1302068"/>
              <a:ext cx="938012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Who runs it, which artifacts they lean on, what they revise; Tables 2–3 audit what the video and blog generators emit</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23" name="Group 23"/>
          <p:cNvGrpSpPr/>
          <p:nvPr/>
        </p:nvGrpSpPr>
        <p:grpSpPr>
          <a:xfrm>
            <a:off x="528638" y="1847850"/>
            <a:ext cx="3509962" cy="2463641"/>
            <a:chOff x="528638" y="1847850"/>
            <a:chExt cx="3509962" cy="2463641"/>
          </a:xfrm>
        </p:grpSpPr>
        <p:sp>
          <p:nvSpPr>
            <p:cNvPr id="8" name="Rectangle 8"/>
            <p:cNvSpPr/>
            <p:nvPr/>
          </p:nvSpPr>
          <p:spPr>
            <a:xfrm>
              <a:off x="533400" y="1847850"/>
              <a:ext cx="3505200" cy="19050"/>
            </a:xfrm>
            <a:prstGeom prst="rect">
              <a:avLst/>
            </a:prstGeom>
            <a:solidFill>
              <a:schemeClr val="accent1"/>
            </a:solidFill>
            <a:ln>
              <a:noFill/>
            </a:ln>
          </p:spPr>
        </p:sp>
        <p:sp>
          <p:nvSpPr>
            <p:cNvPr id="9" name="Ellipse 9"/>
            <p:cNvSpPr/>
            <p:nvPr/>
          </p:nvSpPr>
          <p:spPr>
            <a:xfrm>
              <a:off x="533400" y="1962150"/>
              <a:ext cx="190500" cy="190500"/>
            </a:xfrm>
            <a:prstGeom prst="ellipse">
              <a:avLst/>
            </a:prstGeom>
            <a:solidFill>
              <a:schemeClr val="accent2"/>
            </a:solidFill>
            <a:ln>
              <a:noFill/>
            </a:ln>
          </p:spPr>
        </p:sp>
        <p:sp>
          <p:nvSpPr>
            <p:cNvPr id="10" name="TextBox 10"/>
            <p:cNvSpPr txBox="1"/>
            <p:nvPr/>
          </p:nvSpPr>
          <p:spPr>
            <a:xfrm>
              <a:off x="593188" y="2006441"/>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1</a:t>
              </a:r>
            </a:p>
          </p:txBody>
        </p:sp>
        <p:sp>
          <p:nvSpPr>
            <p:cNvPr id="11" name="TextBox 11"/>
            <p:cNvSpPr txBox="1"/>
            <p:nvPr/>
          </p:nvSpPr>
          <p:spPr>
            <a:xfrm>
              <a:off x="794766" y="1991678"/>
              <a:ext cx="177806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§4.1 The author's last mile</a:t>
              </a:r>
            </a:p>
          </p:txBody>
        </p:sp>
        <p:sp>
          <p:nvSpPr>
            <p:cNvPr id="12" name="TextBox 12"/>
            <p:cNvSpPr txBox="1"/>
            <p:nvPr/>
          </p:nvSpPr>
          <p:spPr>
            <a:xfrm>
              <a:off x="528638" y="2215991"/>
              <a:ext cx="1668132" cy="161925"/>
            </a:xfrm>
            <a:prstGeom prst="rect">
              <a:avLst/>
            </a:prstGeom>
            <a:noFill/>
            <a:ln>
              <a:noFill/>
            </a:ln>
          </p:spPr>
          <p:txBody>
            <a:bodyPr wrap="none" lIns="0" tIns="0" rIns="0" bIns="0" anchor="t" anchorCtr="0">
              <a:spAutoFit/>
            </a:bodyPr>
            <a:lstStyle/>
            <a:p>
              <a:pPr algn="l"/>
              <a:r>
                <a:rPr lang="en-US" sz="820" spc="75" dirty="0">
                  <a:solidFill>
                    <a:schemeClr val="accent2"/>
                  </a:solidFill>
                  <a:latin typeface="+mn-lt"/>
                  <a:ea typeface="+mn-ea"/>
                  <a:cs typeface="+mn-cs"/>
                </a:rPr>
                <a:t>ONE-OFF, SINGLE PAPER</a:t>
              </a:r>
            </a:p>
          </p:txBody>
        </p:sp>
        <p:sp>
          <p:nvSpPr>
            <p:cNvPr id="13" name="TextBox 13"/>
            <p:cNvSpPr txBox="1"/>
            <p:nvPr/>
          </p:nvSpPr>
          <p:spPr>
            <a:xfrm>
              <a:off x="528638" y="2436495"/>
              <a:ext cx="3256834" cy="9382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One Claude Code session per paper: one extraction pass</a:t>
              </a:r>
              <a:br/>
              <a:r>
                <a:rPr lang="en-US" sz="900" dirty="0">
                  <a:solidFill>
                    <a:schemeClr val="dk1"/>
                  </a:solidFill>
                  <a:latin typeface="+mn-lt"/>
                  <a:ea typeface="+mn-ea"/>
                  <a:cs typeface="+mn-cs"/>
                </a:rPr>
                <a:t>populates the bundle, then the three generators emit an editable</a:t>
              </a:r>
              <a:br/>
              <a:r>
                <a:rPr lang="en-US" sz="900" dirty="0">
                  <a:solidFill>
                    <a:schemeClr val="dk1"/>
                  </a:solidFill>
                  <a:latin typeface="+mn-lt"/>
                  <a:ea typeface="+mn-ea"/>
                  <a:cs typeface="+mn-cs"/>
                </a:rPr>
                <a:t>.pptx, a synchronized video.pptx + .mp4 pair, and a bilingual</a:t>
              </a:r>
              <a:br/>
              <a:r>
                <a:rPr lang="en-US" sz="900" dirty="0">
                  <a:solidFill>
                    <a:schemeClr val="dk1"/>
                  </a:solidFill>
                  <a:latin typeface="+mn-lt"/>
                  <a:ea typeface="+mn-ea"/>
                  <a:cs typeface="+mn-cs"/>
                </a:rPr>
                <a:t>Word .docx pair the author hand-revises rather than</a:t>
              </a:r>
              <a:br/>
              <a:r>
                <a:rPr lang="en-US" sz="900" dirty="0">
                  <a:solidFill>
                    <a:schemeClr val="dk1"/>
                  </a:solidFill>
                  <a:latin typeface="+mn-lt"/>
                  <a:ea typeface="+mn-ea"/>
                  <a:cs typeface="+mn-cs"/>
                </a:rPr>
                <a:t>regenerates — all navigable through one reel.html that doubles</a:t>
              </a:r>
              <a:br/>
              <a:r>
                <a:rPr lang="en-US" sz="900" dirty="0">
                  <a:solidFill>
                    <a:schemeClr val="dk1"/>
                  </a:solidFill>
                  <a:latin typeface="+mn-lt"/>
                  <a:ea typeface="+mn-ea"/>
                  <a:cs typeface="+mn-cs"/>
                </a:rPr>
                <a:t>as a review surface for co-authors.</a:t>
              </a:r>
            </a:p>
          </p:txBody>
        </p:sp>
        <p:sp>
          <p:nvSpPr>
            <p:cNvPr id="14" name="TextBox 14"/>
            <p:cNvSpPr txBox="1"/>
            <p:nvPr/>
          </p:nvSpPr>
          <p:spPr>
            <a:xfrm>
              <a:off x="528638" y="3500438"/>
              <a:ext cx="623703" cy="147638"/>
            </a:xfrm>
            <a:prstGeom prst="rect">
              <a:avLst/>
            </a:prstGeom>
            <a:noFill/>
            <a:ln>
              <a:noFill/>
            </a:ln>
          </p:spPr>
          <p:txBody>
            <a:bodyPr wrap="none" lIns="0" tIns="0" rIns="0" bIns="0" anchor="t" anchorCtr="0">
              <a:spAutoFit/>
            </a:bodyPr>
            <a:lstStyle/>
            <a:p>
              <a:pPr algn="l"/>
              <a:r>
                <a:rPr lang="en-US" sz="750" spc="75" dirty="0">
                  <a:solidFill>
                    <a:schemeClr val="accent5"/>
                  </a:solidFill>
                  <a:latin typeface="+mn-lt"/>
                  <a:ea typeface="+mn-ea"/>
                  <a:cs typeface="+mn-cs"/>
                </a:rPr>
                <a:t>LEANS ON</a:t>
              </a:r>
            </a:p>
          </p:txBody>
        </p:sp>
        <p:sp>
          <p:nvSpPr>
            <p:cNvPr id="15" name="TextBox 15"/>
            <p:cNvSpPr txBox="1"/>
            <p:nvPr/>
          </p:nvSpPr>
          <p:spPr>
            <a:xfrm>
              <a:off x="661988" y="3663791"/>
              <a:ext cx="1003705"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editable .pptx poster</a:t>
              </a:r>
            </a:p>
          </p:txBody>
        </p:sp>
        <p:sp>
          <p:nvSpPr>
            <p:cNvPr id="16" name="Ellipse 16"/>
            <p:cNvSpPr/>
            <p:nvPr/>
          </p:nvSpPr>
          <p:spPr>
            <a:xfrm>
              <a:off x="557212" y="3690938"/>
              <a:ext cx="47625" cy="47625"/>
            </a:xfrm>
            <a:prstGeom prst="ellipse">
              <a:avLst/>
            </a:prstGeom>
            <a:solidFill>
              <a:schemeClr val="accent2"/>
            </a:solidFill>
            <a:ln>
              <a:noFill/>
            </a:ln>
          </p:spPr>
        </p:sp>
        <p:sp>
          <p:nvSpPr>
            <p:cNvPr id="17" name="TextBox 17"/>
            <p:cNvSpPr txBox="1"/>
            <p:nvPr/>
          </p:nvSpPr>
          <p:spPr>
            <a:xfrm>
              <a:off x="661988" y="3825716"/>
              <a:ext cx="1098727"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video.pptx + .mp4 pair</a:t>
              </a:r>
            </a:p>
          </p:txBody>
        </p:sp>
        <p:sp>
          <p:nvSpPr>
            <p:cNvPr id="18" name="Ellipse 18"/>
            <p:cNvSpPr/>
            <p:nvPr/>
          </p:nvSpPr>
          <p:spPr>
            <a:xfrm>
              <a:off x="557212" y="3852862"/>
              <a:ext cx="47625" cy="47625"/>
            </a:xfrm>
            <a:prstGeom prst="ellipse">
              <a:avLst/>
            </a:prstGeom>
            <a:solidFill>
              <a:schemeClr val="accent2"/>
            </a:solidFill>
            <a:ln>
              <a:noFill/>
            </a:ln>
          </p:spPr>
        </p:sp>
        <p:sp>
          <p:nvSpPr>
            <p:cNvPr id="19" name="TextBox 19"/>
            <p:cNvSpPr txBox="1"/>
            <p:nvPr/>
          </p:nvSpPr>
          <p:spPr>
            <a:xfrm>
              <a:off x="661988" y="3987641"/>
              <a:ext cx="923894"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bilingual .docx pair</a:t>
              </a:r>
            </a:p>
          </p:txBody>
        </p:sp>
        <p:sp>
          <p:nvSpPr>
            <p:cNvPr id="20" name="Ellipse 20"/>
            <p:cNvSpPr/>
            <p:nvPr/>
          </p:nvSpPr>
          <p:spPr>
            <a:xfrm>
              <a:off x="557212" y="4014788"/>
              <a:ext cx="47625" cy="47625"/>
            </a:xfrm>
            <a:prstGeom prst="ellipse">
              <a:avLst/>
            </a:prstGeom>
            <a:solidFill>
              <a:schemeClr val="accent2"/>
            </a:solidFill>
            <a:ln>
              <a:noFill/>
            </a:ln>
          </p:spPr>
        </p:sp>
        <p:sp>
          <p:nvSpPr>
            <p:cNvPr id="21" name="TextBox 21"/>
            <p:cNvSpPr txBox="1"/>
            <p:nvPr/>
          </p:nvSpPr>
          <p:spPr>
            <a:xfrm>
              <a:off x="661988" y="4149566"/>
              <a:ext cx="1414482"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reel.html as a review surface</a:t>
              </a:r>
            </a:p>
          </p:txBody>
        </p:sp>
        <p:sp>
          <p:nvSpPr>
            <p:cNvPr id="22" name="Ellipse 22"/>
            <p:cNvSpPr/>
            <p:nvPr/>
          </p:nvSpPr>
          <p:spPr>
            <a:xfrm>
              <a:off x="557212" y="4176712"/>
              <a:ext cx="47625" cy="47625"/>
            </a:xfrm>
            <a:prstGeom prst="ellipse">
              <a:avLst/>
            </a:prstGeom>
            <a:solidFill>
              <a:schemeClr val="accent2"/>
            </a:solidFill>
            <a:ln>
              <a:noFill/>
            </a:ln>
          </p:spPr>
        </p:sp>
      </p:grpSp>
      <p:grpSp>
        <p:nvGrpSpPr>
          <p:cNvPr id="37" name="Group 37"/>
          <p:cNvGrpSpPr/>
          <p:nvPr/>
        </p:nvGrpSpPr>
        <p:grpSpPr>
          <a:xfrm>
            <a:off x="4338638" y="1847850"/>
            <a:ext cx="3509962" cy="2301716"/>
            <a:chOff x="4338638" y="1847850"/>
            <a:chExt cx="3509962" cy="2301716"/>
          </a:xfrm>
        </p:grpSpPr>
        <p:sp>
          <p:nvSpPr>
            <p:cNvPr id="24" name="Rectangle 24"/>
            <p:cNvSpPr/>
            <p:nvPr/>
          </p:nvSpPr>
          <p:spPr>
            <a:xfrm>
              <a:off x="4343400" y="1847850"/>
              <a:ext cx="3505200" cy="19050"/>
            </a:xfrm>
            <a:prstGeom prst="rect">
              <a:avLst/>
            </a:prstGeom>
            <a:solidFill>
              <a:schemeClr val="accent1"/>
            </a:solidFill>
            <a:ln>
              <a:noFill/>
            </a:ln>
          </p:spPr>
        </p:sp>
        <p:sp>
          <p:nvSpPr>
            <p:cNvPr id="25" name="Ellipse 25"/>
            <p:cNvSpPr/>
            <p:nvPr/>
          </p:nvSpPr>
          <p:spPr>
            <a:xfrm>
              <a:off x="4343400" y="1962150"/>
              <a:ext cx="190500" cy="190500"/>
            </a:xfrm>
            <a:prstGeom prst="ellipse">
              <a:avLst/>
            </a:prstGeom>
            <a:solidFill>
              <a:schemeClr val="accent2"/>
            </a:solidFill>
            <a:ln>
              <a:noFill/>
            </a:ln>
          </p:spPr>
        </p:sp>
        <p:sp>
          <p:nvSpPr>
            <p:cNvPr id="26" name="TextBox 26"/>
            <p:cNvSpPr txBox="1"/>
            <p:nvPr/>
          </p:nvSpPr>
          <p:spPr>
            <a:xfrm>
              <a:off x="4403188" y="2006441"/>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2</a:t>
              </a:r>
            </a:p>
          </p:txBody>
        </p:sp>
        <p:sp>
          <p:nvSpPr>
            <p:cNvPr id="27" name="TextBox 27"/>
            <p:cNvSpPr txBox="1"/>
            <p:nvPr/>
          </p:nvSpPr>
          <p:spPr>
            <a:xfrm>
              <a:off x="4604766" y="1991678"/>
              <a:ext cx="222334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§4.2 Lab and org communication</a:t>
              </a:r>
            </a:p>
          </p:txBody>
        </p:sp>
        <p:sp>
          <p:nvSpPr>
            <p:cNvPr id="28" name="TextBox 28"/>
            <p:cNvSpPr txBox="1"/>
            <p:nvPr/>
          </p:nvSpPr>
          <p:spPr>
            <a:xfrm>
              <a:off x="4338638" y="2215991"/>
              <a:ext cx="2502944" cy="161925"/>
            </a:xfrm>
            <a:prstGeom prst="rect">
              <a:avLst/>
            </a:prstGeom>
            <a:noFill/>
            <a:ln>
              <a:noFill/>
            </a:ln>
          </p:spPr>
          <p:txBody>
            <a:bodyPr wrap="none" lIns="0" tIns="0" rIns="0" bIns="0" anchor="t" anchorCtr="0">
              <a:spAutoFit/>
            </a:bodyPr>
            <a:lstStyle/>
            <a:p>
              <a:pPr algn="l"/>
              <a:r>
                <a:rPr lang="en-US" sz="820" spc="75" dirty="0">
                  <a:solidFill>
                    <a:schemeClr val="accent2"/>
                  </a:solidFill>
                  <a:latin typeface="+mn-lt"/>
                  <a:ea typeface="+mn-ea"/>
                  <a:cs typeface="+mn-cs"/>
                </a:rPr>
                <a:t>CONTINUOUS, PER ACCEPTED PAPER</a:t>
              </a:r>
            </a:p>
          </p:txBody>
        </p:sp>
        <p:sp>
          <p:nvSpPr>
            <p:cNvPr id="29" name="TextBox 29"/>
            <p:cNvSpPr txBox="1"/>
            <p:nvPr/>
          </p:nvSpPr>
          <p:spPr>
            <a:xfrm>
              <a:off x="4338638" y="2436495"/>
              <a:ext cx="3249953" cy="9382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Wired into the publication-intake pipeline so every accepted</a:t>
              </a:r>
              <a:br/>
              <a:r>
                <a:rPr lang="en-US" sz="900" dirty="0">
                  <a:solidFill>
                    <a:schemeClr val="dk1"/>
                  </a:solidFill>
                  <a:latin typeface="+mn-lt"/>
                  <a:ea typeface="+mn-ea"/>
                  <a:cs typeface="+mn-cs"/>
                </a:rPr>
                <a:t>paper auto-generates draft dissemination artifacts an editorial or</a:t>
              </a:r>
              <a:br/>
              <a:r>
                <a:rPr lang="en-US" sz="900" dirty="0">
                  <a:solidFill>
                    <a:schemeClr val="dk1"/>
                  </a:solidFill>
                  <a:latin typeface="+mn-lt"/>
                  <a:ea typeface="+mn-ea"/>
                  <a:cs typeface="+mn-cs"/>
                </a:rPr>
                <a:t>communications team then polishes. The editable PowerPoint</a:t>
              </a:r>
              <a:br/>
              <a:r>
                <a:rPr lang="en-US" sz="900" dirty="0">
                  <a:solidFill>
                    <a:schemeClr val="dk1"/>
                  </a:solidFill>
                  <a:latin typeface="+mn-lt"/>
                  <a:ea typeface="+mn-ea"/>
                  <a:cs typeface="+mn-cs"/>
                </a:rPr>
                <a:t>and Word outputs make it a draft-and-revise workflow; the</a:t>
              </a:r>
              <a:br/>
              <a:r>
                <a:rPr lang="en-US" sz="900" dirty="0">
                  <a:solidFill>
                    <a:schemeClr val="dk1"/>
                  </a:solidFill>
                  <a:latin typeface="+mn-lt"/>
                  <a:ea typeface="+mn-ea"/>
                  <a:cs typeface="+mn-cs"/>
                </a:rPr>
                <a:t>bilingual blog covers a Chinese-WeChat and an English</a:t>
              </a:r>
              <a:br/>
              <a:r>
                <a:rPr lang="en-US" sz="900" dirty="0">
                  <a:solidFill>
                    <a:schemeClr val="dk1"/>
                  </a:solidFill>
                  <a:latin typeface="+mn-lt"/>
                  <a:ea typeface="+mn-ea"/>
                  <a:cs typeface="+mn-cs"/>
                </a:rPr>
                <a:t>research-blog register from one evidence map.</a:t>
              </a:r>
            </a:p>
          </p:txBody>
        </p:sp>
        <p:sp>
          <p:nvSpPr>
            <p:cNvPr id="30" name="TextBox 30"/>
            <p:cNvSpPr txBox="1"/>
            <p:nvPr/>
          </p:nvSpPr>
          <p:spPr>
            <a:xfrm>
              <a:off x="4338638" y="3500438"/>
              <a:ext cx="623703" cy="147638"/>
            </a:xfrm>
            <a:prstGeom prst="rect">
              <a:avLst/>
            </a:prstGeom>
            <a:noFill/>
            <a:ln>
              <a:noFill/>
            </a:ln>
          </p:spPr>
          <p:txBody>
            <a:bodyPr wrap="none" lIns="0" tIns="0" rIns="0" bIns="0" anchor="t" anchorCtr="0">
              <a:spAutoFit/>
            </a:bodyPr>
            <a:lstStyle/>
            <a:p>
              <a:pPr algn="l"/>
              <a:r>
                <a:rPr lang="en-US" sz="750" spc="75" dirty="0">
                  <a:solidFill>
                    <a:schemeClr val="accent5"/>
                  </a:solidFill>
                  <a:latin typeface="+mn-lt"/>
                  <a:ea typeface="+mn-ea"/>
                  <a:cs typeface="+mn-cs"/>
                </a:rPr>
                <a:t>LEANS ON</a:t>
              </a:r>
            </a:p>
          </p:txBody>
        </p:sp>
        <p:sp>
          <p:nvSpPr>
            <p:cNvPr id="31" name="TextBox 31"/>
            <p:cNvSpPr txBox="1"/>
            <p:nvPr/>
          </p:nvSpPr>
          <p:spPr>
            <a:xfrm>
              <a:off x="4471988" y="3663791"/>
              <a:ext cx="1629497"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draft artifacts per accepted paper</a:t>
              </a:r>
            </a:p>
          </p:txBody>
        </p:sp>
        <p:sp>
          <p:nvSpPr>
            <p:cNvPr id="32" name="Ellipse 32"/>
            <p:cNvSpPr/>
            <p:nvPr/>
          </p:nvSpPr>
          <p:spPr>
            <a:xfrm>
              <a:off x="4367212" y="3690938"/>
              <a:ext cx="47625" cy="47625"/>
            </a:xfrm>
            <a:prstGeom prst="ellipse">
              <a:avLst/>
            </a:prstGeom>
            <a:solidFill>
              <a:schemeClr val="accent2"/>
            </a:solidFill>
            <a:ln>
              <a:noFill/>
            </a:ln>
          </p:spPr>
        </p:sp>
        <p:sp>
          <p:nvSpPr>
            <p:cNvPr id="33" name="TextBox 33"/>
            <p:cNvSpPr txBox="1"/>
            <p:nvPr/>
          </p:nvSpPr>
          <p:spPr>
            <a:xfrm>
              <a:off x="4471988" y="3825716"/>
              <a:ext cx="1689050"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PowerPoint and Word for hand-off</a:t>
              </a:r>
            </a:p>
          </p:txBody>
        </p:sp>
        <p:sp>
          <p:nvSpPr>
            <p:cNvPr id="34" name="Ellipse 34"/>
            <p:cNvSpPr/>
            <p:nvPr/>
          </p:nvSpPr>
          <p:spPr>
            <a:xfrm>
              <a:off x="4367212" y="3852862"/>
              <a:ext cx="47625" cy="47625"/>
            </a:xfrm>
            <a:prstGeom prst="ellipse">
              <a:avLst/>
            </a:prstGeom>
            <a:solidFill>
              <a:schemeClr val="accent2"/>
            </a:solidFill>
            <a:ln>
              <a:noFill/>
            </a:ln>
          </p:spPr>
        </p:sp>
        <p:sp>
          <p:nvSpPr>
            <p:cNvPr id="35" name="TextBox 35"/>
            <p:cNvSpPr txBox="1"/>
            <p:nvPr/>
          </p:nvSpPr>
          <p:spPr>
            <a:xfrm>
              <a:off x="4471988" y="3987641"/>
              <a:ext cx="1917765"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one reel per paper for the comms team</a:t>
              </a:r>
            </a:p>
          </p:txBody>
        </p:sp>
        <p:sp>
          <p:nvSpPr>
            <p:cNvPr id="36" name="Ellipse 36"/>
            <p:cNvSpPr/>
            <p:nvPr/>
          </p:nvSpPr>
          <p:spPr>
            <a:xfrm>
              <a:off x="4367212" y="4014788"/>
              <a:ext cx="47625" cy="47625"/>
            </a:xfrm>
            <a:prstGeom prst="ellipse">
              <a:avLst/>
            </a:prstGeom>
            <a:solidFill>
              <a:schemeClr val="accent2"/>
            </a:solidFill>
            <a:ln>
              <a:noFill/>
            </a:ln>
          </p:spPr>
        </p:sp>
      </p:grpSp>
      <p:grpSp>
        <p:nvGrpSpPr>
          <p:cNvPr id="53" name="Group 53"/>
          <p:cNvGrpSpPr/>
          <p:nvPr/>
        </p:nvGrpSpPr>
        <p:grpSpPr>
          <a:xfrm>
            <a:off x="8148638" y="1847850"/>
            <a:ext cx="3509962" cy="2311241"/>
            <a:chOff x="8148638" y="1847850"/>
            <a:chExt cx="3509962" cy="2311241"/>
          </a:xfrm>
        </p:grpSpPr>
        <p:sp>
          <p:nvSpPr>
            <p:cNvPr id="38" name="Rectangle 38"/>
            <p:cNvSpPr/>
            <p:nvPr/>
          </p:nvSpPr>
          <p:spPr>
            <a:xfrm>
              <a:off x="8153400" y="1847850"/>
              <a:ext cx="3505200" cy="19050"/>
            </a:xfrm>
            <a:prstGeom prst="rect">
              <a:avLst/>
            </a:prstGeom>
            <a:solidFill>
              <a:schemeClr val="accent1"/>
            </a:solidFill>
            <a:ln>
              <a:noFill/>
            </a:ln>
          </p:spPr>
        </p:sp>
        <p:sp>
          <p:nvSpPr>
            <p:cNvPr id="39" name="Ellipse 39"/>
            <p:cNvSpPr/>
            <p:nvPr/>
          </p:nvSpPr>
          <p:spPr>
            <a:xfrm>
              <a:off x="8153400" y="1962150"/>
              <a:ext cx="190500" cy="190500"/>
            </a:xfrm>
            <a:prstGeom prst="ellipse">
              <a:avLst/>
            </a:prstGeom>
            <a:solidFill>
              <a:schemeClr val="accent2"/>
            </a:solidFill>
            <a:ln>
              <a:noFill/>
            </a:ln>
          </p:spPr>
        </p:sp>
        <p:sp>
          <p:nvSpPr>
            <p:cNvPr id="40" name="TextBox 40"/>
            <p:cNvSpPr txBox="1"/>
            <p:nvPr/>
          </p:nvSpPr>
          <p:spPr>
            <a:xfrm>
              <a:off x="8213188" y="2006441"/>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3</a:t>
              </a:r>
            </a:p>
          </p:txBody>
        </p:sp>
        <p:sp>
          <p:nvSpPr>
            <p:cNvPr id="41" name="TextBox 41"/>
            <p:cNvSpPr txBox="1"/>
            <p:nvPr/>
          </p:nvSpPr>
          <p:spPr>
            <a:xfrm>
              <a:off x="8414766" y="1991678"/>
              <a:ext cx="1548050"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§4.3 Educational reuse</a:t>
              </a:r>
            </a:p>
          </p:txBody>
        </p:sp>
        <p:sp>
          <p:nvSpPr>
            <p:cNvPr id="42" name="TextBox 42"/>
            <p:cNvSpPr txBox="1"/>
            <p:nvPr/>
          </p:nvSpPr>
          <p:spPr>
            <a:xfrm>
              <a:off x="8148638" y="2215991"/>
              <a:ext cx="2103807" cy="161925"/>
            </a:xfrm>
            <a:prstGeom prst="rect">
              <a:avLst/>
            </a:prstGeom>
            <a:noFill/>
            <a:ln>
              <a:noFill/>
            </a:ln>
          </p:spPr>
          <p:txBody>
            <a:bodyPr wrap="none" lIns="0" tIns="0" rIns="0" bIns="0" anchor="t" anchorCtr="0">
              <a:spAutoFit/>
            </a:bodyPr>
            <a:lstStyle/>
            <a:p>
              <a:pPr algn="l"/>
              <a:r>
                <a:rPr lang="en-US" sz="820" spc="75" dirty="0">
                  <a:solidFill>
                    <a:schemeClr val="accent2"/>
                  </a:solidFill>
                  <a:latin typeface="+mn-lt"/>
                  <a:ea typeface="+mn-ea"/>
                  <a:cs typeface="+mn-cs"/>
                </a:rPr>
                <a:t>PERIODIC, MANY-PAPER BATCH</a:t>
              </a:r>
            </a:p>
          </p:txBody>
        </p:sp>
        <p:sp>
          <p:nvSpPr>
            <p:cNvPr id="43" name="TextBox 43"/>
            <p:cNvSpPr txBox="1"/>
            <p:nvPr/>
          </p:nvSpPr>
          <p:spPr>
            <a:xfrm>
              <a:off x="8148638" y="2436495"/>
              <a:ext cx="3205764" cy="7858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A course, reading group, or public-understanding outlet feeds a</a:t>
              </a:r>
              <a:br/>
              <a:r>
                <a:rPr lang="en-US" sz="900" dirty="0">
                  <a:solidFill>
                    <a:schemeClr val="dk1"/>
                  </a:solidFill>
                  <a:latin typeface="+mn-lt"/>
                  <a:ea typeface="+mn-ea"/>
                  <a:cs typeface="+mn-cs"/>
                </a:rPr>
                <a:t>reading list through the pipeline to produce paper-of-the-week</a:t>
              </a:r>
              <a:br/>
              <a:r>
                <a:rPr lang="en-US" sz="900" dirty="0">
                  <a:solidFill>
                    <a:schemeClr val="dk1"/>
                  </a:solidFill>
                  <a:latin typeface="+mn-lt"/>
                  <a:ea typeface="+mn-ea"/>
                  <a:cs typeface="+mn-cs"/>
                </a:rPr>
                <a:t>briefing packs: a lecture deck, an asynchronous talk video, a</a:t>
              </a:r>
              <a:br/>
              <a:r>
                <a:rPr lang="en-US" sz="900" dirty="0">
                  <a:solidFill>
                    <a:schemeClr val="dk1"/>
                  </a:solidFill>
                  <a:latin typeface="+mn-lt"/>
                  <a:ea typeface="+mn-ea"/>
                  <a:cs typeface="+mn-cs"/>
                </a:rPr>
                <a:t>newsletter blog. Instructors adjust framing or drop a slide;</a:t>
              </a:r>
              <a:br/>
              <a:r>
                <a:rPr lang="en-US" sz="900" dirty="0">
                  <a:solidFill>
                    <a:schemeClr val="dk1"/>
                  </a:solidFill>
                  <a:latin typeface="+mn-lt"/>
                  <a:ea typeface="+mn-ea"/>
                  <a:cs typeface="+mn-cs"/>
                </a:rPr>
                <a:t>re-running on a corrected PDF re-issues the whole pack.</a:t>
              </a:r>
            </a:p>
          </p:txBody>
        </p:sp>
        <p:sp>
          <p:nvSpPr>
            <p:cNvPr id="44" name="TextBox 44"/>
            <p:cNvSpPr txBox="1"/>
            <p:nvPr/>
          </p:nvSpPr>
          <p:spPr>
            <a:xfrm>
              <a:off x="8148638" y="3348038"/>
              <a:ext cx="623703" cy="147638"/>
            </a:xfrm>
            <a:prstGeom prst="rect">
              <a:avLst/>
            </a:prstGeom>
            <a:noFill/>
            <a:ln>
              <a:noFill/>
            </a:ln>
          </p:spPr>
          <p:txBody>
            <a:bodyPr wrap="none" lIns="0" tIns="0" rIns="0" bIns="0" anchor="t" anchorCtr="0">
              <a:spAutoFit/>
            </a:bodyPr>
            <a:lstStyle/>
            <a:p>
              <a:pPr algn="l"/>
              <a:r>
                <a:rPr lang="en-US" sz="750" spc="75" dirty="0">
                  <a:solidFill>
                    <a:schemeClr val="accent5"/>
                  </a:solidFill>
                  <a:latin typeface="+mn-lt"/>
                  <a:ea typeface="+mn-ea"/>
                  <a:cs typeface="+mn-cs"/>
                </a:rPr>
                <a:t>LEANS ON</a:t>
              </a:r>
            </a:p>
          </p:txBody>
        </p:sp>
        <p:sp>
          <p:nvSpPr>
            <p:cNvPr id="45" name="TextBox 45"/>
            <p:cNvSpPr txBox="1"/>
            <p:nvPr/>
          </p:nvSpPr>
          <p:spPr>
            <a:xfrm>
              <a:off x="8281988" y="3511391"/>
              <a:ext cx="604717"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lecture deck</a:t>
              </a:r>
            </a:p>
          </p:txBody>
        </p:sp>
        <p:sp>
          <p:nvSpPr>
            <p:cNvPr id="46" name="Ellipse 46"/>
            <p:cNvSpPr/>
            <p:nvPr/>
          </p:nvSpPr>
          <p:spPr>
            <a:xfrm>
              <a:off x="8177212" y="3538538"/>
              <a:ext cx="47625" cy="47625"/>
            </a:xfrm>
            <a:prstGeom prst="ellipse">
              <a:avLst/>
            </a:prstGeom>
            <a:solidFill>
              <a:schemeClr val="accent2"/>
            </a:solidFill>
            <a:ln>
              <a:noFill/>
            </a:ln>
          </p:spPr>
        </p:sp>
        <p:sp>
          <p:nvSpPr>
            <p:cNvPr id="47" name="TextBox 47"/>
            <p:cNvSpPr txBox="1"/>
            <p:nvPr/>
          </p:nvSpPr>
          <p:spPr>
            <a:xfrm>
              <a:off x="8281988" y="3673316"/>
              <a:ext cx="1193882"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asynchronous talk video</a:t>
              </a:r>
            </a:p>
          </p:txBody>
        </p:sp>
        <p:sp>
          <p:nvSpPr>
            <p:cNvPr id="48" name="Ellipse 48"/>
            <p:cNvSpPr/>
            <p:nvPr/>
          </p:nvSpPr>
          <p:spPr>
            <a:xfrm>
              <a:off x="8177212" y="3700462"/>
              <a:ext cx="47625" cy="47625"/>
            </a:xfrm>
            <a:prstGeom prst="ellipse">
              <a:avLst/>
            </a:prstGeom>
            <a:solidFill>
              <a:schemeClr val="accent2"/>
            </a:solidFill>
            <a:ln>
              <a:noFill/>
            </a:ln>
          </p:spPr>
        </p:sp>
        <p:sp>
          <p:nvSpPr>
            <p:cNvPr id="49" name="TextBox 49"/>
            <p:cNvSpPr txBox="1"/>
            <p:nvPr/>
          </p:nvSpPr>
          <p:spPr>
            <a:xfrm>
              <a:off x="8281988" y="3835241"/>
              <a:ext cx="752042"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newsletter blog</a:t>
              </a:r>
            </a:p>
          </p:txBody>
        </p:sp>
        <p:sp>
          <p:nvSpPr>
            <p:cNvPr id="50" name="Ellipse 50"/>
            <p:cNvSpPr/>
            <p:nvPr/>
          </p:nvSpPr>
          <p:spPr>
            <a:xfrm>
              <a:off x="8177212" y="3862388"/>
              <a:ext cx="47625" cy="47625"/>
            </a:xfrm>
            <a:prstGeom prst="ellipse">
              <a:avLst/>
            </a:prstGeom>
            <a:solidFill>
              <a:schemeClr val="accent2"/>
            </a:solidFill>
            <a:ln>
              <a:noFill/>
            </a:ln>
          </p:spPr>
        </p:sp>
        <p:sp>
          <p:nvSpPr>
            <p:cNvPr id="51" name="TextBox 51"/>
            <p:cNvSpPr txBox="1"/>
            <p:nvPr/>
          </p:nvSpPr>
          <p:spPr>
            <a:xfrm>
              <a:off x="8281988" y="3997166"/>
              <a:ext cx="1353614"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versioned bundle per paper</a:t>
              </a:r>
            </a:p>
          </p:txBody>
        </p:sp>
        <p:sp>
          <p:nvSpPr>
            <p:cNvPr id="52" name="Ellipse 52"/>
            <p:cNvSpPr/>
            <p:nvPr/>
          </p:nvSpPr>
          <p:spPr>
            <a:xfrm>
              <a:off x="8177212" y="4024312"/>
              <a:ext cx="47625" cy="47625"/>
            </a:xfrm>
            <a:prstGeom prst="ellipse">
              <a:avLst/>
            </a:prstGeom>
            <a:solidFill>
              <a:schemeClr val="accent2"/>
            </a:solidFill>
            <a:ln>
              <a:noFill/>
            </a:ln>
          </p:spPr>
        </p:sp>
      </p:grpSp>
      <p:grpSp>
        <p:nvGrpSpPr>
          <p:cNvPr id="60" name="Group 60"/>
          <p:cNvGrpSpPr/>
          <p:nvPr/>
        </p:nvGrpSpPr>
        <p:grpSpPr>
          <a:xfrm>
            <a:off x="528638" y="4722495"/>
            <a:ext cx="5338762" cy="1217771"/>
            <a:chOff x="528638" y="4722495"/>
            <a:chExt cx="5338762" cy="1217771"/>
          </a:xfrm>
        </p:grpSpPr>
        <p:sp>
          <p:nvSpPr>
            <p:cNvPr id="54" name="TextBox 54"/>
            <p:cNvSpPr txBox="1"/>
            <p:nvPr/>
          </p:nvSpPr>
          <p:spPr>
            <a:xfrm>
              <a:off x="528638" y="4722495"/>
              <a:ext cx="3082080"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CAPABILITY AUDITS, TABLES 2 AND 3</a:t>
              </a:r>
            </a:p>
          </p:txBody>
        </p:sp>
        <p:sp>
          <p:nvSpPr>
            <p:cNvPr id="55" name="Line 55"/>
            <p:cNvSpPr/>
            <p:nvPr/>
          </p:nvSpPr>
          <p:spPr>
            <a:xfrm>
              <a:off x="533400" y="4895850"/>
              <a:ext cx="5334000" cy="9525"/>
            </a:xfrm>
            <a:custGeom>
              <a:avLst/>
              <a:gdLst/>
              <a:ahLst/>
              <a:cxnLst/>
              <a:rect l="l" t="t" r="r" b="b"/>
              <a:pathLst>
                <a:path w="5334000" h="9525">
                  <a:moveTo>
                    <a:pt x="0" y="0"/>
                  </a:moveTo>
                  <a:lnTo>
                    <a:pt x="5334000" y="0"/>
                  </a:lnTo>
                </a:path>
              </a:pathLst>
            </a:custGeom>
            <a:noFill/>
            <a:ln w="9525">
              <a:solidFill>
                <a:schemeClr val="accent1"/>
              </a:solidFill>
            </a:ln>
          </p:spPr>
        </p:sp>
        <p:sp>
          <p:nvSpPr>
            <p:cNvPr id="56" name="Ellipse 56"/>
            <p:cNvSpPr/>
            <p:nvPr/>
          </p:nvSpPr>
          <p:spPr>
            <a:xfrm>
              <a:off x="542925" y="4967288"/>
              <a:ext cx="57150" cy="57150"/>
            </a:xfrm>
            <a:prstGeom prst="ellipse">
              <a:avLst/>
            </a:prstGeom>
            <a:solidFill>
              <a:schemeClr val="accent2"/>
            </a:solidFill>
            <a:ln>
              <a:noFill/>
            </a:ln>
          </p:spPr>
        </p:sp>
        <p:sp>
          <p:nvSpPr>
            <p:cNvPr id="57" name="TextBox 57"/>
            <p:cNvSpPr txBox="1"/>
            <p:nvPr/>
          </p:nvSpPr>
          <p:spPr>
            <a:xfrm>
              <a:off x="681038" y="4940141"/>
              <a:ext cx="4704531" cy="4286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Table 2 (video) asks whether a system emits visual attention cues or cursor grounding, an editable</a:t>
              </a:r>
              <a:br/>
              <a:r>
                <a:rPr lang="en-US" sz="820" dirty="0">
                  <a:solidFill>
                    <a:schemeClr val="dk1"/>
                  </a:solidFill>
                  <a:latin typeface="+mn-lt"/>
                  <a:ea typeface="+mn-ea"/>
                  <a:cs typeface="+mn-cs"/>
                </a:rPr>
                <a:t>PPTX deck, duration control, and narration audio; Table 3 (blog) asks about layout checks, embedded</a:t>
              </a:r>
              <a:br/>
              <a:r>
                <a:rPr lang="en-US" sz="820" dirty="0">
                  <a:solidFill>
                    <a:schemeClr val="dk1"/>
                  </a:solidFill>
                  <a:latin typeface="+mn-lt"/>
                  <a:ea typeface="+mn-ea"/>
                  <a:cs typeface="+mn-cs"/>
                </a:rPr>
                <a:t>figures, editable DOCX output, and paper-input summarization.</a:t>
              </a:r>
            </a:p>
          </p:txBody>
        </p:sp>
        <p:sp>
          <p:nvSpPr>
            <p:cNvPr id="58" name="Ellipse 58"/>
            <p:cNvSpPr/>
            <p:nvPr/>
          </p:nvSpPr>
          <p:spPr>
            <a:xfrm>
              <a:off x="542925" y="5405438"/>
              <a:ext cx="57150" cy="57150"/>
            </a:xfrm>
            <a:prstGeom prst="ellipse">
              <a:avLst/>
            </a:prstGeom>
            <a:solidFill>
              <a:schemeClr val="accent2"/>
            </a:solidFill>
            <a:ln>
              <a:noFill/>
            </a:ln>
          </p:spPr>
        </p:sp>
        <p:sp>
          <p:nvSpPr>
            <p:cNvPr id="59" name="TextBox 59"/>
            <p:cNvSpPr txBox="1"/>
            <p:nvPr/>
          </p:nvSpPr>
          <p:spPr>
            <a:xfrm>
              <a:off x="681038" y="5378291"/>
              <a:ext cx="4802839" cy="5619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The audited products and research systems generally cover a single artifact; ResearchStudio-Reel</a:t>
              </a:r>
              <a:br/>
              <a:r>
                <a:rPr lang="en-US" sz="820" dirty="0">
                  <a:solidFill>
                    <a:schemeClr val="dk1"/>
                  </a:solidFill>
                  <a:latin typeface="+mn-lt"/>
                  <a:ea typeface="+mn-ea"/>
                  <a:cs typeface="+mn-cs"/>
                </a:rPr>
                <a:t>emits all three, exposes the shared bundle, includes a native-editable source in each package, and</a:t>
              </a:r>
              <a:br/>
              <a:r>
                <a:rPr lang="en-US" sz="820" dirty="0">
                  <a:solidFill>
                    <a:schemeClr val="dk1"/>
                  </a:solidFill>
                  <a:latin typeface="+mn-lt"/>
                  <a:ea typeface="+mn-ea"/>
                  <a:cs typeface="+mn-cs"/>
                </a:rPr>
                <a:t>stitches them into one surface. The audit documents breadth of the contract; it does not measure editing</a:t>
              </a:r>
              <a:br/>
              <a:r>
                <a:rPr lang="en-US" sz="820" dirty="0">
                  <a:solidFill>
                    <a:schemeClr val="dk1"/>
                  </a:solidFill>
                  <a:latin typeface="+mn-lt"/>
                  <a:ea typeface="+mn-ea"/>
                  <a:cs typeface="+mn-cs"/>
                </a:rPr>
                <a:t>effort or the viewer's usability.</a:t>
              </a:r>
            </a:p>
          </p:txBody>
        </p:sp>
      </p:grpSp>
      <p:grpSp>
        <p:nvGrpSpPr>
          <p:cNvPr id="64" name="Group 64"/>
          <p:cNvGrpSpPr/>
          <p:nvPr/>
        </p:nvGrpSpPr>
        <p:grpSpPr>
          <a:xfrm>
            <a:off x="6091238" y="4722495"/>
            <a:ext cx="5567362" cy="1046321"/>
            <a:chOff x="6091238" y="4722495"/>
            <a:chExt cx="5567362" cy="1046321"/>
          </a:xfrm>
        </p:grpSpPr>
        <p:sp>
          <p:nvSpPr>
            <p:cNvPr id="61" name="TextBox 61"/>
            <p:cNvSpPr txBox="1"/>
            <p:nvPr/>
          </p:nvSpPr>
          <p:spPr>
            <a:xfrm>
              <a:off x="6091238" y="4722495"/>
              <a:ext cx="2064984"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GAP TO HUMAN POSTERS</a:t>
              </a:r>
            </a:p>
          </p:txBody>
        </p:sp>
        <p:sp>
          <p:nvSpPr>
            <p:cNvPr id="62" name="Line 62"/>
            <p:cNvSpPr/>
            <p:nvPr/>
          </p:nvSpPr>
          <p:spPr>
            <a:xfrm>
              <a:off x="6096000" y="4895850"/>
              <a:ext cx="5562600" cy="9525"/>
            </a:xfrm>
            <a:custGeom>
              <a:avLst/>
              <a:gdLst/>
              <a:ahLst/>
              <a:cxnLst/>
              <a:rect l="l" t="t" r="r" b="b"/>
              <a:pathLst>
                <a:path w="5562600" h="9525">
                  <a:moveTo>
                    <a:pt x="0" y="0"/>
                  </a:moveTo>
                  <a:lnTo>
                    <a:pt x="5562600" y="0"/>
                  </a:lnTo>
                </a:path>
              </a:pathLst>
            </a:custGeom>
            <a:noFill/>
            <a:ln w="9525">
              <a:solidFill>
                <a:schemeClr val="accent1"/>
              </a:solidFill>
            </a:ln>
          </p:spPr>
        </p:sp>
        <p:sp>
          <p:nvSpPr>
            <p:cNvPr id="63" name="TextBox 63"/>
            <p:cNvSpPr txBox="1"/>
            <p:nvPr/>
          </p:nvSpPr>
          <p:spPr>
            <a:xfrm>
              <a:off x="6091238" y="4940141"/>
              <a:ext cx="5115884" cy="8286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Matching or exceeding the aggregate judge scores does not mean the output is on par with an author's own</a:t>
              </a:r>
              <a:br/>
              <a:r>
                <a:rPr lang="en-US" sz="820" dirty="0">
                  <a:solidFill>
                    <a:schemeClr val="dk1"/>
                  </a:solidFill>
                  <a:latin typeface="+mn-lt"/>
                  <a:ea typeface="+mn-ea"/>
                  <a:cs typeface="+mn-cs"/>
                </a:rPr>
                <a:t>poster. A human designer routinely adds material the paper does not contain — a purpose-drawn method or</a:t>
              </a:r>
              <a:br/>
              <a:r>
                <a:rPr lang="en-US" sz="820" dirty="0">
                  <a:solidFill>
                    <a:schemeClr val="dk1"/>
                  </a:solidFill>
                  <a:latin typeface="+mn-lt"/>
                  <a:ea typeface="+mn-ea"/>
                  <a:cs typeface="+mn-cs"/>
                </a:rPr>
                <a:t>overview diagram, explanatory icons — whereas the pipeline is grounded in the extracted bundle and reuses</a:t>
              </a:r>
              <a:br/>
              <a:r>
                <a:rPr lang="en-US" sz="820" dirty="0">
                  <a:solidFill>
                    <a:schemeClr val="dk1"/>
                  </a:solidFill>
                  <a:latin typeface="+mn-lt"/>
                  <a:ea typeface="+mn-ea"/>
                  <a:cs typeface="+mn-cs"/>
                </a:rPr>
                <a:t>only figures and content that appear in the paper. Author taste also spans a wide, legitimate range; the pipeline</a:t>
              </a:r>
              <a:br/>
              <a:r>
                <a:rPr lang="en-US" sz="820" dirty="0">
                  <a:solidFill>
                    <a:schemeClr val="dk1"/>
                  </a:solidFill>
                  <a:latin typeface="+mn-lt"/>
                  <a:ea typeface="+mn-ea"/>
                  <a:cs typeface="+mn-cs"/>
                </a:rPr>
                <a:t>analyses each paper's figure and content profile and chooses the layout that fits it, aiming for a sensible middle</a:t>
              </a:r>
              <a:br/>
              <a:r>
                <a:rPr lang="en-US" sz="820" dirty="0">
                  <a:solidFill>
                    <a:schemeClr val="dk1"/>
                  </a:solidFill>
                  <a:latin typeface="+mn-lt"/>
                  <a:ea typeface="+mn-ea"/>
                  <a:cs typeface="+mn-cs"/>
                </a:rPr>
                <a:t>ground rather than any single house style.</a:t>
              </a:r>
            </a:p>
          </p:txBody>
        </p:sp>
      </p:grpSp>
      <p:grpSp>
        <p:nvGrpSpPr>
          <p:cNvPr id="67" name="Group 67"/>
          <p:cNvGrpSpPr/>
          <p:nvPr/>
        </p:nvGrpSpPr>
        <p:grpSpPr>
          <a:xfrm>
            <a:off x="528638" y="6415088"/>
            <a:ext cx="11134724" cy="147638"/>
            <a:chOff x="528638" y="6415088"/>
            <a:chExt cx="11134724" cy="147638"/>
          </a:xfrm>
        </p:grpSpPr>
        <p:sp>
          <p:nvSpPr>
            <p:cNvPr id="65" name="TextBox 65"/>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66" name="TextBox 66"/>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00"/>
                                        <p:tgtEl>
                                          <p:spTgt spid="37"/>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400"/>
                                        <p:tgtEl>
                                          <p:spTgt spid="53"/>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400"/>
                                        <p:tgtEl>
                                          <p:spTgt spid="60"/>
                                        </p:tgtEl>
                                      </p:cBhvr>
                                    </p:animEffect>
                                  </p:childTnLst>
                                </p:cTn>
                              </p:par>
                            </p:childTnLst>
                          </p:cTn>
                        </p:par>
                        <p:par>
                          <p:cTn id="28" fill="hold">
                            <p:stCondLst>
                              <p:cond delay="48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722656" y="321945"/>
            <a:ext cx="1940706"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APPENDIX A · LIMITATIONS</a:t>
            </a:r>
          </a:p>
        </p:txBody>
      </p:sp>
      <p:grpSp>
        <p:nvGrpSpPr>
          <p:cNvPr id="4" name="Group 4"/>
          <p:cNvGrpSpPr/>
          <p:nvPr/>
        </p:nvGrpSpPr>
        <p:grpSpPr>
          <a:xfrm>
            <a:off x="522732" y="573405"/>
            <a:ext cx="10306141" cy="734568"/>
            <a:chOff x="522732" y="573405"/>
            <a:chExt cx="10306141" cy="734568"/>
          </a:xfrm>
        </p:grpSpPr>
        <p:sp>
          <p:nvSpPr>
            <p:cNvPr id="3" name="TextBox 3"/>
            <p:cNvSpPr txBox="1"/>
            <p:nvPr/>
          </p:nvSpPr>
          <p:spPr>
            <a:xfrm>
              <a:off x="522732" y="573405"/>
              <a:ext cx="10306141"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Five failure modes recur in end-to-end runs; the system is calibrated on ML / CV /</a:t>
              </a:r>
              <a:br/>
              <a:r>
                <a:rPr lang="en-US" sz="2100" b="1" dirty="0">
                  <a:solidFill>
                    <a:schemeClr val="accent1"/>
                  </a:solidFill>
                  <a:latin typeface="+mn-lt"/>
                  <a:ea typeface="+mn-ea"/>
                  <a:cs typeface="+mn-cs"/>
                </a:rPr>
                <a:t>NLP venues only; quantitative evaluation covers the poster</a:t>
              </a:r>
            </a:p>
          </p:txBody>
        </p:sp>
      </p:grpSp>
      <p:grpSp>
        <p:nvGrpSpPr>
          <p:cNvPr id="6" name="!!claim-carry"/>
          <p:cNvGrpSpPr/>
          <p:nvPr/>
        </p:nvGrpSpPr>
        <p:grpSpPr>
          <a:xfrm>
            <a:off x="526542" y="1302068"/>
            <a:ext cx="9950158" cy="264033"/>
            <a:chOff x="526542" y="1302068"/>
            <a:chExt cx="9950158" cy="264033"/>
          </a:xfrm>
        </p:grpSpPr>
        <p:sp>
          <p:nvSpPr>
            <p:cNvPr id="5" name="TextBox 5"/>
            <p:cNvSpPr txBox="1"/>
            <p:nvPr/>
          </p:nvSpPr>
          <p:spPr>
            <a:xfrm>
              <a:off x="526542" y="1302068"/>
              <a:ext cx="995015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Each failure mode has a named mitigation; video and blog are compared on capability only; no human-rater study exists yet</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aphicFrame>
        <p:nvGraphicFramePr>
          <p:cNvPr id="8" name="failure-modes"/>
          <p:cNvGraphicFramePr>
            <a:graphicFrameLocks noGrp="1"/>
          </p:cNvGraphicFramePr>
          <p:nvPr/>
        </p:nvGraphicFramePr>
        <p:xfrm>
          <a:off x="533400" y="1847850"/>
          <a:ext cx="7239000" cy="2438400"/>
        </p:xfrm>
        <a:graphic>
          <a:graphicData uri="http://schemas.openxmlformats.org/drawingml/2006/table">
            <a:tbl>
              <a:tblPr firstRow="1" bandRow="0">
                <a:tableStyleId>{5C22544A-7EE6-4342-B048-85BDC9FD1C3A}</a:tableStyleId>
              </a:tblPr>
              <a:tblGrid>
                <a:gridCol w="381001"/>
                <a:gridCol w="3429000"/>
                <a:gridCol w="3428999"/>
              </a:tblGrid>
              <a:tr h="266700">
                <a:tc>
                  <a:txBody>
                    <a:bodyPr/>
                    <a:lstStyle/>
                    <a:p>
                      <a:pPr/>
                      <a:r>
                        <a:rPr lang="en-US" sz="900" b="1">
                          <a:solidFill>
                            <a:schemeClr val="accent1"/>
                          </a:solidFill>
                          <a:latin typeface="Arial"/>
                          <a:ea typeface="Microsoft YaHei"/>
                          <a:cs typeface="Arial"/>
                        </a:rPr>
                        <a:t>ID</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Requirement</a:t>
                      </a:r>
                    </a:p>
                  </a:txBody>
                  <a:tcPr anchor="ctr" marL="76200" marR="76200" marT="19050" marB="19050">
                    <a:lnL>
                      <a:noFill/>
                    </a:lnL>
                    <a:lnR>
                      <a:noFill/>
                    </a:lnR>
                    <a:lnT>
                      <a:noFill/>
                    </a:lnT>
                    <a:lnB w="9525">
                      <a:solidFill>
                        <a:schemeClr val="accent1"/>
                      </a:solidFill>
                      <a:prstDash val="solid"/>
                    </a:lnB>
                    <a:solidFill>
                      <a:schemeClr val="lt2"/>
                    </a:solidFill>
                  </a:tcPr>
                </a:tc>
                <a:tc>
                  <a:txBody>
                    <a:bodyPr/>
                    <a:lstStyle/>
                    <a:p>
                      <a:pPr/>
                      <a:r>
                        <a:rPr lang="en-US" sz="900" b="1">
                          <a:solidFill>
                            <a:schemeClr val="accent1"/>
                          </a:solidFill>
                          <a:latin typeface="Arial"/>
                          <a:ea typeface="Microsoft YaHei"/>
                          <a:cs typeface="Arial"/>
                        </a:rPr>
                        <a:t>Solution the paper gives</a:t>
                      </a:r>
                    </a:p>
                  </a:txBody>
                  <a:tcPr anchor="ctr" marL="76200" marR="76200" marT="19050" marB="19050">
                    <a:lnL>
                      <a:noFill/>
                    </a:lnL>
                    <a:lnR>
                      <a:noFill/>
                    </a:lnR>
                    <a:lnT>
                      <a:noFill/>
                    </a:lnT>
                    <a:lnB w="9525">
                      <a:solidFill>
                        <a:schemeClr val="accent1"/>
                      </a:solidFill>
                      <a:prstDash val="solid"/>
                    </a:lnB>
                    <a:solidFill>
                      <a:schemeClr val="lt2"/>
                    </a:solidFill>
                  </a:tcPr>
                </a:tc>
              </a:tr>
              <a:tr h="381000">
                <a:tc>
                  <a:txBody>
                    <a:bodyPr/>
                    <a:lstStyle/>
                    <a:p>
                      <a:pPr/>
                      <a:r>
                        <a:rPr lang="en-US" sz="820" b="1">
                          <a:solidFill>
                            <a:schemeClr val="accent2"/>
                          </a:solidFill>
                          <a:latin typeface="Arial"/>
                          <a:ea typeface="Microsoft YaHei"/>
                          <a:cs typeface="Arial"/>
                        </a:rPr>
                        <a:t>L1</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Figure-cleanup residue: a caption strip or body-text slice baked</a:t>
                      </a:r>
                    </a:p>
                    <a:p>
                      <a:pPr algn="l"/>
                      <a:r>
                        <a:rPr lang="en-US" sz="820" b="0">
                          <a:solidFill>
                            <a:schemeClr val="dk1"/>
                          </a:solidFill>
                          <a:latin typeface="Arial"/>
                          <a:ea typeface="Microsoft YaHei"/>
                          <a:cs typeface="Arial"/>
                        </a:rPr>
                        <a:t>into a raster survives the deterministic prefix</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visual-AI decaption pass plus the fresh-context verifier (§2.1)</a:t>
                      </a:r>
                    </a:p>
                    <a:p>
                      <a:pPr algn="l"/>
                      <a:r>
                        <a:rPr lang="en-US" sz="820" b="0">
                          <a:solidFill>
                            <a:schemeClr val="dk1"/>
                          </a:solidFill>
                          <a:latin typeface="Arial"/>
                          <a:ea typeface="Microsoft YaHei"/>
                          <a:cs typeface="Arial"/>
                        </a:rPr>
                        <a:t>re-crops before any downstream skill embeds the figure</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514350">
                <a:tc>
                  <a:txBody>
                    <a:bodyPr/>
                    <a:lstStyle/>
                    <a:p>
                      <a:pPr/>
                      <a:r>
                        <a:rPr lang="en-US" sz="820" b="1">
                          <a:solidFill>
                            <a:schemeClr val="accent2"/>
                          </a:solidFill>
                          <a:latin typeface="Arial"/>
                          <a:ea typeface="Microsoft YaHei"/>
                          <a:cs typeface="Arial"/>
                        </a:rPr>
                        <a:t>L2</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Fill-loop non-convergence: the discrete loop oscillates across the</a:t>
                      </a:r>
                    </a:p>
                    <a:p>
                      <a:pPr algn="l"/>
                      <a:r>
                        <a:rPr lang="en-US" sz="820" b="0">
                          <a:solidFill>
                            <a:schemeClr val="dk1"/>
                          </a:solidFill>
                          <a:latin typeface="Arial"/>
                          <a:ea typeface="Microsoft YaHei"/>
                          <a:cs typeface="Arial"/>
                        </a:rPr>
                        <a:t>90–98% band when no catalogued move lands a section in-band</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on-disk round counter and circuit breaker (§2.2) ship the</a:t>
                      </a:r>
                    </a:p>
                    <a:p>
                      <a:pPr algn="l"/>
                      <a:r>
                        <a:rPr lang="en-US" sz="820" b="0">
                          <a:solidFill>
                            <a:schemeClr val="dk1"/>
                          </a:solidFill>
                          <a:latin typeface="Arial"/>
                          <a:ea typeface="Microsoft YaHei"/>
                          <a:cs typeface="Arial"/>
                        </a:rPr>
                        <a:t>best-measured state; the render-time whitespace expand</a:t>
                      </a:r>
                    </a:p>
                    <a:p>
                      <a:pPr algn="l"/>
                      <a:r>
                        <a:rPr lang="en-US" sz="820" b="0">
                          <a:solidFill>
                            <a:schemeClr val="dk1"/>
                          </a:solidFill>
                          <a:latin typeface="Arial"/>
                          <a:ea typeface="Microsoft YaHei"/>
                          <a:cs typeface="Arial"/>
                        </a:rPr>
                        <a:t>recovers the rest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L3</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Slide–narration referential drift: the script says "Figure 3" while</a:t>
                      </a:r>
                    </a:p>
                    <a:p>
                      <a:pPr algn="l"/>
                      <a:r>
                        <a:rPr lang="en-US" sz="820" b="0">
                          <a:solidFill>
                            <a:schemeClr val="dk1"/>
                          </a:solidFill>
                          <a:latin typeface="Arial"/>
                          <a:ea typeface="Microsoft YaHei"/>
                          <a:cs typeface="Arial"/>
                        </a:rPr>
                        <a:t>the slide shows Figure 2 after a panel reorder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shared alignment timeline (§2.3) lets the final QA gate reject</a:t>
                      </a:r>
                    </a:p>
                    <a:p>
                      <a:pPr algn="l"/>
                      <a:r>
                        <a:rPr lang="en-US" sz="820" b="0">
                          <a:solidFill>
                            <a:schemeClr val="dk1"/>
                          </a:solidFill>
                          <a:latin typeface="Arial"/>
                          <a:ea typeface="Microsoft YaHei"/>
                          <a:cs typeface="Arial"/>
                        </a:rPr>
                        <a:t>the render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514350">
                <a:tc>
                  <a:txBody>
                    <a:bodyPr/>
                    <a:lstStyle/>
                    <a:p>
                      <a:pPr/>
                      <a:r>
                        <a:rPr lang="en-US" sz="820" b="1">
                          <a:solidFill>
                            <a:schemeClr val="accent2"/>
                          </a:solidFill>
                          <a:latin typeface="Arial"/>
                          <a:ea typeface="Microsoft YaHei"/>
                          <a:cs typeface="Arial"/>
                        </a:rPr>
                        <a:t>L4</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Bilingual blog drift: the two drafts disagree on a numeric result,</a:t>
                      </a:r>
                    </a:p>
                    <a:p>
                      <a:pPr algn="l"/>
                      <a:r>
                        <a:rPr lang="en-US" sz="820" b="0">
                          <a:solidFill>
                            <a:schemeClr val="dk1"/>
                          </a:solidFill>
                          <a:latin typeface="Arial"/>
                          <a:ea typeface="Microsoft YaHei"/>
                          <a:cs typeface="Arial"/>
                        </a:rPr>
                        <a:t>benchmark name, or affiliation</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The shared evidence map plus the layout-aware DOCX gate</a:t>
                      </a:r>
                    </a:p>
                    <a:p>
                      <a:pPr algn="l"/>
                      <a:r>
                        <a:rPr lang="en-US" sz="820" b="0">
                          <a:solidFill>
                            <a:schemeClr val="dk1"/>
                          </a:solidFill>
                          <a:latin typeface="Arial"/>
                          <a:ea typeface="Microsoft YaHei"/>
                          <a:cs typeface="Arial"/>
                        </a:rPr>
                        <a:t>(§2.4) cross-check numeric claims, technical terms, and figure</a:t>
                      </a:r>
                    </a:p>
                    <a:p>
                      <a:pPr algn="l"/>
                      <a:r>
                        <a:rPr lang="en-US" sz="820" b="0">
                          <a:solidFill>
                            <a:schemeClr val="dk1"/>
                          </a:solidFill>
                          <a:latin typeface="Arial"/>
                          <a:ea typeface="Microsoft YaHei"/>
                          <a:cs typeface="Arial"/>
                        </a:rPr>
                        <a:t>order</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r h="381000">
                <a:tc>
                  <a:txBody>
                    <a:bodyPr/>
                    <a:lstStyle/>
                    <a:p>
                      <a:pPr/>
                      <a:r>
                        <a:rPr lang="en-US" sz="820" b="1">
                          <a:solidFill>
                            <a:schemeClr val="accent2"/>
                          </a:solidFill>
                          <a:latin typeface="Arial"/>
                          <a:ea typeface="Microsoft YaHei"/>
                          <a:cs typeface="Arial"/>
                        </a:rPr>
                        <a:t>L5</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Voice-mismatched narration: the default Edge TTS voice reads a</a:t>
                      </a:r>
                    </a:p>
                    <a:p>
                      <a:pPr algn="l"/>
                      <a:r>
                        <a:rPr lang="en-US" sz="820" b="0">
                          <a:solidFill>
                            <a:schemeClr val="dk1"/>
                          </a:solidFill>
                          <a:latin typeface="Arial"/>
                          <a:ea typeface="Microsoft YaHei"/>
                          <a:cs typeface="Arial"/>
                        </a:rPr>
                        <a:t>keynote-style deck flat</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c>
                  <a:txBody>
                    <a:bodyPr/>
                    <a:lstStyle/>
                    <a:p>
                      <a:pPr algn="l"/>
                      <a:r>
                        <a:rPr lang="en-US" sz="820" b="0">
                          <a:solidFill>
                            <a:schemeClr val="dk1"/>
                          </a:solidFill>
                          <a:latin typeface="Arial"/>
                          <a:ea typeface="Microsoft YaHei"/>
                          <a:cs typeface="Arial"/>
                        </a:rPr>
                        <a:t>Re-run the narration step (§2.3) with a different voice, e.g.</a:t>
                      </a:r>
                    </a:p>
                    <a:p>
                      <a:pPr algn="l"/>
                      <a:r>
                        <a:rPr lang="en-US" sz="820" b="0">
                          <a:solidFill>
                            <a:schemeClr val="dk1"/>
                          </a:solidFill>
                          <a:latin typeface="Arial"/>
                          <a:ea typeface="Microsoft YaHei"/>
                          <a:cs typeface="Arial"/>
                        </a:rPr>
                        <a:t>en-US-GuyNeural or en-US-AriaNeural</a:t>
                      </a:r>
                    </a:p>
                  </a:txBody>
                  <a:tcPr anchor="ctr" marL="76200" marR="76200" marT="19050" marB="19050">
                    <a:lnL>
                      <a:noFill/>
                    </a:lnL>
                    <a:lnR>
                      <a:noFill/>
                    </a:lnR>
                    <a:lnT w="7144">
                      <a:solidFill>
                        <a:srgbClr val="E6EAEF"/>
                      </a:solidFill>
                      <a:prstDash val="solid"/>
                    </a:lnT>
                    <a:lnB w="7144">
                      <a:solidFill>
                        <a:srgbClr val="E6EAEF"/>
                      </a:solidFill>
                      <a:prstDash val="solid"/>
                    </a:lnB>
                    <a:noFill/>
                  </a:tcPr>
                </a:tc>
              </a:tr>
            </a:tbl>
          </a:graphicData>
        </a:graphic>
      </p:graphicFrame>
      <p:grpSp>
        <p:nvGrpSpPr>
          <p:cNvPr id="12" name="Group 12"/>
          <p:cNvGrpSpPr/>
          <p:nvPr/>
        </p:nvGrpSpPr>
        <p:grpSpPr>
          <a:xfrm>
            <a:off x="8072438" y="1864995"/>
            <a:ext cx="3586162" cy="1046321"/>
            <a:chOff x="8072438" y="1864995"/>
            <a:chExt cx="3586162" cy="1046321"/>
          </a:xfrm>
        </p:grpSpPr>
        <p:sp>
          <p:nvSpPr>
            <p:cNvPr id="9" name="TextBox 9"/>
            <p:cNvSpPr txBox="1"/>
            <p:nvPr/>
          </p:nvSpPr>
          <p:spPr>
            <a:xfrm>
              <a:off x="8072438" y="1864995"/>
              <a:ext cx="1247098"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DOMAIN SCOPE</a:t>
              </a:r>
            </a:p>
          </p:txBody>
        </p:sp>
        <p:sp>
          <p:nvSpPr>
            <p:cNvPr id="10" name="Line 10"/>
            <p:cNvSpPr/>
            <p:nvPr/>
          </p:nvSpPr>
          <p:spPr>
            <a:xfrm>
              <a:off x="8077200" y="2038350"/>
              <a:ext cx="3581400" cy="9525"/>
            </a:xfrm>
            <a:custGeom>
              <a:avLst/>
              <a:gdLst/>
              <a:ahLst/>
              <a:cxnLst/>
              <a:rect l="l" t="t" r="r" b="b"/>
              <a:pathLst>
                <a:path w="3581400" h="9525">
                  <a:moveTo>
                    <a:pt x="0" y="0"/>
                  </a:moveTo>
                  <a:lnTo>
                    <a:pt x="3581400" y="0"/>
                  </a:lnTo>
                </a:path>
              </a:pathLst>
            </a:custGeom>
            <a:noFill/>
            <a:ln w="9525">
              <a:solidFill>
                <a:schemeClr val="accent1"/>
              </a:solidFill>
            </a:ln>
          </p:spPr>
        </p:sp>
        <p:sp>
          <p:nvSpPr>
            <p:cNvPr id="11" name="TextBox 11"/>
            <p:cNvSpPr txBox="1"/>
            <p:nvPr/>
          </p:nvSpPr>
          <p:spPr>
            <a:xfrm>
              <a:off x="8072438" y="2082641"/>
              <a:ext cx="3309118" cy="8286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Calibrated on ML, CV, and NLP venues, where paper layout, figure</a:t>
              </a:r>
              <a:br/>
              <a:r>
                <a:rPr lang="en-US" sz="820" dirty="0">
                  <a:solidFill>
                    <a:schemeClr val="dk1"/>
                  </a:solidFill>
                  <a:latin typeface="+mn-lt"/>
                  <a:ea typeface="+mn-ea"/>
                  <a:cs typeface="+mn-cs"/>
                </a:rPr>
                <a:t>conventions, and the claim–evidence structure are relatively uniform.</a:t>
              </a:r>
              <a:br/>
              <a:r>
                <a:rPr lang="en-US" sz="820" dirty="0">
                  <a:solidFill>
                    <a:schemeClr val="dk1"/>
                  </a:solidFill>
                  <a:latin typeface="+mn-lt"/>
                  <a:ea typeface="+mn-ea"/>
                  <a:cs typeface="+mn-cs"/>
                </a:rPr>
                <a:t>Transfer to biomedicine, physics, or design-heavy fields is untested and</a:t>
              </a:r>
              <a:br/>
              <a:r>
                <a:rPr lang="en-US" sz="820" dirty="0">
                  <a:solidFill>
                    <a:schemeClr val="dk1"/>
                  </a:solidFill>
                  <a:latin typeface="+mn-lt"/>
                  <a:ea typeface="+mn-ea"/>
                  <a:cs typeface="+mn-cs"/>
                </a:rPr>
                <a:t>each skill's move catalogue may need extending; the primitives are</a:t>
              </a:r>
              <a:br/>
              <a:r>
                <a:rPr lang="en-US" sz="820" dirty="0">
                  <a:solidFill>
                    <a:schemeClr val="dk1"/>
                  </a:solidFill>
                  <a:latin typeface="+mn-lt"/>
                  <a:ea typeface="+mn-ea"/>
                  <a:cs typeface="+mn-cs"/>
                </a:rPr>
                <a:t>domain-agnostic, but each venue family should be validated end-to-end</a:t>
              </a:r>
              <a:br/>
              <a:r>
                <a:rPr lang="en-US" sz="820" dirty="0">
                  <a:solidFill>
                    <a:schemeClr val="dk1"/>
                  </a:solidFill>
                  <a:latin typeface="+mn-lt"/>
                  <a:ea typeface="+mn-ea"/>
                  <a:cs typeface="+mn-cs"/>
                </a:rPr>
                <a:t>before deployment.</a:t>
              </a:r>
            </a:p>
          </p:txBody>
        </p:sp>
      </p:grpSp>
      <p:grpSp>
        <p:nvGrpSpPr>
          <p:cNvPr id="16" name="Group 16"/>
          <p:cNvGrpSpPr/>
          <p:nvPr/>
        </p:nvGrpSpPr>
        <p:grpSpPr>
          <a:xfrm>
            <a:off x="8072438" y="3293745"/>
            <a:ext cx="3586162" cy="1179671"/>
            <a:chOff x="8072438" y="3293745"/>
            <a:chExt cx="3586162" cy="1179671"/>
          </a:xfrm>
        </p:grpSpPr>
        <p:sp>
          <p:nvSpPr>
            <p:cNvPr id="13" name="TextBox 13"/>
            <p:cNvSpPr txBox="1"/>
            <p:nvPr/>
          </p:nvSpPr>
          <p:spPr>
            <a:xfrm>
              <a:off x="8072438" y="3293745"/>
              <a:ext cx="1993901"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EVALUATION COVERAGE</a:t>
              </a:r>
            </a:p>
          </p:txBody>
        </p:sp>
        <p:sp>
          <p:nvSpPr>
            <p:cNvPr id="14" name="Line 14"/>
            <p:cNvSpPr/>
            <p:nvPr/>
          </p:nvSpPr>
          <p:spPr>
            <a:xfrm>
              <a:off x="8077200" y="3467100"/>
              <a:ext cx="3581400" cy="9525"/>
            </a:xfrm>
            <a:custGeom>
              <a:avLst/>
              <a:gdLst/>
              <a:ahLst/>
              <a:cxnLst/>
              <a:rect l="l" t="t" r="r" b="b"/>
              <a:pathLst>
                <a:path w="3581400" h="9525">
                  <a:moveTo>
                    <a:pt x="0" y="0"/>
                  </a:moveTo>
                  <a:lnTo>
                    <a:pt x="3581400" y="0"/>
                  </a:lnTo>
                </a:path>
              </a:pathLst>
            </a:custGeom>
            <a:noFill/>
            <a:ln w="9525">
              <a:solidFill>
                <a:schemeClr val="accent1"/>
              </a:solidFill>
            </a:ln>
          </p:spPr>
        </p:sp>
        <p:sp>
          <p:nvSpPr>
            <p:cNvPr id="15" name="TextBox 15"/>
            <p:cNvSpPr txBox="1"/>
            <p:nvPr/>
          </p:nvSpPr>
          <p:spPr>
            <a:xfrm>
              <a:off x="8072438" y="3511391"/>
              <a:ext cx="3309138" cy="9620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Quantitative results are reported only for the poster, under two VLM</a:t>
              </a:r>
              <a:br/>
              <a:r>
                <a:rPr lang="en-US" sz="820" dirty="0">
                  <a:solidFill>
                    <a:schemeClr val="dk1"/>
                  </a:solidFill>
                  <a:latin typeface="+mn-lt"/>
                  <a:ea typeface="+mn-ea"/>
                  <a:cs typeface="+mn-cs"/>
                </a:rPr>
                <a:t>judges on the Paper2Poster benchmark; the video benchmark of</a:t>
              </a:r>
              <a:br/>
              <a:r>
                <a:rPr lang="en-US" sz="820" dirty="0">
                  <a:solidFill>
                    <a:schemeClr val="dk1"/>
                  </a:solidFill>
                  <a:latin typeface="+mn-lt"/>
                  <a:ea typeface="+mn-ea"/>
                  <a:cs typeface="+mn-cs"/>
                </a:rPr>
                <a:t>Paper2Video [4] is not applied. The audits in Tables 2–3 document</a:t>
              </a:r>
              <a:br/>
              <a:r>
                <a:rPr lang="en-US" sz="820" dirty="0">
                  <a:solidFill>
                    <a:schemeClr val="dk1"/>
                  </a:solidFill>
                  <a:latin typeface="+mn-lt"/>
                  <a:ea typeface="+mn-ea"/>
                  <a:cs typeface="+mn-cs"/>
                </a:rPr>
                <a:t>output contracts but do not measure human editing effort, fidelity after</a:t>
              </a:r>
              <a:br/>
              <a:r>
                <a:rPr lang="en-US" sz="820" dirty="0">
                  <a:solidFill>
                    <a:schemeClr val="dk1"/>
                  </a:solidFill>
                  <a:latin typeface="+mn-lt"/>
                  <a:ea typeface="+mn-ea"/>
                  <a:cs typeface="+mn-cs"/>
                </a:rPr>
                <a:t>edits, or whether section-level navigation improves understanding. RRP</a:t>
              </a:r>
              <a:br/>
              <a:r>
                <a:rPr lang="en-US" sz="820" dirty="0">
                  <a:solidFill>
                    <a:schemeClr val="dk1"/>
                  </a:solidFill>
                  <a:latin typeface="+mn-lt"/>
                  <a:ea typeface="+mn-ea"/>
                  <a:cs typeface="+mn-cs"/>
                </a:rPr>
                <a:t>(§2.2) is an in-loop signal, not a headline metric; a third-party</a:t>
              </a:r>
              <a:br/>
              <a:r>
                <a:rPr lang="en-US" sz="820" dirty="0">
                  <a:solidFill>
                    <a:schemeClr val="dk1"/>
                  </a:solidFill>
                  <a:latin typeface="+mn-lt"/>
                  <a:ea typeface="+mn-ea"/>
                  <a:cs typeface="+mn-cs"/>
                </a:rPr>
                <a:t>human-rater study across all three artifacts is left for future work.</a:t>
              </a:r>
            </a:p>
          </p:txBody>
        </p:sp>
      </p:grpSp>
      <p:grpSp>
        <p:nvGrpSpPr>
          <p:cNvPr id="21" name="Group 21"/>
          <p:cNvGrpSpPr/>
          <p:nvPr/>
        </p:nvGrpSpPr>
        <p:grpSpPr>
          <a:xfrm>
            <a:off x="533400" y="4438650"/>
            <a:ext cx="7239000" cy="1009650"/>
            <a:chOff x="533400" y="4438650"/>
            <a:chExt cx="7239000" cy="1009650"/>
          </a:xfrm>
        </p:grpSpPr>
        <p:sp>
          <p:nvSpPr>
            <p:cNvPr id="17" name="Rectangle 17"/>
            <p:cNvSpPr/>
            <p:nvPr/>
          </p:nvSpPr>
          <p:spPr>
            <a:xfrm>
              <a:off x="533400" y="4438650"/>
              <a:ext cx="7239000" cy="1009650"/>
            </a:xfrm>
            <a:prstGeom prst="rect">
              <a:avLst/>
            </a:prstGeom>
            <a:solidFill>
              <a:schemeClr val="lt2"/>
            </a:solidFill>
            <a:ln>
              <a:noFill/>
            </a:ln>
          </p:spPr>
        </p:sp>
        <p:sp>
          <p:nvSpPr>
            <p:cNvPr id="18" name="Rectangle 18"/>
            <p:cNvSpPr/>
            <p:nvPr/>
          </p:nvSpPr>
          <p:spPr>
            <a:xfrm>
              <a:off x="533400" y="4438650"/>
              <a:ext cx="38100" cy="1009650"/>
            </a:xfrm>
            <a:prstGeom prst="rect">
              <a:avLst/>
            </a:prstGeom>
            <a:solidFill>
              <a:schemeClr val="accent1"/>
            </a:solidFill>
            <a:ln>
              <a:noFill/>
            </a:ln>
          </p:spPr>
        </p:sp>
        <p:sp>
          <p:nvSpPr>
            <p:cNvPr id="19" name="TextBox 19"/>
            <p:cNvSpPr txBox="1"/>
            <p:nvPr/>
          </p:nvSpPr>
          <p:spPr>
            <a:xfrm>
              <a:off x="681038" y="4551045"/>
              <a:ext cx="2326966"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Appendix B, provenance and disclosure</a:t>
              </a:r>
            </a:p>
          </p:txBody>
        </p:sp>
        <p:sp>
          <p:nvSpPr>
            <p:cNvPr id="20" name="TextBox 20"/>
            <p:cNvSpPr txBox="1"/>
            <p:nvPr/>
          </p:nvSpPr>
          <p:spPr>
            <a:xfrm>
              <a:off x="681038" y="4749641"/>
              <a:ext cx="6371646" cy="56197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A narrated video with burned-in subtitles is not obviously AI-produced at a glance. The authors recommend that deployments preserve</a:t>
              </a:r>
              <a:br/>
              <a:r>
                <a:rPr lang="en-US" sz="820" dirty="0">
                  <a:solidFill>
                    <a:schemeClr val="dk1"/>
                  </a:solidFill>
                  <a:latin typeface="+mn-lt"/>
                  <a:ea typeface="+mn-ea"/>
                  <a:cs typeface="+mn-cs"/>
                </a:rPr>
                <a:t>provenance metadata — which skill and version, which bundle checksum, which theme, header, or TTS voice, which model — so readers</a:t>
              </a:r>
              <a:br/>
              <a:r>
                <a:rPr lang="en-US" sz="820" dirty="0">
                  <a:solidFill>
                    <a:schemeClr val="dk1"/>
                  </a:solidFill>
                  <a:latin typeface="+mn-lt"/>
                  <a:ea typeface="+mn-ea"/>
                  <a:cs typeface="+mn-cs"/>
                </a:rPr>
                <a:t>can audit the generation chain and, where required, disclose AI involvement; the inventory manifest and the video QA record already carry</a:t>
              </a:r>
              <a:br/>
              <a:r>
                <a:rPr lang="en-US" sz="820" dirty="0">
                  <a:solidFill>
                    <a:schemeClr val="dk1"/>
                  </a:solidFill>
                  <a:latin typeface="+mn-lt"/>
                  <a:ea typeface="+mn-ea"/>
                  <a:cs typeface="+mn-cs"/>
                </a:rPr>
                <a:t>this ancestry.</a:t>
              </a:r>
            </a:p>
          </p:txBody>
        </p:sp>
      </p:grpSp>
      <p:grpSp>
        <p:nvGrpSpPr>
          <p:cNvPr id="25" name="Group 25"/>
          <p:cNvGrpSpPr/>
          <p:nvPr/>
        </p:nvGrpSpPr>
        <p:grpSpPr>
          <a:xfrm>
            <a:off x="8072438" y="4741545"/>
            <a:ext cx="3586162" cy="912971"/>
            <a:chOff x="8072438" y="4741545"/>
            <a:chExt cx="3586162" cy="912971"/>
          </a:xfrm>
        </p:grpSpPr>
        <p:sp>
          <p:nvSpPr>
            <p:cNvPr id="22" name="TextBox 22"/>
            <p:cNvSpPr txBox="1"/>
            <p:nvPr/>
          </p:nvSpPr>
          <p:spPr>
            <a:xfrm>
              <a:off x="8072438" y="4741545"/>
              <a:ext cx="1986877"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LICENSING, APPENDIX B</a:t>
              </a:r>
            </a:p>
          </p:txBody>
        </p:sp>
        <p:sp>
          <p:nvSpPr>
            <p:cNvPr id="23" name="Line 23"/>
            <p:cNvSpPr/>
            <p:nvPr/>
          </p:nvSpPr>
          <p:spPr>
            <a:xfrm>
              <a:off x="8077200" y="4914900"/>
              <a:ext cx="3581400" cy="9525"/>
            </a:xfrm>
            <a:custGeom>
              <a:avLst/>
              <a:gdLst/>
              <a:ahLst/>
              <a:cxnLst/>
              <a:rect l="l" t="t" r="r" b="b"/>
              <a:pathLst>
                <a:path w="3581400" h="9525">
                  <a:moveTo>
                    <a:pt x="0" y="0"/>
                  </a:moveTo>
                  <a:lnTo>
                    <a:pt x="3581400" y="0"/>
                  </a:lnTo>
                </a:path>
              </a:pathLst>
            </a:custGeom>
            <a:noFill/>
            <a:ln w="9525">
              <a:solidFill>
                <a:schemeClr val="accent1"/>
              </a:solidFill>
            </a:ln>
          </p:spPr>
        </p:sp>
        <p:sp>
          <p:nvSpPr>
            <p:cNvPr id="24" name="TextBox 24"/>
            <p:cNvSpPr txBox="1"/>
            <p:nvPr/>
          </p:nvSpPr>
          <p:spPr>
            <a:xfrm>
              <a:off x="8072438" y="4959191"/>
              <a:ext cx="3241874" cy="695325"/>
            </a:xfrm>
            <a:prstGeom prst="rect">
              <a:avLst/>
            </a:prstGeom>
            <a:noFill/>
            <a:ln>
              <a:noFill/>
            </a:ln>
          </p:spPr>
          <p:txBody>
            <a:bodyPr wrap="none" lIns="0" tIns="0" rIns="0" bIns="0" anchor="t" anchorCtr="0">
              <a:spAutoFit/>
            </a:bodyPr>
            <a:lstStyle/>
            <a:p>
              <a:pPr algn="l">
                <a:lnSpc>
                  <a:spcPts val="1050"/>
                </a:lnSpc>
              </a:pPr>
              <a:r>
                <a:rPr lang="en-US" sz="820" dirty="0">
                  <a:solidFill>
                    <a:schemeClr val="dk1"/>
                  </a:solidFill>
                  <a:latin typeface="+mn-lt"/>
                  <a:ea typeface="+mn-ea"/>
                  <a:cs typeface="+mn-cs"/>
                </a:rPr>
                <a:t>Per-figure copyright on extracted figures follows the source paper's</a:t>
              </a:r>
              <a:br/>
              <a:r>
                <a:rPr lang="en-US" sz="820" dirty="0">
                  <a:solidFill>
                    <a:schemeClr val="dk1"/>
                  </a:solidFill>
                  <a:latin typeface="+mn-lt"/>
                  <a:ea typeface="+mn-ea"/>
                  <a:cs typeface="+mn-cs"/>
                </a:rPr>
                <a:t>license; logos follow Wikimedia Commons and Wikidata; the edge-tts</a:t>
              </a:r>
              <a:br/>
              <a:r>
                <a:rPr lang="en-US" sz="820" dirty="0">
                  <a:solidFill>
                    <a:schemeClr val="dk1"/>
                  </a:solidFill>
                  <a:latin typeface="+mn-lt"/>
                  <a:ea typeface="+mn-ea"/>
                  <a:cs typeface="+mn-cs"/>
                </a:rPr>
                <a:t>client accesses Microsoft Edge's online service, so deployments verify</a:t>
              </a:r>
              <a:br/>
              <a:r>
                <a:rPr lang="en-US" sz="820" dirty="0">
                  <a:solidFill>
                    <a:schemeClr val="dk1"/>
                  </a:solidFill>
                  <a:latin typeface="+mn-lt"/>
                  <a:ea typeface="+mn-ea"/>
                  <a:cs typeface="+mn-cs"/>
                </a:rPr>
                <a:t>the service terms. The pipeline redistributes neither figures nor logos:</a:t>
              </a:r>
              <a:br/>
              <a:r>
                <a:rPr lang="en-US" sz="820" dirty="0">
                  <a:solidFill>
                    <a:schemeClr val="dk1"/>
                  </a:solidFill>
                  <a:latin typeface="+mn-lt"/>
                  <a:ea typeface="+mn-ea"/>
                  <a:cs typeface="+mn-cs"/>
                </a:rPr>
                <a:t>the user runs it on their own paper.</a:t>
              </a:r>
            </a:p>
          </p:txBody>
        </p:sp>
      </p:grpSp>
      <p:grpSp>
        <p:nvGrpSpPr>
          <p:cNvPr id="28" name="Group 28"/>
          <p:cNvGrpSpPr/>
          <p:nvPr/>
        </p:nvGrpSpPr>
        <p:grpSpPr>
          <a:xfrm>
            <a:off x="528638" y="6415088"/>
            <a:ext cx="11134724" cy="147638"/>
            <a:chOff x="528638" y="6415088"/>
            <a:chExt cx="11134724" cy="147638"/>
          </a:xfrm>
        </p:grpSpPr>
        <p:sp>
          <p:nvSpPr>
            <p:cNvPr id="26" name="TextBox 26"/>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27" name="TextBox 27"/>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22" presetClass="entr" presetSubtype="4" fill="hold" grpId="0" nodeType="after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700"/>
                                        <p:tgtEl>
                                          <p:spTgt spid="8"/>
                                        </p:tgtEl>
                                      </p:cBhvr>
                                    </p:animEffect>
                                  </p:childTnLst>
                                </p:cTn>
                              </p:par>
                            </p:childTnLst>
                          </p:cTn>
                        </p:par>
                        <p:par>
                          <p:cTn id="16" fill="hold">
                            <p:stCondLst>
                              <p:cond delay="2400"/>
                            </p:stCondLst>
                            <p:childTnLst>
                              <p:par>
                                <p:cTn id="17" presetID="10" presetClass="entr" presetSubtype="0" fill="hold" grpId="0" nodeType="after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childTnLst>
                          </p:cTn>
                        </p:par>
                        <p:par>
                          <p:cTn id="24" fill="hold">
                            <p:stCondLst>
                              <p:cond delay="4200"/>
                            </p:stCondLst>
                            <p:childTnLst>
                              <p:par>
                                <p:cTn id="25" presetID="10" presetClass="entr" presetSubtype="0" fill="hold" grpId="0" nodeType="afterEffect">
                                  <p:stCondLst>
                                    <p:cond delay="50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068290" y="321945"/>
            <a:ext cx="2595073"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§6 FUTURE WORK · §7 CONCLUSION</a:t>
            </a:r>
          </a:p>
        </p:txBody>
      </p:sp>
      <p:grpSp>
        <p:nvGrpSpPr>
          <p:cNvPr id="4" name="Group 4"/>
          <p:cNvGrpSpPr/>
          <p:nvPr/>
        </p:nvGrpSpPr>
        <p:grpSpPr>
          <a:xfrm>
            <a:off x="522732" y="573405"/>
            <a:ext cx="9698812" cy="734568"/>
            <a:chOff x="522732" y="573405"/>
            <a:chExt cx="9698812" cy="734568"/>
          </a:xfrm>
        </p:grpSpPr>
        <p:sp>
          <p:nvSpPr>
            <p:cNvPr id="3" name="TextBox 3"/>
            <p:cNvSpPr txBox="1"/>
            <p:nvPr/>
          </p:nvSpPr>
          <p:spPr>
            <a:xfrm>
              <a:off x="522732" y="573405"/>
              <a:ext cx="9698812" cy="734568"/>
            </a:xfrm>
            <a:prstGeom prst="rect">
              <a:avLst/>
            </a:prstGeom>
            <a:noFill/>
            <a:ln>
              <a:noFill/>
            </a:ln>
          </p:spPr>
          <p:txBody>
            <a:bodyPr wrap="none" lIns="0" tIns="0" rIns="0" bIns="0" anchor="t" anchorCtr="0">
              <a:spAutoFit/>
            </a:bodyPr>
            <a:lstStyle/>
            <a:p>
              <a:pPr algn="l">
                <a:lnSpc>
                  <a:spcPts val="2550"/>
                </a:lnSpc>
              </a:pPr>
              <a:r>
                <a:rPr lang="en-US" sz="2100" b="1" dirty="0">
                  <a:solidFill>
                    <a:schemeClr val="accent1"/>
                  </a:solidFill>
                  <a:latin typeface="+mn-lt"/>
                  <a:ea typeface="+mn-ea"/>
                  <a:cs typeface="+mn-cs"/>
                </a:rPr>
                <a:t>Supported: a native-editable, section-aligned workspace with testable gates.</a:t>
              </a:r>
              <a:br/>
              <a:r>
                <a:rPr lang="en-US" sz="2100" b="1" dirty="0">
                  <a:solidFill>
                    <a:schemeClr val="accent1"/>
                  </a:solidFill>
                  <a:latin typeface="+mn-lt"/>
                  <a:ea typeface="+mn-ea"/>
                  <a:cs typeface="+mn-cs"/>
                </a:rPr>
                <a:t>Open: reading-and-recall evaluation and bespoke diagrams</a:t>
              </a:r>
            </a:p>
          </p:txBody>
        </p:sp>
      </p:grpSp>
      <p:grpSp>
        <p:nvGrpSpPr>
          <p:cNvPr id="6" name="!!claim-carry"/>
          <p:cNvGrpSpPr/>
          <p:nvPr/>
        </p:nvGrpSpPr>
        <p:grpSpPr>
          <a:xfrm>
            <a:off x="526542" y="1302068"/>
            <a:ext cx="10282791" cy="264033"/>
            <a:chOff x="526542" y="1302068"/>
            <a:chExt cx="10282791" cy="264033"/>
          </a:xfrm>
        </p:grpSpPr>
        <p:sp>
          <p:nvSpPr>
            <p:cNvPr id="5" name="TextBox 5"/>
            <p:cNvSpPr txBox="1"/>
            <p:nvPr/>
          </p:nvSpPr>
          <p:spPr>
            <a:xfrm>
              <a:off x="526542" y="1302068"/>
              <a:ext cx="1028279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From one-way automation to a workflow authors can inspect, navigate, and revise; the paper names the limits of its own proxies</a:t>
              </a:r>
            </a:p>
          </p:txBody>
        </p:sp>
      </p:grpSp>
      <p:sp>
        <p:nvSpPr>
          <p:cNvPr id="7" name="Line 7"/>
          <p:cNvSpPr/>
          <p:nvPr/>
        </p:nvSpPr>
        <p:spPr>
          <a:xfrm>
            <a:off x="533400" y="161925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0" name="Group 10"/>
          <p:cNvGrpSpPr/>
          <p:nvPr/>
        </p:nvGrpSpPr>
        <p:grpSpPr>
          <a:xfrm>
            <a:off x="528638" y="1864995"/>
            <a:ext cx="5910262" cy="182880"/>
            <a:chOff x="528638" y="1864995"/>
            <a:chExt cx="5910262" cy="182880"/>
          </a:xfrm>
        </p:grpSpPr>
        <p:sp>
          <p:nvSpPr>
            <p:cNvPr id="8" name="TextBox 8"/>
            <p:cNvSpPr txBox="1"/>
            <p:nvPr/>
          </p:nvSpPr>
          <p:spPr>
            <a:xfrm>
              <a:off x="528638" y="1864995"/>
              <a:ext cx="2385186"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ESTABLISHED BY THE PAPER</a:t>
              </a:r>
            </a:p>
          </p:txBody>
        </p:sp>
        <p:sp>
          <p:nvSpPr>
            <p:cNvPr id="9" name="Line 9"/>
            <p:cNvSpPr/>
            <p:nvPr/>
          </p:nvSpPr>
          <p:spPr>
            <a:xfrm>
              <a:off x="533400" y="2038350"/>
              <a:ext cx="5905500" cy="9525"/>
            </a:xfrm>
            <a:custGeom>
              <a:avLst/>
              <a:gdLst/>
              <a:ahLst/>
              <a:cxnLst/>
              <a:rect l="l" t="t" r="r" b="b"/>
              <a:pathLst>
                <a:path w="5905500" h="9525">
                  <a:moveTo>
                    <a:pt x="0" y="0"/>
                  </a:moveTo>
                  <a:lnTo>
                    <a:pt x="5905500" y="0"/>
                  </a:lnTo>
                </a:path>
              </a:pathLst>
            </a:custGeom>
            <a:noFill/>
            <a:ln w="9525">
              <a:solidFill>
                <a:schemeClr val="accent1"/>
              </a:solidFill>
            </a:ln>
          </p:spPr>
        </p:sp>
      </p:grpSp>
      <p:grpSp>
        <p:nvGrpSpPr>
          <p:cNvPr id="15" name="Group 15"/>
          <p:cNvGrpSpPr/>
          <p:nvPr/>
        </p:nvGrpSpPr>
        <p:grpSpPr>
          <a:xfrm>
            <a:off x="533400" y="2124075"/>
            <a:ext cx="5281193" cy="780765"/>
            <a:chOff x="533400" y="2124075"/>
            <a:chExt cx="5281193" cy="780765"/>
          </a:xfrm>
        </p:grpSpPr>
        <p:sp>
          <p:nvSpPr>
            <p:cNvPr id="11" name="Ellipse 11"/>
            <p:cNvSpPr/>
            <p:nvPr/>
          </p:nvSpPr>
          <p:spPr>
            <a:xfrm>
              <a:off x="533400" y="2124075"/>
              <a:ext cx="190500" cy="190500"/>
            </a:xfrm>
            <a:prstGeom prst="ellipse">
              <a:avLst/>
            </a:prstGeom>
            <a:solidFill>
              <a:schemeClr val="accent2"/>
            </a:solidFill>
            <a:ln>
              <a:noFill/>
            </a:ln>
          </p:spPr>
        </p:sp>
        <p:sp>
          <p:nvSpPr>
            <p:cNvPr id="12" name="TextBox 12"/>
            <p:cNvSpPr txBox="1"/>
            <p:nvPr/>
          </p:nvSpPr>
          <p:spPr>
            <a:xfrm>
              <a:off x="593188" y="216836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1</a:t>
              </a:r>
            </a:p>
          </p:txBody>
        </p:sp>
        <p:sp>
          <p:nvSpPr>
            <p:cNvPr id="13" name="TextBox 13"/>
            <p:cNvSpPr txBox="1"/>
            <p:nvPr/>
          </p:nvSpPr>
          <p:spPr>
            <a:xfrm>
              <a:off x="794385" y="2145506"/>
              <a:ext cx="4725002"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Five composable skills, one bundle, three native-editable artifacts</a:t>
              </a:r>
            </a:p>
          </p:txBody>
        </p:sp>
        <p:sp>
          <p:nvSpPr>
            <p:cNvPr id="14" name="TextBox 14"/>
            <p:cNvSpPr txBox="1"/>
            <p:nvPr/>
          </p:nvSpPr>
          <p:spPr>
            <a:xfrm>
              <a:off x="795147" y="2390299"/>
              <a:ext cx="5019446" cy="514541"/>
            </a:xfrm>
            <a:prstGeom prst="rect">
              <a:avLst/>
            </a:prstGeom>
            <a:noFill/>
            <a:ln>
              <a:noFill/>
            </a:ln>
          </p:spPr>
          <p:txBody>
            <a:bodyPr wrap="none" lIns="0" tIns="0" rIns="0" bIns="0" anchor="t" anchorCtr="0">
              <a:spAutoFit/>
            </a:bodyPr>
            <a:lstStyle/>
            <a:p>
              <a:pPr algn="l">
                <a:lnSpc>
                  <a:spcPts val="1275"/>
                </a:lnSpc>
              </a:pPr>
              <a:r>
                <a:rPr lang="en-US" sz="980" dirty="0">
                  <a:solidFill>
                    <a:schemeClr val="dk1"/>
                  </a:solidFill>
                  <a:latin typeface="+mn-lt"/>
                  <a:ea typeface="+mn-ea"/>
                  <a:cs typeface="+mn-cs"/>
                </a:rPr>
                <a:t>One Paper2Assets bundle feeds a native-editable PowerPoint poster and video deck and a</a:t>
              </a:r>
              <a:br/>
              <a:r>
                <a:rPr lang="en-US" sz="980" dirty="0">
                  <a:solidFill>
                    <a:schemeClr val="dk1"/>
                  </a:solidFill>
                  <a:latin typeface="+mn-lt"/>
                  <a:ea typeface="+mn-ea"/>
                  <a:cs typeface="+mn-cs"/>
                </a:rPr>
                <a:t>bilingual Word blog; Paper2Reel binds their sections, slides, video times, captions, and</a:t>
              </a:r>
              <a:br/>
              <a:r>
                <a:rPr lang="en-US" sz="980" dirty="0">
                  <a:solidFill>
                    <a:schemeClr val="dk1"/>
                  </a:solidFill>
                  <a:latin typeface="+mn-lt"/>
                  <a:ea typeface="+mn-ea"/>
                  <a:cs typeface="+mn-cs"/>
                </a:rPr>
                <a:t>passages.</a:t>
              </a:r>
            </a:p>
          </p:txBody>
        </p:sp>
      </p:grpSp>
      <p:grpSp>
        <p:nvGrpSpPr>
          <p:cNvPr id="20" name="Group 20"/>
          <p:cNvGrpSpPr/>
          <p:nvPr/>
        </p:nvGrpSpPr>
        <p:grpSpPr>
          <a:xfrm>
            <a:off x="533400" y="3086100"/>
            <a:ext cx="5495140" cy="780765"/>
            <a:chOff x="533400" y="3086100"/>
            <a:chExt cx="5495140" cy="780765"/>
          </a:xfrm>
        </p:grpSpPr>
        <p:sp>
          <p:nvSpPr>
            <p:cNvPr id="16" name="Ellipse 16"/>
            <p:cNvSpPr/>
            <p:nvPr/>
          </p:nvSpPr>
          <p:spPr>
            <a:xfrm>
              <a:off x="533400" y="3086100"/>
              <a:ext cx="190500" cy="190500"/>
            </a:xfrm>
            <a:prstGeom prst="ellipse">
              <a:avLst/>
            </a:prstGeom>
            <a:solidFill>
              <a:schemeClr val="accent2"/>
            </a:solidFill>
            <a:ln>
              <a:noFill/>
            </a:ln>
          </p:spPr>
        </p:sp>
        <p:sp>
          <p:nvSpPr>
            <p:cNvPr id="17" name="TextBox 17"/>
            <p:cNvSpPr txBox="1"/>
            <p:nvPr/>
          </p:nvSpPr>
          <p:spPr>
            <a:xfrm>
              <a:off x="593188" y="3130391"/>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2</a:t>
              </a:r>
            </a:p>
          </p:txBody>
        </p:sp>
        <p:sp>
          <p:nvSpPr>
            <p:cNvPr id="18" name="TextBox 18"/>
            <p:cNvSpPr txBox="1"/>
            <p:nvPr/>
          </p:nvSpPr>
          <p:spPr>
            <a:xfrm>
              <a:off x="794385" y="3107531"/>
              <a:ext cx="3830772"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Posters judged above the authors' own on aesthetics</a:t>
              </a:r>
            </a:p>
          </p:txBody>
        </p:sp>
        <p:sp>
          <p:nvSpPr>
            <p:cNvPr id="19" name="TextBox 19"/>
            <p:cNvSpPr txBox="1"/>
            <p:nvPr/>
          </p:nvSpPr>
          <p:spPr>
            <a:xfrm>
              <a:off x="795147" y="3352324"/>
              <a:ext cx="5233393" cy="514541"/>
            </a:xfrm>
            <a:prstGeom prst="rect">
              <a:avLst/>
            </a:prstGeom>
            <a:noFill/>
            <a:ln>
              <a:noFill/>
            </a:ln>
          </p:spPr>
          <p:txBody>
            <a:bodyPr wrap="none" lIns="0" tIns="0" rIns="0" bIns="0" anchor="t" anchorCtr="0">
              <a:spAutoFit/>
            </a:bodyPr>
            <a:lstStyle/>
            <a:p>
              <a:pPr algn="l">
                <a:lnSpc>
                  <a:spcPts val="1275"/>
                </a:lnSpc>
              </a:pPr>
              <a:r>
                <a:rPr lang="en-US" sz="980" dirty="0">
                  <a:solidFill>
                    <a:schemeClr val="dk1"/>
                  </a:solidFill>
                  <a:latin typeface="+mn-lt"/>
                  <a:ea typeface="+mn-ea"/>
                  <a:cs typeface="+mn-cs"/>
                </a:rPr>
                <a:t>Best among automated systems on all three aesthetic sub-criteria and best or tied-best on two</a:t>
              </a:r>
              <a:br/>
              <a:r>
                <a:rPr lang="en-US" sz="980" dirty="0">
                  <a:solidFill>
                    <a:schemeClr val="dk1"/>
                  </a:solidFill>
                  <a:latin typeface="+mn-lt"/>
                  <a:ea typeface="+mn-ea"/>
                  <a:cs typeface="+mn-cs"/>
                </a:rPr>
                <a:t>of three information sub-criteria under two VLM judges; 3.56 vs 3.03; overall wins on 74 and 95</a:t>
              </a:r>
              <a:br/>
              <a:r>
                <a:rPr lang="en-US" sz="980" dirty="0">
                  <a:solidFill>
                    <a:schemeClr val="dk1"/>
                  </a:solidFill>
                  <a:latin typeface="+mn-lt"/>
                  <a:ea typeface="+mn-ea"/>
                  <a:cs typeface="+mn-cs"/>
                </a:rPr>
                <a:t>of 100 papers.</a:t>
              </a:r>
            </a:p>
          </p:txBody>
        </p:sp>
      </p:grpSp>
      <p:grpSp>
        <p:nvGrpSpPr>
          <p:cNvPr id="25" name="Group 25"/>
          <p:cNvGrpSpPr/>
          <p:nvPr/>
        </p:nvGrpSpPr>
        <p:grpSpPr>
          <a:xfrm>
            <a:off x="533400" y="4048125"/>
            <a:ext cx="5294286" cy="780765"/>
            <a:chOff x="533400" y="4048125"/>
            <a:chExt cx="5294286" cy="780765"/>
          </a:xfrm>
        </p:grpSpPr>
        <p:sp>
          <p:nvSpPr>
            <p:cNvPr id="21" name="Ellipse 21"/>
            <p:cNvSpPr/>
            <p:nvPr/>
          </p:nvSpPr>
          <p:spPr>
            <a:xfrm>
              <a:off x="533400" y="4048125"/>
              <a:ext cx="190500" cy="190500"/>
            </a:xfrm>
            <a:prstGeom prst="ellipse">
              <a:avLst/>
            </a:prstGeom>
            <a:solidFill>
              <a:schemeClr val="accent2"/>
            </a:solidFill>
            <a:ln>
              <a:noFill/>
            </a:ln>
          </p:spPr>
        </p:sp>
        <p:sp>
          <p:nvSpPr>
            <p:cNvPr id="22" name="TextBox 22"/>
            <p:cNvSpPr txBox="1"/>
            <p:nvPr/>
          </p:nvSpPr>
          <p:spPr>
            <a:xfrm>
              <a:off x="593188" y="4092416"/>
              <a:ext cx="70923" cy="161925"/>
            </a:xfrm>
            <a:prstGeom prst="rect">
              <a:avLst/>
            </a:prstGeom>
            <a:noFill/>
            <a:ln>
              <a:noFill/>
            </a:ln>
          </p:spPr>
          <p:txBody>
            <a:bodyPr wrap="none" lIns="0" tIns="0" rIns="0" bIns="0" anchor="t" anchorCtr="0">
              <a:spAutoFit/>
            </a:bodyPr>
            <a:lstStyle/>
            <a:p>
              <a:pPr algn="ctr"/>
              <a:r>
                <a:rPr lang="en-US" sz="820" b="1" dirty="0">
                  <a:solidFill>
                    <a:srgbClr val="FFFFFF"/>
                  </a:solidFill>
                  <a:latin typeface="+mn-lt"/>
                  <a:ea typeface="+mn-ea"/>
                  <a:cs typeface="+mn-cs"/>
                </a:rPr>
                <a:t>3</a:t>
              </a:r>
            </a:p>
          </p:txBody>
        </p:sp>
        <p:sp>
          <p:nvSpPr>
            <p:cNvPr id="23" name="TextBox 23"/>
            <p:cNvSpPr txBox="1"/>
            <p:nvPr/>
          </p:nvSpPr>
          <p:spPr>
            <a:xfrm>
              <a:off x="794385" y="4069556"/>
              <a:ext cx="1784146"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A pattern that may travel</a:t>
              </a:r>
            </a:p>
          </p:txBody>
        </p:sp>
        <p:sp>
          <p:nvSpPr>
            <p:cNvPr id="24" name="TextBox 24"/>
            <p:cNvSpPr txBox="1"/>
            <p:nvPr/>
          </p:nvSpPr>
          <p:spPr>
            <a:xfrm>
              <a:off x="795147" y="4314349"/>
              <a:ext cx="5032539" cy="514541"/>
            </a:xfrm>
            <a:prstGeom prst="rect">
              <a:avLst/>
            </a:prstGeom>
            <a:noFill/>
            <a:ln>
              <a:noFill/>
            </a:ln>
          </p:spPr>
          <p:txBody>
            <a:bodyPr wrap="none" lIns="0" tIns="0" rIns="0" bIns="0" anchor="t" anchorCtr="0">
              <a:spAutoFit/>
            </a:bodyPr>
            <a:lstStyle/>
            <a:p>
              <a:pPr algn="l">
                <a:lnSpc>
                  <a:spcPts val="1275"/>
                </a:lnSpc>
              </a:pPr>
              <a:r>
                <a:rPr lang="en-US" sz="980" dirty="0">
                  <a:solidFill>
                    <a:schemeClr val="dk1"/>
                  </a:solidFill>
                  <a:latin typeface="+mn-lt"/>
                  <a:ea typeface="+mn-ea"/>
                  <a:cs typeface="+mn-cs"/>
                </a:rPr>
                <a:t>The delivery-contract pattern may extend to other targets with native authoring formats,</a:t>
              </a:r>
              <a:br/>
              <a:r>
                <a:rPr lang="en-US" sz="980" dirty="0">
                  <a:solidFill>
                    <a:schemeClr val="dk1"/>
                  </a:solidFill>
                  <a:latin typeface="+mn-lt"/>
                  <a:ea typeface="+mn-ea"/>
                  <a:cs typeface="+mn-cs"/>
                </a:rPr>
                <a:t>deterministic renderers, and testable package criteria — with its evaluative, generative, and</a:t>
              </a:r>
              <a:br/>
              <a:r>
                <a:rPr lang="en-US" sz="980" dirty="0">
                  <a:solidFill>
                    <a:schemeClr val="dk1"/>
                  </a:solidFill>
                  <a:latin typeface="+mn-lt"/>
                  <a:ea typeface="+mn-ea"/>
                  <a:cs typeface="+mn-cs"/>
                </a:rPr>
                <a:t>architectural limits still to be studied (§6).</a:t>
              </a:r>
            </a:p>
          </p:txBody>
        </p:sp>
      </p:grpSp>
      <p:grpSp>
        <p:nvGrpSpPr>
          <p:cNvPr id="28" name="Group 28"/>
          <p:cNvGrpSpPr/>
          <p:nvPr/>
        </p:nvGrpSpPr>
        <p:grpSpPr>
          <a:xfrm>
            <a:off x="6815138" y="1864995"/>
            <a:ext cx="4843462" cy="182880"/>
            <a:chOff x="6815138" y="1864995"/>
            <a:chExt cx="4843462" cy="182880"/>
          </a:xfrm>
        </p:grpSpPr>
        <p:sp>
          <p:nvSpPr>
            <p:cNvPr id="26" name="TextBox 26"/>
            <p:cNvSpPr txBox="1"/>
            <p:nvPr/>
          </p:nvSpPr>
          <p:spPr>
            <a:xfrm>
              <a:off x="6815138" y="1864995"/>
              <a:ext cx="4041918"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TWO GAPS THAT MATTER MORE THAN COVERAGE</a:t>
              </a:r>
            </a:p>
          </p:txBody>
        </p:sp>
        <p:sp>
          <p:nvSpPr>
            <p:cNvPr id="27" name="Line 27"/>
            <p:cNvSpPr/>
            <p:nvPr/>
          </p:nvSpPr>
          <p:spPr>
            <a:xfrm>
              <a:off x="6819900" y="2038350"/>
              <a:ext cx="4838700" cy="9525"/>
            </a:xfrm>
            <a:custGeom>
              <a:avLst/>
              <a:gdLst/>
              <a:ahLst/>
              <a:cxnLst/>
              <a:rect l="l" t="t" r="r" b="b"/>
              <a:pathLst>
                <a:path w="4838700" h="9525">
                  <a:moveTo>
                    <a:pt x="0" y="0"/>
                  </a:moveTo>
                  <a:lnTo>
                    <a:pt x="4838700" y="0"/>
                  </a:lnTo>
                </a:path>
              </a:pathLst>
            </a:custGeom>
            <a:noFill/>
            <a:ln w="9525">
              <a:solidFill>
                <a:schemeClr val="accent1"/>
              </a:solidFill>
            </a:ln>
          </p:spPr>
        </p:sp>
      </p:grpSp>
      <p:grpSp>
        <p:nvGrpSpPr>
          <p:cNvPr id="33" name="Group 33"/>
          <p:cNvGrpSpPr/>
          <p:nvPr/>
        </p:nvGrpSpPr>
        <p:grpSpPr>
          <a:xfrm>
            <a:off x="6819900" y="2209800"/>
            <a:ext cx="4838700" cy="1371600"/>
            <a:chOff x="6819900" y="2209800"/>
            <a:chExt cx="4838700" cy="1371600"/>
          </a:xfrm>
        </p:grpSpPr>
        <p:sp>
          <p:nvSpPr>
            <p:cNvPr id="29" name="Rectangle 29"/>
            <p:cNvSpPr/>
            <p:nvPr/>
          </p:nvSpPr>
          <p:spPr>
            <a:xfrm>
              <a:off x="6819900" y="2209800"/>
              <a:ext cx="4838700" cy="1371600"/>
            </a:xfrm>
            <a:prstGeom prst="rect">
              <a:avLst/>
            </a:prstGeom>
            <a:solidFill>
              <a:schemeClr val="lt2"/>
            </a:solidFill>
            <a:ln>
              <a:noFill/>
            </a:ln>
          </p:spPr>
        </p:sp>
        <p:sp>
          <p:nvSpPr>
            <p:cNvPr id="30" name="Rectangle 30"/>
            <p:cNvSpPr/>
            <p:nvPr/>
          </p:nvSpPr>
          <p:spPr>
            <a:xfrm>
              <a:off x="6819900" y="2209800"/>
              <a:ext cx="38100" cy="1371600"/>
            </a:xfrm>
            <a:prstGeom prst="rect">
              <a:avLst/>
            </a:prstGeom>
            <a:solidFill>
              <a:srgbClr val="E0A100"/>
            </a:solidFill>
            <a:ln>
              <a:noFill/>
            </a:ln>
          </p:spPr>
        </p:sp>
        <p:sp>
          <p:nvSpPr>
            <p:cNvPr id="31" name="TextBox 31"/>
            <p:cNvSpPr txBox="1"/>
            <p:nvPr/>
          </p:nvSpPr>
          <p:spPr>
            <a:xfrm>
              <a:off x="6966966" y="2325052"/>
              <a:ext cx="1790094"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Evaluation is proxy-bound</a:t>
              </a:r>
            </a:p>
          </p:txBody>
        </p:sp>
        <p:sp>
          <p:nvSpPr>
            <p:cNvPr id="32" name="TextBox 32"/>
            <p:cNvSpPr txBox="1"/>
            <p:nvPr/>
          </p:nvSpPr>
          <p:spPr>
            <a:xfrm>
              <a:off x="6967538" y="2550795"/>
              <a:ext cx="4113695" cy="890588"/>
            </a:xfrm>
            <a:prstGeom prst="rect">
              <a:avLst/>
            </a:prstGeom>
            <a:noFill/>
            <a:ln>
              <a:noFill/>
            </a:ln>
          </p:spPr>
          <p:txBody>
            <a:bodyPr wrap="none" lIns="0" tIns="0" rIns="0" bIns="0" anchor="t" anchorCtr="0">
              <a:spAutoFit/>
            </a:bodyPr>
            <a:lstStyle/>
            <a:p>
              <a:pPr algn="l">
                <a:lnSpc>
                  <a:spcPts val="1125"/>
                </a:lnSpc>
              </a:pPr>
              <a:r>
                <a:rPr lang="en-US" sz="900" dirty="0">
                  <a:solidFill>
                    <a:schemeClr val="dk1"/>
                  </a:solidFill>
                  <a:latin typeface="+mn-lt"/>
                  <a:ea typeface="+mn-ea"/>
                  <a:cs typeface="+mn-cs"/>
                </a:rPr>
                <a:t>The aesthetic rubric and PaperQuiz pull in opposite directions — a denser poster</a:t>
              </a:r>
              <a:br/>
              <a:r>
                <a:rPr lang="en-US" sz="900" dirty="0">
                  <a:solidFill>
                    <a:schemeClr val="dk1"/>
                  </a:solidFill>
                  <a:latin typeface="+mn-lt"/>
                  <a:ea typeface="+mn-ea"/>
                  <a:cs typeface="+mn-cs"/>
                </a:rPr>
                <a:t>wins comprehension while a cleaner one wins aesthetics — and neither</a:t>
              </a:r>
              <a:br/>
              <a:r>
                <a:rPr lang="en-US" sz="900" dirty="0">
                  <a:solidFill>
                    <a:schemeClr val="dk1"/>
                  </a:solidFill>
                  <a:latin typeface="+mn-lt"/>
                  <a:ea typeface="+mn-ea"/>
                  <a:cs typeface="+mn-cs"/>
                </a:rPr>
                <a:t>measures whether a reader absorbs the work. The measured-fill loop optimizes a</a:t>
              </a:r>
              <a:br/>
              <a:r>
                <a:rPr lang="en-US" sz="900" dirty="0">
                  <a:solidFill>
                    <a:schemeClr val="dk1"/>
                  </a:solidFill>
                  <a:latin typeface="+mn-lt"/>
                  <a:ea typeface="+mn-ea"/>
                  <a:cs typeface="+mn-cs"/>
                </a:rPr>
                <a:t>geometric density target, not understanding; the honest next step is to close the</a:t>
              </a:r>
              <a:br/>
              <a:r>
                <a:rPr lang="en-US" sz="900" dirty="0">
                  <a:solidFill>
                    <a:schemeClr val="dk1"/>
                  </a:solidFill>
                  <a:latin typeface="+mn-lt"/>
                  <a:ea typeface="+mn-ea"/>
                  <a:cs typeface="+mn-cs"/>
                </a:rPr>
                <a:t>loop on a controlled human reading-and-recall signal rather than on a proxy a</a:t>
              </a:r>
              <a:br/>
              <a:r>
                <a:rPr lang="en-US" sz="900" dirty="0">
                  <a:solidFill>
                    <a:schemeClr val="dk1"/>
                  </a:solidFill>
                  <a:latin typeface="+mn-lt"/>
                  <a:ea typeface="+mn-ea"/>
                  <a:cs typeface="+mn-cs"/>
                </a:rPr>
                <a:t>denser poster can always game.</a:t>
              </a:r>
            </a:p>
          </p:txBody>
        </p:sp>
      </p:grpSp>
      <p:grpSp>
        <p:nvGrpSpPr>
          <p:cNvPr id="38" name="Group 38"/>
          <p:cNvGrpSpPr/>
          <p:nvPr/>
        </p:nvGrpSpPr>
        <p:grpSpPr>
          <a:xfrm>
            <a:off x="6819900" y="3733800"/>
            <a:ext cx="4838700" cy="1371600"/>
            <a:chOff x="6819900" y="3733800"/>
            <a:chExt cx="4838700" cy="1371600"/>
          </a:xfrm>
        </p:grpSpPr>
        <p:sp>
          <p:nvSpPr>
            <p:cNvPr id="34" name="Rectangle 34"/>
            <p:cNvSpPr/>
            <p:nvPr/>
          </p:nvSpPr>
          <p:spPr>
            <a:xfrm>
              <a:off x="6819900" y="3733800"/>
              <a:ext cx="4838700" cy="1371600"/>
            </a:xfrm>
            <a:prstGeom prst="rect">
              <a:avLst/>
            </a:prstGeom>
            <a:solidFill>
              <a:schemeClr val="lt2"/>
            </a:solidFill>
            <a:ln>
              <a:noFill/>
            </a:ln>
          </p:spPr>
        </p:sp>
        <p:sp>
          <p:nvSpPr>
            <p:cNvPr id="35" name="Rectangle 35"/>
            <p:cNvSpPr/>
            <p:nvPr/>
          </p:nvSpPr>
          <p:spPr>
            <a:xfrm>
              <a:off x="6819900" y="3733800"/>
              <a:ext cx="38100" cy="1371600"/>
            </a:xfrm>
            <a:prstGeom prst="rect">
              <a:avLst/>
            </a:prstGeom>
            <a:solidFill>
              <a:srgbClr val="E0A100"/>
            </a:solidFill>
            <a:ln>
              <a:noFill/>
            </a:ln>
          </p:spPr>
        </p:sp>
        <p:sp>
          <p:nvSpPr>
            <p:cNvPr id="36" name="TextBox 36"/>
            <p:cNvSpPr txBox="1"/>
            <p:nvPr/>
          </p:nvSpPr>
          <p:spPr>
            <a:xfrm>
              <a:off x="6966966" y="3849052"/>
              <a:ext cx="1303470"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The generative gap</a:t>
              </a:r>
            </a:p>
          </p:txBody>
        </p:sp>
        <p:sp>
          <p:nvSpPr>
            <p:cNvPr id="37" name="TextBox 37"/>
            <p:cNvSpPr txBox="1"/>
            <p:nvPr/>
          </p:nvSpPr>
          <p:spPr>
            <a:xfrm>
              <a:off x="6967538" y="4074795"/>
              <a:ext cx="4088869" cy="890588"/>
            </a:xfrm>
            <a:prstGeom prst="rect">
              <a:avLst/>
            </a:prstGeom>
            <a:noFill/>
            <a:ln>
              <a:noFill/>
            </a:ln>
          </p:spPr>
          <p:txBody>
            <a:bodyPr wrap="none" lIns="0" tIns="0" rIns="0" bIns="0" anchor="t" anchorCtr="0">
              <a:spAutoFit/>
            </a:bodyPr>
            <a:lstStyle/>
            <a:p>
              <a:pPr algn="l">
                <a:lnSpc>
                  <a:spcPts val="1125"/>
                </a:lnSpc>
              </a:pPr>
              <a:r>
                <a:rPr lang="en-US" sz="900" dirty="0">
                  <a:solidFill>
                    <a:schemeClr val="dk1"/>
                  </a:solidFill>
                  <a:latin typeface="+mn-lt"/>
                  <a:ea typeface="+mn-ea"/>
                  <a:cs typeface="+mn-cs"/>
                </a:rPr>
                <a:t>Because the pipeline reuses only figures that already exist in the paper, it cannot</a:t>
              </a:r>
              <a:br/>
              <a:r>
                <a:rPr lang="en-US" sz="900" dirty="0">
                  <a:solidFill>
                    <a:schemeClr val="dk1"/>
                  </a:solidFill>
                  <a:latin typeface="+mn-lt"/>
                  <a:ea typeface="+mn-ea"/>
                  <a:cs typeface="+mn-cs"/>
                </a:rPr>
                <a:t>yet produce the bespoke method or overview diagrams human designers add to</a:t>
              </a:r>
              <a:br/>
              <a:r>
                <a:rPr lang="en-US" sz="900" dirty="0">
                  <a:solidFill>
                    <a:schemeClr val="dk1"/>
                  </a:solidFill>
                  <a:latin typeface="+mn-lt"/>
                  <a:ea typeface="+mn-ea"/>
                  <a:cs typeface="+mn-cs"/>
                </a:rPr>
                <a:t>carry the narrative. Addressing this may require faithful figure synthesis, which</a:t>
              </a:r>
              <a:br/>
              <a:r>
                <a:rPr lang="en-US" sz="900" dirty="0">
                  <a:solidFill>
                    <a:schemeClr val="dk1"/>
                  </a:solidFill>
                  <a:latin typeface="+mn-lt"/>
                  <a:ea typeface="+mn-ea"/>
                  <a:cs typeface="+mn-cs"/>
                </a:rPr>
                <a:t>reintroduces the hallucination risk the categorical gates were built to suppress,</a:t>
              </a:r>
              <a:br/>
              <a:r>
                <a:rPr lang="en-US" sz="900" dirty="0">
                  <a:solidFill>
                    <a:schemeClr val="dk1"/>
                  </a:solidFill>
                  <a:latin typeface="+mn-lt"/>
                  <a:ea typeface="+mn-ea"/>
                  <a:cs typeface="+mn-cs"/>
                </a:rPr>
                <a:t>and would push gate discipline from layout onto the factual content of generated</a:t>
              </a:r>
              <a:br/>
              <a:r>
                <a:rPr lang="en-US" sz="900" dirty="0">
                  <a:solidFill>
                    <a:schemeClr val="dk1"/>
                  </a:solidFill>
                  <a:latin typeface="+mn-lt"/>
                  <a:ea typeface="+mn-ea"/>
                  <a:cs typeface="+mn-cs"/>
                </a:rPr>
                <a:t>visuals.</a:t>
              </a:r>
            </a:p>
          </p:txBody>
        </p:sp>
      </p:grpSp>
      <p:grpSp>
        <p:nvGrpSpPr>
          <p:cNvPr id="43" name="Group 43"/>
          <p:cNvGrpSpPr/>
          <p:nvPr/>
        </p:nvGrpSpPr>
        <p:grpSpPr>
          <a:xfrm>
            <a:off x="533400" y="5448300"/>
            <a:ext cx="11125200" cy="673036"/>
            <a:chOff x="533400" y="5448300"/>
            <a:chExt cx="11125200" cy="673036"/>
          </a:xfrm>
        </p:grpSpPr>
        <p:sp>
          <p:nvSpPr>
            <p:cNvPr id="39" name="Rectangle 39"/>
            <p:cNvSpPr/>
            <p:nvPr/>
          </p:nvSpPr>
          <p:spPr>
            <a:xfrm>
              <a:off x="533400" y="5448300"/>
              <a:ext cx="11125200" cy="647700"/>
            </a:xfrm>
            <a:prstGeom prst="rect">
              <a:avLst/>
            </a:prstGeom>
            <a:solidFill>
              <a:schemeClr val="lt2"/>
            </a:solidFill>
            <a:ln>
              <a:noFill/>
            </a:ln>
          </p:spPr>
        </p:sp>
        <p:sp>
          <p:nvSpPr>
            <p:cNvPr id="40" name="Rectangle 40"/>
            <p:cNvSpPr/>
            <p:nvPr/>
          </p:nvSpPr>
          <p:spPr>
            <a:xfrm>
              <a:off x="533400" y="5448300"/>
              <a:ext cx="38100" cy="647700"/>
            </a:xfrm>
            <a:prstGeom prst="rect">
              <a:avLst/>
            </a:prstGeom>
            <a:solidFill>
              <a:schemeClr val="accent2"/>
            </a:solidFill>
            <a:ln>
              <a:noFill/>
            </a:ln>
          </p:spPr>
        </p:sp>
        <p:sp>
          <p:nvSpPr>
            <p:cNvPr id="41" name="TextBox 41"/>
            <p:cNvSpPr txBox="1"/>
            <p:nvPr/>
          </p:nvSpPr>
          <p:spPr>
            <a:xfrm>
              <a:off x="681038" y="5557838"/>
              <a:ext cx="2334712" cy="147638"/>
            </a:xfrm>
            <a:prstGeom prst="rect">
              <a:avLst/>
            </a:prstGeom>
            <a:noFill/>
            <a:ln>
              <a:noFill/>
            </a:ln>
          </p:spPr>
          <p:txBody>
            <a:bodyPr wrap="none" lIns="0" tIns="0" rIns="0" bIns="0" anchor="t" anchorCtr="0">
              <a:spAutoFit/>
            </a:bodyPr>
            <a:lstStyle/>
            <a:p>
              <a:pPr algn="l"/>
              <a:r>
                <a:rPr lang="en-US" sz="750" spc="75" dirty="0">
                  <a:solidFill>
                    <a:schemeClr val="accent5"/>
                  </a:solidFill>
                  <a:latin typeface="+mn-lt"/>
                  <a:ea typeface="+mn-ea"/>
                  <a:cs typeface="+mn-cs"/>
                </a:rPr>
                <a:t>THE PAPER'S CLOSING SENTENCE, §7</a:t>
              </a:r>
            </a:p>
          </p:txBody>
        </p:sp>
        <p:sp>
          <p:nvSpPr>
            <p:cNvPr id="42" name="TextBox 42"/>
            <p:cNvSpPr txBox="1"/>
            <p:nvPr/>
          </p:nvSpPr>
          <p:spPr>
            <a:xfrm>
              <a:off x="680466" y="5735002"/>
              <a:ext cx="9810159" cy="386334"/>
            </a:xfrm>
            <a:prstGeom prst="rect">
              <a:avLst/>
            </a:prstGeom>
            <a:noFill/>
            <a:ln>
              <a:noFill/>
            </a:ln>
          </p:spPr>
          <p:txBody>
            <a:bodyPr wrap="none" lIns="0" tIns="0" rIns="0" bIns="0" anchor="t" anchorCtr="0">
              <a:spAutoFit/>
            </a:bodyPr>
            <a:lstStyle/>
            <a:p>
              <a:pPr algn="l">
                <a:lnSpc>
                  <a:spcPts val="1425"/>
                </a:lnSpc>
              </a:pPr>
              <a:r>
                <a:rPr lang="en-US" sz="1050" dirty="0">
                  <a:solidFill>
                    <a:schemeClr val="accent1"/>
                  </a:solidFill>
                  <a:latin typeface="+mn-lt"/>
                  <a:ea typeface="+mn-ea"/>
                  <a:cs typeface="+mn-cs"/>
                </a:rPr>
                <a:t>“By keeping generated artifacts editable and connected after generation, ResearchStudio-Reel shifts the last mile from one-way automation toward a workflow authors</a:t>
              </a:r>
              <a:br/>
              <a:r>
                <a:rPr lang="en-US" sz="1050" dirty="0">
                  <a:solidFill>
                    <a:schemeClr val="accent1"/>
                  </a:solidFill>
                  <a:latin typeface="+mn-lt"/>
                  <a:ea typeface="+mn-ea"/>
                  <a:cs typeface="+mn-cs"/>
                </a:rPr>
                <a:t>can inspect, navigate, and revise.”</a:t>
              </a:r>
            </a:p>
          </p:txBody>
        </p:sp>
      </p:grpSp>
      <p:grpSp>
        <p:nvGrpSpPr>
          <p:cNvPr id="46" name="Group 46"/>
          <p:cNvGrpSpPr/>
          <p:nvPr/>
        </p:nvGrpSpPr>
        <p:grpSpPr>
          <a:xfrm>
            <a:off x="528638" y="6415088"/>
            <a:ext cx="11134724" cy="147638"/>
            <a:chOff x="528638" y="6415088"/>
            <a:chExt cx="11134724" cy="147638"/>
          </a:xfrm>
        </p:grpSpPr>
        <p:sp>
          <p:nvSpPr>
            <p:cNvPr id="44" name="TextBox 44"/>
            <p:cNvSpPr txBox="1"/>
            <p:nvPr/>
          </p:nvSpPr>
          <p:spPr>
            <a:xfrm>
              <a:off x="528638" y="6415088"/>
              <a:ext cx="195090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Source: arXiv:2607.04438 v2 (19 Jul 2026)</a:t>
              </a:r>
            </a:p>
          </p:txBody>
        </p:sp>
        <p:sp>
          <p:nvSpPr>
            <p:cNvPr id="45" name="TextBox 45"/>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id="13" presetID="10" presetClass="entr" presetSubtype="0" fill="hold" grpId="0" nodeType="after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childTnLst>
                          </p:cTn>
                        </p:par>
                        <p:par>
                          <p:cTn id="16" fill="hold">
                            <p:stCondLst>
                              <p:cond delay="1900"/>
                            </p:stCondLst>
                            <p:childTnLst>
                              <p:par>
                                <p:cTn id="17" presetID="10" presetClass="entr" presetSubtype="0"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par>
                          <p:cTn id="20" fill="hold">
                            <p:stCondLst>
                              <p:cond delay="2800"/>
                            </p:stCondLst>
                            <p:childTnLst>
                              <p:par>
                                <p:cTn id="21" presetID="10" presetClass="entr" presetSubtype="0" fill="hold" grpId="0" nodeType="afterEffect">
                                  <p:stCondLst>
                                    <p:cond delay="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childTnLst>
                          </p:cTn>
                        </p:par>
                        <p:par>
                          <p:cTn id="24" fill="hold">
                            <p:stCondLst>
                              <p:cond delay="3700"/>
                            </p:stCondLst>
                            <p:childTnLst>
                              <p:par>
                                <p:cTn id="25" presetID="10" presetClass="entr" presetSubtype="0" fill="hold" grpId="0" nodeType="afterEffect">
                                  <p:stCondLst>
                                    <p:cond delay="5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par>
                          <p:cTn id="28" fill="hold">
                            <p:stCondLst>
                              <p:cond delay="4600"/>
                            </p:stCondLst>
                            <p:childTnLst>
                              <p:par>
                                <p:cTn id="29" presetID="10" presetClass="entr" presetSubtype="0" fill="hold" grpId="0" nodeType="afterEffect">
                                  <p:stCondLst>
                                    <p:cond delay="50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200"/>
                                        <p:tgtEl>
                                          <p:spTgt spid="28"/>
                                        </p:tgtEl>
                                      </p:cBhvr>
                                    </p:animEffect>
                                  </p:childTnLst>
                                </p:cTn>
                              </p:par>
                            </p:childTnLst>
                          </p:cTn>
                        </p:par>
                        <p:par>
                          <p:cTn id="32" fill="hold">
                            <p:stCondLst>
                              <p:cond delay="5300"/>
                            </p:stCondLst>
                            <p:childTnLst>
                              <p:par>
                                <p:cTn id="33" presetID="10" presetClass="entr" presetSubtype="0" fill="hold" grpId="0" nodeType="afterEffect">
                                  <p:stCondLst>
                                    <p:cond delay="50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par>
                          <p:cTn id="36" fill="hold">
                            <p:stCondLst>
                              <p:cond delay="6300"/>
                            </p:stCondLst>
                            <p:childTnLst>
                              <p:par>
                                <p:cTn id="37" presetID="10" presetClass="entr" presetSubtype="0" fill="hold" grpId="0" nodeType="afterEffect">
                                  <p:stCondLst>
                                    <p:cond delay="50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956739" y="321945"/>
            <a:ext cx="706623" cy="176212"/>
          </a:xfrm>
          <a:prstGeom prst="rect">
            <a:avLst/>
          </a:prstGeom>
          <a:noFill/>
          <a:ln>
            <a:noFill/>
          </a:ln>
        </p:spPr>
        <p:txBody>
          <a:bodyPr wrap="none" lIns="0" tIns="0" rIns="0" bIns="0" anchor="t" anchorCtr="0">
            <a:spAutoFit/>
          </a:bodyPr>
          <a:lstStyle/>
          <a:p>
            <a:pPr algn="r"/>
            <a:r>
              <a:rPr lang="en-US" sz="900" spc="75" dirty="0">
                <a:solidFill>
                  <a:schemeClr val="accent5"/>
                </a:solidFill>
                <a:latin typeface="+mn-lt"/>
                <a:ea typeface="+mn-ea"/>
                <a:cs typeface="+mn-cs"/>
              </a:rPr>
              <a:t>SOURCES</a:t>
            </a:r>
          </a:p>
        </p:txBody>
      </p:sp>
      <p:grpSp>
        <p:nvGrpSpPr>
          <p:cNvPr id="4" name="Group 4"/>
          <p:cNvGrpSpPr/>
          <p:nvPr/>
        </p:nvGrpSpPr>
        <p:grpSpPr>
          <a:xfrm>
            <a:off x="522732" y="573405"/>
            <a:ext cx="1146013" cy="410718"/>
            <a:chOff x="522732" y="573405"/>
            <a:chExt cx="1146013" cy="410718"/>
          </a:xfrm>
        </p:grpSpPr>
        <p:sp>
          <p:nvSpPr>
            <p:cNvPr id="3" name="TextBox 3"/>
            <p:cNvSpPr txBox="1"/>
            <p:nvPr/>
          </p:nvSpPr>
          <p:spPr>
            <a:xfrm>
              <a:off x="522732" y="573405"/>
              <a:ext cx="1146013"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Sources</a:t>
              </a:r>
            </a:p>
          </p:txBody>
        </p:sp>
      </p:grpSp>
      <p:grpSp>
        <p:nvGrpSpPr>
          <p:cNvPr id="6" name="Group 6"/>
          <p:cNvGrpSpPr/>
          <p:nvPr/>
        </p:nvGrpSpPr>
        <p:grpSpPr>
          <a:xfrm>
            <a:off x="526542" y="978218"/>
            <a:ext cx="6972297" cy="264033"/>
            <a:chOff x="526542" y="978218"/>
            <a:chExt cx="6972297" cy="264033"/>
          </a:xfrm>
        </p:grpSpPr>
        <p:sp>
          <p:nvSpPr>
            <p:cNvPr id="5" name="TextBox 5"/>
            <p:cNvSpPr txBox="1"/>
            <p:nvPr/>
          </p:nvSpPr>
          <p:spPr>
            <a:xfrm>
              <a:off x="526542" y="978218"/>
              <a:ext cx="697229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Everything shown is quoted from arXiv:2607.04438 v2; the figures are the paper's own</a:t>
              </a:r>
            </a:p>
          </p:txBody>
        </p:sp>
      </p:grpSp>
      <p:sp>
        <p:nvSpPr>
          <p:cNvPr id="7" name="Line 7"/>
          <p:cNvSpPr/>
          <p:nvPr/>
        </p:nvSpPr>
        <p:spPr>
          <a:xfrm>
            <a:off x="533400" y="1295400"/>
            <a:ext cx="11125200" cy="9525"/>
          </a:xfrm>
          <a:custGeom>
            <a:avLst/>
            <a:gdLst/>
            <a:ahLst/>
            <a:cxnLst/>
            <a:rect l="l" t="t" r="r" b="b"/>
            <a:pathLst>
              <a:path w="11125200" h="9525">
                <a:moveTo>
                  <a:pt x="0" y="0"/>
                </a:moveTo>
                <a:lnTo>
                  <a:pt x="11125200" y="0"/>
                </a:lnTo>
              </a:path>
            </a:pathLst>
          </a:custGeom>
          <a:noFill/>
          <a:ln w="9525">
            <a:solidFill>
              <a:schemeClr val="accent6"/>
            </a:solidFill>
          </a:ln>
        </p:spPr>
      </p:sp>
      <p:grpSp>
        <p:nvGrpSpPr>
          <p:cNvPr id="12" name="Group 12"/>
          <p:cNvGrpSpPr/>
          <p:nvPr/>
        </p:nvGrpSpPr>
        <p:grpSpPr>
          <a:xfrm>
            <a:off x="527685" y="1655445"/>
            <a:ext cx="11130915" cy="582930"/>
            <a:chOff x="527685" y="1655445"/>
            <a:chExt cx="11130915" cy="582930"/>
          </a:xfrm>
        </p:grpSpPr>
        <p:sp>
          <p:nvSpPr>
            <p:cNvPr id="8" name="TextBox 8"/>
            <p:cNvSpPr txBox="1"/>
            <p:nvPr/>
          </p:nvSpPr>
          <p:spPr>
            <a:xfrm>
              <a:off x="528638" y="1655445"/>
              <a:ext cx="535935"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PAPER</a:t>
              </a:r>
            </a:p>
          </p:txBody>
        </p:sp>
        <p:sp>
          <p:nvSpPr>
            <p:cNvPr id="9" name="TextBox 9"/>
            <p:cNvSpPr txBox="1"/>
            <p:nvPr/>
          </p:nvSpPr>
          <p:spPr>
            <a:xfrm>
              <a:off x="527685" y="1840706"/>
              <a:ext cx="9140713"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ResearchStudio-Reel: Automate the Last Mile of Research from Paper to Poster, Video, and Blog — arXiv:2607.04438 v2, 19 July 2026</a:t>
              </a:r>
            </a:p>
          </p:txBody>
        </p:sp>
        <p:sp>
          <p:nvSpPr>
            <p:cNvPr id="10" name="TextBox 10"/>
            <p:cNvSpPr txBox="1"/>
            <p:nvPr/>
          </p:nvSpPr>
          <p:spPr>
            <a:xfrm>
              <a:off x="528447" y="2028349"/>
              <a:ext cx="1894835" cy="190690"/>
            </a:xfrm>
            <a:prstGeom prst="rect">
              <a:avLst/>
            </a:prstGeom>
            <a:noFill/>
            <a:ln>
              <a:noFill/>
            </a:ln>
          </p:spPr>
          <p:txBody>
            <a:bodyPr wrap="none" lIns="0" tIns="0" rIns="0" bIns="0" anchor="t" anchorCtr="0">
              <a:spAutoFit/>
            </a:bodyPr>
            <a:lstStyle/>
            <a:p>
              <a:pPr algn="l"/>
              <a:r>
                <a:rPr lang="en-US" sz="980" u="sng" dirty="0">
                  <a:solidFill>
                    <a:schemeClr val="accent2"/>
                  </a:solidFill>
                  <a:latin typeface="+mn-lt"/>
                  <a:ea typeface="+mn-ea"/>
                  <a:cs typeface="+mn-cs"/>
                  <a:hlinkClick r:id="rId2"/>
                </a:rPr>
                <a:t>https://arxiv.org/abs/2607.04438</a:t>
              </a:r>
            </a:p>
          </p:txBody>
        </p:sp>
        <p:sp>
          <p:nvSpPr>
            <p:cNvPr id="11" name="Line 11"/>
            <p:cNvSpPr/>
            <p:nvPr/>
          </p:nvSpPr>
          <p:spPr>
            <a:xfrm>
              <a:off x="533400" y="2228850"/>
              <a:ext cx="11125200" cy="9525"/>
            </a:xfrm>
            <a:custGeom>
              <a:avLst/>
              <a:gdLst/>
              <a:ahLst/>
              <a:cxnLst/>
              <a:rect l="l" t="t" r="r" b="b"/>
              <a:pathLst>
                <a:path w="11125200" h="9525">
                  <a:moveTo>
                    <a:pt x="0" y="0"/>
                  </a:moveTo>
                  <a:lnTo>
                    <a:pt x="11125200" y="0"/>
                  </a:lnTo>
                </a:path>
              </a:pathLst>
            </a:custGeom>
            <a:noFill/>
            <a:ln w="7144">
              <a:solidFill>
                <a:srgbClr val="E6EAEF"/>
              </a:solidFill>
            </a:ln>
          </p:spPr>
        </p:sp>
      </p:grpSp>
      <p:grpSp>
        <p:nvGrpSpPr>
          <p:cNvPr id="17" name="Group 17"/>
          <p:cNvGrpSpPr/>
          <p:nvPr/>
        </p:nvGrpSpPr>
        <p:grpSpPr>
          <a:xfrm>
            <a:off x="527685" y="2455545"/>
            <a:ext cx="11130915" cy="582930"/>
            <a:chOff x="527685" y="2455545"/>
            <a:chExt cx="11130915" cy="582930"/>
          </a:xfrm>
        </p:grpSpPr>
        <p:sp>
          <p:nvSpPr>
            <p:cNvPr id="13" name="TextBox 13"/>
            <p:cNvSpPr txBox="1"/>
            <p:nvPr/>
          </p:nvSpPr>
          <p:spPr>
            <a:xfrm>
              <a:off x="528638" y="2455545"/>
              <a:ext cx="742186"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PROJECT</a:t>
              </a:r>
            </a:p>
          </p:txBody>
        </p:sp>
        <p:sp>
          <p:nvSpPr>
            <p:cNvPr id="14" name="TextBox 14"/>
            <p:cNvSpPr txBox="1"/>
            <p:nvPr/>
          </p:nvSpPr>
          <p:spPr>
            <a:xfrm>
              <a:off x="527685" y="2640806"/>
              <a:ext cx="1964864"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ResearchStudio project page</a:t>
              </a:r>
            </a:p>
          </p:txBody>
        </p:sp>
        <p:sp>
          <p:nvSpPr>
            <p:cNvPr id="15" name="TextBox 15"/>
            <p:cNvSpPr txBox="1"/>
            <p:nvPr/>
          </p:nvSpPr>
          <p:spPr>
            <a:xfrm>
              <a:off x="528447" y="2828449"/>
              <a:ext cx="1814971" cy="190690"/>
            </a:xfrm>
            <a:prstGeom prst="rect">
              <a:avLst/>
            </a:prstGeom>
            <a:noFill/>
            <a:ln>
              <a:noFill/>
            </a:ln>
          </p:spPr>
          <p:txBody>
            <a:bodyPr wrap="none" lIns="0" tIns="0" rIns="0" bIns="0" anchor="t" anchorCtr="0">
              <a:spAutoFit/>
            </a:bodyPr>
            <a:lstStyle/>
            <a:p>
              <a:pPr algn="l"/>
              <a:r>
                <a:rPr lang="en-US" sz="980" u="sng" dirty="0">
                  <a:solidFill>
                    <a:schemeClr val="accent2"/>
                  </a:solidFill>
                  <a:latin typeface="+mn-lt"/>
                  <a:ea typeface="+mn-ea"/>
                  <a:cs typeface="+mn-cs"/>
                  <a:hlinkClick r:id="rId3"/>
                </a:rPr>
                <a:t>https://aka.ms/ResearchStudio</a:t>
              </a:r>
            </a:p>
          </p:txBody>
        </p:sp>
        <p:sp>
          <p:nvSpPr>
            <p:cNvPr id="16" name="Line 16"/>
            <p:cNvSpPr/>
            <p:nvPr/>
          </p:nvSpPr>
          <p:spPr>
            <a:xfrm>
              <a:off x="533400" y="3028950"/>
              <a:ext cx="11125200" cy="9525"/>
            </a:xfrm>
            <a:custGeom>
              <a:avLst/>
              <a:gdLst/>
              <a:ahLst/>
              <a:cxnLst/>
              <a:rect l="l" t="t" r="r" b="b"/>
              <a:pathLst>
                <a:path w="11125200" h="9525">
                  <a:moveTo>
                    <a:pt x="0" y="0"/>
                  </a:moveTo>
                  <a:lnTo>
                    <a:pt x="11125200" y="0"/>
                  </a:lnTo>
                </a:path>
              </a:pathLst>
            </a:custGeom>
            <a:noFill/>
            <a:ln w="7144">
              <a:solidFill>
                <a:srgbClr val="E6EAEF"/>
              </a:solidFill>
            </a:ln>
          </p:spPr>
        </p:sp>
      </p:grpSp>
      <p:grpSp>
        <p:nvGrpSpPr>
          <p:cNvPr id="22" name="Group 22"/>
          <p:cNvGrpSpPr/>
          <p:nvPr/>
        </p:nvGrpSpPr>
        <p:grpSpPr>
          <a:xfrm>
            <a:off x="527685" y="3255645"/>
            <a:ext cx="11130915" cy="582930"/>
            <a:chOff x="527685" y="3255645"/>
            <a:chExt cx="11130915" cy="582930"/>
          </a:xfrm>
        </p:grpSpPr>
        <p:sp>
          <p:nvSpPr>
            <p:cNvPr id="18" name="TextBox 18"/>
            <p:cNvSpPr txBox="1"/>
            <p:nvPr/>
          </p:nvSpPr>
          <p:spPr>
            <a:xfrm>
              <a:off x="528638" y="3255645"/>
              <a:ext cx="443397"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CODE</a:t>
              </a:r>
            </a:p>
          </p:txBody>
        </p:sp>
        <p:sp>
          <p:nvSpPr>
            <p:cNvPr id="19" name="TextBox 19"/>
            <p:cNvSpPr txBox="1"/>
            <p:nvPr/>
          </p:nvSpPr>
          <p:spPr>
            <a:xfrm>
              <a:off x="527685" y="3440906"/>
              <a:ext cx="7478635"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mn-lt"/>
                  <a:ea typeface="+mn-ea"/>
                  <a:cs typeface="+mn-cs"/>
                </a:rPr>
                <a:t>microsoft/ResearchStudio on GitHub — MIT license; each skill's SKILL.md is the source of truth for its workflow</a:t>
              </a:r>
            </a:p>
          </p:txBody>
        </p:sp>
        <p:sp>
          <p:nvSpPr>
            <p:cNvPr id="20" name="TextBox 20"/>
            <p:cNvSpPr txBox="1"/>
            <p:nvPr/>
          </p:nvSpPr>
          <p:spPr>
            <a:xfrm>
              <a:off x="528447" y="3628549"/>
              <a:ext cx="2606325" cy="190690"/>
            </a:xfrm>
            <a:prstGeom prst="rect">
              <a:avLst/>
            </a:prstGeom>
            <a:noFill/>
            <a:ln>
              <a:noFill/>
            </a:ln>
          </p:spPr>
          <p:txBody>
            <a:bodyPr wrap="none" lIns="0" tIns="0" rIns="0" bIns="0" anchor="t" anchorCtr="0">
              <a:spAutoFit/>
            </a:bodyPr>
            <a:lstStyle/>
            <a:p>
              <a:pPr algn="l"/>
              <a:r>
                <a:rPr lang="en-US" sz="980" u="sng" dirty="0">
                  <a:solidFill>
                    <a:schemeClr val="accent2"/>
                  </a:solidFill>
                  <a:latin typeface="+mn-lt"/>
                  <a:ea typeface="+mn-ea"/>
                  <a:cs typeface="+mn-cs"/>
                  <a:hlinkClick r:id="rId4"/>
                </a:rPr>
                <a:t>https://github.com/microsoft/ResearchStudio</a:t>
              </a:r>
            </a:p>
          </p:txBody>
        </p:sp>
        <p:sp>
          <p:nvSpPr>
            <p:cNvPr id="21" name="Line 21"/>
            <p:cNvSpPr/>
            <p:nvPr/>
          </p:nvSpPr>
          <p:spPr>
            <a:xfrm>
              <a:off x="533400" y="3829050"/>
              <a:ext cx="11125200" cy="9525"/>
            </a:xfrm>
            <a:custGeom>
              <a:avLst/>
              <a:gdLst/>
              <a:ahLst/>
              <a:cxnLst/>
              <a:rect l="l" t="t" r="r" b="b"/>
              <a:pathLst>
                <a:path w="11125200" h="9525">
                  <a:moveTo>
                    <a:pt x="0" y="0"/>
                  </a:moveTo>
                  <a:lnTo>
                    <a:pt x="11125200" y="0"/>
                  </a:lnTo>
                </a:path>
              </a:pathLst>
            </a:custGeom>
            <a:noFill/>
            <a:ln w="7144">
              <a:solidFill>
                <a:srgbClr val="E6EAEF"/>
              </a:solidFill>
            </a:ln>
          </p:spPr>
        </p:sp>
      </p:grpSp>
      <p:grpSp>
        <p:nvGrpSpPr>
          <p:cNvPr id="31" name="Group 31"/>
          <p:cNvGrpSpPr/>
          <p:nvPr/>
        </p:nvGrpSpPr>
        <p:grpSpPr>
          <a:xfrm>
            <a:off x="528638" y="4017645"/>
            <a:ext cx="5338762" cy="1090612"/>
            <a:chOff x="528638" y="4017645"/>
            <a:chExt cx="5338762" cy="1090612"/>
          </a:xfrm>
        </p:grpSpPr>
        <p:sp>
          <p:nvSpPr>
            <p:cNvPr id="23" name="TextBox 23"/>
            <p:cNvSpPr txBox="1"/>
            <p:nvPr/>
          </p:nvSpPr>
          <p:spPr>
            <a:xfrm>
              <a:off x="528638" y="4017645"/>
              <a:ext cx="2321093"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PROVENANCE OF THIS DECK</a:t>
              </a:r>
            </a:p>
          </p:txBody>
        </p:sp>
        <p:sp>
          <p:nvSpPr>
            <p:cNvPr id="24" name="Line 24"/>
            <p:cNvSpPr/>
            <p:nvPr/>
          </p:nvSpPr>
          <p:spPr>
            <a:xfrm>
              <a:off x="533400" y="4191000"/>
              <a:ext cx="5334000" cy="9525"/>
            </a:xfrm>
            <a:custGeom>
              <a:avLst/>
              <a:gdLst/>
              <a:ahLst/>
              <a:cxnLst/>
              <a:rect l="l" t="t" r="r" b="b"/>
              <a:pathLst>
                <a:path w="5334000" h="9525">
                  <a:moveTo>
                    <a:pt x="0" y="0"/>
                  </a:moveTo>
                  <a:lnTo>
                    <a:pt x="5334000" y="0"/>
                  </a:lnTo>
                </a:path>
              </a:pathLst>
            </a:custGeom>
            <a:noFill/>
            <a:ln w="9525">
              <a:solidFill>
                <a:schemeClr val="accent1"/>
              </a:solidFill>
            </a:ln>
          </p:spPr>
        </p:sp>
        <p:sp>
          <p:nvSpPr>
            <p:cNvPr id="25" name="Ellipse 25"/>
            <p:cNvSpPr/>
            <p:nvPr/>
          </p:nvSpPr>
          <p:spPr>
            <a:xfrm>
              <a:off x="542925" y="4259580"/>
              <a:ext cx="57150" cy="57150"/>
            </a:xfrm>
            <a:prstGeom prst="ellipse">
              <a:avLst/>
            </a:prstGeom>
            <a:solidFill>
              <a:schemeClr val="accent2"/>
            </a:solidFill>
            <a:ln>
              <a:noFill/>
            </a:ln>
          </p:spPr>
        </p:sp>
        <p:sp>
          <p:nvSpPr>
            <p:cNvPr id="26" name="TextBox 26"/>
            <p:cNvSpPr txBox="1"/>
            <p:nvPr/>
          </p:nvSpPr>
          <p:spPr>
            <a:xfrm>
              <a:off x="681038" y="4227195"/>
              <a:ext cx="4855853"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Figures 1–10 are reproduced from the paper at their extracted resolution; none is redrawn.</a:t>
              </a:r>
            </a:p>
          </p:txBody>
        </p:sp>
        <p:sp>
          <p:nvSpPr>
            <p:cNvPr id="27" name="Ellipse 27"/>
            <p:cNvSpPr/>
            <p:nvPr/>
          </p:nvSpPr>
          <p:spPr>
            <a:xfrm>
              <a:off x="542925" y="4459605"/>
              <a:ext cx="57150" cy="57150"/>
            </a:xfrm>
            <a:prstGeom prst="ellipse">
              <a:avLst/>
            </a:prstGeom>
            <a:solidFill>
              <a:schemeClr val="accent2"/>
            </a:solidFill>
            <a:ln>
              <a:noFill/>
            </a:ln>
          </p:spPr>
        </p:sp>
        <p:sp>
          <p:nvSpPr>
            <p:cNvPr id="28" name="TextBox 28"/>
            <p:cNvSpPr txBox="1"/>
            <p:nvPr/>
          </p:nvSpPr>
          <p:spPr>
            <a:xfrm>
              <a:off x="681038" y="4427220"/>
              <a:ext cx="471153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Table 1 and Table 4 values are quoted as printed; per-judge scores are in Appendix D (Table</a:t>
              </a:r>
              <a:br/>
              <a:r>
                <a:rPr lang="en-US" sz="900" dirty="0">
                  <a:solidFill>
                    <a:schemeClr val="dk1"/>
                  </a:solidFill>
                  <a:latin typeface="+mn-lt"/>
                  <a:ea typeface="+mn-ea"/>
                  <a:cs typeface="+mn-cs"/>
                </a:rPr>
                <a:t>5); the three single-shot baselines share one fixed prompt reproduced in Appendix G.</a:t>
              </a:r>
            </a:p>
          </p:txBody>
        </p:sp>
        <p:sp>
          <p:nvSpPr>
            <p:cNvPr id="29" name="Ellipse 29"/>
            <p:cNvSpPr/>
            <p:nvPr/>
          </p:nvSpPr>
          <p:spPr>
            <a:xfrm>
              <a:off x="542925" y="4812030"/>
              <a:ext cx="57150" cy="57150"/>
            </a:xfrm>
            <a:prstGeom prst="ellipse">
              <a:avLst/>
            </a:prstGeom>
            <a:solidFill>
              <a:schemeClr val="accent2"/>
            </a:solidFill>
            <a:ln>
              <a:noFill/>
            </a:ln>
          </p:spPr>
        </p:sp>
        <p:sp>
          <p:nvSpPr>
            <p:cNvPr id="30" name="TextBox 30"/>
            <p:cNvSpPr txBox="1"/>
            <p:nvPr/>
          </p:nvSpPr>
          <p:spPr>
            <a:xfrm>
              <a:off x="681038" y="4779645"/>
              <a:ext cx="4640504"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Titles are this deck's readings of the paper's claims; observation, inference, and speculation</a:t>
              </a:r>
              <a:br/>
              <a:r>
                <a:rPr lang="en-US" sz="900" dirty="0">
                  <a:solidFill>
                    <a:schemeClr val="dk1"/>
                  </a:solidFill>
                  <a:latin typeface="+mn-lt"/>
                  <a:ea typeface="+mn-ea"/>
                  <a:cs typeface="+mn-cs"/>
                </a:rPr>
                <a:t>keep the paper's wording.</a:t>
              </a:r>
            </a:p>
          </p:txBody>
        </p:sp>
      </p:grpSp>
      <p:grpSp>
        <p:nvGrpSpPr>
          <p:cNvPr id="40" name="Group 40"/>
          <p:cNvGrpSpPr/>
          <p:nvPr/>
        </p:nvGrpSpPr>
        <p:grpSpPr>
          <a:xfrm>
            <a:off x="6091238" y="4017645"/>
            <a:ext cx="5567362" cy="1243012"/>
            <a:chOff x="6091238" y="4017645"/>
            <a:chExt cx="5567362" cy="1243012"/>
          </a:xfrm>
        </p:grpSpPr>
        <p:sp>
          <p:nvSpPr>
            <p:cNvPr id="32" name="TextBox 32"/>
            <p:cNvSpPr txBox="1"/>
            <p:nvPr/>
          </p:nvSpPr>
          <p:spPr>
            <a:xfrm>
              <a:off x="6091238" y="4017645"/>
              <a:ext cx="3437776" cy="176212"/>
            </a:xfrm>
            <a:prstGeom prst="rect">
              <a:avLst/>
            </a:prstGeom>
            <a:noFill/>
            <a:ln>
              <a:noFill/>
            </a:ln>
          </p:spPr>
          <p:txBody>
            <a:bodyPr wrap="none" lIns="0" tIns="0" rIns="0" bIns="0" anchor="t" anchorCtr="0">
              <a:spAutoFit/>
            </a:bodyPr>
            <a:lstStyle/>
            <a:p>
              <a:pPr algn="l"/>
              <a:r>
                <a:rPr lang="en-US" sz="900" b="1" spc="150" dirty="0">
                  <a:solidFill>
                    <a:schemeClr val="accent1"/>
                  </a:solidFill>
                  <a:latin typeface="+mn-lt"/>
                  <a:ea typeface="+mn-ea"/>
                  <a:cs typeface="+mn-cs"/>
                </a:rPr>
                <a:t>LICENSING NOTES STATED BY THE PAPER</a:t>
              </a:r>
            </a:p>
          </p:txBody>
        </p:sp>
        <p:sp>
          <p:nvSpPr>
            <p:cNvPr id="33" name="Line 33"/>
            <p:cNvSpPr/>
            <p:nvPr/>
          </p:nvSpPr>
          <p:spPr>
            <a:xfrm>
              <a:off x="6096000" y="4191000"/>
              <a:ext cx="5562600" cy="9525"/>
            </a:xfrm>
            <a:custGeom>
              <a:avLst/>
              <a:gdLst/>
              <a:ahLst/>
              <a:cxnLst/>
              <a:rect l="l" t="t" r="r" b="b"/>
              <a:pathLst>
                <a:path w="5562600" h="9525">
                  <a:moveTo>
                    <a:pt x="0" y="0"/>
                  </a:moveTo>
                  <a:lnTo>
                    <a:pt x="5562600" y="0"/>
                  </a:lnTo>
                </a:path>
              </a:pathLst>
            </a:custGeom>
            <a:noFill/>
            <a:ln w="9525">
              <a:solidFill>
                <a:schemeClr val="accent1"/>
              </a:solidFill>
            </a:ln>
          </p:spPr>
        </p:sp>
        <p:sp>
          <p:nvSpPr>
            <p:cNvPr id="34" name="Ellipse 34"/>
            <p:cNvSpPr/>
            <p:nvPr/>
          </p:nvSpPr>
          <p:spPr>
            <a:xfrm>
              <a:off x="6105525" y="4259580"/>
              <a:ext cx="57150" cy="57150"/>
            </a:xfrm>
            <a:prstGeom prst="ellipse">
              <a:avLst/>
            </a:prstGeom>
            <a:solidFill>
              <a:schemeClr val="accent2"/>
            </a:solidFill>
            <a:ln>
              <a:noFill/>
            </a:ln>
          </p:spPr>
        </p:sp>
        <p:sp>
          <p:nvSpPr>
            <p:cNvPr id="35" name="TextBox 35"/>
            <p:cNvSpPr txBox="1"/>
            <p:nvPr/>
          </p:nvSpPr>
          <p:spPr>
            <a:xfrm>
              <a:off x="6243638" y="4227195"/>
              <a:ext cx="485389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Extracted paper figures follow the source paper's license; the pipeline itself does not redistribute</a:t>
              </a:r>
              <a:br/>
              <a:r>
                <a:rPr lang="en-US" sz="900" dirty="0">
                  <a:solidFill>
                    <a:schemeClr val="dk1"/>
                  </a:solidFill>
                  <a:latin typeface="+mn-lt"/>
                  <a:ea typeface="+mn-ea"/>
                  <a:cs typeface="+mn-cs"/>
                </a:rPr>
                <a:t>paper figures or logos.</a:t>
              </a:r>
            </a:p>
          </p:txBody>
        </p:sp>
        <p:sp>
          <p:nvSpPr>
            <p:cNvPr id="36" name="Ellipse 36"/>
            <p:cNvSpPr/>
            <p:nvPr/>
          </p:nvSpPr>
          <p:spPr>
            <a:xfrm>
              <a:off x="6105525" y="4612005"/>
              <a:ext cx="57150" cy="57150"/>
            </a:xfrm>
            <a:prstGeom prst="ellipse">
              <a:avLst/>
            </a:prstGeom>
            <a:solidFill>
              <a:schemeClr val="accent2"/>
            </a:solidFill>
            <a:ln>
              <a:noFill/>
            </a:ln>
          </p:spPr>
        </p:sp>
        <p:sp>
          <p:nvSpPr>
            <p:cNvPr id="37" name="TextBox 37"/>
            <p:cNvSpPr txBox="1"/>
            <p:nvPr/>
          </p:nvSpPr>
          <p:spPr>
            <a:xfrm>
              <a:off x="6243638" y="4579620"/>
              <a:ext cx="4800021"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Institution and venue logos fetched by Paper2Assets follow Wikimedia Commons and Wikidata</a:t>
              </a:r>
              <a:br/>
              <a:r>
                <a:rPr lang="en-US" sz="900" dirty="0">
                  <a:solidFill>
                    <a:schemeClr val="dk1"/>
                  </a:solidFill>
                  <a:latin typeface="+mn-lt"/>
                  <a:ea typeface="+mn-ea"/>
                  <a:cs typeface="+mn-cs"/>
                </a:rPr>
                <a:t>licenses.</a:t>
              </a:r>
            </a:p>
          </p:txBody>
        </p:sp>
        <p:sp>
          <p:nvSpPr>
            <p:cNvPr id="38" name="Ellipse 38"/>
            <p:cNvSpPr/>
            <p:nvPr/>
          </p:nvSpPr>
          <p:spPr>
            <a:xfrm>
              <a:off x="6105525" y="4964430"/>
              <a:ext cx="57150" cy="57150"/>
            </a:xfrm>
            <a:prstGeom prst="ellipse">
              <a:avLst/>
            </a:prstGeom>
            <a:solidFill>
              <a:schemeClr val="accent2"/>
            </a:solidFill>
            <a:ln>
              <a:noFill/>
            </a:ln>
          </p:spPr>
        </p:sp>
        <p:sp>
          <p:nvSpPr>
            <p:cNvPr id="39" name="TextBox 39"/>
            <p:cNvSpPr txBox="1"/>
            <p:nvPr/>
          </p:nvSpPr>
          <p:spPr>
            <a:xfrm>
              <a:off x="6243638" y="4932045"/>
              <a:ext cx="4898010" cy="328612"/>
            </a:xfrm>
            <a:prstGeom prst="rect">
              <a:avLst/>
            </a:prstGeom>
            <a:noFill/>
            <a:ln>
              <a:noFill/>
            </a:ln>
          </p:spPr>
          <p:txBody>
            <a:bodyPr wrap="none" lIns="0" tIns="0" rIns="0" bIns="0" anchor="t" anchorCtr="0">
              <a:spAutoFit/>
            </a:bodyPr>
            <a:lstStyle/>
            <a:p>
              <a:pPr algn="l">
                <a:lnSpc>
                  <a:spcPts val="1200"/>
                </a:lnSpc>
              </a:pPr>
              <a:r>
                <a:rPr lang="en-US" sz="900" dirty="0">
                  <a:solidFill>
                    <a:schemeClr val="dk1"/>
                  </a:solidFill>
                  <a:latin typeface="+mn-lt"/>
                  <a:ea typeface="+mn-ea"/>
                  <a:cs typeface="+mn-cs"/>
                </a:rPr>
                <a:t>The edge-tts client accesses Microsoft Edge's online text-to-speech service; deployments should</a:t>
              </a:r>
              <a:br/>
              <a:r>
                <a:rPr lang="en-US" sz="900" dirty="0">
                  <a:solidFill>
                    <a:schemeClr val="dk1"/>
                  </a:solidFill>
                  <a:latin typeface="+mn-lt"/>
                  <a:ea typeface="+mn-ea"/>
                  <a:cs typeface="+mn-cs"/>
                </a:rPr>
                <a:t>verify the applicable service terms.</a:t>
              </a:r>
            </a:p>
          </p:txBody>
        </p:sp>
      </p:grpSp>
      <p:grpSp>
        <p:nvGrpSpPr>
          <p:cNvPr id="43" name="Group 43"/>
          <p:cNvGrpSpPr/>
          <p:nvPr/>
        </p:nvGrpSpPr>
        <p:grpSpPr>
          <a:xfrm>
            <a:off x="528638" y="6415088"/>
            <a:ext cx="11134724" cy="147638"/>
            <a:chOff x="528638" y="6415088"/>
            <a:chExt cx="11134724" cy="147638"/>
          </a:xfrm>
        </p:grpSpPr>
        <p:sp>
          <p:nvSpPr>
            <p:cNvPr id="41" name="TextBox 41"/>
            <p:cNvSpPr txBox="1"/>
            <p:nvPr/>
          </p:nvSpPr>
          <p:spPr>
            <a:xfrm>
              <a:off x="528638" y="6415088"/>
              <a:ext cx="4790244" cy="147638"/>
            </a:xfrm>
            <a:prstGeom prst="rect">
              <a:avLst/>
            </a:prstGeom>
            <a:noFill/>
            <a:ln>
              <a:noFill/>
            </a:ln>
          </p:spPr>
          <p:txBody>
            <a:bodyPr wrap="none" lIns="0" tIns="0" rIns="0" bIns="0" anchor="t" anchorCtr="0">
              <a:spAutoFit/>
            </a:bodyPr>
            <a:lstStyle/>
            <a:p>
              <a:pPr algn="l"/>
              <a:r>
                <a:rPr lang="en-US" sz="750" dirty="0">
                  <a:solidFill>
                    <a:schemeClr val="accent5"/>
                  </a:solidFill>
                  <a:latin typeface="+mn-lt"/>
                  <a:ea typeface="+mn-ea"/>
                  <a:cs typeface="+mn-cs"/>
                </a:rPr>
                <a:t>Deck built with ppt-master, the deck-authoring dependency Paper2Video uses (reference [22] of the paper)</a:t>
              </a:r>
            </a:p>
          </p:txBody>
        </p:sp>
        <p:sp>
          <p:nvSpPr>
            <p:cNvPr id="42" name="TextBox 42"/>
            <p:cNvSpPr txBox="1"/>
            <p:nvPr/>
          </p:nvSpPr>
          <p:spPr>
            <a:xfrm>
              <a:off x="11541524" y="6415088"/>
              <a:ext cx="121838" cy="147638"/>
            </a:xfrm>
            <a:prstGeom prst="rect">
              <a:avLst/>
            </a:prstGeom>
            <a:noFill/>
            <a:ln>
              <a:noFill/>
            </a:ln>
          </p:spPr>
          <p:txBody>
            <a:bodyPr wrap="none" lIns="0" tIns="0" rIns="0" bIns="0" anchor="t" anchorCtr="0">
              <a:spAutoFit/>
            </a:bodyPr>
            <a:lstStyle/>
            <a:p>
              <a:pPr algn="r"/>
              <a:r>
                <a:rPr lang="en-US" sz="750" dirty="0">
                  <a:solidFill>
                    <a:schemeClr val="accent5"/>
                  </a:solidFill>
                  <a:latin typeface="+mn-lt"/>
                  <a:ea typeface="+mn-ea"/>
                  <a:cs typeface="+mn-cs"/>
                </a:rPr>
                <a:t>18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par>
                          <p:cTn id="28" fill="hold">
                            <p:stCondLst>
                              <p:cond delay="48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researchstudio_reel_paper">
  <a:themeElements>
    <a:clrScheme name="ppt169_researchstudio_reel_paper">
      <a:dk1>
        <a:srgbClr val="2F3A48"/>
      </a:dk1>
      <a:lt1>
        <a:srgbClr val="FFFFFF"/>
      </a:lt1>
      <a:dk2>
        <a:srgbClr val="1F497D"/>
      </a:dk2>
      <a:lt2>
        <a:srgbClr val="F3F5F8"/>
      </a:lt2>
      <a:accent1>
        <a:srgbClr val="1B2430"/>
      </a:accent1>
      <a:accent2>
        <a:srgbClr val="1D4ED8"/>
      </a:accent2>
      <a:accent3>
        <a:srgbClr val="0E9F8A"/>
      </a:accent3>
      <a:accent4>
        <a:srgbClr val="1B2430"/>
      </a:accent4>
      <a:accent5>
        <a:srgbClr val="6B7684"/>
      </a:accent5>
      <a:accent6>
        <a:srgbClr val="C9D0D8"/>
      </a:accent6>
      <a:hlink>
        <a:srgbClr val="1D4ED8"/>
      </a:hlink>
      <a:folHlink>
        <a:srgbClr val="0E9F8A"/>
      </a:folHlink>
    </a:clrScheme>
    <a:fontScheme name="ppt169_researchstudio_reel_pap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researchstudio_reel_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researchstudio_reel_paper">
  <a:themeElements>
    <a:clrScheme name="ppt169_researchstudio_reel_paper">
      <a:dk1>
        <a:srgbClr val="2F3A48"/>
      </a:dk1>
      <a:lt1>
        <a:srgbClr val="FFFFFF"/>
      </a:lt1>
      <a:dk2>
        <a:srgbClr val="1F497D"/>
      </a:dk2>
      <a:lt2>
        <a:srgbClr val="F3F5F8"/>
      </a:lt2>
      <a:accent1>
        <a:srgbClr val="1B2430"/>
      </a:accent1>
      <a:accent2>
        <a:srgbClr val="1D4ED8"/>
      </a:accent2>
      <a:accent3>
        <a:srgbClr val="0E9F8A"/>
      </a:accent3>
      <a:accent4>
        <a:srgbClr val="1B2430"/>
      </a:accent4>
      <a:accent5>
        <a:srgbClr val="6B7684"/>
      </a:accent5>
      <a:accent6>
        <a:srgbClr val="C9D0D8"/>
      </a:accent6>
      <a:hlink>
        <a:srgbClr val="1D4ED8"/>
      </a:hlink>
      <a:folHlink>
        <a:srgbClr val="0E9F8A"/>
      </a:folHlink>
    </a:clrScheme>
    <a:fontScheme name="ppt169_researchstudio_reel_pap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researchstudio_reel_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2026-09-05T15:50:27Z</dcterms:created>
  <dcterms:modified xsi:type="dcterms:W3CDTF">2026-09-05T15:50:27Z</dcterms:modified>
  <cp:category/>
  <cp:contentStatus/>
</cp:coreProperties>
</file>