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emf" ContentType="image/x-emf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telford_feedback_2023_24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telford_feedback_2023_24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3f737ffb80bbabf.emf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://www.telford.gov.uk/yousaidwedid" TargetMode="Externa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www.telford.gov.uk/media/iyaj4b1z/corporate_feedback_report_2023_24.docx" TargetMode="Externa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39000" y="0"/>
            <a:ext cx="4953000" cy="6858000"/>
          </a:xfrm>
          <a:prstGeom prst="snip1Rect">
            <a:avLst>
              <a:gd name="adj" fmla="val 17308"/>
            </a:avLst>
          </a:prstGeom>
          <a:solidFill>
            <a:srgbClr val="1F4E79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2200275" cy="381000"/>
          </a:xfrm>
          <a:prstGeom prst="rect">
            <a:avLst/>
          </a:prstGeom>
        </p:spPr>
      </p:pic>
      <p:grpSp>
        <p:nvGrpSpPr>
          <p:cNvPr id="7" name="title-block"/>
          <p:cNvGrpSpPr/>
          <p:nvPr/>
        </p:nvGrpSpPr>
        <p:grpSpPr>
          <a:xfrm>
            <a:off x="514350" y="2286952"/>
            <a:ext cx="5828824" cy="2576132"/>
            <a:chOff x="514350" y="2286952"/>
            <a:chExt cx="5828824" cy="2576132"/>
          </a:xfrm>
        </p:grpSpPr>
        <p:sp>
          <p:nvSpPr>
            <p:cNvPr id="4" name="TextBox 4"/>
            <p:cNvSpPr txBox="1"/>
            <p:nvPr/>
          </p:nvSpPr>
          <p:spPr>
            <a:xfrm>
              <a:off x="528066" y="2286952"/>
              <a:ext cx="2841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3B26"/>
                  </a:solidFill>
                  <a:latin typeface="Segoe UI"/>
                  <a:ea typeface="Segoe UI"/>
                  <a:cs typeface="Segoe UI"/>
                </a:rPr>
                <a:t>BRIEFING FOR THE SCRUTINY COMMITTEE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4350" y="2657475"/>
              <a:ext cx="5828824" cy="1543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45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Corporate Feedback</a:t>
              </a:r>
              <a:br/>
              <a:r>
                <a:rPr lang="en-US" sz="45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Report 2023/24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4168140"/>
              <a:ext cx="462457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More complaints, faster answers —</a:t>
              </a:r>
              <a:br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and a tighter 10-day clock from May 2024</a:t>
              </a:r>
            </a:p>
          </p:txBody>
        </p:sp>
      </p:grpSp>
      <p:grpSp>
        <p:nvGrpSpPr>
          <p:cNvPr id="10" name="cover-period"/>
          <p:cNvGrpSpPr/>
          <p:nvPr/>
        </p:nvGrpSpPr>
        <p:grpSpPr>
          <a:xfrm>
            <a:off x="527304" y="5905500"/>
            <a:ext cx="6140196" cy="581406"/>
            <a:chOff x="527304" y="5905500"/>
            <a:chExt cx="6140196" cy="581406"/>
          </a:xfrm>
        </p:grpSpPr>
        <p:sp>
          <p:nvSpPr>
            <p:cNvPr id="8" name="Line 8"/>
            <p:cNvSpPr/>
            <p:nvPr/>
          </p:nvSpPr>
          <p:spPr>
            <a:xfrm>
              <a:off x="533400" y="590550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7304" y="6042660"/>
              <a:ext cx="40126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Telford &amp; Wrekin Council · Customer Relationship team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Reporting year 1 April 2023 – 31 March 2024</a:t>
              </a:r>
            </a:p>
          </p:txBody>
        </p:sp>
      </p:grpSp>
      <p:grpSp>
        <p:nvGrpSpPr>
          <p:cNvPr id="13" name="!!stage-one-volume"/>
          <p:cNvGrpSpPr/>
          <p:nvPr/>
        </p:nvGrpSpPr>
        <p:grpSpPr>
          <a:xfrm>
            <a:off x="7677150" y="1687830"/>
            <a:ext cx="3306890" cy="1580959"/>
            <a:chOff x="7677150" y="1687830"/>
            <a:chExt cx="3306890" cy="1580959"/>
          </a:xfrm>
        </p:grpSpPr>
        <p:sp>
          <p:nvSpPr>
            <p:cNvPr id="11" name="TextBox 11"/>
            <p:cNvSpPr txBox="1"/>
            <p:nvPr/>
          </p:nvSpPr>
          <p:spPr>
            <a:xfrm>
              <a:off x="7677150" y="1687830"/>
              <a:ext cx="166454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659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7818" y="2641282"/>
              <a:ext cx="3296222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corporate Stage One complaints</a:t>
              </a:r>
              <a:br/>
              <a:r>
                <a:rPr lang="en-US" sz="165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up from 601 in 2022/23</a:t>
              </a:r>
            </a:p>
          </p:txBody>
        </p:sp>
      </p:grpSp>
      <p:sp>
        <p:nvSpPr>
          <p:cNvPr id="14" name="Line 14"/>
          <p:cNvSpPr/>
          <p:nvPr/>
        </p:nvSpPr>
        <p:spPr>
          <a:xfrm>
            <a:off x="7696200" y="3543300"/>
            <a:ext cx="3962400" cy="9525"/>
          </a:xfrm>
          <a:custGeom>
            <a:avLst/>
            <a:gdLst/>
            <a:ahLst/>
            <a:cxnLst/>
            <a:rect l="l" t="t" r="r" b="b"/>
            <a:pathLst>
              <a:path w="3962400" h="9525">
                <a:moveTo>
                  <a:pt x="0" y="0"/>
                </a:moveTo>
                <a:lnTo>
                  <a:pt x="3962400" y="0"/>
                </a:lnTo>
              </a:path>
            </a:pathLst>
          </a:custGeom>
          <a:noFill/>
          <a:ln w="9525">
            <a:solidFill>
              <a:srgbClr val="FFFFFF">
                <a:alpha val="35000"/>
              </a:srgbClr>
            </a:solidFill>
          </a:ln>
        </p:spPr>
      </p:sp>
      <p:grpSp>
        <p:nvGrpSpPr>
          <p:cNvPr id="17" name="!!on-time-share"/>
          <p:cNvGrpSpPr/>
          <p:nvPr/>
        </p:nvGrpSpPr>
        <p:grpSpPr>
          <a:xfrm>
            <a:off x="7677150" y="4030980"/>
            <a:ext cx="3359277" cy="1580959"/>
            <a:chOff x="7677150" y="4030980"/>
            <a:chExt cx="3359277" cy="1580959"/>
          </a:xfrm>
        </p:grpSpPr>
        <p:sp>
          <p:nvSpPr>
            <p:cNvPr id="15" name="TextBox 15"/>
            <p:cNvSpPr txBox="1"/>
            <p:nvPr/>
          </p:nvSpPr>
          <p:spPr>
            <a:xfrm>
              <a:off x="7677150" y="4030980"/>
              <a:ext cx="186168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87%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87818" y="4984432"/>
              <a:ext cx="3348609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answered within 15 working days</a:t>
              </a:r>
              <a:br/>
              <a:r>
                <a:rPr lang="en-US" sz="165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up from 80% in 2022/23</a:t>
              </a:r>
            </a:p>
          </p:txBody>
        </p:sp>
      </p:grpSp>
      <p:grpSp>
        <p:nvGrpSpPr>
          <p:cNvPr id="19" name="cover-source"/>
          <p:cNvGrpSpPr/>
          <p:nvPr/>
        </p:nvGrpSpPr>
        <p:grpSpPr>
          <a:xfrm>
            <a:off x="7690866" y="6325552"/>
            <a:ext cx="3080564" cy="205359"/>
            <a:chOff x="7690866" y="6325552"/>
            <a:chExt cx="3080564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7690866" y="6325552"/>
              <a:ext cx="3080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Source: Corporate Feedback Report 2023/24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72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OVERVIEW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193825" cy="811149"/>
            <a:chOff x="519684" y="756285"/>
            <a:chExt cx="10193825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691483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More complaints, answered faster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101892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Volume and speed both rose at Stage One; escalations to Stage Two rose faster still.</a:t>
              </a:r>
            </a:p>
          </p:txBody>
        </p:sp>
      </p:grpSp>
      <p:grpSp>
        <p:nvGrpSpPr>
          <p:cNvPr id="14" name="!!stage-one-volume"/>
          <p:cNvGrpSpPr/>
          <p:nvPr/>
        </p:nvGrpSpPr>
        <p:grpSpPr>
          <a:xfrm>
            <a:off x="514350" y="1752600"/>
            <a:ext cx="2571750" cy="2124456"/>
            <a:chOff x="514350" y="1752600"/>
            <a:chExt cx="2571750" cy="2124456"/>
          </a:xfrm>
        </p:grpSpPr>
        <p:sp>
          <p:nvSpPr>
            <p:cNvPr id="9" name="Rectangle 9"/>
            <p:cNvSpPr/>
            <p:nvPr/>
          </p:nvSpPr>
          <p:spPr>
            <a:xfrm>
              <a:off x="533400" y="1752600"/>
              <a:ext cx="25527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7304" y="1927860"/>
              <a:ext cx="19567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STAGE ONE COMPLAINTS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4350" y="2295525"/>
              <a:ext cx="114703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659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018" y="3003232"/>
              <a:ext cx="14272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2022/23: 601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7304" y="3413760"/>
              <a:ext cx="212293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From 619 complainants; still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under 1% of all transactions</a:t>
              </a:r>
            </a:p>
          </p:txBody>
        </p:sp>
      </p:grpSp>
      <p:grpSp>
        <p:nvGrpSpPr>
          <p:cNvPr id="20" name="!!on-time-share"/>
          <p:cNvGrpSpPr/>
          <p:nvPr/>
        </p:nvGrpSpPr>
        <p:grpSpPr>
          <a:xfrm>
            <a:off x="3371850" y="1752600"/>
            <a:ext cx="2571750" cy="2124456"/>
            <a:chOff x="3371850" y="1752600"/>
            <a:chExt cx="2571750" cy="2124456"/>
          </a:xfrm>
        </p:grpSpPr>
        <p:sp>
          <p:nvSpPr>
            <p:cNvPr id="15" name="Rectangle 15"/>
            <p:cNvSpPr/>
            <p:nvPr/>
          </p:nvSpPr>
          <p:spPr>
            <a:xfrm>
              <a:off x="3390900" y="1752600"/>
              <a:ext cx="25527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84804" y="1927860"/>
              <a:ext cx="2127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ANSWERED WITHIN 15 DAYS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71850" y="2295525"/>
              <a:ext cx="128145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87%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82518" y="3003232"/>
              <a:ext cx="1471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2022/23: 80%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84804" y="3413760"/>
              <a:ext cx="1885569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 xml:space="preserve">Local target is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90%</a:t>
              </a: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; five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directorates met it</a:t>
              </a:r>
            </a:p>
          </p:txBody>
        </p:sp>
      </p:grpSp>
      <p:grpSp>
        <p:nvGrpSpPr>
          <p:cNvPr id="26" name="kpi-speed"/>
          <p:cNvGrpSpPr/>
          <p:nvPr/>
        </p:nvGrpSpPr>
        <p:grpSpPr>
          <a:xfrm>
            <a:off x="6229350" y="1752600"/>
            <a:ext cx="2571750" cy="2124456"/>
            <a:chOff x="6229350" y="1752600"/>
            <a:chExt cx="2571750" cy="2124456"/>
          </a:xfrm>
        </p:grpSpPr>
        <p:sp>
          <p:nvSpPr>
            <p:cNvPr id="21" name="Rectangle 21"/>
            <p:cNvSpPr/>
            <p:nvPr/>
          </p:nvSpPr>
          <p:spPr>
            <a:xfrm>
              <a:off x="6248400" y="1752600"/>
              <a:ext cx="25527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42304" y="1927860"/>
              <a:ext cx="2019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AVERAGE RESPONSE 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29350" y="2295525"/>
              <a:ext cx="245760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10 days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40018" y="300323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2022/23: 11 days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42304" y="3413760"/>
              <a:ext cx="220751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Working days at Stage One;</a:t>
              </a:r>
              <a:br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26</a:t>
              </a: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 xml:space="preserve"> went past the 20-day limit</a:t>
              </a:r>
            </a:p>
          </p:txBody>
        </p:sp>
      </p:grpSp>
      <p:grpSp>
        <p:nvGrpSpPr>
          <p:cNvPr id="32" name="kpi-escalation"/>
          <p:cNvGrpSpPr/>
          <p:nvPr/>
        </p:nvGrpSpPr>
        <p:grpSpPr>
          <a:xfrm>
            <a:off x="9086850" y="1752600"/>
            <a:ext cx="2571750" cy="2124456"/>
            <a:chOff x="9086850" y="1752600"/>
            <a:chExt cx="2571750" cy="2124456"/>
          </a:xfrm>
        </p:grpSpPr>
        <p:sp>
          <p:nvSpPr>
            <p:cNvPr id="27" name="Rectangle 27"/>
            <p:cNvSpPr/>
            <p:nvPr/>
          </p:nvSpPr>
          <p:spPr>
            <a:xfrm>
              <a:off x="9105900" y="1752600"/>
              <a:ext cx="2552700" cy="28575"/>
            </a:xfrm>
            <a:prstGeom prst="rect">
              <a:avLst/>
            </a:prstGeom>
            <a:solidFill>
              <a:srgbClr val="B83B2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99804" y="1927860"/>
              <a:ext cx="2153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ESCALATED TO STAGE TWO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6850" y="2295525"/>
              <a:ext cx="77739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B83B26"/>
                  </a:solidFill>
                  <a:latin typeface="Cambria"/>
                  <a:ea typeface="Cambria"/>
                  <a:cs typeface="Cambria"/>
                </a:rPr>
                <a:t>70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97518" y="30032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2022/23: 41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99804" y="3413760"/>
              <a:ext cx="2123694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Full investigations averaged</a:t>
              </a:r>
              <a:br/>
              <a:r>
                <a:rPr lang="en-US" sz="1200" b="1" dirty="0">
                  <a:solidFill>
                    <a:srgbClr val="B83B26"/>
                  </a:solidFill>
                  <a:latin typeface="Segoe UI"/>
                  <a:ea typeface="Segoe UI"/>
                  <a:cs typeface="Segoe UI"/>
                </a:rPr>
                <a:t>43</a:t>
              </a: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 xml:space="preserve"> working days (28 before)</a:t>
              </a:r>
            </a:p>
          </p:txBody>
        </p:sp>
      </p:grpSp>
      <p:sp>
        <p:nvSpPr>
          <p:cNvPr id="33" name="Line 33"/>
          <p:cNvSpPr/>
          <p:nvPr/>
        </p:nvSpPr>
        <p:spPr>
          <a:xfrm>
            <a:off x="533400" y="4552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CFC8BB"/>
            </a:solidFill>
          </a:ln>
        </p:spPr>
      </p:sp>
      <p:grpSp>
        <p:nvGrpSpPr>
          <p:cNvPr id="36" name="stat-upheld"/>
          <p:cNvGrpSpPr/>
          <p:nvPr/>
        </p:nvGrpSpPr>
        <p:grpSpPr>
          <a:xfrm>
            <a:off x="519684" y="4871085"/>
            <a:ext cx="2494788" cy="1083754"/>
            <a:chOff x="519684" y="4871085"/>
            <a:chExt cx="2494788" cy="1083754"/>
          </a:xfrm>
        </p:grpSpPr>
        <p:sp>
          <p:nvSpPr>
            <p:cNvPr id="34" name="TextBox 34"/>
            <p:cNvSpPr txBox="1"/>
            <p:nvPr/>
          </p:nvSpPr>
          <p:spPr>
            <a:xfrm>
              <a:off x="519684" y="4871085"/>
              <a:ext cx="7734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42%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5018" y="5346382"/>
              <a:ext cx="248945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upheld at Stage One —</a:t>
              </a:r>
              <a:br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unchanged from 2022/23</a:t>
              </a:r>
            </a:p>
          </p:txBody>
        </p:sp>
      </p:grpSp>
      <p:grpSp>
        <p:nvGrpSpPr>
          <p:cNvPr id="39" name="stat-compliments"/>
          <p:cNvGrpSpPr/>
          <p:nvPr/>
        </p:nvGrpSpPr>
        <p:grpSpPr>
          <a:xfrm>
            <a:off x="4291584" y="4871085"/>
            <a:ext cx="2515743" cy="1083754"/>
            <a:chOff x="4291584" y="4871085"/>
            <a:chExt cx="2515743" cy="1083754"/>
          </a:xfrm>
        </p:grpSpPr>
        <p:sp>
          <p:nvSpPr>
            <p:cNvPr id="37" name="TextBox 37"/>
            <p:cNvSpPr txBox="1"/>
            <p:nvPr/>
          </p:nvSpPr>
          <p:spPr>
            <a:xfrm>
              <a:off x="4291584" y="4871085"/>
              <a:ext cx="6927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639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96918" y="5346382"/>
              <a:ext cx="251040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compliments received —</a:t>
              </a:r>
              <a:br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up 13% on 566 in 2022/23</a:t>
              </a:r>
            </a:p>
          </p:txBody>
        </p:sp>
      </p:grpSp>
      <p:grpSp>
        <p:nvGrpSpPr>
          <p:cNvPr id="42" name="stat-ombudsman"/>
          <p:cNvGrpSpPr/>
          <p:nvPr/>
        </p:nvGrpSpPr>
        <p:grpSpPr>
          <a:xfrm>
            <a:off x="8063484" y="4871085"/>
            <a:ext cx="2871978" cy="1083754"/>
            <a:chOff x="8063484" y="4871085"/>
            <a:chExt cx="2871978" cy="1083754"/>
          </a:xfrm>
        </p:grpSpPr>
        <p:sp>
          <p:nvSpPr>
            <p:cNvPr id="40" name="TextBox 40"/>
            <p:cNvSpPr txBox="1"/>
            <p:nvPr/>
          </p:nvSpPr>
          <p:spPr>
            <a:xfrm>
              <a:off x="8063484" y="4871085"/>
              <a:ext cx="9952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100%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68818" y="5346382"/>
              <a:ext cx="28666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of Ombudsman</a:t>
              </a:r>
              <a:br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recommendations completed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28066" y="6516052"/>
            <a:ext cx="75268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Telford &amp; Wrekin Council, Corporate Feedback Report 2023/24 — Report summary; Highlights 2023/24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  <mc:AlternateContent>
    <mc:Choice Requires="p159">
      <p:transition p14:dur="8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 · VOLUME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9644954" cy="811149"/>
            <a:chOff x="519684" y="756285"/>
            <a:chExt cx="9644954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96449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659 complaints: the second-highest in five years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69399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Up from 601 in 2022/23 and below the 2021/22 peak of 702.</a:t>
              </a:r>
            </a:p>
          </p:txBody>
        </p:sp>
      </p:grpSp>
      <p:grpSp>
        <p:nvGrpSpPr>
          <p:cNvPr id="10" name="chart-caption"/>
          <p:cNvGrpSpPr/>
          <p:nvPr/>
        </p:nvGrpSpPr>
        <p:grpSpPr>
          <a:xfrm>
            <a:off x="527304" y="1680210"/>
            <a:ext cx="3668329" cy="234696"/>
            <a:chOff x="527304" y="1680210"/>
            <a:chExt cx="3668329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1680210"/>
              <a:ext cx="36683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CORPORATE STAGE ONE COMPLAINTS BY YEAR</a:t>
              </a:r>
            </a:p>
          </p:txBody>
        </p:sp>
      </p:grpSp>
      <p:grpSp>
        <p:nvGrpSpPr>
          <p:cNvPr id="41" name="p03-stage1-trend"/>
          <p:cNvGrpSpPr/>
          <p:nvPr/>
        </p:nvGrpSpPr>
        <p:grpSpPr>
          <a:xfrm>
            <a:off x="679856" y="2023110"/>
            <a:ext cx="6749644" cy="4063746"/>
            <a:chOff x="679856" y="2023110"/>
            <a:chExt cx="6749644" cy="4063746"/>
          </a:xfrm>
        </p:grpSpPr>
        <p:grpSp>
          <p:nvGrpSpPr>
            <p:cNvPr id="40" name="p03-stage1-trend-chartArea"/>
            <p:cNvGrpSpPr/>
            <p:nvPr/>
          </p:nvGrpSpPr>
          <p:grpSpPr>
            <a:xfrm>
              <a:off x="679856" y="2023110"/>
              <a:ext cx="6749644" cy="4063746"/>
              <a:chOff x="679856" y="2023110"/>
              <a:chExt cx="6749644" cy="4063746"/>
            </a:xfrm>
          </p:grpSpPr>
          <p:grpSp>
            <p:nvGrpSpPr>
              <p:cNvPr id="15" name="p03-grid"/>
              <p:cNvGrpSpPr/>
              <p:nvPr/>
            </p:nvGrpSpPr>
            <p:grpSpPr>
              <a:xfrm>
                <a:off x="1047750" y="2095500"/>
                <a:ext cx="6381750" cy="2724150"/>
                <a:chOff x="1047750" y="2095500"/>
                <a:chExt cx="6381750" cy="2724150"/>
              </a:xfrm>
            </p:grpSpPr>
            <p:sp>
              <p:nvSpPr>
                <p:cNvPr id="11" name="Line 11"/>
                <p:cNvSpPr/>
                <p:nvPr/>
              </p:nvSpPr>
              <p:spPr>
                <a:xfrm>
                  <a:off x="1047750" y="2095500"/>
                  <a:ext cx="638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1750" h="9525">
                      <a:moveTo>
                        <a:pt x="0" y="0"/>
                      </a:moveTo>
                      <a:lnTo>
                        <a:pt x="6381750" y="0"/>
                      </a:lnTo>
                    </a:path>
                  </a:pathLst>
                </a:custGeom>
                <a:noFill/>
                <a:ln w="9525">
                  <a:solidFill>
                    <a:srgbClr val="E3DED4"/>
                  </a:solidFill>
                </a:ln>
              </p:spPr>
            </p:sp>
            <p:sp>
              <p:nvSpPr>
                <p:cNvPr id="12" name="Line 12"/>
                <p:cNvSpPr/>
                <p:nvPr/>
              </p:nvSpPr>
              <p:spPr>
                <a:xfrm>
                  <a:off x="1047750" y="3000375"/>
                  <a:ext cx="638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1750" h="9525">
                      <a:moveTo>
                        <a:pt x="0" y="0"/>
                      </a:moveTo>
                      <a:lnTo>
                        <a:pt x="6381750" y="0"/>
                      </a:lnTo>
                    </a:path>
                  </a:pathLst>
                </a:custGeom>
                <a:noFill/>
                <a:ln w="9525">
                  <a:solidFill>
                    <a:srgbClr val="E3DED4"/>
                  </a:solidFill>
                </a:ln>
              </p:spPr>
            </p:sp>
            <p:sp>
              <p:nvSpPr>
                <p:cNvPr id="13" name="Line 13"/>
                <p:cNvSpPr/>
                <p:nvPr/>
              </p:nvSpPr>
              <p:spPr>
                <a:xfrm>
                  <a:off x="1047750" y="3905250"/>
                  <a:ext cx="638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1750" h="9525">
                      <a:moveTo>
                        <a:pt x="0" y="0"/>
                      </a:moveTo>
                      <a:lnTo>
                        <a:pt x="6381750" y="0"/>
                      </a:lnTo>
                    </a:path>
                  </a:pathLst>
                </a:custGeom>
                <a:noFill/>
                <a:ln w="9525">
                  <a:solidFill>
                    <a:srgbClr val="E3DED4"/>
                  </a:solidFill>
                </a:ln>
              </p:spPr>
            </p:sp>
            <p:sp>
              <p:nvSpPr>
                <p:cNvPr id="14" name="Line 14"/>
                <p:cNvSpPr/>
                <p:nvPr/>
              </p:nvSpPr>
              <p:spPr>
                <a:xfrm>
                  <a:off x="1047750" y="4810125"/>
                  <a:ext cx="638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1750" h="9525">
                      <a:moveTo>
                        <a:pt x="0" y="0"/>
                      </a:moveTo>
                      <a:lnTo>
                        <a:pt x="6381750" y="0"/>
                      </a:lnTo>
                    </a:path>
                  </a:pathLst>
                </a:custGeom>
                <a:noFill/>
                <a:ln w="9525">
                  <a:solidFill>
                    <a:srgbClr val="E3DED4"/>
                  </a:solidFill>
                </a:ln>
              </p:spPr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679856" y="2023110"/>
                <a:ext cx="278740" cy="3854196"/>
                <a:chOff x="679856" y="2023110"/>
                <a:chExt cx="278740" cy="3854196"/>
              </a:xfrm>
            </p:grpSpPr>
            <p:sp>
              <p:nvSpPr>
                <p:cNvPr id="16" name="TextBox 16"/>
                <p:cNvSpPr txBox="1"/>
                <p:nvPr/>
              </p:nvSpPr>
              <p:spPr>
                <a:xfrm>
                  <a:off x="857555" y="5642610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0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679856" y="473773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200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79856" y="3832860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400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679856" y="292798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600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79856" y="2023110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800</a:t>
                  </a:r>
                </a:p>
              </p:txBody>
            </p:sp>
          </p:grpSp>
          <p:sp>
            <p:nvSpPr>
              <p:cNvPr id="22" name="Line 22"/>
              <p:cNvSpPr/>
              <p:nvPr/>
            </p:nvSpPr>
            <p:spPr>
              <a:xfrm>
                <a:off x="1047750" y="5715000"/>
                <a:ext cx="638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81750" h="9525">
                    <a:moveTo>
                      <a:pt x="0" y="0"/>
                    </a:moveTo>
                    <a:lnTo>
                      <a:pt x="6381750" y="0"/>
                    </a:lnTo>
                  </a:path>
                </a:pathLst>
              </a:custGeom>
              <a:noFill/>
              <a:ln w="14288">
                <a:solidFill>
                  <a:srgbClr val="8A8F96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1343025" y="3556921"/>
                <a:ext cx="685800" cy="2158079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2619375" y="3796665"/>
                <a:ext cx="685800" cy="1918335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3895725" y="2538889"/>
                <a:ext cx="685800" cy="3176111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5172075" y="2995898"/>
                <a:ext cx="685800" cy="2719102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48425" y="2733484"/>
                <a:ext cx="685800" cy="2981516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539892" y="2318385"/>
                <a:ext cx="5397467" cy="1491996"/>
                <a:chOff x="1539892" y="2318385"/>
                <a:chExt cx="5397467" cy="1491996"/>
              </a:xfrm>
            </p:grpSpPr>
            <p:sp>
              <p:nvSpPr>
                <p:cNvPr id="28" name="TextBox 28"/>
                <p:cNvSpPr txBox="1"/>
                <p:nvPr/>
              </p:nvSpPr>
              <p:spPr>
                <a:xfrm>
                  <a:off x="1539892" y="3337560"/>
                  <a:ext cx="29206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477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2816242" y="3575685"/>
                  <a:ext cx="29206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424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4092592" y="2318385"/>
                  <a:ext cx="29206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702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368942" y="2775585"/>
                  <a:ext cx="29206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601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645292" y="2508885"/>
                  <a:ext cx="29206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659</a:t>
                  </a: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1368857" y="5852160"/>
                <a:ext cx="5739536" cy="234696"/>
                <a:chOff x="1368857" y="5852160"/>
                <a:chExt cx="5739536" cy="234696"/>
              </a:xfrm>
            </p:grpSpPr>
            <p:sp>
              <p:nvSpPr>
                <p:cNvPr id="34" name="TextBox 34"/>
                <p:cNvSpPr txBox="1"/>
                <p:nvPr/>
              </p:nvSpPr>
              <p:spPr>
                <a:xfrm>
                  <a:off x="1368857" y="5852160"/>
                  <a:ext cx="63413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2019/20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2645207" y="5852160"/>
                  <a:ext cx="63413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2020/21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3921557" y="5852160"/>
                  <a:ext cx="63413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2021/22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197907" y="5852160"/>
                  <a:ext cx="63413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2022/23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474257" y="5852160"/>
                  <a:ext cx="63413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2023/24</a:t>
                  </a:r>
                </a:p>
              </p:txBody>
            </p:sp>
          </p:grpSp>
        </p:grpSp>
      </p:grpSp>
      <p:grpSp>
        <p:nvGrpSpPr>
          <p:cNvPr id="52" name="context-scale"/>
          <p:cNvGrpSpPr/>
          <p:nvPr/>
        </p:nvGrpSpPr>
        <p:grpSpPr>
          <a:xfrm>
            <a:off x="7987284" y="1680210"/>
            <a:ext cx="3671316" cy="3339846"/>
            <a:chOff x="7987284" y="1680210"/>
            <a:chExt cx="3671316" cy="3339846"/>
          </a:xfrm>
        </p:grpSpPr>
        <p:sp>
          <p:nvSpPr>
            <p:cNvPr id="42" name="TextBox 42"/>
            <p:cNvSpPr txBox="1"/>
            <p:nvPr/>
          </p:nvSpPr>
          <p:spPr>
            <a:xfrm>
              <a:off x="7994904" y="1680210"/>
              <a:ext cx="3274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IN CONTEXT: COUNCIL ACTIVITY 2023/24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001000" y="19431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87284" y="2089785"/>
              <a:ext cx="22654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10.7 million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94904" y="249936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bins emptied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87284" y="2851785"/>
              <a:ext cx="15799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212,074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94904" y="3261360"/>
              <a:ext cx="3032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calls to the Corporate Contact Centre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87284" y="3613785"/>
              <a:ext cx="20235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c.160,000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94904" y="4023360"/>
              <a:ext cx="1781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council tax bills issued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87284" y="4375785"/>
              <a:ext cx="248725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c.3.2 million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94904" y="4785360"/>
              <a:ext cx="2287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visitors welcomed to Telford</a:t>
              </a:r>
            </a:p>
          </p:txBody>
        </p:sp>
      </p:grpSp>
      <p:grpSp>
        <p:nvGrpSpPr>
          <p:cNvPr id="55" name="context-note"/>
          <p:cNvGrpSpPr/>
          <p:nvPr/>
        </p:nvGrpSpPr>
        <p:grpSpPr>
          <a:xfrm>
            <a:off x="8001000" y="5257800"/>
            <a:ext cx="3134106" cy="981456"/>
            <a:chOff x="8001000" y="5257800"/>
            <a:chExt cx="3134106" cy="981456"/>
          </a:xfrm>
        </p:grpSpPr>
        <p:sp>
          <p:nvSpPr>
            <p:cNvPr id="53" name="Rectangle 53"/>
            <p:cNvSpPr/>
            <p:nvPr/>
          </p:nvSpPr>
          <p:spPr>
            <a:xfrm>
              <a:off x="8001000" y="5257800"/>
              <a:ext cx="28575" cy="914400"/>
            </a:xfrm>
            <a:prstGeom prst="rect">
              <a:avLst/>
            </a:prstGeom>
            <a:solidFill>
              <a:srgbClr val="B83B2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66354" y="5318760"/>
              <a:ext cx="296875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 xml:space="preserve">Complaints stay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under 1%</a:t>
              </a:r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 xml:space="preserve"> of all</a:t>
              </a:r>
              <a:br/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transactions. The Ombudsman says</a:t>
              </a:r>
              <a:br/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complaints need not be a negative: they</a:t>
              </a:r>
              <a:br/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can signal an accessible procedure.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28066" y="6516052"/>
            <a:ext cx="7411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Chart 4 (Total Corporate Stage 1 by Year); Report summary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 · VOLUME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449408" cy="811149"/>
            <a:chOff x="519684" y="756285"/>
            <a:chExt cx="10449408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1044940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Two directorates received 372 of the 659 complaints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101049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Neighbourhood &amp; Enforcement, home to waste and highways, received 241 on its own.</a:t>
              </a:r>
            </a:p>
          </p:txBody>
        </p:sp>
      </p:grpSp>
      <p:grpSp>
        <p:nvGrpSpPr>
          <p:cNvPr id="49" name="p04-directorate-bar"/>
          <p:cNvGrpSpPr/>
          <p:nvPr/>
        </p:nvGrpSpPr>
        <p:grpSpPr>
          <a:xfrm>
            <a:off x="619028" y="1771650"/>
            <a:ext cx="7928234" cy="4191000"/>
            <a:chOff x="619028" y="1771650"/>
            <a:chExt cx="7928234" cy="4191000"/>
          </a:xfrm>
        </p:grpSpPr>
        <p:grpSp>
          <p:nvGrpSpPr>
            <p:cNvPr id="48" name="p04-directorate-bar-chartArea"/>
            <p:cNvGrpSpPr/>
            <p:nvPr/>
          </p:nvGrpSpPr>
          <p:grpSpPr>
            <a:xfrm>
              <a:off x="619028" y="1771650"/>
              <a:ext cx="7928234" cy="4191000"/>
              <a:chOff x="619028" y="1771650"/>
              <a:chExt cx="7928234" cy="4191000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3905250" y="1771650"/>
                <a:ext cx="9525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91000">
                    <a:moveTo>
                      <a:pt x="0" y="0"/>
                    </a:moveTo>
                    <a:lnTo>
                      <a:pt x="0" y="4191000"/>
                    </a:lnTo>
                  </a:path>
                </a:pathLst>
              </a:custGeom>
              <a:noFill/>
              <a:ln w="14288">
                <a:solidFill>
                  <a:srgbClr val="8A8F96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3905250" y="1841468"/>
                <a:ext cx="4315587" cy="20955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3905250" y="2190750"/>
                <a:ext cx="2345817" cy="20955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905250" y="2540032"/>
                <a:ext cx="1002792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905250" y="2889218"/>
                <a:ext cx="823722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905250" y="3238500"/>
                <a:ext cx="823722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905250" y="3587782"/>
                <a:ext cx="698373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905250" y="3936968"/>
                <a:ext cx="680466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905250" y="4286250"/>
                <a:ext cx="644652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905250" y="4635532"/>
                <a:ext cx="179070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3905250" y="4984718"/>
                <a:ext cx="143256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3905250" y="5334000"/>
                <a:ext cx="89535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3905250" y="5683282"/>
                <a:ext cx="53721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19028" y="1880521"/>
                <a:ext cx="3196306" cy="4047172"/>
                <a:chOff x="619028" y="1880521"/>
                <a:chExt cx="3196306" cy="4047172"/>
              </a:xfrm>
            </p:grpSpPr>
            <p:sp>
              <p:nvSpPr>
                <p:cNvPr id="22" name="TextBox 22"/>
                <p:cNvSpPr txBox="1"/>
                <p:nvPr/>
              </p:nvSpPr>
              <p:spPr>
                <a:xfrm>
                  <a:off x="1140270" y="1880521"/>
                  <a:ext cx="267506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Neighbourhood &amp; Enforcement Services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619028" y="2229802"/>
                  <a:ext cx="319630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Communities, Customer &amp; Commercial Services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608356" y="2579084"/>
                  <a:ext cx="12069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Education &amp; Skills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965935" y="2928271"/>
                  <a:ext cx="284939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Children's Safeguarding &amp; Family Support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2735961" y="3277552"/>
                  <a:ext cx="10793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Cross Portfolio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959369" y="3626834"/>
                  <a:ext cx="185596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Finance &amp; Human Resources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2120175" y="3976021"/>
                  <a:ext cx="169515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Prosperity &amp; Investment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1146923" y="4325302"/>
                  <a:ext cx="266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Housing, Employment &amp; Infrastructure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2646761" y="4674584"/>
                  <a:ext cx="11685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Adult Social Care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2459448" y="5023771"/>
                  <a:ext cx="135588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Policy &amp; Governance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579873" y="5373052"/>
                  <a:ext cx="123546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Health &amp; Wellbeing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2057102" y="5722334"/>
                  <a:ext cx="175823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Corporate Communication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4029837" y="1880521"/>
                <a:ext cx="4517425" cy="4047172"/>
                <a:chOff x="4029837" y="1880521"/>
                <a:chExt cx="4517425" cy="4047172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8291703" y="1880521"/>
                  <a:ext cx="25555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241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321933" y="2229802"/>
                  <a:ext cx="25555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131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4978908" y="2579084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56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4799838" y="2928271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46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4799838" y="327755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46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4674489" y="3626834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39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4656582" y="3976021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38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4620768" y="43253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36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4155186" y="4674584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10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4119372" y="5023771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8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4065651" y="5373052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5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4029837" y="5722334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3</a:t>
                  </a:r>
                </a:p>
              </p:txBody>
            </p:sp>
          </p:grpSp>
        </p:grpSp>
      </p:grpSp>
      <p:sp>
        <p:nvSpPr>
          <p:cNvPr id="50" name="Freeform 50"/>
          <p:cNvSpPr/>
          <p:nvPr/>
        </p:nvSpPr>
        <p:spPr>
          <a:xfrm>
            <a:off x="8858250" y="1676400"/>
            <a:ext cx="2800350" cy="1314450"/>
          </a:xfrm>
          <a:prstGeom prst="wedgeRectCallout">
            <a:avLst>
              <a:gd name="adj1" fmla="val -58844"/>
              <a:gd name="adj2" fmla="val -26812"/>
            </a:avLst>
          </a:prstGeom>
          <a:solidFill>
            <a:srgbClr val="FBF8F2"/>
          </a:solidFill>
          <a:ln w="14288">
            <a:solidFill>
              <a:srgbClr val="B83B26"/>
            </a:solidFill>
          </a:ln>
        </p:spPr>
      </p:sp>
      <p:grpSp>
        <p:nvGrpSpPr>
          <p:cNvPr id="53" name="data-note"/>
          <p:cNvGrpSpPr/>
          <p:nvPr/>
        </p:nvGrpSpPr>
        <p:grpSpPr>
          <a:xfrm>
            <a:off x="9004554" y="1829752"/>
            <a:ext cx="2328672" cy="942404"/>
            <a:chOff x="9004554" y="1829752"/>
            <a:chExt cx="2328672" cy="942404"/>
          </a:xfrm>
        </p:grpSpPr>
        <p:sp>
          <p:nvSpPr>
            <p:cNvPr id="51" name="TextBox 51"/>
            <p:cNvSpPr txBox="1"/>
            <p:nvPr/>
          </p:nvSpPr>
          <p:spPr>
            <a:xfrm>
              <a:off x="9005316" y="1829752"/>
              <a:ext cx="779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3B26"/>
                  </a:solidFill>
                  <a:latin typeface="Segoe UI"/>
                  <a:ea typeface="Segoe UI"/>
                  <a:cs typeface="Segoe UI"/>
                </a:rPr>
                <a:t>DATA NOTE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04554" y="2080260"/>
              <a:ext cx="232867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Report text gives 214 (+22% on</a:t>
              </a:r>
              <a:br/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 xml:space="preserve">176). Chart 6 gives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241</a:t>
              </a:r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 xml:space="preserve"> —</a:t>
              </a:r>
              <a:br/>
              <a:r>
                <a:rPr lang="en-US" sz="120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the value that sums to 659.</a:t>
              </a:r>
            </a:p>
          </p:txBody>
        </p:sp>
      </p:grpSp>
      <p:grpSp>
        <p:nvGrpSpPr>
          <p:cNvPr id="64" name="directorate-notes"/>
          <p:cNvGrpSpPr/>
          <p:nvPr/>
        </p:nvGrpSpPr>
        <p:grpSpPr>
          <a:xfrm>
            <a:off x="8852154" y="3299460"/>
            <a:ext cx="2791968" cy="2692146"/>
            <a:chOff x="8852154" y="3299460"/>
            <a:chExt cx="2791968" cy="2692146"/>
          </a:xfrm>
        </p:grpSpPr>
        <p:sp>
          <p:nvSpPr>
            <p:cNvPr id="54" name="TextBox 54"/>
            <p:cNvSpPr txBox="1"/>
            <p:nvPr/>
          </p:nvSpPr>
          <p:spPr>
            <a:xfrm>
              <a:off x="8852154" y="3299460"/>
              <a:ext cx="210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Communities, Customer &amp;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52154" y="3509010"/>
              <a:ext cx="169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Commercial Services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52154" y="373761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131 — up 30% on 101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52154" y="4194810"/>
              <a:ext cx="1447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Education &amp; Skills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52154" y="4423410"/>
              <a:ext cx="20418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56 — up 70% on 33; Special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852154" y="4652010"/>
              <a:ext cx="2715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Educational Needs: 31 (19 before)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52154" y="5071110"/>
              <a:ext cx="18450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Fewer than in 2022/23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52154" y="5299710"/>
              <a:ext cx="2580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Children's Safeguarding &amp; Family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52154" y="5528310"/>
              <a:ext cx="2791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Support, Prosperity &amp; Investment,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52154" y="5756910"/>
              <a:ext cx="2121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Finance &amp; Human Resources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528066" y="6516052"/>
            <a:ext cx="87318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Chart 6 (Corporate Complaints received by Directorate) and accompanying text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8574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 · VOLUME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9747992" cy="811149"/>
            <a:chOff x="519684" y="756285"/>
            <a:chExt cx="9747992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97479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Upheld themes shrank — delay fell from 24% to 9%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80237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Share of the 434 upheld issues by theme — all four main themes fell.</a:t>
              </a:r>
            </a:p>
          </p:txBody>
        </p:sp>
      </p:grpSp>
      <p:grpSp>
        <p:nvGrpSpPr>
          <p:cNvPr id="31" name="raised-themes"/>
          <p:cNvGrpSpPr/>
          <p:nvPr/>
        </p:nvGrpSpPr>
        <p:grpSpPr>
          <a:xfrm>
            <a:off x="527304" y="1737360"/>
            <a:ext cx="3291078" cy="3987546"/>
            <a:chOff x="527304" y="1737360"/>
            <a:chExt cx="3291078" cy="398754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1737360"/>
              <a:ext cx="1723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WHAT PEOPLE RAISED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304" y="1965960"/>
              <a:ext cx="249631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Top themes before investigation;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one complaint can carry several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33400" y="2495550"/>
              <a:ext cx="3276600" cy="2581275"/>
              <a:chOff x="533400" y="2495550"/>
              <a:chExt cx="3276600" cy="2581275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533400" y="249555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33400" y="300990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533400" y="352425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533400" y="403860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33400" y="455295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33400" y="5067300"/>
                <a:ext cx="327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9525">
                    <a:moveTo>
                      <a:pt x="0" y="0"/>
                    </a:moveTo>
                    <a:lnTo>
                      <a:pt x="327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27304" y="2680335"/>
              <a:ext cx="2602121" cy="2292096"/>
              <a:chOff x="527304" y="2680335"/>
              <a:chExt cx="2602121" cy="229209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27304" y="2680335"/>
                <a:ext cx="11560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Communication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27304" y="3194685"/>
                <a:ext cx="11402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Lack of action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27304" y="3709035"/>
                <a:ext cx="20767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Complaints involving staff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27304" y="4223385"/>
                <a:ext cx="23513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Disagree with council decision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27304" y="4737735"/>
                <a:ext cx="26021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Request for information/service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416790" y="2650808"/>
              <a:ext cx="401592" cy="2380107"/>
              <a:chOff x="3416790" y="2650808"/>
              <a:chExt cx="401592" cy="2380107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3416790" y="2650808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6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205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416790" y="3165158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6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126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416790" y="3679508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6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112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45066" y="4193858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6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85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45066" y="4708208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6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68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527304" y="5261610"/>
              <a:ext cx="3127629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The report puts communication and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lack of action at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30%</a:t>
              </a: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 of all issues raised.</a:t>
              </a:r>
            </a:p>
          </p:txBody>
        </p:sp>
      </p:grpSp>
      <p:grpSp>
        <p:nvGrpSpPr>
          <p:cNvPr id="61" name="p05-upheld-themes"/>
          <p:cNvGrpSpPr/>
          <p:nvPr/>
        </p:nvGrpSpPr>
        <p:grpSpPr>
          <a:xfrm>
            <a:off x="4280863" y="1771650"/>
            <a:ext cx="7130894" cy="3943350"/>
            <a:chOff x="4280863" y="1771650"/>
            <a:chExt cx="7130894" cy="3943350"/>
          </a:xfrm>
        </p:grpSpPr>
        <p:grpSp>
          <p:nvGrpSpPr>
            <p:cNvPr id="36" name="p05-legend"/>
            <p:cNvGrpSpPr/>
            <p:nvPr/>
          </p:nvGrpSpPr>
          <p:grpSpPr>
            <a:xfrm>
              <a:off x="6762750" y="1771650"/>
              <a:ext cx="1904390" cy="238506"/>
              <a:chOff x="6762750" y="1771650"/>
              <a:chExt cx="1904390" cy="238506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762750" y="1771650"/>
                <a:ext cx="152400" cy="15240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985254" y="17754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2022/23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7810500" y="1771650"/>
                <a:ext cx="152400" cy="1524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033004" y="17754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2023/24</a:t>
                </a:r>
              </a:p>
            </p:txBody>
          </p:sp>
        </p:grpSp>
        <p:grpSp>
          <p:nvGrpSpPr>
            <p:cNvPr id="60" name="p05-upheld-themes-chartArea"/>
            <p:cNvGrpSpPr/>
            <p:nvPr/>
          </p:nvGrpSpPr>
          <p:grpSpPr>
            <a:xfrm>
              <a:off x="4280863" y="2095500"/>
              <a:ext cx="7130894" cy="3619500"/>
              <a:chOff x="4280863" y="2095500"/>
              <a:chExt cx="7130894" cy="3619500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6762750" y="2095500"/>
                <a:ext cx="9525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619500">
                    <a:moveTo>
                      <a:pt x="0" y="0"/>
                    </a:moveTo>
                    <a:lnTo>
                      <a:pt x="0" y="3619500"/>
                    </a:lnTo>
                  </a:path>
                </a:pathLst>
              </a:custGeom>
              <a:noFill/>
              <a:ln w="14288">
                <a:solidFill>
                  <a:srgbClr val="8A8F96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762750" y="2252662"/>
                <a:ext cx="4252912" cy="26670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762750" y="2576512"/>
                <a:ext cx="2574131" cy="2667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762750" y="3157538"/>
                <a:ext cx="2238375" cy="26670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762750" y="3481388"/>
                <a:ext cx="1343025" cy="2667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6762750" y="4062412"/>
                <a:ext cx="1566862" cy="26670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6762750" y="4386262"/>
                <a:ext cx="1231106" cy="2667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762750" y="4967288"/>
                <a:ext cx="2686050" cy="26670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762750" y="5291138"/>
                <a:ext cx="1007269" cy="2667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4280863" y="2466022"/>
                <a:ext cx="2392733" cy="2949322"/>
                <a:chOff x="4280863" y="2466022"/>
                <a:chExt cx="2392733" cy="2949322"/>
              </a:xfrm>
            </p:grpSpPr>
            <p:sp>
              <p:nvSpPr>
                <p:cNvPr id="46" name="TextBox 46"/>
                <p:cNvSpPr txBox="1"/>
                <p:nvPr/>
              </p:nvSpPr>
              <p:spPr>
                <a:xfrm>
                  <a:off x="5517560" y="2466022"/>
                  <a:ext cx="115603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Communication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5533377" y="3370898"/>
                  <a:ext cx="114021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Lack of action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4596860" y="4275772"/>
                  <a:ext cx="207673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Complaints involving staff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4280863" y="5180648"/>
                  <a:ext cx="239273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200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Delay (processing &amp; response)</a:t>
                  </a:r>
                </a:p>
              </p:txBody>
            </p:sp>
          </p:grpSp>
          <p:grpSp>
            <p:nvGrpSpPr>
              <p:cNvPr id="59" name="Group 59"/>
              <p:cNvGrpSpPr/>
              <p:nvPr/>
            </p:nvGrpSpPr>
            <p:grpSpPr>
              <a:xfrm>
                <a:off x="7840123" y="2313622"/>
                <a:ext cx="3571634" cy="3273172"/>
                <a:chOff x="7840123" y="2313622"/>
                <a:chExt cx="3571634" cy="3273172"/>
              </a:xfrm>
            </p:grpSpPr>
            <p:sp>
              <p:nvSpPr>
                <p:cNvPr id="51" name="TextBox 51"/>
                <p:cNvSpPr txBox="1"/>
                <p:nvPr/>
              </p:nvSpPr>
              <p:spPr>
                <a:xfrm>
                  <a:off x="11085766" y="2313622"/>
                  <a:ext cx="32599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38%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9406985" y="2637472"/>
                  <a:ext cx="32599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23%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9071229" y="3218498"/>
                  <a:ext cx="32599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20%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175879" y="3542348"/>
                  <a:ext cx="32599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12%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8399716" y="4123372"/>
                  <a:ext cx="32599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14%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8063960" y="4447222"/>
                  <a:ext cx="32599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11%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9518904" y="5028248"/>
                  <a:ext cx="32599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24%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7840123" y="5352098"/>
                  <a:ext cx="23270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9%</a:t>
                  </a:r>
                </a:p>
              </p:txBody>
            </p:sp>
          </p:grpSp>
        </p:grpSp>
      </p:grpSp>
      <p:grpSp>
        <p:nvGrpSpPr>
          <p:cNvPr id="63" name="admin-note"/>
          <p:cNvGrpSpPr/>
          <p:nvPr/>
        </p:nvGrpSpPr>
        <p:grpSpPr>
          <a:xfrm>
            <a:off x="4184904" y="6023610"/>
            <a:ext cx="6270379" cy="234696"/>
            <a:chOff x="4184904" y="6023610"/>
            <a:chExt cx="6270379" cy="234696"/>
          </a:xfrm>
        </p:grpSpPr>
        <p:sp>
          <p:nvSpPr>
            <p:cNvPr id="62" name="TextBox 62"/>
            <p:cNvSpPr txBox="1"/>
            <p:nvPr/>
          </p:nvSpPr>
          <p:spPr>
            <a:xfrm>
              <a:off x="4184904" y="6023610"/>
              <a:ext cx="6270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Fifth theme: processing/administrative error, 4% of upheld issues in 2023/24.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528066" y="6516052"/>
            <a:ext cx="100401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Chart 5 (Complaint Themes prior to investigation); Chart 8 and text on the top five upheld themes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92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 · HANDLING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656656" cy="811149"/>
            <a:chOff x="519684" y="756285"/>
            <a:chExt cx="10656656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758837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42% upheld — the same rate as 2022/23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10652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The largest directorates have the most upheld complaints because they answer the most.</a:t>
              </a:r>
            </a:p>
          </p:txBody>
        </p:sp>
      </p:grpSp>
      <p:grpSp>
        <p:nvGrpSpPr>
          <p:cNvPr id="20" name="overall-outcome"/>
          <p:cNvGrpSpPr/>
          <p:nvPr/>
        </p:nvGrpSpPr>
        <p:grpSpPr>
          <a:xfrm>
            <a:off x="514350" y="1737360"/>
            <a:ext cx="3301746" cy="2196846"/>
            <a:chOff x="514350" y="1737360"/>
            <a:chExt cx="3301746" cy="2196846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1737360"/>
              <a:ext cx="2216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ALL STAGE ONE RESPONSES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350" y="2047875"/>
              <a:ext cx="128145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42%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87068" y="2355532"/>
              <a:ext cx="694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upheld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018" y="2736532"/>
              <a:ext cx="262566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271 of the 647 complaints</a:t>
              </a:r>
              <a:br/>
              <a:r>
                <a:rPr lang="en-US" sz="165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answered in the year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429000"/>
              <a:ext cx="1372362" cy="1714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905762" y="3429000"/>
              <a:ext cx="1681353" cy="171450"/>
            </a:xfrm>
            <a:prstGeom prst="rect">
              <a:avLst/>
            </a:prstGeom>
            <a:solidFill>
              <a:srgbClr val="A9BCD0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587115" y="3429000"/>
              <a:ext cx="222885" cy="171450"/>
            </a:xfrm>
            <a:prstGeom prst="rect">
              <a:avLst/>
            </a:prstGeom>
            <a:solidFill>
              <a:srgbClr val="D9D4C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27304" y="3699510"/>
              <a:ext cx="3288792" cy="234696"/>
              <a:chOff x="527304" y="3699510"/>
              <a:chExt cx="3288792" cy="23469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27304" y="3699510"/>
                <a:ext cx="8601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Upheld 42%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56054" y="3699510"/>
                <a:ext cx="1174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Not upheld 51%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060558" y="3699510"/>
                <a:ext cx="7555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Other 7%</a:t>
                </a:r>
              </a:p>
            </p:txBody>
          </p:sp>
        </p:grpSp>
      </p:grpSp>
      <p:grpSp>
        <p:nvGrpSpPr>
          <p:cNvPr id="28" name="directorate-callouts"/>
          <p:cNvGrpSpPr/>
          <p:nvPr/>
        </p:nvGrpSpPr>
        <p:grpSpPr>
          <a:xfrm>
            <a:off x="527304" y="4324350"/>
            <a:ext cx="3282696" cy="1629156"/>
            <a:chOff x="527304" y="4324350"/>
            <a:chExt cx="3282696" cy="1629156"/>
          </a:xfrm>
        </p:grpSpPr>
        <p:sp>
          <p:nvSpPr>
            <p:cNvPr id="21" name="Line 21"/>
            <p:cNvSpPr/>
            <p:nvPr/>
          </p:nvSpPr>
          <p:spPr>
            <a:xfrm>
              <a:off x="533400" y="4324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7304" y="4461510"/>
              <a:ext cx="9930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Most upheld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304" y="4690110"/>
              <a:ext cx="3177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Neighbourhood &amp; Enforcement: 97 (41%)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7304" y="4918710"/>
              <a:ext cx="2002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Communities, Customer &amp;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7304" y="5147310"/>
              <a:ext cx="1734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Commercial: 64 (50%)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304" y="5490210"/>
              <a:ext cx="1620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Highest upheld rate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304" y="5718810"/>
              <a:ext cx="3192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Policy &amp; Governance: 63% (5 complaints)</a:t>
              </a:r>
            </a:p>
          </p:txBody>
        </p:sp>
      </p:grpSp>
      <p:grpSp>
        <p:nvGrpSpPr>
          <p:cNvPr id="95" name="p06-outcomes-directorate"/>
          <p:cNvGrpSpPr/>
          <p:nvPr/>
        </p:nvGrpSpPr>
        <p:grpSpPr>
          <a:xfrm>
            <a:off x="4143278" y="1752600"/>
            <a:ext cx="7078696" cy="4248150"/>
            <a:chOff x="4143278" y="1752600"/>
            <a:chExt cx="7078696" cy="4248150"/>
          </a:xfrm>
        </p:grpSpPr>
        <p:grpSp>
          <p:nvGrpSpPr>
            <p:cNvPr id="35" name="p06-legend"/>
            <p:cNvGrpSpPr/>
            <p:nvPr/>
          </p:nvGrpSpPr>
          <p:grpSpPr>
            <a:xfrm>
              <a:off x="7429500" y="1752600"/>
              <a:ext cx="2560640" cy="206311"/>
              <a:chOff x="7429500" y="1752600"/>
              <a:chExt cx="2560640" cy="206311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429500" y="1752600"/>
                <a:ext cx="133350" cy="13335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14666" y="1753552"/>
                <a:ext cx="44585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Upheld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286750" y="1752600"/>
                <a:ext cx="133350" cy="1333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471916" y="1753552"/>
                <a:ext cx="7218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Not upheld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9372600" y="1752600"/>
                <a:ext cx="133350" cy="133350"/>
              </a:xfrm>
              <a:prstGeom prst="rect">
                <a:avLst/>
              </a:prstGeom>
              <a:solidFill>
                <a:srgbClr val="D9D4C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557766" y="1753552"/>
                <a:ext cx="4323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Other</a:t>
                </a:r>
              </a:p>
            </p:txBody>
          </p:sp>
        </p:grpSp>
        <p:grpSp>
          <p:nvGrpSpPr>
            <p:cNvPr id="94" name="p06-outcomes-directorate-chartArea"/>
            <p:cNvGrpSpPr/>
            <p:nvPr/>
          </p:nvGrpSpPr>
          <p:grpSpPr>
            <a:xfrm>
              <a:off x="4143278" y="2038350"/>
              <a:ext cx="7078696" cy="3962400"/>
              <a:chOff x="4143278" y="2038350"/>
              <a:chExt cx="7078696" cy="3962400"/>
            </a:xfrm>
          </p:grpSpPr>
          <p:sp>
            <p:nvSpPr>
              <p:cNvPr id="36" name="Line 36"/>
              <p:cNvSpPr/>
              <p:nvPr/>
            </p:nvSpPr>
            <p:spPr>
              <a:xfrm>
                <a:off x="7429500" y="2038350"/>
                <a:ext cx="9525" cy="396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962400">
                    <a:moveTo>
                      <a:pt x="0" y="0"/>
                    </a:moveTo>
                    <a:lnTo>
                      <a:pt x="0" y="3962400"/>
                    </a:lnTo>
                  </a:path>
                </a:pathLst>
              </a:custGeom>
              <a:noFill/>
              <a:ln w="14288">
                <a:solidFill>
                  <a:srgbClr val="8A8F96"/>
                </a:solidFill>
              </a:ln>
            </p:spPr>
          </p:sp>
          <p:grpSp>
            <p:nvGrpSpPr>
              <p:cNvPr id="48" name="p06-upheld"/>
              <p:cNvGrpSpPr/>
              <p:nvPr/>
            </p:nvGrpSpPr>
            <p:grpSpPr>
              <a:xfrm>
                <a:off x="7429500" y="2098643"/>
                <a:ext cx="1552194" cy="3511582"/>
                <a:chOff x="7429500" y="2098643"/>
                <a:chExt cx="1552194" cy="3511582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7429500" y="2098643"/>
                  <a:ext cx="1552194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38" name="Rectangle 38"/>
                <p:cNvSpPr/>
                <p:nvPr/>
              </p:nvSpPr>
              <p:spPr>
                <a:xfrm>
                  <a:off x="7429500" y="2428875"/>
                  <a:ext cx="1024128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7429500" y="2759107"/>
                  <a:ext cx="352044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40" name="Rectangle 40"/>
                <p:cNvSpPr/>
                <p:nvPr/>
              </p:nvSpPr>
              <p:spPr>
                <a:xfrm>
                  <a:off x="7429500" y="3089243"/>
                  <a:ext cx="304038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41" name="Rectangle 41"/>
                <p:cNvSpPr/>
                <p:nvPr/>
              </p:nvSpPr>
              <p:spPr>
                <a:xfrm>
                  <a:off x="7429500" y="3419475"/>
                  <a:ext cx="416052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42" name="Rectangle 42"/>
                <p:cNvSpPr/>
                <p:nvPr/>
              </p:nvSpPr>
              <p:spPr>
                <a:xfrm>
                  <a:off x="7429500" y="3749707"/>
                  <a:ext cx="224028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43" name="Rectangle 43"/>
                <p:cNvSpPr/>
                <p:nvPr/>
              </p:nvSpPr>
              <p:spPr>
                <a:xfrm>
                  <a:off x="7429500" y="4079843"/>
                  <a:ext cx="192024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7429500" y="4410075"/>
                  <a:ext cx="96012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7429500" y="4740307"/>
                  <a:ext cx="80010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46" name="Rectangle 46"/>
                <p:cNvSpPr/>
                <p:nvPr/>
              </p:nvSpPr>
              <p:spPr>
                <a:xfrm>
                  <a:off x="7429500" y="5070443"/>
                  <a:ext cx="80010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47" name="Rectangle 47"/>
                <p:cNvSpPr/>
                <p:nvPr/>
              </p:nvSpPr>
              <p:spPr>
                <a:xfrm>
                  <a:off x="7429500" y="5400675"/>
                  <a:ext cx="16002" cy="209550"/>
                </a:xfrm>
                <a:prstGeom prst="rect">
                  <a:avLst/>
                </a:prstGeom>
                <a:solidFill>
                  <a:srgbClr val="1F4E79"/>
                </a:solidFill>
                <a:ln>
                  <a:noFill/>
                </a:ln>
              </p:spPr>
            </p:sp>
          </p:grpSp>
          <p:grpSp>
            <p:nvGrpSpPr>
              <p:cNvPr id="61" name="p06-not-upheld"/>
              <p:cNvGrpSpPr/>
              <p:nvPr/>
            </p:nvGrpSpPr>
            <p:grpSpPr>
              <a:xfrm>
                <a:off x="7429500" y="2098643"/>
                <a:ext cx="3456432" cy="3841814"/>
                <a:chOff x="7429500" y="2098643"/>
                <a:chExt cx="3456432" cy="3841814"/>
              </a:xfrm>
            </p:grpSpPr>
            <p:sp>
              <p:nvSpPr>
                <p:cNvPr id="49" name="Rectangle 49"/>
                <p:cNvSpPr/>
                <p:nvPr/>
              </p:nvSpPr>
              <p:spPr>
                <a:xfrm>
                  <a:off x="8981694" y="2098643"/>
                  <a:ext cx="1904238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8453628" y="2428875"/>
                  <a:ext cx="880110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51" name="Rectangle 51"/>
                <p:cNvSpPr/>
                <p:nvPr/>
              </p:nvSpPr>
              <p:spPr>
                <a:xfrm>
                  <a:off x="7781544" y="2759107"/>
                  <a:ext cx="464058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52" name="Rectangle 52"/>
                <p:cNvSpPr/>
                <p:nvPr/>
              </p:nvSpPr>
              <p:spPr>
                <a:xfrm>
                  <a:off x="7733538" y="3089243"/>
                  <a:ext cx="400050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53" name="Rectangle 53"/>
                <p:cNvSpPr/>
                <p:nvPr/>
              </p:nvSpPr>
              <p:spPr>
                <a:xfrm>
                  <a:off x="7845552" y="3419475"/>
                  <a:ext cx="256032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54" name="Rectangle 54"/>
                <p:cNvSpPr/>
                <p:nvPr/>
              </p:nvSpPr>
              <p:spPr>
                <a:xfrm>
                  <a:off x="7653528" y="3749707"/>
                  <a:ext cx="368046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55" name="Rectangle 55"/>
                <p:cNvSpPr/>
                <p:nvPr/>
              </p:nvSpPr>
              <p:spPr>
                <a:xfrm>
                  <a:off x="7621524" y="4079843"/>
                  <a:ext cx="416052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56" name="Rectangle 56"/>
                <p:cNvSpPr/>
                <p:nvPr/>
              </p:nvSpPr>
              <p:spPr>
                <a:xfrm>
                  <a:off x="7525512" y="4410075"/>
                  <a:ext cx="432054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57" name="Rectangle 57"/>
                <p:cNvSpPr/>
                <p:nvPr/>
              </p:nvSpPr>
              <p:spPr>
                <a:xfrm>
                  <a:off x="7509510" y="4740307"/>
                  <a:ext cx="64008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58" name="Rectangle 58"/>
                <p:cNvSpPr/>
                <p:nvPr/>
              </p:nvSpPr>
              <p:spPr>
                <a:xfrm>
                  <a:off x="7509510" y="5070443"/>
                  <a:ext cx="48006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59" name="Rectangle 59"/>
                <p:cNvSpPr/>
                <p:nvPr/>
              </p:nvSpPr>
              <p:spPr>
                <a:xfrm>
                  <a:off x="7445502" y="5400675"/>
                  <a:ext cx="48006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  <p:sp>
              <p:nvSpPr>
                <p:cNvPr id="60" name="Rectangle 60"/>
                <p:cNvSpPr/>
                <p:nvPr/>
              </p:nvSpPr>
              <p:spPr>
                <a:xfrm>
                  <a:off x="7429500" y="5730907"/>
                  <a:ext cx="32004" cy="209550"/>
                </a:xfrm>
                <a:prstGeom prst="rect">
                  <a:avLst/>
                </a:prstGeom>
                <a:solidFill>
                  <a:srgbClr val="A9BCD0"/>
                </a:solidFill>
                <a:ln>
                  <a:noFill/>
                </a:ln>
              </p:spPr>
            </p:sp>
          </p:grpSp>
          <p:grpSp>
            <p:nvGrpSpPr>
              <p:cNvPr id="72" name="p06-other"/>
              <p:cNvGrpSpPr/>
              <p:nvPr/>
            </p:nvGrpSpPr>
            <p:grpSpPr>
              <a:xfrm>
                <a:off x="7461504" y="2098643"/>
                <a:ext cx="3760470" cy="3841814"/>
                <a:chOff x="7461504" y="2098643"/>
                <a:chExt cx="3760470" cy="3841814"/>
              </a:xfrm>
            </p:grpSpPr>
            <p:sp>
              <p:nvSpPr>
                <p:cNvPr id="62" name="Rectangle 62"/>
                <p:cNvSpPr/>
                <p:nvPr/>
              </p:nvSpPr>
              <p:spPr>
                <a:xfrm>
                  <a:off x="10885932" y="2098643"/>
                  <a:ext cx="336042" cy="209550"/>
                </a:xfrm>
                <a:prstGeom prst="rect">
                  <a:avLst/>
                </a:prstGeom>
                <a:solidFill>
                  <a:srgbClr val="D9D4CA"/>
                </a:solidFill>
                <a:ln>
                  <a:noFill/>
                </a:ln>
              </p:spPr>
            </p:sp>
            <p:sp>
              <p:nvSpPr>
                <p:cNvPr id="63" name="Rectangle 63"/>
                <p:cNvSpPr/>
                <p:nvPr/>
              </p:nvSpPr>
              <p:spPr>
                <a:xfrm>
                  <a:off x="9333738" y="2428875"/>
                  <a:ext cx="128016" cy="209550"/>
                </a:xfrm>
                <a:prstGeom prst="rect">
                  <a:avLst/>
                </a:prstGeom>
                <a:solidFill>
                  <a:srgbClr val="D9D4CA"/>
                </a:solidFill>
                <a:ln>
                  <a:noFill/>
                </a:ln>
              </p:spPr>
            </p:sp>
            <p:sp>
              <p:nvSpPr>
                <p:cNvPr id="64" name="Rectangle 64"/>
                <p:cNvSpPr/>
                <p:nvPr/>
              </p:nvSpPr>
              <p:spPr>
                <a:xfrm>
                  <a:off x="8245602" y="2759107"/>
                  <a:ext cx="32004" cy="209550"/>
                </a:xfrm>
                <a:prstGeom prst="rect">
                  <a:avLst/>
                </a:prstGeom>
                <a:solidFill>
                  <a:srgbClr val="D9D4CA"/>
                </a:solidFill>
                <a:ln>
                  <a:noFill/>
                </a:ln>
              </p:spPr>
            </p:sp>
            <p:sp>
              <p:nvSpPr>
                <p:cNvPr id="65" name="Rectangle 65"/>
                <p:cNvSpPr/>
                <p:nvPr/>
              </p:nvSpPr>
              <p:spPr>
                <a:xfrm>
                  <a:off x="8133588" y="3089243"/>
                  <a:ext cx="48006" cy="209550"/>
                </a:xfrm>
                <a:prstGeom prst="rect">
                  <a:avLst/>
                </a:prstGeom>
                <a:solidFill>
                  <a:srgbClr val="D9D4CA"/>
                </a:solidFill>
                <a:ln>
                  <a:noFill/>
                </a:ln>
              </p:spPr>
            </p:sp>
            <p:sp>
              <p:nvSpPr>
                <p:cNvPr id="66" name="Rectangle 66"/>
                <p:cNvSpPr/>
                <p:nvPr/>
              </p:nvSpPr>
              <p:spPr>
                <a:xfrm>
                  <a:off x="8101584" y="3419475"/>
                  <a:ext cx="48006" cy="209550"/>
                </a:xfrm>
                <a:prstGeom prst="rect">
                  <a:avLst/>
                </a:prstGeom>
                <a:solidFill>
                  <a:srgbClr val="D9D4CA"/>
                </a:solidFill>
                <a:ln>
                  <a:noFill/>
                </a:ln>
              </p:spPr>
            </p:sp>
            <p:sp>
              <p:nvSpPr>
                <p:cNvPr id="67" name="Rectangle 67"/>
                <p:cNvSpPr/>
                <p:nvPr/>
              </p:nvSpPr>
              <p:spPr>
                <a:xfrm>
                  <a:off x="8021574" y="3749707"/>
                  <a:ext cx="32004" cy="209550"/>
                </a:xfrm>
                <a:prstGeom prst="rect">
                  <a:avLst/>
                </a:prstGeom>
                <a:solidFill>
                  <a:srgbClr val="D9D4CA"/>
                </a:solidFill>
                <a:ln>
                  <a:noFill/>
                </a:ln>
              </p:spPr>
            </p:sp>
            <p:sp>
              <p:nvSpPr>
                <p:cNvPr id="68" name="Rectangle 68"/>
                <p:cNvSpPr/>
                <p:nvPr/>
              </p:nvSpPr>
              <p:spPr>
                <a:xfrm>
                  <a:off x="8037576" y="4079843"/>
                  <a:ext cx="16002" cy="209550"/>
                </a:xfrm>
                <a:prstGeom prst="rect">
                  <a:avLst/>
                </a:prstGeom>
                <a:solidFill>
                  <a:srgbClr val="D9D4CA"/>
                </a:solidFill>
                <a:ln>
                  <a:noFill/>
                </a:ln>
              </p:spPr>
            </p:sp>
            <p:sp>
              <p:nvSpPr>
                <p:cNvPr id="69" name="Rectangle 69"/>
                <p:cNvSpPr/>
                <p:nvPr/>
              </p:nvSpPr>
              <p:spPr>
                <a:xfrm>
                  <a:off x="7957566" y="4410075"/>
                  <a:ext cx="32004" cy="209550"/>
                </a:xfrm>
                <a:prstGeom prst="rect">
                  <a:avLst/>
                </a:prstGeom>
                <a:solidFill>
                  <a:srgbClr val="D9D4CA"/>
                </a:solidFill>
                <a:ln>
                  <a:noFill/>
                </a:ln>
              </p:spPr>
            </p:sp>
            <p:sp>
              <p:nvSpPr>
                <p:cNvPr id="70" name="Rectangle 70"/>
                <p:cNvSpPr/>
                <p:nvPr/>
              </p:nvSpPr>
              <p:spPr>
                <a:xfrm>
                  <a:off x="7493508" y="5400675"/>
                  <a:ext cx="16002" cy="209550"/>
                </a:xfrm>
                <a:prstGeom prst="rect">
                  <a:avLst/>
                </a:prstGeom>
                <a:solidFill>
                  <a:srgbClr val="D9D4CA"/>
                </a:solidFill>
                <a:ln>
                  <a:noFill/>
                </a:ln>
              </p:spPr>
            </p:sp>
            <p:sp>
              <p:nvSpPr>
                <p:cNvPr id="71" name="Rectangle 71"/>
                <p:cNvSpPr/>
                <p:nvPr/>
              </p:nvSpPr>
              <p:spPr>
                <a:xfrm>
                  <a:off x="7461504" y="5730907"/>
                  <a:ext cx="16002" cy="209550"/>
                </a:xfrm>
                <a:prstGeom prst="rect">
                  <a:avLst/>
                </a:prstGeom>
                <a:solidFill>
                  <a:srgbClr val="D9D4CA"/>
                </a:solidFill>
                <a:ln>
                  <a:noFill/>
                </a:ln>
              </p:spPr>
            </p:sp>
          </p:grpSp>
          <p:grpSp>
            <p:nvGrpSpPr>
              <p:cNvPr id="85" name="Group 85"/>
              <p:cNvGrpSpPr/>
              <p:nvPr/>
            </p:nvGrpSpPr>
            <p:grpSpPr>
              <a:xfrm>
                <a:off x="4143278" y="2137696"/>
                <a:ext cx="3196306" cy="3837622"/>
                <a:chOff x="4143278" y="2137696"/>
                <a:chExt cx="3196306" cy="3837622"/>
              </a:xfrm>
            </p:grpSpPr>
            <p:sp>
              <p:nvSpPr>
                <p:cNvPr id="73" name="TextBox 73"/>
                <p:cNvSpPr txBox="1"/>
                <p:nvPr/>
              </p:nvSpPr>
              <p:spPr>
                <a:xfrm>
                  <a:off x="4664520" y="2137696"/>
                  <a:ext cx="267506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Neighbourhood &amp; Enforcement Services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4143278" y="2467928"/>
                  <a:ext cx="319630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Communities, Customer &amp; Commercial Services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6132606" y="2798159"/>
                  <a:ext cx="12069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Education &amp; Skills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4490185" y="3128296"/>
                  <a:ext cx="284939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Children's Safeguarding &amp; Family Support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6260211" y="3458528"/>
                  <a:ext cx="10793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Cross Portfolio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5483619" y="3788759"/>
                  <a:ext cx="185596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Finance &amp; Human Resources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5644425" y="4118896"/>
                  <a:ext cx="169515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Prosperity &amp; Investment</a:t>
                  </a: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4671173" y="4449128"/>
                  <a:ext cx="266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Housing, Employment &amp; Infrastructure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6171011" y="4779359"/>
                  <a:ext cx="11685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Adult Social Care</a:t>
                  </a: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5983698" y="5109496"/>
                  <a:ext cx="135588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Policy &amp; Governance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6104123" y="5439728"/>
                  <a:ext cx="123546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Health &amp; Wellbeing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5503615" y="5769959"/>
                  <a:ext cx="18359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Corporate Communications</a:t>
                  </a:r>
                </a:p>
              </p:txBody>
            </p:sp>
          </p:grpSp>
          <p:grpSp>
            <p:nvGrpSpPr>
              <p:cNvPr id="93" name="Group 93"/>
              <p:cNvGrpSpPr/>
              <p:nvPr/>
            </p:nvGrpSpPr>
            <p:grpSpPr>
              <a:xfrm>
                <a:off x="7438548" y="2137696"/>
                <a:ext cx="854013" cy="2186559"/>
                <a:chOff x="7438548" y="2137696"/>
                <a:chExt cx="854013" cy="2186559"/>
              </a:xfrm>
            </p:grpSpPr>
            <p:sp>
              <p:nvSpPr>
                <p:cNvPr id="86" name="TextBox 86"/>
                <p:cNvSpPr txBox="1"/>
                <p:nvPr/>
              </p:nvSpPr>
              <p:spPr>
                <a:xfrm>
                  <a:off x="8118633" y="2137696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</a:rPr>
                    <a:t>97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7854600" y="2467928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</a:rPr>
                    <a:t>64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7518558" y="2798159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</a:rPr>
                    <a:t>22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7494555" y="3128296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</a:rPr>
                    <a:t>19</a:t>
                  </a:r>
                </a:p>
              </p:txBody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7550562" y="3458528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</a:rPr>
                    <a:t>26</a:t>
                  </a:r>
                </a:p>
              </p:txBody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7454550" y="3788759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</a:rPr>
                    <a:t>14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7438548" y="4118896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Segoe UI"/>
                      <a:ea typeface="Segoe UI"/>
                      <a:cs typeface="Segoe UI"/>
                    </a:rPr>
                    <a:t>12</a:t>
                  </a:r>
                </a:p>
              </p:txBody>
            </p:sp>
          </p:grpSp>
        </p:grpSp>
      </p:grpSp>
      <p:grpSp>
        <p:nvGrpSpPr>
          <p:cNvPr id="97" name="other-definition"/>
          <p:cNvGrpSpPr/>
          <p:nvPr/>
        </p:nvGrpSpPr>
        <p:grpSpPr>
          <a:xfrm>
            <a:off x="4090416" y="6154102"/>
            <a:ext cx="6072456" cy="205359"/>
            <a:chOff x="4090416" y="6154102"/>
            <a:chExt cx="6072456" cy="205359"/>
          </a:xfrm>
        </p:grpSpPr>
        <p:sp>
          <p:nvSpPr>
            <p:cNvPr id="96" name="TextBox 96"/>
            <p:cNvSpPr txBox="1"/>
            <p:nvPr/>
          </p:nvSpPr>
          <p:spPr>
            <a:xfrm>
              <a:off x="4090416" y="6154102"/>
              <a:ext cx="6072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Other = service resolved, dealt with through courts, out of jurisdiction or withdrawn.</a:t>
              </a:r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528066" y="6516052"/>
            <a:ext cx="89802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Chart 7 (Corporate Complaints Outcomes 2023/24); Stage One Complaint outcomes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92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 · HANDLING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149017" cy="811149"/>
            <a:chOff x="519684" y="756285"/>
            <a:chExt cx="10149017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101490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87% answered in 15 days; five directorates hit 90%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95311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Children's Safeguarding (53%) and Education &amp; Skills (60%) lag furthest behind.</a:t>
              </a:r>
            </a:p>
          </p:txBody>
        </p:sp>
      </p:grpSp>
      <p:grpSp>
        <p:nvGrpSpPr>
          <p:cNvPr id="60" name="p07-timeliness-bar"/>
          <p:cNvGrpSpPr/>
          <p:nvPr/>
        </p:nvGrpSpPr>
        <p:grpSpPr>
          <a:xfrm>
            <a:off x="619028" y="1866900"/>
            <a:ext cx="9783091" cy="4283011"/>
            <a:chOff x="619028" y="1866900"/>
            <a:chExt cx="9783091" cy="4283011"/>
          </a:xfrm>
        </p:grpSpPr>
        <p:grpSp>
          <p:nvGrpSpPr>
            <p:cNvPr id="59" name="p07-timeliness-bar-chartArea"/>
            <p:cNvGrpSpPr/>
            <p:nvPr/>
          </p:nvGrpSpPr>
          <p:grpSpPr>
            <a:xfrm>
              <a:off x="619028" y="1866900"/>
              <a:ext cx="9783091" cy="4283011"/>
              <a:chOff x="619028" y="1866900"/>
              <a:chExt cx="9783091" cy="4283011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9048750" y="1866900"/>
                <a:ext cx="9525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00500">
                    <a:moveTo>
                      <a:pt x="0" y="0"/>
                    </a:moveTo>
                    <a:lnTo>
                      <a:pt x="0" y="4000500"/>
                    </a:lnTo>
                  </a:path>
                </a:pathLst>
              </a:custGeom>
              <a:noFill/>
              <a:ln w="14288">
                <a:solidFill>
                  <a:srgbClr val="B83B26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3905250" y="1866900"/>
                <a:ext cx="9525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00500">
                    <a:moveTo>
                      <a:pt x="0" y="0"/>
                    </a:moveTo>
                    <a:lnTo>
                      <a:pt x="0" y="4000500"/>
                    </a:lnTo>
                  </a:path>
                </a:pathLst>
              </a:custGeom>
              <a:noFill/>
              <a:ln w="14288">
                <a:solidFill>
                  <a:srgbClr val="8A8F96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905250" y="5867400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14288">
                <a:solidFill>
                  <a:srgbClr val="8A8F96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905250" y="1928812"/>
                <a:ext cx="5715000" cy="20955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905250" y="2262188"/>
                <a:ext cx="5429250" cy="20955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905250" y="2595562"/>
                <a:ext cx="5372100" cy="20955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905250" y="2928938"/>
                <a:ext cx="5372100" cy="20955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905250" y="3262312"/>
                <a:ext cx="5200650" cy="20955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905250" y="3595688"/>
                <a:ext cx="4972050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905250" y="3929062"/>
                <a:ext cx="4972050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3905250" y="4262438"/>
                <a:ext cx="4457700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3905250" y="4595812"/>
                <a:ext cx="4457700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3905250" y="4929188"/>
                <a:ext cx="3829050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905250" y="5262562"/>
                <a:ext cx="3429000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3905250" y="5595938"/>
                <a:ext cx="3028950" cy="209550"/>
              </a:xfrm>
              <a:prstGeom prst="rect">
                <a:avLst/>
              </a:prstGeom>
              <a:solidFill>
                <a:srgbClr val="A9BCD0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619028" y="1967865"/>
                <a:ext cx="3196306" cy="3872484"/>
                <a:chOff x="619028" y="1967865"/>
                <a:chExt cx="3196306" cy="3872484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2579873" y="1967865"/>
                  <a:ext cx="123546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Health &amp; Wellbeing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959369" y="2301240"/>
                  <a:ext cx="185596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Finance &amp; Human Resources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619028" y="2634615"/>
                  <a:ext cx="319630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Communities, Customer &amp; Commercial Services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1140270" y="2967990"/>
                  <a:ext cx="267506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Neighbourhood &amp; Enforcement Services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146923" y="3301365"/>
                  <a:ext cx="266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Housing, Employment &amp; Infrastructure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2735961" y="3634740"/>
                  <a:ext cx="10793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Cross Portfolio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2120175" y="3968115"/>
                  <a:ext cx="169515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Prosperity &amp; Investment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2646761" y="4301490"/>
                  <a:ext cx="11685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Adult Social Care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459448" y="4634865"/>
                  <a:ext cx="135588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Policy &amp; Governance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1979365" y="4968240"/>
                  <a:ext cx="183596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Corporate Communications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2608356" y="5301615"/>
                  <a:ext cx="12069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Education &amp; Skills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965935" y="5634990"/>
                  <a:ext cx="284939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Children's Safeguarding &amp; Family Support</a:t>
                  </a:r>
                </a:p>
              </p:txBody>
            </p:sp>
          </p:grpSp>
          <p:grpSp>
            <p:nvGrpSpPr>
              <p:cNvPr id="49" name="Group 49"/>
              <p:cNvGrpSpPr/>
              <p:nvPr/>
            </p:nvGrpSpPr>
            <p:grpSpPr>
              <a:xfrm>
                <a:off x="7005066" y="1967865"/>
                <a:ext cx="3052923" cy="3872484"/>
                <a:chOff x="7005066" y="1967865"/>
                <a:chExt cx="3052923" cy="3872484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9691116" y="1967865"/>
                  <a:ext cx="3668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100%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9405366" y="2301240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95%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9348216" y="2634615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94%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9348216" y="2967990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94%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9176766" y="3301365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91%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948166" y="3634740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87%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8948166" y="3968115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87%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8433816" y="4301490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78%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433816" y="4634865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78%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7805166" y="4968240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67%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7405116" y="5301615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60%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005066" y="5634990"/>
                  <a:ext cx="2852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1B2A3A"/>
                      </a:solidFill>
                      <a:latin typeface="Segoe UI"/>
                      <a:ea typeface="Segoe UI"/>
                      <a:cs typeface="Segoe UI"/>
                    </a:rPr>
                    <a:t>53%</a:t>
                  </a:r>
                </a:p>
              </p:txBody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7367016" y="3968115"/>
                <a:ext cx="3035103" cy="1872234"/>
                <a:chOff x="7367016" y="3968115"/>
                <a:chExt cx="3035103" cy="1872234"/>
              </a:xfrm>
            </p:grpSpPr>
            <p:sp>
              <p:nvSpPr>
                <p:cNvPr id="50" name="TextBox 50"/>
                <p:cNvSpPr txBox="1"/>
                <p:nvPr/>
              </p:nvSpPr>
              <p:spPr>
                <a:xfrm>
                  <a:off x="9310116" y="3968115"/>
                  <a:ext cx="109200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(2022/23: 57%)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795766" y="4301490"/>
                  <a:ext cx="109200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(2022/23: 67%)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8167116" y="4968240"/>
                  <a:ext cx="116974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(2022/23: 100%)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7767066" y="5301615"/>
                  <a:ext cx="109200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(2022/23: 81%)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7367016" y="5634990"/>
                  <a:ext cx="109200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rgbClr val="5E6873"/>
                      </a:solidFill>
                      <a:latin typeface="Segoe UI"/>
                      <a:ea typeface="Segoe UI"/>
                      <a:cs typeface="Segoe UI"/>
                    </a:rPr>
                    <a:t>(2022/23: 39%)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3808038" y="5944552"/>
                <a:ext cx="5376795" cy="205359"/>
                <a:chOff x="3808038" y="5944552"/>
                <a:chExt cx="5376795" cy="205359"/>
              </a:xfrm>
            </p:grpSpPr>
            <p:sp>
              <p:nvSpPr>
                <p:cNvPr id="56" name="TextBox 56"/>
                <p:cNvSpPr txBox="1"/>
                <p:nvPr/>
              </p:nvSpPr>
              <p:spPr>
                <a:xfrm>
                  <a:off x="3808038" y="5944552"/>
                  <a:ext cx="19442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0%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912666" y="5944552"/>
                  <a:ext cx="27216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rgbClr val="3A4654"/>
                      </a:solidFill>
                      <a:latin typeface="Segoe UI"/>
                      <a:ea typeface="Segoe UI"/>
                      <a:cs typeface="Segoe UI"/>
                    </a:rPr>
                    <a:t>90%</a:t>
                  </a:r>
                </a:p>
              </p:txBody>
            </p:sp>
          </p:grpSp>
        </p:grpSp>
      </p:grpSp>
      <p:grpSp>
        <p:nvGrpSpPr>
          <p:cNvPr id="76" name="avg-days"/>
          <p:cNvGrpSpPr/>
          <p:nvPr/>
        </p:nvGrpSpPr>
        <p:grpSpPr>
          <a:xfrm>
            <a:off x="10515600" y="1677352"/>
            <a:ext cx="1072134" cy="4190048"/>
            <a:chOff x="10515600" y="1677352"/>
            <a:chExt cx="1072134" cy="4190048"/>
          </a:xfrm>
        </p:grpSpPr>
        <p:sp>
          <p:nvSpPr>
            <p:cNvPr id="61" name="Line 61"/>
            <p:cNvSpPr/>
            <p:nvPr/>
          </p:nvSpPr>
          <p:spPr>
            <a:xfrm>
              <a:off x="10515600" y="18669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926265" y="1677352"/>
              <a:ext cx="661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AVG DAYS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11237321" y="1956435"/>
              <a:ext cx="198775" cy="3901821"/>
              <a:chOff x="11237321" y="1956435"/>
              <a:chExt cx="198775" cy="3901821"/>
            </a:xfrm>
          </p:grpSpPr>
          <p:sp>
            <p:nvSpPr>
              <p:cNvPr id="63" name="TextBox 63"/>
              <p:cNvSpPr txBox="1"/>
              <p:nvPr/>
            </p:nvSpPr>
            <p:spPr>
              <a:xfrm>
                <a:off x="11330612" y="19564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9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1237321" y="22898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10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1330612" y="262318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8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1330612" y="29565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9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1237321" y="32899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10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1237321" y="36233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11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1237321" y="39566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13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1237321" y="42900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11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1237321" y="4623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11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1237321" y="49568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14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11237321" y="52901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14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1237321" y="56235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B83B26"/>
                    </a:solidFill>
                    <a:latin typeface="Segoe UI"/>
                    <a:ea typeface="Segoe UI"/>
                    <a:cs typeface="Segoe UI"/>
                  </a:rPr>
                  <a:t>19</a:t>
                </a:r>
              </a:p>
            </p:txBody>
          </p:sp>
        </p:grpSp>
      </p:grpSp>
      <p:grpSp>
        <p:nvGrpSpPr>
          <p:cNvPr id="78" name="chart-key"/>
          <p:cNvGrpSpPr/>
          <p:nvPr/>
        </p:nvGrpSpPr>
        <p:grpSpPr>
          <a:xfrm>
            <a:off x="528066" y="6211252"/>
            <a:ext cx="9312953" cy="205359"/>
            <a:chOff x="528066" y="6211252"/>
            <a:chExt cx="9312953" cy="205359"/>
          </a:xfrm>
        </p:grpSpPr>
        <p:sp>
          <p:nvSpPr>
            <p:cNvPr id="77" name="TextBox 77"/>
            <p:cNvSpPr txBox="1"/>
            <p:nvPr/>
          </p:nvSpPr>
          <p:spPr>
            <a:xfrm>
              <a:off x="528066" y="6211252"/>
              <a:ext cx="9312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Red line: 90% local target. Navy bars met it. Brackets give the 2022/23 figure where the report states one. Avg days = working days.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28066" y="6516052"/>
            <a:ext cx="83832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Chart 9 (Response Timescales) and Timescales for responses at Stage One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928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 · HANDLING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9106015" cy="811149"/>
            <a:chOff x="519684" y="756285"/>
            <a:chExt cx="9106015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787687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Stage Two is where the pressure moved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9101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Escalations rose 71%; full investigations more than doubled and took longer.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533400" y="2762250"/>
            <a:ext cx="2381250" cy="1809750"/>
          </a:xfrm>
          <a:prstGeom prst="homePlate">
            <a:avLst>
              <a:gd name="adj" fmla="val 25000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13" name="escalated-text"/>
          <p:cNvGrpSpPr/>
          <p:nvPr/>
        </p:nvGrpSpPr>
        <p:grpSpPr>
          <a:xfrm>
            <a:off x="742950" y="2924175"/>
            <a:ext cx="1672895" cy="1543431"/>
            <a:chOff x="742950" y="2924175"/>
            <a:chExt cx="1672895" cy="1543431"/>
          </a:xfrm>
        </p:grpSpPr>
        <p:sp>
          <p:nvSpPr>
            <p:cNvPr id="10" name="TextBox 10"/>
            <p:cNvSpPr txBox="1"/>
            <p:nvPr/>
          </p:nvSpPr>
          <p:spPr>
            <a:xfrm>
              <a:off x="742950" y="2924175"/>
              <a:ext cx="77739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70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3593782"/>
              <a:ext cx="1295019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6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escalated to</a:t>
              </a:r>
              <a:br/>
              <a:r>
                <a:rPr lang="en-US" sz="1650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Stage Two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904" y="4232910"/>
              <a:ext cx="1659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41 in 2022/23 (+71%)</a:t>
              </a:r>
            </a:p>
          </p:txBody>
        </p:sp>
      </p:grpSp>
      <p:grpSp>
        <p:nvGrpSpPr>
          <p:cNvPr id="18" name="edges-split-1"/>
          <p:cNvGrpSpPr/>
          <p:nvPr/>
        </p:nvGrpSpPr>
        <p:grpSpPr>
          <a:xfrm>
            <a:off x="2914650" y="2390775"/>
            <a:ext cx="495300" cy="2057400"/>
            <a:chOff x="2914650" y="2390775"/>
            <a:chExt cx="495300" cy="2057400"/>
          </a:xfrm>
        </p:grpSpPr>
        <p:sp>
          <p:nvSpPr>
            <p:cNvPr id="14" name="Line 14"/>
            <p:cNvSpPr/>
            <p:nvPr/>
          </p:nvSpPr>
          <p:spPr>
            <a:xfrm>
              <a:off x="2914650" y="366712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181350" y="2390775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0"/>
                  </a:moveTo>
                  <a:lnTo>
                    <a:pt x="0" y="2047875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181350" y="239077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181350" y="44386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</p:grpSp>
      <p:grpSp>
        <p:nvGrpSpPr>
          <p:cNvPr id="22" name="open-node"/>
          <p:cNvGrpSpPr/>
          <p:nvPr/>
        </p:nvGrpSpPr>
        <p:grpSpPr>
          <a:xfrm>
            <a:off x="3429000" y="1866900"/>
            <a:ext cx="2476500" cy="1047750"/>
            <a:chOff x="3429000" y="1866900"/>
            <a:chExt cx="2476500" cy="1047750"/>
          </a:xfrm>
        </p:grpSpPr>
        <p:sp>
          <p:nvSpPr>
            <p:cNvPr id="19" name="Rectangle 19"/>
            <p:cNvSpPr/>
            <p:nvPr/>
          </p:nvSpPr>
          <p:spPr>
            <a:xfrm>
              <a:off x="3429000" y="1866900"/>
              <a:ext cx="2476500" cy="1047750"/>
            </a:xfrm>
            <a:prstGeom prst="rect">
              <a:avLst/>
            </a:prstGeom>
            <a:noFill/>
            <a:ln w="14288">
              <a:solidFill>
                <a:srgbClr val="8A8F96"/>
              </a:solidFill>
              <a:custDash>
                <a:ds d="400000" sp="266667"/>
              </a:custDash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05784" y="19945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13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13404" y="2423160"/>
              <a:ext cx="180289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still under investigation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at 31 March 2024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3429000" y="3962400"/>
            <a:ext cx="2476500" cy="952500"/>
          </a:xfrm>
          <a:prstGeom prst="snip1Rect">
            <a:avLst>
              <a:gd name="adj" fmla="val 14000"/>
            </a:avLst>
          </a:prstGeom>
          <a:solidFill>
            <a:srgbClr val="E3E9F0"/>
          </a:solidFill>
          <a:ln>
            <a:noFill/>
          </a:ln>
        </p:spPr>
      </p:sp>
      <p:grpSp>
        <p:nvGrpSpPr>
          <p:cNvPr id="26" name="completed-text"/>
          <p:cNvGrpSpPr/>
          <p:nvPr/>
        </p:nvGrpSpPr>
        <p:grpSpPr>
          <a:xfrm>
            <a:off x="3605784" y="4109085"/>
            <a:ext cx="1982572" cy="682371"/>
            <a:chOff x="3605784" y="4109085"/>
            <a:chExt cx="1982572" cy="682371"/>
          </a:xfrm>
        </p:grpSpPr>
        <p:sp>
          <p:nvSpPr>
            <p:cNvPr id="24" name="TextBox 24"/>
            <p:cNvSpPr txBox="1"/>
            <p:nvPr/>
          </p:nvSpPr>
          <p:spPr>
            <a:xfrm>
              <a:off x="3605784" y="410908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57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13404" y="455676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investigations completed</a:t>
              </a:r>
            </a:p>
          </p:txBody>
        </p:sp>
      </p:grpSp>
      <p:grpSp>
        <p:nvGrpSpPr>
          <p:cNvPr id="31" name="edges-split-2"/>
          <p:cNvGrpSpPr/>
          <p:nvPr/>
        </p:nvGrpSpPr>
        <p:grpSpPr>
          <a:xfrm>
            <a:off x="5905500" y="3781425"/>
            <a:ext cx="552450" cy="1600200"/>
            <a:chOff x="5905500" y="3781425"/>
            <a:chExt cx="552450" cy="1600200"/>
          </a:xfrm>
        </p:grpSpPr>
        <p:sp>
          <p:nvSpPr>
            <p:cNvPr id="27" name="Line 27"/>
            <p:cNvSpPr/>
            <p:nvPr/>
          </p:nvSpPr>
          <p:spPr>
            <a:xfrm>
              <a:off x="5905500" y="44386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191250" y="3781425"/>
              <a:ext cx="9525" cy="1590675"/>
            </a:xfrm>
            <a:custGeom>
              <a:avLst/>
              <a:gdLst/>
              <a:ahLst/>
              <a:cxnLst/>
              <a:rect l="l" t="t" r="r" b="b"/>
              <a:pathLst>
                <a:path w="9525" h="1590675">
                  <a:moveTo>
                    <a:pt x="0" y="0"/>
                  </a:moveTo>
                  <a:lnTo>
                    <a:pt x="0" y="1590675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191250" y="378142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191250" y="53721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8A8F96"/>
              </a:solidFill>
            </a:ln>
          </p:spPr>
        </p:sp>
      </p:grpSp>
      <p:grpSp>
        <p:nvGrpSpPr>
          <p:cNvPr id="38" name="rise-sources"/>
          <p:cNvGrpSpPr/>
          <p:nvPr/>
        </p:nvGrpSpPr>
        <p:grpSpPr>
          <a:xfrm>
            <a:off x="6470904" y="1908810"/>
            <a:ext cx="5187696" cy="1053846"/>
            <a:chOff x="6470904" y="1908810"/>
            <a:chExt cx="5187696" cy="1053846"/>
          </a:xfrm>
        </p:grpSpPr>
        <p:sp>
          <p:nvSpPr>
            <p:cNvPr id="32" name="TextBox 32"/>
            <p:cNvSpPr txBox="1"/>
            <p:nvPr/>
          </p:nvSpPr>
          <p:spPr>
            <a:xfrm>
              <a:off x="6470904" y="1908810"/>
              <a:ext cx="4286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WHERE THE RISE CAME FROM (2022/23 IN BRACKETS)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477000" y="21526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70904" y="2270760"/>
              <a:ext cx="4387220" cy="691896"/>
              <a:chOff x="6470904" y="2270760"/>
              <a:chExt cx="4387220" cy="691896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470904" y="2270760"/>
                <a:ext cx="29727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 xml:space="preserve">Neighbourhood &amp; Enforcement: </a:t>
                </a:r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15</a:t>
                </a: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 xml:space="preserve"> (4)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70904" y="2499360"/>
                <a:ext cx="43872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 xml:space="preserve">Education &amp; Skills: </a:t>
                </a:r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11</a:t>
                </a: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 xml:space="preserve"> (3), all Special Educational Needs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470904" y="2727960"/>
                <a:ext cx="401679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Health &amp; Wellbeing: no case escalated to Stage Two</a:t>
                </a:r>
              </a:p>
            </p:txBody>
          </p:sp>
        </p:grpSp>
      </p:grpSp>
      <p:sp>
        <p:nvSpPr>
          <p:cNvPr id="39" name="Freeform 39"/>
          <p:cNvSpPr/>
          <p:nvPr/>
        </p:nvSpPr>
        <p:spPr>
          <a:xfrm>
            <a:off x="6477000" y="3276600"/>
            <a:ext cx="5181600" cy="1009650"/>
          </a:xfrm>
          <a:prstGeom prst="snip1Rect">
            <a:avLst>
              <a:gd name="adj" fmla="val 14000"/>
            </a:avLst>
          </a:prstGeom>
          <a:solidFill>
            <a:srgbClr val="E3E9F0"/>
          </a:solidFill>
          <a:ln>
            <a:noFill/>
          </a:ln>
        </p:spPr>
      </p:sp>
      <p:grpSp>
        <p:nvGrpSpPr>
          <p:cNvPr id="42" name="closed-text"/>
          <p:cNvGrpSpPr/>
          <p:nvPr/>
        </p:nvGrpSpPr>
        <p:grpSpPr>
          <a:xfrm>
            <a:off x="6653784" y="3470910"/>
            <a:ext cx="4302633" cy="670941"/>
            <a:chOff x="6653784" y="3470910"/>
            <a:chExt cx="4302633" cy="670941"/>
          </a:xfrm>
        </p:grpSpPr>
        <p:sp>
          <p:nvSpPr>
            <p:cNvPr id="40" name="TextBox 40"/>
            <p:cNvSpPr txBox="1"/>
            <p:nvPr/>
          </p:nvSpPr>
          <p:spPr>
            <a:xfrm>
              <a:off x="6653784" y="361378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28154" y="3470910"/>
              <a:ext cx="3628263" cy="6537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closed without a full investigation — already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addressed at Stage One, or no added value;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answered in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8</a:t>
              </a: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 working days on average (aim: 10)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6477000" y="4629150"/>
            <a:ext cx="5181600" cy="1485900"/>
          </a:xfrm>
          <a:prstGeom prst="snip1Rect">
            <a:avLst>
              <a:gd name="adj" fmla="val 10000"/>
            </a:avLst>
          </a:prstGeom>
          <a:solidFill>
            <a:srgbClr val="E3E9F0"/>
          </a:solidFill>
          <a:ln>
            <a:noFill/>
          </a:ln>
        </p:spPr>
      </p:sp>
      <p:grpSp>
        <p:nvGrpSpPr>
          <p:cNvPr id="53" name="full-text"/>
          <p:cNvGrpSpPr/>
          <p:nvPr/>
        </p:nvGrpSpPr>
        <p:grpSpPr>
          <a:xfrm>
            <a:off x="6653784" y="4775835"/>
            <a:ext cx="4914138" cy="1253871"/>
            <a:chOff x="6653784" y="4775835"/>
            <a:chExt cx="4914138" cy="1253871"/>
          </a:xfrm>
        </p:grpSpPr>
        <p:sp>
          <p:nvSpPr>
            <p:cNvPr id="44" name="TextBox 44"/>
            <p:cNvSpPr txBox="1"/>
            <p:nvPr/>
          </p:nvSpPr>
          <p:spPr>
            <a:xfrm>
              <a:off x="6653784" y="4775835"/>
              <a:ext cx="4710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42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25868" y="4870132"/>
              <a:ext cx="3737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full investigations (19 in 2022/23)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667500" y="525780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53784" y="5385435"/>
              <a:ext cx="7734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50%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404" y="579501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upheld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82534" y="5385435"/>
              <a:ext cx="14791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B83B26"/>
                  </a:solidFill>
                  <a:latin typeface="Cambria"/>
                  <a:ea typeface="Cambria"/>
                  <a:cs typeface="Cambria"/>
                </a:rPr>
                <a:t>43 days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90154" y="57950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average; 28 in 2022/23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92284" y="5385435"/>
              <a:ext cx="2492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B83B26"/>
                  </a:solidFill>
                  <a:latin typeface="Cambria"/>
                  <a:ea typeface="Cambria"/>
                  <a:cs typeface="Cambria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99904" y="5795010"/>
              <a:ext cx="166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over the 65-day limit</a:t>
              </a:r>
            </a:p>
          </p:txBody>
        </p:sp>
      </p:grpSp>
      <p:grpSp>
        <p:nvGrpSpPr>
          <p:cNvPr id="55" name="baseline-note"/>
          <p:cNvGrpSpPr/>
          <p:nvPr/>
        </p:nvGrpSpPr>
        <p:grpSpPr>
          <a:xfrm>
            <a:off x="528066" y="6211252"/>
            <a:ext cx="8858374" cy="205359"/>
            <a:chOff x="528066" y="6211252"/>
            <a:chExt cx="8858374" cy="205359"/>
          </a:xfrm>
        </p:grpSpPr>
        <p:sp>
          <p:nvSpPr>
            <p:cNvPr id="54" name="TextBox 54"/>
            <p:cNvSpPr txBox="1"/>
            <p:nvPr/>
          </p:nvSpPr>
          <p:spPr>
            <a:xfrm>
              <a:off x="528066" y="6211252"/>
              <a:ext cx="8858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Data note: the report gives the 2022/23 Stage Two figure as 41 (Stage Two section, used here) and as 44 (Stage One section).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28066" y="6516052"/>
            <a:ext cx="89207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Corporate Stage Two complaints; Chart 10 (Stage Two complaints by directorate)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xmlns:p="http://schemas.openxmlformats.org/presentationml/2006/main"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0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800"/>
                            </p:stCondLst>
                            <p:childTnLst>
                              <p:par>
                                <p:cTn xmlns:p="http://schemas.openxmlformats.org/presentationml/2006/main"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800"/>
                            </p:stCondLst>
                            <p:childTnLst>
                              <p:par>
                                <p:cTn xmlns:p="http://schemas.openxmlformats.org/presentationml/2006/main"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xmlns:p="http://schemas.openxmlformats.org/presentationml/2006/main"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78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 · VOICES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659484" cy="811149"/>
            <a:chOff x="519684" y="756285"/>
            <a:chExt cx="10659484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8844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Elected-member enquiries rose 33% to 1,507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106549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Up from 1,132 in 2022/23; Leader and Cabinet enquiries, 1,071 of them, averaged 3 days.</a:t>
              </a:r>
            </a:p>
          </p:txBody>
        </p:sp>
      </p:grpSp>
      <p:grpSp>
        <p:nvGrpSpPr>
          <p:cNvPr id="43" name="p09-member-enquiries"/>
          <p:cNvGrpSpPr/>
          <p:nvPr/>
        </p:nvGrpSpPr>
        <p:grpSpPr>
          <a:xfrm>
            <a:off x="533400" y="1866900"/>
            <a:ext cx="7086600" cy="3095625"/>
            <a:chOff x="533400" y="1866900"/>
            <a:chExt cx="7086600" cy="3095625"/>
          </a:xfrm>
        </p:grpSpPr>
        <p:sp>
          <p:nvSpPr>
            <p:cNvPr id="9" name="Rectangle 9"/>
            <p:cNvSpPr/>
            <p:nvPr/>
          </p:nvSpPr>
          <p:spPr>
            <a:xfrm>
              <a:off x="533400" y="1866900"/>
              <a:ext cx="7086600" cy="4191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4419600"/>
              <a:ext cx="7086600" cy="533400"/>
            </a:xfrm>
            <a:prstGeom prst="rect">
              <a:avLst/>
            </a:prstGeom>
            <a:solidFill>
              <a:srgbClr val="E3E9F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33400" y="2819400"/>
              <a:ext cx="7086600" cy="2143125"/>
              <a:chOff x="533400" y="2819400"/>
              <a:chExt cx="7086600" cy="2143125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533400" y="2819400"/>
                <a:ext cx="708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86600" h="9525">
                    <a:moveTo>
                      <a:pt x="0" y="0"/>
                    </a:moveTo>
                    <a:lnTo>
                      <a:pt x="708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33400" y="3352800"/>
                <a:ext cx="708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86600" h="9525">
                    <a:moveTo>
                      <a:pt x="0" y="0"/>
                    </a:moveTo>
                    <a:lnTo>
                      <a:pt x="708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533400" y="3886200"/>
                <a:ext cx="708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86600" h="9525">
                    <a:moveTo>
                      <a:pt x="0" y="0"/>
                    </a:moveTo>
                    <a:lnTo>
                      <a:pt x="708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533400" y="4419600"/>
                <a:ext cx="708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86600" h="9525">
                    <a:moveTo>
                      <a:pt x="0" y="0"/>
                    </a:moveTo>
                    <a:lnTo>
                      <a:pt x="708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33400" y="4953000"/>
                <a:ext cx="7086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86600" h="9525">
                    <a:moveTo>
                      <a:pt x="0" y="0"/>
                    </a:moveTo>
                    <a:lnTo>
                      <a:pt x="70866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660654" y="2004060"/>
              <a:ext cx="5527457" cy="234696"/>
              <a:chOff x="660654" y="2004060"/>
              <a:chExt cx="5527457" cy="23469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60654" y="2004060"/>
                <a:ext cx="57722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Source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209295" y="2004060"/>
                <a:ext cx="7211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Received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184904" y="2004060"/>
                <a:ext cx="10863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Average time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899404" y="2004060"/>
                <a:ext cx="288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Aim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59892" y="2473642"/>
              <a:ext cx="6651841" cy="2397633"/>
              <a:chOff x="659892" y="2473642"/>
              <a:chExt cx="6651841" cy="2397633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892" y="2473642"/>
                <a:ext cx="112454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MP enquiries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617576" y="2473642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159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184142" y="2473642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8 working days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898642" y="2473642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10 working days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9892" y="3007042"/>
                <a:ext cx="18973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Leader of the Council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17576" y="3007042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525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184142" y="3007042"/>
                <a:ext cx="5680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3 days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898642" y="300704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—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9892" y="3540442"/>
                <a:ext cx="15068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Cabinet Members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617576" y="3540442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546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184142" y="3540442"/>
                <a:ext cx="5680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3 days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898642" y="354044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—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9892" y="4073842"/>
                <a:ext cx="12897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Ward Members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617576" y="4073842"/>
                <a:ext cx="3135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277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184142" y="4073842"/>
                <a:ext cx="5680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5 days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898642" y="407384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—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59892" y="4607242"/>
                <a:ext cx="49617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Total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392676" y="4607242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1,507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184142" y="460724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—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898642" y="460724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—</a:t>
                </a:r>
              </a:p>
            </p:txBody>
          </p:sp>
        </p:grpSp>
      </p:grpSp>
      <p:grpSp>
        <p:nvGrpSpPr>
          <p:cNvPr id="45" name="table-note"/>
          <p:cNvGrpSpPr/>
          <p:nvPr/>
        </p:nvGrpSpPr>
        <p:grpSpPr>
          <a:xfrm>
            <a:off x="527304" y="5204460"/>
            <a:ext cx="5521452" cy="691896"/>
            <a:chOff x="527304" y="5204460"/>
            <a:chExt cx="5521452" cy="691896"/>
          </a:xfrm>
        </p:grpSpPr>
        <p:sp>
          <p:nvSpPr>
            <p:cNvPr id="44" name="TextBox 44"/>
            <p:cNvSpPr txBox="1"/>
            <p:nvPr/>
          </p:nvSpPr>
          <p:spPr>
            <a:xfrm>
              <a:off x="527304" y="5204460"/>
              <a:ext cx="552145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MP enquiries have a 10-working-day aim; the report states no aim for the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other routes. Leader enquiries come from constituents via the Leader of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the Council, Cllr Shaun Davies.</a:t>
              </a:r>
            </a:p>
          </p:txBody>
        </p:sp>
      </p:grpSp>
      <p:grpSp>
        <p:nvGrpSpPr>
          <p:cNvPr id="56" name="direct-contact"/>
          <p:cNvGrpSpPr/>
          <p:nvPr/>
        </p:nvGrpSpPr>
        <p:grpSpPr>
          <a:xfrm>
            <a:off x="7987284" y="1737360"/>
            <a:ext cx="3671316" cy="4082796"/>
            <a:chOff x="7987284" y="1737360"/>
            <a:chExt cx="3671316" cy="4082796"/>
          </a:xfrm>
        </p:grpSpPr>
        <p:sp>
          <p:nvSpPr>
            <p:cNvPr id="46" name="TextBox 46"/>
            <p:cNvSpPr txBox="1"/>
            <p:nvPr/>
          </p:nvSpPr>
          <p:spPr>
            <a:xfrm>
              <a:off x="7994904" y="1737360"/>
              <a:ext cx="2610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DIRECT CONTACT WITH THE TEAM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001000" y="20002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87284" y="2165985"/>
              <a:ext cx="11363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1,499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94904" y="2594610"/>
              <a:ext cx="3140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emails and web forms —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up 17%</a:t>
              </a: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 on 1,281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87284" y="3023235"/>
              <a:ext cx="11363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1,372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94904" y="3451860"/>
              <a:ext cx="28598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telephone calls —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down 18%</a:t>
              </a: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 on 1,683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87284" y="3880485"/>
              <a:ext cx="11363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3,049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94904" y="4309110"/>
              <a:ext cx="23362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direct customer contacts in all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(3,110 in 2022/23)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8001000" y="499110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94904" y="5128260"/>
              <a:ext cx="31744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The Institute of Customer Service reports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that nationally, voice contact has risen</a:t>
              </a:r>
              <a:br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since the pandemic for difficult topics.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528066" y="6516052"/>
            <a:ext cx="973670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MP/Leader/Cabinet and Member Enquiries; Background; Chart 2 (Summary of other feedback)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575523" y="65160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78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 · VOICES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9756024" cy="811149"/>
            <a:chOff x="519684" y="756285"/>
            <a:chExt cx="9756024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97560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Compliments have more than doubled in five years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86447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639 compliments in 2023/24 — 13% more than the 566 received in 2022/23.</a:t>
              </a:r>
            </a:p>
          </p:txBody>
        </p:sp>
      </p:grpSp>
      <p:grpSp>
        <p:nvGrpSpPr>
          <p:cNvPr id="22" name="compliments-hero"/>
          <p:cNvGrpSpPr/>
          <p:nvPr/>
        </p:nvGrpSpPr>
        <p:grpSpPr>
          <a:xfrm>
            <a:off x="514350" y="1885950"/>
            <a:ext cx="4127129" cy="2257806"/>
            <a:chOff x="514350" y="1885950"/>
            <a:chExt cx="4127129" cy="2257806"/>
          </a:xfrm>
        </p:grpSpPr>
        <p:sp>
          <p:nvSpPr>
            <p:cNvPr id="9" name="TextBox 9"/>
            <p:cNvSpPr txBox="1"/>
            <p:nvPr/>
          </p:nvSpPr>
          <p:spPr>
            <a:xfrm>
              <a:off x="514350" y="1885950"/>
              <a:ext cx="2255977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639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5018" y="3060382"/>
              <a:ext cx="35040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compliments received in 2023/24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390650" y="3657600"/>
              <a:ext cx="2419350" cy="1"/>
              <a:chOff x="1390650" y="3657600"/>
              <a:chExt cx="2419350" cy="1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1390650" y="3657600"/>
                <a:ext cx="704850" cy="1"/>
              </a:xfrm>
              <a:prstGeom prst="line">
                <a:avLst/>
              </a:prstGeom>
              <a:noFill/>
              <a:ln w="14288">
                <a:solidFill>
                  <a:srgbClr val="8A8F96"/>
                </a:solidFill>
                <a:tailEnd type="triangle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3105150" y="3657600"/>
                <a:ext cx="704850" cy="1"/>
              </a:xfrm>
              <a:prstGeom prst="line">
                <a:avLst/>
              </a:prstGeom>
              <a:noFill/>
              <a:ln w="14288">
                <a:solidFill>
                  <a:srgbClr val="8A8F96"/>
                </a:solidFill>
                <a:tailEnd type="triangle" w="lg" len="lg"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519684" y="3489960"/>
              <a:ext cx="4121795" cy="528066"/>
              <a:chOff x="519684" y="3489960"/>
              <a:chExt cx="4121795" cy="528066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519684" y="3489960"/>
                <a:ext cx="69279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B2A3A"/>
                    </a:solidFill>
                    <a:latin typeface="Cambria"/>
                    <a:ea typeface="Cambria"/>
                    <a:cs typeface="Cambria"/>
                  </a:rPr>
                  <a:t>290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234184" y="3489960"/>
                <a:ext cx="69279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B2A3A"/>
                    </a:solidFill>
                    <a:latin typeface="Cambria"/>
                    <a:ea typeface="Cambria"/>
                    <a:cs typeface="Cambria"/>
                  </a:rPr>
                  <a:t>566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948684" y="3489960"/>
                <a:ext cx="69279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F4E79"/>
                    </a:solidFill>
                    <a:latin typeface="Cambria"/>
                    <a:ea typeface="Cambria"/>
                    <a:cs typeface="Cambria"/>
                  </a:rPr>
                  <a:t>639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27304" y="3909060"/>
              <a:ext cx="4063136" cy="234696"/>
              <a:chOff x="527304" y="3909060"/>
              <a:chExt cx="4063136" cy="23469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527304" y="39090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2019/20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241804" y="39090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2022/23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956304" y="39090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2023/24</a:t>
                </a:r>
              </a:p>
            </p:txBody>
          </p:sp>
        </p:grpSp>
      </p:grpSp>
      <p:grpSp>
        <p:nvGrpSpPr>
          <p:cNvPr id="33" name="most-complimented"/>
          <p:cNvGrpSpPr/>
          <p:nvPr/>
        </p:nvGrpSpPr>
        <p:grpSpPr>
          <a:xfrm>
            <a:off x="526542" y="4343400"/>
            <a:ext cx="5195316" cy="1432751"/>
            <a:chOff x="526542" y="4343400"/>
            <a:chExt cx="5195316" cy="1432751"/>
          </a:xfrm>
        </p:grpSpPr>
        <p:sp>
          <p:nvSpPr>
            <p:cNvPr id="23" name="Line 23"/>
            <p:cNvSpPr/>
            <p:nvPr/>
          </p:nvSpPr>
          <p:spPr>
            <a:xfrm>
              <a:off x="533400" y="43434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7304" y="4499610"/>
              <a:ext cx="3005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MOST COMPLIMENTED DIRECTORATES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26542" y="4826318"/>
              <a:ext cx="3439367" cy="949833"/>
              <a:chOff x="526542" y="4826318"/>
              <a:chExt cx="3439367" cy="94983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526542" y="4826318"/>
                <a:ext cx="34393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Neighbourhood &amp; Enforcement Services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6542" y="5169218"/>
                <a:ext cx="15884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Health &amp; Wellbeing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26542" y="5512118"/>
                <a:ext cx="27691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 xml:space="preserve">Adult Social Care </a:t>
                </a:r>
                <a:r>
                  <a:rPr lang="en-US" sz="120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(34 in 2022/23)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393283" y="4826318"/>
              <a:ext cx="328575" cy="949833"/>
              <a:chOff x="5393283" y="4826318"/>
              <a:chExt cx="328575" cy="949833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5393283" y="4826318"/>
                <a:ext cx="3285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176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93283" y="5169218"/>
                <a:ext cx="3285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133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393283" y="5512118"/>
                <a:ext cx="3285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1F4E79"/>
                    </a:solidFill>
                    <a:latin typeface="Segoe UI"/>
                    <a:ea typeface="Segoe UI"/>
                    <a:cs typeface="Segoe UI"/>
                  </a:rPr>
                  <a:t>103</a:t>
                </a:r>
              </a:p>
            </p:txBody>
          </p:sp>
        </p:grpSp>
      </p:grpSp>
      <p:grpSp>
        <p:nvGrpSpPr>
          <p:cNvPr id="37" name="pull-quote"/>
          <p:cNvGrpSpPr/>
          <p:nvPr/>
        </p:nvGrpSpPr>
        <p:grpSpPr>
          <a:xfrm>
            <a:off x="6267450" y="1657350"/>
            <a:ext cx="4686110" cy="1733550"/>
            <a:chOff x="6267450" y="1657350"/>
            <a:chExt cx="4686110" cy="1733550"/>
          </a:xfrm>
        </p:grpSpPr>
        <p:sp>
          <p:nvSpPr>
            <p:cNvPr id="34" name="TextBox 34"/>
            <p:cNvSpPr txBox="1"/>
            <p:nvPr/>
          </p:nvSpPr>
          <p:spPr>
            <a:xfrm>
              <a:off x="6267450" y="1657350"/>
              <a:ext cx="777392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B83B26"/>
                  </a:solidFill>
                  <a:latin typeface="Cambria"/>
                  <a:ea typeface="Cambria"/>
                  <a:cs typeface="Cambria"/>
                </a:rPr>
                <a:t>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44868" y="2069782"/>
              <a:ext cx="4008692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650" i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You were friendly, approachable and</a:t>
              </a:r>
              <a:br/>
              <a:r>
                <a:rPr lang="en-US" sz="1650" i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very professional, always transparent</a:t>
              </a:r>
              <a:br/>
              <a:r>
                <a:rPr lang="en-US" sz="1650" i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when giving us the facts.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47154" y="3089910"/>
              <a:ext cx="3385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— compliment to Adult Social Care, 2023/24</a:t>
              </a:r>
            </a:p>
          </p:txBody>
        </p:sp>
      </p:grpSp>
      <p:grpSp>
        <p:nvGrpSpPr>
          <p:cNvPr id="50" name="customer-insight"/>
          <p:cNvGrpSpPr/>
          <p:nvPr/>
        </p:nvGrpSpPr>
        <p:grpSpPr>
          <a:xfrm>
            <a:off x="6272784" y="4343400"/>
            <a:ext cx="5385816" cy="1330261"/>
            <a:chOff x="6272784" y="4343400"/>
            <a:chExt cx="5385816" cy="1330261"/>
          </a:xfrm>
        </p:grpSpPr>
        <p:sp>
          <p:nvSpPr>
            <p:cNvPr id="38" name="Line 38"/>
            <p:cNvSpPr/>
            <p:nvPr/>
          </p:nvSpPr>
          <p:spPr>
            <a:xfrm>
              <a:off x="6286500" y="4343400"/>
              <a:ext cx="5372100" cy="9525"/>
            </a:xfrm>
            <a:custGeom>
              <a:avLst/>
              <a:gdLst/>
              <a:ahLst/>
              <a:cxnLst/>
              <a:rect l="l" t="t" r="r" b="b"/>
              <a:pathLst>
                <a:path w="5372100" h="9525">
                  <a:moveTo>
                    <a:pt x="0" y="0"/>
                  </a:moveTo>
                  <a:lnTo>
                    <a:pt x="53721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80404" y="4499610"/>
              <a:ext cx="2575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CUSTOMER INSIGHT PROGRAMME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6272784" y="4852035"/>
              <a:ext cx="5086533" cy="528066"/>
              <a:chOff x="6272784" y="4852035"/>
              <a:chExt cx="5086533" cy="528066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6272784" y="4852035"/>
                <a:ext cx="69279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F4E79"/>
                    </a:solidFill>
                    <a:latin typeface="Cambria"/>
                    <a:ea typeface="Cambria"/>
                    <a:cs typeface="Cambria"/>
                  </a:rPr>
                  <a:t>214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63434" y="4852035"/>
                <a:ext cx="47100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F4E79"/>
                    </a:solidFill>
                    <a:latin typeface="Cambria"/>
                    <a:ea typeface="Cambria"/>
                    <a:cs typeface="Cambria"/>
                  </a:rPr>
                  <a:t>72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054084" y="4852035"/>
                <a:ext cx="77344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F4E79"/>
                    </a:solidFill>
                    <a:latin typeface="Cambria"/>
                    <a:ea typeface="Cambria"/>
                    <a:cs typeface="Cambria"/>
                  </a:rPr>
                  <a:t>87%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444734" y="4852035"/>
                <a:ext cx="91458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F4E79"/>
                    </a:solidFill>
                    <a:latin typeface="Cambria"/>
                    <a:ea typeface="Cambria"/>
                    <a:cs typeface="Cambria"/>
                  </a:rPr>
                  <a:t>71.2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281166" y="5277802"/>
              <a:ext cx="5256086" cy="395859"/>
              <a:chOff x="6281166" y="5277802"/>
              <a:chExt cx="5256086" cy="395859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6281166" y="5277802"/>
                <a:ext cx="1217486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Mystery Customer</a:t>
                </a:r>
                <a:br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volunteers (+15%)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71816" y="5277802"/>
                <a:ext cx="1017461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assignments</a:t>
                </a:r>
                <a:br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since April 2023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062466" y="5277802"/>
                <a:ext cx="824103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satisfaction</a:t>
                </a:r>
                <a:br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across them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453116" y="5277802"/>
                <a:ext cx="1084136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UKCSI score</a:t>
                </a:r>
                <a:br/>
                <a:r>
                  <a:rPr lang="en-US" sz="105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(councils: 64.4)</a:t>
                </a:r>
              </a:p>
            </p:txBody>
          </p:sp>
        </p:grpSp>
      </p:grpSp>
      <p:sp>
        <p:nvSpPr>
          <p:cNvPr id="51" name="TextBox 51"/>
          <p:cNvSpPr txBox="1"/>
          <p:nvPr/>
        </p:nvSpPr>
        <p:spPr>
          <a:xfrm>
            <a:off x="528066" y="6516052"/>
            <a:ext cx="10307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Compliments; Chart 3 (compliments by directorate); Customer Insight Programme; Highlights 2023/24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9778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78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 · VOICES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8535924" cy="811149"/>
            <a:chOff x="519684" y="756285"/>
            <a:chExt cx="8535924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82608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Complaints are turning into specific fixes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8531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Four of the 13 “You said, We did” changes the report lists for 2023/24.</a:t>
              </a:r>
            </a:p>
          </p:txBody>
        </p:sp>
      </p:grpSp>
      <p:grpSp>
        <p:nvGrpSpPr>
          <p:cNvPr id="27" name="p11-you-said-we-did"/>
          <p:cNvGrpSpPr/>
          <p:nvPr/>
        </p:nvGrpSpPr>
        <p:grpSpPr>
          <a:xfrm>
            <a:off x="533400" y="1771650"/>
            <a:ext cx="7658100" cy="3057525"/>
            <a:chOff x="533400" y="1771650"/>
            <a:chExt cx="7658100" cy="3057525"/>
          </a:xfrm>
        </p:grpSpPr>
        <p:sp>
          <p:nvSpPr>
            <p:cNvPr id="9" name="Rectangle 9"/>
            <p:cNvSpPr/>
            <p:nvPr/>
          </p:nvSpPr>
          <p:spPr>
            <a:xfrm>
              <a:off x="533400" y="1771650"/>
              <a:ext cx="7658100" cy="3810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33400" y="2819400"/>
              <a:ext cx="7658100" cy="2009775"/>
              <a:chOff x="533400" y="2819400"/>
              <a:chExt cx="7658100" cy="2009775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533400" y="2819400"/>
                <a:ext cx="765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58100" h="9525">
                    <a:moveTo>
                      <a:pt x="0" y="0"/>
                    </a:moveTo>
                    <a:lnTo>
                      <a:pt x="76581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533400" y="3486150"/>
                <a:ext cx="765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58100" h="9525">
                    <a:moveTo>
                      <a:pt x="0" y="0"/>
                    </a:moveTo>
                    <a:lnTo>
                      <a:pt x="76581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533400" y="4152900"/>
                <a:ext cx="765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58100" h="9525">
                    <a:moveTo>
                      <a:pt x="0" y="0"/>
                    </a:moveTo>
                    <a:lnTo>
                      <a:pt x="76581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533400" y="4819650"/>
                <a:ext cx="765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58100" h="9525">
                    <a:moveTo>
                      <a:pt x="0" y="0"/>
                    </a:moveTo>
                    <a:lnTo>
                      <a:pt x="7658100" y="0"/>
                    </a:lnTo>
                  </a:path>
                </a:pathLst>
              </a:custGeom>
              <a:noFill/>
              <a:ln w="9525">
                <a:solidFill>
                  <a:srgbClr val="CFC8BB"/>
                </a:solidFill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680466" y="1896428"/>
              <a:ext cx="4329227" cy="205359"/>
              <a:chOff x="680466" y="1896428"/>
              <a:chExt cx="4329227" cy="20535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80466" y="1896428"/>
                <a:ext cx="6536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YOU SAID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528566" y="1896428"/>
                <a:ext cx="4811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WE DID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79704" y="2308860"/>
              <a:ext cx="6854952" cy="2444496"/>
              <a:chOff x="679704" y="2308860"/>
              <a:chExt cx="6854952" cy="244449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79704" y="2308860"/>
                <a:ext cx="280873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Some customers reported a delay in</a:t>
                </a:r>
                <a:br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receiving death certificates by post.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527804" y="2308860"/>
                <a:ext cx="262585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Death certificates are now sent by</a:t>
                </a:r>
                <a:br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First Class post.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79704" y="2975610"/>
                <a:ext cx="287731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Healthy Lifestyle customers asked for</a:t>
                </a:r>
                <a:br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appointments after 5pm.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27804" y="2975610"/>
                <a:ext cx="280111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Extended evening clinic hours are now</a:t>
                </a:r>
                <a:br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available throughout the week.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79704" y="3642360"/>
                <a:ext cx="341833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Leisure customers receiving Personal</a:t>
                </a:r>
                <a:br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Independence Payment asked for concessions.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27804" y="3642360"/>
                <a:ext cx="280111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The Concessionary Policy now includes</a:t>
                </a:r>
                <a:br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customers receiving that payment.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9704" y="4309110"/>
                <a:ext cx="309067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Bowring Park parking information missed</a:t>
                </a:r>
                <a:br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the newer car park by the tennis courts.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27804" y="4309110"/>
                <a:ext cx="3006852" cy="44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The website has been updated to reflect</a:t>
                </a:r>
                <a:br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this information.</a:t>
                </a:r>
              </a:p>
            </p:txBody>
          </p:sp>
        </p:grpSp>
      </p:grpSp>
      <p:grpSp>
        <p:nvGrpSpPr>
          <p:cNvPr id="30" name="more-examples"/>
          <p:cNvGrpSpPr/>
          <p:nvPr/>
        </p:nvGrpSpPr>
        <p:grpSpPr>
          <a:xfrm>
            <a:off x="527304" y="5109210"/>
            <a:ext cx="6367272" cy="977646"/>
            <a:chOff x="527304" y="5109210"/>
            <a:chExt cx="6367272" cy="977646"/>
          </a:xfrm>
        </p:grpSpPr>
        <p:sp>
          <p:nvSpPr>
            <p:cNvPr id="28" name="TextBox 28"/>
            <p:cNvSpPr txBox="1"/>
            <p:nvPr/>
          </p:nvSpPr>
          <p:spPr>
            <a:xfrm>
              <a:off x="527304" y="5109210"/>
              <a:ext cx="636727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Learning from complaints also brought a lowered accessible desk and automatic doors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at Darby House Reception, twice-daily checks on postal-vote requests, and conflict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resolution training for the Neighbourhood Enforcement Team.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7304" y="5852160"/>
              <a:ext cx="41949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More examples: </a:t>
              </a:r>
              <a:r>
                <a:rPr lang="en-US" sz="1200" b="1" dirty="0">
                  <a:solidFill>
                    <a:srgbClr val="1F4E79"/>
                  </a:solidFill>
                  <a:latin typeface="Segoe UI"/>
                  <a:ea typeface="Segoe UI"/>
                  <a:cs typeface="Segoe UI"/>
                  <a:hlinkClick r:id="rId2"/>
                </a:rPr>
                <a:t>www.telford.gov.uk/yousaidwedid</a:t>
              </a:r>
            </a:p>
          </p:txBody>
        </p:sp>
      </p:grpSp>
      <p:grpSp>
        <p:nvGrpSpPr>
          <p:cNvPr id="51" name="remedies"/>
          <p:cNvGrpSpPr/>
          <p:nvPr/>
        </p:nvGrpSpPr>
        <p:grpSpPr>
          <a:xfrm>
            <a:off x="8566404" y="1813560"/>
            <a:ext cx="3092196" cy="4158996"/>
            <a:chOff x="8566404" y="1813560"/>
            <a:chExt cx="3092196" cy="4158996"/>
          </a:xfrm>
        </p:grpSpPr>
        <p:sp>
          <p:nvSpPr>
            <p:cNvPr id="31" name="TextBox 31"/>
            <p:cNvSpPr txBox="1"/>
            <p:nvPr/>
          </p:nvSpPr>
          <p:spPr>
            <a:xfrm>
              <a:off x="8566404" y="1813560"/>
              <a:ext cx="2781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HOW COMPLAINTS WERE PUT RIGHT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67166" y="2058352"/>
              <a:ext cx="25895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Share of remedies recorded, 2023/24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572500" y="230505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566404" y="2499360"/>
              <a:ext cx="2561844" cy="2234946"/>
              <a:chOff x="8566404" y="2499360"/>
              <a:chExt cx="2561844" cy="2234946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8566404" y="2499360"/>
                <a:ext cx="25618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Explanation, no remedy required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566404" y="3166110"/>
                <a:ext cx="18587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Explanation and apology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566404" y="3832860"/>
                <a:ext cx="16648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Information provided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566404" y="4499610"/>
                <a:ext cx="22627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Apology and service provided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572500" y="2743200"/>
              <a:ext cx="2343150" cy="2114550"/>
              <a:chOff x="8572500" y="2743200"/>
              <a:chExt cx="2343150" cy="21145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572500" y="2743200"/>
                <a:ext cx="2343150" cy="1143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572500" y="3409950"/>
                <a:ext cx="1371600" cy="1143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8572500" y="4076700"/>
                <a:ext cx="742950" cy="1143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572500" y="4743450"/>
                <a:ext cx="457200" cy="1143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9118854" y="2727960"/>
              <a:ext cx="2211941" cy="2234946"/>
              <a:chOff x="9118854" y="2727960"/>
              <a:chExt cx="2211941" cy="2234946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11004804" y="2727960"/>
                <a:ext cx="325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41%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033254" y="3394710"/>
                <a:ext cx="325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24%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404604" y="4061460"/>
                <a:ext cx="325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13%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118854" y="4728210"/>
                <a:ext cx="2327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8%</a:t>
                </a:r>
              </a:p>
            </p:txBody>
          </p:sp>
        </p:grpSp>
        <p:sp>
          <p:nvSpPr>
            <p:cNvPr id="49" name="Line 49"/>
            <p:cNvSpPr/>
            <p:nvPr/>
          </p:nvSpPr>
          <p:spPr>
            <a:xfrm>
              <a:off x="8572500" y="5143500"/>
              <a:ext cx="3086100" cy="9525"/>
            </a:xfrm>
            <a:custGeom>
              <a:avLst/>
              <a:gdLst/>
              <a:ahLst/>
              <a:cxnLst/>
              <a:rect l="l" t="t" r="r" b="b"/>
              <a:pathLst>
                <a:path w="3086100" h="9525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66404" y="5280660"/>
              <a:ext cx="238963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All </a:t>
              </a:r>
              <a:r>
                <a:rPr lang="en-US" sz="1200" b="1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271</a:t>
              </a: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 complaints where fault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was found were reviewed by the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Customer Relationship team.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28066" y="6516052"/>
            <a:ext cx="88562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You said, We did; Learning and outcomes; Chart 11 (Complaint Remedies 2023/24)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9778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3400" y="247650"/>
            <a:ext cx="1428750" cy="266700"/>
          </a:xfrm>
          <a:prstGeom prst="snip1Rect">
            <a:avLst>
              <a:gd name="adj" fmla="val 35714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5" name="chrome"/>
          <p:cNvGrpSpPr/>
          <p:nvPr/>
        </p:nvGrpSpPr>
        <p:grpSpPr>
          <a:xfrm>
            <a:off x="661416" y="315278"/>
            <a:ext cx="10997184" cy="205359"/>
            <a:chOff x="661416" y="315278"/>
            <a:chExt cx="10997184" cy="205359"/>
          </a:xfrm>
        </p:grpSpPr>
        <p:sp>
          <p:nvSpPr>
            <p:cNvPr id="3" name="TextBox 3"/>
            <p:cNvSpPr txBox="1"/>
            <p:nvPr/>
          </p:nvSpPr>
          <p:spPr>
            <a:xfrm>
              <a:off x="661416" y="315278"/>
              <a:ext cx="105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4 · ASSURANCE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2076450" y="381000"/>
              <a:ext cx="9582150" cy="9525"/>
            </a:xfrm>
            <a:custGeom>
              <a:avLst/>
              <a:gdLst/>
              <a:ahLst/>
              <a:cxnLst/>
              <a:rect l="l" t="t" r="r" b="b"/>
              <a:pathLst>
                <a:path w="9582150" h="9525">
                  <a:moveTo>
                    <a:pt x="0" y="0"/>
                  </a:moveTo>
                  <a:lnTo>
                    <a:pt x="958215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</p:grpSp>
      <p:grpSp>
        <p:nvGrpSpPr>
          <p:cNvPr id="8" name="title"/>
          <p:cNvGrpSpPr/>
          <p:nvPr/>
        </p:nvGrpSpPr>
        <p:grpSpPr>
          <a:xfrm>
            <a:off x="519684" y="756285"/>
            <a:ext cx="10555463" cy="811149"/>
            <a:chOff x="519684" y="756285"/>
            <a:chExt cx="10555463" cy="811149"/>
          </a:xfrm>
        </p:grpSpPr>
        <p:sp>
          <p:nvSpPr>
            <p:cNvPr id="6" name="TextBox 6"/>
            <p:cNvSpPr txBox="1"/>
            <p:nvPr/>
          </p:nvSpPr>
          <p:spPr>
            <a:xfrm>
              <a:off x="519684" y="756285"/>
              <a:ext cx="95966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Ombudsman rate down to 1.74 per 10,000 people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1215390"/>
              <a:ext cx="105508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One of three detailed Ombudsman investigations upheld; all recommendations completed.</a:t>
              </a:r>
            </a:p>
          </p:txBody>
        </p:sp>
      </p:grpSp>
      <p:grpSp>
        <p:nvGrpSpPr>
          <p:cNvPr id="22" name="oflog-metric"/>
          <p:cNvGrpSpPr/>
          <p:nvPr/>
        </p:nvGrpSpPr>
        <p:grpSpPr>
          <a:xfrm>
            <a:off x="514350" y="1752600"/>
            <a:ext cx="3524250" cy="3800856"/>
            <a:chOff x="514350" y="1752600"/>
            <a:chExt cx="3524250" cy="3800856"/>
          </a:xfrm>
        </p:grpSpPr>
        <p:sp>
          <p:nvSpPr>
            <p:cNvPr id="9" name="Rectangle 9"/>
            <p:cNvSpPr/>
            <p:nvPr/>
          </p:nvSpPr>
          <p:spPr>
            <a:xfrm>
              <a:off x="533400" y="1752600"/>
              <a:ext cx="35052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7304" y="1908810"/>
              <a:ext cx="26736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OFFICE FOR LOCAL GOVERNMENT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4350" y="2276475"/>
              <a:ext cx="151668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1.74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6542" y="2959418"/>
              <a:ext cx="229400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Ombudsman complaints per</a:t>
              </a:r>
              <a:br/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10,000 population, 2023/24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28066" y="3753802"/>
              <a:ext cx="554869" cy="643509"/>
              <a:chOff x="528066" y="3753802"/>
              <a:chExt cx="554869" cy="64350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28066" y="3753802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2022/23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28066" y="4191952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E6873"/>
                    </a:solidFill>
                    <a:latin typeface="Segoe UI"/>
                    <a:ea typeface="Segoe UI"/>
                    <a:cs typeface="Segoe UI"/>
                  </a:rPr>
                  <a:t>2023/24</a:t>
                </a:r>
              </a:p>
            </p:txBody>
          </p:sp>
        </p:grpSp>
        <p:sp>
          <p:nvSpPr>
            <p:cNvPr id="16" name="Rectangle 16"/>
            <p:cNvSpPr/>
            <p:nvPr/>
          </p:nvSpPr>
          <p:spPr>
            <a:xfrm>
              <a:off x="533400" y="3943350"/>
              <a:ext cx="2663190" cy="133350"/>
            </a:xfrm>
            <a:prstGeom prst="rect">
              <a:avLst/>
            </a:prstGeom>
            <a:solidFill>
              <a:srgbClr val="A9BCD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4381500"/>
              <a:ext cx="1988820" cy="1333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2594229" y="3937635"/>
              <a:ext cx="1061634" cy="672846"/>
              <a:chOff x="2594229" y="3937635"/>
              <a:chExt cx="1061634" cy="67284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3270504" y="393763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2.33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594229" y="4375785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1.74</a:t>
                </a: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527304" y="4861560"/>
              <a:ext cx="290017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Based on a population of 188,871.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OFLOG uses Ombudsman complaint data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and ONS population figures.</a:t>
              </a:r>
            </a:p>
          </p:txBody>
        </p:sp>
      </p:grpSp>
      <p:grpSp>
        <p:nvGrpSpPr>
          <p:cNvPr id="33" name="lgsco"/>
          <p:cNvGrpSpPr/>
          <p:nvPr/>
        </p:nvGrpSpPr>
        <p:grpSpPr>
          <a:xfrm>
            <a:off x="4324350" y="1752600"/>
            <a:ext cx="3524250" cy="3838956"/>
            <a:chOff x="4324350" y="1752600"/>
            <a:chExt cx="3524250" cy="3838956"/>
          </a:xfrm>
        </p:grpSpPr>
        <p:sp>
          <p:nvSpPr>
            <p:cNvPr id="23" name="Rectangle 23"/>
            <p:cNvSpPr/>
            <p:nvPr/>
          </p:nvSpPr>
          <p:spPr>
            <a:xfrm>
              <a:off x="4343400" y="1752600"/>
              <a:ext cx="35052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337304" y="1908810"/>
              <a:ext cx="2700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LOCAL GOVERNMENT OMBUDSMAN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24350" y="2276475"/>
              <a:ext cx="77739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17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36542" y="2959418"/>
              <a:ext cx="293693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enquiries forwarded to the LGSCO:</a:t>
              </a:r>
              <a:br/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12 corporate, 5 statutory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343400" y="36576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337304" y="3870960"/>
              <a:ext cx="25877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Detailed investigations completed,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corporate and statutory: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29684" y="4375785"/>
              <a:ext cx="2492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56404" y="4537710"/>
              <a:ext cx="2928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— 1 upheld, 2 not upheld (33% upheld)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29684" y="4928235"/>
              <a:ext cx="9952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F7D4F"/>
                  </a:solidFill>
                  <a:latin typeface="Cambria"/>
                  <a:ea typeface="Cambria"/>
                  <a:cs typeface="Cambria"/>
                </a:rPr>
                <a:t>100%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37304" y="5356860"/>
              <a:ext cx="2987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of LGSCO recommendations completed</a:t>
              </a:r>
            </a:p>
          </p:txBody>
        </p:sp>
      </p:grpSp>
      <p:grpSp>
        <p:nvGrpSpPr>
          <p:cNvPr id="41" name="tenants"/>
          <p:cNvGrpSpPr/>
          <p:nvPr/>
        </p:nvGrpSpPr>
        <p:grpSpPr>
          <a:xfrm>
            <a:off x="8134350" y="1752600"/>
            <a:ext cx="3524250" cy="3953256"/>
            <a:chOff x="8134350" y="1752600"/>
            <a:chExt cx="3524250" cy="3953256"/>
          </a:xfrm>
        </p:grpSpPr>
        <p:sp>
          <p:nvSpPr>
            <p:cNvPr id="34" name="Rectangle 34"/>
            <p:cNvSpPr/>
            <p:nvPr/>
          </p:nvSpPr>
          <p:spPr>
            <a:xfrm>
              <a:off x="8153400" y="1752600"/>
              <a:ext cx="3505200" cy="28575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47304" y="1908810"/>
              <a:ext cx="14370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5E6873"/>
                  </a:solidFill>
                  <a:latin typeface="Segoe UI"/>
                  <a:ea typeface="Segoe UI"/>
                  <a:cs typeface="Segoe UI"/>
                </a:rPr>
                <a:t>COUNCIL TENANTS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34350" y="2276475"/>
              <a:ext cx="40774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F4E79"/>
                  </a:solidFill>
                  <a:latin typeface="Cambria"/>
                  <a:ea typeface="Cambria"/>
                  <a:cs typeface="Cambria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46542" y="2959418"/>
              <a:ext cx="270548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complaints from council tenants</a:t>
              </a:r>
              <a:br/>
              <a:r>
                <a:rPr lang="en-US" sz="1350" dirty="0">
                  <a:solidFill>
                    <a:srgbClr val="1B2A3A"/>
                  </a:solidFill>
                  <a:latin typeface="Segoe UI"/>
                  <a:ea typeface="Segoe UI"/>
                  <a:cs typeface="Segoe UI"/>
                </a:rPr>
                <a:t>in 2023/24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153400" y="36576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rgbClr val="CFC8B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147304" y="3870960"/>
              <a:ext cx="291541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The council became a registered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provider of social housing in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September 2020 and has 23 properties.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47304" y="4785360"/>
              <a:ext cx="270967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No case went to the Housing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Ombudsman Service, and there were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no findings of non-compliance with</a:t>
              </a:r>
              <a:br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its Complaint Handling Code.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528066" y="6516052"/>
            <a:ext cx="87052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Source: Corporate Feedback Report 2023/24 — LGSCO enquiries; OFLOG Metrics; Complaints from Telford and Wrekin Tenants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49778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E6873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0" y="0"/>
            <a:ext cx="4572000" cy="6858000"/>
          </a:xfrm>
          <a:prstGeom prst="snip1Rect">
            <a:avLst>
              <a:gd name="adj" fmla="val 18750"/>
            </a:avLst>
          </a:prstGeom>
          <a:solidFill>
            <a:srgbClr val="1F4E79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514350" y="801052"/>
            <a:ext cx="5891784" cy="3528632"/>
            <a:chOff x="514350" y="801052"/>
            <a:chExt cx="5891784" cy="3528632"/>
          </a:xfrm>
        </p:grpSpPr>
        <p:sp>
          <p:nvSpPr>
            <p:cNvPr id="3" name="TextBox 3"/>
            <p:cNvSpPr txBox="1"/>
            <p:nvPr/>
          </p:nvSpPr>
          <p:spPr>
            <a:xfrm>
              <a:off x="528066" y="801052"/>
              <a:ext cx="1868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B83B26"/>
                  </a:solidFill>
                  <a:latin typeface="Segoe UI"/>
                  <a:ea typeface="Segoe UI"/>
                  <a:cs typeface="Segoe UI"/>
                </a:rPr>
                <a:t>WHAT CHANGES IN 2024/25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4350" y="1168718"/>
              <a:ext cx="5577792" cy="21431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100"/>
                </a:lnSpc>
              </a:pPr>
              <a:r>
                <a:rPr lang="en-US" sz="435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From May 2024, the</a:t>
              </a:r>
              <a:br/>
              <a:r>
                <a:rPr lang="en-US" sz="435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complaints clock</a:t>
              </a:r>
              <a:br/>
              <a:r>
                <a:rPr lang="en-US" sz="4350" b="1" dirty="0">
                  <a:solidFill>
                    <a:srgbClr val="1B2A3A"/>
                  </a:solidFill>
                  <a:latin typeface="Cambria"/>
                  <a:ea typeface="Cambria"/>
                  <a:cs typeface="Cambria"/>
                </a:rPr>
                <a:t>runs shorter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3329940"/>
              <a:ext cx="5881878" cy="999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Stage One replies now have 10 working days, not 15,</a:t>
              </a:r>
              <a:br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under the Ombudsman’s complaint handling code —</a:t>
              </a:r>
              <a:br/>
              <a:r>
                <a:rPr lang="en-US" sz="18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>and the on-time target rises from 87% to 90%.</a:t>
              </a:r>
            </a:p>
          </p:txBody>
        </p:sp>
      </p:grpSp>
      <p:grpSp>
        <p:nvGrpSpPr>
          <p:cNvPr id="22" name="timeline"/>
          <p:cNvGrpSpPr/>
          <p:nvPr/>
        </p:nvGrpSpPr>
        <p:grpSpPr>
          <a:xfrm>
            <a:off x="523875" y="4657725"/>
            <a:ext cx="6715125" cy="1181481"/>
            <a:chOff x="523875" y="4657725"/>
            <a:chExt cx="6715125" cy="1181481"/>
          </a:xfrm>
        </p:grpSpPr>
        <p:sp>
          <p:nvSpPr>
            <p:cNvPr id="7" name="Line 7"/>
            <p:cNvSpPr/>
            <p:nvPr/>
          </p:nvSpPr>
          <p:spPr>
            <a:xfrm>
              <a:off x="533400" y="4724400"/>
              <a:ext cx="6705600" cy="9525"/>
            </a:xfrm>
            <a:custGeom>
              <a:avLst/>
              <a:gdLst/>
              <a:ahLst/>
              <a:cxnLst/>
              <a:rect l="l" t="t" r="r" b="b"/>
              <a:pathLst>
                <a:path w="6705600" h="9525">
                  <a:moveTo>
                    <a:pt x="0" y="0"/>
                  </a:moveTo>
                  <a:lnTo>
                    <a:pt x="6705600" y="0"/>
                  </a:lnTo>
                </a:path>
              </a:pathLst>
            </a:custGeom>
            <a:noFill/>
            <a:ln w="14288">
              <a:solidFill>
                <a:srgbClr val="8A8F9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523875" y="465772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238375" y="4657725"/>
              <a:ext cx="133350" cy="133350"/>
            </a:xfrm>
            <a:prstGeom prst="ellipse">
              <a:avLst/>
            </a:prstGeom>
            <a:solidFill>
              <a:srgbClr val="B83B2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952875" y="465772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667375" y="4657725"/>
              <a:ext cx="133350" cy="133350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27304" y="4937760"/>
              <a:ext cx="5528859" cy="234696"/>
              <a:chOff x="527304" y="4937760"/>
              <a:chExt cx="5528859" cy="234696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527304" y="4937760"/>
                <a:ext cx="972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1 April 2024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241804" y="4937760"/>
                <a:ext cx="7639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B83B26"/>
                    </a:solidFill>
                    <a:latin typeface="Segoe UI"/>
                    <a:ea typeface="Segoe UI"/>
                    <a:cs typeface="Segoe UI"/>
                  </a:rPr>
                  <a:t>May 2024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956304" y="4937760"/>
                <a:ext cx="10395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Autumn 2024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670804" y="49377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1B2A3A"/>
                    </a:solidFill>
                    <a:latin typeface="Segoe UI"/>
                    <a:ea typeface="Segoe UI"/>
                    <a:cs typeface="Segoe UI"/>
                  </a:rPr>
                  <a:t>2025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27304" y="5185410"/>
              <a:ext cx="6458712" cy="653796"/>
              <a:chOff x="527304" y="5185410"/>
              <a:chExt cx="6458712" cy="65379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27304" y="5185410"/>
                <a:ext cx="1566672" cy="653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Tenant complaints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move into the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corporate procedure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241804" y="5185410"/>
                <a:ext cx="1307592" cy="653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Stage Two: 20–40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working days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(was 25–65)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956304" y="5185410"/>
                <a:ext cx="1429512" cy="653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Second ICS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benchmarking and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workforce surveys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70804" y="5185410"/>
                <a:ext cx="1315212" cy="653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Customer Service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Strategy updated</a:t>
                </a:r>
                <a:br/>
                <a:r>
                  <a:rPr lang="en-US" sz="1200" dirty="0">
                    <a:solidFill>
                      <a:srgbClr val="3A4654"/>
                    </a:solidFill>
                    <a:latin typeface="Segoe UI"/>
                    <a:ea typeface="Segoe UI"/>
                    <a:cs typeface="Segoe UI"/>
                  </a:rPr>
                  <a:t>and relaunched</a:t>
                </a:r>
              </a:p>
            </p:txBody>
          </p:sp>
        </p:grpSp>
      </p:grpSp>
      <p:grpSp>
        <p:nvGrpSpPr>
          <p:cNvPr id="24" name="source-link"/>
          <p:cNvGrpSpPr/>
          <p:nvPr/>
        </p:nvGrpSpPr>
        <p:grpSpPr>
          <a:xfrm>
            <a:off x="527304" y="6233160"/>
            <a:ext cx="5485470" cy="234696"/>
            <a:chOff x="527304" y="6233160"/>
            <a:chExt cx="5485470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527304" y="6233160"/>
              <a:ext cx="5485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A4654"/>
                  </a:solidFill>
                  <a:latin typeface="Segoe UI"/>
                  <a:ea typeface="Segoe UI"/>
                  <a:cs typeface="Segoe UI"/>
                </a:rPr>
                <a:t xml:space="preserve">Full report: </a:t>
              </a:r>
              <a:r>
                <a:rPr lang="en-US" sz="1200" b="1" dirty="0">
                  <a:solidFill>
                    <a:srgbClr val="1F4E79"/>
                  </a:solidFill>
                  <a:latin typeface="Segoe UI"/>
                  <a:ea typeface="Segoe UI"/>
                  <a:cs typeface="Segoe UI"/>
                  <a:hlinkClick r:id="rId2"/>
                </a:rPr>
                <a:t>Corporate Feedback Report 2023/24 (telford.gov.uk)</a:t>
              </a:r>
            </a:p>
          </p:txBody>
        </p:sp>
      </p:grpSp>
      <p:grpSp>
        <p:nvGrpSpPr>
          <p:cNvPr id="30" name="test-numbers"/>
          <p:cNvGrpSpPr/>
          <p:nvPr/>
        </p:nvGrpSpPr>
        <p:grpSpPr>
          <a:xfrm>
            <a:off x="8058150" y="1315402"/>
            <a:ext cx="2722952" cy="2753487"/>
            <a:chOff x="8058150" y="1315402"/>
            <a:chExt cx="2722952" cy="2753487"/>
          </a:xfrm>
        </p:grpSpPr>
        <p:sp>
          <p:nvSpPr>
            <p:cNvPr id="25" name="TextBox 25"/>
            <p:cNvSpPr txBox="1"/>
            <p:nvPr/>
          </p:nvSpPr>
          <p:spPr>
            <a:xfrm>
              <a:off x="8071866" y="1315402"/>
              <a:ext cx="1312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THE 2024/25 TEST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58150" y="1762125"/>
              <a:ext cx="245760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10 days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68818" y="2412682"/>
              <a:ext cx="27122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Stage One limit (was 15)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58150" y="3095625"/>
              <a:ext cx="128145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FFFFFF"/>
                  </a:solidFill>
                  <a:latin typeface="Cambria"/>
                  <a:ea typeface="Cambria"/>
                  <a:cs typeface="Cambria"/>
                </a:rPr>
                <a:t>90%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8818" y="3746182"/>
              <a:ext cx="2704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C9D6E3"/>
                  </a:solidFill>
                  <a:latin typeface="Segoe UI"/>
                  <a:ea typeface="Segoe UI"/>
                  <a:cs typeface="Segoe UI"/>
                </a:rPr>
                <a:t>on time (87% in 2023/24)</a:t>
              </a:r>
            </a:p>
          </p:txBody>
        </p:sp>
      </p:grpSp>
      <p:sp>
        <p:nvSpPr>
          <p:cNvPr id="31" name="Line 31"/>
          <p:cNvSpPr/>
          <p:nvPr/>
        </p:nvSpPr>
        <p:spPr>
          <a:xfrm>
            <a:off x="8077200" y="4476750"/>
            <a:ext cx="3581400" cy="9525"/>
          </a:xfrm>
          <a:custGeom>
            <a:avLst/>
            <a:gdLst/>
            <a:ahLst/>
            <a:cxnLst/>
            <a:rect l="l" t="t" r="r" b="b"/>
            <a:pathLst>
              <a:path w="3581400" h="9525">
                <a:moveTo>
                  <a:pt x="0" y="0"/>
                </a:moveTo>
                <a:lnTo>
                  <a:pt x="3581400" y="0"/>
                </a:lnTo>
              </a:path>
            </a:pathLst>
          </a:custGeom>
          <a:noFill/>
          <a:ln w="9525">
            <a:solidFill>
              <a:srgbClr val="FFFFFF">
                <a:alpha val="35000"/>
              </a:srgbClr>
            </a:solidFill>
          </a:ln>
        </p:spPr>
      </p:sp>
      <p:grpSp>
        <p:nvGrpSpPr>
          <p:cNvPr id="34" name="scrutiny-role"/>
          <p:cNvGrpSpPr/>
          <p:nvPr/>
        </p:nvGrpSpPr>
        <p:grpSpPr>
          <a:xfrm>
            <a:off x="8071104" y="4785360"/>
            <a:ext cx="3357372" cy="1187196"/>
            <a:chOff x="8071104" y="4785360"/>
            <a:chExt cx="3357372" cy="1187196"/>
          </a:xfrm>
        </p:grpSpPr>
        <p:sp>
          <p:nvSpPr>
            <p:cNvPr id="32" name="TextBox 32"/>
            <p:cNvSpPr txBox="1"/>
            <p:nvPr/>
          </p:nvSpPr>
          <p:spPr>
            <a:xfrm>
              <a:off x="8071104" y="4785360"/>
              <a:ext cx="25705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Planned with scrutiny members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71104" y="5052060"/>
              <a:ext cx="3357372" cy="92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200" dirty="0">
                  <a:solidFill>
                    <a:srgbClr val="E3E9F0"/>
                  </a:solidFill>
                  <a:latin typeface="Segoe UI"/>
                  <a:ea typeface="Segoe UI"/>
                  <a:cs typeface="Segoe UI"/>
                </a:rPr>
                <a:t>Mystery Customer assignments for the</a:t>
              </a:r>
              <a:br/>
              <a:r>
                <a:rPr lang="en-US" sz="1200" dirty="0">
                  <a:solidFill>
                    <a:srgbClr val="E3E9F0"/>
                  </a:solidFill>
                  <a:latin typeface="Segoe UI"/>
                  <a:ea typeface="Segoe UI"/>
                  <a:cs typeface="Segoe UI"/>
                </a:rPr>
                <a:t>Communities Scrutiny Committee, senior</a:t>
              </a:r>
              <a:br/>
              <a:r>
                <a:rPr lang="en-US" sz="1200" dirty="0">
                  <a:solidFill>
                    <a:srgbClr val="E3E9F0"/>
                  </a:solidFill>
                  <a:latin typeface="Segoe UI"/>
                  <a:ea typeface="Segoe UI"/>
                  <a:cs typeface="Segoe UI"/>
                </a:rPr>
                <a:t>managers and volunteer Mystery Customers,</a:t>
              </a:r>
              <a:br/>
              <a:r>
                <a:rPr lang="en-US" sz="1200" dirty="0">
                  <a:solidFill>
                    <a:srgbClr val="E3E9F0"/>
                  </a:solidFill>
                  <a:latin typeface="Segoe UI"/>
                  <a:ea typeface="Segoe UI"/>
                  <a:cs typeface="Segoe UI"/>
                </a:rPr>
                <a:t>informing the Customer Strategy from 2025.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49778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C9D6E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telford_feedback_2023_24_quick">
  <a:themeElements>
    <a:clrScheme name="ppt169_telford_feedback_2023_24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telford_feedback_2023_24_quic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telford_feedback_2023_24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2026-09-11T14:23:57Z</dcterms:created>
  <dcterms:modified xsi:type="dcterms:W3CDTF">2026-09-11T14:23:57Z</dcterms:modified>
  <cp:category/>
  <cp:contentStatus/>
</cp:coreProperties>
</file>