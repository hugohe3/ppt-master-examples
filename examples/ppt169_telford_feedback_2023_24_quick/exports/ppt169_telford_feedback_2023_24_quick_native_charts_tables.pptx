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emf" ContentType="image/x-emf"/>
  <Default Extension="xlsx" ContentType="application/vnd.openxmlformats-officedocument.spreadsheetml.sheet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charts/chart301.xml" ContentType="application/vnd.openxmlformats-officedocument.drawingml.chart+xml"/>
  <Override PartName="/ppt/charts/chart401.xml" ContentType="application/vnd.openxmlformats-officedocument.drawingml.chart+xml"/>
  <Override PartName="/ppt/charts/chart501.xml" ContentType="application/vnd.openxmlformats-officedocument.drawingml.chart+xml"/>
  <Override PartName="/ppt/charts/chart601.xml" ContentType="application/vnd.openxmlformats-officedocument.drawingml.chart+xml"/>
  <Override PartName="/ppt/charts/chart701.xml" ContentType="application/vnd.openxmlformats-officedocument.drawingml.chart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2000" cy="68580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charts/_rels/chart301.xml.rels><?xml version="1.0" encoding="UTF-8" standalone="yes"?>
<Relationships xmlns="http://schemas.openxmlformats.org/package/2006/relationships">
<Relationship Id="rId1" Type="http://schemas.openxmlformats.org/officeDocument/2006/relationships/package" Target="../embeddings/Microsoft_Excel_Sheet301.xlsx"/>
</Relationships>
</file>

<file path=ppt/charts/_rels/chart401.xml.rels><?xml version="1.0" encoding="UTF-8" standalone="yes"?>
<Relationships xmlns="http://schemas.openxmlformats.org/package/2006/relationships">
<Relationship Id="rId1" Type="http://schemas.openxmlformats.org/officeDocument/2006/relationships/package" Target="../embeddings/Microsoft_Excel_Sheet401.xlsx"/>
</Relationships>
</file>

<file path=ppt/charts/_rels/chart501.xml.rels><?xml version="1.0" encoding="UTF-8" standalone="yes"?>
<Relationships xmlns="http://schemas.openxmlformats.org/package/2006/relationships">
<Relationship Id="rId1" Type="http://schemas.openxmlformats.org/officeDocument/2006/relationships/package" Target="../embeddings/Microsoft_Excel_Sheet501.xlsx"/>
</Relationships>
</file>

<file path=ppt/charts/_rels/chart601.xml.rels><?xml version="1.0" encoding="UTF-8" standalone="yes"?>
<Relationships xmlns="http://schemas.openxmlformats.org/package/2006/relationships">
<Relationship Id="rId1" Type="http://schemas.openxmlformats.org/officeDocument/2006/relationships/package" Target="../embeddings/Microsoft_Excel_Sheet601.xlsx"/>
</Relationships>
</file>

<file path=ppt/charts/_rels/chart701.xml.rels><?xml version="1.0" encoding="UTF-8" standalone="yes"?>
<Relationships xmlns="http://schemas.openxmlformats.org/package/2006/relationships">
<Relationship Id="rId1" Type="http://schemas.openxmlformats.org/officeDocument/2006/relationships/package" Target="../embeddings/Microsoft_Excel_Sheet701.xlsx"/>
</Relationships>
</file>

<file path=ppt/charts/chart30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chart>
    <c:autoTitleDeleted val="1"/>
    <c:plotArea>
      <c:layout>
        <c:manualLayout>
          <c:layoutTarget val="inner"/>
          <c:xMode val="edge"/>
          <c:yMode val="edge"/>
          <c:wMode val="factor"/>
          <c:hMode val="factor"/>
          <c:x val="0.0725806451613"/>
          <c:y val="0.0448430493274"/>
          <c:w val="0.900537634409"/>
          <c:h val="0.85201793722"/>
        </c:manualLayout>
      </c:layout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Corporate Stage One complaints</c:v>
                </c:pt>
              </c:strCache>
            </c:strRef>
          </c:tx>
          <c:spPr>
            <a:solidFill>
              <a:srgbClr val="1F4E79"/>
            </a:solidFill>
            <a:ln>
              <a:solidFill>
                <a:srgbClr val="1F4E79"/>
              </a:solidFill>
            </a:ln>
          </c:spPr>
          <c:invertIfNegative val="0"/>
          <c:dPt>
            <c:idx val="0"/>
            <c:invertIfNegative val="0"/>
            <c:spPr>
              <a:solidFill>
                <a:srgbClr val="A9BCD0"/>
              </a:solidFill>
              <a:ln>
                <a:solidFill>
                  <a:srgbClr val="A9BCD0"/>
                </a:solidFill>
              </a:ln>
            </c:spPr>
          </c:dPt>
          <c:dPt>
            <c:idx val="1"/>
            <c:invertIfNegative val="0"/>
            <c:spPr>
              <a:solidFill>
                <a:srgbClr val="A9BCD0"/>
              </a:solidFill>
              <a:ln>
                <a:solidFill>
                  <a:srgbClr val="A9BCD0"/>
                </a:solidFill>
              </a:ln>
            </c:spPr>
          </c:dPt>
          <c:dPt>
            <c:idx val="2"/>
            <c:invertIfNegative val="0"/>
            <c:spPr>
              <a:solidFill>
                <a:srgbClr val="A9BCD0"/>
              </a:solidFill>
              <a:ln>
                <a:solidFill>
                  <a:srgbClr val="A9BCD0"/>
                </a:solidFill>
              </a:ln>
            </c:spPr>
          </c:dPt>
          <c:dPt>
            <c:idx val="3"/>
            <c:invertIfNegative val="0"/>
            <c:spPr>
              <a:solidFill>
                <a:srgbClr val="A9BCD0"/>
              </a:solidFill>
              <a:ln>
                <a:solidFill>
                  <a:srgbClr val="A9BCD0"/>
                </a:solidFill>
              </a:ln>
            </c:spPr>
          </c:dPt>
          <c:dPt>
            <c:idx val="4"/>
            <c:invertIfNegative val="0"/>
            <c:spPr>
              <a:solidFill>
                <a:srgbClr val="1F4E79"/>
              </a:solidFill>
              <a:ln>
                <a:solidFill>
                  <a:srgbClr val="1F4E79"/>
                </a:solidFill>
              </a:ln>
            </c:spPr>
          </c:dPt>
          <c:cat>
            <c:strRef>
              <c:f>Sheet1!$A$2:$A$6</c:f>
              <c:strCache>
                <c:ptCount val="5"/>
                <c:pt idx="0">
                  <c:v>2019/20</c:v>
                </c:pt>
                <c:pt idx="1">
                  <c:v>2020/21</c:v>
                </c:pt>
                <c:pt idx="2">
                  <c:v>2021/22</c:v>
                </c:pt>
                <c:pt idx="3">
                  <c:v>2022/23</c:v>
                </c:pt>
                <c:pt idx="4">
                  <c:v>2023/24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477</c:v>
                </c:pt>
                <c:pt idx="1">
                  <c:v>424</c:v>
                </c:pt>
                <c:pt idx="2">
                  <c:v>702</c:v>
                </c:pt>
                <c:pt idx="3">
                  <c:v>601</c:v>
                </c:pt>
                <c:pt idx="4">
                  <c:v>659</c:v>
                </c:pt>
              </c:numCache>
            </c:numRef>
          </c:val>
        </c:ser>
        <c:dLbls>
          <c:txPr>
            <a:bodyPr/>
            <a:lstStyle/>
            <a:p>
              <a:pPr>
                <a:defRPr lang="en-US" sz="1200" b="1">
                  <a:solidFill>
                    <a:srgbClr val="1B2A3A"/>
                  </a:solidFill>
                  <a:latin typeface="Segoe UI"/>
                  <a:ea typeface="Microsoft YaHei"/>
                  <a:cs typeface="Segoe UI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6"/>
        <c:axId val="2068027336"/>
        <c:axId val="2113994440"/>
      </c:barChart>
      <c:catAx>
        <c:axId val="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9525" cap="flat" cmpd="sng" algn="ctr">
            <a:solidFill>
              <a:srgbClr val="8A8F96"/>
            </a:solidFill>
            <a:round/>
          </a:ln>
        </c:spPr>
        <c:txPr>
          <a:bodyPr/>
          <a:lstStyle/>
          <a:p>
            <a:pPr>
              <a:defRPr lang="en-US" sz="1200">
                <a:solidFill>
                  <a:srgbClr val="5E6873"/>
                </a:solidFill>
                <a:latin typeface="Segoe UI"/>
                <a:ea typeface="Microsoft YaHei"/>
                <a:cs typeface="Segoe UI"/>
              </a:defRPr>
            </a:pPr>
            <a:endParaRPr lang="en-US"/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>
          <c:orientation val="minMax"/>
          <c:max val="800"/>
          <c:min val="0"/>
        </c:scaling>
        <c:delete val="0"/>
        <c:axPos val="l"/>
        <c:majorGridlines>
          <c:spPr>
            <a:ln w="6350" cap="flat" cmpd="sng" algn="ctr">
              <a:solidFill>
                <a:srgbClr val="E3DED4"/>
              </a:solidFill>
              <a:round/>
            </a:ln>
          </c:spPr>
        </c:majorGridlines>
        <c:majorTickMark val="none"/>
        <c:minorTickMark val="none"/>
        <c:tickLblPos val="nextTo"/>
        <c:spPr>
          <a:ln w="9525" cap="flat" cmpd="sng" algn="ctr">
            <a:solidFill>
              <a:srgbClr val="8A8F96"/>
            </a:solidFill>
            <a:round/>
          </a:ln>
        </c:spPr>
        <c:txPr>
          <a:bodyPr/>
          <a:lstStyle/>
          <a:p>
            <a:pPr>
              <a:defRPr lang="en-US" sz="1200">
                <a:solidFill>
                  <a:srgbClr val="5E6873"/>
                </a:solidFill>
                <a:latin typeface="Segoe UI"/>
                <a:ea typeface="Microsoft YaHei"/>
                <a:cs typeface="Segoe UI"/>
              </a:defRPr>
            </a:pPr>
            <a:endParaRPr lang="en-US"/>
          </a:p>
        </c:txPr>
        <c:crossAx val="2068027336"/>
        <c:crosses val="autoZero"/>
        <c:crossBetween val="between"/>
        <c:majorUnit val="200"/>
      </c:valAx>
      <c:spPr>
        <a:noFill/>
        <a:ln>
          <a:noFill/>
        </a:ln>
      </c:spPr>
    </c:plotArea>
    <c:plotVisOnly val="1"/>
    <c:dispBlanksAs val="gap"/>
  </c:chart>
  <c:spPr>
    <a:noFill/>
    <a:ln>
      <a:noFill/>
    </a:ln>
  </c:spPr>
  <c:txPr>
    <a:bodyPr/>
    <a:lstStyle/>
    <a:p>
      <a:pPr>
        <a:defRPr lang="en-US" sz="1200">
          <a:solidFill>
            <a:srgbClr val="5E6873"/>
          </a:solidFill>
          <a:latin typeface="Segoe UI"/>
          <a:ea typeface="Microsoft YaHei"/>
          <a:cs typeface="Segoe UI"/>
        </a:defRPr>
      </a:pPr>
      <a:endParaRPr lang="en-US"/>
    </a:p>
  </c:txPr>
  <c:externalData r:id="rId1">
    <c:autoUpdate val="0"/>
  </c:externalData>
</c:chartSpace>
</file>

<file path=ppt/charts/chart40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chart>
    <c:autoTitleDeleted val="1"/>
    <c:plotArea>
      <c:layout>
        <c:manualLayout>
          <c:layoutTarget val="inner"/>
          <c:xMode val="edge"/>
          <c:yMode val="edge"/>
          <c:wMode val="factor"/>
          <c:hMode val="factor"/>
          <c:x val="0.419431279621"/>
          <c:y val="0.0217391304348"/>
          <c:w val="0.556872037915"/>
          <c:h val="0.95652173913"/>
        </c:manualLayout>
      </c:layout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Corporate complaints received 2023/24</c:v>
                </c:pt>
              </c:strCache>
            </c:strRef>
          </c:tx>
          <c:spPr>
            <a:solidFill>
              <a:srgbClr val="1F4E79"/>
            </a:solidFill>
            <a:ln>
              <a:solidFill>
                <a:srgbClr val="1F4E79"/>
              </a:solidFill>
            </a:ln>
          </c:spPr>
          <c:invertIfNegative val="0"/>
          <c:dPt>
            <c:idx val="0"/>
            <c:invertIfNegative val="0"/>
            <c:spPr>
              <a:solidFill>
                <a:srgbClr val="1F4E79"/>
              </a:solidFill>
              <a:ln>
                <a:solidFill>
                  <a:srgbClr val="1F4E79"/>
                </a:solidFill>
              </a:ln>
            </c:spPr>
          </c:dPt>
          <c:dPt>
            <c:idx val="1"/>
            <c:invertIfNegative val="0"/>
            <c:spPr>
              <a:solidFill>
                <a:srgbClr val="1F4E79"/>
              </a:solidFill>
              <a:ln>
                <a:solidFill>
                  <a:srgbClr val="1F4E79"/>
                </a:solidFill>
              </a:ln>
            </c:spPr>
          </c:dPt>
          <c:dPt>
            <c:idx val="2"/>
            <c:invertIfNegative val="0"/>
            <c:spPr>
              <a:solidFill>
                <a:srgbClr val="A9BCD0"/>
              </a:solidFill>
              <a:ln>
                <a:solidFill>
                  <a:srgbClr val="A9BCD0"/>
                </a:solidFill>
              </a:ln>
            </c:spPr>
          </c:dPt>
          <c:dPt>
            <c:idx val="3"/>
            <c:invertIfNegative val="0"/>
            <c:spPr>
              <a:solidFill>
                <a:srgbClr val="A9BCD0"/>
              </a:solidFill>
              <a:ln>
                <a:solidFill>
                  <a:srgbClr val="A9BCD0"/>
                </a:solidFill>
              </a:ln>
            </c:spPr>
          </c:dPt>
          <c:dPt>
            <c:idx val="4"/>
            <c:invertIfNegative val="0"/>
            <c:spPr>
              <a:solidFill>
                <a:srgbClr val="A9BCD0"/>
              </a:solidFill>
              <a:ln>
                <a:solidFill>
                  <a:srgbClr val="A9BCD0"/>
                </a:solidFill>
              </a:ln>
            </c:spPr>
          </c:dPt>
          <c:dPt>
            <c:idx val="5"/>
            <c:invertIfNegative val="0"/>
            <c:spPr>
              <a:solidFill>
                <a:srgbClr val="A9BCD0"/>
              </a:solidFill>
              <a:ln>
                <a:solidFill>
                  <a:srgbClr val="A9BCD0"/>
                </a:solidFill>
              </a:ln>
            </c:spPr>
          </c:dPt>
          <c:dPt>
            <c:idx val="6"/>
            <c:invertIfNegative val="0"/>
            <c:spPr>
              <a:solidFill>
                <a:srgbClr val="A9BCD0"/>
              </a:solidFill>
              <a:ln>
                <a:solidFill>
                  <a:srgbClr val="A9BCD0"/>
                </a:solidFill>
              </a:ln>
            </c:spPr>
          </c:dPt>
          <c:dPt>
            <c:idx val="7"/>
            <c:invertIfNegative val="0"/>
            <c:spPr>
              <a:solidFill>
                <a:srgbClr val="A9BCD0"/>
              </a:solidFill>
              <a:ln>
                <a:solidFill>
                  <a:srgbClr val="A9BCD0"/>
                </a:solidFill>
              </a:ln>
            </c:spPr>
          </c:dPt>
          <c:dPt>
            <c:idx val="8"/>
            <c:invertIfNegative val="0"/>
            <c:spPr>
              <a:solidFill>
                <a:srgbClr val="A9BCD0"/>
              </a:solidFill>
              <a:ln>
                <a:solidFill>
                  <a:srgbClr val="A9BCD0"/>
                </a:solidFill>
              </a:ln>
            </c:spPr>
          </c:dPt>
          <c:dPt>
            <c:idx val="9"/>
            <c:invertIfNegative val="0"/>
            <c:spPr>
              <a:solidFill>
                <a:srgbClr val="A9BCD0"/>
              </a:solidFill>
              <a:ln>
                <a:solidFill>
                  <a:srgbClr val="A9BCD0"/>
                </a:solidFill>
              </a:ln>
            </c:spPr>
          </c:dPt>
          <c:dPt>
            <c:idx val="10"/>
            <c:invertIfNegative val="0"/>
            <c:spPr>
              <a:solidFill>
                <a:srgbClr val="A9BCD0"/>
              </a:solidFill>
              <a:ln>
                <a:solidFill>
                  <a:srgbClr val="A9BCD0"/>
                </a:solidFill>
              </a:ln>
            </c:spPr>
          </c:dPt>
          <c:dPt>
            <c:idx val="11"/>
            <c:invertIfNegative val="0"/>
            <c:spPr>
              <a:solidFill>
                <a:srgbClr val="A9BCD0"/>
              </a:solidFill>
              <a:ln>
                <a:solidFill>
                  <a:srgbClr val="A9BCD0"/>
                </a:solidFill>
              </a:ln>
            </c:spPr>
          </c:dPt>
          <c:cat>
            <c:strRef>
              <c:f>Sheet1!$A$2:$A$13</c:f>
              <c:strCache>
                <c:ptCount val="12"/>
                <c:pt idx="0">
                  <c:v>Neighbourhood &amp; Enforcement Services</c:v>
                </c:pt>
                <c:pt idx="1">
                  <c:v>Communities, Customer &amp; Commercial Services</c:v>
                </c:pt>
                <c:pt idx="2">
                  <c:v>Education &amp; Skills</c:v>
                </c:pt>
                <c:pt idx="3">
                  <c:v>Children's Safeguarding &amp; Family Support</c:v>
                </c:pt>
                <c:pt idx="4">
                  <c:v>Cross Portfolio</c:v>
                </c:pt>
                <c:pt idx="5">
                  <c:v>Finance &amp; Human Resources</c:v>
                </c:pt>
                <c:pt idx="6">
                  <c:v>Prosperity &amp; Investment</c:v>
                </c:pt>
                <c:pt idx="7">
                  <c:v>Housing, Employment &amp; Infrastructure</c:v>
                </c:pt>
                <c:pt idx="8">
                  <c:v>Adult Social Care</c:v>
                </c:pt>
                <c:pt idx="9">
                  <c:v>Policy &amp; Governance</c:v>
                </c:pt>
                <c:pt idx="10">
                  <c:v>Health &amp; Wellbeing</c:v>
                </c:pt>
                <c:pt idx="11">
                  <c:v>Corporate Communication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241</c:v>
                </c:pt>
                <c:pt idx="1">
                  <c:v>131</c:v>
                </c:pt>
                <c:pt idx="2">
                  <c:v>56</c:v>
                </c:pt>
                <c:pt idx="3">
                  <c:v>46</c:v>
                </c:pt>
                <c:pt idx="4">
                  <c:v>46</c:v>
                </c:pt>
                <c:pt idx="5">
                  <c:v>39</c:v>
                </c:pt>
                <c:pt idx="6">
                  <c:v>38</c:v>
                </c:pt>
                <c:pt idx="7">
                  <c:v>36</c:v>
                </c:pt>
                <c:pt idx="8">
                  <c:v>10</c:v>
                </c:pt>
                <c:pt idx="9">
                  <c:v>8</c:v>
                </c:pt>
                <c:pt idx="10">
                  <c:v>5</c:v>
                </c:pt>
                <c:pt idx="11">
                  <c:v>3</c:v>
                </c:pt>
              </c:numCache>
            </c:numRef>
          </c:val>
        </c:ser>
        <c:dLbls>
          <c:txPr>
            <a:bodyPr/>
            <a:lstStyle/>
            <a:p>
              <a:pPr>
                <a:defRPr lang="en-US" sz="1050" b="1">
                  <a:solidFill>
                    <a:srgbClr val="1B2A3A"/>
                  </a:solidFill>
                  <a:latin typeface="Segoe UI"/>
                  <a:ea typeface="Microsoft YaHei"/>
                  <a:cs typeface="Segoe UI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7"/>
        <c:axId val="2068027336"/>
        <c:axId val="2113994440"/>
      </c:barChart>
      <c:catAx>
        <c:axId val="2068027336"/>
        <c:scaling>
          <c:orientation val="maxMin"/>
        </c:scaling>
        <c:delete val="0"/>
        <c:axPos val="l"/>
        <c:majorTickMark val="none"/>
        <c:minorTickMark val="none"/>
        <c:tickLblPos val="nextTo"/>
        <c:spPr>
          <a:ln w="9525" cap="flat" cmpd="sng" algn="ctr">
            <a:solidFill>
              <a:srgbClr val="8A8F96"/>
            </a:solidFill>
            <a:round/>
          </a:ln>
        </c:spPr>
        <c:txPr>
          <a:bodyPr/>
          <a:lstStyle/>
          <a:p>
            <a:pPr>
              <a:defRPr lang="en-US" sz="1050">
                <a:solidFill>
                  <a:srgbClr val="3A4654"/>
                </a:solidFill>
                <a:latin typeface="Segoe UI"/>
                <a:ea typeface="Microsoft YaHei"/>
                <a:cs typeface="Segoe UI"/>
              </a:defRPr>
            </a:pPr>
            <a:endParaRPr lang="en-US"/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>
          <c:orientation val="minMax"/>
          <c:max val="250"/>
          <c:min val="0"/>
        </c:scaling>
        <c:delete val="1"/>
        <c:axPos val="b"/>
        <c:majorTickMark val="none"/>
        <c:minorTickMark val="none"/>
        <c:tickLblPos val="nextTo"/>
        <c:spPr>
          <a:ln w="9525" cap="flat" cmpd="sng" algn="ctr">
            <a:solidFill>
              <a:srgbClr val="8A8F96"/>
            </a:solidFill>
            <a:round/>
          </a:ln>
        </c:spPr>
        <c:txPr>
          <a:bodyPr/>
          <a:lstStyle/>
          <a:p>
            <a:pPr>
              <a:defRPr lang="en-US" sz="1050">
                <a:solidFill>
                  <a:srgbClr val="3A4654"/>
                </a:solidFill>
                <a:latin typeface="Segoe UI"/>
                <a:ea typeface="Microsoft YaHei"/>
                <a:cs typeface="Segoe UI"/>
              </a:defRPr>
            </a:pPr>
            <a:endParaRPr lang="en-US"/>
          </a:p>
        </c:txPr>
        <c:crossAx val="2068027336"/>
        <c:crosses val="max"/>
        <c:crossBetween val="between"/>
      </c:valAx>
      <c:spPr>
        <a:noFill/>
        <a:ln>
          <a:noFill/>
        </a:ln>
      </c:spPr>
    </c:plotArea>
    <c:plotVisOnly val="1"/>
    <c:dispBlanksAs val="gap"/>
  </c:chart>
  <c:spPr>
    <a:noFill/>
    <a:ln>
      <a:noFill/>
    </a:ln>
  </c:spPr>
  <c:txPr>
    <a:bodyPr/>
    <a:lstStyle/>
    <a:p>
      <a:pPr>
        <a:defRPr lang="en-US" sz="1050">
          <a:solidFill>
            <a:srgbClr val="3A4654"/>
          </a:solidFill>
          <a:latin typeface="Segoe UI"/>
          <a:ea typeface="Microsoft YaHei"/>
          <a:cs typeface="Segoe UI"/>
        </a:defRPr>
      </a:pPr>
      <a:endParaRPr lang="en-US"/>
    </a:p>
  </c:txPr>
  <c:externalData r:id="rId1">
    <c:autoUpdate val="0"/>
  </c:externalData>
</c:chartSpace>
</file>

<file path=ppt/charts/chart50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chart>
    <c:autoTitleDeleted val="1"/>
    <c:plotArea>
      <c:layout>
        <c:manualLayout>
          <c:layoutTarget val="inner"/>
          <c:xMode val="edge"/>
          <c:yMode val="edge"/>
          <c:wMode val="factor"/>
          <c:hMode val="factor"/>
          <c:x val="0.344387755102"/>
          <c:y val="0.0990990990991"/>
          <c:w val="0.599489795918"/>
          <c:h val="0.855855855856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2022/23</c:v>
                </c:pt>
              </c:strCache>
            </c:strRef>
          </c:tx>
          <c:spPr>
            <a:solidFill>
              <a:srgbClr val="A9BCD0"/>
            </a:solidFill>
            <a:ln>
              <a:solidFill>
                <a:srgbClr val="A9BCD0"/>
              </a:solidFill>
            </a:ln>
          </c:spPr>
          <c:invertIfNegative val="0"/>
          <c:cat>
            <c:strRef>
              <c:f>Sheet1!$A$2:$A$5</c:f>
              <c:strCache>
                <c:ptCount val="4"/>
                <c:pt idx="0">
                  <c:v>Communication</c:v>
                </c:pt>
                <c:pt idx="1">
                  <c:v>Lack of action</c:v>
                </c:pt>
                <c:pt idx="2">
                  <c:v>Complaints involving staff</c:v>
                </c:pt>
                <c:pt idx="3">
                  <c:v>Delay (processing &amp; response)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38</c:v>
                </c:pt>
                <c:pt idx="1">
                  <c:v>20</c:v>
                </c:pt>
                <c:pt idx="2">
                  <c:v>14</c:v>
                </c:pt>
                <c:pt idx="3">
                  <c:v>24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2023/24</c:v>
                </c:pt>
              </c:strCache>
            </c:strRef>
          </c:tx>
          <c:spPr>
            <a:solidFill>
              <a:srgbClr val="1F4E79"/>
            </a:solidFill>
            <a:ln>
              <a:solidFill>
                <a:srgbClr val="1F4E79"/>
              </a:solidFill>
            </a:ln>
          </c:spPr>
          <c:invertIfNegative val="0"/>
          <c:cat>
            <c:strRef>
              <c:f>Sheet1!$A$2:$A$5</c:f>
              <c:strCache>
                <c:ptCount val="4"/>
                <c:pt idx="0">
                  <c:v>Communication</c:v>
                </c:pt>
                <c:pt idx="1">
                  <c:v>Lack of action</c:v>
                </c:pt>
                <c:pt idx="2">
                  <c:v>Complaints involving staff</c:v>
                </c:pt>
                <c:pt idx="3">
                  <c:v>Delay (processing &amp; response)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23</c:v>
                </c:pt>
                <c:pt idx="1">
                  <c:v>12</c:v>
                </c:pt>
                <c:pt idx="2">
                  <c:v>11</c:v>
                </c:pt>
                <c:pt idx="3">
                  <c:v>9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lang="en-US" sz="1200" b="1">
                  <a:solidFill>
                    <a:srgbClr val="1B2A3A"/>
                  </a:solidFill>
                  <a:latin typeface="Segoe UI"/>
                  <a:ea typeface="Microsoft YaHei"/>
                  <a:cs typeface="Segoe UI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6"/>
        <c:overlap val="-21"/>
        <c:axId val="2068027336"/>
        <c:axId val="2113994440"/>
      </c:barChart>
      <c:catAx>
        <c:axId val="2068027336"/>
        <c:scaling>
          <c:orientation val="maxMin"/>
        </c:scaling>
        <c:delete val="0"/>
        <c:axPos val="l"/>
        <c:majorTickMark val="none"/>
        <c:minorTickMark val="none"/>
        <c:tickLblPos val="nextTo"/>
        <c:spPr>
          <a:ln w="9525" cap="flat" cmpd="sng" algn="ctr">
            <a:solidFill>
              <a:srgbClr val="8A8F96"/>
            </a:solidFill>
            <a:round/>
          </a:ln>
        </c:spPr>
        <c:txPr>
          <a:bodyPr/>
          <a:lstStyle/>
          <a:p>
            <a:pPr>
              <a:defRPr lang="en-US" sz="1200">
                <a:solidFill>
                  <a:srgbClr val="1B2A3A"/>
                </a:solidFill>
                <a:latin typeface="Segoe UI"/>
                <a:ea typeface="Microsoft YaHei"/>
                <a:cs typeface="Segoe UI"/>
              </a:defRPr>
            </a:pPr>
            <a:endParaRPr lang="en-US"/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>
          <c:orientation val="minMax"/>
          <c:max val="40"/>
          <c:min val="0"/>
        </c:scaling>
        <c:delete val="1"/>
        <c:axPos val="b"/>
        <c:majorTickMark val="none"/>
        <c:minorTickMark val="none"/>
        <c:tickLblPos val="nextTo"/>
        <c:spPr>
          <a:ln w="9525" cap="flat" cmpd="sng" algn="ctr">
            <a:solidFill>
              <a:srgbClr val="8A8F96"/>
            </a:solidFill>
            <a:round/>
          </a:ln>
        </c:spPr>
        <c:txPr>
          <a:bodyPr/>
          <a:lstStyle/>
          <a:p>
            <a:pPr>
              <a:defRPr lang="en-US" sz="1200">
                <a:solidFill>
                  <a:srgbClr val="1B2A3A"/>
                </a:solidFill>
                <a:latin typeface="Segoe UI"/>
                <a:ea typeface="Microsoft YaHei"/>
                <a:cs typeface="Segoe UI"/>
              </a:defRPr>
            </a:pPr>
            <a:endParaRPr lang="en-US"/>
          </a:p>
        </c:txPr>
        <c:crossAx val="2068027336"/>
        <c:crosses val="max"/>
        <c:crossBetween val="between"/>
      </c:valAx>
      <c:spPr>
        <a:noFill/>
        <a:ln>
          <a:noFill/>
        </a:ln>
      </c:spPr>
    </c:plotArea>
    <c:legend>
      <c:legendPos val="t"/>
      <c:layout/>
      <c:overlay val="0"/>
      <c:txPr>
        <a:bodyPr/>
        <a:lstStyle/>
        <a:p>
          <a:pPr>
            <a:defRPr lang="en-US" sz="1200">
              <a:solidFill>
                <a:srgbClr val="1B2A3A"/>
              </a:solidFill>
              <a:latin typeface="Segoe UI"/>
              <a:ea typeface="Microsoft YaHei"/>
              <a:cs typeface="Segoe UI"/>
            </a:defRPr>
          </a:pPr>
          <a:endParaRPr lang="en-US"/>
        </a:p>
      </c:txPr>
    </c:legend>
    <c:plotVisOnly val="1"/>
    <c:dispBlanksAs val="gap"/>
  </c:chart>
  <c:spPr>
    <a:noFill/>
    <a:ln>
      <a:noFill/>
    </a:ln>
  </c:spPr>
  <c:txPr>
    <a:bodyPr/>
    <a:lstStyle/>
    <a:p>
      <a:pPr>
        <a:defRPr lang="en-US" sz="1200">
          <a:solidFill>
            <a:srgbClr val="1B2A3A"/>
          </a:solidFill>
          <a:latin typeface="Segoe UI"/>
          <a:ea typeface="Microsoft YaHei"/>
          <a:cs typeface="Segoe UI"/>
        </a:defRPr>
      </a:pPr>
      <a:endParaRPr lang="en-US"/>
    </a:p>
  </c:txPr>
  <c:externalData r:id="rId1">
    <c:autoUpdate val="0"/>
  </c:externalData>
</c:chartSpace>
</file>

<file path=ppt/charts/chart60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chart>
    <c:autoTitleDeleted val="1"/>
    <c:plotArea>
      <c:layout>
        <c:manualLayout>
          <c:layoutTarget val="inner"/>
          <c:xMode val="edge"/>
          <c:yMode val="edge"/>
          <c:wMode val="factor"/>
          <c:hMode val="factor"/>
          <c:x val="0.44080604534"/>
          <c:y val="0.0826086956522"/>
          <c:w val="0.528967254408"/>
          <c:h val="0.904347826087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Upheld</c:v>
                </c:pt>
              </c:strCache>
            </c:strRef>
          </c:tx>
          <c:spPr>
            <a:solidFill>
              <a:srgbClr val="1F4E79"/>
            </a:solidFill>
            <a:ln>
              <a:solidFill>
                <a:srgbClr val="1F4E79"/>
              </a:solidFill>
            </a:ln>
          </c:spPr>
          <c:invertIfNegative val="0"/>
          <c:dLbls>
            <c:dLbl>
              <c:idx val="7"/>
              <c:delete val="1"/>
            </c:dLbl>
            <c:dLbl>
              <c:idx val="8"/>
              <c:delete val="1"/>
            </c:dLbl>
            <c:dLbl>
              <c:idx val="9"/>
              <c:delete val="1"/>
            </c:dLbl>
            <c:dLbl>
              <c:idx val="10"/>
              <c:delete val="1"/>
            </c:dLbl>
            <c:dLbl>
              <c:idx val="11"/>
              <c:delete val="1"/>
            </c:dLbl>
            <c:txPr>
              <a:bodyPr/>
              <a:lstStyle/>
              <a:p>
                <a:pPr>
                  <a:defRPr lang="en-US" sz="1050" b="1">
                    <a:solidFill>
                      <a:srgbClr val="FFFFFF"/>
                    </a:solidFill>
                    <a:latin typeface="Segoe UI"/>
                    <a:ea typeface="Microsoft YaHei"/>
                    <a:cs typeface="Segoe UI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Sheet1!$A$2:$A$13</c:f>
              <c:strCache>
                <c:ptCount val="12"/>
                <c:pt idx="0">
                  <c:v>Neighbourhood &amp; Enforcement Services</c:v>
                </c:pt>
                <c:pt idx="1">
                  <c:v>Communities, Customer &amp; Commercial Services</c:v>
                </c:pt>
                <c:pt idx="2">
                  <c:v>Education &amp; Skills</c:v>
                </c:pt>
                <c:pt idx="3">
                  <c:v>Children's Safeguarding &amp; Family Support</c:v>
                </c:pt>
                <c:pt idx="4">
                  <c:v>Cross Portfolio</c:v>
                </c:pt>
                <c:pt idx="5">
                  <c:v>Finance &amp; Human Resources</c:v>
                </c:pt>
                <c:pt idx="6">
                  <c:v>Prosperity &amp; Investment</c:v>
                </c:pt>
                <c:pt idx="7">
                  <c:v>Housing, Employment &amp; Infrastructure</c:v>
                </c:pt>
                <c:pt idx="8">
                  <c:v>Adult Social Care</c:v>
                </c:pt>
                <c:pt idx="9">
                  <c:v>Policy &amp; Governance</c:v>
                </c:pt>
                <c:pt idx="10">
                  <c:v>Health &amp; Wellbeing</c:v>
                </c:pt>
                <c:pt idx="11">
                  <c:v>Corporate Communications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97</c:v>
                </c:pt>
                <c:pt idx="1">
                  <c:v>64</c:v>
                </c:pt>
                <c:pt idx="2">
                  <c:v>22</c:v>
                </c:pt>
                <c:pt idx="3">
                  <c:v>19</c:v>
                </c:pt>
                <c:pt idx="4">
                  <c:v>26</c:v>
                </c:pt>
                <c:pt idx="5">
                  <c:v>14</c:v>
                </c:pt>
                <c:pt idx="6">
                  <c:v>12</c:v>
                </c:pt>
                <c:pt idx="7">
                  <c:v>6</c:v>
                </c:pt>
                <c:pt idx="8">
                  <c:v>5</c:v>
                </c:pt>
                <c:pt idx="9">
                  <c:v>5</c:v>
                </c:pt>
                <c:pt idx="10">
                  <c:v>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Not upheld</c:v>
                </c:pt>
              </c:strCache>
            </c:strRef>
          </c:tx>
          <c:spPr>
            <a:solidFill>
              <a:srgbClr val="A9BCD0"/>
            </a:solidFill>
            <a:ln>
              <a:solidFill>
                <a:srgbClr val="A9BCD0"/>
              </a:solidFill>
            </a:ln>
          </c:spPr>
          <c:invertIfNegative val="0"/>
          <c:cat>
            <c:strRef>
              <c:f>Sheet1!$A$2:$A$13</c:f>
              <c:strCache>
                <c:ptCount val="12"/>
                <c:pt idx="0">
                  <c:v>Neighbourhood &amp; Enforcement Services</c:v>
                </c:pt>
                <c:pt idx="1">
                  <c:v>Communities, Customer &amp; Commercial Services</c:v>
                </c:pt>
                <c:pt idx="2">
                  <c:v>Education &amp; Skills</c:v>
                </c:pt>
                <c:pt idx="3">
                  <c:v>Children's Safeguarding &amp; Family Support</c:v>
                </c:pt>
                <c:pt idx="4">
                  <c:v>Cross Portfolio</c:v>
                </c:pt>
                <c:pt idx="5">
                  <c:v>Finance &amp; Human Resources</c:v>
                </c:pt>
                <c:pt idx="6">
                  <c:v>Prosperity &amp; Investment</c:v>
                </c:pt>
                <c:pt idx="7">
                  <c:v>Housing, Employment &amp; Infrastructure</c:v>
                </c:pt>
                <c:pt idx="8">
                  <c:v>Adult Social Care</c:v>
                </c:pt>
                <c:pt idx="9">
                  <c:v>Policy &amp; Governance</c:v>
                </c:pt>
                <c:pt idx="10">
                  <c:v>Health &amp; Wellbeing</c:v>
                </c:pt>
                <c:pt idx="11">
                  <c:v>Corporate Communications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119</c:v>
                </c:pt>
                <c:pt idx="1">
                  <c:v>55</c:v>
                </c:pt>
                <c:pt idx="2">
                  <c:v>29</c:v>
                </c:pt>
                <c:pt idx="3">
                  <c:v>25</c:v>
                </c:pt>
                <c:pt idx="4">
                  <c:v>16</c:v>
                </c:pt>
                <c:pt idx="5">
                  <c:v>23</c:v>
                </c:pt>
                <c:pt idx="6">
                  <c:v>26</c:v>
                </c:pt>
                <c:pt idx="7">
                  <c:v>27</c:v>
                </c:pt>
                <c:pt idx="8">
                  <c:v>4</c:v>
                </c:pt>
                <c:pt idx="9">
                  <c:v>3</c:v>
                </c:pt>
                <c:pt idx="10">
                  <c:v>3</c:v>
                </c:pt>
                <c:pt idx="11">
                  <c:v>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Other</c:v>
                </c:pt>
              </c:strCache>
            </c:strRef>
          </c:tx>
          <c:spPr>
            <a:solidFill>
              <a:srgbClr val="D9D4CA"/>
            </a:solidFill>
            <a:ln>
              <a:solidFill>
                <a:srgbClr val="D9D4CA"/>
              </a:solidFill>
            </a:ln>
          </c:spPr>
          <c:invertIfNegative val="0"/>
          <c:cat>
            <c:strRef>
              <c:f>Sheet1!$A$2:$A$13</c:f>
              <c:strCache>
                <c:ptCount val="12"/>
                <c:pt idx="0">
                  <c:v>Neighbourhood &amp; Enforcement Services</c:v>
                </c:pt>
                <c:pt idx="1">
                  <c:v>Communities, Customer &amp; Commercial Services</c:v>
                </c:pt>
                <c:pt idx="2">
                  <c:v>Education &amp; Skills</c:v>
                </c:pt>
                <c:pt idx="3">
                  <c:v>Children's Safeguarding &amp; Family Support</c:v>
                </c:pt>
                <c:pt idx="4">
                  <c:v>Cross Portfolio</c:v>
                </c:pt>
                <c:pt idx="5">
                  <c:v>Finance &amp; Human Resources</c:v>
                </c:pt>
                <c:pt idx="6">
                  <c:v>Prosperity &amp; Investment</c:v>
                </c:pt>
                <c:pt idx="7">
                  <c:v>Housing, Employment &amp; Infrastructure</c:v>
                </c:pt>
                <c:pt idx="8">
                  <c:v>Adult Social Care</c:v>
                </c:pt>
                <c:pt idx="9">
                  <c:v>Policy &amp; Governance</c:v>
                </c:pt>
                <c:pt idx="10">
                  <c:v>Health &amp; Wellbeing</c:v>
                </c:pt>
                <c:pt idx="11">
                  <c:v>Corporate Communications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21</c:v>
                </c:pt>
                <c:pt idx="1">
                  <c:v>8</c:v>
                </c:pt>
                <c:pt idx="2">
                  <c:v>2</c:v>
                </c:pt>
                <c:pt idx="3">
                  <c:v>3</c:v>
                </c:pt>
                <c:pt idx="4">
                  <c:v>3</c:v>
                </c:pt>
                <c:pt idx="5">
                  <c:v>2</c:v>
                </c:pt>
                <c:pt idx="6">
                  <c:v>1</c:v>
                </c:pt>
                <c:pt idx="7">
                  <c:v>2</c:v>
                </c:pt>
                <c:pt idx="10">
                  <c:v>1</c:v>
                </c:pt>
                <c:pt idx="11">
                  <c:v>1</c:v>
                </c:pt>
              </c:numCache>
            </c:numRef>
          </c:val>
        </c:ser>
        <c:gapWidth val="58"/>
        <c:overlap val="100"/>
        <c:axId val="2068027336"/>
        <c:axId val="2113994440"/>
      </c:barChart>
      <c:catAx>
        <c:axId val="2068027336"/>
        <c:scaling>
          <c:orientation val="maxMin"/>
        </c:scaling>
        <c:delete val="0"/>
        <c:axPos val="l"/>
        <c:majorTickMark val="none"/>
        <c:minorTickMark val="none"/>
        <c:tickLblPos val="nextTo"/>
        <c:spPr>
          <a:ln w="9525" cap="flat" cmpd="sng" algn="ctr">
            <a:solidFill>
              <a:srgbClr val="8A8F96"/>
            </a:solidFill>
            <a:round/>
          </a:ln>
        </c:spPr>
        <c:txPr>
          <a:bodyPr/>
          <a:lstStyle/>
          <a:p>
            <a:pPr>
              <a:defRPr lang="en-US" sz="1050">
                <a:solidFill>
                  <a:srgbClr val="3A4654"/>
                </a:solidFill>
                <a:latin typeface="Segoe UI"/>
                <a:ea typeface="Microsoft YaHei"/>
                <a:cs typeface="Segoe UI"/>
              </a:defRPr>
            </a:pPr>
            <a:endParaRPr lang="en-US"/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>
          <c:orientation val="minMax"/>
          <c:max val="250"/>
          <c:min val="0"/>
        </c:scaling>
        <c:delete val="1"/>
        <c:axPos val="b"/>
        <c:majorTickMark val="none"/>
        <c:minorTickMark val="none"/>
        <c:tickLblPos val="nextTo"/>
        <c:spPr>
          <a:ln w="9525" cap="flat" cmpd="sng" algn="ctr">
            <a:solidFill>
              <a:srgbClr val="8A8F96"/>
            </a:solidFill>
            <a:round/>
          </a:ln>
        </c:spPr>
        <c:txPr>
          <a:bodyPr/>
          <a:lstStyle/>
          <a:p>
            <a:pPr>
              <a:defRPr lang="en-US" sz="1050">
                <a:solidFill>
                  <a:srgbClr val="3A4654"/>
                </a:solidFill>
                <a:latin typeface="Segoe UI"/>
                <a:ea typeface="Microsoft YaHei"/>
                <a:cs typeface="Segoe UI"/>
              </a:defRPr>
            </a:pPr>
            <a:endParaRPr lang="en-US"/>
          </a:p>
        </c:txPr>
        <c:crossAx val="2068027336"/>
        <c:crosses val="max"/>
        <c:crossBetween val="between"/>
      </c:valAx>
      <c:spPr>
        <a:noFill/>
        <a:ln>
          <a:noFill/>
        </a:ln>
      </c:spPr>
    </c:plotArea>
    <c:legend>
      <c:legendPos val="t"/>
      <c:layout/>
      <c:overlay val="0"/>
      <c:txPr>
        <a:bodyPr/>
        <a:lstStyle/>
        <a:p>
          <a:pPr>
            <a:defRPr lang="en-US" sz="1050">
              <a:solidFill>
                <a:srgbClr val="3A4654"/>
              </a:solidFill>
              <a:latin typeface="Segoe UI"/>
              <a:ea typeface="Microsoft YaHei"/>
              <a:cs typeface="Segoe UI"/>
            </a:defRPr>
          </a:pPr>
          <a:endParaRPr lang="en-US"/>
        </a:p>
      </c:txPr>
    </c:legend>
    <c:plotVisOnly val="1"/>
    <c:dispBlanksAs val="gap"/>
  </c:chart>
  <c:spPr>
    <a:noFill/>
    <a:ln>
      <a:noFill/>
    </a:ln>
  </c:spPr>
  <c:txPr>
    <a:bodyPr/>
    <a:lstStyle/>
    <a:p>
      <a:pPr>
        <a:defRPr lang="en-US" sz="1050">
          <a:solidFill>
            <a:srgbClr val="3A4654"/>
          </a:solidFill>
          <a:latin typeface="Segoe UI"/>
          <a:ea typeface="Microsoft YaHei"/>
          <a:cs typeface="Segoe UI"/>
        </a:defRPr>
      </a:pPr>
      <a:endParaRPr lang="en-US"/>
    </a:p>
  </c:txPr>
  <c:externalData r:id="rId1">
    <c:autoUpdate val="0"/>
  </c:externalData>
</c:chartSpace>
</file>

<file path=ppt/charts/chart70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chart>
    <c:autoTitleDeleted val="1"/>
    <c:plotArea>
      <c:layout>
        <c:manualLayout>
          <c:layoutTarget val="inner"/>
          <c:xMode val="edge"/>
          <c:yMode val="edge"/>
          <c:wMode val="factor"/>
          <c:hMode val="factor"/>
          <c:x val="0.342359767892"/>
          <c:y val="0.042735042735"/>
          <c:w val="0.580270793037"/>
          <c:h val="0.897435897436"/>
        </c:manualLayout>
      </c:layout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Responded to within 15 working days</c:v>
                </c:pt>
              </c:strCache>
            </c:strRef>
          </c:tx>
          <c:spPr>
            <a:solidFill>
              <a:srgbClr val="1F4E79"/>
            </a:solidFill>
            <a:ln>
              <a:solidFill>
                <a:srgbClr val="1F4E79"/>
              </a:solidFill>
            </a:ln>
          </c:spPr>
          <c:invertIfNegative val="0"/>
          <c:dPt>
            <c:idx val="0"/>
            <c:invertIfNegative val="0"/>
            <c:spPr>
              <a:solidFill>
                <a:srgbClr val="1F4E79"/>
              </a:solidFill>
              <a:ln>
                <a:solidFill>
                  <a:srgbClr val="1F4E79"/>
                </a:solidFill>
              </a:ln>
            </c:spPr>
          </c:dPt>
          <c:dPt>
            <c:idx val="1"/>
            <c:invertIfNegative val="0"/>
            <c:spPr>
              <a:solidFill>
                <a:srgbClr val="1F4E79"/>
              </a:solidFill>
              <a:ln>
                <a:solidFill>
                  <a:srgbClr val="1F4E79"/>
                </a:solidFill>
              </a:ln>
            </c:spPr>
          </c:dPt>
          <c:dPt>
            <c:idx val="2"/>
            <c:invertIfNegative val="0"/>
            <c:spPr>
              <a:solidFill>
                <a:srgbClr val="1F4E79"/>
              </a:solidFill>
              <a:ln>
                <a:solidFill>
                  <a:srgbClr val="1F4E79"/>
                </a:solidFill>
              </a:ln>
            </c:spPr>
          </c:dPt>
          <c:dPt>
            <c:idx val="3"/>
            <c:invertIfNegative val="0"/>
            <c:spPr>
              <a:solidFill>
                <a:srgbClr val="1F4E79"/>
              </a:solidFill>
              <a:ln>
                <a:solidFill>
                  <a:srgbClr val="1F4E79"/>
                </a:solidFill>
              </a:ln>
            </c:spPr>
          </c:dPt>
          <c:dPt>
            <c:idx val="4"/>
            <c:invertIfNegative val="0"/>
            <c:spPr>
              <a:solidFill>
                <a:srgbClr val="1F4E79"/>
              </a:solidFill>
              <a:ln>
                <a:solidFill>
                  <a:srgbClr val="1F4E79"/>
                </a:solidFill>
              </a:ln>
            </c:spPr>
          </c:dPt>
          <c:dPt>
            <c:idx val="5"/>
            <c:invertIfNegative val="0"/>
            <c:spPr>
              <a:solidFill>
                <a:srgbClr val="A9BCD0"/>
              </a:solidFill>
              <a:ln>
                <a:solidFill>
                  <a:srgbClr val="A9BCD0"/>
                </a:solidFill>
              </a:ln>
            </c:spPr>
          </c:dPt>
          <c:dPt>
            <c:idx val="6"/>
            <c:invertIfNegative val="0"/>
            <c:spPr>
              <a:solidFill>
                <a:srgbClr val="A9BCD0"/>
              </a:solidFill>
              <a:ln>
                <a:solidFill>
                  <a:srgbClr val="A9BCD0"/>
                </a:solidFill>
              </a:ln>
            </c:spPr>
          </c:dPt>
          <c:dPt>
            <c:idx val="7"/>
            <c:invertIfNegative val="0"/>
            <c:spPr>
              <a:solidFill>
                <a:srgbClr val="A9BCD0"/>
              </a:solidFill>
              <a:ln>
                <a:solidFill>
                  <a:srgbClr val="A9BCD0"/>
                </a:solidFill>
              </a:ln>
            </c:spPr>
          </c:dPt>
          <c:dPt>
            <c:idx val="8"/>
            <c:invertIfNegative val="0"/>
            <c:spPr>
              <a:solidFill>
                <a:srgbClr val="A9BCD0"/>
              </a:solidFill>
              <a:ln>
                <a:solidFill>
                  <a:srgbClr val="A9BCD0"/>
                </a:solidFill>
              </a:ln>
            </c:spPr>
          </c:dPt>
          <c:dPt>
            <c:idx val="9"/>
            <c:invertIfNegative val="0"/>
            <c:spPr>
              <a:solidFill>
                <a:srgbClr val="A9BCD0"/>
              </a:solidFill>
              <a:ln>
                <a:solidFill>
                  <a:srgbClr val="A9BCD0"/>
                </a:solidFill>
              </a:ln>
            </c:spPr>
          </c:dPt>
          <c:dPt>
            <c:idx val="10"/>
            <c:invertIfNegative val="0"/>
            <c:spPr>
              <a:solidFill>
                <a:srgbClr val="A9BCD0"/>
              </a:solidFill>
              <a:ln>
                <a:solidFill>
                  <a:srgbClr val="A9BCD0"/>
                </a:solidFill>
              </a:ln>
            </c:spPr>
          </c:dPt>
          <c:dPt>
            <c:idx val="11"/>
            <c:invertIfNegative val="0"/>
            <c:spPr>
              <a:solidFill>
                <a:srgbClr val="A9BCD0"/>
              </a:solidFill>
              <a:ln>
                <a:solidFill>
                  <a:srgbClr val="A9BCD0"/>
                </a:solidFill>
              </a:ln>
            </c:spPr>
          </c:dPt>
          <c:cat>
            <c:strRef>
              <c:f>Sheet1!$A$2:$A$13</c:f>
              <c:strCache>
                <c:ptCount val="12"/>
                <c:pt idx="0">
                  <c:v>Health &amp; Wellbeing</c:v>
                </c:pt>
                <c:pt idx="1">
                  <c:v>Finance &amp; Human Resources</c:v>
                </c:pt>
                <c:pt idx="2">
                  <c:v>Communities, Customer &amp; Commercial Services</c:v>
                </c:pt>
                <c:pt idx="3">
                  <c:v>Neighbourhood &amp; Enforcement Services</c:v>
                </c:pt>
                <c:pt idx="4">
                  <c:v>Housing, Employment &amp; Infrastructure</c:v>
                </c:pt>
                <c:pt idx="5">
                  <c:v>Cross Portfolio</c:v>
                </c:pt>
                <c:pt idx="6">
                  <c:v>Prosperity &amp; Investment</c:v>
                </c:pt>
                <c:pt idx="7">
                  <c:v>Adult Social Care</c:v>
                </c:pt>
                <c:pt idx="8">
                  <c:v>Policy &amp; Governance</c:v>
                </c:pt>
                <c:pt idx="9">
                  <c:v>Corporate Communications</c:v>
                </c:pt>
                <c:pt idx="10">
                  <c:v>Education &amp; Skills</c:v>
                </c:pt>
                <c:pt idx="11">
                  <c:v>Children's Safeguarding &amp; Family Support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100</c:v>
                </c:pt>
                <c:pt idx="1">
                  <c:v>95</c:v>
                </c:pt>
                <c:pt idx="2">
                  <c:v>94</c:v>
                </c:pt>
                <c:pt idx="3">
                  <c:v>94</c:v>
                </c:pt>
                <c:pt idx="4">
                  <c:v>91</c:v>
                </c:pt>
                <c:pt idx="5">
                  <c:v>87</c:v>
                </c:pt>
                <c:pt idx="6">
                  <c:v>87</c:v>
                </c:pt>
                <c:pt idx="7">
                  <c:v>78</c:v>
                </c:pt>
                <c:pt idx="8">
                  <c:v>78</c:v>
                </c:pt>
                <c:pt idx="9">
                  <c:v>67</c:v>
                </c:pt>
                <c:pt idx="10">
                  <c:v>60</c:v>
                </c:pt>
                <c:pt idx="11">
                  <c:v>53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lang="en-US" sz="1050" b="1">
                  <a:solidFill>
                    <a:srgbClr val="1B2A3A"/>
                  </a:solidFill>
                  <a:latin typeface="Segoe UI"/>
                  <a:ea typeface="Microsoft YaHei"/>
                  <a:cs typeface="Segoe UI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9"/>
        <c:axId val="2068027336"/>
        <c:axId val="2113994440"/>
      </c:barChart>
      <c:catAx>
        <c:axId val="2068027336"/>
        <c:scaling>
          <c:orientation val="maxMin"/>
        </c:scaling>
        <c:delete val="0"/>
        <c:axPos val="l"/>
        <c:majorTickMark val="none"/>
        <c:minorTickMark val="none"/>
        <c:tickLblPos val="nextTo"/>
        <c:spPr>
          <a:ln w="9525" cap="flat" cmpd="sng" algn="ctr">
            <a:solidFill>
              <a:srgbClr val="8A8F96"/>
            </a:solidFill>
            <a:round/>
          </a:ln>
        </c:spPr>
        <c:txPr>
          <a:bodyPr/>
          <a:lstStyle/>
          <a:p>
            <a:pPr>
              <a:defRPr lang="en-US" sz="1050">
                <a:solidFill>
                  <a:srgbClr val="3A4654"/>
                </a:solidFill>
                <a:latin typeface="Segoe UI"/>
                <a:ea typeface="Microsoft YaHei"/>
                <a:cs typeface="Segoe UI"/>
              </a:defRPr>
            </a:pPr>
            <a:endParaRPr lang="en-US"/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>
          <c:orientation val="minMax"/>
          <c:max val="100"/>
          <c:min val="0"/>
        </c:scaling>
        <c:delete val="0"/>
        <c:axPos val="b"/>
        <c:majorGridlines>
          <c:spPr>
            <a:ln w="6350" cap="flat" cmpd="sng" algn="ctr">
              <a:solidFill>
                <a:srgbClr val="B83B26"/>
              </a:solidFill>
              <a:round/>
            </a:ln>
          </c:spPr>
        </c:majorGridlines>
        <c:numFmt formatCode="0&quot;%&quot;" sourceLinked="0"/>
        <c:majorTickMark val="none"/>
        <c:minorTickMark val="none"/>
        <c:tickLblPos val="nextTo"/>
        <c:spPr>
          <a:ln w="9525" cap="flat" cmpd="sng" algn="ctr">
            <a:solidFill>
              <a:srgbClr val="8A8F96"/>
            </a:solidFill>
            <a:round/>
          </a:ln>
        </c:spPr>
        <c:txPr>
          <a:bodyPr/>
          <a:lstStyle/>
          <a:p>
            <a:pPr>
              <a:defRPr lang="en-US" sz="1050">
                <a:solidFill>
                  <a:srgbClr val="3A4654"/>
                </a:solidFill>
                <a:latin typeface="Segoe UI"/>
                <a:ea typeface="Microsoft YaHei"/>
                <a:cs typeface="Segoe UI"/>
              </a:defRPr>
            </a:pPr>
            <a:endParaRPr lang="en-US"/>
          </a:p>
        </c:txPr>
        <c:crossAx val="2068027336"/>
        <c:crosses val="max"/>
        <c:crossBetween val="between"/>
        <c:majorUnit val="90"/>
      </c:valAx>
      <c:spPr>
        <a:noFill/>
        <a:ln>
          <a:noFill/>
        </a:ln>
      </c:spPr>
    </c:plotArea>
    <c:plotVisOnly val="1"/>
    <c:dispBlanksAs val="gap"/>
  </c:chart>
  <c:spPr>
    <a:noFill/>
    <a:ln>
      <a:noFill/>
    </a:ln>
  </c:spPr>
  <c:txPr>
    <a:bodyPr/>
    <a:lstStyle/>
    <a:p>
      <a:pPr>
        <a:defRPr lang="en-US" sz="1050">
          <a:solidFill>
            <a:srgbClr val="3A4654"/>
          </a:solidFill>
          <a:latin typeface="Segoe UI"/>
          <a:ea typeface="Microsoft YaHei"/>
          <a:cs typeface="Segoe UI"/>
        </a:defRPr>
      </a:pPr>
      <a:endParaRPr lang="en-US"/>
    </a:p>
  </c:txPr>
  <c:externalData r:id="rId1">
    <c:autoUpdate val="0"/>
  </c:externalData>
</c:chartSpace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ppt169_telford_feedback_2023_24_quick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ppt169_telford_feedback_2023_24_quick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73f737ffb80bbabf.emf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chart" Target="../charts/chart301.xml"/>
</Relationships>
</file>

<file path=ppt/slides/_rels/slide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chart" Target="../charts/chart401.xml"/>
</Relationships>
</file>

<file path=ppt/slides/_rels/slide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chart" Target="../charts/chart501.xml"/>
</Relationships>
</file>

<file path=ppt/slides/_rels/slide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chart" Target="../charts/chart601.xml"/>
</Relationships>
</file>

<file path=ppt/slides/_rels/slide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chart" Target="../charts/chart701.xml"/>
</Relationships>
</file>

<file path=ppt/slides/_rels/slide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9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10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1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hyperlink" Target="http://www.telford.gov.uk/yousaidwedid" TargetMode="External"/>
</Relationships>
</file>

<file path=ppt/slides/_rels/slide1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1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hyperlink" Target="https://www.telford.gov.uk/media/iyaj4b1z/corporate_feedback_report_2023_24.docx" TargetMode="External"/>
</Relationships>
</file>

<file path=ppt/slides/slide1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239000" y="0"/>
            <a:ext cx="4953000" cy="6858000"/>
          </a:xfrm>
          <a:prstGeom prst="snip1Rect">
            <a:avLst>
              <a:gd name="adj" fmla="val 17308"/>
            </a:avLst>
          </a:prstGeom>
          <a:solidFill>
            <a:srgbClr val="1F4E79"/>
          </a:solidFill>
          <a:ln>
            <a:noFill/>
          </a:ln>
        </p:spPr>
      </p:sp>
      <p:pic>
        <p:nvPicPr>
          <p:cNvPr id="3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533400"/>
            <a:ext cx="2200275" cy="381000"/>
          </a:xfrm>
          <a:prstGeom prst="rect">
            <a:avLst/>
          </a:prstGeom>
        </p:spPr>
      </p:pic>
      <p:grpSp>
        <p:nvGrpSpPr>
          <p:cNvPr id="7" name="title-block"/>
          <p:cNvGrpSpPr/>
          <p:nvPr/>
        </p:nvGrpSpPr>
        <p:grpSpPr>
          <a:xfrm>
            <a:off x="514350" y="2286952"/>
            <a:ext cx="5828824" cy="2576132"/>
            <a:chOff x="514350" y="2286952"/>
            <a:chExt cx="5828824" cy="2576132"/>
          </a:xfrm>
        </p:grpSpPr>
        <p:sp>
          <p:nvSpPr>
            <p:cNvPr id="4" name="TextBox 4"/>
            <p:cNvSpPr txBox="1"/>
            <p:nvPr/>
          </p:nvSpPr>
          <p:spPr>
            <a:xfrm>
              <a:off x="528066" y="2286952"/>
              <a:ext cx="284126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B83B26"/>
                  </a:solidFill>
                  <a:latin typeface="Segoe UI"/>
                  <a:ea typeface="Segoe UI"/>
                  <a:cs typeface="Segoe UI"/>
                </a:rPr>
                <a:t>BRIEFING FOR THE SCRUTINY COMMITTEE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14350" y="2657475"/>
              <a:ext cx="5828824" cy="1543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5250"/>
                </a:lnSpc>
              </a:pPr>
              <a:r>
                <a:rPr lang="en-US" sz="4500" b="1" dirty="0">
                  <a:solidFill>
                    <a:srgbClr val="1B2A3A"/>
                  </a:solidFill>
                  <a:latin typeface="Cambria"/>
                  <a:ea typeface="Cambria"/>
                  <a:cs typeface="Cambria"/>
                </a:rPr>
                <a:t>Corporate Feedback</a:t>
              </a:r>
              <a:br/>
              <a:r>
                <a:rPr lang="en-US" sz="4500" b="1" dirty="0">
                  <a:solidFill>
                    <a:srgbClr val="1B2A3A"/>
                  </a:solidFill>
                  <a:latin typeface="Cambria"/>
                  <a:ea typeface="Cambria"/>
                  <a:cs typeface="Cambria"/>
                </a:rPr>
                <a:t>Report 2023/24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24256" y="4168140"/>
              <a:ext cx="4624578" cy="6949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700"/>
                </a:lnSpc>
              </a:pPr>
              <a:r>
                <a:rPr lang="en-US" sz="1800" dirty="0">
                  <a:solidFill>
                    <a:srgbClr val="3A4654"/>
                  </a:solidFill>
                  <a:latin typeface="Segoe UI"/>
                  <a:ea typeface="Segoe UI"/>
                  <a:cs typeface="Segoe UI"/>
                </a:rPr>
                <a:t>More complaints, faster answers —</a:t>
              </a:r>
              <a:br/>
              <a:r>
                <a:rPr lang="en-US" sz="1800" dirty="0">
                  <a:solidFill>
                    <a:srgbClr val="3A4654"/>
                  </a:solidFill>
                  <a:latin typeface="Segoe UI"/>
                  <a:ea typeface="Segoe UI"/>
                  <a:cs typeface="Segoe UI"/>
                </a:rPr>
                <a:t>and a tighter 10-day clock from May 2024</a:t>
              </a:r>
            </a:p>
          </p:txBody>
        </p:sp>
      </p:grpSp>
      <p:grpSp>
        <p:nvGrpSpPr>
          <p:cNvPr id="10" name="cover-period"/>
          <p:cNvGrpSpPr/>
          <p:nvPr/>
        </p:nvGrpSpPr>
        <p:grpSpPr>
          <a:xfrm>
            <a:off x="527304" y="5905500"/>
            <a:ext cx="6140196" cy="581406"/>
            <a:chOff x="527304" y="5905500"/>
            <a:chExt cx="6140196" cy="581406"/>
          </a:xfrm>
        </p:grpSpPr>
        <p:sp>
          <p:nvSpPr>
            <p:cNvPr id="8" name="Line 8"/>
            <p:cNvSpPr/>
            <p:nvPr/>
          </p:nvSpPr>
          <p:spPr>
            <a:xfrm>
              <a:off x="533400" y="5905500"/>
              <a:ext cx="6134100" cy="9525"/>
            </a:xfrm>
            <a:custGeom>
              <a:avLst/>
              <a:gdLst/>
              <a:ahLst/>
              <a:cxnLst/>
              <a:rect l="l" t="t" r="r" b="b"/>
              <a:pathLst>
                <a:path w="6134100" h="9525">
                  <a:moveTo>
                    <a:pt x="0" y="0"/>
                  </a:moveTo>
                  <a:lnTo>
                    <a:pt x="6134100" y="0"/>
                  </a:lnTo>
                </a:path>
              </a:pathLst>
            </a:custGeom>
            <a:noFill/>
            <a:ln w="9525">
              <a:solidFill>
                <a:srgbClr val="CFC8BB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527304" y="6042660"/>
              <a:ext cx="4012692" cy="44424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en-US" sz="1200" dirty="0">
                  <a:solidFill>
                    <a:srgbClr val="5E6873"/>
                  </a:solidFill>
                  <a:latin typeface="Segoe UI"/>
                  <a:ea typeface="Segoe UI"/>
                  <a:cs typeface="Segoe UI"/>
                </a:rPr>
                <a:t>Telford &amp; Wrekin Council · Customer Relationship team</a:t>
              </a:r>
              <a:br/>
              <a:r>
                <a:rPr lang="en-US" sz="1200" dirty="0">
                  <a:solidFill>
                    <a:srgbClr val="5E6873"/>
                  </a:solidFill>
                  <a:latin typeface="Segoe UI"/>
                  <a:ea typeface="Segoe UI"/>
                  <a:cs typeface="Segoe UI"/>
                </a:rPr>
                <a:t>Reporting year 1 April 2023 – 31 March 2024</a:t>
              </a:r>
            </a:p>
          </p:txBody>
        </p:sp>
      </p:grpSp>
      <p:grpSp>
        <p:nvGrpSpPr>
          <p:cNvPr id="13" name="!!stage-one-volume"/>
          <p:cNvGrpSpPr/>
          <p:nvPr/>
        </p:nvGrpSpPr>
        <p:grpSpPr>
          <a:xfrm>
            <a:off x="7677150" y="1687830"/>
            <a:ext cx="3306890" cy="1580959"/>
            <a:chOff x="7677150" y="1687830"/>
            <a:chExt cx="3306890" cy="1580959"/>
          </a:xfrm>
        </p:grpSpPr>
        <p:sp>
          <p:nvSpPr>
            <p:cNvPr id="11" name="TextBox 11"/>
            <p:cNvSpPr txBox="1"/>
            <p:nvPr/>
          </p:nvSpPr>
          <p:spPr>
            <a:xfrm>
              <a:off x="7677150" y="1687830"/>
              <a:ext cx="1664543" cy="1276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6600" b="1" dirty="0">
                  <a:solidFill>
                    <a:srgbClr val="FFFFFF"/>
                  </a:solidFill>
                  <a:latin typeface="Cambria"/>
                  <a:ea typeface="Cambria"/>
                  <a:cs typeface="Cambria"/>
                </a:rPr>
                <a:t>659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87818" y="2641282"/>
              <a:ext cx="3296222" cy="6275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en-US" sz="1650" dirty="0">
                  <a:solidFill>
                    <a:srgbClr val="FFFFFF"/>
                  </a:solidFill>
                  <a:latin typeface="Segoe UI"/>
                  <a:ea typeface="Segoe UI"/>
                  <a:cs typeface="Segoe UI"/>
                </a:rPr>
                <a:t>corporate Stage One complaints</a:t>
              </a:r>
              <a:br/>
              <a:r>
                <a:rPr lang="en-US" sz="1650" dirty="0">
                  <a:solidFill>
                    <a:srgbClr val="C9D6E3"/>
                  </a:solidFill>
                  <a:latin typeface="Segoe UI"/>
                  <a:ea typeface="Segoe UI"/>
                  <a:cs typeface="Segoe UI"/>
                </a:rPr>
                <a:t>up from 601 in 2022/23</a:t>
              </a:r>
            </a:p>
          </p:txBody>
        </p:sp>
      </p:grpSp>
      <p:sp>
        <p:nvSpPr>
          <p:cNvPr id="14" name="Line 14"/>
          <p:cNvSpPr/>
          <p:nvPr/>
        </p:nvSpPr>
        <p:spPr>
          <a:xfrm>
            <a:off x="7696200" y="3543300"/>
            <a:ext cx="3962400" cy="9525"/>
          </a:xfrm>
          <a:custGeom>
            <a:avLst/>
            <a:gdLst/>
            <a:ahLst/>
            <a:cxnLst/>
            <a:rect l="l" t="t" r="r" b="b"/>
            <a:pathLst>
              <a:path w="3962400" h="9525">
                <a:moveTo>
                  <a:pt x="0" y="0"/>
                </a:moveTo>
                <a:lnTo>
                  <a:pt x="3962400" y="0"/>
                </a:lnTo>
              </a:path>
            </a:pathLst>
          </a:custGeom>
          <a:noFill/>
          <a:ln w="9525">
            <a:solidFill>
              <a:srgbClr val="FFFFFF">
                <a:alpha val="35000"/>
              </a:srgbClr>
            </a:solidFill>
          </a:ln>
        </p:spPr>
      </p:sp>
      <p:grpSp>
        <p:nvGrpSpPr>
          <p:cNvPr id="17" name="!!on-time-share"/>
          <p:cNvGrpSpPr/>
          <p:nvPr/>
        </p:nvGrpSpPr>
        <p:grpSpPr>
          <a:xfrm>
            <a:off x="7677150" y="4030980"/>
            <a:ext cx="3359277" cy="1580959"/>
            <a:chOff x="7677150" y="4030980"/>
            <a:chExt cx="3359277" cy="1580959"/>
          </a:xfrm>
        </p:grpSpPr>
        <p:sp>
          <p:nvSpPr>
            <p:cNvPr id="15" name="TextBox 15"/>
            <p:cNvSpPr txBox="1"/>
            <p:nvPr/>
          </p:nvSpPr>
          <p:spPr>
            <a:xfrm>
              <a:off x="7677150" y="4030980"/>
              <a:ext cx="1861688" cy="1276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6600" b="1" dirty="0">
                  <a:solidFill>
                    <a:srgbClr val="FFFFFF"/>
                  </a:solidFill>
                  <a:latin typeface="Cambria"/>
                  <a:ea typeface="Cambria"/>
                  <a:cs typeface="Cambria"/>
                </a:rPr>
                <a:t>87%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687818" y="4984432"/>
              <a:ext cx="3348609" cy="6275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en-US" sz="1650" dirty="0">
                  <a:solidFill>
                    <a:srgbClr val="FFFFFF"/>
                  </a:solidFill>
                  <a:latin typeface="Segoe UI"/>
                  <a:ea typeface="Segoe UI"/>
                  <a:cs typeface="Segoe UI"/>
                </a:rPr>
                <a:t>answered within 15 working days</a:t>
              </a:r>
              <a:br/>
              <a:r>
                <a:rPr lang="en-US" sz="1650" dirty="0">
                  <a:solidFill>
                    <a:srgbClr val="C9D6E3"/>
                  </a:solidFill>
                  <a:latin typeface="Segoe UI"/>
                  <a:ea typeface="Segoe UI"/>
                  <a:cs typeface="Segoe UI"/>
                </a:rPr>
                <a:t>up from 80% in 2022/23</a:t>
              </a:r>
            </a:p>
          </p:txBody>
        </p:sp>
      </p:grpSp>
      <p:grpSp>
        <p:nvGrpSpPr>
          <p:cNvPr id="19" name="cover-source"/>
          <p:cNvGrpSpPr/>
          <p:nvPr/>
        </p:nvGrpSpPr>
        <p:grpSpPr>
          <a:xfrm>
            <a:off x="7690866" y="6325552"/>
            <a:ext cx="3080564" cy="205359"/>
            <a:chOff x="7690866" y="6325552"/>
            <a:chExt cx="3080564" cy="205359"/>
          </a:xfrm>
        </p:grpSpPr>
        <p:sp>
          <p:nvSpPr>
            <p:cNvPr id="18" name="TextBox 18"/>
            <p:cNvSpPr txBox="1"/>
            <p:nvPr/>
          </p:nvSpPr>
          <p:spPr>
            <a:xfrm>
              <a:off x="7690866" y="6325552"/>
              <a:ext cx="308056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C9D6E3"/>
                  </a:solidFill>
                  <a:latin typeface="Segoe UI"/>
                  <a:ea typeface="Segoe UI"/>
                  <a:cs typeface="Segoe UI"/>
                </a:rPr>
                <a:t>Source: Corporate Feedback Report 2023/24</a:t>
              </a:r>
            </a:p>
          </p:txBody>
        </p:sp>
      </p:grpSp>
    </p:spTree>
  </p:cSld>
  <p:clrMapOvr>
    <a:masterClrMapping/>
  </p:clrMapOvr>
  <p:transition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6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mc="http://schemas.openxmlformats.org/markup-compatibility/2006" xmlns:p="http://schemas.openxmlformats.org/presentationml/2006/main" xmlns:p14="http://schemas.microsoft.com/office/powerpoint/2010/main" xmlns:p159="http://schemas.microsoft.com/office/powerpoint/2015/09/main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33400" y="247650"/>
            <a:ext cx="1428750" cy="266700"/>
          </a:xfrm>
          <a:prstGeom prst="snip1Rect">
            <a:avLst>
              <a:gd name="adj" fmla="val 35714"/>
            </a:avLst>
          </a:prstGeom>
          <a:solidFill>
            <a:srgbClr val="1F4E79"/>
          </a:solidFill>
          <a:ln>
            <a:noFill/>
          </a:ln>
        </p:spPr>
      </p:sp>
      <p:grpSp>
        <p:nvGrpSpPr>
          <p:cNvPr id="5" name="chrome"/>
          <p:cNvGrpSpPr/>
          <p:nvPr/>
        </p:nvGrpSpPr>
        <p:grpSpPr>
          <a:xfrm>
            <a:off x="661416" y="315278"/>
            <a:ext cx="10997184" cy="205359"/>
            <a:chOff x="661416" y="315278"/>
            <a:chExt cx="10997184" cy="205359"/>
          </a:xfrm>
        </p:grpSpPr>
        <p:sp>
          <p:nvSpPr>
            <p:cNvPr id="3" name="TextBox 3"/>
            <p:cNvSpPr txBox="1"/>
            <p:nvPr/>
          </p:nvSpPr>
          <p:spPr>
            <a:xfrm>
              <a:off x="661416" y="315278"/>
              <a:ext cx="7241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FFFFFF"/>
                  </a:solidFill>
                  <a:latin typeface="Segoe UI"/>
                  <a:ea typeface="Segoe UI"/>
                  <a:cs typeface="Segoe UI"/>
                </a:rPr>
                <a:t>OVERVIEW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2076450" y="381000"/>
              <a:ext cx="9582150" cy="9525"/>
            </a:xfrm>
            <a:custGeom>
              <a:avLst/>
              <a:gdLst/>
              <a:ahLst/>
              <a:cxnLst/>
              <a:rect l="l" t="t" r="r" b="b"/>
              <a:pathLst>
                <a:path w="9582150" h="9525">
                  <a:moveTo>
                    <a:pt x="0" y="0"/>
                  </a:moveTo>
                  <a:lnTo>
                    <a:pt x="9582150" y="0"/>
                  </a:lnTo>
                </a:path>
              </a:pathLst>
            </a:custGeom>
            <a:noFill/>
            <a:ln w="9525">
              <a:solidFill>
                <a:srgbClr val="CFC8BB"/>
              </a:solidFill>
            </a:ln>
          </p:spPr>
        </p:sp>
      </p:grpSp>
      <p:grpSp>
        <p:nvGrpSpPr>
          <p:cNvPr id="8" name="title"/>
          <p:cNvGrpSpPr/>
          <p:nvPr/>
        </p:nvGrpSpPr>
        <p:grpSpPr>
          <a:xfrm>
            <a:off x="519684" y="756285"/>
            <a:ext cx="10193825" cy="811149"/>
            <a:chOff x="519684" y="756285"/>
            <a:chExt cx="10193825" cy="811149"/>
          </a:xfrm>
        </p:grpSpPr>
        <p:sp>
          <p:nvSpPr>
            <p:cNvPr id="6" name="TextBox 6"/>
            <p:cNvSpPr txBox="1"/>
            <p:nvPr/>
          </p:nvSpPr>
          <p:spPr>
            <a:xfrm>
              <a:off x="519684" y="756285"/>
              <a:ext cx="6914836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b="1" dirty="0">
                  <a:solidFill>
                    <a:srgbClr val="1B2A3A"/>
                  </a:solidFill>
                  <a:latin typeface="Cambria"/>
                  <a:ea typeface="Cambria"/>
                  <a:cs typeface="Cambria"/>
                </a:rPr>
                <a:t>More complaints, answered faster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24256" y="1215390"/>
              <a:ext cx="1018925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rgbClr val="3A4654"/>
                  </a:solidFill>
                  <a:latin typeface="Segoe UI"/>
                  <a:ea typeface="Segoe UI"/>
                  <a:cs typeface="Segoe UI"/>
                </a:rPr>
                <a:t>Volume and speed both rose at Stage One; escalations to Stage Two rose faster still.</a:t>
              </a:r>
            </a:p>
          </p:txBody>
        </p:sp>
      </p:grpSp>
      <p:grpSp>
        <p:nvGrpSpPr>
          <p:cNvPr id="14" name="!!stage-one-volume"/>
          <p:cNvGrpSpPr/>
          <p:nvPr/>
        </p:nvGrpSpPr>
        <p:grpSpPr>
          <a:xfrm>
            <a:off x="514350" y="1752600"/>
            <a:ext cx="2571750" cy="2124456"/>
            <a:chOff x="514350" y="1752600"/>
            <a:chExt cx="2571750" cy="2124456"/>
          </a:xfrm>
        </p:grpSpPr>
        <p:sp>
          <p:nvSpPr>
            <p:cNvPr id="9" name="Rectangle 9"/>
            <p:cNvSpPr/>
            <p:nvPr/>
          </p:nvSpPr>
          <p:spPr>
            <a:xfrm>
              <a:off x="533400" y="1752600"/>
              <a:ext cx="2552700" cy="28575"/>
            </a:xfrm>
            <a:prstGeom prst="rect">
              <a:avLst/>
            </a:prstGeom>
            <a:solidFill>
              <a:srgbClr val="1F4E79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527304" y="1927860"/>
              <a:ext cx="195675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5E6873"/>
                  </a:solidFill>
                  <a:latin typeface="Segoe UI"/>
                  <a:ea typeface="Segoe UI"/>
                  <a:cs typeface="Segoe UI"/>
                </a:rPr>
                <a:t>STAGE ONE COMPLAINTS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14350" y="2295525"/>
              <a:ext cx="1147039" cy="8763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500" b="1" dirty="0">
                  <a:solidFill>
                    <a:srgbClr val="1F4E79"/>
                  </a:solidFill>
                  <a:latin typeface="Cambria"/>
                  <a:ea typeface="Cambria"/>
                  <a:cs typeface="Cambria"/>
                </a:rPr>
                <a:t>659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25018" y="3003232"/>
              <a:ext cx="142724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3A4654"/>
                  </a:solidFill>
                  <a:latin typeface="Segoe UI"/>
                  <a:ea typeface="Segoe UI"/>
                  <a:cs typeface="Segoe UI"/>
                </a:rPr>
                <a:t>2022/23: 601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27304" y="3413760"/>
              <a:ext cx="2122932" cy="4632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en-US" sz="1200" dirty="0">
                  <a:solidFill>
                    <a:srgbClr val="5E6873"/>
                  </a:solidFill>
                  <a:latin typeface="Segoe UI"/>
                  <a:ea typeface="Segoe UI"/>
                  <a:cs typeface="Segoe UI"/>
                </a:rPr>
                <a:t>From 619 complainants; still</a:t>
              </a:r>
              <a:br/>
              <a:r>
                <a:rPr lang="en-US" sz="1200" dirty="0">
                  <a:solidFill>
                    <a:srgbClr val="5E6873"/>
                  </a:solidFill>
                  <a:latin typeface="Segoe UI"/>
                  <a:ea typeface="Segoe UI"/>
                  <a:cs typeface="Segoe UI"/>
                </a:rPr>
                <a:t>under 1% of all transactions</a:t>
              </a:r>
            </a:p>
          </p:txBody>
        </p:sp>
      </p:grpSp>
      <p:grpSp>
        <p:nvGrpSpPr>
          <p:cNvPr id="20" name="!!on-time-share"/>
          <p:cNvGrpSpPr/>
          <p:nvPr/>
        </p:nvGrpSpPr>
        <p:grpSpPr>
          <a:xfrm>
            <a:off x="3371850" y="1752600"/>
            <a:ext cx="2571750" cy="2124456"/>
            <a:chOff x="3371850" y="1752600"/>
            <a:chExt cx="2571750" cy="2124456"/>
          </a:xfrm>
        </p:grpSpPr>
        <p:sp>
          <p:nvSpPr>
            <p:cNvPr id="15" name="Rectangle 15"/>
            <p:cNvSpPr/>
            <p:nvPr/>
          </p:nvSpPr>
          <p:spPr>
            <a:xfrm>
              <a:off x="3390900" y="1752600"/>
              <a:ext cx="2552700" cy="28575"/>
            </a:xfrm>
            <a:prstGeom prst="rect">
              <a:avLst/>
            </a:prstGeom>
            <a:solidFill>
              <a:srgbClr val="1F4E79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384804" y="1927860"/>
              <a:ext cx="212701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5E6873"/>
                  </a:solidFill>
                  <a:latin typeface="Segoe UI"/>
                  <a:ea typeface="Segoe UI"/>
                  <a:cs typeface="Segoe UI"/>
                </a:rPr>
                <a:t>ANSWERED WITHIN 15 DAYS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371850" y="2295525"/>
              <a:ext cx="1281455" cy="8763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500" b="1" dirty="0">
                  <a:solidFill>
                    <a:srgbClr val="1F4E79"/>
                  </a:solidFill>
                  <a:latin typeface="Cambria"/>
                  <a:ea typeface="Cambria"/>
                  <a:cs typeface="Cambria"/>
                </a:rPr>
                <a:t>87%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382518" y="3003232"/>
              <a:ext cx="147167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3A4654"/>
                  </a:solidFill>
                  <a:latin typeface="Segoe UI"/>
                  <a:ea typeface="Segoe UI"/>
                  <a:cs typeface="Segoe UI"/>
                </a:rPr>
                <a:t>2022/23: 80%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384804" y="3413760"/>
              <a:ext cx="1885569" cy="4632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en-US" sz="1200" dirty="0">
                  <a:solidFill>
                    <a:srgbClr val="5E6873"/>
                  </a:solidFill>
                  <a:latin typeface="Segoe UI"/>
                  <a:ea typeface="Segoe UI"/>
                  <a:cs typeface="Segoe UI"/>
                </a:rPr>
                <a:t xml:space="preserve">Local target is </a:t>
              </a:r>
              <a:r>
                <a:rPr lang="en-US" sz="1200" b="1" dirty="0">
                  <a:solidFill>
                    <a:srgbClr val="1B2A3A"/>
                  </a:solidFill>
                  <a:latin typeface="Segoe UI"/>
                  <a:ea typeface="Segoe UI"/>
                  <a:cs typeface="Segoe UI"/>
                </a:rPr>
                <a:t>90%</a:t>
              </a:r>
              <a:r>
                <a:rPr lang="en-US" sz="1200" dirty="0">
                  <a:solidFill>
                    <a:srgbClr val="5E6873"/>
                  </a:solidFill>
                  <a:latin typeface="Segoe UI"/>
                  <a:ea typeface="Segoe UI"/>
                  <a:cs typeface="Segoe UI"/>
                </a:rPr>
                <a:t>; five</a:t>
              </a:r>
              <a:br/>
              <a:r>
                <a:rPr lang="en-US" sz="1200" dirty="0">
                  <a:solidFill>
                    <a:srgbClr val="5E6873"/>
                  </a:solidFill>
                  <a:latin typeface="Segoe UI"/>
                  <a:ea typeface="Segoe UI"/>
                  <a:cs typeface="Segoe UI"/>
                </a:rPr>
                <a:t>directorates met it</a:t>
              </a:r>
            </a:p>
          </p:txBody>
        </p:sp>
      </p:grpSp>
      <p:grpSp>
        <p:nvGrpSpPr>
          <p:cNvPr id="26" name="kpi-speed"/>
          <p:cNvGrpSpPr/>
          <p:nvPr/>
        </p:nvGrpSpPr>
        <p:grpSpPr>
          <a:xfrm>
            <a:off x="6229350" y="1752600"/>
            <a:ext cx="2571750" cy="2124456"/>
            <a:chOff x="6229350" y="1752600"/>
            <a:chExt cx="2571750" cy="2124456"/>
          </a:xfrm>
        </p:grpSpPr>
        <p:sp>
          <p:nvSpPr>
            <p:cNvPr id="21" name="Rectangle 21"/>
            <p:cNvSpPr/>
            <p:nvPr/>
          </p:nvSpPr>
          <p:spPr>
            <a:xfrm>
              <a:off x="6248400" y="1752600"/>
              <a:ext cx="2552700" cy="28575"/>
            </a:xfrm>
            <a:prstGeom prst="rect">
              <a:avLst/>
            </a:prstGeom>
            <a:solidFill>
              <a:srgbClr val="1F4E79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242304" y="1927860"/>
              <a:ext cx="201948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5E6873"/>
                  </a:solidFill>
                  <a:latin typeface="Segoe UI"/>
                  <a:ea typeface="Segoe UI"/>
                  <a:cs typeface="Segoe UI"/>
                </a:rPr>
                <a:t>AVERAGE RESPONSE TIME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229350" y="2295525"/>
              <a:ext cx="2457602" cy="8763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500" b="1" dirty="0">
                  <a:solidFill>
                    <a:srgbClr val="1F4E79"/>
                  </a:solidFill>
                  <a:latin typeface="Cambria"/>
                  <a:ea typeface="Cambria"/>
                  <a:cs typeface="Cambria"/>
                </a:rPr>
                <a:t>10 days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240018" y="3003232"/>
              <a:ext cx="186038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3A4654"/>
                  </a:solidFill>
                  <a:latin typeface="Segoe UI"/>
                  <a:ea typeface="Segoe UI"/>
                  <a:cs typeface="Segoe UI"/>
                </a:rPr>
                <a:t>2022/23: 11 days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242304" y="3413760"/>
              <a:ext cx="2207514" cy="4632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en-US" sz="1200" dirty="0">
                  <a:solidFill>
                    <a:srgbClr val="5E6873"/>
                  </a:solidFill>
                  <a:latin typeface="Segoe UI"/>
                  <a:ea typeface="Segoe UI"/>
                  <a:cs typeface="Segoe UI"/>
                </a:rPr>
                <a:t>Working days at Stage One;</a:t>
              </a:r>
              <a:br/>
              <a:r>
                <a:rPr lang="en-US" sz="1200" b="1" dirty="0">
                  <a:solidFill>
                    <a:srgbClr val="1B2A3A"/>
                  </a:solidFill>
                  <a:latin typeface="Segoe UI"/>
                  <a:ea typeface="Segoe UI"/>
                  <a:cs typeface="Segoe UI"/>
                </a:rPr>
                <a:t>26</a:t>
              </a:r>
              <a:r>
                <a:rPr lang="en-US" sz="1200" dirty="0">
                  <a:solidFill>
                    <a:srgbClr val="5E6873"/>
                  </a:solidFill>
                  <a:latin typeface="Segoe UI"/>
                  <a:ea typeface="Segoe UI"/>
                  <a:cs typeface="Segoe UI"/>
                </a:rPr>
                <a:t xml:space="preserve"> went past the 20-day limit</a:t>
              </a:r>
            </a:p>
          </p:txBody>
        </p:sp>
      </p:grpSp>
      <p:grpSp>
        <p:nvGrpSpPr>
          <p:cNvPr id="32" name="kpi-escalation"/>
          <p:cNvGrpSpPr/>
          <p:nvPr/>
        </p:nvGrpSpPr>
        <p:grpSpPr>
          <a:xfrm>
            <a:off x="9086850" y="1752600"/>
            <a:ext cx="2571750" cy="2124456"/>
            <a:chOff x="9086850" y="1752600"/>
            <a:chExt cx="2571750" cy="2124456"/>
          </a:xfrm>
        </p:grpSpPr>
        <p:sp>
          <p:nvSpPr>
            <p:cNvPr id="27" name="Rectangle 27"/>
            <p:cNvSpPr/>
            <p:nvPr/>
          </p:nvSpPr>
          <p:spPr>
            <a:xfrm>
              <a:off x="9105900" y="1752600"/>
              <a:ext cx="2552700" cy="28575"/>
            </a:xfrm>
            <a:prstGeom prst="rect">
              <a:avLst/>
            </a:prstGeom>
            <a:solidFill>
              <a:srgbClr val="B83B26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9099804" y="1927860"/>
              <a:ext cx="21539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5E6873"/>
                  </a:solidFill>
                  <a:latin typeface="Segoe UI"/>
                  <a:ea typeface="Segoe UI"/>
                  <a:cs typeface="Segoe UI"/>
                </a:rPr>
                <a:t>ESCALATED TO STAGE TWO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086850" y="2295525"/>
              <a:ext cx="777392" cy="8763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500" b="1" dirty="0">
                  <a:solidFill>
                    <a:srgbClr val="B83B26"/>
                  </a:solidFill>
                  <a:latin typeface="Cambria"/>
                  <a:ea typeface="Cambria"/>
                  <a:cs typeface="Cambria"/>
                </a:rPr>
                <a:t>70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097518" y="3003232"/>
              <a:ext cx="130507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3A4654"/>
                  </a:solidFill>
                  <a:latin typeface="Segoe UI"/>
                  <a:ea typeface="Segoe UI"/>
                  <a:cs typeface="Segoe UI"/>
                </a:rPr>
                <a:t>2022/23: 41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099804" y="3413760"/>
              <a:ext cx="2123694" cy="4632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en-US" sz="1200" dirty="0">
                  <a:solidFill>
                    <a:srgbClr val="5E6873"/>
                  </a:solidFill>
                  <a:latin typeface="Segoe UI"/>
                  <a:ea typeface="Segoe UI"/>
                  <a:cs typeface="Segoe UI"/>
                </a:rPr>
                <a:t>Full investigations averaged</a:t>
              </a:r>
              <a:br/>
              <a:r>
                <a:rPr lang="en-US" sz="1200" b="1" dirty="0">
                  <a:solidFill>
                    <a:srgbClr val="B83B26"/>
                  </a:solidFill>
                  <a:latin typeface="Segoe UI"/>
                  <a:ea typeface="Segoe UI"/>
                  <a:cs typeface="Segoe UI"/>
                </a:rPr>
                <a:t>43</a:t>
              </a:r>
              <a:r>
                <a:rPr lang="en-US" sz="1200" dirty="0">
                  <a:solidFill>
                    <a:srgbClr val="5E6873"/>
                  </a:solidFill>
                  <a:latin typeface="Segoe UI"/>
                  <a:ea typeface="Segoe UI"/>
                  <a:cs typeface="Segoe UI"/>
                </a:rPr>
                <a:t xml:space="preserve"> working days (28 before)</a:t>
              </a:r>
            </a:p>
          </p:txBody>
        </p:sp>
      </p:grpSp>
      <p:sp>
        <p:nvSpPr>
          <p:cNvPr id="33" name="Line 33"/>
          <p:cNvSpPr/>
          <p:nvPr/>
        </p:nvSpPr>
        <p:spPr>
          <a:xfrm>
            <a:off x="533400" y="4552950"/>
            <a:ext cx="11125200" cy="9525"/>
          </a:xfrm>
          <a:custGeom>
            <a:avLst/>
            <a:gdLst/>
            <a:ahLst/>
            <a:cxnLst/>
            <a:rect l="l" t="t" r="r" b="b"/>
            <a:pathLst>
              <a:path w="11125200" h="9525">
                <a:moveTo>
                  <a:pt x="0" y="0"/>
                </a:moveTo>
                <a:lnTo>
                  <a:pt x="11125200" y="0"/>
                </a:lnTo>
              </a:path>
            </a:pathLst>
          </a:custGeom>
          <a:noFill/>
          <a:ln w="9525">
            <a:solidFill>
              <a:srgbClr val="CFC8BB"/>
            </a:solidFill>
          </a:ln>
        </p:spPr>
      </p:sp>
      <p:grpSp>
        <p:nvGrpSpPr>
          <p:cNvPr id="36" name="stat-upheld"/>
          <p:cNvGrpSpPr/>
          <p:nvPr/>
        </p:nvGrpSpPr>
        <p:grpSpPr>
          <a:xfrm>
            <a:off x="519684" y="4871085"/>
            <a:ext cx="2494788" cy="1083754"/>
            <a:chOff x="519684" y="4871085"/>
            <a:chExt cx="2494788" cy="1083754"/>
          </a:xfrm>
        </p:grpSpPr>
        <p:sp>
          <p:nvSpPr>
            <p:cNvPr id="34" name="TextBox 34"/>
            <p:cNvSpPr txBox="1"/>
            <p:nvPr/>
          </p:nvSpPr>
          <p:spPr>
            <a:xfrm>
              <a:off x="519684" y="4871085"/>
              <a:ext cx="773445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b="1" dirty="0">
                  <a:solidFill>
                    <a:srgbClr val="1F4E79"/>
                  </a:solidFill>
                  <a:latin typeface="Cambria"/>
                  <a:ea typeface="Cambria"/>
                  <a:cs typeface="Cambria"/>
                </a:rPr>
                <a:t>42%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525018" y="5346382"/>
              <a:ext cx="2489454" cy="6084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en-US" sz="1650" dirty="0">
                  <a:solidFill>
                    <a:srgbClr val="1B2A3A"/>
                  </a:solidFill>
                  <a:latin typeface="Segoe UI"/>
                  <a:ea typeface="Segoe UI"/>
                  <a:cs typeface="Segoe UI"/>
                </a:rPr>
                <a:t>upheld at Stage One —</a:t>
              </a:r>
              <a:br/>
              <a:r>
                <a:rPr lang="en-US" sz="1650" dirty="0">
                  <a:solidFill>
                    <a:srgbClr val="1B2A3A"/>
                  </a:solidFill>
                  <a:latin typeface="Segoe UI"/>
                  <a:ea typeface="Segoe UI"/>
                  <a:cs typeface="Segoe UI"/>
                </a:rPr>
                <a:t>unchanged from 2022/23</a:t>
              </a:r>
            </a:p>
          </p:txBody>
        </p:sp>
      </p:grpSp>
      <p:grpSp>
        <p:nvGrpSpPr>
          <p:cNvPr id="39" name="stat-compliments"/>
          <p:cNvGrpSpPr/>
          <p:nvPr/>
        </p:nvGrpSpPr>
        <p:grpSpPr>
          <a:xfrm>
            <a:off x="4291584" y="4871085"/>
            <a:ext cx="2515743" cy="1083754"/>
            <a:chOff x="4291584" y="4871085"/>
            <a:chExt cx="2515743" cy="1083754"/>
          </a:xfrm>
        </p:grpSpPr>
        <p:sp>
          <p:nvSpPr>
            <p:cNvPr id="37" name="TextBox 37"/>
            <p:cNvSpPr txBox="1"/>
            <p:nvPr/>
          </p:nvSpPr>
          <p:spPr>
            <a:xfrm>
              <a:off x="4291584" y="4871085"/>
              <a:ext cx="692795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b="1" dirty="0">
                  <a:solidFill>
                    <a:srgbClr val="1F4E79"/>
                  </a:solidFill>
                  <a:latin typeface="Cambria"/>
                  <a:ea typeface="Cambria"/>
                  <a:cs typeface="Cambria"/>
                </a:rPr>
                <a:t>639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4296918" y="5346382"/>
              <a:ext cx="2510409" cy="6084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en-US" sz="1650" dirty="0">
                  <a:solidFill>
                    <a:srgbClr val="1B2A3A"/>
                  </a:solidFill>
                  <a:latin typeface="Segoe UI"/>
                  <a:ea typeface="Segoe UI"/>
                  <a:cs typeface="Segoe UI"/>
                </a:rPr>
                <a:t>compliments received —</a:t>
              </a:r>
              <a:br/>
              <a:r>
                <a:rPr lang="en-US" sz="1650" dirty="0">
                  <a:solidFill>
                    <a:srgbClr val="1B2A3A"/>
                  </a:solidFill>
                  <a:latin typeface="Segoe UI"/>
                  <a:ea typeface="Segoe UI"/>
                  <a:cs typeface="Segoe UI"/>
                </a:rPr>
                <a:t>up 13% on 566 in 2022/23</a:t>
              </a:r>
            </a:p>
          </p:txBody>
        </p:sp>
      </p:grpSp>
      <p:grpSp>
        <p:nvGrpSpPr>
          <p:cNvPr id="42" name="stat-ombudsman"/>
          <p:cNvGrpSpPr/>
          <p:nvPr/>
        </p:nvGrpSpPr>
        <p:grpSpPr>
          <a:xfrm>
            <a:off x="8063484" y="4871085"/>
            <a:ext cx="2871978" cy="1083754"/>
            <a:chOff x="8063484" y="4871085"/>
            <a:chExt cx="2871978" cy="1083754"/>
          </a:xfrm>
        </p:grpSpPr>
        <p:sp>
          <p:nvSpPr>
            <p:cNvPr id="40" name="TextBox 40"/>
            <p:cNvSpPr txBox="1"/>
            <p:nvPr/>
          </p:nvSpPr>
          <p:spPr>
            <a:xfrm>
              <a:off x="8063484" y="4871085"/>
              <a:ext cx="995233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b="1" dirty="0">
                  <a:solidFill>
                    <a:srgbClr val="1F4E79"/>
                  </a:solidFill>
                  <a:latin typeface="Cambria"/>
                  <a:ea typeface="Cambria"/>
                  <a:cs typeface="Cambria"/>
                </a:rPr>
                <a:t>100%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068818" y="5346382"/>
              <a:ext cx="2866644" cy="6084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en-US" sz="1650" dirty="0">
                  <a:solidFill>
                    <a:srgbClr val="1B2A3A"/>
                  </a:solidFill>
                  <a:latin typeface="Segoe UI"/>
                  <a:ea typeface="Segoe UI"/>
                  <a:cs typeface="Segoe UI"/>
                </a:rPr>
                <a:t>of Ombudsman</a:t>
              </a:r>
              <a:br/>
              <a:r>
                <a:rPr lang="en-US" sz="1650" dirty="0">
                  <a:solidFill>
                    <a:srgbClr val="1B2A3A"/>
                  </a:solidFill>
                  <a:latin typeface="Segoe UI"/>
                  <a:ea typeface="Segoe UI"/>
                  <a:cs typeface="Segoe UI"/>
                </a:rPr>
                <a:t>recommendations completed</a:t>
              </a:r>
            </a:p>
          </p:txBody>
        </p:sp>
      </p:grpSp>
      <p:sp>
        <p:nvSpPr>
          <p:cNvPr id="43" name="TextBox 43"/>
          <p:cNvSpPr txBox="1"/>
          <p:nvPr/>
        </p:nvSpPr>
        <p:spPr>
          <a:xfrm>
            <a:off x="528066" y="6516052"/>
            <a:ext cx="752680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rgbClr val="5E6873"/>
                </a:solidFill>
                <a:latin typeface="Segoe UI"/>
                <a:ea typeface="Segoe UI"/>
                <a:cs typeface="Segoe UI"/>
              </a:rPr>
              <a:t>Source: Telford &amp; Wrekin Council, Corporate Feedback Report 2023/24 — Report summary; Highlights 2023/24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1575523" y="6516052"/>
            <a:ext cx="8841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5E6873"/>
                </a:solidFill>
                <a:latin typeface="Segoe UI"/>
                <a:ea typeface="Segoe UI"/>
                <a:cs typeface="Segoe UI"/>
              </a:rPr>
              <a:t>2</a:t>
            </a:r>
          </a:p>
        </p:txBody>
      </p:sp>
    </p:spTree>
  </p:cSld>
  <p:clrMapOvr>
    <a:masterClrMapping/>
  </p:clrMapOvr>
  <mc:AlternateContent>
    <mc:Choice Requires="p159">
      <p:transition p14:dur="800">
        <p159:morph option="byObject"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33400" y="247650"/>
            <a:ext cx="1428750" cy="266700"/>
          </a:xfrm>
          <a:prstGeom prst="snip1Rect">
            <a:avLst>
              <a:gd name="adj" fmla="val 35714"/>
            </a:avLst>
          </a:prstGeom>
          <a:solidFill>
            <a:srgbClr val="1F4E79"/>
          </a:solidFill>
          <a:ln>
            <a:noFill/>
          </a:ln>
        </p:spPr>
      </p:sp>
      <p:grpSp>
        <p:nvGrpSpPr>
          <p:cNvPr id="5" name="chrome"/>
          <p:cNvGrpSpPr/>
          <p:nvPr/>
        </p:nvGrpSpPr>
        <p:grpSpPr>
          <a:xfrm>
            <a:off x="661416" y="315278"/>
            <a:ext cx="10997184" cy="205359"/>
            <a:chOff x="661416" y="315278"/>
            <a:chExt cx="10997184" cy="205359"/>
          </a:xfrm>
        </p:grpSpPr>
        <p:sp>
          <p:nvSpPr>
            <p:cNvPr id="3" name="TextBox 3"/>
            <p:cNvSpPr txBox="1"/>
            <p:nvPr/>
          </p:nvSpPr>
          <p:spPr>
            <a:xfrm>
              <a:off x="661416" y="315278"/>
              <a:ext cx="8574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FFFFFF"/>
                  </a:solidFill>
                  <a:latin typeface="Segoe UI"/>
                  <a:ea typeface="Segoe UI"/>
                  <a:cs typeface="Segoe UI"/>
                </a:rPr>
                <a:t>1 · VOLUME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2076450" y="381000"/>
              <a:ext cx="9582150" cy="9525"/>
            </a:xfrm>
            <a:custGeom>
              <a:avLst/>
              <a:gdLst/>
              <a:ahLst/>
              <a:cxnLst/>
              <a:rect l="l" t="t" r="r" b="b"/>
              <a:pathLst>
                <a:path w="9582150" h="9525">
                  <a:moveTo>
                    <a:pt x="0" y="0"/>
                  </a:moveTo>
                  <a:lnTo>
                    <a:pt x="9582150" y="0"/>
                  </a:lnTo>
                </a:path>
              </a:pathLst>
            </a:custGeom>
            <a:noFill/>
            <a:ln w="9525">
              <a:solidFill>
                <a:srgbClr val="CFC8BB"/>
              </a:solidFill>
            </a:ln>
          </p:spPr>
        </p:sp>
      </p:grpSp>
      <p:grpSp>
        <p:nvGrpSpPr>
          <p:cNvPr id="8" name="title"/>
          <p:cNvGrpSpPr/>
          <p:nvPr/>
        </p:nvGrpSpPr>
        <p:grpSpPr>
          <a:xfrm>
            <a:off x="519684" y="756285"/>
            <a:ext cx="9644954" cy="811149"/>
            <a:chOff x="519684" y="756285"/>
            <a:chExt cx="9644954" cy="811149"/>
          </a:xfrm>
        </p:grpSpPr>
        <p:sp>
          <p:nvSpPr>
            <p:cNvPr id="6" name="TextBox 6"/>
            <p:cNvSpPr txBox="1"/>
            <p:nvPr/>
          </p:nvSpPr>
          <p:spPr>
            <a:xfrm>
              <a:off x="519684" y="756285"/>
              <a:ext cx="9644954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b="1" dirty="0">
                  <a:solidFill>
                    <a:srgbClr val="1B2A3A"/>
                  </a:solidFill>
                  <a:latin typeface="Cambria"/>
                  <a:ea typeface="Cambria"/>
                  <a:cs typeface="Cambria"/>
                </a:rPr>
                <a:t>659 complaints: the second-highest in five years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24256" y="1215390"/>
              <a:ext cx="693993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rgbClr val="3A4654"/>
                  </a:solidFill>
                  <a:latin typeface="Segoe UI"/>
                  <a:ea typeface="Segoe UI"/>
                  <a:cs typeface="Segoe UI"/>
                </a:rPr>
                <a:t>Up from 601 in 2022/23 and below the 2021/22 peak of 702.</a:t>
              </a:r>
            </a:p>
          </p:txBody>
        </p:sp>
      </p:grpSp>
      <p:grpSp>
        <p:nvGrpSpPr>
          <p:cNvPr id="10" name="chart-caption"/>
          <p:cNvGrpSpPr/>
          <p:nvPr/>
        </p:nvGrpSpPr>
        <p:grpSpPr>
          <a:xfrm>
            <a:off x="527304" y="1680210"/>
            <a:ext cx="3668329" cy="234696"/>
            <a:chOff x="527304" y="1680210"/>
            <a:chExt cx="3668329" cy="234696"/>
          </a:xfrm>
        </p:grpSpPr>
        <p:sp>
          <p:nvSpPr>
            <p:cNvPr id="9" name="TextBox 9"/>
            <p:cNvSpPr txBox="1"/>
            <p:nvPr/>
          </p:nvSpPr>
          <p:spPr>
            <a:xfrm>
              <a:off x="527304" y="1680210"/>
              <a:ext cx="366832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5E6873"/>
                  </a:solidFill>
                  <a:latin typeface="Segoe UI"/>
                  <a:ea typeface="Segoe UI"/>
                  <a:cs typeface="Segoe UI"/>
                </a:rPr>
                <a:t>CORPORATE STAGE ONE COMPLAINTS BY YEAR</a:t>
              </a:r>
            </a:p>
          </p:txBody>
        </p:sp>
      </p:grpSp>
      <p:graphicFrame>
        <p:nvGraphicFramePr>
          <p:cNvPr id="11" name="p03-stage1-trend"/>
          <p:cNvGraphicFramePr>
            <a:graphicFrameLocks noGrp="1"/>
          </p:cNvGraphicFramePr>
          <p:nvPr/>
        </p:nvGraphicFramePr>
        <p:xfrm>
          <a:off x="533400" y="1905000"/>
          <a:ext cx="7086600" cy="424815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pSp>
        <p:nvGrpSpPr>
          <p:cNvPr id="22" name="context-scale"/>
          <p:cNvGrpSpPr/>
          <p:nvPr/>
        </p:nvGrpSpPr>
        <p:grpSpPr>
          <a:xfrm>
            <a:off x="7987284" y="1680210"/>
            <a:ext cx="3671316" cy="3339846"/>
            <a:chOff x="7987284" y="1680210"/>
            <a:chExt cx="3671316" cy="3339846"/>
          </a:xfrm>
        </p:grpSpPr>
        <p:sp>
          <p:nvSpPr>
            <p:cNvPr id="12" name="TextBox 12"/>
            <p:cNvSpPr txBox="1"/>
            <p:nvPr/>
          </p:nvSpPr>
          <p:spPr>
            <a:xfrm>
              <a:off x="7994904" y="1680210"/>
              <a:ext cx="32740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5E6873"/>
                  </a:solidFill>
                  <a:latin typeface="Segoe UI"/>
                  <a:ea typeface="Segoe UI"/>
                  <a:cs typeface="Segoe UI"/>
                </a:rPr>
                <a:t>IN CONTEXT: COUNCIL ACTIVITY 2023/24</a:t>
              </a:r>
            </a:p>
          </p:txBody>
        </p:sp>
        <p:sp>
          <p:nvSpPr>
            <p:cNvPr id="13" name="Line 13"/>
            <p:cNvSpPr/>
            <p:nvPr/>
          </p:nvSpPr>
          <p:spPr>
            <a:xfrm>
              <a:off x="8001000" y="1943100"/>
              <a:ext cx="3657600" cy="9525"/>
            </a:xfrm>
            <a:custGeom>
              <a:avLst/>
              <a:gdLst/>
              <a:ahLst/>
              <a:cxnLst/>
              <a:rect l="l" t="t" r="r" b="b"/>
              <a:pathLst>
                <a:path w="3657600" h="9525">
                  <a:moveTo>
                    <a:pt x="0" y="0"/>
                  </a:moveTo>
                  <a:lnTo>
                    <a:pt x="3657600" y="0"/>
                  </a:lnTo>
                </a:path>
              </a:pathLst>
            </a:custGeom>
            <a:noFill/>
            <a:ln w="9525">
              <a:solidFill>
                <a:srgbClr val="CFC8BB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987284" y="2089785"/>
              <a:ext cx="2265472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b="1" dirty="0">
                  <a:solidFill>
                    <a:srgbClr val="1F4E79"/>
                  </a:solidFill>
                  <a:latin typeface="Cambria"/>
                  <a:ea typeface="Cambria"/>
                  <a:cs typeface="Cambria"/>
                </a:rPr>
                <a:t>10.7 million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994904" y="2499360"/>
              <a:ext cx="98953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3A4654"/>
                  </a:solidFill>
                  <a:latin typeface="Segoe UI"/>
                  <a:ea typeface="Segoe UI"/>
                  <a:cs typeface="Segoe UI"/>
                </a:rPr>
                <a:t>bins emptied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987284" y="2851785"/>
              <a:ext cx="1579946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b="1" dirty="0">
                  <a:solidFill>
                    <a:srgbClr val="1F4E79"/>
                  </a:solidFill>
                  <a:latin typeface="Cambria"/>
                  <a:ea typeface="Cambria"/>
                  <a:cs typeface="Cambria"/>
                </a:rPr>
                <a:t>212,074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994904" y="3261360"/>
              <a:ext cx="303285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3A4654"/>
                  </a:solidFill>
                  <a:latin typeface="Segoe UI"/>
                  <a:ea typeface="Segoe UI"/>
                  <a:cs typeface="Segoe UI"/>
                </a:rPr>
                <a:t>calls to the Corporate Contact Centre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987284" y="3613785"/>
              <a:ext cx="2023521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b="1" dirty="0">
                  <a:solidFill>
                    <a:srgbClr val="1F4E79"/>
                  </a:solidFill>
                  <a:latin typeface="Cambria"/>
                  <a:ea typeface="Cambria"/>
                  <a:cs typeface="Cambria"/>
                </a:rPr>
                <a:t>c.160,000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994904" y="4023360"/>
              <a:ext cx="178109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3A4654"/>
                  </a:solidFill>
                  <a:latin typeface="Segoe UI"/>
                  <a:ea typeface="Segoe UI"/>
                  <a:cs typeface="Segoe UI"/>
                </a:rPr>
                <a:t>council tax bills issued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987284" y="4375785"/>
              <a:ext cx="2487259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b="1" dirty="0">
                  <a:solidFill>
                    <a:srgbClr val="1F4E79"/>
                  </a:solidFill>
                  <a:latin typeface="Cambria"/>
                  <a:ea typeface="Cambria"/>
                  <a:cs typeface="Cambria"/>
                </a:rPr>
                <a:t>c.3.2 million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994904" y="4785360"/>
              <a:ext cx="22870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3A4654"/>
                  </a:solidFill>
                  <a:latin typeface="Segoe UI"/>
                  <a:ea typeface="Segoe UI"/>
                  <a:cs typeface="Segoe UI"/>
                </a:rPr>
                <a:t>visitors welcomed to Telford</a:t>
              </a:r>
            </a:p>
          </p:txBody>
        </p:sp>
      </p:grpSp>
      <p:grpSp>
        <p:nvGrpSpPr>
          <p:cNvPr id="25" name="context-note"/>
          <p:cNvGrpSpPr/>
          <p:nvPr/>
        </p:nvGrpSpPr>
        <p:grpSpPr>
          <a:xfrm>
            <a:off x="8001000" y="5257800"/>
            <a:ext cx="3134106" cy="981456"/>
            <a:chOff x="8001000" y="5257800"/>
            <a:chExt cx="3134106" cy="981456"/>
          </a:xfrm>
        </p:grpSpPr>
        <p:sp>
          <p:nvSpPr>
            <p:cNvPr id="23" name="Rectangle 23"/>
            <p:cNvSpPr/>
            <p:nvPr/>
          </p:nvSpPr>
          <p:spPr>
            <a:xfrm>
              <a:off x="8001000" y="5257800"/>
              <a:ext cx="28575" cy="914400"/>
            </a:xfrm>
            <a:prstGeom prst="rect">
              <a:avLst/>
            </a:prstGeom>
            <a:solidFill>
              <a:srgbClr val="B83B26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166354" y="5318760"/>
              <a:ext cx="2968752" cy="9204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en-US" sz="1200" dirty="0">
                  <a:solidFill>
                    <a:srgbClr val="1B2A3A"/>
                  </a:solidFill>
                  <a:latin typeface="Segoe UI"/>
                  <a:ea typeface="Segoe UI"/>
                  <a:cs typeface="Segoe UI"/>
                </a:rPr>
                <a:t xml:space="preserve">Complaints stay </a:t>
              </a:r>
              <a:r>
                <a:rPr lang="en-US" sz="1200" b="1" dirty="0">
                  <a:solidFill>
                    <a:srgbClr val="1B2A3A"/>
                  </a:solidFill>
                  <a:latin typeface="Segoe UI"/>
                  <a:ea typeface="Segoe UI"/>
                  <a:cs typeface="Segoe UI"/>
                </a:rPr>
                <a:t>under 1%</a:t>
              </a:r>
              <a:r>
                <a:rPr lang="en-US" sz="1200" dirty="0">
                  <a:solidFill>
                    <a:srgbClr val="1B2A3A"/>
                  </a:solidFill>
                  <a:latin typeface="Segoe UI"/>
                  <a:ea typeface="Segoe UI"/>
                  <a:cs typeface="Segoe UI"/>
                </a:rPr>
                <a:t xml:space="preserve"> of all</a:t>
              </a:r>
              <a:br/>
              <a:r>
                <a:rPr lang="en-US" sz="1200" dirty="0">
                  <a:solidFill>
                    <a:srgbClr val="1B2A3A"/>
                  </a:solidFill>
                  <a:latin typeface="Segoe UI"/>
                  <a:ea typeface="Segoe UI"/>
                  <a:cs typeface="Segoe UI"/>
                </a:rPr>
                <a:t>transactions. The Ombudsman says</a:t>
              </a:r>
              <a:br/>
              <a:r>
                <a:rPr lang="en-US" sz="1200" dirty="0">
                  <a:solidFill>
                    <a:srgbClr val="1B2A3A"/>
                  </a:solidFill>
                  <a:latin typeface="Segoe UI"/>
                  <a:ea typeface="Segoe UI"/>
                  <a:cs typeface="Segoe UI"/>
                </a:rPr>
                <a:t>complaints need not be a negative: they</a:t>
              </a:r>
              <a:br/>
              <a:r>
                <a:rPr lang="en-US" sz="1200" dirty="0">
                  <a:solidFill>
                    <a:srgbClr val="1B2A3A"/>
                  </a:solidFill>
                  <a:latin typeface="Segoe UI"/>
                  <a:ea typeface="Segoe UI"/>
                  <a:cs typeface="Segoe UI"/>
                </a:rPr>
                <a:t>can signal an accessible procedure.</a:t>
              </a:r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528066" y="6516052"/>
            <a:ext cx="741158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rgbClr val="5E6873"/>
                </a:solidFill>
                <a:latin typeface="Segoe UI"/>
                <a:ea typeface="Segoe UI"/>
                <a:cs typeface="Segoe UI"/>
              </a:rPr>
              <a:t>Source: Corporate Feedback Report 2023/24 — Chart 4 (Total Corporate Stage 1 by Year); Report summary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1575523" y="6516052"/>
            <a:ext cx="8841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5E6873"/>
                </a:solidFill>
                <a:latin typeface="Segoe UI"/>
                <a:ea typeface="Segoe UI"/>
                <a:cs typeface="Segoe UI"/>
              </a:rPr>
              <a:t>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8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33400" y="247650"/>
            <a:ext cx="1428750" cy="266700"/>
          </a:xfrm>
          <a:prstGeom prst="snip1Rect">
            <a:avLst>
              <a:gd name="adj" fmla="val 35714"/>
            </a:avLst>
          </a:prstGeom>
          <a:solidFill>
            <a:srgbClr val="1F4E79"/>
          </a:solidFill>
          <a:ln>
            <a:noFill/>
          </a:ln>
        </p:spPr>
      </p:sp>
      <p:grpSp>
        <p:nvGrpSpPr>
          <p:cNvPr id="5" name="chrome"/>
          <p:cNvGrpSpPr/>
          <p:nvPr/>
        </p:nvGrpSpPr>
        <p:grpSpPr>
          <a:xfrm>
            <a:off x="661416" y="315278"/>
            <a:ext cx="10997184" cy="205359"/>
            <a:chOff x="661416" y="315278"/>
            <a:chExt cx="10997184" cy="205359"/>
          </a:xfrm>
        </p:grpSpPr>
        <p:sp>
          <p:nvSpPr>
            <p:cNvPr id="3" name="TextBox 3"/>
            <p:cNvSpPr txBox="1"/>
            <p:nvPr/>
          </p:nvSpPr>
          <p:spPr>
            <a:xfrm>
              <a:off x="661416" y="315278"/>
              <a:ext cx="8574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FFFFFF"/>
                  </a:solidFill>
                  <a:latin typeface="Segoe UI"/>
                  <a:ea typeface="Segoe UI"/>
                  <a:cs typeface="Segoe UI"/>
                </a:rPr>
                <a:t>1 · VOLUME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2076450" y="381000"/>
              <a:ext cx="9582150" cy="9525"/>
            </a:xfrm>
            <a:custGeom>
              <a:avLst/>
              <a:gdLst/>
              <a:ahLst/>
              <a:cxnLst/>
              <a:rect l="l" t="t" r="r" b="b"/>
              <a:pathLst>
                <a:path w="9582150" h="9525">
                  <a:moveTo>
                    <a:pt x="0" y="0"/>
                  </a:moveTo>
                  <a:lnTo>
                    <a:pt x="9582150" y="0"/>
                  </a:lnTo>
                </a:path>
              </a:pathLst>
            </a:custGeom>
            <a:noFill/>
            <a:ln w="9525">
              <a:solidFill>
                <a:srgbClr val="CFC8BB"/>
              </a:solidFill>
            </a:ln>
          </p:spPr>
        </p:sp>
      </p:grpSp>
      <p:grpSp>
        <p:nvGrpSpPr>
          <p:cNvPr id="8" name="title"/>
          <p:cNvGrpSpPr/>
          <p:nvPr/>
        </p:nvGrpSpPr>
        <p:grpSpPr>
          <a:xfrm>
            <a:off x="519684" y="756285"/>
            <a:ext cx="10449408" cy="811149"/>
            <a:chOff x="519684" y="756285"/>
            <a:chExt cx="10449408" cy="811149"/>
          </a:xfrm>
        </p:grpSpPr>
        <p:sp>
          <p:nvSpPr>
            <p:cNvPr id="6" name="TextBox 6"/>
            <p:cNvSpPr txBox="1"/>
            <p:nvPr/>
          </p:nvSpPr>
          <p:spPr>
            <a:xfrm>
              <a:off x="519684" y="756285"/>
              <a:ext cx="10449408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b="1" dirty="0">
                  <a:solidFill>
                    <a:srgbClr val="1B2A3A"/>
                  </a:solidFill>
                  <a:latin typeface="Cambria"/>
                  <a:ea typeface="Cambria"/>
                  <a:cs typeface="Cambria"/>
                </a:rPr>
                <a:t>Two directorates received 372 of the 659 complaints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24256" y="1215390"/>
              <a:ext cx="1010490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rgbClr val="3A4654"/>
                  </a:solidFill>
                  <a:latin typeface="Segoe UI"/>
                  <a:ea typeface="Segoe UI"/>
                  <a:cs typeface="Segoe UI"/>
                </a:rPr>
                <a:t>Neighbourhood &amp; Enforcement, home to waste and highways, received 241 on its own.</a:t>
              </a:r>
            </a:p>
          </p:txBody>
        </p:sp>
      </p:grpSp>
      <p:graphicFrame>
        <p:nvGraphicFramePr>
          <p:cNvPr id="9" name="p04-directorate-bar"/>
          <p:cNvGraphicFramePr>
            <a:graphicFrameLocks noGrp="1"/>
          </p:cNvGraphicFramePr>
          <p:nvPr/>
        </p:nvGraphicFramePr>
        <p:xfrm>
          <a:off x="533400" y="1676400"/>
          <a:ext cx="8039100" cy="4381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Freeform 10"/>
          <p:cNvSpPr/>
          <p:nvPr/>
        </p:nvSpPr>
        <p:spPr>
          <a:xfrm>
            <a:off x="8858250" y="1676400"/>
            <a:ext cx="2800350" cy="1314450"/>
          </a:xfrm>
          <a:prstGeom prst="wedgeRectCallout">
            <a:avLst>
              <a:gd name="adj1" fmla="val -58844"/>
              <a:gd name="adj2" fmla="val -26812"/>
            </a:avLst>
          </a:prstGeom>
          <a:solidFill>
            <a:srgbClr val="FBF8F2"/>
          </a:solidFill>
          <a:ln w="14288">
            <a:solidFill>
              <a:srgbClr val="B83B26"/>
            </a:solidFill>
          </a:ln>
        </p:spPr>
      </p:sp>
      <p:grpSp>
        <p:nvGrpSpPr>
          <p:cNvPr id="13" name="data-note"/>
          <p:cNvGrpSpPr/>
          <p:nvPr/>
        </p:nvGrpSpPr>
        <p:grpSpPr>
          <a:xfrm>
            <a:off x="9004554" y="1829752"/>
            <a:ext cx="2328672" cy="942404"/>
            <a:chOff x="9004554" y="1829752"/>
            <a:chExt cx="2328672" cy="942404"/>
          </a:xfrm>
        </p:grpSpPr>
        <p:sp>
          <p:nvSpPr>
            <p:cNvPr id="11" name="TextBox 11"/>
            <p:cNvSpPr txBox="1"/>
            <p:nvPr/>
          </p:nvSpPr>
          <p:spPr>
            <a:xfrm>
              <a:off x="9005316" y="1829752"/>
              <a:ext cx="77908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B83B26"/>
                  </a:solidFill>
                  <a:latin typeface="Segoe UI"/>
                  <a:ea typeface="Segoe UI"/>
                  <a:cs typeface="Segoe UI"/>
                </a:rPr>
                <a:t>DATA NOTE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004554" y="2080260"/>
              <a:ext cx="2328672" cy="6918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en-US" sz="1200" dirty="0">
                  <a:solidFill>
                    <a:srgbClr val="1B2A3A"/>
                  </a:solidFill>
                  <a:latin typeface="Segoe UI"/>
                  <a:ea typeface="Segoe UI"/>
                  <a:cs typeface="Segoe UI"/>
                </a:rPr>
                <a:t>Report text gives 214 (+22% on</a:t>
              </a:r>
              <a:br/>
              <a:r>
                <a:rPr lang="en-US" sz="1200" dirty="0">
                  <a:solidFill>
                    <a:srgbClr val="1B2A3A"/>
                  </a:solidFill>
                  <a:latin typeface="Segoe UI"/>
                  <a:ea typeface="Segoe UI"/>
                  <a:cs typeface="Segoe UI"/>
                </a:rPr>
                <a:t xml:space="preserve">176). Chart 6 gives </a:t>
              </a:r>
              <a:r>
                <a:rPr lang="en-US" sz="1200" b="1" dirty="0">
                  <a:solidFill>
                    <a:srgbClr val="1B2A3A"/>
                  </a:solidFill>
                  <a:latin typeface="Segoe UI"/>
                  <a:ea typeface="Segoe UI"/>
                  <a:cs typeface="Segoe UI"/>
                </a:rPr>
                <a:t>241</a:t>
              </a:r>
              <a:r>
                <a:rPr lang="en-US" sz="1200" dirty="0">
                  <a:solidFill>
                    <a:srgbClr val="1B2A3A"/>
                  </a:solidFill>
                  <a:latin typeface="Segoe UI"/>
                  <a:ea typeface="Segoe UI"/>
                  <a:cs typeface="Segoe UI"/>
                </a:rPr>
                <a:t xml:space="preserve"> —</a:t>
              </a:r>
              <a:br/>
              <a:r>
                <a:rPr lang="en-US" sz="1200" dirty="0">
                  <a:solidFill>
                    <a:srgbClr val="1B2A3A"/>
                  </a:solidFill>
                  <a:latin typeface="Segoe UI"/>
                  <a:ea typeface="Segoe UI"/>
                  <a:cs typeface="Segoe UI"/>
                </a:rPr>
                <a:t>the value that sums to 659.</a:t>
              </a:r>
            </a:p>
          </p:txBody>
        </p:sp>
      </p:grpSp>
      <p:grpSp>
        <p:nvGrpSpPr>
          <p:cNvPr id="24" name="directorate-notes"/>
          <p:cNvGrpSpPr/>
          <p:nvPr/>
        </p:nvGrpSpPr>
        <p:grpSpPr>
          <a:xfrm>
            <a:off x="8852154" y="3299460"/>
            <a:ext cx="2791968" cy="2692146"/>
            <a:chOff x="8852154" y="3299460"/>
            <a:chExt cx="2791968" cy="2692146"/>
          </a:xfrm>
        </p:grpSpPr>
        <p:sp>
          <p:nvSpPr>
            <p:cNvPr id="14" name="TextBox 14"/>
            <p:cNvSpPr txBox="1"/>
            <p:nvPr/>
          </p:nvSpPr>
          <p:spPr>
            <a:xfrm>
              <a:off x="8852154" y="3299460"/>
              <a:ext cx="21024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B2A3A"/>
                  </a:solidFill>
                  <a:latin typeface="Segoe UI"/>
                  <a:ea typeface="Segoe UI"/>
                  <a:cs typeface="Segoe UI"/>
                </a:rPr>
                <a:t>Communities, Customer &amp;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852154" y="3509010"/>
              <a:ext cx="169346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B2A3A"/>
                  </a:solidFill>
                  <a:latin typeface="Segoe UI"/>
                  <a:ea typeface="Segoe UI"/>
                  <a:cs typeface="Segoe UI"/>
                </a:rPr>
                <a:t>Commercial Services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852154" y="3737610"/>
              <a:ext cx="153070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3A4654"/>
                  </a:solidFill>
                  <a:latin typeface="Segoe UI"/>
                  <a:ea typeface="Segoe UI"/>
                  <a:cs typeface="Segoe UI"/>
                </a:rPr>
                <a:t>131 — up 30% on 101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852154" y="4194810"/>
              <a:ext cx="144776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B2A3A"/>
                  </a:solidFill>
                  <a:latin typeface="Segoe UI"/>
                  <a:ea typeface="Segoe UI"/>
                  <a:cs typeface="Segoe UI"/>
                </a:rPr>
                <a:t>Education &amp; Skills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852154" y="4423410"/>
              <a:ext cx="204188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3A4654"/>
                  </a:solidFill>
                  <a:latin typeface="Segoe UI"/>
                  <a:ea typeface="Segoe UI"/>
                  <a:cs typeface="Segoe UI"/>
                </a:rPr>
                <a:t>56 — up 70% on 33; Special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852154" y="4652010"/>
              <a:ext cx="27157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3A4654"/>
                  </a:solidFill>
                  <a:latin typeface="Segoe UI"/>
                  <a:ea typeface="Segoe UI"/>
                  <a:cs typeface="Segoe UI"/>
                </a:rPr>
                <a:t>Educational Needs: 31 (19 before)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852154" y="5071110"/>
              <a:ext cx="184500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B2A3A"/>
                  </a:solidFill>
                  <a:latin typeface="Segoe UI"/>
                  <a:ea typeface="Segoe UI"/>
                  <a:cs typeface="Segoe UI"/>
                </a:rPr>
                <a:t>Fewer than in 2022/23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852154" y="5299710"/>
              <a:ext cx="25806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3A4654"/>
                  </a:solidFill>
                  <a:latin typeface="Segoe UI"/>
                  <a:ea typeface="Segoe UI"/>
                  <a:cs typeface="Segoe UI"/>
                </a:rPr>
                <a:t>Children's Safeguarding &amp; Family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852154" y="5528310"/>
              <a:ext cx="27919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3A4654"/>
                  </a:solidFill>
                  <a:latin typeface="Segoe UI"/>
                  <a:ea typeface="Segoe UI"/>
                  <a:cs typeface="Segoe UI"/>
                </a:rPr>
                <a:t>Support, Prosperity &amp; Investment,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852154" y="5756910"/>
              <a:ext cx="212110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3A4654"/>
                  </a:solidFill>
                  <a:latin typeface="Segoe UI"/>
                  <a:ea typeface="Segoe UI"/>
                  <a:cs typeface="Segoe UI"/>
                </a:rPr>
                <a:t>Finance &amp; Human Resources</a:t>
              </a:r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528066" y="6516052"/>
            <a:ext cx="873187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rgbClr val="5E6873"/>
                </a:solidFill>
                <a:latin typeface="Segoe UI"/>
                <a:ea typeface="Segoe UI"/>
                <a:cs typeface="Segoe UI"/>
              </a:rPr>
              <a:t>Source: Corporate Feedback Report 2023/24 — Chart 6 (Corporate Complaints received by Directorate) and accompanying text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1575523" y="6516052"/>
            <a:ext cx="8841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5E6873"/>
                </a:solidFill>
                <a:latin typeface="Segoe UI"/>
                <a:ea typeface="Segoe UI"/>
                <a:cs typeface="Segoe UI"/>
              </a:rPr>
              <a:t>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8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33400" y="247650"/>
            <a:ext cx="1428750" cy="266700"/>
          </a:xfrm>
          <a:prstGeom prst="snip1Rect">
            <a:avLst>
              <a:gd name="adj" fmla="val 35714"/>
            </a:avLst>
          </a:prstGeom>
          <a:solidFill>
            <a:srgbClr val="1F4E79"/>
          </a:solidFill>
          <a:ln>
            <a:noFill/>
          </a:ln>
        </p:spPr>
      </p:sp>
      <p:grpSp>
        <p:nvGrpSpPr>
          <p:cNvPr id="5" name="chrome"/>
          <p:cNvGrpSpPr/>
          <p:nvPr/>
        </p:nvGrpSpPr>
        <p:grpSpPr>
          <a:xfrm>
            <a:off x="661416" y="315278"/>
            <a:ext cx="10997184" cy="205359"/>
            <a:chOff x="661416" y="315278"/>
            <a:chExt cx="10997184" cy="205359"/>
          </a:xfrm>
        </p:grpSpPr>
        <p:sp>
          <p:nvSpPr>
            <p:cNvPr id="3" name="TextBox 3"/>
            <p:cNvSpPr txBox="1"/>
            <p:nvPr/>
          </p:nvSpPr>
          <p:spPr>
            <a:xfrm>
              <a:off x="661416" y="315278"/>
              <a:ext cx="8574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FFFFFF"/>
                  </a:solidFill>
                  <a:latin typeface="Segoe UI"/>
                  <a:ea typeface="Segoe UI"/>
                  <a:cs typeface="Segoe UI"/>
                </a:rPr>
                <a:t>1 · VOLUME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2076450" y="381000"/>
              <a:ext cx="9582150" cy="9525"/>
            </a:xfrm>
            <a:custGeom>
              <a:avLst/>
              <a:gdLst/>
              <a:ahLst/>
              <a:cxnLst/>
              <a:rect l="l" t="t" r="r" b="b"/>
              <a:pathLst>
                <a:path w="9582150" h="9525">
                  <a:moveTo>
                    <a:pt x="0" y="0"/>
                  </a:moveTo>
                  <a:lnTo>
                    <a:pt x="9582150" y="0"/>
                  </a:lnTo>
                </a:path>
              </a:pathLst>
            </a:custGeom>
            <a:noFill/>
            <a:ln w="9525">
              <a:solidFill>
                <a:srgbClr val="CFC8BB"/>
              </a:solidFill>
            </a:ln>
          </p:spPr>
        </p:sp>
      </p:grpSp>
      <p:grpSp>
        <p:nvGrpSpPr>
          <p:cNvPr id="8" name="title"/>
          <p:cNvGrpSpPr/>
          <p:nvPr/>
        </p:nvGrpSpPr>
        <p:grpSpPr>
          <a:xfrm>
            <a:off x="519684" y="756285"/>
            <a:ext cx="9747992" cy="811149"/>
            <a:chOff x="519684" y="756285"/>
            <a:chExt cx="9747992" cy="811149"/>
          </a:xfrm>
        </p:grpSpPr>
        <p:sp>
          <p:nvSpPr>
            <p:cNvPr id="6" name="TextBox 6"/>
            <p:cNvSpPr txBox="1"/>
            <p:nvPr/>
          </p:nvSpPr>
          <p:spPr>
            <a:xfrm>
              <a:off x="519684" y="756285"/>
              <a:ext cx="9747992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b="1" dirty="0">
                  <a:solidFill>
                    <a:srgbClr val="1B2A3A"/>
                  </a:solidFill>
                  <a:latin typeface="Cambria"/>
                  <a:ea typeface="Cambria"/>
                  <a:cs typeface="Cambria"/>
                </a:rPr>
                <a:t>Upheld themes shrank — delay fell from 24% to 9%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24256" y="1215390"/>
              <a:ext cx="802376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rgbClr val="3A4654"/>
                  </a:solidFill>
                  <a:latin typeface="Segoe UI"/>
                  <a:ea typeface="Segoe UI"/>
                  <a:cs typeface="Segoe UI"/>
                </a:rPr>
                <a:t>Share of the 434 upheld issues by theme — all four main themes fell.</a:t>
              </a:r>
            </a:p>
          </p:txBody>
        </p:sp>
      </p:grpSp>
      <p:grpSp>
        <p:nvGrpSpPr>
          <p:cNvPr id="31" name="raised-themes"/>
          <p:cNvGrpSpPr/>
          <p:nvPr/>
        </p:nvGrpSpPr>
        <p:grpSpPr>
          <a:xfrm>
            <a:off x="527304" y="1737360"/>
            <a:ext cx="3291078" cy="3987546"/>
            <a:chOff x="527304" y="1737360"/>
            <a:chExt cx="3291078" cy="3987546"/>
          </a:xfrm>
        </p:grpSpPr>
        <p:sp>
          <p:nvSpPr>
            <p:cNvPr id="9" name="TextBox 9"/>
            <p:cNvSpPr txBox="1"/>
            <p:nvPr/>
          </p:nvSpPr>
          <p:spPr>
            <a:xfrm>
              <a:off x="527304" y="1737360"/>
              <a:ext cx="172376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5E6873"/>
                  </a:solidFill>
                  <a:latin typeface="Segoe UI"/>
                  <a:ea typeface="Segoe UI"/>
                  <a:cs typeface="Segoe UI"/>
                </a:rPr>
                <a:t>WHAT PEOPLE RAISED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27304" y="1965960"/>
              <a:ext cx="2496312" cy="44424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en-US" sz="1200" dirty="0">
                  <a:solidFill>
                    <a:srgbClr val="5E6873"/>
                  </a:solidFill>
                  <a:latin typeface="Segoe UI"/>
                  <a:ea typeface="Segoe UI"/>
                  <a:cs typeface="Segoe UI"/>
                </a:rPr>
                <a:t>Top themes before investigation;</a:t>
              </a:r>
              <a:br/>
              <a:r>
                <a:rPr lang="en-US" sz="1200" dirty="0">
                  <a:solidFill>
                    <a:srgbClr val="5E6873"/>
                  </a:solidFill>
                  <a:latin typeface="Segoe UI"/>
                  <a:ea typeface="Segoe UI"/>
                  <a:cs typeface="Segoe UI"/>
                </a:rPr>
                <a:t>one complaint can carry several</a:t>
              </a:r>
            </a:p>
          </p:txBody>
        </p:sp>
        <p:grpSp>
          <p:nvGrpSpPr>
            <p:cNvPr id="17" name="Group 17"/>
            <p:cNvGrpSpPr/>
            <p:nvPr/>
          </p:nvGrpSpPr>
          <p:grpSpPr>
            <a:xfrm>
              <a:off x="533400" y="2495550"/>
              <a:ext cx="3276600" cy="2581275"/>
              <a:chOff x="533400" y="2495550"/>
              <a:chExt cx="3276600" cy="2581275"/>
            </a:xfrm>
          </p:grpSpPr>
          <p:sp>
            <p:nvSpPr>
              <p:cNvPr id="11" name="Line 11"/>
              <p:cNvSpPr/>
              <p:nvPr/>
            </p:nvSpPr>
            <p:spPr>
              <a:xfrm>
                <a:off x="533400" y="2495550"/>
                <a:ext cx="32766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276600" h="9525">
                    <a:moveTo>
                      <a:pt x="0" y="0"/>
                    </a:moveTo>
                    <a:lnTo>
                      <a:pt x="3276600" y="0"/>
                    </a:lnTo>
                  </a:path>
                </a:pathLst>
              </a:custGeom>
              <a:noFill/>
              <a:ln w="9525">
                <a:solidFill>
                  <a:srgbClr val="CFC8BB"/>
                </a:solidFill>
              </a:ln>
            </p:spPr>
          </p:sp>
          <p:sp>
            <p:nvSpPr>
              <p:cNvPr id="12" name="Line 12"/>
              <p:cNvSpPr/>
              <p:nvPr/>
            </p:nvSpPr>
            <p:spPr>
              <a:xfrm>
                <a:off x="533400" y="3009900"/>
                <a:ext cx="32766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276600" h="9525">
                    <a:moveTo>
                      <a:pt x="0" y="0"/>
                    </a:moveTo>
                    <a:lnTo>
                      <a:pt x="3276600" y="0"/>
                    </a:lnTo>
                  </a:path>
                </a:pathLst>
              </a:custGeom>
              <a:noFill/>
              <a:ln w="9525">
                <a:solidFill>
                  <a:srgbClr val="CFC8BB"/>
                </a:solidFill>
              </a:ln>
            </p:spPr>
          </p:sp>
          <p:sp>
            <p:nvSpPr>
              <p:cNvPr id="13" name="Line 13"/>
              <p:cNvSpPr/>
              <p:nvPr/>
            </p:nvSpPr>
            <p:spPr>
              <a:xfrm>
                <a:off x="533400" y="3524250"/>
                <a:ext cx="32766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276600" h="9525">
                    <a:moveTo>
                      <a:pt x="0" y="0"/>
                    </a:moveTo>
                    <a:lnTo>
                      <a:pt x="3276600" y="0"/>
                    </a:lnTo>
                  </a:path>
                </a:pathLst>
              </a:custGeom>
              <a:noFill/>
              <a:ln w="9525">
                <a:solidFill>
                  <a:srgbClr val="CFC8BB"/>
                </a:solidFill>
              </a:ln>
            </p:spPr>
          </p:sp>
          <p:sp>
            <p:nvSpPr>
              <p:cNvPr id="14" name="Line 14"/>
              <p:cNvSpPr/>
              <p:nvPr/>
            </p:nvSpPr>
            <p:spPr>
              <a:xfrm>
                <a:off x="533400" y="4038600"/>
                <a:ext cx="32766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276600" h="9525">
                    <a:moveTo>
                      <a:pt x="0" y="0"/>
                    </a:moveTo>
                    <a:lnTo>
                      <a:pt x="3276600" y="0"/>
                    </a:lnTo>
                  </a:path>
                </a:pathLst>
              </a:custGeom>
              <a:noFill/>
              <a:ln w="9525">
                <a:solidFill>
                  <a:srgbClr val="CFC8BB"/>
                </a:solidFill>
              </a:ln>
            </p:spPr>
          </p:sp>
          <p:sp>
            <p:nvSpPr>
              <p:cNvPr id="15" name="Line 15"/>
              <p:cNvSpPr/>
              <p:nvPr/>
            </p:nvSpPr>
            <p:spPr>
              <a:xfrm>
                <a:off x="533400" y="4552950"/>
                <a:ext cx="32766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276600" h="9525">
                    <a:moveTo>
                      <a:pt x="0" y="0"/>
                    </a:moveTo>
                    <a:lnTo>
                      <a:pt x="3276600" y="0"/>
                    </a:lnTo>
                  </a:path>
                </a:pathLst>
              </a:custGeom>
              <a:noFill/>
              <a:ln w="9525">
                <a:solidFill>
                  <a:srgbClr val="CFC8BB"/>
                </a:solidFill>
              </a:ln>
            </p:spPr>
          </p:sp>
          <p:sp>
            <p:nvSpPr>
              <p:cNvPr id="16" name="Line 16"/>
              <p:cNvSpPr/>
              <p:nvPr/>
            </p:nvSpPr>
            <p:spPr>
              <a:xfrm>
                <a:off x="533400" y="5067300"/>
                <a:ext cx="32766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276600" h="9525">
                    <a:moveTo>
                      <a:pt x="0" y="0"/>
                    </a:moveTo>
                    <a:lnTo>
                      <a:pt x="3276600" y="0"/>
                    </a:lnTo>
                  </a:path>
                </a:pathLst>
              </a:custGeom>
              <a:noFill/>
              <a:ln w="9525">
                <a:solidFill>
                  <a:srgbClr val="CFC8BB"/>
                </a:solidFill>
              </a:ln>
            </p:spPr>
          </p:sp>
        </p:grpSp>
        <p:grpSp>
          <p:nvGrpSpPr>
            <p:cNvPr id="23" name="Group 23"/>
            <p:cNvGrpSpPr/>
            <p:nvPr/>
          </p:nvGrpSpPr>
          <p:grpSpPr>
            <a:xfrm>
              <a:off x="527304" y="2680335"/>
              <a:ext cx="2602121" cy="2292096"/>
              <a:chOff x="527304" y="2680335"/>
              <a:chExt cx="2602121" cy="2292096"/>
            </a:xfrm>
          </p:grpSpPr>
          <p:sp>
            <p:nvSpPr>
              <p:cNvPr id="18" name="TextBox 18"/>
              <p:cNvSpPr txBox="1"/>
              <p:nvPr/>
            </p:nvSpPr>
            <p:spPr>
              <a:xfrm>
                <a:off x="527304" y="2680335"/>
                <a:ext cx="1156036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rgbClr val="1B2A3A"/>
                    </a:solidFill>
                    <a:latin typeface="Segoe UI"/>
                    <a:ea typeface="Segoe UI"/>
                    <a:cs typeface="Segoe UI"/>
                  </a:rPr>
                  <a:t>Communication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527304" y="3194685"/>
                <a:ext cx="1140219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rgbClr val="1B2A3A"/>
                    </a:solidFill>
                    <a:latin typeface="Segoe UI"/>
                    <a:ea typeface="Segoe UI"/>
                    <a:cs typeface="Segoe UI"/>
                  </a:rPr>
                  <a:t>Lack of action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527304" y="3709035"/>
                <a:ext cx="2076736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rgbClr val="1B2A3A"/>
                    </a:solidFill>
                    <a:latin typeface="Segoe UI"/>
                    <a:ea typeface="Segoe UI"/>
                    <a:cs typeface="Segoe UI"/>
                  </a:rPr>
                  <a:t>Complaints involving staff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527304" y="4223385"/>
                <a:ext cx="2351397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rgbClr val="1B2A3A"/>
                    </a:solidFill>
                    <a:latin typeface="Segoe UI"/>
                    <a:ea typeface="Segoe UI"/>
                    <a:cs typeface="Segoe UI"/>
                  </a:rPr>
                  <a:t>Disagree with council decision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527304" y="4737735"/>
                <a:ext cx="2602121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rgbClr val="1B2A3A"/>
                    </a:solidFill>
                    <a:latin typeface="Segoe UI"/>
                    <a:ea typeface="Segoe UI"/>
                    <a:cs typeface="Segoe UI"/>
                  </a:rPr>
                  <a:t>Request for information/service</a:t>
                </a:r>
              </a:p>
            </p:txBody>
          </p:sp>
        </p:grpSp>
        <p:grpSp>
          <p:nvGrpSpPr>
            <p:cNvPr id="29" name="Group 29"/>
            <p:cNvGrpSpPr/>
            <p:nvPr/>
          </p:nvGrpSpPr>
          <p:grpSpPr>
            <a:xfrm>
              <a:off x="3416790" y="2650808"/>
              <a:ext cx="401592" cy="2380107"/>
              <a:chOff x="3416790" y="2650808"/>
              <a:chExt cx="401592" cy="2380107"/>
            </a:xfrm>
          </p:grpSpPr>
          <p:sp>
            <p:nvSpPr>
              <p:cNvPr id="24" name="TextBox 24"/>
              <p:cNvSpPr txBox="1"/>
              <p:nvPr/>
            </p:nvSpPr>
            <p:spPr>
              <a:xfrm>
                <a:off x="3416790" y="2650808"/>
                <a:ext cx="401592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en-US" sz="1650" b="1" dirty="0">
                    <a:solidFill>
                      <a:srgbClr val="1F4E79"/>
                    </a:solidFill>
                    <a:latin typeface="Segoe UI"/>
                    <a:ea typeface="Segoe UI"/>
                    <a:cs typeface="Segoe UI"/>
                  </a:rPr>
                  <a:t>205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3416790" y="3165158"/>
                <a:ext cx="401592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en-US" sz="1650" b="1" dirty="0">
                    <a:solidFill>
                      <a:srgbClr val="1F4E79"/>
                    </a:solidFill>
                    <a:latin typeface="Segoe UI"/>
                    <a:ea typeface="Segoe UI"/>
                    <a:cs typeface="Segoe UI"/>
                  </a:rPr>
                  <a:t>126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3416790" y="3679508"/>
                <a:ext cx="401592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en-US" sz="1650" b="1" dirty="0">
                    <a:solidFill>
                      <a:srgbClr val="1F4E79"/>
                    </a:solidFill>
                    <a:latin typeface="Segoe UI"/>
                    <a:ea typeface="Segoe UI"/>
                    <a:cs typeface="Segoe UI"/>
                  </a:rPr>
                  <a:t>112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3545066" y="4193858"/>
                <a:ext cx="273316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en-US" sz="1650" b="1" dirty="0">
                    <a:solidFill>
                      <a:srgbClr val="1F4E79"/>
                    </a:solidFill>
                    <a:latin typeface="Segoe UI"/>
                    <a:ea typeface="Segoe UI"/>
                    <a:cs typeface="Segoe UI"/>
                  </a:rPr>
                  <a:t>85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3545066" y="4708208"/>
                <a:ext cx="273316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en-US" sz="1650" b="1" dirty="0">
                    <a:solidFill>
                      <a:srgbClr val="1F4E79"/>
                    </a:solidFill>
                    <a:latin typeface="Segoe UI"/>
                    <a:ea typeface="Segoe UI"/>
                    <a:cs typeface="Segoe UI"/>
                  </a:rPr>
                  <a:t>68</a:t>
                </a:r>
              </a:p>
            </p:txBody>
          </p:sp>
        </p:grpSp>
        <p:sp>
          <p:nvSpPr>
            <p:cNvPr id="30" name="TextBox 30"/>
            <p:cNvSpPr txBox="1"/>
            <p:nvPr/>
          </p:nvSpPr>
          <p:spPr>
            <a:xfrm>
              <a:off x="527304" y="5261610"/>
              <a:ext cx="3127629" cy="4632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en-US" sz="1200" dirty="0">
                  <a:solidFill>
                    <a:srgbClr val="3A4654"/>
                  </a:solidFill>
                  <a:latin typeface="Segoe UI"/>
                  <a:ea typeface="Segoe UI"/>
                  <a:cs typeface="Segoe UI"/>
                </a:rPr>
                <a:t>The report puts communication and</a:t>
              </a:r>
              <a:br/>
              <a:r>
                <a:rPr lang="en-US" sz="1200" dirty="0">
                  <a:solidFill>
                    <a:srgbClr val="3A4654"/>
                  </a:solidFill>
                  <a:latin typeface="Segoe UI"/>
                  <a:ea typeface="Segoe UI"/>
                  <a:cs typeface="Segoe UI"/>
                </a:rPr>
                <a:t xml:space="preserve">lack of action at </a:t>
              </a:r>
              <a:r>
                <a:rPr lang="en-US" sz="1200" b="1" dirty="0">
                  <a:solidFill>
                    <a:srgbClr val="1B2A3A"/>
                  </a:solidFill>
                  <a:latin typeface="Segoe UI"/>
                  <a:ea typeface="Segoe UI"/>
                  <a:cs typeface="Segoe UI"/>
                </a:rPr>
                <a:t>30%</a:t>
              </a:r>
              <a:r>
                <a:rPr lang="en-US" sz="1200" dirty="0">
                  <a:solidFill>
                    <a:srgbClr val="3A4654"/>
                  </a:solidFill>
                  <a:latin typeface="Segoe UI"/>
                  <a:ea typeface="Segoe UI"/>
                  <a:cs typeface="Segoe UI"/>
                </a:rPr>
                <a:t xml:space="preserve"> of all issues raised.</a:t>
              </a:r>
            </a:p>
          </p:txBody>
        </p:sp>
      </p:grpSp>
      <p:graphicFrame>
        <p:nvGraphicFramePr>
          <p:cNvPr id="32" name="p05-upheld-themes"/>
          <p:cNvGraphicFramePr>
            <a:graphicFrameLocks noGrp="1"/>
          </p:cNvGraphicFramePr>
          <p:nvPr/>
        </p:nvGraphicFramePr>
        <p:xfrm>
          <a:off x="4191000" y="1676400"/>
          <a:ext cx="7467600" cy="42291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pSp>
        <p:nvGrpSpPr>
          <p:cNvPr id="34" name="admin-note"/>
          <p:cNvGrpSpPr/>
          <p:nvPr/>
        </p:nvGrpSpPr>
        <p:grpSpPr>
          <a:xfrm>
            <a:off x="4184904" y="6023610"/>
            <a:ext cx="6270379" cy="234696"/>
            <a:chOff x="4184904" y="6023610"/>
            <a:chExt cx="6270379" cy="234696"/>
          </a:xfrm>
        </p:grpSpPr>
        <p:sp>
          <p:nvSpPr>
            <p:cNvPr id="33" name="TextBox 33"/>
            <p:cNvSpPr txBox="1"/>
            <p:nvPr/>
          </p:nvSpPr>
          <p:spPr>
            <a:xfrm>
              <a:off x="4184904" y="6023610"/>
              <a:ext cx="627037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5E6873"/>
                  </a:solidFill>
                  <a:latin typeface="Segoe UI"/>
                  <a:ea typeface="Segoe UI"/>
                  <a:cs typeface="Segoe UI"/>
                </a:rPr>
                <a:t>Fifth theme: processing/administrative error, 4% of upheld issues in 2023/24.</a:t>
              </a:r>
            </a:p>
          </p:txBody>
        </p:sp>
      </p:grpSp>
      <p:sp>
        <p:nvSpPr>
          <p:cNvPr id="35" name="TextBox 35"/>
          <p:cNvSpPr txBox="1"/>
          <p:nvPr/>
        </p:nvSpPr>
        <p:spPr>
          <a:xfrm>
            <a:off x="528066" y="6516052"/>
            <a:ext cx="100401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rgbClr val="5E6873"/>
                </a:solidFill>
                <a:latin typeface="Segoe UI"/>
                <a:ea typeface="Segoe UI"/>
                <a:cs typeface="Segoe UI"/>
              </a:rPr>
              <a:t>Source: Corporate Feedback Report 2023/24 — Chart 5 (Complaint Themes prior to investigation); Chart 8 and text on the top five upheld themes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1575523" y="6516052"/>
            <a:ext cx="8841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5E6873"/>
                </a:solidFill>
                <a:latin typeface="Segoe UI"/>
                <a:ea typeface="Segoe UI"/>
                <a:cs typeface="Segoe UI"/>
              </a:rPr>
              <a:t>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8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33400" y="247650"/>
            <a:ext cx="1428750" cy="266700"/>
          </a:xfrm>
          <a:prstGeom prst="snip1Rect">
            <a:avLst>
              <a:gd name="adj" fmla="val 35714"/>
            </a:avLst>
          </a:prstGeom>
          <a:solidFill>
            <a:srgbClr val="1F4E79"/>
          </a:solidFill>
          <a:ln>
            <a:noFill/>
          </a:ln>
        </p:spPr>
      </p:sp>
      <p:grpSp>
        <p:nvGrpSpPr>
          <p:cNvPr id="5" name="chrome"/>
          <p:cNvGrpSpPr/>
          <p:nvPr/>
        </p:nvGrpSpPr>
        <p:grpSpPr>
          <a:xfrm>
            <a:off x="661416" y="315278"/>
            <a:ext cx="10997184" cy="205359"/>
            <a:chOff x="661416" y="315278"/>
            <a:chExt cx="10997184" cy="205359"/>
          </a:xfrm>
        </p:grpSpPr>
        <p:sp>
          <p:nvSpPr>
            <p:cNvPr id="3" name="TextBox 3"/>
            <p:cNvSpPr txBox="1"/>
            <p:nvPr/>
          </p:nvSpPr>
          <p:spPr>
            <a:xfrm>
              <a:off x="661416" y="315278"/>
              <a:ext cx="92806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FFFFFF"/>
                  </a:solidFill>
                  <a:latin typeface="Segoe UI"/>
                  <a:ea typeface="Segoe UI"/>
                  <a:cs typeface="Segoe UI"/>
                </a:rPr>
                <a:t>2 · HANDLING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2076450" y="381000"/>
              <a:ext cx="9582150" cy="9525"/>
            </a:xfrm>
            <a:custGeom>
              <a:avLst/>
              <a:gdLst/>
              <a:ahLst/>
              <a:cxnLst/>
              <a:rect l="l" t="t" r="r" b="b"/>
              <a:pathLst>
                <a:path w="9582150" h="9525">
                  <a:moveTo>
                    <a:pt x="0" y="0"/>
                  </a:moveTo>
                  <a:lnTo>
                    <a:pt x="9582150" y="0"/>
                  </a:lnTo>
                </a:path>
              </a:pathLst>
            </a:custGeom>
            <a:noFill/>
            <a:ln w="9525">
              <a:solidFill>
                <a:srgbClr val="CFC8BB"/>
              </a:solidFill>
            </a:ln>
          </p:spPr>
        </p:sp>
      </p:grpSp>
      <p:grpSp>
        <p:nvGrpSpPr>
          <p:cNvPr id="8" name="title"/>
          <p:cNvGrpSpPr/>
          <p:nvPr/>
        </p:nvGrpSpPr>
        <p:grpSpPr>
          <a:xfrm>
            <a:off x="519684" y="756285"/>
            <a:ext cx="10656656" cy="811149"/>
            <a:chOff x="519684" y="756285"/>
            <a:chExt cx="10656656" cy="811149"/>
          </a:xfrm>
        </p:grpSpPr>
        <p:sp>
          <p:nvSpPr>
            <p:cNvPr id="6" name="TextBox 6"/>
            <p:cNvSpPr txBox="1"/>
            <p:nvPr/>
          </p:nvSpPr>
          <p:spPr>
            <a:xfrm>
              <a:off x="519684" y="756285"/>
              <a:ext cx="7588377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b="1" dirty="0">
                  <a:solidFill>
                    <a:srgbClr val="1B2A3A"/>
                  </a:solidFill>
                  <a:latin typeface="Cambria"/>
                  <a:ea typeface="Cambria"/>
                  <a:cs typeface="Cambria"/>
                </a:rPr>
                <a:t>42% upheld — the same rate as 2022/23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24256" y="1215390"/>
              <a:ext cx="106520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rgbClr val="3A4654"/>
                  </a:solidFill>
                  <a:latin typeface="Segoe UI"/>
                  <a:ea typeface="Segoe UI"/>
                  <a:cs typeface="Segoe UI"/>
                </a:rPr>
                <a:t>The largest directorates have the most upheld complaints because they answer the most.</a:t>
              </a:r>
            </a:p>
          </p:txBody>
        </p:sp>
      </p:grpSp>
      <p:grpSp>
        <p:nvGrpSpPr>
          <p:cNvPr id="20" name="overall-outcome"/>
          <p:cNvGrpSpPr/>
          <p:nvPr/>
        </p:nvGrpSpPr>
        <p:grpSpPr>
          <a:xfrm>
            <a:off x="514350" y="1737360"/>
            <a:ext cx="3301746" cy="2196846"/>
            <a:chOff x="514350" y="1737360"/>
            <a:chExt cx="3301746" cy="2196846"/>
          </a:xfrm>
        </p:grpSpPr>
        <p:sp>
          <p:nvSpPr>
            <p:cNvPr id="9" name="TextBox 9"/>
            <p:cNvSpPr txBox="1"/>
            <p:nvPr/>
          </p:nvSpPr>
          <p:spPr>
            <a:xfrm>
              <a:off x="527304" y="1737360"/>
              <a:ext cx="221662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5E6873"/>
                  </a:solidFill>
                  <a:latin typeface="Segoe UI"/>
                  <a:ea typeface="Segoe UI"/>
                  <a:cs typeface="Segoe UI"/>
                </a:rPr>
                <a:t>ALL STAGE ONE RESPONSES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14350" y="2047875"/>
              <a:ext cx="1281455" cy="8763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500" b="1" dirty="0">
                  <a:solidFill>
                    <a:srgbClr val="1F4E79"/>
                  </a:solidFill>
                  <a:latin typeface="Cambria"/>
                  <a:ea typeface="Cambria"/>
                  <a:cs typeface="Cambria"/>
                </a:rPr>
                <a:t>42%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687068" y="2355532"/>
              <a:ext cx="69423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1B2A3A"/>
                  </a:solidFill>
                  <a:latin typeface="Segoe UI"/>
                  <a:ea typeface="Segoe UI"/>
                  <a:cs typeface="Segoe UI"/>
                </a:rPr>
                <a:t>upheld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25018" y="2736532"/>
              <a:ext cx="2625662" cy="6084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en-US" sz="1650" dirty="0">
                  <a:solidFill>
                    <a:srgbClr val="3A4654"/>
                  </a:solidFill>
                  <a:latin typeface="Segoe UI"/>
                  <a:ea typeface="Segoe UI"/>
                  <a:cs typeface="Segoe UI"/>
                </a:rPr>
                <a:t>271 of the 647 complaints</a:t>
              </a:r>
              <a:br/>
              <a:r>
                <a:rPr lang="en-US" sz="1650" dirty="0">
                  <a:solidFill>
                    <a:srgbClr val="3A4654"/>
                  </a:solidFill>
                  <a:latin typeface="Segoe UI"/>
                  <a:ea typeface="Segoe UI"/>
                  <a:cs typeface="Segoe UI"/>
                </a:rPr>
                <a:t>answered in the year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533400" y="3429000"/>
              <a:ext cx="1372362" cy="171450"/>
            </a:xfrm>
            <a:prstGeom prst="rect">
              <a:avLst/>
            </a:prstGeom>
            <a:solidFill>
              <a:srgbClr val="1F4E79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1905762" y="3429000"/>
              <a:ext cx="1681353" cy="171450"/>
            </a:xfrm>
            <a:prstGeom prst="rect">
              <a:avLst/>
            </a:prstGeom>
            <a:solidFill>
              <a:srgbClr val="A9BCD0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3587115" y="3429000"/>
              <a:ext cx="222885" cy="171450"/>
            </a:xfrm>
            <a:prstGeom prst="rect">
              <a:avLst/>
            </a:prstGeom>
            <a:solidFill>
              <a:srgbClr val="D9D4CA"/>
            </a:solidFill>
            <a:ln>
              <a:noFill/>
            </a:ln>
          </p:spPr>
        </p:sp>
        <p:grpSp>
          <p:nvGrpSpPr>
            <p:cNvPr id="19" name="Group 19"/>
            <p:cNvGrpSpPr/>
            <p:nvPr/>
          </p:nvGrpSpPr>
          <p:grpSpPr>
            <a:xfrm>
              <a:off x="527304" y="3699510"/>
              <a:ext cx="3288792" cy="234696"/>
              <a:chOff x="527304" y="3699510"/>
              <a:chExt cx="3288792" cy="234696"/>
            </a:xfrm>
          </p:grpSpPr>
          <p:sp>
            <p:nvSpPr>
              <p:cNvPr id="16" name="TextBox 16"/>
              <p:cNvSpPr txBox="1"/>
              <p:nvPr/>
            </p:nvSpPr>
            <p:spPr>
              <a:xfrm>
                <a:off x="527304" y="3699510"/>
                <a:ext cx="860146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rgbClr val="3A4654"/>
                    </a:solidFill>
                    <a:latin typeface="Segoe UI"/>
                    <a:ea typeface="Segoe UI"/>
                    <a:cs typeface="Segoe UI"/>
                  </a:rPr>
                  <a:t>Upheld 42%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1956054" y="3699510"/>
                <a:ext cx="1174496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rgbClr val="3A4654"/>
                    </a:solidFill>
                    <a:latin typeface="Segoe UI"/>
                    <a:ea typeface="Segoe UI"/>
                    <a:cs typeface="Segoe UI"/>
                  </a:rPr>
                  <a:t>Not upheld 51%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3060558" y="3699510"/>
                <a:ext cx="75553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en-US" sz="1200" dirty="0">
                    <a:solidFill>
                      <a:srgbClr val="3A4654"/>
                    </a:solidFill>
                    <a:latin typeface="Segoe UI"/>
                    <a:ea typeface="Segoe UI"/>
                    <a:cs typeface="Segoe UI"/>
                  </a:rPr>
                  <a:t>Other 7%</a:t>
                </a:r>
              </a:p>
            </p:txBody>
          </p:sp>
        </p:grpSp>
      </p:grpSp>
      <p:grpSp>
        <p:nvGrpSpPr>
          <p:cNvPr id="28" name="directorate-callouts"/>
          <p:cNvGrpSpPr/>
          <p:nvPr/>
        </p:nvGrpSpPr>
        <p:grpSpPr>
          <a:xfrm>
            <a:off x="527304" y="4324350"/>
            <a:ext cx="3282696" cy="1629156"/>
            <a:chOff x="527304" y="4324350"/>
            <a:chExt cx="3282696" cy="1629156"/>
          </a:xfrm>
        </p:grpSpPr>
        <p:sp>
          <p:nvSpPr>
            <p:cNvPr id="21" name="Line 21"/>
            <p:cNvSpPr/>
            <p:nvPr/>
          </p:nvSpPr>
          <p:spPr>
            <a:xfrm>
              <a:off x="533400" y="4324350"/>
              <a:ext cx="3276600" cy="9525"/>
            </a:xfrm>
            <a:custGeom>
              <a:avLst/>
              <a:gdLst/>
              <a:ahLst/>
              <a:cxnLst/>
              <a:rect l="l" t="t" r="r" b="b"/>
              <a:pathLst>
                <a:path w="3276600" h="9525">
                  <a:moveTo>
                    <a:pt x="0" y="0"/>
                  </a:moveTo>
                  <a:lnTo>
                    <a:pt x="3276600" y="0"/>
                  </a:lnTo>
                </a:path>
              </a:pathLst>
            </a:custGeom>
            <a:noFill/>
            <a:ln w="9525">
              <a:solidFill>
                <a:srgbClr val="CFC8BB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527304" y="4461510"/>
              <a:ext cx="99303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B2A3A"/>
                  </a:solidFill>
                  <a:latin typeface="Segoe UI"/>
                  <a:ea typeface="Segoe UI"/>
                  <a:cs typeface="Segoe UI"/>
                </a:rPr>
                <a:t>Most upheld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27304" y="4690110"/>
              <a:ext cx="317715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3A4654"/>
                  </a:solidFill>
                  <a:latin typeface="Segoe UI"/>
                  <a:ea typeface="Segoe UI"/>
                  <a:cs typeface="Segoe UI"/>
                </a:rPr>
                <a:t>Neighbourhood &amp; Enforcement: 97 (41%)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27304" y="4918710"/>
              <a:ext cx="200289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3A4654"/>
                  </a:solidFill>
                  <a:latin typeface="Segoe UI"/>
                  <a:ea typeface="Segoe UI"/>
                  <a:cs typeface="Segoe UI"/>
                </a:rPr>
                <a:t>Communities, Customer &amp;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27304" y="5147310"/>
              <a:ext cx="173425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3A4654"/>
                  </a:solidFill>
                  <a:latin typeface="Segoe UI"/>
                  <a:ea typeface="Segoe UI"/>
                  <a:cs typeface="Segoe UI"/>
                </a:rPr>
                <a:t>Commercial: 64 (50%)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27304" y="5490210"/>
              <a:ext cx="162044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B2A3A"/>
                  </a:solidFill>
                  <a:latin typeface="Segoe UI"/>
                  <a:ea typeface="Segoe UI"/>
                  <a:cs typeface="Segoe UI"/>
                </a:rPr>
                <a:t>Highest upheld rate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27304" y="5718810"/>
              <a:ext cx="31922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3A4654"/>
                  </a:solidFill>
                  <a:latin typeface="Segoe UI"/>
                  <a:ea typeface="Segoe UI"/>
                  <a:cs typeface="Segoe UI"/>
                </a:rPr>
                <a:t>Policy &amp; Governance: 63% (5 complaints)</a:t>
              </a:r>
            </a:p>
          </p:txBody>
        </p:sp>
      </p:grpSp>
      <p:graphicFrame>
        <p:nvGraphicFramePr>
          <p:cNvPr id="29" name="p06-outcomes-directorate"/>
          <p:cNvGraphicFramePr>
            <a:graphicFrameLocks noGrp="1"/>
          </p:cNvGraphicFramePr>
          <p:nvPr/>
        </p:nvGraphicFramePr>
        <p:xfrm>
          <a:off x="4095750" y="1676400"/>
          <a:ext cx="7562850" cy="4381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pSp>
        <p:nvGrpSpPr>
          <p:cNvPr id="31" name="other-definition"/>
          <p:cNvGrpSpPr/>
          <p:nvPr/>
        </p:nvGrpSpPr>
        <p:grpSpPr>
          <a:xfrm>
            <a:off x="4090416" y="6154102"/>
            <a:ext cx="6072456" cy="205359"/>
            <a:chOff x="4090416" y="6154102"/>
            <a:chExt cx="6072456" cy="205359"/>
          </a:xfrm>
        </p:grpSpPr>
        <p:sp>
          <p:nvSpPr>
            <p:cNvPr id="30" name="TextBox 30"/>
            <p:cNvSpPr txBox="1"/>
            <p:nvPr/>
          </p:nvSpPr>
          <p:spPr>
            <a:xfrm>
              <a:off x="4090416" y="6154102"/>
              <a:ext cx="607245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5E6873"/>
                  </a:solidFill>
                  <a:latin typeface="Segoe UI"/>
                  <a:ea typeface="Segoe UI"/>
                  <a:cs typeface="Segoe UI"/>
                </a:rPr>
                <a:t>Other = service resolved, dealt with through courts, out of jurisdiction or withdrawn.</a:t>
              </a:r>
            </a:p>
          </p:txBody>
        </p:sp>
      </p:grpSp>
      <p:sp>
        <p:nvSpPr>
          <p:cNvPr id="32" name="TextBox 32"/>
          <p:cNvSpPr txBox="1"/>
          <p:nvPr/>
        </p:nvSpPr>
        <p:spPr>
          <a:xfrm>
            <a:off x="528066" y="6516052"/>
            <a:ext cx="89802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rgbClr val="5E6873"/>
                </a:solidFill>
                <a:latin typeface="Segoe UI"/>
                <a:ea typeface="Segoe UI"/>
                <a:cs typeface="Segoe UI"/>
              </a:rPr>
              <a:t>Source: Corporate Feedback Report 2023/24 — Chart 7 (Corporate Complaints Outcomes 2023/24); Stage One Complaint outcomes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1575523" y="6516052"/>
            <a:ext cx="8841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5E6873"/>
                </a:solidFill>
                <a:latin typeface="Segoe UI"/>
                <a:ea typeface="Segoe UI"/>
                <a:cs typeface="Segoe UI"/>
              </a:rPr>
              <a:t>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xmlns:p="http://schemas.openxmlformats.org/presentationml/2006/main" id="9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8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33400" y="247650"/>
            <a:ext cx="1428750" cy="266700"/>
          </a:xfrm>
          <a:prstGeom prst="snip1Rect">
            <a:avLst>
              <a:gd name="adj" fmla="val 35714"/>
            </a:avLst>
          </a:prstGeom>
          <a:solidFill>
            <a:srgbClr val="1F4E79"/>
          </a:solidFill>
          <a:ln>
            <a:noFill/>
          </a:ln>
        </p:spPr>
      </p:sp>
      <p:grpSp>
        <p:nvGrpSpPr>
          <p:cNvPr id="5" name="chrome"/>
          <p:cNvGrpSpPr/>
          <p:nvPr/>
        </p:nvGrpSpPr>
        <p:grpSpPr>
          <a:xfrm>
            <a:off x="661416" y="315278"/>
            <a:ext cx="10997184" cy="205359"/>
            <a:chOff x="661416" y="315278"/>
            <a:chExt cx="10997184" cy="205359"/>
          </a:xfrm>
        </p:grpSpPr>
        <p:sp>
          <p:nvSpPr>
            <p:cNvPr id="3" name="TextBox 3"/>
            <p:cNvSpPr txBox="1"/>
            <p:nvPr/>
          </p:nvSpPr>
          <p:spPr>
            <a:xfrm>
              <a:off x="661416" y="315278"/>
              <a:ext cx="92806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FFFFFF"/>
                  </a:solidFill>
                  <a:latin typeface="Segoe UI"/>
                  <a:ea typeface="Segoe UI"/>
                  <a:cs typeface="Segoe UI"/>
                </a:rPr>
                <a:t>2 · HANDLING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2076450" y="381000"/>
              <a:ext cx="9582150" cy="9525"/>
            </a:xfrm>
            <a:custGeom>
              <a:avLst/>
              <a:gdLst/>
              <a:ahLst/>
              <a:cxnLst/>
              <a:rect l="l" t="t" r="r" b="b"/>
              <a:pathLst>
                <a:path w="9582150" h="9525">
                  <a:moveTo>
                    <a:pt x="0" y="0"/>
                  </a:moveTo>
                  <a:lnTo>
                    <a:pt x="9582150" y="0"/>
                  </a:lnTo>
                </a:path>
              </a:pathLst>
            </a:custGeom>
            <a:noFill/>
            <a:ln w="9525">
              <a:solidFill>
                <a:srgbClr val="CFC8BB"/>
              </a:solidFill>
            </a:ln>
          </p:spPr>
        </p:sp>
      </p:grpSp>
      <p:grpSp>
        <p:nvGrpSpPr>
          <p:cNvPr id="8" name="title"/>
          <p:cNvGrpSpPr/>
          <p:nvPr/>
        </p:nvGrpSpPr>
        <p:grpSpPr>
          <a:xfrm>
            <a:off x="519684" y="756285"/>
            <a:ext cx="10149017" cy="811149"/>
            <a:chOff x="519684" y="756285"/>
            <a:chExt cx="10149017" cy="811149"/>
          </a:xfrm>
        </p:grpSpPr>
        <p:sp>
          <p:nvSpPr>
            <p:cNvPr id="6" name="TextBox 6"/>
            <p:cNvSpPr txBox="1"/>
            <p:nvPr/>
          </p:nvSpPr>
          <p:spPr>
            <a:xfrm>
              <a:off x="519684" y="756285"/>
              <a:ext cx="10149017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b="1" dirty="0">
                  <a:solidFill>
                    <a:srgbClr val="1B2A3A"/>
                  </a:solidFill>
                  <a:latin typeface="Cambria"/>
                  <a:ea typeface="Cambria"/>
                  <a:cs typeface="Cambria"/>
                </a:rPr>
                <a:t>87% answered in 15 days; five directorates hit 90%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24256" y="1215390"/>
              <a:ext cx="953115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rgbClr val="3A4654"/>
                  </a:solidFill>
                  <a:latin typeface="Segoe UI"/>
                  <a:ea typeface="Segoe UI"/>
                  <a:cs typeface="Segoe UI"/>
                </a:rPr>
                <a:t>Children's Safeguarding (53%) and Education &amp; Skills (60%) lag furthest behind.</a:t>
              </a:r>
            </a:p>
          </p:txBody>
        </p:sp>
      </p:grpSp>
      <p:grpSp>
        <p:nvGrpSpPr>
          <p:cNvPr id="15" name="p07-timeliness-bar"/>
          <p:cNvGrpSpPr/>
          <p:nvPr/>
        </p:nvGrpSpPr>
        <p:grpSpPr>
          <a:xfrm>
            <a:off x="533400" y="1676400"/>
            <a:ext cx="18630900" cy="4457700"/>
            <a:chOff x="533400" y="1676400"/>
            <a:chExt cx="18630900" cy="4457700"/>
          </a:xfrm>
        </p:grpSpPr>
        <p:graphicFrame>
          <p:nvGraphicFramePr>
            <p:cNvPr id="9" name="p07-timeliness-bar"/>
            <p:cNvGraphicFramePr>
              <a:graphicFrameLocks noGrp="1"/>
            </p:cNvGraphicFramePr>
            <p:nvPr/>
          </p:nvGraphicFramePr>
          <p:xfrm>
            <a:off x="533400" y="1676400"/>
            <a:ext cx="9848850" cy="4457700"/>
          </p:xfrm>
          <a:graphic>
            <a:graphicData uri="http://schemas.openxmlformats.org/drawingml/2006/chart">
              <c:chart xmlns:c="http://schemas.openxmlformats.org/drawingml/2006/chart" r:id="rId2"/>
            </a:graphicData>
          </a:graphic>
        </p:graphicFrame>
        <p:sp>
          <p:nvSpPr>
            <p:cNvPr id="10" name="Chart Note 10"/>
            <p:cNvSpPr txBox="1"/>
            <p:nvPr/>
          </p:nvSpPr>
          <p:spPr>
            <a:xfrm>
              <a:off x="9315450" y="3901440"/>
              <a:ext cx="984885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b" anchorCtr="0"/>
            <a:lstStyle/>
            <a:p>
              <a:pPr algn="l"/>
              <a:r>
                <a:rPr lang="en-US" sz="1050">
                  <a:solidFill>
                    <a:srgbClr val="5E6873"/>
                  </a:solidFill>
                  <a:latin typeface="Segoe UI"/>
                  <a:ea typeface="Microsoft YaHei"/>
                  <a:cs typeface="Segoe UI"/>
                </a:rPr>
                <a:t>(2022/23: 57%)</a:t>
              </a:r>
            </a:p>
          </p:txBody>
        </p:sp>
        <p:sp>
          <p:nvSpPr>
            <p:cNvPr id="11" name="Chart Note 11"/>
            <p:cNvSpPr txBox="1"/>
            <p:nvPr/>
          </p:nvSpPr>
          <p:spPr>
            <a:xfrm>
              <a:off x="8801100" y="4234815"/>
              <a:ext cx="984885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b" anchorCtr="0"/>
            <a:lstStyle/>
            <a:p>
              <a:pPr algn="l"/>
              <a:r>
                <a:rPr lang="en-US" sz="1050">
                  <a:solidFill>
                    <a:srgbClr val="5E6873"/>
                  </a:solidFill>
                  <a:latin typeface="Segoe UI"/>
                  <a:ea typeface="Microsoft YaHei"/>
                  <a:cs typeface="Segoe UI"/>
                </a:rPr>
                <a:t>(2022/23: 67%)</a:t>
              </a:r>
            </a:p>
          </p:txBody>
        </p:sp>
        <p:sp>
          <p:nvSpPr>
            <p:cNvPr id="12" name="Chart Note 12"/>
            <p:cNvSpPr txBox="1"/>
            <p:nvPr/>
          </p:nvSpPr>
          <p:spPr>
            <a:xfrm>
              <a:off x="8172450" y="4901565"/>
              <a:ext cx="984885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b" anchorCtr="0"/>
            <a:lstStyle/>
            <a:p>
              <a:pPr algn="l"/>
              <a:r>
                <a:rPr lang="en-US" sz="1050">
                  <a:solidFill>
                    <a:srgbClr val="5E6873"/>
                  </a:solidFill>
                  <a:latin typeface="Segoe UI"/>
                  <a:ea typeface="Microsoft YaHei"/>
                  <a:cs typeface="Segoe UI"/>
                </a:rPr>
                <a:t>(2022/23: 100%)</a:t>
              </a:r>
            </a:p>
          </p:txBody>
        </p:sp>
        <p:sp>
          <p:nvSpPr>
            <p:cNvPr id="13" name="Chart Note 13"/>
            <p:cNvSpPr txBox="1"/>
            <p:nvPr/>
          </p:nvSpPr>
          <p:spPr>
            <a:xfrm>
              <a:off x="7772400" y="5234940"/>
              <a:ext cx="984885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b" anchorCtr="0"/>
            <a:lstStyle/>
            <a:p>
              <a:pPr algn="l"/>
              <a:r>
                <a:rPr lang="en-US" sz="1050">
                  <a:solidFill>
                    <a:srgbClr val="5E6873"/>
                  </a:solidFill>
                  <a:latin typeface="Segoe UI"/>
                  <a:ea typeface="Microsoft YaHei"/>
                  <a:cs typeface="Segoe UI"/>
                </a:rPr>
                <a:t>(2022/23: 81%)</a:t>
              </a:r>
            </a:p>
          </p:txBody>
        </p:sp>
        <p:sp>
          <p:nvSpPr>
            <p:cNvPr id="14" name="Chart Note 14"/>
            <p:cNvSpPr txBox="1"/>
            <p:nvPr/>
          </p:nvSpPr>
          <p:spPr>
            <a:xfrm>
              <a:off x="7372350" y="5568315"/>
              <a:ext cx="984885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b" anchorCtr="0"/>
            <a:lstStyle/>
            <a:p>
              <a:pPr algn="l"/>
              <a:r>
                <a:rPr lang="en-US" sz="1050">
                  <a:solidFill>
                    <a:srgbClr val="5E6873"/>
                  </a:solidFill>
                  <a:latin typeface="Segoe UI"/>
                  <a:ea typeface="Microsoft YaHei"/>
                  <a:cs typeface="Segoe UI"/>
                </a:rPr>
                <a:t>(2022/23: 39%)</a:t>
              </a:r>
            </a:p>
          </p:txBody>
        </p:sp>
      </p:grpSp>
      <p:grpSp>
        <p:nvGrpSpPr>
          <p:cNvPr id="31" name="avg-days"/>
          <p:cNvGrpSpPr/>
          <p:nvPr/>
        </p:nvGrpSpPr>
        <p:grpSpPr>
          <a:xfrm>
            <a:off x="10515600" y="1677352"/>
            <a:ext cx="1072134" cy="4190048"/>
            <a:chOff x="10515600" y="1677352"/>
            <a:chExt cx="1072134" cy="4190048"/>
          </a:xfrm>
        </p:grpSpPr>
        <p:sp>
          <p:nvSpPr>
            <p:cNvPr id="16" name="Line 16"/>
            <p:cNvSpPr/>
            <p:nvPr/>
          </p:nvSpPr>
          <p:spPr>
            <a:xfrm>
              <a:off x="10515600" y="1866900"/>
              <a:ext cx="9525" cy="4000500"/>
            </a:xfrm>
            <a:custGeom>
              <a:avLst/>
              <a:gdLst/>
              <a:ahLst/>
              <a:cxnLst/>
              <a:rect l="l" t="t" r="r" b="b"/>
              <a:pathLst>
                <a:path w="9525" h="4000500">
                  <a:moveTo>
                    <a:pt x="0" y="0"/>
                  </a:moveTo>
                  <a:lnTo>
                    <a:pt x="0" y="4000500"/>
                  </a:lnTo>
                </a:path>
              </a:pathLst>
            </a:custGeom>
            <a:noFill/>
            <a:ln w="9525">
              <a:solidFill>
                <a:srgbClr val="CFC8BB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0926265" y="1677352"/>
              <a:ext cx="66146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b="1" dirty="0">
                  <a:solidFill>
                    <a:srgbClr val="5E6873"/>
                  </a:solidFill>
                  <a:latin typeface="Segoe UI"/>
                  <a:ea typeface="Segoe UI"/>
                  <a:cs typeface="Segoe UI"/>
                </a:rPr>
                <a:t>AVG DAYS</a:t>
              </a:r>
            </a:p>
          </p:txBody>
        </p:sp>
        <p:grpSp>
          <p:nvGrpSpPr>
            <p:cNvPr id="30" name="Group 30"/>
            <p:cNvGrpSpPr/>
            <p:nvPr/>
          </p:nvGrpSpPr>
          <p:grpSpPr>
            <a:xfrm>
              <a:off x="11237321" y="1956435"/>
              <a:ext cx="198775" cy="3901821"/>
              <a:chOff x="11237321" y="1956435"/>
              <a:chExt cx="198775" cy="3901821"/>
            </a:xfrm>
          </p:grpSpPr>
          <p:sp>
            <p:nvSpPr>
              <p:cNvPr id="18" name="TextBox 18"/>
              <p:cNvSpPr txBox="1"/>
              <p:nvPr/>
            </p:nvSpPr>
            <p:spPr>
              <a:xfrm>
                <a:off x="11330612" y="1956435"/>
                <a:ext cx="10548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en-US" sz="1200" b="1" dirty="0">
                    <a:solidFill>
                      <a:srgbClr val="1B2A3A"/>
                    </a:solidFill>
                    <a:latin typeface="Segoe UI"/>
                    <a:ea typeface="Segoe UI"/>
                    <a:cs typeface="Segoe UI"/>
                  </a:rPr>
                  <a:t>9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11237321" y="2289810"/>
                <a:ext cx="198775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en-US" sz="1200" b="1" dirty="0">
                    <a:solidFill>
                      <a:srgbClr val="1B2A3A"/>
                    </a:solidFill>
                    <a:latin typeface="Segoe UI"/>
                    <a:ea typeface="Segoe UI"/>
                    <a:cs typeface="Segoe UI"/>
                  </a:rPr>
                  <a:t>10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11330612" y="2623185"/>
                <a:ext cx="10548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en-US" sz="1200" b="1" dirty="0">
                    <a:solidFill>
                      <a:srgbClr val="1B2A3A"/>
                    </a:solidFill>
                    <a:latin typeface="Segoe UI"/>
                    <a:ea typeface="Segoe UI"/>
                    <a:cs typeface="Segoe UI"/>
                  </a:rPr>
                  <a:t>8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11330612" y="2956560"/>
                <a:ext cx="10548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en-US" sz="1200" b="1" dirty="0">
                    <a:solidFill>
                      <a:srgbClr val="1B2A3A"/>
                    </a:solidFill>
                    <a:latin typeface="Segoe UI"/>
                    <a:ea typeface="Segoe UI"/>
                    <a:cs typeface="Segoe UI"/>
                  </a:rPr>
                  <a:t>9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11237321" y="3289935"/>
                <a:ext cx="198775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en-US" sz="1200" b="1" dirty="0">
                    <a:solidFill>
                      <a:srgbClr val="1B2A3A"/>
                    </a:solidFill>
                    <a:latin typeface="Segoe UI"/>
                    <a:ea typeface="Segoe UI"/>
                    <a:cs typeface="Segoe UI"/>
                  </a:rPr>
                  <a:t>10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11237321" y="3623310"/>
                <a:ext cx="198775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en-US" sz="1200" b="1" dirty="0">
                    <a:solidFill>
                      <a:srgbClr val="1B2A3A"/>
                    </a:solidFill>
                    <a:latin typeface="Segoe UI"/>
                    <a:ea typeface="Segoe UI"/>
                    <a:cs typeface="Segoe UI"/>
                  </a:rPr>
                  <a:t>11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11237321" y="3956685"/>
                <a:ext cx="198775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en-US" sz="1200" b="1" dirty="0">
                    <a:solidFill>
                      <a:srgbClr val="1B2A3A"/>
                    </a:solidFill>
                    <a:latin typeface="Segoe UI"/>
                    <a:ea typeface="Segoe UI"/>
                    <a:cs typeface="Segoe UI"/>
                  </a:rPr>
                  <a:t>13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11237321" y="4290060"/>
                <a:ext cx="198775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en-US" sz="1200" b="1" dirty="0">
                    <a:solidFill>
                      <a:srgbClr val="1B2A3A"/>
                    </a:solidFill>
                    <a:latin typeface="Segoe UI"/>
                    <a:ea typeface="Segoe UI"/>
                    <a:cs typeface="Segoe UI"/>
                  </a:rPr>
                  <a:t>11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11237321" y="4623435"/>
                <a:ext cx="198775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en-US" sz="1200" b="1" dirty="0">
                    <a:solidFill>
                      <a:srgbClr val="1B2A3A"/>
                    </a:solidFill>
                    <a:latin typeface="Segoe UI"/>
                    <a:ea typeface="Segoe UI"/>
                    <a:cs typeface="Segoe UI"/>
                  </a:rPr>
                  <a:t>11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11237321" y="4956810"/>
                <a:ext cx="198775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en-US" sz="1200" b="1" dirty="0">
                    <a:solidFill>
                      <a:srgbClr val="1B2A3A"/>
                    </a:solidFill>
                    <a:latin typeface="Segoe UI"/>
                    <a:ea typeface="Segoe UI"/>
                    <a:cs typeface="Segoe UI"/>
                  </a:rPr>
                  <a:t>14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11237321" y="5290185"/>
                <a:ext cx="198775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en-US" sz="1200" b="1" dirty="0">
                    <a:solidFill>
                      <a:srgbClr val="1B2A3A"/>
                    </a:solidFill>
                    <a:latin typeface="Segoe UI"/>
                    <a:ea typeface="Segoe UI"/>
                    <a:cs typeface="Segoe UI"/>
                  </a:rPr>
                  <a:t>14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11237321" y="5623560"/>
                <a:ext cx="198775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en-US" sz="1200" b="1" dirty="0">
                    <a:solidFill>
                      <a:srgbClr val="B83B26"/>
                    </a:solidFill>
                    <a:latin typeface="Segoe UI"/>
                    <a:ea typeface="Segoe UI"/>
                    <a:cs typeface="Segoe UI"/>
                  </a:rPr>
                  <a:t>19</a:t>
                </a:r>
              </a:p>
            </p:txBody>
          </p:sp>
        </p:grpSp>
      </p:grpSp>
      <p:grpSp>
        <p:nvGrpSpPr>
          <p:cNvPr id="33" name="chart-key"/>
          <p:cNvGrpSpPr/>
          <p:nvPr/>
        </p:nvGrpSpPr>
        <p:grpSpPr>
          <a:xfrm>
            <a:off x="528066" y="6211252"/>
            <a:ext cx="9312953" cy="205359"/>
            <a:chOff x="528066" y="6211252"/>
            <a:chExt cx="9312953" cy="205359"/>
          </a:xfrm>
        </p:grpSpPr>
        <p:sp>
          <p:nvSpPr>
            <p:cNvPr id="32" name="TextBox 32"/>
            <p:cNvSpPr txBox="1"/>
            <p:nvPr/>
          </p:nvSpPr>
          <p:spPr>
            <a:xfrm>
              <a:off x="528066" y="6211252"/>
              <a:ext cx="931295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5E6873"/>
                  </a:solidFill>
                  <a:latin typeface="Segoe UI"/>
                  <a:ea typeface="Segoe UI"/>
                  <a:cs typeface="Segoe UI"/>
                </a:rPr>
                <a:t>Red line: 90% local target. Navy bars met it. Brackets give the 2022/23 figure where the report states one. Avg days = working days.</a:t>
              </a:r>
            </a:p>
          </p:txBody>
        </p:sp>
      </p:grpSp>
      <p:sp>
        <p:nvSpPr>
          <p:cNvPr id="34" name="TextBox 34"/>
          <p:cNvSpPr txBox="1"/>
          <p:nvPr/>
        </p:nvSpPr>
        <p:spPr>
          <a:xfrm>
            <a:off x="528066" y="6516052"/>
            <a:ext cx="838329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rgbClr val="5E6873"/>
                </a:solidFill>
                <a:latin typeface="Segoe UI"/>
                <a:ea typeface="Segoe UI"/>
                <a:cs typeface="Segoe UI"/>
              </a:rPr>
              <a:t>Source: Corporate Feedback Report 2023/24 — Chart 9 (Response Timescales) and Timescales for responses at Stage One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575523" y="6516052"/>
            <a:ext cx="8841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5E6873"/>
                </a:solidFill>
                <a:latin typeface="Segoe UI"/>
                <a:ea typeface="Segoe UI"/>
                <a:cs typeface="Segoe UI"/>
              </a:rPr>
              <a:t>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8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33400" y="247650"/>
            <a:ext cx="1428750" cy="266700"/>
          </a:xfrm>
          <a:prstGeom prst="snip1Rect">
            <a:avLst>
              <a:gd name="adj" fmla="val 35714"/>
            </a:avLst>
          </a:prstGeom>
          <a:solidFill>
            <a:srgbClr val="1F4E79"/>
          </a:solidFill>
          <a:ln>
            <a:noFill/>
          </a:ln>
        </p:spPr>
      </p:sp>
      <p:grpSp>
        <p:nvGrpSpPr>
          <p:cNvPr id="5" name="chrome"/>
          <p:cNvGrpSpPr/>
          <p:nvPr/>
        </p:nvGrpSpPr>
        <p:grpSpPr>
          <a:xfrm>
            <a:off x="661416" y="315278"/>
            <a:ext cx="10997184" cy="205359"/>
            <a:chOff x="661416" y="315278"/>
            <a:chExt cx="10997184" cy="205359"/>
          </a:xfrm>
        </p:grpSpPr>
        <p:sp>
          <p:nvSpPr>
            <p:cNvPr id="3" name="TextBox 3"/>
            <p:cNvSpPr txBox="1"/>
            <p:nvPr/>
          </p:nvSpPr>
          <p:spPr>
            <a:xfrm>
              <a:off x="661416" y="315278"/>
              <a:ext cx="92806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FFFFFF"/>
                  </a:solidFill>
                  <a:latin typeface="Segoe UI"/>
                  <a:ea typeface="Segoe UI"/>
                  <a:cs typeface="Segoe UI"/>
                </a:rPr>
                <a:t>2 · HANDLING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2076450" y="381000"/>
              <a:ext cx="9582150" cy="9525"/>
            </a:xfrm>
            <a:custGeom>
              <a:avLst/>
              <a:gdLst/>
              <a:ahLst/>
              <a:cxnLst/>
              <a:rect l="l" t="t" r="r" b="b"/>
              <a:pathLst>
                <a:path w="9582150" h="9525">
                  <a:moveTo>
                    <a:pt x="0" y="0"/>
                  </a:moveTo>
                  <a:lnTo>
                    <a:pt x="9582150" y="0"/>
                  </a:lnTo>
                </a:path>
              </a:pathLst>
            </a:custGeom>
            <a:noFill/>
            <a:ln w="9525">
              <a:solidFill>
                <a:srgbClr val="CFC8BB"/>
              </a:solidFill>
            </a:ln>
          </p:spPr>
        </p:sp>
      </p:grpSp>
      <p:grpSp>
        <p:nvGrpSpPr>
          <p:cNvPr id="8" name="title"/>
          <p:cNvGrpSpPr/>
          <p:nvPr/>
        </p:nvGrpSpPr>
        <p:grpSpPr>
          <a:xfrm>
            <a:off x="519684" y="756285"/>
            <a:ext cx="9106015" cy="811149"/>
            <a:chOff x="519684" y="756285"/>
            <a:chExt cx="9106015" cy="811149"/>
          </a:xfrm>
        </p:grpSpPr>
        <p:sp>
          <p:nvSpPr>
            <p:cNvPr id="6" name="TextBox 6"/>
            <p:cNvSpPr txBox="1"/>
            <p:nvPr/>
          </p:nvSpPr>
          <p:spPr>
            <a:xfrm>
              <a:off x="519684" y="756285"/>
              <a:ext cx="7876878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b="1" dirty="0">
                  <a:solidFill>
                    <a:srgbClr val="1B2A3A"/>
                  </a:solidFill>
                  <a:latin typeface="Cambria"/>
                  <a:ea typeface="Cambria"/>
                  <a:cs typeface="Cambria"/>
                </a:rPr>
                <a:t>Stage Two is where the pressure moved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24256" y="1215390"/>
              <a:ext cx="910144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rgbClr val="3A4654"/>
                  </a:solidFill>
                  <a:latin typeface="Segoe UI"/>
                  <a:ea typeface="Segoe UI"/>
                  <a:cs typeface="Segoe UI"/>
                </a:rPr>
                <a:t>Escalations rose 71%; full investigations more than doubled and took longer.</a:t>
              </a:r>
            </a:p>
          </p:txBody>
        </p:sp>
      </p:grpSp>
      <p:sp>
        <p:nvSpPr>
          <p:cNvPr id="9" name="Freeform 9"/>
          <p:cNvSpPr/>
          <p:nvPr/>
        </p:nvSpPr>
        <p:spPr>
          <a:xfrm>
            <a:off x="533400" y="2762250"/>
            <a:ext cx="2381250" cy="1809750"/>
          </a:xfrm>
          <a:prstGeom prst="homePlate">
            <a:avLst>
              <a:gd name="adj" fmla="val 25000"/>
            </a:avLst>
          </a:prstGeom>
          <a:solidFill>
            <a:srgbClr val="1F4E79"/>
          </a:solidFill>
          <a:ln>
            <a:noFill/>
          </a:ln>
        </p:spPr>
      </p:sp>
      <p:grpSp>
        <p:nvGrpSpPr>
          <p:cNvPr id="13" name="escalated-text"/>
          <p:cNvGrpSpPr/>
          <p:nvPr/>
        </p:nvGrpSpPr>
        <p:grpSpPr>
          <a:xfrm>
            <a:off x="742950" y="2924175"/>
            <a:ext cx="1672895" cy="1543431"/>
            <a:chOff x="742950" y="2924175"/>
            <a:chExt cx="1672895" cy="1543431"/>
          </a:xfrm>
        </p:grpSpPr>
        <p:sp>
          <p:nvSpPr>
            <p:cNvPr id="10" name="TextBox 10"/>
            <p:cNvSpPr txBox="1"/>
            <p:nvPr/>
          </p:nvSpPr>
          <p:spPr>
            <a:xfrm>
              <a:off x="742950" y="2924175"/>
              <a:ext cx="777392" cy="8763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500" b="1" dirty="0">
                  <a:solidFill>
                    <a:srgbClr val="FFFFFF"/>
                  </a:solidFill>
                  <a:latin typeface="Cambria"/>
                  <a:ea typeface="Cambria"/>
                  <a:cs typeface="Cambria"/>
                </a:rPr>
                <a:t>70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53618" y="3593782"/>
              <a:ext cx="1295019" cy="5894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650" dirty="0">
                  <a:solidFill>
                    <a:srgbClr val="FFFFFF"/>
                  </a:solidFill>
                  <a:latin typeface="Segoe UI"/>
                  <a:ea typeface="Segoe UI"/>
                  <a:cs typeface="Segoe UI"/>
                </a:rPr>
                <a:t>escalated to</a:t>
              </a:r>
              <a:br/>
              <a:r>
                <a:rPr lang="en-US" sz="1650" dirty="0">
                  <a:solidFill>
                    <a:srgbClr val="FFFFFF"/>
                  </a:solidFill>
                  <a:latin typeface="Segoe UI"/>
                  <a:ea typeface="Segoe UI"/>
                  <a:cs typeface="Segoe UI"/>
                </a:rPr>
                <a:t>Stage Two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55904" y="4232910"/>
              <a:ext cx="16599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C9D6E3"/>
                  </a:solidFill>
                  <a:latin typeface="Segoe UI"/>
                  <a:ea typeface="Segoe UI"/>
                  <a:cs typeface="Segoe UI"/>
                </a:rPr>
                <a:t>41 in 2022/23 (+71%)</a:t>
              </a:r>
            </a:p>
          </p:txBody>
        </p:sp>
      </p:grpSp>
      <p:grpSp>
        <p:nvGrpSpPr>
          <p:cNvPr id="18" name="edges-split-1"/>
          <p:cNvGrpSpPr/>
          <p:nvPr/>
        </p:nvGrpSpPr>
        <p:grpSpPr>
          <a:xfrm>
            <a:off x="2914650" y="2390775"/>
            <a:ext cx="495300" cy="2057400"/>
            <a:chOff x="2914650" y="2390775"/>
            <a:chExt cx="495300" cy="2057400"/>
          </a:xfrm>
        </p:grpSpPr>
        <p:sp>
          <p:nvSpPr>
            <p:cNvPr id="14" name="Line 14"/>
            <p:cNvSpPr/>
            <p:nvPr/>
          </p:nvSpPr>
          <p:spPr>
            <a:xfrm>
              <a:off x="2914650" y="3667125"/>
              <a:ext cx="266700" cy="9525"/>
            </a:xfrm>
            <a:custGeom>
              <a:avLst/>
              <a:gdLst/>
              <a:ahLst/>
              <a:cxnLst/>
              <a:rect l="l" t="t" r="r" b="b"/>
              <a:pathLst>
                <a:path w="266700" h="9525">
                  <a:moveTo>
                    <a:pt x="0" y="0"/>
                  </a:moveTo>
                  <a:lnTo>
                    <a:pt x="266700" y="0"/>
                  </a:lnTo>
                </a:path>
              </a:pathLst>
            </a:custGeom>
            <a:noFill/>
            <a:ln w="19050">
              <a:solidFill>
                <a:srgbClr val="8A8F96"/>
              </a:solidFill>
            </a:ln>
          </p:spPr>
        </p:sp>
        <p:sp>
          <p:nvSpPr>
            <p:cNvPr id="15" name="Line 15"/>
            <p:cNvSpPr/>
            <p:nvPr/>
          </p:nvSpPr>
          <p:spPr>
            <a:xfrm>
              <a:off x="3181350" y="2390775"/>
              <a:ext cx="9525" cy="2047875"/>
            </a:xfrm>
            <a:custGeom>
              <a:avLst/>
              <a:gdLst/>
              <a:ahLst/>
              <a:cxnLst/>
              <a:rect l="l" t="t" r="r" b="b"/>
              <a:pathLst>
                <a:path w="9525" h="2047875">
                  <a:moveTo>
                    <a:pt x="0" y="0"/>
                  </a:moveTo>
                  <a:lnTo>
                    <a:pt x="0" y="2047875"/>
                  </a:lnTo>
                </a:path>
              </a:pathLst>
            </a:custGeom>
            <a:noFill/>
            <a:ln w="19050">
              <a:solidFill>
                <a:srgbClr val="8A8F96"/>
              </a:solidFill>
            </a:ln>
          </p:spPr>
        </p:sp>
        <p:sp>
          <p:nvSpPr>
            <p:cNvPr id="16" name="Line 16"/>
            <p:cNvSpPr/>
            <p:nvPr/>
          </p:nvSpPr>
          <p:spPr>
            <a:xfrm>
              <a:off x="3181350" y="2390775"/>
              <a:ext cx="228600" cy="9525"/>
            </a:xfrm>
            <a:custGeom>
              <a:avLst/>
              <a:gdLst/>
              <a:ahLst/>
              <a:cxnLst/>
              <a:rect l="l" t="t" r="r" b="b"/>
              <a:pathLst>
                <a:path w="228600" h="9525">
                  <a:moveTo>
                    <a:pt x="0" y="0"/>
                  </a:moveTo>
                  <a:lnTo>
                    <a:pt x="228600" y="0"/>
                  </a:lnTo>
                </a:path>
              </a:pathLst>
            </a:custGeom>
            <a:noFill/>
            <a:ln w="19050">
              <a:solidFill>
                <a:srgbClr val="8A8F96"/>
              </a:solidFill>
            </a:ln>
          </p:spPr>
        </p:sp>
        <p:sp>
          <p:nvSpPr>
            <p:cNvPr id="17" name="Line 17"/>
            <p:cNvSpPr/>
            <p:nvPr/>
          </p:nvSpPr>
          <p:spPr>
            <a:xfrm>
              <a:off x="3181350" y="4438650"/>
              <a:ext cx="228600" cy="9525"/>
            </a:xfrm>
            <a:custGeom>
              <a:avLst/>
              <a:gdLst/>
              <a:ahLst/>
              <a:cxnLst/>
              <a:rect l="l" t="t" r="r" b="b"/>
              <a:pathLst>
                <a:path w="228600" h="9525">
                  <a:moveTo>
                    <a:pt x="0" y="0"/>
                  </a:moveTo>
                  <a:lnTo>
                    <a:pt x="228600" y="0"/>
                  </a:lnTo>
                </a:path>
              </a:pathLst>
            </a:custGeom>
            <a:noFill/>
            <a:ln w="19050">
              <a:solidFill>
                <a:srgbClr val="8A8F96"/>
              </a:solidFill>
            </a:ln>
          </p:spPr>
        </p:sp>
      </p:grpSp>
      <p:grpSp>
        <p:nvGrpSpPr>
          <p:cNvPr id="22" name="open-node"/>
          <p:cNvGrpSpPr/>
          <p:nvPr/>
        </p:nvGrpSpPr>
        <p:grpSpPr>
          <a:xfrm>
            <a:off x="3429000" y="1866900"/>
            <a:ext cx="2476500" cy="1047750"/>
            <a:chOff x="3429000" y="1866900"/>
            <a:chExt cx="2476500" cy="1047750"/>
          </a:xfrm>
        </p:grpSpPr>
        <p:sp>
          <p:nvSpPr>
            <p:cNvPr id="19" name="Rectangle 19"/>
            <p:cNvSpPr/>
            <p:nvPr/>
          </p:nvSpPr>
          <p:spPr>
            <a:xfrm>
              <a:off x="3429000" y="1866900"/>
              <a:ext cx="2476500" cy="1047750"/>
            </a:xfrm>
            <a:prstGeom prst="rect">
              <a:avLst/>
            </a:prstGeom>
            <a:noFill/>
            <a:ln w="14288">
              <a:solidFill>
                <a:srgbClr val="8A8F96"/>
              </a:solidFill>
              <a:custDash>
                <a:ds d="400000" sp="266667"/>
              </a:custDash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3605784" y="1994535"/>
              <a:ext cx="471007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b="1" dirty="0">
                  <a:solidFill>
                    <a:srgbClr val="1B2A3A"/>
                  </a:solidFill>
                  <a:latin typeface="Cambria"/>
                  <a:ea typeface="Cambria"/>
                  <a:cs typeface="Cambria"/>
                </a:rPr>
                <a:t>13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613404" y="2423160"/>
              <a:ext cx="1802892" cy="44424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en-US" sz="1200" dirty="0">
                  <a:solidFill>
                    <a:srgbClr val="3A4654"/>
                  </a:solidFill>
                  <a:latin typeface="Segoe UI"/>
                  <a:ea typeface="Segoe UI"/>
                  <a:cs typeface="Segoe UI"/>
                </a:rPr>
                <a:t>still under investigation</a:t>
              </a:r>
              <a:br/>
              <a:r>
                <a:rPr lang="en-US" sz="1200" dirty="0">
                  <a:solidFill>
                    <a:srgbClr val="3A4654"/>
                  </a:solidFill>
                  <a:latin typeface="Segoe UI"/>
                  <a:ea typeface="Segoe UI"/>
                  <a:cs typeface="Segoe UI"/>
                </a:rPr>
                <a:t>at 31 March 2024</a:t>
              </a:r>
            </a:p>
          </p:txBody>
        </p:sp>
      </p:grpSp>
      <p:sp>
        <p:nvSpPr>
          <p:cNvPr id="23" name="Freeform 23"/>
          <p:cNvSpPr/>
          <p:nvPr/>
        </p:nvSpPr>
        <p:spPr>
          <a:xfrm>
            <a:off x="3429000" y="3962400"/>
            <a:ext cx="2476500" cy="952500"/>
          </a:xfrm>
          <a:prstGeom prst="snip1Rect">
            <a:avLst>
              <a:gd name="adj" fmla="val 14000"/>
            </a:avLst>
          </a:prstGeom>
          <a:solidFill>
            <a:srgbClr val="E3E9F0"/>
          </a:solidFill>
          <a:ln>
            <a:noFill/>
          </a:ln>
        </p:spPr>
      </p:sp>
      <p:grpSp>
        <p:nvGrpSpPr>
          <p:cNvPr id="26" name="completed-text"/>
          <p:cNvGrpSpPr/>
          <p:nvPr/>
        </p:nvGrpSpPr>
        <p:grpSpPr>
          <a:xfrm>
            <a:off x="3605784" y="4109085"/>
            <a:ext cx="1982572" cy="682371"/>
            <a:chOff x="3605784" y="4109085"/>
            <a:chExt cx="1982572" cy="682371"/>
          </a:xfrm>
        </p:grpSpPr>
        <p:sp>
          <p:nvSpPr>
            <p:cNvPr id="24" name="TextBox 24"/>
            <p:cNvSpPr txBox="1"/>
            <p:nvPr/>
          </p:nvSpPr>
          <p:spPr>
            <a:xfrm>
              <a:off x="3605784" y="4109085"/>
              <a:ext cx="471007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b="1" dirty="0">
                  <a:solidFill>
                    <a:srgbClr val="1F4E79"/>
                  </a:solidFill>
                  <a:latin typeface="Cambria"/>
                  <a:ea typeface="Cambria"/>
                  <a:cs typeface="Cambria"/>
                </a:rPr>
                <a:t>57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613404" y="4556760"/>
              <a:ext cx="19749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3A4654"/>
                  </a:solidFill>
                  <a:latin typeface="Segoe UI"/>
                  <a:ea typeface="Segoe UI"/>
                  <a:cs typeface="Segoe UI"/>
                </a:rPr>
                <a:t>investigations completed</a:t>
              </a:r>
            </a:p>
          </p:txBody>
        </p:sp>
      </p:grpSp>
      <p:grpSp>
        <p:nvGrpSpPr>
          <p:cNvPr id="31" name="edges-split-2"/>
          <p:cNvGrpSpPr/>
          <p:nvPr/>
        </p:nvGrpSpPr>
        <p:grpSpPr>
          <a:xfrm>
            <a:off x="5905500" y="3781425"/>
            <a:ext cx="552450" cy="1600200"/>
            <a:chOff x="5905500" y="3781425"/>
            <a:chExt cx="552450" cy="1600200"/>
          </a:xfrm>
        </p:grpSpPr>
        <p:sp>
          <p:nvSpPr>
            <p:cNvPr id="27" name="Line 27"/>
            <p:cNvSpPr/>
            <p:nvPr/>
          </p:nvSpPr>
          <p:spPr>
            <a:xfrm>
              <a:off x="5905500" y="4438650"/>
              <a:ext cx="285750" cy="9525"/>
            </a:xfrm>
            <a:custGeom>
              <a:avLst/>
              <a:gdLst/>
              <a:ahLst/>
              <a:cxnLst/>
              <a:rect l="l" t="t" r="r" b="b"/>
              <a:pathLst>
                <a:path w="285750" h="9525">
                  <a:moveTo>
                    <a:pt x="0" y="0"/>
                  </a:moveTo>
                  <a:lnTo>
                    <a:pt x="285750" y="0"/>
                  </a:lnTo>
                </a:path>
              </a:pathLst>
            </a:custGeom>
            <a:noFill/>
            <a:ln w="19050">
              <a:solidFill>
                <a:srgbClr val="8A8F96"/>
              </a:solidFill>
            </a:ln>
          </p:spPr>
        </p:sp>
        <p:sp>
          <p:nvSpPr>
            <p:cNvPr id="28" name="Line 28"/>
            <p:cNvSpPr/>
            <p:nvPr/>
          </p:nvSpPr>
          <p:spPr>
            <a:xfrm>
              <a:off x="6191250" y="3781425"/>
              <a:ext cx="9525" cy="1590675"/>
            </a:xfrm>
            <a:custGeom>
              <a:avLst/>
              <a:gdLst/>
              <a:ahLst/>
              <a:cxnLst/>
              <a:rect l="l" t="t" r="r" b="b"/>
              <a:pathLst>
                <a:path w="9525" h="1590675">
                  <a:moveTo>
                    <a:pt x="0" y="0"/>
                  </a:moveTo>
                  <a:lnTo>
                    <a:pt x="0" y="1590675"/>
                  </a:lnTo>
                </a:path>
              </a:pathLst>
            </a:custGeom>
            <a:noFill/>
            <a:ln w="19050">
              <a:solidFill>
                <a:srgbClr val="8A8F96"/>
              </a:solidFill>
            </a:ln>
          </p:spPr>
        </p:sp>
        <p:sp>
          <p:nvSpPr>
            <p:cNvPr id="29" name="Line 29"/>
            <p:cNvSpPr/>
            <p:nvPr/>
          </p:nvSpPr>
          <p:spPr>
            <a:xfrm>
              <a:off x="6191250" y="3781425"/>
              <a:ext cx="266700" cy="9525"/>
            </a:xfrm>
            <a:custGeom>
              <a:avLst/>
              <a:gdLst/>
              <a:ahLst/>
              <a:cxnLst/>
              <a:rect l="l" t="t" r="r" b="b"/>
              <a:pathLst>
                <a:path w="266700" h="9525">
                  <a:moveTo>
                    <a:pt x="0" y="0"/>
                  </a:moveTo>
                  <a:lnTo>
                    <a:pt x="266700" y="0"/>
                  </a:lnTo>
                </a:path>
              </a:pathLst>
            </a:custGeom>
            <a:noFill/>
            <a:ln w="19050">
              <a:solidFill>
                <a:srgbClr val="8A8F96"/>
              </a:solidFill>
            </a:ln>
          </p:spPr>
        </p:sp>
        <p:sp>
          <p:nvSpPr>
            <p:cNvPr id="30" name="Line 30"/>
            <p:cNvSpPr/>
            <p:nvPr/>
          </p:nvSpPr>
          <p:spPr>
            <a:xfrm>
              <a:off x="6191250" y="5372100"/>
              <a:ext cx="266700" cy="9525"/>
            </a:xfrm>
            <a:custGeom>
              <a:avLst/>
              <a:gdLst/>
              <a:ahLst/>
              <a:cxnLst/>
              <a:rect l="l" t="t" r="r" b="b"/>
              <a:pathLst>
                <a:path w="266700" h="9525">
                  <a:moveTo>
                    <a:pt x="0" y="0"/>
                  </a:moveTo>
                  <a:lnTo>
                    <a:pt x="266700" y="0"/>
                  </a:lnTo>
                </a:path>
              </a:pathLst>
            </a:custGeom>
            <a:noFill/>
            <a:ln w="19050">
              <a:solidFill>
                <a:srgbClr val="8A8F96"/>
              </a:solidFill>
            </a:ln>
          </p:spPr>
        </p:sp>
      </p:grpSp>
      <p:grpSp>
        <p:nvGrpSpPr>
          <p:cNvPr id="38" name="rise-sources"/>
          <p:cNvGrpSpPr/>
          <p:nvPr/>
        </p:nvGrpSpPr>
        <p:grpSpPr>
          <a:xfrm>
            <a:off x="6470904" y="1908810"/>
            <a:ext cx="5187696" cy="1053846"/>
            <a:chOff x="6470904" y="1908810"/>
            <a:chExt cx="5187696" cy="1053846"/>
          </a:xfrm>
        </p:grpSpPr>
        <p:sp>
          <p:nvSpPr>
            <p:cNvPr id="32" name="TextBox 32"/>
            <p:cNvSpPr txBox="1"/>
            <p:nvPr/>
          </p:nvSpPr>
          <p:spPr>
            <a:xfrm>
              <a:off x="6470904" y="1908810"/>
              <a:ext cx="428664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5E6873"/>
                  </a:solidFill>
                  <a:latin typeface="Segoe UI"/>
                  <a:ea typeface="Segoe UI"/>
                  <a:cs typeface="Segoe UI"/>
                </a:rPr>
                <a:t>WHERE THE RISE CAME FROM (2022/23 IN BRACKETS)</a:t>
              </a:r>
            </a:p>
          </p:txBody>
        </p:sp>
        <p:sp>
          <p:nvSpPr>
            <p:cNvPr id="33" name="Line 33"/>
            <p:cNvSpPr/>
            <p:nvPr/>
          </p:nvSpPr>
          <p:spPr>
            <a:xfrm>
              <a:off x="6477000" y="2152650"/>
              <a:ext cx="5181600" cy="9525"/>
            </a:xfrm>
            <a:custGeom>
              <a:avLst/>
              <a:gdLst/>
              <a:ahLst/>
              <a:cxnLst/>
              <a:rect l="l" t="t" r="r" b="b"/>
              <a:pathLst>
                <a:path w="5181600" h="9525">
                  <a:moveTo>
                    <a:pt x="0" y="0"/>
                  </a:moveTo>
                  <a:lnTo>
                    <a:pt x="5181600" y="0"/>
                  </a:lnTo>
                </a:path>
              </a:pathLst>
            </a:custGeom>
            <a:noFill/>
            <a:ln w="9525">
              <a:solidFill>
                <a:srgbClr val="CFC8BB"/>
              </a:solidFill>
            </a:ln>
          </p:spPr>
        </p:sp>
        <p:grpSp>
          <p:nvGrpSpPr>
            <p:cNvPr id="37" name="Group 37"/>
            <p:cNvGrpSpPr/>
            <p:nvPr/>
          </p:nvGrpSpPr>
          <p:grpSpPr>
            <a:xfrm>
              <a:off x="6470904" y="2270760"/>
              <a:ext cx="4387220" cy="691896"/>
              <a:chOff x="6470904" y="2270760"/>
              <a:chExt cx="4387220" cy="691896"/>
            </a:xfrm>
          </p:grpSpPr>
          <p:sp>
            <p:nvSpPr>
              <p:cNvPr id="34" name="TextBox 34"/>
              <p:cNvSpPr txBox="1"/>
              <p:nvPr/>
            </p:nvSpPr>
            <p:spPr>
              <a:xfrm>
                <a:off x="6470904" y="2270760"/>
                <a:ext cx="2972722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rgbClr val="3A4654"/>
                    </a:solidFill>
                    <a:latin typeface="Segoe UI"/>
                    <a:ea typeface="Segoe UI"/>
                    <a:cs typeface="Segoe UI"/>
                  </a:rPr>
                  <a:t xml:space="preserve">Neighbourhood &amp; Enforcement: </a:t>
                </a:r>
                <a:r>
                  <a:rPr lang="en-US" sz="1200" b="1" dirty="0">
                    <a:solidFill>
                      <a:srgbClr val="1B2A3A"/>
                    </a:solidFill>
                    <a:latin typeface="Segoe UI"/>
                    <a:ea typeface="Segoe UI"/>
                    <a:cs typeface="Segoe UI"/>
                  </a:rPr>
                  <a:t>15</a:t>
                </a:r>
                <a:r>
                  <a:rPr lang="en-US" sz="1200" dirty="0">
                    <a:solidFill>
                      <a:srgbClr val="3A4654"/>
                    </a:solidFill>
                    <a:latin typeface="Segoe UI"/>
                    <a:ea typeface="Segoe UI"/>
                    <a:cs typeface="Segoe UI"/>
                  </a:rPr>
                  <a:t xml:space="preserve"> (4)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6470904" y="2499360"/>
                <a:ext cx="438722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rgbClr val="3A4654"/>
                    </a:solidFill>
                    <a:latin typeface="Segoe UI"/>
                    <a:ea typeface="Segoe UI"/>
                    <a:cs typeface="Segoe UI"/>
                  </a:rPr>
                  <a:t xml:space="preserve">Education &amp; Skills: </a:t>
                </a:r>
                <a:r>
                  <a:rPr lang="en-US" sz="1200" b="1" dirty="0">
                    <a:solidFill>
                      <a:srgbClr val="1B2A3A"/>
                    </a:solidFill>
                    <a:latin typeface="Segoe UI"/>
                    <a:ea typeface="Segoe UI"/>
                    <a:cs typeface="Segoe UI"/>
                  </a:rPr>
                  <a:t>11</a:t>
                </a:r>
                <a:r>
                  <a:rPr lang="en-US" sz="1200" dirty="0">
                    <a:solidFill>
                      <a:srgbClr val="3A4654"/>
                    </a:solidFill>
                    <a:latin typeface="Segoe UI"/>
                    <a:ea typeface="Segoe UI"/>
                    <a:cs typeface="Segoe UI"/>
                  </a:rPr>
                  <a:t xml:space="preserve"> (3), all Special Educational Needs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6470904" y="2727960"/>
                <a:ext cx="4016792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rgbClr val="3A4654"/>
                    </a:solidFill>
                    <a:latin typeface="Segoe UI"/>
                    <a:ea typeface="Segoe UI"/>
                    <a:cs typeface="Segoe UI"/>
                  </a:rPr>
                  <a:t>Health &amp; Wellbeing: no case escalated to Stage Two</a:t>
                </a:r>
              </a:p>
            </p:txBody>
          </p:sp>
        </p:grpSp>
      </p:grpSp>
      <p:sp>
        <p:nvSpPr>
          <p:cNvPr id="39" name="Freeform 39"/>
          <p:cNvSpPr/>
          <p:nvPr/>
        </p:nvSpPr>
        <p:spPr>
          <a:xfrm>
            <a:off x="6477000" y="3276600"/>
            <a:ext cx="5181600" cy="1009650"/>
          </a:xfrm>
          <a:prstGeom prst="snip1Rect">
            <a:avLst>
              <a:gd name="adj" fmla="val 14000"/>
            </a:avLst>
          </a:prstGeom>
          <a:solidFill>
            <a:srgbClr val="E3E9F0"/>
          </a:solidFill>
          <a:ln>
            <a:noFill/>
          </a:ln>
        </p:spPr>
      </p:sp>
      <p:grpSp>
        <p:nvGrpSpPr>
          <p:cNvPr id="42" name="closed-text"/>
          <p:cNvGrpSpPr/>
          <p:nvPr/>
        </p:nvGrpSpPr>
        <p:grpSpPr>
          <a:xfrm>
            <a:off x="6653784" y="3470910"/>
            <a:ext cx="4302633" cy="670941"/>
            <a:chOff x="6653784" y="3470910"/>
            <a:chExt cx="4302633" cy="670941"/>
          </a:xfrm>
        </p:grpSpPr>
        <p:sp>
          <p:nvSpPr>
            <p:cNvPr id="40" name="TextBox 40"/>
            <p:cNvSpPr txBox="1"/>
            <p:nvPr/>
          </p:nvSpPr>
          <p:spPr>
            <a:xfrm>
              <a:off x="6653784" y="3613785"/>
              <a:ext cx="471007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b="1" dirty="0">
                  <a:solidFill>
                    <a:srgbClr val="1F4E79"/>
                  </a:solidFill>
                  <a:latin typeface="Cambria"/>
                  <a:ea typeface="Cambria"/>
                  <a:cs typeface="Cambria"/>
                </a:rPr>
                <a:t>15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328154" y="3470910"/>
              <a:ext cx="3628263" cy="6537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en-US" sz="1200" dirty="0">
                  <a:solidFill>
                    <a:srgbClr val="3A4654"/>
                  </a:solidFill>
                  <a:latin typeface="Segoe UI"/>
                  <a:ea typeface="Segoe UI"/>
                  <a:cs typeface="Segoe UI"/>
                </a:rPr>
                <a:t>closed without a full investigation — already</a:t>
              </a:r>
              <a:br/>
              <a:r>
                <a:rPr lang="en-US" sz="1200" dirty="0">
                  <a:solidFill>
                    <a:srgbClr val="3A4654"/>
                  </a:solidFill>
                  <a:latin typeface="Segoe UI"/>
                  <a:ea typeface="Segoe UI"/>
                  <a:cs typeface="Segoe UI"/>
                </a:rPr>
                <a:t>addressed at Stage One, or no added value;</a:t>
              </a:r>
              <a:br/>
              <a:r>
                <a:rPr lang="en-US" sz="1200" dirty="0">
                  <a:solidFill>
                    <a:srgbClr val="3A4654"/>
                  </a:solidFill>
                  <a:latin typeface="Segoe UI"/>
                  <a:ea typeface="Segoe UI"/>
                  <a:cs typeface="Segoe UI"/>
                </a:rPr>
                <a:t xml:space="preserve">answered in </a:t>
              </a:r>
              <a:r>
                <a:rPr lang="en-US" sz="1200" b="1" dirty="0">
                  <a:solidFill>
                    <a:srgbClr val="1B2A3A"/>
                  </a:solidFill>
                  <a:latin typeface="Segoe UI"/>
                  <a:ea typeface="Segoe UI"/>
                  <a:cs typeface="Segoe UI"/>
                </a:rPr>
                <a:t>8</a:t>
              </a:r>
              <a:r>
                <a:rPr lang="en-US" sz="1200" dirty="0">
                  <a:solidFill>
                    <a:srgbClr val="3A4654"/>
                  </a:solidFill>
                  <a:latin typeface="Segoe UI"/>
                  <a:ea typeface="Segoe UI"/>
                  <a:cs typeface="Segoe UI"/>
                </a:rPr>
                <a:t xml:space="preserve"> working days on average (aim: 10)</a:t>
              </a:r>
            </a:p>
          </p:txBody>
        </p:sp>
      </p:grpSp>
      <p:sp>
        <p:nvSpPr>
          <p:cNvPr id="43" name="Freeform 43"/>
          <p:cNvSpPr/>
          <p:nvPr/>
        </p:nvSpPr>
        <p:spPr>
          <a:xfrm>
            <a:off x="6477000" y="4629150"/>
            <a:ext cx="5181600" cy="1485900"/>
          </a:xfrm>
          <a:prstGeom prst="snip1Rect">
            <a:avLst>
              <a:gd name="adj" fmla="val 10000"/>
            </a:avLst>
          </a:prstGeom>
          <a:solidFill>
            <a:srgbClr val="E3E9F0"/>
          </a:solidFill>
          <a:ln>
            <a:noFill/>
          </a:ln>
        </p:spPr>
      </p:sp>
      <p:grpSp>
        <p:nvGrpSpPr>
          <p:cNvPr id="53" name="full-text"/>
          <p:cNvGrpSpPr/>
          <p:nvPr/>
        </p:nvGrpSpPr>
        <p:grpSpPr>
          <a:xfrm>
            <a:off x="6653784" y="4775835"/>
            <a:ext cx="4914138" cy="1253871"/>
            <a:chOff x="6653784" y="4775835"/>
            <a:chExt cx="4914138" cy="1253871"/>
          </a:xfrm>
        </p:grpSpPr>
        <p:sp>
          <p:nvSpPr>
            <p:cNvPr id="44" name="TextBox 44"/>
            <p:cNvSpPr txBox="1"/>
            <p:nvPr/>
          </p:nvSpPr>
          <p:spPr>
            <a:xfrm>
              <a:off x="6653784" y="4775835"/>
              <a:ext cx="471007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b="1" dirty="0">
                  <a:solidFill>
                    <a:srgbClr val="1F4E79"/>
                  </a:solidFill>
                  <a:latin typeface="Cambria"/>
                  <a:ea typeface="Cambria"/>
                  <a:cs typeface="Cambria"/>
                </a:rPr>
                <a:t>42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325868" y="4870132"/>
              <a:ext cx="373732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1B2A3A"/>
                  </a:solidFill>
                  <a:latin typeface="Segoe UI"/>
                  <a:ea typeface="Segoe UI"/>
                  <a:cs typeface="Segoe UI"/>
                </a:rPr>
                <a:t>full investigations (19 in 2022/23)</a:t>
              </a:r>
            </a:p>
          </p:txBody>
        </p:sp>
        <p:sp>
          <p:nvSpPr>
            <p:cNvPr id="46" name="Line 46"/>
            <p:cNvSpPr/>
            <p:nvPr/>
          </p:nvSpPr>
          <p:spPr>
            <a:xfrm>
              <a:off x="6667500" y="5257800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9525">
              <a:solidFill>
                <a:srgbClr val="CFC8BB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653784" y="5385435"/>
              <a:ext cx="773445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b="1" dirty="0">
                  <a:solidFill>
                    <a:srgbClr val="1F4E79"/>
                  </a:solidFill>
                  <a:latin typeface="Cambria"/>
                  <a:ea typeface="Cambria"/>
                  <a:cs typeface="Cambria"/>
                </a:rPr>
                <a:t>50%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661404" y="5795010"/>
              <a:ext cx="50490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3A4654"/>
                  </a:solidFill>
                  <a:latin typeface="Segoe UI"/>
                  <a:ea typeface="Segoe UI"/>
                  <a:cs typeface="Segoe UI"/>
                </a:rPr>
                <a:t>upheld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082534" y="5385435"/>
              <a:ext cx="1479133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b="1" dirty="0">
                  <a:solidFill>
                    <a:srgbClr val="B83B26"/>
                  </a:solidFill>
                  <a:latin typeface="Cambria"/>
                  <a:ea typeface="Cambria"/>
                  <a:cs typeface="Cambria"/>
                </a:rPr>
                <a:t>43 days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8090154" y="5795010"/>
              <a:ext cx="180533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3A4654"/>
                  </a:solidFill>
                  <a:latin typeface="Segoe UI"/>
                  <a:ea typeface="Segoe UI"/>
                  <a:cs typeface="Segoe UI"/>
                </a:rPr>
                <a:t>average; 28 in 2022/23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9892284" y="5385435"/>
              <a:ext cx="249220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b="1" dirty="0">
                  <a:solidFill>
                    <a:srgbClr val="B83B26"/>
                  </a:solidFill>
                  <a:latin typeface="Cambria"/>
                  <a:ea typeface="Cambria"/>
                  <a:cs typeface="Cambria"/>
                </a:rPr>
                <a:t>4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9899904" y="5795010"/>
              <a:ext cx="166801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3A4654"/>
                  </a:solidFill>
                  <a:latin typeface="Segoe UI"/>
                  <a:ea typeface="Segoe UI"/>
                  <a:cs typeface="Segoe UI"/>
                </a:rPr>
                <a:t>over the 65-day limit</a:t>
              </a:r>
            </a:p>
          </p:txBody>
        </p:sp>
      </p:grpSp>
      <p:grpSp>
        <p:nvGrpSpPr>
          <p:cNvPr id="55" name="baseline-note"/>
          <p:cNvGrpSpPr/>
          <p:nvPr/>
        </p:nvGrpSpPr>
        <p:grpSpPr>
          <a:xfrm>
            <a:off x="528066" y="6211252"/>
            <a:ext cx="8858374" cy="205359"/>
            <a:chOff x="528066" y="6211252"/>
            <a:chExt cx="8858374" cy="205359"/>
          </a:xfrm>
        </p:grpSpPr>
        <p:sp>
          <p:nvSpPr>
            <p:cNvPr id="54" name="TextBox 54"/>
            <p:cNvSpPr txBox="1"/>
            <p:nvPr/>
          </p:nvSpPr>
          <p:spPr>
            <a:xfrm>
              <a:off x="528066" y="6211252"/>
              <a:ext cx="88583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5E6873"/>
                  </a:solidFill>
                  <a:latin typeface="Segoe UI"/>
                  <a:ea typeface="Segoe UI"/>
                  <a:cs typeface="Segoe UI"/>
                </a:rPr>
                <a:t>Data note: the report gives the 2022/23 Stage Two figure as 41 (Stage Two section, used here) and as 44 (Stage One section).</a:t>
              </a:r>
            </a:p>
          </p:txBody>
        </p:sp>
      </p:grpSp>
      <p:sp>
        <p:nvSpPr>
          <p:cNvPr id="56" name="TextBox 56"/>
          <p:cNvSpPr txBox="1"/>
          <p:nvPr/>
        </p:nvSpPr>
        <p:spPr>
          <a:xfrm>
            <a:off x="528066" y="6516052"/>
            <a:ext cx="892079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rgbClr val="5E6873"/>
                </a:solidFill>
                <a:latin typeface="Segoe UI"/>
                <a:ea typeface="Segoe UI"/>
                <a:cs typeface="Segoe UI"/>
              </a:rPr>
              <a:t>Source: Corporate Feedback Report 2023/24 — Corporate Stage Two complaints; Chart 10 (Stage Two complaints by directorate)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11575523" y="6516052"/>
            <a:ext cx="8841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5E6873"/>
                </a:solidFill>
                <a:latin typeface="Segoe UI"/>
                <a:ea typeface="Segoe UI"/>
                <a:cs typeface="Segoe UI"/>
              </a:rPr>
              <a:t>8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xmlns:p="http://schemas.openxmlformats.org/presentationml/2006/main" id="13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400"/>
                            </p:stCondLst>
                            <p:childTnLst>
                              <p:par>
                                <p:cTn xmlns:p="http://schemas.openxmlformats.org/presentationml/2006/main" id="17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900"/>
                            </p:stCondLst>
                            <p:childTnLst>
                              <p:par>
                                <p:cTn xmlns:p="http://schemas.openxmlformats.org/presentationml/2006/main"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900"/>
                            </p:stCondLst>
                            <p:childTnLst>
                              <p:par>
                                <p:cTn xmlns:p="http://schemas.openxmlformats.org/presentationml/2006/main"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400"/>
                            </p:stCondLst>
                            <p:childTnLst>
                              <p:par>
                                <p:cTn xmlns:p="http://schemas.openxmlformats.org/presentationml/2006/main" id="29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300"/>
                            </p:stCondLst>
                            <p:childTnLst>
                              <p:par>
                                <p:cTn xmlns:p="http://schemas.openxmlformats.org/presentationml/2006/main" id="33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3800"/>
                            </p:stCondLst>
                            <p:childTnLst>
                              <p:par>
                                <p:cTn xmlns:p="http://schemas.openxmlformats.org/presentationml/2006/main"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3800"/>
                            </p:stCondLst>
                            <p:childTnLst>
                              <p:par>
                                <p:cTn xmlns:p="http://schemas.openxmlformats.org/presentationml/2006/main"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3800"/>
                            </p:stCondLst>
                            <p:childTnLst>
                              <p:par>
                                <p:cTn xmlns:p="http://schemas.openxmlformats.org/presentationml/2006/main"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33400" y="247650"/>
            <a:ext cx="1428750" cy="266700"/>
          </a:xfrm>
          <a:prstGeom prst="snip1Rect">
            <a:avLst>
              <a:gd name="adj" fmla="val 35714"/>
            </a:avLst>
          </a:prstGeom>
          <a:solidFill>
            <a:srgbClr val="1F4E79"/>
          </a:solidFill>
          <a:ln>
            <a:noFill/>
          </a:ln>
        </p:spPr>
      </p:sp>
      <p:grpSp>
        <p:nvGrpSpPr>
          <p:cNvPr id="5" name="chrome"/>
          <p:cNvGrpSpPr/>
          <p:nvPr/>
        </p:nvGrpSpPr>
        <p:grpSpPr>
          <a:xfrm>
            <a:off x="661416" y="315278"/>
            <a:ext cx="10997184" cy="205359"/>
            <a:chOff x="661416" y="315278"/>
            <a:chExt cx="10997184" cy="205359"/>
          </a:xfrm>
        </p:grpSpPr>
        <p:sp>
          <p:nvSpPr>
            <p:cNvPr id="3" name="TextBox 3"/>
            <p:cNvSpPr txBox="1"/>
            <p:nvPr/>
          </p:nvSpPr>
          <p:spPr>
            <a:xfrm>
              <a:off x="661416" y="315278"/>
              <a:ext cx="7869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FFFFFF"/>
                  </a:solidFill>
                  <a:latin typeface="Segoe UI"/>
                  <a:ea typeface="Segoe UI"/>
                  <a:cs typeface="Segoe UI"/>
                </a:rPr>
                <a:t>3 · VOICES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2076450" y="381000"/>
              <a:ext cx="9582150" cy="9525"/>
            </a:xfrm>
            <a:custGeom>
              <a:avLst/>
              <a:gdLst/>
              <a:ahLst/>
              <a:cxnLst/>
              <a:rect l="l" t="t" r="r" b="b"/>
              <a:pathLst>
                <a:path w="9582150" h="9525">
                  <a:moveTo>
                    <a:pt x="0" y="0"/>
                  </a:moveTo>
                  <a:lnTo>
                    <a:pt x="9582150" y="0"/>
                  </a:lnTo>
                </a:path>
              </a:pathLst>
            </a:custGeom>
            <a:noFill/>
            <a:ln w="9525">
              <a:solidFill>
                <a:srgbClr val="CFC8BB"/>
              </a:solidFill>
            </a:ln>
          </p:spPr>
        </p:sp>
      </p:grpSp>
      <p:grpSp>
        <p:nvGrpSpPr>
          <p:cNvPr id="8" name="title"/>
          <p:cNvGrpSpPr/>
          <p:nvPr/>
        </p:nvGrpSpPr>
        <p:grpSpPr>
          <a:xfrm>
            <a:off x="519684" y="756285"/>
            <a:ext cx="10659484" cy="811149"/>
            <a:chOff x="519684" y="756285"/>
            <a:chExt cx="10659484" cy="811149"/>
          </a:xfrm>
        </p:grpSpPr>
        <p:sp>
          <p:nvSpPr>
            <p:cNvPr id="6" name="TextBox 6"/>
            <p:cNvSpPr txBox="1"/>
            <p:nvPr/>
          </p:nvSpPr>
          <p:spPr>
            <a:xfrm>
              <a:off x="519684" y="756285"/>
              <a:ext cx="8844934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b="1" dirty="0">
                  <a:solidFill>
                    <a:srgbClr val="1B2A3A"/>
                  </a:solidFill>
                  <a:latin typeface="Cambria"/>
                  <a:ea typeface="Cambria"/>
                  <a:cs typeface="Cambria"/>
                </a:rPr>
                <a:t>Elected-member enquiries rose 33% to 1,507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24256" y="1215390"/>
              <a:ext cx="1065491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rgbClr val="3A4654"/>
                  </a:solidFill>
                  <a:latin typeface="Segoe UI"/>
                  <a:ea typeface="Segoe UI"/>
                  <a:cs typeface="Segoe UI"/>
                </a:rPr>
                <a:t>Up from 1,132 in 2022/23; Leader and Cabinet enquiries, 1,071 of them, averaged 3 days.</a:t>
              </a:r>
            </a:p>
          </p:txBody>
        </p:sp>
      </p:grpSp>
      <p:graphicFrame>
        <p:nvGraphicFramePr>
          <p:cNvPr id="9" name="p09-member-enquiries"/>
          <p:cNvGraphicFramePr>
            <a:graphicFrameLocks noGrp="1"/>
          </p:cNvGraphicFramePr>
          <p:nvPr/>
        </p:nvGraphicFramePr>
        <p:xfrm>
          <a:off x="533400" y="1866900"/>
          <a:ext cx="7086600" cy="3086100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2381250"/>
                <a:gridCol w="1143000"/>
                <a:gridCol w="1714500"/>
                <a:gridCol w="1847850"/>
              </a:tblGrid>
              <a:tr h="419100">
                <a:tc>
                  <a:txBody>
                    <a:bodyPr/>
                    <a:lstStyle/>
                    <a:p>
                      <a:pPr/>
                      <a:r>
                        <a:rPr lang="en-US" sz="1200" b="1">
                          <a:solidFill>
                            <a:srgbClr val="FFFFFF"/>
                          </a:solidFill>
                          <a:latin typeface="Segoe UI"/>
                          <a:ea typeface="Microsoft YaHei"/>
                          <a:cs typeface="Segoe UI"/>
                        </a:rPr>
                        <a:t>Source</a:t>
                      </a:r>
                    </a:p>
                  </a:txBody>
                  <a:tcPr anchor="ctr" marL="133350" marR="13335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CFC8BB"/>
                      </a:solidFill>
                      <a:prstDash val="soli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b="1">
                          <a:solidFill>
                            <a:srgbClr val="FFFFFF"/>
                          </a:solidFill>
                          <a:latin typeface="Segoe UI"/>
                          <a:ea typeface="Microsoft YaHei"/>
                          <a:cs typeface="Segoe UI"/>
                        </a:rPr>
                        <a:t>Received</a:t>
                      </a:r>
                    </a:p>
                  </a:txBody>
                  <a:tcPr anchor="ctr" marL="133350" marR="13335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CFC8BB"/>
                      </a:solidFill>
                      <a:prstDash val="soli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1200" b="1">
                          <a:solidFill>
                            <a:srgbClr val="FFFFFF"/>
                          </a:solidFill>
                          <a:latin typeface="Segoe UI"/>
                          <a:ea typeface="Microsoft YaHei"/>
                          <a:cs typeface="Segoe UI"/>
                        </a:rPr>
                        <a:t>Average time</a:t>
                      </a:r>
                    </a:p>
                  </a:txBody>
                  <a:tcPr anchor="ctr" marL="133350" marR="13335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CFC8BB"/>
                      </a:solidFill>
                      <a:prstDash val="soli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1200" b="1">
                          <a:solidFill>
                            <a:srgbClr val="FFFFFF"/>
                          </a:solidFill>
                          <a:latin typeface="Segoe UI"/>
                          <a:ea typeface="Microsoft YaHei"/>
                          <a:cs typeface="Segoe UI"/>
                        </a:rPr>
                        <a:t>Aim</a:t>
                      </a:r>
                    </a:p>
                  </a:txBody>
                  <a:tcPr anchor="ctr" marL="133350" marR="13335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CFC8BB"/>
                      </a:solidFill>
                      <a:prstDash val="solid"/>
                    </a:lnB>
                    <a:solidFill>
                      <a:srgbClr val="1F4E79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/>
                      <a:r>
                        <a:rPr lang="en-US" sz="1350" b="0">
                          <a:solidFill>
                            <a:srgbClr val="1B2A3A"/>
                          </a:solidFill>
                          <a:latin typeface="Segoe UI"/>
                          <a:ea typeface="Microsoft YaHei"/>
                          <a:cs typeface="Segoe UI"/>
                        </a:rPr>
                        <a:t>MP enquiries</a:t>
                      </a:r>
                    </a:p>
                  </a:txBody>
                  <a:tcPr anchor="ctr" marL="133350" marR="13335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CFC8B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350" b="0">
                          <a:solidFill>
                            <a:srgbClr val="1B2A3A"/>
                          </a:solidFill>
                          <a:latin typeface="Segoe UI"/>
                          <a:ea typeface="Microsoft YaHei"/>
                          <a:cs typeface="Segoe UI"/>
                        </a:rPr>
                        <a:t>159</a:t>
                      </a:r>
                    </a:p>
                  </a:txBody>
                  <a:tcPr anchor="ctr" marL="133350" marR="13335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CFC8B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1350" b="0">
                          <a:solidFill>
                            <a:srgbClr val="1B2A3A"/>
                          </a:solidFill>
                          <a:latin typeface="Segoe UI"/>
                          <a:ea typeface="Microsoft YaHei"/>
                          <a:cs typeface="Segoe UI"/>
                        </a:rPr>
                        <a:t>8 working days</a:t>
                      </a:r>
                    </a:p>
                  </a:txBody>
                  <a:tcPr anchor="ctr" marL="133350" marR="13335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CFC8B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1350" b="0">
                          <a:solidFill>
                            <a:srgbClr val="1B2A3A"/>
                          </a:solidFill>
                          <a:latin typeface="Segoe UI"/>
                          <a:ea typeface="Microsoft YaHei"/>
                          <a:cs typeface="Segoe UI"/>
                        </a:rPr>
                        <a:t>10 working days</a:t>
                      </a:r>
                    </a:p>
                  </a:txBody>
                  <a:tcPr anchor="ctr" marL="133350" marR="13335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CFC8BB"/>
                      </a:solidFill>
                      <a:prstDash val="solid"/>
                    </a:lnB>
                    <a:noFill/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/>
                      <a:r>
                        <a:rPr lang="en-US" sz="1350" b="0">
                          <a:solidFill>
                            <a:srgbClr val="1B2A3A"/>
                          </a:solidFill>
                          <a:latin typeface="Segoe UI"/>
                          <a:ea typeface="Microsoft YaHei"/>
                          <a:cs typeface="Segoe UI"/>
                        </a:rPr>
                        <a:t>Leader of the Council</a:t>
                      </a:r>
                    </a:p>
                  </a:txBody>
                  <a:tcPr anchor="ctr" marL="133350" marR="13335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CFC8B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350" b="0">
                          <a:solidFill>
                            <a:srgbClr val="1B2A3A"/>
                          </a:solidFill>
                          <a:latin typeface="Segoe UI"/>
                          <a:ea typeface="Microsoft YaHei"/>
                          <a:cs typeface="Segoe UI"/>
                        </a:rPr>
                        <a:t>525</a:t>
                      </a:r>
                    </a:p>
                  </a:txBody>
                  <a:tcPr anchor="ctr" marL="133350" marR="13335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CFC8B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1350" b="0">
                          <a:solidFill>
                            <a:srgbClr val="1B2A3A"/>
                          </a:solidFill>
                          <a:latin typeface="Segoe UI"/>
                          <a:ea typeface="Microsoft YaHei"/>
                          <a:cs typeface="Segoe UI"/>
                        </a:rPr>
                        <a:t>3 days</a:t>
                      </a:r>
                    </a:p>
                  </a:txBody>
                  <a:tcPr anchor="ctr" marL="133350" marR="13335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CFC8B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1350" b="0">
                          <a:solidFill>
                            <a:srgbClr val="1B2A3A"/>
                          </a:solidFill>
                          <a:latin typeface="Segoe UI"/>
                          <a:ea typeface="Microsoft YaHei"/>
                          <a:cs typeface="Segoe UI"/>
                        </a:rPr>
                        <a:t>—</a:t>
                      </a:r>
                    </a:p>
                  </a:txBody>
                  <a:tcPr anchor="ctr" marL="133350" marR="13335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CFC8BB"/>
                      </a:solidFill>
                      <a:prstDash val="solid"/>
                    </a:lnB>
                    <a:noFill/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/>
                      <a:r>
                        <a:rPr lang="en-US" sz="1350" b="0">
                          <a:solidFill>
                            <a:srgbClr val="1B2A3A"/>
                          </a:solidFill>
                          <a:latin typeface="Segoe UI"/>
                          <a:ea typeface="Microsoft YaHei"/>
                          <a:cs typeface="Segoe UI"/>
                        </a:rPr>
                        <a:t>Cabinet Members</a:t>
                      </a:r>
                    </a:p>
                  </a:txBody>
                  <a:tcPr anchor="ctr" marL="133350" marR="13335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CFC8B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350" b="0">
                          <a:solidFill>
                            <a:srgbClr val="1B2A3A"/>
                          </a:solidFill>
                          <a:latin typeface="Segoe UI"/>
                          <a:ea typeface="Microsoft YaHei"/>
                          <a:cs typeface="Segoe UI"/>
                        </a:rPr>
                        <a:t>546</a:t>
                      </a:r>
                    </a:p>
                  </a:txBody>
                  <a:tcPr anchor="ctr" marL="133350" marR="13335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CFC8B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1350" b="0">
                          <a:solidFill>
                            <a:srgbClr val="1B2A3A"/>
                          </a:solidFill>
                          <a:latin typeface="Segoe UI"/>
                          <a:ea typeface="Microsoft YaHei"/>
                          <a:cs typeface="Segoe UI"/>
                        </a:rPr>
                        <a:t>3 days</a:t>
                      </a:r>
                    </a:p>
                  </a:txBody>
                  <a:tcPr anchor="ctr" marL="133350" marR="13335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CFC8B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1350" b="0">
                          <a:solidFill>
                            <a:srgbClr val="1B2A3A"/>
                          </a:solidFill>
                          <a:latin typeface="Segoe UI"/>
                          <a:ea typeface="Microsoft YaHei"/>
                          <a:cs typeface="Segoe UI"/>
                        </a:rPr>
                        <a:t>—</a:t>
                      </a:r>
                    </a:p>
                  </a:txBody>
                  <a:tcPr anchor="ctr" marL="133350" marR="13335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CFC8BB"/>
                      </a:solidFill>
                      <a:prstDash val="solid"/>
                    </a:lnB>
                    <a:noFill/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/>
                      <a:r>
                        <a:rPr lang="en-US" sz="1350" b="0">
                          <a:solidFill>
                            <a:srgbClr val="1B2A3A"/>
                          </a:solidFill>
                          <a:latin typeface="Segoe UI"/>
                          <a:ea typeface="Microsoft YaHei"/>
                          <a:cs typeface="Segoe UI"/>
                        </a:rPr>
                        <a:t>Ward Members</a:t>
                      </a:r>
                    </a:p>
                  </a:txBody>
                  <a:tcPr anchor="ctr" marL="133350" marR="13335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CFC8B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350" b="0">
                          <a:solidFill>
                            <a:srgbClr val="1B2A3A"/>
                          </a:solidFill>
                          <a:latin typeface="Segoe UI"/>
                          <a:ea typeface="Microsoft YaHei"/>
                          <a:cs typeface="Segoe UI"/>
                        </a:rPr>
                        <a:t>277</a:t>
                      </a:r>
                    </a:p>
                  </a:txBody>
                  <a:tcPr anchor="ctr" marL="133350" marR="13335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CFC8B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1350" b="0">
                          <a:solidFill>
                            <a:srgbClr val="1B2A3A"/>
                          </a:solidFill>
                          <a:latin typeface="Segoe UI"/>
                          <a:ea typeface="Microsoft YaHei"/>
                          <a:cs typeface="Segoe UI"/>
                        </a:rPr>
                        <a:t>5 days</a:t>
                      </a:r>
                    </a:p>
                  </a:txBody>
                  <a:tcPr anchor="ctr" marL="133350" marR="13335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CFC8B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1350" b="0">
                          <a:solidFill>
                            <a:srgbClr val="1B2A3A"/>
                          </a:solidFill>
                          <a:latin typeface="Segoe UI"/>
                          <a:ea typeface="Microsoft YaHei"/>
                          <a:cs typeface="Segoe UI"/>
                        </a:rPr>
                        <a:t>—</a:t>
                      </a:r>
                    </a:p>
                  </a:txBody>
                  <a:tcPr anchor="ctr" marL="133350" marR="13335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CFC8BB"/>
                      </a:solidFill>
                      <a:prstDash val="solid"/>
                    </a:lnB>
                    <a:noFill/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/>
                      <a:r>
                        <a:rPr lang="en-US" sz="1350" b="1">
                          <a:solidFill>
                            <a:srgbClr val="1B2A3A"/>
                          </a:solidFill>
                          <a:latin typeface="Segoe UI"/>
                          <a:ea typeface="Microsoft YaHei"/>
                          <a:cs typeface="Segoe UI"/>
                        </a:rPr>
                        <a:t>Total</a:t>
                      </a:r>
                    </a:p>
                  </a:txBody>
                  <a:tcPr anchor="ctr" marL="133350" marR="13335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CFC8BB"/>
                      </a:solidFill>
                      <a:prstDash val="solid"/>
                    </a:lnB>
                    <a:solidFill>
                      <a:srgbClr val="E3E9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350" b="1">
                          <a:solidFill>
                            <a:srgbClr val="1B2A3A"/>
                          </a:solidFill>
                          <a:latin typeface="Segoe UI"/>
                          <a:ea typeface="Microsoft YaHei"/>
                          <a:cs typeface="Segoe UI"/>
                        </a:rPr>
                        <a:t>1,507</a:t>
                      </a:r>
                    </a:p>
                  </a:txBody>
                  <a:tcPr anchor="ctr" marL="133350" marR="13335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CFC8BB"/>
                      </a:solidFill>
                      <a:prstDash val="solid"/>
                    </a:lnB>
                    <a:solidFill>
                      <a:srgbClr val="E3E9F0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1350" b="0">
                          <a:solidFill>
                            <a:srgbClr val="1B2A3A"/>
                          </a:solidFill>
                          <a:latin typeface="Segoe UI"/>
                          <a:ea typeface="Microsoft YaHei"/>
                          <a:cs typeface="Segoe UI"/>
                        </a:rPr>
                        <a:t>—</a:t>
                      </a:r>
                    </a:p>
                  </a:txBody>
                  <a:tcPr anchor="ctr" marL="133350" marR="13335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CFC8BB"/>
                      </a:solidFill>
                      <a:prstDash val="solid"/>
                    </a:lnB>
                    <a:solidFill>
                      <a:srgbClr val="E3E9F0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1350" b="0">
                          <a:solidFill>
                            <a:srgbClr val="1B2A3A"/>
                          </a:solidFill>
                          <a:latin typeface="Segoe UI"/>
                          <a:ea typeface="Microsoft YaHei"/>
                          <a:cs typeface="Segoe UI"/>
                        </a:rPr>
                        <a:t>—</a:t>
                      </a:r>
                    </a:p>
                  </a:txBody>
                  <a:tcPr anchor="ctr" marL="133350" marR="13335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CFC8BB"/>
                      </a:solidFill>
                      <a:prstDash val="solid"/>
                    </a:lnB>
                    <a:solidFill>
                      <a:srgbClr val="E3E9F0"/>
                    </a:solidFill>
                  </a:tcPr>
                </a:tc>
              </a:tr>
            </a:tbl>
          </a:graphicData>
        </a:graphic>
      </p:graphicFrame>
      <p:grpSp>
        <p:nvGrpSpPr>
          <p:cNvPr id="11" name="table-note"/>
          <p:cNvGrpSpPr/>
          <p:nvPr/>
        </p:nvGrpSpPr>
        <p:grpSpPr>
          <a:xfrm>
            <a:off x="527304" y="5204460"/>
            <a:ext cx="5521452" cy="691896"/>
            <a:chOff x="527304" y="5204460"/>
            <a:chExt cx="5521452" cy="691896"/>
          </a:xfrm>
        </p:grpSpPr>
        <p:sp>
          <p:nvSpPr>
            <p:cNvPr id="10" name="TextBox 10"/>
            <p:cNvSpPr txBox="1"/>
            <p:nvPr/>
          </p:nvSpPr>
          <p:spPr>
            <a:xfrm>
              <a:off x="527304" y="5204460"/>
              <a:ext cx="5521452" cy="6918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en-US" sz="1200" dirty="0">
                  <a:solidFill>
                    <a:srgbClr val="3A4654"/>
                  </a:solidFill>
                  <a:latin typeface="Segoe UI"/>
                  <a:ea typeface="Segoe UI"/>
                  <a:cs typeface="Segoe UI"/>
                </a:rPr>
                <a:t>MP enquiries have a 10-working-day aim; the report states no aim for the</a:t>
              </a:r>
              <a:br/>
              <a:r>
                <a:rPr lang="en-US" sz="1200" dirty="0">
                  <a:solidFill>
                    <a:srgbClr val="3A4654"/>
                  </a:solidFill>
                  <a:latin typeface="Segoe UI"/>
                  <a:ea typeface="Segoe UI"/>
                  <a:cs typeface="Segoe UI"/>
                </a:rPr>
                <a:t>other routes. Leader enquiries come from constituents via the Leader of</a:t>
              </a:r>
              <a:br/>
              <a:r>
                <a:rPr lang="en-US" sz="1200" dirty="0">
                  <a:solidFill>
                    <a:srgbClr val="3A4654"/>
                  </a:solidFill>
                  <a:latin typeface="Segoe UI"/>
                  <a:ea typeface="Segoe UI"/>
                  <a:cs typeface="Segoe UI"/>
                </a:rPr>
                <a:t>the Council, Cllr Shaun Davies.</a:t>
              </a:r>
            </a:p>
          </p:txBody>
        </p:sp>
      </p:grpSp>
      <p:grpSp>
        <p:nvGrpSpPr>
          <p:cNvPr id="22" name="direct-contact"/>
          <p:cNvGrpSpPr/>
          <p:nvPr/>
        </p:nvGrpSpPr>
        <p:grpSpPr>
          <a:xfrm>
            <a:off x="7987284" y="1737360"/>
            <a:ext cx="3671316" cy="4082796"/>
            <a:chOff x="7987284" y="1737360"/>
            <a:chExt cx="3671316" cy="4082796"/>
          </a:xfrm>
        </p:grpSpPr>
        <p:sp>
          <p:nvSpPr>
            <p:cNvPr id="12" name="TextBox 12"/>
            <p:cNvSpPr txBox="1"/>
            <p:nvPr/>
          </p:nvSpPr>
          <p:spPr>
            <a:xfrm>
              <a:off x="7994904" y="1737360"/>
              <a:ext cx="261091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5E6873"/>
                  </a:solidFill>
                  <a:latin typeface="Segoe UI"/>
                  <a:ea typeface="Segoe UI"/>
                  <a:cs typeface="Segoe UI"/>
                </a:rPr>
                <a:t>DIRECT CONTACT WITH THE TEAM</a:t>
              </a:r>
            </a:p>
          </p:txBody>
        </p:sp>
        <p:sp>
          <p:nvSpPr>
            <p:cNvPr id="13" name="Line 13"/>
            <p:cNvSpPr/>
            <p:nvPr/>
          </p:nvSpPr>
          <p:spPr>
            <a:xfrm>
              <a:off x="8001000" y="2000250"/>
              <a:ext cx="3657600" cy="9525"/>
            </a:xfrm>
            <a:custGeom>
              <a:avLst/>
              <a:gdLst/>
              <a:ahLst/>
              <a:cxnLst/>
              <a:rect l="l" t="t" r="r" b="b"/>
              <a:pathLst>
                <a:path w="3657600" h="9525">
                  <a:moveTo>
                    <a:pt x="0" y="0"/>
                  </a:moveTo>
                  <a:lnTo>
                    <a:pt x="3657600" y="0"/>
                  </a:lnTo>
                </a:path>
              </a:pathLst>
            </a:custGeom>
            <a:noFill/>
            <a:ln w="9525">
              <a:solidFill>
                <a:srgbClr val="CFC8BB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987284" y="2165985"/>
              <a:ext cx="1136371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b="1" dirty="0">
                  <a:solidFill>
                    <a:srgbClr val="1F4E79"/>
                  </a:solidFill>
                  <a:latin typeface="Cambria"/>
                  <a:ea typeface="Cambria"/>
                  <a:cs typeface="Cambria"/>
                </a:rPr>
                <a:t>1,499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994904" y="2594610"/>
              <a:ext cx="3140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3A4654"/>
                  </a:solidFill>
                  <a:latin typeface="Segoe UI"/>
                  <a:ea typeface="Segoe UI"/>
                  <a:cs typeface="Segoe UI"/>
                </a:rPr>
                <a:t xml:space="preserve">emails and web forms — </a:t>
              </a:r>
              <a:r>
                <a:rPr lang="en-US" sz="1200" b="1" dirty="0">
                  <a:solidFill>
                    <a:srgbClr val="1B2A3A"/>
                  </a:solidFill>
                  <a:latin typeface="Segoe UI"/>
                  <a:ea typeface="Segoe UI"/>
                  <a:cs typeface="Segoe UI"/>
                </a:rPr>
                <a:t>up 17%</a:t>
              </a:r>
              <a:r>
                <a:rPr lang="en-US" sz="1200" dirty="0">
                  <a:solidFill>
                    <a:srgbClr val="3A4654"/>
                  </a:solidFill>
                  <a:latin typeface="Segoe UI"/>
                  <a:ea typeface="Segoe UI"/>
                  <a:cs typeface="Segoe UI"/>
                </a:rPr>
                <a:t xml:space="preserve"> on 1,281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987284" y="3023235"/>
              <a:ext cx="1136371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b="1" dirty="0">
                  <a:solidFill>
                    <a:srgbClr val="1F4E79"/>
                  </a:solidFill>
                  <a:latin typeface="Cambria"/>
                  <a:ea typeface="Cambria"/>
                  <a:cs typeface="Cambria"/>
                </a:rPr>
                <a:t>1,372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994904" y="3451860"/>
              <a:ext cx="285980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3A4654"/>
                  </a:solidFill>
                  <a:latin typeface="Segoe UI"/>
                  <a:ea typeface="Segoe UI"/>
                  <a:cs typeface="Segoe UI"/>
                </a:rPr>
                <a:t xml:space="preserve">telephone calls — </a:t>
              </a:r>
              <a:r>
                <a:rPr lang="en-US" sz="1200" b="1" dirty="0">
                  <a:solidFill>
                    <a:srgbClr val="1B2A3A"/>
                  </a:solidFill>
                  <a:latin typeface="Segoe UI"/>
                  <a:ea typeface="Segoe UI"/>
                  <a:cs typeface="Segoe UI"/>
                </a:rPr>
                <a:t>down 18%</a:t>
              </a:r>
              <a:r>
                <a:rPr lang="en-US" sz="1200" dirty="0">
                  <a:solidFill>
                    <a:srgbClr val="3A4654"/>
                  </a:solidFill>
                  <a:latin typeface="Segoe UI"/>
                  <a:ea typeface="Segoe UI"/>
                  <a:cs typeface="Segoe UI"/>
                </a:rPr>
                <a:t xml:space="preserve"> on 1,683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987284" y="3880485"/>
              <a:ext cx="1136371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b="1" dirty="0">
                  <a:solidFill>
                    <a:srgbClr val="1F4E79"/>
                  </a:solidFill>
                  <a:latin typeface="Cambria"/>
                  <a:ea typeface="Cambria"/>
                  <a:cs typeface="Cambria"/>
                </a:rPr>
                <a:t>3,049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994904" y="4309110"/>
              <a:ext cx="2336292" cy="4632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en-US" sz="1200" dirty="0">
                  <a:solidFill>
                    <a:srgbClr val="3A4654"/>
                  </a:solidFill>
                  <a:latin typeface="Segoe UI"/>
                  <a:ea typeface="Segoe UI"/>
                  <a:cs typeface="Segoe UI"/>
                </a:rPr>
                <a:t>direct customer contacts in all</a:t>
              </a:r>
              <a:br/>
              <a:r>
                <a:rPr lang="en-US" sz="1200" dirty="0">
                  <a:solidFill>
                    <a:srgbClr val="3A4654"/>
                  </a:solidFill>
                  <a:latin typeface="Segoe UI"/>
                  <a:ea typeface="Segoe UI"/>
                  <a:cs typeface="Segoe UI"/>
                </a:rPr>
                <a:t>(3,110 in 2022/23)</a:t>
              </a:r>
            </a:p>
          </p:txBody>
        </p:sp>
        <p:sp>
          <p:nvSpPr>
            <p:cNvPr id="20" name="Line 20"/>
            <p:cNvSpPr/>
            <p:nvPr/>
          </p:nvSpPr>
          <p:spPr>
            <a:xfrm>
              <a:off x="8001000" y="4991100"/>
              <a:ext cx="3657600" cy="9525"/>
            </a:xfrm>
            <a:custGeom>
              <a:avLst/>
              <a:gdLst/>
              <a:ahLst/>
              <a:cxnLst/>
              <a:rect l="l" t="t" r="r" b="b"/>
              <a:pathLst>
                <a:path w="3657600" h="9525">
                  <a:moveTo>
                    <a:pt x="0" y="0"/>
                  </a:moveTo>
                  <a:lnTo>
                    <a:pt x="3657600" y="0"/>
                  </a:lnTo>
                </a:path>
              </a:pathLst>
            </a:custGeom>
            <a:noFill/>
            <a:ln w="9525">
              <a:solidFill>
                <a:srgbClr val="CFC8BB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994904" y="5128260"/>
              <a:ext cx="3174492" cy="6918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en-US" sz="1200" dirty="0">
                  <a:solidFill>
                    <a:srgbClr val="5E6873"/>
                  </a:solidFill>
                  <a:latin typeface="Segoe UI"/>
                  <a:ea typeface="Segoe UI"/>
                  <a:cs typeface="Segoe UI"/>
                </a:rPr>
                <a:t>The Institute of Customer Service reports</a:t>
              </a:r>
              <a:br/>
              <a:r>
                <a:rPr lang="en-US" sz="1200" dirty="0">
                  <a:solidFill>
                    <a:srgbClr val="5E6873"/>
                  </a:solidFill>
                  <a:latin typeface="Segoe UI"/>
                  <a:ea typeface="Segoe UI"/>
                  <a:cs typeface="Segoe UI"/>
                </a:rPr>
                <a:t>that nationally, voice contact has risen</a:t>
              </a:r>
              <a:br/>
              <a:r>
                <a:rPr lang="en-US" sz="1200" dirty="0">
                  <a:solidFill>
                    <a:srgbClr val="5E6873"/>
                  </a:solidFill>
                  <a:latin typeface="Segoe UI"/>
                  <a:ea typeface="Segoe UI"/>
                  <a:cs typeface="Segoe UI"/>
                </a:rPr>
                <a:t>since the pandemic for difficult topics.</a:t>
              </a:r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528066" y="6516052"/>
            <a:ext cx="973670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rgbClr val="5E6873"/>
                </a:solidFill>
                <a:latin typeface="Segoe UI"/>
                <a:ea typeface="Segoe UI"/>
                <a:cs typeface="Segoe UI"/>
              </a:rPr>
              <a:t>Source: Corporate Feedback Report 2023/24 — MP/Leader/Cabinet and Member Enquiries; Background; Chart 2 (Summary of other feedback)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1575523" y="6516052"/>
            <a:ext cx="8841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5E6873"/>
                </a:solidFill>
                <a:latin typeface="Segoe UI"/>
                <a:ea typeface="Segoe UI"/>
                <a:cs typeface="Segoe UI"/>
              </a:rPr>
              <a:t>9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33400" y="247650"/>
            <a:ext cx="1428750" cy="266700"/>
          </a:xfrm>
          <a:prstGeom prst="snip1Rect">
            <a:avLst>
              <a:gd name="adj" fmla="val 35714"/>
            </a:avLst>
          </a:prstGeom>
          <a:solidFill>
            <a:srgbClr val="1F4E79"/>
          </a:solidFill>
          <a:ln>
            <a:noFill/>
          </a:ln>
        </p:spPr>
      </p:sp>
      <p:grpSp>
        <p:nvGrpSpPr>
          <p:cNvPr id="5" name="chrome"/>
          <p:cNvGrpSpPr/>
          <p:nvPr/>
        </p:nvGrpSpPr>
        <p:grpSpPr>
          <a:xfrm>
            <a:off x="661416" y="315278"/>
            <a:ext cx="10997184" cy="205359"/>
            <a:chOff x="661416" y="315278"/>
            <a:chExt cx="10997184" cy="205359"/>
          </a:xfrm>
        </p:grpSpPr>
        <p:sp>
          <p:nvSpPr>
            <p:cNvPr id="3" name="TextBox 3"/>
            <p:cNvSpPr txBox="1"/>
            <p:nvPr/>
          </p:nvSpPr>
          <p:spPr>
            <a:xfrm>
              <a:off x="661416" y="315278"/>
              <a:ext cx="7869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FFFFFF"/>
                  </a:solidFill>
                  <a:latin typeface="Segoe UI"/>
                  <a:ea typeface="Segoe UI"/>
                  <a:cs typeface="Segoe UI"/>
                </a:rPr>
                <a:t>3 · VOICES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2076450" y="381000"/>
              <a:ext cx="9582150" cy="9525"/>
            </a:xfrm>
            <a:custGeom>
              <a:avLst/>
              <a:gdLst/>
              <a:ahLst/>
              <a:cxnLst/>
              <a:rect l="l" t="t" r="r" b="b"/>
              <a:pathLst>
                <a:path w="9582150" h="9525">
                  <a:moveTo>
                    <a:pt x="0" y="0"/>
                  </a:moveTo>
                  <a:lnTo>
                    <a:pt x="9582150" y="0"/>
                  </a:lnTo>
                </a:path>
              </a:pathLst>
            </a:custGeom>
            <a:noFill/>
            <a:ln w="9525">
              <a:solidFill>
                <a:srgbClr val="CFC8BB"/>
              </a:solidFill>
            </a:ln>
          </p:spPr>
        </p:sp>
      </p:grpSp>
      <p:grpSp>
        <p:nvGrpSpPr>
          <p:cNvPr id="8" name="title"/>
          <p:cNvGrpSpPr/>
          <p:nvPr/>
        </p:nvGrpSpPr>
        <p:grpSpPr>
          <a:xfrm>
            <a:off x="519684" y="756285"/>
            <a:ext cx="9756024" cy="811149"/>
            <a:chOff x="519684" y="756285"/>
            <a:chExt cx="9756024" cy="811149"/>
          </a:xfrm>
        </p:grpSpPr>
        <p:sp>
          <p:nvSpPr>
            <p:cNvPr id="6" name="TextBox 6"/>
            <p:cNvSpPr txBox="1"/>
            <p:nvPr/>
          </p:nvSpPr>
          <p:spPr>
            <a:xfrm>
              <a:off x="519684" y="756285"/>
              <a:ext cx="9756024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b="1" dirty="0">
                  <a:solidFill>
                    <a:srgbClr val="1B2A3A"/>
                  </a:solidFill>
                  <a:latin typeface="Cambria"/>
                  <a:ea typeface="Cambria"/>
                  <a:cs typeface="Cambria"/>
                </a:rPr>
                <a:t>Compliments have more than doubled in five years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24256" y="1215390"/>
              <a:ext cx="864473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rgbClr val="3A4654"/>
                  </a:solidFill>
                  <a:latin typeface="Segoe UI"/>
                  <a:ea typeface="Segoe UI"/>
                  <a:cs typeface="Segoe UI"/>
                </a:rPr>
                <a:t>639 compliments in 2023/24 — 13% more than the 566 received in 2022/23.</a:t>
              </a:r>
            </a:p>
          </p:txBody>
        </p:sp>
      </p:grpSp>
      <p:grpSp>
        <p:nvGrpSpPr>
          <p:cNvPr id="22" name="compliments-hero"/>
          <p:cNvGrpSpPr/>
          <p:nvPr/>
        </p:nvGrpSpPr>
        <p:grpSpPr>
          <a:xfrm>
            <a:off x="514350" y="1885950"/>
            <a:ext cx="4127129" cy="2257806"/>
            <a:chOff x="514350" y="1885950"/>
            <a:chExt cx="4127129" cy="2257806"/>
          </a:xfrm>
        </p:grpSpPr>
        <p:sp>
          <p:nvSpPr>
            <p:cNvPr id="9" name="TextBox 9"/>
            <p:cNvSpPr txBox="1"/>
            <p:nvPr/>
          </p:nvSpPr>
          <p:spPr>
            <a:xfrm>
              <a:off x="514350" y="1885950"/>
              <a:ext cx="2255977" cy="17335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0" b="1" dirty="0">
                  <a:solidFill>
                    <a:srgbClr val="1F4E79"/>
                  </a:solidFill>
                  <a:latin typeface="Cambria"/>
                  <a:ea typeface="Cambria"/>
                  <a:cs typeface="Cambria"/>
                </a:rPr>
                <a:t>639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25018" y="3060382"/>
              <a:ext cx="350409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1B2A3A"/>
                  </a:solidFill>
                  <a:latin typeface="Segoe UI"/>
                  <a:ea typeface="Segoe UI"/>
                  <a:cs typeface="Segoe UI"/>
                </a:rPr>
                <a:t>compliments received in 2023/24</a:t>
              </a:r>
            </a:p>
          </p:txBody>
        </p:sp>
        <p:grpSp>
          <p:nvGrpSpPr>
            <p:cNvPr id="13" name="Group 13"/>
            <p:cNvGrpSpPr/>
            <p:nvPr/>
          </p:nvGrpSpPr>
          <p:grpSpPr>
            <a:xfrm>
              <a:off x="1390650" y="3657600"/>
              <a:ext cx="2419350" cy="1"/>
              <a:chOff x="1390650" y="3657600"/>
              <a:chExt cx="2419350" cy="1"/>
            </a:xfrm>
          </p:grpSpPr>
          <p:sp>
            <p:nvSpPr>
              <p:cNvPr id="11" name="Line 11"/>
              <p:cNvSpPr/>
              <p:nvPr/>
            </p:nvSpPr>
            <p:spPr>
              <a:xfrm>
                <a:off x="1390650" y="3657600"/>
                <a:ext cx="704850" cy="1"/>
              </a:xfrm>
              <a:prstGeom prst="line">
                <a:avLst/>
              </a:prstGeom>
              <a:noFill/>
              <a:ln w="14288">
                <a:solidFill>
                  <a:srgbClr val="8A8F96"/>
                </a:solidFill>
                <a:tailEnd type="triangle" w="lg" len="lg"/>
              </a:ln>
            </p:spPr>
          </p:sp>
          <p:sp>
            <p:nvSpPr>
              <p:cNvPr id="12" name="Line 12"/>
              <p:cNvSpPr/>
              <p:nvPr/>
            </p:nvSpPr>
            <p:spPr>
              <a:xfrm>
                <a:off x="3105150" y="3657600"/>
                <a:ext cx="704850" cy="1"/>
              </a:xfrm>
              <a:prstGeom prst="line">
                <a:avLst/>
              </a:prstGeom>
              <a:noFill/>
              <a:ln w="14288">
                <a:solidFill>
                  <a:srgbClr val="8A8F96"/>
                </a:solidFill>
                <a:tailEnd type="triangle" w="lg" len="lg"/>
              </a:ln>
            </p:spPr>
          </p:sp>
        </p:grpSp>
        <p:grpSp>
          <p:nvGrpSpPr>
            <p:cNvPr id="17" name="Group 17"/>
            <p:cNvGrpSpPr/>
            <p:nvPr/>
          </p:nvGrpSpPr>
          <p:grpSpPr>
            <a:xfrm>
              <a:off x="519684" y="3489960"/>
              <a:ext cx="4121795" cy="528066"/>
              <a:chOff x="519684" y="3489960"/>
              <a:chExt cx="4121795" cy="528066"/>
            </a:xfrm>
          </p:grpSpPr>
          <p:sp>
            <p:nvSpPr>
              <p:cNvPr id="14" name="TextBox 14"/>
              <p:cNvSpPr txBox="1"/>
              <p:nvPr/>
            </p:nvSpPr>
            <p:spPr>
              <a:xfrm>
                <a:off x="519684" y="3489960"/>
                <a:ext cx="692795" cy="5280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2700" b="1" dirty="0">
                    <a:solidFill>
                      <a:srgbClr val="1B2A3A"/>
                    </a:solidFill>
                    <a:latin typeface="Cambria"/>
                    <a:ea typeface="Cambria"/>
                    <a:cs typeface="Cambria"/>
                  </a:rPr>
                  <a:t>290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2234184" y="3489960"/>
                <a:ext cx="692795" cy="5280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2700" b="1" dirty="0">
                    <a:solidFill>
                      <a:srgbClr val="1B2A3A"/>
                    </a:solidFill>
                    <a:latin typeface="Cambria"/>
                    <a:ea typeface="Cambria"/>
                    <a:cs typeface="Cambria"/>
                  </a:rPr>
                  <a:t>566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3948684" y="3489960"/>
                <a:ext cx="692795" cy="5280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2700" b="1" dirty="0">
                    <a:solidFill>
                      <a:srgbClr val="1F4E79"/>
                    </a:solidFill>
                    <a:latin typeface="Cambria"/>
                    <a:ea typeface="Cambria"/>
                    <a:cs typeface="Cambria"/>
                  </a:rPr>
                  <a:t>639</a:t>
                </a:r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>
              <a:off x="527304" y="3909060"/>
              <a:ext cx="4063136" cy="234696"/>
              <a:chOff x="527304" y="3909060"/>
              <a:chExt cx="4063136" cy="234696"/>
            </a:xfrm>
          </p:grpSpPr>
          <p:sp>
            <p:nvSpPr>
              <p:cNvPr id="18" name="TextBox 18"/>
              <p:cNvSpPr txBox="1"/>
              <p:nvPr/>
            </p:nvSpPr>
            <p:spPr>
              <a:xfrm>
                <a:off x="527304" y="3909060"/>
                <a:ext cx="634136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rgbClr val="5E6873"/>
                    </a:solidFill>
                    <a:latin typeface="Segoe UI"/>
                    <a:ea typeface="Segoe UI"/>
                    <a:cs typeface="Segoe UI"/>
                  </a:rPr>
                  <a:t>2019/20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2241804" y="3909060"/>
                <a:ext cx="634136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rgbClr val="5E6873"/>
                    </a:solidFill>
                    <a:latin typeface="Segoe UI"/>
                    <a:ea typeface="Segoe UI"/>
                    <a:cs typeface="Segoe UI"/>
                  </a:rPr>
                  <a:t>2022/23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3956304" y="3909060"/>
                <a:ext cx="634136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rgbClr val="5E6873"/>
                    </a:solidFill>
                    <a:latin typeface="Segoe UI"/>
                    <a:ea typeface="Segoe UI"/>
                    <a:cs typeface="Segoe UI"/>
                  </a:rPr>
                  <a:t>2023/24</a:t>
                </a:r>
              </a:p>
            </p:txBody>
          </p:sp>
        </p:grpSp>
      </p:grpSp>
      <p:grpSp>
        <p:nvGrpSpPr>
          <p:cNvPr id="33" name="most-complimented"/>
          <p:cNvGrpSpPr/>
          <p:nvPr/>
        </p:nvGrpSpPr>
        <p:grpSpPr>
          <a:xfrm>
            <a:off x="526542" y="4343400"/>
            <a:ext cx="5195316" cy="1432751"/>
            <a:chOff x="526542" y="4343400"/>
            <a:chExt cx="5195316" cy="1432751"/>
          </a:xfrm>
        </p:grpSpPr>
        <p:sp>
          <p:nvSpPr>
            <p:cNvPr id="23" name="Line 23"/>
            <p:cNvSpPr/>
            <p:nvPr/>
          </p:nvSpPr>
          <p:spPr>
            <a:xfrm>
              <a:off x="533400" y="4343400"/>
              <a:ext cx="5181600" cy="9525"/>
            </a:xfrm>
            <a:custGeom>
              <a:avLst/>
              <a:gdLst/>
              <a:ahLst/>
              <a:cxnLst/>
              <a:rect l="l" t="t" r="r" b="b"/>
              <a:pathLst>
                <a:path w="5181600" h="9525">
                  <a:moveTo>
                    <a:pt x="0" y="0"/>
                  </a:moveTo>
                  <a:lnTo>
                    <a:pt x="5181600" y="0"/>
                  </a:lnTo>
                </a:path>
              </a:pathLst>
            </a:custGeom>
            <a:noFill/>
            <a:ln w="9525">
              <a:solidFill>
                <a:srgbClr val="CFC8BB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527304" y="4499610"/>
              <a:ext cx="300520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5E6873"/>
                  </a:solidFill>
                  <a:latin typeface="Segoe UI"/>
                  <a:ea typeface="Segoe UI"/>
                  <a:cs typeface="Segoe UI"/>
                </a:rPr>
                <a:t>MOST COMPLIMENTED DIRECTORATES</a:t>
              </a:r>
            </a:p>
          </p:txBody>
        </p:sp>
        <p:grpSp>
          <p:nvGrpSpPr>
            <p:cNvPr id="28" name="Group 28"/>
            <p:cNvGrpSpPr/>
            <p:nvPr/>
          </p:nvGrpSpPr>
          <p:grpSpPr>
            <a:xfrm>
              <a:off x="526542" y="4826318"/>
              <a:ext cx="3439367" cy="949833"/>
              <a:chOff x="526542" y="4826318"/>
              <a:chExt cx="3439367" cy="949833"/>
            </a:xfrm>
          </p:grpSpPr>
          <p:sp>
            <p:nvSpPr>
              <p:cNvPr id="25" name="TextBox 25"/>
              <p:cNvSpPr txBox="1"/>
              <p:nvPr/>
            </p:nvSpPr>
            <p:spPr>
              <a:xfrm>
                <a:off x="526542" y="4826318"/>
                <a:ext cx="343936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rgbClr val="1B2A3A"/>
                    </a:solidFill>
                    <a:latin typeface="Segoe UI"/>
                    <a:ea typeface="Segoe UI"/>
                    <a:cs typeface="Segoe UI"/>
                  </a:rPr>
                  <a:t>Neighbourhood &amp; Enforcement Services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526542" y="5169218"/>
                <a:ext cx="158845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rgbClr val="1B2A3A"/>
                    </a:solidFill>
                    <a:latin typeface="Segoe UI"/>
                    <a:ea typeface="Segoe UI"/>
                    <a:cs typeface="Segoe UI"/>
                  </a:rPr>
                  <a:t>Health &amp; Wellbeing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526542" y="5512118"/>
                <a:ext cx="276916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rgbClr val="1B2A3A"/>
                    </a:solidFill>
                    <a:latin typeface="Segoe UI"/>
                    <a:ea typeface="Segoe UI"/>
                    <a:cs typeface="Segoe UI"/>
                  </a:rPr>
                  <a:t xml:space="preserve">Adult Social Care </a:t>
                </a:r>
                <a:r>
                  <a:rPr lang="en-US" sz="1200" dirty="0">
                    <a:solidFill>
                      <a:srgbClr val="5E6873"/>
                    </a:solidFill>
                    <a:latin typeface="Segoe UI"/>
                    <a:ea typeface="Segoe UI"/>
                    <a:cs typeface="Segoe UI"/>
                  </a:rPr>
                  <a:t>(34 in 2022/23)</a:t>
                </a:r>
              </a:p>
            </p:txBody>
          </p:sp>
        </p:grpSp>
        <p:grpSp>
          <p:nvGrpSpPr>
            <p:cNvPr id="32" name="Group 32"/>
            <p:cNvGrpSpPr/>
            <p:nvPr/>
          </p:nvGrpSpPr>
          <p:grpSpPr>
            <a:xfrm>
              <a:off x="5393283" y="4826318"/>
              <a:ext cx="328575" cy="949833"/>
              <a:chOff x="5393283" y="4826318"/>
              <a:chExt cx="328575" cy="949833"/>
            </a:xfrm>
          </p:grpSpPr>
          <p:sp>
            <p:nvSpPr>
              <p:cNvPr id="29" name="TextBox 29"/>
              <p:cNvSpPr txBox="1"/>
              <p:nvPr/>
            </p:nvSpPr>
            <p:spPr>
              <a:xfrm>
                <a:off x="5393283" y="4826318"/>
                <a:ext cx="32857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en-US" sz="1350" b="1" dirty="0">
                    <a:solidFill>
                      <a:srgbClr val="1F4E79"/>
                    </a:solidFill>
                    <a:latin typeface="Segoe UI"/>
                    <a:ea typeface="Segoe UI"/>
                    <a:cs typeface="Segoe UI"/>
                  </a:rPr>
                  <a:t>176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5393283" y="5169218"/>
                <a:ext cx="32857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en-US" sz="1350" b="1" dirty="0">
                    <a:solidFill>
                      <a:srgbClr val="1F4E79"/>
                    </a:solidFill>
                    <a:latin typeface="Segoe UI"/>
                    <a:ea typeface="Segoe UI"/>
                    <a:cs typeface="Segoe UI"/>
                  </a:rPr>
                  <a:t>133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5393283" y="5512118"/>
                <a:ext cx="32857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en-US" sz="1350" b="1" dirty="0">
                    <a:solidFill>
                      <a:srgbClr val="1F4E79"/>
                    </a:solidFill>
                    <a:latin typeface="Segoe UI"/>
                    <a:ea typeface="Segoe UI"/>
                    <a:cs typeface="Segoe UI"/>
                  </a:rPr>
                  <a:t>103</a:t>
                </a:r>
              </a:p>
            </p:txBody>
          </p:sp>
        </p:grpSp>
      </p:grpSp>
      <p:grpSp>
        <p:nvGrpSpPr>
          <p:cNvPr id="37" name="pull-quote"/>
          <p:cNvGrpSpPr/>
          <p:nvPr/>
        </p:nvGrpSpPr>
        <p:grpSpPr>
          <a:xfrm>
            <a:off x="6267450" y="1657350"/>
            <a:ext cx="4686110" cy="1733550"/>
            <a:chOff x="6267450" y="1657350"/>
            <a:chExt cx="4686110" cy="1733550"/>
          </a:xfrm>
        </p:grpSpPr>
        <p:sp>
          <p:nvSpPr>
            <p:cNvPr id="34" name="TextBox 34"/>
            <p:cNvSpPr txBox="1"/>
            <p:nvPr/>
          </p:nvSpPr>
          <p:spPr>
            <a:xfrm>
              <a:off x="6267450" y="1657350"/>
              <a:ext cx="777392" cy="17335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0" b="1" dirty="0">
                  <a:solidFill>
                    <a:srgbClr val="B83B26"/>
                  </a:solidFill>
                  <a:latin typeface="Cambria"/>
                  <a:ea typeface="Cambria"/>
                  <a:cs typeface="Cambria"/>
                </a:rPr>
                <a:t>“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944868" y="2069782"/>
              <a:ext cx="4008692" cy="9323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en-US" sz="1650" i="1" dirty="0">
                  <a:solidFill>
                    <a:srgbClr val="1B2A3A"/>
                  </a:solidFill>
                  <a:latin typeface="Cambria"/>
                  <a:ea typeface="Cambria"/>
                  <a:cs typeface="Cambria"/>
                </a:rPr>
                <a:t>You were friendly, approachable and</a:t>
              </a:r>
              <a:br/>
              <a:r>
                <a:rPr lang="en-US" sz="1650" i="1" dirty="0">
                  <a:solidFill>
                    <a:srgbClr val="1B2A3A"/>
                  </a:solidFill>
                  <a:latin typeface="Cambria"/>
                  <a:ea typeface="Cambria"/>
                  <a:cs typeface="Cambria"/>
                </a:rPr>
                <a:t>very professional, always transparent</a:t>
              </a:r>
              <a:br/>
              <a:r>
                <a:rPr lang="en-US" sz="1650" i="1" dirty="0">
                  <a:solidFill>
                    <a:srgbClr val="1B2A3A"/>
                  </a:solidFill>
                  <a:latin typeface="Cambria"/>
                  <a:ea typeface="Cambria"/>
                  <a:cs typeface="Cambria"/>
                </a:rPr>
                <a:t>when giving us the facts.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947154" y="3089910"/>
              <a:ext cx="33853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5E6873"/>
                  </a:solidFill>
                  <a:latin typeface="Segoe UI"/>
                  <a:ea typeface="Segoe UI"/>
                  <a:cs typeface="Segoe UI"/>
                </a:rPr>
                <a:t>— compliment to Adult Social Care, 2023/24</a:t>
              </a:r>
            </a:p>
          </p:txBody>
        </p:sp>
      </p:grpSp>
      <p:grpSp>
        <p:nvGrpSpPr>
          <p:cNvPr id="50" name="customer-insight"/>
          <p:cNvGrpSpPr/>
          <p:nvPr/>
        </p:nvGrpSpPr>
        <p:grpSpPr>
          <a:xfrm>
            <a:off x="6272784" y="4343400"/>
            <a:ext cx="5385816" cy="1330261"/>
            <a:chOff x="6272784" y="4343400"/>
            <a:chExt cx="5385816" cy="1330261"/>
          </a:xfrm>
        </p:grpSpPr>
        <p:sp>
          <p:nvSpPr>
            <p:cNvPr id="38" name="Line 38"/>
            <p:cNvSpPr/>
            <p:nvPr/>
          </p:nvSpPr>
          <p:spPr>
            <a:xfrm>
              <a:off x="6286500" y="4343400"/>
              <a:ext cx="5372100" cy="9525"/>
            </a:xfrm>
            <a:custGeom>
              <a:avLst/>
              <a:gdLst/>
              <a:ahLst/>
              <a:cxnLst/>
              <a:rect l="l" t="t" r="r" b="b"/>
              <a:pathLst>
                <a:path w="5372100" h="9525">
                  <a:moveTo>
                    <a:pt x="0" y="0"/>
                  </a:moveTo>
                  <a:lnTo>
                    <a:pt x="5372100" y="0"/>
                  </a:lnTo>
                </a:path>
              </a:pathLst>
            </a:custGeom>
            <a:noFill/>
            <a:ln w="9525">
              <a:solidFill>
                <a:srgbClr val="CFC8BB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280404" y="4499610"/>
              <a:ext cx="257507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5E6873"/>
                  </a:solidFill>
                  <a:latin typeface="Segoe UI"/>
                  <a:ea typeface="Segoe UI"/>
                  <a:cs typeface="Segoe UI"/>
                </a:rPr>
                <a:t>CUSTOMER INSIGHT PROGRAMME</a:t>
              </a:r>
            </a:p>
          </p:txBody>
        </p:sp>
        <p:grpSp>
          <p:nvGrpSpPr>
            <p:cNvPr id="44" name="Group 44"/>
            <p:cNvGrpSpPr/>
            <p:nvPr/>
          </p:nvGrpSpPr>
          <p:grpSpPr>
            <a:xfrm>
              <a:off x="6272784" y="4852035"/>
              <a:ext cx="5086533" cy="528066"/>
              <a:chOff x="6272784" y="4852035"/>
              <a:chExt cx="5086533" cy="528066"/>
            </a:xfrm>
          </p:grpSpPr>
          <p:sp>
            <p:nvSpPr>
              <p:cNvPr id="40" name="TextBox 40"/>
              <p:cNvSpPr txBox="1"/>
              <p:nvPr/>
            </p:nvSpPr>
            <p:spPr>
              <a:xfrm>
                <a:off x="6272784" y="4852035"/>
                <a:ext cx="692795" cy="5280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2700" b="1" dirty="0">
                    <a:solidFill>
                      <a:srgbClr val="1F4E79"/>
                    </a:solidFill>
                    <a:latin typeface="Cambria"/>
                    <a:ea typeface="Cambria"/>
                    <a:cs typeface="Cambria"/>
                  </a:rPr>
                  <a:t>214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7663434" y="4852035"/>
                <a:ext cx="471007" cy="5280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2700" b="1" dirty="0">
                    <a:solidFill>
                      <a:srgbClr val="1F4E79"/>
                    </a:solidFill>
                    <a:latin typeface="Cambria"/>
                    <a:ea typeface="Cambria"/>
                    <a:cs typeface="Cambria"/>
                  </a:rPr>
                  <a:t>72</a:t>
                </a: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9054084" y="4852035"/>
                <a:ext cx="773445" cy="5280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2700" b="1" dirty="0">
                    <a:solidFill>
                      <a:srgbClr val="1F4E79"/>
                    </a:solidFill>
                    <a:latin typeface="Cambria"/>
                    <a:ea typeface="Cambria"/>
                    <a:cs typeface="Cambria"/>
                  </a:rPr>
                  <a:t>87%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10444734" y="4852035"/>
                <a:ext cx="914583" cy="5280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2700" b="1" dirty="0">
                    <a:solidFill>
                      <a:srgbClr val="1F4E79"/>
                    </a:solidFill>
                    <a:latin typeface="Cambria"/>
                    <a:ea typeface="Cambria"/>
                    <a:cs typeface="Cambria"/>
                  </a:rPr>
                  <a:t>71.2</a:t>
                </a:r>
              </a:p>
            </p:txBody>
          </p:sp>
        </p:grpSp>
        <p:grpSp>
          <p:nvGrpSpPr>
            <p:cNvPr id="49" name="Group 49"/>
            <p:cNvGrpSpPr/>
            <p:nvPr/>
          </p:nvGrpSpPr>
          <p:grpSpPr>
            <a:xfrm>
              <a:off x="6281166" y="5277802"/>
              <a:ext cx="5256086" cy="395859"/>
              <a:chOff x="6281166" y="5277802"/>
              <a:chExt cx="5256086" cy="395859"/>
            </a:xfrm>
          </p:grpSpPr>
          <p:sp>
            <p:nvSpPr>
              <p:cNvPr id="45" name="TextBox 45"/>
              <p:cNvSpPr txBox="1"/>
              <p:nvPr/>
            </p:nvSpPr>
            <p:spPr>
              <a:xfrm>
                <a:off x="6281166" y="5277802"/>
                <a:ext cx="1217486" cy="3958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500"/>
                  </a:lnSpc>
                </a:pPr>
                <a:r>
                  <a:rPr lang="en-US" sz="1050" dirty="0">
                    <a:solidFill>
                      <a:srgbClr val="3A4654"/>
                    </a:solidFill>
                    <a:latin typeface="Segoe UI"/>
                    <a:ea typeface="Segoe UI"/>
                    <a:cs typeface="Segoe UI"/>
                  </a:rPr>
                  <a:t>Mystery Customer</a:t>
                </a:r>
                <a:br/>
                <a:r>
                  <a:rPr lang="en-US" sz="1050" dirty="0">
                    <a:solidFill>
                      <a:srgbClr val="3A4654"/>
                    </a:solidFill>
                    <a:latin typeface="Segoe UI"/>
                    <a:ea typeface="Segoe UI"/>
                    <a:cs typeface="Segoe UI"/>
                  </a:rPr>
                  <a:t>volunteers (+15%)</a:t>
                </a:r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7671816" y="5277802"/>
                <a:ext cx="1017461" cy="3958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500"/>
                  </a:lnSpc>
                </a:pPr>
                <a:r>
                  <a:rPr lang="en-US" sz="1050" dirty="0">
                    <a:solidFill>
                      <a:srgbClr val="3A4654"/>
                    </a:solidFill>
                    <a:latin typeface="Segoe UI"/>
                    <a:ea typeface="Segoe UI"/>
                    <a:cs typeface="Segoe UI"/>
                  </a:rPr>
                  <a:t>assignments</a:t>
                </a:r>
                <a:br/>
                <a:r>
                  <a:rPr lang="en-US" sz="1050" dirty="0">
                    <a:solidFill>
                      <a:srgbClr val="3A4654"/>
                    </a:solidFill>
                    <a:latin typeface="Segoe UI"/>
                    <a:ea typeface="Segoe UI"/>
                    <a:cs typeface="Segoe UI"/>
                  </a:rPr>
                  <a:t>since April 2023</a:t>
                </a:r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9062466" y="5277802"/>
                <a:ext cx="824103" cy="3958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500"/>
                  </a:lnSpc>
                </a:pPr>
                <a:r>
                  <a:rPr lang="en-US" sz="1050" dirty="0">
                    <a:solidFill>
                      <a:srgbClr val="3A4654"/>
                    </a:solidFill>
                    <a:latin typeface="Segoe UI"/>
                    <a:ea typeface="Segoe UI"/>
                    <a:cs typeface="Segoe UI"/>
                  </a:rPr>
                  <a:t>satisfaction</a:t>
                </a:r>
                <a:br/>
                <a:r>
                  <a:rPr lang="en-US" sz="1050" dirty="0">
                    <a:solidFill>
                      <a:srgbClr val="3A4654"/>
                    </a:solidFill>
                    <a:latin typeface="Segoe UI"/>
                    <a:ea typeface="Segoe UI"/>
                    <a:cs typeface="Segoe UI"/>
                  </a:rPr>
                  <a:t>across them</a:t>
                </a:r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10453116" y="5277802"/>
                <a:ext cx="1084136" cy="3958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500"/>
                  </a:lnSpc>
                </a:pPr>
                <a:r>
                  <a:rPr lang="en-US" sz="1050" dirty="0">
                    <a:solidFill>
                      <a:srgbClr val="3A4654"/>
                    </a:solidFill>
                    <a:latin typeface="Segoe UI"/>
                    <a:ea typeface="Segoe UI"/>
                    <a:cs typeface="Segoe UI"/>
                  </a:rPr>
                  <a:t>UKCSI score</a:t>
                </a:r>
                <a:br/>
                <a:r>
                  <a:rPr lang="en-US" sz="1050" dirty="0">
                    <a:solidFill>
                      <a:srgbClr val="3A4654"/>
                    </a:solidFill>
                    <a:latin typeface="Segoe UI"/>
                    <a:ea typeface="Segoe UI"/>
                    <a:cs typeface="Segoe UI"/>
                  </a:rPr>
                  <a:t>(councils: 64.4)</a:t>
                </a:r>
              </a:p>
            </p:txBody>
          </p:sp>
        </p:grpSp>
      </p:grpSp>
      <p:sp>
        <p:nvSpPr>
          <p:cNvPr id="51" name="TextBox 51"/>
          <p:cNvSpPr txBox="1"/>
          <p:nvPr/>
        </p:nvSpPr>
        <p:spPr>
          <a:xfrm>
            <a:off x="528066" y="6516052"/>
            <a:ext cx="1030782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rgbClr val="5E6873"/>
                </a:solidFill>
                <a:latin typeface="Segoe UI"/>
                <a:ea typeface="Segoe UI"/>
                <a:cs typeface="Segoe UI"/>
              </a:rPr>
              <a:t>Source: Corporate Feedback Report 2023/24 — Compliments; Chart 3 (compliments by directorate); Customer Insight Programme; Highlights 2023/24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11497780" y="651605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5E6873"/>
                </a:solidFill>
                <a:latin typeface="Segoe UI"/>
                <a:ea typeface="Segoe UI"/>
                <a:cs typeface="Segoe UI"/>
              </a:rPr>
              <a:t>10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33400" y="247650"/>
            <a:ext cx="1428750" cy="266700"/>
          </a:xfrm>
          <a:prstGeom prst="snip1Rect">
            <a:avLst>
              <a:gd name="adj" fmla="val 35714"/>
            </a:avLst>
          </a:prstGeom>
          <a:solidFill>
            <a:srgbClr val="1F4E79"/>
          </a:solidFill>
          <a:ln>
            <a:noFill/>
          </a:ln>
        </p:spPr>
      </p:sp>
      <p:grpSp>
        <p:nvGrpSpPr>
          <p:cNvPr id="5" name="chrome"/>
          <p:cNvGrpSpPr/>
          <p:nvPr/>
        </p:nvGrpSpPr>
        <p:grpSpPr>
          <a:xfrm>
            <a:off x="661416" y="315278"/>
            <a:ext cx="10997184" cy="205359"/>
            <a:chOff x="661416" y="315278"/>
            <a:chExt cx="10997184" cy="205359"/>
          </a:xfrm>
        </p:grpSpPr>
        <p:sp>
          <p:nvSpPr>
            <p:cNvPr id="3" name="TextBox 3"/>
            <p:cNvSpPr txBox="1"/>
            <p:nvPr/>
          </p:nvSpPr>
          <p:spPr>
            <a:xfrm>
              <a:off x="661416" y="315278"/>
              <a:ext cx="7869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FFFFFF"/>
                  </a:solidFill>
                  <a:latin typeface="Segoe UI"/>
                  <a:ea typeface="Segoe UI"/>
                  <a:cs typeface="Segoe UI"/>
                </a:rPr>
                <a:t>3 · VOICES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2076450" y="381000"/>
              <a:ext cx="9582150" cy="9525"/>
            </a:xfrm>
            <a:custGeom>
              <a:avLst/>
              <a:gdLst/>
              <a:ahLst/>
              <a:cxnLst/>
              <a:rect l="l" t="t" r="r" b="b"/>
              <a:pathLst>
                <a:path w="9582150" h="9525">
                  <a:moveTo>
                    <a:pt x="0" y="0"/>
                  </a:moveTo>
                  <a:lnTo>
                    <a:pt x="9582150" y="0"/>
                  </a:lnTo>
                </a:path>
              </a:pathLst>
            </a:custGeom>
            <a:noFill/>
            <a:ln w="9525">
              <a:solidFill>
                <a:srgbClr val="CFC8BB"/>
              </a:solidFill>
            </a:ln>
          </p:spPr>
        </p:sp>
      </p:grpSp>
      <p:grpSp>
        <p:nvGrpSpPr>
          <p:cNvPr id="8" name="title"/>
          <p:cNvGrpSpPr/>
          <p:nvPr/>
        </p:nvGrpSpPr>
        <p:grpSpPr>
          <a:xfrm>
            <a:off x="519684" y="756285"/>
            <a:ext cx="8535924" cy="811149"/>
            <a:chOff x="519684" y="756285"/>
            <a:chExt cx="8535924" cy="811149"/>
          </a:xfrm>
        </p:grpSpPr>
        <p:sp>
          <p:nvSpPr>
            <p:cNvPr id="6" name="TextBox 6"/>
            <p:cNvSpPr txBox="1"/>
            <p:nvPr/>
          </p:nvSpPr>
          <p:spPr>
            <a:xfrm>
              <a:off x="519684" y="756285"/>
              <a:ext cx="8260824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b="1" dirty="0">
                  <a:solidFill>
                    <a:srgbClr val="1B2A3A"/>
                  </a:solidFill>
                  <a:latin typeface="Cambria"/>
                  <a:ea typeface="Cambria"/>
                  <a:cs typeface="Cambria"/>
                </a:rPr>
                <a:t>Complaints are turning into specific fixes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24256" y="1215390"/>
              <a:ext cx="85313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rgbClr val="3A4654"/>
                  </a:solidFill>
                  <a:latin typeface="Segoe UI"/>
                  <a:ea typeface="Segoe UI"/>
                  <a:cs typeface="Segoe UI"/>
                </a:rPr>
                <a:t>Four of the 13 “You said, We did” changes the report lists for 2023/24.</a:t>
              </a:r>
            </a:p>
          </p:txBody>
        </p:sp>
      </p:grpSp>
      <p:graphicFrame>
        <p:nvGraphicFramePr>
          <p:cNvPr id="9" name="p11-you-said-we-did"/>
          <p:cNvGraphicFramePr>
            <a:graphicFrameLocks noGrp="1"/>
          </p:cNvGraphicFramePr>
          <p:nvPr/>
        </p:nvGraphicFramePr>
        <p:xfrm>
          <a:off x="533400" y="1771650"/>
          <a:ext cx="7658100" cy="3048000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3848100"/>
                <a:gridCol w="3810000"/>
              </a:tblGrid>
              <a:tr h="381000">
                <a:tc>
                  <a:txBody>
                    <a:bodyPr/>
                    <a:lstStyle/>
                    <a:p>
                      <a:pPr/>
                      <a:r>
                        <a:rPr lang="en-US" sz="1050" b="1">
                          <a:solidFill>
                            <a:srgbClr val="FFFFFF"/>
                          </a:solidFill>
                          <a:latin typeface="Segoe UI"/>
                          <a:ea typeface="Microsoft YaHei"/>
                          <a:cs typeface="Segoe UI"/>
                        </a:rPr>
                        <a:t>YOU SAID</a:t>
                      </a:r>
                    </a:p>
                  </a:txBody>
                  <a:tcPr anchor="ctr" marL="152400" marR="152400" marT="57150" marB="571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CFC8BB"/>
                      </a:solidFill>
                      <a:prstDash val="soli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1050" b="1">
                          <a:solidFill>
                            <a:srgbClr val="FFFFFF"/>
                          </a:solidFill>
                          <a:latin typeface="Segoe UI"/>
                          <a:ea typeface="Microsoft YaHei"/>
                          <a:cs typeface="Segoe UI"/>
                        </a:rPr>
                        <a:t>WE DID</a:t>
                      </a:r>
                    </a:p>
                  </a:txBody>
                  <a:tcPr anchor="ctr" marL="152400" marR="152400" marT="57150" marB="571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CFC8BB"/>
                      </a:solidFill>
                      <a:prstDash val="solid"/>
                    </a:lnB>
                    <a:solidFill>
                      <a:srgbClr val="1F4E79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pPr/>
                      <a:r>
                        <a:rPr lang="en-US" sz="1200" b="0">
                          <a:solidFill>
                            <a:srgbClr val="1B2A3A"/>
                          </a:solidFill>
                          <a:latin typeface="Segoe UI"/>
                          <a:ea typeface="Microsoft YaHei"/>
                          <a:cs typeface="Segoe UI"/>
                        </a:rPr>
                        <a:t>Some customers reported a delay in receiving death certificates by post.</a:t>
                      </a:r>
                    </a:p>
                  </a:txBody>
                  <a:tcPr anchor="ctr" marL="152400" marR="152400" marT="57150" marB="571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CFC8B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1200" b="0">
                          <a:solidFill>
                            <a:srgbClr val="1B2A3A"/>
                          </a:solidFill>
                          <a:latin typeface="Segoe UI"/>
                          <a:ea typeface="Microsoft YaHei"/>
                          <a:cs typeface="Segoe UI"/>
                        </a:rPr>
                        <a:t>Death certificates are now sent by First Class post.</a:t>
                      </a:r>
                    </a:p>
                  </a:txBody>
                  <a:tcPr anchor="ctr" marL="152400" marR="152400" marT="57150" marB="571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CFC8BB"/>
                      </a:solidFill>
                      <a:prstDash val="solid"/>
                    </a:lnB>
                    <a:noFill/>
                  </a:tcPr>
                </a:tc>
              </a:tr>
              <a:tr h="666750">
                <a:tc>
                  <a:txBody>
                    <a:bodyPr/>
                    <a:lstStyle/>
                    <a:p>
                      <a:pPr/>
                      <a:r>
                        <a:rPr lang="en-US" sz="1200" b="0">
                          <a:solidFill>
                            <a:srgbClr val="1B2A3A"/>
                          </a:solidFill>
                          <a:latin typeface="Segoe UI"/>
                          <a:ea typeface="Microsoft YaHei"/>
                          <a:cs typeface="Segoe UI"/>
                        </a:rPr>
                        <a:t>Healthy Lifestyle customers asked for appointments after 5pm.</a:t>
                      </a:r>
                    </a:p>
                  </a:txBody>
                  <a:tcPr anchor="ctr" marL="152400" marR="152400" marT="57150" marB="571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CFC8B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1200" b="0">
                          <a:solidFill>
                            <a:srgbClr val="1B2A3A"/>
                          </a:solidFill>
                          <a:latin typeface="Segoe UI"/>
                          <a:ea typeface="Microsoft YaHei"/>
                          <a:cs typeface="Segoe UI"/>
                        </a:rPr>
                        <a:t>Extended evening clinic hours are now available throughout the week.</a:t>
                      </a:r>
                    </a:p>
                  </a:txBody>
                  <a:tcPr anchor="ctr" marL="152400" marR="152400" marT="57150" marB="571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CFC8BB"/>
                      </a:solidFill>
                      <a:prstDash val="solid"/>
                    </a:lnB>
                    <a:noFill/>
                  </a:tcPr>
                </a:tc>
              </a:tr>
              <a:tr h="666750">
                <a:tc>
                  <a:txBody>
                    <a:bodyPr/>
                    <a:lstStyle/>
                    <a:p>
                      <a:pPr/>
                      <a:r>
                        <a:rPr lang="en-US" sz="1200" b="0">
                          <a:solidFill>
                            <a:srgbClr val="1B2A3A"/>
                          </a:solidFill>
                          <a:latin typeface="Segoe UI"/>
                          <a:ea typeface="Microsoft YaHei"/>
                          <a:cs typeface="Segoe UI"/>
                        </a:rPr>
                        <a:t>Leisure customers receiving Personal Independence Payment asked for concessions.</a:t>
                      </a:r>
                    </a:p>
                  </a:txBody>
                  <a:tcPr anchor="ctr" marL="152400" marR="152400" marT="57150" marB="571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CFC8B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1200" b="0">
                          <a:solidFill>
                            <a:srgbClr val="1B2A3A"/>
                          </a:solidFill>
                          <a:latin typeface="Segoe UI"/>
                          <a:ea typeface="Microsoft YaHei"/>
                          <a:cs typeface="Segoe UI"/>
                        </a:rPr>
                        <a:t>The Concessionary Policy now includes customers receiving that payment.</a:t>
                      </a:r>
                    </a:p>
                  </a:txBody>
                  <a:tcPr anchor="ctr" marL="152400" marR="152400" marT="57150" marB="571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CFC8BB"/>
                      </a:solidFill>
                      <a:prstDash val="solid"/>
                    </a:lnB>
                    <a:noFill/>
                  </a:tcPr>
                </a:tc>
              </a:tr>
              <a:tr h="666750">
                <a:tc>
                  <a:txBody>
                    <a:bodyPr/>
                    <a:lstStyle/>
                    <a:p>
                      <a:pPr/>
                      <a:r>
                        <a:rPr lang="en-US" sz="1200" b="0">
                          <a:solidFill>
                            <a:srgbClr val="1B2A3A"/>
                          </a:solidFill>
                          <a:latin typeface="Segoe UI"/>
                          <a:ea typeface="Microsoft YaHei"/>
                          <a:cs typeface="Segoe UI"/>
                        </a:rPr>
                        <a:t>Bowring Park parking information missed the newer car park by the tennis courts.</a:t>
                      </a:r>
                    </a:p>
                  </a:txBody>
                  <a:tcPr anchor="ctr" marL="152400" marR="152400" marT="57150" marB="571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CFC8B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1200" b="0">
                          <a:solidFill>
                            <a:srgbClr val="1B2A3A"/>
                          </a:solidFill>
                          <a:latin typeface="Segoe UI"/>
                          <a:ea typeface="Microsoft YaHei"/>
                          <a:cs typeface="Segoe UI"/>
                        </a:rPr>
                        <a:t>The website has been updated to reflect this information.</a:t>
                      </a:r>
                    </a:p>
                  </a:txBody>
                  <a:tcPr anchor="ctr" marL="152400" marR="152400" marT="57150" marB="571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CFC8BB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grpSp>
        <p:nvGrpSpPr>
          <p:cNvPr id="12" name="more-examples"/>
          <p:cNvGrpSpPr/>
          <p:nvPr/>
        </p:nvGrpSpPr>
        <p:grpSpPr>
          <a:xfrm>
            <a:off x="527304" y="5109210"/>
            <a:ext cx="6367272" cy="977646"/>
            <a:chOff x="527304" y="5109210"/>
            <a:chExt cx="6367272" cy="977646"/>
          </a:xfrm>
        </p:grpSpPr>
        <p:sp>
          <p:nvSpPr>
            <p:cNvPr id="10" name="TextBox 10"/>
            <p:cNvSpPr txBox="1"/>
            <p:nvPr/>
          </p:nvSpPr>
          <p:spPr>
            <a:xfrm>
              <a:off x="527304" y="5109210"/>
              <a:ext cx="6367272" cy="6918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en-US" sz="1200" dirty="0">
                  <a:solidFill>
                    <a:srgbClr val="3A4654"/>
                  </a:solidFill>
                  <a:latin typeface="Segoe UI"/>
                  <a:ea typeface="Segoe UI"/>
                  <a:cs typeface="Segoe UI"/>
                </a:rPr>
                <a:t>Learning from complaints also brought a lowered accessible desk and automatic doors</a:t>
              </a:r>
              <a:br/>
              <a:r>
                <a:rPr lang="en-US" sz="1200" dirty="0">
                  <a:solidFill>
                    <a:srgbClr val="3A4654"/>
                  </a:solidFill>
                  <a:latin typeface="Segoe UI"/>
                  <a:ea typeface="Segoe UI"/>
                  <a:cs typeface="Segoe UI"/>
                </a:rPr>
                <a:t>at Darby House Reception, twice-daily checks on postal-vote requests, and conflict</a:t>
              </a:r>
              <a:br/>
              <a:r>
                <a:rPr lang="en-US" sz="1200" dirty="0">
                  <a:solidFill>
                    <a:srgbClr val="3A4654"/>
                  </a:solidFill>
                  <a:latin typeface="Segoe UI"/>
                  <a:ea typeface="Segoe UI"/>
                  <a:cs typeface="Segoe UI"/>
                </a:rPr>
                <a:t>resolution training for the Neighbourhood Enforcement Team.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27304" y="5852160"/>
              <a:ext cx="41949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3A4654"/>
                  </a:solidFill>
                  <a:latin typeface="Segoe UI"/>
                  <a:ea typeface="Segoe UI"/>
                  <a:cs typeface="Segoe UI"/>
                </a:rPr>
                <a:t xml:space="preserve">More examples: </a:t>
              </a:r>
              <a:r>
                <a:rPr lang="en-US" sz="1200" b="1" dirty="0">
                  <a:solidFill>
                    <a:srgbClr val="1F4E79"/>
                  </a:solidFill>
                  <a:latin typeface="Segoe UI"/>
                  <a:ea typeface="Segoe UI"/>
                  <a:cs typeface="Segoe UI"/>
                  <a:hlinkClick r:id="rId2"/>
                </a:rPr>
                <a:t>www.telford.gov.uk/yousaidwedid</a:t>
              </a:r>
            </a:p>
          </p:txBody>
        </p:sp>
      </p:grpSp>
      <p:grpSp>
        <p:nvGrpSpPr>
          <p:cNvPr id="33" name="remedies"/>
          <p:cNvGrpSpPr/>
          <p:nvPr/>
        </p:nvGrpSpPr>
        <p:grpSpPr>
          <a:xfrm>
            <a:off x="8566404" y="1813560"/>
            <a:ext cx="3092196" cy="4158996"/>
            <a:chOff x="8566404" y="1813560"/>
            <a:chExt cx="3092196" cy="4158996"/>
          </a:xfrm>
        </p:grpSpPr>
        <p:sp>
          <p:nvSpPr>
            <p:cNvPr id="13" name="TextBox 13"/>
            <p:cNvSpPr txBox="1"/>
            <p:nvPr/>
          </p:nvSpPr>
          <p:spPr>
            <a:xfrm>
              <a:off x="8566404" y="1813560"/>
              <a:ext cx="278117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5E6873"/>
                  </a:solidFill>
                  <a:latin typeface="Segoe UI"/>
                  <a:ea typeface="Segoe UI"/>
                  <a:cs typeface="Segoe UI"/>
                </a:rPr>
                <a:t>HOW COMPLAINTS WERE PUT RIGHT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567166" y="2058352"/>
              <a:ext cx="258958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5E6873"/>
                  </a:solidFill>
                  <a:latin typeface="Segoe UI"/>
                  <a:ea typeface="Segoe UI"/>
                  <a:cs typeface="Segoe UI"/>
                </a:rPr>
                <a:t>Share of remedies recorded, 2023/24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8572500" y="2305050"/>
              <a:ext cx="3086100" cy="9525"/>
            </a:xfrm>
            <a:custGeom>
              <a:avLst/>
              <a:gdLst/>
              <a:ahLst/>
              <a:cxnLst/>
              <a:rect l="l" t="t" r="r" b="b"/>
              <a:pathLst>
                <a:path w="3086100" h="9525">
                  <a:moveTo>
                    <a:pt x="0" y="0"/>
                  </a:moveTo>
                  <a:lnTo>
                    <a:pt x="3086100" y="0"/>
                  </a:lnTo>
                </a:path>
              </a:pathLst>
            </a:custGeom>
            <a:noFill/>
            <a:ln w="9525">
              <a:solidFill>
                <a:srgbClr val="CFC8BB"/>
              </a:solidFill>
            </a:ln>
          </p:spPr>
        </p:sp>
        <p:grpSp>
          <p:nvGrpSpPr>
            <p:cNvPr id="20" name="Group 20"/>
            <p:cNvGrpSpPr/>
            <p:nvPr/>
          </p:nvGrpSpPr>
          <p:grpSpPr>
            <a:xfrm>
              <a:off x="8566404" y="2499360"/>
              <a:ext cx="2561844" cy="2234946"/>
              <a:chOff x="8566404" y="2499360"/>
              <a:chExt cx="2561844" cy="2234946"/>
            </a:xfrm>
          </p:grpSpPr>
          <p:sp>
            <p:nvSpPr>
              <p:cNvPr id="16" name="TextBox 16"/>
              <p:cNvSpPr txBox="1"/>
              <p:nvPr/>
            </p:nvSpPr>
            <p:spPr>
              <a:xfrm>
                <a:off x="8566404" y="2499360"/>
                <a:ext cx="256184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rgbClr val="1B2A3A"/>
                    </a:solidFill>
                    <a:latin typeface="Segoe UI"/>
                    <a:ea typeface="Segoe UI"/>
                    <a:cs typeface="Segoe UI"/>
                  </a:rPr>
                  <a:t>Explanation, no remedy required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8566404" y="3166110"/>
                <a:ext cx="1858757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rgbClr val="1B2A3A"/>
                    </a:solidFill>
                    <a:latin typeface="Segoe UI"/>
                    <a:ea typeface="Segoe UI"/>
                    <a:cs typeface="Segoe UI"/>
                  </a:rPr>
                  <a:t>Explanation and apology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8566404" y="3832860"/>
                <a:ext cx="166485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rgbClr val="1B2A3A"/>
                    </a:solidFill>
                    <a:latin typeface="Segoe UI"/>
                    <a:ea typeface="Segoe UI"/>
                    <a:cs typeface="Segoe UI"/>
                  </a:rPr>
                  <a:t>Information provided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8566404" y="4499610"/>
                <a:ext cx="226273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rgbClr val="1B2A3A"/>
                    </a:solidFill>
                    <a:latin typeface="Segoe UI"/>
                    <a:ea typeface="Segoe UI"/>
                    <a:cs typeface="Segoe UI"/>
                  </a:rPr>
                  <a:t>Apology and service provided</a:t>
                </a:r>
              </a:p>
            </p:txBody>
          </p:sp>
        </p:grpSp>
        <p:grpSp>
          <p:nvGrpSpPr>
            <p:cNvPr id="25" name="Group 25"/>
            <p:cNvGrpSpPr/>
            <p:nvPr/>
          </p:nvGrpSpPr>
          <p:grpSpPr>
            <a:xfrm>
              <a:off x="8572500" y="2743200"/>
              <a:ext cx="2343150" cy="2114550"/>
              <a:chOff x="8572500" y="2743200"/>
              <a:chExt cx="2343150" cy="2114550"/>
            </a:xfrm>
          </p:grpSpPr>
          <p:sp>
            <p:nvSpPr>
              <p:cNvPr id="21" name="Rectangle 21"/>
              <p:cNvSpPr/>
              <p:nvPr/>
            </p:nvSpPr>
            <p:spPr>
              <a:xfrm>
                <a:off x="8572500" y="2743200"/>
                <a:ext cx="2343150" cy="114300"/>
              </a:xfrm>
              <a:prstGeom prst="rect">
                <a:avLst/>
              </a:prstGeom>
              <a:solidFill>
                <a:srgbClr val="1F4E79"/>
              </a:solidFill>
              <a:ln>
                <a:noFill/>
              </a:ln>
            </p:spPr>
          </p:sp>
          <p:sp>
            <p:nvSpPr>
              <p:cNvPr id="22" name="Rectangle 22"/>
              <p:cNvSpPr/>
              <p:nvPr/>
            </p:nvSpPr>
            <p:spPr>
              <a:xfrm>
                <a:off x="8572500" y="3409950"/>
                <a:ext cx="1371600" cy="114300"/>
              </a:xfrm>
              <a:prstGeom prst="rect">
                <a:avLst/>
              </a:prstGeom>
              <a:solidFill>
                <a:srgbClr val="1F4E79"/>
              </a:solidFill>
              <a:ln>
                <a:noFill/>
              </a:ln>
            </p:spPr>
          </p:sp>
          <p:sp>
            <p:nvSpPr>
              <p:cNvPr id="23" name="Rectangle 23"/>
              <p:cNvSpPr/>
              <p:nvPr/>
            </p:nvSpPr>
            <p:spPr>
              <a:xfrm>
                <a:off x="8572500" y="4076700"/>
                <a:ext cx="742950" cy="114300"/>
              </a:xfrm>
              <a:prstGeom prst="rect">
                <a:avLst/>
              </a:prstGeom>
              <a:solidFill>
                <a:srgbClr val="1F4E79"/>
              </a:solidFill>
              <a:ln>
                <a:noFill/>
              </a:ln>
            </p:spPr>
          </p:sp>
          <p:sp>
            <p:nvSpPr>
              <p:cNvPr id="24" name="Rectangle 24"/>
              <p:cNvSpPr/>
              <p:nvPr/>
            </p:nvSpPr>
            <p:spPr>
              <a:xfrm>
                <a:off x="8572500" y="4743450"/>
                <a:ext cx="457200" cy="114300"/>
              </a:xfrm>
              <a:prstGeom prst="rect">
                <a:avLst/>
              </a:prstGeom>
              <a:solidFill>
                <a:srgbClr val="1F4E79"/>
              </a:solidFill>
              <a:ln>
                <a:noFill/>
              </a:ln>
            </p:spPr>
          </p:sp>
        </p:grpSp>
        <p:grpSp>
          <p:nvGrpSpPr>
            <p:cNvPr id="30" name="Group 30"/>
            <p:cNvGrpSpPr/>
            <p:nvPr/>
          </p:nvGrpSpPr>
          <p:grpSpPr>
            <a:xfrm>
              <a:off x="9118854" y="2727960"/>
              <a:ext cx="2211941" cy="2234946"/>
              <a:chOff x="9118854" y="2727960"/>
              <a:chExt cx="2211941" cy="2234946"/>
            </a:xfrm>
          </p:grpSpPr>
          <p:sp>
            <p:nvSpPr>
              <p:cNvPr id="26" name="TextBox 26"/>
              <p:cNvSpPr txBox="1"/>
              <p:nvPr/>
            </p:nvSpPr>
            <p:spPr>
              <a:xfrm>
                <a:off x="11004804" y="2727960"/>
                <a:ext cx="325991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b="1" dirty="0">
                    <a:solidFill>
                      <a:srgbClr val="1B2A3A"/>
                    </a:solidFill>
                    <a:latin typeface="Segoe UI"/>
                    <a:ea typeface="Segoe UI"/>
                    <a:cs typeface="Segoe UI"/>
                  </a:rPr>
                  <a:t>41%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10033254" y="3394710"/>
                <a:ext cx="325991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b="1" dirty="0">
                    <a:solidFill>
                      <a:srgbClr val="1B2A3A"/>
                    </a:solidFill>
                    <a:latin typeface="Segoe UI"/>
                    <a:ea typeface="Segoe UI"/>
                    <a:cs typeface="Segoe UI"/>
                  </a:rPr>
                  <a:t>24%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9404604" y="4061460"/>
                <a:ext cx="325991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b="1" dirty="0">
                    <a:solidFill>
                      <a:srgbClr val="1B2A3A"/>
                    </a:solidFill>
                    <a:latin typeface="Segoe UI"/>
                    <a:ea typeface="Segoe UI"/>
                    <a:cs typeface="Segoe UI"/>
                  </a:rPr>
                  <a:t>13%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9118854" y="4728210"/>
                <a:ext cx="23270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b="1" dirty="0">
                    <a:solidFill>
                      <a:srgbClr val="1B2A3A"/>
                    </a:solidFill>
                    <a:latin typeface="Segoe UI"/>
                    <a:ea typeface="Segoe UI"/>
                    <a:cs typeface="Segoe UI"/>
                  </a:rPr>
                  <a:t>8%</a:t>
                </a:r>
              </a:p>
            </p:txBody>
          </p:sp>
        </p:grpSp>
        <p:sp>
          <p:nvSpPr>
            <p:cNvPr id="31" name="Line 31"/>
            <p:cNvSpPr/>
            <p:nvPr/>
          </p:nvSpPr>
          <p:spPr>
            <a:xfrm>
              <a:off x="8572500" y="5143500"/>
              <a:ext cx="3086100" cy="9525"/>
            </a:xfrm>
            <a:custGeom>
              <a:avLst/>
              <a:gdLst/>
              <a:ahLst/>
              <a:cxnLst/>
              <a:rect l="l" t="t" r="r" b="b"/>
              <a:pathLst>
                <a:path w="3086100" h="9525">
                  <a:moveTo>
                    <a:pt x="0" y="0"/>
                  </a:moveTo>
                  <a:lnTo>
                    <a:pt x="3086100" y="0"/>
                  </a:lnTo>
                </a:path>
              </a:pathLst>
            </a:custGeom>
            <a:noFill/>
            <a:ln w="9525">
              <a:solidFill>
                <a:srgbClr val="CFC8BB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566404" y="5280660"/>
              <a:ext cx="2389632" cy="6918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en-US" sz="1200" dirty="0">
                  <a:solidFill>
                    <a:srgbClr val="3A4654"/>
                  </a:solidFill>
                  <a:latin typeface="Segoe UI"/>
                  <a:ea typeface="Segoe UI"/>
                  <a:cs typeface="Segoe UI"/>
                </a:rPr>
                <a:t xml:space="preserve">All </a:t>
              </a:r>
              <a:r>
                <a:rPr lang="en-US" sz="1200" b="1" dirty="0">
                  <a:solidFill>
                    <a:srgbClr val="1B2A3A"/>
                  </a:solidFill>
                  <a:latin typeface="Segoe UI"/>
                  <a:ea typeface="Segoe UI"/>
                  <a:cs typeface="Segoe UI"/>
                </a:rPr>
                <a:t>271</a:t>
              </a:r>
              <a:r>
                <a:rPr lang="en-US" sz="1200" dirty="0">
                  <a:solidFill>
                    <a:srgbClr val="3A4654"/>
                  </a:solidFill>
                  <a:latin typeface="Segoe UI"/>
                  <a:ea typeface="Segoe UI"/>
                  <a:cs typeface="Segoe UI"/>
                </a:rPr>
                <a:t xml:space="preserve"> complaints where fault</a:t>
              </a:r>
              <a:br/>
              <a:r>
                <a:rPr lang="en-US" sz="1200" dirty="0">
                  <a:solidFill>
                    <a:srgbClr val="3A4654"/>
                  </a:solidFill>
                  <a:latin typeface="Segoe UI"/>
                  <a:ea typeface="Segoe UI"/>
                  <a:cs typeface="Segoe UI"/>
                </a:rPr>
                <a:t>was found were reviewed by the</a:t>
              </a:r>
              <a:br/>
              <a:r>
                <a:rPr lang="en-US" sz="1200" dirty="0">
                  <a:solidFill>
                    <a:srgbClr val="3A4654"/>
                  </a:solidFill>
                  <a:latin typeface="Segoe UI"/>
                  <a:ea typeface="Segoe UI"/>
                  <a:cs typeface="Segoe UI"/>
                </a:rPr>
                <a:t>Customer Relationship team.</a:t>
              </a:r>
            </a:p>
          </p:txBody>
        </p:sp>
      </p:grpSp>
      <p:sp>
        <p:nvSpPr>
          <p:cNvPr id="34" name="TextBox 34"/>
          <p:cNvSpPr txBox="1"/>
          <p:nvPr/>
        </p:nvSpPr>
        <p:spPr>
          <a:xfrm>
            <a:off x="528066" y="6516052"/>
            <a:ext cx="885627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rgbClr val="5E6873"/>
                </a:solidFill>
                <a:latin typeface="Segoe UI"/>
                <a:ea typeface="Segoe UI"/>
                <a:cs typeface="Segoe UI"/>
              </a:rPr>
              <a:t>Source: Corporate Feedback Report 2023/24 — You said, We did; Learning and outcomes; Chart 11 (Complaint Remedies 2023/24)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497780" y="651605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5E6873"/>
                </a:solidFill>
                <a:latin typeface="Segoe UI"/>
                <a:ea typeface="Segoe UI"/>
                <a:cs typeface="Segoe UI"/>
              </a:rPr>
              <a:t>11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33400" y="247650"/>
            <a:ext cx="1428750" cy="266700"/>
          </a:xfrm>
          <a:prstGeom prst="snip1Rect">
            <a:avLst>
              <a:gd name="adj" fmla="val 35714"/>
            </a:avLst>
          </a:prstGeom>
          <a:solidFill>
            <a:srgbClr val="1F4E79"/>
          </a:solidFill>
          <a:ln>
            <a:noFill/>
          </a:ln>
        </p:spPr>
      </p:sp>
      <p:grpSp>
        <p:nvGrpSpPr>
          <p:cNvPr id="5" name="chrome"/>
          <p:cNvGrpSpPr/>
          <p:nvPr/>
        </p:nvGrpSpPr>
        <p:grpSpPr>
          <a:xfrm>
            <a:off x="661416" y="315278"/>
            <a:ext cx="10997184" cy="205359"/>
            <a:chOff x="661416" y="315278"/>
            <a:chExt cx="10997184" cy="205359"/>
          </a:xfrm>
        </p:grpSpPr>
        <p:sp>
          <p:nvSpPr>
            <p:cNvPr id="3" name="TextBox 3"/>
            <p:cNvSpPr txBox="1"/>
            <p:nvPr/>
          </p:nvSpPr>
          <p:spPr>
            <a:xfrm>
              <a:off x="661416" y="315278"/>
              <a:ext cx="105351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FFFFFF"/>
                  </a:solidFill>
                  <a:latin typeface="Segoe UI"/>
                  <a:ea typeface="Segoe UI"/>
                  <a:cs typeface="Segoe UI"/>
                </a:rPr>
                <a:t>4 · ASSURANCE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2076450" y="381000"/>
              <a:ext cx="9582150" cy="9525"/>
            </a:xfrm>
            <a:custGeom>
              <a:avLst/>
              <a:gdLst/>
              <a:ahLst/>
              <a:cxnLst/>
              <a:rect l="l" t="t" r="r" b="b"/>
              <a:pathLst>
                <a:path w="9582150" h="9525">
                  <a:moveTo>
                    <a:pt x="0" y="0"/>
                  </a:moveTo>
                  <a:lnTo>
                    <a:pt x="9582150" y="0"/>
                  </a:lnTo>
                </a:path>
              </a:pathLst>
            </a:custGeom>
            <a:noFill/>
            <a:ln w="9525">
              <a:solidFill>
                <a:srgbClr val="CFC8BB"/>
              </a:solidFill>
            </a:ln>
          </p:spPr>
        </p:sp>
      </p:grpSp>
      <p:grpSp>
        <p:nvGrpSpPr>
          <p:cNvPr id="8" name="title"/>
          <p:cNvGrpSpPr/>
          <p:nvPr/>
        </p:nvGrpSpPr>
        <p:grpSpPr>
          <a:xfrm>
            <a:off x="519684" y="756285"/>
            <a:ext cx="10555463" cy="811149"/>
            <a:chOff x="519684" y="756285"/>
            <a:chExt cx="10555463" cy="811149"/>
          </a:xfrm>
        </p:grpSpPr>
        <p:sp>
          <p:nvSpPr>
            <p:cNvPr id="6" name="TextBox 6"/>
            <p:cNvSpPr txBox="1"/>
            <p:nvPr/>
          </p:nvSpPr>
          <p:spPr>
            <a:xfrm>
              <a:off x="519684" y="756285"/>
              <a:ext cx="9596657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b="1" dirty="0">
                  <a:solidFill>
                    <a:srgbClr val="1B2A3A"/>
                  </a:solidFill>
                  <a:latin typeface="Cambria"/>
                  <a:ea typeface="Cambria"/>
                  <a:cs typeface="Cambria"/>
                </a:rPr>
                <a:t>Ombudsman rate down to 1.74 per 10,000 people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24256" y="1215390"/>
              <a:ext cx="1055089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rgbClr val="3A4654"/>
                  </a:solidFill>
                  <a:latin typeface="Segoe UI"/>
                  <a:ea typeface="Segoe UI"/>
                  <a:cs typeface="Segoe UI"/>
                </a:rPr>
                <a:t>One of three detailed Ombudsman investigations upheld; all recommendations completed.</a:t>
              </a:r>
            </a:p>
          </p:txBody>
        </p:sp>
      </p:grpSp>
      <p:grpSp>
        <p:nvGrpSpPr>
          <p:cNvPr id="22" name="oflog-metric"/>
          <p:cNvGrpSpPr/>
          <p:nvPr/>
        </p:nvGrpSpPr>
        <p:grpSpPr>
          <a:xfrm>
            <a:off x="514350" y="1752600"/>
            <a:ext cx="3524250" cy="3800856"/>
            <a:chOff x="514350" y="1752600"/>
            <a:chExt cx="3524250" cy="3800856"/>
          </a:xfrm>
        </p:grpSpPr>
        <p:sp>
          <p:nvSpPr>
            <p:cNvPr id="9" name="Rectangle 9"/>
            <p:cNvSpPr/>
            <p:nvPr/>
          </p:nvSpPr>
          <p:spPr>
            <a:xfrm>
              <a:off x="533400" y="1752600"/>
              <a:ext cx="3505200" cy="28575"/>
            </a:xfrm>
            <a:prstGeom prst="rect">
              <a:avLst/>
            </a:prstGeom>
            <a:solidFill>
              <a:srgbClr val="1F4E79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527304" y="1908810"/>
              <a:ext cx="267364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5E6873"/>
                  </a:solidFill>
                  <a:latin typeface="Segoe UI"/>
                  <a:ea typeface="Segoe UI"/>
                  <a:cs typeface="Segoe UI"/>
                </a:rPr>
                <a:t>OFFICE FOR LOCAL GOVERNMENT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14350" y="2276475"/>
              <a:ext cx="1516685" cy="8763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500" b="1" dirty="0">
                  <a:solidFill>
                    <a:srgbClr val="1F4E79"/>
                  </a:solidFill>
                  <a:latin typeface="Cambria"/>
                  <a:ea typeface="Cambria"/>
                  <a:cs typeface="Cambria"/>
                </a:rPr>
                <a:t>1.74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26542" y="2959418"/>
              <a:ext cx="2294001" cy="5116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en-US" sz="1350" dirty="0">
                  <a:solidFill>
                    <a:srgbClr val="1B2A3A"/>
                  </a:solidFill>
                  <a:latin typeface="Segoe UI"/>
                  <a:ea typeface="Segoe UI"/>
                  <a:cs typeface="Segoe UI"/>
                </a:rPr>
                <a:t>Ombudsman complaints per</a:t>
              </a:r>
              <a:br/>
              <a:r>
                <a:rPr lang="en-US" sz="1350" dirty="0">
                  <a:solidFill>
                    <a:srgbClr val="1B2A3A"/>
                  </a:solidFill>
                  <a:latin typeface="Segoe UI"/>
                  <a:ea typeface="Segoe UI"/>
                  <a:cs typeface="Segoe UI"/>
                </a:rPr>
                <a:t>10,000 population, 2023/24</a:t>
              </a:r>
            </a:p>
          </p:txBody>
        </p:sp>
        <p:grpSp>
          <p:nvGrpSpPr>
            <p:cNvPr id="15" name="Group 15"/>
            <p:cNvGrpSpPr/>
            <p:nvPr/>
          </p:nvGrpSpPr>
          <p:grpSpPr>
            <a:xfrm>
              <a:off x="528066" y="3753802"/>
              <a:ext cx="554869" cy="643509"/>
              <a:chOff x="528066" y="3753802"/>
              <a:chExt cx="554869" cy="643509"/>
            </a:xfrm>
          </p:grpSpPr>
          <p:sp>
            <p:nvSpPr>
              <p:cNvPr id="13" name="TextBox 13"/>
              <p:cNvSpPr txBox="1"/>
              <p:nvPr/>
            </p:nvSpPr>
            <p:spPr>
              <a:xfrm>
                <a:off x="528066" y="3753802"/>
                <a:ext cx="554869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dirty="0">
                    <a:solidFill>
                      <a:srgbClr val="5E6873"/>
                    </a:solidFill>
                    <a:latin typeface="Segoe UI"/>
                    <a:ea typeface="Segoe UI"/>
                    <a:cs typeface="Segoe UI"/>
                  </a:rPr>
                  <a:t>2022/23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528066" y="4191952"/>
                <a:ext cx="554869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dirty="0">
                    <a:solidFill>
                      <a:srgbClr val="5E6873"/>
                    </a:solidFill>
                    <a:latin typeface="Segoe UI"/>
                    <a:ea typeface="Segoe UI"/>
                    <a:cs typeface="Segoe UI"/>
                  </a:rPr>
                  <a:t>2023/24</a:t>
                </a:r>
              </a:p>
            </p:txBody>
          </p:sp>
        </p:grpSp>
        <p:sp>
          <p:nvSpPr>
            <p:cNvPr id="16" name="Rectangle 16"/>
            <p:cNvSpPr/>
            <p:nvPr/>
          </p:nvSpPr>
          <p:spPr>
            <a:xfrm>
              <a:off x="533400" y="3943350"/>
              <a:ext cx="2663190" cy="133350"/>
            </a:xfrm>
            <a:prstGeom prst="rect">
              <a:avLst/>
            </a:prstGeom>
            <a:solidFill>
              <a:srgbClr val="A9BCD0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533400" y="4381500"/>
              <a:ext cx="1988820" cy="133350"/>
            </a:xfrm>
            <a:prstGeom prst="rect">
              <a:avLst/>
            </a:prstGeom>
            <a:solidFill>
              <a:srgbClr val="1F4E79"/>
            </a:solidFill>
            <a:ln>
              <a:noFill/>
            </a:ln>
          </p:spPr>
        </p:sp>
        <p:grpSp>
          <p:nvGrpSpPr>
            <p:cNvPr id="20" name="Group 20"/>
            <p:cNvGrpSpPr/>
            <p:nvPr/>
          </p:nvGrpSpPr>
          <p:grpSpPr>
            <a:xfrm>
              <a:off x="2594229" y="3937635"/>
              <a:ext cx="1061634" cy="672846"/>
              <a:chOff x="2594229" y="3937635"/>
              <a:chExt cx="1061634" cy="672846"/>
            </a:xfrm>
          </p:grpSpPr>
          <p:sp>
            <p:nvSpPr>
              <p:cNvPr id="18" name="TextBox 18"/>
              <p:cNvSpPr txBox="1"/>
              <p:nvPr/>
            </p:nvSpPr>
            <p:spPr>
              <a:xfrm>
                <a:off x="3270504" y="3937635"/>
                <a:ext cx="385359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b="1" dirty="0">
                    <a:solidFill>
                      <a:srgbClr val="1B2A3A"/>
                    </a:solidFill>
                    <a:latin typeface="Segoe UI"/>
                    <a:ea typeface="Segoe UI"/>
                    <a:cs typeface="Segoe UI"/>
                  </a:rPr>
                  <a:t>2.33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2594229" y="4375785"/>
                <a:ext cx="385359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b="1" dirty="0">
                    <a:solidFill>
                      <a:srgbClr val="1B2A3A"/>
                    </a:solidFill>
                    <a:latin typeface="Segoe UI"/>
                    <a:ea typeface="Segoe UI"/>
                    <a:cs typeface="Segoe UI"/>
                  </a:rPr>
                  <a:t>1.74</a:t>
                </a:r>
              </a:p>
            </p:txBody>
          </p:sp>
        </p:grpSp>
        <p:sp>
          <p:nvSpPr>
            <p:cNvPr id="21" name="TextBox 21"/>
            <p:cNvSpPr txBox="1"/>
            <p:nvPr/>
          </p:nvSpPr>
          <p:spPr>
            <a:xfrm>
              <a:off x="527304" y="4861560"/>
              <a:ext cx="2900172" cy="6918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en-US" sz="1200" dirty="0">
                  <a:solidFill>
                    <a:srgbClr val="3A4654"/>
                  </a:solidFill>
                  <a:latin typeface="Segoe UI"/>
                  <a:ea typeface="Segoe UI"/>
                  <a:cs typeface="Segoe UI"/>
                </a:rPr>
                <a:t>Based on a population of 188,871.</a:t>
              </a:r>
              <a:br/>
              <a:r>
                <a:rPr lang="en-US" sz="1200" dirty="0">
                  <a:solidFill>
                    <a:srgbClr val="3A4654"/>
                  </a:solidFill>
                  <a:latin typeface="Segoe UI"/>
                  <a:ea typeface="Segoe UI"/>
                  <a:cs typeface="Segoe UI"/>
                </a:rPr>
                <a:t>OFLOG uses Ombudsman complaint data</a:t>
              </a:r>
              <a:br/>
              <a:r>
                <a:rPr lang="en-US" sz="1200" dirty="0">
                  <a:solidFill>
                    <a:srgbClr val="3A4654"/>
                  </a:solidFill>
                  <a:latin typeface="Segoe UI"/>
                  <a:ea typeface="Segoe UI"/>
                  <a:cs typeface="Segoe UI"/>
                </a:rPr>
                <a:t>and ONS population figures.</a:t>
              </a:r>
            </a:p>
          </p:txBody>
        </p:sp>
      </p:grpSp>
      <p:grpSp>
        <p:nvGrpSpPr>
          <p:cNvPr id="33" name="lgsco"/>
          <p:cNvGrpSpPr/>
          <p:nvPr/>
        </p:nvGrpSpPr>
        <p:grpSpPr>
          <a:xfrm>
            <a:off x="4324350" y="1752600"/>
            <a:ext cx="3524250" cy="3838956"/>
            <a:chOff x="4324350" y="1752600"/>
            <a:chExt cx="3524250" cy="3838956"/>
          </a:xfrm>
        </p:grpSpPr>
        <p:sp>
          <p:nvSpPr>
            <p:cNvPr id="23" name="Rectangle 23"/>
            <p:cNvSpPr/>
            <p:nvPr/>
          </p:nvSpPr>
          <p:spPr>
            <a:xfrm>
              <a:off x="4343400" y="1752600"/>
              <a:ext cx="3505200" cy="28575"/>
            </a:xfrm>
            <a:prstGeom prst="rect">
              <a:avLst/>
            </a:prstGeom>
            <a:solidFill>
              <a:srgbClr val="1F4E79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4337304" y="1908810"/>
              <a:ext cx="270052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5E6873"/>
                  </a:solidFill>
                  <a:latin typeface="Segoe UI"/>
                  <a:ea typeface="Segoe UI"/>
                  <a:cs typeface="Segoe UI"/>
                </a:rPr>
                <a:t>LOCAL GOVERNMENT OMBUDSMAN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324350" y="2276475"/>
              <a:ext cx="777392" cy="8763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500" b="1" dirty="0">
                  <a:solidFill>
                    <a:srgbClr val="1F4E79"/>
                  </a:solidFill>
                  <a:latin typeface="Cambria"/>
                  <a:ea typeface="Cambria"/>
                  <a:cs typeface="Cambria"/>
                </a:rPr>
                <a:t>17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336542" y="2959418"/>
              <a:ext cx="2936938" cy="5116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en-US" sz="1350" dirty="0">
                  <a:solidFill>
                    <a:srgbClr val="1B2A3A"/>
                  </a:solidFill>
                  <a:latin typeface="Segoe UI"/>
                  <a:ea typeface="Segoe UI"/>
                  <a:cs typeface="Segoe UI"/>
                </a:rPr>
                <a:t>enquiries forwarded to the LGSCO:</a:t>
              </a:r>
              <a:br/>
              <a:r>
                <a:rPr lang="en-US" sz="1350" dirty="0">
                  <a:solidFill>
                    <a:srgbClr val="1B2A3A"/>
                  </a:solidFill>
                  <a:latin typeface="Segoe UI"/>
                  <a:ea typeface="Segoe UI"/>
                  <a:cs typeface="Segoe UI"/>
                </a:rPr>
                <a:t>12 corporate, 5 statutory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4343400" y="3657600"/>
              <a:ext cx="3505200" cy="9525"/>
            </a:xfrm>
            <a:custGeom>
              <a:avLst/>
              <a:gdLst/>
              <a:ahLst/>
              <a:cxnLst/>
              <a:rect l="l" t="t" r="r" b="b"/>
              <a:pathLst>
                <a:path w="3505200" h="9525">
                  <a:moveTo>
                    <a:pt x="0" y="0"/>
                  </a:moveTo>
                  <a:lnTo>
                    <a:pt x="3505200" y="0"/>
                  </a:lnTo>
                </a:path>
              </a:pathLst>
            </a:custGeom>
            <a:noFill/>
            <a:ln w="9525">
              <a:solidFill>
                <a:srgbClr val="CFC8BB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4337304" y="3870960"/>
              <a:ext cx="2587752" cy="4632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en-US" sz="1200" dirty="0">
                  <a:solidFill>
                    <a:srgbClr val="3A4654"/>
                  </a:solidFill>
                  <a:latin typeface="Segoe UI"/>
                  <a:ea typeface="Segoe UI"/>
                  <a:cs typeface="Segoe UI"/>
                </a:rPr>
                <a:t>Detailed investigations completed,</a:t>
              </a:r>
              <a:br/>
              <a:r>
                <a:rPr lang="en-US" sz="1200" dirty="0">
                  <a:solidFill>
                    <a:srgbClr val="3A4654"/>
                  </a:solidFill>
                  <a:latin typeface="Segoe UI"/>
                  <a:ea typeface="Segoe UI"/>
                  <a:cs typeface="Segoe UI"/>
                </a:rPr>
                <a:t>corporate and statutory: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329684" y="4375785"/>
              <a:ext cx="249220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b="1" dirty="0">
                  <a:solidFill>
                    <a:srgbClr val="1B2A3A"/>
                  </a:solidFill>
                  <a:latin typeface="Cambria"/>
                  <a:ea typeface="Cambria"/>
                  <a:cs typeface="Cambria"/>
                </a:rPr>
                <a:t>3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756404" y="4537710"/>
              <a:ext cx="292806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3A4654"/>
                  </a:solidFill>
                  <a:latin typeface="Segoe UI"/>
                  <a:ea typeface="Segoe UI"/>
                  <a:cs typeface="Segoe UI"/>
                </a:rPr>
                <a:t>— 1 upheld, 2 not upheld (33% upheld)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329684" y="4928235"/>
              <a:ext cx="995233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b="1" dirty="0">
                  <a:solidFill>
                    <a:srgbClr val="2F7D4F"/>
                  </a:solidFill>
                  <a:latin typeface="Cambria"/>
                  <a:ea typeface="Cambria"/>
                  <a:cs typeface="Cambria"/>
                </a:rPr>
                <a:t>100%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337304" y="5356860"/>
              <a:ext cx="298728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3A4654"/>
                  </a:solidFill>
                  <a:latin typeface="Segoe UI"/>
                  <a:ea typeface="Segoe UI"/>
                  <a:cs typeface="Segoe UI"/>
                </a:rPr>
                <a:t>of LGSCO recommendations completed</a:t>
              </a:r>
            </a:p>
          </p:txBody>
        </p:sp>
      </p:grpSp>
      <p:grpSp>
        <p:nvGrpSpPr>
          <p:cNvPr id="41" name="tenants"/>
          <p:cNvGrpSpPr/>
          <p:nvPr/>
        </p:nvGrpSpPr>
        <p:grpSpPr>
          <a:xfrm>
            <a:off x="8134350" y="1752600"/>
            <a:ext cx="3524250" cy="3953256"/>
            <a:chOff x="8134350" y="1752600"/>
            <a:chExt cx="3524250" cy="3953256"/>
          </a:xfrm>
        </p:grpSpPr>
        <p:sp>
          <p:nvSpPr>
            <p:cNvPr id="34" name="Rectangle 34"/>
            <p:cNvSpPr/>
            <p:nvPr/>
          </p:nvSpPr>
          <p:spPr>
            <a:xfrm>
              <a:off x="8153400" y="1752600"/>
              <a:ext cx="3505200" cy="28575"/>
            </a:xfrm>
            <a:prstGeom prst="rect">
              <a:avLst/>
            </a:prstGeom>
            <a:solidFill>
              <a:srgbClr val="1F4E79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8147304" y="1908810"/>
              <a:ext cx="143701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5E6873"/>
                  </a:solidFill>
                  <a:latin typeface="Segoe UI"/>
                  <a:ea typeface="Segoe UI"/>
                  <a:cs typeface="Segoe UI"/>
                </a:rPr>
                <a:t>COUNCIL TENANTS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134350" y="2276475"/>
              <a:ext cx="407746" cy="8763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500" b="1" dirty="0">
                  <a:solidFill>
                    <a:srgbClr val="1F4E79"/>
                  </a:solidFill>
                  <a:latin typeface="Cambria"/>
                  <a:ea typeface="Cambria"/>
                  <a:cs typeface="Cambria"/>
                </a:rPr>
                <a:t>0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146542" y="2959418"/>
              <a:ext cx="2705481" cy="5116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en-US" sz="1350" dirty="0">
                  <a:solidFill>
                    <a:srgbClr val="1B2A3A"/>
                  </a:solidFill>
                  <a:latin typeface="Segoe UI"/>
                  <a:ea typeface="Segoe UI"/>
                  <a:cs typeface="Segoe UI"/>
                </a:rPr>
                <a:t>complaints from council tenants</a:t>
              </a:r>
              <a:br/>
              <a:r>
                <a:rPr lang="en-US" sz="1350" dirty="0">
                  <a:solidFill>
                    <a:srgbClr val="1B2A3A"/>
                  </a:solidFill>
                  <a:latin typeface="Segoe UI"/>
                  <a:ea typeface="Segoe UI"/>
                  <a:cs typeface="Segoe UI"/>
                </a:rPr>
                <a:t>in 2023/24</a:t>
              </a:r>
            </a:p>
          </p:txBody>
        </p:sp>
        <p:sp>
          <p:nvSpPr>
            <p:cNvPr id="38" name="Line 38"/>
            <p:cNvSpPr/>
            <p:nvPr/>
          </p:nvSpPr>
          <p:spPr>
            <a:xfrm>
              <a:off x="8153400" y="3657600"/>
              <a:ext cx="3505200" cy="9525"/>
            </a:xfrm>
            <a:custGeom>
              <a:avLst/>
              <a:gdLst/>
              <a:ahLst/>
              <a:cxnLst/>
              <a:rect l="l" t="t" r="r" b="b"/>
              <a:pathLst>
                <a:path w="3505200" h="9525">
                  <a:moveTo>
                    <a:pt x="0" y="0"/>
                  </a:moveTo>
                  <a:lnTo>
                    <a:pt x="3505200" y="0"/>
                  </a:lnTo>
                </a:path>
              </a:pathLst>
            </a:custGeom>
            <a:noFill/>
            <a:ln w="9525">
              <a:solidFill>
                <a:srgbClr val="CFC8BB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8147304" y="3870960"/>
              <a:ext cx="2915412" cy="6918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en-US" sz="1200" dirty="0">
                  <a:solidFill>
                    <a:srgbClr val="3A4654"/>
                  </a:solidFill>
                  <a:latin typeface="Segoe UI"/>
                  <a:ea typeface="Segoe UI"/>
                  <a:cs typeface="Segoe UI"/>
                </a:rPr>
                <a:t>The council became a registered</a:t>
              </a:r>
              <a:br/>
              <a:r>
                <a:rPr lang="en-US" sz="1200" dirty="0">
                  <a:solidFill>
                    <a:srgbClr val="3A4654"/>
                  </a:solidFill>
                  <a:latin typeface="Segoe UI"/>
                  <a:ea typeface="Segoe UI"/>
                  <a:cs typeface="Segoe UI"/>
                </a:rPr>
                <a:t>provider of social housing in</a:t>
              </a:r>
              <a:br/>
              <a:r>
                <a:rPr lang="en-US" sz="1200" dirty="0">
                  <a:solidFill>
                    <a:srgbClr val="3A4654"/>
                  </a:solidFill>
                  <a:latin typeface="Segoe UI"/>
                  <a:ea typeface="Segoe UI"/>
                  <a:cs typeface="Segoe UI"/>
                </a:rPr>
                <a:t>September 2020 and has 23 properties.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147304" y="4785360"/>
              <a:ext cx="2709672" cy="9204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en-US" sz="1200" dirty="0">
                  <a:solidFill>
                    <a:srgbClr val="3A4654"/>
                  </a:solidFill>
                  <a:latin typeface="Segoe UI"/>
                  <a:ea typeface="Segoe UI"/>
                  <a:cs typeface="Segoe UI"/>
                </a:rPr>
                <a:t>No case went to the Housing</a:t>
              </a:r>
              <a:br/>
              <a:r>
                <a:rPr lang="en-US" sz="1200" dirty="0">
                  <a:solidFill>
                    <a:srgbClr val="3A4654"/>
                  </a:solidFill>
                  <a:latin typeface="Segoe UI"/>
                  <a:ea typeface="Segoe UI"/>
                  <a:cs typeface="Segoe UI"/>
                </a:rPr>
                <a:t>Ombudsman Service, and there were</a:t>
              </a:r>
              <a:br/>
              <a:r>
                <a:rPr lang="en-US" sz="1200" dirty="0">
                  <a:solidFill>
                    <a:srgbClr val="3A4654"/>
                  </a:solidFill>
                  <a:latin typeface="Segoe UI"/>
                  <a:ea typeface="Segoe UI"/>
                  <a:cs typeface="Segoe UI"/>
                </a:rPr>
                <a:t>no findings of non-compliance with</a:t>
              </a:r>
              <a:br/>
              <a:r>
                <a:rPr lang="en-US" sz="1200" dirty="0">
                  <a:solidFill>
                    <a:srgbClr val="3A4654"/>
                  </a:solidFill>
                  <a:latin typeface="Segoe UI"/>
                  <a:ea typeface="Segoe UI"/>
                  <a:cs typeface="Segoe UI"/>
                </a:rPr>
                <a:t>its Complaint Handling Code.</a:t>
              </a:r>
            </a:p>
          </p:txBody>
        </p:sp>
      </p:grpSp>
      <p:sp>
        <p:nvSpPr>
          <p:cNvPr id="42" name="TextBox 42"/>
          <p:cNvSpPr txBox="1"/>
          <p:nvPr/>
        </p:nvSpPr>
        <p:spPr>
          <a:xfrm>
            <a:off x="528066" y="6516052"/>
            <a:ext cx="870527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rgbClr val="5E6873"/>
                </a:solidFill>
                <a:latin typeface="Segoe UI"/>
                <a:ea typeface="Segoe UI"/>
                <a:cs typeface="Segoe UI"/>
              </a:rPr>
              <a:t>Source: Corporate Feedback Report 2023/24 — LGSCO enquiries; OFLOG Metrics; Complaints from Telford and Wrekin Tenants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1497780" y="651605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5E6873"/>
                </a:solidFill>
                <a:latin typeface="Segoe UI"/>
                <a:ea typeface="Segoe UI"/>
                <a:cs typeface="Segoe UI"/>
              </a:rPr>
              <a:t>12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xmlns:p="http://schemas.openxmlformats.org/presentationml/2006/main" id="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xmlns:p="http://schemas.openxmlformats.org/presentationml/2006/main" id="13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620000" y="0"/>
            <a:ext cx="4572000" cy="6858000"/>
          </a:xfrm>
          <a:prstGeom prst="snip1Rect">
            <a:avLst>
              <a:gd name="adj" fmla="val 18750"/>
            </a:avLst>
          </a:prstGeom>
          <a:solidFill>
            <a:srgbClr val="1F4E79"/>
          </a:solidFill>
          <a:ln>
            <a:noFill/>
          </a:ln>
        </p:spPr>
      </p:sp>
      <p:grpSp>
        <p:nvGrpSpPr>
          <p:cNvPr id="6" name="title"/>
          <p:cNvGrpSpPr/>
          <p:nvPr/>
        </p:nvGrpSpPr>
        <p:grpSpPr>
          <a:xfrm>
            <a:off x="514350" y="801052"/>
            <a:ext cx="5891784" cy="3528632"/>
            <a:chOff x="514350" y="801052"/>
            <a:chExt cx="5891784" cy="3528632"/>
          </a:xfrm>
        </p:grpSpPr>
        <p:sp>
          <p:nvSpPr>
            <p:cNvPr id="3" name="TextBox 3"/>
            <p:cNvSpPr txBox="1"/>
            <p:nvPr/>
          </p:nvSpPr>
          <p:spPr>
            <a:xfrm>
              <a:off x="528066" y="801052"/>
              <a:ext cx="18689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B83B26"/>
                  </a:solidFill>
                  <a:latin typeface="Segoe UI"/>
                  <a:ea typeface="Segoe UI"/>
                  <a:cs typeface="Segoe UI"/>
                </a:rPr>
                <a:t>WHAT CHANGES IN 2024/25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14350" y="1168718"/>
              <a:ext cx="5577792" cy="21431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5100"/>
                </a:lnSpc>
              </a:pPr>
              <a:r>
                <a:rPr lang="en-US" sz="4350" b="1" dirty="0">
                  <a:solidFill>
                    <a:srgbClr val="1B2A3A"/>
                  </a:solidFill>
                  <a:latin typeface="Cambria"/>
                  <a:ea typeface="Cambria"/>
                  <a:cs typeface="Cambria"/>
                </a:rPr>
                <a:t>From May 2024, the</a:t>
              </a:r>
              <a:br/>
              <a:r>
                <a:rPr lang="en-US" sz="4350" b="1" dirty="0">
                  <a:solidFill>
                    <a:srgbClr val="1B2A3A"/>
                  </a:solidFill>
                  <a:latin typeface="Cambria"/>
                  <a:ea typeface="Cambria"/>
                  <a:cs typeface="Cambria"/>
                </a:rPr>
                <a:t>complaints clock</a:t>
              </a:r>
              <a:br/>
              <a:r>
                <a:rPr lang="en-US" sz="4350" b="1" dirty="0">
                  <a:solidFill>
                    <a:srgbClr val="1B2A3A"/>
                  </a:solidFill>
                  <a:latin typeface="Cambria"/>
                  <a:ea typeface="Cambria"/>
                  <a:cs typeface="Cambria"/>
                </a:rPr>
                <a:t>runs shorter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24256" y="3329940"/>
              <a:ext cx="5881878" cy="9997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550"/>
                </a:lnSpc>
              </a:pPr>
              <a:r>
                <a:rPr lang="en-US" sz="1800" dirty="0">
                  <a:solidFill>
                    <a:srgbClr val="3A4654"/>
                  </a:solidFill>
                  <a:latin typeface="Segoe UI"/>
                  <a:ea typeface="Segoe UI"/>
                  <a:cs typeface="Segoe UI"/>
                </a:rPr>
                <a:t>Stage One replies now have 10 working days, not 15,</a:t>
              </a:r>
              <a:br/>
              <a:r>
                <a:rPr lang="en-US" sz="1800" dirty="0">
                  <a:solidFill>
                    <a:srgbClr val="3A4654"/>
                  </a:solidFill>
                  <a:latin typeface="Segoe UI"/>
                  <a:ea typeface="Segoe UI"/>
                  <a:cs typeface="Segoe UI"/>
                </a:rPr>
                <a:t>under the Ombudsman’s complaint handling code —</a:t>
              </a:r>
              <a:br/>
              <a:r>
                <a:rPr lang="en-US" sz="1800" dirty="0">
                  <a:solidFill>
                    <a:srgbClr val="3A4654"/>
                  </a:solidFill>
                  <a:latin typeface="Segoe UI"/>
                  <a:ea typeface="Segoe UI"/>
                  <a:cs typeface="Segoe UI"/>
                </a:rPr>
                <a:t>and the on-time target rises from 87% to 90%.</a:t>
              </a:r>
            </a:p>
          </p:txBody>
        </p:sp>
      </p:grpSp>
      <p:grpSp>
        <p:nvGrpSpPr>
          <p:cNvPr id="22" name="timeline"/>
          <p:cNvGrpSpPr/>
          <p:nvPr/>
        </p:nvGrpSpPr>
        <p:grpSpPr>
          <a:xfrm>
            <a:off x="523875" y="4657725"/>
            <a:ext cx="6715125" cy="1181481"/>
            <a:chOff x="523875" y="4657725"/>
            <a:chExt cx="6715125" cy="1181481"/>
          </a:xfrm>
        </p:grpSpPr>
        <p:sp>
          <p:nvSpPr>
            <p:cNvPr id="7" name="Line 7"/>
            <p:cNvSpPr/>
            <p:nvPr/>
          </p:nvSpPr>
          <p:spPr>
            <a:xfrm>
              <a:off x="533400" y="4724400"/>
              <a:ext cx="6705600" cy="9525"/>
            </a:xfrm>
            <a:custGeom>
              <a:avLst/>
              <a:gdLst/>
              <a:ahLst/>
              <a:cxnLst/>
              <a:rect l="l" t="t" r="r" b="b"/>
              <a:pathLst>
                <a:path w="6705600" h="9525">
                  <a:moveTo>
                    <a:pt x="0" y="0"/>
                  </a:moveTo>
                  <a:lnTo>
                    <a:pt x="6705600" y="0"/>
                  </a:lnTo>
                </a:path>
              </a:pathLst>
            </a:custGeom>
            <a:noFill/>
            <a:ln w="14288">
              <a:solidFill>
                <a:srgbClr val="8A8F96"/>
              </a:solidFill>
            </a:ln>
          </p:spPr>
        </p:sp>
        <p:sp>
          <p:nvSpPr>
            <p:cNvPr id="8" name="Ellipse 8"/>
            <p:cNvSpPr/>
            <p:nvPr/>
          </p:nvSpPr>
          <p:spPr>
            <a:xfrm>
              <a:off x="523875" y="4657725"/>
              <a:ext cx="133350" cy="133350"/>
            </a:xfrm>
            <a:prstGeom prst="ellipse">
              <a:avLst/>
            </a:prstGeom>
            <a:solidFill>
              <a:srgbClr val="1F4E79"/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2238375" y="4657725"/>
              <a:ext cx="133350" cy="133350"/>
            </a:xfrm>
            <a:prstGeom prst="ellipse">
              <a:avLst/>
            </a:prstGeom>
            <a:solidFill>
              <a:srgbClr val="B83B26"/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3952875" y="4657725"/>
              <a:ext cx="133350" cy="133350"/>
            </a:xfrm>
            <a:prstGeom prst="ellipse">
              <a:avLst/>
            </a:prstGeom>
            <a:solidFill>
              <a:srgbClr val="1F4E79"/>
            </a:solidFill>
            <a:ln>
              <a:noFill/>
            </a:ln>
          </p:spPr>
        </p:sp>
        <p:sp>
          <p:nvSpPr>
            <p:cNvPr id="11" name="Ellipse 11"/>
            <p:cNvSpPr/>
            <p:nvPr/>
          </p:nvSpPr>
          <p:spPr>
            <a:xfrm>
              <a:off x="5667375" y="4657725"/>
              <a:ext cx="133350" cy="133350"/>
            </a:xfrm>
            <a:prstGeom prst="ellipse">
              <a:avLst/>
            </a:prstGeom>
            <a:solidFill>
              <a:srgbClr val="1F4E79"/>
            </a:solidFill>
            <a:ln>
              <a:noFill/>
            </a:ln>
          </p:spPr>
        </p:sp>
        <p:grpSp>
          <p:nvGrpSpPr>
            <p:cNvPr id="16" name="Group 16"/>
            <p:cNvGrpSpPr/>
            <p:nvPr/>
          </p:nvGrpSpPr>
          <p:grpSpPr>
            <a:xfrm>
              <a:off x="527304" y="4937760"/>
              <a:ext cx="5528859" cy="234696"/>
              <a:chOff x="527304" y="4937760"/>
              <a:chExt cx="5528859" cy="234696"/>
            </a:xfrm>
          </p:grpSpPr>
          <p:sp>
            <p:nvSpPr>
              <p:cNvPr id="12" name="TextBox 12"/>
              <p:cNvSpPr txBox="1"/>
              <p:nvPr/>
            </p:nvSpPr>
            <p:spPr>
              <a:xfrm>
                <a:off x="527304" y="4937760"/>
                <a:ext cx="97282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b="1" dirty="0">
                    <a:solidFill>
                      <a:srgbClr val="1B2A3A"/>
                    </a:solidFill>
                    <a:latin typeface="Segoe UI"/>
                    <a:ea typeface="Segoe UI"/>
                    <a:cs typeface="Segoe UI"/>
                  </a:rPr>
                  <a:t>1 April 2024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2241804" y="4937760"/>
                <a:ext cx="763966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b="1" dirty="0">
                    <a:solidFill>
                      <a:srgbClr val="B83B26"/>
                    </a:solidFill>
                    <a:latin typeface="Segoe UI"/>
                    <a:ea typeface="Segoe UI"/>
                    <a:cs typeface="Segoe UI"/>
                  </a:rPr>
                  <a:t>May 2024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3956304" y="4937760"/>
                <a:ext cx="103952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b="1" dirty="0">
                    <a:solidFill>
                      <a:srgbClr val="1B2A3A"/>
                    </a:solidFill>
                    <a:latin typeface="Segoe UI"/>
                    <a:ea typeface="Segoe UI"/>
                    <a:cs typeface="Segoe UI"/>
                  </a:rPr>
                  <a:t>Autumn 2024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5670804" y="4937760"/>
                <a:ext cx="385359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b="1" dirty="0">
                    <a:solidFill>
                      <a:srgbClr val="1B2A3A"/>
                    </a:solidFill>
                    <a:latin typeface="Segoe UI"/>
                    <a:ea typeface="Segoe UI"/>
                    <a:cs typeface="Segoe UI"/>
                  </a:rPr>
                  <a:t>2025</a:t>
                </a:r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>
              <a:off x="527304" y="5185410"/>
              <a:ext cx="6458712" cy="653796"/>
              <a:chOff x="527304" y="5185410"/>
              <a:chExt cx="6458712" cy="653796"/>
            </a:xfrm>
          </p:grpSpPr>
          <p:sp>
            <p:nvSpPr>
              <p:cNvPr id="17" name="TextBox 17"/>
              <p:cNvSpPr txBox="1"/>
              <p:nvPr/>
            </p:nvSpPr>
            <p:spPr>
              <a:xfrm>
                <a:off x="527304" y="5185410"/>
                <a:ext cx="1566672" cy="6537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650"/>
                  </a:lnSpc>
                </a:pPr>
                <a:r>
                  <a:rPr lang="en-US" sz="1200" dirty="0">
                    <a:solidFill>
                      <a:srgbClr val="3A4654"/>
                    </a:solidFill>
                    <a:latin typeface="Segoe UI"/>
                    <a:ea typeface="Segoe UI"/>
                    <a:cs typeface="Segoe UI"/>
                  </a:rPr>
                  <a:t>Tenant complaints</a:t>
                </a:r>
                <a:br/>
                <a:r>
                  <a:rPr lang="en-US" sz="1200" dirty="0">
                    <a:solidFill>
                      <a:srgbClr val="3A4654"/>
                    </a:solidFill>
                    <a:latin typeface="Segoe UI"/>
                    <a:ea typeface="Segoe UI"/>
                    <a:cs typeface="Segoe UI"/>
                  </a:rPr>
                  <a:t>move into the</a:t>
                </a:r>
                <a:br/>
                <a:r>
                  <a:rPr lang="en-US" sz="1200" dirty="0">
                    <a:solidFill>
                      <a:srgbClr val="3A4654"/>
                    </a:solidFill>
                    <a:latin typeface="Segoe UI"/>
                    <a:ea typeface="Segoe UI"/>
                    <a:cs typeface="Segoe UI"/>
                  </a:rPr>
                  <a:t>corporate procedure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2241804" y="5185410"/>
                <a:ext cx="1307592" cy="6537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650"/>
                  </a:lnSpc>
                </a:pPr>
                <a:r>
                  <a:rPr lang="en-US" sz="1200" dirty="0">
                    <a:solidFill>
                      <a:srgbClr val="3A4654"/>
                    </a:solidFill>
                    <a:latin typeface="Segoe UI"/>
                    <a:ea typeface="Segoe UI"/>
                    <a:cs typeface="Segoe UI"/>
                  </a:rPr>
                  <a:t>Stage Two: 20–40</a:t>
                </a:r>
                <a:br/>
                <a:r>
                  <a:rPr lang="en-US" sz="1200" dirty="0">
                    <a:solidFill>
                      <a:srgbClr val="3A4654"/>
                    </a:solidFill>
                    <a:latin typeface="Segoe UI"/>
                    <a:ea typeface="Segoe UI"/>
                    <a:cs typeface="Segoe UI"/>
                  </a:rPr>
                  <a:t>working days</a:t>
                </a:r>
                <a:br/>
                <a:r>
                  <a:rPr lang="en-US" sz="1200" dirty="0">
                    <a:solidFill>
                      <a:srgbClr val="3A4654"/>
                    </a:solidFill>
                    <a:latin typeface="Segoe UI"/>
                    <a:ea typeface="Segoe UI"/>
                    <a:cs typeface="Segoe UI"/>
                  </a:rPr>
                  <a:t>(was 25–65)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3956304" y="5185410"/>
                <a:ext cx="1429512" cy="6537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650"/>
                  </a:lnSpc>
                </a:pPr>
                <a:r>
                  <a:rPr lang="en-US" sz="1200" dirty="0">
                    <a:solidFill>
                      <a:srgbClr val="3A4654"/>
                    </a:solidFill>
                    <a:latin typeface="Segoe UI"/>
                    <a:ea typeface="Segoe UI"/>
                    <a:cs typeface="Segoe UI"/>
                  </a:rPr>
                  <a:t>Second ICS</a:t>
                </a:r>
                <a:br/>
                <a:r>
                  <a:rPr lang="en-US" sz="1200" dirty="0">
                    <a:solidFill>
                      <a:srgbClr val="3A4654"/>
                    </a:solidFill>
                    <a:latin typeface="Segoe UI"/>
                    <a:ea typeface="Segoe UI"/>
                    <a:cs typeface="Segoe UI"/>
                  </a:rPr>
                  <a:t>benchmarking and</a:t>
                </a:r>
                <a:br/>
                <a:r>
                  <a:rPr lang="en-US" sz="1200" dirty="0">
                    <a:solidFill>
                      <a:srgbClr val="3A4654"/>
                    </a:solidFill>
                    <a:latin typeface="Segoe UI"/>
                    <a:ea typeface="Segoe UI"/>
                    <a:cs typeface="Segoe UI"/>
                  </a:rPr>
                  <a:t>workforce surveys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5670804" y="5185410"/>
                <a:ext cx="1315212" cy="6537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650"/>
                  </a:lnSpc>
                </a:pPr>
                <a:r>
                  <a:rPr lang="en-US" sz="1200" dirty="0">
                    <a:solidFill>
                      <a:srgbClr val="3A4654"/>
                    </a:solidFill>
                    <a:latin typeface="Segoe UI"/>
                    <a:ea typeface="Segoe UI"/>
                    <a:cs typeface="Segoe UI"/>
                  </a:rPr>
                  <a:t>Customer Service</a:t>
                </a:r>
                <a:br/>
                <a:r>
                  <a:rPr lang="en-US" sz="1200" dirty="0">
                    <a:solidFill>
                      <a:srgbClr val="3A4654"/>
                    </a:solidFill>
                    <a:latin typeface="Segoe UI"/>
                    <a:ea typeface="Segoe UI"/>
                    <a:cs typeface="Segoe UI"/>
                  </a:rPr>
                  <a:t>Strategy updated</a:t>
                </a:r>
                <a:br/>
                <a:r>
                  <a:rPr lang="en-US" sz="1200" dirty="0">
                    <a:solidFill>
                      <a:srgbClr val="3A4654"/>
                    </a:solidFill>
                    <a:latin typeface="Segoe UI"/>
                    <a:ea typeface="Segoe UI"/>
                    <a:cs typeface="Segoe UI"/>
                  </a:rPr>
                  <a:t>and relaunched</a:t>
                </a:r>
              </a:p>
            </p:txBody>
          </p:sp>
        </p:grpSp>
      </p:grpSp>
      <p:grpSp>
        <p:nvGrpSpPr>
          <p:cNvPr id="24" name="source-link"/>
          <p:cNvGrpSpPr/>
          <p:nvPr/>
        </p:nvGrpSpPr>
        <p:grpSpPr>
          <a:xfrm>
            <a:off x="527304" y="6233160"/>
            <a:ext cx="5485470" cy="234696"/>
            <a:chOff x="527304" y="6233160"/>
            <a:chExt cx="5485470" cy="234696"/>
          </a:xfrm>
        </p:grpSpPr>
        <p:sp>
          <p:nvSpPr>
            <p:cNvPr id="23" name="TextBox 23"/>
            <p:cNvSpPr txBox="1"/>
            <p:nvPr/>
          </p:nvSpPr>
          <p:spPr>
            <a:xfrm>
              <a:off x="527304" y="6233160"/>
              <a:ext cx="54854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3A4654"/>
                  </a:solidFill>
                  <a:latin typeface="Segoe UI"/>
                  <a:ea typeface="Segoe UI"/>
                  <a:cs typeface="Segoe UI"/>
                </a:rPr>
                <a:t xml:space="preserve">Full report: </a:t>
              </a:r>
              <a:r>
                <a:rPr lang="en-US" sz="1200" b="1" dirty="0">
                  <a:solidFill>
                    <a:srgbClr val="1F4E79"/>
                  </a:solidFill>
                  <a:latin typeface="Segoe UI"/>
                  <a:ea typeface="Segoe UI"/>
                  <a:cs typeface="Segoe UI"/>
                  <a:hlinkClick r:id="rId2"/>
                </a:rPr>
                <a:t>Corporate Feedback Report 2023/24 (telford.gov.uk)</a:t>
              </a:r>
            </a:p>
          </p:txBody>
        </p:sp>
      </p:grpSp>
      <p:grpSp>
        <p:nvGrpSpPr>
          <p:cNvPr id="30" name="test-numbers"/>
          <p:cNvGrpSpPr/>
          <p:nvPr/>
        </p:nvGrpSpPr>
        <p:grpSpPr>
          <a:xfrm>
            <a:off x="8058150" y="1315402"/>
            <a:ext cx="2722952" cy="2753487"/>
            <a:chOff x="8058150" y="1315402"/>
            <a:chExt cx="2722952" cy="2753487"/>
          </a:xfrm>
        </p:grpSpPr>
        <p:sp>
          <p:nvSpPr>
            <p:cNvPr id="25" name="TextBox 25"/>
            <p:cNvSpPr txBox="1"/>
            <p:nvPr/>
          </p:nvSpPr>
          <p:spPr>
            <a:xfrm>
              <a:off x="8071866" y="1315402"/>
              <a:ext cx="131227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C9D6E3"/>
                  </a:solidFill>
                  <a:latin typeface="Segoe UI"/>
                  <a:ea typeface="Segoe UI"/>
                  <a:cs typeface="Segoe UI"/>
                </a:rPr>
                <a:t>THE 2024/25 TEST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058150" y="1762125"/>
              <a:ext cx="2457602" cy="8763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500" b="1" dirty="0">
                  <a:solidFill>
                    <a:srgbClr val="FFFFFF"/>
                  </a:solidFill>
                  <a:latin typeface="Cambria"/>
                  <a:ea typeface="Cambria"/>
                  <a:cs typeface="Cambria"/>
                </a:rPr>
                <a:t>10 days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068818" y="2412682"/>
              <a:ext cx="271228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C9D6E3"/>
                  </a:solidFill>
                  <a:latin typeface="Segoe UI"/>
                  <a:ea typeface="Segoe UI"/>
                  <a:cs typeface="Segoe UI"/>
                </a:rPr>
                <a:t>Stage One limit (was 15)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058150" y="3095625"/>
              <a:ext cx="1281455" cy="8763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500" b="1" dirty="0">
                  <a:solidFill>
                    <a:srgbClr val="FFFFFF"/>
                  </a:solidFill>
                  <a:latin typeface="Cambria"/>
                  <a:ea typeface="Cambria"/>
                  <a:cs typeface="Cambria"/>
                </a:rPr>
                <a:t>90%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068818" y="3746182"/>
              <a:ext cx="270445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C9D6E3"/>
                  </a:solidFill>
                  <a:latin typeface="Segoe UI"/>
                  <a:ea typeface="Segoe UI"/>
                  <a:cs typeface="Segoe UI"/>
                </a:rPr>
                <a:t>on time (87% in 2023/24)</a:t>
              </a:r>
            </a:p>
          </p:txBody>
        </p:sp>
      </p:grpSp>
      <p:sp>
        <p:nvSpPr>
          <p:cNvPr id="31" name="Line 31"/>
          <p:cNvSpPr/>
          <p:nvPr/>
        </p:nvSpPr>
        <p:spPr>
          <a:xfrm>
            <a:off x="8077200" y="4476750"/>
            <a:ext cx="3581400" cy="9525"/>
          </a:xfrm>
          <a:custGeom>
            <a:avLst/>
            <a:gdLst/>
            <a:ahLst/>
            <a:cxnLst/>
            <a:rect l="l" t="t" r="r" b="b"/>
            <a:pathLst>
              <a:path w="3581400" h="9525">
                <a:moveTo>
                  <a:pt x="0" y="0"/>
                </a:moveTo>
                <a:lnTo>
                  <a:pt x="3581400" y="0"/>
                </a:lnTo>
              </a:path>
            </a:pathLst>
          </a:custGeom>
          <a:noFill/>
          <a:ln w="9525">
            <a:solidFill>
              <a:srgbClr val="FFFFFF">
                <a:alpha val="35000"/>
              </a:srgbClr>
            </a:solidFill>
          </a:ln>
        </p:spPr>
      </p:sp>
      <p:grpSp>
        <p:nvGrpSpPr>
          <p:cNvPr id="34" name="scrutiny-role"/>
          <p:cNvGrpSpPr/>
          <p:nvPr/>
        </p:nvGrpSpPr>
        <p:grpSpPr>
          <a:xfrm>
            <a:off x="8071104" y="4785360"/>
            <a:ext cx="3357372" cy="1187196"/>
            <a:chOff x="8071104" y="4785360"/>
            <a:chExt cx="3357372" cy="1187196"/>
          </a:xfrm>
        </p:grpSpPr>
        <p:sp>
          <p:nvSpPr>
            <p:cNvPr id="32" name="TextBox 32"/>
            <p:cNvSpPr txBox="1"/>
            <p:nvPr/>
          </p:nvSpPr>
          <p:spPr>
            <a:xfrm>
              <a:off x="8071104" y="4785360"/>
              <a:ext cx="257054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FFFFFF"/>
                  </a:solidFill>
                  <a:latin typeface="Segoe UI"/>
                  <a:ea typeface="Segoe UI"/>
                  <a:cs typeface="Segoe UI"/>
                </a:rPr>
                <a:t>Planned with scrutiny members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071104" y="5052060"/>
              <a:ext cx="3357372" cy="9204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en-US" sz="1200" dirty="0">
                  <a:solidFill>
                    <a:srgbClr val="E3E9F0"/>
                  </a:solidFill>
                  <a:latin typeface="Segoe UI"/>
                  <a:ea typeface="Segoe UI"/>
                  <a:cs typeface="Segoe UI"/>
                </a:rPr>
                <a:t>Mystery Customer assignments for the</a:t>
              </a:r>
              <a:br/>
              <a:r>
                <a:rPr lang="en-US" sz="1200" dirty="0">
                  <a:solidFill>
                    <a:srgbClr val="E3E9F0"/>
                  </a:solidFill>
                  <a:latin typeface="Segoe UI"/>
                  <a:ea typeface="Segoe UI"/>
                  <a:cs typeface="Segoe UI"/>
                </a:rPr>
                <a:t>Communities Scrutiny Committee, senior</a:t>
              </a:r>
              <a:br/>
              <a:r>
                <a:rPr lang="en-US" sz="1200" dirty="0">
                  <a:solidFill>
                    <a:srgbClr val="E3E9F0"/>
                  </a:solidFill>
                  <a:latin typeface="Segoe UI"/>
                  <a:ea typeface="Segoe UI"/>
                  <a:cs typeface="Segoe UI"/>
                </a:rPr>
                <a:t>managers and volunteer Mystery Customers,</a:t>
              </a:r>
              <a:br/>
              <a:r>
                <a:rPr lang="en-US" sz="1200" dirty="0">
                  <a:solidFill>
                    <a:srgbClr val="E3E9F0"/>
                  </a:solidFill>
                  <a:latin typeface="Segoe UI"/>
                  <a:ea typeface="Segoe UI"/>
                  <a:cs typeface="Segoe UI"/>
                </a:rPr>
                <a:t>informing the Customer Strategy from 2025.</a:t>
              </a:r>
            </a:p>
          </p:txBody>
        </p:sp>
      </p:grpSp>
      <p:sp>
        <p:nvSpPr>
          <p:cNvPr id="35" name="TextBox 35"/>
          <p:cNvSpPr txBox="1"/>
          <p:nvPr/>
        </p:nvSpPr>
        <p:spPr>
          <a:xfrm>
            <a:off x="11497780" y="651605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C9D6E3"/>
                </a:solidFill>
                <a:latin typeface="Segoe UI"/>
                <a:ea typeface="Segoe UI"/>
                <a:cs typeface="Segoe UI"/>
              </a:rPr>
              <a:t>13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600"/>
                            </p:stCondLst>
                            <p:childTnLst>
                              <p:par>
                                <p:cTn xmlns:p="http://schemas.openxmlformats.org/presentationml/2006/main" id="9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8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ppt169_telford_feedback_2023_24_quick">
  <a:themeElements>
    <a:clrScheme name="ppt169_telford_feedback_2023_24_quick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pt169_telford_feedback_2023_24_quick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pt169_telford_feedback_2023_24_quick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2026-09-11T14:24:00Z</dcterms:created>
  <dcterms:modified xsi:type="dcterms:W3CDTF">2026-09-11T14:24:00Z</dcterms:modified>
  <cp:category/>
  <cp:contentStatus/>
</cp:coreProperties>
</file>