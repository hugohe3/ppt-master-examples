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2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  <Relationship Id="rId22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我们一起读一篇对大模型微调影响深远的论文,LoRA,低秩适配。它来自微软,二零二一年发表。一句话概括它的贡献:冻结预训练权重,只往每一层注入一对很小的低秩矩阵,就能用万分之一的可训练参数,达到甚至超过全量微调的效果,而且推理时不增加任何延迟。接下来我会从问题、方法、实验到背后的原理,带大家完整走一遍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我们按六个部分展开。先看问题:为什么模型越大,微调越来越贵;再看已有方法为什么不够好;然后是这篇论文的核心洞察,低秩假设;接着重点讲 LoRA 的方法与实现细节;之后用实验结果验证它;最后讨论该适配哪些权重、秩要取多大,以及它对整个行业的意义。重点会落在第四和第五部分。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先说清楚痛点:模型越大,全量微调就越不可行。全量 fine-tuning 会更新模型的全部参数,得到的新模型和原模型一样大。以 GPT-3 一千七百五十亿参数为例,每适配一个下游任务,就要存一份完整的满参数副本。如果你有很多任务,存储和切换的成本就是任务数乘以一千七百五十亿,这已经从早年的"不太方便"升级成了真正的部署难题。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那已有的高效适配方法为什么不够好?主要有三类局限。第一,Adapter 在网络里插入额外的层,加深了模型,会带来推理延迟,在线上、短序列、小批量的场景下尤其明显。第二,prefix 或 prompt tuning 用可训练的前缀 token 来适配,会挤占本就宝贵的输入序列长度。第三,也是最关键的,这些方法往往达不到全量微调的质量基线,逼着大家在效率和质量之间二选一。LoRA 想打破的,正是这个权衡。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LoRA 的出发点是一个很漂亮的洞察:权重的更新其实是低秩的。已有研究发现,过参数化的大模型实际上存在于一个很低的内在维度上。作者顺着这个思路假设,模型在适配下游任务时,权重的变化量 Delta W 也具有很低的内在秩。这个推论很激进:即使权重的满秩高达一万两千多,实际需要的秩可能只有一或二就够了。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基于这个假设,方法就非常简洁:冻结原始权重 W 零,在它旁边并联一条低秩旁路。具体说,把权重的更新约束成两个小矩阵的乘积 B 乘 A,前向传播时输入 x 同时经过冻结的 W 和这条旁路,两路输出相加得到 h。训练时 W 零完全不动,只更新 A 和 B 这两个小矩阵。初始化上,A 用高斯随机,B 置零,所以训练一开始旁路的贡献是零,不会扰动原模型。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实现上有两个细节值得一提。第一是缩放:旁路的输出会乘上一个 alpha 除以 r 的系数,而 alpha 直接设成你尝试的第一个 r,之后就不再单独调它,这样变更秩的时候不用反复重调超参。第二是部署:上线时可以显式把 B 乘 A 合并进权重,得到一个和原模型完全同构的 W,所以不引入任何额外的推理延迟。要换任务也很简单,减掉当前的 BA,再加上另一个任务的 B 撇 A 撇就行,开销极小,非常适合多任务在线热插拔。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在 Transformer 上,作者做了一个克制的选择。自注意力里有四个投影矩阵,查询、键、值、输出,论文在大多数实验里只给查询和值这两个矩阵加 LoRA,MLP 模块整个冻结,这是出于简洁和参数效率的考虑。可训练参数量只随秩 r 线性增长。效果非常惊人:在 GPT-3 上,训练显存从一点二个 TB 降到三百五十个 GB,大约只剩三分之一;而检查点的大小从三百五十个 GB 直接降到三十五个 MB,缩小了约一万倍。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把这些好处归纳一下,LoRA 有四个关键优势。第一,可共享:一个预训练底座可以挂很多个小 LoRA 模块,换任务只换 A 和 B,存储成本极低。第二,训练高效:不用为冻结的参数保存梯度和优化器状态,硬件门槛最高能降到三分之一。第三,零推理延迟:合并权重后和全量微调模型完全同构。第四,正交可叠加:它和很多已有方法互不冲突,比如可以和 prefix-tuning 组合使用。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我们用数据来验证"零延迟"这个说法。这张图是 GPT-2 medium 上单次前向的延迟增幅,在 RTX8000 上测了一百次取平均。可以看到,Adapter 的两个变体都会带来延迟:在长序列配置下还比较小,只有百分之二到三;但到了短序列、小批量这种典型的在线场景,Adapter L 增加了百分之二十点七,Adapter H 更是高达百分之三十点三。而 LoRA 因为可以合并权重,和全量微调一样,额外延迟是实打实的零。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实验覆盖了从理解到生成的四类模型。自然语言理解这边,用 RoBERTa 的 base 和 large,还有十五亿参数的 DeBERTa XXL,都在 GLUE 上评测;生成这边,用 GPT-2 medium 跑 E2E 数据集;最后放大到 GPT-3 一千七百五十亿参数,在 WikiSQL、MNLI 和 SAMSum 上做压力测试。对比的基线也很全,包括全量微调、BitFit、前缀类方法,以及 Adapter 的四个变体,而且尽量复用了前人论文里报告的数值,保证公平。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 GLUE 的结果,结论是:用更少的参数,持平甚至更优。RoBERTa base 全量微调要训一亿两千五百万参数,平均分八十六点四;LoRA 只训三十万参数,平均分反而是八十七点二。RoBERTa large 上,三亿五千五百万对零点八百万,得分八十八点九对八十九点零。最大的 DeBERTa XXL 上,十五亿对四百七十万,九十一点一对九十一点三。也就是说,LoRA 用大约三四百分之一的可训练参数,在三类模型上都做到了持平或略优。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真正的压力测试是 GPT-3 一千七百五十亿参数,结论依然成立。这里有四个关键数字:可训练参数缩减了约一万倍,检查点从三百五十个 GB 降到三十五个 MB;训练显存从一点二个 TB 降到三百五十个 GB,大约三分之一;训练吞吐还提升了约百分之二十五,因为绝大多数参数不需要算梯度;而在 WikiSQL、MNLI、SAMSum 三个任务上,准确率都达到或超过了全量微调。效率和质量,这次真的可以兼得。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论文还往前追问了两个问题。第一,该给哪些权重加 LoRA?在同样的参数预算下,同时适配查询和值这两类权重效果最好,比只堆在单一类型上更划算。第二,秩到底要取多大?这是最反直觉的发现:对查询加值的组合,秩等于一时准确率就有七十三点四,一路加到六十四几乎没有提升。右边的子空间相似度热力图也印证了这一点,不同秩学到的主奇异方向高度重叠,说明权重更新的内在秩确实极低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最后做个总结。从方法本身看,低秩适配等于参数高效、零额外推理延迟,再加上质量持平甚至更优。从工程意义看,它让一个预训练底座就能托管很多任务,按需热插拔 LoRA 模块,部署成本大幅下降。从行业影响看,LoRA 已经开源,成为今天大模型高效微调,也就是 PEFT 生态的基石之一。它最大的价值,是让我们不必再在效率和质量之间二选一。谢谢大家。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pt169_lora_hu_2021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pt169_lora_hu_2021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7521e666ed47db4.jp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754d2e47993892e.jp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b8e2b8ed558f5083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48fe9750ca82e40e.jpg"/>
  <Relationship Id="rId3" Type="http://schemas.openxmlformats.org/officeDocument/2006/relationships/image" Target="../media/image_9107c8a6c8c027a8.png"/>
  <Relationship Id="rId4" Type="http://schemas.openxmlformats.org/officeDocument/2006/relationships/image" Target="../media/image_95eda345968e4069.png"/>
  <Relationship Id="rId5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2312e005b6074c6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805b1ba480b8457e.jpg"/>
  <Relationship Id="rId3" Type="http://schemas.openxmlformats.org/officeDocument/2006/relationships/image" Target="../media/image_c0832f190fbc6186.png"/>
  <Relationship Id="rId4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d08c2550df673b6.jp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0F2238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2857500"/>
              <a:ext cx="12192000" cy="4000500"/>
            </a:xfrm>
            <a:prstGeom prst="rect">
              <a:avLst/>
            </a:prstGeom>
            <a:gradFill>
              <a:gsLst>
                <a:gs pos="0">
                  <a:srgbClr val="0F2238">
                    <a:alpha val="92000"/>
                  </a:srgbClr>
                </a:gs>
                <a:gs pos="45000">
                  <a:srgbClr val="0F2238">
                    <a:alpha val="62000"/>
                  </a:srgbClr>
                </a:gs>
                <a:gs pos="100000">
                  <a:srgbClr val="0F2238">
                    <a:alpha val="0"/>
                  </a:srgbClr>
                </a:gs>
              </a:gsLst>
              <a:lin ang="1620000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90550" y="4248150"/>
            <a:ext cx="6684453" cy="1300734"/>
            <a:chOff x="590550" y="4248150"/>
            <a:chExt cx="6684453" cy="1300734"/>
          </a:xfrm>
        </p:grpSpPr>
        <p:sp>
          <p:nvSpPr>
            <p:cNvPr id="6" name="Rectangle 6"/>
            <p:cNvSpPr/>
            <p:nvPr/>
          </p:nvSpPr>
          <p:spPr>
            <a:xfrm>
              <a:off x="609600" y="4248150"/>
              <a:ext cx="60960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90550" y="4521518"/>
              <a:ext cx="6684453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LoRA:大模型的低秩适配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5196840"/>
              <a:ext cx="5884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CBD8E6"/>
                  </a:solidFill>
                  <a:latin typeface="+mn-lt"/>
                  <a:ea typeface="+mn-ea"/>
                  <a:cs typeface="+mn-cs"/>
                </a:rPr>
                <a:t>Low-Rank Adaptation of Large Language Models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3504" y="5928360"/>
            <a:ext cx="10984611" cy="494824"/>
            <a:chOff x="603504" y="5928360"/>
            <a:chExt cx="10984611" cy="494824"/>
          </a:xfrm>
        </p:grpSpPr>
        <p:sp>
          <p:nvSpPr>
            <p:cNvPr id="10" name="TextBox 10"/>
            <p:cNvSpPr txBox="1"/>
            <p:nvPr/>
          </p:nvSpPr>
          <p:spPr>
            <a:xfrm>
              <a:off x="603504" y="5928360"/>
              <a:ext cx="5803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9FB2C6"/>
                  </a:solidFill>
                  <a:latin typeface="+mn-lt"/>
                  <a:ea typeface="+mn-ea"/>
                  <a:cs typeface="+mn-cs"/>
                </a:rPr>
                <a:t>Hu, Shen, Wallis, Allen-Zhu, Li, Wang, Wang, Chen · Microsoft · 2021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885" y="6203156"/>
              <a:ext cx="15181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arXiv:2106.09685v2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20540" y="6203156"/>
              <a:ext cx="2167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9FB2C6"/>
                  </a:solidFill>
                  <a:latin typeface="+mn-lt"/>
                  <a:ea typeface="+mn-ea"/>
                  <a:cs typeface="+mn-cs"/>
                </a:rPr>
                <a:t>论文解读 · Paper Walkthrough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52450"/>
            <a:ext cx="3442175" cy="701611"/>
            <a:chOff x="609600" y="552450"/>
            <a:chExt cx="3442175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524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6172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本次讲什么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48702"/>
              <a:ext cx="32189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WHAT WE'LL COVER · 从问题到方法到验证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1033462" y="1638300"/>
            <a:ext cx="28575" cy="4343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838200" y="1460182"/>
            <a:ext cx="4041153" cy="517779"/>
            <a:chOff x="838200" y="1460182"/>
            <a:chExt cx="4041153" cy="517779"/>
          </a:xfrm>
        </p:grpSpPr>
        <p:sp>
          <p:nvSpPr>
            <p:cNvPr id="7" name="Ellipse 7"/>
            <p:cNvSpPr/>
            <p:nvPr/>
          </p:nvSpPr>
          <p:spPr>
            <a:xfrm>
              <a:off x="838200" y="1485900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54963" y="1640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5618" y="1460182"/>
              <a:ext cx="2366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问题:微调为何越来越贵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8666" y="1772602"/>
              <a:ext cx="33606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大模型时代,全量 fine-tuning 的存储与部署成本失控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38200" y="2298382"/>
            <a:ext cx="4405393" cy="517779"/>
            <a:chOff x="838200" y="2298382"/>
            <a:chExt cx="4405393" cy="517779"/>
          </a:xfrm>
        </p:grpSpPr>
        <p:sp>
          <p:nvSpPr>
            <p:cNvPr id="12" name="Ellipse 12"/>
            <p:cNvSpPr/>
            <p:nvPr/>
          </p:nvSpPr>
          <p:spPr>
            <a:xfrm>
              <a:off x="838200" y="2324100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4963" y="24788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15618" y="22983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已有方法的局限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8666" y="2610802"/>
              <a:ext cx="3724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Adapter 增延迟、Prefix 占序列,且常达不到全量微调基线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38200" y="3136582"/>
            <a:ext cx="3727514" cy="517779"/>
            <a:chOff x="838200" y="3136582"/>
            <a:chExt cx="3727514" cy="517779"/>
          </a:xfrm>
        </p:grpSpPr>
        <p:sp>
          <p:nvSpPr>
            <p:cNvPr id="17" name="Ellipse 17"/>
            <p:cNvSpPr/>
            <p:nvPr/>
          </p:nvSpPr>
          <p:spPr>
            <a:xfrm>
              <a:off x="838200" y="3162300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54963" y="33170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5618" y="313658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核心洞察:低秩假设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518666" y="3449002"/>
              <a:ext cx="30470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权重更新 ΔW 具有低"内在秩",极小的 r 就够用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9150" y="3974782"/>
            <a:ext cx="3704692" cy="517779"/>
            <a:chOff x="819150" y="3974782"/>
            <a:chExt cx="3704692" cy="517779"/>
          </a:xfrm>
        </p:grpSpPr>
        <p:sp>
          <p:nvSpPr>
            <p:cNvPr id="22" name="Ellipse 22"/>
            <p:cNvSpPr/>
            <p:nvPr/>
          </p:nvSpPr>
          <p:spPr>
            <a:xfrm>
              <a:off x="819150" y="39814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54963" y="41552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5618" y="3974782"/>
              <a:ext cx="21630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LoRA 方法与实现</a:t>
              </a:r>
              <a:r>
                <a:rPr lang="zh-CN" sz="90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· 核心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8666" y="4287202"/>
              <a:ext cx="3005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冻结 W₀,注入低秩 BA;只训 A、B,部署可合并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38200" y="4812982"/>
            <a:ext cx="4643495" cy="517779"/>
            <a:chOff x="838200" y="4812982"/>
            <a:chExt cx="4643495" cy="517779"/>
          </a:xfrm>
        </p:grpSpPr>
        <p:sp>
          <p:nvSpPr>
            <p:cNvPr id="27" name="Ellipse 27"/>
            <p:cNvSpPr/>
            <p:nvPr/>
          </p:nvSpPr>
          <p:spPr>
            <a:xfrm>
              <a:off x="838200" y="4838700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54963" y="49934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515618" y="48129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实验结果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18666" y="5125402"/>
              <a:ext cx="396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RoBERTa / DeBERTa / GPT-2 / GPT-3:更少参数,持平或更优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38200" y="5651182"/>
            <a:ext cx="3878599" cy="517779"/>
            <a:chOff x="838200" y="5651182"/>
            <a:chExt cx="3878599" cy="517779"/>
          </a:xfrm>
        </p:grpSpPr>
        <p:sp>
          <p:nvSpPr>
            <p:cNvPr id="32" name="Ellipse 32"/>
            <p:cNvSpPr/>
            <p:nvPr/>
          </p:nvSpPr>
          <p:spPr>
            <a:xfrm>
              <a:off x="838200" y="5676900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54963" y="5831681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5618" y="565118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低秩理解与结论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666" y="5963602"/>
              <a:ext cx="3198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该适配哪些权重、秩要多大,以及对工程落地的意义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37" name="TextBox 37"/>
            <p:cNvSpPr txBox="1"/>
            <p:nvPr/>
          </p:nvSpPr>
          <p:spPr>
            <a:xfrm>
              <a:off x="604838" y="6578441"/>
              <a:ext cx="22308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LoRA · Hu et al. 2021 · arXiv:2106.09685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2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9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6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3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2"/>
            <a:srcRect l="12790" t="0" r="12791" b="0"/>
            <a:stretch>
              <a:fillRect/>
            </a:stretch>
          </p:blipFill>
          <p:spPr>
            <a:xfrm>
              <a:off x="6096000" y="0"/>
              <a:ext cx="6096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5905500" y="0"/>
              <a:ext cx="20955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lt1">
                    <a:alpha val="0"/>
                  </a:schemeClr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09600" y="571500"/>
            <a:ext cx="4285381" cy="682561"/>
            <a:chOff x="609600" y="571500"/>
            <a:chExt cx="4285381" cy="682561"/>
          </a:xfrm>
        </p:grpSpPr>
        <p:sp>
          <p:nvSpPr>
            <p:cNvPr id="6" name="Rectangle 6"/>
            <p:cNvSpPr/>
            <p:nvPr/>
          </p:nvSpPr>
          <p:spPr>
            <a:xfrm>
              <a:off x="609600" y="5715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6958" y="617220"/>
              <a:ext cx="40880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模型越大,全量微调越不可行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32866" y="1048702"/>
              <a:ext cx="25412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COST OF FULL FINE-TUNING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0550" y="2335530"/>
            <a:ext cx="3619500" cy="1276350"/>
            <a:chOff x="590550" y="2335530"/>
            <a:chExt cx="3619500" cy="1276350"/>
          </a:xfrm>
        </p:grpSpPr>
        <p:sp>
          <p:nvSpPr>
            <p:cNvPr id="10" name="TextBox 10"/>
            <p:cNvSpPr txBox="1"/>
            <p:nvPr/>
          </p:nvSpPr>
          <p:spPr>
            <a:xfrm>
              <a:off x="590550" y="2335530"/>
              <a:ext cx="2206691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175B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39318" y="326993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每个下游任务都要存一份满参数副本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2742" y="3886200"/>
            <a:ext cx="4684357" cy="1299401"/>
            <a:chOff x="602742" y="3886200"/>
            <a:chExt cx="4684357" cy="1299401"/>
          </a:xfrm>
        </p:grpSpPr>
        <p:sp>
          <p:nvSpPr>
            <p:cNvPr id="13" name="Rectangle 13"/>
            <p:cNvSpPr/>
            <p:nvPr/>
          </p:nvSpPr>
          <p:spPr>
            <a:xfrm>
              <a:off x="609600" y="3886200"/>
              <a:ext cx="342900" cy="2857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02742" y="4159568"/>
              <a:ext cx="468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全量 fine-tuning 会更新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全部参数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,新模型与原模型一样大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4540568"/>
              <a:ext cx="39374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部署 N 个任务 = </a:t>
              </a:r>
              <a:r>
                <a:rPr lang="en-US" sz="135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N × 175B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,存储与切换成本极高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2742" y="4921568"/>
              <a:ext cx="4101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 GPT-3 175B 为例,已从"不便"升级为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部署难题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578441"/>
              <a:ext cx="229041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§1 Introduction · Hu et al. 2021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4744974" cy="701611"/>
            <a:chOff x="609600" y="533400"/>
            <a:chExt cx="4744974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454761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为什么现有高效适配方法不够好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4280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LIMITS OF EXISTING EFFICIENT-ADAPTATION METHODS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1128712" y="2114550"/>
            <a:ext cx="28575" cy="3695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5400000" scaled="1"/>
          </a:gradFill>
          <a:ln>
            <a:noFill/>
          </a:ln>
        </p:spPr>
      </p:sp>
      <p:grpSp>
        <p:nvGrpSpPr>
          <p:cNvPr id="19" name="Group 19"/>
          <p:cNvGrpSpPr/>
          <p:nvPr/>
        </p:nvGrpSpPr>
        <p:grpSpPr>
          <a:xfrm>
            <a:off x="914400" y="1619250"/>
            <a:ext cx="10668000" cy="1219200"/>
            <a:chOff x="914400" y="1619250"/>
            <a:chExt cx="10668000" cy="1219200"/>
          </a:xfrm>
        </p:grpSpPr>
        <p:sp>
          <p:nvSpPr>
            <p:cNvPr id="7" name="Ellipse 7"/>
            <p:cNvSpPr/>
            <p:nvPr/>
          </p:nvSpPr>
          <p:spPr>
            <a:xfrm>
              <a:off x="914400" y="19812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612" y="21469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09750" y="1619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809750" y="1619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114550" y="1885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2250129" y="2029896"/>
              <a:ext cx="224134" cy="192560"/>
              <a:chOff x="2250129" y="2029896"/>
              <a:chExt cx="224134" cy="1925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362200" y="21002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250129" y="20298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362200" y="21780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2849880" y="1895475"/>
              <a:ext cx="2566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Adapter 层 → 引入</a:t>
              </a:r>
              <a:r>
                <a:rPr lang="zh-CN" sz="15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推理延迟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51404" y="2232660"/>
              <a:ext cx="5481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在自注意力/MLP 后插入额外层,加深模型;在线、短序列、小 batch 场景下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51404" y="2480310"/>
              <a:ext cx="2961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延迟增加尤为明显(后续 Table 1 量化)。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14400" y="3143250"/>
            <a:ext cx="10668000" cy="1219200"/>
            <a:chOff x="914400" y="3143250"/>
            <a:chExt cx="10668000" cy="1219200"/>
          </a:xfrm>
        </p:grpSpPr>
        <p:sp>
          <p:nvSpPr>
            <p:cNvPr id="20" name="Ellipse 20"/>
            <p:cNvSpPr/>
            <p:nvPr/>
          </p:nvSpPr>
          <p:spPr>
            <a:xfrm>
              <a:off x="914400" y="35052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3612" y="36709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809750" y="3143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09750" y="3143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114550" y="3409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250129" y="3553896"/>
              <a:ext cx="224134" cy="192560"/>
              <a:chOff x="2250129" y="3553896"/>
              <a:chExt cx="224134" cy="19256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2362200" y="36242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250129" y="35538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362200" y="37020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3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849880" y="3419475"/>
              <a:ext cx="38298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Prefix / Prompt tuning → </a:t>
              </a:r>
              <a:r>
                <a:rPr lang="zh-CN" sz="15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占用输入长度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851404" y="3756660"/>
              <a:ext cx="5181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用可训练的前缀 token 适配任务,会挤占可用序列长度;且前缀位置/数量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51404" y="4004310"/>
              <a:ext cx="12318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敏感,优化较难。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14400" y="4667250"/>
            <a:ext cx="10668000" cy="1219200"/>
            <a:chOff x="914400" y="4667250"/>
            <a:chExt cx="10668000" cy="1219200"/>
          </a:xfrm>
        </p:grpSpPr>
        <p:sp>
          <p:nvSpPr>
            <p:cNvPr id="33" name="Ellipse 33"/>
            <p:cNvSpPr/>
            <p:nvPr/>
          </p:nvSpPr>
          <p:spPr>
            <a:xfrm>
              <a:off x="914400" y="50292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3612" y="51949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809750" y="4667250"/>
              <a:ext cx="9772650" cy="1219200"/>
            </a:xfrm>
            <a:prstGeom prst="roundRect">
              <a:avLst>
                <a:gd name="adj" fmla="val 9375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809750" y="4667250"/>
              <a:ext cx="57150" cy="12192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114550" y="4933950"/>
              <a:ext cx="495300" cy="495300"/>
            </a:xfrm>
            <a:prstGeom prst="roundRect">
              <a:avLst>
                <a:gd name="adj" fmla="val 23077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2250129" y="5077896"/>
              <a:ext cx="224134" cy="192560"/>
              <a:chOff x="2250129" y="5077896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2362200" y="51482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2250129" y="50778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2362200" y="52260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2849880" y="4943475"/>
              <a:ext cx="24803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普遍 → </a:t>
              </a:r>
              <a:r>
                <a:rPr lang="zh-CN" sz="1500" b="1" dirty="0">
                  <a:solidFill>
                    <a:srgbClr val="C62828"/>
                  </a:solidFill>
                  <a:latin typeface="+mn-lt"/>
                  <a:ea typeface="+mn-ea"/>
                  <a:cs typeface="+mn-cs"/>
                </a:rPr>
                <a:t>达不到全量微调基线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51404" y="5280660"/>
              <a:ext cx="5278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多数高效方法在质量上落后于 full fine-tuning,迫使人在"效率"与"质量"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851404" y="5528310"/>
              <a:ext cx="3296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之间二选一 —— 这正是 LoRA 想打破的权衡。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46" name="TextBox 46"/>
            <p:cNvSpPr txBox="1"/>
            <p:nvPr/>
          </p:nvSpPr>
          <p:spPr>
            <a:xfrm>
              <a:off x="604838" y="6578441"/>
              <a:ext cx="17141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§1–3 · Hu et al. 2021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2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8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71500"/>
            <a:ext cx="3241243" cy="682561"/>
            <a:chOff x="609600" y="571500"/>
            <a:chExt cx="3241243" cy="682561"/>
          </a:xfrm>
        </p:grpSpPr>
        <p:sp>
          <p:nvSpPr>
            <p:cNvPr id="2" name="Rectangle 2"/>
            <p:cNvSpPr/>
            <p:nvPr/>
          </p:nvSpPr>
          <p:spPr>
            <a:xfrm>
              <a:off x="609600" y="5715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617220"/>
              <a:ext cx="29822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权重更新其实"低秩"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48702"/>
              <a:ext cx="3017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LOW INTRINSIC-RANK HYPOTHESIS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43447" y="1847850"/>
            <a:ext cx="5338953" cy="3333464"/>
            <a:chOff x="6243447" y="1847850"/>
            <a:chExt cx="5338953" cy="3333464"/>
          </a:xfrm>
        </p:grpSpPr>
        <p:sp>
          <p:nvSpPr>
            <p:cNvPr id="6" name="Rectangle 6"/>
            <p:cNvSpPr/>
            <p:nvPr/>
          </p:nvSpPr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248400" y="1847850"/>
              <a:ext cx="5334000" cy="3000375"/>
            </a:xfrm>
            <a:prstGeom prst="roundRect">
              <a:avLst>
                <a:gd name="adj" fmla="val 5079"/>
              </a:avLst>
            </a:pr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43447" y="4990624"/>
              <a:ext cx="226586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高维权重更新坍缩到低维子空间(示意)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1980" y="2200275"/>
            <a:ext cx="3691018" cy="2737676"/>
            <a:chOff x="601980" y="2200275"/>
            <a:chExt cx="3691018" cy="2737676"/>
          </a:xfrm>
        </p:grpSpPr>
        <p:sp>
          <p:nvSpPr>
            <p:cNvPr id="11" name="TextBox 11"/>
            <p:cNvSpPr txBox="1"/>
            <p:nvPr/>
          </p:nvSpPr>
          <p:spPr>
            <a:xfrm>
              <a:off x="601980" y="220027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已有证据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2742" y="25593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过参数化模型实际位于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低内在维度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4266" y="2839402"/>
              <a:ext cx="25480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Li et al. 2018;Aghajanyan et al. 2020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3381375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本文假设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2742" y="3740468"/>
              <a:ext cx="33083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适配时的权重变化 </a:t>
              </a:r>
              <a:r>
                <a:rPr lang="el-GR" sz="13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ΔW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也具有低</a:t>
              </a:r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"内在秩"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980" y="4314825"/>
              <a:ext cx="59932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推论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2742" y="4673918"/>
              <a:ext cx="3690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即使 </a:t>
              </a:r>
              <a:r>
                <a:rPr lang="en-US" sz="13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高达 </a:t>
              </a:r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12,288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,极低的秩 </a:t>
              </a:r>
              <a:r>
                <a:rPr lang="en-US" sz="13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r(1~2)</a:t>
              </a: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也够用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19" name="TextBox 19"/>
            <p:cNvSpPr txBox="1"/>
            <p:nvPr/>
          </p:nvSpPr>
          <p:spPr>
            <a:xfrm>
              <a:off x="604838" y="6578441"/>
              <a:ext cx="19342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§1, §4.1 · Hu et al. 2021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3542477" cy="701611"/>
            <a:chOff x="609600" y="533400"/>
            <a:chExt cx="3542477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33451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冻结 W₀,注入低秩 BA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2420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THE LoRA REPARAMETRIZATION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33500" y="1162050"/>
            <a:ext cx="9525000" cy="3952875"/>
            <a:chOff x="1333500" y="1162050"/>
            <a:chExt cx="9525000" cy="3952875"/>
          </a:xfrm>
        </p:grpSpPr>
        <p:sp>
          <p:nvSpPr>
            <p:cNvPr id="6" name="Rectangle 6"/>
            <p:cNvSpPr/>
            <p:nvPr/>
          </p:nvSpPr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1333500" y="1162050"/>
              <a:ext cx="9525000" cy="3952875"/>
            </a:xfrm>
            <a:prstGeom prst="roundRect">
              <a:avLst>
                <a:gd name="adj" fmla="val 3373"/>
              </a:avLst>
            </a:prstGeom>
            <a:noFill/>
            <a:ln w="14288">
              <a:solidFill>
                <a:schemeClr val="accent4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1866900" y="1543050"/>
            <a:ext cx="8458200" cy="285750"/>
            <a:chOff x="1866900" y="1543050"/>
            <a:chExt cx="8458200" cy="285750"/>
          </a:xfrm>
        </p:grpSpPr>
        <p:sp>
          <p:nvSpPr>
            <p:cNvPr id="10" name="Rectangle 10"/>
            <p:cNvSpPr/>
            <p:nvPr/>
          </p:nvSpPr>
          <p:spPr>
            <a:xfrm>
              <a:off x="1866900" y="1543050"/>
              <a:ext cx="2209800" cy="285750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9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14347" y="1628299"/>
              <a:ext cx="18088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训练时 W₀ 冻结,只更新 </a:t>
              </a:r>
              <a:r>
                <a:rPr lang="zh-CN" sz="980" b="1" i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A、B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15300" y="1543050"/>
              <a:ext cx="2209800" cy="285750"/>
            </a:xfrm>
            <a:prstGeom prst="roundRect">
              <a:avLst>
                <a:gd name="adj" fmla="val 50000"/>
              </a:avLst>
            </a:prstGeom>
            <a:solidFill>
              <a:schemeClr val="lt1">
                <a:alpha val="9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62747" y="1628299"/>
              <a:ext cx="19631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i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高斯初始化、</a:t>
              </a:r>
              <a:r>
                <a:rPr lang="en-US" sz="980" i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</a:t>
              </a:r>
              <a:r>
                <a:rPr lang="zh-CN" sz="9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=0 → 起始 ΔW=0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09600" y="5143500"/>
            <a:ext cx="10972800" cy="1257300"/>
            <a:chOff x="609600" y="5143500"/>
            <a:chExt cx="10972800" cy="1257300"/>
          </a:xfrm>
        </p:grpSpPr>
        <p:sp>
          <p:nvSpPr>
            <p:cNvPr id="15" name="Rectangle 15"/>
            <p:cNvSpPr/>
            <p:nvPr/>
          </p:nvSpPr>
          <p:spPr>
            <a:xfrm>
              <a:off x="609600" y="5143500"/>
              <a:ext cx="10972800" cy="1257300"/>
            </a:xfrm>
            <a:prstGeom prst="roundRect">
              <a:avLst>
                <a:gd name="adj" fmla="val 909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5143500"/>
              <a:ext cx="57150" cy="12573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7166" y="54302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低秩分解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5500" y="5314950"/>
              <a:ext cx="7239000" cy="314325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947166" y="60017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前向传播</a:t>
              </a:r>
            </a:p>
          </p:txBody>
        </p:sp>
        <p:pic>
          <p:nvPicPr>
            <p:cNvPr id="20" name="Image 2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99830" y="5905500"/>
              <a:ext cx="4468091" cy="285750"/>
            </a:xfrm>
            <a:prstGeom prst="rect">
              <a:avLst/>
            </a:prstGeom>
          </p:spPr>
        </p:pic>
        <p:sp>
          <p:nvSpPr>
            <p:cNvPr id="21" name="TextBox 21"/>
            <p:cNvSpPr txBox="1"/>
            <p:nvPr/>
          </p:nvSpPr>
          <p:spPr>
            <a:xfrm>
              <a:off x="10047199" y="6009799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两路输出逐坐标相加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23" name="TextBox 23"/>
            <p:cNvSpPr txBox="1"/>
            <p:nvPr/>
          </p:nvSpPr>
          <p:spPr>
            <a:xfrm>
              <a:off x="604838" y="6578441"/>
              <a:ext cx="27088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§4.1, Eq.(3), Figure 1 · Hu et al. 2021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50"/>
                            </p:stCondLst>
                            <p:childTnLst>
                              <p:par>
                                <p:cTn xmlns:p="http://schemas.openxmlformats.org/presentationml/2006/main" id="10" presetID="1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8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4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4064066" cy="701611"/>
            <a:chOff x="609600" y="533400"/>
            <a:chExt cx="4064066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38667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一个常数 α、一次部署合并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32303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INITIALIZATION, SCALING &amp; DEPLOYMENT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9600" y="1524000"/>
            <a:ext cx="5334000" cy="4572000"/>
            <a:chOff x="609600" y="1524000"/>
            <a:chExt cx="5334000" cy="4572000"/>
          </a:xfrm>
        </p:grpSpPr>
        <p:sp>
          <p:nvSpPr>
            <p:cNvPr id="6" name="Rectangle 6"/>
            <p:cNvSpPr/>
            <p:nvPr/>
          </p:nvSpPr>
          <p:spPr>
            <a:xfrm>
              <a:off x="609600" y="1524000"/>
              <a:ext cx="5334000" cy="4572000"/>
            </a:xfrm>
            <a:prstGeom prst="roundRect">
              <a:avLst>
                <a:gd name="adj" fmla="val 3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24000"/>
              <a:ext cx="57150" cy="45720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95362" y="1909762"/>
              <a:ext cx="257175" cy="257175"/>
              <a:chOff x="995362" y="1909762"/>
              <a:chExt cx="257175" cy="25717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95362" y="1909762"/>
                <a:ext cx="1428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257175">
                    <a:moveTo>
                      <a:pt x="0" y="228600"/>
                    </a:moveTo>
                    <a:cubicBezTo>
                      <a:pt x="0" y="244382"/>
                      <a:pt x="12793" y="257175"/>
                      <a:pt x="28575" y="257175"/>
                    </a:cubicBezTo>
                    <a:cubicBezTo>
                      <a:pt x="57150" y="257175"/>
                      <a:pt x="57150" y="200025"/>
                      <a:pt x="71438" y="128588"/>
                    </a:cubicBezTo>
                    <a:cubicBezTo>
                      <a:pt x="85725" y="57150"/>
                      <a:pt x="85725" y="0"/>
                      <a:pt x="114300" y="0"/>
                    </a:cubicBezTo>
                    <a:cubicBezTo>
                      <a:pt x="130082" y="0"/>
                      <a:pt x="142875" y="12793"/>
                      <a:pt x="142875" y="28575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23938" y="2038350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66812" y="20383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0"/>
                    </a:moveTo>
                    <a:lnTo>
                      <a:pt x="85725" y="85725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66812" y="2038350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85725"/>
                    </a:moveTo>
                    <a:lnTo>
                      <a:pt x="85725" y="0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20368" y="1936432"/>
              <a:ext cx="16760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缩放:一个常数 α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19250" y="2724150"/>
              <a:ext cx="3314700" cy="1428750"/>
            </a:xfrm>
            <a:prstGeom prst="roundRect">
              <a:avLst>
                <a:gd name="adj" fmla="val 800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pic>
          <p:nvPicPr>
            <p:cNvPr id="15" name="Imag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71750" y="3146973"/>
              <a:ext cx="1409700" cy="583103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984123" y="4567714"/>
              <a:ext cx="13247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ΔWx 按 </a:t>
              </a:r>
              <a:r>
                <a:rPr lang="el-GR" sz="128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α/r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缩放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4123" y="4891564"/>
              <a:ext cx="26407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α 设为首个尝试的 r,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不再单独调参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123" y="5215414"/>
              <a:ext cx="22788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变更 r 时减少超参重调的需要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5266" y="5601652"/>
              <a:ext cx="2112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 Adam 时,调 α 约等于调学习率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48400" y="1524000"/>
            <a:ext cx="5334000" cy="2171700"/>
            <a:chOff x="6248400" y="1524000"/>
            <a:chExt cx="5334000" cy="2171700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334000" cy="2171700"/>
            </a:xfrm>
            <a:prstGeom prst="roundRect">
              <a:avLst>
                <a:gd name="adj" fmla="val 7018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48400" y="15240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634162" y="1909762"/>
              <a:ext cx="257176" cy="257176"/>
              <a:chOff x="6634162" y="1909762"/>
              <a:chExt cx="257176" cy="257176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634162" y="190976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777038" y="1909762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114300" y="71438"/>
                    </a:lnTo>
                    <a:cubicBezTo>
                      <a:pt x="114300" y="55656"/>
                      <a:pt x="101507" y="42862"/>
                      <a:pt x="85725" y="42862"/>
                    </a:cubicBezTo>
                    <a:lnTo>
                      <a:pt x="0" y="42862"/>
                    </a:lnTo>
                    <a:lnTo>
                      <a:pt x="42862" y="85725"/>
                    </a:lnTo>
                    <a:moveTo>
                      <a:pt x="42862" y="0"/>
                    </a:moveTo>
                    <a:lnTo>
                      <a:pt x="0" y="42862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34162" y="2052638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0" y="42862"/>
                    </a:lnTo>
                    <a:cubicBezTo>
                      <a:pt x="0" y="58644"/>
                      <a:pt x="12793" y="71438"/>
                      <a:pt x="28575" y="71438"/>
                    </a:cubicBezTo>
                    <a:lnTo>
                      <a:pt x="114300" y="71438"/>
                    </a:lnTo>
                    <a:lnTo>
                      <a:pt x="71438" y="28575"/>
                    </a:lnTo>
                    <a:moveTo>
                      <a:pt x="71438" y="114300"/>
                    </a:moveTo>
                    <a:lnTo>
                      <a:pt x="114300" y="71438"/>
                    </a:ln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805612" y="2081212"/>
                <a:ext cx="8572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85725">
                    <a:moveTo>
                      <a:pt x="0" y="42862"/>
                    </a:moveTo>
                    <a:cubicBezTo>
                      <a:pt x="0" y="66535"/>
                      <a:pt x="19190" y="85725"/>
                      <a:pt x="42862" y="85725"/>
                    </a:cubicBezTo>
                    <a:cubicBezTo>
                      <a:pt x="66535" y="85725"/>
                      <a:pt x="85725" y="66535"/>
                      <a:pt x="85725" y="42862"/>
                    </a:cubicBezTo>
                    <a:cubicBezTo>
                      <a:pt x="85725" y="19190"/>
                      <a:pt x="66535" y="0"/>
                      <a:pt x="42862" y="0"/>
                    </a:cubicBezTo>
                    <a:cubicBezTo>
                      <a:pt x="19190" y="0"/>
                      <a:pt x="0" y="19190"/>
                      <a:pt x="0" y="42862"/>
                    </a:cubicBezTo>
                  </a:path>
                </a:pathLst>
              </a:custGeom>
              <a:noFill/>
              <a:ln w="28575">
                <a:solidFill>
                  <a:schemeClr val="accent1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059168" y="1936432"/>
              <a:ext cx="27166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部署:合并权重,零额外结构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2923" y="2510314"/>
              <a:ext cx="23127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显式计算并存储 </a:t>
              </a:r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 = W₀ + BA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2923" y="28341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推理时与原模型完全同构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22923" y="3158014"/>
              <a:ext cx="20548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→ </a:t>
              </a:r>
              <a:r>
                <a:rPr lang="zh-CN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不引入任何额外推理延迟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48400" y="3924300"/>
            <a:ext cx="5334000" cy="2171700"/>
            <a:chOff x="6248400" y="3924300"/>
            <a:chExt cx="5334000" cy="2171700"/>
          </a:xfrm>
        </p:grpSpPr>
        <p:sp>
          <p:nvSpPr>
            <p:cNvPr id="33" name="Rectangle 33"/>
            <p:cNvSpPr/>
            <p:nvPr/>
          </p:nvSpPr>
          <p:spPr>
            <a:xfrm>
              <a:off x="6248400" y="3924300"/>
              <a:ext cx="5334000" cy="2171700"/>
            </a:xfrm>
            <a:prstGeom prst="roundRect">
              <a:avLst>
                <a:gd name="adj" fmla="val 7018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48400" y="3924300"/>
              <a:ext cx="57150" cy="21717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662738" y="4324350"/>
              <a:ext cx="214312" cy="228600"/>
              <a:chOff x="6662738" y="4324350"/>
              <a:chExt cx="214312" cy="2286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662738" y="449580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62738" y="4324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805612" y="4324350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691312" y="43815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719888" y="4424362"/>
                <a:ext cx="114300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00012">
                    <a:moveTo>
                      <a:pt x="0" y="100012"/>
                    </a:moveTo>
                    <a:lnTo>
                      <a:pt x="85725" y="100012"/>
                    </a:lnTo>
                    <a:cubicBezTo>
                      <a:pt x="101507" y="100012"/>
                      <a:pt x="114300" y="87219"/>
                      <a:pt x="114300" y="71438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791325" y="4424362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0" y="42862"/>
                    </a:moveTo>
                    <a:lnTo>
                      <a:pt x="42862" y="0"/>
                    </a:lnTo>
                    <a:lnTo>
                      <a:pt x="85725" y="42862"/>
                    </a:lnTo>
                  </a:path>
                </a:pathLst>
              </a:custGeom>
              <a:noFill/>
              <a:ln w="28575">
                <a:solidFill>
                  <a:schemeClr val="accent3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059168" y="4336732"/>
              <a:ext cx="19220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换任务:快速热插拔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22923" y="4910614"/>
              <a:ext cx="17189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恢复 W₀ 只需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减去 BA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22923" y="5234464"/>
              <a:ext cx="2260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再加上另一任务的 </a:t>
              </a:r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B′A′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即可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22923" y="5558314"/>
              <a:ext cx="26924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内存开销极小,适合多任务在线切换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47" name="TextBox 47"/>
            <p:cNvSpPr txBox="1"/>
            <p:nvPr/>
          </p:nvSpPr>
          <p:spPr>
            <a:xfrm>
              <a:off x="604838" y="6578441"/>
              <a:ext cx="196248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§4.1–4.2 · Hu et al. 2021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4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4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4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4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4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2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4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4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3217016" cy="701611"/>
            <a:chOff x="609600" y="533400"/>
            <a:chExt cx="3217016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26090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只适配注意力权重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29937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APPLYING LoRA TO THE TRANSFORMER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04647" y="1428750"/>
            <a:ext cx="4100703" cy="4790789"/>
            <a:chOff x="604647" y="1428750"/>
            <a:chExt cx="4100703" cy="4790789"/>
          </a:xfrm>
        </p:grpSpPr>
        <p:sp>
          <p:nvSpPr>
            <p:cNvPr id="6" name="Rectangle 6"/>
            <p:cNvSpPr/>
            <p:nvPr/>
          </p:nvSpPr>
          <p:spPr>
            <a:xfrm>
              <a:off x="609600" y="1428750"/>
              <a:ext cx="4095750" cy="4476750"/>
            </a:xfrm>
            <a:prstGeom prst="roundRect">
              <a:avLst>
                <a:gd name="adj" fmla="val 325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28750"/>
              <a:ext cx="4095750" cy="4476750"/>
            </a:xfrm>
            <a:prstGeom prst="roundRect">
              <a:avLst>
                <a:gd name="adj" fmla="val 3255"/>
              </a:avLst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09600" y="1428750"/>
              <a:ext cx="4095750" cy="4476750"/>
            </a:xfrm>
            <a:prstGeom prst="roundRect">
              <a:avLst>
                <a:gd name="adj" fmla="val 3256"/>
              </a:avLst>
            </a:pr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04647" y="6028849"/>
              <a:ext cx="312794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自注意力的 Wq、Wv 各挂一条 LoRA 旁路,MLP 冻结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37023" y="1621631"/>
            <a:ext cx="4271977" cy="985647"/>
            <a:chOff x="5137023" y="1621631"/>
            <a:chExt cx="4271977" cy="985647"/>
          </a:xfrm>
        </p:grpSpPr>
        <p:grpSp>
          <p:nvGrpSpPr>
            <p:cNvPr id="16" name="Group 16"/>
            <p:cNvGrpSpPr/>
            <p:nvPr/>
          </p:nvGrpSpPr>
          <p:grpSpPr>
            <a:xfrm>
              <a:off x="5183981" y="1621631"/>
              <a:ext cx="242889" cy="242889"/>
              <a:chOff x="5183981" y="1621631"/>
              <a:chExt cx="242889" cy="24288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183981" y="1783557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lnTo>
                      <a:pt x="80963" y="53975"/>
                    </a:lnTo>
                    <a:cubicBezTo>
                      <a:pt x="80963" y="68880"/>
                      <a:pt x="68880" y="80963"/>
                      <a:pt x="53975" y="80963"/>
                    </a:cubicBezTo>
                    <a:lnTo>
                      <a:pt x="26988" y="80963"/>
                    </a:lnTo>
                    <a:cubicBezTo>
                      <a:pt x="12083" y="80963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345907" y="1783557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lnTo>
                      <a:pt x="80963" y="53975"/>
                    </a:lnTo>
                    <a:cubicBezTo>
                      <a:pt x="80963" y="68880"/>
                      <a:pt x="68880" y="80963"/>
                      <a:pt x="53975" y="80963"/>
                    </a:cubicBezTo>
                    <a:lnTo>
                      <a:pt x="26988" y="80963"/>
                    </a:lnTo>
                    <a:cubicBezTo>
                      <a:pt x="12083" y="80963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5264944" y="1621631"/>
                <a:ext cx="80963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80963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3" y="12083"/>
                      <a:pt x="80963" y="26988"/>
                    </a:cubicBezTo>
                    <a:lnTo>
                      <a:pt x="80963" y="53975"/>
                    </a:lnTo>
                    <a:cubicBezTo>
                      <a:pt x="80963" y="68880"/>
                      <a:pt x="68880" y="80963"/>
                      <a:pt x="53975" y="80963"/>
                    </a:cubicBezTo>
                    <a:lnTo>
                      <a:pt x="26988" y="80963"/>
                    </a:lnTo>
                    <a:cubicBezTo>
                      <a:pt x="12083" y="80963"/>
                      <a:pt x="0" y="68880"/>
                      <a:pt x="0" y="53975"/>
                    </a:cubicBezTo>
                    <a:lnTo>
                      <a:pt x="0" y="26988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5224463" y="1743075"/>
                <a:ext cx="1619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3" y="0"/>
                      <a:pt x="161925" y="12083"/>
                      <a:pt x="161925" y="26988"/>
                    </a:cubicBezTo>
                    <a:lnTo>
                      <a:pt x="161925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5305425" y="1702594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0"/>
                    </a:moveTo>
                    <a:lnTo>
                      <a:pt x="0" y="40481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574030" y="1666875"/>
              <a:ext cx="2267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范围:四个投影,只动两个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37023" y="2072164"/>
              <a:ext cx="25355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自注意力含 </a:t>
              </a:r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Wq / Wk / Wv / Wo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137023" y="2357914"/>
              <a:ext cx="4271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实验中只适配 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Wq、Wv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,冻结 MLP(为简洁与参数效率)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43500" y="2857500"/>
            <a:ext cx="6438900" cy="1428750"/>
            <a:chOff x="5143500" y="2857500"/>
            <a:chExt cx="64389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5143500" y="2857500"/>
              <a:ext cx="6438900" cy="1428750"/>
            </a:xfrm>
            <a:prstGeom prst="roundRect">
              <a:avLst>
                <a:gd name="adj" fmla="val 9333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85435" y="30980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可训练参数量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1150" y="3390900"/>
              <a:ext cx="4953000" cy="495300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5385816" y="4001452"/>
              <a:ext cx="33832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L_LoRA = 应用 LoRA 的权重矩阵数;只随 r 线性增长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143500" y="4552950"/>
            <a:ext cx="6438900" cy="1352550"/>
            <a:chOff x="5143500" y="4552950"/>
            <a:chExt cx="6438900" cy="1352550"/>
          </a:xfrm>
        </p:grpSpPr>
        <p:sp>
          <p:nvSpPr>
            <p:cNvPr id="26" name="Rectangle 26"/>
            <p:cNvSpPr/>
            <p:nvPr/>
          </p:nvSpPr>
          <p:spPr>
            <a:xfrm>
              <a:off x="5143500" y="4552950"/>
              <a:ext cx="3143250" cy="1352550"/>
            </a:xfrm>
            <a:prstGeom prst="roundRect">
              <a:avLst>
                <a:gd name="adj" fmla="val 985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85435" y="4774406"/>
              <a:ext cx="2162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训练显存 VRAM(GPT-3 175B)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79720" y="5148262"/>
              <a:ext cx="219559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1.2TB </a:t>
              </a:r>
              <a:r>
                <a:rPr lang="en-US" sz="16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22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350GB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85816" y="5582602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约降至原来的 1/3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439150" y="4552950"/>
              <a:ext cx="3143250" cy="1352550"/>
            </a:xfrm>
            <a:prstGeom prst="roundRect">
              <a:avLst>
                <a:gd name="adj" fmla="val 9859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81085" y="4774406"/>
              <a:ext cx="2133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Checkpoint(r=4, 仅 Wq/Wv)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75370" y="5148262"/>
              <a:ext cx="207797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350GB </a:t>
              </a:r>
              <a:r>
                <a:rPr lang="en-US" sz="165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35MB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681466" y="5582602"/>
              <a:ext cx="10637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约 10,000× 缩减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578441"/>
              <a:ext cx="171413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§4.2 · Hu et al. 2021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xmlns:p="http://schemas.openxmlformats.org/presentationml/2006/main" id="14" presetID="22" presetClass="entr" presetSubtype="4" fill="hold" grpId="0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3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90"/>
                            </p:stCondLst>
                            <p:childTnLst>
                              <p:par>
                                <p:cTn xmlns:p="http://schemas.openxmlformats.org/presentationml/2006/main" id="18" presetID="2" presetClass="entr" presetSubtype="4" fill="hold" grpId="0" nodeType="afterEffect">
                                  <p:stCondLst>
                                    <p:cond delay="13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36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36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3463480" cy="701611"/>
            <a:chOff x="609600" y="533400"/>
            <a:chExt cx="3463480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326612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LoRA 的四个关键优势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1794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FOUR KEY ADVANTAGES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04950"/>
            <a:ext cx="5334000" cy="2152650"/>
            <a:chOff x="609600" y="1504950"/>
            <a:chExt cx="5334000" cy="215265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089554" y="165544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900" b="1" dirty="0">
                  <a:solidFill>
                    <a:schemeClr val="accent1">
                      <a:alphaMod val="7000"/>
                    </a:schemeClr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1771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103313" y="1938338"/>
              <a:ext cx="155575" cy="200025"/>
              <a:chOff x="1103313" y="1938338"/>
              <a:chExt cx="155575" cy="20002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03313" y="2005013"/>
                <a:ext cx="15557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33350">
                    <a:moveTo>
                      <a:pt x="33338" y="0"/>
                    </a:moveTo>
                    <a:lnTo>
                      <a:pt x="22225" y="0"/>
                    </a:lnTo>
                    <a:cubicBezTo>
                      <a:pt x="9950" y="0"/>
                      <a:pt x="0" y="9950"/>
                      <a:pt x="0" y="22225"/>
                    </a:cubicBezTo>
                    <a:lnTo>
                      <a:pt x="0" y="111125"/>
                    </a:lnTo>
                    <a:cubicBezTo>
                      <a:pt x="0" y="123400"/>
                      <a:pt x="9950" y="133350"/>
                      <a:pt x="22225" y="133350"/>
                    </a:cubicBezTo>
                    <a:lnTo>
                      <a:pt x="133350" y="133350"/>
                    </a:lnTo>
                    <a:cubicBezTo>
                      <a:pt x="145625" y="133350"/>
                      <a:pt x="155575" y="123400"/>
                      <a:pt x="155575" y="111125"/>
                    </a:cubicBezTo>
                    <a:lnTo>
                      <a:pt x="155575" y="22225"/>
                    </a:lnTo>
                    <a:cubicBezTo>
                      <a:pt x="155575" y="9950"/>
                      <a:pt x="145625" y="0"/>
                      <a:pt x="133350" y="0"/>
                    </a:cubicBezTo>
                    <a:lnTo>
                      <a:pt x="122238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81100" y="1938338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122238"/>
                    </a:moveTo>
                    <a:lnTo>
                      <a:pt x="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7763" y="1938338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33338" y="0"/>
                    </a:lnTo>
                    <a:lnTo>
                      <a:pt x="66675" y="33338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906780" y="25431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可共享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638" y="2825591"/>
              <a:ext cx="18847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ONE BASE · MANY MODULES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8685" y="3098006"/>
              <a:ext cx="26048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一个预训练底座 + 多个小 LoRA 模块;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685" y="3307556"/>
              <a:ext cx="2593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换任务只需替换 </a:t>
              </a:r>
              <a:r>
                <a:rPr lang="zh-CN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A、B</a:t>
              </a: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,显著降低存储。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48400" y="1504950"/>
            <a:ext cx="5334000" cy="2152650"/>
            <a:chOff x="6248400" y="1504950"/>
            <a:chExt cx="5334000" cy="2152650"/>
          </a:xfrm>
        </p:grpSpPr>
        <p:sp>
          <p:nvSpPr>
            <p:cNvPr id="18" name="Rectangle 18"/>
            <p:cNvSpPr/>
            <p:nvPr/>
          </p:nvSpPr>
          <p:spPr>
            <a:xfrm>
              <a:off x="62484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728354" y="165544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900" b="1" dirty="0">
                  <a:solidFill>
                    <a:schemeClr val="accent3">
                      <a:alphaMod val="8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53200" y="177165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742113" y="1938338"/>
              <a:ext cx="155575" cy="200026"/>
            </a:xfrm>
            <a:custGeom>
              <a:avLst/>
              <a:gdLst/>
              <a:ahLst/>
              <a:cxnLst/>
              <a:rect l="l" t="t" r="r" b="b"/>
              <a:pathLst>
                <a:path w="155575" h="200026">
                  <a:moveTo>
                    <a:pt x="88900" y="0"/>
                  </a:moveTo>
                  <a:lnTo>
                    <a:pt x="88900" y="77788"/>
                  </a:lnTo>
                  <a:lnTo>
                    <a:pt x="155575" y="77788"/>
                  </a:lnTo>
                  <a:lnTo>
                    <a:pt x="66675" y="200026"/>
                  </a:lnTo>
                  <a:lnTo>
                    <a:pt x="66675" y="122238"/>
                  </a:lnTo>
                  <a:lnTo>
                    <a:pt x="0" y="122238"/>
                  </a:lnTo>
                  <a:lnTo>
                    <a:pt x="88900" y="0"/>
                  </a:lnTo>
                </a:path>
              </a:pathLst>
            </a:custGeom>
            <a:noFill/>
            <a:ln w="22225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45580" y="25431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高效训练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48438" y="2825591"/>
              <a:ext cx="180757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12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LOWER HARDWARE BARRIER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47485" y="3098006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无需为冻结参数存梯度与优化器状态;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47485" y="3307556"/>
              <a:ext cx="15877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硬件门槛最高降低 </a:t>
              </a:r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3×</a:t>
              </a: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09600" y="3886200"/>
            <a:ext cx="5334000" cy="2152650"/>
            <a:chOff x="609600" y="3886200"/>
            <a:chExt cx="5334000" cy="2152650"/>
          </a:xfrm>
        </p:grpSpPr>
        <p:sp>
          <p:nvSpPr>
            <p:cNvPr id="27" name="Rectangle 27"/>
            <p:cNvSpPr/>
            <p:nvPr/>
          </p:nvSpPr>
          <p:spPr>
            <a:xfrm>
              <a:off x="6096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089554" y="40366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900" b="1" dirty="0">
                  <a:solidFill>
                    <a:schemeClr val="accent2">
                      <a:alphaMod val="10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14400" y="4152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81088" y="4319588"/>
              <a:ext cx="200026" cy="200026"/>
              <a:chOff x="1081088" y="4319588"/>
              <a:chExt cx="200026" cy="200026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1081088" y="43195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1169988" y="44084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196769" y="4375150"/>
                <a:ext cx="28781" cy="28781"/>
              </a:xfrm>
              <a:custGeom>
                <a:avLst/>
                <a:gdLst/>
                <a:ahLst/>
                <a:cxnLst/>
                <a:rect l="l" t="t" r="r" b="b"/>
                <a:pathLst>
                  <a:path w="28781" h="28781">
                    <a:moveTo>
                      <a:pt x="0" y="28781"/>
                    </a:moveTo>
                    <a:lnTo>
                      <a:pt x="28781" y="0"/>
                    </a:ln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25538" y="4364038"/>
                <a:ext cx="55563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3" h="55563">
                    <a:moveTo>
                      <a:pt x="0" y="55563"/>
                    </a:moveTo>
                    <a:cubicBezTo>
                      <a:pt x="0" y="24876"/>
                      <a:pt x="24876" y="0"/>
                      <a:pt x="55563" y="0"/>
                    </a:cubicBezTo>
                  </a:path>
                </a:pathLst>
              </a:custGeom>
              <a:noFill/>
              <a:ln w="22225">
                <a:solidFill>
                  <a:schemeClr val="accent2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06780" y="4924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零推理延迟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9638" y="5206841"/>
              <a:ext cx="206112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12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 ADDED INFERENCE LATENCY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8685" y="5479256"/>
              <a:ext cx="17160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部署时合并 W = W₀+BA;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685" y="568880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与全量微调模型</a:t>
              </a:r>
              <a:r>
                <a:rPr lang="zh-CN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同构、不增延迟</a:t>
              </a: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48400" y="3886200"/>
            <a:ext cx="5334000" cy="2152650"/>
            <a:chOff x="6248400" y="3886200"/>
            <a:chExt cx="5334000" cy="2152650"/>
          </a:xfrm>
        </p:grpSpPr>
        <p:sp>
          <p:nvSpPr>
            <p:cNvPr id="40" name="Rectangle 40"/>
            <p:cNvSpPr/>
            <p:nvPr/>
          </p:nvSpPr>
          <p:spPr>
            <a:xfrm>
              <a:off x="62484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728354" y="4036695"/>
              <a:ext cx="644496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3900" b="1" dirty="0">
                  <a:solidFill>
                    <a:schemeClr val="accent1">
                      <a:alphaMod val="7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53200" y="4152900"/>
              <a:ext cx="533400" cy="5334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6719888" y="4319588"/>
              <a:ext cx="200026" cy="200026"/>
            </a:xfrm>
            <a:custGeom>
              <a:avLst/>
              <a:gdLst/>
              <a:ahLst/>
              <a:cxnLst/>
              <a:rect l="l" t="t" r="r" b="b"/>
              <a:pathLst>
                <a:path w="200026" h="200026">
                  <a:moveTo>
                    <a:pt x="11113" y="44450"/>
                  </a:moveTo>
                  <a:lnTo>
                    <a:pt x="44450" y="44450"/>
                  </a:lnTo>
                  <a:cubicBezTo>
                    <a:pt x="50587" y="44450"/>
                    <a:pt x="55563" y="39475"/>
                    <a:pt x="55563" y="33338"/>
                  </a:cubicBezTo>
                  <a:lnTo>
                    <a:pt x="55563" y="22225"/>
                  </a:lnTo>
                  <a:cubicBezTo>
                    <a:pt x="55563" y="9950"/>
                    <a:pt x="65513" y="0"/>
                    <a:pt x="77788" y="0"/>
                  </a:cubicBezTo>
                  <a:cubicBezTo>
                    <a:pt x="90062" y="0"/>
                    <a:pt x="100013" y="9950"/>
                    <a:pt x="100013" y="22225"/>
                  </a:cubicBezTo>
                  <a:lnTo>
                    <a:pt x="100013" y="33338"/>
                  </a:lnTo>
                  <a:cubicBezTo>
                    <a:pt x="100013" y="39475"/>
                    <a:pt x="104988" y="44450"/>
                    <a:pt x="111125" y="44450"/>
                  </a:cubicBezTo>
                  <a:lnTo>
                    <a:pt x="144463" y="44450"/>
                  </a:lnTo>
                  <a:cubicBezTo>
                    <a:pt x="150600" y="44450"/>
                    <a:pt x="155575" y="49425"/>
                    <a:pt x="155575" y="55563"/>
                  </a:cubicBezTo>
                  <a:lnTo>
                    <a:pt x="155575" y="88900"/>
                  </a:lnTo>
                  <a:cubicBezTo>
                    <a:pt x="155575" y="95038"/>
                    <a:pt x="160551" y="100013"/>
                    <a:pt x="166688" y="100013"/>
                  </a:cubicBezTo>
                  <a:lnTo>
                    <a:pt x="177801" y="100013"/>
                  </a:lnTo>
                  <a:cubicBezTo>
                    <a:pt x="190075" y="100013"/>
                    <a:pt x="200026" y="109963"/>
                    <a:pt x="200026" y="122238"/>
                  </a:cubicBezTo>
                  <a:cubicBezTo>
                    <a:pt x="200026" y="134512"/>
                    <a:pt x="190075" y="144463"/>
                    <a:pt x="177801" y="144463"/>
                  </a:cubicBezTo>
                  <a:lnTo>
                    <a:pt x="166688" y="144463"/>
                  </a:lnTo>
                  <a:cubicBezTo>
                    <a:pt x="160551" y="144463"/>
                    <a:pt x="155575" y="149438"/>
                    <a:pt x="155575" y="155575"/>
                  </a:cubicBezTo>
                  <a:lnTo>
                    <a:pt x="155575" y="188913"/>
                  </a:lnTo>
                  <a:cubicBezTo>
                    <a:pt x="155575" y="195050"/>
                    <a:pt x="150600" y="200026"/>
                    <a:pt x="144463" y="200026"/>
                  </a:cubicBezTo>
                  <a:lnTo>
                    <a:pt x="111125" y="200026"/>
                  </a:lnTo>
                  <a:cubicBezTo>
                    <a:pt x="104988" y="200026"/>
                    <a:pt x="100013" y="195050"/>
                    <a:pt x="100013" y="188913"/>
                  </a:cubicBezTo>
                  <a:lnTo>
                    <a:pt x="100013" y="177801"/>
                  </a:lnTo>
                  <a:cubicBezTo>
                    <a:pt x="100013" y="165526"/>
                    <a:pt x="90062" y="155575"/>
                    <a:pt x="77788" y="155575"/>
                  </a:cubicBezTo>
                  <a:cubicBezTo>
                    <a:pt x="65513" y="155575"/>
                    <a:pt x="55563" y="165526"/>
                    <a:pt x="55563" y="177801"/>
                  </a:cubicBezTo>
                  <a:lnTo>
                    <a:pt x="55563" y="188913"/>
                  </a:lnTo>
                  <a:cubicBezTo>
                    <a:pt x="55563" y="195050"/>
                    <a:pt x="50587" y="200026"/>
                    <a:pt x="44450" y="200026"/>
                  </a:cubicBezTo>
                  <a:lnTo>
                    <a:pt x="11113" y="200026"/>
                  </a:lnTo>
                  <a:cubicBezTo>
                    <a:pt x="4975" y="200026"/>
                    <a:pt x="0" y="195050"/>
                    <a:pt x="0" y="188913"/>
                  </a:cubicBezTo>
                  <a:lnTo>
                    <a:pt x="0" y="155575"/>
                  </a:lnTo>
                  <a:cubicBezTo>
                    <a:pt x="0" y="149438"/>
                    <a:pt x="4975" y="144463"/>
                    <a:pt x="11113" y="144463"/>
                  </a:cubicBezTo>
                  <a:lnTo>
                    <a:pt x="22225" y="144463"/>
                  </a:lnTo>
                  <a:cubicBezTo>
                    <a:pt x="34500" y="144463"/>
                    <a:pt x="44450" y="134512"/>
                    <a:pt x="44450" y="122238"/>
                  </a:cubicBezTo>
                  <a:cubicBezTo>
                    <a:pt x="44450" y="109963"/>
                    <a:pt x="34500" y="100013"/>
                    <a:pt x="22225" y="100013"/>
                  </a:cubicBezTo>
                  <a:lnTo>
                    <a:pt x="11113" y="100013"/>
                  </a:lnTo>
                  <a:cubicBezTo>
                    <a:pt x="4975" y="100013"/>
                    <a:pt x="0" y="95038"/>
                    <a:pt x="0" y="88900"/>
                  </a:cubicBezTo>
                  <a:lnTo>
                    <a:pt x="0" y="55563"/>
                  </a:lnTo>
                  <a:cubicBezTo>
                    <a:pt x="0" y="49425"/>
                    <a:pt x="4975" y="44450"/>
                    <a:pt x="11113" y="44450"/>
                  </a:cubicBezTo>
                </a:path>
              </a:pathLst>
            </a:custGeom>
            <a:noFill/>
            <a:ln w="22225">
              <a:solidFill>
                <a:schemeClr val="accent1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45580" y="49244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正交可叠加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48438" y="5206841"/>
              <a:ext cx="19949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b="1" spc="112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ORTHOGONAL · COMPOSABLE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47485" y="547925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与许多既有方法正交,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47485" y="5688806"/>
              <a:ext cx="2360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可与 </a:t>
              </a:r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prefix-tuning</a:t>
              </a:r>
              <a:r>
                <a:rPr lang="zh-CN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等组合使用。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49" name="TextBox 49"/>
            <p:cNvSpPr txBox="1"/>
            <p:nvPr/>
          </p:nvSpPr>
          <p:spPr>
            <a:xfrm>
              <a:off x="604838" y="6578441"/>
              <a:ext cx="193426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§1, §4.1 · Hu et al. 2021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xmlns:p="http://schemas.openxmlformats.org/presentationml/2006/main" id="10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20"/>
                            </p:stCondLst>
                            <p:childTnLst>
                              <p:par>
                                <p:cTn xmlns:p="http://schemas.openxmlformats.org/presentationml/2006/main" id="15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140"/>
                            </p:stCondLst>
                            <p:childTnLst>
                              <p:par>
                                <p:cTn xmlns:p="http://schemas.openxmlformats.org/presentationml/2006/main" id="20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4563915" cy="701611"/>
            <a:chOff x="609600" y="533400"/>
            <a:chExt cx="4563915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416589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Adapter 增延迟,LoRA 不增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43406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GPT-2 MEDIUM 单次前向延迟增幅(100 次平均, RTX8000)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0500" y="1428750"/>
            <a:ext cx="3622959" cy="241459"/>
            <a:chOff x="7810500" y="1428750"/>
            <a:chExt cx="3622959" cy="241459"/>
          </a:xfrm>
        </p:grpSpPr>
        <p:sp>
          <p:nvSpPr>
            <p:cNvPr id="6" name="Rectangle 6"/>
            <p:cNvSpPr/>
            <p:nvPr/>
          </p:nvSpPr>
          <p:spPr>
            <a:xfrm>
              <a:off x="7810500" y="142875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C97C7"/>
                </a:gs>
                <a:gs pos="100000">
                  <a:schemeClr val="accent3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052435" y="1450181"/>
              <a:ext cx="730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Adapter L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0" y="1428750"/>
              <a:ext cx="171450" cy="17145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EE946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385935" y="1450181"/>
              <a:ext cx="730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Adapter H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477500" y="1428750"/>
              <a:ext cx="171450" cy="571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719435" y="1450181"/>
              <a:ext cx="7140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LoRA / FT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59546" y="1714500"/>
            <a:ext cx="10179954" cy="4010406"/>
            <a:chOff x="1059546" y="1714500"/>
            <a:chExt cx="10179954" cy="4010406"/>
          </a:xfrm>
        </p:grpSpPr>
        <p:sp>
          <p:nvSpPr>
            <p:cNvPr id="13" name="Line 13"/>
            <p:cNvSpPr/>
            <p:nvPr/>
          </p:nvSpPr>
          <p:spPr>
            <a:xfrm>
              <a:off x="1524000" y="222885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  <p:sp>
          <p:nvSpPr>
            <p:cNvPr id="14" name="Line 14"/>
            <p:cNvSpPr/>
            <p:nvPr/>
          </p:nvSpPr>
          <p:spPr>
            <a:xfrm>
              <a:off x="1524000" y="32670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  <p:sp>
          <p:nvSpPr>
            <p:cNvPr id="15" name="Line 15"/>
            <p:cNvSpPr/>
            <p:nvPr/>
          </p:nvSpPr>
          <p:spPr>
            <a:xfrm>
              <a:off x="1524000" y="4295775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  <a:prstDash val="dash"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59546" y="2171224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+30%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9546" y="3209449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+20%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9546" y="4238149"/>
              <a:ext cx="3265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+10%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03612" y="5276374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524000" y="171450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19050">
              <a:solidFill>
                <a:srgbClr val="8A94A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524000" y="5334000"/>
              <a:ext cx="9715500" cy="9525"/>
            </a:xfrm>
            <a:custGeom>
              <a:avLst/>
              <a:gdLst/>
              <a:ahLst/>
              <a:cxnLst/>
              <a:rect l="l" t="t" r="r" b="b"/>
              <a:pathLst>
                <a:path w="9715500" h="9525">
                  <a:moveTo>
                    <a:pt x="0" y="0"/>
                  </a:moveTo>
                  <a:lnTo>
                    <a:pt x="9715500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67000" y="5105400"/>
              <a:ext cx="723900" cy="228600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5C97C7"/>
                </a:gs>
                <a:gs pos="100000">
                  <a:schemeClr val="accent3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04699" y="4915852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+2.2%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486150" y="5019675"/>
              <a:ext cx="723900" cy="314325"/>
            </a:xfrm>
            <a:prstGeom prst="roundRect">
              <a:avLst>
                <a:gd name="adj" fmla="val 12121"/>
              </a:avLst>
            </a:prstGeom>
            <a:gradFill>
              <a:gsLst>
                <a:gs pos="0">
                  <a:srgbClr val="EE946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23849" y="4830128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+3.0%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35021" y="5490210"/>
              <a:ext cx="12070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配置 A · 长序列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715000" y="4819650"/>
              <a:ext cx="723900" cy="514350"/>
            </a:xfrm>
            <a:prstGeom prst="roundRect">
              <a:avLst>
                <a:gd name="adj" fmla="val 7407"/>
              </a:avLst>
            </a:prstGeom>
            <a:gradFill>
              <a:gsLst>
                <a:gs pos="0">
                  <a:srgbClr val="5C97C7"/>
                </a:gs>
                <a:gs pos="100000">
                  <a:schemeClr val="accent3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852699" y="4630102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+5.0%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534150" y="4467225"/>
              <a:ext cx="723900" cy="86677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EE946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671849" y="4277678"/>
              <a:ext cx="448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+8.4%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968365" y="5490210"/>
              <a:ext cx="1036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配置 B · 中等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763000" y="3190875"/>
              <a:ext cx="723900" cy="214312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5C97C7"/>
                </a:gs>
                <a:gs pos="100000">
                  <a:schemeClr val="accent3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59884" y="3001328"/>
              <a:ext cx="530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+20.7%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582150" y="2200275"/>
              <a:ext cx="723900" cy="3133725"/>
            </a:xfrm>
            <a:prstGeom prst="roundRect">
              <a:avLst>
                <a:gd name="adj" fmla="val 5263"/>
              </a:avLst>
            </a:prstGeom>
            <a:gradFill>
              <a:gsLst>
                <a:gs pos="0">
                  <a:srgbClr val="EE9461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79034" y="2010728"/>
              <a:ext cx="530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+30.3%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713394" y="5490210"/>
              <a:ext cx="16422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配置 C · 短序列·在线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613916" y="5744528"/>
            <a:ext cx="9631299" cy="259556"/>
            <a:chOff x="1613916" y="5744528"/>
            <a:chExt cx="9631299" cy="259556"/>
          </a:xfrm>
        </p:grpSpPr>
        <p:sp>
          <p:nvSpPr>
            <p:cNvPr id="38" name="TextBox 38"/>
            <p:cNvSpPr txBox="1"/>
            <p:nvPr/>
          </p:nvSpPr>
          <p:spPr>
            <a:xfrm>
              <a:off x="1613916" y="5744528"/>
              <a:ext cx="29754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LoRA / FT 基线 = 0% 额外延迟(合并权重后)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87488" y="5784056"/>
              <a:ext cx="3457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序列越短、batch 越小,Adapter 的延迟代价越突出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41" name="TextBox 41"/>
            <p:cNvSpPr txBox="1"/>
            <p:nvPr/>
          </p:nvSpPr>
          <p:spPr>
            <a:xfrm>
              <a:off x="604838" y="6578441"/>
              <a:ext cx="1837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Table 1 · Hu et al. 2021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"/>
                            </p:stCondLst>
                            <p:childTnLst>
                              <p:par>
                                <p:cTn xmlns:p="http://schemas.openxmlformats.org/presentationml/2006/main" id="8" presetID="22" presetClass="entr" presetSubtype="4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90"/>
                            </p:stCondLst>
                            <p:childTnLst>
                              <p:par>
                                <p:cTn xmlns:p="http://schemas.openxmlformats.org/presentationml/2006/main" id="12" presetID="10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2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4933721" cy="701611"/>
            <a:chOff x="609600" y="533400"/>
            <a:chExt cx="4933721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43683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 NLU 到 NLG 的四类模型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4710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EVALUATION SETUP · ROBERTA / DEBERTA / GPT-2 / GPT-3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09600" y="1504950"/>
            <a:ext cx="10972800" cy="3733800"/>
            <a:chOff x="609600" y="1504950"/>
            <a:chExt cx="10972800" cy="373380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10972800" cy="3733800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09600" y="1504950"/>
              <a:ext cx="10972800" cy="3733800"/>
              <a:chOff x="609600" y="1504950"/>
              <a:chExt cx="10972800" cy="37338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609600" y="1504950"/>
                <a:ext cx="10972800" cy="5334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609600" y="20383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833247" y="1733074"/>
                <a:ext cx="86833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模型 MODEL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4873409" y="1733074"/>
                <a:ext cx="42588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spc="75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参数量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319647" y="1733074"/>
                <a:ext cx="12037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基准 BENCHMARK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9325921" y="1733074"/>
                <a:ext cx="2838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spc="75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205468" y="1733074"/>
                <a:ext cx="115328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b="1" spc="75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LoRA 可训练参数</a:t>
                </a:r>
              </a:p>
            </p:txBody>
          </p:sp>
          <p:sp>
            <p:nvSpPr>
              <p:cNvPr id="14" name="Line 14"/>
              <p:cNvSpPr/>
              <p:nvPr/>
            </p:nvSpPr>
            <p:spPr>
              <a:xfrm>
                <a:off x="461010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94360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870585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10229850" y="1504950"/>
                <a:ext cx="9525" cy="37338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733800">
                    <a:moveTo>
                      <a:pt x="0" y="0"/>
                    </a:moveTo>
                    <a:lnTo>
                      <a:pt x="0" y="3733800"/>
                    </a:lnTo>
                  </a:path>
                </a:pathLst>
              </a:custGeom>
              <a:noFill/>
              <a:ln w="14288">
                <a:solidFill>
                  <a:schemeClr val="accent4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609600" y="267652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32104" y="2308860"/>
                <a:ext cx="11169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RoBERTa base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889464" y="2316956"/>
                <a:ext cx="3937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125M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166485" y="2316956"/>
                <a:ext cx="3619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GLUE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330705" y="2316956"/>
                <a:ext cx="2742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NLU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946627" y="2316956"/>
                <a:ext cx="4128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0.3M</a:t>
                </a:r>
              </a:p>
            </p:txBody>
          </p:sp>
          <p:sp>
            <p:nvSpPr>
              <p:cNvPr id="24" name="Line 24"/>
              <p:cNvSpPr/>
              <p:nvPr/>
            </p:nvSpPr>
            <p:spPr>
              <a:xfrm>
                <a:off x="609600" y="33147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32104" y="2947035"/>
                <a:ext cx="1166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RoBERTa large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889464" y="2955131"/>
                <a:ext cx="3937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355M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166485" y="2955131"/>
                <a:ext cx="3619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GLUE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330705" y="2955131"/>
                <a:ext cx="2742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NLU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946627" y="2955131"/>
                <a:ext cx="4128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0.8M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609600" y="3952875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32104" y="3585210"/>
                <a:ext cx="10405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DeBERTa XXL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905395" y="3593306"/>
                <a:ext cx="3619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1.5B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166485" y="3593306"/>
                <a:ext cx="36190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GLUE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330705" y="3593306"/>
                <a:ext cx="2742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NLU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0946627" y="3593306"/>
                <a:ext cx="41288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4.7M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609600" y="459105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32104" y="4223385"/>
                <a:ext cx="113553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GPT-2 medium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889464" y="4231481"/>
                <a:ext cx="39377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354M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166485" y="4231481"/>
                <a:ext cx="58494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E2E NLG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330705" y="4231481"/>
                <a:ext cx="27429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NLG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854626" y="4231481"/>
                <a:ext cx="50488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0.35M</a:t>
                </a: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609600" y="4591050"/>
                <a:ext cx="10972800" cy="647700"/>
              </a:xfrm>
              <a:prstGeom prst="rect">
                <a:avLst/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832104" y="4861560"/>
                <a:ext cx="50505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GPT-3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896633" y="4869656"/>
                <a:ext cx="3794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175B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166485" y="4869656"/>
                <a:ext cx="18773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WikiSQL · MNLI · SAMSum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155466" y="4869656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NLU+NLG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10486623" y="4869656"/>
                <a:ext cx="87289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4.7–37.7M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75188" y="5576888"/>
            <a:ext cx="8655502" cy="281368"/>
            <a:chOff x="675188" y="5576888"/>
            <a:chExt cx="8655502" cy="281368"/>
          </a:xfrm>
        </p:grpSpPr>
        <p:grpSp>
          <p:nvGrpSpPr>
            <p:cNvPr id="53" name="Group 53"/>
            <p:cNvGrpSpPr/>
            <p:nvPr/>
          </p:nvGrpSpPr>
          <p:grpSpPr>
            <a:xfrm>
              <a:off x="675188" y="5576888"/>
              <a:ext cx="135524" cy="200026"/>
              <a:chOff x="675188" y="5576888"/>
              <a:chExt cx="135524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09613" y="5576888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0725" y="5643563"/>
                <a:ext cx="44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9525">
                    <a:moveTo>
                      <a:pt x="0" y="0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5188" y="5576888"/>
                <a:ext cx="13552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5524" h="200026">
                    <a:moveTo>
                      <a:pt x="45537" y="0"/>
                    </a:moveTo>
                    <a:lnTo>
                      <a:pt x="45537" y="66675"/>
                    </a:lnTo>
                    <a:lnTo>
                      <a:pt x="1087" y="188913"/>
                    </a:lnTo>
                    <a:cubicBezTo>
                      <a:pt x="0" y="191100"/>
                      <a:pt x="3" y="193670"/>
                      <a:pt x="1095" y="195854"/>
                    </a:cubicBezTo>
                    <a:cubicBezTo>
                      <a:pt x="2187" y="198039"/>
                      <a:pt x="4242" y="199583"/>
                      <a:pt x="6643" y="200026"/>
                    </a:cubicBezTo>
                    <a:lnTo>
                      <a:pt x="128881" y="200026"/>
                    </a:lnTo>
                    <a:cubicBezTo>
                      <a:pt x="131283" y="199583"/>
                      <a:pt x="133337" y="198039"/>
                      <a:pt x="134429" y="195854"/>
                    </a:cubicBezTo>
                    <a:cubicBezTo>
                      <a:pt x="135521" y="193670"/>
                      <a:pt x="135524" y="191100"/>
                      <a:pt x="134437" y="188913"/>
                    </a:cubicBezTo>
                    <a:lnTo>
                      <a:pt x="89987" y="66675"/>
                    </a:lnTo>
                    <a:lnTo>
                      <a:pt x="89987" y="0"/>
                    </a:lnTo>
                  </a:path>
                </a:pathLst>
              </a:custGeom>
              <a:noFill/>
              <a:ln w="22225">
                <a:solidFill>
                  <a:schemeClr val="accent1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65454" y="5623560"/>
              <a:ext cx="83652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对比基线:Fine-Tuning(FT)、BitFit、PreEmbed / PreLayer、Adapter H / L / P / D —— 尽可能复用前作报告数值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56" name="TextBox 56"/>
            <p:cNvSpPr txBox="1"/>
            <p:nvPr/>
          </p:nvSpPr>
          <p:spPr>
            <a:xfrm>
              <a:off x="604838" y="6578441"/>
              <a:ext cx="18383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§5–5.1 · Hu et al. 2021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4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4250489" cy="701611"/>
            <a:chOff x="609600" y="533400"/>
            <a:chExt cx="4250489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31187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更少参数,持平或更优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4027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GLUE BENCHMARK · OVERALL AVG SCORE(越高越好)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09600" y="1628299"/>
            <a:ext cx="10972800" cy="3515201"/>
            <a:chOff x="609600" y="1628299"/>
            <a:chExt cx="10972800" cy="3515201"/>
          </a:xfrm>
        </p:grpSpPr>
        <p:grpSp>
          <p:nvGrpSpPr>
            <p:cNvPr id="57" name="Group 57"/>
            <p:cNvGrpSpPr/>
            <p:nvPr/>
          </p:nvGrpSpPr>
          <p:grpSpPr>
            <a:xfrm>
              <a:off x="609600" y="1628299"/>
              <a:ext cx="10972800" cy="3515201"/>
              <a:chOff x="609600" y="1628299"/>
              <a:chExt cx="10972800" cy="3515201"/>
            </a:xfrm>
          </p:grpSpPr>
          <p:sp>
            <p:nvSpPr>
              <p:cNvPr id="6" name="Line 6"/>
              <p:cNvSpPr/>
              <p:nvPr/>
            </p:nvSpPr>
            <p:spPr>
              <a:xfrm>
                <a:off x="609600" y="1866900"/>
                <a:ext cx="1097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972800" h="9525">
                    <a:moveTo>
                      <a:pt x="0" y="0"/>
                    </a:moveTo>
                    <a:lnTo>
                      <a:pt x="10972800" y="0"/>
                    </a:lnTo>
                  </a:path>
                </a:pathLst>
              </a:custGeom>
              <a:noFill/>
              <a:ln w="19050">
                <a:solidFill>
                  <a:schemeClr val="accent4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95147" y="1628299"/>
                <a:ext cx="2838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模型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4563421" y="1628299"/>
                <a:ext cx="28385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80" b="1" spc="75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方法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6434185" y="1628299"/>
                <a:ext cx="84786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b="1" spc="75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# 可训练参数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018806" y="1628299"/>
                <a:ext cx="69199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980" b="1" spc="75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GLUE AVG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9177147" y="1628299"/>
                <a:ext cx="7404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spc="75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得分(视觉)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94004" y="2175510"/>
                <a:ext cx="11169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RoBERTa base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4229100" y="21336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19896" y="2199799"/>
                <a:ext cx="1709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861353" y="2175510"/>
                <a:ext cx="4218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125M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344357" y="217551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86.4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9182100" y="21907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9182100" y="2190750"/>
                <a:ext cx="685800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609600" y="247650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94004" y="2670810"/>
                <a:ext cx="111699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RoBERTa base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229100" y="26289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541552" y="2695099"/>
                <a:ext cx="3275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LoRA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840870" y="2670810"/>
                <a:ext cx="4423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0.3M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26587" y="267081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87.2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9182100" y="26860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6" name="Rectangle 26"/>
              <p:cNvSpPr/>
              <p:nvPr/>
            </p:nvSpPr>
            <p:spPr>
              <a:xfrm>
                <a:off x="9182100" y="2686050"/>
                <a:ext cx="914400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94004" y="3261360"/>
                <a:ext cx="1166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RoBERTa large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4229100" y="321945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619896" y="3285649"/>
                <a:ext cx="1709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FT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861353" y="3261360"/>
                <a:ext cx="4218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355M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44357" y="326136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88.9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9182100" y="327660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9182100" y="3276600"/>
                <a:ext cx="140017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609600" y="356235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94004" y="3756660"/>
                <a:ext cx="1166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RoBERTa large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4229100" y="371475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4541552" y="3780949"/>
                <a:ext cx="3275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LoRA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840870" y="3756660"/>
                <a:ext cx="4423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0.8M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326587" y="375666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89.0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9182100" y="377190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9182100" y="3771900"/>
                <a:ext cx="1428750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</a:gra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94004" y="4347210"/>
                <a:ext cx="10405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DeBERTa XXL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4229100" y="43053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4619896" y="4371499"/>
                <a:ext cx="170907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FT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767474" y="4347210"/>
                <a:ext cx="5157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1500M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344357" y="4347210"/>
                <a:ext cx="3675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91.1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9182100" y="43624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9182100" y="4362450"/>
                <a:ext cx="2028825" cy="133350"/>
              </a:xfrm>
              <a:prstGeom prst="roundRect">
                <a:avLst>
                  <a:gd name="adj" fmla="val 50000"/>
                </a:avLst>
              </a:prstGeom>
              <a:solidFill>
                <a:srgbClr val="8A94A1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609600" y="4648200"/>
                <a:ext cx="10972800" cy="495300"/>
              </a:xfrm>
              <a:prstGeom prst="roundRect">
                <a:avLst>
                  <a:gd name="adj" fmla="val 11538"/>
                </a:avLst>
              </a:prstGeom>
              <a:solidFill>
                <a:srgbClr val="FBF0E9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94004" y="4842510"/>
                <a:ext cx="10405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DeBERTa XXL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4229100" y="4800600"/>
                <a:ext cx="952500" cy="2476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4541552" y="4866799"/>
                <a:ext cx="32759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LoRA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840870" y="4842510"/>
                <a:ext cx="4423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4.7M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326587" y="4842510"/>
                <a:ext cx="38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20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91.3</a:t>
                </a: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9182100" y="4857750"/>
                <a:ext cx="2286000" cy="13335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9182100" y="4857750"/>
                <a:ext cx="2085975" cy="13335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accent3"/>
                  </a:gs>
                  <a:gs pos="100000">
                    <a:schemeClr val="accent1"/>
                  </a:gs>
                </a:gsLst>
                <a:lin ang="0" scaled="1"/>
              </a:gradFill>
              <a:ln>
                <a:noFill/>
              </a:ln>
            </p:spPr>
          </p:sp>
        </p:grpSp>
      </p:grpSp>
      <p:grpSp>
        <p:nvGrpSpPr>
          <p:cNvPr id="64" name="Group 64"/>
          <p:cNvGrpSpPr/>
          <p:nvPr/>
        </p:nvGrpSpPr>
        <p:grpSpPr>
          <a:xfrm>
            <a:off x="609600" y="5391150"/>
            <a:ext cx="10972800" cy="533400"/>
            <a:chOff x="609600" y="5391150"/>
            <a:chExt cx="10972800" cy="533400"/>
          </a:xfrm>
        </p:grpSpPr>
        <p:sp>
          <p:nvSpPr>
            <p:cNvPr id="59" name="Rectangle 59"/>
            <p:cNvSpPr/>
            <p:nvPr/>
          </p:nvSpPr>
          <p:spPr>
            <a:xfrm>
              <a:off x="609600" y="5391150"/>
              <a:ext cx="10972800" cy="533400"/>
            </a:xfrm>
            <a:prstGeom prst="roundRect">
              <a:avLst>
                <a:gd name="adj" fmla="val 17857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38200" y="5543550"/>
              <a:ext cx="228599" cy="228599"/>
              <a:chOff x="838200" y="5543550"/>
              <a:chExt cx="228599" cy="228599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838200" y="5543550"/>
                <a:ext cx="228599" cy="228599"/>
              </a:xfrm>
              <a:custGeom>
                <a:avLst/>
                <a:gdLst/>
                <a:ahLst/>
                <a:cxnLst/>
                <a:rect l="l" t="t" r="r" b="b"/>
                <a:pathLst>
                  <a:path w="228599" h="228599">
                    <a:moveTo>
                      <a:pt x="0" y="114300"/>
                    </a:moveTo>
                    <a:cubicBezTo>
                      <a:pt x="0" y="177426"/>
                      <a:pt x="51174" y="228599"/>
                      <a:pt x="114300" y="228599"/>
                    </a:cubicBezTo>
                    <a:cubicBezTo>
                      <a:pt x="177426" y="228599"/>
                      <a:pt x="228599" y="177426"/>
                      <a:pt x="228599" y="114300"/>
                    </a:cubicBezTo>
                    <a:cubicBezTo>
                      <a:pt x="228599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14400" y="56324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6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212723" y="5577364"/>
              <a:ext cx="70396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三类模型上,LoRA 用</a:t>
              </a:r>
              <a:r>
                <a:rPr lang="en-US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 xml:space="preserve"> 1/300 ~ 1/400 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的可训练参数,GLUE 平均分</a:t>
              </a:r>
              <a:r>
                <a:rPr lang="zh-CN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持平甚至略优于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全量微调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65" name="TextBox 65"/>
            <p:cNvSpPr txBox="1"/>
            <p:nvPr/>
          </p:nvSpPr>
          <p:spPr>
            <a:xfrm>
              <a:off x="604838" y="6578441"/>
              <a:ext cx="183718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Table 2 · Hu et al. 2021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28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3956395" cy="701611"/>
            <a:chOff x="609600" y="533400"/>
            <a:chExt cx="3956395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375903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在 175B 尺度上仍然成立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29363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GPT-3 175B · 关键指标(对比全量微调)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09600" y="1504950"/>
            <a:ext cx="5334000" cy="2152650"/>
            <a:chOff x="609600" y="1504950"/>
            <a:chExt cx="5334000" cy="2152650"/>
          </a:xfrm>
        </p:grpSpPr>
        <p:sp>
          <p:nvSpPr>
            <p:cNvPr id="6" name="Rectangle 6"/>
            <p:cNvSpPr/>
            <p:nvPr/>
          </p:nvSpPr>
          <p:spPr>
            <a:xfrm>
              <a:off x="6096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50495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9525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FBF0E9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117600" y="1926431"/>
              <a:ext cx="165099" cy="185737"/>
              <a:chOff x="1117600" y="1926431"/>
              <a:chExt cx="165099" cy="18573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117600" y="1926431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17600" y="1957387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17600" y="2019300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chemeClr val="accent2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613154" y="18897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可训练参数缩减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3450" y="2453640"/>
              <a:ext cx="265026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10,000×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6404" y="3242310"/>
              <a:ext cx="1983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checkpoint 350GB → </a:t>
              </a:r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35MB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48400" y="1504950"/>
            <a:ext cx="5334000" cy="2152650"/>
            <a:chOff x="6248400" y="1504950"/>
            <a:chExt cx="5334000" cy="2152650"/>
          </a:xfrm>
        </p:grpSpPr>
        <p:sp>
          <p:nvSpPr>
            <p:cNvPr id="17" name="Rectangle 17"/>
            <p:cNvSpPr/>
            <p:nvPr/>
          </p:nvSpPr>
          <p:spPr>
            <a:xfrm>
              <a:off x="6248400" y="150495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248400" y="150495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591300" y="177165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746081" y="1936750"/>
              <a:ext cx="185737" cy="165100"/>
              <a:chOff x="6746081" y="1936750"/>
              <a:chExt cx="185737" cy="1651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746081" y="1936750"/>
                <a:ext cx="185737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7" y="0"/>
                      <a:pt x="185737" y="13860"/>
                      <a:pt x="185737" y="30956"/>
                    </a:cubicBezTo>
                    <a:lnTo>
                      <a:pt x="185737" y="51594"/>
                    </a:lnTo>
                    <a:cubicBezTo>
                      <a:pt x="185737" y="68690"/>
                      <a:pt x="171877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746081" y="2019300"/>
                <a:ext cx="185737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82550">
                    <a:moveTo>
                      <a:pt x="0" y="30956"/>
                    </a:moveTo>
                    <a:cubicBezTo>
                      <a:pt x="0" y="13860"/>
                      <a:pt x="13860" y="0"/>
                      <a:pt x="30956" y="0"/>
                    </a:cubicBezTo>
                    <a:lnTo>
                      <a:pt x="154781" y="0"/>
                    </a:lnTo>
                    <a:cubicBezTo>
                      <a:pt x="171877" y="0"/>
                      <a:pt x="185737" y="13860"/>
                      <a:pt x="185737" y="30956"/>
                    </a:cubicBezTo>
                    <a:lnTo>
                      <a:pt x="185737" y="51594"/>
                    </a:lnTo>
                    <a:cubicBezTo>
                      <a:pt x="185737" y="68690"/>
                      <a:pt x="171877" y="82550"/>
                      <a:pt x="154781" y="82550"/>
                    </a:cubicBezTo>
                    <a:lnTo>
                      <a:pt x="30956" y="82550"/>
                    </a:lnTo>
                    <a:cubicBezTo>
                      <a:pt x="13860" y="82550"/>
                      <a:pt x="0" y="68690"/>
                      <a:pt x="0" y="51594"/>
                    </a:cubicBezTo>
                    <a:lnTo>
                      <a:pt x="0" y="30956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787356" y="1978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787356" y="206057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03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828631" y="1978025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828631" y="2060574"/>
                <a:ext cx="619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9525">
                    <a:moveTo>
                      <a:pt x="0" y="0"/>
                    </a:move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1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251954" y="1889760"/>
              <a:ext cx="20933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训练显存 VRAM(原 1.2TB)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72250" y="2453640"/>
              <a:ext cx="200954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350GB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610350" y="3200400"/>
              <a:ext cx="266700" cy="266700"/>
            </a:xfrm>
            <a:prstGeom prst="ellipse">
              <a:avLst/>
            </a:prstGeom>
            <a:solidFill>
              <a:srgbClr val="EAF6EE"/>
            </a:solidFill>
            <a:ln>
              <a:noFill/>
            </a:ln>
          </p:spPr>
        </p:sp>
        <p:sp>
          <p:nvSpPr>
            <p:cNvPr id="30" name="Polygon 30"/>
            <p:cNvSpPr/>
            <p:nvPr/>
          </p:nvSpPr>
          <p:spPr>
            <a:xfrm>
              <a:off x="6686550" y="3286125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1143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66204" y="3261360"/>
              <a:ext cx="8275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约降至 1/3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09600" y="3886200"/>
            <a:ext cx="5334000" cy="2152650"/>
            <a:chOff x="609600" y="3886200"/>
            <a:chExt cx="5334000" cy="2152650"/>
          </a:xfrm>
        </p:grpSpPr>
        <p:sp>
          <p:nvSpPr>
            <p:cNvPr id="33" name="Rectangle 33"/>
            <p:cNvSpPr/>
            <p:nvPr/>
          </p:nvSpPr>
          <p:spPr>
            <a:xfrm>
              <a:off x="6096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09600" y="38862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52500" y="41529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6EE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1127919" y="4307681"/>
              <a:ext cx="144462" cy="185737"/>
            </a:xfrm>
            <a:custGeom>
              <a:avLst/>
              <a:gdLst/>
              <a:ahLst/>
              <a:cxnLst/>
              <a:rect l="l" t="t" r="r" b="b"/>
              <a:pathLst>
                <a:path w="144462" h="185737">
                  <a:moveTo>
                    <a:pt x="82550" y="0"/>
                  </a:moveTo>
                  <a:lnTo>
                    <a:pt x="82550" y="72231"/>
                  </a:lnTo>
                  <a:lnTo>
                    <a:pt x="144462" y="72231"/>
                  </a:lnTo>
                  <a:lnTo>
                    <a:pt x="61912" y="185737"/>
                  </a:lnTo>
                  <a:lnTo>
                    <a:pt x="61912" y="113506"/>
                  </a:lnTo>
                  <a:lnTo>
                    <a:pt x="0" y="113506"/>
                  </a:lnTo>
                  <a:lnTo>
                    <a:pt x="82550" y="0"/>
                  </a:lnTo>
                </a:path>
              </a:pathLst>
            </a:custGeom>
            <a:noFill/>
            <a:ln w="20637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613154" y="42710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训练吞吐提升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33450" y="4834890"/>
              <a:ext cx="166646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+25%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6404" y="56235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无需为绝大多数参数计算梯度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248400" y="3886200"/>
            <a:ext cx="5334000" cy="2152650"/>
            <a:chOff x="6248400" y="3886200"/>
            <a:chExt cx="5334000" cy="2152650"/>
          </a:xfrm>
        </p:grpSpPr>
        <p:sp>
          <p:nvSpPr>
            <p:cNvPr id="41" name="Rectangle 41"/>
            <p:cNvSpPr/>
            <p:nvPr/>
          </p:nvSpPr>
          <p:spPr>
            <a:xfrm>
              <a:off x="6248400" y="3886200"/>
              <a:ext cx="5334000" cy="2152650"/>
            </a:xfrm>
            <a:prstGeom prst="roundRect">
              <a:avLst>
                <a:gd name="adj" fmla="val 7080"/>
              </a:avLst>
            </a:pr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48400" y="3886200"/>
              <a:ext cx="57150" cy="21526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591300" y="4152900"/>
              <a:ext cx="495300" cy="495300"/>
            </a:xfrm>
            <a:prstGeom prst="roundRect">
              <a:avLst>
                <a:gd name="adj" fmla="val 25000"/>
              </a:avLst>
            </a:prstGeom>
            <a:solidFill>
              <a:srgbClr val="EAF0F6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6746081" y="4307681"/>
              <a:ext cx="185737" cy="185737"/>
              <a:chOff x="6746081" y="4307681"/>
              <a:chExt cx="185737" cy="18573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6746081" y="4307681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807993" y="4379912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3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251954" y="4271010"/>
              <a:ext cx="1754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任务准确率:持平 / 更优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576060" y="4819650"/>
              <a:ext cx="200636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≥ 全量微调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585585" y="5422106"/>
              <a:ext cx="3264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WikiSQL </a:t>
              </a:r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74.0</a:t>
              </a: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· MNLI-m </a:t>
              </a:r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91.7</a:t>
              </a:r>
              <a:r>
                <a:rPr lang="en-US" sz="112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 xml:space="preserve"> · SAMSum </a:t>
              </a:r>
              <a:r>
                <a:rPr lang="en-US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53.8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85966" y="5658802"/>
              <a:ext cx="17580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三项均达到或超过 FT 基线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52" name="TextBox 52"/>
            <p:cNvSpPr txBox="1"/>
            <p:nvPr/>
          </p:nvSpPr>
          <p:spPr>
            <a:xfrm>
              <a:off x="604838" y="6578441"/>
              <a:ext cx="239953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§4.2, Table 4, §6 · Hu et al. 2021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2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4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40"/>
                            </p:stCondLst>
                            <p:childTnLst>
                              <p:par>
                                <p:cTn xmlns:p="http://schemas.openxmlformats.org/presentationml/2006/main" id="10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4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4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xmlns:p="http://schemas.openxmlformats.org/presentationml/2006/main" id="15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4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4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60"/>
                            </p:stCondLst>
                            <p:childTnLst>
                              <p:par>
                                <p:cTn xmlns:p="http://schemas.openxmlformats.org/presentationml/2006/main" id="20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4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4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33400"/>
            <a:ext cx="5345500" cy="701611"/>
            <a:chOff x="609600" y="533400"/>
            <a:chExt cx="5345500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3340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598170"/>
              <a:ext cx="298225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该适配谁?秩要多大?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29652"/>
              <a:ext cx="51222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UNDERSTANDING THE LOW-RANK UPDATES(GPT-3 175B, WikiSQL)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09600" y="1524000"/>
            <a:ext cx="5943600" cy="1771650"/>
            <a:chOff x="609600" y="1524000"/>
            <a:chExt cx="5943600" cy="1771650"/>
          </a:xfrm>
        </p:grpSpPr>
        <p:sp>
          <p:nvSpPr>
            <p:cNvPr id="6" name="Rectangle 6"/>
            <p:cNvSpPr/>
            <p:nvPr/>
          </p:nvSpPr>
          <p:spPr>
            <a:xfrm>
              <a:off x="609600" y="1524000"/>
              <a:ext cx="5943600" cy="1771650"/>
            </a:xfrm>
            <a:prstGeom prst="roundRect">
              <a:avLst>
                <a:gd name="adj" fmla="val 752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1342" y="1721168"/>
              <a:ext cx="2982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该适配哪些权重?</a:t>
              </a:r>
              <a:r>
                <a:rPr lang="zh-CN" sz="9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（同等参数预算 18M）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504" y="2156460"/>
              <a:ext cx="4440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仅 Wq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21330" y="214026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70.4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504" y="2518410"/>
              <a:ext cx="6662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Wq + Wv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095500" y="2476500"/>
              <a:ext cx="1143000" cy="247650"/>
            </a:xfrm>
            <a:prstGeom prst="roundRect">
              <a:avLst>
                <a:gd name="adj" fmla="val 50000"/>
              </a:avLst>
            </a:prstGeom>
            <a:solidFill>
              <a:srgbClr val="FBF0E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373259" y="2502218"/>
              <a:ext cx="681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73.7 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4504" y="2880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全部四个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621330" y="2864168"/>
              <a:ext cx="4335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73.7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89985" y="2526506"/>
              <a:ext cx="16567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适配 </a:t>
              </a:r>
              <a:r>
                <a:rPr lang="en-US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{Wq, Wv}</a:t>
              </a:r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最佳 ——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89985" y="27741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分散到多类权重优于堆在单一类型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" y="3505200"/>
            <a:ext cx="5943600" cy="2000250"/>
            <a:chOff x="609600" y="3505200"/>
            <a:chExt cx="5943600" cy="2000250"/>
          </a:xfrm>
        </p:grpSpPr>
        <p:sp>
          <p:nvSpPr>
            <p:cNvPr id="18" name="Rectangle 18"/>
            <p:cNvSpPr/>
            <p:nvPr/>
          </p:nvSpPr>
          <p:spPr>
            <a:xfrm>
              <a:off x="609600" y="3505200"/>
              <a:ext cx="5943600" cy="20002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1342" y="3702368"/>
              <a:ext cx="2803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秩 r 要多大?</a:t>
              </a:r>
              <a:r>
                <a:rPr lang="zh-CN" sz="98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（Wq+Wv 的验证准确率）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76300" y="4095750"/>
              <a:ext cx="5410200" cy="626745"/>
              <a:chOff x="876300" y="4095750"/>
              <a:chExt cx="5410200" cy="626745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8763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lt1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71908" y="424910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r = 1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130751" y="44291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73.4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19812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2276808" y="424910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r = 2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235651" y="44291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73.3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30861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381708" y="424910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r = 4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340551" y="44291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73.7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41910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486608" y="4249102"/>
                <a:ext cx="39938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r = 8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445451" y="44291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73.8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5295900" y="4095750"/>
                <a:ext cx="990600" cy="609600"/>
              </a:xfrm>
              <a:prstGeom prst="roundRect">
                <a:avLst>
                  <a:gd name="adj" fmla="val 15625"/>
                </a:avLst>
              </a:pr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5552637" y="4249102"/>
                <a:ext cx="47712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>r = 64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550351" y="4429125"/>
                <a:ext cx="4816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73.5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870204" y="4994910"/>
              <a:ext cx="4056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 = 1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已足够;增大 r 几乎无增益 → ΔW 的"内在秩"极低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233666" y="1600200"/>
            <a:ext cx="3910584" cy="4485989"/>
            <a:chOff x="7233666" y="1600200"/>
            <a:chExt cx="3910584" cy="4485989"/>
          </a:xfrm>
        </p:grpSpPr>
        <p:sp>
          <p:nvSpPr>
            <p:cNvPr id="38" name="Rectangle 38"/>
            <p:cNvSpPr/>
            <p:nvPr/>
          </p:nvSpPr>
          <p:spPr>
            <a:xfrm>
              <a:off x="7239000" y="1600200"/>
              <a:ext cx="3905250" cy="3905250"/>
            </a:xfrm>
            <a:prstGeom prst="roundRect">
              <a:avLst>
                <a:gd name="adj" fmla="val 341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600200"/>
              <a:ext cx="3905250" cy="3905250"/>
            </a:xfrm>
            <a:prstGeom prst="roundRect">
              <a:avLst>
                <a:gd name="adj" fmla="val 3414"/>
              </a:avLst>
            </a:prstGeom>
          </p:spPr>
        </p:pic>
        <p:sp>
          <p:nvSpPr>
            <p:cNvPr id="40" name="Rectangle 40"/>
            <p:cNvSpPr/>
            <p:nvPr/>
          </p:nvSpPr>
          <p:spPr>
            <a:xfrm>
              <a:off x="7239000" y="1600200"/>
              <a:ext cx="3905250" cy="3905250"/>
            </a:xfrm>
            <a:prstGeom prst="roundRect">
              <a:avLst>
                <a:gd name="adj" fmla="val 3415"/>
              </a:avLst>
            </a:prstGeom>
            <a:noFill/>
            <a:ln w="14288">
              <a:solidFill>
                <a:schemeClr val="accent4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233666" y="5658802"/>
              <a:ext cx="20467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子空间相似度(Ar=8 vs Ar=64)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234047" y="5895499"/>
              <a:ext cx="21867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top 奇异方向高度重叠,其余迅速衰减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44" name="TextBox 44"/>
            <p:cNvSpPr txBox="1"/>
            <p:nvPr/>
          </p:nvSpPr>
          <p:spPr>
            <a:xfrm>
              <a:off x="604838" y="6578441"/>
              <a:ext cx="307747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§7.1–7.2, Table 5/6, Figure 3 · Hu et al. 2021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3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60"/>
                            </p:stCondLst>
                            <p:childTnLst>
                              <p:par>
                                <p:cTn xmlns:p="http://schemas.openxmlformats.org/presentationml/2006/main" id="9" presetID="22" presetClass="entr" presetSubtype="4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6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60"/>
                            </p:stCondLst>
                            <p:childTnLst>
                              <p:par>
                                <p:cTn xmlns:p="http://schemas.openxmlformats.org/presentationml/2006/main" id="13" presetID="2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8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8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09600" y="552450"/>
            <a:ext cx="2001995" cy="701611"/>
            <a:chOff x="609600" y="552450"/>
            <a:chExt cx="2001995" cy="701611"/>
          </a:xfrm>
        </p:grpSpPr>
        <p:sp>
          <p:nvSpPr>
            <p:cNvPr id="2" name="Rectangle 2"/>
            <p:cNvSpPr/>
            <p:nvPr/>
          </p:nvSpPr>
          <p:spPr>
            <a:xfrm>
              <a:off x="609600" y="552450"/>
              <a:ext cx="5715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6958" y="61722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结论与影响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32866" y="1048702"/>
              <a:ext cx="1778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CONCLUSION &amp; IMPACT</a:t>
              </a:r>
            </a:p>
          </p:txBody>
        </p:sp>
      </p:grpSp>
      <p:sp>
        <p:nvSpPr>
          <p:cNvPr id="6" name="Rectangle 6"/>
          <p:cNvSpPr/>
          <p:nvPr/>
        </p:nvSpPr>
        <p:spPr>
          <a:xfrm>
            <a:off x="1128712" y="1905000"/>
            <a:ext cx="28575" cy="304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914400" y="1619250"/>
            <a:ext cx="10668000" cy="914400"/>
            <a:chOff x="914400" y="1619250"/>
            <a:chExt cx="10668000" cy="914400"/>
          </a:xfrm>
        </p:grpSpPr>
        <p:sp>
          <p:nvSpPr>
            <p:cNvPr id="7" name="Ellipse 7"/>
            <p:cNvSpPr/>
            <p:nvPr/>
          </p:nvSpPr>
          <p:spPr>
            <a:xfrm>
              <a:off x="914400" y="17716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3612" y="19373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809750" y="161925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1809750" y="16192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25980" y="1819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方法本身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27123" y="2148364"/>
              <a:ext cx="4424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低秩适配 = 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参数高效</a:t>
              </a:r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+ </a:t>
              </a:r>
              <a:r>
                <a:rPr lang="zh-CN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零额外推理延迟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+ 质量持平 / 更优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3048000"/>
            <a:ext cx="10668000" cy="914400"/>
            <a:chOff x="914400" y="3048000"/>
            <a:chExt cx="10668000" cy="914400"/>
          </a:xfrm>
        </p:grpSpPr>
        <p:sp>
          <p:nvSpPr>
            <p:cNvPr id="14" name="Ellipse 14"/>
            <p:cNvSpPr/>
            <p:nvPr/>
          </p:nvSpPr>
          <p:spPr>
            <a:xfrm>
              <a:off x="914400" y="32004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3612" y="336613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09750" y="304800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809750" y="304800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125980" y="3248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工程意义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27123" y="3577114"/>
              <a:ext cx="51164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一个预训练底座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托管多任务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,按需热插拔 LoRA 模块,部署成本骤降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4400" y="4476750"/>
            <a:ext cx="10668000" cy="914400"/>
            <a:chOff x="914400" y="4476750"/>
            <a:chExt cx="10668000" cy="914400"/>
          </a:xfrm>
        </p:grpSpPr>
        <p:sp>
          <p:nvSpPr>
            <p:cNvPr id="21" name="Ellipse 21"/>
            <p:cNvSpPr/>
            <p:nvPr/>
          </p:nvSpPr>
          <p:spPr>
            <a:xfrm>
              <a:off x="914400" y="46291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3612" y="4794885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09750" y="4476750"/>
              <a:ext cx="9772650" cy="914400"/>
            </a:xfrm>
            <a:prstGeom prst="roundRect">
              <a:avLst>
                <a:gd name="adj" fmla="val 12500"/>
              </a:avLst>
            </a:pr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809750" y="4476750"/>
              <a:ext cx="57150" cy="914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25980" y="46767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行业影响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27123" y="5005864"/>
              <a:ext cx="44207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已开源,成为大模型微调的</a:t>
              </a:r>
              <a:r>
                <a:rPr lang="zh-CN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事实标准之一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(PEFT 生态基石)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45319" y="5769769"/>
            <a:ext cx="10943177" cy="285559"/>
            <a:chOff x="645319" y="5769769"/>
            <a:chExt cx="10943177" cy="285559"/>
          </a:xfrm>
        </p:grpSpPr>
        <p:grpSp>
          <p:nvGrpSpPr>
            <p:cNvPr id="31" name="Group 31"/>
            <p:cNvGrpSpPr/>
            <p:nvPr/>
          </p:nvGrpSpPr>
          <p:grpSpPr>
            <a:xfrm>
              <a:off x="645319" y="5769769"/>
              <a:ext cx="214312" cy="214312"/>
              <a:chOff x="645319" y="5769769"/>
              <a:chExt cx="214312" cy="21431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740569" y="58650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2944" y="581739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45319" y="576976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23812">
                <a:solidFill>
                  <a:schemeClr val="accent1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03173" y="5805964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让人不必在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效率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</a:t>
              </a:r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质量</a:t>
              </a:r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之间二选一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37929" y="5814060"/>
              <a:ext cx="2250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github.com/microsoft/LoRA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4838" y="6578441"/>
            <a:ext cx="10982324" cy="161925"/>
            <a:chOff x="604838" y="6578441"/>
            <a:chExt cx="10982324" cy="161925"/>
          </a:xfrm>
        </p:grpSpPr>
        <p:sp>
          <p:nvSpPr>
            <p:cNvPr id="35" name="TextBox 35"/>
            <p:cNvSpPr txBox="1"/>
            <p:nvPr/>
          </p:nvSpPr>
          <p:spPr>
            <a:xfrm>
              <a:off x="604838" y="6578441"/>
              <a:ext cx="32542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来源:LoRA §8 Conclusion · Hu et al. 2021 · arXiv:2106.09685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07836" y="6578441"/>
              <a:ext cx="37932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8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4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00"/>
                            </p:stCondLst>
                            <p:childTnLst>
                              <p:par>
                                <p:cTn xmlns:p="http://schemas.openxmlformats.org/presentationml/2006/main" id="17" presetID="1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pt169_lora_hu_2021">
  <a:themeElements>
    <a:clrScheme name="ppt169_lora_hu_2021">
      <a:dk1>
        <a:srgbClr val="1D2733"/>
      </a:dk1>
      <a:lt1>
        <a:srgbClr val="FFFFFF"/>
      </a:lt1>
      <a:dk2>
        <a:srgbClr val="5B6776"/>
      </a:dk2>
      <a:lt2>
        <a:srgbClr val="F4F7FA"/>
      </a:lt2>
      <a:accent1>
        <a:srgbClr val="1B3A5C"/>
      </a:accent1>
      <a:accent2>
        <a:srgbClr val="E8743B"/>
      </a:accent2>
      <a:accent3>
        <a:srgbClr val="3E7CB1"/>
      </a:accent3>
      <a:accent4>
        <a:srgbClr val="D8DEE6"/>
      </a:accent4>
      <a:accent5>
        <a:srgbClr val="8A94A1"/>
      </a:accent5>
      <a:accent6>
        <a:srgbClr val="2E7D32"/>
      </a:accent6>
      <a:hlink>
        <a:srgbClr val="E8743B"/>
      </a:hlink>
      <a:folHlink>
        <a:srgbClr val="3E7CB1"/>
      </a:folHlink>
    </a:clrScheme>
    <a:fontScheme name="ppt169_lora_hu_202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lora_hu_20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pt169_lora_hu_2021">
  <a:themeElements>
    <a:clrScheme name="ppt169_lora_hu_2021">
      <a:dk1>
        <a:srgbClr val="1D2733"/>
      </a:dk1>
      <a:lt1>
        <a:srgbClr val="FFFFFF"/>
      </a:lt1>
      <a:dk2>
        <a:srgbClr val="5B6776"/>
      </a:dk2>
      <a:lt2>
        <a:srgbClr val="F4F7FA"/>
      </a:lt2>
      <a:accent1>
        <a:srgbClr val="1B3A5C"/>
      </a:accent1>
      <a:accent2>
        <a:srgbClr val="E8743B"/>
      </a:accent2>
      <a:accent3>
        <a:srgbClr val="3E7CB1"/>
      </a:accent3>
      <a:accent4>
        <a:srgbClr val="D8DEE6"/>
      </a:accent4>
      <a:accent5>
        <a:srgbClr val="8A94A1"/>
      </a:accent5>
      <a:accent6>
        <a:srgbClr val="2E7D32"/>
      </a:accent6>
      <a:hlink>
        <a:srgbClr val="E8743B"/>
      </a:hlink>
      <a:folHlink>
        <a:srgbClr val="3E7CB1"/>
      </a:folHlink>
    </a:clrScheme>
    <a:fontScheme name="ppt169_lora_hu_2021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169_lora_hu_202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2026-09-05T05:49:53Z</dcterms:created>
  <dcterms:modified xsi:type="dcterms:W3CDTF">2026-09-05T05:49:53Z</dcterms:modified>
  <cp:category/>
  <cp:contentStatus/>
</cp:coreProperties>
</file>