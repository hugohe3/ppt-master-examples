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Thank you for the time. This is a proposal from Lantern Education Partners to reduce chronic absenteeism at Riverbend Unified over the next two school years. Before anything else, one boundary that holds for the whole document. Lantern and Riverbend are illustrative, and every price, headcount, date and projected effect you will see is an illustrative figure, marked as such on the page where it appears. The evidence about the problem itself is real, and each page names the dataset or the report it comes from. If you keep one distinction from today, keep that one.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measure in front of you is narrower and stranger than most people expect. Chronic absenteeism means missing ten percent or more of school days for any reason at all, which in a one hundred and eighty day year is eighteen days. Excused illness counts. Unexcused days count. Days out on suspension count. That is why a student can be chronically absent and never once be recorded as truant, and it is why this is an operating metric rather than a discipline problem. There is a second counting rule worth knowing: the federal report card measure is fifteen days or more, and the Every Student Succeeds Act requires states to publish the rate. The definition and both counting rules come from the Framework for Action published through ERIC. The Riverbend baseline of thirty one percent, and the three thousand one hundred students behind it, are illustrative figures for this example.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on this page is that the attendance crisis did not close when buildings reopened. This is New York City, the largest district that publishes this series, used here as a benchmark and not as Riverbend's own numbers. The city ran at twenty six point four percent chronically absent in twenty eighteen nineteen, peaked at forty point two percent in twenty twenty one twenty two, and has come back only to thirty six point three percent. That recovery closes less than half the gap, four years after the disruption began. The method matters for how much weight you put on it. This is a student weighted rate, computed by summing chronically absent students and students contributing ten or more total days across every school row for each year, not by averaging school percentages. The data is the New York City Open Data end of year attendance dataset.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second thing the published data shows is that this problem is not evenly spread, which changes what a plan should target. In one city, in one school year, the thirty two geographic community school districts ran from fifteen point five percent in District twenty to forty six point two percent in District twenty three. The median district sat at twenty eight point nine percent. Eight of the thirty two were at or above thirty five percent while six were at or below twenty percent. A district wide average sitting in the middle of that range is an accounting figure; it describes almost none of the schools inside it. We have excluded District seventy five, the citywide special education district, at fifty one point five percent, because its population is not comparable to a geographic district. Same source, the by district dataset.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If the plan is going to be aimed somewhere, this page says where. Across the K to twelve span in twenty twenty two twenty three, the rate is worst at both ends: forty five point six percent in kindergarten and forty five point two percent in grade twelve, with the trough at grade five still near twenty nine percent. The kindergarten peak is the one that usually surprises a board, and it is the one with the longest consequences. The Framework for Action reports that students chronically absent in both kindergarten and first grade are much less likely to read at grade level by third grade, and that students not reading at grade level by third grade are four times more likely to drop out. By sixth grade chronic absenteeism is itself a leading dropout indicator, and by high school attendance predicts dropout better than test scores do. So a system that only watches high school is watching one end of a two ended problem.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Before the recommendation, one page on cause, because it determines what kind of response works. Researchers group the reasons students miss school into four kinds. Barriers are conditions the family cannot simply decide their way past: unmanaged asthma, diabetes, mental health and vision problems, transport and housing instability. The Environmental Protection Agency estimate cited in the same report puts ten and a half million school days lost to asthma alone each year. Aversions are reasons to stay away: bullying, undiagnosed disabilities, overly punitive discipline. Disengagement is a negative school climate or the absence of one supportive relationship. Myths are the beliefs that keep families comfortable with absence, including the idea that an excused day does not count. Only one of those four is anything like refusal, and none of them is solved by a letter home. The illustration beside it is a drawing, not a photograph of any school.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what we are proposing. Build one attendance system with three tiers and staff it inside the district. Tier one is universal prevention for every student. Tier two is early intervention for the students who are slipping toward the ten percent line. Tier three is coordinated case support for the students already in crisis. This is not our invention; the Framework for Action identifies a comprehensive multi tiered system of supports, combining prevention with early and consistent interventions, as the most effective response. The division of labour we are proposing is that Lantern designs the system and trains the site leads, and Riverbend runs it. The staffing behind that, one attendance lead per site and one district coordinator, is an illustrative figure at this stage.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tiers only mean something if each one has a trigger, an owner and a limit, so here they are. Tier one triggers on enrolment: attendance expectations, positive messaging and daily attendance data in front of every teacher, owned by the site principal. Tier two triggers when a student passes the early warning threshold in a rolling window: same week family contact, a named adult, and a barrier check covering health and transport, owned by the site attendance lead. Tier three triggers when a student is already chronically absent or is referred by the team: case review, a home visit, a community partner referral and an attendance plan agreed with the family, owned by the district attendance coordinator. The thresholds and role titles here are illustrative. The limit is the part I want to be explicit about. The Framework treats legal action as a very last resort, and England's statutory guidance takes the same shape, with legal intervention reserved for cases where attendance support does not work, is not engaged with, or is not appropriate. This system escalates on data, not on frustration.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Year one is ten months and four phases, and every phase ends in something you can inspect. Phase one, September to November, is baseline and root cause: an attendance data audit, a barrier survey and site interviews, delivered as a baseline report with a root cause profile for each site. Phase two, December to February, designs and builds the early warning thresholds, the teacher dashboard specification and the family contact playbook, delivered as the attendance operating manual. Phase three, March to May, runs tier one and tier two live at three schools with weekly case review, delivered as pilot results measured against the baseline. Phase four, June to August, trains the attendance lead at every site. What we need from the district is on the same page: data access within two weeks of start, a named executive sponsor, released time for the site leads, and a family contact consent position under district policy. Every date and deliverable on this page is illustrative.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page I would push you to interrogate, because it is where an engagement usually becomes open ended. It does not here. In June twenty twenty seven the board reviews the pilot results against the baseline and decides to continue, adjust or stop, and our year two fee is not committed until that vote. If you continue, phase five runs all three tiers at every site with monthly case review, phase six deepens tier three with partner agreements and a home visit protocol, and phase seven hands the system over, with a signed operating manual and a trained district team. After that we leave. There is no ongoing retainer in this proposal. The dates and terms here are illustrative and would be fixed in a statement of work.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Proposals are usually vague at exactly the point where they should be precise, so this page states the boundary. Nine deliverables, each marked included in a given year, optional at additional cost, or not included, with the status written as a word in the cell so it survives being printed or forwarded in black and white. The home visit protocol and the community partner agreements are optional in year one and included in year two. The student information system integration build is not included at all, because that is a district information technology procurement and pricing it here would be pretending to a control we do not have. Four things only Riverbend can supply are listed beside the grid: data access within two weeks, a named executive sponsor, released time for site leads, and a family contact consent policy. The scope shown is illustrative and would be fixed in a statement of work.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number is three hundred and twelve thousand dollars across two school years, and it is broken out so you can see what each part buys. Year one is two hundred and two thousand across the four phases. Year two is one hundred and ten thousand across the three remaining phases, and that half is released only by the June twenty twenty seven vote we just discussed. The basis is a fixed fee per phase, inclusive of travel and exclusive of any software licence the district chooses to buy, payable on written acceptance of each phase deliverable rather than on elapsed time. The quotation would be valid for ninety days from the proposal date. Every amount and term on this page is illustrative for this example.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 want to be careful with this page, because it is the one most likely to be quoted back without its qualifiers. This is a model, not a measurement. It starts from the illustrative thirty one percent baseline and shows a modeled contribution from each tier, two and a half points from universal prevention, four points from early intervention and two and a half points from intensive support, reaching a modeled twenty two percent by June twenty twenty eight. None of it is derived from the New York City series we showed earlier. It rests on four assumptions that are worth testing: data access from month one, one trained attendance lead released at every site, family contact in the same week of a tier two trigger, and no change to the calendar or bell schedule. It fails first at staffing, and the response to that is the phase gate itself, which holds rollout until leads are named. If data access slips, the baseline narrows to the four largest sites. If partner capacity is short, tier three stays at the pilot sites while agreements catch up.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What we are asking for today is one vote. At the regular meeting on the eighth of October the board approves phase one funding and names the executive sponsor, with the superintendent bringing the item. Within two weeks of that vote we issue the data access request, and in November you receive the baseline report. Before then we need one named data contact from the district, and that is the whole ask. Every source used in this deck is linked on this page, so anything you heard today about the size or shape of the problem can be checked directly. As on the cover, Lantern Education Partners and Riverbend Unified are illustrative, and the client, prices, dates and projections in this document are illustrative; the problem evidence is real and sourced where it appears.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every_day_counts_propos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every_day_counts_propos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292d88a5f953929.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57b5b65a126c352.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1f7f73fa4bba4fb.jpg"/>
  <Relationship Id="rId3" Type="http://schemas.openxmlformats.org/officeDocument/2006/relationships/hyperlink" Target="https://eric.ed.gov/?id=ED617466" TargetMode="External"/>
  <Relationship Id="rId4" Type="http://schemas.openxmlformats.org/officeDocument/2006/relationships/hyperlink" Target="https://data.cityofnewyork.us/d/sgsi-66kk" TargetMode="External"/>
  <Relationship Id="rId5" Type="http://schemas.openxmlformats.org/officeDocument/2006/relationships/hyperlink" Target="https://data.cityofnewyork.us/d/hags-jh3e" TargetMode="External"/>
  <Relationship Id="rId6" Type="http://schemas.openxmlformats.org/officeDocument/2006/relationships/hyperlink" Target="https://www.gov.uk/government/publications/working-together-to-improve-school-attendance" TargetMode="External"/>
  <Relationship Id="rId7"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Freeform 2"/>
          <p:cNvSpPr/>
          <p:nvPr/>
        </p:nvSpPr>
        <p:spPr>
          <a:xfrm>
            <a:off x="9525000" y="228600"/>
            <a:ext cx="2286000" cy="2286000"/>
          </a:xfrm>
          <a:prstGeom prst="arc">
            <a:avLst/>
          </a:prstGeom>
          <a:noFill/>
          <a:ln w="28575">
            <a:solidFill>
              <a:schemeClr val="accent2"/>
            </a:solidFill>
          </a:ln>
        </p:spPr>
      </p:sp>
      <p:grpSp>
        <p:nvGrpSpPr>
          <p:cNvPr id="7" name="Group 7"/>
          <p:cNvGrpSpPr/>
          <p:nvPr/>
        </p:nvGrpSpPr>
        <p:grpSpPr>
          <a:xfrm>
            <a:off x="590550" y="978218"/>
            <a:ext cx="7875228" cy="2565844"/>
            <a:chOff x="590550" y="978218"/>
            <a:chExt cx="7875228" cy="2565844"/>
          </a:xfrm>
        </p:grpSpPr>
        <p:sp>
          <p:nvSpPr>
            <p:cNvPr id="3" name="TextBox 3"/>
            <p:cNvSpPr txBox="1"/>
            <p:nvPr/>
          </p:nvSpPr>
          <p:spPr>
            <a:xfrm>
              <a:off x="602742" y="978218"/>
              <a:ext cx="5505487"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LANTERN EDUCATION PARTNERS — SOLUTION PROPOSAL</a:t>
              </a:r>
            </a:p>
          </p:txBody>
        </p:sp>
        <p:sp>
          <p:nvSpPr>
            <p:cNvPr id="4" name="TextBox 4"/>
            <p:cNvSpPr txBox="1"/>
            <p:nvPr/>
          </p:nvSpPr>
          <p:spPr>
            <a:xfrm>
              <a:off x="590550" y="1440180"/>
              <a:ext cx="7875228" cy="1276350"/>
            </a:xfrm>
            <a:prstGeom prst="rect">
              <a:avLst/>
            </a:prstGeom>
            <a:noFill/>
            <a:ln>
              <a:noFill/>
            </a:ln>
          </p:spPr>
          <p:txBody>
            <a:bodyPr wrap="none" lIns="0" tIns="0" rIns="0" bIns="0" anchor="t" anchorCtr="0">
              <a:spAutoFit/>
            </a:bodyPr>
            <a:lstStyle/>
            <a:p>
              <a:pPr algn="l"/>
              <a:r>
                <a:rPr lang="en-US" sz="6600" b="1" dirty="0">
                  <a:solidFill>
                    <a:schemeClr val="accent1"/>
                  </a:solidFill>
                  <a:latin typeface="+mj-lt"/>
                  <a:ea typeface="+mj-ea"/>
                  <a:cs typeface="+mj-cs"/>
                </a:rPr>
                <a:t>Every Day Counts</a:t>
              </a:r>
            </a:p>
          </p:txBody>
        </p:sp>
        <p:sp>
          <p:nvSpPr>
            <p:cNvPr id="5" name="Rectangle 5"/>
            <p:cNvSpPr/>
            <p:nvPr/>
          </p:nvSpPr>
          <p:spPr>
            <a:xfrm>
              <a:off x="609600" y="2419350"/>
              <a:ext cx="1257300" cy="47625"/>
            </a:xfrm>
            <a:prstGeom prst="rect">
              <a:avLst/>
            </a:prstGeom>
            <a:solidFill>
              <a:schemeClr val="accent2"/>
            </a:solidFill>
            <a:ln>
              <a:noFill/>
            </a:ln>
          </p:spPr>
        </p:sp>
        <p:sp>
          <p:nvSpPr>
            <p:cNvPr id="6" name="TextBox 6"/>
            <p:cNvSpPr txBox="1"/>
            <p:nvPr/>
          </p:nvSpPr>
          <p:spPr>
            <a:xfrm>
              <a:off x="597408" y="2655570"/>
              <a:ext cx="7004304" cy="888492"/>
            </a:xfrm>
            <a:prstGeom prst="rect">
              <a:avLst/>
            </a:prstGeom>
            <a:noFill/>
            <a:ln>
              <a:noFill/>
            </a:ln>
          </p:spPr>
          <p:txBody>
            <a:bodyPr wrap="none" lIns="0" tIns="0" rIns="0" bIns="0" anchor="t" anchorCtr="0">
              <a:spAutoFit/>
            </a:bodyPr>
            <a:lstStyle/>
            <a:p>
              <a:pPr algn="l">
                <a:lnSpc>
                  <a:spcPts val="3300"/>
                </a:lnSpc>
              </a:pPr>
              <a:r>
                <a:rPr lang="en-US" sz="2400" dirty="0">
                  <a:solidFill>
                    <a:schemeClr val="dk1"/>
                  </a:solidFill>
                  <a:latin typeface="+mj-lt"/>
                  <a:ea typeface="+mj-ea"/>
                  <a:cs typeface="+mj-cs"/>
                </a:rPr>
                <a:t>A two-year plan to reduce chronic absenteeism</a:t>
              </a:r>
              <a:br/>
              <a:r>
                <a:rPr lang="en-US" sz="2400" dirty="0">
                  <a:solidFill>
                    <a:schemeClr val="dk1"/>
                  </a:solidFill>
                  <a:latin typeface="+mj-lt"/>
                  <a:ea typeface="+mj-ea"/>
                  <a:cs typeface="+mj-cs"/>
                </a:rPr>
                <a:t>at Riverbend Unified, 2026-27 and 2027-28</a:t>
              </a:r>
            </a:p>
          </p:txBody>
        </p:sp>
      </p:grpSp>
      <p:grpSp>
        <p:nvGrpSpPr>
          <p:cNvPr id="9" name="Group 9"/>
          <p:cNvGrpSpPr/>
          <p:nvPr/>
        </p:nvGrpSpPr>
        <p:grpSpPr>
          <a:xfrm>
            <a:off x="602742" y="3911918"/>
            <a:ext cx="4023772" cy="264033"/>
            <a:chOff x="602742" y="3911918"/>
            <a:chExt cx="4023772" cy="264033"/>
          </a:xfrm>
        </p:grpSpPr>
        <p:sp>
          <p:nvSpPr>
            <p:cNvPr id="8" name="TextBox 8"/>
            <p:cNvSpPr txBox="1"/>
            <p:nvPr/>
          </p:nvSpPr>
          <p:spPr>
            <a:xfrm>
              <a:off x="602742" y="3911918"/>
              <a:ext cx="40237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Prepared for the Board of Education, September 2026</a:t>
              </a:r>
            </a:p>
          </p:txBody>
        </p:sp>
      </p:grpSp>
      <p:grpSp>
        <p:nvGrpSpPr>
          <p:cNvPr id="12" name="Group 12"/>
          <p:cNvGrpSpPr/>
          <p:nvPr/>
        </p:nvGrpSpPr>
        <p:grpSpPr>
          <a:xfrm>
            <a:off x="609600" y="4324350"/>
            <a:ext cx="4030035" cy="823151"/>
            <a:chOff x="609600" y="4324350"/>
            <a:chExt cx="4030035" cy="823151"/>
          </a:xfrm>
        </p:grpSpPr>
        <p:sp>
          <p:nvSpPr>
            <p:cNvPr id="10" name="Rectangle 10"/>
            <p:cNvSpPr/>
            <p:nvPr/>
          </p:nvSpPr>
          <p:spPr>
            <a:xfrm>
              <a:off x="609600" y="4324350"/>
              <a:ext cx="28575" cy="781050"/>
            </a:xfrm>
            <a:prstGeom prst="rect">
              <a:avLst/>
            </a:prstGeom>
            <a:solidFill>
              <a:schemeClr val="accent2"/>
            </a:solidFill>
            <a:ln>
              <a:noFill/>
            </a:ln>
          </p:spPr>
        </p:sp>
        <p:sp>
          <p:nvSpPr>
            <p:cNvPr id="11" name="TextBox 11"/>
            <p:cNvSpPr txBox="1"/>
            <p:nvPr/>
          </p:nvSpPr>
          <p:spPr>
            <a:xfrm>
              <a:off x="774192" y="4388168"/>
              <a:ext cx="3865443"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Illustrative example. Lantern Education Partners and</a:t>
              </a:r>
              <a:br/>
              <a:r>
                <a:rPr lang="en-US" sz="1350" dirty="0">
                  <a:solidFill>
                    <a:schemeClr val="accent5"/>
                  </a:solidFill>
                  <a:latin typeface="+mn-lt"/>
                  <a:ea typeface="+mn-ea"/>
                  <a:cs typeface="+mn-cs"/>
                </a:rPr>
                <a:t>Riverbend Unified are fictional; every price, headcount,</a:t>
              </a:r>
              <a:br/>
              <a:r>
                <a:rPr lang="en-US" sz="1350" dirty="0">
                  <a:solidFill>
                    <a:schemeClr val="accent5"/>
                  </a:solidFill>
                  <a:latin typeface="+mn-lt"/>
                  <a:ea typeface="+mn-ea"/>
                  <a:cs typeface="+mn-cs"/>
                </a:rPr>
                <a:t>date and projected effect here is illustrative.</a:t>
              </a:r>
            </a:p>
          </p:txBody>
        </p:sp>
      </p:grpSp>
      <p:grpSp>
        <p:nvGrpSpPr>
          <p:cNvPr id="14" name="Group 14"/>
          <p:cNvGrpSpPr/>
          <p:nvPr/>
        </p:nvGrpSpPr>
        <p:grpSpPr>
          <a:xfrm>
            <a:off x="774192" y="5321618"/>
            <a:ext cx="4135823" cy="264033"/>
            <a:chOff x="774192" y="5321618"/>
            <a:chExt cx="4135823" cy="264033"/>
          </a:xfrm>
        </p:grpSpPr>
        <p:sp>
          <p:nvSpPr>
            <p:cNvPr id="13" name="TextBox 13"/>
            <p:cNvSpPr txBox="1"/>
            <p:nvPr/>
          </p:nvSpPr>
          <p:spPr>
            <a:xfrm>
              <a:off x="774192" y="5321618"/>
              <a:ext cx="413582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The problem evidence is real and sourced on the page.</a:t>
              </a:r>
            </a:p>
          </p:txBody>
        </p:sp>
      </p:grpSp>
      <p:grpSp>
        <p:nvGrpSpPr>
          <p:cNvPr id="16" name="Group 16"/>
          <p:cNvGrpSpPr/>
          <p:nvPr/>
        </p:nvGrpSpPr>
        <p:grpSpPr>
          <a:xfrm>
            <a:off x="6286500" y="3771900"/>
            <a:ext cx="5295900" cy="2552700"/>
            <a:chOff x="6286500" y="3771900"/>
            <a:chExt cx="5295900" cy="2552700"/>
          </a:xfrm>
        </p:grpSpPr>
        <p:pic>
          <p:nvPicPr>
            <p:cNvPr id="15" name="Image 15"/>
            <p:cNvPicPr>
              <a:picLocks noChangeAspect="1"/>
            </p:cNvPicPr>
            <p:nvPr/>
          </p:nvPicPr>
          <p:blipFill>
            <a:blip r:embed="rId2"/>
            <a:srcRect l="0" t="6820" r="0" b="6819"/>
            <a:stretch>
              <a:fillRect/>
            </a:stretch>
          </p:blipFill>
          <p:spPr>
            <a:xfrm>
              <a:off x="6286500" y="3771900"/>
              <a:ext cx="5295900" cy="2552700"/>
            </a:xfrm>
            <a:prstGeom prst="roundRect">
              <a:avLst>
                <a:gd name="adj" fmla="val 5970"/>
              </a:avLst>
            </a:prstGeom>
          </p:spPr>
        </p:pic>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par>
                          <p:cTn id="8" fill="hold">
                            <p:stCondLst>
                              <p:cond delay="7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1477694"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THE SITUATION</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358122" y="775335"/>
              <a:ext cx="1800607"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Contains illustrative figures</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933071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Chronically absent without ever being truant</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6963430" cy="772668"/>
            <a:chOff x="598932" y="1868805"/>
            <a:chExt cx="6963430" cy="772668"/>
          </a:xfrm>
        </p:grpSpPr>
        <p:sp>
          <p:nvSpPr>
            <p:cNvPr id="9" name="TextBox 9"/>
            <p:cNvSpPr txBox="1"/>
            <p:nvPr/>
          </p:nvSpPr>
          <p:spPr>
            <a:xfrm>
              <a:off x="598932" y="1868805"/>
              <a:ext cx="696343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Chronic absenteeism is a count of missed days for any reason —</a:t>
              </a:r>
              <a:br/>
              <a:r>
                <a:rPr lang="en-US" sz="2100" dirty="0">
                  <a:solidFill>
                    <a:schemeClr val="dk1"/>
                  </a:solidFill>
                  <a:latin typeface="+mn-lt"/>
                  <a:ea typeface="+mn-ea"/>
                  <a:cs typeface="+mn-cs"/>
                </a:rPr>
                <a:t>which is why it can be managed like any other operating metric.</a:t>
              </a:r>
            </a:p>
          </p:txBody>
        </p:sp>
      </p:grpSp>
      <p:grpSp>
        <p:nvGrpSpPr>
          <p:cNvPr id="16" name="Group 16"/>
          <p:cNvGrpSpPr/>
          <p:nvPr/>
        </p:nvGrpSpPr>
        <p:grpSpPr>
          <a:xfrm>
            <a:off x="609600" y="2667000"/>
            <a:ext cx="3390900" cy="1714500"/>
            <a:chOff x="609600" y="2667000"/>
            <a:chExt cx="3390900" cy="1714500"/>
          </a:xfrm>
        </p:grpSpPr>
        <p:sp>
          <p:nvSpPr>
            <p:cNvPr id="11" name="Rectangle 11"/>
            <p:cNvSpPr/>
            <p:nvPr/>
          </p:nvSpPr>
          <p:spPr>
            <a:xfrm>
              <a:off x="609600" y="2667000"/>
              <a:ext cx="3390900" cy="1714500"/>
            </a:xfrm>
            <a:prstGeom prst="roundRect">
              <a:avLst>
                <a:gd name="adj" fmla="val 8889"/>
              </a:avLst>
            </a:prstGeom>
            <a:solidFill>
              <a:srgbClr val="FAF8F5"/>
            </a:solidFill>
            <a:ln w="9525">
              <a:solidFill>
                <a:schemeClr val="accent6"/>
              </a:solidFill>
            </a:ln>
          </p:spPr>
        </p:sp>
        <p:sp>
          <p:nvSpPr>
            <p:cNvPr id="12" name="TextBox 12"/>
            <p:cNvSpPr txBox="1"/>
            <p:nvPr/>
          </p:nvSpPr>
          <p:spPr>
            <a:xfrm>
              <a:off x="933450" y="2846070"/>
              <a:ext cx="877725"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mj-lt"/>
                  <a:ea typeface="+mj-ea"/>
                  <a:cs typeface="+mj-cs"/>
                </a:rPr>
                <a:t>18</a:t>
              </a:r>
            </a:p>
          </p:txBody>
        </p:sp>
        <p:sp>
          <p:nvSpPr>
            <p:cNvPr id="13" name="TextBox 13"/>
            <p:cNvSpPr txBox="1"/>
            <p:nvPr/>
          </p:nvSpPr>
          <p:spPr>
            <a:xfrm>
              <a:off x="1930908" y="3169920"/>
              <a:ext cx="735178" cy="469392"/>
            </a:xfrm>
            <a:prstGeom prst="rect">
              <a:avLst/>
            </a:prstGeom>
            <a:noFill/>
            <a:ln>
              <a:noFill/>
            </a:ln>
          </p:spPr>
          <p:txBody>
            <a:bodyPr wrap="none" lIns="0" tIns="0" rIns="0" bIns="0" anchor="t" anchorCtr="0">
              <a:spAutoFit/>
            </a:bodyPr>
            <a:lstStyle/>
            <a:p>
              <a:pPr algn="l"/>
              <a:r>
                <a:rPr lang="en-US" sz="2400" dirty="0">
                  <a:solidFill>
                    <a:schemeClr val="accent1"/>
                  </a:solidFill>
                  <a:latin typeface="+mj-lt"/>
                  <a:ea typeface="+mj-ea"/>
                  <a:cs typeface="+mj-cs"/>
                </a:rPr>
                <a:t>days</a:t>
              </a:r>
            </a:p>
          </p:txBody>
        </p:sp>
        <p:sp>
          <p:nvSpPr>
            <p:cNvPr id="14" name="TextBox 14"/>
            <p:cNvSpPr txBox="1"/>
            <p:nvPr/>
          </p:nvSpPr>
          <p:spPr>
            <a:xfrm>
              <a:off x="943356" y="3653790"/>
              <a:ext cx="289101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10% of a 180-day school year</a:t>
              </a:r>
            </a:p>
          </p:txBody>
        </p:sp>
        <p:sp>
          <p:nvSpPr>
            <p:cNvPr id="15" name="TextBox 15"/>
            <p:cNvSpPr txBox="1"/>
            <p:nvPr/>
          </p:nvSpPr>
          <p:spPr>
            <a:xfrm>
              <a:off x="944880" y="3990975"/>
              <a:ext cx="126866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0.10 × 180 = 18</a:t>
              </a:r>
            </a:p>
          </p:txBody>
        </p:sp>
      </p:grpSp>
      <p:grpSp>
        <p:nvGrpSpPr>
          <p:cNvPr id="21" name="Group 21"/>
          <p:cNvGrpSpPr/>
          <p:nvPr/>
        </p:nvGrpSpPr>
        <p:grpSpPr>
          <a:xfrm>
            <a:off x="4334256" y="2730818"/>
            <a:ext cx="7187863" cy="1597533"/>
            <a:chOff x="4334256" y="2730818"/>
            <a:chExt cx="7187863" cy="1597533"/>
          </a:xfrm>
        </p:grpSpPr>
        <p:sp>
          <p:nvSpPr>
            <p:cNvPr id="17" name="TextBox 17"/>
            <p:cNvSpPr txBox="1"/>
            <p:nvPr/>
          </p:nvSpPr>
          <p:spPr>
            <a:xfrm>
              <a:off x="4336542" y="2730818"/>
              <a:ext cx="1963696"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HOW IT IS COUNTED</a:t>
              </a:r>
            </a:p>
          </p:txBody>
        </p:sp>
        <p:sp>
          <p:nvSpPr>
            <p:cNvPr id="18" name="TextBox 18"/>
            <p:cNvSpPr txBox="1"/>
            <p:nvPr/>
          </p:nvSpPr>
          <p:spPr>
            <a:xfrm>
              <a:off x="4334256" y="3044190"/>
              <a:ext cx="5622028"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 xml:space="preserve">Missing </a:t>
              </a:r>
              <a:r>
                <a:rPr lang="en-US" sz="1800" b="1" dirty="0">
                  <a:solidFill>
                    <a:schemeClr val="accent1"/>
                  </a:solidFill>
                  <a:latin typeface="+mn-lt"/>
                  <a:ea typeface="+mn-ea"/>
                  <a:cs typeface="+mn-cs"/>
                </a:rPr>
                <a:t>10 percent or more</a:t>
              </a:r>
              <a:r>
                <a:rPr lang="en-US" sz="1800" dirty="0">
                  <a:solidFill>
                    <a:schemeClr val="dk1"/>
                  </a:solidFill>
                  <a:latin typeface="+mn-lt"/>
                  <a:ea typeface="+mn-ea"/>
                  <a:cs typeface="+mn-cs"/>
                </a:rPr>
                <a:t xml:space="preserve"> of school days for any reason —</a:t>
              </a:r>
              <a:br/>
              <a:r>
                <a:rPr lang="en-US" sz="1800" dirty="0">
                  <a:solidFill>
                    <a:schemeClr val="dk1"/>
                  </a:solidFill>
                  <a:latin typeface="+mn-lt"/>
                  <a:ea typeface="+mn-ea"/>
                  <a:cs typeface="+mn-cs"/>
                </a:rPr>
                <a:t>excused, unexcused, or suspension.</a:t>
              </a:r>
            </a:p>
          </p:txBody>
        </p:sp>
        <p:sp>
          <p:nvSpPr>
            <p:cNvPr id="19" name="TextBox 19"/>
            <p:cNvSpPr txBox="1"/>
            <p:nvPr/>
          </p:nvSpPr>
          <p:spPr>
            <a:xfrm>
              <a:off x="4337304" y="3775710"/>
              <a:ext cx="621856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Framework for Action: Addressing Chronic Absenteeism through ESSA (ERIC ED617466, 2017)</a:t>
              </a:r>
            </a:p>
          </p:txBody>
        </p:sp>
        <p:sp>
          <p:nvSpPr>
            <p:cNvPr id="20" name="TextBox 20"/>
            <p:cNvSpPr txBox="1"/>
            <p:nvPr/>
          </p:nvSpPr>
          <p:spPr>
            <a:xfrm>
              <a:off x="4336542" y="4064318"/>
              <a:ext cx="71855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federal report-card measure counts 15 days or more; ESSA requires the rate on report cards.</a:t>
              </a:r>
            </a:p>
          </p:txBody>
        </p:sp>
      </p:grpSp>
      <p:grpSp>
        <p:nvGrpSpPr>
          <p:cNvPr id="42" name="Group 42"/>
          <p:cNvGrpSpPr/>
          <p:nvPr/>
        </p:nvGrpSpPr>
        <p:grpSpPr>
          <a:xfrm>
            <a:off x="609600" y="4572000"/>
            <a:ext cx="4191000" cy="1605534"/>
            <a:chOff x="609600" y="4572000"/>
            <a:chExt cx="4191000" cy="1605534"/>
          </a:xfrm>
        </p:grpSpPr>
        <p:sp>
          <p:nvSpPr>
            <p:cNvPr id="22" name="Rectangle 22"/>
            <p:cNvSpPr/>
            <p:nvPr/>
          </p:nvSpPr>
          <p:spPr>
            <a:xfrm>
              <a:off x="609600" y="4572000"/>
              <a:ext cx="4191000" cy="457200"/>
            </a:xfrm>
            <a:prstGeom prst="roundRect">
              <a:avLst>
                <a:gd name="adj" fmla="val 50000"/>
              </a:avLst>
            </a:prstGeom>
            <a:solidFill>
              <a:schemeClr val="lt2"/>
            </a:solidFill>
            <a:ln>
              <a:noFill/>
            </a:ln>
          </p:spPr>
        </p:sp>
        <p:grpSp>
          <p:nvGrpSpPr>
            <p:cNvPr id="28" name="Group 28"/>
            <p:cNvGrpSpPr/>
            <p:nvPr/>
          </p:nvGrpSpPr>
          <p:grpSpPr>
            <a:xfrm>
              <a:off x="828675" y="4714875"/>
              <a:ext cx="180975" cy="171450"/>
              <a:chOff x="828675" y="4714875"/>
              <a:chExt cx="180975" cy="171450"/>
            </a:xfrm>
          </p:grpSpPr>
          <p:sp>
            <p:nvSpPr>
              <p:cNvPr id="23" name="Freeform 23"/>
              <p:cNvSpPr/>
              <p:nvPr/>
            </p:nvSpPr>
            <p:spPr>
              <a:xfrm>
                <a:off x="828675" y="4724400"/>
                <a:ext cx="104775" cy="104775"/>
              </a:xfrm>
              <a:custGeom>
                <a:avLst/>
                <a:gdLst/>
                <a:ahLst/>
                <a:cxnLst/>
                <a:rect l="l" t="t" r="r" b="b"/>
                <a:pathLst>
                  <a:path w="104775" h="104775">
                    <a:moveTo>
                      <a:pt x="28575" y="0"/>
                    </a:moveTo>
                    <a:lnTo>
                      <a:pt x="19050" y="0"/>
                    </a:lnTo>
                    <a:cubicBezTo>
                      <a:pt x="8529" y="0"/>
                      <a:pt x="0" y="8529"/>
                      <a:pt x="0" y="19050"/>
                    </a:cubicBezTo>
                    <a:lnTo>
                      <a:pt x="0" y="52388"/>
                    </a:lnTo>
                    <a:cubicBezTo>
                      <a:pt x="0" y="81320"/>
                      <a:pt x="23455" y="104775"/>
                      <a:pt x="52388" y="104775"/>
                    </a:cubicBezTo>
                    <a:cubicBezTo>
                      <a:pt x="81320" y="104775"/>
                      <a:pt x="104775" y="81320"/>
                      <a:pt x="104775" y="52388"/>
                    </a:cubicBezTo>
                    <a:lnTo>
                      <a:pt x="104775" y="19050"/>
                    </a:lnTo>
                    <a:cubicBezTo>
                      <a:pt x="104775" y="8529"/>
                      <a:pt x="96246" y="0"/>
                      <a:pt x="85725" y="0"/>
                    </a:cubicBezTo>
                    <a:lnTo>
                      <a:pt x="76200" y="0"/>
                    </a:lnTo>
                  </a:path>
                </a:pathLst>
              </a:custGeom>
              <a:noFill/>
              <a:ln w="19050">
                <a:solidFill>
                  <a:schemeClr val="accent3"/>
                </a:solidFill>
              </a:ln>
            </p:spPr>
          </p:sp>
          <p:sp>
            <p:nvSpPr>
              <p:cNvPr id="24" name="Freeform 24"/>
              <p:cNvSpPr/>
              <p:nvPr/>
            </p:nvSpPr>
            <p:spPr>
              <a:xfrm>
                <a:off x="876300" y="4800600"/>
                <a:ext cx="114300" cy="85725"/>
              </a:xfrm>
              <a:custGeom>
                <a:avLst/>
                <a:gdLst/>
                <a:ahLst/>
                <a:cxnLst/>
                <a:rect l="l" t="t" r="r" b="b"/>
                <a:pathLst>
                  <a:path w="114300" h="85725">
                    <a:moveTo>
                      <a:pt x="0" y="28575"/>
                    </a:moveTo>
                    <a:cubicBezTo>
                      <a:pt x="0" y="60138"/>
                      <a:pt x="25587" y="85725"/>
                      <a:pt x="57150" y="85725"/>
                    </a:cubicBezTo>
                    <a:cubicBezTo>
                      <a:pt x="88713" y="85725"/>
                      <a:pt x="114300" y="60138"/>
                      <a:pt x="114300" y="28575"/>
                    </a:cubicBezTo>
                    <a:lnTo>
                      <a:pt x="114300" y="0"/>
                    </a:lnTo>
                  </a:path>
                </a:pathLst>
              </a:custGeom>
              <a:noFill/>
              <a:ln w="19050">
                <a:solidFill>
                  <a:schemeClr val="accent3"/>
                </a:solidFill>
              </a:ln>
            </p:spPr>
          </p:sp>
          <p:sp>
            <p:nvSpPr>
              <p:cNvPr id="25" name="Freeform 25"/>
              <p:cNvSpPr/>
              <p:nvPr/>
            </p:nvSpPr>
            <p:spPr>
              <a:xfrm>
                <a:off x="904875" y="4714875"/>
                <a:ext cx="9525" cy="19050"/>
              </a:xfrm>
              <a:custGeom>
                <a:avLst/>
                <a:gdLst/>
                <a:ahLst/>
                <a:cxnLst/>
                <a:rect l="l" t="t" r="r" b="b"/>
                <a:pathLst>
                  <a:path w="9525" h="19050">
                    <a:moveTo>
                      <a:pt x="0" y="0"/>
                    </a:moveTo>
                    <a:lnTo>
                      <a:pt x="0" y="19050"/>
                    </a:lnTo>
                  </a:path>
                </a:pathLst>
              </a:custGeom>
              <a:noFill/>
              <a:ln w="19050">
                <a:solidFill>
                  <a:schemeClr val="accent3"/>
                </a:solidFill>
              </a:ln>
            </p:spPr>
          </p:sp>
          <p:sp>
            <p:nvSpPr>
              <p:cNvPr id="26" name="Freeform 26"/>
              <p:cNvSpPr/>
              <p:nvPr/>
            </p:nvSpPr>
            <p:spPr>
              <a:xfrm>
                <a:off x="857250" y="4714875"/>
                <a:ext cx="9525" cy="19050"/>
              </a:xfrm>
              <a:custGeom>
                <a:avLst/>
                <a:gdLst/>
                <a:ahLst/>
                <a:cxnLst/>
                <a:rect l="l" t="t" r="r" b="b"/>
                <a:pathLst>
                  <a:path w="9525" h="19050">
                    <a:moveTo>
                      <a:pt x="0" y="0"/>
                    </a:moveTo>
                    <a:lnTo>
                      <a:pt x="0" y="19050"/>
                    </a:lnTo>
                  </a:path>
                </a:pathLst>
              </a:custGeom>
              <a:noFill/>
              <a:ln w="19050">
                <a:solidFill>
                  <a:schemeClr val="accent3"/>
                </a:solidFill>
              </a:ln>
            </p:spPr>
          </p:sp>
          <p:sp>
            <p:nvSpPr>
              <p:cNvPr id="27" name="Freeform 27"/>
              <p:cNvSpPr/>
              <p:nvPr/>
            </p:nvSpPr>
            <p:spPr>
              <a:xfrm>
                <a:off x="971550" y="47625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chemeClr val="accent3"/>
                </a:solidFill>
              </a:ln>
            </p:spPr>
          </p:sp>
        </p:grpSp>
        <p:sp>
          <p:nvSpPr>
            <p:cNvPr id="29" name="TextBox 29"/>
            <p:cNvSpPr txBox="1"/>
            <p:nvPr/>
          </p:nvSpPr>
          <p:spPr>
            <a:xfrm>
              <a:off x="1133856" y="4682490"/>
              <a:ext cx="324944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Excused — illness, appointments</a:t>
              </a:r>
            </a:p>
          </p:txBody>
        </p:sp>
        <p:sp>
          <p:nvSpPr>
            <p:cNvPr id="30" name="Rectangle 30"/>
            <p:cNvSpPr/>
            <p:nvPr/>
          </p:nvSpPr>
          <p:spPr>
            <a:xfrm>
              <a:off x="609600" y="5143500"/>
              <a:ext cx="4191000" cy="457200"/>
            </a:xfrm>
            <a:prstGeom prst="roundRect">
              <a:avLst>
                <a:gd name="adj" fmla="val 50000"/>
              </a:avLst>
            </a:prstGeom>
            <a:solidFill>
              <a:schemeClr val="lt2"/>
            </a:solidFill>
            <a:ln>
              <a:noFill/>
            </a:ln>
          </p:spPr>
        </p:sp>
        <p:grpSp>
          <p:nvGrpSpPr>
            <p:cNvPr id="34" name="Group 34"/>
            <p:cNvGrpSpPr/>
            <p:nvPr/>
          </p:nvGrpSpPr>
          <p:grpSpPr>
            <a:xfrm>
              <a:off x="828675" y="5286375"/>
              <a:ext cx="171450" cy="171450"/>
              <a:chOff x="828675" y="5286375"/>
              <a:chExt cx="171450" cy="171450"/>
            </a:xfrm>
          </p:grpSpPr>
          <p:sp>
            <p:nvSpPr>
              <p:cNvPr id="31" name="Freeform 31"/>
              <p:cNvSpPr/>
              <p:nvPr/>
            </p:nvSpPr>
            <p:spPr>
              <a:xfrm>
                <a:off x="828675" y="5286375"/>
                <a:ext cx="171450" cy="85725"/>
              </a:xfrm>
              <a:custGeom>
                <a:avLst/>
                <a:gdLst/>
                <a:ahLst/>
                <a:cxnLst/>
                <a:rect l="l" t="t" r="r" b="b"/>
                <a:pathLst>
                  <a:path w="171450" h="85725">
                    <a:moveTo>
                      <a:pt x="19050" y="85725"/>
                    </a:moveTo>
                    <a:lnTo>
                      <a:pt x="0" y="85725"/>
                    </a:lnTo>
                    <a:lnTo>
                      <a:pt x="85725" y="0"/>
                    </a:lnTo>
                    <a:lnTo>
                      <a:pt x="171450" y="85725"/>
                    </a:lnTo>
                    <a:lnTo>
                      <a:pt x="152400" y="85725"/>
                    </a:lnTo>
                  </a:path>
                </a:pathLst>
              </a:custGeom>
              <a:noFill/>
              <a:ln w="19050">
                <a:solidFill>
                  <a:schemeClr val="accent3"/>
                </a:solidFill>
              </a:ln>
            </p:spPr>
          </p:sp>
          <p:sp>
            <p:nvSpPr>
              <p:cNvPr id="32" name="Freeform 32"/>
              <p:cNvSpPr/>
              <p:nvPr/>
            </p:nvSpPr>
            <p:spPr>
              <a:xfrm>
                <a:off x="847725" y="5372100"/>
                <a:ext cx="133350" cy="85725"/>
              </a:xfrm>
              <a:custGeom>
                <a:avLst/>
                <a:gdLst/>
                <a:ahLst/>
                <a:cxnLst/>
                <a:rect l="l" t="t" r="r" b="b"/>
                <a:pathLst>
                  <a:path w="133350" h="85725">
                    <a:moveTo>
                      <a:pt x="0" y="0"/>
                    </a:moveTo>
                    <a:lnTo>
                      <a:pt x="0" y="66675"/>
                    </a:lnTo>
                    <a:cubicBezTo>
                      <a:pt x="0" y="77196"/>
                      <a:pt x="8529" y="85725"/>
                      <a:pt x="19050" y="85725"/>
                    </a:cubicBezTo>
                    <a:lnTo>
                      <a:pt x="114300" y="85725"/>
                    </a:lnTo>
                    <a:cubicBezTo>
                      <a:pt x="124821" y="85725"/>
                      <a:pt x="133350" y="77196"/>
                      <a:pt x="133350" y="66675"/>
                    </a:cubicBezTo>
                    <a:lnTo>
                      <a:pt x="133350" y="0"/>
                    </a:lnTo>
                  </a:path>
                </a:pathLst>
              </a:custGeom>
              <a:noFill/>
              <a:ln w="19050">
                <a:solidFill>
                  <a:schemeClr val="accent3"/>
                </a:solidFill>
              </a:ln>
            </p:spPr>
          </p:sp>
          <p:sp>
            <p:nvSpPr>
              <p:cNvPr id="33" name="Freeform 33"/>
              <p:cNvSpPr/>
              <p:nvPr/>
            </p:nvSpPr>
            <p:spPr>
              <a:xfrm>
                <a:off x="885825" y="5381625"/>
                <a:ext cx="57150" cy="76200"/>
              </a:xfrm>
              <a:custGeom>
                <a:avLst/>
                <a:gdLst/>
                <a:ahLst/>
                <a:cxnLst/>
                <a:rect l="l" t="t" r="r" b="b"/>
                <a:pathLst>
                  <a:path w="57150" h="76200">
                    <a:moveTo>
                      <a:pt x="0" y="76200"/>
                    </a:moveTo>
                    <a:lnTo>
                      <a:pt x="0" y="19050"/>
                    </a:lnTo>
                    <a:cubicBezTo>
                      <a:pt x="0" y="8529"/>
                      <a:pt x="8529" y="0"/>
                      <a:pt x="19050" y="0"/>
                    </a:cubicBezTo>
                    <a:lnTo>
                      <a:pt x="38100" y="0"/>
                    </a:lnTo>
                    <a:cubicBezTo>
                      <a:pt x="48621" y="0"/>
                      <a:pt x="57150" y="8529"/>
                      <a:pt x="57150" y="19050"/>
                    </a:cubicBezTo>
                    <a:lnTo>
                      <a:pt x="57150" y="76200"/>
                    </a:lnTo>
                  </a:path>
                </a:pathLst>
              </a:custGeom>
              <a:noFill/>
              <a:ln w="19050">
                <a:solidFill>
                  <a:schemeClr val="accent3"/>
                </a:solidFill>
              </a:ln>
            </p:spPr>
          </p:sp>
        </p:grpSp>
        <p:sp>
          <p:nvSpPr>
            <p:cNvPr id="35" name="TextBox 35"/>
            <p:cNvSpPr txBox="1"/>
            <p:nvPr/>
          </p:nvSpPr>
          <p:spPr>
            <a:xfrm>
              <a:off x="1133856" y="5253990"/>
              <a:ext cx="336916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Unexcused — no accepted reason</a:t>
              </a:r>
            </a:p>
          </p:txBody>
        </p:sp>
        <p:sp>
          <p:nvSpPr>
            <p:cNvPr id="36" name="Rectangle 36"/>
            <p:cNvSpPr/>
            <p:nvPr/>
          </p:nvSpPr>
          <p:spPr>
            <a:xfrm>
              <a:off x="609600" y="5715000"/>
              <a:ext cx="4191000" cy="457200"/>
            </a:xfrm>
            <a:prstGeom prst="roundRect">
              <a:avLst>
                <a:gd name="adj" fmla="val 50000"/>
              </a:avLst>
            </a:prstGeom>
            <a:solidFill>
              <a:schemeClr val="lt2"/>
            </a:solidFill>
            <a:ln>
              <a:noFill/>
            </a:ln>
          </p:spPr>
        </p:sp>
        <p:grpSp>
          <p:nvGrpSpPr>
            <p:cNvPr id="40" name="Group 40"/>
            <p:cNvGrpSpPr/>
            <p:nvPr/>
          </p:nvGrpSpPr>
          <p:grpSpPr>
            <a:xfrm>
              <a:off x="818339" y="5854711"/>
              <a:ext cx="192114" cy="165051"/>
              <a:chOff x="818339" y="5854711"/>
              <a:chExt cx="192114" cy="165051"/>
            </a:xfrm>
          </p:grpSpPr>
          <p:sp>
            <p:nvSpPr>
              <p:cNvPr id="37" name="Freeform 37"/>
              <p:cNvSpPr/>
              <p:nvPr/>
            </p:nvSpPr>
            <p:spPr>
              <a:xfrm>
                <a:off x="914400" y="5915025"/>
                <a:ext cx="9525" cy="38100"/>
              </a:xfrm>
              <a:custGeom>
                <a:avLst/>
                <a:gdLst/>
                <a:ahLst/>
                <a:cxnLst/>
                <a:rect l="l" t="t" r="r" b="b"/>
                <a:pathLst>
                  <a:path w="9525" h="38100">
                    <a:moveTo>
                      <a:pt x="0" y="0"/>
                    </a:moveTo>
                    <a:lnTo>
                      <a:pt x="0" y="38100"/>
                    </a:lnTo>
                  </a:path>
                </a:pathLst>
              </a:custGeom>
              <a:noFill/>
              <a:ln w="19050">
                <a:solidFill>
                  <a:schemeClr val="accent3"/>
                </a:solidFill>
              </a:ln>
            </p:spPr>
          </p:sp>
          <p:sp>
            <p:nvSpPr>
              <p:cNvPr id="38" name="Freeform 38"/>
              <p:cNvSpPr/>
              <p:nvPr/>
            </p:nvSpPr>
            <p:spPr>
              <a:xfrm>
                <a:off x="818339" y="585471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chemeClr val="accent3"/>
                </a:solidFill>
              </a:ln>
            </p:spPr>
          </p:sp>
          <p:sp>
            <p:nvSpPr>
              <p:cNvPr id="39" name="Freeform 39"/>
              <p:cNvSpPr/>
              <p:nvPr/>
            </p:nvSpPr>
            <p:spPr>
              <a:xfrm>
                <a:off x="914400" y="5981700"/>
                <a:ext cx="9525" cy="9525"/>
              </a:xfrm>
              <a:custGeom>
                <a:avLst/>
                <a:gdLst/>
                <a:ahLst/>
                <a:cxnLst/>
                <a:rect l="l" t="t" r="r" b="b"/>
                <a:pathLst>
                  <a:path w="9525" h="9525">
                    <a:moveTo>
                      <a:pt x="0" y="0"/>
                    </a:moveTo>
                    <a:lnTo>
                      <a:pt x="95" y="0"/>
                    </a:lnTo>
                  </a:path>
                </a:pathLst>
              </a:custGeom>
              <a:noFill/>
              <a:ln w="19050">
                <a:solidFill>
                  <a:schemeClr val="accent3"/>
                </a:solidFill>
              </a:ln>
            </p:spPr>
          </p:sp>
        </p:grpSp>
        <p:sp>
          <p:nvSpPr>
            <p:cNvPr id="41" name="TextBox 41"/>
            <p:cNvSpPr txBox="1"/>
            <p:nvPr/>
          </p:nvSpPr>
          <p:spPr>
            <a:xfrm>
              <a:off x="1133856" y="5825490"/>
              <a:ext cx="234802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Days out on suspension</a:t>
              </a:r>
            </a:p>
          </p:txBody>
        </p:sp>
      </p:grpSp>
      <p:sp>
        <p:nvSpPr>
          <p:cNvPr id="43" name="Freeform 43"/>
          <p:cNvSpPr/>
          <p:nvPr/>
        </p:nvSpPr>
        <p:spPr>
          <a:xfrm>
            <a:off x="4914900" y="4572000"/>
            <a:ext cx="304800" cy="1600200"/>
          </a:xfrm>
          <a:prstGeom prst="rightBrace">
            <a:avLst/>
          </a:prstGeom>
          <a:noFill/>
          <a:ln w="23812">
            <a:solidFill>
              <a:schemeClr val="accent3"/>
            </a:solidFill>
          </a:ln>
        </p:spPr>
      </p:sp>
      <p:grpSp>
        <p:nvGrpSpPr>
          <p:cNvPr id="47" name="Group 47"/>
          <p:cNvGrpSpPr/>
          <p:nvPr/>
        </p:nvGrpSpPr>
        <p:grpSpPr>
          <a:xfrm>
            <a:off x="5932932" y="4650105"/>
            <a:ext cx="4426740" cy="1487996"/>
            <a:chOff x="5932932" y="4650105"/>
            <a:chExt cx="4426740" cy="1487996"/>
          </a:xfrm>
        </p:grpSpPr>
        <p:sp>
          <p:nvSpPr>
            <p:cNvPr id="44" name="TextBox 44"/>
            <p:cNvSpPr txBox="1"/>
            <p:nvPr/>
          </p:nvSpPr>
          <p:spPr>
            <a:xfrm>
              <a:off x="5932932" y="4650105"/>
              <a:ext cx="346685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All three count the same way</a:t>
              </a:r>
            </a:p>
          </p:txBody>
        </p:sp>
        <p:sp>
          <p:nvSpPr>
            <p:cNvPr id="45" name="TextBox 45"/>
            <p:cNvSpPr txBox="1"/>
            <p:nvPr/>
          </p:nvSpPr>
          <p:spPr>
            <a:xfrm>
              <a:off x="5934456" y="5101590"/>
              <a:ext cx="4425216" cy="99974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 xml:space="preserve">Riverbend's own baseline for 2025-26 is </a:t>
              </a:r>
              <a:r>
                <a:rPr lang="en-US" sz="1800" b="1" dirty="0">
                  <a:solidFill>
                    <a:schemeClr val="accent1"/>
                  </a:solidFill>
                  <a:latin typeface="+mn-lt"/>
                  <a:ea typeface="+mn-ea"/>
                  <a:cs typeface="+mn-cs"/>
                </a:rPr>
                <a:t>31%</a:t>
              </a:r>
              <a:r>
                <a:rPr lang="en-US" sz="1800" dirty="0">
                  <a:solidFill>
                    <a:schemeClr val="dk1"/>
                  </a:solidFill>
                  <a:latin typeface="+mn-lt"/>
                  <a:ea typeface="+mn-ea"/>
                  <a:cs typeface="+mn-cs"/>
                </a:rPr>
                <a:t xml:space="preserve"> —</a:t>
              </a:r>
              <a:br/>
              <a:r>
                <a:rPr lang="en-US" sz="1800" dirty="0">
                  <a:solidFill>
                    <a:schemeClr val="dk1"/>
                  </a:solidFill>
                  <a:latin typeface="+mn-lt"/>
                  <a:ea typeface="+mn-ea"/>
                  <a:cs typeface="+mn-cs"/>
                </a:rPr>
                <a:t>about 3,100 of 10,000 students. That is the</a:t>
              </a:r>
              <a:br/>
              <a:r>
                <a:rPr lang="en-US" sz="1800" dirty="0">
                  <a:solidFill>
                    <a:schemeClr val="dk1"/>
                  </a:solidFill>
                  <a:latin typeface="+mn-lt"/>
                  <a:ea typeface="+mn-ea"/>
                  <a:cs typeface="+mn-cs"/>
                </a:rPr>
                <a:t>number this proposal moves.</a:t>
              </a:r>
            </a:p>
          </p:txBody>
        </p:sp>
        <p:sp>
          <p:nvSpPr>
            <p:cNvPr id="46" name="TextBox 46"/>
            <p:cNvSpPr txBox="1"/>
            <p:nvPr/>
          </p:nvSpPr>
          <p:spPr>
            <a:xfrm>
              <a:off x="5936742" y="5874068"/>
              <a:ext cx="1897035" cy="264033"/>
            </a:xfrm>
            <a:prstGeom prst="rect">
              <a:avLst/>
            </a:prstGeom>
            <a:noFill/>
            <a:ln>
              <a:noFill/>
            </a:ln>
          </p:spPr>
          <p:txBody>
            <a:bodyPr wrap="none" lIns="0" tIns="0" rIns="0" bIns="0" anchor="t" anchorCtr="0">
              <a:spAutoFit/>
            </a:bodyPr>
            <a:lstStyle/>
            <a:p>
              <a:pPr algn="l"/>
              <a:r>
                <a:rPr lang="en-US" sz="1350" dirty="0">
                  <a:solidFill>
                    <a:srgbClr val="B0722B"/>
                  </a:solidFill>
                  <a:latin typeface="+mn-lt"/>
                  <a:ea typeface="+mn-ea"/>
                  <a:cs typeface="+mn-cs"/>
                </a:rPr>
                <a:t>Illustrative district figures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600" fill="hold"/>
                                        <p:tgtEl>
                                          <p:spTgt spid="16"/>
                                        </p:tgtEl>
                                        <p:attrNameLst>
                                          <p:attrName>ppt_w</p:attrName>
                                        </p:attrNameLst>
                                      </p:cBhvr>
                                      <p:tavLst>
                                        <p:tav tm="0">
                                          <p:val>
                                            <p:fltVal val="0"/>
                                          </p:val>
                                        </p:tav>
                                        <p:tav tm="100000">
                                          <p:val>
                                            <p:strVal val="#ppt_w"/>
                                          </p:val>
                                        </p:tav>
                                      </p:tavLst>
                                    </p:anim>
                                    <p:anim calcmode="lin" valueType="num">
                                      <p:cBhvr>
                                        <p:cTn id="8" dur="600" fill="hold"/>
                                        <p:tgtEl>
                                          <p:spTgt spid="16"/>
                                        </p:tgtEl>
                                        <p:attrNameLst>
                                          <p:attrName>ppt_h</p:attrName>
                                        </p:attrNameLst>
                                      </p:cBhvr>
                                      <p:tavLst>
                                        <p:tav tm="0">
                                          <p:val>
                                            <p:fltVal val="0"/>
                                          </p:val>
                                        </p:tav>
                                        <p:tav tm="100000">
                                          <p:val>
                                            <p:strVal val="#ppt_h"/>
                                          </p:val>
                                        </p:tav>
                                      </p:tavLst>
                                    </p:anim>
                                  </p:childTnLst>
                                </p:cTn>
                              </p:par>
                            </p:childTnLst>
                          </p:cTn>
                        </p:par>
                        <p:par>
                          <p:cTn id="9" fill="hold">
                            <p:stCondLst>
                              <p:cond delay="600"/>
                            </p:stCondLst>
                            <p:childTnLst>
                              <p:par>
                                <p:cTn xmlns:p="http://schemas.openxmlformats.org/presentationml/2006/main" id="10" presetID="10" presetClass="entr" presetSubtype="0" fill="hold" grpId="0" nodeType="afterEffect">
                                  <p:stCondLst>
                                    <p:cond delay="50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par>
                          <p:cTn id="13" fill="hold">
                            <p:stCondLst>
                              <p:cond delay="1600"/>
                            </p:stCondLst>
                            <p:childTnLst>
                              <p:par>
                                <p:cTn xmlns:p="http://schemas.openxmlformats.org/presentationml/2006/main" id="14" presetID="22" presetClass="entr" presetSubtype="4" fill="hold" grpId="0" nodeType="afterEffect">
                                  <p:stCondLst>
                                    <p:cond delay="500"/>
                                  </p:stCondLst>
                                  <p:childTnLst>
                                    <p:set>
                                      <p:cBhvr>
                                        <p:cTn id="15" dur="1" fill="hold">
                                          <p:stCondLst>
                                            <p:cond delay="0"/>
                                          </p:stCondLst>
                                        </p:cTn>
                                        <p:tgtEl>
                                          <p:spTgt spid="42"/>
                                        </p:tgtEl>
                                        <p:attrNameLst>
                                          <p:attrName>style.visibility</p:attrName>
                                        </p:attrNameLst>
                                      </p:cBhvr>
                                      <p:to>
                                        <p:strVal val="visible"/>
                                      </p:to>
                                    </p:set>
                                    <p:animEffect transition="in" filter="wipe(down)">
                                      <p:cBhvr>
                                        <p:cTn id="16" dur="600"/>
                                        <p:tgtEl>
                                          <p:spTgt spid="42"/>
                                        </p:tgtEl>
                                      </p:cBhvr>
                                    </p:animEffect>
                                  </p:childTnLst>
                                </p:cTn>
                              </p:par>
                            </p:childTnLst>
                          </p:cTn>
                        </p:par>
                        <p:par>
                          <p:cTn id="17" fill="hold">
                            <p:stCondLst>
                              <p:cond delay="2700"/>
                            </p:stCondLst>
                            <p:childTnLst>
                              <p:par>
                                <p:cTn xmlns:p="http://schemas.openxmlformats.org/presentationml/2006/main" id="18" presetID="10" presetClass="entr" presetSubtype="0" fill="hold" grpId="0" nodeType="afterEffect">
                                  <p:stCondLst>
                                    <p:cond delay="20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2742" y="749618"/>
            <a:ext cx="4054643" cy="264033"/>
            <a:chOff x="602742" y="749618"/>
            <a:chExt cx="4054643" cy="264033"/>
          </a:xfrm>
        </p:grpSpPr>
        <p:sp>
          <p:nvSpPr>
            <p:cNvPr id="2" name="TextBox 2"/>
            <p:cNvSpPr txBox="1"/>
            <p:nvPr/>
          </p:nvSpPr>
          <p:spPr>
            <a:xfrm>
              <a:off x="602742" y="749618"/>
              <a:ext cx="4054643"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THE EVIDENCE — PUBLISHED BENCHMARK</a:t>
              </a:r>
            </a:p>
          </p:txBody>
        </p:sp>
      </p:grpSp>
      <p:grpSp>
        <p:nvGrpSpPr>
          <p:cNvPr id="6" name="Group 6"/>
          <p:cNvGrpSpPr/>
          <p:nvPr/>
        </p:nvGrpSpPr>
        <p:grpSpPr>
          <a:xfrm>
            <a:off x="594360" y="1104900"/>
            <a:ext cx="10988040" cy="586740"/>
            <a:chOff x="594360" y="1104900"/>
            <a:chExt cx="10988040" cy="586740"/>
          </a:xfrm>
        </p:grpSpPr>
        <p:sp>
          <p:nvSpPr>
            <p:cNvPr id="4" name="TextBox 4"/>
            <p:cNvSpPr txBox="1"/>
            <p:nvPr/>
          </p:nvSpPr>
          <p:spPr>
            <a:xfrm>
              <a:off x="594360" y="1104900"/>
              <a:ext cx="857117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rate is still ten points above 2018-19</a:t>
              </a:r>
            </a:p>
          </p:txBody>
        </p:sp>
        <p:sp>
          <p:nvSpPr>
            <p:cNvPr id="5" name="Line 5"/>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932" y="1868805"/>
            <a:ext cx="8921405" cy="410718"/>
            <a:chOff x="598932" y="1868805"/>
            <a:chExt cx="8921405" cy="410718"/>
          </a:xfrm>
        </p:grpSpPr>
        <p:sp>
          <p:nvSpPr>
            <p:cNvPr id="7" name="TextBox 7"/>
            <p:cNvSpPr txBox="1"/>
            <p:nvPr/>
          </p:nvSpPr>
          <p:spPr>
            <a:xfrm>
              <a:off x="598932" y="1868805"/>
              <a:ext cx="892140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It rose by </a:t>
              </a:r>
              <a:r>
                <a:rPr lang="en-US" sz="2100" b="1" dirty="0">
                  <a:solidFill>
                    <a:schemeClr val="accent1"/>
                  </a:solidFill>
                  <a:latin typeface="+mn-lt"/>
                  <a:ea typeface="+mn-ea"/>
                  <a:cs typeface="+mn-cs"/>
                </a:rPr>
                <a:t>half</a:t>
              </a:r>
              <a:r>
                <a:rPr lang="en-US" sz="2100" dirty="0">
                  <a:solidFill>
                    <a:schemeClr val="dk1"/>
                  </a:solidFill>
                  <a:latin typeface="+mn-lt"/>
                  <a:ea typeface="+mn-ea"/>
                  <a:cs typeface="+mn-cs"/>
                </a:rPr>
                <a:t xml:space="preserve"> in the pandemic years and has recovered </a:t>
              </a:r>
              <a:r>
                <a:rPr lang="en-US" sz="2100" b="1" dirty="0">
                  <a:solidFill>
                    <a:schemeClr val="accent1"/>
                  </a:solidFill>
                  <a:latin typeface="+mn-lt"/>
                  <a:ea typeface="+mn-ea"/>
                  <a:cs typeface="+mn-cs"/>
                </a:rPr>
                <a:t>less than half</a:t>
              </a:r>
              <a:r>
                <a:rPr lang="en-US" sz="2100" dirty="0">
                  <a:solidFill>
                    <a:schemeClr val="dk1"/>
                  </a:solidFill>
                  <a:latin typeface="+mn-lt"/>
                  <a:ea typeface="+mn-ea"/>
                  <a:cs typeface="+mn-cs"/>
                </a:rPr>
                <a:t xml:space="preserve"> of that.</a:t>
              </a:r>
            </a:p>
          </p:txBody>
        </p:sp>
      </p:grpSp>
      <p:grpSp>
        <p:nvGrpSpPr>
          <p:cNvPr id="41" name="Group 41"/>
          <p:cNvGrpSpPr/>
          <p:nvPr/>
        </p:nvGrpSpPr>
        <p:grpSpPr>
          <a:xfrm>
            <a:off x="1183978" y="2578418"/>
            <a:ext cx="6436022" cy="3445383"/>
            <a:chOff x="1183978" y="2578418"/>
            <a:chExt cx="6436022" cy="3445383"/>
          </a:xfrm>
        </p:grpSpPr>
        <p:grpSp>
          <p:nvGrpSpPr>
            <p:cNvPr id="22" name="Group 22"/>
            <p:cNvGrpSpPr/>
            <p:nvPr/>
          </p:nvGrpSpPr>
          <p:grpSpPr>
            <a:xfrm>
              <a:off x="1619250" y="2857500"/>
              <a:ext cx="6000750" cy="2486025"/>
              <a:chOff x="1619250" y="2857500"/>
              <a:chExt cx="6000750" cy="2486025"/>
            </a:xfrm>
          </p:grpSpPr>
          <p:sp>
            <p:nvSpPr>
              <p:cNvPr id="9" name="Line 9"/>
              <p:cNvSpPr/>
              <p:nvPr/>
            </p:nvSpPr>
            <p:spPr>
              <a:xfrm>
                <a:off x="1619250" y="28575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0" name="Line 10"/>
              <p:cNvSpPr/>
              <p:nvPr/>
            </p:nvSpPr>
            <p:spPr>
              <a:xfrm>
                <a:off x="1619250" y="33528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1" name="Line 11"/>
              <p:cNvSpPr/>
              <p:nvPr/>
            </p:nvSpPr>
            <p:spPr>
              <a:xfrm>
                <a:off x="1619250" y="38481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2" name="Line 12"/>
              <p:cNvSpPr/>
              <p:nvPr/>
            </p:nvSpPr>
            <p:spPr>
              <a:xfrm>
                <a:off x="1619250" y="43434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3" name="Line 13"/>
              <p:cNvSpPr/>
              <p:nvPr/>
            </p:nvSpPr>
            <p:spPr>
              <a:xfrm>
                <a:off x="1619250" y="48387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4" name="Line 14"/>
              <p:cNvSpPr/>
              <p:nvPr/>
            </p:nvSpPr>
            <p:spPr>
              <a:xfrm>
                <a:off x="1619250" y="5334000"/>
                <a:ext cx="6000750" cy="9525"/>
              </a:xfrm>
              <a:custGeom>
                <a:avLst/>
                <a:gdLst/>
                <a:ahLst/>
                <a:cxnLst/>
                <a:rect l="l" t="t" r="r" b="b"/>
                <a:pathLst>
                  <a:path w="6000750" h="9525">
                    <a:moveTo>
                      <a:pt x="0" y="0"/>
                    </a:moveTo>
                    <a:lnTo>
                      <a:pt x="6000750" y="0"/>
                    </a:lnTo>
                  </a:path>
                </a:pathLst>
              </a:custGeom>
              <a:noFill/>
              <a:ln w="9525">
                <a:solidFill>
                  <a:schemeClr val="accent6"/>
                </a:solidFill>
              </a:ln>
            </p:spPr>
          </p:sp>
          <p:sp>
            <p:nvSpPr>
              <p:cNvPr id="15" name="Line 15"/>
              <p:cNvSpPr/>
              <p:nvPr/>
            </p:nvSpPr>
            <p:spPr>
              <a:xfrm>
                <a:off x="1619250" y="2857500"/>
                <a:ext cx="9525" cy="2476500"/>
              </a:xfrm>
              <a:custGeom>
                <a:avLst/>
                <a:gdLst/>
                <a:ahLst/>
                <a:cxnLst/>
                <a:rect l="l" t="t" r="r" b="b"/>
                <a:pathLst>
                  <a:path w="9525" h="2476500">
                    <a:moveTo>
                      <a:pt x="0" y="0"/>
                    </a:moveTo>
                    <a:lnTo>
                      <a:pt x="0" y="2476500"/>
                    </a:lnTo>
                  </a:path>
                </a:pathLst>
              </a:custGeom>
              <a:noFill/>
              <a:ln w="9525">
                <a:solidFill>
                  <a:schemeClr val="accent6"/>
                </a:solidFill>
              </a:ln>
            </p:spPr>
          </p:sp>
          <p:sp>
            <p:nvSpPr>
              <p:cNvPr id="16" name="Polyline 16"/>
              <p:cNvSpPr/>
              <p:nvPr/>
            </p:nvSpPr>
            <p:spPr>
              <a:xfrm>
                <a:off x="2219325" y="3332798"/>
                <a:ext cx="4800600" cy="1515428"/>
              </a:xfrm>
              <a:custGeom>
                <a:avLst/>
                <a:gdLst/>
                <a:ahLst/>
                <a:cxnLst/>
                <a:rect l="l" t="t" r="r" b="b"/>
                <a:pathLst>
                  <a:path w="4800600" h="1515428">
                    <a:moveTo>
                      <a:pt x="0" y="1366838"/>
                    </a:moveTo>
                    <a:lnTo>
                      <a:pt x="1200150" y="1515428"/>
                    </a:lnTo>
                    <a:lnTo>
                      <a:pt x="2400300" y="1089660"/>
                    </a:lnTo>
                    <a:lnTo>
                      <a:pt x="3600450" y="0"/>
                    </a:lnTo>
                    <a:lnTo>
                      <a:pt x="4800600" y="386715"/>
                    </a:lnTo>
                  </a:path>
                </a:pathLst>
              </a:custGeom>
              <a:noFill/>
              <a:ln w="28575">
                <a:solidFill>
                  <a:schemeClr val="accent1"/>
                </a:solidFill>
              </a:ln>
            </p:spPr>
          </p:sp>
          <p:sp>
            <p:nvSpPr>
              <p:cNvPr id="17" name="Ellipse 17"/>
              <p:cNvSpPr/>
              <p:nvPr/>
            </p:nvSpPr>
            <p:spPr>
              <a:xfrm>
                <a:off x="2162175" y="4642485"/>
                <a:ext cx="114300" cy="114300"/>
              </a:xfrm>
              <a:prstGeom prst="ellipse">
                <a:avLst/>
              </a:prstGeom>
              <a:solidFill>
                <a:schemeClr val="accent1"/>
              </a:solidFill>
              <a:ln>
                <a:noFill/>
              </a:ln>
            </p:spPr>
          </p:sp>
          <p:sp>
            <p:nvSpPr>
              <p:cNvPr id="18" name="Ellipse 18"/>
              <p:cNvSpPr/>
              <p:nvPr/>
            </p:nvSpPr>
            <p:spPr>
              <a:xfrm>
                <a:off x="3362325" y="4791075"/>
                <a:ext cx="114300" cy="114300"/>
              </a:xfrm>
              <a:prstGeom prst="ellipse">
                <a:avLst/>
              </a:prstGeom>
              <a:solidFill>
                <a:schemeClr val="accent1"/>
              </a:solidFill>
              <a:ln>
                <a:noFill/>
              </a:ln>
            </p:spPr>
          </p:sp>
          <p:sp>
            <p:nvSpPr>
              <p:cNvPr id="19" name="Ellipse 19"/>
              <p:cNvSpPr/>
              <p:nvPr/>
            </p:nvSpPr>
            <p:spPr>
              <a:xfrm>
                <a:off x="4562475" y="4365308"/>
                <a:ext cx="114300" cy="114300"/>
              </a:xfrm>
              <a:prstGeom prst="ellipse">
                <a:avLst/>
              </a:prstGeom>
              <a:solidFill>
                <a:schemeClr val="accent1"/>
              </a:solidFill>
              <a:ln>
                <a:noFill/>
              </a:ln>
            </p:spPr>
          </p:sp>
          <p:sp>
            <p:nvSpPr>
              <p:cNvPr id="20" name="Ellipse 20"/>
              <p:cNvSpPr/>
              <p:nvPr/>
            </p:nvSpPr>
            <p:spPr>
              <a:xfrm>
                <a:off x="5762625" y="3275648"/>
                <a:ext cx="114300" cy="114300"/>
              </a:xfrm>
              <a:prstGeom prst="ellipse">
                <a:avLst/>
              </a:prstGeom>
              <a:solidFill>
                <a:schemeClr val="accent2"/>
              </a:solidFill>
              <a:ln>
                <a:noFill/>
              </a:ln>
            </p:spPr>
          </p:sp>
          <p:sp>
            <p:nvSpPr>
              <p:cNvPr id="21" name="Ellipse 21"/>
              <p:cNvSpPr/>
              <p:nvPr/>
            </p:nvSpPr>
            <p:spPr>
              <a:xfrm>
                <a:off x="6962775" y="3662362"/>
                <a:ext cx="114300" cy="114300"/>
              </a:xfrm>
              <a:prstGeom prst="ellipse">
                <a:avLst/>
              </a:prstGeom>
              <a:solidFill>
                <a:schemeClr val="accent1"/>
              </a:solidFill>
              <a:ln>
                <a:noFill/>
              </a:ln>
            </p:spPr>
          </p:sp>
        </p:grpSp>
        <p:sp>
          <p:nvSpPr>
            <p:cNvPr id="23" name="TextBox 23"/>
            <p:cNvSpPr txBox="1"/>
            <p:nvPr/>
          </p:nvSpPr>
          <p:spPr>
            <a:xfrm>
              <a:off x="1183978" y="52454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20%</a:t>
              </a:r>
            </a:p>
          </p:txBody>
        </p:sp>
        <p:sp>
          <p:nvSpPr>
            <p:cNvPr id="24" name="TextBox 24"/>
            <p:cNvSpPr txBox="1"/>
            <p:nvPr/>
          </p:nvSpPr>
          <p:spPr>
            <a:xfrm>
              <a:off x="1183978" y="47501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25%</a:t>
              </a:r>
            </a:p>
          </p:txBody>
        </p:sp>
        <p:sp>
          <p:nvSpPr>
            <p:cNvPr id="25" name="TextBox 25"/>
            <p:cNvSpPr txBox="1"/>
            <p:nvPr/>
          </p:nvSpPr>
          <p:spPr>
            <a:xfrm>
              <a:off x="1183978" y="42548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30%</a:t>
              </a:r>
            </a:p>
          </p:txBody>
        </p:sp>
        <p:sp>
          <p:nvSpPr>
            <p:cNvPr id="26" name="TextBox 26"/>
            <p:cNvSpPr txBox="1"/>
            <p:nvPr/>
          </p:nvSpPr>
          <p:spPr>
            <a:xfrm>
              <a:off x="1183978" y="37595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35%</a:t>
              </a:r>
            </a:p>
          </p:txBody>
        </p:sp>
        <p:sp>
          <p:nvSpPr>
            <p:cNvPr id="27" name="TextBox 27"/>
            <p:cNvSpPr txBox="1"/>
            <p:nvPr/>
          </p:nvSpPr>
          <p:spPr>
            <a:xfrm>
              <a:off x="1183978" y="32642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40%</a:t>
              </a:r>
            </a:p>
          </p:txBody>
        </p:sp>
        <p:sp>
          <p:nvSpPr>
            <p:cNvPr id="28" name="TextBox 28"/>
            <p:cNvSpPr txBox="1"/>
            <p:nvPr/>
          </p:nvSpPr>
          <p:spPr>
            <a:xfrm>
              <a:off x="1183978" y="27689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45%</a:t>
              </a:r>
            </a:p>
          </p:txBody>
        </p:sp>
        <p:sp>
          <p:nvSpPr>
            <p:cNvPr id="29" name="TextBox 29"/>
            <p:cNvSpPr txBox="1"/>
            <p:nvPr/>
          </p:nvSpPr>
          <p:spPr>
            <a:xfrm>
              <a:off x="1908330" y="5474018"/>
              <a:ext cx="62199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2018-19</a:t>
              </a:r>
            </a:p>
          </p:txBody>
        </p:sp>
        <p:sp>
          <p:nvSpPr>
            <p:cNvPr id="30" name="TextBox 30"/>
            <p:cNvSpPr txBox="1"/>
            <p:nvPr/>
          </p:nvSpPr>
          <p:spPr>
            <a:xfrm>
              <a:off x="3108480" y="5474018"/>
              <a:ext cx="62199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2019-20</a:t>
              </a:r>
            </a:p>
          </p:txBody>
        </p:sp>
        <p:sp>
          <p:nvSpPr>
            <p:cNvPr id="31" name="TextBox 31"/>
            <p:cNvSpPr txBox="1"/>
            <p:nvPr/>
          </p:nvSpPr>
          <p:spPr>
            <a:xfrm>
              <a:off x="4308630" y="5474018"/>
              <a:ext cx="62199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2020-21</a:t>
              </a:r>
            </a:p>
          </p:txBody>
        </p:sp>
        <p:sp>
          <p:nvSpPr>
            <p:cNvPr id="32" name="TextBox 32"/>
            <p:cNvSpPr txBox="1"/>
            <p:nvPr/>
          </p:nvSpPr>
          <p:spPr>
            <a:xfrm>
              <a:off x="5508780" y="5474018"/>
              <a:ext cx="62199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2021-22</a:t>
              </a:r>
            </a:p>
          </p:txBody>
        </p:sp>
        <p:sp>
          <p:nvSpPr>
            <p:cNvPr id="33" name="TextBox 33"/>
            <p:cNvSpPr txBox="1"/>
            <p:nvPr/>
          </p:nvSpPr>
          <p:spPr>
            <a:xfrm>
              <a:off x="6708930" y="5474018"/>
              <a:ext cx="62199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2022-23</a:t>
              </a:r>
            </a:p>
          </p:txBody>
        </p:sp>
        <p:sp>
          <p:nvSpPr>
            <p:cNvPr id="34" name="TextBox 34"/>
            <p:cNvSpPr txBox="1"/>
            <p:nvPr/>
          </p:nvSpPr>
          <p:spPr>
            <a:xfrm>
              <a:off x="1960544" y="4385310"/>
              <a:ext cx="51756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26.4%</a:t>
              </a:r>
            </a:p>
          </p:txBody>
        </p:sp>
        <p:sp>
          <p:nvSpPr>
            <p:cNvPr id="35" name="TextBox 35"/>
            <p:cNvSpPr txBox="1"/>
            <p:nvPr/>
          </p:nvSpPr>
          <p:spPr>
            <a:xfrm>
              <a:off x="3160694" y="4533900"/>
              <a:ext cx="51756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24.9%</a:t>
              </a:r>
            </a:p>
          </p:txBody>
        </p:sp>
        <p:sp>
          <p:nvSpPr>
            <p:cNvPr id="36" name="TextBox 36"/>
            <p:cNvSpPr txBox="1"/>
            <p:nvPr/>
          </p:nvSpPr>
          <p:spPr>
            <a:xfrm>
              <a:off x="4360844" y="4108132"/>
              <a:ext cx="51756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29.2%</a:t>
              </a:r>
            </a:p>
          </p:txBody>
        </p:sp>
        <p:sp>
          <p:nvSpPr>
            <p:cNvPr id="37" name="TextBox 37"/>
            <p:cNvSpPr txBox="1"/>
            <p:nvPr/>
          </p:nvSpPr>
          <p:spPr>
            <a:xfrm>
              <a:off x="5560994" y="3018472"/>
              <a:ext cx="51756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40.2%</a:t>
              </a:r>
            </a:p>
          </p:txBody>
        </p:sp>
        <p:sp>
          <p:nvSpPr>
            <p:cNvPr id="38" name="TextBox 38"/>
            <p:cNvSpPr txBox="1"/>
            <p:nvPr/>
          </p:nvSpPr>
          <p:spPr>
            <a:xfrm>
              <a:off x="6761144" y="3405188"/>
              <a:ext cx="51756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36.3%</a:t>
              </a:r>
            </a:p>
          </p:txBody>
        </p:sp>
        <p:sp>
          <p:nvSpPr>
            <p:cNvPr id="39" name="TextBox 39"/>
            <p:cNvSpPr txBox="1"/>
            <p:nvPr/>
          </p:nvSpPr>
          <p:spPr>
            <a:xfrm>
              <a:off x="1612392" y="2578418"/>
              <a:ext cx="23987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 of students chronically absent</a:t>
              </a:r>
            </a:p>
          </p:txBody>
        </p:sp>
        <p:sp>
          <p:nvSpPr>
            <p:cNvPr id="40" name="TextBox 40"/>
            <p:cNvSpPr txBox="1"/>
            <p:nvPr/>
          </p:nvSpPr>
          <p:spPr>
            <a:xfrm>
              <a:off x="4183651" y="5759768"/>
              <a:ext cx="87194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School year</a:t>
              </a:r>
            </a:p>
          </p:txBody>
        </p:sp>
      </p:grpSp>
      <p:grpSp>
        <p:nvGrpSpPr>
          <p:cNvPr id="51" name="Group 51"/>
          <p:cNvGrpSpPr/>
          <p:nvPr/>
        </p:nvGrpSpPr>
        <p:grpSpPr>
          <a:xfrm>
            <a:off x="8146542" y="2578418"/>
            <a:ext cx="3435858" cy="3079432"/>
            <a:chOff x="8146542" y="2578418"/>
            <a:chExt cx="3435858" cy="3079432"/>
          </a:xfrm>
        </p:grpSpPr>
        <p:sp>
          <p:nvSpPr>
            <p:cNvPr id="42" name="TextBox 42"/>
            <p:cNvSpPr txBox="1"/>
            <p:nvPr/>
          </p:nvSpPr>
          <p:spPr>
            <a:xfrm>
              <a:off x="8146542" y="2578418"/>
              <a:ext cx="2629894"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HOW THIS WAS COMPUTED</a:t>
              </a:r>
            </a:p>
          </p:txBody>
        </p:sp>
        <p:sp>
          <p:nvSpPr>
            <p:cNvPr id="43" name="Line 43"/>
            <p:cNvSpPr/>
            <p:nvPr/>
          </p:nvSpPr>
          <p:spPr>
            <a:xfrm>
              <a:off x="8153400" y="2857500"/>
              <a:ext cx="3429000" cy="9525"/>
            </a:xfrm>
            <a:custGeom>
              <a:avLst/>
              <a:gdLst/>
              <a:ahLst/>
              <a:cxnLst/>
              <a:rect l="l" t="t" r="r" b="b"/>
              <a:pathLst>
                <a:path w="3429000" h="9525">
                  <a:moveTo>
                    <a:pt x="0" y="0"/>
                  </a:moveTo>
                  <a:lnTo>
                    <a:pt x="3429000" y="0"/>
                  </a:lnTo>
                </a:path>
              </a:pathLst>
            </a:custGeom>
            <a:noFill/>
            <a:ln w="9525">
              <a:solidFill>
                <a:schemeClr val="accent6"/>
              </a:solidFill>
            </a:ln>
          </p:spPr>
        </p:sp>
        <p:sp>
          <p:nvSpPr>
            <p:cNvPr id="44" name="TextBox 44"/>
            <p:cNvSpPr txBox="1"/>
            <p:nvPr/>
          </p:nvSpPr>
          <p:spPr>
            <a:xfrm>
              <a:off x="8146542" y="2997518"/>
              <a:ext cx="2533414" cy="12546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A student-weighted city-wide rate:</a:t>
              </a:r>
              <a:br/>
              <a:r>
                <a:rPr lang="en-US" sz="1350" dirty="0">
                  <a:solidFill>
                    <a:schemeClr val="dk1"/>
                  </a:solidFill>
                  <a:latin typeface="+mn-lt"/>
                  <a:ea typeface="+mn-ea"/>
                  <a:cs typeface="+mn-cs"/>
                </a:rPr>
                <a:t>chronically absent students divided</a:t>
              </a:r>
              <a:br/>
              <a:r>
                <a:rPr lang="en-US" sz="1350" dirty="0">
                  <a:solidFill>
                    <a:schemeClr val="dk1"/>
                  </a:solidFill>
                  <a:latin typeface="+mn-lt"/>
                  <a:ea typeface="+mn-ea"/>
                  <a:cs typeface="+mn-cs"/>
                </a:rPr>
                <a:t>by students contributing 10 or more</a:t>
              </a:r>
              <a:br/>
              <a:r>
                <a:rPr lang="en-US" sz="1350" dirty="0">
                  <a:solidFill>
                    <a:schemeClr val="dk1"/>
                  </a:solidFill>
                  <a:latin typeface="+mn-lt"/>
                  <a:ea typeface="+mn-ea"/>
                  <a:cs typeface="+mn-cs"/>
                </a:rPr>
                <a:t>total days, summed across every</a:t>
              </a:r>
              <a:br/>
              <a:r>
                <a:rPr lang="en-US" sz="1350" dirty="0">
                  <a:solidFill>
                    <a:schemeClr val="dk1"/>
                  </a:solidFill>
                  <a:latin typeface="+mn-lt"/>
                  <a:ea typeface="+mn-ea"/>
                  <a:cs typeface="+mn-cs"/>
                </a:rPr>
                <a:t>All Grades school row in that year.</a:t>
              </a:r>
            </a:p>
          </p:txBody>
        </p:sp>
        <p:sp>
          <p:nvSpPr>
            <p:cNvPr id="45" name="Rectangle 45"/>
            <p:cNvSpPr/>
            <p:nvPr/>
          </p:nvSpPr>
          <p:spPr>
            <a:xfrm>
              <a:off x="8153400" y="4591050"/>
              <a:ext cx="3429000" cy="1066800"/>
            </a:xfrm>
            <a:prstGeom prst="roundRect">
              <a:avLst>
                <a:gd name="adj" fmla="val 10714"/>
              </a:avLst>
            </a:prstGeom>
            <a:solidFill>
              <a:schemeClr val="lt2"/>
            </a:solidFill>
            <a:ln>
              <a:noFill/>
            </a:ln>
          </p:spPr>
        </p:sp>
        <p:grpSp>
          <p:nvGrpSpPr>
            <p:cNvPr id="49" name="Group 49"/>
            <p:cNvGrpSpPr/>
            <p:nvPr/>
          </p:nvGrpSpPr>
          <p:grpSpPr>
            <a:xfrm>
              <a:off x="8362139" y="4787911"/>
              <a:ext cx="192114" cy="165051"/>
              <a:chOff x="8362139" y="4787911"/>
              <a:chExt cx="192114" cy="165051"/>
            </a:xfrm>
          </p:grpSpPr>
          <p:sp>
            <p:nvSpPr>
              <p:cNvPr id="46" name="Freeform 46"/>
              <p:cNvSpPr/>
              <p:nvPr/>
            </p:nvSpPr>
            <p:spPr>
              <a:xfrm>
                <a:off x="8458200" y="4848225"/>
                <a:ext cx="9525" cy="38100"/>
              </a:xfrm>
              <a:custGeom>
                <a:avLst/>
                <a:gdLst/>
                <a:ahLst/>
                <a:cxnLst/>
                <a:rect l="l" t="t" r="r" b="b"/>
                <a:pathLst>
                  <a:path w="9525" h="38100">
                    <a:moveTo>
                      <a:pt x="0" y="0"/>
                    </a:moveTo>
                    <a:lnTo>
                      <a:pt x="0" y="38100"/>
                    </a:lnTo>
                  </a:path>
                </a:pathLst>
              </a:custGeom>
              <a:noFill/>
              <a:ln w="19050">
                <a:solidFill>
                  <a:srgbClr val="B0722B"/>
                </a:solidFill>
              </a:ln>
            </p:spPr>
          </p:sp>
          <p:sp>
            <p:nvSpPr>
              <p:cNvPr id="47" name="Freeform 47"/>
              <p:cNvSpPr/>
              <p:nvPr/>
            </p:nvSpPr>
            <p:spPr>
              <a:xfrm>
                <a:off x="8362139" y="478791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B0722B"/>
                </a:solidFill>
              </a:ln>
            </p:spPr>
          </p:sp>
          <p:sp>
            <p:nvSpPr>
              <p:cNvPr id="48" name="Freeform 48"/>
              <p:cNvSpPr/>
              <p:nvPr/>
            </p:nvSpPr>
            <p:spPr>
              <a:xfrm>
                <a:off x="8458200" y="4914900"/>
                <a:ext cx="9525" cy="9525"/>
              </a:xfrm>
              <a:custGeom>
                <a:avLst/>
                <a:gdLst/>
                <a:ahLst/>
                <a:cxnLst/>
                <a:rect l="l" t="t" r="r" b="b"/>
                <a:pathLst>
                  <a:path w="9525" h="9525">
                    <a:moveTo>
                      <a:pt x="0" y="0"/>
                    </a:moveTo>
                    <a:lnTo>
                      <a:pt x="95" y="0"/>
                    </a:lnTo>
                  </a:path>
                </a:pathLst>
              </a:custGeom>
              <a:noFill/>
              <a:ln w="19050">
                <a:solidFill>
                  <a:srgbClr val="B0722B"/>
                </a:solidFill>
              </a:ln>
            </p:spPr>
          </p:sp>
        </p:grpSp>
        <p:sp>
          <p:nvSpPr>
            <p:cNvPr id="50" name="TextBox 50"/>
            <p:cNvSpPr txBox="1"/>
            <p:nvPr/>
          </p:nvSpPr>
          <p:spPr>
            <a:xfrm>
              <a:off x="8337042" y="5112068"/>
              <a:ext cx="252883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New York City is a published</a:t>
              </a:r>
              <a:br/>
              <a:r>
                <a:rPr lang="en-US" sz="1350" dirty="0">
                  <a:solidFill>
                    <a:schemeClr val="dk1"/>
                  </a:solidFill>
                  <a:latin typeface="+mn-lt"/>
                  <a:ea typeface="+mn-ea"/>
                  <a:cs typeface="+mn-cs"/>
                </a:rPr>
                <a:t>benchmark, not Riverbend's figures.</a:t>
              </a:r>
            </a:p>
          </p:txBody>
        </p:sp>
      </p:grpSp>
      <p:grpSp>
        <p:nvGrpSpPr>
          <p:cNvPr id="53" name="Group 53"/>
          <p:cNvGrpSpPr/>
          <p:nvPr/>
        </p:nvGrpSpPr>
        <p:grpSpPr>
          <a:xfrm>
            <a:off x="603504" y="6271260"/>
            <a:ext cx="10129830" cy="234696"/>
            <a:chOff x="603504" y="6271260"/>
            <a:chExt cx="10129830" cy="234696"/>
          </a:xfrm>
        </p:grpSpPr>
        <p:sp>
          <p:nvSpPr>
            <p:cNvPr id="52" name="TextBox 52"/>
            <p:cNvSpPr txBox="1"/>
            <p:nvPr/>
          </p:nvSpPr>
          <p:spPr>
            <a:xfrm>
              <a:off x="603504" y="6271260"/>
              <a:ext cx="10129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NYC Open Data — End-of-Year Attendance and Chronic Absenteeism (dataset sgsi-66kk), school years 2018-19 to 2022-23; computed by Lantern.</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40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2742" y="749618"/>
            <a:ext cx="3084331" cy="264033"/>
            <a:chOff x="602742" y="749618"/>
            <a:chExt cx="3084331" cy="264033"/>
          </a:xfrm>
        </p:grpSpPr>
        <p:sp>
          <p:nvSpPr>
            <p:cNvPr id="2" name="TextBox 2"/>
            <p:cNvSpPr txBox="1"/>
            <p:nvPr/>
          </p:nvSpPr>
          <p:spPr>
            <a:xfrm>
              <a:off x="602742" y="749618"/>
              <a:ext cx="3084331"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THE EVIDENCE — DISTRIBUTION</a:t>
              </a:r>
            </a:p>
          </p:txBody>
        </p:sp>
      </p:grpSp>
      <p:grpSp>
        <p:nvGrpSpPr>
          <p:cNvPr id="6" name="Group 6"/>
          <p:cNvGrpSpPr/>
          <p:nvPr/>
        </p:nvGrpSpPr>
        <p:grpSpPr>
          <a:xfrm>
            <a:off x="594360" y="1104900"/>
            <a:ext cx="10988040" cy="586740"/>
            <a:chOff x="594360" y="1104900"/>
            <a:chExt cx="10988040" cy="586740"/>
          </a:xfrm>
        </p:grpSpPr>
        <p:sp>
          <p:nvSpPr>
            <p:cNvPr id="4" name="TextBox 4"/>
            <p:cNvSpPr txBox="1"/>
            <p:nvPr/>
          </p:nvSpPr>
          <p:spPr>
            <a:xfrm>
              <a:off x="594360" y="1104900"/>
              <a:ext cx="1009888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One city, one year: 16% to 46% across districts</a:t>
              </a:r>
            </a:p>
          </p:txBody>
        </p:sp>
        <p:sp>
          <p:nvSpPr>
            <p:cNvPr id="5" name="Line 5"/>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932" y="1792605"/>
            <a:ext cx="6635069" cy="753618"/>
            <a:chOff x="598932" y="1792605"/>
            <a:chExt cx="6635069" cy="753618"/>
          </a:xfrm>
        </p:grpSpPr>
        <p:sp>
          <p:nvSpPr>
            <p:cNvPr id="7" name="TextBox 7"/>
            <p:cNvSpPr txBox="1"/>
            <p:nvPr/>
          </p:nvSpPr>
          <p:spPr>
            <a:xfrm>
              <a:off x="598932" y="1792605"/>
              <a:ext cx="6635069" cy="753618"/>
            </a:xfrm>
            <a:prstGeom prst="rect">
              <a:avLst/>
            </a:prstGeom>
            <a:noFill/>
            <a:ln>
              <a:noFill/>
            </a:ln>
          </p:spPr>
          <p:txBody>
            <a:bodyPr wrap="none" lIns="0" tIns="0" rIns="0" bIns="0" anchor="t" anchorCtr="0">
              <a:spAutoFit/>
            </a:bodyPr>
            <a:lstStyle/>
            <a:p>
              <a:pPr algn="l">
                <a:lnSpc>
                  <a:spcPts val="2700"/>
                </a:lnSpc>
              </a:pPr>
              <a:r>
                <a:rPr lang="en-US" sz="2100" dirty="0">
                  <a:solidFill>
                    <a:schemeClr val="dk1"/>
                  </a:solidFill>
                  <a:latin typeface="+mn-lt"/>
                  <a:ea typeface="+mn-ea"/>
                  <a:cs typeface="+mn-cs"/>
                </a:rPr>
                <a:t xml:space="preserve">Chronic absenteeism </a:t>
              </a:r>
              <a:r>
                <a:rPr lang="en-US" sz="2100" b="1" dirty="0">
                  <a:solidFill>
                    <a:schemeClr val="accent1"/>
                  </a:solidFill>
                  <a:latin typeface="+mn-lt"/>
                  <a:ea typeface="+mn-ea"/>
                  <a:cs typeface="+mn-cs"/>
                </a:rPr>
                <a:t>concentrates</a:t>
              </a:r>
              <a:r>
                <a:rPr lang="en-US" sz="2100" dirty="0">
                  <a:solidFill>
                    <a:schemeClr val="dk1"/>
                  </a:solidFill>
                  <a:latin typeface="+mn-lt"/>
                  <a:ea typeface="+mn-ea"/>
                  <a:cs typeface="+mn-cs"/>
                </a:rPr>
                <a:t>, so a district average is an</a:t>
              </a:r>
              <a:br/>
              <a:r>
                <a:rPr lang="en-US" sz="2100" dirty="0">
                  <a:solidFill>
                    <a:schemeClr val="dk1"/>
                  </a:solidFill>
                  <a:latin typeface="+mn-lt"/>
                  <a:ea typeface="+mn-ea"/>
                  <a:cs typeface="+mn-cs"/>
                </a:rPr>
                <a:t>accounting figure — the plan has to be aimed at the tail.</a:t>
              </a:r>
            </a:p>
          </p:txBody>
        </p:sp>
      </p:grpSp>
      <p:grpSp>
        <p:nvGrpSpPr>
          <p:cNvPr id="93" name="Group 93"/>
          <p:cNvGrpSpPr/>
          <p:nvPr/>
        </p:nvGrpSpPr>
        <p:grpSpPr>
          <a:xfrm>
            <a:off x="898228" y="2578418"/>
            <a:ext cx="10531772" cy="3445383"/>
            <a:chOff x="898228" y="2578418"/>
            <a:chExt cx="10531772" cy="3445383"/>
          </a:xfrm>
        </p:grpSpPr>
        <p:grpSp>
          <p:nvGrpSpPr>
            <p:cNvPr id="48" name="Group 48"/>
            <p:cNvGrpSpPr/>
            <p:nvPr/>
          </p:nvGrpSpPr>
          <p:grpSpPr>
            <a:xfrm>
              <a:off x="1333500" y="2857500"/>
              <a:ext cx="10096500" cy="2486025"/>
              <a:chOff x="1333500" y="2857500"/>
              <a:chExt cx="10096500" cy="2486025"/>
            </a:xfrm>
          </p:grpSpPr>
          <p:sp>
            <p:nvSpPr>
              <p:cNvPr id="9" name="Line 9"/>
              <p:cNvSpPr/>
              <p:nvPr/>
            </p:nvSpPr>
            <p:spPr>
              <a:xfrm>
                <a:off x="1333500" y="2857500"/>
                <a:ext cx="10096500" cy="9525"/>
              </a:xfrm>
              <a:custGeom>
                <a:avLst/>
                <a:gdLst/>
                <a:ahLst/>
                <a:cxnLst/>
                <a:rect l="l" t="t" r="r" b="b"/>
                <a:pathLst>
                  <a:path w="10096500" h="9525">
                    <a:moveTo>
                      <a:pt x="0" y="0"/>
                    </a:moveTo>
                    <a:lnTo>
                      <a:pt x="10096500" y="0"/>
                    </a:lnTo>
                  </a:path>
                </a:pathLst>
              </a:custGeom>
              <a:noFill/>
              <a:ln w="9525">
                <a:solidFill>
                  <a:srgbClr val="EAE5DD"/>
                </a:solidFill>
              </a:ln>
            </p:spPr>
          </p:sp>
          <p:sp>
            <p:nvSpPr>
              <p:cNvPr id="10" name="Line 10"/>
              <p:cNvSpPr/>
              <p:nvPr/>
            </p:nvSpPr>
            <p:spPr>
              <a:xfrm>
                <a:off x="1333500" y="3352800"/>
                <a:ext cx="10096500" cy="9525"/>
              </a:xfrm>
              <a:custGeom>
                <a:avLst/>
                <a:gdLst/>
                <a:ahLst/>
                <a:cxnLst/>
                <a:rect l="l" t="t" r="r" b="b"/>
                <a:pathLst>
                  <a:path w="10096500" h="9525">
                    <a:moveTo>
                      <a:pt x="0" y="0"/>
                    </a:moveTo>
                    <a:lnTo>
                      <a:pt x="10096500" y="0"/>
                    </a:lnTo>
                  </a:path>
                </a:pathLst>
              </a:custGeom>
              <a:noFill/>
              <a:ln w="9525">
                <a:solidFill>
                  <a:srgbClr val="EAE5DD"/>
                </a:solidFill>
              </a:ln>
            </p:spPr>
          </p:sp>
          <p:sp>
            <p:nvSpPr>
              <p:cNvPr id="11" name="Line 11"/>
              <p:cNvSpPr/>
              <p:nvPr/>
            </p:nvSpPr>
            <p:spPr>
              <a:xfrm>
                <a:off x="1333500" y="3848100"/>
                <a:ext cx="10096500" cy="9525"/>
              </a:xfrm>
              <a:custGeom>
                <a:avLst/>
                <a:gdLst/>
                <a:ahLst/>
                <a:cxnLst/>
                <a:rect l="l" t="t" r="r" b="b"/>
                <a:pathLst>
                  <a:path w="10096500" h="9525">
                    <a:moveTo>
                      <a:pt x="0" y="0"/>
                    </a:moveTo>
                    <a:lnTo>
                      <a:pt x="10096500" y="0"/>
                    </a:lnTo>
                  </a:path>
                </a:pathLst>
              </a:custGeom>
              <a:noFill/>
              <a:ln w="9525">
                <a:solidFill>
                  <a:srgbClr val="EAE5DD"/>
                </a:solidFill>
              </a:ln>
            </p:spPr>
          </p:sp>
          <p:sp>
            <p:nvSpPr>
              <p:cNvPr id="12" name="Line 12"/>
              <p:cNvSpPr/>
              <p:nvPr/>
            </p:nvSpPr>
            <p:spPr>
              <a:xfrm>
                <a:off x="1333500" y="4343400"/>
                <a:ext cx="10096500" cy="9525"/>
              </a:xfrm>
              <a:custGeom>
                <a:avLst/>
                <a:gdLst/>
                <a:ahLst/>
                <a:cxnLst/>
                <a:rect l="l" t="t" r="r" b="b"/>
                <a:pathLst>
                  <a:path w="10096500" h="9525">
                    <a:moveTo>
                      <a:pt x="0" y="0"/>
                    </a:moveTo>
                    <a:lnTo>
                      <a:pt x="10096500" y="0"/>
                    </a:lnTo>
                  </a:path>
                </a:pathLst>
              </a:custGeom>
              <a:noFill/>
              <a:ln w="9525">
                <a:solidFill>
                  <a:srgbClr val="EAE5DD"/>
                </a:solidFill>
              </a:ln>
            </p:spPr>
          </p:sp>
          <p:sp>
            <p:nvSpPr>
              <p:cNvPr id="13" name="Line 13"/>
              <p:cNvSpPr/>
              <p:nvPr/>
            </p:nvSpPr>
            <p:spPr>
              <a:xfrm>
                <a:off x="1333500" y="4838700"/>
                <a:ext cx="10096500" cy="9525"/>
              </a:xfrm>
              <a:custGeom>
                <a:avLst/>
                <a:gdLst/>
                <a:ahLst/>
                <a:cxnLst/>
                <a:rect l="l" t="t" r="r" b="b"/>
                <a:pathLst>
                  <a:path w="10096500" h="9525">
                    <a:moveTo>
                      <a:pt x="0" y="0"/>
                    </a:moveTo>
                    <a:lnTo>
                      <a:pt x="10096500" y="0"/>
                    </a:lnTo>
                  </a:path>
                </a:pathLst>
              </a:custGeom>
              <a:noFill/>
              <a:ln w="9525">
                <a:solidFill>
                  <a:srgbClr val="EAE5DD"/>
                </a:solidFill>
              </a:ln>
            </p:spPr>
          </p:sp>
          <p:sp>
            <p:nvSpPr>
              <p:cNvPr id="14" name="Line 14"/>
              <p:cNvSpPr/>
              <p:nvPr/>
            </p:nvSpPr>
            <p:spPr>
              <a:xfrm>
                <a:off x="1333500" y="5334000"/>
                <a:ext cx="10096500" cy="9525"/>
              </a:xfrm>
              <a:custGeom>
                <a:avLst/>
                <a:gdLst/>
                <a:ahLst/>
                <a:cxnLst/>
                <a:rect l="l" t="t" r="r" b="b"/>
                <a:pathLst>
                  <a:path w="10096500" h="9525">
                    <a:moveTo>
                      <a:pt x="0" y="0"/>
                    </a:moveTo>
                    <a:lnTo>
                      <a:pt x="10096500" y="0"/>
                    </a:lnTo>
                  </a:path>
                </a:pathLst>
              </a:custGeom>
              <a:noFill/>
              <a:ln w="9525">
                <a:solidFill>
                  <a:schemeClr val="accent6"/>
                </a:solidFill>
              </a:ln>
            </p:spPr>
          </p:sp>
          <p:sp>
            <p:nvSpPr>
              <p:cNvPr id="15" name="Line 15"/>
              <p:cNvSpPr/>
              <p:nvPr/>
            </p:nvSpPr>
            <p:spPr>
              <a:xfrm>
                <a:off x="1333500" y="2857500"/>
                <a:ext cx="9525" cy="2476500"/>
              </a:xfrm>
              <a:custGeom>
                <a:avLst/>
                <a:gdLst/>
                <a:ahLst/>
                <a:cxnLst/>
                <a:rect l="l" t="t" r="r" b="b"/>
                <a:pathLst>
                  <a:path w="9525" h="2476500">
                    <a:moveTo>
                      <a:pt x="0" y="0"/>
                    </a:moveTo>
                    <a:lnTo>
                      <a:pt x="0" y="2476500"/>
                    </a:lnTo>
                  </a:path>
                </a:pathLst>
              </a:custGeom>
              <a:noFill/>
              <a:ln w="9525">
                <a:solidFill>
                  <a:schemeClr val="accent6"/>
                </a:solidFill>
              </a:ln>
            </p:spPr>
          </p:sp>
          <p:sp>
            <p:nvSpPr>
              <p:cNvPr id="16" name="Rectangle 16"/>
              <p:cNvSpPr/>
              <p:nvPr/>
            </p:nvSpPr>
            <p:spPr>
              <a:xfrm>
                <a:off x="1392650" y="4566285"/>
                <a:ext cx="197168" cy="767715"/>
              </a:xfrm>
              <a:prstGeom prst="rect">
                <a:avLst/>
              </a:prstGeom>
              <a:solidFill>
                <a:schemeClr val="accent2"/>
              </a:solidFill>
              <a:ln>
                <a:noFill/>
              </a:ln>
            </p:spPr>
          </p:sp>
          <p:sp>
            <p:nvSpPr>
              <p:cNvPr id="17" name="Rectangle 17"/>
              <p:cNvSpPr/>
              <p:nvPr/>
            </p:nvSpPr>
            <p:spPr>
              <a:xfrm>
                <a:off x="1708214" y="4561332"/>
                <a:ext cx="197168" cy="772668"/>
              </a:xfrm>
              <a:prstGeom prst="rect">
                <a:avLst/>
              </a:prstGeom>
              <a:solidFill>
                <a:schemeClr val="accent1"/>
              </a:solidFill>
              <a:ln>
                <a:noFill/>
              </a:ln>
            </p:spPr>
          </p:sp>
          <p:sp>
            <p:nvSpPr>
              <p:cNvPr id="18" name="Rectangle 18"/>
              <p:cNvSpPr/>
              <p:nvPr/>
            </p:nvSpPr>
            <p:spPr>
              <a:xfrm>
                <a:off x="2023682" y="4467225"/>
                <a:ext cx="197168" cy="866775"/>
              </a:xfrm>
              <a:prstGeom prst="rect">
                <a:avLst/>
              </a:prstGeom>
              <a:solidFill>
                <a:schemeClr val="accent1"/>
              </a:solidFill>
              <a:ln>
                <a:noFill/>
              </a:ln>
            </p:spPr>
          </p:sp>
          <p:sp>
            <p:nvSpPr>
              <p:cNvPr id="19" name="Rectangle 19"/>
              <p:cNvSpPr/>
              <p:nvPr/>
            </p:nvSpPr>
            <p:spPr>
              <a:xfrm>
                <a:off x="2339245" y="4397883"/>
                <a:ext cx="197168" cy="936117"/>
              </a:xfrm>
              <a:prstGeom prst="rect">
                <a:avLst/>
              </a:prstGeom>
              <a:solidFill>
                <a:schemeClr val="accent1"/>
              </a:solidFill>
              <a:ln>
                <a:noFill/>
              </a:ln>
            </p:spPr>
          </p:sp>
          <p:sp>
            <p:nvSpPr>
              <p:cNvPr id="20" name="Rectangle 20"/>
              <p:cNvSpPr/>
              <p:nvPr/>
            </p:nvSpPr>
            <p:spPr>
              <a:xfrm>
                <a:off x="2654713" y="4368165"/>
                <a:ext cx="197168" cy="965835"/>
              </a:xfrm>
              <a:prstGeom prst="rect">
                <a:avLst/>
              </a:prstGeom>
              <a:solidFill>
                <a:schemeClr val="accent1"/>
              </a:solidFill>
              <a:ln>
                <a:noFill/>
              </a:ln>
            </p:spPr>
          </p:sp>
          <p:sp>
            <p:nvSpPr>
              <p:cNvPr id="21" name="Rectangle 21"/>
              <p:cNvSpPr/>
              <p:nvPr/>
            </p:nvSpPr>
            <p:spPr>
              <a:xfrm>
                <a:off x="2970181" y="4368165"/>
                <a:ext cx="197168" cy="965835"/>
              </a:xfrm>
              <a:prstGeom prst="rect">
                <a:avLst/>
              </a:prstGeom>
              <a:solidFill>
                <a:schemeClr val="accent1"/>
              </a:solidFill>
              <a:ln>
                <a:noFill/>
              </a:ln>
            </p:spPr>
          </p:sp>
          <p:sp>
            <p:nvSpPr>
              <p:cNvPr id="22" name="Rectangle 22"/>
              <p:cNvSpPr/>
              <p:nvPr/>
            </p:nvSpPr>
            <p:spPr>
              <a:xfrm>
                <a:off x="3285744" y="4318635"/>
                <a:ext cx="197168" cy="1015365"/>
              </a:xfrm>
              <a:prstGeom prst="rect">
                <a:avLst/>
              </a:prstGeom>
              <a:solidFill>
                <a:schemeClr val="accent1"/>
              </a:solidFill>
              <a:ln>
                <a:noFill/>
              </a:ln>
            </p:spPr>
          </p:sp>
          <p:sp>
            <p:nvSpPr>
              <p:cNvPr id="23" name="Rectangle 23"/>
              <p:cNvSpPr/>
              <p:nvPr/>
            </p:nvSpPr>
            <p:spPr>
              <a:xfrm>
                <a:off x="3601212" y="4194810"/>
                <a:ext cx="197168" cy="1139190"/>
              </a:xfrm>
              <a:prstGeom prst="rect">
                <a:avLst/>
              </a:prstGeom>
              <a:solidFill>
                <a:schemeClr val="accent1"/>
              </a:solidFill>
              <a:ln>
                <a:noFill/>
              </a:ln>
            </p:spPr>
          </p:sp>
          <p:sp>
            <p:nvSpPr>
              <p:cNvPr id="24" name="Rectangle 24"/>
              <p:cNvSpPr/>
              <p:nvPr/>
            </p:nvSpPr>
            <p:spPr>
              <a:xfrm>
                <a:off x="3916775" y="4189857"/>
                <a:ext cx="197168" cy="1144143"/>
              </a:xfrm>
              <a:prstGeom prst="rect">
                <a:avLst/>
              </a:prstGeom>
              <a:solidFill>
                <a:schemeClr val="accent1"/>
              </a:solidFill>
              <a:ln>
                <a:noFill/>
              </a:ln>
            </p:spPr>
          </p:sp>
          <p:sp>
            <p:nvSpPr>
              <p:cNvPr id="25" name="Rectangle 25"/>
              <p:cNvSpPr/>
              <p:nvPr/>
            </p:nvSpPr>
            <p:spPr>
              <a:xfrm>
                <a:off x="4232243" y="4145280"/>
                <a:ext cx="197168" cy="1188720"/>
              </a:xfrm>
              <a:prstGeom prst="rect">
                <a:avLst/>
              </a:prstGeom>
              <a:solidFill>
                <a:schemeClr val="accent1"/>
              </a:solidFill>
              <a:ln>
                <a:noFill/>
              </a:ln>
            </p:spPr>
          </p:sp>
          <p:sp>
            <p:nvSpPr>
              <p:cNvPr id="26" name="Rectangle 26"/>
              <p:cNvSpPr/>
              <p:nvPr/>
            </p:nvSpPr>
            <p:spPr>
              <a:xfrm>
                <a:off x="4547806" y="4130421"/>
                <a:ext cx="197168" cy="1203579"/>
              </a:xfrm>
              <a:prstGeom prst="rect">
                <a:avLst/>
              </a:prstGeom>
              <a:solidFill>
                <a:schemeClr val="accent1"/>
              </a:solidFill>
              <a:ln>
                <a:noFill/>
              </a:ln>
            </p:spPr>
          </p:sp>
          <p:sp>
            <p:nvSpPr>
              <p:cNvPr id="27" name="Rectangle 27"/>
              <p:cNvSpPr/>
              <p:nvPr/>
            </p:nvSpPr>
            <p:spPr>
              <a:xfrm>
                <a:off x="4863274" y="4090797"/>
                <a:ext cx="197168" cy="1243203"/>
              </a:xfrm>
              <a:prstGeom prst="rect">
                <a:avLst/>
              </a:prstGeom>
              <a:solidFill>
                <a:schemeClr val="accent1"/>
              </a:solidFill>
              <a:ln>
                <a:noFill/>
              </a:ln>
            </p:spPr>
          </p:sp>
          <p:sp>
            <p:nvSpPr>
              <p:cNvPr id="28" name="Rectangle 28"/>
              <p:cNvSpPr/>
              <p:nvPr/>
            </p:nvSpPr>
            <p:spPr>
              <a:xfrm>
                <a:off x="5178838" y="3986784"/>
                <a:ext cx="197168" cy="1347216"/>
              </a:xfrm>
              <a:prstGeom prst="rect">
                <a:avLst/>
              </a:prstGeom>
              <a:solidFill>
                <a:schemeClr val="accent1"/>
              </a:solidFill>
              <a:ln>
                <a:noFill/>
              </a:ln>
            </p:spPr>
          </p:sp>
          <p:sp>
            <p:nvSpPr>
              <p:cNvPr id="29" name="Rectangle 29"/>
              <p:cNvSpPr/>
              <p:nvPr/>
            </p:nvSpPr>
            <p:spPr>
              <a:xfrm>
                <a:off x="5494401" y="3986784"/>
                <a:ext cx="197168" cy="1347216"/>
              </a:xfrm>
              <a:prstGeom prst="rect">
                <a:avLst/>
              </a:prstGeom>
              <a:solidFill>
                <a:schemeClr val="accent1"/>
              </a:solidFill>
              <a:ln>
                <a:noFill/>
              </a:ln>
            </p:spPr>
          </p:sp>
          <p:sp>
            <p:nvSpPr>
              <p:cNvPr id="30" name="Rectangle 30"/>
              <p:cNvSpPr/>
              <p:nvPr/>
            </p:nvSpPr>
            <p:spPr>
              <a:xfrm>
                <a:off x="5809869" y="3986784"/>
                <a:ext cx="197168" cy="1347216"/>
              </a:xfrm>
              <a:prstGeom prst="rect">
                <a:avLst/>
              </a:prstGeom>
              <a:solidFill>
                <a:schemeClr val="accent1"/>
              </a:solidFill>
              <a:ln>
                <a:noFill/>
              </a:ln>
            </p:spPr>
          </p:sp>
          <p:sp>
            <p:nvSpPr>
              <p:cNvPr id="31" name="Rectangle 31"/>
              <p:cNvSpPr/>
              <p:nvPr/>
            </p:nvSpPr>
            <p:spPr>
              <a:xfrm>
                <a:off x="6125432" y="3922395"/>
                <a:ext cx="197168" cy="1411605"/>
              </a:xfrm>
              <a:prstGeom prst="rect">
                <a:avLst/>
              </a:prstGeom>
              <a:solidFill>
                <a:schemeClr val="accent1"/>
              </a:solidFill>
              <a:ln>
                <a:noFill/>
              </a:ln>
            </p:spPr>
          </p:sp>
          <p:sp>
            <p:nvSpPr>
              <p:cNvPr id="32" name="Rectangle 32"/>
              <p:cNvSpPr/>
              <p:nvPr/>
            </p:nvSpPr>
            <p:spPr>
              <a:xfrm>
                <a:off x="6440900" y="3887724"/>
                <a:ext cx="197168" cy="1446276"/>
              </a:xfrm>
              <a:prstGeom prst="rect">
                <a:avLst/>
              </a:prstGeom>
              <a:solidFill>
                <a:schemeClr val="accent1"/>
              </a:solidFill>
              <a:ln>
                <a:noFill/>
              </a:ln>
            </p:spPr>
          </p:sp>
          <p:sp>
            <p:nvSpPr>
              <p:cNvPr id="33" name="Rectangle 33"/>
              <p:cNvSpPr/>
              <p:nvPr/>
            </p:nvSpPr>
            <p:spPr>
              <a:xfrm>
                <a:off x="6756464" y="3862959"/>
                <a:ext cx="197168" cy="1471041"/>
              </a:xfrm>
              <a:prstGeom prst="rect">
                <a:avLst/>
              </a:prstGeom>
              <a:solidFill>
                <a:schemeClr val="accent1"/>
              </a:solidFill>
              <a:ln>
                <a:noFill/>
              </a:ln>
            </p:spPr>
          </p:sp>
          <p:sp>
            <p:nvSpPr>
              <p:cNvPr id="34" name="Rectangle 34"/>
              <p:cNvSpPr/>
              <p:nvPr/>
            </p:nvSpPr>
            <p:spPr>
              <a:xfrm>
                <a:off x="7071932" y="3838194"/>
                <a:ext cx="197168" cy="1495806"/>
              </a:xfrm>
              <a:prstGeom prst="rect">
                <a:avLst/>
              </a:prstGeom>
              <a:solidFill>
                <a:schemeClr val="accent1"/>
              </a:solidFill>
              <a:ln>
                <a:noFill/>
              </a:ln>
            </p:spPr>
          </p:sp>
          <p:sp>
            <p:nvSpPr>
              <p:cNvPr id="35" name="Rectangle 35"/>
              <p:cNvSpPr/>
              <p:nvPr/>
            </p:nvSpPr>
            <p:spPr>
              <a:xfrm>
                <a:off x="7387495" y="3833241"/>
                <a:ext cx="197168" cy="1500759"/>
              </a:xfrm>
              <a:prstGeom prst="rect">
                <a:avLst/>
              </a:prstGeom>
              <a:solidFill>
                <a:schemeClr val="accent1"/>
              </a:solidFill>
              <a:ln>
                <a:noFill/>
              </a:ln>
            </p:spPr>
          </p:sp>
          <p:sp>
            <p:nvSpPr>
              <p:cNvPr id="36" name="Rectangle 36"/>
              <p:cNvSpPr/>
              <p:nvPr/>
            </p:nvSpPr>
            <p:spPr>
              <a:xfrm>
                <a:off x="7702963" y="3813429"/>
                <a:ext cx="197168" cy="1520571"/>
              </a:xfrm>
              <a:prstGeom prst="rect">
                <a:avLst/>
              </a:prstGeom>
              <a:solidFill>
                <a:schemeClr val="accent1"/>
              </a:solidFill>
              <a:ln>
                <a:noFill/>
              </a:ln>
            </p:spPr>
          </p:sp>
          <p:sp>
            <p:nvSpPr>
              <p:cNvPr id="37" name="Rectangle 37"/>
              <p:cNvSpPr/>
              <p:nvPr/>
            </p:nvSpPr>
            <p:spPr>
              <a:xfrm>
                <a:off x="8018526" y="3783711"/>
                <a:ext cx="197168" cy="1550289"/>
              </a:xfrm>
              <a:prstGeom prst="rect">
                <a:avLst/>
              </a:prstGeom>
              <a:solidFill>
                <a:schemeClr val="accent1"/>
              </a:solidFill>
              <a:ln>
                <a:noFill/>
              </a:ln>
            </p:spPr>
          </p:sp>
          <p:sp>
            <p:nvSpPr>
              <p:cNvPr id="38" name="Rectangle 38"/>
              <p:cNvSpPr/>
              <p:nvPr/>
            </p:nvSpPr>
            <p:spPr>
              <a:xfrm>
                <a:off x="8333994" y="3753993"/>
                <a:ext cx="197168" cy="1580007"/>
              </a:xfrm>
              <a:prstGeom prst="rect">
                <a:avLst/>
              </a:prstGeom>
              <a:solidFill>
                <a:schemeClr val="accent1"/>
              </a:solidFill>
              <a:ln>
                <a:noFill/>
              </a:ln>
            </p:spPr>
          </p:sp>
          <p:sp>
            <p:nvSpPr>
              <p:cNvPr id="39" name="Rectangle 39"/>
              <p:cNvSpPr/>
              <p:nvPr/>
            </p:nvSpPr>
            <p:spPr>
              <a:xfrm>
                <a:off x="8649557" y="3659886"/>
                <a:ext cx="197168" cy="1674114"/>
              </a:xfrm>
              <a:prstGeom prst="rect">
                <a:avLst/>
              </a:prstGeom>
              <a:solidFill>
                <a:schemeClr val="accent1"/>
              </a:solidFill>
              <a:ln>
                <a:noFill/>
              </a:ln>
            </p:spPr>
          </p:sp>
          <p:sp>
            <p:nvSpPr>
              <p:cNvPr id="40" name="Rectangle 40"/>
              <p:cNvSpPr/>
              <p:nvPr/>
            </p:nvSpPr>
            <p:spPr>
              <a:xfrm>
                <a:off x="8965025" y="3521202"/>
                <a:ext cx="197168" cy="1812798"/>
              </a:xfrm>
              <a:prstGeom prst="rect">
                <a:avLst/>
              </a:prstGeom>
              <a:solidFill>
                <a:schemeClr val="accent1"/>
              </a:solidFill>
              <a:ln>
                <a:noFill/>
              </a:ln>
            </p:spPr>
          </p:sp>
          <p:sp>
            <p:nvSpPr>
              <p:cNvPr id="41" name="Rectangle 41"/>
              <p:cNvSpPr/>
              <p:nvPr/>
            </p:nvSpPr>
            <p:spPr>
              <a:xfrm>
                <a:off x="9280588" y="3407283"/>
                <a:ext cx="197168" cy="1926717"/>
              </a:xfrm>
              <a:prstGeom prst="rect">
                <a:avLst/>
              </a:prstGeom>
              <a:solidFill>
                <a:schemeClr val="accent1"/>
              </a:solidFill>
              <a:ln>
                <a:noFill/>
              </a:ln>
            </p:spPr>
          </p:sp>
          <p:sp>
            <p:nvSpPr>
              <p:cNvPr id="42" name="Rectangle 42"/>
              <p:cNvSpPr/>
              <p:nvPr/>
            </p:nvSpPr>
            <p:spPr>
              <a:xfrm>
                <a:off x="9596056" y="3382518"/>
                <a:ext cx="197168" cy="1951482"/>
              </a:xfrm>
              <a:prstGeom prst="rect">
                <a:avLst/>
              </a:prstGeom>
              <a:solidFill>
                <a:schemeClr val="accent1"/>
              </a:solidFill>
              <a:ln>
                <a:noFill/>
              </a:ln>
            </p:spPr>
          </p:sp>
          <p:sp>
            <p:nvSpPr>
              <p:cNvPr id="43" name="Rectangle 43"/>
              <p:cNvSpPr/>
              <p:nvPr/>
            </p:nvSpPr>
            <p:spPr>
              <a:xfrm>
                <a:off x="9911620" y="3367659"/>
                <a:ext cx="197168" cy="1966341"/>
              </a:xfrm>
              <a:prstGeom prst="rect">
                <a:avLst/>
              </a:prstGeom>
              <a:solidFill>
                <a:schemeClr val="accent1"/>
              </a:solidFill>
              <a:ln>
                <a:noFill/>
              </a:ln>
            </p:spPr>
          </p:sp>
          <p:sp>
            <p:nvSpPr>
              <p:cNvPr id="44" name="Rectangle 44"/>
              <p:cNvSpPr/>
              <p:nvPr/>
            </p:nvSpPr>
            <p:spPr>
              <a:xfrm>
                <a:off x="10227088" y="3362706"/>
                <a:ext cx="197168" cy="1971294"/>
              </a:xfrm>
              <a:prstGeom prst="rect">
                <a:avLst/>
              </a:prstGeom>
              <a:solidFill>
                <a:schemeClr val="accent1"/>
              </a:solidFill>
              <a:ln>
                <a:noFill/>
              </a:ln>
            </p:spPr>
          </p:sp>
          <p:sp>
            <p:nvSpPr>
              <p:cNvPr id="45" name="Rectangle 45"/>
              <p:cNvSpPr/>
              <p:nvPr/>
            </p:nvSpPr>
            <p:spPr>
              <a:xfrm>
                <a:off x="10542651" y="3273552"/>
                <a:ext cx="197168" cy="2060448"/>
              </a:xfrm>
              <a:prstGeom prst="rect">
                <a:avLst/>
              </a:prstGeom>
              <a:solidFill>
                <a:schemeClr val="accent1"/>
              </a:solidFill>
              <a:ln>
                <a:noFill/>
              </a:ln>
            </p:spPr>
          </p:sp>
          <p:sp>
            <p:nvSpPr>
              <p:cNvPr id="46" name="Rectangle 46"/>
              <p:cNvSpPr/>
              <p:nvPr/>
            </p:nvSpPr>
            <p:spPr>
              <a:xfrm>
                <a:off x="10858119" y="3085338"/>
                <a:ext cx="197168" cy="2248662"/>
              </a:xfrm>
              <a:prstGeom prst="rect">
                <a:avLst/>
              </a:prstGeom>
              <a:solidFill>
                <a:schemeClr val="accent1"/>
              </a:solidFill>
              <a:ln>
                <a:noFill/>
              </a:ln>
            </p:spPr>
          </p:sp>
          <p:sp>
            <p:nvSpPr>
              <p:cNvPr id="47" name="Rectangle 47"/>
              <p:cNvSpPr/>
              <p:nvPr/>
            </p:nvSpPr>
            <p:spPr>
              <a:xfrm>
                <a:off x="11173682" y="3045714"/>
                <a:ext cx="197168" cy="2288286"/>
              </a:xfrm>
              <a:prstGeom prst="rect">
                <a:avLst/>
              </a:prstGeom>
              <a:solidFill>
                <a:schemeClr val="accent2"/>
              </a:solidFill>
              <a:ln>
                <a:noFill/>
              </a:ln>
            </p:spPr>
          </p:sp>
        </p:grpSp>
        <p:sp>
          <p:nvSpPr>
            <p:cNvPr id="49" name="TextBox 49"/>
            <p:cNvSpPr txBox="1"/>
            <p:nvPr/>
          </p:nvSpPr>
          <p:spPr>
            <a:xfrm>
              <a:off x="990332" y="5245418"/>
              <a:ext cx="235726"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a:t>
              </a:r>
            </a:p>
          </p:txBody>
        </p:sp>
        <p:sp>
          <p:nvSpPr>
            <p:cNvPr id="50" name="TextBox 50"/>
            <p:cNvSpPr txBox="1"/>
            <p:nvPr/>
          </p:nvSpPr>
          <p:spPr>
            <a:xfrm>
              <a:off x="898228" y="47501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10%</a:t>
              </a:r>
            </a:p>
          </p:txBody>
        </p:sp>
        <p:sp>
          <p:nvSpPr>
            <p:cNvPr id="51" name="TextBox 51"/>
            <p:cNvSpPr txBox="1"/>
            <p:nvPr/>
          </p:nvSpPr>
          <p:spPr>
            <a:xfrm>
              <a:off x="898228" y="42548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20%</a:t>
              </a:r>
            </a:p>
          </p:txBody>
        </p:sp>
        <p:sp>
          <p:nvSpPr>
            <p:cNvPr id="52" name="TextBox 52"/>
            <p:cNvSpPr txBox="1"/>
            <p:nvPr/>
          </p:nvSpPr>
          <p:spPr>
            <a:xfrm>
              <a:off x="898228" y="37595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30%</a:t>
              </a:r>
            </a:p>
          </p:txBody>
        </p:sp>
        <p:sp>
          <p:nvSpPr>
            <p:cNvPr id="53" name="TextBox 53"/>
            <p:cNvSpPr txBox="1"/>
            <p:nvPr/>
          </p:nvSpPr>
          <p:spPr>
            <a:xfrm>
              <a:off x="898228" y="32642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40%</a:t>
              </a:r>
            </a:p>
          </p:txBody>
        </p:sp>
        <p:sp>
          <p:nvSpPr>
            <p:cNvPr id="54" name="TextBox 54"/>
            <p:cNvSpPr txBox="1"/>
            <p:nvPr/>
          </p:nvSpPr>
          <p:spPr>
            <a:xfrm>
              <a:off x="898228" y="27689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50%</a:t>
              </a:r>
            </a:p>
          </p:txBody>
        </p:sp>
        <p:sp>
          <p:nvSpPr>
            <p:cNvPr id="55" name="TextBox 55"/>
            <p:cNvSpPr txBox="1"/>
            <p:nvPr/>
          </p:nvSpPr>
          <p:spPr>
            <a:xfrm>
              <a:off x="1392272"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a:t>
              </a:r>
            </a:p>
          </p:txBody>
        </p:sp>
        <p:sp>
          <p:nvSpPr>
            <p:cNvPr id="56" name="TextBox 56"/>
            <p:cNvSpPr txBox="1"/>
            <p:nvPr/>
          </p:nvSpPr>
          <p:spPr>
            <a:xfrm>
              <a:off x="1707835"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26</a:t>
              </a:r>
            </a:p>
          </p:txBody>
        </p:sp>
        <p:sp>
          <p:nvSpPr>
            <p:cNvPr id="57" name="TextBox 57"/>
            <p:cNvSpPr txBox="1"/>
            <p:nvPr/>
          </p:nvSpPr>
          <p:spPr>
            <a:xfrm>
              <a:off x="2023303"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24</a:t>
              </a:r>
            </a:p>
          </p:txBody>
        </p:sp>
        <p:sp>
          <p:nvSpPr>
            <p:cNvPr id="58" name="TextBox 58"/>
            <p:cNvSpPr txBox="1"/>
            <p:nvPr/>
          </p:nvSpPr>
          <p:spPr>
            <a:xfrm>
              <a:off x="2338866"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25</a:t>
              </a:r>
            </a:p>
          </p:txBody>
        </p:sp>
        <p:sp>
          <p:nvSpPr>
            <p:cNvPr id="59" name="TextBox 59"/>
            <p:cNvSpPr txBox="1"/>
            <p:nvPr/>
          </p:nvSpPr>
          <p:spPr>
            <a:xfrm>
              <a:off x="2654334"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15</a:t>
              </a:r>
            </a:p>
          </p:txBody>
        </p:sp>
        <p:sp>
          <p:nvSpPr>
            <p:cNvPr id="60" name="TextBox 60"/>
            <p:cNvSpPr txBox="1"/>
            <p:nvPr/>
          </p:nvSpPr>
          <p:spPr>
            <a:xfrm>
              <a:off x="2969802"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30</a:t>
              </a:r>
            </a:p>
          </p:txBody>
        </p:sp>
        <p:sp>
          <p:nvSpPr>
            <p:cNvPr id="61" name="TextBox 61"/>
            <p:cNvSpPr txBox="1"/>
            <p:nvPr/>
          </p:nvSpPr>
          <p:spPr>
            <a:xfrm>
              <a:off x="3285365"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22</a:t>
              </a:r>
            </a:p>
          </p:txBody>
        </p:sp>
        <p:sp>
          <p:nvSpPr>
            <p:cNvPr id="62" name="TextBox 62"/>
            <p:cNvSpPr txBox="1"/>
            <p:nvPr/>
          </p:nvSpPr>
          <p:spPr>
            <a:xfrm>
              <a:off x="3600833"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31</a:t>
              </a:r>
            </a:p>
          </p:txBody>
        </p:sp>
        <p:sp>
          <p:nvSpPr>
            <p:cNvPr id="63" name="TextBox 63"/>
            <p:cNvSpPr txBox="1"/>
            <p:nvPr/>
          </p:nvSpPr>
          <p:spPr>
            <a:xfrm>
              <a:off x="3962449"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3</a:t>
              </a:r>
            </a:p>
          </p:txBody>
        </p:sp>
        <p:sp>
          <p:nvSpPr>
            <p:cNvPr id="64" name="TextBox 64"/>
            <p:cNvSpPr txBox="1"/>
            <p:nvPr/>
          </p:nvSpPr>
          <p:spPr>
            <a:xfrm>
              <a:off x="4231865"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28</a:t>
              </a:r>
            </a:p>
          </p:txBody>
        </p:sp>
        <p:sp>
          <p:nvSpPr>
            <p:cNvPr id="65" name="TextBox 65"/>
            <p:cNvSpPr txBox="1"/>
            <p:nvPr/>
          </p:nvSpPr>
          <p:spPr>
            <a:xfrm>
              <a:off x="4593480"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a:t>
              </a:r>
            </a:p>
          </p:txBody>
        </p:sp>
        <p:sp>
          <p:nvSpPr>
            <p:cNvPr id="66" name="TextBox 66"/>
            <p:cNvSpPr txBox="1"/>
            <p:nvPr/>
          </p:nvSpPr>
          <p:spPr>
            <a:xfrm>
              <a:off x="4862896"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21</a:t>
              </a:r>
            </a:p>
          </p:txBody>
        </p:sp>
        <p:sp>
          <p:nvSpPr>
            <p:cNvPr id="67" name="TextBox 67"/>
            <p:cNvSpPr txBox="1"/>
            <p:nvPr/>
          </p:nvSpPr>
          <p:spPr>
            <a:xfrm>
              <a:off x="5224511"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6</a:t>
              </a:r>
            </a:p>
          </p:txBody>
        </p:sp>
        <p:sp>
          <p:nvSpPr>
            <p:cNvPr id="68" name="TextBox 68"/>
            <p:cNvSpPr txBox="1"/>
            <p:nvPr/>
          </p:nvSpPr>
          <p:spPr>
            <a:xfrm>
              <a:off x="5494022"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13</a:t>
              </a:r>
            </a:p>
          </p:txBody>
        </p:sp>
        <p:sp>
          <p:nvSpPr>
            <p:cNvPr id="69" name="TextBox 69"/>
            <p:cNvSpPr txBox="1"/>
            <p:nvPr/>
          </p:nvSpPr>
          <p:spPr>
            <a:xfrm>
              <a:off x="5809490"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29</a:t>
              </a:r>
            </a:p>
          </p:txBody>
        </p:sp>
        <p:sp>
          <p:nvSpPr>
            <p:cNvPr id="70" name="TextBox 70"/>
            <p:cNvSpPr txBox="1"/>
            <p:nvPr/>
          </p:nvSpPr>
          <p:spPr>
            <a:xfrm>
              <a:off x="6125054"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27</a:t>
              </a:r>
            </a:p>
          </p:txBody>
        </p:sp>
        <p:sp>
          <p:nvSpPr>
            <p:cNvPr id="71" name="TextBox 71"/>
            <p:cNvSpPr txBox="1"/>
            <p:nvPr/>
          </p:nvSpPr>
          <p:spPr>
            <a:xfrm>
              <a:off x="6486574"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a:t>
              </a:r>
            </a:p>
          </p:txBody>
        </p:sp>
        <p:sp>
          <p:nvSpPr>
            <p:cNvPr id="72" name="TextBox 72"/>
            <p:cNvSpPr txBox="1"/>
            <p:nvPr/>
          </p:nvSpPr>
          <p:spPr>
            <a:xfrm>
              <a:off x="6756085"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11</a:t>
              </a:r>
            </a:p>
          </p:txBody>
        </p:sp>
        <p:sp>
          <p:nvSpPr>
            <p:cNvPr id="73" name="TextBox 73"/>
            <p:cNvSpPr txBox="1"/>
            <p:nvPr/>
          </p:nvSpPr>
          <p:spPr>
            <a:xfrm>
              <a:off x="7071553"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32</a:t>
              </a:r>
            </a:p>
          </p:txBody>
        </p:sp>
        <p:sp>
          <p:nvSpPr>
            <p:cNvPr id="74" name="TextBox 74"/>
            <p:cNvSpPr txBox="1"/>
            <p:nvPr/>
          </p:nvSpPr>
          <p:spPr>
            <a:xfrm>
              <a:off x="7387116"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10</a:t>
              </a:r>
            </a:p>
          </p:txBody>
        </p:sp>
        <p:sp>
          <p:nvSpPr>
            <p:cNvPr id="75" name="TextBox 75"/>
            <p:cNvSpPr txBox="1"/>
            <p:nvPr/>
          </p:nvSpPr>
          <p:spPr>
            <a:xfrm>
              <a:off x="7702584"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17</a:t>
              </a:r>
            </a:p>
          </p:txBody>
        </p:sp>
        <p:sp>
          <p:nvSpPr>
            <p:cNvPr id="76" name="TextBox 76"/>
            <p:cNvSpPr txBox="1"/>
            <p:nvPr/>
          </p:nvSpPr>
          <p:spPr>
            <a:xfrm>
              <a:off x="8064200"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4</a:t>
              </a:r>
            </a:p>
          </p:txBody>
        </p:sp>
        <p:sp>
          <p:nvSpPr>
            <p:cNvPr id="77" name="TextBox 77"/>
            <p:cNvSpPr txBox="1"/>
            <p:nvPr/>
          </p:nvSpPr>
          <p:spPr>
            <a:xfrm>
              <a:off x="8333615"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14</a:t>
              </a:r>
            </a:p>
          </p:txBody>
        </p:sp>
        <p:sp>
          <p:nvSpPr>
            <p:cNvPr id="78" name="TextBox 78"/>
            <p:cNvSpPr txBox="1"/>
            <p:nvPr/>
          </p:nvSpPr>
          <p:spPr>
            <a:xfrm>
              <a:off x="8649179"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18</a:t>
              </a:r>
            </a:p>
          </p:txBody>
        </p:sp>
        <p:sp>
          <p:nvSpPr>
            <p:cNvPr id="79" name="TextBox 79"/>
            <p:cNvSpPr txBox="1"/>
            <p:nvPr/>
          </p:nvSpPr>
          <p:spPr>
            <a:xfrm>
              <a:off x="9010699"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9</a:t>
              </a:r>
            </a:p>
          </p:txBody>
        </p:sp>
        <p:sp>
          <p:nvSpPr>
            <p:cNvPr id="80" name="TextBox 80"/>
            <p:cNvSpPr txBox="1"/>
            <p:nvPr/>
          </p:nvSpPr>
          <p:spPr>
            <a:xfrm>
              <a:off x="9280210"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19</a:t>
              </a:r>
            </a:p>
          </p:txBody>
        </p:sp>
        <p:sp>
          <p:nvSpPr>
            <p:cNvPr id="81" name="TextBox 81"/>
            <p:cNvSpPr txBox="1"/>
            <p:nvPr/>
          </p:nvSpPr>
          <p:spPr>
            <a:xfrm>
              <a:off x="9595678"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12</a:t>
              </a:r>
            </a:p>
          </p:txBody>
        </p:sp>
        <p:sp>
          <p:nvSpPr>
            <p:cNvPr id="82" name="TextBox 82"/>
            <p:cNvSpPr txBox="1"/>
            <p:nvPr/>
          </p:nvSpPr>
          <p:spPr>
            <a:xfrm>
              <a:off x="9957293"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5</a:t>
              </a:r>
            </a:p>
          </p:txBody>
        </p:sp>
        <p:sp>
          <p:nvSpPr>
            <p:cNvPr id="83" name="TextBox 83"/>
            <p:cNvSpPr txBox="1"/>
            <p:nvPr/>
          </p:nvSpPr>
          <p:spPr>
            <a:xfrm>
              <a:off x="10272761"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8</a:t>
              </a:r>
            </a:p>
          </p:txBody>
        </p:sp>
        <p:sp>
          <p:nvSpPr>
            <p:cNvPr id="84" name="TextBox 84"/>
            <p:cNvSpPr txBox="1"/>
            <p:nvPr/>
          </p:nvSpPr>
          <p:spPr>
            <a:xfrm>
              <a:off x="10588325"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7</a:t>
              </a:r>
            </a:p>
          </p:txBody>
        </p:sp>
        <p:sp>
          <p:nvSpPr>
            <p:cNvPr id="85" name="TextBox 85"/>
            <p:cNvSpPr txBox="1"/>
            <p:nvPr/>
          </p:nvSpPr>
          <p:spPr>
            <a:xfrm>
              <a:off x="10857740"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16</a:t>
              </a:r>
            </a:p>
          </p:txBody>
        </p:sp>
        <p:sp>
          <p:nvSpPr>
            <p:cNvPr id="86" name="TextBox 86"/>
            <p:cNvSpPr txBox="1"/>
            <p:nvPr/>
          </p:nvSpPr>
          <p:spPr>
            <a:xfrm>
              <a:off x="11173304"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23</a:t>
              </a:r>
            </a:p>
          </p:txBody>
        </p:sp>
        <p:sp>
          <p:nvSpPr>
            <p:cNvPr id="87" name="TextBox 87"/>
            <p:cNvSpPr txBox="1"/>
            <p:nvPr/>
          </p:nvSpPr>
          <p:spPr>
            <a:xfrm>
              <a:off x="1326642" y="2578418"/>
              <a:ext cx="23987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 of students chronically absent</a:t>
              </a:r>
            </a:p>
          </p:txBody>
        </p:sp>
        <p:sp>
          <p:nvSpPr>
            <p:cNvPr id="88" name="TextBox 88"/>
            <p:cNvSpPr txBox="1"/>
            <p:nvPr/>
          </p:nvSpPr>
          <p:spPr>
            <a:xfrm>
              <a:off x="5407612" y="5759768"/>
              <a:ext cx="1948276"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Community school district</a:t>
              </a:r>
            </a:p>
          </p:txBody>
        </p:sp>
        <p:sp>
          <p:nvSpPr>
            <p:cNvPr id="89" name="TextBox 89"/>
            <p:cNvSpPr txBox="1"/>
            <p:nvPr/>
          </p:nvSpPr>
          <p:spPr>
            <a:xfrm>
              <a:off x="1517142" y="2997518"/>
              <a:ext cx="2078251" cy="264033"/>
            </a:xfrm>
            <a:prstGeom prst="rect">
              <a:avLst/>
            </a:prstGeom>
            <a:noFill/>
            <a:ln>
              <a:noFill/>
            </a:ln>
          </p:spPr>
          <p:txBody>
            <a:bodyPr wrap="none" lIns="0" tIns="0" rIns="0" bIns="0" anchor="t" anchorCtr="0">
              <a:spAutoFit/>
            </a:bodyPr>
            <a:lstStyle/>
            <a:p>
              <a:pPr algn="l"/>
              <a:r>
                <a:rPr lang="en-US" sz="1350" dirty="0">
                  <a:solidFill>
                    <a:srgbClr val="B0722B"/>
                  </a:solidFill>
                  <a:latin typeface="+mn-lt"/>
                  <a:ea typeface="+mn-ea"/>
                  <a:cs typeface="+mn-cs"/>
                </a:rPr>
                <a:t>Lowest: District 20 at 15.5%</a:t>
              </a:r>
            </a:p>
          </p:txBody>
        </p:sp>
        <p:sp>
          <p:nvSpPr>
            <p:cNvPr id="90" name="TextBox 90"/>
            <p:cNvSpPr txBox="1"/>
            <p:nvPr/>
          </p:nvSpPr>
          <p:spPr>
            <a:xfrm>
              <a:off x="1517142" y="3245168"/>
              <a:ext cx="168083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Median district: 28.9%</a:t>
              </a:r>
            </a:p>
          </p:txBody>
        </p:sp>
        <p:sp>
          <p:nvSpPr>
            <p:cNvPr id="91" name="TextBox 91"/>
            <p:cNvSpPr txBox="1"/>
            <p:nvPr/>
          </p:nvSpPr>
          <p:spPr>
            <a:xfrm>
              <a:off x="1517142" y="3492818"/>
              <a:ext cx="423441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8 of 32 districts sit at or above 35%; 6 sit at or below 20%</a:t>
              </a:r>
            </a:p>
          </p:txBody>
        </p:sp>
        <p:sp>
          <p:nvSpPr>
            <p:cNvPr id="92" name="TextBox 92"/>
            <p:cNvSpPr txBox="1"/>
            <p:nvPr/>
          </p:nvSpPr>
          <p:spPr>
            <a:xfrm>
              <a:off x="9268264" y="2787968"/>
              <a:ext cx="2111444" cy="264033"/>
            </a:xfrm>
            <a:prstGeom prst="rect">
              <a:avLst/>
            </a:prstGeom>
            <a:noFill/>
            <a:ln>
              <a:noFill/>
            </a:ln>
          </p:spPr>
          <p:txBody>
            <a:bodyPr wrap="none" lIns="0" tIns="0" rIns="0" bIns="0" anchor="t" anchorCtr="0">
              <a:spAutoFit/>
            </a:bodyPr>
            <a:lstStyle/>
            <a:p>
              <a:pPr algn="r"/>
              <a:r>
                <a:rPr lang="en-US" sz="1350" dirty="0">
                  <a:solidFill>
                    <a:srgbClr val="B0722B"/>
                  </a:solidFill>
                  <a:latin typeface="+mn-lt"/>
                  <a:ea typeface="+mn-ea"/>
                  <a:cs typeface="+mn-cs"/>
                </a:rPr>
                <a:t>Highest: District 23 at 46.2%</a:t>
              </a:r>
            </a:p>
          </p:txBody>
        </p:sp>
      </p:grpSp>
      <p:grpSp>
        <p:nvGrpSpPr>
          <p:cNvPr id="96" name="Group 96"/>
          <p:cNvGrpSpPr/>
          <p:nvPr/>
        </p:nvGrpSpPr>
        <p:grpSpPr>
          <a:xfrm>
            <a:off x="603504" y="6176010"/>
            <a:ext cx="8507440" cy="653796"/>
            <a:chOff x="603504" y="6176010"/>
            <a:chExt cx="8507440" cy="653796"/>
          </a:xfrm>
        </p:grpSpPr>
        <p:sp>
          <p:nvSpPr>
            <p:cNvPr id="94" name="TextBox 94"/>
            <p:cNvSpPr txBox="1"/>
            <p:nvPr/>
          </p:nvSpPr>
          <p:spPr>
            <a:xfrm>
              <a:off x="603504" y="6176010"/>
              <a:ext cx="8507440"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The 32 geographic community school districts, All Grades / All Students, 2018-19, as published. District 75, the citywide special-education</a:t>
              </a:r>
              <a:br/>
              <a:r>
                <a:rPr lang="en-US" sz="1200" dirty="0">
                  <a:solidFill>
                    <a:schemeClr val="accent5"/>
                  </a:solidFill>
                  <a:latin typeface="+mn-lt"/>
                  <a:ea typeface="+mn-ea"/>
                  <a:cs typeface="+mn-cs"/>
                </a:rPr>
                <a:t>district, is excluded at 51.5% because its population is not comparable to a geographic district.</a:t>
              </a:r>
            </a:p>
          </p:txBody>
        </p:sp>
        <p:sp>
          <p:nvSpPr>
            <p:cNvPr id="95" name="TextBox 95"/>
            <p:cNvSpPr txBox="1"/>
            <p:nvPr/>
          </p:nvSpPr>
          <p:spPr>
            <a:xfrm>
              <a:off x="603504" y="6595110"/>
              <a:ext cx="71526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NYC Open Data — End-of-Year Attendance and Chronic Absenteeism by District (dataset hags-jh3e).</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2742" y="749618"/>
            <a:ext cx="4223821" cy="264033"/>
            <a:chOff x="602742" y="749618"/>
            <a:chExt cx="4223821" cy="264033"/>
          </a:xfrm>
        </p:grpSpPr>
        <p:sp>
          <p:nvSpPr>
            <p:cNvPr id="2" name="TextBox 2"/>
            <p:cNvSpPr txBox="1"/>
            <p:nvPr/>
          </p:nvSpPr>
          <p:spPr>
            <a:xfrm>
              <a:off x="602742" y="749618"/>
              <a:ext cx="4223821"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THE EVIDENCE — WHERE IT CONCENTRATES</a:t>
              </a:r>
            </a:p>
          </p:txBody>
        </p:sp>
      </p:grpSp>
      <p:grpSp>
        <p:nvGrpSpPr>
          <p:cNvPr id="6" name="Group 6"/>
          <p:cNvGrpSpPr/>
          <p:nvPr/>
        </p:nvGrpSpPr>
        <p:grpSpPr>
          <a:xfrm>
            <a:off x="594360" y="1104900"/>
            <a:ext cx="10988040" cy="586740"/>
            <a:chOff x="594360" y="1104900"/>
            <a:chExt cx="10988040" cy="586740"/>
          </a:xfrm>
        </p:grpSpPr>
        <p:sp>
          <p:nvSpPr>
            <p:cNvPr id="4" name="TextBox 4"/>
            <p:cNvSpPr txBox="1"/>
            <p:nvPr/>
          </p:nvSpPr>
          <p:spPr>
            <a:xfrm>
              <a:off x="594360" y="1104900"/>
              <a:ext cx="941765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Two peaks, and one of them is five-year-olds</a:t>
              </a:r>
            </a:p>
          </p:txBody>
        </p:sp>
        <p:sp>
          <p:nvSpPr>
            <p:cNvPr id="5" name="Line 5"/>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932" y="1868805"/>
            <a:ext cx="7165649" cy="410718"/>
            <a:chOff x="598932" y="1868805"/>
            <a:chExt cx="7165649" cy="410718"/>
          </a:xfrm>
        </p:grpSpPr>
        <p:sp>
          <p:nvSpPr>
            <p:cNvPr id="7" name="TextBox 7"/>
            <p:cNvSpPr txBox="1"/>
            <p:nvPr/>
          </p:nvSpPr>
          <p:spPr>
            <a:xfrm>
              <a:off x="598932" y="1868805"/>
              <a:ext cx="71656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Absence is worst at the </a:t>
              </a:r>
              <a:r>
                <a:rPr lang="en-US" sz="2100" b="1" dirty="0">
                  <a:solidFill>
                    <a:schemeClr val="accent1"/>
                  </a:solidFill>
                  <a:latin typeface="+mn-lt"/>
                  <a:ea typeface="+mn-ea"/>
                  <a:cs typeface="+mn-cs"/>
                </a:rPr>
                <a:t>entry</a:t>
              </a:r>
              <a:r>
                <a:rPr lang="en-US" sz="2100" dirty="0">
                  <a:solidFill>
                    <a:schemeClr val="dk1"/>
                  </a:solidFill>
                  <a:latin typeface="+mn-lt"/>
                  <a:ea typeface="+mn-ea"/>
                  <a:cs typeface="+mn-cs"/>
                </a:rPr>
                <a:t xml:space="preserve"> to school and at the </a:t>
              </a:r>
              <a:r>
                <a:rPr lang="en-US" sz="2100" b="1" dirty="0">
                  <a:solidFill>
                    <a:schemeClr val="accent1"/>
                  </a:solidFill>
                  <a:latin typeface="+mn-lt"/>
                  <a:ea typeface="+mn-ea"/>
                  <a:cs typeface="+mn-cs"/>
                </a:rPr>
                <a:t>exit</a:t>
              </a:r>
              <a:r>
                <a:rPr lang="en-US" sz="2100" dirty="0">
                  <a:solidFill>
                    <a:schemeClr val="dk1"/>
                  </a:solidFill>
                  <a:latin typeface="+mn-lt"/>
                  <a:ea typeface="+mn-ea"/>
                  <a:cs typeface="+mn-cs"/>
                </a:rPr>
                <a:t xml:space="preserve"> from it.</a:t>
              </a:r>
            </a:p>
          </p:txBody>
        </p:sp>
      </p:grpSp>
      <p:grpSp>
        <p:nvGrpSpPr>
          <p:cNvPr id="42" name="Group 42"/>
          <p:cNvGrpSpPr/>
          <p:nvPr/>
        </p:nvGrpSpPr>
        <p:grpSpPr>
          <a:xfrm>
            <a:off x="993478" y="2578418"/>
            <a:ext cx="6534985" cy="3445383"/>
            <a:chOff x="993478" y="2578418"/>
            <a:chExt cx="6534985" cy="3445383"/>
          </a:xfrm>
        </p:grpSpPr>
        <p:grpSp>
          <p:nvGrpSpPr>
            <p:cNvPr id="17" name="Group 17"/>
            <p:cNvGrpSpPr/>
            <p:nvPr/>
          </p:nvGrpSpPr>
          <p:grpSpPr>
            <a:xfrm>
              <a:off x="1428750" y="2857500"/>
              <a:ext cx="6000750" cy="2486025"/>
              <a:chOff x="1428750" y="2857500"/>
              <a:chExt cx="6000750" cy="2486025"/>
            </a:xfrm>
          </p:grpSpPr>
          <p:sp>
            <p:nvSpPr>
              <p:cNvPr id="9" name="Line 9"/>
              <p:cNvSpPr/>
              <p:nvPr/>
            </p:nvSpPr>
            <p:spPr>
              <a:xfrm>
                <a:off x="1428750" y="28575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0" name="Line 10"/>
              <p:cNvSpPr/>
              <p:nvPr/>
            </p:nvSpPr>
            <p:spPr>
              <a:xfrm>
                <a:off x="1428750" y="33528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1" name="Line 11"/>
              <p:cNvSpPr/>
              <p:nvPr/>
            </p:nvSpPr>
            <p:spPr>
              <a:xfrm>
                <a:off x="1428750" y="38481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2" name="Line 12"/>
              <p:cNvSpPr/>
              <p:nvPr/>
            </p:nvSpPr>
            <p:spPr>
              <a:xfrm>
                <a:off x="1428750" y="43434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3" name="Line 13"/>
              <p:cNvSpPr/>
              <p:nvPr/>
            </p:nvSpPr>
            <p:spPr>
              <a:xfrm>
                <a:off x="1428750" y="4838700"/>
                <a:ext cx="6000750" cy="9525"/>
              </a:xfrm>
              <a:custGeom>
                <a:avLst/>
                <a:gdLst/>
                <a:ahLst/>
                <a:cxnLst/>
                <a:rect l="l" t="t" r="r" b="b"/>
                <a:pathLst>
                  <a:path w="6000750" h="9525">
                    <a:moveTo>
                      <a:pt x="0" y="0"/>
                    </a:moveTo>
                    <a:lnTo>
                      <a:pt x="6000750" y="0"/>
                    </a:lnTo>
                  </a:path>
                </a:pathLst>
              </a:custGeom>
              <a:noFill/>
              <a:ln w="9525">
                <a:solidFill>
                  <a:srgbClr val="EAE5DD"/>
                </a:solidFill>
              </a:ln>
            </p:spPr>
          </p:sp>
          <p:sp>
            <p:nvSpPr>
              <p:cNvPr id="14" name="Line 14"/>
              <p:cNvSpPr/>
              <p:nvPr/>
            </p:nvSpPr>
            <p:spPr>
              <a:xfrm>
                <a:off x="1428750" y="5334000"/>
                <a:ext cx="6000750" cy="9525"/>
              </a:xfrm>
              <a:custGeom>
                <a:avLst/>
                <a:gdLst/>
                <a:ahLst/>
                <a:cxnLst/>
                <a:rect l="l" t="t" r="r" b="b"/>
                <a:pathLst>
                  <a:path w="6000750" h="9525">
                    <a:moveTo>
                      <a:pt x="0" y="0"/>
                    </a:moveTo>
                    <a:lnTo>
                      <a:pt x="6000750" y="0"/>
                    </a:lnTo>
                  </a:path>
                </a:pathLst>
              </a:custGeom>
              <a:noFill/>
              <a:ln w="9525">
                <a:solidFill>
                  <a:schemeClr val="accent6"/>
                </a:solidFill>
              </a:ln>
            </p:spPr>
          </p:sp>
          <p:sp>
            <p:nvSpPr>
              <p:cNvPr id="15" name="Line 15"/>
              <p:cNvSpPr/>
              <p:nvPr/>
            </p:nvSpPr>
            <p:spPr>
              <a:xfrm>
                <a:off x="1428750" y="2857500"/>
                <a:ext cx="9525" cy="2476500"/>
              </a:xfrm>
              <a:custGeom>
                <a:avLst/>
                <a:gdLst/>
                <a:ahLst/>
                <a:cxnLst/>
                <a:rect l="l" t="t" r="r" b="b"/>
                <a:pathLst>
                  <a:path w="9525" h="2476500">
                    <a:moveTo>
                      <a:pt x="0" y="0"/>
                    </a:moveTo>
                    <a:lnTo>
                      <a:pt x="0" y="2476500"/>
                    </a:lnTo>
                  </a:path>
                </a:pathLst>
              </a:custGeom>
              <a:noFill/>
              <a:ln w="9525">
                <a:solidFill>
                  <a:schemeClr val="accent6"/>
                </a:solidFill>
              </a:ln>
            </p:spPr>
          </p:sp>
          <p:sp>
            <p:nvSpPr>
              <p:cNvPr id="16" name="Polygon 16"/>
              <p:cNvSpPr/>
              <p:nvPr/>
            </p:nvSpPr>
            <p:spPr>
              <a:xfrm>
                <a:off x="1428750" y="3075432"/>
                <a:ext cx="6000750" cy="2258568"/>
              </a:xfrm>
              <a:custGeom>
                <a:avLst/>
                <a:gdLst/>
                <a:ahLst/>
                <a:cxnLst/>
                <a:rect l="l" t="t" r="r" b="b"/>
                <a:pathLst>
                  <a:path w="6000750" h="2258568">
                    <a:moveTo>
                      <a:pt x="0" y="2258568"/>
                    </a:moveTo>
                    <a:lnTo>
                      <a:pt x="0" y="0"/>
                    </a:lnTo>
                    <a:lnTo>
                      <a:pt x="500062" y="341757"/>
                    </a:lnTo>
                    <a:lnTo>
                      <a:pt x="1000125" y="539877"/>
                    </a:lnTo>
                    <a:lnTo>
                      <a:pt x="1500188" y="688467"/>
                    </a:lnTo>
                    <a:lnTo>
                      <a:pt x="2000250" y="757809"/>
                    </a:lnTo>
                    <a:lnTo>
                      <a:pt x="2500312" y="817245"/>
                    </a:lnTo>
                    <a:lnTo>
                      <a:pt x="3000375" y="802386"/>
                    </a:lnTo>
                    <a:lnTo>
                      <a:pt x="3500438" y="698373"/>
                    </a:lnTo>
                    <a:lnTo>
                      <a:pt x="4000500" y="599313"/>
                    </a:lnTo>
                    <a:lnTo>
                      <a:pt x="4500562" y="529971"/>
                    </a:lnTo>
                    <a:lnTo>
                      <a:pt x="5000625" y="485394"/>
                    </a:lnTo>
                    <a:lnTo>
                      <a:pt x="5500688" y="554736"/>
                    </a:lnTo>
                    <a:lnTo>
                      <a:pt x="6000750" y="19812"/>
                    </a:lnTo>
                    <a:lnTo>
                      <a:pt x="6000750" y="2258568"/>
                    </a:lnTo>
                    <a:close/>
                  </a:path>
                </a:pathLst>
              </a:custGeom>
              <a:solidFill>
                <a:schemeClr val="accent3"/>
              </a:solidFill>
              <a:ln>
                <a:noFill/>
              </a:ln>
            </p:spPr>
          </p:sp>
        </p:grpSp>
        <p:sp>
          <p:nvSpPr>
            <p:cNvPr id="18" name="TextBox 18"/>
            <p:cNvSpPr txBox="1"/>
            <p:nvPr/>
          </p:nvSpPr>
          <p:spPr>
            <a:xfrm>
              <a:off x="1085582" y="5245418"/>
              <a:ext cx="235726"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a:t>
              </a:r>
            </a:p>
          </p:txBody>
        </p:sp>
        <p:sp>
          <p:nvSpPr>
            <p:cNvPr id="19" name="TextBox 19"/>
            <p:cNvSpPr txBox="1"/>
            <p:nvPr/>
          </p:nvSpPr>
          <p:spPr>
            <a:xfrm>
              <a:off x="993478" y="47501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10%</a:t>
              </a:r>
            </a:p>
          </p:txBody>
        </p:sp>
        <p:sp>
          <p:nvSpPr>
            <p:cNvPr id="20" name="TextBox 20"/>
            <p:cNvSpPr txBox="1"/>
            <p:nvPr/>
          </p:nvSpPr>
          <p:spPr>
            <a:xfrm>
              <a:off x="993478" y="42548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20%</a:t>
              </a:r>
            </a:p>
          </p:txBody>
        </p:sp>
        <p:sp>
          <p:nvSpPr>
            <p:cNvPr id="21" name="TextBox 21"/>
            <p:cNvSpPr txBox="1"/>
            <p:nvPr/>
          </p:nvSpPr>
          <p:spPr>
            <a:xfrm>
              <a:off x="993478" y="37595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30%</a:t>
              </a:r>
            </a:p>
          </p:txBody>
        </p:sp>
        <p:sp>
          <p:nvSpPr>
            <p:cNvPr id="22" name="TextBox 22"/>
            <p:cNvSpPr txBox="1"/>
            <p:nvPr/>
          </p:nvSpPr>
          <p:spPr>
            <a:xfrm>
              <a:off x="993478" y="32642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40%</a:t>
              </a:r>
            </a:p>
          </p:txBody>
        </p:sp>
        <p:sp>
          <p:nvSpPr>
            <p:cNvPr id="23" name="TextBox 23"/>
            <p:cNvSpPr txBox="1"/>
            <p:nvPr/>
          </p:nvSpPr>
          <p:spPr>
            <a:xfrm>
              <a:off x="993478" y="2768918"/>
              <a:ext cx="32783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50%</a:t>
              </a:r>
            </a:p>
          </p:txBody>
        </p:sp>
        <p:sp>
          <p:nvSpPr>
            <p:cNvPr id="24" name="TextBox 24"/>
            <p:cNvSpPr txBox="1"/>
            <p:nvPr/>
          </p:nvSpPr>
          <p:spPr>
            <a:xfrm>
              <a:off x="1372014" y="5474018"/>
              <a:ext cx="11347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K</a:t>
              </a:r>
            </a:p>
          </p:txBody>
        </p:sp>
        <p:sp>
          <p:nvSpPr>
            <p:cNvPr id="25" name="TextBox 25"/>
            <p:cNvSpPr txBox="1"/>
            <p:nvPr/>
          </p:nvSpPr>
          <p:spPr>
            <a:xfrm>
              <a:off x="1875902"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a:t>
              </a:r>
            </a:p>
          </p:txBody>
        </p:sp>
        <p:sp>
          <p:nvSpPr>
            <p:cNvPr id="26" name="TextBox 26"/>
            <p:cNvSpPr txBox="1"/>
            <p:nvPr/>
          </p:nvSpPr>
          <p:spPr>
            <a:xfrm>
              <a:off x="2375965"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a:t>
              </a:r>
            </a:p>
          </p:txBody>
        </p:sp>
        <p:sp>
          <p:nvSpPr>
            <p:cNvPr id="27" name="TextBox 27"/>
            <p:cNvSpPr txBox="1"/>
            <p:nvPr/>
          </p:nvSpPr>
          <p:spPr>
            <a:xfrm>
              <a:off x="2876027"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3</a:t>
              </a:r>
            </a:p>
          </p:txBody>
        </p:sp>
        <p:sp>
          <p:nvSpPr>
            <p:cNvPr id="28" name="TextBox 28"/>
            <p:cNvSpPr txBox="1"/>
            <p:nvPr/>
          </p:nvSpPr>
          <p:spPr>
            <a:xfrm>
              <a:off x="3376090"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4</a:t>
              </a:r>
            </a:p>
          </p:txBody>
        </p:sp>
        <p:sp>
          <p:nvSpPr>
            <p:cNvPr id="29" name="TextBox 29"/>
            <p:cNvSpPr txBox="1"/>
            <p:nvPr/>
          </p:nvSpPr>
          <p:spPr>
            <a:xfrm>
              <a:off x="3876152"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5</a:t>
              </a:r>
            </a:p>
          </p:txBody>
        </p:sp>
        <p:sp>
          <p:nvSpPr>
            <p:cNvPr id="30" name="TextBox 30"/>
            <p:cNvSpPr txBox="1"/>
            <p:nvPr/>
          </p:nvSpPr>
          <p:spPr>
            <a:xfrm>
              <a:off x="4376215"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6</a:t>
              </a:r>
            </a:p>
          </p:txBody>
        </p:sp>
        <p:sp>
          <p:nvSpPr>
            <p:cNvPr id="31" name="TextBox 31"/>
            <p:cNvSpPr txBox="1"/>
            <p:nvPr/>
          </p:nvSpPr>
          <p:spPr>
            <a:xfrm>
              <a:off x="4876277"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7</a:t>
              </a:r>
            </a:p>
          </p:txBody>
        </p:sp>
        <p:sp>
          <p:nvSpPr>
            <p:cNvPr id="32" name="TextBox 32"/>
            <p:cNvSpPr txBox="1"/>
            <p:nvPr/>
          </p:nvSpPr>
          <p:spPr>
            <a:xfrm>
              <a:off x="5376340"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8</a:t>
              </a:r>
            </a:p>
          </p:txBody>
        </p:sp>
        <p:sp>
          <p:nvSpPr>
            <p:cNvPr id="33" name="TextBox 33"/>
            <p:cNvSpPr txBox="1"/>
            <p:nvPr/>
          </p:nvSpPr>
          <p:spPr>
            <a:xfrm>
              <a:off x="5876402" y="5474018"/>
              <a:ext cx="10582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9</a:t>
              </a:r>
            </a:p>
          </p:txBody>
        </p:sp>
        <p:sp>
          <p:nvSpPr>
            <p:cNvPr id="34" name="TextBox 34"/>
            <p:cNvSpPr txBox="1"/>
            <p:nvPr/>
          </p:nvSpPr>
          <p:spPr>
            <a:xfrm>
              <a:off x="6330413"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10</a:t>
              </a:r>
            </a:p>
          </p:txBody>
        </p:sp>
        <p:sp>
          <p:nvSpPr>
            <p:cNvPr id="35" name="TextBox 35"/>
            <p:cNvSpPr txBox="1"/>
            <p:nvPr/>
          </p:nvSpPr>
          <p:spPr>
            <a:xfrm>
              <a:off x="6830475"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11</a:t>
              </a:r>
            </a:p>
          </p:txBody>
        </p:sp>
        <p:sp>
          <p:nvSpPr>
            <p:cNvPr id="36" name="TextBox 36"/>
            <p:cNvSpPr txBox="1"/>
            <p:nvPr/>
          </p:nvSpPr>
          <p:spPr>
            <a:xfrm>
              <a:off x="7330538" y="5474018"/>
              <a:ext cx="19792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12</a:t>
              </a:r>
            </a:p>
          </p:txBody>
        </p:sp>
        <p:sp>
          <p:nvSpPr>
            <p:cNvPr id="37" name="TextBox 37"/>
            <p:cNvSpPr txBox="1"/>
            <p:nvPr/>
          </p:nvSpPr>
          <p:spPr>
            <a:xfrm>
              <a:off x="1421892" y="2578418"/>
              <a:ext cx="23987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 of students chronically absent</a:t>
              </a:r>
            </a:p>
          </p:txBody>
        </p:sp>
        <p:sp>
          <p:nvSpPr>
            <p:cNvPr id="38" name="TextBox 38"/>
            <p:cNvSpPr txBox="1"/>
            <p:nvPr/>
          </p:nvSpPr>
          <p:spPr>
            <a:xfrm>
              <a:off x="4194224" y="5759768"/>
              <a:ext cx="46980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Grade</a:t>
              </a:r>
            </a:p>
          </p:txBody>
        </p:sp>
        <p:sp>
          <p:nvSpPr>
            <p:cNvPr id="39" name="TextBox 39"/>
            <p:cNvSpPr txBox="1"/>
            <p:nvPr/>
          </p:nvSpPr>
          <p:spPr>
            <a:xfrm>
              <a:off x="1421892" y="2826068"/>
              <a:ext cx="1477392"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Kindergarten 45.6%</a:t>
              </a:r>
            </a:p>
          </p:txBody>
        </p:sp>
        <p:sp>
          <p:nvSpPr>
            <p:cNvPr id="40" name="TextBox 40"/>
            <p:cNvSpPr txBox="1"/>
            <p:nvPr/>
          </p:nvSpPr>
          <p:spPr>
            <a:xfrm>
              <a:off x="3877491" y="3645218"/>
              <a:ext cx="1103268"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Grade 5 29.1%</a:t>
              </a:r>
            </a:p>
          </p:txBody>
        </p:sp>
        <p:sp>
          <p:nvSpPr>
            <p:cNvPr id="41" name="TextBox 41"/>
            <p:cNvSpPr txBox="1"/>
            <p:nvPr/>
          </p:nvSpPr>
          <p:spPr>
            <a:xfrm>
              <a:off x="6239943" y="2826068"/>
              <a:ext cx="1196415"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Grade 12 45.2%</a:t>
              </a:r>
            </a:p>
          </p:txBody>
        </p:sp>
      </p:grpSp>
      <p:grpSp>
        <p:nvGrpSpPr>
          <p:cNvPr id="48" name="Group 48"/>
          <p:cNvGrpSpPr/>
          <p:nvPr/>
        </p:nvGrpSpPr>
        <p:grpSpPr>
          <a:xfrm>
            <a:off x="7994142" y="2578418"/>
            <a:ext cx="3588258" cy="3369183"/>
            <a:chOff x="7994142" y="2578418"/>
            <a:chExt cx="3588258" cy="3369183"/>
          </a:xfrm>
        </p:grpSpPr>
        <p:sp>
          <p:nvSpPr>
            <p:cNvPr id="43" name="TextBox 43"/>
            <p:cNvSpPr txBox="1"/>
            <p:nvPr/>
          </p:nvSpPr>
          <p:spPr>
            <a:xfrm>
              <a:off x="7994142" y="2578418"/>
              <a:ext cx="2462754"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WHY BOTH ENDS MATTER</a:t>
              </a:r>
            </a:p>
          </p:txBody>
        </p:sp>
        <p:sp>
          <p:nvSpPr>
            <p:cNvPr id="44" name="Line 44"/>
            <p:cNvSpPr/>
            <p:nvPr/>
          </p:nvSpPr>
          <p:spPr>
            <a:xfrm>
              <a:off x="8001000" y="2857500"/>
              <a:ext cx="3581400" cy="9525"/>
            </a:xfrm>
            <a:custGeom>
              <a:avLst/>
              <a:gdLst/>
              <a:ahLst/>
              <a:cxnLst/>
              <a:rect l="l" t="t" r="r" b="b"/>
              <a:pathLst>
                <a:path w="3581400" h="9525">
                  <a:moveTo>
                    <a:pt x="0" y="0"/>
                  </a:moveTo>
                  <a:lnTo>
                    <a:pt x="3581400" y="0"/>
                  </a:lnTo>
                </a:path>
              </a:pathLst>
            </a:custGeom>
            <a:noFill/>
            <a:ln w="9525">
              <a:solidFill>
                <a:schemeClr val="accent6"/>
              </a:solidFill>
            </a:ln>
          </p:spPr>
        </p:sp>
        <p:sp>
          <p:nvSpPr>
            <p:cNvPr id="45" name="TextBox 45"/>
            <p:cNvSpPr txBox="1"/>
            <p:nvPr/>
          </p:nvSpPr>
          <p:spPr>
            <a:xfrm>
              <a:off x="7994142" y="3016568"/>
              <a:ext cx="2775330"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Students chronically absent in both</a:t>
              </a:r>
              <a:br/>
              <a:r>
                <a:rPr lang="en-US" sz="1350" dirty="0">
                  <a:solidFill>
                    <a:schemeClr val="dk1"/>
                  </a:solidFill>
                  <a:latin typeface="+mn-lt"/>
                  <a:ea typeface="+mn-ea"/>
                  <a:cs typeface="+mn-cs"/>
                </a:rPr>
                <a:t>kindergarten and first grade are much</a:t>
              </a:r>
              <a:br/>
              <a:r>
                <a:rPr lang="en-US" sz="1350" dirty="0">
                  <a:solidFill>
                    <a:schemeClr val="dk1"/>
                  </a:solidFill>
                  <a:latin typeface="+mn-lt"/>
                  <a:ea typeface="+mn-ea"/>
                  <a:cs typeface="+mn-cs"/>
                </a:rPr>
                <a:t>less likely to read at grade level by third</a:t>
              </a:r>
              <a:br/>
              <a:r>
                <a:rPr lang="en-US" sz="1350" dirty="0">
                  <a:solidFill>
                    <a:schemeClr val="dk1"/>
                  </a:solidFill>
                  <a:latin typeface="+mn-lt"/>
                  <a:ea typeface="+mn-ea"/>
                  <a:cs typeface="+mn-cs"/>
                </a:rPr>
                <a:t>grade.</a:t>
              </a:r>
            </a:p>
          </p:txBody>
        </p:sp>
        <p:sp>
          <p:nvSpPr>
            <p:cNvPr id="46" name="TextBox 46"/>
            <p:cNvSpPr txBox="1"/>
            <p:nvPr/>
          </p:nvSpPr>
          <p:spPr>
            <a:xfrm>
              <a:off x="7994142" y="4102418"/>
              <a:ext cx="2804836"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Students not reading at grade level by</a:t>
              </a:r>
              <a:br/>
              <a:r>
                <a:rPr lang="en-US" sz="1350" dirty="0">
                  <a:solidFill>
                    <a:schemeClr val="dk1"/>
                  </a:solidFill>
                  <a:latin typeface="+mn-lt"/>
                  <a:ea typeface="+mn-ea"/>
                  <a:cs typeface="+mn-cs"/>
                </a:rPr>
                <a:t>third grade are four times more likely to</a:t>
              </a:r>
              <a:br/>
              <a:r>
                <a:rPr lang="en-US" sz="1350" dirty="0">
                  <a:solidFill>
                    <a:schemeClr val="dk1"/>
                  </a:solidFill>
                  <a:latin typeface="+mn-lt"/>
                  <a:ea typeface="+mn-ea"/>
                  <a:cs typeface="+mn-cs"/>
                </a:rPr>
                <a:t>drop out of high school.</a:t>
              </a:r>
            </a:p>
          </p:txBody>
        </p:sp>
        <p:sp>
          <p:nvSpPr>
            <p:cNvPr id="47" name="TextBox 47"/>
            <p:cNvSpPr txBox="1"/>
            <p:nvPr/>
          </p:nvSpPr>
          <p:spPr>
            <a:xfrm>
              <a:off x="7994142" y="4940618"/>
              <a:ext cx="2867450"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By sixth grade chronic absenteeism is a</a:t>
              </a:r>
              <a:br/>
              <a:r>
                <a:rPr lang="en-US" sz="1350" dirty="0">
                  <a:solidFill>
                    <a:schemeClr val="dk1"/>
                  </a:solidFill>
                  <a:latin typeface="+mn-lt"/>
                  <a:ea typeface="+mn-ea"/>
                  <a:cs typeface="+mn-cs"/>
                </a:rPr>
                <a:t>leading dropout indicator; by high school</a:t>
              </a:r>
              <a:br/>
              <a:r>
                <a:rPr lang="en-US" sz="1350" dirty="0">
                  <a:solidFill>
                    <a:schemeClr val="dk1"/>
                  </a:solidFill>
                  <a:latin typeface="+mn-lt"/>
                  <a:ea typeface="+mn-ea"/>
                  <a:cs typeface="+mn-cs"/>
                </a:rPr>
                <a:t>attendance predicts dropout better than</a:t>
              </a:r>
              <a:br/>
              <a:r>
                <a:rPr lang="en-US" sz="1350" dirty="0">
                  <a:solidFill>
                    <a:schemeClr val="dk1"/>
                  </a:solidFill>
                  <a:latin typeface="+mn-lt"/>
                  <a:ea typeface="+mn-ea"/>
                  <a:cs typeface="+mn-cs"/>
                </a:rPr>
                <a:t>test scores.</a:t>
              </a:r>
            </a:p>
          </p:txBody>
        </p:sp>
      </p:grpSp>
      <p:grpSp>
        <p:nvGrpSpPr>
          <p:cNvPr id="51" name="Group 51"/>
          <p:cNvGrpSpPr/>
          <p:nvPr/>
        </p:nvGrpSpPr>
        <p:grpSpPr>
          <a:xfrm>
            <a:off x="603504" y="6214110"/>
            <a:ext cx="10601750" cy="444246"/>
            <a:chOff x="603504" y="6214110"/>
            <a:chExt cx="10601750" cy="444246"/>
          </a:xfrm>
        </p:grpSpPr>
        <p:sp>
          <p:nvSpPr>
            <p:cNvPr id="49" name="TextBox 49"/>
            <p:cNvSpPr txBox="1"/>
            <p:nvPr/>
          </p:nvSpPr>
          <p:spPr>
            <a:xfrm>
              <a:off x="603504" y="6214110"/>
              <a:ext cx="106017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Chart source: NYC Open Data — End-of-Year Attendance and Chronic Absenteeism (sgsi-66kk), 2022-23; student-weighted rate per grade, computed by Lantern.</a:t>
              </a:r>
            </a:p>
          </p:txBody>
        </p:sp>
        <p:sp>
          <p:nvSpPr>
            <p:cNvPr id="50" name="TextBox 50"/>
            <p:cNvSpPr txBox="1"/>
            <p:nvPr/>
          </p:nvSpPr>
          <p:spPr>
            <a:xfrm>
              <a:off x="603504" y="6423660"/>
              <a:ext cx="895017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Consequence evidence: Framework for Action: Addressing Chronic Absenteeism through ESSA Implementation (ERIC ED617466, 2017).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40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Group 3"/>
          <p:cNvGrpSpPr/>
          <p:nvPr/>
        </p:nvGrpSpPr>
        <p:grpSpPr>
          <a:xfrm>
            <a:off x="602742" y="749618"/>
            <a:ext cx="2875710" cy="264033"/>
            <a:chOff x="602742" y="749618"/>
            <a:chExt cx="2875710" cy="264033"/>
          </a:xfrm>
        </p:grpSpPr>
        <p:sp>
          <p:nvSpPr>
            <p:cNvPr id="2" name="TextBox 2"/>
            <p:cNvSpPr txBox="1"/>
            <p:nvPr/>
          </p:nvSpPr>
          <p:spPr>
            <a:xfrm>
              <a:off x="602742" y="749618"/>
              <a:ext cx="2875710"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WHY STUDENTS MISS SCHOOL</a:t>
              </a:r>
            </a:p>
          </p:txBody>
        </p:sp>
      </p:grpSp>
      <p:grpSp>
        <p:nvGrpSpPr>
          <p:cNvPr id="6" name="Group 6"/>
          <p:cNvGrpSpPr/>
          <p:nvPr/>
        </p:nvGrpSpPr>
        <p:grpSpPr>
          <a:xfrm>
            <a:off x="594360" y="1104900"/>
            <a:ext cx="10988040" cy="586740"/>
            <a:chOff x="594360" y="1104900"/>
            <a:chExt cx="10988040" cy="586740"/>
          </a:xfrm>
        </p:grpSpPr>
        <p:sp>
          <p:nvSpPr>
            <p:cNvPr id="4" name="TextBox 4"/>
            <p:cNvSpPr txBox="1"/>
            <p:nvPr/>
          </p:nvSpPr>
          <p:spPr>
            <a:xfrm>
              <a:off x="594360" y="1104900"/>
              <a:ext cx="950132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Four kinds of reasons, and only one is refusal</a:t>
              </a:r>
            </a:p>
          </p:txBody>
        </p:sp>
        <p:sp>
          <p:nvSpPr>
            <p:cNvPr id="5" name="Line 5"/>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932" y="1868805"/>
            <a:ext cx="9244626" cy="410718"/>
            <a:chOff x="598932" y="1868805"/>
            <a:chExt cx="9244626" cy="410718"/>
          </a:xfrm>
        </p:grpSpPr>
        <p:sp>
          <p:nvSpPr>
            <p:cNvPr id="7" name="TextBox 7"/>
            <p:cNvSpPr txBox="1"/>
            <p:nvPr/>
          </p:nvSpPr>
          <p:spPr>
            <a:xfrm>
              <a:off x="598932" y="1868805"/>
              <a:ext cx="924462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Researchers group the causes as barriers, aversions, disengagement, and myths.</a:t>
              </a:r>
            </a:p>
          </p:txBody>
        </p:sp>
      </p:grpSp>
      <p:grpSp>
        <p:nvGrpSpPr>
          <p:cNvPr id="18" name="Group 18"/>
          <p:cNvGrpSpPr/>
          <p:nvPr/>
        </p:nvGrpSpPr>
        <p:grpSpPr>
          <a:xfrm>
            <a:off x="609600" y="2667000"/>
            <a:ext cx="3238500" cy="1428750"/>
            <a:chOff x="609600" y="2667000"/>
            <a:chExt cx="3238500" cy="1428750"/>
          </a:xfrm>
        </p:grpSpPr>
        <p:sp>
          <p:nvSpPr>
            <p:cNvPr id="9" name="Freeform 9"/>
            <p:cNvSpPr/>
            <p:nvPr/>
          </p:nvSpPr>
          <p:spPr>
            <a:xfrm>
              <a:off x="609600" y="2667000"/>
              <a:ext cx="3238500" cy="1428750"/>
            </a:xfrm>
            <a:prstGeom prst="snip1Rect">
              <a:avLst/>
            </a:prstGeom>
            <a:solidFill>
              <a:schemeClr val="lt1"/>
            </a:solidFill>
            <a:ln w="9525">
              <a:solidFill>
                <a:schemeClr val="accent6"/>
              </a:solidFill>
            </a:ln>
          </p:spPr>
        </p:sp>
        <p:grpSp>
          <p:nvGrpSpPr>
            <p:cNvPr id="15" name="Group 15"/>
            <p:cNvGrpSpPr/>
            <p:nvPr/>
          </p:nvGrpSpPr>
          <p:grpSpPr>
            <a:xfrm>
              <a:off x="869156" y="2907506"/>
              <a:ext cx="196056" cy="185737"/>
              <a:chOff x="869156" y="2907506"/>
              <a:chExt cx="196056" cy="185737"/>
            </a:xfrm>
          </p:grpSpPr>
          <p:sp>
            <p:nvSpPr>
              <p:cNvPr id="10" name="Freeform 10"/>
              <p:cNvSpPr/>
              <p:nvPr/>
            </p:nvSpPr>
            <p:spPr>
              <a:xfrm>
                <a:off x="869156" y="2917825"/>
                <a:ext cx="113506" cy="113506"/>
              </a:xfrm>
              <a:custGeom>
                <a:avLst/>
                <a:gdLst/>
                <a:ahLst/>
                <a:cxnLst/>
                <a:rect l="l" t="t" r="r" b="b"/>
                <a:pathLst>
                  <a:path w="113506" h="113506">
                    <a:moveTo>
                      <a:pt x="30956" y="0"/>
                    </a:moveTo>
                    <a:lnTo>
                      <a:pt x="20637" y="0"/>
                    </a:lnTo>
                    <a:cubicBezTo>
                      <a:pt x="9240" y="0"/>
                      <a:pt x="0" y="9240"/>
                      <a:pt x="0" y="20637"/>
                    </a:cubicBezTo>
                    <a:lnTo>
                      <a:pt x="0" y="56753"/>
                    </a:lnTo>
                    <a:cubicBezTo>
                      <a:pt x="0" y="88097"/>
                      <a:pt x="25409" y="113506"/>
                      <a:pt x="56753" y="113506"/>
                    </a:cubicBezTo>
                    <a:cubicBezTo>
                      <a:pt x="88097" y="113506"/>
                      <a:pt x="113506" y="88097"/>
                      <a:pt x="113506" y="56753"/>
                    </a:cubicBezTo>
                    <a:lnTo>
                      <a:pt x="113506" y="20637"/>
                    </a:lnTo>
                    <a:cubicBezTo>
                      <a:pt x="113506" y="9240"/>
                      <a:pt x="104266" y="0"/>
                      <a:pt x="92868" y="0"/>
                    </a:cubicBezTo>
                    <a:lnTo>
                      <a:pt x="82550" y="0"/>
                    </a:lnTo>
                  </a:path>
                </a:pathLst>
              </a:custGeom>
              <a:noFill/>
              <a:ln w="20637">
                <a:solidFill>
                  <a:schemeClr val="accent3"/>
                </a:solidFill>
              </a:ln>
            </p:spPr>
          </p:sp>
          <p:sp>
            <p:nvSpPr>
              <p:cNvPr id="11" name="Freeform 11"/>
              <p:cNvSpPr/>
              <p:nvPr/>
            </p:nvSpPr>
            <p:spPr>
              <a:xfrm>
                <a:off x="920750" y="3000375"/>
                <a:ext cx="123825" cy="92868"/>
              </a:xfrm>
              <a:custGeom>
                <a:avLst/>
                <a:gdLst/>
                <a:ahLst/>
                <a:cxnLst/>
                <a:rect l="l" t="t" r="r" b="b"/>
                <a:pathLst>
                  <a:path w="123825" h="92868">
                    <a:moveTo>
                      <a:pt x="0" y="30956"/>
                    </a:moveTo>
                    <a:cubicBezTo>
                      <a:pt x="0" y="65149"/>
                      <a:pt x="27719" y="92868"/>
                      <a:pt x="61912" y="92868"/>
                    </a:cubicBezTo>
                    <a:cubicBezTo>
                      <a:pt x="96106" y="92868"/>
                      <a:pt x="123825" y="65149"/>
                      <a:pt x="123825" y="30956"/>
                    </a:cubicBezTo>
                    <a:lnTo>
                      <a:pt x="123825" y="0"/>
                    </a:lnTo>
                  </a:path>
                </a:pathLst>
              </a:custGeom>
              <a:noFill/>
              <a:ln w="20637">
                <a:solidFill>
                  <a:schemeClr val="accent3"/>
                </a:solidFill>
              </a:ln>
            </p:spPr>
          </p:sp>
          <p:sp>
            <p:nvSpPr>
              <p:cNvPr id="12" name="Freeform 12"/>
              <p:cNvSpPr/>
              <p:nvPr/>
            </p:nvSpPr>
            <p:spPr>
              <a:xfrm>
                <a:off x="951706" y="2907506"/>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13" name="Freeform 13"/>
              <p:cNvSpPr/>
              <p:nvPr/>
            </p:nvSpPr>
            <p:spPr>
              <a:xfrm>
                <a:off x="900112" y="2907506"/>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14" name="Freeform 14"/>
              <p:cNvSpPr/>
              <p:nvPr/>
            </p:nvSpPr>
            <p:spPr>
              <a:xfrm>
                <a:off x="1023937" y="2959100"/>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chemeClr val="accent3"/>
                </a:solidFill>
              </a:ln>
            </p:spPr>
          </p:sp>
        </p:grpSp>
        <p:sp>
          <p:nvSpPr>
            <p:cNvPr id="16" name="TextBox 16"/>
            <p:cNvSpPr txBox="1"/>
            <p:nvPr/>
          </p:nvSpPr>
          <p:spPr>
            <a:xfrm>
              <a:off x="1191006" y="2901315"/>
              <a:ext cx="81592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Barriers</a:t>
              </a:r>
            </a:p>
          </p:txBody>
        </p:sp>
        <p:sp>
          <p:nvSpPr>
            <p:cNvPr id="17" name="TextBox 17"/>
            <p:cNvSpPr txBox="1"/>
            <p:nvPr/>
          </p:nvSpPr>
          <p:spPr>
            <a:xfrm>
              <a:off x="831342" y="3321368"/>
              <a:ext cx="2666802"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Unmanaged asthma, diabetes, mental</a:t>
              </a:r>
              <a:br/>
              <a:r>
                <a:rPr lang="en-US" sz="1350" dirty="0">
                  <a:solidFill>
                    <a:schemeClr val="dk1"/>
                  </a:solidFill>
                  <a:latin typeface="+mn-lt"/>
                  <a:ea typeface="+mn-ea"/>
                  <a:cs typeface="+mn-cs"/>
                </a:rPr>
                <a:t>health and vision problems; transport</a:t>
              </a:r>
              <a:br/>
              <a:r>
                <a:rPr lang="en-US" sz="1350" dirty="0">
                  <a:solidFill>
                    <a:schemeClr val="dk1"/>
                  </a:solidFill>
                  <a:latin typeface="+mn-lt"/>
                  <a:ea typeface="+mn-ea"/>
                  <a:cs typeface="+mn-cs"/>
                </a:rPr>
                <a:t>and housing instability.</a:t>
              </a:r>
            </a:p>
          </p:txBody>
        </p:sp>
      </p:grpSp>
      <p:grpSp>
        <p:nvGrpSpPr>
          <p:cNvPr id="26" name="Group 26"/>
          <p:cNvGrpSpPr/>
          <p:nvPr/>
        </p:nvGrpSpPr>
        <p:grpSpPr>
          <a:xfrm>
            <a:off x="4000500" y="2667000"/>
            <a:ext cx="3238500" cy="1428750"/>
            <a:chOff x="4000500" y="2667000"/>
            <a:chExt cx="3238500" cy="1428750"/>
          </a:xfrm>
        </p:grpSpPr>
        <p:sp>
          <p:nvSpPr>
            <p:cNvPr id="19" name="Freeform 19"/>
            <p:cNvSpPr/>
            <p:nvPr/>
          </p:nvSpPr>
          <p:spPr>
            <a:xfrm>
              <a:off x="4000500" y="2667000"/>
              <a:ext cx="3238500" cy="1428750"/>
            </a:xfrm>
            <a:prstGeom prst="snip1Rect">
              <a:avLst/>
            </a:prstGeom>
            <a:solidFill>
              <a:schemeClr val="lt1"/>
            </a:solidFill>
            <a:ln w="9525">
              <a:solidFill>
                <a:schemeClr val="accent6"/>
              </a:solidFill>
            </a:ln>
          </p:spPr>
        </p:sp>
        <p:grpSp>
          <p:nvGrpSpPr>
            <p:cNvPr id="23" name="Group 23"/>
            <p:cNvGrpSpPr/>
            <p:nvPr/>
          </p:nvGrpSpPr>
          <p:grpSpPr>
            <a:xfrm>
              <a:off x="4248859" y="2904078"/>
              <a:ext cx="208123" cy="178805"/>
              <a:chOff x="4248859" y="2904078"/>
              <a:chExt cx="208123" cy="178805"/>
            </a:xfrm>
          </p:grpSpPr>
          <p:sp>
            <p:nvSpPr>
              <p:cNvPr id="20" name="Freeform 20"/>
              <p:cNvSpPr/>
              <p:nvPr/>
            </p:nvSpPr>
            <p:spPr>
              <a:xfrm>
                <a:off x="4352925" y="2969418"/>
                <a:ext cx="9525" cy="41275"/>
              </a:xfrm>
              <a:custGeom>
                <a:avLst/>
                <a:gdLst/>
                <a:ahLst/>
                <a:cxnLst/>
                <a:rect l="l" t="t" r="r" b="b"/>
                <a:pathLst>
                  <a:path w="9525" h="41275">
                    <a:moveTo>
                      <a:pt x="0" y="0"/>
                    </a:moveTo>
                    <a:lnTo>
                      <a:pt x="0" y="41275"/>
                    </a:lnTo>
                  </a:path>
                </a:pathLst>
              </a:custGeom>
              <a:noFill/>
              <a:ln w="20637">
                <a:solidFill>
                  <a:schemeClr val="accent3"/>
                </a:solidFill>
              </a:ln>
            </p:spPr>
          </p:sp>
          <p:sp>
            <p:nvSpPr>
              <p:cNvPr id="21" name="Freeform 21"/>
              <p:cNvSpPr/>
              <p:nvPr/>
            </p:nvSpPr>
            <p:spPr>
              <a:xfrm>
                <a:off x="4248859" y="2904078"/>
                <a:ext cx="208123" cy="178805"/>
              </a:xfrm>
              <a:custGeom>
                <a:avLst/>
                <a:gdLst/>
                <a:ahLst/>
                <a:cxnLst/>
                <a:rect l="l" t="t" r="r" b="b"/>
                <a:pathLst>
                  <a:path w="208123" h="178805">
                    <a:moveTo>
                      <a:pt x="87174" y="9526"/>
                    </a:moveTo>
                    <a:lnTo>
                      <a:pt x="3530" y="149180"/>
                    </a:lnTo>
                    <a:cubicBezTo>
                      <a:pt x="21" y="155256"/>
                      <a:pt x="0" y="162738"/>
                      <a:pt x="3474" y="168834"/>
                    </a:cubicBezTo>
                    <a:cubicBezTo>
                      <a:pt x="6948" y="174931"/>
                      <a:pt x="13395" y="178726"/>
                      <a:pt x="20412" y="178805"/>
                    </a:cubicBezTo>
                    <a:lnTo>
                      <a:pt x="187719" y="178805"/>
                    </a:lnTo>
                    <a:cubicBezTo>
                      <a:pt x="194732" y="178724"/>
                      <a:pt x="201176" y="174930"/>
                      <a:pt x="204650" y="168837"/>
                    </a:cubicBezTo>
                    <a:cubicBezTo>
                      <a:pt x="208123" y="162744"/>
                      <a:pt x="208104" y="155266"/>
                      <a:pt x="204601" y="149190"/>
                    </a:cubicBezTo>
                    <a:lnTo>
                      <a:pt x="120957" y="9516"/>
                    </a:lnTo>
                    <a:cubicBezTo>
                      <a:pt x="117378" y="3609"/>
                      <a:pt x="110973" y="0"/>
                      <a:pt x="104065" y="0"/>
                    </a:cubicBezTo>
                    <a:cubicBezTo>
                      <a:pt x="97158" y="0"/>
                      <a:pt x="90753" y="3609"/>
                      <a:pt x="87174" y="9516"/>
                    </a:cubicBezTo>
                  </a:path>
                </a:pathLst>
              </a:custGeom>
              <a:noFill/>
              <a:ln w="20637">
                <a:solidFill>
                  <a:schemeClr val="accent3"/>
                </a:solidFill>
              </a:ln>
            </p:spPr>
          </p:sp>
          <p:sp>
            <p:nvSpPr>
              <p:cNvPr id="22" name="Freeform 22"/>
              <p:cNvSpPr/>
              <p:nvPr/>
            </p:nvSpPr>
            <p:spPr>
              <a:xfrm>
                <a:off x="4352925" y="3041649"/>
                <a:ext cx="9525" cy="9525"/>
              </a:xfrm>
              <a:custGeom>
                <a:avLst/>
                <a:gdLst/>
                <a:ahLst/>
                <a:cxnLst/>
                <a:rect l="l" t="t" r="r" b="b"/>
                <a:pathLst>
                  <a:path w="9525" h="9525">
                    <a:moveTo>
                      <a:pt x="0" y="0"/>
                    </a:moveTo>
                    <a:lnTo>
                      <a:pt x="103" y="0"/>
                    </a:lnTo>
                  </a:path>
                </a:pathLst>
              </a:custGeom>
              <a:noFill/>
              <a:ln w="20637">
                <a:solidFill>
                  <a:schemeClr val="accent3"/>
                </a:solidFill>
              </a:ln>
            </p:spPr>
          </p:sp>
        </p:grpSp>
        <p:sp>
          <p:nvSpPr>
            <p:cNvPr id="24" name="TextBox 24"/>
            <p:cNvSpPr txBox="1"/>
            <p:nvPr/>
          </p:nvSpPr>
          <p:spPr>
            <a:xfrm>
              <a:off x="4581906" y="2901315"/>
              <a:ext cx="100720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Aversions</a:t>
              </a:r>
            </a:p>
          </p:txBody>
        </p:sp>
        <p:sp>
          <p:nvSpPr>
            <p:cNvPr id="25" name="TextBox 25"/>
            <p:cNvSpPr txBox="1"/>
            <p:nvPr/>
          </p:nvSpPr>
          <p:spPr>
            <a:xfrm>
              <a:off x="4222242" y="3321368"/>
              <a:ext cx="235779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Bullying, undiagnosed disabilities,</a:t>
              </a:r>
              <a:br/>
              <a:r>
                <a:rPr lang="en-US" sz="1350" dirty="0">
                  <a:solidFill>
                    <a:schemeClr val="dk1"/>
                  </a:solidFill>
                  <a:latin typeface="+mn-lt"/>
                  <a:ea typeface="+mn-ea"/>
                  <a:cs typeface="+mn-cs"/>
                </a:rPr>
                <a:t>and overly punitive discipline.</a:t>
              </a:r>
            </a:p>
          </p:txBody>
        </p:sp>
      </p:grpSp>
      <p:grpSp>
        <p:nvGrpSpPr>
          <p:cNvPr id="33" name="Group 33"/>
          <p:cNvGrpSpPr/>
          <p:nvPr/>
        </p:nvGrpSpPr>
        <p:grpSpPr>
          <a:xfrm>
            <a:off x="609600" y="4248150"/>
            <a:ext cx="3238500" cy="1428750"/>
            <a:chOff x="609600" y="4248150"/>
            <a:chExt cx="3238500" cy="1428750"/>
          </a:xfrm>
        </p:grpSpPr>
        <p:sp>
          <p:nvSpPr>
            <p:cNvPr id="27" name="Freeform 27"/>
            <p:cNvSpPr/>
            <p:nvPr/>
          </p:nvSpPr>
          <p:spPr>
            <a:xfrm>
              <a:off x="609600" y="4248150"/>
              <a:ext cx="3238500" cy="1428750"/>
            </a:xfrm>
            <a:prstGeom prst="snip1Rect">
              <a:avLst/>
            </a:prstGeom>
            <a:solidFill>
              <a:schemeClr val="lt1"/>
            </a:solidFill>
            <a:ln w="9525">
              <a:solidFill>
                <a:schemeClr val="accent6"/>
              </a:solidFill>
            </a:ln>
          </p:spPr>
        </p:sp>
        <p:grpSp>
          <p:nvGrpSpPr>
            <p:cNvPr id="30" name="Group 30"/>
            <p:cNvGrpSpPr/>
            <p:nvPr/>
          </p:nvGrpSpPr>
          <p:grpSpPr>
            <a:xfrm>
              <a:off x="858837" y="4509294"/>
              <a:ext cx="206374" cy="144461"/>
              <a:chOff x="858837" y="4509294"/>
              <a:chExt cx="206374" cy="144461"/>
            </a:xfrm>
          </p:grpSpPr>
          <p:sp>
            <p:nvSpPr>
              <p:cNvPr id="28" name="Freeform 28"/>
              <p:cNvSpPr/>
              <p:nvPr/>
            </p:nvSpPr>
            <p:spPr>
              <a:xfrm>
                <a:off x="858837" y="4509294"/>
                <a:ext cx="206374" cy="103187"/>
              </a:xfrm>
              <a:custGeom>
                <a:avLst/>
                <a:gdLst/>
                <a:ahLst/>
                <a:cxnLst/>
                <a:rect l="l" t="t" r="r" b="b"/>
                <a:pathLst>
                  <a:path w="206374" h="103187">
                    <a:moveTo>
                      <a:pt x="206374" y="41275"/>
                    </a:moveTo>
                    <a:lnTo>
                      <a:pt x="103187" y="0"/>
                    </a:lnTo>
                    <a:lnTo>
                      <a:pt x="0" y="41275"/>
                    </a:lnTo>
                    <a:lnTo>
                      <a:pt x="103187" y="82550"/>
                    </a:lnTo>
                    <a:lnTo>
                      <a:pt x="206374" y="41275"/>
                    </a:lnTo>
                    <a:lnTo>
                      <a:pt x="206374" y="103187"/>
                    </a:lnTo>
                  </a:path>
                </a:pathLst>
              </a:custGeom>
              <a:noFill/>
              <a:ln w="20637">
                <a:solidFill>
                  <a:schemeClr val="accent3"/>
                </a:solidFill>
              </a:ln>
            </p:spPr>
          </p:sp>
          <p:sp>
            <p:nvSpPr>
              <p:cNvPr id="29" name="Freeform 29"/>
              <p:cNvSpPr/>
              <p:nvPr/>
            </p:nvSpPr>
            <p:spPr>
              <a:xfrm>
                <a:off x="900112" y="4567078"/>
                <a:ext cx="123825" cy="86677"/>
              </a:xfrm>
              <a:custGeom>
                <a:avLst/>
                <a:gdLst/>
                <a:ahLst/>
                <a:cxnLst/>
                <a:rect l="l" t="t" r="r" b="b"/>
                <a:pathLst>
                  <a:path w="123825" h="86677">
                    <a:moveTo>
                      <a:pt x="0" y="0"/>
                    </a:moveTo>
                    <a:lnTo>
                      <a:pt x="0" y="55721"/>
                    </a:lnTo>
                    <a:cubicBezTo>
                      <a:pt x="0" y="72818"/>
                      <a:pt x="27719" y="86677"/>
                      <a:pt x="61912" y="86677"/>
                    </a:cubicBezTo>
                    <a:cubicBezTo>
                      <a:pt x="96106" y="86677"/>
                      <a:pt x="123825" y="72818"/>
                      <a:pt x="123825" y="55721"/>
                    </a:cubicBezTo>
                    <a:lnTo>
                      <a:pt x="123825" y="0"/>
                    </a:lnTo>
                  </a:path>
                </a:pathLst>
              </a:custGeom>
              <a:noFill/>
              <a:ln w="20637">
                <a:solidFill>
                  <a:schemeClr val="accent3"/>
                </a:solidFill>
              </a:ln>
            </p:spPr>
          </p:sp>
        </p:grpSp>
        <p:sp>
          <p:nvSpPr>
            <p:cNvPr id="31" name="TextBox 31"/>
            <p:cNvSpPr txBox="1"/>
            <p:nvPr/>
          </p:nvSpPr>
          <p:spPr>
            <a:xfrm>
              <a:off x="1191006" y="4482465"/>
              <a:ext cx="159056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Disengagement</a:t>
              </a:r>
            </a:p>
          </p:txBody>
        </p:sp>
        <p:sp>
          <p:nvSpPr>
            <p:cNvPr id="32" name="TextBox 32"/>
            <p:cNvSpPr txBox="1"/>
            <p:nvPr/>
          </p:nvSpPr>
          <p:spPr>
            <a:xfrm>
              <a:off x="831342" y="4902518"/>
              <a:ext cx="234003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A negative school climate, or no</a:t>
              </a:r>
              <a:br/>
              <a:r>
                <a:rPr lang="en-US" sz="1350" dirty="0">
                  <a:solidFill>
                    <a:schemeClr val="dk1"/>
                  </a:solidFill>
                  <a:latin typeface="+mn-lt"/>
                  <a:ea typeface="+mn-ea"/>
                  <a:cs typeface="+mn-cs"/>
                </a:rPr>
                <a:t>supportive relationship at school.</a:t>
              </a:r>
            </a:p>
          </p:txBody>
        </p:sp>
      </p:grpSp>
      <p:grpSp>
        <p:nvGrpSpPr>
          <p:cNvPr id="38" name="Group 38"/>
          <p:cNvGrpSpPr/>
          <p:nvPr/>
        </p:nvGrpSpPr>
        <p:grpSpPr>
          <a:xfrm>
            <a:off x="4000500" y="4248150"/>
            <a:ext cx="3238500" cy="1428750"/>
            <a:chOff x="4000500" y="4248150"/>
            <a:chExt cx="3238500" cy="1428750"/>
          </a:xfrm>
        </p:grpSpPr>
        <p:sp>
          <p:nvSpPr>
            <p:cNvPr id="34" name="Freeform 34"/>
            <p:cNvSpPr/>
            <p:nvPr/>
          </p:nvSpPr>
          <p:spPr>
            <a:xfrm>
              <a:off x="4000500" y="4248150"/>
              <a:ext cx="3238500" cy="1428750"/>
            </a:xfrm>
            <a:prstGeom prst="snip1Rect">
              <a:avLst/>
            </a:prstGeom>
            <a:solidFill>
              <a:schemeClr val="lt1"/>
            </a:solidFill>
            <a:ln w="9525">
              <a:solidFill>
                <a:schemeClr val="accent6"/>
              </a:solidFill>
            </a:ln>
          </p:spPr>
        </p:sp>
        <p:sp>
          <p:nvSpPr>
            <p:cNvPr id="35" name="Freeform 35"/>
            <p:cNvSpPr/>
            <p:nvPr/>
          </p:nvSpPr>
          <p:spPr>
            <a:xfrm>
              <a:off x="4249490" y="4490978"/>
              <a:ext cx="206003" cy="182610"/>
            </a:xfrm>
            <a:custGeom>
              <a:avLst/>
              <a:gdLst/>
              <a:ahLst/>
              <a:cxnLst/>
              <a:rect l="l" t="t" r="r" b="b"/>
              <a:pathLst>
                <a:path w="206003" h="182610">
                  <a:moveTo>
                    <a:pt x="10566" y="173096"/>
                  </a:moveTo>
                  <a:lnTo>
                    <a:pt x="23981" y="132853"/>
                  </a:lnTo>
                  <a:cubicBezTo>
                    <a:pt x="0" y="97388"/>
                    <a:pt x="9266" y="51625"/>
                    <a:pt x="45650" y="25807"/>
                  </a:cubicBezTo>
                  <a:cubicBezTo>
                    <a:pt x="82034" y="0"/>
                    <a:pt x="134288" y="2115"/>
                    <a:pt x="167875" y="30760"/>
                  </a:cubicBezTo>
                  <a:cubicBezTo>
                    <a:pt x="201463" y="59415"/>
                    <a:pt x="206003" y="105736"/>
                    <a:pt x="178493" y="139117"/>
                  </a:cubicBezTo>
                  <a:cubicBezTo>
                    <a:pt x="150983" y="172498"/>
                    <a:pt x="99916" y="182610"/>
                    <a:pt x="59064" y="162778"/>
                  </a:cubicBezTo>
                  <a:lnTo>
                    <a:pt x="10566" y="173096"/>
                  </a:lnTo>
                </a:path>
              </a:pathLst>
            </a:custGeom>
            <a:noFill/>
            <a:ln w="20637">
              <a:solidFill>
                <a:schemeClr val="accent3"/>
              </a:solidFill>
            </a:ln>
          </p:spPr>
        </p:sp>
        <p:sp>
          <p:nvSpPr>
            <p:cNvPr id="36" name="TextBox 36"/>
            <p:cNvSpPr txBox="1"/>
            <p:nvPr/>
          </p:nvSpPr>
          <p:spPr>
            <a:xfrm>
              <a:off x="4581906" y="4482465"/>
              <a:ext cx="66274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Myths</a:t>
              </a:r>
            </a:p>
          </p:txBody>
        </p:sp>
        <p:sp>
          <p:nvSpPr>
            <p:cNvPr id="37" name="TextBox 37"/>
            <p:cNvSpPr txBox="1"/>
            <p:nvPr/>
          </p:nvSpPr>
          <p:spPr>
            <a:xfrm>
              <a:off x="4222242" y="4902518"/>
              <a:ext cx="2580220"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Fears such as lice, and the belief that</a:t>
              </a:r>
              <a:br/>
              <a:r>
                <a:rPr lang="en-US" sz="1350" dirty="0">
                  <a:solidFill>
                    <a:schemeClr val="dk1"/>
                  </a:solidFill>
                  <a:latin typeface="+mn-lt"/>
                  <a:ea typeface="+mn-ea"/>
                  <a:cs typeface="+mn-cs"/>
                </a:rPr>
                <a:t>an excused absence does not count.</a:t>
              </a:r>
            </a:p>
          </p:txBody>
        </p:sp>
      </p:grpSp>
      <p:grpSp>
        <p:nvGrpSpPr>
          <p:cNvPr id="40" name="Group 40"/>
          <p:cNvGrpSpPr/>
          <p:nvPr/>
        </p:nvGrpSpPr>
        <p:grpSpPr>
          <a:xfrm>
            <a:off x="602742" y="5893118"/>
            <a:ext cx="5055958" cy="511683"/>
            <a:chOff x="602742" y="5893118"/>
            <a:chExt cx="5055958" cy="511683"/>
          </a:xfrm>
        </p:grpSpPr>
        <p:sp>
          <p:nvSpPr>
            <p:cNvPr id="39" name="TextBox 39"/>
            <p:cNvSpPr txBox="1"/>
            <p:nvPr/>
          </p:nvSpPr>
          <p:spPr>
            <a:xfrm>
              <a:off x="602742" y="5893118"/>
              <a:ext cx="5055958" cy="5116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Three of the four</a:t>
              </a:r>
              <a:r>
                <a:rPr lang="en-US" sz="1350" dirty="0">
                  <a:solidFill>
                    <a:schemeClr val="dk1"/>
                  </a:solidFill>
                  <a:latin typeface="+mn-lt"/>
                  <a:ea typeface="+mn-ea"/>
                  <a:cs typeface="+mn-cs"/>
                </a:rPr>
                <a:t xml:space="preserve"> are conditions a district can change.</a:t>
              </a:r>
              <a:br/>
              <a:r>
                <a:rPr lang="en-US" sz="1350" dirty="0">
                  <a:solidFill>
                    <a:schemeClr val="dk1"/>
                  </a:solidFill>
                  <a:latin typeface="+mn-lt"/>
                  <a:ea typeface="+mn-ea"/>
                  <a:cs typeface="+mn-cs"/>
                </a:rPr>
                <a:t>The EPA estimates 10.5 million school days are lost to asthma each year.</a:t>
              </a:r>
            </a:p>
          </p:txBody>
        </p:sp>
      </p:grpSp>
      <p:grpSp>
        <p:nvGrpSpPr>
          <p:cNvPr id="44" name="Group 44"/>
          <p:cNvGrpSpPr/>
          <p:nvPr/>
        </p:nvGrpSpPr>
        <p:grpSpPr>
          <a:xfrm>
            <a:off x="7620000" y="2667000"/>
            <a:ext cx="3962400" cy="3009900"/>
            <a:chOff x="7620000" y="2667000"/>
            <a:chExt cx="3962400" cy="3009900"/>
          </a:xfrm>
        </p:grpSpPr>
        <p:pic>
          <p:nvPicPr>
            <p:cNvPr id="41" name="Image 41"/>
            <p:cNvPicPr>
              <a:picLocks noChangeAspect="1"/>
            </p:cNvPicPr>
            <p:nvPr/>
          </p:nvPicPr>
          <p:blipFill>
            <a:blip r:embed="rId2"/>
            <a:srcRect l="0" t="12019" r="0" b="12019"/>
            <a:stretch>
              <a:fillRect/>
            </a:stretch>
          </p:blipFill>
          <p:spPr>
            <a:xfrm>
              <a:off x="7620000" y="2667000"/>
              <a:ext cx="3962400" cy="3009900"/>
            </a:xfrm>
            <a:prstGeom prst="roundRect">
              <a:avLst>
                <a:gd name="adj" fmla="val 5063"/>
              </a:avLst>
            </a:prstGeom>
          </p:spPr>
        </p:pic>
        <p:sp>
          <p:nvSpPr>
            <p:cNvPr id="42" name="Rectangle 42"/>
            <p:cNvSpPr/>
            <p:nvPr/>
          </p:nvSpPr>
          <p:spPr>
            <a:xfrm>
              <a:off x="7620000" y="5257800"/>
              <a:ext cx="3962400" cy="419100"/>
            </a:xfrm>
            <a:prstGeom prst="rect">
              <a:avLst/>
            </a:prstGeom>
            <a:solidFill>
              <a:schemeClr val="accent1">
                <a:alpha val="88000"/>
              </a:schemeClr>
            </a:solidFill>
            <a:ln>
              <a:noFill/>
            </a:ln>
          </p:spPr>
        </p:sp>
        <p:sp>
          <p:nvSpPr>
            <p:cNvPr id="43" name="TextBox 43"/>
            <p:cNvSpPr txBox="1"/>
            <p:nvPr/>
          </p:nvSpPr>
          <p:spPr>
            <a:xfrm>
              <a:off x="7804404" y="5394960"/>
              <a:ext cx="2856901"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Illustration, not a photograph of any school</a:t>
              </a:r>
            </a:p>
          </p:txBody>
        </p:sp>
      </p:grpSp>
      <p:grpSp>
        <p:nvGrpSpPr>
          <p:cNvPr id="46" name="Group 46"/>
          <p:cNvGrpSpPr/>
          <p:nvPr/>
        </p:nvGrpSpPr>
        <p:grpSpPr>
          <a:xfrm>
            <a:off x="603504" y="6576060"/>
            <a:ext cx="8838168" cy="234696"/>
            <a:chOff x="603504" y="6576060"/>
            <a:chExt cx="8838168" cy="234696"/>
          </a:xfrm>
        </p:grpSpPr>
        <p:sp>
          <p:nvSpPr>
            <p:cNvPr id="45" name="TextBox 45"/>
            <p:cNvSpPr txBox="1"/>
            <p:nvPr/>
          </p:nvSpPr>
          <p:spPr>
            <a:xfrm>
              <a:off x="603504" y="6576060"/>
              <a:ext cx="883816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Framework for Action: Addressing Chronic Absenteeism through ESSA (ERIC ED617466, 2017); EPA asthma figure cited there.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22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2"/>
        </a:solidFill>
        <a:effectLst/>
      </p:bgPr>
    </p:bg>
    <p:spTree>
      <p:nvGrpSpPr>
        <p:cNvPr id="1" name=""/>
        <p:cNvGrpSpPr/>
        <p:nvPr/>
      </p:nvGrpSpPr>
      <p:grpSpPr>
        <a:xfrm>
          <a:off x="0" y="0"/>
          <a:ext cx="0" cy="0"/>
          <a:chOff x="0" y="0"/>
          <a:chExt cx="0" cy="0"/>
        </a:xfrm>
      </p:grpSpPr>
      <p:sp>
        <p:nvSpPr>
          <p:cNvPr id="2" name="Freeform 2"/>
          <p:cNvSpPr/>
          <p:nvPr/>
        </p:nvSpPr>
        <p:spPr>
          <a:xfrm>
            <a:off x="10096500" y="342900"/>
            <a:ext cx="1714500" cy="1714500"/>
          </a:xfrm>
          <a:prstGeom prst="arc">
            <a:avLst/>
          </a:prstGeom>
          <a:noFill/>
          <a:ln w="28575">
            <a:solidFill>
              <a:schemeClr val="accent2"/>
            </a:solidFill>
          </a:ln>
        </p:spPr>
      </p:sp>
      <p:grpSp>
        <p:nvGrpSpPr>
          <p:cNvPr id="4" name="Group 4"/>
          <p:cNvGrpSpPr/>
          <p:nvPr/>
        </p:nvGrpSpPr>
        <p:grpSpPr>
          <a:xfrm>
            <a:off x="602742" y="749618"/>
            <a:ext cx="2370386" cy="264033"/>
            <a:chOff x="602742" y="749618"/>
            <a:chExt cx="2370386" cy="264033"/>
          </a:xfrm>
        </p:grpSpPr>
        <p:sp>
          <p:nvSpPr>
            <p:cNvPr id="3" name="TextBox 3"/>
            <p:cNvSpPr txBox="1"/>
            <p:nvPr/>
          </p:nvSpPr>
          <p:spPr>
            <a:xfrm>
              <a:off x="602742" y="749618"/>
              <a:ext cx="2370386"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OUR RECOMMENDATION</a:t>
              </a:r>
            </a:p>
          </p:txBody>
        </p:sp>
      </p:grpSp>
      <p:grpSp>
        <p:nvGrpSpPr>
          <p:cNvPr id="7" name="Group 7"/>
          <p:cNvGrpSpPr/>
          <p:nvPr/>
        </p:nvGrpSpPr>
        <p:grpSpPr>
          <a:xfrm>
            <a:off x="594360" y="1104900"/>
            <a:ext cx="10988040" cy="586740"/>
            <a:chOff x="594360" y="1104900"/>
            <a:chExt cx="10988040" cy="586740"/>
          </a:xfrm>
        </p:grpSpPr>
        <p:sp>
          <p:nvSpPr>
            <p:cNvPr id="5" name="TextBox 5"/>
            <p:cNvSpPr txBox="1"/>
            <p:nvPr/>
          </p:nvSpPr>
          <p:spPr>
            <a:xfrm>
              <a:off x="594360" y="1104900"/>
              <a:ext cx="941601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Build one attendance system with three tiers</a:t>
              </a:r>
            </a:p>
          </p:txBody>
        </p:sp>
        <p:sp>
          <p:nvSpPr>
            <p:cNvPr id="6" name="Line 6"/>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8932" y="1792605"/>
            <a:ext cx="7480642" cy="753618"/>
            <a:chOff x="598932" y="1792605"/>
            <a:chExt cx="7480642" cy="753618"/>
          </a:xfrm>
        </p:grpSpPr>
        <p:sp>
          <p:nvSpPr>
            <p:cNvPr id="8" name="TextBox 8"/>
            <p:cNvSpPr txBox="1"/>
            <p:nvPr/>
          </p:nvSpPr>
          <p:spPr>
            <a:xfrm>
              <a:off x="598932" y="1792605"/>
              <a:ext cx="7480642" cy="753618"/>
            </a:xfrm>
            <a:prstGeom prst="rect">
              <a:avLst/>
            </a:prstGeom>
            <a:noFill/>
            <a:ln>
              <a:noFill/>
            </a:ln>
          </p:spPr>
          <p:txBody>
            <a:bodyPr wrap="none" lIns="0" tIns="0" rIns="0" bIns="0" anchor="t" anchorCtr="0">
              <a:spAutoFit/>
            </a:bodyPr>
            <a:lstStyle/>
            <a:p>
              <a:pPr algn="l">
                <a:lnSpc>
                  <a:spcPts val="2700"/>
                </a:lnSpc>
              </a:pPr>
              <a:r>
                <a:rPr lang="en-US" sz="2100" dirty="0">
                  <a:solidFill>
                    <a:schemeClr val="dk1"/>
                  </a:solidFill>
                  <a:latin typeface="+mn-lt"/>
                  <a:ea typeface="+mn-ea"/>
                  <a:cs typeface="+mn-cs"/>
                </a:rPr>
                <a:t>Prevention for everyone, early intervention for the students slipping,</a:t>
              </a:r>
              <a:br/>
              <a:r>
                <a:rPr lang="en-US" sz="2100" dirty="0">
                  <a:solidFill>
                    <a:schemeClr val="dk1"/>
                  </a:solidFill>
                  <a:latin typeface="+mn-lt"/>
                  <a:ea typeface="+mn-ea"/>
                  <a:cs typeface="+mn-cs"/>
                </a:rPr>
                <a:t>and coordinated case support for the students already in crisis.</a:t>
              </a:r>
            </a:p>
          </p:txBody>
        </p:sp>
      </p:grpSp>
      <p:grpSp>
        <p:nvGrpSpPr>
          <p:cNvPr id="11" name="Group 11"/>
          <p:cNvGrpSpPr/>
          <p:nvPr/>
        </p:nvGrpSpPr>
        <p:grpSpPr>
          <a:xfrm>
            <a:off x="685800" y="2762250"/>
            <a:ext cx="342900" cy="2800350"/>
            <a:chOff x="685800" y="2762250"/>
            <a:chExt cx="342900" cy="2800350"/>
          </a:xfrm>
        </p:grpSpPr>
        <p:sp>
          <p:nvSpPr>
            <p:cNvPr id="10" name="Freeform 10"/>
            <p:cNvSpPr/>
            <p:nvPr/>
          </p:nvSpPr>
          <p:spPr>
            <a:xfrm>
              <a:off x="685800" y="2762250"/>
              <a:ext cx="342900" cy="2800350"/>
            </a:xfrm>
            <a:prstGeom prst="upArrow">
              <a:avLst/>
            </a:prstGeom>
            <a:solidFill>
              <a:schemeClr val="accent2">
                <a:alpha val="55000"/>
              </a:schemeClr>
            </a:solidFill>
            <a:ln>
              <a:noFill/>
            </a:ln>
          </p:spPr>
        </p:sp>
      </p:grpSp>
      <p:grpSp>
        <p:nvGrpSpPr>
          <p:cNvPr id="14" name="!!tier-three"/>
          <p:cNvGrpSpPr/>
          <p:nvPr/>
        </p:nvGrpSpPr>
        <p:grpSpPr>
          <a:xfrm>
            <a:off x="2324100" y="2762250"/>
            <a:ext cx="2057400" cy="857250"/>
            <a:chOff x="2324100" y="2762250"/>
            <a:chExt cx="2057400" cy="857250"/>
          </a:xfrm>
        </p:grpSpPr>
        <p:sp>
          <p:nvSpPr>
            <p:cNvPr id="12" name="Freeform 12"/>
            <p:cNvSpPr/>
            <p:nvPr/>
          </p:nvSpPr>
          <p:spPr>
            <a:xfrm>
              <a:off x="2324100" y="2762250"/>
              <a:ext cx="2057400" cy="857250"/>
            </a:xfrm>
            <a:prstGeom prst="trapezoid">
              <a:avLst/>
            </a:prstGeom>
            <a:solidFill>
              <a:schemeClr val="accent1"/>
            </a:solidFill>
            <a:ln>
              <a:noFill/>
            </a:ln>
          </p:spPr>
        </p:sp>
        <p:sp>
          <p:nvSpPr>
            <p:cNvPr id="13" name="TextBox 13"/>
            <p:cNvSpPr txBox="1"/>
            <p:nvPr/>
          </p:nvSpPr>
          <p:spPr>
            <a:xfrm>
              <a:off x="3220945" y="3000375"/>
              <a:ext cx="263709" cy="586740"/>
            </a:xfrm>
            <a:prstGeom prst="rect">
              <a:avLst/>
            </a:prstGeom>
            <a:noFill/>
            <a:ln>
              <a:noFill/>
            </a:ln>
          </p:spPr>
          <p:txBody>
            <a:bodyPr wrap="none" lIns="0" tIns="0" rIns="0" bIns="0" anchor="t" anchorCtr="0">
              <a:spAutoFit/>
            </a:bodyPr>
            <a:lstStyle/>
            <a:p>
              <a:pPr algn="ctr"/>
              <a:r>
                <a:rPr lang="en-US" sz="3000" b="1" dirty="0">
                  <a:solidFill>
                    <a:srgbClr val="FFFFFF"/>
                  </a:solidFill>
                  <a:latin typeface="+mj-lt"/>
                  <a:ea typeface="+mj-ea"/>
                  <a:cs typeface="+mj-cs"/>
                </a:rPr>
                <a:t>3</a:t>
              </a:r>
            </a:p>
          </p:txBody>
        </p:sp>
      </p:grpSp>
      <p:grpSp>
        <p:nvGrpSpPr>
          <p:cNvPr id="17" name="!!tier-two"/>
          <p:cNvGrpSpPr/>
          <p:nvPr/>
        </p:nvGrpSpPr>
        <p:grpSpPr>
          <a:xfrm>
            <a:off x="1752600" y="3733800"/>
            <a:ext cx="3200400" cy="857250"/>
            <a:chOff x="1752600" y="3733800"/>
            <a:chExt cx="3200400" cy="857250"/>
          </a:xfrm>
        </p:grpSpPr>
        <p:sp>
          <p:nvSpPr>
            <p:cNvPr id="15" name="Freeform 15"/>
            <p:cNvSpPr/>
            <p:nvPr/>
          </p:nvSpPr>
          <p:spPr>
            <a:xfrm>
              <a:off x="1752600" y="3733800"/>
              <a:ext cx="3200400" cy="857250"/>
            </a:xfrm>
            <a:prstGeom prst="trapezoid">
              <a:avLst/>
            </a:prstGeom>
            <a:solidFill>
              <a:schemeClr val="accent3"/>
            </a:solidFill>
            <a:ln>
              <a:noFill/>
            </a:ln>
          </p:spPr>
        </p:sp>
        <p:sp>
          <p:nvSpPr>
            <p:cNvPr id="16" name="TextBox 16"/>
            <p:cNvSpPr txBox="1"/>
            <p:nvPr/>
          </p:nvSpPr>
          <p:spPr>
            <a:xfrm>
              <a:off x="3220945" y="3971925"/>
              <a:ext cx="263709" cy="586740"/>
            </a:xfrm>
            <a:prstGeom prst="rect">
              <a:avLst/>
            </a:prstGeom>
            <a:noFill/>
            <a:ln>
              <a:noFill/>
            </a:ln>
          </p:spPr>
          <p:txBody>
            <a:bodyPr wrap="none" lIns="0" tIns="0" rIns="0" bIns="0" anchor="t" anchorCtr="0">
              <a:spAutoFit/>
            </a:bodyPr>
            <a:lstStyle/>
            <a:p>
              <a:pPr algn="ctr"/>
              <a:r>
                <a:rPr lang="en-US" sz="3000" b="1" dirty="0">
                  <a:solidFill>
                    <a:schemeClr val="accent1"/>
                  </a:solidFill>
                  <a:latin typeface="+mj-lt"/>
                  <a:ea typeface="+mj-ea"/>
                  <a:cs typeface="+mj-cs"/>
                </a:rPr>
                <a:t>2</a:t>
              </a:r>
            </a:p>
          </p:txBody>
        </p:sp>
      </p:grpSp>
      <p:grpSp>
        <p:nvGrpSpPr>
          <p:cNvPr id="20" name="!!tier-one"/>
          <p:cNvGrpSpPr/>
          <p:nvPr/>
        </p:nvGrpSpPr>
        <p:grpSpPr>
          <a:xfrm>
            <a:off x="1181100" y="4705350"/>
            <a:ext cx="4343400" cy="857250"/>
            <a:chOff x="1181100" y="4705350"/>
            <a:chExt cx="4343400" cy="857250"/>
          </a:xfrm>
        </p:grpSpPr>
        <p:sp>
          <p:nvSpPr>
            <p:cNvPr id="18" name="Freeform 18"/>
            <p:cNvSpPr/>
            <p:nvPr/>
          </p:nvSpPr>
          <p:spPr>
            <a:xfrm>
              <a:off x="1181100" y="4705350"/>
              <a:ext cx="4343400" cy="857250"/>
            </a:xfrm>
            <a:prstGeom prst="trapezoid">
              <a:avLst/>
            </a:prstGeom>
            <a:solidFill>
              <a:srgbClr val="A8C4CC"/>
            </a:solidFill>
            <a:ln>
              <a:noFill/>
            </a:ln>
          </p:spPr>
        </p:sp>
        <p:sp>
          <p:nvSpPr>
            <p:cNvPr id="19" name="TextBox 19"/>
            <p:cNvSpPr txBox="1"/>
            <p:nvPr/>
          </p:nvSpPr>
          <p:spPr>
            <a:xfrm>
              <a:off x="3220945" y="4943475"/>
              <a:ext cx="263709" cy="586740"/>
            </a:xfrm>
            <a:prstGeom prst="rect">
              <a:avLst/>
            </a:prstGeom>
            <a:noFill/>
            <a:ln>
              <a:noFill/>
            </a:ln>
          </p:spPr>
          <p:txBody>
            <a:bodyPr wrap="none" lIns="0" tIns="0" rIns="0" bIns="0" anchor="t" anchorCtr="0">
              <a:spAutoFit/>
            </a:bodyPr>
            <a:lstStyle/>
            <a:p>
              <a:pPr algn="ctr"/>
              <a:r>
                <a:rPr lang="en-US" sz="3000" b="1" dirty="0">
                  <a:solidFill>
                    <a:schemeClr val="accent1"/>
                  </a:solidFill>
                  <a:latin typeface="+mj-lt"/>
                  <a:ea typeface="+mj-ea"/>
                  <a:cs typeface="+mj-cs"/>
                </a:rPr>
                <a:t>1</a:t>
              </a:r>
            </a:p>
          </p:txBody>
        </p:sp>
      </p:grpSp>
      <p:grpSp>
        <p:nvGrpSpPr>
          <p:cNvPr id="22" name="Group 22"/>
          <p:cNvGrpSpPr/>
          <p:nvPr/>
        </p:nvGrpSpPr>
        <p:grpSpPr>
          <a:xfrm>
            <a:off x="602742" y="5664518"/>
            <a:ext cx="2331523" cy="264033"/>
            <a:chOff x="602742" y="5664518"/>
            <a:chExt cx="2331523" cy="264033"/>
          </a:xfrm>
        </p:grpSpPr>
        <p:sp>
          <p:nvSpPr>
            <p:cNvPr id="21" name="TextBox 21"/>
            <p:cNvSpPr txBox="1"/>
            <p:nvPr/>
          </p:nvSpPr>
          <p:spPr>
            <a:xfrm>
              <a:off x="602742" y="5664518"/>
              <a:ext cx="23315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Rising intensity, fewer students</a:t>
              </a:r>
            </a:p>
          </p:txBody>
        </p:sp>
      </p:grpSp>
      <p:grpSp>
        <p:nvGrpSpPr>
          <p:cNvPr id="29" name="Group 29"/>
          <p:cNvGrpSpPr/>
          <p:nvPr/>
        </p:nvGrpSpPr>
        <p:grpSpPr>
          <a:xfrm>
            <a:off x="6085332" y="2878455"/>
            <a:ext cx="3543072" cy="2651379"/>
            <a:chOff x="6085332" y="2878455"/>
            <a:chExt cx="3543072" cy="2651379"/>
          </a:xfrm>
        </p:grpSpPr>
        <p:sp>
          <p:nvSpPr>
            <p:cNvPr id="23" name="TextBox 23"/>
            <p:cNvSpPr txBox="1"/>
            <p:nvPr/>
          </p:nvSpPr>
          <p:spPr>
            <a:xfrm>
              <a:off x="6085332" y="2878455"/>
              <a:ext cx="314169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Tier 3 — Intensive support</a:t>
              </a:r>
            </a:p>
          </p:txBody>
        </p:sp>
        <p:sp>
          <p:nvSpPr>
            <p:cNvPr id="24" name="TextBox 24"/>
            <p:cNvSpPr txBox="1"/>
            <p:nvPr/>
          </p:nvSpPr>
          <p:spPr>
            <a:xfrm>
              <a:off x="6086856" y="3234690"/>
              <a:ext cx="352121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Students already chronically absent</a:t>
              </a:r>
            </a:p>
          </p:txBody>
        </p:sp>
        <p:sp>
          <p:nvSpPr>
            <p:cNvPr id="25" name="TextBox 25"/>
            <p:cNvSpPr txBox="1"/>
            <p:nvPr/>
          </p:nvSpPr>
          <p:spPr>
            <a:xfrm>
              <a:off x="6085332" y="3850005"/>
              <a:ext cx="318752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Tier 2 — Early intervention</a:t>
              </a:r>
            </a:p>
          </p:txBody>
        </p:sp>
        <p:sp>
          <p:nvSpPr>
            <p:cNvPr id="26" name="TextBox 26"/>
            <p:cNvSpPr txBox="1"/>
            <p:nvPr/>
          </p:nvSpPr>
          <p:spPr>
            <a:xfrm>
              <a:off x="6086856" y="4206240"/>
              <a:ext cx="344864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Students approaching the 10% line</a:t>
              </a:r>
            </a:p>
          </p:txBody>
        </p:sp>
        <p:sp>
          <p:nvSpPr>
            <p:cNvPr id="27" name="TextBox 27"/>
            <p:cNvSpPr txBox="1"/>
            <p:nvPr/>
          </p:nvSpPr>
          <p:spPr>
            <a:xfrm>
              <a:off x="6085332" y="4821555"/>
              <a:ext cx="3543072"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Tier 1 — Universal prevention</a:t>
              </a:r>
            </a:p>
          </p:txBody>
        </p:sp>
        <p:sp>
          <p:nvSpPr>
            <p:cNvPr id="28" name="TextBox 28"/>
            <p:cNvSpPr txBox="1"/>
            <p:nvPr/>
          </p:nvSpPr>
          <p:spPr>
            <a:xfrm>
              <a:off x="6086856" y="5177790"/>
              <a:ext cx="225338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All students, every day</a:t>
              </a:r>
            </a:p>
          </p:txBody>
        </p:sp>
      </p:grpSp>
      <p:grpSp>
        <p:nvGrpSpPr>
          <p:cNvPr id="33" name="Group 33"/>
          <p:cNvGrpSpPr/>
          <p:nvPr/>
        </p:nvGrpSpPr>
        <p:grpSpPr>
          <a:xfrm>
            <a:off x="600456" y="5977890"/>
            <a:ext cx="7023548" cy="851916"/>
            <a:chOff x="600456" y="5977890"/>
            <a:chExt cx="7023548" cy="851916"/>
          </a:xfrm>
        </p:grpSpPr>
        <p:sp>
          <p:nvSpPr>
            <p:cNvPr id="30" name="TextBox 30"/>
            <p:cNvSpPr txBox="1"/>
            <p:nvPr/>
          </p:nvSpPr>
          <p:spPr>
            <a:xfrm>
              <a:off x="600456" y="5977890"/>
              <a:ext cx="702354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Lantern designs the system and trains the site leads; </a:t>
              </a:r>
              <a:r>
                <a:rPr lang="en-US" sz="1800" b="1" dirty="0">
                  <a:solidFill>
                    <a:schemeClr val="accent1"/>
                  </a:solidFill>
                  <a:latin typeface="+mn-lt"/>
                  <a:ea typeface="+mn-ea"/>
                  <a:cs typeface="+mn-cs"/>
                </a:rPr>
                <a:t>Riverbend runs it.</a:t>
              </a:r>
            </a:p>
          </p:txBody>
        </p:sp>
        <p:sp>
          <p:nvSpPr>
            <p:cNvPr id="31" name="TextBox 31"/>
            <p:cNvSpPr txBox="1"/>
            <p:nvPr/>
          </p:nvSpPr>
          <p:spPr>
            <a:xfrm>
              <a:off x="602742" y="6331268"/>
              <a:ext cx="5478123" cy="264033"/>
            </a:xfrm>
            <a:prstGeom prst="rect">
              <a:avLst/>
            </a:prstGeom>
            <a:noFill/>
            <a:ln>
              <a:noFill/>
            </a:ln>
          </p:spPr>
          <p:txBody>
            <a:bodyPr wrap="none" lIns="0" tIns="0" rIns="0" bIns="0" anchor="t" anchorCtr="0">
              <a:spAutoFit/>
            </a:bodyPr>
            <a:lstStyle/>
            <a:p>
              <a:pPr algn="l"/>
              <a:r>
                <a:rPr lang="en-US" sz="1350" dirty="0">
                  <a:solidFill>
                    <a:srgbClr val="B0722B"/>
                  </a:solidFill>
                  <a:latin typeface="+mn-lt"/>
                  <a:ea typeface="+mn-ea"/>
                  <a:cs typeface="+mn-cs"/>
                </a:rPr>
                <a:t>Illustrative staffing: one attendance lead per site, one district coordinator.</a:t>
              </a:r>
            </a:p>
          </p:txBody>
        </p:sp>
        <p:sp>
          <p:nvSpPr>
            <p:cNvPr id="32" name="TextBox 32"/>
            <p:cNvSpPr txBox="1"/>
            <p:nvPr/>
          </p:nvSpPr>
          <p:spPr>
            <a:xfrm>
              <a:off x="603504" y="6595110"/>
              <a:ext cx="62806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The multi-tiered system of supports comes from Framework for Action (ERIC ED617466, 2017).</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wipe(up)">
                                      <p:cBhvr>
                                        <p:cTn id="11" dur="500"/>
                                        <p:tgtEl>
                                          <p:spTgt spid="17"/>
                                        </p:tgtEl>
                                      </p:cBhvr>
                                    </p:animEffect>
                                  </p:childTnLst>
                                </p:cTn>
                              </p:par>
                            </p:childTnLst>
                          </p:cTn>
                        </p:par>
                        <p:par>
                          <p:cTn id="12" fill="hold">
                            <p:stCondLst>
                              <p:cond delay="1500"/>
                            </p:stCondLst>
                            <p:childTnLst>
                              <p:par>
                                <p:cTn id="13" presetID="22" presetClass="entr" presetSubtype="1" fill="hold" grpId="0" nodeType="afterEffect">
                                  <p:stCondLst>
                                    <p:cond delay="50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par>
                          <p:cTn id="24" fill="hold">
                            <p:stCondLst>
                              <p:cond delay="4400"/>
                            </p:stCondLst>
                            <p:childTnLst>
                              <p:par>
                                <p:cTn id="25" presetID="10" presetClass="entr" presetSubtype="0" fill="hold" grpId="0" nodeType="afterEffect">
                                  <p:stCondLst>
                                    <p:cond delay="3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2485739"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HOW THE SYSTEM WORKS</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358122" y="775335"/>
              <a:ext cx="1800607"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Contains illustrative figures</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969285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Every tier has a trigger, an owner, and a limit</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5654530" cy="410718"/>
            <a:chOff x="598932" y="1868805"/>
            <a:chExt cx="5654530" cy="410718"/>
          </a:xfrm>
        </p:grpSpPr>
        <p:sp>
          <p:nvSpPr>
            <p:cNvPr id="9" name="TextBox 9"/>
            <p:cNvSpPr txBox="1"/>
            <p:nvPr/>
          </p:nvSpPr>
          <p:spPr>
            <a:xfrm>
              <a:off x="598932" y="1868805"/>
              <a:ext cx="565453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The system escalates on </a:t>
              </a:r>
              <a:r>
                <a:rPr lang="en-US" sz="2100" b="1" dirty="0">
                  <a:solidFill>
                    <a:schemeClr val="accent1"/>
                  </a:solidFill>
                  <a:latin typeface="+mn-lt"/>
                  <a:ea typeface="+mn-ea"/>
                  <a:cs typeface="+mn-cs"/>
                </a:rPr>
                <a:t>data</a:t>
              </a:r>
              <a:r>
                <a:rPr lang="en-US" sz="2100" dirty="0">
                  <a:solidFill>
                    <a:schemeClr val="dk1"/>
                  </a:solidFill>
                  <a:latin typeface="+mn-lt"/>
                  <a:ea typeface="+mn-ea"/>
                  <a:cs typeface="+mn-cs"/>
                </a:rPr>
                <a:t>, not on frustration.</a:t>
              </a:r>
            </a:p>
          </p:txBody>
        </p:sp>
      </p:grpSp>
      <p:grpSp>
        <p:nvGrpSpPr>
          <p:cNvPr id="13" name="!!tier-three"/>
          <p:cNvGrpSpPr/>
          <p:nvPr/>
        </p:nvGrpSpPr>
        <p:grpSpPr>
          <a:xfrm>
            <a:off x="1676400" y="2857500"/>
            <a:ext cx="1600200" cy="762000"/>
            <a:chOff x="1676400" y="2857500"/>
            <a:chExt cx="1600200" cy="762000"/>
          </a:xfrm>
        </p:grpSpPr>
        <p:sp>
          <p:nvSpPr>
            <p:cNvPr id="11" name="Freeform 11"/>
            <p:cNvSpPr/>
            <p:nvPr/>
          </p:nvSpPr>
          <p:spPr>
            <a:xfrm>
              <a:off x="1676400" y="2857500"/>
              <a:ext cx="1600200" cy="762000"/>
            </a:xfrm>
            <a:prstGeom prst="trapezoid">
              <a:avLst/>
            </a:prstGeom>
            <a:solidFill>
              <a:schemeClr val="accent1"/>
            </a:solidFill>
            <a:ln>
              <a:noFill/>
            </a:ln>
          </p:spPr>
        </p:sp>
        <p:sp>
          <p:nvSpPr>
            <p:cNvPr id="12" name="TextBox 12"/>
            <p:cNvSpPr txBox="1"/>
            <p:nvPr/>
          </p:nvSpPr>
          <p:spPr>
            <a:xfrm>
              <a:off x="2344645" y="3028950"/>
              <a:ext cx="263709" cy="586740"/>
            </a:xfrm>
            <a:prstGeom prst="rect">
              <a:avLst/>
            </a:prstGeom>
            <a:noFill/>
            <a:ln>
              <a:noFill/>
            </a:ln>
          </p:spPr>
          <p:txBody>
            <a:bodyPr wrap="none" lIns="0" tIns="0" rIns="0" bIns="0" anchor="t" anchorCtr="0">
              <a:spAutoFit/>
            </a:bodyPr>
            <a:lstStyle/>
            <a:p>
              <a:pPr algn="ctr"/>
              <a:r>
                <a:rPr lang="en-US" sz="3000" b="1" dirty="0">
                  <a:solidFill>
                    <a:srgbClr val="FFFFFF"/>
                  </a:solidFill>
                  <a:latin typeface="+mj-lt"/>
                  <a:ea typeface="+mj-ea"/>
                  <a:cs typeface="+mj-cs"/>
                </a:rPr>
                <a:t>3</a:t>
              </a:r>
            </a:p>
          </p:txBody>
        </p:sp>
      </p:grpSp>
      <p:grpSp>
        <p:nvGrpSpPr>
          <p:cNvPr id="16" name="!!tier-two"/>
          <p:cNvGrpSpPr/>
          <p:nvPr/>
        </p:nvGrpSpPr>
        <p:grpSpPr>
          <a:xfrm>
            <a:off x="1333500" y="3695700"/>
            <a:ext cx="2286000" cy="762000"/>
            <a:chOff x="1333500" y="3695700"/>
            <a:chExt cx="2286000" cy="762000"/>
          </a:xfrm>
        </p:grpSpPr>
        <p:sp>
          <p:nvSpPr>
            <p:cNvPr id="14" name="Freeform 14"/>
            <p:cNvSpPr/>
            <p:nvPr/>
          </p:nvSpPr>
          <p:spPr>
            <a:xfrm>
              <a:off x="1333500" y="3695700"/>
              <a:ext cx="2286000" cy="762000"/>
            </a:xfrm>
            <a:prstGeom prst="trapezoid">
              <a:avLst/>
            </a:prstGeom>
            <a:solidFill>
              <a:schemeClr val="accent3"/>
            </a:solidFill>
            <a:ln>
              <a:noFill/>
            </a:ln>
          </p:spPr>
        </p:sp>
        <p:sp>
          <p:nvSpPr>
            <p:cNvPr id="15" name="TextBox 15"/>
            <p:cNvSpPr txBox="1"/>
            <p:nvPr/>
          </p:nvSpPr>
          <p:spPr>
            <a:xfrm>
              <a:off x="2344645" y="3867150"/>
              <a:ext cx="263709" cy="586740"/>
            </a:xfrm>
            <a:prstGeom prst="rect">
              <a:avLst/>
            </a:prstGeom>
            <a:noFill/>
            <a:ln>
              <a:noFill/>
            </a:ln>
          </p:spPr>
          <p:txBody>
            <a:bodyPr wrap="none" lIns="0" tIns="0" rIns="0" bIns="0" anchor="t" anchorCtr="0">
              <a:spAutoFit/>
            </a:bodyPr>
            <a:lstStyle/>
            <a:p>
              <a:pPr algn="ctr"/>
              <a:r>
                <a:rPr lang="en-US" sz="3000" b="1" dirty="0">
                  <a:solidFill>
                    <a:schemeClr val="accent1"/>
                  </a:solidFill>
                  <a:latin typeface="+mj-lt"/>
                  <a:ea typeface="+mj-ea"/>
                  <a:cs typeface="+mj-cs"/>
                </a:rPr>
                <a:t>2</a:t>
              </a:r>
            </a:p>
          </p:txBody>
        </p:sp>
      </p:grpSp>
      <p:grpSp>
        <p:nvGrpSpPr>
          <p:cNvPr id="19" name="!!tier-one"/>
          <p:cNvGrpSpPr/>
          <p:nvPr/>
        </p:nvGrpSpPr>
        <p:grpSpPr>
          <a:xfrm>
            <a:off x="990600" y="4533900"/>
            <a:ext cx="2971800" cy="762000"/>
            <a:chOff x="990600" y="4533900"/>
            <a:chExt cx="2971800" cy="762000"/>
          </a:xfrm>
        </p:grpSpPr>
        <p:sp>
          <p:nvSpPr>
            <p:cNvPr id="17" name="Freeform 17"/>
            <p:cNvSpPr/>
            <p:nvPr/>
          </p:nvSpPr>
          <p:spPr>
            <a:xfrm>
              <a:off x="990600" y="4533900"/>
              <a:ext cx="2971800" cy="762000"/>
            </a:xfrm>
            <a:prstGeom prst="trapezoid">
              <a:avLst/>
            </a:prstGeom>
            <a:solidFill>
              <a:srgbClr val="A8C4CC"/>
            </a:solidFill>
            <a:ln>
              <a:noFill/>
            </a:ln>
          </p:spPr>
        </p:sp>
        <p:sp>
          <p:nvSpPr>
            <p:cNvPr id="18" name="TextBox 18"/>
            <p:cNvSpPr txBox="1"/>
            <p:nvPr/>
          </p:nvSpPr>
          <p:spPr>
            <a:xfrm>
              <a:off x="2344645" y="4705350"/>
              <a:ext cx="263709" cy="586740"/>
            </a:xfrm>
            <a:prstGeom prst="rect">
              <a:avLst/>
            </a:prstGeom>
            <a:noFill/>
            <a:ln>
              <a:noFill/>
            </a:ln>
          </p:spPr>
          <p:txBody>
            <a:bodyPr wrap="none" lIns="0" tIns="0" rIns="0" bIns="0" anchor="t" anchorCtr="0">
              <a:spAutoFit/>
            </a:bodyPr>
            <a:lstStyle/>
            <a:p>
              <a:pPr algn="ctr"/>
              <a:r>
                <a:rPr lang="en-US" sz="3000" b="1" dirty="0">
                  <a:solidFill>
                    <a:schemeClr val="accent1"/>
                  </a:solidFill>
                  <a:latin typeface="+mj-lt"/>
                  <a:ea typeface="+mj-ea"/>
                  <a:cs typeface="+mj-cs"/>
                </a:rPr>
                <a:t>1</a:t>
              </a:r>
            </a:p>
          </p:txBody>
        </p:sp>
      </p:grpSp>
      <p:grpSp>
        <p:nvGrpSpPr>
          <p:cNvPr id="21" name="Group 21"/>
          <p:cNvGrpSpPr/>
          <p:nvPr/>
        </p:nvGrpSpPr>
        <p:grpSpPr>
          <a:xfrm>
            <a:off x="4374642" y="2883218"/>
            <a:ext cx="6006648" cy="759333"/>
            <a:chOff x="4374642" y="2883218"/>
            <a:chExt cx="6006648" cy="759333"/>
          </a:xfrm>
        </p:grpSpPr>
        <p:sp>
          <p:nvSpPr>
            <p:cNvPr id="20" name="TextBox 20"/>
            <p:cNvSpPr txBox="1"/>
            <p:nvPr/>
          </p:nvSpPr>
          <p:spPr>
            <a:xfrm>
              <a:off x="4374642" y="2883218"/>
              <a:ext cx="6006648" cy="75933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Trigger</a:t>
              </a:r>
              <a:r>
                <a:rPr lang="en-US" sz="1350" dirty="0">
                  <a:solidFill>
                    <a:schemeClr val="dk1"/>
                  </a:solidFill>
                  <a:latin typeface="+mn-lt"/>
                  <a:ea typeface="+mn-ea"/>
                  <a:cs typeface="+mn-cs"/>
                </a:rPr>
                <a:t xml:space="preserve"> — already chronically absent, or referred by the attendance team</a:t>
              </a:r>
              <a:br/>
              <a:r>
                <a:rPr lang="en-US" sz="1350" b="1" dirty="0">
                  <a:solidFill>
                    <a:schemeClr val="accent1"/>
                  </a:solidFill>
                  <a:latin typeface="+mn-lt"/>
                  <a:ea typeface="+mn-ea"/>
                  <a:cs typeface="+mn-cs"/>
                </a:rPr>
                <a:t>Action</a:t>
              </a:r>
              <a:r>
                <a:rPr lang="en-US" sz="1350" dirty="0">
                  <a:solidFill>
                    <a:schemeClr val="dk1"/>
                  </a:solidFill>
                  <a:latin typeface="+mn-lt"/>
                  <a:ea typeface="+mn-ea"/>
                  <a:cs typeface="+mn-cs"/>
                </a:rPr>
                <a:t xml:space="preserve"> — case review, home visit, community partner referral, family attendance plan</a:t>
              </a:r>
              <a:br/>
              <a:r>
                <a:rPr lang="en-US" sz="1350" b="1" dirty="0">
                  <a:solidFill>
                    <a:schemeClr val="accent1"/>
                  </a:solidFill>
                  <a:latin typeface="+mn-lt"/>
                  <a:ea typeface="+mn-ea"/>
                  <a:cs typeface="+mn-cs"/>
                </a:rPr>
                <a:t>Owner</a:t>
              </a:r>
              <a:r>
                <a:rPr lang="en-US" sz="1350" dirty="0">
                  <a:solidFill>
                    <a:schemeClr val="dk1"/>
                  </a:solidFill>
                  <a:latin typeface="+mn-lt"/>
                  <a:ea typeface="+mn-ea"/>
                  <a:cs typeface="+mn-cs"/>
                </a:rPr>
                <a:t xml:space="preserve"> — district attendance coordinator</a:t>
              </a:r>
            </a:p>
          </p:txBody>
        </p:sp>
      </p:grpSp>
      <p:grpSp>
        <p:nvGrpSpPr>
          <p:cNvPr id="23" name="Group 23"/>
          <p:cNvGrpSpPr/>
          <p:nvPr/>
        </p:nvGrpSpPr>
        <p:grpSpPr>
          <a:xfrm>
            <a:off x="4374642" y="3721418"/>
            <a:ext cx="6153906" cy="759333"/>
            <a:chOff x="4374642" y="3721418"/>
            <a:chExt cx="6153906" cy="759333"/>
          </a:xfrm>
        </p:grpSpPr>
        <p:sp>
          <p:nvSpPr>
            <p:cNvPr id="22" name="TextBox 22"/>
            <p:cNvSpPr txBox="1"/>
            <p:nvPr/>
          </p:nvSpPr>
          <p:spPr>
            <a:xfrm>
              <a:off x="4374642" y="3721418"/>
              <a:ext cx="6153906" cy="75933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Trigger</a:t>
              </a:r>
              <a:r>
                <a:rPr lang="en-US" sz="1350" dirty="0">
                  <a:solidFill>
                    <a:schemeClr val="dk1"/>
                  </a:solidFill>
                  <a:latin typeface="+mn-lt"/>
                  <a:ea typeface="+mn-ea"/>
                  <a:cs typeface="+mn-cs"/>
                </a:rPr>
                <a:t xml:space="preserve"> — passes the early-warning threshold in a rolling window</a:t>
              </a:r>
              <a:br/>
              <a:r>
                <a:rPr lang="en-US" sz="1350" b="1" dirty="0">
                  <a:solidFill>
                    <a:schemeClr val="accent1"/>
                  </a:solidFill>
                  <a:latin typeface="+mn-lt"/>
                  <a:ea typeface="+mn-ea"/>
                  <a:cs typeface="+mn-cs"/>
                </a:rPr>
                <a:t>Action</a:t>
              </a:r>
              <a:r>
                <a:rPr lang="en-US" sz="1350" dirty="0">
                  <a:solidFill>
                    <a:schemeClr val="dk1"/>
                  </a:solidFill>
                  <a:latin typeface="+mn-lt"/>
                  <a:ea typeface="+mn-ea"/>
                  <a:cs typeface="+mn-cs"/>
                </a:rPr>
                <a:t xml:space="preserve"> — same-week family contact, a named adult, a barrier check on health/transport</a:t>
              </a:r>
              <a:br/>
              <a:r>
                <a:rPr lang="en-US" sz="1350" b="1" dirty="0">
                  <a:solidFill>
                    <a:schemeClr val="accent1"/>
                  </a:solidFill>
                  <a:latin typeface="+mn-lt"/>
                  <a:ea typeface="+mn-ea"/>
                  <a:cs typeface="+mn-cs"/>
                </a:rPr>
                <a:t>Owner</a:t>
              </a:r>
              <a:r>
                <a:rPr lang="en-US" sz="1350" dirty="0">
                  <a:solidFill>
                    <a:schemeClr val="dk1"/>
                  </a:solidFill>
                  <a:latin typeface="+mn-lt"/>
                  <a:ea typeface="+mn-ea"/>
                  <a:cs typeface="+mn-cs"/>
                </a:rPr>
                <a:t xml:space="preserve"> — site attendance lead</a:t>
              </a:r>
            </a:p>
          </p:txBody>
        </p:sp>
      </p:grpSp>
      <p:grpSp>
        <p:nvGrpSpPr>
          <p:cNvPr id="25" name="Group 25"/>
          <p:cNvGrpSpPr/>
          <p:nvPr/>
        </p:nvGrpSpPr>
        <p:grpSpPr>
          <a:xfrm>
            <a:off x="4374642" y="4559618"/>
            <a:ext cx="5823848" cy="759333"/>
            <a:chOff x="4374642" y="4559618"/>
            <a:chExt cx="5823848" cy="759333"/>
          </a:xfrm>
        </p:grpSpPr>
        <p:sp>
          <p:nvSpPr>
            <p:cNvPr id="24" name="TextBox 24"/>
            <p:cNvSpPr txBox="1"/>
            <p:nvPr/>
          </p:nvSpPr>
          <p:spPr>
            <a:xfrm>
              <a:off x="4374642" y="4559618"/>
              <a:ext cx="5823848" cy="75933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Trigger</a:t>
              </a:r>
              <a:r>
                <a:rPr lang="en-US" sz="1350" dirty="0">
                  <a:solidFill>
                    <a:schemeClr val="dk1"/>
                  </a:solidFill>
                  <a:latin typeface="+mn-lt"/>
                  <a:ea typeface="+mn-ea"/>
                  <a:cs typeface="+mn-cs"/>
                </a:rPr>
                <a:t xml:space="preserve"> — enrolled</a:t>
              </a:r>
              <a:br/>
              <a:r>
                <a:rPr lang="en-US" sz="1350" b="1" dirty="0">
                  <a:solidFill>
                    <a:schemeClr val="accent1"/>
                  </a:solidFill>
                  <a:latin typeface="+mn-lt"/>
                  <a:ea typeface="+mn-ea"/>
                  <a:cs typeface="+mn-cs"/>
                </a:rPr>
                <a:t>Action</a:t>
              </a:r>
              <a:r>
                <a:rPr lang="en-US" sz="1350" dirty="0">
                  <a:solidFill>
                    <a:schemeClr val="dk1"/>
                  </a:solidFill>
                  <a:latin typeface="+mn-lt"/>
                  <a:ea typeface="+mn-ea"/>
                  <a:cs typeface="+mn-cs"/>
                </a:rPr>
                <a:t xml:space="preserve"> — attendance expectations, positive messaging, daily data for every teacher</a:t>
              </a:r>
              <a:br/>
              <a:r>
                <a:rPr lang="en-US" sz="1350" b="1" dirty="0">
                  <a:solidFill>
                    <a:schemeClr val="accent1"/>
                  </a:solidFill>
                  <a:latin typeface="+mn-lt"/>
                  <a:ea typeface="+mn-ea"/>
                  <a:cs typeface="+mn-cs"/>
                </a:rPr>
                <a:t>Owner</a:t>
              </a:r>
              <a:r>
                <a:rPr lang="en-US" sz="1350" dirty="0">
                  <a:solidFill>
                    <a:schemeClr val="dk1"/>
                  </a:solidFill>
                  <a:latin typeface="+mn-lt"/>
                  <a:ea typeface="+mn-ea"/>
                  <a:cs typeface="+mn-cs"/>
                </a:rPr>
                <a:t xml:space="preserve"> — site principal</a:t>
              </a:r>
            </a:p>
          </p:txBody>
        </p:sp>
      </p:grpSp>
      <p:grpSp>
        <p:nvGrpSpPr>
          <p:cNvPr id="34" name="Group 34"/>
          <p:cNvGrpSpPr/>
          <p:nvPr/>
        </p:nvGrpSpPr>
        <p:grpSpPr>
          <a:xfrm>
            <a:off x="609600" y="5562600"/>
            <a:ext cx="10972800" cy="975551"/>
            <a:chOff x="609600" y="5562600"/>
            <a:chExt cx="10972800" cy="975551"/>
          </a:xfrm>
        </p:grpSpPr>
        <p:sp>
          <p:nvSpPr>
            <p:cNvPr id="26" name="Rectangle 26"/>
            <p:cNvSpPr/>
            <p:nvPr/>
          </p:nvSpPr>
          <p:spPr>
            <a:xfrm>
              <a:off x="609600" y="5562600"/>
              <a:ext cx="10972800" cy="952500"/>
            </a:xfrm>
            <a:prstGeom prst="roundRect">
              <a:avLst>
                <a:gd name="adj" fmla="val 12000"/>
              </a:avLst>
            </a:prstGeom>
            <a:solidFill>
              <a:schemeClr val="lt2"/>
            </a:solidFill>
            <a:ln>
              <a:noFill/>
            </a:ln>
          </p:spPr>
        </p:sp>
        <p:sp>
          <p:nvSpPr>
            <p:cNvPr id="27" name="Rectangle 27"/>
            <p:cNvSpPr/>
            <p:nvPr/>
          </p:nvSpPr>
          <p:spPr>
            <a:xfrm>
              <a:off x="609600" y="5562600"/>
              <a:ext cx="38100" cy="952500"/>
            </a:xfrm>
            <a:prstGeom prst="rect">
              <a:avLst/>
            </a:prstGeom>
            <a:solidFill>
              <a:srgbClr val="B0722B"/>
            </a:solidFill>
            <a:ln>
              <a:noFill/>
            </a:ln>
          </p:spPr>
        </p:sp>
        <p:grpSp>
          <p:nvGrpSpPr>
            <p:cNvPr id="31" name="Group 31"/>
            <p:cNvGrpSpPr/>
            <p:nvPr/>
          </p:nvGrpSpPr>
          <p:grpSpPr>
            <a:xfrm>
              <a:off x="896059" y="5704428"/>
              <a:ext cx="208123" cy="178805"/>
              <a:chOff x="896059" y="5704428"/>
              <a:chExt cx="208123" cy="178805"/>
            </a:xfrm>
          </p:grpSpPr>
          <p:sp>
            <p:nvSpPr>
              <p:cNvPr id="28" name="Freeform 28"/>
              <p:cNvSpPr/>
              <p:nvPr/>
            </p:nvSpPr>
            <p:spPr>
              <a:xfrm>
                <a:off x="1000125" y="5769768"/>
                <a:ext cx="9525" cy="41275"/>
              </a:xfrm>
              <a:custGeom>
                <a:avLst/>
                <a:gdLst/>
                <a:ahLst/>
                <a:cxnLst/>
                <a:rect l="l" t="t" r="r" b="b"/>
                <a:pathLst>
                  <a:path w="9525" h="41275">
                    <a:moveTo>
                      <a:pt x="0" y="0"/>
                    </a:moveTo>
                    <a:lnTo>
                      <a:pt x="0" y="41275"/>
                    </a:lnTo>
                  </a:path>
                </a:pathLst>
              </a:custGeom>
              <a:noFill/>
              <a:ln w="20637">
                <a:solidFill>
                  <a:srgbClr val="B0722B"/>
                </a:solidFill>
              </a:ln>
            </p:spPr>
          </p:sp>
          <p:sp>
            <p:nvSpPr>
              <p:cNvPr id="29" name="Freeform 29"/>
              <p:cNvSpPr/>
              <p:nvPr/>
            </p:nvSpPr>
            <p:spPr>
              <a:xfrm>
                <a:off x="896059" y="5704428"/>
                <a:ext cx="208123" cy="178805"/>
              </a:xfrm>
              <a:custGeom>
                <a:avLst/>
                <a:gdLst/>
                <a:ahLst/>
                <a:cxnLst/>
                <a:rect l="l" t="t" r="r" b="b"/>
                <a:pathLst>
                  <a:path w="208123" h="178805">
                    <a:moveTo>
                      <a:pt x="87174" y="9526"/>
                    </a:moveTo>
                    <a:lnTo>
                      <a:pt x="3530" y="149180"/>
                    </a:lnTo>
                    <a:cubicBezTo>
                      <a:pt x="21" y="155256"/>
                      <a:pt x="0" y="162738"/>
                      <a:pt x="3474" y="168834"/>
                    </a:cubicBezTo>
                    <a:cubicBezTo>
                      <a:pt x="6948" y="174931"/>
                      <a:pt x="13395" y="178726"/>
                      <a:pt x="20412" y="178805"/>
                    </a:cubicBezTo>
                    <a:lnTo>
                      <a:pt x="187719" y="178805"/>
                    </a:lnTo>
                    <a:cubicBezTo>
                      <a:pt x="194732" y="178724"/>
                      <a:pt x="201176" y="174930"/>
                      <a:pt x="204650" y="168837"/>
                    </a:cubicBezTo>
                    <a:cubicBezTo>
                      <a:pt x="208123" y="162744"/>
                      <a:pt x="208104" y="155266"/>
                      <a:pt x="204601" y="149190"/>
                    </a:cubicBezTo>
                    <a:lnTo>
                      <a:pt x="120957" y="9516"/>
                    </a:lnTo>
                    <a:cubicBezTo>
                      <a:pt x="117378" y="3609"/>
                      <a:pt x="110973" y="0"/>
                      <a:pt x="104065" y="0"/>
                    </a:cubicBezTo>
                    <a:cubicBezTo>
                      <a:pt x="97158" y="0"/>
                      <a:pt x="90753" y="3609"/>
                      <a:pt x="87174" y="9516"/>
                    </a:cubicBezTo>
                  </a:path>
                </a:pathLst>
              </a:custGeom>
              <a:noFill/>
              <a:ln w="20637">
                <a:solidFill>
                  <a:srgbClr val="B0722B"/>
                </a:solidFill>
              </a:ln>
            </p:spPr>
          </p:sp>
          <p:sp>
            <p:nvSpPr>
              <p:cNvPr id="30" name="Freeform 30"/>
              <p:cNvSpPr/>
              <p:nvPr/>
            </p:nvSpPr>
            <p:spPr>
              <a:xfrm>
                <a:off x="1000125" y="5841999"/>
                <a:ext cx="9525" cy="9525"/>
              </a:xfrm>
              <a:custGeom>
                <a:avLst/>
                <a:gdLst/>
                <a:ahLst/>
                <a:cxnLst/>
                <a:rect l="l" t="t" r="r" b="b"/>
                <a:pathLst>
                  <a:path w="9525" h="9525">
                    <a:moveTo>
                      <a:pt x="0" y="0"/>
                    </a:moveTo>
                    <a:lnTo>
                      <a:pt x="103" y="0"/>
                    </a:lnTo>
                  </a:path>
                </a:pathLst>
              </a:custGeom>
              <a:noFill/>
              <a:ln w="20637">
                <a:solidFill>
                  <a:srgbClr val="B0722B"/>
                </a:solidFill>
              </a:ln>
            </p:spPr>
          </p:sp>
        </p:grpSp>
        <p:sp>
          <p:nvSpPr>
            <p:cNvPr id="32" name="TextBox 32"/>
            <p:cNvSpPr txBox="1"/>
            <p:nvPr/>
          </p:nvSpPr>
          <p:spPr>
            <a:xfrm>
              <a:off x="1229106" y="5692140"/>
              <a:ext cx="590966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The boundary: legal action is used only as a </a:t>
              </a:r>
              <a:r>
                <a:rPr lang="en-US" sz="1800" b="1" dirty="0">
                  <a:solidFill>
                    <a:srgbClr val="B0722B"/>
                  </a:solidFill>
                  <a:latin typeface="+mn-lt"/>
                  <a:ea typeface="+mn-ea"/>
                  <a:cs typeface="+mn-cs"/>
                </a:rPr>
                <a:t>very last resort</a:t>
              </a:r>
              <a:r>
                <a:rPr lang="en-US" sz="1800" dirty="0">
                  <a:solidFill>
                    <a:schemeClr val="dk1"/>
                  </a:solidFill>
                  <a:latin typeface="+mn-lt"/>
                  <a:ea typeface="+mn-ea"/>
                  <a:cs typeface="+mn-cs"/>
                </a:rPr>
                <a:t>.</a:t>
              </a:r>
            </a:p>
          </p:txBody>
        </p:sp>
        <p:sp>
          <p:nvSpPr>
            <p:cNvPr id="33" name="TextBox 33"/>
            <p:cNvSpPr txBox="1"/>
            <p:nvPr/>
          </p:nvSpPr>
          <p:spPr>
            <a:xfrm>
              <a:off x="1231392" y="6045518"/>
              <a:ext cx="763948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England's statutory guidance takes the same shape: schools and local authorities support first, and legal</a:t>
              </a:r>
              <a:br/>
              <a:r>
                <a:rPr lang="en-US" sz="1350" dirty="0">
                  <a:solidFill>
                    <a:schemeClr val="accent5"/>
                  </a:solidFill>
                  <a:latin typeface="+mn-lt"/>
                  <a:ea typeface="+mn-ea"/>
                  <a:cs typeface="+mn-cs"/>
                </a:rPr>
                <a:t>interventions apply only where attendance support does not work, is not engaged with, or is not appropriate.</a:t>
              </a:r>
            </a:p>
          </p:txBody>
        </p:sp>
      </p:grpSp>
      <p:grpSp>
        <p:nvGrpSpPr>
          <p:cNvPr id="36" name="Group 36"/>
          <p:cNvGrpSpPr/>
          <p:nvPr/>
        </p:nvGrpSpPr>
        <p:grpSpPr>
          <a:xfrm>
            <a:off x="603504" y="6614160"/>
            <a:ext cx="10554351" cy="234696"/>
            <a:chOff x="603504" y="6614160"/>
            <a:chExt cx="10554351" cy="234696"/>
          </a:xfrm>
        </p:grpSpPr>
        <p:sp>
          <p:nvSpPr>
            <p:cNvPr id="35" name="TextBox 35"/>
            <p:cNvSpPr txBox="1"/>
            <p:nvPr/>
          </p:nvSpPr>
          <p:spPr>
            <a:xfrm>
              <a:off x="603504" y="6614160"/>
              <a:ext cx="1055435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Sources: Framework for Action (ERIC ED617466, 2017); Department for Education, Working together to improve school attendance, first published 6 May 2022.</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par>
                          <p:cTn id="12" fill="hold">
                            <p:stCondLst>
                              <p:cond delay="1300"/>
                            </p:stCondLst>
                            <p:childTnLst>
                              <p:par>
                                <p:cT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2200"/>
                            </p:stCondLst>
                            <p:childTnLst>
                              <p:par>
                                <p:cTn id="17" presetID="22" presetClass="entr" presetSubtype="1" fill="hold" grpId="0" nodeType="afterEffect">
                                  <p:stCondLst>
                                    <p:cond delay="40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6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2756079"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DELIVERY PLAN — YEAR ONE</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353374" y="775335"/>
              <a:ext cx="1810103"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Illustrative dates and scope</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1038468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Year one ends with a system Riverbend runs itself</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8785980" cy="410718"/>
            <a:chOff x="598932" y="1868805"/>
            <a:chExt cx="8785980" cy="410718"/>
          </a:xfrm>
        </p:grpSpPr>
        <p:sp>
          <p:nvSpPr>
            <p:cNvPr id="9" name="TextBox 9"/>
            <p:cNvSpPr txBox="1"/>
            <p:nvPr/>
          </p:nvSpPr>
          <p:spPr>
            <a:xfrm>
              <a:off x="598932" y="1868805"/>
              <a:ext cx="878598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Four phases in ten months, each ending in something the board can inspect.</a:t>
              </a:r>
            </a:p>
          </p:txBody>
        </p:sp>
      </p:grpSp>
      <p:grpSp>
        <p:nvGrpSpPr>
          <p:cNvPr id="14" name="!!roadmap-phase-1"/>
          <p:cNvGrpSpPr/>
          <p:nvPr/>
        </p:nvGrpSpPr>
        <p:grpSpPr>
          <a:xfrm>
            <a:off x="609600" y="2857500"/>
            <a:ext cx="2571750" cy="838200"/>
            <a:chOff x="609600" y="2857500"/>
            <a:chExt cx="2571750" cy="838200"/>
          </a:xfrm>
        </p:grpSpPr>
        <p:sp>
          <p:nvSpPr>
            <p:cNvPr id="11" name="Freeform 11"/>
            <p:cNvSpPr/>
            <p:nvPr/>
          </p:nvSpPr>
          <p:spPr>
            <a:xfrm>
              <a:off x="609600" y="2857500"/>
              <a:ext cx="2571750" cy="838200"/>
            </a:xfrm>
            <a:prstGeom prst="chevron">
              <a:avLst/>
            </a:prstGeom>
            <a:solidFill>
              <a:srgbClr val="C3D6DC"/>
            </a:solidFill>
            <a:ln>
              <a:noFill/>
            </a:ln>
          </p:spPr>
        </p:sp>
        <p:sp>
          <p:nvSpPr>
            <p:cNvPr id="12" name="TextBox 12"/>
            <p:cNvSpPr txBox="1"/>
            <p:nvPr/>
          </p:nvSpPr>
          <p:spPr>
            <a:xfrm>
              <a:off x="1152906" y="3044190"/>
              <a:ext cx="80191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Phase 1</a:t>
              </a:r>
            </a:p>
          </p:txBody>
        </p:sp>
        <p:sp>
          <p:nvSpPr>
            <p:cNvPr id="13" name="TextBox 13"/>
            <p:cNvSpPr txBox="1"/>
            <p:nvPr/>
          </p:nvSpPr>
          <p:spPr>
            <a:xfrm>
              <a:off x="1155192" y="3340418"/>
              <a:ext cx="106295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Sep-Nov 2026</a:t>
              </a:r>
            </a:p>
          </p:txBody>
        </p:sp>
      </p:grpSp>
      <p:grpSp>
        <p:nvGrpSpPr>
          <p:cNvPr id="18" name="!!roadmap-phase-2"/>
          <p:cNvGrpSpPr/>
          <p:nvPr/>
        </p:nvGrpSpPr>
        <p:grpSpPr>
          <a:xfrm>
            <a:off x="3409950" y="2857500"/>
            <a:ext cx="2571750" cy="838200"/>
            <a:chOff x="3409950" y="2857500"/>
            <a:chExt cx="2571750" cy="838200"/>
          </a:xfrm>
        </p:grpSpPr>
        <p:sp>
          <p:nvSpPr>
            <p:cNvPr id="15" name="Freeform 15"/>
            <p:cNvSpPr/>
            <p:nvPr/>
          </p:nvSpPr>
          <p:spPr>
            <a:xfrm>
              <a:off x="3409950" y="2857500"/>
              <a:ext cx="2571750" cy="838200"/>
            </a:xfrm>
            <a:prstGeom prst="chevron">
              <a:avLst/>
            </a:prstGeom>
            <a:solidFill>
              <a:srgbClr val="A8C4CC"/>
            </a:solidFill>
            <a:ln>
              <a:noFill/>
            </a:ln>
          </p:spPr>
        </p:sp>
        <p:sp>
          <p:nvSpPr>
            <p:cNvPr id="16" name="TextBox 16"/>
            <p:cNvSpPr txBox="1"/>
            <p:nvPr/>
          </p:nvSpPr>
          <p:spPr>
            <a:xfrm>
              <a:off x="3953256" y="3044190"/>
              <a:ext cx="80191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Phase 2</a:t>
              </a:r>
            </a:p>
          </p:txBody>
        </p:sp>
        <p:sp>
          <p:nvSpPr>
            <p:cNvPr id="17" name="TextBox 17"/>
            <p:cNvSpPr txBox="1"/>
            <p:nvPr/>
          </p:nvSpPr>
          <p:spPr>
            <a:xfrm>
              <a:off x="3955542" y="3340418"/>
              <a:ext cx="1463751"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Dec 2026-Feb 2027</a:t>
              </a:r>
            </a:p>
          </p:txBody>
        </p:sp>
      </p:grpSp>
      <p:grpSp>
        <p:nvGrpSpPr>
          <p:cNvPr id="22" name="!!roadmap-phase-3"/>
          <p:cNvGrpSpPr/>
          <p:nvPr/>
        </p:nvGrpSpPr>
        <p:grpSpPr>
          <a:xfrm>
            <a:off x="6210300" y="2857500"/>
            <a:ext cx="2571750" cy="838200"/>
            <a:chOff x="6210300" y="2857500"/>
            <a:chExt cx="2571750" cy="838200"/>
          </a:xfrm>
        </p:grpSpPr>
        <p:sp>
          <p:nvSpPr>
            <p:cNvPr id="19" name="Freeform 19"/>
            <p:cNvSpPr/>
            <p:nvPr/>
          </p:nvSpPr>
          <p:spPr>
            <a:xfrm>
              <a:off x="6210300" y="2857500"/>
              <a:ext cx="2571750" cy="838200"/>
            </a:xfrm>
            <a:prstGeom prst="chevron">
              <a:avLst/>
            </a:prstGeom>
            <a:solidFill>
              <a:schemeClr val="accent3"/>
            </a:solidFill>
            <a:ln>
              <a:noFill/>
            </a:ln>
          </p:spPr>
        </p:sp>
        <p:sp>
          <p:nvSpPr>
            <p:cNvPr id="20" name="TextBox 20"/>
            <p:cNvSpPr txBox="1"/>
            <p:nvPr/>
          </p:nvSpPr>
          <p:spPr>
            <a:xfrm>
              <a:off x="6753606" y="3044190"/>
              <a:ext cx="80191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Phase 3</a:t>
              </a:r>
            </a:p>
          </p:txBody>
        </p:sp>
        <p:sp>
          <p:nvSpPr>
            <p:cNvPr id="21" name="TextBox 21"/>
            <p:cNvSpPr txBox="1"/>
            <p:nvPr/>
          </p:nvSpPr>
          <p:spPr>
            <a:xfrm>
              <a:off x="6755892" y="3340418"/>
              <a:ext cx="1130026"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Mar-May 2027</a:t>
              </a:r>
            </a:p>
          </p:txBody>
        </p:sp>
      </p:grpSp>
      <p:grpSp>
        <p:nvGrpSpPr>
          <p:cNvPr id="26" name="!!roadmap-phase-4"/>
          <p:cNvGrpSpPr/>
          <p:nvPr/>
        </p:nvGrpSpPr>
        <p:grpSpPr>
          <a:xfrm>
            <a:off x="9010650" y="2857500"/>
            <a:ext cx="2571750" cy="838200"/>
            <a:chOff x="9010650" y="2857500"/>
            <a:chExt cx="2571750" cy="838200"/>
          </a:xfrm>
        </p:grpSpPr>
        <p:sp>
          <p:nvSpPr>
            <p:cNvPr id="23" name="Freeform 23"/>
            <p:cNvSpPr/>
            <p:nvPr/>
          </p:nvSpPr>
          <p:spPr>
            <a:xfrm>
              <a:off x="9010650" y="2857500"/>
              <a:ext cx="2571750" cy="838200"/>
            </a:xfrm>
            <a:prstGeom prst="chevron">
              <a:avLst/>
            </a:prstGeom>
            <a:solidFill>
              <a:schemeClr val="accent1"/>
            </a:solidFill>
            <a:ln>
              <a:noFill/>
            </a:ln>
          </p:spPr>
        </p:sp>
        <p:sp>
          <p:nvSpPr>
            <p:cNvPr id="24" name="TextBox 24"/>
            <p:cNvSpPr txBox="1"/>
            <p:nvPr/>
          </p:nvSpPr>
          <p:spPr>
            <a:xfrm>
              <a:off x="9553956" y="3044190"/>
              <a:ext cx="80191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Phase 4</a:t>
              </a:r>
            </a:p>
          </p:txBody>
        </p:sp>
        <p:sp>
          <p:nvSpPr>
            <p:cNvPr id="25" name="TextBox 25"/>
            <p:cNvSpPr txBox="1"/>
            <p:nvPr/>
          </p:nvSpPr>
          <p:spPr>
            <a:xfrm>
              <a:off x="9556242" y="3340418"/>
              <a:ext cx="1032833"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Jun-Aug 2027</a:t>
              </a:r>
            </a:p>
          </p:txBody>
        </p:sp>
      </p:grpSp>
      <p:grpSp>
        <p:nvGrpSpPr>
          <p:cNvPr id="31" name="Group 31"/>
          <p:cNvGrpSpPr/>
          <p:nvPr/>
        </p:nvGrpSpPr>
        <p:grpSpPr>
          <a:xfrm>
            <a:off x="600456" y="3901440"/>
            <a:ext cx="2414626" cy="1627061"/>
            <a:chOff x="600456" y="3901440"/>
            <a:chExt cx="2414626" cy="1627061"/>
          </a:xfrm>
        </p:grpSpPr>
        <p:sp>
          <p:nvSpPr>
            <p:cNvPr id="27" name="TextBox 27"/>
            <p:cNvSpPr txBox="1"/>
            <p:nvPr/>
          </p:nvSpPr>
          <p:spPr>
            <a:xfrm>
              <a:off x="600456" y="3901440"/>
              <a:ext cx="241462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Baseline and root cause</a:t>
              </a:r>
            </a:p>
          </p:txBody>
        </p:sp>
        <p:sp>
          <p:nvSpPr>
            <p:cNvPr id="28" name="TextBox 28"/>
            <p:cNvSpPr txBox="1"/>
            <p:nvPr/>
          </p:nvSpPr>
          <p:spPr>
            <a:xfrm>
              <a:off x="602742" y="4216718"/>
              <a:ext cx="2129358"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Attendance data audit, barrier</a:t>
              </a:r>
              <a:br/>
              <a:r>
                <a:rPr lang="en-US" sz="1350" dirty="0">
                  <a:solidFill>
                    <a:schemeClr val="dk1"/>
                  </a:solidFill>
                  <a:latin typeface="+mn-lt"/>
                  <a:ea typeface="+mn-ea"/>
                  <a:cs typeface="+mn-cs"/>
                </a:rPr>
                <a:t>survey, site interviews.</a:t>
              </a:r>
            </a:p>
          </p:txBody>
        </p:sp>
        <p:sp>
          <p:nvSpPr>
            <p:cNvPr id="29" name="TextBox 29"/>
            <p:cNvSpPr txBox="1"/>
            <p:nvPr/>
          </p:nvSpPr>
          <p:spPr>
            <a:xfrm>
              <a:off x="603504" y="4823460"/>
              <a:ext cx="1041594"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DELIVERABLE</a:t>
              </a:r>
            </a:p>
          </p:txBody>
        </p:sp>
        <p:sp>
          <p:nvSpPr>
            <p:cNvPr id="30" name="TextBox 30"/>
            <p:cNvSpPr txBox="1"/>
            <p:nvPr/>
          </p:nvSpPr>
          <p:spPr>
            <a:xfrm>
              <a:off x="602742" y="5054918"/>
              <a:ext cx="1935448"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Baseline report with a root-</a:t>
              </a:r>
              <a:br/>
              <a:r>
                <a:rPr lang="en-US" sz="1350" dirty="0">
                  <a:solidFill>
                    <a:schemeClr val="dk1"/>
                  </a:solidFill>
                  <a:latin typeface="+mn-lt"/>
                  <a:ea typeface="+mn-ea"/>
                  <a:cs typeface="+mn-cs"/>
                </a:rPr>
                <a:t>cause profile for each site.</a:t>
              </a:r>
            </a:p>
          </p:txBody>
        </p:sp>
      </p:grpSp>
      <p:grpSp>
        <p:nvGrpSpPr>
          <p:cNvPr id="36" name="Group 36"/>
          <p:cNvGrpSpPr/>
          <p:nvPr/>
        </p:nvGrpSpPr>
        <p:grpSpPr>
          <a:xfrm>
            <a:off x="3400806" y="3901440"/>
            <a:ext cx="2065464" cy="1627061"/>
            <a:chOff x="3400806" y="3901440"/>
            <a:chExt cx="2065464" cy="1627061"/>
          </a:xfrm>
        </p:grpSpPr>
        <p:sp>
          <p:nvSpPr>
            <p:cNvPr id="32" name="TextBox 32"/>
            <p:cNvSpPr txBox="1"/>
            <p:nvPr/>
          </p:nvSpPr>
          <p:spPr>
            <a:xfrm>
              <a:off x="3400806" y="3901440"/>
              <a:ext cx="169924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Design and build</a:t>
              </a:r>
            </a:p>
          </p:txBody>
        </p:sp>
        <p:sp>
          <p:nvSpPr>
            <p:cNvPr id="33" name="TextBox 33"/>
            <p:cNvSpPr txBox="1"/>
            <p:nvPr/>
          </p:nvSpPr>
          <p:spPr>
            <a:xfrm>
              <a:off x="3403092" y="4216718"/>
              <a:ext cx="2063178" cy="68313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Early-warning thresholds, the</a:t>
              </a:r>
              <a:br/>
              <a:r>
                <a:rPr lang="en-US" sz="1350" dirty="0">
                  <a:solidFill>
                    <a:schemeClr val="dk1"/>
                  </a:solidFill>
                  <a:latin typeface="+mn-lt"/>
                  <a:ea typeface="+mn-ea"/>
                  <a:cs typeface="+mn-cs"/>
                </a:rPr>
                <a:t>teacher dashboard spec, the</a:t>
              </a:r>
              <a:br/>
              <a:r>
                <a:rPr lang="en-US" sz="1350" dirty="0">
                  <a:solidFill>
                    <a:schemeClr val="dk1"/>
                  </a:solidFill>
                  <a:latin typeface="+mn-lt"/>
                  <a:ea typeface="+mn-ea"/>
                  <a:cs typeface="+mn-cs"/>
                </a:rPr>
                <a:t>family contact playbook.</a:t>
              </a:r>
            </a:p>
          </p:txBody>
        </p:sp>
        <p:sp>
          <p:nvSpPr>
            <p:cNvPr id="34" name="TextBox 34"/>
            <p:cNvSpPr txBox="1"/>
            <p:nvPr/>
          </p:nvSpPr>
          <p:spPr>
            <a:xfrm>
              <a:off x="3403854" y="4823460"/>
              <a:ext cx="1041594"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DELIVERABLE</a:t>
              </a:r>
            </a:p>
          </p:txBody>
        </p:sp>
        <p:sp>
          <p:nvSpPr>
            <p:cNvPr id="35" name="TextBox 35"/>
            <p:cNvSpPr txBox="1"/>
            <p:nvPr/>
          </p:nvSpPr>
          <p:spPr>
            <a:xfrm>
              <a:off x="3403092" y="5054918"/>
              <a:ext cx="1817936"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The attendance operating</a:t>
              </a:r>
              <a:br/>
              <a:r>
                <a:rPr lang="en-US" sz="1350" dirty="0">
                  <a:solidFill>
                    <a:schemeClr val="dk1"/>
                  </a:solidFill>
                  <a:latin typeface="+mn-lt"/>
                  <a:ea typeface="+mn-ea"/>
                  <a:cs typeface="+mn-cs"/>
                </a:rPr>
                <a:t>manual.</a:t>
              </a:r>
            </a:p>
          </p:txBody>
        </p:sp>
      </p:grpSp>
      <p:grpSp>
        <p:nvGrpSpPr>
          <p:cNvPr id="41" name="Group 41"/>
          <p:cNvGrpSpPr/>
          <p:nvPr/>
        </p:nvGrpSpPr>
        <p:grpSpPr>
          <a:xfrm>
            <a:off x="6201156" y="3901440"/>
            <a:ext cx="2143825" cy="1627061"/>
            <a:chOff x="6201156" y="3901440"/>
            <a:chExt cx="2143825" cy="1627061"/>
          </a:xfrm>
        </p:grpSpPr>
        <p:sp>
          <p:nvSpPr>
            <p:cNvPr id="37" name="TextBox 37"/>
            <p:cNvSpPr txBox="1"/>
            <p:nvPr/>
          </p:nvSpPr>
          <p:spPr>
            <a:xfrm>
              <a:off x="6201156" y="3901440"/>
              <a:ext cx="214382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Pilot at three schools</a:t>
              </a:r>
            </a:p>
          </p:txBody>
        </p:sp>
        <p:sp>
          <p:nvSpPr>
            <p:cNvPr id="38" name="TextBox 38"/>
            <p:cNvSpPr txBox="1"/>
            <p:nvPr/>
          </p:nvSpPr>
          <p:spPr>
            <a:xfrm>
              <a:off x="6203442" y="4216718"/>
              <a:ext cx="1811969"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Tier 1 and Tier 2 live, with</a:t>
              </a:r>
              <a:br/>
              <a:r>
                <a:rPr lang="en-US" sz="1350" dirty="0">
                  <a:solidFill>
                    <a:schemeClr val="dk1"/>
                  </a:solidFill>
                  <a:latin typeface="+mn-lt"/>
                  <a:ea typeface="+mn-ea"/>
                  <a:cs typeface="+mn-cs"/>
                </a:rPr>
                <a:t>weekly case review.</a:t>
              </a:r>
            </a:p>
          </p:txBody>
        </p:sp>
        <p:sp>
          <p:nvSpPr>
            <p:cNvPr id="39" name="TextBox 39"/>
            <p:cNvSpPr txBox="1"/>
            <p:nvPr/>
          </p:nvSpPr>
          <p:spPr>
            <a:xfrm>
              <a:off x="6204204" y="4823460"/>
              <a:ext cx="1041594"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DELIVERABLE</a:t>
              </a:r>
            </a:p>
          </p:txBody>
        </p:sp>
        <p:sp>
          <p:nvSpPr>
            <p:cNvPr id="40" name="TextBox 40"/>
            <p:cNvSpPr txBox="1"/>
            <p:nvPr/>
          </p:nvSpPr>
          <p:spPr>
            <a:xfrm>
              <a:off x="6203442" y="5054918"/>
              <a:ext cx="1569093"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Pilot results measured</a:t>
              </a:r>
              <a:br/>
              <a:r>
                <a:rPr lang="en-US" sz="1350" dirty="0">
                  <a:solidFill>
                    <a:schemeClr val="dk1"/>
                  </a:solidFill>
                  <a:latin typeface="+mn-lt"/>
                  <a:ea typeface="+mn-ea"/>
                  <a:cs typeface="+mn-cs"/>
                </a:rPr>
                <a:t>against the baseline.</a:t>
              </a:r>
            </a:p>
          </p:txBody>
        </p:sp>
      </p:grpSp>
      <p:grpSp>
        <p:nvGrpSpPr>
          <p:cNvPr id="46" name="Group 46"/>
          <p:cNvGrpSpPr/>
          <p:nvPr/>
        </p:nvGrpSpPr>
        <p:grpSpPr>
          <a:xfrm>
            <a:off x="9001506" y="3901440"/>
            <a:ext cx="2006739" cy="1627061"/>
            <a:chOff x="9001506" y="3901440"/>
            <a:chExt cx="2006739" cy="1627061"/>
          </a:xfrm>
        </p:grpSpPr>
        <p:sp>
          <p:nvSpPr>
            <p:cNvPr id="42" name="TextBox 42"/>
            <p:cNvSpPr txBox="1"/>
            <p:nvPr/>
          </p:nvSpPr>
          <p:spPr>
            <a:xfrm>
              <a:off x="9001506" y="3901440"/>
              <a:ext cx="200673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Rollout preparation</a:t>
              </a:r>
            </a:p>
          </p:txBody>
        </p:sp>
        <p:sp>
          <p:nvSpPr>
            <p:cNvPr id="43" name="TextBox 43"/>
            <p:cNvSpPr txBox="1"/>
            <p:nvPr/>
          </p:nvSpPr>
          <p:spPr>
            <a:xfrm>
              <a:off x="9003792" y="4216718"/>
              <a:ext cx="1532094"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Training for every site</a:t>
              </a:r>
              <a:br/>
              <a:r>
                <a:rPr lang="en-US" sz="1350" dirty="0">
                  <a:solidFill>
                    <a:schemeClr val="dk1"/>
                  </a:solidFill>
                  <a:latin typeface="+mn-lt"/>
                  <a:ea typeface="+mn-ea"/>
                  <a:cs typeface="+mn-cs"/>
                </a:rPr>
                <a:t>attendance lead.</a:t>
              </a:r>
            </a:p>
          </p:txBody>
        </p:sp>
        <p:sp>
          <p:nvSpPr>
            <p:cNvPr id="44" name="TextBox 44"/>
            <p:cNvSpPr txBox="1"/>
            <p:nvPr/>
          </p:nvSpPr>
          <p:spPr>
            <a:xfrm>
              <a:off x="9004554" y="4823460"/>
              <a:ext cx="1041594"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DELIVERABLE</a:t>
              </a:r>
            </a:p>
          </p:txBody>
        </p:sp>
        <p:sp>
          <p:nvSpPr>
            <p:cNvPr id="45" name="TextBox 45"/>
            <p:cNvSpPr txBox="1"/>
            <p:nvPr/>
          </p:nvSpPr>
          <p:spPr>
            <a:xfrm>
              <a:off x="9003792" y="5054918"/>
              <a:ext cx="1956244"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Trained attendance leads at</a:t>
              </a:r>
              <a:br/>
              <a:r>
                <a:rPr lang="en-US" sz="1350" dirty="0">
                  <a:solidFill>
                    <a:schemeClr val="dk1"/>
                  </a:solidFill>
                  <a:latin typeface="+mn-lt"/>
                  <a:ea typeface="+mn-ea"/>
                  <a:cs typeface="+mn-cs"/>
                </a:rPr>
                <a:t>every site.</a:t>
              </a:r>
            </a:p>
          </p:txBody>
        </p:sp>
      </p:grpSp>
      <p:grpSp>
        <p:nvGrpSpPr>
          <p:cNvPr id="54" name="Group 54"/>
          <p:cNvGrpSpPr/>
          <p:nvPr/>
        </p:nvGrpSpPr>
        <p:grpSpPr>
          <a:xfrm>
            <a:off x="603504" y="5829300"/>
            <a:ext cx="10978896" cy="1000506"/>
            <a:chOff x="603504" y="5829300"/>
            <a:chExt cx="10978896" cy="1000506"/>
          </a:xfrm>
        </p:grpSpPr>
        <p:sp>
          <p:nvSpPr>
            <p:cNvPr id="47" name="Rectangle 47"/>
            <p:cNvSpPr/>
            <p:nvPr/>
          </p:nvSpPr>
          <p:spPr>
            <a:xfrm>
              <a:off x="609600" y="5829300"/>
              <a:ext cx="10972800" cy="685800"/>
            </a:xfrm>
            <a:prstGeom prst="roundRect">
              <a:avLst>
                <a:gd name="adj" fmla="val 16667"/>
              </a:avLst>
            </a:prstGeom>
            <a:solidFill>
              <a:schemeClr val="lt2"/>
            </a:solidFill>
            <a:ln>
              <a:noFill/>
            </a:ln>
          </p:spPr>
        </p:sp>
        <p:grpSp>
          <p:nvGrpSpPr>
            <p:cNvPr id="51" name="Group 51"/>
            <p:cNvGrpSpPr/>
            <p:nvPr/>
          </p:nvGrpSpPr>
          <p:grpSpPr>
            <a:xfrm>
              <a:off x="889794" y="5993606"/>
              <a:ext cx="144462" cy="185737"/>
              <a:chOff x="889794" y="5993606"/>
              <a:chExt cx="144462" cy="185737"/>
            </a:xfrm>
          </p:grpSpPr>
          <p:sp>
            <p:nvSpPr>
              <p:cNvPr id="48" name="Freeform 48"/>
              <p:cNvSpPr/>
              <p:nvPr/>
            </p:nvSpPr>
            <p:spPr>
              <a:xfrm>
                <a:off x="889794" y="6014244"/>
                <a:ext cx="144462" cy="165099"/>
              </a:xfrm>
              <a:custGeom>
                <a:avLst/>
                <a:gdLst/>
                <a:ahLst/>
                <a:cxnLst/>
                <a:rect l="l" t="t" r="r" b="b"/>
                <a:pathLst>
                  <a:path w="144462" h="165099">
                    <a:moveTo>
                      <a:pt x="41275" y="0"/>
                    </a:moveTo>
                    <a:lnTo>
                      <a:pt x="20637" y="0"/>
                    </a:lnTo>
                    <a:cubicBezTo>
                      <a:pt x="9240" y="0"/>
                      <a:pt x="0" y="9240"/>
                      <a:pt x="0" y="20637"/>
                    </a:cubicBezTo>
                    <a:lnTo>
                      <a:pt x="0" y="144462"/>
                    </a:lnTo>
                    <a:cubicBezTo>
                      <a:pt x="0" y="155860"/>
                      <a:pt x="9240" y="165099"/>
                      <a:pt x="20637" y="165099"/>
                    </a:cubicBezTo>
                    <a:lnTo>
                      <a:pt x="123825" y="165099"/>
                    </a:lnTo>
                    <a:cubicBezTo>
                      <a:pt x="135222" y="165099"/>
                      <a:pt x="144462" y="155860"/>
                      <a:pt x="144462" y="144462"/>
                    </a:cubicBezTo>
                    <a:lnTo>
                      <a:pt x="144462" y="20637"/>
                    </a:lnTo>
                    <a:cubicBezTo>
                      <a:pt x="144462" y="9240"/>
                      <a:pt x="135222" y="0"/>
                      <a:pt x="123825" y="0"/>
                    </a:cubicBezTo>
                    <a:lnTo>
                      <a:pt x="103187" y="0"/>
                    </a:lnTo>
                  </a:path>
                </a:pathLst>
              </a:custGeom>
              <a:noFill/>
              <a:ln w="20637">
                <a:solidFill>
                  <a:schemeClr val="accent1"/>
                </a:solidFill>
              </a:ln>
            </p:spPr>
          </p:sp>
          <p:sp>
            <p:nvSpPr>
              <p:cNvPr id="49" name="Freeform 49"/>
              <p:cNvSpPr/>
              <p:nvPr/>
            </p:nvSpPr>
            <p:spPr>
              <a:xfrm>
                <a:off x="931068" y="5993606"/>
                <a:ext cx="61912" cy="41275"/>
              </a:xfrm>
              <a:custGeom>
                <a:avLst/>
                <a:gdLst/>
                <a:ahLst/>
                <a:cxnLst/>
                <a:rect l="l" t="t" r="r" b="b"/>
                <a:pathLst>
                  <a:path w="61912" h="41275">
                    <a:moveTo>
                      <a:pt x="0" y="20637"/>
                    </a:moveTo>
                    <a:cubicBezTo>
                      <a:pt x="0" y="9240"/>
                      <a:pt x="9240" y="0"/>
                      <a:pt x="20637" y="0"/>
                    </a:cubicBezTo>
                    <a:lnTo>
                      <a:pt x="41275" y="0"/>
                    </a:lnTo>
                    <a:cubicBezTo>
                      <a:pt x="52673" y="0"/>
                      <a:pt x="61912" y="9240"/>
                      <a:pt x="61912" y="20637"/>
                    </a:cubicBezTo>
                    <a:cubicBezTo>
                      <a:pt x="61912" y="32035"/>
                      <a:pt x="52673" y="41275"/>
                      <a:pt x="41275" y="41275"/>
                    </a:cubicBezTo>
                    <a:lnTo>
                      <a:pt x="20637" y="41275"/>
                    </a:lnTo>
                    <a:cubicBezTo>
                      <a:pt x="9240" y="41275"/>
                      <a:pt x="0" y="32035"/>
                      <a:pt x="0" y="20637"/>
                    </a:cubicBezTo>
                  </a:path>
                </a:pathLst>
              </a:custGeom>
              <a:noFill/>
              <a:ln w="20637">
                <a:solidFill>
                  <a:schemeClr val="accent1"/>
                </a:solidFill>
              </a:ln>
            </p:spPr>
          </p:sp>
          <p:sp>
            <p:nvSpPr>
              <p:cNvPr id="50" name="Freeform 50"/>
              <p:cNvSpPr/>
              <p:nvPr/>
            </p:nvSpPr>
            <p:spPr>
              <a:xfrm>
                <a:off x="931068" y="6086475"/>
                <a:ext cx="61912" cy="41275"/>
              </a:xfrm>
              <a:custGeom>
                <a:avLst/>
                <a:gdLst/>
                <a:ahLst/>
                <a:cxnLst/>
                <a:rect l="l" t="t" r="r" b="b"/>
                <a:pathLst>
                  <a:path w="61912" h="41275">
                    <a:moveTo>
                      <a:pt x="0" y="20637"/>
                    </a:moveTo>
                    <a:lnTo>
                      <a:pt x="20637" y="41275"/>
                    </a:lnTo>
                    <a:lnTo>
                      <a:pt x="61912" y="0"/>
                    </a:lnTo>
                  </a:path>
                </a:pathLst>
              </a:custGeom>
              <a:noFill/>
              <a:ln w="20637">
                <a:solidFill>
                  <a:schemeClr val="accent1"/>
                </a:solidFill>
              </a:ln>
            </p:spPr>
          </p:sp>
        </p:grpSp>
        <p:sp>
          <p:nvSpPr>
            <p:cNvPr id="52" name="TextBox 52"/>
            <p:cNvSpPr txBox="1"/>
            <p:nvPr/>
          </p:nvSpPr>
          <p:spPr>
            <a:xfrm>
              <a:off x="1193292" y="6026468"/>
              <a:ext cx="7295163" cy="4926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accent1"/>
                  </a:solidFill>
                  <a:latin typeface="+mn-lt"/>
                  <a:ea typeface="+mn-ea"/>
                  <a:cs typeface="+mn-cs"/>
                </a:rPr>
                <a:t>What Riverbend supplies</a:t>
              </a:r>
              <a:r>
                <a:rPr lang="en-US" sz="1350" dirty="0">
                  <a:solidFill>
                    <a:schemeClr val="dk1"/>
                  </a:solidFill>
                  <a:latin typeface="+mn-lt"/>
                  <a:ea typeface="+mn-ea"/>
                  <a:cs typeface="+mn-cs"/>
                </a:rPr>
                <a:t xml:space="preserve"> — data access within two weeks of start, a named executive sponsor, released</a:t>
              </a:r>
              <a:br/>
              <a:r>
                <a:rPr lang="en-US" sz="1350" dirty="0">
                  <a:solidFill>
                    <a:schemeClr val="dk1"/>
                  </a:solidFill>
                  <a:latin typeface="+mn-lt"/>
                  <a:ea typeface="+mn-ea"/>
                  <a:cs typeface="+mn-cs"/>
                </a:rPr>
                <a:t>time for the site attendance leads, and family-contact consent under district policy.</a:t>
              </a:r>
            </a:p>
          </p:txBody>
        </p:sp>
        <p:sp>
          <p:nvSpPr>
            <p:cNvPr id="53" name="TextBox 53"/>
            <p:cNvSpPr txBox="1"/>
            <p:nvPr/>
          </p:nvSpPr>
          <p:spPr>
            <a:xfrm>
              <a:off x="603504" y="6595110"/>
              <a:ext cx="6783421" cy="234696"/>
            </a:xfrm>
            <a:prstGeom prst="rect">
              <a:avLst/>
            </a:prstGeom>
            <a:noFill/>
            <a:ln>
              <a:noFill/>
            </a:ln>
          </p:spPr>
          <p:txBody>
            <a:bodyPr wrap="none" lIns="0" tIns="0" rIns="0" bIns="0" anchor="t" anchorCtr="0">
              <a:spAutoFit/>
            </a:bodyPr>
            <a:lstStyle/>
            <a:p>
              <a:pPr algn="l"/>
              <a:r>
                <a:rPr lang="en-US" sz="1200" dirty="0">
                  <a:solidFill>
                    <a:srgbClr val="B0722B"/>
                  </a:solidFill>
                  <a:latin typeface="+mn-lt"/>
                  <a:ea typeface="+mn-ea"/>
                  <a:cs typeface="+mn-cs"/>
                </a:rPr>
                <a:t>Every phase, date and deliverable on this page is illustrative and would be fixed in a statement of work.</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400"/>
                                        <p:tgtEl>
                                          <p:spTgt spid="14"/>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400"/>
                                        <p:tgtEl>
                                          <p:spTgt spid="18"/>
                                        </p:tgtEl>
                                      </p:cBhvr>
                                    </p:animEffect>
                                  </p:childTnLst>
                                </p:cTn>
                              </p:par>
                            </p:childTnLst>
                          </p:cTn>
                        </p:par>
                        <p:par>
                          <p:cTn id="12" fill="hold">
                            <p:stCondLst>
                              <p:cond delay="1300"/>
                            </p:stCondLst>
                            <p:childTnLst>
                              <p:par>
                                <p:cTn id="13" presetID="22" presetClass="entr" presetSubtype="2"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wipe(right)">
                                      <p:cBhvr>
                                        <p:cTn id="15" dur="400"/>
                                        <p:tgtEl>
                                          <p:spTgt spid="22"/>
                                        </p:tgtEl>
                                      </p:cBhvr>
                                    </p:animEffect>
                                  </p:childTnLst>
                                </p:cTn>
                              </p:par>
                            </p:childTnLst>
                          </p:cTn>
                        </p:par>
                        <p:par>
                          <p:cTn id="16" fill="hold">
                            <p:stCondLst>
                              <p:cond delay="2200"/>
                            </p:stCondLst>
                            <p:childTnLst>
                              <p:par>
                                <p:cTn id="17" presetID="22" presetClass="entr" presetSubtype="2" fill="hold" grpId="0" nodeType="afterEffect">
                                  <p:stCondLst>
                                    <p:cond delay="50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400"/>
                                        <p:tgtEl>
                                          <p:spTgt spid="26"/>
                                        </p:tgtEl>
                                      </p:cBhvr>
                                    </p:animEffect>
                                  </p:childTnLst>
                                </p:cTn>
                              </p:par>
                            </p:childTnLst>
                          </p:cTn>
                        </p:par>
                        <p:par>
                          <p:cTn id="20" fill="hold">
                            <p:stCondLst>
                              <p:cond delay="3100"/>
                            </p:stCondLst>
                            <p:childTnLst>
                              <p:par>
                                <p:cTn id="21" presetID="10" presetClass="entr" presetSubtype="0" fill="hold" grpId="0" nodeType="afterEffect">
                                  <p:stCondLst>
                                    <p:cond delay="50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350"/>
                                        <p:tgtEl>
                                          <p:spTgt spid="31"/>
                                        </p:tgtEl>
                                      </p:cBhvr>
                                    </p:animEffect>
                                  </p:childTnLst>
                                </p:cTn>
                              </p:par>
                            </p:childTnLst>
                          </p:cTn>
                        </p:par>
                        <p:par>
                          <p:cTn id="24" fill="hold">
                            <p:stCondLst>
                              <p:cond delay="3950"/>
                            </p:stCondLst>
                            <p:childTnLst>
                              <p:par>
                                <p:cTn id="25" presetID="10" presetClass="entr" presetSubtype="0" fill="hold" grpId="0" nodeType="afterEffect">
                                  <p:stCondLst>
                                    <p:cond delay="50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350"/>
                                        <p:tgtEl>
                                          <p:spTgt spid="36"/>
                                        </p:tgtEl>
                                      </p:cBhvr>
                                    </p:animEffect>
                                  </p:childTnLst>
                                </p:cTn>
                              </p:par>
                            </p:childTnLst>
                          </p:cTn>
                        </p:par>
                        <p:par>
                          <p:cTn id="28" fill="hold">
                            <p:stCondLst>
                              <p:cond delay="4800"/>
                            </p:stCondLst>
                            <p:childTnLst>
                              <p:par>
                                <p:cTn id="29" presetID="10" presetClass="entr" presetSubtype="0" fill="hold" grpId="0" nodeType="afterEffect">
                                  <p:stCondLst>
                                    <p:cond delay="50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350"/>
                                        <p:tgtEl>
                                          <p:spTgt spid="41"/>
                                        </p:tgtEl>
                                      </p:cBhvr>
                                    </p:animEffect>
                                  </p:childTnLst>
                                </p:cTn>
                              </p:par>
                            </p:childTnLst>
                          </p:cTn>
                        </p:par>
                        <p:par>
                          <p:cTn id="32" fill="hold">
                            <p:stCondLst>
                              <p:cond delay="5650"/>
                            </p:stCondLst>
                            <p:childTnLst>
                              <p:par>
                                <p:cTn id="33" presetID="10" presetClass="entr" presetSubtype="0" fill="hold" grpId="0" nodeType="afterEffect">
                                  <p:stCondLst>
                                    <p:cond delay="5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350"/>
                                        <p:tgtEl>
                                          <p:spTgt spid="46"/>
                                        </p:tgtEl>
                                      </p:cBhvr>
                                    </p:animEffect>
                                  </p:childTnLst>
                                </p:cTn>
                              </p:par>
                            </p:childTnLst>
                          </p:cTn>
                        </p:par>
                        <p:par>
                          <p:cTn id="36" fill="hold">
                            <p:stCondLst>
                              <p:cond delay="6500"/>
                            </p:stCondLst>
                            <p:childTnLst>
                              <p:par>
                                <p:cTn id="37" presetID="10" presetClass="entr" presetSubtype="0" fill="hold" grpId="0" nodeType="afterEffect">
                                  <p:stCondLst>
                                    <p:cond delay="30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4290148"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DELIVERY PLAN — YEAR TWO AND THE GATE</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353374" y="775335"/>
              <a:ext cx="1810103"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Illustrative dates and scope</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888406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In June 2027 the board decides on year two</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8274618" cy="410718"/>
            <a:chOff x="598932" y="1868805"/>
            <a:chExt cx="8274618" cy="410718"/>
          </a:xfrm>
        </p:grpSpPr>
        <p:sp>
          <p:nvSpPr>
            <p:cNvPr id="9" name="TextBox 9"/>
            <p:cNvSpPr txBox="1"/>
            <p:nvPr/>
          </p:nvSpPr>
          <p:spPr>
            <a:xfrm>
              <a:off x="598932" y="1868805"/>
              <a:ext cx="827461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Year two is district-wide operation and hand-off — and it is </a:t>
              </a:r>
              <a:r>
                <a:rPr lang="en-US" sz="2100" b="1" dirty="0">
                  <a:solidFill>
                    <a:schemeClr val="accent2"/>
                  </a:solidFill>
                  <a:latin typeface="+mn-lt"/>
                  <a:ea typeface="+mn-ea"/>
                  <a:cs typeface="+mn-cs"/>
                </a:rPr>
                <a:t>conditional</a:t>
              </a:r>
              <a:r>
                <a:rPr lang="en-US" sz="2100" dirty="0">
                  <a:solidFill>
                    <a:schemeClr val="dk1"/>
                  </a:solidFill>
                  <a:latin typeface="+mn-lt"/>
                  <a:ea typeface="+mn-ea"/>
                  <a:cs typeface="+mn-cs"/>
                </a:rPr>
                <a:t>.</a:t>
              </a:r>
            </a:p>
          </p:txBody>
        </p:sp>
      </p:grpSp>
      <p:grpSp>
        <p:nvGrpSpPr>
          <p:cNvPr id="13" name="Group 13"/>
          <p:cNvGrpSpPr/>
          <p:nvPr/>
        </p:nvGrpSpPr>
        <p:grpSpPr>
          <a:xfrm>
            <a:off x="603504" y="2613660"/>
            <a:ext cx="7951459" cy="234696"/>
            <a:chOff x="603504" y="2613660"/>
            <a:chExt cx="7951459" cy="234696"/>
          </a:xfrm>
        </p:grpSpPr>
        <p:sp>
          <p:nvSpPr>
            <p:cNvPr id="11" name="TextBox 11"/>
            <p:cNvSpPr txBox="1"/>
            <p:nvPr/>
          </p:nvSpPr>
          <p:spPr>
            <a:xfrm>
              <a:off x="603504" y="2613660"/>
              <a:ext cx="1699648"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YEAR ONE — 2026-27</a:t>
              </a:r>
            </a:p>
          </p:txBody>
        </p:sp>
        <p:sp>
          <p:nvSpPr>
            <p:cNvPr id="12" name="TextBox 12"/>
            <p:cNvSpPr txBox="1"/>
            <p:nvPr/>
          </p:nvSpPr>
          <p:spPr>
            <a:xfrm>
              <a:off x="6813804" y="2613660"/>
              <a:ext cx="1741159"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YEAR TWO — 2027-28</a:t>
              </a:r>
            </a:p>
          </p:txBody>
        </p:sp>
      </p:grpSp>
      <p:grpSp>
        <p:nvGrpSpPr>
          <p:cNvPr id="16" name="!!roadmap-phase-1"/>
          <p:cNvGrpSpPr/>
          <p:nvPr/>
        </p:nvGrpSpPr>
        <p:grpSpPr>
          <a:xfrm>
            <a:off x="609600" y="2857500"/>
            <a:ext cx="1181100" cy="838200"/>
            <a:chOff x="609600" y="2857500"/>
            <a:chExt cx="1181100" cy="838200"/>
          </a:xfrm>
        </p:grpSpPr>
        <p:sp>
          <p:nvSpPr>
            <p:cNvPr id="14" name="Freeform 14"/>
            <p:cNvSpPr/>
            <p:nvPr/>
          </p:nvSpPr>
          <p:spPr>
            <a:xfrm>
              <a:off x="609600" y="2857500"/>
              <a:ext cx="1181100" cy="838200"/>
            </a:xfrm>
            <a:prstGeom prst="chevron">
              <a:avLst/>
            </a:prstGeom>
            <a:solidFill>
              <a:srgbClr val="C3D6DC"/>
            </a:solidFill>
            <a:ln>
              <a:noFill/>
            </a:ln>
          </p:spPr>
        </p:sp>
        <p:sp>
          <p:nvSpPr>
            <p:cNvPr id="15" name="TextBox 15"/>
            <p:cNvSpPr txBox="1"/>
            <p:nvPr/>
          </p:nvSpPr>
          <p:spPr>
            <a:xfrm>
              <a:off x="1129603" y="3196590"/>
              <a:ext cx="141094"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1</a:t>
              </a:r>
            </a:p>
          </p:txBody>
        </p:sp>
      </p:grpSp>
      <p:grpSp>
        <p:nvGrpSpPr>
          <p:cNvPr id="19" name="!!roadmap-phase-2"/>
          <p:cNvGrpSpPr/>
          <p:nvPr/>
        </p:nvGrpSpPr>
        <p:grpSpPr>
          <a:xfrm>
            <a:off x="1905000" y="2857500"/>
            <a:ext cx="1181100" cy="838200"/>
            <a:chOff x="1905000" y="2857500"/>
            <a:chExt cx="1181100" cy="838200"/>
          </a:xfrm>
        </p:grpSpPr>
        <p:sp>
          <p:nvSpPr>
            <p:cNvPr id="17" name="Freeform 17"/>
            <p:cNvSpPr/>
            <p:nvPr/>
          </p:nvSpPr>
          <p:spPr>
            <a:xfrm>
              <a:off x="1905000" y="2857500"/>
              <a:ext cx="1181100" cy="838200"/>
            </a:xfrm>
            <a:prstGeom prst="chevron">
              <a:avLst/>
            </a:prstGeom>
            <a:solidFill>
              <a:srgbClr val="A8C4CC"/>
            </a:solidFill>
            <a:ln>
              <a:noFill/>
            </a:ln>
          </p:spPr>
        </p:sp>
        <p:sp>
          <p:nvSpPr>
            <p:cNvPr id="18" name="TextBox 18"/>
            <p:cNvSpPr txBox="1"/>
            <p:nvPr/>
          </p:nvSpPr>
          <p:spPr>
            <a:xfrm>
              <a:off x="2425003" y="3196590"/>
              <a:ext cx="141094"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2</a:t>
              </a:r>
            </a:p>
          </p:txBody>
        </p:sp>
      </p:grpSp>
      <p:grpSp>
        <p:nvGrpSpPr>
          <p:cNvPr id="22" name="!!roadmap-phase-3"/>
          <p:cNvGrpSpPr/>
          <p:nvPr/>
        </p:nvGrpSpPr>
        <p:grpSpPr>
          <a:xfrm>
            <a:off x="3200400" y="2857500"/>
            <a:ext cx="1181100" cy="838200"/>
            <a:chOff x="3200400" y="2857500"/>
            <a:chExt cx="1181100" cy="838200"/>
          </a:xfrm>
        </p:grpSpPr>
        <p:sp>
          <p:nvSpPr>
            <p:cNvPr id="20" name="Freeform 20"/>
            <p:cNvSpPr/>
            <p:nvPr/>
          </p:nvSpPr>
          <p:spPr>
            <a:xfrm>
              <a:off x="3200400" y="2857500"/>
              <a:ext cx="1181100" cy="838200"/>
            </a:xfrm>
            <a:prstGeom prst="chevron">
              <a:avLst/>
            </a:prstGeom>
            <a:solidFill>
              <a:schemeClr val="accent3"/>
            </a:solidFill>
            <a:ln>
              <a:noFill/>
            </a:ln>
          </p:spPr>
        </p:sp>
        <p:sp>
          <p:nvSpPr>
            <p:cNvPr id="21" name="TextBox 21"/>
            <p:cNvSpPr txBox="1"/>
            <p:nvPr/>
          </p:nvSpPr>
          <p:spPr>
            <a:xfrm>
              <a:off x="3720403" y="3196590"/>
              <a:ext cx="141094"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3</a:t>
              </a:r>
            </a:p>
          </p:txBody>
        </p:sp>
      </p:grpSp>
      <p:grpSp>
        <p:nvGrpSpPr>
          <p:cNvPr id="25" name="!!roadmap-phase-4"/>
          <p:cNvGrpSpPr/>
          <p:nvPr/>
        </p:nvGrpSpPr>
        <p:grpSpPr>
          <a:xfrm>
            <a:off x="4495800" y="2857500"/>
            <a:ext cx="1181100" cy="838200"/>
            <a:chOff x="4495800" y="2857500"/>
            <a:chExt cx="1181100" cy="838200"/>
          </a:xfrm>
        </p:grpSpPr>
        <p:sp>
          <p:nvSpPr>
            <p:cNvPr id="23" name="Freeform 23"/>
            <p:cNvSpPr/>
            <p:nvPr/>
          </p:nvSpPr>
          <p:spPr>
            <a:xfrm>
              <a:off x="4495800" y="2857500"/>
              <a:ext cx="1181100" cy="838200"/>
            </a:xfrm>
            <a:prstGeom prst="chevron">
              <a:avLst/>
            </a:prstGeom>
            <a:solidFill>
              <a:schemeClr val="accent1"/>
            </a:solidFill>
            <a:ln>
              <a:noFill/>
            </a:ln>
          </p:spPr>
        </p:sp>
        <p:sp>
          <p:nvSpPr>
            <p:cNvPr id="24" name="TextBox 24"/>
            <p:cNvSpPr txBox="1"/>
            <p:nvPr/>
          </p:nvSpPr>
          <p:spPr>
            <a:xfrm>
              <a:off x="5015803" y="3196590"/>
              <a:ext cx="141094"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4</a:t>
              </a:r>
            </a:p>
          </p:txBody>
        </p:sp>
      </p:grpSp>
      <p:grpSp>
        <p:nvGrpSpPr>
          <p:cNvPr id="31" name="Group 31"/>
          <p:cNvGrpSpPr/>
          <p:nvPr/>
        </p:nvGrpSpPr>
        <p:grpSpPr>
          <a:xfrm>
            <a:off x="5829300" y="2857500"/>
            <a:ext cx="838200" cy="1127951"/>
            <a:chOff x="5829300" y="2857500"/>
            <a:chExt cx="838200" cy="1127951"/>
          </a:xfrm>
        </p:grpSpPr>
        <p:sp>
          <p:nvSpPr>
            <p:cNvPr id="26" name="Freeform 26"/>
            <p:cNvSpPr/>
            <p:nvPr/>
          </p:nvSpPr>
          <p:spPr>
            <a:xfrm>
              <a:off x="5829300" y="2857500"/>
              <a:ext cx="838200" cy="838200"/>
            </a:xfrm>
            <a:prstGeom prst="diamond">
              <a:avLst/>
            </a:prstGeom>
            <a:solidFill>
              <a:schemeClr val="accent2"/>
            </a:solidFill>
            <a:ln>
              <a:noFill/>
            </a:ln>
          </p:spPr>
        </p:sp>
        <p:grpSp>
          <p:nvGrpSpPr>
            <p:cNvPr id="29" name="Group 29"/>
            <p:cNvGrpSpPr/>
            <p:nvPr/>
          </p:nvGrpSpPr>
          <p:grpSpPr>
            <a:xfrm>
              <a:off x="6181725" y="3191773"/>
              <a:ext cx="133350" cy="170552"/>
              <a:chOff x="6181725" y="3191773"/>
              <a:chExt cx="133350" cy="170552"/>
            </a:xfrm>
          </p:grpSpPr>
          <p:sp>
            <p:nvSpPr>
              <p:cNvPr id="27" name="Freeform 27"/>
              <p:cNvSpPr/>
              <p:nvPr/>
            </p:nvSpPr>
            <p:spPr>
              <a:xfrm>
                <a:off x="6181725" y="3191773"/>
                <a:ext cx="133350" cy="122029"/>
              </a:xfrm>
              <a:custGeom>
                <a:avLst/>
                <a:gdLst/>
                <a:ahLst/>
                <a:cxnLst/>
                <a:rect l="l" t="t" r="r" b="b"/>
                <a:pathLst>
                  <a:path w="133350" h="122029">
                    <a:moveTo>
                      <a:pt x="0" y="18152"/>
                    </a:moveTo>
                    <a:cubicBezTo>
                      <a:pt x="18519" y="0"/>
                      <a:pt x="48156" y="0"/>
                      <a:pt x="66675" y="18152"/>
                    </a:cubicBezTo>
                    <a:cubicBezTo>
                      <a:pt x="85194" y="36304"/>
                      <a:pt x="114831" y="36304"/>
                      <a:pt x="133350" y="18152"/>
                    </a:cubicBezTo>
                    <a:lnTo>
                      <a:pt x="133350" y="103877"/>
                    </a:lnTo>
                    <a:cubicBezTo>
                      <a:pt x="114831" y="122029"/>
                      <a:pt x="85194" y="122029"/>
                      <a:pt x="66675" y="103877"/>
                    </a:cubicBezTo>
                    <a:cubicBezTo>
                      <a:pt x="48156" y="85725"/>
                      <a:pt x="18519" y="85725"/>
                      <a:pt x="0" y="103877"/>
                    </a:cubicBezTo>
                    <a:lnTo>
                      <a:pt x="0" y="18152"/>
                    </a:lnTo>
                  </a:path>
                </a:pathLst>
              </a:custGeom>
              <a:noFill/>
              <a:ln w="19050">
                <a:solidFill>
                  <a:srgbClr val="FFFFFF"/>
                </a:solidFill>
              </a:ln>
            </p:spPr>
          </p:sp>
          <p:sp>
            <p:nvSpPr>
              <p:cNvPr id="28" name="Freeform 28"/>
              <p:cNvSpPr/>
              <p:nvPr/>
            </p:nvSpPr>
            <p:spPr>
              <a:xfrm>
                <a:off x="6181725" y="3295650"/>
                <a:ext cx="9525" cy="66675"/>
              </a:xfrm>
              <a:custGeom>
                <a:avLst/>
                <a:gdLst/>
                <a:ahLst/>
                <a:cxnLst/>
                <a:rect l="l" t="t" r="r" b="b"/>
                <a:pathLst>
                  <a:path w="9525" h="66675">
                    <a:moveTo>
                      <a:pt x="0" y="66675"/>
                    </a:moveTo>
                    <a:lnTo>
                      <a:pt x="0" y="0"/>
                    </a:lnTo>
                  </a:path>
                </a:pathLst>
              </a:custGeom>
              <a:noFill/>
              <a:ln w="19050">
                <a:solidFill>
                  <a:srgbClr val="FFFFFF"/>
                </a:solidFill>
              </a:ln>
            </p:spPr>
          </p:sp>
        </p:grpSp>
        <p:sp>
          <p:nvSpPr>
            <p:cNvPr id="30" name="TextBox 30"/>
            <p:cNvSpPr txBox="1"/>
            <p:nvPr/>
          </p:nvSpPr>
          <p:spPr>
            <a:xfrm>
              <a:off x="5861820" y="3721418"/>
              <a:ext cx="773160" cy="264033"/>
            </a:xfrm>
            <a:prstGeom prst="rect">
              <a:avLst/>
            </a:prstGeom>
            <a:noFill/>
            <a:ln>
              <a:noFill/>
            </a:ln>
          </p:spPr>
          <p:txBody>
            <a:bodyPr wrap="none" lIns="0" tIns="0" rIns="0" bIns="0" anchor="t" anchorCtr="0">
              <a:spAutoFit/>
            </a:bodyPr>
            <a:lstStyle/>
            <a:p>
              <a:pPr algn="ctr"/>
              <a:r>
                <a:rPr lang="en-US" sz="1350" dirty="0">
                  <a:solidFill>
                    <a:srgbClr val="B0722B"/>
                  </a:solidFill>
                  <a:latin typeface="+mn-lt"/>
                  <a:ea typeface="+mn-ea"/>
                  <a:cs typeface="+mn-cs"/>
                </a:rPr>
                <a:t>June 2027</a:t>
              </a:r>
            </a:p>
          </p:txBody>
        </p:sp>
      </p:grpSp>
      <p:grpSp>
        <p:nvGrpSpPr>
          <p:cNvPr id="34" name="Group 34"/>
          <p:cNvGrpSpPr/>
          <p:nvPr/>
        </p:nvGrpSpPr>
        <p:grpSpPr>
          <a:xfrm>
            <a:off x="6819900" y="2857500"/>
            <a:ext cx="1485900" cy="838200"/>
            <a:chOff x="6819900" y="2857500"/>
            <a:chExt cx="1485900" cy="838200"/>
          </a:xfrm>
        </p:grpSpPr>
        <p:sp>
          <p:nvSpPr>
            <p:cNvPr id="32" name="Freeform 32"/>
            <p:cNvSpPr/>
            <p:nvPr/>
          </p:nvSpPr>
          <p:spPr>
            <a:xfrm>
              <a:off x="6819900" y="2857500"/>
              <a:ext cx="1485900" cy="838200"/>
            </a:xfrm>
            <a:prstGeom prst="chevron">
              <a:avLst/>
            </a:prstGeom>
            <a:solidFill>
              <a:schemeClr val="accent3"/>
            </a:solidFill>
            <a:ln>
              <a:noFill/>
            </a:ln>
          </p:spPr>
        </p:sp>
        <p:sp>
          <p:nvSpPr>
            <p:cNvPr id="33" name="TextBox 33"/>
            <p:cNvSpPr txBox="1"/>
            <p:nvPr/>
          </p:nvSpPr>
          <p:spPr>
            <a:xfrm>
              <a:off x="7492303" y="3196590"/>
              <a:ext cx="141094"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5</a:t>
              </a:r>
            </a:p>
          </p:txBody>
        </p:sp>
      </p:grpSp>
      <p:grpSp>
        <p:nvGrpSpPr>
          <p:cNvPr id="37" name="Group 37"/>
          <p:cNvGrpSpPr/>
          <p:nvPr/>
        </p:nvGrpSpPr>
        <p:grpSpPr>
          <a:xfrm>
            <a:off x="8458200" y="2857500"/>
            <a:ext cx="1485900" cy="838200"/>
            <a:chOff x="8458200" y="2857500"/>
            <a:chExt cx="1485900" cy="838200"/>
          </a:xfrm>
        </p:grpSpPr>
        <p:sp>
          <p:nvSpPr>
            <p:cNvPr id="35" name="Freeform 35"/>
            <p:cNvSpPr/>
            <p:nvPr/>
          </p:nvSpPr>
          <p:spPr>
            <a:xfrm>
              <a:off x="8458200" y="2857500"/>
              <a:ext cx="1485900" cy="838200"/>
            </a:xfrm>
            <a:prstGeom prst="chevron">
              <a:avLst/>
            </a:prstGeom>
            <a:solidFill>
              <a:srgbClr val="3F7686"/>
            </a:solidFill>
            <a:ln>
              <a:noFill/>
            </a:ln>
          </p:spPr>
        </p:sp>
        <p:sp>
          <p:nvSpPr>
            <p:cNvPr id="36" name="TextBox 36"/>
            <p:cNvSpPr txBox="1"/>
            <p:nvPr/>
          </p:nvSpPr>
          <p:spPr>
            <a:xfrm>
              <a:off x="9130603" y="3196590"/>
              <a:ext cx="141094"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6</a:t>
              </a:r>
            </a:p>
          </p:txBody>
        </p:sp>
      </p:grpSp>
      <p:grpSp>
        <p:nvGrpSpPr>
          <p:cNvPr id="40" name="Group 40"/>
          <p:cNvGrpSpPr/>
          <p:nvPr/>
        </p:nvGrpSpPr>
        <p:grpSpPr>
          <a:xfrm>
            <a:off x="10096500" y="2857500"/>
            <a:ext cx="1485900" cy="838200"/>
            <a:chOff x="10096500" y="2857500"/>
            <a:chExt cx="1485900" cy="838200"/>
          </a:xfrm>
        </p:grpSpPr>
        <p:sp>
          <p:nvSpPr>
            <p:cNvPr id="38" name="Freeform 38"/>
            <p:cNvSpPr/>
            <p:nvPr/>
          </p:nvSpPr>
          <p:spPr>
            <a:xfrm>
              <a:off x="10096500" y="2857500"/>
              <a:ext cx="1485900" cy="838200"/>
            </a:xfrm>
            <a:prstGeom prst="chevron">
              <a:avLst/>
            </a:prstGeom>
            <a:solidFill>
              <a:schemeClr val="accent1"/>
            </a:solidFill>
            <a:ln>
              <a:noFill/>
            </a:ln>
          </p:spPr>
        </p:sp>
        <p:sp>
          <p:nvSpPr>
            <p:cNvPr id="39" name="TextBox 39"/>
            <p:cNvSpPr txBox="1"/>
            <p:nvPr/>
          </p:nvSpPr>
          <p:spPr>
            <a:xfrm>
              <a:off x="10768903" y="3196590"/>
              <a:ext cx="141094"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7</a:t>
              </a:r>
            </a:p>
          </p:txBody>
        </p:sp>
      </p:grpSp>
      <p:grpSp>
        <p:nvGrpSpPr>
          <p:cNvPr id="45" name="Group 45"/>
          <p:cNvGrpSpPr/>
          <p:nvPr/>
        </p:nvGrpSpPr>
        <p:grpSpPr>
          <a:xfrm>
            <a:off x="598932" y="4059555"/>
            <a:ext cx="4125454" cy="2021396"/>
            <a:chOff x="598932" y="4059555"/>
            <a:chExt cx="4125454" cy="2021396"/>
          </a:xfrm>
        </p:grpSpPr>
        <p:sp>
          <p:nvSpPr>
            <p:cNvPr id="41" name="TextBox 41"/>
            <p:cNvSpPr txBox="1"/>
            <p:nvPr/>
          </p:nvSpPr>
          <p:spPr>
            <a:xfrm>
              <a:off x="598932" y="4059555"/>
              <a:ext cx="2375374"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The gate: June 2027</a:t>
              </a:r>
            </a:p>
          </p:txBody>
        </p:sp>
        <p:sp>
          <p:nvSpPr>
            <p:cNvPr id="42" name="TextBox 42"/>
            <p:cNvSpPr txBox="1"/>
            <p:nvPr/>
          </p:nvSpPr>
          <p:spPr>
            <a:xfrm>
              <a:off x="600456" y="4511040"/>
              <a:ext cx="3596358" cy="961644"/>
            </a:xfrm>
            <a:prstGeom prst="rect">
              <a:avLst/>
            </a:prstGeom>
            <a:noFill/>
            <a:ln>
              <a:noFill/>
            </a:ln>
          </p:spPr>
          <p:txBody>
            <a:bodyPr wrap="none" lIns="0" tIns="0" rIns="0" bIns="0" anchor="t" anchorCtr="0">
              <a:spAutoFit/>
            </a:bodyPr>
            <a:lstStyle/>
            <a:p>
              <a:pPr algn="l">
                <a:lnSpc>
                  <a:spcPts val="2400"/>
                </a:lnSpc>
              </a:pPr>
              <a:r>
                <a:rPr lang="en-US" sz="1800" dirty="0">
                  <a:solidFill>
                    <a:schemeClr val="dk1"/>
                  </a:solidFill>
                  <a:latin typeface="+mn-lt"/>
                  <a:ea typeface="+mn-ea"/>
                  <a:cs typeface="+mn-cs"/>
                </a:rPr>
                <a:t>The board reviews pilot results against</a:t>
              </a:r>
              <a:br/>
              <a:r>
                <a:rPr lang="en-US" sz="1800" dirty="0">
                  <a:solidFill>
                    <a:schemeClr val="dk1"/>
                  </a:solidFill>
                  <a:latin typeface="+mn-lt"/>
                  <a:ea typeface="+mn-ea"/>
                  <a:cs typeface="+mn-cs"/>
                </a:rPr>
                <a:t>the baseline and decides to continue,</a:t>
              </a:r>
              <a:br/>
              <a:r>
                <a:rPr lang="en-US" sz="1800" dirty="0">
                  <a:solidFill>
                    <a:schemeClr val="dk1"/>
                  </a:solidFill>
                  <a:latin typeface="+mn-lt"/>
                  <a:ea typeface="+mn-ea"/>
                  <a:cs typeface="+mn-cs"/>
                </a:rPr>
                <a:t>adjust, or stop.</a:t>
              </a:r>
            </a:p>
          </p:txBody>
        </p:sp>
        <p:sp>
          <p:nvSpPr>
            <p:cNvPr id="43" name="TextBox 43"/>
            <p:cNvSpPr txBox="1"/>
            <p:nvPr/>
          </p:nvSpPr>
          <p:spPr>
            <a:xfrm>
              <a:off x="602742" y="5569268"/>
              <a:ext cx="4121644" cy="264033"/>
            </a:xfrm>
            <a:prstGeom prst="rect">
              <a:avLst/>
            </a:prstGeom>
            <a:noFill/>
            <a:ln>
              <a:noFill/>
            </a:ln>
          </p:spPr>
          <p:txBody>
            <a:bodyPr wrap="none" lIns="0" tIns="0" rIns="0" bIns="0" anchor="t" anchorCtr="0">
              <a:spAutoFit/>
            </a:bodyPr>
            <a:lstStyle/>
            <a:p>
              <a:pPr algn="l"/>
              <a:r>
                <a:rPr lang="en-US" sz="1350" dirty="0">
                  <a:solidFill>
                    <a:srgbClr val="B0722B"/>
                  </a:solidFill>
                  <a:latin typeface="+mn-lt"/>
                  <a:ea typeface="+mn-ea"/>
                  <a:cs typeface="+mn-cs"/>
                </a:rPr>
                <a:t>Lantern's year-two fee is not committed until that vote.</a:t>
              </a:r>
            </a:p>
          </p:txBody>
        </p:sp>
        <p:sp>
          <p:nvSpPr>
            <p:cNvPr id="44" name="TextBox 44"/>
            <p:cNvSpPr txBox="1"/>
            <p:nvPr/>
          </p:nvSpPr>
          <p:spPr>
            <a:xfrm>
              <a:off x="602742" y="5816918"/>
              <a:ext cx="352134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 ongoing retainer is proposed after hand-off.</a:t>
              </a:r>
            </a:p>
          </p:txBody>
        </p:sp>
      </p:grpSp>
      <p:grpSp>
        <p:nvGrpSpPr>
          <p:cNvPr id="52" name="Group 52"/>
          <p:cNvGrpSpPr/>
          <p:nvPr/>
        </p:nvGrpSpPr>
        <p:grpSpPr>
          <a:xfrm>
            <a:off x="6086856" y="4130040"/>
            <a:ext cx="4558000" cy="2027111"/>
            <a:chOff x="6086856" y="4130040"/>
            <a:chExt cx="4558000" cy="2027111"/>
          </a:xfrm>
        </p:grpSpPr>
        <p:sp>
          <p:nvSpPr>
            <p:cNvPr id="46" name="TextBox 46"/>
            <p:cNvSpPr txBox="1"/>
            <p:nvPr/>
          </p:nvSpPr>
          <p:spPr>
            <a:xfrm>
              <a:off x="6086856" y="4130040"/>
              <a:ext cx="347401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Phase 5 — District-wide operation</a:t>
              </a:r>
            </a:p>
          </p:txBody>
        </p:sp>
        <p:sp>
          <p:nvSpPr>
            <p:cNvPr id="47" name="TextBox 47"/>
            <p:cNvSpPr txBox="1"/>
            <p:nvPr/>
          </p:nvSpPr>
          <p:spPr>
            <a:xfrm>
              <a:off x="6089142" y="4445318"/>
              <a:ext cx="405333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Sep-Dec 2027 · all three tiers live, monthly case review</a:t>
              </a:r>
            </a:p>
          </p:txBody>
        </p:sp>
        <p:sp>
          <p:nvSpPr>
            <p:cNvPr id="48" name="TextBox 48"/>
            <p:cNvSpPr txBox="1"/>
            <p:nvPr/>
          </p:nvSpPr>
          <p:spPr>
            <a:xfrm>
              <a:off x="6086856" y="4853940"/>
              <a:ext cx="2356908"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Phase 6 — Tier 3 depth</a:t>
              </a:r>
            </a:p>
          </p:txBody>
        </p:sp>
        <p:sp>
          <p:nvSpPr>
            <p:cNvPr id="49" name="TextBox 49"/>
            <p:cNvSpPr txBox="1"/>
            <p:nvPr/>
          </p:nvSpPr>
          <p:spPr>
            <a:xfrm>
              <a:off x="6089142" y="5169218"/>
              <a:ext cx="413334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Jan-Apr 2028 · partner agreements, home-visit protocol</a:t>
              </a:r>
            </a:p>
          </p:txBody>
        </p:sp>
        <p:sp>
          <p:nvSpPr>
            <p:cNvPr id="50" name="TextBox 50"/>
            <p:cNvSpPr txBox="1"/>
            <p:nvPr/>
          </p:nvSpPr>
          <p:spPr>
            <a:xfrm>
              <a:off x="6086856" y="5577840"/>
              <a:ext cx="203126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Phase 7 — Hand-off</a:t>
              </a:r>
            </a:p>
          </p:txBody>
        </p:sp>
        <p:sp>
          <p:nvSpPr>
            <p:cNvPr id="51" name="TextBox 51"/>
            <p:cNvSpPr txBox="1"/>
            <p:nvPr/>
          </p:nvSpPr>
          <p:spPr>
            <a:xfrm>
              <a:off x="6089142" y="5893118"/>
              <a:ext cx="45557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May-Jun 2028 · Riverbend runs it, Lantern reviews and leaves</a:t>
              </a:r>
            </a:p>
          </p:txBody>
        </p:sp>
      </p:grpSp>
      <p:grpSp>
        <p:nvGrpSpPr>
          <p:cNvPr id="55" name="Group 55"/>
          <p:cNvGrpSpPr/>
          <p:nvPr/>
        </p:nvGrpSpPr>
        <p:grpSpPr>
          <a:xfrm>
            <a:off x="603504" y="6366510"/>
            <a:ext cx="6976401" cy="463296"/>
            <a:chOff x="603504" y="6366510"/>
            <a:chExt cx="6976401" cy="463296"/>
          </a:xfrm>
        </p:grpSpPr>
        <p:sp>
          <p:nvSpPr>
            <p:cNvPr id="53" name="TextBox 53"/>
            <p:cNvSpPr txBox="1"/>
            <p:nvPr/>
          </p:nvSpPr>
          <p:spPr>
            <a:xfrm>
              <a:off x="603504" y="6366510"/>
              <a:ext cx="6976401" cy="234696"/>
            </a:xfrm>
            <a:prstGeom prst="rect">
              <a:avLst/>
            </a:prstGeom>
            <a:noFill/>
            <a:ln>
              <a:noFill/>
            </a:ln>
          </p:spPr>
          <p:txBody>
            <a:bodyPr wrap="none" lIns="0" tIns="0" rIns="0" bIns="0" anchor="t" anchorCtr="0">
              <a:spAutoFit/>
            </a:bodyPr>
            <a:lstStyle/>
            <a:p>
              <a:pPr algn="l"/>
              <a:r>
                <a:rPr lang="en-US" sz="1200" dirty="0">
                  <a:solidFill>
                    <a:srgbClr val="B0722B"/>
                  </a:solidFill>
                  <a:latin typeface="+mn-lt"/>
                  <a:ea typeface="+mn-ea"/>
                  <a:cs typeface="+mn-cs"/>
                </a:rPr>
                <a:t>Every date, phase and hand-off term on this page is illustrative and would be fixed in a statement of work.</a:t>
              </a:r>
            </a:p>
          </p:txBody>
        </p:sp>
        <p:sp>
          <p:nvSpPr>
            <p:cNvPr id="54" name="TextBox 54"/>
            <p:cNvSpPr txBox="1"/>
            <p:nvPr/>
          </p:nvSpPr>
          <p:spPr>
            <a:xfrm>
              <a:off x="603504" y="6595110"/>
              <a:ext cx="599051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Deliverable on hand-off: a signed operating manual and a trained district attendance team.</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600" fill="hold"/>
                                        <p:tgtEl>
                                          <p:spTgt spid="31"/>
                                        </p:tgtEl>
                                        <p:attrNameLst>
                                          <p:attrName>ppt_w</p:attrName>
                                        </p:attrNameLst>
                                      </p:cBhvr>
                                      <p:tavLst>
                                        <p:tav tm="0">
                                          <p:val>
                                            <p:fltVal val="0"/>
                                          </p:val>
                                        </p:tav>
                                        <p:tav tm="100000">
                                          <p:val>
                                            <p:strVal val="#ppt_w"/>
                                          </p:val>
                                        </p:tav>
                                      </p:tavLst>
                                    </p:anim>
                                    <p:anim calcmode="lin" valueType="num">
                                      <p:cBhvr>
                                        <p:cTn id="8" dur="600" fill="hold"/>
                                        <p:tgtEl>
                                          <p:spTgt spid="31"/>
                                        </p:tgtEl>
                                        <p:attrNameLst>
                                          <p:attrName>ppt_h</p:attrName>
                                        </p:attrNameLst>
                                      </p:cBhvr>
                                      <p:tavLst>
                                        <p:tav tm="0">
                                          <p:val>
                                            <p:fltVal val="0"/>
                                          </p:val>
                                        </p:tav>
                                        <p:tav tm="100000">
                                          <p:val>
                                            <p:strVal val="#ppt_h"/>
                                          </p:val>
                                        </p:tav>
                                      </p:tavLst>
                                    </p:anim>
                                  </p:childTnLst>
                                </p:cTn>
                              </p:par>
                            </p:childTnLst>
                          </p:cTn>
                        </p:par>
                        <p:par>
                          <p:cTn id="9" fill="hold">
                            <p:stCondLst>
                              <p:cond delay="600"/>
                            </p:stCondLst>
                            <p:childTnLst>
                              <p:par>
                                <p:cTn id="10" presetID="22" presetClass="entr" presetSubtype="2" fill="hold" grpId="0" nodeType="afterEffect">
                                  <p:stCondLst>
                                    <p:cond delay="500"/>
                                  </p:stCondLst>
                                  <p:childTnLst>
                                    <p:set>
                                      <p:cBhvr>
                                        <p:cTn id="11" dur="1" fill="hold">
                                          <p:stCondLst>
                                            <p:cond delay="0"/>
                                          </p:stCondLst>
                                        </p:cTn>
                                        <p:tgtEl>
                                          <p:spTgt spid="34"/>
                                        </p:tgtEl>
                                        <p:attrNameLst>
                                          <p:attrName>style.visibility</p:attrName>
                                        </p:attrNameLst>
                                      </p:cBhvr>
                                      <p:to>
                                        <p:strVal val="visible"/>
                                      </p:to>
                                    </p:set>
                                    <p:animEffect transition="in" filter="wipe(right)">
                                      <p:cBhvr>
                                        <p:cTn id="12" dur="400"/>
                                        <p:tgtEl>
                                          <p:spTgt spid="34"/>
                                        </p:tgtEl>
                                      </p:cBhvr>
                                    </p:animEffect>
                                  </p:childTnLst>
                                </p:cTn>
                              </p:par>
                            </p:childTnLst>
                          </p:cTn>
                        </p:par>
                        <p:par>
                          <p:cTn id="13" fill="hold">
                            <p:stCondLst>
                              <p:cond delay="1500"/>
                            </p:stCondLst>
                            <p:childTnLst>
                              <p:par>
                                <p:cTn id="14" presetID="22" presetClass="entr" presetSubtype="2" fill="hold" grpId="0" nodeType="afterEffect">
                                  <p:stCondLst>
                                    <p:cond delay="500"/>
                                  </p:stCondLst>
                                  <p:childTnLst>
                                    <p:set>
                                      <p:cBhvr>
                                        <p:cTn id="15" dur="1" fill="hold">
                                          <p:stCondLst>
                                            <p:cond delay="0"/>
                                          </p:stCondLst>
                                        </p:cTn>
                                        <p:tgtEl>
                                          <p:spTgt spid="37"/>
                                        </p:tgtEl>
                                        <p:attrNameLst>
                                          <p:attrName>style.visibility</p:attrName>
                                        </p:attrNameLst>
                                      </p:cBhvr>
                                      <p:to>
                                        <p:strVal val="visible"/>
                                      </p:to>
                                    </p:set>
                                    <p:animEffect transition="in" filter="wipe(right)">
                                      <p:cBhvr>
                                        <p:cTn id="16" dur="400"/>
                                        <p:tgtEl>
                                          <p:spTgt spid="37"/>
                                        </p:tgtEl>
                                      </p:cBhvr>
                                    </p:animEffect>
                                  </p:childTnLst>
                                </p:cTn>
                              </p:par>
                            </p:childTnLst>
                          </p:cTn>
                        </p:par>
                        <p:par>
                          <p:cTn id="17" fill="hold">
                            <p:stCondLst>
                              <p:cond delay="2400"/>
                            </p:stCondLst>
                            <p:childTnLst>
                              <p:par>
                                <p:cTn id="18" presetID="22" presetClass="entr" presetSubtype="2" fill="hold" grpId="0" nodeType="afterEffect">
                                  <p:stCondLst>
                                    <p:cond delay="500"/>
                                  </p:stCondLst>
                                  <p:childTnLst>
                                    <p:set>
                                      <p:cBhvr>
                                        <p:cTn id="19" dur="1" fill="hold">
                                          <p:stCondLst>
                                            <p:cond delay="0"/>
                                          </p:stCondLst>
                                        </p:cTn>
                                        <p:tgtEl>
                                          <p:spTgt spid="40"/>
                                        </p:tgtEl>
                                        <p:attrNameLst>
                                          <p:attrName>style.visibility</p:attrName>
                                        </p:attrNameLst>
                                      </p:cBhvr>
                                      <p:to>
                                        <p:strVal val="visible"/>
                                      </p:to>
                                    </p:set>
                                    <p:animEffect transition="in" filter="wipe(right)">
                                      <p:cBhvr>
                                        <p:cTn id="20" dur="400"/>
                                        <p:tgtEl>
                                          <p:spTgt spid="40"/>
                                        </p:tgtEl>
                                      </p:cBhvr>
                                    </p:animEffect>
                                  </p:childTnLst>
                                </p:cTn>
                              </p:par>
                            </p:childTnLst>
                          </p:cTn>
                        </p:par>
                        <p:par>
                          <p:cTn id="21" fill="hold">
                            <p:stCondLst>
                              <p:cond delay="3300"/>
                            </p:stCondLst>
                            <p:childTnLst>
                              <p:par>
                                <p:cTn id="22" presetID="10" presetClass="entr" presetSubtype="0" fill="hold" grpId="0" nodeType="afterEffect">
                                  <p:stCondLst>
                                    <p:cond delay="30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500"/>
                                        <p:tgtEl>
                                          <p:spTgt spid="45"/>
                                        </p:tgtEl>
                                      </p:cBhvr>
                                    </p:animEffect>
                                  </p:childTnLst>
                                </p:cTn>
                              </p:par>
                            </p:childTnLst>
                          </p:cTn>
                        </p:par>
                        <p:par>
                          <p:cTn id="25" fill="hold">
                            <p:stCondLst>
                              <p:cond delay="4100"/>
                            </p:stCondLst>
                            <p:childTnLst>
                              <p:par>
                                <p:cTn id="26" presetID="10" presetClass="entr" presetSubtype="0" fill="hold" grpId="0" nodeType="afterEffect">
                                  <p:stCondLst>
                                    <p:cond delay="50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2233012"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SCOPE AND BOUNDARY</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353374" y="775335"/>
              <a:ext cx="1810103"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Illustrative dates and scope</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810219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boundary of what we are proposing</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8282629" cy="410718"/>
            <a:chOff x="598932" y="1868805"/>
            <a:chExt cx="8282629" cy="410718"/>
          </a:xfrm>
        </p:grpSpPr>
        <p:sp>
          <p:nvSpPr>
            <p:cNvPr id="9" name="TextBox 9"/>
            <p:cNvSpPr txBox="1"/>
            <p:nvPr/>
          </p:nvSpPr>
          <p:spPr>
            <a:xfrm>
              <a:off x="598932" y="1868805"/>
              <a:ext cx="828262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Nine deliverables, each </a:t>
              </a:r>
              <a:r>
                <a:rPr lang="en-US" sz="2100" b="1" dirty="0">
                  <a:solidFill>
                    <a:schemeClr val="accent1"/>
                  </a:solidFill>
                  <a:latin typeface="+mn-lt"/>
                  <a:ea typeface="+mn-ea"/>
                  <a:cs typeface="+mn-cs"/>
                </a:rPr>
                <a:t>included</a:t>
              </a:r>
              <a:r>
                <a:rPr lang="en-US" sz="2100" dirty="0">
                  <a:solidFill>
                    <a:schemeClr val="dk1"/>
                  </a:solidFill>
                  <a:latin typeface="+mn-lt"/>
                  <a:ea typeface="+mn-ea"/>
                  <a:cs typeface="+mn-cs"/>
                </a:rPr>
                <a:t>, optional at extra cost, or out of scope.</a:t>
              </a:r>
            </a:p>
          </p:txBody>
        </p:sp>
      </p:grpSp>
      <p:grpSp>
        <p:nvGrpSpPr>
          <p:cNvPr id="51" name="Group 51"/>
          <p:cNvGrpSpPr/>
          <p:nvPr/>
        </p:nvGrpSpPr>
        <p:grpSpPr>
          <a:xfrm>
            <a:off x="609600" y="2667000"/>
            <a:ext cx="7200900" cy="3099625"/>
            <a:chOff x="609600" y="2667000"/>
            <a:chExt cx="7200900" cy="3099625"/>
          </a:xfrm>
        </p:grpSpPr>
        <p:sp>
          <p:nvSpPr>
            <p:cNvPr id="11" name="Rectangle 11"/>
            <p:cNvSpPr/>
            <p:nvPr/>
          </p:nvSpPr>
          <p:spPr>
            <a:xfrm>
              <a:off x="609600" y="2667000"/>
              <a:ext cx="7200900" cy="342900"/>
            </a:xfrm>
            <a:prstGeom prst="rect">
              <a:avLst/>
            </a:prstGeom>
            <a:solidFill>
              <a:schemeClr val="accent1"/>
            </a:solidFill>
            <a:ln>
              <a:noFill/>
            </a:ln>
          </p:spPr>
        </p:sp>
        <p:sp>
          <p:nvSpPr>
            <p:cNvPr id="12" name="TextBox 12"/>
            <p:cNvSpPr txBox="1"/>
            <p:nvPr/>
          </p:nvSpPr>
          <p:spPr>
            <a:xfrm>
              <a:off x="717042" y="2749868"/>
              <a:ext cx="878906"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Deliverable</a:t>
              </a:r>
            </a:p>
          </p:txBody>
        </p:sp>
        <p:sp>
          <p:nvSpPr>
            <p:cNvPr id="13" name="TextBox 13"/>
            <p:cNvSpPr txBox="1"/>
            <p:nvPr/>
          </p:nvSpPr>
          <p:spPr>
            <a:xfrm>
              <a:off x="5066627" y="2749868"/>
              <a:ext cx="687147"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Year one</a:t>
              </a:r>
            </a:p>
          </p:txBody>
        </p:sp>
        <p:sp>
          <p:nvSpPr>
            <p:cNvPr id="14" name="TextBox 14"/>
            <p:cNvSpPr txBox="1"/>
            <p:nvPr/>
          </p:nvSpPr>
          <p:spPr>
            <a:xfrm>
              <a:off x="6662082" y="2749868"/>
              <a:ext cx="696637"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Year two</a:t>
              </a:r>
            </a:p>
          </p:txBody>
        </p:sp>
        <p:sp>
          <p:nvSpPr>
            <p:cNvPr id="15" name="TextBox 15"/>
            <p:cNvSpPr txBox="1"/>
            <p:nvPr/>
          </p:nvSpPr>
          <p:spPr>
            <a:xfrm>
              <a:off x="717042" y="3064192"/>
              <a:ext cx="16700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Attendance data audit</a:t>
              </a:r>
            </a:p>
          </p:txBody>
        </p:sp>
        <p:sp>
          <p:nvSpPr>
            <p:cNvPr id="16" name="TextBox 16"/>
            <p:cNvSpPr txBox="1"/>
            <p:nvPr/>
          </p:nvSpPr>
          <p:spPr>
            <a:xfrm>
              <a:off x="5082723" y="30641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17" name="TextBox 17"/>
            <p:cNvSpPr txBox="1"/>
            <p:nvPr/>
          </p:nvSpPr>
          <p:spPr>
            <a:xfrm>
              <a:off x="6682923" y="30641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18" name="Line 18"/>
            <p:cNvSpPr/>
            <p:nvPr/>
          </p:nvSpPr>
          <p:spPr>
            <a:xfrm>
              <a:off x="609600" y="33147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19" name="TextBox 19"/>
            <p:cNvSpPr txBox="1"/>
            <p:nvPr/>
          </p:nvSpPr>
          <p:spPr>
            <a:xfrm>
              <a:off x="717042" y="3368992"/>
              <a:ext cx="19179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Root-cause barrier survey</a:t>
              </a:r>
            </a:p>
          </p:txBody>
        </p:sp>
        <p:sp>
          <p:nvSpPr>
            <p:cNvPr id="20" name="TextBox 20"/>
            <p:cNvSpPr txBox="1"/>
            <p:nvPr/>
          </p:nvSpPr>
          <p:spPr>
            <a:xfrm>
              <a:off x="5082723" y="33689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21" name="TextBox 21"/>
            <p:cNvSpPr txBox="1"/>
            <p:nvPr/>
          </p:nvSpPr>
          <p:spPr>
            <a:xfrm>
              <a:off x="6527224" y="3368992"/>
              <a:ext cx="96635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Not included</a:t>
              </a:r>
            </a:p>
          </p:txBody>
        </p:sp>
        <p:sp>
          <p:nvSpPr>
            <p:cNvPr id="22" name="Line 22"/>
            <p:cNvSpPr/>
            <p:nvPr/>
          </p:nvSpPr>
          <p:spPr>
            <a:xfrm>
              <a:off x="609600" y="36195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23" name="TextBox 23"/>
            <p:cNvSpPr txBox="1"/>
            <p:nvPr/>
          </p:nvSpPr>
          <p:spPr>
            <a:xfrm>
              <a:off x="717042" y="3673792"/>
              <a:ext cx="23074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Early-warning threshold design</a:t>
              </a:r>
            </a:p>
          </p:txBody>
        </p:sp>
        <p:sp>
          <p:nvSpPr>
            <p:cNvPr id="24" name="TextBox 24"/>
            <p:cNvSpPr txBox="1"/>
            <p:nvPr/>
          </p:nvSpPr>
          <p:spPr>
            <a:xfrm>
              <a:off x="5082723" y="36737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25" name="TextBox 25"/>
            <p:cNvSpPr txBox="1"/>
            <p:nvPr/>
          </p:nvSpPr>
          <p:spPr>
            <a:xfrm>
              <a:off x="6682923" y="36737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26" name="Line 26"/>
            <p:cNvSpPr/>
            <p:nvPr/>
          </p:nvSpPr>
          <p:spPr>
            <a:xfrm>
              <a:off x="609600" y="39243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27" name="TextBox 27"/>
            <p:cNvSpPr txBox="1"/>
            <p:nvPr/>
          </p:nvSpPr>
          <p:spPr>
            <a:xfrm>
              <a:off x="717042" y="3978592"/>
              <a:ext cx="240958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Teacher dashboard specification</a:t>
              </a:r>
            </a:p>
          </p:txBody>
        </p:sp>
        <p:sp>
          <p:nvSpPr>
            <p:cNvPr id="28" name="TextBox 28"/>
            <p:cNvSpPr txBox="1"/>
            <p:nvPr/>
          </p:nvSpPr>
          <p:spPr>
            <a:xfrm>
              <a:off x="5082723" y="39785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29" name="TextBox 29"/>
            <p:cNvSpPr txBox="1"/>
            <p:nvPr/>
          </p:nvSpPr>
          <p:spPr>
            <a:xfrm>
              <a:off x="6682923" y="39785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30" name="Line 30"/>
            <p:cNvSpPr/>
            <p:nvPr/>
          </p:nvSpPr>
          <p:spPr>
            <a:xfrm>
              <a:off x="609600" y="42291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31" name="TextBox 31"/>
            <p:cNvSpPr txBox="1"/>
            <p:nvPr/>
          </p:nvSpPr>
          <p:spPr>
            <a:xfrm>
              <a:off x="717042" y="4283392"/>
              <a:ext cx="181224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Family contact playbook</a:t>
              </a:r>
            </a:p>
          </p:txBody>
        </p:sp>
        <p:sp>
          <p:nvSpPr>
            <p:cNvPr id="32" name="TextBox 32"/>
            <p:cNvSpPr txBox="1"/>
            <p:nvPr/>
          </p:nvSpPr>
          <p:spPr>
            <a:xfrm>
              <a:off x="5082723" y="42833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33" name="TextBox 33"/>
            <p:cNvSpPr txBox="1"/>
            <p:nvPr/>
          </p:nvSpPr>
          <p:spPr>
            <a:xfrm>
              <a:off x="6682923" y="42833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34" name="Line 34"/>
            <p:cNvSpPr/>
            <p:nvPr/>
          </p:nvSpPr>
          <p:spPr>
            <a:xfrm>
              <a:off x="609600" y="45339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35" name="TextBox 35"/>
            <p:cNvSpPr txBox="1"/>
            <p:nvPr/>
          </p:nvSpPr>
          <p:spPr>
            <a:xfrm>
              <a:off x="717042" y="4588192"/>
              <a:ext cx="214408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Site attendance lead training</a:t>
              </a:r>
            </a:p>
          </p:txBody>
        </p:sp>
        <p:sp>
          <p:nvSpPr>
            <p:cNvPr id="36" name="TextBox 36"/>
            <p:cNvSpPr txBox="1"/>
            <p:nvPr/>
          </p:nvSpPr>
          <p:spPr>
            <a:xfrm>
              <a:off x="5082723" y="45881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37" name="TextBox 37"/>
            <p:cNvSpPr txBox="1"/>
            <p:nvPr/>
          </p:nvSpPr>
          <p:spPr>
            <a:xfrm>
              <a:off x="6682923" y="45881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38" name="Line 38"/>
            <p:cNvSpPr/>
            <p:nvPr/>
          </p:nvSpPr>
          <p:spPr>
            <a:xfrm>
              <a:off x="609600" y="48387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39" name="TextBox 39"/>
            <p:cNvSpPr txBox="1"/>
            <p:nvPr/>
          </p:nvSpPr>
          <p:spPr>
            <a:xfrm>
              <a:off x="717042" y="4892992"/>
              <a:ext cx="148322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Home-visit protocol</a:t>
              </a:r>
            </a:p>
          </p:txBody>
        </p:sp>
        <p:sp>
          <p:nvSpPr>
            <p:cNvPr id="40" name="TextBox 40"/>
            <p:cNvSpPr txBox="1"/>
            <p:nvPr/>
          </p:nvSpPr>
          <p:spPr>
            <a:xfrm>
              <a:off x="5081844" y="4892992"/>
              <a:ext cx="656712" cy="264033"/>
            </a:xfrm>
            <a:prstGeom prst="rect">
              <a:avLst/>
            </a:prstGeom>
            <a:noFill/>
            <a:ln>
              <a:noFill/>
            </a:ln>
          </p:spPr>
          <p:txBody>
            <a:bodyPr wrap="none" lIns="0" tIns="0" rIns="0" bIns="0" anchor="t" anchorCtr="0">
              <a:spAutoFit/>
            </a:bodyPr>
            <a:lstStyle/>
            <a:p>
              <a:pPr algn="ctr"/>
              <a:r>
                <a:rPr lang="en-US" sz="1350" dirty="0">
                  <a:solidFill>
                    <a:srgbClr val="B0722B"/>
                  </a:solidFill>
                  <a:latin typeface="+mn-lt"/>
                  <a:ea typeface="+mn-ea"/>
                  <a:cs typeface="+mn-cs"/>
                </a:rPr>
                <a:t>Optional</a:t>
              </a:r>
            </a:p>
          </p:txBody>
        </p:sp>
        <p:sp>
          <p:nvSpPr>
            <p:cNvPr id="41" name="TextBox 41"/>
            <p:cNvSpPr txBox="1"/>
            <p:nvPr/>
          </p:nvSpPr>
          <p:spPr>
            <a:xfrm>
              <a:off x="6682923" y="48929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42" name="Line 42"/>
            <p:cNvSpPr/>
            <p:nvPr/>
          </p:nvSpPr>
          <p:spPr>
            <a:xfrm>
              <a:off x="609600" y="51435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43" name="TextBox 43"/>
            <p:cNvSpPr txBox="1"/>
            <p:nvPr/>
          </p:nvSpPr>
          <p:spPr>
            <a:xfrm>
              <a:off x="717042" y="5197792"/>
              <a:ext cx="239586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Community partner agreements</a:t>
              </a:r>
            </a:p>
          </p:txBody>
        </p:sp>
        <p:sp>
          <p:nvSpPr>
            <p:cNvPr id="44" name="TextBox 44"/>
            <p:cNvSpPr txBox="1"/>
            <p:nvPr/>
          </p:nvSpPr>
          <p:spPr>
            <a:xfrm>
              <a:off x="5081844" y="5197792"/>
              <a:ext cx="656712" cy="264033"/>
            </a:xfrm>
            <a:prstGeom prst="rect">
              <a:avLst/>
            </a:prstGeom>
            <a:noFill/>
            <a:ln>
              <a:noFill/>
            </a:ln>
          </p:spPr>
          <p:txBody>
            <a:bodyPr wrap="none" lIns="0" tIns="0" rIns="0" bIns="0" anchor="t" anchorCtr="0">
              <a:spAutoFit/>
            </a:bodyPr>
            <a:lstStyle/>
            <a:p>
              <a:pPr algn="ctr"/>
              <a:r>
                <a:rPr lang="en-US" sz="1350" dirty="0">
                  <a:solidFill>
                    <a:srgbClr val="B0722B"/>
                  </a:solidFill>
                  <a:latin typeface="+mn-lt"/>
                  <a:ea typeface="+mn-ea"/>
                  <a:cs typeface="+mn-cs"/>
                </a:rPr>
                <a:t>Optional</a:t>
              </a:r>
            </a:p>
          </p:txBody>
        </p:sp>
        <p:sp>
          <p:nvSpPr>
            <p:cNvPr id="45" name="TextBox 45"/>
            <p:cNvSpPr txBox="1"/>
            <p:nvPr/>
          </p:nvSpPr>
          <p:spPr>
            <a:xfrm>
              <a:off x="6682923" y="5197792"/>
              <a:ext cx="654955" cy="264033"/>
            </a:xfrm>
            <a:prstGeom prst="rect">
              <a:avLst/>
            </a:prstGeom>
            <a:noFill/>
            <a:ln>
              <a:noFill/>
            </a:ln>
          </p:spPr>
          <p:txBody>
            <a:bodyPr wrap="none" lIns="0" tIns="0" rIns="0" bIns="0" anchor="t" anchorCtr="0">
              <a:spAutoFit/>
            </a:bodyPr>
            <a:lstStyle/>
            <a:p>
              <a:pPr algn="ctr"/>
              <a:r>
                <a:rPr lang="en-US" sz="1350" dirty="0">
                  <a:solidFill>
                    <a:srgbClr val="2E7D32"/>
                  </a:solidFill>
                  <a:latin typeface="+mn-lt"/>
                  <a:ea typeface="+mn-ea"/>
                  <a:cs typeface="+mn-cs"/>
                </a:rPr>
                <a:t>Included</a:t>
              </a:r>
            </a:p>
          </p:txBody>
        </p:sp>
        <p:sp>
          <p:nvSpPr>
            <p:cNvPr id="46" name="Line 46"/>
            <p:cNvSpPr/>
            <p:nvPr/>
          </p:nvSpPr>
          <p:spPr>
            <a:xfrm>
              <a:off x="609600" y="5448300"/>
              <a:ext cx="7200900" cy="9525"/>
            </a:xfrm>
            <a:custGeom>
              <a:avLst/>
              <a:gdLst/>
              <a:ahLst/>
              <a:cxnLst/>
              <a:rect l="l" t="t" r="r" b="b"/>
              <a:pathLst>
                <a:path w="7200900" h="9525">
                  <a:moveTo>
                    <a:pt x="0" y="0"/>
                  </a:moveTo>
                  <a:lnTo>
                    <a:pt x="7200900" y="0"/>
                  </a:lnTo>
                </a:path>
              </a:pathLst>
            </a:custGeom>
            <a:noFill/>
            <a:ln w="9525">
              <a:solidFill>
                <a:srgbClr val="EAE5DD"/>
              </a:solidFill>
            </a:ln>
          </p:spPr>
        </p:sp>
        <p:sp>
          <p:nvSpPr>
            <p:cNvPr id="47" name="TextBox 47"/>
            <p:cNvSpPr txBox="1"/>
            <p:nvPr/>
          </p:nvSpPr>
          <p:spPr>
            <a:xfrm>
              <a:off x="717042" y="5502592"/>
              <a:ext cx="33520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Student information system integration build</a:t>
              </a:r>
            </a:p>
          </p:txBody>
        </p:sp>
        <p:sp>
          <p:nvSpPr>
            <p:cNvPr id="48" name="TextBox 48"/>
            <p:cNvSpPr txBox="1"/>
            <p:nvPr/>
          </p:nvSpPr>
          <p:spPr>
            <a:xfrm>
              <a:off x="4927024" y="5502592"/>
              <a:ext cx="96635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Not included</a:t>
              </a:r>
            </a:p>
          </p:txBody>
        </p:sp>
        <p:sp>
          <p:nvSpPr>
            <p:cNvPr id="49" name="TextBox 49"/>
            <p:cNvSpPr txBox="1"/>
            <p:nvPr/>
          </p:nvSpPr>
          <p:spPr>
            <a:xfrm>
              <a:off x="6527224" y="5502592"/>
              <a:ext cx="96635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Not included</a:t>
              </a:r>
            </a:p>
          </p:txBody>
        </p:sp>
        <p:sp>
          <p:nvSpPr>
            <p:cNvPr id="50" name="Line 50"/>
            <p:cNvSpPr/>
            <p:nvPr/>
          </p:nvSpPr>
          <p:spPr>
            <a:xfrm>
              <a:off x="609600" y="5753100"/>
              <a:ext cx="7200900" cy="9525"/>
            </a:xfrm>
            <a:custGeom>
              <a:avLst/>
              <a:gdLst/>
              <a:ahLst/>
              <a:cxnLst/>
              <a:rect l="l" t="t" r="r" b="b"/>
              <a:pathLst>
                <a:path w="7200900" h="9525">
                  <a:moveTo>
                    <a:pt x="0" y="0"/>
                  </a:moveTo>
                  <a:lnTo>
                    <a:pt x="7200900" y="0"/>
                  </a:lnTo>
                </a:path>
              </a:pathLst>
            </a:custGeom>
            <a:noFill/>
            <a:ln w="9525">
              <a:solidFill>
                <a:srgbClr val="EAE5DD"/>
              </a:solidFill>
            </a:ln>
          </p:spPr>
        </p:sp>
      </p:grpSp>
      <p:grpSp>
        <p:nvGrpSpPr>
          <p:cNvPr id="58" name="Group 58"/>
          <p:cNvGrpSpPr/>
          <p:nvPr/>
        </p:nvGrpSpPr>
        <p:grpSpPr>
          <a:xfrm>
            <a:off x="638175" y="5950268"/>
            <a:ext cx="5521968" cy="264033"/>
            <a:chOff x="638175" y="5950268"/>
            <a:chExt cx="5521968" cy="264033"/>
          </a:xfrm>
        </p:grpSpPr>
        <p:sp>
          <p:nvSpPr>
            <p:cNvPr id="52" name="Ellipse 52"/>
            <p:cNvSpPr/>
            <p:nvPr/>
          </p:nvSpPr>
          <p:spPr>
            <a:xfrm>
              <a:off x="638175" y="5972175"/>
              <a:ext cx="133350" cy="133350"/>
            </a:xfrm>
            <a:prstGeom prst="ellipse">
              <a:avLst/>
            </a:prstGeom>
            <a:solidFill>
              <a:srgbClr val="2E7D32"/>
            </a:solidFill>
            <a:ln>
              <a:noFill/>
            </a:ln>
          </p:spPr>
        </p:sp>
        <p:sp>
          <p:nvSpPr>
            <p:cNvPr id="53" name="TextBox 53"/>
            <p:cNvSpPr txBox="1"/>
            <p:nvPr/>
          </p:nvSpPr>
          <p:spPr>
            <a:xfrm>
              <a:off x="850392" y="5950268"/>
              <a:ext cx="65495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Included</a:t>
              </a:r>
            </a:p>
          </p:txBody>
        </p:sp>
        <p:sp>
          <p:nvSpPr>
            <p:cNvPr id="54" name="Ellipse 54"/>
            <p:cNvSpPr/>
            <p:nvPr/>
          </p:nvSpPr>
          <p:spPr>
            <a:xfrm>
              <a:off x="2219325" y="5972175"/>
              <a:ext cx="133350" cy="133350"/>
            </a:xfrm>
            <a:prstGeom prst="ellipse">
              <a:avLst/>
            </a:prstGeom>
            <a:solidFill>
              <a:srgbClr val="B0722B"/>
            </a:solidFill>
            <a:ln>
              <a:noFill/>
            </a:ln>
          </p:spPr>
        </p:sp>
        <p:sp>
          <p:nvSpPr>
            <p:cNvPr id="55" name="TextBox 55"/>
            <p:cNvSpPr txBox="1"/>
            <p:nvPr/>
          </p:nvSpPr>
          <p:spPr>
            <a:xfrm>
              <a:off x="2431542" y="5950268"/>
              <a:ext cx="19750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Optional at additional cost</a:t>
              </a:r>
            </a:p>
          </p:txBody>
        </p:sp>
        <p:sp>
          <p:nvSpPr>
            <p:cNvPr id="56" name="Ellipse 56"/>
            <p:cNvSpPr/>
            <p:nvPr/>
          </p:nvSpPr>
          <p:spPr>
            <a:xfrm>
              <a:off x="4981575" y="5972175"/>
              <a:ext cx="133350" cy="133350"/>
            </a:xfrm>
            <a:prstGeom prst="ellipse">
              <a:avLst/>
            </a:prstGeom>
            <a:solidFill>
              <a:srgbClr val="5A6368"/>
            </a:solidFill>
            <a:ln>
              <a:noFill/>
            </a:ln>
          </p:spPr>
        </p:sp>
        <p:sp>
          <p:nvSpPr>
            <p:cNvPr id="57" name="TextBox 57"/>
            <p:cNvSpPr txBox="1"/>
            <p:nvPr/>
          </p:nvSpPr>
          <p:spPr>
            <a:xfrm>
              <a:off x="5193792" y="5950268"/>
              <a:ext cx="96635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Not included</a:t>
              </a:r>
            </a:p>
          </p:txBody>
        </p:sp>
      </p:grpSp>
      <p:grpSp>
        <p:nvGrpSpPr>
          <p:cNvPr id="83" name="Group 83"/>
          <p:cNvGrpSpPr/>
          <p:nvPr/>
        </p:nvGrpSpPr>
        <p:grpSpPr>
          <a:xfrm>
            <a:off x="8185404" y="2594610"/>
            <a:ext cx="3396996" cy="2167890"/>
            <a:chOff x="8185404" y="2594610"/>
            <a:chExt cx="3396996" cy="2167890"/>
          </a:xfrm>
        </p:grpSpPr>
        <p:sp>
          <p:nvSpPr>
            <p:cNvPr id="59" name="TextBox 59"/>
            <p:cNvSpPr txBox="1"/>
            <p:nvPr/>
          </p:nvSpPr>
          <p:spPr>
            <a:xfrm>
              <a:off x="8185404" y="2594610"/>
              <a:ext cx="2913342"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WHAT ONLY RIVERBEND CAN SUPPLY</a:t>
              </a:r>
            </a:p>
          </p:txBody>
        </p:sp>
        <p:sp>
          <p:nvSpPr>
            <p:cNvPr id="60" name="Freeform 60"/>
            <p:cNvSpPr/>
            <p:nvPr/>
          </p:nvSpPr>
          <p:spPr>
            <a:xfrm>
              <a:off x="8191500" y="2819400"/>
              <a:ext cx="3390900" cy="1943100"/>
            </a:xfrm>
            <a:prstGeom prst="bracketPair">
              <a:avLst/>
            </a:prstGeom>
            <a:noFill/>
            <a:ln w="19050">
              <a:solidFill>
                <a:schemeClr val="accent3"/>
              </a:solidFill>
            </a:ln>
          </p:spPr>
        </p:sp>
        <p:grpSp>
          <p:nvGrpSpPr>
            <p:cNvPr id="63" name="Group 63"/>
            <p:cNvGrpSpPr/>
            <p:nvPr/>
          </p:nvGrpSpPr>
          <p:grpSpPr>
            <a:xfrm>
              <a:off x="8455025" y="3122612"/>
              <a:ext cx="158749" cy="79375"/>
              <a:chOff x="8455025" y="3122612"/>
              <a:chExt cx="158749" cy="79375"/>
            </a:xfrm>
          </p:grpSpPr>
          <p:sp>
            <p:nvSpPr>
              <p:cNvPr id="61" name="Freeform 61"/>
              <p:cNvSpPr/>
              <p:nvPr/>
            </p:nvSpPr>
            <p:spPr>
              <a:xfrm>
                <a:off x="8494712" y="3122612"/>
                <a:ext cx="119062" cy="79375"/>
              </a:xfrm>
              <a:custGeom>
                <a:avLst/>
                <a:gdLst/>
                <a:ahLst/>
                <a:cxnLst/>
                <a:rect l="l" t="t" r="r" b="b"/>
                <a:pathLst>
                  <a:path w="119062" h="79375">
                    <a:moveTo>
                      <a:pt x="0" y="39687"/>
                    </a:moveTo>
                    <a:lnTo>
                      <a:pt x="39687" y="79375"/>
                    </a:lnTo>
                    <a:lnTo>
                      <a:pt x="119062" y="0"/>
                    </a:lnTo>
                  </a:path>
                </a:pathLst>
              </a:custGeom>
              <a:noFill/>
              <a:ln w="15875">
                <a:solidFill>
                  <a:schemeClr val="accent3"/>
                </a:solidFill>
              </a:ln>
            </p:spPr>
          </p:sp>
          <p:sp>
            <p:nvSpPr>
              <p:cNvPr id="62" name="Freeform 62"/>
              <p:cNvSpPr/>
              <p:nvPr/>
            </p:nvSpPr>
            <p:spPr>
              <a:xfrm>
                <a:off x="8455025" y="3122612"/>
                <a:ext cx="119062" cy="79375"/>
              </a:xfrm>
              <a:custGeom>
                <a:avLst/>
                <a:gdLst/>
                <a:ahLst/>
                <a:cxnLst/>
                <a:rect l="l" t="t" r="r" b="b"/>
                <a:pathLst>
                  <a:path w="119062" h="79375">
                    <a:moveTo>
                      <a:pt x="0" y="39687"/>
                    </a:moveTo>
                    <a:lnTo>
                      <a:pt x="39687" y="79375"/>
                    </a:lnTo>
                    <a:moveTo>
                      <a:pt x="79375" y="39687"/>
                    </a:moveTo>
                    <a:lnTo>
                      <a:pt x="119062" y="0"/>
                    </a:lnTo>
                  </a:path>
                </a:pathLst>
              </a:custGeom>
              <a:noFill/>
              <a:ln w="15875">
                <a:solidFill>
                  <a:schemeClr val="accent3"/>
                </a:solidFill>
              </a:ln>
            </p:spPr>
          </p:sp>
        </p:grpSp>
        <p:sp>
          <p:nvSpPr>
            <p:cNvPr id="64" name="TextBox 64"/>
            <p:cNvSpPr txBox="1"/>
            <p:nvPr/>
          </p:nvSpPr>
          <p:spPr>
            <a:xfrm>
              <a:off x="8718042" y="3073718"/>
              <a:ext cx="221966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Data access within two weeks</a:t>
              </a:r>
            </a:p>
          </p:txBody>
        </p:sp>
        <p:grpSp>
          <p:nvGrpSpPr>
            <p:cNvPr id="68" name="Group 68"/>
            <p:cNvGrpSpPr/>
            <p:nvPr/>
          </p:nvGrpSpPr>
          <p:grpSpPr>
            <a:xfrm>
              <a:off x="8486775" y="3509962"/>
              <a:ext cx="119062" cy="142875"/>
              <a:chOff x="8486775" y="3509962"/>
              <a:chExt cx="119062" cy="142875"/>
            </a:xfrm>
          </p:grpSpPr>
          <p:sp>
            <p:nvSpPr>
              <p:cNvPr id="65" name="Freeform 65"/>
              <p:cNvSpPr/>
              <p:nvPr/>
            </p:nvSpPr>
            <p:spPr>
              <a:xfrm>
                <a:off x="8502650" y="3509962"/>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5875">
                <a:solidFill>
                  <a:schemeClr val="accent3"/>
                </a:solidFill>
              </a:ln>
            </p:spPr>
          </p:sp>
          <p:sp>
            <p:nvSpPr>
              <p:cNvPr id="66" name="Freeform 66"/>
              <p:cNvSpPr/>
              <p:nvPr/>
            </p:nvSpPr>
            <p:spPr>
              <a:xfrm>
                <a:off x="8486775" y="3605212"/>
                <a:ext cx="63500" cy="47625"/>
              </a:xfrm>
              <a:custGeom>
                <a:avLst/>
                <a:gdLst/>
                <a:ahLst/>
                <a:cxnLst/>
                <a:rect l="l" t="t" r="r" b="b"/>
                <a:pathLst>
                  <a:path w="63500" h="47625">
                    <a:moveTo>
                      <a:pt x="0" y="47625"/>
                    </a:moveTo>
                    <a:lnTo>
                      <a:pt x="0" y="31750"/>
                    </a:lnTo>
                    <a:cubicBezTo>
                      <a:pt x="0" y="14215"/>
                      <a:pt x="14215" y="0"/>
                      <a:pt x="31750" y="0"/>
                    </a:cubicBezTo>
                    <a:lnTo>
                      <a:pt x="63500" y="0"/>
                    </a:lnTo>
                  </a:path>
                </a:pathLst>
              </a:custGeom>
              <a:noFill/>
              <a:ln w="15875">
                <a:solidFill>
                  <a:schemeClr val="accent3"/>
                </a:solidFill>
              </a:ln>
            </p:spPr>
          </p:sp>
          <p:sp>
            <p:nvSpPr>
              <p:cNvPr id="67" name="Freeform 67"/>
              <p:cNvSpPr/>
              <p:nvPr/>
            </p:nvSpPr>
            <p:spPr>
              <a:xfrm>
                <a:off x="8558212" y="3621087"/>
                <a:ext cx="47625" cy="31750"/>
              </a:xfrm>
              <a:custGeom>
                <a:avLst/>
                <a:gdLst/>
                <a:ahLst/>
                <a:cxnLst/>
                <a:rect l="l" t="t" r="r" b="b"/>
                <a:pathLst>
                  <a:path w="47625" h="31750">
                    <a:moveTo>
                      <a:pt x="0" y="15875"/>
                    </a:moveTo>
                    <a:lnTo>
                      <a:pt x="15875" y="31750"/>
                    </a:lnTo>
                    <a:lnTo>
                      <a:pt x="47625" y="0"/>
                    </a:lnTo>
                  </a:path>
                </a:pathLst>
              </a:custGeom>
              <a:noFill/>
              <a:ln w="15875">
                <a:solidFill>
                  <a:schemeClr val="accent3"/>
                </a:solidFill>
              </a:ln>
            </p:spPr>
          </p:sp>
        </p:grpSp>
        <p:sp>
          <p:nvSpPr>
            <p:cNvPr id="69" name="TextBox 69"/>
            <p:cNvSpPr txBox="1"/>
            <p:nvPr/>
          </p:nvSpPr>
          <p:spPr>
            <a:xfrm>
              <a:off x="8718042" y="3492818"/>
              <a:ext cx="205617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 named executive sponsor</a:t>
              </a:r>
            </a:p>
          </p:txBody>
        </p:sp>
        <p:grpSp>
          <p:nvGrpSpPr>
            <p:cNvPr id="72" name="Group 72"/>
            <p:cNvGrpSpPr/>
            <p:nvPr/>
          </p:nvGrpSpPr>
          <p:grpSpPr>
            <a:xfrm>
              <a:off x="8462962" y="3929062"/>
              <a:ext cx="142875" cy="142875"/>
              <a:chOff x="8462962" y="3929062"/>
              <a:chExt cx="142875" cy="142875"/>
            </a:xfrm>
          </p:grpSpPr>
          <p:sp>
            <p:nvSpPr>
              <p:cNvPr id="70" name="Freeform 70"/>
              <p:cNvSpPr/>
              <p:nvPr/>
            </p:nvSpPr>
            <p:spPr>
              <a:xfrm>
                <a:off x="8462962" y="39290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chemeClr val="accent3"/>
                </a:solidFill>
              </a:ln>
            </p:spPr>
          </p:sp>
          <p:sp>
            <p:nvSpPr>
              <p:cNvPr id="71" name="Freeform 71"/>
              <p:cNvSpPr/>
              <p:nvPr/>
            </p:nvSpPr>
            <p:spPr>
              <a:xfrm>
                <a:off x="8534400" y="3960812"/>
                <a:ext cx="23812" cy="63500"/>
              </a:xfrm>
              <a:custGeom>
                <a:avLst/>
                <a:gdLst/>
                <a:ahLst/>
                <a:cxnLst/>
                <a:rect l="l" t="t" r="r" b="b"/>
                <a:pathLst>
                  <a:path w="23812" h="63500">
                    <a:moveTo>
                      <a:pt x="0" y="0"/>
                    </a:moveTo>
                    <a:lnTo>
                      <a:pt x="0" y="39687"/>
                    </a:lnTo>
                    <a:lnTo>
                      <a:pt x="23812" y="63500"/>
                    </a:lnTo>
                  </a:path>
                </a:pathLst>
              </a:custGeom>
              <a:noFill/>
              <a:ln w="15875">
                <a:solidFill>
                  <a:schemeClr val="accent3"/>
                </a:solidFill>
              </a:ln>
            </p:spPr>
          </p:sp>
        </p:grpSp>
        <p:sp>
          <p:nvSpPr>
            <p:cNvPr id="73" name="TextBox 73"/>
            <p:cNvSpPr txBox="1"/>
            <p:nvPr/>
          </p:nvSpPr>
          <p:spPr>
            <a:xfrm>
              <a:off x="8718042" y="3911918"/>
              <a:ext cx="205087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Released time for site leads</a:t>
              </a:r>
            </a:p>
          </p:txBody>
        </p:sp>
        <p:grpSp>
          <p:nvGrpSpPr>
            <p:cNvPr id="81" name="Group 81"/>
            <p:cNvGrpSpPr/>
            <p:nvPr/>
          </p:nvGrpSpPr>
          <p:grpSpPr>
            <a:xfrm>
              <a:off x="8470900" y="4348162"/>
              <a:ext cx="142875" cy="150813"/>
              <a:chOff x="8470900" y="4348162"/>
              <a:chExt cx="142875" cy="150813"/>
            </a:xfrm>
          </p:grpSpPr>
          <p:sp>
            <p:nvSpPr>
              <p:cNvPr id="74" name="Freeform 74"/>
              <p:cNvSpPr/>
              <p:nvPr/>
            </p:nvSpPr>
            <p:spPr>
              <a:xfrm>
                <a:off x="8470900" y="4364037"/>
                <a:ext cx="61095" cy="127000"/>
              </a:xfrm>
              <a:custGeom>
                <a:avLst/>
                <a:gdLst/>
                <a:ahLst/>
                <a:cxnLst/>
                <a:rect l="l" t="t" r="r" b="b"/>
                <a:pathLst>
                  <a:path w="61095" h="127000">
                    <a:moveTo>
                      <a:pt x="31750" y="0"/>
                    </a:moveTo>
                    <a:lnTo>
                      <a:pt x="15875" y="0"/>
                    </a:lnTo>
                    <a:cubicBezTo>
                      <a:pt x="7107" y="0"/>
                      <a:pt x="0" y="7107"/>
                      <a:pt x="0" y="15875"/>
                    </a:cubicBezTo>
                    <a:lnTo>
                      <a:pt x="0" y="111125"/>
                    </a:lnTo>
                    <a:cubicBezTo>
                      <a:pt x="0" y="119892"/>
                      <a:pt x="7107" y="127000"/>
                      <a:pt x="15875" y="127000"/>
                    </a:cubicBezTo>
                    <a:lnTo>
                      <a:pt x="61095" y="127000"/>
                    </a:lnTo>
                  </a:path>
                </a:pathLst>
              </a:custGeom>
              <a:noFill/>
              <a:ln w="15875">
                <a:solidFill>
                  <a:schemeClr val="accent3"/>
                </a:solidFill>
              </a:ln>
            </p:spPr>
          </p:sp>
          <p:sp>
            <p:nvSpPr>
              <p:cNvPr id="75" name="Freeform 75"/>
              <p:cNvSpPr/>
              <p:nvPr/>
            </p:nvSpPr>
            <p:spPr>
              <a:xfrm>
                <a:off x="8582025" y="4435475"/>
                <a:ext cx="31750" cy="31750"/>
              </a:xfrm>
              <a:custGeom>
                <a:avLst/>
                <a:gdLst/>
                <a:ahLst/>
                <a:cxnLst/>
                <a:rect l="l" t="t" r="r" b="b"/>
                <a:pathLst>
                  <a:path w="31750" h="31750">
                    <a:moveTo>
                      <a:pt x="0" y="0"/>
                    </a:moveTo>
                    <a:lnTo>
                      <a:pt x="0" y="31750"/>
                    </a:lnTo>
                    <a:lnTo>
                      <a:pt x="31750" y="31750"/>
                    </a:lnTo>
                  </a:path>
                </a:pathLst>
              </a:custGeom>
              <a:noFill/>
              <a:ln w="15875">
                <a:solidFill>
                  <a:schemeClr val="accent3"/>
                </a:solidFill>
              </a:ln>
            </p:spPr>
          </p:sp>
          <p:sp>
            <p:nvSpPr>
              <p:cNvPr id="76" name="Freeform 76"/>
              <p:cNvSpPr/>
              <p:nvPr/>
            </p:nvSpPr>
            <p:spPr>
              <a:xfrm>
                <a:off x="8550275" y="4364037"/>
                <a:ext cx="31750" cy="47625"/>
              </a:xfrm>
              <a:custGeom>
                <a:avLst/>
                <a:gdLst/>
                <a:ahLst/>
                <a:cxnLst/>
                <a:rect l="l" t="t" r="r" b="b"/>
                <a:pathLst>
                  <a:path w="31750" h="47625">
                    <a:moveTo>
                      <a:pt x="31750" y="47625"/>
                    </a:moveTo>
                    <a:lnTo>
                      <a:pt x="31750" y="15875"/>
                    </a:lnTo>
                    <a:cubicBezTo>
                      <a:pt x="31750" y="7107"/>
                      <a:pt x="24643" y="0"/>
                      <a:pt x="15875" y="0"/>
                    </a:cubicBezTo>
                    <a:lnTo>
                      <a:pt x="0" y="0"/>
                    </a:lnTo>
                  </a:path>
                </a:pathLst>
              </a:custGeom>
              <a:noFill/>
              <a:ln w="15875">
                <a:solidFill>
                  <a:schemeClr val="accent3"/>
                </a:solidFill>
              </a:ln>
            </p:spPr>
          </p:sp>
          <p:sp>
            <p:nvSpPr>
              <p:cNvPr id="77" name="Freeform 77"/>
              <p:cNvSpPr/>
              <p:nvPr/>
            </p:nvSpPr>
            <p:spPr>
              <a:xfrm>
                <a:off x="8502650" y="4348162"/>
                <a:ext cx="47625" cy="31750"/>
              </a:xfrm>
              <a:custGeom>
                <a:avLst/>
                <a:gdLst/>
                <a:ahLst/>
                <a:cxnLst/>
                <a:rect l="l" t="t" r="r" b="b"/>
                <a:pathLst>
                  <a:path w="47625" h="31750">
                    <a:moveTo>
                      <a:pt x="0" y="15875"/>
                    </a:moveTo>
                    <a:cubicBezTo>
                      <a:pt x="0" y="7107"/>
                      <a:pt x="7107" y="0"/>
                      <a:pt x="15875" y="0"/>
                    </a:cubicBezTo>
                    <a:lnTo>
                      <a:pt x="31750" y="0"/>
                    </a:lnTo>
                    <a:cubicBezTo>
                      <a:pt x="40518" y="0"/>
                      <a:pt x="47625" y="7107"/>
                      <a:pt x="47625" y="15875"/>
                    </a:cubicBezTo>
                    <a:cubicBezTo>
                      <a:pt x="47625" y="24643"/>
                      <a:pt x="40518" y="31750"/>
                      <a:pt x="31750" y="31750"/>
                    </a:cubicBezTo>
                    <a:lnTo>
                      <a:pt x="15875" y="31750"/>
                    </a:lnTo>
                    <a:cubicBezTo>
                      <a:pt x="7107" y="31750"/>
                      <a:pt x="0" y="24643"/>
                      <a:pt x="0" y="15875"/>
                    </a:cubicBezTo>
                  </a:path>
                </a:pathLst>
              </a:custGeom>
              <a:noFill/>
              <a:ln w="15875">
                <a:solidFill>
                  <a:schemeClr val="accent3"/>
                </a:solidFill>
              </a:ln>
            </p:spPr>
          </p:sp>
          <p:sp>
            <p:nvSpPr>
              <p:cNvPr id="78" name="Freeform 78"/>
              <p:cNvSpPr/>
              <p:nvPr/>
            </p:nvSpPr>
            <p:spPr>
              <a:xfrm>
                <a:off x="8550275" y="443547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5875">
                <a:solidFill>
                  <a:schemeClr val="accent3"/>
                </a:solidFill>
              </a:ln>
            </p:spPr>
          </p:sp>
          <p:sp>
            <p:nvSpPr>
              <p:cNvPr id="79" name="Freeform 79"/>
              <p:cNvSpPr/>
              <p:nvPr/>
            </p:nvSpPr>
            <p:spPr>
              <a:xfrm>
                <a:off x="8502650" y="4411662"/>
                <a:ext cx="31750" cy="9525"/>
              </a:xfrm>
              <a:custGeom>
                <a:avLst/>
                <a:gdLst/>
                <a:ahLst/>
                <a:cxnLst/>
                <a:rect l="l" t="t" r="r" b="b"/>
                <a:pathLst>
                  <a:path w="31750" h="9525">
                    <a:moveTo>
                      <a:pt x="0" y="0"/>
                    </a:moveTo>
                    <a:lnTo>
                      <a:pt x="31750" y="0"/>
                    </a:lnTo>
                  </a:path>
                </a:pathLst>
              </a:custGeom>
              <a:noFill/>
              <a:ln w="15875">
                <a:solidFill>
                  <a:schemeClr val="accent3"/>
                </a:solidFill>
              </a:ln>
            </p:spPr>
          </p:sp>
          <p:sp>
            <p:nvSpPr>
              <p:cNvPr id="80" name="Freeform 80"/>
              <p:cNvSpPr/>
              <p:nvPr/>
            </p:nvSpPr>
            <p:spPr>
              <a:xfrm>
                <a:off x="8502650" y="4443412"/>
                <a:ext cx="23812" cy="9525"/>
              </a:xfrm>
              <a:custGeom>
                <a:avLst/>
                <a:gdLst/>
                <a:ahLst/>
                <a:cxnLst/>
                <a:rect l="l" t="t" r="r" b="b"/>
                <a:pathLst>
                  <a:path w="23812" h="9525">
                    <a:moveTo>
                      <a:pt x="0" y="0"/>
                    </a:moveTo>
                    <a:lnTo>
                      <a:pt x="23812" y="0"/>
                    </a:lnTo>
                  </a:path>
                </a:pathLst>
              </a:custGeom>
              <a:noFill/>
              <a:ln w="15875">
                <a:solidFill>
                  <a:schemeClr val="accent3"/>
                </a:solidFill>
              </a:ln>
            </p:spPr>
          </p:sp>
        </p:grpSp>
        <p:sp>
          <p:nvSpPr>
            <p:cNvPr id="82" name="TextBox 82"/>
            <p:cNvSpPr txBox="1"/>
            <p:nvPr/>
          </p:nvSpPr>
          <p:spPr>
            <a:xfrm>
              <a:off x="8718042" y="4331018"/>
              <a:ext cx="22114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Family-contact consent policy</a:t>
              </a:r>
            </a:p>
          </p:txBody>
        </p:sp>
      </p:grpSp>
      <p:grpSp>
        <p:nvGrpSpPr>
          <p:cNvPr id="86" name="Group 86"/>
          <p:cNvGrpSpPr/>
          <p:nvPr/>
        </p:nvGrpSpPr>
        <p:grpSpPr>
          <a:xfrm>
            <a:off x="8184642" y="5054918"/>
            <a:ext cx="2315707" cy="1064133"/>
            <a:chOff x="8184642" y="5054918"/>
            <a:chExt cx="2315707" cy="1064133"/>
          </a:xfrm>
        </p:grpSpPr>
        <p:sp>
          <p:nvSpPr>
            <p:cNvPr id="84" name="TextBox 84"/>
            <p:cNvSpPr txBox="1"/>
            <p:nvPr/>
          </p:nvSpPr>
          <p:spPr>
            <a:xfrm>
              <a:off x="8184642" y="5054918"/>
              <a:ext cx="2315707"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Not included: the student</a:t>
              </a:r>
              <a:br/>
              <a:r>
                <a:rPr lang="en-US" sz="1350" dirty="0">
                  <a:solidFill>
                    <a:schemeClr val="dk1"/>
                  </a:solidFill>
                  <a:latin typeface="+mn-lt"/>
                  <a:ea typeface="+mn-ea"/>
                  <a:cs typeface="+mn-cs"/>
                </a:rPr>
                <a:t>information system integration</a:t>
              </a:r>
              <a:br/>
              <a:r>
                <a:rPr lang="en-US" sz="1350" dirty="0">
                  <a:solidFill>
                    <a:schemeClr val="dk1"/>
                  </a:solidFill>
                  <a:latin typeface="+mn-lt"/>
                  <a:ea typeface="+mn-ea"/>
                  <a:cs typeface="+mn-cs"/>
                </a:rPr>
                <a:t>build is a district IT procurement.</a:t>
              </a:r>
            </a:p>
          </p:txBody>
        </p:sp>
        <p:sp>
          <p:nvSpPr>
            <p:cNvPr id="85" name="TextBox 85"/>
            <p:cNvSpPr txBox="1"/>
            <p:nvPr/>
          </p:nvSpPr>
          <p:spPr>
            <a:xfrm>
              <a:off x="8184642" y="5855018"/>
              <a:ext cx="2008320" cy="264033"/>
            </a:xfrm>
            <a:prstGeom prst="rect">
              <a:avLst/>
            </a:prstGeom>
            <a:noFill/>
            <a:ln>
              <a:noFill/>
            </a:ln>
          </p:spPr>
          <p:txBody>
            <a:bodyPr wrap="none" lIns="0" tIns="0" rIns="0" bIns="0" anchor="t" anchorCtr="0">
              <a:spAutoFit/>
            </a:bodyPr>
            <a:lstStyle/>
            <a:p>
              <a:pPr algn="l"/>
              <a:r>
                <a:rPr lang="en-US" sz="1350" dirty="0">
                  <a:solidFill>
                    <a:srgbClr val="B0722B"/>
                  </a:solidFill>
                  <a:latin typeface="+mn-lt"/>
                  <a:ea typeface="+mn-ea"/>
                  <a:cs typeface="+mn-cs"/>
                </a:rPr>
                <a:t>Scope shown is illustrative.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40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500"/>
                                        <p:tgtEl>
                                          <p:spTgt spid="83"/>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6"/>
                                        </p:tgtEl>
                                        <p:attrNameLst>
                                          <p:attrName>style.visibility</p:attrName>
                                        </p:attrNameLst>
                                      </p:cBhvr>
                                      <p:to>
                                        <p:strVal val="visible"/>
                                      </p:to>
                                    </p:set>
                                    <p:animEffect transition="in" filter="fade">
                                      <p:cBhvr>
                                        <p:cTn id="11"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2019727"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COMMERCIAL TERMS</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369557" y="775335"/>
              <a:ext cx="1777737"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All amounts are illustrative</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974129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$312,000 over two years, year two conditional</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6384909" cy="410718"/>
            <a:chOff x="598932" y="1868805"/>
            <a:chExt cx="6384909" cy="410718"/>
          </a:xfrm>
        </p:grpSpPr>
        <p:sp>
          <p:nvSpPr>
            <p:cNvPr id="9" name="TextBox 9"/>
            <p:cNvSpPr txBox="1"/>
            <p:nvPr/>
          </p:nvSpPr>
          <p:spPr>
            <a:xfrm>
              <a:off x="598932" y="1868805"/>
              <a:ext cx="638490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Fixed fee by phase, payable on </a:t>
              </a:r>
              <a:r>
                <a:rPr lang="en-US" sz="2100" b="1" dirty="0">
                  <a:solidFill>
                    <a:schemeClr val="accent1"/>
                  </a:solidFill>
                  <a:latin typeface="+mn-lt"/>
                  <a:ea typeface="+mn-ea"/>
                  <a:cs typeface="+mn-cs"/>
                </a:rPr>
                <a:t>deliverable acceptance</a:t>
              </a:r>
              <a:r>
                <a:rPr lang="en-US" sz="2100" dirty="0">
                  <a:solidFill>
                    <a:schemeClr val="dk1"/>
                  </a:solidFill>
                  <a:latin typeface="+mn-lt"/>
                  <a:ea typeface="+mn-ea"/>
                  <a:cs typeface="+mn-cs"/>
                </a:rPr>
                <a:t>.</a:t>
              </a:r>
            </a:p>
          </p:txBody>
        </p:sp>
      </p:grpSp>
      <p:grpSp>
        <p:nvGrpSpPr>
          <p:cNvPr id="48" name="Group 48"/>
          <p:cNvGrpSpPr/>
          <p:nvPr/>
        </p:nvGrpSpPr>
        <p:grpSpPr>
          <a:xfrm>
            <a:off x="609600" y="2590800"/>
            <a:ext cx="6629400" cy="3547301"/>
            <a:chOff x="609600" y="2590800"/>
            <a:chExt cx="6629400" cy="3547301"/>
          </a:xfrm>
        </p:grpSpPr>
        <p:sp>
          <p:nvSpPr>
            <p:cNvPr id="11" name="Rectangle 11"/>
            <p:cNvSpPr/>
            <p:nvPr/>
          </p:nvSpPr>
          <p:spPr>
            <a:xfrm>
              <a:off x="609600" y="2590800"/>
              <a:ext cx="6629400" cy="304800"/>
            </a:xfrm>
            <a:prstGeom prst="rect">
              <a:avLst/>
            </a:prstGeom>
            <a:solidFill>
              <a:schemeClr val="accent1"/>
            </a:solidFill>
            <a:ln>
              <a:noFill/>
            </a:ln>
          </p:spPr>
        </p:sp>
        <p:sp>
          <p:nvSpPr>
            <p:cNvPr id="12" name="TextBox 12"/>
            <p:cNvSpPr txBox="1"/>
            <p:nvPr/>
          </p:nvSpPr>
          <p:spPr>
            <a:xfrm>
              <a:off x="717042" y="2654618"/>
              <a:ext cx="717219"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Line item</a:t>
              </a:r>
            </a:p>
          </p:txBody>
        </p:sp>
        <p:sp>
          <p:nvSpPr>
            <p:cNvPr id="13" name="TextBox 13"/>
            <p:cNvSpPr txBox="1"/>
            <p:nvPr/>
          </p:nvSpPr>
          <p:spPr>
            <a:xfrm>
              <a:off x="6003342" y="2654618"/>
              <a:ext cx="1128216" cy="264033"/>
            </a:xfrm>
            <a:prstGeom prst="rect">
              <a:avLst/>
            </a:prstGeom>
            <a:noFill/>
            <a:ln>
              <a:noFill/>
            </a:ln>
          </p:spPr>
          <p:txBody>
            <a:bodyPr wrap="none" lIns="0" tIns="0" rIns="0" bIns="0" anchor="t" anchorCtr="0">
              <a:spAutoFit/>
            </a:bodyPr>
            <a:lstStyle/>
            <a:p>
              <a:pPr algn="r"/>
              <a:r>
                <a:rPr lang="en-US" sz="1350" b="1" dirty="0">
                  <a:solidFill>
                    <a:srgbClr val="FFFFFF"/>
                  </a:solidFill>
                  <a:latin typeface="+mn-lt"/>
                  <a:ea typeface="+mn-ea"/>
                  <a:cs typeface="+mn-cs"/>
                </a:rPr>
                <a:t>Amount (USD)</a:t>
              </a:r>
            </a:p>
          </p:txBody>
        </p:sp>
        <p:sp>
          <p:nvSpPr>
            <p:cNvPr id="14" name="TextBox 14"/>
            <p:cNvSpPr txBox="1"/>
            <p:nvPr/>
          </p:nvSpPr>
          <p:spPr>
            <a:xfrm>
              <a:off x="717042" y="2940368"/>
              <a:ext cx="154904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Year one — 2026-27</a:t>
              </a:r>
            </a:p>
          </p:txBody>
        </p:sp>
        <p:sp>
          <p:nvSpPr>
            <p:cNvPr id="15" name="Line 15"/>
            <p:cNvSpPr/>
            <p:nvPr/>
          </p:nvSpPr>
          <p:spPr>
            <a:xfrm>
              <a:off x="609600" y="31623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16" name="TextBox 16"/>
            <p:cNvSpPr txBox="1"/>
            <p:nvPr/>
          </p:nvSpPr>
          <p:spPr>
            <a:xfrm>
              <a:off x="907542" y="3207068"/>
              <a:ext cx="247886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1 · Baseline and root cause</a:t>
              </a:r>
            </a:p>
          </p:txBody>
        </p:sp>
        <p:sp>
          <p:nvSpPr>
            <p:cNvPr id="17" name="TextBox 17"/>
            <p:cNvSpPr txBox="1"/>
            <p:nvPr/>
          </p:nvSpPr>
          <p:spPr>
            <a:xfrm>
              <a:off x="6519873" y="32070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$42,000</a:t>
              </a:r>
            </a:p>
          </p:txBody>
        </p:sp>
        <p:sp>
          <p:nvSpPr>
            <p:cNvPr id="18" name="Line 18"/>
            <p:cNvSpPr/>
            <p:nvPr/>
          </p:nvSpPr>
          <p:spPr>
            <a:xfrm>
              <a:off x="609600" y="34290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19" name="TextBox 19"/>
            <p:cNvSpPr txBox="1"/>
            <p:nvPr/>
          </p:nvSpPr>
          <p:spPr>
            <a:xfrm>
              <a:off x="907542" y="3473768"/>
              <a:ext cx="19504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2 · Design and build</a:t>
              </a:r>
            </a:p>
          </p:txBody>
        </p:sp>
        <p:sp>
          <p:nvSpPr>
            <p:cNvPr id="20" name="TextBox 20"/>
            <p:cNvSpPr txBox="1"/>
            <p:nvPr/>
          </p:nvSpPr>
          <p:spPr>
            <a:xfrm>
              <a:off x="6519873" y="34737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$68,000</a:t>
              </a:r>
            </a:p>
          </p:txBody>
        </p:sp>
        <p:sp>
          <p:nvSpPr>
            <p:cNvPr id="21" name="Line 21"/>
            <p:cNvSpPr/>
            <p:nvPr/>
          </p:nvSpPr>
          <p:spPr>
            <a:xfrm>
              <a:off x="609600" y="36957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22" name="TextBox 22"/>
            <p:cNvSpPr txBox="1"/>
            <p:nvPr/>
          </p:nvSpPr>
          <p:spPr>
            <a:xfrm>
              <a:off x="907542" y="3740468"/>
              <a:ext cx="2277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3 · Pilot at three schools</a:t>
              </a:r>
            </a:p>
          </p:txBody>
        </p:sp>
        <p:sp>
          <p:nvSpPr>
            <p:cNvPr id="23" name="TextBox 23"/>
            <p:cNvSpPr txBox="1"/>
            <p:nvPr/>
          </p:nvSpPr>
          <p:spPr>
            <a:xfrm>
              <a:off x="6519873" y="37404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$54,000</a:t>
              </a:r>
            </a:p>
          </p:txBody>
        </p:sp>
        <p:sp>
          <p:nvSpPr>
            <p:cNvPr id="24" name="Line 24"/>
            <p:cNvSpPr/>
            <p:nvPr/>
          </p:nvSpPr>
          <p:spPr>
            <a:xfrm>
              <a:off x="609600" y="39624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25" name="TextBox 25"/>
            <p:cNvSpPr txBox="1"/>
            <p:nvPr/>
          </p:nvSpPr>
          <p:spPr>
            <a:xfrm>
              <a:off x="907542" y="4007168"/>
              <a:ext cx="217079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4 · Rollout preparation</a:t>
              </a:r>
            </a:p>
          </p:txBody>
        </p:sp>
        <p:sp>
          <p:nvSpPr>
            <p:cNvPr id="26" name="TextBox 26"/>
            <p:cNvSpPr txBox="1"/>
            <p:nvPr/>
          </p:nvSpPr>
          <p:spPr>
            <a:xfrm>
              <a:off x="6519873" y="40071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$38,000</a:t>
              </a:r>
            </a:p>
          </p:txBody>
        </p:sp>
        <p:sp>
          <p:nvSpPr>
            <p:cNvPr id="27" name="Line 27"/>
            <p:cNvSpPr/>
            <p:nvPr/>
          </p:nvSpPr>
          <p:spPr>
            <a:xfrm>
              <a:off x="609600" y="42291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28" name="TextBox 28"/>
            <p:cNvSpPr txBox="1"/>
            <p:nvPr/>
          </p:nvSpPr>
          <p:spPr>
            <a:xfrm>
              <a:off x="717042" y="4273868"/>
              <a:ext cx="135348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Year one subtotal</a:t>
              </a:r>
            </a:p>
          </p:txBody>
        </p:sp>
        <p:sp>
          <p:nvSpPr>
            <p:cNvPr id="29" name="TextBox 29"/>
            <p:cNvSpPr txBox="1"/>
            <p:nvPr/>
          </p:nvSpPr>
          <p:spPr>
            <a:xfrm>
              <a:off x="6426260" y="4273868"/>
              <a:ext cx="705298" cy="264033"/>
            </a:xfrm>
            <a:prstGeom prst="rect">
              <a:avLst/>
            </a:prstGeom>
            <a:noFill/>
            <a:ln>
              <a:noFill/>
            </a:ln>
          </p:spPr>
          <p:txBody>
            <a:bodyPr wrap="none" lIns="0" tIns="0" rIns="0" bIns="0" anchor="t" anchorCtr="0">
              <a:spAutoFit/>
            </a:bodyPr>
            <a:lstStyle/>
            <a:p>
              <a:pPr algn="r"/>
              <a:r>
                <a:rPr lang="en-US" sz="1350" b="1" dirty="0">
                  <a:solidFill>
                    <a:schemeClr val="accent1"/>
                  </a:solidFill>
                  <a:latin typeface="+mn-lt"/>
                  <a:ea typeface="+mn-ea"/>
                  <a:cs typeface="+mn-cs"/>
                </a:rPr>
                <a:t>$202,000</a:t>
              </a:r>
            </a:p>
          </p:txBody>
        </p:sp>
        <p:sp>
          <p:nvSpPr>
            <p:cNvPr id="30" name="Line 30"/>
            <p:cNvSpPr/>
            <p:nvPr/>
          </p:nvSpPr>
          <p:spPr>
            <a:xfrm>
              <a:off x="609600" y="44958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31" name="TextBox 31"/>
            <p:cNvSpPr txBox="1"/>
            <p:nvPr/>
          </p:nvSpPr>
          <p:spPr>
            <a:xfrm>
              <a:off x="717042" y="4540568"/>
              <a:ext cx="339269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Year two — 2027-28, conditional on the gate</a:t>
              </a:r>
            </a:p>
          </p:txBody>
        </p:sp>
        <p:sp>
          <p:nvSpPr>
            <p:cNvPr id="32" name="Line 32"/>
            <p:cNvSpPr/>
            <p:nvPr/>
          </p:nvSpPr>
          <p:spPr>
            <a:xfrm>
              <a:off x="609600" y="47625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33" name="TextBox 33"/>
            <p:cNvSpPr txBox="1"/>
            <p:nvPr/>
          </p:nvSpPr>
          <p:spPr>
            <a:xfrm>
              <a:off x="907542" y="4807268"/>
              <a:ext cx="243197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5 · District-wide operation</a:t>
              </a:r>
            </a:p>
          </p:txBody>
        </p:sp>
        <p:sp>
          <p:nvSpPr>
            <p:cNvPr id="34" name="TextBox 34"/>
            <p:cNvSpPr txBox="1"/>
            <p:nvPr/>
          </p:nvSpPr>
          <p:spPr>
            <a:xfrm>
              <a:off x="6519873" y="48072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$52,000</a:t>
              </a:r>
            </a:p>
          </p:txBody>
        </p:sp>
        <p:sp>
          <p:nvSpPr>
            <p:cNvPr id="35" name="Line 35"/>
            <p:cNvSpPr/>
            <p:nvPr/>
          </p:nvSpPr>
          <p:spPr>
            <a:xfrm>
              <a:off x="609600" y="50292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36" name="TextBox 36"/>
            <p:cNvSpPr txBox="1"/>
            <p:nvPr/>
          </p:nvSpPr>
          <p:spPr>
            <a:xfrm>
              <a:off x="907542" y="5073968"/>
              <a:ext cx="16219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6 · Tier 3 depth</a:t>
              </a:r>
            </a:p>
          </p:txBody>
        </p:sp>
        <p:sp>
          <p:nvSpPr>
            <p:cNvPr id="37" name="TextBox 37"/>
            <p:cNvSpPr txBox="1"/>
            <p:nvPr/>
          </p:nvSpPr>
          <p:spPr>
            <a:xfrm>
              <a:off x="6519873" y="50739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$34,000</a:t>
              </a:r>
            </a:p>
          </p:txBody>
        </p:sp>
        <p:sp>
          <p:nvSpPr>
            <p:cNvPr id="38" name="Line 38"/>
            <p:cNvSpPr/>
            <p:nvPr/>
          </p:nvSpPr>
          <p:spPr>
            <a:xfrm>
              <a:off x="609600" y="52959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39" name="TextBox 39"/>
            <p:cNvSpPr txBox="1"/>
            <p:nvPr/>
          </p:nvSpPr>
          <p:spPr>
            <a:xfrm>
              <a:off x="907542" y="5340668"/>
              <a:ext cx="137931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Phase 7 · Hand-off</a:t>
              </a:r>
            </a:p>
          </p:txBody>
        </p:sp>
        <p:sp>
          <p:nvSpPr>
            <p:cNvPr id="40" name="TextBox 40"/>
            <p:cNvSpPr txBox="1"/>
            <p:nvPr/>
          </p:nvSpPr>
          <p:spPr>
            <a:xfrm>
              <a:off x="6519873" y="5340668"/>
              <a:ext cx="611685"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$24,000</a:t>
              </a:r>
            </a:p>
          </p:txBody>
        </p:sp>
        <p:sp>
          <p:nvSpPr>
            <p:cNvPr id="41" name="Line 41"/>
            <p:cNvSpPr/>
            <p:nvPr/>
          </p:nvSpPr>
          <p:spPr>
            <a:xfrm>
              <a:off x="609600" y="55626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42" name="TextBox 42"/>
            <p:cNvSpPr txBox="1"/>
            <p:nvPr/>
          </p:nvSpPr>
          <p:spPr>
            <a:xfrm>
              <a:off x="717042" y="5607368"/>
              <a:ext cx="136293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Year two subtotal</a:t>
              </a:r>
            </a:p>
          </p:txBody>
        </p:sp>
        <p:sp>
          <p:nvSpPr>
            <p:cNvPr id="43" name="TextBox 43"/>
            <p:cNvSpPr txBox="1"/>
            <p:nvPr/>
          </p:nvSpPr>
          <p:spPr>
            <a:xfrm>
              <a:off x="6426260" y="5607368"/>
              <a:ext cx="705298" cy="264033"/>
            </a:xfrm>
            <a:prstGeom prst="rect">
              <a:avLst/>
            </a:prstGeom>
            <a:noFill/>
            <a:ln>
              <a:noFill/>
            </a:ln>
          </p:spPr>
          <p:txBody>
            <a:bodyPr wrap="none" lIns="0" tIns="0" rIns="0" bIns="0" anchor="t" anchorCtr="0">
              <a:spAutoFit/>
            </a:bodyPr>
            <a:lstStyle/>
            <a:p>
              <a:pPr algn="r"/>
              <a:r>
                <a:rPr lang="en-US" sz="1350" b="1" dirty="0">
                  <a:solidFill>
                    <a:schemeClr val="accent1"/>
                  </a:solidFill>
                  <a:latin typeface="+mn-lt"/>
                  <a:ea typeface="+mn-ea"/>
                  <a:cs typeface="+mn-cs"/>
                </a:rPr>
                <a:t>$110,000</a:t>
              </a:r>
            </a:p>
          </p:txBody>
        </p:sp>
        <p:sp>
          <p:nvSpPr>
            <p:cNvPr id="44" name="Line 44"/>
            <p:cNvSpPr/>
            <p:nvPr/>
          </p:nvSpPr>
          <p:spPr>
            <a:xfrm>
              <a:off x="609600" y="5829300"/>
              <a:ext cx="6629400" cy="9525"/>
            </a:xfrm>
            <a:custGeom>
              <a:avLst/>
              <a:gdLst/>
              <a:ahLst/>
              <a:cxnLst/>
              <a:rect l="l" t="t" r="r" b="b"/>
              <a:pathLst>
                <a:path w="6629400" h="9525">
                  <a:moveTo>
                    <a:pt x="0" y="0"/>
                  </a:moveTo>
                  <a:lnTo>
                    <a:pt x="6629400" y="0"/>
                  </a:lnTo>
                </a:path>
              </a:pathLst>
            </a:custGeom>
            <a:noFill/>
            <a:ln w="9525">
              <a:solidFill>
                <a:srgbClr val="EAE5DD"/>
              </a:solidFill>
            </a:ln>
          </p:spPr>
        </p:sp>
        <p:sp>
          <p:nvSpPr>
            <p:cNvPr id="45" name="TextBox 45"/>
            <p:cNvSpPr txBox="1"/>
            <p:nvPr/>
          </p:nvSpPr>
          <p:spPr>
            <a:xfrm>
              <a:off x="717042" y="5874068"/>
              <a:ext cx="176069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Total, two school years</a:t>
              </a:r>
            </a:p>
          </p:txBody>
        </p:sp>
        <p:sp>
          <p:nvSpPr>
            <p:cNvPr id="46" name="TextBox 46"/>
            <p:cNvSpPr txBox="1"/>
            <p:nvPr/>
          </p:nvSpPr>
          <p:spPr>
            <a:xfrm>
              <a:off x="6426260" y="5874068"/>
              <a:ext cx="705298" cy="264033"/>
            </a:xfrm>
            <a:prstGeom prst="rect">
              <a:avLst/>
            </a:prstGeom>
            <a:noFill/>
            <a:ln>
              <a:noFill/>
            </a:ln>
          </p:spPr>
          <p:txBody>
            <a:bodyPr wrap="none" lIns="0" tIns="0" rIns="0" bIns="0" anchor="t" anchorCtr="0">
              <a:spAutoFit/>
            </a:bodyPr>
            <a:lstStyle/>
            <a:p>
              <a:pPr algn="r"/>
              <a:r>
                <a:rPr lang="en-US" sz="1350" b="1" dirty="0">
                  <a:solidFill>
                    <a:schemeClr val="accent2"/>
                  </a:solidFill>
                  <a:latin typeface="+mn-lt"/>
                  <a:ea typeface="+mn-ea"/>
                  <a:cs typeface="+mn-cs"/>
                </a:rPr>
                <a:t>$312,000</a:t>
              </a:r>
            </a:p>
          </p:txBody>
        </p:sp>
        <p:sp>
          <p:nvSpPr>
            <p:cNvPr id="47" name="Line 47"/>
            <p:cNvSpPr/>
            <p:nvPr/>
          </p:nvSpPr>
          <p:spPr>
            <a:xfrm>
              <a:off x="609600" y="6096000"/>
              <a:ext cx="6629400" cy="9525"/>
            </a:xfrm>
            <a:custGeom>
              <a:avLst/>
              <a:gdLst/>
              <a:ahLst/>
              <a:cxnLst/>
              <a:rect l="l" t="t" r="r" b="b"/>
              <a:pathLst>
                <a:path w="6629400" h="9525">
                  <a:moveTo>
                    <a:pt x="0" y="0"/>
                  </a:moveTo>
                  <a:lnTo>
                    <a:pt x="6629400" y="0"/>
                  </a:lnTo>
                </a:path>
              </a:pathLst>
            </a:custGeom>
            <a:noFill/>
            <a:ln w="9525">
              <a:solidFill>
                <a:srgbClr val="EAE5DD"/>
              </a:solidFill>
            </a:ln>
          </p:spPr>
        </p:sp>
      </p:grpSp>
      <p:grpSp>
        <p:nvGrpSpPr>
          <p:cNvPr id="52" name="Group 52"/>
          <p:cNvGrpSpPr/>
          <p:nvPr/>
        </p:nvGrpSpPr>
        <p:grpSpPr>
          <a:xfrm>
            <a:off x="7620000" y="2667000"/>
            <a:ext cx="3924300" cy="1524000"/>
            <a:chOff x="7620000" y="2667000"/>
            <a:chExt cx="3924300" cy="1524000"/>
          </a:xfrm>
        </p:grpSpPr>
        <p:sp>
          <p:nvSpPr>
            <p:cNvPr id="49" name="Freeform 49"/>
            <p:cNvSpPr/>
            <p:nvPr/>
          </p:nvSpPr>
          <p:spPr>
            <a:xfrm>
              <a:off x="7620000" y="2667000"/>
              <a:ext cx="3924300" cy="1524000"/>
            </a:xfrm>
            <a:prstGeom prst="plaque">
              <a:avLst/>
            </a:prstGeom>
            <a:solidFill>
              <a:schemeClr val="accent1"/>
            </a:solidFill>
            <a:ln>
              <a:noFill/>
            </a:ln>
            <a:effectLst>
              <a:outerShdw blurRad="152400" dist="57150" dir="5400000" algn="ctr" rotWithShape="0">
                <a:srgbClr val="000000">
                  <a:alpha val="7500"/>
                </a:srgbClr>
              </a:outerShdw>
            </a:effectLst>
          </p:spPr>
        </p:sp>
        <p:sp>
          <p:nvSpPr>
            <p:cNvPr id="50" name="TextBox 50"/>
            <p:cNvSpPr txBox="1"/>
            <p:nvPr/>
          </p:nvSpPr>
          <p:spPr>
            <a:xfrm>
              <a:off x="7883850" y="2960370"/>
              <a:ext cx="3396600" cy="1047750"/>
            </a:xfrm>
            <a:prstGeom prst="rect">
              <a:avLst/>
            </a:prstGeom>
            <a:noFill/>
            <a:ln>
              <a:noFill/>
            </a:ln>
          </p:spPr>
          <p:txBody>
            <a:bodyPr wrap="none" lIns="0" tIns="0" rIns="0" bIns="0" anchor="t" anchorCtr="0">
              <a:spAutoFit/>
            </a:bodyPr>
            <a:lstStyle/>
            <a:p>
              <a:pPr algn="ctr"/>
              <a:r>
                <a:rPr lang="en-US" sz="5400" b="1" dirty="0">
                  <a:solidFill>
                    <a:srgbClr val="FFFFFF"/>
                  </a:solidFill>
                  <a:latin typeface="+mj-lt"/>
                  <a:ea typeface="+mj-ea"/>
                  <a:cs typeface="+mj-cs"/>
                </a:rPr>
                <a:t>$312,000</a:t>
              </a:r>
            </a:p>
          </p:txBody>
        </p:sp>
        <p:sp>
          <p:nvSpPr>
            <p:cNvPr id="51" name="TextBox 51"/>
            <p:cNvSpPr txBox="1"/>
            <p:nvPr/>
          </p:nvSpPr>
          <p:spPr>
            <a:xfrm>
              <a:off x="8389231" y="3743325"/>
              <a:ext cx="2385838" cy="293370"/>
            </a:xfrm>
            <a:prstGeom prst="rect">
              <a:avLst/>
            </a:prstGeom>
            <a:noFill/>
            <a:ln>
              <a:noFill/>
            </a:ln>
          </p:spPr>
          <p:txBody>
            <a:bodyPr wrap="none" lIns="0" tIns="0" rIns="0" bIns="0" anchor="t" anchorCtr="0">
              <a:spAutoFit/>
            </a:bodyPr>
            <a:lstStyle/>
            <a:p>
              <a:pPr algn="ctr"/>
              <a:r>
                <a:rPr lang="en-US" sz="1500" dirty="0">
                  <a:solidFill>
                    <a:srgbClr val="A8C4CC"/>
                  </a:solidFill>
                  <a:latin typeface="+mn-lt"/>
                  <a:ea typeface="+mn-ea"/>
                  <a:cs typeface="+mn-cs"/>
                </a:rPr>
                <a:t>total across two school years</a:t>
              </a:r>
            </a:p>
          </p:txBody>
        </p:sp>
      </p:grpSp>
      <p:grpSp>
        <p:nvGrpSpPr>
          <p:cNvPr id="58" name="Group 58"/>
          <p:cNvGrpSpPr/>
          <p:nvPr/>
        </p:nvGrpSpPr>
        <p:grpSpPr>
          <a:xfrm>
            <a:off x="7613142" y="4423410"/>
            <a:ext cx="3969258" cy="1752791"/>
            <a:chOff x="7613142" y="4423410"/>
            <a:chExt cx="3969258" cy="1752791"/>
          </a:xfrm>
        </p:grpSpPr>
        <p:sp>
          <p:nvSpPr>
            <p:cNvPr id="53" name="TextBox 53"/>
            <p:cNvSpPr txBox="1"/>
            <p:nvPr/>
          </p:nvSpPr>
          <p:spPr>
            <a:xfrm>
              <a:off x="7613904" y="4423410"/>
              <a:ext cx="1928574"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PRICE BASIS AND TERMS</a:t>
              </a:r>
            </a:p>
          </p:txBody>
        </p:sp>
        <p:sp>
          <p:nvSpPr>
            <p:cNvPr id="54" name="Line 54"/>
            <p:cNvSpPr/>
            <p:nvPr/>
          </p:nvSpPr>
          <p:spPr>
            <a:xfrm>
              <a:off x="7620000" y="466725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55" name="TextBox 55"/>
            <p:cNvSpPr txBox="1"/>
            <p:nvPr/>
          </p:nvSpPr>
          <p:spPr>
            <a:xfrm>
              <a:off x="7613142" y="4769168"/>
              <a:ext cx="267431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Fixed fee per phase, inclusive of travel</a:t>
              </a:r>
              <a:br/>
              <a:r>
                <a:rPr lang="en-US" sz="1350" dirty="0">
                  <a:solidFill>
                    <a:schemeClr val="dk1"/>
                  </a:solidFill>
                  <a:latin typeface="+mn-lt"/>
                  <a:ea typeface="+mn-ea"/>
                  <a:cs typeface="+mn-cs"/>
                </a:rPr>
                <a:t>and exclusive of software licences.</a:t>
              </a:r>
            </a:p>
          </p:txBody>
        </p:sp>
        <p:sp>
          <p:nvSpPr>
            <p:cNvPr id="56" name="TextBox 56"/>
            <p:cNvSpPr txBox="1"/>
            <p:nvPr/>
          </p:nvSpPr>
          <p:spPr>
            <a:xfrm>
              <a:off x="7613142" y="5340668"/>
              <a:ext cx="2707864"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Payable on written acceptance of each</a:t>
              </a:r>
              <a:br/>
              <a:r>
                <a:rPr lang="en-US" sz="1350" dirty="0">
                  <a:solidFill>
                    <a:schemeClr val="dk1"/>
                  </a:solidFill>
                  <a:latin typeface="+mn-lt"/>
                  <a:ea typeface="+mn-ea"/>
                  <a:cs typeface="+mn-cs"/>
                </a:rPr>
                <a:t>phase deliverable.</a:t>
              </a:r>
            </a:p>
          </p:txBody>
        </p:sp>
        <p:sp>
          <p:nvSpPr>
            <p:cNvPr id="57" name="TextBox 57"/>
            <p:cNvSpPr txBox="1"/>
            <p:nvPr/>
          </p:nvSpPr>
          <p:spPr>
            <a:xfrm>
              <a:off x="7613142" y="5912168"/>
              <a:ext cx="2067686" cy="264033"/>
            </a:xfrm>
            <a:prstGeom prst="rect">
              <a:avLst/>
            </a:prstGeom>
            <a:noFill/>
            <a:ln>
              <a:noFill/>
            </a:ln>
          </p:spPr>
          <p:txBody>
            <a:bodyPr wrap="none" lIns="0" tIns="0" rIns="0" bIns="0" anchor="t" anchorCtr="0">
              <a:spAutoFit/>
            </a:bodyPr>
            <a:lstStyle/>
            <a:p>
              <a:pPr algn="l"/>
              <a:r>
                <a:rPr lang="en-US" sz="1350" dirty="0">
                  <a:solidFill>
                    <a:srgbClr val="B0722B"/>
                  </a:solidFill>
                  <a:latin typeface="+mn-lt"/>
                  <a:ea typeface="+mn-ea"/>
                  <a:cs typeface="+mn-cs"/>
                </a:rPr>
                <a:t>Quotation valid for 90 days.</a:t>
              </a:r>
            </a:p>
          </p:txBody>
        </p:sp>
      </p:grpSp>
      <p:grpSp>
        <p:nvGrpSpPr>
          <p:cNvPr id="61" name="Group 61"/>
          <p:cNvGrpSpPr/>
          <p:nvPr/>
        </p:nvGrpSpPr>
        <p:grpSpPr>
          <a:xfrm>
            <a:off x="603504" y="6328410"/>
            <a:ext cx="8211362" cy="463296"/>
            <a:chOff x="603504" y="6328410"/>
            <a:chExt cx="8211362" cy="463296"/>
          </a:xfrm>
        </p:grpSpPr>
        <p:sp>
          <p:nvSpPr>
            <p:cNvPr id="59" name="TextBox 59"/>
            <p:cNvSpPr txBox="1"/>
            <p:nvPr/>
          </p:nvSpPr>
          <p:spPr>
            <a:xfrm>
              <a:off x="603504" y="6328410"/>
              <a:ext cx="8211362" cy="234696"/>
            </a:xfrm>
            <a:prstGeom prst="rect">
              <a:avLst/>
            </a:prstGeom>
            <a:noFill/>
            <a:ln>
              <a:noFill/>
            </a:ln>
          </p:spPr>
          <p:txBody>
            <a:bodyPr wrap="none" lIns="0" tIns="0" rIns="0" bIns="0" anchor="t" anchorCtr="0">
              <a:spAutoFit/>
            </a:bodyPr>
            <a:lstStyle/>
            <a:p>
              <a:pPr algn="l"/>
              <a:r>
                <a:rPr lang="en-US" sz="1200" dirty="0">
                  <a:solidFill>
                    <a:srgbClr val="B0722B"/>
                  </a:solidFill>
                  <a:latin typeface="+mn-lt"/>
                  <a:ea typeface="+mn-ea"/>
                  <a:cs typeface="+mn-cs"/>
                </a:rPr>
                <a:t>Every amount, subtotal, total and payment term on this page is illustrative and would be fixed in a signed statement of work.</a:t>
              </a:r>
            </a:p>
          </p:txBody>
        </p:sp>
        <p:sp>
          <p:nvSpPr>
            <p:cNvPr id="60" name="TextBox 60"/>
            <p:cNvSpPr txBox="1"/>
            <p:nvPr/>
          </p:nvSpPr>
          <p:spPr>
            <a:xfrm>
              <a:off x="603504" y="6557010"/>
              <a:ext cx="74679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The year-two subtotal of $110,000 is released only by the June 2027 board vote; no ongoing retainer is proposed.</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600" fill="hold"/>
                                        <p:tgtEl>
                                          <p:spTgt spid="52"/>
                                        </p:tgtEl>
                                        <p:attrNameLst>
                                          <p:attrName>ppt_w</p:attrName>
                                        </p:attrNameLst>
                                      </p:cBhvr>
                                      <p:tavLst>
                                        <p:tav tm="0">
                                          <p:val>
                                            <p:fltVal val="0"/>
                                          </p:val>
                                        </p:tav>
                                        <p:tav tm="100000">
                                          <p:val>
                                            <p:strVal val="#ppt_w"/>
                                          </p:val>
                                        </p:tav>
                                      </p:tavLst>
                                    </p:anim>
                                    <p:anim calcmode="lin" valueType="num">
                                      <p:cBhvr>
                                        <p:cTn id="8" dur="600" fill="hold"/>
                                        <p:tgtEl>
                                          <p:spTgt spid="52"/>
                                        </p:tgtEl>
                                        <p:attrNameLst>
                                          <p:attrName>ppt_h</p:attrName>
                                        </p:attrNameLst>
                                      </p:cBhvr>
                                      <p:tavLst>
                                        <p:tav tm="0">
                                          <p:val>
                                            <p:fltVal val="0"/>
                                          </p:val>
                                        </p:tav>
                                        <p:tav tm="100000">
                                          <p:val>
                                            <p:strVal val="#ppt_h"/>
                                          </p:val>
                                        </p:tav>
                                      </p:tavLst>
                                    </p:anim>
                                  </p:childTnLst>
                                </p:cTn>
                              </p:par>
                            </p:childTnLst>
                          </p:cTn>
                        </p:par>
                        <p:par>
                          <p:cTn id="9" fill="hold">
                            <p:stCondLst>
                              <p:cond delay="600"/>
                            </p:stCondLst>
                            <p:childTnLst>
                              <p:par>
                                <p:cTn xmlns:p="http://schemas.openxmlformats.org/presentationml/2006/main" id="10" presetID="10" presetClass="entr" presetSubtype="0" fill="hold" grpId="0" nodeType="afterEffect">
                                  <p:stCondLst>
                                    <p:cond delay="50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2742" y="723900"/>
            <a:ext cx="10979658" cy="289751"/>
            <a:chOff x="602742" y="723900"/>
            <a:chExt cx="10979658" cy="289751"/>
          </a:xfrm>
        </p:grpSpPr>
        <p:sp>
          <p:nvSpPr>
            <p:cNvPr id="2" name="TextBox 2"/>
            <p:cNvSpPr txBox="1"/>
            <p:nvPr/>
          </p:nvSpPr>
          <p:spPr>
            <a:xfrm>
              <a:off x="602742" y="749618"/>
              <a:ext cx="1830583"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PROJECTED EFFECT</a:t>
              </a:r>
            </a:p>
          </p:txBody>
        </p:sp>
        <p:sp>
          <p:nvSpPr>
            <p:cNvPr id="3" name="Rectangle 3"/>
            <p:cNvSpPr/>
            <p:nvPr/>
          </p:nvSpPr>
          <p:spPr>
            <a:xfrm>
              <a:off x="8934450" y="723900"/>
              <a:ext cx="2647950" cy="266700"/>
            </a:xfrm>
            <a:prstGeom prst="roundRect">
              <a:avLst>
                <a:gd name="adj" fmla="val 50000"/>
              </a:avLst>
            </a:prstGeom>
            <a:solidFill>
              <a:srgbClr val="B0722B">
                <a:alpha val="12000"/>
              </a:srgbClr>
            </a:solidFill>
            <a:ln>
              <a:noFill/>
            </a:ln>
          </p:spPr>
        </p:sp>
        <p:sp>
          <p:nvSpPr>
            <p:cNvPr id="4" name="TextBox 4"/>
            <p:cNvSpPr txBox="1"/>
            <p:nvPr/>
          </p:nvSpPr>
          <p:spPr>
            <a:xfrm>
              <a:off x="9457407" y="775335"/>
              <a:ext cx="1602036" cy="234696"/>
            </a:xfrm>
            <a:prstGeom prst="rect">
              <a:avLst/>
            </a:prstGeom>
            <a:noFill/>
            <a:ln>
              <a:noFill/>
            </a:ln>
          </p:spPr>
          <p:txBody>
            <a:bodyPr wrap="none" lIns="0" tIns="0" rIns="0" bIns="0" anchor="t" anchorCtr="0">
              <a:spAutoFit/>
            </a:bodyPr>
            <a:lstStyle/>
            <a:p>
              <a:pPr algn="ctr"/>
              <a:r>
                <a:rPr lang="en-US" sz="1200" dirty="0">
                  <a:solidFill>
                    <a:srgbClr val="B0722B"/>
                  </a:solidFill>
                  <a:latin typeface="+mn-lt"/>
                  <a:ea typeface="+mn-ea"/>
                  <a:cs typeface="+mn-cs"/>
                </a:rPr>
                <a:t>Modeled, not measured</a:t>
              </a:r>
            </a:p>
          </p:txBody>
        </p:sp>
      </p:grpSp>
      <p:grpSp>
        <p:nvGrpSpPr>
          <p:cNvPr id="8" name="Group 8"/>
          <p:cNvGrpSpPr/>
          <p:nvPr/>
        </p:nvGrpSpPr>
        <p:grpSpPr>
          <a:xfrm>
            <a:off x="594360" y="1104900"/>
            <a:ext cx="10988040" cy="586740"/>
            <a:chOff x="594360" y="1104900"/>
            <a:chExt cx="10988040" cy="586740"/>
          </a:xfrm>
        </p:grpSpPr>
        <p:sp>
          <p:nvSpPr>
            <p:cNvPr id="6" name="TextBox 6"/>
            <p:cNvSpPr txBox="1"/>
            <p:nvPr/>
          </p:nvSpPr>
          <p:spPr>
            <a:xfrm>
              <a:off x="594360" y="1104900"/>
              <a:ext cx="638387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A modeled nine-point reduction</a:t>
              </a:r>
            </a:p>
          </p:txBody>
        </p:sp>
        <p:sp>
          <p:nvSpPr>
            <p:cNvPr id="7" name="Line 7"/>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598932" y="1868805"/>
            <a:ext cx="8769808" cy="410718"/>
            <a:chOff x="598932" y="1868805"/>
            <a:chExt cx="8769808" cy="410718"/>
          </a:xfrm>
        </p:grpSpPr>
        <p:sp>
          <p:nvSpPr>
            <p:cNvPr id="9" name="TextBox 9"/>
            <p:cNvSpPr txBox="1"/>
            <p:nvPr/>
          </p:nvSpPr>
          <p:spPr>
            <a:xfrm>
              <a:off x="598932" y="1868805"/>
              <a:ext cx="876980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The projection is a </a:t>
              </a:r>
              <a:r>
                <a:rPr lang="en-US" sz="2100" b="1" dirty="0">
                  <a:solidFill>
                    <a:schemeClr val="accent2"/>
                  </a:solidFill>
                  <a:latin typeface="+mn-lt"/>
                  <a:ea typeface="+mn-ea"/>
                  <a:cs typeface="+mn-cs"/>
                </a:rPr>
                <a:t>model, not a measurement</a:t>
              </a:r>
              <a:r>
                <a:rPr lang="en-US" sz="2100" dirty="0">
                  <a:solidFill>
                    <a:schemeClr val="dk1"/>
                  </a:solidFill>
                  <a:latin typeface="+mn-lt"/>
                  <a:ea typeface="+mn-ea"/>
                  <a:cs typeface="+mn-cs"/>
                </a:rPr>
                <a:t xml:space="preserve"> — and it fails first at staffing.</a:t>
              </a:r>
            </a:p>
          </p:txBody>
        </p:sp>
      </p:grpSp>
      <p:grpSp>
        <p:nvGrpSpPr>
          <p:cNvPr id="32" name="Group 32"/>
          <p:cNvGrpSpPr/>
          <p:nvPr/>
        </p:nvGrpSpPr>
        <p:grpSpPr>
          <a:xfrm>
            <a:off x="920145" y="2902268"/>
            <a:ext cx="5445511" cy="2835783"/>
            <a:chOff x="920145" y="2902268"/>
            <a:chExt cx="5445511" cy="2835783"/>
          </a:xfrm>
        </p:grpSpPr>
        <p:grpSp>
          <p:nvGrpSpPr>
            <p:cNvPr id="21" name="Group 21"/>
            <p:cNvGrpSpPr/>
            <p:nvPr/>
          </p:nvGrpSpPr>
          <p:grpSpPr>
            <a:xfrm>
              <a:off x="952500" y="3140392"/>
              <a:ext cx="5334000" cy="2203133"/>
              <a:chOff x="952500" y="3140392"/>
              <a:chExt cx="5334000" cy="2203133"/>
            </a:xfrm>
          </p:grpSpPr>
          <p:sp>
            <p:nvSpPr>
              <p:cNvPr id="11" name="Line 11"/>
              <p:cNvSpPr/>
              <p:nvPr/>
            </p:nvSpPr>
            <p:spPr>
              <a:xfrm>
                <a:off x="952500" y="53340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12" name="Rectangle 12"/>
              <p:cNvSpPr/>
              <p:nvPr/>
            </p:nvSpPr>
            <p:spPr>
              <a:xfrm>
                <a:off x="1143000" y="3140392"/>
                <a:ext cx="685800" cy="2193608"/>
              </a:xfrm>
              <a:prstGeom prst="rect">
                <a:avLst/>
              </a:prstGeom>
              <a:solidFill>
                <a:schemeClr val="accent3"/>
              </a:solidFill>
              <a:ln>
                <a:noFill/>
              </a:ln>
            </p:spPr>
          </p:sp>
          <p:sp>
            <p:nvSpPr>
              <p:cNvPr id="13" name="Rectangle 13"/>
              <p:cNvSpPr/>
              <p:nvPr/>
            </p:nvSpPr>
            <p:spPr>
              <a:xfrm>
                <a:off x="2209800" y="3140392"/>
                <a:ext cx="685800" cy="177165"/>
              </a:xfrm>
              <a:prstGeom prst="rect">
                <a:avLst/>
              </a:prstGeom>
              <a:solidFill>
                <a:schemeClr val="accent2"/>
              </a:solidFill>
              <a:ln>
                <a:noFill/>
              </a:ln>
            </p:spPr>
          </p:sp>
          <p:sp>
            <p:nvSpPr>
              <p:cNvPr id="14" name="Rectangle 14"/>
              <p:cNvSpPr/>
              <p:nvPr/>
            </p:nvSpPr>
            <p:spPr>
              <a:xfrm>
                <a:off x="3276600" y="3316605"/>
                <a:ext cx="685800" cy="282892"/>
              </a:xfrm>
              <a:prstGeom prst="rect">
                <a:avLst/>
              </a:prstGeom>
              <a:solidFill>
                <a:schemeClr val="accent2"/>
              </a:solidFill>
              <a:ln>
                <a:noFill/>
              </a:ln>
            </p:spPr>
          </p:sp>
          <p:sp>
            <p:nvSpPr>
              <p:cNvPr id="15" name="Rectangle 15"/>
              <p:cNvSpPr/>
              <p:nvPr/>
            </p:nvSpPr>
            <p:spPr>
              <a:xfrm>
                <a:off x="4343400" y="3599498"/>
                <a:ext cx="685800" cy="177165"/>
              </a:xfrm>
              <a:prstGeom prst="rect">
                <a:avLst/>
              </a:prstGeom>
              <a:solidFill>
                <a:schemeClr val="accent2"/>
              </a:solidFill>
              <a:ln>
                <a:noFill/>
              </a:ln>
            </p:spPr>
          </p:sp>
          <p:sp>
            <p:nvSpPr>
              <p:cNvPr id="16" name="Rectangle 16"/>
              <p:cNvSpPr/>
              <p:nvPr/>
            </p:nvSpPr>
            <p:spPr>
              <a:xfrm>
                <a:off x="5410200" y="3776662"/>
                <a:ext cx="685800" cy="1557338"/>
              </a:xfrm>
              <a:prstGeom prst="rect">
                <a:avLst/>
              </a:prstGeom>
              <a:solidFill>
                <a:schemeClr val="accent1"/>
              </a:solidFill>
              <a:ln>
                <a:noFill/>
              </a:ln>
            </p:spPr>
          </p:sp>
          <p:sp>
            <p:nvSpPr>
              <p:cNvPr id="17" name="Line 17"/>
              <p:cNvSpPr/>
              <p:nvPr/>
            </p:nvSpPr>
            <p:spPr>
              <a:xfrm>
                <a:off x="1828800" y="3140392"/>
                <a:ext cx="381000" cy="9525"/>
              </a:xfrm>
              <a:custGeom>
                <a:avLst/>
                <a:gdLst/>
                <a:ahLst/>
                <a:cxnLst/>
                <a:rect l="l" t="t" r="r" b="b"/>
                <a:pathLst>
                  <a:path w="381000" h="9525">
                    <a:moveTo>
                      <a:pt x="0" y="0"/>
                    </a:moveTo>
                    <a:lnTo>
                      <a:pt x="381000" y="0"/>
                    </a:lnTo>
                  </a:path>
                </a:pathLst>
              </a:custGeom>
              <a:noFill/>
              <a:ln w="9525">
                <a:solidFill>
                  <a:srgbClr val="B0B6BA"/>
                </a:solidFill>
                <a:prstDash val="dash"/>
              </a:ln>
            </p:spPr>
          </p:sp>
          <p:sp>
            <p:nvSpPr>
              <p:cNvPr id="18" name="Line 18"/>
              <p:cNvSpPr/>
              <p:nvPr/>
            </p:nvSpPr>
            <p:spPr>
              <a:xfrm>
                <a:off x="2895600" y="3316605"/>
                <a:ext cx="381000" cy="9525"/>
              </a:xfrm>
              <a:custGeom>
                <a:avLst/>
                <a:gdLst/>
                <a:ahLst/>
                <a:cxnLst/>
                <a:rect l="l" t="t" r="r" b="b"/>
                <a:pathLst>
                  <a:path w="381000" h="9525">
                    <a:moveTo>
                      <a:pt x="0" y="0"/>
                    </a:moveTo>
                    <a:lnTo>
                      <a:pt x="381000" y="0"/>
                    </a:lnTo>
                  </a:path>
                </a:pathLst>
              </a:custGeom>
              <a:noFill/>
              <a:ln w="9525">
                <a:solidFill>
                  <a:srgbClr val="B0B6BA"/>
                </a:solidFill>
                <a:prstDash val="dash"/>
              </a:ln>
            </p:spPr>
          </p:sp>
          <p:sp>
            <p:nvSpPr>
              <p:cNvPr id="19" name="Line 19"/>
              <p:cNvSpPr/>
              <p:nvPr/>
            </p:nvSpPr>
            <p:spPr>
              <a:xfrm>
                <a:off x="3962400" y="3599498"/>
                <a:ext cx="381000" cy="9525"/>
              </a:xfrm>
              <a:custGeom>
                <a:avLst/>
                <a:gdLst/>
                <a:ahLst/>
                <a:cxnLst/>
                <a:rect l="l" t="t" r="r" b="b"/>
                <a:pathLst>
                  <a:path w="381000" h="9525">
                    <a:moveTo>
                      <a:pt x="0" y="0"/>
                    </a:moveTo>
                    <a:lnTo>
                      <a:pt x="381000" y="0"/>
                    </a:lnTo>
                  </a:path>
                </a:pathLst>
              </a:custGeom>
              <a:noFill/>
              <a:ln w="9525">
                <a:solidFill>
                  <a:srgbClr val="B0B6BA"/>
                </a:solidFill>
                <a:prstDash val="dash"/>
              </a:ln>
            </p:spPr>
          </p:sp>
          <p:sp>
            <p:nvSpPr>
              <p:cNvPr id="20" name="Line 20"/>
              <p:cNvSpPr/>
              <p:nvPr/>
            </p:nvSpPr>
            <p:spPr>
              <a:xfrm>
                <a:off x="5029200" y="3776662"/>
                <a:ext cx="381000" cy="9525"/>
              </a:xfrm>
              <a:custGeom>
                <a:avLst/>
                <a:gdLst/>
                <a:ahLst/>
                <a:cxnLst/>
                <a:rect l="l" t="t" r="r" b="b"/>
                <a:pathLst>
                  <a:path w="381000" h="9525">
                    <a:moveTo>
                      <a:pt x="0" y="0"/>
                    </a:moveTo>
                    <a:lnTo>
                      <a:pt x="381000" y="0"/>
                    </a:lnTo>
                  </a:path>
                </a:pathLst>
              </a:custGeom>
              <a:noFill/>
              <a:ln w="9525">
                <a:solidFill>
                  <a:srgbClr val="B0B6BA"/>
                </a:solidFill>
                <a:prstDash val="dash"/>
              </a:ln>
            </p:spPr>
          </p:sp>
        </p:grpSp>
        <p:sp>
          <p:nvSpPr>
            <p:cNvPr id="22" name="TextBox 22"/>
            <p:cNvSpPr txBox="1"/>
            <p:nvPr/>
          </p:nvSpPr>
          <p:spPr>
            <a:xfrm>
              <a:off x="1174905" y="5474018"/>
              <a:ext cx="62199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2025-26</a:t>
              </a:r>
            </a:p>
          </p:txBody>
        </p:sp>
        <p:sp>
          <p:nvSpPr>
            <p:cNvPr id="23" name="TextBox 23"/>
            <p:cNvSpPr txBox="1"/>
            <p:nvPr/>
          </p:nvSpPr>
          <p:spPr>
            <a:xfrm>
              <a:off x="2334265" y="5474018"/>
              <a:ext cx="43687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Tier 1</a:t>
              </a:r>
            </a:p>
          </p:txBody>
        </p:sp>
        <p:sp>
          <p:nvSpPr>
            <p:cNvPr id="24" name="TextBox 24"/>
            <p:cNvSpPr txBox="1"/>
            <p:nvPr/>
          </p:nvSpPr>
          <p:spPr>
            <a:xfrm>
              <a:off x="3401065" y="5474018"/>
              <a:ext cx="43687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Tier 2</a:t>
              </a:r>
            </a:p>
          </p:txBody>
        </p:sp>
        <p:sp>
          <p:nvSpPr>
            <p:cNvPr id="25" name="TextBox 25"/>
            <p:cNvSpPr txBox="1"/>
            <p:nvPr/>
          </p:nvSpPr>
          <p:spPr>
            <a:xfrm>
              <a:off x="4467865" y="5474018"/>
              <a:ext cx="43687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Tier 3</a:t>
              </a:r>
            </a:p>
          </p:txBody>
        </p:sp>
        <p:sp>
          <p:nvSpPr>
            <p:cNvPr id="26" name="TextBox 26"/>
            <p:cNvSpPr txBox="1"/>
            <p:nvPr/>
          </p:nvSpPr>
          <p:spPr>
            <a:xfrm>
              <a:off x="5366520" y="5474018"/>
              <a:ext cx="77316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June 2028</a:t>
              </a:r>
            </a:p>
          </p:txBody>
        </p:sp>
        <p:sp>
          <p:nvSpPr>
            <p:cNvPr id="27" name="TextBox 27"/>
            <p:cNvSpPr txBox="1"/>
            <p:nvPr/>
          </p:nvSpPr>
          <p:spPr>
            <a:xfrm>
              <a:off x="920145" y="2902268"/>
              <a:ext cx="1131510"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Baseline 31.0%</a:t>
              </a:r>
            </a:p>
          </p:txBody>
        </p:sp>
        <p:sp>
          <p:nvSpPr>
            <p:cNvPr id="28" name="TextBox 28"/>
            <p:cNvSpPr txBox="1"/>
            <p:nvPr/>
          </p:nvSpPr>
          <p:spPr>
            <a:xfrm>
              <a:off x="2150868" y="2902268"/>
              <a:ext cx="803663" cy="264033"/>
            </a:xfrm>
            <a:prstGeom prst="rect">
              <a:avLst/>
            </a:prstGeom>
            <a:noFill/>
            <a:ln>
              <a:noFill/>
            </a:ln>
          </p:spPr>
          <p:txBody>
            <a:bodyPr wrap="none" lIns="0" tIns="0" rIns="0" bIns="0" anchor="t" anchorCtr="0">
              <a:spAutoFit/>
            </a:bodyPr>
            <a:lstStyle/>
            <a:p>
              <a:pPr algn="ctr"/>
              <a:r>
                <a:rPr lang="en-US" sz="1350" dirty="0">
                  <a:solidFill>
                    <a:srgbClr val="B0722B"/>
                  </a:solidFill>
                  <a:latin typeface="+mn-lt"/>
                  <a:ea typeface="+mn-ea"/>
                  <a:cs typeface="+mn-cs"/>
                </a:rPr>
                <a:t>Tier 1 −2.5</a:t>
              </a:r>
            </a:p>
          </p:txBody>
        </p:sp>
        <p:sp>
          <p:nvSpPr>
            <p:cNvPr id="29" name="TextBox 29"/>
            <p:cNvSpPr txBox="1"/>
            <p:nvPr/>
          </p:nvSpPr>
          <p:spPr>
            <a:xfrm>
              <a:off x="3217668" y="3092768"/>
              <a:ext cx="803663" cy="264033"/>
            </a:xfrm>
            <a:prstGeom prst="rect">
              <a:avLst/>
            </a:prstGeom>
            <a:noFill/>
            <a:ln>
              <a:noFill/>
            </a:ln>
          </p:spPr>
          <p:txBody>
            <a:bodyPr wrap="none" lIns="0" tIns="0" rIns="0" bIns="0" anchor="t" anchorCtr="0">
              <a:spAutoFit/>
            </a:bodyPr>
            <a:lstStyle/>
            <a:p>
              <a:pPr algn="ctr"/>
              <a:r>
                <a:rPr lang="en-US" sz="1350" dirty="0">
                  <a:solidFill>
                    <a:srgbClr val="B0722B"/>
                  </a:solidFill>
                  <a:latin typeface="+mn-lt"/>
                  <a:ea typeface="+mn-ea"/>
                  <a:cs typeface="+mn-cs"/>
                </a:rPr>
                <a:t>Tier 2 −4.0</a:t>
              </a:r>
            </a:p>
          </p:txBody>
        </p:sp>
        <p:sp>
          <p:nvSpPr>
            <p:cNvPr id="30" name="TextBox 30"/>
            <p:cNvSpPr txBox="1"/>
            <p:nvPr/>
          </p:nvSpPr>
          <p:spPr>
            <a:xfrm>
              <a:off x="4284468" y="3378518"/>
              <a:ext cx="803663" cy="264033"/>
            </a:xfrm>
            <a:prstGeom prst="rect">
              <a:avLst/>
            </a:prstGeom>
            <a:noFill/>
            <a:ln>
              <a:noFill/>
            </a:ln>
          </p:spPr>
          <p:txBody>
            <a:bodyPr wrap="none" lIns="0" tIns="0" rIns="0" bIns="0" anchor="t" anchorCtr="0">
              <a:spAutoFit/>
            </a:bodyPr>
            <a:lstStyle/>
            <a:p>
              <a:pPr algn="ctr"/>
              <a:r>
                <a:rPr lang="en-US" sz="1350" dirty="0">
                  <a:solidFill>
                    <a:srgbClr val="B0722B"/>
                  </a:solidFill>
                  <a:latin typeface="+mn-lt"/>
                  <a:ea typeface="+mn-ea"/>
                  <a:cs typeface="+mn-cs"/>
                </a:rPr>
                <a:t>Tier 3 −2.5</a:t>
              </a:r>
            </a:p>
          </p:txBody>
        </p:sp>
        <p:sp>
          <p:nvSpPr>
            <p:cNvPr id="31" name="TextBox 31"/>
            <p:cNvSpPr txBox="1"/>
            <p:nvPr/>
          </p:nvSpPr>
          <p:spPr>
            <a:xfrm>
              <a:off x="5140543" y="3549968"/>
              <a:ext cx="1225113"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Projected 22.0%</a:t>
              </a:r>
            </a:p>
          </p:txBody>
        </p:sp>
      </p:grpSp>
      <p:grpSp>
        <p:nvGrpSpPr>
          <p:cNvPr id="51" name="Group 51"/>
          <p:cNvGrpSpPr/>
          <p:nvPr/>
        </p:nvGrpSpPr>
        <p:grpSpPr>
          <a:xfrm>
            <a:off x="7042404" y="2632710"/>
            <a:ext cx="4539996" cy="1562291"/>
            <a:chOff x="7042404" y="2632710"/>
            <a:chExt cx="4539996" cy="1562291"/>
          </a:xfrm>
        </p:grpSpPr>
        <p:sp>
          <p:nvSpPr>
            <p:cNvPr id="33" name="TextBox 33"/>
            <p:cNvSpPr txBox="1"/>
            <p:nvPr/>
          </p:nvSpPr>
          <p:spPr>
            <a:xfrm>
              <a:off x="7042404" y="2632710"/>
              <a:ext cx="2982948"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ASSUMPTIONS THIS MODEL RESTS ON</a:t>
              </a:r>
            </a:p>
          </p:txBody>
        </p:sp>
        <p:sp>
          <p:nvSpPr>
            <p:cNvPr id="34" name="Line 34"/>
            <p:cNvSpPr/>
            <p:nvPr/>
          </p:nvSpPr>
          <p:spPr>
            <a:xfrm>
              <a:off x="7048500" y="2876550"/>
              <a:ext cx="4533900" cy="9525"/>
            </a:xfrm>
            <a:custGeom>
              <a:avLst/>
              <a:gdLst/>
              <a:ahLst/>
              <a:cxnLst/>
              <a:rect l="l" t="t" r="r" b="b"/>
              <a:pathLst>
                <a:path w="4533900" h="9525">
                  <a:moveTo>
                    <a:pt x="0" y="0"/>
                  </a:moveTo>
                  <a:lnTo>
                    <a:pt x="4533900" y="0"/>
                  </a:lnTo>
                </a:path>
              </a:pathLst>
            </a:custGeom>
            <a:noFill/>
            <a:ln w="9525">
              <a:solidFill>
                <a:schemeClr val="accent6"/>
              </a:solidFill>
            </a:ln>
          </p:spPr>
        </p:sp>
        <p:grpSp>
          <p:nvGrpSpPr>
            <p:cNvPr id="37" name="Group 37"/>
            <p:cNvGrpSpPr/>
            <p:nvPr/>
          </p:nvGrpSpPr>
          <p:grpSpPr>
            <a:xfrm>
              <a:off x="7064375" y="3065462"/>
              <a:ext cx="158749" cy="79375"/>
              <a:chOff x="7064375" y="3065462"/>
              <a:chExt cx="158749" cy="79375"/>
            </a:xfrm>
          </p:grpSpPr>
          <p:sp>
            <p:nvSpPr>
              <p:cNvPr id="35" name="Freeform 35"/>
              <p:cNvSpPr/>
              <p:nvPr/>
            </p:nvSpPr>
            <p:spPr>
              <a:xfrm>
                <a:off x="7104062" y="3065462"/>
                <a:ext cx="119062" cy="79375"/>
              </a:xfrm>
              <a:custGeom>
                <a:avLst/>
                <a:gdLst/>
                <a:ahLst/>
                <a:cxnLst/>
                <a:rect l="l" t="t" r="r" b="b"/>
                <a:pathLst>
                  <a:path w="119062" h="79375">
                    <a:moveTo>
                      <a:pt x="0" y="39687"/>
                    </a:moveTo>
                    <a:lnTo>
                      <a:pt x="39687" y="79375"/>
                    </a:lnTo>
                    <a:lnTo>
                      <a:pt x="119062" y="0"/>
                    </a:lnTo>
                  </a:path>
                </a:pathLst>
              </a:custGeom>
              <a:noFill/>
              <a:ln w="15875">
                <a:solidFill>
                  <a:schemeClr val="accent3"/>
                </a:solidFill>
              </a:ln>
            </p:spPr>
          </p:sp>
          <p:sp>
            <p:nvSpPr>
              <p:cNvPr id="36" name="Freeform 36"/>
              <p:cNvSpPr/>
              <p:nvPr/>
            </p:nvSpPr>
            <p:spPr>
              <a:xfrm>
                <a:off x="7064375" y="3065462"/>
                <a:ext cx="119062" cy="79375"/>
              </a:xfrm>
              <a:custGeom>
                <a:avLst/>
                <a:gdLst/>
                <a:ahLst/>
                <a:cxnLst/>
                <a:rect l="l" t="t" r="r" b="b"/>
                <a:pathLst>
                  <a:path w="119062" h="79375">
                    <a:moveTo>
                      <a:pt x="0" y="39687"/>
                    </a:moveTo>
                    <a:lnTo>
                      <a:pt x="39687" y="79375"/>
                    </a:lnTo>
                    <a:moveTo>
                      <a:pt x="79375" y="39687"/>
                    </a:moveTo>
                    <a:lnTo>
                      <a:pt x="119062" y="0"/>
                    </a:lnTo>
                  </a:path>
                </a:pathLst>
              </a:custGeom>
              <a:noFill/>
              <a:ln w="15875">
                <a:solidFill>
                  <a:schemeClr val="accent3"/>
                </a:solidFill>
              </a:ln>
            </p:spPr>
          </p:sp>
        </p:grpSp>
        <p:sp>
          <p:nvSpPr>
            <p:cNvPr id="38" name="TextBox 38"/>
            <p:cNvSpPr txBox="1"/>
            <p:nvPr/>
          </p:nvSpPr>
          <p:spPr>
            <a:xfrm>
              <a:off x="7346442" y="3016568"/>
              <a:ext cx="302086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Attendance data access from month one</a:t>
              </a:r>
            </a:p>
          </p:txBody>
        </p:sp>
        <p:grpSp>
          <p:nvGrpSpPr>
            <p:cNvPr id="41" name="Group 41"/>
            <p:cNvGrpSpPr/>
            <p:nvPr/>
          </p:nvGrpSpPr>
          <p:grpSpPr>
            <a:xfrm>
              <a:off x="7064375" y="3370262"/>
              <a:ext cx="158749" cy="79375"/>
              <a:chOff x="7064375" y="3370262"/>
              <a:chExt cx="158749" cy="79375"/>
            </a:xfrm>
          </p:grpSpPr>
          <p:sp>
            <p:nvSpPr>
              <p:cNvPr id="39" name="Freeform 39"/>
              <p:cNvSpPr/>
              <p:nvPr/>
            </p:nvSpPr>
            <p:spPr>
              <a:xfrm>
                <a:off x="7104062" y="3370262"/>
                <a:ext cx="119062" cy="79375"/>
              </a:xfrm>
              <a:custGeom>
                <a:avLst/>
                <a:gdLst/>
                <a:ahLst/>
                <a:cxnLst/>
                <a:rect l="l" t="t" r="r" b="b"/>
                <a:pathLst>
                  <a:path w="119062" h="79375">
                    <a:moveTo>
                      <a:pt x="0" y="39687"/>
                    </a:moveTo>
                    <a:lnTo>
                      <a:pt x="39687" y="79375"/>
                    </a:lnTo>
                    <a:lnTo>
                      <a:pt x="119062" y="0"/>
                    </a:lnTo>
                  </a:path>
                </a:pathLst>
              </a:custGeom>
              <a:noFill/>
              <a:ln w="15875">
                <a:solidFill>
                  <a:schemeClr val="accent3"/>
                </a:solidFill>
              </a:ln>
            </p:spPr>
          </p:sp>
          <p:sp>
            <p:nvSpPr>
              <p:cNvPr id="40" name="Freeform 40"/>
              <p:cNvSpPr/>
              <p:nvPr/>
            </p:nvSpPr>
            <p:spPr>
              <a:xfrm>
                <a:off x="7064375" y="3370262"/>
                <a:ext cx="119062" cy="79375"/>
              </a:xfrm>
              <a:custGeom>
                <a:avLst/>
                <a:gdLst/>
                <a:ahLst/>
                <a:cxnLst/>
                <a:rect l="l" t="t" r="r" b="b"/>
                <a:pathLst>
                  <a:path w="119062" h="79375">
                    <a:moveTo>
                      <a:pt x="0" y="39687"/>
                    </a:moveTo>
                    <a:lnTo>
                      <a:pt x="39687" y="79375"/>
                    </a:lnTo>
                    <a:moveTo>
                      <a:pt x="79375" y="39687"/>
                    </a:moveTo>
                    <a:lnTo>
                      <a:pt x="119062" y="0"/>
                    </a:lnTo>
                  </a:path>
                </a:pathLst>
              </a:custGeom>
              <a:noFill/>
              <a:ln w="15875">
                <a:solidFill>
                  <a:schemeClr val="accent3"/>
                </a:solidFill>
              </a:ln>
            </p:spPr>
          </p:sp>
        </p:grpSp>
        <p:sp>
          <p:nvSpPr>
            <p:cNvPr id="42" name="TextBox 42"/>
            <p:cNvSpPr txBox="1"/>
            <p:nvPr/>
          </p:nvSpPr>
          <p:spPr>
            <a:xfrm>
              <a:off x="7346442" y="3321368"/>
              <a:ext cx="308117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One trained attendance lead at every site</a:t>
              </a:r>
            </a:p>
          </p:txBody>
        </p:sp>
        <p:grpSp>
          <p:nvGrpSpPr>
            <p:cNvPr id="45" name="Group 45"/>
            <p:cNvGrpSpPr/>
            <p:nvPr/>
          </p:nvGrpSpPr>
          <p:grpSpPr>
            <a:xfrm>
              <a:off x="7064375" y="3675062"/>
              <a:ext cx="158749" cy="79375"/>
              <a:chOff x="7064375" y="3675062"/>
              <a:chExt cx="158749" cy="79375"/>
            </a:xfrm>
          </p:grpSpPr>
          <p:sp>
            <p:nvSpPr>
              <p:cNvPr id="43" name="Freeform 43"/>
              <p:cNvSpPr/>
              <p:nvPr/>
            </p:nvSpPr>
            <p:spPr>
              <a:xfrm>
                <a:off x="7104062" y="3675062"/>
                <a:ext cx="119062" cy="79375"/>
              </a:xfrm>
              <a:custGeom>
                <a:avLst/>
                <a:gdLst/>
                <a:ahLst/>
                <a:cxnLst/>
                <a:rect l="l" t="t" r="r" b="b"/>
                <a:pathLst>
                  <a:path w="119062" h="79375">
                    <a:moveTo>
                      <a:pt x="0" y="39687"/>
                    </a:moveTo>
                    <a:lnTo>
                      <a:pt x="39687" y="79375"/>
                    </a:lnTo>
                    <a:lnTo>
                      <a:pt x="119062" y="0"/>
                    </a:lnTo>
                  </a:path>
                </a:pathLst>
              </a:custGeom>
              <a:noFill/>
              <a:ln w="15875">
                <a:solidFill>
                  <a:schemeClr val="accent3"/>
                </a:solidFill>
              </a:ln>
            </p:spPr>
          </p:sp>
          <p:sp>
            <p:nvSpPr>
              <p:cNvPr id="44" name="Freeform 44"/>
              <p:cNvSpPr/>
              <p:nvPr/>
            </p:nvSpPr>
            <p:spPr>
              <a:xfrm>
                <a:off x="7064375" y="3675062"/>
                <a:ext cx="119062" cy="79375"/>
              </a:xfrm>
              <a:custGeom>
                <a:avLst/>
                <a:gdLst/>
                <a:ahLst/>
                <a:cxnLst/>
                <a:rect l="l" t="t" r="r" b="b"/>
                <a:pathLst>
                  <a:path w="119062" h="79375">
                    <a:moveTo>
                      <a:pt x="0" y="39687"/>
                    </a:moveTo>
                    <a:lnTo>
                      <a:pt x="39687" y="79375"/>
                    </a:lnTo>
                    <a:moveTo>
                      <a:pt x="79375" y="39687"/>
                    </a:moveTo>
                    <a:lnTo>
                      <a:pt x="119062" y="0"/>
                    </a:lnTo>
                  </a:path>
                </a:pathLst>
              </a:custGeom>
              <a:noFill/>
              <a:ln w="15875">
                <a:solidFill>
                  <a:schemeClr val="accent3"/>
                </a:solidFill>
              </a:ln>
            </p:spPr>
          </p:sp>
        </p:grpSp>
        <p:sp>
          <p:nvSpPr>
            <p:cNvPr id="46" name="TextBox 46"/>
            <p:cNvSpPr txBox="1"/>
            <p:nvPr/>
          </p:nvSpPr>
          <p:spPr>
            <a:xfrm>
              <a:off x="7346442" y="3626168"/>
              <a:ext cx="374684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Family contact in the same week of a Tier 2 trigger</a:t>
              </a:r>
            </a:p>
          </p:txBody>
        </p:sp>
        <p:grpSp>
          <p:nvGrpSpPr>
            <p:cNvPr id="49" name="Group 49"/>
            <p:cNvGrpSpPr/>
            <p:nvPr/>
          </p:nvGrpSpPr>
          <p:grpSpPr>
            <a:xfrm>
              <a:off x="7064375" y="3979862"/>
              <a:ext cx="158749" cy="79375"/>
              <a:chOff x="7064375" y="3979862"/>
              <a:chExt cx="158749" cy="79375"/>
            </a:xfrm>
          </p:grpSpPr>
          <p:sp>
            <p:nvSpPr>
              <p:cNvPr id="47" name="Freeform 47"/>
              <p:cNvSpPr/>
              <p:nvPr/>
            </p:nvSpPr>
            <p:spPr>
              <a:xfrm>
                <a:off x="7104062" y="3979862"/>
                <a:ext cx="119062" cy="79375"/>
              </a:xfrm>
              <a:custGeom>
                <a:avLst/>
                <a:gdLst/>
                <a:ahLst/>
                <a:cxnLst/>
                <a:rect l="l" t="t" r="r" b="b"/>
                <a:pathLst>
                  <a:path w="119062" h="79375">
                    <a:moveTo>
                      <a:pt x="0" y="39687"/>
                    </a:moveTo>
                    <a:lnTo>
                      <a:pt x="39687" y="79375"/>
                    </a:lnTo>
                    <a:lnTo>
                      <a:pt x="119062" y="0"/>
                    </a:lnTo>
                  </a:path>
                </a:pathLst>
              </a:custGeom>
              <a:noFill/>
              <a:ln w="15875">
                <a:solidFill>
                  <a:schemeClr val="accent3"/>
                </a:solidFill>
              </a:ln>
            </p:spPr>
          </p:sp>
          <p:sp>
            <p:nvSpPr>
              <p:cNvPr id="48" name="Freeform 48"/>
              <p:cNvSpPr/>
              <p:nvPr/>
            </p:nvSpPr>
            <p:spPr>
              <a:xfrm>
                <a:off x="7064375" y="3979862"/>
                <a:ext cx="119062" cy="79375"/>
              </a:xfrm>
              <a:custGeom>
                <a:avLst/>
                <a:gdLst/>
                <a:ahLst/>
                <a:cxnLst/>
                <a:rect l="l" t="t" r="r" b="b"/>
                <a:pathLst>
                  <a:path w="119062" h="79375">
                    <a:moveTo>
                      <a:pt x="0" y="39687"/>
                    </a:moveTo>
                    <a:lnTo>
                      <a:pt x="39687" y="79375"/>
                    </a:lnTo>
                    <a:moveTo>
                      <a:pt x="79375" y="39687"/>
                    </a:moveTo>
                    <a:lnTo>
                      <a:pt x="119062" y="0"/>
                    </a:lnTo>
                  </a:path>
                </a:pathLst>
              </a:custGeom>
              <a:noFill/>
              <a:ln w="15875">
                <a:solidFill>
                  <a:schemeClr val="accent3"/>
                </a:solidFill>
              </a:ln>
            </p:spPr>
          </p:sp>
        </p:grpSp>
        <p:sp>
          <p:nvSpPr>
            <p:cNvPr id="50" name="TextBox 50"/>
            <p:cNvSpPr txBox="1"/>
            <p:nvPr/>
          </p:nvSpPr>
          <p:spPr>
            <a:xfrm>
              <a:off x="7346442" y="3930968"/>
              <a:ext cx="36947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 change to the school calendar or bell schedule</a:t>
              </a:r>
            </a:p>
          </p:txBody>
        </p:sp>
      </p:grpSp>
      <p:grpSp>
        <p:nvGrpSpPr>
          <p:cNvPr id="66" name="Group 66"/>
          <p:cNvGrpSpPr/>
          <p:nvPr/>
        </p:nvGrpSpPr>
        <p:grpSpPr>
          <a:xfrm>
            <a:off x="7042404" y="4423410"/>
            <a:ext cx="4539996" cy="1809941"/>
            <a:chOff x="7042404" y="4423410"/>
            <a:chExt cx="4539996" cy="1809941"/>
          </a:xfrm>
        </p:grpSpPr>
        <p:sp>
          <p:nvSpPr>
            <p:cNvPr id="52" name="TextBox 52"/>
            <p:cNvSpPr txBox="1"/>
            <p:nvPr/>
          </p:nvSpPr>
          <p:spPr>
            <a:xfrm>
              <a:off x="7042404" y="4423410"/>
              <a:ext cx="1720557"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WHERE IT FAILS FIRST</a:t>
              </a:r>
            </a:p>
          </p:txBody>
        </p:sp>
        <p:sp>
          <p:nvSpPr>
            <p:cNvPr id="53" name="Line 53"/>
            <p:cNvSpPr/>
            <p:nvPr/>
          </p:nvSpPr>
          <p:spPr>
            <a:xfrm>
              <a:off x="7048500" y="4667250"/>
              <a:ext cx="4533900" cy="9525"/>
            </a:xfrm>
            <a:custGeom>
              <a:avLst/>
              <a:gdLst/>
              <a:ahLst/>
              <a:cxnLst/>
              <a:rect l="l" t="t" r="r" b="b"/>
              <a:pathLst>
                <a:path w="4533900" h="9525">
                  <a:moveTo>
                    <a:pt x="0" y="0"/>
                  </a:moveTo>
                  <a:lnTo>
                    <a:pt x="4533900" y="0"/>
                  </a:lnTo>
                </a:path>
              </a:pathLst>
            </a:custGeom>
            <a:noFill/>
            <a:ln w="9525">
              <a:solidFill>
                <a:schemeClr val="accent6"/>
              </a:solidFill>
            </a:ln>
          </p:spPr>
        </p:sp>
        <p:grpSp>
          <p:nvGrpSpPr>
            <p:cNvPr id="56" name="Group 56"/>
            <p:cNvGrpSpPr/>
            <p:nvPr/>
          </p:nvGrpSpPr>
          <p:grpSpPr>
            <a:xfrm>
              <a:off x="7061600" y="4786312"/>
              <a:ext cx="155005" cy="142875"/>
              <a:chOff x="7061600" y="4786312"/>
              <a:chExt cx="155005" cy="142875"/>
            </a:xfrm>
          </p:grpSpPr>
          <p:sp>
            <p:nvSpPr>
              <p:cNvPr id="54" name="Freeform 54"/>
              <p:cNvSpPr/>
              <p:nvPr/>
            </p:nvSpPr>
            <p:spPr>
              <a:xfrm>
                <a:off x="7061600" y="478631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5875">
                <a:solidFill>
                  <a:srgbClr val="B0722B"/>
                </a:solidFill>
              </a:ln>
            </p:spPr>
          </p:sp>
          <p:sp>
            <p:nvSpPr>
              <p:cNvPr id="55" name="Freeform 55"/>
              <p:cNvSpPr/>
              <p:nvPr/>
            </p:nvSpPr>
            <p:spPr>
              <a:xfrm>
                <a:off x="7167562" y="4897437"/>
                <a:ext cx="47625" cy="31750"/>
              </a:xfrm>
              <a:custGeom>
                <a:avLst/>
                <a:gdLst/>
                <a:ahLst/>
                <a:cxnLst/>
                <a:rect l="l" t="t" r="r" b="b"/>
                <a:pathLst>
                  <a:path w="47625" h="31750">
                    <a:moveTo>
                      <a:pt x="0" y="15875"/>
                    </a:moveTo>
                    <a:lnTo>
                      <a:pt x="15875" y="31750"/>
                    </a:lnTo>
                    <a:lnTo>
                      <a:pt x="47625" y="0"/>
                    </a:lnTo>
                  </a:path>
                </a:pathLst>
              </a:custGeom>
              <a:noFill/>
              <a:ln w="15875">
                <a:solidFill>
                  <a:srgbClr val="B0722B"/>
                </a:solidFill>
              </a:ln>
            </p:spPr>
          </p:sp>
        </p:grpSp>
        <p:sp>
          <p:nvSpPr>
            <p:cNvPr id="57" name="TextBox 57"/>
            <p:cNvSpPr txBox="1"/>
            <p:nvPr/>
          </p:nvSpPr>
          <p:spPr>
            <a:xfrm>
              <a:off x="7346442" y="4769168"/>
              <a:ext cx="3408957"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Site staff time is not released — the gate holds</a:t>
              </a:r>
              <a:br/>
              <a:r>
                <a:rPr lang="en-US" sz="1350" dirty="0">
                  <a:solidFill>
                    <a:schemeClr val="dk1"/>
                  </a:solidFill>
                  <a:latin typeface="+mn-lt"/>
                  <a:ea typeface="+mn-ea"/>
                  <a:cs typeface="+mn-cs"/>
                </a:rPr>
                <a:t>rollout until leads are named · executive sponsor</a:t>
              </a:r>
            </a:p>
          </p:txBody>
        </p:sp>
        <p:grpSp>
          <p:nvGrpSpPr>
            <p:cNvPr id="60" name="Group 60"/>
            <p:cNvGrpSpPr/>
            <p:nvPr/>
          </p:nvGrpSpPr>
          <p:grpSpPr>
            <a:xfrm>
              <a:off x="7061600" y="5281612"/>
              <a:ext cx="155005" cy="142875"/>
              <a:chOff x="7061600" y="5281612"/>
              <a:chExt cx="155005" cy="142875"/>
            </a:xfrm>
          </p:grpSpPr>
          <p:sp>
            <p:nvSpPr>
              <p:cNvPr id="58" name="Freeform 58"/>
              <p:cNvSpPr/>
              <p:nvPr/>
            </p:nvSpPr>
            <p:spPr>
              <a:xfrm>
                <a:off x="7061600" y="528161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5875">
                <a:solidFill>
                  <a:srgbClr val="B0722B"/>
                </a:solidFill>
              </a:ln>
            </p:spPr>
          </p:sp>
          <p:sp>
            <p:nvSpPr>
              <p:cNvPr id="59" name="Freeform 59"/>
              <p:cNvSpPr/>
              <p:nvPr/>
            </p:nvSpPr>
            <p:spPr>
              <a:xfrm>
                <a:off x="7167562" y="5392737"/>
                <a:ext cx="47625" cy="31750"/>
              </a:xfrm>
              <a:custGeom>
                <a:avLst/>
                <a:gdLst/>
                <a:ahLst/>
                <a:cxnLst/>
                <a:rect l="l" t="t" r="r" b="b"/>
                <a:pathLst>
                  <a:path w="47625" h="31750">
                    <a:moveTo>
                      <a:pt x="0" y="15875"/>
                    </a:moveTo>
                    <a:lnTo>
                      <a:pt x="15875" y="31750"/>
                    </a:lnTo>
                    <a:lnTo>
                      <a:pt x="47625" y="0"/>
                    </a:lnTo>
                  </a:path>
                </a:pathLst>
              </a:custGeom>
              <a:noFill/>
              <a:ln w="15875">
                <a:solidFill>
                  <a:srgbClr val="B0722B"/>
                </a:solidFill>
              </a:ln>
            </p:spPr>
          </p:sp>
        </p:grpSp>
        <p:sp>
          <p:nvSpPr>
            <p:cNvPr id="61" name="TextBox 61"/>
            <p:cNvSpPr txBox="1"/>
            <p:nvPr/>
          </p:nvSpPr>
          <p:spPr>
            <a:xfrm>
              <a:off x="7346442" y="5264468"/>
              <a:ext cx="3394590"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Data access slips past month one — the baseline</a:t>
              </a:r>
              <a:br/>
              <a:r>
                <a:rPr lang="en-US" sz="1350" dirty="0">
                  <a:solidFill>
                    <a:schemeClr val="dk1"/>
                  </a:solidFill>
                  <a:latin typeface="+mn-lt"/>
                  <a:ea typeface="+mn-ea"/>
                  <a:cs typeface="+mn-cs"/>
                </a:rPr>
                <a:t>narrows to the four largest sites · data lead</a:t>
              </a:r>
            </a:p>
          </p:txBody>
        </p:sp>
        <p:grpSp>
          <p:nvGrpSpPr>
            <p:cNvPr id="64" name="Group 64"/>
            <p:cNvGrpSpPr/>
            <p:nvPr/>
          </p:nvGrpSpPr>
          <p:grpSpPr>
            <a:xfrm>
              <a:off x="7061600" y="5776912"/>
              <a:ext cx="155005" cy="142875"/>
              <a:chOff x="7061600" y="5776912"/>
              <a:chExt cx="155005" cy="142875"/>
            </a:xfrm>
          </p:grpSpPr>
          <p:sp>
            <p:nvSpPr>
              <p:cNvPr id="62" name="Freeform 62"/>
              <p:cNvSpPr/>
              <p:nvPr/>
            </p:nvSpPr>
            <p:spPr>
              <a:xfrm>
                <a:off x="7061600" y="577691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5875">
                <a:solidFill>
                  <a:srgbClr val="B0722B"/>
                </a:solidFill>
              </a:ln>
            </p:spPr>
          </p:sp>
          <p:sp>
            <p:nvSpPr>
              <p:cNvPr id="63" name="Freeform 63"/>
              <p:cNvSpPr/>
              <p:nvPr/>
            </p:nvSpPr>
            <p:spPr>
              <a:xfrm>
                <a:off x="7167562" y="5888037"/>
                <a:ext cx="47625" cy="31750"/>
              </a:xfrm>
              <a:custGeom>
                <a:avLst/>
                <a:gdLst/>
                <a:ahLst/>
                <a:cxnLst/>
                <a:rect l="l" t="t" r="r" b="b"/>
                <a:pathLst>
                  <a:path w="47625" h="31750">
                    <a:moveTo>
                      <a:pt x="0" y="15875"/>
                    </a:moveTo>
                    <a:lnTo>
                      <a:pt x="15875" y="31750"/>
                    </a:lnTo>
                    <a:lnTo>
                      <a:pt x="47625" y="0"/>
                    </a:lnTo>
                  </a:path>
                </a:pathLst>
              </a:custGeom>
              <a:noFill/>
              <a:ln w="15875">
                <a:solidFill>
                  <a:srgbClr val="B0722B"/>
                </a:solidFill>
              </a:ln>
            </p:spPr>
          </p:sp>
        </p:grpSp>
        <p:sp>
          <p:nvSpPr>
            <p:cNvPr id="65" name="TextBox 65"/>
            <p:cNvSpPr txBox="1"/>
            <p:nvPr/>
          </p:nvSpPr>
          <p:spPr>
            <a:xfrm>
              <a:off x="7346442" y="5759768"/>
              <a:ext cx="3623527"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Tier 3 partner capacity is short — agreements move</a:t>
              </a:r>
              <a:br/>
              <a:r>
                <a:rPr lang="en-US" sz="1350" dirty="0">
                  <a:solidFill>
                    <a:schemeClr val="dk1"/>
                  </a:solidFill>
                  <a:latin typeface="+mn-lt"/>
                  <a:ea typeface="+mn-ea"/>
                  <a:cs typeface="+mn-cs"/>
                </a:rPr>
                <a:t>to Phase 2, Tier 3 stays at pilot sites · Lantern</a:t>
              </a:r>
            </a:p>
          </p:txBody>
        </p:sp>
      </p:grpSp>
      <p:grpSp>
        <p:nvGrpSpPr>
          <p:cNvPr id="68" name="Group 68"/>
          <p:cNvGrpSpPr/>
          <p:nvPr/>
        </p:nvGrpSpPr>
        <p:grpSpPr>
          <a:xfrm>
            <a:off x="603504" y="6404610"/>
            <a:ext cx="3809558" cy="444246"/>
            <a:chOff x="603504" y="6404610"/>
            <a:chExt cx="3809558" cy="444246"/>
          </a:xfrm>
        </p:grpSpPr>
        <p:sp>
          <p:nvSpPr>
            <p:cNvPr id="67" name="TextBox 67"/>
            <p:cNvSpPr txBox="1"/>
            <p:nvPr/>
          </p:nvSpPr>
          <p:spPr>
            <a:xfrm>
              <a:off x="603504" y="6404610"/>
              <a:ext cx="3809558" cy="444246"/>
            </a:xfrm>
            <a:prstGeom prst="rect">
              <a:avLst/>
            </a:prstGeom>
            <a:noFill/>
            <a:ln>
              <a:noFill/>
            </a:ln>
          </p:spPr>
          <p:txBody>
            <a:bodyPr wrap="none" lIns="0" tIns="0" rIns="0" bIns="0" anchor="t" anchorCtr="0">
              <a:spAutoFit/>
            </a:bodyPr>
            <a:lstStyle/>
            <a:p>
              <a:pPr algn="l">
                <a:lnSpc>
                  <a:spcPts val="1650"/>
                </a:lnSpc>
              </a:pPr>
              <a:r>
                <a:rPr lang="en-US" sz="1200" dirty="0">
                  <a:solidFill>
                    <a:srgbClr val="B0722B"/>
                  </a:solidFill>
                  <a:latin typeface="+mn-lt"/>
                  <a:ea typeface="+mn-ea"/>
                  <a:cs typeface="+mn-cs"/>
                </a:rPr>
                <a:t>Modeled and illustrative, not measured. These values are not</a:t>
              </a:r>
              <a:br/>
              <a:r>
                <a:rPr lang="en-US" sz="1200" dirty="0">
                  <a:solidFill>
                    <a:srgbClr val="B0722B"/>
                  </a:solidFill>
                  <a:latin typeface="+mn-lt"/>
                  <a:ea typeface="+mn-ea"/>
                  <a:cs typeface="+mn-cs"/>
                </a:rPr>
                <a:t>derived from the NYC benchmark series shown earlier.</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40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6"/>
                                        </p:tgtEl>
                                        <p:attrNameLst>
                                          <p:attrName>style.visibility</p:attrName>
                                        </p:attrNameLst>
                                      </p:cBhvr>
                                      <p:to>
                                        <p:strVal val="visible"/>
                                      </p:to>
                                    </p:set>
                                    <p:animEffect transition="in" filter="fade">
                                      <p:cBhvr>
                                        <p:cTn id="11"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Freeform 2"/>
          <p:cNvSpPr/>
          <p:nvPr/>
        </p:nvSpPr>
        <p:spPr>
          <a:xfrm>
            <a:off x="10096500" y="342900"/>
            <a:ext cx="1714500" cy="1714500"/>
          </a:xfrm>
          <a:prstGeom prst="arc">
            <a:avLst/>
          </a:prstGeom>
          <a:noFill/>
          <a:ln w="28575">
            <a:solidFill>
              <a:schemeClr val="accent2"/>
            </a:solidFill>
          </a:ln>
        </p:spPr>
      </p:sp>
      <p:grpSp>
        <p:nvGrpSpPr>
          <p:cNvPr id="4" name="Group 4"/>
          <p:cNvGrpSpPr/>
          <p:nvPr/>
        </p:nvGrpSpPr>
        <p:grpSpPr>
          <a:xfrm>
            <a:off x="602742" y="749618"/>
            <a:ext cx="1449275" cy="264033"/>
            <a:chOff x="602742" y="749618"/>
            <a:chExt cx="1449275" cy="264033"/>
          </a:xfrm>
        </p:grpSpPr>
        <p:sp>
          <p:nvSpPr>
            <p:cNvPr id="3" name="TextBox 3"/>
            <p:cNvSpPr txBox="1"/>
            <p:nvPr/>
          </p:nvSpPr>
          <p:spPr>
            <a:xfrm>
              <a:off x="602742" y="749618"/>
              <a:ext cx="1449275" cy="264033"/>
            </a:xfrm>
            <a:prstGeom prst="rect">
              <a:avLst/>
            </a:prstGeom>
            <a:noFill/>
            <a:ln>
              <a:noFill/>
            </a:ln>
          </p:spPr>
          <p:txBody>
            <a:bodyPr wrap="none" lIns="0" tIns="0" rIns="0" bIns="0" anchor="t" anchorCtr="0">
              <a:spAutoFit/>
            </a:bodyPr>
            <a:lstStyle/>
            <a:p>
              <a:pPr algn="l"/>
              <a:r>
                <a:rPr lang="en-US" sz="1350" spc="150" dirty="0">
                  <a:solidFill>
                    <a:schemeClr val="accent5"/>
                  </a:solidFill>
                  <a:latin typeface="+mn-lt"/>
                  <a:ea typeface="+mn-ea"/>
                  <a:cs typeface="+mn-cs"/>
                </a:rPr>
                <a:t>THE NEXT STEP</a:t>
              </a:r>
            </a:p>
          </p:txBody>
        </p:sp>
      </p:grpSp>
      <p:grpSp>
        <p:nvGrpSpPr>
          <p:cNvPr id="7" name="Group 7"/>
          <p:cNvGrpSpPr/>
          <p:nvPr/>
        </p:nvGrpSpPr>
        <p:grpSpPr>
          <a:xfrm>
            <a:off x="594360" y="1104900"/>
            <a:ext cx="10988040" cy="586740"/>
            <a:chOff x="594360" y="1104900"/>
            <a:chExt cx="10988040" cy="586740"/>
          </a:xfrm>
        </p:grpSpPr>
        <p:sp>
          <p:nvSpPr>
            <p:cNvPr id="5" name="TextBox 5"/>
            <p:cNvSpPr txBox="1"/>
            <p:nvPr/>
          </p:nvSpPr>
          <p:spPr>
            <a:xfrm>
              <a:off x="594360" y="1104900"/>
              <a:ext cx="600922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One vote, on 8 October 2026</a:t>
              </a:r>
            </a:p>
          </p:txBody>
        </p:sp>
        <p:sp>
          <p:nvSpPr>
            <p:cNvPr id="6" name="Line 6"/>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8932" y="1868805"/>
            <a:ext cx="8621656" cy="410718"/>
            <a:chOff x="598932" y="1868805"/>
            <a:chExt cx="8621656" cy="410718"/>
          </a:xfrm>
        </p:grpSpPr>
        <p:sp>
          <p:nvSpPr>
            <p:cNvPr id="8" name="TextBox 8"/>
            <p:cNvSpPr txBox="1"/>
            <p:nvPr/>
          </p:nvSpPr>
          <p:spPr>
            <a:xfrm>
              <a:off x="598932" y="1868805"/>
              <a:ext cx="862165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Approve </a:t>
              </a:r>
              <a:r>
                <a:rPr lang="en-US" sz="2100" b="1" dirty="0">
                  <a:solidFill>
                    <a:schemeClr val="accent1"/>
                  </a:solidFill>
                  <a:latin typeface="+mn-lt"/>
                  <a:ea typeface="+mn-ea"/>
                  <a:cs typeface="+mn-cs"/>
                </a:rPr>
                <a:t>Phase 1</a:t>
              </a:r>
              <a:r>
                <a:rPr lang="en-US" sz="2100" dirty="0">
                  <a:solidFill>
                    <a:schemeClr val="dk1"/>
                  </a:solidFill>
                  <a:latin typeface="+mn-lt"/>
                  <a:ea typeface="+mn-ea"/>
                  <a:cs typeface="+mn-cs"/>
                </a:rPr>
                <a:t xml:space="preserve"> and name the executive sponsor at the October meeting.</a:t>
              </a:r>
            </a:p>
          </p:txBody>
        </p:sp>
      </p:grpSp>
      <p:grpSp>
        <p:nvGrpSpPr>
          <p:cNvPr id="16" name="Group 16"/>
          <p:cNvGrpSpPr/>
          <p:nvPr/>
        </p:nvGrpSpPr>
        <p:grpSpPr>
          <a:xfrm>
            <a:off x="609600" y="2667000"/>
            <a:ext cx="6057900" cy="1809750"/>
            <a:chOff x="609600" y="2667000"/>
            <a:chExt cx="6057900" cy="1809750"/>
          </a:xfrm>
        </p:grpSpPr>
        <p:sp>
          <p:nvSpPr>
            <p:cNvPr id="10" name="Freeform 10"/>
            <p:cNvSpPr/>
            <p:nvPr/>
          </p:nvSpPr>
          <p:spPr>
            <a:xfrm>
              <a:off x="609600" y="3200400"/>
              <a:ext cx="723900" cy="533400"/>
            </a:xfrm>
            <a:prstGeom prst="rightArrow">
              <a:avLst/>
            </a:prstGeom>
            <a:solidFill>
              <a:schemeClr val="accent2"/>
            </a:solidFill>
            <a:ln>
              <a:noFill/>
            </a:ln>
          </p:spPr>
        </p:sp>
        <p:sp>
          <p:nvSpPr>
            <p:cNvPr id="11" name="Rectangle 11"/>
            <p:cNvSpPr/>
            <p:nvPr/>
          </p:nvSpPr>
          <p:spPr>
            <a:xfrm>
              <a:off x="1524000" y="2667000"/>
              <a:ext cx="5143500" cy="1809750"/>
            </a:xfrm>
            <a:prstGeom prst="roundRect">
              <a:avLst>
                <a:gd name="adj" fmla="val 8421"/>
              </a:avLst>
            </a:prstGeom>
            <a:solidFill>
              <a:schemeClr val="lt1"/>
            </a:solidFill>
            <a:ln>
              <a:noFill/>
            </a:ln>
            <a:effectLst>
              <a:outerShdw blurRad="152400" dist="57150" dir="5400000" algn="ctr" rotWithShape="0">
                <a:srgbClr val="000000">
                  <a:alpha val="7500"/>
                </a:srgbClr>
              </a:outerShdw>
            </a:effectLst>
          </p:spPr>
        </p:sp>
        <p:sp>
          <p:nvSpPr>
            <p:cNvPr id="12" name="TextBox 12"/>
            <p:cNvSpPr txBox="1"/>
            <p:nvPr/>
          </p:nvSpPr>
          <p:spPr>
            <a:xfrm>
              <a:off x="1746504" y="2842260"/>
              <a:ext cx="653518"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THE ASK</a:t>
              </a:r>
            </a:p>
          </p:txBody>
        </p:sp>
        <p:sp>
          <p:nvSpPr>
            <p:cNvPr id="13" name="TextBox 13"/>
            <p:cNvSpPr txBox="1"/>
            <p:nvPr/>
          </p:nvSpPr>
          <p:spPr>
            <a:xfrm>
              <a:off x="1741932" y="3126105"/>
              <a:ext cx="4052533" cy="753618"/>
            </a:xfrm>
            <a:prstGeom prst="rect">
              <a:avLst/>
            </a:prstGeom>
            <a:noFill/>
            <a:ln>
              <a:noFill/>
            </a:ln>
          </p:spPr>
          <p:txBody>
            <a:bodyPr wrap="none" lIns="0" tIns="0" rIns="0" bIns="0" anchor="t" anchorCtr="0">
              <a:spAutoFit/>
            </a:bodyPr>
            <a:lstStyle/>
            <a:p>
              <a:pPr algn="l">
                <a:lnSpc>
                  <a:spcPts val="2700"/>
                </a:lnSpc>
              </a:pPr>
              <a:r>
                <a:rPr lang="en-US" sz="2100" b="1" dirty="0">
                  <a:solidFill>
                    <a:schemeClr val="accent1"/>
                  </a:solidFill>
                  <a:latin typeface="+mn-lt"/>
                  <a:ea typeface="+mn-ea"/>
                  <a:cs typeface="+mn-cs"/>
                </a:rPr>
                <a:t>The board approves Phase 1 funding</a:t>
              </a:r>
              <a:br/>
              <a:r>
                <a:rPr lang="en-US" sz="2100" b="1" dirty="0">
                  <a:solidFill>
                    <a:schemeClr val="accent1"/>
                  </a:solidFill>
                  <a:latin typeface="+mn-lt"/>
                  <a:ea typeface="+mn-ea"/>
                  <a:cs typeface="+mn-cs"/>
                </a:rPr>
                <a:t>and names the executive sponsor.</a:t>
              </a:r>
            </a:p>
          </p:txBody>
        </p:sp>
        <p:sp>
          <p:nvSpPr>
            <p:cNvPr id="14" name="TextBox 14"/>
            <p:cNvSpPr txBox="1"/>
            <p:nvPr/>
          </p:nvSpPr>
          <p:spPr>
            <a:xfrm>
              <a:off x="1745742" y="3911918"/>
              <a:ext cx="251832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Regular meeting, 8 October 2026.</a:t>
              </a:r>
            </a:p>
          </p:txBody>
        </p:sp>
        <p:sp>
          <p:nvSpPr>
            <p:cNvPr id="15" name="TextBox 15"/>
            <p:cNvSpPr txBox="1"/>
            <p:nvPr/>
          </p:nvSpPr>
          <p:spPr>
            <a:xfrm>
              <a:off x="1745742" y="4159568"/>
              <a:ext cx="39395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superintendent brings the item; the board votes.</a:t>
              </a:r>
            </a:p>
          </p:txBody>
        </p:sp>
      </p:grpSp>
      <p:grpSp>
        <p:nvGrpSpPr>
          <p:cNvPr id="32" name="Group 32"/>
          <p:cNvGrpSpPr/>
          <p:nvPr/>
        </p:nvGrpSpPr>
        <p:grpSpPr>
          <a:xfrm>
            <a:off x="653256" y="4750118"/>
            <a:ext cx="5002571" cy="873633"/>
            <a:chOff x="653256" y="4750118"/>
            <a:chExt cx="5002571" cy="873633"/>
          </a:xfrm>
        </p:grpSpPr>
        <p:grpSp>
          <p:nvGrpSpPr>
            <p:cNvPr id="20" name="Group 20"/>
            <p:cNvGrpSpPr/>
            <p:nvPr/>
          </p:nvGrpSpPr>
          <p:grpSpPr>
            <a:xfrm>
              <a:off x="653256" y="4813300"/>
              <a:ext cx="122238" cy="69850"/>
              <a:chOff x="653256" y="4813300"/>
              <a:chExt cx="122238" cy="69850"/>
            </a:xfrm>
          </p:grpSpPr>
          <p:sp>
            <p:nvSpPr>
              <p:cNvPr id="17" name="Freeform 17"/>
              <p:cNvSpPr/>
              <p:nvPr/>
            </p:nvSpPr>
            <p:spPr>
              <a:xfrm>
                <a:off x="653256" y="4848225"/>
                <a:ext cx="122238" cy="9525"/>
              </a:xfrm>
              <a:custGeom>
                <a:avLst/>
                <a:gdLst/>
                <a:ahLst/>
                <a:cxnLst/>
                <a:rect l="l" t="t" r="r" b="b"/>
                <a:pathLst>
                  <a:path w="122238" h="9525">
                    <a:moveTo>
                      <a:pt x="0" y="0"/>
                    </a:moveTo>
                    <a:lnTo>
                      <a:pt x="122238" y="0"/>
                    </a:lnTo>
                  </a:path>
                </a:pathLst>
              </a:custGeom>
              <a:noFill/>
              <a:ln w="17463">
                <a:solidFill>
                  <a:schemeClr val="accent3"/>
                </a:solidFill>
              </a:ln>
            </p:spPr>
          </p:sp>
          <p:sp>
            <p:nvSpPr>
              <p:cNvPr id="18" name="Freeform 18"/>
              <p:cNvSpPr/>
              <p:nvPr/>
            </p:nvSpPr>
            <p:spPr>
              <a:xfrm>
                <a:off x="740569" y="4848225"/>
                <a:ext cx="34925" cy="34925"/>
              </a:xfrm>
              <a:custGeom>
                <a:avLst/>
                <a:gdLst/>
                <a:ahLst/>
                <a:cxnLst/>
                <a:rect l="l" t="t" r="r" b="b"/>
                <a:pathLst>
                  <a:path w="34925" h="34925">
                    <a:moveTo>
                      <a:pt x="0" y="34925"/>
                    </a:moveTo>
                    <a:lnTo>
                      <a:pt x="34925" y="0"/>
                    </a:lnTo>
                  </a:path>
                </a:pathLst>
              </a:custGeom>
              <a:noFill/>
              <a:ln w="17463">
                <a:solidFill>
                  <a:schemeClr val="accent3"/>
                </a:solidFill>
              </a:ln>
            </p:spPr>
          </p:sp>
          <p:sp>
            <p:nvSpPr>
              <p:cNvPr id="19" name="Freeform 19"/>
              <p:cNvSpPr/>
              <p:nvPr/>
            </p:nvSpPr>
            <p:spPr>
              <a:xfrm>
                <a:off x="740569" y="4813300"/>
                <a:ext cx="34925" cy="34925"/>
              </a:xfrm>
              <a:custGeom>
                <a:avLst/>
                <a:gdLst/>
                <a:ahLst/>
                <a:cxnLst/>
                <a:rect l="l" t="t" r="r" b="b"/>
                <a:pathLst>
                  <a:path w="34925" h="34925">
                    <a:moveTo>
                      <a:pt x="0" y="0"/>
                    </a:moveTo>
                    <a:lnTo>
                      <a:pt x="34925" y="34925"/>
                    </a:lnTo>
                  </a:path>
                </a:pathLst>
              </a:custGeom>
              <a:noFill/>
              <a:ln w="17463">
                <a:solidFill>
                  <a:schemeClr val="accent3"/>
                </a:solidFill>
              </a:ln>
            </p:spPr>
          </p:sp>
        </p:grpSp>
        <p:sp>
          <p:nvSpPr>
            <p:cNvPr id="21" name="TextBox 21"/>
            <p:cNvSpPr txBox="1"/>
            <p:nvPr/>
          </p:nvSpPr>
          <p:spPr>
            <a:xfrm>
              <a:off x="907542" y="4750118"/>
              <a:ext cx="47333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Within two weeks of the vote, the data access request is issued.</a:t>
              </a:r>
            </a:p>
          </p:txBody>
        </p:sp>
        <p:grpSp>
          <p:nvGrpSpPr>
            <p:cNvPr id="25" name="Group 25"/>
            <p:cNvGrpSpPr/>
            <p:nvPr/>
          </p:nvGrpSpPr>
          <p:grpSpPr>
            <a:xfrm>
              <a:off x="653256" y="5118100"/>
              <a:ext cx="122238" cy="69850"/>
              <a:chOff x="653256" y="5118100"/>
              <a:chExt cx="122238" cy="69850"/>
            </a:xfrm>
          </p:grpSpPr>
          <p:sp>
            <p:nvSpPr>
              <p:cNvPr id="22" name="Freeform 22"/>
              <p:cNvSpPr/>
              <p:nvPr/>
            </p:nvSpPr>
            <p:spPr>
              <a:xfrm>
                <a:off x="653256" y="5153025"/>
                <a:ext cx="122238" cy="9525"/>
              </a:xfrm>
              <a:custGeom>
                <a:avLst/>
                <a:gdLst/>
                <a:ahLst/>
                <a:cxnLst/>
                <a:rect l="l" t="t" r="r" b="b"/>
                <a:pathLst>
                  <a:path w="122238" h="9525">
                    <a:moveTo>
                      <a:pt x="0" y="0"/>
                    </a:moveTo>
                    <a:lnTo>
                      <a:pt x="122238" y="0"/>
                    </a:lnTo>
                  </a:path>
                </a:pathLst>
              </a:custGeom>
              <a:noFill/>
              <a:ln w="17463">
                <a:solidFill>
                  <a:schemeClr val="accent3"/>
                </a:solidFill>
              </a:ln>
            </p:spPr>
          </p:sp>
          <p:sp>
            <p:nvSpPr>
              <p:cNvPr id="23" name="Freeform 23"/>
              <p:cNvSpPr/>
              <p:nvPr/>
            </p:nvSpPr>
            <p:spPr>
              <a:xfrm>
                <a:off x="740569" y="5153025"/>
                <a:ext cx="34925" cy="34925"/>
              </a:xfrm>
              <a:custGeom>
                <a:avLst/>
                <a:gdLst/>
                <a:ahLst/>
                <a:cxnLst/>
                <a:rect l="l" t="t" r="r" b="b"/>
                <a:pathLst>
                  <a:path w="34925" h="34925">
                    <a:moveTo>
                      <a:pt x="0" y="34925"/>
                    </a:moveTo>
                    <a:lnTo>
                      <a:pt x="34925" y="0"/>
                    </a:lnTo>
                  </a:path>
                </a:pathLst>
              </a:custGeom>
              <a:noFill/>
              <a:ln w="17463">
                <a:solidFill>
                  <a:schemeClr val="accent3"/>
                </a:solidFill>
              </a:ln>
            </p:spPr>
          </p:sp>
          <p:sp>
            <p:nvSpPr>
              <p:cNvPr id="24" name="Freeform 24"/>
              <p:cNvSpPr/>
              <p:nvPr/>
            </p:nvSpPr>
            <p:spPr>
              <a:xfrm>
                <a:off x="740569" y="5118100"/>
                <a:ext cx="34925" cy="34925"/>
              </a:xfrm>
              <a:custGeom>
                <a:avLst/>
                <a:gdLst/>
                <a:ahLst/>
                <a:cxnLst/>
                <a:rect l="l" t="t" r="r" b="b"/>
                <a:pathLst>
                  <a:path w="34925" h="34925">
                    <a:moveTo>
                      <a:pt x="0" y="0"/>
                    </a:moveTo>
                    <a:lnTo>
                      <a:pt x="34925" y="34925"/>
                    </a:lnTo>
                  </a:path>
                </a:pathLst>
              </a:custGeom>
              <a:noFill/>
              <a:ln w="17463">
                <a:solidFill>
                  <a:schemeClr val="accent3"/>
                </a:solidFill>
              </a:ln>
            </p:spPr>
          </p:sp>
        </p:grpSp>
        <p:sp>
          <p:nvSpPr>
            <p:cNvPr id="26" name="TextBox 26"/>
            <p:cNvSpPr txBox="1"/>
            <p:nvPr/>
          </p:nvSpPr>
          <p:spPr>
            <a:xfrm>
              <a:off x="907542" y="5054918"/>
              <a:ext cx="34163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 November, the baseline report is delivered.</a:t>
              </a:r>
            </a:p>
          </p:txBody>
        </p:sp>
        <p:grpSp>
          <p:nvGrpSpPr>
            <p:cNvPr id="30" name="Group 30"/>
            <p:cNvGrpSpPr/>
            <p:nvPr/>
          </p:nvGrpSpPr>
          <p:grpSpPr>
            <a:xfrm>
              <a:off x="653256" y="5422900"/>
              <a:ext cx="122238" cy="69850"/>
              <a:chOff x="653256" y="5422900"/>
              <a:chExt cx="122238" cy="69850"/>
            </a:xfrm>
          </p:grpSpPr>
          <p:sp>
            <p:nvSpPr>
              <p:cNvPr id="27" name="Freeform 27"/>
              <p:cNvSpPr/>
              <p:nvPr/>
            </p:nvSpPr>
            <p:spPr>
              <a:xfrm>
                <a:off x="653256" y="5457825"/>
                <a:ext cx="122238" cy="9525"/>
              </a:xfrm>
              <a:custGeom>
                <a:avLst/>
                <a:gdLst/>
                <a:ahLst/>
                <a:cxnLst/>
                <a:rect l="l" t="t" r="r" b="b"/>
                <a:pathLst>
                  <a:path w="122238" h="9525">
                    <a:moveTo>
                      <a:pt x="0" y="0"/>
                    </a:moveTo>
                    <a:lnTo>
                      <a:pt x="122238" y="0"/>
                    </a:lnTo>
                  </a:path>
                </a:pathLst>
              </a:custGeom>
              <a:noFill/>
              <a:ln w="17463">
                <a:solidFill>
                  <a:schemeClr val="accent3"/>
                </a:solidFill>
              </a:ln>
            </p:spPr>
          </p:sp>
          <p:sp>
            <p:nvSpPr>
              <p:cNvPr id="28" name="Freeform 28"/>
              <p:cNvSpPr/>
              <p:nvPr/>
            </p:nvSpPr>
            <p:spPr>
              <a:xfrm>
                <a:off x="740569" y="5457825"/>
                <a:ext cx="34925" cy="34925"/>
              </a:xfrm>
              <a:custGeom>
                <a:avLst/>
                <a:gdLst/>
                <a:ahLst/>
                <a:cxnLst/>
                <a:rect l="l" t="t" r="r" b="b"/>
                <a:pathLst>
                  <a:path w="34925" h="34925">
                    <a:moveTo>
                      <a:pt x="0" y="34925"/>
                    </a:moveTo>
                    <a:lnTo>
                      <a:pt x="34925" y="0"/>
                    </a:lnTo>
                  </a:path>
                </a:pathLst>
              </a:custGeom>
              <a:noFill/>
              <a:ln w="17463">
                <a:solidFill>
                  <a:schemeClr val="accent3"/>
                </a:solidFill>
              </a:ln>
            </p:spPr>
          </p:sp>
          <p:sp>
            <p:nvSpPr>
              <p:cNvPr id="29" name="Freeform 29"/>
              <p:cNvSpPr/>
              <p:nvPr/>
            </p:nvSpPr>
            <p:spPr>
              <a:xfrm>
                <a:off x="740569" y="5422900"/>
                <a:ext cx="34925" cy="34925"/>
              </a:xfrm>
              <a:custGeom>
                <a:avLst/>
                <a:gdLst/>
                <a:ahLst/>
                <a:cxnLst/>
                <a:rect l="l" t="t" r="r" b="b"/>
                <a:pathLst>
                  <a:path w="34925" h="34925">
                    <a:moveTo>
                      <a:pt x="0" y="0"/>
                    </a:moveTo>
                    <a:lnTo>
                      <a:pt x="34925" y="34925"/>
                    </a:lnTo>
                  </a:path>
                </a:pathLst>
              </a:custGeom>
              <a:noFill/>
              <a:ln w="17463">
                <a:solidFill>
                  <a:schemeClr val="accent3"/>
                </a:solidFill>
              </a:ln>
            </p:spPr>
          </p:sp>
        </p:grpSp>
        <p:sp>
          <p:nvSpPr>
            <p:cNvPr id="31" name="TextBox 31"/>
            <p:cNvSpPr txBox="1"/>
            <p:nvPr/>
          </p:nvSpPr>
          <p:spPr>
            <a:xfrm>
              <a:off x="907542" y="5359718"/>
              <a:ext cx="474828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Before then, we need one named data contact from the district.</a:t>
              </a:r>
            </a:p>
          </p:txBody>
        </p:sp>
      </p:grpSp>
      <p:grpSp>
        <p:nvGrpSpPr>
          <p:cNvPr id="34" name="Group 34"/>
          <p:cNvGrpSpPr/>
          <p:nvPr/>
        </p:nvGrpSpPr>
        <p:grpSpPr>
          <a:xfrm>
            <a:off x="603504" y="6042660"/>
            <a:ext cx="4173108" cy="653796"/>
            <a:chOff x="603504" y="6042660"/>
            <a:chExt cx="4173108" cy="653796"/>
          </a:xfrm>
        </p:grpSpPr>
        <p:sp>
          <p:nvSpPr>
            <p:cNvPr id="33" name="TextBox 33"/>
            <p:cNvSpPr txBox="1"/>
            <p:nvPr/>
          </p:nvSpPr>
          <p:spPr>
            <a:xfrm>
              <a:off x="603504" y="6042660"/>
              <a:ext cx="4173108" cy="65379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Lantern Education Partners and Riverbend Unified are fictional; the</a:t>
              </a:r>
              <a:br/>
              <a:r>
                <a:rPr lang="en-US" sz="1200" dirty="0">
                  <a:solidFill>
                    <a:schemeClr val="accent5"/>
                  </a:solidFill>
                  <a:latin typeface="+mn-lt"/>
                  <a:ea typeface="+mn-ea"/>
                  <a:cs typeface="+mn-cs"/>
                </a:rPr>
                <a:t>client, prices, dates and projections in this deck are illustrative.</a:t>
              </a:r>
              <a:br/>
              <a:r>
                <a:rPr lang="en-US" sz="1200" dirty="0">
                  <a:solidFill>
                    <a:schemeClr val="accent5"/>
                  </a:solidFill>
                  <a:latin typeface="+mn-lt"/>
                  <a:ea typeface="+mn-ea"/>
                  <a:cs typeface="+mn-cs"/>
                </a:rPr>
                <a:t>The problem evidence is real and sourced where it appears.</a:t>
              </a:r>
            </a:p>
          </p:txBody>
        </p:sp>
      </p:grpSp>
      <p:grpSp>
        <p:nvGrpSpPr>
          <p:cNvPr id="36" name="Group 36"/>
          <p:cNvGrpSpPr/>
          <p:nvPr/>
        </p:nvGrpSpPr>
        <p:grpSpPr>
          <a:xfrm>
            <a:off x="7048500" y="2667000"/>
            <a:ext cx="4533900" cy="2628900"/>
            <a:chOff x="7048500" y="2667000"/>
            <a:chExt cx="4533900" cy="2628900"/>
          </a:xfrm>
        </p:grpSpPr>
        <p:pic>
          <p:nvPicPr>
            <p:cNvPr id="35" name="Image 35"/>
            <p:cNvPicPr>
              <a:picLocks noChangeAspect="1"/>
            </p:cNvPicPr>
            <p:nvPr/>
          </p:nvPicPr>
          <p:blipFill>
            <a:blip r:embed="rId2"/>
            <a:srcRect l="0" t="21008" r="0" b="21009"/>
            <a:stretch>
              <a:fillRect/>
            </a:stretch>
          </p:blipFill>
          <p:spPr>
            <a:xfrm>
              <a:off x="7048500" y="2667000"/>
              <a:ext cx="4533900" cy="2628900"/>
            </a:xfrm>
            <a:prstGeom prst="roundRect">
              <a:avLst>
                <a:gd name="adj" fmla="val 5797"/>
              </a:avLst>
            </a:prstGeom>
          </p:spPr>
        </p:pic>
      </p:grpSp>
      <p:grpSp>
        <p:nvGrpSpPr>
          <p:cNvPr id="42" name="Group 42"/>
          <p:cNvGrpSpPr/>
          <p:nvPr/>
        </p:nvGrpSpPr>
        <p:grpSpPr>
          <a:xfrm>
            <a:off x="7041642" y="5452110"/>
            <a:ext cx="3576974" cy="1257491"/>
            <a:chOff x="7041642" y="5452110"/>
            <a:chExt cx="3576974" cy="1257491"/>
          </a:xfrm>
        </p:grpSpPr>
        <p:sp>
          <p:nvSpPr>
            <p:cNvPr id="37" name="TextBox 37"/>
            <p:cNvSpPr txBox="1"/>
            <p:nvPr/>
          </p:nvSpPr>
          <p:spPr>
            <a:xfrm>
              <a:off x="7042404" y="5452110"/>
              <a:ext cx="2277512" cy="234696"/>
            </a:xfrm>
            <a:prstGeom prst="rect">
              <a:avLst/>
            </a:prstGeom>
            <a:noFill/>
            <a:ln>
              <a:noFill/>
            </a:ln>
          </p:spPr>
          <p:txBody>
            <a:bodyPr wrap="none" lIns="0" tIns="0" rIns="0" bIns="0" anchor="t" anchorCtr="0">
              <a:spAutoFit/>
            </a:bodyPr>
            <a:lstStyle/>
            <a:p>
              <a:pPr algn="l"/>
              <a:r>
                <a:rPr lang="en-US" sz="1200" spc="75" dirty="0">
                  <a:solidFill>
                    <a:schemeClr val="accent5"/>
                  </a:solidFill>
                  <a:latin typeface="+mn-lt"/>
                  <a:ea typeface="+mn-ea"/>
                  <a:cs typeface="+mn-cs"/>
                </a:rPr>
                <a:t>SOURCES USED IN THIS DECK</a:t>
              </a:r>
            </a:p>
          </p:txBody>
        </p:sp>
        <p:sp>
          <p:nvSpPr>
            <p:cNvPr id="38" name="TextBox 38"/>
            <p:cNvSpPr txBox="1"/>
            <p:nvPr/>
          </p:nvSpPr>
          <p:spPr>
            <a:xfrm>
              <a:off x="7041642" y="5702618"/>
              <a:ext cx="3055105" cy="264033"/>
            </a:xfrm>
            <a:prstGeom prst="rect">
              <a:avLst/>
            </a:prstGeom>
            <a:noFill/>
            <a:ln>
              <a:noFill/>
            </a:ln>
          </p:spPr>
          <p:txBody>
            <a:bodyPr wrap="none" lIns="0" tIns="0" rIns="0" bIns="0" anchor="t" anchorCtr="0">
              <a:spAutoFit/>
            </a:bodyPr>
            <a:lstStyle/>
            <a:p>
              <a:pPr algn="l"/>
              <a:r>
                <a:rPr lang="en-US" sz="1350" u="sng" dirty="0">
                  <a:solidFill>
                    <a:schemeClr val="accent1"/>
                  </a:solidFill>
                  <a:latin typeface="+mn-lt"/>
                  <a:ea typeface="+mn-ea"/>
                  <a:cs typeface="+mn-cs"/>
                  <a:hlinkClick r:id="rId3"/>
                </a:rPr>
                <a:t>ERIC ED617466 — Framework for Action</a:t>
              </a:r>
            </a:p>
          </p:txBody>
        </p:sp>
        <p:sp>
          <p:nvSpPr>
            <p:cNvPr id="39" name="TextBox 39"/>
            <p:cNvSpPr txBox="1"/>
            <p:nvPr/>
          </p:nvSpPr>
          <p:spPr>
            <a:xfrm>
              <a:off x="7041642" y="5950268"/>
              <a:ext cx="3091666" cy="264033"/>
            </a:xfrm>
            <a:prstGeom prst="rect">
              <a:avLst/>
            </a:prstGeom>
            <a:noFill/>
            <a:ln>
              <a:noFill/>
            </a:ln>
          </p:spPr>
          <p:txBody>
            <a:bodyPr wrap="none" lIns="0" tIns="0" rIns="0" bIns="0" anchor="t" anchorCtr="0">
              <a:spAutoFit/>
            </a:bodyPr>
            <a:lstStyle/>
            <a:p>
              <a:pPr algn="l"/>
              <a:r>
                <a:rPr lang="en-US" sz="1350" u="sng" dirty="0">
                  <a:solidFill>
                    <a:schemeClr val="accent1"/>
                  </a:solidFill>
                  <a:latin typeface="+mn-lt"/>
                  <a:ea typeface="+mn-ea"/>
                  <a:cs typeface="+mn-cs"/>
                  <a:hlinkClick r:id="rId4"/>
                </a:rPr>
                <a:t>NYC Open Data — attendance (sgsi-66kk)</a:t>
              </a:r>
            </a:p>
          </p:txBody>
        </p:sp>
        <p:sp>
          <p:nvSpPr>
            <p:cNvPr id="40" name="TextBox 40"/>
            <p:cNvSpPr txBox="1"/>
            <p:nvPr/>
          </p:nvSpPr>
          <p:spPr>
            <a:xfrm>
              <a:off x="7041642" y="6197918"/>
              <a:ext cx="3022401" cy="264033"/>
            </a:xfrm>
            <a:prstGeom prst="rect">
              <a:avLst/>
            </a:prstGeom>
            <a:noFill/>
            <a:ln>
              <a:noFill/>
            </a:ln>
          </p:spPr>
          <p:txBody>
            <a:bodyPr wrap="none" lIns="0" tIns="0" rIns="0" bIns="0" anchor="t" anchorCtr="0">
              <a:spAutoFit/>
            </a:bodyPr>
            <a:lstStyle/>
            <a:p>
              <a:pPr algn="l"/>
              <a:r>
                <a:rPr lang="en-US" sz="1350" u="sng" dirty="0">
                  <a:solidFill>
                    <a:schemeClr val="accent1"/>
                  </a:solidFill>
                  <a:latin typeface="+mn-lt"/>
                  <a:ea typeface="+mn-ea"/>
                  <a:cs typeface="+mn-cs"/>
                  <a:hlinkClick r:id="rId5"/>
                </a:rPr>
                <a:t>NYC Open Data — by district (hags-jh3e)</a:t>
              </a:r>
            </a:p>
          </p:txBody>
        </p:sp>
        <p:sp>
          <p:nvSpPr>
            <p:cNvPr id="41" name="TextBox 41"/>
            <p:cNvSpPr txBox="1"/>
            <p:nvPr/>
          </p:nvSpPr>
          <p:spPr>
            <a:xfrm>
              <a:off x="7041642" y="6445568"/>
              <a:ext cx="3576974" cy="264033"/>
            </a:xfrm>
            <a:prstGeom prst="rect">
              <a:avLst/>
            </a:prstGeom>
            <a:noFill/>
            <a:ln>
              <a:noFill/>
            </a:ln>
          </p:spPr>
          <p:txBody>
            <a:bodyPr wrap="none" lIns="0" tIns="0" rIns="0" bIns="0" anchor="t" anchorCtr="0">
              <a:spAutoFit/>
            </a:bodyPr>
            <a:lstStyle/>
            <a:p>
              <a:pPr algn="l"/>
              <a:r>
                <a:rPr lang="en-US" sz="1350" u="sng" dirty="0">
                  <a:solidFill>
                    <a:schemeClr val="accent1"/>
                  </a:solidFill>
                  <a:latin typeface="+mn-lt"/>
                  <a:ea typeface="+mn-ea"/>
                  <a:cs typeface="+mn-cs"/>
                  <a:hlinkClick r:id="rId6"/>
                </a:rPr>
                <a:t>DfE — Working together to improve attendance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700" fill="hold"/>
                                        <p:tgtEl>
                                          <p:spTgt spid="16"/>
                                        </p:tgtEl>
                                        <p:attrNameLst>
                                          <p:attrName>ppt_w</p:attrName>
                                        </p:attrNameLst>
                                      </p:cBhvr>
                                      <p:tavLst>
                                        <p:tav tm="0">
                                          <p:val>
                                            <p:fltVal val="0"/>
                                          </p:val>
                                        </p:tav>
                                        <p:tav tm="100000">
                                          <p:val>
                                            <p:strVal val="#ppt_w"/>
                                          </p:val>
                                        </p:tav>
                                      </p:tavLst>
                                    </p:anim>
                                    <p:anim calcmode="lin" valueType="num">
                                      <p:cBhvr>
                                        <p:cTn id="8" dur="700" fill="hold"/>
                                        <p:tgtEl>
                                          <p:spTgt spid="16"/>
                                        </p:tgtEl>
                                        <p:attrNameLst>
                                          <p:attrName>ppt_h</p:attrName>
                                        </p:attrNameLst>
                                      </p:cBhvr>
                                      <p:tavLst>
                                        <p:tav tm="0">
                                          <p:val>
                                            <p:fltVal val="0"/>
                                          </p:val>
                                        </p:tav>
                                        <p:tav tm="100000">
                                          <p:val>
                                            <p:strVal val="#ppt_h"/>
                                          </p:val>
                                        </p:tav>
                                      </p:tavLst>
                                    </p:anim>
                                  </p:childTnLst>
                                </p:cTn>
                              </p:par>
                            </p:childTnLst>
                          </p:cTn>
                        </p:par>
                        <p:par>
                          <p:cTn id="9" fill="hold">
                            <p:stCondLst>
                              <p:cond delay="700"/>
                            </p:stCondLst>
                            <p:childTnLst>
                              <p:par>
                                <p:cTn xmlns:p="http://schemas.openxmlformats.org/presentationml/2006/main" id="10" presetID="10" presetClass="entr" presetSubtype="0" fill="hold" grpId="0" nodeType="afterEffect">
                                  <p:stCondLst>
                                    <p:cond delay="50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par>
                          <p:cTn id="13" fill="hold">
                            <p:stCondLst>
                              <p:cond delay="1700"/>
                            </p:stCondLst>
                            <p:childTnLst>
                              <p:par>
                                <p:cTn xmlns:p="http://schemas.openxmlformats.org/presentationml/2006/main" id="14" presetID="10" presetClass="entr" presetSubtype="0" fill="hold" grpId="0" nodeType="afterEffect">
                                  <p:stCondLst>
                                    <p:cond delay="50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every_day_counts_proposal">
  <a:themeElements>
    <a:clrScheme name="ppt169_every_day_counts_proposal">
      <a:dk1>
        <a:srgbClr val="23282D"/>
      </a:dk1>
      <a:lt1>
        <a:srgbClr val="FFFFFF"/>
      </a:lt1>
      <a:dk2>
        <a:srgbClr val="1F497D"/>
      </a:dk2>
      <a:lt2>
        <a:srgbClr val="F4F1EC"/>
      </a:lt2>
      <a:accent1>
        <a:srgbClr val="1F4B57"/>
      </a:accent1>
      <a:accent2>
        <a:srgbClr val="E07A3F"/>
      </a:accent2>
      <a:accent3>
        <a:srgbClr val="6A9AA8"/>
      </a:accent3>
      <a:accent4>
        <a:srgbClr val="1F4B57"/>
      </a:accent4>
      <a:accent5>
        <a:srgbClr val="5A6368"/>
      </a:accent5>
      <a:accent6>
        <a:srgbClr val="DDD8D0"/>
      </a:accent6>
      <a:hlink>
        <a:srgbClr val="E07A3F"/>
      </a:hlink>
      <a:folHlink>
        <a:srgbClr val="6A9AA8"/>
      </a:folHlink>
    </a:clrScheme>
    <a:fontScheme name="ppt169_every_day_counts_proposal">
      <a:majorFont>
        <a:latin typeface="Trebuchet MS"/>
        <a:ea typeface="Microsoft YaHei"/>
        <a:cs typeface="Trebuchet M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every_day_counts_propos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every_day_counts_proposal">
  <a:themeElements>
    <a:clrScheme name="ppt169_every_day_counts_proposal">
      <a:dk1>
        <a:srgbClr val="23282D"/>
      </a:dk1>
      <a:lt1>
        <a:srgbClr val="FFFFFF"/>
      </a:lt1>
      <a:dk2>
        <a:srgbClr val="1F497D"/>
      </a:dk2>
      <a:lt2>
        <a:srgbClr val="F4F1EC"/>
      </a:lt2>
      <a:accent1>
        <a:srgbClr val="1F4B57"/>
      </a:accent1>
      <a:accent2>
        <a:srgbClr val="E07A3F"/>
      </a:accent2>
      <a:accent3>
        <a:srgbClr val="6A9AA8"/>
      </a:accent3>
      <a:accent4>
        <a:srgbClr val="1F4B57"/>
      </a:accent4>
      <a:accent5>
        <a:srgbClr val="5A6368"/>
      </a:accent5>
      <a:accent6>
        <a:srgbClr val="DDD8D0"/>
      </a:accent6>
      <a:hlink>
        <a:srgbClr val="E07A3F"/>
      </a:hlink>
      <a:folHlink>
        <a:srgbClr val="6A9AA8"/>
      </a:folHlink>
    </a:clrScheme>
    <a:fontScheme name="ppt169_every_day_counts_proposal">
      <a:majorFont>
        <a:latin typeface="Trebuchet MS"/>
        <a:ea typeface="Microsoft YaHei"/>
        <a:cs typeface="Trebuchet M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every_day_counts_propos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2026-09-10T14:38:46Z</dcterms:created>
  <dcterms:modified xsi:type="dcterms:W3CDTF">2026-09-10T14:38:46Z</dcterms:modified>
  <cp:category/>
  <cp:contentStatus/>
</cp:coreProperties>
</file>