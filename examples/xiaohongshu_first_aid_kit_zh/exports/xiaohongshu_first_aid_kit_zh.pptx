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6"/>
  </p:notesMasterIdLst>
  <p:sldIdLst>
    <p:sldId id="256" r:id="rId7"/>
    <p:sldId id="257" r:id="rId8"/>
    <p:sldId id="258" r:id="rId9"/>
    <p:sldId id="259" r:id="rId10"/>
    <p:sldId id="260" r:id="rId11"/>
    <p:sldId id="261" r:id="rId12"/>
    <p:sldId id="262" r:id="rId13"/>
    <p:sldId id="263" r:id="rId14"/>
    <p:sldId id="264" r:id="rId15"/>
  </p:sldIdLst>
  <p:sldSz cx="11830050" cy="15811500" type="custom"/>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  <Relationship Id="rId16"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们今天讲一件几乎每个家庭都会踩的坑:家里的药箱不等于急救包。很多人家里药盒堆了一抽屉,可是真的切到手、烫到胳膊的时候,翻半天找不到一块纱布、一瓶碘伏,整个人就卡在那儿。这一组九张图,就是把家用急救包应该配什么、哪些东西必须清出去、放在家里哪个位置、多久检查一次,以及割伤和烫伤这两种最常见的意外该怎么处理,一次讲完。页面上标注的依据,主要是应急管理部二〇二〇年发布的全国基础版家庭应急物资储备建议清单、北京急救中心同年发布的家庭医疗应急物品指导目录,以及国家药监局和卫健系统的公开科普。</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给大家一个记得住的骨架。急救包齐不齐,不要数件数,要看四个类别是不是都在:止血包扎、消毒、常用药、工具。止血包扎解决的是先止住、先盖住;消毒解决的是清洁创面、降低感染;常用药是对症备用,不是囤货;工具这一类最容易被忽略,但它决定了你到底能不能动手,也决定了施救的人自己有没有防护。这里要说清楚一点:把物品分成这四类,是我们为了好记做的整理。官方的两份目录里,应急管理部那一份是家庭应急口径,里面还包括灭火器、救生哨这类东西;北京急救中心那一份才是医疗急救口径,做家用急救包更贴题。</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前两类。止血包扎里,无菌纱布建议三乘三英寸和四乘四英寸各备五片,弹力绷带三英寸和四英寸各一卷,三角巾两条,医用胶带一卷,再加上多种尺寸的创可贴大约二十五片。这个数量是美国红十字会针对四口之家给出的最小配置,家里人多就按比例往上加。消毒这一类,国内官方科普的首选组合是医用碘伏加无菌棉签,理由是碘伏对皮肤黏膜没有刺激也没有腐蚀,可以直接用在伤口上,还能在创面形成保护膜。生理盐水值得单独备一份,百分之零点九的生理盐水冲洗伤口是最好的处理方法。消毒湿巾只用来擦伤口周围的皮肤,不要直接盖在创面上。有一个禁忌一定要提醒:碘过敏的人禁用碘伏,甲亢病人要慎用。</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类是常用药。官方科普把它按用途分成五类:退烧止痛、抗过敏、肠胃应急、外用止痛、清凉解暑,原则是对症备用,不盲目囤货。在这个基础上按家里人追加:确诊冠心病的老人常备硝酸甘油片或者速效救心丸,再配一台上臂式电子血压计;有小孩的家庭补儿童退热药、退热贴、无菌敷贴、蚊虫叮咬膏和生理盐水洗鼻剂。另外别忘了把家人长期服用的药和写好的紧急联系电话也放进去。第四类是工具,一次性医用外科手套、医用外科口罩、护目镜、医用圆头剪刀、镊子、非水银非玻璃的电子体温计,再加上急救毯、带单向阀的人工呼吸面膜,还有一支建议放在床头的手电筒。电子血压计要记得定期检查电量和校准。这一页只给品类,不给任何剂量,具体用药请遵医嘱或者看说明书。</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是很多家庭最需要做的一件事:把不该留的清出去。第一样是红药水,也叫红汞或者汞溴红,它的穿透力很弱、抑菌作用小、消毒效果并不可靠,而且含有汞的有机化合物,对人体有毒,大面积皮肤擦伤的时候使用可能造成大块皮肤坏死。第二样是紫药水,也就是龙胆紫,它收敛结痂快,不适合较深或者较脏的伤口,痂下容易积存脓液,而且近年来被发现是潜在的致癌剂。药监部门的明确建议就是,最好不要用红汞和龙胆紫涂擦伤口,红汞还不能和碘酊混用。第三样是酒精和碘酒直接涂在伤口上,这两样只能用于伤口周围皮肤消毒,直接涂在创面上会刺激疼痛、让创面蛋白凝固、影响愈合,碘酊涂完还需要用百分之七十五的酒精脱碘。第四样是过期药和已经变质的药,药效全无不说,还可能引发不良反应;药品变色、粘连、变硬变软、开裂缺角,即使没到有效期也不要再用。清出来的药不要直接扔,按国内口径,先破坏药品包装盒,再随生活垃圾分散丢弃,或者送到正规回收点集中做无害化处理。最后提一个存在争议的条目:止血粉,应急管理部的清单把它列入外用药品,但国防部网刊发的止血包扎科普明确说处理伤口时尽量不要用,理由是刺激伤口、盖住创面、影响医生诊断和二次处理,所以我们这份清单不把它列为必备。</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配齐之后是两件很容易被忘掉的事:放哪儿,多久查一次。放的环境要阴凉、干燥、通风、避光,远离炉灶、水槽和发热电器,抽屉、橱柜、储物盒、壁橱都可以。特别要强调的是别放卫生间,淋浴和洗手台带来的高温和潮气会让药品在有效期之前就变质。位置还要同时满足两个条件:孩子看不见也够不着,最好放在带儿童安全锁扣的柜子里,同时家里的成年人都熟悉、一伸手就能拿到。车上可以另外放一个急救包,但是药品不要放在汽车手套箱,那里可能过热、过冷或者受潮。检查周期,国内卫健系统的建议是每三个月自查一次,查有效期、查工具是否完好、补齐缺失的、换掉过期或破损的;美国红十字会的口径是每年做一次完整复核,我们把它作为一年一次彻底翻箱的补充节点。一次检查可以按五步走:先看箱体能不能正常开合、有没有破损锈蚀,再逐件取出检查包装有没有破损污渍渗漏、是否过期,然后清理箱内灰尘碎屑,更换过期或损坏的物品,最后记下这次检查的时间,把记录留在箱子旁边。物资的保质期也给大家一个参考:胶带、敷料、纱布绷带、无菌纱布、冰袋、手套、剪刀、镊子在包装完好的情况下可以放到五年,酒精湿巾和抗生素软膏大约两年。创可贴和胶布即使没变质,黏性也会随时间下降,纱布包装受潮或者变色,即使没过期也应该更换。</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进入第一条现场流程:割伤出血。先做一个判断,伤口深不深,出血止不止得住。如果是浅表的小伤口,自己就能处理:先洗手避免感染,用流动清水冲洗伤口降低感染风险,用肥皂清洗伤口周围但不要让肥皂进入伤口;然后用碘伏清洗伤口本身,伤口周围可以用酒精或碘酒,消毒的方向是从伤口内向外,不要拿擦过周围皮肤的棉球再去擦伤口;最后薄薄涂一层抗生素软膏或者凡士林保持创面湿润,再用创可贴或纱布盖上。注意,浅表伤口不要让它自然风干,愈合需要湿润环境,包扎也不要过紧,过紧会阻碍血液循环、让愈合变慢。如果伤口很深、出血不止,或者你不确定严重程度,顺序就反过来:先拨打一二〇,有条件的话先戴上一次性手套做防护;明显的表面异物可以清除,但是大的或者深深嵌入的异物不要拔出来,也不要去探查伤口;然后用无菌纱布或者干净的布覆盖伤口,用手掌用力按压直到出血停止,可能的话把伤处抬高到心脏水平以上;最后遵循先盖后包、力度适中的原则加压包扎,过松止不住血,过紧可能造成远端组织缺血坏死。有几条硬规则一定要记住:血渗透以后在原来的敷料上再加纱布继续按压,不要把原敷料揭下来;不要按压眼部损伤处和嵌入异物处,怀疑颅骨骨折的时候不要按压头部伤口;止血带只在有成品止血带并且受过训练的情况下使用,不要用围巾、皮带临时自制。最后是四种必须立即拨打一二〇的情况:持续胸痛超过十五分钟,意识模糊或者抽搐昏迷,严重创伤或者出血不止,呼吸困难面色青紫。</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条现场流程是烫伤,五个字:冲、脱、泡、盖、送。第一步冲最关键,用十五到二十五摄氏度的常温自来水持续冲洗十五到三十分钟,至少十五分钟,时间越长越好。国际上的口径也支持这个量级,英国国家医疗服务体系建议在流动冷水下冲二十分钟,澳新复苏委员会的烧伤急救指南是至少二十分钟,而且强调即使在烧伤后三小时内才开始冷却,仍然可能有帮助。第二步脱,冲洗之后再轻柔地脱去衣物,如果衣物已经和皮肤粘连,用剪刀把周围剪开、保留粘连的部分,避免二次撕裂创面。第三步泡,小面积烫伤可以用冷水浸泡十到二十分钟,但是大面积烫伤以及老人、儿童禁止长时间浸泡。第四步盖,用无菌纱布或者干净棉布轻轻覆盖创面,创面冷却之后可以把保鲜膜平铺覆盖在伤处,注意是平铺,不要缠绕肢体。第五步送,烫伤面积大于手掌、皮肤起泡或者变色、位置在头面部或者关节、患者是婴幼儿或者老人、伤口渗液有异味,以及化学或电烧伤,都要立即就医。四条禁忌请一定记住:不要涂牙膏、酱油、醋、香油、草木灰,也不要涂任何乳膏和油类,它们会封住热量、造成刺激并加重损伤;不要直接用冰块或冰水冷却,可能造成进一步的组织损伤;不要强行撕扯粘在皮肤上的衣物;不要自己挑破水疱,直径小于一厘米的小水疱保留,大于一厘米的必须由医生处理。另外冷却的时候要盖好没有烧伤的部位给伤者保暖,幼儿特别容易迅速出现低体温,还要在肿胀出现之前轻轻摘下戒指、腰带这些紧束的物品。</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一页是可以直接长按保存的总表,把前面八页收进一张表里:分类、物品、要点三列。止血包扎里是无菌纱布各五片、弹力绷带和三角巾、创可贴和医用胶带,要点分别是渗血时加盖不揭、先盖后包力度适中、创可贴黏性会随时间下降。消毒是碘伏加无菌棉签可以直接上伤口、百分之零点九的生理盐水是冲洗伤口的首选、消毒湿巾只擦伤口周围皮肤。常用药按五个用途备,再按家人追加,原则是对症备用不囤货、遵医嘱看说明书。工具是圆头剪刀和镊子用来剪开衣物、取出表浅异物,手套和外科口罩是施救前的防护,电子体温计要选非水银非玻璃的,急救毯和手电筒负责保暖和夜间取用。最后两行是该清出去的:红药水和紫药水含汞或者有致癌风险,过期或变质的药破坏包装之后再丢弃。这张总表是我们的整理,每一条的要点都来自前八页标注的官方来源。最后想留给大家一句话:备对药,再加上懂急救,才是双重保障,建议每个家庭至少有一个人去参加一次红十字会或者急救中心的培训,学会止血、包扎和心肺复苏这些基础技能。</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xiaohongshu_first_aid_kit_zh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xiaohongshu_first_aid_kit_zh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60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3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31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9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7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5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2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5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5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650" kern="1200" lang="zh-CN">
          <a:solidFill>
            <a:schemeClr val="tx1"/>
          </a:solidFill>
          <a:latin typeface="+mn-lt"/>
          <a:ea typeface="+mn-ea"/>
          <a:cs typeface="+mn-cs"/>
        </a:defRPr>
      </a:lvl9pPr>
    </p:bodyStyle>
    <p:otherStyle>
      <a:defPPr>
        <a:defRPr lang="zh-CN"/>
      </a:defPPr>
      <a:lvl1pPr marL="0" algn="l" defTabSz="457200" rtl="0" eaLnBrk="1" latinLnBrk="0" hangingPunct="1">
        <a:defRPr sz="3300" kern="1200" lang="zh-CN">
          <a:solidFill>
            <a:schemeClr val="tx1"/>
          </a:solidFill>
          <a:latin typeface="+mn-lt"/>
          <a:ea typeface="+mn-ea"/>
          <a:cs typeface="+mn-cs"/>
        </a:defRPr>
      </a:lvl1pPr>
      <a:lvl2pPr marL="457200" algn="l" defTabSz="457200" rtl="0" eaLnBrk="1" latinLnBrk="0" hangingPunct="1">
        <a:defRPr sz="3100" kern="1200" lang="zh-CN">
          <a:solidFill>
            <a:schemeClr val="tx1"/>
          </a:solidFill>
          <a:latin typeface="+mn-lt"/>
          <a:ea typeface="+mn-ea"/>
          <a:cs typeface="+mn-cs"/>
        </a:defRPr>
      </a:lvl2pPr>
      <a:lvl3pPr marL="914400" algn="l" defTabSz="457200" rtl="0" eaLnBrk="1" latinLnBrk="0" hangingPunct="1">
        <a:defRPr sz="2900" kern="1200" lang="zh-CN">
          <a:solidFill>
            <a:schemeClr val="tx1"/>
          </a:solidFill>
          <a:latin typeface="+mn-lt"/>
          <a:ea typeface="+mn-ea"/>
          <a:cs typeface="+mn-cs"/>
        </a:defRPr>
      </a:lvl3pPr>
      <a:lvl4pPr marL="1371600" algn="l" defTabSz="457200" rtl="0" eaLnBrk="1" latinLnBrk="0" hangingPunct="1">
        <a:defRPr sz="2700" kern="1200" lang="zh-CN">
          <a:solidFill>
            <a:schemeClr val="tx1"/>
          </a:solidFill>
          <a:latin typeface="+mn-lt"/>
          <a:ea typeface="+mn-ea"/>
          <a:cs typeface="+mn-cs"/>
        </a:defRPr>
      </a:lvl4pPr>
      <a:lvl5pPr marL="1828800" algn="l" defTabSz="457200" rtl="0" eaLnBrk="1" latinLnBrk="0" hangingPunct="1">
        <a:defRPr sz="2500" kern="1200" lang="zh-CN">
          <a:solidFill>
            <a:schemeClr val="tx1"/>
          </a:solidFill>
          <a:latin typeface="+mn-lt"/>
          <a:ea typeface="+mn-ea"/>
          <a:cs typeface="+mn-cs"/>
        </a:defRPr>
      </a:lvl5pPr>
      <a:lvl6pPr marL="2286000" algn="l" defTabSz="457200" rtl="0" eaLnBrk="1" latinLnBrk="0" hangingPunct="1">
        <a:defRPr sz="2250" kern="1200" lang="zh-CN">
          <a:solidFill>
            <a:schemeClr val="tx1"/>
          </a:solidFill>
          <a:latin typeface="+mn-lt"/>
          <a:ea typeface="+mn-ea"/>
          <a:cs typeface="+mn-cs"/>
        </a:defRPr>
      </a:lvl6pPr>
      <a:lvl7pPr marL="2743200" algn="l" defTabSz="457200" rtl="0" eaLnBrk="1" latinLnBrk="0" hangingPunct="1">
        <a:defRPr sz="2050" kern="1200" lang="zh-CN">
          <a:solidFill>
            <a:schemeClr val="tx1"/>
          </a:solidFill>
          <a:latin typeface="+mn-lt"/>
          <a:ea typeface="+mn-ea"/>
          <a:cs typeface="+mn-cs"/>
        </a:defRPr>
      </a:lvl7pPr>
      <a:lvl8pPr marL="3200400" algn="l" defTabSz="457200" rtl="0" eaLnBrk="1" latinLnBrk="0" hangingPunct="1">
        <a:defRPr sz="1850" kern="1200" lang="zh-CN">
          <a:solidFill>
            <a:schemeClr val="tx1"/>
          </a:solidFill>
          <a:latin typeface="+mn-lt"/>
          <a:ea typeface="+mn-ea"/>
          <a:cs typeface="+mn-cs"/>
        </a:defRPr>
      </a:lvl8pPr>
      <a:lvl9pPr marL="3657600" algn="l" defTabSz="457200" rtl="0" eaLnBrk="1" latinLnBrk="0" hangingPunct="1">
        <a:defRPr sz="165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cff9238eed1457a.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696784d2ac00d60.jpg"/>
  <Relationship Id="rId3" Type="http://schemas.openxmlformats.org/officeDocument/2006/relationships/image" Target="../media/image_a85445b1ca712f49.jpg"/>
  <Relationship Id="rId4" Type="http://schemas.openxmlformats.org/officeDocument/2006/relationships/image" Target="../media/image_30f3e7772e266595.jpg"/>
  <Relationship Id="rId5" Type="http://schemas.openxmlformats.org/officeDocument/2006/relationships/image" Target="../media/image_cf032cd0d972bd65.jpg"/>
  <Relationship Id="rId6"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696784d2ac00d60.jpg"/>
  <Relationship Id="rId3" Type="http://schemas.openxmlformats.org/officeDocument/2006/relationships/image" Target="../media/image_a85445b1ca712f49.jpg"/>
  <Relationship Id="rId4"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0f3e7772e266595.jpg"/>
  <Relationship Id="rId3" Type="http://schemas.openxmlformats.org/officeDocument/2006/relationships/image" Target="../media/image_cf032cd0d972bd65.jpg"/>
  <Relationship Id="rId4"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344a4695f9d3c3c.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173eb8c1f1510e1.jp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fc61aea7488df3b.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397f840b2099bd0.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cover-art"/>
          <p:cNvPicPr>
            <a:picLocks noChangeAspect="1"/>
          </p:cNvPicPr>
          <p:nvPr/>
        </p:nvPicPr>
        <p:blipFill>
          <a:blip r:embed="rId2"/>
          <a:srcRect l="0" t="88" r="0" b="88"/>
          <a:stretch>
            <a:fillRect/>
          </a:stretch>
        </p:blipFill>
        <p:spPr>
          <a:xfrm>
            <a:off x="0" y="0"/>
            <a:ext cx="11830050" cy="15811500"/>
          </a:xfrm>
          <a:prstGeom prst="rect">
            <a:avLst/>
          </a:prstGeom>
        </p:spPr>
      </p:pic>
      <p:sp>
        <p:nvSpPr>
          <p:cNvPr id="3" name="cover-paper-fade"/>
          <p:cNvSpPr/>
          <p:nvPr/>
        </p:nvSpPr>
        <p:spPr>
          <a:xfrm>
            <a:off x="0" y="0"/>
            <a:ext cx="11830050" cy="7620000"/>
          </a:xfrm>
          <a:prstGeom prst="rect">
            <a:avLst/>
          </a:prstGeom>
          <a:gradFill>
            <a:gsLst>
              <a:gs pos="0">
                <a:schemeClr val="lt1"/>
              </a:gs>
              <a:gs pos="86000">
                <a:schemeClr val="lt1"/>
              </a:gs>
              <a:gs pos="100000">
                <a:schemeClr val="lt1">
                  <a:alpha val="0"/>
                </a:schemeClr>
              </a:gs>
            </a:gsLst>
            <a:lin ang="5400000" scaled="1"/>
          </a:gradFill>
          <a:ln>
            <a:noFill/>
          </a:ln>
        </p:spPr>
      </p:sp>
      <p:sp>
        <p:nvSpPr>
          <p:cNvPr id="4" name="rail"/>
          <p:cNvSpPr/>
          <p:nvPr/>
        </p:nvSpPr>
        <p:spPr>
          <a:xfrm>
            <a:off x="514350" y="838200"/>
            <a:ext cx="28575" cy="14135100"/>
          </a:xfrm>
          <a:prstGeom prst="rect">
            <a:avLst/>
          </a:prstGeom>
          <a:solidFill>
            <a:schemeClr val="accent1">
              <a:alpha val="30000"/>
            </a:schemeClr>
          </a:solidFill>
          <a:ln>
            <a:noFill/>
          </a:ln>
        </p:spPr>
      </p:sp>
      <p:grpSp>
        <p:nvGrpSpPr>
          <p:cNvPr id="6" name="rail-marker"/>
          <p:cNvGrpSpPr/>
          <p:nvPr/>
        </p:nvGrpSpPr>
        <p:grpSpPr>
          <a:xfrm>
            <a:off x="404812" y="1114425"/>
            <a:ext cx="247650" cy="247650"/>
            <a:chOff x="404812" y="1114425"/>
            <a:chExt cx="247650" cy="247650"/>
          </a:xfrm>
        </p:grpSpPr>
        <p:sp>
          <p:nvSpPr>
            <p:cNvPr id="5" name="Ellipse 5"/>
            <p:cNvSpPr/>
            <p:nvPr/>
          </p:nvSpPr>
          <p:spPr>
            <a:xfrm>
              <a:off x="404812" y="1114425"/>
              <a:ext cx="247650" cy="247650"/>
            </a:xfrm>
            <a:prstGeom prst="ellipse">
              <a:avLst/>
            </a:prstGeom>
            <a:solidFill>
              <a:schemeClr val="accent2"/>
            </a:solidFill>
            <a:ln>
              <a:noFill/>
            </a:ln>
          </p:spPr>
        </p:sp>
      </p:grpSp>
      <p:grpSp>
        <p:nvGrpSpPr>
          <p:cNvPr id="8" name="cover-kicker"/>
          <p:cNvGrpSpPr/>
          <p:nvPr/>
        </p:nvGrpSpPr>
        <p:grpSpPr>
          <a:xfrm>
            <a:off x="824484" y="984885"/>
            <a:ext cx="4249255" cy="528066"/>
            <a:chOff x="824484" y="984885"/>
            <a:chExt cx="4249255" cy="528066"/>
          </a:xfrm>
        </p:grpSpPr>
        <p:sp>
          <p:nvSpPr>
            <p:cNvPr id="7" name="TextBox 7"/>
            <p:cNvSpPr txBox="1"/>
            <p:nvPr/>
          </p:nvSpPr>
          <p:spPr>
            <a:xfrm>
              <a:off x="824484" y="984885"/>
              <a:ext cx="4249255" cy="528066"/>
            </a:xfrm>
            <a:prstGeom prst="rect">
              <a:avLst/>
            </a:prstGeom>
            <a:noFill/>
            <a:ln>
              <a:noFill/>
            </a:ln>
          </p:spPr>
          <p:txBody>
            <a:bodyPr wrap="none" lIns="0" tIns="0" rIns="0" bIns="0" anchor="t" anchorCtr="0">
              <a:spAutoFit/>
            </a:bodyPr>
            <a:lstStyle/>
            <a:p>
              <a:pPr algn="l"/>
              <a:r>
                <a:rPr lang="zh-CN" sz="2700" spc="150" dirty="0">
                  <a:solidFill>
                    <a:schemeClr val="accent1"/>
                  </a:solidFill>
                  <a:latin typeface="+mn-lt"/>
                  <a:ea typeface="+mn-ea"/>
                  <a:cs typeface="+mn-cs"/>
                </a:rPr>
                <a:t>家庭急救手账 · 第 01 页</a:t>
              </a:r>
            </a:p>
          </p:txBody>
        </p:sp>
      </p:grpSp>
      <p:grpSp>
        <p:nvGrpSpPr>
          <p:cNvPr id="11" name="cover-title"/>
          <p:cNvGrpSpPr/>
          <p:nvPr/>
        </p:nvGrpSpPr>
        <p:grpSpPr>
          <a:xfrm>
            <a:off x="819150" y="1516380"/>
            <a:ext cx="6134100" cy="3276600"/>
            <a:chOff x="819150" y="1516380"/>
            <a:chExt cx="6134100" cy="3276600"/>
          </a:xfrm>
        </p:grpSpPr>
        <p:sp>
          <p:nvSpPr>
            <p:cNvPr id="9" name="TextBox 9"/>
            <p:cNvSpPr txBox="1"/>
            <p:nvPr/>
          </p:nvSpPr>
          <p:spPr>
            <a:xfrm>
              <a:off x="819150" y="1516380"/>
              <a:ext cx="6134100" cy="3276600"/>
            </a:xfrm>
            <a:prstGeom prst="rect">
              <a:avLst/>
            </a:prstGeom>
            <a:noFill/>
            <a:ln>
              <a:noFill/>
            </a:ln>
          </p:spPr>
          <p:txBody>
            <a:bodyPr wrap="none" lIns="0" tIns="0" rIns="0" bIns="0" anchor="t" anchorCtr="0">
              <a:spAutoFit/>
            </a:bodyPr>
            <a:lstStyle/>
            <a:p>
              <a:pPr algn="l">
                <a:lnSpc>
                  <a:spcPts val="11250"/>
                </a:lnSpc>
              </a:pPr>
              <a:r>
                <a:rPr lang="zh-CN" sz="9600" b="1" dirty="0">
                  <a:solidFill>
                    <a:schemeClr val="dk1"/>
                  </a:solidFill>
                  <a:latin typeface="+mj-lt"/>
                  <a:ea typeface="+mj-ea"/>
                  <a:cs typeface="+mj-cs"/>
                </a:rPr>
                <a:t>家用急救包</a:t>
              </a:r>
              <a:br/>
              <a:r>
                <a:rPr lang="zh-CN" sz="9600" b="1" dirty="0">
                  <a:solidFill>
                    <a:schemeClr val="dk1"/>
                  </a:solidFill>
                  <a:latin typeface="+mj-lt"/>
                  <a:ea typeface="+mj-ea"/>
                  <a:cs typeface="+mj-cs"/>
                </a:rPr>
                <a:t>怎么配</a:t>
              </a:r>
            </a:p>
          </p:txBody>
        </p:sp>
        <p:sp>
          <p:nvSpPr>
            <p:cNvPr id="10" name="Freeform 10"/>
            <p:cNvSpPr/>
            <p:nvPr/>
          </p:nvSpPr>
          <p:spPr>
            <a:xfrm>
              <a:off x="876300" y="4200525"/>
              <a:ext cx="5219700" cy="200025"/>
            </a:xfrm>
            <a:custGeom>
              <a:avLst/>
              <a:gdLst/>
              <a:ahLst/>
              <a:cxnLst/>
              <a:rect l="l" t="t" r="r" b="b"/>
              <a:pathLst>
                <a:path w="5219700" h="200025">
                  <a:moveTo>
                    <a:pt x="0" y="104775"/>
                  </a:moveTo>
                  <a:cubicBezTo>
                    <a:pt x="1600200" y="0"/>
                    <a:pt x="3429000" y="200025"/>
                    <a:pt x="5219700" y="76200"/>
                  </a:cubicBezTo>
                </a:path>
              </a:pathLst>
            </a:custGeom>
            <a:noFill/>
            <a:ln w="66675" cap="rnd">
              <a:solidFill>
                <a:schemeClr val="accent2"/>
              </a:solidFill>
            </a:ln>
          </p:spPr>
        </p:sp>
      </p:grpSp>
      <p:grpSp>
        <p:nvGrpSpPr>
          <p:cNvPr id="13" name="cover-hook"/>
          <p:cNvGrpSpPr/>
          <p:nvPr/>
        </p:nvGrpSpPr>
        <p:grpSpPr>
          <a:xfrm>
            <a:off x="819150" y="4551045"/>
            <a:ext cx="5263515" cy="1543050"/>
            <a:chOff x="819150" y="4551045"/>
            <a:chExt cx="5263515" cy="1543050"/>
          </a:xfrm>
        </p:grpSpPr>
        <p:sp>
          <p:nvSpPr>
            <p:cNvPr id="12" name="TextBox 12"/>
            <p:cNvSpPr txBox="1"/>
            <p:nvPr/>
          </p:nvSpPr>
          <p:spPr>
            <a:xfrm>
              <a:off x="819150" y="4551045"/>
              <a:ext cx="5263515" cy="1543050"/>
            </a:xfrm>
            <a:prstGeom prst="rect">
              <a:avLst/>
            </a:prstGeom>
            <a:noFill/>
            <a:ln>
              <a:noFill/>
            </a:ln>
          </p:spPr>
          <p:txBody>
            <a:bodyPr wrap="none" lIns="0" tIns="0" rIns="0" bIns="0" anchor="t" anchorCtr="0">
              <a:spAutoFit/>
            </a:bodyPr>
            <a:lstStyle/>
            <a:p>
              <a:pPr algn="l">
                <a:lnSpc>
                  <a:spcPts val="6150"/>
                </a:lnSpc>
              </a:pPr>
              <a:r>
                <a:rPr lang="zh-CN" sz="3900" dirty="0">
                  <a:solidFill>
                    <a:schemeClr val="dk1"/>
                  </a:solidFill>
                  <a:latin typeface="+mn-lt"/>
                  <a:ea typeface="+mn-ea"/>
                  <a:cs typeface="+mn-cs"/>
                </a:rPr>
                <a:t>只囤药、</a:t>
              </a:r>
              <a:r>
                <a:rPr lang="zh-CN" sz="3900" b="1" dirty="0">
                  <a:solidFill>
                    <a:schemeClr val="accent2"/>
                  </a:solidFill>
                  <a:latin typeface="+mn-lt"/>
                  <a:ea typeface="+mn-ea"/>
                  <a:cs typeface="+mn-cs"/>
                </a:rPr>
                <a:t>不备纱布碘伏</a:t>
              </a:r>
              <a:r>
                <a:rPr lang="zh-CN" sz="3900" dirty="0">
                  <a:solidFill>
                    <a:schemeClr val="dk1"/>
                  </a:solidFill>
                  <a:latin typeface="+mn-lt"/>
                  <a:ea typeface="+mn-ea"/>
                  <a:cs typeface="+mn-cs"/>
                </a:rPr>
                <a:t>,</a:t>
              </a:r>
              <a:br/>
              <a:r>
                <a:rPr lang="zh-CN" sz="3900" dirty="0">
                  <a:solidFill>
                    <a:schemeClr val="dk1"/>
                  </a:solidFill>
                  <a:latin typeface="+mn-lt"/>
                  <a:ea typeface="+mn-ea"/>
                  <a:cs typeface="+mn-cs"/>
                </a:rPr>
                <a:t>外伤时直接卡壳。</a:t>
              </a:r>
            </a:p>
          </p:txBody>
        </p:sp>
      </p:grpSp>
      <p:grpSp>
        <p:nvGrpSpPr>
          <p:cNvPr id="15" name="cover-sub"/>
          <p:cNvGrpSpPr/>
          <p:nvPr/>
        </p:nvGrpSpPr>
        <p:grpSpPr>
          <a:xfrm>
            <a:off x="826008" y="6103620"/>
            <a:ext cx="6760769" cy="469392"/>
            <a:chOff x="826008" y="6103620"/>
            <a:chExt cx="6760769" cy="469392"/>
          </a:xfrm>
        </p:grpSpPr>
        <p:sp>
          <p:nvSpPr>
            <p:cNvPr id="14" name="TextBox 14"/>
            <p:cNvSpPr txBox="1"/>
            <p:nvPr/>
          </p:nvSpPr>
          <p:spPr>
            <a:xfrm>
              <a:off x="826008" y="6103620"/>
              <a:ext cx="6760769"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9 图讲清:配什么 / 别放什么 / 放哪儿 / 怎么用</a:t>
              </a:r>
            </a:p>
          </p:txBody>
        </p:sp>
      </p:grpSp>
      <p:grpSp>
        <p:nvGrpSpPr>
          <p:cNvPr id="18" name="page-footer"/>
          <p:cNvGrpSpPr/>
          <p:nvPr/>
        </p:nvGrpSpPr>
        <p:grpSpPr>
          <a:xfrm>
            <a:off x="828294" y="14191298"/>
            <a:ext cx="10173462" cy="705231"/>
            <a:chOff x="828294" y="14191298"/>
            <a:chExt cx="10173462" cy="705231"/>
          </a:xfrm>
        </p:grpSpPr>
        <p:sp>
          <p:nvSpPr>
            <p:cNvPr id="16" name="TextBox 16"/>
            <p:cNvSpPr txBox="1"/>
            <p:nvPr/>
          </p:nvSpPr>
          <p:spPr>
            <a:xfrm>
              <a:off x="828294" y="14191298"/>
              <a:ext cx="7771257" cy="705231"/>
            </a:xfrm>
            <a:prstGeom prst="rect">
              <a:avLst/>
            </a:prstGeom>
            <a:noFill/>
            <a:ln>
              <a:noFill/>
            </a:ln>
          </p:spPr>
          <p:txBody>
            <a:bodyPr wrap="none" lIns="0" tIns="0" rIns="0" bIns="0" anchor="t" anchorCtr="0">
              <a:spAutoFit/>
            </a:bodyPr>
            <a:lstStyle/>
            <a:p>
              <a:pPr algn="l">
                <a:lnSpc>
                  <a:spcPts val="2550"/>
                </a:lnSpc>
              </a:pPr>
              <a:r>
                <a:rPr lang="zh-CN" sz="1950" dirty="0">
                  <a:solidFill>
                    <a:schemeClr val="accent5"/>
                  </a:solidFill>
                  <a:latin typeface="+mn-lt"/>
                  <a:ea typeface="+mn-ea"/>
                  <a:cs typeface="+mn-cs"/>
                </a:rPr>
                <a:t>依据:应急管理部《全国基础版家庭应急物资储备建议清单》(2020)、</a:t>
              </a:r>
              <a:br/>
              <a:r>
                <a:rPr lang="zh-CN" sz="1950" dirty="0">
                  <a:solidFill>
                    <a:schemeClr val="accent5"/>
                  </a:solidFill>
                  <a:latin typeface="+mn-lt"/>
                  <a:ea typeface="+mn-ea"/>
                  <a:cs typeface="+mn-cs"/>
                </a:rPr>
                <a:t>北京急救中心《家庭医疗应急物品指导目录》(2020)、国家药监局科普</a:t>
              </a:r>
            </a:p>
          </p:txBody>
        </p:sp>
        <p:sp>
          <p:nvSpPr>
            <p:cNvPr id="17" name="TextBox 17"/>
            <p:cNvSpPr txBox="1"/>
            <p:nvPr/>
          </p:nvSpPr>
          <p:spPr>
            <a:xfrm>
              <a:off x="10391299" y="14515148"/>
              <a:ext cx="610457" cy="381381"/>
            </a:xfrm>
            <a:prstGeom prst="rect">
              <a:avLst/>
            </a:prstGeom>
            <a:noFill/>
            <a:ln>
              <a:noFill/>
            </a:ln>
          </p:spPr>
          <p:txBody>
            <a:bodyPr wrap="none" lIns="0" tIns="0" rIns="0" bIns="0" anchor="t" anchorCtr="0">
              <a:spAutoFit/>
            </a:bodyPr>
            <a:lstStyle/>
            <a:p>
              <a:pPr algn="r"/>
              <a:r>
                <a:rPr lang="zh-CN" sz="1950" dirty="0">
                  <a:solidFill>
                    <a:schemeClr val="accent5"/>
                  </a:solidFill>
                  <a:latin typeface="+mn-lt"/>
                  <a:ea typeface="+mn-ea"/>
                  <a:cs typeface="+mn-cs"/>
                </a:rPr>
                <a:t>1 / 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par>
                          <p:cTn id="8" fill="hold">
                            <p:stCondLst>
                              <p:cond delay="600"/>
                            </p:stCondLst>
                            <p:childTnLst>
                              <p:par>
                                <p:cTn xmlns:p="http://schemas.openxmlformats.org/presentationml/2006/main" id="9" presetID="37" presetClass="entr" presetSubtype="0" fill="hold" grpId="0" nodeType="afterEffect">
                                  <p:stCondLst>
                                    <p:cond delay="1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anim calcmode="lin" valueType="num">
                                      <p:cBhvr>
                                        <p:cTn id="12" dur="500" fill="hold"/>
                                        <p:tgtEl>
                                          <p:spTgt spid="13"/>
                                        </p:tgtEl>
                                        <p:attrNameLst>
                                          <p:attrName>ppt_x</p:attrName>
                                        </p:attrNameLst>
                                      </p:cBhvr>
                                      <p:tavLst>
                                        <p:tav tm="0">
                                          <p:val>
                                            <p:strVal val="#ppt_x"/>
                                          </p:val>
                                        </p:tav>
                                        <p:tav tm="100000">
                                          <p:val>
                                            <p:strVal val="#ppt_x"/>
                                          </p:val>
                                        </p:tav>
                                      </p:tavLst>
                                    </p:anim>
                                    <p:anim calcmode="lin" valueType="num">
                                      <p:cBhvr>
                                        <p:cTn id="13" dur="450" decel="100000" fill="hold"/>
                                        <p:tgtEl>
                                          <p:spTgt spid="13"/>
                                        </p:tgtEl>
                                        <p:attrNameLst>
                                          <p:attrName>ppt_y</p:attrName>
                                        </p:attrNameLst>
                                      </p:cBhvr>
                                      <p:tavLst>
                                        <p:tav tm="0">
                                          <p:val>
                                            <p:strVal val="#ppt_y+1"/>
                                          </p:val>
                                        </p:tav>
                                        <p:tav tm="100000">
                                          <p:val>
                                            <p:strVal val="#ppt_y-.03"/>
                                          </p:val>
                                        </p:tav>
                                      </p:tavLst>
                                    </p:anim>
                                    <p:anim calcmode="lin" valueType="num">
                                      <p:cBhvr>
                                        <p:cTn id="14" dur="50" accel="100000" fill="hold">
                                          <p:stCondLst>
                                            <p:cond delay="450"/>
                                          </p:stCondLst>
                                        </p:cTn>
                                        <p:tgtEl>
                                          <p:spTgt spid="13"/>
                                        </p:tgtEl>
                                        <p:attrNameLst>
                                          <p:attrName>ppt_y</p:attrName>
                                        </p:attrNameLst>
                                      </p:cBhvr>
                                      <p:tavLst>
                                        <p:tav tm="0">
                                          <p:val>
                                            <p:strVal val="#ppt_y-.03"/>
                                          </p:val>
                                        </p:tav>
                                        <p:tav tm="100000">
                                          <p:val>
                                            <p:strVal val="#ppt_y"/>
                                          </p:val>
                                        </p:tav>
                                      </p:tavLst>
                                    </p:anim>
                                  </p:childTnLst>
                                </p:cTn>
                              </p:par>
                            </p:childTnLst>
                          </p:cTn>
                        </p:par>
                        <p:par>
                          <p:cTn id="15" fill="hold">
                            <p:stCondLst>
                              <p:cond delay="1200"/>
                            </p:stCondLst>
                            <p:childTnLst>
                              <p:par>
                                <p:cTn xmlns:p="http://schemas.openxmlformats.org/presentationml/2006/main" id="16" presetID="10" presetClass="entr" presetSubtype="0" fill="hold" grpId="0" nodeType="afterEffect">
                                  <p:stCondLst>
                                    <p:cond delay="50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rail"/>
          <p:cNvSpPr/>
          <p:nvPr/>
        </p:nvSpPr>
        <p:spPr>
          <a:xfrm>
            <a:off x="514350" y="838200"/>
            <a:ext cx="28575" cy="14135100"/>
          </a:xfrm>
          <a:prstGeom prst="rect">
            <a:avLst/>
          </a:prstGeom>
          <a:solidFill>
            <a:schemeClr val="accent1">
              <a:alpha val="30000"/>
            </a:schemeClr>
          </a:solidFill>
          <a:ln>
            <a:noFill/>
          </a:ln>
        </p:spPr>
      </p:sp>
      <p:grpSp>
        <p:nvGrpSpPr>
          <p:cNvPr id="4" name="!!rail-marker"/>
          <p:cNvGrpSpPr/>
          <p:nvPr/>
        </p:nvGrpSpPr>
        <p:grpSpPr>
          <a:xfrm>
            <a:off x="404812" y="2714625"/>
            <a:ext cx="247650" cy="247650"/>
            <a:chOff x="404812" y="2714625"/>
            <a:chExt cx="247650" cy="247650"/>
          </a:xfrm>
        </p:grpSpPr>
        <p:sp>
          <p:nvSpPr>
            <p:cNvPr id="3" name="Ellipse 3"/>
            <p:cNvSpPr/>
            <p:nvPr/>
          </p:nvSpPr>
          <p:spPr>
            <a:xfrm>
              <a:off x="404812" y="2714625"/>
              <a:ext cx="247650" cy="247650"/>
            </a:xfrm>
            <a:prstGeom prst="ellipse">
              <a:avLst/>
            </a:prstGeom>
            <a:solidFill>
              <a:schemeClr val="accent2"/>
            </a:solidFill>
            <a:ln>
              <a:noFill/>
            </a:ln>
          </p:spPr>
        </p:sp>
      </p:grpSp>
      <p:grpSp>
        <p:nvGrpSpPr>
          <p:cNvPr id="6" name="page-kicker"/>
          <p:cNvGrpSpPr/>
          <p:nvPr/>
        </p:nvGrpSpPr>
        <p:grpSpPr>
          <a:xfrm>
            <a:off x="824484" y="984885"/>
            <a:ext cx="2785529" cy="528066"/>
            <a:chOff x="824484" y="984885"/>
            <a:chExt cx="2785529" cy="528066"/>
          </a:xfrm>
        </p:grpSpPr>
        <p:sp>
          <p:nvSpPr>
            <p:cNvPr id="5" name="TextBox 5"/>
            <p:cNvSpPr txBox="1"/>
            <p:nvPr/>
          </p:nvSpPr>
          <p:spPr>
            <a:xfrm>
              <a:off x="824484" y="984885"/>
              <a:ext cx="2785529" cy="528066"/>
            </a:xfrm>
            <a:prstGeom prst="rect">
              <a:avLst/>
            </a:prstGeom>
            <a:noFill/>
            <a:ln>
              <a:noFill/>
            </a:ln>
          </p:spPr>
          <p:txBody>
            <a:bodyPr wrap="none" lIns="0" tIns="0" rIns="0" bIns="0" anchor="t" anchorCtr="0">
              <a:spAutoFit/>
            </a:bodyPr>
            <a:lstStyle/>
            <a:p>
              <a:pPr algn="l"/>
              <a:r>
                <a:rPr lang="zh-CN" sz="2700" spc="150" dirty="0">
                  <a:solidFill>
                    <a:schemeClr val="accent1"/>
                  </a:solidFill>
                  <a:latin typeface="+mn-lt"/>
                  <a:ea typeface="+mn-ea"/>
                  <a:cs typeface="+mn-cs"/>
                </a:rPr>
                <a:t>骨架 · 四类齐全</a:t>
              </a:r>
            </a:p>
          </p:txBody>
        </p:sp>
      </p:grpSp>
      <p:grpSp>
        <p:nvGrpSpPr>
          <p:cNvPr id="8" name="page-title"/>
          <p:cNvGrpSpPr/>
          <p:nvPr/>
        </p:nvGrpSpPr>
        <p:grpSpPr>
          <a:xfrm>
            <a:off x="819150" y="1733550"/>
            <a:ext cx="8581758" cy="1162050"/>
            <a:chOff x="819150" y="1733550"/>
            <a:chExt cx="8581758" cy="1162050"/>
          </a:xfrm>
        </p:grpSpPr>
        <p:sp>
          <p:nvSpPr>
            <p:cNvPr id="7" name="TextBox 7"/>
            <p:cNvSpPr txBox="1"/>
            <p:nvPr/>
          </p:nvSpPr>
          <p:spPr>
            <a:xfrm>
              <a:off x="819150" y="1733550"/>
              <a:ext cx="8581758" cy="1162050"/>
            </a:xfrm>
            <a:prstGeom prst="rect">
              <a:avLst/>
            </a:prstGeom>
            <a:noFill/>
            <a:ln>
              <a:noFill/>
            </a:ln>
          </p:spPr>
          <p:txBody>
            <a:bodyPr wrap="none" lIns="0" tIns="0" rIns="0" bIns="0" anchor="t" anchorCtr="0">
              <a:spAutoFit/>
            </a:bodyPr>
            <a:lstStyle/>
            <a:p>
              <a:pPr algn="l"/>
              <a:r>
                <a:rPr lang="zh-CN" sz="6000" b="1" dirty="0">
                  <a:solidFill>
                    <a:schemeClr val="dk1"/>
                  </a:solidFill>
                  <a:latin typeface="+mj-lt"/>
                  <a:ea typeface="+mj-ea"/>
                  <a:cs typeface="+mj-cs"/>
                </a:rPr>
                <a:t>记住四类,比记数量有用</a:t>
              </a:r>
            </a:p>
          </p:txBody>
        </p:sp>
      </p:grpSp>
      <p:grpSp>
        <p:nvGrpSpPr>
          <p:cNvPr id="10" name="page-lead"/>
          <p:cNvGrpSpPr/>
          <p:nvPr/>
        </p:nvGrpSpPr>
        <p:grpSpPr>
          <a:xfrm>
            <a:off x="819150" y="3007995"/>
            <a:ext cx="6102058" cy="762000"/>
            <a:chOff x="819150" y="3007995"/>
            <a:chExt cx="6102058" cy="762000"/>
          </a:xfrm>
        </p:grpSpPr>
        <p:sp>
          <p:nvSpPr>
            <p:cNvPr id="9" name="TextBox 9"/>
            <p:cNvSpPr txBox="1"/>
            <p:nvPr/>
          </p:nvSpPr>
          <p:spPr>
            <a:xfrm>
              <a:off x="819150" y="3007995"/>
              <a:ext cx="6102058" cy="762000"/>
            </a:xfrm>
            <a:prstGeom prst="rect">
              <a:avLst/>
            </a:prstGeom>
            <a:noFill/>
            <a:ln>
              <a:noFill/>
            </a:ln>
          </p:spPr>
          <p:txBody>
            <a:bodyPr wrap="none" lIns="0" tIns="0" rIns="0" bIns="0" anchor="t" anchorCtr="0">
              <a:spAutoFit/>
            </a:bodyPr>
            <a:lstStyle/>
            <a:p>
              <a:pPr algn="l"/>
              <a:r>
                <a:rPr lang="zh-CN" sz="3900" dirty="0">
                  <a:solidFill>
                    <a:schemeClr val="dk1"/>
                  </a:solidFill>
                  <a:latin typeface="+mn-lt"/>
                  <a:ea typeface="+mn-ea"/>
                  <a:cs typeface="+mn-cs"/>
                </a:rPr>
                <a:t>齐不齐看四类,</a:t>
              </a:r>
              <a:r>
                <a:rPr lang="zh-CN" sz="3900" b="1" dirty="0">
                  <a:solidFill>
                    <a:schemeClr val="accent2"/>
                  </a:solidFill>
                  <a:latin typeface="+mn-lt"/>
                  <a:ea typeface="+mn-ea"/>
                  <a:cs typeface="+mn-cs"/>
                </a:rPr>
                <a:t>不看件数</a:t>
              </a:r>
              <a:r>
                <a:rPr lang="zh-CN" sz="3900" dirty="0">
                  <a:solidFill>
                    <a:schemeClr val="dk1"/>
                  </a:solidFill>
                  <a:latin typeface="+mn-lt"/>
                  <a:ea typeface="+mn-ea"/>
                  <a:cs typeface="+mn-cs"/>
                </a:rPr>
                <a:t>。</a:t>
              </a:r>
            </a:p>
          </p:txBody>
        </p:sp>
      </p:grpSp>
      <p:sp>
        <p:nvSpPr>
          <p:cNvPr id="11" name="Freeform 11"/>
          <p:cNvSpPr/>
          <p:nvPr/>
        </p:nvSpPr>
        <p:spPr>
          <a:xfrm>
            <a:off x="533400" y="3810000"/>
            <a:ext cx="10763250" cy="8953500"/>
          </a:xfrm>
          <a:prstGeom prst="bracketPair">
            <a:avLst>
              <a:gd name="adj" fmla="val 5000"/>
            </a:avLst>
          </a:prstGeom>
          <a:noFill/>
          <a:ln w="38100">
            <a:solidFill>
              <a:schemeClr val="accent1"/>
            </a:solidFill>
          </a:ln>
        </p:spPr>
      </p:sp>
      <p:grpSp>
        <p:nvGrpSpPr>
          <p:cNvPr id="16" name="!!cat-a"/>
          <p:cNvGrpSpPr/>
          <p:nvPr/>
        </p:nvGrpSpPr>
        <p:grpSpPr>
          <a:xfrm>
            <a:off x="838200" y="4095750"/>
            <a:ext cx="4886325" cy="4003929"/>
            <a:chOff x="838200" y="4095750"/>
            <a:chExt cx="4886325" cy="4003929"/>
          </a:xfrm>
        </p:grpSpPr>
        <p:sp>
          <p:nvSpPr>
            <p:cNvPr id="12" name="Freeform 12"/>
            <p:cNvSpPr/>
            <p:nvPr/>
          </p:nvSpPr>
          <p:spPr>
            <a:xfrm>
              <a:off x="838200" y="4095750"/>
              <a:ext cx="4886325" cy="3962400"/>
            </a:xfrm>
            <a:prstGeom prst="snip1Rect">
              <a:avLst/>
            </a:prstGeom>
            <a:solidFill>
              <a:srgbClr val="FFFDF7"/>
            </a:solidFill>
            <a:ln w="28575">
              <a:solidFill>
                <a:schemeClr val="dk1"/>
              </a:solidFill>
            </a:ln>
          </p:spPr>
        </p:sp>
        <p:pic>
          <p:nvPicPr>
            <p:cNvPr id="13" name="Image 13"/>
            <p:cNvPicPr>
              <a:picLocks noChangeAspect="1"/>
            </p:cNvPicPr>
            <p:nvPr/>
          </p:nvPicPr>
          <p:blipFill>
            <a:blip r:embed="rId2"/>
            <a:stretch>
              <a:fillRect/>
            </a:stretch>
          </p:blipFill>
          <p:spPr>
            <a:xfrm>
              <a:off x="2138362" y="4405612"/>
              <a:ext cx="2286000" cy="2199676"/>
            </a:xfrm>
            <a:prstGeom prst="rect">
              <a:avLst/>
            </a:prstGeom>
          </p:spPr>
        </p:pic>
        <p:sp>
          <p:nvSpPr>
            <p:cNvPr id="14" name="TextBox 14"/>
            <p:cNvSpPr txBox="1"/>
            <p:nvPr/>
          </p:nvSpPr>
          <p:spPr>
            <a:xfrm>
              <a:off x="2131504" y="6785610"/>
              <a:ext cx="2299716" cy="819150"/>
            </a:xfrm>
            <a:prstGeom prst="rect">
              <a:avLst/>
            </a:prstGeom>
            <a:noFill/>
            <a:ln>
              <a:noFill/>
            </a:ln>
          </p:spPr>
          <p:txBody>
            <a:bodyPr wrap="none" lIns="0" tIns="0" rIns="0" bIns="0" anchor="t" anchorCtr="0">
              <a:spAutoFit/>
            </a:bodyPr>
            <a:lstStyle/>
            <a:p>
              <a:pPr algn="ctr"/>
              <a:r>
                <a:rPr lang="zh-CN" sz="4200" b="1" dirty="0">
                  <a:solidFill>
                    <a:schemeClr val="accent1"/>
                  </a:solidFill>
                  <a:latin typeface="+mj-lt"/>
                  <a:ea typeface="+mj-ea"/>
                  <a:cs typeface="+mj-cs"/>
                </a:rPr>
                <a:t>止血包扎</a:t>
              </a:r>
            </a:p>
          </p:txBody>
        </p:sp>
        <p:sp>
          <p:nvSpPr>
            <p:cNvPr id="15" name="TextBox 15"/>
            <p:cNvSpPr txBox="1"/>
            <p:nvPr/>
          </p:nvSpPr>
          <p:spPr>
            <a:xfrm>
              <a:off x="1709738" y="7454265"/>
              <a:ext cx="3143250" cy="645414"/>
            </a:xfrm>
            <a:prstGeom prst="rect">
              <a:avLst/>
            </a:prstGeom>
            <a:noFill/>
            <a:ln>
              <a:noFill/>
            </a:ln>
          </p:spPr>
          <p:txBody>
            <a:bodyPr wrap="none" lIns="0" tIns="0" rIns="0" bIns="0" anchor="t" anchorCtr="0">
              <a:spAutoFit/>
            </a:bodyPr>
            <a:lstStyle/>
            <a:p>
              <a:pPr algn="ctr"/>
              <a:r>
                <a:rPr lang="zh-CN" sz="3300" dirty="0">
                  <a:solidFill>
                    <a:schemeClr val="dk1"/>
                  </a:solidFill>
                  <a:latin typeface="+mn-lt"/>
                  <a:ea typeface="+mn-ea"/>
                  <a:cs typeface="+mn-cs"/>
                </a:rPr>
                <a:t>先止住、先盖住</a:t>
              </a:r>
            </a:p>
          </p:txBody>
        </p:sp>
      </p:grpSp>
      <p:grpSp>
        <p:nvGrpSpPr>
          <p:cNvPr id="21" name="!!cat-b"/>
          <p:cNvGrpSpPr/>
          <p:nvPr/>
        </p:nvGrpSpPr>
        <p:grpSpPr>
          <a:xfrm>
            <a:off x="6105525" y="4095750"/>
            <a:ext cx="4886325" cy="4003929"/>
            <a:chOff x="6105525" y="4095750"/>
            <a:chExt cx="4886325" cy="4003929"/>
          </a:xfrm>
        </p:grpSpPr>
        <p:sp>
          <p:nvSpPr>
            <p:cNvPr id="17" name="Freeform 17"/>
            <p:cNvSpPr/>
            <p:nvPr/>
          </p:nvSpPr>
          <p:spPr>
            <a:xfrm>
              <a:off x="6105525" y="4095750"/>
              <a:ext cx="4886325" cy="3962400"/>
            </a:xfrm>
            <a:prstGeom prst="snip1Rect">
              <a:avLst/>
            </a:prstGeom>
            <a:solidFill>
              <a:srgbClr val="FFFDF7"/>
            </a:solidFill>
            <a:ln w="28575">
              <a:solidFill>
                <a:schemeClr val="dk1"/>
              </a:solidFill>
            </a:ln>
          </p:spPr>
        </p:sp>
        <p:pic>
          <p:nvPicPr>
            <p:cNvPr id="18" name="Image 18"/>
            <p:cNvPicPr>
              <a:picLocks noChangeAspect="1"/>
            </p:cNvPicPr>
            <p:nvPr/>
          </p:nvPicPr>
          <p:blipFill>
            <a:blip r:embed="rId3"/>
            <a:stretch>
              <a:fillRect/>
            </a:stretch>
          </p:blipFill>
          <p:spPr>
            <a:xfrm>
              <a:off x="7405688" y="4367456"/>
              <a:ext cx="2286000" cy="2275988"/>
            </a:xfrm>
            <a:prstGeom prst="rect">
              <a:avLst/>
            </a:prstGeom>
          </p:spPr>
        </p:pic>
        <p:sp>
          <p:nvSpPr>
            <p:cNvPr id="19" name="TextBox 19"/>
            <p:cNvSpPr txBox="1"/>
            <p:nvPr/>
          </p:nvSpPr>
          <p:spPr>
            <a:xfrm>
              <a:off x="7964234" y="6785610"/>
              <a:ext cx="1168908" cy="819150"/>
            </a:xfrm>
            <a:prstGeom prst="rect">
              <a:avLst/>
            </a:prstGeom>
            <a:noFill/>
            <a:ln>
              <a:noFill/>
            </a:ln>
          </p:spPr>
          <p:txBody>
            <a:bodyPr wrap="none" lIns="0" tIns="0" rIns="0" bIns="0" anchor="t" anchorCtr="0">
              <a:spAutoFit/>
            </a:bodyPr>
            <a:lstStyle/>
            <a:p>
              <a:pPr algn="ctr"/>
              <a:r>
                <a:rPr lang="zh-CN" sz="4200" b="1" dirty="0">
                  <a:solidFill>
                    <a:schemeClr val="accent1"/>
                  </a:solidFill>
                  <a:latin typeface="+mj-lt"/>
                  <a:ea typeface="+mj-ea"/>
                  <a:cs typeface="+mj-cs"/>
                </a:rPr>
                <a:t>消毒</a:t>
              </a:r>
            </a:p>
          </p:txBody>
        </p:sp>
        <p:sp>
          <p:nvSpPr>
            <p:cNvPr id="20" name="TextBox 20"/>
            <p:cNvSpPr txBox="1"/>
            <p:nvPr/>
          </p:nvSpPr>
          <p:spPr>
            <a:xfrm>
              <a:off x="6854895" y="7454265"/>
              <a:ext cx="3387585" cy="645414"/>
            </a:xfrm>
            <a:prstGeom prst="rect">
              <a:avLst/>
            </a:prstGeom>
            <a:noFill/>
            <a:ln>
              <a:noFill/>
            </a:ln>
          </p:spPr>
          <p:txBody>
            <a:bodyPr wrap="none" lIns="0" tIns="0" rIns="0" bIns="0" anchor="t" anchorCtr="0">
              <a:spAutoFit/>
            </a:bodyPr>
            <a:lstStyle/>
            <a:p>
              <a:pPr algn="ctr"/>
              <a:r>
                <a:rPr lang="zh-CN" sz="3300" dirty="0">
                  <a:solidFill>
                    <a:schemeClr val="dk1"/>
                  </a:solidFill>
                  <a:latin typeface="+mn-lt"/>
                  <a:ea typeface="+mn-ea"/>
                  <a:cs typeface="+mn-cs"/>
                </a:rPr>
                <a:t>清洁创面,降感染</a:t>
              </a:r>
            </a:p>
          </p:txBody>
        </p:sp>
      </p:grpSp>
      <p:grpSp>
        <p:nvGrpSpPr>
          <p:cNvPr id="26" name="cat-medicine"/>
          <p:cNvGrpSpPr/>
          <p:nvPr/>
        </p:nvGrpSpPr>
        <p:grpSpPr>
          <a:xfrm>
            <a:off x="838200" y="8515350"/>
            <a:ext cx="4886325" cy="4003929"/>
            <a:chOff x="838200" y="8515350"/>
            <a:chExt cx="4886325" cy="4003929"/>
          </a:xfrm>
        </p:grpSpPr>
        <p:sp>
          <p:nvSpPr>
            <p:cNvPr id="22" name="Freeform 22"/>
            <p:cNvSpPr/>
            <p:nvPr/>
          </p:nvSpPr>
          <p:spPr>
            <a:xfrm>
              <a:off x="838200" y="8515350"/>
              <a:ext cx="4886325" cy="3962400"/>
            </a:xfrm>
            <a:prstGeom prst="snip1Rect">
              <a:avLst/>
            </a:prstGeom>
            <a:solidFill>
              <a:srgbClr val="FFFDF7"/>
            </a:solidFill>
            <a:ln w="28575">
              <a:solidFill>
                <a:schemeClr val="dk1"/>
              </a:solidFill>
            </a:ln>
          </p:spPr>
        </p:sp>
        <p:pic>
          <p:nvPicPr>
            <p:cNvPr id="23" name="Image 23"/>
            <p:cNvPicPr>
              <a:picLocks noChangeAspect="1"/>
            </p:cNvPicPr>
            <p:nvPr/>
          </p:nvPicPr>
          <p:blipFill>
            <a:blip r:embed="rId4"/>
            <a:stretch>
              <a:fillRect/>
            </a:stretch>
          </p:blipFill>
          <p:spPr>
            <a:xfrm>
              <a:off x="2138362" y="8934551"/>
              <a:ext cx="2286000" cy="1980999"/>
            </a:xfrm>
            <a:prstGeom prst="rect">
              <a:avLst/>
            </a:prstGeom>
          </p:spPr>
        </p:pic>
        <p:sp>
          <p:nvSpPr>
            <p:cNvPr id="24" name="TextBox 24"/>
            <p:cNvSpPr txBox="1"/>
            <p:nvPr/>
          </p:nvSpPr>
          <p:spPr>
            <a:xfrm>
              <a:off x="2414206" y="11205210"/>
              <a:ext cx="1734312" cy="819150"/>
            </a:xfrm>
            <a:prstGeom prst="rect">
              <a:avLst/>
            </a:prstGeom>
            <a:noFill/>
            <a:ln>
              <a:noFill/>
            </a:ln>
          </p:spPr>
          <p:txBody>
            <a:bodyPr wrap="none" lIns="0" tIns="0" rIns="0" bIns="0" anchor="t" anchorCtr="0">
              <a:spAutoFit/>
            </a:bodyPr>
            <a:lstStyle/>
            <a:p>
              <a:pPr algn="ctr"/>
              <a:r>
                <a:rPr lang="zh-CN" sz="4200" b="1" dirty="0">
                  <a:solidFill>
                    <a:schemeClr val="accent1"/>
                  </a:solidFill>
                  <a:latin typeface="+mj-lt"/>
                  <a:ea typeface="+mj-ea"/>
                  <a:cs typeface="+mj-cs"/>
                </a:rPr>
                <a:t>常用药</a:t>
              </a:r>
            </a:p>
          </p:txBody>
        </p:sp>
        <p:sp>
          <p:nvSpPr>
            <p:cNvPr id="25" name="TextBox 25"/>
            <p:cNvSpPr txBox="1"/>
            <p:nvPr/>
          </p:nvSpPr>
          <p:spPr>
            <a:xfrm>
              <a:off x="1587570" y="11873865"/>
              <a:ext cx="3387585" cy="645414"/>
            </a:xfrm>
            <a:prstGeom prst="rect">
              <a:avLst/>
            </a:prstGeom>
            <a:noFill/>
            <a:ln>
              <a:noFill/>
            </a:ln>
          </p:spPr>
          <p:txBody>
            <a:bodyPr wrap="none" lIns="0" tIns="0" rIns="0" bIns="0" anchor="t" anchorCtr="0">
              <a:spAutoFit/>
            </a:bodyPr>
            <a:lstStyle/>
            <a:p>
              <a:pPr algn="ctr"/>
              <a:r>
                <a:rPr lang="zh-CN" sz="3300" dirty="0">
                  <a:solidFill>
                    <a:schemeClr val="dk1"/>
                  </a:solidFill>
                  <a:latin typeface="+mn-lt"/>
                  <a:ea typeface="+mn-ea"/>
                  <a:cs typeface="+mn-cs"/>
                </a:rPr>
                <a:t>对症备用,不囤货</a:t>
              </a:r>
            </a:p>
          </p:txBody>
        </p:sp>
      </p:grpSp>
      <p:grpSp>
        <p:nvGrpSpPr>
          <p:cNvPr id="31" name="cat-tools"/>
          <p:cNvGrpSpPr/>
          <p:nvPr/>
        </p:nvGrpSpPr>
        <p:grpSpPr>
          <a:xfrm>
            <a:off x="6105525" y="8515350"/>
            <a:ext cx="4886325" cy="4003929"/>
            <a:chOff x="6105525" y="8515350"/>
            <a:chExt cx="4886325" cy="4003929"/>
          </a:xfrm>
        </p:grpSpPr>
        <p:sp>
          <p:nvSpPr>
            <p:cNvPr id="27" name="Freeform 27"/>
            <p:cNvSpPr/>
            <p:nvPr/>
          </p:nvSpPr>
          <p:spPr>
            <a:xfrm>
              <a:off x="6105525" y="8515350"/>
              <a:ext cx="4886325" cy="3962400"/>
            </a:xfrm>
            <a:prstGeom prst="snip1Rect">
              <a:avLst/>
            </a:prstGeom>
            <a:solidFill>
              <a:srgbClr val="FFFDF7"/>
            </a:solidFill>
            <a:ln w="28575">
              <a:solidFill>
                <a:schemeClr val="dk1"/>
              </a:solidFill>
            </a:ln>
          </p:spPr>
        </p:sp>
        <p:pic>
          <p:nvPicPr>
            <p:cNvPr id="28" name="Image 28"/>
            <p:cNvPicPr>
              <a:picLocks noChangeAspect="1"/>
            </p:cNvPicPr>
            <p:nvPr/>
          </p:nvPicPr>
          <p:blipFill>
            <a:blip r:embed="rId5"/>
            <a:stretch>
              <a:fillRect/>
            </a:stretch>
          </p:blipFill>
          <p:spPr>
            <a:xfrm>
              <a:off x="7405688" y="8911841"/>
              <a:ext cx="2286000" cy="2026418"/>
            </a:xfrm>
            <a:prstGeom prst="rect">
              <a:avLst/>
            </a:prstGeom>
          </p:spPr>
        </p:pic>
        <p:sp>
          <p:nvSpPr>
            <p:cNvPr id="29" name="TextBox 29"/>
            <p:cNvSpPr txBox="1"/>
            <p:nvPr/>
          </p:nvSpPr>
          <p:spPr>
            <a:xfrm>
              <a:off x="7964234" y="11205210"/>
              <a:ext cx="1168908" cy="819150"/>
            </a:xfrm>
            <a:prstGeom prst="rect">
              <a:avLst/>
            </a:prstGeom>
            <a:noFill/>
            <a:ln>
              <a:noFill/>
            </a:ln>
          </p:spPr>
          <p:txBody>
            <a:bodyPr wrap="none" lIns="0" tIns="0" rIns="0" bIns="0" anchor="t" anchorCtr="0">
              <a:spAutoFit/>
            </a:bodyPr>
            <a:lstStyle/>
            <a:p>
              <a:pPr algn="ctr"/>
              <a:r>
                <a:rPr lang="zh-CN" sz="4200" b="1" dirty="0">
                  <a:solidFill>
                    <a:schemeClr val="accent1"/>
                  </a:solidFill>
                  <a:latin typeface="+mj-lt"/>
                  <a:ea typeface="+mj-ea"/>
                  <a:cs typeface="+mj-cs"/>
                </a:rPr>
                <a:t>工具</a:t>
              </a:r>
            </a:p>
          </p:txBody>
        </p:sp>
        <p:sp>
          <p:nvSpPr>
            <p:cNvPr id="30" name="TextBox 30"/>
            <p:cNvSpPr txBox="1"/>
            <p:nvPr/>
          </p:nvSpPr>
          <p:spPr>
            <a:xfrm>
              <a:off x="6854895" y="11873865"/>
              <a:ext cx="3387585" cy="645414"/>
            </a:xfrm>
            <a:prstGeom prst="rect">
              <a:avLst/>
            </a:prstGeom>
            <a:noFill/>
            <a:ln>
              <a:noFill/>
            </a:ln>
          </p:spPr>
          <p:txBody>
            <a:bodyPr wrap="none" lIns="0" tIns="0" rIns="0" bIns="0" anchor="t" anchorCtr="0">
              <a:spAutoFit/>
            </a:bodyPr>
            <a:lstStyle/>
            <a:p>
              <a:pPr algn="ctr"/>
              <a:r>
                <a:rPr lang="zh-CN" sz="3300" dirty="0">
                  <a:solidFill>
                    <a:schemeClr val="dk1"/>
                  </a:solidFill>
                  <a:latin typeface="+mn-lt"/>
                  <a:ea typeface="+mn-ea"/>
                  <a:cs typeface="+mn-cs"/>
                </a:rPr>
                <a:t>能动手,也能防护</a:t>
              </a:r>
            </a:p>
          </p:txBody>
        </p:sp>
      </p:grpSp>
      <p:grpSp>
        <p:nvGrpSpPr>
          <p:cNvPr id="33" name="category-note"/>
          <p:cNvGrpSpPr/>
          <p:nvPr/>
        </p:nvGrpSpPr>
        <p:grpSpPr>
          <a:xfrm>
            <a:off x="826008" y="12980670"/>
            <a:ext cx="8116824" cy="888492"/>
            <a:chOff x="826008" y="12980670"/>
            <a:chExt cx="8116824" cy="888492"/>
          </a:xfrm>
        </p:grpSpPr>
        <p:sp>
          <p:nvSpPr>
            <p:cNvPr id="32" name="TextBox 32"/>
            <p:cNvSpPr txBox="1"/>
            <p:nvPr/>
          </p:nvSpPr>
          <p:spPr>
            <a:xfrm>
              <a:off x="826008" y="12980670"/>
              <a:ext cx="8116824" cy="888492"/>
            </a:xfrm>
            <a:prstGeom prst="rect">
              <a:avLst/>
            </a:prstGeom>
            <a:noFill/>
            <a:ln>
              <a:noFill/>
            </a:ln>
          </p:spPr>
          <p:txBody>
            <a:bodyPr wrap="none" lIns="0" tIns="0" rIns="0" bIns="0" anchor="t" anchorCtr="0">
              <a:spAutoFit/>
            </a:bodyPr>
            <a:lstStyle/>
            <a:p>
              <a:pPr algn="l">
                <a:lnSpc>
                  <a:spcPts val="3300"/>
                </a:lnSpc>
              </a:pPr>
              <a:r>
                <a:rPr lang="zh-CN" sz="2400" dirty="0">
                  <a:solidFill>
                    <a:schemeClr val="accent5"/>
                  </a:solidFill>
                  <a:latin typeface="+mn-lt"/>
                  <a:ea typeface="+mn-ea"/>
                  <a:cs typeface="+mn-cs"/>
                </a:rPr>
                <a:t>分类为本文整理。应急管理部清单是「家庭应急」口径,</a:t>
              </a:r>
              <a:br/>
              <a:r>
                <a:rPr lang="zh-CN" sz="2400" dirty="0">
                  <a:solidFill>
                    <a:schemeClr val="accent5"/>
                  </a:solidFill>
                  <a:latin typeface="+mn-lt"/>
                  <a:ea typeface="+mn-ea"/>
                  <a:cs typeface="+mn-cs"/>
                </a:rPr>
                <a:t>北京急救中心目录才是「医疗急救」口径,做急救包更贴题。</a:t>
              </a:r>
            </a:p>
          </p:txBody>
        </p:sp>
      </p:grpSp>
      <p:grpSp>
        <p:nvGrpSpPr>
          <p:cNvPr id="36" name="page-footer"/>
          <p:cNvGrpSpPr/>
          <p:nvPr/>
        </p:nvGrpSpPr>
        <p:grpSpPr>
          <a:xfrm>
            <a:off x="828294" y="14191298"/>
            <a:ext cx="10173462" cy="705231"/>
            <a:chOff x="828294" y="14191298"/>
            <a:chExt cx="10173462" cy="705231"/>
          </a:xfrm>
        </p:grpSpPr>
        <p:sp>
          <p:nvSpPr>
            <p:cNvPr id="34" name="TextBox 34"/>
            <p:cNvSpPr txBox="1"/>
            <p:nvPr/>
          </p:nvSpPr>
          <p:spPr>
            <a:xfrm>
              <a:off x="828294" y="14191298"/>
              <a:ext cx="8093202" cy="705231"/>
            </a:xfrm>
            <a:prstGeom prst="rect">
              <a:avLst/>
            </a:prstGeom>
            <a:noFill/>
            <a:ln>
              <a:noFill/>
            </a:ln>
          </p:spPr>
          <p:txBody>
            <a:bodyPr wrap="none" lIns="0" tIns="0" rIns="0" bIns="0" anchor="t" anchorCtr="0">
              <a:spAutoFit/>
            </a:bodyPr>
            <a:lstStyle/>
            <a:p>
              <a:pPr algn="l">
                <a:lnSpc>
                  <a:spcPts val="2550"/>
                </a:lnSpc>
              </a:pPr>
              <a:r>
                <a:rPr lang="zh-CN" sz="1950" dirty="0">
                  <a:solidFill>
                    <a:schemeClr val="accent5"/>
                  </a:solidFill>
                  <a:latin typeface="+mn-lt"/>
                  <a:ea typeface="+mn-ea"/>
                  <a:cs typeface="+mn-cs"/>
                </a:rPr>
                <a:t>来源:应急管理部《全国基础版家庭应急物资储备建议清单》2020-11-29;</a:t>
              </a:r>
              <a:br/>
              <a:r>
                <a:rPr lang="zh-CN" sz="1950" dirty="0">
                  <a:solidFill>
                    <a:schemeClr val="accent5"/>
                  </a:solidFill>
                  <a:latin typeface="+mn-lt"/>
                  <a:ea typeface="+mn-ea"/>
                  <a:cs typeface="+mn-cs"/>
                </a:rPr>
                <a:t>北京急救中心《家庭医疗应急物品指导目录》2020-08-02</a:t>
              </a:r>
            </a:p>
          </p:txBody>
        </p:sp>
        <p:sp>
          <p:nvSpPr>
            <p:cNvPr id="35" name="TextBox 35"/>
            <p:cNvSpPr txBox="1"/>
            <p:nvPr/>
          </p:nvSpPr>
          <p:spPr>
            <a:xfrm>
              <a:off x="10391299" y="14515148"/>
              <a:ext cx="610457" cy="381381"/>
            </a:xfrm>
            <a:prstGeom prst="rect">
              <a:avLst/>
            </a:prstGeom>
            <a:noFill/>
            <a:ln>
              <a:noFill/>
            </a:ln>
          </p:spPr>
          <p:txBody>
            <a:bodyPr wrap="none" lIns="0" tIns="0" rIns="0" bIns="0" anchor="t" anchorCtr="0">
              <a:spAutoFit/>
            </a:bodyPr>
            <a:lstStyle/>
            <a:p>
              <a:pPr algn="r"/>
              <a:r>
                <a:rPr lang="zh-CN" sz="1950" dirty="0">
                  <a:solidFill>
                    <a:schemeClr val="accent5"/>
                  </a:solidFill>
                  <a:latin typeface="+mn-lt"/>
                  <a:ea typeface="+mn-ea"/>
                  <a:cs typeface="+mn-cs"/>
                </a:rPr>
                <a:t>2 / 9</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par>
                          <p:cTn id="8" fill="hold">
                            <p:stCondLst>
                              <p:cond delay="450"/>
                            </p:stCondLst>
                            <p:childTnLst>
                              <p:par>
                                <p:cTn id="9" presetID="10" presetClass="entr" presetSubtype="0" fill="hold" grpId="0" nodeType="after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350"/>
                            </p:stCondLst>
                            <p:childTnLst>
                              <p:par>
                                <p:cTn id="13" presetID="23" presetClass="entr" presetSubtype="16" fill="hold" grpId="0" nodeType="afterEffect">
                                  <p:stCondLst>
                                    <p:cond delay="500"/>
                                  </p:stCondLst>
                                  <p:childTnLst>
                                    <p:set>
                                      <p:cBhvr>
                                        <p:cTn id="14" dur="1" fill="hold">
                                          <p:stCondLst>
                                            <p:cond delay="0"/>
                                          </p:stCondLst>
                                        </p:cTn>
                                        <p:tgtEl>
                                          <p:spTgt spid="16"/>
                                        </p:tgtEl>
                                        <p:attrNameLst>
                                          <p:attrName>style.visibility</p:attrName>
                                        </p:attrNameLst>
                                      </p:cBhvr>
                                      <p:to>
                                        <p:strVal val="visible"/>
                                      </p:to>
                                    </p:set>
                                    <p:anim calcmode="lin" valueType="num">
                                      <p:cBhvr>
                                        <p:cTn id="15" dur="400" fill="hold"/>
                                        <p:tgtEl>
                                          <p:spTgt spid="16"/>
                                        </p:tgtEl>
                                        <p:attrNameLst>
                                          <p:attrName>ppt_w</p:attrName>
                                        </p:attrNameLst>
                                      </p:cBhvr>
                                      <p:tavLst>
                                        <p:tav tm="0">
                                          <p:val>
                                            <p:fltVal val="0"/>
                                          </p:val>
                                        </p:tav>
                                        <p:tav tm="100000">
                                          <p:val>
                                            <p:strVal val="#ppt_w"/>
                                          </p:val>
                                        </p:tav>
                                      </p:tavLst>
                                    </p:anim>
                                    <p:anim calcmode="lin" valueType="num">
                                      <p:cBhvr>
                                        <p:cTn id="16" dur="400" fill="hold"/>
                                        <p:tgtEl>
                                          <p:spTgt spid="16"/>
                                        </p:tgtEl>
                                        <p:attrNameLst>
                                          <p:attrName>ppt_h</p:attrName>
                                        </p:attrNameLst>
                                      </p:cBhvr>
                                      <p:tavLst>
                                        <p:tav tm="0">
                                          <p:val>
                                            <p:fltVal val="0"/>
                                          </p:val>
                                        </p:tav>
                                        <p:tav tm="100000">
                                          <p:val>
                                            <p:strVal val="#ppt_h"/>
                                          </p:val>
                                        </p:tav>
                                      </p:tavLst>
                                    </p:anim>
                                  </p:childTnLst>
                                </p:cTn>
                              </p:par>
                            </p:childTnLst>
                          </p:cTn>
                        </p:par>
                        <p:par>
                          <p:cTn id="17" fill="hold">
                            <p:stCondLst>
                              <p:cond delay="2250"/>
                            </p:stCondLst>
                            <p:childTnLst>
                              <p:par>
                                <p:cTn id="18" presetID="23" presetClass="entr" presetSubtype="16" fill="hold" grpId="0" nodeType="afterEffect">
                                  <p:stCondLst>
                                    <p:cond delay="500"/>
                                  </p:stCondLst>
                                  <p:childTnLst>
                                    <p:set>
                                      <p:cBhvr>
                                        <p:cTn id="19" dur="1" fill="hold">
                                          <p:stCondLst>
                                            <p:cond delay="0"/>
                                          </p:stCondLst>
                                        </p:cTn>
                                        <p:tgtEl>
                                          <p:spTgt spid="21"/>
                                        </p:tgtEl>
                                        <p:attrNameLst>
                                          <p:attrName>style.visibility</p:attrName>
                                        </p:attrNameLst>
                                      </p:cBhvr>
                                      <p:to>
                                        <p:strVal val="visible"/>
                                      </p:to>
                                    </p:set>
                                    <p:anim calcmode="lin" valueType="num">
                                      <p:cBhvr>
                                        <p:cTn id="20" dur="400" fill="hold"/>
                                        <p:tgtEl>
                                          <p:spTgt spid="21"/>
                                        </p:tgtEl>
                                        <p:attrNameLst>
                                          <p:attrName>ppt_w</p:attrName>
                                        </p:attrNameLst>
                                      </p:cBhvr>
                                      <p:tavLst>
                                        <p:tav tm="0">
                                          <p:val>
                                            <p:fltVal val="0"/>
                                          </p:val>
                                        </p:tav>
                                        <p:tav tm="100000">
                                          <p:val>
                                            <p:strVal val="#ppt_w"/>
                                          </p:val>
                                        </p:tav>
                                      </p:tavLst>
                                    </p:anim>
                                    <p:anim calcmode="lin" valueType="num">
                                      <p:cBhvr>
                                        <p:cTn id="21" dur="400" fill="hold"/>
                                        <p:tgtEl>
                                          <p:spTgt spid="21"/>
                                        </p:tgtEl>
                                        <p:attrNameLst>
                                          <p:attrName>ppt_h</p:attrName>
                                        </p:attrNameLst>
                                      </p:cBhvr>
                                      <p:tavLst>
                                        <p:tav tm="0">
                                          <p:val>
                                            <p:fltVal val="0"/>
                                          </p:val>
                                        </p:tav>
                                        <p:tav tm="100000">
                                          <p:val>
                                            <p:strVal val="#ppt_h"/>
                                          </p:val>
                                        </p:tav>
                                      </p:tavLst>
                                    </p:anim>
                                  </p:childTnLst>
                                </p:cTn>
                              </p:par>
                            </p:childTnLst>
                          </p:cTn>
                        </p:par>
                        <p:par>
                          <p:cTn id="22" fill="hold">
                            <p:stCondLst>
                              <p:cond delay="3150"/>
                            </p:stCondLst>
                            <p:childTnLst>
                              <p:par>
                                <p:cTn id="23" presetID="23" presetClass="entr" presetSubtype="16" fill="hold" grpId="0" nodeType="afterEffect">
                                  <p:stCondLst>
                                    <p:cond delay="500"/>
                                  </p:stCondLst>
                                  <p:childTnLst>
                                    <p:set>
                                      <p:cBhvr>
                                        <p:cTn id="24" dur="1" fill="hold">
                                          <p:stCondLst>
                                            <p:cond delay="0"/>
                                          </p:stCondLst>
                                        </p:cTn>
                                        <p:tgtEl>
                                          <p:spTgt spid="26"/>
                                        </p:tgtEl>
                                        <p:attrNameLst>
                                          <p:attrName>style.visibility</p:attrName>
                                        </p:attrNameLst>
                                      </p:cBhvr>
                                      <p:to>
                                        <p:strVal val="visible"/>
                                      </p:to>
                                    </p:set>
                                    <p:anim calcmode="lin" valueType="num">
                                      <p:cBhvr>
                                        <p:cTn id="25" dur="400" fill="hold"/>
                                        <p:tgtEl>
                                          <p:spTgt spid="26"/>
                                        </p:tgtEl>
                                        <p:attrNameLst>
                                          <p:attrName>ppt_w</p:attrName>
                                        </p:attrNameLst>
                                      </p:cBhvr>
                                      <p:tavLst>
                                        <p:tav tm="0">
                                          <p:val>
                                            <p:fltVal val="0"/>
                                          </p:val>
                                        </p:tav>
                                        <p:tav tm="100000">
                                          <p:val>
                                            <p:strVal val="#ppt_w"/>
                                          </p:val>
                                        </p:tav>
                                      </p:tavLst>
                                    </p:anim>
                                    <p:anim calcmode="lin" valueType="num">
                                      <p:cBhvr>
                                        <p:cTn id="26" dur="400" fill="hold"/>
                                        <p:tgtEl>
                                          <p:spTgt spid="26"/>
                                        </p:tgtEl>
                                        <p:attrNameLst>
                                          <p:attrName>ppt_h</p:attrName>
                                        </p:attrNameLst>
                                      </p:cBhvr>
                                      <p:tavLst>
                                        <p:tav tm="0">
                                          <p:val>
                                            <p:fltVal val="0"/>
                                          </p:val>
                                        </p:tav>
                                        <p:tav tm="100000">
                                          <p:val>
                                            <p:strVal val="#ppt_h"/>
                                          </p:val>
                                        </p:tav>
                                      </p:tavLst>
                                    </p:anim>
                                  </p:childTnLst>
                                </p:cTn>
                              </p:par>
                            </p:childTnLst>
                          </p:cTn>
                        </p:par>
                        <p:par>
                          <p:cTn id="27" fill="hold">
                            <p:stCondLst>
                              <p:cond delay="4050"/>
                            </p:stCondLst>
                            <p:childTnLst>
                              <p:par>
                                <p:cTn id="28" presetID="23" presetClass="entr" presetSubtype="16" fill="hold" grpId="0" nodeType="afterEffect">
                                  <p:stCondLst>
                                    <p:cond delay="500"/>
                                  </p:stCondLst>
                                  <p:childTnLst>
                                    <p:set>
                                      <p:cBhvr>
                                        <p:cTn id="29" dur="1" fill="hold">
                                          <p:stCondLst>
                                            <p:cond delay="0"/>
                                          </p:stCondLst>
                                        </p:cTn>
                                        <p:tgtEl>
                                          <p:spTgt spid="31"/>
                                        </p:tgtEl>
                                        <p:attrNameLst>
                                          <p:attrName>style.visibility</p:attrName>
                                        </p:attrNameLst>
                                      </p:cBhvr>
                                      <p:to>
                                        <p:strVal val="visible"/>
                                      </p:to>
                                    </p:set>
                                    <p:anim calcmode="lin" valueType="num">
                                      <p:cBhvr>
                                        <p:cTn id="30" dur="400" fill="hold"/>
                                        <p:tgtEl>
                                          <p:spTgt spid="31"/>
                                        </p:tgtEl>
                                        <p:attrNameLst>
                                          <p:attrName>ppt_w</p:attrName>
                                        </p:attrNameLst>
                                      </p:cBhvr>
                                      <p:tavLst>
                                        <p:tav tm="0">
                                          <p:val>
                                            <p:fltVal val="0"/>
                                          </p:val>
                                        </p:tav>
                                        <p:tav tm="100000">
                                          <p:val>
                                            <p:strVal val="#ppt_w"/>
                                          </p:val>
                                        </p:tav>
                                      </p:tavLst>
                                    </p:anim>
                                    <p:anim calcmode="lin" valueType="num">
                                      <p:cBhvr>
                                        <p:cTn id="31" dur="400" fill="hold"/>
                                        <p:tgtEl>
                                          <p:spTgt spid="31"/>
                                        </p:tgtEl>
                                        <p:attrNameLst>
                                          <p:attrName>ppt_h</p:attrName>
                                        </p:attrNameLst>
                                      </p:cBhvr>
                                      <p:tavLst>
                                        <p:tav tm="0">
                                          <p:val>
                                            <p:fltVal val="0"/>
                                          </p:val>
                                        </p:tav>
                                        <p:tav tm="100000">
                                          <p:val>
                                            <p:strVal val="#ppt_h"/>
                                          </p:val>
                                        </p:tav>
                                      </p:tavLst>
                                    </p:anim>
                                  </p:childTnLst>
                                </p:cTn>
                              </p:par>
                            </p:childTnLst>
                          </p:cTn>
                        </p:par>
                        <p:par>
                          <p:cTn id="32" fill="hold">
                            <p:stCondLst>
                              <p:cond delay="4950"/>
                            </p:stCondLst>
                            <p:childTnLst>
                              <p:par>
                                <p:cTn id="33" presetID="10" presetClass="entr" presetSubtype="0" fill="hold" grpId="0" nodeType="afterEffect">
                                  <p:stCondLst>
                                    <p:cond delay="50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rail"/>
          <p:cNvSpPr/>
          <p:nvPr/>
        </p:nvSpPr>
        <p:spPr>
          <a:xfrm>
            <a:off x="514350" y="838200"/>
            <a:ext cx="28575" cy="14135100"/>
          </a:xfrm>
          <a:prstGeom prst="rect">
            <a:avLst/>
          </a:prstGeom>
          <a:solidFill>
            <a:schemeClr val="accent1">
              <a:alpha val="30000"/>
            </a:schemeClr>
          </a:solidFill>
          <a:ln>
            <a:noFill/>
          </a:ln>
        </p:spPr>
      </p:sp>
      <p:grpSp>
        <p:nvGrpSpPr>
          <p:cNvPr id="4" name="!!rail-marker"/>
          <p:cNvGrpSpPr/>
          <p:nvPr/>
        </p:nvGrpSpPr>
        <p:grpSpPr>
          <a:xfrm>
            <a:off x="404812" y="4314825"/>
            <a:ext cx="247650" cy="247650"/>
            <a:chOff x="404812" y="4314825"/>
            <a:chExt cx="247650" cy="247650"/>
          </a:xfrm>
        </p:grpSpPr>
        <p:sp>
          <p:nvSpPr>
            <p:cNvPr id="3" name="Ellipse 3"/>
            <p:cNvSpPr/>
            <p:nvPr/>
          </p:nvSpPr>
          <p:spPr>
            <a:xfrm>
              <a:off x="404812" y="4314825"/>
              <a:ext cx="247650" cy="247650"/>
            </a:xfrm>
            <a:prstGeom prst="ellipse">
              <a:avLst/>
            </a:prstGeom>
            <a:solidFill>
              <a:schemeClr val="accent2"/>
            </a:solidFill>
            <a:ln>
              <a:noFill/>
            </a:ln>
          </p:spPr>
        </p:sp>
      </p:grpSp>
      <p:grpSp>
        <p:nvGrpSpPr>
          <p:cNvPr id="6" name="page-kicker"/>
          <p:cNvGrpSpPr/>
          <p:nvPr/>
        </p:nvGrpSpPr>
        <p:grpSpPr>
          <a:xfrm>
            <a:off x="824484" y="984885"/>
            <a:ext cx="3936530" cy="528066"/>
            <a:chOff x="824484" y="984885"/>
            <a:chExt cx="3936530" cy="528066"/>
          </a:xfrm>
        </p:grpSpPr>
        <p:sp>
          <p:nvSpPr>
            <p:cNvPr id="5" name="TextBox 5"/>
            <p:cNvSpPr txBox="1"/>
            <p:nvPr/>
          </p:nvSpPr>
          <p:spPr>
            <a:xfrm>
              <a:off x="824484" y="984885"/>
              <a:ext cx="3936530" cy="528066"/>
            </a:xfrm>
            <a:prstGeom prst="rect">
              <a:avLst/>
            </a:prstGeom>
            <a:noFill/>
            <a:ln>
              <a:noFill/>
            </a:ln>
          </p:spPr>
          <p:txBody>
            <a:bodyPr wrap="none" lIns="0" tIns="0" rIns="0" bIns="0" anchor="t" anchorCtr="0">
              <a:spAutoFit/>
            </a:bodyPr>
            <a:lstStyle/>
            <a:p>
              <a:pPr algn="l"/>
              <a:r>
                <a:rPr lang="zh-CN" sz="2700" spc="150" dirty="0">
                  <a:solidFill>
                    <a:schemeClr val="accent1"/>
                  </a:solidFill>
                  <a:latin typeface="+mn-lt"/>
                  <a:ea typeface="+mn-ea"/>
                  <a:cs typeface="+mn-cs"/>
                </a:rPr>
                <a:t>清单 · 第一类与第二类</a:t>
              </a:r>
            </a:p>
          </p:txBody>
        </p:sp>
      </p:grpSp>
      <p:grpSp>
        <p:nvGrpSpPr>
          <p:cNvPr id="8" name="page-title"/>
          <p:cNvGrpSpPr/>
          <p:nvPr/>
        </p:nvGrpSpPr>
        <p:grpSpPr>
          <a:xfrm>
            <a:off x="819150" y="1733550"/>
            <a:ext cx="8581758" cy="1162050"/>
            <a:chOff x="819150" y="1733550"/>
            <a:chExt cx="8581758" cy="1162050"/>
          </a:xfrm>
        </p:grpSpPr>
        <p:sp>
          <p:nvSpPr>
            <p:cNvPr id="7" name="TextBox 7"/>
            <p:cNvSpPr txBox="1"/>
            <p:nvPr/>
          </p:nvSpPr>
          <p:spPr>
            <a:xfrm>
              <a:off x="819150" y="1733550"/>
              <a:ext cx="8581758" cy="1162050"/>
            </a:xfrm>
            <a:prstGeom prst="rect">
              <a:avLst/>
            </a:prstGeom>
            <a:noFill/>
            <a:ln>
              <a:noFill/>
            </a:ln>
          </p:spPr>
          <p:txBody>
            <a:bodyPr wrap="none" lIns="0" tIns="0" rIns="0" bIns="0" anchor="t" anchorCtr="0">
              <a:spAutoFit/>
            </a:bodyPr>
            <a:lstStyle/>
            <a:p>
              <a:pPr algn="l"/>
              <a:r>
                <a:rPr lang="zh-CN" sz="6000" b="1" dirty="0">
                  <a:solidFill>
                    <a:schemeClr val="dk1"/>
                  </a:solidFill>
                  <a:latin typeface="+mj-lt"/>
                  <a:ea typeface="+mj-ea"/>
                  <a:cs typeface="+mj-cs"/>
                </a:rPr>
                <a:t>止血包扎和消毒,买什么</a:t>
              </a:r>
            </a:p>
          </p:txBody>
        </p:sp>
      </p:grpSp>
      <p:grpSp>
        <p:nvGrpSpPr>
          <p:cNvPr id="10" name="page-lead"/>
          <p:cNvGrpSpPr/>
          <p:nvPr/>
        </p:nvGrpSpPr>
        <p:grpSpPr>
          <a:xfrm>
            <a:off x="819150" y="3007995"/>
            <a:ext cx="7677112" cy="762000"/>
            <a:chOff x="819150" y="3007995"/>
            <a:chExt cx="7677112" cy="762000"/>
          </a:xfrm>
        </p:grpSpPr>
        <p:sp>
          <p:nvSpPr>
            <p:cNvPr id="9" name="TextBox 9"/>
            <p:cNvSpPr txBox="1"/>
            <p:nvPr/>
          </p:nvSpPr>
          <p:spPr>
            <a:xfrm>
              <a:off x="819150" y="3007995"/>
              <a:ext cx="7677112" cy="762000"/>
            </a:xfrm>
            <a:prstGeom prst="rect">
              <a:avLst/>
            </a:prstGeom>
            <a:noFill/>
            <a:ln>
              <a:noFill/>
            </a:ln>
          </p:spPr>
          <p:txBody>
            <a:bodyPr wrap="none" lIns="0" tIns="0" rIns="0" bIns="0" anchor="t" anchorCtr="0">
              <a:spAutoFit/>
            </a:bodyPr>
            <a:lstStyle/>
            <a:p>
              <a:pPr algn="l"/>
              <a:r>
                <a:rPr lang="zh-CN" sz="3900" dirty="0">
                  <a:solidFill>
                    <a:schemeClr val="dk1"/>
                  </a:solidFill>
                  <a:latin typeface="+mn-lt"/>
                  <a:ea typeface="+mn-ea"/>
                  <a:cs typeface="+mn-cs"/>
                </a:rPr>
                <a:t>先止住、先盖住;消毒</a:t>
              </a:r>
              <a:r>
                <a:rPr lang="zh-CN" sz="3900" b="1" dirty="0">
                  <a:solidFill>
                    <a:schemeClr val="accent2"/>
                  </a:solidFill>
                  <a:latin typeface="+mn-lt"/>
                  <a:ea typeface="+mn-ea"/>
                  <a:cs typeface="+mn-cs"/>
                </a:rPr>
                <a:t>首选碘伏</a:t>
              </a:r>
              <a:r>
                <a:rPr lang="zh-CN" sz="3900" dirty="0">
                  <a:solidFill>
                    <a:schemeClr val="dk1"/>
                  </a:solidFill>
                  <a:latin typeface="+mn-lt"/>
                  <a:ea typeface="+mn-ea"/>
                  <a:cs typeface="+mn-cs"/>
                </a:rPr>
                <a:t>。</a:t>
              </a:r>
            </a:p>
          </p:txBody>
        </p:sp>
      </p:grpSp>
      <p:grpSp>
        <p:nvGrpSpPr>
          <p:cNvPr id="24" name="!!cat-a"/>
          <p:cNvGrpSpPr/>
          <p:nvPr/>
        </p:nvGrpSpPr>
        <p:grpSpPr>
          <a:xfrm>
            <a:off x="914400" y="4000500"/>
            <a:ext cx="9944198" cy="3810000"/>
            <a:chOff x="914400" y="4000500"/>
            <a:chExt cx="9944198" cy="3810000"/>
          </a:xfrm>
        </p:grpSpPr>
        <p:sp>
          <p:nvSpPr>
            <p:cNvPr id="11" name="Freeform 11"/>
            <p:cNvSpPr/>
            <p:nvPr/>
          </p:nvSpPr>
          <p:spPr>
            <a:xfrm>
              <a:off x="914400" y="4000500"/>
              <a:ext cx="419100" cy="3810000"/>
            </a:xfrm>
            <a:prstGeom prst="leftBrace">
              <a:avLst/>
            </a:prstGeom>
            <a:noFill/>
            <a:ln w="47625">
              <a:solidFill>
                <a:schemeClr val="accent3"/>
              </a:solidFill>
            </a:ln>
          </p:spPr>
        </p:sp>
        <p:pic>
          <p:nvPicPr>
            <p:cNvPr id="12" name="Image 12"/>
            <p:cNvPicPr>
              <a:picLocks noChangeAspect="1"/>
            </p:cNvPicPr>
            <p:nvPr/>
          </p:nvPicPr>
          <p:blipFill>
            <a:blip r:embed="rId2"/>
            <a:stretch>
              <a:fillRect/>
            </a:stretch>
          </p:blipFill>
          <p:spPr>
            <a:xfrm>
              <a:off x="1428750" y="5179469"/>
              <a:ext cx="1905000" cy="1833063"/>
            </a:xfrm>
            <a:prstGeom prst="rect">
              <a:avLst/>
            </a:prstGeom>
          </p:spPr>
        </p:pic>
        <p:grpSp>
          <p:nvGrpSpPr>
            <p:cNvPr id="18" name="Group 18"/>
            <p:cNvGrpSpPr/>
            <p:nvPr/>
          </p:nvGrpSpPr>
          <p:grpSpPr>
            <a:xfrm>
              <a:off x="10439302" y="4419502"/>
              <a:ext cx="419296" cy="419296"/>
              <a:chOff x="10439302" y="4419502"/>
              <a:chExt cx="419296" cy="419296"/>
            </a:xfrm>
          </p:grpSpPr>
          <p:sp>
            <p:nvSpPr>
              <p:cNvPr id="13" name="Freeform 13"/>
              <p:cNvSpPr/>
              <p:nvPr/>
            </p:nvSpPr>
            <p:spPr>
              <a:xfrm>
                <a:off x="10693400" y="4629150"/>
                <a:ext cx="9525" cy="9525"/>
              </a:xfrm>
              <a:custGeom>
                <a:avLst/>
                <a:gdLst/>
                <a:ahLst/>
                <a:cxnLst/>
                <a:rect l="l" t="t" r="r" b="b"/>
                <a:pathLst>
                  <a:path w="9525" h="9525">
                    <a:moveTo>
                      <a:pt x="0" y="0"/>
                    </a:moveTo>
                    <a:lnTo>
                      <a:pt x="0" y="222"/>
                    </a:lnTo>
                  </a:path>
                </a:pathLst>
              </a:custGeom>
              <a:noFill/>
              <a:ln w="44450">
                <a:solidFill>
                  <a:schemeClr val="accent1"/>
                </a:solidFill>
              </a:ln>
            </p:spPr>
          </p:sp>
          <p:sp>
            <p:nvSpPr>
              <p:cNvPr id="14" name="Freeform 14"/>
              <p:cNvSpPr/>
              <p:nvPr/>
            </p:nvSpPr>
            <p:spPr>
              <a:xfrm>
                <a:off x="10604500" y="4629150"/>
                <a:ext cx="9525" cy="9525"/>
              </a:xfrm>
              <a:custGeom>
                <a:avLst/>
                <a:gdLst/>
                <a:ahLst/>
                <a:cxnLst/>
                <a:rect l="l" t="t" r="r" b="b"/>
                <a:pathLst>
                  <a:path w="9525" h="9525">
                    <a:moveTo>
                      <a:pt x="0" y="0"/>
                    </a:moveTo>
                    <a:lnTo>
                      <a:pt x="0" y="222"/>
                    </a:lnTo>
                  </a:path>
                </a:pathLst>
              </a:custGeom>
              <a:noFill/>
              <a:ln w="44450">
                <a:solidFill>
                  <a:schemeClr val="accent1"/>
                </a:solidFill>
              </a:ln>
            </p:spPr>
          </p:sp>
          <p:sp>
            <p:nvSpPr>
              <p:cNvPr id="15" name="Freeform 15"/>
              <p:cNvSpPr/>
              <p:nvPr/>
            </p:nvSpPr>
            <p:spPr>
              <a:xfrm>
                <a:off x="10648950" y="4584700"/>
                <a:ext cx="9525" cy="9525"/>
              </a:xfrm>
              <a:custGeom>
                <a:avLst/>
                <a:gdLst/>
                <a:ahLst/>
                <a:cxnLst/>
                <a:rect l="l" t="t" r="r" b="b"/>
                <a:pathLst>
                  <a:path w="9525" h="9525">
                    <a:moveTo>
                      <a:pt x="0" y="0"/>
                    </a:moveTo>
                    <a:lnTo>
                      <a:pt x="0" y="222"/>
                    </a:lnTo>
                  </a:path>
                </a:pathLst>
              </a:custGeom>
              <a:noFill/>
              <a:ln w="44450">
                <a:solidFill>
                  <a:schemeClr val="accent1"/>
                </a:solidFill>
              </a:ln>
            </p:spPr>
          </p:sp>
          <p:sp>
            <p:nvSpPr>
              <p:cNvPr id="16" name="Freeform 16"/>
              <p:cNvSpPr/>
              <p:nvPr/>
            </p:nvSpPr>
            <p:spPr>
              <a:xfrm>
                <a:off x="10648950" y="4673600"/>
                <a:ext cx="9525" cy="9525"/>
              </a:xfrm>
              <a:custGeom>
                <a:avLst/>
                <a:gdLst/>
                <a:ahLst/>
                <a:cxnLst/>
                <a:rect l="l" t="t" r="r" b="b"/>
                <a:pathLst>
                  <a:path w="9525" h="9525">
                    <a:moveTo>
                      <a:pt x="0" y="0"/>
                    </a:moveTo>
                    <a:lnTo>
                      <a:pt x="0" y="222"/>
                    </a:lnTo>
                  </a:path>
                </a:pathLst>
              </a:custGeom>
              <a:noFill/>
              <a:ln w="44450">
                <a:solidFill>
                  <a:schemeClr val="accent1"/>
                </a:solidFill>
              </a:ln>
            </p:spPr>
          </p:sp>
          <p:sp>
            <p:nvSpPr>
              <p:cNvPr id="17" name="Freeform 17"/>
              <p:cNvSpPr/>
              <p:nvPr/>
            </p:nvSpPr>
            <p:spPr>
              <a:xfrm>
                <a:off x="10439302" y="4419502"/>
                <a:ext cx="419296" cy="419296"/>
              </a:xfrm>
              <a:custGeom>
                <a:avLst/>
                <a:gdLst/>
                <a:ahLst/>
                <a:cxnLst/>
                <a:rect l="l" t="t" r="r" b="b"/>
                <a:pathLst>
                  <a:path w="419296" h="419296">
                    <a:moveTo>
                      <a:pt x="42961" y="220761"/>
                    </a:moveTo>
                    <a:lnTo>
                      <a:pt x="220761" y="42961"/>
                    </a:lnTo>
                    <a:cubicBezTo>
                      <a:pt x="263721" y="0"/>
                      <a:pt x="333375" y="0"/>
                      <a:pt x="376335" y="42961"/>
                    </a:cubicBezTo>
                    <a:cubicBezTo>
                      <a:pt x="419296" y="85922"/>
                      <a:pt x="419296" y="155575"/>
                      <a:pt x="376335" y="198536"/>
                    </a:cubicBezTo>
                    <a:lnTo>
                      <a:pt x="198536" y="376335"/>
                    </a:lnTo>
                    <a:cubicBezTo>
                      <a:pt x="155575" y="419296"/>
                      <a:pt x="85922" y="419296"/>
                      <a:pt x="42961" y="376335"/>
                    </a:cubicBezTo>
                    <a:cubicBezTo>
                      <a:pt x="0" y="333375"/>
                      <a:pt x="0" y="263721"/>
                      <a:pt x="42961" y="220761"/>
                    </a:cubicBezTo>
                  </a:path>
                </a:pathLst>
              </a:custGeom>
              <a:noFill/>
              <a:ln w="44450">
                <a:solidFill>
                  <a:schemeClr val="accent1"/>
                </a:solidFill>
              </a:ln>
            </p:spPr>
          </p:sp>
        </p:grpSp>
        <p:sp>
          <p:nvSpPr>
            <p:cNvPr id="19" name="TextBox 19"/>
            <p:cNvSpPr txBox="1"/>
            <p:nvPr/>
          </p:nvSpPr>
          <p:spPr>
            <a:xfrm>
              <a:off x="3600450" y="4309110"/>
              <a:ext cx="4174030" cy="819150"/>
            </a:xfrm>
            <a:prstGeom prst="rect">
              <a:avLst/>
            </a:prstGeom>
            <a:noFill/>
            <a:ln>
              <a:noFill/>
            </a:ln>
          </p:spPr>
          <p:txBody>
            <a:bodyPr wrap="none" lIns="0" tIns="0" rIns="0" bIns="0" anchor="t" anchorCtr="0">
              <a:spAutoFit/>
            </a:bodyPr>
            <a:lstStyle/>
            <a:p>
              <a:pPr algn="l"/>
              <a:r>
                <a:rPr lang="zh-CN" sz="4200" b="1" dirty="0">
                  <a:solidFill>
                    <a:schemeClr val="accent1"/>
                  </a:solidFill>
                  <a:latin typeface="+mj-lt"/>
                  <a:ea typeface="+mj-ea"/>
                  <a:cs typeface="+mj-cs"/>
                </a:rPr>
                <a:t>第一类 止血包扎</a:t>
              </a:r>
            </a:p>
          </p:txBody>
        </p:sp>
        <p:sp>
          <p:nvSpPr>
            <p:cNvPr id="20" name="TextBox 20"/>
            <p:cNvSpPr txBox="1"/>
            <p:nvPr/>
          </p:nvSpPr>
          <p:spPr>
            <a:xfrm>
              <a:off x="3602736" y="5263515"/>
              <a:ext cx="6631419"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无菌纱布 3×3、4×4 英寸各 5 片</a:t>
              </a:r>
            </a:p>
          </p:txBody>
        </p:sp>
        <p:sp>
          <p:nvSpPr>
            <p:cNvPr id="21" name="TextBox 21"/>
            <p:cNvSpPr txBox="1"/>
            <p:nvPr/>
          </p:nvSpPr>
          <p:spPr>
            <a:xfrm>
              <a:off x="3602736" y="5854065"/>
              <a:ext cx="5654078"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弹力绷带 3、4 英寸各 1 卷</a:t>
              </a:r>
            </a:p>
          </p:txBody>
        </p:sp>
        <p:sp>
          <p:nvSpPr>
            <p:cNvPr id="22" name="TextBox 22"/>
            <p:cNvSpPr txBox="1"/>
            <p:nvPr/>
          </p:nvSpPr>
          <p:spPr>
            <a:xfrm>
              <a:off x="3602736" y="6444615"/>
              <a:ext cx="5920626"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三角巾 2 条 · 医用胶带 1 卷</a:t>
              </a:r>
            </a:p>
          </p:txBody>
        </p:sp>
        <p:sp>
          <p:nvSpPr>
            <p:cNvPr id="23" name="TextBox 23"/>
            <p:cNvSpPr txBox="1"/>
            <p:nvPr/>
          </p:nvSpPr>
          <p:spPr>
            <a:xfrm>
              <a:off x="3602736" y="7035165"/>
              <a:ext cx="4832223"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多尺寸创可贴 约 25 片</a:t>
              </a:r>
            </a:p>
          </p:txBody>
        </p:sp>
      </p:grpSp>
      <p:grpSp>
        <p:nvGrpSpPr>
          <p:cNvPr id="43" name="!!cat-b"/>
          <p:cNvGrpSpPr/>
          <p:nvPr/>
        </p:nvGrpSpPr>
        <p:grpSpPr>
          <a:xfrm>
            <a:off x="914400" y="8191500"/>
            <a:ext cx="9845675" cy="4191000"/>
            <a:chOff x="914400" y="8191500"/>
            <a:chExt cx="9845675" cy="4191000"/>
          </a:xfrm>
        </p:grpSpPr>
        <p:sp>
          <p:nvSpPr>
            <p:cNvPr id="25" name="Freeform 25"/>
            <p:cNvSpPr/>
            <p:nvPr/>
          </p:nvSpPr>
          <p:spPr>
            <a:xfrm>
              <a:off x="914400" y="8191500"/>
              <a:ext cx="419100" cy="4191000"/>
            </a:xfrm>
            <a:prstGeom prst="leftBrace">
              <a:avLst/>
            </a:prstGeom>
            <a:noFill/>
            <a:ln w="47625">
              <a:solidFill>
                <a:schemeClr val="accent3"/>
              </a:solidFill>
            </a:ln>
          </p:spPr>
        </p:sp>
        <p:pic>
          <p:nvPicPr>
            <p:cNvPr id="26" name="Image 26"/>
            <p:cNvPicPr>
              <a:picLocks noChangeAspect="1"/>
            </p:cNvPicPr>
            <p:nvPr/>
          </p:nvPicPr>
          <p:blipFill>
            <a:blip r:embed="rId3"/>
            <a:stretch>
              <a:fillRect/>
            </a:stretch>
          </p:blipFill>
          <p:spPr>
            <a:xfrm>
              <a:off x="1428750" y="9529172"/>
              <a:ext cx="1905000" cy="1896657"/>
            </a:xfrm>
            <a:prstGeom prst="rect">
              <a:avLst/>
            </a:prstGeom>
          </p:spPr>
        </p:pic>
        <p:grpSp>
          <p:nvGrpSpPr>
            <p:cNvPr id="32" name="Group 32"/>
            <p:cNvGrpSpPr/>
            <p:nvPr/>
          </p:nvGrpSpPr>
          <p:grpSpPr>
            <a:xfrm>
              <a:off x="10537825" y="8524875"/>
              <a:ext cx="222250" cy="400050"/>
              <a:chOff x="10537825" y="8524875"/>
              <a:chExt cx="222250" cy="400050"/>
            </a:xfrm>
          </p:grpSpPr>
          <p:sp>
            <p:nvSpPr>
              <p:cNvPr id="27" name="Freeform 27"/>
              <p:cNvSpPr/>
              <p:nvPr/>
            </p:nvSpPr>
            <p:spPr>
              <a:xfrm>
                <a:off x="10582275" y="8524875"/>
                <a:ext cx="133350" cy="66675"/>
              </a:xfrm>
              <a:custGeom>
                <a:avLst/>
                <a:gdLst/>
                <a:ahLst/>
                <a:cxnLst/>
                <a:rect l="l" t="t" r="r" b="b"/>
                <a:pathLst>
                  <a:path w="133350" h="66675">
                    <a:moveTo>
                      <a:pt x="0" y="22225"/>
                    </a:moveTo>
                    <a:cubicBezTo>
                      <a:pt x="0" y="9950"/>
                      <a:pt x="9950" y="0"/>
                      <a:pt x="22225" y="0"/>
                    </a:cubicBezTo>
                    <a:lnTo>
                      <a:pt x="111125" y="0"/>
                    </a:lnTo>
                    <a:cubicBezTo>
                      <a:pt x="123399" y="0"/>
                      <a:pt x="133350" y="9950"/>
                      <a:pt x="133350" y="22225"/>
                    </a:cubicBezTo>
                    <a:lnTo>
                      <a:pt x="133350" y="44450"/>
                    </a:lnTo>
                    <a:cubicBezTo>
                      <a:pt x="133350" y="56724"/>
                      <a:pt x="123399" y="66675"/>
                      <a:pt x="111125" y="66675"/>
                    </a:cubicBezTo>
                    <a:lnTo>
                      <a:pt x="22225" y="66675"/>
                    </a:lnTo>
                    <a:cubicBezTo>
                      <a:pt x="9950" y="66675"/>
                      <a:pt x="0" y="56724"/>
                      <a:pt x="0" y="44450"/>
                    </a:cubicBezTo>
                    <a:lnTo>
                      <a:pt x="0" y="22225"/>
                    </a:lnTo>
                  </a:path>
                </a:pathLst>
              </a:custGeom>
              <a:noFill/>
              <a:ln w="44450">
                <a:solidFill>
                  <a:schemeClr val="accent1"/>
                </a:solidFill>
              </a:ln>
            </p:spPr>
          </p:sp>
          <p:sp>
            <p:nvSpPr>
              <p:cNvPr id="28" name="Freeform 28"/>
              <p:cNvSpPr/>
              <p:nvPr/>
            </p:nvSpPr>
            <p:spPr>
              <a:xfrm>
                <a:off x="10537825" y="8591550"/>
                <a:ext cx="222250" cy="333375"/>
              </a:xfrm>
              <a:custGeom>
                <a:avLst/>
                <a:gdLst/>
                <a:ahLst/>
                <a:cxnLst/>
                <a:rect l="l" t="t" r="r" b="b"/>
                <a:pathLst>
                  <a:path w="222250" h="333375">
                    <a:moveTo>
                      <a:pt x="66675" y="0"/>
                    </a:moveTo>
                    <a:lnTo>
                      <a:pt x="66675" y="21780"/>
                    </a:lnTo>
                    <a:cubicBezTo>
                      <a:pt x="66675" y="41272"/>
                      <a:pt x="52584" y="57918"/>
                      <a:pt x="33337" y="61119"/>
                    </a:cubicBezTo>
                    <a:cubicBezTo>
                      <a:pt x="14091" y="64319"/>
                      <a:pt x="0" y="80966"/>
                      <a:pt x="0" y="100457"/>
                    </a:cubicBezTo>
                    <a:lnTo>
                      <a:pt x="0" y="288925"/>
                    </a:lnTo>
                    <a:cubicBezTo>
                      <a:pt x="0" y="313474"/>
                      <a:pt x="19901" y="333375"/>
                      <a:pt x="44450" y="333375"/>
                    </a:cubicBezTo>
                    <a:lnTo>
                      <a:pt x="177800" y="333375"/>
                    </a:lnTo>
                    <a:cubicBezTo>
                      <a:pt x="202349" y="333375"/>
                      <a:pt x="222250" y="313474"/>
                      <a:pt x="222250" y="288925"/>
                    </a:cubicBezTo>
                    <a:lnTo>
                      <a:pt x="222250" y="100457"/>
                    </a:lnTo>
                    <a:cubicBezTo>
                      <a:pt x="222250" y="80966"/>
                      <a:pt x="208159" y="64319"/>
                      <a:pt x="188912" y="61119"/>
                    </a:cubicBezTo>
                    <a:cubicBezTo>
                      <a:pt x="169680" y="57914"/>
                      <a:pt x="155581" y="41278"/>
                      <a:pt x="155575" y="21780"/>
                    </a:cubicBezTo>
                    <a:lnTo>
                      <a:pt x="155575" y="0"/>
                    </a:lnTo>
                  </a:path>
                </a:pathLst>
              </a:custGeom>
              <a:noFill/>
              <a:ln w="44450">
                <a:solidFill>
                  <a:schemeClr val="accent1"/>
                </a:solidFill>
              </a:ln>
            </p:spPr>
          </p:sp>
          <p:sp>
            <p:nvSpPr>
              <p:cNvPr id="29" name="Freeform 29"/>
              <p:cNvSpPr/>
              <p:nvPr/>
            </p:nvSpPr>
            <p:spPr>
              <a:xfrm>
                <a:off x="10537825" y="8724900"/>
                <a:ext cx="222250" cy="9525"/>
              </a:xfrm>
              <a:custGeom>
                <a:avLst/>
                <a:gdLst/>
                <a:ahLst/>
                <a:cxnLst/>
                <a:rect l="l" t="t" r="r" b="b"/>
                <a:pathLst>
                  <a:path w="222250" h="9525">
                    <a:moveTo>
                      <a:pt x="0" y="0"/>
                    </a:moveTo>
                    <a:lnTo>
                      <a:pt x="222250" y="0"/>
                    </a:lnTo>
                  </a:path>
                </a:pathLst>
              </a:custGeom>
              <a:noFill/>
              <a:ln w="44450">
                <a:solidFill>
                  <a:schemeClr val="accent1"/>
                </a:solidFill>
              </a:ln>
            </p:spPr>
          </p:sp>
          <p:sp>
            <p:nvSpPr>
              <p:cNvPr id="30" name="Freeform 30"/>
              <p:cNvSpPr/>
              <p:nvPr/>
            </p:nvSpPr>
            <p:spPr>
              <a:xfrm>
                <a:off x="10537825" y="8858249"/>
                <a:ext cx="222250" cy="9525"/>
              </a:xfrm>
              <a:custGeom>
                <a:avLst/>
                <a:gdLst/>
                <a:ahLst/>
                <a:cxnLst/>
                <a:rect l="l" t="t" r="r" b="b"/>
                <a:pathLst>
                  <a:path w="222250" h="9525">
                    <a:moveTo>
                      <a:pt x="0" y="0"/>
                    </a:moveTo>
                    <a:lnTo>
                      <a:pt x="222250" y="0"/>
                    </a:lnTo>
                  </a:path>
                </a:pathLst>
              </a:custGeom>
              <a:noFill/>
              <a:ln w="44450">
                <a:solidFill>
                  <a:schemeClr val="accent1"/>
                </a:solidFill>
              </a:ln>
            </p:spPr>
          </p:sp>
          <p:sp>
            <p:nvSpPr>
              <p:cNvPr id="31" name="Freeform 31"/>
              <p:cNvSpPr/>
              <p:nvPr/>
            </p:nvSpPr>
            <p:spPr>
              <a:xfrm>
                <a:off x="10626725" y="8791575"/>
                <a:ext cx="44450" cy="9525"/>
              </a:xfrm>
              <a:custGeom>
                <a:avLst/>
                <a:gdLst/>
                <a:ahLst/>
                <a:cxnLst/>
                <a:rect l="l" t="t" r="r" b="b"/>
                <a:pathLst>
                  <a:path w="44450" h="9525">
                    <a:moveTo>
                      <a:pt x="0" y="0"/>
                    </a:moveTo>
                    <a:lnTo>
                      <a:pt x="44450" y="0"/>
                    </a:lnTo>
                  </a:path>
                </a:pathLst>
              </a:custGeom>
              <a:noFill/>
              <a:ln w="44450">
                <a:solidFill>
                  <a:schemeClr val="accent1"/>
                </a:solidFill>
              </a:ln>
            </p:spPr>
          </p:sp>
        </p:grpSp>
        <p:sp>
          <p:nvSpPr>
            <p:cNvPr id="33" name="TextBox 33"/>
            <p:cNvSpPr txBox="1"/>
            <p:nvPr/>
          </p:nvSpPr>
          <p:spPr>
            <a:xfrm>
              <a:off x="3600450" y="8404860"/>
              <a:ext cx="3043222" cy="819150"/>
            </a:xfrm>
            <a:prstGeom prst="rect">
              <a:avLst/>
            </a:prstGeom>
            <a:noFill/>
            <a:ln>
              <a:noFill/>
            </a:ln>
          </p:spPr>
          <p:txBody>
            <a:bodyPr wrap="none" lIns="0" tIns="0" rIns="0" bIns="0" anchor="t" anchorCtr="0">
              <a:spAutoFit/>
            </a:bodyPr>
            <a:lstStyle/>
            <a:p>
              <a:pPr algn="l"/>
              <a:r>
                <a:rPr lang="zh-CN" sz="4200" b="1" dirty="0">
                  <a:solidFill>
                    <a:schemeClr val="accent1"/>
                  </a:solidFill>
                  <a:latin typeface="+mj-lt"/>
                  <a:ea typeface="+mj-ea"/>
                  <a:cs typeface="+mj-cs"/>
                </a:rPr>
                <a:t>第二类 消毒</a:t>
              </a:r>
            </a:p>
          </p:txBody>
        </p:sp>
        <p:sp>
          <p:nvSpPr>
            <p:cNvPr id="34" name="TextBox 34"/>
            <p:cNvSpPr txBox="1"/>
            <p:nvPr/>
          </p:nvSpPr>
          <p:spPr>
            <a:xfrm>
              <a:off x="3602736" y="9359265"/>
              <a:ext cx="6475933"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碘伏 + 无菌棉签:</a:t>
              </a:r>
              <a:r>
                <a:rPr lang="zh-CN" sz="3300" b="1" dirty="0">
                  <a:solidFill>
                    <a:schemeClr val="accent1"/>
                  </a:solidFill>
                  <a:latin typeface="+mn-lt"/>
                  <a:ea typeface="+mn-ea"/>
                  <a:cs typeface="+mn-cs"/>
                </a:rPr>
                <a:t>可直接上伤口</a:t>
              </a:r>
            </a:p>
          </p:txBody>
        </p:sp>
        <p:sp>
          <p:nvSpPr>
            <p:cNvPr id="35" name="TextBox 35"/>
            <p:cNvSpPr txBox="1"/>
            <p:nvPr/>
          </p:nvSpPr>
          <p:spPr>
            <a:xfrm>
              <a:off x="3602736" y="9949815"/>
              <a:ext cx="6276022"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0.9% 生理盐水:冲洗伤口首选</a:t>
              </a:r>
            </a:p>
          </p:txBody>
        </p:sp>
        <p:sp>
          <p:nvSpPr>
            <p:cNvPr id="36" name="TextBox 36"/>
            <p:cNvSpPr txBox="1"/>
            <p:nvPr/>
          </p:nvSpPr>
          <p:spPr>
            <a:xfrm>
              <a:off x="3602736" y="10540365"/>
              <a:ext cx="5965050"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消毒湿巾:只擦伤口周围皮肤</a:t>
              </a:r>
            </a:p>
          </p:txBody>
        </p:sp>
        <p:grpSp>
          <p:nvGrpSpPr>
            <p:cNvPr id="42" name="antiseptic-caution"/>
            <p:cNvGrpSpPr/>
            <p:nvPr/>
          </p:nvGrpSpPr>
          <p:grpSpPr>
            <a:xfrm>
              <a:off x="3645339" y="11647170"/>
              <a:ext cx="5125433" cy="469392"/>
              <a:chOff x="3645339" y="11647170"/>
              <a:chExt cx="5125433" cy="469392"/>
            </a:xfrm>
          </p:grpSpPr>
          <p:grpSp>
            <p:nvGrpSpPr>
              <p:cNvPr id="40" name="Group 40"/>
              <p:cNvGrpSpPr/>
              <p:nvPr/>
            </p:nvGrpSpPr>
            <p:grpSpPr>
              <a:xfrm>
                <a:off x="3645339" y="11675548"/>
                <a:ext cx="272162" cy="233823"/>
                <a:chOff x="3645339" y="11675548"/>
                <a:chExt cx="272162" cy="233823"/>
              </a:xfrm>
            </p:grpSpPr>
            <p:sp>
              <p:nvSpPr>
                <p:cNvPr id="37" name="Freeform 37"/>
                <p:cNvSpPr/>
                <p:nvPr/>
              </p:nvSpPr>
              <p:spPr>
                <a:xfrm>
                  <a:off x="3781425" y="11760994"/>
                  <a:ext cx="9525" cy="53975"/>
                </a:xfrm>
                <a:custGeom>
                  <a:avLst/>
                  <a:gdLst/>
                  <a:ahLst/>
                  <a:cxnLst/>
                  <a:rect l="l" t="t" r="r" b="b"/>
                  <a:pathLst>
                    <a:path w="9525" h="53975">
                      <a:moveTo>
                        <a:pt x="0" y="0"/>
                      </a:moveTo>
                      <a:lnTo>
                        <a:pt x="0" y="53975"/>
                      </a:lnTo>
                    </a:path>
                  </a:pathLst>
                </a:custGeom>
                <a:noFill/>
                <a:ln w="26988">
                  <a:solidFill>
                    <a:srgbClr val="C0392B"/>
                  </a:solidFill>
                </a:ln>
              </p:spPr>
            </p:sp>
            <p:sp>
              <p:nvSpPr>
                <p:cNvPr id="38" name="Freeform 38"/>
                <p:cNvSpPr/>
                <p:nvPr/>
              </p:nvSpPr>
              <p:spPr>
                <a:xfrm>
                  <a:off x="3645339" y="11675548"/>
                  <a:ext cx="272162" cy="233823"/>
                </a:xfrm>
                <a:custGeom>
                  <a:avLst/>
                  <a:gdLst/>
                  <a:ahLst/>
                  <a:cxnLst/>
                  <a:rect l="l" t="t" r="r" b="b"/>
                  <a:pathLst>
                    <a:path w="272162" h="233823">
                      <a:moveTo>
                        <a:pt x="113997" y="12458"/>
                      </a:moveTo>
                      <a:lnTo>
                        <a:pt x="4616" y="195083"/>
                      </a:lnTo>
                      <a:cubicBezTo>
                        <a:pt x="28" y="203029"/>
                        <a:pt x="0" y="212812"/>
                        <a:pt x="4543" y="220785"/>
                      </a:cubicBezTo>
                      <a:cubicBezTo>
                        <a:pt x="9086" y="228757"/>
                        <a:pt x="17517" y="233720"/>
                        <a:pt x="26692" y="233823"/>
                      </a:cubicBezTo>
                      <a:lnTo>
                        <a:pt x="245480" y="233823"/>
                      </a:lnTo>
                      <a:cubicBezTo>
                        <a:pt x="254651" y="233717"/>
                        <a:pt x="263078" y="228756"/>
                        <a:pt x="267620" y="220788"/>
                      </a:cubicBezTo>
                      <a:cubicBezTo>
                        <a:pt x="272162" y="212820"/>
                        <a:pt x="272138" y="203041"/>
                        <a:pt x="267556" y="195096"/>
                      </a:cubicBezTo>
                      <a:lnTo>
                        <a:pt x="158176" y="12444"/>
                      </a:lnTo>
                      <a:cubicBezTo>
                        <a:pt x="153495" y="4719"/>
                        <a:pt x="145119" y="0"/>
                        <a:pt x="136086" y="0"/>
                      </a:cubicBezTo>
                      <a:cubicBezTo>
                        <a:pt x="127054" y="0"/>
                        <a:pt x="118677" y="4719"/>
                        <a:pt x="113997" y="12444"/>
                      </a:cubicBezTo>
                    </a:path>
                  </a:pathLst>
                </a:custGeom>
                <a:noFill/>
                <a:ln w="26988">
                  <a:solidFill>
                    <a:srgbClr val="C0392B"/>
                  </a:solidFill>
                </a:ln>
              </p:spPr>
            </p:sp>
            <p:sp>
              <p:nvSpPr>
                <p:cNvPr id="39" name="Freeform 39"/>
                <p:cNvSpPr/>
                <p:nvPr/>
              </p:nvSpPr>
              <p:spPr>
                <a:xfrm>
                  <a:off x="3781425" y="11855451"/>
                  <a:ext cx="9525" cy="9525"/>
                </a:xfrm>
                <a:custGeom>
                  <a:avLst/>
                  <a:gdLst/>
                  <a:ahLst/>
                  <a:cxnLst/>
                  <a:rect l="l" t="t" r="r" b="b"/>
                  <a:pathLst>
                    <a:path w="9525" h="9525">
                      <a:moveTo>
                        <a:pt x="0" y="0"/>
                      </a:moveTo>
                      <a:lnTo>
                        <a:pt x="135" y="0"/>
                      </a:lnTo>
                    </a:path>
                  </a:pathLst>
                </a:custGeom>
                <a:noFill/>
                <a:ln w="26988">
                  <a:solidFill>
                    <a:srgbClr val="C0392B"/>
                  </a:solidFill>
                </a:ln>
              </p:spPr>
            </p:sp>
          </p:grpSp>
          <p:sp>
            <p:nvSpPr>
              <p:cNvPr id="41" name="TextBox 41"/>
              <p:cNvSpPr txBox="1"/>
              <p:nvPr/>
            </p:nvSpPr>
            <p:spPr>
              <a:xfrm>
                <a:off x="4045458" y="11647170"/>
                <a:ext cx="4725314"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碘过敏者禁用碘伏,甲亢病人慎用</a:t>
                </a:r>
              </a:p>
            </p:txBody>
          </p:sp>
        </p:grpSp>
      </p:grpSp>
      <p:grpSp>
        <p:nvGrpSpPr>
          <p:cNvPr id="45" name="page-note"/>
          <p:cNvGrpSpPr/>
          <p:nvPr/>
        </p:nvGrpSpPr>
        <p:grpSpPr>
          <a:xfrm>
            <a:off x="826008" y="12847320"/>
            <a:ext cx="7979664" cy="888492"/>
            <a:chOff x="826008" y="12847320"/>
            <a:chExt cx="7979664" cy="888492"/>
          </a:xfrm>
        </p:grpSpPr>
        <p:sp>
          <p:nvSpPr>
            <p:cNvPr id="44" name="TextBox 44"/>
            <p:cNvSpPr txBox="1"/>
            <p:nvPr/>
          </p:nvSpPr>
          <p:spPr>
            <a:xfrm>
              <a:off x="826008" y="12847320"/>
              <a:ext cx="7979664" cy="888492"/>
            </a:xfrm>
            <a:prstGeom prst="rect">
              <a:avLst/>
            </a:prstGeom>
            <a:noFill/>
            <a:ln>
              <a:noFill/>
            </a:ln>
          </p:spPr>
          <p:txBody>
            <a:bodyPr wrap="none" lIns="0" tIns="0" rIns="0" bIns="0" anchor="t" anchorCtr="0">
              <a:spAutoFit/>
            </a:bodyPr>
            <a:lstStyle/>
            <a:p>
              <a:pPr algn="l">
                <a:lnSpc>
                  <a:spcPts val="3300"/>
                </a:lnSpc>
              </a:pPr>
              <a:r>
                <a:rPr lang="zh-CN" sz="2400" dirty="0">
                  <a:solidFill>
                    <a:schemeClr val="accent5"/>
                  </a:solidFill>
                  <a:latin typeface="+mn-lt"/>
                  <a:ea typeface="+mn-ea"/>
                  <a:cs typeface="+mn-cs"/>
                </a:rPr>
                <a:t>数量参考美国红十字会四口之家最小配置,按家里人数增减;</a:t>
              </a:r>
              <a:br/>
              <a:r>
                <a:rPr lang="zh-CN" sz="2400" dirty="0">
                  <a:solidFill>
                    <a:schemeClr val="accent5"/>
                  </a:solidFill>
                  <a:latin typeface="+mn-lt"/>
                  <a:ea typeface="+mn-ea"/>
                  <a:cs typeface="+mn-cs"/>
                </a:rPr>
                <a:t>碘伏、生理盐水的用法为国内官方科普口径。</a:t>
              </a:r>
            </a:p>
          </p:txBody>
        </p:sp>
      </p:grpSp>
      <p:grpSp>
        <p:nvGrpSpPr>
          <p:cNvPr id="48" name="page-footer"/>
          <p:cNvGrpSpPr/>
          <p:nvPr/>
        </p:nvGrpSpPr>
        <p:grpSpPr>
          <a:xfrm>
            <a:off x="828294" y="14191298"/>
            <a:ext cx="10173462" cy="705231"/>
            <a:chOff x="828294" y="14191298"/>
            <a:chExt cx="10173462" cy="705231"/>
          </a:xfrm>
        </p:grpSpPr>
        <p:sp>
          <p:nvSpPr>
            <p:cNvPr id="46" name="TextBox 46"/>
            <p:cNvSpPr txBox="1"/>
            <p:nvPr/>
          </p:nvSpPr>
          <p:spPr>
            <a:xfrm>
              <a:off x="828294" y="14191298"/>
              <a:ext cx="7114984" cy="705231"/>
            </a:xfrm>
            <a:prstGeom prst="rect">
              <a:avLst/>
            </a:prstGeom>
            <a:noFill/>
            <a:ln>
              <a:noFill/>
            </a:ln>
          </p:spPr>
          <p:txBody>
            <a:bodyPr wrap="none" lIns="0" tIns="0" rIns="0" bIns="0" anchor="t" anchorCtr="0">
              <a:spAutoFit/>
            </a:bodyPr>
            <a:lstStyle/>
            <a:p>
              <a:pPr algn="l">
                <a:lnSpc>
                  <a:spcPts val="2550"/>
                </a:lnSpc>
              </a:pPr>
              <a:r>
                <a:rPr lang="zh-CN" sz="1950" dirty="0">
                  <a:solidFill>
                    <a:schemeClr val="accent5"/>
                  </a:solidFill>
                  <a:latin typeface="+mn-lt"/>
                  <a:ea typeface="+mn-ea"/>
                  <a:cs typeface="+mn-cs"/>
                </a:rPr>
                <a:t>来源:美国红十字会急救包清单;国家药监局与卫健系统健康科普;</a:t>
              </a:r>
              <a:br/>
              <a:r>
                <a:rPr lang="zh-CN" sz="1950" dirty="0">
                  <a:solidFill>
                    <a:schemeClr val="accent5"/>
                  </a:solidFill>
                  <a:latin typeface="+mn-lt"/>
                  <a:ea typeface="+mn-ea"/>
                  <a:cs typeface="+mn-cs"/>
                </a:rPr>
                <a:t>北京急救中心《家庭医疗应急物品指导目录》2020</a:t>
              </a:r>
            </a:p>
          </p:txBody>
        </p:sp>
        <p:sp>
          <p:nvSpPr>
            <p:cNvPr id="47" name="TextBox 47"/>
            <p:cNvSpPr txBox="1"/>
            <p:nvPr/>
          </p:nvSpPr>
          <p:spPr>
            <a:xfrm>
              <a:off x="10391299" y="14515148"/>
              <a:ext cx="610457" cy="381381"/>
            </a:xfrm>
            <a:prstGeom prst="rect">
              <a:avLst/>
            </a:prstGeom>
            <a:noFill/>
            <a:ln>
              <a:noFill/>
            </a:ln>
          </p:spPr>
          <p:txBody>
            <a:bodyPr wrap="none" lIns="0" tIns="0" rIns="0" bIns="0" anchor="t" anchorCtr="0">
              <a:spAutoFit/>
            </a:bodyPr>
            <a:lstStyle/>
            <a:p>
              <a:pPr algn="r"/>
              <a:r>
                <a:rPr lang="zh-CN" sz="1950" dirty="0">
                  <a:solidFill>
                    <a:schemeClr val="accent5"/>
                  </a:solidFill>
                  <a:latin typeface="+mn-lt"/>
                  <a:ea typeface="+mn-ea"/>
                  <a:cs typeface="+mn-cs"/>
                </a:rPr>
                <a:t>3 / 9</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par>
                          <p:cTn id="8" fill="hold">
                            <p:stCondLst>
                              <p:cond delay="450"/>
                            </p:stCondLst>
                            <p:childTnLst>
                              <p:par>
                                <p:cTn id="9" presetID="10" presetClass="entr" presetSubtype="0" fill="hold" grpId="0" nodeType="after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350"/>
                            </p:stCondLst>
                            <p:childTnLst>
                              <p:par>
                                <p:cTn id="13" presetID="10" presetClass="entr" presetSubtype="0" fill="hold" grpId="0" nodeType="afterEffect">
                                  <p:stCondLst>
                                    <p:cond delay="300"/>
                                  </p:stCondLst>
                                  <p:childTnLst>
                                    <p:set>
                                      <p:cBhvr>
                                        <p:cTn id="14" dur="1" fill="hold">
                                          <p:stCondLst>
                                            <p:cond delay="0"/>
                                          </p:stCondLst>
                                        </p:cTn>
                                        <p:tgtEl>
                                          <p:spTgt spid="45"/>
                                        </p:tgtEl>
                                        <p:attrNameLst>
                                          <p:attrName>style.visibility</p:attrName>
                                        </p:attrNameLst>
                                      </p:cBhvr>
                                      <p:to>
                                        <p:strVal val="visible"/>
                                      </p:to>
                                    </p:set>
                                    <p:animEffect transition="in" filter="fade">
                                      <p:cBhvr>
                                        <p:cTn id="1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rail"/>
          <p:cNvSpPr/>
          <p:nvPr/>
        </p:nvSpPr>
        <p:spPr>
          <a:xfrm>
            <a:off x="514350" y="838200"/>
            <a:ext cx="28575" cy="14135100"/>
          </a:xfrm>
          <a:prstGeom prst="rect">
            <a:avLst/>
          </a:prstGeom>
          <a:solidFill>
            <a:schemeClr val="accent1">
              <a:alpha val="30000"/>
            </a:schemeClr>
          </a:solidFill>
          <a:ln>
            <a:noFill/>
          </a:ln>
        </p:spPr>
      </p:sp>
      <p:grpSp>
        <p:nvGrpSpPr>
          <p:cNvPr id="4" name="!!rail-marker"/>
          <p:cNvGrpSpPr/>
          <p:nvPr/>
        </p:nvGrpSpPr>
        <p:grpSpPr>
          <a:xfrm>
            <a:off x="404812" y="5915025"/>
            <a:ext cx="247650" cy="247650"/>
            <a:chOff x="404812" y="5915025"/>
            <a:chExt cx="247650" cy="247650"/>
          </a:xfrm>
        </p:grpSpPr>
        <p:sp>
          <p:nvSpPr>
            <p:cNvPr id="3" name="Ellipse 3"/>
            <p:cNvSpPr/>
            <p:nvPr/>
          </p:nvSpPr>
          <p:spPr>
            <a:xfrm>
              <a:off x="404812" y="5915025"/>
              <a:ext cx="247650" cy="247650"/>
            </a:xfrm>
            <a:prstGeom prst="ellipse">
              <a:avLst/>
            </a:prstGeom>
            <a:solidFill>
              <a:schemeClr val="accent2"/>
            </a:solidFill>
            <a:ln>
              <a:noFill/>
            </a:ln>
          </p:spPr>
        </p:sp>
      </p:grpSp>
      <p:grpSp>
        <p:nvGrpSpPr>
          <p:cNvPr id="6" name="page-kicker"/>
          <p:cNvGrpSpPr/>
          <p:nvPr/>
        </p:nvGrpSpPr>
        <p:grpSpPr>
          <a:xfrm>
            <a:off x="824484" y="984885"/>
            <a:ext cx="3936530" cy="528066"/>
            <a:chOff x="824484" y="984885"/>
            <a:chExt cx="3936530" cy="528066"/>
          </a:xfrm>
        </p:grpSpPr>
        <p:sp>
          <p:nvSpPr>
            <p:cNvPr id="5" name="TextBox 5"/>
            <p:cNvSpPr txBox="1"/>
            <p:nvPr/>
          </p:nvSpPr>
          <p:spPr>
            <a:xfrm>
              <a:off x="824484" y="984885"/>
              <a:ext cx="3936530" cy="528066"/>
            </a:xfrm>
            <a:prstGeom prst="rect">
              <a:avLst/>
            </a:prstGeom>
            <a:noFill/>
            <a:ln>
              <a:noFill/>
            </a:ln>
          </p:spPr>
          <p:txBody>
            <a:bodyPr wrap="none" lIns="0" tIns="0" rIns="0" bIns="0" anchor="t" anchorCtr="0">
              <a:spAutoFit/>
            </a:bodyPr>
            <a:lstStyle/>
            <a:p>
              <a:pPr algn="l"/>
              <a:r>
                <a:rPr lang="zh-CN" sz="2700" spc="150" dirty="0">
                  <a:solidFill>
                    <a:schemeClr val="accent1"/>
                  </a:solidFill>
                  <a:latin typeface="+mn-lt"/>
                  <a:ea typeface="+mn-ea"/>
                  <a:cs typeface="+mn-cs"/>
                </a:rPr>
                <a:t>清单 · 第三类与第四类</a:t>
              </a:r>
            </a:p>
          </p:txBody>
        </p:sp>
      </p:grpSp>
      <p:grpSp>
        <p:nvGrpSpPr>
          <p:cNvPr id="8" name="page-title"/>
          <p:cNvGrpSpPr/>
          <p:nvPr/>
        </p:nvGrpSpPr>
        <p:grpSpPr>
          <a:xfrm>
            <a:off x="819150" y="1733550"/>
            <a:ext cx="7774038" cy="1162050"/>
            <a:chOff x="819150" y="1733550"/>
            <a:chExt cx="7774038" cy="1162050"/>
          </a:xfrm>
        </p:grpSpPr>
        <p:sp>
          <p:nvSpPr>
            <p:cNvPr id="7" name="TextBox 7"/>
            <p:cNvSpPr txBox="1"/>
            <p:nvPr/>
          </p:nvSpPr>
          <p:spPr>
            <a:xfrm>
              <a:off x="819150" y="1733550"/>
              <a:ext cx="7774038" cy="1162050"/>
            </a:xfrm>
            <a:prstGeom prst="rect">
              <a:avLst/>
            </a:prstGeom>
            <a:noFill/>
            <a:ln>
              <a:noFill/>
            </a:ln>
          </p:spPr>
          <p:txBody>
            <a:bodyPr wrap="none" lIns="0" tIns="0" rIns="0" bIns="0" anchor="t" anchorCtr="0">
              <a:spAutoFit/>
            </a:bodyPr>
            <a:lstStyle/>
            <a:p>
              <a:pPr algn="l"/>
              <a:r>
                <a:rPr lang="zh-CN" sz="6000" b="1" dirty="0">
                  <a:solidFill>
                    <a:schemeClr val="dk1"/>
                  </a:solidFill>
                  <a:latin typeface="+mj-lt"/>
                  <a:ea typeface="+mj-ea"/>
                  <a:cs typeface="+mj-cs"/>
                </a:rPr>
                <a:t>常用药和工具,怎么备</a:t>
              </a:r>
            </a:p>
          </p:txBody>
        </p:sp>
      </p:grpSp>
      <p:grpSp>
        <p:nvGrpSpPr>
          <p:cNvPr id="10" name="page-lead"/>
          <p:cNvGrpSpPr/>
          <p:nvPr/>
        </p:nvGrpSpPr>
        <p:grpSpPr>
          <a:xfrm>
            <a:off x="819150" y="3007995"/>
            <a:ext cx="8202130" cy="762000"/>
            <a:chOff x="819150" y="3007995"/>
            <a:chExt cx="8202130" cy="762000"/>
          </a:xfrm>
        </p:grpSpPr>
        <p:sp>
          <p:nvSpPr>
            <p:cNvPr id="9" name="TextBox 9"/>
            <p:cNvSpPr txBox="1"/>
            <p:nvPr/>
          </p:nvSpPr>
          <p:spPr>
            <a:xfrm>
              <a:off x="819150" y="3007995"/>
              <a:ext cx="8202130" cy="762000"/>
            </a:xfrm>
            <a:prstGeom prst="rect">
              <a:avLst/>
            </a:prstGeom>
            <a:noFill/>
            <a:ln>
              <a:noFill/>
            </a:ln>
          </p:spPr>
          <p:txBody>
            <a:bodyPr wrap="none" lIns="0" tIns="0" rIns="0" bIns="0" anchor="t" anchorCtr="0">
              <a:spAutoFit/>
            </a:bodyPr>
            <a:lstStyle/>
            <a:p>
              <a:pPr algn="l"/>
              <a:r>
                <a:rPr lang="zh-CN" sz="3900" dirty="0">
                  <a:solidFill>
                    <a:schemeClr val="dk1"/>
                  </a:solidFill>
                  <a:latin typeface="+mn-lt"/>
                  <a:ea typeface="+mn-ea"/>
                  <a:cs typeface="+mn-cs"/>
                </a:rPr>
                <a:t>药</a:t>
              </a:r>
              <a:r>
                <a:rPr lang="zh-CN" sz="3900" b="1" dirty="0">
                  <a:solidFill>
                    <a:schemeClr val="accent2"/>
                  </a:solidFill>
                  <a:latin typeface="+mn-lt"/>
                  <a:ea typeface="+mn-ea"/>
                  <a:cs typeface="+mn-cs"/>
                </a:rPr>
                <a:t>按用途备</a:t>
              </a:r>
              <a:r>
                <a:rPr lang="zh-CN" sz="3900" dirty="0">
                  <a:solidFill>
                    <a:schemeClr val="dk1"/>
                  </a:solidFill>
                  <a:latin typeface="+mn-lt"/>
                  <a:ea typeface="+mn-ea"/>
                  <a:cs typeface="+mn-cs"/>
                </a:rPr>
                <a:t>,工具齐了才动得了手。</a:t>
              </a:r>
            </a:p>
          </p:txBody>
        </p:sp>
      </p:grpSp>
      <p:grpSp>
        <p:nvGrpSpPr>
          <p:cNvPr id="23" name="!!cat-a"/>
          <p:cNvGrpSpPr/>
          <p:nvPr/>
        </p:nvGrpSpPr>
        <p:grpSpPr>
          <a:xfrm>
            <a:off x="914400" y="4000500"/>
            <a:ext cx="9934575" cy="3810000"/>
            <a:chOff x="914400" y="4000500"/>
            <a:chExt cx="9934575" cy="3810000"/>
          </a:xfrm>
        </p:grpSpPr>
        <p:sp>
          <p:nvSpPr>
            <p:cNvPr id="11" name="Freeform 11"/>
            <p:cNvSpPr/>
            <p:nvPr/>
          </p:nvSpPr>
          <p:spPr>
            <a:xfrm>
              <a:off x="914400" y="4000500"/>
              <a:ext cx="419100" cy="3810000"/>
            </a:xfrm>
            <a:prstGeom prst="leftBrace">
              <a:avLst/>
            </a:prstGeom>
            <a:noFill/>
            <a:ln w="47625">
              <a:solidFill>
                <a:schemeClr val="accent3"/>
              </a:solidFill>
            </a:ln>
          </p:spPr>
        </p:sp>
        <p:pic>
          <p:nvPicPr>
            <p:cNvPr id="12" name="Image 12"/>
            <p:cNvPicPr>
              <a:picLocks noChangeAspect="1"/>
            </p:cNvPicPr>
            <p:nvPr/>
          </p:nvPicPr>
          <p:blipFill>
            <a:blip r:embed="rId2"/>
            <a:stretch>
              <a:fillRect/>
            </a:stretch>
          </p:blipFill>
          <p:spPr>
            <a:xfrm>
              <a:off x="1428750" y="5270584"/>
              <a:ext cx="1905000" cy="1650832"/>
            </a:xfrm>
            <a:prstGeom prst="rect">
              <a:avLst/>
            </a:prstGeom>
          </p:spPr>
        </p:pic>
        <p:grpSp>
          <p:nvGrpSpPr>
            <p:cNvPr id="17" name="Group 17"/>
            <p:cNvGrpSpPr/>
            <p:nvPr/>
          </p:nvGrpSpPr>
          <p:grpSpPr>
            <a:xfrm>
              <a:off x="10448925" y="4429125"/>
              <a:ext cx="400050" cy="400050"/>
              <a:chOff x="10448925" y="4429125"/>
              <a:chExt cx="400050" cy="400050"/>
            </a:xfrm>
          </p:grpSpPr>
          <p:sp>
            <p:nvSpPr>
              <p:cNvPr id="13" name="Freeform 13"/>
              <p:cNvSpPr/>
              <p:nvPr/>
            </p:nvSpPr>
            <p:spPr>
              <a:xfrm>
                <a:off x="10448925" y="4429125"/>
                <a:ext cx="222250" cy="222250"/>
              </a:xfrm>
              <a:custGeom>
                <a:avLst/>
                <a:gdLst/>
                <a:ahLst/>
                <a:cxnLst/>
                <a:rect l="l" t="t" r="r" b="b"/>
                <a:pathLst>
                  <a:path w="222250" h="222250">
                    <a:moveTo>
                      <a:pt x="0" y="111125"/>
                    </a:moveTo>
                    <a:cubicBezTo>
                      <a:pt x="0" y="172497"/>
                      <a:pt x="49752" y="222250"/>
                      <a:pt x="111125" y="222250"/>
                    </a:cubicBezTo>
                    <a:cubicBezTo>
                      <a:pt x="172497" y="222250"/>
                      <a:pt x="222250" y="172497"/>
                      <a:pt x="222250" y="111125"/>
                    </a:cubicBezTo>
                    <a:cubicBezTo>
                      <a:pt x="222250" y="49752"/>
                      <a:pt x="172497" y="0"/>
                      <a:pt x="111125" y="0"/>
                    </a:cubicBezTo>
                    <a:cubicBezTo>
                      <a:pt x="49752" y="0"/>
                      <a:pt x="0" y="49752"/>
                      <a:pt x="0" y="111125"/>
                    </a:cubicBezTo>
                  </a:path>
                </a:pathLst>
              </a:custGeom>
              <a:noFill/>
              <a:ln w="44450">
                <a:solidFill>
                  <a:schemeClr val="accent1"/>
                </a:solidFill>
              </a:ln>
            </p:spPr>
          </p:sp>
          <p:sp>
            <p:nvSpPr>
              <p:cNvPr id="14" name="Freeform 14"/>
              <p:cNvSpPr/>
              <p:nvPr/>
            </p:nvSpPr>
            <p:spPr>
              <a:xfrm>
                <a:off x="10671175" y="4651375"/>
                <a:ext cx="177800" cy="177800"/>
              </a:xfrm>
              <a:custGeom>
                <a:avLst/>
                <a:gdLst/>
                <a:ahLst/>
                <a:cxnLst/>
                <a:rect l="l" t="t" r="r" b="b"/>
                <a:pathLst>
                  <a:path w="177800" h="177800">
                    <a:moveTo>
                      <a:pt x="0" y="88900"/>
                    </a:moveTo>
                    <a:cubicBezTo>
                      <a:pt x="0" y="137998"/>
                      <a:pt x="39802" y="177800"/>
                      <a:pt x="88900" y="177800"/>
                    </a:cubicBezTo>
                    <a:cubicBezTo>
                      <a:pt x="137998" y="177800"/>
                      <a:pt x="177800" y="137998"/>
                      <a:pt x="177800" y="88900"/>
                    </a:cubicBezTo>
                    <a:cubicBezTo>
                      <a:pt x="177800" y="39802"/>
                      <a:pt x="137998" y="0"/>
                      <a:pt x="88900" y="0"/>
                    </a:cubicBezTo>
                    <a:cubicBezTo>
                      <a:pt x="39802" y="0"/>
                      <a:pt x="0" y="39802"/>
                      <a:pt x="0" y="88900"/>
                    </a:cubicBezTo>
                  </a:path>
                </a:pathLst>
              </a:custGeom>
              <a:noFill/>
              <a:ln w="44450">
                <a:solidFill>
                  <a:schemeClr val="accent1"/>
                </a:solidFill>
              </a:ln>
            </p:spPr>
          </p:sp>
          <p:sp>
            <p:nvSpPr>
              <p:cNvPr id="15" name="Freeform 15"/>
              <p:cNvSpPr/>
              <p:nvPr/>
            </p:nvSpPr>
            <p:spPr>
              <a:xfrm>
                <a:off x="10482262" y="4462462"/>
                <a:ext cx="155575" cy="155575"/>
              </a:xfrm>
              <a:custGeom>
                <a:avLst/>
                <a:gdLst/>
                <a:ahLst/>
                <a:cxnLst/>
                <a:rect l="l" t="t" r="r" b="b"/>
                <a:pathLst>
                  <a:path w="155575" h="155575">
                    <a:moveTo>
                      <a:pt x="0" y="0"/>
                    </a:moveTo>
                    <a:lnTo>
                      <a:pt x="155575" y="155575"/>
                    </a:lnTo>
                  </a:path>
                </a:pathLst>
              </a:custGeom>
              <a:noFill/>
              <a:ln w="44450">
                <a:solidFill>
                  <a:schemeClr val="accent1"/>
                </a:solidFill>
              </a:ln>
            </p:spPr>
          </p:sp>
          <p:sp>
            <p:nvSpPr>
              <p:cNvPr id="16" name="Freeform 16"/>
              <p:cNvSpPr/>
              <p:nvPr/>
            </p:nvSpPr>
            <p:spPr>
              <a:xfrm>
                <a:off x="10704512" y="4684712"/>
                <a:ext cx="111125" cy="111125"/>
              </a:xfrm>
              <a:custGeom>
                <a:avLst/>
                <a:gdLst/>
                <a:ahLst/>
                <a:cxnLst/>
                <a:rect l="l" t="t" r="r" b="b"/>
                <a:pathLst>
                  <a:path w="111125" h="111125">
                    <a:moveTo>
                      <a:pt x="111125" y="0"/>
                    </a:moveTo>
                    <a:lnTo>
                      <a:pt x="0" y="111125"/>
                    </a:lnTo>
                  </a:path>
                </a:pathLst>
              </a:custGeom>
              <a:noFill/>
              <a:ln w="44450">
                <a:solidFill>
                  <a:schemeClr val="accent1"/>
                </a:solidFill>
              </a:ln>
            </p:spPr>
          </p:sp>
        </p:grpSp>
        <p:sp>
          <p:nvSpPr>
            <p:cNvPr id="18" name="TextBox 18"/>
            <p:cNvSpPr txBox="1"/>
            <p:nvPr/>
          </p:nvSpPr>
          <p:spPr>
            <a:xfrm>
              <a:off x="3600450" y="4309110"/>
              <a:ext cx="3608626" cy="819150"/>
            </a:xfrm>
            <a:prstGeom prst="rect">
              <a:avLst/>
            </a:prstGeom>
            <a:noFill/>
            <a:ln>
              <a:noFill/>
            </a:ln>
          </p:spPr>
          <p:txBody>
            <a:bodyPr wrap="none" lIns="0" tIns="0" rIns="0" bIns="0" anchor="t" anchorCtr="0">
              <a:spAutoFit/>
            </a:bodyPr>
            <a:lstStyle/>
            <a:p>
              <a:pPr algn="l"/>
              <a:r>
                <a:rPr lang="zh-CN" sz="4200" b="1" dirty="0">
                  <a:solidFill>
                    <a:schemeClr val="accent1"/>
                  </a:solidFill>
                  <a:latin typeface="+mj-lt"/>
                  <a:ea typeface="+mj-ea"/>
                  <a:cs typeface="+mj-cs"/>
                </a:rPr>
                <a:t>第三类 常用药</a:t>
              </a:r>
            </a:p>
          </p:txBody>
        </p:sp>
        <p:sp>
          <p:nvSpPr>
            <p:cNvPr id="19" name="TextBox 19"/>
            <p:cNvSpPr txBox="1"/>
            <p:nvPr/>
          </p:nvSpPr>
          <p:spPr>
            <a:xfrm>
              <a:off x="3602736" y="5263515"/>
              <a:ext cx="5965050"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五个用途:退烧止痛、抗过敏</a:t>
              </a:r>
            </a:p>
          </p:txBody>
        </p:sp>
        <p:sp>
          <p:nvSpPr>
            <p:cNvPr id="20" name="TextBox 20"/>
            <p:cNvSpPr txBox="1"/>
            <p:nvPr/>
          </p:nvSpPr>
          <p:spPr>
            <a:xfrm>
              <a:off x="3602736" y="5854065"/>
              <a:ext cx="6609207"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肠胃应急、外用止痛、清凉解暑</a:t>
              </a:r>
            </a:p>
          </p:txBody>
        </p:sp>
        <p:sp>
          <p:nvSpPr>
            <p:cNvPr id="21" name="TextBox 21"/>
            <p:cNvSpPr txBox="1"/>
            <p:nvPr/>
          </p:nvSpPr>
          <p:spPr>
            <a:xfrm>
              <a:off x="3602736" y="6444615"/>
              <a:ext cx="5965050"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老人:硝酸甘油或速效救心丸</a:t>
              </a:r>
            </a:p>
          </p:txBody>
        </p:sp>
        <p:sp>
          <p:nvSpPr>
            <p:cNvPr id="22" name="TextBox 22"/>
            <p:cNvSpPr txBox="1"/>
            <p:nvPr/>
          </p:nvSpPr>
          <p:spPr>
            <a:xfrm>
              <a:off x="3602736" y="7035165"/>
              <a:ext cx="5965050"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小孩:儿童退热药、无菌敷贴</a:t>
              </a:r>
            </a:p>
          </p:txBody>
        </p:sp>
      </p:grpSp>
      <p:grpSp>
        <p:nvGrpSpPr>
          <p:cNvPr id="44" name="!!cat-b"/>
          <p:cNvGrpSpPr/>
          <p:nvPr/>
        </p:nvGrpSpPr>
        <p:grpSpPr>
          <a:xfrm>
            <a:off x="914400" y="8191500"/>
            <a:ext cx="9936898" cy="4191000"/>
            <a:chOff x="914400" y="8191500"/>
            <a:chExt cx="9936898" cy="4191000"/>
          </a:xfrm>
        </p:grpSpPr>
        <p:sp>
          <p:nvSpPr>
            <p:cNvPr id="24" name="Freeform 24"/>
            <p:cNvSpPr/>
            <p:nvPr/>
          </p:nvSpPr>
          <p:spPr>
            <a:xfrm>
              <a:off x="914400" y="8191500"/>
              <a:ext cx="419100" cy="4191000"/>
            </a:xfrm>
            <a:prstGeom prst="leftBrace">
              <a:avLst/>
            </a:prstGeom>
            <a:noFill/>
            <a:ln w="47625">
              <a:solidFill>
                <a:schemeClr val="accent3"/>
              </a:solidFill>
            </a:ln>
          </p:spPr>
        </p:sp>
        <p:pic>
          <p:nvPicPr>
            <p:cNvPr id="25" name="Image 25"/>
            <p:cNvPicPr>
              <a:picLocks noChangeAspect="1"/>
            </p:cNvPicPr>
            <p:nvPr/>
          </p:nvPicPr>
          <p:blipFill>
            <a:blip r:embed="rId3"/>
            <a:stretch>
              <a:fillRect/>
            </a:stretch>
          </p:blipFill>
          <p:spPr>
            <a:xfrm>
              <a:off x="1428750" y="9633159"/>
              <a:ext cx="1905000" cy="1688681"/>
            </a:xfrm>
            <a:prstGeom prst="rect">
              <a:avLst/>
            </a:prstGeom>
          </p:spPr>
        </p:pic>
        <p:grpSp>
          <p:nvGrpSpPr>
            <p:cNvPr id="32" name="Group 32"/>
            <p:cNvGrpSpPr/>
            <p:nvPr/>
          </p:nvGrpSpPr>
          <p:grpSpPr>
            <a:xfrm>
              <a:off x="10448925" y="8522551"/>
              <a:ext cx="402373" cy="402374"/>
              <a:chOff x="10448925" y="8522551"/>
              <a:chExt cx="402373" cy="402374"/>
            </a:xfrm>
          </p:grpSpPr>
          <p:sp>
            <p:nvSpPr>
              <p:cNvPr id="26" name="Freeform 26"/>
              <p:cNvSpPr/>
              <p:nvPr/>
            </p:nvSpPr>
            <p:spPr>
              <a:xfrm>
                <a:off x="10448925" y="8522551"/>
                <a:ext cx="402373" cy="402373"/>
              </a:xfrm>
              <a:custGeom>
                <a:avLst/>
                <a:gdLst/>
                <a:ahLst/>
                <a:cxnLst/>
                <a:rect l="l" t="t" r="r" b="b"/>
                <a:pathLst>
                  <a:path w="402373" h="402373">
                    <a:moveTo>
                      <a:pt x="0" y="402373"/>
                    </a:moveTo>
                    <a:lnTo>
                      <a:pt x="88900" y="402373"/>
                    </a:lnTo>
                    <a:lnTo>
                      <a:pt x="377824" y="113449"/>
                    </a:lnTo>
                    <a:cubicBezTo>
                      <a:pt x="402373" y="88900"/>
                      <a:pt x="402373" y="49098"/>
                      <a:pt x="377824" y="24549"/>
                    </a:cubicBezTo>
                    <a:cubicBezTo>
                      <a:pt x="353275" y="0"/>
                      <a:pt x="313474" y="0"/>
                      <a:pt x="288925" y="24549"/>
                    </a:cubicBezTo>
                    <a:lnTo>
                      <a:pt x="0" y="313474"/>
                    </a:lnTo>
                    <a:lnTo>
                      <a:pt x="0" y="402373"/>
                    </a:lnTo>
                  </a:path>
                </a:pathLst>
              </a:custGeom>
              <a:noFill/>
              <a:ln w="44450">
                <a:solidFill>
                  <a:schemeClr val="accent1"/>
                </a:solidFill>
              </a:ln>
            </p:spPr>
          </p:sp>
          <p:sp>
            <p:nvSpPr>
              <p:cNvPr id="27" name="Freeform 27"/>
              <p:cNvSpPr/>
              <p:nvPr/>
            </p:nvSpPr>
            <p:spPr>
              <a:xfrm>
                <a:off x="10704512" y="8580437"/>
                <a:ext cx="88900" cy="88900"/>
              </a:xfrm>
              <a:custGeom>
                <a:avLst/>
                <a:gdLst/>
                <a:ahLst/>
                <a:cxnLst/>
                <a:rect l="l" t="t" r="r" b="b"/>
                <a:pathLst>
                  <a:path w="88900" h="88900">
                    <a:moveTo>
                      <a:pt x="0" y="0"/>
                    </a:moveTo>
                    <a:lnTo>
                      <a:pt x="88900" y="88900"/>
                    </a:lnTo>
                  </a:path>
                </a:pathLst>
              </a:custGeom>
              <a:noFill/>
              <a:ln w="44450">
                <a:solidFill>
                  <a:schemeClr val="accent1"/>
                </a:solidFill>
              </a:ln>
            </p:spPr>
          </p:sp>
          <p:sp>
            <p:nvSpPr>
              <p:cNvPr id="28" name="Freeform 28"/>
              <p:cNvSpPr/>
              <p:nvPr/>
            </p:nvSpPr>
            <p:spPr>
              <a:xfrm>
                <a:off x="10448925" y="8524875"/>
                <a:ext cx="200025" cy="200025"/>
              </a:xfrm>
              <a:custGeom>
                <a:avLst/>
                <a:gdLst/>
                <a:ahLst/>
                <a:cxnLst/>
                <a:rect l="l" t="t" r="r" b="b"/>
                <a:pathLst>
                  <a:path w="200025" h="200025">
                    <a:moveTo>
                      <a:pt x="200025" y="111125"/>
                    </a:moveTo>
                    <a:lnTo>
                      <a:pt x="88900" y="0"/>
                    </a:lnTo>
                    <a:lnTo>
                      <a:pt x="0" y="88900"/>
                    </a:lnTo>
                    <a:lnTo>
                      <a:pt x="111125" y="200025"/>
                    </a:lnTo>
                  </a:path>
                </a:pathLst>
              </a:custGeom>
              <a:noFill/>
              <a:ln w="44450">
                <a:solidFill>
                  <a:schemeClr val="accent1"/>
                </a:solidFill>
              </a:ln>
            </p:spPr>
          </p:sp>
          <p:sp>
            <p:nvSpPr>
              <p:cNvPr id="29" name="Freeform 29"/>
              <p:cNvSpPr/>
              <p:nvPr/>
            </p:nvSpPr>
            <p:spPr>
              <a:xfrm>
                <a:off x="10504487" y="8636000"/>
                <a:ext cx="33337" cy="33337"/>
              </a:xfrm>
              <a:custGeom>
                <a:avLst/>
                <a:gdLst/>
                <a:ahLst/>
                <a:cxnLst/>
                <a:rect l="l" t="t" r="r" b="b"/>
                <a:pathLst>
                  <a:path w="33337" h="33337">
                    <a:moveTo>
                      <a:pt x="33337" y="0"/>
                    </a:moveTo>
                    <a:lnTo>
                      <a:pt x="0" y="33337"/>
                    </a:lnTo>
                  </a:path>
                </a:pathLst>
              </a:custGeom>
              <a:noFill/>
              <a:ln w="44450">
                <a:solidFill>
                  <a:schemeClr val="accent1"/>
                </a:solidFill>
              </a:ln>
            </p:spPr>
          </p:sp>
          <p:sp>
            <p:nvSpPr>
              <p:cNvPr id="30" name="Freeform 30"/>
              <p:cNvSpPr/>
              <p:nvPr/>
            </p:nvSpPr>
            <p:spPr>
              <a:xfrm>
                <a:off x="10648950" y="8724900"/>
                <a:ext cx="200025" cy="200025"/>
              </a:xfrm>
              <a:custGeom>
                <a:avLst/>
                <a:gdLst/>
                <a:ahLst/>
                <a:cxnLst/>
                <a:rect l="l" t="t" r="r" b="b"/>
                <a:pathLst>
                  <a:path w="200025" h="200025">
                    <a:moveTo>
                      <a:pt x="88900" y="0"/>
                    </a:moveTo>
                    <a:lnTo>
                      <a:pt x="200025" y="111125"/>
                    </a:lnTo>
                    <a:lnTo>
                      <a:pt x="111125" y="200025"/>
                    </a:lnTo>
                    <a:lnTo>
                      <a:pt x="0" y="88900"/>
                    </a:lnTo>
                  </a:path>
                </a:pathLst>
              </a:custGeom>
              <a:noFill/>
              <a:ln w="44450">
                <a:solidFill>
                  <a:schemeClr val="accent1"/>
                </a:solidFill>
              </a:ln>
            </p:spPr>
          </p:sp>
          <p:sp>
            <p:nvSpPr>
              <p:cNvPr id="31" name="Freeform 31"/>
              <p:cNvSpPr/>
              <p:nvPr/>
            </p:nvSpPr>
            <p:spPr>
              <a:xfrm>
                <a:off x="10704512" y="8836024"/>
                <a:ext cx="33337" cy="33337"/>
              </a:xfrm>
              <a:custGeom>
                <a:avLst/>
                <a:gdLst/>
                <a:ahLst/>
                <a:cxnLst/>
                <a:rect l="l" t="t" r="r" b="b"/>
                <a:pathLst>
                  <a:path w="33337" h="33337">
                    <a:moveTo>
                      <a:pt x="33337" y="0"/>
                    </a:moveTo>
                    <a:lnTo>
                      <a:pt x="0" y="33337"/>
                    </a:lnTo>
                  </a:path>
                </a:pathLst>
              </a:custGeom>
              <a:noFill/>
              <a:ln w="44450">
                <a:solidFill>
                  <a:schemeClr val="accent1"/>
                </a:solidFill>
              </a:ln>
            </p:spPr>
          </p:sp>
        </p:grpSp>
        <p:sp>
          <p:nvSpPr>
            <p:cNvPr id="33" name="TextBox 33"/>
            <p:cNvSpPr txBox="1"/>
            <p:nvPr/>
          </p:nvSpPr>
          <p:spPr>
            <a:xfrm>
              <a:off x="3600450" y="8404860"/>
              <a:ext cx="3043222" cy="819150"/>
            </a:xfrm>
            <a:prstGeom prst="rect">
              <a:avLst/>
            </a:prstGeom>
            <a:noFill/>
            <a:ln>
              <a:noFill/>
            </a:ln>
          </p:spPr>
          <p:txBody>
            <a:bodyPr wrap="none" lIns="0" tIns="0" rIns="0" bIns="0" anchor="t" anchorCtr="0">
              <a:spAutoFit/>
            </a:bodyPr>
            <a:lstStyle/>
            <a:p>
              <a:pPr algn="l"/>
              <a:r>
                <a:rPr lang="zh-CN" sz="4200" b="1" dirty="0">
                  <a:solidFill>
                    <a:schemeClr val="accent1"/>
                  </a:solidFill>
                  <a:latin typeface="+mj-lt"/>
                  <a:ea typeface="+mj-ea"/>
                  <a:cs typeface="+mj-cs"/>
                </a:rPr>
                <a:t>第四类 工具</a:t>
              </a:r>
            </a:p>
          </p:txBody>
        </p:sp>
        <p:sp>
          <p:nvSpPr>
            <p:cNvPr id="34" name="TextBox 34"/>
            <p:cNvSpPr txBox="1"/>
            <p:nvPr/>
          </p:nvSpPr>
          <p:spPr>
            <a:xfrm>
              <a:off x="3602736" y="9359265"/>
              <a:ext cx="5720715"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一次性医用手套、外科口罩</a:t>
              </a:r>
            </a:p>
          </p:txBody>
        </p:sp>
        <p:sp>
          <p:nvSpPr>
            <p:cNvPr id="35" name="TextBox 35"/>
            <p:cNvSpPr txBox="1"/>
            <p:nvPr/>
          </p:nvSpPr>
          <p:spPr>
            <a:xfrm>
              <a:off x="3602736" y="9949815"/>
              <a:ext cx="5409743"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护目镜 · 圆头剪刀 · 镊子</a:t>
              </a:r>
            </a:p>
          </p:txBody>
        </p:sp>
        <p:sp>
          <p:nvSpPr>
            <p:cNvPr id="36" name="TextBox 36"/>
            <p:cNvSpPr txBox="1"/>
            <p:nvPr/>
          </p:nvSpPr>
          <p:spPr>
            <a:xfrm>
              <a:off x="3602736" y="10540365"/>
              <a:ext cx="5765140"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电子体温计(非水银非玻璃)</a:t>
              </a:r>
            </a:p>
          </p:txBody>
        </p:sp>
        <p:sp>
          <p:nvSpPr>
            <p:cNvPr id="37" name="TextBox 37"/>
            <p:cNvSpPr txBox="1"/>
            <p:nvPr/>
          </p:nvSpPr>
          <p:spPr>
            <a:xfrm>
              <a:off x="3602736" y="11130915"/>
              <a:ext cx="6742481"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急救毯 · 人工呼吸面膜 · 手电筒</a:t>
              </a:r>
            </a:p>
          </p:txBody>
        </p:sp>
        <p:grpSp>
          <p:nvGrpSpPr>
            <p:cNvPr id="43" name="tools-caution"/>
            <p:cNvGrpSpPr/>
            <p:nvPr/>
          </p:nvGrpSpPr>
          <p:grpSpPr>
            <a:xfrm>
              <a:off x="3659981" y="11856720"/>
              <a:ext cx="5256181" cy="469392"/>
              <a:chOff x="3659981" y="11856720"/>
              <a:chExt cx="5256181" cy="469392"/>
            </a:xfrm>
          </p:grpSpPr>
          <p:grpSp>
            <p:nvGrpSpPr>
              <p:cNvPr id="41" name="Group 41"/>
              <p:cNvGrpSpPr/>
              <p:nvPr/>
            </p:nvGrpSpPr>
            <p:grpSpPr>
              <a:xfrm>
                <a:off x="3659981" y="11889581"/>
                <a:ext cx="242888" cy="242888"/>
                <a:chOff x="3659981" y="11889581"/>
                <a:chExt cx="242888" cy="242888"/>
              </a:xfrm>
            </p:grpSpPr>
            <p:sp>
              <p:nvSpPr>
                <p:cNvPr id="38" name="Freeform 38"/>
                <p:cNvSpPr/>
                <p:nvPr/>
              </p:nvSpPr>
              <p:spPr>
                <a:xfrm>
                  <a:off x="3659981" y="11889581"/>
                  <a:ext cx="242888" cy="121444"/>
                </a:xfrm>
                <a:custGeom>
                  <a:avLst/>
                  <a:gdLst/>
                  <a:ahLst/>
                  <a:cxnLst/>
                  <a:rect l="l" t="t" r="r" b="b"/>
                  <a:pathLst>
                    <a:path w="242888" h="121444">
                      <a:moveTo>
                        <a:pt x="0" y="121444"/>
                      </a:moveTo>
                      <a:lnTo>
                        <a:pt x="13494" y="121444"/>
                      </a:lnTo>
                      <a:moveTo>
                        <a:pt x="121444" y="0"/>
                      </a:moveTo>
                      <a:lnTo>
                        <a:pt x="121444" y="13494"/>
                      </a:lnTo>
                      <a:moveTo>
                        <a:pt x="229394" y="121444"/>
                      </a:moveTo>
                      <a:lnTo>
                        <a:pt x="242888" y="121444"/>
                      </a:lnTo>
                      <a:moveTo>
                        <a:pt x="35084" y="35084"/>
                      </a:moveTo>
                      <a:lnTo>
                        <a:pt x="44529" y="44529"/>
                      </a:lnTo>
                      <a:moveTo>
                        <a:pt x="207804" y="35084"/>
                      </a:moveTo>
                      <a:lnTo>
                        <a:pt x="198359" y="44529"/>
                      </a:lnTo>
                    </a:path>
                  </a:pathLst>
                </a:custGeom>
                <a:noFill/>
                <a:ln w="26988">
                  <a:solidFill>
                    <a:schemeClr val="accent3"/>
                  </a:solidFill>
                </a:ln>
              </p:spPr>
            </p:sp>
            <p:sp>
              <p:nvSpPr>
                <p:cNvPr id="39" name="Freeform 39"/>
                <p:cNvSpPr/>
                <p:nvPr/>
              </p:nvSpPr>
              <p:spPr>
                <a:xfrm>
                  <a:off x="3708235" y="11943556"/>
                  <a:ext cx="146380" cy="188913"/>
                </a:xfrm>
                <a:custGeom>
                  <a:avLst/>
                  <a:gdLst/>
                  <a:ahLst/>
                  <a:cxnLst/>
                  <a:rect l="l" t="t" r="r" b="b"/>
                  <a:pathLst>
                    <a:path w="146380" h="188913">
                      <a:moveTo>
                        <a:pt x="32709" y="121444"/>
                      </a:moveTo>
                      <a:cubicBezTo>
                        <a:pt x="9476" y="104020"/>
                        <a:pt x="0" y="73684"/>
                        <a:pt x="9183" y="46133"/>
                      </a:cubicBezTo>
                      <a:cubicBezTo>
                        <a:pt x="18367" y="18583"/>
                        <a:pt x="44149" y="0"/>
                        <a:pt x="73190" y="0"/>
                      </a:cubicBezTo>
                      <a:cubicBezTo>
                        <a:pt x="102231" y="0"/>
                        <a:pt x="128013" y="18583"/>
                        <a:pt x="137197" y="46133"/>
                      </a:cubicBezTo>
                      <a:cubicBezTo>
                        <a:pt x="146380" y="73684"/>
                        <a:pt x="136904" y="104020"/>
                        <a:pt x="113671" y="121444"/>
                      </a:cubicBezTo>
                      <a:cubicBezTo>
                        <a:pt x="102987" y="132021"/>
                        <a:pt x="97976" y="147053"/>
                        <a:pt x="100178" y="161925"/>
                      </a:cubicBezTo>
                      <a:cubicBezTo>
                        <a:pt x="100178" y="176830"/>
                        <a:pt x="88095" y="188913"/>
                        <a:pt x="73190" y="188913"/>
                      </a:cubicBezTo>
                      <a:cubicBezTo>
                        <a:pt x="58285" y="188913"/>
                        <a:pt x="46203" y="176830"/>
                        <a:pt x="46203" y="161925"/>
                      </a:cubicBezTo>
                      <a:cubicBezTo>
                        <a:pt x="48404" y="147053"/>
                        <a:pt x="43394" y="132021"/>
                        <a:pt x="32709" y="121444"/>
                      </a:cubicBezTo>
                    </a:path>
                  </a:pathLst>
                </a:custGeom>
                <a:noFill/>
                <a:ln w="26988">
                  <a:solidFill>
                    <a:schemeClr val="accent3"/>
                  </a:solidFill>
                </a:ln>
              </p:spPr>
            </p:sp>
            <p:sp>
              <p:nvSpPr>
                <p:cNvPr id="40" name="Freeform 40"/>
                <p:cNvSpPr/>
                <p:nvPr/>
              </p:nvSpPr>
              <p:spPr>
                <a:xfrm>
                  <a:off x="3750390" y="12078494"/>
                  <a:ext cx="62071" cy="9525"/>
                </a:xfrm>
                <a:custGeom>
                  <a:avLst/>
                  <a:gdLst/>
                  <a:ahLst/>
                  <a:cxnLst/>
                  <a:rect l="l" t="t" r="r" b="b"/>
                  <a:pathLst>
                    <a:path w="62071" h="9525">
                      <a:moveTo>
                        <a:pt x="0" y="0"/>
                      </a:moveTo>
                      <a:lnTo>
                        <a:pt x="62071" y="0"/>
                      </a:lnTo>
                    </a:path>
                  </a:pathLst>
                </a:custGeom>
                <a:noFill/>
                <a:ln w="26988">
                  <a:solidFill>
                    <a:schemeClr val="accent3"/>
                  </a:solidFill>
                </a:ln>
              </p:spPr>
            </p:sp>
          </p:grpSp>
          <p:sp>
            <p:nvSpPr>
              <p:cNvPr id="42" name="TextBox 42"/>
              <p:cNvSpPr txBox="1"/>
              <p:nvPr/>
            </p:nvSpPr>
            <p:spPr>
              <a:xfrm>
                <a:off x="4045458" y="11856720"/>
                <a:ext cx="4870704"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电子血压计要定期检查电量与校准</a:t>
                </a:r>
              </a:p>
            </p:txBody>
          </p:sp>
        </p:grpSp>
      </p:grpSp>
      <p:grpSp>
        <p:nvGrpSpPr>
          <p:cNvPr id="46" name="page-note"/>
          <p:cNvGrpSpPr/>
          <p:nvPr/>
        </p:nvGrpSpPr>
        <p:grpSpPr>
          <a:xfrm>
            <a:off x="826008" y="12847320"/>
            <a:ext cx="8284464" cy="888492"/>
            <a:chOff x="826008" y="12847320"/>
            <a:chExt cx="8284464" cy="888492"/>
          </a:xfrm>
        </p:grpSpPr>
        <p:sp>
          <p:nvSpPr>
            <p:cNvPr id="45" name="TextBox 45"/>
            <p:cNvSpPr txBox="1"/>
            <p:nvPr/>
          </p:nvSpPr>
          <p:spPr>
            <a:xfrm>
              <a:off x="826008" y="12847320"/>
              <a:ext cx="8284464" cy="888492"/>
            </a:xfrm>
            <a:prstGeom prst="rect">
              <a:avLst/>
            </a:prstGeom>
            <a:noFill/>
            <a:ln>
              <a:noFill/>
            </a:ln>
          </p:spPr>
          <p:txBody>
            <a:bodyPr wrap="none" lIns="0" tIns="0" rIns="0" bIns="0" anchor="t" anchorCtr="0">
              <a:spAutoFit/>
            </a:bodyPr>
            <a:lstStyle/>
            <a:p>
              <a:pPr algn="l">
                <a:lnSpc>
                  <a:spcPts val="3300"/>
                </a:lnSpc>
              </a:pPr>
              <a:r>
                <a:rPr lang="zh-CN" sz="2400" dirty="0">
                  <a:solidFill>
                    <a:schemeClr val="accent5"/>
                  </a:solidFill>
                  <a:latin typeface="+mn-lt"/>
                  <a:ea typeface="+mn-ea"/>
                  <a:cs typeface="+mn-cs"/>
                </a:rPr>
                <a:t>对症备用,不盲目囤货;再加上家人长期服用的药和急救电话。</a:t>
              </a:r>
              <a:br/>
              <a:r>
                <a:rPr lang="zh-CN" sz="2400" dirty="0">
                  <a:solidFill>
                    <a:schemeClr val="accent5"/>
                  </a:solidFill>
                  <a:latin typeface="+mn-lt"/>
                  <a:ea typeface="+mn-ea"/>
                  <a:cs typeface="+mn-cs"/>
                </a:rPr>
                <a:t>本页只给品类,具体用药遵医嘱或看说明书,不给剂量。</a:t>
              </a:r>
            </a:p>
          </p:txBody>
        </p:sp>
      </p:grpSp>
      <p:grpSp>
        <p:nvGrpSpPr>
          <p:cNvPr id="49" name="page-footer"/>
          <p:cNvGrpSpPr/>
          <p:nvPr/>
        </p:nvGrpSpPr>
        <p:grpSpPr>
          <a:xfrm>
            <a:off x="828294" y="14191298"/>
            <a:ext cx="10173462" cy="705231"/>
            <a:chOff x="828294" y="14191298"/>
            <a:chExt cx="10173462" cy="705231"/>
          </a:xfrm>
        </p:grpSpPr>
        <p:sp>
          <p:nvSpPr>
            <p:cNvPr id="47" name="TextBox 47"/>
            <p:cNvSpPr txBox="1"/>
            <p:nvPr/>
          </p:nvSpPr>
          <p:spPr>
            <a:xfrm>
              <a:off x="828294" y="14191298"/>
              <a:ext cx="8130350" cy="705231"/>
            </a:xfrm>
            <a:prstGeom prst="rect">
              <a:avLst/>
            </a:prstGeom>
            <a:noFill/>
            <a:ln>
              <a:noFill/>
            </a:ln>
          </p:spPr>
          <p:txBody>
            <a:bodyPr wrap="none" lIns="0" tIns="0" rIns="0" bIns="0" anchor="t" anchorCtr="0">
              <a:spAutoFit/>
            </a:bodyPr>
            <a:lstStyle/>
            <a:p>
              <a:pPr algn="l">
                <a:lnSpc>
                  <a:spcPts val="2550"/>
                </a:lnSpc>
              </a:pPr>
              <a:r>
                <a:rPr lang="zh-CN" sz="1950" dirty="0">
                  <a:solidFill>
                    <a:schemeClr val="accent5"/>
                  </a:solidFill>
                  <a:latin typeface="+mn-lt"/>
                  <a:ea typeface="+mn-ea"/>
                  <a:cs typeface="+mn-cs"/>
                </a:rPr>
                <a:t>来源:北京急救中心《家庭医疗应急物品指导目录》2020;应急管理部</a:t>
              </a:r>
              <a:br/>
              <a:r>
                <a:rPr lang="zh-CN" sz="1950" dirty="0">
                  <a:solidFill>
                    <a:schemeClr val="accent5"/>
                  </a:solidFill>
                  <a:latin typeface="+mn-lt"/>
                  <a:ea typeface="+mn-ea"/>
                  <a:cs typeface="+mn-cs"/>
                </a:rPr>
                <a:t>《全国基础版家庭应急物资储备建议清单》2020;美国红十字会急救包清单</a:t>
              </a:r>
            </a:p>
          </p:txBody>
        </p:sp>
        <p:sp>
          <p:nvSpPr>
            <p:cNvPr id="48" name="TextBox 48"/>
            <p:cNvSpPr txBox="1"/>
            <p:nvPr/>
          </p:nvSpPr>
          <p:spPr>
            <a:xfrm>
              <a:off x="10391299" y="14515148"/>
              <a:ext cx="610457" cy="381381"/>
            </a:xfrm>
            <a:prstGeom prst="rect">
              <a:avLst/>
            </a:prstGeom>
            <a:noFill/>
            <a:ln>
              <a:noFill/>
            </a:ln>
          </p:spPr>
          <p:txBody>
            <a:bodyPr wrap="none" lIns="0" tIns="0" rIns="0" bIns="0" anchor="t" anchorCtr="0">
              <a:spAutoFit/>
            </a:bodyPr>
            <a:lstStyle/>
            <a:p>
              <a:pPr algn="r"/>
              <a:r>
                <a:rPr lang="zh-CN" sz="1950" dirty="0">
                  <a:solidFill>
                    <a:schemeClr val="accent5"/>
                  </a:solidFill>
                  <a:latin typeface="+mn-lt"/>
                  <a:ea typeface="+mn-ea"/>
                  <a:cs typeface="+mn-cs"/>
                </a:rPr>
                <a:t>4 / 9</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par>
                          <p:cTn id="8" fill="hold">
                            <p:stCondLst>
                              <p:cond delay="450"/>
                            </p:stCondLst>
                            <p:childTnLst>
                              <p:par>
                                <p:cTn id="9" presetID="10" presetClass="entr" presetSubtype="0" fill="hold" grpId="0" nodeType="after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350"/>
                            </p:stCondLst>
                            <p:childTnLst>
                              <p:par>
                                <p:cTn id="13" presetID="10" presetClass="entr" presetSubtype="0" fill="hold" grpId="0" nodeType="afterEffect">
                                  <p:stCondLst>
                                    <p:cond delay="30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ail"/>
          <p:cNvSpPr/>
          <p:nvPr/>
        </p:nvSpPr>
        <p:spPr>
          <a:xfrm>
            <a:off x="514350" y="838200"/>
            <a:ext cx="28575" cy="14135100"/>
          </a:xfrm>
          <a:prstGeom prst="rect">
            <a:avLst/>
          </a:prstGeom>
          <a:solidFill>
            <a:schemeClr val="accent1">
              <a:alpha val="30000"/>
            </a:schemeClr>
          </a:solidFill>
          <a:ln>
            <a:noFill/>
          </a:ln>
        </p:spPr>
      </p:sp>
      <p:grpSp>
        <p:nvGrpSpPr>
          <p:cNvPr id="4" name="rail-marker"/>
          <p:cNvGrpSpPr/>
          <p:nvPr/>
        </p:nvGrpSpPr>
        <p:grpSpPr>
          <a:xfrm>
            <a:off x="404812" y="7515225"/>
            <a:ext cx="247650" cy="247650"/>
            <a:chOff x="404812" y="7515225"/>
            <a:chExt cx="247650" cy="247650"/>
          </a:xfrm>
        </p:grpSpPr>
        <p:sp>
          <p:nvSpPr>
            <p:cNvPr id="3" name="Ellipse 3"/>
            <p:cNvSpPr/>
            <p:nvPr/>
          </p:nvSpPr>
          <p:spPr>
            <a:xfrm>
              <a:off x="404812" y="7515225"/>
              <a:ext cx="247650" cy="247650"/>
            </a:xfrm>
            <a:prstGeom prst="ellipse">
              <a:avLst/>
            </a:prstGeom>
            <a:solidFill>
              <a:schemeClr val="accent2"/>
            </a:solidFill>
            <a:ln>
              <a:noFill/>
            </a:ln>
          </p:spPr>
        </p:sp>
      </p:grpSp>
      <p:grpSp>
        <p:nvGrpSpPr>
          <p:cNvPr id="6" name="page-kicker"/>
          <p:cNvGrpSpPr/>
          <p:nvPr/>
        </p:nvGrpSpPr>
        <p:grpSpPr>
          <a:xfrm>
            <a:off x="824484" y="984885"/>
            <a:ext cx="3169196" cy="528066"/>
            <a:chOff x="824484" y="984885"/>
            <a:chExt cx="3169196" cy="528066"/>
          </a:xfrm>
        </p:grpSpPr>
        <p:sp>
          <p:nvSpPr>
            <p:cNvPr id="5" name="TextBox 5"/>
            <p:cNvSpPr txBox="1"/>
            <p:nvPr/>
          </p:nvSpPr>
          <p:spPr>
            <a:xfrm>
              <a:off x="824484" y="984885"/>
              <a:ext cx="3169196" cy="528066"/>
            </a:xfrm>
            <a:prstGeom prst="rect">
              <a:avLst/>
            </a:prstGeom>
            <a:noFill/>
            <a:ln>
              <a:noFill/>
            </a:ln>
          </p:spPr>
          <p:txBody>
            <a:bodyPr wrap="none" lIns="0" tIns="0" rIns="0" bIns="0" anchor="t" anchorCtr="0">
              <a:spAutoFit/>
            </a:bodyPr>
            <a:lstStyle/>
            <a:p>
              <a:pPr algn="l"/>
              <a:r>
                <a:rPr lang="zh-CN" sz="2700" spc="150" dirty="0">
                  <a:solidFill>
                    <a:schemeClr val="accent1"/>
                  </a:solidFill>
                  <a:latin typeface="+mn-lt"/>
                  <a:ea typeface="+mn-ea"/>
                  <a:cs typeface="+mn-cs"/>
                </a:rPr>
                <a:t>纠错 · 该清出去的</a:t>
              </a:r>
            </a:p>
          </p:txBody>
        </p:sp>
      </p:grpSp>
      <p:grpSp>
        <p:nvGrpSpPr>
          <p:cNvPr id="8" name="page-title"/>
          <p:cNvGrpSpPr/>
          <p:nvPr/>
        </p:nvGrpSpPr>
        <p:grpSpPr>
          <a:xfrm>
            <a:off x="819150" y="1733550"/>
            <a:ext cx="7774038" cy="1162050"/>
            <a:chOff x="819150" y="1733550"/>
            <a:chExt cx="7774038" cy="1162050"/>
          </a:xfrm>
        </p:grpSpPr>
        <p:sp>
          <p:nvSpPr>
            <p:cNvPr id="7" name="TextBox 7"/>
            <p:cNvSpPr txBox="1"/>
            <p:nvPr/>
          </p:nvSpPr>
          <p:spPr>
            <a:xfrm>
              <a:off x="819150" y="1733550"/>
              <a:ext cx="7774038" cy="1162050"/>
            </a:xfrm>
            <a:prstGeom prst="rect">
              <a:avLst/>
            </a:prstGeom>
            <a:noFill/>
            <a:ln>
              <a:noFill/>
            </a:ln>
          </p:spPr>
          <p:txBody>
            <a:bodyPr wrap="none" lIns="0" tIns="0" rIns="0" bIns="0" anchor="t" anchorCtr="0">
              <a:spAutoFit/>
            </a:bodyPr>
            <a:lstStyle/>
            <a:p>
              <a:pPr algn="l"/>
              <a:r>
                <a:rPr lang="zh-CN" sz="6000" b="1" dirty="0">
                  <a:solidFill>
                    <a:schemeClr val="dk1"/>
                  </a:solidFill>
                  <a:latin typeface="+mj-lt"/>
                  <a:ea typeface="+mj-ea"/>
                  <a:cs typeface="+mj-cs"/>
                </a:rPr>
                <a:t>这几样,今天就清出去</a:t>
              </a:r>
            </a:p>
          </p:txBody>
        </p:sp>
      </p:grpSp>
      <p:grpSp>
        <p:nvGrpSpPr>
          <p:cNvPr id="10" name="page-lead"/>
          <p:cNvGrpSpPr/>
          <p:nvPr/>
        </p:nvGrpSpPr>
        <p:grpSpPr>
          <a:xfrm>
            <a:off x="819150" y="3007995"/>
            <a:ext cx="8202130" cy="762000"/>
            <a:chOff x="819150" y="3007995"/>
            <a:chExt cx="8202130" cy="762000"/>
          </a:xfrm>
        </p:grpSpPr>
        <p:sp>
          <p:nvSpPr>
            <p:cNvPr id="9" name="TextBox 9"/>
            <p:cNvSpPr txBox="1"/>
            <p:nvPr/>
          </p:nvSpPr>
          <p:spPr>
            <a:xfrm>
              <a:off x="819150" y="3007995"/>
              <a:ext cx="8202130" cy="762000"/>
            </a:xfrm>
            <a:prstGeom prst="rect">
              <a:avLst/>
            </a:prstGeom>
            <a:noFill/>
            <a:ln>
              <a:noFill/>
            </a:ln>
          </p:spPr>
          <p:txBody>
            <a:bodyPr wrap="none" lIns="0" tIns="0" rIns="0" bIns="0" anchor="t" anchorCtr="0">
              <a:spAutoFit/>
            </a:bodyPr>
            <a:lstStyle/>
            <a:p>
              <a:pPr algn="l"/>
              <a:r>
                <a:rPr lang="zh-CN" sz="3900" dirty="0">
                  <a:solidFill>
                    <a:schemeClr val="dk1"/>
                  </a:solidFill>
                  <a:latin typeface="+mn-lt"/>
                  <a:ea typeface="+mn-ea"/>
                  <a:cs typeface="+mn-cs"/>
                </a:rPr>
                <a:t>含汞、有致癌风险,</a:t>
              </a:r>
              <a:r>
                <a:rPr lang="zh-CN" sz="3900" b="1" dirty="0">
                  <a:solidFill>
                    <a:srgbClr val="C0392B"/>
                  </a:solidFill>
                  <a:latin typeface="+mn-lt"/>
                  <a:ea typeface="+mn-ea"/>
                  <a:cs typeface="+mn-cs"/>
                </a:rPr>
                <a:t>消毒还不可靠</a:t>
              </a:r>
              <a:r>
                <a:rPr lang="zh-CN" sz="3900" dirty="0">
                  <a:solidFill>
                    <a:schemeClr val="dk1"/>
                  </a:solidFill>
                  <a:latin typeface="+mn-lt"/>
                  <a:ea typeface="+mn-ea"/>
                  <a:cs typeface="+mn-cs"/>
                </a:rPr>
                <a:t>。</a:t>
              </a:r>
            </a:p>
          </p:txBody>
        </p:sp>
      </p:grpSp>
      <p:sp>
        <p:nvSpPr>
          <p:cNvPr id="11" name="Freeform 11"/>
          <p:cNvSpPr/>
          <p:nvPr/>
        </p:nvSpPr>
        <p:spPr>
          <a:xfrm>
            <a:off x="914400" y="4000500"/>
            <a:ext cx="10077450" cy="5905500"/>
          </a:xfrm>
          <a:prstGeom prst="frame">
            <a:avLst>
              <a:gd name="adj1" fmla="val 2300"/>
            </a:avLst>
          </a:prstGeom>
          <a:solidFill>
            <a:srgbClr val="EFE3CC"/>
          </a:solidFill>
          <a:ln w="28575">
            <a:solidFill>
              <a:srgbClr val="C0392B"/>
            </a:solidFill>
          </a:ln>
        </p:spPr>
      </p:sp>
      <p:grpSp>
        <p:nvGrpSpPr>
          <p:cNvPr id="13" name="old-drugs-figure"/>
          <p:cNvGrpSpPr/>
          <p:nvPr/>
        </p:nvGrpSpPr>
        <p:grpSpPr>
          <a:xfrm>
            <a:off x="9315450" y="4268953"/>
            <a:ext cx="1524000" cy="1463343"/>
            <a:chOff x="9315450" y="4268953"/>
            <a:chExt cx="1524000" cy="1463343"/>
          </a:xfrm>
        </p:grpSpPr>
        <p:pic>
          <p:nvPicPr>
            <p:cNvPr id="12" name="Image 12"/>
            <p:cNvPicPr>
              <a:picLocks noChangeAspect="1"/>
            </p:cNvPicPr>
            <p:nvPr/>
          </p:nvPicPr>
          <p:blipFill>
            <a:blip r:embed="rId2"/>
            <a:stretch>
              <a:fillRect/>
            </a:stretch>
          </p:blipFill>
          <p:spPr>
            <a:xfrm>
              <a:off x="9315450" y="4268953"/>
              <a:ext cx="1524000" cy="1463343"/>
            </a:xfrm>
            <a:prstGeom prst="rect">
              <a:avLst/>
            </a:prstGeom>
          </p:spPr>
        </p:pic>
      </p:grpSp>
      <p:grpSp>
        <p:nvGrpSpPr>
          <p:cNvPr id="19" name="ban-item-mercurochrome"/>
          <p:cNvGrpSpPr/>
          <p:nvPr/>
        </p:nvGrpSpPr>
        <p:grpSpPr>
          <a:xfrm>
            <a:off x="1481137" y="4406265"/>
            <a:ext cx="6866725" cy="985647"/>
            <a:chOff x="1481137" y="4406265"/>
            <a:chExt cx="6866725" cy="985647"/>
          </a:xfrm>
        </p:grpSpPr>
        <p:grpSp>
          <p:nvGrpSpPr>
            <p:cNvPr id="16" name="Group 16"/>
            <p:cNvGrpSpPr/>
            <p:nvPr/>
          </p:nvGrpSpPr>
          <p:grpSpPr>
            <a:xfrm>
              <a:off x="1481137" y="4491037"/>
              <a:ext cx="314324" cy="314324"/>
              <a:chOff x="1481137" y="4491037"/>
              <a:chExt cx="314324" cy="314324"/>
            </a:xfrm>
          </p:grpSpPr>
          <p:sp>
            <p:nvSpPr>
              <p:cNvPr id="14" name="Freeform 14"/>
              <p:cNvSpPr/>
              <p:nvPr/>
            </p:nvSpPr>
            <p:spPr>
              <a:xfrm>
                <a:off x="1481137" y="4491037"/>
                <a:ext cx="314324" cy="314324"/>
              </a:xfrm>
              <a:custGeom>
                <a:avLst/>
                <a:gdLst/>
                <a:ahLst/>
                <a:cxnLst/>
                <a:rect l="l" t="t" r="r" b="b"/>
                <a:pathLst>
                  <a:path w="314324" h="314324">
                    <a:moveTo>
                      <a:pt x="0" y="157162"/>
                    </a:moveTo>
                    <a:cubicBezTo>
                      <a:pt x="0" y="243961"/>
                      <a:pt x="70364" y="314324"/>
                      <a:pt x="157162" y="314324"/>
                    </a:cubicBezTo>
                    <a:cubicBezTo>
                      <a:pt x="243961" y="314324"/>
                      <a:pt x="314324" y="243961"/>
                      <a:pt x="314324" y="157162"/>
                    </a:cubicBezTo>
                    <a:cubicBezTo>
                      <a:pt x="314324" y="70364"/>
                      <a:pt x="243961" y="0"/>
                      <a:pt x="157162" y="0"/>
                    </a:cubicBezTo>
                    <a:cubicBezTo>
                      <a:pt x="70364" y="0"/>
                      <a:pt x="0" y="70364"/>
                      <a:pt x="0" y="157162"/>
                    </a:cubicBezTo>
                  </a:path>
                </a:pathLst>
              </a:custGeom>
              <a:noFill/>
              <a:ln w="34925">
                <a:solidFill>
                  <a:srgbClr val="C0392B"/>
                </a:solidFill>
              </a:ln>
            </p:spPr>
          </p:sp>
          <p:sp>
            <p:nvSpPr>
              <p:cNvPr id="15" name="Freeform 15"/>
              <p:cNvSpPr/>
              <p:nvPr/>
            </p:nvSpPr>
            <p:spPr>
              <a:xfrm>
                <a:off x="1528286" y="4538186"/>
                <a:ext cx="220027" cy="220027"/>
              </a:xfrm>
              <a:custGeom>
                <a:avLst/>
                <a:gdLst/>
                <a:ahLst/>
                <a:cxnLst/>
                <a:rect l="l" t="t" r="r" b="b"/>
                <a:pathLst>
                  <a:path w="220027" h="220027">
                    <a:moveTo>
                      <a:pt x="0" y="0"/>
                    </a:moveTo>
                    <a:lnTo>
                      <a:pt x="220027" y="220027"/>
                    </a:lnTo>
                  </a:path>
                </a:pathLst>
              </a:custGeom>
              <a:noFill/>
              <a:ln w="34925">
                <a:solidFill>
                  <a:srgbClr val="C0392B"/>
                </a:solidFill>
              </a:ln>
            </p:spPr>
          </p:sp>
        </p:grpSp>
        <p:sp>
          <p:nvSpPr>
            <p:cNvPr id="17" name="TextBox 17"/>
            <p:cNvSpPr txBox="1"/>
            <p:nvPr/>
          </p:nvSpPr>
          <p:spPr>
            <a:xfrm>
              <a:off x="2002536" y="4406265"/>
              <a:ext cx="3212108" cy="645414"/>
            </a:xfrm>
            <a:prstGeom prst="rect">
              <a:avLst/>
            </a:prstGeom>
            <a:noFill/>
            <a:ln>
              <a:noFill/>
            </a:ln>
          </p:spPr>
          <p:txBody>
            <a:bodyPr wrap="none" lIns="0" tIns="0" rIns="0" bIns="0" anchor="t" anchorCtr="0">
              <a:spAutoFit/>
            </a:bodyPr>
            <a:lstStyle/>
            <a:p>
              <a:pPr algn="l"/>
              <a:r>
                <a:rPr lang="zh-CN" sz="3300" b="1" dirty="0">
                  <a:solidFill>
                    <a:srgbClr val="C0392B"/>
                  </a:solidFill>
                  <a:latin typeface="+mn-lt"/>
                  <a:ea typeface="+mn-ea"/>
                  <a:cs typeface="+mn-cs"/>
                </a:rPr>
                <a:t>红药水(汞溴红)</a:t>
              </a:r>
            </a:p>
          </p:txBody>
        </p:sp>
        <p:sp>
          <p:nvSpPr>
            <p:cNvPr id="18" name="TextBox 18"/>
            <p:cNvSpPr txBox="1"/>
            <p:nvPr/>
          </p:nvSpPr>
          <p:spPr>
            <a:xfrm>
              <a:off x="2007108" y="4922520"/>
              <a:ext cx="6340754"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含汞有毒、消毒不可靠,大面积擦伤可致坏死</a:t>
              </a:r>
            </a:p>
          </p:txBody>
        </p:sp>
      </p:grpSp>
      <p:grpSp>
        <p:nvGrpSpPr>
          <p:cNvPr id="25" name="ban-item-gentian"/>
          <p:cNvGrpSpPr/>
          <p:nvPr/>
        </p:nvGrpSpPr>
        <p:grpSpPr>
          <a:xfrm>
            <a:off x="1481137" y="5568315"/>
            <a:ext cx="6866725" cy="985647"/>
            <a:chOff x="1481137" y="5568315"/>
            <a:chExt cx="6866725" cy="985647"/>
          </a:xfrm>
        </p:grpSpPr>
        <p:grpSp>
          <p:nvGrpSpPr>
            <p:cNvPr id="22" name="Group 22"/>
            <p:cNvGrpSpPr/>
            <p:nvPr/>
          </p:nvGrpSpPr>
          <p:grpSpPr>
            <a:xfrm>
              <a:off x="1481137" y="5653087"/>
              <a:ext cx="314324" cy="314324"/>
              <a:chOff x="1481137" y="5653087"/>
              <a:chExt cx="314324" cy="314324"/>
            </a:xfrm>
          </p:grpSpPr>
          <p:sp>
            <p:nvSpPr>
              <p:cNvPr id="20" name="Freeform 20"/>
              <p:cNvSpPr/>
              <p:nvPr/>
            </p:nvSpPr>
            <p:spPr>
              <a:xfrm>
                <a:off x="1481137" y="5653087"/>
                <a:ext cx="314324" cy="314324"/>
              </a:xfrm>
              <a:custGeom>
                <a:avLst/>
                <a:gdLst/>
                <a:ahLst/>
                <a:cxnLst/>
                <a:rect l="l" t="t" r="r" b="b"/>
                <a:pathLst>
                  <a:path w="314324" h="314324">
                    <a:moveTo>
                      <a:pt x="0" y="157162"/>
                    </a:moveTo>
                    <a:cubicBezTo>
                      <a:pt x="0" y="243961"/>
                      <a:pt x="70364" y="314324"/>
                      <a:pt x="157162" y="314324"/>
                    </a:cubicBezTo>
                    <a:cubicBezTo>
                      <a:pt x="243961" y="314324"/>
                      <a:pt x="314324" y="243961"/>
                      <a:pt x="314324" y="157162"/>
                    </a:cubicBezTo>
                    <a:cubicBezTo>
                      <a:pt x="314324" y="70364"/>
                      <a:pt x="243961" y="0"/>
                      <a:pt x="157162" y="0"/>
                    </a:cubicBezTo>
                    <a:cubicBezTo>
                      <a:pt x="70364" y="0"/>
                      <a:pt x="0" y="70364"/>
                      <a:pt x="0" y="157162"/>
                    </a:cubicBezTo>
                  </a:path>
                </a:pathLst>
              </a:custGeom>
              <a:noFill/>
              <a:ln w="34925">
                <a:solidFill>
                  <a:srgbClr val="C0392B"/>
                </a:solidFill>
              </a:ln>
            </p:spPr>
          </p:sp>
          <p:sp>
            <p:nvSpPr>
              <p:cNvPr id="21" name="Freeform 21"/>
              <p:cNvSpPr/>
              <p:nvPr/>
            </p:nvSpPr>
            <p:spPr>
              <a:xfrm>
                <a:off x="1528286" y="5700236"/>
                <a:ext cx="220027" cy="220027"/>
              </a:xfrm>
              <a:custGeom>
                <a:avLst/>
                <a:gdLst/>
                <a:ahLst/>
                <a:cxnLst/>
                <a:rect l="l" t="t" r="r" b="b"/>
                <a:pathLst>
                  <a:path w="220027" h="220027">
                    <a:moveTo>
                      <a:pt x="0" y="0"/>
                    </a:moveTo>
                    <a:lnTo>
                      <a:pt x="220027" y="220027"/>
                    </a:lnTo>
                  </a:path>
                </a:pathLst>
              </a:custGeom>
              <a:noFill/>
              <a:ln w="34925">
                <a:solidFill>
                  <a:srgbClr val="C0392B"/>
                </a:solidFill>
              </a:ln>
            </p:spPr>
          </p:sp>
        </p:grpSp>
        <p:sp>
          <p:nvSpPr>
            <p:cNvPr id="23" name="TextBox 23"/>
            <p:cNvSpPr txBox="1"/>
            <p:nvPr/>
          </p:nvSpPr>
          <p:spPr>
            <a:xfrm>
              <a:off x="2002536" y="5568315"/>
              <a:ext cx="3212108" cy="645414"/>
            </a:xfrm>
            <a:prstGeom prst="rect">
              <a:avLst/>
            </a:prstGeom>
            <a:noFill/>
            <a:ln>
              <a:noFill/>
            </a:ln>
          </p:spPr>
          <p:txBody>
            <a:bodyPr wrap="none" lIns="0" tIns="0" rIns="0" bIns="0" anchor="t" anchorCtr="0">
              <a:spAutoFit/>
            </a:bodyPr>
            <a:lstStyle/>
            <a:p>
              <a:pPr algn="l"/>
              <a:r>
                <a:rPr lang="zh-CN" sz="3300" b="1" dirty="0">
                  <a:solidFill>
                    <a:srgbClr val="C0392B"/>
                  </a:solidFill>
                  <a:latin typeface="+mn-lt"/>
                  <a:ea typeface="+mn-ea"/>
                  <a:cs typeface="+mn-cs"/>
                </a:rPr>
                <a:t>紫药水(龙胆紫)</a:t>
              </a:r>
            </a:p>
          </p:txBody>
        </p:sp>
        <p:sp>
          <p:nvSpPr>
            <p:cNvPr id="24" name="TextBox 24"/>
            <p:cNvSpPr txBox="1"/>
            <p:nvPr/>
          </p:nvSpPr>
          <p:spPr>
            <a:xfrm>
              <a:off x="2007108" y="6084570"/>
              <a:ext cx="6340754"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深或脏的伤口易在痂下积脓,且是潜在致癌剂</a:t>
              </a:r>
            </a:p>
          </p:txBody>
        </p:sp>
      </p:grpSp>
      <p:grpSp>
        <p:nvGrpSpPr>
          <p:cNvPr id="31" name="ban-item-alcohol"/>
          <p:cNvGrpSpPr/>
          <p:nvPr/>
        </p:nvGrpSpPr>
        <p:grpSpPr>
          <a:xfrm>
            <a:off x="1481137" y="6730365"/>
            <a:ext cx="6543637" cy="985647"/>
            <a:chOff x="1481137" y="6730365"/>
            <a:chExt cx="6543637" cy="985647"/>
          </a:xfrm>
        </p:grpSpPr>
        <p:grpSp>
          <p:nvGrpSpPr>
            <p:cNvPr id="28" name="Group 28"/>
            <p:cNvGrpSpPr/>
            <p:nvPr/>
          </p:nvGrpSpPr>
          <p:grpSpPr>
            <a:xfrm>
              <a:off x="1481137" y="6815137"/>
              <a:ext cx="314324" cy="314324"/>
              <a:chOff x="1481137" y="6815137"/>
              <a:chExt cx="314324" cy="314324"/>
            </a:xfrm>
          </p:grpSpPr>
          <p:sp>
            <p:nvSpPr>
              <p:cNvPr id="26" name="Freeform 26"/>
              <p:cNvSpPr/>
              <p:nvPr/>
            </p:nvSpPr>
            <p:spPr>
              <a:xfrm>
                <a:off x="1481137" y="6815137"/>
                <a:ext cx="314324" cy="314324"/>
              </a:xfrm>
              <a:custGeom>
                <a:avLst/>
                <a:gdLst/>
                <a:ahLst/>
                <a:cxnLst/>
                <a:rect l="l" t="t" r="r" b="b"/>
                <a:pathLst>
                  <a:path w="314324" h="314324">
                    <a:moveTo>
                      <a:pt x="0" y="157162"/>
                    </a:moveTo>
                    <a:cubicBezTo>
                      <a:pt x="0" y="243961"/>
                      <a:pt x="70364" y="314324"/>
                      <a:pt x="157162" y="314324"/>
                    </a:cubicBezTo>
                    <a:cubicBezTo>
                      <a:pt x="243961" y="314324"/>
                      <a:pt x="314324" y="243961"/>
                      <a:pt x="314324" y="157162"/>
                    </a:cubicBezTo>
                    <a:cubicBezTo>
                      <a:pt x="314324" y="70364"/>
                      <a:pt x="243961" y="0"/>
                      <a:pt x="157162" y="0"/>
                    </a:cubicBezTo>
                    <a:cubicBezTo>
                      <a:pt x="70364" y="0"/>
                      <a:pt x="0" y="70364"/>
                      <a:pt x="0" y="157162"/>
                    </a:cubicBezTo>
                  </a:path>
                </a:pathLst>
              </a:custGeom>
              <a:noFill/>
              <a:ln w="34925">
                <a:solidFill>
                  <a:srgbClr val="C0392B"/>
                </a:solidFill>
              </a:ln>
            </p:spPr>
          </p:sp>
          <p:sp>
            <p:nvSpPr>
              <p:cNvPr id="27" name="Freeform 27"/>
              <p:cNvSpPr/>
              <p:nvPr/>
            </p:nvSpPr>
            <p:spPr>
              <a:xfrm>
                <a:off x="1528286" y="6862286"/>
                <a:ext cx="220027" cy="220027"/>
              </a:xfrm>
              <a:custGeom>
                <a:avLst/>
                <a:gdLst/>
                <a:ahLst/>
                <a:cxnLst/>
                <a:rect l="l" t="t" r="r" b="b"/>
                <a:pathLst>
                  <a:path w="220027" h="220027">
                    <a:moveTo>
                      <a:pt x="0" y="0"/>
                    </a:moveTo>
                    <a:lnTo>
                      <a:pt x="220027" y="220027"/>
                    </a:lnTo>
                  </a:path>
                </a:pathLst>
              </a:custGeom>
              <a:noFill/>
              <a:ln w="34925">
                <a:solidFill>
                  <a:srgbClr val="C0392B"/>
                </a:solidFill>
              </a:ln>
            </p:spPr>
          </p:sp>
        </p:grpSp>
        <p:sp>
          <p:nvSpPr>
            <p:cNvPr id="29" name="TextBox 29"/>
            <p:cNvSpPr txBox="1"/>
            <p:nvPr/>
          </p:nvSpPr>
          <p:spPr>
            <a:xfrm>
              <a:off x="2002536" y="6730365"/>
              <a:ext cx="4475988" cy="645414"/>
            </a:xfrm>
            <a:prstGeom prst="rect">
              <a:avLst/>
            </a:prstGeom>
            <a:noFill/>
            <a:ln>
              <a:noFill/>
            </a:ln>
          </p:spPr>
          <p:txBody>
            <a:bodyPr wrap="none" lIns="0" tIns="0" rIns="0" bIns="0" anchor="t" anchorCtr="0">
              <a:spAutoFit/>
            </a:bodyPr>
            <a:lstStyle/>
            <a:p>
              <a:pPr algn="l"/>
              <a:r>
                <a:rPr lang="zh-CN" sz="3300" b="1" dirty="0">
                  <a:solidFill>
                    <a:srgbClr val="C0392B"/>
                  </a:solidFill>
                  <a:latin typeface="+mn-lt"/>
                  <a:ea typeface="+mn-ea"/>
                  <a:cs typeface="+mn-cs"/>
                </a:rPr>
                <a:t>酒精、碘酒直接涂伤口</a:t>
              </a:r>
            </a:p>
          </p:txBody>
        </p:sp>
        <p:sp>
          <p:nvSpPr>
            <p:cNvPr id="30" name="TextBox 30"/>
            <p:cNvSpPr txBox="1"/>
            <p:nvPr/>
          </p:nvSpPr>
          <p:spPr>
            <a:xfrm>
              <a:off x="2007108" y="7246620"/>
              <a:ext cx="6017666"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只能消毒伤口周围皮肤;碘酒还需酒精脱碘</a:t>
              </a:r>
            </a:p>
          </p:txBody>
        </p:sp>
      </p:grpSp>
      <p:grpSp>
        <p:nvGrpSpPr>
          <p:cNvPr id="37" name="ban-item-expired"/>
          <p:cNvGrpSpPr/>
          <p:nvPr/>
        </p:nvGrpSpPr>
        <p:grpSpPr>
          <a:xfrm>
            <a:off x="1481137" y="7892415"/>
            <a:ext cx="5899595" cy="1404747"/>
            <a:chOff x="1481137" y="7892415"/>
            <a:chExt cx="5899595" cy="1404747"/>
          </a:xfrm>
        </p:grpSpPr>
        <p:grpSp>
          <p:nvGrpSpPr>
            <p:cNvPr id="34" name="Group 34"/>
            <p:cNvGrpSpPr/>
            <p:nvPr/>
          </p:nvGrpSpPr>
          <p:grpSpPr>
            <a:xfrm>
              <a:off x="1481137" y="7977187"/>
              <a:ext cx="314324" cy="314324"/>
              <a:chOff x="1481137" y="7977187"/>
              <a:chExt cx="314324" cy="314324"/>
            </a:xfrm>
          </p:grpSpPr>
          <p:sp>
            <p:nvSpPr>
              <p:cNvPr id="32" name="Freeform 32"/>
              <p:cNvSpPr/>
              <p:nvPr/>
            </p:nvSpPr>
            <p:spPr>
              <a:xfrm>
                <a:off x="1481137" y="7977187"/>
                <a:ext cx="314324" cy="314324"/>
              </a:xfrm>
              <a:custGeom>
                <a:avLst/>
                <a:gdLst/>
                <a:ahLst/>
                <a:cxnLst/>
                <a:rect l="l" t="t" r="r" b="b"/>
                <a:pathLst>
                  <a:path w="314324" h="314324">
                    <a:moveTo>
                      <a:pt x="0" y="157162"/>
                    </a:moveTo>
                    <a:cubicBezTo>
                      <a:pt x="0" y="243961"/>
                      <a:pt x="70364" y="314324"/>
                      <a:pt x="157162" y="314324"/>
                    </a:cubicBezTo>
                    <a:cubicBezTo>
                      <a:pt x="243961" y="314324"/>
                      <a:pt x="314324" y="243961"/>
                      <a:pt x="314324" y="157162"/>
                    </a:cubicBezTo>
                    <a:cubicBezTo>
                      <a:pt x="314324" y="70364"/>
                      <a:pt x="243961" y="0"/>
                      <a:pt x="157162" y="0"/>
                    </a:cubicBezTo>
                    <a:cubicBezTo>
                      <a:pt x="70364" y="0"/>
                      <a:pt x="0" y="70364"/>
                      <a:pt x="0" y="157162"/>
                    </a:cubicBezTo>
                  </a:path>
                </a:pathLst>
              </a:custGeom>
              <a:noFill/>
              <a:ln w="34925">
                <a:solidFill>
                  <a:srgbClr val="C0392B"/>
                </a:solidFill>
              </a:ln>
            </p:spPr>
          </p:sp>
          <p:sp>
            <p:nvSpPr>
              <p:cNvPr id="33" name="Freeform 33"/>
              <p:cNvSpPr/>
              <p:nvPr/>
            </p:nvSpPr>
            <p:spPr>
              <a:xfrm>
                <a:off x="1528286" y="8024336"/>
                <a:ext cx="220027" cy="220027"/>
              </a:xfrm>
              <a:custGeom>
                <a:avLst/>
                <a:gdLst/>
                <a:ahLst/>
                <a:cxnLst/>
                <a:rect l="l" t="t" r="r" b="b"/>
                <a:pathLst>
                  <a:path w="220027" h="220027">
                    <a:moveTo>
                      <a:pt x="0" y="0"/>
                    </a:moveTo>
                    <a:lnTo>
                      <a:pt x="220027" y="220027"/>
                    </a:lnTo>
                  </a:path>
                </a:pathLst>
              </a:custGeom>
              <a:noFill/>
              <a:ln w="34925">
                <a:solidFill>
                  <a:srgbClr val="C0392B"/>
                </a:solidFill>
              </a:ln>
            </p:spPr>
          </p:sp>
        </p:grpSp>
        <p:sp>
          <p:nvSpPr>
            <p:cNvPr id="35" name="TextBox 35"/>
            <p:cNvSpPr txBox="1"/>
            <p:nvPr/>
          </p:nvSpPr>
          <p:spPr>
            <a:xfrm>
              <a:off x="2002536" y="7892415"/>
              <a:ext cx="4475988" cy="645414"/>
            </a:xfrm>
            <a:prstGeom prst="rect">
              <a:avLst/>
            </a:prstGeom>
            <a:noFill/>
            <a:ln>
              <a:noFill/>
            </a:ln>
          </p:spPr>
          <p:txBody>
            <a:bodyPr wrap="none" lIns="0" tIns="0" rIns="0" bIns="0" anchor="t" anchorCtr="0">
              <a:spAutoFit/>
            </a:bodyPr>
            <a:lstStyle/>
            <a:p>
              <a:pPr algn="l"/>
              <a:r>
                <a:rPr lang="zh-CN" sz="3300" b="1" dirty="0">
                  <a:solidFill>
                    <a:srgbClr val="C0392B"/>
                  </a:solidFill>
                  <a:latin typeface="+mn-lt"/>
                  <a:ea typeface="+mn-ea"/>
                  <a:cs typeface="+mn-cs"/>
                </a:rPr>
                <a:t>过期药与变色变质的药</a:t>
              </a:r>
            </a:p>
          </p:txBody>
        </p:sp>
        <p:sp>
          <p:nvSpPr>
            <p:cNvPr id="36" name="TextBox 36"/>
            <p:cNvSpPr txBox="1"/>
            <p:nvPr/>
          </p:nvSpPr>
          <p:spPr>
            <a:xfrm>
              <a:off x="2007108" y="8408670"/>
              <a:ext cx="5373624" cy="888492"/>
            </a:xfrm>
            <a:prstGeom prst="rect">
              <a:avLst/>
            </a:prstGeom>
            <a:noFill/>
            <a:ln>
              <a:noFill/>
            </a:ln>
          </p:spPr>
          <p:txBody>
            <a:bodyPr wrap="none" lIns="0" tIns="0" rIns="0" bIns="0" anchor="t" anchorCtr="0">
              <a:spAutoFit/>
            </a:bodyPr>
            <a:lstStyle/>
            <a:p>
              <a:pPr algn="l">
                <a:lnSpc>
                  <a:spcPts val="3300"/>
                </a:lnSpc>
              </a:pPr>
              <a:r>
                <a:rPr lang="zh-CN" sz="2400" dirty="0">
                  <a:solidFill>
                    <a:schemeClr val="accent5"/>
                  </a:solidFill>
                  <a:latin typeface="+mn-lt"/>
                  <a:ea typeface="+mn-ea"/>
                  <a:cs typeface="+mn-cs"/>
                </a:rPr>
                <a:t>药效全无,还可能变质引发不良反应</a:t>
              </a:r>
              <a:br/>
              <a:r>
                <a:rPr lang="zh-CN" sz="2400" dirty="0">
                  <a:solidFill>
                    <a:schemeClr val="accent5"/>
                  </a:solidFill>
                  <a:latin typeface="+mn-lt"/>
                  <a:ea typeface="+mn-ea"/>
                  <a:cs typeface="+mn-cs"/>
                </a:rPr>
                <a:t>粘连、变硬、开裂缺角的,没过期也别用</a:t>
              </a:r>
            </a:p>
          </p:txBody>
        </p:sp>
      </p:grpSp>
      <p:grpSp>
        <p:nvGrpSpPr>
          <p:cNvPr id="48" name="disposal-flow"/>
          <p:cNvGrpSpPr/>
          <p:nvPr/>
        </p:nvGrpSpPr>
        <p:grpSpPr>
          <a:xfrm>
            <a:off x="1411986" y="10233660"/>
            <a:ext cx="8169783" cy="1904619"/>
            <a:chOff x="1411986" y="10233660"/>
            <a:chExt cx="8169783" cy="1904619"/>
          </a:xfrm>
        </p:grpSpPr>
        <p:grpSp>
          <p:nvGrpSpPr>
            <p:cNvPr id="43" name="Group 43"/>
            <p:cNvGrpSpPr/>
            <p:nvPr/>
          </p:nvGrpSpPr>
          <p:grpSpPr>
            <a:xfrm>
              <a:off x="1504950" y="10363200"/>
              <a:ext cx="304800" cy="342900"/>
              <a:chOff x="1504950" y="10363200"/>
              <a:chExt cx="304800" cy="342900"/>
            </a:xfrm>
          </p:grpSpPr>
          <p:sp>
            <p:nvSpPr>
              <p:cNvPr id="38" name="Freeform 38"/>
              <p:cNvSpPr/>
              <p:nvPr/>
            </p:nvSpPr>
            <p:spPr>
              <a:xfrm>
                <a:off x="1504950" y="10439400"/>
                <a:ext cx="304800" cy="9525"/>
              </a:xfrm>
              <a:custGeom>
                <a:avLst/>
                <a:gdLst/>
                <a:ahLst/>
                <a:cxnLst/>
                <a:rect l="l" t="t" r="r" b="b"/>
                <a:pathLst>
                  <a:path w="304800" h="9525">
                    <a:moveTo>
                      <a:pt x="0" y="0"/>
                    </a:moveTo>
                    <a:lnTo>
                      <a:pt x="304800" y="0"/>
                    </a:lnTo>
                  </a:path>
                </a:pathLst>
              </a:custGeom>
              <a:noFill/>
              <a:ln w="38100">
                <a:solidFill>
                  <a:schemeClr val="accent1"/>
                </a:solidFill>
              </a:ln>
            </p:spPr>
          </p:sp>
          <p:sp>
            <p:nvSpPr>
              <p:cNvPr id="39" name="Freeform 39"/>
              <p:cNvSpPr/>
              <p:nvPr/>
            </p:nvSpPr>
            <p:spPr>
              <a:xfrm>
                <a:off x="1619250" y="10515600"/>
                <a:ext cx="9525" cy="114300"/>
              </a:xfrm>
              <a:custGeom>
                <a:avLst/>
                <a:gdLst/>
                <a:ahLst/>
                <a:cxnLst/>
                <a:rect l="l" t="t" r="r" b="b"/>
                <a:pathLst>
                  <a:path w="9525" h="114300">
                    <a:moveTo>
                      <a:pt x="0" y="0"/>
                    </a:moveTo>
                    <a:lnTo>
                      <a:pt x="0" y="114300"/>
                    </a:lnTo>
                  </a:path>
                </a:pathLst>
              </a:custGeom>
              <a:noFill/>
              <a:ln w="38100">
                <a:solidFill>
                  <a:schemeClr val="accent1"/>
                </a:solidFill>
              </a:ln>
            </p:spPr>
          </p:sp>
          <p:sp>
            <p:nvSpPr>
              <p:cNvPr id="40" name="Freeform 40"/>
              <p:cNvSpPr/>
              <p:nvPr/>
            </p:nvSpPr>
            <p:spPr>
              <a:xfrm>
                <a:off x="1695450" y="10515600"/>
                <a:ext cx="9525" cy="114300"/>
              </a:xfrm>
              <a:custGeom>
                <a:avLst/>
                <a:gdLst/>
                <a:ahLst/>
                <a:cxnLst/>
                <a:rect l="l" t="t" r="r" b="b"/>
                <a:pathLst>
                  <a:path w="9525" h="114300">
                    <a:moveTo>
                      <a:pt x="0" y="0"/>
                    </a:moveTo>
                    <a:lnTo>
                      <a:pt x="0" y="114300"/>
                    </a:lnTo>
                  </a:path>
                </a:pathLst>
              </a:custGeom>
              <a:noFill/>
              <a:ln w="38100">
                <a:solidFill>
                  <a:schemeClr val="accent1"/>
                </a:solidFill>
              </a:ln>
            </p:spPr>
          </p:sp>
          <p:sp>
            <p:nvSpPr>
              <p:cNvPr id="41" name="Freeform 41"/>
              <p:cNvSpPr/>
              <p:nvPr/>
            </p:nvSpPr>
            <p:spPr>
              <a:xfrm>
                <a:off x="1524000" y="10439400"/>
                <a:ext cx="266700" cy="266700"/>
              </a:xfrm>
              <a:custGeom>
                <a:avLst/>
                <a:gdLst/>
                <a:ahLst/>
                <a:cxnLst/>
                <a:rect l="l" t="t" r="r" b="b"/>
                <a:pathLst>
                  <a:path w="266700" h="266700">
                    <a:moveTo>
                      <a:pt x="0" y="0"/>
                    </a:moveTo>
                    <a:lnTo>
                      <a:pt x="19050" y="228600"/>
                    </a:lnTo>
                    <a:cubicBezTo>
                      <a:pt x="19050" y="249642"/>
                      <a:pt x="36108" y="266700"/>
                      <a:pt x="57150" y="266700"/>
                    </a:cubicBezTo>
                    <a:lnTo>
                      <a:pt x="209550" y="266700"/>
                    </a:lnTo>
                    <a:cubicBezTo>
                      <a:pt x="230592" y="266700"/>
                      <a:pt x="247650" y="249642"/>
                      <a:pt x="247650" y="228600"/>
                    </a:cubicBezTo>
                    <a:lnTo>
                      <a:pt x="266700" y="0"/>
                    </a:lnTo>
                  </a:path>
                </a:pathLst>
              </a:custGeom>
              <a:noFill/>
              <a:ln w="38100">
                <a:solidFill>
                  <a:schemeClr val="accent1"/>
                </a:solidFill>
              </a:ln>
            </p:spPr>
          </p:sp>
          <p:sp>
            <p:nvSpPr>
              <p:cNvPr id="42" name="Freeform 42"/>
              <p:cNvSpPr/>
              <p:nvPr/>
            </p:nvSpPr>
            <p:spPr>
              <a:xfrm>
                <a:off x="1600200" y="10363200"/>
                <a:ext cx="114300" cy="76200"/>
              </a:xfrm>
              <a:custGeom>
                <a:avLst/>
                <a:gdLst/>
                <a:ahLst/>
                <a:cxnLst/>
                <a:rect l="l" t="t" r="r" b="b"/>
                <a:pathLst>
                  <a:path w="114300" h="76200">
                    <a:moveTo>
                      <a:pt x="0" y="76200"/>
                    </a:moveTo>
                    <a:lnTo>
                      <a:pt x="0" y="19050"/>
                    </a:lnTo>
                    <a:cubicBezTo>
                      <a:pt x="0" y="8529"/>
                      <a:pt x="8529" y="0"/>
                      <a:pt x="19050" y="0"/>
                    </a:cubicBezTo>
                    <a:lnTo>
                      <a:pt x="95250" y="0"/>
                    </a:lnTo>
                    <a:cubicBezTo>
                      <a:pt x="105771" y="0"/>
                      <a:pt x="114300" y="8529"/>
                      <a:pt x="114300" y="19050"/>
                    </a:cubicBezTo>
                    <a:lnTo>
                      <a:pt x="114300" y="76200"/>
                    </a:lnTo>
                  </a:path>
                </a:pathLst>
              </a:custGeom>
              <a:noFill/>
              <a:ln w="38100">
                <a:solidFill>
                  <a:schemeClr val="accent1"/>
                </a:solidFill>
              </a:ln>
            </p:spPr>
          </p:sp>
        </p:grpSp>
        <p:sp>
          <p:nvSpPr>
            <p:cNvPr id="44" name="TextBox 44"/>
            <p:cNvSpPr txBox="1"/>
            <p:nvPr/>
          </p:nvSpPr>
          <p:spPr>
            <a:xfrm>
              <a:off x="2019300" y="10233660"/>
              <a:ext cx="4561332" cy="819150"/>
            </a:xfrm>
            <a:prstGeom prst="rect">
              <a:avLst/>
            </a:prstGeom>
            <a:noFill/>
            <a:ln>
              <a:noFill/>
            </a:ln>
          </p:spPr>
          <p:txBody>
            <a:bodyPr wrap="none" lIns="0" tIns="0" rIns="0" bIns="0" anchor="t" anchorCtr="0">
              <a:spAutoFit/>
            </a:bodyPr>
            <a:lstStyle/>
            <a:p>
              <a:pPr algn="l"/>
              <a:r>
                <a:rPr lang="zh-CN" sz="4200" b="1" dirty="0">
                  <a:solidFill>
                    <a:schemeClr val="accent1"/>
                  </a:solidFill>
                  <a:latin typeface="+mj-lt"/>
                  <a:ea typeface="+mj-ea"/>
                  <a:cs typeface="+mj-cs"/>
                </a:rPr>
                <a:t>清出来的药怎么扔</a:t>
              </a:r>
            </a:p>
          </p:txBody>
        </p:sp>
        <p:sp>
          <p:nvSpPr>
            <p:cNvPr id="45" name="TextBox 45"/>
            <p:cNvSpPr txBox="1"/>
            <p:nvPr/>
          </p:nvSpPr>
          <p:spPr>
            <a:xfrm>
              <a:off x="1411986" y="11169015"/>
              <a:ext cx="3143250" cy="645414"/>
            </a:xfrm>
            <a:prstGeom prst="rect">
              <a:avLst/>
            </a:prstGeom>
            <a:noFill/>
            <a:ln>
              <a:noFill/>
            </a:ln>
          </p:spPr>
          <p:txBody>
            <a:bodyPr wrap="none" lIns="0" tIns="0" rIns="0" bIns="0" anchor="t" anchorCtr="0">
              <a:spAutoFit/>
            </a:bodyPr>
            <a:lstStyle/>
            <a:p>
              <a:pPr algn="l"/>
              <a:r>
                <a:rPr lang="zh-CN" sz="3300" dirty="0">
                  <a:solidFill>
                    <a:schemeClr val="dk1"/>
                  </a:solidFill>
                  <a:latin typeface="+mn-lt"/>
                  <a:ea typeface="+mn-ea"/>
                  <a:cs typeface="+mn-cs"/>
                </a:rPr>
                <a:t>破坏药品包装盒</a:t>
              </a:r>
            </a:p>
          </p:txBody>
        </p:sp>
        <p:sp>
          <p:nvSpPr>
            <p:cNvPr id="46" name="Freeform 46"/>
            <p:cNvSpPr/>
            <p:nvPr/>
          </p:nvSpPr>
          <p:spPr>
            <a:xfrm>
              <a:off x="4953000" y="11163300"/>
              <a:ext cx="1143000" cy="457200"/>
            </a:xfrm>
            <a:prstGeom prst="rightArrow">
              <a:avLst/>
            </a:prstGeom>
            <a:solidFill>
              <a:schemeClr val="accent1"/>
            </a:solidFill>
            <a:ln>
              <a:noFill/>
            </a:ln>
          </p:spPr>
        </p:sp>
        <p:sp>
          <p:nvSpPr>
            <p:cNvPr id="47" name="TextBox 47"/>
            <p:cNvSpPr txBox="1"/>
            <p:nvPr/>
          </p:nvSpPr>
          <p:spPr>
            <a:xfrm>
              <a:off x="6384036" y="10902315"/>
              <a:ext cx="3197733" cy="1235964"/>
            </a:xfrm>
            <a:prstGeom prst="rect">
              <a:avLst/>
            </a:prstGeom>
            <a:noFill/>
            <a:ln>
              <a:noFill/>
            </a:ln>
          </p:spPr>
          <p:txBody>
            <a:bodyPr wrap="none" lIns="0" tIns="0" rIns="0" bIns="0" anchor="t" anchorCtr="0">
              <a:spAutoFit/>
            </a:bodyPr>
            <a:lstStyle/>
            <a:p>
              <a:pPr algn="l">
                <a:lnSpc>
                  <a:spcPts val="4650"/>
                </a:lnSpc>
              </a:pPr>
              <a:r>
                <a:rPr lang="zh-CN" sz="3300" dirty="0">
                  <a:solidFill>
                    <a:schemeClr val="dk1"/>
                  </a:solidFill>
                  <a:latin typeface="+mn-lt"/>
                  <a:ea typeface="+mn-ea"/>
                  <a:cs typeface="+mn-cs"/>
                </a:rPr>
                <a:t>随生活垃圾丢弃,</a:t>
              </a:r>
              <a:br/>
              <a:r>
                <a:rPr lang="zh-CN" sz="3300" dirty="0">
                  <a:solidFill>
                    <a:schemeClr val="dk1"/>
                  </a:solidFill>
                  <a:latin typeface="+mn-lt"/>
                  <a:ea typeface="+mn-ea"/>
                  <a:cs typeface="+mn-cs"/>
                </a:rPr>
                <a:t>或送正规回收点</a:t>
              </a:r>
            </a:p>
          </p:txBody>
        </p:sp>
      </p:grpSp>
      <p:grpSp>
        <p:nvGrpSpPr>
          <p:cNvPr id="54" name="dispute-note"/>
          <p:cNvGrpSpPr/>
          <p:nvPr/>
        </p:nvGrpSpPr>
        <p:grpSpPr>
          <a:xfrm>
            <a:off x="865559" y="12409170"/>
            <a:ext cx="7943923" cy="888492"/>
            <a:chOff x="865559" y="12409170"/>
            <a:chExt cx="7943923" cy="888492"/>
          </a:xfrm>
        </p:grpSpPr>
        <p:grpSp>
          <p:nvGrpSpPr>
            <p:cNvPr id="52" name="Group 52"/>
            <p:cNvGrpSpPr/>
            <p:nvPr/>
          </p:nvGrpSpPr>
          <p:grpSpPr>
            <a:xfrm>
              <a:off x="865559" y="12420616"/>
              <a:ext cx="288171" cy="247577"/>
              <a:chOff x="865559" y="12420616"/>
              <a:chExt cx="288171" cy="247577"/>
            </a:xfrm>
          </p:grpSpPr>
          <p:sp>
            <p:nvSpPr>
              <p:cNvPr id="49" name="Freeform 49"/>
              <p:cNvSpPr/>
              <p:nvPr/>
            </p:nvSpPr>
            <p:spPr>
              <a:xfrm>
                <a:off x="1009650" y="12511088"/>
                <a:ext cx="9525" cy="57150"/>
              </a:xfrm>
              <a:custGeom>
                <a:avLst/>
                <a:gdLst/>
                <a:ahLst/>
                <a:cxnLst/>
                <a:rect l="l" t="t" r="r" b="b"/>
                <a:pathLst>
                  <a:path w="9525" h="57150">
                    <a:moveTo>
                      <a:pt x="0" y="0"/>
                    </a:moveTo>
                    <a:lnTo>
                      <a:pt x="0" y="57150"/>
                    </a:lnTo>
                  </a:path>
                </a:pathLst>
              </a:custGeom>
              <a:noFill/>
              <a:ln w="28575">
                <a:solidFill>
                  <a:schemeClr val="accent3"/>
                </a:solidFill>
              </a:ln>
            </p:spPr>
          </p:sp>
          <p:sp>
            <p:nvSpPr>
              <p:cNvPr id="50" name="Freeform 50"/>
              <p:cNvSpPr/>
              <p:nvPr/>
            </p:nvSpPr>
            <p:spPr>
              <a:xfrm>
                <a:off x="865559" y="12420616"/>
                <a:ext cx="288171" cy="247577"/>
              </a:xfrm>
              <a:custGeom>
                <a:avLst/>
                <a:gdLst/>
                <a:ahLst/>
                <a:cxnLst/>
                <a:rect l="l" t="t" r="r" b="b"/>
                <a:pathLst>
                  <a:path w="288171" h="247577">
                    <a:moveTo>
                      <a:pt x="120702" y="13191"/>
                    </a:moveTo>
                    <a:lnTo>
                      <a:pt x="4888" y="206558"/>
                    </a:lnTo>
                    <a:cubicBezTo>
                      <a:pt x="30" y="214971"/>
                      <a:pt x="0" y="225330"/>
                      <a:pt x="4810" y="233771"/>
                    </a:cubicBezTo>
                    <a:cubicBezTo>
                      <a:pt x="9620" y="242213"/>
                      <a:pt x="18548" y="247468"/>
                      <a:pt x="28262" y="247577"/>
                    </a:cubicBezTo>
                    <a:lnTo>
                      <a:pt x="259920" y="247577"/>
                    </a:lnTo>
                    <a:cubicBezTo>
                      <a:pt x="269630" y="247465"/>
                      <a:pt x="278553" y="242212"/>
                      <a:pt x="283362" y="233775"/>
                    </a:cubicBezTo>
                    <a:cubicBezTo>
                      <a:pt x="288171" y="225339"/>
                      <a:pt x="288145" y="214984"/>
                      <a:pt x="283294" y="206572"/>
                    </a:cubicBezTo>
                    <a:lnTo>
                      <a:pt x="167480" y="13176"/>
                    </a:lnTo>
                    <a:cubicBezTo>
                      <a:pt x="162524" y="4996"/>
                      <a:pt x="153655" y="0"/>
                      <a:pt x="144091" y="0"/>
                    </a:cubicBezTo>
                    <a:cubicBezTo>
                      <a:pt x="134527" y="0"/>
                      <a:pt x="125658" y="4996"/>
                      <a:pt x="120702" y="13176"/>
                    </a:cubicBezTo>
                  </a:path>
                </a:pathLst>
              </a:custGeom>
              <a:noFill/>
              <a:ln w="28575">
                <a:solidFill>
                  <a:schemeClr val="accent3"/>
                </a:solidFill>
              </a:ln>
            </p:spPr>
          </p:sp>
          <p:sp>
            <p:nvSpPr>
              <p:cNvPr id="51" name="Freeform 51"/>
              <p:cNvSpPr/>
              <p:nvPr/>
            </p:nvSpPr>
            <p:spPr>
              <a:xfrm>
                <a:off x="1009650" y="12611100"/>
                <a:ext cx="9525" cy="9525"/>
              </a:xfrm>
              <a:custGeom>
                <a:avLst/>
                <a:gdLst/>
                <a:ahLst/>
                <a:cxnLst/>
                <a:rect l="l" t="t" r="r" b="b"/>
                <a:pathLst>
                  <a:path w="9525" h="9525">
                    <a:moveTo>
                      <a:pt x="0" y="0"/>
                    </a:moveTo>
                    <a:lnTo>
                      <a:pt x="143" y="0"/>
                    </a:lnTo>
                  </a:path>
                </a:pathLst>
              </a:custGeom>
              <a:noFill/>
              <a:ln w="28575">
                <a:solidFill>
                  <a:schemeClr val="accent3"/>
                </a:solidFill>
              </a:ln>
            </p:spPr>
          </p:sp>
        </p:grpSp>
        <p:sp>
          <p:nvSpPr>
            <p:cNvPr id="53" name="TextBox 53"/>
            <p:cNvSpPr txBox="1"/>
            <p:nvPr/>
          </p:nvSpPr>
          <p:spPr>
            <a:xfrm>
              <a:off x="1302258" y="12409170"/>
              <a:ext cx="7507224" cy="888492"/>
            </a:xfrm>
            <a:prstGeom prst="rect">
              <a:avLst/>
            </a:prstGeom>
            <a:noFill/>
            <a:ln>
              <a:noFill/>
            </a:ln>
          </p:spPr>
          <p:txBody>
            <a:bodyPr wrap="none" lIns="0" tIns="0" rIns="0" bIns="0" anchor="t" anchorCtr="0">
              <a:spAutoFit/>
            </a:bodyPr>
            <a:lstStyle/>
            <a:p>
              <a:pPr algn="l">
                <a:lnSpc>
                  <a:spcPts val="3300"/>
                </a:lnSpc>
              </a:pPr>
              <a:r>
                <a:rPr lang="zh-CN" sz="2400" dirty="0">
                  <a:solidFill>
                    <a:schemeClr val="accent5"/>
                  </a:solidFill>
                  <a:latin typeface="+mn-lt"/>
                  <a:ea typeface="+mn-ea"/>
                  <a:cs typeface="+mn-cs"/>
                </a:rPr>
                <a:t>争议条目:止血粉在应急管理部清单里被列为外用药品,</a:t>
              </a:r>
              <a:br/>
              <a:r>
                <a:rPr lang="zh-CN" sz="2400" dirty="0">
                  <a:solidFill>
                    <a:schemeClr val="accent5"/>
                  </a:solidFill>
                  <a:latin typeface="+mn-lt"/>
                  <a:ea typeface="+mn-ea"/>
                  <a:cs typeface="+mn-cs"/>
                </a:rPr>
                <a:t>但国防部科普明确不建议用于伤口,本清单不列为必备。</a:t>
              </a:r>
            </a:p>
          </p:txBody>
        </p:sp>
      </p:grpSp>
      <p:grpSp>
        <p:nvGrpSpPr>
          <p:cNvPr id="57" name="page-footer"/>
          <p:cNvGrpSpPr/>
          <p:nvPr/>
        </p:nvGrpSpPr>
        <p:grpSpPr>
          <a:xfrm>
            <a:off x="828294" y="14191298"/>
            <a:ext cx="10173462" cy="705231"/>
            <a:chOff x="828294" y="14191298"/>
            <a:chExt cx="10173462" cy="705231"/>
          </a:xfrm>
        </p:grpSpPr>
        <p:sp>
          <p:nvSpPr>
            <p:cNvPr id="55" name="TextBox 55"/>
            <p:cNvSpPr txBox="1"/>
            <p:nvPr/>
          </p:nvSpPr>
          <p:spPr>
            <a:xfrm>
              <a:off x="828294" y="14191298"/>
              <a:ext cx="6619684" cy="705231"/>
            </a:xfrm>
            <a:prstGeom prst="rect">
              <a:avLst/>
            </a:prstGeom>
            <a:noFill/>
            <a:ln>
              <a:noFill/>
            </a:ln>
          </p:spPr>
          <p:txBody>
            <a:bodyPr wrap="none" lIns="0" tIns="0" rIns="0" bIns="0" anchor="t" anchorCtr="0">
              <a:spAutoFit/>
            </a:bodyPr>
            <a:lstStyle/>
            <a:p>
              <a:pPr algn="l">
                <a:lnSpc>
                  <a:spcPts val="2550"/>
                </a:lnSpc>
              </a:pPr>
              <a:r>
                <a:rPr lang="zh-CN" sz="1950" dirty="0">
                  <a:solidFill>
                    <a:schemeClr val="accent5"/>
                  </a:solidFill>
                  <a:latin typeface="+mn-lt"/>
                  <a:ea typeface="+mn-ea"/>
                  <a:cs typeface="+mn-cs"/>
                </a:rPr>
                <a:t>来源:国家药监局与广西药监局用药科普;卫健系统健康科普;</a:t>
              </a:r>
              <a:br/>
              <a:r>
                <a:rPr lang="zh-CN" sz="1950" dirty="0">
                  <a:solidFill>
                    <a:schemeClr val="accent5"/>
                  </a:solidFill>
                  <a:latin typeface="+mn-lt"/>
                  <a:ea typeface="+mn-ea"/>
                  <a:cs typeface="+mn-cs"/>
                </a:rPr>
                <a:t>《国家危险废物名录》(2021 年版);国防部网止血包扎科普</a:t>
              </a:r>
            </a:p>
          </p:txBody>
        </p:sp>
        <p:sp>
          <p:nvSpPr>
            <p:cNvPr id="56" name="TextBox 56"/>
            <p:cNvSpPr txBox="1"/>
            <p:nvPr/>
          </p:nvSpPr>
          <p:spPr>
            <a:xfrm>
              <a:off x="10391299" y="14515148"/>
              <a:ext cx="610457" cy="381381"/>
            </a:xfrm>
            <a:prstGeom prst="rect">
              <a:avLst/>
            </a:prstGeom>
            <a:noFill/>
            <a:ln>
              <a:noFill/>
            </a:ln>
          </p:spPr>
          <p:txBody>
            <a:bodyPr wrap="none" lIns="0" tIns="0" rIns="0" bIns="0" anchor="t" anchorCtr="0">
              <a:spAutoFit/>
            </a:bodyPr>
            <a:lstStyle/>
            <a:p>
              <a:pPr algn="r"/>
              <a:r>
                <a:rPr lang="zh-CN" sz="1950" dirty="0">
                  <a:solidFill>
                    <a:schemeClr val="accent5"/>
                  </a:solidFill>
                  <a:latin typeface="+mn-lt"/>
                  <a:ea typeface="+mn-ea"/>
                  <a:cs typeface="+mn-cs"/>
                </a:rPr>
                <a:t>5 / 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par>
                          <p:cTn id="8" fill="hold">
                            <p:stCondLst>
                              <p:cond delay="4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35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00"/>
                                        <p:tgtEl>
                                          <p:spTgt spid="13"/>
                                        </p:tgtEl>
                                      </p:cBhvr>
                                    </p:animEffect>
                                  </p:childTnLst>
                                </p:cTn>
                              </p:par>
                            </p:childTnLst>
                          </p:cTn>
                        </p:par>
                        <p:par>
                          <p:cTn id="16" fill="hold">
                            <p:stCondLst>
                              <p:cond delay="2250"/>
                            </p:stCondLst>
                            <p:childTnLst>
                              <p:par>
                                <p:cTn xmlns:p="http://schemas.openxmlformats.org/presentationml/2006/main" id="17" presetID="22" presetClass="entr" presetSubtype="2" fill="hold" grpId="0" nodeType="afterEffect">
                                  <p:stCondLst>
                                    <p:cond delay="500"/>
                                  </p:stCondLst>
                                  <p:childTnLst>
                                    <p:set>
                                      <p:cBhvr>
                                        <p:cTn id="18" dur="1" fill="hold">
                                          <p:stCondLst>
                                            <p:cond delay="0"/>
                                          </p:stCondLst>
                                        </p:cTn>
                                        <p:tgtEl>
                                          <p:spTgt spid="19"/>
                                        </p:tgtEl>
                                        <p:attrNameLst>
                                          <p:attrName>style.visibility</p:attrName>
                                        </p:attrNameLst>
                                      </p:cBhvr>
                                      <p:to>
                                        <p:strVal val="visible"/>
                                      </p:to>
                                    </p:set>
                                    <p:animEffect transition="in" filter="wipe(right)">
                                      <p:cBhvr>
                                        <p:cTn id="19" dur="350"/>
                                        <p:tgtEl>
                                          <p:spTgt spid="19"/>
                                        </p:tgtEl>
                                      </p:cBhvr>
                                    </p:animEffect>
                                  </p:childTnLst>
                                </p:cTn>
                              </p:par>
                            </p:childTnLst>
                          </p:cTn>
                        </p:par>
                        <p:par>
                          <p:cTn id="20" fill="hold">
                            <p:stCondLst>
                              <p:cond delay="3100"/>
                            </p:stCondLst>
                            <p:childTnLst>
                              <p:par>
                                <p:cTn xmlns:p="http://schemas.openxmlformats.org/presentationml/2006/main" id="21" presetID="22" presetClass="entr" presetSubtype="2" fill="hold" grpId="0" nodeType="afterEffect">
                                  <p:stCondLst>
                                    <p:cond delay="500"/>
                                  </p:stCondLst>
                                  <p:childTnLst>
                                    <p:set>
                                      <p:cBhvr>
                                        <p:cTn id="22" dur="1" fill="hold">
                                          <p:stCondLst>
                                            <p:cond delay="0"/>
                                          </p:stCondLst>
                                        </p:cTn>
                                        <p:tgtEl>
                                          <p:spTgt spid="25"/>
                                        </p:tgtEl>
                                        <p:attrNameLst>
                                          <p:attrName>style.visibility</p:attrName>
                                        </p:attrNameLst>
                                      </p:cBhvr>
                                      <p:to>
                                        <p:strVal val="visible"/>
                                      </p:to>
                                    </p:set>
                                    <p:animEffect transition="in" filter="wipe(right)">
                                      <p:cBhvr>
                                        <p:cTn id="23" dur="350"/>
                                        <p:tgtEl>
                                          <p:spTgt spid="25"/>
                                        </p:tgtEl>
                                      </p:cBhvr>
                                    </p:animEffect>
                                  </p:childTnLst>
                                </p:cTn>
                              </p:par>
                            </p:childTnLst>
                          </p:cTn>
                        </p:par>
                        <p:par>
                          <p:cTn id="24" fill="hold">
                            <p:stCondLst>
                              <p:cond delay="3950"/>
                            </p:stCondLst>
                            <p:childTnLst>
                              <p:par>
                                <p:cTn xmlns:p="http://schemas.openxmlformats.org/presentationml/2006/main" id="25" presetID="22" presetClass="entr" presetSubtype="2" fill="hold" grpId="0" nodeType="afterEffect">
                                  <p:stCondLst>
                                    <p:cond delay="500"/>
                                  </p:stCondLst>
                                  <p:childTnLst>
                                    <p:set>
                                      <p:cBhvr>
                                        <p:cTn id="26" dur="1" fill="hold">
                                          <p:stCondLst>
                                            <p:cond delay="0"/>
                                          </p:stCondLst>
                                        </p:cTn>
                                        <p:tgtEl>
                                          <p:spTgt spid="31"/>
                                        </p:tgtEl>
                                        <p:attrNameLst>
                                          <p:attrName>style.visibility</p:attrName>
                                        </p:attrNameLst>
                                      </p:cBhvr>
                                      <p:to>
                                        <p:strVal val="visible"/>
                                      </p:to>
                                    </p:set>
                                    <p:animEffect transition="in" filter="wipe(right)">
                                      <p:cBhvr>
                                        <p:cTn id="27" dur="350"/>
                                        <p:tgtEl>
                                          <p:spTgt spid="31"/>
                                        </p:tgtEl>
                                      </p:cBhvr>
                                    </p:animEffect>
                                  </p:childTnLst>
                                </p:cTn>
                              </p:par>
                            </p:childTnLst>
                          </p:cTn>
                        </p:par>
                        <p:par>
                          <p:cTn id="28" fill="hold">
                            <p:stCondLst>
                              <p:cond delay="4800"/>
                            </p:stCondLst>
                            <p:childTnLst>
                              <p:par>
                                <p:cTn xmlns:p="http://schemas.openxmlformats.org/presentationml/2006/main" id="29" presetID="22" presetClass="entr" presetSubtype="2" fill="hold" grpId="0" nodeType="afterEffect">
                                  <p:stCondLst>
                                    <p:cond delay="500"/>
                                  </p:stCondLst>
                                  <p:childTnLst>
                                    <p:set>
                                      <p:cBhvr>
                                        <p:cTn id="30" dur="1" fill="hold">
                                          <p:stCondLst>
                                            <p:cond delay="0"/>
                                          </p:stCondLst>
                                        </p:cTn>
                                        <p:tgtEl>
                                          <p:spTgt spid="37"/>
                                        </p:tgtEl>
                                        <p:attrNameLst>
                                          <p:attrName>style.visibility</p:attrName>
                                        </p:attrNameLst>
                                      </p:cBhvr>
                                      <p:to>
                                        <p:strVal val="visible"/>
                                      </p:to>
                                    </p:set>
                                    <p:animEffect transition="in" filter="wipe(right)">
                                      <p:cBhvr>
                                        <p:cTn id="31" dur="350"/>
                                        <p:tgtEl>
                                          <p:spTgt spid="37"/>
                                        </p:tgtEl>
                                      </p:cBhvr>
                                    </p:animEffect>
                                  </p:childTnLst>
                                </p:cTn>
                              </p:par>
                            </p:childTnLst>
                          </p:cTn>
                        </p:par>
                        <p:par>
                          <p:cTn id="32" fill="hold">
                            <p:stCondLst>
                              <p:cond delay="5650"/>
                            </p:stCondLst>
                            <p:childTnLst>
                              <p:par>
                                <p:cTn xmlns:p="http://schemas.openxmlformats.org/presentationml/2006/main" id="33" presetID="10" presetClass="entr" presetSubtype="0" fill="hold" grpId="0" nodeType="afterEffect">
                                  <p:stCondLst>
                                    <p:cond delay="200"/>
                                  </p:stCondLst>
                                  <p:childTnLst>
                                    <p:set>
                                      <p:cBhvr>
                                        <p:cTn id="34" dur="1" fill="hold">
                                          <p:stCondLst>
                                            <p:cond delay="0"/>
                                          </p:stCondLst>
                                        </p:cTn>
                                        <p:tgtEl>
                                          <p:spTgt spid="48"/>
                                        </p:tgtEl>
                                        <p:attrNameLst>
                                          <p:attrName>style.visibility</p:attrName>
                                        </p:attrNameLst>
                                      </p:cBhvr>
                                      <p:to>
                                        <p:strVal val="visible"/>
                                      </p:to>
                                    </p:set>
                                    <p:animEffect transition="in" filter="fade">
                                      <p:cBhvr>
                                        <p:cTn id="35" dur="450"/>
                                        <p:tgtEl>
                                          <p:spTgt spid="48"/>
                                        </p:tgtEl>
                                      </p:cBhvr>
                                    </p:animEffect>
                                  </p:childTnLst>
                                </p:cTn>
                              </p:par>
                            </p:childTnLst>
                          </p:cTn>
                        </p:par>
                        <p:par>
                          <p:cTn id="36" fill="hold">
                            <p:stCondLst>
                              <p:cond delay="6300"/>
                            </p:stCondLst>
                            <p:childTnLst>
                              <p:par>
                                <p:cTn xmlns:p="http://schemas.openxmlformats.org/presentationml/2006/main" id="37" presetID="10" presetClass="entr" presetSubtype="0" fill="hold" grpId="0" nodeType="afterEffect">
                                  <p:stCondLst>
                                    <p:cond delay="200"/>
                                  </p:stCondLst>
                                  <p:childTnLst>
                                    <p:set>
                                      <p:cBhvr>
                                        <p:cTn id="38" dur="1" fill="hold">
                                          <p:stCondLst>
                                            <p:cond delay="0"/>
                                          </p:stCondLst>
                                        </p:cTn>
                                        <p:tgtEl>
                                          <p:spTgt spid="54"/>
                                        </p:tgtEl>
                                        <p:attrNameLst>
                                          <p:attrName>style.visibility</p:attrName>
                                        </p:attrNameLst>
                                      </p:cBhvr>
                                      <p:to>
                                        <p:strVal val="visible"/>
                                      </p:to>
                                    </p:set>
                                    <p:animEffect transition="in" filter="fade">
                                      <p:cBhvr>
                                        <p:cTn id="39"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ail"/>
          <p:cNvSpPr/>
          <p:nvPr/>
        </p:nvSpPr>
        <p:spPr>
          <a:xfrm>
            <a:off x="514350" y="838200"/>
            <a:ext cx="28575" cy="14135100"/>
          </a:xfrm>
          <a:prstGeom prst="rect">
            <a:avLst/>
          </a:prstGeom>
          <a:solidFill>
            <a:schemeClr val="accent1">
              <a:alpha val="30000"/>
            </a:schemeClr>
          </a:solidFill>
          <a:ln>
            <a:noFill/>
          </a:ln>
        </p:spPr>
      </p:sp>
      <p:grpSp>
        <p:nvGrpSpPr>
          <p:cNvPr id="4" name="rail-marker"/>
          <p:cNvGrpSpPr/>
          <p:nvPr/>
        </p:nvGrpSpPr>
        <p:grpSpPr>
          <a:xfrm>
            <a:off x="404812" y="9115425"/>
            <a:ext cx="247650" cy="247650"/>
            <a:chOff x="404812" y="9115425"/>
            <a:chExt cx="247650" cy="247650"/>
          </a:xfrm>
        </p:grpSpPr>
        <p:sp>
          <p:nvSpPr>
            <p:cNvPr id="3" name="Ellipse 3"/>
            <p:cNvSpPr/>
            <p:nvPr/>
          </p:nvSpPr>
          <p:spPr>
            <a:xfrm>
              <a:off x="404812" y="9115425"/>
              <a:ext cx="247650" cy="247650"/>
            </a:xfrm>
            <a:prstGeom prst="ellipse">
              <a:avLst/>
            </a:prstGeom>
            <a:solidFill>
              <a:schemeClr val="accent2"/>
            </a:solidFill>
            <a:ln>
              <a:noFill/>
            </a:ln>
          </p:spPr>
        </p:sp>
      </p:grpSp>
      <p:grpSp>
        <p:nvGrpSpPr>
          <p:cNvPr id="6" name="page-kicker"/>
          <p:cNvGrpSpPr/>
          <p:nvPr/>
        </p:nvGrpSpPr>
        <p:grpSpPr>
          <a:xfrm>
            <a:off x="824484" y="984885"/>
            <a:ext cx="3169196" cy="528066"/>
            <a:chOff x="824484" y="984885"/>
            <a:chExt cx="3169196" cy="528066"/>
          </a:xfrm>
        </p:grpSpPr>
        <p:sp>
          <p:nvSpPr>
            <p:cNvPr id="5" name="TextBox 5"/>
            <p:cNvSpPr txBox="1"/>
            <p:nvPr/>
          </p:nvSpPr>
          <p:spPr>
            <a:xfrm>
              <a:off x="824484" y="984885"/>
              <a:ext cx="3169196" cy="528066"/>
            </a:xfrm>
            <a:prstGeom prst="rect">
              <a:avLst/>
            </a:prstGeom>
            <a:noFill/>
            <a:ln>
              <a:noFill/>
            </a:ln>
          </p:spPr>
          <p:txBody>
            <a:bodyPr wrap="none" lIns="0" tIns="0" rIns="0" bIns="0" anchor="t" anchorCtr="0">
              <a:spAutoFit/>
            </a:bodyPr>
            <a:lstStyle/>
            <a:p>
              <a:pPr algn="l"/>
              <a:r>
                <a:rPr lang="zh-CN" sz="2700" spc="150" dirty="0">
                  <a:solidFill>
                    <a:schemeClr val="accent1"/>
                  </a:solidFill>
                  <a:latin typeface="+mn-lt"/>
                  <a:ea typeface="+mn-ea"/>
                  <a:cs typeface="+mn-cs"/>
                </a:rPr>
                <a:t>落地 · 位置与周期</a:t>
              </a:r>
            </a:p>
          </p:txBody>
        </p:sp>
      </p:grpSp>
      <p:grpSp>
        <p:nvGrpSpPr>
          <p:cNvPr id="8" name="page-title"/>
          <p:cNvGrpSpPr/>
          <p:nvPr/>
        </p:nvGrpSpPr>
        <p:grpSpPr>
          <a:xfrm>
            <a:off x="819150" y="1733550"/>
            <a:ext cx="6966318" cy="1162050"/>
            <a:chOff x="819150" y="1733550"/>
            <a:chExt cx="6966318" cy="1162050"/>
          </a:xfrm>
        </p:grpSpPr>
        <p:sp>
          <p:nvSpPr>
            <p:cNvPr id="7" name="TextBox 7"/>
            <p:cNvSpPr txBox="1"/>
            <p:nvPr/>
          </p:nvSpPr>
          <p:spPr>
            <a:xfrm>
              <a:off x="819150" y="1733550"/>
              <a:ext cx="6966318" cy="1162050"/>
            </a:xfrm>
            <a:prstGeom prst="rect">
              <a:avLst/>
            </a:prstGeom>
            <a:noFill/>
            <a:ln>
              <a:noFill/>
            </a:ln>
          </p:spPr>
          <p:txBody>
            <a:bodyPr wrap="none" lIns="0" tIns="0" rIns="0" bIns="0" anchor="t" anchorCtr="0">
              <a:spAutoFit/>
            </a:bodyPr>
            <a:lstStyle/>
            <a:p>
              <a:pPr algn="l"/>
              <a:r>
                <a:rPr lang="zh-CN" sz="6000" b="1" dirty="0">
                  <a:solidFill>
                    <a:schemeClr val="dk1"/>
                  </a:solidFill>
                  <a:latin typeface="+mj-lt"/>
                  <a:ea typeface="+mj-ea"/>
                  <a:cs typeface="+mj-cs"/>
                </a:rPr>
                <a:t>放哪儿,多久查一次</a:t>
              </a:r>
            </a:p>
          </p:txBody>
        </p:sp>
      </p:grpSp>
      <p:grpSp>
        <p:nvGrpSpPr>
          <p:cNvPr id="10" name="page-lead"/>
          <p:cNvGrpSpPr/>
          <p:nvPr/>
        </p:nvGrpSpPr>
        <p:grpSpPr>
          <a:xfrm>
            <a:off x="819150" y="3007995"/>
            <a:ext cx="9353232" cy="762000"/>
            <a:chOff x="819150" y="3007995"/>
            <a:chExt cx="9353232" cy="762000"/>
          </a:xfrm>
        </p:grpSpPr>
        <p:sp>
          <p:nvSpPr>
            <p:cNvPr id="9" name="TextBox 9"/>
            <p:cNvSpPr txBox="1"/>
            <p:nvPr/>
          </p:nvSpPr>
          <p:spPr>
            <a:xfrm>
              <a:off x="819150" y="3007995"/>
              <a:ext cx="9353232" cy="762000"/>
            </a:xfrm>
            <a:prstGeom prst="rect">
              <a:avLst/>
            </a:prstGeom>
            <a:noFill/>
            <a:ln>
              <a:noFill/>
            </a:ln>
          </p:spPr>
          <p:txBody>
            <a:bodyPr wrap="none" lIns="0" tIns="0" rIns="0" bIns="0" anchor="t" anchorCtr="0">
              <a:spAutoFit/>
            </a:bodyPr>
            <a:lstStyle/>
            <a:p>
              <a:pPr algn="l"/>
              <a:r>
                <a:rPr lang="zh-CN" sz="3900" dirty="0">
                  <a:solidFill>
                    <a:schemeClr val="dk1"/>
                  </a:solidFill>
                  <a:latin typeface="+mn-lt"/>
                  <a:ea typeface="+mn-ea"/>
                  <a:cs typeface="+mn-cs"/>
                </a:rPr>
                <a:t xml:space="preserve">阴凉干燥、孩子够不着;每 </a:t>
              </a:r>
              <a:r>
                <a:rPr lang="zh-CN" sz="3900" b="1" dirty="0">
                  <a:solidFill>
                    <a:schemeClr val="accent2"/>
                  </a:solidFill>
                  <a:latin typeface="+mn-lt"/>
                  <a:ea typeface="+mn-ea"/>
                  <a:cs typeface="+mn-cs"/>
                </a:rPr>
                <a:t>3 个月</a:t>
              </a:r>
              <a:r>
                <a:rPr lang="zh-CN" sz="3900" dirty="0">
                  <a:solidFill>
                    <a:schemeClr val="dk1"/>
                  </a:solidFill>
                  <a:latin typeface="+mn-lt"/>
                  <a:ea typeface="+mn-ea"/>
                  <a:cs typeface="+mn-cs"/>
                </a:rPr>
                <a:t>一查。</a:t>
              </a:r>
            </a:p>
          </p:txBody>
        </p:sp>
      </p:grpSp>
      <p:grpSp>
        <p:nvGrpSpPr>
          <p:cNvPr id="28" name="storage-card"/>
          <p:cNvGrpSpPr/>
          <p:nvPr/>
        </p:nvGrpSpPr>
        <p:grpSpPr>
          <a:xfrm>
            <a:off x="914400" y="4000500"/>
            <a:ext cx="10077450" cy="4381500"/>
            <a:chOff x="914400" y="4000500"/>
            <a:chExt cx="10077450" cy="4381500"/>
          </a:xfrm>
        </p:grpSpPr>
        <p:sp>
          <p:nvSpPr>
            <p:cNvPr id="11" name="Freeform 11"/>
            <p:cNvSpPr/>
            <p:nvPr/>
          </p:nvSpPr>
          <p:spPr>
            <a:xfrm>
              <a:off x="914400" y="4000500"/>
              <a:ext cx="10077450" cy="4381500"/>
            </a:xfrm>
            <a:prstGeom prst="foldedCorner">
              <a:avLst>
                <a:gd name="adj" fmla="val 9000"/>
              </a:avLst>
            </a:prstGeom>
            <a:solidFill>
              <a:srgbClr val="FFFDF7"/>
            </a:solidFill>
            <a:ln w="28575">
              <a:solidFill>
                <a:schemeClr val="dk1"/>
              </a:solidFill>
            </a:ln>
          </p:spPr>
        </p:sp>
        <p:grpSp>
          <p:nvGrpSpPr>
            <p:cNvPr id="15" name="Group 15"/>
            <p:cNvGrpSpPr/>
            <p:nvPr/>
          </p:nvGrpSpPr>
          <p:grpSpPr>
            <a:xfrm>
              <a:off x="1485900" y="4400550"/>
              <a:ext cx="342900" cy="342900"/>
              <a:chOff x="1485900" y="4400550"/>
              <a:chExt cx="342900" cy="342900"/>
            </a:xfrm>
          </p:grpSpPr>
          <p:sp>
            <p:nvSpPr>
              <p:cNvPr id="12" name="Freeform 12"/>
              <p:cNvSpPr/>
              <p:nvPr/>
            </p:nvSpPr>
            <p:spPr>
              <a:xfrm>
                <a:off x="1485900" y="4400550"/>
                <a:ext cx="342900" cy="171450"/>
              </a:xfrm>
              <a:custGeom>
                <a:avLst/>
                <a:gdLst/>
                <a:ahLst/>
                <a:cxnLst/>
                <a:rect l="l" t="t" r="r" b="b"/>
                <a:pathLst>
                  <a:path w="342900" h="171450">
                    <a:moveTo>
                      <a:pt x="38100" y="171450"/>
                    </a:moveTo>
                    <a:lnTo>
                      <a:pt x="0" y="171450"/>
                    </a:lnTo>
                    <a:lnTo>
                      <a:pt x="171450" y="0"/>
                    </a:lnTo>
                    <a:lnTo>
                      <a:pt x="342900" y="171450"/>
                    </a:lnTo>
                    <a:lnTo>
                      <a:pt x="304800" y="171450"/>
                    </a:lnTo>
                  </a:path>
                </a:pathLst>
              </a:custGeom>
              <a:noFill/>
              <a:ln w="38100">
                <a:solidFill>
                  <a:schemeClr val="accent1"/>
                </a:solidFill>
              </a:ln>
            </p:spPr>
          </p:sp>
          <p:sp>
            <p:nvSpPr>
              <p:cNvPr id="13" name="Freeform 13"/>
              <p:cNvSpPr/>
              <p:nvPr/>
            </p:nvSpPr>
            <p:spPr>
              <a:xfrm>
                <a:off x="1524000" y="4572000"/>
                <a:ext cx="266700" cy="171450"/>
              </a:xfrm>
              <a:custGeom>
                <a:avLst/>
                <a:gdLst/>
                <a:ahLst/>
                <a:cxnLst/>
                <a:rect l="l" t="t" r="r" b="b"/>
                <a:pathLst>
                  <a:path w="266700" h="171450">
                    <a:moveTo>
                      <a:pt x="0" y="0"/>
                    </a:moveTo>
                    <a:lnTo>
                      <a:pt x="0" y="133350"/>
                    </a:lnTo>
                    <a:cubicBezTo>
                      <a:pt x="0" y="154392"/>
                      <a:pt x="17058" y="171450"/>
                      <a:pt x="38100" y="171450"/>
                    </a:cubicBezTo>
                    <a:lnTo>
                      <a:pt x="228600" y="171450"/>
                    </a:lnTo>
                    <a:cubicBezTo>
                      <a:pt x="249642" y="171450"/>
                      <a:pt x="266700" y="154392"/>
                      <a:pt x="266700" y="133350"/>
                    </a:cubicBezTo>
                    <a:lnTo>
                      <a:pt x="266700" y="0"/>
                    </a:lnTo>
                  </a:path>
                </a:pathLst>
              </a:custGeom>
              <a:noFill/>
              <a:ln w="38100">
                <a:solidFill>
                  <a:schemeClr val="accent1"/>
                </a:solidFill>
              </a:ln>
            </p:spPr>
          </p:sp>
          <p:sp>
            <p:nvSpPr>
              <p:cNvPr id="14" name="Freeform 14"/>
              <p:cNvSpPr/>
              <p:nvPr/>
            </p:nvSpPr>
            <p:spPr>
              <a:xfrm>
                <a:off x="1600200" y="4591050"/>
                <a:ext cx="114300" cy="152400"/>
              </a:xfrm>
              <a:custGeom>
                <a:avLst/>
                <a:gdLst/>
                <a:ahLst/>
                <a:cxnLst/>
                <a:rect l="l" t="t" r="r" b="b"/>
                <a:pathLst>
                  <a:path w="114300" h="152400">
                    <a:moveTo>
                      <a:pt x="0" y="152400"/>
                    </a:moveTo>
                    <a:lnTo>
                      <a:pt x="0" y="38100"/>
                    </a:lnTo>
                    <a:cubicBezTo>
                      <a:pt x="0" y="17058"/>
                      <a:pt x="17058" y="0"/>
                      <a:pt x="38100" y="0"/>
                    </a:cubicBezTo>
                    <a:lnTo>
                      <a:pt x="76200" y="0"/>
                    </a:lnTo>
                    <a:cubicBezTo>
                      <a:pt x="97242" y="0"/>
                      <a:pt x="114300" y="17058"/>
                      <a:pt x="114300" y="38100"/>
                    </a:cubicBezTo>
                    <a:lnTo>
                      <a:pt x="114300" y="152400"/>
                    </a:lnTo>
                  </a:path>
                </a:pathLst>
              </a:custGeom>
              <a:noFill/>
              <a:ln w="38100">
                <a:solidFill>
                  <a:schemeClr val="accent1"/>
                </a:solidFill>
              </a:ln>
            </p:spPr>
          </p:sp>
        </p:grpSp>
        <p:sp>
          <p:nvSpPr>
            <p:cNvPr id="16" name="TextBox 16"/>
            <p:cNvSpPr txBox="1"/>
            <p:nvPr/>
          </p:nvSpPr>
          <p:spPr>
            <a:xfrm>
              <a:off x="2019300" y="4271010"/>
              <a:ext cx="1734312" cy="819150"/>
            </a:xfrm>
            <a:prstGeom prst="rect">
              <a:avLst/>
            </a:prstGeom>
            <a:noFill/>
            <a:ln>
              <a:noFill/>
            </a:ln>
          </p:spPr>
          <p:txBody>
            <a:bodyPr wrap="none" lIns="0" tIns="0" rIns="0" bIns="0" anchor="t" anchorCtr="0">
              <a:spAutoFit/>
            </a:bodyPr>
            <a:lstStyle/>
            <a:p>
              <a:pPr algn="l"/>
              <a:r>
                <a:rPr lang="zh-CN" sz="4200" b="1" dirty="0">
                  <a:solidFill>
                    <a:schemeClr val="accent1"/>
                  </a:solidFill>
                  <a:latin typeface="+mj-lt"/>
                  <a:ea typeface="+mj-ea"/>
                  <a:cs typeface="+mj-cs"/>
                </a:rPr>
                <a:t>放哪儿</a:t>
              </a:r>
            </a:p>
          </p:txBody>
        </p:sp>
        <p:pic>
          <p:nvPicPr>
            <p:cNvPr id="17" name="Image 17"/>
            <p:cNvPicPr>
              <a:picLocks noChangeAspect="1"/>
            </p:cNvPicPr>
            <p:nvPr/>
          </p:nvPicPr>
          <p:blipFill>
            <a:blip r:embed="rId2"/>
            <a:stretch>
              <a:fillRect/>
            </a:stretch>
          </p:blipFill>
          <p:spPr>
            <a:xfrm>
              <a:off x="8763000" y="5392026"/>
              <a:ext cx="1905000" cy="1788948"/>
            </a:xfrm>
            <a:prstGeom prst="rect">
              <a:avLst/>
            </a:prstGeom>
          </p:spPr>
        </p:pic>
        <p:sp>
          <p:nvSpPr>
            <p:cNvPr id="18" name="TextBox 18"/>
            <p:cNvSpPr txBox="1"/>
            <p:nvPr/>
          </p:nvSpPr>
          <p:spPr>
            <a:xfrm>
              <a:off x="1411986" y="5168265"/>
              <a:ext cx="4387977"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阴凉干燥、通风避光</a:t>
              </a:r>
            </a:p>
          </p:txBody>
        </p:sp>
        <p:sp>
          <p:nvSpPr>
            <p:cNvPr id="19" name="TextBox 19"/>
            <p:cNvSpPr txBox="1"/>
            <p:nvPr/>
          </p:nvSpPr>
          <p:spPr>
            <a:xfrm>
              <a:off x="1411986" y="5758815"/>
              <a:ext cx="5720715"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远离炉灶、水槽和发热电器</a:t>
              </a:r>
            </a:p>
          </p:txBody>
        </p:sp>
        <p:sp>
          <p:nvSpPr>
            <p:cNvPr id="20" name="TextBox 20"/>
            <p:cNvSpPr txBox="1"/>
            <p:nvPr/>
          </p:nvSpPr>
          <p:spPr>
            <a:xfrm>
              <a:off x="1411986" y="6349365"/>
              <a:ext cx="6409296"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别放卫生间:潮气让药提前变质</a:t>
              </a:r>
            </a:p>
          </p:txBody>
        </p:sp>
        <p:sp>
          <p:nvSpPr>
            <p:cNvPr id="21" name="TextBox 21"/>
            <p:cNvSpPr txBox="1"/>
            <p:nvPr/>
          </p:nvSpPr>
          <p:spPr>
            <a:xfrm>
              <a:off x="1411986" y="6939915"/>
              <a:ext cx="5965050" cy="645414"/>
            </a:xfrm>
            <a:prstGeom prst="rect">
              <a:avLst/>
            </a:prstGeom>
            <a:noFill/>
            <a:ln>
              <a:noFill/>
            </a:ln>
          </p:spPr>
          <p:txBody>
            <a:bodyPr wrap="none" lIns="0" tIns="0" rIns="0" bIns="0" anchor="t" anchorCtr="0">
              <a:spAutoFit/>
            </a:bodyPr>
            <a:lstStyle/>
            <a:p>
              <a:pPr algn="l" marL="356235" indent="-356235">
                <a:buClr>
                  <a:schemeClr val="dk1"/>
                </a:buClr>
                <a:buSzTx/>
                <a:buFontTx/>
                <a:buChar char="•"/>
              </a:pPr>
              <a:r>
                <a:rPr lang="zh-CN" sz="3300" dirty="0">
                  <a:solidFill>
                    <a:schemeClr val="dk1"/>
                  </a:solidFill>
                  <a:latin typeface="+mn-lt"/>
                  <a:ea typeface="+mn-ea"/>
                  <a:cs typeface="+mn-cs"/>
                </a:rPr>
                <a:t>孩子够不着,大人一伸手就到</a:t>
              </a:r>
            </a:p>
          </p:txBody>
        </p:sp>
        <p:grpSp>
          <p:nvGrpSpPr>
            <p:cNvPr id="27" name="storage-car-note"/>
            <p:cNvGrpSpPr/>
            <p:nvPr/>
          </p:nvGrpSpPr>
          <p:grpSpPr>
            <a:xfrm>
              <a:off x="1454589" y="7627620"/>
              <a:ext cx="6094697" cy="469392"/>
              <a:chOff x="1454589" y="7627620"/>
              <a:chExt cx="6094697" cy="469392"/>
            </a:xfrm>
          </p:grpSpPr>
          <p:grpSp>
            <p:nvGrpSpPr>
              <p:cNvPr id="25" name="Group 25"/>
              <p:cNvGrpSpPr/>
              <p:nvPr/>
            </p:nvGrpSpPr>
            <p:grpSpPr>
              <a:xfrm>
                <a:off x="1454589" y="7655998"/>
                <a:ext cx="272162" cy="233823"/>
                <a:chOff x="1454589" y="7655998"/>
                <a:chExt cx="272162" cy="233823"/>
              </a:xfrm>
            </p:grpSpPr>
            <p:sp>
              <p:nvSpPr>
                <p:cNvPr id="22" name="Freeform 22"/>
                <p:cNvSpPr/>
                <p:nvPr/>
              </p:nvSpPr>
              <p:spPr>
                <a:xfrm>
                  <a:off x="1590675" y="7741444"/>
                  <a:ext cx="9525" cy="53975"/>
                </a:xfrm>
                <a:custGeom>
                  <a:avLst/>
                  <a:gdLst/>
                  <a:ahLst/>
                  <a:cxnLst/>
                  <a:rect l="l" t="t" r="r" b="b"/>
                  <a:pathLst>
                    <a:path w="9525" h="53975">
                      <a:moveTo>
                        <a:pt x="0" y="0"/>
                      </a:moveTo>
                      <a:lnTo>
                        <a:pt x="0" y="53975"/>
                      </a:lnTo>
                    </a:path>
                  </a:pathLst>
                </a:custGeom>
                <a:noFill/>
                <a:ln w="26988">
                  <a:solidFill>
                    <a:schemeClr val="accent3"/>
                  </a:solidFill>
                </a:ln>
              </p:spPr>
            </p:sp>
            <p:sp>
              <p:nvSpPr>
                <p:cNvPr id="23" name="Freeform 23"/>
                <p:cNvSpPr/>
                <p:nvPr/>
              </p:nvSpPr>
              <p:spPr>
                <a:xfrm>
                  <a:off x="1454589" y="7655998"/>
                  <a:ext cx="272162" cy="233823"/>
                </a:xfrm>
                <a:custGeom>
                  <a:avLst/>
                  <a:gdLst/>
                  <a:ahLst/>
                  <a:cxnLst/>
                  <a:rect l="l" t="t" r="r" b="b"/>
                  <a:pathLst>
                    <a:path w="272162" h="233823">
                      <a:moveTo>
                        <a:pt x="113997" y="12458"/>
                      </a:moveTo>
                      <a:lnTo>
                        <a:pt x="4616" y="195083"/>
                      </a:lnTo>
                      <a:cubicBezTo>
                        <a:pt x="28" y="203029"/>
                        <a:pt x="0" y="212812"/>
                        <a:pt x="4543" y="220785"/>
                      </a:cubicBezTo>
                      <a:cubicBezTo>
                        <a:pt x="9086" y="228757"/>
                        <a:pt x="17517" y="233720"/>
                        <a:pt x="26692" y="233823"/>
                      </a:cubicBezTo>
                      <a:lnTo>
                        <a:pt x="245480" y="233823"/>
                      </a:lnTo>
                      <a:cubicBezTo>
                        <a:pt x="254651" y="233717"/>
                        <a:pt x="263078" y="228756"/>
                        <a:pt x="267620" y="220788"/>
                      </a:cubicBezTo>
                      <a:cubicBezTo>
                        <a:pt x="272162" y="212820"/>
                        <a:pt x="272138" y="203041"/>
                        <a:pt x="267556" y="195096"/>
                      </a:cubicBezTo>
                      <a:lnTo>
                        <a:pt x="158176" y="12444"/>
                      </a:lnTo>
                      <a:cubicBezTo>
                        <a:pt x="153495" y="4719"/>
                        <a:pt x="145119" y="0"/>
                        <a:pt x="136086" y="0"/>
                      </a:cubicBezTo>
                      <a:cubicBezTo>
                        <a:pt x="127054" y="0"/>
                        <a:pt x="118677" y="4719"/>
                        <a:pt x="113997" y="12444"/>
                      </a:cubicBezTo>
                    </a:path>
                  </a:pathLst>
                </a:custGeom>
                <a:noFill/>
                <a:ln w="26988">
                  <a:solidFill>
                    <a:schemeClr val="accent3"/>
                  </a:solidFill>
                </a:ln>
              </p:spPr>
            </p:sp>
            <p:sp>
              <p:nvSpPr>
                <p:cNvPr id="24" name="Freeform 24"/>
                <p:cNvSpPr/>
                <p:nvPr/>
              </p:nvSpPr>
              <p:spPr>
                <a:xfrm>
                  <a:off x="1590675" y="7835901"/>
                  <a:ext cx="9525" cy="9525"/>
                </a:xfrm>
                <a:custGeom>
                  <a:avLst/>
                  <a:gdLst/>
                  <a:ahLst/>
                  <a:cxnLst/>
                  <a:rect l="l" t="t" r="r" b="b"/>
                  <a:pathLst>
                    <a:path w="9525" h="9525">
                      <a:moveTo>
                        <a:pt x="0" y="0"/>
                      </a:moveTo>
                      <a:lnTo>
                        <a:pt x="135" y="0"/>
                      </a:lnTo>
                    </a:path>
                  </a:pathLst>
                </a:custGeom>
                <a:noFill/>
                <a:ln w="26988">
                  <a:solidFill>
                    <a:schemeClr val="accent3"/>
                  </a:solidFill>
                </a:ln>
              </p:spPr>
            </p:sp>
          </p:grpSp>
          <p:sp>
            <p:nvSpPr>
              <p:cNvPr id="26" name="TextBox 26"/>
              <p:cNvSpPr txBox="1"/>
              <p:nvPr/>
            </p:nvSpPr>
            <p:spPr>
              <a:xfrm>
                <a:off x="1854708" y="7627620"/>
                <a:ext cx="5694578"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车上可另放一个包,但药别放汽车手套箱</a:t>
                </a:r>
              </a:p>
            </p:txBody>
          </p:sp>
        </p:grpSp>
      </p:grpSp>
      <p:grpSp>
        <p:nvGrpSpPr>
          <p:cNvPr id="42" name="check-cycle"/>
          <p:cNvGrpSpPr/>
          <p:nvPr/>
        </p:nvGrpSpPr>
        <p:grpSpPr>
          <a:xfrm>
            <a:off x="1428750" y="8785860"/>
            <a:ext cx="8174736" cy="2209800"/>
            <a:chOff x="1428750" y="8785860"/>
            <a:chExt cx="8174736" cy="2209800"/>
          </a:xfrm>
        </p:grpSpPr>
        <p:grpSp>
          <p:nvGrpSpPr>
            <p:cNvPr id="36" name="Group 36"/>
            <p:cNvGrpSpPr/>
            <p:nvPr/>
          </p:nvGrpSpPr>
          <p:grpSpPr>
            <a:xfrm>
              <a:off x="1504950" y="8915400"/>
              <a:ext cx="342900" cy="366745"/>
              <a:chOff x="1504950" y="8915400"/>
              <a:chExt cx="342900" cy="366745"/>
            </a:xfrm>
          </p:grpSpPr>
          <p:sp>
            <p:nvSpPr>
              <p:cNvPr id="29" name="Freeform 29"/>
              <p:cNvSpPr/>
              <p:nvPr/>
            </p:nvSpPr>
            <p:spPr>
              <a:xfrm>
                <a:off x="1504950" y="8953500"/>
                <a:ext cx="304800" cy="304800"/>
              </a:xfrm>
              <a:custGeom>
                <a:avLst/>
                <a:gdLst/>
                <a:ahLst/>
                <a:cxnLst/>
                <a:rect l="l" t="t" r="r" b="b"/>
                <a:pathLst>
                  <a:path w="304800" h="304800">
                    <a:moveTo>
                      <a:pt x="161925" y="304800"/>
                    </a:moveTo>
                    <a:lnTo>
                      <a:pt x="38100" y="304800"/>
                    </a:lnTo>
                    <a:cubicBezTo>
                      <a:pt x="17058" y="304800"/>
                      <a:pt x="0" y="287742"/>
                      <a:pt x="0" y="266700"/>
                    </a:cubicBezTo>
                    <a:lnTo>
                      <a:pt x="0" y="38100"/>
                    </a:lnTo>
                    <a:cubicBezTo>
                      <a:pt x="0" y="17058"/>
                      <a:pt x="17058" y="0"/>
                      <a:pt x="38100" y="0"/>
                    </a:cubicBezTo>
                    <a:lnTo>
                      <a:pt x="266700" y="0"/>
                    </a:lnTo>
                    <a:cubicBezTo>
                      <a:pt x="287742" y="0"/>
                      <a:pt x="304800" y="17058"/>
                      <a:pt x="304800" y="38100"/>
                    </a:cubicBezTo>
                    <a:lnTo>
                      <a:pt x="304800" y="95250"/>
                    </a:lnTo>
                  </a:path>
                </a:pathLst>
              </a:custGeom>
              <a:noFill/>
              <a:ln w="38100">
                <a:solidFill>
                  <a:schemeClr val="accent1"/>
                </a:solidFill>
              </a:ln>
            </p:spPr>
          </p:sp>
          <p:sp>
            <p:nvSpPr>
              <p:cNvPr id="30" name="Freeform 30"/>
              <p:cNvSpPr/>
              <p:nvPr/>
            </p:nvSpPr>
            <p:spPr>
              <a:xfrm>
                <a:off x="1733550" y="8915400"/>
                <a:ext cx="9525" cy="76200"/>
              </a:xfrm>
              <a:custGeom>
                <a:avLst/>
                <a:gdLst/>
                <a:ahLst/>
                <a:cxnLst/>
                <a:rect l="l" t="t" r="r" b="b"/>
                <a:pathLst>
                  <a:path w="9525" h="76200">
                    <a:moveTo>
                      <a:pt x="0" y="0"/>
                    </a:moveTo>
                    <a:lnTo>
                      <a:pt x="0" y="76200"/>
                    </a:lnTo>
                  </a:path>
                </a:pathLst>
              </a:custGeom>
              <a:noFill/>
              <a:ln w="38100">
                <a:solidFill>
                  <a:schemeClr val="accent1"/>
                </a:solidFill>
              </a:ln>
            </p:spPr>
          </p:sp>
          <p:sp>
            <p:nvSpPr>
              <p:cNvPr id="31" name="Freeform 31"/>
              <p:cNvSpPr/>
              <p:nvPr/>
            </p:nvSpPr>
            <p:spPr>
              <a:xfrm>
                <a:off x="1581150" y="8915400"/>
                <a:ext cx="9525" cy="76200"/>
              </a:xfrm>
              <a:custGeom>
                <a:avLst/>
                <a:gdLst/>
                <a:ahLst/>
                <a:cxnLst/>
                <a:rect l="l" t="t" r="r" b="b"/>
                <a:pathLst>
                  <a:path w="9525" h="76200">
                    <a:moveTo>
                      <a:pt x="0" y="0"/>
                    </a:moveTo>
                    <a:lnTo>
                      <a:pt x="0" y="76200"/>
                    </a:lnTo>
                  </a:path>
                </a:pathLst>
              </a:custGeom>
              <a:noFill/>
              <a:ln w="38100">
                <a:solidFill>
                  <a:schemeClr val="accent1"/>
                </a:solidFill>
              </a:ln>
            </p:spPr>
          </p:sp>
          <p:sp>
            <p:nvSpPr>
              <p:cNvPr id="32" name="Freeform 32"/>
              <p:cNvSpPr/>
              <p:nvPr/>
            </p:nvSpPr>
            <p:spPr>
              <a:xfrm>
                <a:off x="1504950" y="9067800"/>
                <a:ext cx="228600" cy="9525"/>
              </a:xfrm>
              <a:custGeom>
                <a:avLst/>
                <a:gdLst/>
                <a:ahLst/>
                <a:cxnLst/>
                <a:rect l="l" t="t" r="r" b="b"/>
                <a:pathLst>
                  <a:path w="228600" h="9525">
                    <a:moveTo>
                      <a:pt x="0" y="0"/>
                    </a:moveTo>
                    <a:lnTo>
                      <a:pt x="228600" y="0"/>
                    </a:lnTo>
                  </a:path>
                </a:pathLst>
              </a:custGeom>
              <a:noFill/>
              <a:ln w="38100">
                <a:solidFill>
                  <a:schemeClr val="accent1"/>
                </a:solidFill>
              </a:ln>
            </p:spPr>
          </p:sp>
          <p:sp>
            <p:nvSpPr>
              <p:cNvPr id="33" name="Freeform 33"/>
              <p:cNvSpPr/>
              <p:nvPr/>
            </p:nvSpPr>
            <p:spPr>
              <a:xfrm>
                <a:off x="1790700" y="9124950"/>
                <a:ext cx="57150" cy="38100"/>
              </a:xfrm>
              <a:custGeom>
                <a:avLst/>
                <a:gdLst/>
                <a:ahLst/>
                <a:cxnLst/>
                <a:rect l="l" t="t" r="r" b="b"/>
                <a:pathLst>
                  <a:path w="57150" h="38100">
                    <a:moveTo>
                      <a:pt x="19050" y="0"/>
                    </a:moveTo>
                    <a:lnTo>
                      <a:pt x="57150" y="38100"/>
                    </a:lnTo>
                    <a:lnTo>
                      <a:pt x="0" y="38100"/>
                    </a:lnTo>
                  </a:path>
                </a:pathLst>
              </a:custGeom>
              <a:noFill/>
              <a:ln w="38100">
                <a:solidFill>
                  <a:schemeClr val="accent1"/>
                </a:solidFill>
              </a:ln>
            </p:spPr>
          </p:sp>
          <p:sp>
            <p:nvSpPr>
              <p:cNvPr id="34" name="Freeform 34"/>
              <p:cNvSpPr/>
              <p:nvPr/>
            </p:nvSpPr>
            <p:spPr>
              <a:xfrm>
                <a:off x="1809750" y="9163050"/>
                <a:ext cx="38100" cy="38100"/>
              </a:xfrm>
              <a:custGeom>
                <a:avLst/>
                <a:gdLst/>
                <a:ahLst/>
                <a:cxnLst/>
                <a:rect l="l" t="t" r="r" b="b"/>
                <a:pathLst>
                  <a:path w="38100" h="38100">
                    <a:moveTo>
                      <a:pt x="0" y="38100"/>
                    </a:moveTo>
                    <a:lnTo>
                      <a:pt x="38100" y="0"/>
                    </a:lnTo>
                  </a:path>
                </a:pathLst>
              </a:custGeom>
              <a:noFill/>
              <a:ln w="38100">
                <a:solidFill>
                  <a:schemeClr val="accent1"/>
                </a:solidFill>
              </a:ln>
            </p:spPr>
          </p:sp>
          <p:sp>
            <p:nvSpPr>
              <p:cNvPr id="35" name="Freeform 35"/>
              <p:cNvSpPr/>
              <p:nvPr/>
            </p:nvSpPr>
            <p:spPr>
              <a:xfrm>
                <a:off x="1728731" y="9163049"/>
                <a:ext cx="100069" cy="119096"/>
              </a:xfrm>
              <a:custGeom>
                <a:avLst/>
                <a:gdLst/>
                <a:ahLst/>
                <a:cxnLst/>
                <a:rect l="l" t="t" r="r" b="b"/>
                <a:pathLst>
                  <a:path w="100069" h="119096">
                    <a:moveTo>
                      <a:pt x="61969" y="1"/>
                    </a:moveTo>
                    <a:cubicBezTo>
                      <a:pt x="36495" y="0"/>
                      <a:pt x="14097" y="16858"/>
                      <a:pt x="7049" y="41337"/>
                    </a:cubicBezTo>
                    <a:cubicBezTo>
                      <a:pt x="0" y="65816"/>
                      <a:pt x="10003" y="92004"/>
                      <a:pt x="31576" y="105550"/>
                    </a:cubicBezTo>
                    <a:cubicBezTo>
                      <a:pt x="53149" y="119096"/>
                      <a:pt x="81083" y="116729"/>
                      <a:pt x="100069" y="99746"/>
                    </a:cubicBezTo>
                  </a:path>
                </a:pathLst>
              </a:custGeom>
              <a:noFill/>
              <a:ln w="38100">
                <a:solidFill>
                  <a:schemeClr val="accent1"/>
                </a:solidFill>
              </a:ln>
            </p:spPr>
          </p:sp>
        </p:grpSp>
        <p:sp>
          <p:nvSpPr>
            <p:cNvPr id="37" name="TextBox 37"/>
            <p:cNvSpPr txBox="1"/>
            <p:nvPr/>
          </p:nvSpPr>
          <p:spPr>
            <a:xfrm>
              <a:off x="2019300" y="8785860"/>
              <a:ext cx="2865120" cy="819150"/>
            </a:xfrm>
            <a:prstGeom prst="rect">
              <a:avLst/>
            </a:prstGeom>
            <a:noFill/>
            <a:ln>
              <a:noFill/>
            </a:ln>
          </p:spPr>
          <p:txBody>
            <a:bodyPr wrap="none" lIns="0" tIns="0" rIns="0" bIns="0" anchor="t" anchorCtr="0">
              <a:spAutoFit/>
            </a:bodyPr>
            <a:lstStyle/>
            <a:p>
              <a:pPr algn="l"/>
              <a:r>
                <a:rPr lang="zh-CN" sz="4200" b="1" dirty="0">
                  <a:solidFill>
                    <a:schemeClr val="accent1"/>
                  </a:solidFill>
                  <a:latin typeface="+mj-lt"/>
                  <a:ea typeface="+mj-ea"/>
                  <a:cs typeface="+mj-cs"/>
                </a:rPr>
                <a:t>多久查一次</a:t>
              </a:r>
            </a:p>
          </p:txBody>
        </p:sp>
        <p:sp>
          <p:nvSpPr>
            <p:cNvPr id="38" name="Freeform 38"/>
            <p:cNvSpPr/>
            <p:nvPr/>
          </p:nvSpPr>
          <p:spPr>
            <a:xfrm>
              <a:off x="1428750" y="9525000"/>
              <a:ext cx="1238250" cy="1238250"/>
            </a:xfrm>
            <a:prstGeom prst="circularArrow">
              <a:avLst/>
            </a:prstGeom>
            <a:solidFill>
              <a:schemeClr val="accent3"/>
            </a:solidFill>
            <a:ln>
              <a:noFill/>
            </a:ln>
          </p:spPr>
        </p:sp>
        <p:sp>
          <p:nvSpPr>
            <p:cNvPr id="39" name="TextBox 39"/>
            <p:cNvSpPr txBox="1"/>
            <p:nvPr/>
          </p:nvSpPr>
          <p:spPr>
            <a:xfrm>
              <a:off x="2952750" y="9605010"/>
              <a:ext cx="2841696"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mj-lt"/>
                  <a:ea typeface="+mj-ea"/>
                  <a:cs typeface="+mj-cs"/>
                </a:rPr>
                <a:t>3 个月</a:t>
              </a:r>
            </a:p>
          </p:txBody>
        </p:sp>
        <p:sp>
          <p:nvSpPr>
            <p:cNvPr id="40" name="TextBox 40"/>
            <p:cNvSpPr txBox="1"/>
            <p:nvPr/>
          </p:nvSpPr>
          <p:spPr>
            <a:xfrm>
              <a:off x="6460236" y="9721215"/>
              <a:ext cx="1810512" cy="645414"/>
            </a:xfrm>
            <a:prstGeom prst="rect">
              <a:avLst/>
            </a:prstGeom>
            <a:noFill/>
            <a:ln>
              <a:noFill/>
            </a:ln>
          </p:spPr>
          <p:txBody>
            <a:bodyPr wrap="none" lIns="0" tIns="0" rIns="0" bIns="0" anchor="t" anchorCtr="0">
              <a:spAutoFit/>
            </a:bodyPr>
            <a:lstStyle/>
            <a:p>
              <a:pPr algn="l"/>
              <a:r>
                <a:rPr lang="zh-CN" sz="3300" dirty="0">
                  <a:solidFill>
                    <a:schemeClr val="dk1"/>
                  </a:solidFill>
                  <a:latin typeface="+mn-lt"/>
                  <a:ea typeface="+mn-ea"/>
                  <a:cs typeface="+mn-cs"/>
                </a:rPr>
                <a:t>自查一次</a:t>
              </a:r>
            </a:p>
          </p:txBody>
        </p:sp>
        <p:sp>
          <p:nvSpPr>
            <p:cNvPr id="41" name="TextBox 41"/>
            <p:cNvSpPr txBox="1"/>
            <p:nvPr/>
          </p:nvSpPr>
          <p:spPr>
            <a:xfrm>
              <a:off x="6460236" y="10311765"/>
              <a:ext cx="3143250" cy="645414"/>
            </a:xfrm>
            <a:prstGeom prst="rect">
              <a:avLst/>
            </a:prstGeom>
            <a:noFill/>
            <a:ln>
              <a:noFill/>
            </a:ln>
          </p:spPr>
          <p:txBody>
            <a:bodyPr wrap="none" lIns="0" tIns="0" rIns="0" bIns="0" anchor="t" anchorCtr="0">
              <a:spAutoFit/>
            </a:bodyPr>
            <a:lstStyle/>
            <a:p>
              <a:pPr algn="l"/>
              <a:r>
                <a:rPr lang="zh-CN" sz="3300" dirty="0">
                  <a:solidFill>
                    <a:schemeClr val="dk1"/>
                  </a:solidFill>
                  <a:latin typeface="+mn-lt"/>
                  <a:ea typeface="+mn-ea"/>
                  <a:cs typeface="+mn-cs"/>
                </a:rPr>
                <a:t>每年再彻底复核</a:t>
              </a:r>
            </a:p>
          </p:txBody>
        </p:sp>
      </p:grpSp>
      <p:grpSp>
        <p:nvGrpSpPr>
          <p:cNvPr id="44" name="check-steps"/>
          <p:cNvGrpSpPr/>
          <p:nvPr/>
        </p:nvGrpSpPr>
        <p:grpSpPr>
          <a:xfrm>
            <a:off x="1416558" y="11456670"/>
            <a:ext cx="7202424" cy="888492"/>
            <a:chOff x="1416558" y="11456670"/>
            <a:chExt cx="7202424" cy="888492"/>
          </a:xfrm>
        </p:grpSpPr>
        <p:sp>
          <p:nvSpPr>
            <p:cNvPr id="43" name="TextBox 43"/>
            <p:cNvSpPr txBox="1"/>
            <p:nvPr/>
          </p:nvSpPr>
          <p:spPr>
            <a:xfrm>
              <a:off x="1416558" y="11456670"/>
              <a:ext cx="7202424" cy="888492"/>
            </a:xfrm>
            <a:prstGeom prst="rect">
              <a:avLst/>
            </a:prstGeom>
            <a:noFill/>
            <a:ln>
              <a:noFill/>
            </a:ln>
          </p:spPr>
          <p:txBody>
            <a:bodyPr wrap="none" lIns="0" tIns="0" rIns="0" bIns="0" anchor="t" anchorCtr="0">
              <a:spAutoFit/>
            </a:bodyPr>
            <a:lstStyle/>
            <a:p>
              <a:pPr algn="l">
                <a:lnSpc>
                  <a:spcPts val="3300"/>
                </a:lnSpc>
              </a:pPr>
              <a:r>
                <a:rPr lang="zh-CN" sz="2400" dirty="0">
                  <a:solidFill>
                    <a:schemeClr val="accent5"/>
                  </a:solidFill>
                  <a:latin typeface="+mn-lt"/>
                  <a:ea typeface="+mn-ea"/>
                  <a:cs typeface="+mn-cs"/>
                </a:rPr>
                <a:t>检查五步:查箱体 → 逐件查包装与有效期 → 清灰尘</a:t>
              </a:r>
              <a:br/>
              <a:r>
                <a:rPr lang="zh-CN" sz="2400" dirty="0">
                  <a:solidFill>
                    <a:schemeClr val="accent5"/>
                  </a:solidFill>
                  <a:latin typeface="+mn-lt"/>
                  <a:ea typeface="+mn-ea"/>
                  <a:cs typeface="+mn-cs"/>
                </a:rPr>
                <a:t>→ 换掉过期或破损的 → 记下检查时间,把记录留在箱边</a:t>
              </a:r>
            </a:p>
          </p:txBody>
        </p:sp>
      </p:grpSp>
      <p:grpSp>
        <p:nvGrpSpPr>
          <p:cNvPr id="46" name="shelf-life-note"/>
          <p:cNvGrpSpPr/>
          <p:nvPr/>
        </p:nvGrpSpPr>
        <p:grpSpPr>
          <a:xfrm>
            <a:off x="826008" y="12790170"/>
            <a:ext cx="7507224" cy="1231392"/>
            <a:chOff x="826008" y="12790170"/>
            <a:chExt cx="7507224" cy="1231392"/>
          </a:xfrm>
        </p:grpSpPr>
        <p:sp>
          <p:nvSpPr>
            <p:cNvPr id="45" name="TextBox 45"/>
            <p:cNvSpPr txBox="1"/>
            <p:nvPr/>
          </p:nvSpPr>
          <p:spPr>
            <a:xfrm>
              <a:off x="826008" y="12790170"/>
              <a:ext cx="7507224" cy="1231392"/>
            </a:xfrm>
            <a:prstGeom prst="rect">
              <a:avLst/>
            </a:prstGeom>
            <a:noFill/>
            <a:ln>
              <a:noFill/>
            </a:ln>
          </p:spPr>
          <p:txBody>
            <a:bodyPr wrap="none" lIns="0" tIns="0" rIns="0" bIns="0" anchor="t" anchorCtr="0">
              <a:spAutoFit/>
            </a:bodyPr>
            <a:lstStyle/>
            <a:p>
              <a:pPr algn="l">
                <a:lnSpc>
                  <a:spcPts val="3000"/>
                </a:lnSpc>
              </a:pPr>
              <a:r>
                <a:rPr lang="zh-CN" sz="2400" dirty="0">
                  <a:solidFill>
                    <a:schemeClr val="accent5"/>
                  </a:solidFill>
                  <a:latin typeface="+mn-lt"/>
                  <a:ea typeface="+mn-ea"/>
                  <a:cs typeface="+mn-cs"/>
                </a:rPr>
                <a:t>保质期参考:胶带、敷料、纱布、冰袋、手套、剪刀镊子</a:t>
              </a:r>
              <a:br/>
              <a:r>
                <a:rPr lang="zh-CN" sz="2400" dirty="0">
                  <a:solidFill>
                    <a:schemeClr val="accent5"/>
                  </a:solidFill>
                  <a:latin typeface="+mn-lt"/>
                  <a:ea typeface="+mn-ea"/>
                  <a:cs typeface="+mn-cs"/>
                </a:rPr>
                <a:t>包装完好可达 5 年;酒精湿巾、抗生素软膏约 2 年。</a:t>
              </a:r>
              <a:br/>
              <a:r>
                <a:rPr lang="zh-CN" sz="2400" dirty="0">
                  <a:solidFill>
                    <a:schemeClr val="accent5"/>
                  </a:solidFill>
                  <a:latin typeface="+mn-lt"/>
                  <a:ea typeface="+mn-ea"/>
                  <a:cs typeface="+mn-cs"/>
                </a:rPr>
                <a:t>创可贴黏性会下降,纱布包装受潮或变色也要换。</a:t>
              </a:r>
            </a:p>
          </p:txBody>
        </p:sp>
      </p:grpSp>
      <p:grpSp>
        <p:nvGrpSpPr>
          <p:cNvPr id="49" name="page-footer"/>
          <p:cNvGrpSpPr/>
          <p:nvPr/>
        </p:nvGrpSpPr>
        <p:grpSpPr>
          <a:xfrm>
            <a:off x="828294" y="14191298"/>
            <a:ext cx="10173462" cy="705231"/>
            <a:chOff x="828294" y="14191298"/>
            <a:chExt cx="10173462" cy="705231"/>
          </a:xfrm>
        </p:grpSpPr>
        <p:sp>
          <p:nvSpPr>
            <p:cNvPr id="47" name="TextBox 47"/>
            <p:cNvSpPr txBox="1"/>
            <p:nvPr/>
          </p:nvSpPr>
          <p:spPr>
            <a:xfrm>
              <a:off x="828294" y="14191298"/>
              <a:ext cx="6793040" cy="705231"/>
            </a:xfrm>
            <a:prstGeom prst="rect">
              <a:avLst/>
            </a:prstGeom>
            <a:noFill/>
            <a:ln>
              <a:noFill/>
            </a:ln>
          </p:spPr>
          <p:txBody>
            <a:bodyPr wrap="none" lIns="0" tIns="0" rIns="0" bIns="0" anchor="t" anchorCtr="0">
              <a:spAutoFit/>
            </a:bodyPr>
            <a:lstStyle/>
            <a:p>
              <a:pPr algn="l">
                <a:lnSpc>
                  <a:spcPts val="2550"/>
                </a:lnSpc>
              </a:pPr>
              <a:r>
                <a:rPr lang="zh-CN" sz="1950" dirty="0">
                  <a:solidFill>
                    <a:schemeClr val="accent5"/>
                  </a:solidFill>
                  <a:latin typeface="+mn-lt"/>
                  <a:ea typeface="+mn-ea"/>
                  <a:cs typeface="+mn-cs"/>
                </a:rPr>
                <a:t>来源:卫健系统健康科普与北京急救中心药师建议(每 3 个月);</a:t>
              </a:r>
              <a:br/>
              <a:r>
                <a:rPr lang="zh-CN" sz="1950" dirty="0">
                  <a:solidFill>
                    <a:schemeClr val="accent5"/>
                  </a:solidFill>
                  <a:latin typeface="+mn-lt"/>
                  <a:ea typeface="+mn-ea"/>
                  <a:cs typeface="+mn-cs"/>
                </a:rPr>
                <a:t>美国红十字会急救包年度复核与物资保质期参考</a:t>
              </a:r>
            </a:p>
          </p:txBody>
        </p:sp>
        <p:sp>
          <p:nvSpPr>
            <p:cNvPr id="48" name="TextBox 48"/>
            <p:cNvSpPr txBox="1"/>
            <p:nvPr/>
          </p:nvSpPr>
          <p:spPr>
            <a:xfrm>
              <a:off x="10391299" y="14515148"/>
              <a:ext cx="610457" cy="381381"/>
            </a:xfrm>
            <a:prstGeom prst="rect">
              <a:avLst/>
            </a:prstGeom>
            <a:noFill/>
            <a:ln>
              <a:noFill/>
            </a:ln>
          </p:spPr>
          <p:txBody>
            <a:bodyPr wrap="none" lIns="0" tIns="0" rIns="0" bIns="0" anchor="t" anchorCtr="0">
              <a:spAutoFit/>
            </a:bodyPr>
            <a:lstStyle/>
            <a:p>
              <a:pPr algn="r"/>
              <a:r>
                <a:rPr lang="zh-CN" sz="1950" dirty="0">
                  <a:solidFill>
                    <a:schemeClr val="accent5"/>
                  </a:solidFill>
                  <a:latin typeface="+mn-lt"/>
                  <a:ea typeface="+mn-ea"/>
                  <a:cs typeface="+mn-cs"/>
                </a:rPr>
                <a:t>6 / 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par>
                          <p:cTn id="8" fill="hold">
                            <p:stCondLst>
                              <p:cond delay="4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35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par>
                          <p:cTn id="16" fill="hold">
                            <p:stCondLst>
                              <p:cond delay="2350"/>
                            </p:stCondLst>
                            <p:childTnLst>
                              <p:par>
                                <p:cTn xmlns:p="http://schemas.openxmlformats.org/presentationml/2006/main" id="17" presetID="23" presetClass="entr" presetSubtype="16" fill="hold" grpId="0" nodeType="afterEffect">
                                  <p:stCondLst>
                                    <p:cond delay="200"/>
                                  </p:stCondLst>
                                  <p:childTnLst>
                                    <p:set>
                                      <p:cBhvr>
                                        <p:cTn id="18" dur="1" fill="hold">
                                          <p:stCondLst>
                                            <p:cond delay="0"/>
                                          </p:stCondLst>
                                        </p:cTn>
                                        <p:tgtEl>
                                          <p:spTgt spid="42"/>
                                        </p:tgtEl>
                                        <p:attrNameLst>
                                          <p:attrName>style.visibility</p:attrName>
                                        </p:attrNameLst>
                                      </p:cBhvr>
                                      <p:to>
                                        <p:strVal val="visible"/>
                                      </p:to>
                                    </p:set>
                                    <p:anim calcmode="lin" valueType="num">
                                      <p:cBhvr>
                                        <p:cTn id="19" dur="500" fill="hold"/>
                                        <p:tgtEl>
                                          <p:spTgt spid="42"/>
                                        </p:tgtEl>
                                        <p:attrNameLst>
                                          <p:attrName>ppt_w</p:attrName>
                                        </p:attrNameLst>
                                      </p:cBhvr>
                                      <p:tavLst>
                                        <p:tav tm="0">
                                          <p:val>
                                            <p:fltVal val="0"/>
                                          </p:val>
                                        </p:tav>
                                        <p:tav tm="100000">
                                          <p:val>
                                            <p:strVal val="#ppt_w"/>
                                          </p:val>
                                        </p:tav>
                                      </p:tavLst>
                                    </p:anim>
                                    <p:anim calcmode="lin" valueType="num">
                                      <p:cBhvr>
                                        <p:cTn id="20" dur="500" fill="hold"/>
                                        <p:tgtEl>
                                          <p:spTgt spid="42"/>
                                        </p:tgtEl>
                                        <p:attrNameLst>
                                          <p:attrName>ppt_h</p:attrName>
                                        </p:attrNameLst>
                                      </p:cBhvr>
                                      <p:tavLst>
                                        <p:tav tm="0">
                                          <p:val>
                                            <p:fltVal val="0"/>
                                          </p:val>
                                        </p:tav>
                                        <p:tav tm="100000">
                                          <p:val>
                                            <p:strVal val="#ppt_h"/>
                                          </p:val>
                                        </p:tav>
                                      </p:tavLst>
                                    </p:anim>
                                  </p:childTnLst>
                                </p:cTn>
                              </p:par>
                            </p:childTnLst>
                          </p:cTn>
                        </p:par>
                        <p:par>
                          <p:cTn id="21" fill="hold">
                            <p:stCondLst>
                              <p:cond delay="3050"/>
                            </p:stCondLst>
                            <p:childTnLst>
                              <p:par>
                                <p:cTn xmlns:p="http://schemas.openxmlformats.org/presentationml/2006/main" id="22" presetID="22" presetClass="entr" presetSubtype="2" fill="hold" grpId="0" nodeType="afterEffect">
                                  <p:stCondLst>
                                    <p:cond delay="500"/>
                                  </p:stCondLst>
                                  <p:childTnLst>
                                    <p:set>
                                      <p:cBhvr>
                                        <p:cTn id="23" dur="1" fill="hold">
                                          <p:stCondLst>
                                            <p:cond delay="0"/>
                                          </p:stCondLst>
                                        </p:cTn>
                                        <p:tgtEl>
                                          <p:spTgt spid="44"/>
                                        </p:tgtEl>
                                        <p:attrNameLst>
                                          <p:attrName>style.visibility</p:attrName>
                                        </p:attrNameLst>
                                      </p:cBhvr>
                                      <p:to>
                                        <p:strVal val="visible"/>
                                      </p:to>
                                    </p:set>
                                    <p:animEffect transition="in" filter="wipe(right)">
                                      <p:cBhvr>
                                        <p:cTn id="24" dur="500"/>
                                        <p:tgtEl>
                                          <p:spTgt spid="44"/>
                                        </p:tgtEl>
                                      </p:cBhvr>
                                    </p:animEffect>
                                  </p:childTnLst>
                                </p:cTn>
                              </p:par>
                            </p:childTnLst>
                          </p:cTn>
                        </p:par>
                        <p:par>
                          <p:cTn id="25" fill="hold">
                            <p:stCondLst>
                              <p:cond delay="4050"/>
                            </p:stCondLst>
                            <p:childTnLst>
                              <p:par>
                                <p:cTn xmlns:p="http://schemas.openxmlformats.org/presentationml/2006/main" id="26" presetID="10" presetClass="entr" presetSubtype="0" fill="hold" grpId="0" nodeType="afterEffect">
                                  <p:stCondLst>
                                    <p:cond delay="20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rail"/>
          <p:cNvSpPr/>
          <p:nvPr/>
        </p:nvSpPr>
        <p:spPr>
          <a:xfrm>
            <a:off x="514350" y="838200"/>
            <a:ext cx="28575" cy="14135100"/>
          </a:xfrm>
          <a:prstGeom prst="rect">
            <a:avLst/>
          </a:prstGeom>
          <a:solidFill>
            <a:schemeClr val="accent1">
              <a:alpha val="30000"/>
            </a:schemeClr>
          </a:solidFill>
          <a:ln>
            <a:noFill/>
          </a:ln>
        </p:spPr>
      </p:sp>
      <p:grpSp>
        <p:nvGrpSpPr>
          <p:cNvPr id="4" name="!!rail-marker"/>
          <p:cNvGrpSpPr/>
          <p:nvPr/>
        </p:nvGrpSpPr>
        <p:grpSpPr>
          <a:xfrm>
            <a:off x="404812" y="10715625"/>
            <a:ext cx="247650" cy="247650"/>
            <a:chOff x="404812" y="10715625"/>
            <a:chExt cx="247650" cy="247650"/>
          </a:xfrm>
        </p:grpSpPr>
        <p:sp>
          <p:nvSpPr>
            <p:cNvPr id="3" name="Ellipse 3"/>
            <p:cNvSpPr/>
            <p:nvPr/>
          </p:nvSpPr>
          <p:spPr>
            <a:xfrm>
              <a:off x="404812" y="10715625"/>
              <a:ext cx="247650" cy="247650"/>
            </a:xfrm>
            <a:prstGeom prst="ellipse">
              <a:avLst/>
            </a:prstGeom>
            <a:solidFill>
              <a:schemeClr val="accent2"/>
            </a:solidFill>
            <a:ln>
              <a:noFill/>
            </a:ln>
          </p:spPr>
        </p:sp>
      </p:grpSp>
      <p:grpSp>
        <p:nvGrpSpPr>
          <p:cNvPr id="6" name="page-kicker"/>
          <p:cNvGrpSpPr/>
          <p:nvPr/>
        </p:nvGrpSpPr>
        <p:grpSpPr>
          <a:xfrm>
            <a:off x="824484" y="984885"/>
            <a:ext cx="2785529" cy="528066"/>
            <a:chOff x="824484" y="984885"/>
            <a:chExt cx="2785529" cy="528066"/>
          </a:xfrm>
        </p:grpSpPr>
        <p:sp>
          <p:nvSpPr>
            <p:cNvPr id="5" name="TextBox 5"/>
            <p:cNvSpPr txBox="1"/>
            <p:nvPr/>
          </p:nvSpPr>
          <p:spPr>
            <a:xfrm>
              <a:off x="824484" y="984885"/>
              <a:ext cx="2785529" cy="528066"/>
            </a:xfrm>
            <a:prstGeom prst="rect">
              <a:avLst/>
            </a:prstGeom>
            <a:noFill/>
            <a:ln>
              <a:noFill/>
            </a:ln>
          </p:spPr>
          <p:txBody>
            <a:bodyPr wrap="none" lIns="0" tIns="0" rIns="0" bIns="0" anchor="t" anchorCtr="0">
              <a:spAutoFit/>
            </a:bodyPr>
            <a:lstStyle/>
            <a:p>
              <a:pPr algn="l"/>
              <a:r>
                <a:rPr lang="zh-CN" sz="2700" spc="150" dirty="0">
                  <a:solidFill>
                    <a:schemeClr val="accent1"/>
                  </a:solidFill>
                  <a:latin typeface="+mn-lt"/>
                  <a:ea typeface="+mn-ea"/>
                  <a:cs typeface="+mn-cs"/>
                </a:rPr>
                <a:t>现场 · 割伤出血</a:t>
              </a:r>
            </a:p>
          </p:txBody>
        </p:sp>
      </p:grpSp>
      <p:grpSp>
        <p:nvGrpSpPr>
          <p:cNvPr id="8" name="!!page-title"/>
          <p:cNvGrpSpPr/>
          <p:nvPr/>
        </p:nvGrpSpPr>
        <p:grpSpPr>
          <a:xfrm>
            <a:off x="819150" y="1733550"/>
            <a:ext cx="6499860" cy="1162050"/>
            <a:chOff x="819150" y="1733550"/>
            <a:chExt cx="6499860" cy="1162050"/>
          </a:xfrm>
        </p:grpSpPr>
        <p:sp>
          <p:nvSpPr>
            <p:cNvPr id="7" name="TextBox 7"/>
            <p:cNvSpPr txBox="1"/>
            <p:nvPr/>
          </p:nvSpPr>
          <p:spPr>
            <a:xfrm>
              <a:off x="819150" y="1733550"/>
              <a:ext cx="6499860" cy="1162050"/>
            </a:xfrm>
            <a:prstGeom prst="rect">
              <a:avLst/>
            </a:prstGeom>
            <a:noFill/>
            <a:ln>
              <a:noFill/>
            </a:ln>
          </p:spPr>
          <p:txBody>
            <a:bodyPr wrap="none" lIns="0" tIns="0" rIns="0" bIns="0" anchor="t" anchorCtr="0">
              <a:spAutoFit/>
            </a:bodyPr>
            <a:lstStyle/>
            <a:p>
              <a:pPr algn="l"/>
              <a:r>
                <a:rPr lang="zh-CN" sz="6000" b="1" dirty="0">
                  <a:solidFill>
                    <a:schemeClr val="dk1"/>
                  </a:solidFill>
                  <a:latin typeface="+mj-lt"/>
                  <a:ea typeface="+mj-ea"/>
                  <a:cs typeface="+mj-cs"/>
                </a:rPr>
                <a:t>割伤出血怎么处理</a:t>
              </a:r>
            </a:p>
          </p:txBody>
        </p:sp>
      </p:grpSp>
      <p:grpSp>
        <p:nvGrpSpPr>
          <p:cNvPr id="10" name="page-lead"/>
          <p:cNvGrpSpPr/>
          <p:nvPr/>
        </p:nvGrpSpPr>
        <p:grpSpPr>
          <a:xfrm>
            <a:off x="819150" y="3007995"/>
            <a:ext cx="8917467" cy="762000"/>
            <a:chOff x="819150" y="3007995"/>
            <a:chExt cx="8917467" cy="762000"/>
          </a:xfrm>
        </p:grpSpPr>
        <p:sp>
          <p:nvSpPr>
            <p:cNvPr id="9" name="TextBox 9"/>
            <p:cNvSpPr txBox="1"/>
            <p:nvPr/>
          </p:nvSpPr>
          <p:spPr>
            <a:xfrm>
              <a:off x="819150" y="3007995"/>
              <a:ext cx="8917467" cy="762000"/>
            </a:xfrm>
            <a:prstGeom prst="rect">
              <a:avLst/>
            </a:prstGeom>
            <a:noFill/>
            <a:ln>
              <a:noFill/>
            </a:ln>
          </p:spPr>
          <p:txBody>
            <a:bodyPr wrap="none" lIns="0" tIns="0" rIns="0" bIns="0" anchor="t" anchorCtr="0">
              <a:spAutoFit/>
            </a:bodyPr>
            <a:lstStyle/>
            <a:p>
              <a:pPr algn="l"/>
              <a:r>
                <a:rPr lang="zh-CN" sz="3900" dirty="0">
                  <a:solidFill>
                    <a:schemeClr val="dk1"/>
                  </a:solidFill>
                  <a:latin typeface="+mn-lt"/>
                  <a:ea typeface="+mn-ea"/>
                  <a:cs typeface="+mn-cs"/>
                </a:rPr>
                <a:t>小伤口先冲洗;大出血</a:t>
              </a:r>
              <a:r>
                <a:rPr lang="zh-CN" sz="3900" b="1" dirty="0">
                  <a:solidFill>
                    <a:srgbClr val="C0392B"/>
                  </a:solidFill>
                  <a:latin typeface="+mn-lt"/>
                  <a:ea typeface="+mn-ea"/>
                  <a:cs typeface="+mn-cs"/>
                </a:rPr>
                <a:t>先打 120 再压</a:t>
              </a:r>
              <a:r>
                <a:rPr lang="zh-CN" sz="3900" dirty="0">
                  <a:solidFill>
                    <a:schemeClr val="dk1"/>
                  </a:solidFill>
                  <a:latin typeface="+mn-lt"/>
                  <a:ea typeface="+mn-ea"/>
                  <a:cs typeface="+mn-cs"/>
                </a:rPr>
                <a:t>。</a:t>
              </a:r>
            </a:p>
          </p:txBody>
        </p:sp>
      </p:grpSp>
      <p:grpSp>
        <p:nvGrpSpPr>
          <p:cNvPr id="15" name="branch-decision"/>
          <p:cNvGrpSpPr/>
          <p:nvPr/>
        </p:nvGrpSpPr>
        <p:grpSpPr>
          <a:xfrm>
            <a:off x="838200" y="3905250"/>
            <a:ext cx="10067925" cy="1531559"/>
            <a:chOff x="838200" y="3905250"/>
            <a:chExt cx="10067925" cy="1531559"/>
          </a:xfrm>
        </p:grpSpPr>
        <p:sp>
          <p:nvSpPr>
            <p:cNvPr id="11" name="Freeform 11"/>
            <p:cNvSpPr/>
            <p:nvPr/>
          </p:nvSpPr>
          <p:spPr>
            <a:xfrm>
              <a:off x="838200" y="3905250"/>
              <a:ext cx="2857500" cy="876300"/>
            </a:xfrm>
            <a:prstGeom prst="flowChartDecision">
              <a:avLst/>
            </a:prstGeom>
            <a:solidFill>
              <a:schemeClr val="accent3"/>
            </a:solidFill>
            <a:ln w="28575">
              <a:solidFill>
                <a:schemeClr val="dk1"/>
              </a:solidFill>
            </a:ln>
          </p:spPr>
        </p:sp>
        <p:sp>
          <p:nvSpPr>
            <p:cNvPr id="12" name="TextBox 12"/>
            <p:cNvSpPr txBox="1"/>
            <p:nvPr/>
          </p:nvSpPr>
          <p:spPr>
            <a:xfrm>
              <a:off x="1708023" y="4185285"/>
              <a:ext cx="1117854" cy="528066"/>
            </a:xfrm>
            <a:prstGeom prst="rect">
              <a:avLst/>
            </a:prstGeom>
            <a:noFill/>
            <a:ln>
              <a:noFill/>
            </a:ln>
          </p:spPr>
          <p:txBody>
            <a:bodyPr wrap="none" lIns="0" tIns="0" rIns="0" bIns="0" anchor="t" anchorCtr="0">
              <a:spAutoFit/>
            </a:bodyPr>
            <a:lstStyle/>
            <a:p>
              <a:pPr algn="ctr"/>
              <a:r>
                <a:rPr lang="zh-CN" sz="2700" b="1" dirty="0">
                  <a:solidFill>
                    <a:schemeClr val="dk1"/>
                  </a:solidFill>
                  <a:latin typeface="+mn-lt"/>
                  <a:ea typeface="+mn-ea"/>
                  <a:cs typeface="+mn-cs"/>
                </a:rPr>
                <a:t>先判断</a:t>
              </a:r>
            </a:p>
          </p:txBody>
        </p:sp>
        <p:sp>
          <p:nvSpPr>
            <p:cNvPr id="13" name="TextBox 13"/>
            <p:cNvSpPr txBox="1"/>
            <p:nvPr/>
          </p:nvSpPr>
          <p:spPr>
            <a:xfrm>
              <a:off x="3983736" y="4101465"/>
              <a:ext cx="4520413" cy="645414"/>
            </a:xfrm>
            <a:prstGeom prst="rect">
              <a:avLst/>
            </a:prstGeom>
            <a:noFill/>
            <a:ln>
              <a:noFill/>
            </a:ln>
          </p:spPr>
          <p:txBody>
            <a:bodyPr wrap="none" lIns="0" tIns="0" rIns="0" bIns="0" anchor="t" anchorCtr="0">
              <a:spAutoFit/>
            </a:bodyPr>
            <a:lstStyle/>
            <a:p>
              <a:pPr algn="l"/>
              <a:r>
                <a:rPr lang="zh-CN" sz="3300" dirty="0">
                  <a:solidFill>
                    <a:schemeClr val="dk1"/>
                  </a:solidFill>
                  <a:latin typeface="+mn-lt"/>
                  <a:ea typeface="+mn-ea"/>
                  <a:cs typeface="+mn-cs"/>
                </a:rPr>
                <a:t>伤口深不深?止得住吗?</a:t>
              </a:r>
            </a:p>
          </p:txBody>
        </p:sp>
        <p:pic>
          <p:nvPicPr>
            <p:cNvPr id="14" name="Image 14"/>
            <p:cNvPicPr>
              <a:picLocks noChangeAspect="1"/>
            </p:cNvPicPr>
            <p:nvPr/>
          </p:nvPicPr>
          <p:blipFill>
            <a:blip r:embed="rId2"/>
            <a:stretch>
              <a:fillRect/>
            </a:stretch>
          </p:blipFill>
          <p:spPr>
            <a:xfrm>
              <a:off x="9334500" y="3907216"/>
              <a:ext cx="1571625" cy="1529593"/>
            </a:xfrm>
            <a:prstGeom prst="rect">
              <a:avLst/>
            </a:prstGeom>
          </p:spPr>
        </p:pic>
      </p:grpSp>
      <p:cxnSp>
        <p:nvCxnSpPr>
          <p:cNvPr id="16" name="Freeform 16"/>
          <p:cNvCxnSpPr/>
          <p:nvPr/>
        </p:nvCxnSpPr>
        <p:spPr>
          <a:xfrm>
            <a:off x="2266950" y="4781550"/>
            <a:ext cx="1047750" cy="895350"/>
          </a:xfrm>
          <a:prstGeom prst="straightConnector1">
            <a:avLst/>
          </a:prstGeom>
          <a:noFill/>
          <a:ln w="28575">
            <a:solidFill>
              <a:schemeClr val="dk1"/>
            </a:solidFill>
          </a:ln>
        </p:spPr>
      </p:cxnSp>
      <p:cxnSp>
        <p:nvCxnSpPr>
          <p:cNvPr id="17" name="Freeform 17"/>
          <p:cNvCxnSpPr/>
          <p:nvPr/>
        </p:nvCxnSpPr>
        <p:spPr>
          <a:xfrm>
            <a:off x="3695700" y="4343400"/>
            <a:ext cx="4810125" cy="1333500"/>
          </a:xfrm>
          <a:prstGeom prst="bentConnector3">
            <a:avLst/>
          </a:prstGeom>
          <a:noFill/>
          <a:ln w="28575">
            <a:solidFill>
              <a:schemeClr val="dk1"/>
            </a:solidFill>
          </a:ln>
        </p:spPr>
      </p:cxnSp>
      <p:grpSp>
        <p:nvGrpSpPr>
          <p:cNvPr id="20" name="minor-header"/>
          <p:cNvGrpSpPr/>
          <p:nvPr/>
        </p:nvGrpSpPr>
        <p:grpSpPr>
          <a:xfrm>
            <a:off x="838200" y="5676900"/>
            <a:ext cx="4962525" cy="803529"/>
            <a:chOff x="838200" y="5676900"/>
            <a:chExt cx="4962525" cy="803529"/>
          </a:xfrm>
        </p:grpSpPr>
        <p:sp>
          <p:nvSpPr>
            <p:cNvPr id="18" name="Freeform 18"/>
            <p:cNvSpPr/>
            <p:nvPr/>
          </p:nvSpPr>
          <p:spPr>
            <a:xfrm>
              <a:off x="838200" y="5676900"/>
              <a:ext cx="4962525" cy="762000"/>
            </a:xfrm>
            <a:prstGeom prst="homePlate">
              <a:avLst/>
            </a:prstGeom>
            <a:solidFill>
              <a:srgbClr val="3F8F5B"/>
            </a:solidFill>
            <a:ln>
              <a:noFill/>
            </a:ln>
          </p:spPr>
        </p:sp>
        <p:sp>
          <p:nvSpPr>
            <p:cNvPr id="19" name="TextBox 19"/>
            <p:cNvSpPr txBox="1"/>
            <p:nvPr/>
          </p:nvSpPr>
          <p:spPr>
            <a:xfrm>
              <a:off x="1387356" y="5835015"/>
              <a:ext cx="3283187" cy="645414"/>
            </a:xfrm>
            <a:prstGeom prst="rect">
              <a:avLst/>
            </a:prstGeom>
            <a:noFill/>
            <a:ln>
              <a:noFill/>
            </a:ln>
          </p:spPr>
          <p:txBody>
            <a:bodyPr wrap="none" lIns="0" tIns="0" rIns="0" bIns="0" anchor="t" anchorCtr="0">
              <a:spAutoFit/>
            </a:bodyPr>
            <a:lstStyle/>
            <a:p>
              <a:pPr algn="ctr"/>
              <a:r>
                <a:rPr lang="zh-CN" sz="3300" b="1" dirty="0">
                  <a:solidFill>
                    <a:srgbClr val="FBF6EC"/>
                  </a:solidFill>
                  <a:latin typeface="+mn-lt"/>
                  <a:ea typeface="+mn-ea"/>
                  <a:cs typeface="+mn-cs"/>
                </a:rPr>
                <a:t>小伤口 自己处理</a:t>
              </a:r>
            </a:p>
          </p:txBody>
        </p:sp>
      </p:grpSp>
      <p:grpSp>
        <p:nvGrpSpPr>
          <p:cNvPr id="25" name="minor-step-1"/>
          <p:cNvGrpSpPr/>
          <p:nvPr/>
        </p:nvGrpSpPr>
        <p:grpSpPr>
          <a:xfrm>
            <a:off x="838200" y="6629400"/>
            <a:ext cx="4962525" cy="876300"/>
            <a:chOff x="838200" y="6629400"/>
            <a:chExt cx="4962525" cy="876300"/>
          </a:xfrm>
        </p:grpSpPr>
        <p:sp>
          <p:nvSpPr>
            <p:cNvPr id="21" name="Rectangle 21"/>
            <p:cNvSpPr/>
            <p:nvPr/>
          </p:nvSpPr>
          <p:spPr>
            <a:xfrm>
              <a:off x="838200" y="6629400"/>
              <a:ext cx="4962525" cy="876300"/>
            </a:xfrm>
            <a:prstGeom prst="roundRect">
              <a:avLst>
                <a:gd name="adj" fmla="val 21739"/>
              </a:avLst>
            </a:prstGeom>
            <a:solidFill>
              <a:srgbClr val="FFFDF7"/>
            </a:solidFill>
            <a:ln w="19050">
              <a:solidFill>
                <a:srgbClr val="3F8F5B"/>
              </a:solidFill>
            </a:ln>
          </p:spPr>
        </p:sp>
        <p:sp>
          <p:nvSpPr>
            <p:cNvPr id="22" name="Ellipse 22"/>
            <p:cNvSpPr/>
            <p:nvPr/>
          </p:nvSpPr>
          <p:spPr>
            <a:xfrm>
              <a:off x="1028700" y="6838950"/>
              <a:ext cx="457200" cy="457200"/>
            </a:xfrm>
            <a:prstGeom prst="ellipse">
              <a:avLst/>
            </a:prstGeom>
            <a:solidFill>
              <a:srgbClr val="3F8F5B"/>
            </a:solidFill>
            <a:ln>
              <a:noFill/>
            </a:ln>
          </p:spPr>
        </p:sp>
        <p:sp>
          <p:nvSpPr>
            <p:cNvPr id="23" name="TextBox 23"/>
            <p:cNvSpPr txBox="1"/>
            <p:nvPr/>
          </p:nvSpPr>
          <p:spPr>
            <a:xfrm>
              <a:off x="1151816" y="6922770"/>
              <a:ext cx="210967" cy="469392"/>
            </a:xfrm>
            <a:prstGeom prst="rect">
              <a:avLst/>
            </a:prstGeom>
            <a:noFill/>
            <a:ln>
              <a:noFill/>
            </a:ln>
          </p:spPr>
          <p:txBody>
            <a:bodyPr wrap="none" lIns="0" tIns="0" rIns="0" bIns="0" anchor="t" anchorCtr="0">
              <a:spAutoFit/>
            </a:bodyPr>
            <a:lstStyle/>
            <a:p>
              <a:pPr algn="ctr"/>
              <a:r>
                <a:rPr lang="zh-CN" sz="2400" b="1" dirty="0">
                  <a:solidFill>
                    <a:srgbClr val="FBF6EC"/>
                  </a:solidFill>
                  <a:latin typeface="+mn-lt"/>
                  <a:ea typeface="+mn-ea"/>
                  <a:cs typeface="+mn-cs"/>
                </a:rPr>
                <a:t>1</a:t>
              </a:r>
            </a:p>
          </p:txBody>
        </p:sp>
        <p:sp>
          <p:nvSpPr>
            <p:cNvPr id="24" name="TextBox 24"/>
            <p:cNvSpPr txBox="1"/>
            <p:nvPr/>
          </p:nvSpPr>
          <p:spPr>
            <a:xfrm>
              <a:off x="1664208" y="6922770"/>
              <a:ext cx="310987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洗手,流动清水冲伤口</a:t>
              </a:r>
            </a:p>
          </p:txBody>
        </p:sp>
      </p:grpSp>
      <p:grpSp>
        <p:nvGrpSpPr>
          <p:cNvPr id="31" name="minor-step-2"/>
          <p:cNvGrpSpPr/>
          <p:nvPr/>
        </p:nvGrpSpPr>
        <p:grpSpPr>
          <a:xfrm>
            <a:off x="838200" y="7543800"/>
            <a:ext cx="4962525" cy="1085850"/>
            <a:chOff x="838200" y="7543800"/>
            <a:chExt cx="4962525" cy="1085850"/>
          </a:xfrm>
        </p:grpSpPr>
        <p:sp>
          <p:nvSpPr>
            <p:cNvPr id="26" name="Line 26"/>
            <p:cNvSpPr/>
            <p:nvPr/>
          </p:nvSpPr>
          <p:spPr>
            <a:xfrm>
              <a:off x="3314700" y="7543800"/>
              <a:ext cx="1" cy="171450"/>
            </a:xfrm>
            <a:prstGeom prst="line">
              <a:avLst/>
            </a:prstGeom>
            <a:noFill/>
            <a:ln w="28575">
              <a:solidFill>
                <a:schemeClr val="dk1"/>
              </a:solidFill>
              <a:tailEnd type="triangle" w="lg" len="lg"/>
            </a:ln>
          </p:spPr>
        </p:sp>
        <p:sp>
          <p:nvSpPr>
            <p:cNvPr id="27" name="Rectangle 27"/>
            <p:cNvSpPr/>
            <p:nvPr/>
          </p:nvSpPr>
          <p:spPr>
            <a:xfrm>
              <a:off x="838200" y="7753350"/>
              <a:ext cx="4962525" cy="876300"/>
            </a:xfrm>
            <a:prstGeom prst="roundRect">
              <a:avLst>
                <a:gd name="adj" fmla="val 21739"/>
              </a:avLst>
            </a:prstGeom>
            <a:solidFill>
              <a:srgbClr val="FFFDF7"/>
            </a:solidFill>
            <a:ln w="19050">
              <a:solidFill>
                <a:srgbClr val="3F8F5B"/>
              </a:solidFill>
            </a:ln>
          </p:spPr>
        </p:sp>
        <p:sp>
          <p:nvSpPr>
            <p:cNvPr id="28" name="Ellipse 28"/>
            <p:cNvSpPr/>
            <p:nvPr/>
          </p:nvSpPr>
          <p:spPr>
            <a:xfrm>
              <a:off x="1028700" y="7962900"/>
              <a:ext cx="457200" cy="457200"/>
            </a:xfrm>
            <a:prstGeom prst="ellipse">
              <a:avLst/>
            </a:prstGeom>
            <a:solidFill>
              <a:srgbClr val="3F8F5B"/>
            </a:solidFill>
            <a:ln>
              <a:noFill/>
            </a:ln>
          </p:spPr>
        </p:sp>
        <p:sp>
          <p:nvSpPr>
            <p:cNvPr id="29" name="TextBox 29"/>
            <p:cNvSpPr txBox="1"/>
            <p:nvPr/>
          </p:nvSpPr>
          <p:spPr>
            <a:xfrm>
              <a:off x="1151816" y="8046720"/>
              <a:ext cx="210967" cy="469392"/>
            </a:xfrm>
            <a:prstGeom prst="rect">
              <a:avLst/>
            </a:prstGeom>
            <a:noFill/>
            <a:ln>
              <a:noFill/>
            </a:ln>
          </p:spPr>
          <p:txBody>
            <a:bodyPr wrap="none" lIns="0" tIns="0" rIns="0" bIns="0" anchor="t" anchorCtr="0">
              <a:spAutoFit/>
            </a:bodyPr>
            <a:lstStyle/>
            <a:p>
              <a:pPr algn="ctr"/>
              <a:r>
                <a:rPr lang="zh-CN" sz="2400" b="1" dirty="0">
                  <a:solidFill>
                    <a:srgbClr val="FBF6EC"/>
                  </a:solidFill>
                  <a:latin typeface="+mn-lt"/>
                  <a:ea typeface="+mn-ea"/>
                  <a:cs typeface="+mn-cs"/>
                </a:rPr>
                <a:t>2</a:t>
              </a:r>
            </a:p>
          </p:txBody>
        </p:sp>
        <p:sp>
          <p:nvSpPr>
            <p:cNvPr id="30" name="TextBox 30"/>
            <p:cNvSpPr txBox="1"/>
            <p:nvPr/>
          </p:nvSpPr>
          <p:spPr>
            <a:xfrm>
              <a:off x="1664208" y="8046720"/>
              <a:ext cx="310987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肥皂洗周围,别进伤口</a:t>
              </a:r>
            </a:p>
          </p:txBody>
        </p:sp>
      </p:grpSp>
      <p:grpSp>
        <p:nvGrpSpPr>
          <p:cNvPr id="37" name="minor-step-3"/>
          <p:cNvGrpSpPr/>
          <p:nvPr/>
        </p:nvGrpSpPr>
        <p:grpSpPr>
          <a:xfrm>
            <a:off x="838200" y="8667750"/>
            <a:ext cx="4962525" cy="1085850"/>
            <a:chOff x="838200" y="8667750"/>
            <a:chExt cx="4962525" cy="1085850"/>
          </a:xfrm>
        </p:grpSpPr>
        <p:sp>
          <p:nvSpPr>
            <p:cNvPr id="32" name="Line 32"/>
            <p:cNvSpPr/>
            <p:nvPr/>
          </p:nvSpPr>
          <p:spPr>
            <a:xfrm>
              <a:off x="3314700" y="8667750"/>
              <a:ext cx="1" cy="171450"/>
            </a:xfrm>
            <a:prstGeom prst="line">
              <a:avLst/>
            </a:prstGeom>
            <a:noFill/>
            <a:ln w="28575">
              <a:solidFill>
                <a:schemeClr val="dk1"/>
              </a:solidFill>
              <a:tailEnd type="triangle" w="lg" len="lg"/>
            </a:ln>
          </p:spPr>
        </p:sp>
        <p:sp>
          <p:nvSpPr>
            <p:cNvPr id="33" name="Rectangle 33"/>
            <p:cNvSpPr/>
            <p:nvPr/>
          </p:nvSpPr>
          <p:spPr>
            <a:xfrm>
              <a:off x="838200" y="8877300"/>
              <a:ext cx="4962525" cy="876300"/>
            </a:xfrm>
            <a:prstGeom prst="roundRect">
              <a:avLst>
                <a:gd name="adj" fmla="val 21739"/>
              </a:avLst>
            </a:prstGeom>
            <a:solidFill>
              <a:srgbClr val="FFFDF7"/>
            </a:solidFill>
            <a:ln w="19050">
              <a:solidFill>
                <a:srgbClr val="3F8F5B"/>
              </a:solidFill>
            </a:ln>
          </p:spPr>
        </p:sp>
        <p:sp>
          <p:nvSpPr>
            <p:cNvPr id="34" name="Ellipse 34"/>
            <p:cNvSpPr/>
            <p:nvPr/>
          </p:nvSpPr>
          <p:spPr>
            <a:xfrm>
              <a:off x="1028700" y="9086850"/>
              <a:ext cx="457200" cy="457200"/>
            </a:xfrm>
            <a:prstGeom prst="ellipse">
              <a:avLst/>
            </a:prstGeom>
            <a:solidFill>
              <a:srgbClr val="3F8F5B"/>
            </a:solidFill>
            <a:ln>
              <a:noFill/>
            </a:ln>
          </p:spPr>
        </p:sp>
        <p:sp>
          <p:nvSpPr>
            <p:cNvPr id="35" name="TextBox 35"/>
            <p:cNvSpPr txBox="1"/>
            <p:nvPr/>
          </p:nvSpPr>
          <p:spPr>
            <a:xfrm>
              <a:off x="1151816" y="9170670"/>
              <a:ext cx="210967" cy="469392"/>
            </a:xfrm>
            <a:prstGeom prst="rect">
              <a:avLst/>
            </a:prstGeom>
            <a:noFill/>
            <a:ln>
              <a:noFill/>
            </a:ln>
          </p:spPr>
          <p:txBody>
            <a:bodyPr wrap="none" lIns="0" tIns="0" rIns="0" bIns="0" anchor="t" anchorCtr="0">
              <a:spAutoFit/>
            </a:bodyPr>
            <a:lstStyle/>
            <a:p>
              <a:pPr algn="ctr"/>
              <a:r>
                <a:rPr lang="zh-CN" sz="2400" b="1" dirty="0">
                  <a:solidFill>
                    <a:srgbClr val="FBF6EC"/>
                  </a:solidFill>
                  <a:latin typeface="+mn-lt"/>
                  <a:ea typeface="+mn-ea"/>
                  <a:cs typeface="+mn-cs"/>
                </a:rPr>
                <a:t>3</a:t>
              </a:r>
            </a:p>
          </p:txBody>
        </p:sp>
        <p:sp>
          <p:nvSpPr>
            <p:cNvPr id="36" name="TextBox 36"/>
            <p:cNvSpPr txBox="1"/>
            <p:nvPr/>
          </p:nvSpPr>
          <p:spPr>
            <a:xfrm>
              <a:off x="1664208" y="9170670"/>
              <a:ext cx="310987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碘伏消伤口,由内向外</a:t>
              </a:r>
            </a:p>
          </p:txBody>
        </p:sp>
      </p:grpSp>
      <p:grpSp>
        <p:nvGrpSpPr>
          <p:cNvPr id="43" name="minor-step-4"/>
          <p:cNvGrpSpPr/>
          <p:nvPr/>
        </p:nvGrpSpPr>
        <p:grpSpPr>
          <a:xfrm>
            <a:off x="838200" y="9791700"/>
            <a:ext cx="4962525" cy="1085850"/>
            <a:chOff x="838200" y="9791700"/>
            <a:chExt cx="4962525" cy="1085850"/>
          </a:xfrm>
        </p:grpSpPr>
        <p:sp>
          <p:nvSpPr>
            <p:cNvPr id="38" name="Line 38"/>
            <p:cNvSpPr/>
            <p:nvPr/>
          </p:nvSpPr>
          <p:spPr>
            <a:xfrm>
              <a:off x="3314700" y="9791700"/>
              <a:ext cx="1" cy="171450"/>
            </a:xfrm>
            <a:prstGeom prst="line">
              <a:avLst/>
            </a:prstGeom>
            <a:noFill/>
            <a:ln w="28575">
              <a:solidFill>
                <a:schemeClr val="dk1"/>
              </a:solidFill>
              <a:tailEnd type="triangle" w="lg" len="lg"/>
            </a:ln>
          </p:spPr>
        </p:sp>
        <p:sp>
          <p:nvSpPr>
            <p:cNvPr id="39" name="Rectangle 39"/>
            <p:cNvSpPr/>
            <p:nvPr/>
          </p:nvSpPr>
          <p:spPr>
            <a:xfrm>
              <a:off x="838200" y="10001250"/>
              <a:ext cx="4962525" cy="876300"/>
            </a:xfrm>
            <a:prstGeom prst="roundRect">
              <a:avLst>
                <a:gd name="adj" fmla="val 21739"/>
              </a:avLst>
            </a:prstGeom>
            <a:solidFill>
              <a:srgbClr val="FFFDF7"/>
            </a:solidFill>
            <a:ln w="19050">
              <a:solidFill>
                <a:srgbClr val="3F8F5B"/>
              </a:solidFill>
            </a:ln>
          </p:spPr>
        </p:sp>
        <p:sp>
          <p:nvSpPr>
            <p:cNvPr id="40" name="Ellipse 40"/>
            <p:cNvSpPr/>
            <p:nvPr/>
          </p:nvSpPr>
          <p:spPr>
            <a:xfrm>
              <a:off x="1028700" y="10210800"/>
              <a:ext cx="457200" cy="457200"/>
            </a:xfrm>
            <a:prstGeom prst="ellipse">
              <a:avLst/>
            </a:prstGeom>
            <a:solidFill>
              <a:srgbClr val="3F8F5B"/>
            </a:solidFill>
            <a:ln>
              <a:noFill/>
            </a:ln>
          </p:spPr>
        </p:sp>
        <p:sp>
          <p:nvSpPr>
            <p:cNvPr id="41" name="TextBox 41"/>
            <p:cNvSpPr txBox="1"/>
            <p:nvPr/>
          </p:nvSpPr>
          <p:spPr>
            <a:xfrm>
              <a:off x="1151816" y="10294620"/>
              <a:ext cx="210967" cy="469392"/>
            </a:xfrm>
            <a:prstGeom prst="rect">
              <a:avLst/>
            </a:prstGeom>
            <a:noFill/>
            <a:ln>
              <a:noFill/>
            </a:ln>
          </p:spPr>
          <p:txBody>
            <a:bodyPr wrap="none" lIns="0" tIns="0" rIns="0" bIns="0" anchor="t" anchorCtr="0">
              <a:spAutoFit/>
            </a:bodyPr>
            <a:lstStyle/>
            <a:p>
              <a:pPr algn="ctr"/>
              <a:r>
                <a:rPr lang="zh-CN" sz="2400" b="1" dirty="0">
                  <a:solidFill>
                    <a:srgbClr val="FBF6EC"/>
                  </a:solidFill>
                  <a:latin typeface="+mn-lt"/>
                  <a:ea typeface="+mn-ea"/>
                  <a:cs typeface="+mn-cs"/>
                </a:rPr>
                <a:t>4</a:t>
              </a:r>
            </a:p>
          </p:txBody>
        </p:sp>
        <p:sp>
          <p:nvSpPr>
            <p:cNvPr id="42" name="TextBox 42"/>
            <p:cNvSpPr txBox="1"/>
            <p:nvPr/>
          </p:nvSpPr>
          <p:spPr>
            <a:xfrm>
              <a:off x="1664208" y="10294620"/>
              <a:ext cx="310987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薄涂软膏,再盖上纱布</a:t>
              </a:r>
            </a:p>
          </p:txBody>
        </p:sp>
      </p:grpSp>
      <p:grpSp>
        <p:nvGrpSpPr>
          <p:cNvPr id="46" name="major-header"/>
          <p:cNvGrpSpPr/>
          <p:nvPr/>
        </p:nvGrpSpPr>
        <p:grpSpPr>
          <a:xfrm>
            <a:off x="6029325" y="5676900"/>
            <a:ext cx="4962525" cy="803529"/>
            <a:chOff x="6029325" y="5676900"/>
            <a:chExt cx="4962525" cy="803529"/>
          </a:xfrm>
        </p:grpSpPr>
        <p:sp>
          <p:nvSpPr>
            <p:cNvPr id="44" name="Freeform 44"/>
            <p:cNvSpPr/>
            <p:nvPr/>
          </p:nvSpPr>
          <p:spPr>
            <a:xfrm>
              <a:off x="6029325" y="5676900"/>
              <a:ext cx="4962525" cy="762000"/>
            </a:xfrm>
            <a:prstGeom prst="homePlate">
              <a:avLst/>
            </a:prstGeom>
            <a:solidFill>
              <a:srgbClr val="C0392B"/>
            </a:solidFill>
            <a:ln>
              <a:noFill/>
            </a:ln>
          </p:spPr>
        </p:sp>
        <p:sp>
          <p:nvSpPr>
            <p:cNvPr id="45" name="TextBox 45"/>
            <p:cNvSpPr txBox="1"/>
            <p:nvPr/>
          </p:nvSpPr>
          <p:spPr>
            <a:xfrm>
              <a:off x="6567930" y="5835015"/>
              <a:ext cx="3304289" cy="645414"/>
            </a:xfrm>
            <a:prstGeom prst="rect">
              <a:avLst/>
            </a:prstGeom>
            <a:noFill/>
            <a:ln>
              <a:noFill/>
            </a:ln>
          </p:spPr>
          <p:txBody>
            <a:bodyPr wrap="none" lIns="0" tIns="0" rIns="0" bIns="0" anchor="t" anchorCtr="0">
              <a:spAutoFit/>
            </a:bodyPr>
            <a:lstStyle/>
            <a:p>
              <a:pPr algn="ctr"/>
              <a:r>
                <a:rPr lang="zh-CN" sz="3300" b="1" dirty="0">
                  <a:solidFill>
                    <a:srgbClr val="FBF6EC"/>
                  </a:solidFill>
                  <a:latin typeface="+mn-lt"/>
                  <a:ea typeface="+mn-ea"/>
                  <a:cs typeface="+mn-cs"/>
                </a:rPr>
                <a:t>大出血 先打 120</a:t>
              </a:r>
            </a:p>
          </p:txBody>
        </p:sp>
      </p:grpSp>
      <p:grpSp>
        <p:nvGrpSpPr>
          <p:cNvPr id="55" name="major-step-1"/>
          <p:cNvGrpSpPr/>
          <p:nvPr/>
        </p:nvGrpSpPr>
        <p:grpSpPr>
          <a:xfrm>
            <a:off x="6029325" y="6629400"/>
            <a:ext cx="4962525" cy="876300"/>
            <a:chOff x="6029325" y="6629400"/>
            <a:chExt cx="4962525" cy="876300"/>
          </a:xfrm>
        </p:grpSpPr>
        <p:sp>
          <p:nvSpPr>
            <p:cNvPr id="47" name="Rectangle 47"/>
            <p:cNvSpPr/>
            <p:nvPr/>
          </p:nvSpPr>
          <p:spPr>
            <a:xfrm>
              <a:off x="6029325" y="6629400"/>
              <a:ext cx="4962525" cy="876300"/>
            </a:xfrm>
            <a:prstGeom prst="roundRect">
              <a:avLst>
                <a:gd name="adj" fmla="val 21739"/>
              </a:avLst>
            </a:prstGeom>
            <a:solidFill>
              <a:srgbClr val="FFFDF7"/>
            </a:solidFill>
            <a:ln w="19050">
              <a:solidFill>
                <a:srgbClr val="C0392B"/>
              </a:solidFill>
            </a:ln>
          </p:spPr>
        </p:sp>
        <p:sp>
          <p:nvSpPr>
            <p:cNvPr id="48" name="Ellipse 48"/>
            <p:cNvSpPr/>
            <p:nvPr/>
          </p:nvSpPr>
          <p:spPr>
            <a:xfrm>
              <a:off x="6219825" y="6838950"/>
              <a:ext cx="457200" cy="457200"/>
            </a:xfrm>
            <a:prstGeom prst="ellipse">
              <a:avLst/>
            </a:prstGeom>
            <a:solidFill>
              <a:srgbClr val="C0392B"/>
            </a:solidFill>
            <a:ln>
              <a:noFill/>
            </a:ln>
          </p:spPr>
        </p:sp>
        <p:sp>
          <p:nvSpPr>
            <p:cNvPr id="49" name="TextBox 49"/>
            <p:cNvSpPr txBox="1"/>
            <p:nvPr/>
          </p:nvSpPr>
          <p:spPr>
            <a:xfrm>
              <a:off x="6342941" y="6922770"/>
              <a:ext cx="210967" cy="469392"/>
            </a:xfrm>
            <a:prstGeom prst="rect">
              <a:avLst/>
            </a:prstGeom>
            <a:noFill/>
            <a:ln>
              <a:noFill/>
            </a:ln>
          </p:spPr>
          <p:txBody>
            <a:bodyPr wrap="none" lIns="0" tIns="0" rIns="0" bIns="0" anchor="t" anchorCtr="0">
              <a:spAutoFit/>
            </a:bodyPr>
            <a:lstStyle/>
            <a:p>
              <a:pPr algn="ctr"/>
              <a:r>
                <a:rPr lang="zh-CN" sz="2400" b="1" dirty="0">
                  <a:solidFill>
                    <a:srgbClr val="FBF6EC"/>
                  </a:solidFill>
                  <a:latin typeface="+mn-lt"/>
                  <a:ea typeface="+mn-ea"/>
                  <a:cs typeface="+mn-cs"/>
                </a:rPr>
                <a:t>1</a:t>
              </a:r>
            </a:p>
          </p:txBody>
        </p:sp>
        <p:sp>
          <p:nvSpPr>
            <p:cNvPr id="50" name="TextBox 50"/>
            <p:cNvSpPr txBox="1"/>
            <p:nvPr/>
          </p:nvSpPr>
          <p:spPr>
            <a:xfrm>
              <a:off x="6855333" y="6922770"/>
              <a:ext cx="1623670"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立即打 120</a:t>
              </a:r>
            </a:p>
          </p:txBody>
        </p:sp>
        <p:grpSp>
          <p:nvGrpSpPr>
            <p:cNvPr id="54" name="Group 54"/>
            <p:cNvGrpSpPr/>
            <p:nvPr/>
          </p:nvGrpSpPr>
          <p:grpSpPr>
            <a:xfrm>
              <a:off x="10339387" y="6891337"/>
              <a:ext cx="314325" cy="314325"/>
              <a:chOff x="10339387" y="6891337"/>
              <a:chExt cx="314325" cy="314325"/>
            </a:xfrm>
          </p:grpSpPr>
          <p:sp>
            <p:nvSpPr>
              <p:cNvPr id="51" name="Freeform 51"/>
              <p:cNvSpPr/>
              <p:nvPr/>
            </p:nvSpPr>
            <p:spPr>
              <a:xfrm>
                <a:off x="10339387" y="6908800"/>
                <a:ext cx="296862" cy="296862"/>
              </a:xfrm>
              <a:custGeom>
                <a:avLst/>
                <a:gdLst/>
                <a:ahLst/>
                <a:cxnLst/>
                <a:rect l="l" t="t" r="r" b="b"/>
                <a:pathLst>
                  <a:path w="296862" h="296862">
                    <a:moveTo>
                      <a:pt x="34925" y="0"/>
                    </a:moveTo>
                    <a:lnTo>
                      <a:pt x="104775" y="0"/>
                    </a:lnTo>
                    <a:lnTo>
                      <a:pt x="139700" y="87312"/>
                    </a:lnTo>
                    <a:lnTo>
                      <a:pt x="96044" y="113506"/>
                    </a:lnTo>
                    <a:cubicBezTo>
                      <a:pt x="114745" y="151426"/>
                      <a:pt x="145436" y="182117"/>
                      <a:pt x="183356" y="200818"/>
                    </a:cubicBezTo>
                    <a:lnTo>
                      <a:pt x="209550" y="157162"/>
                    </a:lnTo>
                    <a:lnTo>
                      <a:pt x="296862" y="192087"/>
                    </a:lnTo>
                    <a:lnTo>
                      <a:pt x="296862" y="261937"/>
                    </a:lnTo>
                    <a:cubicBezTo>
                      <a:pt x="296862" y="281226"/>
                      <a:pt x="281226" y="296862"/>
                      <a:pt x="261937" y="296862"/>
                    </a:cubicBezTo>
                    <a:cubicBezTo>
                      <a:pt x="120974" y="288296"/>
                      <a:pt x="8566" y="175888"/>
                      <a:pt x="0" y="34925"/>
                    </a:cubicBezTo>
                    <a:cubicBezTo>
                      <a:pt x="0" y="15636"/>
                      <a:pt x="15636" y="0"/>
                      <a:pt x="34925" y="0"/>
                    </a:cubicBezTo>
                  </a:path>
                </a:pathLst>
              </a:custGeom>
              <a:noFill/>
              <a:ln w="34925">
                <a:solidFill>
                  <a:srgbClr val="C0392B"/>
                </a:solidFill>
              </a:ln>
            </p:spPr>
          </p:sp>
          <p:sp>
            <p:nvSpPr>
              <p:cNvPr id="52" name="Freeform 52"/>
              <p:cNvSpPr/>
              <p:nvPr/>
            </p:nvSpPr>
            <p:spPr>
              <a:xfrm>
                <a:off x="10548937" y="6961187"/>
                <a:ext cx="34925" cy="34925"/>
              </a:xfrm>
              <a:custGeom>
                <a:avLst/>
                <a:gdLst/>
                <a:ahLst/>
                <a:cxnLst/>
                <a:rect l="l" t="t" r="r" b="b"/>
                <a:pathLst>
                  <a:path w="34925" h="34925">
                    <a:moveTo>
                      <a:pt x="0" y="0"/>
                    </a:moveTo>
                    <a:cubicBezTo>
                      <a:pt x="19289" y="0"/>
                      <a:pt x="34925" y="15636"/>
                      <a:pt x="34925" y="34925"/>
                    </a:cubicBezTo>
                  </a:path>
                </a:pathLst>
              </a:custGeom>
              <a:noFill/>
              <a:ln w="34925">
                <a:solidFill>
                  <a:srgbClr val="C0392B"/>
                </a:solidFill>
              </a:ln>
            </p:spPr>
          </p:sp>
          <p:sp>
            <p:nvSpPr>
              <p:cNvPr id="53" name="Freeform 53"/>
              <p:cNvSpPr/>
              <p:nvPr/>
            </p:nvSpPr>
            <p:spPr>
              <a:xfrm>
                <a:off x="10548937" y="6891337"/>
                <a:ext cx="104775" cy="104775"/>
              </a:xfrm>
              <a:custGeom>
                <a:avLst/>
                <a:gdLst/>
                <a:ahLst/>
                <a:cxnLst/>
                <a:rect l="l" t="t" r="r" b="b"/>
                <a:pathLst>
                  <a:path w="104775" h="104775">
                    <a:moveTo>
                      <a:pt x="0" y="0"/>
                    </a:moveTo>
                    <a:cubicBezTo>
                      <a:pt x="57866" y="0"/>
                      <a:pt x="104775" y="46909"/>
                      <a:pt x="104775" y="104775"/>
                    </a:cubicBezTo>
                  </a:path>
                </a:pathLst>
              </a:custGeom>
              <a:noFill/>
              <a:ln w="34925">
                <a:solidFill>
                  <a:srgbClr val="C0392B"/>
                </a:solidFill>
              </a:ln>
            </p:spPr>
          </p:sp>
        </p:grpSp>
      </p:grpSp>
      <p:grpSp>
        <p:nvGrpSpPr>
          <p:cNvPr id="61" name="major-step-2"/>
          <p:cNvGrpSpPr/>
          <p:nvPr/>
        </p:nvGrpSpPr>
        <p:grpSpPr>
          <a:xfrm>
            <a:off x="6029325" y="7543800"/>
            <a:ext cx="4962525" cy="1085850"/>
            <a:chOff x="6029325" y="7543800"/>
            <a:chExt cx="4962525" cy="1085850"/>
          </a:xfrm>
        </p:grpSpPr>
        <p:sp>
          <p:nvSpPr>
            <p:cNvPr id="56" name="Line 56"/>
            <p:cNvSpPr/>
            <p:nvPr/>
          </p:nvSpPr>
          <p:spPr>
            <a:xfrm>
              <a:off x="8505825" y="7543800"/>
              <a:ext cx="1" cy="171450"/>
            </a:xfrm>
            <a:prstGeom prst="line">
              <a:avLst/>
            </a:prstGeom>
            <a:noFill/>
            <a:ln w="28575">
              <a:solidFill>
                <a:schemeClr val="dk1"/>
              </a:solidFill>
              <a:tailEnd type="triangle" w="lg" len="lg"/>
            </a:ln>
          </p:spPr>
        </p:sp>
        <p:sp>
          <p:nvSpPr>
            <p:cNvPr id="57" name="Rectangle 57"/>
            <p:cNvSpPr/>
            <p:nvPr/>
          </p:nvSpPr>
          <p:spPr>
            <a:xfrm>
              <a:off x="6029325" y="7753350"/>
              <a:ext cx="4962525" cy="876300"/>
            </a:xfrm>
            <a:prstGeom prst="roundRect">
              <a:avLst>
                <a:gd name="adj" fmla="val 21739"/>
              </a:avLst>
            </a:prstGeom>
            <a:solidFill>
              <a:srgbClr val="FFFDF7"/>
            </a:solidFill>
            <a:ln w="19050">
              <a:solidFill>
                <a:srgbClr val="C0392B"/>
              </a:solidFill>
            </a:ln>
          </p:spPr>
        </p:sp>
        <p:sp>
          <p:nvSpPr>
            <p:cNvPr id="58" name="Ellipse 58"/>
            <p:cNvSpPr/>
            <p:nvPr/>
          </p:nvSpPr>
          <p:spPr>
            <a:xfrm>
              <a:off x="6219825" y="7962900"/>
              <a:ext cx="457200" cy="457200"/>
            </a:xfrm>
            <a:prstGeom prst="ellipse">
              <a:avLst/>
            </a:prstGeom>
            <a:solidFill>
              <a:srgbClr val="C0392B"/>
            </a:solidFill>
            <a:ln>
              <a:noFill/>
            </a:ln>
          </p:spPr>
        </p:sp>
        <p:sp>
          <p:nvSpPr>
            <p:cNvPr id="59" name="TextBox 59"/>
            <p:cNvSpPr txBox="1"/>
            <p:nvPr/>
          </p:nvSpPr>
          <p:spPr>
            <a:xfrm>
              <a:off x="6342941" y="8046720"/>
              <a:ext cx="210967" cy="469392"/>
            </a:xfrm>
            <a:prstGeom prst="rect">
              <a:avLst/>
            </a:prstGeom>
            <a:noFill/>
            <a:ln>
              <a:noFill/>
            </a:ln>
          </p:spPr>
          <p:txBody>
            <a:bodyPr wrap="none" lIns="0" tIns="0" rIns="0" bIns="0" anchor="t" anchorCtr="0">
              <a:spAutoFit/>
            </a:bodyPr>
            <a:lstStyle/>
            <a:p>
              <a:pPr algn="ctr"/>
              <a:r>
                <a:rPr lang="zh-CN" sz="2400" b="1" dirty="0">
                  <a:solidFill>
                    <a:srgbClr val="FBF6EC"/>
                  </a:solidFill>
                  <a:latin typeface="+mn-lt"/>
                  <a:ea typeface="+mn-ea"/>
                  <a:cs typeface="+mn-cs"/>
                </a:rPr>
                <a:t>2</a:t>
              </a:r>
            </a:p>
          </p:txBody>
        </p:sp>
        <p:sp>
          <p:nvSpPr>
            <p:cNvPr id="60" name="TextBox 60"/>
            <p:cNvSpPr txBox="1"/>
            <p:nvPr/>
          </p:nvSpPr>
          <p:spPr>
            <a:xfrm>
              <a:off x="6855333" y="8046720"/>
              <a:ext cx="325526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有条件先戴一次性手套</a:t>
              </a:r>
            </a:p>
          </p:txBody>
        </p:sp>
      </p:grpSp>
      <p:grpSp>
        <p:nvGrpSpPr>
          <p:cNvPr id="67" name="major-step-3"/>
          <p:cNvGrpSpPr/>
          <p:nvPr/>
        </p:nvGrpSpPr>
        <p:grpSpPr>
          <a:xfrm>
            <a:off x="6029325" y="8667750"/>
            <a:ext cx="4962525" cy="1085850"/>
            <a:chOff x="6029325" y="8667750"/>
            <a:chExt cx="4962525" cy="1085850"/>
          </a:xfrm>
        </p:grpSpPr>
        <p:sp>
          <p:nvSpPr>
            <p:cNvPr id="62" name="Line 62"/>
            <p:cNvSpPr/>
            <p:nvPr/>
          </p:nvSpPr>
          <p:spPr>
            <a:xfrm>
              <a:off x="8505825" y="8667750"/>
              <a:ext cx="1" cy="171450"/>
            </a:xfrm>
            <a:prstGeom prst="line">
              <a:avLst/>
            </a:prstGeom>
            <a:noFill/>
            <a:ln w="28575">
              <a:solidFill>
                <a:schemeClr val="dk1"/>
              </a:solidFill>
              <a:tailEnd type="triangle" w="lg" len="lg"/>
            </a:ln>
          </p:spPr>
        </p:sp>
        <p:sp>
          <p:nvSpPr>
            <p:cNvPr id="63" name="Rectangle 63"/>
            <p:cNvSpPr/>
            <p:nvPr/>
          </p:nvSpPr>
          <p:spPr>
            <a:xfrm>
              <a:off x="6029325" y="8877300"/>
              <a:ext cx="4962525" cy="876300"/>
            </a:xfrm>
            <a:prstGeom prst="roundRect">
              <a:avLst>
                <a:gd name="adj" fmla="val 21739"/>
              </a:avLst>
            </a:prstGeom>
            <a:solidFill>
              <a:srgbClr val="FFFDF7"/>
            </a:solidFill>
            <a:ln w="19050">
              <a:solidFill>
                <a:srgbClr val="C0392B"/>
              </a:solidFill>
            </a:ln>
          </p:spPr>
        </p:sp>
        <p:sp>
          <p:nvSpPr>
            <p:cNvPr id="64" name="Ellipse 64"/>
            <p:cNvSpPr/>
            <p:nvPr/>
          </p:nvSpPr>
          <p:spPr>
            <a:xfrm>
              <a:off x="6219825" y="9086850"/>
              <a:ext cx="457200" cy="457200"/>
            </a:xfrm>
            <a:prstGeom prst="ellipse">
              <a:avLst/>
            </a:prstGeom>
            <a:solidFill>
              <a:srgbClr val="C0392B"/>
            </a:solidFill>
            <a:ln>
              <a:noFill/>
            </a:ln>
          </p:spPr>
        </p:sp>
        <p:sp>
          <p:nvSpPr>
            <p:cNvPr id="65" name="TextBox 65"/>
            <p:cNvSpPr txBox="1"/>
            <p:nvPr/>
          </p:nvSpPr>
          <p:spPr>
            <a:xfrm>
              <a:off x="6342941" y="9170670"/>
              <a:ext cx="210967" cy="469392"/>
            </a:xfrm>
            <a:prstGeom prst="rect">
              <a:avLst/>
            </a:prstGeom>
            <a:noFill/>
            <a:ln>
              <a:noFill/>
            </a:ln>
          </p:spPr>
          <p:txBody>
            <a:bodyPr wrap="none" lIns="0" tIns="0" rIns="0" bIns="0" anchor="t" anchorCtr="0">
              <a:spAutoFit/>
            </a:bodyPr>
            <a:lstStyle/>
            <a:p>
              <a:pPr algn="ctr"/>
              <a:r>
                <a:rPr lang="zh-CN" sz="2400" b="1" dirty="0">
                  <a:solidFill>
                    <a:srgbClr val="FBF6EC"/>
                  </a:solidFill>
                  <a:latin typeface="+mn-lt"/>
                  <a:ea typeface="+mn-ea"/>
                  <a:cs typeface="+mn-cs"/>
                </a:rPr>
                <a:t>3</a:t>
              </a:r>
            </a:p>
          </p:txBody>
        </p:sp>
        <p:sp>
          <p:nvSpPr>
            <p:cNvPr id="66" name="TextBox 66"/>
            <p:cNvSpPr txBox="1"/>
            <p:nvPr/>
          </p:nvSpPr>
          <p:spPr>
            <a:xfrm>
              <a:off x="6855333" y="9170670"/>
              <a:ext cx="310987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不拔大异物,别探伤口</a:t>
              </a:r>
            </a:p>
          </p:txBody>
        </p:sp>
      </p:grpSp>
      <p:grpSp>
        <p:nvGrpSpPr>
          <p:cNvPr id="78" name="major-step-4"/>
          <p:cNvGrpSpPr/>
          <p:nvPr/>
        </p:nvGrpSpPr>
        <p:grpSpPr>
          <a:xfrm>
            <a:off x="6029325" y="9791700"/>
            <a:ext cx="4962525" cy="1085850"/>
            <a:chOff x="6029325" y="9791700"/>
            <a:chExt cx="4962525" cy="1085850"/>
          </a:xfrm>
        </p:grpSpPr>
        <p:sp>
          <p:nvSpPr>
            <p:cNvPr id="68" name="Line 68"/>
            <p:cNvSpPr/>
            <p:nvPr/>
          </p:nvSpPr>
          <p:spPr>
            <a:xfrm>
              <a:off x="8505825" y="9791700"/>
              <a:ext cx="1" cy="171450"/>
            </a:xfrm>
            <a:prstGeom prst="line">
              <a:avLst/>
            </a:prstGeom>
            <a:noFill/>
            <a:ln w="28575">
              <a:solidFill>
                <a:schemeClr val="dk1"/>
              </a:solidFill>
              <a:tailEnd type="triangle" w="lg" len="lg"/>
            </a:ln>
          </p:spPr>
        </p:sp>
        <p:sp>
          <p:nvSpPr>
            <p:cNvPr id="69" name="Rectangle 69"/>
            <p:cNvSpPr/>
            <p:nvPr/>
          </p:nvSpPr>
          <p:spPr>
            <a:xfrm>
              <a:off x="6029325" y="10001250"/>
              <a:ext cx="4962525" cy="876300"/>
            </a:xfrm>
            <a:prstGeom prst="roundRect">
              <a:avLst>
                <a:gd name="adj" fmla="val 21739"/>
              </a:avLst>
            </a:prstGeom>
            <a:solidFill>
              <a:srgbClr val="FFFDF7"/>
            </a:solidFill>
            <a:ln w="19050">
              <a:solidFill>
                <a:srgbClr val="C0392B"/>
              </a:solidFill>
            </a:ln>
          </p:spPr>
        </p:sp>
        <p:sp>
          <p:nvSpPr>
            <p:cNvPr id="70" name="Ellipse 70"/>
            <p:cNvSpPr/>
            <p:nvPr/>
          </p:nvSpPr>
          <p:spPr>
            <a:xfrm>
              <a:off x="6219825" y="10210800"/>
              <a:ext cx="457200" cy="457200"/>
            </a:xfrm>
            <a:prstGeom prst="ellipse">
              <a:avLst/>
            </a:prstGeom>
            <a:solidFill>
              <a:srgbClr val="C0392B"/>
            </a:solidFill>
            <a:ln>
              <a:noFill/>
            </a:ln>
          </p:spPr>
        </p:sp>
        <p:sp>
          <p:nvSpPr>
            <p:cNvPr id="71" name="TextBox 71"/>
            <p:cNvSpPr txBox="1"/>
            <p:nvPr/>
          </p:nvSpPr>
          <p:spPr>
            <a:xfrm>
              <a:off x="6342941" y="10294620"/>
              <a:ext cx="210967" cy="469392"/>
            </a:xfrm>
            <a:prstGeom prst="rect">
              <a:avLst/>
            </a:prstGeom>
            <a:noFill/>
            <a:ln>
              <a:noFill/>
            </a:ln>
          </p:spPr>
          <p:txBody>
            <a:bodyPr wrap="none" lIns="0" tIns="0" rIns="0" bIns="0" anchor="t" anchorCtr="0">
              <a:spAutoFit/>
            </a:bodyPr>
            <a:lstStyle/>
            <a:p>
              <a:pPr algn="ctr"/>
              <a:r>
                <a:rPr lang="zh-CN" sz="2400" b="1" dirty="0">
                  <a:solidFill>
                    <a:srgbClr val="FBF6EC"/>
                  </a:solidFill>
                  <a:latin typeface="+mn-lt"/>
                  <a:ea typeface="+mn-ea"/>
                  <a:cs typeface="+mn-cs"/>
                </a:rPr>
                <a:t>4</a:t>
              </a:r>
            </a:p>
          </p:txBody>
        </p:sp>
        <p:sp>
          <p:nvSpPr>
            <p:cNvPr id="72" name="TextBox 72"/>
            <p:cNvSpPr txBox="1"/>
            <p:nvPr/>
          </p:nvSpPr>
          <p:spPr>
            <a:xfrm>
              <a:off x="6855333" y="10294620"/>
              <a:ext cx="310987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纱布盖住,手掌用力压</a:t>
              </a:r>
            </a:p>
          </p:txBody>
        </p:sp>
        <p:grpSp>
          <p:nvGrpSpPr>
            <p:cNvPr id="77" name="Group 77"/>
            <p:cNvGrpSpPr/>
            <p:nvPr/>
          </p:nvGrpSpPr>
          <p:grpSpPr>
            <a:xfrm>
              <a:off x="10344900" y="10245725"/>
              <a:ext cx="291349" cy="349255"/>
              <a:chOff x="10344900" y="10245725"/>
              <a:chExt cx="291349" cy="349255"/>
            </a:xfrm>
          </p:grpSpPr>
          <p:sp>
            <p:nvSpPr>
              <p:cNvPr id="73" name="Freeform 73"/>
              <p:cNvSpPr/>
              <p:nvPr/>
            </p:nvSpPr>
            <p:spPr>
              <a:xfrm>
                <a:off x="10426700" y="10280650"/>
                <a:ext cx="52387" cy="157162"/>
              </a:xfrm>
              <a:custGeom>
                <a:avLst/>
                <a:gdLst/>
                <a:ahLst/>
                <a:cxnLst/>
                <a:rect l="l" t="t" r="r" b="b"/>
                <a:pathLst>
                  <a:path w="52387" h="157162">
                    <a:moveTo>
                      <a:pt x="0" y="157162"/>
                    </a:moveTo>
                    <a:lnTo>
                      <a:pt x="0" y="26194"/>
                    </a:lnTo>
                    <a:cubicBezTo>
                      <a:pt x="0" y="11727"/>
                      <a:pt x="11727" y="0"/>
                      <a:pt x="26194" y="0"/>
                    </a:cubicBezTo>
                    <a:cubicBezTo>
                      <a:pt x="40660" y="0"/>
                      <a:pt x="52387" y="11727"/>
                      <a:pt x="52387" y="26194"/>
                    </a:cubicBezTo>
                    <a:lnTo>
                      <a:pt x="52387" y="139700"/>
                    </a:lnTo>
                  </a:path>
                </a:pathLst>
              </a:custGeom>
              <a:noFill/>
              <a:ln w="34925">
                <a:solidFill>
                  <a:srgbClr val="C0392B"/>
                </a:solidFill>
              </a:ln>
            </p:spPr>
          </p:sp>
          <p:sp>
            <p:nvSpPr>
              <p:cNvPr id="74" name="Freeform 74"/>
              <p:cNvSpPr/>
              <p:nvPr/>
            </p:nvSpPr>
            <p:spPr>
              <a:xfrm>
                <a:off x="10479087" y="10245725"/>
                <a:ext cx="52387" cy="174625"/>
              </a:xfrm>
              <a:custGeom>
                <a:avLst/>
                <a:gdLst/>
                <a:ahLst/>
                <a:cxnLst/>
                <a:rect l="l" t="t" r="r" b="b"/>
                <a:pathLst>
                  <a:path w="52387" h="174625">
                    <a:moveTo>
                      <a:pt x="0" y="61119"/>
                    </a:moveTo>
                    <a:lnTo>
                      <a:pt x="0" y="26194"/>
                    </a:lnTo>
                    <a:cubicBezTo>
                      <a:pt x="0" y="11727"/>
                      <a:pt x="11727" y="0"/>
                      <a:pt x="26194" y="0"/>
                    </a:cubicBezTo>
                    <a:cubicBezTo>
                      <a:pt x="40660" y="0"/>
                      <a:pt x="52387" y="11727"/>
                      <a:pt x="52387" y="26194"/>
                    </a:cubicBezTo>
                    <a:lnTo>
                      <a:pt x="52387" y="174625"/>
                    </a:lnTo>
                  </a:path>
                </a:pathLst>
              </a:custGeom>
              <a:noFill/>
              <a:ln w="34925">
                <a:solidFill>
                  <a:srgbClr val="C0392B"/>
                </a:solidFill>
              </a:ln>
            </p:spPr>
          </p:sp>
          <p:sp>
            <p:nvSpPr>
              <p:cNvPr id="75" name="Freeform 75"/>
              <p:cNvSpPr/>
              <p:nvPr/>
            </p:nvSpPr>
            <p:spPr>
              <a:xfrm>
                <a:off x="10531475" y="10280650"/>
                <a:ext cx="52387" cy="139700"/>
              </a:xfrm>
              <a:custGeom>
                <a:avLst/>
                <a:gdLst/>
                <a:ahLst/>
                <a:cxnLst/>
                <a:rect l="l" t="t" r="r" b="b"/>
                <a:pathLst>
                  <a:path w="52387" h="139700">
                    <a:moveTo>
                      <a:pt x="0" y="26194"/>
                    </a:moveTo>
                    <a:cubicBezTo>
                      <a:pt x="0" y="11727"/>
                      <a:pt x="11727" y="0"/>
                      <a:pt x="26194" y="0"/>
                    </a:cubicBezTo>
                    <a:cubicBezTo>
                      <a:pt x="40660" y="0"/>
                      <a:pt x="52387" y="11727"/>
                      <a:pt x="52387" y="26194"/>
                    </a:cubicBezTo>
                    <a:lnTo>
                      <a:pt x="52387" y="139700"/>
                    </a:lnTo>
                  </a:path>
                </a:pathLst>
              </a:custGeom>
              <a:noFill/>
              <a:ln w="34925">
                <a:solidFill>
                  <a:srgbClr val="C0392B"/>
                </a:solidFill>
              </a:ln>
            </p:spPr>
          </p:sp>
          <p:sp>
            <p:nvSpPr>
              <p:cNvPr id="76" name="Freeform 76"/>
              <p:cNvSpPr/>
              <p:nvPr/>
            </p:nvSpPr>
            <p:spPr>
              <a:xfrm>
                <a:off x="10344900" y="10315575"/>
                <a:ext cx="291349" cy="279405"/>
              </a:xfrm>
              <a:custGeom>
                <a:avLst/>
                <a:gdLst/>
                <a:ahLst/>
                <a:cxnLst/>
                <a:rect l="l" t="t" r="r" b="b"/>
                <a:pathLst>
                  <a:path w="291349" h="279405">
                    <a:moveTo>
                      <a:pt x="238962" y="26194"/>
                    </a:moveTo>
                    <a:cubicBezTo>
                      <a:pt x="238962" y="11727"/>
                      <a:pt x="250689" y="0"/>
                      <a:pt x="265155" y="0"/>
                    </a:cubicBezTo>
                    <a:cubicBezTo>
                      <a:pt x="279622" y="0"/>
                      <a:pt x="291349" y="11727"/>
                      <a:pt x="291349" y="26194"/>
                    </a:cubicBezTo>
                    <a:lnTo>
                      <a:pt x="291349" y="174625"/>
                    </a:lnTo>
                    <a:cubicBezTo>
                      <a:pt x="291349" y="232490"/>
                      <a:pt x="244440" y="279399"/>
                      <a:pt x="186574" y="279399"/>
                    </a:cubicBezTo>
                    <a:lnTo>
                      <a:pt x="151649" y="279399"/>
                    </a:lnTo>
                    <a:lnTo>
                      <a:pt x="155281" y="279399"/>
                    </a:lnTo>
                    <a:cubicBezTo>
                      <a:pt x="120034" y="279405"/>
                      <a:pt x="87146" y="261688"/>
                      <a:pt x="67760" y="232251"/>
                    </a:cubicBezTo>
                    <a:cubicBezTo>
                      <a:pt x="66614" y="230508"/>
                      <a:pt x="65473" y="228761"/>
                      <a:pt x="64337" y="227012"/>
                    </a:cubicBezTo>
                    <a:cubicBezTo>
                      <a:pt x="58889" y="218648"/>
                      <a:pt x="39767" y="185312"/>
                      <a:pt x="6955" y="126987"/>
                    </a:cubicBezTo>
                    <a:cubicBezTo>
                      <a:pt x="0" y="114625"/>
                      <a:pt x="4149" y="98972"/>
                      <a:pt x="16315" y="91678"/>
                    </a:cubicBezTo>
                    <a:cubicBezTo>
                      <a:pt x="29137" y="83984"/>
                      <a:pt x="45550" y="86000"/>
                      <a:pt x="56130" y="96567"/>
                    </a:cubicBezTo>
                    <a:lnTo>
                      <a:pt x="81799" y="122237"/>
                    </a:lnTo>
                  </a:path>
                </a:pathLst>
              </a:custGeom>
              <a:noFill/>
              <a:ln w="34925">
                <a:solidFill>
                  <a:srgbClr val="C0392B"/>
                </a:solidFill>
              </a:ln>
            </p:spPr>
          </p:sp>
        </p:grpSp>
      </p:grpSp>
      <p:grpSp>
        <p:nvGrpSpPr>
          <p:cNvPr id="84" name="major-step-5"/>
          <p:cNvGrpSpPr/>
          <p:nvPr/>
        </p:nvGrpSpPr>
        <p:grpSpPr>
          <a:xfrm>
            <a:off x="6029325" y="10915650"/>
            <a:ext cx="4962525" cy="1085850"/>
            <a:chOff x="6029325" y="10915650"/>
            <a:chExt cx="4962525" cy="1085850"/>
          </a:xfrm>
        </p:grpSpPr>
        <p:sp>
          <p:nvSpPr>
            <p:cNvPr id="79" name="Line 79"/>
            <p:cNvSpPr/>
            <p:nvPr/>
          </p:nvSpPr>
          <p:spPr>
            <a:xfrm>
              <a:off x="8505825" y="10915650"/>
              <a:ext cx="1" cy="171450"/>
            </a:xfrm>
            <a:prstGeom prst="line">
              <a:avLst/>
            </a:prstGeom>
            <a:noFill/>
            <a:ln w="28575">
              <a:solidFill>
                <a:schemeClr val="dk1"/>
              </a:solidFill>
              <a:tailEnd type="triangle" w="lg" len="lg"/>
            </a:ln>
          </p:spPr>
        </p:sp>
        <p:sp>
          <p:nvSpPr>
            <p:cNvPr id="80" name="Rectangle 80"/>
            <p:cNvSpPr/>
            <p:nvPr/>
          </p:nvSpPr>
          <p:spPr>
            <a:xfrm>
              <a:off x="6029325" y="11125200"/>
              <a:ext cx="4962525" cy="876300"/>
            </a:xfrm>
            <a:prstGeom prst="roundRect">
              <a:avLst>
                <a:gd name="adj" fmla="val 21739"/>
              </a:avLst>
            </a:prstGeom>
            <a:solidFill>
              <a:srgbClr val="FFFDF7"/>
            </a:solidFill>
            <a:ln w="19050">
              <a:solidFill>
                <a:srgbClr val="C0392B"/>
              </a:solidFill>
            </a:ln>
          </p:spPr>
        </p:sp>
        <p:sp>
          <p:nvSpPr>
            <p:cNvPr id="81" name="Ellipse 81"/>
            <p:cNvSpPr/>
            <p:nvPr/>
          </p:nvSpPr>
          <p:spPr>
            <a:xfrm>
              <a:off x="6219825" y="11334750"/>
              <a:ext cx="457200" cy="457200"/>
            </a:xfrm>
            <a:prstGeom prst="ellipse">
              <a:avLst/>
            </a:prstGeom>
            <a:solidFill>
              <a:srgbClr val="C0392B"/>
            </a:solidFill>
            <a:ln>
              <a:noFill/>
            </a:ln>
          </p:spPr>
        </p:sp>
        <p:sp>
          <p:nvSpPr>
            <p:cNvPr id="82" name="TextBox 82"/>
            <p:cNvSpPr txBox="1"/>
            <p:nvPr/>
          </p:nvSpPr>
          <p:spPr>
            <a:xfrm>
              <a:off x="6342941" y="11418570"/>
              <a:ext cx="210967" cy="469392"/>
            </a:xfrm>
            <a:prstGeom prst="rect">
              <a:avLst/>
            </a:prstGeom>
            <a:noFill/>
            <a:ln>
              <a:noFill/>
            </a:ln>
          </p:spPr>
          <p:txBody>
            <a:bodyPr wrap="none" lIns="0" tIns="0" rIns="0" bIns="0" anchor="t" anchorCtr="0">
              <a:spAutoFit/>
            </a:bodyPr>
            <a:lstStyle/>
            <a:p>
              <a:pPr algn="ctr"/>
              <a:r>
                <a:rPr lang="zh-CN" sz="2400" b="1" dirty="0">
                  <a:solidFill>
                    <a:srgbClr val="FBF6EC"/>
                  </a:solidFill>
                  <a:latin typeface="+mn-lt"/>
                  <a:ea typeface="+mn-ea"/>
                  <a:cs typeface="+mn-cs"/>
                </a:rPr>
                <a:t>5</a:t>
              </a:r>
            </a:p>
          </p:txBody>
        </p:sp>
        <p:sp>
          <p:nvSpPr>
            <p:cNvPr id="83" name="TextBox 83"/>
            <p:cNvSpPr txBox="1"/>
            <p:nvPr/>
          </p:nvSpPr>
          <p:spPr>
            <a:xfrm>
              <a:off x="6855333" y="11418570"/>
              <a:ext cx="310987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先盖后包,力度要适中</a:t>
              </a:r>
            </a:p>
          </p:txBody>
        </p:sp>
      </p:grpSp>
      <p:grpSp>
        <p:nvGrpSpPr>
          <p:cNvPr id="86" name="flow-notes"/>
          <p:cNvGrpSpPr/>
          <p:nvPr/>
        </p:nvGrpSpPr>
        <p:grpSpPr>
          <a:xfrm>
            <a:off x="826008" y="12123420"/>
            <a:ext cx="7705344" cy="1993392"/>
            <a:chOff x="826008" y="12123420"/>
            <a:chExt cx="7705344" cy="1993392"/>
          </a:xfrm>
        </p:grpSpPr>
        <p:sp>
          <p:nvSpPr>
            <p:cNvPr id="85" name="TextBox 85"/>
            <p:cNvSpPr txBox="1"/>
            <p:nvPr/>
          </p:nvSpPr>
          <p:spPr>
            <a:xfrm>
              <a:off x="826008" y="12123420"/>
              <a:ext cx="7705344" cy="1993392"/>
            </a:xfrm>
            <a:prstGeom prst="rect">
              <a:avLst/>
            </a:prstGeom>
            <a:noFill/>
            <a:ln>
              <a:noFill/>
            </a:ln>
          </p:spPr>
          <p:txBody>
            <a:bodyPr wrap="none" lIns="0" tIns="0" rIns="0" bIns="0" anchor="t" anchorCtr="0">
              <a:spAutoFit/>
            </a:bodyPr>
            <a:lstStyle/>
            <a:p>
              <a:pPr algn="l">
                <a:lnSpc>
                  <a:spcPts val="3000"/>
                </a:lnSpc>
              </a:pPr>
              <a:r>
                <a:rPr lang="zh-CN" sz="2400" dirty="0">
                  <a:solidFill>
                    <a:schemeClr val="accent5"/>
                  </a:solidFill>
                  <a:latin typeface="+mn-lt"/>
                  <a:ea typeface="+mn-ea"/>
                  <a:cs typeface="+mn-cs"/>
                </a:rPr>
                <a:t>渗血后在原敷料上加盖继续压,不要揭下原敷料;</a:t>
              </a:r>
              <a:br/>
              <a:r>
                <a:rPr lang="zh-CN" sz="2400" dirty="0">
                  <a:solidFill>
                    <a:schemeClr val="accent5"/>
                  </a:solidFill>
                  <a:latin typeface="+mn-lt"/>
                  <a:ea typeface="+mn-ea"/>
                  <a:cs typeface="+mn-cs"/>
                </a:rPr>
                <a:t>不按压眼部损伤、嵌入异物处,疑颅骨骨折不压头部伤口;</a:t>
              </a:r>
              <a:br/>
              <a:r>
                <a:rPr lang="zh-CN" sz="2400" dirty="0">
                  <a:solidFill>
                    <a:schemeClr val="accent5"/>
                  </a:solidFill>
                  <a:latin typeface="+mn-lt"/>
                  <a:ea typeface="+mn-ea"/>
                  <a:cs typeface="+mn-cs"/>
                </a:rPr>
                <a:t>止血带只在有成品且受过训练时用,不用围巾皮带自制。</a:t>
              </a:r>
              <a:br/>
              <a:r>
                <a:rPr lang="zh-CN" sz="2400" dirty="0">
                  <a:solidFill>
                    <a:schemeClr val="accent5"/>
                  </a:solidFill>
                  <a:latin typeface="+mn-lt"/>
                  <a:ea typeface="+mn-ea"/>
                  <a:cs typeface="+mn-cs"/>
                </a:rPr>
                <a:t>立即打 120:持续胸痛超 15 分钟 / 意识模糊或抽搐昏迷 /</a:t>
              </a:r>
              <a:br/>
              <a:r>
                <a:rPr lang="zh-CN" sz="2400" dirty="0">
                  <a:solidFill>
                    <a:schemeClr val="accent5"/>
                  </a:solidFill>
                  <a:latin typeface="+mn-lt"/>
                  <a:ea typeface="+mn-ea"/>
                  <a:cs typeface="+mn-cs"/>
                </a:rPr>
                <a:t>严重创伤或出血不止 / 呼吸困难面色青紫。</a:t>
              </a:r>
            </a:p>
          </p:txBody>
        </p:sp>
      </p:grpSp>
      <p:grpSp>
        <p:nvGrpSpPr>
          <p:cNvPr id="89" name="page-footer"/>
          <p:cNvGrpSpPr/>
          <p:nvPr/>
        </p:nvGrpSpPr>
        <p:grpSpPr>
          <a:xfrm>
            <a:off x="828294" y="14191298"/>
            <a:ext cx="10173462" cy="705231"/>
            <a:chOff x="828294" y="14191298"/>
            <a:chExt cx="10173462" cy="705231"/>
          </a:xfrm>
        </p:grpSpPr>
        <p:sp>
          <p:nvSpPr>
            <p:cNvPr id="87" name="TextBox 87"/>
            <p:cNvSpPr txBox="1"/>
            <p:nvPr/>
          </p:nvSpPr>
          <p:spPr>
            <a:xfrm>
              <a:off x="828294" y="14191298"/>
              <a:ext cx="6508242" cy="705231"/>
            </a:xfrm>
            <a:prstGeom prst="rect">
              <a:avLst/>
            </a:prstGeom>
            <a:noFill/>
            <a:ln>
              <a:noFill/>
            </a:ln>
          </p:spPr>
          <p:txBody>
            <a:bodyPr wrap="none" lIns="0" tIns="0" rIns="0" bIns="0" anchor="t" anchorCtr="0">
              <a:spAutoFit/>
            </a:bodyPr>
            <a:lstStyle/>
            <a:p>
              <a:pPr algn="l">
                <a:lnSpc>
                  <a:spcPts val="2550"/>
                </a:lnSpc>
              </a:pPr>
              <a:r>
                <a:rPr lang="zh-CN" sz="1950" dirty="0">
                  <a:solidFill>
                    <a:schemeClr val="accent5"/>
                  </a:solidFill>
                  <a:latin typeface="+mn-lt"/>
                  <a:ea typeface="+mn-ea"/>
                  <a:cs typeface="+mn-cs"/>
                </a:rPr>
                <a:t>来源:Mayo Clinic 割伤擦伤与严重出血急救;美国红十字会;</a:t>
              </a:r>
              <a:br/>
              <a:r>
                <a:rPr lang="zh-CN" sz="1950" dirty="0">
                  <a:solidFill>
                    <a:schemeClr val="accent5"/>
                  </a:solidFill>
                  <a:latin typeface="+mn-lt"/>
                  <a:ea typeface="+mn-ea"/>
                  <a:cs typeface="+mn-cs"/>
                </a:rPr>
                <a:t>国防部网止血包扎科普;卫健系统健康科普(120 判断)</a:t>
              </a:r>
            </a:p>
          </p:txBody>
        </p:sp>
        <p:sp>
          <p:nvSpPr>
            <p:cNvPr id="88" name="TextBox 88"/>
            <p:cNvSpPr txBox="1"/>
            <p:nvPr/>
          </p:nvSpPr>
          <p:spPr>
            <a:xfrm>
              <a:off x="10391299" y="14515148"/>
              <a:ext cx="610457" cy="381381"/>
            </a:xfrm>
            <a:prstGeom prst="rect">
              <a:avLst/>
            </a:prstGeom>
            <a:noFill/>
            <a:ln>
              <a:noFill/>
            </a:ln>
          </p:spPr>
          <p:txBody>
            <a:bodyPr wrap="none" lIns="0" tIns="0" rIns="0" bIns="0" anchor="t" anchorCtr="0">
              <a:spAutoFit/>
            </a:bodyPr>
            <a:lstStyle/>
            <a:p>
              <a:pPr algn="r"/>
              <a:r>
                <a:rPr lang="zh-CN" sz="1950" dirty="0">
                  <a:solidFill>
                    <a:schemeClr val="accent5"/>
                  </a:solidFill>
                  <a:latin typeface="+mn-lt"/>
                  <a:ea typeface="+mn-ea"/>
                  <a:cs typeface="+mn-cs"/>
                </a:rPr>
                <a:t>7 / 9</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par>
                          <p:cTn id="8" fill="hold">
                            <p:stCondLst>
                              <p:cond delay="450"/>
                            </p:stCondLst>
                            <p:childTnLst>
                              <p:par>
                                <p:cTn id="9" presetID="10" presetClass="entr" presetSubtype="0" fill="hold" grpId="0" nodeType="after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350"/>
                            </p:stCondLst>
                            <p:childTnLst>
                              <p:par>
                                <p:cTn id="13" presetID="23" presetClass="entr" presetSubtype="16" fill="hold" grpId="0" nodeType="afterEffect">
                                  <p:stCondLst>
                                    <p:cond delay="500"/>
                                  </p:stCondLst>
                                  <p:childTnLst>
                                    <p:set>
                                      <p:cBhvr>
                                        <p:cTn id="14" dur="1" fill="hold">
                                          <p:stCondLst>
                                            <p:cond delay="0"/>
                                          </p:stCondLst>
                                        </p:cTn>
                                        <p:tgtEl>
                                          <p:spTgt spid="15"/>
                                        </p:tgtEl>
                                        <p:attrNameLst>
                                          <p:attrName>style.visibility</p:attrName>
                                        </p:attrNameLst>
                                      </p:cBhvr>
                                      <p:to>
                                        <p:strVal val="visible"/>
                                      </p:to>
                                    </p:set>
                                    <p:anim calcmode="lin" valueType="num">
                                      <p:cBhvr>
                                        <p:cTn id="15" dur="450" fill="hold"/>
                                        <p:tgtEl>
                                          <p:spTgt spid="15"/>
                                        </p:tgtEl>
                                        <p:attrNameLst>
                                          <p:attrName>ppt_w</p:attrName>
                                        </p:attrNameLst>
                                      </p:cBhvr>
                                      <p:tavLst>
                                        <p:tav tm="0">
                                          <p:val>
                                            <p:fltVal val="0"/>
                                          </p:val>
                                        </p:tav>
                                        <p:tav tm="100000">
                                          <p:val>
                                            <p:strVal val="#ppt_w"/>
                                          </p:val>
                                        </p:tav>
                                      </p:tavLst>
                                    </p:anim>
                                    <p:anim calcmode="lin" valueType="num">
                                      <p:cBhvr>
                                        <p:cTn id="16" dur="450" fill="hold"/>
                                        <p:tgtEl>
                                          <p:spTgt spid="15"/>
                                        </p:tgtEl>
                                        <p:attrNameLst>
                                          <p:attrName>ppt_h</p:attrName>
                                        </p:attrNameLst>
                                      </p:cBhvr>
                                      <p:tavLst>
                                        <p:tav tm="0">
                                          <p:val>
                                            <p:fltVal val="0"/>
                                          </p:val>
                                        </p:tav>
                                        <p:tav tm="100000">
                                          <p:val>
                                            <p:strVal val="#ppt_h"/>
                                          </p:val>
                                        </p:tav>
                                      </p:tavLst>
                                    </p:anim>
                                  </p:childTnLst>
                                </p:cTn>
                              </p:par>
                            </p:childTnLst>
                          </p:cTn>
                        </p:par>
                        <p:par>
                          <p:cTn id="17" fill="hold">
                            <p:stCondLst>
                              <p:cond delay="2300"/>
                            </p:stCondLst>
                            <p:childTnLst>
                              <p:par>
                                <p:cTn id="18" presetID="22" presetClass="entr" presetSubtype="4" fill="hold" grpId="0" nodeType="afterEffect">
                                  <p:stCondLst>
                                    <p:cond delay="500"/>
                                  </p:stCondLst>
                                  <p:childTnLst>
                                    <p:set>
                                      <p:cBhvr>
                                        <p:cTn id="19" dur="1" fill="hold">
                                          <p:stCondLst>
                                            <p:cond delay="0"/>
                                          </p:stCondLst>
                                        </p:cTn>
                                        <p:tgtEl>
                                          <p:spTgt spid="16"/>
                                        </p:tgtEl>
                                        <p:attrNameLst>
                                          <p:attrName>style.visibility</p:attrName>
                                        </p:attrNameLst>
                                      </p:cBhvr>
                                      <p:to>
                                        <p:strVal val="visible"/>
                                      </p:to>
                                    </p:set>
                                    <p:animEffect transition="in" filter="wipe(down)">
                                      <p:cBhvr>
                                        <p:cTn id="20" dur="300"/>
                                        <p:tgtEl>
                                          <p:spTgt spid="16"/>
                                        </p:tgtEl>
                                      </p:cBhvr>
                                    </p:animEffect>
                                  </p:childTnLst>
                                </p:cTn>
                              </p:par>
                            </p:childTnLst>
                          </p:cTn>
                        </p:par>
                        <p:par>
                          <p:cTn id="21" fill="hold">
                            <p:stCondLst>
                              <p:cond delay="3100"/>
                            </p:stCondLst>
                            <p:childTnLst>
                              <p:par>
                                <p:cTn id="22" presetID="22" presetClass="entr" presetSubtype="2" fill="hold" grpId="0" nodeType="afterEffect">
                                  <p:stCondLst>
                                    <p:cond delay="500"/>
                                  </p:stCondLst>
                                  <p:childTnLst>
                                    <p:set>
                                      <p:cBhvr>
                                        <p:cTn id="23" dur="1" fill="hold">
                                          <p:stCondLst>
                                            <p:cond delay="0"/>
                                          </p:stCondLst>
                                        </p:cTn>
                                        <p:tgtEl>
                                          <p:spTgt spid="20"/>
                                        </p:tgtEl>
                                        <p:attrNameLst>
                                          <p:attrName>style.visibility</p:attrName>
                                        </p:attrNameLst>
                                      </p:cBhvr>
                                      <p:to>
                                        <p:strVal val="visible"/>
                                      </p:to>
                                    </p:set>
                                    <p:animEffect transition="in" filter="wipe(right)">
                                      <p:cBhvr>
                                        <p:cTn id="24" dur="350"/>
                                        <p:tgtEl>
                                          <p:spTgt spid="20"/>
                                        </p:tgtEl>
                                      </p:cBhvr>
                                    </p:animEffect>
                                  </p:childTnLst>
                                </p:cTn>
                              </p:par>
                            </p:childTnLst>
                          </p:cTn>
                        </p:par>
                        <p:par>
                          <p:cTn id="25" fill="hold">
                            <p:stCondLst>
                              <p:cond delay="3950"/>
                            </p:stCondLst>
                            <p:childTnLst>
                              <p:par>
                                <p:cTn id="26" presetID="10" presetClass="entr" presetSubtype="0" fill="hold" grpId="0" nodeType="afterEffect">
                                  <p:stCondLst>
                                    <p:cond delay="50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300"/>
                                        <p:tgtEl>
                                          <p:spTgt spid="25"/>
                                        </p:tgtEl>
                                      </p:cBhvr>
                                    </p:animEffect>
                                  </p:childTnLst>
                                </p:cTn>
                              </p:par>
                            </p:childTnLst>
                          </p:cTn>
                        </p:par>
                        <p:par>
                          <p:cTn id="29" fill="hold">
                            <p:stCondLst>
                              <p:cond delay="4750"/>
                            </p:stCondLst>
                            <p:childTnLst>
                              <p:par>
                                <p:cTn id="30" presetID="10" presetClass="entr" presetSubtype="0" fill="hold" grpId="0" nodeType="afterEffect">
                                  <p:stCondLst>
                                    <p:cond delay="50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300"/>
                                        <p:tgtEl>
                                          <p:spTgt spid="31"/>
                                        </p:tgtEl>
                                      </p:cBhvr>
                                    </p:animEffect>
                                  </p:childTnLst>
                                </p:cTn>
                              </p:par>
                            </p:childTnLst>
                          </p:cTn>
                        </p:par>
                        <p:par>
                          <p:cTn id="33" fill="hold">
                            <p:stCondLst>
                              <p:cond delay="5550"/>
                            </p:stCondLst>
                            <p:childTnLst>
                              <p:par>
                                <p:cTn id="34" presetID="10" presetClass="entr" presetSubtype="0" fill="hold" grpId="0" nodeType="afterEffect">
                                  <p:stCondLst>
                                    <p:cond delay="50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300"/>
                                        <p:tgtEl>
                                          <p:spTgt spid="37"/>
                                        </p:tgtEl>
                                      </p:cBhvr>
                                    </p:animEffect>
                                  </p:childTnLst>
                                </p:cTn>
                              </p:par>
                            </p:childTnLst>
                          </p:cTn>
                        </p:par>
                        <p:par>
                          <p:cTn id="37" fill="hold">
                            <p:stCondLst>
                              <p:cond delay="6350"/>
                            </p:stCondLst>
                            <p:childTnLst>
                              <p:par>
                                <p:cTn id="38" presetID="10" presetClass="entr" presetSubtype="0" fill="hold" grpId="0" nodeType="afterEffect">
                                  <p:stCondLst>
                                    <p:cond delay="500"/>
                                  </p:stCondLst>
                                  <p:childTnLst>
                                    <p:set>
                                      <p:cBhvr>
                                        <p:cTn id="39" dur="1" fill="hold">
                                          <p:stCondLst>
                                            <p:cond delay="0"/>
                                          </p:stCondLst>
                                        </p:cTn>
                                        <p:tgtEl>
                                          <p:spTgt spid="43"/>
                                        </p:tgtEl>
                                        <p:attrNameLst>
                                          <p:attrName>style.visibility</p:attrName>
                                        </p:attrNameLst>
                                      </p:cBhvr>
                                      <p:to>
                                        <p:strVal val="visible"/>
                                      </p:to>
                                    </p:set>
                                    <p:animEffect transition="in" filter="fade">
                                      <p:cBhvr>
                                        <p:cTn id="40" dur="300"/>
                                        <p:tgtEl>
                                          <p:spTgt spid="43"/>
                                        </p:tgtEl>
                                      </p:cBhvr>
                                    </p:animEffect>
                                  </p:childTnLst>
                                </p:cTn>
                              </p:par>
                            </p:childTnLst>
                          </p:cTn>
                        </p:par>
                        <p:par>
                          <p:cTn id="41" fill="hold">
                            <p:stCondLst>
                              <p:cond delay="7150"/>
                            </p:stCondLst>
                            <p:childTnLst>
                              <p:par>
                                <p:cTn id="42" presetID="22" presetClass="entr" presetSubtype="2" fill="hold" grpId="0" nodeType="afterEffect">
                                  <p:stCondLst>
                                    <p:cond delay="200"/>
                                  </p:stCondLst>
                                  <p:childTnLst>
                                    <p:set>
                                      <p:cBhvr>
                                        <p:cTn id="43" dur="1" fill="hold">
                                          <p:stCondLst>
                                            <p:cond delay="0"/>
                                          </p:stCondLst>
                                        </p:cTn>
                                        <p:tgtEl>
                                          <p:spTgt spid="17"/>
                                        </p:tgtEl>
                                        <p:attrNameLst>
                                          <p:attrName>style.visibility</p:attrName>
                                        </p:attrNameLst>
                                      </p:cBhvr>
                                      <p:to>
                                        <p:strVal val="visible"/>
                                      </p:to>
                                    </p:set>
                                    <p:animEffect transition="in" filter="wipe(right)">
                                      <p:cBhvr>
                                        <p:cTn id="44" dur="300"/>
                                        <p:tgtEl>
                                          <p:spTgt spid="17"/>
                                        </p:tgtEl>
                                      </p:cBhvr>
                                    </p:animEffect>
                                  </p:childTnLst>
                                </p:cTn>
                              </p:par>
                            </p:childTnLst>
                          </p:cTn>
                        </p:par>
                        <p:par>
                          <p:cTn id="45" fill="hold">
                            <p:stCondLst>
                              <p:cond delay="7650"/>
                            </p:stCondLst>
                            <p:childTnLst>
                              <p:par>
                                <p:cTn id="46" presetID="22" presetClass="entr" presetSubtype="2" fill="hold" grpId="0" nodeType="afterEffect">
                                  <p:stCondLst>
                                    <p:cond delay="500"/>
                                  </p:stCondLst>
                                  <p:childTnLst>
                                    <p:set>
                                      <p:cBhvr>
                                        <p:cTn id="47" dur="1" fill="hold">
                                          <p:stCondLst>
                                            <p:cond delay="0"/>
                                          </p:stCondLst>
                                        </p:cTn>
                                        <p:tgtEl>
                                          <p:spTgt spid="46"/>
                                        </p:tgtEl>
                                        <p:attrNameLst>
                                          <p:attrName>style.visibility</p:attrName>
                                        </p:attrNameLst>
                                      </p:cBhvr>
                                      <p:to>
                                        <p:strVal val="visible"/>
                                      </p:to>
                                    </p:set>
                                    <p:animEffect transition="in" filter="wipe(right)">
                                      <p:cBhvr>
                                        <p:cTn id="48" dur="350"/>
                                        <p:tgtEl>
                                          <p:spTgt spid="46"/>
                                        </p:tgtEl>
                                      </p:cBhvr>
                                    </p:animEffect>
                                  </p:childTnLst>
                                </p:cTn>
                              </p:par>
                            </p:childTnLst>
                          </p:cTn>
                        </p:par>
                        <p:par>
                          <p:cTn id="49" fill="hold">
                            <p:stCondLst>
                              <p:cond delay="8500"/>
                            </p:stCondLst>
                            <p:childTnLst>
                              <p:par>
                                <p:cTn id="50" presetID="10" presetClass="entr" presetSubtype="0" fill="hold" grpId="0" nodeType="afterEffect">
                                  <p:stCondLst>
                                    <p:cond delay="500"/>
                                  </p:stCondLst>
                                  <p:childTnLst>
                                    <p:set>
                                      <p:cBhvr>
                                        <p:cTn id="51" dur="1" fill="hold">
                                          <p:stCondLst>
                                            <p:cond delay="0"/>
                                          </p:stCondLst>
                                        </p:cTn>
                                        <p:tgtEl>
                                          <p:spTgt spid="55"/>
                                        </p:tgtEl>
                                        <p:attrNameLst>
                                          <p:attrName>style.visibility</p:attrName>
                                        </p:attrNameLst>
                                      </p:cBhvr>
                                      <p:to>
                                        <p:strVal val="visible"/>
                                      </p:to>
                                    </p:set>
                                    <p:animEffect transition="in" filter="fade">
                                      <p:cBhvr>
                                        <p:cTn id="52" dur="300"/>
                                        <p:tgtEl>
                                          <p:spTgt spid="55"/>
                                        </p:tgtEl>
                                      </p:cBhvr>
                                    </p:animEffect>
                                  </p:childTnLst>
                                </p:cTn>
                              </p:par>
                            </p:childTnLst>
                          </p:cTn>
                        </p:par>
                        <p:par>
                          <p:cTn id="53" fill="hold">
                            <p:stCondLst>
                              <p:cond delay="9300"/>
                            </p:stCondLst>
                            <p:childTnLst>
                              <p:par>
                                <p:cTn id="54" presetID="10" presetClass="entr" presetSubtype="0" fill="hold" grpId="0" nodeType="afterEffect">
                                  <p:stCondLst>
                                    <p:cond delay="500"/>
                                  </p:stCondLst>
                                  <p:childTnLst>
                                    <p:set>
                                      <p:cBhvr>
                                        <p:cTn id="55" dur="1" fill="hold">
                                          <p:stCondLst>
                                            <p:cond delay="0"/>
                                          </p:stCondLst>
                                        </p:cTn>
                                        <p:tgtEl>
                                          <p:spTgt spid="61"/>
                                        </p:tgtEl>
                                        <p:attrNameLst>
                                          <p:attrName>style.visibility</p:attrName>
                                        </p:attrNameLst>
                                      </p:cBhvr>
                                      <p:to>
                                        <p:strVal val="visible"/>
                                      </p:to>
                                    </p:set>
                                    <p:animEffect transition="in" filter="fade">
                                      <p:cBhvr>
                                        <p:cTn id="56" dur="300"/>
                                        <p:tgtEl>
                                          <p:spTgt spid="61"/>
                                        </p:tgtEl>
                                      </p:cBhvr>
                                    </p:animEffect>
                                  </p:childTnLst>
                                </p:cTn>
                              </p:par>
                            </p:childTnLst>
                          </p:cTn>
                        </p:par>
                        <p:par>
                          <p:cTn id="57" fill="hold">
                            <p:stCondLst>
                              <p:cond delay="10100"/>
                            </p:stCondLst>
                            <p:childTnLst>
                              <p:par>
                                <p:cTn id="58" presetID="10" presetClass="entr" presetSubtype="0" fill="hold" grpId="0" nodeType="afterEffect">
                                  <p:stCondLst>
                                    <p:cond delay="500"/>
                                  </p:stCondLst>
                                  <p:childTnLst>
                                    <p:set>
                                      <p:cBhvr>
                                        <p:cTn id="59" dur="1" fill="hold">
                                          <p:stCondLst>
                                            <p:cond delay="0"/>
                                          </p:stCondLst>
                                        </p:cTn>
                                        <p:tgtEl>
                                          <p:spTgt spid="67"/>
                                        </p:tgtEl>
                                        <p:attrNameLst>
                                          <p:attrName>style.visibility</p:attrName>
                                        </p:attrNameLst>
                                      </p:cBhvr>
                                      <p:to>
                                        <p:strVal val="visible"/>
                                      </p:to>
                                    </p:set>
                                    <p:animEffect transition="in" filter="fade">
                                      <p:cBhvr>
                                        <p:cTn id="60" dur="300"/>
                                        <p:tgtEl>
                                          <p:spTgt spid="67"/>
                                        </p:tgtEl>
                                      </p:cBhvr>
                                    </p:animEffect>
                                  </p:childTnLst>
                                </p:cTn>
                              </p:par>
                            </p:childTnLst>
                          </p:cTn>
                        </p:par>
                        <p:par>
                          <p:cTn id="61" fill="hold">
                            <p:stCondLst>
                              <p:cond delay="10900"/>
                            </p:stCondLst>
                            <p:childTnLst>
                              <p:par>
                                <p:cTn id="62" presetID="10" presetClass="entr" presetSubtype="0" fill="hold" grpId="0" nodeType="afterEffect">
                                  <p:stCondLst>
                                    <p:cond delay="500"/>
                                  </p:stCondLst>
                                  <p:childTnLst>
                                    <p:set>
                                      <p:cBhvr>
                                        <p:cTn id="63" dur="1" fill="hold">
                                          <p:stCondLst>
                                            <p:cond delay="0"/>
                                          </p:stCondLst>
                                        </p:cTn>
                                        <p:tgtEl>
                                          <p:spTgt spid="78"/>
                                        </p:tgtEl>
                                        <p:attrNameLst>
                                          <p:attrName>style.visibility</p:attrName>
                                        </p:attrNameLst>
                                      </p:cBhvr>
                                      <p:to>
                                        <p:strVal val="visible"/>
                                      </p:to>
                                    </p:set>
                                    <p:animEffect transition="in" filter="fade">
                                      <p:cBhvr>
                                        <p:cTn id="64" dur="300"/>
                                        <p:tgtEl>
                                          <p:spTgt spid="78"/>
                                        </p:tgtEl>
                                      </p:cBhvr>
                                    </p:animEffect>
                                  </p:childTnLst>
                                </p:cTn>
                              </p:par>
                            </p:childTnLst>
                          </p:cTn>
                        </p:par>
                        <p:par>
                          <p:cTn id="65" fill="hold">
                            <p:stCondLst>
                              <p:cond delay="11700"/>
                            </p:stCondLst>
                            <p:childTnLst>
                              <p:par>
                                <p:cTn id="66" presetID="10" presetClass="entr" presetSubtype="0" fill="hold" grpId="0" nodeType="afterEffect">
                                  <p:stCondLst>
                                    <p:cond delay="500"/>
                                  </p:stCondLst>
                                  <p:childTnLst>
                                    <p:set>
                                      <p:cBhvr>
                                        <p:cTn id="67" dur="1" fill="hold">
                                          <p:stCondLst>
                                            <p:cond delay="0"/>
                                          </p:stCondLst>
                                        </p:cTn>
                                        <p:tgtEl>
                                          <p:spTgt spid="84"/>
                                        </p:tgtEl>
                                        <p:attrNameLst>
                                          <p:attrName>style.visibility</p:attrName>
                                        </p:attrNameLst>
                                      </p:cBhvr>
                                      <p:to>
                                        <p:strVal val="visible"/>
                                      </p:to>
                                    </p:set>
                                    <p:animEffect transition="in" filter="fade">
                                      <p:cBhvr>
                                        <p:cTn id="68" dur="300"/>
                                        <p:tgtEl>
                                          <p:spTgt spid="84"/>
                                        </p:tgtEl>
                                      </p:cBhvr>
                                    </p:animEffect>
                                  </p:childTnLst>
                                </p:cTn>
                              </p:par>
                            </p:childTnLst>
                          </p:cTn>
                        </p:par>
                        <p:par>
                          <p:cTn id="69" fill="hold">
                            <p:stCondLst>
                              <p:cond delay="12500"/>
                            </p:stCondLst>
                            <p:childTnLst>
                              <p:par>
                                <p:cTn id="70" presetID="10" presetClass="entr" presetSubtype="0" fill="hold" grpId="0" nodeType="afterEffect">
                                  <p:stCondLst>
                                    <p:cond delay="300"/>
                                  </p:stCondLst>
                                  <p:childTnLst>
                                    <p:set>
                                      <p:cBhvr>
                                        <p:cTn id="71" dur="1" fill="hold">
                                          <p:stCondLst>
                                            <p:cond delay="0"/>
                                          </p:stCondLst>
                                        </p:cTn>
                                        <p:tgtEl>
                                          <p:spTgt spid="86"/>
                                        </p:tgtEl>
                                        <p:attrNameLst>
                                          <p:attrName>style.visibility</p:attrName>
                                        </p:attrNameLst>
                                      </p:cBhvr>
                                      <p:to>
                                        <p:strVal val="visible"/>
                                      </p:to>
                                    </p:set>
                                    <p:animEffect transition="in" filter="fade">
                                      <p:cBhvr>
                                        <p:cTn id="72" dur="45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rail"/>
          <p:cNvSpPr/>
          <p:nvPr/>
        </p:nvSpPr>
        <p:spPr>
          <a:xfrm>
            <a:off x="514350" y="838200"/>
            <a:ext cx="28575" cy="14135100"/>
          </a:xfrm>
          <a:prstGeom prst="rect">
            <a:avLst/>
          </a:prstGeom>
          <a:solidFill>
            <a:schemeClr val="accent1">
              <a:alpha val="30000"/>
            </a:schemeClr>
          </a:solidFill>
          <a:ln>
            <a:noFill/>
          </a:ln>
        </p:spPr>
      </p:sp>
      <p:grpSp>
        <p:nvGrpSpPr>
          <p:cNvPr id="4" name="!!rail-marker"/>
          <p:cNvGrpSpPr/>
          <p:nvPr/>
        </p:nvGrpSpPr>
        <p:grpSpPr>
          <a:xfrm>
            <a:off x="404812" y="12315825"/>
            <a:ext cx="247650" cy="247650"/>
            <a:chOff x="404812" y="12315825"/>
            <a:chExt cx="247650" cy="247650"/>
          </a:xfrm>
        </p:grpSpPr>
        <p:sp>
          <p:nvSpPr>
            <p:cNvPr id="3" name="Ellipse 3"/>
            <p:cNvSpPr/>
            <p:nvPr/>
          </p:nvSpPr>
          <p:spPr>
            <a:xfrm>
              <a:off x="404812" y="12315825"/>
              <a:ext cx="247650" cy="247650"/>
            </a:xfrm>
            <a:prstGeom prst="ellipse">
              <a:avLst/>
            </a:prstGeom>
            <a:solidFill>
              <a:schemeClr val="accent2"/>
            </a:solidFill>
            <a:ln>
              <a:noFill/>
            </a:ln>
          </p:spPr>
        </p:sp>
      </p:grpSp>
      <p:grpSp>
        <p:nvGrpSpPr>
          <p:cNvPr id="6" name="page-kicker"/>
          <p:cNvGrpSpPr/>
          <p:nvPr/>
        </p:nvGrpSpPr>
        <p:grpSpPr>
          <a:xfrm>
            <a:off x="824484" y="984885"/>
            <a:ext cx="2018195" cy="528066"/>
            <a:chOff x="824484" y="984885"/>
            <a:chExt cx="2018195" cy="528066"/>
          </a:xfrm>
        </p:grpSpPr>
        <p:sp>
          <p:nvSpPr>
            <p:cNvPr id="5" name="TextBox 5"/>
            <p:cNvSpPr txBox="1"/>
            <p:nvPr/>
          </p:nvSpPr>
          <p:spPr>
            <a:xfrm>
              <a:off x="824484" y="984885"/>
              <a:ext cx="2018195" cy="528066"/>
            </a:xfrm>
            <a:prstGeom prst="rect">
              <a:avLst/>
            </a:prstGeom>
            <a:noFill/>
            <a:ln>
              <a:noFill/>
            </a:ln>
          </p:spPr>
          <p:txBody>
            <a:bodyPr wrap="none" lIns="0" tIns="0" rIns="0" bIns="0" anchor="t" anchorCtr="0">
              <a:spAutoFit/>
            </a:bodyPr>
            <a:lstStyle/>
            <a:p>
              <a:pPr algn="l"/>
              <a:r>
                <a:rPr lang="zh-CN" sz="2700" spc="150" dirty="0">
                  <a:solidFill>
                    <a:schemeClr val="accent1"/>
                  </a:solidFill>
                  <a:latin typeface="+mn-lt"/>
                  <a:ea typeface="+mn-ea"/>
                  <a:cs typeface="+mn-cs"/>
                </a:rPr>
                <a:t>现场 · 烫伤</a:t>
              </a:r>
            </a:p>
          </p:txBody>
        </p:sp>
      </p:grpSp>
      <p:grpSp>
        <p:nvGrpSpPr>
          <p:cNvPr id="8" name="!!page-title"/>
          <p:cNvGrpSpPr/>
          <p:nvPr/>
        </p:nvGrpSpPr>
        <p:grpSpPr>
          <a:xfrm>
            <a:off x="819150" y="1733550"/>
            <a:ext cx="7176326" cy="1162050"/>
            <a:chOff x="819150" y="1733550"/>
            <a:chExt cx="7176326" cy="1162050"/>
          </a:xfrm>
        </p:grpSpPr>
        <p:sp>
          <p:nvSpPr>
            <p:cNvPr id="7" name="TextBox 7"/>
            <p:cNvSpPr txBox="1"/>
            <p:nvPr/>
          </p:nvSpPr>
          <p:spPr>
            <a:xfrm>
              <a:off x="819150" y="1733550"/>
              <a:ext cx="7176326" cy="1162050"/>
            </a:xfrm>
            <a:prstGeom prst="rect">
              <a:avLst/>
            </a:prstGeom>
            <a:noFill/>
            <a:ln>
              <a:noFill/>
            </a:ln>
          </p:spPr>
          <p:txBody>
            <a:bodyPr wrap="none" lIns="0" tIns="0" rIns="0" bIns="0" anchor="t" anchorCtr="0">
              <a:spAutoFit/>
            </a:bodyPr>
            <a:lstStyle/>
            <a:p>
              <a:pPr algn="l"/>
              <a:r>
                <a:rPr lang="zh-CN" sz="6000" b="1" dirty="0">
                  <a:solidFill>
                    <a:schemeClr val="dk1"/>
                  </a:solidFill>
                  <a:latin typeface="+mj-lt"/>
                  <a:ea typeface="+mj-ea"/>
                  <a:cs typeface="+mj-cs"/>
                </a:rPr>
                <a:t>烫伤:冲 脱 泡 盖 送</a:t>
              </a:r>
            </a:p>
          </p:txBody>
        </p:sp>
      </p:grpSp>
      <p:grpSp>
        <p:nvGrpSpPr>
          <p:cNvPr id="10" name="page-lead"/>
          <p:cNvGrpSpPr/>
          <p:nvPr/>
        </p:nvGrpSpPr>
        <p:grpSpPr>
          <a:xfrm>
            <a:off x="819150" y="3007995"/>
            <a:ext cx="8727148" cy="762000"/>
            <a:chOff x="819150" y="3007995"/>
            <a:chExt cx="8727148" cy="762000"/>
          </a:xfrm>
        </p:grpSpPr>
        <p:sp>
          <p:nvSpPr>
            <p:cNvPr id="9" name="TextBox 9"/>
            <p:cNvSpPr txBox="1"/>
            <p:nvPr/>
          </p:nvSpPr>
          <p:spPr>
            <a:xfrm>
              <a:off x="819150" y="3007995"/>
              <a:ext cx="8727148" cy="762000"/>
            </a:xfrm>
            <a:prstGeom prst="rect">
              <a:avLst/>
            </a:prstGeom>
            <a:noFill/>
            <a:ln>
              <a:noFill/>
            </a:ln>
          </p:spPr>
          <p:txBody>
            <a:bodyPr wrap="none" lIns="0" tIns="0" rIns="0" bIns="0" anchor="t" anchorCtr="0">
              <a:spAutoFit/>
            </a:bodyPr>
            <a:lstStyle/>
            <a:p>
              <a:pPr algn="l"/>
              <a:r>
                <a:rPr lang="zh-CN" sz="3900" dirty="0">
                  <a:solidFill>
                    <a:schemeClr val="dk1"/>
                  </a:solidFill>
                  <a:latin typeface="+mn-lt"/>
                  <a:ea typeface="+mn-ea"/>
                  <a:cs typeface="+mn-cs"/>
                </a:rPr>
                <a:t>第一步永远是</a:t>
              </a:r>
              <a:r>
                <a:rPr lang="zh-CN" sz="3900" b="1" dirty="0">
                  <a:solidFill>
                    <a:schemeClr val="accent2"/>
                  </a:solidFill>
                  <a:latin typeface="+mn-lt"/>
                  <a:ea typeface="+mn-ea"/>
                  <a:cs typeface="+mn-cs"/>
                </a:rPr>
                <a:t>常温自来水</a:t>
              </a:r>
              <a:r>
                <a:rPr lang="zh-CN" sz="3900" dirty="0">
                  <a:solidFill>
                    <a:schemeClr val="dk1"/>
                  </a:solidFill>
                  <a:latin typeface="+mn-lt"/>
                  <a:ea typeface="+mn-ea"/>
                  <a:cs typeface="+mn-cs"/>
                </a:rPr>
                <a:t>,冲够时间。</a:t>
              </a:r>
            </a:p>
          </p:txBody>
        </p:sp>
      </p:grpSp>
      <p:grpSp>
        <p:nvGrpSpPr>
          <p:cNvPr id="15" name="burn-hero"/>
          <p:cNvGrpSpPr/>
          <p:nvPr/>
        </p:nvGrpSpPr>
        <p:grpSpPr>
          <a:xfrm>
            <a:off x="1428750" y="3962400"/>
            <a:ext cx="9429750" cy="1772412"/>
            <a:chOff x="1428750" y="3962400"/>
            <a:chExt cx="9429750" cy="1772412"/>
          </a:xfrm>
        </p:grpSpPr>
        <p:sp>
          <p:nvSpPr>
            <p:cNvPr id="11" name="Rectangle 11"/>
            <p:cNvSpPr/>
            <p:nvPr/>
          </p:nvSpPr>
          <p:spPr>
            <a:xfrm>
              <a:off x="1428750" y="3962400"/>
              <a:ext cx="171450" cy="1600200"/>
            </a:xfrm>
            <a:prstGeom prst="rect">
              <a:avLst/>
            </a:prstGeom>
            <a:gradFill>
              <a:gsLst>
                <a:gs pos="0">
                  <a:srgbClr val="7FB7C9">
                    <a:alpha val="85000"/>
                  </a:srgbClr>
                </a:gs>
                <a:gs pos="100000">
                  <a:srgbClr val="7FB7C9">
                    <a:alpha val="15000"/>
                  </a:srgbClr>
                </a:gs>
              </a:gsLst>
              <a:lin ang="5400000" scaled="1"/>
            </a:gradFill>
            <a:ln>
              <a:noFill/>
            </a:ln>
          </p:spPr>
        </p:sp>
        <p:sp>
          <p:nvSpPr>
            <p:cNvPr id="12" name="TextBox 12"/>
            <p:cNvSpPr txBox="1"/>
            <p:nvPr/>
          </p:nvSpPr>
          <p:spPr>
            <a:xfrm>
              <a:off x="1847850" y="4175760"/>
              <a:ext cx="3401446"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mj-lt"/>
                  <a:ea typeface="+mj-ea"/>
                  <a:cs typeface="+mj-cs"/>
                </a:rPr>
                <a:t>20 分钟</a:t>
              </a:r>
            </a:p>
          </p:txBody>
        </p:sp>
        <p:sp>
          <p:nvSpPr>
            <p:cNvPr id="13" name="TextBox 13"/>
            <p:cNvSpPr txBox="1"/>
            <p:nvPr/>
          </p:nvSpPr>
          <p:spPr>
            <a:xfrm>
              <a:off x="1854708" y="5265420"/>
              <a:ext cx="6146902"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以上,冲得越早越好;3 小时内开始仍有意义</a:t>
              </a:r>
            </a:p>
          </p:txBody>
        </p:sp>
        <p:pic>
          <p:nvPicPr>
            <p:cNvPr id="14" name="Image 14"/>
            <p:cNvPicPr>
              <a:picLocks noChangeAspect="1"/>
            </p:cNvPicPr>
            <p:nvPr/>
          </p:nvPicPr>
          <p:blipFill>
            <a:blip r:embed="rId2"/>
            <a:stretch>
              <a:fillRect/>
            </a:stretch>
          </p:blipFill>
          <p:spPr>
            <a:xfrm>
              <a:off x="9144000" y="3976315"/>
              <a:ext cx="1714500" cy="1610470"/>
            </a:xfrm>
            <a:prstGeom prst="rect">
              <a:avLst/>
            </a:prstGeom>
          </p:spPr>
        </p:pic>
      </p:grpSp>
      <p:grpSp>
        <p:nvGrpSpPr>
          <p:cNvPr id="19" name="burn-step-1"/>
          <p:cNvGrpSpPr/>
          <p:nvPr/>
        </p:nvGrpSpPr>
        <p:grpSpPr>
          <a:xfrm>
            <a:off x="838200" y="5829300"/>
            <a:ext cx="10153650" cy="1143000"/>
            <a:chOff x="838200" y="5829300"/>
            <a:chExt cx="10153650" cy="1143000"/>
          </a:xfrm>
        </p:grpSpPr>
        <p:sp>
          <p:nvSpPr>
            <p:cNvPr id="16" name="Freeform 16"/>
            <p:cNvSpPr/>
            <p:nvPr/>
          </p:nvSpPr>
          <p:spPr>
            <a:xfrm>
              <a:off x="838200" y="5829300"/>
              <a:ext cx="10153650" cy="1143000"/>
            </a:xfrm>
            <a:prstGeom prst="chevron">
              <a:avLst/>
            </a:prstGeom>
            <a:solidFill>
              <a:schemeClr val="accent3"/>
            </a:solidFill>
            <a:ln w="19050">
              <a:solidFill>
                <a:schemeClr val="dk1"/>
              </a:solidFill>
            </a:ln>
          </p:spPr>
        </p:sp>
        <p:sp>
          <p:nvSpPr>
            <p:cNvPr id="17" name="TextBox 17"/>
            <p:cNvSpPr txBox="1"/>
            <p:nvPr/>
          </p:nvSpPr>
          <p:spPr>
            <a:xfrm>
              <a:off x="1657350" y="6137910"/>
              <a:ext cx="603504" cy="819150"/>
            </a:xfrm>
            <a:prstGeom prst="rect">
              <a:avLst/>
            </a:prstGeom>
            <a:noFill/>
            <a:ln>
              <a:noFill/>
            </a:ln>
          </p:spPr>
          <p:txBody>
            <a:bodyPr wrap="none" lIns="0" tIns="0" rIns="0" bIns="0" anchor="t" anchorCtr="0">
              <a:spAutoFit/>
            </a:bodyPr>
            <a:lstStyle/>
            <a:p>
              <a:pPr algn="l"/>
              <a:r>
                <a:rPr lang="zh-CN" sz="4200" b="1" dirty="0">
                  <a:solidFill>
                    <a:schemeClr val="dk1"/>
                  </a:solidFill>
                  <a:latin typeface="+mj-lt"/>
                  <a:ea typeface="+mj-ea"/>
                  <a:cs typeface="+mj-cs"/>
                </a:rPr>
                <a:t>冲</a:t>
              </a:r>
            </a:p>
          </p:txBody>
        </p:sp>
        <p:sp>
          <p:nvSpPr>
            <p:cNvPr id="18" name="TextBox 18"/>
            <p:cNvSpPr txBox="1"/>
            <p:nvPr/>
          </p:nvSpPr>
          <p:spPr>
            <a:xfrm>
              <a:off x="2426208" y="6065520"/>
              <a:ext cx="4855464" cy="850392"/>
            </a:xfrm>
            <a:prstGeom prst="rect">
              <a:avLst/>
            </a:prstGeom>
            <a:noFill/>
            <a:ln>
              <a:noFill/>
            </a:ln>
          </p:spPr>
          <p:txBody>
            <a:bodyPr wrap="none" lIns="0" tIns="0" rIns="0" bIns="0" anchor="t" anchorCtr="0">
              <a:spAutoFit/>
            </a:bodyPr>
            <a:lstStyle/>
            <a:p>
              <a:pPr algn="l">
                <a:lnSpc>
                  <a:spcPts val="3000"/>
                </a:lnSpc>
              </a:pPr>
              <a:r>
                <a:rPr lang="zh-CN" sz="2400" dirty="0">
                  <a:solidFill>
                    <a:schemeClr val="dk1"/>
                  </a:solidFill>
                  <a:latin typeface="+mn-lt"/>
                  <a:ea typeface="+mn-ea"/>
                  <a:cs typeface="+mn-cs"/>
                </a:rPr>
                <a:t>15~25℃ 常温自来水持续冲洗</a:t>
              </a:r>
              <a:br/>
              <a:r>
                <a:rPr lang="zh-CN" sz="2400" dirty="0">
                  <a:solidFill>
                    <a:schemeClr val="dk1"/>
                  </a:solidFill>
                  <a:latin typeface="+mn-lt"/>
                  <a:ea typeface="+mn-ea"/>
                  <a:cs typeface="+mn-cs"/>
                </a:rPr>
                <a:t>15~30 分钟,至少 15 分钟,越久越好</a:t>
              </a:r>
            </a:p>
          </p:txBody>
        </p:sp>
      </p:grpSp>
      <p:grpSp>
        <p:nvGrpSpPr>
          <p:cNvPr id="23" name="burn-step-2"/>
          <p:cNvGrpSpPr/>
          <p:nvPr/>
        </p:nvGrpSpPr>
        <p:grpSpPr>
          <a:xfrm>
            <a:off x="838200" y="7124700"/>
            <a:ext cx="10153650" cy="1143000"/>
            <a:chOff x="838200" y="7124700"/>
            <a:chExt cx="10153650" cy="1143000"/>
          </a:xfrm>
        </p:grpSpPr>
        <p:sp>
          <p:nvSpPr>
            <p:cNvPr id="20" name="Freeform 20"/>
            <p:cNvSpPr/>
            <p:nvPr/>
          </p:nvSpPr>
          <p:spPr>
            <a:xfrm>
              <a:off x="838200" y="7124700"/>
              <a:ext cx="10153650" cy="1143000"/>
            </a:xfrm>
            <a:prstGeom prst="chevron">
              <a:avLst/>
            </a:prstGeom>
            <a:solidFill>
              <a:schemeClr val="lt2"/>
            </a:solidFill>
            <a:ln w="19050">
              <a:solidFill>
                <a:schemeClr val="dk1"/>
              </a:solidFill>
            </a:ln>
          </p:spPr>
        </p:sp>
        <p:sp>
          <p:nvSpPr>
            <p:cNvPr id="21" name="TextBox 21"/>
            <p:cNvSpPr txBox="1"/>
            <p:nvPr/>
          </p:nvSpPr>
          <p:spPr>
            <a:xfrm>
              <a:off x="1657350" y="7433310"/>
              <a:ext cx="603504" cy="819150"/>
            </a:xfrm>
            <a:prstGeom prst="rect">
              <a:avLst/>
            </a:prstGeom>
            <a:noFill/>
            <a:ln>
              <a:noFill/>
            </a:ln>
          </p:spPr>
          <p:txBody>
            <a:bodyPr wrap="none" lIns="0" tIns="0" rIns="0" bIns="0" anchor="t" anchorCtr="0">
              <a:spAutoFit/>
            </a:bodyPr>
            <a:lstStyle/>
            <a:p>
              <a:pPr algn="l"/>
              <a:r>
                <a:rPr lang="zh-CN" sz="4200" b="1" dirty="0">
                  <a:solidFill>
                    <a:srgbClr val="C0392B"/>
                  </a:solidFill>
                  <a:latin typeface="+mj-lt"/>
                  <a:ea typeface="+mj-ea"/>
                  <a:cs typeface="+mj-cs"/>
                </a:rPr>
                <a:t>脱</a:t>
              </a:r>
            </a:p>
          </p:txBody>
        </p:sp>
        <p:sp>
          <p:nvSpPr>
            <p:cNvPr id="22" name="TextBox 22"/>
            <p:cNvSpPr txBox="1"/>
            <p:nvPr/>
          </p:nvSpPr>
          <p:spPr>
            <a:xfrm>
              <a:off x="2426208" y="7360920"/>
              <a:ext cx="5068824" cy="850392"/>
            </a:xfrm>
            <a:prstGeom prst="rect">
              <a:avLst/>
            </a:prstGeom>
            <a:noFill/>
            <a:ln>
              <a:noFill/>
            </a:ln>
          </p:spPr>
          <p:txBody>
            <a:bodyPr wrap="none" lIns="0" tIns="0" rIns="0" bIns="0" anchor="t" anchorCtr="0">
              <a:spAutoFit/>
            </a:bodyPr>
            <a:lstStyle/>
            <a:p>
              <a:pPr algn="l">
                <a:lnSpc>
                  <a:spcPts val="3000"/>
                </a:lnSpc>
              </a:pPr>
              <a:r>
                <a:rPr lang="zh-CN" sz="2400" dirty="0">
                  <a:solidFill>
                    <a:schemeClr val="dk1"/>
                  </a:solidFill>
                  <a:latin typeface="+mn-lt"/>
                  <a:ea typeface="+mn-ea"/>
                  <a:cs typeface="+mn-cs"/>
                </a:rPr>
                <a:t>冲洗后再轻柔脱去衣物</a:t>
              </a:r>
              <a:br/>
              <a:r>
                <a:rPr lang="zh-CN" sz="2400" dirty="0">
                  <a:solidFill>
                    <a:schemeClr val="dk1"/>
                  </a:solidFill>
                  <a:latin typeface="+mn-lt"/>
                  <a:ea typeface="+mn-ea"/>
                  <a:cs typeface="+mn-cs"/>
                </a:rPr>
                <a:t>粘连处用剪刀剪开周围,保留粘着部分</a:t>
              </a:r>
            </a:p>
          </p:txBody>
        </p:sp>
      </p:grpSp>
      <p:grpSp>
        <p:nvGrpSpPr>
          <p:cNvPr id="27" name="burn-step-3"/>
          <p:cNvGrpSpPr/>
          <p:nvPr/>
        </p:nvGrpSpPr>
        <p:grpSpPr>
          <a:xfrm>
            <a:off x="838200" y="8420100"/>
            <a:ext cx="10153650" cy="1143000"/>
            <a:chOff x="838200" y="8420100"/>
            <a:chExt cx="10153650" cy="1143000"/>
          </a:xfrm>
        </p:grpSpPr>
        <p:sp>
          <p:nvSpPr>
            <p:cNvPr id="24" name="Freeform 24"/>
            <p:cNvSpPr/>
            <p:nvPr/>
          </p:nvSpPr>
          <p:spPr>
            <a:xfrm>
              <a:off x="838200" y="8420100"/>
              <a:ext cx="10153650" cy="1143000"/>
            </a:xfrm>
            <a:prstGeom prst="chevron">
              <a:avLst/>
            </a:prstGeom>
            <a:solidFill>
              <a:schemeClr val="lt2"/>
            </a:solidFill>
            <a:ln w="19050">
              <a:solidFill>
                <a:schemeClr val="dk1"/>
              </a:solidFill>
            </a:ln>
          </p:spPr>
        </p:sp>
        <p:sp>
          <p:nvSpPr>
            <p:cNvPr id="25" name="TextBox 25"/>
            <p:cNvSpPr txBox="1"/>
            <p:nvPr/>
          </p:nvSpPr>
          <p:spPr>
            <a:xfrm>
              <a:off x="1657350" y="8728710"/>
              <a:ext cx="603504" cy="819150"/>
            </a:xfrm>
            <a:prstGeom prst="rect">
              <a:avLst/>
            </a:prstGeom>
            <a:noFill/>
            <a:ln>
              <a:noFill/>
            </a:ln>
          </p:spPr>
          <p:txBody>
            <a:bodyPr wrap="none" lIns="0" tIns="0" rIns="0" bIns="0" anchor="t" anchorCtr="0">
              <a:spAutoFit/>
            </a:bodyPr>
            <a:lstStyle/>
            <a:p>
              <a:pPr algn="l"/>
              <a:r>
                <a:rPr lang="zh-CN" sz="4200" b="1" dirty="0">
                  <a:solidFill>
                    <a:srgbClr val="C0392B"/>
                  </a:solidFill>
                  <a:latin typeface="+mj-lt"/>
                  <a:ea typeface="+mj-ea"/>
                  <a:cs typeface="+mj-cs"/>
                </a:rPr>
                <a:t>泡</a:t>
              </a:r>
            </a:p>
          </p:txBody>
        </p:sp>
        <p:sp>
          <p:nvSpPr>
            <p:cNvPr id="26" name="TextBox 26"/>
            <p:cNvSpPr txBox="1"/>
            <p:nvPr/>
          </p:nvSpPr>
          <p:spPr>
            <a:xfrm>
              <a:off x="2426208" y="8656320"/>
              <a:ext cx="4596384" cy="850392"/>
            </a:xfrm>
            <a:prstGeom prst="rect">
              <a:avLst/>
            </a:prstGeom>
            <a:noFill/>
            <a:ln>
              <a:noFill/>
            </a:ln>
          </p:spPr>
          <p:txBody>
            <a:bodyPr wrap="none" lIns="0" tIns="0" rIns="0" bIns="0" anchor="t" anchorCtr="0">
              <a:spAutoFit/>
            </a:bodyPr>
            <a:lstStyle/>
            <a:p>
              <a:pPr algn="l">
                <a:lnSpc>
                  <a:spcPts val="3000"/>
                </a:lnSpc>
              </a:pPr>
              <a:r>
                <a:rPr lang="zh-CN" sz="2400" dirty="0">
                  <a:solidFill>
                    <a:schemeClr val="dk1"/>
                  </a:solidFill>
                  <a:latin typeface="+mn-lt"/>
                  <a:ea typeface="+mn-ea"/>
                  <a:cs typeface="+mn-cs"/>
                </a:rPr>
                <a:t>小面积可用冷水浸泡 10~20 分钟</a:t>
              </a:r>
              <a:br/>
              <a:r>
                <a:rPr lang="zh-CN" sz="2400" dirty="0">
                  <a:solidFill>
                    <a:schemeClr val="dk1"/>
                  </a:solidFill>
                  <a:latin typeface="+mn-lt"/>
                  <a:ea typeface="+mn-ea"/>
                  <a:cs typeface="+mn-cs"/>
                </a:rPr>
                <a:t>大面积烫伤及老人、儿童禁止久泡</a:t>
              </a:r>
            </a:p>
          </p:txBody>
        </p:sp>
      </p:grpSp>
      <p:grpSp>
        <p:nvGrpSpPr>
          <p:cNvPr id="31" name="burn-step-4"/>
          <p:cNvGrpSpPr/>
          <p:nvPr/>
        </p:nvGrpSpPr>
        <p:grpSpPr>
          <a:xfrm>
            <a:off x="838200" y="9715500"/>
            <a:ext cx="10153650" cy="1143000"/>
            <a:chOff x="838200" y="9715500"/>
            <a:chExt cx="10153650" cy="1143000"/>
          </a:xfrm>
        </p:grpSpPr>
        <p:sp>
          <p:nvSpPr>
            <p:cNvPr id="28" name="Freeform 28"/>
            <p:cNvSpPr/>
            <p:nvPr/>
          </p:nvSpPr>
          <p:spPr>
            <a:xfrm>
              <a:off x="838200" y="9715500"/>
              <a:ext cx="10153650" cy="1143000"/>
            </a:xfrm>
            <a:prstGeom prst="chevron">
              <a:avLst/>
            </a:prstGeom>
            <a:solidFill>
              <a:schemeClr val="lt2"/>
            </a:solidFill>
            <a:ln w="19050">
              <a:solidFill>
                <a:schemeClr val="dk1"/>
              </a:solidFill>
            </a:ln>
          </p:spPr>
        </p:sp>
        <p:sp>
          <p:nvSpPr>
            <p:cNvPr id="29" name="TextBox 29"/>
            <p:cNvSpPr txBox="1"/>
            <p:nvPr/>
          </p:nvSpPr>
          <p:spPr>
            <a:xfrm>
              <a:off x="1657350" y="10024110"/>
              <a:ext cx="603504" cy="819150"/>
            </a:xfrm>
            <a:prstGeom prst="rect">
              <a:avLst/>
            </a:prstGeom>
            <a:noFill/>
            <a:ln>
              <a:noFill/>
            </a:ln>
          </p:spPr>
          <p:txBody>
            <a:bodyPr wrap="none" lIns="0" tIns="0" rIns="0" bIns="0" anchor="t" anchorCtr="0">
              <a:spAutoFit/>
            </a:bodyPr>
            <a:lstStyle/>
            <a:p>
              <a:pPr algn="l"/>
              <a:r>
                <a:rPr lang="zh-CN" sz="4200" b="1" dirty="0">
                  <a:solidFill>
                    <a:srgbClr val="C0392B"/>
                  </a:solidFill>
                  <a:latin typeface="+mj-lt"/>
                  <a:ea typeface="+mj-ea"/>
                  <a:cs typeface="+mj-cs"/>
                </a:rPr>
                <a:t>盖</a:t>
              </a:r>
            </a:p>
          </p:txBody>
        </p:sp>
        <p:sp>
          <p:nvSpPr>
            <p:cNvPr id="30" name="TextBox 30"/>
            <p:cNvSpPr txBox="1"/>
            <p:nvPr/>
          </p:nvSpPr>
          <p:spPr>
            <a:xfrm>
              <a:off x="2426208" y="9951720"/>
              <a:ext cx="4764024" cy="850392"/>
            </a:xfrm>
            <a:prstGeom prst="rect">
              <a:avLst/>
            </a:prstGeom>
            <a:noFill/>
            <a:ln>
              <a:noFill/>
            </a:ln>
          </p:spPr>
          <p:txBody>
            <a:bodyPr wrap="none" lIns="0" tIns="0" rIns="0" bIns="0" anchor="t" anchorCtr="0">
              <a:spAutoFit/>
            </a:bodyPr>
            <a:lstStyle/>
            <a:p>
              <a:pPr algn="l">
                <a:lnSpc>
                  <a:spcPts val="3000"/>
                </a:lnSpc>
              </a:pPr>
              <a:r>
                <a:rPr lang="zh-CN" sz="2400" dirty="0">
                  <a:solidFill>
                    <a:schemeClr val="dk1"/>
                  </a:solidFill>
                  <a:latin typeface="+mn-lt"/>
                  <a:ea typeface="+mn-ea"/>
                  <a:cs typeface="+mn-cs"/>
                </a:rPr>
                <a:t>无菌纱布或干净棉布轻覆创面</a:t>
              </a:r>
              <a:br/>
              <a:r>
                <a:rPr lang="zh-CN" sz="2400" dirty="0">
                  <a:solidFill>
                    <a:schemeClr val="dk1"/>
                  </a:solidFill>
                  <a:latin typeface="+mn-lt"/>
                  <a:ea typeface="+mn-ea"/>
                  <a:cs typeface="+mn-cs"/>
                </a:rPr>
                <a:t>冷却后保鲜膜可平铺覆盖,不要缠绕</a:t>
              </a:r>
            </a:p>
          </p:txBody>
        </p:sp>
      </p:grpSp>
      <p:grpSp>
        <p:nvGrpSpPr>
          <p:cNvPr id="35" name="burn-step-5"/>
          <p:cNvGrpSpPr/>
          <p:nvPr/>
        </p:nvGrpSpPr>
        <p:grpSpPr>
          <a:xfrm>
            <a:off x="838200" y="11010900"/>
            <a:ext cx="10153650" cy="1143000"/>
            <a:chOff x="838200" y="11010900"/>
            <a:chExt cx="10153650" cy="1143000"/>
          </a:xfrm>
        </p:grpSpPr>
        <p:sp>
          <p:nvSpPr>
            <p:cNvPr id="32" name="Freeform 32"/>
            <p:cNvSpPr/>
            <p:nvPr/>
          </p:nvSpPr>
          <p:spPr>
            <a:xfrm>
              <a:off x="838200" y="11010900"/>
              <a:ext cx="10153650" cy="1143000"/>
            </a:xfrm>
            <a:prstGeom prst="chevron">
              <a:avLst/>
            </a:prstGeom>
            <a:solidFill>
              <a:schemeClr val="lt2"/>
            </a:solidFill>
            <a:ln w="19050">
              <a:solidFill>
                <a:schemeClr val="dk1"/>
              </a:solidFill>
            </a:ln>
          </p:spPr>
        </p:sp>
        <p:sp>
          <p:nvSpPr>
            <p:cNvPr id="33" name="TextBox 33"/>
            <p:cNvSpPr txBox="1"/>
            <p:nvPr/>
          </p:nvSpPr>
          <p:spPr>
            <a:xfrm>
              <a:off x="1657350" y="11319510"/>
              <a:ext cx="603504" cy="819150"/>
            </a:xfrm>
            <a:prstGeom prst="rect">
              <a:avLst/>
            </a:prstGeom>
            <a:noFill/>
            <a:ln>
              <a:noFill/>
            </a:ln>
          </p:spPr>
          <p:txBody>
            <a:bodyPr wrap="none" lIns="0" tIns="0" rIns="0" bIns="0" anchor="t" anchorCtr="0">
              <a:spAutoFit/>
            </a:bodyPr>
            <a:lstStyle/>
            <a:p>
              <a:pPr algn="l"/>
              <a:r>
                <a:rPr lang="zh-CN" sz="4200" b="1" dirty="0">
                  <a:solidFill>
                    <a:srgbClr val="C0392B"/>
                  </a:solidFill>
                  <a:latin typeface="+mj-lt"/>
                  <a:ea typeface="+mj-ea"/>
                  <a:cs typeface="+mj-cs"/>
                </a:rPr>
                <a:t>送</a:t>
              </a:r>
            </a:p>
          </p:txBody>
        </p:sp>
        <p:sp>
          <p:nvSpPr>
            <p:cNvPr id="34" name="TextBox 34"/>
            <p:cNvSpPr txBox="1"/>
            <p:nvPr/>
          </p:nvSpPr>
          <p:spPr>
            <a:xfrm>
              <a:off x="2426208" y="11247120"/>
              <a:ext cx="5510784" cy="850392"/>
            </a:xfrm>
            <a:prstGeom prst="rect">
              <a:avLst/>
            </a:prstGeom>
            <a:noFill/>
            <a:ln>
              <a:noFill/>
            </a:ln>
          </p:spPr>
          <p:txBody>
            <a:bodyPr wrap="none" lIns="0" tIns="0" rIns="0" bIns="0" anchor="t" anchorCtr="0">
              <a:spAutoFit/>
            </a:bodyPr>
            <a:lstStyle/>
            <a:p>
              <a:pPr algn="l">
                <a:lnSpc>
                  <a:spcPts val="3000"/>
                </a:lnSpc>
              </a:pPr>
              <a:r>
                <a:rPr lang="zh-CN" sz="2400" dirty="0">
                  <a:solidFill>
                    <a:schemeClr val="dk1"/>
                  </a:solidFill>
                  <a:latin typeface="+mn-lt"/>
                  <a:ea typeface="+mn-ea"/>
                  <a:cs typeface="+mn-cs"/>
                </a:rPr>
                <a:t>面积大于手掌、起泡变色、头面部或关节</a:t>
              </a:r>
              <a:br/>
              <a:r>
                <a:rPr lang="zh-CN" sz="2400" dirty="0">
                  <a:solidFill>
                    <a:schemeClr val="dk1"/>
                  </a:solidFill>
                  <a:latin typeface="+mn-lt"/>
                  <a:ea typeface="+mn-ea"/>
                  <a:cs typeface="+mn-cs"/>
                </a:rPr>
                <a:t>婴幼儿或老人、化学或电烧伤,立即就医</a:t>
              </a:r>
            </a:p>
          </p:txBody>
        </p:sp>
      </p:grpSp>
      <p:grpSp>
        <p:nvGrpSpPr>
          <p:cNvPr id="37" name="burn-donts"/>
          <p:cNvGrpSpPr/>
          <p:nvPr/>
        </p:nvGrpSpPr>
        <p:grpSpPr>
          <a:xfrm>
            <a:off x="826008" y="12275820"/>
            <a:ext cx="8071104" cy="1612392"/>
            <a:chOff x="826008" y="12275820"/>
            <a:chExt cx="8071104" cy="1612392"/>
          </a:xfrm>
        </p:grpSpPr>
        <p:sp>
          <p:nvSpPr>
            <p:cNvPr id="36" name="TextBox 36"/>
            <p:cNvSpPr txBox="1"/>
            <p:nvPr/>
          </p:nvSpPr>
          <p:spPr>
            <a:xfrm>
              <a:off x="826008" y="12275820"/>
              <a:ext cx="8071104" cy="1612392"/>
            </a:xfrm>
            <a:prstGeom prst="rect">
              <a:avLst/>
            </a:prstGeom>
            <a:noFill/>
            <a:ln>
              <a:noFill/>
            </a:ln>
          </p:spPr>
          <p:txBody>
            <a:bodyPr wrap="none" lIns="0" tIns="0" rIns="0" bIns="0" anchor="t" anchorCtr="0">
              <a:spAutoFit/>
            </a:bodyPr>
            <a:lstStyle/>
            <a:p>
              <a:pPr algn="l">
                <a:lnSpc>
                  <a:spcPts val="3000"/>
                </a:lnSpc>
              </a:pPr>
              <a:r>
                <a:rPr lang="zh-CN" sz="2400" dirty="0">
                  <a:solidFill>
                    <a:srgbClr val="C0392B"/>
                  </a:solidFill>
                  <a:latin typeface="+mn-lt"/>
                  <a:ea typeface="+mn-ea"/>
                  <a:cs typeface="+mn-cs"/>
                </a:rPr>
                <a:t>不要涂牙膏、酱油、醋、香油、草木灰,也不要涂乳膏油类;</a:t>
              </a:r>
              <a:br/>
              <a:r>
                <a:rPr lang="zh-CN" sz="2400" dirty="0">
                  <a:solidFill>
                    <a:srgbClr val="C0392B"/>
                  </a:solidFill>
                  <a:latin typeface="+mn-lt"/>
                  <a:ea typeface="+mn-ea"/>
                  <a:cs typeface="+mn-cs"/>
                </a:rPr>
                <a:t>不要用冰块或冰水冷却,可能造成进一步组织损伤;</a:t>
              </a:r>
              <a:br/>
              <a:r>
                <a:rPr lang="zh-CN" sz="2400" dirty="0">
                  <a:solidFill>
                    <a:srgbClr val="C0392B"/>
                  </a:solidFill>
                  <a:latin typeface="+mn-lt"/>
                  <a:ea typeface="+mn-ea"/>
                  <a:cs typeface="+mn-cs"/>
                </a:rPr>
                <a:t>不要强行撕扯粘在皮肤上的衣物;</a:t>
              </a:r>
              <a:br/>
              <a:r>
                <a:rPr lang="zh-CN" sz="2400" dirty="0">
                  <a:solidFill>
                    <a:srgbClr val="C0392B"/>
                  </a:solidFill>
                  <a:latin typeface="+mn-lt"/>
                  <a:ea typeface="+mn-ea"/>
                  <a:cs typeface="+mn-cs"/>
                </a:rPr>
                <a:t>小于 1 厘米的水疱保留,大于 1 厘米交医生,严禁自己挑破。</a:t>
              </a:r>
            </a:p>
          </p:txBody>
        </p:sp>
      </p:grpSp>
      <p:grpSp>
        <p:nvGrpSpPr>
          <p:cNvPr id="40" name="page-footer"/>
          <p:cNvGrpSpPr/>
          <p:nvPr/>
        </p:nvGrpSpPr>
        <p:grpSpPr>
          <a:xfrm>
            <a:off x="828294" y="14191298"/>
            <a:ext cx="10173462" cy="705231"/>
            <a:chOff x="828294" y="14191298"/>
            <a:chExt cx="10173462" cy="705231"/>
          </a:xfrm>
        </p:grpSpPr>
        <p:sp>
          <p:nvSpPr>
            <p:cNvPr id="38" name="TextBox 38"/>
            <p:cNvSpPr txBox="1"/>
            <p:nvPr/>
          </p:nvSpPr>
          <p:spPr>
            <a:xfrm>
              <a:off x="828294" y="14191298"/>
              <a:ext cx="6805422" cy="705231"/>
            </a:xfrm>
            <a:prstGeom prst="rect">
              <a:avLst/>
            </a:prstGeom>
            <a:noFill/>
            <a:ln>
              <a:noFill/>
            </a:ln>
          </p:spPr>
          <p:txBody>
            <a:bodyPr wrap="none" lIns="0" tIns="0" rIns="0" bIns="0" anchor="t" anchorCtr="0">
              <a:spAutoFit/>
            </a:bodyPr>
            <a:lstStyle/>
            <a:p>
              <a:pPr algn="l">
                <a:lnSpc>
                  <a:spcPts val="2550"/>
                </a:lnSpc>
              </a:pPr>
              <a:r>
                <a:rPr lang="zh-CN" sz="1950" dirty="0">
                  <a:solidFill>
                    <a:schemeClr val="accent5"/>
                  </a:solidFill>
                  <a:latin typeface="+mn-lt"/>
                  <a:ea typeface="+mn-ea"/>
                  <a:cs typeface="+mn-cs"/>
                </a:rPr>
                <a:t>来源:国内卫健系统烫伤急救科普(15~25℃、15~30 分钟);</a:t>
              </a:r>
              <a:br/>
              <a:r>
                <a:rPr lang="zh-CN" sz="1950" dirty="0">
                  <a:solidFill>
                    <a:schemeClr val="accent5"/>
                  </a:solidFill>
                  <a:latin typeface="+mn-lt"/>
                  <a:ea typeface="+mn-ea"/>
                  <a:cs typeface="+mn-cs"/>
                </a:rPr>
                <a:t>英国 NHS 与澳新复苏委员会 ANZCOR 烧伤急救指南(≥20 分钟)</a:t>
              </a:r>
            </a:p>
          </p:txBody>
        </p:sp>
        <p:sp>
          <p:nvSpPr>
            <p:cNvPr id="39" name="TextBox 39"/>
            <p:cNvSpPr txBox="1"/>
            <p:nvPr/>
          </p:nvSpPr>
          <p:spPr>
            <a:xfrm>
              <a:off x="10391299" y="14515148"/>
              <a:ext cx="610457" cy="381381"/>
            </a:xfrm>
            <a:prstGeom prst="rect">
              <a:avLst/>
            </a:prstGeom>
            <a:noFill/>
            <a:ln>
              <a:noFill/>
            </a:ln>
          </p:spPr>
          <p:txBody>
            <a:bodyPr wrap="none" lIns="0" tIns="0" rIns="0" bIns="0" anchor="t" anchorCtr="0">
              <a:spAutoFit/>
            </a:bodyPr>
            <a:lstStyle/>
            <a:p>
              <a:pPr algn="r"/>
              <a:r>
                <a:rPr lang="zh-CN" sz="1950" dirty="0">
                  <a:solidFill>
                    <a:schemeClr val="accent5"/>
                  </a:solidFill>
                  <a:latin typeface="+mn-lt"/>
                  <a:ea typeface="+mn-ea"/>
                  <a:cs typeface="+mn-cs"/>
                </a:rPr>
                <a:t>8 / 9</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400"/>
                            </p:stCondLst>
                            <p:childTnLst>
                              <p:par>
                                <p:cTn id="9" presetID="23" presetClass="entr" presetSubtype="16"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childTnLst>
                                </p:cTn>
                              </p:par>
                            </p:childTnLst>
                          </p:cTn>
                        </p:par>
                        <p:par>
                          <p:cTn id="13" fill="hold">
                            <p:stCondLst>
                              <p:cond delay="1400"/>
                            </p:stCondLst>
                            <p:childTnLst>
                              <p:par>
                                <p:cTn id="14" presetID="22" presetClass="entr" presetSubtype="2" fill="hold" grpId="0" nodeType="afterEffect">
                                  <p:stCondLst>
                                    <p:cond delay="500"/>
                                  </p:stCondLst>
                                  <p:childTnLst>
                                    <p:set>
                                      <p:cBhvr>
                                        <p:cTn id="15" dur="1" fill="hold">
                                          <p:stCondLst>
                                            <p:cond delay="0"/>
                                          </p:stCondLst>
                                        </p:cTn>
                                        <p:tgtEl>
                                          <p:spTgt spid="19"/>
                                        </p:tgtEl>
                                        <p:attrNameLst>
                                          <p:attrName>style.visibility</p:attrName>
                                        </p:attrNameLst>
                                      </p:cBhvr>
                                      <p:to>
                                        <p:strVal val="visible"/>
                                      </p:to>
                                    </p:set>
                                    <p:animEffect transition="in" filter="wipe(right)">
                                      <p:cBhvr>
                                        <p:cTn id="16" dur="400"/>
                                        <p:tgtEl>
                                          <p:spTgt spid="19"/>
                                        </p:tgtEl>
                                      </p:cBhvr>
                                    </p:animEffect>
                                  </p:childTnLst>
                                </p:cTn>
                              </p:par>
                            </p:childTnLst>
                          </p:cTn>
                        </p:par>
                        <p:par>
                          <p:cTn id="17" fill="hold">
                            <p:stCondLst>
                              <p:cond delay="2300"/>
                            </p:stCondLst>
                            <p:childTnLst>
                              <p:par>
                                <p:cTn id="18" presetID="22" presetClass="entr" presetSubtype="2" fill="hold" grpId="0" nodeType="afterEffect">
                                  <p:stCondLst>
                                    <p:cond delay="500"/>
                                  </p:stCondLst>
                                  <p:childTnLst>
                                    <p:set>
                                      <p:cBhvr>
                                        <p:cTn id="19" dur="1" fill="hold">
                                          <p:stCondLst>
                                            <p:cond delay="0"/>
                                          </p:stCondLst>
                                        </p:cTn>
                                        <p:tgtEl>
                                          <p:spTgt spid="23"/>
                                        </p:tgtEl>
                                        <p:attrNameLst>
                                          <p:attrName>style.visibility</p:attrName>
                                        </p:attrNameLst>
                                      </p:cBhvr>
                                      <p:to>
                                        <p:strVal val="visible"/>
                                      </p:to>
                                    </p:set>
                                    <p:animEffect transition="in" filter="wipe(right)">
                                      <p:cBhvr>
                                        <p:cTn id="20" dur="350"/>
                                        <p:tgtEl>
                                          <p:spTgt spid="23"/>
                                        </p:tgtEl>
                                      </p:cBhvr>
                                    </p:animEffect>
                                  </p:childTnLst>
                                </p:cTn>
                              </p:par>
                            </p:childTnLst>
                          </p:cTn>
                        </p:par>
                        <p:par>
                          <p:cTn id="21" fill="hold">
                            <p:stCondLst>
                              <p:cond delay="3150"/>
                            </p:stCondLst>
                            <p:childTnLst>
                              <p:par>
                                <p:cTn id="22" presetID="22" presetClass="entr" presetSubtype="2" fill="hold" grpId="0" nodeType="afterEffect">
                                  <p:stCondLst>
                                    <p:cond delay="500"/>
                                  </p:stCondLst>
                                  <p:childTnLst>
                                    <p:set>
                                      <p:cBhvr>
                                        <p:cTn id="23" dur="1" fill="hold">
                                          <p:stCondLst>
                                            <p:cond delay="0"/>
                                          </p:stCondLst>
                                        </p:cTn>
                                        <p:tgtEl>
                                          <p:spTgt spid="27"/>
                                        </p:tgtEl>
                                        <p:attrNameLst>
                                          <p:attrName>style.visibility</p:attrName>
                                        </p:attrNameLst>
                                      </p:cBhvr>
                                      <p:to>
                                        <p:strVal val="visible"/>
                                      </p:to>
                                    </p:set>
                                    <p:animEffect transition="in" filter="wipe(right)">
                                      <p:cBhvr>
                                        <p:cTn id="24" dur="350"/>
                                        <p:tgtEl>
                                          <p:spTgt spid="27"/>
                                        </p:tgtEl>
                                      </p:cBhvr>
                                    </p:animEffect>
                                  </p:childTnLst>
                                </p:cTn>
                              </p:par>
                            </p:childTnLst>
                          </p:cTn>
                        </p:par>
                        <p:par>
                          <p:cTn id="25" fill="hold">
                            <p:stCondLst>
                              <p:cond delay="4000"/>
                            </p:stCondLst>
                            <p:childTnLst>
                              <p:par>
                                <p:cTn id="26" presetID="22" presetClass="entr" presetSubtype="2" fill="hold" grpId="0" nodeType="afterEffect">
                                  <p:stCondLst>
                                    <p:cond delay="500"/>
                                  </p:stCondLst>
                                  <p:childTnLst>
                                    <p:set>
                                      <p:cBhvr>
                                        <p:cTn id="27" dur="1" fill="hold">
                                          <p:stCondLst>
                                            <p:cond delay="0"/>
                                          </p:stCondLst>
                                        </p:cTn>
                                        <p:tgtEl>
                                          <p:spTgt spid="31"/>
                                        </p:tgtEl>
                                        <p:attrNameLst>
                                          <p:attrName>style.visibility</p:attrName>
                                        </p:attrNameLst>
                                      </p:cBhvr>
                                      <p:to>
                                        <p:strVal val="visible"/>
                                      </p:to>
                                    </p:set>
                                    <p:animEffect transition="in" filter="wipe(right)">
                                      <p:cBhvr>
                                        <p:cTn id="28" dur="350"/>
                                        <p:tgtEl>
                                          <p:spTgt spid="31"/>
                                        </p:tgtEl>
                                      </p:cBhvr>
                                    </p:animEffect>
                                  </p:childTnLst>
                                </p:cTn>
                              </p:par>
                            </p:childTnLst>
                          </p:cTn>
                        </p:par>
                        <p:par>
                          <p:cTn id="29" fill="hold">
                            <p:stCondLst>
                              <p:cond delay="4850"/>
                            </p:stCondLst>
                            <p:childTnLst>
                              <p:par>
                                <p:cTn id="30" presetID="22" presetClass="entr" presetSubtype="2" fill="hold" grpId="0" nodeType="afterEffect">
                                  <p:stCondLst>
                                    <p:cond delay="500"/>
                                  </p:stCondLst>
                                  <p:childTnLst>
                                    <p:set>
                                      <p:cBhvr>
                                        <p:cTn id="31" dur="1" fill="hold">
                                          <p:stCondLst>
                                            <p:cond delay="0"/>
                                          </p:stCondLst>
                                        </p:cTn>
                                        <p:tgtEl>
                                          <p:spTgt spid="35"/>
                                        </p:tgtEl>
                                        <p:attrNameLst>
                                          <p:attrName>style.visibility</p:attrName>
                                        </p:attrNameLst>
                                      </p:cBhvr>
                                      <p:to>
                                        <p:strVal val="visible"/>
                                      </p:to>
                                    </p:set>
                                    <p:animEffect transition="in" filter="wipe(right)">
                                      <p:cBhvr>
                                        <p:cTn id="32" dur="350"/>
                                        <p:tgtEl>
                                          <p:spTgt spid="35"/>
                                        </p:tgtEl>
                                      </p:cBhvr>
                                    </p:animEffect>
                                  </p:childTnLst>
                                </p:cTn>
                              </p:par>
                            </p:childTnLst>
                          </p:cTn>
                        </p:par>
                        <p:par>
                          <p:cTn id="33" fill="hold">
                            <p:stCondLst>
                              <p:cond delay="5700"/>
                            </p:stCondLst>
                            <p:childTnLst>
                              <p:par>
                                <p:cTn id="34" presetID="10" presetClass="entr" presetSubtype="0" fill="hold" grpId="0" nodeType="afterEffect">
                                  <p:stCondLst>
                                    <p:cond delay="30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ail"/>
          <p:cNvSpPr/>
          <p:nvPr/>
        </p:nvSpPr>
        <p:spPr>
          <a:xfrm>
            <a:off x="514350" y="838200"/>
            <a:ext cx="28575" cy="14135100"/>
          </a:xfrm>
          <a:prstGeom prst="rect">
            <a:avLst/>
          </a:prstGeom>
          <a:solidFill>
            <a:schemeClr val="accent1">
              <a:alpha val="30000"/>
            </a:schemeClr>
          </a:solidFill>
          <a:ln>
            <a:noFill/>
          </a:ln>
        </p:spPr>
      </p:sp>
      <p:grpSp>
        <p:nvGrpSpPr>
          <p:cNvPr id="4" name="rail-marker"/>
          <p:cNvGrpSpPr/>
          <p:nvPr/>
        </p:nvGrpSpPr>
        <p:grpSpPr>
          <a:xfrm>
            <a:off x="404812" y="13916025"/>
            <a:ext cx="247650" cy="247650"/>
            <a:chOff x="404812" y="13916025"/>
            <a:chExt cx="247650" cy="247650"/>
          </a:xfrm>
        </p:grpSpPr>
        <p:sp>
          <p:nvSpPr>
            <p:cNvPr id="3" name="Ellipse 3"/>
            <p:cNvSpPr/>
            <p:nvPr/>
          </p:nvSpPr>
          <p:spPr>
            <a:xfrm>
              <a:off x="404812" y="13916025"/>
              <a:ext cx="247650" cy="247650"/>
            </a:xfrm>
            <a:prstGeom prst="ellipse">
              <a:avLst/>
            </a:prstGeom>
            <a:solidFill>
              <a:schemeClr val="accent2"/>
            </a:solidFill>
            <a:ln>
              <a:noFill/>
            </a:ln>
          </p:spPr>
        </p:sp>
      </p:grpSp>
      <p:grpSp>
        <p:nvGrpSpPr>
          <p:cNvPr id="6" name="page-kicker"/>
          <p:cNvGrpSpPr/>
          <p:nvPr/>
        </p:nvGrpSpPr>
        <p:grpSpPr>
          <a:xfrm>
            <a:off x="824484" y="984885"/>
            <a:ext cx="2785529" cy="528066"/>
            <a:chOff x="824484" y="984885"/>
            <a:chExt cx="2785529" cy="528066"/>
          </a:xfrm>
        </p:grpSpPr>
        <p:sp>
          <p:nvSpPr>
            <p:cNvPr id="5" name="TextBox 5"/>
            <p:cNvSpPr txBox="1"/>
            <p:nvPr/>
          </p:nvSpPr>
          <p:spPr>
            <a:xfrm>
              <a:off x="824484" y="984885"/>
              <a:ext cx="2785529" cy="528066"/>
            </a:xfrm>
            <a:prstGeom prst="rect">
              <a:avLst/>
            </a:prstGeom>
            <a:noFill/>
            <a:ln>
              <a:noFill/>
            </a:ln>
          </p:spPr>
          <p:txBody>
            <a:bodyPr wrap="none" lIns="0" tIns="0" rIns="0" bIns="0" anchor="t" anchorCtr="0">
              <a:spAutoFit/>
            </a:bodyPr>
            <a:lstStyle/>
            <a:p>
              <a:pPr algn="l"/>
              <a:r>
                <a:rPr lang="zh-CN" sz="2700" spc="150" dirty="0">
                  <a:solidFill>
                    <a:schemeClr val="accent1"/>
                  </a:solidFill>
                  <a:latin typeface="+mn-lt"/>
                  <a:ea typeface="+mn-ea"/>
                  <a:cs typeface="+mn-cs"/>
                </a:rPr>
                <a:t>收尾 · 长按保存</a:t>
              </a:r>
            </a:p>
          </p:txBody>
        </p:sp>
      </p:grpSp>
      <p:grpSp>
        <p:nvGrpSpPr>
          <p:cNvPr id="8" name="page-title"/>
          <p:cNvGrpSpPr/>
          <p:nvPr/>
        </p:nvGrpSpPr>
        <p:grpSpPr>
          <a:xfrm>
            <a:off x="819150" y="1733550"/>
            <a:ext cx="6966318" cy="1162050"/>
            <a:chOff x="819150" y="1733550"/>
            <a:chExt cx="6966318" cy="1162050"/>
          </a:xfrm>
        </p:grpSpPr>
        <p:sp>
          <p:nvSpPr>
            <p:cNvPr id="7" name="TextBox 7"/>
            <p:cNvSpPr txBox="1"/>
            <p:nvPr/>
          </p:nvSpPr>
          <p:spPr>
            <a:xfrm>
              <a:off x="819150" y="1733550"/>
              <a:ext cx="6966318" cy="1162050"/>
            </a:xfrm>
            <a:prstGeom prst="rect">
              <a:avLst/>
            </a:prstGeom>
            <a:noFill/>
            <a:ln>
              <a:noFill/>
            </a:ln>
          </p:spPr>
          <p:txBody>
            <a:bodyPr wrap="none" lIns="0" tIns="0" rIns="0" bIns="0" anchor="t" anchorCtr="0">
              <a:spAutoFit/>
            </a:bodyPr>
            <a:lstStyle/>
            <a:p>
              <a:pPr algn="l"/>
              <a:r>
                <a:rPr lang="zh-CN" sz="6000" b="1" dirty="0">
                  <a:solidFill>
                    <a:schemeClr val="dk1"/>
                  </a:solidFill>
                  <a:latin typeface="+mj-lt"/>
                  <a:ea typeface="+mj-ea"/>
                  <a:cs typeface="+mj-cs"/>
                </a:rPr>
                <a:t>一张总表,长按保存</a:t>
              </a:r>
            </a:p>
          </p:txBody>
        </p:sp>
      </p:grpSp>
      <p:grpSp>
        <p:nvGrpSpPr>
          <p:cNvPr id="10" name="page-lead"/>
          <p:cNvGrpSpPr/>
          <p:nvPr/>
        </p:nvGrpSpPr>
        <p:grpSpPr>
          <a:xfrm>
            <a:off x="819150" y="2988945"/>
            <a:ext cx="6338316" cy="762000"/>
            <a:chOff x="819150" y="2988945"/>
            <a:chExt cx="6338316" cy="762000"/>
          </a:xfrm>
        </p:grpSpPr>
        <p:sp>
          <p:nvSpPr>
            <p:cNvPr id="9" name="TextBox 9"/>
            <p:cNvSpPr txBox="1"/>
            <p:nvPr/>
          </p:nvSpPr>
          <p:spPr>
            <a:xfrm>
              <a:off x="819150" y="2988945"/>
              <a:ext cx="6338316" cy="762000"/>
            </a:xfrm>
            <a:prstGeom prst="rect">
              <a:avLst/>
            </a:prstGeom>
            <a:noFill/>
            <a:ln>
              <a:noFill/>
            </a:ln>
          </p:spPr>
          <p:txBody>
            <a:bodyPr wrap="none" lIns="0" tIns="0" rIns="0" bIns="0" anchor="t" anchorCtr="0">
              <a:spAutoFit/>
            </a:bodyPr>
            <a:lstStyle/>
            <a:p>
              <a:pPr algn="l"/>
              <a:r>
                <a:rPr lang="zh-CN" sz="3900" dirty="0">
                  <a:solidFill>
                    <a:schemeClr val="dk1"/>
                  </a:solidFill>
                  <a:latin typeface="+mn-lt"/>
                  <a:ea typeface="+mn-ea"/>
                  <a:cs typeface="+mn-cs"/>
                </a:rPr>
                <a:t>照着买、照着清、</a:t>
              </a:r>
              <a:r>
                <a:rPr lang="zh-CN" sz="3900" b="1" dirty="0">
                  <a:solidFill>
                    <a:schemeClr val="accent2"/>
                  </a:solidFill>
                  <a:latin typeface="+mn-lt"/>
                  <a:ea typeface="+mn-ea"/>
                  <a:cs typeface="+mn-cs"/>
                </a:rPr>
                <a:t>照着查</a:t>
              </a:r>
              <a:r>
                <a:rPr lang="zh-CN" sz="3900" dirty="0">
                  <a:solidFill>
                    <a:schemeClr val="dk1"/>
                  </a:solidFill>
                  <a:latin typeface="+mn-lt"/>
                  <a:ea typeface="+mn-ea"/>
                  <a:cs typeface="+mn-cs"/>
                </a:rPr>
                <a:t>。</a:t>
              </a:r>
            </a:p>
          </p:txBody>
        </p:sp>
      </p:grpSp>
      <p:grpSp>
        <p:nvGrpSpPr>
          <p:cNvPr id="107" name="checklist-master"/>
          <p:cNvGrpSpPr/>
          <p:nvPr/>
        </p:nvGrpSpPr>
        <p:grpSpPr>
          <a:xfrm>
            <a:off x="838200" y="3905250"/>
            <a:ext cx="10153650" cy="8599551"/>
            <a:chOff x="838200" y="3905250"/>
            <a:chExt cx="10153650" cy="8599551"/>
          </a:xfrm>
        </p:grpSpPr>
        <p:sp>
          <p:nvSpPr>
            <p:cNvPr id="11" name="Rectangle 11"/>
            <p:cNvSpPr/>
            <p:nvPr/>
          </p:nvSpPr>
          <p:spPr>
            <a:xfrm>
              <a:off x="838200" y="3905250"/>
              <a:ext cx="1771650" cy="533400"/>
            </a:xfrm>
            <a:prstGeom prst="rect">
              <a:avLst/>
            </a:prstGeom>
            <a:solidFill>
              <a:schemeClr val="accent1"/>
            </a:solidFill>
            <a:ln>
              <a:noFill/>
            </a:ln>
          </p:spPr>
        </p:sp>
        <p:sp>
          <p:nvSpPr>
            <p:cNvPr id="12" name="Rectangle 12"/>
            <p:cNvSpPr/>
            <p:nvPr/>
          </p:nvSpPr>
          <p:spPr>
            <a:xfrm>
              <a:off x="2609850" y="3905250"/>
              <a:ext cx="4381500" cy="533400"/>
            </a:xfrm>
            <a:prstGeom prst="rect">
              <a:avLst/>
            </a:prstGeom>
            <a:solidFill>
              <a:schemeClr val="accent1"/>
            </a:solidFill>
            <a:ln>
              <a:noFill/>
            </a:ln>
          </p:spPr>
        </p:sp>
        <p:sp>
          <p:nvSpPr>
            <p:cNvPr id="13" name="Rectangle 13"/>
            <p:cNvSpPr/>
            <p:nvPr/>
          </p:nvSpPr>
          <p:spPr>
            <a:xfrm>
              <a:off x="6991350" y="3905250"/>
              <a:ext cx="4000500" cy="533400"/>
            </a:xfrm>
            <a:prstGeom prst="rect">
              <a:avLst/>
            </a:prstGeom>
            <a:solidFill>
              <a:schemeClr val="accent1"/>
            </a:solidFill>
            <a:ln>
              <a:noFill/>
            </a:ln>
          </p:spPr>
        </p:sp>
        <p:sp>
          <p:nvSpPr>
            <p:cNvPr id="14" name="TextBox 14"/>
            <p:cNvSpPr txBox="1"/>
            <p:nvPr/>
          </p:nvSpPr>
          <p:spPr>
            <a:xfrm>
              <a:off x="938784" y="3975735"/>
              <a:ext cx="754380" cy="528066"/>
            </a:xfrm>
            <a:prstGeom prst="rect">
              <a:avLst/>
            </a:prstGeom>
            <a:noFill/>
            <a:ln>
              <a:noFill/>
            </a:ln>
          </p:spPr>
          <p:txBody>
            <a:bodyPr wrap="none" lIns="0" tIns="0" rIns="0" bIns="0" anchor="t" anchorCtr="0">
              <a:spAutoFit/>
            </a:bodyPr>
            <a:lstStyle/>
            <a:p>
              <a:pPr algn="l"/>
              <a:r>
                <a:rPr lang="zh-CN" sz="2700" b="1" dirty="0">
                  <a:solidFill>
                    <a:srgbClr val="FBF6EC"/>
                  </a:solidFill>
                  <a:latin typeface="+mn-lt"/>
                  <a:ea typeface="+mn-ea"/>
                  <a:cs typeface="+mn-cs"/>
                </a:rPr>
                <a:t>分类</a:t>
              </a:r>
            </a:p>
          </p:txBody>
        </p:sp>
        <p:sp>
          <p:nvSpPr>
            <p:cNvPr id="15" name="TextBox 15"/>
            <p:cNvSpPr txBox="1"/>
            <p:nvPr/>
          </p:nvSpPr>
          <p:spPr>
            <a:xfrm>
              <a:off x="2710434" y="3975735"/>
              <a:ext cx="754380" cy="528066"/>
            </a:xfrm>
            <a:prstGeom prst="rect">
              <a:avLst/>
            </a:prstGeom>
            <a:noFill/>
            <a:ln>
              <a:noFill/>
            </a:ln>
          </p:spPr>
          <p:txBody>
            <a:bodyPr wrap="none" lIns="0" tIns="0" rIns="0" bIns="0" anchor="t" anchorCtr="0">
              <a:spAutoFit/>
            </a:bodyPr>
            <a:lstStyle/>
            <a:p>
              <a:pPr algn="l"/>
              <a:r>
                <a:rPr lang="zh-CN" sz="2700" b="1" dirty="0">
                  <a:solidFill>
                    <a:srgbClr val="FBF6EC"/>
                  </a:solidFill>
                  <a:latin typeface="+mn-lt"/>
                  <a:ea typeface="+mn-ea"/>
                  <a:cs typeface="+mn-cs"/>
                </a:rPr>
                <a:t>物品</a:t>
              </a:r>
            </a:p>
          </p:txBody>
        </p:sp>
        <p:sp>
          <p:nvSpPr>
            <p:cNvPr id="16" name="TextBox 16"/>
            <p:cNvSpPr txBox="1"/>
            <p:nvPr/>
          </p:nvSpPr>
          <p:spPr>
            <a:xfrm>
              <a:off x="7091934" y="3975735"/>
              <a:ext cx="754380" cy="528066"/>
            </a:xfrm>
            <a:prstGeom prst="rect">
              <a:avLst/>
            </a:prstGeom>
            <a:noFill/>
            <a:ln>
              <a:noFill/>
            </a:ln>
          </p:spPr>
          <p:txBody>
            <a:bodyPr wrap="none" lIns="0" tIns="0" rIns="0" bIns="0" anchor="t" anchorCtr="0">
              <a:spAutoFit/>
            </a:bodyPr>
            <a:lstStyle/>
            <a:p>
              <a:pPr algn="l"/>
              <a:r>
                <a:rPr lang="zh-CN" sz="2700" b="1" dirty="0">
                  <a:solidFill>
                    <a:srgbClr val="FBF6EC"/>
                  </a:solidFill>
                  <a:latin typeface="+mn-lt"/>
                  <a:ea typeface="+mn-ea"/>
                  <a:cs typeface="+mn-cs"/>
                </a:rPr>
                <a:t>要点</a:t>
              </a:r>
            </a:p>
          </p:txBody>
        </p:sp>
        <p:sp>
          <p:nvSpPr>
            <p:cNvPr id="17" name="Rectangle 17"/>
            <p:cNvSpPr/>
            <p:nvPr/>
          </p:nvSpPr>
          <p:spPr>
            <a:xfrm>
              <a:off x="838200" y="4438650"/>
              <a:ext cx="1771650" cy="533400"/>
            </a:xfrm>
            <a:prstGeom prst="rect">
              <a:avLst/>
            </a:prstGeom>
            <a:solidFill>
              <a:srgbClr val="EFE3CC"/>
            </a:solidFill>
            <a:ln>
              <a:noFill/>
            </a:ln>
          </p:spPr>
        </p:sp>
        <p:sp>
          <p:nvSpPr>
            <p:cNvPr id="18" name="Rectangle 18"/>
            <p:cNvSpPr/>
            <p:nvPr/>
          </p:nvSpPr>
          <p:spPr>
            <a:xfrm>
              <a:off x="2609850" y="4438650"/>
              <a:ext cx="8382000" cy="533400"/>
            </a:xfrm>
            <a:prstGeom prst="rect">
              <a:avLst/>
            </a:prstGeom>
            <a:solidFill>
              <a:srgbClr val="FFFDF7"/>
            </a:solidFill>
            <a:ln>
              <a:noFill/>
            </a:ln>
          </p:spPr>
        </p:sp>
        <p:sp>
          <p:nvSpPr>
            <p:cNvPr id="19" name="Line 19"/>
            <p:cNvSpPr/>
            <p:nvPr/>
          </p:nvSpPr>
          <p:spPr>
            <a:xfrm>
              <a:off x="838200" y="4972050"/>
              <a:ext cx="10153650" cy="9525"/>
            </a:xfrm>
            <a:custGeom>
              <a:avLst/>
              <a:gdLst/>
              <a:ahLst/>
              <a:cxnLst/>
              <a:rect l="l" t="t" r="r" b="b"/>
              <a:pathLst>
                <a:path w="10153650" h="9525">
                  <a:moveTo>
                    <a:pt x="0" y="0"/>
                  </a:moveTo>
                  <a:lnTo>
                    <a:pt x="10153650" y="0"/>
                  </a:lnTo>
                </a:path>
              </a:pathLst>
            </a:custGeom>
            <a:noFill/>
            <a:ln w="9525">
              <a:solidFill>
                <a:schemeClr val="accent6"/>
              </a:solidFill>
            </a:ln>
          </p:spPr>
        </p:sp>
        <p:sp>
          <p:nvSpPr>
            <p:cNvPr id="20" name="TextBox 20"/>
            <p:cNvSpPr txBox="1"/>
            <p:nvPr/>
          </p:nvSpPr>
          <p:spPr>
            <a:xfrm>
              <a:off x="938784" y="4509135"/>
              <a:ext cx="1481328"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n-lt"/>
                  <a:ea typeface="+mn-ea"/>
                  <a:cs typeface="+mn-cs"/>
                </a:rPr>
                <a:t>止血包扎</a:t>
              </a:r>
            </a:p>
          </p:txBody>
        </p:sp>
        <p:sp>
          <p:nvSpPr>
            <p:cNvPr id="21" name="TextBox 21"/>
            <p:cNvSpPr txBox="1"/>
            <p:nvPr/>
          </p:nvSpPr>
          <p:spPr>
            <a:xfrm>
              <a:off x="2710434" y="4509135"/>
              <a:ext cx="2735313"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无菌纱布 各 5 片</a:t>
              </a:r>
            </a:p>
          </p:txBody>
        </p:sp>
        <p:sp>
          <p:nvSpPr>
            <p:cNvPr id="22" name="TextBox 22"/>
            <p:cNvSpPr txBox="1"/>
            <p:nvPr/>
          </p:nvSpPr>
          <p:spPr>
            <a:xfrm>
              <a:off x="7091934" y="4509135"/>
              <a:ext cx="2208276"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渗血加盖不揭</a:t>
              </a:r>
            </a:p>
          </p:txBody>
        </p:sp>
        <p:sp>
          <p:nvSpPr>
            <p:cNvPr id="23" name="Rectangle 23"/>
            <p:cNvSpPr/>
            <p:nvPr/>
          </p:nvSpPr>
          <p:spPr>
            <a:xfrm>
              <a:off x="838200" y="4972050"/>
              <a:ext cx="1771650" cy="533400"/>
            </a:xfrm>
            <a:prstGeom prst="rect">
              <a:avLst/>
            </a:prstGeom>
            <a:solidFill>
              <a:srgbClr val="EFE3CC"/>
            </a:solidFill>
            <a:ln>
              <a:noFill/>
            </a:ln>
          </p:spPr>
        </p:sp>
        <p:sp>
          <p:nvSpPr>
            <p:cNvPr id="24" name="Rectangle 24"/>
            <p:cNvSpPr/>
            <p:nvPr/>
          </p:nvSpPr>
          <p:spPr>
            <a:xfrm>
              <a:off x="2609850" y="4972050"/>
              <a:ext cx="8382000" cy="533400"/>
            </a:xfrm>
            <a:prstGeom prst="rect">
              <a:avLst/>
            </a:prstGeom>
            <a:solidFill>
              <a:srgbClr val="FFFDF7"/>
            </a:solidFill>
            <a:ln>
              <a:noFill/>
            </a:ln>
          </p:spPr>
        </p:sp>
        <p:sp>
          <p:nvSpPr>
            <p:cNvPr id="25" name="Line 25"/>
            <p:cNvSpPr/>
            <p:nvPr/>
          </p:nvSpPr>
          <p:spPr>
            <a:xfrm>
              <a:off x="838200" y="5505450"/>
              <a:ext cx="10153650" cy="9525"/>
            </a:xfrm>
            <a:custGeom>
              <a:avLst/>
              <a:gdLst/>
              <a:ahLst/>
              <a:cxnLst/>
              <a:rect l="l" t="t" r="r" b="b"/>
              <a:pathLst>
                <a:path w="10153650" h="9525">
                  <a:moveTo>
                    <a:pt x="0" y="0"/>
                  </a:moveTo>
                  <a:lnTo>
                    <a:pt x="10153650" y="0"/>
                  </a:lnTo>
                </a:path>
              </a:pathLst>
            </a:custGeom>
            <a:noFill/>
            <a:ln w="9525">
              <a:solidFill>
                <a:schemeClr val="accent6"/>
              </a:solidFill>
            </a:ln>
          </p:spPr>
        </p:sp>
        <p:sp>
          <p:nvSpPr>
            <p:cNvPr id="26" name="TextBox 26"/>
            <p:cNvSpPr txBox="1"/>
            <p:nvPr/>
          </p:nvSpPr>
          <p:spPr>
            <a:xfrm>
              <a:off x="938784" y="5042535"/>
              <a:ext cx="1481328"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n-lt"/>
                  <a:ea typeface="+mn-ea"/>
                  <a:cs typeface="+mn-cs"/>
                </a:rPr>
                <a:t>止血包扎</a:t>
              </a:r>
            </a:p>
          </p:txBody>
        </p:sp>
        <p:sp>
          <p:nvSpPr>
            <p:cNvPr id="27" name="TextBox 27"/>
            <p:cNvSpPr txBox="1"/>
            <p:nvPr/>
          </p:nvSpPr>
          <p:spPr>
            <a:xfrm>
              <a:off x="2710434" y="5042535"/>
              <a:ext cx="2989745"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弹力绷带 · 三角巾</a:t>
              </a:r>
            </a:p>
          </p:txBody>
        </p:sp>
        <p:sp>
          <p:nvSpPr>
            <p:cNvPr id="28" name="TextBox 28"/>
            <p:cNvSpPr txBox="1"/>
            <p:nvPr/>
          </p:nvSpPr>
          <p:spPr>
            <a:xfrm>
              <a:off x="7091934" y="5042535"/>
              <a:ext cx="2408187"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先盖后包,适中</a:t>
              </a:r>
            </a:p>
          </p:txBody>
        </p:sp>
        <p:sp>
          <p:nvSpPr>
            <p:cNvPr id="29" name="Rectangle 29"/>
            <p:cNvSpPr/>
            <p:nvPr/>
          </p:nvSpPr>
          <p:spPr>
            <a:xfrm>
              <a:off x="838200" y="5505450"/>
              <a:ext cx="1771650" cy="533400"/>
            </a:xfrm>
            <a:prstGeom prst="rect">
              <a:avLst/>
            </a:prstGeom>
            <a:solidFill>
              <a:srgbClr val="EFE3CC"/>
            </a:solidFill>
            <a:ln>
              <a:noFill/>
            </a:ln>
          </p:spPr>
        </p:sp>
        <p:sp>
          <p:nvSpPr>
            <p:cNvPr id="30" name="Rectangle 30"/>
            <p:cNvSpPr/>
            <p:nvPr/>
          </p:nvSpPr>
          <p:spPr>
            <a:xfrm>
              <a:off x="2609850" y="5505450"/>
              <a:ext cx="8382000" cy="533400"/>
            </a:xfrm>
            <a:prstGeom prst="rect">
              <a:avLst/>
            </a:prstGeom>
            <a:solidFill>
              <a:srgbClr val="FFFDF7"/>
            </a:solidFill>
            <a:ln>
              <a:noFill/>
            </a:ln>
          </p:spPr>
        </p:sp>
        <p:sp>
          <p:nvSpPr>
            <p:cNvPr id="31" name="Line 31"/>
            <p:cNvSpPr/>
            <p:nvPr/>
          </p:nvSpPr>
          <p:spPr>
            <a:xfrm>
              <a:off x="838200" y="6038850"/>
              <a:ext cx="10153650" cy="9525"/>
            </a:xfrm>
            <a:custGeom>
              <a:avLst/>
              <a:gdLst/>
              <a:ahLst/>
              <a:cxnLst/>
              <a:rect l="l" t="t" r="r" b="b"/>
              <a:pathLst>
                <a:path w="10153650" h="9525">
                  <a:moveTo>
                    <a:pt x="0" y="0"/>
                  </a:moveTo>
                  <a:lnTo>
                    <a:pt x="10153650" y="0"/>
                  </a:lnTo>
                </a:path>
              </a:pathLst>
            </a:custGeom>
            <a:noFill/>
            <a:ln w="9525">
              <a:solidFill>
                <a:schemeClr val="accent6"/>
              </a:solidFill>
            </a:ln>
          </p:spPr>
        </p:sp>
        <p:sp>
          <p:nvSpPr>
            <p:cNvPr id="32" name="TextBox 32"/>
            <p:cNvSpPr txBox="1"/>
            <p:nvPr/>
          </p:nvSpPr>
          <p:spPr>
            <a:xfrm>
              <a:off x="938784" y="5575935"/>
              <a:ext cx="1481328"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n-lt"/>
                  <a:ea typeface="+mn-ea"/>
                  <a:cs typeface="+mn-cs"/>
                </a:rPr>
                <a:t>止血包扎</a:t>
              </a:r>
            </a:p>
          </p:txBody>
        </p:sp>
        <p:sp>
          <p:nvSpPr>
            <p:cNvPr id="33" name="TextBox 33"/>
            <p:cNvSpPr txBox="1"/>
            <p:nvPr/>
          </p:nvSpPr>
          <p:spPr>
            <a:xfrm>
              <a:off x="2710434" y="5575935"/>
              <a:ext cx="2989745"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创可贴 · 医用胶带</a:t>
              </a:r>
            </a:p>
          </p:txBody>
        </p:sp>
        <p:sp>
          <p:nvSpPr>
            <p:cNvPr id="34" name="TextBox 34"/>
            <p:cNvSpPr txBox="1"/>
            <p:nvPr/>
          </p:nvSpPr>
          <p:spPr>
            <a:xfrm>
              <a:off x="7091934" y="5575935"/>
              <a:ext cx="2571750"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黏性会随时间降</a:t>
              </a:r>
            </a:p>
          </p:txBody>
        </p:sp>
        <p:sp>
          <p:nvSpPr>
            <p:cNvPr id="35" name="Rectangle 35"/>
            <p:cNvSpPr/>
            <p:nvPr/>
          </p:nvSpPr>
          <p:spPr>
            <a:xfrm>
              <a:off x="838200" y="6038850"/>
              <a:ext cx="1771650" cy="533400"/>
            </a:xfrm>
            <a:prstGeom prst="rect">
              <a:avLst/>
            </a:prstGeom>
            <a:solidFill>
              <a:srgbClr val="EFE3CC"/>
            </a:solidFill>
            <a:ln>
              <a:noFill/>
            </a:ln>
          </p:spPr>
        </p:sp>
        <p:sp>
          <p:nvSpPr>
            <p:cNvPr id="36" name="Rectangle 36"/>
            <p:cNvSpPr/>
            <p:nvPr/>
          </p:nvSpPr>
          <p:spPr>
            <a:xfrm>
              <a:off x="2609850" y="6038850"/>
              <a:ext cx="8382000" cy="533400"/>
            </a:xfrm>
            <a:prstGeom prst="rect">
              <a:avLst/>
            </a:prstGeom>
            <a:solidFill>
              <a:srgbClr val="FFFDF7"/>
            </a:solidFill>
            <a:ln>
              <a:noFill/>
            </a:ln>
          </p:spPr>
        </p:sp>
        <p:sp>
          <p:nvSpPr>
            <p:cNvPr id="37" name="Line 37"/>
            <p:cNvSpPr/>
            <p:nvPr/>
          </p:nvSpPr>
          <p:spPr>
            <a:xfrm>
              <a:off x="838200" y="6572250"/>
              <a:ext cx="10153650" cy="9525"/>
            </a:xfrm>
            <a:custGeom>
              <a:avLst/>
              <a:gdLst/>
              <a:ahLst/>
              <a:cxnLst/>
              <a:rect l="l" t="t" r="r" b="b"/>
              <a:pathLst>
                <a:path w="10153650" h="9525">
                  <a:moveTo>
                    <a:pt x="0" y="0"/>
                  </a:moveTo>
                  <a:lnTo>
                    <a:pt x="10153650" y="0"/>
                  </a:lnTo>
                </a:path>
              </a:pathLst>
            </a:custGeom>
            <a:noFill/>
            <a:ln w="9525">
              <a:solidFill>
                <a:schemeClr val="accent6"/>
              </a:solidFill>
            </a:ln>
          </p:spPr>
        </p:sp>
        <p:sp>
          <p:nvSpPr>
            <p:cNvPr id="38" name="TextBox 38"/>
            <p:cNvSpPr txBox="1"/>
            <p:nvPr/>
          </p:nvSpPr>
          <p:spPr>
            <a:xfrm>
              <a:off x="938784" y="6109335"/>
              <a:ext cx="754380"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n-lt"/>
                  <a:ea typeface="+mn-ea"/>
                  <a:cs typeface="+mn-cs"/>
                </a:rPr>
                <a:t>消毒</a:t>
              </a:r>
            </a:p>
          </p:txBody>
        </p:sp>
        <p:sp>
          <p:nvSpPr>
            <p:cNvPr id="39" name="TextBox 39"/>
            <p:cNvSpPr txBox="1"/>
            <p:nvPr/>
          </p:nvSpPr>
          <p:spPr>
            <a:xfrm>
              <a:off x="2710434" y="6109335"/>
              <a:ext cx="2626271"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碘伏 + 无菌棉签</a:t>
              </a:r>
            </a:p>
          </p:txBody>
        </p:sp>
        <p:sp>
          <p:nvSpPr>
            <p:cNvPr id="40" name="TextBox 40"/>
            <p:cNvSpPr txBox="1"/>
            <p:nvPr/>
          </p:nvSpPr>
          <p:spPr>
            <a:xfrm>
              <a:off x="7091934" y="6109335"/>
              <a:ext cx="2208276"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可直接上伤口</a:t>
              </a:r>
            </a:p>
          </p:txBody>
        </p:sp>
        <p:sp>
          <p:nvSpPr>
            <p:cNvPr id="41" name="Rectangle 41"/>
            <p:cNvSpPr/>
            <p:nvPr/>
          </p:nvSpPr>
          <p:spPr>
            <a:xfrm>
              <a:off x="838200" y="6572250"/>
              <a:ext cx="1771650" cy="533400"/>
            </a:xfrm>
            <a:prstGeom prst="rect">
              <a:avLst/>
            </a:prstGeom>
            <a:solidFill>
              <a:srgbClr val="EFE3CC"/>
            </a:solidFill>
            <a:ln>
              <a:noFill/>
            </a:ln>
          </p:spPr>
        </p:sp>
        <p:sp>
          <p:nvSpPr>
            <p:cNvPr id="42" name="Rectangle 42"/>
            <p:cNvSpPr/>
            <p:nvPr/>
          </p:nvSpPr>
          <p:spPr>
            <a:xfrm>
              <a:off x="2609850" y="6572250"/>
              <a:ext cx="8382000" cy="533400"/>
            </a:xfrm>
            <a:prstGeom prst="rect">
              <a:avLst/>
            </a:prstGeom>
            <a:solidFill>
              <a:srgbClr val="FFFDF7"/>
            </a:solidFill>
            <a:ln>
              <a:noFill/>
            </a:ln>
          </p:spPr>
        </p:sp>
        <p:sp>
          <p:nvSpPr>
            <p:cNvPr id="43" name="Line 43"/>
            <p:cNvSpPr/>
            <p:nvPr/>
          </p:nvSpPr>
          <p:spPr>
            <a:xfrm>
              <a:off x="838200" y="7105650"/>
              <a:ext cx="10153650" cy="9525"/>
            </a:xfrm>
            <a:custGeom>
              <a:avLst/>
              <a:gdLst/>
              <a:ahLst/>
              <a:cxnLst/>
              <a:rect l="l" t="t" r="r" b="b"/>
              <a:pathLst>
                <a:path w="10153650" h="9525">
                  <a:moveTo>
                    <a:pt x="0" y="0"/>
                  </a:moveTo>
                  <a:lnTo>
                    <a:pt x="10153650" y="0"/>
                  </a:lnTo>
                </a:path>
              </a:pathLst>
            </a:custGeom>
            <a:noFill/>
            <a:ln w="9525">
              <a:solidFill>
                <a:schemeClr val="accent6"/>
              </a:solidFill>
            </a:ln>
          </p:spPr>
        </p:sp>
        <p:sp>
          <p:nvSpPr>
            <p:cNvPr id="44" name="TextBox 44"/>
            <p:cNvSpPr txBox="1"/>
            <p:nvPr/>
          </p:nvSpPr>
          <p:spPr>
            <a:xfrm>
              <a:off x="938784" y="6642735"/>
              <a:ext cx="754380"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n-lt"/>
                  <a:ea typeface="+mn-ea"/>
                  <a:cs typeface="+mn-cs"/>
                </a:rPr>
                <a:t>消毒</a:t>
              </a:r>
            </a:p>
          </p:txBody>
        </p:sp>
        <p:sp>
          <p:nvSpPr>
            <p:cNvPr id="45" name="TextBox 45"/>
            <p:cNvSpPr txBox="1"/>
            <p:nvPr/>
          </p:nvSpPr>
          <p:spPr>
            <a:xfrm>
              <a:off x="2710434" y="6642735"/>
              <a:ext cx="2462708"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0.9% 生理盐水</a:t>
              </a:r>
            </a:p>
          </p:txBody>
        </p:sp>
        <p:sp>
          <p:nvSpPr>
            <p:cNvPr id="46" name="TextBox 46"/>
            <p:cNvSpPr txBox="1"/>
            <p:nvPr/>
          </p:nvSpPr>
          <p:spPr>
            <a:xfrm>
              <a:off x="7091934" y="6642735"/>
              <a:ext cx="2208276"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冲洗伤口首选</a:t>
              </a:r>
            </a:p>
          </p:txBody>
        </p:sp>
        <p:sp>
          <p:nvSpPr>
            <p:cNvPr id="47" name="Rectangle 47"/>
            <p:cNvSpPr/>
            <p:nvPr/>
          </p:nvSpPr>
          <p:spPr>
            <a:xfrm>
              <a:off x="838200" y="7105650"/>
              <a:ext cx="1771650" cy="533400"/>
            </a:xfrm>
            <a:prstGeom prst="rect">
              <a:avLst/>
            </a:prstGeom>
            <a:solidFill>
              <a:srgbClr val="EFE3CC"/>
            </a:solidFill>
            <a:ln>
              <a:noFill/>
            </a:ln>
          </p:spPr>
        </p:sp>
        <p:sp>
          <p:nvSpPr>
            <p:cNvPr id="48" name="Rectangle 48"/>
            <p:cNvSpPr/>
            <p:nvPr/>
          </p:nvSpPr>
          <p:spPr>
            <a:xfrm>
              <a:off x="2609850" y="7105650"/>
              <a:ext cx="8382000" cy="533400"/>
            </a:xfrm>
            <a:prstGeom prst="rect">
              <a:avLst/>
            </a:prstGeom>
            <a:solidFill>
              <a:srgbClr val="FFFDF7"/>
            </a:solidFill>
            <a:ln>
              <a:noFill/>
            </a:ln>
          </p:spPr>
        </p:sp>
        <p:sp>
          <p:nvSpPr>
            <p:cNvPr id="49" name="Line 49"/>
            <p:cNvSpPr/>
            <p:nvPr/>
          </p:nvSpPr>
          <p:spPr>
            <a:xfrm>
              <a:off x="838200" y="7639050"/>
              <a:ext cx="10153650" cy="9525"/>
            </a:xfrm>
            <a:custGeom>
              <a:avLst/>
              <a:gdLst/>
              <a:ahLst/>
              <a:cxnLst/>
              <a:rect l="l" t="t" r="r" b="b"/>
              <a:pathLst>
                <a:path w="10153650" h="9525">
                  <a:moveTo>
                    <a:pt x="0" y="0"/>
                  </a:moveTo>
                  <a:lnTo>
                    <a:pt x="10153650" y="0"/>
                  </a:lnTo>
                </a:path>
              </a:pathLst>
            </a:custGeom>
            <a:noFill/>
            <a:ln w="9525">
              <a:solidFill>
                <a:schemeClr val="accent6"/>
              </a:solidFill>
            </a:ln>
          </p:spPr>
        </p:sp>
        <p:sp>
          <p:nvSpPr>
            <p:cNvPr id="50" name="TextBox 50"/>
            <p:cNvSpPr txBox="1"/>
            <p:nvPr/>
          </p:nvSpPr>
          <p:spPr>
            <a:xfrm>
              <a:off x="938784" y="7176135"/>
              <a:ext cx="754380"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n-lt"/>
                  <a:ea typeface="+mn-ea"/>
                  <a:cs typeface="+mn-cs"/>
                </a:rPr>
                <a:t>消毒</a:t>
              </a:r>
            </a:p>
          </p:txBody>
        </p:sp>
        <p:sp>
          <p:nvSpPr>
            <p:cNvPr id="51" name="TextBox 51"/>
            <p:cNvSpPr txBox="1"/>
            <p:nvPr/>
          </p:nvSpPr>
          <p:spPr>
            <a:xfrm>
              <a:off x="2710434" y="7176135"/>
              <a:ext cx="1481328"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消毒湿巾</a:t>
              </a:r>
            </a:p>
          </p:txBody>
        </p:sp>
        <p:sp>
          <p:nvSpPr>
            <p:cNvPr id="52" name="TextBox 52"/>
            <p:cNvSpPr txBox="1"/>
            <p:nvPr/>
          </p:nvSpPr>
          <p:spPr>
            <a:xfrm>
              <a:off x="7091934" y="7176135"/>
              <a:ext cx="2208276"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只擦周围皮肤</a:t>
              </a:r>
            </a:p>
          </p:txBody>
        </p:sp>
        <p:sp>
          <p:nvSpPr>
            <p:cNvPr id="53" name="Rectangle 53"/>
            <p:cNvSpPr/>
            <p:nvPr/>
          </p:nvSpPr>
          <p:spPr>
            <a:xfrm>
              <a:off x="838200" y="7639050"/>
              <a:ext cx="1771650" cy="533400"/>
            </a:xfrm>
            <a:prstGeom prst="rect">
              <a:avLst/>
            </a:prstGeom>
            <a:solidFill>
              <a:srgbClr val="EFE3CC"/>
            </a:solidFill>
            <a:ln>
              <a:noFill/>
            </a:ln>
          </p:spPr>
        </p:sp>
        <p:sp>
          <p:nvSpPr>
            <p:cNvPr id="54" name="Rectangle 54"/>
            <p:cNvSpPr/>
            <p:nvPr/>
          </p:nvSpPr>
          <p:spPr>
            <a:xfrm>
              <a:off x="2609850" y="7639050"/>
              <a:ext cx="8382000" cy="533400"/>
            </a:xfrm>
            <a:prstGeom prst="rect">
              <a:avLst/>
            </a:prstGeom>
            <a:solidFill>
              <a:srgbClr val="FFFDF7"/>
            </a:solidFill>
            <a:ln>
              <a:noFill/>
            </a:ln>
          </p:spPr>
        </p:sp>
        <p:sp>
          <p:nvSpPr>
            <p:cNvPr id="55" name="Line 55"/>
            <p:cNvSpPr/>
            <p:nvPr/>
          </p:nvSpPr>
          <p:spPr>
            <a:xfrm>
              <a:off x="838200" y="8172450"/>
              <a:ext cx="10153650" cy="9525"/>
            </a:xfrm>
            <a:custGeom>
              <a:avLst/>
              <a:gdLst/>
              <a:ahLst/>
              <a:cxnLst/>
              <a:rect l="l" t="t" r="r" b="b"/>
              <a:pathLst>
                <a:path w="10153650" h="9525">
                  <a:moveTo>
                    <a:pt x="0" y="0"/>
                  </a:moveTo>
                  <a:lnTo>
                    <a:pt x="10153650" y="0"/>
                  </a:lnTo>
                </a:path>
              </a:pathLst>
            </a:custGeom>
            <a:noFill/>
            <a:ln w="9525">
              <a:solidFill>
                <a:schemeClr val="accent6"/>
              </a:solidFill>
            </a:ln>
          </p:spPr>
        </p:sp>
        <p:sp>
          <p:nvSpPr>
            <p:cNvPr id="56" name="TextBox 56"/>
            <p:cNvSpPr txBox="1"/>
            <p:nvPr/>
          </p:nvSpPr>
          <p:spPr>
            <a:xfrm>
              <a:off x="938784" y="7709535"/>
              <a:ext cx="1117854"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n-lt"/>
                  <a:ea typeface="+mn-ea"/>
                  <a:cs typeface="+mn-cs"/>
                </a:rPr>
                <a:t>常用药</a:t>
              </a:r>
            </a:p>
          </p:txBody>
        </p:sp>
        <p:sp>
          <p:nvSpPr>
            <p:cNvPr id="57" name="TextBox 57"/>
            <p:cNvSpPr txBox="1"/>
            <p:nvPr/>
          </p:nvSpPr>
          <p:spPr>
            <a:xfrm>
              <a:off x="2710434" y="7709535"/>
              <a:ext cx="2989745"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退烧止痛 · 抗过敏</a:t>
              </a:r>
            </a:p>
          </p:txBody>
        </p:sp>
        <p:sp>
          <p:nvSpPr>
            <p:cNvPr id="58" name="TextBox 58"/>
            <p:cNvSpPr txBox="1"/>
            <p:nvPr/>
          </p:nvSpPr>
          <p:spPr>
            <a:xfrm>
              <a:off x="7091934" y="7709535"/>
              <a:ext cx="2408187"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对症备,不囤货</a:t>
              </a:r>
            </a:p>
          </p:txBody>
        </p:sp>
        <p:sp>
          <p:nvSpPr>
            <p:cNvPr id="59" name="Rectangle 59"/>
            <p:cNvSpPr/>
            <p:nvPr/>
          </p:nvSpPr>
          <p:spPr>
            <a:xfrm>
              <a:off x="838200" y="8172450"/>
              <a:ext cx="1771650" cy="533400"/>
            </a:xfrm>
            <a:prstGeom prst="rect">
              <a:avLst/>
            </a:prstGeom>
            <a:solidFill>
              <a:srgbClr val="EFE3CC"/>
            </a:solidFill>
            <a:ln>
              <a:noFill/>
            </a:ln>
          </p:spPr>
        </p:sp>
        <p:sp>
          <p:nvSpPr>
            <p:cNvPr id="60" name="Rectangle 60"/>
            <p:cNvSpPr/>
            <p:nvPr/>
          </p:nvSpPr>
          <p:spPr>
            <a:xfrm>
              <a:off x="2609850" y="8172450"/>
              <a:ext cx="8382000" cy="533400"/>
            </a:xfrm>
            <a:prstGeom prst="rect">
              <a:avLst/>
            </a:prstGeom>
            <a:solidFill>
              <a:srgbClr val="FFFDF7"/>
            </a:solidFill>
            <a:ln>
              <a:noFill/>
            </a:ln>
          </p:spPr>
        </p:sp>
        <p:sp>
          <p:nvSpPr>
            <p:cNvPr id="61" name="Line 61"/>
            <p:cNvSpPr/>
            <p:nvPr/>
          </p:nvSpPr>
          <p:spPr>
            <a:xfrm>
              <a:off x="838200" y="8705850"/>
              <a:ext cx="10153650" cy="9525"/>
            </a:xfrm>
            <a:custGeom>
              <a:avLst/>
              <a:gdLst/>
              <a:ahLst/>
              <a:cxnLst/>
              <a:rect l="l" t="t" r="r" b="b"/>
              <a:pathLst>
                <a:path w="10153650" h="9525">
                  <a:moveTo>
                    <a:pt x="0" y="0"/>
                  </a:moveTo>
                  <a:lnTo>
                    <a:pt x="10153650" y="0"/>
                  </a:lnTo>
                </a:path>
              </a:pathLst>
            </a:custGeom>
            <a:noFill/>
            <a:ln w="9525">
              <a:solidFill>
                <a:schemeClr val="accent6"/>
              </a:solidFill>
            </a:ln>
          </p:spPr>
        </p:sp>
        <p:sp>
          <p:nvSpPr>
            <p:cNvPr id="62" name="TextBox 62"/>
            <p:cNvSpPr txBox="1"/>
            <p:nvPr/>
          </p:nvSpPr>
          <p:spPr>
            <a:xfrm>
              <a:off x="938784" y="8242935"/>
              <a:ext cx="1117854"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n-lt"/>
                  <a:ea typeface="+mn-ea"/>
                  <a:cs typeface="+mn-cs"/>
                </a:rPr>
                <a:t>常用药</a:t>
              </a:r>
            </a:p>
          </p:txBody>
        </p:sp>
        <p:sp>
          <p:nvSpPr>
            <p:cNvPr id="63" name="TextBox 63"/>
            <p:cNvSpPr txBox="1"/>
            <p:nvPr/>
          </p:nvSpPr>
          <p:spPr>
            <a:xfrm>
              <a:off x="2710434" y="8242935"/>
              <a:ext cx="3044266"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肠胃 · 外用 · 解暑</a:t>
              </a:r>
            </a:p>
          </p:txBody>
        </p:sp>
        <p:sp>
          <p:nvSpPr>
            <p:cNvPr id="64" name="TextBox 64"/>
            <p:cNvSpPr txBox="1"/>
            <p:nvPr/>
          </p:nvSpPr>
          <p:spPr>
            <a:xfrm>
              <a:off x="7091934" y="8242935"/>
              <a:ext cx="2571750"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遵医嘱看说明书</a:t>
              </a:r>
            </a:p>
          </p:txBody>
        </p:sp>
        <p:sp>
          <p:nvSpPr>
            <p:cNvPr id="65" name="Rectangle 65"/>
            <p:cNvSpPr/>
            <p:nvPr/>
          </p:nvSpPr>
          <p:spPr>
            <a:xfrm>
              <a:off x="838200" y="8705850"/>
              <a:ext cx="1771650" cy="533400"/>
            </a:xfrm>
            <a:prstGeom prst="rect">
              <a:avLst/>
            </a:prstGeom>
            <a:solidFill>
              <a:srgbClr val="EFE3CC"/>
            </a:solidFill>
            <a:ln>
              <a:noFill/>
            </a:ln>
          </p:spPr>
        </p:sp>
        <p:sp>
          <p:nvSpPr>
            <p:cNvPr id="66" name="Rectangle 66"/>
            <p:cNvSpPr/>
            <p:nvPr/>
          </p:nvSpPr>
          <p:spPr>
            <a:xfrm>
              <a:off x="2609850" y="8705850"/>
              <a:ext cx="8382000" cy="533400"/>
            </a:xfrm>
            <a:prstGeom prst="rect">
              <a:avLst/>
            </a:prstGeom>
            <a:solidFill>
              <a:srgbClr val="FFFDF7"/>
            </a:solidFill>
            <a:ln>
              <a:noFill/>
            </a:ln>
          </p:spPr>
        </p:sp>
        <p:sp>
          <p:nvSpPr>
            <p:cNvPr id="67" name="Line 67"/>
            <p:cNvSpPr/>
            <p:nvPr/>
          </p:nvSpPr>
          <p:spPr>
            <a:xfrm>
              <a:off x="838200" y="9239250"/>
              <a:ext cx="10153650" cy="9525"/>
            </a:xfrm>
            <a:custGeom>
              <a:avLst/>
              <a:gdLst/>
              <a:ahLst/>
              <a:cxnLst/>
              <a:rect l="l" t="t" r="r" b="b"/>
              <a:pathLst>
                <a:path w="10153650" h="9525">
                  <a:moveTo>
                    <a:pt x="0" y="0"/>
                  </a:moveTo>
                  <a:lnTo>
                    <a:pt x="10153650" y="0"/>
                  </a:lnTo>
                </a:path>
              </a:pathLst>
            </a:custGeom>
            <a:noFill/>
            <a:ln w="9525">
              <a:solidFill>
                <a:schemeClr val="accent6"/>
              </a:solidFill>
            </a:ln>
          </p:spPr>
        </p:sp>
        <p:sp>
          <p:nvSpPr>
            <p:cNvPr id="68" name="TextBox 68"/>
            <p:cNvSpPr txBox="1"/>
            <p:nvPr/>
          </p:nvSpPr>
          <p:spPr>
            <a:xfrm>
              <a:off x="938784" y="8776335"/>
              <a:ext cx="1117854"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n-lt"/>
                  <a:ea typeface="+mn-ea"/>
                  <a:cs typeface="+mn-cs"/>
                </a:rPr>
                <a:t>常用药</a:t>
              </a:r>
            </a:p>
          </p:txBody>
        </p:sp>
        <p:sp>
          <p:nvSpPr>
            <p:cNvPr id="69" name="TextBox 69"/>
            <p:cNvSpPr txBox="1"/>
            <p:nvPr/>
          </p:nvSpPr>
          <p:spPr>
            <a:xfrm>
              <a:off x="2710434" y="8776335"/>
              <a:ext cx="1844802"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家人专用药</a:t>
              </a:r>
            </a:p>
          </p:txBody>
        </p:sp>
        <p:sp>
          <p:nvSpPr>
            <p:cNvPr id="70" name="TextBox 70"/>
            <p:cNvSpPr txBox="1"/>
            <p:nvPr/>
          </p:nvSpPr>
          <p:spPr>
            <a:xfrm>
              <a:off x="7091934" y="8776335"/>
              <a:ext cx="2571750"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老人小孩各自备</a:t>
              </a:r>
            </a:p>
          </p:txBody>
        </p:sp>
        <p:sp>
          <p:nvSpPr>
            <p:cNvPr id="71" name="Rectangle 71"/>
            <p:cNvSpPr/>
            <p:nvPr/>
          </p:nvSpPr>
          <p:spPr>
            <a:xfrm>
              <a:off x="838200" y="9239250"/>
              <a:ext cx="1771650" cy="533400"/>
            </a:xfrm>
            <a:prstGeom prst="rect">
              <a:avLst/>
            </a:prstGeom>
            <a:solidFill>
              <a:srgbClr val="EFE3CC"/>
            </a:solidFill>
            <a:ln>
              <a:noFill/>
            </a:ln>
          </p:spPr>
        </p:sp>
        <p:sp>
          <p:nvSpPr>
            <p:cNvPr id="72" name="Rectangle 72"/>
            <p:cNvSpPr/>
            <p:nvPr/>
          </p:nvSpPr>
          <p:spPr>
            <a:xfrm>
              <a:off x="2609850" y="9239250"/>
              <a:ext cx="8382000" cy="533400"/>
            </a:xfrm>
            <a:prstGeom prst="rect">
              <a:avLst/>
            </a:prstGeom>
            <a:solidFill>
              <a:srgbClr val="FFFDF7"/>
            </a:solidFill>
            <a:ln>
              <a:noFill/>
            </a:ln>
          </p:spPr>
        </p:sp>
        <p:sp>
          <p:nvSpPr>
            <p:cNvPr id="73" name="Line 73"/>
            <p:cNvSpPr/>
            <p:nvPr/>
          </p:nvSpPr>
          <p:spPr>
            <a:xfrm>
              <a:off x="838200" y="9772650"/>
              <a:ext cx="10153650" cy="9525"/>
            </a:xfrm>
            <a:custGeom>
              <a:avLst/>
              <a:gdLst/>
              <a:ahLst/>
              <a:cxnLst/>
              <a:rect l="l" t="t" r="r" b="b"/>
              <a:pathLst>
                <a:path w="10153650" h="9525">
                  <a:moveTo>
                    <a:pt x="0" y="0"/>
                  </a:moveTo>
                  <a:lnTo>
                    <a:pt x="10153650" y="0"/>
                  </a:lnTo>
                </a:path>
              </a:pathLst>
            </a:custGeom>
            <a:noFill/>
            <a:ln w="9525">
              <a:solidFill>
                <a:schemeClr val="accent6"/>
              </a:solidFill>
            </a:ln>
          </p:spPr>
        </p:sp>
        <p:sp>
          <p:nvSpPr>
            <p:cNvPr id="74" name="TextBox 74"/>
            <p:cNvSpPr txBox="1"/>
            <p:nvPr/>
          </p:nvSpPr>
          <p:spPr>
            <a:xfrm>
              <a:off x="938784" y="9309735"/>
              <a:ext cx="754380"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n-lt"/>
                  <a:ea typeface="+mn-ea"/>
                  <a:cs typeface="+mn-cs"/>
                </a:rPr>
                <a:t>工具</a:t>
              </a:r>
            </a:p>
          </p:txBody>
        </p:sp>
        <p:sp>
          <p:nvSpPr>
            <p:cNvPr id="75" name="TextBox 75"/>
            <p:cNvSpPr txBox="1"/>
            <p:nvPr/>
          </p:nvSpPr>
          <p:spPr>
            <a:xfrm>
              <a:off x="2710434" y="9309735"/>
              <a:ext cx="2626271"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圆头剪刀 · 镊子</a:t>
              </a:r>
            </a:p>
          </p:txBody>
        </p:sp>
        <p:sp>
          <p:nvSpPr>
            <p:cNvPr id="76" name="TextBox 76"/>
            <p:cNvSpPr txBox="1"/>
            <p:nvPr/>
          </p:nvSpPr>
          <p:spPr>
            <a:xfrm>
              <a:off x="7091934" y="9309735"/>
              <a:ext cx="2935224"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剪衣物取表浅异物</a:t>
              </a:r>
            </a:p>
          </p:txBody>
        </p:sp>
        <p:sp>
          <p:nvSpPr>
            <p:cNvPr id="77" name="Rectangle 77"/>
            <p:cNvSpPr/>
            <p:nvPr/>
          </p:nvSpPr>
          <p:spPr>
            <a:xfrm>
              <a:off x="838200" y="9772650"/>
              <a:ext cx="1771650" cy="533400"/>
            </a:xfrm>
            <a:prstGeom prst="rect">
              <a:avLst/>
            </a:prstGeom>
            <a:solidFill>
              <a:srgbClr val="EFE3CC"/>
            </a:solidFill>
            <a:ln>
              <a:noFill/>
            </a:ln>
          </p:spPr>
        </p:sp>
        <p:sp>
          <p:nvSpPr>
            <p:cNvPr id="78" name="Rectangle 78"/>
            <p:cNvSpPr/>
            <p:nvPr/>
          </p:nvSpPr>
          <p:spPr>
            <a:xfrm>
              <a:off x="2609850" y="9772650"/>
              <a:ext cx="8382000" cy="533400"/>
            </a:xfrm>
            <a:prstGeom prst="rect">
              <a:avLst/>
            </a:prstGeom>
            <a:solidFill>
              <a:srgbClr val="FFFDF7"/>
            </a:solidFill>
            <a:ln>
              <a:noFill/>
            </a:ln>
          </p:spPr>
        </p:sp>
        <p:sp>
          <p:nvSpPr>
            <p:cNvPr id="79" name="Line 79"/>
            <p:cNvSpPr/>
            <p:nvPr/>
          </p:nvSpPr>
          <p:spPr>
            <a:xfrm>
              <a:off x="838200" y="10306050"/>
              <a:ext cx="10153650" cy="9525"/>
            </a:xfrm>
            <a:custGeom>
              <a:avLst/>
              <a:gdLst/>
              <a:ahLst/>
              <a:cxnLst/>
              <a:rect l="l" t="t" r="r" b="b"/>
              <a:pathLst>
                <a:path w="10153650" h="9525">
                  <a:moveTo>
                    <a:pt x="0" y="0"/>
                  </a:moveTo>
                  <a:lnTo>
                    <a:pt x="10153650" y="0"/>
                  </a:lnTo>
                </a:path>
              </a:pathLst>
            </a:custGeom>
            <a:noFill/>
            <a:ln w="9525">
              <a:solidFill>
                <a:schemeClr val="accent6"/>
              </a:solidFill>
            </a:ln>
          </p:spPr>
        </p:sp>
        <p:sp>
          <p:nvSpPr>
            <p:cNvPr id="80" name="TextBox 80"/>
            <p:cNvSpPr txBox="1"/>
            <p:nvPr/>
          </p:nvSpPr>
          <p:spPr>
            <a:xfrm>
              <a:off x="938784" y="9843135"/>
              <a:ext cx="754380"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n-lt"/>
                  <a:ea typeface="+mn-ea"/>
                  <a:cs typeface="+mn-cs"/>
                </a:rPr>
                <a:t>工具</a:t>
              </a:r>
            </a:p>
          </p:txBody>
        </p:sp>
        <p:sp>
          <p:nvSpPr>
            <p:cNvPr id="81" name="TextBox 81"/>
            <p:cNvSpPr txBox="1"/>
            <p:nvPr/>
          </p:nvSpPr>
          <p:spPr>
            <a:xfrm>
              <a:off x="2710434" y="9843135"/>
              <a:ext cx="2626271"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手套 · 外科口罩</a:t>
              </a:r>
            </a:p>
          </p:txBody>
        </p:sp>
        <p:sp>
          <p:nvSpPr>
            <p:cNvPr id="82" name="TextBox 82"/>
            <p:cNvSpPr txBox="1"/>
            <p:nvPr/>
          </p:nvSpPr>
          <p:spPr>
            <a:xfrm>
              <a:off x="7091934" y="9843135"/>
              <a:ext cx="2208276"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施救前先防护</a:t>
              </a:r>
            </a:p>
          </p:txBody>
        </p:sp>
        <p:sp>
          <p:nvSpPr>
            <p:cNvPr id="83" name="Rectangle 83"/>
            <p:cNvSpPr/>
            <p:nvPr/>
          </p:nvSpPr>
          <p:spPr>
            <a:xfrm>
              <a:off x="838200" y="10306050"/>
              <a:ext cx="1771650" cy="533400"/>
            </a:xfrm>
            <a:prstGeom prst="rect">
              <a:avLst/>
            </a:prstGeom>
            <a:solidFill>
              <a:srgbClr val="EFE3CC"/>
            </a:solidFill>
            <a:ln>
              <a:noFill/>
            </a:ln>
          </p:spPr>
        </p:sp>
        <p:sp>
          <p:nvSpPr>
            <p:cNvPr id="84" name="Rectangle 84"/>
            <p:cNvSpPr/>
            <p:nvPr/>
          </p:nvSpPr>
          <p:spPr>
            <a:xfrm>
              <a:off x="2609850" y="10306050"/>
              <a:ext cx="8382000" cy="533400"/>
            </a:xfrm>
            <a:prstGeom prst="rect">
              <a:avLst/>
            </a:prstGeom>
            <a:solidFill>
              <a:srgbClr val="FFFDF7"/>
            </a:solidFill>
            <a:ln>
              <a:noFill/>
            </a:ln>
          </p:spPr>
        </p:sp>
        <p:sp>
          <p:nvSpPr>
            <p:cNvPr id="85" name="Line 85"/>
            <p:cNvSpPr/>
            <p:nvPr/>
          </p:nvSpPr>
          <p:spPr>
            <a:xfrm>
              <a:off x="838200" y="10839450"/>
              <a:ext cx="10153650" cy="9525"/>
            </a:xfrm>
            <a:custGeom>
              <a:avLst/>
              <a:gdLst/>
              <a:ahLst/>
              <a:cxnLst/>
              <a:rect l="l" t="t" r="r" b="b"/>
              <a:pathLst>
                <a:path w="10153650" h="9525">
                  <a:moveTo>
                    <a:pt x="0" y="0"/>
                  </a:moveTo>
                  <a:lnTo>
                    <a:pt x="10153650" y="0"/>
                  </a:lnTo>
                </a:path>
              </a:pathLst>
            </a:custGeom>
            <a:noFill/>
            <a:ln w="9525">
              <a:solidFill>
                <a:schemeClr val="accent6"/>
              </a:solidFill>
            </a:ln>
          </p:spPr>
        </p:sp>
        <p:sp>
          <p:nvSpPr>
            <p:cNvPr id="86" name="TextBox 86"/>
            <p:cNvSpPr txBox="1"/>
            <p:nvPr/>
          </p:nvSpPr>
          <p:spPr>
            <a:xfrm>
              <a:off x="938784" y="10376535"/>
              <a:ext cx="754380"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n-lt"/>
                  <a:ea typeface="+mn-ea"/>
                  <a:cs typeface="+mn-cs"/>
                </a:rPr>
                <a:t>工具</a:t>
              </a:r>
            </a:p>
          </p:txBody>
        </p:sp>
        <p:sp>
          <p:nvSpPr>
            <p:cNvPr id="87" name="TextBox 87"/>
            <p:cNvSpPr txBox="1"/>
            <p:nvPr/>
          </p:nvSpPr>
          <p:spPr>
            <a:xfrm>
              <a:off x="2710434" y="10376535"/>
              <a:ext cx="1844802"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电子体温计</a:t>
              </a:r>
            </a:p>
          </p:txBody>
        </p:sp>
        <p:sp>
          <p:nvSpPr>
            <p:cNvPr id="88" name="TextBox 88"/>
            <p:cNvSpPr txBox="1"/>
            <p:nvPr/>
          </p:nvSpPr>
          <p:spPr>
            <a:xfrm>
              <a:off x="7091934" y="10376535"/>
              <a:ext cx="2208276"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非水银非玻璃</a:t>
              </a:r>
            </a:p>
          </p:txBody>
        </p:sp>
        <p:sp>
          <p:nvSpPr>
            <p:cNvPr id="89" name="Rectangle 89"/>
            <p:cNvSpPr/>
            <p:nvPr/>
          </p:nvSpPr>
          <p:spPr>
            <a:xfrm>
              <a:off x="838200" y="10839450"/>
              <a:ext cx="1771650" cy="533400"/>
            </a:xfrm>
            <a:prstGeom prst="rect">
              <a:avLst/>
            </a:prstGeom>
            <a:solidFill>
              <a:srgbClr val="EFE3CC"/>
            </a:solidFill>
            <a:ln>
              <a:noFill/>
            </a:ln>
          </p:spPr>
        </p:sp>
        <p:sp>
          <p:nvSpPr>
            <p:cNvPr id="90" name="Rectangle 90"/>
            <p:cNvSpPr/>
            <p:nvPr/>
          </p:nvSpPr>
          <p:spPr>
            <a:xfrm>
              <a:off x="2609850" y="10839450"/>
              <a:ext cx="8382000" cy="533400"/>
            </a:xfrm>
            <a:prstGeom prst="rect">
              <a:avLst/>
            </a:prstGeom>
            <a:solidFill>
              <a:srgbClr val="FFFDF7"/>
            </a:solidFill>
            <a:ln>
              <a:noFill/>
            </a:ln>
          </p:spPr>
        </p:sp>
        <p:sp>
          <p:nvSpPr>
            <p:cNvPr id="91" name="Line 91"/>
            <p:cNvSpPr/>
            <p:nvPr/>
          </p:nvSpPr>
          <p:spPr>
            <a:xfrm>
              <a:off x="838200" y="11372850"/>
              <a:ext cx="10153650" cy="9525"/>
            </a:xfrm>
            <a:custGeom>
              <a:avLst/>
              <a:gdLst/>
              <a:ahLst/>
              <a:cxnLst/>
              <a:rect l="l" t="t" r="r" b="b"/>
              <a:pathLst>
                <a:path w="10153650" h="9525">
                  <a:moveTo>
                    <a:pt x="0" y="0"/>
                  </a:moveTo>
                  <a:lnTo>
                    <a:pt x="10153650" y="0"/>
                  </a:lnTo>
                </a:path>
              </a:pathLst>
            </a:custGeom>
            <a:noFill/>
            <a:ln w="9525">
              <a:solidFill>
                <a:schemeClr val="accent6"/>
              </a:solidFill>
            </a:ln>
          </p:spPr>
        </p:sp>
        <p:sp>
          <p:nvSpPr>
            <p:cNvPr id="92" name="TextBox 92"/>
            <p:cNvSpPr txBox="1"/>
            <p:nvPr/>
          </p:nvSpPr>
          <p:spPr>
            <a:xfrm>
              <a:off x="938784" y="10909935"/>
              <a:ext cx="754380"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n-lt"/>
                  <a:ea typeface="+mn-ea"/>
                  <a:cs typeface="+mn-cs"/>
                </a:rPr>
                <a:t>工具</a:t>
              </a:r>
            </a:p>
          </p:txBody>
        </p:sp>
        <p:sp>
          <p:nvSpPr>
            <p:cNvPr id="93" name="TextBox 93"/>
            <p:cNvSpPr txBox="1"/>
            <p:nvPr/>
          </p:nvSpPr>
          <p:spPr>
            <a:xfrm>
              <a:off x="2710434" y="10909935"/>
              <a:ext cx="2626271"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急救毯 · 手电筒</a:t>
              </a:r>
            </a:p>
          </p:txBody>
        </p:sp>
        <p:sp>
          <p:nvSpPr>
            <p:cNvPr id="94" name="TextBox 94"/>
            <p:cNvSpPr txBox="1"/>
            <p:nvPr/>
          </p:nvSpPr>
          <p:spPr>
            <a:xfrm>
              <a:off x="7091934" y="10909935"/>
              <a:ext cx="2571750"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保暖、夜间取用</a:t>
              </a:r>
            </a:p>
          </p:txBody>
        </p:sp>
        <p:sp>
          <p:nvSpPr>
            <p:cNvPr id="95" name="Rectangle 95"/>
            <p:cNvSpPr/>
            <p:nvPr/>
          </p:nvSpPr>
          <p:spPr>
            <a:xfrm>
              <a:off x="838200" y="11372850"/>
              <a:ext cx="1771650" cy="533400"/>
            </a:xfrm>
            <a:prstGeom prst="rect">
              <a:avLst/>
            </a:prstGeom>
            <a:solidFill>
              <a:srgbClr val="EFE3CC"/>
            </a:solidFill>
            <a:ln>
              <a:noFill/>
            </a:ln>
          </p:spPr>
        </p:sp>
        <p:sp>
          <p:nvSpPr>
            <p:cNvPr id="96" name="Rectangle 96"/>
            <p:cNvSpPr/>
            <p:nvPr/>
          </p:nvSpPr>
          <p:spPr>
            <a:xfrm>
              <a:off x="2609850" y="11372850"/>
              <a:ext cx="8382000" cy="533400"/>
            </a:xfrm>
            <a:prstGeom prst="rect">
              <a:avLst/>
            </a:prstGeom>
            <a:solidFill>
              <a:srgbClr val="FFFDF7"/>
            </a:solidFill>
            <a:ln>
              <a:noFill/>
            </a:ln>
          </p:spPr>
        </p:sp>
        <p:sp>
          <p:nvSpPr>
            <p:cNvPr id="97" name="Line 97"/>
            <p:cNvSpPr/>
            <p:nvPr/>
          </p:nvSpPr>
          <p:spPr>
            <a:xfrm>
              <a:off x="838200" y="11906250"/>
              <a:ext cx="10153650" cy="9525"/>
            </a:xfrm>
            <a:custGeom>
              <a:avLst/>
              <a:gdLst/>
              <a:ahLst/>
              <a:cxnLst/>
              <a:rect l="l" t="t" r="r" b="b"/>
              <a:pathLst>
                <a:path w="10153650" h="9525">
                  <a:moveTo>
                    <a:pt x="0" y="0"/>
                  </a:moveTo>
                  <a:lnTo>
                    <a:pt x="10153650" y="0"/>
                  </a:lnTo>
                </a:path>
              </a:pathLst>
            </a:custGeom>
            <a:noFill/>
            <a:ln w="9525">
              <a:solidFill>
                <a:schemeClr val="accent6"/>
              </a:solidFill>
            </a:ln>
          </p:spPr>
        </p:sp>
        <p:sp>
          <p:nvSpPr>
            <p:cNvPr id="98" name="TextBox 98"/>
            <p:cNvSpPr txBox="1"/>
            <p:nvPr/>
          </p:nvSpPr>
          <p:spPr>
            <a:xfrm>
              <a:off x="938784" y="11443335"/>
              <a:ext cx="754380"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n-lt"/>
                  <a:ea typeface="+mn-ea"/>
                  <a:cs typeface="+mn-cs"/>
                </a:rPr>
                <a:t>别放</a:t>
              </a:r>
            </a:p>
          </p:txBody>
        </p:sp>
        <p:sp>
          <p:nvSpPr>
            <p:cNvPr id="99" name="TextBox 99"/>
            <p:cNvSpPr txBox="1"/>
            <p:nvPr/>
          </p:nvSpPr>
          <p:spPr>
            <a:xfrm>
              <a:off x="2710434" y="11443335"/>
              <a:ext cx="2626271"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红药水 · 紫药水</a:t>
              </a:r>
            </a:p>
          </p:txBody>
        </p:sp>
        <p:sp>
          <p:nvSpPr>
            <p:cNvPr id="100" name="TextBox 100"/>
            <p:cNvSpPr txBox="1"/>
            <p:nvPr/>
          </p:nvSpPr>
          <p:spPr>
            <a:xfrm>
              <a:off x="7091934" y="11443335"/>
              <a:ext cx="2771661"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含汞或致癌,清出</a:t>
              </a:r>
            </a:p>
          </p:txBody>
        </p:sp>
        <p:sp>
          <p:nvSpPr>
            <p:cNvPr id="101" name="Rectangle 101"/>
            <p:cNvSpPr/>
            <p:nvPr/>
          </p:nvSpPr>
          <p:spPr>
            <a:xfrm>
              <a:off x="838200" y="11906250"/>
              <a:ext cx="1771650" cy="533400"/>
            </a:xfrm>
            <a:prstGeom prst="rect">
              <a:avLst/>
            </a:prstGeom>
            <a:solidFill>
              <a:srgbClr val="EFE3CC"/>
            </a:solidFill>
            <a:ln>
              <a:noFill/>
            </a:ln>
          </p:spPr>
        </p:sp>
        <p:sp>
          <p:nvSpPr>
            <p:cNvPr id="102" name="Rectangle 102"/>
            <p:cNvSpPr/>
            <p:nvPr/>
          </p:nvSpPr>
          <p:spPr>
            <a:xfrm>
              <a:off x="2609850" y="11906250"/>
              <a:ext cx="8382000" cy="533400"/>
            </a:xfrm>
            <a:prstGeom prst="rect">
              <a:avLst/>
            </a:prstGeom>
            <a:solidFill>
              <a:srgbClr val="FFFDF7"/>
            </a:solidFill>
            <a:ln>
              <a:noFill/>
            </a:ln>
          </p:spPr>
        </p:sp>
        <p:sp>
          <p:nvSpPr>
            <p:cNvPr id="103" name="Line 103"/>
            <p:cNvSpPr/>
            <p:nvPr/>
          </p:nvSpPr>
          <p:spPr>
            <a:xfrm>
              <a:off x="838200" y="12439650"/>
              <a:ext cx="10153650" cy="9525"/>
            </a:xfrm>
            <a:custGeom>
              <a:avLst/>
              <a:gdLst/>
              <a:ahLst/>
              <a:cxnLst/>
              <a:rect l="l" t="t" r="r" b="b"/>
              <a:pathLst>
                <a:path w="10153650" h="9525">
                  <a:moveTo>
                    <a:pt x="0" y="0"/>
                  </a:moveTo>
                  <a:lnTo>
                    <a:pt x="10153650" y="0"/>
                  </a:lnTo>
                </a:path>
              </a:pathLst>
            </a:custGeom>
            <a:noFill/>
            <a:ln w="9525">
              <a:solidFill>
                <a:schemeClr val="accent6"/>
              </a:solidFill>
            </a:ln>
          </p:spPr>
        </p:sp>
        <p:sp>
          <p:nvSpPr>
            <p:cNvPr id="104" name="TextBox 104"/>
            <p:cNvSpPr txBox="1"/>
            <p:nvPr/>
          </p:nvSpPr>
          <p:spPr>
            <a:xfrm>
              <a:off x="938784" y="11976735"/>
              <a:ext cx="754380"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n-lt"/>
                  <a:ea typeface="+mn-ea"/>
                  <a:cs typeface="+mn-cs"/>
                </a:rPr>
                <a:t>别放</a:t>
              </a:r>
            </a:p>
          </p:txBody>
        </p:sp>
        <p:sp>
          <p:nvSpPr>
            <p:cNvPr id="105" name="TextBox 105"/>
            <p:cNvSpPr txBox="1"/>
            <p:nvPr/>
          </p:nvSpPr>
          <p:spPr>
            <a:xfrm>
              <a:off x="2710434" y="11976735"/>
              <a:ext cx="2208276"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过期或变质药</a:t>
              </a:r>
            </a:p>
          </p:txBody>
        </p:sp>
        <p:sp>
          <p:nvSpPr>
            <p:cNvPr id="106" name="TextBox 106"/>
            <p:cNvSpPr txBox="1"/>
            <p:nvPr/>
          </p:nvSpPr>
          <p:spPr>
            <a:xfrm>
              <a:off x="7091934" y="11976735"/>
              <a:ext cx="2571750"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破坏包装再丢弃</a:t>
              </a:r>
            </a:p>
          </p:txBody>
        </p:sp>
      </p:grpSp>
      <p:grpSp>
        <p:nvGrpSpPr>
          <p:cNvPr id="114" name="action-band"/>
          <p:cNvGrpSpPr/>
          <p:nvPr/>
        </p:nvGrpSpPr>
        <p:grpSpPr>
          <a:xfrm>
            <a:off x="838200" y="12858750"/>
            <a:ext cx="10153650" cy="1162812"/>
            <a:chOff x="838200" y="12858750"/>
            <a:chExt cx="10153650" cy="1162812"/>
          </a:xfrm>
        </p:grpSpPr>
        <p:sp>
          <p:nvSpPr>
            <p:cNvPr id="108" name="Freeform 108"/>
            <p:cNvSpPr/>
            <p:nvPr/>
          </p:nvSpPr>
          <p:spPr>
            <a:xfrm>
              <a:off x="838200" y="12858750"/>
              <a:ext cx="10153650" cy="1143000"/>
            </a:xfrm>
            <a:prstGeom prst="wedgeRoundRectCallout">
              <a:avLst>
                <a:gd name="adj1" fmla="val -28000"/>
                <a:gd name="adj2" fmla="val -78000"/>
                <a:gd name="adj3" fmla="val 16667"/>
              </a:avLst>
            </a:prstGeom>
            <a:solidFill>
              <a:schemeClr val="accent1"/>
            </a:solidFill>
            <a:ln>
              <a:noFill/>
            </a:ln>
          </p:spPr>
        </p:sp>
        <p:grpSp>
          <p:nvGrpSpPr>
            <p:cNvPr id="111" name="Group 111"/>
            <p:cNvGrpSpPr/>
            <p:nvPr/>
          </p:nvGrpSpPr>
          <p:grpSpPr>
            <a:xfrm>
              <a:off x="1291361" y="13206413"/>
              <a:ext cx="403014" cy="371475"/>
              <a:chOff x="1291361" y="13206413"/>
              <a:chExt cx="403014" cy="371475"/>
            </a:xfrm>
          </p:grpSpPr>
          <p:sp>
            <p:nvSpPr>
              <p:cNvPr id="109" name="Freeform 109"/>
              <p:cNvSpPr/>
              <p:nvPr/>
            </p:nvSpPr>
            <p:spPr>
              <a:xfrm>
                <a:off x="1291361" y="13206413"/>
                <a:ext cx="403014" cy="368297"/>
              </a:xfrm>
              <a:custGeom>
                <a:avLst/>
                <a:gdLst/>
                <a:ahLst/>
                <a:cxnLst/>
                <a:rect l="l" t="t" r="r" b="b"/>
                <a:pathLst>
                  <a:path w="403014" h="368297">
                    <a:moveTo>
                      <a:pt x="202445" y="368297"/>
                    </a:moveTo>
                    <a:cubicBezTo>
                      <a:pt x="73160" y="328222"/>
                      <a:pt x="0" y="191773"/>
                      <a:pt x="38170" y="61913"/>
                    </a:cubicBezTo>
                    <a:cubicBezTo>
                      <a:pt x="102467" y="64855"/>
                      <a:pt x="165383" y="42649"/>
                      <a:pt x="213589" y="0"/>
                    </a:cubicBezTo>
                    <a:cubicBezTo>
                      <a:pt x="261795" y="42649"/>
                      <a:pt x="324711" y="64855"/>
                      <a:pt x="389008" y="61913"/>
                    </a:cubicBezTo>
                    <a:cubicBezTo>
                      <a:pt x="403014" y="109567"/>
                      <a:pt x="402367" y="160332"/>
                      <a:pt x="387151" y="207614"/>
                    </a:cubicBezTo>
                  </a:path>
                </a:pathLst>
              </a:custGeom>
              <a:noFill/>
              <a:ln w="41275">
                <a:solidFill>
                  <a:srgbClr val="FBF6EC"/>
                </a:solidFill>
              </a:ln>
            </p:spPr>
          </p:sp>
          <p:sp>
            <p:nvSpPr>
              <p:cNvPr id="110" name="Freeform 110"/>
              <p:cNvSpPr/>
              <p:nvPr/>
            </p:nvSpPr>
            <p:spPr>
              <a:xfrm>
                <a:off x="1566863" y="13495338"/>
                <a:ext cx="123825" cy="82550"/>
              </a:xfrm>
              <a:custGeom>
                <a:avLst/>
                <a:gdLst/>
                <a:ahLst/>
                <a:cxnLst/>
                <a:rect l="l" t="t" r="r" b="b"/>
                <a:pathLst>
                  <a:path w="123825" h="82550">
                    <a:moveTo>
                      <a:pt x="0" y="41275"/>
                    </a:moveTo>
                    <a:lnTo>
                      <a:pt x="41275" y="82550"/>
                    </a:lnTo>
                    <a:lnTo>
                      <a:pt x="123825" y="0"/>
                    </a:lnTo>
                  </a:path>
                </a:pathLst>
              </a:custGeom>
              <a:noFill/>
              <a:ln w="41275">
                <a:solidFill>
                  <a:srgbClr val="FBF6EC"/>
                </a:solidFill>
              </a:ln>
            </p:spPr>
          </p:sp>
        </p:grpSp>
        <p:sp>
          <p:nvSpPr>
            <p:cNvPr id="112" name="TextBox 112"/>
            <p:cNvSpPr txBox="1"/>
            <p:nvPr/>
          </p:nvSpPr>
          <p:spPr>
            <a:xfrm>
              <a:off x="1926336" y="13035915"/>
              <a:ext cx="6157459" cy="645414"/>
            </a:xfrm>
            <a:prstGeom prst="rect">
              <a:avLst/>
            </a:prstGeom>
            <a:noFill/>
            <a:ln>
              <a:noFill/>
            </a:ln>
          </p:spPr>
          <p:txBody>
            <a:bodyPr wrap="none" lIns="0" tIns="0" rIns="0" bIns="0" anchor="t" anchorCtr="0">
              <a:spAutoFit/>
            </a:bodyPr>
            <a:lstStyle/>
            <a:p>
              <a:pPr algn="l"/>
              <a:r>
                <a:rPr lang="zh-CN" sz="3300" b="1" dirty="0">
                  <a:solidFill>
                    <a:srgbClr val="FBF6EC"/>
                  </a:solidFill>
                  <a:latin typeface="+mn-lt"/>
                  <a:ea typeface="+mn-ea"/>
                  <a:cs typeface="+mn-cs"/>
                </a:rPr>
                <a:t>备对药 + 懂急救,才是双重保障</a:t>
              </a:r>
            </a:p>
          </p:txBody>
        </p:sp>
        <p:sp>
          <p:nvSpPr>
            <p:cNvPr id="113" name="TextBox 113"/>
            <p:cNvSpPr txBox="1"/>
            <p:nvPr/>
          </p:nvSpPr>
          <p:spPr>
            <a:xfrm>
              <a:off x="1930908" y="13552170"/>
              <a:ext cx="6809232" cy="469392"/>
            </a:xfrm>
            <a:prstGeom prst="rect">
              <a:avLst/>
            </a:prstGeom>
            <a:noFill/>
            <a:ln>
              <a:noFill/>
            </a:ln>
          </p:spPr>
          <p:txBody>
            <a:bodyPr wrap="none" lIns="0" tIns="0" rIns="0" bIns="0" anchor="t" anchorCtr="0">
              <a:spAutoFit/>
            </a:bodyPr>
            <a:lstStyle/>
            <a:p>
              <a:pPr algn="l"/>
              <a:r>
                <a:rPr lang="zh-CN" sz="2400" dirty="0">
                  <a:solidFill>
                    <a:srgbClr val="EFE3CC"/>
                  </a:solidFill>
                  <a:latin typeface="+mn-lt"/>
                  <a:ea typeface="+mn-ea"/>
                  <a:cs typeface="+mn-cs"/>
                </a:rPr>
                <a:t>建议家里至少一人参加一次红会或急救中心培训</a:t>
              </a:r>
            </a:p>
          </p:txBody>
        </p:sp>
      </p:grpSp>
      <p:grpSp>
        <p:nvGrpSpPr>
          <p:cNvPr id="117" name="page-footer"/>
          <p:cNvGrpSpPr/>
          <p:nvPr/>
        </p:nvGrpSpPr>
        <p:grpSpPr>
          <a:xfrm>
            <a:off x="828294" y="14305598"/>
            <a:ext cx="10173462" cy="381381"/>
            <a:chOff x="828294" y="14305598"/>
            <a:chExt cx="10173462" cy="381381"/>
          </a:xfrm>
        </p:grpSpPr>
        <p:sp>
          <p:nvSpPr>
            <p:cNvPr id="115" name="TextBox 115"/>
            <p:cNvSpPr txBox="1"/>
            <p:nvPr/>
          </p:nvSpPr>
          <p:spPr>
            <a:xfrm>
              <a:off x="828294" y="14305598"/>
              <a:ext cx="6766293"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n-lt"/>
                  <a:ea typeface="+mn-ea"/>
                  <a:cs typeface="+mn-cs"/>
                </a:rPr>
                <a:t>总表为本文整理,条目与要点均来自前 8 页标注的官方来源</a:t>
              </a:r>
            </a:p>
          </p:txBody>
        </p:sp>
        <p:sp>
          <p:nvSpPr>
            <p:cNvPr id="116" name="TextBox 116"/>
            <p:cNvSpPr txBox="1"/>
            <p:nvPr/>
          </p:nvSpPr>
          <p:spPr>
            <a:xfrm>
              <a:off x="10391299" y="14305598"/>
              <a:ext cx="610457" cy="381381"/>
            </a:xfrm>
            <a:prstGeom prst="rect">
              <a:avLst/>
            </a:prstGeom>
            <a:noFill/>
            <a:ln>
              <a:noFill/>
            </a:ln>
          </p:spPr>
          <p:txBody>
            <a:bodyPr wrap="none" lIns="0" tIns="0" rIns="0" bIns="0" anchor="t" anchorCtr="0">
              <a:spAutoFit/>
            </a:bodyPr>
            <a:lstStyle/>
            <a:p>
              <a:pPr algn="r"/>
              <a:r>
                <a:rPr lang="zh-CN" sz="1950" dirty="0">
                  <a:solidFill>
                    <a:schemeClr val="accent5"/>
                  </a:solidFill>
                  <a:latin typeface="+mn-lt"/>
                  <a:ea typeface="+mn-ea"/>
                  <a:cs typeface="+mn-cs"/>
                </a:rPr>
                <a:t>9 / 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par>
                          <p:cTn id="8" fill="hold">
                            <p:stCondLst>
                              <p:cond delay="4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350"/>
                            </p:stCondLst>
                            <p:childTnLst>
                              <p:par>
                                <p:cTn xmlns:p="http://schemas.openxmlformats.org/presentationml/2006/main" id="13" presetID="22" presetClass="entr" presetSubtype="4" fill="hold" grpId="0" nodeType="afterEffect">
                                  <p:stCondLst>
                                    <p:cond delay="500"/>
                                  </p:stCondLst>
                                  <p:childTnLst>
                                    <p:set>
                                      <p:cBhvr>
                                        <p:cTn id="14" dur="1" fill="hold">
                                          <p:stCondLst>
                                            <p:cond delay="0"/>
                                          </p:stCondLst>
                                        </p:cTn>
                                        <p:tgtEl>
                                          <p:spTgt spid="107"/>
                                        </p:tgtEl>
                                        <p:attrNameLst>
                                          <p:attrName>style.visibility</p:attrName>
                                        </p:attrNameLst>
                                      </p:cBhvr>
                                      <p:to>
                                        <p:strVal val="visible"/>
                                      </p:to>
                                    </p:set>
                                    <p:animEffect transition="in" filter="wipe(down)">
                                      <p:cBhvr>
                                        <p:cTn id="15" dur="800"/>
                                        <p:tgtEl>
                                          <p:spTgt spid="107"/>
                                        </p:tgtEl>
                                      </p:cBhvr>
                                    </p:animEffect>
                                  </p:childTnLst>
                                </p:cTn>
                              </p:par>
                            </p:childTnLst>
                          </p:cTn>
                        </p:par>
                        <p:par>
                          <p:cTn id="16" fill="hold">
                            <p:stCondLst>
                              <p:cond delay="2650"/>
                            </p:stCondLst>
                            <p:childTnLst>
                              <p:par>
                                <p:cTn xmlns:p="http://schemas.openxmlformats.org/presentationml/2006/main" id="17" presetID="37" presetClass="entr" presetSubtype="0" fill="hold" grpId="0" nodeType="afterEffect">
                                  <p:stCondLst>
                                    <p:cond delay="300"/>
                                  </p:stCondLst>
                                  <p:childTnLst>
                                    <p:set>
                                      <p:cBhvr>
                                        <p:cTn id="18" dur="1" fill="hold">
                                          <p:stCondLst>
                                            <p:cond delay="0"/>
                                          </p:stCondLst>
                                        </p:cTn>
                                        <p:tgtEl>
                                          <p:spTgt spid="114"/>
                                        </p:tgtEl>
                                        <p:attrNameLst>
                                          <p:attrName>style.visibility</p:attrName>
                                        </p:attrNameLst>
                                      </p:cBhvr>
                                      <p:to>
                                        <p:strVal val="visible"/>
                                      </p:to>
                                    </p:set>
                                    <p:animEffect transition="in" filter="fade">
                                      <p:cBhvr>
                                        <p:cTn id="19" dur="500"/>
                                        <p:tgtEl>
                                          <p:spTgt spid="114"/>
                                        </p:tgtEl>
                                      </p:cBhvr>
                                    </p:animEffect>
                                    <p:anim calcmode="lin" valueType="num">
                                      <p:cBhvr>
                                        <p:cTn id="20" dur="500" fill="hold"/>
                                        <p:tgtEl>
                                          <p:spTgt spid="114"/>
                                        </p:tgtEl>
                                        <p:attrNameLst>
                                          <p:attrName>ppt_x</p:attrName>
                                        </p:attrNameLst>
                                      </p:cBhvr>
                                      <p:tavLst>
                                        <p:tav tm="0">
                                          <p:val>
                                            <p:strVal val="#ppt_x"/>
                                          </p:val>
                                        </p:tav>
                                        <p:tav tm="100000">
                                          <p:val>
                                            <p:strVal val="#ppt_x"/>
                                          </p:val>
                                        </p:tav>
                                      </p:tavLst>
                                    </p:anim>
                                    <p:anim calcmode="lin" valueType="num">
                                      <p:cBhvr>
                                        <p:cTn id="21" dur="450" decel="100000" fill="hold"/>
                                        <p:tgtEl>
                                          <p:spTgt spid="114"/>
                                        </p:tgtEl>
                                        <p:attrNameLst>
                                          <p:attrName>ppt_y</p:attrName>
                                        </p:attrNameLst>
                                      </p:cBhvr>
                                      <p:tavLst>
                                        <p:tav tm="0">
                                          <p:val>
                                            <p:strVal val="#ppt_y+1"/>
                                          </p:val>
                                        </p:tav>
                                        <p:tav tm="100000">
                                          <p:val>
                                            <p:strVal val="#ppt_y-.03"/>
                                          </p:val>
                                        </p:tav>
                                      </p:tavLst>
                                    </p:anim>
                                    <p:anim calcmode="lin" valueType="num">
                                      <p:cBhvr>
                                        <p:cTn id="22" dur="50" accel="100000" fill="hold">
                                          <p:stCondLst>
                                            <p:cond delay="450"/>
                                          </p:stCondLst>
                                        </p:cTn>
                                        <p:tgtEl>
                                          <p:spTgt spid="11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xiaohongshu_first_aid_kit_zh">
  <a:themeElements>
    <a:clrScheme name="xiaohongshu_first_aid_kit_zh">
      <a:dk1>
        <a:srgbClr val="2B2A26"/>
      </a:dk1>
      <a:lt1>
        <a:srgbClr val="FBF6EC"/>
      </a:lt1>
      <a:dk2>
        <a:srgbClr val="1F497D"/>
      </a:dk2>
      <a:lt2>
        <a:srgbClr val="F2E8D5"/>
      </a:lt2>
      <a:accent1>
        <a:srgbClr val="1F6F5C"/>
      </a:accent1>
      <a:accent2>
        <a:srgbClr val="D94F3D"/>
      </a:accent2>
      <a:accent3>
        <a:srgbClr val="E8A33D"/>
      </a:accent3>
      <a:accent4>
        <a:srgbClr val="1F6F5C"/>
      </a:accent4>
      <a:accent5>
        <a:srgbClr val="6B6558"/>
      </a:accent5>
      <a:accent6>
        <a:srgbClr val="D9CDB8"/>
      </a:accent6>
      <a:hlink>
        <a:srgbClr val="D94F3D"/>
      </a:hlink>
      <a:folHlink>
        <a:srgbClr val="E8A33D"/>
      </a:folHlink>
    </a:clrScheme>
    <a:fontScheme name="xiaohongshu_first_aid_kit_zh">
      <a:majorFont>
        <a:latin typeface="Arial Black"/>
        <a:ea typeface="SimHei"/>
        <a:cs typeface="Arial Black"/>
        <a:font script="Jpan" typeface="SimHei"/>
        <a:font script="Hang" typeface="SimHei"/>
        <a:font script="Hans" typeface="SimHei"/>
        <a:font script="Hant" typeface="Sim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xiaohongshu_first_aid_kit_z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xiaohongshu_first_aid_kit_zh">
  <a:themeElements>
    <a:clrScheme name="xiaohongshu_first_aid_kit_zh">
      <a:dk1>
        <a:srgbClr val="2B2A26"/>
      </a:dk1>
      <a:lt1>
        <a:srgbClr val="FBF6EC"/>
      </a:lt1>
      <a:dk2>
        <a:srgbClr val="1F497D"/>
      </a:dk2>
      <a:lt2>
        <a:srgbClr val="F2E8D5"/>
      </a:lt2>
      <a:accent1>
        <a:srgbClr val="1F6F5C"/>
      </a:accent1>
      <a:accent2>
        <a:srgbClr val="D94F3D"/>
      </a:accent2>
      <a:accent3>
        <a:srgbClr val="E8A33D"/>
      </a:accent3>
      <a:accent4>
        <a:srgbClr val="1F6F5C"/>
      </a:accent4>
      <a:accent5>
        <a:srgbClr val="6B6558"/>
      </a:accent5>
      <a:accent6>
        <a:srgbClr val="D9CDB8"/>
      </a:accent6>
      <a:hlink>
        <a:srgbClr val="D94F3D"/>
      </a:hlink>
      <a:folHlink>
        <a:srgbClr val="E8A33D"/>
      </a:folHlink>
    </a:clrScheme>
    <a:fontScheme name="xiaohongshu_first_aid_kit_zh">
      <a:majorFont>
        <a:latin typeface="Arial Black"/>
        <a:ea typeface="SimHei"/>
        <a:cs typeface="Arial Black"/>
        <a:font script="Jpan" typeface="SimHei"/>
        <a:font script="Hang" typeface="SimHei"/>
        <a:font script="Hans" typeface="SimHei"/>
        <a:font script="Hant" typeface="Sim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xiaohongshu_first_aid_kit_z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Custom</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2026-09-17T23:44:09Z</dcterms:created>
  <dcterms:modified xsi:type="dcterms:W3CDTF">2026-09-17T23:44:09Z</dcterms:modified>
  <cp:category/>
  <cp:contentStatus/>
</cp:coreProperties>
</file>