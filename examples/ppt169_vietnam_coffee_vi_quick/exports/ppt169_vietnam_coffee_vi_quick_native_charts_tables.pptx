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401.xml" ContentType="application/vnd.openxmlformats-officedocument.drawingml.chart+xml"/>
  <Override PartName="/ppt/charts/chart701.xml" ContentType="application/vnd.openxmlformats-officedocument.drawingml.chart+xml"/>
  <Override PartName="/ppt/charts/chart90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defaultTextStyle>
    <a:defPPr>
      <a:defRPr lang="vi-V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4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401.xlsx"/>
</Relationships>
</file>

<file path=ppt/charts/_rels/chart7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701.xlsx"/>
</Relationships>
</file>

<file path=ppt/charts/_rels/chart9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901.xlsx"/>
</Relationships>
</file>

<file path=ppt/charts/chart4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806451612903"/>
          <c:y val="0.0357142857143"/>
          <c:w val="0.854838709677"/>
          <c:h val="0.84183673469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Robusta</c:v>
                </c:pt>
              </c:strCache>
            </c:strRef>
          </c:tx>
          <c:spPr>
            <a:solidFill>
              <a:srgbClr val="7A3B22"/>
            </a:solidFill>
            <a:ln>
              <a:solidFill>
                <a:srgbClr val="7A3B22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2024/25</c:v>
                </c:pt>
                <c:pt idx="1">
                  <c:v>2025/26</c:v>
                </c:pt>
                <c:pt idx="2">
                  <c:v>2026/27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30.5</c:v>
                </c:pt>
                <c:pt idx="2">
                  <c:v>31.4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Arabica</c:v>
                </c:pt>
              </c:strCache>
            </c:strRef>
          </c:tx>
          <c:spPr>
            <a:solidFill>
              <a:srgbClr val="C08A2E"/>
            </a:solidFill>
            <a:ln>
              <a:solidFill>
                <a:srgbClr val="C08A2E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2024/25</c:v>
                </c:pt>
                <c:pt idx="1">
                  <c:v>2025/26</c:v>
                </c:pt>
                <c:pt idx="2">
                  <c:v>2026/27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1.2</c:v>
                </c:pt>
                <c:pt idx="2">
                  <c:v>1.1</c:v>
                </c:pt>
              </c:numCache>
            </c:numRef>
          </c:val>
        </c:ser>
        <c:gapWidth val="150"/>
        <c:overlap val="10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B8A88F"/>
            </a:solidFill>
            <a:round/>
          </a:ln>
        </c:spPr>
        <c:txPr>
          <a:bodyPr/>
          <a:lstStyle/>
          <a:p>
            <a:pPr>
              <a:defRPr lang="vi-VN" sz="1500">
                <a:solidFill>
                  <a:srgbClr val="6B5B4A"/>
                </a:solidFill>
                <a:latin typeface="Segoe UI"/>
                <a:ea typeface="Microsoft YaHei"/>
                <a:cs typeface="Segoe UI"/>
              </a:defRPr>
            </a:pPr>
            <a:endParaRPr lang="vi-V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35"/>
          <c:min val="0"/>
        </c:scaling>
        <c:delete val="0"/>
        <c:axPos val="l"/>
        <c:majorGridlines>
          <c:spPr>
            <a:ln w="6350" cap="flat" cmpd="sng" algn="ctr">
              <a:solidFill>
                <a:srgbClr val="E4DACB"/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B8A88F"/>
            </a:solidFill>
            <a:round/>
          </a:ln>
        </c:spPr>
        <c:txPr>
          <a:bodyPr/>
          <a:lstStyle/>
          <a:p>
            <a:pPr>
              <a:defRPr lang="vi-VN" sz="1500">
                <a:solidFill>
                  <a:srgbClr val="6B5B4A"/>
                </a:solidFill>
                <a:latin typeface="Segoe UI"/>
                <a:ea typeface="Microsoft YaHei"/>
                <a:cs typeface="Segoe UI"/>
              </a:defRPr>
            </a:pPr>
            <a:endParaRPr lang="vi-VN"/>
          </a:p>
        </c:txPr>
        <c:crossAx val="2068027336"/>
        <c:crosses val="autoZero"/>
        <c:crossBetween val="between"/>
        <c:majorUnit val="1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vi-VN" sz="1500">
          <a:solidFill>
            <a:srgbClr val="6B5B4A"/>
          </a:solidFill>
          <a:latin typeface="Segoe UI"/>
          <a:ea typeface="Microsoft YaHei"/>
          <a:cs typeface="Segoe UI"/>
        </a:defRPr>
      </a:pPr>
      <a:endParaRPr lang="vi-VN"/>
    </a:p>
  </c:txPr>
  <c:externalData r:id="rId1">
    <c:autoUpdate val="0"/>
  </c:externalData>
</c:chartSpace>
</file>

<file path=ppt/charts/chart7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14285714286"/>
          <c:y val="0.0376344086022"/>
          <c:w val="0.885714285714"/>
          <c:h val="0.83333333333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Sản lượng</c:v>
                </c:pt>
              </c:strCache>
            </c:strRef>
          </c:tx>
          <c:spPr>
            <a:solidFill>
              <a:srgbClr val="7A3B22"/>
            </a:solidFill>
            <a:ln>
              <a:solidFill>
                <a:srgbClr val="7A3B22"/>
              </a:solidFill>
            </a:ln>
          </c:spPr>
          <c:marker>
            <c:symbol val="circle"/>
            <c:size val="9"/>
            <c:spPr>
              <a:solidFill>
                <a:srgbClr val="7A3B22"/>
              </a:solidFill>
              <a:ln>
                <a:solidFill>
                  <a:srgbClr val="7A3B22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2021/22</c:v>
                </c:pt>
                <c:pt idx="1">
                  <c:v>2022/23</c:v>
                </c:pt>
                <c:pt idx="2">
                  <c:v>2023/24</c:v>
                </c:pt>
                <c:pt idx="3">
                  <c:v>2024/25</c:v>
                </c:pt>
                <c:pt idx="4">
                  <c:v>2025/26</c:v>
                </c:pt>
                <c:pt idx="5">
                  <c:v>2026/27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31.58</c:v>
                </c:pt>
                <c:pt idx="1">
                  <c:v>28.3</c:v>
                </c:pt>
                <c:pt idx="2">
                  <c:v>27.55</c:v>
                </c:pt>
                <c:pt idx="3">
                  <c:v>29</c:v>
                </c:pt>
                <c:pt idx="4">
                  <c:v>31.7</c:v>
                </c:pt>
                <c:pt idx="5">
                  <c:v>32.5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Xuất khẩu</c:v>
                </c:pt>
              </c:strCache>
            </c:strRef>
          </c:tx>
          <c:spPr>
            <a:solidFill>
              <a:srgbClr val="2F6B4F"/>
            </a:solidFill>
            <a:ln>
              <a:solidFill>
                <a:srgbClr val="2F6B4F"/>
              </a:solidFill>
            </a:ln>
          </c:spPr>
          <c:marker>
            <c:symbol val="circle"/>
            <c:size val="9"/>
            <c:spPr>
              <a:solidFill>
                <a:srgbClr val="2F6B4F"/>
              </a:solidFill>
              <a:ln>
                <a:solidFill>
                  <a:srgbClr val="2F6B4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2021/22</c:v>
                </c:pt>
                <c:pt idx="1">
                  <c:v>2022/23</c:v>
                </c:pt>
                <c:pt idx="2">
                  <c:v>2023/24</c:v>
                </c:pt>
                <c:pt idx="3">
                  <c:v>2024/25</c:v>
                </c:pt>
                <c:pt idx="4">
                  <c:v>2025/26</c:v>
                </c:pt>
                <c:pt idx="5">
                  <c:v>2026/27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29.01</c:v>
                </c:pt>
                <c:pt idx="1">
                  <c:v>28.34</c:v>
                </c:pt>
                <c:pt idx="2">
                  <c:v>24.4</c:v>
                </c:pt>
                <c:pt idx="3">
                  <c:v>25.2</c:v>
                </c:pt>
                <c:pt idx="4">
                  <c:v>28.5</c:v>
                </c:pt>
                <c:pt idx="5">
                  <c:v>28.95</c:v>
                </c:pt>
              </c:numCache>
            </c:numRef>
          </c:val>
          <c:smooth val="0"/>
        </c:ser>
        <c:marker val="1"/>
        <c:smooth val="0"/>
        <c:axId val="2068027336"/>
        <c:axId val="2113994440"/>
      </c:line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B8A88F"/>
            </a:solidFill>
            <a:round/>
          </a:ln>
        </c:spPr>
        <c:txPr>
          <a:bodyPr/>
          <a:lstStyle/>
          <a:p>
            <a:pPr>
              <a:defRPr lang="vi-VN" sz="1500">
                <a:solidFill>
                  <a:srgbClr val="6B5B4A"/>
                </a:solidFill>
                <a:latin typeface="Segoe UI"/>
                <a:ea typeface="Microsoft YaHei"/>
                <a:cs typeface="Segoe UI"/>
              </a:defRPr>
            </a:pPr>
            <a:endParaRPr lang="vi-V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35"/>
          <c:min val="20"/>
        </c:scaling>
        <c:delete val="0"/>
        <c:axPos val="l"/>
        <c:majorGridlines>
          <c:spPr>
            <a:ln w="6350" cap="flat" cmpd="sng" algn="ctr">
              <a:solidFill>
                <a:srgbClr val="E4DACB"/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B8A88F"/>
            </a:solidFill>
            <a:round/>
          </a:ln>
        </c:spPr>
        <c:txPr>
          <a:bodyPr/>
          <a:lstStyle/>
          <a:p>
            <a:pPr>
              <a:defRPr lang="vi-VN" sz="1500">
                <a:solidFill>
                  <a:srgbClr val="6B5B4A"/>
                </a:solidFill>
                <a:latin typeface="Segoe UI"/>
                <a:ea typeface="Microsoft YaHei"/>
                <a:cs typeface="Segoe UI"/>
              </a:defRPr>
            </a:pPr>
            <a:endParaRPr lang="vi-VN"/>
          </a:p>
        </c:txPr>
        <c:crossAx val="2068027336"/>
        <c:crosses val="autoZero"/>
        <c:crossBetween val="between"/>
        <c:majorUnit val="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vi-VN" sz="1500">
          <a:solidFill>
            <a:srgbClr val="6B5B4A"/>
          </a:solidFill>
          <a:latin typeface="Segoe UI"/>
          <a:ea typeface="Microsoft YaHei"/>
          <a:cs typeface="Segoe UI"/>
        </a:defRPr>
      </a:pPr>
      <a:endParaRPr lang="vi-VN"/>
    </a:p>
  </c:txPr>
  <c:externalData r:id="rId1">
    <c:autoUpdate val="0"/>
  </c:externalData>
</c:chartSpace>
</file>

<file path=ppt/charts/chart9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Thị phần lượng xuất khẩu</c:v>
                </c:pt>
              </c:strCache>
            </c:strRef>
          </c:tx>
          <c:dPt>
            <c:idx val="0"/>
            <c:spPr>
              <a:solidFill>
                <a:srgbClr val="7A3B22"/>
              </a:solidFill>
              <a:ln>
                <a:solidFill>
                  <a:srgbClr val="7A3B22"/>
                </a:solidFill>
              </a:ln>
            </c:spPr>
          </c:dPt>
          <c:dPt>
            <c:idx val="1"/>
            <c:spPr>
              <a:solidFill>
                <a:srgbClr val="A85A33"/>
              </a:solidFill>
              <a:ln>
                <a:solidFill>
                  <a:srgbClr val="A85A33"/>
                </a:solidFill>
              </a:ln>
            </c:spPr>
          </c:dPt>
          <c:dPt>
            <c:idx val="2"/>
            <c:spPr>
              <a:solidFill>
                <a:srgbClr val="C08A2E"/>
              </a:solidFill>
              <a:ln>
                <a:solidFill>
                  <a:srgbClr val="C08A2E"/>
                </a:solidFill>
              </a:ln>
            </c:spPr>
          </c:dPt>
          <c:dPt>
            <c:idx val="3"/>
            <c:spPr>
              <a:solidFill>
                <a:srgbClr val="D7BE96"/>
              </a:solidFill>
              <a:ln>
                <a:solidFill>
                  <a:srgbClr val="D7BE96"/>
                </a:solidFill>
              </a:ln>
            </c:spPr>
          </c:dPt>
          <c:dPt>
            <c:idx val="4"/>
            <c:spPr>
              <a:solidFill>
                <a:srgbClr val="BFB3A3"/>
              </a:solidFill>
              <a:ln>
                <a:solidFill>
                  <a:srgbClr val="BFB3A3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Đức</c:v>
                </c:pt>
                <c:pt idx="1">
                  <c:v>Ý</c:v>
                </c:pt>
                <c:pt idx="2">
                  <c:v>Tây Ban Nha</c:v>
                </c:pt>
                <c:pt idx="3">
                  <c:v>Châu Âu khác</c:v>
                </c:pt>
                <c:pt idx="4">
                  <c:v>Ngoài châu Âu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8.3</c:v>
                </c:pt>
                <c:pt idx="2">
                  <c:v>7.3</c:v>
                </c:pt>
                <c:pt idx="3">
                  <c:v>18.6</c:v>
                </c:pt>
                <c:pt idx="4">
                  <c:v>52.8</c:v>
                </c:pt>
              </c:numCache>
            </c:numRef>
          </c:val>
        </c:ser>
        <c:firstSliceAng val="0"/>
        <c:holeSize val="59"/>
      </c:doughnut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vi-VN" sz="900">
          <a:solidFill>
            <a:srgbClr val="6B5B4A"/>
          </a:solidFill>
          <a:latin typeface="Segoe UI"/>
          <a:ea typeface="Microsoft YaHei"/>
          <a:cs typeface="Segoe UI"/>
        </a:defRPr>
      </a:pPr>
      <a:endParaRPr lang="vi-VN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vietnam_coffee_vi_qui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vi-VN" smtClean="0"/>
              <a:t>1/27/13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vietnam_coffee_vi_qui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vi-VN" smtClean="0"/>
              <a:t>1/27/13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5fdaf32850c0db7.jp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401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4d4b890d4d2df04.jp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701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901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00b93b646018a92.jp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2e844a474b7d6f0.jpg"/>
  <Relationship Id="rId3" Type="http://schemas.openxmlformats.org/officeDocument/2006/relationships/image" Target="../media/image_3e46c1e0a3f28e80.jp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over-image"/>
          <p:cNvGrpSpPr/>
          <p:nvPr/>
        </p:nvGrpSpPr>
        <p:grpSpPr>
          <a:xfrm>
            <a:off x="0" y="0"/>
            <a:ext cx="12192000" cy="4000500"/>
            <a:chOff x="0" y="0"/>
            <a:chExt cx="12192000" cy="40005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5873" r="0" b="25873"/>
            <a:stretch>
              <a:fillRect/>
            </a:stretch>
          </p:blipFill>
          <p:spPr>
            <a:xfrm>
              <a:off x="0" y="0"/>
              <a:ext cx="12192000" cy="39243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12192000" cy="3924300"/>
            </a:xfrm>
            <a:prstGeom prst="rect">
              <a:avLst/>
            </a:prstGeom>
            <a:gradFill>
              <a:gsLst>
                <a:gs pos="0">
                  <a:srgbClr val="1C1610">
                    <a:alpha val="78000"/>
                  </a:srgbClr>
                </a:gs>
                <a:gs pos="44000">
                  <a:srgbClr val="1C1610">
                    <a:alpha val="26000"/>
                  </a:srgbClr>
                </a:gs>
                <a:gs pos="100000">
                  <a:srgbClr val="1C1610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3924300"/>
              <a:ext cx="12192000" cy="7620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02742" y="616268"/>
              <a:ext cx="46452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F7F3EC"/>
                  </a:solidFill>
                  <a:latin typeface="+mn-lt"/>
                  <a:ea typeface="+mn-ea"/>
                  <a:cs typeface="+mn-cs"/>
                </a:rPr>
                <a:t>BÀI GIẢNG CHUYÊN ĐỀ · NGÀNH HÀNG CÀ PHÊ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978218"/>
              <a:ext cx="3813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EDE2D2"/>
                  </a:solidFill>
                  <a:latin typeface="+mn-lt"/>
                  <a:ea typeface="+mn-ea"/>
                  <a:cs typeface="+mn-cs"/>
                </a:rPr>
                <a:t>Quả cà phê chín tại vùng cao nguyên Đà Lạt</a:t>
              </a:r>
            </a:p>
          </p:txBody>
        </p:sp>
      </p:grpSp>
      <p:grpSp>
        <p:nvGrpSpPr>
          <p:cNvPr id="11" name="cover-title"/>
          <p:cNvGrpSpPr/>
          <p:nvPr/>
        </p:nvGrpSpPr>
        <p:grpSpPr>
          <a:xfrm>
            <a:off x="590550" y="4331018"/>
            <a:ext cx="5510064" cy="1447799"/>
            <a:chOff x="590550" y="4331018"/>
            <a:chExt cx="5510064" cy="1447799"/>
          </a:xfrm>
        </p:grpSpPr>
        <p:sp>
          <p:nvSpPr>
            <p:cNvPr id="8" name="TextBox 8"/>
            <p:cNvSpPr txBox="1"/>
            <p:nvPr/>
          </p:nvSpPr>
          <p:spPr>
            <a:xfrm>
              <a:off x="602742" y="4331018"/>
              <a:ext cx="29452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TỪ TÂY NGUYÊN RA THẾ GIỚI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4706302"/>
              <a:ext cx="551006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405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CÀ PHÊ VIỆT NAM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8170" y="5338762"/>
              <a:ext cx="465246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Một ngành hàng đọc bằng số liệu</a:t>
              </a:r>
            </a:p>
          </p:txBody>
        </p:sp>
      </p:grpSp>
      <p:grpSp>
        <p:nvGrpSpPr>
          <p:cNvPr id="19" name="cover-stats"/>
          <p:cNvGrpSpPr/>
          <p:nvPr/>
        </p:nvGrpSpPr>
        <p:grpSpPr>
          <a:xfrm>
            <a:off x="7124700" y="4248150"/>
            <a:ext cx="3887343" cy="2137029"/>
            <a:chOff x="7124700" y="4248150"/>
            <a:chExt cx="3887343" cy="2137029"/>
          </a:xfrm>
        </p:grpSpPr>
        <p:sp>
          <p:nvSpPr>
            <p:cNvPr id="12" name="Line 12"/>
            <p:cNvSpPr/>
            <p:nvPr/>
          </p:nvSpPr>
          <p:spPr>
            <a:xfrm>
              <a:off x="7124700" y="424815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09590" y="4253865"/>
              <a:ext cx="11178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1857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32392" y="4311968"/>
              <a:ext cx="177965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người Pháp đưa cà phê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du nhập vào Việt Nam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73721" y="4996815"/>
              <a:ext cx="135369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Thứ 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32392" y="5054918"/>
              <a:ext cx="169392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thế giới về sản lượng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niên vụ 2025/26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09590" y="5739765"/>
              <a:ext cx="11178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32,5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32392" y="5797868"/>
              <a:ext cx="168535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triệu bao dự báo cho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niên vụ 2026/27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03504" y="6461760"/>
            <a:ext cx="63462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200" dirty="0">
                <a:solidFill>
                  <a:srgbClr val="6B5B4A"/>
                </a:solidFill>
                <a:latin typeface="+mn-lt"/>
                <a:ea typeface="+mn-ea"/>
                <a:cs typeface="+mn-cs"/>
              </a:rPr>
              <a:t>Nguồn: USDA FAS (2026); Báo Thanh Niên (2022). Ảnh: 1500m Coffee qua Pexels.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5688330" cy="865822"/>
            <a:chOff x="594360" y="444818"/>
            <a:chExt cx="5688330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120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LỘ TRÌNH BÀI GIẢNG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56883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Bài giảng đi qua năm chặng</a:t>
              </a:r>
            </a:p>
          </p:txBody>
        </p:sp>
      </p:grpSp>
      <p:grpSp>
        <p:nvGrpSpPr>
          <p:cNvPr id="12" name="chapter-rail"/>
          <p:cNvGrpSpPr/>
          <p:nvPr/>
        </p:nvGrpSpPr>
        <p:grpSpPr>
          <a:xfrm>
            <a:off x="609600" y="1238250"/>
            <a:ext cx="10982325" cy="76200"/>
            <a:chOff x="609600" y="1238250"/>
            <a:chExt cx="10982325" cy="7620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" y="123825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B8A88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800350" y="123825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B8A88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991100" y="123825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B8A88F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181850" y="123825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B8A88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72600" y="123825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B8A88F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1582400" y="123825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B8A88F"/>
              </a:solidFill>
            </a:ln>
          </p:spPr>
        </p:sp>
      </p:grpSp>
      <p:grpSp>
        <p:nvGrpSpPr>
          <p:cNvPr id="17" name="stage-1"/>
          <p:cNvGrpSpPr/>
          <p:nvPr/>
        </p:nvGrpSpPr>
        <p:grpSpPr>
          <a:xfrm>
            <a:off x="609600" y="1866900"/>
            <a:ext cx="2190750" cy="1503045"/>
            <a:chOff x="609600" y="1866900"/>
            <a:chExt cx="2190750" cy="1503045"/>
          </a:xfrm>
        </p:grpSpPr>
        <p:sp>
          <p:nvSpPr>
            <p:cNvPr id="13" name="Freeform 13"/>
            <p:cNvSpPr/>
            <p:nvPr/>
          </p:nvSpPr>
          <p:spPr>
            <a:xfrm>
              <a:off x="609600" y="1866900"/>
              <a:ext cx="2190750" cy="685800"/>
            </a:xfrm>
            <a:prstGeom prst="chevron">
              <a:avLst/>
            </a:prstGeom>
            <a:solidFill>
              <a:srgbClr val="9C2B1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724124" y="1996440"/>
              <a:ext cx="3046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3300" b="1" dirty="0">
                  <a:solidFill>
                    <a:srgbClr val="F7F3EC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07956" y="2726055"/>
              <a:ext cx="9369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Gốc rễ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52918" y="30765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5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1857 và 1914</a:t>
              </a:r>
            </a:p>
          </p:txBody>
        </p:sp>
      </p:grpSp>
      <p:grpSp>
        <p:nvGrpSpPr>
          <p:cNvPr id="22" name="stage-2"/>
          <p:cNvGrpSpPr/>
          <p:nvPr/>
        </p:nvGrpSpPr>
        <p:grpSpPr>
          <a:xfrm>
            <a:off x="2800350" y="1866900"/>
            <a:ext cx="2190750" cy="1503045"/>
            <a:chOff x="2800350" y="1866900"/>
            <a:chExt cx="2190750" cy="1503045"/>
          </a:xfrm>
        </p:grpSpPr>
        <p:sp>
          <p:nvSpPr>
            <p:cNvPr id="18" name="Freeform 18"/>
            <p:cNvSpPr/>
            <p:nvPr/>
          </p:nvSpPr>
          <p:spPr>
            <a:xfrm>
              <a:off x="2800350" y="1866900"/>
              <a:ext cx="2190750" cy="685800"/>
            </a:xfrm>
            <a:prstGeom prst="chevron">
              <a:avLst/>
            </a:prstGeom>
            <a:solidFill>
              <a:srgbClr val="EFE7DA"/>
            </a:solidFill>
            <a:ln w="14288">
              <a:solidFill>
                <a:srgbClr val="D9CDB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14874" y="1996440"/>
              <a:ext cx="3046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72409" y="2726055"/>
              <a:ext cx="15895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Vùng trồng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70262" y="3076575"/>
              <a:ext cx="15938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5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vùng Tây Nguyên</a:t>
              </a:r>
            </a:p>
          </p:txBody>
        </p:sp>
      </p:grpSp>
      <p:grpSp>
        <p:nvGrpSpPr>
          <p:cNvPr id="27" name="stage-3"/>
          <p:cNvGrpSpPr/>
          <p:nvPr/>
        </p:nvGrpSpPr>
        <p:grpSpPr>
          <a:xfrm>
            <a:off x="4991100" y="1866900"/>
            <a:ext cx="2190750" cy="1503045"/>
            <a:chOff x="4991100" y="1866900"/>
            <a:chExt cx="2190750" cy="1503045"/>
          </a:xfrm>
        </p:grpSpPr>
        <p:sp>
          <p:nvSpPr>
            <p:cNvPr id="23" name="Freeform 23"/>
            <p:cNvSpPr/>
            <p:nvPr/>
          </p:nvSpPr>
          <p:spPr>
            <a:xfrm>
              <a:off x="4991100" y="1866900"/>
              <a:ext cx="2190750" cy="685800"/>
            </a:xfrm>
            <a:prstGeom prst="chevron">
              <a:avLst/>
            </a:prstGeom>
            <a:solidFill>
              <a:srgbClr val="EFE7DA"/>
            </a:solidFill>
            <a:ln w="14288">
              <a:solidFill>
                <a:srgbClr val="D9CDB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05624" y="1996440"/>
              <a:ext cx="3046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44754" y="2726055"/>
              <a:ext cx="14263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Dòng chảy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62778" y="3076575"/>
              <a:ext cx="15902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5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xuất khẩu và giá</a:t>
              </a:r>
            </a:p>
          </p:txBody>
        </p:sp>
      </p:grpSp>
      <p:grpSp>
        <p:nvGrpSpPr>
          <p:cNvPr id="32" name="stage-4"/>
          <p:cNvGrpSpPr/>
          <p:nvPr/>
        </p:nvGrpSpPr>
        <p:grpSpPr>
          <a:xfrm>
            <a:off x="7181850" y="1866900"/>
            <a:ext cx="2190750" cy="1503045"/>
            <a:chOff x="7181850" y="1866900"/>
            <a:chExt cx="2190750" cy="1503045"/>
          </a:xfrm>
        </p:grpSpPr>
        <p:sp>
          <p:nvSpPr>
            <p:cNvPr id="28" name="Freeform 28"/>
            <p:cNvSpPr/>
            <p:nvPr/>
          </p:nvSpPr>
          <p:spPr>
            <a:xfrm>
              <a:off x="7181850" y="1866900"/>
              <a:ext cx="2190750" cy="685800"/>
            </a:xfrm>
            <a:prstGeom prst="chevron">
              <a:avLst/>
            </a:prstGeom>
            <a:solidFill>
              <a:srgbClr val="EFE7DA"/>
            </a:solidFill>
            <a:ln w="14288">
              <a:solidFill>
                <a:srgbClr val="D9CDB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96374" y="1996440"/>
              <a:ext cx="3046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36114" y="2726055"/>
              <a:ext cx="10251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Giá trị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50410" y="3076575"/>
              <a:ext cx="1196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5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chế biến sâu</a:t>
              </a:r>
            </a:p>
          </p:txBody>
        </p:sp>
      </p:grpSp>
      <p:grpSp>
        <p:nvGrpSpPr>
          <p:cNvPr id="37" name="stage-5"/>
          <p:cNvGrpSpPr/>
          <p:nvPr/>
        </p:nvGrpSpPr>
        <p:grpSpPr>
          <a:xfrm>
            <a:off x="9372600" y="1866900"/>
            <a:ext cx="2190750" cy="1503045"/>
            <a:chOff x="9372600" y="1866900"/>
            <a:chExt cx="2190750" cy="1503045"/>
          </a:xfrm>
        </p:grpSpPr>
        <p:sp>
          <p:nvSpPr>
            <p:cNvPr id="33" name="Freeform 33"/>
            <p:cNvSpPr/>
            <p:nvPr/>
          </p:nvSpPr>
          <p:spPr>
            <a:xfrm>
              <a:off x="9372600" y="1866900"/>
              <a:ext cx="2190750" cy="685800"/>
            </a:xfrm>
            <a:prstGeom prst="chevron">
              <a:avLst/>
            </a:prstGeom>
            <a:solidFill>
              <a:srgbClr val="EFE7DA"/>
            </a:solidFill>
            <a:ln w="14288">
              <a:solidFill>
                <a:srgbClr val="D9CDB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87124" y="1996440"/>
              <a:ext cx="3046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44659" y="2726055"/>
              <a:ext cx="15895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Thách thức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60280" y="3076575"/>
              <a:ext cx="15582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5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khí hậu và EUDR</a:t>
              </a:r>
            </a:p>
          </p:txBody>
        </p:sp>
      </p:grpSp>
      <p:grpSp>
        <p:nvGrpSpPr>
          <p:cNvPr id="40" name="journey-lead"/>
          <p:cNvGrpSpPr/>
          <p:nvPr/>
        </p:nvGrpSpPr>
        <p:grpSpPr>
          <a:xfrm>
            <a:off x="600456" y="3806190"/>
            <a:ext cx="8419338" cy="998411"/>
            <a:chOff x="600456" y="3806190"/>
            <a:chExt cx="8419338" cy="998411"/>
          </a:xfrm>
        </p:grpSpPr>
        <p:sp>
          <p:nvSpPr>
            <p:cNvPr id="38" name="TextBox 38"/>
            <p:cNvSpPr txBox="1"/>
            <p:nvPr/>
          </p:nvSpPr>
          <p:spPr>
            <a:xfrm>
              <a:off x="600456" y="3806190"/>
              <a:ext cx="841933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Mỗi chặng trả lời một câu hỏi: cây cà phê đến từ đâu, trồng ở đâu, đi tới thị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trường nào, ai giữ phần giá trị, và điều gì đang đe doạ chuỗi cung ứng.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2742" y="4540568"/>
              <a:ext cx="7898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Khung năm chặng là cách sắp xếp của bài giảng (tổng hợp), không phải cấu trúc của nguồn.</a:t>
              </a:r>
            </a:p>
          </p:txBody>
        </p:sp>
      </p:grpSp>
      <p:grpSp>
        <p:nvGrpSpPr>
          <p:cNvPr id="44" name="journey-takeaway"/>
          <p:cNvGrpSpPr/>
          <p:nvPr/>
        </p:nvGrpSpPr>
        <p:grpSpPr>
          <a:xfrm>
            <a:off x="609600" y="5029200"/>
            <a:ext cx="10972800" cy="990600"/>
            <a:chOff x="609600" y="5029200"/>
            <a:chExt cx="10972800" cy="990600"/>
          </a:xfrm>
        </p:grpSpPr>
        <p:sp>
          <p:nvSpPr>
            <p:cNvPr id="41" name="Freeform 41"/>
            <p:cNvSpPr/>
            <p:nvPr/>
          </p:nvSpPr>
          <p:spPr>
            <a:xfrm>
              <a:off x="609600" y="5029200"/>
              <a:ext cx="10972800" cy="990600"/>
            </a:xfrm>
            <a:prstGeom prst="snip2DiagRect">
              <a:avLst/>
            </a:prstGeom>
            <a:solidFill>
              <a:srgbClr val="EFE7D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7542" y="5207318"/>
              <a:ext cx="3556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THÔNG ĐIỆP CHÍNH CỦA BÀI GIẢNG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3732" y="5526405"/>
              <a:ext cx="101759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Mạnh về sản lượng Robusta, nhưng phần lớn giá trị vẫn nằm ngoài biên giới.</a:t>
              </a:r>
            </a:p>
          </p:txBody>
        </p:sp>
      </p:grpSp>
      <p:grpSp>
        <p:nvGrpSpPr>
          <p:cNvPr id="47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603504" y="6461760"/>
              <a:ext cx="5510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Khung trình bày do bài giảng tổng hợp; dữ liệu dẫn nguồn ở từng trang.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5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35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300"/>
                            </p:stCondLst>
                            <p:childTnLst>
                              <p:par>
                                <p:cTn xmlns:p="http://schemas.openxmlformats.org/presentationml/2006/main" id="3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7965872" cy="865822"/>
            <a:chOff x="594360" y="444818"/>
            <a:chExt cx="7965872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1906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1 · GỐC RỄ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796587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Từ 1857 đến một cường quốc Robusta</a:t>
              </a:r>
            </a:p>
          </p:txBody>
        </p:sp>
      </p:grpSp>
      <p:grpSp>
        <p:nvGrpSpPr>
          <p:cNvPr id="7" name="chapter-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10" name="era-1-mark"/>
          <p:cNvGrpSpPr/>
          <p:nvPr/>
        </p:nvGrpSpPr>
        <p:grpSpPr>
          <a:xfrm>
            <a:off x="592836" y="2025015"/>
            <a:ext cx="1117824" cy="817436"/>
            <a:chOff x="592836" y="2025015"/>
            <a:chExt cx="1117824" cy="817436"/>
          </a:xfrm>
        </p:grpSpPr>
        <p:sp>
          <p:nvSpPr>
            <p:cNvPr id="8" name="TextBox 8"/>
            <p:cNvSpPr txBox="1"/>
            <p:nvPr/>
          </p:nvSpPr>
          <p:spPr>
            <a:xfrm>
              <a:off x="592836" y="2025015"/>
              <a:ext cx="11178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1857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2742" y="2578418"/>
              <a:ext cx="867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DU NHẬP</a:t>
              </a:r>
            </a:p>
          </p:txBody>
        </p:sp>
      </p:grpSp>
      <p:grpSp>
        <p:nvGrpSpPr>
          <p:cNvPr id="13" name="era-2-mark"/>
          <p:cNvGrpSpPr/>
          <p:nvPr/>
        </p:nvGrpSpPr>
        <p:grpSpPr>
          <a:xfrm>
            <a:off x="4364736" y="2025015"/>
            <a:ext cx="1570055" cy="817436"/>
            <a:chOff x="4364736" y="2025015"/>
            <a:chExt cx="1570055" cy="817436"/>
          </a:xfrm>
        </p:grpSpPr>
        <p:sp>
          <p:nvSpPr>
            <p:cNvPr id="11" name="TextBox 11"/>
            <p:cNvSpPr txBox="1"/>
            <p:nvPr/>
          </p:nvSpPr>
          <p:spPr>
            <a:xfrm>
              <a:off x="4364736" y="2025015"/>
              <a:ext cx="11178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1914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74642" y="2578418"/>
              <a:ext cx="15601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CHỌN VÙNG LÕI</a:t>
              </a:r>
            </a:p>
          </p:txBody>
        </p:sp>
      </p:grpSp>
      <p:grpSp>
        <p:nvGrpSpPr>
          <p:cNvPr id="16" name="era-3-mark"/>
          <p:cNvGrpSpPr/>
          <p:nvPr/>
        </p:nvGrpSpPr>
        <p:grpSpPr>
          <a:xfrm>
            <a:off x="8136636" y="2025015"/>
            <a:ext cx="1973290" cy="817436"/>
            <a:chOff x="8136636" y="2025015"/>
            <a:chExt cx="1973290" cy="817436"/>
          </a:xfrm>
        </p:grpSpPr>
        <p:sp>
          <p:nvSpPr>
            <p:cNvPr id="14" name="TextBox 14"/>
            <p:cNvSpPr txBox="1"/>
            <p:nvPr/>
          </p:nvSpPr>
          <p:spPr>
            <a:xfrm>
              <a:off x="8136636" y="2025015"/>
              <a:ext cx="197329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Hôm nay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6542" y="2578418"/>
              <a:ext cx="18548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QUY MÔ HIỆN NAY</a:t>
              </a:r>
            </a:p>
          </p:txBody>
        </p:sp>
      </p:grpSp>
      <p:grpSp>
        <p:nvGrpSpPr>
          <p:cNvPr id="22" name="timeline-spine"/>
          <p:cNvGrpSpPr/>
          <p:nvPr/>
        </p:nvGrpSpPr>
        <p:grpSpPr>
          <a:xfrm>
            <a:off x="790575" y="3238500"/>
            <a:ext cx="10791825" cy="304800"/>
            <a:chOff x="790575" y="3238500"/>
            <a:chExt cx="10791825" cy="304800"/>
          </a:xfrm>
        </p:grpSpPr>
        <p:sp>
          <p:nvSpPr>
            <p:cNvPr id="17" name="Line 17"/>
            <p:cNvSpPr/>
            <p:nvPr/>
          </p:nvSpPr>
          <p:spPr>
            <a:xfrm>
              <a:off x="914400" y="33909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28575">
              <a:solidFill>
                <a:srgbClr val="D9CDB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668000" y="3238500"/>
              <a:ext cx="914400" cy="304800"/>
            </a:xfrm>
            <a:prstGeom prst="rightArrow">
              <a:avLst/>
            </a:prstGeom>
            <a:solidFill>
              <a:srgbClr val="D9CDB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790575" y="3267075"/>
              <a:ext cx="247650" cy="247650"/>
            </a:xfrm>
            <a:prstGeom prst="ellipse">
              <a:avLst/>
            </a:prstGeom>
            <a:solidFill>
              <a:srgbClr val="9C2B1B"/>
            </a:solidFill>
            <a:ln w="38100">
              <a:solidFill>
                <a:srgbClr val="F7F3EC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562475" y="3267075"/>
              <a:ext cx="247650" cy="247650"/>
            </a:xfrm>
            <a:prstGeom prst="ellipse">
              <a:avLst/>
            </a:prstGeom>
            <a:solidFill>
              <a:srgbClr val="9C2B1B"/>
            </a:solidFill>
            <a:ln w="38100">
              <a:solidFill>
                <a:srgbClr val="F7F3EC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8334375" y="3267075"/>
              <a:ext cx="247650" cy="247650"/>
            </a:xfrm>
            <a:prstGeom prst="ellipse">
              <a:avLst/>
            </a:prstGeom>
            <a:solidFill>
              <a:srgbClr val="9C2B1B"/>
            </a:solidFill>
            <a:ln w="38100">
              <a:solidFill>
                <a:srgbClr val="F7F3EC"/>
              </a:solidFill>
            </a:ln>
          </p:spPr>
        </p:sp>
      </p:grpSp>
      <p:grpSp>
        <p:nvGrpSpPr>
          <p:cNvPr id="24" name="era-1-note"/>
          <p:cNvGrpSpPr/>
          <p:nvPr/>
        </p:nvGrpSpPr>
        <p:grpSpPr>
          <a:xfrm>
            <a:off x="600456" y="3806190"/>
            <a:ext cx="3058668" cy="1380744"/>
            <a:chOff x="600456" y="3806190"/>
            <a:chExt cx="3058668" cy="1380744"/>
          </a:xfrm>
        </p:grpSpPr>
        <p:sp>
          <p:nvSpPr>
            <p:cNvPr id="23" name="TextBox 23"/>
            <p:cNvSpPr txBox="1"/>
            <p:nvPr/>
          </p:nvSpPr>
          <p:spPr>
            <a:xfrm>
              <a:off x="600456" y="3806190"/>
              <a:ext cx="3058668" cy="1380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Người Pháp đưa cây cà phê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du nhập vào Việt Nam, mở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đầu hơn một thế kỷ rưỡi gắn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bó với đất Việt.</a:t>
              </a:r>
            </a:p>
          </p:txBody>
        </p:sp>
      </p:grpSp>
      <p:grpSp>
        <p:nvGrpSpPr>
          <p:cNvPr id="26" name="era-2-note"/>
          <p:cNvGrpSpPr/>
          <p:nvPr/>
        </p:nvGrpSpPr>
        <p:grpSpPr>
          <a:xfrm>
            <a:off x="4372356" y="3806190"/>
            <a:ext cx="3252978" cy="1380744"/>
            <a:chOff x="4372356" y="3806190"/>
            <a:chExt cx="3252978" cy="1380744"/>
          </a:xfrm>
        </p:grpSpPr>
        <p:sp>
          <p:nvSpPr>
            <p:cNvPr id="25" name="TextBox 25"/>
            <p:cNvSpPr txBox="1"/>
            <p:nvPr/>
          </p:nvSpPr>
          <p:spPr>
            <a:xfrm>
              <a:off x="4372356" y="3806190"/>
              <a:ext cx="3252978" cy="1380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Người Pháp chọn Buôn Ma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Thuột làm nơi chuyên canh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Robusta sau khi nghiên cứu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thổ nhưỡng, khí hậu, độ cao.</a:t>
              </a:r>
            </a:p>
          </p:txBody>
        </p:sp>
      </p:grpSp>
      <p:grpSp>
        <p:nvGrpSpPr>
          <p:cNvPr id="28" name="era-3-note"/>
          <p:cNvGrpSpPr/>
          <p:nvPr/>
        </p:nvGrpSpPr>
        <p:grpSpPr>
          <a:xfrm>
            <a:off x="8144256" y="3806190"/>
            <a:ext cx="3127248" cy="1380744"/>
            <a:chOff x="8144256" y="3806190"/>
            <a:chExt cx="3127248" cy="1380744"/>
          </a:xfrm>
        </p:grpSpPr>
        <p:sp>
          <p:nvSpPr>
            <p:cNvPr id="27" name="TextBox 27"/>
            <p:cNvSpPr txBox="1"/>
            <p:nvPr/>
          </p:nvSpPr>
          <p:spPr>
            <a:xfrm>
              <a:off x="8144256" y="3806190"/>
              <a:ext cx="3127248" cy="1380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Khoảng 730.000 ha cà phê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trên cả nước; niên vụ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2025/26 đạt 31,7 triệu bao,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đứng thứ hai thế giới.</a:t>
              </a:r>
            </a:p>
          </p:txBody>
        </p:sp>
      </p:grpSp>
      <p:grpSp>
        <p:nvGrpSpPr>
          <p:cNvPr id="32" name="yersin-note"/>
          <p:cNvGrpSpPr/>
          <p:nvPr/>
        </p:nvGrpSpPr>
        <p:grpSpPr>
          <a:xfrm>
            <a:off x="609600" y="5374005"/>
            <a:ext cx="7301486" cy="916496"/>
            <a:chOff x="609600" y="5374005"/>
            <a:chExt cx="7301486" cy="916496"/>
          </a:xfrm>
        </p:grpSpPr>
        <p:sp>
          <p:nvSpPr>
            <p:cNvPr id="29" name="Rectangle 29"/>
            <p:cNvSpPr/>
            <p:nvPr/>
          </p:nvSpPr>
          <p:spPr>
            <a:xfrm>
              <a:off x="609600" y="5391150"/>
              <a:ext cx="57150" cy="80010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3732" y="5374005"/>
              <a:ext cx="6768846" cy="7155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vi-VN" sz="2100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Bác sĩ Yersin nhận định nơi đây có loại đất tốt nhất</a:t>
              </a:r>
              <a:br/>
              <a:r>
                <a:rPr lang="vi-VN" sz="2100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thế giới, rất thích hợp mở đồn điền cây công nghiệp.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7542" y="6026468"/>
              <a:ext cx="70035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Dẫn theo Báo Thanh Niên, 30/11/2022 — đất đỏ bazan, độ cao khoảng 500–600 m.</a:t>
              </a:r>
            </a:p>
          </p:txBody>
        </p:sp>
      </p:grpSp>
      <p:grpSp>
        <p:nvGrpSpPr>
          <p:cNvPr id="35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603504" y="6461760"/>
              <a:ext cx="78399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Báo Thanh Niên (30/11/2022); USDA FAS, Coffee Annual Vietnam VM2026-0016 (20/5/2026).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5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95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50"/>
                            </p:stCondLst>
                            <p:childTnLst>
                              <p:par>
                                <p:cTn xmlns:p="http://schemas.openxmlformats.org/presentationml/2006/main" id="3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650"/>
                            </p:stCondLst>
                            <p:childTnLst>
                              <p:par>
                                <p:cTn xmlns:p="http://schemas.openxmlformats.org/presentationml/2006/main" id="3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8780974" cy="865822"/>
            <a:chOff x="594360" y="444818"/>
            <a:chExt cx="8780974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5989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1 · CƠ CẤU GIỐNG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878097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Robusta chiếm gần như toàn bộ sản lượng</a:t>
              </a:r>
            </a:p>
          </p:txBody>
        </p:sp>
      </p:grpSp>
      <p:grpSp>
        <p:nvGrpSpPr>
          <p:cNvPr id="7" name="chapter-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aphicFrame>
        <p:nvGraphicFramePr>
          <p:cNvPr id="8" name="variety-mix"/>
          <p:cNvGraphicFramePr>
            <a:graphicFrameLocks noGrp="1"/>
          </p:cNvGraphicFramePr>
          <p:nvPr/>
        </p:nvGraphicFramePr>
        <p:xfrm>
          <a:off x="1333500" y="1866900"/>
          <a:ext cx="5905500" cy="3733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4" name="variety-legend"/>
          <p:cNvGrpSpPr/>
          <p:nvPr/>
        </p:nvGrpSpPr>
        <p:grpSpPr>
          <a:xfrm>
            <a:off x="1333500" y="5810250"/>
            <a:ext cx="5768594" cy="293370"/>
            <a:chOff x="1333500" y="5810250"/>
            <a:chExt cx="5768594" cy="293370"/>
          </a:xfrm>
        </p:grpSpPr>
        <p:sp>
          <p:nvSpPr>
            <p:cNvPr id="9" name="Line 9"/>
            <p:cNvSpPr/>
            <p:nvPr/>
          </p:nvSpPr>
          <p:spPr>
            <a:xfrm>
              <a:off x="1333500" y="59055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76200">
              <a:solidFill>
                <a:srgbClr val="7A3B2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64030" y="5810250"/>
              <a:ext cx="7989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Robusta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2857500" y="59055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76200">
              <a:solidFill>
                <a:srgbClr val="C08A2E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288030" y="5810250"/>
              <a:ext cx="7480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Arabica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83380" y="5810250"/>
              <a:ext cx="2918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Đơn vị: triệu bao 60 kg (GBE)</a:t>
              </a:r>
            </a:p>
          </p:txBody>
        </p:sp>
      </p:grpSp>
      <p:grpSp>
        <p:nvGrpSpPr>
          <p:cNvPr id="18" name="share-hero"/>
          <p:cNvGrpSpPr/>
          <p:nvPr/>
        </p:nvGrpSpPr>
        <p:grpSpPr>
          <a:xfrm>
            <a:off x="7372350" y="1930718"/>
            <a:ext cx="2889123" cy="1635633"/>
            <a:chOff x="7372350" y="1930718"/>
            <a:chExt cx="2889123" cy="1635633"/>
          </a:xfrm>
        </p:grpSpPr>
        <p:sp>
          <p:nvSpPr>
            <p:cNvPr id="15" name="TextBox 15"/>
            <p:cNvSpPr txBox="1"/>
            <p:nvPr/>
          </p:nvSpPr>
          <p:spPr>
            <a:xfrm>
              <a:off x="7384542" y="1930718"/>
              <a:ext cx="2047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TỶ TRỌNG ROBUSTA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72350" y="2274570"/>
              <a:ext cx="153012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5400" b="1" dirty="0">
                  <a:solidFill>
                    <a:srgbClr val="7A3B22"/>
                  </a:solidFill>
                  <a:latin typeface="+mj-lt"/>
                  <a:ea typeface="+mj-ea"/>
                  <a:cs typeface="+mj-cs"/>
                </a:rPr>
                <a:t>96%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84542" y="3054668"/>
              <a:ext cx="287693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sản lượng cà phê Việt Nam là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Robusta (tổng hợp từ số liệu USDA)</a:t>
              </a:r>
            </a:p>
          </p:txBody>
        </p:sp>
      </p:grpSp>
      <p:grpSp>
        <p:nvGrpSpPr>
          <p:cNvPr id="20" name="share-note"/>
          <p:cNvGrpSpPr/>
          <p:nvPr/>
        </p:nvGrpSpPr>
        <p:grpSpPr>
          <a:xfrm>
            <a:off x="7382256" y="3806190"/>
            <a:ext cx="3662172" cy="1380744"/>
            <a:chOff x="7382256" y="3806190"/>
            <a:chExt cx="3662172" cy="1380744"/>
          </a:xfrm>
        </p:grpSpPr>
        <p:sp>
          <p:nvSpPr>
            <p:cNvPr id="19" name="TextBox 19"/>
            <p:cNvSpPr txBox="1"/>
            <p:nvPr/>
          </p:nvSpPr>
          <p:spPr>
            <a:xfrm>
              <a:off x="7382256" y="3806190"/>
              <a:ext cx="3662172" cy="1380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Năng suất Robusta tăng từ </a:t>
              </a:r>
              <a:r>
                <a:rPr lang="vi-VN" sz="1800" b="1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2,73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lên </a:t>
              </a:r>
              <a:r>
                <a:rPr lang="vi-VN" sz="1800" b="1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2,93 tấn/ha</a:t>
              </a: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 giữa hai niên vụ,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trong khi Arabica giữ nguyên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quanh mức 1,0–1,2 triệu bao.</a:t>
              </a:r>
            </a:p>
          </p:txBody>
        </p:sp>
      </p:grpSp>
      <p:grpSp>
        <p:nvGrpSpPr>
          <p:cNvPr id="22" name="share-caveat"/>
          <p:cNvGrpSpPr/>
          <p:nvPr/>
        </p:nvGrpSpPr>
        <p:grpSpPr>
          <a:xfrm>
            <a:off x="7384542" y="5454968"/>
            <a:ext cx="2732270" cy="264033"/>
            <a:chOff x="7384542" y="5454968"/>
            <a:chExt cx="2732270" cy="264033"/>
          </a:xfrm>
        </p:grpSpPr>
        <p:sp>
          <p:nvSpPr>
            <p:cNvPr id="21" name="TextBox 21"/>
            <p:cNvSpPr txBox="1"/>
            <p:nvPr/>
          </p:nvSpPr>
          <p:spPr>
            <a:xfrm>
              <a:off x="7384542" y="5454968"/>
              <a:ext cx="2732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2026/27 là số dự báo của USDA.</a:t>
              </a:r>
            </a:p>
          </p:txBody>
        </p:sp>
      </p:grpSp>
      <p:grpSp>
        <p:nvGrpSpPr>
          <p:cNvPr id="25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603504" y="6461760"/>
              <a:ext cx="82100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USDA FAS, Coffee Annual Vietnam VM2026-0016 (20/5/2026), bảng sản lượng Robusta và Arabica.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4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3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8986128" cy="865822"/>
            <a:chOff x="594360" y="444818"/>
            <a:chExt cx="8986128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435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2 · VÙNG TRỒNG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898612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Tây Nguyên: vùng lõi của cà phê Việt Nam</a:t>
              </a:r>
            </a:p>
          </p:txBody>
        </p:sp>
      </p:grpSp>
      <p:grpSp>
        <p:nvGrpSpPr>
          <p:cNvPr id="7" name="chapter-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280035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12" name="region-photo"/>
          <p:cNvGrpSpPr/>
          <p:nvPr/>
        </p:nvGrpSpPr>
        <p:grpSpPr>
          <a:xfrm>
            <a:off x="602742" y="1676400"/>
            <a:ext cx="4731258" cy="3394901"/>
            <a:chOff x="602742" y="1676400"/>
            <a:chExt cx="4731258" cy="3394901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rcRect l="0" t="989" r="0" b="989"/>
            <a:stretch>
              <a:fillRect/>
            </a:stretch>
          </p:blipFill>
          <p:spPr>
            <a:xfrm>
              <a:off x="609600" y="1676400"/>
              <a:ext cx="4724400" cy="308610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09600" y="3619500"/>
              <a:ext cx="4724400" cy="1143000"/>
            </a:xfrm>
            <a:prstGeom prst="rect">
              <a:avLst/>
            </a:prstGeom>
            <a:gradFill>
              <a:gsLst>
                <a:gs pos="0">
                  <a:srgbClr val="1C1610">
                    <a:alpha val="72000"/>
                  </a:srgbClr>
                </a:gs>
                <a:gs pos="42000">
                  <a:srgbClr val="1C1610">
                    <a:alpha val="12000"/>
                  </a:srgbClr>
                </a:gs>
                <a:gs pos="100000">
                  <a:srgbClr val="1C1610">
                    <a:alpha val="0"/>
                  </a:srgbClr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0580" y="4410075"/>
              <a:ext cx="41214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00" dirty="0">
                  <a:solidFill>
                    <a:srgbClr val="F7F3EC"/>
                  </a:solidFill>
                  <a:latin typeface="+mn-lt"/>
                  <a:ea typeface="+mn-ea"/>
                  <a:cs typeface="+mn-cs"/>
                </a:rPr>
                <a:t>Vườn cà phê trên cao nguyên lúc rạng sáng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4807268"/>
              <a:ext cx="31508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Ảnh minh hoạ: Young_n qua Pixabay.</a:t>
              </a:r>
            </a:p>
          </p:txBody>
        </p:sp>
      </p:grpSp>
      <p:grpSp>
        <p:nvGrpSpPr>
          <p:cNvPr id="14" name="region-note"/>
          <p:cNvGrpSpPr/>
          <p:nvPr/>
        </p:nvGrpSpPr>
        <p:grpSpPr>
          <a:xfrm>
            <a:off x="600456" y="5082540"/>
            <a:ext cx="4270248" cy="1037844"/>
            <a:chOff x="600456" y="5082540"/>
            <a:chExt cx="4270248" cy="1037844"/>
          </a:xfrm>
        </p:grpSpPr>
        <p:sp>
          <p:nvSpPr>
            <p:cNvPr id="13" name="TextBox 13"/>
            <p:cNvSpPr txBox="1"/>
            <p:nvPr/>
          </p:nvSpPr>
          <p:spPr>
            <a:xfrm>
              <a:off x="600456" y="5082540"/>
              <a:ext cx="427024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Tây Nguyên là vùng trồng chính. Lượng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mưa tháng 1–3/2026 tại năm tỉnh này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thấp hơn mức bình thường.</a:t>
              </a:r>
            </a:p>
          </p:txBody>
        </p:sp>
      </p:grpSp>
      <p:grpSp>
        <p:nvGrpSpPr>
          <p:cNvPr id="29" name="region-members"/>
          <p:cNvGrpSpPr/>
          <p:nvPr/>
        </p:nvGrpSpPr>
        <p:grpSpPr>
          <a:xfrm>
            <a:off x="5708142" y="1625918"/>
            <a:ext cx="5798058" cy="1479232"/>
            <a:chOff x="5708142" y="1625918"/>
            <a:chExt cx="5798058" cy="1479232"/>
          </a:xfrm>
        </p:grpSpPr>
        <p:sp>
          <p:nvSpPr>
            <p:cNvPr id="15" name="TextBox 15"/>
            <p:cNvSpPr txBox="1"/>
            <p:nvPr/>
          </p:nvSpPr>
          <p:spPr>
            <a:xfrm>
              <a:off x="5708142" y="1625918"/>
              <a:ext cx="3350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NĂM TỈNH TRỒNG CÀ PHÊ CHÍNH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715000" y="1962150"/>
              <a:ext cx="266700" cy="1143000"/>
            </a:xfrm>
            <a:prstGeom prst="leftBrace">
              <a:avLst/>
            </a:prstGeom>
            <a:noFill/>
            <a:ln w="19050">
              <a:solidFill>
                <a:srgbClr val="9C2B1B"/>
              </a:solidFill>
            </a:ln>
          </p:spPr>
        </p:sp>
        <p:grpSp>
          <p:nvGrpSpPr>
            <p:cNvPr id="22" name="region-chips"/>
            <p:cNvGrpSpPr/>
            <p:nvPr/>
          </p:nvGrpSpPr>
          <p:grpSpPr>
            <a:xfrm>
              <a:off x="6172200" y="2000250"/>
              <a:ext cx="5334000" cy="1066800"/>
              <a:chOff x="6172200" y="2000250"/>
              <a:chExt cx="5334000" cy="10668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172200" y="2000250"/>
                <a:ext cx="1676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EFE7DA"/>
              </a:solidFill>
              <a:ln w="14288">
                <a:solidFill>
                  <a:srgbClr val="D9CDBA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8001000" y="2000250"/>
                <a:ext cx="1676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EFE7DA"/>
              </a:solidFill>
              <a:ln w="14288">
                <a:solidFill>
                  <a:srgbClr val="D9CDBA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9829800" y="2000250"/>
                <a:ext cx="1676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EFE7DA"/>
              </a:solidFill>
              <a:ln w="14288">
                <a:solidFill>
                  <a:srgbClr val="D9CDBA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6172200" y="2609850"/>
                <a:ext cx="1676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EFE7DA"/>
              </a:solidFill>
              <a:ln w="14288">
                <a:solidFill>
                  <a:srgbClr val="D9CDBA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8001000" y="2609850"/>
                <a:ext cx="1676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EFE7DA"/>
              </a:solidFill>
              <a:ln w="14288">
                <a:solidFill>
                  <a:srgbClr val="D9CDBA"/>
                </a:solidFill>
              </a:ln>
            </p:spPr>
          </p:sp>
        </p:grpSp>
        <p:grpSp>
          <p:nvGrpSpPr>
            <p:cNvPr id="28" name="region-chip-labels"/>
            <p:cNvGrpSpPr/>
            <p:nvPr/>
          </p:nvGrpSpPr>
          <p:grpSpPr>
            <a:xfrm>
              <a:off x="6576999" y="2133600"/>
              <a:ext cx="4489527" cy="902970"/>
              <a:chOff x="6576999" y="2133600"/>
              <a:chExt cx="4489527" cy="90297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6632448" y="2133600"/>
                <a:ext cx="75590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5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Đắk Lắk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12683" y="2133600"/>
                <a:ext cx="65303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5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Gia Lai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269474" y="2133600"/>
                <a:ext cx="7970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5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Kon Tum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76999" y="2743200"/>
                <a:ext cx="8668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5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Đắk Nông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385279" y="2743200"/>
                <a:ext cx="9078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5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Lâm Đồng</a:t>
                </a:r>
              </a:p>
            </p:txBody>
          </p:sp>
        </p:grpSp>
      </p:grpSp>
      <p:grpSp>
        <p:nvGrpSpPr>
          <p:cNvPr id="38" name="region-scale"/>
          <p:cNvGrpSpPr/>
          <p:nvPr/>
        </p:nvGrpSpPr>
        <p:grpSpPr>
          <a:xfrm>
            <a:off x="5715000" y="3453765"/>
            <a:ext cx="5867400" cy="1978914"/>
            <a:chOff x="5715000" y="3453765"/>
            <a:chExt cx="5867400" cy="1978914"/>
          </a:xfrm>
        </p:grpSpPr>
        <p:sp>
          <p:nvSpPr>
            <p:cNvPr id="30" name="TextBox 30"/>
            <p:cNvSpPr txBox="1"/>
            <p:nvPr/>
          </p:nvSpPr>
          <p:spPr>
            <a:xfrm>
              <a:off x="5968213" y="3453765"/>
              <a:ext cx="262105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3300" b="1" dirty="0">
                  <a:solidFill>
                    <a:srgbClr val="7A3B22"/>
                  </a:solidFill>
                  <a:latin typeface="+mj-lt"/>
                  <a:ea typeface="+mj-ea"/>
                  <a:cs typeface="+mj-cs"/>
                </a:rPr>
                <a:t>730.000 ha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56142" y="3664268"/>
              <a:ext cx="2594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tổng diện tích cà phê cả nước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715000" y="4057650"/>
              <a:ext cx="5867400" cy="9525"/>
            </a:xfrm>
            <a:custGeom>
              <a:avLst/>
              <a:gdLst/>
              <a:ahLst/>
              <a:cxnLst/>
              <a:rect l="l" t="t" r="r" b="b"/>
              <a:pathLst>
                <a:path w="5867400" h="9525">
                  <a:moveTo>
                    <a:pt x="0" y="0"/>
                  </a:moveTo>
                  <a:lnTo>
                    <a:pt x="5867400" y="0"/>
                  </a:lnTo>
                </a:path>
              </a:pathLst>
            </a:custGeom>
            <a:noFill/>
            <a:ln w="9525">
              <a:solidFill>
                <a:srgbClr val="E4DAC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68213" y="4120515"/>
              <a:ext cx="262105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3300" b="1" dirty="0">
                  <a:solidFill>
                    <a:srgbClr val="7A3B22"/>
                  </a:solidFill>
                  <a:latin typeface="+mj-lt"/>
                  <a:ea typeface="+mj-ea"/>
                  <a:cs typeface="+mj-cs"/>
                </a:rPr>
                <a:t>644.000 ha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56142" y="4331018"/>
              <a:ext cx="2739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Robusta cho thu hoạch 2026/27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715000" y="4724400"/>
              <a:ext cx="5867400" cy="9525"/>
            </a:xfrm>
            <a:custGeom>
              <a:avLst/>
              <a:gdLst/>
              <a:ahLst/>
              <a:cxnLst/>
              <a:rect l="l" t="t" r="r" b="b"/>
              <a:pathLst>
                <a:path w="5867400" h="9525">
                  <a:moveTo>
                    <a:pt x="0" y="0"/>
                  </a:moveTo>
                  <a:lnTo>
                    <a:pt x="5867400" y="0"/>
                  </a:lnTo>
                </a:path>
              </a:pathLst>
            </a:custGeom>
            <a:noFill/>
            <a:ln w="9525">
              <a:solidFill>
                <a:srgbClr val="E4DAC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40714" y="4787265"/>
              <a:ext cx="24485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3300" b="1" dirty="0">
                  <a:solidFill>
                    <a:srgbClr val="7A3B22"/>
                  </a:solidFill>
                  <a:latin typeface="+mj-lt"/>
                  <a:ea typeface="+mj-ea"/>
                  <a:cs typeface="+mj-cs"/>
                </a:rPr>
                <a:t>500–600 m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56142" y="4997768"/>
              <a:ext cx="2341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độ cao vùng Buôn Ma Thuột</a:t>
              </a:r>
            </a:p>
          </p:txBody>
        </p:sp>
      </p:grpSp>
      <p:grpSp>
        <p:nvGrpSpPr>
          <p:cNvPr id="41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603504" y="6461760"/>
              <a:ext cx="8649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USDA FAS VM2026-0016 (20/5/2026), dẫn Bộ Nông nghiệp và Môi trường; Báo Thanh Niên (30/11/2022).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3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8365867" cy="865822"/>
            <a:chOff x="594360" y="444818"/>
            <a:chExt cx="8365867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310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2 · ĐỐI CHIẾU SỐ LIỆU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83658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Cả nước và Đắk Lắk: hai lát cắt số liệu</a:t>
              </a:r>
            </a:p>
          </p:txBody>
        </p:sp>
      </p:grpSp>
      <p:grpSp>
        <p:nvGrpSpPr>
          <p:cNvPr id="7" name="chapter-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280035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aphicFrame>
        <p:nvGraphicFramePr>
          <p:cNvPr id="8" name="region-table"/>
          <p:cNvGraphicFramePr>
            <a:graphicFrameLocks noGrp="1"/>
          </p:cNvGraphicFramePr>
          <p:nvPr/>
        </p:nvGraphicFramePr>
        <p:xfrm>
          <a:off x="609600" y="1905000"/>
          <a:ext cx="10972800" cy="3048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429000"/>
                <a:gridCol w="3810000"/>
                <a:gridCol w="3733800"/>
              </a:tblGrid>
              <a:tr h="571500">
                <a:tc>
                  <a:txBody>
                    <a:bodyPr/>
                    <a:lstStyle/>
                    <a:p>
                      <a:pPr/>
                      <a:r>
                        <a:rPr lang="vi-VN" sz="1500" b="1">
                          <a:solidFill>
                            <a:srgbClr val="221C1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Tiêu chí</a:t>
                      </a:r>
                    </a:p>
                  </a:txBody>
                  <a:tcPr anchor="ctr" marL="190500" marR="190500">
                    <a:lnL w="14288">
                      <a:solidFill>
                        <a:srgbClr val="D9CDBA"/>
                      </a:solidFill>
                      <a:prstDash val="solid"/>
                    </a:lnL>
                    <a:lnR w="14288">
                      <a:solidFill>
                        <a:srgbClr val="D9CDBA"/>
                      </a:solidFill>
                      <a:prstDash val="solid"/>
                    </a:lnR>
                    <a:lnT w="14288">
                      <a:solidFill>
                        <a:srgbClr val="D9CDBA"/>
                      </a:solidFill>
                      <a:prstDash val="solid"/>
                    </a:lnT>
                    <a:lnB w="14288">
                      <a:solidFill>
                        <a:srgbClr val="D9CDBA"/>
                      </a:solidFill>
                      <a:prstDash val="solid"/>
                    </a:lnB>
                    <a:solidFill>
                      <a:srgbClr val="EFE7D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vi-VN" sz="1500" b="1">
                          <a:solidFill>
                            <a:srgbClr val="221C1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Cả nước — niên vụ 2026/27</a:t>
                      </a:r>
                    </a:p>
                  </a:txBody>
                  <a:tcPr anchor="ctr" marL="190500" marR="190500">
                    <a:lnL w="14288">
                      <a:solidFill>
                        <a:srgbClr val="D9CDBA"/>
                      </a:solidFill>
                      <a:prstDash val="solid"/>
                    </a:lnL>
                    <a:lnR w="14288">
                      <a:solidFill>
                        <a:srgbClr val="D9CDBA"/>
                      </a:solidFill>
                      <a:prstDash val="solid"/>
                    </a:lnR>
                    <a:lnT w="14288">
                      <a:solidFill>
                        <a:srgbClr val="D9CDBA"/>
                      </a:solidFill>
                      <a:prstDash val="solid"/>
                    </a:lnT>
                    <a:lnB w="14288">
                      <a:solidFill>
                        <a:srgbClr val="D9CDBA"/>
                      </a:solidFill>
                      <a:prstDash val="solid"/>
                    </a:lnB>
                    <a:solidFill>
                      <a:srgbClr val="EFE7D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vi-VN" sz="1500" b="1">
                          <a:solidFill>
                            <a:srgbClr val="221C1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Đắk Lắk — niên vụ 2023/24</a:t>
                      </a:r>
                    </a:p>
                  </a:txBody>
                  <a:tcPr anchor="ctr" marL="190500" marR="190500">
                    <a:lnL w="14288">
                      <a:solidFill>
                        <a:srgbClr val="D9CDBA"/>
                      </a:solidFill>
                      <a:prstDash val="solid"/>
                    </a:lnL>
                    <a:lnR w="14288">
                      <a:solidFill>
                        <a:srgbClr val="D9CDBA"/>
                      </a:solidFill>
                      <a:prstDash val="solid"/>
                    </a:lnR>
                    <a:lnT w="14288">
                      <a:solidFill>
                        <a:srgbClr val="D9CDBA"/>
                      </a:solidFill>
                      <a:prstDash val="solid"/>
                    </a:lnT>
                    <a:lnB w="14288">
                      <a:solidFill>
                        <a:srgbClr val="D9CDBA"/>
                      </a:solidFill>
                      <a:prstDash val="solid"/>
                    </a:lnB>
                    <a:solidFill>
                      <a:srgbClr val="EFE7D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vi-VN" sz="1500" b="1">
                          <a:solidFill>
                            <a:srgbClr val="221C1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Diện tích cà phê</a:t>
                      </a:r>
                    </a:p>
                  </a:txBody>
                  <a:tcPr anchor="ctr" marL="190500" marR="190500">
                    <a:lnL w="14288">
                      <a:solidFill>
                        <a:srgbClr val="D9CDBA"/>
                      </a:solidFill>
                      <a:prstDash val="solid"/>
                    </a:lnL>
                    <a:lnR w="14288">
                      <a:solidFill>
                        <a:srgbClr val="D9CDBA"/>
                      </a:solidFill>
                      <a:prstDash val="solid"/>
                    </a:lnR>
                    <a:lnT w="14288">
                      <a:solidFill>
                        <a:srgbClr val="D9CDBA"/>
                      </a:solidFill>
                      <a:prstDash val="solid"/>
                    </a:lnT>
                    <a:lnB w="14288">
                      <a:solidFill>
                        <a:srgbClr val="D9CDB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vi-VN" sz="1500" b="0">
                          <a:solidFill>
                            <a:srgbClr val="3A3128"/>
                          </a:solidFill>
                          <a:latin typeface="Segoe UI"/>
                          <a:ea typeface="Microsoft YaHei"/>
                          <a:cs typeface="Segoe UI"/>
                        </a:rPr>
                        <a:t>730.000 ha</a:t>
                      </a:r>
                    </a:p>
                  </a:txBody>
                  <a:tcPr anchor="ctr" marL="190500" marR="190500">
                    <a:lnL w="14288">
                      <a:solidFill>
                        <a:srgbClr val="D9CDBA"/>
                      </a:solidFill>
                      <a:prstDash val="solid"/>
                    </a:lnL>
                    <a:lnR w="14288">
                      <a:solidFill>
                        <a:srgbClr val="D9CDBA"/>
                      </a:solidFill>
                      <a:prstDash val="solid"/>
                    </a:lnR>
                    <a:lnT w="14288">
                      <a:solidFill>
                        <a:srgbClr val="D9CDBA"/>
                      </a:solidFill>
                      <a:prstDash val="solid"/>
                    </a:lnT>
                    <a:lnB w="14288">
                      <a:solidFill>
                        <a:srgbClr val="D9CDB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vi-VN" sz="1500" b="0">
                          <a:solidFill>
                            <a:srgbClr val="3A3128"/>
                          </a:solidFill>
                          <a:latin typeface="Segoe UI"/>
                          <a:ea typeface="Microsoft YaHei"/>
                          <a:cs typeface="Segoe UI"/>
                        </a:rPr>
                        <a:t>212.106 ha</a:t>
                      </a:r>
                    </a:p>
                  </a:txBody>
                  <a:tcPr anchor="ctr" marL="190500" marR="190500">
                    <a:lnL w="14288">
                      <a:solidFill>
                        <a:srgbClr val="D9CDBA"/>
                      </a:solidFill>
                      <a:prstDash val="solid"/>
                    </a:lnL>
                    <a:lnR w="14288">
                      <a:solidFill>
                        <a:srgbClr val="D9CDBA"/>
                      </a:solidFill>
                      <a:prstDash val="solid"/>
                    </a:lnR>
                    <a:lnT w="14288">
                      <a:solidFill>
                        <a:srgbClr val="D9CDBA"/>
                      </a:solidFill>
                      <a:prstDash val="solid"/>
                    </a:lnT>
                    <a:lnB w="14288">
                      <a:solidFill>
                        <a:srgbClr val="D9CDBA"/>
                      </a:solidFill>
                      <a:prstDash val="solid"/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vi-VN" sz="1500" b="1">
                          <a:solidFill>
                            <a:srgbClr val="221C1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Diện tích thu hoạch</a:t>
                      </a:r>
                    </a:p>
                  </a:txBody>
                  <a:tcPr anchor="ctr" marL="190500" marR="190500">
                    <a:lnL w="14288">
                      <a:solidFill>
                        <a:srgbClr val="D9CDBA"/>
                      </a:solidFill>
                      <a:prstDash val="solid"/>
                    </a:lnL>
                    <a:lnR w="14288">
                      <a:solidFill>
                        <a:srgbClr val="D9CDBA"/>
                      </a:solidFill>
                      <a:prstDash val="solid"/>
                    </a:lnR>
                    <a:lnT w="14288">
                      <a:solidFill>
                        <a:srgbClr val="D9CDBA"/>
                      </a:solidFill>
                      <a:prstDash val="solid"/>
                    </a:lnT>
                    <a:lnB w="14288">
                      <a:solidFill>
                        <a:srgbClr val="D9CDB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vi-VN" sz="1500" b="0">
                          <a:solidFill>
                            <a:srgbClr val="3A3128"/>
                          </a:solidFill>
                          <a:latin typeface="Segoe UI"/>
                          <a:ea typeface="Microsoft YaHei"/>
                          <a:cs typeface="Segoe UI"/>
                        </a:rPr>
                        <a:t>644.000 ha (Robusta)</a:t>
                      </a:r>
                    </a:p>
                  </a:txBody>
                  <a:tcPr anchor="ctr" marL="190500" marR="190500">
                    <a:lnL w="14288">
                      <a:solidFill>
                        <a:srgbClr val="D9CDBA"/>
                      </a:solidFill>
                      <a:prstDash val="solid"/>
                    </a:lnL>
                    <a:lnR w="14288">
                      <a:solidFill>
                        <a:srgbClr val="D9CDBA"/>
                      </a:solidFill>
                      <a:prstDash val="solid"/>
                    </a:lnR>
                    <a:lnT w="14288">
                      <a:solidFill>
                        <a:srgbClr val="D9CDBA"/>
                      </a:solidFill>
                      <a:prstDash val="solid"/>
                    </a:lnT>
                    <a:lnB w="14288">
                      <a:solidFill>
                        <a:srgbClr val="D9CDB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vi-VN" sz="1500" b="0">
                          <a:solidFill>
                            <a:srgbClr val="3A3128"/>
                          </a:solidFill>
                          <a:latin typeface="Segoe UI"/>
                          <a:ea typeface="Microsoft YaHei"/>
                          <a:cs typeface="Segoe UI"/>
                        </a:rPr>
                        <a:t>200.441 ha</a:t>
                      </a:r>
                    </a:p>
                  </a:txBody>
                  <a:tcPr anchor="ctr" marL="190500" marR="190500">
                    <a:lnL w="14288">
                      <a:solidFill>
                        <a:srgbClr val="D9CDBA"/>
                      </a:solidFill>
                      <a:prstDash val="solid"/>
                    </a:lnL>
                    <a:lnR w="14288">
                      <a:solidFill>
                        <a:srgbClr val="D9CDBA"/>
                      </a:solidFill>
                      <a:prstDash val="solid"/>
                    </a:lnR>
                    <a:lnT w="14288">
                      <a:solidFill>
                        <a:srgbClr val="D9CDBA"/>
                      </a:solidFill>
                      <a:prstDash val="solid"/>
                    </a:lnT>
                    <a:lnB w="14288">
                      <a:solidFill>
                        <a:srgbClr val="D9CDBA"/>
                      </a:solidFill>
                      <a:prstDash val="solid"/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vi-VN" sz="1500" b="1">
                          <a:solidFill>
                            <a:srgbClr val="221C1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Năng suất bình quân</a:t>
                      </a:r>
                    </a:p>
                  </a:txBody>
                  <a:tcPr anchor="ctr" marL="190500" marR="190500">
                    <a:lnL w="14288">
                      <a:solidFill>
                        <a:srgbClr val="D9CDBA"/>
                      </a:solidFill>
                      <a:prstDash val="solid"/>
                    </a:lnL>
                    <a:lnR w="14288">
                      <a:solidFill>
                        <a:srgbClr val="D9CDBA"/>
                      </a:solidFill>
                      <a:prstDash val="solid"/>
                    </a:lnR>
                    <a:lnT w="14288">
                      <a:solidFill>
                        <a:srgbClr val="D9CDBA"/>
                      </a:solidFill>
                      <a:prstDash val="solid"/>
                    </a:lnT>
                    <a:lnB w="14288">
                      <a:solidFill>
                        <a:srgbClr val="D9CDB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vi-VN" sz="1500" b="0">
                          <a:solidFill>
                            <a:srgbClr val="3A3128"/>
                          </a:solidFill>
                          <a:latin typeface="Segoe UI"/>
                          <a:ea typeface="Microsoft YaHei"/>
                          <a:cs typeface="Segoe UI"/>
                        </a:rPr>
                        <a:t>2,93 tấn/ha (Robusta)</a:t>
                      </a:r>
                    </a:p>
                  </a:txBody>
                  <a:tcPr anchor="ctr" marL="190500" marR="190500">
                    <a:lnL w="14288">
                      <a:solidFill>
                        <a:srgbClr val="D9CDBA"/>
                      </a:solidFill>
                      <a:prstDash val="solid"/>
                    </a:lnL>
                    <a:lnR w="14288">
                      <a:solidFill>
                        <a:srgbClr val="D9CDBA"/>
                      </a:solidFill>
                      <a:prstDash val="solid"/>
                    </a:lnR>
                    <a:lnT w="14288">
                      <a:solidFill>
                        <a:srgbClr val="D9CDBA"/>
                      </a:solidFill>
                      <a:prstDash val="solid"/>
                    </a:lnT>
                    <a:lnB w="14288">
                      <a:solidFill>
                        <a:srgbClr val="D9CDB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vi-VN" sz="1500" b="0">
                          <a:solidFill>
                            <a:srgbClr val="3A3128"/>
                          </a:solidFill>
                          <a:latin typeface="Segoe UI"/>
                          <a:ea typeface="Microsoft YaHei"/>
                          <a:cs typeface="Segoe UI"/>
                        </a:rPr>
                        <a:t>26,72 tạ/ha</a:t>
                      </a:r>
                    </a:p>
                  </a:txBody>
                  <a:tcPr anchor="ctr" marL="190500" marR="190500">
                    <a:lnL w="14288">
                      <a:solidFill>
                        <a:srgbClr val="D9CDBA"/>
                      </a:solidFill>
                      <a:prstDash val="solid"/>
                    </a:lnL>
                    <a:lnR w="14288">
                      <a:solidFill>
                        <a:srgbClr val="D9CDBA"/>
                      </a:solidFill>
                      <a:prstDash val="solid"/>
                    </a:lnR>
                    <a:lnT w="14288">
                      <a:solidFill>
                        <a:srgbClr val="D9CDBA"/>
                      </a:solidFill>
                      <a:prstDash val="solid"/>
                    </a:lnT>
                    <a:lnB w="14288">
                      <a:solidFill>
                        <a:srgbClr val="D9CDBA"/>
                      </a:solidFill>
                      <a:prstDash val="solid"/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vi-VN" sz="1500" b="1">
                          <a:solidFill>
                            <a:srgbClr val="221C1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Sản lượng</a:t>
                      </a:r>
                    </a:p>
                  </a:txBody>
                  <a:tcPr anchor="ctr" marL="190500" marR="190500">
                    <a:lnL w="14288">
                      <a:solidFill>
                        <a:srgbClr val="D9CDBA"/>
                      </a:solidFill>
                      <a:prstDash val="solid"/>
                    </a:lnL>
                    <a:lnR w="14288">
                      <a:solidFill>
                        <a:srgbClr val="D9CDBA"/>
                      </a:solidFill>
                      <a:prstDash val="solid"/>
                    </a:lnR>
                    <a:lnT w="14288">
                      <a:solidFill>
                        <a:srgbClr val="D9CDBA"/>
                      </a:solidFill>
                      <a:prstDash val="solid"/>
                    </a:lnT>
                    <a:lnB w="14288">
                      <a:solidFill>
                        <a:srgbClr val="D9CDB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vi-VN" sz="1500" b="0">
                          <a:solidFill>
                            <a:srgbClr val="3A3128"/>
                          </a:solidFill>
                          <a:latin typeface="Segoe UI"/>
                          <a:ea typeface="Microsoft YaHei"/>
                          <a:cs typeface="Segoe UI"/>
                        </a:rPr>
                        <a:t>32,5 triệu bao 60 kg</a:t>
                      </a:r>
                    </a:p>
                  </a:txBody>
                  <a:tcPr anchor="ctr" marL="190500" marR="190500">
                    <a:lnL w="14288">
                      <a:solidFill>
                        <a:srgbClr val="D9CDBA"/>
                      </a:solidFill>
                      <a:prstDash val="solid"/>
                    </a:lnL>
                    <a:lnR w="14288">
                      <a:solidFill>
                        <a:srgbClr val="D9CDBA"/>
                      </a:solidFill>
                      <a:prstDash val="solid"/>
                    </a:lnR>
                    <a:lnT w="14288">
                      <a:solidFill>
                        <a:srgbClr val="D9CDBA"/>
                      </a:solidFill>
                      <a:prstDash val="solid"/>
                    </a:lnT>
                    <a:lnB w="14288">
                      <a:solidFill>
                        <a:srgbClr val="D9CDB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vi-VN" sz="1500" b="0">
                          <a:solidFill>
                            <a:srgbClr val="3A3128"/>
                          </a:solidFill>
                          <a:latin typeface="Segoe UI"/>
                          <a:ea typeface="Microsoft YaHei"/>
                          <a:cs typeface="Segoe UI"/>
                        </a:rPr>
                        <a:t>535.672 tấn</a:t>
                      </a:r>
                    </a:p>
                  </a:txBody>
                  <a:tcPr anchor="ctr" marL="190500" marR="190500">
                    <a:lnL w="14288">
                      <a:solidFill>
                        <a:srgbClr val="D9CDBA"/>
                      </a:solidFill>
                      <a:prstDash val="solid"/>
                    </a:lnL>
                    <a:lnR w="14288">
                      <a:solidFill>
                        <a:srgbClr val="D9CDBA"/>
                      </a:solidFill>
                      <a:prstDash val="solid"/>
                    </a:lnR>
                    <a:lnT w="14288">
                      <a:solidFill>
                        <a:srgbClr val="D9CDBA"/>
                      </a:solidFill>
                      <a:prstDash val="solid"/>
                    </a:lnT>
                    <a:lnB w="14288">
                      <a:solidFill>
                        <a:srgbClr val="D9CDBA"/>
                      </a:solidFill>
                      <a:prstDash val="solid"/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vi-VN" sz="1500" b="1">
                          <a:solidFill>
                            <a:srgbClr val="221C1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Xuất khẩu</a:t>
                      </a:r>
                    </a:p>
                  </a:txBody>
                  <a:tcPr anchor="ctr" marL="190500" marR="190500">
                    <a:lnL w="14288">
                      <a:solidFill>
                        <a:srgbClr val="D9CDBA"/>
                      </a:solidFill>
                      <a:prstDash val="solid"/>
                    </a:lnL>
                    <a:lnR w="14288">
                      <a:solidFill>
                        <a:srgbClr val="D9CDBA"/>
                      </a:solidFill>
                      <a:prstDash val="solid"/>
                    </a:lnR>
                    <a:lnT w="14288">
                      <a:solidFill>
                        <a:srgbClr val="D9CDBA"/>
                      </a:solidFill>
                      <a:prstDash val="solid"/>
                    </a:lnT>
                    <a:lnB w="14288">
                      <a:solidFill>
                        <a:srgbClr val="D9CDB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vi-VN" sz="1500" b="0">
                          <a:solidFill>
                            <a:srgbClr val="3A3128"/>
                          </a:solidFill>
                          <a:latin typeface="Segoe UI"/>
                          <a:ea typeface="Microsoft YaHei"/>
                          <a:cs typeface="Segoe UI"/>
                        </a:rPr>
                        <a:t>28,95 triệu bao 60 kg</a:t>
                      </a:r>
                    </a:p>
                  </a:txBody>
                  <a:tcPr anchor="ctr" marL="190500" marR="190500">
                    <a:lnL w="14288">
                      <a:solidFill>
                        <a:srgbClr val="D9CDBA"/>
                      </a:solidFill>
                      <a:prstDash val="solid"/>
                    </a:lnL>
                    <a:lnR w="14288">
                      <a:solidFill>
                        <a:srgbClr val="D9CDBA"/>
                      </a:solidFill>
                      <a:prstDash val="solid"/>
                    </a:lnR>
                    <a:lnT w="14288">
                      <a:solidFill>
                        <a:srgbClr val="D9CDBA"/>
                      </a:solidFill>
                      <a:prstDash val="solid"/>
                    </a:lnT>
                    <a:lnB w="14288">
                      <a:solidFill>
                        <a:srgbClr val="D9CDB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vi-VN" sz="1500" b="0">
                          <a:solidFill>
                            <a:srgbClr val="3A3128"/>
                          </a:solidFill>
                          <a:latin typeface="Segoe UI"/>
                          <a:ea typeface="Microsoft YaHei"/>
                          <a:cs typeface="Segoe UI"/>
                        </a:rPr>
                        <a:t>264.404 tấn</a:t>
                      </a:r>
                    </a:p>
                  </a:txBody>
                  <a:tcPr anchor="ctr" marL="190500" marR="190500">
                    <a:lnL w="14288">
                      <a:solidFill>
                        <a:srgbClr val="D9CDBA"/>
                      </a:solidFill>
                      <a:prstDash val="solid"/>
                    </a:lnL>
                    <a:lnR w="14288">
                      <a:solidFill>
                        <a:srgbClr val="D9CDBA"/>
                      </a:solidFill>
                      <a:prstDash val="solid"/>
                    </a:lnR>
                    <a:lnT w="14288">
                      <a:solidFill>
                        <a:srgbClr val="D9CDBA"/>
                      </a:solidFill>
                      <a:prstDash val="solid"/>
                    </a:lnT>
                    <a:lnB w="14288">
                      <a:solidFill>
                        <a:srgbClr val="D9CDB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1" name="table-caveat"/>
          <p:cNvGrpSpPr/>
          <p:nvPr/>
        </p:nvGrpSpPr>
        <p:grpSpPr>
          <a:xfrm>
            <a:off x="600456" y="5234940"/>
            <a:ext cx="9105138" cy="960311"/>
            <a:chOff x="600456" y="5234940"/>
            <a:chExt cx="9105138" cy="960311"/>
          </a:xfrm>
        </p:grpSpPr>
        <p:sp>
          <p:nvSpPr>
            <p:cNvPr id="9" name="TextBox 9"/>
            <p:cNvSpPr txBox="1"/>
            <p:nvPr/>
          </p:nvSpPr>
          <p:spPr>
            <a:xfrm>
              <a:off x="600456" y="5234940"/>
              <a:ext cx="910513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Hai cột dùng kỳ số liệu và đơn vị khác nhau: cả nước là dự báo USDA cho niên vụ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2026/27; Đắk Lắk là số quyết toán niên vụ 2023/24 của UBND tỉnh. Không cộng gộp.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5931218"/>
              <a:ext cx="69833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26,72 tạ/ha tương đương khoảng 2,67 tấn/ha (quy đổi của bài giảng, tổng hợp).</a:t>
              </a:r>
            </a:p>
          </p:txBody>
        </p:sp>
      </p:grpSp>
      <p:grpSp>
        <p:nvGrpSpPr>
          <p:cNvPr id="14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12" name="TextBox 12"/>
            <p:cNvSpPr txBox="1"/>
            <p:nvPr/>
          </p:nvSpPr>
          <p:spPr>
            <a:xfrm>
              <a:off x="603504" y="6461760"/>
              <a:ext cx="75651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USDA FAS VM2026-0016 (20/5/2026); Cổng thông tin điện tử tỉnh Đắk Lắk (28/11/2024).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c="http://schemas.openxmlformats.org/drawingml/2006/chart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7705725" cy="865822"/>
            <a:chOff x="594360" y="444818"/>
            <a:chExt cx="7705725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3031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3 · DÒNG CHẢY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770572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Sản lượng và xuất khẩu theo niên vụ</a:t>
              </a:r>
            </a:p>
          </p:txBody>
        </p:sp>
      </p:grpSp>
      <p:grpSp>
        <p:nvGrpSpPr>
          <p:cNvPr id="7" name="!!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499110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aphicFrame>
        <p:nvGraphicFramePr>
          <p:cNvPr id="8" name="output-export-trend"/>
          <p:cNvGraphicFramePr>
            <a:graphicFrameLocks noGrp="1"/>
          </p:cNvGraphicFramePr>
          <p:nvPr/>
        </p:nvGraphicFramePr>
        <p:xfrm>
          <a:off x="1428750" y="1866900"/>
          <a:ext cx="6667500" cy="3543300"/>
        </p:xfrm>
        <a:graphic>
          <a:graphicData uri="http://schemas.openxmlformats.org/drawingml/2006/chart">
            <c:chart r:id="rId2"/>
          </a:graphicData>
        </a:graphic>
      </p:graphicFrame>
      <p:grpSp>
        <p:nvGrpSpPr>
          <p:cNvPr id="15" name="trend-legend"/>
          <p:cNvGrpSpPr/>
          <p:nvPr/>
        </p:nvGrpSpPr>
        <p:grpSpPr>
          <a:xfrm>
            <a:off x="1428750" y="5619750"/>
            <a:ext cx="3116056" cy="293370"/>
            <a:chOff x="1428750" y="5619750"/>
            <a:chExt cx="3116056" cy="293370"/>
          </a:xfrm>
        </p:grpSpPr>
        <p:sp>
          <p:nvSpPr>
            <p:cNvPr id="9" name="Line 9"/>
            <p:cNvSpPr/>
            <p:nvPr/>
          </p:nvSpPr>
          <p:spPr>
            <a:xfrm>
              <a:off x="1428750" y="57150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38100">
              <a:solidFill>
                <a:srgbClr val="7A3B22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543050" y="5657850"/>
              <a:ext cx="114300" cy="114300"/>
            </a:xfrm>
            <a:prstGeom prst="ellipse">
              <a:avLst/>
            </a:prstGeom>
            <a:solidFill>
              <a:srgbClr val="7A3B2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59280" y="5619750"/>
              <a:ext cx="9201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Sản lượng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143250" y="57150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38100">
              <a:solidFill>
                <a:srgbClr val="2F6B4F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257550" y="5657850"/>
              <a:ext cx="114300" cy="114300"/>
            </a:xfrm>
            <a:prstGeom prst="ellipse">
              <a:avLst/>
            </a:prstGeom>
            <a:solidFill>
              <a:srgbClr val="2F6B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573780" y="5619750"/>
              <a:ext cx="9710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Xuất khẩu</a:t>
              </a:r>
            </a:p>
          </p:txBody>
        </p:sp>
      </p:grpSp>
      <p:grpSp>
        <p:nvGrpSpPr>
          <p:cNvPr id="20" name="!!record"/>
          <p:cNvGrpSpPr/>
          <p:nvPr/>
        </p:nvGrpSpPr>
        <p:grpSpPr>
          <a:xfrm>
            <a:off x="8382000" y="1905000"/>
            <a:ext cx="3200400" cy="1828800"/>
            <a:chOff x="8382000" y="1905000"/>
            <a:chExt cx="3200400" cy="1828800"/>
          </a:xfrm>
        </p:grpSpPr>
        <p:sp>
          <p:nvSpPr>
            <p:cNvPr id="16" name="Freeform 16"/>
            <p:cNvSpPr/>
            <p:nvPr/>
          </p:nvSpPr>
          <p:spPr>
            <a:xfrm>
              <a:off x="8382000" y="1905000"/>
              <a:ext cx="3200400" cy="1828800"/>
            </a:xfrm>
            <a:prstGeom prst="snip1Rect">
              <a:avLst/>
            </a:prstGeom>
            <a:solidFill>
              <a:srgbClr val="EFE7D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03742" y="2121218"/>
              <a:ext cx="20890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NIÊN VỤ 2024–2025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93836" y="2501265"/>
              <a:ext cx="281467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8,4 tỷ USD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03742" y="3054668"/>
              <a:ext cx="213112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kim ngạch xuất khẩu, mức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cao nhất từ trước tới nay</a:t>
              </a:r>
            </a:p>
          </p:txBody>
        </p:sp>
      </p:grpSp>
      <p:grpSp>
        <p:nvGrpSpPr>
          <p:cNvPr id="22" name="record-trend"/>
          <p:cNvGrpSpPr/>
          <p:nvPr/>
        </p:nvGrpSpPr>
        <p:grpSpPr>
          <a:xfrm>
            <a:off x="8372856" y="4034790"/>
            <a:ext cx="2646617" cy="1380744"/>
            <a:chOff x="8372856" y="4034790"/>
            <a:chExt cx="2646617" cy="1380744"/>
          </a:xfrm>
        </p:grpSpPr>
        <p:sp>
          <p:nvSpPr>
            <p:cNvPr id="21" name="TextBox 21"/>
            <p:cNvSpPr txBox="1"/>
            <p:nvPr/>
          </p:nvSpPr>
          <p:spPr>
            <a:xfrm>
              <a:off x="8372856" y="4034790"/>
              <a:ext cx="2646617" cy="1380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Xuất khẩu giảm mạnh ở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niên vụ 2023/24 rồi hồi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phục lên </a:t>
              </a:r>
              <a:r>
                <a:rPr lang="vi-VN" sz="1800" b="1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28,5 triệu bao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ở niên vụ 2025/26.</a:t>
              </a:r>
            </a:p>
          </p:txBody>
        </p:sp>
      </p:grpSp>
      <p:grpSp>
        <p:nvGrpSpPr>
          <p:cNvPr id="24" name="record-unit"/>
          <p:cNvGrpSpPr/>
          <p:nvPr/>
        </p:nvGrpSpPr>
        <p:grpSpPr>
          <a:xfrm>
            <a:off x="8375142" y="5550218"/>
            <a:ext cx="2542604" cy="759333"/>
            <a:chOff x="8375142" y="5550218"/>
            <a:chExt cx="2542604" cy="759333"/>
          </a:xfrm>
        </p:grpSpPr>
        <p:sp>
          <p:nvSpPr>
            <p:cNvPr id="23" name="TextBox 23"/>
            <p:cNvSpPr txBox="1"/>
            <p:nvPr/>
          </p:nvSpPr>
          <p:spPr>
            <a:xfrm>
              <a:off x="8375142" y="5550218"/>
              <a:ext cx="2542604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Đơn vị: triệu bao 60 kg (GBE).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Xuất khẩu gồm hạt xanh, rang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xay và hoà tan.</a:t>
              </a:r>
            </a:p>
          </p:txBody>
        </p:sp>
      </p:grpSp>
      <p:grpSp>
        <p:nvGrpSpPr>
          <p:cNvPr id="27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603504" y="6461760"/>
              <a:ext cx="9012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USDA FAS, Coffee: World Markets and Trade (7/2026); kim ngạch theo VICOFA dẫn qua VietnamNet (2025).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8445495" cy="865822"/>
            <a:chOff x="594360" y="444818"/>
            <a:chExt cx="8445495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334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3 · KỶ LỤC GIÁ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844549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Kỷ lục kim ngạch của niên vụ 2024–2025</a:t>
              </a:r>
            </a:p>
          </p:txBody>
        </p:sp>
      </p:grpSp>
      <p:grpSp>
        <p:nvGrpSpPr>
          <p:cNvPr id="7" name="!!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499110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14" name="!!record"/>
          <p:cNvGrpSpPr/>
          <p:nvPr/>
        </p:nvGrpSpPr>
        <p:grpSpPr>
          <a:xfrm>
            <a:off x="609600" y="1676400"/>
            <a:ext cx="10972800" cy="1905000"/>
            <a:chOff x="609600" y="1676400"/>
            <a:chExt cx="10972800" cy="1905000"/>
          </a:xfrm>
        </p:grpSpPr>
        <p:sp>
          <p:nvSpPr>
            <p:cNvPr id="8" name="Freeform 8"/>
            <p:cNvSpPr/>
            <p:nvPr/>
          </p:nvSpPr>
          <p:spPr>
            <a:xfrm>
              <a:off x="609600" y="1676400"/>
              <a:ext cx="10972800" cy="1905000"/>
            </a:xfrm>
            <a:prstGeom prst="snip1Rect">
              <a:avLst/>
            </a:prstGeom>
            <a:solidFill>
              <a:srgbClr val="EFE7D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7542" y="1911668"/>
              <a:ext cx="43998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NIÊN VỤ 2024–2025 · 10/2024 – 9/2025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5350" y="2369820"/>
              <a:ext cx="4589069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54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8,4 tỷ USD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542" y="314991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kim ngạch xuất khẩu cả niên vụ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50736" y="2596515"/>
              <a:ext cx="175854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F6B4F"/>
                  </a:solidFill>
                  <a:latin typeface="+mj-lt"/>
                  <a:ea typeface="+mj-ea"/>
                  <a:cs typeface="+mj-cs"/>
                </a:rPr>
                <a:t>+55,5%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0642" y="31499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giá trị so với niên vụ trước</a:t>
              </a:r>
            </a:p>
          </p:txBody>
        </p:sp>
      </p:grpSp>
      <p:grpSp>
        <p:nvGrpSpPr>
          <p:cNvPr id="17" name="stat-volume"/>
          <p:cNvGrpSpPr/>
          <p:nvPr/>
        </p:nvGrpSpPr>
        <p:grpSpPr>
          <a:xfrm>
            <a:off x="592836" y="3872865"/>
            <a:ext cx="4621568" cy="798386"/>
            <a:chOff x="592836" y="3872865"/>
            <a:chExt cx="4621568" cy="798386"/>
          </a:xfrm>
        </p:grpSpPr>
        <p:sp>
          <p:nvSpPr>
            <p:cNvPr id="15" name="TextBox 15"/>
            <p:cNvSpPr txBox="1"/>
            <p:nvPr/>
          </p:nvSpPr>
          <p:spPr>
            <a:xfrm>
              <a:off x="592836" y="3872865"/>
              <a:ext cx="31878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1,5 triệu tấn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2742" y="4407218"/>
              <a:ext cx="4611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khối lượng xuất khẩu, tăng 1,8% so với niên vụ trước</a:t>
              </a:r>
            </a:p>
          </p:txBody>
        </p:sp>
      </p:grpSp>
      <p:grpSp>
        <p:nvGrpSpPr>
          <p:cNvPr id="20" name="stat-price"/>
          <p:cNvGrpSpPr/>
          <p:nvPr/>
        </p:nvGrpSpPr>
        <p:grpSpPr>
          <a:xfrm>
            <a:off x="6155436" y="3872865"/>
            <a:ext cx="3798639" cy="798386"/>
            <a:chOff x="6155436" y="3872865"/>
            <a:chExt cx="3798639" cy="798386"/>
          </a:xfrm>
        </p:grpSpPr>
        <p:sp>
          <p:nvSpPr>
            <p:cNvPr id="18" name="TextBox 18"/>
            <p:cNvSpPr txBox="1"/>
            <p:nvPr/>
          </p:nvSpPr>
          <p:spPr>
            <a:xfrm>
              <a:off x="6155436" y="3872865"/>
              <a:ext cx="379863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5.610 USD/tấn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65342" y="4407218"/>
              <a:ext cx="3230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giá xuất khẩu bình quân, tăng 52,7%</a:t>
              </a:r>
            </a:p>
          </p:txBody>
        </p:sp>
      </p:grpSp>
      <p:grpSp>
        <p:nvGrpSpPr>
          <p:cNvPr id="23" name="stat-output"/>
          <p:cNvGrpSpPr/>
          <p:nvPr/>
        </p:nvGrpSpPr>
        <p:grpSpPr>
          <a:xfrm>
            <a:off x="592836" y="5015865"/>
            <a:ext cx="3835979" cy="798386"/>
            <a:chOff x="592836" y="5015865"/>
            <a:chExt cx="3835979" cy="798386"/>
          </a:xfrm>
        </p:grpSpPr>
        <p:sp>
          <p:nvSpPr>
            <p:cNvPr id="21" name="TextBox 21"/>
            <p:cNvSpPr txBox="1"/>
            <p:nvPr/>
          </p:nvSpPr>
          <p:spPr>
            <a:xfrm>
              <a:off x="592836" y="5015865"/>
              <a:ext cx="345891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29,5 triệu bao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2742" y="5550218"/>
              <a:ext cx="38260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sản lượng niên vụ theo VICOFA, tăng hơn 9%</a:t>
              </a:r>
            </a:p>
          </p:txBody>
        </p:sp>
      </p:grpSp>
      <p:grpSp>
        <p:nvGrpSpPr>
          <p:cNvPr id="25" name="stat-conflict"/>
          <p:cNvGrpSpPr/>
          <p:nvPr/>
        </p:nvGrpSpPr>
        <p:grpSpPr>
          <a:xfrm>
            <a:off x="6165342" y="5073968"/>
            <a:ext cx="4720018" cy="759333"/>
            <a:chOff x="6165342" y="5073968"/>
            <a:chExt cx="4720018" cy="759333"/>
          </a:xfrm>
        </p:grpSpPr>
        <p:sp>
          <p:nvSpPr>
            <p:cNvPr id="24" name="TextBox 24"/>
            <p:cNvSpPr txBox="1"/>
            <p:nvPr/>
          </p:nvSpPr>
          <p:spPr>
            <a:xfrm>
              <a:off x="6165342" y="5073968"/>
              <a:ext cx="472001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Lưu ý nguồn: cùng thông cáo VICOFA ngày 24/10/2025,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VietnamNet ghi mức tăng 1,8% về lượng còn VietnamPlus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ghi tăng gần 6%. Bài giảng dùng 1,8% vì hai nguồn trùng.</a:t>
              </a:r>
            </a:p>
          </p:txBody>
        </p:sp>
      </p:grpSp>
      <p:grpSp>
        <p:nvGrpSpPr>
          <p:cNvPr id="28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03504" y="6461760"/>
              <a:ext cx="9350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VICOFA công bố 24/10/2025, dẫn qua VietnamNet và VietnamPlus; USDA FAS ước 29,0 triệu bao cho cùng niên vụ.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c="http://schemas.openxmlformats.org/drawingml/2006/chart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7745578" cy="865822"/>
            <a:chOff x="594360" y="444818"/>
            <a:chExt cx="7745578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435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3 · THỊ TRƯỜNG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774557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Gần một nửa lượng cà phê đi châu Âu</a:t>
              </a:r>
            </a:p>
          </p:txBody>
        </p:sp>
      </p:grpSp>
      <p:grpSp>
        <p:nvGrpSpPr>
          <p:cNvPr id="7" name="!!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499110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aphicFrame>
        <p:nvGraphicFramePr>
          <p:cNvPr id="8" name="market-share"/>
          <p:cNvGraphicFramePr>
            <a:graphicFrameLocks noGrp="1"/>
          </p:cNvGraphicFramePr>
          <p:nvPr/>
        </p:nvGraphicFramePr>
        <p:xfrm>
          <a:off x="1809750" y="2305050"/>
          <a:ext cx="2857500" cy="2857500"/>
        </p:xfrm>
        <a:graphic>
          <a:graphicData uri="http://schemas.openxmlformats.org/drawingml/2006/chart">
            <c:chart r:id="rId2"/>
          </a:graphicData>
        </a:graphic>
      </p:graphicFrame>
      <p:grpSp>
        <p:nvGrpSpPr>
          <p:cNvPr id="10" name="market-growth"/>
          <p:cNvGrpSpPr/>
          <p:nvPr/>
        </p:nvGrpSpPr>
        <p:grpSpPr>
          <a:xfrm>
            <a:off x="602742" y="5531168"/>
            <a:ext cx="4239958" cy="759333"/>
            <a:chOff x="602742" y="5531168"/>
            <a:chExt cx="4239958" cy="759333"/>
          </a:xfrm>
        </p:grpSpPr>
        <p:sp>
          <p:nvSpPr>
            <p:cNvPr id="9" name="TextBox 9"/>
            <p:cNvSpPr txBox="1"/>
            <p:nvPr/>
          </p:nvSpPr>
          <p:spPr>
            <a:xfrm>
              <a:off x="602742" y="5531168"/>
              <a:ext cx="423995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Nửa đầu niên vụ 2025/26, xuất khẩu sang Đức tăng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46%, Hoa Kỳ 37%, Nga 35%, Ý 31%, Tây Ban Nha 22%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và Nhật Bản 19% so với cùng kỳ.</a:t>
              </a:r>
            </a:p>
          </p:txBody>
        </p:sp>
      </p:grpSp>
      <p:grpSp>
        <p:nvGrpSpPr>
          <p:cNvPr id="34" name="market-list"/>
          <p:cNvGrpSpPr/>
          <p:nvPr/>
        </p:nvGrpSpPr>
        <p:grpSpPr>
          <a:xfrm>
            <a:off x="5715000" y="2381250"/>
            <a:ext cx="5876544" cy="2348484"/>
            <a:chOff x="5715000" y="2381250"/>
            <a:chExt cx="5876544" cy="2348484"/>
          </a:xfrm>
        </p:grpSpPr>
        <p:grpSp>
          <p:nvGrpSpPr>
            <p:cNvPr id="16" name="market-list-chips"/>
            <p:cNvGrpSpPr/>
            <p:nvPr/>
          </p:nvGrpSpPr>
          <p:grpSpPr>
            <a:xfrm>
              <a:off x="5715000" y="2381250"/>
              <a:ext cx="114300" cy="2247900"/>
              <a:chOff x="5715000" y="2381250"/>
              <a:chExt cx="114300" cy="22479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0" y="2381250"/>
                <a:ext cx="114300" cy="266700"/>
              </a:xfrm>
              <a:prstGeom prst="roundRect">
                <a:avLst>
                  <a:gd name="adj" fmla="val 25000"/>
                </a:avLst>
              </a:prstGeom>
              <a:solidFill>
                <a:srgbClr val="7A3B2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715000" y="2876550"/>
                <a:ext cx="114300" cy="266700"/>
              </a:xfrm>
              <a:prstGeom prst="roundRect">
                <a:avLst>
                  <a:gd name="adj" fmla="val 25000"/>
                </a:avLst>
              </a:prstGeom>
              <a:solidFill>
                <a:srgbClr val="A85A33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5715000" y="3371850"/>
                <a:ext cx="114300" cy="266700"/>
              </a:xfrm>
              <a:prstGeom prst="roundRect">
                <a:avLst>
                  <a:gd name="adj" fmla="val 25000"/>
                </a:avLst>
              </a:prstGeom>
              <a:solidFill>
                <a:srgbClr val="C08A2E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715000" y="3867150"/>
                <a:ext cx="114300" cy="266700"/>
              </a:xfrm>
              <a:prstGeom prst="roundRect">
                <a:avLst>
                  <a:gd name="adj" fmla="val 25000"/>
                </a:avLst>
              </a:prstGeom>
              <a:solidFill>
                <a:srgbClr val="D7BE96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5715000" y="4362450"/>
                <a:ext cx="114300" cy="266700"/>
              </a:xfrm>
              <a:prstGeom prst="roundRect">
                <a:avLst>
                  <a:gd name="adj" fmla="val 25000"/>
                </a:avLst>
              </a:prstGeom>
              <a:solidFill>
                <a:srgbClr val="BFB3A3"/>
              </a:solidFill>
              <a:ln>
                <a:noFill/>
              </a:ln>
            </p:spPr>
          </p:sp>
        </p:grpSp>
        <p:grpSp>
          <p:nvGrpSpPr>
            <p:cNvPr id="22" name="market-list-names"/>
            <p:cNvGrpSpPr/>
            <p:nvPr/>
          </p:nvGrpSpPr>
          <p:grpSpPr>
            <a:xfrm>
              <a:off x="6010656" y="2396490"/>
              <a:ext cx="2932176" cy="2333244"/>
              <a:chOff x="6010656" y="2396490"/>
              <a:chExt cx="2932176" cy="233324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010656" y="2396490"/>
                <a:ext cx="42565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8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Đức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010656" y="2891790"/>
                <a:ext cx="1591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8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Ý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010656" y="3387090"/>
                <a:ext cx="13885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8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Tây Ban Nha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010656" y="3882390"/>
                <a:ext cx="28600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8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Châu Âu khác (tổng hợp)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010656" y="4377690"/>
                <a:ext cx="29321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8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Ngoài châu Âu (tổng hợp)</a:t>
                </a:r>
              </a:p>
            </p:txBody>
          </p:sp>
        </p:grpSp>
        <p:grpSp>
          <p:nvGrpSpPr>
            <p:cNvPr id="28" name="market-list-values"/>
            <p:cNvGrpSpPr/>
            <p:nvPr/>
          </p:nvGrpSpPr>
          <p:grpSpPr>
            <a:xfrm>
              <a:off x="10780197" y="2396490"/>
              <a:ext cx="811347" cy="2333244"/>
              <a:chOff x="10780197" y="2396490"/>
              <a:chExt cx="811347" cy="2333244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10780197" y="2396490"/>
                <a:ext cx="8113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-VN" sz="1800" b="1" dirty="0">
                    <a:solidFill>
                      <a:srgbClr val="221C15"/>
                    </a:solidFill>
                    <a:latin typeface="+mj-lt"/>
                    <a:ea typeface="+mj-ea"/>
                    <a:cs typeface="+mj-cs"/>
                  </a:rPr>
                  <a:t>13,0%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928055" y="2891790"/>
                <a:ext cx="66348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-VN" sz="1800" b="1" dirty="0">
                    <a:solidFill>
                      <a:srgbClr val="221C15"/>
                    </a:solidFill>
                    <a:latin typeface="+mj-lt"/>
                    <a:ea typeface="+mj-ea"/>
                    <a:cs typeface="+mj-cs"/>
                  </a:rPr>
                  <a:t>8,3%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928055" y="3387090"/>
                <a:ext cx="66348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-VN" sz="1800" b="1" dirty="0">
                    <a:solidFill>
                      <a:srgbClr val="221C15"/>
                    </a:solidFill>
                    <a:latin typeface="+mj-lt"/>
                    <a:ea typeface="+mj-ea"/>
                    <a:cs typeface="+mj-cs"/>
                  </a:rPr>
                  <a:t>7,3%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780197" y="3882390"/>
                <a:ext cx="8113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-VN" sz="1800" b="1" dirty="0">
                    <a:solidFill>
                      <a:srgbClr val="221C15"/>
                    </a:solidFill>
                    <a:latin typeface="+mj-lt"/>
                    <a:ea typeface="+mj-ea"/>
                    <a:cs typeface="+mj-cs"/>
                  </a:rPr>
                  <a:t>18,6%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780197" y="4377690"/>
                <a:ext cx="8113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-VN" sz="1800" b="1" dirty="0">
                    <a:solidFill>
                      <a:srgbClr val="221C15"/>
                    </a:solidFill>
                    <a:latin typeface="+mj-lt"/>
                    <a:ea typeface="+mj-ea"/>
                    <a:cs typeface="+mj-cs"/>
                  </a:rPr>
                  <a:t>52,8%</a:t>
                </a:r>
              </a:p>
            </p:txBody>
          </p:sp>
        </p:grpSp>
        <p:grpSp>
          <p:nvGrpSpPr>
            <p:cNvPr id="33" name="market-list-rules"/>
            <p:cNvGrpSpPr/>
            <p:nvPr/>
          </p:nvGrpSpPr>
          <p:grpSpPr>
            <a:xfrm>
              <a:off x="5715000" y="2762250"/>
              <a:ext cx="5867400" cy="1495425"/>
              <a:chOff x="5715000" y="2762250"/>
              <a:chExt cx="5867400" cy="1495425"/>
            </a:xfrm>
          </p:grpSpPr>
          <p:sp>
            <p:nvSpPr>
              <p:cNvPr id="29" name="Line 29"/>
              <p:cNvSpPr/>
              <p:nvPr/>
            </p:nvSpPr>
            <p:spPr>
              <a:xfrm>
                <a:off x="5715000" y="2762250"/>
                <a:ext cx="5867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67400" h="9525">
                    <a:moveTo>
                      <a:pt x="0" y="0"/>
                    </a:moveTo>
                    <a:lnTo>
                      <a:pt x="5867400" y="0"/>
                    </a:lnTo>
                  </a:path>
                </a:pathLst>
              </a:custGeom>
              <a:noFill/>
              <a:ln w="9525">
                <a:solidFill>
                  <a:srgbClr val="E4DACB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5715000" y="3257550"/>
                <a:ext cx="5867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67400" h="9525">
                    <a:moveTo>
                      <a:pt x="0" y="0"/>
                    </a:moveTo>
                    <a:lnTo>
                      <a:pt x="5867400" y="0"/>
                    </a:lnTo>
                  </a:path>
                </a:pathLst>
              </a:custGeom>
              <a:noFill/>
              <a:ln w="9525">
                <a:solidFill>
                  <a:srgbClr val="E4DACB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5715000" y="3752850"/>
                <a:ext cx="5867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67400" h="9525">
                    <a:moveTo>
                      <a:pt x="0" y="0"/>
                    </a:moveTo>
                    <a:lnTo>
                      <a:pt x="5867400" y="0"/>
                    </a:lnTo>
                  </a:path>
                </a:pathLst>
              </a:custGeom>
              <a:noFill/>
              <a:ln w="9525">
                <a:solidFill>
                  <a:srgbClr val="E4DACB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5715000" y="4248150"/>
                <a:ext cx="5867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67400" h="9525">
                    <a:moveTo>
                      <a:pt x="0" y="0"/>
                    </a:moveTo>
                    <a:lnTo>
                      <a:pt x="5867400" y="0"/>
                    </a:lnTo>
                  </a:path>
                </a:pathLst>
              </a:custGeom>
              <a:noFill/>
              <a:ln w="9525">
                <a:solidFill>
                  <a:srgbClr val="E4DACB"/>
                </a:solidFill>
              </a:ln>
            </p:spPr>
          </p:sp>
        </p:grpSp>
      </p:grpSp>
      <p:grpSp>
        <p:nvGrpSpPr>
          <p:cNvPr id="38" name="!!valueBlock"/>
          <p:cNvGrpSpPr/>
          <p:nvPr/>
        </p:nvGrpSpPr>
        <p:grpSpPr>
          <a:xfrm>
            <a:off x="5715000" y="4914900"/>
            <a:ext cx="5867400" cy="1181100"/>
            <a:chOff x="5715000" y="4914900"/>
            <a:chExt cx="5867400" cy="1181100"/>
          </a:xfrm>
        </p:grpSpPr>
        <p:sp>
          <p:nvSpPr>
            <p:cNvPr id="35" name="Freeform 35"/>
            <p:cNvSpPr/>
            <p:nvPr/>
          </p:nvSpPr>
          <p:spPr>
            <a:xfrm>
              <a:off x="5715000" y="4914900"/>
              <a:ext cx="5867400" cy="1181100"/>
            </a:xfrm>
            <a:prstGeom prst="snip1Rect">
              <a:avLst/>
            </a:prstGeom>
            <a:solidFill>
              <a:srgbClr val="EFE7D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64936" y="5263515"/>
              <a:ext cx="148747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47,2%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13142" y="5340668"/>
              <a:ext cx="230257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hơn 710.000 tấn cà phê Việt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Nam đi thị trường châu Âu</a:t>
              </a:r>
            </a:p>
          </p:txBody>
        </p:sp>
      </p:grpSp>
      <p:grpSp>
        <p:nvGrpSpPr>
          <p:cNvPr id="41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603504" y="6461760"/>
              <a:ext cx="102599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VICOFA, niên vụ 2024–2025, dẫn qua VietnamNet (2025); tăng trưởng nửa đầu niên vụ 2025/26 theo USDA FAS VM2026-0016.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9051608" cy="865822"/>
            <a:chOff x="594360" y="444818"/>
            <a:chExt cx="9051608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1988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4 · GIÁ TRỊ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905160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Điểm nghẽn giá trị: phần lớn vẫn xuất thô</a:t>
              </a:r>
            </a:p>
          </p:txBody>
        </p:sp>
      </p:grpSp>
      <p:grpSp>
        <p:nvGrpSpPr>
          <p:cNvPr id="7" name="!!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18185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12" name="!!valueBlock"/>
          <p:cNvGrpSpPr/>
          <p:nvPr/>
        </p:nvGrpSpPr>
        <p:grpSpPr>
          <a:xfrm>
            <a:off x="609600" y="1676400"/>
            <a:ext cx="5486400" cy="2324100"/>
            <a:chOff x="609600" y="1676400"/>
            <a:chExt cx="5486400" cy="2324100"/>
          </a:xfrm>
        </p:grpSpPr>
        <p:sp>
          <p:nvSpPr>
            <p:cNvPr id="8" name="Rectangle 8"/>
            <p:cNvSpPr/>
            <p:nvPr/>
          </p:nvSpPr>
          <p:spPr>
            <a:xfrm>
              <a:off x="609600" y="1676400"/>
              <a:ext cx="5486400" cy="2324100"/>
            </a:xfrm>
            <a:prstGeom prst="rect">
              <a:avLst/>
            </a:prstGeom>
            <a:solidFill>
              <a:srgbClr val="7A3B2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7542" y="1968818"/>
              <a:ext cx="9998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E7D5BF"/>
                  </a:solidFill>
                  <a:latin typeface="+mn-lt"/>
                  <a:ea typeface="+mn-ea"/>
                  <a:cs typeface="+mn-cs"/>
                </a:rPr>
                <a:t>XUẤT THÔ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5350" y="2484120"/>
              <a:ext cx="153012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5400" b="1" dirty="0">
                  <a:solidFill>
                    <a:srgbClr val="F7F3EC"/>
                  </a:solidFill>
                  <a:latin typeface="+mj-lt"/>
                  <a:ea typeface="+mj-ea"/>
                  <a:cs typeface="+mj-cs"/>
                </a:rPr>
                <a:t>85%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542" y="3302318"/>
              <a:ext cx="316839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E7D5BF"/>
                  </a:solidFill>
                  <a:latin typeface="+mn-lt"/>
                  <a:ea typeface="+mn-ea"/>
                  <a:cs typeface="+mn-cs"/>
                </a:rPr>
                <a:t>lượng cà phê xuất khẩu vẫn là hạt thô,</a:t>
              </a:r>
              <a:br/>
              <a:r>
                <a:rPr lang="vi-VN" sz="1350" dirty="0">
                  <a:solidFill>
                    <a:srgbClr val="E7D5BF"/>
                  </a:solidFill>
                  <a:latin typeface="+mn-lt"/>
                  <a:ea typeface="+mn-ea"/>
                  <a:cs typeface="+mn-cs"/>
                </a:rPr>
                <a:t>chưa có thương hiệu mạnh</a:t>
              </a:r>
            </a:p>
          </p:txBody>
        </p:sp>
      </p:grpSp>
      <p:grpSp>
        <p:nvGrpSpPr>
          <p:cNvPr id="17" name="value-processed-block"/>
          <p:cNvGrpSpPr/>
          <p:nvPr/>
        </p:nvGrpSpPr>
        <p:grpSpPr>
          <a:xfrm>
            <a:off x="6324600" y="1676400"/>
            <a:ext cx="5257800" cy="2324100"/>
            <a:chOff x="6324600" y="1676400"/>
            <a:chExt cx="5257800" cy="23241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76400"/>
              <a:ext cx="5257800" cy="232410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22542" y="1968818"/>
              <a:ext cx="1427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CHẾ BIẾN SÂU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0350" y="2484120"/>
              <a:ext cx="153012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5400" b="1" dirty="0">
                  <a:solidFill>
                    <a:srgbClr val="7A3B22"/>
                  </a:solidFill>
                  <a:latin typeface="+mj-lt"/>
                  <a:ea typeface="+mj-ea"/>
                  <a:cs typeface="+mj-cs"/>
                </a:rPr>
                <a:t>13%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22542" y="3302318"/>
              <a:ext cx="315982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cà phê rang xay và hoà tan trong tổng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lượng xuất khẩu</a:t>
              </a:r>
            </a:p>
          </p:txBody>
        </p:sp>
      </p:grpSp>
      <p:grpSp>
        <p:nvGrpSpPr>
          <p:cNvPr id="19" name="value-gap-caveat"/>
          <p:cNvGrpSpPr/>
          <p:nvPr/>
        </p:nvGrpSpPr>
        <p:grpSpPr>
          <a:xfrm>
            <a:off x="602742" y="4121468"/>
            <a:ext cx="7331202" cy="264033"/>
            <a:chOff x="602742" y="4121468"/>
            <a:chExt cx="7331202" cy="264033"/>
          </a:xfrm>
        </p:grpSpPr>
        <p:sp>
          <p:nvSpPr>
            <p:cNvPr id="18" name="TextBox 18"/>
            <p:cNvSpPr txBox="1"/>
            <p:nvPr/>
          </p:nvSpPr>
          <p:spPr>
            <a:xfrm>
              <a:off x="602742" y="4121468"/>
              <a:ext cx="7331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Hai tỷ lệ trên đến từ hai phát biểu khác nhau của VICOFA và không cộng thành 100%.</a:t>
              </a:r>
            </a:p>
          </p:txBody>
        </p:sp>
      </p:grpSp>
      <p:grpSp>
        <p:nvGrpSpPr>
          <p:cNvPr id="23" name="value-target"/>
          <p:cNvGrpSpPr/>
          <p:nvPr/>
        </p:nvGrpSpPr>
        <p:grpSpPr>
          <a:xfrm>
            <a:off x="602742" y="4521518"/>
            <a:ext cx="4708643" cy="930211"/>
            <a:chOff x="602742" y="4521518"/>
            <a:chExt cx="4708643" cy="930211"/>
          </a:xfrm>
        </p:grpSpPr>
        <p:sp>
          <p:nvSpPr>
            <p:cNvPr id="20" name="TextBox 20"/>
            <p:cNvSpPr txBox="1"/>
            <p:nvPr/>
          </p:nvSpPr>
          <p:spPr>
            <a:xfrm>
              <a:off x="602742" y="4521518"/>
              <a:ext cx="2211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MỤC TIÊU CỦA NGÀNH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09600" y="4800600"/>
              <a:ext cx="1905000" cy="457200"/>
            </a:xfrm>
            <a:prstGeom prst="rightArrow">
              <a:avLst>
                <a:gd name="adj1" fmla="val 55000"/>
                <a:gd name="adj2" fmla="val 60000"/>
              </a:avLst>
            </a:prstGeom>
            <a:solidFill>
              <a:srgbClr val="C08A2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802636" y="4806315"/>
              <a:ext cx="250874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10 tỷ USD</a:t>
              </a:r>
            </a:p>
          </p:txBody>
        </p:sp>
      </p:grpSp>
      <p:grpSp>
        <p:nvGrpSpPr>
          <p:cNvPr id="25" name="value-target-note"/>
          <p:cNvGrpSpPr/>
          <p:nvPr/>
        </p:nvGrpSpPr>
        <p:grpSpPr>
          <a:xfrm>
            <a:off x="600456" y="5463540"/>
            <a:ext cx="8122158" cy="694944"/>
            <a:chOff x="600456" y="5463540"/>
            <a:chExt cx="8122158" cy="694944"/>
          </a:xfrm>
        </p:grpSpPr>
        <p:sp>
          <p:nvSpPr>
            <p:cNvPr id="24" name="TextBox 24"/>
            <p:cNvSpPr txBox="1"/>
            <p:nvPr/>
          </p:nvSpPr>
          <p:spPr>
            <a:xfrm>
              <a:off x="600456" y="5463540"/>
              <a:ext cx="812215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VICOFA đặt mục tiêu kim ngạch 10 tỷ USD, dựa vào chế biến sâu, nâng chất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lượng và xây dựng thương hiệu cho hạt cà phê Việt Nam.</a:t>
              </a:r>
            </a:p>
          </p:txBody>
        </p:sp>
      </p:grpSp>
      <p:grpSp>
        <p:nvGrpSpPr>
          <p:cNvPr id="28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03504" y="6461760"/>
              <a:ext cx="10210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VICOFA dẫn qua VietnamPlus (2025) cho tỷ lệ 85% và mục tiêu 10 tỷ USD; USDA FAS VM2026-0016 dẫn VICOFA cho tỷ lệ 13%.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3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8938843" cy="865822"/>
            <a:chOff x="594360" y="444818"/>
            <a:chExt cx="8938843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120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4 · CHẾ BIẾN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893884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Giá trị nằm ở chế biến sâu và thương hiệu</a:t>
              </a:r>
            </a:p>
          </p:txBody>
        </p:sp>
      </p:grpSp>
      <p:grpSp>
        <p:nvGrpSpPr>
          <p:cNvPr id="7" name="chapter-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18185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11" name="processing-photo"/>
          <p:cNvGrpSpPr/>
          <p:nvPr/>
        </p:nvGrpSpPr>
        <p:grpSpPr>
          <a:xfrm>
            <a:off x="7239000" y="1676400"/>
            <a:ext cx="4953000" cy="4419600"/>
            <a:chOff x="7239000" y="1676400"/>
            <a:chExt cx="4953000" cy="441960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rcRect l="12597" t="0" r="12597" b="0"/>
            <a:stretch>
              <a:fillRect/>
            </a:stretch>
          </p:blipFill>
          <p:spPr>
            <a:xfrm>
              <a:off x="7239000" y="1676400"/>
              <a:ext cx="4953000" cy="441960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7239000" y="4572000"/>
              <a:ext cx="4953000" cy="1524000"/>
            </a:xfrm>
            <a:prstGeom prst="rect">
              <a:avLst/>
            </a:prstGeom>
            <a:gradFill>
              <a:gsLst>
                <a:gs pos="0">
                  <a:srgbClr val="1C1610">
                    <a:alpha val="78000"/>
                  </a:srgbClr>
                </a:gs>
                <a:gs pos="46000">
                  <a:srgbClr val="1C1610">
                    <a:alpha val="14000"/>
                  </a:srgbClr>
                </a:gs>
                <a:gs pos="100000">
                  <a:srgbClr val="1C1610">
                    <a:alpha val="0"/>
                  </a:srgbClr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98080" y="5514975"/>
              <a:ext cx="28632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vi-VN" sz="1500" dirty="0">
                  <a:solidFill>
                    <a:srgbClr val="F7F3EC"/>
                  </a:solidFill>
                  <a:latin typeface="+mn-lt"/>
                  <a:ea typeface="+mn-ea"/>
                  <a:cs typeface="+mn-cs"/>
                </a:rPr>
                <a:t>Cà phê nhân chưa rang — dạng</a:t>
              </a:r>
              <a:br/>
              <a:r>
                <a:rPr lang="vi-VN" sz="1500" dirty="0">
                  <a:solidFill>
                    <a:srgbClr val="F7F3EC"/>
                  </a:solidFill>
                  <a:latin typeface="+mn-lt"/>
                  <a:ea typeface="+mn-ea"/>
                  <a:cs typeface="+mn-cs"/>
                </a:rPr>
                <a:t>xuất khẩu chủ yếu của Việt Nam</a:t>
              </a:r>
            </a:p>
          </p:txBody>
        </p:sp>
      </p:grpSp>
      <p:grpSp>
        <p:nvGrpSpPr>
          <p:cNvPr id="13" name="brand-lead"/>
          <p:cNvGrpSpPr/>
          <p:nvPr/>
        </p:nvGrpSpPr>
        <p:grpSpPr>
          <a:xfrm>
            <a:off x="598932" y="1811655"/>
            <a:ext cx="5128641" cy="753618"/>
            <a:chOff x="598932" y="1811655"/>
            <a:chExt cx="5128641" cy="753618"/>
          </a:xfrm>
        </p:grpSpPr>
        <p:sp>
          <p:nvSpPr>
            <p:cNvPr id="12" name="TextBox 12"/>
            <p:cNvSpPr txBox="1"/>
            <p:nvPr/>
          </p:nvSpPr>
          <p:spPr>
            <a:xfrm>
              <a:off x="598932" y="1811655"/>
              <a:ext cx="5128641" cy="753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21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Giá trị tăng thêm đến từ hai hướng: chế</a:t>
              </a:r>
              <a:br/>
              <a:r>
                <a:rPr lang="vi-VN" sz="21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biến sâu và thị trường trong nước.</a:t>
              </a:r>
            </a:p>
          </p:txBody>
        </p:sp>
      </p:grpSp>
      <p:grpSp>
        <p:nvGrpSpPr>
          <p:cNvPr id="16" name="brand-stat-1"/>
          <p:cNvGrpSpPr/>
          <p:nvPr/>
        </p:nvGrpSpPr>
        <p:grpSpPr>
          <a:xfrm>
            <a:off x="592836" y="2691765"/>
            <a:ext cx="3380784" cy="798386"/>
            <a:chOff x="592836" y="2691765"/>
            <a:chExt cx="3380784" cy="798386"/>
          </a:xfrm>
        </p:grpSpPr>
        <p:sp>
          <p:nvSpPr>
            <p:cNvPr id="14" name="TextBox 14"/>
            <p:cNvSpPr txBox="1"/>
            <p:nvPr/>
          </p:nvSpPr>
          <p:spPr>
            <a:xfrm>
              <a:off x="592836" y="2691765"/>
              <a:ext cx="11178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1996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742" y="3226118"/>
              <a:ext cx="3370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Trung Nguyên ra đời tại Buôn Ma Thuột</a:t>
              </a:r>
            </a:p>
          </p:txBody>
        </p:sp>
      </p:grpSp>
      <p:grpSp>
        <p:nvGrpSpPr>
          <p:cNvPr id="19" name="brand-stat-2"/>
          <p:cNvGrpSpPr/>
          <p:nvPr/>
        </p:nvGrpSpPr>
        <p:grpSpPr>
          <a:xfrm>
            <a:off x="592836" y="3739515"/>
            <a:ext cx="4525230" cy="798386"/>
            <a:chOff x="592836" y="3739515"/>
            <a:chExt cx="4525230" cy="798386"/>
          </a:xfrm>
        </p:grpSpPr>
        <p:sp>
          <p:nvSpPr>
            <p:cNvPr id="17" name="TextBox 17"/>
            <p:cNvSpPr txBox="1"/>
            <p:nvPr/>
          </p:nvSpPr>
          <p:spPr>
            <a:xfrm>
              <a:off x="592836" y="3739515"/>
              <a:ext cx="57567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80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2742" y="4273868"/>
              <a:ext cx="45153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quốc gia và vùng lãnh thổ có sản phẩm Trung Nguyên</a:t>
              </a:r>
            </a:p>
          </p:txBody>
        </p:sp>
      </p:grpSp>
      <p:grpSp>
        <p:nvGrpSpPr>
          <p:cNvPr id="22" name="brand-stat-3"/>
          <p:cNvGrpSpPr/>
          <p:nvPr/>
        </p:nvGrpSpPr>
        <p:grpSpPr>
          <a:xfrm>
            <a:off x="592836" y="4787265"/>
            <a:ext cx="5448471" cy="798386"/>
            <a:chOff x="592836" y="4787265"/>
            <a:chExt cx="5448471" cy="798386"/>
          </a:xfrm>
        </p:grpSpPr>
        <p:sp>
          <p:nvSpPr>
            <p:cNvPr id="20" name="TextBox 20"/>
            <p:cNvSpPr txBox="1"/>
            <p:nvPr/>
          </p:nvSpPr>
          <p:spPr>
            <a:xfrm>
              <a:off x="592836" y="4787265"/>
              <a:ext cx="31878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5,0 triệu bao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2742" y="5321618"/>
              <a:ext cx="5438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tiêu thụ nội địa dự báo niên vụ 2026/27, tăng từ 4,9 triệu bao</a:t>
              </a:r>
            </a:p>
          </p:txBody>
        </p:sp>
      </p:grpSp>
      <p:grpSp>
        <p:nvGrpSpPr>
          <p:cNvPr id="24" name="brand-note"/>
          <p:cNvGrpSpPr/>
          <p:nvPr/>
        </p:nvGrpSpPr>
        <p:grpSpPr>
          <a:xfrm>
            <a:off x="602742" y="5778818"/>
            <a:ext cx="4833013" cy="264033"/>
            <a:chOff x="602742" y="5778818"/>
            <a:chExt cx="4833013" cy="264033"/>
          </a:xfrm>
        </p:grpSpPr>
        <p:sp>
          <p:nvSpPr>
            <p:cNvPr id="23" name="TextBox 23"/>
            <p:cNvSpPr txBox="1"/>
            <p:nvPr/>
          </p:nvSpPr>
          <p:spPr>
            <a:xfrm>
              <a:off x="602742" y="5778818"/>
              <a:ext cx="4833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Số liệu Trung Nguyên là công bố trên báo chí năm 2022.</a:t>
              </a:r>
            </a:p>
          </p:txBody>
        </p:sp>
      </p:grpSp>
      <p:grpSp>
        <p:nvGrpSpPr>
          <p:cNvPr id="27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603504" y="6461760"/>
              <a:ext cx="8541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Báo Thanh Niên (30/11/2022); USDA FAS VM2026-0016 (20/5/2026). Ảnh: Jimmy Ramírez qua Pexels.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5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90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6014355" cy="865822"/>
            <a:chOff x="594360" y="444818"/>
            <a:chExt cx="6014355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078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4 · VĂN HOÁ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601435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Cách người Việt uống cà phê</a:t>
              </a:r>
            </a:p>
          </p:txBody>
        </p:sp>
      </p:grpSp>
      <p:grpSp>
        <p:nvGrpSpPr>
          <p:cNvPr id="7" name="chapter-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18185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12" name="culture-phin"/>
          <p:cNvGrpSpPr/>
          <p:nvPr/>
        </p:nvGrpSpPr>
        <p:grpSpPr>
          <a:xfrm>
            <a:off x="602742" y="1752600"/>
            <a:ext cx="5417058" cy="3185351"/>
            <a:chOff x="602742" y="1752600"/>
            <a:chExt cx="5417058" cy="3185351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rcRect l="0" t="10916" r="0" b="10915"/>
            <a:stretch>
              <a:fillRect/>
            </a:stretch>
          </p:blipFill>
          <p:spPr>
            <a:xfrm>
              <a:off x="609600" y="1752600"/>
              <a:ext cx="5410200" cy="281940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09600" y="3657600"/>
              <a:ext cx="5410200" cy="914400"/>
            </a:xfrm>
            <a:prstGeom prst="rect">
              <a:avLst/>
            </a:prstGeom>
            <a:gradFill>
              <a:gsLst>
                <a:gs pos="0">
                  <a:srgbClr val="1C1610">
                    <a:alpha val="80000"/>
                  </a:srgbClr>
                </a:gs>
                <a:gs pos="48000">
                  <a:srgbClr val="1C1610">
                    <a:alpha val="16000"/>
                  </a:srgbClr>
                </a:gs>
                <a:gs pos="100000">
                  <a:srgbClr val="1C1610">
                    <a:alpha val="0"/>
                  </a:srgbClr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156" y="4110990"/>
              <a:ext cx="33348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800" dirty="0">
                  <a:solidFill>
                    <a:srgbClr val="F7F3EC"/>
                  </a:solidFill>
                  <a:latin typeface="+mn-lt"/>
                  <a:ea typeface="+mn-ea"/>
                  <a:cs typeface="+mn-cs"/>
                </a:rPr>
                <a:t>Phin — dụng cụ pha đặc trưng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4673918"/>
              <a:ext cx="19024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Ảnh: FOX qua Pexels.</a:t>
              </a:r>
            </a:p>
          </p:txBody>
        </p:sp>
      </p:grpSp>
      <p:grpSp>
        <p:nvGrpSpPr>
          <p:cNvPr id="17" name="culture-egg"/>
          <p:cNvGrpSpPr/>
          <p:nvPr/>
        </p:nvGrpSpPr>
        <p:grpSpPr>
          <a:xfrm>
            <a:off x="6166104" y="1752600"/>
            <a:ext cx="5416296" cy="3381756"/>
            <a:chOff x="6166104" y="1752600"/>
            <a:chExt cx="5416296" cy="3381756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rcRect l="0" t="3678" r="0" b="3677"/>
            <a:stretch>
              <a:fillRect/>
            </a:stretch>
          </p:blipFill>
          <p:spPr>
            <a:xfrm>
              <a:off x="6172200" y="1752600"/>
              <a:ext cx="5410200" cy="2819400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6172200" y="3657600"/>
              <a:ext cx="5410200" cy="914400"/>
            </a:xfrm>
            <a:prstGeom prst="rect">
              <a:avLst/>
            </a:prstGeom>
            <a:gradFill>
              <a:gsLst>
                <a:gs pos="0">
                  <a:srgbClr val="1C1610">
                    <a:alpha val="80000"/>
                  </a:srgbClr>
                </a:gs>
                <a:gs pos="48000">
                  <a:srgbClr val="1C1610">
                    <a:alpha val="16000"/>
                  </a:srgbClr>
                </a:gs>
                <a:gs pos="100000">
                  <a:srgbClr val="1C1610">
                    <a:alpha val="0"/>
                  </a:srgbClr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29756" y="4110990"/>
              <a:ext cx="37484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800" dirty="0">
                  <a:solidFill>
                    <a:srgbClr val="F7F3EC"/>
                  </a:solidFill>
                  <a:latin typeface="+mn-lt"/>
                  <a:ea typeface="+mn-ea"/>
                  <a:cs typeface="+mn-cs"/>
                </a:rPr>
                <a:t>Cà phê trứng — Hà Nội, năm 1946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66104" y="4671060"/>
              <a:ext cx="35097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Ảnh: David McKelvey from Brisbane, Australia /</a:t>
              </a:r>
              <a:br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Wikimedia Commons / CC BY 2.0</a:t>
              </a:r>
            </a:p>
          </p:txBody>
        </p:sp>
      </p:grpSp>
      <p:grpSp>
        <p:nvGrpSpPr>
          <p:cNvPr id="20" name="culture-note"/>
          <p:cNvGrpSpPr/>
          <p:nvPr/>
        </p:nvGrpSpPr>
        <p:grpSpPr>
          <a:xfrm>
            <a:off x="598932" y="5164455"/>
            <a:ext cx="7968996" cy="1011746"/>
            <a:chOff x="598932" y="5164455"/>
            <a:chExt cx="7968996" cy="1011746"/>
          </a:xfrm>
        </p:grpSpPr>
        <p:sp>
          <p:nvSpPr>
            <p:cNvPr id="18" name="TextBox 18"/>
            <p:cNvSpPr txBox="1"/>
            <p:nvPr/>
          </p:nvSpPr>
          <p:spPr>
            <a:xfrm>
              <a:off x="598932" y="5164455"/>
              <a:ext cx="7968996" cy="753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21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Phin nhôm, cà phê sữa đá và cà phê trứng là ba cách người Việt</a:t>
              </a:r>
              <a:br/>
              <a:r>
                <a:rPr lang="vi-VN" sz="21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biến vị đắng đậm của Robusta thành thói quen hằng ngày.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2742" y="5912168"/>
              <a:ext cx="77535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Cách nhóm ba biểu hiện văn hoá này là tổng hợp của bài giảng; mốc 1946 dẫn nguồn ở dưới.</a:t>
              </a:r>
            </a:p>
          </p:txBody>
        </p:sp>
      </p:grpSp>
      <p:grpSp>
        <p:nvGrpSpPr>
          <p:cNvPr id="23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21" name="TextBox 21"/>
            <p:cNvSpPr txBox="1"/>
            <p:nvPr/>
          </p:nvSpPr>
          <p:spPr>
            <a:xfrm>
              <a:off x="603504" y="6461760"/>
              <a:ext cx="9900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Vietcetera, Lịch sử của cà phê trứng — ông Nguyễn Văn Giảng tạo ra món này năm 1946 và mở quán Café Giảng cùng năm.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6226037" cy="865822"/>
            <a:chOff x="594360" y="444818"/>
            <a:chExt cx="6226037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435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5 · THÁCH THỨC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622603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Bốn áp lực lên chuỗi cung ứng</a:t>
              </a:r>
            </a:p>
          </p:txBody>
        </p:sp>
      </p:grpSp>
      <p:grpSp>
        <p:nvGrpSpPr>
          <p:cNvPr id="7" name="chapter-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9372600" y="1247775"/>
              <a:ext cx="220980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13" name="pressure-climate"/>
          <p:cNvGrpSpPr/>
          <p:nvPr/>
        </p:nvGrpSpPr>
        <p:grpSpPr>
          <a:xfrm>
            <a:off x="609600" y="1752600"/>
            <a:ext cx="5495925" cy="1910334"/>
            <a:chOff x="609600" y="1752600"/>
            <a:chExt cx="5495925" cy="1910334"/>
          </a:xfrm>
        </p:grpSpPr>
        <p:sp>
          <p:nvSpPr>
            <p:cNvPr id="8" name="Line 8"/>
            <p:cNvSpPr/>
            <p:nvPr/>
          </p:nvSpPr>
          <p:spPr>
            <a:xfrm>
              <a:off x="609600" y="17526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14288">
              <a:solidFill>
                <a:srgbClr val="D9CDB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0" y="190500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9525">
              <a:solidFill>
                <a:srgbClr val="E4DACB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81710" y="2063972"/>
              <a:ext cx="246380" cy="297085"/>
            </a:xfrm>
            <a:custGeom>
              <a:avLst/>
              <a:gdLst/>
              <a:ahLst/>
              <a:cxnLst/>
              <a:rect l="l" t="t" r="r" b="b"/>
              <a:pathLst>
                <a:path w="246380" h="297085">
                  <a:moveTo>
                    <a:pt x="51784" y="263668"/>
                  </a:moveTo>
                  <a:cubicBezTo>
                    <a:pt x="93091" y="297085"/>
                    <a:pt x="153305" y="297085"/>
                    <a:pt x="194596" y="263668"/>
                  </a:cubicBezTo>
                  <a:cubicBezTo>
                    <a:pt x="235903" y="230251"/>
                    <a:pt x="246380" y="173054"/>
                    <a:pt x="219456" y="128000"/>
                  </a:cubicBezTo>
                  <a:lnTo>
                    <a:pt x="141828" y="12748"/>
                  </a:lnTo>
                  <a:cubicBezTo>
                    <a:pt x="135160" y="2826"/>
                    <a:pt x="121396" y="0"/>
                    <a:pt x="111093" y="6445"/>
                  </a:cubicBezTo>
                  <a:cubicBezTo>
                    <a:pt x="108507" y="8068"/>
                    <a:pt x="106290" y="10215"/>
                    <a:pt x="104585" y="12748"/>
                  </a:cubicBezTo>
                  <a:lnTo>
                    <a:pt x="26908" y="128000"/>
                  </a:lnTo>
                  <a:cubicBezTo>
                    <a:pt x="0" y="173054"/>
                    <a:pt x="10478" y="230251"/>
                    <a:pt x="51784" y="263668"/>
                  </a:cubicBezTo>
                </a:path>
              </a:pathLst>
            </a:custGeom>
            <a:noFill/>
            <a:ln w="31750">
              <a:solidFill>
                <a:srgbClr val="9C2B1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37132" y="2135505"/>
              <a:ext cx="22581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Khí hậu và nước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5256" y="2625090"/>
              <a:ext cx="441883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Lượng mưa tháng 1–3/2026 thấp hơn mức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bình thường; NOAA dự báo </a:t>
              </a:r>
              <a:r>
                <a:rPr lang="vi-VN" sz="1800" b="1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62%</a:t>
              </a: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 khả năng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El Niño xuất hiện trong 6–8/2026.</a:t>
              </a:r>
            </a:p>
          </p:txBody>
        </p:sp>
      </p:grpSp>
      <p:grpSp>
        <p:nvGrpSpPr>
          <p:cNvPr id="24" name="pressure-replant"/>
          <p:cNvGrpSpPr/>
          <p:nvPr/>
        </p:nvGrpSpPr>
        <p:grpSpPr>
          <a:xfrm>
            <a:off x="6096000" y="1752600"/>
            <a:ext cx="5486400" cy="1910334"/>
            <a:chOff x="6096000" y="1752600"/>
            <a:chExt cx="5486400" cy="1910334"/>
          </a:xfrm>
        </p:grpSpPr>
        <p:sp>
          <p:nvSpPr>
            <p:cNvPr id="14" name="Line 14"/>
            <p:cNvSpPr/>
            <p:nvPr/>
          </p:nvSpPr>
          <p:spPr>
            <a:xfrm>
              <a:off x="6096000" y="17526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14288">
              <a:solidFill>
                <a:srgbClr val="D9CDBA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6464300" y="2066925"/>
              <a:ext cx="254001" cy="285751"/>
              <a:chOff x="6464300" y="2066925"/>
              <a:chExt cx="254001" cy="28575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6464300" y="2098675"/>
                <a:ext cx="254001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254001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222250" y="0"/>
                    </a:lnTo>
                    <a:cubicBezTo>
                      <a:pt x="239786" y="0"/>
                      <a:pt x="254001" y="14215"/>
                      <a:pt x="254001" y="31750"/>
                    </a:cubicBezTo>
                    <a:lnTo>
                      <a:pt x="254001" y="222250"/>
                    </a:lnTo>
                    <a:cubicBezTo>
                      <a:pt x="254001" y="239786"/>
                      <a:pt x="239786" y="254001"/>
                      <a:pt x="222250" y="254001"/>
                    </a:cubicBezTo>
                    <a:lnTo>
                      <a:pt x="31750" y="254001"/>
                    </a:lnTo>
                    <a:cubicBezTo>
                      <a:pt x="14215" y="254001"/>
                      <a:pt x="0" y="239786"/>
                      <a:pt x="0" y="2222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654801" y="20669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527800" y="20669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464300" y="2193925"/>
                <a:ext cx="2540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9525">
                    <a:moveTo>
                      <a:pt x="0" y="0"/>
                    </a:move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575425" y="225742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591300" y="225742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6923532" y="2135505"/>
              <a:ext cx="17676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Vườn cây già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91656" y="2625090"/>
              <a:ext cx="4268534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Khoảng </a:t>
              </a:r>
              <a:r>
                <a:rPr lang="vi-VN" sz="1800" b="1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30%</a:t>
              </a: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 diện tích cà phê đã 20 năm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tuổi trở lên và cần tái canh hoặc cải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tạo, theo WASI.</a:t>
              </a:r>
            </a:p>
          </p:txBody>
        </p:sp>
      </p:grpSp>
      <p:grpSp>
        <p:nvGrpSpPr>
          <p:cNvPr id="36" name="pressure-cost"/>
          <p:cNvGrpSpPr/>
          <p:nvPr/>
        </p:nvGrpSpPr>
        <p:grpSpPr>
          <a:xfrm>
            <a:off x="609600" y="3733800"/>
            <a:ext cx="5495925" cy="1981200"/>
            <a:chOff x="609600" y="3733800"/>
            <a:chExt cx="5495925" cy="1981200"/>
          </a:xfrm>
        </p:grpSpPr>
        <p:sp>
          <p:nvSpPr>
            <p:cNvPr id="25" name="Line 25"/>
            <p:cNvSpPr/>
            <p:nvPr/>
          </p:nvSpPr>
          <p:spPr>
            <a:xfrm>
              <a:off x="609600" y="37338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14288">
              <a:solidFill>
                <a:srgbClr val="D9CDB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096000" y="388620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9525">
              <a:solidFill>
                <a:srgbClr val="E4DACB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09600" y="5705475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14288">
              <a:solidFill>
                <a:srgbClr val="D9CDBA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62025" y="4045998"/>
              <a:ext cx="285750" cy="287877"/>
              <a:chOff x="962025" y="4045998"/>
              <a:chExt cx="285750" cy="28787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57275" y="41751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47625"/>
                    </a:moveTo>
                    <a:cubicBezTo>
                      <a:pt x="0" y="73930"/>
                      <a:pt x="42640" y="95250"/>
                      <a:pt x="95250" y="95250"/>
                    </a:cubicBezTo>
                    <a:cubicBezTo>
                      <a:pt x="147860" y="95250"/>
                      <a:pt x="190500" y="73930"/>
                      <a:pt x="190500" y="47625"/>
                    </a:cubicBezTo>
                    <a:cubicBezTo>
                      <a:pt x="190500" y="21320"/>
                      <a:pt x="147860" y="0"/>
                      <a:pt x="95250" y="0"/>
                    </a:cubicBezTo>
                    <a:cubicBezTo>
                      <a:pt x="42640" y="0"/>
                      <a:pt x="0" y="21320"/>
                      <a:pt x="0" y="47625"/>
                    </a:cubicBez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57275" y="4222750"/>
                <a:ext cx="1905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1112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89789"/>
                      <a:pt x="42640" y="111125"/>
                      <a:pt x="95250" y="111125"/>
                    </a:cubicBezTo>
                    <a:cubicBezTo>
                      <a:pt x="147860" y="111125"/>
                      <a:pt x="190500" y="89789"/>
                      <a:pt x="190500" y="63500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62025" y="4045998"/>
                <a:ext cx="190500" cy="9950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9505">
                    <a:moveTo>
                      <a:pt x="0" y="49752"/>
                    </a:moveTo>
                    <a:cubicBezTo>
                      <a:pt x="0" y="66770"/>
                      <a:pt x="18161" y="82487"/>
                      <a:pt x="47625" y="90996"/>
                    </a:cubicBezTo>
                    <a:cubicBezTo>
                      <a:pt x="77089" y="99505"/>
                      <a:pt x="113411" y="99505"/>
                      <a:pt x="142875" y="90996"/>
                    </a:cubicBezTo>
                    <a:cubicBezTo>
                      <a:pt x="172339" y="82487"/>
                      <a:pt x="190500" y="66770"/>
                      <a:pt x="190500" y="49752"/>
                    </a:cubicBezTo>
                    <a:cubicBezTo>
                      <a:pt x="190500" y="32734"/>
                      <a:pt x="172339" y="17018"/>
                      <a:pt x="142875" y="8509"/>
                    </a:cubicBezTo>
                    <a:cubicBezTo>
                      <a:pt x="113411" y="0"/>
                      <a:pt x="77089" y="0"/>
                      <a:pt x="47625" y="8509"/>
                    </a:cubicBezTo>
                    <a:cubicBezTo>
                      <a:pt x="18161" y="17018"/>
                      <a:pt x="0" y="32734"/>
                      <a:pt x="0" y="49752"/>
                    </a:cubicBez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62025" y="4095750"/>
                <a:ext cx="31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190500">
                    <a:moveTo>
                      <a:pt x="0" y="0"/>
                    </a:moveTo>
                    <a:lnTo>
                      <a:pt x="0" y="158750"/>
                    </a:lnTo>
                    <a:cubicBezTo>
                      <a:pt x="0" y="172847"/>
                      <a:pt x="12256" y="181769"/>
                      <a:pt x="31750" y="190500"/>
                    </a:cubicBez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62025" y="41751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0"/>
                    </a:moveTo>
                    <a:cubicBezTo>
                      <a:pt x="0" y="14097"/>
                      <a:pt x="12256" y="23019"/>
                      <a:pt x="31750" y="31750"/>
                    </a:cubicBez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437132" y="4116705"/>
              <a:ext cx="23467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Chi phí sản xuất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5256" y="4606290"/>
              <a:ext cx="4417124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Phân bón và nhiên liệu tăng khoảng </a:t>
              </a:r>
              <a:r>
                <a:rPr lang="vi-VN" sz="1800" b="1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30%</a:t>
              </a: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,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chi phí lao động tăng </a:t>
              </a:r>
              <a:r>
                <a:rPr lang="vi-VN" sz="1800" b="1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33%</a:t>
              </a: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 so với năm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trước.</a:t>
              </a:r>
            </a:p>
          </p:txBody>
        </p:sp>
      </p:grpSp>
      <p:grpSp>
        <p:nvGrpSpPr>
          <p:cNvPr id="48" name="pressure-eudr"/>
          <p:cNvGrpSpPr/>
          <p:nvPr/>
        </p:nvGrpSpPr>
        <p:grpSpPr>
          <a:xfrm>
            <a:off x="6096000" y="3733800"/>
            <a:ext cx="5486400" cy="1981200"/>
            <a:chOff x="6096000" y="3733800"/>
            <a:chExt cx="5486400" cy="1981200"/>
          </a:xfrm>
        </p:grpSpPr>
        <p:sp>
          <p:nvSpPr>
            <p:cNvPr id="37" name="Line 37"/>
            <p:cNvSpPr/>
            <p:nvPr/>
          </p:nvSpPr>
          <p:spPr>
            <a:xfrm>
              <a:off x="6096000" y="37338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14288">
              <a:solidFill>
                <a:srgbClr val="D9CDBA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6096000" y="5705475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14288">
              <a:solidFill>
                <a:srgbClr val="D9CDBA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431703" y="4044114"/>
              <a:ext cx="318347" cy="289762"/>
              <a:chOff x="6431703" y="4044114"/>
              <a:chExt cx="318347" cy="289762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607175" y="4079875"/>
                <a:ext cx="14287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06375">
                    <a:moveTo>
                      <a:pt x="47625" y="0"/>
                    </a:moveTo>
                    <a:lnTo>
                      <a:pt x="95250" y="47625"/>
                    </a:lnTo>
                    <a:lnTo>
                      <a:pt x="63500" y="63500"/>
                    </a:lnTo>
                    <a:lnTo>
                      <a:pt x="127000" y="127000"/>
                    </a:lnTo>
                    <a:lnTo>
                      <a:pt x="79375" y="142875"/>
                    </a:lnTo>
                    <a:lnTo>
                      <a:pt x="142875" y="206375"/>
                    </a:ln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638925" y="4286251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47625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496050" y="41751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3175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27800" y="415925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3175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27800" y="41275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206375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431703" y="4044114"/>
                <a:ext cx="192190" cy="210469"/>
              </a:xfrm>
              <a:custGeom>
                <a:avLst/>
                <a:gdLst/>
                <a:ahLst/>
                <a:cxnLst/>
                <a:rect l="l" t="t" r="r" b="b"/>
                <a:pathLst>
                  <a:path w="192190" h="210469">
                    <a:moveTo>
                      <a:pt x="61553" y="210386"/>
                    </a:moveTo>
                    <a:cubicBezTo>
                      <a:pt x="47493" y="209563"/>
                      <a:pt x="34518" y="202559"/>
                      <a:pt x="26116" y="191255"/>
                    </a:cubicBezTo>
                    <a:cubicBezTo>
                      <a:pt x="17713" y="179952"/>
                      <a:pt x="14745" y="165509"/>
                      <a:pt x="18008" y="151807"/>
                    </a:cubicBezTo>
                    <a:cubicBezTo>
                      <a:pt x="6335" y="142087"/>
                      <a:pt x="0" y="127381"/>
                      <a:pt x="954" y="112221"/>
                    </a:cubicBezTo>
                    <a:cubicBezTo>
                      <a:pt x="1907" y="97061"/>
                      <a:pt x="10035" y="83265"/>
                      <a:pt x="22834" y="75083"/>
                    </a:cubicBezTo>
                    <a:cubicBezTo>
                      <a:pt x="11404" y="54778"/>
                      <a:pt x="16345" y="29184"/>
                      <a:pt x="34511" y="14592"/>
                    </a:cubicBezTo>
                    <a:cubicBezTo>
                      <a:pt x="52678" y="0"/>
                      <a:pt x="78735" y="695"/>
                      <a:pt x="96097" y="16235"/>
                    </a:cubicBezTo>
                    <a:cubicBezTo>
                      <a:pt x="113463" y="720"/>
                      <a:pt x="139502" y="39"/>
                      <a:pt x="157656" y="14624"/>
                    </a:cubicBezTo>
                    <a:cubicBezTo>
                      <a:pt x="175809" y="29209"/>
                      <a:pt x="180754" y="54783"/>
                      <a:pt x="169345" y="75083"/>
                    </a:cubicBezTo>
                    <a:cubicBezTo>
                      <a:pt x="182146" y="83262"/>
                      <a:pt x="190277" y="97057"/>
                      <a:pt x="191234" y="112217"/>
                    </a:cubicBezTo>
                    <a:cubicBezTo>
                      <a:pt x="192190" y="127377"/>
                      <a:pt x="185858" y="142084"/>
                      <a:pt x="174187" y="151807"/>
                    </a:cubicBezTo>
                    <a:cubicBezTo>
                      <a:pt x="177563" y="165985"/>
                      <a:pt x="174262" y="180927"/>
                      <a:pt x="165228" y="192363"/>
                    </a:cubicBezTo>
                    <a:cubicBezTo>
                      <a:pt x="156194" y="203799"/>
                      <a:pt x="142421" y="210469"/>
                      <a:pt x="127847" y="210466"/>
                    </a:cubicBezTo>
                    <a:lnTo>
                      <a:pt x="64347" y="210466"/>
                    </a:lnTo>
                    <a:lnTo>
                      <a:pt x="61553" y="210386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923532" y="4116705"/>
              <a:ext cx="21069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Quy định EUDR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91656" y="4606290"/>
              <a:ext cx="437311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Quy định chống mất rừng của EU có hiệu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lực từ </a:t>
              </a:r>
              <a:r>
                <a:rPr lang="vi-VN" sz="1800" b="1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tháng 12/2026</a:t>
              </a: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; khoảng </a:t>
              </a:r>
              <a:r>
                <a:rPr lang="vi-VN" sz="1800" b="1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40%</a:t>
              </a: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 diện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tích đã có chứng nhận bền vững.</a:t>
              </a:r>
            </a:p>
          </p:txBody>
        </p:sp>
      </p:grpSp>
      <p:grpSp>
        <p:nvGrpSpPr>
          <p:cNvPr id="50" name="challenge-note"/>
          <p:cNvGrpSpPr/>
          <p:nvPr/>
        </p:nvGrpSpPr>
        <p:grpSpPr>
          <a:xfrm>
            <a:off x="602742" y="5969318"/>
            <a:ext cx="10879486" cy="264033"/>
            <a:chOff x="602742" y="5969318"/>
            <a:chExt cx="10879486" cy="264033"/>
          </a:xfrm>
        </p:grpSpPr>
        <p:sp>
          <p:nvSpPr>
            <p:cNvPr id="49" name="TextBox 49"/>
            <p:cNvSpPr txBox="1"/>
            <p:nvPr/>
          </p:nvSpPr>
          <p:spPr>
            <a:xfrm>
              <a:off x="602742" y="5969318"/>
              <a:ext cx="10879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Hơn 600.000 hộ nông dân nhỏ tham gia sản xuất; nhiều hộ từng chuyển một phần diện tích sang sầu riêng khi giá cà phê thấp.</a:t>
              </a:r>
            </a:p>
          </p:txBody>
        </p:sp>
      </p:grpSp>
      <p:grpSp>
        <p:nvGrpSpPr>
          <p:cNvPr id="53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51" name="TextBox 51"/>
            <p:cNvSpPr txBox="1"/>
            <p:nvPr/>
          </p:nvSpPr>
          <p:spPr>
            <a:xfrm>
              <a:off x="603504" y="6461760"/>
              <a:ext cx="75662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USDA FAS, Coffee Annual Vietnam VM2026-0016 (20/5/2026), dẫn WASI, NOAA và GADAS.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95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8604352" cy="865822"/>
            <a:chOff x="594360" y="444818"/>
            <a:chExt cx="8604352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3849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5 · TRIỂN VỌNG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860435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Triển vọng: niên vụ lớn nhất, câu hỏi cũ</a:t>
              </a:r>
            </a:p>
          </p:txBody>
        </p:sp>
      </p:grpSp>
      <p:grpSp>
        <p:nvGrpSpPr>
          <p:cNvPr id="7" name="chapter-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9372600" y="1247775"/>
              <a:ext cx="220980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9" name="outlook-lead"/>
          <p:cNvGrpSpPr/>
          <p:nvPr/>
        </p:nvGrpSpPr>
        <p:grpSpPr>
          <a:xfrm>
            <a:off x="598932" y="1754505"/>
            <a:ext cx="9555861" cy="753618"/>
            <a:chOff x="598932" y="1754505"/>
            <a:chExt cx="9555861" cy="753618"/>
          </a:xfrm>
        </p:grpSpPr>
        <p:sp>
          <p:nvSpPr>
            <p:cNvPr id="8" name="TextBox 8"/>
            <p:cNvSpPr txBox="1"/>
            <p:nvPr/>
          </p:nvSpPr>
          <p:spPr>
            <a:xfrm>
              <a:off x="598932" y="1754505"/>
              <a:ext cx="9555861" cy="753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21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Niên vụ 2026/27 được dự báo là niên vụ lớn nhất từ trước tới nay của cà phê</a:t>
              </a:r>
              <a:br/>
              <a:r>
                <a:rPr lang="vi-VN" sz="21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Việt Nam — nhưng phần giá trị giữ lại vẫn là câu hỏi mở.</a:t>
              </a:r>
            </a:p>
          </p:txBody>
        </p:sp>
      </p:grpSp>
      <p:grpSp>
        <p:nvGrpSpPr>
          <p:cNvPr id="12" name="outlook-stat-1"/>
          <p:cNvGrpSpPr/>
          <p:nvPr/>
        </p:nvGrpSpPr>
        <p:grpSpPr>
          <a:xfrm>
            <a:off x="592836" y="2939415"/>
            <a:ext cx="3058630" cy="760286"/>
            <a:chOff x="592836" y="2939415"/>
            <a:chExt cx="3058630" cy="760286"/>
          </a:xfrm>
        </p:grpSpPr>
        <p:sp>
          <p:nvSpPr>
            <p:cNvPr id="10" name="TextBox 10"/>
            <p:cNvSpPr txBox="1"/>
            <p:nvPr/>
          </p:nvSpPr>
          <p:spPr>
            <a:xfrm>
              <a:off x="592836" y="2939415"/>
              <a:ext cx="11178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7A3B22"/>
                  </a:solidFill>
                  <a:latin typeface="+mj-lt"/>
                  <a:ea typeface="+mj-ea"/>
                  <a:cs typeface="+mj-cs"/>
                </a:rPr>
                <a:t>32,5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3435668"/>
              <a:ext cx="3048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triệu bao sản lượng dự báo 2026/27</a:t>
              </a:r>
            </a:p>
          </p:txBody>
        </p:sp>
      </p:grpSp>
      <p:grpSp>
        <p:nvGrpSpPr>
          <p:cNvPr id="15" name="outlook-stat-2"/>
          <p:cNvGrpSpPr/>
          <p:nvPr/>
        </p:nvGrpSpPr>
        <p:grpSpPr>
          <a:xfrm>
            <a:off x="4326636" y="2939415"/>
            <a:ext cx="3104064" cy="760286"/>
            <a:chOff x="4326636" y="2939415"/>
            <a:chExt cx="3104064" cy="760286"/>
          </a:xfrm>
        </p:grpSpPr>
        <p:sp>
          <p:nvSpPr>
            <p:cNvPr id="13" name="TextBox 13"/>
            <p:cNvSpPr txBox="1"/>
            <p:nvPr/>
          </p:nvSpPr>
          <p:spPr>
            <a:xfrm>
              <a:off x="4326636" y="2939415"/>
              <a:ext cx="138889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7A3B22"/>
                  </a:solidFill>
                  <a:latin typeface="+mj-lt"/>
                  <a:ea typeface="+mj-ea"/>
                  <a:cs typeface="+mj-cs"/>
                </a:rPr>
                <a:t>28,95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6542" y="3435668"/>
              <a:ext cx="3094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triệu bao xuất khẩu dự báo 2026/27</a:t>
              </a:r>
            </a:p>
          </p:txBody>
        </p:sp>
      </p:grpSp>
      <p:grpSp>
        <p:nvGrpSpPr>
          <p:cNvPr id="18" name="outlook-stat-3"/>
          <p:cNvGrpSpPr/>
          <p:nvPr/>
        </p:nvGrpSpPr>
        <p:grpSpPr>
          <a:xfrm>
            <a:off x="8060436" y="2939415"/>
            <a:ext cx="2604287" cy="760286"/>
            <a:chOff x="8060436" y="2939415"/>
            <a:chExt cx="2604287" cy="760286"/>
          </a:xfrm>
        </p:grpSpPr>
        <p:sp>
          <p:nvSpPr>
            <p:cNvPr id="16" name="TextBox 16"/>
            <p:cNvSpPr txBox="1"/>
            <p:nvPr/>
          </p:nvSpPr>
          <p:spPr>
            <a:xfrm>
              <a:off x="8060436" y="2939415"/>
              <a:ext cx="8467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7A3B22"/>
                  </a:solidFill>
                  <a:latin typeface="+mj-lt"/>
                  <a:ea typeface="+mj-ea"/>
                  <a:cs typeface="+mj-cs"/>
                </a:rPr>
                <a:t>5,0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70342" y="3435668"/>
              <a:ext cx="2594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triệu bao tiêu thụ trong nước</a:t>
              </a:r>
            </a:p>
          </p:txBody>
        </p:sp>
      </p:grpSp>
      <p:grpSp>
        <p:nvGrpSpPr>
          <p:cNvPr id="20" name="outlook-world"/>
          <p:cNvGrpSpPr/>
          <p:nvPr/>
        </p:nvGrpSpPr>
        <p:grpSpPr>
          <a:xfrm>
            <a:off x="602742" y="4045268"/>
            <a:ext cx="6665976" cy="511683"/>
            <a:chOff x="602742" y="4045268"/>
            <a:chExt cx="6665976" cy="511683"/>
          </a:xfrm>
        </p:grpSpPr>
        <p:sp>
          <p:nvSpPr>
            <p:cNvPr id="19" name="TextBox 19"/>
            <p:cNvSpPr txBox="1"/>
            <p:nvPr/>
          </p:nvSpPr>
          <p:spPr>
            <a:xfrm>
              <a:off x="602742" y="4045268"/>
              <a:ext cx="666597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Sản lượng cà phê thế giới niên vụ 2026/27 được dự báo đạt kỷ lục 189,7 triệu bao;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Việt Nam đứng thứ hai sau Brazil (71,9 triệu bao).</a:t>
              </a:r>
            </a:p>
          </p:txBody>
        </p:sp>
      </p:grpSp>
      <p:grpSp>
        <p:nvGrpSpPr>
          <p:cNvPr id="24" name="outlook-takeaway"/>
          <p:cNvGrpSpPr/>
          <p:nvPr/>
        </p:nvGrpSpPr>
        <p:grpSpPr>
          <a:xfrm>
            <a:off x="609600" y="4705350"/>
            <a:ext cx="10972800" cy="1307973"/>
            <a:chOff x="609600" y="4705350"/>
            <a:chExt cx="10972800" cy="1307973"/>
          </a:xfrm>
        </p:grpSpPr>
        <p:sp>
          <p:nvSpPr>
            <p:cNvPr id="21" name="Freeform 21"/>
            <p:cNvSpPr/>
            <p:nvPr/>
          </p:nvSpPr>
          <p:spPr>
            <a:xfrm>
              <a:off x="609600" y="4705350"/>
              <a:ext cx="10972800" cy="1295400"/>
            </a:xfrm>
            <a:prstGeom prst="snip2DiagRect">
              <a:avLst/>
            </a:prstGeom>
            <a:solidFill>
              <a:srgbClr val="7A3B2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7542" y="4902518"/>
              <a:ext cx="9998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E7D5BF"/>
                  </a:solidFill>
                  <a:latin typeface="+mn-lt"/>
                  <a:ea typeface="+mn-ea"/>
                  <a:cs typeface="+mn-cs"/>
                </a:rPr>
                <a:t>KẾT LUẬN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3732" y="5259705"/>
              <a:ext cx="7795641" cy="753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2100" dirty="0">
                  <a:solidFill>
                    <a:srgbClr val="F7F3EC"/>
                  </a:solidFill>
                  <a:latin typeface="+mn-lt"/>
                  <a:ea typeface="+mn-ea"/>
                  <a:cs typeface="+mn-cs"/>
                </a:rPr>
                <a:t>Sản lượng đã ở đỉnh. Phần việc còn lại là giữ nhiều hơn giá trị</a:t>
              </a:r>
              <a:br/>
              <a:r>
                <a:rPr lang="vi-VN" sz="2100" dirty="0">
                  <a:solidFill>
                    <a:srgbClr val="F7F3EC"/>
                  </a:solidFill>
                  <a:latin typeface="+mn-lt"/>
                  <a:ea typeface="+mn-ea"/>
                  <a:cs typeface="+mn-cs"/>
                </a:rPr>
                <a:t>ở trong nước: chế biến sâu, chất lượng và thương hiệu.</a:t>
              </a:r>
            </a:p>
          </p:txBody>
        </p:sp>
      </p:grpSp>
      <p:grpSp>
        <p:nvGrpSpPr>
          <p:cNvPr id="27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603504" y="6461760"/>
              <a:ext cx="89119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USDA FAS (VM2026-0016; World Markets and Trade 7/2026); VICOFA; UBND tỉnh Đắk Lắk; Báo Thanh Niên.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85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75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vietnam_coffee_vi_quick">
  <a:themeElements>
    <a:clrScheme name="ppt169_vietnam_coffee_vi_qui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169_vietnam_coffee_vi_quick">
      <a:maj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vietnam_coffee_vi_qui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vi-VN</dc:language>
  <cp:lastModifiedBy/>
  <cp:revision>1</cp:revision>
  <dcterms:created xsi:type="dcterms:W3CDTF">2026-09-12T04:56:01Z</dcterms:created>
  <dcterms:modified xsi:type="dcterms:W3CDTF">2026-09-12T04:56:01Z</dcterms:modified>
  <cp:category/>
  <cp:contentStatus/>
</cp:coreProperties>
</file>