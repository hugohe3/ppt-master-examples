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16x9"/>
  <p:notesSz cx="6858000" cy="9144000"/>
  <p:defaultTextStyle>
    <a:defPPr>
      <a:defRPr lang="vi-V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169_vietnam_coffee_vi_qui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vi-VN" smtClean="0"/>
              <a:t>1/27/13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169_vietnam_coffee_vi_quic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vi-VN" smtClean="0"/>
              <a:t>1/27/13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vi-VN" smtClean="0"/>
              <a:t>‹#›</a:t>
            </a:fld>
            <a:endParaRPr lang="vi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5fdaf32850c0db7.jp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44d4b890d4d2df04.jpg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00b93b646018a92.jpg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2e844a474b7d6f0.jpg"/>
  <Relationship Id="rId3" Type="http://schemas.openxmlformats.org/officeDocument/2006/relationships/image" Target="../media/image_3e46c1e0a3f28e80.jpg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cover-image"/>
          <p:cNvGrpSpPr/>
          <p:nvPr/>
        </p:nvGrpSpPr>
        <p:grpSpPr>
          <a:xfrm>
            <a:off x="0" y="0"/>
            <a:ext cx="12192000" cy="4000500"/>
            <a:chOff x="0" y="0"/>
            <a:chExt cx="12192000" cy="40005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0" t="25873" r="0" b="25873"/>
            <a:stretch>
              <a:fillRect/>
            </a:stretch>
          </p:blipFill>
          <p:spPr>
            <a:xfrm>
              <a:off x="0" y="0"/>
              <a:ext cx="12192000" cy="3924300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0" y="0"/>
              <a:ext cx="12192000" cy="3924300"/>
            </a:xfrm>
            <a:prstGeom prst="rect">
              <a:avLst/>
            </a:prstGeom>
            <a:gradFill>
              <a:gsLst>
                <a:gs pos="0">
                  <a:srgbClr val="1C1610">
                    <a:alpha val="78000"/>
                  </a:srgbClr>
                </a:gs>
                <a:gs pos="44000">
                  <a:srgbClr val="1C1610">
                    <a:alpha val="26000"/>
                  </a:srgbClr>
                </a:gs>
                <a:gs pos="100000">
                  <a:srgbClr val="1C1610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3924300"/>
              <a:ext cx="12192000" cy="76200"/>
            </a:xfrm>
            <a:prstGeom prst="rect">
              <a:avLst/>
            </a:prstGeom>
            <a:solidFill>
              <a:srgbClr val="9C2B1B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02742" y="616268"/>
              <a:ext cx="46452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F7F3EC"/>
                  </a:solidFill>
                  <a:latin typeface="+mn-lt"/>
                  <a:ea typeface="+mn-ea"/>
                  <a:cs typeface="+mn-cs"/>
                </a:rPr>
                <a:t>BÀI GIẢNG CHUYÊN ĐỀ · NGÀNH HÀNG CÀ PHÊ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2742" y="978218"/>
              <a:ext cx="3813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EDE2D2"/>
                  </a:solidFill>
                  <a:latin typeface="+mn-lt"/>
                  <a:ea typeface="+mn-ea"/>
                  <a:cs typeface="+mn-cs"/>
                </a:rPr>
                <a:t>Quả cà phê chín tại vùng cao nguyên Đà Lạt</a:t>
              </a:r>
            </a:p>
          </p:txBody>
        </p:sp>
      </p:grpSp>
      <p:grpSp>
        <p:nvGrpSpPr>
          <p:cNvPr id="11" name="cover-title"/>
          <p:cNvGrpSpPr/>
          <p:nvPr/>
        </p:nvGrpSpPr>
        <p:grpSpPr>
          <a:xfrm>
            <a:off x="590550" y="4331018"/>
            <a:ext cx="5510064" cy="1447799"/>
            <a:chOff x="590550" y="4331018"/>
            <a:chExt cx="5510064" cy="1447799"/>
          </a:xfrm>
        </p:grpSpPr>
        <p:sp>
          <p:nvSpPr>
            <p:cNvPr id="8" name="TextBox 8"/>
            <p:cNvSpPr txBox="1"/>
            <p:nvPr/>
          </p:nvSpPr>
          <p:spPr>
            <a:xfrm>
              <a:off x="602742" y="4331018"/>
              <a:ext cx="29452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TỪ TÂY NGUYÊN RA THẾ GIỚI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0550" y="4706302"/>
              <a:ext cx="5510064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4050" b="1" dirty="0">
                  <a:solidFill>
                    <a:srgbClr val="221C15"/>
                  </a:solidFill>
                  <a:latin typeface="+mj-lt"/>
                  <a:ea typeface="+mj-ea"/>
                  <a:cs typeface="+mj-cs"/>
                </a:rPr>
                <a:t>CÀ PHÊ VIỆT NAM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8170" y="5338762"/>
              <a:ext cx="465246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Một ngành hàng đọc bằng số liệu</a:t>
              </a:r>
            </a:p>
          </p:txBody>
        </p:sp>
      </p:grpSp>
      <p:grpSp>
        <p:nvGrpSpPr>
          <p:cNvPr id="19" name="cover-stats"/>
          <p:cNvGrpSpPr/>
          <p:nvPr/>
        </p:nvGrpSpPr>
        <p:grpSpPr>
          <a:xfrm>
            <a:off x="7124700" y="4248150"/>
            <a:ext cx="3887343" cy="2137029"/>
            <a:chOff x="7124700" y="4248150"/>
            <a:chExt cx="3887343" cy="2137029"/>
          </a:xfrm>
        </p:grpSpPr>
        <p:sp>
          <p:nvSpPr>
            <p:cNvPr id="12" name="Line 12"/>
            <p:cNvSpPr/>
            <p:nvPr/>
          </p:nvSpPr>
          <p:spPr>
            <a:xfrm>
              <a:off x="7124700" y="4248150"/>
              <a:ext cx="9525" cy="2000250"/>
            </a:xfrm>
            <a:custGeom>
              <a:avLst/>
              <a:gdLst/>
              <a:ahLst/>
              <a:cxnLst/>
              <a:rect l="l" t="t" r="r" b="b"/>
              <a:pathLst>
                <a:path w="9525" h="2000250">
                  <a:moveTo>
                    <a:pt x="0" y="0"/>
                  </a:moveTo>
                  <a:lnTo>
                    <a:pt x="0" y="2000250"/>
                  </a:lnTo>
                </a:path>
              </a:pathLst>
            </a:custGeom>
            <a:noFill/>
            <a:ln w="19050">
              <a:solidFill>
                <a:srgbClr val="D9CDB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909590" y="4253865"/>
              <a:ext cx="111782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3300" b="1" dirty="0">
                  <a:solidFill>
                    <a:srgbClr val="9C2B1B"/>
                  </a:solidFill>
                  <a:latin typeface="+mj-lt"/>
                  <a:ea typeface="+mj-ea"/>
                  <a:cs typeface="+mj-cs"/>
                </a:rPr>
                <a:t>1857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232392" y="4311968"/>
              <a:ext cx="177965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người Pháp đưa cà phê</a:t>
              </a:r>
              <a:br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du nhập vào Việt Nam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73721" y="4996815"/>
              <a:ext cx="135369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3300" b="1" dirty="0">
                  <a:solidFill>
                    <a:srgbClr val="9C2B1B"/>
                  </a:solidFill>
                  <a:latin typeface="+mj-lt"/>
                  <a:ea typeface="+mj-ea"/>
                  <a:cs typeface="+mj-cs"/>
                </a:rPr>
                <a:t>Thứ 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232392" y="5054918"/>
              <a:ext cx="169392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thế giới về sản lượng</a:t>
              </a:r>
              <a:br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niên vụ 2025/26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09590" y="5739765"/>
              <a:ext cx="111782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3300" b="1" dirty="0">
                  <a:solidFill>
                    <a:srgbClr val="9C2B1B"/>
                  </a:solidFill>
                  <a:latin typeface="+mj-lt"/>
                  <a:ea typeface="+mj-ea"/>
                  <a:cs typeface="+mj-cs"/>
                </a:rPr>
                <a:t>32,5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232392" y="5797868"/>
              <a:ext cx="168535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triệu bao dự báo cho</a:t>
              </a:r>
              <a:br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niên vụ 2026/27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03504" y="6461760"/>
            <a:ext cx="634625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-VN" sz="1200" dirty="0">
                <a:solidFill>
                  <a:srgbClr val="6B5B4A"/>
                </a:solidFill>
                <a:latin typeface="+mn-lt"/>
                <a:ea typeface="+mn-ea"/>
                <a:cs typeface="+mn-cs"/>
              </a:rPr>
              <a:t>Nguồn: USDA FAS (2026); Báo Thanh Niên (2022). Ảnh: 1500m Coffee qua Pexels.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4360" y="444818"/>
            <a:ext cx="5688330" cy="865822"/>
            <a:chOff x="594360" y="444818"/>
            <a:chExt cx="5688330" cy="86582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44818"/>
              <a:ext cx="21204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LỘ TRÌNH BÀI GIẢNG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3900"/>
              <a:ext cx="568833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000" b="1" dirty="0">
                  <a:solidFill>
                    <a:srgbClr val="221C15"/>
                  </a:solidFill>
                  <a:latin typeface="+mj-lt"/>
                  <a:ea typeface="+mj-ea"/>
                  <a:cs typeface="+mj-cs"/>
                </a:rPr>
                <a:t>Bài giảng đi qua năm chặng</a:t>
              </a:r>
            </a:p>
          </p:txBody>
        </p:sp>
      </p:grpSp>
      <p:grpSp>
        <p:nvGrpSpPr>
          <p:cNvPr id="12" name="chapter-rail"/>
          <p:cNvGrpSpPr/>
          <p:nvPr/>
        </p:nvGrpSpPr>
        <p:grpSpPr>
          <a:xfrm>
            <a:off x="609600" y="1238250"/>
            <a:ext cx="10982325" cy="76200"/>
            <a:chOff x="609600" y="1238250"/>
            <a:chExt cx="10982325" cy="76200"/>
          </a:xfrm>
        </p:grpSpPr>
        <p:sp>
          <p:nvSpPr>
            <p:cNvPr id="5" name="Line 5"/>
            <p:cNvSpPr/>
            <p:nvPr/>
          </p:nvSpPr>
          <p:spPr>
            <a:xfrm>
              <a:off x="609600" y="1276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9CDBA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09600" y="123825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19050">
              <a:solidFill>
                <a:srgbClr val="B8A88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2800350" y="123825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19050">
              <a:solidFill>
                <a:srgbClr val="B8A88F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4991100" y="123825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19050">
              <a:solidFill>
                <a:srgbClr val="B8A88F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7181850" y="123825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19050">
              <a:solidFill>
                <a:srgbClr val="B8A88F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372600" y="123825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19050">
              <a:solidFill>
                <a:srgbClr val="B8A88F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1582400" y="123825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19050">
              <a:solidFill>
                <a:srgbClr val="B8A88F"/>
              </a:solidFill>
            </a:ln>
          </p:spPr>
        </p:sp>
      </p:grpSp>
      <p:grpSp>
        <p:nvGrpSpPr>
          <p:cNvPr id="17" name="stage-1"/>
          <p:cNvGrpSpPr/>
          <p:nvPr/>
        </p:nvGrpSpPr>
        <p:grpSpPr>
          <a:xfrm>
            <a:off x="609600" y="1866900"/>
            <a:ext cx="2190750" cy="1503045"/>
            <a:chOff x="609600" y="1866900"/>
            <a:chExt cx="2190750" cy="1503045"/>
          </a:xfrm>
        </p:grpSpPr>
        <p:sp>
          <p:nvSpPr>
            <p:cNvPr id="13" name="Freeform 13"/>
            <p:cNvSpPr/>
            <p:nvPr/>
          </p:nvSpPr>
          <p:spPr>
            <a:xfrm>
              <a:off x="609600" y="1866900"/>
              <a:ext cx="2190750" cy="685800"/>
            </a:xfrm>
            <a:prstGeom prst="chevron">
              <a:avLst/>
            </a:prstGeom>
            <a:solidFill>
              <a:srgbClr val="9C2B1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724124" y="1996440"/>
              <a:ext cx="30460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3300" b="1" dirty="0">
                  <a:solidFill>
                    <a:srgbClr val="F7F3EC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07956" y="2726055"/>
              <a:ext cx="9369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221C15"/>
                  </a:solidFill>
                  <a:latin typeface="+mn-lt"/>
                  <a:ea typeface="+mn-ea"/>
                  <a:cs typeface="+mn-cs"/>
                </a:rPr>
                <a:t>Gốc rễ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52918" y="3076575"/>
              <a:ext cx="12470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5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1857 và 1914</a:t>
              </a:r>
            </a:p>
          </p:txBody>
        </p:sp>
      </p:grpSp>
      <p:grpSp>
        <p:nvGrpSpPr>
          <p:cNvPr id="22" name="stage-2"/>
          <p:cNvGrpSpPr/>
          <p:nvPr/>
        </p:nvGrpSpPr>
        <p:grpSpPr>
          <a:xfrm>
            <a:off x="2800350" y="1866900"/>
            <a:ext cx="2190750" cy="1503045"/>
            <a:chOff x="2800350" y="1866900"/>
            <a:chExt cx="2190750" cy="1503045"/>
          </a:xfrm>
        </p:grpSpPr>
        <p:sp>
          <p:nvSpPr>
            <p:cNvPr id="18" name="Freeform 18"/>
            <p:cNvSpPr/>
            <p:nvPr/>
          </p:nvSpPr>
          <p:spPr>
            <a:xfrm>
              <a:off x="2800350" y="1866900"/>
              <a:ext cx="2190750" cy="685800"/>
            </a:xfrm>
            <a:prstGeom prst="chevron">
              <a:avLst/>
            </a:prstGeom>
            <a:solidFill>
              <a:srgbClr val="EFE7DA"/>
            </a:solidFill>
            <a:ln w="14288">
              <a:solidFill>
                <a:srgbClr val="D9CDB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914874" y="1996440"/>
              <a:ext cx="30460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3300" b="1" dirty="0">
                  <a:solidFill>
                    <a:srgbClr val="9C2B1B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272409" y="2726055"/>
              <a:ext cx="15895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221C15"/>
                  </a:solidFill>
                  <a:latin typeface="+mn-lt"/>
                  <a:ea typeface="+mn-ea"/>
                  <a:cs typeface="+mn-cs"/>
                </a:rPr>
                <a:t>Vùng trồng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270262" y="3076575"/>
              <a:ext cx="15938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5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vùng Tây Nguyên</a:t>
              </a:r>
            </a:p>
          </p:txBody>
        </p:sp>
      </p:grpSp>
      <p:grpSp>
        <p:nvGrpSpPr>
          <p:cNvPr id="27" name="stage-3"/>
          <p:cNvGrpSpPr/>
          <p:nvPr/>
        </p:nvGrpSpPr>
        <p:grpSpPr>
          <a:xfrm>
            <a:off x="4991100" y="1866900"/>
            <a:ext cx="2190750" cy="1503045"/>
            <a:chOff x="4991100" y="1866900"/>
            <a:chExt cx="2190750" cy="1503045"/>
          </a:xfrm>
        </p:grpSpPr>
        <p:sp>
          <p:nvSpPr>
            <p:cNvPr id="23" name="Freeform 23"/>
            <p:cNvSpPr/>
            <p:nvPr/>
          </p:nvSpPr>
          <p:spPr>
            <a:xfrm>
              <a:off x="4991100" y="1866900"/>
              <a:ext cx="2190750" cy="685800"/>
            </a:xfrm>
            <a:prstGeom prst="chevron">
              <a:avLst/>
            </a:prstGeom>
            <a:solidFill>
              <a:srgbClr val="EFE7DA"/>
            </a:solidFill>
            <a:ln w="14288">
              <a:solidFill>
                <a:srgbClr val="D9CDB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105624" y="1996440"/>
              <a:ext cx="30460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3300" b="1" dirty="0">
                  <a:solidFill>
                    <a:srgbClr val="9C2B1B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44754" y="2726055"/>
              <a:ext cx="14263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221C15"/>
                  </a:solidFill>
                  <a:latin typeface="+mn-lt"/>
                  <a:ea typeface="+mn-ea"/>
                  <a:cs typeface="+mn-cs"/>
                </a:rPr>
                <a:t>Dòng chảy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462778" y="3076575"/>
              <a:ext cx="15902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5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xuất khẩu và giá</a:t>
              </a:r>
            </a:p>
          </p:txBody>
        </p:sp>
      </p:grpSp>
      <p:grpSp>
        <p:nvGrpSpPr>
          <p:cNvPr id="32" name="stage-4"/>
          <p:cNvGrpSpPr/>
          <p:nvPr/>
        </p:nvGrpSpPr>
        <p:grpSpPr>
          <a:xfrm>
            <a:off x="7181850" y="1866900"/>
            <a:ext cx="2190750" cy="1503045"/>
            <a:chOff x="7181850" y="1866900"/>
            <a:chExt cx="2190750" cy="1503045"/>
          </a:xfrm>
        </p:grpSpPr>
        <p:sp>
          <p:nvSpPr>
            <p:cNvPr id="28" name="Freeform 28"/>
            <p:cNvSpPr/>
            <p:nvPr/>
          </p:nvSpPr>
          <p:spPr>
            <a:xfrm>
              <a:off x="7181850" y="1866900"/>
              <a:ext cx="2190750" cy="685800"/>
            </a:xfrm>
            <a:prstGeom prst="chevron">
              <a:avLst/>
            </a:prstGeom>
            <a:solidFill>
              <a:srgbClr val="EFE7DA"/>
            </a:solidFill>
            <a:ln w="14288">
              <a:solidFill>
                <a:srgbClr val="D9CDB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296374" y="1996440"/>
              <a:ext cx="30460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3300" b="1" dirty="0">
                  <a:solidFill>
                    <a:srgbClr val="9C2B1B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36114" y="2726055"/>
              <a:ext cx="102512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221C15"/>
                  </a:solidFill>
                  <a:latin typeface="+mn-lt"/>
                  <a:ea typeface="+mn-ea"/>
                  <a:cs typeface="+mn-cs"/>
                </a:rPr>
                <a:t>Giá trị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50410" y="3076575"/>
              <a:ext cx="11965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5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chế biến sâu</a:t>
              </a:r>
            </a:p>
          </p:txBody>
        </p:sp>
      </p:grpSp>
      <p:grpSp>
        <p:nvGrpSpPr>
          <p:cNvPr id="37" name="stage-5"/>
          <p:cNvGrpSpPr/>
          <p:nvPr/>
        </p:nvGrpSpPr>
        <p:grpSpPr>
          <a:xfrm>
            <a:off x="9372600" y="1866900"/>
            <a:ext cx="2190750" cy="1503045"/>
            <a:chOff x="9372600" y="1866900"/>
            <a:chExt cx="2190750" cy="1503045"/>
          </a:xfrm>
        </p:grpSpPr>
        <p:sp>
          <p:nvSpPr>
            <p:cNvPr id="33" name="Freeform 33"/>
            <p:cNvSpPr/>
            <p:nvPr/>
          </p:nvSpPr>
          <p:spPr>
            <a:xfrm>
              <a:off x="9372600" y="1866900"/>
              <a:ext cx="2190750" cy="685800"/>
            </a:xfrm>
            <a:prstGeom prst="chevron">
              <a:avLst/>
            </a:prstGeom>
            <a:solidFill>
              <a:srgbClr val="EFE7DA"/>
            </a:solidFill>
            <a:ln w="14288">
              <a:solidFill>
                <a:srgbClr val="D9CDB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487124" y="1996440"/>
              <a:ext cx="30460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3300" b="1" dirty="0">
                  <a:solidFill>
                    <a:srgbClr val="9C2B1B"/>
                  </a:solidFill>
                  <a:latin typeface="+mj-lt"/>
                  <a:ea typeface="+mj-ea"/>
                  <a:cs typeface="+mj-cs"/>
                </a:rPr>
                <a:t>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844659" y="2726055"/>
              <a:ext cx="15895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221C15"/>
                  </a:solidFill>
                  <a:latin typeface="+mn-lt"/>
                  <a:ea typeface="+mn-ea"/>
                  <a:cs typeface="+mn-cs"/>
                </a:rPr>
                <a:t>Thách thức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860280" y="3076575"/>
              <a:ext cx="15582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15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khí hậu và EUDR</a:t>
              </a:r>
            </a:p>
          </p:txBody>
        </p:sp>
      </p:grpSp>
      <p:grpSp>
        <p:nvGrpSpPr>
          <p:cNvPr id="40" name="journey-lead"/>
          <p:cNvGrpSpPr/>
          <p:nvPr/>
        </p:nvGrpSpPr>
        <p:grpSpPr>
          <a:xfrm>
            <a:off x="600456" y="3806190"/>
            <a:ext cx="8419338" cy="998411"/>
            <a:chOff x="600456" y="3806190"/>
            <a:chExt cx="8419338" cy="998411"/>
          </a:xfrm>
        </p:grpSpPr>
        <p:sp>
          <p:nvSpPr>
            <p:cNvPr id="38" name="TextBox 38"/>
            <p:cNvSpPr txBox="1"/>
            <p:nvPr/>
          </p:nvSpPr>
          <p:spPr>
            <a:xfrm>
              <a:off x="600456" y="3806190"/>
              <a:ext cx="841933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Mỗi chặng trả lời một câu hỏi: cây cà phê đến từ đâu, trồng ở đâu, đi tới thị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trường nào, ai giữ phần giá trị, và điều gì đang đe doạ chuỗi cung ứng.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2742" y="4540568"/>
              <a:ext cx="7898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Khung năm chặng là cách sắp xếp của bài giảng (tổng hợp), không phải cấu trúc của nguồn.</a:t>
              </a:r>
            </a:p>
          </p:txBody>
        </p:sp>
      </p:grpSp>
      <p:grpSp>
        <p:nvGrpSpPr>
          <p:cNvPr id="44" name="journey-takeaway"/>
          <p:cNvGrpSpPr/>
          <p:nvPr/>
        </p:nvGrpSpPr>
        <p:grpSpPr>
          <a:xfrm>
            <a:off x="609600" y="5029200"/>
            <a:ext cx="10972800" cy="990600"/>
            <a:chOff x="609600" y="5029200"/>
            <a:chExt cx="10972800" cy="990600"/>
          </a:xfrm>
        </p:grpSpPr>
        <p:sp>
          <p:nvSpPr>
            <p:cNvPr id="41" name="Freeform 41"/>
            <p:cNvSpPr/>
            <p:nvPr/>
          </p:nvSpPr>
          <p:spPr>
            <a:xfrm>
              <a:off x="609600" y="5029200"/>
              <a:ext cx="10972800" cy="990600"/>
            </a:xfrm>
            <a:prstGeom prst="snip2DiagRect">
              <a:avLst/>
            </a:prstGeom>
            <a:solidFill>
              <a:srgbClr val="EFE7D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07542" y="5207318"/>
              <a:ext cx="35560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THÔNG ĐIỆP CHÍNH CỦA BÀI GIẢNG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3732" y="5526405"/>
              <a:ext cx="101759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dirty="0">
                  <a:solidFill>
                    <a:srgbClr val="221C15"/>
                  </a:solidFill>
                  <a:latin typeface="+mn-lt"/>
                  <a:ea typeface="+mn-ea"/>
                  <a:cs typeface="+mn-cs"/>
                </a:rPr>
                <a:t>Mạnh về sản lượng Robusta, nhưng phần lớn giá trị vẫn nằm ngoài biên giới.</a:t>
              </a:r>
            </a:p>
          </p:txBody>
        </p:sp>
      </p:grpSp>
      <p:grpSp>
        <p:nvGrpSpPr>
          <p:cNvPr id="47" name="page-footer"/>
          <p:cNvGrpSpPr/>
          <p:nvPr/>
        </p:nvGrpSpPr>
        <p:grpSpPr>
          <a:xfrm>
            <a:off x="603504" y="6461760"/>
            <a:ext cx="10984992" cy="234696"/>
            <a:chOff x="603504" y="6461760"/>
            <a:chExt cx="10984992" cy="234696"/>
          </a:xfrm>
        </p:grpSpPr>
        <p:sp>
          <p:nvSpPr>
            <p:cNvPr id="45" name="TextBox 45"/>
            <p:cNvSpPr txBox="1"/>
            <p:nvPr/>
          </p:nvSpPr>
          <p:spPr>
            <a:xfrm>
              <a:off x="603504" y="6461760"/>
              <a:ext cx="55104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Khung trình bày do bài giảng tổng hợp; dữ liệu dẫn nguồn ở từng trang.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398606" y="64617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5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5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75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5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350"/>
                            </p:stCondLst>
                            <p:childTnLst>
                              <p:par>
                                <p:cTn xmlns:p="http://schemas.openxmlformats.org/presentationml/2006/main" id="2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300"/>
                            </p:stCondLst>
                            <p:childTnLst>
                              <p:par>
                                <p:cTn xmlns:p="http://schemas.openxmlformats.org/presentationml/2006/main" id="3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4360" y="444818"/>
            <a:ext cx="7965872" cy="865822"/>
            <a:chOff x="594360" y="444818"/>
            <a:chExt cx="7965872" cy="86582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44818"/>
              <a:ext cx="19064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CHẶNG 1 · GỐC RỄ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3900"/>
              <a:ext cx="796587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000" b="1" dirty="0">
                  <a:solidFill>
                    <a:srgbClr val="221C15"/>
                  </a:solidFill>
                  <a:latin typeface="+mj-lt"/>
                  <a:ea typeface="+mj-ea"/>
                  <a:cs typeface="+mj-cs"/>
                </a:rPr>
                <a:t>Từ 1857 đến một cường quốc Robusta</a:t>
              </a:r>
            </a:p>
          </p:txBody>
        </p:sp>
      </p:grpSp>
      <p:grpSp>
        <p:nvGrpSpPr>
          <p:cNvPr id="7" name="chapter-rail"/>
          <p:cNvGrpSpPr/>
          <p:nvPr/>
        </p:nvGrpSpPr>
        <p:grpSpPr>
          <a:xfrm>
            <a:off x="609600" y="1247775"/>
            <a:ext cx="10972800" cy="57150"/>
            <a:chOff x="609600" y="1247775"/>
            <a:chExt cx="10972800" cy="57150"/>
          </a:xfrm>
        </p:grpSpPr>
        <p:sp>
          <p:nvSpPr>
            <p:cNvPr id="5" name="Line 5"/>
            <p:cNvSpPr/>
            <p:nvPr/>
          </p:nvSpPr>
          <p:spPr>
            <a:xfrm>
              <a:off x="609600" y="1276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9CDB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247775"/>
              <a:ext cx="2190750" cy="57150"/>
            </a:xfrm>
            <a:prstGeom prst="rect">
              <a:avLst/>
            </a:prstGeom>
            <a:solidFill>
              <a:srgbClr val="9C2B1B"/>
            </a:solidFill>
            <a:ln>
              <a:noFill/>
            </a:ln>
          </p:spPr>
        </p:sp>
      </p:grpSp>
      <p:grpSp>
        <p:nvGrpSpPr>
          <p:cNvPr id="10" name="era-1-mark"/>
          <p:cNvGrpSpPr/>
          <p:nvPr/>
        </p:nvGrpSpPr>
        <p:grpSpPr>
          <a:xfrm>
            <a:off x="592836" y="2025015"/>
            <a:ext cx="1117824" cy="817436"/>
            <a:chOff x="592836" y="2025015"/>
            <a:chExt cx="1117824" cy="817436"/>
          </a:xfrm>
        </p:grpSpPr>
        <p:sp>
          <p:nvSpPr>
            <p:cNvPr id="8" name="TextBox 8"/>
            <p:cNvSpPr txBox="1"/>
            <p:nvPr/>
          </p:nvSpPr>
          <p:spPr>
            <a:xfrm>
              <a:off x="592836" y="2025015"/>
              <a:ext cx="111782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300" b="1" dirty="0">
                  <a:solidFill>
                    <a:srgbClr val="221C15"/>
                  </a:solidFill>
                  <a:latin typeface="+mj-lt"/>
                  <a:ea typeface="+mj-ea"/>
                  <a:cs typeface="+mj-cs"/>
                </a:rPr>
                <a:t>1857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2742" y="2578418"/>
              <a:ext cx="8675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DU NHẬP</a:t>
              </a:r>
            </a:p>
          </p:txBody>
        </p:sp>
      </p:grpSp>
      <p:grpSp>
        <p:nvGrpSpPr>
          <p:cNvPr id="13" name="era-2-mark"/>
          <p:cNvGrpSpPr/>
          <p:nvPr/>
        </p:nvGrpSpPr>
        <p:grpSpPr>
          <a:xfrm>
            <a:off x="4364736" y="2025015"/>
            <a:ext cx="1570055" cy="817436"/>
            <a:chOff x="4364736" y="2025015"/>
            <a:chExt cx="1570055" cy="817436"/>
          </a:xfrm>
        </p:grpSpPr>
        <p:sp>
          <p:nvSpPr>
            <p:cNvPr id="11" name="TextBox 11"/>
            <p:cNvSpPr txBox="1"/>
            <p:nvPr/>
          </p:nvSpPr>
          <p:spPr>
            <a:xfrm>
              <a:off x="4364736" y="2025015"/>
              <a:ext cx="111782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300" b="1" dirty="0">
                  <a:solidFill>
                    <a:srgbClr val="221C15"/>
                  </a:solidFill>
                  <a:latin typeface="+mj-lt"/>
                  <a:ea typeface="+mj-ea"/>
                  <a:cs typeface="+mj-cs"/>
                </a:rPr>
                <a:t>1914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74642" y="2578418"/>
              <a:ext cx="15601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CHỌN VÙNG LÕI</a:t>
              </a:r>
            </a:p>
          </p:txBody>
        </p:sp>
      </p:grpSp>
      <p:grpSp>
        <p:nvGrpSpPr>
          <p:cNvPr id="16" name="era-3-mark"/>
          <p:cNvGrpSpPr/>
          <p:nvPr/>
        </p:nvGrpSpPr>
        <p:grpSpPr>
          <a:xfrm>
            <a:off x="8136636" y="2025015"/>
            <a:ext cx="1973290" cy="817436"/>
            <a:chOff x="8136636" y="2025015"/>
            <a:chExt cx="1973290" cy="817436"/>
          </a:xfrm>
        </p:grpSpPr>
        <p:sp>
          <p:nvSpPr>
            <p:cNvPr id="14" name="TextBox 14"/>
            <p:cNvSpPr txBox="1"/>
            <p:nvPr/>
          </p:nvSpPr>
          <p:spPr>
            <a:xfrm>
              <a:off x="8136636" y="2025015"/>
              <a:ext cx="197329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300" b="1" dirty="0">
                  <a:solidFill>
                    <a:srgbClr val="221C15"/>
                  </a:solidFill>
                  <a:latin typeface="+mj-lt"/>
                  <a:ea typeface="+mj-ea"/>
                  <a:cs typeface="+mj-cs"/>
                </a:rPr>
                <a:t>Hôm nay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46542" y="2578418"/>
              <a:ext cx="18548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QUY MÔ HIỆN NAY</a:t>
              </a:r>
            </a:p>
          </p:txBody>
        </p:sp>
      </p:grpSp>
      <p:grpSp>
        <p:nvGrpSpPr>
          <p:cNvPr id="22" name="timeline-spine"/>
          <p:cNvGrpSpPr/>
          <p:nvPr/>
        </p:nvGrpSpPr>
        <p:grpSpPr>
          <a:xfrm>
            <a:off x="790575" y="3238500"/>
            <a:ext cx="10791825" cy="304800"/>
            <a:chOff x="790575" y="3238500"/>
            <a:chExt cx="10791825" cy="304800"/>
          </a:xfrm>
        </p:grpSpPr>
        <p:sp>
          <p:nvSpPr>
            <p:cNvPr id="17" name="Line 17"/>
            <p:cNvSpPr/>
            <p:nvPr/>
          </p:nvSpPr>
          <p:spPr>
            <a:xfrm>
              <a:off x="914400" y="33909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28575">
              <a:solidFill>
                <a:srgbClr val="D9CDB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0668000" y="3238500"/>
              <a:ext cx="914400" cy="304800"/>
            </a:xfrm>
            <a:prstGeom prst="rightArrow">
              <a:avLst/>
            </a:prstGeom>
            <a:solidFill>
              <a:srgbClr val="D9CDB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790575" y="3267075"/>
              <a:ext cx="247650" cy="247650"/>
            </a:xfrm>
            <a:prstGeom prst="ellipse">
              <a:avLst/>
            </a:prstGeom>
            <a:solidFill>
              <a:srgbClr val="9C2B1B"/>
            </a:solidFill>
            <a:ln w="38100">
              <a:solidFill>
                <a:srgbClr val="F7F3EC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4562475" y="3267075"/>
              <a:ext cx="247650" cy="247650"/>
            </a:xfrm>
            <a:prstGeom prst="ellipse">
              <a:avLst/>
            </a:prstGeom>
            <a:solidFill>
              <a:srgbClr val="9C2B1B"/>
            </a:solidFill>
            <a:ln w="38100">
              <a:solidFill>
                <a:srgbClr val="F7F3EC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8334375" y="3267075"/>
              <a:ext cx="247650" cy="247650"/>
            </a:xfrm>
            <a:prstGeom prst="ellipse">
              <a:avLst/>
            </a:prstGeom>
            <a:solidFill>
              <a:srgbClr val="9C2B1B"/>
            </a:solidFill>
            <a:ln w="38100">
              <a:solidFill>
                <a:srgbClr val="F7F3EC"/>
              </a:solidFill>
            </a:ln>
          </p:spPr>
        </p:sp>
      </p:grpSp>
      <p:grpSp>
        <p:nvGrpSpPr>
          <p:cNvPr id="24" name="era-1-note"/>
          <p:cNvGrpSpPr/>
          <p:nvPr/>
        </p:nvGrpSpPr>
        <p:grpSpPr>
          <a:xfrm>
            <a:off x="600456" y="3806190"/>
            <a:ext cx="3058668" cy="1380744"/>
            <a:chOff x="600456" y="3806190"/>
            <a:chExt cx="3058668" cy="1380744"/>
          </a:xfrm>
        </p:grpSpPr>
        <p:sp>
          <p:nvSpPr>
            <p:cNvPr id="23" name="TextBox 23"/>
            <p:cNvSpPr txBox="1"/>
            <p:nvPr/>
          </p:nvSpPr>
          <p:spPr>
            <a:xfrm>
              <a:off x="600456" y="3806190"/>
              <a:ext cx="3058668" cy="13807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Người Pháp đưa cây cà phê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du nhập vào Việt Nam, mở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đầu hơn một thế kỷ rưỡi gắn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bó với đất Việt.</a:t>
              </a:r>
            </a:p>
          </p:txBody>
        </p:sp>
      </p:grpSp>
      <p:grpSp>
        <p:nvGrpSpPr>
          <p:cNvPr id="26" name="era-2-note"/>
          <p:cNvGrpSpPr/>
          <p:nvPr/>
        </p:nvGrpSpPr>
        <p:grpSpPr>
          <a:xfrm>
            <a:off x="4372356" y="3806190"/>
            <a:ext cx="3252978" cy="1380744"/>
            <a:chOff x="4372356" y="3806190"/>
            <a:chExt cx="3252978" cy="1380744"/>
          </a:xfrm>
        </p:grpSpPr>
        <p:sp>
          <p:nvSpPr>
            <p:cNvPr id="25" name="TextBox 25"/>
            <p:cNvSpPr txBox="1"/>
            <p:nvPr/>
          </p:nvSpPr>
          <p:spPr>
            <a:xfrm>
              <a:off x="4372356" y="3806190"/>
              <a:ext cx="3252978" cy="13807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Người Pháp chọn Buôn Ma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Thuột làm nơi chuyên canh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Robusta sau khi nghiên cứu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thổ nhưỡng, khí hậu, độ cao.</a:t>
              </a:r>
            </a:p>
          </p:txBody>
        </p:sp>
      </p:grpSp>
      <p:grpSp>
        <p:nvGrpSpPr>
          <p:cNvPr id="28" name="era-3-note"/>
          <p:cNvGrpSpPr/>
          <p:nvPr/>
        </p:nvGrpSpPr>
        <p:grpSpPr>
          <a:xfrm>
            <a:off x="8144256" y="3806190"/>
            <a:ext cx="3127248" cy="1380744"/>
            <a:chOff x="8144256" y="3806190"/>
            <a:chExt cx="3127248" cy="1380744"/>
          </a:xfrm>
        </p:grpSpPr>
        <p:sp>
          <p:nvSpPr>
            <p:cNvPr id="27" name="TextBox 27"/>
            <p:cNvSpPr txBox="1"/>
            <p:nvPr/>
          </p:nvSpPr>
          <p:spPr>
            <a:xfrm>
              <a:off x="8144256" y="3806190"/>
              <a:ext cx="3127248" cy="13807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Khoảng 730.000 ha cà phê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trên cả nước; niên vụ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2025/26 đạt 31,7 triệu bao,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đứng thứ hai thế giới.</a:t>
              </a:r>
            </a:p>
          </p:txBody>
        </p:sp>
      </p:grpSp>
      <p:grpSp>
        <p:nvGrpSpPr>
          <p:cNvPr id="32" name="yersin-note"/>
          <p:cNvGrpSpPr/>
          <p:nvPr/>
        </p:nvGrpSpPr>
        <p:grpSpPr>
          <a:xfrm>
            <a:off x="609600" y="5374005"/>
            <a:ext cx="7301486" cy="916496"/>
            <a:chOff x="609600" y="5374005"/>
            <a:chExt cx="7301486" cy="916496"/>
          </a:xfrm>
        </p:grpSpPr>
        <p:sp>
          <p:nvSpPr>
            <p:cNvPr id="29" name="Rectangle 29"/>
            <p:cNvSpPr/>
            <p:nvPr/>
          </p:nvSpPr>
          <p:spPr>
            <a:xfrm>
              <a:off x="609600" y="5391150"/>
              <a:ext cx="57150" cy="800100"/>
            </a:xfrm>
            <a:prstGeom prst="rect">
              <a:avLst/>
            </a:prstGeom>
            <a:solidFill>
              <a:srgbClr val="9C2B1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03732" y="5374005"/>
              <a:ext cx="6768846" cy="7155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vi-VN" sz="2100" dirty="0">
                  <a:solidFill>
                    <a:srgbClr val="221C15"/>
                  </a:solidFill>
                  <a:latin typeface="+mn-lt"/>
                  <a:ea typeface="+mn-ea"/>
                  <a:cs typeface="+mn-cs"/>
                </a:rPr>
                <a:t>Bác sĩ Yersin nhận định nơi đây có loại đất tốt nhất</a:t>
              </a:r>
              <a:br/>
              <a:r>
                <a:rPr lang="vi-VN" sz="2100" dirty="0">
                  <a:solidFill>
                    <a:srgbClr val="221C15"/>
                  </a:solidFill>
                  <a:latin typeface="+mn-lt"/>
                  <a:ea typeface="+mn-ea"/>
                  <a:cs typeface="+mn-cs"/>
                </a:rPr>
                <a:t>thế giới, rất thích hợp mở đồn điền cây công nghiệp.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7542" y="6026468"/>
              <a:ext cx="70035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Dẫn theo Báo Thanh Niên, 30/11/2022 — đất đỏ bazan, độ cao khoảng 500–600 m.</a:t>
              </a:r>
            </a:p>
          </p:txBody>
        </p:sp>
      </p:grpSp>
      <p:grpSp>
        <p:nvGrpSpPr>
          <p:cNvPr id="35" name="page-footer"/>
          <p:cNvGrpSpPr/>
          <p:nvPr/>
        </p:nvGrpSpPr>
        <p:grpSpPr>
          <a:xfrm>
            <a:off x="603504" y="6461760"/>
            <a:ext cx="10984992" cy="234696"/>
            <a:chOff x="603504" y="6461760"/>
            <a:chExt cx="10984992" cy="234696"/>
          </a:xfrm>
        </p:grpSpPr>
        <p:sp>
          <p:nvSpPr>
            <p:cNvPr id="33" name="TextBox 33"/>
            <p:cNvSpPr txBox="1"/>
            <p:nvPr/>
          </p:nvSpPr>
          <p:spPr>
            <a:xfrm>
              <a:off x="603504" y="6461760"/>
              <a:ext cx="78399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Nguồn: Báo Thanh Niên (30/11/2022); USDA FAS, Coffee Annual Vietnam VM2026-0016 (20/5/2026).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398606" y="64617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5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35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25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5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950"/>
                            </p:stCondLst>
                            <p:childTnLst>
                              <p:par>
                                <p:cTn xmlns:p="http://schemas.openxmlformats.org/presentationml/2006/main" id="2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750"/>
                            </p:stCondLst>
                            <p:childTnLst>
                              <p:par>
                                <p:cTn xmlns:p="http://schemas.openxmlformats.org/presentationml/2006/main" id="3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650"/>
                            </p:stCondLst>
                            <p:childTnLst>
                              <p:par>
                                <p:cTn xmlns:p="http://schemas.openxmlformats.org/presentationml/2006/main" id="3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4360" y="444818"/>
            <a:ext cx="8780974" cy="865822"/>
            <a:chOff x="594360" y="444818"/>
            <a:chExt cx="8780974" cy="86582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44818"/>
              <a:ext cx="25989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CHẶNG 1 · CƠ CẤU GIỐNG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3900"/>
              <a:ext cx="878097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000" b="1" dirty="0">
                  <a:solidFill>
                    <a:srgbClr val="221C15"/>
                  </a:solidFill>
                  <a:latin typeface="+mj-lt"/>
                  <a:ea typeface="+mj-ea"/>
                  <a:cs typeface="+mj-cs"/>
                </a:rPr>
                <a:t>Robusta chiếm gần như toàn bộ sản lượng</a:t>
              </a:r>
            </a:p>
          </p:txBody>
        </p:sp>
      </p:grpSp>
      <p:grpSp>
        <p:nvGrpSpPr>
          <p:cNvPr id="7" name="chapter-rail"/>
          <p:cNvGrpSpPr/>
          <p:nvPr/>
        </p:nvGrpSpPr>
        <p:grpSpPr>
          <a:xfrm>
            <a:off x="609600" y="1247775"/>
            <a:ext cx="10972800" cy="57150"/>
            <a:chOff x="609600" y="1247775"/>
            <a:chExt cx="10972800" cy="57150"/>
          </a:xfrm>
        </p:grpSpPr>
        <p:sp>
          <p:nvSpPr>
            <p:cNvPr id="5" name="Line 5"/>
            <p:cNvSpPr/>
            <p:nvPr/>
          </p:nvSpPr>
          <p:spPr>
            <a:xfrm>
              <a:off x="609600" y="1276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9CDB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247775"/>
              <a:ext cx="2190750" cy="57150"/>
            </a:xfrm>
            <a:prstGeom prst="rect">
              <a:avLst/>
            </a:prstGeom>
            <a:solidFill>
              <a:srgbClr val="9C2B1B"/>
            </a:solidFill>
            <a:ln>
              <a:noFill/>
            </a:ln>
          </p:spPr>
        </p:sp>
      </p:grpSp>
      <p:grpSp>
        <p:nvGrpSpPr>
          <p:cNvPr id="33" name="variety-mix"/>
          <p:cNvGrpSpPr/>
          <p:nvPr/>
        </p:nvGrpSpPr>
        <p:grpSpPr>
          <a:xfrm>
            <a:off x="1465707" y="2000250"/>
            <a:ext cx="5392293" cy="3560445"/>
            <a:chOff x="1465707" y="2000250"/>
            <a:chExt cx="5392293" cy="3560445"/>
          </a:xfrm>
        </p:grpSpPr>
        <p:grpSp>
          <p:nvGrpSpPr>
            <p:cNvPr id="32" name="variety-mix-chartArea"/>
            <p:cNvGrpSpPr/>
            <p:nvPr/>
          </p:nvGrpSpPr>
          <p:grpSpPr>
            <a:xfrm>
              <a:off x="1465707" y="2000250"/>
              <a:ext cx="5392293" cy="3560445"/>
              <a:chOff x="1465707" y="2000250"/>
              <a:chExt cx="5392293" cy="3560445"/>
            </a:xfrm>
          </p:grpSpPr>
          <p:grpSp>
            <p:nvGrpSpPr>
              <p:cNvPr id="11" name="variety-mix-grid"/>
              <p:cNvGrpSpPr/>
              <p:nvPr/>
            </p:nvGrpSpPr>
            <p:grpSpPr>
              <a:xfrm>
                <a:off x="1809750" y="2449258"/>
                <a:ext cx="5048250" cy="1805655"/>
                <a:chOff x="1809750" y="2449258"/>
                <a:chExt cx="5048250" cy="1805655"/>
              </a:xfrm>
            </p:grpSpPr>
            <p:sp>
              <p:nvSpPr>
                <p:cNvPr id="8" name="Line 8"/>
                <p:cNvSpPr/>
                <p:nvPr/>
              </p:nvSpPr>
              <p:spPr>
                <a:xfrm>
                  <a:off x="1809750" y="4245388"/>
                  <a:ext cx="5048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48250" h="9525">
                      <a:moveTo>
                        <a:pt x="0" y="0"/>
                      </a:moveTo>
                      <a:lnTo>
                        <a:pt x="5048250" y="0"/>
                      </a:lnTo>
                    </a:path>
                  </a:pathLst>
                </a:custGeom>
                <a:noFill/>
                <a:ln w="9525">
                  <a:solidFill>
                    <a:srgbClr val="E4DACB"/>
                  </a:solidFill>
                </a:ln>
              </p:spPr>
            </p:sp>
            <p:sp>
              <p:nvSpPr>
                <p:cNvPr id="9" name="Line 9"/>
                <p:cNvSpPr/>
                <p:nvPr/>
              </p:nvSpPr>
              <p:spPr>
                <a:xfrm>
                  <a:off x="1809750" y="3347371"/>
                  <a:ext cx="5048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48250" h="9525">
                      <a:moveTo>
                        <a:pt x="0" y="0"/>
                      </a:moveTo>
                      <a:lnTo>
                        <a:pt x="5048250" y="0"/>
                      </a:lnTo>
                    </a:path>
                  </a:pathLst>
                </a:custGeom>
                <a:noFill/>
                <a:ln w="9525">
                  <a:solidFill>
                    <a:srgbClr val="E4DACB"/>
                  </a:solidFill>
                </a:ln>
              </p:spPr>
            </p:sp>
            <p:sp>
              <p:nvSpPr>
                <p:cNvPr id="10" name="Line 10"/>
                <p:cNvSpPr/>
                <p:nvPr/>
              </p:nvSpPr>
              <p:spPr>
                <a:xfrm>
                  <a:off x="1809750" y="2449258"/>
                  <a:ext cx="5048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48250" h="9525">
                      <a:moveTo>
                        <a:pt x="0" y="0"/>
                      </a:moveTo>
                      <a:lnTo>
                        <a:pt x="5048250" y="0"/>
                      </a:lnTo>
                    </a:path>
                  </a:pathLst>
                </a:custGeom>
                <a:noFill/>
                <a:ln w="9525">
                  <a:solidFill>
                    <a:srgbClr val="E4DACB"/>
                  </a:solidFill>
                </a:ln>
              </p:spPr>
            </p:sp>
          </p:grpSp>
          <p:grpSp>
            <p:nvGrpSpPr>
              <p:cNvPr id="14" name="variety-mix-axis"/>
              <p:cNvGrpSpPr/>
              <p:nvPr/>
            </p:nvGrpSpPr>
            <p:grpSpPr>
              <a:xfrm>
                <a:off x="1809750" y="2000250"/>
                <a:ext cx="5048250" cy="3152775"/>
                <a:chOff x="1809750" y="2000250"/>
                <a:chExt cx="5048250" cy="3152775"/>
              </a:xfrm>
            </p:grpSpPr>
            <p:sp>
              <p:nvSpPr>
                <p:cNvPr id="12" name="Line 12"/>
                <p:cNvSpPr/>
                <p:nvPr/>
              </p:nvSpPr>
              <p:spPr>
                <a:xfrm>
                  <a:off x="1809750" y="2000250"/>
                  <a:ext cx="9525" cy="314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143250">
                      <a:moveTo>
                        <a:pt x="0" y="0"/>
                      </a:moveTo>
                      <a:lnTo>
                        <a:pt x="0" y="3143250"/>
                      </a:lnTo>
                    </a:path>
                  </a:pathLst>
                </a:custGeom>
                <a:noFill/>
                <a:ln w="14288">
                  <a:solidFill>
                    <a:srgbClr val="B8A88F"/>
                  </a:solidFill>
                </a:ln>
              </p:spPr>
            </p:sp>
            <p:sp>
              <p:nvSpPr>
                <p:cNvPr id="13" name="Line 13"/>
                <p:cNvSpPr/>
                <p:nvPr/>
              </p:nvSpPr>
              <p:spPr>
                <a:xfrm>
                  <a:off x="1809750" y="5143500"/>
                  <a:ext cx="5048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48250" h="9525">
                      <a:moveTo>
                        <a:pt x="0" y="0"/>
                      </a:moveTo>
                      <a:lnTo>
                        <a:pt x="5048250" y="0"/>
                      </a:lnTo>
                    </a:path>
                  </a:pathLst>
                </a:custGeom>
                <a:noFill/>
                <a:ln w="14288">
                  <a:solidFill>
                    <a:srgbClr val="B8A88F"/>
                  </a:solidFill>
                </a:ln>
              </p:spPr>
            </p:sp>
          </p:grpSp>
          <p:grpSp>
            <p:nvGrpSpPr>
              <p:cNvPr id="19" name="variety-mix-value-labels"/>
              <p:cNvGrpSpPr/>
              <p:nvPr/>
            </p:nvGrpSpPr>
            <p:grpSpPr>
              <a:xfrm>
                <a:off x="1465707" y="2344484"/>
                <a:ext cx="237363" cy="2987611"/>
                <a:chOff x="1465707" y="2344484"/>
                <a:chExt cx="237363" cy="2987611"/>
              </a:xfrm>
            </p:grpSpPr>
            <p:sp>
              <p:nvSpPr>
                <p:cNvPr id="15" name="TextBox 15"/>
                <p:cNvSpPr txBox="1"/>
                <p:nvPr/>
              </p:nvSpPr>
              <p:spPr>
                <a:xfrm>
                  <a:off x="1576768" y="5038725"/>
                  <a:ext cx="126302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vi-VN" sz="1500" dirty="0">
                      <a:solidFill>
                        <a:srgbClr val="6B5B4A"/>
                      </a:solidFill>
                      <a:latin typeface="+mn-lt"/>
                      <a:ea typeface="+mn-ea"/>
                      <a:cs typeface="+mn-cs"/>
                    </a:rPr>
                    <a:t>0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1465707" y="4140613"/>
                  <a:ext cx="237363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vi-VN" sz="1500" dirty="0">
                      <a:solidFill>
                        <a:srgbClr val="6B5B4A"/>
                      </a:solidFill>
                      <a:latin typeface="+mn-lt"/>
                      <a:ea typeface="+mn-ea"/>
                      <a:cs typeface="+mn-cs"/>
                    </a:rPr>
                    <a:t>10</a:t>
                  </a: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1465707" y="3242596"/>
                  <a:ext cx="237363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vi-VN" sz="1500" dirty="0">
                      <a:solidFill>
                        <a:srgbClr val="6B5B4A"/>
                      </a:solidFill>
                      <a:latin typeface="+mn-lt"/>
                      <a:ea typeface="+mn-ea"/>
                      <a:cs typeface="+mn-cs"/>
                    </a:rPr>
                    <a:t>20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1465707" y="2344484"/>
                  <a:ext cx="237363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vi-VN" sz="1500" dirty="0">
                      <a:solidFill>
                        <a:srgbClr val="6B5B4A"/>
                      </a:solidFill>
                      <a:latin typeface="+mn-lt"/>
                      <a:ea typeface="+mn-ea"/>
                      <a:cs typeface="+mn-cs"/>
                    </a:rPr>
                    <a:t>30</a:t>
                  </a:r>
                </a:p>
              </p:txBody>
            </p:sp>
          </p:grpSp>
          <p:grpSp>
            <p:nvGrpSpPr>
              <p:cNvPr id="23" name="variety-mix-category-labels"/>
              <p:cNvGrpSpPr/>
              <p:nvPr/>
            </p:nvGrpSpPr>
            <p:grpSpPr>
              <a:xfrm>
                <a:off x="2254758" y="5267325"/>
                <a:ext cx="4158233" cy="293370"/>
                <a:chOff x="2254758" y="5267325"/>
                <a:chExt cx="4158233" cy="293370"/>
              </a:xfrm>
            </p:grpSpPr>
            <p:sp>
              <p:nvSpPr>
                <p:cNvPr id="20" name="TextBox 20"/>
                <p:cNvSpPr txBox="1"/>
                <p:nvPr/>
              </p:nvSpPr>
              <p:spPr>
                <a:xfrm>
                  <a:off x="2254758" y="5267325"/>
                  <a:ext cx="79267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vi-VN" sz="1500" dirty="0">
                      <a:solidFill>
                        <a:srgbClr val="6B5B4A"/>
                      </a:solidFill>
                      <a:latin typeface="+mn-lt"/>
                      <a:ea typeface="+mn-ea"/>
                      <a:cs typeface="+mn-cs"/>
                    </a:rPr>
                    <a:t>2024/25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3937540" y="5267325"/>
                  <a:ext cx="79267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vi-VN" sz="1500" dirty="0">
                      <a:solidFill>
                        <a:srgbClr val="6B5B4A"/>
                      </a:solidFill>
                      <a:latin typeface="+mn-lt"/>
                      <a:ea typeface="+mn-ea"/>
                      <a:cs typeface="+mn-cs"/>
                    </a:rPr>
                    <a:t>2025/26</a:t>
                  </a: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5620321" y="5267325"/>
                  <a:ext cx="79267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vi-VN" sz="1500" dirty="0">
                      <a:solidFill>
                        <a:srgbClr val="6B5B4A"/>
                      </a:solidFill>
                      <a:latin typeface="+mn-lt"/>
                      <a:ea typeface="+mn-ea"/>
                      <a:cs typeface="+mn-cs"/>
                    </a:rPr>
                    <a:t>2026/27</a:t>
                  </a:r>
                </a:p>
              </p:txBody>
            </p:sp>
          </p:grpSp>
          <p:grpSp>
            <p:nvGrpSpPr>
              <p:cNvPr id="27" name="variety-mix-robusta"/>
              <p:cNvGrpSpPr/>
              <p:nvPr/>
            </p:nvGrpSpPr>
            <p:grpSpPr>
              <a:xfrm>
                <a:off x="2314575" y="2323528"/>
                <a:ext cx="4038600" cy="2819972"/>
                <a:chOff x="2314575" y="2323528"/>
                <a:chExt cx="4038600" cy="2819972"/>
              </a:xfrm>
            </p:grpSpPr>
            <p:sp>
              <p:nvSpPr>
                <p:cNvPr id="24" name="Rectangle 24"/>
                <p:cNvSpPr/>
                <p:nvPr/>
              </p:nvSpPr>
              <p:spPr>
                <a:xfrm>
                  <a:off x="2314575" y="2628900"/>
                  <a:ext cx="673132" cy="2514600"/>
                </a:xfrm>
                <a:prstGeom prst="rect">
                  <a:avLst/>
                </a:prstGeom>
                <a:solidFill>
                  <a:srgbClr val="7A3B22"/>
                </a:solidFill>
                <a:ln>
                  <a:noFill/>
                </a:ln>
              </p:spPr>
            </p:sp>
            <p:sp>
              <p:nvSpPr>
                <p:cNvPr id="25" name="Rectangle 25"/>
                <p:cNvSpPr/>
                <p:nvPr/>
              </p:nvSpPr>
              <p:spPr>
                <a:xfrm>
                  <a:off x="3997357" y="2404396"/>
                  <a:ext cx="673132" cy="2739104"/>
                </a:xfrm>
                <a:prstGeom prst="rect">
                  <a:avLst/>
                </a:prstGeom>
                <a:solidFill>
                  <a:srgbClr val="7A3B22"/>
                </a:solidFill>
                <a:ln>
                  <a:noFill/>
                </a:ln>
              </p:spPr>
            </p:sp>
            <p:sp>
              <p:nvSpPr>
                <p:cNvPr id="26" name="Rectangle 26"/>
                <p:cNvSpPr/>
                <p:nvPr/>
              </p:nvSpPr>
              <p:spPr>
                <a:xfrm>
                  <a:off x="5680043" y="2323528"/>
                  <a:ext cx="673132" cy="2819972"/>
                </a:xfrm>
                <a:prstGeom prst="rect">
                  <a:avLst/>
                </a:prstGeom>
                <a:solidFill>
                  <a:srgbClr val="7A3B22"/>
                </a:solidFill>
                <a:ln>
                  <a:noFill/>
                </a:ln>
              </p:spPr>
            </p:sp>
          </p:grpSp>
          <p:grpSp>
            <p:nvGrpSpPr>
              <p:cNvPr id="31" name="variety-mix-arabica"/>
              <p:cNvGrpSpPr/>
              <p:nvPr/>
            </p:nvGrpSpPr>
            <p:grpSpPr>
              <a:xfrm>
                <a:off x="2314575" y="2224754"/>
                <a:ext cx="4038600" cy="404146"/>
                <a:chOff x="2314575" y="2224754"/>
                <a:chExt cx="4038600" cy="404146"/>
              </a:xfrm>
            </p:grpSpPr>
            <p:sp>
              <p:nvSpPr>
                <p:cNvPr id="28" name="Rectangle 28"/>
                <p:cNvSpPr/>
                <p:nvPr/>
              </p:nvSpPr>
              <p:spPr>
                <a:xfrm>
                  <a:off x="2314575" y="2539079"/>
                  <a:ext cx="673132" cy="89821"/>
                </a:xfrm>
                <a:prstGeom prst="rect">
                  <a:avLst/>
                </a:prstGeom>
                <a:solidFill>
                  <a:srgbClr val="C08A2E"/>
                </a:solidFill>
                <a:ln>
                  <a:noFill/>
                </a:ln>
              </p:spPr>
            </p:sp>
            <p:sp>
              <p:nvSpPr>
                <p:cNvPr id="29" name="Rectangle 29"/>
                <p:cNvSpPr/>
                <p:nvPr/>
              </p:nvSpPr>
              <p:spPr>
                <a:xfrm>
                  <a:off x="3997357" y="2296668"/>
                  <a:ext cx="673132" cy="107728"/>
                </a:xfrm>
                <a:prstGeom prst="rect">
                  <a:avLst/>
                </a:prstGeom>
                <a:solidFill>
                  <a:srgbClr val="C08A2E"/>
                </a:solidFill>
                <a:ln>
                  <a:noFill/>
                </a:ln>
              </p:spPr>
            </p:sp>
            <p:sp>
              <p:nvSpPr>
                <p:cNvPr id="30" name="Rectangle 30"/>
                <p:cNvSpPr/>
                <p:nvPr/>
              </p:nvSpPr>
              <p:spPr>
                <a:xfrm>
                  <a:off x="5680043" y="2224754"/>
                  <a:ext cx="673132" cy="98774"/>
                </a:xfrm>
                <a:prstGeom prst="rect">
                  <a:avLst/>
                </a:prstGeom>
                <a:solidFill>
                  <a:srgbClr val="C08A2E"/>
                </a:solidFill>
                <a:ln>
                  <a:noFill/>
                </a:ln>
              </p:spPr>
            </p:sp>
          </p:grpSp>
        </p:grpSp>
      </p:grpSp>
      <p:grpSp>
        <p:nvGrpSpPr>
          <p:cNvPr id="39" name="variety-legend"/>
          <p:cNvGrpSpPr/>
          <p:nvPr/>
        </p:nvGrpSpPr>
        <p:grpSpPr>
          <a:xfrm>
            <a:off x="1333500" y="5810250"/>
            <a:ext cx="5768594" cy="293370"/>
            <a:chOff x="1333500" y="5810250"/>
            <a:chExt cx="5768594" cy="293370"/>
          </a:xfrm>
        </p:grpSpPr>
        <p:sp>
          <p:nvSpPr>
            <p:cNvPr id="34" name="Line 34"/>
            <p:cNvSpPr/>
            <p:nvPr/>
          </p:nvSpPr>
          <p:spPr>
            <a:xfrm>
              <a:off x="1333500" y="59055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76200">
              <a:solidFill>
                <a:srgbClr val="7A3B2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764030" y="5810250"/>
              <a:ext cx="7989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5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Robusta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2857500" y="59055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76200">
              <a:solidFill>
                <a:srgbClr val="C08A2E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288030" y="5810250"/>
              <a:ext cx="7480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5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Arabica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183380" y="5810250"/>
              <a:ext cx="29187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5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Đơn vị: triệu bao 60 kg (GBE)</a:t>
              </a:r>
            </a:p>
          </p:txBody>
        </p:sp>
      </p:grpSp>
      <p:grpSp>
        <p:nvGrpSpPr>
          <p:cNvPr id="43" name="share-hero"/>
          <p:cNvGrpSpPr/>
          <p:nvPr/>
        </p:nvGrpSpPr>
        <p:grpSpPr>
          <a:xfrm>
            <a:off x="7372350" y="1930718"/>
            <a:ext cx="2889123" cy="1635633"/>
            <a:chOff x="7372350" y="1930718"/>
            <a:chExt cx="2889123" cy="1635633"/>
          </a:xfrm>
        </p:grpSpPr>
        <p:sp>
          <p:nvSpPr>
            <p:cNvPr id="40" name="TextBox 40"/>
            <p:cNvSpPr txBox="1"/>
            <p:nvPr/>
          </p:nvSpPr>
          <p:spPr>
            <a:xfrm>
              <a:off x="7384542" y="1930718"/>
              <a:ext cx="20475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TỶ TRỌNG ROBUSTA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72350" y="2274570"/>
              <a:ext cx="1530126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5400" b="1" dirty="0">
                  <a:solidFill>
                    <a:srgbClr val="7A3B22"/>
                  </a:solidFill>
                  <a:latin typeface="+mj-lt"/>
                  <a:ea typeface="+mj-ea"/>
                  <a:cs typeface="+mj-cs"/>
                </a:rPr>
                <a:t>96%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84542" y="3054668"/>
              <a:ext cx="287693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sản lượng cà phê Việt Nam là</a:t>
              </a:r>
              <a:br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Robusta (tổng hợp từ số liệu USDA)</a:t>
              </a:r>
            </a:p>
          </p:txBody>
        </p:sp>
      </p:grpSp>
      <p:grpSp>
        <p:nvGrpSpPr>
          <p:cNvPr id="45" name="share-note"/>
          <p:cNvGrpSpPr/>
          <p:nvPr/>
        </p:nvGrpSpPr>
        <p:grpSpPr>
          <a:xfrm>
            <a:off x="7382256" y="3806190"/>
            <a:ext cx="3662172" cy="1380744"/>
            <a:chOff x="7382256" y="3806190"/>
            <a:chExt cx="3662172" cy="1380744"/>
          </a:xfrm>
        </p:grpSpPr>
        <p:sp>
          <p:nvSpPr>
            <p:cNvPr id="44" name="TextBox 44"/>
            <p:cNvSpPr txBox="1"/>
            <p:nvPr/>
          </p:nvSpPr>
          <p:spPr>
            <a:xfrm>
              <a:off x="7382256" y="3806190"/>
              <a:ext cx="3662172" cy="13807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 xml:space="preserve">Năng suất Robusta tăng từ </a:t>
              </a:r>
              <a:r>
                <a:rPr lang="vi-VN" sz="1800" b="1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2,73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 xml:space="preserve">lên </a:t>
              </a:r>
              <a:r>
                <a:rPr lang="vi-VN" sz="1800" b="1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2,93 tấn/ha</a:t>
              </a:r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 xml:space="preserve"> giữa hai niên vụ,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trong khi Arabica giữ nguyên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quanh mức 1,0–1,2 triệu bao.</a:t>
              </a:r>
            </a:p>
          </p:txBody>
        </p:sp>
      </p:grpSp>
      <p:grpSp>
        <p:nvGrpSpPr>
          <p:cNvPr id="47" name="share-caveat"/>
          <p:cNvGrpSpPr/>
          <p:nvPr/>
        </p:nvGrpSpPr>
        <p:grpSpPr>
          <a:xfrm>
            <a:off x="7384542" y="5454968"/>
            <a:ext cx="2732270" cy="264033"/>
            <a:chOff x="7384542" y="5454968"/>
            <a:chExt cx="2732270" cy="264033"/>
          </a:xfrm>
        </p:grpSpPr>
        <p:sp>
          <p:nvSpPr>
            <p:cNvPr id="46" name="TextBox 46"/>
            <p:cNvSpPr txBox="1"/>
            <p:nvPr/>
          </p:nvSpPr>
          <p:spPr>
            <a:xfrm>
              <a:off x="7384542" y="5454968"/>
              <a:ext cx="2732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2026/27 là số dự báo của USDA.</a:t>
              </a:r>
            </a:p>
          </p:txBody>
        </p:sp>
      </p:grpSp>
      <p:grpSp>
        <p:nvGrpSpPr>
          <p:cNvPr id="50" name="page-footer"/>
          <p:cNvGrpSpPr/>
          <p:nvPr/>
        </p:nvGrpSpPr>
        <p:grpSpPr>
          <a:xfrm>
            <a:off x="603504" y="6461760"/>
            <a:ext cx="10984992" cy="234696"/>
            <a:chOff x="603504" y="6461760"/>
            <a:chExt cx="10984992" cy="234696"/>
          </a:xfrm>
        </p:grpSpPr>
        <p:sp>
          <p:nvSpPr>
            <p:cNvPr id="48" name="TextBox 48"/>
            <p:cNvSpPr txBox="1"/>
            <p:nvPr/>
          </p:nvSpPr>
          <p:spPr>
            <a:xfrm>
              <a:off x="603504" y="6461760"/>
              <a:ext cx="82100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Nguồn: USDA FAS, Coffee Annual Vietnam VM2026-0016 (20/5/2026), bảng sản lượng Robusta và Arabica.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398606" y="64617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8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5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5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40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30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4360" y="444818"/>
            <a:ext cx="8986128" cy="865822"/>
            <a:chOff x="594360" y="444818"/>
            <a:chExt cx="8986128" cy="86582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44818"/>
              <a:ext cx="2435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CHẶNG 2 · VÙNG TRỒNG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3900"/>
              <a:ext cx="898612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000" b="1" dirty="0">
                  <a:solidFill>
                    <a:srgbClr val="221C15"/>
                  </a:solidFill>
                  <a:latin typeface="+mj-lt"/>
                  <a:ea typeface="+mj-ea"/>
                  <a:cs typeface="+mj-cs"/>
                </a:rPr>
                <a:t>Tây Nguyên: vùng lõi của cà phê Việt Nam</a:t>
              </a:r>
            </a:p>
          </p:txBody>
        </p:sp>
      </p:grpSp>
      <p:grpSp>
        <p:nvGrpSpPr>
          <p:cNvPr id="7" name="chapter-rail"/>
          <p:cNvGrpSpPr/>
          <p:nvPr/>
        </p:nvGrpSpPr>
        <p:grpSpPr>
          <a:xfrm>
            <a:off x="609600" y="1247775"/>
            <a:ext cx="10972800" cy="57150"/>
            <a:chOff x="609600" y="1247775"/>
            <a:chExt cx="10972800" cy="57150"/>
          </a:xfrm>
        </p:grpSpPr>
        <p:sp>
          <p:nvSpPr>
            <p:cNvPr id="5" name="Line 5"/>
            <p:cNvSpPr/>
            <p:nvPr/>
          </p:nvSpPr>
          <p:spPr>
            <a:xfrm>
              <a:off x="609600" y="1276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9CDB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2800350" y="1247775"/>
              <a:ext cx="2190750" cy="57150"/>
            </a:xfrm>
            <a:prstGeom prst="rect">
              <a:avLst/>
            </a:prstGeom>
            <a:solidFill>
              <a:srgbClr val="9C2B1B"/>
            </a:solidFill>
            <a:ln>
              <a:noFill/>
            </a:ln>
          </p:spPr>
        </p:sp>
      </p:grpSp>
      <p:grpSp>
        <p:nvGrpSpPr>
          <p:cNvPr id="12" name="region-photo"/>
          <p:cNvGrpSpPr/>
          <p:nvPr/>
        </p:nvGrpSpPr>
        <p:grpSpPr>
          <a:xfrm>
            <a:off x="602742" y="1676400"/>
            <a:ext cx="4731258" cy="3394901"/>
            <a:chOff x="602742" y="1676400"/>
            <a:chExt cx="4731258" cy="3394901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rcRect l="0" t="989" r="0" b="989"/>
            <a:stretch>
              <a:fillRect/>
            </a:stretch>
          </p:blipFill>
          <p:spPr>
            <a:xfrm>
              <a:off x="609600" y="1676400"/>
              <a:ext cx="4724400" cy="3086100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609600" y="3619500"/>
              <a:ext cx="4724400" cy="1143000"/>
            </a:xfrm>
            <a:prstGeom prst="rect">
              <a:avLst/>
            </a:prstGeom>
            <a:gradFill>
              <a:gsLst>
                <a:gs pos="0">
                  <a:srgbClr val="1C1610">
                    <a:alpha val="72000"/>
                  </a:srgbClr>
                </a:gs>
                <a:gs pos="42000">
                  <a:srgbClr val="1C1610">
                    <a:alpha val="12000"/>
                  </a:srgbClr>
                </a:gs>
                <a:gs pos="100000">
                  <a:srgbClr val="1C1610">
                    <a:alpha val="0"/>
                  </a:srgbClr>
                </a:gs>
              </a:gsLst>
              <a:lin ang="16200000" scaled="1"/>
            </a:gra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0580" y="4410075"/>
              <a:ext cx="41214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500" dirty="0">
                  <a:solidFill>
                    <a:srgbClr val="F7F3EC"/>
                  </a:solidFill>
                  <a:latin typeface="+mn-lt"/>
                  <a:ea typeface="+mn-ea"/>
                  <a:cs typeface="+mn-cs"/>
                </a:rPr>
                <a:t>Vườn cà phê trên cao nguyên lúc rạng sáng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2742" y="4807268"/>
              <a:ext cx="31508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Ảnh minh hoạ: Young_n qua Pixabay.</a:t>
              </a:r>
            </a:p>
          </p:txBody>
        </p:sp>
      </p:grpSp>
      <p:grpSp>
        <p:nvGrpSpPr>
          <p:cNvPr id="14" name="region-note"/>
          <p:cNvGrpSpPr/>
          <p:nvPr/>
        </p:nvGrpSpPr>
        <p:grpSpPr>
          <a:xfrm>
            <a:off x="600456" y="5082540"/>
            <a:ext cx="4270248" cy="1037844"/>
            <a:chOff x="600456" y="5082540"/>
            <a:chExt cx="4270248" cy="1037844"/>
          </a:xfrm>
        </p:grpSpPr>
        <p:sp>
          <p:nvSpPr>
            <p:cNvPr id="13" name="TextBox 13"/>
            <p:cNvSpPr txBox="1"/>
            <p:nvPr/>
          </p:nvSpPr>
          <p:spPr>
            <a:xfrm>
              <a:off x="600456" y="5082540"/>
              <a:ext cx="4270248" cy="1037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Tây Nguyên là vùng trồng chính. Lượng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mưa tháng 1–3/2026 tại năm tỉnh này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thấp hơn mức bình thường.</a:t>
              </a:r>
            </a:p>
          </p:txBody>
        </p:sp>
      </p:grpSp>
      <p:grpSp>
        <p:nvGrpSpPr>
          <p:cNvPr id="29" name="region-members"/>
          <p:cNvGrpSpPr/>
          <p:nvPr/>
        </p:nvGrpSpPr>
        <p:grpSpPr>
          <a:xfrm>
            <a:off x="5708142" y="1625918"/>
            <a:ext cx="5798058" cy="1479232"/>
            <a:chOff x="5708142" y="1625918"/>
            <a:chExt cx="5798058" cy="1479232"/>
          </a:xfrm>
        </p:grpSpPr>
        <p:sp>
          <p:nvSpPr>
            <p:cNvPr id="15" name="TextBox 15"/>
            <p:cNvSpPr txBox="1"/>
            <p:nvPr/>
          </p:nvSpPr>
          <p:spPr>
            <a:xfrm>
              <a:off x="5708142" y="1625918"/>
              <a:ext cx="3350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NĂM TỈNH TRỒNG CÀ PHÊ CHÍNH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715000" y="1962150"/>
              <a:ext cx="266700" cy="1143000"/>
            </a:xfrm>
            <a:prstGeom prst="leftBrace">
              <a:avLst/>
            </a:prstGeom>
            <a:noFill/>
            <a:ln w="19050">
              <a:solidFill>
                <a:srgbClr val="9C2B1B"/>
              </a:solidFill>
            </a:ln>
          </p:spPr>
        </p:sp>
        <p:grpSp>
          <p:nvGrpSpPr>
            <p:cNvPr id="22" name="region-chips"/>
            <p:cNvGrpSpPr/>
            <p:nvPr/>
          </p:nvGrpSpPr>
          <p:grpSpPr>
            <a:xfrm>
              <a:off x="6172200" y="2000250"/>
              <a:ext cx="5334000" cy="1066800"/>
              <a:chOff x="6172200" y="2000250"/>
              <a:chExt cx="5334000" cy="10668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6172200" y="2000250"/>
                <a:ext cx="16764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EFE7DA"/>
              </a:solidFill>
              <a:ln w="14288">
                <a:solidFill>
                  <a:srgbClr val="D9CDBA"/>
                </a:solidFill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8001000" y="2000250"/>
                <a:ext cx="16764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EFE7DA"/>
              </a:solidFill>
              <a:ln w="14288">
                <a:solidFill>
                  <a:srgbClr val="D9CDBA"/>
                </a:solidFill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9829800" y="2000250"/>
                <a:ext cx="16764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EFE7DA"/>
              </a:solidFill>
              <a:ln w="14288">
                <a:solidFill>
                  <a:srgbClr val="D9CDBA"/>
                </a:solidFill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6172200" y="2609850"/>
                <a:ext cx="16764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EFE7DA"/>
              </a:solidFill>
              <a:ln w="14288">
                <a:solidFill>
                  <a:srgbClr val="D9CDBA"/>
                </a:solidFill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8001000" y="2609850"/>
                <a:ext cx="16764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EFE7DA"/>
              </a:solidFill>
              <a:ln w="14288">
                <a:solidFill>
                  <a:srgbClr val="D9CDBA"/>
                </a:solidFill>
              </a:ln>
            </p:spPr>
          </p:sp>
        </p:grpSp>
        <p:grpSp>
          <p:nvGrpSpPr>
            <p:cNvPr id="28" name="region-chip-labels"/>
            <p:cNvGrpSpPr/>
            <p:nvPr/>
          </p:nvGrpSpPr>
          <p:grpSpPr>
            <a:xfrm>
              <a:off x="6576999" y="2133600"/>
              <a:ext cx="4489527" cy="902970"/>
              <a:chOff x="6576999" y="2133600"/>
              <a:chExt cx="4489527" cy="90297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6632448" y="2133600"/>
                <a:ext cx="75590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1500" dirty="0">
                    <a:solidFill>
                      <a:srgbClr val="221C15"/>
                    </a:solidFill>
                    <a:latin typeface="+mn-lt"/>
                    <a:ea typeface="+mn-ea"/>
                    <a:cs typeface="+mn-cs"/>
                  </a:rPr>
                  <a:t>Đắk Lắk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512683" y="2133600"/>
                <a:ext cx="65303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1500" dirty="0">
                    <a:solidFill>
                      <a:srgbClr val="221C15"/>
                    </a:solidFill>
                    <a:latin typeface="+mn-lt"/>
                    <a:ea typeface="+mn-ea"/>
                    <a:cs typeface="+mn-cs"/>
                  </a:rPr>
                  <a:t>Gia Lai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0269474" y="2133600"/>
                <a:ext cx="79705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1500" dirty="0">
                    <a:solidFill>
                      <a:srgbClr val="221C15"/>
                    </a:solidFill>
                    <a:latin typeface="+mn-lt"/>
                    <a:ea typeface="+mn-ea"/>
                    <a:cs typeface="+mn-cs"/>
                  </a:rPr>
                  <a:t>Kon Tum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576999" y="2743200"/>
                <a:ext cx="8668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1500" dirty="0">
                    <a:solidFill>
                      <a:srgbClr val="221C15"/>
                    </a:solidFill>
                    <a:latin typeface="+mn-lt"/>
                    <a:ea typeface="+mn-ea"/>
                    <a:cs typeface="+mn-cs"/>
                  </a:rPr>
                  <a:t>Đắk Nông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385279" y="2743200"/>
                <a:ext cx="90784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1500" dirty="0">
                    <a:solidFill>
                      <a:srgbClr val="221C15"/>
                    </a:solidFill>
                    <a:latin typeface="+mn-lt"/>
                    <a:ea typeface="+mn-ea"/>
                    <a:cs typeface="+mn-cs"/>
                  </a:rPr>
                  <a:t>Lâm Đồng</a:t>
                </a:r>
              </a:p>
            </p:txBody>
          </p:sp>
        </p:grpSp>
      </p:grpSp>
      <p:grpSp>
        <p:nvGrpSpPr>
          <p:cNvPr id="38" name="region-scale"/>
          <p:cNvGrpSpPr/>
          <p:nvPr/>
        </p:nvGrpSpPr>
        <p:grpSpPr>
          <a:xfrm>
            <a:off x="5715000" y="3453765"/>
            <a:ext cx="5867400" cy="1978914"/>
            <a:chOff x="5715000" y="3453765"/>
            <a:chExt cx="5867400" cy="1978914"/>
          </a:xfrm>
        </p:grpSpPr>
        <p:sp>
          <p:nvSpPr>
            <p:cNvPr id="30" name="TextBox 30"/>
            <p:cNvSpPr txBox="1"/>
            <p:nvPr/>
          </p:nvSpPr>
          <p:spPr>
            <a:xfrm>
              <a:off x="5968213" y="3453765"/>
              <a:ext cx="262105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3300" b="1" dirty="0">
                  <a:solidFill>
                    <a:srgbClr val="7A3B22"/>
                  </a:solidFill>
                  <a:latin typeface="+mj-lt"/>
                  <a:ea typeface="+mj-ea"/>
                  <a:cs typeface="+mj-cs"/>
                </a:rPr>
                <a:t>730.000 ha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756142" y="3664268"/>
              <a:ext cx="25943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tổng diện tích cà phê cả nước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5715000" y="4057650"/>
              <a:ext cx="5867400" cy="9525"/>
            </a:xfrm>
            <a:custGeom>
              <a:avLst/>
              <a:gdLst/>
              <a:ahLst/>
              <a:cxnLst/>
              <a:rect l="l" t="t" r="r" b="b"/>
              <a:pathLst>
                <a:path w="5867400" h="9525">
                  <a:moveTo>
                    <a:pt x="0" y="0"/>
                  </a:moveTo>
                  <a:lnTo>
                    <a:pt x="5867400" y="0"/>
                  </a:lnTo>
                </a:path>
              </a:pathLst>
            </a:custGeom>
            <a:noFill/>
            <a:ln w="9525">
              <a:solidFill>
                <a:srgbClr val="E4DACB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968213" y="4120515"/>
              <a:ext cx="262105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3300" b="1" dirty="0">
                  <a:solidFill>
                    <a:srgbClr val="7A3B22"/>
                  </a:solidFill>
                  <a:latin typeface="+mj-lt"/>
                  <a:ea typeface="+mj-ea"/>
                  <a:cs typeface="+mj-cs"/>
                </a:rPr>
                <a:t>644.000 ha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756142" y="4331018"/>
              <a:ext cx="27392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Robusta cho thu hoạch 2026/27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5715000" y="4724400"/>
              <a:ext cx="5867400" cy="9525"/>
            </a:xfrm>
            <a:custGeom>
              <a:avLst/>
              <a:gdLst/>
              <a:ahLst/>
              <a:cxnLst/>
              <a:rect l="l" t="t" r="r" b="b"/>
              <a:pathLst>
                <a:path w="5867400" h="9525">
                  <a:moveTo>
                    <a:pt x="0" y="0"/>
                  </a:moveTo>
                  <a:lnTo>
                    <a:pt x="5867400" y="0"/>
                  </a:lnTo>
                </a:path>
              </a:pathLst>
            </a:custGeom>
            <a:noFill/>
            <a:ln w="9525">
              <a:solidFill>
                <a:srgbClr val="E4DACB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140714" y="4787265"/>
              <a:ext cx="24485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3300" b="1" dirty="0">
                  <a:solidFill>
                    <a:srgbClr val="7A3B22"/>
                  </a:solidFill>
                  <a:latin typeface="+mj-lt"/>
                  <a:ea typeface="+mj-ea"/>
                  <a:cs typeface="+mj-cs"/>
                </a:rPr>
                <a:t>500–600 m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756142" y="4997768"/>
              <a:ext cx="23413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độ cao vùng Buôn Ma Thuột</a:t>
              </a:r>
            </a:p>
          </p:txBody>
        </p:sp>
      </p:grpSp>
      <p:grpSp>
        <p:nvGrpSpPr>
          <p:cNvPr id="41" name="page-footer"/>
          <p:cNvGrpSpPr/>
          <p:nvPr/>
        </p:nvGrpSpPr>
        <p:grpSpPr>
          <a:xfrm>
            <a:off x="603504" y="6461760"/>
            <a:ext cx="10984992" cy="234696"/>
            <a:chOff x="603504" y="6461760"/>
            <a:chExt cx="10984992" cy="234696"/>
          </a:xfrm>
        </p:grpSpPr>
        <p:sp>
          <p:nvSpPr>
            <p:cNvPr id="39" name="TextBox 39"/>
            <p:cNvSpPr txBox="1"/>
            <p:nvPr/>
          </p:nvSpPr>
          <p:spPr>
            <a:xfrm>
              <a:off x="603504" y="6461760"/>
              <a:ext cx="86491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Nguồn: USDA FAS VM2026-0016 (20/5/2026), dẫn Bộ Nông nghiệp và Môi trường; Báo Thanh Niên (30/11/2022).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398606" y="64617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5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35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4360" y="444818"/>
            <a:ext cx="8365867" cy="865822"/>
            <a:chOff x="594360" y="444818"/>
            <a:chExt cx="8365867" cy="86582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44818"/>
              <a:ext cx="3108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CHẶNG 2 · ĐỐI CHIẾU SỐ LIỆU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3900"/>
              <a:ext cx="836586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000" b="1" dirty="0">
                  <a:solidFill>
                    <a:srgbClr val="221C15"/>
                  </a:solidFill>
                  <a:latin typeface="+mj-lt"/>
                  <a:ea typeface="+mj-ea"/>
                  <a:cs typeface="+mj-cs"/>
                </a:rPr>
                <a:t>Cả nước và Đắk Lắk: hai lát cắt số liệu</a:t>
              </a:r>
            </a:p>
          </p:txBody>
        </p:sp>
      </p:grpSp>
      <p:grpSp>
        <p:nvGrpSpPr>
          <p:cNvPr id="7" name="chapter-rail"/>
          <p:cNvGrpSpPr/>
          <p:nvPr/>
        </p:nvGrpSpPr>
        <p:grpSpPr>
          <a:xfrm>
            <a:off x="609600" y="1247775"/>
            <a:ext cx="10972800" cy="57150"/>
            <a:chOff x="609600" y="1247775"/>
            <a:chExt cx="10972800" cy="57150"/>
          </a:xfrm>
        </p:grpSpPr>
        <p:sp>
          <p:nvSpPr>
            <p:cNvPr id="5" name="Line 5"/>
            <p:cNvSpPr/>
            <p:nvPr/>
          </p:nvSpPr>
          <p:spPr>
            <a:xfrm>
              <a:off x="609600" y="1276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9CDB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2800350" y="1247775"/>
              <a:ext cx="2190750" cy="57150"/>
            </a:xfrm>
            <a:prstGeom prst="rect">
              <a:avLst/>
            </a:prstGeom>
            <a:solidFill>
              <a:srgbClr val="9C2B1B"/>
            </a:solidFill>
            <a:ln>
              <a:noFill/>
            </a:ln>
          </p:spPr>
        </p:sp>
      </p:grpSp>
      <p:grpSp>
        <p:nvGrpSpPr>
          <p:cNvPr id="42" name="region-table"/>
          <p:cNvGrpSpPr/>
          <p:nvPr/>
        </p:nvGrpSpPr>
        <p:grpSpPr>
          <a:xfrm>
            <a:off x="609600" y="1905000"/>
            <a:ext cx="10982325" cy="3057525"/>
            <a:chOff x="609600" y="1905000"/>
            <a:chExt cx="10982325" cy="3057525"/>
          </a:xfrm>
        </p:grpSpPr>
        <p:sp>
          <p:nvSpPr>
            <p:cNvPr id="8" name="Rectangle 8"/>
            <p:cNvSpPr/>
            <p:nvPr/>
          </p:nvSpPr>
          <p:spPr>
            <a:xfrm>
              <a:off x="609600" y="1905000"/>
              <a:ext cx="10972800" cy="571500"/>
            </a:xfrm>
            <a:prstGeom prst="rect">
              <a:avLst/>
            </a:prstGeom>
            <a:solidFill>
              <a:srgbClr val="EFE7DA"/>
            </a:solidFill>
            <a:ln>
              <a:noFill/>
            </a:ln>
          </p:spPr>
        </p:sp>
        <p:grpSp>
          <p:nvGrpSpPr>
            <p:cNvPr id="20" name="region-table-grid"/>
            <p:cNvGrpSpPr/>
            <p:nvPr/>
          </p:nvGrpSpPr>
          <p:grpSpPr>
            <a:xfrm>
              <a:off x="609600" y="1905000"/>
              <a:ext cx="10982325" cy="3057525"/>
              <a:chOff x="609600" y="1905000"/>
              <a:chExt cx="10982325" cy="3057525"/>
            </a:xfrm>
          </p:grpSpPr>
          <p:sp>
            <p:nvSpPr>
              <p:cNvPr id="9" name="Line 9"/>
              <p:cNvSpPr/>
              <p:nvPr/>
            </p:nvSpPr>
            <p:spPr>
              <a:xfrm>
                <a:off x="609600" y="19050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14288">
                <a:solidFill>
                  <a:srgbClr val="D9CDBA"/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609600" y="24765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14288">
                <a:solidFill>
                  <a:srgbClr val="D9CDBA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609600" y="29718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14288">
                <a:solidFill>
                  <a:srgbClr val="D9CDBA"/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609600" y="34671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14288">
                <a:solidFill>
                  <a:srgbClr val="D9CDBA"/>
                </a:solidFill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609600" y="39624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14288">
                <a:solidFill>
                  <a:srgbClr val="D9CDBA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609600" y="44577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14288">
                <a:solidFill>
                  <a:srgbClr val="D9CDBA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609600" y="49530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14288">
                <a:solidFill>
                  <a:srgbClr val="D9CDBA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609600" y="1905000"/>
                <a:ext cx="9525" cy="304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48000">
                    <a:moveTo>
                      <a:pt x="0" y="0"/>
                    </a:moveTo>
                    <a:lnTo>
                      <a:pt x="0" y="3048000"/>
                    </a:lnTo>
                  </a:path>
                </a:pathLst>
              </a:custGeom>
              <a:noFill/>
              <a:ln w="14288">
                <a:solidFill>
                  <a:srgbClr val="D9CDBA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4038600" y="1905000"/>
                <a:ext cx="9525" cy="304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48000">
                    <a:moveTo>
                      <a:pt x="0" y="0"/>
                    </a:moveTo>
                    <a:lnTo>
                      <a:pt x="0" y="3048000"/>
                    </a:lnTo>
                  </a:path>
                </a:pathLst>
              </a:custGeom>
              <a:noFill/>
              <a:ln w="14288">
                <a:solidFill>
                  <a:srgbClr val="D9CDBA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7848600" y="1905000"/>
                <a:ext cx="9525" cy="304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48000">
                    <a:moveTo>
                      <a:pt x="0" y="0"/>
                    </a:moveTo>
                    <a:lnTo>
                      <a:pt x="0" y="3048000"/>
                    </a:lnTo>
                  </a:path>
                </a:pathLst>
              </a:custGeom>
              <a:noFill/>
              <a:ln w="14288">
                <a:solidFill>
                  <a:srgbClr val="D9CDBA"/>
                </a:solidFill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11582400" y="1905000"/>
                <a:ext cx="9525" cy="304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48000">
                    <a:moveTo>
                      <a:pt x="0" y="0"/>
                    </a:moveTo>
                    <a:lnTo>
                      <a:pt x="0" y="3048000"/>
                    </a:lnTo>
                  </a:path>
                </a:pathLst>
              </a:custGeom>
              <a:noFill/>
              <a:ln w="14288">
                <a:solidFill>
                  <a:srgbClr val="D9CDBA"/>
                </a:solidFill>
              </a:ln>
            </p:spPr>
          </p:sp>
        </p:grpSp>
        <p:grpSp>
          <p:nvGrpSpPr>
            <p:cNvPr id="24" name="region-table-header"/>
            <p:cNvGrpSpPr/>
            <p:nvPr/>
          </p:nvGrpSpPr>
          <p:grpSpPr>
            <a:xfrm>
              <a:off x="792480" y="2095500"/>
              <a:ext cx="9876068" cy="293370"/>
              <a:chOff x="792480" y="2095500"/>
              <a:chExt cx="9876068" cy="293370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792480" y="2095500"/>
                <a:ext cx="8488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500" b="1" dirty="0">
                    <a:solidFill>
                      <a:srgbClr val="221C15"/>
                    </a:solidFill>
                    <a:latin typeface="+mn-lt"/>
                    <a:ea typeface="+mn-ea"/>
                    <a:cs typeface="+mn-cs"/>
                  </a:rPr>
                  <a:t>Tiêu chí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221480" y="2095500"/>
                <a:ext cx="262481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500" b="1" dirty="0">
                    <a:solidFill>
                      <a:srgbClr val="221C15"/>
                    </a:solidFill>
                    <a:latin typeface="+mn-lt"/>
                    <a:ea typeface="+mn-ea"/>
                    <a:cs typeface="+mn-cs"/>
                  </a:rPr>
                  <a:t>Cả nước — niên vụ 2026/27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031480" y="2095500"/>
                <a:ext cx="263706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500" b="1" dirty="0">
                    <a:solidFill>
                      <a:srgbClr val="221C15"/>
                    </a:solidFill>
                    <a:latin typeface="+mn-lt"/>
                    <a:ea typeface="+mn-ea"/>
                    <a:cs typeface="+mn-cs"/>
                  </a:rPr>
                  <a:t>Đắk Lắk — niên vụ 2023/24</a:t>
                </a:r>
              </a:p>
            </p:txBody>
          </p:sp>
        </p:grpSp>
        <p:grpSp>
          <p:nvGrpSpPr>
            <p:cNvPr id="30" name="region-table-criteria"/>
            <p:cNvGrpSpPr/>
            <p:nvPr/>
          </p:nvGrpSpPr>
          <p:grpSpPr>
            <a:xfrm>
              <a:off x="792480" y="2628900"/>
              <a:ext cx="2079173" cy="2274570"/>
              <a:chOff x="792480" y="2628900"/>
              <a:chExt cx="2079173" cy="2274570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792480" y="2628900"/>
                <a:ext cx="167624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500" b="1" dirty="0">
                    <a:solidFill>
                      <a:srgbClr val="221C15"/>
                    </a:solidFill>
                    <a:latin typeface="+mn-lt"/>
                    <a:ea typeface="+mn-ea"/>
                    <a:cs typeface="+mn-cs"/>
                  </a:rPr>
                  <a:t>Diện tích cà phê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92480" y="3124200"/>
                <a:ext cx="202597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500" b="1" dirty="0">
                    <a:solidFill>
                      <a:srgbClr val="221C15"/>
                    </a:solidFill>
                    <a:latin typeface="+mn-lt"/>
                    <a:ea typeface="+mn-ea"/>
                    <a:cs typeface="+mn-cs"/>
                  </a:rPr>
                  <a:t>Diện tích thu hoạch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92480" y="3619500"/>
                <a:ext cx="207917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500" b="1" dirty="0">
                    <a:solidFill>
                      <a:srgbClr val="221C15"/>
                    </a:solidFill>
                    <a:latin typeface="+mn-lt"/>
                    <a:ea typeface="+mn-ea"/>
                    <a:cs typeface="+mn-cs"/>
                  </a:rPr>
                  <a:t>Năng suất bình quân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92480" y="4114800"/>
                <a:ext cx="96543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500" b="1" dirty="0">
                    <a:solidFill>
                      <a:srgbClr val="221C15"/>
                    </a:solidFill>
                    <a:latin typeface="+mn-lt"/>
                    <a:ea typeface="+mn-ea"/>
                    <a:cs typeface="+mn-cs"/>
                  </a:rPr>
                  <a:t>Sản lượng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92480" y="4610100"/>
                <a:ext cx="101881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500" b="1" dirty="0">
                    <a:solidFill>
                      <a:srgbClr val="221C15"/>
                    </a:solidFill>
                    <a:latin typeface="+mn-lt"/>
                    <a:ea typeface="+mn-ea"/>
                    <a:cs typeface="+mn-cs"/>
                  </a:rPr>
                  <a:t>Xuất khẩu</a:t>
                </a:r>
              </a:p>
            </p:txBody>
          </p:sp>
        </p:grpSp>
        <p:grpSp>
          <p:nvGrpSpPr>
            <p:cNvPr id="41" name="region-table-values"/>
            <p:cNvGrpSpPr/>
            <p:nvPr/>
          </p:nvGrpSpPr>
          <p:grpSpPr>
            <a:xfrm>
              <a:off x="4221480" y="2628900"/>
              <a:ext cx="4996434" cy="2274570"/>
              <a:chOff x="4221480" y="2628900"/>
              <a:chExt cx="4996434" cy="2274570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4221480" y="2628900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500" dirty="0">
                    <a:solidFill>
                      <a:srgbClr val="3A3128"/>
                    </a:solidFill>
                    <a:latin typeface="+mn-lt"/>
                    <a:ea typeface="+mn-ea"/>
                    <a:cs typeface="+mn-cs"/>
                  </a:rPr>
                  <a:t>730.000 ha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031480" y="2628900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500" dirty="0">
                    <a:solidFill>
                      <a:srgbClr val="3A3128"/>
                    </a:solidFill>
                    <a:latin typeface="+mn-lt"/>
                    <a:ea typeface="+mn-ea"/>
                    <a:cs typeface="+mn-cs"/>
                  </a:rPr>
                  <a:t>212.106 ha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221480" y="3124200"/>
                <a:ext cx="21488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500" dirty="0">
                    <a:solidFill>
                      <a:srgbClr val="3A3128"/>
                    </a:solidFill>
                    <a:latin typeface="+mn-lt"/>
                    <a:ea typeface="+mn-ea"/>
                    <a:cs typeface="+mn-cs"/>
                  </a:rPr>
                  <a:t>644.000 ha (Robusta)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031480" y="3124200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500" dirty="0">
                    <a:solidFill>
                      <a:srgbClr val="3A3128"/>
                    </a:solidFill>
                    <a:latin typeface="+mn-lt"/>
                    <a:ea typeface="+mn-ea"/>
                    <a:cs typeface="+mn-cs"/>
                  </a:rPr>
                  <a:t>200.441 ha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221480" y="3619500"/>
                <a:ext cx="225709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500" dirty="0">
                    <a:solidFill>
                      <a:srgbClr val="3A3128"/>
                    </a:solidFill>
                    <a:latin typeface="+mn-lt"/>
                    <a:ea typeface="+mn-ea"/>
                    <a:cs typeface="+mn-cs"/>
                  </a:rPr>
                  <a:t>2,93 tấn/ha (Robusta)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031480" y="3619500"/>
                <a:ext cx="118643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500" dirty="0">
                    <a:solidFill>
                      <a:srgbClr val="3A3128"/>
                    </a:solidFill>
                    <a:latin typeface="+mn-lt"/>
                    <a:ea typeface="+mn-ea"/>
                    <a:cs typeface="+mn-cs"/>
                  </a:rPr>
                  <a:t>26,72 tạ/ha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221480" y="4114800"/>
                <a:ext cx="198405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500" dirty="0">
                    <a:solidFill>
                      <a:srgbClr val="3A3128"/>
                    </a:solidFill>
                    <a:latin typeface="+mn-lt"/>
                    <a:ea typeface="+mn-ea"/>
                    <a:cs typeface="+mn-cs"/>
                  </a:rPr>
                  <a:t>32,5 triệu bao 60 kg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031480" y="4114800"/>
                <a:ext cx="118643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500" dirty="0">
                    <a:solidFill>
                      <a:srgbClr val="3A3128"/>
                    </a:solidFill>
                    <a:latin typeface="+mn-lt"/>
                    <a:ea typeface="+mn-ea"/>
                    <a:cs typeface="+mn-cs"/>
                  </a:rPr>
                  <a:t>535.672 tấn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221480" y="4610100"/>
                <a:ext cx="209511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500" dirty="0">
                    <a:solidFill>
                      <a:srgbClr val="3A3128"/>
                    </a:solidFill>
                    <a:latin typeface="+mn-lt"/>
                    <a:ea typeface="+mn-ea"/>
                    <a:cs typeface="+mn-cs"/>
                  </a:rPr>
                  <a:t>28,95 triệu bao 60 kg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031480" y="4610100"/>
                <a:ext cx="118643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500" dirty="0">
                    <a:solidFill>
                      <a:srgbClr val="3A3128"/>
                    </a:solidFill>
                    <a:latin typeface="+mn-lt"/>
                    <a:ea typeface="+mn-ea"/>
                    <a:cs typeface="+mn-cs"/>
                  </a:rPr>
                  <a:t>264.404 tấn</a:t>
                </a:r>
              </a:p>
            </p:txBody>
          </p:sp>
        </p:grpSp>
      </p:grpSp>
      <p:grpSp>
        <p:nvGrpSpPr>
          <p:cNvPr id="45" name="table-caveat"/>
          <p:cNvGrpSpPr/>
          <p:nvPr/>
        </p:nvGrpSpPr>
        <p:grpSpPr>
          <a:xfrm>
            <a:off x="600456" y="5234940"/>
            <a:ext cx="9105138" cy="960311"/>
            <a:chOff x="600456" y="5234940"/>
            <a:chExt cx="9105138" cy="960311"/>
          </a:xfrm>
        </p:grpSpPr>
        <p:sp>
          <p:nvSpPr>
            <p:cNvPr id="43" name="TextBox 43"/>
            <p:cNvSpPr txBox="1"/>
            <p:nvPr/>
          </p:nvSpPr>
          <p:spPr>
            <a:xfrm>
              <a:off x="600456" y="5234940"/>
              <a:ext cx="910513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Hai cột dùng kỳ số liệu và đơn vị khác nhau: cả nước là dự báo USDA cho niên vụ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2026/27; Đắk Lắk là số quyết toán niên vụ 2023/24 của UBND tỉnh. Không cộng gộp.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2742" y="5931218"/>
              <a:ext cx="69833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26,72 tạ/ha tương đương khoảng 2,67 tấn/ha (quy đổi của bài giảng, tổng hợp).</a:t>
              </a:r>
            </a:p>
          </p:txBody>
        </p:sp>
      </p:grpSp>
      <p:grpSp>
        <p:nvGrpSpPr>
          <p:cNvPr id="48" name="page-footer"/>
          <p:cNvGrpSpPr/>
          <p:nvPr/>
        </p:nvGrpSpPr>
        <p:grpSpPr>
          <a:xfrm>
            <a:off x="603504" y="6461760"/>
            <a:ext cx="10984992" cy="234696"/>
            <a:chOff x="603504" y="6461760"/>
            <a:chExt cx="10984992" cy="234696"/>
          </a:xfrm>
        </p:grpSpPr>
        <p:sp>
          <p:nvSpPr>
            <p:cNvPr id="46" name="TextBox 46"/>
            <p:cNvSpPr txBox="1"/>
            <p:nvPr/>
          </p:nvSpPr>
          <p:spPr>
            <a:xfrm>
              <a:off x="603504" y="6461760"/>
              <a:ext cx="75651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Nguồn: USDA FAS VM2026-0016 (20/5/2026); Cổng thông tin điện tử tỉnh Đắk Lắk (28/11/2024).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398606" y="64617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5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4360" y="444818"/>
            <a:ext cx="7705725" cy="865822"/>
            <a:chOff x="594360" y="444818"/>
            <a:chExt cx="7705725" cy="86582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44818"/>
              <a:ext cx="23031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CHẶNG 3 · DÒNG CHẢY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3900"/>
              <a:ext cx="770572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000" b="1" dirty="0">
                  <a:solidFill>
                    <a:srgbClr val="221C15"/>
                  </a:solidFill>
                  <a:latin typeface="+mj-lt"/>
                  <a:ea typeface="+mj-ea"/>
                  <a:cs typeface="+mj-cs"/>
                </a:rPr>
                <a:t>Sản lượng và xuất khẩu theo niên vụ</a:t>
              </a:r>
            </a:p>
          </p:txBody>
        </p:sp>
      </p:grpSp>
      <p:grpSp>
        <p:nvGrpSpPr>
          <p:cNvPr id="7" name="!!rail"/>
          <p:cNvGrpSpPr/>
          <p:nvPr/>
        </p:nvGrpSpPr>
        <p:grpSpPr>
          <a:xfrm>
            <a:off x="609600" y="1247775"/>
            <a:ext cx="10972800" cy="57150"/>
            <a:chOff x="609600" y="1247775"/>
            <a:chExt cx="10972800" cy="57150"/>
          </a:xfrm>
        </p:grpSpPr>
        <p:sp>
          <p:nvSpPr>
            <p:cNvPr id="5" name="Line 5"/>
            <p:cNvSpPr/>
            <p:nvPr/>
          </p:nvSpPr>
          <p:spPr>
            <a:xfrm>
              <a:off x="609600" y="1276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9CDB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4991100" y="1247775"/>
              <a:ext cx="2190750" cy="57150"/>
            </a:xfrm>
            <a:prstGeom prst="rect">
              <a:avLst/>
            </a:prstGeom>
            <a:solidFill>
              <a:srgbClr val="9C2B1B"/>
            </a:solidFill>
            <a:ln>
              <a:noFill/>
            </a:ln>
          </p:spPr>
        </p:sp>
      </p:grpSp>
      <p:grpSp>
        <p:nvGrpSpPr>
          <p:cNvPr id="46" name="output-export-trend"/>
          <p:cNvGrpSpPr/>
          <p:nvPr/>
        </p:nvGrpSpPr>
        <p:grpSpPr>
          <a:xfrm>
            <a:off x="1560957" y="1895475"/>
            <a:ext cx="6249543" cy="3493770"/>
            <a:chOff x="1560957" y="1895475"/>
            <a:chExt cx="6249543" cy="3493770"/>
          </a:xfrm>
        </p:grpSpPr>
        <p:grpSp>
          <p:nvGrpSpPr>
            <p:cNvPr id="45" name="output-export-trend-chartArea"/>
            <p:cNvGrpSpPr/>
            <p:nvPr/>
          </p:nvGrpSpPr>
          <p:grpSpPr>
            <a:xfrm>
              <a:off x="1560957" y="1895475"/>
              <a:ext cx="6249543" cy="3493770"/>
              <a:chOff x="1560957" y="1895475"/>
              <a:chExt cx="6249543" cy="3493770"/>
            </a:xfrm>
          </p:grpSpPr>
          <p:grpSp>
            <p:nvGrpSpPr>
              <p:cNvPr id="11" name="output-export-trend-grid"/>
              <p:cNvGrpSpPr/>
              <p:nvPr/>
            </p:nvGrpSpPr>
            <p:grpSpPr>
              <a:xfrm>
                <a:off x="1905000" y="2000250"/>
                <a:ext cx="5905500" cy="1978057"/>
                <a:chOff x="1905000" y="2000250"/>
                <a:chExt cx="5905500" cy="1978057"/>
              </a:xfrm>
            </p:grpSpPr>
            <p:sp>
              <p:nvSpPr>
                <p:cNvPr id="8" name="Line 8"/>
                <p:cNvSpPr/>
                <p:nvPr/>
              </p:nvSpPr>
              <p:spPr>
                <a:xfrm>
                  <a:off x="1905000" y="3968782"/>
                  <a:ext cx="5905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05500" h="9525">
                      <a:moveTo>
                        <a:pt x="0" y="0"/>
                      </a:moveTo>
                      <a:lnTo>
                        <a:pt x="5905500" y="0"/>
                      </a:lnTo>
                    </a:path>
                  </a:pathLst>
                </a:custGeom>
                <a:noFill/>
                <a:ln w="9525">
                  <a:solidFill>
                    <a:srgbClr val="E4DACB"/>
                  </a:solidFill>
                </a:ln>
              </p:spPr>
            </p:sp>
            <p:sp>
              <p:nvSpPr>
                <p:cNvPr id="9" name="Line 9"/>
                <p:cNvSpPr/>
                <p:nvPr/>
              </p:nvSpPr>
              <p:spPr>
                <a:xfrm>
                  <a:off x="1905000" y="2984468"/>
                  <a:ext cx="5905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05500" h="9525">
                      <a:moveTo>
                        <a:pt x="0" y="0"/>
                      </a:moveTo>
                      <a:lnTo>
                        <a:pt x="5905500" y="0"/>
                      </a:lnTo>
                    </a:path>
                  </a:pathLst>
                </a:custGeom>
                <a:noFill/>
                <a:ln w="9525">
                  <a:solidFill>
                    <a:srgbClr val="E4DACB"/>
                  </a:solidFill>
                </a:ln>
              </p:spPr>
            </p:sp>
            <p:sp>
              <p:nvSpPr>
                <p:cNvPr id="10" name="Line 10"/>
                <p:cNvSpPr/>
                <p:nvPr/>
              </p:nvSpPr>
              <p:spPr>
                <a:xfrm>
                  <a:off x="1905000" y="2000250"/>
                  <a:ext cx="5905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05500" h="9525">
                      <a:moveTo>
                        <a:pt x="0" y="0"/>
                      </a:moveTo>
                      <a:lnTo>
                        <a:pt x="5905500" y="0"/>
                      </a:lnTo>
                    </a:path>
                  </a:pathLst>
                </a:custGeom>
                <a:noFill/>
                <a:ln w="9525">
                  <a:solidFill>
                    <a:srgbClr val="E4DACB"/>
                  </a:solidFill>
                </a:ln>
              </p:spPr>
            </p:sp>
          </p:grpSp>
          <p:grpSp>
            <p:nvGrpSpPr>
              <p:cNvPr id="14" name="output-export-trend-axis"/>
              <p:cNvGrpSpPr/>
              <p:nvPr/>
            </p:nvGrpSpPr>
            <p:grpSpPr>
              <a:xfrm>
                <a:off x="1905000" y="2000250"/>
                <a:ext cx="5905500" cy="2962275"/>
                <a:chOff x="1905000" y="2000250"/>
                <a:chExt cx="5905500" cy="2962275"/>
              </a:xfrm>
            </p:grpSpPr>
            <p:sp>
              <p:nvSpPr>
                <p:cNvPr id="12" name="Line 12"/>
                <p:cNvSpPr/>
                <p:nvPr/>
              </p:nvSpPr>
              <p:spPr>
                <a:xfrm>
                  <a:off x="1905000" y="2000250"/>
                  <a:ext cx="9525" cy="2952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952750">
                      <a:moveTo>
                        <a:pt x="0" y="0"/>
                      </a:moveTo>
                      <a:lnTo>
                        <a:pt x="0" y="2952750"/>
                      </a:lnTo>
                    </a:path>
                  </a:pathLst>
                </a:custGeom>
                <a:noFill/>
                <a:ln w="14288">
                  <a:solidFill>
                    <a:srgbClr val="B8A88F"/>
                  </a:solidFill>
                </a:ln>
              </p:spPr>
            </p:sp>
            <p:sp>
              <p:nvSpPr>
                <p:cNvPr id="13" name="Line 13"/>
                <p:cNvSpPr/>
                <p:nvPr/>
              </p:nvSpPr>
              <p:spPr>
                <a:xfrm>
                  <a:off x="1905000" y="4953000"/>
                  <a:ext cx="5905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05500" h="9525">
                      <a:moveTo>
                        <a:pt x="0" y="0"/>
                      </a:moveTo>
                      <a:lnTo>
                        <a:pt x="5905500" y="0"/>
                      </a:lnTo>
                    </a:path>
                  </a:pathLst>
                </a:custGeom>
                <a:noFill/>
                <a:ln w="14288">
                  <a:solidFill>
                    <a:srgbClr val="B8A88F"/>
                  </a:solidFill>
                </a:ln>
              </p:spPr>
            </p:sp>
          </p:grpSp>
          <p:grpSp>
            <p:nvGrpSpPr>
              <p:cNvPr id="19" name="output-export-trend-value-labels"/>
              <p:cNvGrpSpPr/>
              <p:nvPr/>
            </p:nvGrpSpPr>
            <p:grpSpPr>
              <a:xfrm>
                <a:off x="1560957" y="1895475"/>
                <a:ext cx="237363" cy="3246120"/>
                <a:chOff x="1560957" y="1895475"/>
                <a:chExt cx="237363" cy="3246120"/>
              </a:xfrm>
            </p:grpSpPr>
            <p:sp>
              <p:nvSpPr>
                <p:cNvPr id="15" name="TextBox 15"/>
                <p:cNvSpPr txBox="1"/>
                <p:nvPr/>
              </p:nvSpPr>
              <p:spPr>
                <a:xfrm>
                  <a:off x="1560957" y="4848225"/>
                  <a:ext cx="237363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vi-VN" sz="1500" dirty="0">
                      <a:solidFill>
                        <a:srgbClr val="6B5B4A"/>
                      </a:solidFill>
                      <a:latin typeface="+mn-lt"/>
                      <a:ea typeface="+mn-ea"/>
                      <a:cs typeface="+mn-cs"/>
                    </a:rPr>
                    <a:t>20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1560957" y="3864007"/>
                  <a:ext cx="237363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vi-VN" sz="1500" dirty="0">
                      <a:solidFill>
                        <a:srgbClr val="6B5B4A"/>
                      </a:solidFill>
                      <a:latin typeface="+mn-lt"/>
                      <a:ea typeface="+mn-ea"/>
                      <a:cs typeface="+mn-cs"/>
                    </a:rPr>
                    <a:t>25</a:t>
                  </a: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1560957" y="2879693"/>
                  <a:ext cx="237363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vi-VN" sz="1500" dirty="0">
                      <a:solidFill>
                        <a:srgbClr val="6B5B4A"/>
                      </a:solidFill>
                      <a:latin typeface="+mn-lt"/>
                      <a:ea typeface="+mn-ea"/>
                      <a:cs typeface="+mn-cs"/>
                    </a:rPr>
                    <a:t>30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1560957" y="1895475"/>
                  <a:ext cx="237363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vi-VN" sz="1500" dirty="0">
                      <a:solidFill>
                        <a:srgbClr val="6B5B4A"/>
                      </a:solidFill>
                      <a:latin typeface="+mn-lt"/>
                      <a:ea typeface="+mn-ea"/>
                      <a:cs typeface="+mn-cs"/>
                    </a:rPr>
                    <a:t>35</a:t>
                  </a:r>
                </a:p>
              </p:txBody>
            </p:sp>
          </p:grpSp>
          <p:grpSp>
            <p:nvGrpSpPr>
              <p:cNvPr id="26" name="output-export-trend-category-labels"/>
              <p:cNvGrpSpPr/>
              <p:nvPr/>
            </p:nvGrpSpPr>
            <p:grpSpPr>
              <a:xfrm>
                <a:off x="2000821" y="5095875"/>
                <a:ext cx="5713857" cy="293370"/>
                <a:chOff x="2000821" y="5095875"/>
                <a:chExt cx="5713857" cy="293370"/>
              </a:xfrm>
            </p:grpSpPr>
            <p:sp>
              <p:nvSpPr>
                <p:cNvPr id="20" name="TextBox 20"/>
                <p:cNvSpPr txBox="1"/>
                <p:nvPr/>
              </p:nvSpPr>
              <p:spPr>
                <a:xfrm>
                  <a:off x="2000821" y="5095875"/>
                  <a:ext cx="79267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vi-VN" sz="1500" dirty="0">
                      <a:solidFill>
                        <a:srgbClr val="6B5B4A"/>
                      </a:solidFill>
                      <a:latin typeface="+mn-lt"/>
                      <a:ea typeface="+mn-ea"/>
                      <a:cs typeface="+mn-cs"/>
                    </a:rPr>
                    <a:t>2021/22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2985040" y="5095875"/>
                  <a:ext cx="79267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vi-VN" sz="1500" dirty="0">
                      <a:solidFill>
                        <a:srgbClr val="6B5B4A"/>
                      </a:solidFill>
                      <a:latin typeface="+mn-lt"/>
                      <a:ea typeface="+mn-ea"/>
                      <a:cs typeface="+mn-cs"/>
                    </a:rPr>
                    <a:t>2022/23</a:t>
                  </a: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3969258" y="5095875"/>
                  <a:ext cx="79267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vi-VN" sz="1500" dirty="0">
                      <a:solidFill>
                        <a:srgbClr val="6B5B4A"/>
                      </a:solidFill>
                      <a:latin typeface="+mn-lt"/>
                      <a:ea typeface="+mn-ea"/>
                      <a:cs typeface="+mn-cs"/>
                    </a:rPr>
                    <a:t>2023/24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4953571" y="5095875"/>
                  <a:ext cx="79267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vi-VN" sz="1500" dirty="0">
                      <a:solidFill>
                        <a:srgbClr val="6B5B4A"/>
                      </a:solidFill>
                      <a:latin typeface="+mn-lt"/>
                      <a:ea typeface="+mn-ea"/>
                      <a:cs typeface="+mn-cs"/>
                    </a:rPr>
                    <a:t>2024/25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5937790" y="5095875"/>
                  <a:ext cx="79267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vi-VN" sz="1500" dirty="0">
                      <a:solidFill>
                        <a:srgbClr val="6B5B4A"/>
                      </a:solidFill>
                      <a:latin typeface="+mn-lt"/>
                      <a:ea typeface="+mn-ea"/>
                      <a:cs typeface="+mn-cs"/>
                    </a:rPr>
                    <a:t>2025/26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6922008" y="5095875"/>
                  <a:ext cx="79267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vi-VN" sz="1500" dirty="0">
                      <a:solidFill>
                        <a:srgbClr val="6B5B4A"/>
                      </a:solidFill>
                      <a:latin typeface="+mn-lt"/>
                      <a:ea typeface="+mn-ea"/>
                      <a:cs typeface="+mn-cs"/>
                    </a:rPr>
                    <a:t>2026/27</a:t>
                  </a:r>
                </a:p>
              </p:txBody>
            </p:sp>
          </p:grpSp>
          <p:grpSp>
            <p:nvGrpSpPr>
              <p:cNvPr id="35" name="output-export-trend-output"/>
              <p:cNvGrpSpPr/>
              <p:nvPr/>
            </p:nvGrpSpPr>
            <p:grpSpPr>
              <a:xfrm>
                <a:off x="2340007" y="2435257"/>
                <a:ext cx="5035486" cy="1088707"/>
                <a:chOff x="2340007" y="2435257"/>
                <a:chExt cx="5035486" cy="1088707"/>
              </a:xfrm>
            </p:grpSpPr>
            <p:sp>
              <p:nvSpPr>
                <p:cNvPr id="27" name="Polyline 27"/>
                <p:cNvSpPr/>
                <p:nvPr/>
              </p:nvSpPr>
              <p:spPr>
                <a:xfrm>
                  <a:off x="2397157" y="2492407"/>
                  <a:ext cx="4921187" cy="9744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21187" h="974408">
                      <a:moveTo>
                        <a:pt x="0" y="181070"/>
                      </a:moveTo>
                      <a:lnTo>
                        <a:pt x="984218" y="826770"/>
                      </a:lnTo>
                      <a:lnTo>
                        <a:pt x="1968436" y="974408"/>
                      </a:lnTo>
                      <a:lnTo>
                        <a:pt x="2952750" y="688943"/>
                      </a:lnTo>
                      <a:lnTo>
                        <a:pt x="3936968" y="157448"/>
                      </a:lnTo>
                      <a:lnTo>
                        <a:pt x="4921187" y="0"/>
                      </a:lnTo>
                    </a:path>
                  </a:pathLst>
                </a:custGeom>
                <a:noFill/>
                <a:ln w="38100" cap="rnd">
                  <a:solidFill>
                    <a:srgbClr val="7A3B22"/>
                  </a:solidFill>
                  <a:round/>
                </a:ln>
              </p:spPr>
            </p:sp>
            <p:grpSp>
              <p:nvGrpSpPr>
                <p:cNvPr id="34" name="Group 34"/>
                <p:cNvGrpSpPr/>
                <p:nvPr/>
              </p:nvGrpSpPr>
              <p:grpSpPr>
                <a:xfrm>
                  <a:off x="2340007" y="2435257"/>
                  <a:ext cx="5035486" cy="1088707"/>
                  <a:chOff x="2340007" y="2435257"/>
                  <a:chExt cx="5035486" cy="1088707"/>
                </a:xfrm>
              </p:grpSpPr>
              <p:sp>
                <p:nvSpPr>
                  <p:cNvPr id="28" name="Ellipse 28"/>
                  <p:cNvSpPr/>
                  <p:nvPr/>
                </p:nvSpPr>
                <p:spPr>
                  <a:xfrm>
                    <a:off x="2340007" y="2616327"/>
                    <a:ext cx="114300" cy="114300"/>
                  </a:xfrm>
                  <a:prstGeom prst="ellipse">
                    <a:avLst/>
                  </a:prstGeom>
                  <a:solidFill>
                    <a:srgbClr val="7A3B22"/>
                  </a:solidFill>
                  <a:ln>
                    <a:noFill/>
                  </a:ln>
                </p:spPr>
              </p:sp>
              <p:sp>
                <p:nvSpPr>
                  <p:cNvPr id="29" name="Ellipse 29"/>
                  <p:cNvSpPr/>
                  <p:nvPr/>
                </p:nvSpPr>
                <p:spPr>
                  <a:xfrm>
                    <a:off x="3324225" y="3262027"/>
                    <a:ext cx="114300" cy="114300"/>
                  </a:xfrm>
                  <a:prstGeom prst="ellipse">
                    <a:avLst/>
                  </a:prstGeom>
                  <a:solidFill>
                    <a:srgbClr val="7A3B22"/>
                  </a:solidFill>
                  <a:ln>
                    <a:noFill/>
                  </a:ln>
                </p:spPr>
              </p:sp>
              <p:sp>
                <p:nvSpPr>
                  <p:cNvPr id="30" name="Ellipse 30"/>
                  <p:cNvSpPr/>
                  <p:nvPr/>
                </p:nvSpPr>
                <p:spPr>
                  <a:xfrm>
                    <a:off x="4308443" y="3409664"/>
                    <a:ext cx="114300" cy="114300"/>
                  </a:xfrm>
                  <a:prstGeom prst="ellipse">
                    <a:avLst/>
                  </a:prstGeom>
                  <a:solidFill>
                    <a:srgbClr val="7A3B22"/>
                  </a:solidFill>
                  <a:ln>
                    <a:noFill/>
                  </a:ln>
                </p:spPr>
              </p:sp>
              <p:sp>
                <p:nvSpPr>
                  <p:cNvPr id="31" name="Ellipse 31"/>
                  <p:cNvSpPr/>
                  <p:nvPr/>
                </p:nvSpPr>
                <p:spPr>
                  <a:xfrm>
                    <a:off x="5292757" y="3124200"/>
                    <a:ext cx="114300" cy="114300"/>
                  </a:xfrm>
                  <a:prstGeom prst="ellipse">
                    <a:avLst/>
                  </a:prstGeom>
                  <a:solidFill>
                    <a:srgbClr val="7A3B22"/>
                  </a:solidFill>
                  <a:ln>
                    <a:noFill/>
                  </a:ln>
                </p:spPr>
              </p:sp>
              <p:sp>
                <p:nvSpPr>
                  <p:cNvPr id="32" name="Ellipse 32"/>
                  <p:cNvSpPr/>
                  <p:nvPr/>
                </p:nvSpPr>
                <p:spPr>
                  <a:xfrm>
                    <a:off x="6276975" y="2592705"/>
                    <a:ext cx="114300" cy="114300"/>
                  </a:xfrm>
                  <a:prstGeom prst="ellipse">
                    <a:avLst/>
                  </a:prstGeom>
                  <a:solidFill>
                    <a:srgbClr val="7A3B22"/>
                  </a:solidFill>
                  <a:ln>
                    <a:noFill/>
                  </a:ln>
                </p:spPr>
              </p:sp>
              <p:sp>
                <p:nvSpPr>
                  <p:cNvPr id="33" name="Ellipse 33"/>
                  <p:cNvSpPr/>
                  <p:nvPr/>
                </p:nvSpPr>
                <p:spPr>
                  <a:xfrm>
                    <a:off x="7261193" y="2435257"/>
                    <a:ext cx="114300" cy="114300"/>
                  </a:xfrm>
                  <a:prstGeom prst="ellipse">
                    <a:avLst/>
                  </a:prstGeom>
                  <a:solidFill>
                    <a:srgbClr val="7A3B22"/>
                  </a:solidFill>
                  <a:ln>
                    <a:noFill/>
                  </a:ln>
                </p:spPr>
              </p:sp>
            </p:grpSp>
          </p:grpSp>
          <p:grpSp>
            <p:nvGrpSpPr>
              <p:cNvPr id="44" name="output-export-trend-export"/>
              <p:cNvGrpSpPr/>
              <p:nvPr/>
            </p:nvGrpSpPr>
            <p:grpSpPr>
              <a:xfrm>
                <a:off x="2340007" y="3122200"/>
                <a:ext cx="5035486" cy="1021842"/>
                <a:chOff x="2340007" y="3122200"/>
                <a:chExt cx="5035486" cy="1021842"/>
              </a:xfrm>
            </p:grpSpPr>
            <p:sp>
              <p:nvSpPr>
                <p:cNvPr id="36" name="Polyline 36"/>
                <p:cNvSpPr/>
                <p:nvPr/>
              </p:nvSpPr>
              <p:spPr>
                <a:xfrm>
                  <a:off x="2397157" y="3179350"/>
                  <a:ext cx="4921187" cy="907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21187" h="907542">
                      <a:moveTo>
                        <a:pt x="0" y="0"/>
                      </a:moveTo>
                      <a:lnTo>
                        <a:pt x="984218" y="131921"/>
                      </a:lnTo>
                      <a:lnTo>
                        <a:pt x="1968436" y="907542"/>
                      </a:lnTo>
                      <a:lnTo>
                        <a:pt x="2952750" y="749998"/>
                      </a:lnTo>
                      <a:lnTo>
                        <a:pt x="3936968" y="100393"/>
                      </a:lnTo>
                      <a:lnTo>
                        <a:pt x="4921187" y="11811"/>
                      </a:lnTo>
                    </a:path>
                  </a:pathLst>
                </a:custGeom>
                <a:noFill/>
                <a:ln w="38100" cap="rnd">
                  <a:solidFill>
                    <a:srgbClr val="2F6B4F"/>
                  </a:solidFill>
                  <a:round/>
                </a:ln>
              </p:spPr>
            </p:sp>
            <p:grpSp>
              <p:nvGrpSpPr>
                <p:cNvPr id="43" name="Group 43"/>
                <p:cNvGrpSpPr/>
                <p:nvPr/>
              </p:nvGrpSpPr>
              <p:grpSpPr>
                <a:xfrm>
                  <a:off x="2340007" y="3122200"/>
                  <a:ext cx="5035486" cy="1021842"/>
                  <a:chOff x="2340007" y="3122200"/>
                  <a:chExt cx="5035486" cy="1021842"/>
                </a:xfrm>
              </p:grpSpPr>
              <p:sp>
                <p:nvSpPr>
                  <p:cNvPr id="37" name="Ellipse 37"/>
                  <p:cNvSpPr/>
                  <p:nvPr/>
                </p:nvSpPr>
                <p:spPr>
                  <a:xfrm>
                    <a:off x="2340007" y="3122200"/>
                    <a:ext cx="114300" cy="114300"/>
                  </a:xfrm>
                  <a:prstGeom prst="ellipse">
                    <a:avLst/>
                  </a:prstGeom>
                  <a:solidFill>
                    <a:srgbClr val="2F6B4F"/>
                  </a:solidFill>
                  <a:ln>
                    <a:noFill/>
                  </a:ln>
                </p:spPr>
              </p:sp>
              <p:sp>
                <p:nvSpPr>
                  <p:cNvPr id="38" name="Ellipse 38"/>
                  <p:cNvSpPr/>
                  <p:nvPr/>
                </p:nvSpPr>
                <p:spPr>
                  <a:xfrm>
                    <a:off x="3324225" y="3254121"/>
                    <a:ext cx="114300" cy="114300"/>
                  </a:xfrm>
                  <a:prstGeom prst="ellipse">
                    <a:avLst/>
                  </a:prstGeom>
                  <a:solidFill>
                    <a:srgbClr val="2F6B4F"/>
                  </a:solidFill>
                  <a:ln>
                    <a:noFill/>
                  </a:ln>
                </p:spPr>
              </p:sp>
              <p:sp>
                <p:nvSpPr>
                  <p:cNvPr id="39" name="Ellipse 39"/>
                  <p:cNvSpPr/>
                  <p:nvPr/>
                </p:nvSpPr>
                <p:spPr>
                  <a:xfrm>
                    <a:off x="4308443" y="4029742"/>
                    <a:ext cx="114300" cy="114300"/>
                  </a:xfrm>
                  <a:prstGeom prst="ellipse">
                    <a:avLst/>
                  </a:prstGeom>
                  <a:solidFill>
                    <a:srgbClr val="2F6B4F"/>
                  </a:solidFill>
                  <a:ln>
                    <a:noFill/>
                  </a:ln>
                </p:spPr>
              </p:sp>
              <p:sp>
                <p:nvSpPr>
                  <p:cNvPr id="40" name="Ellipse 40"/>
                  <p:cNvSpPr/>
                  <p:nvPr/>
                </p:nvSpPr>
                <p:spPr>
                  <a:xfrm>
                    <a:off x="5292757" y="3872198"/>
                    <a:ext cx="114300" cy="114300"/>
                  </a:xfrm>
                  <a:prstGeom prst="ellipse">
                    <a:avLst/>
                  </a:prstGeom>
                  <a:solidFill>
                    <a:srgbClr val="2F6B4F"/>
                  </a:solidFill>
                  <a:ln>
                    <a:noFill/>
                  </a:ln>
                </p:spPr>
              </p:sp>
              <p:sp>
                <p:nvSpPr>
                  <p:cNvPr id="41" name="Ellipse 41"/>
                  <p:cNvSpPr/>
                  <p:nvPr/>
                </p:nvSpPr>
                <p:spPr>
                  <a:xfrm>
                    <a:off x="6276975" y="3222593"/>
                    <a:ext cx="114300" cy="114300"/>
                  </a:xfrm>
                  <a:prstGeom prst="ellipse">
                    <a:avLst/>
                  </a:prstGeom>
                  <a:solidFill>
                    <a:srgbClr val="2F6B4F"/>
                  </a:solidFill>
                  <a:ln>
                    <a:noFill/>
                  </a:ln>
                </p:spPr>
              </p:sp>
              <p:sp>
                <p:nvSpPr>
                  <p:cNvPr id="42" name="Ellipse 42"/>
                  <p:cNvSpPr/>
                  <p:nvPr/>
                </p:nvSpPr>
                <p:spPr>
                  <a:xfrm>
                    <a:off x="7261193" y="3134011"/>
                    <a:ext cx="114300" cy="114300"/>
                  </a:xfrm>
                  <a:prstGeom prst="ellipse">
                    <a:avLst/>
                  </a:prstGeom>
                  <a:solidFill>
                    <a:srgbClr val="2F6B4F"/>
                  </a:solidFill>
                  <a:ln>
                    <a:noFill/>
                  </a:ln>
                </p:spPr>
              </p:sp>
            </p:grpSp>
          </p:grpSp>
        </p:grpSp>
      </p:grpSp>
      <p:grpSp>
        <p:nvGrpSpPr>
          <p:cNvPr id="53" name="trend-legend"/>
          <p:cNvGrpSpPr/>
          <p:nvPr/>
        </p:nvGrpSpPr>
        <p:grpSpPr>
          <a:xfrm>
            <a:off x="1428750" y="5619750"/>
            <a:ext cx="3116056" cy="293370"/>
            <a:chOff x="1428750" y="5619750"/>
            <a:chExt cx="3116056" cy="293370"/>
          </a:xfrm>
        </p:grpSpPr>
        <p:sp>
          <p:nvSpPr>
            <p:cNvPr id="47" name="Line 47"/>
            <p:cNvSpPr/>
            <p:nvPr/>
          </p:nvSpPr>
          <p:spPr>
            <a:xfrm>
              <a:off x="1428750" y="57150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38100">
              <a:solidFill>
                <a:srgbClr val="7A3B22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1543050" y="5657850"/>
              <a:ext cx="114300" cy="114300"/>
            </a:xfrm>
            <a:prstGeom prst="ellipse">
              <a:avLst/>
            </a:prstGeom>
            <a:solidFill>
              <a:srgbClr val="7A3B2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859280" y="5619750"/>
              <a:ext cx="9201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5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Sản lượng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3143250" y="57150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38100">
              <a:solidFill>
                <a:srgbClr val="2F6B4F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3257550" y="5657850"/>
              <a:ext cx="114300" cy="114300"/>
            </a:xfrm>
            <a:prstGeom prst="ellipse">
              <a:avLst/>
            </a:prstGeom>
            <a:solidFill>
              <a:srgbClr val="2F6B4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573780" y="5619750"/>
              <a:ext cx="9710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5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Xuất khẩu</a:t>
              </a:r>
            </a:p>
          </p:txBody>
        </p:sp>
      </p:grpSp>
      <p:grpSp>
        <p:nvGrpSpPr>
          <p:cNvPr id="58" name="!!record"/>
          <p:cNvGrpSpPr/>
          <p:nvPr/>
        </p:nvGrpSpPr>
        <p:grpSpPr>
          <a:xfrm>
            <a:off x="8382000" y="1905000"/>
            <a:ext cx="3200400" cy="1828800"/>
            <a:chOff x="8382000" y="1905000"/>
            <a:chExt cx="3200400" cy="1828800"/>
          </a:xfrm>
        </p:grpSpPr>
        <p:sp>
          <p:nvSpPr>
            <p:cNvPr id="54" name="Freeform 54"/>
            <p:cNvSpPr/>
            <p:nvPr/>
          </p:nvSpPr>
          <p:spPr>
            <a:xfrm>
              <a:off x="8382000" y="1905000"/>
              <a:ext cx="3200400" cy="1828800"/>
            </a:xfrm>
            <a:prstGeom prst="snip1Rect">
              <a:avLst/>
            </a:prstGeom>
            <a:solidFill>
              <a:srgbClr val="EFE7D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603742" y="2121218"/>
              <a:ext cx="20890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NIÊN VỤ 2024–2025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593836" y="2501265"/>
              <a:ext cx="281467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300" b="1" dirty="0">
                  <a:solidFill>
                    <a:srgbClr val="9C2B1B"/>
                  </a:solidFill>
                  <a:latin typeface="+mj-lt"/>
                  <a:ea typeface="+mj-ea"/>
                  <a:cs typeface="+mj-cs"/>
                </a:rPr>
                <a:t>8,4 tỷ USD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603742" y="3054668"/>
              <a:ext cx="213112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kim ngạch xuất khẩu, mức</a:t>
              </a:r>
              <a:br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cao nhất từ trước tới nay</a:t>
              </a:r>
            </a:p>
          </p:txBody>
        </p:sp>
      </p:grpSp>
      <p:grpSp>
        <p:nvGrpSpPr>
          <p:cNvPr id="60" name="record-trend"/>
          <p:cNvGrpSpPr/>
          <p:nvPr/>
        </p:nvGrpSpPr>
        <p:grpSpPr>
          <a:xfrm>
            <a:off x="8372856" y="4034790"/>
            <a:ext cx="2646617" cy="1380744"/>
            <a:chOff x="8372856" y="4034790"/>
            <a:chExt cx="2646617" cy="1380744"/>
          </a:xfrm>
        </p:grpSpPr>
        <p:sp>
          <p:nvSpPr>
            <p:cNvPr id="59" name="TextBox 59"/>
            <p:cNvSpPr txBox="1"/>
            <p:nvPr/>
          </p:nvSpPr>
          <p:spPr>
            <a:xfrm>
              <a:off x="8372856" y="4034790"/>
              <a:ext cx="2646617" cy="13807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Xuất khẩu giảm mạnh ở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niên vụ 2023/24 rồi hồi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 xml:space="preserve">phục lên </a:t>
              </a:r>
              <a:r>
                <a:rPr lang="vi-VN" sz="1800" b="1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28,5 triệu bao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ở niên vụ 2025/26.</a:t>
              </a:r>
            </a:p>
          </p:txBody>
        </p:sp>
      </p:grpSp>
      <p:grpSp>
        <p:nvGrpSpPr>
          <p:cNvPr id="62" name="record-unit"/>
          <p:cNvGrpSpPr/>
          <p:nvPr/>
        </p:nvGrpSpPr>
        <p:grpSpPr>
          <a:xfrm>
            <a:off x="8375142" y="5550218"/>
            <a:ext cx="2542604" cy="759333"/>
            <a:chOff x="8375142" y="5550218"/>
            <a:chExt cx="2542604" cy="759333"/>
          </a:xfrm>
        </p:grpSpPr>
        <p:sp>
          <p:nvSpPr>
            <p:cNvPr id="61" name="TextBox 61"/>
            <p:cNvSpPr txBox="1"/>
            <p:nvPr/>
          </p:nvSpPr>
          <p:spPr>
            <a:xfrm>
              <a:off x="8375142" y="5550218"/>
              <a:ext cx="2542604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Đơn vị: triệu bao 60 kg (GBE).</a:t>
              </a:r>
              <a:br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Xuất khẩu gồm hạt xanh, rang</a:t>
              </a:r>
              <a:br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xay và hoà tan.</a:t>
              </a:r>
            </a:p>
          </p:txBody>
        </p:sp>
      </p:grpSp>
      <p:grpSp>
        <p:nvGrpSpPr>
          <p:cNvPr id="65" name="page-footer"/>
          <p:cNvGrpSpPr/>
          <p:nvPr/>
        </p:nvGrpSpPr>
        <p:grpSpPr>
          <a:xfrm>
            <a:off x="603504" y="6461760"/>
            <a:ext cx="10984992" cy="234696"/>
            <a:chOff x="603504" y="6461760"/>
            <a:chExt cx="10984992" cy="234696"/>
          </a:xfrm>
        </p:grpSpPr>
        <p:sp>
          <p:nvSpPr>
            <p:cNvPr id="63" name="TextBox 63"/>
            <p:cNvSpPr txBox="1"/>
            <p:nvPr/>
          </p:nvSpPr>
          <p:spPr>
            <a:xfrm>
              <a:off x="603504" y="6461760"/>
              <a:ext cx="90121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Nguồn: USDA FAS, Coffee: World Markets and Trade (7/2026); kim ngạch theo VICOFA dẫn qua VietnamNet (2025).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398606" y="64617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9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4360" y="444818"/>
            <a:ext cx="8445495" cy="865822"/>
            <a:chOff x="594360" y="444818"/>
            <a:chExt cx="8445495" cy="86582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44818"/>
              <a:ext cx="23345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CHẶNG 3 · KỶ LỤC GIÁ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3900"/>
              <a:ext cx="844549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000" b="1" dirty="0">
                  <a:solidFill>
                    <a:srgbClr val="221C15"/>
                  </a:solidFill>
                  <a:latin typeface="+mj-lt"/>
                  <a:ea typeface="+mj-ea"/>
                  <a:cs typeface="+mj-cs"/>
                </a:rPr>
                <a:t>Kỷ lục kim ngạch của niên vụ 2024–2025</a:t>
              </a:r>
            </a:p>
          </p:txBody>
        </p:sp>
      </p:grpSp>
      <p:grpSp>
        <p:nvGrpSpPr>
          <p:cNvPr id="7" name="!!rail"/>
          <p:cNvGrpSpPr/>
          <p:nvPr/>
        </p:nvGrpSpPr>
        <p:grpSpPr>
          <a:xfrm>
            <a:off x="609600" y="1247775"/>
            <a:ext cx="10972800" cy="57150"/>
            <a:chOff x="609600" y="1247775"/>
            <a:chExt cx="10972800" cy="57150"/>
          </a:xfrm>
        </p:grpSpPr>
        <p:sp>
          <p:nvSpPr>
            <p:cNvPr id="5" name="Line 5"/>
            <p:cNvSpPr/>
            <p:nvPr/>
          </p:nvSpPr>
          <p:spPr>
            <a:xfrm>
              <a:off x="609600" y="1276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9CDB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4991100" y="1247775"/>
              <a:ext cx="2190750" cy="57150"/>
            </a:xfrm>
            <a:prstGeom prst="rect">
              <a:avLst/>
            </a:prstGeom>
            <a:solidFill>
              <a:srgbClr val="9C2B1B"/>
            </a:solidFill>
            <a:ln>
              <a:noFill/>
            </a:ln>
          </p:spPr>
        </p:sp>
      </p:grpSp>
      <p:grpSp>
        <p:nvGrpSpPr>
          <p:cNvPr id="14" name="!!record"/>
          <p:cNvGrpSpPr/>
          <p:nvPr/>
        </p:nvGrpSpPr>
        <p:grpSpPr>
          <a:xfrm>
            <a:off x="609600" y="1676400"/>
            <a:ext cx="10972800" cy="1905000"/>
            <a:chOff x="609600" y="1676400"/>
            <a:chExt cx="10972800" cy="1905000"/>
          </a:xfrm>
        </p:grpSpPr>
        <p:sp>
          <p:nvSpPr>
            <p:cNvPr id="8" name="Freeform 8"/>
            <p:cNvSpPr/>
            <p:nvPr/>
          </p:nvSpPr>
          <p:spPr>
            <a:xfrm>
              <a:off x="609600" y="1676400"/>
              <a:ext cx="10972800" cy="1905000"/>
            </a:xfrm>
            <a:prstGeom prst="snip1Rect">
              <a:avLst/>
            </a:prstGeom>
            <a:solidFill>
              <a:srgbClr val="EFE7D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07542" y="1911668"/>
              <a:ext cx="43998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NIÊN VỤ 2024–2025 · 10/2024 – 9/2025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5350" y="2369820"/>
              <a:ext cx="4589069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5400" b="1" dirty="0">
                  <a:solidFill>
                    <a:srgbClr val="9C2B1B"/>
                  </a:solidFill>
                  <a:latin typeface="+mj-lt"/>
                  <a:ea typeface="+mj-ea"/>
                  <a:cs typeface="+mj-cs"/>
                </a:rPr>
                <a:t>8,4 tỷ USD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7542" y="3149918"/>
              <a:ext cx="2685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kim ngạch xuất khẩu cả niên vụ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50736" y="2596515"/>
              <a:ext cx="175854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300" b="1" dirty="0">
                  <a:solidFill>
                    <a:srgbClr val="2F6B4F"/>
                  </a:solidFill>
                  <a:latin typeface="+mj-lt"/>
                  <a:ea typeface="+mj-ea"/>
                  <a:cs typeface="+mj-cs"/>
                </a:rPr>
                <a:t>+55,5%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60642" y="3149918"/>
              <a:ext cx="2403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giá trị so với niên vụ trước</a:t>
              </a:r>
            </a:p>
          </p:txBody>
        </p:sp>
      </p:grpSp>
      <p:grpSp>
        <p:nvGrpSpPr>
          <p:cNvPr id="17" name="stat-volume"/>
          <p:cNvGrpSpPr/>
          <p:nvPr/>
        </p:nvGrpSpPr>
        <p:grpSpPr>
          <a:xfrm>
            <a:off x="592836" y="3872865"/>
            <a:ext cx="4621568" cy="798386"/>
            <a:chOff x="592836" y="3872865"/>
            <a:chExt cx="4621568" cy="798386"/>
          </a:xfrm>
        </p:grpSpPr>
        <p:sp>
          <p:nvSpPr>
            <p:cNvPr id="15" name="TextBox 15"/>
            <p:cNvSpPr txBox="1"/>
            <p:nvPr/>
          </p:nvSpPr>
          <p:spPr>
            <a:xfrm>
              <a:off x="592836" y="3872865"/>
              <a:ext cx="31878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300" b="1" dirty="0">
                  <a:solidFill>
                    <a:srgbClr val="221C15"/>
                  </a:solidFill>
                  <a:latin typeface="+mj-lt"/>
                  <a:ea typeface="+mj-ea"/>
                  <a:cs typeface="+mj-cs"/>
                </a:rPr>
                <a:t>1,5 triệu tấn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2742" y="4407218"/>
              <a:ext cx="46116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khối lượng xuất khẩu, tăng 1,8% so với niên vụ trước</a:t>
              </a:r>
            </a:p>
          </p:txBody>
        </p:sp>
      </p:grpSp>
      <p:grpSp>
        <p:nvGrpSpPr>
          <p:cNvPr id="20" name="stat-price"/>
          <p:cNvGrpSpPr/>
          <p:nvPr/>
        </p:nvGrpSpPr>
        <p:grpSpPr>
          <a:xfrm>
            <a:off x="6155436" y="3872865"/>
            <a:ext cx="3798639" cy="798386"/>
            <a:chOff x="6155436" y="3872865"/>
            <a:chExt cx="3798639" cy="798386"/>
          </a:xfrm>
        </p:grpSpPr>
        <p:sp>
          <p:nvSpPr>
            <p:cNvPr id="18" name="TextBox 18"/>
            <p:cNvSpPr txBox="1"/>
            <p:nvPr/>
          </p:nvSpPr>
          <p:spPr>
            <a:xfrm>
              <a:off x="6155436" y="3872865"/>
              <a:ext cx="379863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300" b="1" dirty="0">
                  <a:solidFill>
                    <a:srgbClr val="221C15"/>
                  </a:solidFill>
                  <a:latin typeface="+mj-lt"/>
                  <a:ea typeface="+mj-ea"/>
                  <a:cs typeface="+mj-cs"/>
                </a:rPr>
                <a:t>5.610 USD/tấn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165342" y="4407218"/>
              <a:ext cx="32304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giá xuất khẩu bình quân, tăng 52,7%</a:t>
              </a:r>
            </a:p>
          </p:txBody>
        </p:sp>
      </p:grpSp>
      <p:grpSp>
        <p:nvGrpSpPr>
          <p:cNvPr id="23" name="stat-output"/>
          <p:cNvGrpSpPr/>
          <p:nvPr/>
        </p:nvGrpSpPr>
        <p:grpSpPr>
          <a:xfrm>
            <a:off x="592836" y="5015865"/>
            <a:ext cx="3835979" cy="798386"/>
            <a:chOff x="592836" y="5015865"/>
            <a:chExt cx="3835979" cy="798386"/>
          </a:xfrm>
        </p:grpSpPr>
        <p:sp>
          <p:nvSpPr>
            <p:cNvPr id="21" name="TextBox 21"/>
            <p:cNvSpPr txBox="1"/>
            <p:nvPr/>
          </p:nvSpPr>
          <p:spPr>
            <a:xfrm>
              <a:off x="592836" y="5015865"/>
              <a:ext cx="345891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300" b="1" dirty="0">
                  <a:solidFill>
                    <a:srgbClr val="221C15"/>
                  </a:solidFill>
                  <a:latin typeface="+mj-lt"/>
                  <a:ea typeface="+mj-ea"/>
                  <a:cs typeface="+mj-cs"/>
                </a:rPr>
                <a:t>29,5 triệu bao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2742" y="5550218"/>
              <a:ext cx="38260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sản lượng niên vụ theo VICOFA, tăng hơn 9%</a:t>
              </a:r>
            </a:p>
          </p:txBody>
        </p:sp>
      </p:grpSp>
      <p:grpSp>
        <p:nvGrpSpPr>
          <p:cNvPr id="25" name="stat-conflict"/>
          <p:cNvGrpSpPr/>
          <p:nvPr/>
        </p:nvGrpSpPr>
        <p:grpSpPr>
          <a:xfrm>
            <a:off x="6165342" y="5073968"/>
            <a:ext cx="4720018" cy="759333"/>
            <a:chOff x="6165342" y="5073968"/>
            <a:chExt cx="4720018" cy="759333"/>
          </a:xfrm>
        </p:grpSpPr>
        <p:sp>
          <p:nvSpPr>
            <p:cNvPr id="24" name="TextBox 24"/>
            <p:cNvSpPr txBox="1"/>
            <p:nvPr/>
          </p:nvSpPr>
          <p:spPr>
            <a:xfrm>
              <a:off x="6165342" y="5073968"/>
              <a:ext cx="4720018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Lưu ý nguồn: cùng thông cáo VICOFA ngày 24/10/2025,</a:t>
              </a:r>
              <a:br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VietnamNet ghi mức tăng 1,8% về lượng còn VietnamPlus</a:t>
              </a:r>
              <a:br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ghi tăng gần 6%. Bài giảng dùng 1,8% vì hai nguồn trùng.</a:t>
              </a:r>
            </a:p>
          </p:txBody>
        </p:sp>
      </p:grpSp>
      <p:grpSp>
        <p:nvGrpSpPr>
          <p:cNvPr id="28" name="page-footer"/>
          <p:cNvGrpSpPr/>
          <p:nvPr/>
        </p:nvGrpSpPr>
        <p:grpSpPr>
          <a:xfrm>
            <a:off x="603504" y="6461760"/>
            <a:ext cx="10984992" cy="234696"/>
            <a:chOff x="603504" y="6461760"/>
            <a:chExt cx="10984992" cy="234696"/>
          </a:xfrm>
        </p:grpSpPr>
        <p:sp>
          <p:nvSpPr>
            <p:cNvPr id="26" name="TextBox 26"/>
            <p:cNvSpPr txBox="1"/>
            <p:nvPr/>
          </p:nvSpPr>
          <p:spPr>
            <a:xfrm>
              <a:off x="603504" y="6461760"/>
              <a:ext cx="93502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Nguồn: VICOFA công bố 24/10/2025, dẫn qua VietnamNet và VietnamPlus; USDA FAS ước 29,0 triệu bao cho cùng niên vụ.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398606" y="64617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mc:AlternateContent>
    <mc:Choice Requires="p159">
      <p:transition p14:dur="9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4360" y="444818"/>
            <a:ext cx="7745578" cy="865822"/>
            <a:chOff x="594360" y="444818"/>
            <a:chExt cx="7745578" cy="86582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44818"/>
              <a:ext cx="2435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CHẶNG 3 · THỊ TRƯỜNG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3900"/>
              <a:ext cx="774557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000" b="1" dirty="0">
                  <a:solidFill>
                    <a:srgbClr val="221C15"/>
                  </a:solidFill>
                  <a:latin typeface="+mj-lt"/>
                  <a:ea typeface="+mj-ea"/>
                  <a:cs typeface="+mj-cs"/>
                </a:rPr>
                <a:t>Gần một nửa lượng cà phê đi châu Âu</a:t>
              </a:r>
            </a:p>
          </p:txBody>
        </p:sp>
      </p:grpSp>
      <p:grpSp>
        <p:nvGrpSpPr>
          <p:cNvPr id="7" name="!!rail"/>
          <p:cNvGrpSpPr/>
          <p:nvPr/>
        </p:nvGrpSpPr>
        <p:grpSpPr>
          <a:xfrm>
            <a:off x="609600" y="1247775"/>
            <a:ext cx="10972800" cy="57150"/>
            <a:chOff x="609600" y="1247775"/>
            <a:chExt cx="10972800" cy="57150"/>
          </a:xfrm>
        </p:grpSpPr>
        <p:sp>
          <p:nvSpPr>
            <p:cNvPr id="5" name="Line 5"/>
            <p:cNvSpPr/>
            <p:nvPr/>
          </p:nvSpPr>
          <p:spPr>
            <a:xfrm>
              <a:off x="609600" y="1276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9CDB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4991100" y="1247775"/>
              <a:ext cx="2190750" cy="57150"/>
            </a:xfrm>
            <a:prstGeom prst="rect">
              <a:avLst/>
            </a:prstGeom>
            <a:solidFill>
              <a:srgbClr val="9C2B1B"/>
            </a:solidFill>
            <a:ln>
              <a:noFill/>
            </a:ln>
          </p:spPr>
        </p:sp>
      </p:grpSp>
      <p:grpSp>
        <p:nvGrpSpPr>
          <p:cNvPr id="14" name="market-share"/>
          <p:cNvGrpSpPr/>
          <p:nvPr/>
        </p:nvGrpSpPr>
        <p:grpSpPr>
          <a:xfrm>
            <a:off x="1739559" y="2324100"/>
            <a:ext cx="2921287" cy="2890921"/>
            <a:chOff x="1739559" y="2324100"/>
            <a:chExt cx="2921287" cy="2890921"/>
          </a:xfrm>
        </p:grpSpPr>
        <p:grpSp>
          <p:nvGrpSpPr>
            <p:cNvPr id="13" name="market-share-chartArea"/>
            <p:cNvGrpSpPr/>
            <p:nvPr/>
          </p:nvGrpSpPr>
          <p:grpSpPr>
            <a:xfrm>
              <a:off x="1739559" y="2324100"/>
              <a:ext cx="2921287" cy="2890921"/>
              <a:chOff x="1739559" y="2324100"/>
              <a:chExt cx="2921287" cy="289092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3238500" y="2324100"/>
                <a:ext cx="1027652" cy="835914"/>
              </a:xfrm>
              <a:custGeom>
                <a:avLst/>
                <a:gdLst/>
                <a:ahLst/>
                <a:cxnLst/>
                <a:rect l="l" t="t" r="r" b="b"/>
                <a:pathLst>
                  <a:path w="1027652" h="835914">
                    <a:moveTo>
                      <a:pt x="0" y="0"/>
                    </a:moveTo>
                    <a:cubicBezTo>
                      <a:pt x="389259" y="0"/>
                      <a:pt x="761194" y="160957"/>
                      <a:pt x="1027652" y="444722"/>
                    </a:cubicBezTo>
                    <a:lnTo>
                      <a:pt x="611029" y="835914"/>
                    </a:lnTo>
                    <a:cubicBezTo>
                      <a:pt x="452593" y="667196"/>
                      <a:pt x="231447" y="571498"/>
                      <a:pt x="0" y="571500"/>
                    </a:cubicBezTo>
                    <a:close/>
                  </a:path>
                </a:pathLst>
              </a:custGeom>
              <a:solidFill>
                <a:srgbClr val="7A3B22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3849529" y="2768822"/>
                <a:ext cx="760762" cy="771906"/>
              </a:xfrm>
              <a:custGeom>
                <a:avLst/>
                <a:gdLst/>
                <a:ahLst/>
                <a:cxnLst/>
                <a:rect l="l" t="t" r="r" b="b"/>
                <a:pathLst>
                  <a:path w="760762" h="771906">
                    <a:moveTo>
                      <a:pt x="416624" y="0"/>
                    </a:moveTo>
                    <a:cubicBezTo>
                      <a:pt x="585320" y="179643"/>
                      <a:pt x="703977" y="400372"/>
                      <a:pt x="760762" y="640175"/>
                    </a:cubicBezTo>
                    <a:lnTo>
                      <a:pt x="204597" y="771906"/>
                    </a:lnTo>
                    <a:cubicBezTo>
                      <a:pt x="170852" y="629298"/>
                      <a:pt x="100307" y="498029"/>
                      <a:pt x="0" y="391192"/>
                    </a:cubicBezTo>
                    <a:close/>
                  </a:path>
                </a:pathLst>
              </a:custGeom>
              <a:solidFill>
                <a:srgbClr val="A85A33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4054126" y="3408998"/>
                <a:ext cx="606720" cy="640937"/>
              </a:xfrm>
              <a:custGeom>
                <a:avLst/>
                <a:gdLst/>
                <a:ahLst/>
                <a:cxnLst/>
                <a:rect l="l" t="t" r="r" b="b"/>
                <a:pathLst>
                  <a:path w="606720" h="640937">
                    <a:moveTo>
                      <a:pt x="556165" y="0"/>
                    </a:moveTo>
                    <a:cubicBezTo>
                      <a:pt x="606035" y="210658"/>
                      <a:pt x="606720" y="429972"/>
                      <a:pt x="558165" y="640937"/>
                    </a:cubicBezTo>
                    <a:lnTo>
                      <a:pt x="1238" y="512826"/>
                    </a:lnTo>
                    <a:cubicBezTo>
                      <a:pt x="30092" y="387384"/>
                      <a:pt x="29669" y="256982"/>
                      <a:pt x="0" y="131731"/>
                    </a:cubicBezTo>
                    <a:close/>
                  </a:path>
                </a:pathLst>
              </a:custGeom>
              <a:solidFill>
                <a:srgbClr val="C08A2E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3385185" y="3921824"/>
                <a:ext cx="1227106" cy="1199960"/>
              </a:xfrm>
              <a:custGeom>
                <a:avLst/>
                <a:gdLst/>
                <a:ahLst/>
                <a:cxnLst/>
                <a:rect l="l" t="t" r="r" b="b"/>
                <a:pathLst>
                  <a:path w="1227106" h="1199960">
                    <a:moveTo>
                      <a:pt x="1227106" y="128111"/>
                    </a:moveTo>
                    <a:cubicBezTo>
                      <a:pt x="1100334" y="679082"/>
                      <a:pt x="656654" y="1101015"/>
                      <a:pt x="100012" y="1199960"/>
                    </a:cubicBezTo>
                    <a:lnTo>
                      <a:pt x="0" y="637222"/>
                    </a:lnTo>
                    <a:cubicBezTo>
                      <a:pt x="330956" y="578410"/>
                      <a:pt x="594767" y="327573"/>
                      <a:pt x="670179" y="0"/>
                    </a:cubicBezTo>
                    <a:close/>
                  </a:path>
                </a:pathLst>
              </a:custGeom>
              <a:solidFill>
                <a:srgbClr val="D7BE96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739559" y="2324100"/>
                <a:ext cx="1745639" cy="2890921"/>
              </a:xfrm>
              <a:custGeom>
                <a:avLst/>
                <a:gdLst/>
                <a:ahLst/>
                <a:cxnLst/>
                <a:rect l="l" t="t" r="r" b="b"/>
                <a:pathLst>
                  <a:path w="1745639" h="2890921">
                    <a:moveTo>
                      <a:pt x="1745639" y="2797683"/>
                    </a:moveTo>
                    <a:cubicBezTo>
                      <a:pt x="1220617" y="2890921"/>
                      <a:pt x="687921" y="2679938"/>
                      <a:pt x="369124" y="2252492"/>
                    </a:cubicBezTo>
                    <a:cubicBezTo>
                      <a:pt x="50328" y="1825046"/>
                      <a:pt x="0" y="1254304"/>
                      <a:pt x="239075" y="777665"/>
                    </a:cubicBezTo>
                    <a:cubicBezTo>
                      <a:pt x="478150" y="301027"/>
                      <a:pt x="965705" y="79"/>
                      <a:pt x="1498941" y="0"/>
                    </a:cubicBezTo>
                    <a:lnTo>
                      <a:pt x="1498941" y="571500"/>
                    </a:lnTo>
                    <a:cubicBezTo>
                      <a:pt x="1181826" y="571459"/>
                      <a:pt x="891837" y="750384"/>
                      <a:pt x="749634" y="1033828"/>
                    </a:cubicBezTo>
                    <a:cubicBezTo>
                      <a:pt x="607430" y="1317272"/>
                      <a:pt x="637362" y="1656699"/>
                      <a:pt x="826974" y="1910883"/>
                    </a:cubicBezTo>
                    <a:cubicBezTo>
                      <a:pt x="1016586" y="2165067"/>
                      <a:pt x="1333411" y="2290482"/>
                      <a:pt x="1645626" y="2234946"/>
                    </a:cubicBezTo>
                    <a:close/>
                  </a:path>
                </a:pathLst>
              </a:custGeom>
              <a:solidFill>
                <a:srgbClr val="BFB3A3"/>
              </a:solidFill>
              <a:ln>
                <a:noFill/>
              </a:ln>
            </p:spPr>
          </p:sp>
        </p:grpSp>
      </p:grpSp>
      <p:grpSp>
        <p:nvGrpSpPr>
          <p:cNvPr id="16" name="market-growth"/>
          <p:cNvGrpSpPr/>
          <p:nvPr/>
        </p:nvGrpSpPr>
        <p:grpSpPr>
          <a:xfrm>
            <a:off x="602742" y="5531168"/>
            <a:ext cx="4239958" cy="759333"/>
            <a:chOff x="602742" y="5531168"/>
            <a:chExt cx="4239958" cy="759333"/>
          </a:xfrm>
        </p:grpSpPr>
        <p:sp>
          <p:nvSpPr>
            <p:cNvPr id="15" name="TextBox 15"/>
            <p:cNvSpPr txBox="1"/>
            <p:nvPr/>
          </p:nvSpPr>
          <p:spPr>
            <a:xfrm>
              <a:off x="602742" y="5531168"/>
              <a:ext cx="4239958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Nửa đầu niên vụ 2025/26, xuất khẩu sang Đức tăng</a:t>
              </a:r>
              <a:br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46%, Hoa Kỳ 37%, Nga 35%, Ý 31%, Tây Ban Nha 22%</a:t>
              </a:r>
              <a:br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và Nhật Bản 19% so với cùng kỳ.</a:t>
              </a:r>
            </a:p>
          </p:txBody>
        </p:sp>
      </p:grpSp>
      <p:grpSp>
        <p:nvGrpSpPr>
          <p:cNvPr id="40" name="market-list"/>
          <p:cNvGrpSpPr/>
          <p:nvPr/>
        </p:nvGrpSpPr>
        <p:grpSpPr>
          <a:xfrm>
            <a:off x="5715000" y="2381250"/>
            <a:ext cx="5876544" cy="2348484"/>
            <a:chOff x="5715000" y="2381250"/>
            <a:chExt cx="5876544" cy="2348484"/>
          </a:xfrm>
        </p:grpSpPr>
        <p:grpSp>
          <p:nvGrpSpPr>
            <p:cNvPr id="22" name="market-list-chips"/>
            <p:cNvGrpSpPr/>
            <p:nvPr/>
          </p:nvGrpSpPr>
          <p:grpSpPr>
            <a:xfrm>
              <a:off x="5715000" y="2381250"/>
              <a:ext cx="114300" cy="2247900"/>
              <a:chOff x="5715000" y="2381250"/>
              <a:chExt cx="114300" cy="22479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5715000" y="2381250"/>
                <a:ext cx="114300" cy="266700"/>
              </a:xfrm>
              <a:prstGeom prst="roundRect">
                <a:avLst>
                  <a:gd name="adj" fmla="val 25000"/>
                </a:avLst>
              </a:prstGeom>
              <a:solidFill>
                <a:srgbClr val="7A3B22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5715000" y="2876550"/>
                <a:ext cx="114300" cy="266700"/>
              </a:xfrm>
              <a:prstGeom prst="roundRect">
                <a:avLst>
                  <a:gd name="adj" fmla="val 25000"/>
                </a:avLst>
              </a:prstGeom>
              <a:solidFill>
                <a:srgbClr val="A85A33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5715000" y="3371850"/>
                <a:ext cx="114300" cy="266700"/>
              </a:xfrm>
              <a:prstGeom prst="roundRect">
                <a:avLst>
                  <a:gd name="adj" fmla="val 25000"/>
                </a:avLst>
              </a:prstGeom>
              <a:solidFill>
                <a:srgbClr val="C08A2E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5715000" y="3867150"/>
                <a:ext cx="114300" cy="266700"/>
              </a:xfrm>
              <a:prstGeom prst="roundRect">
                <a:avLst>
                  <a:gd name="adj" fmla="val 25000"/>
                </a:avLst>
              </a:prstGeom>
              <a:solidFill>
                <a:srgbClr val="D7BE96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5715000" y="4362450"/>
                <a:ext cx="114300" cy="266700"/>
              </a:xfrm>
              <a:prstGeom prst="roundRect">
                <a:avLst>
                  <a:gd name="adj" fmla="val 25000"/>
                </a:avLst>
              </a:prstGeom>
              <a:solidFill>
                <a:srgbClr val="BFB3A3"/>
              </a:solidFill>
              <a:ln>
                <a:noFill/>
              </a:ln>
            </p:spPr>
          </p:sp>
        </p:grpSp>
        <p:grpSp>
          <p:nvGrpSpPr>
            <p:cNvPr id="28" name="market-list-names"/>
            <p:cNvGrpSpPr/>
            <p:nvPr/>
          </p:nvGrpSpPr>
          <p:grpSpPr>
            <a:xfrm>
              <a:off x="6010656" y="2396490"/>
              <a:ext cx="2932176" cy="2333244"/>
              <a:chOff x="6010656" y="2396490"/>
              <a:chExt cx="2932176" cy="2333244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6010656" y="2396490"/>
                <a:ext cx="42565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800" dirty="0">
                    <a:solidFill>
                      <a:srgbClr val="221C15"/>
                    </a:solidFill>
                    <a:latin typeface="+mn-lt"/>
                    <a:ea typeface="+mn-ea"/>
                    <a:cs typeface="+mn-cs"/>
                  </a:rPr>
                  <a:t>Đức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010656" y="2891790"/>
                <a:ext cx="15910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800" dirty="0">
                    <a:solidFill>
                      <a:srgbClr val="221C15"/>
                    </a:solidFill>
                    <a:latin typeface="+mn-lt"/>
                    <a:ea typeface="+mn-ea"/>
                    <a:cs typeface="+mn-cs"/>
                  </a:rPr>
                  <a:t>Ý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010656" y="3387090"/>
                <a:ext cx="13885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800" dirty="0">
                    <a:solidFill>
                      <a:srgbClr val="221C15"/>
                    </a:solidFill>
                    <a:latin typeface="+mn-lt"/>
                    <a:ea typeface="+mn-ea"/>
                    <a:cs typeface="+mn-cs"/>
                  </a:rPr>
                  <a:t>Tây Ban Nha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010656" y="3882390"/>
                <a:ext cx="28600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800" dirty="0">
                    <a:solidFill>
                      <a:srgbClr val="221C15"/>
                    </a:solidFill>
                    <a:latin typeface="+mn-lt"/>
                    <a:ea typeface="+mn-ea"/>
                    <a:cs typeface="+mn-cs"/>
                  </a:rPr>
                  <a:t>Châu Âu khác (tổng hợp)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010656" y="4377690"/>
                <a:ext cx="293217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1800" dirty="0">
                    <a:solidFill>
                      <a:srgbClr val="221C15"/>
                    </a:solidFill>
                    <a:latin typeface="+mn-lt"/>
                    <a:ea typeface="+mn-ea"/>
                    <a:cs typeface="+mn-cs"/>
                  </a:rPr>
                  <a:t>Ngoài châu Âu (tổng hợp)</a:t>
                </a:r>
              </a:p>
            </p:txBody>
          </p:sp>
        </p:grpSp>
        <p:grpSp>
          <p:nvGrpSpPr>
            <p:cNvPr id="34" name="market-list-values"/>
            <p:cNvGrpSpPr/>
            <p:nvPr/>
          </p:nvGrpSpPr>
          <p:grpSpPr>
            <a:xfrm>
              <a:off x="10780197" y="2396490"/>
              <a:ext cx="811347" cy="2333244"/>
              <a:chOff x="10780197" y="2396490"/>
              <a:chExt cx="811347" cy="2333244"/>
            </a:xfrm>
          </p:grpSpPr>
          <p:sp>
            <p:nvSpPr>
              <p:cNvPr id="29" name="TextBox 29"/>
              <p:cNvSpPr txBox="1"/>
              <p:nvPr/>
            </p:nvSpPr>
            <p:spPr>
              <a:xfrm>
                <a:off x="10780197" y="2396490"/>
                <a:ext cx="8113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vi-VN" sz="1800" b="1" dirty="0">
                    <a:solidFill>
                      <a:srgbClr val="221C15"/>
                    </a:solidFill>
                    <a:latin typeface="+mj-lt"/>
                    <a:ea typeface="+mj-ea"/>
                    <a:cs typeface="+mj-cs"/>
                  </a:rPr>
                  <a:t>13,0%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0928055" y="2891790"/>
                <a:ext cx="66348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vi-VN" sz="1800" b="1" dirty="0">
                    <a:solidFill>
                      <a:srgbClr val="221C15"/>
                    </a:solidFill>
                    <a:latin typeface="+mj-lt"/>
                    <a:ea typeface="+mj-ea"/>
                    <a:cs typeface="+mj-cs"/>
                  </a:rPr>
                  <a:t>8,3%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0928055" y="3387090"/>
                <a:ext cx="66348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vi-VN" sz="1800" b="1" dirty="0">
                    <a:solidFill>
                      <a:srgbClr val="221C15"/>
                    </a:solidFill>
                    <a:latin typeface="+mj-lt"/>
                    <a:ea typeface="+mj-ea"/>
                    <a:cs typeface="+mj-cs"/>
                  </a:rPr>
                  <a:t>7,3%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0780197" y="3882390"/>
                <a:ext cx="8113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vi-VN" sz="1800" b="1" dirty="0">
                    <a:solidFill>
                      <a:srgbClr val="221C15"/>
                    </a:solidFill>
                    <a:latin typeface="+mj-lt"/>
                    <a:ea typeface="+mj-ea"/>
                    <a:cs typeface="+mj-cs"/>
                  </a:rPr>
                  <a:t>18,6%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0780197" y="4377690"/>
                <a:ext cx="8113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vi-VN" sz="1800" b="1" dirty="0">
                    <a:solidFill>
                      <a:srgbClr val="221C15"/>
                    </a:solidFill>
                    <a:latin typeface="+mj-lt"/>
                    <a:ea typeface="+mj-ea"/>
                    <a:cs typeface="+mj-cs"/>
                  </a:rPr>
                  <a:t>52,8%</a:t>
                </a:r>
              </a:p>
            </p:txBody>
          </p:sp>
        </p:grpSp>
        <p:grpSp>
          <p:nvGrpSpPr>
            <p:cNvPr id="39" name="market-list-rules"/>
            <p:cNvGrpSpPr/>
            <p:nvPr/>
          </p:nvGrpSpPr>
          <p:grpSpPr>
            <a:xfrm>
              <a:off x="5715000" y="2762250"/>
              <a:ext cx="5867400" cy="1495425"/>
              <a:chOff x="5715000" y="2762250"/>
              <a:chExt cx="5867400" cy="1495425"/>
            </a:xfrm>
          </p:grpSpPr>
          <p:sp>
            <p:nvSpPr>
              <p:cNvPr id="35" name="Line 35"/>
              <p:cNvSpPr/>
              <p:nvPr/>
            </p:nvSpPr>
            <p:spPr>
              <a:xfrm>
                <a:off x="5715000" y="2762250"/>
                <a:ext cx="5867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867400" h="9525">
                    <a:moveTo>
                      <a:pt x="0" y="0"/>
                    </a:moveTo>
                    <a:lnTo>
                      <a:pt x="5867400" y="0"/>
                    </a:lnTo>
                  </a:path>
                </a:pathLst>
              </a:custGeom>
              <a:noFill/>
              <a:ln w="9525">
                <a:solidFill>
                  <a:srgbClr val="E4DACB"/>
                </a:solidFill>
              </a:ln>
            </p:spPr>
          </p:sp>
          <p:sp>
            <p:nvSpPr>
              <p:cNvPr id="36" name="Line 36"/>
              <p:cNvSpPr/>
              <p:nvPr/>
            </p:nvSpPr>
            <p:spPr>
              <a:xfrm>
                <a:off x="5715000" y="3257550"/>
                <a:ext cx="5867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867400" h="9525">
                    <a:moveTo>
                      <a:pt x="0" y="0"/>
                    </a:moveTo>
                    <a:lnTo>
                      <a:pt x="5867400" y="0"/>
                    </a:lnTo>
                  </a:path>
                </a:pathLst>
              </a:custGeom>
              <a:noFill/>
              <a:ln w="9525">
                <a:solidFill>
                  <a:srgbClr val="E4DACB"/>
                </a:solidFill>
              </a:ln>
            </p:spPr>
          </p:sp>
          <p:sp>
            <p:nvSpPr>
              <p:cNvPr id="37" name="Line 37"/>
              <p:cNvSpPr/>
              <p:nvPr/>
            </p:nvSpPr>
            <p:spPr>
              <a:xfrm>
                <a:off x="5715000" y="3752850"/>
                <a:ext cx="5867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867400" h="9525">
                    <a:moveTo>
                      <a:pt x="0" y="0"/>
                    </a:moveTo>
                    <a:lnTo>
                      <a:pt x="5867400" y="0"/>
                    </a:lnTo>
                  </a:path>
                </a:pathLst>
              </a:custGeom>
              <a:noFill/>
              <a:ln w="9525">
                <a:solidFill>
                  <a:srgbClr val="E4DACB"/>
                </a:solidFill>
              </a:ln>
            </p:spPr>
          </p:sp>
          <p:sp>
            <p:nvSpPr>
              <p:cNvPr id="38" name="Line 38"/>
              <p:cNvSpPr/>
              <p:nvPr/>
            </p:nvSpPr>
            <p:spPr>
              <a:xfrm>
                <a:off x="5715000" y="4248150"/>
                <a:ext cx="5867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867400" h="9525">
                    <a:moveTo>
                      <a:pt x="0" y="0"/>
                    </a:moveTo>
                    <a:lnTo>
                      <a:pt x="5867400" y="0"/>
                    </a:lnTo>
                  </a:path>
                </a:pathLst>
              </a:custGeom>
              <a:noFill/>
              <a:ln w="9525">
                <a:solidFill>
                  <a:srgbClr val="E4DACB"/>
                </a:solidFill>
              </a:ln>
            </p:spPr>
          </p:sp>
        </p:grpSp>
      </p:grpSp>
      <p:grpSp>
        <p:nvGrpSpPr>
          <p:cNvPr id="44" name="!!valueBlock"/>
          <p:cNvGrpSpPr/>
          <p:nvPr/>
        </p:nvGrpSpPr>
        <p:grpSpPr>
          <a:xfrm>
            <a:off x="5715000" y="4914900"/>
            <a:ext cx="5867400" cy="1181100"/>
            <a:chOff x="5715000" y="4914900"/>
            <a:chExt cx="5867400" cy="1181100"/>
          </a:xfrm>
        </p:grpSpPr>
        <p:sp>
          <p:nvSpPr>
            <p:cNvPr id="41" name="Freeform 41"/>
            <p:cNvSpPr/>
            <p:nvPr/>
          </p:nvSpPr>
          <p:spPr>
            <a:xfrm>
              <a:off x="5715000" y="4914900"/>
              <a:ext cx="5867400" cy="1181100"/>
            </a:xfrm>
            <a:prstGeom prst="snip1Rect">
              <a:avLst/>
            </a:prstGeom>
            <a:solidFill>
              <a:srgbClr val="EFE7D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64936" y="5263515"/>
              <a:ext cx="148747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300" b="1" dirty="0">
                  <a:solidFill>
                    <a:srgbClr val="9C2B1B"/>
                  </a:solidFill>
                  <a:latin typeface="+mj-lt"/>
                  <a:ea typeface="+mj-ea"/>
                  <a:cs typeface="+mj-cs"/>
                </a:rPr>
                <a:t>47,2%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13142" y="5340668"/>
              <a:ext cx="230257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hơn 710.000 tấn cà phê Việt</a:t>
              </a:r>
              <a:br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Nam đi thị trường châu Âu</a:t>
              </a:r>
            </a:p>
          </p:txBody>
        </p:sp>
      </p:grpSp>
      <p:grpSp>
        <p:nvGrpSpPr>
          <p:cNvPr id="47" name="page-footer"/>
          <p:cNvGrpSpPr/>
          <p:nvPr/>
        </p:nvGrpSpPr>
        <p:grpSpPr>
          <a:xfrm>
            <a:off x="603504" y="6461760"/>
            <a:ext cx="10984992" cy="234696"/>
            <a:chOff x="603504" y="6461760"/>
            <a:chExt cx="10984992" cy="234696"/>
          </a:xfrm>
        </p:grpSpPr>
        <p:sp>
          <p:nvSpPr>
            <p:cNvPr id="45" name="TextBox 45"/>
            <p:cNvSpPr txBox="1"/>
            <p:nvPr/>
          </p:nvSpPr>
          <p:spPr>
            <a:xfrm>
              <a:off x="603504" y="6461760"/>
              <a:ext cx="102599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Nguồn: VICOFA, niên vụ 2024–2025, dẫn qua VietnamNet (2025); tăng trưởng nửa đầu niên vụ 2025/26 theo USDA FAS VM2026-0016.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398606" y="64617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7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4360" y="444818"/>
            <a:ext cx="9051608" cy="865822"/>
            <a:chOff x="594360" y="444818"/>
            <a:chExt cx="9051608" cy="86582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44818"/>
              <a:ext cx="19882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CHẶNG 4 · GIÁ TRỊ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3900"/>
              <a:ext cx="905160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000" b="1" dirty="0">
                  <a:solidFill>
                    <a:srgbClr val="221C15"/>
                  </a:solidFill>
                  <a:latin typeface="+mj-lt"/>
                  <a:ea typeface="+mj-ea"/>
                  <a:cs typeface="+mj-cs"/>
                </a:rPr>
                <a:t>Điểm nghẽn giá trị: phần lớn vẫn xuất thô</a:t>
              </a:r>
            </a:p>
          </p:txBody>
        </p:sp>
      </p:grpSp>
      <p:grpSp>
        <p:nvGrpSpPr>
          <p:cNvPr id="7" name="!!rail"/>
          <p:cNvGrpSpPr/>
          <p:nvPr/>
        </p:nvGrpSpPr>
        <p:grpSpPr>
          <a:xfrm>
            <a:off x="609600" y="1247775"/>
            <a:ext cx="10972800" cy="57150"/>
            <a:chOff x="609600" y="1247775"/>
            <a:chExt cx="10972800" cy="57150"/>
          </a:xfrm>
        </p:grpSpPr>
        <p:sp>
          <p:nvSpPr>
            <p:cNvPr id="5" name="Line 5"/>
            <p:cNvSpPr/>
            <p:nvPr/>
          </p:nvSpPr>
          <p:spPr>
            <a:xfrm>
              <a:off x="609600" y="1276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9CDB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7181850" y="1247775"/>
              <a:ext cx="2190750" cy="57150"/>
            </a:xfrm>
            <a:prstGeom prst="rect">
              <a:avLst/>
            </a:prstGeom>
            <a:solidFill>
              <a:srgbClr val="9C2B1B"/>
            </a:solidFill>
            <a:ln>
              <a:noFill/>
            </a:ln>
          </p:spPr>
        </p:sp>
      </p:grpSp>
      <p:grpSp>
        <p:nvGrpSpPr>
          <p:cNvPr id="12" name="!!valueBlock"/>
          <p:cNvGrpSpPr/>
          <p:nvPr/>
        </p:nvGrpSpPr>
        <p:grpSpPr>
          <a:xfrm>
            <a:off x="609600" y="1676400"/>
            <a:ext cx="5486400" cy="2324100"/>
            <a:chOff x="609600" y="1676400"/>
            <a:chExt cx="5486400" cy="2324100"/>
          </a:xfrm>
        </p:grpSpPr>
        <p:sp>
          <p:nvSpPr>
            <p:cNvPr id="8" name="Rectangle 8"/>
            <p:cNvSpPr/>
            <p:nvPr/>
          </p:nvSpPr>
          <p:spPr>
            <a:xfrm>
              <a:off x="609600" y="1676400"/>
              <a:ext cx="5486400" cy="2324100"/>
            </a:xfrm>
            <a:prstGeom prst="rect">
              <a:avLst/>
            </a:prstGeom>
            <a:solidFill>
              <a:srgbClr val="7A3B2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07542" y="1968818"/>
              <a:ext cx="9998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E7D5BF"/>
                  </a:solidFill>
                  <a:latin typeface="+mn-lt"/>
                  <a:ea typeface="+mn-ea"/>
                  <a:cs typeface="+mn-cs"/>
                </a:rPr>
                <a:t>XUẤT THÔ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5350" y="2484120"/>
              <a:ext cx="1530126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5400" b="1" dirty="0">
                  <a:solidFill>
                    <a:srgbClr val="F7F3EC"/>
                  </a:solidFill>
                  <a:latin typeface="+mj-lt"/>
                  <a:ea typeface="+mj-ea"/>
                  <a:cs typeface="+mj-cs"/>
                </a:rPr>
                <a:t>85%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7542" y="3302318"/>
              <a:ext cx="316839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vi-VN" sz="1350" dirty="0">
                  <a:solidFill>
                    <a:srgbClr val="E7D5BF"/>
                  </a:solidFill>
                  <a:latin typeface="+mn-lt"/>
                  <a:ea typeface="+mn-ea"/>
                  <a:cs typeface="+mn-cs"/>
                </a:rPr>
                <a:t>lượng cà phê xuất khẩu vẫn là hạt thô,</a:t>
              </a:r>
              <a:br/>
              <a:r>
                <a:rPr lang="vi-VN" sz="1350" dirty="0">
                  <a:solidFill>
                    <a:srgbClr val="E7D5BF"/>
                  </a:solidFill>
                  <a:latin typeface="+mn-lt"/>
                  <a:ea typeface="+mn-ea"/>
                  <a:cs typeface="+mn-cs"/>
                </a:rPr>
                <a:t>chưa có thương hiệu mạnh</a:t>
              </a:r>
            </a:p>
          </p:txBody>
        </p:sp>
      </p:grpSp>
      <p:grpSp>
        <p:nvGrpSpPr>
          <p:cNvPr id="17" name="value-processed-block"/>
          <p:cNvGrpSpPr/>
          <p:nvPr/>
        </p:nvGrpSpPr>
        <p:grpSpPr>
          <a:xfrm>
            <a:off x="6324600" y="1676400"/>
            <a:ext cx="5257800" cy="2324100"/>
            <a:chOff x="6324600" y="1676400"/>
            <a:chExt cx="5257800" cy="2324100"/>
          </a:xfrm>
        </p:grpSpPr>
        <p:sp>
          <p:nvSpPr>
            <p:cNvPr id="13" name="Rectangle 13"/>
            <p:cNvSpPr/>
            <p:nvPr/>
          </p:nvSpPr>
          <p:spPr>
            <a:xfrm>
              <a:off x="6324600" y="1676400"/>
              <a:ext cx="5257800" cy="2324100"/>
            </a:xfrm>
            <a:prstGeom prst="rect">
              <a:avLst/>
            </a:prstGeom>
            <a:solidFill>
              <a:srgbClr val="EFE7D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22542" y="1968818"/>
              <a:ext cx="14279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CHẾ BIẾN SÂU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0350" y="2484120"/>
              <a:ext cx="1530126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5400" b="1" dirty="0">
                  <a:solidFill>
                    <a:srgbClr val="7A3B22"/>
                  </a:solidFill>
                  <a:latin typeface="+mj-lt"/>
                  <a:ea typeface="+mj-ea"/>
                  <a:cs typeface="+mj-cs"/>
                </a:rPr>
                <a:t>13%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22542" y="3302318"/>
              <a:ext cx="315982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cà phê rang xay và hoà tan trong tổng</a:t>
              </a:r>
              <a:br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lượng xuất khẩu</a:t>
              </a:r>
            </a:p>
          </p:txBody>
        </p:sp>
      </p:grpSp>
      <p:grpSp>
        <p:nvGrpSpPr>
          <p:cNvPr id="19" name="value-gap-caveat"/>
          <p:cNvGrpSpPr/>
          <p:nvPr/>
        </p:nvGrpSpPr>
        <p:grpSpPr>
          <a:xfrm>
            <a:off x="602742" y="4121468"/>
            <a:ext cx="7331202" cy="264033"/>
            <a:chOff x="602742" y="4121468"/>
            <a:chExt cx="7331202" cy="264033"/>
          </a:xfrm>
        </p:grpSpPr>
        <p:sp>
          <p:nvSpPr>
            <p:cNvPr id="18" name="TextBox 18"/>
            <p:cNvSpPr txBox="1"/>
            <p:nvPr/>
          </p:nvSpPr>
          <p:spPr>
            <a:xfrm>
              <a:off x="602742" y="4121468"/>
              <a:ext cx="73312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Hai tỷ lệ trên đến từ hai phát biểu khác nhau của VICOFA và không cộng thành 100%.</a:t>
              </a:r>
            </a:p>
          </p:txBody>
        </p:sp>
      </p:grpSp>
      <p:grpSp>
        <p:nvGrpSpPr>
          <p:cNvPr id="23" name="value-target"/>
          <p:cNvGrpSpPr/>
          <p:nvPr/>
        </p:nvGrpSpPr>
        <p:grpSpPr>
          <a:xfrm>
            <a:off x="602742" y="4521518"/>
            <a:ext cx="4708643" cy="930211"/>
            <a:chOff x="602742" y="4521518"/>
            <a:chExt cx="4708643" cy="930211"/>
          </a:xfrm>
        </p:grpSpPr>
        <p:sp>
          <p:nvSpPr>
            <p:cNvPr id="20" name="TextBox 20"/>
            <p:cNvSpPr txBox="1"/>
            <p:nvPr/>
          </p:nvSpPr>
          <p:spPr>
            <a:xfrm>
              <a:off x="602742" y="4521518"/>
              <a:ext cx="22112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MỤC TIÊU CỦA NGÀNH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609600" y="4800600"/>
              <a:ext cx="1905000" cy="457200"/>
            </a:xfrm>
            <a:prstGeom prst="rightArrow">
              <a:avLst>
                <a:gd name="adj1" fmla="val 55000"/>
                <a:gd name="adj2" fmla="val 60000"/>
              </a:avLst>
            </a:prstGeom>
            <a:solidFill>
              <a:srgbClr val="C08A2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802636" y="4806315"/>
              <a:ext cx="250874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300" b="1" dirty="0">
                  <a:solidFill>
                    <a:srgbClr val="221C15"/>
                  </a:solidFill>
                  <a:latin typeface="+mj-lt"/>
                  <a:ea typeface="+mj-ea"/>
                  <a:cs typeface="+mj-cs"/>
                </a:rPr>
                <a:t>10 tỷ USD</a:t>
              </a:r>
            </a:p>
          </p:txBody>
        </p:sp>
      </p:grpSp>
      <p:grpSp>
        <p:nvGrpSpPr>
          <p:cNvPr id="25" name="value-target-note"/>
          <p:cNvGrpSpPr/>
          <p:nvPr/>
        </p:nvGrpSpPr>
        <p:grpSpPr>
          <a:xfrm>
            <a:off x="600456" y="5463540"/>
            <a:ext cx="8122158" cy="694944"/>
            <a:chOff x="600456" y="5463540"/>
            <a:chExt cx="8122158" cy="694944"/>
          </a:xfrm>
        </p:grpSpPr>
        <p:sp>
          <p:nvSpPr>
            <p:cNvPr id="24" name="TextBox 24"/>
            <p:cNvSpPr txBox="1"/>
            <p:nvPr/>
          </p:nvSpPr>
          <p:spPr>
            <a:xfrm>
              <a:off x="600456" y="5463540"/>
              <a:ext cx="812215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VICOFA đặt mục tiêu kim ngạch 10 tỷ USD, dựa vào chế biến sâu, nâng chất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lượng và xây dựng thương hiệu cho hạt cà phê Việt Nam.</a:t>
              </a:r>
            </a:p>
          </p:txBody>
        </p:sp>
      </p:grpSp>
      <p:grpSp>
        <p:nvGrpSpPr>
          <p:cNvPr id="28" name="page-footer"/>
          <p:cNvGrpSpPr/>
          <p:nvPr/>
        </p:nvGrpSpPr>
        <p:grpSpPr>
          <a:xfrm>
            <a:off x="603504" y="6461760"/>
            <a:ext cx="10984992" cy="234696"/>
            <a:chOff x="603504" y="6461760"/>
            <a:chExt cx="10984992" cy="234696"/>
          </a:xfrm>
        </p:grpSpPr>
        <p:sp>
          <p:nvSpPr>
            <p:cNvPr id="26" name="TextBox 26"/>
            <p:cNvSpPr txBox="1"/>
            <p:nvPr/>
          </p:nvSpPr>
          <p:spPr>
            <a:xfrm>
              <a:off x="603504" y="6461760"/>
              <a:ext cx="102100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Nguồn: VICOFA dẫn qua VietnamPlus (2025) cho tỷ lệ 85% và mục tiêu 10 tỷ USD; USDA FAS VM2026-0016 dẫn VICOFA cho tỷ lệ 13%.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398606" y="64617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mc:AlternateContent>
    <mc:Choice Requires="p159">
      <p:transition p14:dur="9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3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4360" y="444818"/>
            <a:ext cx="8938843" cy="865822"/>
            <a:chOff x="594360" y="444818"/>
            <a:chExt cx="8938843" cy="86582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44818"/>
              <a:ext cx="21204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CHẶNG 4 · CHẾ BIẾN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3900"/>
              <a:ext cx="893884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000" b="1" dirty="0">
                  <a:solidFill>
                    <a:srgbClr val="221C15"/>
                  </a:solidFill>
                  <a:latin typeface="+mj-lt"/>
                  <a:ea typeface="+mj-ea"/>
                  <a:cs typeface="+mj-cs"/>
                </a:rPr>
                <a:t>Giá trị nằm ở chế biến sâu và thương hiệu</a:t>
              </a:r>
            </a:p>
          </p:txBody>
        </p:sp>
      </p:grpSp>
      <p:grpSp>
        <p:nvGrpSpPr>
          <p:cNvPr id="7" name="chapter-rail"/>
          <p:cNvGrpSpPr/>
          <p:nvPr/>
        </p:nvGrpSpPr>
        <p:grpSpPr>
          <a:xfrm>
            <a:off x="609600" y="1247775"/>
            <a:ext cx="10972800" cy="57150"/>
            <a:chOff x="609600" y="1247775"/>
            <a:chExt cx="10972800" cy="57150"/>
          </a:xfrm>
        </p:grpSpPr>
        <p:sp>
          <p:nvSpPr>
            <p:cNvPr id="5" name="Line 5"/>
            <p:cNvSpPr/>
            <p:nvPr/>
          </p:nvSpPr>
          <p:spPr>
            <a:xfrm>
              <a:off x="609600" y="1276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9CDB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7181850" y="1247775"/>
              <a:ext cx="2190750" cy="57150"/>
            </a:xfrm>
            <a:prstGeom prst="rect">
              <a:avLst/>
            </a:prstGeom>
            <a:solidFill>
              <a:srgbClr val="9C2B1B"/>
            </a:solidFill>
            <a:ln>
              <a:noFill/>
            </a:ln>
          </p:spPr>
        </p:sp>
      </p:grpSp>
      <p:grpSp>
        <p:nvGrpSpPr>
          <p:cNvPr id="11" name="processing-photo"/>
          <p:cNvGrpSpPr/>
          <p:nvPr/>
        </p:nvGrpSpPr>
        <p:grpSpPr>
          <a:xfrm>
            <a:off x="7239000" y="1676400"/>
            <a:ext cx="4953000" cy="4419600"/>
            <a:chOff x="7239000" y="1676400"/>
            <a:chExt cx="4953000" cy="4419600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rcRect l="12597" t="0" r="12597" b="0"/>
            <a:stretch>
              <a:fillRect/>
            </a:stretch>
          </p:blipFill>
          <p:spPr>
            <a:xfrm>
              <a:off x="7239000" y="1676400"/>
              <a:ext cx="4953000" cy="4419600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7239000" y="4572000"/>
              <a:ext cx="4953000" cy="1524000"/>
            </a:xfrm>
            <a:prstGeom prst="rect">
              <a:avLst/>
            </a:prstGeom>
            <a:gradFill>
              <a:gsLst>
                <a:gs pos="0">
                  <a:srgbClr val="1C1610">
                    <a:alpha val="78000"/>
                  </a:srgbClr>
                </a:gs>
                <a:gs pos="46000">
                  <a:srgbClr val="1C1610">
                    <a:alpha val="14000"/>
                  </a:srgbClr>
                </a:gs>
                <a:gs pos="100000">
                  <a:srgbClr val="1C1610">
                    <a:alpha val="0"/>
                  </a:srgbClr>
                </a:gs>
              </a:gsLst>
              <a:lin ang="16200000" scaled="1"/>
            </a:gra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98080" y="5514975"/>
              <a:ext cx="28632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vi-VN" sz="1500" dirty="0">
                  <a:solidFill>
                    <a:srgbClr val="F7F3EC"/>
                  </a:solidFill>
                  <a:latin typeface="+mn-lt"/>
                  <a:ea typeface="+mn-ea"/>
                  <a:cs typeface="+mn-cs"/>
                </a:rPr>
                <a:t>Cà phê nhân chưa rang — dạng</a:t>
              </a:r>
              <a:br/>
              <a:r>
                <a:rPr lang="vi-VN" sz="1500" dirty="0">
                  <a:solidFill>
                    <a:srgbClr val="F7F3EC"/>
                  </a:solidFill>
                  <a:latin typeface="+mn-lt"/>
                  <a:ea typeface="+mn-ea"/>
                  <a:cs typeface="+mn-cs"/>
                </a:rPr>
                <a:t>xuất khẩu chủ yếu của Việt Nam</a:t>
              </a:r>
            </a:p>
          </p:txBody>
        </p:sp>
      </p:grpSp>
      <p:grpSp>
        <p:nvGrpSpPr>
          <p:cNvPr id="13" name="brand-lead"/>
          <p:cNvGrpSpPr/>
          <p:nvPr/>
        </p:nvGrpSpPr>
        <p:grpSpPr>
          <a:xfrm>
            <a:off x="598932" y="1811655"/>
            <a:ext cx="5128641" cy="753618"/>
            <a:chOff x="598932" y="1811655"/>
            <a:chExt cx="5128641" cy="753618"/>
          </a:xfrm>
        </p:grpSpPr>
        <p:sp>
          <p:nvSpPr>
            <p:cNvPr id="12" name="TextBox 12"/>
            <p:cNvSpPr txBox="1"/>
            <p:nvPr/>
          </p:nvSpPr>
          <p:spPr>
            <a:xfrm>
              <a:off x="598932" y="1811655"/>
              <a:ext cx="5128641" cy="7536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vi-VN" sz="21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Giá trị tăng thêm đến từ hai hướng: chế</a:t>
              </a:r>
              <a:br/>
              <a:r>
                <a:rPr lang="vi-VN" sz="21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biến sâu và thị trường trong nước.</a:t>
              </a:r>
            </a:p>
          </p:txBody>
        </p:sp>
      </p:grpSp>
      <p:grpSp>
        <p:nvGrpSpPr>
          <p:cNvPr id="16" name="brand-stat-1"/>
          <p:cNvGrpSpPr/>
          <p:nvPr/>
        </p:nvGrpSpPr>
        <p:grpSpPr>
          <a:xfrm>
            <a:off x="592836" y="2691765"/>
            <a:ext cx="3380784" cy="798386"/>
            <a:chOff x="592836" y="2691765"/>
            <a:chExt cx="3380784" cy="798386"/>
          </a:xfrm>
        </p:grpSpPr>
        <p:sp>
          <p:nvSpPr>
            <p:cNvPr id="14" name="TextBox 14"/>
            <p:cNvSpPr txBox="1"/>
            <p:nvPr/>
          </p:nvSpPr>
          <p:spPr>
            <a:xfrm>
              <a:off x="592836" y="2691765"/>
              <a:ext cx="111782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300" b="1" dirty="0">
                  <a:solidFill>
                    <a:srgbClr val="9C2B1B"/>
                  </a:solidFill>
                  <a:latin typeface="+mj-lt"/>
                  <a:ea typeface="+mj-ea"/>
                  <a:cs typeface="+mj-cs"/>
                </a:rPr>
                <a:t>1996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2742" y="3226118"/>
              <a:ext cx="3370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Trung Nguyên ra đời tại Buôn Ma Thuột</a:t>
              </a:r>
            </a:p>
          </p:txBody>
        </p:sp>
      </p:grpSp>
      <p:grpSp>
        <p:nvGrpSpPr>
          <p:cNvPr id="19" name="brand-stat-2"/>
          <p:cNvGrpSpPr/>
          <p:nvPr/>
        </p:nvGrpSpPr>
        <p:grpSpPr>
          <a:xfrm>
            <a:off x="592836" y="3739515"/>
            <a:ext cx="4525230" cy="798386"/>
            <a:chOff x="592836" y="3739515"/>
            <a:chExt cx="4525230" cy="798386"/>
          </a:xfrm>
        </p:grpSpPr>
        <p:sp>
          <p:nvSpPr>
            <p:cNvPr id="17" name="TextBox 17"/>
            <p:cNvSpPr txBox="1"/>
            <p:nvPr/>
          </p:nvSpPr>
          <p:spPr>
            <a:xfrm>
              <a:off x="592836" y="3739515"/>
              <a:ext cx="57567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300" b="1" dirty="0">
                  <a:solidFill>
                    <a:srgbClr val="9C2B1B"/>
                  </a:solidFill>
                  <a:latin typeface="+mj-lt"/>
                  <a:ea typeface="+mj-ea"/>
                  <a:cs typeface="+mj-cs"/>
                </a:rPr>
                <a:t>80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2742" y="4273868"/>
              <a:ext cx="45153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quốc gia và vùng lãnh thổ có sản phẩm Trung Nguyên</a:t>
              </a:r>
            </a:p>
          </p:txBody>
        </p:sp>
      </p:grpSp>
      <p:grpSp>
        <p:nvGrpSpPr>
          <p:cNvPr id="22" name="brand-stat-3"/>
          <p:cNvGrpSpPr/>
          <p:nvPr/>
        </p:nvGrpSpPr>
        <p:grpSpPr>
          <a:xfrm>
            <a:off x="592836" y="4787265"/>
            <a:ext cx="5448471" cy="798386"/>
            <a:chOff x="592836" y="4787265"/>
            <a:chExt cx="5448471" cy="798386"/>
          </a:xfrm>
        </p:grpSpPr>
        <p:sp>
          <p:nvSpPr>
            <p:cNvPr id="20" name="TextBox 20"/>
            <p:cNvSpPr txBox="1"/>
            <p:nvPr/>
          </p:nvSpPr>
          <p:spPr>
            <a:xfrm>
              <a:off x="592836" y="4787265"/>
              <a:ext cx="31878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300" b="1" dirty="0">
                  <a:solidFill>
                    <a:srgbClr val="9C2B1B"/>
                  </a:solidFill>
                  <a:latin typeface="+mj-lt"/>
                  <a:ea typeface="+mj-ea"/>
                  <a:cs typeface="+mj-cs"/>
                </a:rPr>
                <a:t>5,0 triệu bao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2742" y="5321618"/>
              <a:ext cx="54385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tiêu thụ nội địa dự báo niên vụ 2026/27, tăng từ 4,9 triệu bao</a:t>
              </a:r>
            </a:p>
          </p:txBody>
        </p:sp>
      </p:grpSp>
      <p:grpSp>
        <p:nvGrpSpPr>
          <p:cNvPr id="24" name="brand-note"/>
          <p:cNvGrpSpPr/>
          <p:nvPr/>
        </p:nvGrpSpPr>
        <p:grpSpPr>
          <a:xfrm>
            <a:off x="602742" y="5778818"/>
            <a:ext cx="4833013" cy="264033"/>
            <a:chOff x="602742" y="5778818"/>
            <a:chExt cx="4833013" cy="264033"/>
          </a:xfrm>
        </p:grpSpPr>
        <p:sp>
          <p:nvSpPr>
            <p:cNvPr id="23" name="TextBox 23"/>
            <p:cNvSpPr txBox="1"/>
            <p:nvPr/>
          </p:nvSpPr>
          <p:spPr>
            <a:xfrm>
              <a:off x="602742" y="5778818"/>
              <a:ext cx="48330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Số liệu Trung Nguyên là công bố trên báo chí năm 2022.</a:t>
              </a:r>
            </a:p>
          </p:txBody>
        </p:sp>
      </p:grpSp>
      <p:grpSp>
        <p:nvGrpSpPr>
          <p:cNvPr id="27" name="page-footer"/>
          <p:cNvGrpSpPr/>
          <p:nvPr/>
        </p:nvGrpSpPr>
        <p:grpSpPr>
          <a:xfrm>
            <a:off x="603504" y="6461760"/>
            <a:ext cx="10984992" cy="234696"/>
            <a:chOff x="603504" y="6461760"/>
            <a:chExt cx="10984992" cy="234696"/>
          </a:xfrm>
        </p:grpSpPr>
        <p:sp>
          <p:nvSpPr>
            <p:cNvPr id="25" name="TextBox 25"/>
            <p:cNvSpPr txBox="1"/>
            <p:nvPr/>
          </p:nvSpPr>
          <p:spPr>
            <a:xfrm>
              <a:off x="603504" y="6461760"/>
              <a:ext cx="85412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Nguồn: Báo Thanh Niên (30/11/2022); USDA FAS VM2026-0016 (20/5/2026). Ảnh: Jimmy Ramírez qua Pexels.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398606" y="64617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5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35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20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5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900"/>
                            </p:stCondLst>
                            <p:childTnLst>
                              <p:par>
                                <p:cTn xmlns:p="http://schemas.openxmlformats.org/presentationml/2006/main" id="2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4360" y="444818"/>
            <a:ext cx="6014355" cy="865822"/>
            <a:chOff x="594360" y="444818"/>
            <a:chExt cx="6014355" cy="86582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44818"/>
              <a:ext cx="20789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CHẶNG 4 · VĂN HOÁ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3900"/>
              <a:ext cx="601435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000" b="1" dirty="0">
                  <a:solidFill>
                    <a:srgbClr val="221C15"/>
                  </a:solidFill>
                  <a:latin typeface="+mj-lt"/>
                  <a:ea typeface="+mj-ea"/>
                  <a:cs typeface="+mj-cs"/>
                </a:rPr>
                <a:t>Cách người Việt uống cà phê</a:t>
              </a:r>
            </a:p>
          </p:txBody>
        </p:sp>
      </p:grpSp>
      <p:grpSp>
        <p:nvGrpSpPr>
          <p:cNvPr id="7" name="chapter-rail"/>
          <p:cNvGrpSpPr/>
          <p:nvPr/>
        </p:nvGrpSpPr>
        <p:grpSpPr>
          <a:xfrm>
            <a:off x="609600" y="1247775"/>
            <a:ext cx="10972800" cy="57150"/>
            <a:chOff x="609600" y="1247775"/>
            <a:chExt cx="10972800" cy="57150"/>
          </a:xfrm>
        </p:grpSpPr>
        <p:sp>
          <p:nvSpPr>
            <p:cNvPr id="5" name="Line 5"/>
            <p:cNvSpPr/>
            <p:nvPr/>
          </p:nvSpPr>
          <p:spPr>
            <a:xfrm>
              <a:off x="609600" y="1276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9CDB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7181850" y="1247775"/>
              <a:ext cx="2190750" cy="57150"/>
            </a:xfrm>
            <a:prstGeom prst="rect">
              <a:avLst/>
            </a:prstGeom>
            <a:solidFill>
              <a:srgbClr val="9C2B1B"/>
            </a:solidFill>
            <a:ln>
              <a:noFill/>
            </a:ln>
          </p:spPr>
        </p:sp>
      </p:grpSp>
      <p:grpSp>
        <p:nvGrpSpPr>
          <p:cNvPr id="12" name="culture-phin"/>
          <p:cNvGrpSpPr/>
          <p:nvPr/>
        </p:nvGrpSpPr>
        <p:grpSpPr>
          <a:xfrm>
            <a:off x="602742" y="1752600"/>
            <a:ext cx="5417058" cy="3185351"/>
            <a:chOff x="602742" y="1752600"/>
            <a:chExt cx="5417058" cy="3185351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rcRect l="0" t="10916" r="0" b="10915"/>
            <a:stretch>
              <a:fillRect/>
            </a:stretch>
          </p:blipFill>
          <p:spPr>
            <a:xfrm>
              <a:off x="609600" y="1752600"/>
              <a:ext cx="5410200" cy="2819400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609600" y="3657600"/>
              <a:ext cx="5410200" cy="914400"/>
            </a:xfrm>
            <a:prstGeom prst="rect">
              <a:avLst/>
            </a:prstGeom>
            <a:gradFill>
              <a:gsLst>
                <a:gs pos="0">
                  <a:srgbClr val="1C1610">
                    <a:alpha val="80000"/>
                  </a:srgbClr>
                </a:gs>
                <a:gs pos="48000">
                  <a:srgbClr val="1C1610">
                    <a:alpha val="16000"/>
                  </a:srgbClr>
                </a:gs>
                <a:gs pos="100000">
                  <a:srgbClr val="1C1610">
                    <a:alpha val="0"/>
                  </a:srgbClr>
                </a:gs>
              </a:gsLst>
              <a:lin ang="16200000" scaled="1"/>
            </a:gra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156" y="4110990"/>
              <a:ext cx="33348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800" dirty="0">
                  <a:solidFill>
                    <a:srgbClr val="F7F3EC"/>
                  </a:solidFill>
                  <a:latin typeface="+mn-lt"/>
                  <a:ea typeface="+mn-ea"/>
                  <a:cs typeface="+mn-cs"/>
                </a:rPr>
                <a:t>Phin — dụng cụ pha đặc trưng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2742" y="4673918"/>
              <a:ext cx="19024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Ảnh: FOX qua Pexels.</a:t>
              </a:r>
            </a:p>
          </p:txBody>
        </p:sp>
      </p:grpSp>
      <p:grpSp>
        <p:nvGrpSpPr>
          <p:cNvPr id="17" name="culture-egg"/>
          <p:cNvGrpSpPr/>
          <p:nvPr/>
        </p:nvGrpSpPr>
        <p:grpSpPr>
          <a:xfrm>
            <a:off x="6166104" y="1752600"/>
            <a:ext cx="5416296" cy="3381756"/>
            <a:chOff x="6166104" y="1752600"/>
            <a:chExt cx="5416296" cy="3381756"/>
          </a:xfrm>
        </p:grpSpPr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3"/>
            <a:srcRect l="0" t="3678" r="0" b="3677"/>
            <a:stretch>
              <a:fillRect/>
            </a:stretch>
          </p:blipFill>
          <p:spPr>
            <a:xfrm>
              <a:off x="6172200" y="1752600"/>
              <a:ext cx="5410200" cy="2819400"/>
            </a:xfrm>
            <a:prstGeom prst="rect">
              <a:avLst/>
            </a:prstGeom>
          </p:spPr>
        </p:pic>
        <p:sp>
          <p:nvSpPr>
            <p:cNvPr id="14" name="Rectangle 14"/>
            <p:cNvSpPr/>
            <p:nvPr/>
          </p:nvSpPr>
          <p:spPr>
            <a:xfrm>
              <a:off x="6172200" y="3657600"/>
              <a:ext cx="5410200" cy="914400"/>
            </a:xfrm>
            <a:prstGeom prst="rect">
              <a:avLst/>
            </a:prstGeom>
            <a:gradFill>
              <a:gsLst>
                <a:gs pos="0">
                  <a:srgbClr val="1C1610">
                    <a:alpha val="80000"/>
                  </a:srgbClr>
                </a:gs>
                <a:gs pos="48000">
                  <a:srgbClr val="1C1610">
                    <a:alpha val="16000"/>
                  </a:srgbClr>
                </a:gs>
                <a:gs pos="100000">
                  <a:srgbClr val="1C1610">
                    <a:alpha val="0"/>
                  </a:srgbClr>
                </a:gs>
              </a:gsLst>
              <a:lin ang="16200000" scaled="1"/>
            </a:gra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29756" y="4110990"/>
              <a:ext cx="37484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800" dirty="0">
                  <a:solidFill>
                    <a:srgbClr val="F7F3EC"/>
                  </a:solidFill>
                  <a:latin typeface="+mn-lt"/>
                  <a:ea typeface="+mn-ea"/>
                  <a:cs typeface="+mn-cs"/>
                </a:rPr>
                <a:t>Cà phê trứng — Hà Nội, năm 1946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166104" y="4671060"/>
              <a:ext cx="350977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Ảnh: David McKelvey from Brisbane, Australia /</a:t>
              </a:r>
              <a:br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Wikimedia Commons / CC BY 2.0</a:t>
              </a:r>
            </a:p>
          </p:txBody>
        </p:sp>
      </p:grpSp>
      <p:grpSp>
        <p:nvGrpSpPr>
          <p:cNvPr id="20" name="culture-note"/>
          <p:cNvGrpSpPr/>
          <p:nvPr/>
        </p:nvGrpSpPr>
        <p:grpSpPr>
          <a:xfrm>
            <a:off x="598932" y="5164455"/>
            <a:ext cx="7968996" cy="1011746"/>
            <a:chOff x="598932" y="5164455"/>
            <a:chExt cx="7968996" cy="1011746"/>
          </a:xfrm>
        </p:grpSpPr>
        <p:sp>
          <p:nvSpPr>
            <p:cNvPr id="18" name="TextBox 18"/>
            <p:cNvSpPr txBox="1"/>
            <p:nvPr/>
          </p:nvSpPr>
          <p:spPr>
            <a:xfrm>
              <a:off x="598932" y="5164455"/>
              <a:ext cx="7968996" cy="7536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vi-VN" sz="21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Phin nhôm, cà phê sữa đá và cà phê trứng là ba cách người Việt</a:t>
              </a:r>
              <a:br/>
              <a:r>
                <a:rPr lang="vi-VN" sz="21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biến vị đắng đậm của Robusta thành thói quen hằng ngày.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2742" y="5912168"/>
              <a:ext cx="77535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Cách nhóm ba biểu hiện văn hoá này là tổng hợp của bài giảng; mốc 1946 dẫn nguồn ở dưới.</a:t>
              </a:r>
            </a:p>
          </p:txBody>
        </p:sp>
      </p:grpSp>
      <p:grpSp>
        <p:nvGrpSpPr>
          <p:cNvPr id="23" name="page-footer"/>
          <p:cNvGrpSpPr/>
          <p:nvPr/>
        </p:nvGrpSpPr>
        <p:grpSpPr>
          <a:xfrm>
            <a:off x="603504" y="6461760"/>
            <a:ext cx="10984992" cy="234696"/>
            <a:chOff x="603504" y="6461760"/>
            <a:chExt cx="10984992" cy="234696"/>
          </a:xfrm>
        </p:grpSpPr>
        <p:sp>
          <p:nvSpPr>
            <p:cNvPr id="21" name="TextBox 21"/>
            <p:cNvSpPr txBox="1"/>
            <p:nvPr/>
          </p:nvSpPr>
          <p:spPr>
            <a:xfrm>
              <a:off x="603504" y="6461760"/>
              <a:ext cx="99002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Nguồn: Vietcetera, Lịch sử của cà phê trứng — ông Nguyễn Văn Giảng tạo ra món này năm 1946 và mở quán Café Giảng cùng năm.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398606" y="64617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5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5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4360" y="444818"/>
            <a:ext cx="6226037" cy="865822"/>
            <a:chOff x="594360" y="444818"/>
            <a:chExt cx="6226037" cy="86582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44818"/>
              <a:ext cx="2435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CHẶNG 5 · THÁCH THỨC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3900"/>
              <a:ext cx="622603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000" b="1" dirty="0">
                  <a:solidFill>
                    <a:srgbClr val="221C15"/>
                  </a:solidFill>
                  <a:latin typeface="+mj-lt"/>
                  <a:ea typeface="+mj-ea"/>
                  <a:cs typeface="+mj-cs"/>
                </a:rPr>
                <a:t>Bốn áp lực lên chuỗi cung ứng</a:t>
              </a:r>
            </a:p>
          </p:txBody>
        </p:sp>
      </p:grpSp>
      <p:grpSp>
        <p:nvGrpSpPr>
          <p:cNvPr id="7" name="chapter-rail"/>
          <p:cNvGrpSpPr/>
          <p:nvPr/>
        </p:nvGrpSpPr>
        <p:grpSpPr>
          <a:xfrm>
            <a:off x="609600" y="1247775"/>
            <a:ext cx="10972800" cy="57150"/>
            <a:chOff x="609600" y="1247775"/>
            <a:chExt cx="10972800" cy="57150"/>
          </a:xfrm>
        </p:grpSpPr>
        <p:sp>
          <p:nvSpPr>
            <p:cNvPr id="5" name="Line 5"/>
            <p:cNvSpPr/>
            <p:nvPr/>
          </p:nvSpPr>
          <p:spPr>
            <a:xfrm>
              <a:off x="609600" y="1276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9CDB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9372600" y="1247775"/>
              <a:ext cx="2209800" cy="57150"/>
            </a:xfrm>
            <a:prstGeom prst="rect">
              <a:avLst/>
            </a:prstGeom>
            <a:solidFill>
              <a:srgbClr val="9C2B1B"/>
            </a:solidFill>
            <a:ln>
              <a:noFill/>
            </a:ln>
          </p:spPr>
        </p:sp>
      </p:grpSp>
      <p:grpSp>
        <p:nvGrpSpPr>
          <p:cNvPr id="13" name="pressure-climate"/>
          <p:cNvGrpSpPr/>
          <p:nvPr/>
        </p:nvGrpSpPr>
        <p:grpSpPr>
          <a:xfrm>
            <a:off x="609600" y="1752600"/>
            <a:ext cx="5495925" cy="1910334"/>
            <a:chOff x="609600" y="1752600"/>
            <a:chExt cx="5495925" cy="1910334"/>
          </a:xfrm>
        </p:grpSpPr>
        <p:sp>
          <p:nvSpPr>
            <p:cNvPr id="8" name="Line 8"/>
            <p:cNvSpPr/>
            <p:nvPr/>
          </p:nvSpPr>
          <p:spPr>
            <a:xfrm>
              <a:off x="609600" y="1752600"/>
              <a:ext cx="5486400" cy="9525"/>
            </a:xfrm>
            <a:custGeom>
              <a:avLst/>
              <a:gdLst/>
              <a:ahLst/>
              <a:cxnLst/>
              <a:rect l="l" t="t" r="r" b="b"/>
              <a:pathLst>
                <a:path w="5486400" h="9525">
                  <a:moveTo>
                    <a:pt x="0" y="0"/>
                  </a:moveTo>
                  <a:lnTo>
                    <a:pt x="5486400" y="0"/>
                  </a:lnTo>
                </a:path>
              </a:pathLst>
            </a:custGeom>
            <a:noFill/>
            <a:ln w="14288">
              <a:solidFill>
                <a:srgbClr val="D9CDBA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096000" y="1905000"/>
              <a:ext cx="9525" cy="1676400"/>
            </a:xfrm>
            <a:custGeom>
              <a:avLst/>
              <a:gdLst/>
              <a:ahLst/>
              <a:cxnLst/>
              <a:rect l="l" t="t" r="r" b="b"/>
              <a:pathLst>
                <a:path w="9525" h="1676400">
                  <a:moveTo>
                    <a:pt x="0" y="0"/>
                  </a:moveTo>
                  <a:lnTo>
                    <a:pt x="0" y="1676400"/>
                  </a:lnTo>
                </a:path>
              </a:pathLst>
            </a:custGeom>
            <a:noFill/>
            <a:ln w="9525">
              <a:solidFill>
                <a:srgbClr val="E4DACB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981710" y="2063972"/>
              <a:ext cx="246380" cy="297085"/>
            </a:xfrm>
            <a:custGeom>
              <a:avLst/>
              <a:gdLst/>
              <a:ahLst/>
              <a:cxnLst/>
              <a:rect l="l" t="t" r="r" b="b"/>
              <a:pathLst>
                <a:path w="246380" h="297085">
                  <a:moveTo>
                    <a:pt x="51784" y="263668"/>
                  </a:moveTo>
                  <a:cubicBezTo>
                    <a:pt x="93091" y="297085"/>
                    <a:pt x="153305" y="297085"/>
                    <a:pt x="194596" y="263668"/>
                  </a:cubicBezTo>
                  <a:cubicBezTo>
                    <a:pt x="235903" y="230251"/>
                    <a:pt x="246380" y="173054"/>
                    <a:pt x="219456" y="128000"/>
                  </a:cubicBezTo>
                  <a:lnTo>
                    <a:pt x="141828" y="12748"/>
                  </a:lnTo>
                  <a:cubicBezTo>
                    <a:pt x="135160" y="2826"/>
                    <a:pt x="121396" y="0"/>
                    <a:pt x="111093" y="6445"/>
                  </a:cubicBezTo>
                  <a:cubicBezTo>
                    <a:pt x="108507" y="8068"/>
                    <a:pt x="106290" y="10215"/>
                    <a:pt x="104585" y="12748"/>
                  </a:cubicBezTo>
                  <a:lnTo>
                    <a:pt x="26908" y="128000"/>
                  </a:lnTo>
                  <a:cubicBezTo>
                    <a:pt x="0" y="173054"/>
                    <a:pt x="10478" y="230251"/>
                    <a:pt x="51784" y="263668"/>
                  </a:cubicBezTo>
                </a:path>
              </a:pathLst>
            </a:custGeom>
            <a:noFill/>
            <a:ln w="31750">
              <a:solidFill>
                <a:srgbClr val="9C2B1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37132" y="2135505"/>
              <a:ext cx="225811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221C15"/>
                  </a:solidFill>
                  <a:latin typeface="+mn-lt"/>
                  <a:ea typeface="+mn-ea"/>
                  <a:cs typeface="+mn-cs"/>
                </a:rPr>
                <a:t>Khí hậu và nước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5256" y="2625090"/>
              <a:ext cx="4418838" cy="1037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Lượng mưa tháng 1–3/2026 thấp hơn mức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 xml:space="preserve">bình thường; NOAA dự báo </a:t>
              </a:r>
              <a:r>
                <a:rPr lang="vi-VN" sz="1800" b="1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62%</a:t>
              </a:r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 xml:space="preserve"> khả năng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El Niño xuất hiện trong 6–8/2026.</a:t>
              </a:r>
            </a:p>
          </p:txBody>
        </p:sp>
      </p:grpSp>
      <p:grpSp>
        <p:nvGrpSpPr>
          <p:cNvPr id="24" name="pressure-replant"/>
          <p:cNvGrpSpPr/>
          <p:nvPr/>
        </p:nvGrpSpPr>
        <p:grpSpPr>
          <a:xfrm>
            <a:off x="6096000" y="1752600"/>
            <a:ext cx="5486400" cy="1910334"/>
            <a:chOff x="6096000" y="1752600"/>
            <a:chExt cx="5486400" cy="1910334"/>
          </a:xfrm>
        </p:grpSpPr>
        <p:sp>
          <p:nvSpPr>
            <p:cNvPr id="14" name="Line 14"/>
            <p:cNvSpPr/>
            <p:nvPr/>
          </p:nvSpPr>
          <p:spPr>
            <a:xfrm>
              <a:off x="6096000" y="1752600"/>
              <a:ext cx="5486400" cy="9525"/>
            </a:xfrm>
            <a:custGeom>
              <a:avLst/>
              <a:gdLst/>
              <a:ahLst/>
              <a:cxnLst/>
              <a:rect l="l" t="t" r="r" b="b"/>
              <a:pathLst>
                <a:path w="5486400" h="9525">
                  <a:moveTo>
                    <a:pt x="0" y="0"/>
                  </a:moveTo>
                  <a:lnTo>
                    <a:pt x="5486400" y="0"/>
                  </a:lnTo>
                </a:path>
              </a:pathLst>
            </a:custGeom>
            <a:noFill/>
            <a:ln w="14288">
              <a:solidFill>
                <a:srgbClr val="D9CDBA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6464300" y="2066925"/>
              <a:ext cx="254001" cy="285751"/>
              <a:chOff x="6464300" y="2066925"/>
              <a:chExt cx="254001" cy="285751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6464300" y="2098675"/>
                <a:ext cx="254001" cy="254001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254001">
                    <a:moveTo>
                      <a:pt x="0" y="31750"/>
                    </a:moveTo>
                    <a:cubicBezTo>
                      <a:pt x="0" y="14215"/>
                      <a:pt x="14215" y="0"/>
                      <a:pt x="31750" y="0"/>
                    </a:cubicBezTo>
                    <a:lnTo>
                      <a:pt x="222250" y="0"/>
                    </a:lnTo>
                    <a:cubicBezTo>
                      <a:pt x="239786" y="0"/>
                      <a:pt x="254001" y="14215"/>
                      <a:pt x="254001" y="31750"/>
                    </a:cubicBezTo>
                    <a:lnTo>
                      <a:pt x="254001" y="222250"/>
                    </a:lnTo>
                    <a:cubicBezTo>
                      <a:pt x="254001" y="239786"/>
                      <a:pt x="239786" y="254001"/>
                      <a:pt x="222250" y="254001"/>
                    </a:cubicBezTo>
                    <a:lnTo>
                      <a:pt x="31750" y="254001"/>
                    </a:lnTo>
                    <a:cubicBezTo>
                      <a:pt x="14215" y="254001"/>
                      <a:pt x="0" y="239786"/>
                      <a:pt x="0" y="222250"/>
                    </a:cubicBezTo>
                    <a:lnTo>
                      <a:pt x="0" y="31750"/>
                    </a:lnTo>
                  </a:path>
                </a:pathLst>
              </a:custGeom>
              <a:noFill/>
              <a:ln w="31750">
                <a:solidFill>
                  <a:srgbClr val="9C2B1B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6654801" y="2066925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31750">
                <a:solidFill>
                  <a:srgbClr val="9C2B1B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6527800" y="2066925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31750">
                <a:solidFill>
                  <a:srgbClr val="9C2B1B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464300" y="2193925"/>
                <a:ext cx="25400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9525">
                    <a:moveTo>
                      <a:pt x="0" y="0"/>
                    </a:moveTo>
                    <a:lnTo>
                      <a:pt x="254001" y="0"/>
                    </a:lnTo>
                  </a:path>
                </a:pathLst>
              </a:custGeom>
              <a:noFill/>
              <a:ln w="31750">
                <a:solidFill>
                  <a:srgbClr val="9C2B1B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575425" y="2257425"/>
                <a:ext cx="15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9525">
                    <a:moveTo>
                      <a:pt x="0" y="0"/>
                    </a:moveTo>
                    <a:lnTo>
                      <a:pt x="15875" y="0"/>
                    </a:lnTo>
                  </a:path>
                </a:pathLst>
              </a:custGeom>
              <a:noFill/>
              <a:ln w="31750">
                <a:solidFill>
                  <a:srgbClr val="9C2B1B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591300" y="2257425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31750">
                <a:solidFill>
                  <a:srgbClr val="9C2B1B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6923532" y="2135505"/>
              <a:ext cx="17676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221C15"/>
                  </a:solidFill>
                  <a:latin typeface="+mn-lt"/>
                  <a:ea typeface="+mn-ea"/>
                  <a:cs typeface="+mn-cs"/>
                </a:rPr>
                <a:t>Vườn cây già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91656" y="2625090"/>
              <a:ext cx="4268534" cy="1037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 xml:space="preserve">Khoảng </a:t>
              </a:r>
              <a:r>
                <a:rPr lang="vi-VN" sz="1800" b="1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30%</a:t>
              </a:r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 xml:space="preserve"> diện tích cà phê đã 20 năm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tuổi trở lên và cần tái canh hoặc cải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tạo, theo WASI.</a:t>
              </a:r>
            </a:p>
          </p:txBody>
        </p:sp>
      </p:grpSp>
      <p:grpSp>
        <p:nvGrpSpPr>
          <p:cNvPr id="36" name="pressure-cost"/>
          <p:cNvGrpSpPr/>
          <p:nvPr/>
        </p:nvGrpSpPr>
        <p:grpSpPr>
          <a:xfrm>
            <a:off x="609600" y="3733800"/>
            <a:ext cx="5495925" cy="1981200"/>
            <a:chOff x="609600" y="3733800"/>
            <a:chExt cx="5495925" cy="1981200"/>
          </a:xfrm>
        </p:grpSpPr>
        <p:sp>
          <p:nvSpPr>
            <p:cNvPr id="25" name="Line 25"/>
            <p:cNvSpPr/>
            <p:nvPr/>
          </p:nvSpPr>
          <p:spPr>
            <a:xfrm>
              <a:off x="609600" y="3733800"/>
              <a:ext cx="5486400" cy="9525"/>
            </a:xfrm>
            <a:custGeom>
              <a:avLst/>
              <a:gdLst/>
              <a:ahLst/>
              <a:cxnLst/>
              <a:rect l="l" t="t" r="r" b="b"/>
              <a:pathLst>
                <a:path w="5486400" h="9525">
                  <a:moveTo>
                    <a:pt x="0" y="0"/>
                  </a:moveTo>
                  <a:lnTo>
                    <a:pt x="5486400" y="0"/>
                  </a:lnTo>
                </a:path>
              </a:pathLst>
            </a:custGeom>
            <a:noFill/>
            <a:ln w="14288">
              <a:solidFill>
                <a:srgbClr val="D9CDBA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6096000" y="3886200"/>
              <a:ext cx="9525" cy="1676400"/>
            </a:xfrm>
            <a:custGeom>
              <a:avLst/>
              <a:gdLst/>
              <a:ahLst/>
              <a:cxnLst/>
              <a:rect l="l" t="t" r="r" b="b"/>
              <a:pathLst>
                <a:path w="9525" h="1676400">
                  <a:moveTo>
                    <a:pt x="0" y="0"/>
                  </a:moveTo>
                  <a:lnTo>
                    <a:pt x="0" y="1676400"/>
                  </a:lnTo>
                </a:path>
              </a:pathLst>
            </a:custGeom>
            <a:noFill/>
            <a:ln w="9525">
              <a:solidFill>
                <a:srgbClr val="E4DACB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609600" y="5705475"/>
              <a:ext cx="5486400" cy="9525"/>
            </a:xfrm>
            <a:custGeom>
              <a:avLst/>
              <a:gdLst/>
              <a:ahLst/>
              <a:cxnLst/>
              <a:rect l="l" t="t" r="r" b="b"/>
              <a:pathLst>
                <a:path w="5486400" h="9525">
                  <a:moveTo>
                    <a:pt x="0" y="0"/>
                  </a:moveTo>
                  <a:lnTo>
                    <a:pt x="5486400" y="0"/>
                  </a:lnTo>
                </a:path>
              </a:pathLst>
            </a:custGeom>
            <a:noFill/>
            <a:ln w="14288">
              <a:solidFill>
                <a:srgbClr val="D9CDBA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962025" y="4045998"/>
              <a:ext cx="285750" cy="287877"/>
              <a:chOff x="962025" y="4045998"/>
              <a:chExt cx="285750" cy="287877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1057275" y="4175125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0" y="47625"/>
                    </a:moveTo>
                    <a:cubicBezTo>
                      <a:pt x="0" y="73930"/>
                      <a:pt x="42640" y="95250"/>
                      <a:pt x="95250" y="95250"/>
                    </a:cubicBezTo>
                    <a:cubicBezTo>
                      <a:pt x="147860" y="95250"/>
                      <a:pt x="190500" y="73930"/>
                      <a:pt x="190500" y="47625"/>
                    </a:cubicBezTo>
                    <a:cubicBezTo>
                      <a:pt x="190500" y="21320"/>
                      <a:pt x="147860" y="0"/>
                      <a:pt x="95250" y="0"/>
                    </a:cubicBezTo>
                    <a:cubicBezTo>
                      <a:pt x="42640" y="0"/>
                      <a:pt x="0" y="21320"/>
                      <a:pt x="0" y="47625"/>
                    </a:cubicBezTo>
                  </a:path>
                </a:pathLst>
              </a:custGeom>
              <a:noFill/>
              <a:ln w="31750">
                <a:solidFill>
                  <a:srgbClr val="9C2B1B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057275" y="4222750"/>
                <a:ext cx="19050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11125">
                    <a:moveTo>
                      <a:pt x="0" y="0"/>
                    </a:moveTo>
                    <a:lnTo>
                      <a:pt x="0" y="63500"/>
                    </a:lnTo>
                    <a:cubicBezTo>
                      <a:pt x="0" y="89789"/>
                      <a:pt x="42640" y="111125"/>
                      <a:pt x="95250" y="111125"/>
                    </a:cubicBezTo>
                    <a:cubicBezTo>
                      <a:pt x="147860" y="111125"/>
                      <a:pt x="190500" y="89789"/>
                      <a:pt x="190500" y="63500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31750">
                <a:solidFill>
                  <a:srgbClr val="9C2B1B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962025" y="4045998"/>
                <a:ext cx="190500" cy="9950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9505">
                    <a:moveTo>
                      <a:pt x="0" y="49752"/>
                    </a:moveTo>
                    <a:cubicBezTo>
                      <a:pt x="0" y="66770"/>
                      <a:pt x="18161" y="82487"/>
                      <a:pt x="47625" y="90996"/>
                    </a:cubicBezTo>
                    <a:cubicBezTo>
                      <a:pt x="77089" y="99505"/>
                      <a:pt x="113411" y="99505"/>
                      <a:pt x="142875" y="90996"/>
                    </a:cubicBezTo>
                    <a:cubicBezTo>
                      <a:pt x="172339" y="82487"/>
                      <a:pt x="190500" y="66770"/>
                      <a:pt x="190500" y="49752"/>
                    </a:cubicBezTo>
                    <a:cubicBezTo>
                      <a:pt x="190500" y="32734"/>
                      <a:pt x="172339" y="17018"/>
                      <a:pt x="142875" y="8509"/>
                    </a:cubicBezTo>
                    <a:cubicBezTo>
                      <a:pt x="113411" y="0"/>
                      <a:pt x="77089" y="0"/>
                      <a:pt x="47625" y="8509"/>
                    </a:cubicBezTo>
                    <a:cubicBezTo>
                      <a:pt x="18161" y="17018"/>
                      <a:pt x="0" y="32734"/>
                      <a:pt x="0" y="49752"/>
                    </a:cubicBezTo>
                  </a:path>
                </a:pathLst>
              </a:custGeom>
              <a:noFill/>
              <a:ln w="31750">
                <a:solidFill>
                  <a:srgbClr val="9C2B1B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962025" y="4095750"/>
                <a:ext cx="317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190500">
                    <a:moveTo>
                      <a:pt x="0" y="0"/>
                    </a:moveTo>
                    <a:lnTo>
                      <a:pt x="0" y="158750"/>
                    </a:lnTo>
                    <a:cubicBezTo>
                      <a:pt x="0" y="172847"/>
                      <a:pt x="12256" y="181769"/>
                      <a:pt x="31750" y="190500"/>
                    </a:cubicBezTo>
                  </a:path>
                </a:pathLst>
              </a:custGeom>
              <a:noFill/>
              <a:ln w="31750">
                <a:solidFill>
                  <a:srgbClr val="9C2B1B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62025" y="4175125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0"/>
                    </a:moveTo>
                    <a:cubicBezTo>
                      <a:pt x="0" y="14097"/>
                      <a:pt x="12256" y="23019"/>
                      <a:pt x="31750" y="31750"/>
                    </a:cubicBezTo>
                  </a:path>
                </a:pathLst>
              </a:custGeom>
              <a:noFill/>
              <a:ln w="31750">
                <a:solidFill>
                  <a:srgbClr val="9C2B1B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437132" y="4116705"/>
              <a:ext cx="23467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221C15"/>
                  </a:solidFill>
                  <a:latin typeface="+mn-lt"/>
                  <a:ea typeface="+mn-ea"/>
                  <a:cs typeface="+mn-cs"/>
                </a:rPr>
                <a:t>Chi phí sản xuất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05256" y="4606290"/>
              <a:ext cx="4417124" cy="1037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 xml:space="preserve">Phân bón và nhiên liệu tăng khoảng </a:t>
              </a:r>
              <a:r>
                <a:rPr lang="vi-VN" sz="1800" b="1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30%</a:t>
              </a:r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,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 xml:space="preserve">chi phí lao động tăng </a:t>
              </a:r>
              <a:r>
                <a:rPr lang="vi-VN" sz="1800" b="1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33%</a:t>
              </a:r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 xml:space="preserve"> so với năm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trước.</a:t>
              </a:r>
            </a:p>
          </p:txBody>
        </p:sp>
      </p:grpSp>
      <p:grpSp>
        <p:nvGrpSpPr>
          <p:cNvPr id="48" name="pressure-eudr"/>
          <p:cNvGrpSpPr/>
          <p:nvPr/>
        </p:nvGrpSpPr>
        <p:grpSpPr>
          <a:xfrm>
            <a:off x="6096000" y="3733800"/>
            <a:ext cx="5486400" cy="1981200"/>
            <a:chOff x="6096000" y="3733800"/>
            <a:chExt cx="5486400" cy="1981200"/>
          </a:xfrm>
        </p:grpSpPr>
        <p:sp>
          <p:nvSpPr>
            <p:cNvPr id="37" name="Line 37"/>
            <p:cNvSpPr/>
            <p:nvPr/>
          </p:nvSpPr>
          <p:spPr>
            <a:xfrm>
              <a:off x="6096000" y="3733800"/>
              <a:ext cx="5486400" cy="9525"/>
            </a:xfrm>
            <a:custGeom>
              <a:avLst/>
              <a:gdLst/>
              <a:ahLst/>
              <a:cxnLst/>
              <a:rect l="l" t="t" r="r" b="b"/>
              <a:pathLst>
                <a:path w="5486400" h="9525">
                  <a:moveTo>
                    <a:pt x="0" y="0"/>
                  </a:moveTo>
                  <a:lnTo>
                    <a:pt x="5486400" y="0"/>
                  </a:lnTo>
                </a:path>
              </a:pathLst>
            </a:custGeom>
            <a:noFill/>
            <a:ln w="14288">
              <a:solidFill>
                <a:srgbClr val="D9CDBA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6096000" y="5705475"/>
              <a:ext cx="5486400" cy="9525"/>
            </a:xfrm>
            <a:custGeom>
              <a:avLst/>
              <a:gdLst/>
              <a:ahLst/>
              <a:cxnLst/>
              <a:rect l="l" t="t" r="r" b="b"/>
              <a:pathLst>
                <a:path w="5486400" h="9525">
                  <a:moveTo>
                    <a:pt x="0" y="0"/>
                  </a:moveTo>
                  <a:lnTo>
                    <a:pt x="5486400" y="0"/>
                  </a:lnTo>
                </a:path>
              </a:pathLst>
            </a:custGeom>
            <a:noFill/>
            <a:ln w="14288">
              <a:solidFill>
                <a:srgbClr val="D9CDBA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431703" y="4044114"/>
              <a:ext cx="318347" cy="289762"/>
              <a:chOff x="6431703" y="4044114"/>
              <a:chExt cx="318347" cy="289762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607175" y="4079875"/>
                <a:ext cx="14287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206375">
                    <a:moveTo>
                      <a:pt x="47625" y="0"/>
                    </a:moveTo>
                    <a:lnTo>
                      <a:pt x="95250" y="47625"/>
                    </a:lnTo>
                    <a:lnTo>
                      <a:pt x="63500" y="63500"/>
                    </a:lnTo>
                    <a:lnTo>
                      <a:pt x="127000" y="127000"/>
                    </a:lnTo>
                    <a:lnTo>
                      <a:pt x="79375" y="142875"/>
                    </a:lnTo>
                    <a:lnTo>
                      <a:pt x="142875" y="206375"/>
                    </a:lnTo>
                    <a:lnTo>
                      <a:pt x="0" y="206375"/>
                    </a:lnTo>
                  </a:path>
                </a:pathLst>
              </a:custGeom>
              <a:noFill/>
              <a:ln w="31750">
                <a:solidFill>
                  <a:srgbClr val="9C2B1B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638925" y="4286251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47625"/>
                    </a:move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rgbClr val="9C2B1B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496050" y="4175125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31750" y="31750"/>
                    </a:move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rgbClr val="9C2B1B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527800" y="4159250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31750"/>
                    </a:moveTo>
                    <a:lnTo>
                      <a:pt x="31750" y="0"/>
                    </a:lnTo>
                  </a:path>
                </a:pathLst>
              </a:custGeom>
              <a:noFill/>
              <a:ln w="31750">
                <a:solidFill>
                  <a:srgbClr val="9C2B1B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527800" y="41275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206375"/>
                    </a:move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rgbClr val="9C2B1B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431703" y="4044114"/>
                <a:ext cx="192190" cy="210469"/>
              </a:xfrm>
              <a:custGeom>
                <a:avLst/>
                <a:gdLst/>
                <a:ahLst/>
                <a:cxnLst/>
                <a:rect l="l" t="t" r="r" b="b"/>
                <a:pathLst>
                  <a:path w="192190" h="210469">
                    <a:moveTo>
                      <a:pt x="61553" y="210386"/>
                    </a:moveTo>
                    <a:cubicBezTo>
                      <a:pt x="47493" y="209563"/>
                      <a:pt x="34518" y="202559"/>
                      <a:pt x="26116" y="191255"/>
                    </a:cubicBezTo>
                    <a:cubicBezTo>
                      <a:pt x="17713" y="179952"/>
                      <a:pt x="14745" y="165509"/>
                      <a:pt x="18008" y="151807"/>
                    </a:cubicBezTo>
                    <a:cubicBezTo>
                      <a:pt x="6335" y="142087"/>
                      <a:pt x="0" y="127381"/>
                      <a:pt x="954" y="112221"/>
                    </a:cubicBezTo>
                    <a:cubicBezTo>
                      <a:pt x="1907" y="97061"/>
                      <a:pt x="10035" y="83265"/>
                      <a:pt x="22834" y="75083"/>
                    </a:cubicBezTo>
                    <a:cubicBezTo>
                      <a:pt x="11404" y="54778"/>
                      <a:pt x="16345" y="29184"/>
                      <a:pt x="34511" y="14592"/>
                    </a:cubicBezTo>
                    <a:cubicBezTo>
                      <a:pt x="52678" y="0"/>
                      <a:pt x="78735" y="695"/>
                      <a:pt x="96097" y="16235"/>
                    </a:cubicBezTo>
                    <a:cubicBezTo>
                      <a:pt x="113463" y="720"/>
                      <a:pt x="139502" y="39"/>
                      <a:pt x="157656" y="14624"/>
                    </a:cubicBezTo>
                    <a:cubicBezTo>
                      <a:pt x="175809" y="29209"/>
                      <a:pt x="180754" y="54783"/>
                      <a:pt x="169345" y="75083"/>
                    </a:cubicBezTo>
                    <a:cubicBezTo>
                      <a:pt x="182146" y="83262"/>
                      <a:pt x="190277" y="97057"/>
                      <a:pt x="191234" y="112217"/>
                    </a:cubicBezTo>
                    <a:cubicBezTo>
                      <a:pt x="192190" y="127377"/>
                      <a:pt x="185858" y="142084"/>
                      <a:pt x="174187" y="151807"/>
                    </a:cubicBezTo>
                    <a:cubicBezTo>
                      <a:pt x="177563" y="165985"/>
                      <a:pt x="174262" y="180927"/>
                      <a:pt x="165228" y="192363"/>
                    </a:cubicBezTo>
                    <a:cubicBezTo>
                      <a:pt x="156194" y="203799"/>
                      <a:pt x="142421" y="210469"/>
                      <a:pt x="127847" y="210466"/>
                    </a:cubicBezTo>
                    <a:lnTo>
                      <a:pt x="64347" y="210466"/>
                    </a:lnTo>
                    <a:lnTo>
                      <a:pt x="61553" y="210386"/>
                    </a:lnTo>
                  </a:path>
                </a:pathLst>
              </a:custGeom>
              <a:noFill/>
              <a:ln w="31750">
                <a:solidFill>
                  <a:srgbClr val="9C2B1B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6923532" y="4116705"/>
              <a:ext cx="21069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221C15"/>
                  </a:solidFill>
                  <a:latin typeface="+mn-lt"/>
                  <a:ea typeface="+mn-ea"/>
                  <a:cs typeface="+mn-cs"/>
                </a:rPr>
                <a:t>Quy định EUDR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91656" y="4606290"/>
              <a:ext cx="4373118" cy="1037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Quy định chống mất rừng của EU có hiệu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 xml:space="preserve">lực từ </a:t>
              </a:r>
              <a:r>
                <a:rPr lang="vi-VN" sz="1800" b="1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tháng 12/2026</a:t>
              </a:r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 xml:space="preserve">; khoảng </a:t>
              </a:r>
              <a:r>
                <a:rPr lang="vi-VN" sz="1800" b="1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40%</a:t>
              </a:r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 xml:space="preserve"> diện</a:t>
              </a:r>
              <a:br/>
              <a:r>
                <a:rPr lang="vi-VN" sz="18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tích đã có chứng nhận bền vững.</a:t>
              </a:r>
            </a:p>
          </p:txBody>
        </p:sp>
      </p:grpSp>
      <p:grpSp>
        <p:nvGrpSpPr>
          <p:cNvPr id="50" name="challenge-note"/>
          <p:cNvGrpSpPr/>
          <p:nvPr/>
        </p:nvGrpSpPr>
        <p:grpSpPr>
          <a:xfrm>
            <a:off x="602742" y="5969318"/>
            <a:ext cx="10879486" cy="264033"/>
            <a:chOff x="602742" y="5969318"/>
            <a:chExt cx="10879486" cy="264033"/>
          </a:xfrm>
        </p:grpSpPr>
        <p:sp>
          <p:nvSpPr>
            <p:cNvPr id="49" name="TextBox 49"/>
            <p:cNvSpPr txBox="1"/>
            <p:nvPr/>
          </p:nvSpPr>
          <p:spPr>
            <a:xfrm>
              <a:off x="602742" y="5969318"/>
              <a:ext cx="108794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Hơn 600.000 hộ nông dân nhỏ tham gia sản xuất; nhiều hộ từng chuyển một phần diện tích sang sầu riêng khi giá cà phê thấp.</a:t>
              </a:r>
            </a:p>
          </p:txBody>
        </p:sp>
      </p:grpSp>
      <p:grpSp>
        <p:nvGrpSpPr>
          <p:cNvPr id="53" name="page-footer"/>
          <p:cNvGrpSpPr/>
          <p:nvPr/>
        </p:nvGrpSpPr>
        <p:grpSpPr>
          <a:xfrm>
            <a:off x="603504" y="6461760"/>
            <a:ext cx="10984992" cy="234696"/>
            <a:chOff x="603504" y="6461760"/>
            <a:chExt cx="10984992" cy="234696"/>
          </a:xfrm>
        </p:grpSpPr>
        <p:sp>
          <p:nvSpPr>
            <p:cNvPr id="51" name="TextBox 51"/>
            <p:cNvSpPr txBox="1"/>
            <p:nvPr/>
          </p:nvSpPr>
          <p:spPr>
            <a:xfrm>
              <a:off x="603504" y="6461760"/>
              <a:ext cx="75662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Nguồn: USDA FAS, Coffee Annual Vietnam VM2026-0016 (20/5/2026), dẫn WASI, NOAA và GADAS.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398606" y="64617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5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5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95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4360" y="444818"/>
            <a:ext cx="8604352" cy="865822"/>
            <a:chOff x="594360" y="444818"/>
            <a:chExt cx="8604352" cy="86582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44818"/>
              <a:ext cx="23849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9C2B1B"/>
                  </a:solidFill>
                  <a:latin typeface="+mn-lt"/>
                  <a:ea typeface="+mn-ea"/>
                  <a:cs typeface="+mn-cs"/>
                </a:rPr>
                <a:t>CHẶNG 5 · TRIỂN VỌNG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3900"/>
              <a:ext cx="860435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000" b="1" dirty="0">
                  <a:solidFill>
                    <a:srgbClr val="221C15"/>
                  </a:solidFill>
                  <a:latin typeface="+mj-lt"/>
                  <a:ea typeface="+mj-ea"/>
                  <a:cs typeface="+mj-cs"/>
                </a:rPr>
                <a:t>Triển vọng: niên vụ lớn nhất, câu hỏi cũ</a:t>
              </a:r>
            </a:p>
          </p:txBody>
        </p:sp>
      </p:grpSp>
      <p:grpSp>
        <p:nvGrpSpPr>
          <p:cNvPr id="7" name="chapter-rail"/>
          <p:cNvGrpSpPr/>
          <p:nvPr/>
        </p:nvGrpSpPr>
        <p:grpSpPr>
          <a:xfrm>
            <a:off x="609600" y="1247775"/>
            <a:ext cx="10972800" cy="57150"/>
            <a:chOff x="609600" y="1247775"/>
            <a:chExt cx="10972800" cy="57150"/>
          </a:xfrm>
        </p:grpSpPr>
        <p:sp>
          <p:nvSpPr>
            <p:cNvPr id="5" name="Line 5"/>
            <p:cNvSpPr/>
            <p:nvPr/>
          </p:nvSpPr>
          <p:spPr>
            <a:xfrm>
              <a:off x="609600" y="1276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9CDB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9372600" y="1247775"/>
              <a:ext cx="2209800" cy="57150"/>
            </a:xfrm>
            <a:prstGeom prst="rect">
              <a:avLst/>
            </a:prstGeom>
            <a:solidFill>
              <a:srgbClr val="9C2B1B"/>
            </a:solidFill>
            <a:ln>
              <a:noFill/>
            </a:ln>
          </p:spPr>
        </p:sp>
      </p:grpSp>
      <p:grpSp>
        <p:nvGrpSpPr>
          <p:cNvPr id="9" name="outlook-lead"/>
          <p:cNvGrpSpPr/>
          <p:nvPr/>
        </p:nvGrpSpPr>
        <p:grpSpPr>
          <a:xfrm>
            <a:off x="598932" y="1754505"/>
            <a:ext cx="9555861" cy="753618"/>
            <a:chOff x="598932" y="1754505"/>
            <a:chExt cx="9555861" cy="753618"/>
          </a:xfrm>
        </p:grpSpPr>
        <p:sp>
          <p:nvSpPr>
            <p:cNvPr id="8" name="TextBox 8"/>
            <p:cNvSpPr txBox="1"/>
            <p:nvPr/>
          </p:nvSpPr>
          <p:spPr>
            <a:xfrm>
              <a:off x="598932" y="1754505"/>
              <a:ext cx="9555861" cy="7536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vi-VN" sz="21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Niên vụ 2026/27 được dự báo là niên vụ lớn nhất từ trước tới nay của cà phê</a:t>
              </a:r>
              <a:br/>
              <a:r>
                <a:rPr lang="vi-VN" sz="2100" dirty="0">
                  <a:solidFill>
                    <a:srgbClr val="3A3128"/>
                  </a:solidFill>
                  <a:latin typeface="+mn-lt"/>
                  <a:ea typeface="+mn-ea"/>
                  <a:cs typeface="+mn-cs"/>
                </a:rPr>
                <a:t>Việt Nam — nhưng phần giá trị giữ lại vẫn là câu hỏi mở.</a:t>
              </a:r>
            </a:p>
          </p:txBody>
        </p:sp>
      </p:grpSp>
      <p:grpSp>
        <p:nvGrpSpPr>
          <p:cNvPr id="12" name="outlook-stat-1"/>
          <p:cNvGrpSpPr/>
          <p:nvPr/>
        </p:nvGrpSpPr>
        <p:grpSpPr>
          <a:xfrm>
            <a:off x="592836" y="2939415"/>
            <a:ext cx="3058630" cy="760286"/>
            <a:chOff x="592836" y="2939415"/>
            <a:chExt cx="3058630" cy="760286"/>
          </a:xfrm>
        </p:grpSpPr>
        <p:sp>
          <p:nvSpPr>
            <p:cNvPr id="10" name="TextBox 10"/>
            <p:cNvSpPr txBox="1"/>
            <p:nvPr/>
          </p:nvSpPr>
          <p:spPr>
            <a:xfrm>
              <a:off x="592836" y="2939415"/>
              <a:ext cx="111782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300" b="1" dirty="0">
                  <a:solidFill>
                    <a:srgbClr val="7A3B22"/>
                  </a:solidFill>
                  <a:latin typeface="+mj-lt"/>
                  <a:ea typeface="+mj-ea"/>
                  <a:cs typeface="+mj-cs"/>
                </a:rPr>
                <a:t>32,5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2742" y="3435668"/>
              <a:ext cx="30487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triệu bao sản lượng dự báo 2026/27</a:t>
              </a:r>
            </a:p>
          </p:txBody>
        </p:sp>
      </p:grpSp>
      <p:grpSp>
        <p:nvGrpSpPr>
          <p:cNvPr id="15" name="outlook-stat-2"/>
          <p:cNvGrpSpPr/>
          <p:nvPr/>
        </p:nvGrpSpPr>
        <p:grpSpPr>
          <a:xfrm>
            <a:off x="4326636" y="2939415"/>
            <a:ext cx="3104064" cy="760286"/>
            <a:chOff x="4326636" y="2939415"/>
            <a:chExt cx="3104064" cy="760286"/>
          </a:xfrm>
        </p:grpSpPr>
        <p:sp>
          <p:nvSpPr>
            <p:cNvPr id="13" name="TextBox 13"/>
            <p:cNvSpPr txBox="1"/>
            <p:nvPr/>
          </p:nvSpPr>
          <p:spPr>
            <a:xfrm>
              <a:off x="4326636" y="2939415"/>
              <a:ext cx="138889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300" b="1" dirty="0">
                  <a:solidFill>
                    <a:srgbClr val="7A3B22"/>
                  </a:solidFill>
                  <a:latin typeface="+mj-lt"/>
                  <a:ea typeface="+mj-ea"/>
                  <a:cs typeface="+mj-cs"/>
                </a:rPr>
                <a:t>28,95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36542" y="3435668"/>
              <a:ext cx="30941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triệu bao xuất khẩu dự báo 2026/27</a:t>
              </a:r>
            </a:p>
          </p:txBody>
        </p:sp>
      </p:grpSp>
      <p:grpSp>
        <p:nvGrpSpPr>
          <p:cNvPr id="18" name="outlook-stat-3"/>
          <p:cNvGrpSpPr/>
          <p:nvPr/>
        </p:nvGrpSpPr>
        <p:grpSpPr>
          <a:xfrm>
            <a:off x="8060436" y="2939415"/>
            <a:ext cx="2604287" cy="760286"/>
            <a:chOff x="8060436" y="2939415"/>
            <a:chExt cx="2604287" cy="760286"/>
          </a:xfrm>
        </p:grpSpPr>
        <p:sp>
          <p:nvSpPr>
            <p:cNvPr id="16" name="TextBox 16"/>
            <p:cNvSpPr txBox="1"/>
            <p:nvPr/>
          </p:nvSpPr>
          <p:spPr>
            <a:xfrm>
              <a:off x="8060436" y="2939415"/>
              <a:ext cx="8467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300" b="1" dirty="0">
                  <a:solidFill>
                    <a:srgbClr val="7A3B22"/>
                  </a:solidFill>
                  <a:latin typeface="+mj-lt"/>
                  <a:ea typeface="+mj-ea"/>
                  <a:cs typeface="+mj-cs"/>
                </a:rPr>
                <a:t>5,0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70342" y="3435668"/>
              <a:ext cx="25943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triệu bao tiêu thụ trong nước</a:t>
              </a:r>
            </a:p>
          </p:txBody>
        </p:sp>
      </p:grpSp>
      <p:grpSp>
        <p:nvGrpSpPr>
          <p:cNvPr id="20" name="outlook-world"/>
          <p:cNvGrpSpPr/>
          <p:nvPr/>
        </p:nvGrpSpPr>
        <p:grpSpPr>
          <a:xfrm>
            <a:off x="602742" y="4045268"/>
            <a:ext cx="6665976" cy="511683"/>
            <a:chOff x="602742" y="4045268"/>
            <a:chExt cx="6665976" cy="511683"/>
          </a:xfrm>
        </p:grpSpPr>
        <p:sp>
          <p:nvSpPr>
            <p:cNvPr id="19" name="TextBox 19"/>
            <p:cNvSpPr txBox="1"/>
            <p:nvPr/>
          </p:nvSpPr>
          <p:spPr>
            <a:xfrm>
              <a:off x="602742" y="4045268"/>
              <a:ext cx="666597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Sản lượng cà phê thế giới niên vụ 2026/27 được dự báo đạt kỷ lục 189,7 triệu bao;</a:t>
              </a:r>
              <a:br/>
              <a:r>
                <a:rPr lang="vi-VN" sz="135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Việt Nam đứng thứ hai sau Brazil (71,9 triệu bao).</a:t>
              </a:r>
            </a:p>
          </p:txBody>
        </p:sp>
      </p:grpSp>
      <p:grpSp>
        <p:nvGrpSpPr>
          <p:cNvPr id="24" name="outlook-takeaway"/>
          <p:cNvGrpSpPr/>
          <p:nvPr/>
        </p:nvGrpSpPr>
        <p:grpSpPr>
          <a:xfrm>
            <a:off x="609600" y="4705350"/>
            <a:ext cx="10972800" cy="1307973"/>
            <a:chOff x="609600" y="4705350"/>
            <a:chExt cx="10972800" cy="1307973"/>
          </a:xfrm>
        </p:grpSpPr>
        <p:sp>
          <p:nvSpPr>
            <p:cNvPr id="21" name="Freeform 21"/>
            <p:cNvSpPr/>
            <p:nvPr/>
          </p:nvSpPr>
          <p:spPr>
            <a:xfrm>
              <a:off x="609600" y="4705350"/>
              <a:ext cx="10972800" cy="1295400"/>
            </a:xfrm>
            <a:prstGeom prst="snip2DiagRect">
              <a:avLst/>
            </a:prstGeom>
            <a:solidFill>
              <a:srgbClr val="7A3B2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07542" y="4902518"/>
              <a:ext cx="9998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350" b="1" spc="150" dirty="0">
                  <a:solidFill>
                    <a:srgbClr val="E7D5BF"/>
                  </a:solidFill>
                  <a:latin typeface="+mn-lt"/>
                  <a:ea typeface="+mn-ea"/>
                  <a:cs typeface="+mn-cs"/>
                </a:rPr>
                <a:t>KẾT LUẬN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3732" y="5259705"/>
              <a:ext cx="7795641" cy="7536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vi-VN" sz="2100" dirty="0">
                  <a:solidFill>
                    <a:srgbClr val="F7F3EC"/>
                  </a:solidFill>
                  <a:latin typeface="+mn-lt"/>
                  <a:ea typeface="+mn-ea"/>
                  <a:cs typeface="+mn-cs"/>
                </a:rPr>
                <a:t>Sản lượng đã ở đỉnh. Phần việc còn lại là giữ nhiều hơn giá trị</a:t>
              </a:r>
              <a:br/>
              <a:r>
                <a:rPr lang="vi-VN" sz="2100" dirty="0">
                  <a:solidFill>
                    <a:srgbClr val="F7F3EC"/>
                  </a:solidFill>
                  <a:latin typeface="+mn-lt"/>
                  <a:ea typeface="+mn-ea"/>
                  <a:cs typeface="+mn-cs"/>
                </a:rPr>
                <a:t>ở trong nước: chế biến sâu, chất lượng và thương hiệu.</a:t>
              </a:r>
            </a:p>
          </p:txBody>
        </p:sp>
      </p:grpSp>
      <p:grpSp>
        <p:nvGrpSpPr>
          <p:cNvPr id="27" name="page-footer"/>
          <p:cNvGrpSpPr/>
          <p:nvPr/>
        </p:nvGrpSpPr>
        <p:grpSpPr>
          <a:xfrm>
            <a:off x="603504" y="6461760"/>
            <a:ext cx="10984992" cy="234696"/>
            <a:chOff x="603504" y="6461760"/>
            <a:chExt cx="10984992" cy="234696"/>
          </a:xfrm>
        </p:grpSpPr>
        <p:sp>
          <p:nvSpPr>
            <p:cNvPr id="25" name="TextBox 25"/>
            <p:cNvSpPr txBox="1"/>
            <p:nvPr/>
          </p:nvSpPr>
          <p:spPr>
            <a:xfrm>
              <a:off x="603504" y="6461760"/>
              <a:ext cx="89119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Nguồn: USDA FAS (VM2026-0016; World Markets and Trade 7/2026); VICOFA; UBND tỉnh Đắk Lắk; Báo Thanh Niên.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398606" y="64617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-VN" sz="1200" dirty="0">
                  <a:solidFill>
                    <a:srgbClr val="6B5B4A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5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85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750"/>
                            </p:stCondLst>
                            <p:childTnLst>
                              <p:par>
                                <p:cTn xmlns:p="http://schemas.openxmlformats.org/presentationml/2006/main" id="2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pt169_vietnam_coffee_vi_quick">
  <a:themeElements>
    <a:clrScheme name="ppt169_vietnam_coffee_vi_quick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169_vietnam_coffee_vi_quick">
      <a:majorFont>
        <a:latin typeface="Cambria"/>
        <a:ea typeface="SimSun"/>
        <a:cs typeface="Cambr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vietnam_coffee_vi_qui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vi-VN</dc:language>
  <cp:lastModifiedBy/>
  <cp:revision>1</cp:revision>
  <dcterms:created xsi:type="dcterms:W3CDTF">2026-09-12T04:55:58Z</dcterms:created>
  <dcterms:modified xsi:type="dcterms:W3CDTF">2026-09-12T04:55:58Z</dcterms:modified>
  <cp:category/>
  <cp:contentStatus/>
</cp:coreProperties>
</file>