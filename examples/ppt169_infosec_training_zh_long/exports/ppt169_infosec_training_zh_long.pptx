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  <Relationship Id="rId3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欢迎各位加入公司。这门课是入职必修，四十五分钟，讲完当堂做五道判断题。我先说清楚这门课的立场：它不是讲给安全部门听的，是讲给你听的。这一版标注二〇二六，是因为《网络安全法》在二〇二五年十月二十八日作了首次修正，修正后的规定自二〇二六年一月一日起施行，条文序号整体变动，市面上大量旧培训材料里的条号已经过期。请注意一个细节：这部法律第八十一条仍然写着自二〇一七年六月一日起施行，二〇二六年一月一日是修改决定的生效日，两者含义不同，不要混用。封面这句话请先记住：你就是入口。</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走五章。第一章讲为什么是你，先用公开的统计和通报案件建立前提。第二章讲账号与密码，这是最常被撬开的那把锁。第三章讲数据与设备，处理你手上真正拿得到的东西。第四章讲合规红线，这一章会讲到罚款和禁业。第五章讲应急与上报，也是唯一能把损失往回拉的一章。最后一页是随堂自测，五道判断题，答案在我这里。目录上的编号和起始页码与实际页面一一对应，如果你只能听一章，建议听第五章。</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章，为什么是你。这一章不讲操作，只解决一个认知问题。很多人默认安全事故是黑客攻破了系统，所以是技术部门的事。我们接下来用四页说明：泄露的根因里近一半与人直接相关，攻击者进门最常用的两类方式有一类是社会工程学，公安部通报的真实案件里攻击者甚至是应聘进来的，而你在这套风险里同时扮演三个角色。</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先看根因。IBM《数据泄露成本报告》二〇二六版的统计，恶意或犯罪攻击占全部泄露根因的百分之五十五，较上一年上升近百分之八；人为失误占百分之二十三；纯粹的 IT 故障只占百分之二十二。也就是说，真正与技术故障有关的只有四分之一左右，其余四分之三都要经过某一个人的操作。右边这个数字来自 Verizon 二〇二六年数据泄露调查报告：所谓人为因素出现在百分之六十二的数据泄露中，上一版是百分之六十。两份独立报告、两套口径，指向同一个结论：把人当成入口，比把系统当成入口更接近事实。</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再看攻击者具体从哪条路进来。同一份 DBIR 报告统计了确认泄露的初始入侵途径：漏洞利用百分之三十一，升到第一位；钓鱼百分之十六，与上一版持平；凭据滥用百分之十三，由上一版的第一位降到第三；托词欺骗百分之六。这里要提醒一句读法：不要因为漏洞利用排第一就松口气。钓鱼加凭据滥用合计百分之二十九，与漏洞利用几乎持平，而这两条路和漏洞利用有一个根本区别——漏洞由 IT 部门修补，钓鱼和凭据只能由你守。这份数据集覆盖二〇二四年十月到二〇二五年十一月，是当期的。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统计之后看具体案子。这四起都是公开通报的，可以核验。第一起是公安部二〇二五年三月公布的北京海淀案：犯罪团伙制作木马程序，组织人员入职目标教培机构，定向投放木马非法控制内部计算机，抓获犯罪嫌疑人八名。请注意这个手法——攻击者不是黑进来的，是应聘进来的。第二起甘肃张掖案，团伙勾结快递行业工作人员窃取订单个人信息出售，抓获十八人，涉案三百余万元。第三起四川凉山案，嫌疑人利用开发运维在线学习平台的工作便利非法获取并出售个人信息，全案抓获四十五人。第四起是某药房内鬼盗卖客户数据，根源在于企业没有严格限制和监控员工的数据访问权限。规模上，二〇二四年全国公安机关侦破侵犯公民个人信息相关案件七千余起，这不是孤例。</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章收在这里。你在这套风险里同时有三个身份。第一个是目标：你的账号和你手里的数据本身就是战利品。第二个是通道：攻击者真正要的往往不是你，而是穿过你去拿系统里更值钱的东西，海淀案就是这个结构。第三个是防线：能在第一时间发现并说出异常的，通常只有当事人，也就是你。这三个身份是我们依据前面的通报案例与统计所作的归纳，页面上标了整理二字，不是引自单一来源。接下来第二章，账号与密码。</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第二章，账号与密码。这一章讲四件事：口令的老规矩为什么已经过期，为什么短信验证码不够，一封钓鱼邮件应该看哪六处，以及钓鱼早就不只发生在邮箱里。这一章结束时你会拿到三个当天就能做完的动作。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先看口令。这张表左边是很多人被教了十年的老规矩，右边是现行的权威要求，依据是 NIST SP 800-63B-4，二〇二五年七月发布的版本。长度上，旧口径是八位够用，现在要求作为单因素认证的口令最少十五个字符，只有当口令仅仅是多因素认证的一个组成部分时才可以短到八个字符。定期更换这一条被直接推翻了：标准明确规定不得要求用户定期更换口令，只有在有证据表明口令已经泄露时才强制更换。组合规则同样被推翻，不得强制要求大小写、数字、符号混合。取而代之的是两条新要求：建立或修改口令时必须与已泄露口令的黑名单做完整比对，命中即拒绝并告知原因；找回方式上不得使用你的第一只宠物叫什么这类知识型问答，也不得存储可被未认证者访问的口令提示。一句话记住：长度优先于复杂度，不复用、不被撞库命中，比定期更换更重要。</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很多人以为开了短信验证码就安全了。看三种现实中的绕过手法。第一种是语音钓鱼，攻击者冒充 IT 服务台打来电话，引导你把验证码念出来。第二种是推送轰炸，连续发送认证推送，直到你为了清静按下同意。第三种是 SIM 卡交换，把你的号码转到攻击者的卡上，短信验证码直接送到对方手里。这不是假设。CISA 与 FBI 等七国机构联合发布的 Scattered Spider 预警，二〇二三年首发、二〇二五年修订，明确指出拉斯维加斯 MGM、凯撒等赌场被攻破，是因为攻击者说服了 IT 服务台人员重置密码和多因素认证令牌。同一份预警给出的对策是：使用抗钓鱼的多因素认证，也就是 FIDO 或 WebAuthn，或者基于 PKI 的 MFA，因为它们不受推送轰炸和 SIM 卡交换影响。落到个人只有一句：没有任何人有权在电话里让你念出验证码。</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这一页左边是我们自己画的邮件界面示意，不是真实邮件，也不是截图，界面里的文字只是教学示例。请按编号看六处破绽。第一处，显示名写的是 IT 服务台，但第二处的实际地址里把 service 拼成了 s-e-r-v-1-c-e，用数字一替换了字母 i——CNCERT 二〇二六年的提示里明确说，这批钓鱼域名大量使用字母重复、缺字、错拼的仿冒手法，常见关键词是 zh、cn、apps、web、office。第三处是主题，紧急加上二十四小时内未验证将停用账号，制造的是时限压力。第四处是链接，显示文字和实际指向不一致。第五处是附件，文件名是双扩展名，而且要求你先关掉安全提示再打开——正常的公司邮件不会这样要求。第六处是页脚，缺少任何可以核对的组织信息。这六处是我们依据 CNCERT 与 CISA 的公开提示归纳的，顺序不代表权重。判断标准是：单独一处不足以定案，两处同时出现就该停手。处置方式也很简单，看不准就不点，转给安全负责人比自己去验证要安全得多。</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如果你把钓鱼等同于钓鱼邮件，就会漏掉三条路。第一条是语音和短信：DBIR 的钓鱼演练数据显示，这类以移动端为载体的渠道，成功点击率的中位数比电子邮件渠道高出百分之四十。第二条是搜索结果：CNCERT 二〇二六年五月的风险提示说，黑产通过 bing 搜索引擎优化投递高仿真钓鱼站点，并且检测 refer 头以规避分析，你直接输域名访问还会被跳转——也就是说，搜出来的下载站同样是入口。第三条是仿冒办公软件：在二〇二六年二月六日到五月四日注册的四百三十九个钓鱼域名里，仿冒 wps 和 chrome 的合计三百四十个，占百分之七十七点四。下面这张图是 IBM 二〇二六年报告按初始攻击途径统计的平均泄露成本，单位是万美元：语音与短信钓鱼五百二十九万，冒充服务台等社会工程学五百二十三万，有效账户滥用五百零七万。三条社工路径的平均成本几乎一样高，而钓鱼已经连续第四年是进入被泄露组织的头号初始攻击途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章的三件事。今天就做的：把公司账号的口令换成十五个字符以上、而且没有在别处用过的一串。本周做的：在支持的系统上启用抗钓鱼的多因素认证，不要再只依赖短信验证码。长期保持的：任何催你立刻、马上、否则的消息，先停手再核实，电话、短信、搜索结果和邮件一视同仁。这三条是本章要点的归纳。下一章我们从账号转到你手上的数据和设备。</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第三章，数据与设备。前两章解决的是别人怎么进来，这一章解决的是东西怎么出去。四个话题：什么数据不能出门，为什么走 U 盘那条路最难被发现，在家办公要守住哪几条，以及外发之前该问自己什么。</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建立一把尺子。这四档从左到右敏感度和外发限制递增。公开类，已经对外发布过的，可以自由外发。内部类，仅限在职员工，外发需要业务负责人确认。敏感类，包括客户与员工的个人信息、合同与报价，外发需要安全与法务确认，并且要留痕。最高一档是重要数据，由主管部门目录认定，处理者必须定期开展风险评估并向主管部门报送报告。这套分级不是我们凭空造的，法定依据在下面：《网络安全法》第二十三条第四项要求采取数据分类、重要数据备份和加密等措施；《数据安全法》第三十条要求重要数据处理者定期开展风险评估并报送；《个人信息保护法》第五十一条要求对个人信息实行分类管理并采取加密、去标识化等技术措施。但四档的名称和具体外发口径是我们做的可执行归纳，页面上标了整理，不同企业的分级名称可能不同，请以本企业制度为准。分不清的时候，按敏感处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这一页只讲一条路径：可移动介质。IBM 二〇二六年报告显示，接近百分之十的数据泄露中，攻击者是通过可移动介质非法复制数据的。真正的问题不是这个占比，而是右边这个数字：这一类泄露平均需要两百五十八天才被识别和遏制，与供应链入侵并列耗时最长。为什么最难被发现？不是因为它更严重，而是因为它离开了所有能被监测到的通道——数据一旦落到一块私人硬盘上，日志里就没有它了。所以这一条的要求是：不要用私人 U 盘和移动硬盘转运公司数据；确实必须使用时，走公司审批和加密介质。</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在家办公不是换个地方打开电脑，而是把办公室的边界搬到了你家，所以同一套标准要跟着走。设备上，公司数据只落在公司管控的终端上，个人电脑不做公司数据的落地存储。网络上，在公共 Wi-Fi 下要先连公司 VPN 再访问内部系统，不要为了网速快绕过管控通道。账号上，家人共用的电脑不保存公司账号口令，离开座位时锁屏。屏幕和音频上，视频会议共享屏幕之前先关掉无关窗口，客户信息不要出现在共享画面里。这四个场景是我们归纳的常见远程办公风险面。最后一句请记住：《网络安全法》第二十三条要求留存相关的网络日志不少于六个月，你在家的操作同样在日志里。</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章收在四个问题上，它们是一条逐级过滤的序列。第一问，这是哪一档数据？分不清就按敏感处理。第二问，收件人有权知道吗？对外发送要有合同或授权依据。第三问，有没有更小的范围？能发摘要就不发全量，能去标识化就不发原始个人信息。第四问，留痕了吗？谁批的、什么时候发的、发了哪一版，要能查得到。这四问是我们依据《个人信息保护法》第五条到第七条的合法、正当、必要与影响最小原则做的操作化归纳。判断规则只有一条：任何一句答不上来，就不要发。下一章讲后果。</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章，合规红线。这一章讲的是罚到个人的部分。开头我要先纠正一件事——条号全变了；然后看三部法律具体落到你身上的是哪几条；再看罚款和禁业；最后是这门课里最有分量的一条事实：员工的入罪门槛是减半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条号。《网络安全法》二〇二五年十月二十八日由十四届全国人大常委会第十八次会议作出修改决定，这是这部法律自二〇一六年制定以来的首次修改。修正后全文八十一条，比二〇一六年版净增两条，导致第十二条之后的条文序号整体后移。表里是十项对照：用户行为红线由第十二条变为第十三条；等级保护与日志留存六个月由第二十一条变为第二十三条；应急预案与事件报告由第二十五条变为第二十七条；禁止危害网络安全活动由第二十七条变为第二十九条；个人信息的三条由第四十一到四十三条变为第四十三到四十五条；等保义务罚则由第五十九条变为第六十一条；危害网络安全活动罚则由第六十三条变为第六十六条；侵害个人信息罚则由第六十四条变为第七十一条，而且改成了转致条款，实践中转引《个人信息保护法》。下面这段是最容易写错的地方，请特别注意：修正后第八十一条仍然写着本法自二〇一七年六月一日起施行，二〇二六年一月一日是修改决定的生效日，不是这部法律的施行日。正确的说法是：《网络安全法》二〇二五年修正，修正后的规定自二〇二六年一月一日起施行。</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部法律，各管一段。《网络安全法》管的是你用网络做的每一件事：第十三条第二款规定任何个人和组织使用网络不得危害网络安全，不得利用网络从事危害国家安全、侵害他人名誉隐私知识产权等活动；第二十九条还有一条容易被忽略的——明知他人从事危害网络安全活动，仍然提供技术支持、广告推广、支付结算等帮助的，同样违法。换成人话就是：帮朋友跑个脚本，同样违法。《数据安全法》二〇二一年九月一日施行，第三十二条规定任何组织、个人收集数据应当采取合法、正当的方式，不得窃取或者以其他非法方式获取数据；第二十七条要求企业建立全流程数据安全管理制度并组织开展数据安全教育培训——这门课本身就是这一条的落实。《个人信息保护法》二〇二一年十一月一日施行，第十条规定任何组织、个人不得非法收集、使用、加工、传输他人个人信息，不得非法买卖、提供或者公开；第五十一条第四项要求个人信息处理者合理确定操作权限，并定期对从业人员进行安全教育和培训。所以，个人信息的每一次经手，都在这两条里。</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看代价。这张表的关键不在单位那一列，而在直接责任人员那一列。《网络安全法》第六十一条：不履行第二十三条、第二十七条义务的，单位一万到五万元，拒不改正或者导致危害后果的五万到五十万元，对直接负责的主管人员和其他直接责任人员处一万到十万元；本次修正新增的第三款加重了这个尺度——造成大量数据泄露等严重后果的，单位五十万到二百万元，个人五万到二十万元；造成特别严重后果的，单位二百万到一千万元，个人二十万到一百万元。《数据安全法》第四十五条的结构相同，严重情形下单位五十万到二百万元，个人五万到二十万元，还可以责令停业整顿、吊销执照。《个人信息保护法》第六十六条更重：情节严重的可处五千万元以下或者上一年度营业额百分之五以下罚款，直接责任人员十万到一百万元，并且可以禁止其在一定期限内担任相关企业的董事、监事、高级管理人员和个人信息保护负责人。最后一列是钱之外的后果：《网络安全法》第六十六条第三款规定，因从事危害网络安全活动受到治安管理处罚的，五年内不得从事网络安全管理和网络运营关键岗位工作；受到刑事处罚的，终身不得从事。罚款有上限，任职资格没有。</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再往上一层是刑事责任。《刑法》第二百五十三条之一规定了侵犯公民个人信息罪，法释〔2017〕10 号司法解释自二〇一七年六月一日起施行，给出了情节严重的数量门槛：行踪轨迹、通信内容、征信、财产信息五十条以上；住宿、通信记录、健康生理、交易等信息五百条以上；其他公民个人信息五千条以上；违法所得五千元以上。关键在下面这条规则——将在履行职责或者提供服务过程中获得的公民个人信息出售或者提供给他人的，数量或者数额达到上述标准一半以上即构成情节严重。按这个规则折算，对在职员工而言就是二十五条、二百五十条、二千五百条，违法所得二千五百元。同样一份名单，你因为是员工，入罪门槛只要一半。行政层面也不是纸面威慑：二〇二二年七月二十一日国家互联网信息办公室对滴滴全球股份有限公司处八十点二六亿元罚款，同时对董事长兼首席执行官程维、总裁柳青各处一百万元罚款；二〇二三年九月一日对知网责令停止违法处理个人信息并处五千万元罚款，其手机知网等十四款应用存在违反必要原则收集、未经同意收集、未提供账号注销功能等行为。罚企业和罚个人，是同时发生的。</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第五章，应急与上报。前四章讲的是怎么不出事，这一章讲的是出了事怎么办。三件事：发现异常后的四个动作、报给谁和多久、以及为什么及时上报本身是一条免责条款。</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发现异常之后，顺序比速度更重要。第一个动作是停：停止正在进行的操作，不关机、不重装、不删除日志和邮件。《国家网络安全事件报告管理办法》第七条把现场保护情况列为必报内容，你把现场清理干净，等于把证据一起清掉了。第二个动作是报：立即通知本单位安全负责人，由单位按预案启动处置并向主管部门报告，这对应《网络安全法》第二十七条。第三个动作是记：记下发现的时间、现象和你做过的每一步操作，《个人信息保护法》第五十七条对通知内容有明确要求，这些信息是写通知的原材料。第四个动作是配合：配合调查与溯源，处置结束后单位要在三十日内形成事件处置总结报告，按原渠道上报。下面这条时限请记住：按《网络安全事件分级指南》研判属于较大以上网络安全事件的，一般网络运营者最迟四小时内向属地省级网信部门报告。这四个动作是我们依据上述法条与办法归纳的员工侧序列。</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报给谁，看你所在单位的类型。涉及关键信息基础设施的网络运营者，第一时间向保护工作部门和公安机关报告，最迟不超过一小时。中央和国家机关各部门及其直属单位，向本部门网信工作机构报告，最迟不超过两小时。绝大多数企业适用的是高亮这一行：其他网络运营者，向属地省级网信部门报告，最迟不超过四小时。适用前提是研判属于较大以上网络安全事件，不是所有异常都要上报。制度依据是《国家网络安全事件报告管理办法》，国家互联网信息办公室二〇二五年九月十五日发布，二〇二五年十一月一日起施行，共十四条，已经生效。渠道有六类：12387 热线电话、12387 网络安全事件报告平台网站、微信 12387 小程序、国家互联网应急中心 CNCERT 微信公众号、专用邮箱和传真。最后补一句：处置中如果发现涉嫌违法犯罪的线索，还应当按规定向公安机关、国家安全机关报案，这是《网络数据安全管理条例》第十一条的要求。</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很多人不敢上报，是担心报上去先挨罚，于是选择自己消化。这一页就是回答这个顾虑的。《国家网络安全事件报告管理办法》第十一条原文写得很清楚：发生网络安全事件时，网络运营者已经采取合理必要的防护措施、按照应急预案进行处置并有效降低影响危害、并且按照本办法规定及时报告的，可以视情从轻或者不予追究相关单位和人员责任。三个条件要同时满足：已采取合理必要防护措施，按预案处置并有效降低危害，按规定及时报告。前两个条件通常由公司体系承担，第三个条件的触发点在你。所以结论是：你越早说，公司越有可能落到从轻或不予追究这一侧；隐瞒只会把时间线拖到无法补救。及时上报是免责条款，不是追责起点。</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最后五道判断题，先各自判断，我再公布答案。全部五道的答案都是错。第一题错，因为 IBM 二〇二六年报告显示 IT 故障只占根因的百分之二十二，最高的是恶意或犯罪攻击百分之五十五。第二题错，NIST SP 800-63B-4 明确规定不得要求用户定期更换口令，只有在有证据表明口令已泄露时才强制更换。第三题错，IBM 报告显示接近百分之十的泄露通过可移动介质发生，而且这类泄露平均两百五十八天才被识别和遏制，恰恰是最难被发现的一条路径。第四题错，《网络安全法》第六十一条对直接负责的主管人员和其他直接责任人员规定了独立罚款，第六十六条第三款还规定了五年内乃至终身的禁业。第五题错，正确顺序是先保护现场、立即上报，研判属于较大以上事件的最迟四小时内报告；自己先查清楚会破坏现场，也会错过报告时限，反而失去从轻或不予追究的机会。这五道题是我们依据前面引用的法条与统计自行设计的，答案以页内引用的来源为准。今天的课到这里，谢谢各位。</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infosec_training_zh_lo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infosec_training_zh_lo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cover-band"/>
          <p:cNvSpPr/>
          <p:nvPr/>
        </p:nvSpPr>
        <p:spPr>
          <a:xfrm>
            <a:off x="0" y="4095750"/>
            <a:ext cx="12192000" cy="2762250"/>
          </a:xfrm>
          <a:prstGeom prst="rect">
            <a:avLst/>
          </a:prstGeom>
          <a:gradFill>
            <a:gsLst>
              <a:gs pos="0">
                <a:srgbClr val="233040"/>
              </a:gs>
              <a:gs pos="100000">
                <a:srgbClr val="1B2531"/>
              </a:gs>
            </a:gsLst>
            <a:lin ang="5400000" scaled="1"/>
          </a:gradFill>
          <a:ln>
            <a:noFill/>
          </a:ln>
        </p:spPr>
      </p:sp>
      <p:grpSp>
        <p:nvGrpSpPr>
          <p:cNvPr id="6" name="dossier-rail"/>
          <p:cNvGrpSpPr/>
          <p:nvPr/>
        </p:nvGrpSpPr>
        <p:grpSpPr>
          <a:xfrm>
            <a:off x="361950" y="457200"/>
            <a:ext cx="114300" cy="6057900"/>
            <a:chOff x="361950" y="457200"/>
            <a:chExt cx="114300" cy="6057900"/>
          </a:xfrm>
        </p:grpSpPr>
        <p:sp>
          <p:nvSpPr>
            <p:cNvPr id="3" name="Line 3"/>
            <p:cNvSpPr/>
            <p:nvPr/>
          </p:nvSpPr>
          <p:spPr>
            <a:xfrm>
              <a:off x="419100" y="457200"/>
              <a:ext cx="9525" cy="3638550"/>
            </a:xfrm>
            <a:custGeom>
              <a:avLst/>
              <a:gdLst/>
              <a:ahLst/>
              <a:cxnLst/>
              <a:rect l="l" t="t" r="r" b="b"/>
              <a:pathLst>
                <a:path w="9525" h="3638550">
                  <a:moveTo>
                    <a:pt x="0" y="0"/>
                  </a:moveTo>
                  <a:lnTo>
                    <a:pt x="0" y="3638550"/>
                  </a:lnTo>
                </a:path>
              </a:pathLst>
            </a:custGeom>
            <a:noFill/>
            <a:ln w="9525">
              <a:solidFill>
                <a:srgbClr val="C9C1B4"/>
              </a:solidFill>
            </a:ln>
          </p:spPr>
        </p:sp>
        <p:sp>
          <p:nvSpPr>
            <p:cNvPr id="4" name="Line 4"/>
            <p:cNvSpPr/>
            <p:nvPr/>
          </p:nvSpPr>
          <p:spPr>
            <a:xfrm>
              <a:off x="419100" y="4095750"/>
              <a:ext cx="9525" cy="2419350"/>
            </a:xfrm>
            <a:custGeom>
              <a:avLst/>
              <a:gdLst/>
              <a:ahLst/>
              <a:cxnLst/>
              <a:rect l="l" t="t" r="r" b="b"/>
              <a:pathLst>
                <a:path w="9525" h="2419350">
                  <a:moveTo>
                    <a:pt x="0" y="0"/>
                  </a:moveTo>
                  <a:lnTo>
                    <a:pt x="0" y="2419350"/>
                  </a:lnTo>
                </a:path>
              </a:pathLst>
            </a:custGeom>
            <a:noFill/>
            <a:ln w="9525">
              <a:solidFill>
                <a:srgbClr val="4A5560"/>
              </a:solidFill>
            </a:ln>
          </p:spPr>
        </p:sp>
        <p:sp>
          <p:nvSpPr>
            <p:cNvPr id="5" name="Rectangle 5"/>
            <p:cNvSpPr/>
            <p:nvPr/>
          </p:nvSpPr>
          <p:spPr>
            <a:xfrm>
              <a:off x="361950" y="1143000"/>
              <a:ext cx="114300" cy="323850"/>
            </a:xfrm>
            <a:prstGeom prst="rect">
              <a:avLst/>
            </a:prstGeom>
            <a:solidFill>
              <a:schemeClr val="accent2"/>
            </a:solidFill>
            <a:ln>
              <a:noFill/>
            </a:ln>
          </p:spPr>
        </p:sp>
      </p:grpSp>
      <p:grpSp>
        <p:nvGrpSpPr>
          <p:cNvPr id="9" name="cover-kicker"/>
          <p:cNvGrpSpPr/>
          <p:nvPr/>
        </p:nvGrpSpPr>
        <p:grpSpPr>
          <a:xfrm>
            <a:off x="685800" y="1238250"/>
            <a:ext cx="3209925" cy="270701"/>
            <a:chOff x="685800" y="1238250"/>
            <a:chExt cx="3209925" cy="270701"/>
          </a:xfrm>
        </p:grpSpPr>
        <p:sp>
          <p:nvSpPr>
            <p:cNvPr id="7" name="Rectangle 7"/>
            <p:cNvSpPr/>
            <p:nvPr/>
          </p:nvSpPr>
          <p:spPr>
            <a:xfrm>
              <a:off x="685800" y="1238250"/>
              <a:ext cx="647700" cy="28575"/>
            </a:xfrm>
            <a:prstGeom prst="rect">
              <a:avLst/>
            </a:prstGeom>
            <a:solidFill>
              <a:schemeClr val="accent2"/>
            </a:solidFill>
            <a:ln>
              <a:noFill/>
            </a:ln>
          </p:spPr>
        </p:sp>
        <p:sp>
          <p:nvSpPr>
            <p:cNvPr id="8" name="TextBox 8"/>
            <p:cNvSpPr txBox="1"/>
            <p:nvPr/>
          </p:nvSpPr>
          <p:spPr>
            <a:xfrm>
              <a:off x="1479042" y="1244918"/>
              <a:ext cx="2416683"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企业信息安全意识培训课件</a:t>
              </a:r>
            </a:p>
          </p:txBody>
        </p:sp>
      </p:grpSp>
      <p:grpSp>
        <p:nvGrpSpPr>
          <p:cNvPr id="12" name="cover-title"/>
          <p:cNvGrpSpPr/>
          <p:nvPr/>
        </p:nvGrpSpPr>
        <p:grpSpPr>
          <a:xfrm>
            <a:off x="666750" y="1573530"/>
            <a:ext cx="7548372" cy="1475232"/>
            <a:chOff x="666750" y="1573530"/>
            <a:chExt cx="7548372" cy="1475232"/>
          </a:xfrm>
        </p:grpSpPr>
        <p:sp>
          <p:nvSpPr>
            <p:cNvPr id="10" name="TextBox 10"/>
            <p:cNvSpPr txBox="1"/>
            <p:nvPr/>
          </p:nvSpPr>
          <p:spPr>
            <a:xfrm>
              <a:off x="666750" y="1573530"/>
              <a:ext cx="7548372" cy="1276350"/>
            </a:xfrm>
            <a:prstGeom prst="rect">
              <a:avLst/>
            </a:prstGeom>
            <a:noFill/>
            <a:ln>
              <a:noFill/>
            </a:ln>
          </p:spPr>
          <p:txBody>
            <a:bodyPr wrap="none" lIns="0" tIns="0" rIns="0" bIns="0" anchor="t" anchorCtr="0">
              <a:spAutoFit/>
            </a:bodyPr>
            <a:lstStyle/>
            <a:p>
              <a:pPr algn="l"/>
              <a:r>
                <a:rPr lang="zh-CN" sz="6600" dirty="0">
                  <a:solidFill>
                    <a:schemeClr val="accent1"/>
                  </a:solidFill>
                  <a:latin typeface="+mj-lt"/>
                  <a:ea typeface="+mj-ea"/>
                  <a:cs typeface="+mj-cs"/>
                </a:rPr>
                <a:t>信息安全意识培训</a:t>
              </a:r>
            </a:p>
          </p:txBody>
        </p:sp>
        <p:sp>
          <p:nvSpPr>
            <p:cNvPr id="11" name="TextBox 11"/>
            <p:cNvSpPr txBox="1"/>
            <p:nvPr/>
          </p:nvSpPr>
          <p:spPr>
            <a:xfrm>
              <a:off x="673608" y="2579370"/>
              <a:ext cx="4871923"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j-lt"/>
                  <a:ea typeface="+mj-ea"/>
                  <a:cs typeface="+mj-cs"/>
                </a:rPr>
                <a:t>2026 版 · 新员工必修 · 45 分钟</a:t>
              </a:r>
            </a:p>
          </p:txBody>
        </p:sp>
      </p:grpSp>
      <p:grpSp>
        <p:nvGrpSpPr>
          <p:cNvPr id="14" name="!!year-mark"/>
          <p:cNvGrpSpPr/>
          <p:nvPr/>
        </p:nvGrpSpPr>
        <p:grpSpPr>
          <a:xfrm>
            <a:off x="7600950" y="4419600"/>
            <a:ext cx="3793236" cy="2305050"/>
            <a:chOff x="7600950" y="4419600"/>
            <a:chExt cx="3793236" cy="2305050"/>
          </a:xfrm>
        </p:grpSpPr>
        <p:sp>
          <p:nvSpPr>
            <p:cNvPr id="13" name="TextBox 13"/>
            <p:cNvSpPr txBox="1"/>
            <p:nvPr/>
          </p:nvSpPr>
          <p:spPr>
            <a:xfrm>
              <a:off x="7600950" y="4419600"/>
              <a:ext cx="3793236" cy="2305050"/>
            </a:xfrm>
            <a:prstGeom prst="rect">
              <a:avLst/>
            </a:prstGeom>
            <a:noFill/>
            <a:ln>
              <a:noFill/>
            </a:ln>
          </p:spPr>
          <p:txBody>
            <a:bodyPr wrap="none" lIns="0" tIns="0" rIns="0" bIns="0" anchor="t" anchorCtr="0">
              <a:spAutoFit/>
            </a:bodyPr>
            <a:lstStyle/>
            <a:p>
              <a:pPr algn="l"/>
              <a:r>
                <a:rPr lang="zh-CN" sz="12000" dirty="0">
                  <a:solidFill>
                    <a:srgbClr val="3A4757"/>
                  </a:solidFill>
                  <a:latin typeface="+mj-lt"/>
                  <a:ea typeface="+mj-ea"/>
                  <a:cs typeface="+mj-cs"/>
                </a:rPr>
                <a:t>2026</a:t>
              </a:r>
            </a:p>
          </p:txBody>
        </p:sp>
      </p:grpSp>
      <p:grpSp>
        <p:nvGrpSpPr>
          <p:cNvPr id="17" name="cover-hook"/>
          <p:cNvGrpSpPr/>
          <p:nvPr/>
        </p:nvGrpSpPr>
        <p:grpSpPr>
          <a:xfrm>
            <a:off x="666750" y="4499610"/>
            <a:ext cx="6609588" cy="1485900"/>
            <a:chOff x="666750" y="4499610"/>
            <a:chExt cx="6609588" cy="1485900"/>
          </a:xfrm>
        </p:grpSpPr>
        <p:sp>
          <p:nvSpPr>
            <p:cNvPr id="15" name="TextBox 15"/>
            <p:cNvSpPr txBox="1"/>
            <p:nvPr/>
          </p:nvSpPr>
          <p:spPr>
            <a:xfrm>
              <a:off x="666750" y="4499610"/>
              <a:ext cx="6609588"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你不是安全部门的旁观者</a:t>
              </a:r>
            </a:p>
          </p:txBody>
        </p:sp>
        <p:sp>
          <p:nvSpPr>
            <p:cNvPr id="16" name="TextBox 16"/>
            <p:cNvSpPr txBox="1"/>
            <p:nvPr/>
          </p:nvSpPr>
          <p:spPr>
            <a:xfrm>
              <a:off x="666750" y="5166360"/>
              <a:ext cx="3622548"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你</a:t>
              </a:r>
              <a:r>
                <a:rPr lang="zh-CN" sz="4200" dirty="0">
                  <a:solidFill>
                    <a:srgbClr val="E8A6A0"/>
                  </a:solidFill>
                  <a:latin typeface="+mj-lt"/>
                  <a:ea typeface="+mj-ea"/>
                  <a:cs typeface="+mj-cs"/>
                </a:rPr>
                <a:t>就是入口</a:t>
              </a:r>
              <a:r>
                <a:rPr lang="zh-CN" sz="4200" dirty="0">
                  <a:solidFill>
                    <a:srgbClr val="F7F4EE"/>
                  </a:solidFill>
                  <a:latin typeface="+mj-lt"/>
                  <a:ea typeface="+mj-ea"/>
                  <a:cs typeface="+mj-cs"/>
                </a:rPr>
                <a:t>。</a:t>
              </a:r>
            </a:p>
          </p:txBody>
        </p:sp>
      </p:grpSp>
      <p:grpSp>
        <p:nvGrpSpPr>
          <p:cNvPr id="19" name="cover-legal-note"/>
          <p:cNvGrpSpPr/>
          <p:nvPr/>
        </p:nvGrpSpPr>
        <p:grpSpPr>
          <a:xfrm>
            <a:off x="678942" y="5950268"/>
            <a:ext cx="3288411" cy="511683"/>
            <a:chOff x="678942" y="5950268"/>
            <a:chExt cx="3288411" cy="511683"/>
          </a:xfrm>
        </p:grpSpPr>
        <p:sp>
          <p:nvSpPr>
            <p:cNvPr id="18" name="TextBox 18"/>
            <p:cNvSpPr txBox="1"/>
            <p:nvPr/>
          </p:nvSpPr>
          <p:spPr>
            <a:xfrm>
              <a:off x="678942" y="5950268"/>
              <a:ext cx="3288411" cy="511683"/>
            </a:xfrm>
            <a:prstGeom prst="rect">
              <a:avLst/>
            </a:prstGeom>
            <a:noFill/>
            <a:ln>
              <a:noFill/>
            </a:ln>
          </p:spPr>
          <p:txBody>
            <a:bodyPr wrap="none" lIns="0" tIns="0" rIns="0" bIns="0" anchor="t" anchorCtr="0">
              <a:spAutoFit/>
            </a:bodyPr>
            <a:lstStyle/>
            <a:p>
              <a:pPr algn="l">
                <a:lnSpc>
                  <a:spcPts val="1950"/>
                </a:lnSpc>
              </a:pPr>
              <a:r>
                <a:rPr lang="zh-CN" sz="1350" dirty="0">
                  <a:solidFill>
                    <a:srgbClr val="A9A296"/>
                  </a:solidFill>
                  <a:latin typeface="+mn-lt"/>
                  <a:ea typeface="+mn-ea"/>
                  <a:cs typeface="+mn-cs"/>
                </a:rPr>
                <a:t>依据 2025 年修正的《网络安全法》编写</a:t>
              </a:r>
              <a:br/>
              <a:r>
                <a:rPr lang="zh-CN" sz="1350" dirty="0">
                  <a:solidFill>
                    <a:srgbClr val="A9A296"/>
                  </a:solidFill>
                  <a:latin typeface="+mn-lt"/>
                  <a:ea typeface="+mn-ea"/>
                  <a:cs typeface="+mn-cs"/>
                </a:rPr>
                <a:t>修正后的规定自 2026 年 1 月 1 日起施行。</a:t>
              </a:r>
            </a:p>
          </p:txBody>
        </p:sp>
      </p:grpSp>
      <p:sp>
        <p:nvSpPr>
          <p:cNvPr id="20" name="TextBox 2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A9A296"/>
                </a:solidFill>
                <a:latin typeface="+mn-lt"/>
                <a:ea typeface="+mn-ea"/>
                <a:cs typeface="+mn-cs"/>
              </a:rPr>
              <a:t>01 / 28</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2664924"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信息安全意识培训 2026 · 目录</a:t>
            </a:r>
          </a:p>
        </p:txBody>
      </p:sp>
      <p:grpSp>
        <p:nvGrpSpPr>
          <p:cNvPr id="7" name="!!year-mark"/>
          <p:cNvGrpSpPr/>
          <p:nvPr/>
        </p:nvGrpSpPr>
        <p:grpSpPr>
          <a:xfrm>
            <a:off x="10456774" y="443865"/>
            <a:ext cx="1066190" cy="645414"/>
            <a:chOff x="10456774" y="443865"/>
            <a:chExt cx="1066190" cy="645414"/>
          </a:xfrm>
        </p:grpSpPr>
        <p:sp>
          <p:nvSpPr>
            <p:cNvPr id="6" name="TextBox 6"/>
            <p:cNvSpPr txBox="1"/>
            <p:nvPr/>
          </p:nvSpPr>
          <p:spPr>
            <a:xfrm>
              <a:off x="10456774" y="443865"/>
              <a:ext cx="1066190" cy="645414"/>
            </a:xfrm>
            <a:prstGeom prst="rect">
              <a:avLst/>
            </a:prstGeom>
            <a:noFill/>
            <a:ln>
              <a:noFill/>
            </a:ln>
          </p:spPr>
          <p:txBody>
            <a:bodyPr wrap="none" lIns="0" tIns="0" rIns="0" bIns="0" anchor="t" anchorCtr="0">
              <a:spAutoFit/>
            </a:bodyPr>
            <a:lstStyle/>
            <a:p>
              <a:pPr algn="r"/>
              <a:r>
                <a:rPr lang="zh-CN" sz="3300" dirty="0">
                  <a:solidFill>
                    <a:schemeClr val="accent6"/>
                  </a:solidFill>
                  <a:latin typeface="+mj-lt"/>
                  <a:ea typeface="+mj-ea"/>
                  <a:cs typeface="+mj-cs"/>
                </a:rPr>
                <a:t>2026</a:t>
              </a:r>
            </a:p>
          </p:txBody>
        </p:sp>
      </p:grpSp>
      <p:grpSp>
        <p:nvGrpSpPr>
          <p:cNvPr id="11" name="page-title"/>
          <p:cNvGrpSpPr/>
          <p:nvPr/>
        </p:nvGrpSpPr>
        <p:grpSpPr>
          <a:xfrm>
            <a:off x="669036" y="1072515"/>
            <a:ext cx="10837164" cy="645414"/>
            <a:chOff x="669036" y="1072515"/>
            <a:chExt cx="10837164" cy="645414"/>
          </a:xfrm>
        </p:grpSpPr>
        <p:sp>
          <p:nvSpPr>
            <p:cNvPr id="8" name="TextBox 8"/>
            <p:cNvSpPr txBox="1"/>
            <p:nvPr/>
          </p:nvSpPr>
          <p:spPr>
            <a:xfrm>
              <a:off x="669036" y="1072515"/>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本课内容</a:t>
              </a:r>
            </a:p>
          </p:txBody>
        </p:sp>
        <p:sp>
          <p:nvSpPr>
            <p:cNvPr id="9" name="TextBox 9"/>
            <p:cNvSpPr txBox="1"/>
            <p:nvPr/>
          </p:nvSpPr>
          <p:spPr>
            <a:xfrm>
              <a:off x="3134106" y="1234440"/>
              <a:ext cx="3095701"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五章 · 28 页 · 末页随堂自测</a:t>
              </a:r>
            </a:p>
          </p:txBody>
        </p:sp>
        <p:sp>
          <p:nvSpPr>
            <p:cNvPr id="10" name="Line 10"/>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8" name="!!chapter-mark-01"/>
          <p:cNvGrpSpPr/>
          <p:nvPr/>
        </p:nvGrpSpPr>
        <p:grpSpPr>
          <a:xfrm>
            <a:off x="685800" y="2133600"/>
            <a:ext cx="10826496" cy="676275"/>
            <a:chOff x="685800" y="2133600"/>
            <a:chExt cx="10826496" cy="676275"/>
          </a:xfrm>
        </p:grpSpPr>
        <p:sp>
          <p:nvSpPr>
            <p:cNvPr id="12" name="Freeform 12"/>
            <p:cNvSpPr/>
            <p:nvPr/>
          </p:nvSpPr>
          <p:spPr>
            <a:xfrm>
              <a:off x="685800" y="2133600"/>
              <a:ext cx="533400" cy="533400"/>
            </a:xfrm>
            <a:prstGeom prst="snip1Rect">
              <a:avLst/>
            </a:prstGeom>
            <a:solidFill>
              <a:schemeClr val="accent1"/>
            </a:solidFill>
            <a:ln>
              <a:noFill/>
            </a:ln>
          </p:spPr>
        </p:sp>
        <p:sp>
          <p:nvSpPr>
            <p:cNvPr id="13" name="TextBox 13"/>
            <p:cNvSpPr txBox="1"/>
            <p:nvPr/>
          </p:nvSpPr>
          <p:spPr>
            <a:xfrm>
              <a:off x="777545" y="22688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01</a:t>
              </a:r>
            </a:p>
          </p:txBody>
        </p:sp>
        <p:sp>
          <p:nvSpPr>
            <p:cNvPr id="14" name="TextBox 14"/>
            <p:cNvSpPr txBox="1"/>
            <p:nvPr/>
          </p:nvSpPr>
          <p:spPr>
            <a:xfrm>
              <a:off x="1435608" y="21412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为什么是你</a:t>
              </a:r>
            </a:p>
          </p:txBody>
        </p:sp>
        <p:sp>
          <p:nvSpPr>
            <p:cNvPr id="15" name="TextBox 15"/>
            <p:cNvSpPr txBox="1"/>
            <p:nvPr/>
          </p:nvSpPr>
          <p:spPr>
            <a:xfrm>
              <a:off x="1440942" y="2521268"/>
              <a:ext cx="4920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威胁形势、公开通报的内部案件，以及你在风险里的三个身份</a:t>
              </a:r>
            </a:p>
          </p:txBody>
        </p:sp>
        <p:sp>
          <p:nvSpPr>
            <p:cNvPr id="16" name="TextBox 16"/>
            <p:cNvSpPr txBox="1"/>
            <p:nvPr/>
          </p:nvSpPr>
          <p:spPr>
            <a:xfrm>
              <a:off x="11218469" y="22707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P03</a:t>
              </a:r>
            </a:p>
          </p:txBody>
        </p:sp>
        <p:sp>
          <p:nvSpPr>
            <p:cNvPr id="17" name="Line 17"/>
            <p:cNvSpPr/>
            <p:nvPr/>
          </p:nvSpPr>
          <p:spPr>
            <a:xfrm>
              <a:off x="1447800" y="28003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25" name="toc-row-2"/>
          <p:cNvGrpSpPr/>
          <p:nvPr/>
        </p:nvGrpSpPr>
        <p:grpSpPr>
          <a:xfrm>
            <a:off x="685800" y="2857500"/>
            <a:ext cx="10826496" cy="676275"/>
            <a:chOff x="685800" y="2857500"/>
            <a:chExt cx="10826496" cy="676275"/>
          </a:xfrm>
        </p:grpSpPr>
        <p:sp>
          <p:nvSpPr>
            <p:cNvPr id="19" name="Freeform 19"/>
            <p:cNvSpPr/>
            <p:nvPr/>
          </p:nvSpPr>
          <p:spPr>
            <a:xfrm>
              <a:off x="685800" y="2857500"/>
              <a:ext cx="533400" cy="533400"/>
            </a:xfrm>
            <a:prstGeom prst="snip1Rect">
              <a:avLst/>
            </a:prstGeom>
            <a:solidFill>
              <a:schemeClr val="accent1"/>
            </a:solidFill>
            <a:ln>
              <a:noFill/>
            </a:ln>
          </p:spPr>
        </p:sp>
        <p:sp>
          <p:nvSpPr>
            <p:cNvPr id="20" name="TextBox 20"/>
            <p:cNvSpPr txBox="1"/>
            <p:nvPr/>
          </p:nvSpPr>
          <p:spPr>
            <a:xfrm>
              <a:off x="777545" y="29927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02</a:t>
              </a:r>
            </a:p>
          </p:txBody>
        </p:sp>
        <p:sp>
          <p:nvSpPr>
            <p:cNvPr id="21" name="TextBox 21"/>
            <p:cNvSpPr txBox="1"/>
            <p:nvPr/>
          </p:nvSpPr>
          <p:spPr>
            <a:xfrm>
              <a:off x="1435608" y="28651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账号与密码</a:t>
              </a:r>
            </a:p>
          </p:txBody>
        </p:sp>
        <p:sp>
          <p:nvSpPr>
            <p:cNvPr id="22" name="TextBox 22"/>
            <p:cNvSpPr txBox="1"/>
            <p:nvPr/>
          </p:nvSpPr>
          <p:spPr>
            <a:xfrm>
              <a:off x="1440942" y="3245168"/>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口令的现行标准、抗钓鱼多因素认证，以及一封钓鱼邮件的破绽</a:t>
              </a:r>
            </a:p>
          </p:txBody>
        </p:sp>
        <p:sp>
          <p:nvSpPr>
            <p:cNvPr id="23" name="TextBox 23"/>
            <p:cNvSpPr txBox="1"/>
            <p:nvPr/>
          </p:nvSpPr>
          <p:spPr>
            <a:xfrm>
              <a:off x="11218469" y="29946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P08</a:t>
              </a:r>
            </a:p>
          </p:txBody>
        </p:sp>
        <p:sp>
          <p:nvSpPr>
            <p:cNvPr id="24" name="Line 24"/>
            <p:cNvSpPr/>
            <p:nvPr/>
          </p:nvSpPr>
          <p:spPr>
            <a:xfrm>
              <a:off x="1447800" y="35242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32" name="toc-row-3"/>
          <p:cNvGrpSpPr/>
          <p:nvPr/>
        </p:nvGrpSpPr>
        <p:grpSpPr>
          <a:xfrm>
            <a:off x="685800" y="3581400"/>
            <a:ext cx="10826496" cy="676275"/>
            <a:chOff x="685800" y="3581400"/>
            <a:chExt cx="10826496" cy="676275"/>
          </a:xfrm>
        </p:grpSpPr>
        <p:sp>
          <p:nvSpPr>
            <p:cNvPr id="26" name="Freeform 26"/>
            <p:cNvSpPr/>
            <p:nvPr/>
          </p:nvSpPr>
          <p:spPr>
            <a:xfrm>
              <a:off x="685800" y="3581400"/>
              <a:ext cx="533400" cy="533400"/>
            </a:xfrm>
            <a:prstGeom prst="snip1Rect">
              <a:avLst/>
            </a:prstGeom>
            <a:solidFill>
              <a:schemeClr val="accent1"/>
            </a:solidFill>
            <a:ln>
              <a:noFill/>
            </a:ln>
          </p:spPr>
        </p:sp>
        <p:sp>
          <p:nvSpPr>
            <p:cNvPr id="27" name="TextBox 27"/>
            <p:cNvSpPr txBox="1"/>
            <p:nvPr/>
          </p:nvSpPr>
          <p:spPr>
            <a:xfrm>
              <a:off x="777545" y="37166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03</a:t>
              </a:r>
            </a:p>
          </p:txBody>
        </p:sp>
        <p:sp>
          <p:nvSpPr>
            <p:cNvPr id="28" name="TextBox 28"/>
            <p:cNvSpPr txBox="1"/>
            <p:nvPr/>
          </p:nvSpPr>
          <p:spPr>
            <a:xfrm>
              <a:off x="1435608" y="35890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数据与设备</a:t>
              </a:r>
            </a:p>
          </p:txBody>
        </p:sp>
        <p:sp>
          <p:nvSpPr>
            <p:cNvPr id="29" name="TextBox 29"/>
            <p:cNvSpPr txBox="1"/>
            <p:nvPr/>
          </p:nvSpPr>
          <p:spPr>
            <a:xfrm>
              <a:off x="1440942" y="3969068"/>
              <a:ext cx="473887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数据分级与外发口径、移动介质、远程办公与外发前的四问</a:t>
              </a:r>
            </a:p>
          </p:txBody>
        </p:sp>
        <p:sp>
          <p:nvSpPr>
            <p:cNvPr id="30" name="TextBox 30"/>
            <p:cNvSpPr txBox="1"/>
            <p:nvPr/>
          </p:nvSpPr>
          <p:spPr>
            <a:xfrm>
              <a:off x="11218469" y="37185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P14</a:t>
              </a:r>
            </a:p>
          </p:txBody>
        </p:sp>
        <p:sp>
          <p:nvSpPr>
            <p:cNvPr id="31" name="Line 31"/>
            <p:cNvSpPr/>
            <p:nvPr/>
          </p:nvSpPr>
          <p:spPr>
            <a:xfrm>
              <a:off x="1447800" y="42481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39" name="toc-row-4"/>
          <p:cNvGrpSpPr/>
          <p:nvPr/>
        </p:nvGrpSpPr>
        <p:grpSpPr>
          <a:xfrm>
            <a:off x="685800" y="4305300"/>
            <a:ext cx="10826496" cy="676275"/>
            <a:chOff x="685800" y="4305300"/>
            <a:chExt cx="10826496" cy="676275"/>
          </a:xfrm>
        </p:grpSpPr>
        <p:sp>
          <p:nvSpPr>
            <p:cNvPr id="33" name="Freeform 33"/>
            <p:cNvSpPr/>
            <p:nvPr/>
          </p:nvSpPr>
          <p:spPr>
            <a:xfrm>
              <a:off x="685800" y="4305300"/>
              <a:ext cx="533400" cy="533400"/>
            </a:xfrm>
            <a:prstGeom prst="snip1Rect">
              <a:avLst/>
            </a:prstGeom>
            <a:solidFill>
              <a:schemeClr val="accent1"/>
            </a:solidFill>
            <a:ln>
              <a:noFill/>
            </a:ln>
          </p:spPr>
        </p:sp>
        <p:sp>
          <p:nvSpPr>
            <p:cNvPr id="34" name="TextBox 34"/>
            <p:cNvSpPr txBox="1"/>
            <p:nvPr/>
          </p:nvSpPr>
          <p:spPr>
            <a:xfrm>
              <a:off x="777545" y="44405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04</a:t>
              </a:r>
            </a:p>
          </p:txBody>
        </p:sp>
        <p:sp>
          <p:nvSpPr>
            <p:cNvPr id="35" name="TextBox 35"/>
            <p:cNvSpPr txBox="1"/>
            <p:nvPr/>
          </p:nvSpPr>
          <p:spPr>
            <a:xfrm>
              <a:off x="1435608" y="431292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合规红线</a:t>
              </a:r>
            </a:p>
          </p:txBody>
        </p:sp>
        <p:sp>
          <p:nvSpPr>
            <p:cNvPr id="36" name="TextBox 36"/>
            <p:cNvSpPr txBox="1"/>
            <p:nvPr/>
          </p:nvSpPr>
          <p:spPr>
            <a:xfrm>
              <a:off x="1440942" y="4692968"/>
              <a:ext cx="482974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2026 年的条号变动、三部法律落到个人的义务、罚款与禁业</a:t>
              </a:r>
            </a:p>
          </p:txBody>
        </p:sp>
        <p:sp>
          <p:nvSpPr>
            <p:cNvPr id="37" name="TextBox 37"/>
            <p:cNvSpPr txBox="1"/>
            <p:nvPr/>
          </p:nvSpPr>
          <p:spPr>
            <a:xfrm>
              <a:off x="11218469" y="44424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P19</a:t>
              </a:r>
            </a:p>
          </p:txBody>
        </p:sp>
        <p:sp>
          <p:nvSpPr>
            <p:cNvPr id="38" name="Line 38"/>
            <p:cNvSpPr/>
            <p:nvPr/>
          </p:nvSpPr>
          <p:spPr>
            <a:xfrm>
              <a:off x="1447800" y="49720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46" name="toc-row-5"/>
          <p:cNvGrpSpPr/>
          <p:nvPr/>
        </p:nvGrpSpPr>
        <p:grpSpPr>
          <a:xfrm>
            <a:off x="685800" y="5029200"/>
            <a:ext cx="10826496" cy="676275"/>
            <a:chOff x="685800" y="5029200"/>
            <a:chExt cx="10826496" cy="676275"/>
          </a:xfrm>
        </p:grpSpPr>
        <p:sp>
          <p:nvSpPr>
            <p:cNvPr id="40" name="Freeform 40"/>
            <p:cNvSpPr/>
            <p:nvPr/>
          </p:nvSpPr>
          <p:spPr>
            <a:xfrm>
              <a:off x="685800" y="5029200"/>
              <a:ext cx="533400" cy="533400"/>
            </a:xfrm>
            <a:prstGeom prst="snip1Rect">
              <a:avLst/>
            </a:prstGeom>
            <a:solidFill>
              <a:schemeClr val="accent1"/>
            </a:solidFill>
            <a:ln>
              <a:noFill/>
            </a:ln>
          </p:spPr>
        </p:sp>
        <p:sp>
          <p:nvSpPr>
            <p:cNvPr id="41" name="TextBox 41"/>
            <p:cNvSpPr txBox="1"/>
            <p:nvPr/>
          </p:nvSpPr>
          <p:spPr>
            <a:xfrm>
              <a:off x="777545" y="5164455"/>
              <a:ext cx="349910" cy="410718"/>
            </a:xfrm>
            <a:prstGeom prst="rect">
              <a:avLst/>
            </a:prstGeom>
            <a:noFill/>
            <a:ln>
              <a:noFill/>
            </a:ln>
          </p:spPr>
          <p:txBody>
            <a:bodyPr wrap="none" lIns="0" tIns="0" rIns="0" bIns="0" anchor="t" anchorCtr="0">
              <a:spAutoFit/>
            </a:bodyPr>
            <a:lstStyle/>
            <a:p>
              <a:pPr algn="ctr"/>
              <a:r>
                <a:rPr lang="zh-CN" sz="2100" dirty="0">
                  <a:solidFill>
                    <a:srgbClr val="F7F4EE"/>
                  </a:solidFill>
                  <a:latin typeface="+mj-lt"/>
                  <a:ea typeface="+mj-ea"/>
                  <a:cs typeface="+mj-cs"/>
                </a:rPr>
                <a:t>05</a:t>
              </a:r>
            </a:p>
          </p:txBody>
        </p:sp>
        <p:sp>
          <p:nvSpPr>
            <p:cNvPr id="42" name="TextBox 42"/>
            <p:cNvSpPr txBox="1"/>
            <p:nvPr/>
          </p:nvSpPr>
          <p:spPr>
            <a:xfrm>
              <a:off x="1435608" y="503682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应急与上报</a:t>
              </a:r>
            </a:p>
          </p:txBody>
        </p:sp>
        <p:sp>
          <p:nvSpPr>
            <p:cNvPr id="43" name="TextBox 43"/>
            <p:cNvSpPr txBox="1"/>
            <p:nvPr/>
          </p:nvSpPr>
          <p:spPr>
            <a:xfrm>
              <a:off x="1440942" y="5416868"/>
              <a:ext cx="52840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发现异常后的动作序列、报给谁与多久，以及及时上报的免责条款</a:t>
              </a:r>
            </a:p>
          </p:txBody>
        </p:sp>
        <p:sp>
          <p:nvSpPr>
            <p:cNvPr id="44" name="TextBox 44"/>
            <p:cNvSpPr txBox="1"/>
            <p:nvPr/>
          </p:nvSpPr>
          <p:spPr>
            <a:xfrm>
              <a:off x="11218469" y="516636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P24</a:t>
              </a:r>
            </a:p>
          </p:txBody>
        </p:sp>
        <p:sp>
          <p:nvSpPr>
            <p:cNvPr id="45" name="Line 45"/>
            <p:cNvSpPr/>
            <p:nvPr/>
          </p:nvSpPr>
          <p:spPr>
            <a:xfrm>
              <a:off x="1447800" y="5695950"/>
              <a:ext cx="10058400" cy="9525"/>
            </a:xfrm>
            <a:custGeom>
              <a:avLst/>
              <a:gdLst/>
              <a:ahLst/>
              <a:cxnLst/>
              <a:rect l="l" t="t" r="r" b="b"/>
              <a:pathLst>
                <a:path w="10058400" h="9525">
                  <a:moveTo>
                    <a:pt x="0" y="0"/>
                  </a:moveTo>
                  <a:lnTo>
                    <a:pt x="10058400" y="0"/>
                  </a:lnTo>
                </a:path>
              </a:pathLst>
            </a:custGeom>
            <a:noFill/>
            <a:ln w="9525">
              <a:solidFill>
                <a:schemeClr val="accent6"/>
              </a:solidFill>
            </a:ln>
          </p:spPr>
        </p:sp>
      </p:grpSp>
      <p:grpSp>
        <p:nvGrpSpPr>
          <p:cNvPr id="50" name="toc-row-quiz"/>
          <p:cNvGrpSpPr/>
          <p:nvPr/>
        </p:nvGrpSpPr>
        <p:grpSpPr>
          <a:xfrm>
            <a:off x="685800" y="5886450"/>
            <a:ext cx="10826496" cy="424434"/>
            <a:chOff x="685800" y="5886450"/>
            <a:chExt cx="10826496" cy="424434"/>
          </a:xfrm>
        </p:grpSpPr>
        <p:sp>
          <p:nvSpPr>
            <p:cNvPr id="47" name="Rectangle 47"/>
            <p:cNvSpPr/>
            <p:nvPr/>
          </p:nvSpPr>
          <p:spPr>
            <a:xfrm>
              <a:off x="685800" y="5886450"/>
              <a:ext cx="114300" cy="381000"/>
            </a:xfrm>
            <a:prstGeom prst="rect">
              <a:avLst/>
            </a:prstGeom>
            <a:solidFill>
              <a:schemeClr val="accent2"/>
            </a:solidFill>
            <a:ln>
              <a:noFill/>
            </a:ln>
          </p:spPr>
        </p:sp>
        <p:sp>
          <p:nvSpPr>
            <p:cNvPr id="48" name="TextBox 48"/>
            <p:cNvSpPr txBox="1"/>
            <p:nvPr/>
          </p:nvSpPr>
          <p:spPr>
            <a:xfrm>
              <a:off x="981456" y="5958840"/>
              <a:ext cx="493730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末页 </a:t>
              </a:r>
              <a:r>
                <a:rPr lang="zh-CN" sz="1800" b="1" dirty="0">
                  <a:solidFill>
                    <a:schemeClr val="dk1"/>
                  </a:solidFill>
                  <a:latin typeface="+mn-lt"/>
                  <a:ea typeface="+mn-ea"/>
                  <a:cs typeface="+mn-cs"/>
                </a:rPr>
                <a:t>随堂自测</a:t>
              </a:r>
              <a:r>
                <a:rPr lang="zh-CN" sz="1800" dirty="0">
                  <a:solidFill>
                    <a:schemeClr val="dk1"/>
                  </a:solidFill>
                  <a:latin typeface="+mn-lt"/>
                  <a:ea typeface="+mn-ea"/>
                  <a:cs typeface="+mn-cs"/>
                </a:rPr>
                <a:t xml:space="preserve"> · 5 道判断题，答案见讲者备注</a:t>
              </a:r>
            </a:p>
          </p:txBody>
        </p:sp>
        <p:sp>
          <p:nvSpPr>
            <p:cNvPr id="49" name="TextBox 49"/>
            <p:cNvSpPr txBox="1"/>
            <p:nvPr/>
          </p:nvSpPr>
          <p:spPr>
            <a:xfrm>
              <a:off x="11218469" y="6023610"/>
              <a:ext cx="293827"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P28</a:t>
              </a:r>
            </a:p>
          </p:txBody>
        </p:sp>
      </p:grpSp>
      <p:grpSp>
        <p:nvGrpSpPr>
          <p:cNvPr id="53" name="footer"/>
          <p:cNvGrpSpPr/>
          <p:nvPr/>
        </p:nvGrpSpPr>
        <p:grpSpPr>
          <a:xfrm>
            <a:off x="679704" y="6404610"/>
            <a:ext cx="10832592" cy="234696"/>
            <a:chOff x="679704" y="6404610"/>
            <a:chExt cx="10832592" cy="234696"/>
          </a:xfrm>
        </p:grpSpPr>
        <p:sp>
          <p:nvSpPr>
            <p:cNvPr id="51" name="TextBox 51"/>
            <p:cNvSpPr txBox="1"/>
            <p:nvPr/>
          </p:nvSpPr>
          <p:spPr>
            <a:xfrm>
              <a:off x="679704" y="6404610"/>
              <a:ext cx="2919984"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章节编号与起始页码与实际页面一一对应</a:t>
              </a:r>
            </a:p>
          </p:txBody>
        </p:sp>
        <p:sp>
          <p:nvSpPr>
            <p:cNvPr id="52" name="TextBox 52"/>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02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childTnLst>
                          </p:cTn>
                        </p:par>
                        <p:par>
                          <p:cTn id="28" fill="hold">
                            <p:stCondLst>
                              <p:cond delay="3650"/>
                            </p:stCondLst>
                            <p:childTnLst>
                              <p:par>
                                <p:cTn id="29" presetID="10" presetClass="entr" presetSubtype="0" fill="hold" grpId="0" nodeType="afterEffect">
                                  <p:stCondLst>
                                    <p:cond delay="25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400"/>
                                        <p:tgtEl>
                                          <p:spTgt spid="46"/>
                                        </p:tgtEl>
                                      </p:cBhvr>
                                    </p:animEffect>
                                  </p:childTnLst>
                                </p:cTn>
                              </p:par>
                            </p:childTnLst>
                          </p:cTn>
                        </p:par>
                        <p:par>
                          <p:cTn id="32" fill="hold">
                            <p:stCondLst>
                              <p:cond delay="4300"/>
                            </p:stCondLst>
                            <p:childTnLst>
                              <p:par>
                                <p:cTn id="33" presetID="10" presetClass="entr" presetSubtype="0" fill="hold" grpId="0" nodeType="afterEffect">
                                  <p:stCondLst>
                                    <p:cond delay="25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1"/>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01</a:t>
              </a:r>
            </a:p>
          </p:txBody>
        </p:sp>
      </p:grpSp>
      <p:grpSp>
        <p:nvGrpSpPr>
          <p:cNvPr id="10" name="chapter-title"/>
          <p:cNvGrpSpPr/>
          <p:nvPr/>
        </p:nvGrpSpPr>
        <p:grpSpPr>
          <a:xfrm>
            <a:off x="3981450" y="2023110"/>
            <a:ext cx="3422142" cy="1132713"/>
            <a:chOff x="3981450" y="2023110"/>
            <a:chExt cx="3422142"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为什么是你</a:t>
              </a:r>
            </a:p>
          </p:txBody>
        </p:sp>
        <p:sp>
          <p:nvSpPr>
            <p:cNvPr id="9" name="TextBox 9"/>
            <p:cNvSpPr txBox="1"/>
            <p:nvPr/>
          </p:nvSpPr>
          <p:spPr>
            <a:xfrm>
              <a:off x="3989832" y="2745105"/>
              <a:ext cx="3413760"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先看清楚攻击者从哪里进来</a:t>
              </a:r>
            </a:p>
          </p:txBody>
        </p:sp>
      </p:grpSp>
      <p:grpSp>
        <p:nvGrpSpPr>
          <p:cNvPr id="19" name="chapter-route"/>
          <p:cNvGrpSpPr/>
          <p:nvPr/>
        </p:nvGrpSpPr>
        <p:grpSpPr>
          <a:xfrm>
            <a:off x="4000500" y="3530918"/>
            <a:ext cx="3525774" cy="1235583"/>
            <a:chOff x="4000500" y="3530918"/>
            <a:chExt cx="3525774"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292150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泄露的根因里，近一半与人直接相关</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3284982"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攻击者进门的方式，两条里有一条是社工</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558034"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通报里的攻击者，是应聘进来的</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2194560"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你在这套风险里有三个身份</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第一章 · 为什么是你</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03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泄露的根因里，近一半与人直接相关</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23" name="breach-root-cause"/>
          <p:cNvGrpSpPr/>
          <p:nvPr/>
        </p:nvGrpSpPr>
        <p:grpSpPr>
          <a:xfrm>
            <a:off x="1809996" y="2140268"/>
            <a:ext cx="2663303" cy="3959733"/>
            <a:chOff x="1809996" y="2140268"/>
            <a:chExt cx="2663303" cy="3959733"/>
          </a:xfrm>
        </p:grpSpPr>
        <p:sp>
          <p:nvSpPr>
            <p:cNvPr id="9" name="TextBox 9"/>
            <p:cNvSpPr txBox="1"/>
            <p:nvPr/>
          </p:nvSpPr>
          <p:spPr>
            <a:xfrm>
              <a:off x="1898142" y="2140268"/>
              <a:ext cx="223090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数据泄露根因构成（2026）</a:t>
              </a:r>
            </a:p>
          </p:txBody>
        </p:sp>
        <p:grpSp>
          <p:nvGrpSpPr>
            <p:cNvPr id="16" name="breach-root-cause-chartArea"/>
            <p:cNvGrpSpPr/>
            <p:nvPr/>
          </p:nvGrpSpPr>
          <p:grpSpPr>
            <a:xfrm>
              <a:off x="1809996" y="2476487"/>
              <a:ext cx="2663303" cy="2567022"/>
              <a:chOff x="1809996" y="2476487"/>
              <a:chExt cx="2663303" cy="2567022"/>
            </a:xfrm>
          </p:grpSpPr>
          <p:sp>
            <p:nvSpPr>
              <p:cNvPr id="10" name="Freeform 10"/>
              <p:cNvSpPr/>
              <p:nvPr/>
            </p:nvSpPr>
            <p:spPr>
              <a:xfrm>
                <a:off x="2760631" y="2476500"/>
                <a:ext cx="1712668" cy="2567009"/>
              </a:xfrm>
              <a:custGeom>
                <a:avLst/>
                <a:gdLst/>
                <a:ahLst/>
                <a:cxnLst/>
                <a:rect l="l" t="t" r="r" b="b"/>
                <a:pathLst>
                  <a:path w="1712668" h="2567009">
                    <a:moveTo>
                      <a:pt x="382619" y="1238250"/>
                    </a:moveTo>
                    <a:lnTo>
                      <a:pt x="382619" y="0"/>
                    </a:lnTo>
                    <a:cubicBezTo>
                      <a:pt x="871651" y="22"/>
                      <a:pt x="1314861" y="287864"/>
                      <a:pt x="1513764" y="734618"/>
                    </a:cubicBezTo>
                    <a:cubicBezTo>
                      <a:pt x="1712668" y="1181372"/>
                      <a:pt x="1630001" y="1703344"/>
                      <a:pt x="1302785" y="2066775"/>
                    </a:cubicBezTo>
                    <a:cubicBezTo>
                      <a:pt x="975570" y="2430205"/>
                      <a:pt x="465107" y="2567009"/>
                      <a:pt x="0" y="2415921"/>
                    </a:cubicBezTo>
                    <a:close/>
                  </a:path>
                </a:pathLst>
              </a:custGeom>
              <a:solidFill>
                <a:schemeClr val="accent2"/>
              </a:solidFill>
              <a:ln>
                <a:noFill/>
              </a:ln>
            </p:spPr>
          </p:sp>
          <p:sp>
            <p:nvSpPr>
              <p:cNvPr id="11" name="Freeform 11"/>
              <p:cNvSpPr/>
              <p:nvPr/>
            </p:nvSpPr>
            <p:spPr>
              <a:xfrm>
                <a:off x="1809996" y="3482721"/>
                <a:ext cx="1333254" cy="1409700"/>
              </a:xfrm>
              <a:custGeom>
                <a:avLst/>
                <a:gdLst/>
                <a:ahLst/>
                <a:cxnLst/>
                <a:rect l="l" t="t" r="r" b="b"/>
                <a:pathLst>
                  <a:path w="1333254" h="1409700">
                    <a:moveTo>
                      <a:pt x="1333254" y="232029"/>
                    </a:moveTo>
                    <a:lnTo>
                      <a:pt x="950635" y="1409700"/>
                    </a:lnTo>
                    <a:cubicBezTo>
                      <a:pt x="357276" y="1216933"/>
                      <a:pt x="0" y="612834"/>
                      <a:pt x="116911" y="0"/>
                    </a:cubicBezTo>
                    <a:close/>
                  </a:path>
                </a:pathLst>
              </a:custGeom>
              <a:solidFill>
                <a:srgbClr val="D98B7F"/>
              </a:solidFill>
              <a:ln>
                <a:noFill/>
              </a:ln>
            </p:spPr>
          </p:sp>
          <p:sp>
            <p:nvSpPr>
              <p:cNvPr id="12" name="Freeform 12"/>
              <p:cNvSpPr/>
              <p:nvPr/>
            </p:nvSpPr>
            <p:spPr>
              <a:xfrm>
                <a:off x="1926908" y="2476487"/>
                <a:ext cx="1216342" cy="1238263"/>
              </a:xfrm>
              <a:custGeom>
                <a:avLst/>
                <a:gdLst/>
                <a:ahLst/>
                <a:cxnLst/>
                <a:rect l="l" t="t" r="r" b="b"/>
                <a:pathLst>
                  <a:path w="1216342" h="1238263">
                    <a:moveTo>
                      <a:pt x="1216342" y="1238263"/>
                    </a:moveTo>
                    <a:lnTo>
                      <a:pt x="0" y="1006234"/>
                    </a:lnTo>
                    <a:cubicBezTo>
                      <a:pt x="111382" y="422358"/>
                      <a:pt x="621938" y="0"/>
                      <a:pt x="1216342" y="13"/>
                    </a:cubicBezTo>
                    <a:close/>
                  </a:path>
                </a:pathLst>
              </a:custGeom>
              <a:solidFill>
                <a:srgbClr val="C9C1B4"/>
              </a:solidFill>
              <a:ln>
                <a:noFill/>
              </a:ln>
            </p:spPr>
          </p:sp>
          <p:sp>
            <p:nvSpPr>
              <p:cNvPr id="13" name="TextBox 13"/>
              <p:cNvSpPr txBox="1"/>
              <p:nvPr/>
            </p:nvSpPr>
            <p:spPr>
              <a:xfrm>
                <a:off x="3603607" y="3634740"/>
                <a:ext cx="48898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55%</a:t>
                </a:r>
              </a:p>
            </p:txBody>
          </p:sp>
          <p:sp>
            <p:nvSpPr>
              <p:cNvPr id="14" name="TextBox 14"/>
              <p:cNvSpPr txBox="1"/>
              <p:nvPr/>
            </p:nvSpPr>
            <p:spPr>
              <a:xfrm>
                <a:off x="2241532" y="3910965"/>
                <a:ext cx="48898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23%</a:t>
                </a:r>
              </a:p>
            </p:txBody>
          </p:sp>
          <p:sp>
            <p:nvSpPr>
              <p:cNvPr id="15" name="TextBox 15"/>
              <p:cNvSpPr txBox="1"/>
              <p:nvPr/>
            </p:nvSpPr>
            <p:spPr>
              <a:xfrm>
                <a:off x="2412982" y="2939415"/>
                <a:ext cx="488987" cy="352044"/>
              </a:xfrm>
              <a:prstGeom prst="rect">
                <a:avLst/>
              </a:prstGeom>
              <a:noFill/>
              <a:ln>
                <a:noFill/>
              </a:ln>
            </p:spPr>
            <p:txBody>
              <a:bodyPr wrap="none" lIns="0" tIns="0" rIns="0" bIns="0" anchor="t" anchorCtr="0">
                <a:spAutoFit/>
              </a:bodyPr>
              <a:lstStyle/>
              <a:p>
                <a:pPr algn="ctr"/>
                <a:r>
                  <a:rPr lang="zh-CN" sz="1800" b="1" dirty="0">
                    <a:solidFill>
                      <a:srgbClr val="3A4048"/>
                    </a:solidFill>
                    <a:latin typeface="+mn-lt"/>
                    <a:ea typeface="+mn-ea"/>
                    <a:cs typeface="+mn-cs"/>
                  </a:rPr>
                  <a:t>22%</a:t>
                </a:r>
              </a:p>
            </p:txBody>
          </p:sp>
        </p:grpSp>
        <p:sp>
          <p:nvSpPr>
            <p:cNvPr id="17" name="Rectangle 17"/>
            <p:cNvSpPr/>
            <p:nvPr/>
          </p:nvSpPr>
          <p:spPr>
            <a:xfrm>
              <a:off x="1905000" y="5276850"/>
              <a:ext cx="152400" cy="152400"/>
            </a:xfrm>
            <a:prstGeom prst="rect">
              <a:avLst/>
            </a:prstGeom>
            <a:solidFill>
              <a:schemeClr val="accent2"/>
            </a:solidFill>
            <a:ln>
              <a:noFill/>
            </a:ln>
          </p:spPr>
        </p:sp>
        <p:sp>
          <p:nvSpPr>
            <p:cNvPr id="18" name="TextBox 18"/>
            <p:cNvSpPr txBox="1"/>
            <p:nvPr/>
          </p:nvSpPr>
          <p:spPr>
            <a:xfrm>
              <a:off x="2164842" y="52644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恶意或犯罪攻击</a:t>
              </a:r>
            </a:p>
          </p:txBody>
        </p:sp>
        <p:sp>
          <p:nvSpPr>
            <p:cNvPr id="19" name="Rectangle 19"/>
            <p:cNvSpPr/>
            <p:nvPr/>
          </p:nvSpPr>
          <p:spPr>
            <a:xfrm>
              <a:off x="1905000" y="5562600"/>
              <a:ext cx="152400" cy="152400"/>
            </a:xfrm>
            <a:prstGeom prst="rect">
              <a:avLst/>
            </a:prstGeom>
            <a:solidFill>
              <a:srgbClr val="D98B7F"/>
            </a:solidFill>
            <a:ln>
              <a:noFill/>
            </a:ln>
          </p:spPr>
        </p:sp>
        <p:sp>
          <p:nvSpPr>
            <p:cNvPr id="20" name="TextBox 20"/>
            <p:cNvSpPr txBox="1"/>
            <p:nvPr/>
          </p:nvSpPr>
          <p:spPr>
            <a:xfrm>
              <a:off x="2164842" y="55502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人为失误</a:t>
              </a:r>
            </a:p>
          </p:txBody>
        </p:sp>
        <p:sp>
          <p:nvSpPr>
            <p:cNvPr id="21" name="Rectangle 21"/>
            <p:cNvSpPr/>
            <p:nvPr/>
          </p:nvSpPr>
          <p:spPr>
            <a:xfrm>
              <a:off x="1905000" y="5848350"/>
              <a:ext cx="152400" cy="152400"/>
            </a:xfrm>
            <a:prstGeom prst="rect">
              <a:avLst/>
            </a:prstGeom>
            <a:solidFill>
              <a:srgbClr val="C9C1B4"/>
            </a:solidFill>
            <a:ln>
              <a:noFill/>
            </a:ln>
          </p:spPr>
        </p:sp>
        <p:sp>
          <p:nvSpPr>
            <p:cNvPr id="22" name="TextBox 22"/>
            <p:cNvSpPr txBox="1"/>
            <p:nvPr/>
          </p:nvSpPr>
          <p:spPr>
            <a:xfrm>
              <a:off x="2164842" y="5835968"/>
              <a:ext cx="59801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IT 故障</a:t>
              </a:r>
            </a:p>
          </p:txBody>
        </p:sp>
      </p:grpSp>
      <p:grpSp>
        <p:nvGrpSpPr>
          <p:cNvPr id="27" name="human-factor-metric"/>
          <p:cNvGrpSpPr/>
          <p:nvPr/>
        </p:nvGrpSpPr>
        <p:grpSpPr>
          <a:xfrm>
            <a:off x="6457950" y="2529840"/>
            <a:ext cx="3987546" cy="1379411"/>
            <a:chOff x="6457950" y="2529840"/>
            <a:chExt cx="3987546" cy="1379411"/>
          </a:xfrm>
        </p:grpSpPr>
        <p:sp>
          <p:nvSpPr>
            <p:cNvPr id="24" name="TextBox 24"/>
            <p:cNvSpPr txBox="1"/>
            <p:nvPr/>
          </p:nvSpPr>
          <p:spPr>
            <a:xfrm>
              <a:off x="6457950" y="2529840"/>
              <a:ext cx="129329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mn-lt"/>
                  <a:ea typeface="+mn-ea"/>
                  <a:cs typeface="+mn-cs"/>
                </a:rPr>
                <a:t>62%</a:t>
              </a:r>
            </a:p>
          </p:txBody>
        </p:sp>
        <p:sp>
          <p:nvSpPr>
            <p:cNvPr id="25" name="TextBox 25"/>
            <p:cNvSpPr txBox="1"/>
            <p:nvPr/>
          </p:nvSpPr>
          <p:spPr>
            <a:xfrm>
              <a:off x="6466332" y="3240405"/>
              <a:ext cx="397916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的数据泄露中出现「人为因素」</a:t>
              </a:r>
            </a:p>
          </p:txBody>
        </p:sp>
        <p:sp>
          <p:nvSpPr>
            <p:cNvPr id="26" name="TextBox 26"/>
            <p:cNvSpPr txBox="1"/>
            <p:nvPr/>
          </p:nvSpPr>
          <p:spPr>
            <a:xfrm>
              <a:off x="6470142" y="3645218"/>
              <a:ext cx="286968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Verizon DBIR 2026，上一版为 60%</a:t>
              </a:r>
            </a:p>
          </p:txBody>
        </p:sp>
      </p:grpSp>
      <p:grpSp>
        <p:nvGrpSpPr>
          <p:cNvPr id="30" name="reading-note"/>
          <p:cNvGrpSpPr/>
          <p:nvPr/>
        </p:nvGrpSpPr>
        <p:grpSpPr>
          <a:xfrm>
            <a:off x="6467856" y="4282440"/>
            <a:ext cx="4341811" cy="713994"/>
            <a:chOff x="6467856" y="4282440"/>
            <a:chExt cx="4341811" cy="713994"/>
          </a:xfrm>
        </p:grpSpPr>
        <p:sp>
          <p:nvSpPr>
            <p:cNvPr id="28" name="TextBox 28"/>
            <p:cNvSpPr txBox="1"/>
            <p:nvPr/>
          </p:nvSpPr>
          <p:spPr>
            <a:xfrm>
              <a:off x="6467856" y="4282440"/>
              <a:ext cx="434181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恶意攻击占 </a:t>
              </a:r>
              <a:r>
                <a:rPr lang="zh-CN" sz="1800" b="1" dirty="0">
                  <a:solidFill>
                    <a:schemeClr val="accent2"/>
                  </a:solidFill>
                  <a:latin typeface="+mn-lt"/>
                  <a:ea typeface="+mn-ea"/>
                  <a:cs typeface="+mn-cs"/>
                </a:rPr>
                <a:t>55%</a:t>
              </a:r>
              <a:r>
                <a:rPr lang="zh-CN" sz="1800" dirty="0">
                  <a:solidFill>
                    <a:schemeClr val="dk1"/>
                  </a:solidFill>
                  <a:latin typeface="+mn-lt"/>
                  <a:ea typeface="+mn-ea"/>
                  <a:cs typeface="+mn-cs"/>
                </a:rPr>
                <a:t>，较上一年上升近 8%；</a:t>
              </a:r>
            </a:p>
          </p:txBody>
        </p:sp>
        <p:sp>
          <p:nvSpPr>
            <p:cNvPr id="29" name="TextBox 29"/>
            <p:cNvSpPr txBox="1"/>
            <p:nvPr/>
          </p:nvSpPr>
          <p:spPr>
            <a:xfrm>
              <a:off x="6467856" y="4644390"/>
              <a:ext cx="287145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纯粹的 IT 故障只占 </a:t>
              </a:r>
              <a:r>
                <a:rPr lang="zh-CN" sz="1800" b="1" dirty="0">
                  <a:solidFill>
                    <a:schemeClr val="dk1"/>
                  </a:solidFill>
                  <a:latin typeface="+mn-lt"/>
                  <a:ea typeface="+mn-ea"/>
                  <a:cs typeface="+mn-cs"/>
                </a:rPr>
                <a:t>22%</a:t>
              </a:r>
              <a:r>
                <a:rPr lang="zh-CN" sz="1800" dirty="0">
                  <a:solidFill>
                    <a:schemeClr val="dk1"/>
                  </a:solidFill>
                  <a:latin typeface="+mn-lt"/>
                  <a:ea typeface="+mn-ea"/>
                  <a:cs typeface="+mn-cs"/>
                </a:rPr>
                <a:t>。</a:t>
              </a:r>
            </a:p>
          </p:txBody>
        </p:sp>
      </p:grpSp>
      <p:grpSp>
        <p:nvGrpSpPr>
          <p:cNvPr id="34" name="takeaway"/>
          <p:cNvGrpSpPr/>
          <p:nvPr/>
        </p:nvGrpSpPr>
        <p:grpSpPr>
          <a:xfrm>
            <a:off x="6477000" y="5200650"/>
            <a:ext cx="5029200" cy="914400"/>
            <a:chOff x="6477000" y="5200650"/>
            <a:chExt cx="5029200" cy="914400"/>
          </a:xfrm>
        </p:grpSpPr>
        <p:sp>
          <p:nvSpPr>
            <p:cNvPr id="31" name="Rectangle 31"/>
            <p:cNvSpPr/>
            <p:nvPr/>
          </p:nvSpPr>
          <p:spPr>
            <a:xfrm>
              <a:off x="6477000" y="5200650"/>
              <a:ext cx="5029200" cy="914400"/>
            </a:xfrm>
            <a:prstGeom prst="rect">
              <a:avLst/>
            </a:prstGeom>
            <a:solidFill>
              <a:schemeClr val="accent2">
                <a:alpha val="7000"/>
              </a:schemeClr>
            </a:solidFill>
            <a:ln>
              <a:noFill/>
            </a:ln>
          </p:spPr>
        </p:sp>
        <p:sp>
          <p:nvSpPr>
            <p:cNvPr id="32" name="Rectangle 32"/>
            <p:cNvSpPr/>
            <p:nvPr/>
          </p:nvSpPr>
          <p:spPr>
            <a:xfrm>
              <a:off x="6477000" y="5200650"/>
              <a:ext cx="38100" cy="914400"/>
            </a:xfrm>
            <a:prstGeom prst="rect">
              <a:avLst/>
            </a:prstGeom>
            <a:solidFill>
              <a:schemeClr val="accent2"/>
            </a:solidFill>
            <a:ln>
              <a:noFill/>
            </a:ln>
          </p:spPr>
        </p:sp>
        <p:sp>
          <p:nvSpPr>
            <p:cNvPr id="33" name="TextBox 33"/>
            <p:cNvSpPr txBox="1"/>
            <p:nvPr/>
          </p:nvSpPr>
          <p:spPr>
            <a:xfrm>
              <a:off x="6734556" y="5406390"/>
              <a:ext cx="3447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把「人」当成入口，比把「系统」</a:t>
              </a:r>
              <a:br/>
              <a:r>
                <a:rPr lang="zh-CN" sz="1800" dirty="0">
                  <a:solidFill>
                    <a:schemeClr val="dk1"/>
                  </a:solidFill>
                  <a:latin typeface="+mn-lt"/>
                  <a:ea typeface="+mn-ea"/>
                  <a:cs typeface="+mn-cs"/>
                </a:rPr>
                <a:t>当成入口更接近事实。</a:t>
              </a:r>
            </a:p>
          </p:txBody>
        </p:sp>
      </p:grpSp>
      <p:grpSp>
        <p:nvGrpSpPr>
          <p:cNvPr id="37" name="footer"/>
          <p:cNvGrpSpPr/>
          <p:nvPr/>
        </p:nvGrpSpPr>
        <p:grpSpPr>
          <a:xfrm>
            <a:off x="679704" y="6404610"/>
            <a:ext cx="10832592" cy="234696"/>
            <a:chOff x="679704" y="6404610"/>
            <a:chExt cx="10832592" cy="234696"/>
          </a:xfrm>
        </p:grpSpPr>
        <p:sp>
          <p:nvSpPr>
            <p:cNvPr id="35" name="TextBox 35"/>
            <p:cNvSpPr txBox="1"/>
            <p:nvPr/>
          </p:nvSpPr>
          <p:spPr>
            <a:xfrm>
              <a:off x="679704" y="6404610"/>
              <a:ext cx="5683107"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来源：IBM《数据泄露成本报告》2026（F064）；Verizon DBIR 2026（F055）</a:t>
              </a:r>
            </a:p>
          </p:txBody>
        </p:sp>
        <p:sp>
          <p:nvSpPr>
            <p:cNvPr id="36" name="TextBox 36"/>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04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1" presetClass="entr" presetSubtype="1" fill="hold" grpId="0" nodeType="afterEffect">
                                  <p:stCondLst>
                                    <p:cond delay="250"/>
                                  </p:stCondLst>
                                  <p:childTnLst>
                                    <p:set>
                                      <p:cBhvr>
                                        <p:cTn id="10" dur="1" fill="hold">
                                          <p:stCondLst>
                                            <p:cond delay="0"/>
                                          </p:stCondLst>
                                        </p:cTn>
                                        <p:tgtEl>
                                          <p:spTgt spid="23"/>
                                        </p:tgtEl>
                                        <p:attrNameLst>
                                          <p:attrName>style.visibility</p:attrName>
                                        </p:attrNameLst>
                                      </p:cBhvr>
                                      <p:to>
                                        <p:strVal val="visible"/>
                                      </p:to>
                                    </p:set>
                                    <p:animEffect transition="in" filter="wheel(1)">
                                      <p:cBhvr>
                                        <p:cTn id="11" dur="900"/>
                                        <p:tgtEl>
                                          <p:spTgt spid="23"/>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par>
                          <p:cTn id="20" fill="hold">
                            <p:stCondLst>
                              <p:cond delay="3000"/>
                            </p:stCondLst>
                            <p:childTnLst>
                              <p:par>
                                <p:cTn xmlns:p="http://schemas.openxmlformats.org/presentationml/2006/main" id="21" presetID="22" presetClass="entr" presetSubtype="2" fill="hold" grpId="0" nodeType="afterEffect">
                                  <p:stCondLst>
                                    <p:cond delay="250"/>
                                  </p:stCondLst>
                                  <p:childTnLst>
                                    <p:set>
                                      <p:cBhvr>
                                        <p:cTn id="22" dur="1" fill="hold">
                                          <p:stCondLst>
                                            <p:cond delay="0"/>
                                          </p:stCondLst>
                                        </p:cTn>
                                        <p:tgtEl>
                                          <p:spTgt spid="34"/>
                                        </p:tgtEl>
                                        <p:attrNameLst>
                                          <p:attrName>style.visibility</p:attrName>
                                        </p:attrNameLst>
                                      </p:cBhvr>
                                      <p:to>
                                        <p:strVal val="visible"/>
                                      </p:to>
                                    </p:set>
                                    <p:animEffect transition="in" filter="wipe(right)">
                                      <p:cBhvr>
                                        <p:cTn id="23" dur="6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攻击者进门的方式，两条里有一条是社工</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32" name="initial-access-vectors"/>
          <p:cNvGrpSpPr/>
          <p:nvPr/>
        </p:nvGrpSpPr>
        <p:grpSpPr>
          <a:xfrm>
            <a:off x="1602981" y="2102168"/>
            <a:ext cx="9255519" cy="3351466"/>
            <a:chOff x="1602981" y="2102168"/>
            <a:chExt cx="9255519" cy="3351466"/>
          </a:xfrm>
        </p:grpSpPr>
        <p:sp>
          <p:nvSpPr>
            <p:cNvPr id="9" name="TextBox 9"/>
            <p:cNvSpPr txBox="1"/>
            <p:nvPr/>
          </p:nvSpPr>
          <p:spPr>
            <a:xfrm>
              <a:off x="1898142" y="2102168"/>
              <a:ext cx="313959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确认泄露的初始入侵途径占比（2026）</a:t>
              </a:r>
            </a:p>
          </p:txBody>
        </p:sp>
        <p:grpSp>
          <p:nvGrpSpPr>
            <p:cNvPr id="27" name="initial-access-vectors-chartArea"/>
            <p:cNvGrpSpPr/>
            <p:nvPr/>
          </p:nvGrpSpPr>
          <p:grpSpPr>
            <a:xfrm>
              <a:off x="1602981" y="2286000"/>
              <a:ext cx="9255519" cy="2842451"/>
              <a:chOff x="1602981" y="2286000"/>
              <a:chExt cx="9255519" cy="2842451"/>
            </a:xfrm>
          </p:grpSpPr>
          <p:sp>
            <p:nvSpPr>
              <p:cNvPr id="10" name="Line 10"/>
              <p:cNvSpPr/>
              <p:nvPr/>
            </p:nvSpPr>
            <p:spPr>
              <a:xfrm>
                <a:off x="1905000" y="2667000"/>
                <a:ext cx="8953500" cy="9525"/>
              </a:xfrm>
              <a:custGeom>
                <a:avLst/>
                <a:gdLst/>
                <a:ahLst/>
                <a:cxnLst/>
                <a:rect l="l" t="t" r="r" b="b"/>
                <a:pathLst>
                  <a:path w="8953500" h="9525">
                    <a:moveTo>
                      <a:pt x="0" y="0"/>
                    </a:moveTo>
                    <a:lnTo>
                      <a:pt x="8953500" y="0"/>
                    </a:lnTo>
                  </a:path>
                </a:pathLst>
              </a:custGeom>
              <a:noFill/>
              <a:ln w="9525">
                <a:solidFill>
                  <a:srgbClr val="E4DED3"/>
                </a:solidFill>
              </a:ln>
            </p:spPr>
          </p:sp>
          <p:sp>
            <p:nvSpPr>
              <p:cNvPr id="11" name="Line 11"/>
              <p:cNvSpPr/>
              <p:nvPr/>
            </p:nvSpPr>
            <p:spPr>
              <a:xfrm>
                <a:off x="1905000" y="3429000"/>
                <a:ext cx="8953500" cy="9525"/>
              </a:xfrm>
              <a:custGeom>
                <a:avLst/>
                <a:gdLst/>
                <a:ahLst/>
                <a:cxnLst/>
                <a:rect l="l" t="t" r="r" b="b"/>
                <a:pathLst>
                  <a:path w="8953500" h="9525">
                    <a:moveTo>
                      <a:pt x="0" y="0"/>
                    </a:moveTo>
                    <a:lnTo>
                      <a:pt x="8953500" y="0"/>
                    </a:lnTo>
                  </a:path>
                </a:pathLst>
              </a:custGeom>
              <a:noFill/>
              <a:ln w="9525">
                <a:solidFill>
                  <a:srgbClr val="E4DED3"/>
                </a:solidFill>
              </a:ln>
            </p:spPr>
          </p:sp>
          <p:sp>
            <p:nvSpPr>
              <p:cNvPr id="12" name="Line 12"/>
              <p:cNvSpPr/>
              <p:nvPr/>
            </p:nvSpPr>
            <p:spPr>
              <a:xfrm>
                <a:off x="1905000" y="4191000"/>
                <a:ext cx="8953500" cy="9525"/>
              </a:xfrm>
              <a:custGeom>
                <a:avLst/>
                <a:gdLst/>
                <a:ahLst/>
                <a:cxnLst/>
                <a:rect l="l" t="t" r="r" b="b"/>
                <a:pathLst>
                  <a:path w="8953500" h="9525">
                    <a:moveTo>
                      <a:pt x="0" y="0"/>
                    </a:moveTo>
                    <a:lnTo>
                      <a:pt x="8953500" y="0"/>
                    </a:lnTo>
                  </a:path>
                </a:pathLst>
              </a:custGeom>
              <a:noFill/>
              <a:ln w="9525">
                <a:solidFill>
                  <a:srgbClr val="E4DED3"/>
                </a:solidFill>
              </a:ln>
            </p:spPr>
          </p:sp>
          <p:sp>
            <p:nvSpPr>
              <p:cNvPr id="13" name="Line 13"/>
              <p:cNvSpPr/>
              <p:nvPr/>
            </p:nvSpPr>
            <p:spPr>
              <a:xfrm>
                <a:off x="1905000" y="2286000"/>
                <a:ext cx="9525" cy="2667000"/>
              </a:xfrm>
              <a:custGeom>
                <a:avLst/>
                <a:gdLst/>
                <a:ahLst/>
                <a:cxnLst/>
                <a:rect l="l" t="t" r="r" b="b"/>
                <a:pathLst>
                  <a:path w="9525" h="2667000">
                    <a:moveTo>
                      <a:pt x="0" y="0"/>
                    </a:moveTo>
                    <a:lnTo>
                      <a:pt x="0" y="2667000"/>
                    </a:lnTo>
                  </a:path>
                </a:pathLst>
              </a:custGeom>
              <a:noFill/>
              <a:ln w="9525">
                <a:solidFill>
                  <a:srgbClr val="5A6068"/>
                </a:solidFill>
              </a:ln>
            </p:spPr>
          </p:sp>
          <p:sp>
            <p:nvSpPr>
              <p:cNvPr id="14" name="Line 14"/>
              <p:cNvSpPr/>
              <p:nvPr/>
            </p:nvSpPr>
            <p:spPr>
              <a:xfrm>
                <a:off x="1905000" y="4953000"/>
                <a:ext cx="8953500" cy="9525"/>
              </a:xfrm>
              <a:custGeom>
                <a:avLst/>
                <a:gdLst/>
                <a:ahLst/>
                <a:cxnLst/>
                <a:rect l="l" t="t" r="r" b="b"/>
                <a:pathLst>
                  <a:path w="8953500" h="9525">
                    <a:moveTo>
                      <a:pt x="0" y="0"/>
                    </a:moveTo>
                    <a:lnTo>
                      <a:pt x="8953500" y="0"/>
                    </a:lnTo>
                  </a:path>
                </a:pathLst>
              </a:custGeom>
              <a:noFill/>
              <a:ln w="9525">
                <a:solidFill>
                  <a:srgbClr val="5A6068"/>
                </a:solidFill>
              </a:ln>
            </p:spPr>
          </p:sp>
          <p:sp>
            <p:nvSpPr>
              <p:cNvPr id="15" name="TextBox 15"/>
              <p:cNvSpPr txBox="1"/>
              <p:nvPr/>
            </p:nvSpPr>
            <p:spPr>
              <a:xfrm>
                <a:off x="1702937" y="4864418"/>
                <a:ext cx="1136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a:t>
                </a:r>
              </a:p>
            </p:txBody>
          </p:sp>
          <p:sp>
            <p:nvSpPr>
              <p:cNvPr id="16" name="TextBox 16"/>
              <p:cNvSpPr txBox="1"/>
              <p:nvPr/>
            </p:nvSpPr>
            <p:spPr>
              <a:xfrm>
                <a:off x="1602981" y="4102418"/>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10</a:t>
                </a:r>
              </a:p>
            </p:txBody>
          </p:sp>
          <p:sp>
            <p:nvSpPr>
              <p:cNvPr id="17" name="TextBox 17"/>
              <p:cNvSpPr txBox="1"/>
              <p:nvPr/>
            </p:nvSpPr>
            <p:spPr>
              <a:xfrm>
                <a:off x="1602981" y="3340418"/>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20</a:t>
                </a:r>
              </a:p>
            </p:txBody>
          </p:sp>
          <p:sp>
            <p:nvSpPr>
              <p:cNvPr id="18" name="TextBox 18"/>
              <p:cNvSpPr txBox="1"/>
              <p:nvPr/>
            </p:nvSpPr>
            <p:spPr>
              <a:xfrm>
                <a:off x="1602981" y="2578418"/>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30</a:t>
                </a:r>
              </a:p>
            </p:txBody>
          </p:sp>
          <p:sp>
            <p:nvSpPr>
              <p:cNvPr id="19" name="Rectangle 19"/>
              <p:cNvSpPr/>
              <p:nvPr/>
            </p:nvSpPr>
            <p:spPr>
              <a:xfrm>
                <a:off x="2452688" y="2590800"/>
                <a:ext cx="1143000" cy="2362200"/>
              </a:xfrm>
              <a:prstGeom prst="rect">
                <a:avLst/>
              </a:prstGeom>
              <a:solidFill>
                <a:srgbClr val="8A8478"/>
              </a:solidFill>
              <a:ln>
                <a:noFill/>
              </a:ln>
            </p:spPr>
          </p:sp>
          <p:sp>
            <p:nvSpPr>
              <p:cNvPr id="20" name="Rectangle 20"/>
              <p:cNvSpPr/>
              <p:nvPr/>
            </p:nvSpPr>
            <p:spPr>
              <a:xfrm>
                <a:off x="4691062" y="3733800"/>
                <a:ext cx="1143000" cy="1219200"/>
              </a:xfrm>
              <a:prstGeom prst="rect">
                <a:avLst/>
              </a:prstGeom>
              <a:solidFill>
                <a:schemeClr val="accent2"/>
              </a:solidFill>
              <a:ln>
                <a:noFill/>
              </a:ln>
            </p:spPr>
          </p:sp>
          <p:sp>
            <p:nvSpPr>
              <p:cNvPr id="21" name="Rectangle 21"/>
              <p:cNvSpPr/>
              <p:nvPr/>
            </p:nvSpPr>
            <p:spPr>
              <a:xfrm>
                <a:off x="6929438" y="3962400"/>
                <a:ext cx="1143000" cy="990600"/>
              </a:xfrm>
              <a:prstGeom prst="rect">
                <a:avLst/>
              </a:prstGeom>
              <a:solidFill>
                <a:schemeClr val="accent2"/>
              </a:solidFill>
              <a:ln>
                <a:noFill/>
              </a:ln>
            </p:spPr>
          </p:sp>
          <p:sp>
            <p:nvSpPr>
              <p:cNvPr id="22" name="Rectangle 22"/>
              <p:cNvSpPr/>
              <p:nvPr/>
            </p:nvSpPr>
            <p:spPr>
              <a:xfrm>
                <a:off x="9167812" y="4495800"/>
                <a:ext cx="1143000" cy="457200"/>
              </a:xfrm>
              <a:prstGeom prst="rect">
                <a:avLst/>
              </a:prstGeom>
              <a:solidFill>
                <a:srgbClr val="D98B7F"/>
              </a:solidFill>
              <a:ln>
                <a:noFill/>
              </a:ln>
            </p:spPr>
          </p:sp>
          <p:sp>
            <p:nvSpPr>
              <p:cNvPr id="23" name="TextBox 23"/>
              <p:cNvSpPr txBox="1"/>
              <p:nvPr/>
            </p:nvSpPr>
            <p:spPr>
              <a:xfrm>
                <a:off x="2779694" y="2301240"/>
                <a:ext cx="48898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31%</a:t>
                </a:r>
              </a:p>
            </p:txBody>
          </p:sp>
          <p:sp>
            <p:nvSpPr>
              <p:cNvPr id="24" name="TextBox 24"/>
              <p:cNvSpPr txBox="1"/>
              <p:nvPr/>
            </p:nvSpPr>
            <p:spPr>
              <a:xfrm>
                <a:off x="5018069" y="3444240"/>
                <a:ext cx="48898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16%</a:t>
                </a:r>
              </a:p>
            </p:txBody>
          </p:sp>
          <p:sp>
            <p:nvSpPr>
              <p:cNvPr id="25" name="TextBox 25"/>
              <p:cNvSpPr txBox="1"/>
              <p:nvPr/>
            </p:nvSpPr>
            <p:spPr>
              <a:xfrm>
                <a:off x="7256444" y="3672840"/>
                <a:ext cx="48898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13%</a:t>
                </a:r>
              </a:p>
            </p:txBody>
          </p:sp>
          <p:sp>
            <p:nvSpPr>
              <p:cNvPr id="26" name="TextBox 26"/>
              <p:cNvSpPr txBox="1"/>
              <p:nvPr/>
            </p:nvSpPr>
            <p:spPr>
              <a:xfrm>
                <a:off x="9564788" y="4206240"/>
                <a:ext cx="349049"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6%</a:t>
                </a:r>
              </a:p>
            </p:txBody>
          </p:sp>
        </p:grpSp>
        <p:sp>
          <p:nvSpPr>
            <p:cNvPr id="28" name="TextBox 28"/>
            <p:cNvSpPr txBox="1"/>
            <p:nvPr/>
          </p:nvSpPr>
          <p:spPr>
            <a:xfrm>
              <a:off x="2530412" y="5101590"/>
              <a:ext cx="98755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漏洞利用</a:t>
              </a:r>
            </a:p>
          </p:txBody>
        </p:sp>
        <p:sp>
          <p:nvSpPr>
            <p:cNvPr id="29" name="TextBox 29"/>
            <p:cNvSpPr txBox="1"/>
            <p:nvPr/>
          </p:nvSpPr>
          <p:spPr>
            <a:xfrm>
              <a:off x="5011102" y="5101590"/>
              <a:ext cx="502920"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钓鱼</a:t>
              </a:r>
            </a:p>
          </p:txBody>
        </p:sp>
        <p:sp>
          <p:nvSpPr>
            <p:cNvPr id="30" name="TextBox 30"/>
            <p:cNvSpPr txBox="1"/>
            <p:nvPr/>
          </p:nvSpPr>
          <p:spPr>
            <a:xfrm>
              <a:off x="7007162" y="5101590"/>
              <a:ext cx="98755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凭据滥用</a:t>
              </a:r>
            </a:p>
          </p:txBody>
        </p:sp>
        <p:sp>
          <p:nvSpPr>
            <p:cNvPr id="31" name="TextBox 31"/>
            <p:cNvSpPr txBox="1"/>
            <p:nvPr/>
          </p:nvSpPr>
          <p:spPr>
            <a:xfrm>
              <a:off x="9245536" y="5101590"/>
              <a:ext cx="98755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托词欺骗</a:t>
              </a:r>
            </a:p>
          </p:txBody>
        </p:sp>
      </p:grpSp>
      <p:grpSp>
        <p:nvGrpSpPr>
          <p:cNvPr id="36" name="vector-takeaway"/>
          <p:cNvGrpSpPr/>
          <p:nvPr/>
        </p:nvGrpSpPr>
        <p:grpSpPr>
          <a:xfrm>
            <a:off x="675132" y="5581650"/>
            <a:ext cx="8650034" cy="766001"/>
            <a:chOff x="675132" y="5581650"/>
            <a:chExt cx="8650034" cy="766001"/>
          </a:xfrm>
        </p:grpSpPr>
        <p:sp>
          <p:nvSpPr>
            <p:cNvPr id="33" name="Rectangle 33"/>
            <p:cNvSpPr/>
            <p:nvPr/>
          </p:nvSpPr>
          <p:spPr>
            <a:xfrm>
              <a:off x="685800" y="5581650"/>
              <a:ext cx="1143000" cy="28575"/>
            </a:xfrm>
            <a:prstGeom prst="rect">
              <a:avLst/>
            </a:prstGeom>
            <a:solidFill>
              <a:schemeClr val="accent2"/>
            </a:solidFill>
            <a:ln>
              <a:noFill/>
            </a:ln>
          </p:spPr>
        </p:sp>
        <p:sp>
          <p:nvSpPr>
            <p:cNvPr id="34" name="TextBox 34"/>
            <p:cNvSpPr txBox="1"/>
            <p:nvPr/>
          </p:nvSpPr>
          <p:spPr>
            <a:xfrm>
              <a:off x="675132" y="5755005"/>
              <a:ext cx="5825795"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漏洞由 IT 修；</a:t>
              </a:r>
              <a:r>
                <a:rPr lang="zh-CN" sz="2100" b="1" dirty="0">
                  <a:solidFill>
                    <a:schemeClr val="accent2"/>
                  </a:solidFill>
                  <a:latin typeface="+mn-lt"/>
                  <a:ea typeface="+mn-ea"/>
                  <a:cs typeface="+mn-cs"/>
                </a:rPr>
                <a:t>钓鱼与凭据滥用，只能由你守</a:t>
              </a:r>
              <a:r>
                <a:rPr lang="zh-CN" sz="2100" dirty="0">
                  <a:solidFill>
                    <a:schemeClr val="accent1"/>
                  </a:solidFill>
                  <a:latin typeface="+mn-lt"/>
                  <a:ea typeface="+mn-ea"/>
                  <a:cs typeface="+mn-cs"/>
                </a:rPr>
                <a:t>。</a:t>
              </a:r>
            </a:p>
          </p:txBody>
        </p:sp>
        <p:sp>
          <p:nvSpPr>
            <p:cNvPr id="35" name="TextBox 35"/>
            <p:cNvSpPr txBox="1"/>
            <p:nvPr/>
          </p:nvSpPr>
          <p:spPr>
            <a:xfrm>
              <a:off x="678942" y="6083618"/>
              <a:ext cx="864622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钓鱼 16% 与凭据滥用 13% 合计 29%，与漏洞利用的 31% 几乎持平；凭据滥用由上一版的第一位降至第三。</a:t>
              </a:r>
            </a:p>
          </p:txBody>
        </p:sp>
      </p:grpSp>
      <p:grpSp>
        <p:nvGrpSpPr>
          <p:cNvPr id="39" name="footer"/>
          <p:cNvGrpSpPr/>
          <p:nvPr/>
        </p:nvGrpSpPr>
        <p:grpSpPr>
          <a:xfrm>
            <a:off x="679704" y="6404610"/>
            <a:ext cx="10832592" cy="234696"/>
            <a:chOff x="679704" y="6404610"/>
            <a:chExt cx="10832592" cy="234696"/>
          </a:xfrm>
        </p:grpSpPr>
        <p:sp>
          <p:nvSpPr>
            <p:cNvPr id="37" name="TextBox 37"/>
            <p:cNvSpPr txBox="1"/>
            <p:nvPr/>
          </p:nvSpPr>
          <p:spPr>
            <a:xfrm>
              <a:off x="679704" y="6404610"/>
              <a:ext cx="6346961"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来源：Verizon DBIR 2026，数据集覆盖 2024 年 10 月至 2025 年 11 月（F056、F054）</a:t>
              </a:r>
            </a:p>
          </p:txBody>
        </p:sp>
        <p:sp>
          <p:nvSpPr>
            <p:cNvPr id="38" name="TextBox 38"/>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05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1" fill="hold" grpId="0" nodeType="afterEffect">
                                  <p:stCondLst>
                                    <p:cond delay="250"/>
                                  </p:stCondLst>
                                  <p:childTnLst>
                                    <p:set>
                                      <p:cBhvr>
                                        <p:cTn id="10" dur="1" fill="hold">
                                          <p:stCondLst>
                                            <p:cond delay="0"/>
                                          </p:stCondLst>
                                        </p:cTn>
                                        <p:tgtEl>
                                          <p:spTgt spid="32"/>
                                        </p:tgtEl>
                                        <p:attrNameLst>
                                          <p:attrName>style.visibility</p:attrName>
                                        </p:attrNameLst>
                                      </p:cBhvr>
                                      <p:to>
                                        <p:strVal val="visible"/>
                                      </p:to>
                                    </p:set>
                                    <p:animEffect transition="in" filter="wipe(up)">
                                      <p:cBhvr>
                                        <p:cTn id="11" dur="900"/>
                                        <p:tgtEl>
                                          <p:spTgt spid="32"/>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通报里的攻击者，是应聘进来的</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0" name="case-judgment"/>
          <p:cNvGrpSpPr/>
          <p:nvPr/>
        </p:nvGrpSpPr>
        <p:grpSpPr>
          <a:xfrm>
            <a:off x="675132" y="1792605"/>
            <a:ext cx="6240780" cy="410718"/>
            <a:chOff x="675132" y="1792605"/>
            <a:chExt cx="6240780" cy="410718"/>
          </a:xfrm>
        </p:grpSpPr>
        <p:sp>
          <p:nvSpPr>
            <p:cNvPr id="9" name="TextBox 9"/>
            <p:cNvSpPr txBox="1"/>
            <p:nvPr/>
          </p:nvSpPr>
          <p:spPr>
            <a:xfrm>
              <a:off x="675132" y="179260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攻击者不一定是</a:t>
              </a:r>
              <a:r>
                <a:rPr lang="zh-CN" sz="2100" b="1" dirty="0">
                  <a:solidFill>
                    <a:schemeClr val="accent2"/>
                  </a:solidFill>
                  <a:latin typeface="+mn-lt"/>
                  <a:ea typeface="+mn-ea"/>
                  <a:cs typeface="+mn-cs"/>
                </a:rPr>
                <a:t>黑</a:t>
              </a:r>
              <a:r>
                <a:rPr lang="zh-CN" sz="2100" dirty="0">
                  <a:solidFill>
                    <a:schemeClr val="accent1"/>
                  </a:solidFill>
                  <a:latin typeface="+mn-lt"/>
                  <a:ea typeface="+mn-ea"/>
                  <a:cs typeface="+mn-cs"/>
                </a:rPr>
                <a:t>进来的，也可能是</a:t>
              </a:r>
              <a:r>
                <a:rPr lang="zh-CN" sz="2100" b="1" dirty="0">
                  <a:solidFill>
                    <a:schemeClr val="accent2"/>
                  </a:solidFill>
                  <a:latin typeface="+mn-lt"/>
                  <a:ea typeface="+mn-ea"/>
                  <a:cs typeface="+mn-cs"/>
                </a:rPr>
                <a:t>应聘</a:t>
              </a:r>
              <a:r>
                <a:rPr lang="zh-CN" sz="2100" dirty="0">
                  <a:solidFill>
                    <a:schemeClr val="accent1"/>
                  </a:solidFill>
                  <a:latin typeface="+mn-lt"/>
                  <a:ea typeface="+mn-ea"/>
                  <a:cs typeface="+mn-cs"/>
                </a:rPr>
                <a:t>进来的。</a:t>
              </a:r>
            </a:p>
          </p:txBody>
        </p:sp>
      </p:grpSp>
      <p:grpSp>
        <p:nvGrpSpPr>
          <p:cNvPr id="38" name="insider-cases"/>
          <p:cNvGrpSpPr/>
          <p:nvPr/>
        </p:nvGrpSpPr>
        <p:grpSpPr>
          <a:xfrm>
            <a:off x="685800" y="2343150"/>
            <a:ext cx="10820400" cy="3286125"/>
            <a:chOff x="685800" y="2343150"/>
            <a:chExt cx="10820400" cy="3286125"/>
          </a:xfrm>
        </p:grpSpPr>
        <p:sp>
          <p:nvSpPr>
            <p:cNvPr id="11" name="Rectangle 11"/>
            <p:cNvSpPr/>
            <p:nvPr/>
          </p:nvSpPr>
          <p:spPr>
            <a:xfrm>
              <a:off x="685800" y="2343150"/>
              <a:ext cx="10820400" cy="457200"/>
            </a:xfrm>
            <a:prstGeom prst="rect">
              <a:avLst/>
            </a:prstGeom>
            <a:solidFill>
              <a:schemeClr val="accent1"/>
            </a:solidFill>
            <a:ln>
              <a:noFill/>
            </a:ln>
          </p:spPr>
        </p:sp>
        <p:grpSp>
          <p:nvGrpSpPr>
            <p:cNvPr id="16" name="Group 16"/>
            <p:cNvGrpSpPr/>
            <p:nvPr/>
          </p:nvGrpSpPr>
          <p:grpSpPr>
            <a:xfrm>
              <a:off x="812292" y="2483168"/>
              <a:ext cx="10048875" cy="264033"/>
              <a:chOff x="812292" y="2483168"/>
              <a:chExt cx="10048875" cy="264033"/>
            </a:xfrm>
          </p:grpSpPr>
          <p:sp>
            <p:nvSpPr>
              <p:cNvPr id="12" name="TextBox 12"/>
              <p:cNvSpPr txBox="1"/>
              <p:nvPr/>
            </p:nvSpPr>
            <p:spPr>
              <a:xfrm>
                <a:off x="812292" y="2483168"/>
                <a:ext cx="377190"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案件</a:t>
                </a:r>
              </a:p>
            </p:txBody>
          </p:sp>
          <p:sp>
            <p:nvSpPr>
              <p:cNvPr id="13" name="TextBox 13"/>
              <p:cNvSpPr txBox="1"/>
              <p:nvPr/>
            </p:nvSpPr>
            <p:spPr>
              <a:xfrm>
                <a:off x="3288792" y="2483168"/>
                <a:ext cx="377190"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手法</a:t>
                </a:r>
              </a:p>
            </p:txBody>
          </p:sp>
          <p:sp>
            <p:nvSpPr>
              <p:cNvPr id="14" name="TextBox 14"/>
              <p:cNvSpPr txBox="1"/>
              <p:nvPr/>
            </p:nvSpPr>
            <p:spPr>
              <a:xfrm>
                <a:off x="7479792" y="2483168"/>
                <a:ext cx="377190"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结果</a:t>
                </a:r>
              </a:p>
            </p:txBody>
          </p:sp>
          <p:sp>
            <p:nvSpPr>
              <p:cNvPr id="15" name="TextBox 15"/>
              <p:cNvSpPr txBox="1"/>
              <p:nvPr/>
            </p:nvSpPr>
            <p:spPr>
              <a:xfrm>
                <a:off x="9575292" y="2483168"/>
                <a:ext cx="1285875"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通报来源与年份</a:t>
                </a:r>
              </a:p>
            </p:txBody>
          </p:sp>
        </p:grpSp>
        <p:grpSp>
          <p:nvGrpSpPr>
            <p:cNvPr id="33" name="Group 33"/>
            <p:cNvGrpSpPr/>
            <p:nvPr/>
          </p:nvGrpSpPr>
          <p:grpSpPr>
            <a:xfrm>
              <a:off x="812292" y="2940368"/>
              <a:ext cx="10376002" cy="2626233"/>
              <a:chOff x="812292" y="2940368"/>
              <a:chExt cx="10376002" cy="2626233"/>
            </a:xfrm>
          </p:grpSpPr>
          <p:sp>
            <p:nvSpPr>
              <p:cNvPr id="17" name="TextBox 17"/>
              <p:cNvSpPr txBox="1"/>
              <p:nvPr/>
            </p:nvSpPr>
            <p:spPr>
              <a:xfrm>
                <a:off x="812292" y="306419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北京海淀教培木马案</a:t>
                </a:r>
              </a:p>
            </p:txBody>
          </p:sp>
          <p:sp>
            <p:nvSpPr>
              <p:cNvPr id="18" name="TextBox 18"/>
              <p:cNvSpPr txBox="1"/>
              <p:nvPr/>
            </p:nvSpPr>
            <p:spPr>
              <a:xfrm>
                <a:off x="3288792" y="2940368"/>
                <a:ext cx="34427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制作木马程序，组织人员入职目标教培机构，</a:t>
                </a:r>
                <a:br/>
                <a:r>
                  <a:rPr lang="zh-CN" sz="1350" dirty="0">
                    <a:solidFill>
                      <a:schemeClr val="dk1"/>
                    </a:solidFill>
                    <a:latin typeface="+mn-lt"/>
                    <a:ea typeface="+mn-ea"/>
                    <a:cs typeface="+mn-cs"/>
                  </a:rPr>
                  <a:t>定向投放木马非法控制内部计算机</a:t>
                </a:r>
              </a:p>
            </p:txBody>
          </p:sp>
          <p:sp>
            <p:nvSpPr>
              <p:cNvPr id="19" name="TextBox 19"/>
              <p:cNvSpPr txBox="1"/>
              <p:nvPr/>
            </p:nvSpPr>
            <p:spPr>
              <a:xfrm>
                <a:off x="7479792" y="3064192"/>
                <a:ext cx="16766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抓获犯罪嫌疑人 8 名</a:t>
                </a:r>
              </a:p>
            </p:txBody>
          </p:sp>
          <p:sp>
            <p:nvSpPr>
              <p:cNvPr id="20" name="TextBox 20"/>
              <p:cNvSpPr txBox="1"/>
              <p:nvPr/>
            </p:nvSpPr>
            <p:spPr>
              <a:xfrm>
                <a:off x="9575292" y="3064192"/>
                <a:ext cx="16130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公安部 2025 年通报</a:t>
                </a:r>
              </a:p>
            </p:txBody>
          </p:sp>
          <p:sp>
            <p:nvSpPr>
              <p:cNvPr id="21" name="TextBox 21"/>
              <p:cNvSpPr txBox="1"/>
              <p:nvPr/>
            </p:nvSpPr>
            <p:spPr>
              <a:xfrm>
                <a:off x="812292" y="376904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甘肃张掖快递内鬼案</a:t>
                </a:r>
              </a:p>
            </p:txBody>
          </p:sp>
          <p:sp>
            <p:nvSpPr>
              <p:cNvPr id="22" name="TextBox 22"/>
              <p:cNvSpPr txBox="1"/>
              <p:nvPr/>
            </p:nvSpPr>
            <p:spPr>
              <a:xfrm>
                <a:off x="3288792" y="3645218"/>
                <a:ext cx="32712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勾结快递行业工作人员，利用技术手段窃取</a:t>
                </a:r>
                <a:br/>
                <a:r>
                  <a:rPr lang="zh-CN" sz="1350" dirty="0">
                    <a:solidFill>
                      <a:schemeClr val="dk1"/>
                    </a:solidFill>
                    <a:latin typeface="+mn-lt"/>
                    <a:ea typeface="+mn-ea"/>
                    <a:cs typeface="+mn-cs"/>
                  </a:rPr>
                  <a:t>快递订单个人信息并出售牟利</a:t>
                </a:r>
              </a:p>
            </p:txBody>
          </p:sp>
          <p:sp>
            <p:nvSpPr>
              <p:cNvPr id="23" name="TextBox 23"/>
              <p:cNvSpPr txBox="1"/>
              <p:nvPr/>
            </p:nvSpPr>
            <p:spPr>
              <a:xfrm>
                <a:off x="7479792" y="3645218"/>
                <a:ext cx="125672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抓获 18 人</a:t>
                </a:r>
                <a:br/>
                <a:r>
                  <a:rPr lang="zh-CN" sz="1350" dirty="0">
                    <a:solidFill>
                      <a:schemeClr val="dk1"/>
                    </a:solidFill>
                    <a:latin typeface="+mn-lt"/>
                    <a:ea typeface="+mn-ea"/>
                    <a:cs typeface="+mn-cs"/>
                  </a:rPr>
                  <a:t>涉案 300 余万元</a:t>
                </a:r>
              </a:p>
            </p:txBody>
          </p:sp>
          <p:sp>
            <p:nvSpPr>
              <p:cNvPr id="24" name="TextBox 24"/>
              <p:cNvSpPr txBox="1"/>
              <p:nvPr/>
            </p:nvSpPr>
            <p:spPr>
              <a:xfrm>
                <a:off x="9575292" y="3769042"/>
                <a:ext cx="16130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公安部 2025 年通报</a:t>
                </a:r>
              </a:p>
            </p:txBody>
          </p:sp>
          <p:sp>
            <p:nvSpPr>
              <p:cNvPr id="25" name="TextBox 25"/>
              <p:cNvSpPr txBox="1"/>
              <p:nvPr/>
            </p:nvSpPr>
            <p:spPr>
              <a:xfrm>
                <a:off x="812292" y="447389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四川凉山运维滥用案</a:t>
                </a:r>
              </a:p>
            </p:txBody>
          </p:sp>
          <p:sp>
            <p:nvSpPr>
              <p:cNvPr id="26" name="TextBox 26"/>
              <p:cNvSpPr txBox="1"/>
              <p:nvPr/>
            </p:nvSpPr>
            <p:spPr>
              <a:xfrm>
                <a:off x="3288792" y="4350068"/>
                <a:ext cx="30998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利用开发运维在线学习平台的工作便利，</a:t>
                </a:r>
                <a:br/>
                <a:r>
                  <a:rPr lang="zh-CN" sz="1350" dirty="0">
                    <a:solidFill>
                      <a:schemeClr val="dk1"/>
                    </a:solidFill>
                    <a:latin typeface="+mn-lt"/>
                    <a:ea typeface="+mn-ea"/>
                    <a:cs typeface="+mn-cs"/>
                  </a:rPr>
                  <a:t>非法获取、出售他人个人信息</a:t>
                </a:r>
              </a:p>
            </p:txBody>
          </p:sp>
          <p:sp>
            <p:nvSpPr>
              <p:cNvPr id="27" name="TextBox 27"/>
              <p:cNvSpPr txBox="1"/>
              <p:nvPr/>
            </p:nvSpPr>
            <p:spPr>
              <a:xfrm>
                <a:off x="7479792" y="4473892"/>
                <a:ext cx="177656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抓获犯罪嫌疑人 45 名</a:t>
                </a:r>
              </a:p>
            </p:txBody>
          </p:sp>
          <p:sp>
            <p:nvSpPr>
              <p:cNvPr id="28" name="TextBox 28"/>
              <p:cNvSpPr txBox="1"/>
              <p:nvPr/>
            </p:nvSpPr>
            <p:spPr>
              <a:xfrm>
                <a:off x="9575292" y="4473892"/>
                <a:ext cx="16130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公安部 2025 年通报</a:t>
                </a:r>
              </a:p>
            </p:txBody>
          </p:sp>
          <p:sp>
            <p:nvSpPr>
              <p:cNvPr id="29" name="TextBox 29"/>
              <p:cNvSpPr txBox="1"/>
              <p:nvPr/>
            </p:nvSpPr>
            <p:spPr>
              <a:xfrm>
                <a:off x="812292" y="5178742"/>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某药房内鬼盗卖案</a:t>
                </a:r>
              </a:p>
            </p:txBody>
          </p:sp>
          <p:sp>
            <p:nvSpPr>
              <p:cNvPr id="30" name="TextBox 30"/>
              <p:cNvSpPr txBox="1"/>
              <p:nvPr/>
            </p:nvSpPr>
            <p:spPr>
              <a:xfrm>
                <a:off x="3288792" y="5054918"/>
                <a:ext cx="32712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未严格限制和监控员工数据访问权限，内部</a:t>
                </a:r>
                <a:br/>
                <a:r>
                  <a:rPr lang="zh-CN" sz="1350" dirty="0">
                    <a:solidFill>
                      <a:schemeClr val="dk1"/>
                    </a:solidFill>
                    <a:latin typeface="+mn-lt"/>
                    <a:ea typeface="+mn-ea"/>
                    <a:cs typeface="+mn-cs"/>
                  </a:rPr>
                  <a:t>人员利用管理漏洞盗卖客户数据</a:t>
                </a:r>
              </a:p>
            </p:txBody>
          </p:sp>
          <p:sp>
            <p:nvSpPr>
              <p:cNvPr id="31" name="TextBox 31"/>
              <p:cNvSpPr txBox="1"/>
              <p:nvPr/>
            </p:nvSpPr>
            <p:spPr>
              <a:xfrm>
                <a:off x="7479792" y="5178742"/>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内部权限失控</a:t>
                </a:r>
              </a:p>
            </p:txBody>
          </p:sp>
          <p:sp>
            <p:nvSpPr>
              <p:cNvPr id="32" name="TextBox 32"/>
              <p:cNvSpPr txBox="1"/>
              <p:nvPr/>
            </p:nvSpPr>
            <p:spPr>
              <a:xfrm>
                <a:off x="9575292" y="5054918"/>
                <a:ext cx="152247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中国网络空间安全</a:t>
                </a:r>
                <a:br/>
                <a:r>
                  <a:rPr lang="zh-CN" sz="1350" dirty="0">
                    <a:solidFill>
                      <a:schemeClr val="dk1"/>
                    </a:solidFill>
                    <a:latin typeface="+mn-lt"/>
                    <a:ea typeface="+mn-ea"/>
                    <a:cs typeface="+mn-cs"/>
                  </a:rPr>
                  <a:t>协会等 2025 年报告</a:t>
                </a:r>
              </a:p>
            </p:txBody>
          </p:sp>
        </p:grpSp>
        <p:sp>
          <p:nvSpPr>
            <p:cNvPr id="34" name="Line 34"/>
            <p:cNvSpPr/>
            <p:nvPr/>
          </p:nvSpPr>
          <p:spPr>
            <a:xfrm>
              <a:off x="685800" y="35052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5" name="Line 35"/>
            <p:cNvSpPr/>
            <p:nvPr/>
          </p:nvSpPr>
          <p:spPr>
            <a:xfrm>
              <a:off x="685800" y="42100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6" name="Line 36"/>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7" name="Line 37"/>
            <p:cNvSpPr/>
            <p:nvPr/>
          </p:nvSpPr>
          <p:spPr>
            <a:xfrm>
              <a:off x="685800" y="561975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40" name="scale-note"/>
          <p:cNvGrpSpPr/>
          <p:nvPr/>
        </p:nvGrpSpPr>
        <p:grpSpPr>
          <a:xfrm>
            <a:off x="678942" y="5778818"/>
            <a:ext cx="5268659" cy="511683"/>
            <a:chOff x="678942" y="5778818"/>
            <a:chExt cx="5268659" cy="511683"/>
          </a:xfrm>
        </p:grpSpPr>
        <p:sp>
          <p:nvSpPr>
            <p:cNvPr id="39" name="TextBox 39"/>
            <p:cNvSpPr txBox="1"/>
            <p:nvPr/>
          </p:nvSpPr>
          <p:spPr>
            <a:xfrm>
              <a:off x="678942" y="5778818"/>
              <a:ext cx="5268659"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2024 年全国公安机关侦破侵犯公民个人信息相关案件 7000 余起；</a:t>
              </a:r>
              <a:br/>
              <a:r>
                <a:rPr lang="zh-CN" sz="1350" dirty="0">
                  <a:solidFill>
                    <a:schemeClr val="accent5"/>
                  </a:solidFill>
                  <a:latin typeface="+mn-lt"/>
                  <a:ea typeface="+mn-ea"/>
                  <a:cs typeface="+mn-cs"/>
                </a:rPr>
                <a:t>公安部 2025 年 3 月公布 10 起打击侵犯公民个人信息犯罪典型案例。</a:t>
              </a:r>
            </a:p>
          </p:txBody>
        </p:sp>
      </p:grpSp>
      <p:grpSp>
        <p:nvGrpSpPr>
          <p:cNvPr id="43" name="footer"/>
          <p:cNvGrpSpPr/>
          <p:nvPr/>
        </p:nvGrpSpPr>
        <p:grpSpPr>
          <a:xfrm>
            <a:off x="679704" y="6404610"/>
            <a:ext cx="10832592" cy="234696"/>
            <a:chOff x="679704" y="6404610"/>
            <a:chExt cx="10832592" cy="234696"/>
          </a:xfrm>
        </p:grpSpPr>
        <p:sp>
          <p:nvSpPr>
            <p:cNvPr id="41" name="TextBox 41"/>
            <p:cNvSpPr txBox="1"/>
            <p:nvPr/>
          </p:nvSpPr>
          <p:spPr>
            <a:xfrm>
              <a:off x="679704" y="6404610"/>
              <a:ext cx="735512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来源：公安部 2025 年 3 月通报（F043–F046）；中国网络空间安全协会等 2025 年 3 月报告（F052）</a:t>
              </a:r>
            </a:p>
          </p:txBody>
        </p:sp>
        <p:sp>
          <p:nvSpPr>
            <p:cNvPr id="42" name="TextBox 42"/>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06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150"/>
                            </p:stCondLst>
                            <p:childTnLst>
                              <p:par>
                                <p:cTn xmlns:p="http://schemas.openxmlformats.org/presentationml/2006/main" id="13" presetID="22" presetClass="entr" presetSubtype="4" fill="hold" grpId="0" nodeType="afterEffect">
                                  <p:stCondLst>
                                    <p:cond delay="250"/>
                                  </p:stCondLst>
                                  <p:childTnLst>
                                    <p:set>
                                      <p:cBhvr>
                                        <p:cTn id="14" dur="1" fill="hold">
                                          <p:stCondLst>
                                            <p:cond delay="0"/>
                                          </p:stCondLst>
                                        </p:cTn>
                                        <p:tgtEl>
                                          <p:spTgt spid="38"/>
                                        </p:tgtEl>
                                        <p:attrNameLst>
                                          <p:attrName>style.visibility</p:attrName>
                                        </p:attrNameLst>
                                      </p:cBhvr>
                                      <p:to>
                                        <p:strVal val="visible"/>
                                      </p:to>
                                    </p:set>
                                    <p:animEffect transition="in" filter="wipe(down)">
                                      <p:cBhvr>
                                        <p:cTn id="15" dur="900"/>
                                        <p:tgtEl>
                                          <p:spTgt spid="38"/>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11430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01 为什么是你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你在这套风险里有三个身份</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5" name="identity-target"/>
          <p:cNvGrpSpPr/>
          <p:nvPr/>
        </p:nvGrpSpPr>
        <p:grpSpPr>
          <a:xfrm>
            <a:off x="673608" y="2543175"/>
            <a:ext cx="2764536" cy="1977009"/>
            <a:chOff x="673608" y="2543175"/>
            <a:chExt cx="2764536" cy="1977009"/>
          </a:xfrm>
        </p:grpSpPr>
        <p:grpSp>
          <p:nvGrpSpPr>
            <p:cNvPr id="11" name="Group 11"/>
            <p:cNvGrpSpPr/>
            <p:nvPr/>
          </p:nvGrpSpPr>
          <p:grpSpPr>
            <a:xfrm>
              <a:off x="742950" y="2543175"/>
              <a:ext cx="342900" cy="400050"/>
              <a:chOff x="742950" y="2543175"/>
              <a:chExt cx="342900" cy="400050"/>
            </a:xfrm>
          </p:grpSpPr>
          <p:sp>
            <p:nvSpPr>
              <p:cNvPr id="9" name="Freeform 9"/>
              <p:cNvSpPr/>
              <p:nvPr/>
            </p:nvSpPr>
            <p:spPr>
              <a:xfrm>
                <a:off x="828675" y="2543175"/>
                <a:ext cx="171450" cy="171450"/>
              </a:xfrm>
              <a:custGeom>
                <a:avLst/>
                <a:gdLst/>
                <a:ahLst/>
                <a:cxnLst/>
                <a:rect l="l" t="t" r="r" b="b"/>
                <a:pathLst>
                  <a:path w="171450" h="171450">
                    <a:moveTo>
                      <a:pt x="85725" y="171450"/>
                    </a:moveTo>
                    <a:cubicBezTo>
                      <a:pt x="133069" y="171450"/>
                      <a:pt x="171450" y="133069"/>
                      <a:pt x="171450" y="85725"/>
                    </a:cubicBezTo>
                    <a:cubicBezTo>
                      <a:pt x="171450" y="38381"/>
                      <a:pt x="133069" y="0"/>
                      <a:pt x="85725" y="0"/>
                    </a:cubicBezTo>
                    <a:cubicBezTo>
                      <a:pt x="38381" y="0"/>
                      <a:pt x="0" y="38381"/>
                      <a:pt x="0" y="85725"/>
                    </a:cubicBezTo>
                    <a:cubicBezTo>
                      <a:pt x="0" y="133069"/>
                      <a:pt x="38381" y="171450"/>
                      <a:pt x="85725" y="171450"/>
                    </a:cubicBezTo>
                    <a:close/>
                  </a:path>
                </a:pathLst>
              </a:custGeom>
              <a:solidFill>
                <a:schemeClr val="accent2"/>
              </a:solidFill>
              <a:ln>
                <a:noFill/>
              </a:ln>
            </p:spPr>
          </p:sp>
          <p:sp>
            <p:nvSpPr>
              <p:cNvPr id="10" name="Freeform 10"/>
              <p:cNvSpPr/>
              <p:nvPr/>
            </p:nvSpPr>
            <p:spPr>
              <a:xfrm>
                <a:off x="742950" y="2771775"/>
                <a:ext cx="342900" cy="171450"/>
              </a:xfrm>
              <a:custGeom>
                <a:avLst/>
                <a:gdLst/>
                <a:ahLst/>
                <a:cxnLst/>
                <a:rect l="l" t="t" r="r" b="b"/>
                <a:pathLst>
                  <a:path w="342900" h="171450">
                    <a:moveTo>
                      <a:pt x="342900" y="85725"/>
                    </a:moveTo>
                    <a:cubicBezTo>
                      <a:pt x="342900" y="38379"/>
                      <a:pt x="304521" y="0"/>
                      <a:pt x="257175" y="0"/>
                    </a:cubicBezTo>
                    <a:lnTo>
                      <a:pt x="85725" y="0"/>
                    </a:lnTo>
                    <a:cubicBezTo>
                      <a:pt x="38381" y="0"/>
                      <a:pt x="0" y="38379"/>
                      <a:pt x="0" y="85725"/>
                    </a:cubicBezTo>
                    <a:lnTo>
                      <a:pt x="0" y="171450"/>
                    </a:lnTo>
                    <a:lnTo>
                      <a:pt x="342900" y="171450"/>
                    </a:lnTo>
                    <a:lnTo>
                      <a:pt x="342900" y="85725"/>
                    </a:lnTo>
                    <a:close/>
                  </a:path>
                </a:pathLst>
              </a:custGeom>
              <a:solidFill>
                <a:schemeClr val="accent2"/>
              </a:solidFill>
              <a:ln>
                <a:noFill/>
              </a:ln>
            </p:spPr>
          </p:sp>
        </p:grpSp>
        <p:sp>
          <p:nvSpPr>
            <p:cNvPr id="12" name="TextBox 12"/>
            <p:cNvSpPr txBox="1"/>
            <p:nvPr/>
          </p:nvSpPr>
          <p:spPr>
            <a:xfrm>
              <a:off x="673608" y="3227070"/>
              <a:ext cx="14410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一 · 目标</a:t>
              </a:r>
            </a:p>
          </p:txBody>
        </p:sp>
        <p:sp>
          <p:nvSpPr>
            <p:cNvPr id="13" name="Rectangle 13"/>
            <p:cNvSpPr/>
            <p:nvPr/>
          </p:nvSpPr>
          <p:spPr>
            <a:xfrm>
              <a:off x="685800" y="3657600"/>
              <a:ext cx="571500" cy="28575"/>
            </a:xfrm>
            <a:prstGeom prst="rect">
              <a:avLst/>
            </a:prstGeom>
            <a:solidFill>
              <a:schemeClr val="accent2"/>
            </a:solidFill>
            <a:ln>
              <a:noFill/>
            </a:ln>
          </p:spPr>
        </p:sp>
        <p:sp>
          <p:nvSpPr>
            <p:cNvPr id="14" name="TextBox 14"/>
            <p:cNvSpPr txBox="1"/>
            <p:nvPr/>
          </p:nvSpPr>
          <p:spPr>
            <a:xfrm>
              <a:off x="676656" y="384429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你的账号和你手里的数据，</a:t>
              </a:r>
              <a:br/>
              <a:r>
                <a:rPr lang="zh-CN" sz="1800" dirty="0">
                  <a:solidFill>
                    <a:schemeClr val="dk1"/>
                  </a:solidFill>
                  <a:latin typeface="+mn-lt"/>
                  <a:ea typeface="+mn-ea"/>
                  <a:cs typeface="+mn-cs"/>
                </a:rPr>
                <a:t>本身就是战利品。</a:t>
              </a:r>
            </a:p>
          </p:txBody>
        </p:sp>
      </p:grpSp>
      <p:grpSp>
        <p:nvGrpSpPr>
          <p:cNvPr id="23" name="identity-channel"/>
          <p:cNvGrpSpPr/>
          <p:nvPr/>
        </p:nvGrpSpPr>
        <p:grpSpPr>
          <a:xfrm>
            <a:off x="4378833" y="2514600"/>
            <a:ext cx="2764536" cy="2005584"/>
            <a:chOff x="4378833" y="2514600"/>
            <a:chExt cx="2764536" cy="2005584"/>
          </a:xfrm>
        </p:grpSpPr>
        <p:grpSp>
          <p:nvGrpSpPr>
            <p:cNvPr id="19" name="Group 19"/>
            <p:cNvGrpSpPr/>
            <p:nvPr/>
          </p:nvGrpSpPr>
          <p:grpSpPr>
            <a:xfrm>
              <a:off x="4391025" y="2514600"/>
              <a:ext cx="457200" cy="457200"/>
              <a:chOff x="4391025" y="2514600"/>
              <a:chExt cx="457200" cy="457200"/>
            </a:xfrm>
          </p:grpSpPr>
          <p:sp>
            <p:nvSpPr>
              <p:cNvPr id="16" name="Freeform 16"/>
              <p:cNvSpPr/>
              <p:nvPr/>
            </p:nvSpPr>
            <p:spPr>
              <a:xfrm>
                <a:off x="4533900" y="2514600"/>
                <a:ext cx="314325" cy="314325"/>
              </a:xfrm>
              <a:custGeom>
                <a:avLst/>
                <a:gdLst/>
                <a:ahLst/>
                <a:cxnLst/>
                <a:rect l="l" t="t" r="r" b="b"/>
                <a:pathLst>
                  <a:path w="314325" h="314325">
                    <a:moveTo>
                      <a:pt x="58586" y="43878"/>
                    </a:moveTo>
                    <a:cubicBezTo>
                      <a:pt x="86681" y="15783"/>
                      <a:pt x="124785" y="0"/>
                      <a:pt x="164518" y="0"/>
                    </a:cubicBezTo>
                    <a:cubicBezTo>
                      <a:pt x="247254" y="0"/>
                      <a:pt x="314325" y="67072"/>
                      <a:pt x="314325" y="149808"/>
                    </a:cubicBezTo>
                    <a:cubicBezTo>
                      <a:pt x="314325" y="189540"/>
                      <a:pt x="298543" y="227644"/>
                      <a:pt x="270448" y="255739"/>
                    </a:cubicBezTo>
                    <a:lnTo>
                      <a:pt x="211861" y="314325"/>
                    </a:lnTo>
                    <a:lnTo>
                      <a:pt x="171450" y="273914"/>
                    </a:lnTo>
                    <a:lnTo>
                      <a:pt x="230037" y="215328"/>
                    </a:lnTo>
                    <a:cubicBezTo>
                      <a:pt x="247414" y="197951"/>
                      <a:pt x="257175" y="174383"/>
                      <a:pt x="257175" y="149808"/>
                    </a:cubicBezTo>
                    <a:cubicBezTo>
                      <a:pt x="257175" y="98635"/>
                      <a:pt x="215690" y="57150"/>
                      <a:pt x="164518" y="57150"/>
                    </a:cubicBezTo>
                    <a:cubicBezTo>
                      <a:pt x="139942" y="57150"/>
                      <a:pt x="116374" y="66912"/>
                      <a:pt x="98997" y="84289"/>
                    </a:cubicBezTo>
                    <a:lnTo>
                      <a:pt x="40411" y="142875"/>
                    </a:lnTo>
                    <a:lnTo>
                      <a:pt x="0" y="102464"/>
                    </a:lnTo>
                    <a:lnTo>
                      <a:pt x="58586" y="43878"/>
                    </a:lnTo>
                    <a:close/>
                  </a:path>
                </a:pathLst>
              </a:custGeom>
              <a:solidFill>
                <a:schemeClr val="accent2"/>
              </a:solidFill>
              <a:ln>
                <a:noFill/>
              </a:ln>
            </p:spPr>
          </p:sp>
          <p:sp>
            <p:nvSpPr>
              <p:cNvPr id="17" name="Freeform 17"/>
              <p:cNvSpPr/>
              <p:nvPr/>
            </p:nvSpPr>
            <p:spPr>
              <a:xfrm>
                <a:off x="4391025" y="2657475"/>
                <a:ext cx="314325" cy="314325"/>
              </a:xfrm>
              <a:custGeom>
                <a:avLst/>
                <a:gdLst/>
                <a:ahLst/>
                <a:cxnLst/>
                <a:rect l="l" t="t" r="r" b="b"/>
                <a:pathLst>
                  <a:path w="314325" h="314325">
                    <a:moveTo>
                      <a:pt x="215328" y="230037"/>
                    </a:moveTo>
                    <a:lnTo>
                      <a:pt x="273914" y="171450"/>
                    </a:lnTo>
                    <a:lnTo>
                      <a:pt x="314325" y="211861"/>
                    </a:lnTo>
                    <a:lnTo>
                      <a:pt x="255739" y="270448"/>
                    </a:lnTo>
                    <a:cubicBezTo>
                      <a:pt x="227644" y="298543"/>
                      <a:pt x="189540" y="314325"/>
                      <a:pt x="149808" y="314325"/>
                    </a:cubicBezTo>
                    <a:cubicBezTo>
                      <a:pt x="67072" y="314325"/>
                      <a:pt x="0" y="247254"/>
                      <a:pt x="0" y="164518"/>
                    </a:cubicBezTo>
                    <a:cubicBezTo>
                      <a:pt x="0" y="124785"/>
                      <a:pt x="15783" y="86681"/>
                      <a:pt x="43878" y="58586"/>
                    </a:cubicBezTo>
                    <a:lnTo>
                      <a:pt x="102464" y="0"/>
                    </a:lnTo>
                    <a:lnTo>
                      <a:pt x="142875" y="40411"/>
                    </a:lnTo>
                    <a:lnTo>
                      <a:pt x="84289" y="98997"/>
                    </a:lnTo>
                    <a:cubicBezTo>
                      <a:pt x="66912" y="116374"/>
                      <a:pt x="57150" y="139942"/>
                      <a:pt x="57150" y="164518"/>
                    </a:cubicBezTo>
                    <a:cubicBezTo>
                      <a:pt x="57150" y="215690"/>
                      <a:pt x="98635" y="257175"/>
                      <a:pt x="149808" y="257175"/>
                    </a:cubicBezTo>
                    <a:cubicBezTo>
                      <a:pt x="174383" y="257175"/>
                      <a:pt x="197951" y="247414"/>
                      <a:pt x="215328" y="230037"/>
                    </a:cubicBezTo>
                    <a:close/>
                  </a:path>
                </a:pathLst>
              </a:custGeom>
              <a:solidFill>
                <a:schemeClr val="accent2"/>
              </a:solidFill>
              <a:ln>
                <a:noFill/>
              </a:ln>
            </p:spPr>
          </p:sp>
          <p:sp>
            <p:nvSpPr>
              <p:cNvPr id="18" name="Freeform 18"/>
              <p:cNvSpPr/>
              <p:nvPr/>
            </p:nvSpPr>
            <p:spPr>
              <a:xfrm>
                <a:off x="4513694" y="2637269"/>
                <a:ext cx="211861" cy="211861"/>
              </a:xfrm>
              <a:custGeom>
                <a:avLst/>
                <a:gdLst/>
                <a:ahLst/>
                <a:cxnLst/>
                <a:rect l="l" t="t" r="r" b="b"/>
                <a:pathLst>
                  <a:path w="211861" h="211861">
                    <a:moveTo>
                      <a:pt x="40411" y="211861"/>
                    </a:moveTo>
                    <a:lnTo>
                      <a:pt x="211861" y="40411"/>
                    </a:lnTo>
                    <a:lnTo>
                      <a:pt x="171450" y="0"/>
                    </a:lnTo>
                    <a:lnTo>
                      <a:pt x="0" y="171450"/>
                    </a:lnTo>
                    <a:lnTo>
                      <a:pt x="40411" y="211861"/>
                    </a:lnTo>
                    <a:close/>
                  </a:path>
                </a:pathLst>
              </a:custGeom>
              <a:solidFill>
                <a:schemeClr val="accent2"/>
              </a:solidFill>
              <a:ln>
                <a:noFill/>
              </a:ln>
            </p:spPr>
          </p:sp>
        </p:grpSp>
        <p:sp>
          <p:nvSpPr>
            <p:cNvPr id="20" name="TextBox 20"/>
            <p:cNvSpPr txBox="1"/>
            <p:nvPr/>
          </p:nvSpPr>
          <p:spPr>
            <a:xfrm>
              <a:off x="4378833" y="3227070"/>
              <a:ext cx="14410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二 · 通道</a:t>
              </a:r>
            </a:p>
          </p:txBody>
        </p:sp>
        <p:sp>
          <p:nvSpPr>
            <p:cNvPr id="21" name="Rectangle 21"/>
            <p:cNvSpPr/>
            <p:nvPr/>
          </p:nvSpPr>
          <p:spPr>
            <a:xfrm>
              <a:off x="4391025" y="3657600"/>
              <a:ext cx="571500" cy="28575"/>
            </a:xfrm>
            <a:prstGeom prst="rect">
              <a:avLst/>
            </a:prstGeom>
            <a:solidFill>
              <a:schemeClr val="accent2"/>
            </a:solidFill>
            <a:ln>
              <a:noFill/>
            </a:ln>
          </p:spPr>
        </p:sp>
        <p:sp>
          <p:nvSpPr>
            <p:cNvPr id="22" name="TextBox 22"/>
            <p:cNvSpPr txBox="1"/>
            <p:nvPr/>
          </p:nvSpPr>
          <p:spPr>
            <a:xfrm>
              <a:off x="4381881" y="384429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攻击者要的是穿过你，</a:t>
              </a:r>
              <a:br/>
              <a:r>
                <a:rPr lang="zh-CN" sz="1800" dirty="0">
                  <a:solidFill>
                    <a:schemeClr val="dk1"/>
                  </a:solidFill>
                  <a:latin typeface="+mn-lt"/>
                  <a:ea typeface="+mn-ea"/>
                  <a:cs typeface="+mn-cs"/>
                </a:rPr>
                <a:t>去拿系统里更值钱的东西。</a:t>
              </a:r>
            </a:p>
          </p:txBody>
        </p:sp>
      </p:grpSp>
      <p:grpSp>
        <p:nvGrpSpPr>
          <p:cNvPr id="28" name="identity-defense"/>
          <p:cNvGrpSpPr/>
          <p:nvPr/>
        </p:nvGrpSpPr>
        <p:grpSpPr>
          <a:xfrm>
            <a:off x="8084058" y="2514600"/>
            <a:ext cx="2764536" cy="2005584"/>
            <a:chOff x="8084058" y="2514600"/>
            <a:chExt cx="2764536" cy="2005584"/>
          </a:xfrm>
        </p:grpSpPr>
        <p:sp>
          <p:nvSpPr>
            <p:cNvPr id="24" name="Freeform 24"/>
            <p:cNvSpPr/>
            <p:nvPr/>
          </p:nvSpPr>
          <p:spPr>
            <a:xfrm>
              <a:off x="8124825" y="2514600"/>
              <a:ext cx="400050" cy="457200"/>
            </a:xfrm>
            <a:custGeom>
              <a:avLst/>
              <a:gdLst/>
              <a:ahLst/>
              <a:cxnLst/>
              <a:rect l="l" t="t" r="r" b="b"/>
              <a:pathLst>
                <a:path w="400050" h="457200">
                  <a:moveTo>
                    <a:pt x="200025" y="457200"/>
                  </a:moveTo>
                  <a:lnTo>
                    <a:pt x="95729" y="382702"/>
                  </a:lnTo>
                  <a:cubicBezTo>
                    <a:pt x="35654" y="339791"/>
                    <a:pt x="0" y="270510"/>
                    <a:pt x="0" y="196683"/>
                  </a:cubicBezTo>
                  <a:lnTo>
                    <a:pt x="0" y="85725"/>
                  </a:lnTo>
                  <a:lnTo>
                    <a:pt x="200025" y="0"/>
                  </a:lnTo>
                  <a:lnTo>
                    <a:pt x="400050" y="85725"/>
                  </a:lnTo>
                  <a:lnTo>
                    <a:pt x="400050" y="196683"/>
                  </a:lnTo>
                  <a:cubicBezTo>
                    <a:pt x="400050" y="270510"/>
                    <a:pt x="364397" y="339791"/>
                    <a:pt x="304321" y="382702"/>
                  </a:cubicBezTo>
                  <a:lnTo>
                    <a:pt x="200025" y="457200"/>
                  </a:lnTo>
                  <a:close/>
                  <a:moveTo>
                    <a:pt x="320243" y="163081"/>
                  </a:moveTo>
                  <a:lnTo>
                    <a:pt x="279832" y="122669"/>
                  </a:lnTo>
                  <a:lnTo>
                    <a:pt x="171450" y="231051"/>
                  </a:lnTo>
                  <a:lnTo>
                    <a:pt x="120218" y="179819"/>
                  </a:lnTo>
                  <a:lnTo>
                    <a:pt x="79807" y="220231"/>
                  </a:lnTo>
                  <a:lnTo>
                    <a:pt x="171450" y="311873"/>
                  </a:lnTo>
                  <a:lnTo>
                    <a:pt x="320243" y="163081"/>
                  </a:lnTo>
                  <a:close/>
                </a:path>
              </a:pathLst>
            </a:custGeom>
            <a:solidFill>
              <a:schemeClr val="accent3"/>
            </a:solidFill>
            <a:ln>
              <a:noFill/>
            </a:ln>
          </p:spPr>
        </p:sp>
        <p:sp>
          <p:nvSpPr>
            <p:cNvPr id="25" name="TextBox 25"/>
            <p:cNvSpPr txBox="1"/>
            <p:nvPr/>
          </p:nvSpPr>
          <p:spPr>
            <a:xfrm>
              <a:off x="8084058" y="3227070"/>
              <a:ext cx="14410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三 · 防线</a:t>
              </a:r>
            </a:p>
          </p:txBody>
        </p:sp>
        <p:sp>
          <p:nvSpPr>
            <p:cNvPr id="26" name="Rectangle 26"/>
            <p:cNvSpPr/>
            <p:nvPr/>
          </p:nvSpPr>
          <p:spPr>
            <a:xfrm>
              <a:off x="8096250" y="3657600"/>
              <a:ext cx="571500" cy="28575"/>
            </a:xfrm>
            <a:prstGeom prst="rect">
              <a:avLst/>
            </a:prstGeom>
            <a:solidFill>
              <a:schemeClr val="accent3"/>
            </a:solidFill>
            <a:ln>
              <a:noFill/>
            </a:ln>
          </p:spPr>
        </p:sp>
        <p:sp>
          <p:nvSpPr>
            <p:cNvPr id="27" name="TextBox 27"/>
            <p:cNvSpPr txBox="1"/>
            <p:nvPr/>
          </p:nvSpPr>
          <p:spPr>
            <a:xfrm>
              <a:off x="8087106" y="3844290"/>
              <a:ext cx="2761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能在第一时间发现并说出</a:t>
              </a:r>
              <a:br/>
              <a:r>
                <a:rPr lang="zh-CN" sz="1800" dirty="0">
                  <a:solidFill>
                    <a:schemeClr val="dk1"/>
                  </a:solidFill>
                  <a:latin typeface="+mn-lt"/>
                  <a:ea typeface="+mn-ea"/>
                  <a:cs typeface="+mn-cs"/>
                </a:rPr>
                <a:t>异常的，通常只有当事人。</a:t>
              </a:r>
            </a:p>
          </p:txBody>
        </p:sp>
      </p:grpSp>
      <p:grpSp>
        <p:nvGrpSpPr>
          <p:cNvPr id="32" name="compile-note"/>
          <p:cNvGrpSpPr/>
          <p:nvPr/>
        </p:nvGrpSpPr>
        <p:grpSpPr>
          <a:xfrm>
            <a:off x="685800" y="4914900"/>
            <a:ext cx="6555105" cy="346901"/>
            <a:chOff x="685800" y="4914900"/>
            <a:chExt cx="6555105" cy="346901"/>
          </a:xfrm>
        </p:grpSpPr>
        <p:sp>
          <p:nvSpPr>
            <p:cNvPr id="29" name="Freeform 29"/>
            <p:cNvSpPr/>
            <p:nvPr/>
          </p:nvSpPr>
          <p:spPr>
            <a:xfrm>
              <a:off x="685800" y="4914900"/>
              <a:ext cx="723900" cy="342900"/>
            </a:xfrm>
            <a:prstGeom prst="plaque">
              <a:avLst/>
            </a:prstGeom>
            <a:solidFill>
              <a:srgbClr val="E0D9CC"/>
            </a:solidFill>
            <a:ln>
              <a:noFill/>
            </a:ln>
          </p:spPr>
        </p:sp>
        <p:sp>
          <p:nvSpPr>
            <p:cNvPr id="30" name="TextBox 30"/>
            <p:cNvSpPr txBox="1"/>
            <p:nvPr/>
          </p:nvSpPr>
          <p:spPr>
            <a:xfrm>
              <a:off x="859155" y="49977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1" name="TextBox 31"/>
            <p:cNvSpPr txBox="1"/>
            <p:nvPr/>
          </p:nvSpPr>
          <p:spPr>
            <a:xfrm>
              <a:off x="1593342" y="4997768"/>
              <a:ext cx="56475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三身份为本课依据前述通报案例与统计所作的归纳，非引自单一来源。</a:t>
              </a:r>
            </a:p>
          </p:txBody>
        </p:sp>
      </p:grpSp>
      <p:grpSp>
        <p:nvGrpSpPr>
          <p:cNvPr id="35" name="!!chapter-mark-02"/>
          <p:cNvGrpSpPr/>
          <p:nvPr/>
        </p:nvGrpSpPr>
        <p:grpSpPr>
          <a:xfrm>
            <a:off x="9836448" y="5378768"/>
            <a:ext cx="1686516" cy="930211"/>
            <a:chOff x="9836448" y="5378768"/>
            <a:chExt cx="1686516" cy="930211"/>
          </a:xfrm>
        </p:grpSpPr>
        <p:sp>
          <p:nvSpPr>
            <p:cNvPr id="33" name="TextBox 33"/>
            <p:cNvSpPr txBox="1"/>
            <p:nvPr/>
          </p:nvSpPr>
          <p:spPr>
            <a:xfrm>
              <a:off x="9836448" y="5378768"/>
              <a:ext cx="167661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账号与密码</a:t>
              </a:r>
            </a:p>
          </p:txBody>
        </p:sp>
        <p:sp>
          <p:nvSpPr>
            <p:cNvPr id="34" name="TextBox 34"/>
            <p:cNvSpPr txBox="1"/>
            <p:nvPr/>
          </p:nvSpPr>
          <p:spPr>
            <a:xfrm>
              <a:off x="10973105" y="5663565"/>
              <a:ext cx="54985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02</a:t>
              </a:r>
            </a:p>
          </p:txBody>
        </p:sp>
      </p:grpSp>
      <p:grpSp>
        <p:nvGrpSpPr>
          <p:cNvPr id="38" name="footer"/>
          <p:cNvGrpSpPr/>
          <p:nvPr/>
        </p:nvGrpSpPr>
        <p:grpSpPr>
          <a:xfrm>
            <a:off x="679704" y="6404610"/>
            <a:ext cx="10832592" cy="234696"/>
            <a:chOff x="679704" y="6404610"/>
            <a:chExt cx="10832592" cy="234696"/>
          </a:xfrm>
        </p:grpSpPr>
        <p:sp>
          <p:nvSpPr>
            <p:cNvPr id="36" name="TextBox 36"/>
            <p:cNvSpPr txBox="1"/>
            <p:nvPr/>
          </p:nvSpPr>
          <p:spPr>
            <a:xfrm>
              <a:off x="679704" y="6404610"/>
              <a:ext cx="282061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本页为本章归纳，支撑事实见 P04–P06</a:t>
              </a:r>
            </a:p>
          </p:txBody>
        </p:sp>
        <p:sp>
          <p:nvSpPr>
            <p:cNvPr id="37" name="TextBox 37"/>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07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2"/>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02</a:t>
              </a:r>
            </a:p>
          </p:txBody>
        </p:sp>
      </p:grpSp>
      <p:grpSp>
        <p:nvGrpSpPr>
          <p:cNvPr id="10" name="chapter-title"/>
          <p:cNvGrpSpPr/>
          <p:nvPr/>
        </p:nvGrpSpPr>
        <p:grpSpPr>
          <a:xfrm>
            <a:off x="3981450" y="2023110"/>
            <a:ext cx="3704844" cy="1132713"/>
            <a:chOff x="3981450" y="2023110"/>
            <a:chExt cx="3704844"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账号与密码</a:t>
              </a:r>
            </a:p>
          </p:txBody>
        </p:sp>
        <p:sp>
          <p:nvSpPr>
            <p:cNvPr id="9" name="TextBox 9"/>
            <p:cNvSpPr txBox="1"/>
            <p:nvPr/>
          </p:nvSpPr>
          <p:spPr>
            <a:xfrm>
              <a:off x="3989832" y="2745105"/>
              <a:ext cx="3696462"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先把最常被撬开的那把锁换掉</a:t>
              </a:r>
            </a:p>
          </p:txBody>
        </p:sp>
      </p:grpSp>
      <p:grpSp>
        <p:nvGrpSpPr>
          <p:cNvPr id="19" name="chapter-route"/>
          <p:cNvGrpSpPr/>
          <p:nvPr/>
        </p:nvGrpSpPr>
        <p:grpSpPr>
          <a:xfrm>
            <a:off x="4000500" y="3530918"/>
            <a:ext cx="3162300" cy="1235583"/>
            <a:chOff x="4000500" y="3530918"/>
            <a:chExt cx="3162300"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292150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你被教了十年的口令规矩，已经过期</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2558034"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短信验证码挡不住今天的攻击者</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012823"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一封钓鱼邮件的六处破绽</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钓鱼早就不只在邮箱里</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第二章 · 账号与密码</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08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你被教了十年的口令规矩，已经过期</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35" name="password-rules-compare"/>
          <p:cNvGrpSpPr/>
          <p:nvPr/>
        </p:nvGrpSpPr>
        <p:grpSpPr>
          <a:xfrm>
            <a:off x="685800" y="2114550"/>
            <a:ext cx="10820400" cy="3609975"/>
            <a:chOff x="685800" y="2114550"/>
            <a:chExt cx="10820400" cy="3609975"/>
          </a:xfrm>
        </p:grpSpPr>
        <p:sp>
          <p:nvSpPr>
            <p:cNvPr id="9" name="Rectangle 9"/>
            <p:cNvSpPr/>
            <p:nvPr/>
          </p:nvSpPr>
          <p:spPr>
            <a:xfrm>
              <a:off x="685800" y="2114550"/>
              <a:ext cx="10820400" cy="457200"/>
            </a:xfrm>
            <a:prstGeom prst="rect">
              <a:avLst/>
            </a:prstGeom>
            <a:solidFill>
              <a:schemeClr val="accent1"/>
            </a:solidFill>
            <a:ln>
              <a:noFill/>
            </a:ln>
          </p:spPr>
        </p:sp>
        <p:grpSp>
          <p:nvGrpSpPr>
            <p:cNvPr id="13" name="Group 13"/>
            <p:cNvGrpSpPr/>
            <p:nvPr/>
          </p:nvGrpSpPr>
          <p:grpSpPr>
            <a:xfrm>
              <a:off x="812292" y="2254568"/>
              <a:ext cx="9794833" cy="264033"/>
              <a:chOff x="812292" y="2254568"/>
              <a:chExt cx="9794833" cy="264033"/>
            </a:xfrm>
          </p:grpSpPr>
          <p:sp>
            <p:nvSpPr>
              <p:cNvPr id="10" name="TextBox 10"/>
              <p:cNvSpPr txBox="1"/>
              <p:nvPr/>
            </p:nvSpPr>
            <p:spPr>
              <a:xfrm>
                <a:off x="812292" y="2254568"/>
                <a:ext cx="377190"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规则</a:t>
                </a:r>
              </a:p>
            </p:txBody>
          </p:sp>
          <p:sp>
            <p:nvSpPr>
              <p:cNvPr id="11" name="TextBox 11"/>
              <p:cNvSpPr txBox="1"/>
              <p:nvPr/>
            </p:nvSpPr>
            <p:spPr>
              <a:xfrm>
                <a:off x="2717292" y="2254568"/>
                <a:ext cx="1467612"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旧规矩（已过期）</a:t>
                </a:r>
              </a:p>
            </p:txBody>
          </p:sp>
          <p:sp>
            <p:nvSpPr>
              <p:cNvPr id="12" name="TextBox 12"/>
              <p:cNvSpPr txBox="1"/>
              <p:nvPr/>
            </p:nvSpPr>
            <p:spPr>
              <a:xfrm>
                <a:off x="6527292" y="2254568"/>
                <a:ext cx="4079833"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现行要求（NIST SP 800-63B-4，2025 年 7 月）</a:t>
                </a:r>
              </a:p>
            </p:txBody>
          </p:sp>
        </p:grpSp>
        <p:grpSp>
          <p:nvGrpSpPr>
            <p:cNvPr id="29" name="Group 29"/>
            <p:cNvGrpSpPr/>
            <p:nvPr/>
          </p:nvGrpSpPr>
          <p:grpSpPr>
            <a:xfrm>
              <a:off x="812292" y="2683192"/>
              <a:ext cx="9843516" cy="3026283"/>
              <a:chOff x="812292" y="2683192"/>
              <a:chExt cx="9843516" cy="3026283"/>
            </a:xfrm>
          </p:grpSpPr>
          <p:sp>
            <p:nvSpPr>
              <p:cNvPr id="14" name="TextBox 14"/>
              <p:cNvSpPr txBox="1"/>
              <p:nvPr/>
            </p:nvSpPr>
            <p:spPr>
              <a:xfrm>
                <a:off x="812292" y="2807018"/>
                <a:ext cx="377190"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长度</a:t>
                </a:r>
              </a:p>
            </p:txBody>
          </p:sp>
          <p:sp>
            <p:nvSpPr>
              <p:cNvPr id="15" name="TextBox 15"/>
              <p:cNvSpPr txBox="1"/>
              <p:nvPr/>
            </p:nvSpPr>
            <p:spPr>
              <a:xfrm>
                <a:off x="2717292" y="2807018"/>
                <a:ext cx="713403"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8 位够用</a:t>
                </a:r>
              </a:p>
            </p:txBody>
          </p:sp>
          <p:sp>
            <p:nvSpPr>
              <p:cNvPr id="16" name="TextBox 16"/>
              <p:cNvSpPr txBox="1"/>
              <p:nvPr/>
            </p:nvSpPr>
            <p:spPr>
              <a:xfrm>
                <a:off x="6527292" y="2683192"/>
                <a:ext cx="278263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单因素口令最少 15 个字符；</a:t>
                </a:r>
                <a:br/>
                <a:r>
                  <a:rPr lang="zh-CN" sz="1350" dirty="0">
                    <a:solidFill>
                      <a:schemeClr val="dk1"/>
                    </a:solidFill>
                    <a:latin typeface="+mn-lt"/>
                    <a:ea typeface="+mn-ea"/>
                    <a:cs typeface="+mn-cs"/>
                  </a:rPr>
                  <a:t>作为多因素组成部分的最少 8 个字符</a:t>
                </a:r>
              </a:p>
            </p:txBody>
          </p:sp>
          <p:sp>
            <p:nvSpPr>
              <p:cNvPr id="17" name="TextBox 17"/>
              <p:cNvSpPr txBox="1"/>
              <p:nvPr/>
            </p:nvSpPr>
            <p:spPr>
              <a:xfrm>
                <a:off x="812292" y="3435668"/>
                <a:ext cx="7406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定期更换</a:t>
                </a:r>
              </a:p>
            </p:txBody>
          </p:sp>
          <p:sp>
            <p:nvSpPr>
              <p:cNvPr id="18" name="TextBox 18"/>
              <p:cNvSpPr txBox="1"/>
              <p:nvPr/>
            </p:nvSpPr>
            <p:spPr>
              <a:xfrm>
                <a:off x="2717292" y="3435668"/>
                <a:ext cx="1231354"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每 90 天必须改</a:t>
                </a:r>
              </a:p>
            </p:txBody>
          </p:sp>
          <p:sp>
            <p:nvSpPr>
              <p:cNvPr id="19" name="TextBox 19"/>
              <p:cNvSpPr txBox="1"/>
              <p:nvPr/>
            </p:nvSpPr>
            <p:spPr>
              <a:xfrm>
                <a:off x="6527292" y="3311842"/>
                <a:ext cx="25854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不得要求用户定期更换；</a:t>
                </a:r>
                <a:br/>
                <a:r>
                  <a:rPr lang="zh-CN" sz="1350" dirty="0">
                    <a:solidFill>
                      <a:schemeClr val="dk1"/>
                    </a:solidFill>
                    <a:latin typeface="+mn-lt"/>
                    <a:ea typeface="+mn-ea"/>
                    <a:cs typeface="+mn-cs"/>
                  </a:rPr>
                  <a:t>仅在有证据表明已泄露时强制更换</a:t>
                </a:r>
              </a:p>
            </p:txBody>
          </p:sp>
          <p:sp>
            <p:nvSpPr>
              <p:cNvPr id="20" name="TextBox 20"/>
              <p:cNvSpPr txBox="1"/>
              <p:nvPr/>
            </p:nvSpPr>
            <p:spPr>
              <a:xfrm>
                <a:off x="812292" y="4064318"/>
                <a:ext cx="7406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组合规则</a:t>
                </a:r>
              </a:p>
            </p:txBody>
          </p:sp>
          <p:sp>
            <p:nvSpPr>
              <p:cNvPr id="21" name="TextBox 21"/>
              <p:cNvSpPr txBox="1"/>
              <p:nvPr/>
            </p:nvSpPr>
            <p:spPr>
              <a:xfrm>
                <a:off x="2717292" y="4064318"/>
                <a:ext cx="2012823"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必须混合大小写数字符号</a:t>
                </a:r>
              </a:p>
            </p:txBody>
          </p:sp>
          <p:sp>
            <p:nvSpPr>
              <p:cNvPr id="22" name="TextBox 22"/>
              <p:cNvSpPr txBox="1"/>
              <p:nvPr/>
            </p:nvSpPr>
            <p:spPr>
              <a:xfrm>
                <a:off x="6527292" y="4064318"/>
                <a:ext cx="383019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不得强制组合规则（大小写、数字、符号混合）</a:t>
                </a:r>
              </a:p>
            </p:txBody>
          </p:sp>
          <p:sp>
            <p:nvSpPr>
              <p:cNvPr id="23" name="TextBox 23"/>
              <p:cNvSpPr txBox="1"/>
              <p:nvPr/>
            </p:nvSpPr>
            <p:spPr>
              <a:xfrm>
                <a:off x="812292" y="4692968"/>
                <a:ext cx="7406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泄露校验</a:t>
                </a:r>
              </a:p>
            </p:txBody>
          </p:sp>
          <p:sp>
            <p:nvSpPr>
              <p:cNvPr id="24" name="TextBox 24"/>
              <p:cNvSpPr txBox="1"/>
              <p:nvPr/>
            </p:nvSpPr>
            <p:spPr>
              <a:xfrm>
                <a:off x="2717292" y="4692968"/>
                <a:ext cx="195453"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无</a:t>
                </a:r>
              </a:p>
            </p:txBody>
          </p:sp>
          <p:sp>
            <p:nvSpPr>
              <p:cNvPr id="25" name="TextBox 25"/>
              <p:cNvSpPr txBox="1"/>
              <p:nvPr/>
            </p:nvSpPr>
            <p:spPr>
              <a:xfrm>
                <a:off x="6527292" y="4569142"/>
                <a:ext cx="41285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建立或修改口令时必须与已泄露口令黑名单完整比对，</a:t>
                </a:r>
                <a:br/>
                <a:r>
                  <a:rPr lang="zh-CN" sz="1350" dirty="0">
                    <a:solidFill>
                      <a:schemeClr val="dk1"/>
                    </a:solidFill>
                    <a:latin typeface="+mn-lt"/>
                    <a:ea typeface="+mn-ea"/>
                    <a:cs typeface="+mn-cs"/>
                  </a:rPr>
                  <a:t>命中即拒绝并告知原因</a:t>
                </a:r>
              </a:p>
            </p:txBody>
          </p:sp>
          <p:sp>
            <p:nvSpPr>
              <p:cNvPr id="26" name="TextBox 26"/>
              <p:cNvSpPr txBox="1"/>
              <p:nvPr/>
            </p:nvSpPr>
            <p:spPr>
              <a:xfrm>
                <a:off x="812292" y="5321618"/>
                <a:ext cx="7406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找回方式</a:t>
                </a:r>
              </a:p>
            </p:txBody>
          </p:sp>
          <p:sp>
            <p:nvSpPr>
              <p:cNvPr id="27" name="TextBox 27"/>
              <p:cNvSpPr txBox="1"/>
              <p:nvPr/>
            </p:nvSpPr>
            <p:spPr>
              <a:xfrm>
                <a:off x="2717292" y="5321618"/>
                <a:ext cx="1831086"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安全问题（宠物名字）</a:t>
                </a:r>
              </a:p>
            </p:txBody>
          </p:sp>
          <p:sp>
            <p:nvSpPr>
              <p:cNvPr id="28" name="TextBox 28"/>
              <p:cNvSpPr txBox="1"/>
              <p:nvPr/>
            </p:nvSpPr>
            <p:spPr>
              <a:xfrm>
                <a:off x="6527292" y="5197792"/>
                <a:ext cx="29283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不得用知识型问答选择口令，</a:t>
                </a:r>
                <a:br/>
                <a:r>
                  <a:rPr lang="zh-CN" sz="1350" dirty="0">
                    <a:solidFill>
                      <a:schemeClr val="dk1"/>
                    </a:solidFill>
                    <a:latin typeface="+mn-lt"/>
                    <a:ea typeface="+mn-ea"/>
                    <a:cs typeface="+mn-cs"/>
                  </a:rPr>
                  <a:t>不得存储可被未认证者访问的口令提示</a:t>
                </a:r>
              </a:p>
            </p:txBody>
          </p:sp>
        </p:grpSp>
        <p:sp>
          <p:nvSpPr>
            <p:cNvPr id="30" name="Line 30"/>
            <p:cNvSpPr/>
            <p:nvPr/>
          </p:nvSpPr>
          <p:spPr>
            <a:xfrm>
              <a:off x="685800" y="32004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1" name="Line 31"/>
            <p:cNvSpPr/>
            <p:nvPr/>
          </p:nvSpPr>
          <p:spPr>
            <a:xfrm>
              <a:off x="685800" y="38290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2" name="Line 32"/>
            <p:cNvSpPr/>
            <p:nvPr/>
          </p:nvSpPr>
          <p:spPr>
            <a:xfrm>
              <a:off x="685800" y="44577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3" name="Line 33"/>
            <p:cNvSpPr/>
            <p:nvPr/>
          </p:nvSpPr>
          <p:spPr>
            <a:xfrm>
              <a:off x="685800" y="50863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4" name="Line 34"/>
            <p:cNvSpPr/>
            <p:nvPr/>
          </p:nvSpPr>
          <p:spPr>
            <a:xfrm>
              <a:off x="685800" y="57150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37" name="password-takeaway"/>
          <p:cNvGrpSpPr/>
          <p:nvPr/>
        </p:nvGrpSpPr>
        <p:grpSpPr>
          <a:xfrm>
            <a:off x="675132" y="5926455"/>
            <a:ext cx="8219694" cy="410718"/>
            <a:chOff x="675132" y="5926455"/>
            <a:chExt cx="8219694" cy="410718"/>
          </a:xfrm>
        </p:grpSpPr>
        <p:sp>
          <p:nvSpPr>
            <p:cNvPr id="36" name="TextBox 36"/>
            <p:cNvSpPr txBox="1"/>
            <p:nvPr/>
          </p:nvSpPr>
          <p:spPr>
            <a:xfrm>
              <a:off x="675132" y="5926455"/>
              <a:ext cx="821969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长度优先于复杂度</a:t>
              </a:r>
              <a:r>
                <a:rPr lang="zh-CN" sz="2100" dirty="0">
                  <a:solidFill>
                    <a:schemeClr val="accent1"/>
                  </a:solidFill>
                  <a:latin typeface="+mn-lt"/>
                  <a:ea typeface="+mn-ea"/>
                  <a:cs typeface="+mn-cs"/>
                </a:rPr>
                <a:t>；不复用、不被撞库命中，比定期更换更重要。</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7276338"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来源：NIST SP 800-63B-4《数字身份指南：认证与认证器管理》，2025 年 7 月发布（F068–F072）</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09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250"/>
                                  </p:stCondLst>
                                  <p:childTnLst>
                                    <p:set>
                                      <p:cBhvr>
                                        <p:cTn id="10" dur="1" fill="hold">
                                          <p:stCondLst>
                                            <p:cond delay="0"/>
                                          </p:stCondLst>
                                        </p:cTn>
                                        <p:tgtEl>
                                          <p:spTgt spid="35"/>
                                        </p:tgtEl>
                                        <p:attrNameLst>
                                          <p:attrName>style.visibility</p:attrName>
                                        </p:attrNameLst>
                                      </p:cBhvr>
                                      <p:to>
                                        <p:strVal val="visible"/>
                                      </p:to>
                                    </p:set>
                                    <p:animEffect transition="in" filter="wipe(right)">
                                      <p:cBhvr>
                                        <p:cTn id="11" dur="1000"/>
                                        <p:tgtEl>
                                          <p:spTgt spid="35"/>
                                        </p:tgtEl>
                                      </p:cBhvr>
                                    </p:animEffect>
                                  </p:childTnLst>
                                </p:cTn>
                              </p:par>
                            </p:childTnLst>
                          </p:cTn>
                        </p:par>
                        <p:par>
                          <p:cTn id="12" fill="hold">
                            <p:stCondLst>
                              <p:cond delay="165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短信验证码挡不住今天的攻击者</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sp>
        <p:nvSpPr>
          <p:cNvPr id="9" name="Line 9"/>
          <p:cNvSpPr/>
          <p:nvPr/>
        </p:nvSpPr>
        <p:spPr>
          <a:xfrm>
            <a:off x="6572250" y="2190750"/>
            <a:ext cx="9525" cy="3143250"/>
          </a:xfrm>
          <a:custGeom>
            <a:avLst/>
            <a:gdLst/>
            <a:ahLst/>
            <a:cxnLst/>
            <a:rect l="l" t="t" r="r" b="b"/>
            <a:pathLst>
              <a:path w="9525" h="3143250">
                <a:moveTo>
                  <a:pt x="0" y="0"/>
                </a:moveTo>
                <a:lnTo>
                  <a:pt x="0" y="3143250"/>
                </a:lnTo>
              </a:path>
            </a:pathLst>
          </a:custGeom>
          <a:noFill/>
          <a:ln w="9525">
            <a:solidFill>
              <a:schemeClr val="accent6"/>
            </a:solidFill>
          </a:ln>
        </p:spPr>
      </p:sp>
      <p:grpSp>
        <p:nvGrpSpPr>
          <p:cNvPr id="13" name="bypass-vishing"/>
          <p:cNvGrpSpPr/>
          <p:nvPr/>
        </p:nvGrpSpPr>
        <p:grpSpPr>
          <a:xfrm>
            <a:off x="709612" y="2309812"/>
            <a:ext cx="4142347" cy="665989"/>
            <a:chOff x="709612" y="2309812"/>
            <a:chExt cx="4142347" cy="665989"/>
          </a:xfrm>
        </p:grpSpPr>
        <p:sp>
          <p:nvSpPr>
            <p:cNvPr id="10" name="Freeform 10"/>
            <p:cNvSpPr/>
            <p:nvPr/>
          </p:nvSpPr>
          <p:spPr>
            <a:xfrm>
              <a:off x="709612" y="2309812"/>
              <a:ext cx="333375" cy="333375"/>
            </a:xfrm>
            <a:custGeom>
              <a:avLst/>
              <a:gdLst/>
              <a:ahLst/>
              <a:cxnLst/>
              <a:rect l="l" t="t" r="r" b="b"/>
              <a:pathLst>
                <a:path w="333375" h="333375">
                  <a:moveTo>
                    <a:pt x="0" y="95250"/>
                  </a:moveTo>
                  <a:lnTo>
                    <a:pt x="0" y="0"/>
                  </a:lnTo>
                  <a:lnTo>
                    <a:pt x="142875" y="0"/>
                  </a:lnTo>
                  <a:lnTo>
                    <a:pt x="142875" y="95250"/>
                  </a:lnTo>
                  <a:lnTo>
                    <a:pt x="83344" y="154781"/>
                  </a:lnTo>
                  <a:lnTo>
                    <a:pt x="178594" y="250031"/>
                  </a:lnTo>
                  <a:lnTo>
                    <a:pt x="238125" y="190500"/>
                  </a:lnTo>
                  <a:lnTo>
                    <a:pt x="333375" y="190500"/>
                  </a:lnTo>
                  <a:lnTo>
                    <a:pt x="333375" y="333375"/>
                  </a:lnTo>
                  <a:lnTo>
                    <a:pt x="238125" y="333375"/>
                  </a:lnTo>
                  <a:cubicBezTo>
                    <a:pt x="106612" y="333375"/>
                    <a:pt x="0" y="226762"/>
                    <a:pt x="0" y="95250"/>
                  </a:cubicBezTo>
                  <a:close/>
                </a:path>
              </a:pathLst>
            </a:custGeom>
            <a:solidFill>
              <a:schemeClr val="accent2"/>
            </a:solidFill>
            <a:ln>
              <a:noFill/>
            </a:ln>
          </p:spPr>
        </p:sp>
        <p:sp>
          <p:nvSpPr>
            <p:cNvPr id="11" name="TextBox 11"/>
            <p:cNvSpPr txBox="1"/>
            <p:nvPr/>
          </p:nvSpPr>
          <p:spPr>
            <a:xfrm>
              <a:off x="1286256" y="2377440"/>
              <a:ext cx="232453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语音钓鱼（vishing）</a:t>
              </a:r>
            </a:p>
          </p:txBody>
        </p:sp>
        <p:sp>
          <p:nvSpPr>
            <p:cNvPr id="12" name="TextBox 12"/>
            <p:cNvSpPr txBox="1"/>
            <p:nvPr/>
          </p:nvSpPr>
          <p:spPr>
            <a:xfrm>
              <a:off x="1288542" y="2711768"/>
              <a:ext cx="356341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冒充 IT 服务台打来电话，引导你念出验证码</a:t>
              </a:r>
            </a:p>
          </p:txBody>
        </p:sp>
      </p:grpSp>
      <p:grpSp>
        <p:nvGrpSpPr>
          <p:cNvPr id="17" name="bypass-push"/>
          <p:cNvGrpSpPr/>
          <p:nvPr/>
        </p:nvGrpSpPr>
        <p:grpSpPr>
          <a:xfrm>
            <a:off x="685800" y="3262312"/>
            <a:ext cx="4614672" cy="665989"/>
            <a:chOff x="685800" y="3262312"/>
            <a:chExt cx="4614672" cy="665989"/>
          </a:xfrm>
        </p:grpSpPr>
        <p:sp>
          <p:nvSpPr>
            <p:cNvPr id="14" name="Freeform 14"/>
            <p:cNvSpPr/>
            <p:nvPr/>
          </p:nvSpPr>
          <p:spPr>
            <a:xfrm>
              <a:off x="685800" y="3262312"/>
              <a:ext cx="381000" cy="357188"/>
            </a:xfrm>
            <a:custGeom>
              <a:avLst/>
              <a:gdLst/>
              <a:ahLst/>
              <a:cxnLst/>
              <a:rect l="l" t="t" r="r" b="b"/>
              <a:pathLst>
                <a:path w="381000" h="357188">
                  <a:moveTo>
                    <a:pt x="0" y="0"/>
                  </a:moveTo>
                  <a:lnTo>
                    <a:pt x="381000" y="0"/>
                  </a:lnTo>
                  <a:lnTo>
                    <a:pt x="381000" y="285750"/>
                  </a:lnTo>
                  <a:lnTo>
                    <a:pt x="261938" y="285750"/>
                  </a:lnTo>
                  <a:lnTo>
                    <a:pt x="190500" y="357188"/>
                  </a:lnTo>
                  <a:lnTo>
                    <a:pt x="119062" y="285750"/>
                  </a:lnTo>
                  <a:lnTo>
                    <a:pt x="0" y="285750"/>
                  </a:lnTo>
                  <a:lnTo>
                    <a:pt x="0" y="0"/>
                  </a:lnTo>
                  <a:close/>
                </a:path>
              </a:pathLst>
            </a:custGeom>
            <a:solidFill>
              <a:schemeClr val="accent2"/>
            </a:solidFill>
            <a:ln>
              <a:noFill/>
            </a:ln>
          </p:spPr>
        </p:sp>
        <p:sp>
          <p:nvSpPr>
            <p:cNvPr id="15" name="TextBox 15"/>
            <p:cNvSpPr txBox="1"/>
            <p:nvPr/>
          </p:nvSpPr>
          <p:spPr>
            <a:xfrm>
              <a:off x="1286256" y="3329940"/>
              <a:ext cx="156554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MFA 推送轰炸</a:t>
              </a:r>
            </a:p>
          </p:txBody>
        </p:sp>
        <p:sp>
          <p:nvSpPr>
            <p:cNvPr id="16" name="TextBox 16"/>
            <p:cNvSpPr txBox="1"/>
            <p:nvPr/>
          </p:nvSpPr>
          <p:spPr>
            <a:xfrm>
              <a:off x="1288542" y="3664268"/>
              <a:ext cx="40119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连续发送认证推送，直到你为了清静按下「同意」</a:t>
              </a:r>
            </a:p>
          </p:txBody>
        </p:sp>
      </p:grpSp>
      <p:grpSp>
        <p:nvGrpSpPr>
          <p:cNvPr id="21" name="bypass-sim"/>
          <p:cNvGrpSpPr/>
          <p:nvPr/>
        </p:nvGrpSpPr>
        <p:grpSpPr>
          <a:xfrm>
            <a:off x="733425" y="4191000"/>
            <a:ext cx="4748784" cy="689801"/>
            <a:chOff x="733425" y="4191000"/>
            <a:chExt cx="4748784" cy="689801"/>
          </a:xfrm>
        </p:grpSpPr>
        <p:sp>
          <p:nvSpPr>
            <p:cNvPr id="18" name="Freeform 18"/>
            <p:cNvSpPr/>
            <p:nvPr/>
          </p:nvSpPr>
          <p:spPr>
            <a:xfrm>
              <a:off x="733425" y="4191000"/>
              <a:ext cx="285750" cy="381000"/>
            </a:xfrm>
            <a:custGeom>
              <a:avLst/>
              <a:gdLst/>
              <a:ahLst/>
              <a:cxnLst/>
              <a:rect l="l" t="t" r="r" b="b"/>
              <a:pathLst>
                <a:path w="285750" h="381000">
                  <a:moveTo>
                    <a:pt x="47625" y="0"/>
                  </a:moveTo>
                  <a:cubicBezTo>
                    <a:pt x="21322" y="0"/>
                    <a:pt x="0" y="21322"/>
                    <a:pt x="0" y="47625"/>
                  </a:cubicBezTo>
                  <a:lnTo>
                    <a:pt x="0" y="333375"/>
                  </a:lnTo>
                  <a:cubicBezTo>
                    <a:pt x="0" y="359678"/>
                    <a:pt x="21322" y="381000"/>
                    <a:pt x="47625" y="381000"/>
                  </a:cubicBezTo>
                  <a:lnTo>
                    <a:pt x="238125" y="381000"/>
                  </a:lnTo>
                  <a:cubicBezTo>
                    <a:pt x="264428" y="381000"/>
                    <a:pt x="285750" y="359678"/>
                    <a:pt x="285750" y="333375"/>
                  </a:cubicBezTo>
                  <a:lnTo>
                    <a:pt x="285750" y="47625"/>
                  </a:lnTo>
                  <a:cubicBezTo>
                    <a:pt x="285750" y="21322"/>
                    <a:pt x="264428" y="0"/>
                    <a:pt x="238125" y="0"/>
                  </a:cubicBezTo>
                  <a:lnTo>
                    <a:pt x="47625" y="0"/>
                  </a:lnTo>
                  <a:close/>
                  <a:moveTo>
                    <a:pt x="238125" y="71438"/>
                  </a:moveTo>
                  <a:lnTo>
                    <a:pt x="47625" y="71438"/>
                  </a:lnTo>
                  <a:lnTo>
                    <a:pt x="47625" y="309562"/>
                  </a:lnTo>
                  <a:lnTo>
                    <a:pt x="238125" y="309562"/>
                  </a:lnTo>
                  <a:lnTo>
                    <a:pt x="238125" y="71438"/>
                  </a:lnTo>
                  <a:close/>
                </a:path>
              </a:pathLst>
            </a:custGeom>
            <a:solidFill>
              <a:schemeClr val="accent2"/>
            </a:solidFill>
            <a:ln>
              <a:noFill/>
            </a:ln>
          </p:spPr>
        </p:sp>
        <p:sp>
          <p:nvSpPr>
            <p:cNvPr id="19" name="TextBox 19"/>
            <p:cNvSpPr txBox="1"/>
            <p:nvPr/>
          </p:nvSpPr>
          <p:spPr>
            <a:xfrm>
              <a:off x="1286256" y="4282440"/>
              <a:ext cx="12560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SIM 卡交换</a:t>
              </a:r>
            </a:p>
          </p:txBody>
        </p:sp>
        <p:sp>
          <p:nvSpPr>
            <p:cNvPr id="20" name="TextBox 20"/>
            <p:cNvSpPr txBox="1"/>
            <p:nvPr/>
          </p:nvSpPr>
          <p:spPr>
            <a:xfrm>
              <a:off x="1288542" y="4616768"/>
              <a:ext cx="41936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把你的号码转到攻击者的卡上，短信验证码直接送达</a:t>
              </a:r>
            </a:p>
          </p:txBody>
        </p:sp>
      </p:grpSp>
      <p:grpSp>
        <p:nvGrpSpPr>
          <p:cNvPr id="25" name="mgm-case"/>
          <p:cNvGrpSpPr/>
          <p:nvPr/>
        </p:nvGrpSpPr>
        <p:grpSpPr>
          <a:xfrm>
            <a:off x="6848856" y="2235518"/>
            <a:ext cx="3218688" cy="1807083"/>
            <a:chOff x="6848856" y="2235518"/>
            <a:chExt cx="3218688" cy="1807083"/>
          </a:xfrm>
        </p:grpSpPr>
        <p:sp>
          <p:nvSpPr>
            <p:cNvPr id="22" name="TextBox 22"/>
            <p:cNvSpPr txBox="1"/>
            <p:nvPr/>
          </p:nvSpPr>
          <p:spPr>
            <a:xfrm>
              <a:off x="6851142" y="2235518"/>
              <a:ext cx="387286" cy="264033"/>
            </a:xfrm>
            <a:prstGeom prst="rect">
              <a:avLst/>
            </a:prstGeom>
            <a:noFill/>
            <a:ln>
              <a:noFill/>
            </a:ln>
          </p:spPr>
          <p:txBody>
            <a:bodyPr wrap="none" lIns="0" tIns="0" rIns="0" bIns="0" anchor="t" anchorCtr="0">
              <a:spAutoFit/>
            </a:bodyPr>
            <a:lstStyle/>
            <a:p>
              <a:pPr algn="l"/>
              <a:r>
                <a:rPr lang="zh-CN" sz="1350" b="1" spc="75" dirty="0">
                  <a:solidFill>
                    <a:schemeClr val="accent2"/>
                  </a:solidFill>
                  <a:latin typeface="+mn-lt"/>
                  <a:ea typeface="+mn-ea"/>
                  <a:cs typeface="+mn-cs"/>
                </a:rPr>
                <a:t>实例</a:t>
              </a:r>
            </a:p>
          </p:txBody>
        </p:sp>
        <p:sp>
          <p:nvSpPr>
            <p:cNvPr id="23" name="TextBox 23"/>
            <p:cNvSpPr txBox="1"/>
            <p:nvPr/>
          </p:nvSpPr>
          <p:spPr>
            <a:xfrm>
              <a:off x="6848856" y="2548890"/>
              <a:ext cx="3218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拉斯维加斯 MGM、凯撒等赌场</a:t>
              </a:r>
              <a:br/>
              <a:r>
                <a:rPr lang="zh-CN" sz="1800" dirty="0">
                  <a:solidFill>
                    <a:schemeClr val="dk1"/>
                  </a:solidFill>
                  <a:latin typeface="+mn-lt"/>
                  <a:ea typeface="+mn-ea"/>
                  <a:cs typeface="+mn-cs"/>
                </a:rPr>
                <a:t>被攻破，是因为攻击者说服 IT</a:t>
              </a:r>
              <a:br/>
              <a:r>
                <a:rPr lang="zh-CN" sz="1800" dirty="0">
                  <a:solidFill>
                    <a:schemeClr val="dk1"/>
                  </a:solidFill>
                  <a:latin typeface="+mn-lt"/>
                  <a:ea typeface="+mn-ea"/>
                  <a:cs typeface="+mn-cs"/>
                </a:rPr>
                <a:t>服务台人员重置了密码和令牌。</a:t>
              </a:r>
            </a:p>
          </p:txBody>
        </p:sp>
        <p:sp>
          <p:nvSpPr>
            <p:cNvPr id="24" name="TextBox 24"/>
            <p:cNvSpPr txBox="1"/>
            <p:nvPr/>
          </p:nvSpPr>
          <p:spPr>
            <a:xfrm>
              <a:off x="6851142" y="3530918"/>
              <a:ext cx="317696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CISA·FBI 等七国机构联合预警 AA23-320A</a:t>
              </a:r>
              <a:br/>
              <a:r>
                <a:rPr lang="zh-CN" sz="1350" dirty="0">
                  <a:solidFill>
                    <a:schemeClr val="accent5"/>
                  </a:solidFill>
                  <a:latin typeface="+mn-lt"/>
                  <a:ea typeface="+mn-ea"/>
                  <a:cs typeface="+mn-cs"/>
                </a:rPr>
                <a:t>2023 年首发、2025 年修订</a:t>
              </a:r>
            </a:p>
          </p:txBody>
        </p:sp>
      </p:grpSp>
      <p:grpSp>
        <p:nvGrpSpPr>
          <p:cNvPr id="30" name="phish-resistant-mfa"/>
          <p:cNvGrpSpPr/>
          <p:nvPr/>
        </p:nvGrpSpPr>
        <p:grpSpPr>
          <a:xfrm>
            <a:off x="6858000" y="4191000"/>
            <a:ext cx="4648200" cy="1524000"/>
            <a:chOff x="6858000" y="4191000"/>
            <a:chExt cx="4648200" cy="1524000"/>
          </a:xfrm>
        </p:grpSpPr>
        <p:sp>
          <p:nvSpPr>
            <p:cNvPr id="26" name="Rectangle 26"/>
            <p:cNvSpPr/>
            <p:nvPr/>
          </p:nvSpPr>
          <p:spPr>
            <a:xfrm>
              <a:off x="6858000" y="4191000"/>
              <a:ext cx="4648200" cy="1524000"/>
            </a:xfrm>
            <a:prstGeom prst="rect">
              <a:avLst/>
            </a:prstGeom>
            <a:solidFill>
              <a:schemeClr val="accent3">
                <a:alpha val="8000"/>
              </a:schemeClr>
            </a:solidFill>
            <a:ln>
              <a:noFill/>
            </a:ln>
          </p:spPr>
        </p:sp>
        <p:sp>
          <p:nvSpPr>
            <p:cNvPr id="27" name="Rectangle 27"/>
            <p:cNvSpPr/>
            <p:nvPr/>
          </p:nvSpPr>
          <p:spPr>
            <a:xfrm>
              <a:off x="6858000" y="4191000"/>
              <a:ext cx="38100" cy="1524000"/>
            </a:xfrm>
            <a:prstGeom prst="rect">
              <a:avLst/>
            </a:prstGeom>
            <a:solidFill>
              <a:schemeClr val="accent3"/>
            </a:solidFill>
            <a:ln>
              <a:noFill/>
            </a:ln>
          </p:spPr>
        </p:sp>
        <p:sp>
          <p:nvSpPr>
            <p:cNvPr id="28" name="TextBox 28"/>
            <p:cNvSpPr txBox="1"/>
            <p:nvPr/>
          </p:nvSpPr>
          <p:spPr>
            <a:xfrm>
              <a:off x="7114032" y="4402455"/>
              <a:ext cx="3131058"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要用抗钓鱼的多因素认证</a:t>
              </a:r>
            </a:p>
          </p:txBody>
        </p:sp>
        <p:sp>
          <p:nvSpPr>
            <p:cNvPr id="29" name="TextBox 29"/>
            <p:cNvSpPr txBox="1"/>
            <p:nvPr/>
          </p:nvSpPr>
          <p:spPr>
            <a:xfrm>
              <a:off x="7115556" y="4796790"/>
              <a:ext cx="384733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FIDO/WebAuthn 或基于 PKI 的 MFA，</a:t>
              </a:r>
              <a:br/>
              <a:r>
                <a:rPr lang="zh-CN" sz="1800" dirty="0">
                  <a:solidFill>
                    <a:schemeClr val="dk1"/>
                  </a:solidFill>
                  <a:latin typeface="+mn-lt"/>
                  <a:ea typeface="+mn-ea"/>
                  <a:cs typeface="+mn-cs"/>
                </a:rPr>
                <a:t>不受推送轰炸和 SIM 卡交换影响。</a:t>
              </a:r>
            </a:p>
          </p:txBody>
        </p:sp>
      </p:grpSp>
      <p:grpSp>
        <p:nvGrpSpPr>
          <p:cNvPr id="32" name="mfa-rule"/>
          <p:cNvGrpSpPr/>
          <p:nvPr/>
        </p:nvGrpSpPr>
        <p:grpSpPr>
          <a:xfrm>
            <a:off x="675132" y="5926455"/>
            <a:ext cx="4544568" cy="410718"/>
            <a:chOff x="675132" y="5926455"/>
            <a:chExt cx="4544568" cy="410718"/>
          </a:xfrm>
        </p:grpSpPr>
        <p:sp>
          <p:nvSpPr>
            <p:cNvPr id="31" name="TextBox 31"/>
            <p:cNvSpPr txBox="1"/>
            <p:nvPr/>
          </p:nvSpPr>
          <p:spPr>
            <a:xfrm>
              <a:off x="675132" y="5926455"/>
              <a:ext cx="454456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没人有权在电话里让你</a:t>
              </a:r>
              <a:r>
                <a:rPr lang="zh-CN" sz="2100" b="1" dirty="0">
                  <a:solidFill>
                    <a:schemeClr val="accent2"/>
                  </a:solidFill>
                  <a:latin typeface="+mn-lt"/>
                  <a:ea typeface="+mn-ea"/>
                  <a:cs typeface="+mn-cs"/>
                </a:rPr>
                <a:t>念出验证码</a:t>
              </a:r>
              <a:r>
                <a:rPr lang="zh-CN" sz="2100" dirty="0">
                  <a:solidFill>
                    <a:schemeClr val="accent1"/>
                  </a:solidFill>
                  <a:latin typeface="+mn-lt"/>
                  <a:ea typeface="+mn-ea"/>
                  <a:cs typeface="+mn-cs"/>
                </a:rPr>
                <a:t>。</a:t>
              </a:r>
            </a:p>
          </p:txBody>
        </p:sp>
      </p:grpSp>
      <p:grpSp>
        <p:nvGrpSpPr>
          <p:cNvPr id="35" name="footer"/>
          <p:cNvGrpSpPr/>
          <p:nvPr/>
        </p:nvGrpSpPr>
        <p:grpSpPr>
          <a:xfrm>
            <a:off x="679704" y="6404610"/>
            <a:ext cx="10832592" cy="234696"/>
            <a:chOff x="679704" y="6404610"/>
            <a:chExt cx="10832592" cy="234696"/>
          </a:xfrm>
        </p:grpSpPr>
        <p:sp>
          <p:nvSpPr>
            <p:cNvPr id="33" name="TextBox 33"/>
            <p:cNvSpPr txBox="1"/>
            <p:nvPr/>
          </p:nvSpPr>
          <p:spPr>
            <a:xfrm>
              <a:off x="679704" y="6404610"/>
              <a:ext cx="6600596"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来源：CISA·FBI 等联合预警 AA23-320A，2023 年首发、2025 年 7 月修订（F051、F073）</a:t>
              </a:r>
            </a:p>
          </p:txBody>
        </p:sp>
        <p:sp>
          <p:nvSpPr>
            <p:cNvPr id="34" name="TextBox 34"/>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10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par>
                          <p:cTn id="20" fill="hold">
                            <p:stCondLst>
                              <p:cond delay="235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par>
                          <p:cTn id="24" fill="hold">
                            <p:stCondLst>
                              <p:cond delay="3000"/>
                            </p:stCondLst>
                            <p:childTnLst>
                              <p:par>
                                <p:cTn xmlns:p="http://schemas.openxmlformats.org/presentationml/2006/main" id="25" presetID="10" presetClass="entr" presetSubtype="0" fill="hold" grpId="0" nodeType="afterEffect">
                                  <p:stCondLst>
                                    <p:cond delay="2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par>
                          <p:cTn id="28" fill="hold">
                            <p:stCondLst>
                              <p:cond delay="365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一封钓鱼邮件的六处破绽</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40" name="phish-mail-mock"/>
          <p:cNvGrpSpPr/>
          <p:nvPr/>
        </p:nvGrpSpPr>
        <p:grpSpPr>
          <a:xfrm>
            <a:off x="685800" y="2000250"/>
            <a:ext cx="6553200" cy="3905250"/>
            <a:chOff x="685800" y="2000250"/>
            <a:chExt cx="6553200" cy="3905250"/>
          </a:xfrm>
        </p:grpSpPr>
        <p:sp>
          <p:nvSpPr>
            <p:cNvPr id="9" name="Rectangle 9"/>
            <p:cNvSpPr/>
            <p:nvPr/>
          </p:nvSpPr>
          <p:spPr>
            <a:xfrm>
              <a:off x="685800" y="2000250"/>
              <a:ext cx="6553200" cy="3905250"/>
            </a:xfrm>
            <a:prstGeom prst="rect">
              <a:avLst/>
            </a:prstGeom>
            <a:solidFill>
              <a:srgbClr val="FFFFFF"/>
            </a:solidFill>
            <a:ln w="9525">
              <a:solidFill>
                <a:schemeClr val="accent6"/>
              </a:solidFill>
            </a:ln>
          </p:spPr>
        </p:sp>
        <p:sp>
          <p:nvSpPr>
            <p:cNvPr id="10" name="Rectangle 10"/>
            <p:cNvSpPr/>
            <p:nvPr/>
          </p:nvSpPr>
          <p:spPr>
            <a:xfrm>
              <a:off x="685800" y="2000250"/>
              <a:ext cx="6553200" cy="381000"/>
            </a:xfrm>
            <a:prstGeom prst="rect">
              <a:avLst/>
            </a:prstGeom>
            <a:solidFill>
              <a:schemeClr val="lt2"/>
            </a:solidFill>
            <a:ln>
              <a:noFill/>
            </a:ln>
          </p:spPr>
        </p:sp>
        <p:sp>
          <p:nvSpPr>
            <p:cNvPr id="11" name="Ellipse 11"/>
            <p:cNvSpPr/>
            <p:nvPr/>
          </p:nvSpPr>
          <p:spPr>
            <a:xfrm>
              <a:off x="828675" y="2143125"/>
              <a:ext cx="95250" cy="95250"/>
            </a:xfrm>
            <a:prstGeom prst="ellipse">
              <a:avLst/>
            </a:prstGeom>
            <a:solidFill>
              <a:srgbClr val="C9C1B4"/>
            </a:solidFill>
            <a:ln>
              <a:noFill/>
            </a:ln>
          </p:spPr>
        </p:sp>
        <p:sp>
          <p:nvSpPr>
            <p:cNvPr id="12" name="Ellipse 12"/>
            <p:cNvSpPr/>
            <p:nvPr/>
          </p:nvSpPr>
          <p:spPr>
            <a:xfrm>
              <a:off x="1000125" y="2143125"/>
              <a:ext cx="95250" cy="95250"/>
            </a:xfrm>
            <a:prstGeom prst="ellipse">
              <a:avLst/>
            </a:prstGeom>
            <a:solidFill>
              <a:srgbClr val="C9C1B4"/>
            </a:solidFill>
            <a:ln>
              <a:noFill/>
            </a:ln>
          </p:spPr>
        </p:sp>
        <p:sp>
          <p:nvSpPr>
            <p:cNvPr id="13" name="Ellipse 13"/>
            <p:cNvSpPr/>
            <p:nvPr/>
          </p:nvSpPr>
          <p:spPr>
            <a:xfrm>
              <a:off x="1171575" y="2143125"/>
              <a:ext cx="95250" cy="95250"/>
            </a:xfrm>
            <a:prstGeom prst="ellipse">
              <a:avLst/>
            </a:prstGeom>
            <a:solidFill>
              <a:srgbClr val="C9C1B4"/>
            </a:solidFill>
            <a:ln>
              <a:noFill/>
            </a:ln>
          </p:spPr>
        </p:sp>
        <p:sp>
          <p:nvSpPr>
            <p:cNvPr id="14" name="TextBox 14"/>
            <p:cNvSpPr txBox="1"/>
            <p:nvPr/>
          </p:nvSpPr>
          <p:spPr>
            <a:xfrm>
              <a:off x="1403604" y="2118360"/>
              <a:ext cx="310576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收件箱 · 示例（非真实邮件，仅用于教学）</a:t>
              </a:r>
            </a:p>
          </p:txBody>
        </p:sp>
        <p:sp>
          <p:nvSpPr>
            <p:cNvPr id="15" name="Ellipse 15"/>
            <p:cNvSpPr/>
            <p:nvPr/>
          </p:nvSpPr>
          <p:spPr>
            <a:xfrm>
              <a:off x="790575" y="2505075"/>
              <a:ext cx="247650" cy="247650"/>
            </a:xfrm>
            <a:prstGeom prst="ellipse">
              <a:avLst/>
            </a:prstGeom>
            <a:solidFill>
              <a:schemeClr val="accent2"/>
            </a:solidFill>
            <a:ln>
              <a:noFill/>
            </a:ln>
          </p:spPr>
        </p:sp>
        <p:sp>
          <p:nvSpPr>
            <p:cNvPr id="16" name="TextBox 16"/>
            <p:cNvSpPr txBox="1"/>
            <p:nvPr/>
          </p:nvSpPr>
          <p:spPr>
            <a:xfrm>
              <a:off x="863879" y="25565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1</a:t>
              </a:r>
            </a:p>
          </p:txBody>
        </p:sp>
        <p:sp>
          <p:nvSpPr>
            <p:cNvPr id="17" name="TextBox 17"/>
            <p:cNvSpPr txBox="1"/>
            <p:nvPr/>
          </p:nvSpPr>
          <p:spPr>
            <a:xfrm>
              <a:off x="1174242" y="2540318"/>
              <a:ext cx="150670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显示名：IT 服务台</a:t>
              </a:r>
            </a:p>
          </p:txBody>
        </p:sp>
        <p:sp>
          <p:nvSpPr>
            <p:cNvPr id="18" name="Ellipse 18"/>
            <p:cNvSpPr/>
            <p:nvPr/>
          </p:nvSpPr>
          <p:spPr>
            <a:xfrm>
              <a:off x="790575" y="2847975"/>
              <a:ext cx="247650" cy="247650"/>
            </a:xfrm>
            <a:prstGeom prst="ellipse">
              <a:avLst/>
            </a:prstGeom>
            <a:solidFill>
              <a:schemeClr val="accent2"/>
            </a:solidFill>
            <a:ln>
              <a:noFill/>
            </a:ln>
          </p:spPr>
        </p:sp>
        <p:sp>
          <p:nvSpPr>
            <p:cNvPr id="19" name="TextBox 19"/>
            <p:cNvSpPr txBox="1"/>
            <p:nvPr/>
          </p:nvSpPr>
          <p:spPr>
            <a:xfrm>
              <a:off x="863879" y="28994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2</a:t>
              </a:r>
            </a:p>
          </p:txBody>
        </p:sp>
        <p:sp>
          <p:nvSpPr>
            <p:cNvPr id="20" name="TextBox 20"/>
            <p:cNvSpPr txBox="1"/>
            <p:nvPr/>
          </p:nvSpPr>
          <p:spPr>
            <a:xfrm>
              <a:off x="1174242" y="2883218"/>
              <a:ext cx="34576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实际地址：it-serv1ce@company-mail.cn</a:t>
              </a:r>
            </a:p>
          </p:txBody>
        </p:sp>
        <p:sp>
          <p:nvSpPr>
            <p:cNvPr id="21" name="Ellipse 21"/>
            <p:cNvSpPr/>
            <p:nvPr/>
          </p:nvSpPr>
          <p:spPr>
            <a:xfrm>
              <a:off x="790575" y="3228975"/>
              <a:ext cx="247650" cy="247650"/>
            </a:xfrm>
            <a:prstGeom prst="ellipse">
              <a:avLst/>
            </a:prstGeom>
            <a:solidFill>
              <a:schemeClr val="accent2"/>
            </a:solidFill>
            <a:ln>
              <a:noFill/>
            </a:ln>
          </p:spPr>
        </p:sp>
        <p:sp>
          <p:nvSpPr>
            <p:cNvPr id="22" name="TextBox 22"/>
            <p:cNvSpPr txBox="1"/>
            <p:nvPr/>
          </p:nvSpPr>
          <p:spPr>
            <a:xfrm>
              <a:off x="863879" y="32804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3</a:t>
              </a:r>
            </a:p>
          </p:txBody>
        </p:sp>
        <p:sp>
          <p:nvSpPr>
            <p:cNvPr id="23" name="TextBox 23"/>
            <p:cNvSpPr txBox="1"/>
            <p:nvPr/>
          </p:nvSpPr>
          <p:spPr>
            <a:xfrm>
              <a:off x="1174242" y="3264218"/>
              <a:ext cx="391560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主题：【紧急】24 小时内未验证将停用您的账号</a:t>
              </a:r>
            </a:p>
          </p:txBody>
        </p:sp>
        <p:sp>
          <p:nvSpPr>
            <p:cNvPr id="24" name="Line 24"/>
            <p:cNvSpPr/>
            <p:nvPr/>
          </p:nvSpPr>
          <p:spPr>
            <a:xfrm>
              <a:off x="1181100" y="3562350"/>
              <a:ext cx="5905500" cy="9525"/>
            </a:xfrm>
            <a:custGeom>
              <a:avLst/>
              <a:gdLst/>
              <a:ahLst/>
              <a:cxnLst/>
              <a:rect l="l" t="t" r="r" b="b"/>
              <a:pathLst>
                <a:path w="5905500" h="9525">
                  <a:moveTo>
                    <a:pt x="0" y="0"/>
                  </a:moveTo>
                  <a:lnTo>
                    <a:pt x="5905500" y="0"/>
                  </a:lnTo>
                </a:path>
              </a:pathLst>
            </a:custGeom>
            <a:noFill/>
            <a:ln w="9525">
              <a:solidFill>
                <a:srgbClr val="E4DED3"/>
              </a:solidFill>
            </a:ln>
          </p:spPr>
        </p:sp>
        <p:sp>
          <p:nvSpPr>
            <p:cNvPr id="25" name="TextBox 25"/>
            <p:cNvSpPr txBox="1"/>
            <p:nvPr/>
          </p:nvSpPr>
          <p:spPr>
            <a:xfrm>
              <a:off x="1174242" y="3702368"/>
              <a:ext cx="4591431"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尊敬的同事：系统检测到您的账号存在异常登录。</a:t>
              </a:r>
              <a:br/>
              <a:r>
                <a:rPr lang="zh-CN" sz="1350" dirty="0">
                  <a:solidFill>
                    <a:schemeClr val="accent5"/>
                  </a:solidFill>
                  <a:latin typeface="+mn-lt"/>
                  <a:ea typeface="+mn-ea"/>
                  <a:cs typeface="+mn-cs"/>
                </a:rPr>
                <a:t>请在 24 小时内点击下方链接完成验证，否则账号将被停用。</a:t>
              </a:r>
            </a:p>
          </p:txBody>
        </p:sp>
        <p:sp>
          <p:nvSpPr>
            <p:cNvPr id="26" name="Ellipse 26"/>
            <p:cNvSpPr/>
            <p:nvPr/>
          </p:nvSpPr>
          <p:spPr>
            <a:xfrm>
              <a:off x="790575" y="4295775"/>
              <a:ext cx="247650" cy="247650"/>
            </a:xfrm>
            <a:prstGeom prst="ellipse">
              <a:avLst/>
            </a:prstGeom>
            <a:solidFill>
              <a:schemeClr val="accent2"/>
            </a:solidFill>
            <a:ln>
              <a:noFill/>
            </a:ln>
          </p:spPr>
        </p:sp>
        <p:sp>
          <p:nvSpPr>
            <p:cNvPr id="27" name="TextBox 27"/>
            <p:cNvSpPr txBox="1"/>
            <p:nvPr/>
          </p:nvSpPr>
          <p:spPr>
            <a:xfrm>
              <a:off x="863879" y="43472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4</a:t>
              </a:r>
            </a:p>
          </p:txBody>
        </p:sp>
        <p:sp>
          <p:nvSpPr>
            <p:cNvPr id="28" name="TextBox 28"/>
            <p:cNvSpPr txBox="1"/>
            <p:nvPr/>
          </p:nvSpPr>
          <p:spPr>
            <a:xfrm>
              <a:off x="1174242" y="4331018"/>
              <a:ext cx="4420838" cy="264033"/>
            </a:xfrm>
            <a:prstGeom prst="rect">
              <a:avLst/>
            </a:prstGeom>
            <a:noFill/>
            <a:ln>
              <a:noFill/>
            </a:ln>
          </p:spPr>
          <p:txBody>
            <a:bodyPr wrap="none" lIns="0" tIns="0" rIns="0" bIns="0" anchor="t" anchorCtr="0">
              <a:spAutoFit/>
            </a:bodyPr>
            <a:lstStyle/>
            <a:p>
              <a:pPr algn="l"/>
              <a:r>
                <a:rPr lang="zh-CN" sz="1350" u="sng" dirty="0">
                  <a:solidFill>
                    <a:schemeClr val="accent3"/>
                  </a:solidFill>
                  <a:latin typeface="+mn-lt"/>
                  <a:ea typeface="+mn-ea"/>
                  <a:cs typeface="+mn-cs"/>
                </a:rPr>
                <a:t>点击这里立即验证 → https://company-verify.hl.cn</a:t>
              </a:r>
            </a:p>
          </p:txBody>
        </p:sp>
        <p:sp>
          <p:nvSpPr>
            <p:cNvPr id="29" name="Ellipse 29"/>
            <p:cNvSpPr/>
            <p:nvPr/>
          </p:nvSpPr>
          <p:spPr>
            <a:xfrm>
              <a:off x="790575" y="4829175"/>
              <a:ext cx="247650" cy="247650"/>
            </a:xfrm>
            <a:prstGeom prst="ellipse">
              <a:avLst/>
            </a:prstGeom>
            <a:solidFill>
              <a:schemeClr val="accent2"/>
            </a:solidFill>
            <a:ln>
              <a:noFill/>
            </a:ln>
          </p:spPr>
        </p:sp>
        <p:sp>
          <p:nvSpPr>
            <p:cNvPr id="30" name="TextBox 30"/>
            <p:cNvSpPr txBox="1"/>
            <p:nvPr/>
          </p:nvSpPr>
          <p:spPr>
            <a:xfrm>
              <a:off x="863879" y="48806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5</a:t>
              </a:r>
            </a:p>
          </p:txBody>
        </p:sp>
        <p:sp>
          <p:nvSpPr>
            <p:cNvPr id="31" name="Rectangle 31"/>
            <p:cNvSpPr/>
            <p:nvPr/>
          </p:nvSpPr>
          <p:spPr>
            <a:xfrm>
              <a:off x="1181100" y="4781550"/>
              <a:ext cx="3067050" cy="323850"/>
            </a:xfrm>
            <a:prstGeom prst="rect">
              <a:avLst/>
            </a:prstGeom>
            <a:solidFill>
              <a:schemeClr val="lt2"/>
            </a:solidFill>
            <a:ln>
              <a:noFill/>
            </a:ln>
          </p:spPr>
        </p:sp>
        <p:grpSp>
          <p:nvGrpSpPr>
            <p:cNvPr id="34" name="Group 34"/>
            <p:cNvGrpSpPr/>
            <p:nvPr/>
          </p:nvGrpSpPr>
          <p:grpSpPr>
            <a:xfrm>
              <a:off x="1295400" y="4867275"/>
              <a:ext cx="152400" cy="152400"/>
              <a:chOff x="1295400" y="4867275"/>
              <a:chExt cx="152400" cy="152400"/>
            </a:xfrm>
          </p:grpSpPr>
          <p:sp>
            <p:nvSpPr>
              <p:cNvPr id="32" name="Freeform 32"/>
              <p:cNvSpPr/>
              <p:nvPr/>
            </p:nvSpPr>
            <p:spPr>
              <a:xfrm>
                <a:off x="1326155" y="4867275"/>
                <a:ext cx="90889" cy="47625"/>
              </a:xfrm>
              <a:custGeom>
                <a:avLst/>
                <a:gdLst/>
                <a:ahLst/>
                <a:cxnLst/>
                <a:rect l="l" t="t" r="r" b="b"/>
                <a:pathLst>
                  <a:path w="90889" h="47625">
                    <a:moveTo>
                      <a:pt x="35920" y="0"/>
                    </a:moveTo>
                    <a:lnTo>
                      <a:pt x="35920" y="15240"/>
                    </a:lnTo>
                    <a:cubicBezTo>
                      <a:pt x="38997" y="14615"/>
                      <a:pt x="42183" y="14288"/>
                      <a:pt x="45445" y="14288"/>
                    </a:cubicBezTo>
                    <a:cubicBezTo>
                      <a:pt x="48707" y="14288"/>
                      <a:pt x="51892" y="14615"/>
                      <a:pt x="54970" y="15240"/>
                    </a:cubicBezTo>
                    <a:lnTo>
                      <a:pt x="54970" y="0"/>
                    </a:lnTo>
                    <a:lnTo>
                      <a:pt x="74020" y="0"/>
                    </a:lnTo>
                    <a:lnTo>
                      <a:pt x="74020" y="23809"/>
                    </a:lnTo>
                    <a:cubicBezTo>
                      <a:pt x="81892" y="29722"/>
                      <a:pt x="87872" y="38018"/>
                      <a:pt x="90889" y="47625"/>
                    </a:cubicBezTo>
                    <a:lnTo>
                      <a:pt x="0" y="47625"/>
                    </a:lnTo>
                    <a:cubicBezTo>
                      <a:pt x="3018" y="38018"/>
                      <a:pt x="8998" y="29722"/>
                      <a:pt x="16870" y="23809"/>
                    </a:cubicBezTo>
                    <a:lnTo>
                      <a:pt x="16870" y="0"/>
                    </a:lnTo>
                    <a:lnTo>
                      <a:pt x="35920" y="0"/>
                    </a:lnTo>
                    <a:close/>
                  </a:path>
                </a:pathLst>
              </a:custGeom>
              <a:solidFill>
                <a:schemeClr val="accent2"/>
              </a:solidFill>
              <a:ln>
                <a:noFill/>
              </a:ln>
            </p:spPr>
          </p:sp>
          <p:sp>
            <p:nvSpPr>
              <p:cNvPr id="33" name="Freeform 33"/>
              <p:cNvSpPr/>
              <p:nvPr/>
            </p:nvSpPr>
            <p:spPr>
              <a:xfrm>
                <a:off x="1295400" y="4933950"/>
                <a:ext cx="152400" cy="85725"/>
              </a:xfrm>
              <a:custGeom>
                <a:avLst/>
                <a:gdLst/>
                <a:ahLst/>
                <a:cxnLst/>
                <a:rect l="l" t="t" r="r" b="b"/>
                <a:pathLst>
                  <a:path w="152400" h="85725">
                    <a:moveTo>
                      <a:pt x="0" y="0"/>
                    </a:moveTo>
                    <a:lnTo>
                      <a:pt x="0" y="19050"/>
                    </a:lnTo>
                    <a:lnTo>
                      <a:pt x="28575" y="19050"/>
                    </a:lnTo>
                    <a:lnTo>
                      <a:pt x="28575" y="33297"/>
                    </a:lnTo>
                    <a:lnTo>
                      <a:pt x="2146" y="40848"/>
                    </a:lnTo>
                    <a:lnTo>
                      <a:pt x="7379" y="59165"/>
                    </a:lnTo>
                    <a:lnTo>
                      <a:pt x="30784" y="52478"/>
                    </a:lnTo>
                    <a:cubicBezTo>
                      <a:pt x="36880" y="71753"/>
                      <a:pt x="54908" y="85725"/>
                      <a:pt x="76200" y="85725"/>
                    </a:cubicBezTo>
                    <a:cubicBezTo>
                      <a:pt x="97491" y="85725"/>
                      <a:pt x="115520" y="71753"/>
                      <a:pt x="121616" y="52478"/>
                    </a:cubicBezTo>
                    <a:lnTo>
                      <a:pt x="145021" y="59165"/>
                    </a:lnTo>
                    <a:lnTo>
                      <a:pt x="150254" y="40848"/>
                    </a:lnTo>
                    <a:lnTo>
                      <a:pt x="123825" y="33297"/>
                    </a:lnTo>
                    <a:lnTo>
                      <a:pt x="123825" y="19050"/>
                    </a:lnTo>
                    <a:lnTo>
                      <a:pt x="152400" y="19050"/>
                    </a:lnTo>
                    <a:lnTo>
                      <a:pt x="152400" y="0"/>
                    </a:lnTo>
                    <a:lnTo>
                      <a:pt x="85725" y="0"/>
                    </a:lnTo>
                    <a:lnTo>
                      <a:pt x="85725" y="47625"/>
                    </a:lnTo>
                    <a:lnTo>
                      <a:pt x="66675" y="47625"/>
                    </a:lnTo>
                    <a:lnTo>
                      <a:pt x="66675" y="0"/>
                    </a:lnTo>
                    <a:lnTo>
                      <a:pt x="0" y="0"/>
                    </a:lnTo>
                    <a:close/>
                  </a:path>
                </a:pathLst>
              </a:custGeom>
              <a:solidFill>
                <a:schemeClr val="accent2"/>
              </a:solidFill>
              <a:ln>
                <a:noFill/>
              </a:ln>
            </p:spPr>
          </p:sp>
        </p:grpSp>
        <p:sp>
          <p:nvSpPr>
            <p:cNvPr id="35" name="TextBox 35"/>
            <p:cNvSpPr txBox="1"/>
            <p:nvPr/>
          </p:nvSpPr>
          <p:spPr>
            <a:xfrm>
              <a:off x="1517142" y="4854892"/>
              <a:ext cx="20037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账号验证说明.docx.exe</a:t>
              </a:r>
            </a:p>
          </p:txBody>
        </p:sp>
        <p:sp>
          <p:nvSpPr>
            <p:cNvPr id="36" name="TextBox 36"/>
            <p:cNvSpPr txBox="1"/>
            <p:nvPr/>
          </p:nvSpPr>
          <p:spPr>
            <a:xfrm>
              <a:off x="4393692" y="4854892"/>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（请先关闭安全提示再打开）</a:t>
              </a:r>
            </a:p>
          </p:txBody>
        </p:sp>
        <p:sp>
          <p:nvSpPr>
            <p:cNvPr id="37" name="Ellipse 37"/>
            <p:cNvSpPr/>
            <p:nvPr/>
          </p:nvSpPr>
          <p:spPr>
            <a:xfrm>
              <a:off x="790575" y="5400675"/>
              <a:ext cx="247650" cy="247650"/>
            </a:xfrm>
            <a:prstGeom prst="ellipse">
              <a:avLst/>
            </a:prstGeom>
            <a:solidFill>
              <a:schemeClr val="accent2"/>
            </a:solidFill>
            <a:ln>
              <a:noFill/>
            </a:ln>
          </p:spPr>
        </p:sp>
        <p:sp>
          <p:nvSpPr>
            <p:cNvPr id="38" name="TextBox 38"/>
            <p:cNvSpPr txBox="1"/>
            <p:nvPr/>
          </p:nvSpPr>
          <p:spPr>
            <a:xfrm>
              <a:off x="863879" y="5452110"/>
              <a:ext cx="101041"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6</a:t>
              </a:r>
            </a:p>
          </p:txBody>
        </p:sp>
        <p:sp>
          <p:nvSpPr>
            <p:cNvPr id="39" name="TextBox 39"/>
            <p:cNvSpPr txBox="1"/>
            <p:nvPr/>
          </p:nvSpPr>
          <p:spPr>
            <a:xfrm>
              <a:off x="1174242" y="5435918"/>
              <a:ext cx="1831086"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本邮件由系统自动发送</a:t>
              </a:r>
            </a:p>
          </p:txBody>
        </p:sp>
      </p:grpSp>
      <p:grpSp>
        <p:nvGrpSpPr>
          <p:cNvPr id="61" name="phish-tells"/>
          <p:cNvGrpSpPr/>
          <p:nvPr/>
        </p:nvGrpSpPr>
        <p:grpSpPr>
          <a:xfrm>
            <a:off x="7607808" y="2122170"/>
            <a:ext cx="2561844" cy="3330131"/>
            <a:chOff x="7607808" y="2122170"/>
            <a:chExt cx="2561844" cy="3330131"/>
          </a:xfrm>
        </p:grpSpPr>
        <p:sp>
          <p:nvSpPr>
            <p:cNvPr id="41" name="TextBox 41"/>
            <p:cNvSpPr txBox="1"/>
            <p:nvPr/>
          </p:nvSpPr>
          <p:spPr>
            <a:xfrm>
              <a:off x="7607808" y="212217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六处破绽</a:t>
              </a:r>
            </a:p>
          </p:txBody>
        </p:sp>
        <p:grpSp>
          <p:nvGrpSpPr>
            <p:cNvPr id="60" name="Group 60"/>
            <p:cNvGrpSpPr/>
            <p:nvPr/>
          </p:nvGrpSpPr>
          <p:grpSpPr>
            <a:xfrm>
              <a:off x="7610475" y="2676525"/>
              <a:ext cx="2559177" cy="2775776"/>
              <a:chOff x="7610475" y="2676525"/>
              <a:chExt cx="2559177" cy="2775776"/>
            </a:xfrm>
          </p:grpSpPr>
          <p:sp>
            <p:nvSpPr>
              <p:cNvPr id="42" name="Ellipse 42"/>
              <p:cNvSpPr/>
              <p:nvPr/>
            </p:nvSpPr>
            <p:spPr>
              <a:xfrm>
                <a:off x="7610475" y="2676525"/>
                <a:ext cx="247650" cy="247650"/>
              </a:xfrm>
              <a:prstGeom prst="ellipse">
                <a:avLst/>
              </a:prstGeom>
              <a:solidFill>
                <a:schemeClr val="accent1"/>
              </a:solidFill>
              <a:ln>
                <a:noFill/>
              </a:ln>
            </p:spPr>
          </p:sp>
          <p:sp>
            <p:nvSpPr>
              <p:cNvPr id="43" name="TextBox 43"/>
              <p:cNvSpPr txBox="1"/>
              <p:nvPr/>
            </p:nvSpPr>
            <p:spPr>
              <a:xfrm>
                <a:off x="7677464" y="27117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1</a:t>
                </a:r>
              </a:p>
            </p:txBody>
          </p:sp>
          <p:sp>
            <p:nvSpPr>
              <p:cNvPr id="44" name="TextBox 44"/>
              <p:cNvSpPr txBox="1"/>
              <p:nvPr/>
            </p:nvSpPr>
            <p:spPr>
              <a:xfrm>
                <a:off x="7975092" y="27117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显示名与真实地址不一致</a:t>
                </a:r>
              </a:p>
            </p:txBody>
          </p:sp>
          <p:sp>
            <p:nvSpPr>
              <p:cNvPr id="45" name="Ellipse 45"/>
              <p:cNvSpPr/>
              <p:nvPr/>
            </p:nvSpPr>
            <p:spPr>
              <a:xfrm>
                <a:off x="7610475" y="3171825"/>
                <a:ext cx="247650" cy="247650"/>
              </a:xfrm>
              <a:prstGeom prst="ellipse">
                <a:avLst/>
              </a:prstGeom>
              <a:solidFill>
                <a:schemeClr val="accent1"/>
              </a:solidFill>
              <a:ln>
                <a:noFill/>
              </a:ln>
            </p:spPr>
          </p:sp>
          <p:sp>
            <p:nvSpPr>
              <p:cNvPr id="46" name="TextBox 46"/>
              <p:cNvSpPr txBox="1"/>
              <p:nvPr/>
            </p:nvSpPr>
            <p:spPr>
              <a:xfrm>
                <a:off x="7677464" y="32070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2</a:t>
                </a:r>
              </a:p>
            </p:txBody>
          </p:sp>
          <p:sp>
            <p:nvSpPr>
              <p:cNvPr id="47" name="TextBox 47"/>
              <p:cNvSpPr txBox="1"/>
              <p:nvPr/>
            </p:nvSpPr>
            <p:spPr>
              <a:xfrm>
                <a:off x="7975092" y="32070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发件域名字母重复或错拼</a:t>
                </a:r>
              </a:p>
            </p:txBody>
          </p:sp>
          <p:sp>
            <p:nvSpPr>
              <p:cNvPr id="48" name="Ellipse 48"/>
              <p:cNvSpPr/>
              <p:nvPr/>
            </p:nvSpPr>
            <p:spPr>
              <a:xfrm>
                <a:off x="7610475" y="3667125"/>
                <a:ext cx="247650" cy="247650"/>
              </a:xfrm>
              <a:prstGeom prst="ellipse">
                <a:avLst/>
              </a:prstGeom>
              <a:solidFill>
                <a:schemeClr val="accent1"/>
              </a:solidFill>
              <a:ln>
                <a:noFill/>
              </a:ln>
            </p:spPr>
          </p:sp>
          <p:sp>
            <p:nvSpPr>
              <p:cNvPr id="49" name="TextBox 49"/>
              <p:cNvSpPr txBox="1"/>
              <p:nvPr/>
            </p:nvSpPr>
            <p:spPr>
              <a:xfrm>
                <a:off x="7677464" y="37023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3</a:t>
                </a:r>
              </a:p>
            </p:txBody>
          </p:sp>
          <p:sp>
            <p:nvSpPr>
              <p:cNvPr id="50" name="TextBox 50"/>
              <p:cNvSpPr txBox="1"/>
              <p:nvPr/>
            </p:nvSpPr>
            <p:spPr>
              <a:xfrm>
                <a:off x="7975092" y="37023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制造时限压力的主题</a:t>
                </a:r>
              </a:p>
            </p:txBody>
          </p:sp>
          <p:sp>
            <p:nvSpPr>
              <p:cNvPr id="51" name="Ellipse 51"/>
              <p:cNvSpPr/>
              <p:nvPr/>
            </p:nvSpPr>
            <p:spPr>
              <a:xfrm>
                <a:off x="7610475" y="4162425"/>
                <a:ext cx="247650" cy="247650"/>
              </a:xfrm>
              <a:prstGeom prst="ellipse">
                <a:avLst/>
              </a:prstGeom>
              <a:solidFill>
                <a:schemeClr val="accent1"/>
              </a:solidFill>
              <a:ln>
                <a:noFill/>
              </a:ln>
            </p:spPr>
          </p:sp>
          <p:sp>
            <p:nvSpPr>
              <p:cNvPr id="52" name="TextBox 52"/>
              <p:cNvSpPr txBox="1"/>
              <p:nvPr/>
            </p:nvSpPr>
            <p:spPr>
              <a:xfrm>
                <a:off x="7677464" y="41976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4</a:t>
                </a:r>
              </a:p>
            </p:txBody>
          </p:sp>
          <p:sp>
            <p:nvSpPr>
              <p:cNvPr id="53" name="TextBox 53"/>
              <p:cNvSpPr txBox="1"/>
              <p:nvPr/>
            </p:nvSpPr>
            <p:spPr>
              <a:xfrm>
                <a:off x="7975092" y="41976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链接文字与实际指向不符</a:t>
                </a:r>
              </a:p>
            </p:txBody>
          </p:sp>
          <p:sp>
            <p:nvSpPr>
              <p:cNvPr id="54" name="Ellipse 54"/>
              <p:cNvSpPr/>
              <p:nvPr/>
            </p:nvSpPr>
            <p:spPr>
              <a:xfrm>
                <a:off x="7610475" y="4657725"/>
                <a:ext cx="247650" cy="247650"/>
              </a:xfrm>
              <a:prstGeom prst="ellipse">
                <a:avLst/>
              </a:prstGeom>
              <a:solidFill>
                <a:schemeClr val="accent1"/>
              </a:solidFill>
              <a:ln>
                <a:noFill/>
              </a:ln>
            </p:spPr>
          </p:sp>
          <p:sp>
            <p:nvSpPr>
              <p:cNvPr id="55" name="TextBox 55"/>
              <p:cNvSpPr txBox="1"/>
              <p:nvPr/>
            </p:nvSpPr>
            <p:spPr>
              <a:xfrm>
                <a:off x="7677464" y="46929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5</a:t>
                </a:r>
              </a:p>
            </p:txBody>
          </p:sp>
          <p:sp>
            <p:nvSpPr>
              <p:cNvPr id="56" name="TextBox 56"/>
              <p:cNvSpPr txBox="1"/>
              <p:nvPr/>
            </p:nvSpPr>
            <p:spPr>
              <a:xfrm>
                <a:off x="7975092" y="469296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要求先关掉安全提示的附件</a:t>
                </a:r>
              </a:p>
            </p:txBody>
          </p:sp>
          <p:sp>
            <p:nvSpPr>
              <p:cNvPr id="57" name="Ellipse 57"/>
              <p:cNvSpPr/>
              <p:nvPr/>
            </p:nvSpPr>
            <p:spPr>
              <a:xfrm>
                <a:off x="7610475" y="5153025"/>
                <a:ext cx="247650" cy="247650"/>
              </a:xfrm>
              <a:prstGeom prst="ellipse">
                <a:avLst/>
              </a:prstGeom>
              <a:solidFill>
                <a:schemeClr val="accent1"/>
              </a:solidFill>
              <a:ln>
                <a:noFill/>
              </a:ln>
            </p:spPr>
          </p:sp>
          <p:sp>
            <p:nvSpPr>
              <p:cNvPr id="58" name="TextBox 58"/>
              <p:cNvSpPr txBox="1"/>
              <p:nvPr/>
            </p:nvSpPr>
            <p:spPr>
              <a:xfrm>
                <a:off x="7677464" y="51882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6</a:t>
                </a:r>
              </a:p>
            </p:txBody>
          </p:sp>
          <p:sp>
            <p:nvSpPr>
              <p:cNvPr id="59" name="TextBox 59"/>
              <p:cNvSpPr txBox="1"/>
              <p:nvPr/>
            </p:nvSpPr>
            <p:spPr>
              <a:xfrm>
                <a:off x="7975092" y="518826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页脚缺少可核对的组织信息</a:t>
                </a:r>
              </a:p>
            </p:txBody>
          </p:sp>
        </p:grpSp>
      </p:grpSp>
      <p:grpSp>
        <p:nvGrpSpPr>
          <p:cNvPr id="63" name="phish-action"/>
          <p:cNvGrpSpPr/>
          <p:nvPr/>
        </p:nvGrpSpPr>
        <p:grpSpPr>
          <a:xfrm>
            <a:off x="7610856" y="5615940"/>
            <a:ext cx="3447288" cy="675894"/>
            <a:chOff x="7610856" y="5615940"/>
            <a:chExt cx="3447288" cy="675894"/>
          </a:xfrm>
        </p:grpSpPr>
        <p:sp>
          <p:nvSpPr>
            <p:cNvPr id="62" name="TextBox 62"/>
            <p:cNvSpPr txBox="1"/>
            <p:nvPr/>
          </p:nvSpPr>
          <p:spPr>
            <a:xfrm>
              <a:off x="7610856" y="5615940"/>
              <a:ext cx="34472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看不准就不点；转给安全负责人，</a:t>
              </a:r>
              <a:br/>
              <a:r>
                <a:rPr lang="zh-CN" sz="1800" dirty="0">
                  <a:solidFill>
                    <a:schemeClr val="dk1"/>
                  </a:solidFill>
                  <a:latin typeface="+mn-lt"/>
                  <a:ea typeface="+mn-ea"/>
                  <a:cs typeface="+mn-cs"/>
                </a:rPr>
                <a:t>比自己验证安全。</a:t>
              </a:r>
            </a:p>
          </p:txBody>
        </p:sp>
      </p:grpSp>
      <p:grpSp>
        <p:nvGrpSpPr>
          <p:cNvPr id="67" name="compile-note"/>
          <p:cNvGrpSpPr/>
          <p:nvPr/>
        </p:nvGrpSpPr>
        <p:grpSpPr>
          <a:xfrm>
            <a:off x="685800" y="6000750"/>
            <a:ext cx="4522394" cy="327851"/>
            <a:chOff x="685800" y="6000750"/>
            <a:chExt cx="4522394" cy="327851"/>
          </a:xfrm>
        </p:grpSpPr>
        <p:sp>
          <p:nvSpPr>
            <p:cNvPr id="64" name="Freeform 64"/>
            <p:cNvSpPr/>
            <p:nvPr/>
          </p:nvSpPr>
          <p:spPr>
            <a:xfrm>
              <a:off x="685800" y="6000750"/>
              <a:ext cx="723900" cy="304800"/>
            </a:xfrm>
            <a:prstGeom prst="plaque">
              <a:avLst/>
            </a:prstGeom>
            <a:solidFill>
              <a:srgbClr val="E0D9CC"/>
            </a:solidFill>
            <a:ln>
              <a:noFill/>
            </a:ln>
          </p:spPr>
        </p:sp>
        <p:sp>
          <p:nvSpPr>
            <p:cNvPr id="65" name="TextBox 65"/>
            <p:cNvSpPr txBox="1"/>
            <p:nvPr/>
          </p:nvSpPr>
          <p:spPr>
            <a:xfrm>
              <a:off x="859155" y="60645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66" name="TextBox 66"/>
            <p:cNvSpPr txBox="1"/>
            <p:nvPr/>
          </p:nvSpPr>
          <p:spPr>
            <a:xfrm>
              <a:off x="1593342" y="6064568"/>
              <a:ext cx="36148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六处破绽依据 CNCERT 与 CISA 公开提示归纳</a:t>
              </a:r>
            </a:p>
          </p:txBody>
        </p:sp>
      </p:grpSp>
      <p:grpSp>
        <p:nvGrpSpPr>
          <p:cNvPr id="70" name="footer"/>
          <p:cNvGrpSpPr/>
          <p:nvPr/>
        </p:nvGrpSpPr>
        <p:grpSpPr>
          <a:xfrm>
            <a:off x="679704" y="6404610"/>
            <a:ext cx="10832592" cy="234696"/>
            <a:chOff x="679704" y="6404610"/>
            <a:chExt cx="10832592" cy="234696"/>
          </a:xfrm>
        </p:grpSpPr>
        <p:sp>
          <p:nvSpPr>
            <p:cNvPr id="68" name="TextBox 68"/>
            <p:cNvSpPr txBox="1"/>
            <p:nvPr/>
          </p:nvSpPr>
          <p:spPr>
            <a:xfrm>
              <a:off x="679704" y="6404610"/>
              <a:ext cx="6724955"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来源：CNCERT 2026 年 5 月风险提示（F074、F050）；CISA·FBI 预警 AA23-320A（F051）</a:t>
              </a:r>
            </a:p>
          </p:txBody>
        </p:sp>
        <p:sp>
          <p:nvSpPr>
            <p:cNvPr id="69" name="TextBox 6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11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600"/>
                                        <p:tgtEl>
                                          <p:spTgt spid="40"/>
                                        </p:tgtEl>
                                      </p:cBhvr>
                                    </p:animEffect>
                                  </p:childTnLst>
                                </p:cTn>
                              </p:par>
                            </p:childTnLst>
                          </p:cTn>
                        </p:par>
                        <p:par>
                          <p:cTn id="12" fill="hold">
                            <p:stCondLst>
                              <p:cond delay="1250"/>
                            </p:stCondLst>
                            <p:childTnLst>
                              <p:par>
                                <p:cTn xmlns:p="http://schemas.openxmlformats.org/presentationml/2006/main" id="13" presetID="22" presetClass="entr" presetSubtype="4" fill="hold" grpId="0" nodeType="afterEffect">
                                  <p:stCondLst>
                                    <p:cond delay="250"/>
                                  </p:stCondLst>
                                  <p:childTnLst>
                                    <p:set>
                                      <p:cBhvr>
                                        <p:cTn id="14" dur="1" fill="hold">
                                          <p:stCondLst>
                                            <p:cond delay="0"/>
                                          </p:stCondLst>
                                        </p:cTn>
                                        <p:tgtEl>
                                          <p:spTgt spid="61"/>
                                        </p:tgtEl>
                                        <p:attrNameLst>
                                          <p:attrName>style.visibility</p:attrName>
                                        </p:attrNameLst>
                                      </p:cBhvr>
                                      <p:to>
                                        <p:strVal val="visible"/>
                                      </p:to>
                                    </p:set>
                                    <p:animEffect transition="in" filter="wipe(down)">
                                      <p:cBhvr>
                                        <p:cTn id="15" dur="900"/>
                                        <p:tgtEl>
                                          <p:spTgt spid="61"/>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500"/>
                                        <p:tgtEl>
                                          <p:spTgt spid="63"/>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钓鱼早就不只在邮箱里</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2" name="channel-voice-sms"/>
          <p:cNvGrpSpPr/>
          <p:nvPr/>
        </p:nvGrpSpPr>
        <p:grpSpPr>
          <a:xfrm>
            <a:off x="676656" y="2021681"/>
            <a:ext cx="2416302" cy="1563720"/>
            <a:chOff x="676656" y="2021681"/>
            <a:chExt cx="2416302" cy="1563720"/>
          </a:xfrm>
        </p:grpSpPr>
        <p:sp>
          <p:nvSpPr>
            <p:cNvPr id="9" name="Freeform 9"/>
            <p:cNvSpPr/>
            <p:nvPr/>
          </p:nvSpPr>
          <p:spPr>
            <a:xfrm>
              <a:off x="707231" y="2021681"/>
              <a:ext cx="300038" cy="300038"/>
            </a:xfrm>
            <a:custGeom>
              <a:avLst/>
              <a:gdLst/>
              <a:ahLst/>
              <a:cxnLst/>
              <a:rect l="l" t="t" r="r" b="b"/>
              <a:pathLst>
                <a:path w="300038" h="300038">
                  <a:moveTo>
                    <a:pt x="0" y="85725"/>
                  </a:moveTo>
                  <a:lnTo>
                    <a:pt x="0" y="0"/>
                  </a:lnTo>
                  <a:lnTo>
                    <a:pt x="128588" y="0"/>
                  </a:lnTo>
                  <a:lnTo>
                    <a:pt x="128588" y="85725"/>
                  </a:lnTo>
                  <a:lnTo>
                    <a:pt x="75009" y="139303"/>
                  </a:lnTo>
                  <a:lnTo>
                    <a:pt x="160734" y="225028"/>
                  </a:lnTo>
                  <a:lnTo>
                    <a:pt x="214312" y="171450"/>
                  </a:lnTo>
                  <a:lnTo>
                    <a:pt x="300038" y="171450"/>
                  </a:lnTo>
                  <a:lnTo>
                    <a:pt x="300038" y="300038"/>
                  </a:lnTo>
                  <a:lnTo>
                    <a:pt x="214312" y="300038"/>
                  </a:lnTo>
                  <a:cubicBezTo>
                    <a:pt x="95951" y="300038"/>
                    <a:pt x="0" y="204086"/>
                    <a:pt x="0" y="85725"/>
                  </a:cubicBezTo>
                  <a:close/>
                </a:path>
              </a:pathLst>
            </a:custGeom>
            <a:solidFill>
              <a:schemeClr val="accent2"/>
            </a:solidFill>
            <a:ln>
              <a:noFill/>
            </a:ln>
          </p:spPr>
        </p:sp>
        <p:sp>
          <p:nvSpPr>
            <p:cNvPr id="10" name="TextBox 10"/>
            <p:cNvSpPr txBox="1"/>
            <p:nvPr/>
          </p:nvSpPr>
          <p:spPr>
            <a:xfrm>
              <a:off x="676656" y="24726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语音与短信</a:t>
              </a:r>
            </a:p>
          </p:txBody>
        </p:sp>
        <p:sp>
          <p:nvSpPr>
            <p:cNvPr id="11" name="TextBox 11"/>
            <p:cNvSpPr txBox="1"/>
            <p:nvPr/>
          </p:nvSpPr>
          <p:spPr>
            <a:xfrm>
              <a:off x="678942" y="2826068"/>
              <a:ext cx="24140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钓鱼演练中，语音和短信等移动</a:t>
              </a:r>
              <a:br/>
              <a:r>
                <a:rPr lang="zh-CN" sz="1350" dirty="0">
                  <a:solidFill>
                    <a:schemeClr val="accent5"/>
                  </a:solidFill>
                  <a:latin typeface="+mn-lt"/>
                  <a:ea typeface="+mn-ea"/>
                  <a:cs typeface="+mn-cs"/>
                </a:rPr>
                <a:t>端渠道的成功点击率中位数，</a:t>
              </a:r>
              <a:br/>
              <a:r>
                <a:rPr lang="zh-CN" sz="1350" dirty="0">
                  <a:solidFill>
                    <a:schemeClr val="accent5"/>
                  </a:solidFill>
                  <a:latin typeface="+mn-lt"/>
                  <a:ea typeface="+mn-ea"/>
                  <a:cs typeface="+mn-cs"/>
                </a:rPr>
                <a:t>比电子邮件渠道高 40%。</a:t>
              </a:r>
            </a:p>
          </p:txBody>
        </p:sp>
      </p:grpSp>
      <p:grpSp>
        <p:nvGrpSpPr>
          <p:cNvPr id="16" name="channel-search"/>
          <p:cNvGrpSpPr/>
          <p:nvPr/>
        </p:nvGrpSpPr>
        <p:grpSpPr>
          <a:xfrm>
            <a:off x="4381881" y="2000250"/>
            <a:ext cx="2947797" cy="1585151"/>
            <a:chOff x="4381881" y="2000250"/>
            <a:chExt cx="2947797" cy="1585151"/>
          </a:xfrm>
        </p:grpSpPr>
        <p:sp>
          <p:nvSpPr>
            <p:cNvPr id="13" name="Freeform 13"/>
            <p:cNvSpPr/>
            <p:nvPr/>
          </p:nvSpPr>
          <p:spPr>
            <a:xfrm>
              <a:off x="4391025" y="2000250"/>
              <a:ext cx="336623" cy="336623"/>
            </a:xfrm>
            <a:custGeom>
              <a:avLst/>
              <a:gdLst/>
              <a:ahLst/>
              <a:cxnLst/>
              <a:rect l="l" t="t" r="r" b="b"/>
              <a:pathLst>
                <a:path w="336623" h="336623">
                  <a:moveTo>
                    <a:pt x="239863" y="270171"/>
                  </a:moveTo>
                  <a:cubicBezTo>
                    <a:pt x="214818" y="288928"/>
                    <a:pt x="183716" y="300038"/>
                    <a:pt x="150019" y="300038"/>
                  </a:cubicBezTo>
                  <a:cubicBezTo>
                    <a:pt x="67166" y="300038"/>
                    <a:pt x="0" y="232872"/>
                    <a:pt x="0" y="150019"/>
                  </a:cubicBezTo>
                  <a:cubicBezTo>
                    <a:pt x="0" y="67166"/>
                    <a:pt x="67166" y="0"/>
                    <a:pt x="150019" y="0"/>
                  </a:cubicBezTo>
                  <a:cubicBezTo>
                    <a:pt x="232872" y="0"/>
                    <a:pt x="300038" y="67166"/>
                    <a:pt x="300038" y="150019"/>
                  </a:cubicBezTo>
                  <a:cubicBezTo>
                    <a:pt x="300038" y="183716"/>
                    <a:pt x="288928" y="214818"/>
                    <a:pt x="270171" y="239863"/>
                  </a:cubicBezTo>
                  <a:lnTo>
                    <a:pt x="336623" y="306315"/>
                  </a:lnTo>
                  <a:lnTo>
                    <a:pt x="306315" y="336623"/>
                  </a:lnTo>
                  <a:lnTo>
                    <a:pt x="239863" y="270171"/>
                  </a:lnTo>
                  <a:close/>
                  <a:moveTo>
                    <a:pt x="119710" y="180327"/>
                  </a:moveTo>
                  <a:lnTo>
                    <a:pt x="89402" y="210636"/>
                  </a:lnTo>
                  <a:cubicBezTo>
                    <a:pt x="55924" y="177158"/>
                    <a:pt x="55924" y="122880"/>
                    <a:pt x="89402" y="89402"/>
                  </a:cubicBezTo>
                  <a:cubicBezTo>
                    <a:pt x="122880" y="55924"/>
                    <a:pt x="177158" y="55924"/>
                    <a:pt x="210636" y="89402"/>
                  </a:cubicBezTo>
                  <a:lnTo>
                    <a:pt x="180327" y="119710"/>
                  </a:lnTo>
                  <a:cubicBezTo>
                    <a:pt x="163588" y="102972"/>
                    <a:pt x="136449" y="102972"/>
                    <a:pt x="119710" y="119710"/>
                  </a:cubicBezTo>
                  <a:cubicBezTo>
                    <a:pt x="102972" y="136449"/>
                    <a:pt x="102972" y="163588"/>
                    <a:pt x="119710" y="180327"/>
                  </a:cubicBezTo>
                  <a:close/>
                </a:path>
              </a:pathLst>
            </a:custGeom>
            <a:solidFill>
              <a:schemeClr val="accent2"/>
            </a:solidFill>
            <a:ln>
              <a:noFill/>
            </a:ln>
          </p:spPr>
        </p:sp>
        <p:sp>
          <p:nvSpPr>
            <p:cNvPr id="14" name="TextBox 14"/>
            <p:cNvSpPr txBox="1"/>
            <p:nvPr/>
          </p:nvSpPr>
          <p:spPr>
            <a:xfrm>
              <a:off x="4381881" y="24726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搜索结果</a:t>
              </a:r>
            </a:p>
          </p:txBody>
        </p:sp>
        <p:sp>
          <p:nvSpPr>
            <p:cNvPr id="15" name="TextBox 15"/>
            <p:cNvSpPr txBox="1"/>
            <p:nvPr/>
          </p:nvSpPr>
          <p:spPr>
            <a:xfrm>
              <a:off x="4384167" y="2826068"/>
              <a:ext cx="2945511"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黑产通过 bing 搜索 SEO 投递高</a:t>
              </a:r>
              <a:br/>
              <a:r>
                <a:rPr lang="zh-CN" sz="1350" dirty="0">
                  <a:solidFill>
                    <a:schemeClr val="accent5"/>
                  </a:solidFill>
                  <a:latin typeface="+mn-lt"/>
                  <a:ea typeface="+mn-ea"/>
                  <a:cs typeface="+mn-cs"/>
                </a:rPr>
                <a:t>仿真钓鱼站点，并检测 refer 头</a:t>
              </a:r>
              <a:br/>
              <a:r>
                <a:rPr lang="zh-CN" sz="1350" dirty="0">
                  <a:solidFill>
                    <a:schemeClr val="accent5"/>
                  </a:solidFill>
                  <a:latin typeface="+mn-lt"/>
                  <a:ea typeface="+mn-ea"/>
                  <a:cs typeface="+mn-cs"/>
                </a:rPr>
                <a:t>规避分析——搜出来的下载站也是入口。</a:t>
              </a:r>
            </a:p>
          </p:txBody>
        </p:sp>
      </p:grpSp>
      <p:grpSp>
        <p:nvGrpSpPr>
          <p:cNvPr id="22" name="channel-fake-software"/>
          <p:cNvGrpSpPr/>
          <p:nvPr/>
        </p:nvGrpSpPr>
        <p:grpSpPr>
          <a:xfrm>
            <a:off x="8087106" y="2021681"/>
            <a:ext cx="2596324" cy="1563720"/>
            <a:chOff x="8087106" y="2021681"/>
            <a:chExt cx="2596324" cy="1563720"/>
          </a:xfrm>
        </p:grpSpPr>
        <p:grpSp>
          <p:nvGrpSpPr>
            <p:cNvPr id="19" name="Group 19"/>
            <p:cNvGrpSpPr/>
            <p:nvPr/>
          </p:nvGrpSpPr>
          <p:grpSpPr>
            <a:xfrm>
              <a:off x="8096250" y="2021681"/>
              <a:ext cx="342900" cy="300038"/>
              <a:chOff x="8096250" y="2021681"/>
              <a:chExt cx="342900" cy="300038"/>
            </a:xfrm>
          </p:grpSpPr>
          <p:sp>
            <p:nvSpPr>
              <p:cNvPr id="17" name="Freeform 17"/>
              <p:cNvSpPr/>
              <p:nvPr/>
            </p:nvSpPr>
            <p:spPr>
              <a:xfrm>
                <a:off x="8139112" y="2021681"/>
                <a:ext cx="257175" cy="171450"/>
              </a:xfrm>
              <a:custGeom>
                <a:avLst/>
                <a:gdLst/>
                <a:ahLst/>
                <a:cxnLst/>
                <a:rect l="l" t="t" r="r" b="b"/>
                <a:pathLst>
                  <a:path w="257175" h="171450">
                    <a:moveTo>
                      <a:pt x="0" y="0"/>
                    </a:moveTo>
                    <a:lnTo>
                      <a:pt x="257175" y="0"/>
                    </a:lnTo>
                    <a:lnTo>
                      <a:pt x="257175" y="171450"/>
                    </a:lnTo>
                    <a:lnTo>
                      <a:pt x="0" y="171450"/>
                    </a:lnTo>
                    <a:lnTo>
                      <a:pt x="0" y="0"/>
                    </a:lnTo>
                    <a:close/>
                    <a:moveTo>
                      <a:pt x="42862" y="42862"/>
                    </a:moveTo>
                    <a:lnTo>
                      <a:pt x="214312" y="42862"/>
                    </a:lnTo>
                    <a:lnTo>
                      <a:pt x="214312" y="128588"/>
                    </a:lnTo>
                    <a:lnTo>
                      <a:pt x="42862" y="128588"/>
                    </a:lnTo>
                    <a:lnTo>
                      <a:pt x="42862" y="42862"/>
                    </a:lnTo>
                    <a:close/>
                  </a:path>
                </a:pathLst>
              </a:custGeom>
              <a:solidFill>
                <a:schemeClr val="accent2"/>
              </a:solidFill>
              <a:ln>
                <a:noFill/>
              </a:ln>
            </p:spPr>
          </p:sp>
          <p:sp>
            <p:nvSpPr>
              <p:cNvPr id="18" name="Freeform 18"/>
              <p:cNvSpPr/>
              <p:nvPr/>
            </p:nvSpPr>
            <p:spPr>
              <a:xfrm>
                <a:off x="8096250" y="2235994"/>
                <a:ext cx="342900" cy="85725"/>
              </a:xfrm>
              <a:custGeom>
                <a:avLst/>
                <a:gdLst/>
                <a:ahLst/>
                <a:cxnLst/>
                <a:rect l="l" t="t" r="r" b="b"/>
                <a:pathLst>
                  <a:path w="342900" h="85725">
                    <a:moveTo>
                      <a:pt x="42862" y="0"/>
                    </a:moveTo>
                    <a:lnTo>
                      <a:pt x="0" y="42862"/>
                    </a:lnTo>
                    <a:lnTo>
                      <a:pt x="0" y="85725"/>
                    </a:lnTo>
                    <a:lnTo>
                      <a:pt x="342900" y="85725"/>
                    </a:lnTo>
                    <a:lnTo>
                      <a:pt x="342900" y="42862"/>
                    </a:lnTo>
                    <a:lnTo>
                      <a:pt x="300038" y="0"/>
                    </a:lnTo>
                    <a:lnTo>
                      <a:pt x="42862" y="0"/>
                    </a:lnTo>
                    <a:close/>
                  </a:path>
                </a:pathLst>
              </a:custGeom>
              <a:solidFill>
                <a:schemeClr val="accent2"/>
              </a:solidFill>
              <a:ln>
                <a:noFill/>
              </a:ln>
            </p:spPr>
          </p:sp>
        </p:grpSp>
        <p:sp>
          <p:nvSpPr>
            <p:cNvPr id="20" name="TextBox 20"/>
            <p:cNvSpPr txBox="1"/>
            <p:nvPr/>
          </p:nvSpPr>
          <p:spPr>
            <a:xfrm>
              <a:off x="8087106" y="24726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仿冒办公软件</a:t>
              </a:r>
            </a:p>
          </p:txBody>
        </p:sp>
        <p:sp>
          <p:nvSpPr>
            <p:cNvPr id="21" name="TextBox 21"/>
            <p:cNvSpPr txBox="1"/>
            <p:nvPr/>
          </p:nvSpPr>
          <p:spPr>
            <a:xfrm>
              <a:off x="8089392" y="2826068"/>
              <a:ext cx="2594038"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2026 年 2 月至 5 月注册的 439 个</a:t>
              </a:r>
              <a:br/>
              <a:r>
                <a:rPr lang="zh-CN" sz="1350" dirty="0">
                  <a:solidFill>
                    <a:schemeClr val="accent5"/>
                  </a:solidFill>
                  <a:latin typeface="+mn-lt"/>
                  <a:ea typeface="+mn-ea"/>
                  <a:cs typeface="+mn-cs"/>
                </a:rPr>
                <a:t>钓鱼域名中，仿冒 wps、chrome</a:t>
              </a:r>
              <a:br/>
              <a:r>
                <a:rPr lang="zh-CN" sz="1350" dirty="0">
                  <a:solidFill>
                    <a:schemeClr val="accent5"/>
                  </a:solidFill>
                  <a:latin typeface="+mn-lt"/>
                  <a:ea typeface="+mn-ea"/>
                  <a:cs typeface="+mn-cs"/>
                </a:rPr>
                <a:t>的合计 340 个，占 77.4%。</a:t>
              </a:r>
            </a:p>
          </p:txBody>
        </p:sp>
      </p:grpSp>
      <p:grpSp>
        <p:nvGrpSpPr>
          <p:cNvPr id="44" name="phish-cost-by-vector"/>
          <p:cNvGrpSpPr/>
          <p:nvPr/>
        </p:nvGrpSpPr>
        <p:grpSpPr>
          <a:xfrm>
            <a:off x="946785" y="3664268"/>
            <a:ext cx="10068506" cy="2016633"/>
            <a:chOff x="946785" y="3664268"/>
            <a:chExt cx="10068506" cy="2016633"/>
          </a:xfrm>
        </p:grpSpPr>
        <p:sp>
          <p:nvSpPr>
            <p:cNvPr id="23" name="TextBox 23"/>
            <p:cNvSpPr txBox="1"/>
            <p:nvPr/>
          </p:nvSpPr>
          <p:spPr>
            <a:xfrm>
              <a:off x="3041142" y="3664268"/>
              <a:ext cx="40482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按初始攻击途径的平均泄露成本（万美元，2026）</a:t>
              </a:r>
            </a:p>
          </p:txBody>
        </p:sp>
        <p:grpSp>
          <p:nvGrpSpPr>
            <p:cNvPr id="34" name="phish-cost-by-vector-chartArea"/>
            <p:cNvGrpSpPr/>
            <p:nvPr/>
          </p:nvGrpSpPr>
          <p:grpSpPr>
            <a:xfrm>
              <a:off x="3048000" y="4000500"/>
              <a:ext cx="7810500" cy="1343025"/>
              <a:chOff x="3048000" y="4000500"/>
              <a:chExt cx="7810500" cy="1343025"/>
            </a:xfrm>
          </p:grpSpPr>
          <p:sp>
            <p:nvSpPr>
              <p:cNvPr id="24" name="Line 24"/>
              <p:cNvSpPr/>
              <p:nvPr/>
            </p:nvSpPr>
            <p:spPr>
              <a:xfrm>
                <a:off x="5651468" y="4000500"/>
                <a:ext cx="9525" cy="1333500"/>
              </a:xfrm>
              <a:custGeom>
                <a:avLst/>
                <a:gdLst/>
                <a:ahLst/>
                <a:cxnLst/>
                <a:rect l="l" t="t" r="r" b="b"/>
                <a:pathLst>
                  <a:path w="9525" h="1333500">
                    <a:moveTo>
                      <a:pt x="0" y="0"/>
                    </a:moveTo>
                    <a:lnTo>
                      <a:pt x="0" y="1333500"/>
                    </a:lnTo>
                  </a:path>
                </a:pathLst>
              </a:custGeom>
              <a:noFill/>
              <a:ln w="9525">
                <a:solidFill>
                  <a:srgbClr val="E4DED3"/>
                </a:solidFill>
              </a:ln>
            </p:spPr>
          </p:sp>
          <p:sp>
            <p:nvSpPr>
              <p:cNvPr id="25" name="Line 25"/>
              <p:cNvSpPr/>
              <p:nvPr/>
            </p:nvSpPr>
            <p:spPr>
              <a:xfrm>
                <a:off x="8255032" y="4000500"/>
                <a:ext cx="9525" cy="1333500"/>
              </a:xfrm>
              <a:custGeom>
                <a:avLst/>
                <a:gdLst/>
                <a:ahLst/>
                <a:cxnLst/>
                <a:rect l="l" t="t" r="r" b="b"/>
                <a:pathLst>
                  <a:path w="9525" h="1333500">
                    <a:moveTo>
                      <a:pt x="0" y="0"/>
                    </a:moveTo>
                    <a:lnTo>
                      <a:pt x="0" y="1333500"/>
                    </a:lnTo>
                  </a:path>
                </a:pathLst>
              </a:custGeom>
              <a:noFill/>
              <a:ln w="9525">
                <a:solidFill>
                  <a:srgbClr val="E4DED3"/>
                </a:solidFill>
              </a:ln>
            </p:spPr>
          </p:sp>
          <p:sp>
            <p:nvSpPr>
              <p:cNvPr id="26" name="Line 26"/>
              <p:cNvSpPr/>
              <p:nvPr/>
            </p:nvSpPr>
            <p:spPr>
              <a:xfrm>
                <a:off x="3048000" y="4000500"/>
                <a:ext cx="9525" cy="1333500"/>
              </a:xfrm>
              <a:custGeom>
                <a:avLst/>
                <a:gdLst/>
                <a:ahLst/>
                <a:cxnLst/>
                <a:rect l="l" t="t" r="r" b="b"/>
                <a:pathLst>
                  <a:path w="9525" h="1333500">
                    <a:moveTo>
                      <a:pt x="0" y="0"/>
                    </a:moveTo>
                    <a:lnTo>
                      <a:pt x="0" y="1333500"/>
                    </a:lnTo>
                  </a:path>
                </a:pathLst>
              </a:custGeom>
              <a:noFill/>
              <a:ln w="9525">
                <a:solidFill>
                  <a:srgbClr val="5A6068"/>
                </a:solidFill>
              </a:ln>
            </p:spPr>
          </p:sp>
          <p:sp>
            <p:nvSpPr>
              <p:cNvPr id="27" name="Line 27"/>
              <p:cNvSpPr/>
              <p:nvPr/>
            </p:nvSpPr>
            <p:spPr>
              <a:xfrm>
                <a:off x="3048000" y="5334000"/>
                <a:ext cx="7810500" cy="9525"/>
              </a:xfrm>
              <a:custGeom>
                <a:avLst/>
                <a:gdLst/>
                <a:ahLst/>
                <a:cxnLst/>
                <a:rect l="l" t="t" r="r" b="b"/>
                <a:pathLst>
                  <a:path w="7810500" h="9525">
                    <a:moveTo>
                      <a:pt x="0" y="0"/>
                    </a:moveTo>
                    <a:lnTo>
                      <a:pt x="7810500" y="0"/>
                    </a:lnTo>
                  </a:path>
                </a:pathLst>
              </a:custGeom>
              <a:noFill/>
              <a:ln w="9525">
                <a:solidFill>
                  <a:srgbClr val="5A6068"/>
                </a:solidFill>
              </a:ln>
            </p:spPr>
          </p:sp>
          <p:sp>
            <p:nvSpPr>
              <p:cNvPr id="28" name="Rectangle 28"/>
              <p:cNvSpPr/>
              <p:nvPr/>
            </p:nvSpPr>
            <p:spPr>
              <a:xfrm>
                <a:off x="3048000" y="4079843"/>
                <a:ext cx="6886575" cy="285750"/>
              </a:xfrm>
              <a:prstGeom prst="rect">
                <a:avLst/>
              </a:prstGeom>
              <a:solidFill>
                <a:schemeClr val="accent2"/>
              </a:solidFill>
              <a:ln>
                <a:noFill/>
              </a:ln>
            </p:spPr>
          </p:sp>
          <p:sp>
            <p:nvSpPr>
              <p:cNvPr id="29" name="Rectangle 29"/>
              <p:cNvSpPr/>
              <p:nvPr/>
            </p:nvSpPr>
            <p:spPr>
              <a:xfrm>
                <a:off x="3048000" y="4524375"/>
                <a:ext cx="6810375" cy="285750"/>
              </a:xfrm>
              <a:prstGeom prst="rect">
                <a:avLst/>
              </a:prstGeom>
              <a:solidFill>
                <a:schemeClr val="accent2"/>
              </a:solidFill>
              <a:ln>
                <a:noFill/>
              </a:ln>
            </p:spPr>
          </p:sp>
          <p:sp>
            <p:nvSpPr>
              <p:cNvPr id="30" name="Rectangle 30"/>
              <p:cNvSpPr/>
              <p:nvPr/>
            </p:nvSpPr>
            <p:spPr>
              <a:xfrm>
                <a:off x="3048000" y="4968907"/>
                <a:ext cx="6600825" cy="285750"/>
              </a:xfrm>
              <a:prstGeom prst="rect">
                <a:avLst/>
              </a:prstGeom>
              <a:solidFill>
                <a:srgbClr val="D98B7F"/>
              </a:solidFill>
              <a:ln>
                <a:noFill/>
              </a:ln>
            </p:spPr>
          </p:sp>
          <p:sp>
            <p:nvSpPr>
              <p:cNvPr id="31" name="TextBox 31"/>
              <p:cNvSpPr txBox="1"/>
              <p:nvPr/>
            </p:nvSpPr>
            <p:spPr>
              <a:xfrm>
                <a:off x="10042017" y="4130992"/>
                <a:ext cx="3135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529</a:t>
                </a:r>
              </a:p>
            </p:txBody>
          </p:sp>
          <p:sp>
            <p:nvSpPr>
              <p:cNvPr id="32" name="TextBox 32"/>
              <p:cNvSpPr txBox="1"/>
              <p:nvPr/>
            </p:nvSpPr>
            <p:spPr>
              <a:xfrm>
                <a:off x="9965817" y="4578668"/>
                <a:ext cx="3135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523</a:t>
                </a:r>
              </a:p>
            </p:txBody>
          </p:sp>
          <p:sp>
            <p:nvSpPr>
              <p:cNvPr id="33" name="TextBox 33"/>
              <p:cNvSpPr txBox="1"/>
              <p:nvPr/>
            </p:nvSpPr>
            <p:spPr>
              <a:xfrm>
                <a:off x="9756267" y="5016818"/>
                <a:ext cx="3135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507</a:t>
                </a:r>
              </a:p>
            </p:txBody>
          </p:sp>
        </p:grpSp>
        <p:grpSp>
          <p:nvGrpSpPr>
            <p:cNvPr id="38" name="Group 38"/>
            <p:cNvGrpSpPr/>
            <p:nvPr/>
          </p:nvGrpSpPr>
          <p:grpSpPr>
            <a:xfrm>
              <a:off x="946785" y="4130992"/>
              <a:ext cx="2012823" cy="1149859"/>
              <a:chOff x="946785" y="4130992"/>
              <a:chExt cx="2012823" cy="1149859"/>
            </a:xfrm>
          </p:grpSpPr>
          <p:sp>
            <p:nvSpPr>
              <p:cNvPr id="35" name="TextBox 35"/>
              <p:cNvSpPr txBox="1"/>
              <p:nvPr/>
            </p:nvSpPr>
            <p:spPr>
              <a:xfrm>
                <a:off x="1673733" y="4130992"/>
                <a:ext cx="1285875"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语音与短信钓鱼</a:t>
                </a:r>
              </a:p>
            </p:txBody>
          </p:sp>
          <p:sp>
            <p:nvSpPr>
              <p:cNvPr id="36" name="TextBox 36"/>
              <p:cNvSpPr txBox="1"/>
              <p:nvPr/>
            </p:nvSpPr>
            <p:spPr>
              <a:xfrm>
                <a:off x="946785" y="4578668"/>
                <a:ext cx="201282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冒充服务台等社会工程学</a:t>
                </a:r>
              </a:p>
            </p:txBody>
          </p:sp>
          <p:sp>
            <p:nvSpPr>
              <p:cNvPr id="37" name="TextBox 37"/>
              <p:cNvSpPr txBox="1"/>
              <p:nvPr/>
            </p:nvSpPr>
            <p:spPr>
              <a:xfrm>
                <a:off x="1855470" y="5016818"/>
                <a:ext cx="110413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有效账户滥用</a:t>
                </a:r>
              </a:p>
            </p:txBody>
          </p:sp>
        </p:grpSp>
        <p:grpSp>
          <p:nvGrpSpPr>
            <p:cNvPr id="43" name="Group 43"/>
            <p:cNvGrpSpPr/>
            <p:nvPr/>
          </p:nvGrpSpPr>
          <p:grpSpPr>
            <a:xfrm>
              <a:off x="2991164" y="5416868"/>
              <a:ext cx="8024127" cy="264033"/>
              <a:chOff x="2991164" y="5416868"/>
              <a:chExt cx="8024127" cy="264033"/>
            </a:xfrm>
          </p:grpSpPr>
          <p:sp>
            <p:nvSpPr>
              <p:cNvPr id="39" name="TextBox 39"/>
              <p:cNvSpPr txBox="1"/>
              <p:nvPr/>
            </p:nvSpPr>
            <p:spPr>
              <a:xfrm>
                <a:off x="2991164" y="541686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a:t>
                </a:r>
              </a:p>
            </p:txBody>
          </p:sp>
          <p:sp>
            <p:nvSpPr>
              <p:cNvPr id="40" name="TextBox 40"/>
              <p:cNvSpPr txBox="1"/>
              <p:nvPr/>
            </p:nvSpPr>
            <p:spPr>
              <a:xfrm>
                <a:off x="5494677" y="54168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200</a:t>
                </a:r>
              </a:p>
            </p:txBody>
          </p:sp>
          <p:sp>
            <p:nvSpPr>
              <p:cNvPr id="41" name="TextBox 41"/>
              <p:cNvSpPr txBox="1"/>
              <p:nvPr/>
            </p:nvSpPr>
            <p:spPr>
              <a:xfrm>
                <a:off x="8098241" y="54168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400</a:t>
                </a:r>
              </a:p>
            </p:txBody>
          </p:sp>
          <p:sp>
            <p:nvSpPr>
              <p:cNvPr id="42" name="TextBox 42"/>
              <p:cNvSpPr txBox="1"/>
              <p:nvPr/>
            </p:nvSpPr>
            <p:spPr>
              <a:xfrm>
                <a:off x="10701709" y="54168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600</a:t>
                </a:r>
              </a:p>
            </p:txBody>
          </p:sp>
        </p:grpSp>
      </p:grpSp>
      <p:grpSp>
        <p:nvGrpSpPr>
          <p:cNvPr id="46" name="channel-takeaway"/>
          <p:cNvGrpSpPr/>
          <p:nvPr/>
        </p:nvGrpSpPr>
        <p:grpSpPr>
          <a:xfrm>
            <a:off x="676656" y="5806440"/>
            <a:ext cx="9819970" cy="352044"/>
            <a:chOff x="676656" y="5806440"/>
            <a:chExt cx="9819970" cy="352044"/>
          </a:xfrm>
        </p:grpSpPr>
        <p:sp>
          <p:nvSpPr>
            <p:cNvPr id="45" name="TextBox 45"/>
            <p:cNvSpPr txBox="1"/>
            <p:nvPr/>
          </p:nvSpPr>
          <p:spPr>
            <a:xfrm>
              <a:off x="676656" y="5806440"/>
              <a:ext cx="98199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钓鱼</a:t>
              </a:r>
              <a:r>
                <a:rPr lang="zh-CN" sz="1800" b="1" dirty="0">
                  <a:solidFill>
                    <a:schemeClr val="accent2"/>
                  </a:solidFill>
                  <a:latin typeface="+mn-lt"/>
                  <a:ea typeface="+mn-ea"/>
                  <a:cs typeface="+mn-cs"/>
                </a:rPr>
                <a:t>连续第四年</a:t>
              </a:r>
              <a:r>
                <a:rPr lang="zh-CN" sz="1800" dirty="0">
                  <a:solidFill>
                    <a:schemeClr val="dk1"/>
                  </a:solidFill>
                  <a:latin typeface="+mn-lt"/>
                  <a:ea typeface="+mn-ea"/>
                  <a:cs typeface="+mn-cs"/>
                </a:rPr>
                <a:t>是进入被泄露组织的头号初始攻击途径；语音与短信钓鱼用于 17% 的攻击。</a:t>
              </a:r>
            </a:p>
          </p:txBody>
        </p:sp>
      </p:grpSp>
      <p:grpSp>
        <p:nvGrpSpPr>
          <p:cNvPr id="49" name="footer"/>
          <p:cNvGrpSpPr/>
          <p:nvPr/>
        </p:nvGrpSpPr>
        <p:grpSpPr>
          <a:xfrm>
            <a:off x="679704" y="6404610"/>
            <a:ext cx="10832592" cy="234696"/>
            <a:chOff x="679704" y="6404610"/>
            <a:chExt cx="10832592" cy="234696"/>
          </a:xfrm>
        </p:grpSpPr>
        <p:sp>
          <p:nvSpPr>
            <p:cNvPr id="47" name="TextBox 47"/>
            <p:cNvSpPr txBox="1"/>
            <p:nvPr/>
          </p:nvSpPr>
          <p:spPr>
            <a:xfrm>
              <a:off x="679704" y="6404610"/>
              <a:ext cx="7732430"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来源：Verizon DBIR 2026（F059）；CNCERT 2026 年 5 月风险提示（F049、F050）；IBM 2026（F063）</a:t>
              </a:r>
            </a:p>
          </p:txBody>
        </p:sp>
        <p:sp>
          <p:nvSpPr>
            <p:cNvPr id="48" name="TextBox 48"/>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12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par>
                          <p:cTn id="20" fill="hold">
                            <p:stCondLst>
                              <p:cond delay="2350"/>
                            </p:stCondLst>
                            <p:childTnLst>
                              <p:par>
                                <p:cTn xmlns:p="http://schemas.openxmlformats.org/presentationml/2006/main" id="21" presetID="22" presetClass="entr" presetSubtype="2" fill="hold" grpId="0" nodeType="afterEffect">
                                  <p:stCondLst>
                                    <p:cond delay="250"/>
                                  </p:stCondLst>
                                  <p:childTnLst>
                                    <p:set>
                                      <p:cBhvr>
                                        <p:cTn id="22" dur="1" fill="hold">
                                          <p:stCondLst>
                                            <p:cond delay="0"/>
                                          </p:stCondLst>
                                        </p:cTn>
                                        <p:tgtEl>
                                          <p:spTgt spid="44"/>
                                        </p:tgtEl>
                                        <p:attrNameLst>
                                          <p:attrName>style.visibility</p:attrName>
                                        </p:attrNameLst>
                                      </p:cBhvr>
                                      <p:to>
                                        <p:strVal val="visible"/>
                                      </p:to>
                                    </p:set>
                                    <p:animEffect transition="in" filter="wipe(right)">
                                      <p:cBhvr>
                                        <p:cTn id="23" dur="900"/>
                                        <p:tgtEl>
                                          <p:spTgt spid="44"/>
                                        </p:tgtEl>
                                      </p:cBhvr>
                                    </p:animEffect>
                                  </p:childTnLst>
                                </p:cTn>
                              </p:par>
                            </p:childTnLst>
                          </p:cTn>
                        </p:par>
                        <p:par>
                          <p:cTn id="24" fill="hold">
                            <p:stCondLst>
                              <p:cond delay="3500"/>
                            </p:stCondLst>
                            <p:childTnLst>
                              <p:par>
                                <p:cTn xmlns:p="http://schemas.openxmlformats.org/presentationml/2006/main" id="25" presetID="10" presetClass="entr" presetSubtype="0" fill="hold" grpId="0" nodeType="afterEffect">
                                  <p:stCondLst>
                                    <p:cond delay="30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20955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02 账号与密码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25805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本章你要做的三件事</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2" name="action-today"/>
          <p:cNvGrpSpPr/>
          <p:nvPr/>
        </p:nvGrpSpPr>
        <p:grpSpPr>
          <a:xfrm>
            <a:off x="685800" y="2381250"/>
            <a:ext cx="9690103" cy="533400"/>
            <a:chOff x="685800" y="2381250"/>
            <a:chExt cx="9690103" cy="533400"/>
          </a:xfrm>
        </p:grpSpPr>
        <p:sp>
          <p:nvSpPr>
            <p:cNvPr id="9" name="Freeform 9"/>
            <p:cNvSpPr/>
            <p:nvPr/>
          </p:nvSpPr>
          <p:spPr>
            <a:xfrm>
              <a:off x="685800" y="2381250"/>
              <a:ext cx="1524000" cy="533400"/>
            </a:xfrm>
            <a:prstGeom prst="chevron">
              <a:avLst/>
            </a:prstGeom>
            <a:solidFill>
              <a:schemeClr val="accent1"/>
            </a:solidFill>
            <a:ln>
              <a:noFill/>
            </a:ln>
          </p:spPr>
        </p:sp>
        <p:sp>
          <p:nvSpPr>
            <p:cNvPr id="10" name="TextBox 10"/>
            <p:cNvSpPr txBox="1"/>
            <p:nvPr/>
          </p:nvSpPr>
          <p:spPr>
            <a:xfrm>
              <a:off x="1196340" y="2529840"/>
              <a:ext cx="502920" cy="352044"/>
            </a:xfrm>
            <a:prstGeom prst="rect">
              <a:avLst/>
            </a:prstGeom>
            <a:noFill/>
            <a:ln>
              <a:noFill/>
            </a:ln>
          </p:spPr>
          <p:txBody>
            <a:bodyPr wrap="none" lIns="0" tIns="0" rIns="0" bIns="0" anchor="t" anchorCtr="0">
              <a:spAutoFit/>
            </a:bodyPr>
            <a:lstStyle/>
            <a:p>
              <a:pPr algn="ctr"/>
              <a:r>
                <a:rPr lang="zh-CN" sz="1800" b="1" dirty="0">
                  <a:solidFill>
                    <a:srgbClr val="F7F4EE"/>
                  </a:solidFill>
                  <a:latin typeface="+mn-lt"/>
                  <a:ea typeface="+mn-ea"/>
                  <a:cs typeface="+mn-cs"/>
                </a:rPr>
                <a:t>今天</a:t>
              </a:r>
            </a:p>
          </p:txBody>
        </p:sp>
        <p:sp>
          <p:nvSpPr>
            <p:cNvPr id="11" name="TextBox 11"/>
            <p:cNvSpPr txBox="1"/>
            <p:nvPr/>
          </p:nvSpPr>
          <p:spPr>
            <a:xfrm>
              <a:off x="2503932" y="2497455"/>
              <a:ext cx="787197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 xml:space="preserve">把公司账号口令换成 </a:t>
              </a:r>
              <a:r>
                <a:rPr lang="zh-CN" sz="2100" b="1" dirty="0">
                  <a:solidFill>
                    <a:schemeClr val="accent2"/>
                  </a:solidFill>
                  <a:latin typeface="+mn-lt"/>
                  <a:ea typeface="+mn-ea"/>
                  <a:cs typeface="+mn-cs"/>
                </a:rPr>
                <a:t>15 个字符以上</a:t>
              </a:r>
              <a:r>
                <a:rPr lang="zh-CN" sz="2100" dirty="0">
                  <a:solidFill>
                    <a:schemeClr val="dk1"/>
                  </a:solidFill>
                  <a:latin typeface="+mn-lt"/>
                  <a:ea typeface="+mn-ea"/>
                  <a:cs typeface="+mn-cs"/>
                </a:rPr>
                <a:t>、且没在别处用过的一串。</a:t>
              </a:r>
            </a:p>
          </p:txBody>
        </p:sp>
      </p:grpSp>
      <p:grpSp>
        <p:nvGrpSpPr>
          <p:cNvPr id="16" name="action-week"/>
          <p:cNvGrpSpPr/>
          <p:nvPr/>
        </p:nvGrpSpPr>
        <p:grpSpPr>
          <a:xfrm>
            <a:off x="685800" y="3333750"/>
            <a:ext cx="9189720" cy="533400"/>
            <a:chOff x="685800" y="3333750"/>
            <a:chExt cx="9189720" cy="533400"/>
          </a:xfrm>
        </p:grpSpPr>
        <p:sp>
          <p:nvSpPr>
            <p:cNvPr id="13" name="Freeform 13"/>
            <p:cNvSpPr/>
            <p:nvPr/>
          </p:nvSpPr>
          <p:spPr>
            <a:xfrm>
              <a:off x="685800" y="3333750"/>
              <a:ext cx="1524000" cy="533400"/>
            </a:xfrm>
            <a:prstGeom prst="chevron">
              <a:avLst/>
            </a:prstGeom>
            <a:solidFill>
              <a:srgbClr val="3A4757"/>
            </a:solidFill>
            <a:ln>
              <a:noFill/>
            </a:ln>
          </p:spPr>
        </p:sp>
        <p:sp>
          <p:nvSpPr>
            <p:cNvPr id="14" name="TextBox 14"/>
            <p:cNvSpPr txBox="1"/>
            <p:nvPr/>
          </p:nvSpPr>
          <p:spPr>
            <a:xfrm>
              <a:off x="1196340" y="3482340"/>
              <a:ext cx="502920" cy="352044"/>
            </a:xfrm>
            <a:prstGeom prst="rect">
              <a:avLst/>
            </a:prstGeom>
            <a:noFill/>
            <a:ln>
              <a:noFill/>
            </a:ln>
          </p:spPr>
          <p:txBody>
            <a:bodyPr wrap="none" lIns="0" tIns="0" rIns="0" bIns="0" anchor="t" anchorCtr="0">
              <a:spAutoFit/>
            </a:bodyPr>
            <a:lstStyle/>
            <a:p>
              <a:pPr algn="ctr"/>
              <a:r>
                <a:rPr lang="zh-CN" sz="1800" b="1" dirty="0">
                  <a:solidFill>
                    <a:srgbClr val="F7F4EE"/>
                  </a:solidFill>
                  <a:latin typeface="+mn-lt"/>
                  <a:ea typeface="+mn-ea"/>
                  <a:cs typeface="+mn-cs"/>
                </a:rPr>
                <a:t>本周</a:t>
              </a:r>
            </a:p>
          </p:txBody>
        </p:sp>
        <p:sp>
          <p:nvSpPr>
            <p:cNvPr id="15" name="TextBox 15"/>
            <p:cNvSpPr txBox="1"/>
            <p:nvPr/>
          </p:nvSpPr>
          <p:spPr>
            <a:xfrm>
              <a:off x="2503932" y="3449955"/>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在支持的系统上启用</a:t>
              </a:r>
              <a:r>
                <a:rPr lang="zh-CN" sz="2100" b="1" dirty="0">
                  <a:solidFill>
                    <a:schemeClr val="accent3"/>
                  </a:solidFill>
                  <a:latin typeface="+mn-lt"/>
                  <a:ea typeface="+mn-ea"/>
                  <a:cs typeface="+mn-cs"/>
                </a:rPr>
                <a:t>抗钓鱼的多因素认证</a:t>
              </a:r>
              <a:r>
                <a:rPr lang="zh-CN" sz="2100" dirty="0">
                  <a:solidFill>
                    <a:schemeClr val="dk1"/>
                  </a:solidFill>
                  <a:latin typeface="+mn-lt"/>
                  <a:ea typeface="+mn-ea"/>
                  <a:cs typeface="+mn-cs"/>
                </a:rPr>
                <a:t>，不再只靠短信。</a:t>
              </a:r>
            </a:p>
          </p:txBody>
        </p:sp>
      </p:grpSp>
      <p:grpSp>
        <p:nvGrpSpPr>
          <p:cNvPr id="21" name="action-long"/>
          <p:cNvGrpSpPr/>
          <p:nvPr/>
        </p:nvGrpSpPr>
        <p:grpSpPr>
          <a:xfrm>
            <a:off x="685800" y="4286250"/>
            <a:ext cx="8907018" cy="746951"/>
            <a:chOff x="685800" y="4286250"/>
            <a:chExt cx="8907018" cy="746951"/>
          </a:xfrm>
        </p:grpSpPr>
        <p:sp>
          <p:nvSpPr>
            <p:cNvPr id="17" name="Freeform 17"/>
            <p:cNvSpPr/>
            <p:nvPr/>
          </p:nvSpPr>
          <p:spPr>
            <a:xfrm>
              <a:off x="685800" y="4286250"/>
              <a:ext cx="1524000" cy="533400"/>
            </a:xfrm>
            <a:prstGeom prst="chevron">
              <a:avLst/>
            </a:prstGeom>
            <a:solidFill>
              <a:srgbClr val="5A6068"/>
            </a:solidFill>
            <a:ln>
              <a:noFill/>
            </a:ln>
          </p:spPr>
        </p:sp>
        <p:sp>
          <p:nvSpPr>
            <p:cNvPr id="18" name="TextBox 18"/>
            <p:cNvSpPr txBox="1"/>
            <p:nvPr/>
          </p:nvSpPr>
          <p:spPr>
            <a:xfrm>
              <a:off x="1196340" y="4434840"/>
              <a:ext cx="502920" cy="352044"/>
            </a:xfrm>
            <a:prstGeom prst="rect">
              <a:avLst/>
            </a:prstGeom>
            <a:noFill/>
            <a:ln>
              <a:noFill/>
            </a:ln>
          </p:spPr>
          <p:txBody>
            <a:bodyPr wrap="none" lIns="0" tIns="0" rIns="0" bIns="0" anchor="t" anchorCtr="0">
              <a:spAutoFit/>
            </a:bodyPr>
            <a:lstStyle/>
            <a:p>
              <a:pPr algn="ctr"/>
              <a:r>
                <a:rPr lang="zh-CN" sz="1800" b="1" dirty="0">
                  <a:solidFill>
                    <a:srgbClr val="F7F4EE"/>
                  </a:solidFill>
                  <a:latin typeface="+mn-lt"/>
                  <a:ea typeface="+mn-ea"/>
                  <a:cs typeface="+mn-cs"/>
                </a:rPr>
                <a:t>长期</a:t>
              </a:r>
            </a:p>
          </p:txBody>
        </p:sp>
        <p:sp>
          <p:nvSpPr>
            <p:cNvPr id="19" name="TextBox 19"/>
            <p:cNvSpPr txBox="1"/>
            <p:nvPr/>
          </p:nvSpPr>
          <p:spPr>
            <a:xfrm>
              <a:off x="2503932" y="4402455"/>
              <a:ext cx="70888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任何催你「立刻、马上、否则」的消息，</a:t>
              </a:r>
              <a:r>
                <a:rPr lang="zh-CN" sz="2100" b="1" dirty="0">
                  <a:solidFill>
                    <a:schemeClr val="accent2"/>
                  </a:solidFill>
                  <a:latin typeface="+mn-lt"/>
                  <a:ea typeface="+mn-ea"/>
                  <a:cs typeface="+mn-cs"/>
                </a:rPr>
                <a:t>先停手再核实</a:t>
              </a:r>
              <a:r>
                <a:rPr lang="zh-CN" sz="2100" dirty="0">
                  <a:solidFill>
                    <a:schemeClr val="dk1"/>
                  </a:solidFill>
                  <a:latin typeface="+mn-lt"/>
                  <a:ea typeface="+mn-ea"/>
                  <a:cs typeface="+mn-cs"/>
                </a:rPr>
                <a:t>。</a:t>
              </a:r>
            </a:p>
          </p:txBody>
        </p:sp>
        <p:sp>
          <p:nvSpPr>
            <p:cNvPr id="20" name="TextBox 20"/>
            <p:cNvSpPr txBox="1"/>
            <p:nvPr/>
          </p:nvSpPr>
          <p:spPr>
            <a:xfrm>
              <a:off x="2507742" y="4769168"/>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电话、短信、搜索结果和邮件一视同仁。</a:t>
              </a:r>
            </a:p>
          </p:txBody>
        </p:sp>
      </p:grpSp>
      <p:grpSp>
        <p:nvGrpSpPr>
          <p:cNvPr id="25" name="compile-note"/>
          <p:cNvGrpSpPr/>
          <p:nvPr/>
        </p:nvGrpSpPr>
        <p:grpSpPr>
          <a:xfrm>
            <a:off x="685800" y="5295900"/>
            <a:ext cx="2920365" cy="327851"/>
            <a:chOff x="685800" y="5295900"/>
            <a:chExt cx="2920365" cy="327851"/>
          </a:xfrm>
        </p:grpSpPr>
        <p:sp>
          <p:nvSpPr>
            <p:cNvPr id="22" name="Freeform 22"/>
            <p:cNvSpPr/>
            <p:nvPr/>
          </p:nvSpPr>
          <p:spPr>
            <a:xfrm>
              <a:off x="685800" y="5295900"/>
              <a:ext cx="723900" cy="304800"/>
            </a:xfrm>
            <a:prstGeom prst="plaque">
              <a:avLst/>
            </a:prstGeom>
            <a:solidFill>
              <a:srgbClr val="E0D9CC"/>
            </a:solidFill>
            <a:ln>
              <a:noFill/>
            </a:ln>
          </p:spPr>
        </p:sp>
        <p:sp>
          <p:nvSpPr>
            <p:cNvPr id="23" name="TextBox 23"/>
            <p:cNvSpPr txBox="1"/>
            <p:nvPr/>
          </p:nvSpPr>
          <p:spPr>
            <a:xfrm>
              <a:off x="859155" y="535971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24" name="TextBox 24"/>
            <p:cNvSpPr txBox="1"/>
            <p:nvPr/>
          </p:nvSpPr>
          <p:spPr>
            <a:xfrm>
              <a:off x="1593342" y="5359718"/>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三件事为本章要点的归纳</a:t>
              </a:r>
            </a:p>
          </p:txBody>
        </p:sp>
      </p:grpSp>
      <p:grpSp>
        <p:nvGrpSpPr>
          <p:cNvPr id="28" name="!!chapter-mark-03"/>
          <p:cNvGrpSpPr/>
          <p:nvPr/>
        </p:nvGrpSpPr>
        <p:grpSpPr>
          <a:xfrm>
            <a:off x="9836448" y="5378768"/>
            <a:ext cx="1686516" cy="930211"/>
            <a:chOff x="9836448" y="5378768"/>
            <a:chExt cx="1686516" cy="930211"/>
          </a:xfrm>
        </p:grpSpPr>
        <p:sp>
          <p:nvSpPr>
            <p:cNvPr id="26" name="TextBox 26"/>
            <p:cNvSpPr txBox="1"/>
            <p:nvPr/>
          </p:nvSpPr>
          <p:spPr>
            <a:xfrm>
              <a:off x="9836448" y="5378768"/>
              <a:ext cx="167661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数据与设备</a:t>
              </a:r>
            </a:p>
          </p:txBody>
        </p:sp>
        <p:sp>
          <p:nvSpPr>
            <p:cNvPr id="27" name="TextBox 27"/>
            <p:cNvSpPr txBox="1"/>
            <p:nvPr/>
          </p:nvSpPr>
          <p:spPr>
            <a:xfrm>
              <a:off x="10973105" y="5663565"/>
              <a:ext cx="54985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03</a:t>
              </a:r>
            </a:p>
          </p:txBody>
        </p:sp>
      </p:grpSp>
      <p:grpSp>
        <p:nvGrpSpPr>
          <p:cNvPr id="31" name="footer"/>
          <p:cNvGrpSpPr/>
          <p:nvPr/>
        </p:nvGrpSpPr>
        <p:grpSpPr>
          <a:xfrm>
            <a:off x="679704" y="6404610"/>
            <a:ext cx="10832592" cy="234696"/>
            <a:chOff x="679704" y="6404610"/>
            <a:chExt cx="10832592" cy="234696"/>
          </a:xfrm>
        </p:grpSpPr>
        <p:sp>
          <p:nvSpPr>
            <p:cNvPr id="29" name="TextBox 29"/>
            <p:cNvSpPr txBox="1"/>
            <p:nvPr/>
          </p:nvSpPr>
          <p:spPr>
            <a:xfrm>
              <a:off x="679704" y="6404610"/>
              <a:ext cx="5466283"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依据：NIST SP 800-63B-4（F068）；CISA·FBI 抗钓鱼 MFA 建议（F073）</a:t>
              </a:r>
            </a:p>
          </p:txBody>
        </p:sp>
        <p:sp>
          <p:nvSpPr>
            <p:cNvPr id="30" name="TextBox 3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13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3"/>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03</a:t>
              </a:r>
            </a:p>
          </p:txBody>
        </p:sp>
      </p:grpSp>
      <p:grpSp>
        <p:nvGrpSpPr>
          <p:cNvPr id="10" name="chapter-title"/>
          <p:cNvGrpSpPr/>
          <p:nvPr/>
        </p:nvGrpSpPr>
        <p:grpSpPr>
          <a:xfrm>
            <a:off x="3981450" y="2023110"/>
            <a:ext cx="4552950" cy="1132713"/>
            <a:chOff x="3981450" y="2023110"/>
            <a:chExt cx="4552950"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数据与设备</a:t>
              </a:r>
            </a:p>
          </p:txBody>
        </p:sp>
        <p:sp>
          <p:nvSpPr>
            <p:cNvPr id="9" name="TextBox 9"/>
            <p:cNvSpPr txBox="1"/>
            <p:nvPr/>
          </p:nvSpPr>
          <p:spPr>
            <a:xfrm>
              <a:off x="3989832" y="2745105"/>
              <a:ext cx="4544568"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你手上的数据，出门之前要先过一遍</a:t>
              </a:r>
            </a:p>
          </p:txBody>
        </p:sp>
      </p:grpSp>
      <p:grpSp>
        <p:nvGrpSpPr>
          <p:cNvPr id="19" name="chapter-route"/>
          <p:cNvGrpSpPr/>
          <p:nvPr/>
        </p:nvGrpSpPr>
        <p:grpSpPr>
          <a:xfrm>
            <a:off x="4000500" y="3530918"/>
            <a:ext cx="3525774" cy="1235583"/>
            <a:chOff x="4000500" y="3530918"/>
            <a:chExt cx="3525774"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1467612"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什么数据不能出门</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241538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走 U 盘的那条路，最难被发现</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3284982"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在家办公，等于把办公室的边界搬到你家</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外发之前问自己四句话</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第三章 · 数据与设备</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14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378866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什么数据不能出门</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1" name="escalation-scale"/>
          <p:cNvGrpSpPr/>
          <p:nvPr/>
        </p:nvGrpSpPr>
        <p:grpSpPr>
          <a:xfrm>
            <a:off x="685800" y="1866900"/>
            <a:ext cx="4034028" cy="327851"/>
            <a:chOff x="685800" y="1866900"/>
            <a:chExt cx="4034028" cy="327851"/>
          </a:xfrm>
        </p:grpSpPr>
        <p:sp>
          <p:nvSpPr>
            <p:cNvPr id="9" name="Freeform 9"/>
            <p:cNvSpPr/>
            <p:nvPr/>
          </p:nvSpPr>
          <p:spPr>
            <a:xfrm>
              <a:off x="685800" y="1866900"/>
              <a:ext cx="2095500" cy="266700"/>
            </a:xfrm>
            <a:prstGeom prst="rightArrow">
              <a:avLst/>
            </a:prstGeom>
            <a:solidFill>
              <a:srgbClr val="C9C1B4"/>
            </a:solidFill>
            <a:ln>
              <a:noFill/>
            </a:ln>
          </p:spPr>
        </p:sp>
        <p:sp>
          <p:nvSpPr>
            <p:cNvPr id="10" name="TextBox 10"/>
            <p:cNvSpPr txBox="1"/>
            <p:nvPr/>
          </p:nvSpPr>
          <p:spPr>
            <a:xfrm>
              <a:off x="2888742" y="1930718"/>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敏感度与外发限制递增</a:t>
              </a:r>
            </a:p>
          </p:txBody>
        </p:sp>
      </p:grpSp>
      <p:grpSp>
        <p:nvGrpSpPr>
          <p:cNvPr id="15" name="grade-public"/>
          <p:cNvGrpSpPr/>
          <p:nvPr/>
        </p:nvGrpSpPr>
        <p:grpSpPr>
          <a:xfrm>
            <a:off x="673608" y="2990850"/>
            <a:ext cx="2488692" cy="1491234"/>
            <a:chOff x="673608" y="2990850"/>
            <a:chExt cx="2488692" cy="1491234"/>
          </a:xfrm>
        </p:grpSpPr>
        <p:sp>
          <p:nvSpPr>
            <p:cNvPr id="12" name="Rectangle 12"/>
            <p:cNvSpPr/>
            <p:nvPr/>
          </p:nvSpPr>
          <p:spPr>
            <a:xfrm>
              <a:off x="685800" y="2990850"/>
              <a:ext cx="2476500" cy="228600"/>
            </a:xfrm>
            <a:prstGeom prst="rect">
              <a:avLst/>
            </a:prstGeom>
            <a:solidFill>
              <a:srgbClr val="C9C1B4"/>
            </a:solidFill>
            <a:ln>
              <a:noFill/>
            </a:ln>
          </p:spPr>
        </p:sp>
        <p:sp>
          <p:nvSpPr>
            <p:cNvPr id="13" name="TextBox 13"/>
            <p:cNvSpPr txBox="1"/>
            <p:nvPr/>
          </p:nvSpPr>
          <p:spPr>
            <a:xfrm>
              <a:off x="673608" y="336042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公开</a:t>
              </a:r>
            </a:p>
          </p:txBody>
        </p:sp>
        <p:sp>
          <p:nvSpPr>
            <p:cNvPr id="14" name="TextBox 14"/>
            <p:cNvSpPr txBox="1"/>
            <p:nvPr/>
          </p:nvSpPr>
          <p:spPr>
            <a:xfrm>
              <a:off x="676656" y="3806190"/>
              <a:ext cx="1389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已对外发布，</a:t>
              </a:r>
              <a:br/>
              <a:r>
                <a:rPr lang="zh-CN" sz="1800" dirty="0">
                  <a:solidFill>
                    <a:schemeClr val="dk1"/>
                  </a:solidFill>
                  <a:latin typeface="+mn-lt"/>
                  <a:ea typeface="+mn-ea"/>
                  <a:cs typeface="+mn-cs"/>
                </a:rPr>
                <a:t>可自由外发。</a:t>
              </a:r>
            </a:p>
          </p:txBody>
        </p:sp>
      </p:grpSp>
      <p:grpSp>
        <p:nvGrpSpPr>
          <p:cNvPr id="19" name="grade-internal"/>
          <p:cNvGrpSpPr/>
          <p:nvPr/>
        </p:nvGrpSpPr>
        <p:grpSpPr>
          <a:xfrm>
            <a:off x="3454908" y="2762250"/>
            <a:ext cx="2488692" cy="2043684"/>
            <a:chOff x="3454908" y="2762250"/>
            <a:chExt cx="2488692" cy="2043684"/>
          </a:xfrm>
        </p:grpSpPr>
        <p:sp>
          <p:nvSpPr>
            <p:cNvPr id="16" name="Rectangle 16"/>
            <p:cNvSpPr/>
            <p:nvPr/>
          </p:nvSpPr>
          <p:spPr>
            <a:xfrm>
              <a:off x="3467100" y="2762250"/>
              <a:ext cx="2476500" cy="457200"/>
            </a:xfrm>
            <a:prstGeom prst="rect">
              <a:avLst/>
            </a:prstGeom>
            <a:solidFill>
              <a:srgbClr val="D98B7F"/>
            </a:solidFill>
            <a:ln>
              <a:noFill/>
            </a:ln>
          </p:spPr>
        </p:sp>
        <p:sp>
          <p:nvSpPr>
            <p:cNvPr id="17" name="TextBox 17"/>
            <p:cNvSpPr txBox="1"/>
            <p:nvPr/>
          </p:nvSpPr>
          <p:spPr>
            <a:xfrm>
              <a:off x="3454908" y="336042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内部</a:t>
              </a:r>
            </a:p>
          </p:txBody>
        </p:sp>
        <p:sp>
          <p:nvSpPr>
            <p:cNvPr id="18" name="TextBox 18"/>
            <p:cNvSpPr txBox="1"/>
            <p:nvPr/>
          </p:nvSpPr>
          <p:spPr>
            <a:xfrm>
              <a:off x="3457956" y="3806190"/>
              <a:ext cx="18470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仅限在职员工，</a:t>
              </a:r>
              <a:br/>
              <a:r>
                <a:rPr lang="zh-CN" sz="1800" dirty="0">
                  <a:solidFill>
                    <a:schemeClr val="dk1"/>
                  </a:solidFill>
                  <a:latin typeface="+mn-lt"/>
                  <a:ea typeface="+mn-ea"/>
                  <a:cs typeface="+mn-cs"/>
                </a:rPr>
                <a:t>外发需业务负责人</a:t>
              </a:r>
              <a:br/>
              <a:r>
                <a:rPr lang="zh-CN" sz="1800" dirty="0">
                  <a:solidFill>
                    <a:schemeClr val="dk1"/>
                  </a:solidFill>
                  <a:latin typeface="+mn-lt"/>
                  <a:ea typeface="+mn-ea"/>
                  <a:cs typeface="+mn-cs"/>
                </a:rPr>
                <a:t>确认。</a:t>
              </a:r>
            </a:p>
          </p:txBody>
        </p:sp>
      </p:grpSp>
      <p:grpSp>
        <p:nvGrpSpPr>
          <p:cNvPr id="23" name="grade-sensitive"/>
          <p:cNvGrpSpPr/>
          <p:nvPr/>
        </p:nvGrpSpPr>
        <p:grpSpPr>
          <a:xfrm>
            <a:off x="6236208" y="2533650"/>
            <a:ext cx="2488692" cy="2596134"/>
            <a:chOff x="6236208" y="2533650"/>
            <a:chExt cx="2488692" cy="2596134"/>
          </a:xfrm>
        </p:grpSpPr>
        <p:sp>
          <p:nvSpPr>
            <p:cNvPr id="20" name="Rectangle 20"/>
            <p:cNvSpPr/>
            <p:nvPr/>
          </p:nvSpPr>
          <p:spPr>
            <a:xfrm>
              <a:off x="6248400" y="2533650"/>
              <a:ext cx="2476500" cy="685800"/>
            </a:xfrm>
            <a:prstGeom prst="rect">
              <a:avLst/>
            </a:prstGeom>
            <a:solidFill>
              <a:schemeClr val="accent2"/>
            </a:solidFill>
            <a:ln>
              <a:noFill/>
            </a:ln>
          </p:spPr>
        </p:sp>
        <p:sp>
          <p:nvSpPr>
            <p:cNvPr id="21" name="TextBox 21"/>
            <p:cNvSpPr txBox="1"/>
            <p:nvPr/>
          </p:nvSpPr>
          <p:spPr>
            <a:xfrm>
              <a:off x="6236208" y="3360420"/>
              <a:ext cx="7071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敏感</a:t>
              </a:r>
            </a:p>
          </p:txBody>
        </p:sp>
        <p:sp>
          <p:nvSpPr>
            <p:cNvPr id="22" name="TextBox 22"/>
            <p:cNvSpPr txBox="1"/>
            <p:nvPr/>
          </p:nvSpPr>
          <p:spPr>
            <a:xfrm>
              <a:off x="6239256" y="3806190"/>
              <a:ext cx="2304288" cy="13235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客户与员工个人信息、</a:t>
              </a:r>
              <a:br/>
              <a:r>
                <a:rPr lang="zh-CN" sz="1800" dirty="0">
                  <a:solidFill>
                    <a:schemeClr val="dk1"/>
                  </a:solidFill>
                  <a:latin typeface="+mn-lt"/>
                  <a:ea typeface="+mn-ea"/>
                  <a:cs typeface="+mn-cs"/>
                </a:rPr>
                <a:t>合同与报价；外发需</a:t>
              </a:r>
              <a:br/>
              <a:r>
                <a:rPr lang="zh-CN" sz="1800" dirty="0">
                  <a:solidFill>
                    <a:schemeClr val="dk1"/>
                  </a:solidFill>
                  <a:latin typeface="+mn-lt"/>
                  <a:ea typeface="+mn-ea"/>
                  <a:cs typeface="+mn-cs"/>
                </a:rPr>
                <a:t>安全与法务确认，</a:t>
              </a:r>
              <a:br/>
              <a:r>
                <a:rPr lang="zh-CN" sz="1800" dirty="0">
                  <a:solidFill>
                    <a:schemeClr val="dk1"/>
                  </a:solidFill>
                  <a:latin typeface="+mn-lt"/>
                  <a:ea typeface="+mn-ea"/>
                  <a:cs typeface="+mn-cs"/>
                </a:rPr>
                <a:t>并留痕。</a:t>
              </a:r>
            </a:p>
          </p:txBody>
        </p:sp>
      </p:grpSp>
      <p:grpSp>
        <p:nvGrpSpPr>
          <p:cNvPr id="27" name="grade-important"/>
          <p:cNvGrpSpPr/>
          <p:nvPr/>
        </p:nvGrpSpPr>
        <p:grpSpPr>
          <a:xfrm>
            <a:off x="9017508" y="2305050"/>
            <a:ext cx="2488692" cy="2824734"/>
            <a:chOff x="9017508" y="2305050"/>
            <a:chExt cx="2488692" cy="2824734"/>
          </a:xfrm>
        </p:grpSpPr>
        <p:sp>
          <p:nvSpPr>
            <p:cNvPr id="24" name="Rectangle 24"/>
            <p:cNvSpPr/>
            <p:nvPr/>
          </p:nvSpPr>
          <p:spPr>
            <a:xfrm>
              <a:off x="9029700" y="2305050"/>
              <a:ext cx="2476500" cy="914400"/>
            </a:xfrm>
            <a:prstGeom prst="rect">
              <a:avLst/>
            </a:prstGeom>
            <a:solidFill>
              <a:schemeClr val="accent1"/>
            </a:solidFill>
            <a:ln>
              <a:noFill/>
            </a:ln>
          </p:spPr>
        </p:sp>
        <p:sp>
          <p:nvSpPr>
            <p:cNvPr id="25" name="TextBox 25"/>
            <p:cNvSpPr txBox="1"/>
            <p:nvPr/>
          </p:nvSpPr>
          <p:spPr>
            <a:xfrm>
              <a:off x="9017508" y="336042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重要数据</a:t>
              </a:r>
            </a:p>
          </p:txBody>
        </p:sp>
        <p:sp>
          <p:nvSpPr>
            <p:cNvPr id="26" name="TextBox 26"/>
            <p:cNvSpPr txBox="1"/>
            <p:nvPr/>
          </p:nvSpPr>
          <p:spPr>
            <a:xfrm>
              <a:off x="9020556" y="3806190"/>
              <a:ext cx="2304288" cy="13235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按主管部门目录认定；</a:t>
              </a:r>
              <a:br/>
              <a:r>
                <a:rPr lang="zh-CN" sz="1800" dirty="0">
                  <a:solidFill>
                    <a:schemeClr val="dk1"/>
                  </a:solidFill>
                  <a:latin typeface="+mn-lt"/>
                  <a:ea typeface="+mn-ea"/>
                  <a:cs typeface="+mn-cs"/>
                </a:rPr>
                <a:t>处理者须定期开展风险</a:t>
              </a:r>
              <a:br/>
              <a:r>
                <a:rPr lang="zh-CN" sz="1800" dirty="0">
                  <a:solidFill>
                    <a:schemeClr val="dk1"/>
                  </a:solidFill>
                  <a:latin typeface="+mn-lt"/>
                  <a:ea typeface="+mn-ea"/>
                  <a:cs typeface="+mn-cs"/>
                </a:rPr>
                <a:t>评估，并向主管部门</a:t>
              </a:r>
              <a:br/>
              <a:r>
                <a:rPr lang="zh-CN" sz="1800" dirty="0">
                  <a:solidFill>
                    <a:schemeClr val="dk1"/>
                  </a:solidFill>
                  <a:latin typeface="+mn-lt"/>
                  <a:ea typeface="+mn-ea"/>
                  <a:cs typeface="+mn-cs"/>
                </a:rPr>
                <a:t>报送报告。</a:t>
              </a:r>
            </a:p>
          </p:txBody>
        </p:sp>
      </p:grpSp>
      <p:grpSp>
        <p:nvGrpSpPr>
          <p:cNvPr id="29" name="legal-basis"/>
          <p:cNvGrpSpPr/>
          <p:nvPr/>
        </p:nvGrpSpPr>
        <p:grpSpPr>
          <a:xfrm>
            <a:off x="678942" y="5283518"/>
            <a:ext cx="8757666" cy="511683"/>
            <a:chOff x="678942" y="5283518"/>
            <a:chExt cx="8757666" cy="511683"/>
          </a:xfrm>
        </p:grpSpPr>
        <p:sp>
          <p:nvSpPr>
            <p:cNvPr id="28" name="TextBox 28"/>
            <p:cNvSpPr txBox="1"/>
            <p:nvPr/>
          </p:nvSpPr>
          <p:spPr>
            <a:xfrm>
              <a:off x="678942" y="5283518"/>
              <a:ext cx="87576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法定依据：《网络安全法》第二十三条第（四）项数据分类、重要数据备份和加密；</a:t>
              </a:r>
              <a:br/>
              <a:r>
                <a:rPr lang="zh-CN" sz="1350" dirty="0">
                  <a:solidFill>
                    <a:schemeClr val="accent5"/>
                  </a:solidFill>
                  <a:latin typeface="+mn-lt"/>
                  <a:ea typeface="+mn-ea"/>
                  <a:cs typeface="+mn-cs"/>
                </a:rPr>
                <a:t>《数据安全法》第三十条重要数据定期风险评估并报送；《个人信息保护法》第五十一条分类管理与加密去标识化。</a:t>
              </a:r>
            </a:p>
          </p:txBody>
        </p:sp>
      </p:grpSp>
      <p:grpSp>
        <p:nvGrpSpPr>
          <p:cNvPr id="33" name="compile-note"/>
          <p:cNvGrpSpPr/>
          <p:nvPr/>
        </p:nvGrpSpPr>
        <p:grpSpPr>
          <a:xfrm>
            <a:off x="685800" y="5886450"/>
            <a:ext cx="7463790" cy="327851"/>
            <a:chOff x="685800" y="5886450"/>
            <a:chExt cx="7463790" cy="327851"/>
          </a:xfrm>
        </p:grpSpPr>
        <p:sp>
          <p:nvSpPr>
            <p:cNvPr id="30" name="Freeform 30"/>
            <p:cNvSpPr/>
            <p:nvPr/>
          </p:nvSpPr>
          <p:spPr>
            <a:xfrm>
              <a:off x="685800" y="5886450"/>
              <a:ext cx="723900" cy="304800"/>
            </a:xfrm>
            <a:prstGeom prst="plaque">
              <a:avLst/>
            </a:prstGeom>
            <a:solidFill>
              <a:srgbClr val="E0D9CC"/>
            </a:solidFill>
            <a:ln>
              <a:noFill/>
            </a:ln>
          </p:spPr>
        </p:sp>
        <p:sp>
          <p:nvSpPr>
            <p:cNvPr id="31" name="TextBox 31"/>
            <p:cNvSpPr txBox="1"/>
            <p:nvPr/>
          </p:nvSpPr>
          <p:spPr>
            <a:xfrm>
              <a:off x="859155" y="59502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2" name="TextBox 32"/>
            <p:cNvSpPr txBox="1"/>
            <p:nvPr/>
          </p:nvSpPr>
          <p:spPr>
            <a:xfrm>
              <a:off x="1593342" y="5950268"/>
              <a:ext cx="65562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四档名称与外发口径为本课依据上述法条所作的可执行归纳，以本企业制度为准。</a:t>
              </a:r>
            </a:p>
          </p:txBody>
        </p:sp>
      </p:grpSp>
      <p:grpSp>
        <p:nvGrpSpPr>
          <p:cNvPr id="36" name="footer"/>
          <p:cNvGrpSpPr/>
          <p:nvPr/>
        </p:nvGrpSpPr>
        <p:grpSpPr>
          <a:xfrm>
            <a:off x="679704" y="6404610"/>
            <a:ext cx="10832592" cy="234696"/>
            <a:chOff x="679704" y="6404610"/>
            <a:chExt cx="10832592" cy="234696"/>
          </a:xfrm>
        </p:grpSpPr>
        <p:sp>
          <p:nvSpPr>
            <p:cNvPr id="34" name="TextBox 34"/>
            <p:cNvSpPr txBox="1"/>
            <p:nvPr/>
          </p:nvSpPr>
          <p:spPr>
            <a:xfrm>
              <a:off x="679704" y="6404610"/>
              <a:ext cx="663122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来源：《网络安全法》（F006）、《数据安全法》（F024）、《个人信息保护法》（F030）</a:t>
              </a:r>
            </a:p>
          </p:txBody>
        </p:sp>
        <p:sp>
          <p:nvSpPr>
            <p:cNvPr id="35" name="TextBox 3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15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600"/>
                                        <p:tgtEl>
                                          <p:spTgt spid="11"/>
                                        </p:tgtEl>
                                      </p:cBhvr>
                                    </p:animEffect>
                                  </p:childTnLst>
                                </p:cTn>
                              </p:par>
                            </p:childTnLst>
                          </p:cTn>
                        </p:par>
                        <p:par>
                          <p:cTn id="12" fill="hold">
                            <p:stCondLst>
                              <p:cond delay="1250"/>
                            </p:stCondLst>
                            <p:childTnLst>
                              <p:par>
                                <p:cTn xmlns:p="http://schemas.openxmlformats.org/presentationml/2006/main" id="13" presetID="37" presetClass="entr" presetSubtype="0" fill="hold" grpId="0" nodeType="afterEffect">
                                  <p:stCondLst>
                                    <p:cond delay="25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anim calcmode="lin" valueType="num">
                                      <p:cBhvr>
                                        <p:cTn id="16" dur="400" fill="hold"/>
                                        <p:tgtEl>
                                          <p:spTgt spid="15"/>
                                        </p:tgtEl>
                                        <p:attrNameLst>
                                          <p:attrName>ppt_x</p:attrName>
                                        </p:attrNameLst>
                                      </p:cBhvr>
                                      <p:tavLst>
                                        <p:tav tm="0">
                                          <p:val>
                                            <p:strVal val="#ppt_x"/>
                                          </p:val>
                                        </p:tav>
                                        <p:tav tm="100000">
                                          <p:val>
                                            <p:strVal val="#ppt_x"/>
                                          </p:val>
                                        </p:tav>
                                      </p:tavLst>
                                    </p:anim>
                                    <p:anim calcmode="lin" valueType="num">
                                      <p:cBhvr>
                                        <p:cTn id="17" dur="360" decel="100000" fill="hold"/>
                                        <p:tgtEl>
                                          <p:spTgt spid="15"/>
                                        </p:tgtEl>
                                        <p:attrNameLst>
                                          <p:attrName>ppt_y</p:attrName>
                                        </p:attrNameLst>
                                      </p:cBhvr>
                                      <p:tavLst>
                                        <p:tav tm="0">
                                          <p:val>
                                            <p:strVal val="#ppt_y+1"/>
                                          </p:val>
                                        </p:tav>
                                        <p:tav tm="100000">
                                          <p:val>
                                            <p:strVal val="#ppt_y-.03"/>
                                          </p:val>
                                        </p:tav>
                                      </p:tavLst>
                                    </p:anim>
                                    <p:anim calcmode="lin" valueType="num">
                                      <p:cBhvr>
                                        <p:cTn id="18" dur="40" accel="100000" fill="hold">
                                          <p:stCondLst>
                                            <p:cond delay="360"/>
                                          </p:stCondLst>
                                        </p:cTn>
                                        <p:tgtEl>
                                          <p:spTgt spid="15"/>
                                        </p:tgtEl>
                                        <p:attrNameLst>
                                          <p:attrName>ppt_y</p:attrName>
                                        </p:attrNameLst>
                                      </p:cBhvr>
                                      <p:tavLst>
                                        <p:tav tm="0">
                                          <p:val>
                                            <p:strVal val="#ppt_y-.03"/>
                                          </p:val>
                                        </p:tav>
                                        <p:tav tm="100000">
                                          <p:val>
                                            <p:strVal val="#ppt_y"/>
                                          </p:val>
                                        </p:tav>
                                      </p:tavLst>
                                    </p:anim>
                                  </p:childTnLst>
                                </p:cTn>
                              </p:par>
                            </p:childTnLst>
                          </p:cTn>
                        </p:par>
                        <p:par>
                          <p:cTn id="19" fill="hold">
                            <p:stCondLst>
                              <p:cond delay="1900"/>
                            </p:stCondLst>
                            <p:childTnLst>
                              <p:par>
                                <p:cTn xmlns:p="http://schemas.openxmlformats.org/presentationml/2006/main" id="20" presetID="37" presetClass="entr" presetSubtype="0" fill="hold" grpId="0" nodeType="afterEffect">
                                  <p:stCondLst>
                                    <p:cond delay="25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anim calcmode="lin" valueType="num">
                                      <p:cBhvr>
                                        <p:cTn id="23" dur="400" fill="hold"/>
                                        <p:tgtEl>
                                          <p:spTgt spid="19"/>
                                        </p:tgtEl>
                                        <p:attrNameLst>
                                          <p:attrName>ppt_x</p:attrName>
                                        </p:attrNameLst>
                                      </p:cBhvr>
                                      <p:tavLst>
                                        <p:tav tm="0">
                                          <p:val>
                                            <p:strVal val="#ppt_x"/>
                                          </p:val>
                                        </p:tav>
                                        <p:tav tm="100000">
                                          <p:val>
                                            <p:strVal val="#ppt_x"/>
                                          </p:val>
                                        </p:tav>
                                      </p:tavLst>
                                    </p:anim>
                                    <p:anim calcmode="lin" valueType="num">
                                      <p:cBhvr>
                                        <p:cTn id="24" dur="360" decel="100000" fill="hold"/>
                                        <p:tgtEl>
                                          <p:spTgt spid="19"/>
                                        </p:tgtEl>
                                        <p:attrNameLst>
                                          <p:attrName>ppt_y</p:attrName>
                                        </p:attrNameLst>
                                      </p:cBhvr>
                                      <p:tavLst>
                                        <p:tav tm="0">
                                          <p:val>
                                            <p:strVal val="#ppt_y+1"/>
                                          </p:val>
                                        </p:tav>
                                        <p:tav tm="100000">
                                          <p:val>
                                            <p:strVal val="#ppt_y-.03"/>
                                          </p:val>
                                        </p:tav>
                                      </p:tavLst>
                                    </p:anim>
                                    <p:anim calcmode="lin" valueType="num">
                                      <p:cBhvr>
                                        <p:cTn id="25" dur="40" accel="100000" fill="hold">
                                          <p:stCondLst>
                                            <p:cond delay="360"/>
                                          </p:stCondLst>
                                        </p:cTn>
                                        <p:tgtEl>
                                          <p:spTgt spid="19"/>
                                        </p:tgtEl>
                                        <p:attrNameLst>
                                          <p:attrName>ppt_y</p:attrName>
                                        </p:attrNameLst>
                                      </p:cBhvr>
                                      <p:tavLst>
                                        <p:tav tm="0">
                                          <p:val>
                                            <p:strVal val="#ppt_y-.03"/>
                                          </p:val>
                                        </p:tav>
                                        <p:tav tm="100000">
                                          <p:val>
                                            <p:strVal val="#ppt_y"/>
                                          </p:val>
                                        </p:tav>
                                      </p:tavLst>
                                    </p:anim>
                                  </p:childTnLst>
                                </p:cTn>
                              </p:par>
                            </p:childTnLst>
                          </p:cTn>
                        </p:par>
                        <p:par>
                          <p:cTn id="26" fill="hold">
                            <p:stCondLst>
                              <p:cond delay="2550"/>
                            </p:stCondLst>
                            <p:childTnLst>
                              <p:par>
                                <p:cTn xmlns:p="http://schemas.openxmlformats.org/presentationml/2006/main" id="27" presetID="37" presetClass="entr" presetSubtype="0" fill="hold" grpId="0" nodeType="afterEffect">
                                  <p:stCondLst>
                                    <p:cond delay="25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anim calcmode="lin" valueType="num">
                                      <p:cBhvr>
                                        <p:cTn id="30" dur="400" fill="hold"/>
                                        <p:tgtEl>
                                          <p:spTgt spid="23"/>
                                        </p:tgtEl>
                                        <p:attrNameLst>
                                          <p:attrName>ppt_x</p:attrName>
                                        </p:attrNameLst>
                                      </p:cBhvr>
                                      <p:tavLst>
                                        <p:tav tm="0">
                                          <p:val>
                                            <p:strVal val="#ppt_x"/>
                                          </p:val>
                                        </p:tav>
                                        <p:tav tm="100000">
                                          <p:val>
                                            <p:strVal val="#ppt_x"/>
                                          </p:val>
                                        </p:tav>
                                      </p:tavLst>
                                    </p:anim>
                                    <p:anim calcmode="lin" valueType="num">
                                      <p:cBhvr>
                                        <p:cTn id="31" dur="360" decel="100000" fill="hold"/>
                                        <p:tgtEl>
                                          <p:spTgt spid="23"/>
                                        </p:tgtEl>
                                        <p:attrNameLst>
                                          <p:attrName>ppt_y</p:attrName>
                                        </p:attrNameLst>
                                      </p:cBhvr>
                                      <p:tavLst>
                                        <p:tav tm="0">
                                          <p:val>
                                            <p:strVal val="#ppt_y+1"/>
                                          </p:val>
                                        </p:tav>
                                        <p:tav tm="100000">
                                          <p:val>
                                            <p:strVal val="#ppt_y-.03"/>
                                          </p:val>
                                        </p:tav>
                                      </p:tavLst>
                                    </p:anim>
                                    <p:anim calcmode="lin" valueType="num">
                                      <p:cBhvr>
                                        <p:cTn id="32" dur="40" accel="100000" fill="hold">
                                          <p:stCondLst>
                                            <p:cond delay="360"/>
                                          </p:stCondLst>
                                        </p:cTn>
                                        <p:tgtEl>
                                          <p:spTgt spid="23"/>
                                        </p:tgtEl>
                                        <p:attrNameLst>
                                          <p:attrName>ppt_y</p:attrName>
                                        </p:attrNameLst>
                                      </p:cBhvr>
                                      <p:tavLst>
                                        <p:tav tm="0">
                                          <p:val>
                                            <p:strVal val="#ppt_y-.03"/>
                                          </p:val>
                                        </p:tav>
                                        <p:tav tm="100000">
                                          <p:val>
                                            <p:strVal val="#ppt_y"/>
                                          </p:val>
                                        </p:tav>
                                      </p:tavLst>
                                    </p:anim>
                                  </p:childTnLst>
                                </p:cTn>
                              </p:par>
                            </p:childTnLst>
                          </p:cTn>
                        </p:par>
                        <p:par>
                          <p:cTn id="33" fill="hold">
                            <p:stCondLst>
                              <p:cond delay="3200"/>
                            </p:stCondLst>
                            <p:childTnLst>
                              <p:par>
                                <p:cTn xmlns:p="http://schemas.openxmlformats.org/presentationml/2006/main" id="34" presetID="37" presetClass="entr" presetSubtype="0" fill="hold" grpId="0" nodeType="afterEffect">
                                  <p:stCondLst>
                                    <p:cond delay="25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400"/>
                                        <p:tgtEl>
                                          <p:spTgt spid="27"/>
                                        </p:tgtEl>
                                      </p:cBhvr>
                                    </p:animEffect>
                                    <p:anim calcmode="lin" valueType="num">
                                      <p:cBhvr>
                                        <p:cTn id="37" dur="400" fill="hold"/>
                                        <p:tgtEl>
                                          <p:spTgt spid="27"/>
                                        </p:tgtEl>
                                        <p:attrNameLst>
                                          <p:attrName>ppt_x</p:attrName>
                                        </p:attrNameLst>
                                      </p:cBhvr>
                                      <p:tavLst>
                                        <p:tav tm="0">
                                          <p:val>
                                            <p:strVal val="#ppt_x"/>
                                          </p:val>
                                        </p:tav>
                                        <p:tav tm="100000">
                                          <p:val>
                                            <p:strVal val="#ppt_x"/>
                                          </p:val>
                                        </p:tav>
                                      </p:tavLst>
                                    </p:anim>
                                    <p:anim calcmode="lin" valueType="num">
                                      <p:cBhvr>
                                        <p:cTn id="38" dur="360" decel="100000" fill="hold"/>
                                        <p:tgtEl>
                                          <p:spTgt spid="27"/>
                                        </p:tgtEl>
                                        <p:attrNameLst>
                                          <p:attrName>ppt_y</p:attrName>
                                        </p:attrNameLst>
                                      </p:cBhvr>
                                      <p:tavLst>
                                        <p:tav tm="0">
                                          <p:val>
                                            <p:strVal val="#ppt_y+1"/>
                                          </p:val>
                                        </p:tav>
                                        <p:tav tm="100000">
                                          <p:val>
                                            <p:strVal val="#ppt_y-.03"/>
                                          </p:val>
                                        </p:tav>
                                      </p:tavLst>
                                    </p:anim>
                                    <p:anim calcmode="lin" valueType="num">
                                      <p:cBhvr>
                                        <p:cTn id="39" dur="40" accel="100000" fill="hold">
                                          <p:stCondLst>
                                            <p:cond delay="360"/>
                                          </p:stCondLst>
                                        </p:cTn>
                                        <p:tgtEl>
                                          <p:spTgt spid="27"/>
                                        </p:tgtEl>
                                        <p:attrNameLst>
                                          <p:attrName>ppt_y</p:attrName>
                                        </p:attrNameLst>
                                      </p:cBhvr>
                                      <p:tavLst>
                                        <p:tav tm="0">
                                          <p:val>
                                            <p:strVal val="#ppt_y-.03"/>
                                          </p:val>
                                        </p:tav>
                                        <p:tav tm="100000">
                                          <p:val>
                                            <p:strVal val="#ppt_y"/>
                                          </p:val>
                                        </p:tav>
                                      </p:tavLst>
                                    </p:anim>
                                  </p:childTnLst>
                                </p:cTn>
                              </p:par>
                            </p:childTnLst>
                          </p:cTn>
                        </p:par>
                        <p:par>
                          <p:cTn id="40" fill="hold">
                            <p:stCondLst>
                              <p:cond delay="3850"/>
                            </p:stCondLst>
                            <p:childTnLst>
                              <p:par>
                                <p:cTn xmlns:p="http://schemas.openxmlformats.org/presentationml/2006/main" id="41" presetID="10" presetClass="entr" presetSubtype="0" fill="hold" grpId="0" nodeType="afterEffect">
                                  <p:stCondLst>
                                    <p:cond delay="30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childTnLst>
                          </p:cTn>
                        </p:par>
                        <p:par>
                          <p:cTn id="44" fill="hold">
                            <p:stCondLst>
                              <p:cond delay="4650"/>
                            </p:stCondLst>
                            <p:childTnLst>
                              <p:par>
                                <p:cTn xmlns:p="http://schemas.openxmlformats.org/presentationml/2006/main" id="45" presetID="10" presetClass="entr" presetSubtype="0" fill="hold" grpId="0" nodeType="afterEffect">
                                  <p:stCondLst>
                                    <p:cond delay="25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632170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走 U 盘的那条路，最难被发现</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8" name="removable-media-share"/>
          <p:cNvGrpSpPr/>
          <p:nvPr/>
        </p:nvGrpSpPr>
        <p:grpSpPr>
          <a:xfrm>
            <a:off x="1898142" y="2140268"/>
            <a:ext cx="4048277" cy="3616833"/>
            <a:chOff x="1898142" y="2140268"/>
            <a:chExt cx="4048277" cy="3616833"/>
          </a:xfrm>
        </p:grpSpPr>
        <p:sp>
          <p:nvSpPr>
            <p:cNvPr id="9" name="TextBox 9"/>
            <p:cNvSpPr txBox="1"/>
            <p:nvPr/>
          </p:nvSpPr>
          <p:spPr>
            <a:xfrm>
              <a:off x="1898142" y="2140268"/>
              <a:ext cx="40482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数据泄露中经可移动介质复制数据的比例（2026）</a:t>
              </a:r>
            </a:p>
          </p:txBody>
        </p:sp>
        <p:grpSp>
          <p:nvGrpSpPr>
            <p:cNvPr id="13" name="removable-media-share-chartArea"/>
            <p:cNvGrpSpPr/>
            <p:nvPr/>
          </p:nvGrpSpPr>
          <p:grpSpPr>
            <a:xfrm>
              <a:off x="1914015" y="2476485"/>
              <a:ext cx="2905651" cy="2804450"/>
              <a:chOff x="1914015" y="2476485"/>
              <a:chExt cx="2905651" cy="2804450"/>
            </a:xfrm>
          </p:grpSpPr>
          <p:sp>
            <p:nvSpPr>
              <p:cNvPr id="10" name="Freeform 10"/>
              <p:cNvSpPr/>
              <p:nvPr/>
            </p:nvSpPr>
            <p:spPr>
              <a:xfrm>
                <a:off x="3333750" y="2476500"/>
                <a:ext cx="783812" cy="655415"/>
              </a:xfrm>
              <a:custGeom>
                <a:avLst/>
                <a:gdLst/>
                <a:ahLst/>
                <a:cxnLst/>
                <a:rect l="l" t="t" r="r" b="b"/>
                <a:pathLst>
                  <a:path w="783812" h="655415">
                    <a:moveTo>
                      <a:pt x="0" y="0"/>
                    </a:moveTo>
                    <a:cubicBezTo>
                      <a:pt x="281610" y="6"/>
                      <a:pt x="555990" y="89166"/>
                      <a:pt x="783812" y="254699"/>
                    </a:cubicBezTo>
                    <a:lnTo>
                      <a:pt x="492728" y="655415"/>
                    </a:lnTo>
                    <a:cubicBezTo>
                      <a:pt x="349515" y="551350"/>
                      <a:pt x="177030" y="495300"/>
                      <a:pt x="0" y="495300"/>
                    </a:cubicBezTo>
                    <a:close/>
                  </a:path>
                </a:pathLst>
              </a:custGeom>
              <a:solidFill>
                <a:schemeClr val="accent2"/>
              </a:solidFill>
              <a:ln>
                <a:noFill/>
              </a:ln>
            </p:spPr>
          </p:sp>
          <p:sp>
            <p:nvSpPr>
              <p:cNvPr id="11" name="Freeform 11"/>
              <p:cNvSpPr/>
              <p:nvPr/>
            </p:nvSpPr>
            <p:spPr>
              <a:xfrm>
                <a:off x="1914015" y="2476485"/>
                <a:ext cx="2905651" cy="2804450"/>
              </a:xfrm>
              <a:custGeom>
                <a:avLst/>
                <a:gdLst/>
                <a:ahLst/>
                <a:cxnLst/>
                <a:rect l="l" t="t" r="r" b="b"/>
                <a:pathLst>
                  <a:path w="2905651" h="2804450">
                    <a:moveTo>
                      <a:pt x="2203547" y="254714"/>
                    </a:moveTo>
                    <a:cubicBezTo>
                      <a:pt x="2734201" y="640280"/>
                      <a:pt x="2905651" y="1354507"/>
                      <a:pt x="2607845" y="1938944"/>
                    </a:cubicBezTo>
                    <a:cubicBezTo>
                      <a:pt x="2310039" y="2523381"/>
                      <a:pt x="1631426" y="2804450"/>
                      <a:pt x="1007597" y="2601738"/>
                    </a:cubicBezTo>
                    <a:cubicBezTo>
                      <a:pt x="383768" y="2399026"/>
                      <a:pt x="0" y="1772737"/>
                      <a:pt x="102627" y="1124878"/>
                    </a:cubicBezTo>
                    <a:cubicBezTo>
                      <a:pt x="205254" y="477018"/>
                      <a:pt x="763797" y="0"/>
                      <a:pt x="1419735" y="15"/>
                    </a:cubicBezTo>
                    <a:lnTo>
                      <a:pt x="1419735" y="495315"/>
                    </a:lnTo>
                    <a:cubicBezTo>
                      <a:pt x="1007436" y="495315"/>
                      <a:pt x="656362" y="795156"/>
                      <a:pt x="591858" y="1202378"/>
                    </a:cubicBezTo>
                    <a:cubicBezTo>
                      <a:pt x="527353" y="1609600"/>
                      <a:pt x="768576" y="2003262"/>
                      <a:pt x="1160691" y="2130682"/>
                    </a:cubicBezTo>
                    <a:cubicBezTo>
                      <a:pt x="1552807" y="2258102"/>
                      <a:pt x="1979360" y="2081439"/>
                      <a:pt x="2166558" y="1714088"/>
                    </a:cubicBezTo>
                    <a:cubicBezTo>
                      <a:pt x="2353757" y="1346736"/>
                      <a:pt x="2246004" y="897796"/>
                      <a:pt x="1912463" y="655430"/>
                    </a:cubicBezTo>
                    <a:close/>
                  </a:path>
                </a:pathLst>
              </a:custGeom>
              <a:solidFill>
                <a:srgbClr val="C9C1B4"/>
              </a:solidFill>
              <a:ln>
                <a:noFill/>
              </a:ln>
            </p:spPr>
          </p:sp>
          <p:sp>
            <p:nvSpPr>
              <p:cNvPr id="12" name="TextBox 12"/>
              <p:cNvSpPr txBox="1"/>
              <p:nvPr/>
            </p:nvSpPr>
            <p:spPr>
              <a:xfrm>
                <a:off x="2687102" y="3501390"/>
                <a:ext cx="1293297" cy="933450"/>
              </a:xfrm>
              <a:prstGeom prst="rect">
                <a:avLst/>
              </a:prstGeom>
              <a:noFill/>
              <a:ln>
                <a:noFill/>
              </a:ln>
            </p:spPr>
            <p:txBody>
              <a:bodyPr wrap="none" lIns="0" tIns="0" rIns="0" bIns="0" anchor="t" anchorCtr="0">
                <a:spAutoFit/>
              </a:bodyPr>
              <a:lstStyle/>
              <a:p>
                <a:pPr algn="ctr"/>
                <a:r>
                  <a:rPr lang="zh-CN" sz="4800" b="1" dirty="0">
                    <a:solidFill>
                      <a:schemeClr val="accent2"/>
                    </a:solidFill>
                    <a:latin typeface="+mn-lt"/>
                    <a:ea typeface="+mn-ea"/>
                    <a:cs typeface="+mn-cs"/>
                  </a:rPr>
                  <a:t>10%</a:t>
                </a:r>
              </a:p>
            </p:txBody>
          </p:sp>
        </p:grpSp>
        <p:sp>
          <p:nvSpPr>
            <p:cNvPr id="14" name="Rectangle 14"/>
            <p:cNvSpPr/>
            <p:nvPr/>
          </p:nvSpPr>
          <p:spPr>
            <a:xfrm>
              <a:off x="1905000" y="5219700"/>
              <a:ext cx="152400" cy="152400"/>
            </a:xfrm>
            <a:prstGeom prst="rect">
              <a:avLst/>
            </a:prstGeom>
            <a:solidFill>
              <a:schemeClr val="accent2"/>
            </a:solidFill>
            <a:ln>
              <a:noFill/>
            </a:ln>
          </p:spPr>
        </p:sp>
        <p:sp>
          <p:nvSpPr>
            <p:cNvPr id="15" name="TextBox 15"/>
            <p:cNvSpPr txBox="1"/>
            <p:nvPr/>
          </p:nvSpPr>
          <p:spPr>
            <a:xfrm>
              <a:off x="2164842" y="5207318"/>
              <a:ext cx="23762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经可移动介质复制数据的泄露</a:t>
              </a:r>
            </a:p>
          </p:txBody>
        </p:sp>
        <p:sp>
          <p:nvSpPr>
            <p:cNvPr id="16" name="Rectangle 16"/>
            <p:cNvSpPr/>
            <p:nvPr/>
          </p:nvSpPr>
          <p:spPr>
            <a:xfrm>
              <a:off x="1905000" y="5505450"/>
              <a:ext cx="152400" cy="152400"/>
            </a:xfrm>
            <a:prstGeom prst="rect">
              <a:avLst/>
            </a:prstGeom>
            <a:solidFill>
              <a:srgbClr val="C9C1B4"/>
            </a:solidFill>
            <a:ln>
              <a:noFill/>
            </a:ln>
          </p:spPr>
        </p:sp>
        <p:sp>
          <p:nvSpPr>
            <p:cNvPr id="17" name="TextBox 17"/>
            <p:cNvSpPr txBox="1"/>
            <p:nvPr/>
          </p:nvSpPr>
          <p:spPr>
            <a:xfrm>
              <a:off x="2164842" y="54930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其余路径</a:t>
              </a:r>
            </a:p>
          </p:txBody>
        </p:sp>
      </p:grpSp>
      <p:grpSp>
        <p:nvGrpSpPr>
          <p:cNvPr id="21" name="dwell-callout"/>
          <p:cNvGrpSpPr/>
          <p:nvPr/>
        </p:nvGrpSpPr>
        <p:grpSpPr>
          <a:xfrm>
            <a:off x="6667500" y="2057400"/>
            <a:ext cx="3238500" cy="571500"/>
            <a:chOff x="6667500" y="2057400"/>
            <a:chExt cx="3238500" cy="571500"/>
          </a:xfrm>
        </p:grpSpPr>
        <p:sp>
          <p:nvSpPr>
            <p:cNvPr id="19" name="Freeform 19"/>
            <p:cNvSpPr/>
            <p:nvPr/>
          </p:nvSpPr>
          <p:spPr>
            <a:xfrm>
              <a:off x="6667500" y="2057400"/>
              <a:ext cx="3238500" cy="571500"/>
            </a:xfrm>
            <a:prstGeom prst="wedgeRectCallout">
              <a:avLst/>
            </a:prstGeom>
            <a:solidFill>
              <a:schemeClr val="accent1"/>
            </a:solidFill>
            <a:ln>
              <a:noFill/>
            </a:ln>
          </p:spPr>
        </p:sp>
        <p:sp>
          <p:nvSpPr>
            <p:cNvPr id="20" name="TextBox 20"/>
            <p:cNvSpPr txBox="1"/>
            <p:nvPr/>
          </p:nvSpPr>
          <p:spPr>
            <a:xfrm>
              <a:off x="7066026" y="2215515"/>
              <a:ext cx="2441448" cy="352044"/>
            </a:xfrm>
            <a:prstGeom prst="rect">
              <a:avLst/>
            </a:prstGeom>
            <a:noFill/>
            <a:ln>
              <a:noFill/>
            </a:ln>
          </p:spPr>
          <p:txBody>
            <a:bodyPr wrap="none" lIns="0" tIns="0" rIns="0" bIns="0" anchor="t" anchorCtr="0">
              <a:spAutoFit/>
            </a:bodyPr>
            <a:lstStyle/>
            <a:p>
              <a:pPr algn="ctr"/>
              <a:r>
                <a:rPr lang="zh-CN" sz="1800" dirty="0">
                  <a:solidFill>
                    <a:srgbClr val="F7F4EE"/>
                  </a:solidFill>
                  <a:latin typeface="+mn-lt"/>
                  <a:ea typeface="+mn-ea"/>
                  <a:cs typeface="+mn-cs"/>
                </a:rPr>
                <a:t>最难被发现的一条路径</a:t>
              </a:r>
            </a:p>
          </p:txBody>
        </p:sp>
      </p:grpSp>
      <p:grpSp>
        <p:nvGrpSpPr>
          <p:cNvPr id="25" name="dwell-metric"/>
          <p:cNvGrpSpPr/>
          <p:nvPr/>
        </p:nvGrpSpPr>
        <p:grpSpPr>
          <a:xfrm>
            <a:off x="6648450" y="2815590"/>
            <a:ext cx="3357524" cy="1360361"/>
            <a:chOff x="6648450" y="2815590"/>
            <a:chExt cx="3357524" cy="1360361"/>
          </a:xfrm>
        </p:grpSpPr>
        <p:sp>
          <p:nvSpPr>
            <p:cNvPr id="22" name="TextBox 22"/>
            <p:cNvSpPr txBox="1"/>
            <p:nvPr/>
          </p:nvSpPr>
          <p:spPr>
            <a:xfrm>
              <a:off x="6648450" y="2815590"/>
              <a:ext cx="2007321"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mn-lt"/>
                  <a:ea typeface="+mn-ea"/>
                  <a:cs typeface="+mn-cs"/>
                </a:rPr>
                <a:t>258 天</a:t>
              </a:r>
            </a:p>
          </p:txBody>
        </p:sp>
        <p:sp>
          <p:nvSpPr>
            <p:cNvPr id="23" name="TextBox 23"/>
            <p:cNvSpPr txBox="1"/>
            <p:nvPr/>
          </p:nvSpPr>
          <p:spPr>
            <a:xfrm>
              <a:off x="6656832" y="3526155"/>
              <a:ext cx="200025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才被识别和遏制</a:t>
              </a:r>
            </a:p>
          </p:txBody>
        </p:sp>
        <p:sp>
          <p:nvSpPr>
            <p:cNvPr id="24" name="TextBox 24"/>
            <p:cNvSpPr txBox="1"/>
            <p:nvPr/>
          </p:nvSpPr>
          <p:spPr>
            <a:xfrm>
              <a:off x="6660642" y="3911918"/>
              <a:ext cx="334533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与供应链入侵并列耗时最长（IBM 2026）</a:t>
              </a:r>
            </a:p>
          </p:txBody>
        </p:sp>
      </p:grpSp>
      <p:grpSp>
        <p:nvGrpSpPr>
          <p:cNvPr id="27" name="dwell-reason"/>
          <p:cNvGrpSpPr/>
          <p:nvPr/>
        </p:nvGrpSpPr>
        <p:grpSpPr>
          <a:xfrm>
            <a:off x="6658356" y="4358640"/>
            <a:ext cx="3218688" cy="675894"/>
            <a:chOff x="6658356" y="4358640"/>
            <a:chExt cx="3218688" cy="675894"/>
          </a:xfrm>
        </p:grpSpPr>
        <p:sp>
          <p:nvSpPr>
            <p:cNvPr id="26" name="TextBox 26"/>
            <p:cNvSpPr txBox="1"/>
            <p:nvPr/>
          </p:nvSpPr>
          <p:spPr>
            <a:xfrm>
              <a:off x="6658356" y="4358640"/>
              <a:ext cx="32186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不是因为它更严重，而是因为它</a:t>
              </a:r>
              <a:br/>
              <a:r>
                <a:rPr lang="zh-CN" sz="1800" dirty="0">
                  <a:solidFill>
                    <a:schemeClr val="dk1"/>
                  </a:solidFill>
                  <a:latin typeface="+mn-lt"/>
                  <a:ea typeface="+mn-ea"/>
                  <a:cs typeface="+mn-cs"/>
                </a:rPr>
                <a:t>离开了所有能被监测到的通道。</a:t>
              </a:r>
            </a:p>
          </p:txBody>
        </p:sp>
      </p:grpSp>
      <p:grpSp>
        <p:nvGrpSpPr>
          <p:cNvPr id="31" name="media-action"/>
          <p:cNvGrpSpPr/>
          <p:nvPr/>
        </p:nvGrpSpPr>
        <p:grpSpPr>
          <a:xfrm>
            <a:off x="6667500" y="5086350"/>
            <a:ext cx="4838700" cy="1167384"/>
            <a:chOff x="6667500" y="5086350"/>
            <a:chExt cx="4838700" cy="1167384"/>
          </a:xfrm>
        </p:grpSpPr>
        <p:sp>
          <p:nvSpPr>
            <p:cNvPr id="28" name="Rectangle 28"/>
            <p:cNvSpPr/>
            <p:nvPr/>
          </p:nvSpPr>
          <p:spPr>
            <a:xfrm>
              <a:off x="6667500" y="5086350"/>
              <a:ext cx="4838700" cy="1143000"/>
            </a:xfrm>
            <a:prstGeom prst="rect">
              <a:avLst/>
            </a:prstGeom>
            <a:solidFill>
              <a:schemeClr val="accent2">
                <a:alpha val="7000"/>
              </a:schemeClr>
            </a:solidFill>
            <a:ln>
              <a:noFill/>
            </a:ln>
          </p:spPr>
        </p:sp>
        <p:sp>
          <p:nvSpPr>
            <p:cNvPr id="29" name="Rectangle 29"/>
            <p:cNvSpPr/>
            <p:nvPr/>
          </p:nvSpPr>
          <p:spPr>
            <a:xfrm>
              <a:off x="6667500" y="5086350"/>
              <a:ext cx="38100" cy="1143000"/>
            </a:xfrm>
            <a:prstGeom prst="rect">
              <a:avLst/>
            </a:prstGeom>
            <a:solidFill>
              <a:schemeClr val="accent2"/>
            </a:solidFill>
            <a:ln>
              <a:noFill/>
            </a:ln>
          </p:spPr>
        </p:sp>
        <p:sp>
          <p:nvSpPr>
            <p:cNvPr id="30" name="TextBox 30"/>
            <p:cNvSpPr txBox="1"/>
            <p:nvPr/>
          </p:nvSpPr>
          <p:spPr>
            <a:xfrm>
              <a:off x="6925056" y="5253990"/>
              <a:ext cx="348157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不用私人 U 盘和移动硬盘转运公司</a:t>
              </a:r>
              <a:br/>
              <a:r>
                <a:rPr lang="zh-CN" sz="1800" dirty="0">
                  <a:solidFill>
                    <a:schemeClr val="dk1"/>
                  </a:solidFill>
                  <a:latin typeface="+mn-lt"/>
                  <a:ea typeface="+mn-ea"/>
                  <a:cs typeface="+mn-cs"/>
                </a:rPr>
                <a:t>数据；必须使用时，走公司审批与</a:t>
              </a:r>
              <a:br/>
              <a:r>
                <a:rPr lang="zh-CN" sz="1800" dirty="0">
                  <a:solidFill>
                    <a:schemeClr val="dk1"/>
                  </a:solidFill>
                  <a:latin typeface="+mn-lt"/>
                  <a:ea typeface="+mn-ea"/>
                  <a:cs typeface="+mn-cs"/>
                </a:rPr>
                <a:t>加密介质。</a:t>
              </a:r>
            </a:p>
          </p:txBody>
        </p:sp>
      </p:grpSp>
      <p:grpSp>
        <p:nvGrpSpPr>
          <p:cNvPr id="34" name="footer"/>
          <p:cNvGrpSpPr/>
          <p:nvPr/>
        </p:nvGrpSpPr>
        <p:grpSpPr>
          <a:xfrm>
            <a:off x="679704" y="6404610"/>
            <a:ext cx="10832592" cy="234696"/>
            <a:chOff x="679704" y="6404610"/>
            <a:chExt cx="10832592" cy="234696"/>
          </a:xfrm>
        </p:grpSpPr>
        <p:sp>
          <p:nvSpPr>
            <p:cNvPr id="32" name="TextBox 32"/>
            <p:cNvSpPr txBox="1"/>
            <p:nvPr/>
          </p:nvSpPr>
          <p:spPr>
            <a:xfrm>
              <a:off x="679704" y="6404610"/>
              <a:ext cx="3439363"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来源：IBM《数据泄露成本报告》2026（F065）</a:t>
              </a:r>
            </a:p>
          </p:txBody>
        </p:sp>
        <p:sp>
          <p:nvSpPr>
            <p:cNvPr id="33" name="TextBox 33"/>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16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1" presetClass="entr" presetSubtype="1" fill="hold" grpId="0" nodeType="afterEffect">
                                  <p:stCondLst>
                                    <p:cond delay="25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900"/>
                                        <p:tgtEl>
                                          <p:spTgt spid="18"/>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225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par>
                          <p:cTn id="24" fill="hold">
                            <p:stCondLst>
                              <p:cond delay="3700"/>
                            </p:stCondLst>
                            <p:childTnLst>
                              <p:par>
                                <p:cTn xmlns:p="http://schemas.openxmlformats.org/presentationml/2006/main" id="25" presetID="22" presetClass="entr" presetSubtype="2" fill="hold" grpId="0" nodeType="afterEffect">
                                  <p:stCondLst>
                                    <p:cond delay="250"/>
                                  </p:stCondLst>
                                  <p:childTnLst>
                                    <p:set>
                                      <p:cBhvr>
                                        <p:cTn id="26" dur="1" fill="hold">
                                          <p:stCondLst>
                                            <p:cond delay="0"/>
                                          </p:stCondLst>
                                        </p:cTn>
                                        <p:tgtEl>
                                          <p:spTgt spid="31"/>
                                        </p:tgtEl>
                                        <p:attrNameLst>
                                          <p:attrName>style.visibility</p:attrName>
                                        </p:attrNameLst>
                                      </p:cBhvr>
                                      <p:to>
                                        <p:strVal val="visible"/>
                                      </p:to>
                                    </p:set>
                                    <p:animEffect transition="in" filter="wipe(right)">
                                      <p:cBhvr>
                                        <p:cTn id="27"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在家办公，等于把办公室的边界搬到你家</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4" name="remote-device"/>
          <p:cNvGrpSpPr/>
          <p:nvPr/>
        </p:nvGrpSpPr>
        <p:grpSpPr>
          <a:xfrm>
            <a:off x="685800" y="2197894"/>
            <a:ext cx="4045458" cy="987457"/>
            <a:chOff x="685800" y="2197894"/>
            <a:chExt cx="4045458" cy="987457"/>
          </a:xfrm>
        </p:grpSpPr>
        <p:grpSp>
          <p:nvGrpSpPr>
            <p:cNvPr id="11" name="Group 11"/>
            <p:cNvGrpSpPr/>
            <p:nvPr/>
          </p:nvGrpSpPr>
          <p:grpSpPr>
            <a:xfrm>
              <a:off x="685800" y="2197894"/>
              <a:ext cx="419100" cy="366712"/>
              <a:chOff x="685800" y="2197894"/>
              <a:chExt cx="419100" cy="366712"/>
            </a:xfrm>
          </p:grpSpPr>
          <p:sp>
            <p:nvSpPr>
              <p:cNvPr id="9" name="Freeform 9"/>
              <p:cNvSpPr/>
              <p:nvPr/>
            </p:nvSpPr>
            <p:spPr>
              <a:xfrm>
                <a:off x="738188" y="2197894"/>
                <a:ext cx="314325" cy="209550"/>
              </a:xfrm>
              <a:custGeom>
                <a:avLst/>
                <a:gdLst/>
                <a:ahLst/>
                <a:cxnLst/>
                <a:rect l="l" t="t" r="r" b="b"/>
                <a:pathLst>
                  <a:path w="314325" h="209550">
                    <a:moveTo>
                      <a:pt x="0" y="0"/>
                    </a:moveTo>
                    <a:lnTo>
                      <a:pt x="314325" y="0"/>
                    </a:lnTo>
                    <a:lnTo>
                      <a:pt x="314325" y="209550"/>
                    </a:lnTo>
                    <a:lnTo>
                      <a:pt x="0" y="209550"/>
                    </a:lnTo>
                    <a:lnTo>
                      <a:pt x="0" y="0"/>
                    </a:lnTo>
                    <a:close/>
                    <a:moveTo>
                      <a:pt x="52388" y="52388"/>
                    </a:moveTo>
                    <a:lnTo>
                      <a:pt x="261938" y="52388"/>
                    </a:lnTo>
                    <a:lnTo>
                      <a:pt x="261938" y="157162"/>
                    </a:lnTo>
                    <a:lnTo>
                      <a:pt x="52388" y="157162"/>
                    </a:lnTo>
                    <a:lnTo>
                      <a:pt x="52388" y="52388"/>
                    </a:lnTo>
                    <a:close/>
                  </a:path>
                </a:pathLst>
              </a:custGeom>
              <a:solidFill>
                <a:schemeClr val="accent1"/>
              </a:solidFill>
              <a:ln>
                <a:noFill/>
              </a:ln>
            </p:spPr>
          </p:sp>
          <p:sp>
            <p:nvSpPr>
              <p:cNvPr id="10" name="Freeform 10"/>
              <p:cNvSpPr/>
              <p:nvPr/>
            </p:nvSpPr>
            <p:spPr>
              <a:xfrm>
                <a:off x="685800" y="2459831"/>
                <a:ext cx="419100" cy="104775"/>
              </a:xfrm>
              <a:custGeom>
                <a:avLst/>
                <a:gdLst/>
                <a:ahLst/>
                <a:cxnLst/>
                <a:rect l="l" t="t" r="r" b="b"/>
                <a:pathLst>
                  <a:path w="419100" h="104775">
                    <a:moveTo>
                      <a:pt x="52388" y="0"/>
                    </a:moveTo>
                    <a:lnTo>
                      <a:pt x="0" y="52388"/>
                    </a:lnTo>
                    <a:lnTo>
                      <a:pt x="0" y="104775"/>
                    </a:lnTo>
                    <a:lnTo>
                      <a:pt x="419100" y="104775"/>
                    </a:lnTo>
                    <a:lnTo>
                      <a:pt x="419100" y="52388"/>
                    </a:lnTo>
                    <a:lnTo>
                      <a:pt x="366712" y="0"/>
                    </a:lnTo>
                    <a:lnTo>
                      <a:pt x="52388" y="0"/>
                    </a:lnTo>
                    <a:close/>
                  </a:path>
                </a:pathLst>
              </a:custGeom>
              <a:solidFill>
                <a:schemeClr val="accent1"/>
              </a:solidFill>
              <a:ln>
                <a:noFill/>
              </a:ln>
            </p:spPr>
          </p:sp>
        </p:grpSp>
        <p:sp>
          <p:nvSpPr>
            <p:cNvPr id="12" name="TextBox 12"/>
            <p:cNvSpPr txBox="1"/>
            <p:nvPr/>
          </p:nvSpPr>
          <p:spPr>
            <a:xfrm>
              <a:off x="1286256" y="22821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设备</a:t>
              </a:r>
            </a:p>
          </p:txBody>
        </p:sp>
        <p:sp>
          <p:nvSpPr>
            <p:cNvPr id="13" name="TextBox 13"/>
            <p:cNvSpPr txBox="1"/>
            <p:nvPr/>
          </p:nvSpPr>
          <p:spPr>
            <a:xfrm>
              <a:off x="1288542" y="2673668"/>
              <a:ext cx="34427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公司数据只落在公司管控的终端上，个人电脑</a:t>
              </a:r>
              <a:br/>
              <a:r>
                <a:rPr lang="zh-CN" sz="1350" dirty="0">
                  <a:solidFill>
                    <a:schemeClr val="accent5"/>
                  </a:solidFill>
                  <a:latin typeface="+mn-lt"/>
                  <a:ea typeface="+mn-ea"/>
                  <a:cs typeface="+mn-cs"/>
                </a:rPr>
                <a:t>不做公司数据的落地存储。</a:t>
              </a:r>
            </a:p>
          </p:txBody>
        </p:sp>
      </p:grpSp>
      <p:grpSp>
        <p:nvGrpSpPr>
          <p:cNvPr id="21" name="remote-network"/>
          <p:cNvGrpSpPr/>
          <p:nvPr/>
        </p:nvGrpSpPr>
        <p:grpSpPr>
          <a:xfrm>
            <a:off x="6248400" y="2250281"/>
            <a:ext cx="4096893" cy="935070"/>
            <a:chOff x="6248400" y="2250281"/>
            <a:chExt cx="4096893" cy="935070"/>
          </a:xfrm>
        </p:grpSpPr>
        <p:grpSp>
          <p:nvGrpSpPr>
            <p:cNvPr id="18" name="Group 18"/>
            <p:cNvGrpSpPr/>
            <p:nvPr/>
          </p:nvGrpSpPr>
          <p:grpSpPr>
            <a:xfrm>
              <a:off x="6248400" y="2250281"/>
              <a:ext cx="419100" cy="314325"/>
              <a:chOff x="6248400" y="2250281"/>
              <a:chExt cx="419100" cy="314325"/>
            </a:xfrm>
          </p:grpSpPr>
          <p:sp>
            <p:nvSpPr>
              <p:cNvPr id="15" name="Freeform 15"/>
              <p:cNvSpPr/>
              <p:nvPr/>
            </p:nvSpPr>
            <p:spPr>
              <a:xfrm>
                <a:off x="6248400" y="2250281"/>
                <a:ext cx="419100" cy="141818"/>
              </a:xfrm>
              <a:custGeom>
                <a:avLst/>
                <a:gdLst/>
                <a:ahLst/>
                <a:cxnLst/>
                <a:rect l="l" t="t" r="r" b="b"/>
                <a:pathLst>
                  <a:path w="419100" h="141818">
                    <a:moveTo>
                      <a:pt x="0" y="104775"/>
                    </a:moveTo>
                    <a:lnTo>
                      <a:pt x="30688" y="74087"/>
                    </a:lnTo>
                    <a:cubicBezTo>
                      <a:pt x="78125" y="26650"/>
                      <a:pt x="142464" y="0"/>
                      <a:pt x="209550" y="0"/>
                    </a:cubicBezTo>
                    <a:cubicBezTo>
                      <a:pt x="276637" y="0"/>
                      <a:pt x="340975" y="26650"/>
                      <a:pt x="388411" y="74087"/>
                    </a:cubicBezTo>
                    <a:lnTo>
                      <a:pt x="419100" y="104775"/>
                    </a:lnTo>
                    <a:lnTo>
                      <a:pt x="382057" y="141818"/>
                    </a:lnTo>
                    <a:lnTo>
                      <a:pt x="351368" y="111131"/>
                    </a:lnTo>
                    <a:cubicBezTo>
                      <a:pt x="313757" y="73518"/>
                      <a:pt x="262742" y="52388"/>
                      <a:pt x="209550" y="52388"/>
                    </a:cubicBezTo>
                    <a:cubicBezTo>
                      <a:pt x="156358" y="52388"/>
                      <a:pt x="105344" y="73518"/>
                      <a:pt x="67732" y="111131"/>
                    </a:cubicBezTo>
                    <a:lnTo>
                      <a:pt x="37043" y="141818"/>
                    </a:lnTo>
                    <a:lnTo>
                      <a:pt x="0" y="104775"/>
                    </a:lnTo>
                    <a:close/>
                  </a:path>
                </a:pathLst>
              </a:custGeom>
              <a:solidFill>
                <a:schemeClr val="accent1"/>
              </a:solidFill>
              <a:ln>
                <a:noFill/>
              </a:ln>
            </p:spPr>
          </p:sp>
          <p:sp>
            <p:nvSpPr>
              <p:cNvPr id="16" name="Freeform 16"/>
              <p:cNvSpPr/>
              <p:nvPr/>
            </p:nvSpPr>
            <p:spPr>
              <a:xfrm>
                <a:off x="6322487" y="2355056"/>
                <a:ext cx="270926" cy="111130"/>
              </a:xfrm>
              <a:custGeom>
                <a:avLst/>
                <a:gdLst/>
                <a:ahLst/>
                <a:cxnLst/>
                <a:rect l="l" t="t" r="r" b="b"/>
                <a:pathLst>
                  <a:path w="270926" h="111130">
                    <a:moveTo>
                      <a:pt x="37043" y="111130"/>
                    </a:moveTo>
                    <a:lnTo>
                      <a:pt x="0" y="74087"/>
                    </a:lnTo>
                    <a:lnTo>
                      <a:pt x="30688" y="43399"/>
                    </a:lnTo>
                    <a:cubicBezTo>
                      <a:pt x="58476" y="15611"/>
                      <a:pt x="96165" y="0"/>
                      <a:pt x="135463" y="0"/>
                    </a:cubicBezTo>
                    <a:cubicBezTo>
                      <a:pt x="174761" y="0"/>
                      <a:pt x="212449" y="15611"/>
                      <a:pt x="240238" y="43399"/>
                    </a:cubicBezTo>
                    <a:lnTo>
                      <a:pt x="270926" y="74087"/>
                    </a:lnTo>
                    <a:lnTo>
                      <a:pt x="233883" y="111130"/>
                    </a:lnTo>
                    <a:lnTo>
                      <a:pt x="203195" y="80444"/>
                    </a:lnTo>
                    <a:cubicBezTo>
                      <a:pt x="185231" y="62479"/>
                      <a:pt x="160867" y="52388"/>
                      <a:pt x="135463" y="52388"/>
                    </a:cubicBezTo>
                    <a:cubicBezTo>
                      <a:pt x="110059" y="52388"/>
                      <a:pt x="85695" y="62479"/>
                      <a:pt x="67731" y="80444"/>
                    </a:cubicBezTo>
                    <a:lnTo>
                      <a:pt x="37043" y="111130"/>
                    </a:lnTo>
                    <a:close/>
                  </a:path>
                </a:pathLst>
              </a:custGeom>
              <a:solidFill>
                <a:schemeClr val="accent1"/>
              </a:solidFill>
              <a:ln>
                <a:noFill/>
              </a:ln>
            </p:spPr>
          </p:sp>
          <p:sp>
            <p:nvSpPr>
              <p:cNvPr id="17" name="Freeform 17"/>
              <p:cNvSpPr/>
              <p:nvPr/>
            </p:nvSpPr>
            <p:spPr>
              <a:xfrm>
                <a:off x="6396574" y="2459831"/>
                <a:ext cx="122750" cy="104775"/>
              </a:xfrm>
              <a:custGeom>
                <a:avLst/>
                <a:gdLst/>
                <a:ahLst/>
                <a:cxnLst/>
                <a:rect l="l" t="t" r="r" b="b"/>
                <a:pathLst>
                  <a:path w="122750" h="104775">
                    <a:moveTo>
                      <a:pt x="61376" y="104775"/>
                    </a:moveTo>
                    <a:lnTo>
                      <a:pt x="0" y="43400"/>
                    </a:lnTo>
                    <a:lnTo>
                      <a:pt x="30688" y="12712"/>
                    </a:lnTo>
                    <a:cubicBezTo>
                      <a:pt x="38827" y="4573"/>
                      <a:pt x="49866" y="0"/>
                      <a:pt x="61376" y="0"/>
                    </a:cubicBezTo>
                    <a:cubicBezTo>
                      <a:pt x="72886" y="0"/>
                      <a:pt x="83925" y="4573"/>
                      <a:pt x="92064" y="12712"/>
                    </a:cubicBezTo>
                    <a:lnTo>
                      <a:pt x="122750" y="43400"/>
                    </a:lnTo>
                    <a:lnTo>
                      <a:pt x="61376" y="104775"/>
                    </a:lnTo>
                    <a:close/>
                  </a:path>
                </a:pathLst>
              </a:custGeom>
              <a:solidFill>
                <a:schemeClr val="accent1"/>
              </a:solidFill>
              <a:ln>
                <a:noFill/>
              </a:ln>
            </p:spPr>
          </p:sp>
        </p:grpSp>
        <p:sp>
          <p:nvSpPr>
            <p:cNvPr id="19" name="TextBox 19"/>
            <p:cNvSpPr txBox="1"/>
            <p:nvPr/>
          </p:nvSpPr>
          <p:spPr>
            <a:xfrm>
              <a:off x="6848856" y="22821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网络</a:t>
              </a:r>
            </a:p>
          </p:txBody>
        </p:sp>
        <p:sp>
          <p:nvSpPr>
            <p:cNvPr id="20" name="TextBox 20"/>
            <p:cNvSpPr txBox="1"/>
            <p:nvPr/>
          </p:nvSpPr>
          <p:spPr>
            <a:xfrm>
              <a:off x="6851142" y="2673668"/>
              <a:ext cx="349415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公共 Wi-Fi 下先连公司 VPN 再访问内部系统；</a:t>
              </a:r>
              <a:br/>
              <a:r>
                <a:rPr lang="zh-CN" sz="1350" dirty="0">
                  <a:solidFill>
                    <a:schemeClr val="accent5"/>
                  </a:solidFill>
                  <a:latin typeface="+mn-lt"/>
                  <a:ea typeface="+mn-ea"/>
                  <a:cs typeface="+mn-cs"/>
                </a:rPr>
                <a:t>不为「网速快」绕过管控通道。</a:t>
              </a:r>
            </a:p>
          </p:txBody>
        </p:sp>
      </p:grpSp>
      <p:grpSp>
        <p:nvGrpSpPr>
          <p:cNvPr id="25" name="remote-account"/>
          <p:cNvGrpSpPr/>
          <p:nvPr/>
        </p:nvGrpSpPr>
        <p:grpSpPr>
          <a:xfrm>
            <a:off x="764381" y="4076700"/>
            <a:ext cx="3452527" cy="1013651"/>
            <a:chOff x="764381" y="4076700"/>
            <a:chExt cx="3452527" cy="1013651"/>
          </a:xfrm>
        </p:grpSpPr>
        <p:sp>
          <p:nvSpPr>
            <p:cNvPr id="22" name="Freeform 22"/>
            <p:cNvSpPr/>
            <p:nvPr/>
          </p:nvSpPr>
          <p:spPr>
            <a:xfrm>
              <a:off x="764381" y="4076700"/>
              <a:ext cx="261938" cy="419100"/>
            </a:xfrm>
            <a:custGeom>
              <a:avLst/>
              <a:gdLst/>
              <a:ahLst/>
              <a:cxnLst/>
              <a:rect l="l" t="t" r="r" b="b"/>
              <a:pathLst>
                <a:path w="261938" h="419100">
                  <a:moveTo>
                    <a:pt x="196974" y="244114"/>
                  </a:moveTo>
                  <a:cubicBezTo>
                    <a:pt x="235833" y="221395"/>
                    <a:pt x="261938" y="179230"/>
                    <a:pt x="261938" y="130969"/>
                  </a:cubicBezTo>
                  <a:cubicBezTo>
                    <a:pt x="261938" y="58637"/>
                    <a:pt x="203300" y="0"/>
                    <a:pt x="130969" y="0"/>
                  </a:cubicBezTo>
                  <a:cubicBezTo>
                    <a:pt x="58637" y="0"/>
                    <a:pt x="0" y="58637"/>
                    <a:pt x="0" y="130969"/>
                  </a:cubicBezTo>
                  <a:cubicBezTo>
                    <a:pt x="0" y="179230"/>
                    <a:pt x="26104" y="221395"/>
                    <a:pt x="64964" y="244114"/>
                  </a:cubicBezTo>
                  <a:lnTo>
                    <a:pt x="26194" y="379809"/>
                  </a:lnTo>
                  <a:lnTo>
                    <a:pt x="26194" y="419100"/>
                  </a:lnTo>
                  <a:lnTo>
                    <a:pt x="235744" y="419100"/>
                  </a:lnTo>
                  <a:lnTo>
                    <a:pt x="235744" y="379809"/>
                  </a:lnTo>
                  <a:lnTo>
                    <a:pt x="196974" y="244114"/>
                  </a:lnTo>
                  <a:close/>
                </a:path>
              </a:pathLst>
            </a:custGeom>
            <a:solidFill>
              <a:schemeClr val="accent1"/>
            </a:solidFill>
            <a:ln>
              <a:noFill/>
            </a:ln>
          </p:spPr>
        </p:sp>
        <p:sp>
          <p:nvSpPr>
            <p:cNvPr id="23" name="TextBox 23"/>
            <p:cNvSpPr txBox="1"/>
            <p:nvPr/>
          </p:nvSpPr>
          <p:spPr>
            <a:xfrm>
              <a:off x="1286256" y="41871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账号</a:t>
              </a:r>
            </a:p>
          </p:txBody>
        </p:sp>
        <p:sp>
          <p:nvSpPr>
            <p:cNvPr id="24" name="TextBox 24"/>
            <p:cNvSpPr txBox="1"/>
            <p:nvPr/>
          </p:nvSpPr>
          <p:spPr>
            <a:xfrm>
              <a:off x="1288542" y="4578668"/>
              <a:ext cx="29283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家人共用的电脑不保存公司账号口令；</a:t>
              </a:r>
              <a:br/>
              <a:r>
                <a:rPr lang="zh-CN" sz="1350" dirty="0">
                  <a:solidFill>
                    <a:schemeClr val="accent5"/>
                  </a:solidFill>
                  <a:latin typeface="+mn-lt"/>
                  <a:ea typeface="+mn-ea"/>
                  <a:cs typeface="+mn-cs"/>
                </a:rPr>
                <a:t>离开座位时锁屏。</a:t>
              </a:r>
            </a:p>
          </p:txBody>
        </p:sp>
      </p:grpSp>
      <p:grpSp>
        <p:nvGrpSpPr>
          <p:cNvPr id="29" name="remote-screen"/>
          <p:cNvGrpSpPr/>
          <p:nvPr/>
        </p:nvGrpSpPr>
        <p:grpSpPr>
          <a:xfrm>
            <a:off x="6248400" y="4129088"/>
            <a:ext cx="3531108" cy="961263"/>
            <a:chOff x="6248400" y="4129088"/>
            <a:chExt cx="3531108" cy="961263"/>
          </a:xfrm>
        </p:grpSpPr>
        <p:sp>
          <p:nvSpPr>
            <p:cNvPr id="26" name="Freeform 26"/>
            <p:cNvSpPr/>
            <p:nvPr/>
          </p:nvSpPr>
          <p:spPr>
            <a:xfrm>
              <a:off x="6248400" y="4129088"/>
              <a:ext cx="419100" cy="314325"/>
            </a:xfrm>
            <a:custGeom>
              <a:avLst/>
              <a:gdLst/>
              <a:ahLst/>
              <a:cxnLst/>
              <a:rect l="l" t="t" r="r" b="b"/>
              <a:pathLst>
                <a:path w="419100" h="314325">
                  <a:moveTo>
                    <a:pt x="0" y="157162"/>
                  </a:moveTo>
                  <a:lnTo>
                    <a:pt x="80662" y="60368"/>
                  </a:lnTo>
                  <a:cubicBezTo>
                    <a:pt x="112538" y="22116"/>
                    <a:pt x="159758" y="0"/>
                    <a:pt x="209550" y="0"/>
                  </a:cubicBezTo>
                  <a:cubicBezTo>
                    <a:pt x="259342" y="0"/>
                    <a:pt x="306561" y="22116"/>
                    <a:pt x="338439" y="60368"/>
                  </a:cubicBezTo>
                  <a:lnTo>
                    <a:pt x="419100" y="157162"/>
                  </a:lnTo>
                  <a:lnTo>
                    <a:pt x="338439" y="253956"/>
                  </a:lnTo>
                  <a:cubicBezTo>
                    <a:pt x="306561" y="292210"/>
                    <a:pt x="259342" y="314325"/>
                    <a:pt x="209550" y="314325"/>
                  </a:cubicBezTo>
                  <a:cubicBezTo>
                    <a:pt x="159758" y="314325"/>
                    <a:pt x="112538" y="292210"/>
                    <a:pt x="80662" y="253956"/>
                  </a:cubicBezTo>
                  <a:lnTo>
                    <a:pt x="0" y="157162"/>
                  </a:lnTo>
                  <a:close/>
                  <a:moveTo>
                    <a:pt x="209550" y="235744"/>
                  </a:moveTo>
                  <a:cubicBezTo>
                    <a:pt x="252949" y="235744"/>
                    <a:pt x="288131" y="200562"/>
                    <a:pt x="288131" y="157162"/>
                  </a:cubicBezTo>
                  <a:cubicBezTo>
                    <a:pt x="288131" y="113763"/>
                    <a:pt x="252949" y="78581"/>
                    <a:pt x="209550" y="78581"/>
                  </a:cubicBezTo>
                  <a:cubicBezTo>
                    <a:pt x="166151" y="78581"/>
                    <a:pt x="130969" y="113763"/>
                    <a:pt x="130969" y="157162"/>
                  </a:cubicBezTo>
                  <a:cubicBezTo>
                    <a:pt x="130969" y="200562"/>
                    <a:pt x="166151" y="235744"/>
                    <a:pt x="209550" y="235744"/>
                  </a:cubicBezTo>
                  <a:close/>
                </a:path>
              </a:pathLst>
            </a:custGeom>
            <a:solidFill>
              <a:schemeClr val="accent1"/>
            </a:solidFill>
            <a:ln>
              <a:noFill/>
            </a:ln>
          </p:spPr>
        </p:sp>
        <p:sp>
          <p:nvSpPr>
            <p:cNvPr id="27" name="TextBox 27"/>
            <p:cNvSpPr txBox="1"/>
            <p:nvPr/>
          </p:nvSpPr>
          <p:spPr>
            <a:xfrm>
              <a:off x="6848856" y="41871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屏幕与音频</a:t>
              </a:r>
            </a:p>
          </p:txBody>
        </p:sp>
        <p:sp>
          <p:nvSpPr>
            <p:cNvPr id="28" name="TextBox 28"/>
            <p:cNvSpPr txBox="1"/>
            <p:nvPr/>
          </p:nvSpPr>
          <p:spPr>
            <a:xfrm>
              <a:off x="6851142" y="4578668"/>
              <a:ext cx="29283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视频会议共享屏幕前先关掉无关窗口；</a:t>
              </a:r>
              <a:br/>
              <a:r>
                <a:rPr lang="zh-CN" sz="1350" dirty="0">
                  <a:solidFill>
                    <a:schemeClr val="accent5"/>
                  </a:solidFill>
                  <a:latin typeface="+mn-lt"/>
                  <a:ea typeface="+mn-ea"/>
                  <a:cs typeface="+mn-cs"/>
                </a:rPr>
                <a:t>客户信息不出现在共享画面里。</a:t>
              </a:r>
            </a:p>
          </p:txBody>
        </p:sp>
      </p:grpSp>
      <p:grpSp>
        <p:nvGrpSpPr>
          <p:cNvPr id="33" name="log-retention"/>
          <p:cNvGrpSpPr/>
          <p:nvPr/>
        </p:nvGrpSpPr>
        <p:grpSpPr>
          <a:xfrm>
            <a:off x="685800" y="5314950"/>
            <a:ext cx="10820400" cy="590550"/>
            <a:chOff x="685800" y="5314950"/>
            <a:chExt cx="10820400" cy="590550"/>
          </a:xfrm>
        </p:grpSpPr>
        <p:sp>
          <p:nvSpPr>
            <p:cNvPr id="30" name="Rectangle 30"/>
            <p:cNvSpPr/>
            <p:nvPr/>
          </p:nvSpPr>
          <p:spPr>
            <a:xfrm>
              <a:off x="685800" y="5314950"/>
              <a:ext cx="10820400" cy="590550"/>
            </a:xfrm>
            <a:prstGeom prst="rect">
              <a:avLst/>
            </a:prstGeom>
            <a:solidFill>
              <a:schemeClr val="lt2"/>
            </a:solidFill>
            <a:ln>
              <a:noFill/>
            </a:ln>
          </p:spPr>
        </p:sp>
        <p:sp>
          <p:nvSpPr>
            <p:cNvPr id="31" name="Rectangle 31"/>
            <p:cNvSpPr/>
            <p:nvPr/>
          </p:nvSpPr>
          <p:spPr>
            <a:xfrm>
              <a:off x="685800" y="5314950"/>
              <a:ext cx="38100" cy="590550"/>
            </a:xfrm>
            <a:prstGeom prst="rect">
              <a:avLst/>
            </a:prstGeom>
            <a:solidFill>
              <a:schemeClr val="accent1"/>
            </a:solidFill>
            <a:ln>
              <a:noFill/>
            </a:ln>
          </p:spPr>
        </p:sp>
        <p:sp>
          <p:nvSpPr>
            <p:cNvPr id="32" name="TextBox 32"/>
            <p:cNvSpPr txBox="1"/>
            <p:nvPr/>
          </p:nvSpPr>
          <p:spPr>
            <a:xfrm>
              <a:off x="943356" y="5501640"/>
              <a:ext cx="102197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《网络安全法》第二十三条要求留存相关的网络日志</a:t>
              </a:r>
              <a:r>
                <a:rPr lang="zh-CN" sz="1800" b="1" dirty="0">
                  <a:solidFill>
                    <a:schemeClr val="accent2"/>
                  </a:solidFill>
                  <a:latin typeface="+mn-lt"/>
                  <a:ea typeface="+mn-ea"/>
                  <a:cs typeface="+mn-cs"/>
                </a:rPr>
                <a:t>不少于六个月</a:t>
              </a:r>
              <a:r>
                <a:rPr lang="zh-CN" sz="1800" dirty="0">
                  <a:solidFill>
                    <a:schemeClr val="dk1"/>
                  </a:solidFill>
                  <a:latin typeface="+mn-lt"/>
                  <a:ea typeface="+mn-ea"/>
                  <a:cs typeface="+mn-cs"/>
                </a:rPr>
                <a:t>——在家的操作同样在日志里。</a:t>
              </a:r>
            </a:p>
          </p:txBody>
        </p:sp>
      </p:grpSp>
      <p:grpSp>
        <p:nvGrpSpPr>
          <p:cNvPr id="37" name="compile-note"/>
          <p:cNvGrpSpPr/>
          <p:nvPr/>
        </p:nvGrpSpPr>
        <p:grpSpPr>
          <a:xfrm>
            <a:off x="685800" y="6019800"/>
            <a:ext cx="4374261" cy="318325"/>
            <a:chOff x="685800" y="6019800"/>
            <a:chExt cx="4374261" cy="318325"/>
          </a:xfrm>
        </p:grpSpPr>
        <p:sp>
          <p:nvSpPr>
            <p:cNvPr id="34" name="Freeform 34"/>
            <p:cNvSpPr/>
            <p:nvPr/>
          </p:nvSpPr>
          <p:spPr>
            <a:xfrm>
              <a:off x="685800" y="6019800"/>
              <a:ext cx="723900" cy="285750"/>
            </a:xfrm>
            <a:prstGeom prst="plaque">
              <a:avLst/>
            </a:prstGeom>
            <a:solidFill>
              <a:srgbClr val="E0D9CC"/>
            </a:solidFill>
            <a:ln>
              <a:noFill/>
            </a:ln>
          </p:spPr>
        </p:sp>
        <p:sp>
          <p:nvSpPr>
            <p:cNvPr id="35" name="TextBox 35"/>
            <p:cNvSpPr txBox="1"/>
            <p:nvPr/>
          </p:nvSpPr>
          <p:spPr>
            <a:xfrm>
              <a:off x="859155" y="6074092"/>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6" name="TextBox 36"/>
            <p:cNvSpPr txBox="1"/>
            <p:nvPr/>
          </p:nvSpPr>
          <p:spPr>
            <a:xfrm>
              <a:off x="1593342" y="6074092"/>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四个场景为本课归纳的常见远程办公风险面</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3133954"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来源：《网络安全法》第二十三条（F005）</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17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par>
                          <p:cTn id="20" fill="hold">
                            <p:stCondLst>
                              <p:cond delay="235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par>
                          <p:cTn id="24" fill="hold">
                            <p:stCondLst>
                              <p:cond delay="3000"/>
                            </p:stCondLst>
                            <p:childTnLst>
                              <p:par>
                                <p:cTn xmlns:p="http://schemas.openxmlformats.org/presentationml/2006/main" id="25" presetID="10" presetClass="entr" presetSubtype="0" fill="hold" grpId="0" nodeType="afterEffect">
                                  <p:stCondLst>
                                    <p:cond delay="25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par>
                          <p:cTn id="28" fill="hold">
                            <p:stCondLst>
                              <p:cond delay="365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30480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03 数据与设备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外发之前问自己四句话</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3" name="question-1"/>
          <p:cNvGrpSpPr/>
          <p:nvPr/>
        </p:nvGrpSpPr>
        <p:grpSpPr>
          <a:xfrm>
            <a:off x="666750" y="2232660"/>
            <a:ext cx="7905750" cy="819150"/>
            <a:chOff x="666750" y="2232660"/>
            <a:chExt cx="7905750" cy="819150"/>
          </a:xfrm>
        </p:grpSpPr>
        <p:sp>
          <p:nvSpPr>
            <p:cNvPr id="9" name="TextBox 9"/>
            <p:cNvSpPr txBox="1"/>
            <p:nvPr/>
          </p:nvSpPr>
          <p:spPr>
            <a:xfrm>
              <a:off x="666750" y="2232660"/>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一</a:t>
              </a:r>
            </a:p>
          </p:txBody>
        </p:sp>
        <p:sp>
          <p:nvSpPr>
            <p:cNvPr id="10" name="TextBox 10"/>
            <p:cNvSpPr txBox="1"/>
            <p:nvPr/>
          </p:nvSpPr>
          <p:spPr>
            <a:xfrm>
              <a:off x="1514856" y="232029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这是哪一档数据？</a:t>
              </a:r>
            </a:p>
          </p:txBody>
        </p:sp>
        <p:sp>
          <p:nvSpPr>
            <p:cNvPr id="11" name="TextBox 11"/>
            <p:cNvSpPr txBox="1"/>
            <p:nvPr/>
          </p:nvSpPr>
          <p:spPr>
            <a:xfrm>
              <a:off x="1517142" y="2654618"/>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分不清就按敏感处理。</a:t>
              </a:r>
            </a:p>
          </p:txBody>
        </p:sp>
        <p:sp>
          <p:nvSpPr>
            <p:cNvPr id="12" name="Line 12"/>
            <p:cNvSpPr/>
            <p:nvPr/>
          </p:nvSpPr>
          <p:spPr>
            <a:xfrm>
              <a:off x="1524000" y="2933700"/>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18" name="question-2"/>
          <p:cNvGrpSpPr/>
          <p:nvPr/>
        </p:nvGrpSpPr>
        <p:grpSpPr>
          <a:xfrm>
            <a:off x="666750" y="3042285"/>
            <a:ext cx="7905750" cy="819150"/>
            <a:chOff x="666750" y="3042285"/>
            <a:chExt cx="7905750" cy="819150"/>
          </a:xfrm>
        </p:grpSpPr>
        <p:sp>
          <p:nvSpPr>
            <p:cNvPr id="14" name="TextBox 14"/>
            <p:cNvSpPr txBox="1"/>
            <p:nvPr/>
          </p:nvSpPr>
          <p:spPr>
            <a:xfrm>
              <a:off x="666750" y="3042285"/>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二</a:t>
              </a:r>
            </a:p>
          </p:txBody>
        </p:sp>
        <p:sp>
          <p:nvSpPr>
            <p:cNvPr id="15" name="TextBox 15"/>
            <p:cNvSpPr txBox="1"/>
            <p:nvPr/>
          </p:nvSpPr>
          <p:spPr>
            <a:xfrm>
              <a:off x="1514856" y="3129915"/>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收件人有权知道吗？</a:t>
              </a:r>
            </a:p>
          </p:txBody>
        </p:sp>
        <p:sp>
          <p:nvSpPr>
            <p:cNvPr id="16" name="TextBox 16"/>
            <p:cNvSpPr txBox="1"/>
            <p:nvPr/>
          </p:nvSpPr>
          <p:spPr>
            <a:xfrm>
              <a:off x="1517142" y="3464242"/>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对外发送要有合同或授权依据。</a:t>
              </a:r>
            </a:p>
          </p:txBody>
        </p:sp>
        <p:sp>
          <p:nvSpPr>
            <p:cNvPr id="17" name="Line 17"/>
            <p:cNvSpPr/>
            <p:nvPr/>
          </p:nvSpPr>
          <p:spPr>
            <a:xfrm>
              <a:off x="1524000" y="3743325"/>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23" name="question-3"/>
          <p:cNvGrpSpPr/>
          <p:nvPr/>
        </p:nvGrpSpPr>
        <p:grpSpPr>
          <a:xfrm>
            <a:off x="666750" y="3851910"/>
            <a:ext cx="7905750" cy="819150"/>
            <a:chOff x="666750" y="3851910"/>
            <a:chExt cx="7905750" cy="819150"/>
          </a:xfrm>
        </p:grpSpPr>
        <p:sp>
          <p:nvSpPr>
            <p:cNvPr id="19" name="TextBox 19"/>
            <p:cNvSpPr txBox="1"/>
            <p:nvPr/>
          </p:nvSpPr>
          <p:spPr>
            <a:xfrm>
              <a:off x="666750" y="3851910"/>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三</a:t>
              </a:r>
            </a:p>
          </p:txBody>
        </p:sp>
        <p:sp>
          <p:nvSpPr>
            <p:cNvPr id="20" name="TextBox 20"/>
            <p:cNvSpPr txBox="1"/>
            <p:nvPr/>
          </p:nvSpPr>
          <p:spPr>
            <a:xfrm>
              <a:off x="1514856" y="393954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有没有更小的范围？</a:t>
              </a:r>
            </a:p>
          </p:txBody>
        </p:sp>
        <p:sp>
          <p:nvSpPr>
            <p:cNvPr id="21" name="TextBox 21"/>
            <p:cNvSpPr txBox="1"/>
            <p:nvPr/>
          </p:nvSpPr>
          <p:spPr>
            <a:xfrm>
              <a:off x="1517142" y="4273868"/>
              <a:ext cx="455714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能发摘要就不发全量，能去标识化就不发原始个人信息。</a:t>
              </a:r>
            </a:p>
          </p:txBody>
        </p:sp>
        <p:sp>
          <p:nvSpPr>
            <p:cNvPr id="22" name="Line 22"/>
            <p:cNvSpPr/>
            <p:nvPr/>
          </p:nvSpPr>
          <p:spPr>
            <a:xfrm>
              <a:off x="1524000" y="4552950"/>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28" name="question-4"/>
          <p:cNvGrpSpPr/>
          <p:nvPr/>
        </p:nvGrpSpPr>
        <p:grpSpPr>
          <a:xfrm>
            <a:off x="666750" y="4661535"/>
            <a:ext cx="7905750" cy="819150"/>
            <a:chOff x="666750" y="4661535"/>
            <a:chExt cx="7905750" cy="819150"/>
          </a:xfrm>
        </p:grpSpPr>
        <p:sp>
          <p:nvSpPr>
            <p:cNvPr id="24" name="TextBox 24"/>
            <p:cNvSpPr txBox="1"/>
            <p:nvPr/>
          </p:nvSpPr>
          <p:spPr>
            <a:xfrm>
              <a:off x="666750" y="4661535"/>
              <a:ext cx="635508" cy="819150"/>
            </a:xfrm>
            <a:prstGeom prst="rect">
              <a:avLst/>
            </a:prstGeom>
            <a:noFill/>
            <a:ln>
              <a:noFill/>
            </a:ln>
          </p:spPr>
          <p:txBody>
            <a:bodyPr wrap="none" lIns="0" tIns="0" rIns="0" bIns="0" anchor="t" anchorCtr="0">
              <a:spAutoFit/>
            </a:bodyPr>
            <a:lstStyle/>
            <a:p>
              <a:pPr algn="l"/>
              <a:r>
                <a:rPr lang="zh-CN" sz="4200" dirty="0">
                  <a:solidFill>
                    <a:schemeClr val="accent6"/>
                  </a:solidFill>
                  <a:latin typeface="+mj-lt"/>
                  <a:ea typeface="+mj-ea"/>
                  <a:cs typeface="+mj-cs"/>
                </a:rPr>
                <a:t>四</a:t>
              </a:r>
            </a:p>
          </p:txBody>
        </p:sp>
        <p:sp>
          <p:nvSpPr>
            <p:cNvPr id="25" name="TextBox 25"/>
            <p:cNvSpPr txBox="1"/>
            <p:nvPr/>
          </p:nvSpPr>
          <p:spPr>
            <a:xfrm>
              <a:off x="1514856" y="4749165"/>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留痕了吗？</a:t>
              </a:r>
            </a:p>
          </p:txBody>
        </p:sp>
        <p:sp>
          <p:nvSpPr>
            <p:cNvPr id="26" name="TextBox 26"/>
            <p:cNvSpPr txBox="1"/>
            <p:nvPr/>
          </p:nvSpPr>
          <p:spPr>
            <a:xfrm>
              <a:off x="1517142" y="5083492"/>
              <a:ext cx="41936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谁批的、什么时候发的、发了哪一版，要能查得到。</a:t>
              </a:r>
            </a:p>
          </p:txBody>
        </p:sp>
        <p:sp>
          <p:nvSpPr>
            <p:cNvPr id="27" name="Line 27"/>
            <p:cNvSpPr/>
            <p:nvPr/>
          </p:nvSpPr>
          <p:spPr>
            <a:xfrm>
              <a:off x="1524000" y="5362575"/>
              <a:ext cx="7048500" cy="9525"/>
            </a:xfrm>
            <a:custGeom>
              <a:avLst/>
              <a:gdLst/>
              <a:ahLst/>
              <a:cxnLst/>
              <a:rect l="l" t="t" r="r" b="b"/>
              <a:pathLst>
                <a:path w="7048500" h="9525">
                  <a:moveTo>
                    <a:pt x="0" y="0"/>
                  </a:moveTo>
                  <a:lnTo>
                    <a:pt x="7048500" y="0"/>
                  </a:lnTo>
                </a:path>
              </a:pathLst>
            </a:custGeom>
            <a:noFill/>
            <a:ln w="9525">
              <a:solidFill>
                <a:schemeClr val="accent6"/>
              </a:solidFill>
            </a:ln>
          </p:spPr>
        </p:sp>
      </p:grpSp>
      <p:grpSp>
        <p:nvGrpSpPr>
          <p:cNvPr id="31" name="export-verdict"/>
          <p:cNvGrpSpPr/>
          <p:nvPr/>
        </p:nvGrpSpPr>
        <p:grpSpPr>
          <a:xfrm>
            <a:off x="8763000" y="2190750"/>
            <a:ext cx="1877568" cy="3143250"/>
            <a:chOff x="8763000" y="2190750"/>
            <a:chExt cx="1877568" cy="3143250"/>
          </a:xfrm>
        </p:grpSpPr>
        <p:sp>
          <p:nvSpPr>
            <p:cNvPr id="29" name="Freeform 29"/>
            <p:cNvSpPr/>
            <p:nvPr/>
          </p:nvSpPr>
          <p:spPr>
            <a:xfrm>
              <a:off x="8763000" y="2190750"/>
              <a:ext cx="342900" cy="3143250"/>
            </a:xfrm>
            <a:prstGeom prst="rightBrace">
              <a:avLst/>
            </a:prstGeom>
            <a:noFill/>
            <a:ln w="19050">
              <a:solidFill>
                <a:schemeClr val="accent2"/>
              </a:solidFill>
            </a:ln>
          </p:spPr>
        </p:sp>
        <p:sp>
          <p:nvSpPr>
            <p:cNvPr id="30" name="TextBox 30"/>
            <p:cNvSpPr txBox="1"/>
            <p:nvPr/>
          </p:nvSpPr>
          <p:spPr>
            <a:xfrm>
              <a:off x="9285732" y="3011805"/>
              <a:ext cx="1354836" cy="1134618"/>
            </a:xfrm>
            <a:prstGeom prst="rect">
              <a:avLst/>
            </a:prstGeom>
            <a:noFill/>
            <a:ln>
              <a:noFill/>
            </a:ln>
          </p:spPr>
          <p:txBody>
            <a:bodyPr wrap="none" lIns="0" tIns="0" rIns="0" bIns="0" anchor="t" anchorCtr="0">
              <a:spAutoFit/>
            </a:bodyPr>
            <a:lstStyle/>
            <a:p>
              <a:pPr algn="l">
                <a:lnSpc>
                  <a:spcPts val="2850"/>
                </a:lnSpc>
              </a:pPr>
              <a:r>
                <a:rPr lang="zh-CN" sz="2100" b="1" dirty="0">
                  <a:solidFill>
                    <a:schemeClr val="accent2"/>
                  </a:solidFill>
                  <a:latin typeface="+mn-lt"/>
                  <a:ea typeface="+mn-ea"/>
                  <a:cs typeface="+mn-cs"/>
                </a:rPr>
                <a:t>任何一句</a:t>
              </a:r>
              <a:br/>
              <a:r>
                <a:rPr lang="zh-CN" sz="2100" b="1" dirty="0">
                  <a:solidFill>
                    <a:schemeClr val="accent2"/>
                  </a:solidFill>
                  <a:latin typeface="+mn-lt"/>
                  <a:ea typeface="+mn-ea"/>
                  <a:cs typeface="+mn-cs"/>
                </a:rPr>
                <a:t>答不上来，</a:t>
              </a:r>
              <a:br/>
              <a:r>
                <a:rPr lang="zh-CN" sz="2100" b="1" dirty="0">
                  <a:solidFill>
                    <a:schemeClr val="accent2"/>
                  </a:solidFill>
                  <a:latin typeface="+mn-lt"/>
                  <a:ea typeface="+mn-ea"/>
                  <a:cs typeface="+mn-cs"/>
                </a:rPr>
                <a:t>就不要发。</a:t>
              </a:r>
            </a:p>
          </p:txBody>
        </p:sp>
      </p:grpSp>
      <p:grpSp>
        <p:nvGrpSpPr>
          <p:cNvPr id="36" name="compile-note"/>
          <p:cNvGrpSpPr/>
          <p:nvPr/>
        </p:nvGrpSpPr>
        <p:grpSpPr>
          <a:xfrm>
            <a:off x="678942" y="5569268"/>
            <a:ext cx="7283196" cy="625983"/>
            <a:chOff x="678942" y="5569268"/>
            <a:chExt cx="7283196" cy="625983"/>
          </a:xfrm>
        </p:grpSpPr>
        <p:sp>
          <p:nvSpPr>
            <p:cNvPr id="32" name="TextBox 32"/>
            <p:cNvSpPr txBox="1"/>
            <p:nvPr/>
          </p:nvSpPr>
          <p:spPr>
            <a:xfrm>
              <a:off x="678942" y="5569268"/>
              <a:ext cx="728319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四问依据《个人信息保护法》第五条至第七条的合法、正当、必要与影响最小原则操作化。</a:t>
              </a:r>
            </a:p>
          </p:txBody>
        </p:sp>
        <p:sp>
          <p:nvSpPr>
            <p:cNvPr id="33" name="Freeform 33"/>
            <p:cNvSpPr/>
            <p:nvPr/>
          </p:nvSpPr>
          <p:spPr>
            <a:xfrm>
              <a:off x="685800" y="5867400"/>
              <a:ext cx="723900" cy="304800"/>
            </a:xfrm>
            <a:prstGeom prst="plaque">
              <a:avLst/>
            </a:prstGeom>
            <a:solidFill>
              <a:srgbClr val="E0D9CC"/>
            </a:solidFill>
            <a:ln>
              <a:noFill/>
            </a:ln>
          </p:spPr>
        </p:sp>
        <p:sp>
          <p:nvSpPr>
            <p:cNvPr id="34" name="TextBox 34"/>
            <p:cNvSpPr txBox="1"/>
            <p:nvPr/>
          </p:nvSpPr>
          <p:spPr>
            <a:xfrm>
              <a:off x="859155" y="593121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5" name="TextBox 35"/>
            <p:cNvSpPr txBox="1"/>
            <p:nvPr/>
          </p:nvSpPr>
          <p:spPr>
            <a:xfrm>
              <a:off x="1593342" y="5931218"/>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四问为本课归纳的外发自查序列</a:t>
              </a:r>
            </a:p>
          </p:txBody>
        </p:sp>
      </p:grpSp>
      <p:grpSp>
        <p:nvGrpSpPr>
          <p:cNvPr id="39" name="!!chapter-mark-04"/>
          <p:cNvGrpSpPr/>
          <p:nvPr/>
        </p:nvGrpSpPr>
        <p:grpSpPr>
          <a:xfrm>
            <a:off x="10018185" y="5569268"/>
            <a:ext cx="1504779" cy="930211"/>
            <a:chOff x="10018185" y="5569268"/>
            <a:chExt cx="1504779" cy="930211"/>
          </a:xfrm>
        </p:grpSpPr>
        <p:sp>
          <p:nvSpPr>
            <p:cNvPr id="37" name="TextBox 37"/>
            <p:cNvSpPr txBox="1"/>
            <p:nvPr/>
          </p:nvSpPr>
          <p:spPr>
            <a:xfrm>
              <a:off x="10018185" y="5569268"/>
              <a:ext cx="1494873"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合规红线</a:t>
              </a:r>
            </a:p>
          </p:txBody>
        </p:sp>
        <p:sp>
          <p:nvSpPr>
            <p:cNvPr id="38" name="TextBox 38"/>
            <p:cNvSpPr txBox="1"/>
            <p:nvPr/>
          </p:nvSpPr>
          <p:spPr>
            <a:xfrm>
              <a:off x="10973105" y="5854065"/>
              <a:ext cx="549859" cy="645414"/>
            </a:xfrm>
            <a:prstGeom prst="rect">
              <a:avLst/>
            </a:prstGeom>
            <a:noFill/>
            <a:ln>
              <a:noFill/>
            </a:ln>
          </p:spPr>
          <p:txBody>
            <a:bodyPr wrap="none" lIns="0" tIns="0" rIns="0" bIns="0" anchor="t" anchorCtr="0">
              <a:spAutoFit/>
            </a:bodyPr>
            <a:lstStyle/>
            <a:p>
              <a:pPr algn="r"/>
              <a:r>
                <a:rPr lang="zh-CN" sz="3300" dirty="0">
                  <a:solidFill>
                    <a:schemeClr val="accent2"/>
                  </a:solidFill>
                  <a:latin typeface="+mj-lt"/>
                  <a:ea typeface="+mj-ea"/>
                  <a:cs typeface="+mj-cs"/>
                </a:rPr>
                <a:t>04</a:t>
              </a:r>
            </a:p>
          </p:txBody>
        </p:sp>
      </p:grpSp>
      <p:grpSp>
        <p:nvGrpSpPr>
          <p:cNvPr id="42" name="footer"/>
          <p:cNvGrpSpPr/>
          <p:nvPr/>
        </p:nvGrpSpPr>
        <p:grpSpPr>
          <a:xfrm>
            <a:off x="679704" y="6404610"/>
            <a:ext cx="10832592" cy="234696"/>
            <a:chOff x="679704" y="6404610"/>
            <a:chExt cx="10832592" cy="234696"/>
          </a:xfrm>
        </p:grpSpPr>
        <p:sp>
          <p:nvSpPr>
            <p:cNvPr id="40" name="TextBox 40"/>
            <p:cNvSpPr txBox="1"/>
            <p:nvPr/>
          </p:nvSpPr>
          <p:spPr>
            <a:xfrm>
              <a:off x="679704" y="6404610"/>
              <a:ext cx="3780130"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来源：《个人信息保护法》第五条至第七条（F028）</a:t>
              </a:r>
            </a:p>
          </p:txBody>
        </p:sp>
        <p:sp>
          <p:nvSpPr>
            <p:cNvPr id="41" name="TextBox 4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18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par>
                          <p:cTn id="16" fill="hold">
                            <p:stCondLst>
                              <p:cond delay="1700"/>
                            </p:stCondLst>
                            <p:childTnLst>
                              <p:par>
                                <p:cTn id="17" presetID="10" presetClass="entr" presetSubtype="0" fill="hold" grpId="0" nodeType="afterEffect">
                                  <p:stCondLst>
                                    <p:cond delay="25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2350"/>
                            </p:stCondLst>
                            <p:childTnLst>
                              <p:par>
                                <p:cTn id="21" presetID="10" presetClass="entr" presetSubtype="0" fill="hold" grpId="0" nodeType="afterEffect">
                                  <p:stCondLst>
                                    <p:cond delay="25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400"/>
                                        <p:tgtEl>
                                          <p:spTgt spid="28"/>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par>
                          <p:cTn id="28" fill="hold">
                            <p:stCondLst>
                              <p:cond delay="3650"/>
                            </p:stCondLst>
                            <p:childTnLst>
                              <p:par>
                                <p:cTn id="29" presetID="10" presetClass="entr" presetSubtype="0" fill="hold" grpId="0" nodeType="afterEffect">
                                  <p:stCondLst>
                                    <p:cond delay="25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400"/>
                                        <p:tgtEl>
                                          <p:spTgt spid="36"/>
                                        </p:tgtEl>
                                      </p:cBhvr>
                                    </p:animEffect>
                                  </p:childTnLst>
                                </p:cTn>
                              </p:par>
                            </p:childTnLst>
                          </p:cTn>
                        </p:par>
                        <p:par>
                          <p:cTn id="32" fill="hold">
                            <p:stCondLst>
                              <p:cond delay="4300"/>
                            </p:stCondLst>
                            <p:childTnLst>
                              <p:par>
                                <p:cTn id="33" presetID="10" presetClass="entr" presetSubtype="0" fill="hold" grpId="0" nodeType="afterEffect">
                                  <p:stCondLst>
                                    <p:cond delay="25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4"/>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04</a:t>
              </a:r>
            </a:p>
          </p:txBody>
        </p:sp>
      </p:grpSp>
      <p:grpSp>
        <p:nvGrpSpPr>
          <p:cNvPr id="10" name="chapter-title"/>
          <p:cNvGrpSpPr/>
          <p:nvPr/>
        </p:nvGrpSpPr>
        <p:grpSpPr>
          <a:xfrm>
            <a:off x="3981450" y="2023110"/>
            <a:ext cx="3704844" cy="1132713"/>
            <a:chOff x="3981450" y="2023110"/>
            <a:chExt cx="3704844" cy="1132713"/>
          </a:xfrm>
        </p:grpSpPr>
        <p:sp>
          <p:nvSpPr>
            <p:cNvPr id="8" name="TextBox 8"/>
            <p:cNvSpPr txBox="1"/>
            <p:nvPr/>
          </p:nvSpPr>
          <p:spPr>
            <a:xfrm>
              <a:off x="3981450" y="2023110"/>
              <a:ext cx="2427732"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合规红线</a:t>
              </a:r>
            </a:p>
          </p:txBody>
        </p:sp>
        <p:sp>
          <p:nvSpPr>
            <p:cNvPr id="9" name="TextBox 9"/>
            <p:cNvSpPr txBox="1"/>
            <p:nvPr/>
          </p:nvSpPr>
          <p:spPr>
            <a:xfrm>
              <a:off x="3989832" y="2745105"/>
              <a:ext cx="3696462"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这一章讲的是罚到个人的部分</a:t>
              </a:r>
            </a:p>
          </p:txBody>
        </p:sp>
      </p:grpSp>
      <p:grpSp>
        <p:nvGrpSpPr>
          <p:cNvPr id="19" name="chapter-route"/>
          <p:cNvGrpSpPr/>
          <p:nvPr/>
        </p:nvGrpSpPr>
        <p:grpSpPr>
          <a:xfrm>
            <a:off x="4000500" y="3530918"/>
            <a:ext cx="3344037" cy="1235583"/>
            <a:chOff x="4000500" y="3530918"/>
            <a:chExt cx="3344037" cy="123558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2012823"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先说一件事：条号全变了</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2739771"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三部法律落到你身上的，是这几条</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194560"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罚款有上限，任职资格没有</a:t>
              </a:r>
            </a:p>
          </p:txBody>
        </p:sp>
        <p:sp>
          <p:nvSpPr>
            <p:cNvPr id="17" name="Rectangle 17"/>
            <p:cNvSpPr/>
            <p:nvPr/>
          </p:nvSpPr>
          <p:spPr>
            <a:xfrm>
              <a:off x="4000500" y="4552950"/>
              <a:ext cx="95250" cy="95250"/>
            </a:xfrm>
            <a:prstGeom prst="rect">
              <a:avLst/>
            </a:prstGeom>
            <a:solidFill>
              <a:schemeClr val="accent2"/>
            </a:solidFill>
            <a:ln>
              <a:noFill/>
            </a:ln>
          </p:spPr>
        </p:sp>
        <p:sp>
          <p:nvSpPr>
            <p:cNvPr id="18" name="TextBox 18"/>
            <p:cNvSpPr txBox="1"/>
            <p:nvPr/>
          </p:nvSpPr>
          <p:spPr>
            <a:xfrm>
              <a:off x="4241292" y="4502468"/>
              <a:ext cx="3103245"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同一份名单，员工的入罪门槛只要一半</a:t>
              </a:r>
            </a:p>
          </p:txBody>
        </p:sp>
      </p:grpSp>
      <p:grpSp>
        <p:nvGrpSpPr>
          <p:cNvPr id="22" name="footer"/>
          <p:cNvGrpSpPr/>
          <p:nvPr/>
        </p:nvGrpSpPr>
        <p:grpSpPr>
          <a:xfrm>
            <a:off x="679704" y="6404610"/>
            <a:ext cx="10832592" cy="234696"/>
            <a:chOff x="679704" y="6404610"/>
            <a:chExt cx="10832592" cy="234696"/>
          </a:xfrm>
        </p:grpSpPr>
        <p:sp>
          <p:nvSpPr>
            <p:cNvPr id="20" name="TextBox 20"/>
            <p:cNvSpPr txBox="1"/>
            <p:nvPr/>
          </p:nvSpPr>
          <p:spPr>
            <a:xfrm>
              <a:off x="679704" y="6404610"/>
              <a:ext cx="1328776"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第四章 · 合规红线</a:t>
              </a:r>
            </a:p>
          </p:txBody>
        </p:sp>
        <p:sp>
          <p:nvSpPr>
            <p:cNvPr id="21" name="TextBox 2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19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先说一件事：条号全变了</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55" name="article-renumber"/>
          <p:cNvGrpSpPr/>
          <p:nvPr/>
        </p:nvGrpSpPr>
        <p:grpSpPr>
          <a:xfrm>
            <a:off x="685800" y="1962150"/>
            <a:ext cx="10820400" cy="3433001"/>
            <a:chOff x="685800" y="1962150"/>
            <a:chExt cx="10820400" cy="3433001"/>
          </a:xfrm>
        </p:grpSpPr>
        <p:sp>
          <p:nvSpPr>
            <p:cNvPr id="9" name="Rectangle 9"/>
            <p:cNvSpPr/>
            <p:nvPr/>
          </p:nvSpPr>
          <p:spPr>
            <a:xfrm>
              <a:off x="685800" y="1962150"/>
              <a:ext cx="10820400" cy="361950"/>
            </a:xfrm>
            <a:prstGeom prst="rect">
              <a:avLst/>
            </a:prstGeom>
            <a:solidFill>
              <a:schemeClr val="accent1"/>
            </a:solidFill>
            <a:ln>
              <a:noFill/>
            </a:ln>
          </p:spPr>
        </p:sp>
        <p:grpSp>
          <p:nvGrpSpPr>
            <p:cNvPr id="13" name="Group 13"/>
            <p:cNvGrpSpPr/>
            <p:nvPr/>
          </p:nvGrpSpPr>
          <p:grpSpPr>
            <a:xfrm>
              <a:off x="812292" y="2054542"/>
              <a:ext cx="9564672" cy="264033"/>
              <a:chOff x="812292" y="2054542"/>
              <a:chExt cx="9564672" cy="264033"/>
            </a:xfrm>
          </p:grpSpPr>
          <p:sp>
            <p:nvSpPr>
              <p:cNvPr id="10" name="TextBox 10"/>
              <p:cNvSpPr txBox="1"/>
              <p:nvPr/>
            </p:nvSpPr>
            <p:spPr>
              <a:xfrm>
                <a:off x="812292" y="2054542"/>
                <a:ext cx="377190"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内容</a:t>
                </a:r>
              </a:p>
            </p:txBody>
          </p:sp>
          <p:sp>
            <p:nvSpPr>
              <p:cNvPr id="11" name="TextBox 11"/>
              <p:cNvSpPr txBox="1"/>
              <p:nvPr/>
            </p:nvSpPr>
            <p:spPr>
              <a:xfrm>
                <a:off x="6146292" y="2054542"/>
                <a:ext cx="1399461"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2016 年版旧条号</a:t>
                </a:r>
              </a:p>
            </p:txBody>
          </p:sp>
          <p:sp>
            <p:nvSpPr>
              <p:cNvPr id="12" name="TextBox 12"/>
              <p:cNvSpPr txBox="1"/>
              <p:nvPr/>
            </p:nvSpPr>
            <p:spPr>
              <a:xfrm>
                <a:off x="8432292" y="2054542"/>
                <a:ext cx="1944672"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2025 年修正后现行条号</a:t>
                </a:r>
              </a:p>
            </p:txBody>
          </p:sp>
        </p:grpSp>
        <p:grpSp>
          <p:nvGrpSpPr>
            <p:cNvPr id="44" name="Group 44"/>
            <p:cNvGrpSpPr/>
            <p:nvPr/>
          </p:nvGrpSpPr>
          <p:grpSpPr>
            <a:xfrm>
              <a:off x="812292" y="2387918"/>
              <a:ext cx="9814560" cy="3007233"/>
              <a:chOff x="812292" y="2387918"/>
              <a:chExt cx="9814560" cy="3007233"/>
            </a:xfrm>
          </p:grpSpPr>
          <p:sp>
            <p:nvSpPr>
              <p:cNvPr id="14" name="TextBox 14"/>
              <p:cNvSpPr txBox="1"/>
              <p:nvPr/>
            </p:nvSpPr>
            <p:spPr>
              <a:xfrm>
                <a:off x="812292" y="2387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用户行为红线</a:t>
                </a:r>
              </a:p>
            </p:txBody>
          </p:sp>
          <p:sp>
            <p:nvSpPr>
              <p:cNvPr id="15" name="TextBox 15"/>
              <p:cNvSpPr txBox="1"/>
              <p:nvPr/>
            </p:nvSpPr>
            <p:spPr>
              <a:xfrm>
                <a:off x="6146292" y="2387918"/>
                <a:ext cx="740664"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第十二条</a:t>
                </a:r>
              </a:p>
            </p:txBody>
          </p:sp>
          <p:sp>
            <p:nvSpPr>
              <p:cNvPr id="16" name="TextBox 16"/>
              <p:cNvSpPr txBox="1"/>
              <p:nvPr/>
            </p:nvSpPr>
            <p:spPr>
              <a:xfrm>
                <a:off x="8432292" y="2387918"/>
                <a:ext cx="7406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第十三条</a:t>
                </a:r>
              </a:p>
            </p:txBody>
          </p:sp>
          <p:sp>
            <p:nvSpPr>
              <p:cNvPr id="17" name="TextBox 17"/>
              <p:cNvSpPr txBox="1"/>
              <p:nvPr/>
            </p:nvSpPr>
            <p:spPr>
              <a:xfrm>
                <a:off x="812292" y="269271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等级保护与日志留存六个月</a:t>
                </a:r>
              </a:p>
            </p:txBody>
          </p:sp>
          <p:sp>
            <p:nvSpPr>
              <p:cNvPr id="18" name="TextBox 18"/>
              <p:cNvSpPr txBox="1"/>
              <p:nvPr/>
            </p:nvSpPr>
            <p:spPr>
              <a:xfrm>
                <a:off x="6146292" y="26927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第二十一条</a:t>
                </a:r>
              </a:p>
            </p:txBody>
          </p:sp>
          <p:sp>
            <p:nvSpPr>
              <p:cNvPr id="19" name="TextBox 19"/>
              <p:cNvSpPr txBox="1"/>
              <p:nvPr/>
            </p:nvSpPr>
            <p:spPr>
              <a:xfrm>
                <a:off x="8432292" y="26927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第二十三条</a:t>
                </a:r>
              </a:p>
            </p:txBody>
          </p:sp>
          <p:sp>
            <p:nvSpPr>
              <p:cNvPr id="20" name="TextBox 20"/>
              <p:cNvSpPr txBox="1"/>
              <p:nvPr/>
            </p:nvSpPr>
            <p:spPr>
              <a:xfrm>
                <a:off x="812292" y="299751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应急预案与事件报告</a:t>
                </a:r>
              </a:p>
            </p:txBody>
          </p:sp>
          <p:sp>
            <p:nvSpPr>
              <p:cNvPr id="21" name="TextBox 21"/>
              <p:cNvSpPr txBox="1"/>
              <p:nvPr/>
            </p:nvSpPr>
            <p:spPr>
              <a:xfrm>
                <a:off x="6146292" y="29975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第二十五条</a:t>
                </a:r>
              </a:p>
            </p:txBody>
          </p:sp>
          <p:sp>
            <p:nvSpPr>
              <p:cNvPr id="22" name="TextBox 22"/>
              <p:cNvSpPr txBox="1"/>
              <p:nvPr/>
            </p:nvSpPr>
            <p:spPr>
              <a:xfrm>
                <a:off x="8432292" y="29975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第二十七条</a:t>
                </a:r>
              </a:p>
            </p:txBody>
          </p:sp>
          <p:sp>
            <p:nvSpPr>
              <p:cNvPr id="23" name="TextBox 23"/>
              <p:cNvSpPr txBox="1"/>
              <p:nvPr/>
            </p:nvSpPr>
            <p:spPr>
              <a:xfrm>
                <a:off x="812292" y="33023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禁止危害网络安全活动</a:t>
                </a:r>
              </a:p>
            </p:txBody>
          </p:sp>
          <p:sp>
            <p:nvSpPr>
              <p:cNvPr id="24" name="TextBox 24"/>
              <p:cNvSpPr txBox="1"/>
              <p:nvPr/>
            </p:nvSpPr>
            <p:spPr>
              <a:xfrm>
                <a:off x="6146292" y="33023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第二十七条</a:t>
                </a:r>
              </a:p>
            </p:txBody>
          </p:sp>
          <p:sp>
            <p:nvSpPr>
              <p:cNvPr id="25" name="TextBox 25"/>
              <p:cNvSpPr txBox="1"/>
              <p:nvPr/>
            </p:nvSpPr>
            <p:spPr>
              <a:xfrm>
                <a:off x="8432292" y="33023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第二十九条</a:t>
                </a:r>
              </a:p>
            </p:txBody>
          </p:sp>
          <p:sp>
            <p:nvSpPr>
              <p:cNvPr id="26" name="TextBox 26"/>
              <p:cNvSpPr txBox="1"/>
              <p:nvPr/>
            </p:nvSpPr>
            <p:spPr>
              <a:xfrm>
                <a:off x="812292" y="36071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个人信息收集使用原则</a:t>
                </a:r>
              </a:p>
            </p:txBody>
          </p:sp>
          <p:sp>
            <p:nvSpPr>
              <p:cNvPr id="27" name="TextBox 27"/>
              <p:cNvSpPr txBox="1"/>
              <p:nvPr/>
            </p:nvSpPr>
            <p:spPr>
              <a:xfrm>
                <a:off x="6146292" y="36071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第四十一条</a:t>
                </a:r>
              </a:p>
            </p:txBody>
          </p:sp>
          <p:sp>
            <p:nvSpPr>
              <p:cNvPr id="28" name="TextBox 28"/>
              <p:cNvSpPr txBox="1"/>
              <p:nvPr/>
            </p:nvSpPr>
            <p:spPr>
              <a:xfrm>
                <a:off x="8432292" y="36071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第四十三条</a:t>
                </a:r>
              </a:p>
            </p:txBody>
          </p:sp>
          <p:sp>
            <p:nvSpPr>
              <p:cNvPr id="29" name="TextBox 29"/>
              <p:cNvSpPr txBox="1"/>
              <p:nvPr/>
            </p:nvSpPr>
            <p:spPr>
              <a:xfrm>
                <a:off x="812292" y="39119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不得泄露与泄露补救告知</a:t>
                </a:r>
              </a:p>
            </p:txBody>
          </p:sp>
          <p:sp>
            <p:nvSpPr>
              <p:cNvPr id="30" name="TextBox 30"/>
              <p:cNvSpPr txBox="1"/>
              <p:nvPr/>
            </p:nvSpPr>
            <p:spPr>
              <a:xfrm>
                <a:off x="6146292" y="39119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第四十二条</a:t>
                </a:r>
              </a:p>
            </p:txBody>
          </p:sp>
          <p:sp>
            <p:nvSpPr>
              <p:cNvPr id="31" name="TextBox 31"/>
              <p:cNvSpPr txBox="1"/>
              <p:nvPr/>
            </p:nvSpPr>
            <p:spPr>
              <a:xfrm>
                <a:off x="8432292" y="39119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第四十四条</a:t>
                </a:r>
              </a:p>
            </p:txBody>
          </p:sp>
          <p:sp>
            <p:nvSpPr>
              <p:cNvPr id="32" name="TextBox 32"/>
              <p:cNvSpPr txBox="1"/>
              <p:nvPr/>
            </p:nvSpPr>
            <p:spPr>
              <a:xfrm>
                <a:off x="812292" y="42167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删除权与更正权</a:t>
                </a:r>
              </a:p>
            </p:txBody>
          </p:sp>
          <p:sp>
            <p:nvSpPr>
              <p:cNvPr id="33" name="TextBox 33"/>
              <p:cNvSpPr txBox="1"/>
              <p:nvPr/>
            </p:nvSpPr>
            <p:spPr>
              <a:xfrm>
                <a:off x="6146292" y="42167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第四十三条</a:t>
                </a:r>
              </a:p>
            </p:txBody>
          </p:sp>
          <p:sp>
            <p:nvSpPr>
              <p:cNvPr id="34" name="TextBox 34"/>
              <p:cNvSpPr txBox="1"/>
              <p:nvPr/>
            </p:nvSpPr>
            <p:spPr>
              <a:xfrm>
                <a:off x="8432292" y="42167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第四十五条</a:t>
                </a:r>
              </a:p>
            </p:txBody>
          </p:sp>
          <p:sp>
            <p:nvSpPr>
              <p:cNvPr id="35" name="TextBox 35"/>
              <p:cNvSpPr txBox="1"/>
              <p:nvPr/>
            </p:nvSpPr>
            <p:spPr>
              <a:xfrm>
                <a:off x="812292" y="45215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等保义务罚则</a:t>
                </a:r>
              </a:p>
            </p:txBody>
          </p:sp>
          <p:sp>
            <p:nvSpPr>
              <p:cNvPr id="36" name="TextBox 36"/>
              <p:cNvSpPr txBox="1"/>
              <p:nvPr/>
            </p:nvSpPr>
            <p:spPr>
              <a:xfrm>
                <a:off x="6146292" y="45215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第五十九条</a:t>
                </a:r>
              </a:p>
            </p:txBody>
          </p:sp>
          <p:sp>
            <p:nvSpPr>
              <p:cNvPr id="37" name="TextBox 37"/>
              <p:cNvSpPr txBox="1"/>
              <p:nvPr/>
            </p:nvSpPr>
            <p:spPr>
              <a:xfrm>
                <a:off x="8432292" y="45215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第六十一条</a:t>
                </a:r>
              </a:p>
            </p:txBody>
          </p:sp>
          <p:sp>
            <p:nvSpPr>
              <p:cNvPr id="38" name="TextBox 38"/>
              <p:cNvSpPr txBox="1"/>
              <p:nvPr/>
            </p:nvSpPr>
            <p:spPr>
              <a:xfrm>
                <a:off x="812292" y="48263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危害网络安全活动罚则</a:t>
                </a:r>
              </a:p>
            </p:txBody>
          </p:sp>
          <p:sp>
            <p:nvSpPr>
              <p:cNvPr id="39" name="TextBox 39"/>
              <p:cNvSpPr txBox="1"/>
              <p:nvPr/>
            </p:nvSpPr>
            <p:spPr>
              <a:xfrm>
                <a:off x="6146292" y="48263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第六十三条</a:t>
                </a:r>
              </a:p>
            </p:txBody>
          </p:sp>
          <p:sp>
            <p:nvSpPr>
              <p:cNvPr id="40" name="TextBox 40"/>
              <p:cNvSpPr txBox="1"/>
              <p:nvPr/>
            </p:nvSpPr>
            <p:spPr>
              <a:xfrm>
                <a:off x="8432292" y="482631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第六十六条</a:t>
                </a:r>
              </a:p>
            </p:txBody>
          </p:sp>
          <p:sp>
            <p:nvSpPr>
              <p:cNvPr id="41" name="TextBox 41"/>
              <p:cNvSpPr txBox="1"/>
              <p:nvPr/>
            </p:nvSpPr>
            <p:spPr>
              <a:xfrm>
                <a:off x="812292" y="51311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侵害个人信息罚则</a:t>
                </a:r>
              </a:p>
            </p:txBody>
          </p:sp>
          <p:sp>
            <p:nvSpPr>
              <p:cNvPr id="42" name="TextBox 42"/>
              <p:cNvSpPr txBox="1"/>
              <p:nvPr/>
            </p:nvSpPr>
            <p:spPr>
              <a:xfrm>
                <a:off x="6146292" y="5131118"/>
                <a:ext cx="922401" cy="264033"/>
              </a:xfrm>
              <a:prstGeom prst="rect">
                <a:avLst/>
              </a:prstGeom>
              <a:noFill/>
              <a:ln>
                <a:noFill/>
              </a:ln>
            </p:spPr>
            <p:txBody>
              <a:bodyPr wrap="none" lIns="0" tIns="0" rIns="0" bIns="0" anchor="t" anchorCtr="0">
                <a:spAutoFit/>
              </a:bodyPr>
              <a:lstStyle/>
              <a:p>
                <a:pPr algn="l"/>
                <a:r>
                  <a:rPr lang="zh-CN" sz="1350" dirty="0">
                    <a:solidFill>
                      <a:srgbClr val="8A8478"/>
                    </a:solidFill>
                    <a:latin typeface="+mn-lt"/>
                    <a:ea typeface="+mn-ea"/>
                    <a:cs typeface="+mn-cs"/>
                  </a:rPr>
                  <a:t>第六十四条</a:t>
                </a:r>
              </a:p>
            </p:txBody>
          </p:sp>
          <p:sp>
            <p:nvSpPr>
              <p:cNvPr id="43" name="TextBox 43"/>
              <p:cNvSpPr txBox="1"/>
              <p:nvPr/>
            </p:nvSpPr>
            <p:spPr>
              <a:xfrm>
                <a:off x="8432292" y="5131118"/>
                <a:ext cx="21945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第七十一条（已改为转致）</a:t>
                </a:r>
              </a:p>
            </p:txBody>
          </p:sp>
        </p:grpSp>
        <p:sp>
          <p:nvSpPr>
            <p:cNvPr id="45" name="Line 45"/>
            <p:cNvSpPr/>
            <p:nvPr/>
          </p:nvSpPr>
          <p:spPr>
            <a:xfrm>
              <a:off x="685800" y="26289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46" name="Line 46"/>
            <p:cNvSpPr/>
            <p:nvPr/>
          </p:nvSpPr>
          <p:spPr>
            <a:xfrm>
              <a:off x="685800" y="29337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47" name="Line 47"/>
            <p:cNvSpPr/>
            <p:nvPr/>
          </p:nvSpPr>
          <p:spPr>
            <a:xfrm>
              <a:off x="685800" y="32385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48" name="Line 48"/>
            <p:cNvSpPr/>
            <p:nvPr/>
          </p:nvSpPr>
          <p:spPr>
            <a:xfrm>
              <a:off x="685800" y="35433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49" name="Line 49"/>
            <p:cNvSpPr/>
            <p:nvPr/>
          </p:nvSpPr>
          <p:spPr>
            <a:xfrm>
              <a:off x="685800" y="38481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50" name="Line 50"/>
            <p:cNvSpPr/>
            <p:nvPr/>
          </p:nvSpPr>
          <p:spPr>
            <a:xfrm>
              <a:off x="685800" y="41529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51" name="Line 51"/>
            <p:cNvSpPr/>
            <p:nvPr/>
          </p:nvSpPr>
          <p:spPr>
            <a:xfrm>
              <a:off x="685800" y="44577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52" name="Line 52"/>
            <p:cNvSpPr/>
            <p:nvPr/>
          </p:nvSpPr>
          <p:spPr>
            <a:xfrm>
              <a:off x="685800" y="47625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53" name="Line 53"/>
            <p:cNvSpPr/>
            <p:nvPr/>
          </p:nvSpPr>
          <p:spPr>
            <a:xfrm>
              <a:off x="685800" y="50673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54" name="Line 54"/>
            <p:cNvSpPr/>
            <p:nvPr/>
          </p:nvSpPr>
          <p:spPr>
            <a:xfrm>
              <a:off x="685800" y="53721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59" name="effective-date-trap"/>
          <p:cNvGrpSpPr/>
          <p:nvPr/>
        </p:nvGrpSpPr>
        <p:grpSpPr>
          <a:xfrm>
            <a:off x="685800" y="5505450"/>
            <a:ext cx="10820400" cy="723900"/>
            <a:chOff x="685800" y="5505450"/>
            <a:chExt cx="10820400" cy="723900"/>
          </a:xfrm>
        </p:grpSpPr>
        <p:sp>
          <p:nvSpPr>
            <p:cNvPr id="56" name="Rectangle 56"/>
            <p:cNvSpPr/>
            <p:nvPr/>
          </p:nvSpPr>
          <p:spPr>
            <a:xfrm>
              <a:off x="685800" y="5505450"/>
              <a:ext cx="10820400" cy="723900"/>
            </a:xfrm>
            <a:prstGeom prst="rect">
              <a:avLst/>
            </a:prstGeom>
            <a:solidFill>
              <a:schemeClr val="accent2">
                <a:alpha val="7000"/>
              </a:schemeClr>
            </a:solidFill>
            <a:ln>
              <a:noFill/>
            </a:ln>
          </p:spPr>
        </p:sp>
        <p:sp>
          <p:nvSpPr>
            <p:cNvPr id="57" name="Rectangle 57"/>
            <p:cNvSpPr/>
            <p:nvPr/>
          </p:nvSpPr>
          <p:spPr>
            <a:xfrm>
              <a:off x="685800" y="5505450"/>
              <a:ext cx="38100" cy="723900"/>
            </a:xfrm>
            <a:prstGeom prst="rect">
              <a:avLst/>
            </a:prstGeom>
            <a:solidFill>
              <a:schemeClr val="accent2"/>
            </a:solidFill>
            <a:ln>
              <a:noFill/>
            </a:ln>
          </p:spPr>
        </p:sp>
        <p:sp>
          <p:nvSpPr>
            <p:cNvPr id="58" name="TextBox 58"/>
            <p:cNvSpPr txBox="1"/>
            <p:nvPr/>
          </p:nvSpPr>
          <p:spPr>
            <a:xfrm>
              <a:off x="945642" y="5626418"/>
              <a:ext cx="865479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修正后第八十一条仍写「本法自 2017 年 6 月 1 日起施行」；</a:t>
              </a:r>
              <a:br/>
              <a:r>
                <a:rPr lang="zh-CN" sz="1350" dirty="0">
                  <a:solidFill>
                    <a:schemeClr val="dk1"/>
                  </a:solidFill>
                  <a:latin typeface="+mn-lt"/>
                  <a:ea typeface="+mn-ea"/>
                  <a:cs typeface="+mn-cs"/>
                </a:rPr>
                <a:t>2026 年 1 月 1 日是修改决定的生效日；正确说法是「2025 年修正，修正后的规定自 2026 年 1 月 1 日起施行」。</a:t>
              </a:r>
            </a:p>
          </p:txBody>
        </p:sp>
      </p:grpSp>
      <p:grpSp>
        <p:nvGrpSpPr>
          <p:cNvPr id="62" name="footer"/>
          <p:cNvGrpSpPr/>
          <p:nvPr/>
        </p:nvGrpSpPr>
        <p:grpSpPr>
          <a:xfrm>
            <a:off x="679704" y="6404610"/>
            <a:ext cx="10832592" cy="234696"/>
            <a:chOff x="679704" y="6404610"/>
            <a:chExt cx="10832592" cy="234696"/>
          </a:xfrm>
        </p:grpSpPr>
        <p:sp>
          <p:nvSpPr>
            <p:cNvPr id="60" name="TextBox 60"/>
            <p:cNvSpPr txBox="1"/>
            <p:nvPr/>
          </p:nvSpPr>
          <p:spPr>
            <a:xfrm>
              <a:off x="679704" y="6404610"/>
              <a:ext cx="8343595"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来源：2025 年 10 月 28 日十四届全国人大常委会第十八次会议修改决定，修正后全文 81 条（F001、F002、F003）</a:t>
              </a:r>
            </a:p>
          </p:txBody>
        </p:sp>
        <p:sp>
          <p:nvSpPr>
            <p:cNvPr id="61" name="TextBox 61"/>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20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250"/>
                                  </p:stCondLst>
                                  <p:childTnLst>
                                    <p:set>
                                      <p:cBhvr>
                                        <p:cTn id="10" dur="1" fill="hold">
                                          <p:stCondLst>
                                            <p:cond delay="0"/>
                                          </p:stCondLst>
                                        </p:cTn>
                                        <p:tgtEl>
                                          <p:spTgt spid="55"/>
                                        </p:tgtEl>
                                        <p:attrNameLst>
                                          <p:attrName>style.visibility</p:attrName>
                                        </p:attrNameLst>
                                      </p:cBhvr>
                                      <p:to>
                                        <p:strVal val="visible"/>
                                      </p:to>
                                    </p:set>
                                    <p:animEffect transition="in" filter="wipe(down)">
                                      <p:cBhvr>
                                        <p:cTn id="11" dur="1100"/>
                                        <p:tgtEl>
                                          <p:spTgt spid="55"/>
                                        </p:tgtEl>
                                      </p:cBhvr>
                                    </p:animEffect>
                                  </p:childTnLst>
                                </p:cTn>
                              </p:par>
                            </p:childTnLst>
                          </p:cTn>
                        </p:par>
                        <p:par>
                          <p:cTn id="12" fill="hold">
                            <p:stCondLst>
                              <p:cond delay="1750"/>
                            </p:stCondLst>
                            <p:childTnLst>
                              <p:par>
                                <p:cTn xmlns:p="http://schemas.openxmlformats.org/presentationml/2006/main" id="13" presetID="10" presetClass="entr" presetSubtype="0" fill="hold" grpId="0" nodeType="afterEffect">
                                  <p:stCondLst>
                                    <p:cond delay="40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6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三部法律落到你身上的，是这几条</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8" name="law-csl"/>
          <p:cNvGrpSpPr/>
          <p:nvPr/>
        </p:nvGrpSpPr>
        <p:grpSpPr>
          <a:xfrm>
            <a:off x="673608" y="2000250"/>
            <a:ext cx="3412617" cy="3986784"/>
            <a:chOff x="673608" y="2000250"/>
            <a:chExt cx="3412617" cy="3986784"/>
          </a:xfrm>
        </p:grpSpPr>
        <p:sp>
          <p:nvSpPr>
            <p:cNvPr id="9" name="Rectangle 9"/>
            <p:cNvSpPr/>
            <p:nvPr/>
          </p:nvSpPr>
          <p:spPr>
            <a:xfrm>
              <a:off x="685800" y="2000250"/>
              <a:ext cx="3400425" cy="38100"/>
            </a:xfrm>
            <a:prstGeom prst="rect">
              <a:avLst/>
            </a:prstGeom>
            <a:solidFill>
              <a:schemeClr val="accent2"/>
            </a:solidFill>
            <a:ln>
              <a:noFill/>
            </a:ln>
          </p:spPr>
        </p:sp>
        <p:sp>
          <p:nvSpPr>
            <p:cNvPr id="10" name="TextBox 10"/>
            <p:cNvSpPr txBox="1"/>
            <p:nvPr/>
          </p:nvSpPr>
          <p:spPr>
            <a:xfrm>
              <a:off x="673608" y="217932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《网络安全法》</a:t>
              </a:r>
            </a:p>
          </p:txBody>
        </p:sp>
        <p:sp>
          <p:nvSpPr>
            <p:cNvPr id="11" name="TextBox 11"/>
            <p:cNvSpPr txBox="1"/>
            <p:nvPr/>
          </p:nvSpPr>
          <p:spPr>
            <a:xfrm>
              <a:off x="678942" y="2578418"/>
              <a:ext cx="101327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2025 年修正</a:t>
              </a:r>
            </a:p>
          </p:txBody>
        </p:sp>
        <p:sp>
          <p:nvSpPr>
            <p:cNvPr id="12" name="Line 12"/>
            <p:cNvSpPr/>
            <p:nvPr/>
          </p:nvSpPr>
          <p:spPr>
            <a:xfrm>
              <a:off x="685800" y="2857500"/>
              <a:ext cx="3400425" cy="9525"/>
            </a:xfrm>
            <a:custGeom>
              <a:avLst/>
              <a:gdLst/>
              <a:ahLst/>
              <a:cxnLst/>
              <a:rect l="l" t="t" r="r" b="b"/>
              <a:pathLst>
                <a:path w="3400425" h="9525">
                  <a:moveTo>
                    <a:pt x="0" y="0"/>
                  </a:moveTo>
                  <a:lnTo>
                    <a:pt x="3400425" y="0"/>
                  </a:lnTo>
                </a:path>
              </a:pathLst>
            </a:custGeom>
            <a:noFill/>
            <a:ln w="9525">
              <a:solidFill>
                <a:schemeClr val="accent6"/>
              </a:solidFill>
            </a:ln>
          </p:spPr>
        </p:sp>
        <p:sp>
          <p:nvSpPr>
            <p:cNvPr id="13" name="TextBox 13"/>
            <p:cNvSpPr txBox="1"/>
            <p:nvPr/>
          </p:nvSpPr>
          <p:spPr>
            <a:xfrm>
              <a:off x="676656" y="30060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第十三条第二款</a:t>
              </a:r>
            </a:p>
          </p:txBody>
        </p:sp>
        <p:sp>
          <p:nvSpPr>
            <p:cNvPr id="14" name="TextBox 14"/>
            <p:cNvSpPr txBox="1"/>
            <p:nvPr/>
          </p:nvSpPr>
          <p:spPr>
            <a:xfrm>
              <a:off x="678942" y="3340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使用网络不得危害网络安全，不得</a:t>
              </a:r>
              <a:br/>
              <a:r>
                <a:rPr lang="zh-CN" sz="1350" dirty="0">
                  <a:solidFill>
                    <a:schemeClr val="dk1"/>
                  </a:solidFill>
                  <a:latin typeface="+mn-lt"/>
                  <a:ea typeface="+mn-ea"/>
                  <a:cs typeface="+mn-cs"/>
                </a:rPr>
                <a:t>利用网络从事危害国家安全、侵害</a:t>
              </a:r>
              <a:br/>
              <a:r>
                <a:rPr lang="zh-CN" sz="1350" dirty="0">
                  <a:solidFill>
                    <a:schemeClr val="dk1"/>
                  </a:solidFill>
                  <a:latin typeface="+mn-lt"/>
                  <a:ea typeface="+mn-ea"/>
                  <a:cs typeface="+mn-cs"/>
                </a:rPr>
                <a:t>他人名誉隐私知识产权等活动。</a:t>
              </a:r>
            </a:p>
          </p:txBody>
        </p:sp>
        <p:sp>
          <p:nvSpPr>
            <p:cNvPr id="15" name="TextBox 15"/>
            <p:cNvSpPr txBox="1"/>
            <p:nvPr/>
          </p:nvSpPr>
          <p:spPr>
            <a:xfrm>
              <a:off x="676656"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第二十九条</a:t>
              </a:r>
            </a:p>
          </p:txBody>
        </p:sp>
        <p:sp>
          <p:nvSpPr>
            <p:cNvPr id="16" name="TextBox 16"/>
            <p:cNvSpPr txBox="1"/>
            <p:nvPr/>
          </p:nvSpPr>
          <p:spPr>
            <a:xfrm>
              <a:off x="678942" y="450246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明知他人从事危害网络安全活动，</a:t>
              </a:r>
              <a:br/>
              <a:r>
                <a:rPr lang="zh-CN" sz="1350" dirty="0">
                  <a:solidFill>
                    <a:schemeClr val="dk1"/>
                  </a:solidFill>
                  <a:latin typeface="+mn-lt"/>
                  <a:ea typeface="+mn-ea"/>
                  <a:cs typeface="+mn-cs"/>
                </a:rPr>
                <a:t>仍提供技术支持、广告推广、支付</a:t>
              </a:r>
              <a:br/>
              <a:r>
                <a:rPr lang="zh-CN" sz="1350" dirty="0">
                  <a:solidFill>
                    <a:schemeClr val="dk1"/>
                  </a:solidFill>
                  <a:latin typeface="+mn-lt"/>
                  <a:ea typeface="+mn-ea"/>
                  <a:cs typeface="+mn-cs"/>
                </a:rPr>
                <a:t>结算等帮助的，同样违法。</a:t>
              </a:r>
            </a:p>
          </p:txBody>
        </p:sp>
        <p:sp>
          <p:nvSpPr>
            <p:cNvPr id="17" name="TextBox 17"/>
            <p:cNvSpPr txBox="1"/>
            <p:nvPr/>
          </p:nvSpPr>
          <p:spPr>
            <a:xfrm>
              <a:off x="676656" y="5311140"/>
              <a:ext cx="2304288" cy="675894"/>
            </a:xfrm>
            <a:prstGeom prst="rect">
              <a:avLst/>
            </a:prstGeom>
            <a:noFill/>
            <a:ln>
              <a:noFill/>
            </a:ln>
          </p:spPr>
          <p:txBody>
            <a:bodyPr wrap="none" lIns="0" tIns="0" rIns="0" bIns="0" anchor="t" anchorCtr="0">
              <a:spAutoFit/>
            </a:bodyPr>
            <a:lstStyle/>
            <a:p>
              <a:pPr algn="l">
                <a:lnSpc>
                  <a:spcPts val="2550"/>
                </a:lnSpc>
              </a:pPr>
              <a:r>
                <a:rPr lang="zh-CN" sz="1800" b="1" dirty="0">
                  <a:solidFill>
                    <a:schemeClr val="accent2"/>
                  </a:solidFill>
                  <a:latin typeface="+mn-lt"/>
                  <a:ea typeface="+mn-ea"/>
                  <a:cs typeface="+mn-cs"/>
                </a:rPr>
                <a:t>帮朋友「跑个脚本」，</a:t>
              </a:r>
              <a:br/>
              <a:r>
                <a:rPr lang="zh-CN" sz="1800" b="1" dirty="0">
                  <a:solidFill>
                    <a:schemeClr val="accent2"/>
                  </a:solidFill>
                  <a:latin typeface="+mn-lt"/>
                  <a:ea typeface="+mn-ea"/>
                  <a:cs typeface="+mn-cs"/>
                </a:rPr>
                <a:t>同样违法。</a:t>
              </a:r>
            </a:p>
          </p:txBody>
        </p:sp>
      </p:grpSp>
      <p:grpSp>
        <p:nvGrpSpPr>
          <p:cNvPr id="28" name="law-dsl"/>
          <p:cNvGrpSpPr/>
          <p:nvPr/>
        </p:nvGrpSpPr>
        <p:grpSpPr>
          <a:xfrm>
            <a:off x="4378833" y="2000250"/>
            <a:ext cx="3412617" cy="3986784"/>
            <a:chOff x="4378833" y="2000250"/>
            <a:chExt cx="3412617" cy="3986784"/>
          </a:xfrm>
        </p:grpSpPr>
        <p:sp>
          <p:nvSpPr>
            <p:cNvPr id="19" name="Rectangle 19"/>
            <p:cNvSpPr/>
            <p:nvPr/>
          </p:nvSpPr>
          <p:spPr>
            <a:xfrm>
              <a:off x="4391025" y="2000250"/>
              <a:ext cx="3400425" cy="38100"/>
            </a:xfrm>
            <a:prstGeom prst="rect">
              <a:avLst/>
            </a:prstGeom>
            <a:solidFill>
              <a:schemeClr val="accent2"/>
            </a:solidFill>
            <a:ln>
              <a:noFill/>
            </a:ln>
          </p:spPr>
        </p:sp>
        <p:sp>
          <p:nvSpPr>
            <p:cNvPr id="20" name="TextBox 20"/>
            <p:cNvSpPr txBox="1"/>
            <p:nvPr/>
          </p:nvSpPr>
          <p:spPr>
            <a:xfrm>
              <a:off x="4378833" y="217932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《数据安全法》</a:t>
              </a:r>
            </a:p>
          </p:txBody>
        </p:sp>
        <p:sp>
          <p:nvSpPr>
            <p:cNvPr id="21" name="TextBox 21"/>
            <p:cNvSpPr txBox="1"/>
            <p:nvPr/>
          </p:nvSpPr>
          <p:spPr>
            <a:xfrm>
              <a:off x="4384167" y="2578418"/>
              <a:ext cx="179473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2021 年 9 月 1 日施行</a:t>
              </a:r>
            </a:p>
          </p:txBody>
        </p:sp>
        <p:sp>
          <p:nvSpPr>
            <p:cNvPr id="22" name="Line 22"/>
            <p:cNvSpPr/>
            <p:nvPr/>
          </p:nvSpPr>
          <p:spPr>
            <a:xfrm>
              <a:off x="4391025" y="2857500"/>
              <a:ext cx="3400425" cy="9525"/>
            </a:xfrm>
            <a:custGeom>
              <a:avLst/>
              <a:gdLst/>
              <a:ahLst/>
              <a:cxnLst/>
              <a:rect l="l" t="t" r="r" b="b"/>
              <a:pathLst>
                <a:path w="3400425" h="9525">
                  <a:moveTo>
                    <a:pt x="0" y="0"/>
                  </a:moveTo>
                  <a:lnTo>
                    <a:pt x="3400425" y="0"/>
                  </a:lnTo>
                </a:path>
              </a:pathLst>
            </a:custGeom>
            <a:noFill/>
            <a:ln w="9525">
              <a:solidFill>
                <a:schemeClr val="accent6"/>
              </a:solidFill>
            </a:ln>
          </p:spPr>
        </p:sp>
        <p:sp>
          <p:nvSpPr>
            <p:cNvPr id="23" name="TextBox 23"/>
            <p:cNvSpPr txBox="1"/>
            <p:nvPr/>
          </p:nvSpPr>
          <p:spPr>
            <a:xfrm>
              <a:off x="4381881" y="30060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第三十二条</a:t>
              </a:r>
            </a:p>
          </p:txBody>
        </p:sp>
        <p:sp>
          <p:nvSpPr>
            <p:cNvPr id="24" name="TextBox 24"/>
            <p:cNvSpPr txBox="1"/>
            <p:nvPr/>
          </p:nvSpPr>
          <p:spPr>
            <a:xfrm>
              <a:off x="4384167" y="3340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任何组织、个人收集数据应当采取</a:t>
              </a:r>
              <a:br/>
              <a:r>
                <a:rPr lang="zh-CN" sz="1350" dirty="0">
                  <a:solidFill>
                    <a:schemeClr val="dk1"/>
                  </a:solidFill>
                  <a:latin typeface="+mn-lt"/>
                  <a:ea typeface="+mn-ea"/>
                  <a:cs typeface="+mn-cs"/>
                </a:rPr>
                <a:t>合法、正当的方式，不得窃取或以</a:t>
              </a:r>
              <a:br/>
              <a:r>
                <a:rPr lang="zh-CN" sz="1350" dirty="0">
                  <a:solidFill>
                    <a:schemeClr val="dk1"/>
                  </a:solidFill>
                  <a:latin typeface="+mn-lt"/>
                  <a:ea typeface="+mn-ea"/>
                  <a:cs typeface="+mn-cs"/>
                </a:rPr>
                <a:t>其他非法方式获取数据。</a:t>
              </a:r>
            </a:p>
          </p:txBody>
        </p:sp>
        <p:sp>
          <p:nvSpPr>
            <p:cNvPr id="25" name="TextBox 25"/>
            <p:cNvSpPr txBox="1"/>
            <p:nvPr/>
          </p:nvSpPr>
          <p:spPr>
            <a:xfrm>
              <a:off x="4381881"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第二十七条</a:t>
              </a:r>
            </a:p>
          </p:txBody>
        </p:sp>
        <p:sp>
          <p:nvSpPr>
            <p:cNvPr id="26" name="TextBox 26"/>
            <p:cNvSpPr txBox="1"/>
            <p:nvPr/>
          </p:nvSpPr>
          <p:spPr>
            <a:xfrm>
              <a:off x="4384167" y="4502468"/>
              <a:ext cx="27569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企业须建立全流程数据安全管理制</a:t>
              </a:r>
              <a:br/>
              <a:r>
                <a:rPr lang="zh-CN" sz="1350" dirty="0">
                  <a:solidFill>
                    <a:schemeClr val="dk1"/>
                  </a:solidFill>
                  <a:latin typeface="+mn-lt"/>
                  <a:ea typeface="+mn-ea"/>
                  <a:cs typeface="+mn-cs"/>
                </a:rPr>
                <a:t>度，并组织开展数据安全教育培训。</a:t>
              </a:r>
            </a:p>
          </p:txBody>
        </p:sp>
        <p:sp>
          <p:nvSpPr>
            <p:cNvPr id="27" name="TextBox 27"/>
            <p:cNvSpPr txBox="1"/>
            <p:nvPr/>
          </p:nvSpPr>
          <p:spPr>
            <a:xfrm>
              <a:off x="4381881" y="5311140"/>
              <a:ext cx="2075688" cy="675894"/>
            </a:xfrm>
            <a:prstGeom prst="rect">
              <a:avLst/>
            </a:prstGeom>
            <a:noFill/>
            <a:ln>
              <a:noFill/>
            </a:ln>
          </p:spPr>
          <p:txBody>
            <a:bodyPr wrap="none" lIns="0" tIns="0" rIns="0" bIns="0" anchor="t" anchorCtr="0">
              <a:spAutoFit/>
            </a:bodyPr>
            <a:lstStyle/>
            <a:p>
              <a:pPr algn="l">
                <a:lnSpc>
                  <a:spcPts val="2550"/>
                </a:lnSpc>
              </a:pPr>
              <a:r>
                <a:rPr lang="zh-CN" sz="1800" b="1" dirty="0">
                  <a:solidFill>
                    <a:schemeClr val="accent2"/>
                  </a:solidFill>
                  <a:latin typeface="+mn-lt"/>
                  <a:ea typeface="+mn-ea"/>
                  <a:cs typeface="+mn-cs"/>
                </a:rPr>
                <a:t>这门课本身，</a:t>
              </a:r>
              <a:br/>
              <a:r>
                <a:rPr lang="zh-CN" sz="1800" b="1" dirty="0">
                  <a:solidFill>
                    <a:schemeClr val="accent2"/>
                  </a:solidFill>
                  <a:latin typeface="+mn-lt"/>
                  <a:ea typeface="+mn-ea"/>
                  <a:cs typeface="+mn-cs"/>
                </a:rPr>
                <a:t>就是这一条的落实。</a:t>
              </a:r>
            </a:p>
          </p:txBody>
        </p:sp>
      </p:grpSp>
      <p:grpSp>
        <p:nvGrpSpPr>
          <p:cNvPr id="38" name="law-pipl"/>
          <p:cNvGrpSpPr/>
          <p:nvPr/>
        </p:nvGrpSpPr>
        <p:grpSpPr>
          <a:xfrm>
            <a:off x="8084058" y="2000250"/>
            <a:ext cx="3412617" cy="3986784"/>
            <a:chOff x="8084058" y="2000250"/>
            <a:chExt cx="3412617" cy="3986784"/>
          </a:xfrm>
        </p:grpSpPr>
        <p:sp>
          <p:nvSpPr>
            <p:cNvPr id="29" name="Rectangle 29"/>
            <p:cNvSpPr/>
            <p:nvPr/>
          </p:nvSpPr>
          <p:spPr>
            <a:xfrm>
              <a:off x="8096250" y="2000250"/>
              <a:ext cx="3400425" cy="38100"/>
            </a:xfrm>
            <a:prstGeom prst="rect">
              <a:avLst/>
            </a:prstGeom>
            <a:solidFill>
              <a:schemeClr val="accent2"/>
            </a:solidFill>
            <a:ln>
              <a:noFill/>
            </a:ln>
          </p:spPr>
        </p:sp>
        <p:sp>
          <p:nvSpPr>
            <p:cNvPr id="30" name="TextBox 30"/>
            <p:cNvSpPr txBox="1"/>
            <p:nvPr/>
          </p:nvSpPr>
          <p:spPr>
            <a:xfrm>
              <a:off x="8084058" y="2179320"/>
              <a:ext cx="30967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《个人信息保护法》</a:t>
              </a:r>
            </a:p>
          </p:txBody>
        </p:sp>
        <p:sp>
          <p:nvSpPr>
            <p:cNvPr id="31" name="TextBox 31"/>
            <p:cNvSpPr txBox="1"/>
            <p:nvPr/>
          </p:nvSpPr>
          <p:spPr>
            <a:xfrm>
              <a:off x="8089392" y="2578418"/>
              <a:ext cx="189469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2021 年 11 月 1 日施行</a:t>
              </a:r>
            </a:p>
          </p:txBody>
        </p:sp>
        <p:sp>
          <p:nvSpPr>
            <p:cNvPr id="32" name="Line 32"/>
            <p:cNvSpPr/>
            <p:nvPr/>
          </p:nvSpPr>
          <p:spPr>
            <a:xfrm>
              <a:off x="8096250" y="2857500"/>
              <a:ext cx="3400425" cy="9525"/>
            </a:xfrm>
            <a:custGeom>
              <a:avLst/>
              <a:gdLst/>
              <a:ahLst/>
              <a:cxnLst/>
              <a:rect l="l" t="t" r="r" b="b"/>
              <a:pathLst>
                <a:path w="3400425" h="9525">
                  <a:moveTo>
                    <a:pt x="0" y="0"/>
                  </a:moveTo>
                  <a:lnTo>
                    <a:pt x="3400425" y="0"/>
                  </a:lnTo>
                </a:path>
              </a:pathLst>
            </a:custGeom>
            <a:noFill/>
            <a:ln w="9525">
              <a:solidFill>
                <a:schemeClr val="accent6"/>
              </a:solidFill>
            </a:ln>
          </p:spPr>
        </p:sp>
        <p:sp>
          <p:nvSpPr>
            <p:cNvPr id="33" name="TextBox 33"/>
            <p:cNvSpPr txBox="1"/>
            <p:nvPr/>
          </p:nvSpPr>
          <p:spPr>
            <a:xfrm>
              <a:off x="8087106" y="300609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第十条</a:t>
              </a:r>
            </a:p>
          </p:txBody>
        </p:sp>
        <p:sp>
          <p:nvSpPr>
            <p:cNvPr id="34" name="TextBox 34"/>
            <p:cNvSpPr txBox="1"/>
            <p:nvPr/>
          </p:nvSpPr>
          <p:spPr>
            <a:xfrm>
              <a:off x="8089392" y="3340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任何组织、个人不得非法收集、使</a:t>
              </a:r>
              <a:br/>
              <a:r>
                <a:rPr lang="zh-CN" sz="1350" dirty="0">
                  <a:solidFill>
                    <a:schemeClr val="dk1"/>
                  </a:solidFill>
                  <a:latin typeface="+mn-lt"/>
                  <a:ea typeface="+mn-ea"/>
                  <a:cs typeface="+mn-cs"/>
                </a:rPr>
                <a:t>用、加工、传输他人个人信息，不</a:t>
              </a:r>
              <a:br/>
              <a:r>
                <a:rPr lang="zh-CN" sz="1350" dirty="0">
                  <a:solidFill>
                    <a:schemeClr val="dk1"/>
                  </a:solidFill>
                  <a:latin typeface="+mn-lt"/>
                  <a:ea typeface="+mn-ea"/>
                  <a:cs typeface="+mn-cs"/>
                </a:rPr>
                <a:t>得非法买卖、提供或者公开。</a:t>
              </a:r>
            </a:p>
          </p:txBody>
        </p:sp>
        <p:sp>
          <p:nvSpPr>
            <p:cNvPr id="35" name="TextBox 35"/>
            <p:cNvSpPr txBox="1"/>
            <p:nvPr/>
          </p:nvSpPr>
          <p:spPr>
            <a:xfrm>
              <a:off x="8087106" y="4168140"/>
              <a:ext cx="244144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第五十一条第（四）项</a:t>
              </a:r>
            </a:p>
          </p:txBody>
        </p:sp>
        <p:sp>
          <p:nvSpPr>
            <p:cNvPr id="36" name="TextBox 36"/>
            <p:cNvSpPr txBox="1"/>
            <p:nvPr/>
          </p:nvSpPr>
          <p:spPr>
            <a:xfrm>
              <a:off x="8089392" y="4502468"/>
              <a:ext cx="27569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合理确定个人信息处理的操作权限，</a:t>
              </a:r>
              <a:br/>
              <a:r>
                <a:rPr lang="zh-CN" sz="1350" dirty="0">
                  <a:solidFill>
                    <a:schemeClr val="dk1"/>
                  </a:solidFill>
                  <a:latin typeface="+mn-lt"/>
                  <a:ea typeface="+mn-ea"/>
                  <a:cs typeface="+mn-cs"/>
                </a:rPr>
                <a:t>并定期对从业人员进行安全教育和</a:t>
              </a:r>
              <a:br/>
              <a:r>
                <a:rPr lang="zh-CN" sz="1350" dirty="0">
                  <a:solidFill>
                    <a:schemeClr val="dk1"/>
                  </a:solidFill>
                  <a:latin typeface="+mn-lt"/>
                  <a:ea typeface="+mn-ea"/>
                  <a:cs typeface="+mn-cs"/>
                </a:rPr>
                <a:t>培训。</a:t>
              </a:r>
            </a:p>
          </p:txBody>
        </p:sp>
        <p:sp>
          <p:nvSpPr>
            <p:cNvPr id="37" name="TextBox 37"/>
            <p:cNvSpPr txBox="1"/>
            <p:nvPr/>
          </p:nvSpPr>
          <p:spPr>
            <a:xfrm>
              <a:off x="8087106" y="5311140"/>
              <a:ext cx="2532888" cy="675894"/>
            </a:xfrm>
            <a:prstGeom prst="rect">
              <a:avLst/>
            </a:prstGeom>
            <a:noFill/>
            <a:ln>
              <a:noFill/>
            </a:ln>
          </p:spPr>
          <p:txBody>
            <a:bodyPr wrap="none" lIns="0" tIns="0" rIns="0" bIns="0" anchor="t" anchorCtr="0">
              <a:spAutoFit/>
            </a:bodyPr>
            <a:lstStyle/>
            <a:p>
              <a:pPr algn="l">
                <a:lnSpc>
                  <a:spcPts val="2550"/>
                </a:lnSpc>
              </a:pPr>
              <a:r>
                <a:rPr lang="zh-CN" sz="1800" b="1" dirty="0">
                  <a:solidFill>
                    <a:schemeClr val="accent2"/>
                  </a:solidFill>
                  <a:latin typeface="+mn-lt"/>
                  <a:ea typeface="+mn-ea"/>
                  <a:cs typeface="+mn-cs"/>
                </a:rPr>
                <a:t>个人信息的每一次经手，</a:t>
              </a:r>
              <a:br/>
              <a:r>
                <a:rPr lang="zh-CN" sz="1800" b="1" dirty="0">
                  <a:solidFill>
                    <a:schemeClr val="accent2"/>
                  </a:solidFill>
                  <a:latin typeface="+mn-lt"/>
                  <a:ea typeface="+mn-ea"/>
                  <a:cs typeface="+mn-cs"/>
                </a:rPr>
                <a:t>都在这两条里。</a:t>
              </a:r>
            </a:p>
          </p:txBody>
        </p:sp>
      </p:grpSp>
      <p:grpSp>
        <p:nvGrpSpPr>
          <p:cNvPr id="41" name="footer"/>
          <p:cNvGrpSpPr/>
          <p:nvPr/>
        </p:nvGrpSpPr>
        <p:grpSpPr>
          <a:xfrm>
            <a:off x="679704" y="6404610"/>
            <a:ext cx="10832592" cy="234696"/>
            <a:chOff x="679704" y="6404610"/>
            <a:chExt cx="10832592" cy="234696"/>
          </a:xfrm>
        </p:grpSpPr>
        <p:sp>
          <p:nvSpPr>
            <p:cNvPr id="39" name="TextBox 39"/>
            <p:cNvSpPr txBox="1"/>
            <p:nvPr/>
          </p:nvSpPr>
          <p:spPr>
            <a:xfrm>
              <a:off x="679704" y="6404610"/>
              <a:ext cx="8242402"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来源：《网络安全法》（F004、F008）；《数据安全法》（F025、F022）；《个人信息保护法》（F029、F030）</a:t>
              </a:r>
            </a:p>
          </p:txBody>
        </p:sp>
        <p:sp>
          <p:nvSpPr>
            <p:cNvPr id="40" name="TextBox 4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21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par>
                          <p:cTn id="16" fill="hold">
                            <p:stCondLst>
                              <p:cond delay="17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罚款有上限，任职资格没有</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30" name="penalty-matrix"/>
          <p:cNvGrpSpPr/>
          <p:nvPr/>
        </p:nvGrpSpPr>
        <p:grpSpPr>
          <a:xfrm>
            <a:off x="685800" y="1905000"/>
            <a:ext cx="10820400" cy="3819525"/>
            <a:chOff x="685800" y="1905000"/>
            <a:chExt cx="10820400" cy="3819525"/>
          </a:xfrm>
        </p:grpSpPr>
        <p:sp>
          <p:nvSpPr>
            <p:cNvPr id="9" name="Rectangle 9"/>
            <p:cNvSpPr/>
            <p:nvPr/>
          </p:nvSpPr>
          <p:spPr>
            <a:xfrm>
              <a:off x="685800" y="1905000"/>
              <a:ext cx="10820400" cy="381000"/>
            </a:xfrm>
            <a:prstGeom prst="rect">
              <a:avLst/>
            </a:prstGeom>
            <a:solidFill>
              <a:schemeClr val="accent1"/>
            </a:solidFill>
            <a:ln>
              <a:noFill/>
            </a:ln>
          </p:spPr>
        </p:sp>
        <p:grpSp>
          <p:nvGrpSpPr>
            <p:cNvPr id="14" name="Group 14"/>
            <p:cNvGrpSpPr/>
            <p:nvPr/>
          </p:nvGrpSpPr>
          <p:grpSpPr>
            <a:xfrm>
              <a:off x="812292" y="2006918"/>
              <a:ext cx="8703564" cy="264033"/>
              <a:chOff x="812292" y="2006918"/>
              <a:chExt cx="8703564" cy="264033"/>
            </a:xfrm>
          </p:grpSpPr>
          <p:sp>
            <p:nvSpPr>
              <p:cNvPr id="10" name="TextBox 10"/>
              <p:cNvSpPr txBox="1"/>
              <p:nvPr/>
            </p:nvSpPr>
            <p:spPr>
              <a:xfrm>
                <a:off x="812292" y="2006918"/>
                <a:ext cx="922401"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法律与条款</a:t>
                </a:r>
              </a:p>
            </p:txBody>
          </p:sp>
          <p:sp>
            <p:nvSpPr>
              <p:cNvPr id="11" name="TextBox 11"/>
              <p:cNvSpPr txBox="1"/>
              <p:nvPr/>
            </p:nvSpPr>
            <p:spPr>
              <a:xfrm>
                <a:off x="2907792" y="2006918"/>
                <a:ext cx="740664"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一般情形</a:t>
                </a:r>
              </a:p>
            </p:txBody>
          </p:sp>
          <p:sp>
            <p:nvSpPr>
              <p:cNvPr id="12" name="TextBox 12"/>
              <p:cNvSpPr txBox="1"/>
              <p:nvPr/>
            </p:nvSpPr>
            <p:spPr>
              <a:xfrm>
                <a:off x="5917692" y="2006918"/>
                <a:ext cx="740664"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严重情形</a:t>
                </a:r>
              </a:p>
            </p:txBody>
          </p:sp>
          <p:sp>
            <p:nvSpPr>
              <p:cNvPr id="13" name="TextBox 13"/>
              <p:cNvSpPr txBox="1"/>
              <p:nvPr/>
            </p:nvSpPr>
            <p:spPr>
              <a:xfrm>
                <a:off x="8775192" y="2006918"/>
                <a:ext cx="740664"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附加后果</a:t>
                </a:r>
              </a:p>
            </p:txBody>
          </p:sp>
        </p:grpSp>
        <p:sp>
          <p:nvSpPr>
            <p:cNvPr id="15" name="TextBox 15"/>
            <p:cNvSpPr txBox="1"/>
            <p:nvPr/>
          </p:nvSpPr>
          <p:spPr>
            <a:xfrm>
              <a:off x="812292" y="2645092"/>
              <a:ext cx="1213866"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dk1"/>
                  </a:solidFill>
                  <a:latin typeface="+mn-lt"/>
                  <a:ea typeface="+mn-ea"/>
                  <a:cs typeface="+mn-cs"/>
                </a:rPr>
                <a:t>《网络安全法》</a:t>
              </a:r>
              <a:br/>
              <a:r>
                <a:rPr lang="zh-CN" sz="1350" b="1" dirty="0">
                  <a:solidFill>
                    <a:schemeClr val="dk1"/>
                  </a:solidFill>
                  <a:latin typeface="+mn-lt"/>
                  <a:ea typeface="+mn-ea"/>
                  <a:cs typeface="+mn-cs"/>
                </a:rPr>
                <a:t>第六十一条</a:t>
              </a:r>
            </a:p>
          </p:txBody>
        </p:sp>
        <p:sp>
          <p:nvSpPr>
            <p:cNvPr id="16" name="TextBox 16"/>
            <p:cNvSpPr txBox="1"/>
            <p:nvPr/>
          </p:nvSpPr>
          <p:spPr>
            <a:xfrm>
              <a:off x="2907792" y="2397442"/>
              <a:ext cx="2088261"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单位 1 万–5 万元；</a:t>
              </a:r>
              <a:br/>
              <a:r>
                <a:rPr lang="zh-CN" sz="1350" dirty="0">
                  <a:solidFill>
                    <a:schemeClr val="dk1"/>
                  </a:solidFill>
                  <a:latin typeface="+mn-lt"/>
                  <a:ea typeface="+mn-ea"/>
                  <a:cs typeface="+mn-cs"/>
                </a:rPr>
                <a:t>拒不改正或致危害后果</a:t>
              </a:r>
              <a:br/>
              <a:r>
                <a:rPr lang="zh-CN" sz="1350" dirty="0">
                  <a:solidFill>
                    <a:schemeClr val="dk1"/>
                  </a:solidFill>
                  <a:latin typeface="+mn-lt"/>
                  <a:ea typeface="+mn-ea"/>
                  <a:cs typeface="+mn-cs"/>
                </a:rPr>
                <a:t>5 万–50 万元；</a:t>
              </a:r>
              <a:br/>
              <a:r>
                <a:rPr lang="zh-CN" sz="1350" dirty="0">
                  <a:solidFill>
                    <a:schemeClr val="dk1"/>
                  </a:solidFill>
                  <a:latin typeface="+mn-lt"/>
                  <a:ea typeface="+mn-ea"/>
                  <a:cs typeface="+mn-cs"/>
                </a:rPr>
                <a:t>直接责任人员 1 万–10 万元</a:t>
              </a:r>
            </a:p>
          </p:txBody>
        </p:sp>
        <p:sp>
          <p:nvSpPr>
            <p:cNvPr id="17" name="TextBox 17"/>
            <p:cNvSpPr txBox="1"/>
            <p:nvPr/>
          </p:nvSpPr>
          <p:spPr>
            <a:xfrm>
              <a:off x="5917692" y="2397442"/>
              <a:ext cx="2534031"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严重后果：单位 50 万–200</a:t>
              </a:r>
              <a:br/>
              <a:r>
                <a:rPr lang="zh-CN" sz="1350" dirty="0">
                  <a:solidFill>
                    <a:schemeClr val="dk1"/>
                  </a:solidFill>
                  <a:latin typeface="+mn-lt"/>
                  <a:ea typeface="+mn-ea"/>
                  <a:cs typeface="+mn-cs"/>
                </a:rPr>
                <a:t>万元，个人 5 万–20 万元；</a:t>
              </a:r>
              <a:br/>
              <a:r>
                <a:rPr lang="zh-CN" sz="1350" dirty="0">
                  <a:solidFill>
                    <a:schemeClr val="dk1"/>
                  </a:solidFill>
                  <a:latin typeface="+mn-lt"/>
                  <a:ea typeface="+mn-ea"/>
                  <a:cs typeface="+mn-cs"/>
                </a:rPr>
                <a:t>特别严重：单位 200 万–</a:t>
              </a:r>
              <a:br/>
              <a:r>
                <a:rPr lang="zh-CN" sz="1350" dirty="0">
                  <a:solidFill>
                    <a:schemeClr val="dk1"/>
                  </a:solidFill>
                  <a:latin typeface="+mn-lt"/>
                  <a:ea typeface="+mn-ea"/>
                  <a:cs typeface="+mn-cs"/>
                </a:rPr>
                <a:t>1000 万元，个人 20 万–100 万元</a:t>
              </a:r>
            </a:p>
          </p:txBody>
        </p:sp>
        <p:sp>
          <p:nvSpPr>
            <p:cNvPr id="18" name="TextBox 18"/>
            <p:cNvSpPr txBox="1"/>
            <p:nvPr/>
          </p:nvSpPr>
          <p:spPr>
            <a:xfrm>
              <a:off x="8775192" y="2397442"/>
              <a:ext cx="224256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2"/>
                  </a:solidFill>
                  <a:latin typeface="+mn-lt"/>
                  <a:ea typeface="+mn-ea"/>
                  <a:cs typeface="+mn-cs"/>
                </a:rPr>
                <a:t>第六十六条第三款：受治安</a:t>
              </a:r>
              <a:br/>
              <a:r>
                <a:rPr lang="zh-CN" sz="1350" dirty="0">
                  <a:solidFill>
                    <a:schemeClr val="accent2"/>
                  </a:solidFill>
                  <a:latin typeface="+mn-lt"/>
                  <a:ea typeface="+mn-ea"/>
                  <a:cs typeface="+mn-cs"/>
                </a:rPr>
                <a:t>管理处罚的五年内、受刑事</a:t>
              </a:r>
              <a:br/>
              <a:r>
                <a:rPr lang="zh-CN" sz="1350" dirty="0">
                  <a:solidFill>
                    <a:schemeClr val="accent2"/>
                  </a:solidFill>
                  <a:latin typeface="+mn-lt"/>
                  <a:ea typeface="+mn-ea"/>
                  <a:cs typeface="+mn-cs"/>
                </a:rPr>
                <a:t>处罚的终身，不得从事网络</a:t>
              </a:r>
              <a:br/>
              <a:r>
                <a:rPr lang="zh-CN" sz="1350" dirty="0">
                  <a:solidFill>
                    <a:schemeClr val="accent2"/>
                  </a:solidFill>
                  <a:latin typeface="+mn-lt"/>
                  <a:ea typeface="+mn-ea"/>
                  <a:cs typeface="+mn-cs"/>
                </a:rPr>
                <a:t>安全管理和网络运营关键岗位</a:t>
              </a:r>
            </a:p>
          </p:txBody>
        </p:sp>
        <p:sp>
          <p:nvSpPr>
            <p:cNvPr id="19" name="TextBox 19"/>
            <p:cNvSpPr txBox="1"/>
            <p:nvPr/>
          </p:nvSpPr>
          <p:spPr>
            <a:xfrm>
              <a:off x="812292" y="3788092"/>
              <a:ext cx="1213866"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dk1"/>
                  </a:solidFill>
                  <a:latin typeface="+mn-lt"/>
                  <a:ea typeface="+mn-ea"/>
                  <a:cs typeface="+mn-cs"/>
                </a:rPr>
                <a:t>《数据安全法》</a:t>
              </a:r>
              <a:br/>
              <a:r>
                <a:rPr lang="zh-CN" sz="1350" b="1" dirty="0">
                  <a:solidFill>
                    <a:schemeClr val="dk1"/>
                  </a:solidFill>
                  <a:latin typeface="+mn-lt"/>
                  <a:ea typeface="+mn-ea"/>
                  <a:cs typeface="+mn-cs"/>
                </a:rPr>
                <a:t>第四十五条</a:t>
              </a:r>
            </a:p>
          </p:txBody>
        </p:sp>
        <p:sp>
          <p:nvSpPr>
            <p:cNvPr id="20" name="TextBox 20"/>
            <p:cNvSpPr txBox="1"/>
            <p:nvPr/>
          </p:nvSpPr>
          <p:spPr>
            <a:xfrm>
              <a:off x="2907792" y="3788092"/>
              <a:ext cx="208826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单位 5 万–50 万元；</a:t>
              </a:r>
              <a:br/>
              <a:r>
                <a:rPr lang="zh-CN" sz="1350" dirty="0">
                  <a:solidFill>
                    <a:schemeClr val="dk1"/>
                  </a:solidFill>
                  <a:latin typeface="+mn-lt"/>
                  <a:ea typeface="+mn-ea"/>
                  <a:cs typeface="+mn-cs"/>
                </a:rPr>
                <a:t>直接责任人员 1 万–10 万元</a:t>
              </a:r>
            </a:p>
          </p:txBody>
        </p:sp>
        <p:sp>
          <p:nvSpPr>
            <p:cNvPr id="21" name="TextBox 21"/>
            <p:cNvSpPr txBox="1"/>
            <p:nvPr/>
          </p:nvSpPr>
          <p:spPr>
            <a:xfrm>
              <a:off x="5917692" y="3788092"/>
              <a:ext cx="208826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单位 50 万–200 万元；</a:t>
              </a:r>
              <a:br/>
              <a:r>
                <a:rPr lang="zh-CN" sz="1350" dirty="0">
                  <a:solidFill>
                    <a:schemeClr val="dk1"/>
                  </a:solidFill>
                  <a:latin typeface="+mn-lt"/>
                  <a:ea typeface="+mn-ea"/>
                  <a:cs typeface="+mn-cs"/>
                </a:rPr>
                <a:t>直接责任人员 5 万–20 万元</a:t>
              </a:r>
            </a:p>
          </p:txBody>
        </p:sp>
        <p:sp>
          <p:nvSpPr>
            <p:cNvPr id="22" name="TextBox 22"/>
            <p:cNvSpPr txBox="1"/>
            <p:nvPr/>
          </p:nvSpPr>
          <p:spPr>
            <a:xfrm>
              <a:off x="8775192" y="3788092"/>
              <a:ext cx="15567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2"/>
                  </a:solidFill>
                  <a:latin typeface="+mn-lt"/>
                  <a:ea typeface="+mn-ea"/>
                  <a:cs typeface="+mn-cs"/>
                </a:rPr>
                <a:t>可责令停业整顿、</a:t>
              </a:r>
              <a:br/>
              <a:r>
                <a:rPr lang="zh-CN" sz="1350" dirty="0">
                  <a:solidFill>
                    <a:schemeClr val="accent2"/>
                  </a:solidFill>
                  <a:latin typeface="+mn-lt"/>
                  <a:ea typeface="+mn-ea"/>
                  <a:cs typeface="+mn-cs"/>
                </a:rPr>
                <a:t>吊销许可或营业执照</a:t>
              </a:r>
            </a:p>
          </p:txBody>
        </p:sp>
        <p:sp>
          <p:nvSpPr>
            <p:cNvPr id="23" name="TextBox 23"/>
            <p:cNvSpPr txBox="1"/>
            <p:nvPr/>
          </p:nvSpPr>
          <p:spPr>
            <a:xfrm>
              <a:off x="812292" y="4931092"/>
              <a:ext cx="1556766"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dk1"/>
                  </a:solidFill>
                  <a:latin typeface="+mn-lt"/>
                  <a:ea typeface="+mn-ea"/>
                  <a:cs typeface="+mn-cs"/>
                </a:rPr>
                <a:t>《个人信息保护法》</a:t>
              </a:r>
              <a:br/>
              <a:r>
                <a:rPr lang="zh-CN" sz="1350" b="1" dirty="0">
                  <a:solidFill>
                    <a:schemeClr val="dk1"/>
                  </a:solidFill>
                  <a:latin typeface="+mn-lt"/>
                  <a:ea typeface="+mn-ea"/>
                  <a:cs typeface="+mn-cs"/>
                </a:rPr>
                <a:t>第六十六条</a:t>
              </a:r>
            </a:p>
          </p:txBody>
        </p:sp>
        <p:sp>
          <p:nvSpPr>
            <p:cNvPr id="24" name="TextBox 24"/>
            <p:cNvSpPr txBox="1"/>
            <p:nvPr/>
          </p:nvSpPr>
          <p:spPr>
            <a:xfrm>
              <a:off x="2907792" y="4931092"/>
              <a:ext cx="228542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拒不改正并处 100 万元以下；</a:t>
              </a:r>
              <a:br/>
              <a:r>
                <a:rPr lang="zh-CN" sz="1350" dirty="0">
                  <a:solidFill>
                    <a:schemeClr val="dk1"/>
                  </a:solidFill>
                  <a:latin typeface="+mn-lt"/>
                  <a:ea typeface="+mn-ea"/>
                  <a:cs typeface="+mn-cs"/>
                </a:rPr>
                <a:t>直接责任人员 1 万–10 万元</a:t>
              </a:r>
            </a:p>
          </p:txBody>
        </p:sp>
        <p:sp>
          <p:nvSpPr>
            <p:cNvPr id="25" name="TextBox 25"/>
            <p:cNvSpPr txBox="1"/>
            <p:nvPr/>
          </p:nvSpPr>
          <p:spPr>
            <a:xfrm>
              <a:off x="5917692" y="4807268"/>
              <a:ext cx="2053971"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5000 万元以下或上一年度</a:t>
              </a:r>
              <a:br/>
              <a:r>
                <a:rPr lang="zh-CN" sz="1350" dirty="0">
                  <a:solidFill>
                    <a:schemeClr val="dk1"/>
                  </a:solidFill>
                  <a:latin typeface="+mn-lt"/>
                  <a:ea typeface="+mn-ea"/>
                  <a:cs typeface="+mn-cs"/>
                </a:rPr>
                <a:t>营业额 5% 以下；直接责任</a:t>
              </a:r>
              <a:br/>
              <a:r>
                <a:rPr lang="zh-CN" sz="1350" dirty="0">
                  <a:solidFill>
                    <a:schemeClr val="dk1"/>
                  </a:solidFill>
                  <a:latin typeface="+mn-lt"/>
                  <a:ea typeface="+mn-ea"/>
                  <a:cs typeface="+mn-cs"/>
                </a:rPr>
                <a:t>人员 10 万–100 万元</a:t>
              </a:r>
            </a:p>
          </p:txBody>
        </p:sp>
        <p:sp>
          <p:nvSpPr>
            <p:cNvPr id="26" name="TextBox 26"/>
            <p:cNvSpPr txBox="1"/>
            <p:nvPr/>
          </p:nvSpPr>
          <p:spPr>
            <a:xfrm>
              <a:off x="8775192" y="4807268"/>
              <a:ext cx="20711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2"/>
                  </a:solidFill>
                  <a:latin typeface="+mn-lt"/>
                  <a:ea typeface="+mn-ea"/>
                  <a:cs typeface="+mn-cs"/>
                </a:rPr>
                <a:t>可禁止其在一定期限内担任</a:t>
              </a:r>
              <a:br/>
              <a:r>
                <a:rPr lang="zh-CN" sz="1350" dirty="0">
                  <a:solidFill>
                    <a:schemeClr val="accent2"/>
                  </a:solidFill>
                  <a:latin typeface="+mn-lt"/>
                  <a:ea typeface="+mn-ea"/>
                  <a:cs typeface="+mn-cs"/>
                </a:rPr>
                <a:t>董事、监事、高管和个人信</a:t>
              </a:r>
              <a:br/>
              <a:r>
                <a:rPr lang="zh-CN" sz="1350" dirty="0">
                  <a:solidFill>
                    <a:schemeClr val="accent2"/>
                  </a:solidFill>
                  <a:latin typeface="+mn-lt"/>
                  <a:ea typeface="+mn-ea"/>
                  <a:cs typeface="+mn-cs"/>
                </a:rPr>
                <a:t>息保护负责人</a:t>
              </a:r>
            </a:p>
          </p:txBody>
        </p:sp>
        <p:sp>
          <p:nvSpPr>
            <p:cNvPr id="27" name="Line 27"/>
            <p:cNvSpPr/>
            <p:nvPr/>
          </p:nvSpPr>
          <p:spPr>
            <a:xfrm>
              <a:off x="685800" y="34290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28" name="Line 28"/>
            <p:cNvSpPr/>
            <p:nvPr/>
          </p:nvSpPr>
          <p:spPr>
            <a:xfrm>
              <a:off x="685800" y="45720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29" name="Line 29"/>
            <p:cNvSpPr/>
            <p:nvPr/>
          </p:nvSpPr>
          <p:spPr>
            <a:xfrm>
              <a:off x="685800" y="57150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32" name="penalty-verdict"/>
          <p:cNvGrpSpPr/>
          <p:nvPr/>
        </p:nvGrpSpPr>
        <p:grpSpPr>
          <a:xfrm>
            <a:off x="675132" y="5831205"/>
            <a:ext cx="8247964" cy="410718"/>
            <a:chOff x="675132" y="5831205"/>
            <a:chExt cx="8247964" cy="410718"/>
          </a:xfrm>
        </p:grpSpPr>
        <p:sp>
          <p:nvSpPr>
            <p:cNvPr id="31" name="TextBox 31"/>
            <p:cNvSpPr txBox="1"/>
            <p:nvPr/>
          </p:nvSpPr>
          <p:spPr>
            <a:xfrm>
              <a:off x="675132" y="5831205"/>
              <a:ext cx="824796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一次违规，</a:t>
              </a:r>
              <a:r>
                <a:rPr lang="zh-CN" sz="2100" b="1" dirty="0">
                  <a:solidFill>
                    <a:schemeClr val="accent2"/>
                  </a:solidFill>
                  <a:latin typeface="+mn-lt"/>
                  <a:ea typeface="+mn-ea"/>
                  <a:cs typeface="+mn-cs"/>
                </a:rPr>
                <a:t>可能断送整条职业路径</a:t>
              </a:r>
              <a:r>
                <a:rPr lang="zh-CN" sz="2100" dirty="0">
                  <a:solidFill>
                    <a:schemeClr val="accent1"/>
                  </a:solidFill>
                  <a:latin typeface="+mn-lt"/>
                  <a:ea typeface="+mn-ea"/>
                  <a:cs typeface="+mn-cs"/>
                </a:rPr>
                <a:t>——罚款有上限，任职资格没有。</a:t>
              </a:r>
            </a:p>
          </p:txBody>
        </p:sp>
      </p:grpSp>
      <p:grpSp>
        <p:nvGrpSpPr>
          <p:cNvPr id="35" name="footer"/>
          <p:cNvGrpSpPr/>
          <p:nvPr/>
        </p:nvGrpSpPr>
        <p:grpSpPr>
          <a:xfrm>
            <a:off x="679704" y="6404610"/>
            <a:ext cx="10832592" cy="234696"/>
            <a:chOff x="679704" y="6404610"/>
            <a:chExt cx="10832592" cy="234696"/>
          </a:xfrm>
        </p:grpSpPr>
        <p:sp>
          <p:nvSpPr>
            <p:cNvPr id="33" name="TextBox 33"/>
            <p:cNvSpPr txBox="1"/>
            <p:nvPr/>
          </p:nvSpPr>
          <p:spPr>
            <a:xfrm>
              <a:off x="679704" y="6404610"/>
              <a:ext cx="8242402"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来源：《网络安全法》（F014、F015、F017）、《数据安全法》（F026）、《个人信息保护法》（F032、F033）</a:t>
              </a:r>
            </a:p>
          </p:txBody>
        </p:sp>
        <p:sp>
          <p:nvSpPr>
            <p:cNvPr id="34" name="TextBox 34"/>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22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250"/>
                                  </p:stCondLst>
                                  <p:childTnLst>
                                    <p:set>
                                      <p:cBhvr>
                                        <p:cTn id="10" dur="1" fill="hold">
                                          <p:stCondLst>
                                            <p:cond delay="0"/>
                                          </p:stCondLst>
                                        </p:cTn>
                                        <p:tgtEl>
                                          <p:spTgt spid="30"/>
                                        </p:tgtEl>
                                        <p:attrNameLst>
                                          <p:attrName>style.visibility</p:attrName>
                                        </p:attrNameLst>
                                      </p:cBhvr>
                                      <p:to>
                                        <p:strVal val="visible"/>
                                      </p:to>
                                    </p:set>
                                    <p:animEffect transition="in" filter="wipe(down)">
                                      <p:cBhvr>
                                        <p:cTn id="11" dur="1000"/>
                                        <p:tgtEl>
                                          <p:spTgt spid="30"/>
                                        </p:tgtEl>
                                      </p:cBhvr>
                                    </p:animEffect>
                                  </p:childTnLst>
                                </p:cTn>
                              </p:par>
                            </p:childTnLst>
                          </p:cTn>
                        </p:par>
                        <p:par>
                          <p:cTn id="12" fill="hold">
                            <p:stCondLst>
                              <p:cond delay="1650"/>
                            </p:stCondLst>
                            <p:childTnLst>
                              <p:par>
                                <p:cTn xmlns:p="http://schemas.openxmlformats.org/presentationml/2006/main" id="13" presetID="10" presetClass="entr" presetSubtype="0" fill="hold" grpId="0" nodeType="afterEffect">
                                  <p:stCondLst>
                                    <p:cond delay="40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000500"/>
              <a:ext cx="114300" cy="323850"/>
            </a:xfrm>
            <a:prstGeom prst="rect">
              <a:avLst/>
            </a:prstGeom>
            <a:solidFill>
              <a:schemeClr val="accent2"/>
            </a:solidFill>
            <a:ln>
              <a:noFill/>
            </a:ln>
          </p:spPr>
        </p:sp>
      </p:grpSp>
      <p:sp>
        <p:nvSpPr>
          <p:cNvPr id="5" name="TextBox 5"/>
          <p:cNvSpPr txBox="1"/>
          <p:nvPr/>
        </p:nvSpPr>
        <p:spPr>
          <a:xfrm>
            <a:off x="678942" y="654368"/>
            <a:ext cx="1055103"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04 合规红线</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同一份名单，员工的入罪门槛只要一半</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1" name="threshold-track"/>
          <p:cNvGrpSpPr/>
          <p:nvPr/>
        </p:nvGrpSpPr>
        <p:grpSpPr>
          <a:xfrm>
            <a:off x="669036" y="2063115"/>
            <a:ext cx="1738122" cy="1046036"/>
            <a:chOff x="669036" y="2063115"/>
            <a:chExt cx="1738122" cy="1046036"/>
          </a:xfrm>
        </p:grpSpPr>
        <p:sp>
          <p:nvSpPr>
            <p:cNvPr id="9" name="TextBox 9"/>
            <p:cNvSpPr txBox="1"/>
            <p:nvPr/>
          </p:nvSpPr>
          <p:spPr>
            <a:xfrm>
              <a:off x="669036" y="2063115"/>
              <a:ext cx="1559052"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 条</a:t>
              </a:r>
            </a:p>
          </p:txBody>
        </p:sp>
        <p:sp>
          <p:nvSpPr>
            <p:cNvPr id="10" name="TextBox 10"/>
            <p:cNvSpPr txBox="1"/>
            <p:nvPr/>
          </p:nvSpPr>
          <p:spPr>
            <a:xfrm>
              <a:off x="678942" y="259746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行踪轨迹、通信内容、</a:t>
              </a:r>
              <a:br/>
              <a:r>
                <a:rPr lang="zh-CN" sz="1350" dirty="0">
                  <a:solidFill>
                    <a:schemeClr val="dk1"/>
                  </a:solidFill>
                  <a:latin typeface="+mn-lt"/>
                  <a:ea typeface="+mn-ea"/>
                  <a:cs typeface="+mn-cs"/>
                </a:rPr>
                <a:t>征信、财产信息</a:t>
              </a:r>
            </a:p>
          </p:txBody>
        </p:sp>
      </p:grpSp>
      <p:grpSp>
        <p:nvGrpSpPr>
          <p:cNvPr id="14" name="threshold-lodging"/>
          <p:cNvGrpSpPr/>
          <p:nvPr/>
        </p:nvGrpSpPr>
        <p:grpSpPr>
          <a:xfrm>
            <a:off x="3450336" y="2063115"/>
            <a:ext cx="1817218" cy="1046036"/>
            <a:chOff x="3450336" y="2063115"/>
            <a:chExt cx="1817218" cy="1046036"/>
          </a:xfrm>
        </p:grpSpPr>
        <p:sp>
          <p:nvSpPr>
            <p:cNvPr id="12" name="TextBox 12"/>
            <p:cNvSpPr txBox="1"/>
            <p:nvPr/>
          </p:nvSpPr>
          <p:spPr>
            <a:xfrm>
              <a:off x="3450336" y="2063115"/>
              <a:ext cx="1817218"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500 条</a:t>
              </a:r>
            </a:p>
          </p:txBody>
        </p:sp>
        <p:sp>
          <p:nvSpPr>
            <p:cNvPr id="13" name="TextBox 13"/>
            <p:cNvSpPr txBox="1"/>
            <p:nvPr/>
          </p:nvSpPr>
          <p:spPr>
            <a:xfrm>
              <a:off x="3460242" y="259746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住宿、通信记录、健康</a:t>
              </a:r>
              <a:br/>
              <a:r>
                <a:rPr lang="zh-CN" sz="1350" dirty="0">
                  <a:solidFill>
                    <a:schemeClr val="dk1"/>
                  </a:solidFill>
                  <a:latin typeface="+mn-lt"/>
                  <a:ea typeface="+mn-ea"/>
                  <a:cs typeface="+mn-cs"/>
                </a:rPr>
                <a:t>生理、交易等信息</a:t>
              </a:r>
            </a:p>
          </p:txBody>
        </p:sp>
      </p:grpSp>
      <p:grpSp>
        <p:nvGrpSpPr>
          <p:cNvPr id="17" name="threshold-other"/>
          <p:cNvGrpSpPr/>
          <p:nvPr/>
        </p:nvGrpSpPr>
        <p:grpSpPr>
          <a:xfrm>
            <a:off x="6231636" y="2063115"/>
            <a:ext cx="2075383" cy="798386"/>
            <a:chOff x="6231636" y="2063115"/>
            <a:chExt cx="2075383" cy="798386"/>
          </a:xfrm>
        </p:grpSpPr>
        <p:sp>
          <p:nvSpPr>
            <p:cNvPr id="15" name="TextBox 15"/>
            <p:cNvSpPr txBox="1"/>
            <p:nvPr/>
          </p:nvSpPr>
          <p:spPr>
            <a:xfrm>
              <a:off x="6231636" y="2063115"/>
              <a:ext cx="207538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5000 条</a:t>
              </a:r>
            </a:p>
          </p:txBody>
        </p:sp>
        <p:sp>
          <p:nvSpPr>
            <p:cNvPr id="16" name="TextBox 16"/>
            <p:cNvSpPr txBox="1"/>
            <p:nvPr/>
          </p:nvSpPr>
          <p:spPr>
            <a:xfrm>
              <a:off x="6241542" y="25974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其他公民个人信息</a:t>
              </a:r>
            </a:p>
          </p:txBody>
        </p:sp>
      </p:grpSp>
      <p:grpSp>
        <p:nvGrpSpPr>
          <p:cNvPr id="20" name="threshold-gain"/>
          <p:cNvGrpSpPr/>
          <p:nvPr/>
        </p:nvGrpSpPr>
        <p:grpSpPr>
          <a:xfrm>
            <a:off x="9012936" y="2063115"/>
            <a:ext cx="2075383" cy="798386"/>
            <a:chOff x="9012936" y="2063115"/>
            <a:chExt cx="2075383" cy="798386"/>
          </a:xfrm>
        </p:grpSpPr>
        <p:sp>
          <p:nvSpPr>
            <p:cNvPr id="18" name="TextBox 18"/>
            <p:cNvSpPr txBox="1"/>
            <p:nvPr/>
          </p:nvSpPr>
          <p:spPr>
            <a:xfrm>
              <a:off x="9012936" y="2063115"/>
              <a:ext cx="207538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 5000 元</a:t>
              </a:r>
            </a:p>
          </p:txBody>
        </p:sp>
        <p:sp>
          <p:nvSpPr>
            <p:cNvPr id="19" name="TextBox 19"/>
            <p:cNvSpPr txBox="1"/>
            <p:nvPr/>
          </p:nvSpPr>
          <p:spPr>
            <a:xfrm>
              <a:off x="9022842" y="25974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违法所得</a:t>
              </a:r>
            </a:p>
          </p:txBody>
        </p:sp>
      </p:grpSp>
      <p:grpSp>
        <p:nvGrpSpPr>
          <p:cNvPr id="26" name="halving-rule"/>
          <p:cNvGrpSpPr/>
          <p:nvPr/>
        </p:nvGrpSpPr>
        <p:grpSpPr>
          <a:xfrm>
            <a:off x="685800" y="3543300"/>
            <a:ext cx="10820400" cy="933450"/>
            <a:chOff x="685800" y="3543300"/>
            <a:chExt cx="10820400" cy="933450"/>
          </a:xfrm>
        </p:grpSpPr>
        <p:sp>
          <p:nvSpPr>
            <p:cNvPr id="21" name="Rectangle 21"/>
            <p:cNvSpPr/>
            <p:nvPr/>
          </p:nvSpPr>
          <p:spPr>
            <a:xfrm>
              <a:off x="685800" y="3543300"/>
              <a:ext cx="10820400" cy="933450"/>
            </a:xfrm>
            <a:prstGeom prst="rect">
              <a:avLst/>
            </a:prstGeom>
            <a:solidFill>
              <a:schemeClr val="accent2">
                <a:alpha val="8000"/>
              </a:schemeClr>
            </a:solidFill>
            <a:ln>
              <a:noFill/>
            </a:ln>
          </p:spPr>
        </p:sp>
        <p:sp>
          <p:nvSpPr>
            <p:cNvPr id="22" name="Rectangle 22"/>
            <p:cNvSpPr/>
            <p:nvPr/>
          </p:nvSpPr>
          <p:spPr>
            <a:xfrm>
              <a:off x="685800" y="3543300"/>
              <a:ext cx="38100" cy="933450"/>
            </a:xfrm>
            <a:prstGeom prst="rect">
              <a:avLst/>
            </a:prstGeom>
            <a:solidFill>
              <a:schemeClr val="accent2"/>
            </a:solidFill>
            <a:ln>
              <a:noFill/>
            </a:ln>
          </p:spPr>
        </p:sp>
        <p:sp>
          <p:nvSpPr>
            <p:cNvPr id="23" name="TextBox 23"/>
            <p:cNvSpPr txBox="1"/>
            <p:nvPr/>
          </p:nvSpPr>
          <p:spPr>
            <a:xfrm>
              <a:off x="941832" y="3602355"/>
              <a:ext cx="991590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在履行职责或提供服务过程中获得的，上述数量或数额</a:t>
              </a:r>
              <a:r>
                <a:rPr lang="zh-CN" sz="2100" b="1" dirty="0">
                  <a:solidFill>
                    <a:schemeClr val="accent2"/>
                  </a:solidFill>
                  <a:latin typeface="+mn-lt"/>
                  <a:ea typeface="+mn-ea"/>
                  <a:cs typeface="+mn-cs"/>
                </a:rPr>
                <a:t>减半</a:t>
              </a:r>
              <a:r>
                <a:rPr lang="zh-CN" sz="2100" dirty="0">
                  <a:solidFill>
                    <a:schemeClr val="dk1"/>
                  </a:solidFill>
                  <a:latin typeface="+mn-lt"/>
                  <a:ea typeface="+mn-ea"/>
                  <a:cs typeface="+mn-cs"/>
                </a:rPr>
                <a:t>即达「情节严重」。</a:t>
              </a:r>
            </a:p>
          </p:txBody>
        </p:sp>
        <p:sp>
          <p:nvSpPr>
            <p:cNvPr id="24" name="TextBox 24"/>
            <p:cNvSpPr txBox="1"/>
            <p:nvPr/>
          </p:nvSpPr>
          <p:spPr>
            <a:xfrm>
              <a:off x="945642" y="3950018"/>
              <a:ext cx="553852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即 25 条 / 250 条 / 2500 条 / 违法所得 2500 元（依该规则折算）。</a:t>
              </a:r>
            </a:p>
          </p:txBody>
        </p:sp>
        <p:sp>
          <p:nvSpPr>
            <p:cNvPr id="25" name="TextBox 25"/>
            <p:cNvSpPr txBox="1"/>
            <p:nvPr/>
          </p:nvSpPr>
          <p:spPr>
            <a:xfrm>
              <a:off x="945642" y="4197668"/>
              <a:ext cx="81373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《刑法》第二百五十三条之一 侵犯公民个人信息罪；法释〔2017〕10 号，2017 年 6 月 1 日起施行。</a:t>
              </a:r>
            </a:p>
          </p:txBody>
        </p:sp>
      </p:grpSp>
      <p:grpSp>
        <p:nvGrpSpPr>
          <p:cNvPr id="30" name="case-didi"/>
          <p:cNvGrpSpPr/>
          <p:nvPr/>
        </p:nvGrpSpPr>
        <p:grpSpPr>
          <a:xfrm>
            <a:off x="676656" y="4521518"/>
            <a:ext cx="4771922" cy="987933"/>
            <a:chOff x="676656" y="4521518"/>
            <a:chExt cx="4771922" cy="987933"/>
          </a:xfrm>
        </p:grpSpPr>
        <p:sp>
          <p:nvSpPr>
            <p:cNvPr id="27" name="TextBox 27"/>
            <p:cNvSpPr txBox="1"/>
            <p:nvPr/>
          </p:nvSpPr>
          <p:spPr>
            <a:xfrm>
              <a:off x="678942" y="4521518"/>
              <a:ext cx="1154620" cy="264033"/>
            </a:xfrm>
            <a:prstGeom prst="rect">
              <a:avLst/>
            </a:prstGeom>
            <a:noFill/>
            <a:ln>
              <a:noFill/>
            </a:ln>
          </p:spPr>
          <p:txBody>
            <a:bodyPr wrap="none" lIns="0" tIns="0" rIns="0" bIns="0" anchor="t" anchorCtr="0">
              <a:spAutoFit/>
            </a:bodyPr>
            <a:lstStyle/>
            <a:p>
              <a:pPr algn="l"/>
              <a:r>
                <a:rPr lang="zh-CN" sz="1350" b="1" spc="75" dirty="0">
                  <a:solidFill>
                    <a:schemeClr val="accent2"/>
                  </a:solidFill>
                  <a:latin typeface="+mn-lt"/>
                  <a:ea typeface="+mn-ea"/>
                  <a:cs typeface="+mn-cs"/>
                </a:rPr>
                <a:t>监管处罚实例</a:t>
              </a:r>
            </a:p>
          </p:txBody>
        </p:sp>
        <p:sp>
          <p:nvSpPr>
            <p:cNvPr id="28" name="TextBox 28"/>
            <p:cNvSpPr txBox="1"/>
            <p:nvPr/>
          </p:nvSpPr>
          <p:spPr>
            <a:xfrm>
              <a:off x="676656" y="4739640"/>
              <a:ext cx="477192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滴滴案（2022 年 7 月 21 日，国家网信办）</a:t>
              </a:r>
            </a:p>
          </p:txBody>
        </p:sp>
        <p:sp>
          <p:nvSpPr>
            <p:cNvPr id="29" name="TextBox 29"/>
            <p:cNvSpPr txBox="1"/>
            <p:nvPr/>
          </p:nvSpPr>
          <p:spPr>
            <a:xfrm>
              <a:off x="678942" y="5016818"/>
              <a:ext cx="435997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处滴滴全球股份有限公司 80.26 亿元罚款，并对董事长兼</a:t>
              </a:r>
              <a:br/>
              <a:r>
                <a:rPr lang="zh-CN" sz="1350" dirty="0">
                  <a:solidFill>
                    <a:schemeClr val="dk1"/>
                  </a:solidFill>
                  <a:latin typeface="+mn-lt"/>
                  <a:ea typeface="+mn-ea"/>
                  <a:cs typeface="+mn-cs"/>
                </a:rPr>
                <a:t>CEO 程维、总裁柳青各处 100 万元罚款。</a:t>
              </a:r>
            </a:p>
          </p:txBody>
        </p:sp>
      </p:grpSp>
      <p:grpSp>
        <p:nvGrpSpPr>
          <p:cNvPr id="34" name="case-cnki"/>
          <p:cNvGrpSpPr/>
          <p:nvPr/>
        </p:nvGrpSpPr>
        <p:grpSpPr>
          <a:xfrm>
            <a:off x="6239256" y="4521518"/>
            <a:ext cx="4631985" cy="1216533"/>
            <a:chOff x="6239256" y="4521518"/>
            <a:chExt cx="4631985" cy="1216533"/>
          </a:xfrm>
        </p:grpSpPr>
        <p:sp>
          <p:nvSpPr>
            <p:cNvPr id="31" name="TextBox 31"/>
            <p:cNvSpPr txBox="1"/>
            <p:nvPr/>
          </p:nvSpPr>
          <p:spPr>
            <a:xfrm>
              <a:off x="6241542" y="4521518"/>
              <a:ext cx="1154620" cy="264033"/>
            </a:xfrm>
            <a:prstGeom prst="rect">
              <a:avLst/>
            </a:prstGeom>
            <a:noFill/>
            <a:ln>
              <a:noFill/>
            </a:ln>
          </p:spPr>
          <p:txBody>
            <a:bodyPr wrap="none" lIns="0" tIns="0" rIns="0" bIns="0" anchor="t" anchorCtr="0">
              <a:spAutoFit/>
            </a:bodyPr>
            <a:lstStyle/>
            <a:p>
              <a:pPr algn="l"/>
              <a:r>
                <a:rPr lang="zh-CN" sz="1350" b="1" spc="75" dirty="0">
                  <a:solidFill>
                    <a:schemeClr val="accent2"/>
                  </a:solidFill>
                  <a:latin typeface="+mn-lt"/>
                  <a:ea typeface="+mn-ea"/>
                  <a:cs typeface="+mn-cs"/>
                </a:rPr>
                <a:t>监管处罚实例</a:t>
              </a:r>
            </a:p>
          </p:txBody>
        </p:sp>
        <p:sp>
          <p:nvSpPr>
            <p:cNvPr id="32" name="TextBox 32"/>
            <p:cNvSpPr txBox="1"/>
            <p:nvPr/>
          </p:nvSpPr>
          <p:spPr>
            <a:xfrm>
              <a:off x="6239256" y="4739640"/>
              <a:ext cx="463198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知网案（2023 年 9 月 1 日，国家网信办）</a:t>
              </a:r>
            </a:p>
          </p:txBody>
        </p:sp>
        <p:sp>
          <p:nvSpPr>
            <p:cNvPr id="33" name="TextBox 33"/>
            <p:cNvSpPr txBox="1"/>
            <p:nvPr/>
          </p:nvSpPr>
          <p:spPr>
            <a:xfrm>
              <a:off x="6241542" y="5016818"/>
              <a:ext cx="4608576" cy="7212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责令停止违法处理个人信息并处 5000 万元罚款；手机知网等</a:t>
              </a:r>
              <a:br/>
              <a:r>
                <a:rPr lang="zh-CN" sz="1350" dirty="0">
                  <a:solidFill>
                    <a:schemeClr val="dk1"/>
                  </a:solidFill>
                  <a:latin typeface="+mn-lt"/>
                  <a:ea typeface="+mn-ea"/>
                  <a:cs typeface="+mn-cs"/>
                </a:rPr>
                <a:t>14 款 App 存在违反必要原则收集、未经同意收集、</a:t>
              </a:r>
              <a:br/>
              <a:r>
                <a:rPr lang="zh-CN" sz="1350" dirty="0">
                  <a:solidFill>
                    <a:schemeClr val="dk1"/>
                  </a:solidFill>
                  <a:latin typeface="+mn-lt"/>
                  <a:ea typeface="+mn-ea"/>
                  <a:cs typeface="+mn-cs"/>
                </a:rPr>
                <a:t>未提供注销功能等行为。</a:t>
              </a:r>
            </a:p>
          </p:txBody>
        </p:sp>
      </p:grpSp>
      <p:grpSp>
        <p:nvGrpSpPr>
          <p:cNvPr id="37" name="!!chapter-mark-05"/>
          <p:cNvGrpSpPr/>
          <p:nvPr/>
        </p:nvGrpSpPr>
        <p:grpSpPr>
          <a:xfrm>
            <a:off x="9836448" y="5759768"/>
            <a:ext cx="1681944" cy="679894"/>
            <a:chOff x="9836448" y="5759768"/>
            <a:chExt cx="1681944" cy="679894"/>
          </a:xfrm>
        </p:grpSpPr>
        <p:sp>
          <p:nvSpPr>
            <p:cNvPr id="35" name="TextBox 35"/>
            <p:cNvSpPr txBox="1"/>
            <p:nvPr/>
          </p:nvSpPr>
          <p:spPr>
            <a:xfrm>
              <a:off x="9836448" y="5759768"/>
              <a:ext cx="167661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下一章 · 应急与上报</a:t>
              </a:r>
            </a:p>
          </p:txBody>
        </p:sp>
        <p:sp>
          <p:nvSpPr>
            <p:cNvPr id="36" name="TextBox 36"/>
            <p:cNvSpPr txBox="1"/>
            <p:nvPr/>
          </p:nvSpPr>
          <p:spPr>
            <a:xfrm>
              <a:off x="11118494" y="5970270"/>
              <a:ext cx="399898" cy="469392"/>
            </a:xfrm>
            <a:prstGeom prst="rect">
              <a:avLst/>
            </a:prstGeom>
            <a:noFill/>
            <a:ln>
              <a:noFill/>
            </a:ln>
          </p:spPr>
          <p:txBody>
            <a:bodyPr wrap="none" lIns="0" tIns="0" rIns="0" bIns="0" anchor="t" anchorCtr="0">
              <a:spAutoFit/>
            </a:bodyPr>
            <a:lstStyle/>
            <a:p>
              <a:pPr algn="r"/>
              <a:r>
                <a:rPr lang="zh-CN" sz="2400" dirty="0">
                  <a:solidFill>
                    <a:schemeClr val="accent2"/>
                  </a:solidFill>
                  <a:latin typeface="+mj-lt"/>
                  <a:ea typeface="+mj-ea"/>
                  <a:cs typeface="+mj-cs"/>
                </a:rPr>
                <a:t>05</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710366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来源：最高人民法院法释〔2017〕10 号（F039、F040）；国家互联网信息办公室（F041、F042）</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23 / 28</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5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childTnLst>
                          </p:cTn>
                        </p:par>
                        <p:par>
                          <p:cTn id="16" fill="hold">
                            <p:stCondLst>
                              <p:cond delay="1600"/>
                            </p:stCondLst>
                            <p:childTnLst>
                              <p:par>
                                <p:cTn id="17" presetID="10" presetClass="entr" presetSubtype="0" fill="hold" grpId="0" nodeType="afterEffect">
                                  <p:stCondLst>
                                    <p:cond delay="25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350"/>
                                        <p:tgtEl>
                                          <p:spTgt spid="17"/>
                                        </p:tgtEl>
                                      </p:cBhvr>
                                    </p:animEffect>
                                  </p:childTnLst>
                                </p:cTn>
                              </p:par>
                            </p:childTnLst>
                          </p:cTn>
                        </p:par>
                        <p:par>
                          <p:cTn id="20" fill="hold">
                            <p:stCondLst>
                              <p:cond delay="2200"/>
                            </p:stCondLst>
                            <p:childTnLst>
                              <p:par>
                                <p:cTn id="21" presetID="10" presetClass="entr" presetSubtype="0" fill="hold" grpId="0" nodeType="afterEffect">
                                  <p:stCondLst>
                                    <p:cond delay="25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childTnLst>
                          </p:cTn>
                        </p:par>
                        <p:par>
                          <p:cTn id="24" fill="hold">
                            <p:stCondLst>
                              <p:cond delay="2800"/>
                            </p:stCondLst>
                            <p:childTnLst>
                              <p:par>
                                <p:cTn id="25" presetID="22" presetClass="entr" presetSubtype="2" fill="hold" grpId="0" nodeType="afterEffect">
                                  <p:stCondLst>
                                    <p:cond delay="300"/>
                                  </p:stCondLst>
                                  <p:childTnLst>
                                    <p:set>
                                      <p:cBhvr>
                                        <p:cTn id="26" dur="1" fill="hold">
                                          <p:stCondLst>
                                            <p:cond delay="0"/>
                                          </p:stCondLst>
                                        </p:cTn>
                                        <p:tgtEl>
                                          <p:spTgt spid="26"/>
                                        </p:tgtEl>
                                        <p:attrNameLst>
                                          <p:attrName>style.visibility</p:attrName>
                                        </p:attrNameLst>
                                      </p:cBhvr>
                                      <p:to>
                                        <p:strVal val="visible"/>
                                      </p:to>
                                    </p:set>
                                    <p:animEffect transition="in" filter="wipe(right)">
                                      <p:cBhvr>
                                        <p:cTn id="27" dur="800"/>
                                        <p:tgtEl>
                                          <p:spTgt spid="26"/>
                                        </p:tgtEl>
                                      </p:cBhvr>
                                    </p:animEffect>
                                  </p:childTnLst>
                                </p:cTn>
                              </p:par>
                            </p:childTnLst>
                          </p:cTn>
                        </p:par>
                        <p:par>
                          <p:cTn id="28" fill="hold">
                            <p:stCondLst>
                              <p:cond delay="3900"/>
                            </p:stCondLst>
                            <p:childTnLst>
                              <p:par>
                                <p:cTn id="29" presetID="10" presetClass="entr" presetSubtype="0" fill="hold" grpId="0" nodeType="afterEffect">
                                  <p:stCondLst>
                                    <p:cond delay="25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par>
                          <p:cTn id="32" fill="hold">
                            <p:stCondLst>
                              <p:cond delay="4650"/>
                            </p:stCondLst>
                            <p:childTnLst>
                              <p:par>
                                <p:cTn id="33" presetID="10" presetClass="entr" presetSubtype="0" fill="hold" grpId="0" nodeType="afterEffect">
                                  <p:stCondLst>
                                    <p:cond delay="25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par>
                          <p:cTn id="36" fill="hold">
                            <p:stCondLst>
                              <p:cond delay="5400"/>
                            </p:stCondLst>
                            <p:childTnLst>
                              <p:par>
                                <p:cTn id="37" presetID="10" presetClass="entr" presetSubtype="0" fill="hold" grpId="0" nodeType="afterEffect">
                                  <p:stCondLst>
                                    <p:cond delay="25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gradFill>
          <a:gsLst>
            <a:gs pos="0">
              <a:srgbClr val="243141"/>
            </a:gs>
            <a:gs pos="100000">
              <a:srgbClr val="1A232E"/>
            </a:gs>
          </a:gsLst>
          <a:lin ang="2700000" scaled="1"/>
        </a:gra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rgbClr val="4A5560"/>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Line 5"/>
          <p:cNvSpPr/>
          <p:nvPr/>
        </p:nvSpPr>
        <p:spPr>
          <a:xfrm>
            <a:off x="3429000" y="1809750"/>
            <a:ext cx="9525" cy="2952750"/>
          </a:xfrm>
          <a:custGeom>
            <a:avLst/>
            <a:gdLst/>
            <a:ahLst/>
            <a:cxnLst/>
            <a:rect l="l" t="t" r="r" b="b"/>
            <a:pathLst>
              <a:path w="9525" h="2952750">
                <a:moveTo>
                  <a:pt x="0" y="0"/>
                </a:moveTo>
                <a:lnTo>
                  <a:pt x="0" y="2952750"/>
                </a:lnTo>
              </a:path>
            </a:pathLst>
          </a:custGeom>
          <a:noFill/>
          <a:ln w="9525">
            <a:solidFill>
              <a:srgbClr val="4A5560"/>
            </a:solidFill>
          </a:ln>
        </p:spPr>
      </p:sp>
      <p:grpSp>
        <p:nvGrpSpPr>
          <p:cNvPr id="7" name="!!chapter-mark-05"/>
          <p:cNvGrpSpPr/>
          <p:nvPr/>
        </p:nvGrpSpPr>
        <p:grpSpPr>
          <a:xfrm>
            <a:off x="895350" y="1752600"/>
            <a:ext cx="1915668" cy="2305050"/>
            <a:chOff x="895350" y="1752600"/>
            <a:chExt cx="1915668" cy="2305050"/>
          </a:xfrm>
        </p:grpSpPr>
        <p:sp>
          <p:nvSpPr>
            <p:cNvPr id="6" name="TextBox 6"/>
            <p:cNvSpPr txBox="1"/>
            <p:nvPr/>
          </p:nvSpPr>
          <p:spPr>
            <a:xfrm>
              <a:off x="895350" y="1752600"/>
              <a:ext cx="1915668" cy="2305050"/>
            </a:xfrm>
            <a:prstGeom prst="rect">
              <a:avLst/>
            </a:prstGeom>
            <a:noFill/>
            <a:ln>
              <a:noFill/>
            </a:ln>
          </p:spPr>
          <p:txBody>
            <a:bodyPr wrap="none" lIns="0" tIns="0" rIns="0" bIns="0" anchor="t" anchorCtr="0">
              <a:spAutoFit/>
            </a:bodyPr>
            <a:lstStyle/>
            <a:p>
              <a:pPr algn="l"/>
              <a:r>
                <a:rPr lang="zh-CN" sz="12000" dirty="0">
                  <a:solidFill>
                    <a:srgbClr val="F7F4EE"/>
                  </a:solidFill>
                  <a:latin typeface="+mj-lt"/>
                  <a:ea typeface="+mj-ea"/>
                  <a:cs typeface="+mj-cs"/>
                </a:rPr>
                <a:t>05</a:t>
              </a:r>
            </a:p>
          </p:txBody>
        </p:sp>
      </p:grpSp>
      <p:grpSp>
        <p:nvGrpSpPr>
          <p:cNvPr id="10" name="chapter-title"/>
          <p:cNvGrpSpPr/>
          <p:nvPr/>
        </p:nvGrpSpPr>
        <p:grpSpPr>
          <a:xfrm>
            <a:off x="3981450" y="2023110"/>
            <a:ext cx="5683758" cy="1132713"/>
            <a:chOff x="3981450" y="2023110"/>
            <a:chExt cx="5683758" cy="1132713"/>
          </a:xfrm>
        </p:grpSpPr>
        <p:sp>
          <p:nvSpPr>
            <p:cNvPr id="8" name="TextBox 8"/>
            <p:cNvSpPr txBox="1"/>
            <p:nvPr/>
          </p:nvSpPr>
          <p:spPr>
            <a:xfrm>
              <a:off x="3981450" y="2023110"/>
              <a:ext cx="3025140" cy="819150"/>
            </a:xfrm>
            <a:prstGeom prst="rect">
              <a:avLst/>
            </a:prstGeom>
            <a:noFill/>
            <a:ln>
              <a:noFill/>
            </a:ln>
          </p:spPr>
          <p:txBody>
            <a:bodyPr wrap="none" lIns="0" tIns="0" rIns="0" bIns="0" anchor="t" anchorCtr="0">
              <a:spAutoFit/>
            </a:bodyPr>
            <a:lstStyle/>
            <a:p>
              <a:pPr algn="l"/>
              <a:r>
                <a:rPr lang="zh-CN" sz="4200" dirty="0">
                  <a:solidFill>
                    <a:srgbClr val="F7F4EE"/>
                  </a:solidFill>
                  <a:latin typeface="+mj-lt"/>
                  <a:ea typeface="+mj-ea"/>
                  <a:cs typeface="+mj-cs"/>
                </a:rPr>
                <a:t>应急与上报</a:t>
              </a:r>
            </a:p>
          </p:txBody>
        </p:sp>
        <p:sp>
          <p:nvSpPr>
            <p:cNvPr id="9" name="TextBox 9"/>
            <p:cNvSpPr txBox="1"/>
            <p:nvPr/>
          </p:nvSpPr>
          <p:spPr>
            <a:xfrm>
              <a:off x="3989832" y="2745105"/>
              <a:ext cx="5675376" cy="410718"/>
            </a:xfrm>
            <a:prstGeom prst="rect">
              <a:avLst/>
            </a:prstGeom>
            <a:noFill/>
            <a:ln>
              <a:noFill/>
            </a:ln>
          </p:spPr>
          <p:txBody>
            <a:bodyPr wrap="none" lIns="0" tIns="0" rIns="0" bIns="0" anchor="t" anchorCtr="0">
              <a:spAutoFit/>
            </a:bodyPr>
            <a:lstStyle/>
            <a:p>
              <a:pPr algn="l"/>
              <a:r>
                <a:rPr lang="zh-CN" sz="2100" dirty="0">
                  <a:solidFill>
                    <a:srgbClr val="C9C1B4"/>
                  </a:solidFill>
                  <a:latin typeface="+mn-lt"/>
                  <a:ea typeface="+mn-ea"/>
                  <a:cs typeface="+mn-cs"/>
                </a:rPr>
                <a:t>发现异常之后的几个小时，决定这件事的量级</a:t>
              </a:r>
            </a:p>
          </p:txBody>
        </p:sp>
      </p:grpSp>
      <p:grpSp>
        <p:nvGrpSpPr>
          <p:cNvPr id="17" name="chapter-route"/>
          <p:cNvGrpSpPr/>
          <p:nvPr/>
        </p:nvGrpSpPr>
        <p:grpSpPr>
          <a:xfrm>
            <a:off x="4000500" y="3530918"/>
            <a:ext cx="3162300" cy="911733"/>
            <a:chOff x="4000500" y="3530918"/>
            <a:chExt cx="3162300" cy="911733"/>
          </a:xfrm>
        </p:grpSpPr>
        <p:sp>
          <p:nvSpPr>
            <p:cNvPr id="11" name="Rectangle 11"/>
            <p:cNvSpPr/>
            <p:nvPr/>
          </p:nvSpPr>
          <p:spPr>
            <a:xfrm>
              <a:off x="4000500" y="3581400"/>
              <a:ext cx="95250" cy="95250"/>
            </a:xfrm>
            <a:prstGeom prst="rect">
              <a:avLst/>
            </a:prstGeom>
            <a:solidFill>
              <a:schemeClr val="accent2"/>
            </a:solidFill>
            <a:ln>
              <a:noFill/>
            </a:ln>
          </p:spPr>
        </p:sp>
        <p:sp>
          <p:nvSpPr>
            <p:cNvPr id="12" name="TextBox 12"/>
            <p:cNvSpPr txBox="1"/>
            <p:nvPr/>
          </p:nvSpPr>
          <p:spPr>
            <a:xfrm>
              <a:off x="4241292" y="353091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发现异常后的四个动作</a:t>
              </a:r>
            </a:p>
          </p:txBody>
        </p:sp>
        <p:sp>
          <p:nvSpPr>
            <p:cNvPr id="13" name="Rectangle 13"/>
            <p:cNvSpPr/>
            <p:nvPr/>
          </p:nvSpPr>
          <p:spPr>
            <a:xfrm>
              <a:off x="4000500" y="3905250"/>
              <a:ext cx="95250" cy="95250"/>
            </a:xfrm>
            <a:prstGeom prst="rect">
              <a:avLst/>
            </a:prstGeom>
            <a:solidFill>
              <a:schemeClr val="accent2"/>
            </a:solidFill>
            <a:ln>
              <a:noFill/>
            </a:ln>
          </p:spPr>
        </p:sp>
        <p:sp>
          <p:nvSpPr>
            <p:cNvPr id="14" name="TextBox 14"/>
            <p:cNvSpPr txBox="1"/>
            <p:nvPr/>
          </p:nvSpPr>
          <p:spPr>
            <a:xfrm>
              <a:off x="4241292" y="3854768"/>
              <a:ext cx="1831086"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报给谁、多久、怎么报</a:t>
              </a:r>
            </a:p>
          </p:txBody>
        </p:sp>
        <p:sp>
          <p:nvSpPr>
            <p:cNvPr id="15" name="Rectangle 15"/>
            <p:cNvSpPr/>
            <p:nvPr/>
          </p:nvSpPr>
          <p:spPr>
            <a:xfrm>
              <a:off x="4000500" y="4229100"/>
              <a:ext cx="95250" cy="95250"/>
            </a:xfrm>
            <a:prstGeom prst="rect">
              <a:avLst/>
            </a:prstGeom>
            <a:solidFill>
              <a:schemeClr val="accent2"/>
            </a:solidFill>
            <a:ln>
              <a:noFill/>
            </a:ln>
          </p:spPr>
        </p:sp>
        <p:sp>
          <p:nvSpPr>
            <p:cNvPr id="16" name="TextBox 16"/>
            <p:cNvSpPr txBox="1"/>
            <p:nvPr/>
          </p:nvSpPr>
          <p:spPr>
            <a:xfrm>
              <a:off x="4241292" y="4178618"/>
              <a:ext cx="2921508" cy="264033"/>
            </a:xfrm>
            <a:prstGeom prst="rect">
              <a:avLst/>
            </a:prstGeom>
            <a:noFill/>
            <a:ln>
              <a:noFill/>
            </a:ln>
          </p:spPr>
          <p:txBody>
            <a:bodyPr wrap="none" lIns="0" tIns="0" rIns="0" bIns="0" anchor="t" anchorCtr="0">
              <a:spAutoFit/>
            </a:bodyPr>
            <a:lstStyle/>
            <a:p>
              <a:pPr algn="l"/>
              <a:r>
                <a:rPr lang="zh-CN" sz="1350" dirty="0">
                  <a:solidFill>
                    <a:srgbClr val="A9A296"/>
                  </a:solidFill>
                  <a:latin typeface="+mn-lt"/>
                  <a:ea typeface="+mn-ea"/>
                  <a:cs typeface="+mn-cs"/>
                </a:rPr>
                <a:t>及时上报是免责条款，不是追责起点</a:t>
              </a:r>
            </a:p>
          </p:txBody>
        </p:sp>
      </p:grpSp>
      <p:grpSp>
        <p:nvGrpSpPr>
          <p:cNvPr id="20" name="footer"/>
          <p:cNvGrpSpPr/>
          <p:nvPr/>
        </p:nvGrpSpPr>
        <p:grpSpPr>
          <a:xfrm>
            <a:off x="679704" y="6404610"/>
            <a:ext cx="10832592" cy="234696"/>
            <a:chOff x="679704" y="6404610"/>
            <a:chExt cx="10832592" cy="234696"/>
          </a:xfrm>
        </p:grpSpPr>
        <p:sp>
          <p:nvSpPr>
            <p:cNvPr id="18" name="TextBox 18"/>
            <p:cNvSpPr txBox="1"/>
            <p:nvPr/>
          </p:nvSpPr>
          <p:spPr>
            <a:xfrm>
              <a:off x="679704" y="6404610"/>
              <a:ext cx="1490320" cy="234696"/>
            </a:xfrm>
            <a:prstGeom prst="rect">
              <a:avLst/>
            </a:prstGeom>
            <a:noFill/>
            <a:ln>
              <a:noFill/>
            </a:ln>
          </p:spPr>
          <p:txBody>
            <a:bodyPr wrap="none" lIns="0" tIns="0" rIns="0" bIns="0" anchor="t" anchorCtr="0">
              <a:spAutoFit/>
            </a:bodyPr>
            <a:lstStyle/>
            <a:p>
              <a:pPr algn="l"/>
              <a:r>
                <a:rPr lang="zh-CN" sz="1200" dirty="0">
                  <a:solidFill>
                    <a:srgbClr val="6E6A62"/>
                  </a:solidFill>
                  <a:latin typeface="+mn-lt"/>
                  <a:ea typeface="+mn-ea"/>
                  <a:cs typeface="+mn-cs"/>
                </a:rPr>
                <a:t>第五章 · 应急与上报</a:t>
              </a:r>
            </a:p>
          </p:txBody>
        </p:sp>
        <p:sp>
          <p:nvSpPr>
            <p:cNvPr id="19" name="TextBox 1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6E6A62"/>
                  </a:solidFill>
                  <a:latin typeface="+mn-lt"/>
                  <a:ea typeface="+mn-ea"/>
                  <a:cs typeface="+mn-cs"/>
                </a:rPr>
                <a:t>24 / 28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2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050"/>
                            </p:stCondLst>
                            <p:childTnLst>
                              <p:par>
                                <p:cTn id="13" presetID="10" presetClass="entr" presetSubtype="0" fill="hold" grpId="0" nodeType="afterEffect">
                                  <p:stCondLst>
                                    <p:cond delay="2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05 应急与上报</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发现异常后的四个动作</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sp>
        <p:nvSpPr>
          <p:cNvPr id="9" name="Line 9"/>
          <p:cNvSpPr/>
          <p:nvPr/>
        </p:nvSpPr>
        <p:spPr>
          <a:xfrm>
            <a:off x="1333500" y="3238500"/>
            <a:ext cx="9620250" cy="1"/>
          </a:xfrm>
          <a:prstGeom prst="line">
            <a:avLst/>
          </a:prstGeom>
          <a:noFill/>
          <a:ln w="19050">
            <a:solidFill>
              <a:schemeClr val="accent1"/>
            </a:solidFill>
            <a:tailEnd type="triangle" w="lg" len="lg"/>
          </a:ln>
        </p:spPr>
      </p:sp>
      <p:grpSp>
        <p:nvGrpSpPr>
          <p:cNvPr id="14" name="action-stop"/>
          <p:cNvGrpSpPr/>
          <p:nvPr/>
        </p:nvGrpSpPr>
        <p:grpSpPr>
          <a:xfrm>
            <a:off x="964692" y="2598420"/>
            <a:ext cx="2071116" cy="2072831"/>
            <a:chOff x="964692" y="2598420"/>
            <a:chExt cx="2071116" cy="2072831"/>
          </a:xfrm>
        </p:grpSpPr>
        <p:sp>
          <p:nvSpPr>
            <p:cNvPr id="10" name="TextBox 10"/>
            <p:cNvSpPr txBox="1"/>
            <p:nvPr/>
          </p:nvSpPr>
          <p:spPr>
            <a:xfrm>
              <a:off x="1817370" y="2598420"/>
              <a:ext cx="365760"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停</a:t>
              </a:r>
            </a:p>
          </p:txBody>
        </p:sp>
        <p:sp>
          <p:nvSpPr>
            <p:cNvPr id="11" name="Ellipse 11"/>
            <p:cNvSpPr/>
            <p:nvPr/>
          </p:nvSpPr>
          <p:spPr>
            <a:xfrm>
              <a:off x="1790700" y="3028950"/>
              <a:ext cx="419100" cy="419100"/>
            </a:xfrm>
            <a:prstGeom prst="ellipse">
              <a:avLst/>
            </a:prstGeom>
            <a:solidFill>
              <a:schemeClr val="accent1"/>
            </a:solidFill>
            <a:ln>
              <a:noFill/>
            </a:ln>
          </p:spPr>
        </p:sp>
        <p:sp>
          <p:nvSpPr>
            <p:cNvPr id="12" name="TextBox 12"/>
            <p:cNvSpPr txBox="1"/>
            <p:nvPr/>
          </p:nvSpPr>
          <p:spPr>
            <a:xfrm>
              <a:off x="1943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1</a:t>
              </a:r>
            </a:p>
          </p:txBody>
        </p:sp>
        <p:sp>
          <p:nvSpPr>
            <p:cNvPr id="13" name="TextBox 13"/>
            <p:cNvSpPr txBox="1"/>
            <p:nvPr/>
          </p:nvSpPr>
          <p:spPr>
            <a:xfrm>
              <a:off x="964692" y="3664268"/>
              <a:ext cx="207111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停止操作；不关机、</a:t>
              </a:r>
              <a:br/>
              <a:r>
                <a:rPr lang="zh-CN" sz="1350" dirty="0">
                  <a:solidFill>
                    <a:schemeClr val="accent5"/>
                  </a:solidFill>
                  <a:latin typeface="+mn-lt"/>
                  <a:ea typeface="+mn-ea"/>
                  <a:cs typeface="+mn-cs"/>
                </a:rPr>
                <a:t>不重装、不删日志。</a:t>
              </a:r>
              <a:br/>
              <a:r>
                <a:rPr lang="zh-CN" sz="1350" dirty="0">
                  <a:solidFill>
                    <a:schemeClr val="accent5"/>
                  </a:solidFill>
                  <a:latin typeface="+mn-lt"/>
                  <a:ea typeface="+mn-ea"/>
                  <a:cs typeface="+mn-cs"/>
                </a:rPr>
                <a:t>第七条把「现场保护情况」</a:t>
              </a:r>
              <a:br/>
              <a:r>
                <a:rPr lang="zh-CN" sz="1350" dirty="0">
                  <a:solidFill>
                    <a:schemeClr val="accent5"/>
                  </a:solidFill>
                  <a:latin typeface="+mn-lt"/>
                  <a:ea typeface="+mn-ea"/>
                  <a:cs typeface="+mn-cs"/>
                </a:rPr>
                <a:t>列为必报内容。</a:t>
              </a:r>
            </a:p>
          </p:txBody>
        </p:sp>
      </p:grpSp>
      <p:grpSp>
        <p:nvGrpSpPr>
          <p:cNvPr id="19" name="action-report"/>
          <p:cNvGrpSpPr/>
          <p:nvPr/>
        </p:nvGrpSpPr>
        <p:grpSpPr>
          <a:xfrm>
            <a:off x="3545967" y="2598420"/>
            <a:ext cx="2242566" cy="2072831"/>
            <a:chOff x="3545967" y="2598420"/>
            <a:chExt cx="2242566" cy="2072831"/>
          </a:xfrm>
        </p:grpSpPr>
        <p:sp>
          <p:nvSpPr>
            <p:cNvPr id="15" name="TextBox 15"/>
            <p:cNvSpPr txBox="1"/>
            <p:nvPr/>
          </p:nvSpPr>
          <p:spPr>
            <a:xfrm>
              <a:off x="4484370" y="2598420"/>
              <a:ext cx="365760"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报</a:t>
              </a:r>
            </a:p>
          </p:txBody>
        </p:sp>
        <p:sp>
          <p:nvSpPr>
            <p:cNvPr id="16" name="Ellipse 16"/>
            <p:cNvSpPr/>
            <p:nvPr/>
          </p:nvSpPr>
          <p:spPr>
            <a:xfrm>
              <a:off x="4457700" y="3028950"/>
              <a:ext cx="419100" cy="419100"/>
            </a:xfrm>
            <a:prstGeom prst="ellipse">
              <a:avLst/>
            </a:prstGeom>
            <a:solidFill>
              <a:schemeClr val="accent1"/>
            </a:solidFill>
            <a:ln>
              <a:noFill/>
            </a:ln>
          </p:spPr>
        </p:sp>
        <p:sp>
          <p:nvSpPr>
            <p:cNvPr id="17" name="TextBox 17"/>
            <p:cNvSpPr txBox="1"/>
            <p:nvPr/>
          </p:nvSpPr>
          <p:spPr>
            <a:xfrm>
              <a:off x="4610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2</a:t>
              </a:r>
            </a:p>
          </p:txBody>
        </p:sp>
        <p:sp>
          <p:nvSpPr>
            <p:cNvPr id="18" name="TextBox 18"/>
            <p:cNvSpPr txBox="1"/>
            <p:nvPr/>
          </p:nvSpPr>
          <p:spPr>
            <a:xfrm>
              <a:off x="3545967" y="3664268"/>
              <a:ext cx="224256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立即通知本单位安全</a:t>
              </a:r>
              <a:br/>
              <a:r>
                <a:rPr lang="zh-CN" sz="1350" dirty="0">
                  <a:solidFill>
                    <a:schemeClr val="accent5"/>
                  </a:solidFill>
                  <a:latin typeface="+mn-lt"/>
                  <a:ea typeface="+mn-ea"/>
                  <a:cs typeface="+mn-cs"/>
                </a:rPr>
                <a:t>负责人；由单位按预案</a:t>
              </a:r>
              <a:br/>
              <a:r>
                <a:rPr lang="zh-CN" sz="1350" dirty="0">
                  <a:solidFill>
                    <a:schemeClr val="accent5"/>
                  </a:solidFill>
                  <a:latin typeface="+mn-lt"/>
                  <a:ea typeface="+mn-ea"/>
                  <a:cs typeface="+mn-cs"/>
                </a:rPr>
                <a:t>启动处置并向主管部门</a:t>
              </a:r>
              <a:br/>
              <a:r>
                <a:rPr lang="zh-CN" sz="1350" dirty="0">
                  <a:solidFill>
                    <a:schemeClr val="accent5"/>
                  </a:solidFill>
                  <a:latin typeface="+mn-lt"/>
                  <a:ea typeface="+mn-ea"/>
                  <a:cs typeface="+mn-cs"/>
                </a:rPr>
                <a:t>报告（网安法第二十七条）。</a:t>
              </a:r>
            </a:p>
          </p:txBody>
        </p:sp>
      </p:grpSp>
      <p:grpSp>
        <p:nvGrpSpPr>
          <p:cNvPr id="24" name="action-record"/>
          <p:cNvGrpSpPr/>
          <p:nvPr/>
        </p:nvGrpSpPr>
        <p:grpSpPr>
          <a:xfrm>
            <a:off x="6470142" y="2598420"/>
            <a:ext cx="1728216" cy="2072831"/>
            <a:chOff x="6470142" y="2598420"/>
            <a:chExt cx="1728216" cy="2072831"/>
          </a:xfrm>
        </p:grpSpPr>
        <p:sp>
          <p:nvSpPr>
            <p:cNvPr id="20" name="TextBox 20"/>
            <p:cNvSpPr txBox="1"/>
            <p:nvPr/>
          </p:nvSpPr>
          <p:spPr>
            <a:xfrm>
              <a:off x="7151370" y="2598420"/>
              <a:ext cx="365760"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记</a:t>
              </a:r>
            </a:p>
          </p:txBody>
        </p:sp>
        <p:sp>
          <p:nvSpPr>
            <p:cNvPr id="21" name="Ellipse 21"/>
            <p:cNvSpPr/>
            <p:nvPr/>
          </p:nvSpPr>
          <p:spPr>
            <a:xfrm>
              <a:off x="7124700" y="3028950"/>
              <a:ext cx="419100" cy="419100"/>
            </a:xfrm>
            <a:prstGeom prst="ellipse">
              <a:avLst/>
            </a:prstGeom>
            <a:solidFill>
              <a:schemeClr val="accent1"/>
            </a:solidFill>
            <a:ln>
              <a:noFill/>
            </a:ln>
          </p:spPr>
        </p:sp>
        <p:sp>
          <p:nvSpPr>
            <p:cNvPr id="22" name="TextBox 22"/>
            <p:cNvSpPr txBox="1"/>
            <p:nvPr/>
          </p:nvSpPr>
          <p:spPr>
            <a:xfrm>
              <a:off x="7277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3</a:t>
              </a:r>
            </a:p>
          </p:txBody>
        </p:sp>
        <p:sp>
          <p:nvSpPr>
            <p:cNvPr id="23" name="TextBox 23"/>
            <p:cNvSpPr txBox="1"/>
            <p:nvPr/>
          </p:nvSpPr>
          <p:spPr>
            <a:xfrm>
              <a:off x="6470142" y="3664268"/>
              <a:ext cx="172821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记下发现时间、现象、</a:t>
              </a:r>
              <a:br/>
              <a:r>
                <a:rPr lang="zh-CN" sz="1350" dirty="0">
                  <a:solidFill>
                    <a:schemeClr val="accent5"/>
                  </a:solidFill>
                  <a:latin typeface="+mn-lt"/>
                  <a:ea typeface="+mn-ea"/>
                  <a:cs typeface="+mn-cs"/>
                </a:rPr>
                <a:t>你做过的每一步操作</a:t>
              </a:r>
              <a:br/>
              <a:r>
                <a:rPr lang="zh-CN" sz="1350" dirty="0">
                  <a:solidFill>
                    <a:schemeClr val="accent5"/>
                  </a:solidFill>
                  <a:latin typeface="+mn-lt"/>
                  <a:ea typeface="+mn-ea"/>
                  <a:cs typeface="+mn-cs"/>
                </a:rPr>
                <a:t>（个保法第五十七条</a:t>
              </a:r>
              <a:br/>
              <a:r>
                <a:rPr lang="zh-CN" sz="1350" dirty="0">
                  <a:solidFill>
                    <a:schemeClr val="accent5"/>
                  </a:solidFill>
                  <a:latin typeface="+mn-lt"/>
                  <a:ea typeface="+mn-ea"/>
                  <a:cs typeface="+mn-cs"/>
                </a:rPr>
                <a:t>通知内容要求）。</a:t>
              </a:r>
            </a:p>
          </p:txBody>
        </p:sp>
      </p:grpSp>
      <p:grpSp>
        <p:nvGrpSpPr>
          <p:cNvPr id="29" name="action-cooperate"/>
          <p:cNvGrpSpPr/>
          <p:nvPr/>
        </p:nvGrpSpPr>
        <p:grpSpPr>
          <a:xfrm>
            <a:off x="9051417" y="2598420"/>
            <a:ext cx="1899666" cy="2072831"/>
            <a:chOff x="9051417" y="2598420"/>
            <a:chExt cx="1899666" cy="2072831"/>
          </a:xfrm>
        </p:grpSpPr>
        <p:sp>
          <p:nvSpPr>
            <p:cNvPr id="25" name="TextBox 25"/>
            <p:cNvSpPr txBox="1"/>
            <p:nvPr/>
          </p:nvSpPr>
          <p:spPr>
            <a:xfrm>
              <a:off x="9647682" y="2598420"/>
              <a:ext cx="707136"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配合</a:t>
              </a:r>
            </a:p>
          </p:txBody>
        </p:sp>
        <p:sp>
          <p:nvSpPr>
            <p:cNvPr id="26" name="Ellipse 26"/>
            <p:cNvSpPr/>
            <p:nvPr/>
          </p:nvSpPr>
          <p:spPr>
            <a:xfrm>
              <a:off x="9791700" y="3028950"/>
              <a:ext cx="419100" cy="419100"/>
            </a:xfrm>
            <a:prstGeom prst="ellipse">
              <a:avLst/>
            </a:prstGeom>
            <a:solidFill>
              <a:schemeClr val="accent1"/>
            </a:solidFill>
            <a:ln>
              <a:noFill/>
            </a:ln>
          </p:spPr>
        </p:sp>
        <p:sp>
          <p:nvSpPr>
            <p:cNvPr id="27" name="TextBox 27"/>
            <p:cNvSpPr txBox="1"/>
            <p:nvPr/>
          </p:nvSpPr>
          <p:spPr>
            <a:xfrm>
              <a:off x="9944414" y="3149918"/>
              <a:ext cx="113671" cy="264033"/>
            </a:xfrm>
            <a:prstGeom prst="rect">
              <a:avLst/>
            </a:prstGeom>
            <a:noFill/>
            <a:ln>
              <a:noFill/>
            </a:ln>
          </p:spPr>
          <p:txBody>
            <a:bodyPr wrap="none" lIns="0" tIns="0" rIns="0" bIns="0" anchor="t" anchorCtr="0">
              <a:spAutoFit/>
            </a:bodyPr>
            <a:lstStyle/>
            <a:p>
              <a:pPr algn="ctr"/>
              <a:r>
                <a:rPr lang="zh-CN" sz="1350" dirty="0">
                  <a:solidFill>
                    <a:srgbClr val="F7F4EE"/>
                  </a:solidFill>
                  <a:latin typeface="+mn-lt"/>
                  <a:ea typeface="+mn-ea"/>
                  <a:cs typeface="+mn-cs"/>
                </a:rPr>
                <a:t>4</a:t>
              </a:r>
            </a:p>
          </p:txBody>
        </p:sp>
        <p:sp>
          <p:nvSpPr>
            <p:cNvPr id="28" name="TextBox 28"/>
            <p:cNvSpPr txBox="1"/>
            <p:nvPr/>
          </p:nvSpPr>
          <p:spPr>
            <a:xfrm>
              <a:off x="9051417" y="3664268"/>
              <a:ext cx="1899666" cy="1006983"/>
            </a:xfrm>
            <a:prstGeom prst="rect">
              <a:avLst/>
            </a:prstGeom>
            <a:noFill/>
            <a:ln>
              <a:noFill/>
            </a:ln>
          </p:spPr>
          <p:txBody>
            <a:bodyPr wrap="none" lIns="0" tIns="0" rIns="0" bIns="0" anchor="t" anchorCtr="0">
              <a:spAutoFit/>
            </a:bodyPr>
            <a:lstStyle/>
            <a:p>
              <a:pPr algn="ctr">
                <a:lnSpc>
                  <a:spcPts val="1950"/>
                </a:lnSpc>
              </a:pPr>
              <a:r>
                <a:rPr lang="zh-CN" sz="1350" dirty="0">
                  <a:solidFill>
                    <a:schemeClr val="accent5"/>
                  </a:solidFill>
                  <a:latin typeface="+mn-lt"/>
                  <a:ea typeface="+mn-ea"/>
                  <a:cs typeface="+mn-cs"/>
                </a:rPr>
                <a:t>配合调查与溯源；处置</a:t>
              </a:r>
              <a:br/>
              <a:r>
                <a:rPr lang="zh-CN" sz="1350" dirty="0">
                  <a:solidFill>
                    <a:schemeClr val="accent5"/>
                  </a:solidFill>
                  <a:latin typeface="+mn-lt"/>
                  <a:ea typeface="+mn-ea"/>
                  <a:cs typeface="+mn-cs"/>
                </a:rPr>
                <a:t>结束后 30 日内形成事件</a:t>
              </a:r>
              <a:br/>
              <a:r>
                <a:rPr lang="zh-CN" sz="1350" dirty="0">
                  <a:solidFill>
                    <a:schemeClr val="accent5"/>
                  </a:solidFill>
                  <a:latin typeface="+mn-lt"/>
                  <a:ea typeface="+mn-ea"/>
                  <a:cs typeface="+mn-cs"/>
                </a:rPr>
                <a:t>处置总结报告，按原渠道</a:t>
              </a:r>
              <a:br/>
              <a:r>
                <a:rPr lang="zh-CN" sz="1350" dirty="0">
                  <a:solidFill>
                    <a:schemeClr val="accent5"/>
                  </a:solidFill>
                  <a:latin typeface="+mn-lt"/>
                  <a:ea typeface="+mn-ea"/>
                  <a:cs typeface="+mn-cs"/>
                </a:rPr>
                <a:t>上报（第八条）。</a:t>
              </a:r>
            </a:p>
          </p:txBody>
        </p:sp>
      </p:grpSp>
      <p:grpSp>
        <p:nvGrpSpPr>
          <p:cNvPr id="33" name="four-hour-rule"/>
          <p:cNvGrpSpPr/>
          <p:nvPr/>
        </p:nvGrpSpPr>
        <p:grpSpPr>
          <a:xfrm>
            <a:off x="685800" y="4991100"/>
            <a:ext cx="10820400" cy="748284"/>
            <a:chOff x="685800" y="4991100"/>
            <a:chExt cx="10820400" cy="748284"/>
          </a:xfrm>
        </p:grpSpPr>
        <p:sp>
          <p:nvSpPr>
            <p:cNvPr id="30" name="Rectangle 30"/>
            <p:cNvSpPr/>
            <p:nvPr/>
          </p:nvSpPr>
          <p:spPr>
            <a:xfrm>
              <a:off x="685800" y="4991100"/>
              <a:ext cx="10820400" cy="723900"/>
            </a:xfrm>
            <a:prstGeom prst="rect">
              <a:avLst/>
            </a:prstGeom>
            <a:solidFill>
              <a:schemeClr val="accent1"/>
            </a:solidFill>
            <a:ln>
              <a:noFill/>
            </a:ln>
          </p:spPr>
        </p:sp>
        <p:sp>
          <p:nvSpPr>
            <p:cNvPr id="31" name="TextBox 31"/>
            <p:cNvSpPr txBox="1"/>
            <p:nvPr/>
          </p:nvSpPr>
          <p:spPr>
            <a:xfrm>
              <a:off x="943356" y="5120640"/>
              <a:ext cx="7092098" cy="352044"/>
            </a:xfrm>
            <a:prstGeom prst="rect">
              <a:avLst/>
            </a:prstGeom>
            <a:noFill/>
            <a:ln>
              <a:noFill/>
            </a:ln>
          </p:spPr>
          <p:txBody>
            <a:bodyPr wrap="none" lIns="0" tIns="0" rIns="0" bIns="0" anchor="t" anchorCtr="0">
              <a:spAutoFit/>
            </a:bodyPr>
            <a:lstStyle/>
            <a:p>
              <a:pPr algn="l"/>
              <a:r>
                <a:rPr lang="zh-CN" sz="1800" dirty="0">
                  <a:solidFill>
                    <a:srgbClr val="F7F4EE"/>
                  </a:solidFill>
                  <a:latin typeface="+mn-lt"/>
                  <a:ea typeface="+mn-ea"/>
                  <a:cs typeface="+mn-cs"/>
                </a:rPr>
                <a:t>研判属于</a:t>
              </a:r>
              <a:r>
                <a:rPr lang="zh-CN" sz="1800" b="1" dirty="0">
                  <a:solidFill>
                    <a:srgbClr val="E8A6A0"/>
                  </a:solidFill>
                  <a:latin typeface="+mn-lt"/>
                  <a:ea typeface="+mn-ea"/>
                  <a:cs typeface="+mn-cs"/>
                </a:rPr>
                <a:t>较大以上</a:t>
              </a:r>
              <a:r>
                <a:rPr lang="zh-CN" sz="1800" dirty="0">
                  <a:solidFill>
                    <a:srgbClr val="F7F4EE"/>
                  </a:solidFill>
                  <a:latin typeface="+mn-lt"/>
                  <a:ea typeface="+mn-ea"/>
                  <a:cs typeface="+mn-cs"/>
                </a:rPr>
                <a:t xml:space="preserve">网络安全事件的，一般网络运营者最迟 </a:t>
              </a:r>
              <a:r>
                <a:rPr lang="zh-CN" sz="1800" b="1" dirty="0">
                  <a:solidFill>
                    <a:srgbClr val="E8A6A0"/>
                  </a:solidFill>
                  <a:latin typeface="+mn-lt"/>
                  <a:ea typeface="+mn-ea"/>
                  <a:cs typeface="+mn-cs"/>
                </a:rPr>
                <a:t>4 小时</a:t>
              </a:r>
              <a:r>
                <a:rPr lang="zh-CN" sz="1800" dirty="0">
                  <a:solidFill>
                    <a:srgbClr val="F7F4EE"/>
                  </a:solidFill>
                  <a:latin typeface="+mn-lt"/>
                  <a:ea typeface="+mn-ea"/>
                  <a:cs typeface="+mn-cs"/>
                </a:rPr>
                <a:t>内</a:t>
              </a:r>
            </a:p>
          </p:txBody>
        </p:sp>
        <p:sp>
          <p:nvSpPr>
            <p:cNvPr id="32" name="TextBox 32"/>
            <p:cNvSpPr txBox="1"/>
            <p:nvPr/>
          </p:nvSpPr>
          <p:spPr>
            <a:xfrm>
              <a:off x="943356" y="5387340"/>
              <a:ext cx="2926080" cy="352044"/>
            </a:xfrm>
            <a:prstGeom prst="rect">
              <a:avLst/>
            </a:prstGeom>
            <a:noFill/>
            <a:ln>
              <a:noFill/>
            </a:ln>
          </p:spPr>
          <p:txBody>
            <a:bodyPr wrap="none" lIns="0" tIns="0" rIns="0" bIns="0" anchor="t" anchorCtr="0">
              <a:spAutoFit/>
            </a:bodyPr>
            <a:lstStyle/>
            <a:p>
              <a:pPr algn="l"/>
              <a:r>
                <a:rPr lang="zh-CN" sz="1800" dirty="0">
                  <a:solidFill>
                    <a:srgbClr val="F7F4EE"/>
                  </a:solidFill>
                  <a:latin typeface="+mn-lt"/>
                  <a:ea typeface="+mn-ea"/>
                  <a:cs typeface="+mn-cs"/>
                </a:rPr>
                <a:t>向属地省级网信部门报告。</a:t>
              </a:r>
            </a:p>
          </p:txBody>
        </p:sp>
      </p:grpSp>
      <p:grpSp>
        <p:nvGrpSpPr>
          <p:cNvPr id="37" name="compile-note"/>
          <p:cNvGrpSpPr/>
          <p:nvPr/>
        </p:nvGrpSpPr>
        <p:grpSpPr>
          <a:xfrm>
            <a:off x="685800" y="5886450"/>
            <a:ext cx="5828157" cy="327851"/>
            <a:chOff x="685800" y="5886450"/>
            <a:chExt cx="5828157" cy="327851"/>
          </a:xfrm>
        </p:grpSpPr>
        <p:sp>
          <p:nvSpPr>
            <p:cNvPr id="34" name="Freeform 34"/>
            <p:cNvSpPr/>
            <p:nvPr/>
          </p:nvSpPr>
          <p:spPr>
            <a:xfrm>
              <a:off x="685800" y="5886450"/>
              <a:ext cx="723900" cy="304800"/>
            </a:xfrm>
            <a:prstGeom prst="plaque">
              <a:avLst/>
            </a:prstGeom>
            <a:solidFill>
              <a:srgbClr val="E0D9CC"/>
            </a:solidFill>
            <a:ln>
              <a:noFill/>
            </a:ln>
          </p:spPr>
        </p:sp>
        <p:sp>
          <p:nvSpPr>
            <p:cNvPr id="35" name="TextBox 35"/>
            <p:cNvSpPr txBox="1"/>
            <p:nvPr/>
          </p:nvSpPr>
          <p:spPr>
            <a:xfrm>
              <a:off x="859155" y="59502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36" name="TextBox 36"/>
            <p:cNvSpPr txBox="1"/>
            <p:nvPr/>
          </p:nvSpPr>
          <p:spPr>
            <a:xfrm>
              <a:off x="1593342" y="5950268"/>
              <a:ext cx="4920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四个动作为本课依据上述法条与办法归纳的员工侧动作序列。</a:t>
              </a:r>
            </a:p>
          </p:txBody>
        </p:sp>
      </p:grpSp>
      <p:grpSp>
        <p:nvGrpSpPr>
          <p:cNvPr id="40" name="footer"/>
          <p:cNvGrpSpPr/>
          <p:nvPr/>
        </p:nvGrpSpPr>
        <p:grpSpPr>
          <a:xfrm>
            <a:off x="679704" y="6404610"/>
            <a:ext cx="10832592" cy="234696"/>
            <a:chOff x="679704" y="6404610"/>
            <a:chExt cx="10832592" cy="234696"/>
          </a:xfrm>
        </p:grpSpPr>
        <p:sp>
          <p:nvSpPr>
            <p:cNvPr id="38" name="TextBox 38"/>
            <p:cNvSpPr txBox="1"/>
            <p:nvPr/>
          </p:nvSpPr>
          <p:spPr>
            <a:xfrm>
              <a:off x="679704" y="6404610"/>
              <a:ext cx="9159240"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来源：《国家网络安全事件报告管理办法》（F077、F079、F080）；《网络安全法》（F007）；《个人信息保护法》（F031）</a:t>
              </a:r>
            </a:p>
          </p:txBody>
        </p:sp>
        <p:sp>
          <p:nvSpPr>
            <p:cNvPr id="39" name="TextBox 39"/>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25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50"/>
                                        <p:tgtEl>
                                          <p:spTgt spid="14"/>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50"/>
                                        <p:tgtEl>
                                          <p:spTgt spid="19"/>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50"/>
                                        <p:tgtEl>
                                          <p:spTgt spid="24"/>
                                        </p:tgtEl>
                                      </p:cBhvr>
                                    </p:animEffect>
                                  </p:childTnLst>
                                </p:cTn>
                              </p:par>
                            </p:childTnLst>
                          </p:cTn>
                        </p:par>
                        <p:par>
                          <p:cTn id="20" fill="hold">
                            <p:stCondLst>
                              <p:cond delay="250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50"/>
                                        <p:tgtEl>
                                          <p:spTgt spid="29"/>
                                        </p:tgtEl>
                                      </p:cBhvr>
                                    </p:animEffect>
                                  </p:childTnLst>
                                </p:cTn>
                              </p:par>
                            </p:childTnLst>
                          </p:cTn>
                        </p:par>
                        <p:par>
                          <p:cTn id="24" fill="hold">
                            <p:stCondLst>
                              <p:cond delay="3200"/>
                            </p:stCondLst>
                            <p:childTnLst>
                              <p:par>
                                <p:cTn xmlns:p="http://schemas.openxmlformats.org/presentationml/2006/main" id="25" presetID="22" presetClass="entr" presetSubtype="2" fill="hold" grpId="0" nodeType="afterEffect">
                                  <p:stCondLst>
                                    <p:cond delay="300"/>
                                  </p:stCondLst>
                                  <p:childTnLst>
                                    <p:set>
                                      <p:cBhvr>
                                        <p:cTn id="26" dur="1" fill="hold">
                                          <p:stCondLst>
                                            <p:cond delay="0"/>
                                          </p:stCondLst>
                                        </p:cTn>
                                        <p:tgtEl>
                                          <p:spTgt spid="33"/>
                                        </p:tgtEl>
                                        <p:attrNameLst>
                                          <p:attrName>style.visibility</p:attrName>
                                        </p:attrNameLst>
                                      </p:cBhvr>
                                      <p:to>
                                        <p:strVal val="visible"/>
                                      </p:to>
                                    </p:set>
                                    <p:animEffect transition="in" filter="wipe(right)">
                                      <p:cBhvr>
                                        <p:cTn id="27" dur="700"/>
                                        <p:tgtEl>
                                          <p:spTgt spid="33"/>
                                        </p:tgtEl>
                                      </p:cBhvr>
                                    </p:animEffect>
                                  </p:childTnLst>
                                </p:cTn>
                              </p:par>
                            </p:childTnLst>
                          </p:cTn>
                        </p:par>
                        <p:par>
                          <p:cTn id="28" fill="hold">
                            <p:stCondLst>
                              <p:cond delay="420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TextBox 5"/>
          <p:cNvSpPr txBox="1"/>
          <p:nvPr/>
        </p:nvSpPr>
        <p:spPr>
          <a:xfrm>
            <a:off x="678942" y="654368"/>
            <a:ext cx="1246937"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05 应急与上报</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报给谁、多久、怎么报</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28" name="report-timing"/>
          <p:cNvGrpSpPr/>
          <p:nvPr/>
        </p:nvGrpSpPr>
        <p:grpSpPr>
          <a:xfrm>
            <a:off x="685800" y="2000250"/>
            <a:ext cx="10820400" cy="2314575"/>
            <a:chOff x="685800" y="2000250"/>
            <a:chExt cx="10820400" cy="2314575"/>
          </a:xfrm>
        </p:grpSpPr>
        <p:sp>
          <p:nvSpPr>
            <p:cNvPr id="9" name="Rectangle 9"/>
            <p:cNvSpPr/>
            <p:nvPr/>
          </p:nvSpPr>
          <p:spPr>
            <a:xfrm>
              <a:off x="685800" y="2000250"/>
              <a:ext cx="10820400" cy="419100"/>
            </a:xfrm>
            <a:prstGeom prst="rect">
              <a:avLst/>
            </a:prstGeom>
            <a:solidFill>
              <a:schemeClr val="accent1"/>
            </a:solidFill>
            <a:ln>
              <a:noFill/>
            </a:ln>
          </p:spPr>
        </p:sp>
        <p:sp>
          <p:nvSpPr>
            <p:cNvPr id="10" name="Rectangle 10"/>
            <p:cNvSpPr/>
            <p:nvPr/>
          </p:nvSpPr>
          <p:spPr>
            <a:xfrm>
              <a:off x="685800" y="3676650"/>
              <a:ext cx="10820400" cy="628650"/>
            </a:xfrm>
            <a:prstGeom prst="rect">
              <a:avLst/>
            </a:prstGeom>
            <a:solidFill>
              <a:schemeClr val="accent2">
                <a:alpha val="10000"/>
              </a:schemeClr>
            </a:solidFill>
            <a:ln>
              <a:noFill/>
            </a:ln>
          </p:spPr>
        </p:sp>
        <p:grpSp>
          <p:nvGrpSpPr>
            <p:cNvPr id="14" name="Group 14"/>
            <p:cNvGrpSpPr/>
            <p:nvPr/>
          </p:nvGrpSpPr>
          <p:grpSpPr>
            <a:xfrm>
              <a:off x="812292" y="2121218"/>
              <a:ext cx="9503664" cy="264033"/>
              <a:chOff x="812292" y="2121218"/>
              <a:chExt cx="9503664" cy="264033"/>
            </a:xfrm>
          </p:grpSpPr>
          <p:sp>
            <p:nvSpPr>
              <p:cNvPr id="11" name="TextBox 11"/>
              <p:cNvSpPr txBox="1"/>
              <p:nvPr/>
            </p:nvSpPr>
            <p:spPr>
              <a:xfrm>
                <a:off x="812292" y="2121218"/>
                <a:ext cx="740664"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报告主体</a:t>
                </a:r>
              </a:p>
            </p:txBody>
          </p:sp>
          <p:sp>
            <p:nvSpPr>
              <p:cNvPr id="12" name="TextBox 12"/>
              <p:cNvSpPr txBox="1"/>
              <p:nvPr/>
            </p:nvSpPr>
            <p:spPr>
              <a:xfrm>
                <a:off x="5765292" y="2121218"/>
                <a:ext cx="740664"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报告对象</a:t>
                </a:r>
              </a:p>
            </p:txBody>
          </p:sp>
          <p:sp>
            <p:nvSpPr>
              <p:cNvPr id="13" name="TextBox 13"/>
              <p:cNvSpPr txBox="1"/>
              <p:nvPr/>
            </p:nvSpPr>
            <p:spPr>
              <a:xfrm>
                <a:off x="9575292" y="2121218"/>
                <a:ext cx="740664" cy="264033"/>
              </a:xfrm>
              <a:prstGeom prst="rect">
                <a:avLst/>
              </a:prstGeom>
              <a:noFill/>
              <a:ln>
                <a:noFill/>
              </a:ln>
            </p:spPr>
            <p:txBody>
              <a:bodyPr wrap="none" lIns="0" tIns="0" rIns="0" bIns="0" anchor="t" anchorCtr="0">
                <a:spAutoFit/>
              </a:bodyPr>
              <a:lstStyle/>
              <a:p>
                <a:pPr algn="l"/>
                <a:r>
                  <a:rPr lang="zh-CN" sz="1350" b="1" dirty="0">
                    <a:solidFill>
                      <a:srgbClr val="F7F4EE"/>
                    </a:solidFill>
                    <a:latin typeface="+mn-lt"/>
                    <a:ea typeface="+mn-ea"/>
                    <a:cs typeface="+mn-cs"/>
                  </a:rPr>
                  <a:t>最迟时限</a:t>
                </a:r>
              </a:p>
            </p:txBody>
          </p:sp>
        </p:grpSp>
        <p:grpSp>
          <p:nvGrpSpPr>
            <p:cNvPr id="24" name="Group 24"/>
            <p:cNvGrpSpPr/>
            <p:nvPr/>
          </p:nvGrpSpPr>
          <p:grpSpPr>
            <a:xfrm>
              <a:off x="812292" y="2645092"/>
              <a:ext cx="9723111" cy="1521333"/>
              <a:chOff x="812292" y="2645092"/>
              <a:chExt cx="9723111" cy="1521333"/>
            </a:xfrm>
          </p:grpSpPr>
          <p:sp>
            <p:nvSpPr>
              <p:cNvPr id="15" name="TextBox 15"/>
              <p:cNvSpPr txBox="1"/>
              <p:nvPr/>
            </p:nvSpPr>
            <p:spPr>
              <a:xfrm>
                <a:off x="812292" y="2645092"/>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涉及关键信息基础设施的网络运营者</a:t>
                </a:r>
              </a:p>
            </p:txBody>
          </p:sp>
          <p:sp>
            <p:nvSpPr>
              <p:cNvPr id="16" name="TextBox 16"/>
              <p:cNvSpPr txBox="1"/>
              <p:nvPr/>
            </p:nvSpPr>
            <p:spPr>
              <a:xfrm>
                <a:off x="5765292" y="2645092"/>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保护工作部门、公安机关</a:t>
                </a:r>
              </a:p>
            </p:txBody>
          </p:sp>
          <p:sp>
            <p:nvSpPr>
              <p:cNvPr id="17" name="TextBox 17"/>
              <p:cNvSpPr txBox="1"/>
              <p:nvPr/>
            </p:nvSpPr>
            <p:spPr>
              <a:xfrm>
                <a:off x="9575292" y="2645092"/>
                <a:ext cx="9496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最迟 1 小时</a:t>
                </a:r>
              </a:p>
            </p:txBody>
          </p:sp>
          <p:sp>
            <p:nvSpPr>
              <p:cNvPr id="18" name="TextBox 18"/>
              <p:cNvSpPr txBox="1"/>
              <p:nvPr/>
            </p:nvSpPr>
            <p:spPr>
              <a:xfrm>
                <a:off x="812292" y="3273742"/>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中央和国家机关各部门及其直属单位</a:t>
                </a:r>
              </a:p>
            </p:txBody>
          </p:sp>
          <p:sp>
            <p:nvSpPr>
              <p:cNvPr id="19" name="TextBox 19"/>
              <p:cNvSpPr txBox="1"/>
              <p:nvPr/>
            </p:nvSpPr>
            <p:spPr>
              <a:xfrm>
                <a:off x="5765292" y="327374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本部门网信工作机构</a:t>
                </a:r>
              </a:p>
            </p:txBody>
          </p:sp>
          <p:sp>
            <p:nvSpPr>
              <p:cNvPr id="20" name="TextBox 20"/>
              <p:cNvSpPr txBox="1"/>
              <p:nvPr/>
            </p:nvSpPr>
            <p:spPr>
              <a:xfrm>
                <a:off x="9575292" y="3273742"/>
                <a:ext cx="9496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最迟 2 小时</a:t>
                </a:r>
              </a:p>
            </p:txBody>
          </p:sp>
          <p:sp>
            <p:nvSpPr>
              <p:cNvPr id="21" name="TextBox 21"/>
              <p:cNvSpPr txBox="1"/>
              <p:nvPr/>
            </p:nvSpPr>
            <p:spPr>
              <a:xfrm>
                <a:off x="812292" y="3902392"/>
                <a:ext cx="273977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其他网络运营者（多数企业适用）</a:t>
                </a:r>
              </a:p>
            </p:txBody>
          </p:sp>
          <p:sp>
            <p:nvSpPr>
              <p:cNvPr id="22" name="TextBox 22"/>
              <p:cNvSpPr txBox="1"/>
              <p:nvPr/>
            </p:nvSpPr>
            <p:spPr>
              <a:xfrm>
                <a:off x="5765292" y="3902392"/>
                <a:ext cx="146761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属地省级网信部门</a:t>
                </a:r>
              </a:p>
            </p:txBody>
          </p:sp>
          <p:sp>
            <p:nvSpPr>
              <p:cNvPr id="23" name="TextBox 23"/>
              <p:cNvSpPr txBox="1"/>
              <p:nvPr/>
            </p:nvSpPr>
            <p:spPr>
              <a:xfrm>
                <a:off x="9575292" y="3902392"/>
                <a:ext cx="96011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最迟 4 小时</a:t>
                </a:r>
              </a:p>
            </p:txBody>
          </p:sp>
        </p:grpSp>
        <p:sp>
          <p:nvSpPr>
            <p:cNvPr id="25" name="Line 25"/>
            <p:cNvSpPr/>
            <p:nvPr/>
          </p:nvSpPr>
          <p:spPr>
            <a:xfrm>
              <a:off x="685800" y="304800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26" name="Line 26"/>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4DED3"/>
              </a:solidFill>
            </a:ln>
          </p:spPr>
        </p:sp>
        <p:sp>
          <p:nvSpPr>
            <p:cNvPr id="27" name="Line 27"/>
            <p:cNvSpPr/>
            <p:nvPr/>
          </p:nvSpPr>
          <p:spPr>
            <a:xfrm>
              <a:off x="685800" y="43053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30" name="report-precondition"/>
          <p:cNvGrpSpPr/>
          <p:nvPr/>
        </p:nvGrpSpPr>
        <p:grpSpPr>
          <a:xfrm>
            <a:off x="678942" y="4426268"/>
            <a:ext cx="6919722" cy="264033"/>
            <a:chOff x="678942" y="4426268"/>
            <a:chExt cx="6919722" cy="264033"/>
          </a:xfrm>
        </p:grpSpPr>
        <p:sp>
          <p:nvSpPr>
            <p:cNvPr id="29" name="TextBox 29"/>
            <p:cNvSpPr txBox="1"/>
            <p:nvPr/>
          </p:nvSpPr>
          <p:spPr>
            <a:xfrm>
              <a:off x="678942" y="4426268"/>
              <a:ext cx="691972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适用前提：按《网络安全事件分级指南》研判属于较大以上网络安全事件的才须报告。</a:t>
              </a:r>
            </a:p>
          </p:txBody>
        </p:sp>
      </p:grpSp>
      <p:grpSp>
        <p:nvGrpSpPr>
          <p:cNvPr id="32" name="channel-label"/>
          <p:cNvGrpSpPr/>
          <p:nvPr/>
        </p:nvGrpSpPr>
        <p:grpSpPr>
          <a:xfrm>
            <a:off x="678942" y="4731068"/>
            <a:ext cx="2558034" cy="264033"/>
            <a:chOff x="678942" y="4731068"/>
            <a:chExt cx="2558034" cy="264033"/>
          </a:xfrm>
        </p:grpSpPr>
        <p:sp>
          <p:nvSpPr>
            <p:cNvPr id="31" name="TextBox 31"/>
            <p:cNvSpPr txBox="1"/>
            <p:nvPr/>
          </p:nvSpPr>
          <p:spPr>
            <a:xfrm>
              <a:off x="678942" y="4731068"/>
              <a:ext cx="255803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网信部门已开通的六类报告渠道</a:t>
              </a:r>
            </a:p>
          </p:txBody>
        </p:sp>
      </p:grpSp>
      <p:grpSp>
        <p:nvGrpSpPr>
          <p:cNvPr id="36" name="channel-1"/>
          <p:cNvGrpSpPr/>
          <p:nvPr/>
        </p:nvGrpSpPr>
        <p:grpSpPr>
          <a:xfrm>
            <a:off x="685800" y="4991100"/>
            <a:ext cx="1676400" cy="575501"/>
            <a:chOff x="685800" y="4991100"/>
            <a:chExt cx="1676400" cy="575501"/>
          </a:xfrm>
        </p:grpSpPr>
        <p:sp>
          <p:nvSpPr>
            <p:cNvPr id="33" name="Rectangle 33"/>
            <p:cNvSpPr/>
            <p:nvPr/>
          </p:nvSpPr>
          <p:spPr>
            <a:xfrm>
              <a:off x="685800" y="4991100"/>
              <a:ext cx="1676400" cy="571500"/>
            </a:xfrm>
            <a:prstGeom prst="rect">
              <a:avLst/>
            </a:prstGeom>
            <a:solidFill>
              <a:schemeClr val="lt2"/>
            </a:solidFill>
            <a:ln>
              <a:noFill/>
            </a:ln>
          </p:spPr>
        </p:sp>
        <p:sp>
          <p:nvSpPr>
            <p:cNvPr id="34" name="TextBox 34"/>
            <p:cNvSpPr txBox="1"/>
            <p:nvPr/>
          </p:nvSpPr>
          <p:spPr>
            <a:xfrm>
              <a:off x="1254759" y="5073968"/>
              <a:ext cx="53848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12387</a:t>
              </a:r>
            </a:p>
          </p:txBody>
        </p:sp>
        <p:sp>
          <p:nvSpPr>
            <p:cNvPr id="35" name="TextBox 35"/>
            <p:cNvSpPr txBox="1"/>
            <p:nvPr/>
          </p:nvSpPr>
          <p:spPr>
            <a:xfrm>
              <a:off x="1153668" y="53025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热线电话</a:t>
              </a:r>
            </a:p>
          </p:txBody>
        </p:sp>
      </p:grpSp>
      <p:grpSp>
        <p:nvGrpSpPr>
          <p:cNvPr id="40" name="channel-2"/>
          <p:cNvGrpSpPr/>
          <p:nvPr/>
        </p:nvGrpSpPr>
        <p:grpSpPr>
          <a:xfrm>
            <a:off x="2514600" y="4991100"/>
            <a:ext cx="1676400" cy="575501"/>
            <a:chOff x="2514600" y="4991100"/>
            <a:chExt cx="1676400" cy="575501"/>
          </a:xfrm>
        </p:grpSpPr>
        <p:sp>
          <p:nvSpPr>
            <p:cNvPr id="37" name="Rectangle 37"/>
            <p:cNvSpPr/>
            <p:nvPr/>
          </p:nvSpPr>
          <p:spPr>
            <a:xfrm>
              <a:off x="2514600" y="4991100"/>
              <a:ext cx="1676400" cy="571500"/>
            </a:xfrm>
            <a:prstGeom prst="rect">
              <a:avLst/>
            </a:prstGeom>
            <a:solidFill>
              <a:schemeClr val="lt2"/>
            </a:solidFill>
            <a:ln>
              <a:noFill/>
            </a:ln>
          </p:spPr>
        </p:sp>
        <p:sp>
          <p:nvSpPr>
            <p:cNvPr id="38" name="TextBox 38"/>
            <p:cNvSpPr txBox="1"/>
            <p:nvPr/>
          </p:nvSpPr>
          <p:spPr>
            <a:xfrm>
              <a:off x="3083559" y="5073968"/>
              <a:ext cx="53848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12387</a:t>
              </a:r>
            </a:p>
          </p:txBody>
        </p:sp>
        <p:sp>
          <p:nvSpPr>
            <p:cNvPr id="39" name="TextBox 39"/>
            <p:cNvSpPr txBox="1"/>
            <p:nvPr/>
          </p:nvSpPr>
          <p:spPr>
            <a:xfrm>
              <a:off x="2800731" y="5302568"/>
              <a:ext cx="110413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事件报告平台</a:t>
              </a:r>
            </a:p>
          </p:txBody>
        </p:sp>
      </p:grpSp>
      <p:grpSp>
        <p:nvGrpSpPr>
          <p:cNvPr id="44" name="channel-3"/>
          <p:cNvGrpSpPr/>
          <p:nvPr/>
        </p:nvGrpSpPr>
        <p:grpSpPr>
          <a:xfrm>
            <a:off x="4343400" y="4991100"/>
            <a:ext cx="1676400" cy="575501"/>
            <a:chOff x="4343400" y="4991100"/>
            <a:chExt cx="1676400" cy="575501"/>
          </a:xfrm>
        </p:grpSpPr>
        <p:sp>
          <p:nvSpPr>
            <p:cNvPr id="41" name="Rectangle 41"/>
            <p:cNvSpPr/>
            <p:nvPr/>
          </p:nvSpPr>
          <p:spPr>
            <a:xfrm>
              <a:off x="4343400" y="4991100"/>
              <a:ext cx="1676400" cy="571500"/>
            </a:xfrm>
            <a:prstGeom prst="rect">
              <a:avLst/>
            </a:prstGeom>
            <a:solidFill>
              <a:schemeClr val="lt2"/>
            </a:solidFill>
            <a:ln>
              <a:noFill/>
            </a:ln>
          </p:spPr>
        </p:sp>
        <p:sp>
          <p:nvSpPr>
            <p:cNvPr id="42" name="TextBox 42"/>
            <p:cNvSpPr txBox="1"/>
            <p:nvPr/>
          </p:nvSpPr>
          <p:spPr>
            <a:xfrm>
              <a:off x="4548885" y="5073968"/>
              <a:ext cx="1265430"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微信「12387」</a:t>
              </a:r>
            </a:p>
          </p:txBody>
        </p:sp>
        <p:sp>
          <p:nvSpPr>
            <p:cNvPr id="43" name="TextBox 43"/>
            <p:cNvSpPr txBox="1"/>
            <p:nvPr/>
          </p:nvSpPr>
          <p:spPr>
            <a:xfrm>
              <a:off x="4902136" y="5302568"/>
              <a:ext cx="5589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小程序</a:t>
              </a:r>
            </a:p>
          </p:txBody>
        </p:sp>
      </p:grpSp>
      <p:grpSp>
        <p:nvGrpSpPr>
          <p:cNvPr id="48" name="channel-4"/>
          <p:cNvGrpSpPr/>
          <p:nvPr/>
        </p:nvGrpSpPr>
        <p:grpSpPr>
          <a:xfrm>
            <a:off x="6172200" y="4991100"/>
            <a:ext cx="1676400" cy="575501"/>
            <a:chOff x="6172200" y="4991100"/>
            <a:chExt cx="1676400" cy="575501"/>
          </a:xfrm>
        </p:grpSpPr>
        <p:sp>
          <p:nvSpPr>
            <p:cNvPr id="45" name="Rectangle 45"/>
            <p:cNvSpPr/>
            <p:nvPr/>
          </p:nvSpPr>
          <p:spPr>
            <a:xfrm>
              <a:off x="6172200" y="4991100"/>
              <a:ext cx="1676400" cy="571500"/>
            </a:xfrm>
            <a:prstGeom prst="rect">
              <a:avLst/>
            </a:prstGeom>
            <a:solidFill>
              <a:schemeClr val="lt2"/>
            </a:solidFill>
            <a:ln>
              <a:noFill/>
            </a:ln>
          </p:spPr>
        </p:sp>
        <p:sp>
          <p:nvSpPr>
            <p:cNvPr id="46" name="TextBox 46"/>
            <p:cNvSpPr txBox="1"/>
            <p:nvPr/>
          </p:nvSpPr>
          <p:spPr>
            <a:xfrm>
              <a:off x="6670860" y="5073968"/>
              <a:ext cx="679079"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CNCERT</a:t>
              </a:r>
            </a:p>
          </p:txBody>
        </p:sp>
        <p:sp>
          <p:nvSpPr>
            <p:cNvPr id="47" name="TextBox 47"/>
            <p:cNvSpPr txBox="1"/>
            <p:nvPr/>
          </p:nvSpPr>
          <p:spPr>
            <a:xfrm>
              <a:off x="6549199" y="53025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微信公众号</a:t>
              </a:r>
            </a:p>
          </p:txBody>
        </p:sp>
      </p:grpSp>
      <p:grpSp>
        <p:nvGrpSpPr>
          <p:cNvPr id="52" name="channel-5"/>
          <p:cNvGrpSpPr/>
          <p:nvPr/>
        </p:nvGrpSpPr>
        <p:grpSpPr>
          <a:xfrm>
            <a:off x="7982722" y="4991100"/>
            <a:ext cx="1712957" cy="575501"/>
            <a:chOff x="7982722" y="4991100"/>
            <a:chExt cx="1712957" cy="575501"/>
          </a:xfrm>
        </p:grpSpPr>
        <p:sp>
          <p:nvSpPr>
            <p:cNvPr id="49" name="Rectangle 49"/>
            <p:cNvSpPr/>
            <p:nvPr/>
          </p:nvSpPr>
          <p:spPr>
            <a:xfrm>
              <a:off x="8001000" y="4991100"/>
              <a:ext cx="1676400" cy="571500"/>
            </a:xfrm>
            <a:prstGeom prst="rect">
              <a:avLst/>
            </a:prstGeom>
            <a:solidFill>
              <a:schemeClr val="lt2"/>
            </a:solidFill>
            <a:ln>
              <a:noFill/>
            </a:ln>
          </p:spPr>
        </p:sp>
        <p:sp>
          <p:nvSpPr>
            <p:cNvPr id="50" name="TextBox 50"/>
            <p:cNvSpPr txBox="1"/>
            <p:nvPr/>
          </p:nvSpPr>
          <p:spPr>
            <a:xfrm>
              <a:off x="8468868" y="5073968"/>
              <a:ext cx="74066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专用邮箱</a:t>
              </a:r>
            </a:p>
          </p:txBody>
        </p:sp>
        <p:sp>
          <p:nvSpPr>
            <p:cNvPr id="51" name="TextBox 51"/>
            <p:cNvSpPr txBox="1"/>
            <p:nvPr/>
          </p:nvSpPr>
          <p:spPr>
            <a:xfrm>
              <a:off x="7982722" y="5302568"/>
              <a:ext cx="171295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12387@cert.org.cn</a:t>
              </a:r>
            </a:p>
          </p:txBody>
        </p:sp>
      </p:grpSp>
      <p:grpSp>
        <p:nvGrpSpPr>
          <p:cNvPr id="56" name="channel-6"/>
          <p:cNvGrpSpPr/>
          <p:nvPr/>
        </p:nvGrpSpPr>
        <p:grpSpPr>
          <a:xfrm>
            <a:off x="9829800" y="4991100"/>
            <a:ext cx="1676400" cy="575501"/>
            <a:chOff x="9829800" y="4991100"/>
            <a:chExt cx="1676400" cy="575501"/>
          </a:xfrm>
        </p:grpSpPr>
        <p:sp>
          <p:nvSpPr>
            <p:cNvPr id="53" name="Rectangle 53"/>
            <p:cNvSpPr/>
            <p:nvPr/>
          </p:nvSpPr>
          <p:spPr>
            <a:xfrm>
              <a:off x="9829800" y="4991100"/>
              <a:ext cx="1676400" cy="571500"/>
            </a:xfrm>
            <a:prstGeom prst="rect">
              <a:avLst/>
            </a:prstGeom>
            <a:solidFill>
              <a:schemeClr val="lt2"/>
            </a:solidFill>
            <a:ln>
              <a:noFill/>
            </a:ln>
          </p:spPr>
        </p:sp>
        <p:sp>
          <p:nvSpPr>
            <p:cNvPr id="54" name="TextBox 54"/>
            <p:cNvSpPr txBox="1"/>
            <p:nvPr/>
          </p:nvSpPr>
          <p:spPr>
            <a:xfrm>
              <a:off x="10479405" y="5073968"/>
              <a:ext cx="377190"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传真</a:t>
              </a:r>
            </a:p>
          </p:txBody>
        </p:sp>
        <p:sp>
          <p:nvSpPr>
            <p:cNvPr id="55" name="TextBox 55"/>
            <p:cNvSpPr txBox="1"/>
            <p:nvPr/>
          </p:nvSpPr>
          <p:spPr>
            <a:xfrm>
              <a:off x="10061410" y="5302568"/>
              <a:ext cx="121318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010-82992387</a:t>
              </a:r>
            </a:p>
          </p:txBody>
        </p:sp>
      </p:grpSp>
      <p:grpSp>
        <p:nvGrpSpPr>
          <p:cNvPr id="58" name="police-report-note"/>
          <p:cNvGrpSpPr/>
          <p:nvPr/>
        </p:nvGrpSpPr>
        <p:grpSpPr>
          <a:xfrm>
            <a:off x="678942" y="5778818"/>
            <a:ext cx="8737092" cy="264033"/>
            <a:chOff x="678942" y="5778818"/>
            <a:chExt cx="8737092" cy="264033"/>
          </a:xfrm>
        </p:grpSpPr>
        <p:sp>
          <p:nvSpPr>
            <p:cNvPr id="57" name="TextBox 57"/>
            <p:cNvSpPr txBox="1"/>
            <p:nvPr/>
          </p:nvSpPr>
          <p:spPr>
            <a:xfrm>
              <a:off x="678942" y="5778818"/>
              <a:ext cx="87370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涉嫌违法犯罪线索的，还应按规定向公安机关、国家安全机关报案（《网络数据安全管理条例》第十一条）。</a:t>
              </a:r>
            </a:p>
          </p:txBody>
        </p:sp>
      </p:grpSp>
      <p:grpSp>
        <p:nvGrpSpPr>
          <p:cNvPr id="61" name="footer"/>
          <p:cNvGrpSpPr/>
          <p:nvPr/>
        </p:nvGrpSpPr>
        <p:grpSpPr>
          <a:xfrm>
            <a:off x="679704" y="6404610"/>
            <a:ext cx="10832592" cy="234696"/>
            <a:chOff x="679704" y="6404610"/>
            <a:chExt cx="10832592" cy="234696"/>
          </a:xfrm>
        </p:grpSpPr>
        <p:sp>
          <p:nvSpPr>
            <p:cNvPr id="59" name="TextBox 59"/>
            <p:cNvSpPr txBox="1"/>
            <p:nvPr/>
          </p:nvSpPr>
          <p:spPr>
            <a:xfrm>
              <a:off x="679704" y="6404610"/>
              <a:ext cx="9054389"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来源：《国家网络安全事件报告管理办法》，网信办 2025 年 9 月 15 日发布、2025 年 11 月 1 日施行（F076、F077、F083）</a:t>
              </a:r>
            </a:p>
          </p:txBody>
        </p:sp>
        <p:sp>
          <p:nvSpPr>
            <p:cNvPr id="60" name="TextBox 60"/>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26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25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900"/>
                                        <p:tgtEl>
                                          <p:spTgt spid="28"/>
                                        </p:tgtEl>
                                      </p:cBhvr>
                                    </p:animEffect>
                                  </p:childTnLst>
                                </p:cTn>
                              </p:par>
                            </p:childTnLst>
                          </p:cTn>
                        </p:par>
                        <p:par>
                          <p:cTn id="12" fill="hold">
                            <p:stCondLst>
                              <p:cond delay="155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par>
                          <p:cTn id="16" fill="hold">
                            <p:stCondLst>
                              <p:cond delay="2250"/>
                            </p:stCondLst>
                            <p:childTnLst>
                              <p:par>
                                <p:cTn xmlns:p="http://schemas.openxmlformats.org/presentationml/2006/main" id="17" presetID="10" presetClass="entr" presetSubtype="0" fill="hold" grpId="0" nodeType="afterEffect">
                                  <p:stCondLst>
                                    <p:cond delay="25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400"/>
                                        <p:tgtEl>
                                          <p:spTgt spid="32"/>
                                        </p:tgtEl>
                                      </p:cBhvr>
                                    </p:animEffect>
                                  </p:childTnLst>
                                </p:cTn>
                              </p:par>
                            </p:childTnLst>
                          </p:cTn>
                        </p:par>
                        <p:par>
                          <p:cTn id="20" fill="hold">
                            <p:stCondLst>
                              <p:cond delay="2900"/>
                            </p:stCondLst>
                            <p:childTnLst>
                              <p:par>
                                <p:cTn xmlns:p="http://schemas.openxmlformats.org/presentationml/2006/main" id="21" presetID="10" presetClass="entr" presetSubtype="0" fill="hold" grpId="0" nodeType="afterEffect">
                                  <p:stCondLst>
                                    <p:cond delay="25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400"/>
                                        <p:tgtEl>
                                          <p:spTgt spid="36"/>
                                        </p:tgtEl>
                                      </p:cBhvr>
                                    </p:animEffect>
                                  </p:childTnLst>
                                </p:cTn>
                              </p:par>
                            </p:childTnLst>
                          </p:cTn>
                        </p:par>
                        <p:par>
                          <p:cTn id="24" fill="hold">
                            <p:stCondLst>
                              <p:cond delay="3550"/>
                            </p:stCondLst>
                            <p:childTnLst>
                              <p:par>
                                <p:cTn xmlns:p="http://schemas.openxmlformats.org/presentationml/2006/main" id="25" presetID="10" presetClass="entr" presetSubtype="0" fill="hold" grpId="0" nodeType="afterEffect">
                                  <p:stCondLst>
                                    <p:cond delay="25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00"/>
                                        <p:tgtEl>
                                          <p:spTgt spid="40"/>
                                        </p:tgtEl>
                                      </p:cBhvr>
                                    </p:animEffect>
                                  </p:childTnLst>
                                </p:cTn>
                              </p:par>
                            </p:childTnLst>
                          </p:cTn>
                        </p:par>
                        <p:par>
                          <p:cTn id="28" fill="hold">
                            <p:stCondLst>
                              <p:cond delay="4200"/>
                            </p:stCondLst>
                            <p:childTnLst>
                              <p:par>
                                <p:cTn xmlns:p="http://schemas.openxmlformats.org/presentationml/2006/main" id="29" presetID="10" presetClass="entr" presetSubtype="0" fill="hold" grpId="0" nodeType="afterEffect">
                                  <p:stCondLst>
                                    <p:cond delay="25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400"/>
                                        <p:tgtEl>
                                          <p:spTgt spid="44"/>
                                        </p:tgtEl>
                                      </p:cBhvr>
                                    </p:animEffect>
                                  </p:childTnLst>
                                </p:cTn>
                              </p:par>
                            </p:childTnLst>
                          </p:cTn>
                        </p:par>
                        <p:par>
                          <p:cTn id="32" fill="hold">
                            <p:stCondLst>
                              <p:cond delay="4850"/>
                            </p:stCondLst>
                            <p:childTnLst>
                              <p:par>
                                <p:cTn xmlns:p="http://schemas.openxmlformats.org/presentationml/2006/main" id="33" presetID="10" presetClass="entr" presetSubtype="0" fill="hold" grpId="0" nodeType="afterEffect">
                                  <p:stCondLst>
                                    <p:cond delay="25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400"/>
                                        <p:tgtEl>
                                          <p:spTgt spid="48"/>
                                        </p:tgtEl>
                                      </p:cBhvr>
                                    </p:animEffect>
                                  </p:childTnLst>
                                </p:cTn>
                              </p:par>
                            </p:childTnLst>
                          </p:cTn>
                        </p:par>
                        <p:par>
                          <p:cTn id="36" fill="hold">
                            <p:stCondLst>
                              <p:cond delay="5500"/>
                            </p:stCondLst>
                            <p:childTnLst>
                              <p:par>
                                <p:cTn xmlns:p="http://schemas.openxmlformats.org/presentationml/2006/main" id="37" presetID="10" presetClass="entr" presetSubtype="0" fill="hold" grpId="0" nodeType="afterEffect">
                                  <p:stCondLst>
                                    <p:cond delay="25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400"/>
                                        <p:tgtEl>
                                          <p:spTgt spid="52"/>
                                        </p:tgtEl>
                                      </p:cBhvr>
                                    </p:animEffect>
                                  </p:childTnLst>
                                </p:cTn>
                              </p:par>
                            </p:childTnLst>
                          </p:cTn>
                        </p:par>
                        <p:par>
                          <p:cTn id="40" fill="hold">
                            <p:stCondLst>
                              <p:cond delay="6150"/>
                            </p:stCondLst>
                            <p:childTnLst>
                              <p:par>
                                <p:cTn xmlns:p="http://schemas.openxmlformats.org/presentationml/2006/main" id="41" presetID="10" presetClass="entr" presetSubtype="0" fill="hold" grpId="0" nodeType="afterEffect">
                                  <p:stCondLst>
                                    <p:cond delay="25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400"/>
                                        <p:tgtEl>
                                          <p:spTgt spid="56"/>
                                        </p:tgtEl>
                                      </p:cBhvr>
                                    </p:animEffect>
                                  </p:childTnLst>
                                </p:cTn>
                              </p:par>
                            </p:childTnLst>
                          </p:cTn>
                        </p:par>
                        <p:par>
                          <p:cTn id="44" fill="hold">
                            <p:stCondLst>
                              <p:cond delay="6800"/>
                            </p:stCondLst>
                            <p:childTnLst>
                              <p:par>
                                <p:cTn xmlns:p="http://schemas.openxmlformats.org/presentationml/2006/main" id="45" presetID="10" presetClass="entr" presetSubtype="0" fill="hold" grpId="0" nodeType="afterEffect">
                                  <p:stCondLst>
                                    <p:cond delay="25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4953000"/>
              <a:ext cx="114300" cy="323850"/>
            </a:xfrm>
            <a:prstGeom prst="rect">
              <a:avLst/>
            </a:prstGeom>
            <a:solidFill>
              <a:schemeClr val="accent2"/>
            </a:solidFill>
            <a:ln>
              <a:noFill/>
            </a:ln>
          </p:spPr>
        </p:sp>
      </p:grpSp>
      <p:sp>
        <p:nvSpPr>
          <p:cNvPr id="5" name="TextBox 5"/>
          <p:cNvSpPr txBox="1"/>
          <p:nvPr/>
        </p:nvSpPr>
        <p:spPr>
          <a:xfrm>
            <a:off x="678942" y="654368"/>
            <a:ext cx="2252415"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05 应急与上报 · 本章结论</a:t>
            </a:r>
          </a:p>
        </p:txBody>
      </p:sp>
      <p:grpSp>
        <p:nvGrpSpPr>
          <p:cNvPr id="8"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及时上报是免责条款，不是追责起点</a:t>
              </a:r>
            </a:p>
          </p:txBody>
        </p:sp>
        <p:sp>
          <p:nvSpPr>
            <p:cNvPr id="7" name="Line 7"/>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2" name="immunity-quote"/>
          <p:cNvGrpSpPr/>
          <p:nvPr/>
        </p:nvGrpSpPr>
        <p:grpSpPr>
          <a:xfrm>
            <a:off x="1447800" y="2247900"/>
            <a:ext cx="9296400" cy="1638300"/>
            <a:chOff x="1447800" y="2247900"/>
            <a:chExt cx="9296400" cy="1638300"/>
          </a:xfrm>
        </p:grpSpPr>
        <p:sp>
          <p:nvSpPr>
            <p:cNvPr id="9" name="Freeform 9"/>
            <p:cNvSpPr/>
            <p:nvPr/>
          </p:nvSpPr>
          <p:spPr>
            <a:xfrm>
              <a:off x="1447800" y="2247900"/>
              <a:ext cx="9296400" cy="1638300"/>
            </a:xfrm>
            <a:prstGeom prst="bracketPair">
              <a:avLst/>
            </a:prstGeom>
            <a:noFill/>
            <a:ln w="19050">
              <a:solidFill>
                <a:schemeClr val="accent2"/>
              </a:solidFill>
            </a:ln>
          </p:spPr>
        </p:sp>
        <p:sp>
          <p:nvSpPr>
            <p:cNvPr id="10" name="TextBox 10"/>
            <p:cNvSpPr txBox="1"/>
            <p:nvPr/>
          </p:nvSpPr>
          <p:spPr>
            <a:xfrm>
              <a:off x="1991106" y="2586990"/>
              <a:ext cx="779068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发生网络安全事件时，网络运营者已采取合理必要的防护措施、按照应急预案</a:t>
              </a:r>
              <a:br/>
              <a:r>
                <a:rPr lang="zh-CN" sz="1800" dirty="0">
                  <a:solidFill>
                    <a:schemeClr val="dk1"/>
                  </a:solidFill>
                  <a:latin typeface="+mn-lt"/>
                  <a:ea typeface="+mn-ea"/>
                  <a:cs typeface="+mn-cs"/>
                </a:rPr>
                <a:t>进行处置并有效降低影响危害、且按照本办法规定及时报告的，</a:t>
              </a:r>
              <a:br/>
              <a:r>
                <a:rPr lang="zh-CN" sz="1800" dirty="0">
                  <a:solidFill>
                    <a:schemeClr val="dk1"/>
                  </a:solidFill>
                  <a:latin typeface="+mn-lt"/>
                  <a:ea typeface="+mn-ea"/>
                  <a:cs typeface="+mn-cs"/>
                </a:rPr>
                <a:t>可视情从轻或不予追究相关单位和人员责任。</a:t>
              </a:r>
            </a:p>
          </p:txBody>
        </p:sp>
        <p:sp>
          <p:nvSpPr>
            <p:cNvPr id="11" name="TextBox 11"/>
            <p:cNvSpPr txBox="1"/>
            <p:nvPr/>
          </p:nvSpPr>
          <p:spPr>
            <a:xfrm>
              <a:off x="1993392" y="3607118"/>
              <a:ext cx="38483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——《国家网络安全事件报告管理办法》第十一条</a:t>
              </a:r>
            </a:p>
          </p:txBody>
        </p:sp>
      </p:grpSp>
      <p:grpSp>
        <p:nvGrpSpPr>
          <p:cNvPr id="15" name="condition-protect"/>
          <p:cNvGrpSpPr/>
          <p:nvPr/>
        </p:nvGrpSpPr>
        <p:grpSpPr>
          <a:xfrm>
            <a:off x="676656" y="4229100"/>
            <a:ext cx="1618488" cy="1129284"/>
            <a:chOff x="676656" y="4229100"/>
            <a:chExt cx="1618488" cy="1129284"/>
          </a:xfrm>
        </p:grpSpPr>
        <p:sp>
          <p:nvSpPr>
            <p:cNvPr id="13" name="Freeform 13"/>
            <p:cNvSpPr/>
            <p:nvPr/>
          </p:nvSpPr>
          <p:spPr>
            <a:xfrm>
              <a:off x="685800" y="422910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chemeClr val="accent3"/>
            </a:solidFill>
            <a:ln>
              <a:noFill/>
            </a:ln>
          </p:spPr>
        </p:sp>
        <p:sp>
          <p:nvSpPr>
            <p:cNvPr id="14" name="TextBox 14"/>
            <p:cNvSpPr txBox="1"/>
            <p:nvPr/>
          </p:nvSpPr>
          <p:spPr>
            <a:xfrm>
              <a:off x="676656" y="4682490"/>
              <a:ext cx="16184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已采取合理必要</a:t>
              </a:r>
              <a:br/>
              <a:r>
                <a:rPr lang="zh-CN" sz="1800" dirty="0">
                  <a:solidFill>
                    <a:schemeClr val="dk1"/>
                  </a:solidFill>
                  <a:latin typeface="+mn-lt"/>
                  <a:ea typeface="+mn-ea"/>
                  <a:cs typeface="+mn-cs"/>
                </a:rPr>
                <a:t>防护措施</a:t>
              </a:r>
            </a:p>
          </p:txBody>
        </p:sp>
      </p:grpSp>
      <p:grpSp>
        <p:nvGrpSpPr>
          <p:cNvPr id="18" name="condition-handle"/>
          <p:cNvGrpSpPr/>
          <p:nvPr/>
        </p:nvGrpSpPr>
        <p:grpSpPr>
          <a:xfrm>
            <a:off x="4381881" y="4229100"/>
            <a:ext cx="1389888" cy="1129284"/>
            <a:chOff x="4381881" y="4229100"/>
            <a:chExt cx="1389888" cy="1129284"/>
          </a:xfrm>
        </p:grpSpPr>
        <p:sp>
          <p:nvSpPr>
            <p:cNvPr id="16" name="Freeform 16"/>
            <p:cNvSpPr/>
            <p:nvPr/>
          </p:nvSpPr>
          <p:spPr>
            <a:xfrm>
              <a:off x="4391025" y="422910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chemeClr val="accent3"/>
            </a:solidFill>
            <a:ln>
              <a:noFill/>
            </a:ln>
          </p:spPr>
        </p:sp>
        <p:sp>
          <p:nvSpPr>
            <p:cNvPr id="17" name="TextBox 17"/>
            <p:cNvSpPr txBox="1"/>
            <p:nvPr/>
          </p:nvSpPr>
          <p:spPr>
            <a:xfrm>
              <a:off x="4381881" y="4682490"/>
              <a:ext cx="1389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按预案处置并</a:t>
              </a:r>
              <a:br/>
              <a:r>
                <a:rPr lang="zh-CN" sz="1800" dirty="0">
                  <a:solidFill>
                    <a:schemeClr val="dk1"/>
                  </a:solidFill>
                  <a:latin typeface="+mn-lt"/>
                  <a:ea typeface="+mn-ea"/>
                  <a:cs typeface="+mn-cs"/>
                </a:rPr>
                <a:t>有效降低危害</a:t>
              </a:r>
            </a:p>
          </p:txBody>
        </p:sp>
      </p:grpSp>
      <p:grpSp>
        <p:nvGrpSpPr>
          <p:cNvPr id="21" name="condition-report"/>
          <p:cNvGrpSpPr/>
          <p:nvPr/>
        </p:nvGrpSpPr>
        <p:grpSpPr>
          <a:xfrm>
            <a:off x="8087106" y="4252912"/>
            <a:ext cx="2532888" cy="1105472"/>
            <a:chOff x="8087106" y="4252912"/>
            <a:chExt cx="2532888" cy="1105472"/>
          </a:xfrm>
        </p:grpSpPr>
        <p:sp>
          <p:nvSpPr>
            <p:cNvPr id="19" name="Freeform 19"/>
            <p:cNvSpPr/>
            <p:nvPr/>
          </p:nvSpPr>
          <p:spPr>
            <a:xfrm>
              <a:off x="8096250" y="4252912"/>
              <a:ext cx="381000" cy="333375"/>
            </a:xfrm>
            <a:custGeom>
              <a:avLst/>
              <a:gdLst/>
              <a:ahLst/>
              <a:cxnLst/>
              <a:rect l="l" t="t" r="r" b="b"/>
              <a:pathLst>
                <a:path w="381000" h="333375">
                  <a:moveTo>
                    <a:pt x="333375" y="0"/>
                  </a:moveTo>
                  <a:lnTo>
                    <a:pt x="333375" y="35719"/>
                  </a:lnTo>
                  <a:lnTo>
                    <a:pt x="47625" y="119062"/>
                  </a:lnTo>
                  <a:lnTo>
                    <a:pt x="47625" y="95250"/>
                  </a:lnTo>
                  <a:lnTo>
                    <a:pt x="0" y="95250"/>
                  </a:lnTo>
                  <a:lnTo>
                    <a:pt x="0" y="238125"/>
                  </a:lnTo>
                  <a:lnTo>
                    <a:pt x="47625" y="238125"/>
                  </a:lnTo>
                  <a:lnTo>
                    <a:pt x="47625" y="214312"/>
                  </a:lnTo>
                  <a:lnTo>
                    <a:pt x="97930" y="228986"/>
                  </a:lnTo>
                  <a:cubicBezTo>
                    <a:pt x="96181" y="235708"/>
                    <a:pt x="95250" y="242761"/>
                    <a:pt x="95250" y="250031"/>
                  </a:cubicBezTo>
                  <a:cubicBezTo>
                    <a:pt x="95250" y="296061"/>
                    <a:pt x="132564" y="333375"/>
                    <a:pt x="178594" y="333375"/>
                  </a:cubicBezTo>
                  <a:cubicBezTo>
                    <a:pt x="215685" y="333375"/>
                    <a:pt x="247117" y="309146"/>
                    <a:pt x="257925" y="275651"/>
                  </a:cubicBezTo>
                  <a:lnTo>
                    <a:pt x="333375" y="297656"/>
                  </a:lnTo>
                  <a:lnTo>
                    <a:pt x="333375" y="333375"/>
                  </a:lnTo>
                  <a:lnTo>
                    <a:pt x="381000" y="333375"/>
                  </a:lnTo>
                  <a:lnTo>
                    <a:pt x="381000" y="0"/>
                  </a:lnTo>
                  <a:lnTo>
                    <a:pt x="333375" y="0"/>
                  </a:lnTo>
                  <a:close/>
                  <a:moveTo>
                    <a:pt x="143706" y="242335"/>
                  </a:moveTo>
                  <a:lnTo>
                    <a:pt x="212150" y="262299"/>
                  </a:lnTo>
                  <a:cubicBezTo>
                    <a:pt x="207146" y="275982"/>
                    <a:pt x="194010" y="285750"/>
                    <a:pt x="178594" y="285750"/>
                  </a:cubicBezTo>
                  <a:cubicBezTo>
                    <a:pt x="158867" y="285750"/>
                    <a:pt x="142875" y="269758"/>
                    <a:pt x="142875" y="250031"/>
                  </a:cubicBezTo>
                  <a:cubicBezTo>
                    <a:pt x="142875" y="247390"/>
                    <a:pt x="143162" y="244814"/>
                    <a:pt x="143706" y="242335"/>
                  </a:cubicBezTo>
                  <a:close/>
                </a:path>
              </a:pathLst>
            </a:custGeom>
            <a:solidFill>
              <a:schemeClr val="accent3"/>
            </a:solidFill>
            <a:ln>
              <a:noFill/>
            </a:ln>
          </p:spPr>
        </p:sp>
        <p:sp>
          <p:nvSpPr>
            <p:cNvPr id="20" name="TextBox 20"/>
            <p:cNvSpPr txBox="1"/>
            <p:nvPr/>
          </p:nvSpPr>
          <p:spPr>
            <a:xfrm>
              <a:off x="8087106" y="4682490"/>
              <a:ext cx="25328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按规定</a:t>
              </a:r>
              <a:r>
                <a:rPr lang="zh-CN" sz="1800" b="1" dirty="0">
                  <a:solidFill>
                    <a:schemeClr val="accent2"/>
                  </a:solidFill>
                  <a:latin typeface="+mn-lt"/>
                  <a:ea typeface="+mn-ea"/>
                  <a:cs typeface="+mn-cs"/>
                </a:rPr>
                <a:t>及时报告</a:t>
              </a:r>
              <a:br/>
              <a:r>
                <a:rPr lang="zh-CN" sz="1800" dirty="0">
                  <a:solidFill>
                    <a:schemeClr val="dk1"/>
                  </a:solidFill>
                  <a:latin typeface="+mn-lt"/>
                  <a:ea typeface="+mn-ea"/>
                  <a:cs typeface="+mn-cs"/>
                </a:rPr>
                <a:t>（三个条件须同时满足）</a:t>
              </a:r>
            </a:p>
          </p:txBody>
        </p:sp>
      </p:grpSp>
      <p:grpSp>
        <p:nvGrpSpPr>
          <p:cNvPr id="23" name="personal-takeaway"/>
          <p:cNvGrpSpPr/>
          <p:nvPr/>
        </p:nvGrpSpPr>
        <p:grpSpPr>
          <a:xfrm>
            <a:off x="675132" y="5526405"/>
            <a:ext cx="6955536" cy="753618"/>
            <a:chOff x="675132" y="5526405"/>
            <a:chExt cx="6955536" cy="753618"/>
          </a:xfrm>
        </p:grpSpPr>
        <p:sp>
          <p:nvSpPr>
            <p:cNvPr id="22" name="TextBox 22"/>
            <p:cNvSpPr txBox="1"/>
            <p:nvPr/>
          </p:nvSpPr>
          <p:spPr>
            <a:xfrm>
              <a:off x="675132" y="5526405"/>
              <a:ext cx="6955536" cy="753618"/>
            </a:xfrm>
            <a:prstGeom prst="rect">
              <a:avLst/>
            </a:prstGeom>
            <a:noFill/>
            <a:ln>
              <a:noFill/>
            </a:ln>
          </p:spPr>
          <p:txBody>
            <a:bodyPr wrap="none" lIns="0" tIns="0" rIns="0" bIns="0" anchor="t" anchorCtr="0">
              <a:spAutoFit/>
            </a:bodyPr>
            <a:lstStyle/>
            <a:p>
              <a:pPr algn="l">
                <a:lnSpc>
                  <a:spcPts val="2700"/>
                </a:lnSpc>
              </a:pPr>
              <a:r>
                <a:rPr lang="zh-CN" sz="2100" dirty="0">
                  <a:solidFill>
                    <a:schemeClr val="accent1"/>
                  </a:solidFill>
                  <a:latin typeface="+mn-lt"/>
                  <a:ea typeface="+mn-ea"/>
                  <a:cs typeface="+mn-cs"/>
                </a:rPr>
                <a:t>你越早说，公司越有可能落到「从轻或不予追究」这一侧；</a:t>
              </a:r>
              <a:br/>
              <a:r>
                <a:rPr lang="zh-CN" sz="2100" dirty="0">
                  <a:solidFill>
                    <a:schemeClr val="accent1"/>
                  </a:solidFill>
                  <a:latin typeface="+mn-lt"/>
                  <a:ea typeface="+mn-ea"/>
                  <a:cs typeface="+mn-cs"/>
                </a:rPr>
                <a:t>隐瞒只会把时间线拖到无法补救。</a:t>
              </a:r>
            </a:p>
          </p:txBody>
        </p:sp>
      </p:grpSp>
      <p:grpSp>
        <p:nvGrpSpPr>
          <p:cNvPr id="26" name="footer"/>
          <p:cNvGrpSpPr/>
          <p:nvPr/>
        </p:nvGrpSpPr>
        <p:grpSpPr>
          <a:xfrm>
            <a:off x="679704" y="6404610"/>
            <a:ext cx="10832592" cy="234696"/>
            <a:chOff x="679704" y="6404610"/>
            <a:chExt cx="10832592" cy="234696"/>
          </a:xfrm>
        </p:grpSpPr>
        <p:sp>
          <p:nvSpPr>
            <p:cNvPr id="24" name="TextBox 24"/>
            <p:cNvSpPr txBox="1"/>
            <p:nvPr/>
          </p:nvSpPr>
          <p:spPr>
            <a:xfrm>
              <a:off x="679704" y="6404610"/>
              <a:ext cx="6958432"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来源：《国家网络安全事件报告管理办法》第十一条，2025 年 11 月 1 日起施行（F081、F076）</a:t>
              </a:r>
            </a:p>
          </p:txBody>
        </p:sp>
        <p:sp>
          <p:nvSpPr>
            <p:cNvPr id="25" name="TextBox 2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27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5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700"/>
                                        <p:tgtEl>
                                          <p:spTgt spid="12"/>
                                        </p:tgtEl>
                                      </p:cBhvr>
                                    </p:animEffect>
                                  </p:childTnLst>
                                </p:cTn>
                              </p:par>
                            </p:childTnLst>
                          </p:cTn>
                        </p:par>
                        <p:par>
                          <p:cTn id="12" fill="hold">
                            <p:stCondLst>
                              <p:cond delay="1350"/>
                            </p:stCondLst>
                            <p:childTnLst>
                              <p:par>
                                <p:cTn xmlns:p="http://schemas.openxmlformats.org/presentationml/2006/main" id="13" presetID="37" presetClass="entr" presetSubtype="0" fill="hold" grpId="0" nodeType="afterEffect">
                                  <p:stCondLst>
                                    <p:cond delay="25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50"/>
                                        <p:tgtEl>
                                          <p:spTgt spid="15"/>
                                        </p:tgtEl>
                                      </p:cBhvr>
                                    </p:animEffect>
                                    <p:anim calcmode="lin" valueType="num">
                                      <p:cBhvr>
                                        <p:cTn id="16" dur="450" fill="hold"/>
                                        <p:tgtEl>
                                          <p:spTgt spid="15"/>
                                        </p:tgtEl>
                                        <p:attrNameLst>
                                          <p:attrName>ppt_x</p:attrName>
                                        </p:attrNameLst>
                                      </p:cBhvr>
                                      <p:tavLst>
                                        <p:tav tm="0">
                                          <p:val>
                                            <p:strVal val="#ppt_x"/>
                                          </p:val>
                                        </p:tav>
                                        <p:tav tm="100000">
                                          <p:val>
                                            <p:strVal val="#ppt_x"/>
                                          </p:val>
                                        </p:tav>
                                      </p:tavLst>
                                    </p:anim>
                                    <p:anim calcmode="lin" valueType="num">
                                      <p:cBhvr>
                                        <p:cTn id="17" dur="405" decel="100000" fill="hold"/>
                                        <p:tgtEl>
                                          <p:spTgt spid="15"/>
                                        </p:tgtEl>
                                        <p:attrNameLst>
                                          <p:attrName>ppt_y</p:attrName>
                                        </p:attrNameLst>
                                      </p:cBhvr>
                                      <p:tavLst>
                                        <p:tav tm="0">
                                          <p:val>
                                            <p:strVal val="#ppt_y+1"/>
                                          </p:val>
                                        </p:tav>
                                        <p:tav tm="100000">
                                          <p:val>
                                            <p:strVal val="#ppt_y-.03"/>
                                          </p:val>
                                        </p:tav>
                                      </p:tavLst>
                                    </p:anim>
                                    <p:anim calcmode="lin" valueType="num">
                                      <p:cBhvr>
                                        <p:cTn id="18" dur="45" accel="100000" fill="hold">
                                          <p:stCondLst>
                                            <p:cond delay="405"/>
                                          </p:stCondLst>
                                        </p:cTn>
                                        <p:tgtEl>
                                          <p:spTgt spid="15"/>
                                        </p:tgtEl>
                                        <p:attrNameLst>
                                          <p:attrName>ppt_y</p:attrName>
                                        </p:attrNameLst>
                                      </p:cBhvr>
                                      <p:tavLst>
                                        <p:tav tm="0">
                                          <p:val>
                                            <p:strVal val="#ppt_y-.03"/>
                                          </p:val>
                                        </p:tav>
                                        <p:tav tm="100000">
                                          <p:val>
                                            <p:strVal val="#ppt_y"/>
                                          </p:val>
                                        </p:tav>
                                      </p:tavLst>
                                    </p:anim>
                                  </p:childTnLst>
                                </p:cTn>
                              </p:par>
                            </p:childTnLst>
                          </p:cTn>
                        </p:par>
                        <p:par>
                          <p:cTn id="19" fill="hold">
                            <p:stCondLst>
                              <p:cond delay="2050"/>
                            </p:stCondLst>
                            <p:childTnLst>
                              <p:par>
                                <p:cTn xmlns:p="http://schemas.openxmlformats.org/presentationml/2006/main" id="20" presetID="37" presetClass="entr" presetSubtype="0" fill="hold" grpId="0" nodeType="afterEffect">
                                  <p:stCondLst>
                                    <p:cond delay="2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anim calcmode="lin" valueType="num">
                                      <p:cBhvr>
                                        <p:cTn id="23" dur="450" fill="hold"/>
                                        <p:tgtEl>
                                          <p:spTgt spid="18"/>
                                        </p:tgtEl>
                                        <p:attrNameLst>
                                          <p:attrName>ppt_x</p:attrName>
                                        </p:attrNameLst>
                                      </p:cBhvr>
                                      <p:tavLst>
                                        <p:tav tm="0">
                                          <p:val>
                                            <p:strVal val="#ppt_x"/>
                                          </p:val>
                                        </p:tav>
                                        <p:tav tm="100000">
                                          <p:val>
                                            <p:strVal val="#ppt_x"/>
                                          </p:val>
                                        </p:tav>
                                      </p:tavLst>
                                    </p:anim>
                                    <p:anim calcmode="lin" valueType="num">
                                      <p:cBhvr>
                                        <p:cTn id="24" dur="405" decel="100000" fill="hold"/>
                                        <p:tgtEl>
                                          <p:spTgt spid="18"/>
                                        </p:tgtEl>
                                        <p:attrNameLst>
                                          <p:attrName>ppt_y</p:attrName>
                                        </p:attrNameLst>
                                      </p:cBhvr>
                                      <p:tavLst>
                                        <p:tav tm="0">
                                          <p:val>
                                            <p:strVal val="#ppt_y+1"/>
                                          </p:val>
                                        </p:tav>
                                        <p:tav tm="100000">
                                          <p:val>
                                            <p:strVal val="#ppt_y-.03"/>
                                          </p:val>
                                        </p:tav>
                                      </p:tavLst>
                                    </p:anim>
                                    <p:anim calcmode="lin" valueType="num">
                                      <p:cBhvr>
                                        <p:cTn id="25" dur="45" accel="100000" fill="hold">
                                          <p:stCondLst>
                                            <p:cond delay="405"/>
                                          </p:stCondLst>
                                        </p:cTn>
                                        <p:tgtEl>
                                          <p:spTgt spid="18"/>
                                        </p:tgtEl>
                                        <p:attrNameLst>
                                          <p:attrName>ppt_y</p:attrName>
                                        </p:attrNameLst>
                                      </p:cBhvr>
                                      <p:tavLst>
                                        <p:tav tm="0">
                                          <p:val>
                                            <p:strVal val="#ppt_y-.03"/>
                                          </p:val>
                                        </p:tav>
                                        <p:tav tm="100000">
                                          <p:val>
                                            <p:strVal val="#ppt_y"/>
                                          </p:val>
                                        </p:tav>
                                      </p:tavLst>
                                    </p:anim>
                                  </p:childTnLst>
                                </p:cTn>
                              </p:par>
                            </p:childTnLst>
                          </p:cTn>
                        </p:par>
                        <p:par>
                          <p:cTn id="26" fill="hold">
                            <p:stCondLst>
                              <p:cond delay="2750"/>
                            </p:stCondLst>
                            <p:childTnLst>
                              <p:par>
                                <p:cTn xmlns:p="http://schemas.openxmlformats.org/presentationml/2006/main" id="27" presetID="37" presetClass="entr" presetSubtype="0" fill="hold" grpId="0" nodeType="afterEffect">
                                  <p:stCondLst>
                                    <p:cond delay="25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anim calcmode="lin" valueType="num">
                                      <p:cBhvr>
                                        <p:cTn id="30" dur="450" fill="hold"/>
                                        <p:tgtEl>
                                          <p:spTgt spid="21"/>
                                        </p:tgtEl>
                                        <p:attrNameLst>
                                          <p:attrName>ppt_x</p:attrName>
                                        </p:attrNameLst>
                                      </p:cBhvr>
                                      <p:tavLst>
                                        <p:tav tm="0">
                                          <p:val>
                                            <p:strVal val="#ppt_x"/>
                                          </p:val>
                                        </p:tav>
                                        <p:tav tm="100000">
                                          <p:val>
                                            <p:strVal val="#ppt_x"/>
                                          </p:val>
                                        </p:tav>
                                      </p:tavLst>
                                    </p:anim>
                                    <p:anim calcmode="lin" valueType="num">
                                      <p:cBhvr>
                                        <p:cTn id="31" dur="405" decel="100000" fill="hold"/>
                                        <p:tgtEl>
                                          <p:spTgt spid="21"/>
                                        </p:tgtEl>
                                        <p:attrNameLst>
                                          <p:attrName>ppt_y</p:attrName>
                                        </p:attrNameLst>
                                      </p:cBhvr>
                                      <p:tavLst>
                                        <p:tav tm="0">
                                          <p:val>
                                            <p:strVal val="#ppt_y+1"/>
                                          </p:val>
                                        </p:tav>
                                        <p:tav tm="100000">
                                          <p:val>
                                            <p:strVal val="#ppt_y-.03"/>
                                          </p:val>
                                        </p:tav>
                                      </p:tavLst>
                                    </p:anim>
                                    <p:anim calcmode="lin" valueType="num">
                                      <p:cBhvr>
                                        <p:cTn id="32" dur="45" accel="100000" fill="hold">
                                          <p:stCondLst>
                                            <p:cond delay="405"/>
                                          </p:stCondLst>
                                        </p:cTn>
                                        <p:tgtEl>
                                          <p:spTgt spid="21"/>
                                        </p:tgtEl>
                                        <p:attrNameLst>
                                          <p:attrName>ppt_y</p:attrName>
                                        </p:attrNameLst>
                                      </p:cBhvr>
                                      <p:tavLst>
                                        <p:tav tm="0">
                                          <p:val>
                                            <p:strVal val="#ppt_y-.03"/>
                                          </p:val>
                                        </p:tav>
                                        <p:tav tm="100000">
                                          <p:val>
                                            <p:strVal val="#ppt_y"/>
                                          </p:val>
                                        </p:tav>
                                      </p:tavLst>
                                    </p:anim>
                                  </p:childTnLst>
                                </p:cTn>
                              </p:par>
                            </p:childTnLst>
                          </p:cTn>
                        </p:par>
                        <p:par>
                          <p:cTn id="33" fill="hold">
                            <p:stCondLst>
                              <p:cond delay="3450"/>
                            </p:stCondLst>
                            <p:childTnLst>
                              <p:par>
                                <p:cTn xmlns:p="http://schemas.openxmlformats.org/presentationml/2006/main" id="34" presetID="10" presetClass="entr" presetSubtype="0" fill="hold" grpId="0" nodeType="afterEffect">
                                  <p:stCondLst>
                                    <p:cond delay="40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dossier-rail"/>
          <p:cNvGrpSpPr/>
          <p:nvPr/>
        </p:nvGrpSpPr>
        <p:grpSpPr>
          <a:xfrm>
            <a:off x="361950" y="457200"/>
            <a:ext cx="114300" cy="6057900"/>
            <a:chOff x="361950" y="457200"/>
            <a:chExt cx="114300" cy="6057900"/>
          </a:xfrm>
        </p:grpSpPr>
        <p:sp>
          <p:nvSpPr>
            <p:cNvPr id="2" name="Line 2"/>
            <p:cNvSpPr/>
            <p:nvPr/>
          </p:nvSpPr>
          <p:spPr>
            <a:xfrm>
              <a:off x="419100" y="457200"/>
              <a:ext cx="9525" cy="6057900"/>
            </a:xfrm>
            <a:custGeom>
              <a:avLst/>
              <a:gdLst/>
              <a:ahLst/>
              <a:cxnLst/>
              <a:rect l="l" t="t" r="r" b="b"/>
              <a:pathLst>
                <a:path w="9525" h="6057900">
                  <a:moveTo>
                    <a:pt x="0" y="0"/>
                  </a:moveTo>
                  <a:lnTo>
                    <a:pt x="0" y="6057900"/>
                  </a:lnTo>
                </a:path>
              </a:pathLst>
            </a:custGeom>
            <a:noFill/>
            <a:ln w="9525">
              <a:solidFill>
                <a:schemeClr val="accent6"/>
              </a:solidFill>
            </a:ln>
          </p:spPr>
        </p:sp>
        <p:sp>
          <p:nvSpPr>
            <p:cNvPr id="3" name="Rectangle 3"/>
            <p:cNvSpPr/>
            <p:nvPr/>
          </p:nvSpPr>
          <p:spPr>
            <a:xfrm>
              <a:off x="361950" y="5905500"/>
              <a:ext cx="114300" cy="323850"/>
            </a:xfrm>
            <a:prstGeom prst="rect">
              <a:avLst/>
            </a:prstGeom>
            <a:solidFill>
              <a:schemeClr val="accent2"/>
            </a:solidFill>
            <a:ln>
              <a:noFill/>
            </a:ln>
          </p:spPr>
        </p:sp>
      </p:grpSp>
      <p:sp>
        <p:nvSpPr>
          <p:cNvPr id="5" name="TextBox 5"/>
          <p:cNvSpPr txBox="1"/>
          <p:nvPr/>
        </p:nvSpPr>
        <p:spPr>
          <a:xfrm>
            <a:off x="678942" y="654368"/>
            <a:ext cx="770954"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随堂检验</a:t>
            </a:r>
          </a:p>
        </p:txBody>
      </p:sp>
      <p:grpSp>
        <p:nvGrpSpPr>
          <p:cNvPr id="9" name="page-title"/>
          <p:cNvGrpSpPr/>
          <p:nvPr/>
        </p:nvGrpSpPr>
        <p:grpSpPr>
          <a:xfrm>
            <a:off x="669036" y="1072515"/>
            <a:ext cx="10837164" cy="645414"/>
            <a:chOff x="669036" y="1072515"/>
            <a:chExt cx="10837164" cy="645414"/>
          </a:xfrm>
        </p:grpSpPr>
        <p:sp>
          <p:nvSpPr>
            <p:cNvPr id="6" name="TextBox 6"/>
            <p:cNvSpPr txBox="1"/>
            <p:nvPr/>
          </p:nvSpPr>
          <p:spPr>
            <a:xfrm>
              <a:off x="669036" y="1072515"/>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随堂自测：五道判断题</a:t>
              </a:r>
            </a:p>
          </p:txBody>
        </p:sp>
        <p:sp>
          <p:nvSpPr>
            <p:cNvPr id="7" name="TextBox 7"/>
            <p:cNvSpPr txBox="1"/>
            <p:nvPr/>
          </p:nvSpPr>
          <p:spPr>
            <a:xfrm>
              <a:off x="5324856" y="1234440"/>
              <a:ext cx="24414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答案与解析见讲者备注</a:t>
              </a:r>
            </a:p>
          </p:txBody>
        </p:sp>
        <p:sp>
          <p:nvSpPr>
            <p:cNvPr id="8" name="Line 8"/>
            <p:cNvSpPr/>
            <p:nvPr/>
          </p:nvSpPr>
          <p:spPr>
            <a:xfrm>
              <a:off x="685800" y="1676400"/>
              <a:ext cx="10820400" cy="9525"/>
            </a:xfrm>
            <a:custGeom>
              <a:avLst/>
              <a:gdLst/>
              <a:ahLst/>
              <a:cxnLst/>
              <a:rect l="l" t="t" r="r" b="b"/>
              <a:pathLst>
                <a:path w="10820400" h="9525">
                  <a:moveTo>
                    <a:pt x="0" y="0"/>
                  </a:moveTo>
                  <a:lnTo>
                    <a:pt x="10820400" y="0"/>
                  </a:lnTo>
                </a:path>
              </a:pathLst>
            </a:custGeom>
            <a:noFill/>
            <a:ln w="19050">
              <a:solidFill>
                <a:schemeClr val="accent1"/>
              </a:solidFill>
            </a:ln>
          </p:spPr>
        </p:sp>
      </p:grpSp>
      <p:grpSp>
        <p:nvGrpSpPr>
          <p:cNvPr id="17" name="quiz-1"/>
          <p:cNvGrpSpPr/>
          <p:nvPr/>
        </p:nvGrpSpPr>
        <p:grpSpPr>
          <a:xfrm>
            <a:off x="673608" y="2190750"/>
            <a:ext cx="10832592" cy="504825"/>
            <a:chOff x="673608" y="2190750"/>
            <a:chExt cx="10832592" cy="504825"/>
          </a:xfrm>
        </p:grpSpPr>
        <p:sp>
          <p:nvSpPr>
            <p:cNvPr id="10" name="TextBox 10"/>
            <p:cNvSpPr txBox="1"/>
            <p:nvPr/>
          </p:nvSpPr>
          <p:spPr>
            <a:xfrm>
              <a:off x="673608" y="221742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1</a:t>
              </a:r>
            </a:p>
          </p:txBody>
        </p:sp>
        <p:sp>
          <p:nvSpPr>
            <p:cNvPr id="11" name="TextBox 11"/>
            <p:cNvSpPr txBox="1"/>
            <p:nvPr/>
          </p:nvSpPr>
          <p:spPr>
            <a:xfrm>
              <a:off x="1286256" y="2244090"/>
              <a:ext cx="418978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数据泄露的根因中，IT 故障占比最高。</a:t>
              </a:r>
            </a:p>
          </p:txBody>
        </p:sp>
        <p:sp>
          <p:nvSpPr>
            <p:cNvPr id="12" name="Rectangle 12"/>
            <p:cNvSpPr/>
            <p:nvPr/>
          </p:nvSpPr>
          <p:spPr>
            <a:xfrm>
              <a:off x="9620250" y="2190750"/>
              <a:ext cx="571500" cy="381000"/>
            </a:xfrm>
            <a:prstGeom prst="rect">
              <a:avLst/>
            </a:prstGeom>
            <a:noFill/>
            <a:ln w="9525">
              <a:solidFill>
                <a:schemeClr val="accent1"/>
              </a:solidFill>
            </a:ln>
          </p:spPr>
        </p:sp>
        <p:sp>
          <p:nvSpPr>
            <p:cNvPr id="13" name="TextBox 13"/>
            <p:cNvSpPr txBox="1"/>
            <p:nvPr/>
          </p:nvSpPr>
          <p:spPr>
            <a:xfrm>
              <a:off x="9775698" y="22631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14" name="Rectangle 14"/>
            <p:cNvSpPr/>
            <p:nvPr/>
          </p:nvSpPr>
          <p:spPr>
            <a:xfrm>
              <a:off x="10382250" y="2190750"/>
              <a:ext cx="571500" cy="381000"/>
            </a:xfrm>
            <a:prstGeom prst="rect">
              <a:avLst/>
            </a:prstGeom>
            <a:noFill/>
            <a:ln w="9525">
              <a:solidFill>
                <a:schemeClr val="accent1"/>
              </a:solidFill>
            </a:ln>
          </p:spPr>
        </p:sp>
        <p:sp>
          <p:nvSpPr>
            <p:cNvPr id="15" name="TextBox 15"/>
            <p:cNvSpPr txBox="1"/>
            <p:nvPr/>
          </p:nvSpPr>
          <p:spPr>
            <a:xfrm>
              <a:off x="10537698" y="22631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16" name="Line 16"/>
            <p:cNvSpPr/>
            <p:nvPr/>
          </p:nvSpPr>
          <p:spPr>
            <a:xfrm>
              <a:off x="685800" y="26860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25" name="quiz-2"/>
          <p:cNvGrpSpPr/>
          <p:nvPr/>
        </p:nvGrpSpPr>
        <p:grpSpPr>
          <a:xfrm>
            <a:off x="673608" y="2971800"/>
            <a:ext cx="10832592" cy="504825"/>
            <a:chOff x="673608" y="2971800"/>
            <a:chExt cx="10832592" cy="504825"/>
          </a:xfrm>
        </p:grpSpPr>
        <p:sp>
          <p:nvSpPr>
            <p:cNvPr id="18" name="TextBox 18"/>
            <p:cNvSpPr txBox="1"/>
            <p:nvPr/>
          </p:nvSpPr>
          <p:spPr>
            <a:xfrm>
              <a:off x="673608" y="299847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2</a:t>
              </a:r>
            </a:p>
          </p:txBody>
        </p:sp>
        <p:sp>
          <p:nvSpPr>
            <p:cNvPr id="19" name="TextBox 19"/>
            <p:cNvSpPr txBox="1"/>
            <p:nvPr/>
          </p:nvSpPr>
          <p:spPr>
            <a:xfrm>
              <a:off x="1286256" y="3025140"/>
              <a:ext cx="576117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现行的权威口令标准要求每 90 天强制更换一次密码。</a:t>
              </a:r>
            </a:p>
          </p:txBody>
        </p:sp>
        <p:sp>
          <p:nvSpPr>
            <p:cNvPr id="20" name="Rectangle 20"/>
            <p:cNvSpPr/>
            <p:nvPr/>
          </p:nvSpPr>
          <p:spPr>
            <a:xfrm>
              <a:off x="9620250" y="2971800"/>
              <a:ext cx="571500" cy="381000"/>
            </a:xfrm>
            <a:prstGeom prst="rect">
              <a:avLst/>
            </a:prstGeom>
            <a:noFill/>
            <a:ln w="9525">
              <a:solidFill>
                <a:schemeClr val="accent1"/>
              </a:solidFill>
            </a:ln>
          </p:spPr>
        </p:sp>
        <p:sp>
          <p:nvSpPr>
            <p:cNvPr id="21" name="TextBox 21"/>
            <p:cNvSpPr txBox="1"/>
            <p:nvPr/>
          </p:nvSpPr>
          <p:spPr>
            <a:xfrm>
              <a:off x="9775698" y="30441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22" name="Rectangle 22"/>
            <p:cNvSpPr/>
            <p:nvPr/>
          </p:nvSpPr>
          <p:spPr>
            <a:xfrm>
              <a:off x="10382250" y="2971800"/>
              <a:ext cx="571500" cy="381000"/>
            </a:xfrm>
            <a:prstGeom prst="rect">
              <a:avLst/>
            </a:prstGeom>
            <a:noFill/>
            <a:ln w="9525">
              <a:solidFill>
                <a:schemeClr val="accent1"/>
              </a:solidFill>
            </a:ln>
          </p:spPr>
        </p:sp>
        <p:sp>
          <p:nvSpPr>
            <p:cNvPr id="23" name="TextBox 23"/>
            <p:cNvSpPr txBox="1"/>
            <p:nvPr/>
          </p:nvSpPr>
          <p:spPr>
            <a:xfrm>
              <a:off x="10537698" y="30441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24" name="Line 24"/>
            <p:cNvSpPr/>
            <p:nvPr/>
          </p:nvSpPr>
          <p:spPr>
            <a:xfrm>
              <a:off x="685800" y="34671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33" name="quiz-3"/>
          <p:cNvGrpSpPr/>
          <p:nvPr/>
        </p:nvGrpSpPr>
        <p:grpSpPr>
          <a:xfrm>
            <a:off x="673608" y="3752850"/>
            <a:ext cx="10832592" cy="504825"/>
            <a:chOff x="673608" y="3752850"/>
            <a:chExt cx="10832592" cy="504825"/>
          </a:xfrm>
        </p:grpSpPr>
        <p:sp>
          <p:nvSpPr>
            <p:cNvPr id="26" name="TextBox 26"/>
            <p:cNvSpPr txBox="1"/>
            <p:nvPr/>
          </p:nvSpPr>
          <p:spPr>
            <a:xfrm>
              <a:off x="673608" y="377952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3</a:t>
              </a:r>
            </a:p>
          </p:txBody>
        </p:sp>
        <p:sp>
          <p:nvSpPr>
            <p:cNvPr id="27" name="TextBox 27"/>
            <p:cNvSpPr txBox="1"/>
            <p:nvPr/>
          </p:nvSpPr>
          <p:spPr>
            <a:xfrm>
              <a:off x="1286256" y="3806190"/>
              <a:ext cx="6612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用私人 U 盘拷贝公司文件回家处理，只要不外传就没有风险。</a:t>
              </a:r>
            </a:p>
          </p:txBody>
        </p:sp>
        <p:sp>
          <p:nvSpPr>
            <p:cNvPr id="28" name="Rectangle 28"/>
            <p:cNvSpPr/>
            <p:nvPr/>
          </p:nvSpPr>
          <p:spPr>
            <a:xfrm>
              <a:off x="9620250" y="3752850"/>
              <a:ext cx="571500" cy="381000"/>
            </a:xfrm>
            <a:prstGeom prst="rect">
              <a:avLst/>
            </a:prstGeom>
            <a:noFill/>
            <a:ln w="9525">
              <a:solidFill>
                <a:schemeClr val="accent1"/>
              </a:solidFill>
            </a:ln>
          </p:spPr>
        </p:sp>
        <p:sp>
          <p:nvSpPr>
            <p:cNvPr id="29" name="TextBox 29"/>
            <p:cNvSpPr txBox="1"/>
            <p:nvPr/>
          </p:nvSpPr>
          <p:spPr>
            <a:xfrm>
              <a:off x="9775698" y="38252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30" name="Rectangle 30"/>
            <p:cNvSpPr/>
            <p:nvPr/>
          </p:nvSpPr>
          <p:spPr>
            <a:xfrm>
              <a:off x="10382250" y="3752850"/>
              <a:ext cx="571500" cy="381000"/>
            </a:xfrm>
            <a:prstGeom prst="rect">
              <a:avLst/>
            </a:prstGeom>
            <a:noFill/>
            <a:ln w="9525">
              <a:solidFill>
                <a:schemeClr val="accent1"/>
              </a:solidFill>
            </a:ln>
          </p:spPr>
        </p:sp>
        <p:sp>
          <p:nvSpPr>
            <p:cNvPr id="31" name="TextBox 31"/>
            <p:cNvSpPr txBox="1"/>
            <p:nvPr/>
          </p:nvSpPr>
          <p:spPr>
            <a:xfrm>
              <a:off x="10537698" y="38252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32" name="Line 32"/>
            <p:cNvSpPr/>
            <p:nvPr/>
          </p:nvSpPr>
          <p:spPr>
            <a:xfrm>
              <a:off x="685800" y="42481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1" name="quiz-4"/>
          <p:cNvGrpSpPr/>
          <p:nvPr/>
        </p:nvGrpSpPr>
        <p:grpSpPr>
          <a:xfrm>
            <a:off x="673608" y="4533900"/>
            <a:ext cx="10832592" cy="504825"/>
            <a:chOff x="673608" y="4533900"/>
            <a:chExt cx="10832592" cy="504825"/>
          </a:xfrm>
        </p:grpSpPr>
        <p:sp>
          <p:nvSpPr>
            <p:cNvPr id="34" name="TextBox 34"/>
            <p:cNvSpPr txBox="1"/>
            <p:nvPr/>
          </p:nvSpPr>
          <p:spPr>
            <a:xfrm>
              <a:off x="673608" y="456057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4</a:t>
              </a:r>
            </a:p>
          </p:txBody>
        </p:sp>
        <p:sp>
          <p:nvSpPr>
            <p:cNvPr id="35" name="TextBox 35"/>
            <p:cNvSpPr txBox="1"/>
            <p:nvPr/>
          </p:nvSpPr>
          <p:spPr>
            <a:xfrm>
              <a:off x="1286256" y="4587240"/>
              <a:ext cx="53492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违反《网络安全法》只会罚公司，不会罚到个人。</a:t>
              </a:r>
            </a:p>
          </p:txBody>
        </p:sp>
        <p:sp>
          <p:nvSpPr>
            <p:cNvPr id="36" name="Rectangle 36"/>
            <p:cNvSpPr/>
            <p:nvPr/>
          </p:nvSpPr>
          <p:spPr>
            <a:xfrm>
              <a:off x="9620250" y="4533900"/>
              <a:ext cx="571500" cy="381000"/>
            </a:xfrm>
            <a:prstGeom prst="rect">
              <a:avLst/>
            </a:prstGeom>
            <a:noFill/>
            <a:ln w="9525">
              <a:solidFill>
                <a:schemeClr val="accent1"/>
              </a:solidFill>
            </a:ln>
          </p:spPr>
        </p:sp>
        <p:sp>
          <p:nvSpPr>
            <p:cNvPr id="37" name="TextBox 37"/>
            <p:cNvSpPr txBox="1"/>
            <p:nvPr/>
          </p:nvSpPr>
          <p:spPr>
            <a:xfrm>
              <a:off x="9775698" y="46062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38" name="Rectangle 38"/>
            <p:cNvSpPr/>
            <p:nvPr/>
          </p:nvSpPr>
          <p:spPr>
            <a:xfrm>
              <a:off x="10382250" y="4533900"/>
              <a:ext cx="571500" cy="381000"/>
            </a:xfrm>
            <a:prstGeom prst="rect">
              <a:avLst/>
            </a:prstGeom>
            <a:noFill/>
            <a:ln w="9525">
              <a:solidFill>
                <a:schemeClr val="accent1"/>
              </a:solidFill>
            </a:ln>
          </p:spPr>
        </p:sp>
        <p:sp>
          <p:nvSpPr>
            <p:cNvPr id="39" name="TextBox 39"/>
            <p:cNvSpPr txBox="1"/>
            <p:nvPr/>
          </p:nvSpPr>
          <p:spPr>
            <a:xfrm>
              <a:off x="10537698" y="460629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40" name="Line 40"/>
            <p:cNvSpPr/>
            <p:nvPr/>
          </p:nvSpPr>
          <p:spPr>
            <a:xfrm>
              <a:off x="685800" y="50292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9" name="quiz-5"/>
          <p:cNvGrpSpPr/>
          <p:nvPr/>
        </p:nvGrpSpPr>
        <p:grpSpPr>
          <a:xfrm>
            <a:off x="673608" y="5314950"/>
            <a:ext cx="10832592" cy="504825"/>
            <a:chOff x="673608" y="5314950"/>
            <a:chExt cx="10832592" cy="504825"/>
          </a:xfrm>
        </p:grpSpPr>
        <p:sp>
          <p:nvSpPr>
            <p:cNvPr id="42" name="TextBox 42"/>
            <p:cNvSpPr txBox="1"/>
            <p:nvPr/>
          </p:nvSpPr>
          <p:spPr>
            <a:xfrm>
              <a:off x="673608" y="5341620"/>
              <a:ext cx="2121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j-lt"/>
                  <a:ea typeface="+mj-ea"/>
                  <a:cs typeface="+mj-cs"/>
                </a:rPr>
                <a:t>5</a:t>
              </a:r>
            </a:p>
          </p:txBody>
        </p:sp>
        <p:sp>
          <p:nvSpPr>
            <p:cNvPr id="43" name="TextBox 43"/>
            <p:cNvSpPr txBox="1"/>
            <p:nvPr/>
          </p:nvSpPr>
          <p:spPr>
            <a:xfrm>
              <a:off x="1286256" y="5368290"/>
              <a:ext cx="70454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发现安全事件后先自己查清楚原因，查明白了再上报，比较稳妥。</a:t>
              </a:r>
            </a:p>
          </p:txBody>
        </p:sp>
        <p:sp>
          <p:nvSpPr>
            <p:cNvPr id="44" name="Rectangle 44"/>
            <p:cNvSpPr/>
            <p:nvPr/>
          </p:nvSpPr>
          <p:spPr>
            <a:xfrm>
              <a:off x="9620250" y="5314950"/>
              <a:ext cx="571500" cy="381000"/>
            </a:xfrm>
            <a:prstGeom prst="rect">
              <a:avLst/>
            </a:prstGeom>
            <a:noFill/>
            <a:ln w="9525">
              <a:solidFill>
                <a:schemeClr val="accent1"/>
              </a:solidFill>
            </a:ln>
          </p:spPr>
        </p:sp>
        <p:sp>
          <p:nvSpPr>
            <p:cNvPr id="45" name="TextBox 45"/>
            <p:cNvSpPr txBox="1"/>
            <p:nvPr/>
          </p:nvSpPr>
          <p:spPr>
            <a:xfrm>
              <a:off x="9775698" y="53873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对</a:t>
              </a:r>
            </a:p>
          </p:txBody>
        </p:sp>
        <p:sp>
          <p:nvSpPr>
            <p:cNvPr id="46" name="Rectangle 46"/>
            <p:cNvSpPr/>
            <p:nvPr/>
          </p:nvSpPr>
          <p:spPr>
            <a:xfrm>
              <a:off x="10382250" y="5314950"/>
              <a:ext cx="571500" cy="381000"/>
            </a:xfrm>
            <a:prstGeom prst="rect">
              <a:avLst/>
            </a:prstGeom>
            <a:noFill/>
            <a:ln w="9525">
              <a:solidFill>
                <a:schemeClr val="accent1"/>
              </a:solidFill>
            </a:ln>
          </p:spPr>
        </p:sp>
        <p:sp>
          <p:nvSpPr>
            <p:cNvPr id="47" name="TextBox 47"/>
            <p:cNvSpPr txBox="1"/>
            <p:nvPr/>
          </p:nvSpPr>
          <p:spPr>
            <a:xfrm>
              <a:off x="10537698" y="5387340"/>
              <a:ext cx="260604"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错</a:t>
              </a:r>
            </a:p>
          </p:txBody>
        </p:sp>
        <p:sp>
          <p:nvSpPr>
            <p:cNvPr id="48" name="Line 48"/>
            <p:cNvSpPr/>
            <p:nvPr/>
          </p:nvSpPr>
          <p:spPr>
            <a:xfrm>
              <a:off x="685800" y="58102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53" name="compile-note"/>
          <p:cNvGrpSpPr/>
          <p:nvPr/>
        </p:nvGrpSpPr>
        <p:grpSpPr>
          <a:xfrm>
            <a:off x="685800" y="5962650"/>
            <a:ext cx="7100316" cy="327851"/>
            <a:chOff x="685800" y="5962650"/>
            <a:chExt cx="7100316" cy="327851"/>
          </a:xfrm>
        </p:grpSpPr>
        <p:sp>
          <p:nvSpPr>
            <p:cNvPr id="50" name="Freeform 50"/>
            <p:cNvSpPr/>
            <p:nvPr/>
          </p:nvSpPr>
          <p:spPr>
            <a:xfrm>
              <a:off x="685800" y="5962650"/>
              <a:ext cx="723900" cy="304800"/>
            </a:xfrm>
            <a:prstGeom prst="plaque">
              <a:avLst/>
            </a:prstGeom>
            <a:solidFill>
              <a:srgbClr val="E0D9CC"/>
            </a:solidFill>
            <a:ln>
              <a:noFill/>
            </a:ln>
          </p:spPr>
        </p:sp>
        <p:sp>
          <p:nvSpPr>
            <p:cNvPr id="51" name="TextBox 51"/>
            <p:cNvSpPr txBox="1"/>
            <p:nvPr/>
          </p:nvSpPr>
          <p:spPr>
            <a:xfrm>
              <a:off x="859155" y="60264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整理</a:t>
              </a:r>
            </a:p>
          </p:txBody>
        </p:sp>
        <p:sp>
          <p:nvSpPr>
            <p:cNvPr id="52" name="TextBox 52"/>
            <p:cNvSpPr txBox="1"/>
            <p:nvPr/>
          </p:nvSpPr>
          <p:spPr>
            <a:xfrm>
              <a:off x="1593342" y="6026468"/>
              <a:ext cx="619277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五道判断题为本课依据前述法条与统计自行设计，答案以页内引用来源为准。</a:t>
              </a:r>
            </a:p>
          </p:txBody>
        </p:sp>
      </p:grpSp>
      <p:grpSp>
        <p:nvGrpSpPr>
          <p:cNvPr id="56" name="footer"/>
          <p:cNvGrpSpPr/>
          <p:nvPr/>
        </p:nvGrpSpPr>
        <p:grpSpPr>
          <a:xfrm>
            <a:off x="679704" y="6404610"/>
            <a:ext cx="10832592" cy="234696"/>
            <a:chOff x="679704" y="6404610"/>
            <a:chExt cx="10832592" cy="234696"/>
          </a:xfrm>
        </p:grpSpPr>
        <p:sp>
          <p:nvSpPr>
            <p:cNvPr id="54" name="TextBox 54"/>
            <p:cNvSpPr txBox="1"/>
            <p:nvPr/>
          </p:nvSpPr>
          <p:spPr>
            <a:xfrm>
              <a:off x="679704" y="6404610"/>
              <a:ext cx="5480456" cy="234696"/>
            </a:xfrm>
            <a:prstGeom prst="rect">
              <a:avLst/>
            </a:prstGeom>
            <a:noFill/>
            <a:ln>
              <a:noFill/>
            </a:ln>
          </p:spPr>
          <p:txBody>
            <a:bodyPr wrap="none" lIns="0" tIns="0" rIns="0" bIns="0" anchor="t" anchorCtr="0">
              <a:spAutoFit/>
            </a:bodyPr>
            <a:lstStyle/>
            <a:p>
              <a:pPr algn="l"/>
              <a:r>
                <a:rPr lang="zh-CN" sz="1200" dirty="0">
                  <a:solidFill>
                    <a:srgbClr val="8A8478"/>
                  </a:solidFill>
                  <a:latin typeface="+mn-lt"/>
                  <a:ea typeface="+mn-ea"/>
                  <a:cs typeface="+mn-cs"/>
                </a:rPr>
                <a:t>对应章节：1 题第一章 · 2 题第二章 · 3 题第三章 · 4 题第四章 · 5 题第五章</a:t>
              </a:r>
            </a:p>
          </p:txBody>
        </p:sp>
        <p:sp>
          <p:nvSpPr>
            <p:cNvPr id="55" name="TextBox 55"/>
            <p:cNvSpPr txBox="1"/>
            <p:nvPr/>
          </p:nvSpPr>
          <p:spPr>
            <a:xfrm>
              <a:off x="10958932" y="6404610"/>
              <a:ext cx="553364" cy="234696"/>
            </a:xfrm>
            <a:prstGeom prst="rect">
              <a:avLst/>
            </a:prstGeom>
            <a:noFill/>
            <a:ln>
              <a:noFill/>
            </a:ln>
          </p:spPr>
          <p:txBody>
            <a:bodyPr wrap="none" lIns="0" tIns="0" rIns="0" bIns="0" anchor="t" anchorCtr="0">
              <a:spAutoFit/>
            </a:bodyPr>
            <a:lstStyle/>
            <a:p>
              <a:pPr algn="r"/>
              <a:r>
                <a:rPr lang="zh-CN" sz="1200" dirty="0">
                  <a:solidFill>
                    <a:srgbClr val="8A8478"/>
                  </a:solidFill>
                  <a:latin typeface="+mn-lt"/>
                  <a:ea typeface="+mn-ea"/>
                  <a:cs typeface="+mn-cs"/>
                </a:rPr>
                <a:t>28 / 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xmlns:p="http://schemas.openxmlformats.org/presentationml/2006/main" id="25" presetID="10"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par>
                    <p:cTn id="28" fill="hold">
                      <p:stCondLst>
                        <p:cond delay="indefinite"/>
                      </p:stCondLst>
                      <p:childTnLst>
                        <p:par>
                          <p:cTn id="29" fill="hold">
                            <p:stCondLst>
                              <p:cond delay="0"/>
                            </p:stCondLst>
                            <p:childTnLst>
                              <p:par>
                                <p:cTn xmlns:p="http://schemas.openxmlformats.org/presentationml/2006/main" id="30" presetID="10"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400"/>
                                        <p:tgtEl>
                                          <p:spTgt spid="49"/>
                                        </p:tgtEl>
                                      </p:cBhvr>
                                    </p:animEffect>
                                  </p:childTnLst>
                                </p:cTn>
                              </p:par>
                            </p:childTnLst>
                          </p:cTn>
                        </p:par>
                        <p:par>
                          <p:cTn id="33" fill="hold">
                            <p:stCondLst>
                              <p:cond delay="400"/>
                            </p:stCondLst>
                            <p:childTnLst>
                              <p:par>
                                <p:cTn xmlns:p="http://schemas.openxmlformats.org/presentationml/2006/main" id="34" presetID="10" presetClass="entr" presetSubtype="0" fill="hold" grpId="0" nodeType="afterEffect">
                                  <p:stCondLst>
                                    <p:cond delay="250"/>
                                  </p:stCondLst>
                                  <p:childTnLst>
                                    <p:set>
                                      <p:cBhvr>
                                        <p:cTn id="35" dur="1" fill="hold">
                                          <p:stCondLst>
                                            <p:cond delay="0"/>
                                          </p:stCondLst>
                                        </p:cTn>
                                        <p:tgtEl>
                                          <p:spTgt spid="53"/>
                                        </p:tgtEl>
                                        <p:attrNameLst>
                                          <p:attrName>style.visibility</p:attrName>
                                        </p:attrNameLst>
                                      </p:cBhvr>
                                      <p:to>
                                        <p:strVal val="visible"/>
                                      </p:to>
                                    </p:set>
                                    <p:animEffect transition="in" filter="fade">
                                      <p:cBhvr>
                                        <p:cTn id="36"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infosec_training_zh_long">
  <a:themeElements>
    <a:clrScheme name="ppt169_infosec_training_zh_long">
      <a:dk1>
        <a:srgbClr val="232A31"/>
      </a:dk1>
      <a:lt1>
        <a:srgbClr val="F7F4EE"/>
      </a:lt1>
      <a:dk2>
        <a:srgbClr val="1F497D"/>
      </a:dk2>
      <a:lt2>
        <a:srgbClr val="EBE6DC"/>
      </a:lt2>
      <a:accent1>
        <a:srgbClr val="1F2A37"/>
      </a:accent1>
      <a:accent2>
        <a:srgbClr val="C0392B"/>
      </a:accent2>
      <a:accent3>
        <a:srgbClr val="1D6A73"/>
      </a:accent3>
      <a:accent4>
        <a:srgbClr val="1F2A37"/>
      </a:accent4>
      <a:accent5>
        <a:srgbClr val="5A6068"/>
      </a:accent5>
      <a:accent6>
        <a:srgbClr val="D5CEC2"/>
      </a:accent6>
      <a:hlink>
        <a:srgbClr val="C0392B"/>
      </a:hlink>
      <a:folHlink>
        <a:srgbClr val="1D6A73"/>
      </a:folHlink>
    </a:clrScheme>
    <a:fontScheme name="ppt169_infosec_training_zh_long">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infosec_training_zh_lo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infosec_training_zh_long">
  <a:themeElements>
    <a:clrScheme name="ppt169_infosec_training_zh_long">
      <a:dk1>
        <a:srgbClr val="232A31"/>
      </a:dk1>
      <a:lt1>
        <a:srgbClr val="F7F4EE"/>
      </a:lt1>
      <a:dk2>
        <a:srgbClr val="1F497D"/>
      </a:dk2>
      <a:lt2>
        <a:srgbClr val="EBE6DC"/>
      </a:lt2>
      <a:accent1>
        <a:srgbClr val="1F2A37"/>
      </a:accent1>
      <a:accent2>
        <a:srgbClr val="C0392B"/>
      </a:accent2>
      <a:accent3>
        <a:srgbClr val="1D6A73"/>
      </a:accent3>
      <a:accent4>
        <a:srgbClr val="1F2A37"/>
      </a:accent4>
      <a:accent5>
        <a:srgbClr val="5A6068"/>
      </a:accent5>
      <a:accent6>
        <a:srgbClr val="D5CEC2"/>
      </a:accent6>
      <a:hlink>
        <a:srgbClr val="C0392B"/>
      </a:hlink>
      <a:folHlink>
        <a:srgbClr val="1D6A73"/>
      </a:folHlink>
    </a:clrScheme>
    <a:fontScheme name="ppt169_infosec_training_zh_long">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infosec_training_zh_lo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2026-09-12T13:37:00Z</dcterms:created>
  <dcterms:modified xsi:type="dcterms:W3CDTF">2026-09-12T13:37:00Z</dcterms:modified>
  <cp:category/>
  <cp:contentStatus/>
</cp:coreProperties>
</file>