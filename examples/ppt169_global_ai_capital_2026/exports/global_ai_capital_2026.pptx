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  <Relationship Id="rId2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各位好，欢迎来到本期《2026 全球 AI 资本格局》行业洞察简报。本期我们用十八张数据图表，回答一个问题：当全球风险资本以前所未有的集中度涌入 AI，这究竟是基建周期的开端，还是泡沫膨胀的中段？请记住三个数字：单季两千九百七十亿美元、AI 拿走百分之八十一、四笔交易吃掉百分之六十五。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正式开始之前，先看这三组数字。第一组：单季全球风投两千九百七十亿美元，AI 占百分之八十一。第二组：四笔大单合计一千八百八十亿美元，占全季百分之六十五。第三组：资本开支与企业 AI 收入的增速差距已经达到四十六个百分点，超过二零零一年电信泡沫期。这三组数字定义了本期讨论的整个框架——不要急着下结论，我们先把六个维度的事实铺开。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本期内容分为六个部分。第一部分全景，概览风投总盘与 hyperscaler 资本开支。第二部分三巨头，聚焦 OpenAI、Anthropic 和 xAI。第三部分中国阵营，对比中美两条路径。第四部分二线梯队，看一看估值十亿到五十亿美元区间的精英层。第五部分基建与闭环，讲 Nvidia 圆形投资和 Stargate 项目。第六部分泡沫与判断，给出六大收尾观点。每一部分大约三到五分钟。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来看 2026 年第一季度的全景。全球风投单季两千九百七十亿美元，创下历史最高。其中 AI 行业拿走百分之八十一，约两千四百二十亿美元。OpenAI、Anthropic、xAI 和 Waymo 这四笔大单合计一千八百八十亿美元，占全季全球风投的百分之六十五。Crunchbase 给出了非常精炼的判断：钱并没有变得更多，是更加集中。这句话定义了 2026 年的资本气候。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如果说三大模型公司在前台融资，后台就是四家 hyperscaler 在掏钱建基建。亚马逊两千亿、微软一千九百亿、谷歌一千九百亿、Meta 一千四百五十亿，合计七千两百五十亿美元，同比增长百分之七十七。但请注意更关键的一组结构数据：这七千多亿里，百分之六十以上流向电力、冷却和土建——不是芯片。资源约束已经从"算力"转向"电力"。下一道护城河，是吉瓦级供电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聚焦三巨头。看六个月内估值的跃迁。OpenAI 从年初三千亿涨到三月份的八千五百二十亿，涨幅百分之一百八十四。Anthropic 从六百一十五亿涨到 Series G 的三千八百亿，目前在谈九千亿，最大涨幅可能达到百分之一千三百六十四。xAI 从五百亿涨到二百三十亿后又因为合并 SpaceX 整体估值飙到一万二千五百亿。三家半年合计估值，从四千一百一十亿涨到一万四千六百亿——三点六倍。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把估值放在 ARR 上看兑现度。X 轴是年化收入，Y 轴是估值，气泡大小是投资人数。所有气泡都站在公允线上方——估值跑得比收入快。其中 xAI 偏离最远，年化收入估算仅五十亿但估值高达二千三百亿。Anthropic 兑现度最高，年化收入超过三百亿。OpenAI 介于两者之间。结论很清楚：估值跑得最远的不一定是收入最强的。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OpenAI 这笔史上最大的一千二百二十亿美元融资，钱从哪里来。亚马逊承诺最多五百亿，占百分之四十一。Nvidia 三百亿，占百分之二十五。SoftBank 三百亿，占百分之二十五。微软加 a16z 等剩余约一百二十亿，占百分之九。请注意一个结构性观察：这三大投资人合计百分之九十一，同时也是 OpenAI 最大的客户——投资和买单是同一拨人。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把三种成长曲线并排放在一起。OpenAI 是消费驱动型，九亿周活，年化两百四十亿，企业占比已达百分之四十，是冲刺 IPO 的消费机器。Anthropic 是企业驱动型，年化超过三百亿，谷歌累计承诺四百亿，最关键的是它在谈估值已经反超 OpenAI——九千亿对八千五百二十亿。xAI 是合并叙事，二百三十亿估值加 SpaceX 整体一万二千五百亿，特斯拉押了二十亿。三家合计两万四千八百亿，已超过苹果同期市值的三分之二。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镜头转向中国。DeepSeek 拿到国家大基金首次领投，估值五百亿，是中国 AI 第一阵营的真正领跑者。智谱港股市值五百六十一亿，MiniMax 港股市值三百七十二亿，都是 1 月份港交所上市后的二级市场定价。Moonshot 私募估值二百亿，单轮二十亿是国内大模型史上最大。StepFun 在谈大约八十亿。一个数据警示：港股市值和私募估值不能直接对比，只能看量级。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中美 AI 资本的差异已经结构化。美国走超大私募，单轮三百亿到一千二百二十亿；中国走小私募加 IPO，单轮二十亿到四十亿。美国 IPO 推迟，中国 1 月份就让智谱和 MiniMax 落地港股。美国是市场驱动，中国是大基金领投。估值峰值美国八千五百二十亿，中国五百六十一亿。两种结构在 2026 年已经基本定型，路径差异不再可逆。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二线梯队是十亿到五十亿美元区间的四家精英。SSI 是 Sutskever 创立的，估值半年从五十亿翻到三百二十亿，纯靠人和方向叙事——产品都还没有。Perplexity 二百一十亿，月活四千五百万，直挑谷歌搜索。Mistral 一百三十七亿，欧洲开源主权 AI 代表，正在巴黎建有一万三千八百张 Nvidia GPU 的数据中心。Cohere 与 Aleph Alpha 合并，二百亿估值，跨大西洋主权企业栈挑战者。四家合计八百六十七亿，只占同期 OpenAI 估值的十分之一。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进入第五部分。这一章讲一个核心结构问题：当芯片商同时是大股东。Nvidia 在 2026 年至今股权投资超过四百亿美元，OpenAI 拿了三百亿，xAI、Anthropic、Mistral 全到位。同一时间，它的百分之八十五的收入来自仅仅六个客户。这是闭环。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 Nvidia 的圆形投资画成资金流图。左边 Nvidia 投出四百亿股权。中间分给 OpenAI 三百亿、xAI 约三十亿、Anthropic 约二十亿、Mistral 约十亿、CoreWeave 和其他四十亿。右边这些 AI 公司又把绝大部分资金作为多年算力承诺投回给 Nvidia 买芯片——预计回流一千亿以上。Wedbush 的分析师评论极其精准：这正好是市场最担心的圆形投资主题。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Nvidia 客户集中度的帕累托图。第一名微软占百分之十八，第二名 Meta 百分之十六，第三名谷歌百分之十五，第四名亚马逊百分之十一——前四名合计百分之六十。再加上 OpenAI 和 CoreWeave，前六名累积达到百分之八十五。这是一个二元风险：任何一家 hyperscaler 砍资本开支，都会级联打击 Nvidia 的财报，进而打击整个 AI 供应链。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Stargate 项目是这一切的物理基础。OpenAI 加 Oracle 加 SoftBank，五千亿美元投入，十吉瓦容量，四年期。中心节点是已经投运的德州 Abilene 旗舰，到 2026 年中期将达到一吉瓦。围绕它有七个站点：Shackelford TX、Doña Ana NM、密歇根萨林、中西部未公开、俄亥俄 Lordstown、德州 Milam。截至目前已规划七吉瓦，未来三年投入四千亿，GB200 机架已经在 Abilene 交付。Sam Altman 简洁地说了一句：up and running。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进入最后一部分，泡沫。Hyperscaler 资本开支已达四千亿，企业 AI 收入仅一千亿。增速差距四十六个百分点，是 2001 年电信泡沫期的三十二个百分点的一点五倍——也就是说，差距已经超过 2001 电信泡沫。麻省理工的研究显示，百分之九十五的生成式 AI 试点未产生商业价值。这是泡沫的真实数据底色。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剪刀差图。红线是 hyperscaler 资本开支，从 2020 年的两百亿涨到 2026 年的七千二百五十亿，几乎是垂直起飞。绿线是企业 AI 收入，从 2020 年的几十亿涨到 2026 年的约一千亿，斜率温和得多。两线之间的阴影区域就是 ROI 鸿沟。资本主义有耐心，但耐心是有限的。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四大风险，互相放大。左上：资本开支与营收鸿沟已超 2001 电信泡沫。右上：MIT 数据显示百分之九十五的企业 AI 试点未产生商业价值。左下：Nvidia 收入百分之八十五来自六个客户，前四名近百分之六十。右下：融资结构正从经营现金流转向举债融资。这四个风险中任何一个单独都可控，但它们正同时存在并互相放大。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六大判断作为收尾。第一，资本集中度是 2026 主旋律。第二，算力是真硬通货。第三，下一道护城河是电力不是芯片。第四，中美双轨结构已经成型且不可逆。第五，真实 ROI 滞后但巨头未止血——这是一场赌"未来兑现"的赛跑。第六，Anthropic 估值已经反超 OpenAI。最后一句留给编辑部：这还不是泡沫破裂，这是泡沫继续累积。感谢收看。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global_ai_capital_202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global_ai_capital_202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c9968a2c2b05fb0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d5e1cee0f201364.jp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1b66a5aec4bf16d.jp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5000"/>
                  </a:schemeClr>
                </a:gs>
                <a:gs pos="55000">
                  <a:schemeClr val="lt1">
                    <a:alpha val="55000"/>
                  </a:schemeClr>
                </a:gs>
                <a:gs pos="100000">
                  <a:schemeClr val="lt1">
                    <a:alpha val="5000"/>
                  </a:schemeClr>
                </a:gs>
              </a:gsLst>
              <a:lin ang="1620000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66738" y="444341"/>
            <a:ext cx="2910703" cy="250984"/>
            <a:chOff x="566738" y="444341"/>
            <a:chExt cx="2910703" cy="250984"/>
          </a:xfrm>
        </p:grpSpPr>
        <p:sp>
          <p:nvSpPr>
            <p:cNvPr id="6" name="TextBox 6"/>
            <p:cNvSpPr txBox="1"/>
            <p:nvPr/>
          </p:nvSpPr>
          <p:spPr>
            <a:xfrm>
              <a:off x="566738" y="444341"/>
              <a:ext cx="29107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+mj-lt"/>
                  <a:ea typeface="+mj-ea"/>
                  <a:cs typeface="+mj-cs"/>
                </a:rPr>
                <a:t>INDUSTRY BRIEFING · 2026.05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52450" y="3608070"/>
            <a:ext cx="9321195" cy="1243203"/>
            <a:chOff x="552450" y="3608070"/>
            <a:chExt cx="9321195" cy="1243203"/>
          </a:xfrm>
        </p:grpSpPr>
        <p:sp>
          <p:nvSpPr>
            <p:cNvPr id="9" name="TextBox 9"/>
            <p:cNvSpPr txBox="1"/>
            <p:nvPr/>
          </p:nvSpPr>
          <p:spPr>
            <a:xfrm>
              <a:off x="552450" y="3608070"/>
              <a:ext cx="9321195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spc="-75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2026 全球 AI 资本格局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0832" y="4440555"/>
              <a:ext cx="59207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i="1" spc="38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Capital, Compute, and the Closed Loop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66166" y="5143500"/>
            <a:ext cx="11059668" cy="739711"/>
            <a:chOff x="566166" y="5143500"/>
            <a:chExt cx="11059668" cy="739711"/>
          </a:xfrm>
        </p:grpSpPr>
        <p:sp>
          <p:nvSpPr>
            <p:cNvPr id="12" name="Line 12"/>
            <p:cNvSpPr/>
            <p:nvPr/>
          </p:nvSpPr>
          <p:spPr>
            <a:xfrm>
              <a:off x="571500" y="5143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66166" y="5411152"/>
              <a:ext cx="46132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作者 · PPT Master 行业洞察 / Author · PPT Master Industry Insight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6166" y="5677852"/>
              <a:ext cx="23145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数据截至 / Data as of </a:t>
              </a: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2026-05-15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65748" y="5435441"/>
              <a:ext cx="15595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spc="1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VOL. 01 · NO. 05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079524" y="5677852"/>
              <a:ext cx="15463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$297B · 81% · 4 deals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6738" y="6491288"/>
            <a:ext cx="11058525" cy="147638"/>
            <a:chOff x="566738" y="6491288"/>
            <a:chExt cx="11058525" cy="147638"/>
          </a:xfrm>
        </p:grpSpPr>
        <p:sp>
          <p:nvSpPr>
            <p:cNvPr id="18" name="TextBox 18"/>
            <p:cNvSpPr txBox="1"/>
            <p:nvPr/>
          </p:nvSpPr>
          <p:spPr>
            <a:xfrm>
              <a:off x="566738" y="6491288"/>
              <a:ext cx="374405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Crunchbase · Bloomberg · CNBC · TechCrunch · Anthropic · OpenAI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58360" y="649128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01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60832" y="444341"/>
            <a:ext cx="3804403" cy="882682"/>
            <a:chOff x="560832" y="444341"/>
            <a:chExt cx="3804403" cy="882682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14743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PROLOGUE · 02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38044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编辑导语 / Editor's Note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2450" y="1123950"/>
            <a:ext cx="742188" cy="1733550"/>
            <a:chOff x="552450" y="1123950"/>
            <a:chExt cx="742188" cy="1733550"/>
          </a:xfrm>
        </p:grpSpPr>
        <p:sp>
          <p:nvSpPr>
            <p:cNvPr id="6" name="TextBox 6"/>
            <p:cNvSpPr txBox="1"/>
            <p:nvPr/>
          </p:nvSpPr>
          <p:spPr>
            <a:xfrm>
              <a:off x="552450" y="1123950"/>
              <a:ext cx="742188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0" dirty="0">
                  <a:solidFill>
                    <a:schemeClr val="accent2">
                      <a:alphaMod val="45000"/>
                    </a:schemeClr>
                  </a:solidFill>
                  <a:latin typeface="Cambria"/>
                  <a:ea typeface="Cambria"/>
                  <a:cs typeface="Cambria"/>
                </a:rPr>
                <a:t>"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12570" y="2043112"/>
            <a:ext cx="7974997" cy="440055"/>
            <a:chOff x="1512570" y="2043112"/>
            <a:chExt cx="7974997" cy="440055"/>
          </a:xfrm>
        </p:grpSpPr>
        <p:sp>
          <p:nvSpPr>
            <p:cNvPr id="8" name="TextBox 8"/>
            <p:cNvSpPr txBox="1"/>
            <p:nvPr/>
          </p:nvSpPr>
          <p:spPr>
            <a:xfrm>
              <a:off x="1512570" y="2043112"/>
              <a:ext cx="797499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三组数字，足以定义 2026 年的 AI 资本格局。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2720340"/>
            <a:ext cx="3067050" cy="1146810"/>
            <a:chOff x="552450" y="2720340"/>
            <a:chExt cx="3067050" cy="1146810"/>
          </a:xfrm>
        </p:grpSpPr>
        <p:sp>
          <p:nvSpPr>
            <p:cNvPr id="10" name="TextBox 10"/>
            <p:cNvSpPr txBox="1"/>
            <p:nvPr/>
          </p:nvSpPr>
          <p:spPr>
            <a:xfrm>
              <a:off x="552450" y="2720340"/>
              <a:ext cx="243199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$297B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166" y="3506152"/>
              <a:ext cx="1972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单季全球 VC 总额 · AI 占 </a:t>
              </a: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81%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71500" y="3857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267200" y="2720340"/>
            <a:ext cx="3067050" cy="1146810"/>
            <a:chOff x="4267200" y="2720340"/>
            <a:chExt cx="3067050" cy="1146810"/>
          </a:xfrm>
        </p:grpSpPr>
        <p:sp>
          <p:nvSpPr>
            <p:cNvPr id="14" name="TextBox 14"/>
            <p:cNvSpPr txBox="1"/>
            <p:nvPr/>
          </p:nvSpPr>
          <p:spPr>
            <a:xfrm>
              <a:off x="4267200" y="2720340"/>
              <a:ext cx="243199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$188B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80916" y="3506152"/>
              <a:ext cx="20550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四笔交易合计 · 占全季 VC </a:t>
              </a: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65%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286250" y="3857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7981950" y="2720340"/>
            <a:ext cx="3125295" cy="1146810"/>
            <a:chOff x="7981950" y="2720340"/>
            <a:chExt cx="3125295" cy="1146810"/>
          </a:xfrm>
        </p:grpSpPr>
        <p:sp>
          <p:nvSpPr>
            <p:cNvPr id="18" name="TextBox 18"/>
            <p:cNvSpPr txBox="1"/>
            <p:nvPr/>
          </p:nvSpPr>
          <p:spPr>
            <a:xfrm>
              <a:off x="7981950" y="2720340"/>
              <a:ext cx="200954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+46pt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95666" y="3506152"/>
              <a:ext cx="3111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Capex 与 AI 收入增速差距 · 已超 </a:t>
              </a: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2001 电信泡沫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8001000" y="3857625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65404" y="4347210"/>
            <a:ext cx="6435852" cy="768096"/>
            <a:chOff x="565404" y="4347210"/>
            <a:chExt cx="6435852" cy="768096"/>
          </a:xfrm>
        </p:grpSpPr>
        <p:sp>
          <p:nvSpPr>
            <p:cNvPr id="22" name="TextBox 22"/>
            <p:cNvSpPr txBox="1"/>
            <p:nvPr/>
          </p:nvSpPr>
          <p:spPr>
            <a:xfrm>
              <a:off x="565404" y="4347210"/>
              <a:ext cx="643585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这一期，我们用 18 张数据图，回答一个问题：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当全球风险资本以前所未有的集中度涌入 AI，</a:t>
              </a:r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这究竟是基建周期的开端，还是泡沫膨胀的中段？</a:t>
              </a:r>
              <a:br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不要急着下结论。我们先把六个维度的数字铺开。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66166" y="5886450"/>
            <a:ext cx="2155100" cy="339661"/>
            <a:chOff x="566166" y="5886450"/>
            <a:chExt cx="2155100" cy="339661"/>
          </a:xfrm>
        </p:grpSpPr>
        <p:sp>
          <p:nvSpPr>
            <p:cNvPr id="24" name="Line 24"/>
            <p:cNvSpPr/>
            <p:nvPr/>
          </p:nvSpPr>
          <p:spPr>
            <a:xfrm>
              <a:off x="571500" y="58864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6166" y="6020752"/>
              <a:ext cx="21551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— Editorial Desk, 2026-05-16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6738" y="6477000"/>
            <a:ext cx="11058525" cy="257176"/>
            <a:chOff x="566738" y="6477000"/>
            <a:chExt cx="11058525" cy="257176"/>
          </a:xfrm>
        </p:grpSpPr>
        <p:sp>
          <p:nvSpPr>
            <p:cNvPr id="27" name="Line 27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66738" y="6586538"/>
              <a:ext cx="311677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Capital, Compute, and the Closed Loop · 2026 Industry Briefing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02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9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9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63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37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7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4736" y="444341"/>
            <a:ext cx="4170350" cy="1190720"/>
            <a:chOff x="554736" y="444341"/>
            <a:chExt cx="4170350" cy="119072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144603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CONTENTS · 03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4736" y="882015"/>
              <a:ext cx="380610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目录 / Contents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429702"/>
              <a:ext cx="4158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SimSun"/>
                  <a:cs typeface="Cambria"/>
                </a:rPr>
                <a:t>Six parts · Eighteen data charts · 2026 全球 AI 资本格局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3212" y="1897380"/>
            <a:ext cx="4785741" cy="2684145"/>
            <a:chOff x="553212" y="1897380"/>
            <a:chExt cx="4785741" cy="2684145"/>
          </a:xfrm>
        </p:grpSpPr>
        <p:grpSp>
          <p:nvGrpSpPr>
            <p:cNvPr id="12" name="Group 12"/>
            <p:cNvGrpSpPr/>
            <p:nvPr/>
          </p:nvGrpSpPr>
          <p:grpSpPr>
            <a:xfrm>
              <a:off x="553212" y="1897380"/>
              <a:ext cx="4785741" cy="779145"/>
              <a:chOff x="553212" y="1897380"/>
              <a:chExt cx="4785741" cy="779145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553212" y="1897380"/>
                <a:ext cx="232440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I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34618" y="2031682"/>
                <a:ext cx="203635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全景 · Landscape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38047" y="2352199"/>
                <a:ext cx="223413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Q1 风投 · Hyperscaler $725B Capex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472183" y="2180749"/>
                <a:ext cx="8667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spc="75" dirty="0">
                    <a:solidFill>
                      <a:schemeClr val="dk1"/>
                    </a:solidFill>
                    <a:latin typeface="Cambria"/>
                    <a:ea typeface="Cambria"/>
                    <a:cs typeface="Cambria"/>
                  </a:rPr>
                  <a:t>P04 — P05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571500" y="266700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553212" y="2849880"/>
              <a:ext cx="4785741" cy="779145"/>
              <a:chOff x="553212" y="2849880"/>
              <a:chExt cx="4785741" cy="779145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553212" y="2849880"/>
                <a:ext cx="428305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II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4618" y="2984182"/>
                <a:ext cx="27312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三巨头 · The Big Three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8047" y="3304699"/>
                <a:ext cx="157586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OpenAI · Anthropic · xAI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72183" y="3133249"/>
                <a:ext cx="8667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spc="75" dirty="0">
                    <a:solidFill>
                      <a:schemeClr val="dk1"/>
                    </a:solidFill>
                    <a:latin typeface="Cambria"/>
                    <a:ea typeface="Cambria"/>
                    <a:cs typeface="Cambria"/>
                  </a:rPr>
                  <a:t>P06 — P09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571500" y="361950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553212" y="3802380"/>
              <a:ext cx="4785741" cy="779145"/>
              <a:chOff x="553212" y="3802380"/>
              <a:chExt cx="4785741" cy="779145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553212" y="3802380"/>
                <a:ext cx="624169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III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34618" y="3936682"/>
                <a:ext cx="263960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中国阵营 · China Camp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38047" y="4257199"/>
                <a:ext cx="193878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DeepSeek $50B 领跑 · 中美双轨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72183" y="4085749"/>
                <a:ext cx="8667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spc="75" dirty="0">
                    <a:solidFill>
                      <a:schemeClr val="dk1"/>
                    </a:solidFill>
                    <a:latin typeface="Cambria"/>
                    <a:ea typeface="Cambria"/>
                    <a:cs typeface="Cambria"/>
                  </a:rPr>
                  <a:t>P10 — P11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571500" y="457200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</p:grpSp>
      <p:grpSp>
        <p:nvGrpSpPr>
          <p:cNvPr id="44" name="Group 44"/>
          <p:cNvGrpSpPr/>
          <p:nvPr/>
        </p:nvGrpSpPr>
        <p:grpSpPr>
          <a:xfrm>
            <a:off x="6268212" y="1897380"/>
            <a:ext cx="4785741" cy="2684145"/>
            <a:chOff x="6268212" y="1897380"/>
            <a:chExt cx="4785741" cy="2684145"/>
          </a:xfrm>
        </p:grpSpPr>
        <p:grpSp>
          <p:nvGrpSpPr>
            <p:cNvPr id="31" name="Group 31"/>
            <p:cNvGrpSpPr/>
            <p:nvPr/>
          </p:nvGrpSpPr>
          <p:grpSpPr>
            <a:xfrm>
              <a:off x="6268212" y="1897380"/>
              <a:ext cx="4785741" cy="779145"/>
              <a:chOff x="6268212" y="1897380"/>
              <a:chExt cx="4785741" cy="779145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268212" y="1897380"/>
                <a:ext cx="591525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3"/>
                    </a:solidFill>
                    <a:latin typeface="Cambria"/>
                    <a:ea typeface="Cambria"/>
                    <a:cs typeface="Cambria"/>
                  </a:rPr>
                  <a:t>IV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944868" y="2031682"/>
                <a:ext cx="32390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二线梯队 · The Second Tier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948297" y="2352199"/>
                <a:ext cx="224187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SSI · Perplexity · Mistral · Cohere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738851" y="2180749"/>
                <a:ext cx="3151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spc="75" dirty="0">
                    <a:solidFill>
                      <a:schemeClr val="dk1"/>
                    </a:solidFill>
                    <a:latin typeface="Cambria"/>
                    <a:ea typeface="Cambria"/>
                    <a:cs typeface="Cambria"/>
                  </a:rPr>
                  <a:t>P12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6286500" y="266700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6268212" y="2849880"/>
              <a:ext cx="4785741" cy="779145"/>
              <a:chOff x="6268212" y="2849880"/>
              <a:chExt cx="4785741" cy="779145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6268212" y="2849880"/>
                <a:ext cx="39566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3"/>
                    </a:solidFill>
                    <a:latin typeface="Cambria"/>
                    <a:ea typeface="Cambria"/>
                    <a:cs typeface="Cambria"/>
                  </a:rPr>
                  <a:t>V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944868" y="2984182"/>
                <a:ext cx="33599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基建与闭环 · Infrastructure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948297" y="3304699"/>
                <a:ext cx="183777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Nvidia 闭环 · Stargate $500B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187183" y="3133249"/>
                <a:ext cx="8667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spc="75" dirty="0">
                    <a:solidFill>
                      <a:schemeClr val="dk1"/>
                    </a:solidFill>
                    <a:latin typeface="Cambria"/>
                    <a:ea typeface="Cambria"/>
                    <a:cs typeface="Cambria"/>
                  </a:rPr>
                  <a:t>P13 — P16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6286500" y="361950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6268212" y="3802380"/>
              <a:ext cx="4785741" cy="779145"/>
              <a:chOff x="6268212" y="3802380"/>
              <a:chExt cx="4785741" cy="779145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268212" y="3802380"/>
                <a:ext cx="591525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600" b="1" dirty="0">
                    <a:solidFill>
                      <a:schemeClr val="accent3"/>
                    </a:solidFill>
                    <a:latin typeface="Cambria"/>
                    <a:ea typeface="Cambria"/>
                    <a:cs typeface="Cambria"/>
                  </a:rPr>
                  <a:t>VI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944868" y="3936682"/>
                <a:ext cx="283384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泡沫与判断 · The Bubble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948297" y="4257199"/>
                <a:ext cx="195422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Capex/Revenue 鸿沟 · 六大判断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187183" y="4085749"/>
                <a:ext cx="86677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spc="75" dirty="0">
                    <a:solidFill>
                      <a:schemeClr val="dk1"/>
                    </a:solidFill>
                    <a:latin typeface="Cambria"/>
                    <a:ea typeface="Cambria"/>
                    <a:cs typeface="Cambria"/>
                  </a:rPr>
                  <a:t>P17 — P20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6286500" y="457200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</p:grpSp>
      <p:grpSp>
        <p:nvGrpSpPr>
          <p:cNvPr id="48" name="Group 48"/>
          <p:cNvGrpSpPr/>
          <p:nvPr/>
        </p:nvGrpSpPr>
        <p:grpSpPr>
          <a:xfrm>
            <a:off x="566166" y="5715000"/>
            <a:ext cx="11054334" cy="663511"/>
            <a:chOff x="566166" y="5715000"/>
            <a:chExt cx="11054334" cy="663511"/>
          </a:xfrm>
        </p:grpSpPr>
        <p:sp>
          <p:nvSpPr>
            <p:cNvPr id="45" name="Line 45"/>
            <p:cNvSpPr/>
            <p:nvPr/>
          </p:nvSpPr>
          <p:spPr>
            <a:xfrm>
              <a:off x="571500" y="5715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66547" y="5943124"/>
              <a:ext cx="15017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阅读建议 / Reading note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66166" y="6173152"/>
              <a:ext cx="39162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每章约 3-5 分钟 · 推荐顺序阅读 · 数据均附 §VIII 来源列表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66738" y="6586538"/>
            <a:ext cx="11058525" cy="147638"/>
            <a:chOff x="566738" y="6586538"/>
            <a:chExt cx="11058525" cy="147638"/>
          </a:xfrm>
        </p:grpSpPr>
        <p:sp>
          <p:nvSpPr>
            <p:cNvPr id="49" name="TextBox 49"/>
            <p:cNvSpPr txBox="1"/>
            <p:nvPr/>
          </p:nvSpPr>
          <p:spPr>
            <a:xfrm>
              <a:off x="566738" y="6586538"/>
              <a:ext cx="311677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Capital, Compute, and the Closed Loop · 2026 Industry Briefing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03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7866690" cy="1095470"/>
            <a:chOff x="560832" y="444341"/>
            <a:chExt cx="7866690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24436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I · LANDSCAPE · 04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78666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2026 Q1 全球风投：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$297B</a:t>
              </a:r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 创纪录，AI 拿走 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81%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40678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Global VC Q1 2026 — four mega-deals carry the quarter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1809750"/>
            <a:ext cx="2667000" cy="2095500"/>
            <a:chOff x="571500" y="1809750"/>
            <a:chExt cx="2667000" cy="2095500"/>
          </a:xfrm>
        </p:grpSpPr>
        <p:sp>
          <p:nvSpPr>
            <p:cNvPr id="7" name="Rectangle 7"/>
            <p:cNvSpPr/>
            <p:nvPr/>
          </p:nvSpPr>
          <p:spPr>
            <a:xfrm>
              <a:off x="571500" y="1809750"/>
              <a:ext cx="2667000" cy="20955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18097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788194" y="2026444"/>
              <a:ext cx="157163" cy="157163"/>
              <a:chOff x="788194" y="2026444"/>
              <a:chExt cx="157163" cy="157163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88194" y="20264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93433" y="2078831"/>
                <a:ext cx="14668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6685" h="9525">
                    <a:moveTo>
                      <a:pt x="0" y="0"/>
                    </a:moveTo>
                    <a:lnTo>
                      <a:pt x="146685" y="0"/>
                    </a:ln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93433" y="2131219"/>
                <a:ext cx="14668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6685" h="9525">
                    <a:moveTo>
                      <a:pt x="0" y="0"/>
                    </a:moveTo>
                    <a:lnTo>
                      <a:pt x="146685" y="0"/>
                    </a:ln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32400" y="2026444"/>
                <a:ext cx="30010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30010" h="157163">
                    <a:moveTo>
                      <a:pt x="30010" y="0"/>
                    </a:moveTo>
                    <a:cubicBezTo>
                      <a:pt x="0" y="48090"/>
                      <a:pt x="0" y="109073"/>
                      <a:pt x="30010" y="157163"/>
                    </a:cubicBez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71141" y="2026444"/>
                <a:ext cx="30010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30010" h="157163">
                    <a:moveTo>
                      <a:pt x="0" y="0"/>
                    </a:moveTo>
                    <a:cubicBezTo>
                      <a:pt x="30010" y="48090"/>
                      <a:pt x="30010" y="109073"/>
                      <a:pt x="0" y="157163"/>
                    </a:cubicBez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61847" y="2056924"/>
              <a:ext cx="14222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8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单季 VC 总额 / Q1 VC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950" y="2465070"/>
              <a:ext cx="205179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Cambria"/>
                  <a:ea typeface="Cambria"/>
                  <a:cs typeface="Cambria"/>
                </a:rPr>
                <a:t>$297</a:t>
              </a:r>
              <a:r>
                <a:rPr lang="zh-CN" sz="2400" b="1" dirty="0">
                  <a:solidFill>
                    <a:schemeClr val="dk1"/>
                  </a:solidFill>
                  <a:latin typeface="Cambria"/>
                  <a:ea typeface="Cambria"/>
                  <a:cs typeface="Cambria"/>
                </a:rPr>
                <a:t>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7047" y="3323749"/>
              <a:ext cx="23850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单季历史最高 · Single-quarter record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7238" y="3578066"/>
              <a:ext cx="93648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 Crunchbase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429000" y="1809750"/>
            <a:ext cx="2667000" cy="2095500"/>
            <a:chOff x="3429000" y="1809750"/>
            <a:chExt cx="2667000" cy="2095500"/>
          </a:xfrm>
        </p:grpSpPr>
        <p:sp>
          <p:nvSpPr>
            <p:cNvPr id="20" name="Rectangle 20"/>
            <p:cNvSpPr/>
            <p:nvPr/>
          </p:nvSpPr>
          <p:spPr>
            <a:xfrm>
              <a:off x="3429000" y="1809750"/>
              <a:ext cx="2667000" cy="20955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3429000" y="18097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671888" y="2052638"/>
              <a:ext cx="104775" cy="104775"/>
              <a:chOff x="3671888" y="2052638"/>
              <a:chExt cx="104775" cy="10477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3759200" y="2139950"/>
                <a:ext cx="17463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3" y="13553"/>
                      <a:pt x="17463" y="8731"/>
                    </a:cubicBezTo>
                    <a:cubicBezTo>
                      <a:pt x="17463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671888" y="2052638"/>
                <a:ext cx="17463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3" y="13553"/>
                      <a:pt x="17463" y="8731"/>
                    </a:cubicBezTo>
                    <a:cubicBezTo>
                      <a:pt x="17463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671888" y="205263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104775"/>
                    </a:moveTo>
                    <a:lnTo>
                      <a:pt x="104775" y="0"/>
                    </a:ln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919347" y="2056924"/>
              <a:ext cx="1551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8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AI 占全季 VC / AI share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00450" y="2465070"/>
              <a:ext cx="119408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Cambria"/>
                  <a:ea typeface="Cambria"/>
                  <a:cs typeface="Cambria"/>
                </a:rPr>
                <a:t>81</a:t>
              </a:r>
              <a:r>
                <a:rPr lang="zh-CN" sz="2400" b="1" dirty="0">
                  <a:solidFill>
                    <a:schemeClr val="dk1"/>
                  </a:solidFill>
                  <a:latin typeface="Cambria"/>
                  <a:ea typeface="Cambria"/>
                  <a:cs typeface="Cambria"/>
                </a:rPr>
                <a:t>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14547" y="3323749"/>
              <a:ext cx="138543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约 </a:t>
              </a:r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$242B</a:t>
              </a: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流入 AI 行业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14738" y="3578066"/>
              <a:ext cx="159105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 Crunchbase / PitchBook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71500" y="4095750"/>
            <a:ext cx="2667000" cy="2095500"/>
            <a:chOff x="571500" y="4095750"/>
            <a:chExt cx="2667000" cy="2095500"/>
          </a:xfrm>
        </p:grpSpPr>
        <p:sp>
          <p:nvSpPr>
            <p:cNvPr id="31" name="Rectangle 31"/>
            <p:cNvSpPr/>
            <p:nvPr/>
          </p:nvSpPr>
          <p:spPr>
            <a:xfrm>
              <a:off x="571500" y="4095750"/>
              <a:ext cx="2667000" cy="20955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571500" y="40957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23119" y="4312444"/>
              <a:ext cx="87313" cy="157163"/>
              <a:chOff x="823119" y="4312444"/>
              <a:chExt cx="87313" cy="15716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23119" y="4338638"/>
                <a:ext cx="87313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104775">
                    <a:moveTo>
                      <a:pt x="84693" y="17463"/>
                    </a:moveTo>
                    <a:cubicBezTo>
                      <a:pt x="81138" y="7374"/>
                      <a:pt x="71805" y="461"/>
                      <a:pt x="61119" y="0"/>
                    </a:cubicBezTo>
                    <a:lnTo>
                      <a:pt x="26194" y="0"/>
                    </a:lnTo>
                    <a:cubicBezTo>
                      <a:pt x="11727" y="0"/>
                      <a:pt x="0" y="11727"/>
                      <a:pt x="0" y="26194"/>
                    </a:cubicBezTo>
                    <a:cubicBezTo>
                      <a:pt x="0" y="40660"/>
                      <a:pt x="11727" y="52388"/>
                      <a:pt x="26194" y="52388"/>
                    </a:cubicBezTo>
                    <a:lnTo>
                      <a:pt x="61119" y="52388"/>
                    </a:lnTo>
                    <a:cubicBezTo>
                      <a:pt x="75585" y="52388"/>
                      <a:pt x="87313" y="64115"/>
                      <a:pt x="87313" y="78581"/>
                    </a:cubicBezTo>
                    <a:cubicBezTo>
                      <a:pt x="87313" y="93048"/>
                      <a:pt x="75585" y="104775"/>
                      <a:pt x="61119" y="104775"/>
                    </a:cubicBezTo>
                    <a:lnTo>
                      <a:pt x="26194" y="104775"/>
                    </a:lnTo>
                    <a:cubicBezTo>
                      <a:pt x="15507" y="104314"/>
                      <a:pt x="6175" y="97401"/>
                      <a:pt x="2619" y="87313"/>
                    </a:cubicBez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66775" y="4312444"/>
                <a:ext cx="9525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3">
                    <a:moveTo>
                      <a:pt x="0" y="0"/>
                    </a:moveTo>
                    <a:lnTo>
                      <a:pt x="0" y="26194"/>
                    </a:lnTo>
                    <a:moveTo>
                      <a:pt x="0" y="130969"/>
                    </a:moveTo>
                    <a:lnTo>
                      <a:pt x="0" y="157163"/>
                    </a:ln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061847" y="4342924"/>
              <a:ext cx="175635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8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Top 4 笔大单 / Top 4 deals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2950" y="4751070"/>
              <a:ext cx="205179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Cambria"/>
                  <a:ea typeface="Cambria"/>
                  <a:cs typeface="Cambria"/>
                </a:rPr>
                <a:t>$188</a:t>
              </a:r>
              <a:r>
                <a:rPr lang="zh-CN" sz="2400" b="1" dirty="0">
                  <a:solidFill>
                    <a:schemeClr val="dk1"/>
                  </a:solidFill>
                  <a:latin typeface="Cambria"/>
                  <a:ea typeface="Cambria"/>
                  <a:cs typeface="Cambria"/>
                </a:rPr>
                <a:t>B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57047" y="5609749"/>
              <a:ext cx="21504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OpenAI · Anthropic · xAI · Waymo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7238" y="5864066"/>
              <a:ext cx="171677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 PitchBook Q1 2026 Report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429000" y="4095750"/>
            <a:ext cx="2667000" cy="2095500"/>
            <a:chOff x="3429000" y="4095750"/>
            <a:chExt cx="2667000" cy="2095500"/>
          </a:xfrm>
        </p:grpSpPr>
        <p:sp>
          <p:nvSpPr>
            <p:cNvPr id="41" name="Rectangle 41"/>
            <p:cNvSpPr/>
            <p:nvPr/>
          </p:nvSpPr>
          <p:spPr>
            <a:xfrm>
              <a:off x="3429000" y="4095750"/>
              <a:ext cx="2667000" cy="2095500"/>
            </a:xfrm>
            <a:prstGeom prst="roundRect">
              <a:avLst>
                <a:gd name="adj" fmla="val 272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3429000" y="4095750"/>
              <a:ext cx="9525" cy="952500"/>
            </a:xfrm>
            <a:custGeom>
              <a:avLst/>
              <a:gdLst/>
              <a:ahLst/>
              <a:cxnLst/>
              <a:rect l="l" t="t" r="r" b="b"/>
              <a:pathLst>
                <a:path w="9525" h="952500">
                  <a:moveTo>
                    <a:pt x="0" y="0"/>
                  </a:moveTo>
                  <a:lnTo>
                    <a:pt x="0" y="9525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3645694" y="4312444"/>
              <a:ext cx="157163" cy="157163"/>
              <a:chOff x="3645694" y="4312444"/>
              <a:chExt cx="157163" cy="15716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3715544" y="4382294"/>
                <a:ext cx="17463" cy="17463"/>
              </a:xfrm>
              <a:custGeom>
                <a:avLst/>
                <a:gdLst/>
                <a:ahLst/>
                <a:cxnLst/>
                <a:rect l="l" t="t" r="r" b="b"/>
                <a:pathLst>
                  <a:path w="17463" h="17463">
                    <a:moveTo>
                      <a:pt x="0" y="8731"/>
                    </a:moveTo>
                    <a:cubicBezTo>
                      <a:pt x="0" y="13553"/>
                      <a:pt x="3909" y="17463"/>
                      <a:pt x="8731" y="17463"/>
                    </a:cubicBezTo>
                    <a:cubicBezTo>
                      <a:pt x="13553" y="17463"/>
                      <a:pt x="17463" y="13553"/>
                      <a:pt x="17463" y="8731"/>
                    </a:cubicBezTo>
                    <a:cubicBezTo>
                      <a:pt x="17463" y="3909"/>
                      <a:pt x="13553" y="0"/>
                      <a:pt x="8731" y="0"/>
                    </a:cubicBezTo>
                    <a:cubicBezTo>
                      <a:pt x="3909" y="0"/>
                      <a:pt x="0" y="3909"/>
                      <a:pt x="0" y="8731"/>
                    </a:cubicBez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3680619" y="4347369"/>
                <a:ext cx="87313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87313" h="87313">
                    <a:moveTo>
                      <a:pt x="0" y="43656"/>
                    </a:moveTo>
                    <a:cubicBezTo>
                      <a:pt x="0" y="67767"/>
                      <a:pt x="19546" y="87313"/>
                      <a:pt x="43656" y="87313"/>
                    </a:cubicBezTo>
                    <a:cubicBezTo>
                      <a:pt x="67767" y="87313"/>
                      <a:pt x="87313" y="67767"/>
                      <a:pt x="87313" y="43656"/>
                    </a:cubicBezTo>
                    <a:cubicBezTo>
                      <a:pt x="87313" y="19546"/>
                      <a:pt x="67767" y="0"/>
                      <a:pt x="43656" y="0"/>
                    </a:cubicBezTo>
                    <a:cubicBezTo>
                      <a:pt x="19546" y="0"/>
                      <a:pt x="0" y="19546"/>
                      <a:pt x="0" y="43656"/>
                    </a:cubicBez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3645694" y="4312444"/>
                <a:ext cx="157163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157163" h="157163">
                    <a:moveTo>
                      <a:pt x="0" y="78581"/>
                    </a:moveTo>
                    <a:cubicBezTo>
                      <a:pt x="0" y="121981"/>
                      <a:pt x="35182" y="157163"/>
                      <a:pt x="78581" y="157163"/>
                    </a:cubicBezTo>
                    <a:cubicBezTo>
                      <a:pt x="121981" y="157163"/>
                      <a:pt x="157163" y="121981"/>
                      <a:pt x="157163" y="78581"/>
                    </a:cubicBezTo>
                    <a:cubicBezTo>
                      <a:pt x="157163" y="35182"/>
                      <a:pt x="121981" y="0"/>
                      <a:pt x="78581" y="0"/>
                    </a:cubicBezTo>
                    <a:cubicBezTo>
                      <a:pt x="35182" y="0"/>
                      <a:pt x="0" y="35182"/>
                      <a:pt x="0" y="78581"/>
                    </a:cubicBezTo>
                  </a:path>
                </a:pathLst>
              </a:custGeom>
              <a:noFill/>
              <a:ln w="13097">
                <a:solidFill>
                  <a:schemeClr val="dk2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3919347" y="4342924"/>
              <a:ext cx="15665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spc="38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集中度 / Concentration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600450" y="4751070"/>
              <a:ext cx="1194084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Cambria"/>
                  <a:ea typeface="Cambria"/>
                  <a:cs typeface="Cambria"/>
                </a:rPr>
                <a:t>65</a:t>
              </a:r>
              <a:r>
                <a:rPr lang="zh-CN" sz="2400" b="1" dirty="0">
                  <a:solidFill>
                    <a:schemeClr val="dk1"/>
                  </a:solidFill>
                  <a:latin typeface="Cambria"/>
                  <a:ea typeface="Cambria"/>
                  <a:cs typeface="Cambria"/>
                </a:rPr>
                <a:t>%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3614547" y="5609749"/>
              <a:ext cx="15786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Top 4 占全季全球 VC 比例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3614738" y="5864066"/>
              <a:ext cx="11134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钱不是更多，是更集中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477000" y="1809750"/>
            <a:ext cx="4584192" cy="4401312"/>
            <a:chOff x="6477000" y="1809750"/>
            <a:chExt cx="4584192" cy="4401312"/>
          </a:xfrm>
        </p:grpSpPr>
        <p:sp>
          <p:nvSpPr>
            <p:cNvPr id="52" name="Line 52"/>
            <p:cNvSpPr/>
            <p:nvPr/>
          </p:nvSpPr>
          <p:spPr>
            <a:xfrm>
              <a:off x="6477000" y="1809750"/>
              <a:ext cx="9525" cy="4381500"/>
            </a:xfrm>
            <a:custGeom>
              <a:avLst/>
              <a:gdLst/>
              <a:ahLst/>
              <a:cxnLst/>
              <a:rect l="l" t="t" r="r" b="b"/>
              <a:pathLst>
                <a:path w="9525" h="4381500">
                  <a:moveTo>
                    <a:pt x="0" y="0"/>
                  </a:moveTo>
                  <a:lnTo>
                    <a:pt x="0" y="4381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662738" y="2006441"/>
              <a:ext cx="155571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EDITORIAL NOTE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6667500" y="22098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59118" y="2488882"/>
              <a:ext cx="1064514" cy="6275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钱没变多，</a:t>
              </a:r>
              <a:br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是更集中。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62166" y="3506152"/>
              <a:ext cx="2630996" cy="1253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"While more money than ever is being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invested in the private markets, that's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thanks to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larger checks, not more</a:t>
              </a:r>
              <a:br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of them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— capital concentrated into a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 few companies and a single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industry."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2738" y="5189220"/>
              <a:ext cx="24526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— Crunchbase, Q1 2026 venture report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662547" y="5715000"/>
              <a:ext cx="4398645" cy="496062"/>
              <a:chOff x="6662547" y="5715000"/>
              <a:chExt cx="4398645" cy="496062"/>
            </a:xfrm>
          </p:grpSpPr>
          <p:sp>
            <p:nvSpPr>
              <p:cNvPr id="58" name="Line 58"/>
              <p:cNvSpPr/>
              <p:nvPr/>
            </p:nvSpPr>
            <p:spPr>
              <a:xfrm>
                <a:off x="6667500" y="5715000"/>
                <a:ext cx="438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9525">
                    <a:moveTo>
                      <a:pt x="0" y="0"/>
                    </a:moveTo>
                    <a:lnTo>
                      <a:pt x="4381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662547" y="5895499"/>
                <a:ext cx="14038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Cambria"/>
                    <a:ea typeface="SimSun"/>
                    <a:cs typeface="Cambria"/>
                  </a:rPr>
                  <a:t>三大模型公司单季合计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9839858" y="5741670"/>
                <a:ext cx="1221334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240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$172B</a:t>
                </a:r>
              </a:p>
            </p:txBody>
          </p:sp>
        </p:grpSp>
      </p:grpSp>
      <p:grpSp>
        <p:nvGrpSpPr>
          <p:cNvPr id="66" name="Group 66"/>
          <p:cNvGrpSpPr/>
          <p:nvPr/>
        </p:nvGrpSpPr>
        <p:grpSpPr>
          <a:xfrm>
            <a:off x="566738" y="6477000"/>
            <a:ext cx="11058525" cy="257176"/>
            <a:chOff x="566738" y="6477000"/>
            <a:chExt cx="11058525" cy="257176"/>
          </a:xfrm>
        </p:grpSpPr>
        <p:sp>
          <p:nvSpPr>
            <p:cNvPr id="63" name="Line 63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66738" y="6586538"/>
              <a:ext cx="290973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Crunchbase · PitchBook Q1 2026 Venture Reports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04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4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3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2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7483489" cy="1095470"/>
            <a:chOff x="560832" y="444341"/>
            <a:chExt cx="7483489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244366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I · LANDSCAPE · 05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74834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四家 Hyperscaler 2026 Capex：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$725B</a:t>
              </a:r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，同比 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+77%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5487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Microsoft · Alphabet · Amazon · Meta — combined AI infrastructure capex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25004" y="1551622"/>
            <a:ext cx="6871246" cy="4477417"/>
            <a:chOff x="1225004" y="1551622"/>
            <a:chExt cx="6871246" cy="4477417"/>
          </a:xfrm>
        </p:grpSpPr>
        <p:sp>
          <p:nvSpPr>
            <p:cNvPr id="7" name="Line 7"/>
            <p:cNvSpPr/>
            <p:nvPr/>
          </p:nvSpPr>
          <p:spPr>
            <a:xfrm>
              <a:off x="1714500" y="19050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276225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36195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10" name="Line 10"/>
            <p:cNvSpPr/>
            <p:nvPr/>
          </p:nvSpPr>
          <p:spPr>
            <a:xfrm>
              <a:off x="1714500" y="447675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11" name="Line 11"/>
            <p:cNvSpPr/>
            <p:nvPr/>
          </p:nvSpPr>
          <p:spPr>
            <a:xfrm>
              <a:off x="1714500" y="53340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25004" y="1863566"/>
              <a:ext cx="399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$200B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25004" y="2720816"/>
              <a:ext cx="399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$150B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25004" y="3578066"/>
              <a:ext cx="399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$100B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02901" y="4435316"/>
              <a:ext cx="3211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$50B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86187" y="5292566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$0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714500" y="1905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9525">
              <a:solidFill>
                <a:srgbClr val="5C585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714500" y="53340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9525">
              <a:solidFill>
                <a:srgbClr val="5C5852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2266083" y="1551622"/>
              <a:ext cx="992334" cy="4477417"/>
              <a:chOff x="2266083" y="1551622"/>
              <a:chExt cx="992334" cy="4477417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2286000" y="1905000"/>
                <a:ext cx="952500" cy="3429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266083" y="1551622"/>
                <a:ext cx="99233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chemeClr val="accent1"/>
                    </a:solidFill>
                    <a:latin typeface="Cambria"/>
                    <a:ea typeface="Cambria"/>
                    <a:cs typeface="Cambria"/>
                  </a:rPr>
                  <a:t>$200B</a:t>
                </a:r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2647950" y="5458797"/>
                <a:ext cx="228600" cy="21111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11118">
                    <a:moveTo>
                      <a:pt x="429" y="161144"/>
                    </a:moveTo>
                    <a:cubicBezTo>
                      <a:pt x="1114" y="160039"/>
                      <a:pt x="2210" y="159963"/>
                      <a:pt x="3743" y="160934"/>
                    </a:cubicBezTo>
                    <a:cubicBezTo>
                      <a:pt x="38376" y="181032"/>
                      <a:pt x="76076" y="191091"/>
                      <a:pt x="116805" y="191091"/>
                    </a:cubicBezTo>
                    <a:cubicBezTo>
                      <a:pt x="143970" y="191091"/>
                      <a:pt x="170793" y="186014"/>
                      <a:pt x="197263" y="175898"/>
                    </a:cubicBezTo>
                    <a:lnTo>
                      <a:pt x="200263" y="174565"/>
                    </a:lnTo>
                    <a:cubicBezTo>
                      <a:pt x="201578" y="173993"/>
                      <a:pt x="202492" y="173612"/>
                      <a:pt x="203054" y="173326"/>
                    </a:cubicBezTo>
                    <a:cubicBezTo>
                      <a:pt x="205207" y="172488"/>
                      <a:pt x="206769" y="172888"/>
                      <a:pt x="208055" y="174565"/>
                    </a:cubicBezTo>
                    <a:cubicBezTo>
                      <a:pt x="209198" y="176222"/>
                      <a:pt x="208912" y="177765"/>
                      <a:pt x="206912" y="179137"/>
                    </a:cubicBezTo>
                    <a:cubicBezTo>
                      <a:pt x="204473" y="180946"/>
                      <a:pt x="201197" y="183042"/>
                      <a:pt x="197329" y="185366"/>
                    </a:cubicBezTo>
                    <a:cubicBezTo>
                      <a:pt x="185480" y="192443"/>
                      <a:pt x="172183" y="197901"/>
                      <a:pt x="157467" y="201806"/>
                    </a:cubicBezTo>
                    <a:cubicBezTo>
                      <a:pt x="122999" y="211118"/>
                      <a:pt x="86458" y="209193"/>
                      <a:pt x="53159" y="196310"/>
                    </a:cubicBezTo>
                    <a:cubicBezTo>
                      <a:pt x="34145" y="188861"/>
                      <a:pt x="16626" y="178053"/>
                      <a:pt x="1438" y="164401"/>
                    </a:cubicBezTo>
                    <a:cubicBezTo>
                      <a:pt x="486" y="163697"/>
                      <a:pt x="0" y="162973"/>
                      <a:pt x="0" y="162306"/>
                    </a:cubicBezTo>
                    <a:cubicBezTo>
                      <a:pt x="0" y="161858"/>
                      <a:pt x="200" y="161449"/>
                      <a:pt x="486" y="161068"/>
                    </a:cubicBezTo>
                    <a:close/>
                    <a:moveTo>
                      <a:pt x="62960" y="101918"/>
                    </a:moveTo>
                    <a:cubicBezTo>
                      <a:pt x="62960" y="92345"/>
                      <a:pt x="65313" y="84172"/>
                      <a:pt x="70037" y="77372"/>
                    </a:cubicBezTo>
                    <a:cubicBezTo>
                      <a:pt x="74752" y="70609"/>
                      <a:pt x="81182" y="65465"/>
                      <a:pt x="89468" y="61989"/>
                    </a:cubicBezTo>
                    <a:cubicBezTo>
                      <a:pt x="97050" y="58798"/>
                      <a:pt x="106194" y="56512"/>
                      <a:pt x="117205" y="55131"/>
                    </a:cubicBezTo>
                    <a:cubicBezTo>
                      <a:pt x="120920" y="54693"/>
                      <a:pt x="127044" y="54150"/>
                      <a:pt x="135493" y="53473"/>
                    </a:cubicBezTo>
                    <a:lnTo>
                      <a:pt x="135493" y="49949"/>
                    </a:lnTo>
                    <a:cubicBezTo>
                      <a:pt x="135493" y="41091"/>
                      <a:pt x="134493" y="35109"/>
                      <a:pt x="132636" y="32090"/>
                    </a:cubicBezTo>
                    <a:cubicBezTo>
                      <a:pt x="129759" y="27994"/>
                      <a:pt x="125206" y="25898"/>
                      <a:pt x="118920" y="25898"/>
                    </a:cubicBezTo>
                    <a:lnTo>
                      <a:pt x="117186" y="25898"/>
                    </a:lnTo>
                    <a:cubicBezTo>
                      <a:pt x="112614" y="26337"/>
                      <a:pt x="108652" y="27765"/>
                      <a:pt x="105318" y="30280"/>
                    </a:cubicBezTo>
                    <a:cubicBezTo>
                      <a:pt x="101984" y="32852"/>
                      <a:pt x="99841" y="36281"/>
                      <a:pt x="98889" y="40719"/>
                    </a:cubicBezTo>
                    <a:cubicBezTo>
                      <a:pt x="98317" y="43577"/>
                      <a:pt x="96926" y="45149"/>
                      <a:pt x="94745" y="45577"/>
                    </a:cubicBezTo>
                    <a:lnTo>
                      <a:pt x="70742" y="42577"/>
                    </a:lnTo>
                    <a:cubicBezTo>
                      <a:pt x="68380" y="42005"/>
                      <a:pt x="67199" y="40862"/>
                      <a:pt x="67199" y="38862"/>
                    </a:cubicBezTo>
                    <a:cubicBezTo>
                      <a:pt x="67199" y="38424"/>
                      <a:pt x="67266" y="38005"/>
                      <a:pt x="67408" y="37433"/>
                    </a:cubicBezTo>
                    <a:cubicBezTo>
                      <a:pt x="69761" y="25146"/>
                      <a:pt x="75552" y="16002"/>
                      <a:pt x="84744" y="10001"/>
                    </a:cubicBezTo>
                    <a:cubicBezTo>
                      <a:pt x="94040" y="4134"/>
                      <a:pt x="104746" y="714"/>
                      <a:pt x="117034" y="0"/>
                    </a:cubicBezTo>
                    <a:lnTo>
                      <a:pt x="122177" y="0"/>
                    </a:lnTo>
                    <a:cubicBezTo>
                      <a:pt x="137893" y="0"/>
                      <a:pt x="150343" y="4134"/>
                      <a:pt x="159210" y="12287"/>
                    </a:cubicBezTo>
                    <a:cubicBezTo>
                      <a:pt x="160496" y="13716"/>
                      <a:pt x="161782" y="15145"/>
                      <a:pt x="163068" y="16859"/>
                    </a:cubicBezTo>
                    <a:cubicBezTo>
                      <a:pt x="164211" y="18431"/>
                      <a:pt x="165202" y="19850"/>
                      <a:pt x="165764" y="21146"/>
                    </a:cubicBezTo>
                    <a:cubicBezTo>
                      <a:pt x="166478" y="22422"/>
                      <a:pt x="167192" y="24289"/>
                      <a:pt x="167621" y="26575"/>
                    </a:cubicBezTo>
                    <a:cubicBezTo>
                      <a:pt x="168192" y="28994"/>
                      <a:pt x="168621" y="30575"/>
                      <a:pt x="168907" y="31433"/>
                    </a:cubicBezTo>
                    <a:cubicBezTo>
                      <a:pt x="169193" y="32423"/>
                      <a:pt x="169497" y="34290"/>
                      <a:pt x="169631" y="37290"/>
                    </a:cubicBezTo>
                    <a:cubicBezTo>
                      <a:pt x="169726" y="40272"/>
                      <a:pt x="169821" y="41986"/>
                      <a:pt x="169821" y="42558"/>
                    </a:cubicBezTo>
                    <a:lnTo>
                      <a:pt x="169821" y="92850"/>
                    </a:lnTo>
                    <a:cubicBezTo>
                      <a:pt x="169821" y="96431"/>
                      <a:pt x="170393" y="99708"/>
                      <a:pt x="171393" y="102718"/>
                    </a:cubicBezTo>
                    <a:cubicBezTo>
                      <a:pt x="172393" y="105699"/>
                      <a:pt x="173393" y="107861"/>
                      <a:pt x="174393" y="109137"/>
                    </a:cubicBezTo>
                    <a:lnTo>
                      <a:pt x="179251" y="115557"/>
                    </a:lnTo>
                    <a:cubicBezTo>
                      <a:pt x="180108" y="116853"/>
                      <a:pt x="180546" y="117996"/>
                      <a:pt x="180546" y="118986"/>
                    </a:cubicBezTo>
                    <a:cubicBezTo>
                      <a:pt x="180546" y="120129"/>
                      <a:pt x="179975" y="121139"/>
                      <a:pt x="178832" y="121977"/>
                    </a:cubicBezTo>
                    <a:cubicBezTo>
                      <a:pt x="167402" y="131978"/>
                      <a:pt x="161115" y="137408"/>
                      <a:pt x="160134" y="138265"/>
                    </a:cubicBezTo>
                    <a:cubicBezTo>
                      <a:pt x="158563" y="139551"/>
                      <a:pt x="156562" y="139694"/>
                      <a:pt x="154134" y="138694"/>
                    </a:cubicBezTo>
                    <a:cubicBezTo>
                      <a:pt x="152371" y="137220"/>
                      <a:pt x="150698" y="135642"/>
                      <a:pt x="149123" y="133969"/>
                    </a:cubicBezTo>
                    <a:lnTo>
                      <a:pt x="146171" y="130664"/>
                    </a:lnTo>
                    <a:cubicBezTo>
                      <a:pt x="145127" y="129359"/>
                      <a:pt x="144120" y="128025"/>
                      <a:pt x="143151" y="126663"/>
                    </a:cubicBezTo>
                    <a:lnTo>
                      <a:pt x="140294" y="122520"/>
                    </a:lnTo>
                    <a:cubicBezTo>
                      <a:pt x="132578" y="130959"/>
                      <a:pt x="125025" y="136236"/>
                      <a:pt x="117434" y="138379"/>
                    </a:cubicBezTo>
                    <a:cubicBezTo>
                      <a:pt x="112728" y="139808"/>
                      <a:pt x="107023" y="140541"/>
                      <a:pt x="100003" y="140541"/>
                    </a:cubicBezTo>
                    <a:cubicBezTo>
                      <a:pt x="89430" y="140541"/>
                      <a:pt x="80572" y="137274"/>
                      <a:pt x="73714" y="130693"/>
                    </a:cubicBezTo>
                    <a:cubicBezTo>
                      <a:pt x="66856" y="124120"/>
                      <a:pt x="63427" y="114833"/>
                      <a:pt x="63427" y="102689"/>
                    </a:cubicBezTo>
                    <a:lnTo>
                      <a:pt x="62951" y="101965"/>
                    </a:lnTo>
                    <a:close/>
                    <a:moveTo>
                      <a:pt x="98708" y="97746"/>
                    </a:moveTo>
                    <a:cubicBezTo>
                      <a:pt x="98708" y="103137"/>
                      <a:pt x="100041" y="107461"/>
                      <a:pt x="102756" y="110738"/>
                    </a:cubicBezTo>
                    <a:cubicBezTo>
                      <a:pt x="105470" y="113976"/>
                      <a:pt x="109185" y="115614"/>
                      <a:pt x="113757" y="115614"/>
                    </a:cubicBezTo>
                    <a:cubicBezTo>
                      <a:pt x="114186" y="115614"/>
                      <a:pt x="114767" y="115548"/>
                      <a:pt x="115614" y="115424"/>
                    </a:cubicBezTo>
                    <a:cubicBezTo>
                      <a:pt x="116472" y="115272"/>
                      <a:pt x="116891" y="115205"/>
                      <a:pt x="117196" y="115205"/>
                    </a:cubicBezTo>
                    <a:cubicBezTo>
                      <a:pt x="123044" y="113681"/>
                      <a:pt x="127483" y="109938"/>
                      <a:pt x="130759" y="103984"/>
                    </a:cubicBezTo>
                    <a:cubicBezTo>
                      <a:pt x="132331" y="101317"/>
                      <a:pt x="133474" y="98460"/>
                      <a:pt x="134188" y="95317"/>
                    </a:cubicBezTo>
                    <a:cubicBezTo>
                      <a:pt x="135045" y="92269"/>
                      <a:pt x="135331" y="89697"/>
                      <a:pt x="135474" y="87697"/>
                    </a:cubicBezTo>
                    <a:cubicBezTo>
                      <a:pt x="135617" y="85839"/>
                      <a:pt x="135617" y="82553"/>
                      <a:pt x="135617" y="78124"/>
                    </a:cubicBezTo>
                    <a:lnTo>
                      <a:pt x="135617" y="72981"/>
                    </a:lnTo>
                    <a:cubicBezTo>
                      <a:pt x="127616" y="72981"/>
                      <a:pt x="121482" y="73552"/>
                      <a:pt x="117329" y="74695"/>
                    </a:cubicBezTo>
                    <a:cubicBezTo>
                      <a:pt x="105185" y="78124"/>
                      <a:pt x="99041" y="85839"/>
                      <a:pt x="99041" y="97841"/>
                    </a:cubicBezTo>
                    <a:lnTo>
                      <a:pt x="98708" y="97650"/>
                    </a:lnTo>
                    <a:close/>
                    <a:moveTo>
                      <a:pt x="185976" y="164678"/>
                    </a:moveTo>
                    <a:cubicBezTo>
                      <a:pt x="186261" y="164106"/>
                      <a:pt x="186690" y="163630"/>
                      <a:pt x="187233" y="163058"/>
                    </a:cubicBezTo>
                    <a:cubicBezTo>
                      <a:pt x="190681" y="160744"/>
                      <a:pt x="194034" y="159153"/>
                      <a:pt x="197234" y="158296"/>
                    </a:cubicBezTo>
                    <a:cubicBezTo>
                      <a:pt x="202262" y="157019"/>
                      <a:pt x="207406" y="156253"/>
                      <a:pt x="212588" y="156010"/>
                    </a:cubicBezTo>
                    <a:cubicBezTo>
                      <a:pt x="213922" y="155896"/>
                      <a:pt x="215255" y="156010"/>
                      <a:pt x="216494" y="156296"/>
                    </a:cubicBezTo>
                    <a:cubicBezTo>
                      <a:pt x="222685" y="156867"/>
                      <a:pt x="226495" y="157896"/>
                      <a:pt x="227657" y="159439"/>
                    </a:cubicBezTo>
                    <a:cubicBezTo>
                      <a:pt x="228257" y="160296"/>
                      <a:pt x="228600" y="161611"/>
                      <a:pt x="228600" y="163154"/>
                    </a:cubicBezTo>
                    <a:lnTo>
                      <a:pt x="228600" y="164582"/>
                    </a:lnTo>
                    <a:cubicBezTo>
                      <a:pt x="228600" y="169440"/>
                      <a:pt x="227181" y="175155"/>
                      <a:pt x="224561" y="181727"/>
                    </a:cubicBezTo>
                    <a:cubicBezTo>
                      <a:pt x="221913" y="188300"/>
                      <a:pt x="218237" y="193615"/>
                      <a:pt x="213551" y="197729"/>
                    </a:cubicBezTo>
                    <a:cubicBezTo>
                      <a:pt x="212855" y="198301"/>
                      <a:pt x="212217" y="198587"/>
                      <a:pt x="211674" y="198587"/>
                    </a:cubicBezTo>
                    <a:cubicBezTo>
                      <a:pt x="211388" y="198587"/>
                      <a:pt x="211103" y="198587"/>
                      <a:pt x="210817" y="198472"/>
                    </a:cubicBezTo>
                    <a:cubicBezTo>
                      <a:pt x="209960" y="198053"/>
                      <a:pt x="209798" y="197329"/>
                      <a:pt x="210207" y="196186"/>
                    </a:cubicBezTo>
                    <a:cubicBezTo>
                      <a:pt x="215351" y="184185"/>
                      <a:pt x="217884" y="175774"/>
                      <a:pt x="217884" y="171040"/>
                    </a:cubicBezTo>
                    <a:cubicBezTo>
                      <a:pt x="217884" y="169612"/>
                      <a:pt x="217599" y="168469"/>
                      <a:pt x="217056" y="167764"/>
                    </a:cubicBezTo>
                    <a:cubicBezTo>
                      <a:pt x="215675" y="166183"/>
                      <a:pt x="211817" y="165316"/>
                      <a:pt x="205397" y="165316"/>
                    </a:cubicBezTo>
                    <a:cubicBezTo>
                      <a:pt x="203083" y="165316"/>
                      <a:pt x="200320" y="165468"/>
                      <a:pt x="197110" y="165754"/>
                    </a:cubicBezTo>
                    <a:cubicBezTo>
                      <a:pt x="193653" y="166183"/>
                      <a:pt x="190443" y="166611"/>
                      <a:pt x="187585" y="167040"/>
                    </a:cubicBezTo>
                    <a:cubicBezTo>
                      <a:pt x="186728" y="167040"/>
                      <a:pt x="186176" y="166907"/>
                      <a:pt x="185871" y="166621"/>
                    </a:cubicBezTo>
                    <a:cubicBezTo>
                      <a:pt x="185585" y="166335"/>
                      <a:pt x="185528" y="166173"/>
                      <a:pt x="185680" y="165887"/>
                    </a:cubicBezTo>
                    <a:cubicBezTo>
                      <a:pt x="185680" y="165725"/>
                      <a:pt x="185738" y="165602"/>
                      <a:pt x="185871" y="165287"/>
                    </a:cubicBezTo>
                    <a:lnTo>
                      <a:pt x="185871" y="164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2493442" y="58383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行业最高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690031" y="1723072"/>
              <a:ext cx="1097189" cy="4305967"/>
              <a:chOff x="3690031" y="1723072"/>
              <a:chExt cx="1097189" cy="4305967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762375" y="2076450"/>
                <a:ext cx="952500" cy="325755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742458" y="1723072"/>
                <a:ext cx="99233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chemeClr val="accent1"/>
                    </a:solidFill>
                    <a:latin typeface="Cambria"/>
                    <a:ea typeface="Cambria"/>
                    <a:cs typeface="Cambria"/>
                  </a:rPr>
                  <a:t>$190B</a:t>
                </a: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4124325" y="54483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0"/>
                    </a:moveTo>
                    <a:lnTo>
                      <a:pt x="0" y="108661"/>
                    </a:lnTo>
                    <a:lnTo>
                      <a:pt x="108661" y="108661"/>
                    </a:lnTo>
                    <a:lnTo>
                      <a:pt x="108661" y="0"/>
                    </a:lnTo>
                    <a:close/>
                    <a:moveTo>
                      <a:pt x="119958" y="0"/>
                    </a:moveTo>
                    <a:lnTo>
                      <a:pt x="119958" y="108661"/>
                    </a:lnTo>
                    <a:lnTo>
                      <a:pt x="228600" y="108661"/>
                    </a:lnTo>
                    <a:lnTo>
                      <a:pt x="228600" y="0"/>
                    </a:lnTo>
                    <a:close/>
                    <a:moveTo>
                      <a:pt x="0" y="119958"/>
                    </a:moveTo>
                    <a:lnTo>
                      <a:pt x="0" y="228600"/>
                    </a:lnTo>
                    <a:lnTo>
                      <a:pt x="108661" y="228600"/>
                    </a:lnTo>
                    <a:lnTo>
                      <a:pt x="108661" y="119958"/>
                    </a:lnTo>
                    <a:close/>
                    <a:moveTo>
                      <a:pt x="119958" y="119958"/>
                    </a:moveTo>
                    <a:lnTo>
                      <a:pt x="119958" y="228600"/>
                    </a:lnTo>
                    <a:lnTo>
                      <a:pt x="228600" y="228600"/>
                    </a:lnTo>
                    <a:lnTo>
                      <a:pt x="228600" y="1199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690031" y="5838349"/>
                <a:ext cx="10971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含 $25B 存储芯片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218833" y="1723072"/>
              <a:ext cx="992334" cy="4305967"/>
              <a:chOff x="5218833" y="1723072"/>
              <a:chExt cx="992334" cy="4305967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238750" y="2076450"/>
                <a:ext cx="952500" cy="325755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218833" y="1723072"/>
                <a:ext cx="992334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chemeClr val="accent1"/>
                    </a:solidFill>
                    <a:latin typeface="Cambria"/>
                    <a:ea typeface="Cambria"/>
                    <a:cs typeface="Cambria"/>
                  </a:rPr>
                  <a:t>$190B</a:t>
                </a:r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5603624" y="5448300"/>
                <a:ext cx="222752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2752" h="228600">
                    <a:moveTo>
                      <a:pt x="115948" y="104013"/>
                    </a:moveTo>
                    <a:lnTo>
                      <a:pt x="115948" y="135255"/>
                    </a:lnTo>
                    <a:lnTo>
                      <a:pt x="190624" y="135255"/>
                    </a:lnTo>
                    <a:cubicBezTo>
                      <a:pt x="188338" y="152781"/>
                      <a:pt x="182499" y="165611"/>
                      <a:pt x="173603" y="174622"/>
                    </a:cubicBezTo>
                    <a:cubicBezTo>
                      <a:pt x="162677" y="185547"/>
                      <a:pt x="145666" y="197482"/>
                      <a:pt x="115948" y="197482"/>
                    </a:cubicBezTo>
                    <a:cubicBezTo>
                      <a:pt x="69971" y="197482"/>
                      <a:pt x="34033" y="160401"/>
                      <a:pt x="34033" y="114424"/>
                    </a:cubicBezTo>
                    <a:cubicBezTo>
                      <a:pt x="34033" y="68447"/>
                      <a:pt x="69971" y="31366"/>
                      <a:pt x="115948" y="31366"/>
                    </a:cubicBezTo>
                    <a:cubicBezTo>
                      <a:pt x="140713" y="31366"/>
                      <a:pt x="158877" y="41148"/>
                      <a:pt x="172212" y="53721"/>
                    </a:cubicBezTo>
                    <a:lnTo>
                      <a:pt x="194186" y="31747"/>
                    </a:lnTo>
                    <a:cubicBezTo>
                      <a:pt x="175641" y="13716"/>
                      <a:pt x="150743" y="0"/>
                      <a:pt x="115948" y="0"/>
                    </a:cubicBezTo>
                    <a:cubicBezTo>
                      <a:pt x="52959" y="0"/>
                      <a:pt x="0" y="51311"/>
                      <a:pt x="0" y="114300"/>
                    </a:cubicBezTo>
                    <a:cubicBezTo>
                      <a:pt x="0" y="177289"/>
                      <a:pt x="52959" y="228600"/>
                      <a:pt x="115948" y="228600"/>
                    </a:cubicBezTo>
                    <a:cubicBezTo>
                      <a:pt x="149981" y="228600"/>
                      <a:pt x="175641" y="217427"/>
                      <a:pt x="195701" y="196596"/>
                    </a:cubicBezTo>
                    <a:cubicBezTo>
                      <a:pt x="216275" y="176022"/>
                      <a:pt x="222752" y="146942"/>
                      <a:pt x="222752" y="123568"/>
                    </a:cubicBezTo>
                    <a:cubicBezTo>
                      <a:pt x="222752" y="116329"/>
                      <a:pt x="222247" y="109595"/>
                      <a:pt x="221104" y="104013"/>
                    </a:cubicBezTo>
                    <a:lnTo>
                      <a:pt x="115948" y="10401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295346" y="5838349"/>
                <a:ext cx="83930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指引上调 $5B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597956" y="2494598"/>
              <a:ext cx="1186838" cy="3534441"/>
              <a:chOff x="6597956" y="2494598"/>
              <a:chExt cx="1186838" cy="3534441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715125" y="2847975"/>
                <a:ext cx="952500" cy="2486025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597956" y="2494598"/>
                <a:ext cx="1186838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950" b="1" dirty="0">
                    <a:solidFill>
                      <a:schemeClr val="accent1"/>
                    </a:solidFill>
                    <a:latin typeface="Cambria"/>
                    <a:ea typeface="Cambria"/>
                    <a:cs typeface="Cambria"/>
                  </a:rPr>
                  <a:t>$145B+</a:t>
                </a:r>
              </a:p>
            </p:txBody>
          </p:sp>
          <p:sp>
            <p:nvSpPr>
              <p:cNvPr id="36" name="Freeform 36"/>
              <p:cNvSpPr/>
              <p:nvPr/>
            </p:nvSpPr>
            <p:spPr>
              <a:xfrm>
                <a:off x="7077075" y="5486676"/>
                <a:ext cx="228600" cy="15184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1848">
                    <a:moveTo>
                      <a:pt x="65865" y="10"/>
                    </a:moveTo>
                    <a:cubicBezTo>
                      <a:pt x="47120" y="10"/>
                      <a:pt x="30785" y="12202"/>
                      <a:pt x="19469" y="29661"/>
                    </a:cubicBezTo>
                    <a:cubicBezTo>
                      <a:pt x="6706" y="49330"/>
                      <a:pt x="0" y="74809"/>
                      <a:pt x="0" y="99250"/>
                    </a:cubicBezTo>
                    <a:cubicBezTo>
                      <a:pt x="0" y="105975"/>
                      <a:pt x="667" y="112290"/>
                      <a:pt x="2000" y="118043"/>
                    </a:cubicBezTo>
                    <a:cubicBezTo>
                      <a:pt x="2655" y="120828"/>
                      <a:pt x="3498" y="123565"/>
                      <a:pt x="4524" y="126235"/>
                    </a:cubicBezTo>
                    <a:cubicBezTo>
                      <a:pt x="5507" y="128741"/>
                      <a:pt x="6689" y="131165"/>
                      <a:pt x="8058" y="133483"/>
                    </a:cubicBezTo>
                    <a:cubicBezTo>
                      <a:pt x="14688" y="144523"/>
                      <a:pt x="25375" y="151838"/>
                      <a:pt x="42281" y="151838"/>
                    </a:cubicBezTo>
                    <a:cubicBezTo>
                      <a:pt x="56540" y="151838"/>
                      <a:pt x="67361" y="145447"/>
                      <a:pt x="80048" y="128559"/>
                    </a:cubicBezTo>
                    <a:cubicBezTo>
                      <a:pt x="87287" y="118920"/>
                      <a:pt x="90945" y="113071"/>
                      <a:pt x="105413" y="87411"/>
                    </a:cubicBezTo>
                    <a:lnTo>
                      <a:pt x="112614" y="74657"/>
                    </a:lnTo>
                    <a:lnTo>
                      <a:pt x="114386" y="71561"/>
                    </a:lnTo>
                    <a:cubicBezTo>
                      <a:pt x="114967" y="72514"/>
                      <a:pt x="115538" y="73428"/>
                      <a:pt x="116129" y="74419"/>
                    </a:cubicBezTo>
                    <a:lnTo>
                      <a:pt x="136627" y="108661"/>
                    </a:lnTo>
                    <a:cubicBezTo>
                      <a:pt x="143523" y="120186"/>
                      <a:pt x="152486" y="133007"/>
                      <a:pt x="160153" y="140227"/>
                    </a:cubicBezTo>
                    <a:cubicBezTo>
                      <a:pt x="170117" y="149628"/>
                      <a:pt x="179127" y="151848"/>
                      <a:pt x="189300" y="151848"/>
                    </a:cubicBezTo>
                    <a:cubicBezTo>
                      <a:pt x="199539" y="151848"/>
                      <a:pt x="207169" y="148466"/>
                      <a:pt x="212684" y="143818"/>
                    </a:cubicBezTo>
                    <a:cubicBezTo>
                      <a:pt x="215763" y="141189"/>
                      <a:pt x="218372" y="138055"/>
                      <a:pt x="220399" y="134550"/>
                    </a:cubicBezTo>
                    <a:cubicBezTo>
                      <a:pt x="225562" y="125606"/>
                      <a:pt x="228600" y="114290"/>
                      <a:pt x="228600" y="98879"/>
                    </a:cubicBezTo>
                    <a:cubicBezTo>
                      <a:pt x="228600" y="72971"/>
                      <a:pt x="222113" y="47854"/>
                      <a:pt x="208750" y="27918"/>
                    </a:cubicBezTo>
                    <a:cubicBezTo>
                      <a:pt x="196539" y="9706"/>
                      <a:pt x="180584" y="10"/>
                      <a:pt x="163830" y="10"/>
                    </a:cubicBezTo>
                    <a:cubicBezTo>
                      <a:pt x="153857" y="10"/>
                      <a:pt x="143942" y="4458"/>
                      <a:pt x="134750" y="12468"/>
                    </a:cubicBezTo>
                    <a:cubicBezTo>
                      <a:pt x="128540" y="17897"/>
                      <a:pt x="122777" y="24755"/>
                      <a:pt x="117415" y="31994"/>
                    </a:cubicBezTo>
                    <a:cubicBezTo>
                      <a:pt x="110842" y="23660"/>
                      <a:pt x="104699" y="17259"/>
                      <a:pt x="98765" y="12411"/>
                    </a:cubicBezTo>
                    <a:cubicBezTo>
                      <a:pt x="87506" y="3210"/>
                      <a:pt x="76714" y="0"/>
                      <a:pt x="65865" y="0"/>
                    </a:cubicBezTo>
                    <a:close/>
                    <a:moveTo>
                      <a:pt x="162639" y="19564"/>
                    </a:moveTo>
                    <a:cubicBezTo>
                      <a:pt x="173565" y="19564"/>
                      <a:pt x="183480" y="26784"/>
                      <a:pt x="191138" y="38605"/>
                    </a:cubicBezTo>
                    <a:cubicBezTo>
                      <a:pt x="201920" y="55255"/>
                      <a:pt x="206826" y="78562"/>
                      <a:pt x="206826" y="99565"/>
                    </a:cubicBezTo>
                    <a:cubicBezTo>
                      <a:pt x="206826" y="114310"/>
                      <a:pt x="203321" y="127187"/>
                      <a:pt x="189309" y="127187"/>
                    </a:cubicBezTo>
                    <a:cubicBezTo>
                      <a:pt x="183785" y="127187"/>
                      <a:pt x="179527" y="124997"/>
                      <a:pt x="173460" y="117624"/>
                    </a:cubicBezTo>
                    <a:cubicBezTo>
                      <a:pt x="168735" y="111900"/>
                      <a:pt x="160668" y="99736"/>
                      <a:pt x="146485" y="76114"/>
                    </a:cubicBezTo>
                    <a:lnTo>
                      <a:pt x="140608" y="66323"/>
                    </a:lnTo>
                    <a:cubicBezTo>
                      <a:pt x="136788" y="59933"/>
                      <a:pt x="132802" y="53644"/>
                      <a:pt x="128654" y="47463"/>
                    </a:cubicBezTo>
                    <a:cubicBezTo>
                      <a:pt x="129321" y="46425"/>
                      <a:pt x="129997" y="45329"/>
                      <a:pt x="130664" y="44348"/>
                    </a:cubicBezTo>
                    <a:cubicBezTo>
                      <a:pt x="141332" y="28470"/>
                      <a:pt x="150838" y="19564"/>
                      <a:pt x="162649" y="19564"/>
                    </a:cubicBezTo>
                    <a:close/>
                    <a:moveTo>
                      <a:pt x="65475" y="24832"/>
                    </a:moveTo>
                    <a:cubicBezTo>
                      <a:pt x="77524" y="24832"/>
                      <a:pt x="85077" y="32366"/>
                      <a:pt x="90954" y="38605"/>
                    </a:cubicBezTo>
                    <a:cubicBezTo>
                      <a:pt x="93878" y="41719"/>
                      <a:pt x="97974" y="46901"/>
                      <a:pt x="102708" y="53645"/>
                    </a:cubicBezTo>
                    <a:lnTo>
                      <a:pt x="92993" y="68561"/>
                    </a:lnTo>
                    <a:cubicBezTo>
                      <a:pt x="85782" y="79639"/>
                      <a:pt x="75067" y="97298"/>
                      <a:pt x="65970" y="109880"/>
                    </a:cubicBezTo>
                    <a:cubicBezTo>
                      <a:pt x="54626" y="125587"/>
                      <a:pt x="48730" y="127187"/>
                      <a:pt x="42291" y="127187"/>
                    </a:cubicBezTo>
                    <a:cubicBezTo>
                      <a:pt x="37300" y="127187"/>
                      <a:pt x="32404" y="124930"/>
                      <a:pt x="29118" y="119624"/>
                    </a:cubicBezTo>
                    <a:cubicBezTo>
                      <a:pt x="26613" y="115567"/>
                      <a:pt x="24698" y="108861"/>
                      <a:pt x="24698" y="100136"/>
                    </a:cubicBezTo>
                    <a:cubicBezTo>
                      <a:pt x="24698" y="78981"/>
                      <a:pt x="30699" y="56940"/>
                      <a:pt x="40510" y="42148"/>
                    </a:cubicBezTo>
                    <a:cubicBezTo>
                      <a:pt x="44834" y="35604"/>
                      <a:pt x="49692" y="30470"/>
                      <a:pt x="55112" y="27546"/>
                    </a:cubicBezTo>
                    <a:cubicBezTo>
                      <a:pt x="58283" y="25784"/>
                      <a:pt x="61847" y="24850"/>
                      <a:pt x="65475" y="248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90639" y="5838349"/>
                <a:ext cx="80147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电力土地紧张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8572500" y="1809750"/>
            <a:ext cx="2941054" cy="3936682"/>
            <a:chOff x="8572500" y="1809750"/>
            <a:chExt cx="2941054" cy="3936682"/>
          </a:xfrm>
        </p:grpSpPr>
        <p:sp>
          <p:nvSpPr>
            <p:cNvPr id="40" name="Line 40"/>
            <p:cNvSpPr/>
            <p:nvPr/>
          </p:nvSpPr>
          <p:spPr>
            <a:xfrm>
              <a:off x="8572500" y="1809750"/>
              <a:ext cx="9525" cy="3905250"/>
            </a:xfrm>
            <a:custGeom>
              <a:avLst/>
              <a:gdLst/>
              <a:ahLst/>
              <a:cxnLst/>
              <a:rect l="l" t="t" r="r" b="b"/>
              <a:pathLst>
                <a:path w="9525" h="3905250">
                  <a:moveTo>
                    <a:pt x="0" y="0"/>
                  </a:moveTo>
                  <a:lnTo>
                    <a:pt x="0" y="3905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758238" y="2006441"/>
              <a:ext cx="17078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KEY OBSERVATION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43950" y="2148840"/>
              <a:ext cx="243199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$725B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58047" y="2809399"/>
              <a:ext cx="18099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2026 合计 Capex · 同比 </a:t>
              </a:r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+77%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8763000" y="32385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756142" y="3454718"/>
              <a:ext cx="1741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资源约束已转向电力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57666" y="3887152"/>
              <a:ext cx="1586865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60%+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资本流向电力基础设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施、冷却、土建——而不是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芯片本身。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7666" y="4744402"/>
              <a:ext cx="14775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下一道护城河不是算力，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是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GW 级供电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58238" y="5570220"/>
              <a:ext cx="27553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— Tom's Hardware / Statista, 2026 outlook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66738" y="6477000"/>
            <a:ext cx="11058525" cy="257176"/>
            <a:chOff x="566738" y="6477000"/>
            <a:chExt cx="11058525" cy="257176"/>
          </a:xfrm>
        </p:grpSpPr>
        <p:sp>
          <p:nvSpPr>
            <p:cNvPr id="50" name="Line 50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66738" y="6586538"/>
              <a:ext cx="38694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Tom's Hardware · Statista · NextWaves · Company guidance Q1 2026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05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6470569" cy="1095470"/>
            <a:chOff x="560832" y="444341"/>
            <a:chExt cx="6470569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28858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II · THE BIG THREE · 06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647056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三巨头估值跃迁：从年初到 Q2 的 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双倍线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3984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OpenAI · Anthropic · xAI — six-month valuation deltas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65566" y="1807845"/>
            <a:ext cx="10540659" cy="3837146"/>
            <a:chOff x="1165566" y="1807845"/>
            <a:chExt cx="10540659" cy="3837146"/>
          </a:xfrm>
        </p:grpSpPr>
        <p:grpSp>
          <p:nvGrpSpPr>
            <p:cNvPr id="22" name="Group 22"/>
            <p:cNvGrpSpPr/>
            <p:nvPr/>
          </p:nvGrpSpPr>
          <p:grpSpPr>
            <a:xfrm>
              <a:off x="2026587" y="2095500"/>
              <a:ext cx="9412418" cy="3549491"/>
              <a:chOff x="2026587" y="2095500"/>
              <a:chExt cx="9412418" cy="3549491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2095500" y="2095500"/>
                <a:ext cx="9525" cy="3238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0">
                    <a:moveTo>
                      <a:pt x="0" y="0"/>
                    </a:moveTo>
                    <a:lnTo>
                      <a:pt x="0" y="32385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095500" y="5334000"/>
                <a:ext cx="914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525">
                    <a:moveTo>
                      <a:pt x="0" y="0"/>
                    </a:moveTo>
                    <a:lnTo>
                      <a:pt x="9144000" y="0"/>
                    </a:lnTo>
                  </a:path>
                </a:pathLst>
              </a:custGeom>
              <a:noFill/>
              <a:ln w="9525">
                <a:solidFill>
                  <a:srgbClr val="5C5852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619500" y="2095500"/>
                <a:ext cx="9525" cy="3238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0">
                    <a:moveTo>
                      <a:pt x="0" y="0"/>
                    </a:moveTo>
                    <a:lnTo>
                      <a:pt x="0" y="32385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5143500" y="2095500"/>
                <a:ext cx="9525" cy="3238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0">
                    <a:moveTo>
                      <a:pt x="0" y="0"/>
                    </a:moveTo>
                    <a:lnTo>
                      <a:pt x="0" y="32385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6667500" y="2095500"/>
                <a:ext cx="9525" cy="3238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0">
                    <a:moveTo>
                      <a:pt x="0" y="0"/>
                    </a:moveTo>
                    <a:lnTo>
                      <a:pt x="0" y="32385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8191500" y="2095500"/>
                <a:ext cx="9525" cy="3238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0">
                    <a:moveTo>
                      <a:pt x="0" y="0"/>
                    </a:moveTo>
                    <a:lnTo>
                      <a:pt x="0" y="32385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9715500" y="2095500"/>
                <a:ext cx="9525" cy="3238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0">
                    <a:moveTo>
                      <a:pt x="0" y="0"/>
                    </a:moveTo>
                    <a:lnTo>
                      <a:pt x="0" y="32385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11239500" y="2095500"/>
                <a:ext cx="9525" cy="3238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0">
                    <a:moveTo>
                      <a:pt x="0" y="0"/>
                    </a:moveTo>
                    <a:lnTo>
                      <a:pt x="0" y="32385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2026587" y="5483066"/>
                <a:ext cx="13782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$0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419996" y="5483066"/>
                <a:ext cx="3990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$200B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943996" y="5483066"/>
                <a:ext cx="3990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$400B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467996" y="5483066"/>
                <a:ext cx="3990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$600B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991996" y="5483066"/>
                <a:ext cx="3990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$800B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515996" y="5483066"/>
                <a:ext cx="3990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$1.0T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1039996" y="5483066"/>
                <a:ext cx="3990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$1.2T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047875" y="1807845"/>
              <a:ext cx="2904402" cy="176212"/>
              <a:chOff x="2047875" y="1807845"/>
              <a:chExt cx="2904402" cy="176212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2047875" y="1809750"/>
                <a:ext cx="95250" cy="9525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205038" y="1807845"/>
                <a:ext cx="108242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Cambria"/>
                    <a:ea typeface="Cambria"/>
                    <a:cs typeface="Cambria"/>
                  </a:rPr>
                  <a:t>Year-Start 2026</a:t>
                </a:r>
              </a:p>
            </p:txBody>
          </p:sp>
          <p:sp>
            <p:nvSpPr>
              <p:cNvPr id="25" name="Ellipse 25"/>
              <p:cNvSpPr/>
              <p:nvPr/>
            </p:nvSpPr>
            <p:spPr>
              <a:xfrm>
                <a:off x="3571875" y="1809750"/>
                <a:ext cx="95250" cy="952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729038" y="1807845"/>
                <a:ext cx="122323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1"/>
                    </a:solidFill>
                    <a:latin typeface="Cambria"/>
                    <a:ea typeface="Cambria"/>
                    <a:cs typeface="Cambria"/>
                  </a:rPr>
                  <a:t>Latest (May 2026)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165566" y="2286952"/>
              <a:ext cx="8050233" cy="548164"/>
              <a:chOff x="1165566" y="2286952"/>
              <a:chExt cx="8050233" cy="548164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1427283" y="2394585"/>
                <a:ext cx="5790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OpenAI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165566" y="2624138"/>
                <a:ext cx="839447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75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consumer + IPO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4381500" y="2571750"/>
                <a:ext cx="419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9525">
                    <a:moveTo>
                      <a:pt x="0" y="0"/>
                    </a:moveTo>
                    <a:lnTo>
                      <a:pt x="4191000" y="0"/>
                    </a:lnTo>
                  </a:path>
                </a:pathLst>
              </a:custGeom>
              <a:noFill/>
              <a:ln w="19050">
                <a:solidFill>
                  <a:schemeClr val="dk1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4295775" y="2486025"/>
                <a:ext cx="171450" cy="17145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8486775" y="2486025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773493" y="2295049"/>
                <a:ext cx="49866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b="1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$300B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681466" y="2286952"/>
                <a:ext cx="5343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$852B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682038" y="2673191"/>
                <a:ext cx="353604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+184%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1191920" y="3334702"/>
              <a:ext cx="7937793" cy="548164"/>
              <a:chOff x="1191920" y="3334702"/>
              <a:chExt cx="7937793" cy="548164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1191920" y="3442335"/>
                <a:ext cx="8144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Anthropic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435418" y="3671888"/>
                <a:ext cx="56959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75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enterprise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2562225" y="3619500"/>
                <a:ext cx="2428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28875" h="9525">
                    <a:moveTo>
                      <a:pt x="0" y="0"/>
                    </a:moveTo>
                    <a:lnTo>
                      <a:pt x="2428875" y="0"/>
                    </a:lnTo>
                  </a:path>
                </a:pathLst>
              </a:custGeom>
              <a:noFill/>
              <a:ln w="19050">
                <a:solidFill>
                  <a:schemeClr val="dk1"/>
                </a:solidFill>
              </a:ln>
            </p:spPr>
          </p:sp>
          <p:sp>
            <p:nvSpPr>
              <p:cNvPr id="40" name="Line 40"/>
              <p:cNvSpPr/>
              <p:nvPr/>
            </p:nvSpPr>
            <p:spPr>
              <a:xfrm>
                <a:off x="4991100" y="3619500"/>
                <a:ext cx="396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62400" h="9525">
                    <a:moveTo>
                      <a:pt x="0" y="0"/>
                    </a:moveTo>
                    <a:lnTo>
                      <a:pt x="396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custDash>
                  <a:ds d="200000" sp="150000"/>
                </a:custDash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2476500" y="3533775"/>
                <a:ext cx="171450" cy="17145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4905375" y="3533775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8886825" y="3552825"/>
                <a:ext cx="133350" cy="133350"/>
              </a:xfrm>
              <a:prstGeom prst="ellipse">
                <a:avLst/>
              </a:pr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856467" y="3342799"/>
                <a:ext cx="59641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b="1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$61.5B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100066" y="3334702"/>
                <a:ext cx="90566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$380B (G)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032052" y="3350895"/>
                <a:ext cx="109766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chemeClr val="accent3"/>
                    </a:solidFill>
                    <a:latin typeface="Cambria"/>
                    <a:ea typeface="SimSun"/>
                    <a:cs typeface="Cambria"/>
                  </a:rPr>
                  <a:t>→ $900B (在谈)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557462" y="3720941"/>
                <a:ext cx="203317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+518% (locked) / +1364% (in-talks)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1211008" y="4382452"/>
              <a:ext cx="10495217" cy="548164"/>
              <a:chOff x="1211008" y="4382452"/>
              <a:chExt cx="10495217" cy="548164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1747723" y="4490085"/>
                <a:ext cx="25862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xAI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211008" y="4719638"/>
                <a:ext cx="794004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75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SpaceX merger</a:t>
                </a:r>
              </a:p>
            </p:txBody>
          </p:sp>
          <p:sp>
            <p:nvSpPr>
              <p:cNvPr id="51" name="Line 51"/>
              <p:cNvSpPr/>
              <p:nvPr/>
            </p:nvSpPr>
            <p:spPr>
              <a:xfrm>
                <a:off x="2476500" y="4667250"/>
                <a:ext cx="1371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9525">
                    <a:moveTo>
                      <a:pt x="0" y="0"/>
                    </a:moveTo>
                    <a:lnTo>
                      <a:pt x="1371600" y="0"/>
                    </a:lnTo>
                  </a:path>
                </a:pathLst>
              </a:custGeom>
              <a:noFill/>
              <a:ln w="19050">
                <a:solidFill>
                  <a:schemeClr val="dk1"/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3848100" y="4667250"/>
                <a:ext cx="777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772400" h="9525">
                    <a:moveTo>
                      <a:pt x="0" y="0"/>
                    </a:moveTo>
                    <a:lnTo>
                      <a:pt x="777240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custDash>
                  <a:ds d="200000" sp="150000"/>
                </a:custDash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2390775" y="4581525"/>
                <a:ext cx="171450" cy="17145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3762375" y="4581525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Ellipse 55"/>
              <p:cNvSpPr/>
              <p:nvPr/>
            </p:nvSpPr>
            <p:spPr>
              <a:xfrm>
                <a:off x="11534775" y="4581525"/>
                <a:ext cx="171450" cy="171450"/>
              </a:xfrm>
              <a:prstGeom prst="ellipse">
                <a:avLst/>
              </a:pr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1966243" y="4390549"/>
                <a:ext cx="40091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b="1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$50B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3957066" y="4382452"/>
                <a:ext cx="5343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$230B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0327805" y="4398645"/>
                <a:ext cx="1183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chemeClr val="accent3"/>
                    </a:solidFill>
                    <a:latin typeface="Cambria"/>
                    <a:ea typeface="SimSun"/>
                    <a:cs typeface="Cambria"/>
                  </a:rPr>
                  <a:t>→ $1.25T (合并)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2471738" y="4768691"/>
                <a:ext cx="231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+360% (Jan E) / +2400% (post-merger)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566738" y="6000750"/>
            <a:ext cx="11053762" cy="404051"/>
            <a:chOff x="566738" y="6000750"/>
            <a:chExt cx="11053762" cy="404051"/>
          </a:xfrm>
        </p:grpSpPr>
        <p:sp>
          <p:nvSpPr>
            <p:cNvPr id="62" name="Line 62"/>
            <p:cNvSpPr/>
            <p:nvPr/>
          </p:nvSpPr>
          <p:spPr>
            <a:xfrm>
              <a:off x="571500" y="6000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66738" y="6197441"/>
              <a:ext cx="152738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EDITORIAL TAKE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145054" y="6140768"/>
              <a:ext cx="59018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六个月里，三家公司的合计估值从 </a:t>
              </a:r>
              <a:r>
                <a:rPr lang="zh-CN" sz="1350" b="1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$411B</a:t>
              </a:r>
              <a:r>
                <a:rPr lang="zh-CN" sz="13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 跃至 </a:t>
              </a:r>
              <a:r>
                <a:rPr lang="zh-CN" sz="1350" b="1" i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$1.46T</a:t>
              </a:r>
              <a:r>
                <a:rPr lang="zh-CN" sz="13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——3.6 倍。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66738" y="6586538"/>
            <a:ext cx="11058525" cy="147638"/>
            <a:chOff x="566738" y="6586538"/>
            <a:chExt cx="11058525" cy="147638"/>
          </a:xfrm>
        </p:grpSpPr>
        <p:sp>
          <p:nvSpPr>
            <p:cNvPr id="66" name="TextBox 66"/>
            <p:cNvSpPr txBox="1"/>
            <p:nvPr/>
          </p:nvSpPr>
          <p:spPr>
            <a:xfrm>
              <a:off x="566738" y="6586538"/>
              <a:ext cx="434186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CNBC · Bloomberg · TechCrunch · Anthropic / OpenAI press · Fortune Feb 2026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06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4648511" cy="1095470"/>
            <a:chOff x="560832" y="444341"/>
            <a:chExt cx="4648511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28858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II · THE BIG THREE · 07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45638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估值兑现度：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气泡大小 = 投资人数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46431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Valuation × ARR × investor count — who is most over-extended?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-83534" y="1747838"/>
            <a:ext cx="11513534" cy="4189094"/>
            <a:chOff x="-83534" y="1747838"/>
            <a:chExt cx="11513534" cy="4189094"/>
          </a:xfrm>
        </p:grpSpPr>
        <p:grpSp>
          <p:nvGrpSpPr>
            <p:cNvPr id="29" name="Group 29"/>
            <p:cNvGrpSpPr/>
            <p:nvPr/>
          </p:nvGrpSpPr>
          <p:grpSpPr>
            <a:xfrm>
              <a:off x="-83534" y="1905000"/>
              <a:ext cx="11513534" cy="4031932"/>
              <a:chOff x="-83534" y="1905000"/>
              <a:chExt cx="11513534" cy="4031932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1524000" y="1905000"/>
                <a:ext cx="952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29000">
                    <a:moveTo>
                      <a:pt x="0" y="0"/>
                    </a:moveTo>
                    <a:lnTo>
                      <a:pt x="0" y="3429000"/>
                    </a:lnTo>
                  </a:path>
                </a:pathLst>
              </a:custGeom>
              <a:noFill/>
              <a:ln w="14288">
                <a:solidFill>
                  <a:srgbClr val="5C5852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1524000" y="53340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14288">
                <a:solidFill>
                  <a:srgbClr val="5C5852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1524000" y="26670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1524000" y="34290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1524000" y="41910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1524000" y="4953000"/>
                <a:ext cx="990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9525">
                    <a:moveTo>
                      <a:pt x="0" y="0"/>
                    </a:moveTo>
                    <a:lnTo>
                      <a:pt x="9906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3619500" y="1905000"/>
                <a:ext cx="952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29000">
                    <a:moveTo>
                      <a:pt x="0" y="0"/>
                    </a:moveTo>
                    <a:lnTo>
                      <a:pt x="0" y="3429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5715000" y="1905000"/>
                <a:ext cx="952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29000">
                    <a:moveTo>
                      <a:pt x="0" y="0"/>
                    </a:moveTo>
                    <a:lnTo>
                      <a:pt x="0" y="3429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7810500" y="1905000"/>
                <a:ext cx="952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29000">
                    <a:moveTo>
                      <a:pt x="0" y="0"/>
                    </a:moveTo>
                    <a:lnTo>
                      <a:pt x="0" y="3429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9906000" y="1905000"/>
                <a:ext cx="9525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29000">
                    <a:moveTo>
                      <a:pt x="0" y="0"/>
                    </a:moveTo>
                    <a:lnTo>
                      <a:pt x="0" y="3429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937557" y="2625566"/>
                <a:ext cx="47690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$1000B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015454" y="3387566"/>
                <a:ext cx="3990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$750B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15454" y="4149566"/>
                <a:ext cx="3990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$500B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15454" y="4911566"/>
                <a:ext cx="3990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$250B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76637" y="5292566"/>
                <a:ext cx="13782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$0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455087" y="5483066"/>
                <a:ext cx="13782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$0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458944" y="5483066"/>
                <a:ext cx="32111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$10B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554444" y="5483066"/>
                <a:ext cx="32111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$20B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649944" y="5483066"/>
                <a:ext cx="32111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$30B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745444" y="5483066"/>
                <a:ext cx="32111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$40B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 rot="-5400000">
                <a:off x="-83534" y="3531394"/>
                <a:ext cx="129197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VALUATION ($B) →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286946" y="5760720"/>
                <a:ext cx="238010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ANNUALIZED REVENUE (ARR, $B) →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048135" y="4181475"/>
              <a:ext cx="1428230" cy="1133475"/>
              <a:chOff x="2048135" y="4181475"/>
              <a:chExt cx="1428230" cy="1133475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2400300" y="4181475"/>
                <a:ext cx="723900" cy="723900"/>
              </a:xfrm>
              <a:prstGeom prst="ellipse">
                <a:avLst/>
              </a:prstGeom>
              <a:solidFill>
                <a:schemeClr val="accent3">
                  <a:alpha val="18000"/>
                </a:schemeClr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733675" y="4514850"/>
                <a:ext cx="57150" cy="571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2631460" y="4963478"/>
                <a:ext cx="2615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xAI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048135" y="5167312"/>
                <a:ext cx="142823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$5B / $230B · 8+ investors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8239385" y="2749391"/>
              <a:ext cx="2333365" cy="1565434"/>
              <a:chOff x="8239385" y="2749391"/>
              <a:chExt cx="2333365" cy="1565434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8667750" y="3743325"/>
                <a:ext cx="571500" cy="571500"/>
              </a:xfrm>
              <a:prstGeom prst="ellipse">
                <a:avLst/>
              </a:prstGeom>
              <a:solidFill>
                <a:schemeClr val="accent2">
                  <a:alpha val="22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36" name="Ellipse 36"/>
              <p:cNvSpPr/>
              <p:nvPr/>
            </p:nvSpPr>
            <p:spPr>
              <a:xfrm>
                <a:off x="8924925" y="4000500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570866" y="3515678"/>
                <a:ext cx="7652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Anthropic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239385" y="3376612"/>
                <a:ext cx="142823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$30B / $380B · 5 investors</a:t>
                </a:r>
              </a:p>
            </p:txBody>
          </p:sp>
          <p:sp>
            <p:nvSpPr>
              <p:cNvPr id="39" name="Line 39"/>
              <p:cNvSpPr/>
              <p:nvPr/>
            </p:nvSpPr>
            <p:spPr>
              <a:xfrm>
                <a:off x="8953500" y="2952750"/>
                <a:ext cx="1524000" cy="79057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790575">
                    <a:moveTo>
                      <a:pt x="0" y="790575"/>
                    </a:moveTo>
                    <a:lnTo>
                      <a:pt x="1524000" y="0"/>
                    </a:lnTo>
                  </a:path>
                </a:pathLst>
              </a:custGeom>
              <a:noFill/>
              <a:ln w="9525">
                <a:solidFill>
                  <a:schemeClr val="accent3"/>
                </a:solidFill>
                <a:custDash>
                  <a:ds d="300000" sp="300000"/>
                </a:custDash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10382250" y="2857500"/>
                <a:ext cx="190500" cy="190500"/>
              </a:xfrm>
              <a:prstGeom prst="ellipse">
                <a:avLst/>
              </a:prstGeom>
              <a:noFill/>
              <a:ln w="14288">
                <a:solidFill>
                  <a:schemeClr val="accent3"/>
                </a:solidFill>
                <a:custDash>
                  <a:ds d="200000" sp="133333"/>
                </a:custDash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9341555" y="2749391"/>
                <a:ext cx="104545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accent3"/>
                    </a:solidFill>
                    <a:latin typeface="Cambria"/>
                    <a:ea typeface="Cambria"/>
                    <a:cs typeface="Cambria"/>
                  </a:rPr>
                  <a:t>→ $900B (in talks)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723005" y="1952625"/>
              <a:ext cx="1489190" cy="1333501"/>
              <a:chOff x="6723005" y="1952625"/>
              <a:chExt cx="1489190" cy="1333501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7010400" y="1952625"/>
                <a:ext cx="914400" cy="914400"/>
              </a:xfrm>
              <a:prstGeom prst="ellipse">
                <a:avLst/>
              </a:prstGeom>
              <a:solidFill>
                <a:schemeClr val="accent2">
                  <a:alpha val="18000"/>
                </a:schemeClr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7439025" y="2381250"/>
                <a:ext cx="57150" cy="571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180131" y="2934652"/>
                <a:ext cx="5749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OpenAI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723005" y="3138488"/>
                <a:ext cx="148919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$24B / $852B · 7+ investors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1524000" y="1747838"/>
              <a:ext cx="9906000" cy="3586162"/>
              <a:chOff x="1524000" y="1747838"/>
              <a:chExt cx="9906000" cy="3586162"/>
            </a:xfrm>
          </p:grpSpPr>
          <p:sp>
            <p:nvSpPr>
              <p:cNvPr id="48" name="Line 48"/>
              <p:cNvSpPr/>
              <p:nvPr/>
            </p:nvSpPr>
            <p:spPr>
              <a:xfrm>
                <a:off x="1524000" y="1905000"/>
                <a:ext cx="9906000" cy="3429000"/>
              </a:xfrm>
              <a:custGeom>
                <a:avLst/>
                <a:gdLst/>
                <a:ahLst/>
                <a:cxnLst/>
                <a:rect l="l" t="t" r="r" b="b"/>
                <a:pathLst>
                  <a:path w="9906000" h="3429000">
                    <a:moveTo>
                      <a:pt x="0" y="3429000"/>
                    </a:moveTo>
                    <a:lnTo>
                      <a:pt x="9906000" y="0"/>
                    </a:lnTo>
                  </a:path>
                </a:pathLst>
              </a:custGeom>
              <a:noFill/>
              <a:ln w="9525">
                <a:solidFill>
                  <a:schemeClr val="dk2">
                    <a:alpha val="40000"/>
                  </a:schemeClr>
                </a:solidFill>
                <a:custDash>
                  <a:ds d="600000" sp="400000"/>
                </a:custDash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9312212" y="1747838"/>
                <a:ext cx="1551051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750" dirty="0">
                    <a:solidFill>
                      <a:schemeClr val="dk2">
                        <a:alphaMod val="70000"/>
                      </a:schemeClr>
                    </a:solidFill>
                    <a:latin typeface="Cambria"/>
                    <a:ea typeface="Cambria"/>
                    <a:cs typeface="Cambria"/>
                  </a:rPr>
                  <a:t>implied "fair valuation" trend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762000" y="6096000"/>
            <a:ext cx="10668000" cy="476250"/>
            <a:chOff x="762000" y="6096000"/>
            <a:chExt cx="10668000" cy="476250"/>
          </a:xfrm>
        </p:grpSpPr>
        <p:sp>
          <p:nvSpPr>
            <p:cNvPr id="52" name="Rectangle 52"/>
            <p:cNvSpPr/>
            <p:nvPr/>
          </p:nvSpPr>
          <p:spPr>
            <a:xfrm>
              <a:off x="762000" y="6096000"/>
              <a:ext cx="10668000" cy="476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762000" y="60960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47166" y="6277928"/>
              <a:ext cx="103909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所有气泡都站在"公允线"上方——估值跑得比收入快；其中 </a:t>
              </a:r>
              <a:r>
                <a:rPr lang="zh-CN" sz="10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xAI 偏离最远</a:t>
              </a:r>
              <a:r>
                <a:rPr lang="zh-CN" sz="1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（ARR 估算最低却估值 $230B），</a:t>
              </a:r>
              <a:r>
                <a:rPr lang="zh-CN" sz="105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Anthropic 兑现度最高</a:t>
              </a:r>
              <a:r>
                <a:rPr lang="zh-CN" sz="10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（ARR $30B）。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66738" y="6729412"/>
            <a:ext cx="11058525" cy="147638"/>
            <a:chOff x="566738" y="6729412"/>
            <a:chExt cx="11058525" cy="147638"/>
          </a:xfrm>
        </p:grpSpPr>
        <p:sp>
          <p:nvSpPr>
            <p:cNvPr id="56" name="TextBox 56"/>
            <p:cNvSpPr txBox="1"/>
            <p:nvPr/>
          </p:nvSpPr>
          <p:spPr>
            <a:xfrm>
              <a:off x="566738" y="6729412"/>
              <a:ext cx="476996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Bloomberg · TechCrunch · Anthropic press 2026-02 / 2026-04 · OpenAI funding 2026-03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58360" y="6729412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07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5196237" cy="1095470"/>
            <a:chOff x="560832" y="444341"/>
            <a:chExt cx="5196237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28858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II · THE BIG THREE · 08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44864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OpenAI 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$122B</a:t>
              </a:r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 这笔钱，从哪来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5190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Composition of OpenAI's March 2026 mega-round (post-money $852B)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976387" y="2381250"/>
            <a:ext cx="3589549" cy="3456803"/>
            <a:chOff x="1976387" y="2381250"/>
            <a:chExt cx="3589549" cy="3456803"/>
          </a:xfrm>
        </p:grpSpPr>
        <p:sp>
          <p:nvSpPr>
            <p:cNvPr id="7" name="Freeform 7"/>
            <p:cNvSpPr/>
            <p:nvPr/>
          </p:nvSpPr>
          <p:spPr>
            <a:xfrm>
              <a:off x="3810000" y="2381250"/>
              <a:ext cx="1755936" cy="2985516"/>
            </a:xfrm>
            <a:custGeom>
              <a:avLst/>
              <a:gdLst/>
              <a:ahLst/>
              <a:cxnLst/>
              <a:rect l="l" t="t" r="r" b="b"/>
              <a:pathLst>
                <a:path w="1755936" h="2985516">
                  <a:moveTo>
                    <a:pt x="0" y="0"/>
                  </a:moveTo>
                  <a:cubicBezTo>
                    <a:pt x="719980" y="5"/>
                    <a:pt x="1353479" y="475396"/>
                    <a:pt x="1554708" y="1166683"/>
                  </a:cubicBezTo>
                  <a:cubicBezTo>
                    <a:pt x="1755936" y="1857970"/>
                    <a:pt x="1476554" y="2599093"/>
                    <a:pt x="869061" y="2985516"/>
                  </a:cubicBezTo>
                  <a:lnTo>
                    <a:pt x="511207" y="2422970"/>
                  </a:lnTo>
                  <a:cubicBezTo>
                    <a:pt x="868588" y="2195675"/>
                    <a:pt x="1032955" y="1759701"/>
                    <a:pt x="914583" y="1353041"/>
                  </a:cubicBezTo>
                  <a:cubicBezTo>
                    <a:pt x="796211" y="946381"/>
                    <a:pt x="423538" y="666732"/>
                    <a:pt x="0" y="66675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2466499" y="4532186"/>
              <a:ext cx="2212562" cy="1305867"/>
            </a:xfrm>
            <a:custGeom>
              <a:avLst/>
              <a:gdLst/>
              <a:ahLst/>
              <a:cxnLst/>
              <a:rect l="l" t="t" r="r" b="b"/>
              <a:pathLst>
                <a:path w="2212562" h="1305867">
                  <a:moveTo>
                    <a:pt x="2212562" y="834581"/>
                  </a:moveTo>
                  <a:cubicBezTo>
                    <a:pt x="1471676" y="1305867"/>
                    <a:pt x="490169" y="1100768"/>
                    <a:pt x="0" y="372237"/>
                  </a:cubicBezTo>
                  <a:lnTo>
                    <a:pt x="553212" y="0"/>
                  </a:lnTo>
                  <a:cubicBezTo>
                    <a:pt x="841525" y="428564"/>
                    <a:pt x="1418878" y="549241"/>
                    <a:pt x="1854708" y="2720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976387" y="2680811"/>
              <a:ext cx="1281734" cy="2223611"/>
            </a:xfrm>
            <a:custGeom>
              <a:avLst/>
              <a:gdLst/>
              <a:ahLst/>
              <a:cxnLst/>
              <a:rect l="l" t="t" r="r" b="b"/>
              <a:pathLst>
                <a:path w="1281734" h="2223611">
                  <a:moveTo>
                    <a:pt x="490112" y="2223611"/>
                  </a:moveTo>
                  <a:cubicBezTo>
                    <a:pt x="0" y="1495112"/>
                    <a:pt x="179783" y="508736"/>
                    <a:pt x="895400" y="0"/>
                  </a:cubicBezTo>
                  <a:lnTo>
                    <a:pt x="1281734" y="543401"/>
                  </a:lnTo>
                  <a:cubicBezTo>
                    <a:pt x="860802" y="842654"/>
                    <a:pt x="755046" y="1422850"/>
                    <a:pt x="1043324" y="18513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871788" y="2381250"/>
              <a:ext cx="938212" cy="842963"/>
            </a:xfrm>
            <a:custGeom>
              <a:avLst/>
              <a:gdLst/>
              <a:ahLst/>
              <a:cxnLst/>
              <a:rect l="l" t="t" r="r" b="b"/>
              <a:pathLst>
                <a:path w="938212" h="842963">
                  <a:moveTo>
                    <a:pt x="0" y="299561"/>
                  </a:moveTo>
                  <a:cubicBezTo>
                    <a:pt x="274048" y="104715"/>
                    <a:pt x="601957" y="17"/>
                    <a:pt x="938212" y="0"/>
                  </a:cubicBezTo>
                  <a:lnTo>
                    <a:pt x="938212" y="666750"/>
                  </a:lnTo>
                  <a:cubicBezTo>
                    <a:pt x="740419" y="666762"/>
                    <a:pt x="547536" y="728349"/>
                    <a:pt x="386334" y="84296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857500" y="3048000"/>
              <a:ext cx="1905000" cy="1905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23000" y="3594735"/>
              <a:ext cx="137400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Cambria"/>
                  <a:ea typeface="Cambria"/>
                  <a:cs typeface="Cambria"/>
                </a:rPr>
                <a:t>$122B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93809" y="4036695"/>
              <a:ext cx="1232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spc="150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TOTAL ROUND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33384" y="4292441"/>
              <a:ext cx="11532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@ $852B post-money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0" y="1905000"/>
            <a:ext cx="4961382" cy="4191000"/>
            <a:chOff x="6286500" y="1905000"/>
            <a:chExt cx="4961382" cy="4191000"/>
          </a:xfrm>
        </p:grpSpPr>
        <p:sp>
          <p:nvSpPr>
            <p:cNvPr id="16" name="Line 16"/>
            <p:cNvSpPr/>
            <p:nvPr/>
          </p:nvSpPr>
          <p:spPr>
            <a:xfrm>
              <a:off x="6286500" y="19050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62738" y="2006441"/>
              <a:ext cx="20864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INVESTOR BREAKDOWN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6667500" y="2381250"/>
              <a:ext cx="4580382" cy="657225"/>
              <a:chOff x="6667500" y="2381250"/>
              <a:chExt cx="4580382" cy="6572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667500" y="2381250"/>
                <a:ext cx="57150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858000" y="2476597"/>
                <a:ext cx="209550" cy="193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93525">
                    <a:moveTo>
                      <a:pt x="393" y="147715"/>
                    </a:moveTo>
                    <a:cubicBezTo>
                      <a:pt x="1022" y="146703"/>
                      <a:pt x="2026" y="146633"/>
                      <a:pt x="3431" y="147523"/>
                    </a:cubicBezTo>
                    <a:cubicBezTo>
                      <a:pt x="35178" y="165946"/>
                      <a:pt x="69737" y="175166"/>
                      <a:pt x="107071" y="175166"/>
                    </a:cubicBezTo>
                    <a:cubicBezTo>
                      <a:pt x="131973" y="175166"/>
                      <a:pt x="156560" y="170513"/>
                      <a:pt x="180824" y="161240"/>
                    </a:cubicBezTo>
                    <a:lnTo>
                      <a:pt x="183575" y="160018"/>
                    </a:lnTo>
                    <a:cubicBezTo>
                      <a:pt x="184780" y="159494"/>
                      <a:pt x="185618" y="159145"/>
                      <a:pt x="186133" y="158883"/>
                    </a:cubicBezTo>
                    <a:cubicBezTo>
                      <a:pt x="188106" y="158114"/>
                      <a:pt x="189538" y="158481"/>
                      <a:pt x="190717" y="160018"/>
                    </a:cubicBezTo>
                    <a:cubicBezTo>
                      <a:pt x="191765" y="161537"/>
                      <a:pt x="191503" y="162951"/>
                      <a:pt x="189669" y="164209"/>
                    </a:cubicBezTo>
                    <a:cubicBezTo>
                      <a:pt x="187434" y="165868"/>
                      <a:pt x="184430" y="167788"/>
                      <a:pt x="180885" y="169919"/>
                    </a:cubicBezTo>
                    <a:cubicBezTo>
                      <a:pt x="170024" y="176406"/>
                      <a:pt x="157835" y="181409"/>
                      <a:pt x="144345" y="184989"/>
                    </a:cubicBezTo>
                    <a:cubicBezTo>
                      <a:pt x="112749" y="193525"/>
                      <a:pt x="79253" y="191760"/>
                      <a:pt x="48729" y="179951"/>
                    </a:cubicBezTo>
                    <a:cubicBezTo>
                      <a:pt x="31300" y="173123"/>
                      <a:pt x="15241" y="163215"/>
                      <a:pt x="1318" y="150701"/>
                    </a:cubicBezTo>
                    <a:cubicBezTo>
                      <a:pt x="445" y="150055"/>
                      <a:pt x="0" y="149392"/>
                      <a:pt x="0" y="148781"/>
                    </a:cubicBezTo>
                    <a:cubicBezTo>
                      <a:pt x="0" y="148370"/>
                      <a:pt x="183" y="147995"/>
                      <a:pt x="445" y="147645"/>
                    </a:cubicBezTo>
                    <a:close/>
                    <a:moveTo>
                      <a:pt x="57714" y="93424"/>
                    </a:moveTo>
                    <a:cubicBezTo>
                      <a:pt x="57714" y="84649"/>
                      <a:pt x="59870" y="77158"/>
                      <a:pt x="64201" y="70924"/>
                    </a:cubicBezTo>
                    <a:cubicBezTo>
                      <a:pt x="68523" y="64725"/>
                      <a:pt x="74416" y="60010"/>
                      <a:pt x="82013" y="56823"/>
                    </a:cubicBezTo>
                    <a:cubicBezTo>
                      <a:pt x="88963" y="53898"/>
                      <a:pt x="97345" y="51803"/>
                      <a:pt x="107438" y="50536"/>
                    </a:cubicBezTo>
                    <a:cubicBezTo>
                      <a:pt x="110843" y="50135"/>
                      <a:pt x="116457" y="49637"/>
                      <a:pt x="124202" y="49017"/>
                    </a:cubicBezTo>
                    <a:lnTo>
                      <a:pt x="124202" y="45787"/>
                    </a:lnTo>
                    <a:cubicBezTo>
                      <a:pt x="124202" y="37667"/>
                      <a:pt x="123285" y="32183"/>
                      <a:pt x="121583" y="29416"/>
                    </a:cubicBezTo>
                    <a:cubicBezTo>
                      <a:pt x="118946" y="25661"/>
                      <a:pt x="114772" y="23740"/>
                      <a:pt x="109010" y="23740"/>
                    </a:cubicBezTo>
                    <a:lnTo>
                      <a:pt x="107421" y="23740"/>
                    </a:lnTo>
                    <a:cubicBezTo>
                      <a:pt x="103230" y="24142"/>
                      <a:pt x="99597" y="25452"/>
                      <a:pt x="96541" y="27757"/>
                    </a:cubicBezTo>
                    <a:cubicBezTo>
                      <a:pt x="93486" y="30114"/>
                      <a:pt x="91521" y="33257"/>
                      <a:pt x="90648" y="37326"/>
                    </a:cubicBezTo>
                    <a:cubicBezTo>
                      <a:pt x="90124" y="39945"/>
                      <a:pt x="88849" y="41386"/>
                      <a:pt x="86850" y="41779"/>
                    </a:cubicBezTo>
                    <a:lnTo>
                      <a:pt x="64847" y="39029"/>
                    </a:lnTo>
                    <a:cubicBezTo>
                      <a:pt x="62682" y="38505"/>
                      <a:pt x="61599" y="37457"/>
                      <a:pt x="61599" y="35624"/>
                    </a:cubicBezTo>
                    <a:cubicBezTo>
                      <a:pt x="61599" y="35222"/>
                      <a:pt x="61660" y="34838"/>
                      <a:pt x="61791" y="34314"/>
                    </a:cubicBezTo>
                    <a:cubicBezTo>
                      <a:pt x="63948" y="23051"/>
                      <a:pt x="69256" y="14669"/>
                      <a:pt x="77682" y="9168"/>
                    </a:cubicBezTo>
                    <a:cubicBezTo>
                      <a:pt x="86204" y="3789"/>
                      <a:pt x="96018" y="655"/>
                      <a:pt x="107281" y="0"/>
                    </a:cubicBezTo>
                    <a:lnTo>
                      <a:pt x="111996" y="0"/>
                    </a:lnTo>
                    <a:cubicBezTo>
                      <a:pt x="126402" y="0"/>
                      <a:pt x="137814" y="3789"/>
                      <a:pt x="145943" y="11263"/>
                    </a:cubicBezTo>
                    <a:cubicBezTo>
                      <a:pt x="147122" y="12573"/>
                      <a:pt x="148300" y="13883"/>
                      <a:pt x="149479" y="15454"/>
                    </a:cubicBezTo>
                    <a:cubicBezTo>
                      <a:pt x="150527" y="16895"/>
                      <a:pt x="151435" y="18196"/>
                      <a:pt x="151950" y="19383"/>
                    </a:cubicBezTo>
                    <a:cubicBezTo>
                      <a:pt x="152605" y="20553"/>
                      <a:pt x="153260" y="22265"/>
                      <a:pt x="153653" y="24360"/>
                    </a:cubicBezTo>
                    <a:cubicBezTo>
                      <a:pt x="154176" y="26578"/>
                      <a:pt x="154569" y="28027"/>
                      <a:pt x="154831" y="28813"/>
                    </a:cubicBezTo>
                    <a:cubicBezTo>
                      <a:pt x="155093" y="29721"/>
                      <a:pt x="155373" y="31433"/>
                      <a:pt x="155495" y="34183"/>
                    </a:cubicBezTo>
                    <a:cubicBezTo>
                      <a:pt x="155582" y="36916"/>
                      <a:pt x="155670" y="38487"/>
                      <a:pt x="155670" y="39011"/>
                    </a:cubicBezTo>
                    <a:lnTo>
                      <a:pt x="155670" y="85112"/>
                    </a:lnTo>
                    <a:cubicBezTo>
                      <a:pt x="155670" y="88395"/>
                      <a:pt x="156193" y="91399"/>
                      <a:pt x="157110" y="94158"/>
                    </a:cubicBezTo>
                    <a:cubicBezTo>
                      <a:pt x="158027" y="96891"/>
                      <a:pt x="158944" y="98873"/>
                      <a:pt x="159861" y="100043"/>
                    </a:cubicBezTo>
                    <a:lnTo>
                      <a:pt x="164313" y="105928"/>
                    </a:lnTo>
                    <a:cubicBezTo>
                      <a:pt x="165099" y="107115"/>
                      <a:pt x="165501" y="108163"/>
                      <a:pt x="165501" y="109071"/>
                    </a:cubicBezTo>
                    <a:cubicBezTo>
                      <a:pt x="165501" y="110119"/>
                      <a:pt x="164977" y="111044"/>
                      <a:pt x="163929" y="111812"/>
                    </a:cubicBezTo>
                    <a:cubicBezTo>
                      <a:pt x="153452" y="120980"/>
                      <a:pt x="147689" y="125957"/>
                      <a:pt x="146790" y="126743"/>
                    </a:cubicBezTo>
                    <a:cubicBezTo>
                      <a:pt x="145349" y="127922"/>
                      <a:pt x="143516" y="128053"/>
                      <a:pt x="141289" y="127136"/>
                    </a:cubicBezTo>
                    <a:cubicBezTo>
                      <a:pt x="139673" y="125785"/>
                      <a:pt x="138140" y="124339"/>
                      <a:pt x="136696" y="122805"/>
                    </a:cubicBezTo>
                    <a:lnTo>
                      <a:pt x="133990" y="119775"/>
                    </a:lnTo>
                    <a:cubicBezTo>
                      <a:pt x="133033" y="118579"/>
                      <a:pt x="132110" y="117356"/>
                      <a:pt x="131222" y="116108"/>
                    </a:cubicBezTo>
                    <a:lnTo>
                      <a:pt x="128603" y="112310"/>
                    </a:lnTo>
                    <a:cubicBezTo>
                      <a:pt x="121530" y="120046"/>
                      <a:pt x="114606" y="124883"/>
                      <a:pt x="107648" y="126848"/>
                    </a:cubicBezTo>
                    <a:cubicBezTo>
                      <a:pt x="103334" y="128157"/>
                      <a:pt x="98104" y="128830"/>
                      <a:pt x="91669" y="128830"/>
                    </a:cubicBezTo>
                    <a:cubicBezTo>
                      <a:pt x="81978" y="128830"/>
                      <a:pt x="73858" y="125835"/>
                      <a:pt x="67571" y="119802"/>
                    </a:cubicBezTo>
                    <a:cubicBezTo>
                      <a:pt x="61285" y="113777"/>
                      <a:pt x="58141" y="105264"/>
                      <a:pt x="58141" y="94132"/>
                    </a:cubicBezTo>
                    <a:lnTo>
                      <a:pt x="57705" y="93468"/>
                    </a:lnTo>
                    <a:close/>
                    <a:moveTo>
                      <a:pt x="90482" y="89600"/>
                    </a:moveTo>
                    <a:cubicBezTo>
                      <a:pt x="90482" y="94542"/>
                      <a:pt x="91704" y="98506"/>
                      <a:pt x="94193" y="101510"/>
                    </a:cubicBezTo>
                    <a:cubicBezTo>
                      <a:pt x="96681" y="104478"/>
                      <a:pt x="100086" y="105980"/>
                      <a:pt x="104277" y="105980"/>
                    </a:cubicBezTo>
                    <a:cubicBezTo>
                      <a:pt x="104670" y="105980"/>
                      <a:pt x="105203" y="105919"/>
                      <a:pt x="105980" y="105805"/>
                    </a:cubicBezTo>
                    <a:cubicBezTo>
                      <a:pt x="106766" y="105666"/>
                      <a:pt x="107150" y="105605"/>
                      <a:pt x="107429" y="105605"/>
                    </a:cubicBezTo>
                    <a:cubicBezTo>
                      <a:pt x="112790" y="104208"/>
                      <a:pt x="116859" y="100776"/>
                      <a:pt x="119863" y="95319"/>
                    </a:cubicBezTo>
                    <a:cubicBezTo>
                      <a:pt x="121303" y="92874"/>
                      <a:pt x="122351" y="90255"/>
                      <a:pt x="123006" y="87374"/>
                    </a:cubicBezTo>
                    <a:cubicBezTo>
                      <a:pt x="123792" y="84580"/>
                      <a:pt x="124054" y="82222"/>
                      <a:pt x="124185" y="80389"/>
                    </a:cubicBezTo>
                    <a:cubicBezTo>
                      <a:pt x="124316" y="78686"/>
                      <a:pt x="124316" y="75674"/>
                      <a:pt x="124316" y="71614"/>
                    </a:cubicBezTo>
                    <a:lnTo>
                      <a:pt x="124316" y="66899"/>
                    </a:lnTo>
                    <a:cubicBezTo>
                      <a:pt x="116981" y="66899"/>
                      <a:pt x="111358" y="67423"/>
                      <a:pt x="107552" y="68470"/>
                    </a:cubicBezTo>
                    <a:cubicBezTo>
                      <a:pt x="96419" y="71614"/>
                      <a:pt x="90788" y="78686"/>
                      <a:pt x="90788" y="89687"/>
                    </a:cubicBezTo>
                    <a:lnTo>
                      <a:pt x="90482" y="89513"/>
                    </a:lnTo>
                    <a:close/>
                    <a:moveTo>
                      <a:pt x="170478" y="150955"/>
                    </a:moveTo>
                    <a:cubicBezTo>
                      <a:pt x="170740" y="150431"/>
                      <a:pt x="171133" y="149994"/>
                      <a:pt x="171630" y="149470"/>
                    </a:cubicBezTo>
                    <a:cubicBezTo>
                      <a:pt x="174791" y="147349"/>
                      <a:pt x="177864" y="145891"/>
                      <a:pt x="180798" y="145105"/>
                    </a:cubicBezTo>
                    <a:cubicBezTo>
                      <a:pt x="185407" y="143934"/>
                      <a:pt x="190123" y="143232"/>
                      <a:pt x="194873" y="143009"/>
                    </a:cubicBezTo>
                    <a:cubicBezTo>
                      <a:pt x="196095" y="142904"/>
                      <a:pt x="197318" y="143009"/>
                      <a:pt x="198453" y="143271"/>
                    </a:cubicBezTo>
                    <a:cubicBezTo>
                      <a:pt x="204128" y="143795"/>
                      <a:pt x="207620" y="144738"/>
                      <a:pt x="208686" y="146152"/>
                    </a:cubicBezTo>
                    <a:cubicBezTo>
                      <a:pt x="209236" y="146938"/>
                      <a:pt x="209550" y="148143"/>
                      <a:pt x="209550" y="149558"/>
                    </a:cubicBezTo>
                    <a:lnTo>
                      <a:pt x="209550" y="150867"/>
                    </a:lnTo>
                    <a:cubicBezTo>
                      <a:pt x="209550" y="155320"/>
                      <a:pt x="208249" y="160559"/>
                      <a:pt x="205848" y="166584"/>
                    </a:cubicBezTo>
                    <a:cubicBezTo>
                      <a:pt x="203421" y="172608"/>
                      <a:pt x="200050" y="177480"/>
                      <a:pt x="195755" y="181252"/>
                    </a:cubicBezTo>
                    <a:cubicBezTo>
                      <a:pt x="195117" y="181776"/>
                      <a:pt x="194532" y="182038"/>
                      <a:pt x="194035" y="182038"/>
                    </a:cubicBezTo>
                    <a:cubicBezTo>
                      <a:pt x="193773" y="182038"/>
                      <a:pt x="193511" y="182038"/>
                      <a:pt x="193249" y="181933"/>
                    </a:cubicBezTo>
                    <a:cubicBezTo>
                      <a:pt x="192463" y="181549"/>
                      <a:pt x="192315" y="180885"/>
                      <a:pt x="192690" y="179838"/>
                    </a:cubicBezTo>
                    <a:cubicBezTo>
                      <a:pt x="197405" y="168836"/>
                      <a:pt x="199727" y="161127"/>
                      <a:pt x="199727" y="156787"/>
                    </a:cubicBezTo>
                    <a:cubicBezTo>
                      <a:pt x="199727" y="155477"/>
                      <a:pt x="199465" y="154430"/>
                      <a:pt x="198968" y="153784"/>
                    </a:cubicBezTo>
                    <a:cubicBezTo>
                      <a:pt x="197702" y="152334"/>
                      <a:pt x="194166" y="151540"/>
                      <a:pt x="188281" y="151540"/>
                    </a:cubicBezTo>
                    <a:cubicBezTo>
                      <a:pt x="186159" y="151540"/>
                      <a:pt x="183627" y="151679"/>
                      <a:pt x="180685" y="151941"/>
                    </a:cubicBezTo>
                    <a:cubicBezTo>
                      <a:pt x="177515" y="152334"/>
                      <a:pt x="174573" y="152727"/>
                      <a:pt x="171953" y="153120"/>
                    </a:cubicBezTo>
                    <a:cubicBezTo>
                      <a:pt x="171167" y="153120"/>
                      <a:pt x="170661" y="152998"/>
                      <a:pt x="170382" y="152736"/>
                    </a:cubicBezTo>
                    <a:cubicBezTo>
                      <a:pt x="170120" y="152474"/>
                      <a:pt x="170067" y="152325"/>
                      <a:pt x="170207" y="152064"/>
                    </a:cubicBezTo>
                    <a:cubicBezTo>
                      <a:pt x="170207" y="151915"/>
                      <a:pt x="170259" y="151802"/>
                      <a:pt x="170382" y="151513"/>
                    </a:cubicBezTo>
                    <a:lnTo>
                      <a:pt x="170382" y="15099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347204" y="2499360"/>
                <a:ext cx="6114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Amazon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572796" y="2450782"/>
                <a:ext cx="6750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$50B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938819" y="2730341"/>
                <a:ext cx="130544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dk2"/>
                    </a:solidFill>
                    <a:latin typeface="Cambria"/>
                    <a:ea typeface="SimSun"/>
                    <a:cs typeface="Cambria"/>
                  </a:rPr>
                  <a:t>41% · AWS 算力承诺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6667500" y="302895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6667500" y="3143250"/>
              <a:ext cx="4580382" cy="657225"/>
              <a:chOff x="6667500" y="3143250"/>
              <a:chExt cx="4580382" cy="657225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667500" y="3143250"/>
                <a:ext cx="57150" cy="381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858000" y="3264450"/>
                <a:ext cx="209550" cy="1386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8600">
                    <a:moveTo>
                      <a:pt x="78127" y="41342"/>
                    </a:moveTo>
                    <a:lnTo>
                      <a:pt x="78127" y="28857"/>
                    </a:lnTo>
                    <a:cubicBezTo>
                      <a:pt x="79359" y="28765"/>
                      <a:pt x="80594" y="28713"/>
                      <a:pt x="81829" y="28700"/>
                    </a:cubicBezTo>
                    <a:cubicBezTo>
                      <a:pt x="116073" y="27617"/>
                      <a:pt x="138521" y="58159"/>
                      <a:pt x="138521" y="58159"/>
                    </a:cubicBezTo>
                    <a:cubicBezTo>
                      <a:pt x="138521" y="58159"/>
                      <a:pt x="114301" y="91783"/>
                      <a:pt x="88317" y="91783"/>
                    </a:cubicBezTo>
                    <a:cubicBezTo>
                      <a:pt x="84842" y="91783"/>
                      <a:pt x="81445" y="91242"/>
                      <a:pt x="78206" y="90168"/>
                    </a:cubicBezTo>
                    <a:lnTo>
                      <a:pt x="78206" y="52222"/>
                    </a:lnTo>
                    <a:cubicBezTo>
                      <a:pt x="91547" y="53837"/>
                      <a:pt x="94245" y="59704"/>
                      <a:pt x="102191" y="73046"/>
                    </a:cubicBezTo>
                    <a:lnTo>
                      <a:pt x="120002" y="58080"/>
                    </a:lnTo>
                    <a:cubicBezTo>
                      <a:pt x="120002" y="58080"/>
                      <a:pt x="106975" y="41037"/>
                      <a:pt x="85077" y="41037"/>
                    </a:cubicBezTo>
                    <a:cubicBezTo>
                      <a:pt x="82756" y="40985"/>
                      <a:pt x="80435" y="41087"/>
                      <a:pt x="78127" y="41342"/>
                    </a:cubicBezTo>
                    <a:moveTo>
                      <a:pt x="78127" y="0"/>
                    </a:moveTo>
                    <a:lnTo>
                      <a:pt x="78127" y="18667"/>
                    </a:lnTo>
                    <a:lnTo>
                      <a:pt x="81829" y="18432"/>
                    </a:lnTo>
                    <a:cubicBezTo>
                      <a:pt x="129415" y="16816"/>
                      <a:pt x="160498" y="57460"/>
                      <a:pt x="160498" y="57460"/>
                    </a:cubicBezTo>
                    <a:cubicBezTo>
                      <a:pt x="160498" y="57460"/>
                      <a:pt x="124874" y="100802"/>
                      <a:pt x="87767" y="100802"/>
                    </a:cubicBezTo>
                    <a:cubicBezTo>
                      <a:pt x="84536" y="100802"/>
                      <a:pt x="81367" y="100497"/>
                      <a:pt x="78206" y="99955"/>
                    </a:cubicBezTo>
                    <a:lnTo>
                      <a:pt x="78206" y="111524"/>
                    </a:lnTo>
                    <a:cubicBezTo>
                      <a:pt x="80825" y="111830"/>
                      <a:pt x="83532" y="112066"/>
                      <a:pt x="86151" y="112066"/>
                    </a:cubicBezTo>
                    <a:cubicBezTo>
                      <a:pt x="120701" y="112066"/>
                      <a:pt x="145698" y="94402"/>
                      <a:pt x="169910" y="73578"/>
                    </a:cubicBezTo>
                    <a:cubicBezTo>
                      <a:pt x="173918" y="76818"/>
                      <a:pt x="190341" y="84606"/>
                      <a:pt x="193747" y="88002"/>
                    </a:cubicBezTo>
                    <a:cubicBezTo>
                      <a:pt x="170757" y="107281"/>
                      <a:pt x="117156" y="122788"/>
                      <a:pt x="86762" y="122788"/>
                    </a:cubicBezTo>
                    <a:cubicBezTo>
                      <a:pt x="83837" y="122788"/>
                      <a:pt x="81061" y="122630"/>
                      <a:pt x="78284" y="122325"/>
                    </a:cubicBezTo>
                    <a:lnTo>
                      <a:pt x="78284" y="138600"/>
                    </a:lnTo>
                    <a:lnTo>
                      <a:pt x="209550" y="138600"/>
                    </a:lnTo>
                    <a:lnTo>
                      <a:pt x="209550" y="0"/>
                    </a:lnTo>
                    <a:close/>
                    <a:moveTo>
                      <a:pt x="78127" y="90159"/>
                    </a:moveTo>
                    <a:lnTo>
                      <a:pt x="78127" y="100034"/>
                    </a:lnTo>
                    <a:cubicBezTo>
                      <a:pt x="46197" y="94324"/>
                      <a:pt x="37326" y="61093"/>
                      <a:pt x="37326" y="61093"/>
                    </a:cubicBezTo>
                    <a:cubicBezTo>
                      <a:pt x="37326" y="61093"/>
                      <a:pt x="52676" y="44119"/>
                      <a:pt x="78127" y="41342"/>
                    </a:cubicBezTo>
                    <a:lnTo>
                      <a:pt x="78127" y="52143"/>
                    </a:lnTo>
                    <a:lnTo>
                      <a:pt x="78057" y="52143"/>
                    </a:lnTo>
                    <a:cubicBezTo>
                      <a:pt x="64716" y="50519"/>
                      <a:pt x="54221" y="63013"/>
                      <a:pt x="54221" y="63013"/>
                    </a:cubicBezTo>
                    <a:cubicBezTo>
                      <a:pt x="54221" y="63013"/>
                      <a:pt x="60158" y="84073"/>
                      <a:pt x="78136" y="90168"/>
                    </a:cubicBezTo>
                    <a:moveTo>
                      <a:pt x="21444" y="59696"/>
                    </a:moveTo>
                    <a:cubicBezTo>
                      <a:pt x="21444" y="59696"/>
                      <a:pt x="40338" y="31782"/>
                      <a:pt x="78197" y="28848"/>
                    </a:cubicBezTo>
                    <a:lnTo>
                      <a:pt x="78197" y="18667"/>
                    </a:lnTo>
                    <a:cubicBezTo>
                      <a:pt x="36261" y="22064"/>
                      <a:pt x="0" y="57539"/>
                      <a:pt x="0" y="57539"/>
                    </a:cubicBezTo>
                    <a:cubicBezTo>
                      <a:pt x="0" y="57539"/>
                      <a:pt x="20518" y="116929"/>
                      <a:pt x="78127" y="122325"/>
                    </a:cubicBezTo>
                    <a:lnTo>
                      <a:pt x="78127" y="111524"/>
                    </a:lnTo>
                    <a:cubicBezTo>
                      <a:pt x="35868" y="106286"/>
                      <a:pt x="21444" y="59696"/>
                      <a:pt x="21444" y="596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347204" y="3261360"/>
                <a:ext cx="4916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Nvidia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572796" y="3212782"/>
                <a:ext cx="6750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chemeClr val="accent3"/>
                    </a:solidFill>
                    <a:latin typeface="Cambria"/>
                    <a:ea typeface="Cambria"/>
                    <a:cs typeface="Cambria"/>
                  </a:rPr>
                  <a:t>$30B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860923" y="3492341"/>
                <a:ext cx="138334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dk2"/>
                    </a:solidFill>
                    <a:latin typeface="Cambria"/>
                    <a:ea typeface="SimSun"/>
                    <a:cs typeface="Cambria"/>
                  </a:rPr>
                  <a:t>25% · 10GW 系统部署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6667500" y="379095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6667500" y="3905250"/>
              <a:ext cx="4580382" cy="657225"/>
              <a:chOff x="6667500" y="3905250"/>
              <a:chExt cx="4580382" cy="657225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667500" y="3905250"/>
                <a:ext cx="57150" cy="381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851904" y="4023360"/>
                <a:ext cx="8430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SoftBank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0572796" y="3974782"/>
                <a:ext cx="6750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chemeClr val="dk1"/>
                    </a:solidFill>
                    <a:latin typeface="Cambria"/>
                    <a:ea typeface="Cambria"/>
                    <a:cs typeface="Cambria"/>
                  </a:rPr>
                  <a:t>$30B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833534" y="4254341"/>
                <a:ext cx="141072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dk2"/>
                    </a:solidFill>
                    <a:latin typeface="Cambria"/>
                    <a:ea typeface="SimSun"/>
                    <a:cs typeface="Cambria"/>
                  </a:rPr>
                  <a:t>25% · Stargate 联合主体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6667500" y="455295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44" name="Group 44"/>
            <p:cNvGrpSpPr/>
            <p:nvPr/>
          </p:nvGrpSpPr>
          <p:grpSpPr>
            <a:xfrm>
              <a:off x="6667500" y="4667250"/>
              <a:ext cx="4580382" cy="657225"/>
              <a:chOff x="6667500" y="4667250"/>
              <a:chExt cx="4580382" cy="657225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667500" y="4667250"/>
                <a:ext cx="57150" cy="381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858000" y="4752975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0" y="0"/>
                    </a:moveTo>
                    <a:lnTo>
                      <a:pt x="0" y="99606"/>
                    </a:lnTo>
                    <a:lnTo>
                      <a:pt x="99606" y="99606"/>
                    </a:lnTo>
                    <a:lnTo>
                      <a:pt x="99606" y="0"/>
                    </a:lnTo>
                    <a:close/>
                    <a:moveTo>
                      <a:pt x="109961" y="0"/>
                    </a:moveTo>
                    <a:lnTo>
                      <a:pt x="109961" y="99606"/>
                    </a:lnTo>
                    <a:lnTo>
                      <a:pt x="209550" y="99606"/>
                    </a:lnTo>
                    <a:lnTo>
                      <a:pt x="209550" y="0"/>
                    </a:lnTo>
                    <a:close/>
                    <a:moveTo>
                      <a:pt x="0" y="109961"/>
                    </a:moveTo>
                    <a:lnTo>
                      <a:pt x="0" y="209550"/>
                    </a:lnTo>
                    <a:lnTo>
                      <a:pt x="99606" y="209550"/>
                    </a:lnTo>
                    <a:lnTo>
                      <a:pt x="99606" y="109961"/>
                    </a:lnTo>
                    <a:close/>
                    <a:moveTo>
                      <a:pt x="109961" y="109961"/>
                    </a:moveTo>
                    <a:lnTo>
                      <a:pt x="109961" y="209550"/>
                    </a:lnTo>
                    <a:lnTo>
                      <a:pt x="209550" y="209550"/>
                    </a:lnTo>
                    <a:lnTo>
                      <a:pt x="209550" y="10996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347204" y="4785360"/>
                <a:ext cx="15620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MSFT + a16z + 其他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572796" y="4736782"/>
                <a:ext cx="6750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650" b="1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$12B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664431" y="5016341"/>
                <a:ext cx="157983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dk2"/>
                    </a:solidFill>
                    <a:latin typeface="Cambria"/>
                    <a:ea typeface="SimSun"/>
                    <a:cs typeface="Cambria"/>
                  </a:rPr>
                  <a:t>9% · 包含 T. Rowe Price 等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6667500" y="5314950"/>
                <a:ext cx="457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9525">
                    <a:moveTo>
                      <a:pt x="0" y="0"/>
                    </a:moveTo>
                    <a:lnTo>
                      <a:pt x="4572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47" name="Group 47"/>
            <p:cNvGrpSpPr/>
            <p:nvPr/>
          </p:nvGrpSpPr>
          <p:grpSpPr>
            <a:xfrm>
              <a:off x="6661785" y="5625941"/>
              <a:ext cx="3752570" cy="454343"/>
              <a:chOff x="6661785" y="5625941"/>
              <a:chExt cx="3752570" cy="454343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6662738" y="5625941"/>
                <a:ext cx="127625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spc="225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OBSERVATION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661785" y="5860256"/>
                <a:ext cx="375257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 xml:space="preserve">三大投资人合计 </a:t>
                </a:r>
                <a:r>
                  <a:rPr lang="zh-CN" sz="112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91%</a:t>
                </a:r>
                <a:r>
                  <a:rPr lang="zh-CN" sz="1120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 xml:space="preserve">——同时是 OpenAI 的 </a:t>
                </a:r>
                <a:r>
                  <a:rPr lang="zh-CN" sz="112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最大客户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566738" y="6477000"/>
            <a:ext cx="11058525" cy="257176"/>
            <a:chOff x="566738" y="6477000"/>
            <a:chExt cx="11058525" cy="257176"/>
          </a:xfrm>
        </p:grpSpPr>
        <p:sp>
          <p:nvSpPr>
            <p:cNvPr id="49" name="Line 49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66738" y="6586538"/>
              <a:ext cx="337659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OpenAI press 2026-03-31 · Bloomberg · TechCrunch · CNBC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08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1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7219569" cy="1095470"/>
            <a:chOff x="560832" y="444341"/>
            <a:chExt cx="7219569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28858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II · THE BIG THREE · 09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547806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三种成长曲线 / 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Three Growth Curves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7214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OpenAI is the consumer machine. Anthropic is the enterprise machine. xAI is the merger machine.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905000"/>
            <a:ext cx="3619500" cy="4095750"/>
            <a:chOff x="571500" y="1905000"/>
            <a:chExt cx="3619500" cy="4095750"/>
          </a:xfrm>
        </p:grpSpPr>
        <p:sp>
          <p:nvSpPr>
            <p:cNvPr id="7" name="Rectangle 7"/>
            <p:cNvSpPr/>
            <p:nvPr/>
          </p:nvSpPr>
          <p:spPr>
            <a:xfrm>
              <a:off x="571500" y="1905000"/>
              <a:ext cx="3619500" cy="4095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905000"/>
              <a:ext cx="36195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58487" y="2092231"/>
              <a:ext cx="254637" cy="251018"/>
            </a:xfrm>
            <a:custGeom>
              <a:avLst/>
              <a:gdLst/>
              <a:ahLst/>
              <a:cxnLst/>
              <a:rect l="l" t="t" r="r" b="b"/>
              <a:pathLst>
                <a:path w="254637" h="251018">
                  <a:moveTo>
                    <a:pt x="233433" y="104610"/>
                  </a:moveTo>
                  <a:cubicBezTo>
                    <a:pt x="239035" y="87740"/>
                    <a:pt x="237096" y="69275"/>
                    <a:pt x="228112" y="53937"/>
                  </a:cubicBezTo>
                  <a:cubicBezTo>
                    <a:pt x="214604" y="30424"/>
                    <a:pt x="187454" y="18329"/>
                    <a:pt x="160939" y="24012"/>
                  </a:cubicBezTo>
                  <a:cubicBezTo>
                    <a:pt x="145997" y="7391"/>
                    <a:pt x="123325" y="0"/>
                    <a:pt x="101458" y="4621"/>
                  </a:cubicBezTo>
                  <a:cubicBezTo>
                    <a:pt x="79591" y="9242"/>
                    <a:pt x="61847" y="25174"/>
                    <a:pt x="54907" y="46419"/>
                  </a:cubicBezTo>
                  <a:cubicBezTo>
                    <a:pt x="37490" y="49991"/>
                    <a:pt x="22458" y="60896"/>
                    <a:pt x="13656" y="76344"/>
                  </a:cubicBezTo>
                  <a:cubicBezTo>
                    <a:pt x="0" y="99819"/>
                    <a:pt x="3099" y="129432"/>
                    <a:pt x="21320" y="149571"/>
                  </a:cubicBezTo>
                  <a:cubicBezTo>
                    <a:pt x="15697" y="166433"/>
                    <a:pt x="17619" y="184901"/>
                    <a:pt x="26593" y="200244"/>
                  </a:cubicBezTo>
                  <a:cubicBezTo>
                    <a:pt x="40118" y="223765"/>
                    <a:pt x="67286" y="235859"/>
                    <a:pt x="93815" y="230169"/>
                  </a:cubicBezTo>
                  <a:cubicBezTo>
                    <a:pt x="105615" y="243457"/>
                    <a:pt x="122567" y="251018"/>
                    <a:pt x="140338" y="250918"/>
                  </a:cubicBezTo>
                  <a:cubicBezTo>
                    <a:pt x="167516" y="250943"/>
                    <a:pt x="191593" y="233398"/>
                    <a:pt x="199896" y="207519"/>
                  </a:cubicBezTo>
                  <a:cubicBezTo>
                    <a:pt x="217310" y="203942"/>
                    <a:pt x="232341" y="193038"/>
                    <a:pt x="241147" y="177594"/>
                  </a:cubicBezTo>
                  <a:cubicBezTo>
                    <a:pt x="254637" y="154160"/>
                    <a:pt x="251525" y="124707"/>
                    <a:pt x="233433" y="104611"/>
                  </a:cubicBezTo>
                  <a:close/>
                  <a:moveTo>
                    <a:pt x="140338" y="234709"/>
                  </a:moveTo>
                  <a:cubicBezTo>
                    <a:pt x="129490" y="234726"/>
                    <a:pt x="118982" y="230924"/>
                    <a:pt x="110657" y="223969"/>
                  </a:cubicBezTo>
                  <a:lnTo>
                    <a:pt x="112121" y="223140"/>
                  </a:lnTo>
                  <a:lnTo>
                    <a:pt x="161427" y="194679"/>
                  </a:lnTo>
                  <a:cubicBezTo>
                    <a:pt x="163924" y="193214"/>
                    <a:pt x="165464" y="190543"/>
                    <a:pt x="165480" y="187649"/>
                  </a:cubicBezTo>
                  <a:lnTo>
                    <a:pt x="165480" y="118132"/>
                  </a:lnTo>
                  <a:lnTo>
                    <a:pt x="186323" y="130191"/>
                  </a:lnTo>
                  <a:cubicBezTo>
                    <a:pt x="186532" y="130297"/>
                    <a:pt x="186678" y="130496"/>
                    <a:pt x="186715" y="130727"/>
                  </a:cubicBezTo>
                  <a:lnTo>
                    <a:pt x="186715" y="188333"/>
                  </a:lnTo>
                  <a:cubicBezTo>
                    <a:pt x="186661" y="213923"/>
                    <a:pt x="165929" y="234655"/>
                    <a:pt x="140338" y="234709"/>
                  </a:cubicBezTo>
                  <a:close/>
                  <a:moveTo>
                    <a:pt x="40652" y="192140"/>
                  </a:moveTo>
                  <a:cubicBezTo>
                    <a:pt x="35212" y="182746"/>
                    <a:pt x="33258" y="171735"/>
                    <a:pt x="35136" y="161043"/>
                  </a:cubicBezTo>
                  <a:lnTo>
                    <a:pt x="36601" y="161922"/>
                  </a:lnTo>
                  <a:lnTo>
                    <a:pt x="85955" y="190383"/>
                  </a:lnTo>
                  <a:cubicBezTo>
                    <a:pt x="88442" y="191842"/>
                    <a:pt x="91523" y="191842"/>
                    <a:pt x="94010" y="190383"/>
                  </a:cubicBezTo>
                  <a:lnTo>
                    <a:pt x="154300" y="155624"/>
                  </a:lnTo>
                  <a:lnTo>
                    <a:pt x="154300" y="179692"/>
                  </a:lnTo>
                  <a:cubicBezTo>
                    <a:pt x="154289" y="179944"/>
                    <a:pt x="154163" y="180178"/>
                    <a:pt x="153958" y="180326"/>
                  </a:cubicBezTo>
                  <a:lnTo>
                    <a:pt x="104017" y="209129"/>
                  </a:lnTo>
                  <a:cubicBezTo>
                    <a:pt x="81825" y="221913"/>
                    <a:pt x="53472" y="214312"/>
                    <a:pt x="40652" y="192140"/>
                  </a:cubicBezTo>
                  <a:close/>
                  <a:moveTo>
                    <a:pt x="27667" y="84741"/>
                  </a:moveTo>
                  <a:cubicBezTo>
                    <a:pt x="33145" y="75287"/>
                    <a:pt x="41791" y="68076"/>
                    <a:pt x="52076" y="64384"/>
                  </a:cubicBezTo>
                  <a:lnTo>
                    <a:pt x="52076" y="122966"/>
                  </a:lnTo>
                  <a:cubicBezTo>
                    <a:pt x="52038" y="125848"/>
                    <a:pt x="53572" y="128523"/>
                    <a:pt x="56078" y="129946"/>
                  </a:cubicBezTo>
                  <a:lnTo>
                    <a:pt x="116076" y="164558"/>
                  </a:lnTo>
                  <a:lnTo>
                    <a:pt x="95231" y="176616"/>
                  </a:lnTo>
                  <a:cubicBezTo>
                    <a:pt x="95002" y="176737"/>
                    <a:pt x="94727" y="176737"/>
                    <a:pt x="94498" y="176616"/>
                  </a:cubicBezTo>
                  <a:lnTo>
                    <a:pt x="44656" y="147863"/>
                  </a:lnTo>
                  <a:cubicBezTo>
                    <a:pt x="22508" y="135025"/>
                    <a:pt x="14912" y="106693"/>
                    <a:pt x="27667" y="84497"/>
                  </a:cubicBezTo>
                  <a:close/>
                  <a:moveTo>
                    <a:pt x="198919" y="124528"/>
                  </a:moveTo>
                  <a:lnTo>
                    <a:pt x="138727" y="89574"/>
                  </a:lnTo>
                  <a:lnTo>
                    <a:pt x="159524" y="77563"/>
                  </a:lnTo>
                  <a:cubicBezTo>
                    <a:pt x="159753" y="77442"/>
                    <a:pt x="160027" y="77442"/>
                    <a:pt x="160256" y="77563"/>
                  </a:cubicBezTo>
                  <a:lnTo>
                    <a:pt x="210099" y="106366"/>
                  </a:lnTo>
                  <a:cubicBezTo>
                    <a:pt x="225655" y="115342"/>
                    <a:pt x="234630" y="132494"/>
                    <a:pt x="233136" y="150393"/>
                  </a:cubicBezTo>
                  <a:cubicBezTo>
                    <a:pt x="231642" y="168291"/>
                    <a:pt x="219948" y="183718"/>
                    <a:pt x="203118" y="189991"/>
                  </a:cubicBezTo>
                  <a:lnTo>
                    <a:pt x="203118" y="131409"/>
                  </a:lnTo>
                  <a:cubicBezTo>
                    <a:pt x="203030" y="128535"/>
                    <a:pt x="201434" y="125920"/>
                    <a:pt x="198918" y="124527"/>
                  </a:cubicBezTo>
                  <a:close/>
                  <a:moveTo>
                    <a:pt x="219667" y="93333"/>
                  </a:moveTo>
                  <a:lnTo>
                    <a:pt x="218202" y="92454"/>
                  </a:lnTo>
                  <a:lnTo>
                    <a:pt x="168946" y="63750"/>
                  </a:lnTo>
                  <a:cubicBezTo>
                    <a:pt x="166444" y="62281"/>
                    <a:pt x="163343" y="62281"/>
                    <a:pt x="160841" y="63750"/>
                  </a:cubicBezTo>
                  <a:lnTo>
                    <a:pt x="100602" y="98507"/>
                  </a:lnTo>
                  <a:lnTo>
                    <a:pt x="100602" y="74441"/>
                  </a:lnTo>
                  <a:cubicBezTo>
                    <a:pt x="100576" y="74192"/>
                    <a:pt x="100688" y="73948"/>
                    <a:pt x="100895" y="73806"/>
                  </a:cubicBezTo>
                  <a:lnTo>
                    <a:pt x="150737" y="45052"/>
                  </a:lnTo>
                  <a:cubicBezTo>
                    <a:pt x="166332" y="36068"/>
                    <a:pt x="185713" y="36907"/>
                    <a:pt x="200474" y="47203"/>
                  </a:cubicBezTo>
                  <a:cubicBezTo>
                    <a:pt x="215234" y="57500"/>
                    <a:pt x="222714" y="75400"/>
                    <a:pt x="219668" y="93137"/>
                  </a:cubicBezTo>
                  <a:close/>
                  <a:moveTo>
                    <a:pt x="89225" y="135998"/>
                  </a:moveTo>
                  <a:lnTo>
                    <a:pt x="68381" y="123989"/>
                  </a:lnTo>
                  <a:cubicBezTo>
                    <a:pt x="68170" y="123862"/>
                    <a:pt x="68027" y="123648"/>
                    <a:pt x="67989" y="123404"/>
                  </a:cubicBezTo>
                  <a:lnTo>
                    <a:pt x="67989" y="65946"/>
                  </a:lnTo>
                  <a:cubicBezTo>
                    <a:pt x="68013" y="47953"/>
                    <a:pt x="78432" y="31593"/>
                    <a:pt x="94728" y="23962"/>
                  </a:cubicBezTo>
                  <a:cubicBezTo>
                    <a:pt x="111024" y="16331"/>
                    <a:pt x="130261" y="18805"/>
                    <a:pt x="144097" y="30309"/>
                  </a:cubicBezTo>
                  <a:lnTo>
                    <a:pt x="142632" y="31139"/>
                  </a:lnTo>
                  <a:lnTo>
                    <a:pt x="93327" y="59598"/>
                  </a:lnTo>
                  <a:cubicBezTo>
                    <a:pt x="90830" y="61063"/>
                    <a:pt x="89290" y="63734"/>
                    <a:pt x="89275" y="66629"/>
                  </a:cubicBezTo>
                  <a:close/>
                  <a:moveTo>
                    <a:pt x="100551" y="111590"/>
                  </a:moveTo>
                  <a:lnTo>
                    <a:pt x="127400" y="96114"/>
                  </a:lnTo>
                  <a:lnTo>
                    <a:pt x="154300" y="111590"/>
                  </a:lnTo>
                  <a:lnTo>
                    <a:pt x="154300" y="142540"/>
                  </a:lnTo>
                  <a:lnTo>
                    <a:pt x="127498" y="158015"/>
                  </a:lnTo>
                  <a:lnTo>
                    <a:pt x="100601" y="14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094" y="2437448"/>
              <a:ext cx="106774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OpenAI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7238" y="2779395"/>
              <a:ext cx="15717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75" dirty="0">
                  <a:solidFill>
                    <a:schemeClr val="dk2"/>
                  </a:solidFill>
                  <a:latin typeface="Cambria"/>
                  <a:ea typeface="SimSun"/>
                  <a:cs typeface="Cambria"/>
                </a:rPr>
                <a:t>消费驱动 · IPO 临门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762000" y="30861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43712" y="3059430"/>
              <a:ext cx="1832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$852B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3552349"/>
              <a:ext cx="12644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Valuation @ 2026-03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2856" y="3901440"/>
              <a:ext cx="9160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ambria"/>
                  <a:ea typeface="Cambria"/>
                  <a:cs typeface="Cambria"/>
                </a:rPr>
                <a:t>~$24B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238" y="4189095"/>
              <a:ext cx="777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ARR · $2B/月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666" y="4553902"/>
              <a:ext cx="1300162" cy="662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lnSpc>
                  <a:spcPts val="18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 亿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周活</a:t>
              </a:r>
            </a:p>
            <a:p>
              <a:pPr algn="l" marL="113348" indent="-113348">
                <a:lnSpc>
                  <a:spcPts val="18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企业收入占比 </a:t>
              </a: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40%+</a:t>
              </a:r>
            </a:p>
            <a:p>
              <a:pPr algn="l" marL="113348" indent="-113348">
                <a:lnSpc>
                  <a:spcPts val="18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Q4 IPO 目标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$1T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62000" y="5667375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7238" y="5789295"/>
              <a:ext cx="2644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"The consumer giant turning enterprise."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286250" y="1905000"/>
            <a:ext cx="3619500" cy="4095750"/>
            <a:chOff x="4286250" y="1905000"/>
            <a:chExt cx="3619500" cy="4095750"/>
          </a:xfrm>
        </p:grpSpPr>
        <p:sp>
          <p:nvSpPr>
            <p:cNvPr id="21" name="Rectangle 21"/>
            <p:cNvSpPr/>
            <p:nvPr/>
          </p:nvSpPr>
          <p:spPr>
            <a:xfrm>
              <a:off x="4286250" y="1905000"/>
              <a:ext cx="3619500" cy="4095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286250" y="1905000"/>
              <a:ext cx="36195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476750" y="2132038"/>
              <a:ext cx="247649" cy="174574"/>
            </a:xfrm>
            <a:custGeom>
              <a:avLst/>
              <a:gdLst/>
              <a:ahLst/>
              <a:cxnLst/>
              <a:rect l="l" t="t" r="r" b="b"/>
              <a:pathLst>
                <a:path w="247649" h="174574">
                  <a:moveTo>
                    <a:pt x="178556" y="1"/>
                  </a:moveTo>
                  <a:lnTo>
                    <a:pt x="140668" y="1"/>
                  </a:lnTo>
                  <a:lnTo>
                    <a:pt x="209762" y="174573"/>
                  </a:lnTo>
                  <a:lnTo>
                    <a:pt x="247649" y="174573"/>
                  </a:lnTo>
                  <a:close/>
                  <a:moveTo>
                    <a:pt x="69093" y="1"/>
                  </a:moveTo>
                  <a:lnTo>
                    <a:pt x="0" y="174573"/>
                  </a:lnTo>
                  <a:lnTo>
                    <a:pt x="38635" y="174573"/>
                  </a:lnTo>
                  <a:lnTo>
                    <a:pt x="52765" y="137914"/>
                  </a:lnTo>
                  <a:lnTo>
                    <a:pt x="125049" y="137914"/>
                  </a:lnTo>
                  <a:lnTo>
                    <a:pt x="139179" y="174574"/>
                  </a:lnTo>
                  <a:lnTo>
                    <a:pt x="177814" y="174574"/>
                  </a:lnTo>
                  <a:lnTo>
                    <a:pt x="108721" y="0"/>
                  </a:lnTo>
                  <a:close/>
                  <a:moveTo>
                    <a:pt x="65263" y="105491"/>
                  </a:moveTo>
                  <a:lnTo>
                    <a:pt x="88907" y="44140"/>
                  </a:lnTo>
                  <a:lnTo>
                    <a:pt x="112551" y="1054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66844" y="2437448"/>
              <a:ext cx="142121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Anthropic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71988" y="2779395"/>
              <a:ext cx="12875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75" dirty="0">
                  <a:solidFill>
                    <a:schemeClr val="dk2"/>
                  </a:solidFill>
                  <a:latin typeface="Cambria"/>
                  <a:ea typeface="SimSun"/>
                  <a:cs typeface="Cambria"/>
                </a:rPr>
                <a:t>企业驱动 · 估值反超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476750" y="30861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458462" y="3059430"/>
              <a:ext cx="1832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accent3"/>
                  </a:solidFill>
                  <a:latin typeface="Cambria"/>
                  <a:ea typeface="Cambria"/>
                  <a:cs typeface="Cambria"/>
                </a:rPr>
                <a:t>$380B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71797" y="3552349"/>
              <a:ext cx="13706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Series G · 在谈 $900B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67606" y="3901440"/>
              <a:ext cx="9160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ambria"/>
                  <a:ea typeface="Cambria"/>
                  <a:cs typeface="Cambria"/>
                </a:rPr>
                <a:t>$30B+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71988" y="4189095"/>
              <a:ext cx="11360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ARR · 历史最快爬升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471416" y="4553902"/>
              <a:ext cx="1677543" cy="662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lnSpc>
                  <a:spcPts val="18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25 → 26 年初：$9B → $30B</a:t>
              </a:r>
            </a:p>
            <a:p>
              <a:pPr algn="l" marL="113348" indent="-113348">
                <a:lnSpc>
                  <a:spcPts val="18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Google 累计承诺 </a:t>
              </a: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$40B</a:t>
              </a:r>
            </a:p>
            <a:p>
              <a:pPr algn="l" marL="113348" indent="-113348">
                <a:lnSpc>
                  <a:spcPts val="18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在谈估值已超 OpenAI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4476750" y="5667375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471988" y="5789295"/>
              <a:ext cx="219016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"The enterprise stack ascending."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001000" y="1905000"/>
            <a:ext cx="3619500" cy="4095750"/>
            <a:chOff x="8001000" y="1905000"/>
            <a:chExt cx="3619500" cy="4095750"/>
          </a:xfrm>
        </p:grpSpPr>
        <p:sp>
          <p:nvSpPr>
            <p:cNvPr id="35" name="Rectangle 35"/>
            <p:cNvSpPr/>
            <p:nvPr/>
          </p:nvSpPr>
          <p:spPr>
            <a:xfrm>
              <a:off x="8001000" y="1905000"/>
              <a:ext cx="3619500" cy="4095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8001000" y="1905000"/>
              <a:ext cx="3619500" cy="571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183118" y="2145982"/>
              <a:ext cx="4110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xAI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81594" y="2437448"/>
              <a:ext cx="131477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+ SpaceX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86738" y="2779395"/>
              <a:ext cx="12875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75" dirty="0">
                  <a:solidFill>
                    <a:schemeClr val="dk2"/>
                  </a:solidFill>
                  <a:latin typeface="Cambria"/>
                  <a:ea typeface="SimSun"/>
                  <a:cs typeface="Cambria"/>
                </a:rPr>
                <a:t>合并叙事 · 协同效应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8191500" y="30861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173212" y="3059430"/>
              <a:ext cx="219108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chemeClr val="dk1"/>
                  </a:solidFill>
                  <a:latin typeface="Cambria"/>
                  <a:ea typeface="Cambria"/>
                  <a:cs typeface="Cambria"/>
                </a:rPr>
                <a:t>$1.25T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86547" y="3552349"/>
              <a:ext cx="17152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合并实体估值 (xAI: $230B)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82356" y="3901440"/>
              <a:ext cx="7364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ambria"/>
                  <a:ea typeface="Cambria"/>
                  <a:cs typeface="Cambria"/>
                </a:rPr>
                <a:t>~$5B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86738" y="4189095"/>
              <a:ext cx="116988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ARR 估算 (X / Grok)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86166" y="4553902"/>
              <a:ext cx="1876901" cy="662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lnSpc>
                  <a:spcPts val="18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Jan 2026: $15B → 超募 $20B</a:t>
              </a:r>
            </a:p>
            <a:p>
              <a:pPr algn="l" marL="113348" indent="-113348">
                <a:lnSpc>
                  <a:spcPts val="18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Tesla 投资 </a:t>
              </a: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$2B</a:t>
              </a:r>
            </a:p>
            <a:p>
              <a:pPr algn="l" marL="113348" indent="-113348">
                <a:lnSpc>
                  <a:spcPts val="180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Feb 与 SpaceX 合并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IPO 铺路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8191500" y="5667375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chemeClr val="dk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86738" y="5789295"/>
              <a:ext cx="232499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"Musk's vertically-integrated bet."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6191250"/>
            <a:ext cx="11049000" cy="390906"/>
            <a:chOff x="571500" y="6191250"/>
            <a:chExt cx="11049000" cy="390906"/>
          </a:xfrm>
        </p:grpSpPr>
        <p:sp>
          <p:nvSpPr>
            <p:cNvPr id="49" name="Line 49"/>
            <p:cNvSpPr/>
            <p:nvPr/>
          </p:nvSpPr>
          <p:spPr>
            <a:xfrm>
              <a:off x="571500" y="6191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068105" y="6347460"/>
              <a:ext cx="4055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三家估值合计 </a:t>
              </a:r>
              <a:r>
                <a:rPr lang="zh-CN" sz="1200" b="1" i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$2.48T</a:t>
              </a:r>
              <a:r>
                <a:rPr lang="zh-CN" sz="120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 — 超过同期苹果市值的 </a:t>
              </a:r>
              <a:r>
                <a:rPr lang="zh-CN" sz="1200" b="1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2/3</a:t>
              </a:r>
              <a:r>
                <a:rPr lang="zh-CN" sz="120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6738" y="6681788"/>
            <a:ext cx="11058525" cy="147638"/>
            <a:chOff x="566738" y="6681788"/>
            <a:chExt cx="11058525" cy="147638"/>
          </a:xfrm>
        </p:grpSpPr>
        <p:sp>
          <p:nvSpPr>
            <p:cNvPr id="52" name="TextBox 52"/>
            <p:cNvSpPr txBox="1"/>
            <p:nvPr/>
          </p:nvSpPr>
          <p:spPr>
            <a:xfrm>
              <a:off x="566738" y="6681788"/>
              <a:ext cx="423026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company press releases · Bloomberg · CNBC · TechCrunch · Fortune Q1 2026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58360" y="668178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09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6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6623495" cy="1095470"/>
            <a:chOff x="560832" y="444341"/>
            <a:chExt cx="6623495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26806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III · CHINA CAMP · 10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66234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中国 AI 五雄：</a:t>
              </a:r>
              <a:r>
                <a:rPr lang="zh-CN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DeepSeek</a:t>
              </a:r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 领跑，估值阶梯分明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37927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China's AI five — privately valued vs. publicly listed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846190" y="1905000"/>
            <a:ext cx="9553866" cy="4574857"/>
            <a:chOff x="1846190" y="1905000"/>
            <a:chExt cx="9553866" cy="4574857"/>
          </a:xfrm>
        </p:grpSpPr>
        <p:grpSp>
          <p:nvGrpSpPr>
            <p:cNvPr id="20" name="Group 20"/>
            <p:cNvGrpSpPr/>
            <p:nvPr/>
          </p:nvGrpSpPr>
          <p:grpSpPr>
            <a:xfrm>
              <a:off x="3169587" y="1905000"/>
              <a:ext cx="8230469" cy="4111466"/>
              <a:chOff x="3169587" y="1905000"/>
              <a:chExt cx="8230469" cy="4111466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3238500" y="1905000"/>
                <a:ext cx="9525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0">
                    <a:moveTo>
                      <a:pt x="0" y="0"/>
                    </a:moveTo>
                    <a:lnTo>
                      <a:pt x="0" y="3810000"/>
                    </a:lnTo>
                  </a:path>
                </a:pathLst>
              </a:custGeom>
              <a:noFill/>
              <a:ln w="9525">
                <a:solidFill>
                  <a:srgbClr val="5C5852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3238500" y="5715000"/>
                <a:ext cx="800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01000" h="9525">
                    <a:moveTo>
                      <a:pt x="0" y="0"/>
                    </a:moveTo>
                    <a:lnTo>
                      <a:pt x="8001000" y="0"/>
                    </a:lnTo>
                  </a:path>
                </a:pathLst>
              </a:custGeom>
              <a:noFill/>
              <a:ln w="9525">
                <a:solidFill>
                  <a:srgbClr val="5C5852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4838700" y="1905000"/>
                <a:ext cx="9525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0">
                    <a:moveTo>
                      <a:pt x="0" y="0"/>
                    </a:moveTo>
                    <a:lnTo>
                      <a:pt x="0" y="3810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6438900" y="1905000"/>
                <a:ext cx="9525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0">
                    <a:moveTo>
                      <a:pt x="0" y="0"/>
                    </a:moveTo>
                    <a:lnTo>
                      <a:pt x="0" y="3810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8039100" y="1905000"/>
                <a:ext cx="9525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0">
                    <a:moveTo>
                      <a:pt x="0" y="0"/>
                    </a:moveTo>
                    <a:lnTo>
                      <a:pt x="0" y="3810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9639300" y="1905000"/>
                <a:ext cx="9525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0">
                    <a:moveTo>
                      <a:pt x="0" y="0"/>
                    </a:moveTo>
                    <a:lnTo>
                      <a:pt x="0" y="3810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1239500" y="1905000"/>
                <a:ext cx="9525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0">
                    <a:moveTo>
                      <a:pt x="0" y="0"/>
                    </a:moveTo>
                    <a:lnTo>
                      <a:pt x="0" y="38100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200000" sp="400000"/>
                </a:custDash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3169587" y="5854541"/>
                <a:ext cx="13782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78144" y="5854541"/>
                <a:ext cx="32111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$15B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278344" y="5854541"/>
                <a:ext cx="32111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$30B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78544" y="5854541"/>
                <a:ext cx="32111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$45B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478744" y="5854541"/>
                <a:ext cx="32111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$60B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078944" y="5854541"/>
                <a:ext cx="32111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$75B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164570" y="2209800"/>
              <a:ext cx="7185475" cy="396716"/>
              <a:chOff x="2164570" y="2209800"/>
              <a:chExt cx="7185475" cy="396716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2475633" y="2248852"/>
                <a:ext cx="67295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DeepSeek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164570" y="2444591"/>
                <a:ext cx="98344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national fund-led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238500" y="2209800"/>
                <a:ext cx="5334000" cy="3810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736330" y="2305050"/>
                <a:ext cx="6137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$50B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847053" y="2876550"/>
              <a:ext cx="8449929" cy="396716"/>
              <a:chOff x="1847053" y="2876550"/>
              <a:chExt cx="8449929" cy="396716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2247881" y="2915602"/>
                <a:ext cx="90070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Zhipu AI 智谱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847053" y="3111341"/>
                <a:ext cx="130095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HK listed · market cap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3238500" y="2876550"/>
                <a:ext cx="5981700" cy="381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384030" y="2971800"/>
                <a:ext cx="9129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3"/>
                    </a:solidFill>
                    <a:latin typeface="Cambria"/>
                    <a:ea typeface="Cambria"/>
                    <a:cs typeface="Cambria"/>
                  </a:rPr>
                  <a:t>$56.1B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847053" y="3543300"/>
              <a:ext cx="6440154" cy="396716"/>
              <a:chOff x="1847053" y="3543300"/>
              <a:chExt cx="6440154" cy="396716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2572345" y="3582352"/>
                <a:ext cx="57623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MiniMax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847053" y="3778091"/>
                <a:ext cx="130095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HK listed · market cap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238500" y="3543300"/>
                <a:ext cx="3971925" cy="3810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374255" y="3638550"/>
                <a:ext cx="9129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3"/>
                    </a:solidFill>
                    <a:latin typeface="Cambria"/>
                    <a:ea typeface="Cambria"/>
                    <a:cs typeface="Cambria"/>
                  </a:rPr>
                  <a:t>$37.2B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954348" y="4210050"/>
              <a:ext cx="4195297" cy="396716"/>
              <a:chOff x="1954348" y="4210050"/>
              <a:chExt cx="4195297" cy="396716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1954348" y="4249102"/>
                <a:ext cx="119423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Moonshot (Kimi)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018298" y="4444841"/>
                <a:ext cx="1129714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SimSun"/>
                    <a:cs typeface="Cambria"/>
                  </a:rPr>
                  <a:t>Series D · 美团领投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3238500" y="4210050"/>
                <a:ext cx="2133600" cy="381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535930" y="4305300"/>
                <a:ext cx="6137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Cambria"/>
                    <a:ea typeface="Cambria"/>
                    <a:cs typeface="Cambria"/>
                  </a:rPr>
                  <a:t>$20B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846190" y="4876800"/>
              <a:ext cx="3027105" cy="396716"/>
              <a:chOff x="1846190" y="4876800"/>
              <a:chExt cx="3027105" cy="396716"/>
            </a:xfrm>
          </p:grpSpPr>
          <p:sp>
            <p:nvSpPr>
              <p:cNvPr id="41" name="TextBox 41"/>
              <p:cNvSpPr txBox="1"/>
              <p:nvPr/>
            </p:nvSpPr>
            <p:spPr>
              <a:xfrm>
                <a:off x="2224744" y="4915852"/>
                <a:ext cx="92384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StepFun 阶跃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846190" y="5111591"/>
                <a:ext cx="130182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in talks · ~$2.5B raise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3238500" y="4876800"/>
                <a:ext cx="857250" cy="381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4259580" y="4972050"/>
                <a:ext cx="61371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~$8B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3238500" y="6286500"/>
              <a:ext cx="4457129" cy="193357"/>
              <a:chOff x="3238500" y="6286500"/>
              <a:chExt cx="4457129" cy="193357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3238500" y="6286500"/>
                <a:ext cx="133350" cy="1333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3443288" y="6303645"/>
                <a:ext cx="85763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国家大基金领投</a:t>
                </a: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4953000" y="6286500"/>
                <a:ext cx="133350" cy="1333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5157788" y="6303645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港股上市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6286500" y="6286500"/>
                <a:ext cx="133350" cy="13335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491288" y="6303645"/>
                <a:ext cx="2518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私募</a:t>
                </a:r>
              </a:p>
            </p:txBody>
          </p:sp>
          <p:sp>
            <p:nvSpPr>
              <p:cNvPr id="52" name="Rectangle 52"/>
              <p:cNvSpPr/>
              <p:nvPr/>
            </p:nvSpPr>
            <p:spPr>
              <a:xfrm>
                <a:off x="7239000" y="6286500"/>
                <a:ext cx="133350" cy="13335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443788" y="6303645"/>
                <a:ext cx="2518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在谈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8953500" y="6286500"/>
            <a:ext cx="1444943" cy="530066"/>
            <a:chOff x="8953500" y="6286500"/>
            <a:chExt cx="1444943" cy="530066"/>
          </a:xfrm>
        </p:grpSpPr>
        <p:sp>
          <p:nvSpPr>
            <p:cNvPr id="56" name="Line 56"/>
            <p:cNvSpPr/>
            <p:nvPr/>
          </p:nvSpPr>
          <p:spPr>
            <a:xfrm>
              <a:off x="8953500" y="6286500"/>
              <a:ext cx="9525" cy="142875"/>
            </a:xfrm>
            <a:custGeom>
              <a:avLst/>
              <a:gdLst/>
              <a:ahLst/>
              <a:cxnLst/>
              <a:rect l="l" t="t" r="r" b="b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0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139238" y="6311741"/>
              <a:ext cx="910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150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DATA NOTE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39238" y="6521291"/>
              <a:ext cx="1259205" cy="2952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050"/>
                </a:lnSpc>
              </a:pPr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港股市值 vs 私募估值</a:t>
              </a:r>
              <a:br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不直接可比，仅供量级参考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66738" y="6729412"/>
            <a:ext cx="11058525" cy="147638"/>
            <a:chOff x="566738" y="6729412"/>
            <a:chExt cx="11058525" cy="147638"/>
          </a:xfrm>
        </p:grpSpPr>
        <p:sp>
          <p:nvSpPr>
            <p:cNvPr id="60" name="TextBox 60"/>
            <p:cNvSpPr txBox="1"/>
            <p:nvPr/>
          </p:nvSpPr>
          <p:spPr>
            <a:xfrm>
              <a:off x="566738" y="6729412"/>
              <a:ext cx="398450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BigGo Finance · TechCrunch · KuCoin · Reuters · HKEX 上市文件 2026-01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258360" y="6729412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10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6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5075461" cy="1095470"/>
            <a:chOff x="560832" y="444341"/>
            <a:chExt cx="5075461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268064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III · CHINA CAMP · 11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5075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中美 AI 资本：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两条路径</a:t>
              </a:r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，两种节奏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47292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Two markets, two playbooks — the structural divergence in 2026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71500" y="1905000"/>
            <a:ext cx="11049000" cy="4391025"/>
            <a:chOff x="571500" y="1905000"/>
            <a:chExt cx="11049000" cy="4391025"/>
          </a:xfrm>
        </p:grpSpPr>
        <p:sp>
          <p:nvSpPr>
            <p:cNvPr id="7" name="Line 7"/>
            <p:cNvSpPr/>
            <p:nvPr/>
          </p:nvSpPr>
          <p:spPr>
            <a:xfrm>
              <a:off x="571500" y="1905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5C585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7238" y="2055495"/>
              <a:ext cx="97071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DIMENSION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614738" y="2055495"/>
              <a:ext cx="135415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UNITED STATES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39238" y="2055495"/>
              <a:ext cx="5017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spc="150" dirty="0">
                  <a:solidFill>
                    <a:schemeClr val="accent3"/>
                  </a:solidFill>
                  <a:latin typeface="Cambria"/>
                  <a:ea typeface="Cambria"/>
                  <a:cs typeface="Cambria"/>
                </a:rPr>
                <a:t>CHINA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23431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4288">
              <a:solidFill>
                <a:srgbClr val="5C5852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71500" y="2631758"/>
              <a:ext cx="11049000" cy="616267"/>
              <a:chOff x="571500" y="2631758"/>
              <a:chExt cx="11049000" cy="616267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756666" y="26489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单轮规模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57238" y="2882741"/>
                <a:ext cx="106149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Single-round scale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611118" y="2631758"/>
                <a:ext cx="184211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Cambria"/>
                    <a:ea typeface="Cambria"/>
                    <a:cs typeface="Cambria"/>
                  </a:rPr>
                  <a:t>$30B – $122B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614547" y="2923699"/>
                <a:ext cx="145357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OpenAI $122B 史上最大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135618" y="2631758"/>
                <a:ext cx="13483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Cambria"/>
                    <a:ea typeface="Cambria"/>
                    <a:cs typeface="Cambria"/>
                  </a:rPr>
                  <a:t>$2B – $4B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9139047" y="2923699"/>
                <a:ext cx="145932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Moonshot $2B 单轮最大</a:t>
                </a:r>
              </a:p>
            </p:txBody>
          </p:sp>
          <p:sp>
            <p:nvSpPr>
              <p:cNvPr id="18" name="Line 18"/>
              <p:cNvSpPr/>
              <p:nvPr/>
            </p:nvSpPr>
            <p:spPr>
              <a:xfrm>
                <a:off x="571500" y="32385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571500" y="3409950"/>
              <a:ext cx="11049000" cy="600075"/>
              <a:chOff x="571500" y="3409950"/>
              <a:chExt cx="11049000" cy="600075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56666" y="3410902"/>
                <a:ext cx="59314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IPO 节奏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7238" y="3644741"/>
                <a:ext cx="62186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IPO timing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11880" y="3409950"/>
                <a:ext cx="15530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推迟 · 私募延后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614547" y="3685699"/>
                <a:ext cx="113203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Q4 2026 目标 $1T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9136380" y="3409950"/>
                <a:ext cx="122773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Q1 已落港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139047" y="3685699"/>
                <a:ext cx="15552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Zhipu / MiniMax 2026-01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571500" y="40005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571500" y="4171950"/>
              <a:ext cx="11049000" cy="600075"/>
              <a:chOff x="571500" y="4171950"/>
              <a:chExt cx="11049000" cy="600075"/>
            </a:xfrm>
          </p:grpSpPr>
          <p:sp>
            <p:nvSpPr>
              <p:cNvPr id="28" name="TextBox 28"/>
              <p:cNvSpPr txBox="1"/>
              <p:nvPr/>
            </p:nvSpPr>
            <p:spPr>
              <a:xfrm>
                <a:off x="756666" y="41729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政府角色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57238" y="4406741"/>
                <a:ext cx="95098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Government role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3611880" y="4171950"/>
                <a:ext cx="868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市场驱动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3614547" y="4447699"/>
                <a:ext cx="13555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私营 capex · 监管框架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136380" y="4171950"/>
                <a:ext cx="10820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大基金领投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139047" y="4447699"/>
                <a:ext cx="157530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DeepSeek 首次国家大基金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571500" y="47625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571500" y="4916805"/>
              <a:ext cx="11049000" cy="617220"/>
              <a:chOff x="571500" y="4916805"/>
              <a:chExt cx="11049000" cy="617220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756666" y="49349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估值峰值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57238" y="5168741"/>
                <a:ext cx="83351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Peak valuation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3608832" y="4916805"/>
                <a:ext cx="1068667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$852B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614547" y="5247799"/>
                <a:ext cx="87813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OpenAI · 私募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133332" y="4916805"/>
                <a:ext cx="85920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100" b="1" dirty="0">
                    <a:solidFill>
                      <a:schemeClr val="accent3"/>
                    </a:solidFill>
                    <a:latin typeface="Cambria"/>
                    <a:ea typeface="Cambria"/>
                    <a:cs typeface="Cambria"/>
                  </a:rPr>
                  <a:t>$56B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139047" y="5247799"/>
                <a:ext cx="103057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Zhipu · 港股市值</a:t>
                </a:r>
              </a:p>
            </p:txBody>
          </p:sp>
          <p:sp>
            <p:nvSpPr>
              <p:cNvPr id="42" name="Line 42"/>
              <p:cNvSpPr/>
              <p:nvPr/>
            </p:nvSpPr>
            <p:spPr>
              <a:xfrm>
                <a:off x="571500" y="55245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5696902"/>
              <a:ext cx="11049000" cy="599123"/>
              <a:chOff x="571500" y="5696902"/>
              <a:chExt cx="11049000" cy="599123"/>
            </a:xfrm>
          </p:grpSpPr>
          <p:sp>
            <p:nvSpPr>
              <p:cNvPr id="44" name="TextBox 44"/>
              <p:cNvSpPr txBox="1"/>
              <p:nvPr/>
            </p:nvSpPr>
            <p:spPr>
              <a:xfrm>
                <a:off x="756666" y="569690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退出路径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57238" y="5930741"/>
                <a:ext cx="54246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accent5"/>
                    </a:solidFill>
                    <a:latin typeface="Cambria"/>
                    <a:ea typeface="Cambria"/>
                    <a:cs typeface="Cambria"/>
                  </a:rPr>
                  <a:t>Exit path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611880" y="5743575"/>
                <a:ext cx="23994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超大私募 → 推迟 IPO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614547" y="6009799"/>
                <a:ext cx="153391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Anthropic Series G $30B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136380" y="5743575"/>
                <a:ext cx="12954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二级市场优先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9139047" y="6009799"/>
                <a:ext cx="80147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港交所是出口</a:t>
                </a:r>
              </a:p>
            </p:txBody>
          </p:sp>
          <p:sp>
            <p:nvSpPr>
              <p:cNvPr id="50" name="Line 50"/>
              <p:cNvSpPr/>
              <p:nvPr/>
            </p:nvSpPr>
            <p:spPr>
              <a:xfrm>
                <a:off x="571500" y="6286500"/>
                <a:ext cx="11049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9525">
                    <a:moveTo>
                      <a:pt x="0" y="0"/>
                    </a:moveTo>
                    <a:lnTo>
                      <a:pt x="11049000" y="0"/>
                    </a:lnTo>
                  </a:path>
                </a:pathLst>
              </a:custGeom>
              <a:noFill/>
              <a:ln w="14288">
                <a:solidFill>
                  <a:srgbClr val="5C5852"/>
                </a:solidFill>
              </a:ln>
            </p:spPr>
          </p:sp>
        </p:grpSp>
      </p:grpSp>
      <p:grpSp>
        <p:nvGrpSpPr>
          <p:cNvPr id="55" name="Group 55"/>
          <p:cNvGrpSpPr/>
          <p:nvPr/>
        </p:nvGrpSpPr>
        <p:grpSpPr>
          <a:xfrm>
            <a:off x="566738" y="6586538"/>
            <a:ext cx="11058525" cy="147638"/>
            <a:chOff x="566738" y="6586538"/>
            <a:chExt cx="11058525" cy="147638"/>
          </a:xfrm>
        </p:grpSpPr>
        <p:sp>
          <p:nvSpPr>
            <p:cNvPr id="53" name="TextBox 53"/>
            <p:cNvSpPr txBox="1"/>
            <p:nvPr/>
          </p:nvSpPr>
          <p:spPr>
            <a:xfrm>
              <a:off x="566738" y="6586538"/>
              <a:ext cx="324414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Crunchbase · HKEX 招股书 · BigGo Finance · 综合公开披露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11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4851718" cy="1095470"/>
            <a:chOff x="560832" y="444341"/>
            <a:chExt cx="4851718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31830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IV · THE SECOND TIER · 12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46889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二线梯队：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$10B–$50B</a:t>
              </a:r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 的精英层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48463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Four companies in the next league — each chasing a different niche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1905000"/>
            <a:ext cx="2667000" cy="4111466"/>
            <a:chOff x="571500" y="1905000"/>
            <a:chExt cx="2667000" cy="4111466"/>
          </a:xfrm>
        </p:grpSpPr>
        <p:sp>
          <p:nvSpPr>
            <p:cNvPr id="7" name="Rectangle 7"/>
            <p:cNvSpPr/>
            <p:nvPr/>
          </p:nvSpPr>
          <p:spPr>
            <a:xfrm>
              <a:off x="571500" y="1905000"/>
              <a:ext cx="2667000" cy="4095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905000"/>
              <a:ext cx="2667000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7238" y="2235041"/>
              <a:ext cx="243313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SAFE SUPERINTELLIGENCE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094" y="2494598"/>
              <a:ext cx="51491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SSI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62000" y="28384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2950" y="2956560"/>
              <a:ext cx="171382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$32B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3533299"/>
              <a:ext cx="17579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最新估值 / Latest valuation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3905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7047" y="4104799"/>
              <a:ext cx="1161161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Ilya Sutskever 创立</a:t>
              </a:r>
              <a:br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$5B → $32B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半年 6 倍跳涨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238" y="5236845"/>
              <a:ext cx="147256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"Single product:</a:t>
              </a:r>
              <a:br/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a safe superintelligence."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2810010" y="3252788"/>
              <a:ext cx="209281" cy="200026"/>
            </a:xfrm>
            <a:custGeom>
              <a:avLst/>
              <a:gdLst/>
              <a:ahLst/>
              <a:cxnLst/>
              <a:rect l="l" t="t" r="r" b="b"/>
              <a:pathLst>
                <a:path w="209281" h="200026">
                  <a:moveTo>
                    <a:pt x="104641" y="0"/>
                  </a:moveTo>
                  <a:cubicBezTo>
                    <a:pt x="130598" y="22965"/>
                    <a:pt x="164476" y="34922"/>
                    <a:pt x="199097" y="33338"/>
                  </a:cubicBezTo>
                  <a:cubicBezTo>
                    <a:pt x="209281" y="67981"/>
                    <a:pt x="204980" y="105274"/>
                    <a:pt x="187178" y="136690"/>
                  </a:cubicBezTo>
                  <a:cubicBezTo>
                    <a:pt x="169375" y="168106"/>
                    <a:pt x="139593" y="190959"/>
                    <a:pt x="104641" y="200026"/>
                  </a:cubicBezTo>
                  <a:cubicBezTo>
                    <a:pt x="69688" y="190959"/>
                    <a:pt x="39906" y="168106"/>
                    <a:pt x="22103" y="136690"/>
                  </a:cubicBezTo>
                  <a:cubicBezTo>
                    <a:pt x="4301" y="105274"/>
                    <a:pt x="0" y="67981"/>
                    <a:pt x="10184" y="33338"/>
                  </a:cubicBezTo>
                  <a:cubicBezTo>
                    <a:pt x="44805" y="34922"/>
                    <a:pt x="78684" y="22965"/>
                    <a:pt x="104641" y="0"/>
                  </a:cubicBezTo>
                </a:path>
              </a:pathLst>
            </a:custGeom>
            <a:noFill/>
            <a:ln w="16669">
              <a:solidFill>
                <a:schemeClr val="accent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762000" y="5772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7238" y="5854541"/>
              <a:ext cx="178399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$2B raised · Alphabet/Nvidia in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429000" y="1905000"/>
            <a:ext cx="2667000" cy="4111466"/>
            <a:chOff x="3429000" y="1905000"/>
            <a:chExt cx="2667000" cy="4111466"/>
          </a:xfrm>
        </p:grpSpPr>
        <p:sp>
          <p:nvSpPr>
            <p:cNvPr id="21" name="Rectangle 21"/>
            <p:cNvSpPr/>
            <p:nvPr/>
          </p:nvSpPr>
          <p:spPr>
            <a:xfrm>
              <a:off x="3429000" y="1905000"/>
              <a:ext cx="2667000" cy="4095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429000" y="1905000"/>
              <a:ext cx="2667000" cy="571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14738" y="2235041"/>
              <a:ext cx="19201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accent3"/>
                  </a:solidFill>
                  <a:latin typeface="Cambria"/>
                  <a:ea typeface="Cambria"/>
                  <a:cs typeface="Cambria"/>
                </a:rPr>
                <a:t>SEARCH CHALLENGER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609594" y="2494598"/>
              <a:ext cx="15071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Perplexity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3619500" y="28384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600450" y="2956560"/>
              <a:ext cx="171382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3"/>
                  </a:solidFill>
                  <a:latin typeface="Cambria"/>
                  <a:ea typeface="Cambria"/>
                  <a:cs typeface="Cambria"/>
                </a:rPr>
                <a:t>$21B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4547" y="3533299"/>
              <a:ext cx="17579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最新估值 / Latest valuation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3619500" y="3905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14547" y="4104799"/>
              <a:ext cx="962025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月活 </a:t>
              </a:r>
              <a:r>
                <a:rPr lang="zh-CN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4500 万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Series E-6 完成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直挑 Google 搜索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614738" y="5236845"/>
              <a:ext cx="111823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"Answer engine,</a:t>
              </a:r>
              <a:br/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not search engine."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672138" y="3252788"/>
              <a:ext cx="200025" cy="200025"/>
              <a:chOff x="5672138" y="3252788"/>
              <a:chExt cx="200025" cy="200025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5672138" y="325278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8"/>
                    </a:moveTo>
                    <a:cubicBezTo>
                      <a:pt x="0" y="120749"/>
                      <a:pt x="34827" y="155575"/>
                      <a:pt x="77788" y="155575"/>
                    </a:cubicBezTo>
                    <a:cubicBezTo>
                      <a:pt x="120749" y="155575"/>
                      <a:pt x="155575" y="120749"/>
                      <a:pt x="155575" y="77788"/>
                    </a:cubicBezTo>
                    <a:cubicBezTo>
                      <a:pt x="155575" y="34827"/>
                      <a:pt x="120749" y="0"/>
                      <a:pt x="77788" y="0"/>
                    </a:cubicBezTo>
                    <a:cubicBezTo>
                      <a:pt x="34827" y="0"/>
                      <a:pt x="0" y="34827"/>
                      <a:pt x="0" y="77788"/>
                    </a:cubicBezTo>
                  </a:path>
                </a:pathLst>
              </a:custGeom>
              <a:noFill/>
              <a:ln w="16669">
                <a:solidFill>
                  <a:schemeClr val="accent3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805488" y="33861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6669">
                <a:solidFill>
                  <a:schemeClr val="accent3"/>
                </a:solidFill>
              </a:ln>
            </p:spPr>
          </p:sp>
        </p:grpSp>
        <p:sp>
          <p:nvSpPr>
            <p:cNvPr id="34" name="Line 34"/>
            <p:cNvSpPr/>
            <p:nvPr/>
          </p:nvSpPr>
          <p:spPr>
            <a:xfrm>
              <a:off x="3619500" y="5772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614738" y="5854541"/>
              <a:ext cx="196289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$200M @ $21B · 18 months to here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286500" y="1905000"/>
            <a:ext cx="2723144" cy="4111466"/>
            <a:chOff x="6286500" y="1905000"/>
            <a:chExt cx="2723144" cy="4111466"/>
          </a:xfrm>
        </p:grpSpPr>
        <p:sp>
          <p:nvSpPr>
            <p:cNvPr id="37" name="Rectangle 37"/>
            <p:cNvSpPr/>
            <p:nvPr/>
          </p:nvSpPr>
          <p:spPr>
            <a:xfrm>
              <a:off x="6286500" y="1905000"/>
              <a:ext cx="2667000" cy="4095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86500" y="1905000"/>
              <a:ext cx="2667000" cy="5715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72238" y="2235041"/>
              <a:ext cx="16087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1"/>
                  </a:solidFill>
                  <a:latin typeface="Cambria"/>
                  <a:ea typeface="Cambria"/>
                  <a:cs typeface="Cambria"/>
                </a:rPr>
                <a:t>SOVEREIGN EU AI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7094" y="2494598"/>
              <a:ext cx="14863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Mistral AI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6477000" y="28384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57950" y="2956560"/>
              <a:ext cx="255169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Cambria"/>
                  <a:ea typeface="Cambria"/>
                  <a:cs typeface="Cambria"/>
                </a:rPr>
                <a:t>$13.7B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72047" y="3533299"/>
              <a:ext cx="17579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最新估值 / Latest valuation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477000" y="3905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472047" y="4104799"/>
              <a:ext cx="1233348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$830M </a:t>
              </a:r>
              <a:r>
                <a:rPr lang="zh-CN" sz="9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债务融资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巴黎数据中心</a:t>
              </a:r>
              <a:br/>
              <a:r>
                <a:rPr lang="zh-CN" sz="9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13,800 张</a:t>
              </a: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Nvidia GPU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72238" y="5236845"/>
              <a:ext cx="1301115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"Europe's open-source</a:t>
              </a:r>
              <a:br/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sovereign answer."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8529638" y="3263900"/>
              <a:ext cx="200026" cy="177800"/>
              <a:chOff x="8529638" y="3263900"/>
              <a:chExt cx="200026" cy="177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529638" y="32639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6669">
                <a:solidFill>
                  <a:schemeClr val="dk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529638" y="3352800"/>
                <a:ext cx="200026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8890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100" y="0"/>
                      <a:pt x="200026" y="14926"/>
                      <a:pt x="200026" y="33338"/>
                    </a:cubicBezTo>
                    <a:lnTo>
                      <a:pt x="200026" y="55563"/>
                    </a:lnTo>
                    <a:cubicBezTo>
                      <a:pt x="200026" y="73975"/>
                      <a:pt x="185100" y="88900"/>
                      <a:pt x="166688" y="88900"/>
                    </a:cubicBezTo>
                    <a:lnTo>
                      <a:pt x="33338" y="88900"/>
                    </a:lnTo>
                    <a:cubicBezTo>
                      <a:pt x="14926" y="88900"/>
                      <a:pt x="0" y="73975"/>
                      <a:pt x="0" y="55563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6669">
                <a:solidFill>
                  <a:schemeClr val="dk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574088" y="3308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6669">
                <a:solidFill>
                  <a:schemeClr val="dk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574088" y="33972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6669">
                <a:solidFill>
                  <a:schemeClr val="dk1"/>
                </a:solidFill>
              </a:ln>
            </p:spPr>
          </p:sp>
        </p:grpSp>
        <p:sp>
          <p:nvSpPr>
            <p:cNvPr id="52" name="Line 52"/>
            <p:cNvSpPr/>
            <p:nvPr/>
          </p:nvSpPr>
          <p:spPr>
            <a:xfrm>
              <a:off x="6477000" y="57721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chemeClr val="dk1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472238" y="5854541"/>
              <a:ext cx="20498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Debt-funded · own data-center bet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144000" y="1905000"/>
            <a:ext cx="2476500" cy="4111466"/>
            <a:chOff x="9144000" y="1905000"/>
            <a:chExt cx="2476500" cy="4111466"/>
          </a:xfrm>
        </p:grpSpPr>
        <p:sp>
          <p:nvSpPr>
            <p:cNvPr id="55" name="Rectangle 55"/>
            <p:cNvSpPr/>
            <p:nvPr/>
          </p:nvSpPr>
          <p:spPr>
            <a:xfrm>
              <a:off x="9144000" y="1905000"/>
              <a:ext cx="2476500" cy="409575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9144000" y="1905000"/>
              <a:ext cx="2476500" cy="5715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329738" y="2235041"/>
              <a:ext cx="22633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TRANSATLANTIC MERGER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26118" y="2526982"/>
              <a:ext cx="10759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Cohere +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326118" y="2793682"/>
              <a:ext cx="13788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Aleph Alpha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9334500" y="31051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315450" y="3223260"/>
              <a:ext cx="171382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$20B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329547" y="3799999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合并实体估值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9334500" y="4171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29547" y="4371499"/>
              <a:ext cx="1049147" cy="6097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$7B + $3B (Aleph)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→ </a:t>
              </a:r>
              <a:r>
                <a:rPr lang="zh-CN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$20B 合并溢价</a:t>
              </a:r>
              <a:br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ARR $240M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329738" y="5503545"/>
              <a:ext cx="1466850" cy="3476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50"/>
                </a:lnSpc>
              </a:pPr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"Cross-Atlantic sovereign</a:t>
              </a:r>
              <a:br/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enterprise stack."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1207749" y="3563271"/>
              <a:ext cx="183215" cy="188636"/>
              <a:chOff x="11207749" y="3563271"/>
              <a:chExt cx="183215" cy="18863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11263313" y="362426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66675" y="0"/>
                    </a:lnTo>
                  </a:path>
                </a:pathLst>
              </a:custGeom>
              <a:noFill/>
              <a:ln w="16669">
                <a:solidFill>
                  <a:schemeClr val="dk2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285538" y="3563271"/>
                <a:ext cx="105426" cy="105442"/>
              </a:xfrm>
              <a:custGeom>
                <a:avLst/>
                <a:gdLst/>
                <a:ahLst/>
                <a:cxnLst/>
                <a:rect l="l" t="t" r="r" b="b"/>
                <a:pathLst>
                  <a:path w="105426" h="105442">
                    <a:moveTo>
                      <a:pt x="0" y="27655"/>
                    </a:moveTo>
                    <a:lnTo>
                      <a:pt x="5145" y="21698"/>
                    </a:lnTo>
                    <a:cubicBezTo>
                      <a:pt x="26847" y="0"/>
                      <a:pt x="62029" y="2"/>
                      <a:pt x="83727" y="21704"/>
                    </a:cubicBezTo>
                    <a:cubicBezTo>
                      <a:pt x="105426" y="43405"/>
                      <a:pt x="105423" y="78588"/>
                      <a:pt x="83722" y="100286"/>
                    </a:cubicBezTo>
                    <a:lnTo>
                      <a:pt x="77788" y="105442"/>
                    </a:lnTo>
                  </a:path>
                </a:pathLst>
              </a:custGeom>
              <a:noFill/>
              <a:ln w="16669">
                <a:solidFill>
                  <a:schemeClr val="dk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1207749" y="3646488"/>
                <a:ext cx="100014" cy="105419"/>
              </a:xfrm>
              <a:custGeom>
                <a:avLst/>
                <a:gdLst/>
                <a:ahLst/>
                <a:cxnLst/>
                <a:rect l="l" t="t" r="r" b="b"/>
                <a:pathLst>
                  <a:path w="100014" h="105419">
                    <a:moveTo>
                      <a:pt x="100014" y="77788"/>
                    </a:moveTo>
                    <a:lnTo>
                      <a:pt x="95603" y="83722"/>
                    </a:lnTo>
                    <a:cubicBezTo>
                      <a:pt x="73661" y="105419"/>
                      <a:pt x="38345" y="105419"/>
                      <a:pt x="16404" y="83722"/>
                    </a:cubicBezTo>
                    <a:cubicBezTo>
                      <a:pt x="5907" y="73343"/>
                      <a:pt x="0" y="59195"/>
                      <a:pt x="0" y="44433"/>
                    </a:cubicBezTo>
                    <a:cubicBezTo>
                      <a:pt x="0" y="29672"/>
                      <a:pt x="5907" y="15524"/>
                      <a:pt x="16404" y="5145"/>
                    </a:cubicBezTo>
                    <a:lnTo>
                      <a:pt x="22227" y="0"/>
                    </a:lnTo>
                  </a:path>
                </a:pathLst>
              </a:custGeom>
              <a:noFill/>
              <a:ln w="16669">
                <a:solidFill>
                  <a:schemeClr val="dk2"/>
                </a:solidFill>
              </a:ln>
            </p:spPr>
          </p:sp>
        </p:grpSp>
        <p:sp>
          <p:nvSpPr>
            <p:cNvPr id="70" name="Line 70"/>
            <p:cNvSpPr/>
            <p:nvPr/>
          </p:nvSpPr>
          <p:spPr>
            <a:xfrm>
              <a:off x="9334500" y="57721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dk2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329738" y="5854541"/>
              <a:ext cx="18542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Schwarz Group leads · 2026 deal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71500" y="6286500"/>
            <a:ext cx="11049000" cy="377761"/>
            <a:chOff x="571500" y="6286500"/>
            <a:chExt cx="11049000" cy="377761"/>
          </a:xfrm>
        </p:grpSpPr>
        <p:sp>
          <p:nvSpPr>
            <p:cNvPr id="73" name="Line 73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924129" y="6458902"/>
              <a:ext cx="43437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四家公司合计估值 </a:t>
              </a:r>
              <a:r>
                <a:rPr lang="zh-CN" sz="1050" b="1" i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$86.7B</a:t>
              </a:r>
              <a:r>
                <a:rPr lang="zh-CN" sz="10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——仅占同期 OpenAI 估值的 </a:t>
              </a:r>
              <a:r>
                <a:rPr lang="zh-CN" sz="1050" b="1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10%</a:t>
              </a:r>
              <a:r>
                <a:rPr lang="zh-CN" sz="10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。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66738" y="6729412"/>
            <a:ext cx="11058525" cy="147638"/>
            <a:chOff x="566738" y="6729412"/>
            <a:chExt cx="11058525" cy="147638"/>
          </a:xfrm>
        </p:grpSpPr>
        <p:sp>
          <p:nvSpPr>
            <p:cNvPr id="76" name="TextBox 76"/>
            <p:cNvSpPr txBox="1"/>
            <p:nvPr/>
          </p:nvSpPr>
          <p:spPr>
            <a:xfrm>
              <a:off x="566738" y="6729412"/>
              <a:ext cx="342788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TechCrunch · CNBC · Tracxn · TechFundingNews 2026 Q1-Q2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258360" y="6729412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12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4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3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2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2000"/>
                  </a:schemeClr>
                </a:gs>
                <a:gs pos="55000">
                  <a:schemeClr val="lt1">
                    <a:alpha val="35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66738" y="444341"/>
            <a:ext cx="3027462" cy="250984"/>
            <a:chOff x="566738" y="444341"/>
            <a:chExt cx="3027462" cy="250984"/>
          </a:xfrm>
        </p:grpSpPr>
        <p:sp>
          <p:nvSpPr>
            <p:cNvPr id="6" name="TextBox 6"/>
            <p:cNvSpPr txBox="1"/>
            <p:nvPr/>
          </p:nvSpPr>
          <p:spPr>
            <a:xfrm>
              <a:off x="566738" y="444341"/>
              <a:ext cx="30274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V · INFRASTRUCTURE · 13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52450" y="1209675"/>
            <a:ext cx="2731237" cy="2590800"/>
            <a:chOff x="552450" y="1209675"/>
            <a:chExt cx="2731237" cy="2590800"/>
          </a:xfrm>
        </p:grpSpPr>
        <p:sp>
          <p:nvSpPr>
            <p:cNvPr id="9" name="TextBox 9"/>
            <p:cNvSpPr txBox="1"/>
            <p:nvPr/>
          </p:nvSpPr>
          <p:spPr>
            <a:xfrm>
              <a:off x="552450" y="1209675"/>
              <a:ext cx="2731237" cy="2590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0" b="1" dirty="0">
                  <a:solidFill>
                    <a:schemeClr val="accent2">
                      <a:alphaMod val="85000"/>
                    </a:schemeClr>
                  </a:solidFill>
                  <a:latin typeface="Cambria"/>
                  <a:ea typeface="Cambria"/>
                  <a:cs typeface="Cambria"/>
                </a:rPr>
                <a:t>V.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2450" y="3482340"/>
            <a:ext cx="4356190" cy="1289685"/>
            <a:chOff x="552450" y="3482340"/>
            <a:chExt cx="4356190" cy="1289685"/>
          </a:xfrm>
        </p:grpSpPr>
        <p:sp>
          <p:nvSpPr>
            <p:cNvPr id="11" name="TextBox 11"/>
            <p:cNvSpPr txBox="1"/>
            <p:nvPr/>
          </p:nvSpPr>
          <p:spPr>
            <a:xfrm>
              <a:off x="552450" y="3482340"/>
              <a:ext cx="14036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闭环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2808" y="3741420"/>
              <a:ext cx="301583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i="1" dirty="0">
                  <a:solidFill>
                    <a:schemeClr val="dk1"/>
                  </a:solidFill>
                  <a:latin typeface="Cambria"/>
                  <a:ea typeface="Cambria"/>
                  <a:cs typeface="Cambria"/>
                </a:rPr>
                <a:t>/ The Closed Loop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118" y="4279582"/>
              <a:ext cx="23637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当芯片商同时是大股东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71500" y="47625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66166" y="5125402"/>
            <a:ext cx="3804476" cy="662559"/>
            <a:chOff x="566166" y="5125402"/>
            <a:chExt cx="3804476" cy="662559"/>
          </a:xfrm>
        </p:grpSpPr>
        <p:sp>
          <p:nvSpPr>
            <p:cNvPr id="16" name="TextBox 16"/>
            <p:cNvSpPr txBox="1"/>
            <p:nvPr/>
          </p:nvSpPr>
          <p:spPr>
            <a:xfrm>
              <a:off x="566166" y="5125402"/>
              <a:ext cx="3804476" cy="662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Nvidia 2026 至今股权投资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$40B+</a:t>
              </a:r>
              <a:br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OpenAI $30B · xAI · Anthropic · Mistral · CoreWeave 全到位</a:t>
              </a:r>
              <a:br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同时它的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85% 收入</a:t>
              </a:r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来自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 个客户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6738" y="6477000"/>
            <a:ext cx="11058525" cy="257176"/>
            <a:chOff x="566738" y="6477000"/>
            <a:chExt cx="11058525" cy="257176"/>
          </a:xfrm>
        </p:grpSpPr>
        <p:sp>
          <p:nvSpPr>
            <p:cNvPr id="18" name="Line 18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6738" y="6586538"/>
              <a:ext cx="297977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Capital, Compute, and the Closed Loop · Part V opens at P13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13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5499218" cy="1095470"/>
            <a:chOff x="560832" y="444341"/>
            <a:chExt cx="5499218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30274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V · INFRASTRUCTURE · 14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407939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钱怎么转：Nvidia 的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圆形投资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54938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$40B equity out → AI labs → multi-year compute commitments back to Nvidia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1500" y="1768316"/>
            <a:ext cx="11049000" cy="241459"/>
            <a:chOff x="571500" y="1768316"/>
            <a:chExt cx="11049000" cy="241459"/>
          </a:xfrm>
        </p:grpSpPr>
        <p:sp>
          <p:nvSpPr>
            <p:cNvPr id="7" name="TextBox 7"/>
            <p:cNvSpPr txBox="1"/>
            <p:nvPr/>
          </p:nvSpPr>
          <p:spPr>
            <a:xfrm>
              <a:off x="1016114" y="1768316"/>
              <a:ext cx="6347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spc="1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SOURCE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72478" y="1768316"/>
              <a:ext cx="8470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spc="1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RECIPIENT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716549" y="1768316"/>
              <a:ext cx="11467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spc="1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RETURN FLOW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2000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493833" y="2667000"/>
            <a:ext cx="1679334" cy="2095500"/>
            <a:chOff x="493833" y="2667000"/>
            <a:chExt cx="1679334" cy="2095500"/>
          </a:xfrm>
        </p:grpSpPr>
        <p:sp>
          <p:nvSpPr>
            <p:cNvPr id="12" name="Rectangle 12"/>
            <p:cNvSpPr/>
            <p:nvPr/>
          </p:nvSpPr>
          <p:spPr>
            <a:xfrm>
              <a:off x="571500" y="2667000"/>
              <a:ext cx="1524000" cy="2095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143000" y="2874375"/>
              <a:ext cx="381001" cy="252000"/>
            </a:xfrm>
            <a:custGeom>
              <a:avLst/>
              <a:gdLst/>
              <a:ahLst/>
              <a:cxnLst/>
              <a:rect l="l" t="t" r="r" b="b"/>
              <a:pathLst>
                <a:path w="381001" h="252000">
                  <a:moveTo>
                    <a:pt x="142050" y="75168"/>
                  </a:moveTo>
                  <a:lnTo>
                    <a:pt x="142050" y="52467"/>
                  </a:lnTo>
                  <a:cubicBezTo>
                    <a:pt x="144290" y="52301"/>
                    <a:pt x="146535" y="52205"/>
                    <a:pt x="148781" y="52181"/>
                  </a:cubicBezTo>
                  <a:cubicBezTo>
                    <a:pt x="211043" y="50213"/>
                    <a:pt x="251857" y="105744"/>
                    <a:pt x="251857" y="105744"/>
                  </a:cubicBezTo>
                  <a:cubicBezTo>
                    <a:pt x="251857" y="105744"/>
                    <a:pt x="207820" y="166878"/>
                    <a:pt x="160576" y="166878"/>
                  </a:cubicBezTo>
                  <a:cubicBezTo>
                    <a:pt x="154258" y="166878"/>
                    <a:pt x="148082" y="165894"/>
                    <a:pt x="142193" y="163941"/>
                  </a:cubicBezTo>
                  <a:lnTo>
                    <a:pt x="142193" y="94949"/>
                  </a:lnTo>
                  <a:cubicBezTo>
                    <a:pt x="166450" y="97885"/>
                    <a:pt x="171355" y="108553"/>
                    <a:pt x="185801" y="132811"/>
                  </a:cubicBezTo>
                  <a:lnTo>
                    <a:pt x="218186" y="105601"/>
                  </a:lnTo>
                  <a:cubicBezTo>
                    <a:pt x="218186" y="105601"/>
                    <a:pt x="194501" y="74613"/>
                    <a:pt x="154686" y="74613"/>
                  </a:cubicBezTo>
                  <a:cubicBezTo>
                    <a:pt x="150466" y="74518"/>
                    <a:pt x="146245" y="74704"/>
                    <a:pt x="142050" y="75168"/>
                  </a:cubicBezTo>
                  <a:moveTo>
                    <a:pt x="142050" y="0"/>
                  </a:moveTo>
                  <a:lnTo>
                    <a:pt x="142050" y="33941"/>
                  </a:lnTo>
                  <a:lnTo>
                    <a:pt x="148781" y="33512"/>
                  </a:lnTo>
                  <a:cubicBezTo>
                    <a:pt x="235300" y="30575"/>
                    <a:pt x="291815" y="104474"/>
                    <a:pt x="291815" y="104474"/>
                  </a:cubicBezTo>
                  <a:cubicBezTo>
                    <a:pt x="291815" y="104474"/>
                    <a:pt x="227045" y="183277"/>
                    <a:pt x="159576" y="183277"/>
                  </a:cubicBezTo>
                  <a:cubicBezTo>
                    <a:pt x="153702" y="183277"/>
                    <a:pt x="147939" y="182722"/>
                    <a:pt x="142193" y="181737"/>
                  </a:cubicBezTo>
                  <a:lnTo>
                    <a:pt x="142193" y="202772"/>
                  </a:lnTo>
                  <a:cubicBezTo>
                    <a:pt x="146955" y="203327"/>
                    <a:pt x="151876" y="203756"/>
                    <a:pt x="156639" y="203756"/>
                  </a:cubicBezTo>
                  <a:cubicBezTo>
                    <a:pt x="219456" y="203756"/>
                    <a:pt x="264907" y="171641"/>
                    <a:pt x="308928" y="133779"/>
                  </a:cubicBezTo>
                  <a:cubicBezTo>
                    <a:pt x="316215" y="139669"/>
                    <a:pt x="346076" y="153829"/>
                    <a:pt x="352267" y="160004"/>
                  </a:cubicBezTo>
                  <a:cubicBezTo>
                    <a:pt x="310468" y="195057"/>
                    <a:pt x="213011" y="223251"/>
                    <a:pt x="157750" y="223251"/>
                  </a:cubicBezTo>
                  <a:cubicBezTo>
                    <a:pt x="152432" y="223251"/>
                    <a:pt x="147384" y="222965"/>
                    <a:pt x="142336" y="222409"/>
                  </a:cubicBezTo>
                  <a:lnTo>
                    <a:pt x="142336" y="252000"/>
                  </a:lnTo>
                  <a:lnTo>
                    <a:pt x="381001" y="252000"/>
                  </a:lnTo>
                  <a:lnTo>
                    <a:pt x="381001" y="0"/>
                  </a:lnTo>
                  <a:close/>
                  <a:moveTo>
                    <a:pt x="142050" y="163926"/>
                  </a:moveTo>
                  <a:lnTo>
                    <a:pt x="142050" y="181880"/>
                  </a:lnTo>
                  <a:cubicBezTo>
                    <a:pt x="83995" y="171498"/>
                    <a:pt x="67866" y="111078"/>
                    <a:pt x="67866" y="111078"/>
                  </a:cubicBezTo>
                  <a:cubicBezTo>
                    <a:pt x="67866" y="111078"/>
                    <a:pt x="95774" y="80217"/>
                    <a:pt x="142050" y="75168"/>
                  </a:cubicBezTo>
                  <a:lnTo>
                    <a:pt x="142050" y="94806"/>
                  </a:lnTo>
                  <a:lnTo>
                    <a:pt x="141923" y="94806"/>
                  </a:lnTo>
                  <a:cubicBezTo>
                    <a:pt x="117666" y="91853"/>
                    <a:pt x="98584" y="114570"/>
                    <a:pt x="98584" y="114570"/>
                  </a:cubicBezTo>
                  <a:cubicBezTo>
                    <a:pt x="98584" y="114570"/>
                    <a:pt x="109379" y="152861"/>
                    <a:pt x="142066" y="163941"/>
                  </a:cubicBezTo>
                  <a:moveTo>
                    <a:pt x="38989" y="108538"/>
                  </a:moveTo>
                  <a:cubicBezTo>
                    <a:pt x="38989" y="108538"/>
                    <a:pt x="73343" y="57785"/>
                    <a:pt x="142177" y="52451"/>
                  </a:cubicBezTo>
                  <a:lnTo>
                    <a:pt x="142177" y="33941"/>
                  </a:lnTo>
                  <a:cubicBezTo>
                    <a:pt x="65929" y="40116"/>
                    <a:pt x="0" y="104616"/>
                    <a:pt x="0" y="104616"/>
                  </a:cubicBezTo>
                  <a:cubicBezTo>
                    <a:pt x="0" y="104616"/>
                    <a:pt x="37306" y="212598"/>
                    <a:pt x="142050" y="222409"/>
                  </a:cubicBezTo>
                  <a:lnTo>
                    <a:pt x="142050" y="202772"/>
                  </a:lnTo>
                  <a:cubicBezTo>
                    <a:pt x="65215" y="193247"/>
                    <a:pt x="38989" y="108538"/>
                    <a:pt x="38989" y="108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01039" y="3457575"/>
              <a:ext cx="6649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Nvidia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93833" y="3644265"/>
              <a:ext cx="167933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chemeClr val="accent1"/>
                  </a:solidFill>
                  <a:latin typeface="Cambria"/>
                  <a:ea typeface="Cambria"/>
                  <a:cs typeface="Cambria"/>
                </a:rPr>
                <a:t>$40B+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4395" y="4189095"/>
              <a:ext cx="9182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equity invested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4854" y="4435316"/>
              <a:ext cx="59729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chemeClr val="accent1">
                      <a:alphaMod val="70000"/>
                    </a:schemeClr>
                  </a:solidFill>
                  <a:latin typeface="Cambria"/>
                  <a:ea typeface="Cambria"/>
                  <a:cs typeface="Cambria"/>
                </a:rPr>
                <a:t>YTD 2026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095500" y="2438400"/>
            <a:ext cx="3048000" cy="2667000"/>
            <a:chOff x="2095500" y="2438400"/>
            <a:chExt cx="3048000" cy="2667000"/>
          </a:xfrm>
        </p:grpSpPr>
        <p:sp>
          <p:nvSpPr>
            <p:cNvPr id="19" name="Freeform 19"/>
            <p:cNvSpPr/>
            <p:nvPr/>
          </p:nvSpPr>
          <p:spPr>
            <a:xfrm>
              <a:off x="2095500" y="2438400"/>
              <a:ext cx="3048000" cy="609600"/>
            </a:xfrm>
            <a:custGeom>
              <a:avLst/>
              <a:gdLst/>
              <a:ahLst/>
              <a:cxnLst/>
              <a:rect l="l" t="t" r="r" b="b"/>
              <a:pathLst>
                <a:path w="3048000" h="609600">
                  <a:moveTo>
                    <a:pt x="0" y="609600"/>
                  </a:moveTo>
                  <a:cubicBezTo>
                    <a:pt x="1238250" y="609600"/>
                    <a:pt x="1809750" y="0"/>
                    <a:pt x="3048000" y="0"/>
                  </a:cubicBezTo>
                </a:path>
              </a:pathLst>
            </a:custGeom>
            <a:noFill/>
            <a:ln w="381000">
              <a:solidFill>
                <a:schemeClr val="accent2">
                  <a:alpha val="50000"/>
                </a:schemeClr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095500" y="3105150"/>
              <a:ext cx="3048000" cy="323850"/>
            </a:xfrm>
            <a:custGeom>
              <a:avLst/>
              <a:gdLst/>
              <a:ahLst/>
              <a:cxnLst/>
              <a:rect l="l" t="t" r="r" b="b"/>
              <a:pathLst>
                <a:path w="3048000" h="323850">
                  <a:moveTo>
                    <a:pt x="0" y="323850"/>
                  </a:moveTo>
                  <a:cubicBezTo>
                    <a:pt x="1238250" y="323850"/>
                    <a:pt x="1809750" y="0"/>
                    <a:pt x="3048000" y="0"/>
                  </a:cubicBezTo>
                </a:path>
              </a:pathLst>
            </a:custGeom>
            <a:noFill/>
            <a:ln w="123825">
              <a:solidFill>
                <a:schemeClr val="accent2">
                  <a:alpha val="42000"/>
                </a:schemeClr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095500" y="3600450"/>
              <a:ext cx="3048000" cy="171450"/>
            </a:xfrm>
            <a:custGeom>
              <a:avLst/>
              <a:gdLst/>
              <a:ahLst/>
              <a:cxnLst/>
              <a:rect l="l" t="t" r="r" b="b"/>
              <a:pathLst>
                <a:path w="3048000" h="171450">
                  <a:moveTo>
                    <a:pt x="0" y="0"/>
                  </a:moveTo>
                  <a:cubicBezTo>
                    <a:pt x="1238250" y="0"/>
                    <a:pt x="1809750" y="171450"/>
                    <a:pt x="3048000" y="171450"/>
                  </a:cubicBezTo>
                </a:path>
              </a:pathLst>
            </a:custGeom>
            <a:noFill/>
            <a:ln w="95250">
              <a:solidFill>
                <a:schemeClr val="accent2">
                  <a:alpha val="42000"/>
                </a:schemeClr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2095500" y="3733800"/>
              <a:ext cx="3048000" cy="704850"/>
            </a:xfrm>
            <a:custGeom>
              <a:avLst/>
              <a:gdLst/>
              <a:ahLst/>
              <a:cxnLst/>
              <a:rect l="l" t="t" r="r" b="b"/>
              <a:pathLst>
                <a:path w="3048000" h="704850">
                  <a:moveTo>
                    <a:pt x="0" y="0"/>
                  </a:moveTo>
                  <a:cubicBezTo>
                    <a:pt x="1238250" y="0"/>
                    <a:pt x="1809750" y="704850"/>
                    <a:pt x="3048000" y="704850"/>
                  </a:cubicBezTo>
                </a:path>
              </a:pathLst>
            </a:custGeom>
            <a:noFill/>
            <a:ln w="66675">
              <a:solidFill>
                <a:schemeClr val="accent2">
                  <a:alpha val="36000"/>
                </a:schemeClr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2095500" y="4095750"/>
              <a:ext cx="3048000" cy="1009650"/>
            </a:xfrm>
            <a:custGeom>
              <a:avLst/>
              <a:gdLst/>
              <a:ahLst/>
              <a:cxnLst/>
              <a:rect l="l" t="t" r="r" b="b"/>
              <a:pathLst>
                <a:path w="3048000" h="1009650">
                  <a:moveTo>
                    <a:pt x="0" y="0"/>
                  </a:moveTo>
                  <a:cubicBezTo>
                    <a:pt x="1238250" y="0"/>
                    <a:pt x="1809750" y="1009650"/>
                    <a:pt x="3048000" y="1009650"/>
                  </a:cubicBezTo>
                </a:path>
              </a:pathLst>
            </a:custGeom>
            <a:noFill/>
            <a:ln w="142875">
              <a:solidFill>
                <a:schemeClr val="accent2">
                  <a:alpha val="40000"/>
                </a:schemeClr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7048500" y="2438400"/>
            <a:ext cx="3238500" cy="2667000"/>
            <a:chOff x="7048500" y="2438400"/>
            <a:chExt cx="3238500" cy="2667000"/>
          </a:xfrm>
        </p:grpSpPr>
        <p:sp>
          <p:nvSpPr>
            <p:cNvPr id="25" name="Freeform 25"/>
            <p:cNvSpPr/>
            <p:nvPr/>
          </p:nvSpPr>
          <p:spPr>
            <a:xfrm>
              <a:off x="7048500" y="2438400"/>
              <a:ext cx="3238500" cy="609600"/>
            </a:xfrm>
            <a:custGeom>
              <a:avLst/>
              <a:gdLst/>
              <a:ahLst/>
              <a:cxnLst/>
              <a:rect l="l" t="t" r="r" b="b"/>
              <a:pathLst>
                <a:path w="3238500" h="609600">
                  <a:moveTo>
                    <a:pt x="0" y="0"/>
                  </a:moveTo>
                  <a:cubicBezTo>
                    <a:pt x="1238250" y="0"/>
                    <a:pt x="2000250" y="609600"/>
                    <a:pt x="3238500" y="609600"/>
                  </a:cubicBezTo>
                </a:path>
              </a:pathLst>
            </a:custGeom>
            <a:noFill/>
            <a:ln w="381000">
              <a:solidFill>
                <a:schemeClr val="accent3">
                  <a:alpha val="50000"/>
                </a:schemeClr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7048500" y="3105150"/>
              <a:ext cx="3238500" cy="323850"/>
            </a:xfrm>
            <a:custGeom>
              <a:avLst/>
              <a:gdLst/>
              <a:ahLst/>
              <a:cxnLst/>
              <a:rect l="l" t="t" r="r" b="b"/>
              <a:pathLst>
                <a:path w="3238500" h="323850">
                  <a:moveTo>
                    <a:pt x="0" y="0"/>
                  </a:moveTo>
                  <a:cubicBezTo>
                    <a:pt x="1238250" y="0"/>
                    <a:pt x="2000250" y="323850"/>
                    <a:pt x="3238500" y="323850"/>
                  </a:cubicBezTo>
                </a:path>
              </a:pathLst>
            </a:custGeom>
            <a:noFill/>
            <a:ln w="123825">
              <a:solidFill>
                <a:schemeClr val="accent3">
                  <a:alpha val="42000"/>
                </a:schemeClr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048500" y="3600450"/>
              <a:ext cx="3238500" cy="171450"/>
            </a:xfrm>
            <a:custGeom>
              <a:avLst/>
              <a:gdLst/>
              <a:ahLst/>
              <a:cxnLst/>
              <a:rect l="l" t="t" r="r" b="b"/>
              <a:pathLst>
                <a:path w="3238500" h="171450">
                  <a:moveTo>
                    <a:pt x="0" y="171450"/>
                  </a:moveTo>
                  <a:cubicBezTo>
                    <a:pt x="1238250" y="171450"/>
                    <a:pt x="2000250" y="0"/>
                    <a:pt x="3238500" y="0"/>
                  </a:cubicBezTo>
                </a:path>
              </a:pathLst>
            </a:custGeom>
            <a:noFill/>
            <a:ln w="95250">
              <a:solidFill>
                <a:schemeClr val="accent3">
                  <a:alpha val="42000"/>
                </a:schemeClr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048500" y="3733800"/>
              <a:ext cx="3238500" cy="704850"/>
            </a:xfrm>
            <a:custGeom>
              <a:avLst/>
              <a:gdLst/>
              <a:ahLst/>
              <a:cxnLst/>
              <a:rect l="l" t="t" r="r" b="b"/>
              <a:pathLst>
                <a:path w="3238500" h="704850">
                  <a:moveTo>
                    <a:pt x="0" y="704850"/>
                  </a:moveTo>
                  <a:cubicBezTo>
                    <a:pt x="1238250" y="704850"/>
                    <a:pt x="2000250" y="0"/>
                    <a:pt x="3238500" y="0"/>
                  </a:cubicBezTo>
                </a:path>
              </a:pathLst>
            </a:custGeom>
            <a:noFill/>
            <a:ln w="66675">
              <a:solidFill>
                <a:schemeClr val="accent3">
                  <a:alpha val="36000"/>
                </a:schemeClr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7048500" y="4095750"/>
              <a:ext cx="3238500" cy="1009650"/>
            </a:xfrm>
            <a:custGeom>
              <a:avLst/>
              <a:gdLst/>
              <a:ahLst/>
              <a:cxnLst/>
              <a:rect l="l" t="t" r="r" b="b"/>
              <a:pathLst>
                <a:path w="3238500" h="1009650">
                  <a:moveTo>
                    <a:pt x="0" y="1009650"/>
                  </a:moveTo>
                  <a:cubicBezTo>
                    <a:pt x="1238250" y="1009650"/>
                    <a:pt x="2000250" y="0"/>
                    <a:pt x="3238500" y="0"/>
                  </a:cubicBezTo>
                </a:path>
              </a:pathLst>
            </a:custGeom>
            <a:noFill/>
            <a:ln w="142875">
              <a:solidFill>
                <a:schemeClr val="accent3">
                  <a:alpha val="40000"/>
                </a:schemeClr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143500" y="2209800"/>
            <a:ext cx="1905000" cy="3124200"/>
            <a:chOff x="5143500" y="2209800"/>
            <a:chExt cx="1905000" cy="3124200"/>
          </a:xfrm>
        </p:grpSpPr>
        <p:sp>
          <p:nvSpPr>
            <p:cNvPr id="31" name="Rectangle 31"/>
            <p:cNvSpPr/>
            <p:nvPr/>
          </p:nvSpPr>
          <p:spPr>
            <a:xfrm>
              <a:off x="5143500" y="2209800"/>
              <a:ext cx="1905000" cy="4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5330757" y="2282983"/>
              <a:ext cx="235051" cy="231709"/>
            </a:xfrm>
            <a:custGeom>
              <a:avLst/>
              <a:gdLst/>
              <a:ahLst/>
              <a:cxnLst/>
              <a:rect l="l" t="t" r="r" b="b"/>
              <a:pathLst>
                <a:path w="235051" h="231709">
                  <a:moveTo>
                    <a:pt x="215478" y="96563"/>
                  </a:moveTo>
                  <a:cubicBezTo>
                    <a:pt x="220649" y="80991"/>
                    <a:pt x="218859" y="63946"/>
                    <a:pt x="210566" y="49788"/>
                  </a:cubicBezTo>
                  <a:cubicBezTo>
                    <a:pt x="198096" y="28083"/>
                    <a:pt x="173035" y="16919"/>
                    <a:pt x="148560" y="22165"/>
                  </a:cubicBezTo>
                  <a:cubicBezTo>
                    <a:pt x="134767" y="6823"/>
                    <a:pt x="113839" y="0"/>
                    <a:pt x="93654" y="4266"/>
                  </a:cubicBezTo>
                  <a:cubicBezTo>
                    <a:pt x="73469" y="8531"/>
                    <a:pt x="57090" y="23238"/>
                    <a:pt x="50684" y="42849"/>
                  </a:cubicBezTo>
                  <a:cubicBezTo>
                    <a:pt x="34607" y="46146"/>
                    <a:pt x="20730" y="56212"/>
                    <a:pt x="12606" y="70471"/>
                  </a:cubicBezTo>
                  <a:cubicBezTo>
                    <a:pt x="0" y="92141"/>
                    <a:pt x="2861" y="119476"/>
                    <a:pt x="19680" y="138066"/>
                  </a:cubicBezTo>
                  <a:cubicBezTo>
                    <a:pt x="14490" y="153631"/>
                    <a:pt x="16264" y="170678"/>
                    <a:pt x="24547" y="184841"/>
                  </a:cubicBezTo>
                  <a:cubicBezTo>
                    <a:pt x="37032" y="206553"/>
                    <a:pt x="62110" y="217717"/>
                    <a:pt x="86599" y="212464"/>
                  </a:cubicBezTo>
                  <a:cubicBezTo>
                    <a:pt x="97491" y="224730"/>
                    <a:pt x="113139" y="231709"/>
                    <a:pt x="129543" y="231617"/>
                  </a:cubicBezTo>
                  <a:cubicBezTo>
                    <a:pt x="154630" y="231640"/>
                    <a:pt x="176856" y="215445"/>
                    <a:pt x="184520" y="191557"/>
                  </a:cubicBezTo>
                  <a:cubicBezTo>
                    <a:pt x="200595" y="188254"/>
                    <a:pt x="214469" y="178189"/>
                    <a:pt x="222598" y="163933"/>
                  </a:cubicBezTo>
                  <a:cubicBezTo>
                    <a:pt x="235051" y="142302"/>
                    <a:pt x="232177" y="115115"/>
                    <a:pt x="215478" y="96564"/>
                  </a:cubicBezTo>
                  <a:close/>
                  <a:moveTo>
                    <a:pt x="129543" y="216655"/>
                  </a:moveTo>
                  <a:cubicBezTo>
                    <a:pt x="119530" y="216671"/>
                    <a:pt x="109830" y="213161"/>
                    <a:pt x="102145" y="206742"/>
                  </a:cubicBezTo>
                  <a:lnTo>
                    <a:pt x="103497" y="205976"/>
                  </a:lnTo>
                  <a:lnTo>
                    <a:pt x="149010" y="179704"/>
                  </a:lnTo>
                  <a:cubicBezTo>
                    <a:pt x="151315" y="178352"/>
                    <a:pt x="152736" y="175886"/>
                    <a:pt x="152751" y="173215"/>
                  </a:cubicBezTo>
                  <a:lnTo>
                    <a:pt x="152751" y="109046"/>
                  </a:lnTo>
                  <a:lnTo>
                    <a:pt x="171991" y="120177"/>
                  </a:lnTo>
                  <a:cubicBezTo>
                    <a:pt x="172184" y="120274"/>
                    <a:pt x="172319" y="120458"/>
                    <a:pt x="172353" y="120672"/>
                  </a:cubicBezTo>
                  <a:lnTo>
                    <a:pt x="172353" y="173846"/>
                  </a:lnTo>
                  <a:cubicBezTo>
                    <a:pt x="172303" y="197468"/>
                    <a:pt x="153166" y="216605"/>
                    <a:pt x="129543" y="216655"/>
                  </a:cubicBezTo>
                  <a:close/>
                  <a:moveTo>
                    <a:pt x="37525" y="177361"/>
                  </a:moveTo>
                  <a:cubicBezTo>
                    <a:pt x="32503" y="168689"/>
                    <a:pt x="30700" y="158525"/>
                    <a:pt x="32433" y="148655"/>
                  </a:cubicBezTo>
                  <a:lnTo>
                    <a:pt x="33785" y="149467"/>
                  </a:lnTo>
                  <a:lnTo>
                    <a:pt x="79344" y="175739"/>
                  </a:lnTo>
                  <a:cubicBezTo>
                    <a:pt x="81639" y="177086"/>
                    <a:pt x="84483" y="177086"/>
                    <a:pt x="86779" y="175739"/>
                  </a:cubicBezTo>
                  <a:lnTo>
                    <a:pt x="142431" y="143654"/>
                  </a:lnTo>
                  <a:lnTo>
                    <a:pt x="142431" y="165870"/>
                  </a:lnTo>
                  <a:cubicBezTo>
                    <a:pt x="142421" y="166103"/>
                    <a:pt x="142304" y="166319"/>
                    <a:pt x="142115" y="166456"/>
                  </a:cubicBezTo>
                  <a:lnTo>
                    <a:pt x="96016" y="193043"/>
                  </a:lnTo>
                  <a:cubicBezTo>
                    <a:pt x="75531" y="204844"/>
                    <a:pt x="49359" y="197827"/>
                    <a:pt x="37525" y="177361"/>
                  </a:cubicBezTo>
                  <a:close/>
                  <a:moveTo>
                    <a:pt x="25539" y="78223"/>
                  </a:moveTo>
                  <a:cubicBezTo>
                    <a:pt x="30595" y="69496"/>
                    <a:pt x="38577" y="62839"/>
                    <a:pt x="48070" y="59432"/>
                  </a:cubicBezTo>
                  <a:lnTo>
                    <a:pt x="48070" y="113507"/>
                  </a:lnTo>
                  <a:cubicBezTo>
                    <a:pt x="48035" y="116168"/>
                    <a:pt x="49451" y="118637"/>
                    <a:pt x="51765" y="119951"/>
                  </a:cubicBezTo>
                  <a:lnTo>
                    <a:pt x="107147" y="151900"/>
                  </a:lnTo>
                  <a:lnTo>
                    <a:pt x="87906" y="163030"/>
                  </a:lnTo>
                  <a:cubicBezTo>
                    <a:pt x="87694" y="163143"/>
                    <a:pt x="87441" y="163143"/>
                    <a:pt x="87229" y="163030"/>
                  </a:cubicBezTo>
                  <a:lnTo>
                    <a:pt x="41221" y="136489"/>
                  </a:lnTo>
                  <a:cubicBezTo>
                    <a:pt x="20776" y="124638"/>
                    <a:pt x="13765" y="98486"/>
                    <a:pt x="25539" y="77998"/>
                  </a:cubicBezTo>
                  <a:close/>
                  <a:moveTo>
                    <a:pt x="183619" y="114949"/>
                  </a:moveTo>
                  <a:lnTo>
                    <a:pt x="128056" y="82684"/>
                  </a:lnTo>
                  <a:lnTo>
                    <a:pt x="147253" y="71597"/>
                  </a:lnTo>
                  <a:cubicBezTo>
                    <a:pt x="147464" y="71485"/>
                    <a:pt x="147718" y="71485"/>
                    <a:pt x="147929" y="71597"/>
                  </a:cubicBezTo>
                  <a:lnTo>
                    <a:pt x="193938" y="98184"/>
                  </a:lnTo>
                  <a:cubicBezTo>
                    <a:pt x="208298" y="106470"/>
                    <a:pt x="216583" y="122303"/>
                    <a:pt x="215203" y="138825"/>
                  </a:cubicBezTo>
                  <a:cubicBezTo>
                    <a:pt x="213824" y="155346"/>
                    <a:pt x="203029" y="169586"/>
                    <a:pt x="187494" y="175377"/>
                  </a:cubicBezTo>
                  <a:lnTo>
                    <a:pt x="187494" y="121301"/>
                  </a:lnTo>
                  <a:cubicBezTo>
                    <a:pt x="187413" y="118648"/>
                    <a:pt x="185940" y="116234"/>
                    <a:pt x="183618" y="114948"/>
                  </a:cubicBezTo>
                  <a:close/>
                  <a:moveTo>
                    <a:pt x="202770" y="86154"/>
                  </a:moveTo>
                  <a:lnTo>
                    <a:pt x="201418" y="85343"/>
                  </a:lnTo>
                  <a:lnTo>
                    <a:pt x="155950" y="58846"/>
                  </a:lnTo>
                  <a:cubicBezTo>
                    <a:pt x="153641" y="57491"/>
                    <a:pt x="150779" y="57491"/>
                    <a:pt x="148469" y="58846"/>
                  </a:cubicBezTo>
                  <a:lnTo>
                    <a:pt x="92863" y="90930"/>
                  </a:lnTo>
                  <a:lnTo>
                    <a:pt x="92863" y="68715"/>
                  </a:lnTo>
                  <a:cubicBezTo>
                    <a:pt x="92839" y="68485"/>
                    <a:pt x="92943" y="68260"/>
                    <a:pt x="93134" y="68129"/>
                  </a:cubicBezTo>
                  <a:lnTo>
                    <a:pt x="139142" y="41587"/>
                  </a:lnTo>
                  <a:cubicBezTo>
                    <a:pt x="153537" y="33294"/>
                    <a:pt x="171428" y="34068"/>
                    <a:pt x="185053" y="43572"/>
                  </a:cubicBezTo>
                  <a:cubicBezTo>
                    <a:pt x="198678" y="53077"/>
                    <a:pt x="205583" y="69600"/>
                    <a:pt x="202771" y="85973"/>
                  </a:cubicBezTo>
                  <a:close/>
                  <a:moveTo>
                    <a:pt x="82362" y="125537"/>
                  </a:moveTo>
                  <a:lnTo>
                    <a:pt x="63122" y="114452"/>
                  </a:lnTo>
                  <a:cubicBezTo>
                    <a:pt x="62927" y="114335"/>
                    <a:pt x="62794" y="114137"/>
                    <a:pt x="62760" y="113912"/>
                  </a:cubicBezTo>
                  <a:lnTo>
                    <a:pt x="62760" y="60874"/>
                  </a:lnTo>
                  <a:cubicBezTo>
                    <a:pt x="62781" y="44264"/>
                    <a:pt x="72399" y="29163"/>
                    <a:pt x="87441" y="22119"/>
                  </a:cubicBezTo>
                  <a:cubicBezTo>
                    <a:pt x="102484" y="15075"/>
                    <a:pt x="120241" y="17358"/>
                    <a:pt x="133013" y="27977"/>
                  </a:cubicBezTo>
                  <a:lnTo>
                    <a:pt x="131661" y="28744"/>
                  </a:lnTo>
                  <a:lnTo>
                    <a:pt x="86148" y="55014"/>
                  </a:lnTo>
                  <a:cubicBezTo>
                    <a:pt x="83844" y="56366"/>
                    <a:pt x="82422" y="58832"/>
                    <a:pt x="82408" y="61503"/>
                  </a:cubicBezTo>
                  <a:close/>
                  <a:moveTo>
                    <a:pt x="92817" y="103007"/>
                  </a:moveTo>
                  <a:lnTo>
                    <a:pt x="117601" y="88721"/>
                  </a:lnTo>
                  <a:lnTo>
                    <a:pt x="142431" y="103007"/>
                  </a:lnTo>
                  <a:lnTo>
                    <a:pt x="142431" y="131576"/>
                  </a:lnTo>
                  <a:lnTo>
                    <a:pt x="117691" y="145861"/>
                  </a:lnTo>
                  <a:lnTo>
                    <a:pt x="92862" y="13157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708904" y="2366010"/>
              <a:ext cx="6570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E1116"/>
                  </a:solidFill>
                  <a:latin typeface="Cambria"/>
                  <a:ea typeface="Cambria"/>
                  <a:cs typeface="Cambria"/>
                </a:rPr>
                <a:t>OpenAI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07765" y="2349818"/>
              <a:ext cx="552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rgbClr val="0E1116"/>
                  </a:solidFill>
                  <a:latin typeface="Cambria"/>
                  <a:ea typeface="Cambria"/>
                  <a:cs typeface="Cambria"/>
                </a:rPr>
                <a:t>$30B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143500" y="2876550"/>
              <a:ext cx="1905000" cy="457200"/>
            </a:xfrm>
            <a:prstGeom prst="rect">
              <a:avLst/>
            </a:prstGeom>
            <a:solidFill>
              <a:schemeClr val="accent3">
                <a:alpha val="78000"/>
              </a:scheme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328285" y="3040856"/>
              <a:ext cx="2790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1116"/>
                  </a:solidFill>
                  <a:latin typeface="+mj-lt"/>
                  <a:ea typeface="+mj-ea"/>
                  <a:cs typeface="+mj-cs"/>
                </a:rPr>
                <a:t>xAI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8374" y="3032760"/>
              <a:ext cx="490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E1116"/>
                  </a:solidFill>
                  <a:latin typeface="Cambria"/>
                  <a:ea typeface="Cambria"/>
                  <a:cs typeface="Cambria"/>
                </a:rPr>
                <a:t>~$3B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143500" y="3543300"/>
              <a:ext cx="1905000" cy="457200"/>
            </a:xfrm>
            <a:prstGeom prst="rect">
              <a:avLst/>
            </a:prstGeom>
            <a:solidFill>
              <a:schemeClr val="accent3">
                <a:alpha val="62000"/>
              </a:scheme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28285" y="3707606"/>
              <a:ext cx="8163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1116"/>
                  </a:solidFill>
                  <a:latin typeface="+mj-lt"/>
                  <a:ea typeface="+mj-ea"/>
                  <a:cs typeface="+mj-cs"/>
                </a:rPr>
                <a:t>Anthropic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8374" y="3699510"/>
              <a:ext cx="490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E1116"/>
                  </a:solidFill>
                  <a:latin typeface="Cambria"/>
                  <a:ea typeface="Cambria"/>
                  <a:cs typeface="Cambria"/>
                </a:rPr>
                <a:t>~$2B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143500" y="4210050"/>
              <a:ext cx="1905000" cy="457200"/>
            </a:xfrm>
            <a:prstGeom prst="rect">
              <a:avLst/>
            </a:prstGeom>
            <a:solidFill>
              <a:schemeClr val="accent3">
                <a:alpha val="48000"/>
              </a:scheme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328285" y="4374356"/>
              <a:ext cx="6234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1116"/>
                  </a:solidFill>
                  <a:latin typeface="+mj-lt"/>
                  <a:ea typeface="+mj-ea"/>
                  <a:cs typeface="+mj-cs"/>
                </a:rPr>
                <a:t>Mistral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468374" y="4366260"/>
              <a:ext cx="490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E1116"/>
                  </a:solidFill>
                  <a:latin typeface="Cambria"/>
                  <a:ea typeface="Cambria"/>
                  <a:cs typeface="Cambria"/>
                </a:rPr>
                <a:t>~$1B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143500" y="4876800"/>
              <a:ext cx="1905000" cy="457200"/>
            </a:xfrm>
            <a:prstGeom prst="rect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328285" y="5041106"/>
              <a:ext cx="14492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E1116"/>
                  </a:solidFill>
                  <a:latin typeface="Cambria"/>
                  <a:ea typeface="SimSun"/>
                  <a:cs typeface="Cambria"/>
                </a:rPr>
                <a:t>CoreWeave + 其他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68374" y="5033010"/>
              <a:ext cx="490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0E1116"/>
                  </a:solidFill>
                  <a:latin typeface="Cambria"/>
                  <a:ea typeface="Cambria"/>
                  <a:cs typeface="Cambria"/>
                </a:rPr>
                <a:t>~$4B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227343" y="2095500"/>
            <a:ext cx="1643314" cy="3238500"/>
            <a:chOff x="10227343" y="2095500"/>
            <a:chExt cx="1643314" cy="3238500"/>
          </a:xfrm>
        </p:grpSpPr>
        <p:sp>
          <p:nvSpPr>
            <p:cNvPr id="48" name="Rectangle 48"/>
            <p:cNvSpPr/>
            <p:nvPr/>
          </p:nvSpPr>
          <p:spPr>
            <a:xfrm>
              <a:off x="10287000" y="2095500"/>
              <a:ext cx="1524000" cy="3238500"/>
            </a:xfrm>
            <a:prstGeom prst="rect">
              <a:avLst/>
            </a:prstGeom>
            <a:solidFill>
              <a:schemeClr val="accent2">
                <a:alpha val="78000"/>
              </a:scheme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701528" y="2442210"/>
              <a:ext cx="69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芯片采购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32961" y="2703195"/>
              <a:ext cx="123207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>
                      <a:alphaMod val="85000"/>
                    </a:schemeClr>
                  </a:solidFill>
                  <a:latin typeface="Cambria"/>
                  <a:ea typeface="Cambria"/>
                  <a:cs typeface="Cambria"/>
                </a:rPr>
                <a:t>multi-year compute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34586" y="2874645"/>
              <a:ext cx="8288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>
                      <a:alphaMod val="85000"/>
                    </a:schemeClr>
                  </a:solidFill>
                  <a:latin typeface="Cambria"/>
                  <a:ea typeface="Cambria"/>
                  <a:cs typeface="Cambria"/>
                </a:rPr>
                <a:t>commitments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227343" y="3328035"/>
              <a:ext cx="16433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Cambria"/>
                  <a:ea typeface="Cambria"/>
                  <a:cs typeface="Cambria"/>
                </a:rPr>
                <a:t>$100B+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626242" y="3808095"/>
              <a:ext cx="8455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>
                      <a:alphaMod val="85000"/>
                    </a:schemeClr>
                  </a:solidFill>
                  <a:latin typeface="+mn-lt"/>
                  <a:ea typeface="+mn-ea"/>
                  <a:cs typeface="+mn-cs"/>
                </a:rPr>
                <a:t>implied return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10477500" y="4286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chemeClr val="accent1">
                  <a:alpha val="40000"/>
                </a:schemeClr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486871" y="4561999"/>
              <a:ext cx="112425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>
                      <a:alphaMod val="85000"/>
                    </a:schemeClr>
                  </a:solidFill>
                  <a:latin typeface="Cambria"/>
                  <a:ea typeface="Cambria"/>
                  <a:cs typeface="Cambria"/>
                </a:rPr>
                <a:t>10GW (OpenAI)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60811" y="4771549"/>
              <a:ext cx="137637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>
                      <a:alphaMod val="85000"/>
                    </a:schemeClr>
                  </a:solidFill>
                  <a:latin typeface="Cambria"/>
                  <a:ea typeface="Cambria"/>
                  <a:cs typeface="Cambria"/>
                </a:rPr>
                <a:t>+ multi-cluster GPU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664195" y="4981099"/>
              <a:ext cx="7696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1">
                      <a:alphaMod val="85000"/>
                    </a:schemeClr>
                  </a:solidFill>
                  <a:latin typeface="Cambria"/>
                  <a:ea typeface="Cambria"/>
                  <a:cs typeface="Cambria"/>
                </a:rPr>
                <a:t>deployment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65404" y="5810250"/>
            <a:ext cx="11055096" cy="619506"/>
            <a:chOff x="565404" y="5810250"/>
            <a:chExt cx="11055096" cy="619506"/>
          </a:xfrm>
        </p:grpSpPr>
        <p:sp>
          <p:nvSpPr>
            <p:cNvPr id="59" name="Line 59"/>
            <p:cNvSpPr/>
            <p:nvPr/>
          </p:nvSpPr>
          <p:spPr>
            <a:xfrm>
              <a:off x="571500" y="5810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66738" y="5968841"/>
              <a:ext cx="8163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WEDBUSH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65404" y="6195060"/>
              <a:ext cx="95909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"It fits </a:t>
              </a:r>
              <a:r>
                <a:rPr lang="zh-CN" sz="1200" b="1" i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squarely into the circular investment theme</a:t>
              </a:r>
              <a:r>
                <a:rPr lang="zh-CN" sz="120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 that's been driving fears around the market's durability."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66738" y="6586538"/>
            <a:ext cx="11058525" cy="147638"/>
            <a:chOff x="566738" y="6586538"/>
            <a:chExt cx="11058525" cy="147638"/>
          </a:xfrm>
        </p:grpSpPr>
        <p:sp>
          <p:nvSpPr>
            <p:cNvPr id="63" name="TextBox 63"/>
            <p:cNvSpPr txBox="1"/>
            <p:nvPr/>
          </p:nvSpPr>
          <p:spPr>
            <a:xfrm>
              <a:off x="566738" y="6586538"/>
              <a:ext cx="446877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CNBC · The Decoder · NVIDIA newsroom · Bloomberg AI Circular Deals visualization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14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6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4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2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30"/>
                            </p:stCondLst>
                            <p:childTnLst>
                              <p:par>
                                <p:cTn xmlns:p="http://schemas.openxmlformats.org/presentationml/2006/main" id="21" presetID="22" presetClass="entr" presetSubtype="4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9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75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5819927" cy="1095470"/>
            <a:chOff x="560832" y="444341"/>
            <a:chExt cx="5819927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30274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V · INFRASTRUCTURE · 15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58199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单点风险：Nvidia 收入 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85%</a:t>
              </a:r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 来自 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6 个客户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53843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Pareto view — when six customers carry the entire upstream supply chain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63059" y="1863566"/>
            <a:ext cx="7809441" cy="4076700"/>
            <a:chOff x="763059" y="1863566"/>
            <a:chExt cx="7809441" cy="4076700"/>
          </a:xfrm>
        </p:grpSpPr>
        <p:sp>
          <p:nvSpPr>
            <p:cNvPr id="7" name="Line 7"/>
            <p:cNvSpPr/>
            <p:nvPr/>
          </p:nvSpPr>
          <p:spPr>
            <a:xfrm>
              <a:off x="1143000" y="1905000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4288">
              <a:solidFill>
                <a:srgbClr val="5C585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533400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14288">
              <a:solidFill>
                <a:srgbClr val="5C585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143000" y="190500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10" name="Line 10"/>
            <p:cNvSpPr/>
            <p:nvPr/>
          </p:nvSpPr>
          <p:spPr>
            <a:xfrm>
              <a:off x="1143000" y="276225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11" name="Line 11"/>
            <p:cNvSpPr/>
            <p:nvPr/>
          </p:nvSpPr>
          <p:spPr>
            <a:xfrm>
              <a:off x="1143000" y="361950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1143000" y="4476750"/>
              <a:ext cx="7429500" cy="9525"/>
            </a:xfrm>
            <a:custGeom>
              <a:avLst/>
              <a:gdLst/>
              <a:ahLst/>
              <a:cxnLst/>
              <a:rect l="l" t="t" r="r" b="b"/>
              <a:pathLst>
                <a:path w="7429500" h="9525">
                  <a:moveTo>
                    <a:pt x="0" y="0"/>
                  </a:moveTo>
                  <a:lnTo>
                    <a:pt x="7429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3059" y="1863566"/>
              <a:ext cx="28945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100%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7209" y="2720816"/>
              <a:ext cx="2253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75%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7209" y="3578066"/>
              <a:ext cx="2253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50%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7209" y="4435316"/>
              <a:ext cx="22530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25%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8837" y="5292566"/>
              <a:ext cx="736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0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524000" y="4454842"/>
              <a:ext cx="762000" cy="1485424"/>
              <a:chOff x="1524000" y="4454842"/>
              <a:chExt cx="762000" cy="1485424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1524000" y="4716780"/>
                <a:ext cx="762000" cy="61722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711639" y="4454842"/>
                <a:ext cx="3867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18%</a:t>
                </a:r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1800225" y="5476875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0" y="0"/>
                    </a:moveTo>
                    <a:lnTo>
                      <a:pt x="0" y="99606"/>
                    </a:lnTo>
                    <a:lnTo>
                      <a:pt x="99606" y="99606"/>
                    </a:lnTo>
                    <a:lnTo>
                      <a:pt x="99606" y="0"/>
                    </a:lnTo>
                    <a:close/>
                    <a:moveTo>
                      <a:pt x="109961" y="0"/>
                    </a:moveTo>
                    <a:lnTo>
                      <a:pt x="109961" y="99606"/>
                    </a:lnTo>
                    <a:lnTo>
                      <a:pt x="209550" y="99606"/>
                    </a:lnTo>
                    <a:lnTo>
                      <a:pt x="209550" y="0"/>
                    </a:lnTo>
                    <a:close/>
                    <a:moveTo>
                      <a:pt x="0" y="109961"/>
                    </a:moveTo>
                    <a:lnTo>
                      <a:pt x="0" y="209550"/>
                    </a:lnTo>
                    <a:lnTo>
                      <a:pt x="99606" y="209550"/>
                    </a:lnTo>
                    <a:lnTo>
                      <a:pt x="99606" y="109961"/>
                    </a:lnTo>
                    <a:close/>
                    <a:moveTo>
                      <a:pt x="109961" y="109961"/>
                    </a:moveTo>
                    <a:lnTo>
                      <a:pt x="109961" y="209550"/>
                    </a:lnTo>
                    <a:lnTo>
                      <a:pt x="209550" y="209550"/>
                    </a:lnTo>
                    <a:lnTo>
                      <a:pt x="209550" y="10996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730281" y="5778341"/>
                <a:ext cx="349438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MSFT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667000" y="4521518"/>
              <a:ext cx="762000" cy="1418748"/>
              <a:chOff x="2667000" y="4521518"/>
              <a:chExt cx="762000" cy="1418748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2667000" y="4785360"/>
                <a:ext cx="762000" cy="54864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854639" y="4521518"/>
                <a:ext cx="3867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16%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2943225" y="5512053"/>
                <a:ext cx="209550" cy="139194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194">
                    <a:moveTo>
                      <a:pt x="60377" y="9"/>
                    </a:moveTo>
                    <a:cubicBezTo>
                      <a:pt x="43194" y="9"/>
                      <a:pt x="28219" y="11185"/>
                      <a:pt x="17847" y="27189"/>
                    </a:cubicBezTo>
                    <a:cubicBezTo>
                      <a:pt x="6147" y="45219"/>
                      <a:pt x="0" y="68575"/>
                      <a:pt x="0" y="90980"/>
                    </a:cubicBezTo>
                    <a:cubicBezTo>
                      <a:pt x="0" y="97144"/>
                      <a:pt x="611" y="102933"/>
                      <a:pt x="1834" y="108206"/>
                    </a:cubicBezTo>
                    <a:cubicBezTo>
                      <a:pt x="2434" y="110759"/>
                      <a:pt x="3207" y="113268"/>
                      <a:pt x="4147" y="115715"/>
                    </a:cubicBezTo>
                    <a:cubicBezTo>
                      <a:pt x="5048" y="118013"/>
                      <a:pt x="6131" y="120235"/>
                      <a:pt x="7387" y="122360"/>
                    </a:cubicBezTo>
                    <a:cubicBezTo>
                      <a:pt x="13464" y="132479"/>
                      <a:pt x="23260" y="139185"/>
                      <a:pt x="38758" y="139185"/>
                    </a:cubicBezTo>
                    <a:cubicBezTo>
                      <a:pt x="51829" y="139185"/>
                      <a:pt x="61747" y="133326"/>
                      <a:pt x="73377" y="117846"/>
                    </a:cubicBezTo>
                    <a:cubicBezTo>
                      <a:pt x="80013" y="109010"/>
                      <a:pt x="83366" y="103649"/>
                      <a:pt x="96629" y="80127"/>
                    </a:cubicBezTo>
                    <a:lnTo>
                      <a:pt x="103230" y="68436"/>
                    </a:lnTo>
                    <a:lnTo>
                      <a:pt x="104854" y="65598"/>
                    </a:lnTo>
                    <a:cubicBezTo>
                      <a:pt x="105386" y="66471"/>
                      <a:pt x="105910" y="67309"/>
                      <a:pt x="106451" y="68217"/>
                    </a:cubicBezTo>
                    <a:lnTo>
                      <a:pt x="125241" y="99606"/>
                    </a:lnTo>
                    <a:cubicBezTo>
                      <a:pt x="131563" y="110171"/>
                      <a:pt x="139779" y="121923"/>
                      <a:pt x="146807" y="128542"/>
                    </a:cubicBezTo>
                    <a:cubicBezTo>
                      <a:pt x="155940" y="137159"/>
                      <a:pt x="164200" y="139194"/>
                      <a:pt x="173525" y="139194"/>
                    </a:cubicBezTo>
                    <a:cubicBezTo>
                      <a:pt x="182911" y="139194"/>
                      <a:pt x="189905" y="136094"/>
                      <a:pt x="194960" y="131833"/>
                    </a:cubicBezTo>
                    <a:cubicBezTo>
                      <a:pt x="197783" y="129423"/>
                      <a:pt x="200175" y="126551"/>
                      <a:pt x="202032" y="123338"/>
                    </a:cubicBezTo>
                    <a:cubicBezTo>
                      <a:pt x="206765" y="115139"/>
                      <a:pt x="209550" y="104766"/>
                      <a:pt x="209550" y="90639"/>
                    </a:cubicBezTo>
                    <a:cubicBezTo>
                      <a:pt x="209550" y="66890"/>
                      <a:pt x="203604" y="43866"/>
                      <a:pt x="191354" y="25591"/>
                    </a:cubicBezTo>
                    <a:cubicBezTo>
                      <a:pt x="180161" y="8897"/>
                      <a:pt x="165536" y="9"/>
                      <a:pt x="150178" y="9"/>
                    </a:cubicBezTo>
                    <a:cubicBezTo>
                      <a:pt x="141036" y="9"/>
                      <a:pt x="131947" y="4086"/>
                      <a:pt x="123521" y="11429"/>
                    </a:cubicBezTo>
                    <a:cubicBezTo>
                      <a:pt x="117828" y="16406"/>
                      <a:pt x="112546" y="22693"/>
                      <a:pt x="107630" y="29328"/>
                    </a:cubicBezTo>
                    <a:cubicBezTo>
                      <a:pt x="101606" y="21688"/>
                      <a:pt x="95974" y="15821"/>
                      <a:pt x="90534" y="11377"/>
                    </a:cubicBezTo>
                    <a:cubicBezTo>
                      <a:pt x="80214" y="2942"/>
                      <a:pt x="70322" y="0"/>
                      <a:pt x="60377" y="0"/>
                    </a:cubicBezTo>
                    <a:close/>
                    <a:moveTo>
                      <a:pt x="149086" y="17934"/>
                    </a:moveTo>
                    <a:cubicBezTo>
                      <a:pt x="159101" y="17934"/>
                      <a:pt x="168190" y="24552"/>
                      <a:pt x="175210" y="35388"/>
                    </a:cubicBezTo>
                    <a:cubicBezTo>
                      <a:pt x="185094" y="50650"/>
                      <a:pt x="189590" y="72015"/>
                      <a:pt x="189590" y="91268"/>
                    </a:cubicBezTo>
                    <a:cubicBezTo>
                      <a:pt x="189590" y="104784"/>
                      <a:pt x="186377" y="116588"/>
                      <a:pt x="173534" y="116588"/>
                    </a:cubicBezTo>
                    <a:cubicBezTo>
                      <a:pt x="168470" y="116588"/>
                      <a:pt x="164567" y="114580"/>
                      <a:pt x="159005" y="107822"/>
                    </a:cubicBezTo>
                    <a:cubicBezTo>
                      <a:pt x="154674" y="102575"/>
                      <a:pt x="147279" y="91425"/>
                      <a:pt x="134278" y="69771"/>
                    </a:cubicBezTo>
                    <a:lnTo>
                      <a:pt x="128891" y="60796"/>
                    </a:lnTo>
                    <a:cubicBezTo>
                      <a:pt x="125389" y="54939"/>
                      <a:pt x="121735" y="49174"/>
                      <a:pt x="117933" y="43508"/>
                    </a:cubicBezTo>
                    <a:cubicBezTo>
                      <a:pt x="118544" y="42556"/>
                      <a:pt x="119164" y="41552"/>
                      <a:pt x="119775" y="40653"/>
                    </a:cubicBezTo>
                    <a:cubicBezTo>
                      <a:pt x="129554" y="26098"/>
                      <a:pt x="138268" y="17934"/>
                      <a:pt x="149095" y="17934"/>
                    </a:cubicBezTo>
                    <a:close/>
                    <a:moveTo>
                      <a:pt x="60019" y="22762"/>
                    </a:moveTo>
                    <a:cubicBezTo>
                      <a:pt x="71064" y="22762"/>
                      <a:pt x="77988" y="29669"/>
                      <a:pt x="83375" y="35388"/>
                    </a:cubicBezTo>
                    <a:cubicBezTo>
                      <a:pt x="86055" y="38243"/>
                      <a:pt x="89810" y="42993"/>
                      <a:pt x="94149" y="49174"/>
                    </a:cubicBezTo>
                    <a:lnTo>
                      <a:pt x="85243" y="62848"/>
                    </a:lnTo>
                    <a:cubicBezTo>
                      <a:pt x="78634" y="73002"/>
                      <a:pt x="68811" y="89190"/>
                      <a:pt x="60473" y="100724"/>
                    </a:cubicBezTo>
                    <a:cubicBezTo>
                      <a:pt x="50074" y="115122"/>
                      <a:pt x="44669" y="116588"/>
                      <a:pt x="38767" y="116588"/>
                    </a:cubicBezTo>
                    <a:cubicBezTo>
                      <a:pt x="34192" y="116588"/>
                      <a:pt x="29704" y="114519"/>
                      <a:pt x="26691" y="109656"/>
                    </a:cubicBezTo>
                    <a:cubicBezTo>
                      <a:pt x="24395" y="105936"/>
                      <a:pt x="22640" y="99789"/>
                      <a:pt x="22640" y="91792"/>
                    </a:cubicBezTo>
                    <a:cubicBezTo>
                      <a:pt x="22640" y="72400"/>
                      <a:pt x="28141" y="52195"/>
                      <a:pt x="37134" y="38636"/>
                    </a:cubicBezTo>
                    <a:cubicBezTo>
                      <a:pt x="41098" y="32637"/>
                      <a:pt x="45551" y="27931"/>
                      <a:pt x="50519" y="25251"/>
                    </a:cubicBezTo>
                    <a:cubicBezTo>
                      <a:pt x="53426" y="23635"/>
                      <a:pt x="56693" y="22780"/>
                      <a:pt x="60019" y="2276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895775" y="5778341"/>
                <a:ext cx="30444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Meta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3810000" y="4559618"/>
              <a:ext cx="762000" cy="1380648"/>
              <a:chOff x="3810000" y="4559618"/>
              <a:chExt cx="762000" cy="1380648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810000" y="4819650"/>
                <a:ext cx="762000" cy="51435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997639" y="4559618"/>
                <a:ext cx="3867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15%</a:t>
                </a:r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4088905" y="5476875"/>
                <a:ext cx="204189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4189" h="209550">
                    <a:moveTo>
                      <a:pt x="106286" y="95345"/>
                    </a:moveTo>
                    <a:lnTo>
                      <a:pt x="106286" y="123984"/>
                    </a:lnTo>
                    <a:lnTo>
                      <a:pt x="174739" y="123984"/>
                    </a:lnTo>
                    <a:cubicBezTo>
                      <a:pt x="172643" y="140049"/>
                      <a:pt x="167291" y="151810"/>
                      <a:pt x="159136" y="160070"/>
                    </a:cubicBezTo>
                    <a:cubicBezTo>
                      <a:pt x="149121" y="170085"/>
                      <a:pt x="133527" y="181025"/>
                      <a:pt x="106286" y="181025"/>
                    </a:cubicBezTo>
                    <a:cubicBezTo>
                      <a:pt x="64140" y="181025"/>
                      <a:pt x="31197" y="147034"/>
                      <a:pt x="31197" y="104889"/>
                    </a:cubicBezTo>
                    <a:cubicBezTo>
                      <a:pt x="31197" y="62743"/>
                      <a:pt x="64140" y="28752"/>
                      <a:pt x="106286" y="28752"/>
                    </a:cubicBezTo>
                    <a:cubicBezTo>
                      <a:pt x="128987" y="28752"/>
                      <a:pt x="145637" y="37719"/>
                      <a:pt x="157861" y="49244"/>
                    </a:cubicBezTo>
                    <a:lnTo>
                      <a:pt x="178004" y="29101"/>
                    </a:lnTo>
                    <a:cubicBezTo>
                      <a:pt x="161004" y="12573"/>
                      <a:pt x="138181" y="0"/>
                      <a:pt x="106286" y="0"/>
                    </a:cubicBezTo>
                    <a:cubicBezTo>
                      <a:pt x="48546" y="0"/>
                      <a:pt x="0" y="47035"/>
                      <a:pt x="0" y="104775"/>
                    </a:cubicBezTo>
                    <a:cubicBezTo>
                      <a:pt x="0" y="162515"/>
                      <a:pt x="48546" y="209550"/>
                      <a:pt x="106286" y="209550"/>
                    </a:cubicBezTo>
                    <a:cubicBezTo>
                      <a:pt x="137482" y="209550"/>
                      <a:pt x="161004" y="199308"/>
                      <a:pt x="179392" y="180213"/>
                    </a:cubicBezTo>
                    <a:cubicBezTo>
                      <a:pt x="198252" y="161354"/>
                      <a:pt x="204189" y="134697"/>
                      <a:pt x="204189" y="113271"/>
                    </a:cubicBezTo>
                    <a:cubicBezTo>
                      <a:pt x="204189" y="106635"/>
                      <a:pt x="203726" y="100462"/>
                      <a:pt x="202679" y="95345"/>
                    </a:cubicBezTo>
                    <a:lnTo>
                      <a:pt x="106286" y="9534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002014" y="5778341"/>
                <a:ext cx="37797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Google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4953000" y="4692968"/>
              <a:ext cx="762000" cy="1247298"/>
              <a:chOff x="4953000" y="4692968"/>
              <a:chExt cx="762000" cy="1247298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4953000" y="4956810"/>
                <a:ext cx="762000" cy="37719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140639" y="4692968"/>
                <a:ext cx="3867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3"/>
                    </a:solidFill>
                    <a:latin typeface="Cambria"/>
                    <a:ea typeface="Cambria"/>
                    <a:cs typeface="Cambria"/>
                  </a:rPr>
                  <a:t>11%</a:t>
                </a:r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5229225" y="5486497"/>
                <a:ext cx="209550" cy="193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93525">
                    <a:moveTo>
                      <a:pt x="393" y="147715"/>
                    </a:moveTo>
                    <a:cubicBezTo>
                      <a:pt x="1022" y="146703"/>
                      <a:pt x="2026" y="146633"/>
                      <a:pt x="3431" y="147523"/>
                    </a:cubicBezTo>
                    <a:cubicBezTo>
                      <a:pt x="35178" y="165946"/>
                      <a:pt x="69737" y="175166"/>
                      <a:pt x="107071" y="175166"/>
                    </a:cubicBezTo>
                    <a:cubicBezTo>
                      <a:pt x="131973" y="175166"/>
                      <a:pt x="156560" y="170513"/>
                      <a:pt x="180824" y="161240"/>
                    </a:cubicBezTo>
                    <a:lnTo>
                      <a:pt x="183575" y="160018"/>
                    </a:lnTo>
                    <a:cubicBezTo>
                      <a:pt x="184780" y="159494"/>
                      <a:pt x="185618" y="159145"/>
                      <a:pt x="186133" y="158883"/>
                    </a:cubicBezTo>
                    <a:cubicBezTo>
                      <a:pt x="188106" y="158114"/>
                      <a:pt x="189538" y="158481"/>
                      <a:pt x="190717" y="160018"/>
                    </a:cubicBezTo>
                    <a:cubicBezTo>
                      <a:pt x="191765" y="161537"/>
                      <a:pt x="191503" y="162951"/>
                      <a:pt x="189669" y="164209"/>
                    </a:cubicBezTo>
                    <a:cubicBezTo>
                      <a:pt x="187434" y="165868"/>
                      <a:pt x="184430" y="167788"/>
                      <a:pt x="180885" y="169919"/>
                    </a:cubicBezTo>
                    <a:cubicBezTo>
                      <a:pt x="170024" y="176406"/>
                      <a:pt x="157835" y="181409"/>
                      <a:pt x="144345" y="184989"/>
                    </a:cubicBezTo>
                    <a:cubicBezTo>
                      <a:pt x="112749" y="193525"/>
                      <a:pt x="79253" y="191760"/>
                      <a:pt x="48729" y="179951"/>
                    </a:cubicBezTo>
                    <a:cubicBezTo>
                      <a:pt x="31300" y="173123"/>
                      <a:pt x="15241" y="163215"/>
                      <a:pt x="1318" y="150701"/>
                    </a:cubicBezTo>
                    <a:cubicBezTo>
                      <a:pt x="445" y="150055"/>
                      <a:pt x="0" y="149392"/>
                      <a:pt x="0" y="148781"/>
                    </a:cubicBezTo>
                    <a:cubicBezTo>
                      <a:pt x="0" y="148370"/>
                      <a:pt x="183" y="147995"/>
                      <a:pt x="445" y="147645"/>
                    </a:cubicBezTo>
                    <a:close/>
                    <a:moveTo>
                      <a:pt x="57714" y="93424"/>
                    </a:moveTo>
                    <a:cubicBezTo>
                      <a:pt x="57714" y="84649"/>
                      <a:pt x="59870" y="77158"/>
                      <a:pt x="64201" y="70924"/>
                    </a:cubicBezTo>
                    <a:cubicBezTo>
                      <a:pt x="68523" y="64725"/>
                      <a:pt x="74416" y="60010"/>
                      <a:pt x="82013" y="56823"/>
                    </a:cubicBezTo>
                    <a:cubicBezTo>
                      <a:pt x="88963" y="53898"/>
                      <a:pt x="97345" y="51803"/>
                      <a:pt x="107438" y="50536"/>
                    </a:cubicBezTo>
                    <a:cubicBezTo>
                      <a:pt x="110843" y="50135"/>
                      <a:pt x="116457" y="49637"/>
                      <a:pt x="124202" y="49017"/>
                    </a:cubicBezTo>
                    <a:lnTo>
                      <a:pt x="124202" y="45787"/>
                    </a:lnTo>
                    <a:cubicBezTo>
                      <a:pt x="124202" y="37667"/>
                      <a:pt x="123285" y="32183"/>
                      <a:pt x="121583" y="29416"/>
                    </a:cubicBezTo>
                    <a:cubicBezTo>
                      <a:pt x="118946" y="25661"/>
                      <a:pt x="114772" y="23740"/>
                      <a:pt x="109010" y="23740"/>
                    </a:cubicBezTo>
                    <a:lnTo>
                      <a:pt x="107421" y="23740"/>
                    </a:lnTo>
                    <a:cubicBezTo>
                      <a:pt x="103230" y="24142"/>
                      <a:pt x="99597" y="25452"/>
                      <a:pt x="96541" y="27757"/>
                    </a:cubicBezTo>
                    <a:cubicBezTo>
                      <a:pt x="93486" y="30114"/>
                      <a:pt x="91521" y="33257"/>
                      <a:pt x="90648" y="37326"/>
                    </a:cubicBezTo>
                    <a:cubicBezTo>
                      <a:pt x="90124" y="39945"/>
                      <a:pt x="88849" y="41386"/>
                      <a:pt x="86850" y="41779"/>
                    </a:cubicBezTo>
                    <a:lnTo>
                      <a:pt x="64847" y="39029"/>
                    </a:lnTo>
                    <a:cubicBezTo>
                      <a:pt x="62682" y="38505"/>
                      <a:pt x="61599" y="37457"/>
                      <a:pt x="61599" y="35624"/>
                    </a:cubicBezTo>
                    <a:cubicBezTo>
                      <a:pt x="61599" y="35222"/>
                      <a:pt x="61660" y="34838"/>
                      <a:pt x="61791" y="34314"/>
                    </a:cubicBezTo>
                    <a:cubicBezTo>
                      <a:pt x="63948" y="23051"/>
                      <a:pt x="69256" y="14669"/>
                      <a:pt x="77682" y="9168"/>
                    </a:cubicBezTo>
                    <a:cubicBezTo>
                      <a:pt x="86204" y="3789"/>
                      <a:pt x="96018" y="655"/>
                      <a:pt x="107281" y="0"/>
                    </a:cubicBezTo>
                    <a:lnTo>
                      <a:pt x="111996" y="0"/>
                    </a:lnTo>
                    <a:cubicBezTo>
                      <a:pt x="126402" y="0"/>
                      <a:pt x="137814" y="3789"/>
                      <a:pt x="145943" y="11263"/>
                    </a:cubicBezTo>
                    <a:cubicBezTo>
                      <a:pt x="147122" y="12573"/>
                      <a:pt x="148300" y="13883"/>
                      <a:pt x="149479" y="15454"/>
                    </a:cubicBezTo>
                    <a:cubicBezTo>
                      <a:pt x="150527" y="16895"/>
                      <a:pt x="151435" y="18196"/>
                      <a:pt x="151950" y="19383"/>
                    </a:cubicBezTo>
                    <a:cubicBezTo>
                      <a:pt x="152605" y="20553"/>
                      <a:pt x="153260" y="22265"/>
                      <a:pt x="153653" y="24360"/>
                    </a:cubicBezTo>
                    <a:cubicBezTo>
                      <a:pt x="154176" y="26578"/>
                      <a:pt x="154569" y="28027"/>
                      <a:pt x="154831" y="28813"/>
                    </a:cubicBezTo>
                    <a:cubicBezTo>
                      <a:pt x="155093" y="29721"/>
                      <a:pt x="155373" y="31433"/>
                      <a:pt x="155495" y="34183"/>
                    </a:cubicBezTo>
                    <a:cubicBezTo>
                      <a:pt x="155582" y="36916"/>
                      <a:pt x="155670" y="38487"/>
                      <a:pt x="155670" y="39011"/>
                    </a:cubicBezTo>
                    <a:lnTo>
                      <a:pt x="155670" y="85112"/>
                    </a:lnTo>
                    <a:cubicBezTo>
                      <a:pt x="155670" y="88395"/>
                      <a:pt x="156193" y="91399"/>
                      <a:pt x="157110" y="94158"/>
                    </a:cubicBezTo>
                    <a:cubicBezTo>
                      <a:pt x="158027" y="96891"/>
                      <a:pt x="158944" y="98873"/>
                      <a:pt x="159861" y="100043"/>
                    </a:cubicBezTo>
                    <a:lnTo>
                      <a:pt x="164313" y="105928"/>
                    </a:lnTo>
                    <a:cubicBezTo>
                      <a:pt x="165099" y="107115"/>
                      <a:pt x="165501" y="108163"/>
                      <a:pt x="165501" y="109071"/>
                    </a:cubicBezTo>
                    <a:cubicBezTo>
                      <a:pt x="165501" y="110119"/>
                      <a:pt x="164977" y="111044"/>
                      <a:pt x="163929" y="111812"/>
                    </a:cubicBezTo>
                    <a:cubicBezTo>
                      <a:pt x="153452" y="120980"/>
                      <a:pt x="147689" y="125957"/>
                      <a:pt x="146790" y="126743"/>
                    </a:cubicBezTo>
                    <a:cubicBezTo>
                      <a:pt x="145349" y="127922"/>
                      <a:pt x="143516" y="128053"/>
                      <a:pt x="141289" y="127136"/>
                    </a:cubicBezTo>
                    <a:cubicBezTo>
                      <a:pt x="139673" y="125785"/>
                      <a:pt x="138140" y="124339"/>
                      <a:pt x="136696" y="122805"/>
                    </a:cubicBezTo>
                    <a:lnTo>
                      <a:pt x="133990" y="119775"/>
                    </a:lnTo>
                    <a:cubicBezTo>
                      <a:pt x="133033" y="118579"/>
                      <a:pt x="132110" y="117356"/>
                      <a:pt x="131222" y="116108"/>
                    </a:cubicBezTo>
                    <a:lnTo>
                      <a:pt x="128603" y="112310"/>
                    </a:lnTo>
                    <a:cubicBezTo>
                      <a:pt x="121530" y="120046"/>
                      <a:pt x="114606" y="124883"/>
                      <a:pt x="107648" y="126848"/>
                    </a:cubicBezTo>
                    <a:cubicBezTo>
                      <a:pt x="103334" y="128157"/>
                      <a:pt x="98104" y="128830"/>
                      <a:pt x="91669" y="128830"/>
                    </a:cubicBezTo>
                    <a:cubicBezTo>
                      <a:pt x="81978" y="128830"/>
                      <a:pt x="73858" y="125835"/>
                      <a:pt x="67571" y="119802"/>
                    </a:cubicBezTo>
                    <a:cubicBezTo>
                      <a:pt x="61285" y="113777"/>
                      <a:pt x="58141" y="105264"/>
                      <a:pt x="58141" y="94132"/>
                    </a:cubicBezTo>
                    <a:lnTo>
                      <a:pt x="57705" y="93468"/>
                    </a:lnTo>
                    <a:close/>
                    <a:moveTo>
                      <a:pt x="90482" y="89600"/>
                    </a:moveTo>
                    <a:cubicBezTo>
                      <a:pt x="90482" y="94542"/>
                      <a:pt x="91704" y="98506"/>
                      <a:pt x="94193" y="101510"/>
                    </a:cubicBezTo>
                    <a:cubicBezTo>
                      <a:pt x="96681" y="104478"/>
                      <a:pt x="100086" y="105980"/>
                      <a:pt x="104277" y="105980"/>
                    </a:cubicBezTo>
                    <a:cubicBezTo>
                      <a:pt x="104670" y="105980"/>
                      <a:pt x="105203" y="105919"/>
                      <a:pt x="105980" y="105805"/>
                    </a:cubicBezTo>
                    <a:cubicBezTo>
                      <a:pt x="106766" y="105666"/>
                      <a:pt x="107150" y="105605"/>
                      <a:pt x="107429" y="105605"/>
                    </a:cubicBezTo>
                    <a:cubicBezTo>
                      <a:pt x="112790" y="104208"/>
                      <a:pt x="116859" y="100776"/>
                      <a:pt x="119863" y="95319"/>
                    </a:cubicBezTo>
                    <a:cubicBezTo>
                      <a:pt x="121303" y="92874"/>
                      <a:pt x="122351" y="90255"/>
                      <a:pt x="123006" y="87374"/>
                    </a:cubicBezTo>
                    <a:cubicBezTo>
                      <a:pt x="123792" y="84580"/>
                      <a:pt x="124054" y="82222"/>
                      <a:pt x="124185" y="80389"/>
                    </a:cubicBezTo>
                    <a:cubicBezTo>
                      <a:pt x="124316" y="78686"/>
                      <a:pt x="124316" y="75674"/>
                      <a:pt x="124316" y="71614"/>
                    </a:cubicBezTo>
                    <a:lnTo>
                      <a:pt x="124316" y="66899"/>
                    </a:lnTo>
                    <a:cubicBezTo>
                      <a:pt x="116981" y="66899"/>
                      <a:pt x="111358" y="67423"/>
                      <a:pt x="107552" y="68470"/>
                    </a:cubicBezTo>
                    <a:cubicBezTo>
                      <a:pt x="96419" y="71614"/>
                      <a:pt x="90788" y="78686"/>
                      <a:pt x="90788" y="89687"/>
                    </a:cubicBezTo>
                    <a:lnTo>
                      <a:pt x="90482" y="89513"/>
                    </a:lnTo>
                    <a:close/>
                    <a:moveTo>
                      <a:pt x="170478" y="150955"/>
                    </a:moveTo>
                    <a:cubicBezTo>
                      <a:pt x="170740" y="150431"/>
                      <a:pt x="171133" y="149994"/>
                      <a:pt x="171630" y="149470"/>
                    </a:cubicBezTo>
                    <a:cubicBezTo>
                      <a:pt x="174791" y="147349"/>
                      <a:pt x="177864" y="145891"/>
                      <a:pt x="180798" y="145105"/>
                    </a:cubicBezTo>
                    <a:cubicBezTo>
                      <a:pt x="185407" y="143934"/>
                      <a:pt x="190123" y="143232"/>
                      <a:pt x="194873" y="143009"/>
                    </a:cubicBezTo>
                    <a:cubicBezTo>
                      <a:pt x="196095" y="142904"/>
                      <a:pt x="197318" y="143009"/>
                      <a:pt x="198453" y="143271"/>
                    </a:cubicBezTo>
                    <a:cubicBezTo>
                      <a:pt x="204128" y="143795"/>
                      <a:pt x="207620" y="144738"/>
                      <a:pt x="208686" y="146152"/>
                    </a:cubicBezTo>
                    <a:cubicBezTo>
                      <a:pt x="209236" y="146938"/>
                      <a:pt x="209550" y="148143"/>
                      <a:pt x="209550" y="149558"/>
                    </a:cubicBezTo>
                    <a:lnTo>
                      <a:pt x="209550" y="150867"/>
                    </a:lnTo>
                    <a:cubicBezTo>
                      <a:pt x="209550" y="155320"/>
                      <a:pt x="208249" y="160559"/>
                      <a:pt x="205848" y="166584"/>
                    </a:cubicBezTo>
                    <a:cubicBezTo>
                      <a:pt x="203421" y="172608"/>
                      <a:pt x="200050" y="177480"/>
                      <a:pt x="195755" y="181252"/>
                    </a:cubicBezTo>
                    <a:cubicBezTo>
                      <a:pt x="195117" y="181776"/>
                      <a:pt x="194532" y="182038"/>
                      <a:pt x="194035" y="182038"/>
                    </a:cubicBezTo>
                    <a:cubicBezTo>
                      <a:pt x="193773" y="182038"/>
                      <a:pt x="193511" y="182038"/>
                      <a:pt x="193249" y="181933"/>
                    </a:cubicBezTo>
                    <a:cubicBezTo>
                      <a:pt x="192463" y="181549"/>
                      <a:pt x="192315" y="180885"/>
                      <a:pt x="192690" y="179838"/>
                    </a:cubicBezTo>
                    <a:cubicBezTo>
                      <a:pt x="197405" y="168836"/>
                      <a:pt x="199727" y="161127"/>
                      <a:pt x="199727" y="156787"/>
                    </a:cubicBezTo>
                    <a:cubicBezTo>
                      <a:pt x="199727" y="155477"/>
                      <a:pt x="199465" y="154430"/>
                      <a:pt x="198968" y="153784"/>
                    </a:cubicBezTo>
                    <a:cubicBezTo>
                      <a:pt x="197702" y="152334"/>
                      <a:pt x="194166" y="151540"/>
                      <a:pt x="188281" y="151540"/>
                    </a:cubicBezTo>
                    <a:cubicBezTo>
                      <a:pt x="186159" y="151540"/>
                      <a:pt x="183627" y="151679"/>
                      <a:pt x="180685" y="151941"/>
                    </a:cubicBezTo>
                    <a:cubicBezTo>
                      <a:pt x="177515" y="152334"/>
                      <a:pt x="174573" y="152727"/>
                      <a:pt x="171953" y="153120"/>
                    </a:cubicBezTo>
                    <a:cubicBezTo>
                      <a:pt x="171167" y="153120"/>
                      <a:pt x="170661" y="152998"/>
                      <a:pt x="170382" y="152736"/>
                    </a:cubicBezTo>
                    <a:cubicBezTo>
                      <a:pt x="170120" y="152474"/>
                      <a:pt x="170067" y="152325"/>
                      <a:pt x="170207" y="152064"/>
                    </a:cubicBezTo>
                    <a:cubicBezTo>
                      <a:pt x="170207" y="151915"/>
                      <a:pt x="170259" y="151802"/>
                      <a:pt x="170382" y="151513"/>
                    </a:cubicBezTo>
                    <a:lnTo>
                      <a:pt x="170382" y="15099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5117833" y="5778341"/>
                <a:ext cx="43233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Amazon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6096000" y="4626292"/>
              <a:ext cx="762000" cy="1313974"/>
              <a:chOff x="6096000" y="4626292"/>
              <a:chExt cx="762000" cy="1313974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096000" y="4888230"/>
                <a:ext cx="762000" cy="44577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283639" y="4626292"/>
                <a:ext cx="3867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3"/>
                    </a:solidFill>
                    <a:latin typeface="Cambria"/>
                    <a:ea typeface="Cambria"/>
                    <a:cs typeface="Cambria"/>
                  </a:rPr>
                  <a:t>13%</a:t>
                </a:r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6369253" y="5474109"/>
                <a:ext cx="215463" cy="212400"/>
              </a:xfrm>
              <a:custGeom>
                <a:avLst/>
                <a:gdLst/>
                <a:ahLst/>
                <a:cxnLst/>
                <a:rect l="l" t="t" r="r" b="b"/>
                <a:pathLst>
                  <a:path w="215463" h="212400">
                    <a:moveTo>
                      <a:pt x="197521" y="88516"/>
                    </a:moveTo>
                    <a:cubicBezTo>
                      <a:pt x="202261" y="74242"/>
                      <a:pt x="200621" y="58617"/>
                      <a:pt x="193019" y="45639"/>
                    </a:cubicBezTo>
                    <a:cubicBezTo>
                      <a:pt x="181588" y="25743"/>
                      <a:pt x="158616" y="15509"/>
                      <a:pt x="136180" y="20318"/>
                    </a:cubicBezTo>
                    <a:cubicBezTo>
                      <a:pt x="123536" y="6254"/>
                      <a:pt x="104352" y="0"/>
                      <a:pt x="85849" y="3910"/>
                    </a:cubicBezTo>
                    <a:cubicBezTo>
                      <a:pt x="67346" y="7820"/>
                      <a:pt x="52333" y="21301"/>
                      <a:pt x="46460" y="39278"/>
                    </a:cubicBezTo>
                    <a:cubicBezTo>
                      <a:pt x="31723" y="42300"/>
                      <a:pt x="19003" y="51527"/>
                      <a:pt x="11555" y="64599"/>
                    </a:cubicBezTo>
                    <a:cubicBezTo>
                      <a:pt x="0" y="84463"/>
                      <a:pt x="2622" y="109520"/>
                      <a:pt x="18040" y="126561"/>
                    </a:cubicBezTo>
                    <a:cubicBezTo>
                      <a:pt x="13282" y="140829"/>
                      <a:pt x="14908" y="156455"/>
                      <a:pt x="22502" y="169437"/>
                    </a:cubicBezTo>
                    <a:cubicBezTo>
                      <a:pt x="33946" y="189340"/>
                      <a:pt x="56934" y="199574"/>
                      <a:pt x="79382" y="194759"/>
                    </a:cubicBezTo>
                    <a:cubicBezTo>
                      <a:pt x="89367" y="206003"/>
                      <a:pt x="103711" y="212400"/>
                      <a:pt x="118748" y="212316"/>
                    </a:cubicBezTo>
                    <a:cubicBezTo>
                      <a:pt x="141745" y="212337"/>
                      <a:pt x="162118" y="197491"/>
                      <a:pt x="169143" y="175594"/>
                    </a:cubicBezTo>
                    <a:cubicBezTo>
                      <a:pt x="183878" y="172567"/>
                      <a:pt x="196597" y="163340"/>
                      <a:pt x="204048" y="150272"/>
                    </a:cubicBezTo>
                    <a:cubicBezTo>
                      <a:pt x="215463" y="130443"/>
                      <a:pt x="212829" y="105522"/>
                      <a:pt x="197521" y="88517"/>
                    </a:cubicBezTo>
                    <a:close/>
                    <a:moveTo>
                      <a:pt x="118748" y="198601"/>
                    </a:moveTo>
                    <a:cubicBezTo>
                      <a:pt x="109569" y="198615"/>
                      <a:pt x="100678" y="195398"/>
                      <a:pt x="93633" y="189513"/>
                    </a:cubicBezTo>
                    <a:lnTo>
                      <a:pt x="94872" y="188811"/>
                    </a:lnTo>
                    <a:lnTo>
                      <a:pt x="136593" y="164729"/>
                    </a:lnTo>
                    <a:cubicBezTo>
                      <a:pt x="138705" y="163490"/>
                      <a:pt x="140008" y="161229"/>
                      <a:pt x="140022" y="158780"/>
                    </a:cubicBezTo>
                    <a:lnTo>
                      <a:pt x="140022" y="99958"/>
                    </a:lnTo>
                    <a:lnTo>
                      <a:pt x="157659" y="110162"/>
                    </a:lnTo>
                    <a:cubicBezTo>
                      <a:pt x="157836" y="110251"/>
                      <a:pt x="157959" y="110420"/>
                      <a:pt x="157991" y="110616"/>
                    </a:cubicBezTo>
                    <a:lnTo>
                      <a:pt x="157991" y="159359"/>
                    </a:lnTo>
                    <a:cubicBezTo>
                      <a:pt x="157944" y="181013"/>
                      <a:pt x="140402" y="198555"/>
                      <a:pt x="118748" y="198601"/>
                    </a:cubicBezTo>
                    <a:close/>
                    <a:moveTo>
                      <a:pt x="34398" y="162581"/>
                    </a:moveTo>
                    <a:cubicBezTo>
                      <a:pt x="29795" y="154632"/>
                      <a:pt x="28142" y="145315"/>
                      <a:pt x="29730" y="136267"/>
                    </a:cubicBezTo>
                    <a:lnTo>
                      <a:pt x="30970" y="137011"/>
                    </a:lnTo>
                    <a:lnTo>
                      <a:pt x="72732" y="161094"/>
                    </a:lnTo>
                    <a:cubicBezTo>
                      <a:pt x="74836" y="162329"/>
                      <a:pt x="77443" y="162329"/>
                      <a:pt x="79547" y="161094"/>
                    </a:cubicBezTo>
                    <a:lnTo>
                      <a:pt x="130562" y="131683"/>
                    </a:lnTo>
                    <a:lnTo>
                      <a:pt x="130562" y="152047"/>
                    </a:lnTo>
                    <a:cubicBezTo>
                      <a:pt x="130553" y="152261"/>
                      <a:pt x="130446" y="152459"/>
                      <a:pt x="130272" y="152584"/>
                    </a:cubicBezTo>
                    <a:lnTo>
                      <a:pt x="88015" y="176956"/>
                    </a:lnTo>
                    <a:cubicBezTo>
                      <a:pt x="69237" y="187773"/>
                      <a:pt x="45246" y="181341"/>
                      <a:pt x="34398" y="162581"/>
                    </a:cubicBezTo>
                    <a:close/>
                    <a:moveTo>
                      <a:pt x="23411" y="71704"/>
                    </a:moveTo>
                    <a:cubicBezTo>
                      <a:pt x="28046" y="63704"/>
                      <a:pt x="35362" y="57603"/>
                      <a:pt x="44064" y="54479"/>
                    </a:cubicBezTo>
                    <a:lnTo>
                      <a:pt x="44064" y="104048"/>
                    </a:lnTo>
                    <a:cubicBezTo>
                      <a:pt x="44032" y="106487"/>
                      <a:pt x="45330" y="108750"/>
                      <a:pt x="47451" y="109955"/>
                    </a:cubicBezTo>
                    <a:lnTo>
                      <a:pt x="98218" y="139242"/>
                    </a:lnTo>
                    <a:lnTo>
                      <a:pt x="80580" y="149445"/>
                    </a:lnTo>
                    <a:cubicBezTo>
                      <a:pt x="80386" y="149548"/>
                      <a:pt x="80154" y="149548"/>
                      <a:pt x="79960" y="149445"/>
                    </a:cubicBezTo>
                    <a:lnTo>
                      <a:pt x="37786" y="125115"/>
                    </a:lnTo>
                    <a:cubicBezTo>
                      <a:pt x="19045" y="114252"/>
                      <a:pt x="12618" y="90279"/>
                      <a:pt x="23411" y="71498"/>
                    </a:cubicBezTo>
                    <a:close/>
                    <a:moveTo>
                      <a:pt x="168317" y="105370"/>
                    </a:moveTo>
                    <a:lnTo>
                      <a:pt x="117385" y="75794"/>
                    </a:lnTo>
                    <a:lnTo>
                      <a:pt x="134982" y="65631"/>
                    </a:lnTo>
                    <a:cubicBezTo>
                      <a:pt x="135176" y="65528"/>
                      <a:pt x="135408" y="65528"/>
                      <a:pt x="135602" y="65631"/>
                    </a:cubicBezTo>
                    <a:lnTo>
                      <a:pt x="177776" y="90002"/>
                    </a:lnTo>
                    <a:cubicBezTo>
                      <a:pt x="190940" y="97598"/>
                      <a:pt x="198534" y="112111"/>
                      <a:pt x="197270" y="127256"/>
                    </a:cubicBezTo>
                    <a:cubicBezTo>
                      <a:pt x="196006" y="142401"/>
                      <a:pt x="186110" y="155454"/>
                      <a:pt x="171870" y="160762"/>
                    </a:cubicBezTo>
                    <a:lnTo>
                      <a:pt x="171870" y="111193"/>
                    </a:lnTo>
                    <a:cubicBezTo>
                      <a:pt x="171795" y="108761"/>
                      <a:pt x="170445" y="106548"/>
                      <a:pt x="168316" y="105369"/>
                    </a:cubicBezTo>
                    <a:close/>
                    <a:moveTo>
                      <a:pt x="185873" y="78975"/>
                    </a:moveTo>
                    <a:lnTo>
                      <a:pt x="184633" y="78231"/>
                    </a:lnTo>
                    <a:lnTo>
                      <a:pt x="142954" y="53942"/>
                    </a:lnTo>
                    <a:cubicBezTo>
                      <a:pt x="140837" y="52700"/>
                      <a:pt x="138214" y="52700"/>
                      <a:pt x="136097" y="53942"/>
                    </a:cubicBezTo>
                    <a:lnTo>
                      <a:pt x="85125" y="83353"/>
                    </a:lnTo>
                    <a:lnTo>
                      <a:pt x="85125" y="62989"/>
                    </a:lnTo>
                    <a:cubicBezTo>
                      <a:pt x="85103" y="62778"/>
                      <a:pt x="85198" y="62572"/>
                      <a:pt x="85373" y="62452"/>
                    </a:cubicBezTo>
                    <a:lnTo>
                      <a:pt x="127547" y="38121"/>
                    </a:lnTo>
                    <a:cubicBezTo>
                      <a:pt x="140743" y="30519"/>
                      <a:pt x="157143" y="31229"/>
                      <a:pt x="169632" y="39941"/>
                    </a:cubicBezTo>
                    <a:cubicBezTo>
                      <a:pt x="182122" y="48654"/>
                      <a:pt x="188451" y="63800"/>
                      <a:pt x="185874" y="78809"/>
                    </a:cubicBezTo>
                    <a:close/>
                    <a:moveTo>
                      <a:pt x="75499" y="115076"/>
                    </a:moveTo>
                    <a:lnTo>
                      <a:pt x="57861" y="104914"/>
                    </a:lnTo>
                    <a:cubicBezTo>
                      <a:pt x="57683" y="104807"/>
                      <a:pt x="57561" y="104625"/>
                      <a:pt x="57530" y="104419"/>
                    </a:cubicBezTo>
                    <a:lnTo>
                      <a:pt x="57530" y="55801"/>
                    </a:lnTo>
                    <a:cubicBezTo>
                      <a:pt x="57549" y="40575"/>
                      <a:pt x="66366" y="26732"/>
                      <a:pt x="80154" y="20276"/>
                    </a:cubicBezTo>
                    <a:cubicBezTo>
                      <a:pt x="93943" y="13819"/>
                      <a:pt x="110221" y="15912"/>
                      <a:pt x="121929" y="25646"/>
                    </a:cubicBezTo>
                    <a:lnTo>
                      <a:pt x="120689" y="26349"/>
                    </a:lnTo>
                    <a:lnTo>
                      <a:pt x="78969" y="50430"/>
                    </a:lnTo>
                    <a:cubicBezTo>
                      <a:pt x="76857" y="51669"/>
                      <a:pt x="75554" y="53929"/>
                      <a:pt x="75540" y="56378"/>
                    </a:cubicBezTo>
                    <a:close/>
                    <a:moveTo>
                      <a:pt x="85082" y="94423"/>
                    </a:moveTo>
                    <a:lnTo>
                      <a:pt x="107801" y="81328"/>
                    </a:lnTo>
                    <a:lnTo>
                      <a:pt x="130562" y="94423"/>
                    </a:lnTo>
                    <a:lnTo>
                      <a:pt x="130562" y="120611"/>
                    </a:lnTo>
                    <a:lnTo>
                      <a:pt x="107884" y="133706"/>
                    </a:lnTo>
                    <a:lnTo>
                      <a:pt x="85124" y="1206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262395" y="5778341"/>
                <a:ext cx="42920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OpenAI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7239000" y="4654868"/>
              <a:ext cx="762000" cy="1285398"/>
              <a:chOff x="7239000" y="4654868"/>
              <a:chExt cx="762000" cy="1285398"/>
            </a:xfrm>
          </p:grpSpPr>
          <p:sp>
            <p:nvSpPr>
              <p:cNvPr id="43" name="Rectangle 43"/>
              <p:cNvSpPr/>
              <p:nvPr/>
            </p:nvSpPr>
            <p:spPr>
              <a:xfrm>
                <a:off x="7239000" y="4922520"/>
                <a:ext cx="762000" cy="41148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426639" y="4654868"/>
                <a:ext cx="3867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3"/>
                    </a:solidFill>
                    <a:latin typeface="Cambria"/>
                    <a:ea typeface="Cambria"/>
                    <a:cs typeface="Cambria"/>
                  </a:rPr>
                  <a:t>12%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271060" y="5562124"/>
                <a:ext cx="6978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CoreWeave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367593" y="5778341"/>
                <a:ext cx="50481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+ Oracle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1857375" y="2286952"/>
              <a:ext cx="6200950" cy="2542224"/>
              <a:chOff x="1857375" y="2286952"/>
              <a:chExt cx="6200950" cy="2542224"/>
            </a:xfrm>
          </p:grpSpPr>
          <p:sp>
            <p:nvSpPr>
              <p:cNvPr id="48" name="Polyline 48"/>
              <p:cNvSpPr/>
              <p:nvPr/>
            </p:nvSpPr>
            <p:spPr>
              <a:xfrm>
                <a:off x="1905000" y="2419350"/>
                <a:ext cx="5715000" cy="2305050"/>
              </a:xfrm>
              <a:custGeom>
                <a:avLst/>
                <a:gdLst/>
                <a:ahLst/>
                <a:cxnLst/>
                <a:rect l="l" t="t" r="r" b="b"/>
                <a:pathLst>
                  <a:path w="5715000" h="2305050">
                    <a:moveTo>
                      <a:pt x="0" y="2305050"/>
                    </a:moveTo>
                    <a:lnTo>
                      <a:pt x="1143000" y="1752600"/>
                    </a:lnTo>
                    <a:lnTo>
                      <a:pt x="2286000" y="1238250"/>
                    </a:lnTo>
                    <a:lnTo>
                      <a:pt x="3429000" y="857250"/>
                    </a:lnTo>
                    <a:lnTo>
                      <a:pt x="4572000" y="409575"/>
                    </a:lnTo>
                    <a:lnTo>
                      <a:pt x="5715000" y="0"/>
                    </a:ln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1857375" y="4676775"/>
                <a:ext cx="95250" cy="95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3000375" y="4124325"/>
                <a:ext cx="95250" cy="95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4143375" y="3609975"/>
                <a:ext cx="95250" cy="95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5286375" y="3228975"/>
                <a:ext cx="95250" cy="95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6429375" y="2781300"/>
                <a:ext cx="95250" cy="95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7562850" y="236220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2024062" y="4681538"/>
                <a:ext cx="206883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18%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167062" y="4129088"/>
                <a:ext cx="206883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34%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4310062" y="3614738"/>
                <a:ext cx="206883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49%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5453062" y="3233738"/>
                <a:ext cx="206883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60%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596062" y="2786062"/>
                <a:ext cx="206883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73%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757541" y="2286952"/>
                <a:ext cx="30078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85%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9048750" y="1714500"/>
            <a:ext cx="2381250" cy="4191000"/>
            <a:chOff x="9048750" y="1714500"/>
            <a:chExt cx="2381250" cy="4191000"/>
          </a:xfrm>
        </p:grpSpPr>
        <p:sp>
          <p:nvSpPr>
            <p:cNvPr id="63" name="Line 63"/>
            <p:cNvSpPr/>
            <p:nvPr/>
          </p:nvSpPr>
          <p:spPr>
            <a:xfrm>
              <a:off x="9048750" y="17145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234488" y="1911191"/>
              <a:ext cx="20227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CONCENTRATION RISK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220200" y="2053590"/>
              <a:ext cx="136434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85%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234297" y="2733199"/>
              <a:ext cx="15080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Nvidia 收入来自 6 个客户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9239250" y="31432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231630" y="3362325"/>
              <a:ext cx="13716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前 4 名 = 60%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234297" y="3657124"/>
              <a:ext cx="20011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MSFT + Meta + Google + Amazon</a:t>
              </a:r>
            </a:p>
          </p:txBody>
        </p:sp>
        <p:sp>
          <p:nvSpPr>
            <p:cNvPr id="70" name="Line 70"/>
            <p:cNvSpPr/>
            <p:nvPr/>
          </p:nvSpPr>
          <p:spPr>
            <a:xfrm>
              <a:off x="9239250" y="400050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33916" y="4325302"/>
              <a:ext cx="1804226" cy="662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任一家 hyperscaler 砍 capex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级联打击 Nvidia 财报</a:t>
              </a:r>
              <a:br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全 AI 供应链承压</a:t>
              </a:r>
            </a:p>
          </p:txBody>
        </p:sp>
        <p:sp>
          <p:nvSpPr>
            <p:cNvPr id="72" name="Line 72"/>
            <p:cNvSpPr/>
            <p:nvPr/>
          </p:nvSpPr>
          <p:spPr>
            <a:xfrm>
              <a:off x="9239250" y="5429250"/>
              <a:ext cx="2190750" cy="9525"/>
            </a:xfrm>
            <a:custGeom>
              <a:avLst/>
              <a:gdLst/>
              <a:ahLst/>
              <a:cxnLst/>
              <a:rect l="l" t="t" r="r" b="b"/>
              <a:pathLst>
                <a:path w="2190750" h="9525">
                  <a:moveTo>
                    <a:pt x="0" y="0"/>
                  </a:moveTo>
                  <a:lnTo>
                    <a:pt x="219075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9234488" y="5598795"/>
              <a:ext cx="16352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"Binary risk — by design."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66738" y="6191250"/>
            <a:ext cx="11058525" cy="542926"/>
            <a:chOff x="566738" y="6191250"/>
            <a:chExt cx="11058525" cy="542926"/>
          </a:xfrm>
        </p:grpSpPr>
        <p:sp>
          <p:nvSpPr>
            <p:cNvPr id="75" name="Line 75"/>
            <p:cNvSpPr/>
            <p:nvPr/>
          </p:nvSpPr>
          <p:spPr>
            <a:xfrm>
              <a:off x="571500" y="6191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66738" y="6586538"/>
              <a:ext cx="349506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Nvidia 10-Q · Seeking Alpha · KuCoin · 估算口径以官方披露为准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15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6864098" cy="1095470"/>
            <a:chOff x="560832" y="444341"/>
            <a:chExt cx="6864098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302746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V · INFRASTRUCTURE · 16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52917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Stargate：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$500B</a:t>
              </a:r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 · 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10GW</a:t>
              </a:r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 · 7 站点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68587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OpenAI + Oracle + SoftBank · the largest private AI infrastructure program ever announced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619250" y="1905000"/>
            <a:ext cx="6286500" cy="4000500"/>
            <a:chOff x="1619250" y="1905000"/>
            <a:chExt cx="6286500" cy="4000500"/>
          </a:xfrm>
        </p:grpSpPr>
        <p:grpSp>
          <p:nvGrpSpPr>
            <p:cNvPr id="15" name="Group 15"/>
            <p:cNvGrpSpPr/>
            <p:nvPr/>
          </p:nvGrpSpPr>
          <p:grpSpPr>
            <a:xfrm>
              <a:off x="3429000" y="2762250"/>
              <a:ext cx="2667000" cy="2667000"/>
              <a:chOff x="3429000" y="2762250"/>
              <a:chExt cx="2667000" cy="2667000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4629150" y="3962400"/>
                <a:ext cx="266700" cy="26670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alpha val="25000"/>
                  </a:schemeClr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4191000" y="3524250"/>
                <a:ext cx="1143000" cy="114300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alpha val="20000"/>
                  </a:schemeClr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3810000" y="3143250"/>
                <a:ext cx="1905000" cy="190500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alpha val="15000"/>
                  </a:schemeClr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3429000" y="2762250"/>
                <a:ext cx="2667000" cy="2667000"/>
              </a:xfrm>
              <a:prstGeom prst="ellipse">
                <a:avLst/>
              </a:prstGeom>
              <a:noFill/>
              <a:ln w="9525">
                <a:solidFill>
                  <a:schemeClr val="accent2">
                    <a:alpha val="10000"/>
                  </a:schemeClr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4000500" y="3333750"/>
                <a:ext cx="1524000" cy="1524000"/>
              </a:xfrm>
              <a:prstGeom prst="ellipse">
                <a:avLst/>
              </a:prstGeom>
              <a:solidFill>
                <a:schemeClr val="lt2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310134" y="3835241"/>
                <a:ext cx="904733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spc="225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STARGATE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342667" y="3993832"/>
                <a:ext cx="8396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Cambria"/>
                    <a:ea typeface="Cambria"/>
                    <a:cs typeface="Cambria"/>
                  </a:rPr>
                  <a:t>$500B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139486" y="4273391"/>
                <a:ext cx="1246027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spc="75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10 GW · 4 YEARS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952750" y="2552700"/>
              <a:ext cx="3619500" cy="3067050"/>
              <a:chOff x="2952750" y="2552700"/>
              <a:chExt cx="3619500" cy="3067050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4762500" y="2552700"/>
                <a:ext cx="9525" cy="781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81050">
                    <a:moveTo>
                      <a:pt x="0" y="7810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3190875" y="2762250"/>
                <a:ext cx="15716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571625" h="571500">
                    <a:moveTo>
                      <a:pt x="1571625" y="57150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  <a:custDash>
                  <a:ds d="266667" sp="200000"/>
                </a:custDash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4762500" y="2762250"/>
                <a:ext cx="157162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571625" h="571500">
                    <a:moveTo>
                      <a:pt x="0" y="571500"/>
                    </a:moveTo>
                    <a:lnTo>
                      <a:pt x="1571625" y="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  <a:custDash>
                  <a:ds d="266667" sp="200000"/>
                </a:custDash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2952750" y="4095750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9525">
                    <a:moveTo>
                      <a:pt x="1047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  <a:custDash>
                  <a:ds d="266667" sp="200000"/>
                </a:custDash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5524500" y="4095750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9525">
                    <a:moveTo>
                      <a:pt x="0" y="0"/>
                    </a:moveTo>
                    <a:lnTo>
                      <a:pt x="1047750" y="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  <a:custDash>
                  <a:ds d="266667" sp="200000"/>
                </a:custDash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619500" y="4857750"/>
                <a:ext cx="1143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762000">
                    <a:moveTo>
                      <a:pt x="1143000" y="0"/>
                    </a:moveTo>
                    <a:lnTo>
                      <a:pt x="0" y="76200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  <a:custDash>
                  <a:ds d="266667" sp="200000"/>
                </a:custDash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4762500" y="4857750"/>
                <a:ext cx="11430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762000">
                    <a:moveTo>
                      <a:pt x="0" y="0"/>
                    </a:moveTo>
                    <a:lnTo>
                      <a:pt x="1143000" y="762000"/>
                    </a:lnTo>
                  </a:path>
                </a:pathLst>
              </a:custGeom>
              <a:noFill/>
              <a:ln w="14288">
                <a:solidFill>
                  <a:schemeClr val="accent3"/>
                </a:solidFill>
                <a:custDash>
                  <a:ds d="266667" sp="200000"/>
                </a:custDash>
              </a:ln>
            </p:spPr>
          </p:sp>
        </p:grpSp>
        <p:grpSp>
          <p:nvGrpSpPr>
            <p:cNvPr id="28" name="Group 28"/>
            <p:cNvGrpSpPr/>
            <p:nvPr/>
          </p:nvGrpSpPr>
          <p:grpSpPr>
            <a:xfrm>
              <a:off x="4048636" y="1905000"/>
              <a:ext cx="1427729" cy="647700"/>
              <a:chOff x="4048636" y="1905000"/>
              <a:chExt cx="1427729" cy="6477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095750" y="1905000"/>
                <a:ext cx="1333500" cy="6477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311910" y="2001202"/>
                <a:ext cx="90117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Abilene, TX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048636" y="2196941"/>
                <a:ext cx="142772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0" spc="75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FLAGSHIP · ONLINE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262438" y="2386012"/>
                <a:ext cx="100012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~1 GW by mid-2026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524125" y="2476500"/>
              <a:ext cx="1333500" cy="571500"/>
              <a:chOff x="2524125" y="2476500"/>
              <a:chExt cx="1333500" cy="571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2524125" y="2476500"/>
                <a:ext cx="1333500" cy="5715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2632952" y="2580799"/>
                <a:ext cx="111584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Shackelford TX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745325" y="2795588"/>
                <a:ext cx="89110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Planned · Oracle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5667375" y="2476500"/>
              <a:ext cx="1333500" cy="571500"/>
              <a:chOff x="5667375" y="2476500"/>
              <a:chExt cx="1333500" cy="5715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667375" y="2476500"/>
                <a:ext cx="1333500" cy="5715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868297" y="2580799"/>
                <a:ext cx="93165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Doña Ana NM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888575" y="2795588"/>
                <a:ext cx="891100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Planned · Oracle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1619250" y="3810000"/>
              <a:ext cx="1333500" cy="571500"/>
              <a:chOff x="1619250" y="3810000"/>
              <a:chExt cx="1333500" cy="5715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1619250" y="3810000"/>
                <a:ext cx="1333500" cy="5715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952935" y="3914299"/>
                <a:ext cx="66613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Saline MI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655993" y="4129088"/>
                <a:ext cx="1260015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1 GW · $7B · 2026 build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572250" y="3810000"/>
              <a:ext cx="1333500" cy="571500"/>
              <a:chOff x="6572250" y="3810000"/>
              <a:chExt cx="1333500" cy="5715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3810000"/>
                <a:ext cx="1333500" cy="5715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673887" y="3914299"/>
                <a:ext cx="113022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Midwest (TBD)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812242" y="4129088"/>
                <a:ext cx="853516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Site undisclosed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2762250" y="5334000"/>
              <a:ext cx="1333500" cy="571500"/>
              <a:chOff x="2762250" y="5334000"/>
              <a:chExt cx="1333500" cy="5715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2762250" y="5334000"/>
                <a:ext cx="1333500" cy="5715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2901196" y="5438299"/>
                <a:ext cx="105560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Lordstown OH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2850909" y="5653088"/>
                <a:ext cx="1156183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SoftBank · ~0.75 GW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5429250" y="5334000"/>
              <a:ext cx="1333500" cy="571500"/>
              <a:chOff x="5429250" y="5334000"/>
              <a:chExt cx="1333500" cy="571500"/>
            </a:xfrm>
          </p:grpSpPr>
          <p:sp>
            <p:nvSpPr>
              <p:cNvPr id="49" name="Rectangle 49"/>
              <p:cNvSpPr/>
              <p:nvPr/>
            </p:nvSpPr>
            <p:spPr>
              <a:xfrm>
                <a:off x="5429250" y="5334000"/>
                <a:ext cx="1333500" cy="571500"/>
              </a:xfrm>
              <a:prstGeom prst="rect">
                <a:avLst/>
              </a:pr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5767439" y="5438299"/>
                <a:ext cx="65712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dirty="0">
                    <a:solidFill>
                      <a:schemeClr val="dk1"/>
                    </a:solidFill>
                    <a:latin typeface="+mj-lt"/>
                    <a:ea typeface="+mj-ea"/>
                    <a:cs typeface="+mj-cs"/>
                  </a:rPr>
                  <a:t>Milam TX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517909" y="5653088"/>
                <a:ext cx="1156183" cy="147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chemeClr val="dk2"/>
                    </a:solidFill>
                    <a:latin typeface="Cambria"/>
                    <a:ea typeface="Cambria"/>
                    <a:cs typeface="Cambria"/>
                  </a:rPr>
                  <a:t>SoftBank · ~0.75 GW</a:t>
                </a:r>
              </a:p>
            </p:txBody>
          </p:sp>
        </p:grpSp>
      </p:grpSp>
      <p:grpSp>
        <p:nvGrpSpPr>
          <p:cNvPr id="73" name="Group 73"/>
          <p:cNvGrpSpPr/>
          <p:nvPr/>
        </p:nvGrpSpPr>
        <p:grpSpPr>
          <a:xfrm>
            <a:off x="8572500" y="1714500"/>
            <a:ext cx="2857500" cy="4381500"/>
            <a:chOff x="8572500" y="1714500"/>
            <a:chExt cx="2857500" cy="4381500"/>
          </a:xfrm>
        </p:grpSpPr>
        <p:sp>
          <p:nvSpPr>
            <p:cNvPr id="54" name="Line 54"/>
            <p:cNvSpPr/>
            <p:nvPr/>
          </p:nvSpPr>
          <p:spPr>
            <a:xfrm>
              <a:off x="8572500" y="1714500"/>
              <a:ext cx="9525" cy="4381500"/>
            </a:xfrm>
            <a:custGeom>
              <a:avLst/>
              <a:gdLst/>
              <a:ahLst/>
              <a:cxnLst/>
              <a:rect l="l" t="t" r="r" b="b"/>
              <a:pathLst>
                <a:path w="9525" h="4381500">
                  <a:moveTo>
                    <a:pt x="0" y="0"/>
                  </a:moveTo>
                  <a:lnTo>
                    <a:pt x="0" y="4381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758238" y="1911191"/>
              <a:ext cx="18317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CURRENT PROGRESS</a:t>
              </a: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8747760" y="2171700"/>
              <a:ext cx="2682240" cy="790575"/>
              <a:chOff x="8747760" y="2171700"/>
              <a:chExt cx="2682240" cy="790575"/>
            </a:xfrm>
          </p:grpSpPr>
          <p:sp>
            <p:nvSpPr>
              <p:cNvPr id="56" name="TextBox 56"/>
              <p:cNvSpPr txBox="1"/>
              <p:nvPr/>
            </p:nvSpPr>
            <p:spPr>
              <a:xfrm>
                <a:off x="8747760" y="2171700"/>
                <a:ext cx="1200226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7 GW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758047" y="2656999"/>
                <a:ext cx="188327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已规划容量 · planned capacity</a:t>
                </a:r>
              </a:p>
            </p:txBody>
          </p:sp>
          <p:sp>
            <p:nvSpPr>
              <p:cNvPr id="58" name="Line 58"/>
              <p:cNvSpPr/>
              <p:nvPr/>
            </p:nvSpPr>
            <p:spPr>
              <a:xfrm>
                <a:off x="8763000" y="295275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63" name="Group 63"/>
            <p:cNvGrpSpPr/>
            <p:nvPr/>
          </p:nvGrpSpPr>
          <p:grpSpPr>
            <a:xfrm>
              <a:off x="8747760" y="3009900"/>
              <a:ext cx="2682240" cy="790575"/>
              <a:chOff x="8747760" y="3009900"/>
              <a:chExt cx="2682240" cy="790575"/>
            </a:xfrm>
          </p:grpSpPr>
          <p:sp>
            <p:nvSpPr>
              <p:cNvPr id="60" name="TextBox 60"/>
              <p:cNvSpPr txBox="1"/>
              <p:nvPr/>
            </p:nvSpPr>
            <p:spPr>
              <a:xfrm>
                <a:off x="8747760" y="3009900"/>
                <a:ext cx="1526667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accent3"/>
                    </a:solidFill>
                    <a:latin typeface="Cambria"/>
                    <a:ea typeface="Cambria"/>
                    <a:cs typeface="Cambria"/>
                  </a:rPr>
                  <a:t>$400B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758047" y="3495199"/>
                <a:ext cx="175794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未来 3 年投入 · 3-yr commit</a:t>
                </a:r>
              </a:p>
            </p:txBody>
          </p:sp>
          <p:sp>
            <p:nvSpPr>
              <p:cNvPr id="62" name="Line 62"/>
              <p:cNvSpPr/>
              <p:nvPr/>
            </p:nvSpPr>
            <p:spPr>
              <a:xfrm>
                <a:off x="8763000" y="379095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grpSp>
          <p:nvGrpSpPr>
            <p:cNvPr id="67" name="Group 67"/>
            <p:cNvGrpSpPr/>
            <p:nvPr/>
          </p:nvGrpSpPr>
          <p:grpSpPr>
            <a:xfrm>
              <a:off x="8747760" y="3848100"/>
              <a:ext cx="2682240" cy="790575"/>
              <a:chOff x="8747760" y="3848100"/>
              <a:chExt cx="2682240" cy="790575"/>
            </a:xfrm>
          </p:grpSpPr>
          <p:sp>
            <p:nvSpPr>
              <p:cNvPr id="64" name="TextBox 64"/>
              <p:cNvSpPr txBox="1"/>
              <p:nvPr/>
            </p:nvSpPr>
            <p:spPr>
              <a:xfrm>
                <a:off x="8747760" y="3848100"/>
                <a:ext cx="1526667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000" b="1" dirty="0">
                    <a:solidFill>
                      <a:schemeClr val="dk1"/>
                    </a:solidFill>
                    <a:latin typeface="Cambria"/>
                    <a:ea typeface="Cambria"/>
                    <a:cs typeface="Cambria"/>
                  </a:rPr>
                  <a:t>GB200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758047" y="4333399"/>
                <a:ext cx="116030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Abilene 机架已交付</a:t>
                </a: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8763000" y="4629150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8758238" y="4940141"/>
              <a:ext cx="90473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PARTNERS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8759487" y="5178331"/>
              <a:ext cx="254637" cy="251018"/>
            </a:xfrm>
            <a:custGeom>
              <a:avLst/>
              <a:gdLst/>
              <a:ahLst/>
              <a:cxnLst/>
              <a:rect l="l" t="t" r="r" b="b"/>
              <a:pathLst>
                <a:path w="254637" h="251018">
                  <a:moveTo>
                    <a:pt x="233433" y="104610"/>
                  </a:moveTo>
                  <a:cubicBezTo>
                    <a:pt x="239035" y="87740"/>
                    <a:pt x="237096" y="69275"/>
                    <a:pt x="228112" y="53937"/>
                  </a:cubicBezTo>
                  <a:cubicBezTo>
                    <a:pt x="214604" y="30424"/>
                    <a:pt x="187454" y="18329"/>
                    <a:pt x="160939" y="24012"/>
                  </a:cubicBezTo>
                  <a:cubicBezTo>
                    <a:pt x="145997" y="7391"/>
                    <a:pt x="123325" y="0"/>
                    <a:pt x="101458" y="4621"/>
                  </a:cubicBezTo>
                  <a:cubicBezTo>
                    <a:pt x="79591" y="9242"/>
                    <a:pt x="61847" y="25174"/>
                    <a:pt x="54907" y="46419"/>
                  </a:cubicBezTo>
                  <a:cubicBezTo>
                    <a:pt x="37490" y="49991"/>
                    <a:pt x="22458" y="60896"/>
                    <a:pt x="13656" y="76344"/>
                  </a:cubicBezTo>
                  <a:cubicBezTo>
                    <a:pt x="0" y="99819"/>
                    <a:pt x="3099" y="129432"/>
                    <a:pt x="21320" y="149571"/>
                  </a:cubicBezTo>
                  <a:cubicBezTo>
                    <a:pt x="15697" y="166433"/>
                    <a:pt x="17619" y="184901"/>
                    <a:pt x="26593" y="200244"/>
                  </a:cubicBezTo>
                  <a:cubicBezTo>
                    <a:pt x="40118" y="223765"/>
                    <a:pt x="67286" y="235859"/>
                    <a:pt x="93815" y="230169"/>
                  </a:cubicBezTo>
                  <a:cubicBezTo>
                    <a:pt x="105615" y="243457"/>
                    <a:pt x="122567" y="251018"/>
                    <a:pt x="140338" y="250918"/>
                  </a:cubicBezTo>
                  <a:cubicBezTo>
                    <a:pt x="167516" y="250943"/>
                    <a:pt x="191593" y="233398"/>
                    <a:pt x="199896" y="207519"/>
                  </a:cubicBezTo>
                  <a:cubicBezTo>
                    <a:pt x="217310" y="203942"/>
                    <a:pt x="232341" y="193038"/>
                    <a:pt x="241147" y="177594"/>
                  </a:cubicBezTo>
                  <a:cubicBezTo>
                    <a:pt x="254637" y="154160"/>
                    <a:pt x="251525" y="124707"/>
                    <a:pt x="233433" y="104611"/>
                  </a:cubicBezTo>
                  <a:close/>
                  <a:moveTo>
                    <a:pt x="140338" y="234709"/>
                  </a:moveTo>
                  <a:cubicBezTo>
                    <a:pt x="129490" y="234726"/>
                    <a:pt x="118982" y="230924"/>
                    <a:pt x="110657" y="223969"/>
                  </a:cubicBezTo>
                  <a:lnTo>
                    <a:pt x="112121" y="223140"/>
                  </a:lnTo>
                  <a:lnTo>
                    <a:pt x="161427" y="194679"/>
                  </a:lnTo>
                  <a:cubicBezTo>
                    <a:pt x="163924" y="193214"/>
                    <a:pt x="165464" y="190543"/>
                    <a:pt x="165480" y="187649"/>
                  </a:cubicBezTo>
                  <a:lnTo>
                    <a:pt x="165480" y="118132"/>
                  </a:lnTo>
                  <a:lnTo>
                    <a:pt x="186323" y="130191"/>
                  </a:lnTo>
                  <a:cubicBezTo>
                    <a:pt x="186532" y="130297"/>
                    <a:pt x="186678" y="130496"/>
                    <a:pt x="186715" y="130727"/>
                  </a:cubicBezTo>
                  <a:lnTo>
                    <a:pt x="186715" y="188333"/>
                  </a:lnTo>
                  <a:cubicBezTo>
                    <a:pt x="186661" y="213923"/>
                    <a:pt x="165929" y="234655"/>
                    <a:pt x="140338" y="234709"/>
                  </a:cubicBezTo>
                  <a:close/>
                  <a:moveTo>
                    <a:pt x="40652" y="192140"/>
                  </a:moveTo>
                  <a:cubicBezTo>
                    <a:pt x="35212" y="182746"/>
                    <a:pt x="33258" y="171735"/>
                    <a:pt x="35136" y="161043"/>
                  </a:cubicBezTo>
                  <a:lnTo>
                    <a:pt x="36601" y="161922"/>
                  </a:lnTo>
                  <a:lnTo>
                    <a:pt x="85955" y="190383"/>
                  </a:lnTo>
                  <a:cubicBezTo>
                    <a:pt x="88442" y="191842"/>
                    <a:pt x="91523" y="191842"/>
                    <a:pt x="94010" y="190383"/>
                  </a:cubicBezTo>
                  <a:lnTo>
                    <a:pt x="154300" y="155624"/>
                  </a:lnTo>
                  <a:lnTo>
                    <a:pt x="154300" y="179692"/>
                  </a:lnTo>
                  <a:cubicBezTo>
                    <a:pt x="154289" y="179944"/>
                    <a:pt x="154163" y="180178"/>
                    <a:pt x="153958" y="180326"/>
                  </a:cubicBezTo>
                  <a:lnTo>
                    <a:pt x="104017" y="209129"/>
                  </a:lnTo>
                  <a:cubicBezTo>
                    <a:pt x="81825" y="221913"/>
                    <a:pt x="53472" y="214312"/>
                    <a:pt x="40652" y="192140"/>
                  </a:cubicBezTo>
                  <a:close/>
                  <a:moveTo>
                    <a:pt x="27667" y="84741"/>
                  </a:moveTo>
                  <a:cubicBezTo>
                    <a:pt x="33145" y="75287"/>
                    <a:pt x="41791" y="68076"/>
                    <a:pt x="52076" y="64384"/>
                  </a:cubicBezTo>
                  <a:lnTo>
                    <a:pt x="52076" y="122966"/>
                  </a:lnTo>
                  <a:cubicBezTo>
                    <a:pt x="52038" y="125848"/>
                    <a:pt x="53572" y="128523"/>
                    <a:pt x="56078" y="129946"/>
                  </a:cubicBezTo>
                  <a:lnTo>
                    <a:pt x="116076" y="164558"/>
                  </a:lnTo>
                  <a:lnTo>
                    <a:pt x="95231" y="176616"/>
                  </a:lnTo>
                  <a:cubicBezTo>
                    <a:pt x="95002" y="176737"/>
                    <a:pt x="94727" y="176737"/>
                    <a:pt x="94498" y="176616"/>
                  </a:cubicBezTo>
                  <a:lnTo>
                    <a:pt x="44656" y="147863"/>
                  </a:lnTo>
                  <a:cubicBezTo>
                    <a:pt x="22508" y="135025"/>
                    <a:pt x="14912" y="106693"/>
                    <a:pt x="27667" y="84497"/>
                  </a:cubicBezTo>
                  <a:close/>
                  <a:moveTo>
                    <a:pt x="198919" y="124528"/>
                  </a:moveTo>
                  <a:lnTo>
                    <a:pt x="138727" y="89574"/>
                  </a:lnTo>
                  <a:lnTo>
                    <a:pt x="159524" y="77563"/>
                  </a:lnTo>
                  <a:cubicBezTo>
                    <a:pt x="159753" y="77442"/>
                    <a:pt x="160027" y="77442"/>
                    <a:pt x="160256" y="77563"/>
                  </a:cubicBezTo>
                  <a:lnTo>
                    <a:pt x="210099" y="106366"/>
                  </a:lnTo>
                  <a:cubicBezTo>
                    <a:pt x="225655" y="115342"/>
                    <a:pt x="234630" y="132494"/>
                    <a:pt x="233136" y="150393"/>
                  </a:cubicBezTo>
                  <a:cubicBezTo>
                    <a:pt x="231642" y="168291"/>
                    <a:pt x="219948" y="183718"/>
                    <a:pt x="203118" y="189991"/>
                  </a:cubicBezTo>
                  <a:lnTo>
                    <a:pt x="203118" y="131409"/>
                  </a:lnTo>
                  <a:cubicBezTo>
                    <a:pt x="203030" y="128535"/>
                    <a:pt x="201434" y="125920"/>
                    <a:pt x="198918" y="124527"/>
                  </a:cubicBezTo>
                  <a:close/>
                  <a:moveTo>
                    <a:pt x="219667" y="93333"/>
                  </a:moveTo>
                  <a:lnTo>
                    <a:pt x="218202" y="92454"/>
                  </a:lnTo>
                  <a:lnTo>
                    <a:pt x="168946" y="63750"/>
                  </a:lnTo>
                  <a:cubicBezTo>
                    <a:pt x="166444" y="62281"/>
                    <a:pt x="163343" y="62281"/>
                    <a:pt x="160841" y="63750"/>
                  </a:cubicBezTo>
                  <a:lnTo>
                    <a:pt x="100602" y="98507"/>
                  </a:lnTo>
                  <a:lnTo>
                    <a:pt x="100602" y="74441"/>
                  </a:lnTo>
                  <a:cubicBezTo>
                    <a:pt x="100576" y="74192"/>
                    <a:pt x="100688" y="73948"/>
                    <a:pt x="100895" y="73806"/>
                  </a:cubicBezTo>
                  <a:lnTo>
                    <a:pt x="150737" y="45052"/>
                  </a:lnTo>
                  <a:cubicBezTo>
                    <a:pt x="166332" y="36068"/>
                    <a:pt x="185713" y="36907"/>
                    <a:pt x="200474" y="47203"/>
                  </a:cubicBezTo>
                  <a:cubicBezTo>
                    <a:pt x="215234" y="57500"/>
                    <a:pt x="222714" y="75400"/>
                    <a:pt x="219668" y="93137"/>
                  </a:cubicBezTo>
                  <a:close/>
                  <a:moveTo>
                    <a:pt x="89225" y="135998"/>
                  </a:moveTo>
                  <a:lnTo>
                    <a:pt x="68381" y="123989"/>
                  </a:lnTo>
                  <a:cubicBezTo>
                    <a:pt x="68170" y="123862"/>
                    <a:pt x="68027" y="123648"/>
                    <a:pt x="67989" y="123404"/>
                  </a:cubicBezTo>
                  <a:lnTo>
                    <a:pt x="67989" y="65946"/>
                  </a:lnTo>
                  <a:cubicBezTo>
                    <a:pt x="68013" y="47953"/>
                    <a:pt x="78432" y="31593"/>
                    <a:pt x="94728" y="23962"/>
                  </a:cubicBezTo>
                  <a:cubicBezTo>
                    <a:pt x="111024" y="16331"/>
                    <a:pt x="130261" y="18805"/>
                    <a:pt x="144097" y="30309"/>
                  </a:cubicBezTo>
                  <a:lnTo>
                    <a:pt x="142632" y="31139"/>
                  </a:lnTo>
                  <a:lnTo>
                    <a:pt x="93327" y="59598"/>
                  </a:lnTo>
                  <a:cubicBezTo>
                    <a:pt x="90830" y="61063"/>
                    <a:pt x="89290" y="63734"/>
                    <a:pt x="89275" y="66629"/>
                  </a:cubicBezTo>
                  <a:close/>
                  <a:moveTo>
                    <a:pt x="100551" y="111590"/>
                  </a:moveTo>
                  <a:lnTo>
                    <a:pt x="127400" y="96114"/>
                  </a:lnTo>
                  <a:lnTo>
                    <a:pt x="154300" y="111590"/>
                  </a:lnTo>
                  <a:lnTo>
                    <a:pt x="154300" y="142540"/>
                  </a:lnTo>
                  <a:lnTo>
                    <a:pt x="127498" y="158015"/>
                  </a:lnTo>
                  <a:lnTo>
                    <a:pt x="100601" y="1425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0" name="Freeform 70"/>
            <p:cNvSpPr/>
            <p:nvPr/>
          </p:nvSpPr>
          <p:spPr>
            <a:xfrm>
              <a:off x="9524977" y="5227103"/>
              <a:ext cx="247672" cy="156620"/>
            </a:xfrm>
            <a:custGeom>
              <a:avLst/>
              <a:gdLst/>
              <a:ahLst/>
              <a:cxnLst/>
              <a:rect l="l" t="t" r="r" b="b"/>
              <a:pathLst>
                <a:path w="247672" h="156620">
                  <a:moveTo>
                    <a:pt x="169374" y="23"/>
                  </a:moveTo>
                  <a:lnTo>
                    <a:pt x="78363" y="23"/>
                  </a:lnTo>
                  <a:cubicBezTo>
                    <a:pt x="35119" y="0"/>
                    <a:pt x="46" y="35037"/>
                    <a:pt x="23" y="78280"/>
                  </a:cubicBezTo>
                  <a:cubicBezTo>
                    <a:pt x="0" y="121523"/>
                    <a:pt x="35037" y="156597"/>
                    <a:pt x="78280" y="156620"/>
                  </a:cubicBezTo>
                  <a:lnTo>
                    <a:pt x="169374" y="156620"/>
                  </a:lnTo>
                  <a:cubicBezTo>
                    <a:pt x="212617" y="156620"/>
                    <a:pt x="247672" y="121564"/>
                    <a:pt x="247672" y="78321"/>
                  </a:cubicBezTo>
                  <a:cubicBezTo>
                    <a:pt x="247672" y="35078"/>
                    <a:pt x="212617" y="23"/>
                    <a:pt x="169374" y="23"/>
                  </a:cubicBezTo>
                  <a:close/>
                  <a:moveTo>
                    <a:pt x="167382" y="129027"/>
                  </a:moveTo>
                  <a:lnTo>
                    <a:pt x="80364" y="129027"/>
                  </a:lnTo>
                  <a:cubicBezTo>
                    <a:pt x="52759" y="128470"/>
                    <a:pt x="30671" y="105932"/>
                    <a:pt x="30671" y="78321"/>
                  </a:cubicBezTo>
                  <a:cubicBezTo>
                    <a:pt x="30671" y="50710"/>
                    <a:pt x="52759" y="28172"/>
                    <a:pt x="80364" y="27615"/>
                  </a:cubicBezTo>
                  <a:lnTo>
                    <a:pt x="167382" y="27615"/>
                  </a:lnTo>
                  <a:cubicBezTo>
                    <a:pt x="195386" y="27615"/>
                    <a:pt x="218088" y="50317"/>
                    <a:pt x="218088" y="78321"/>
                  </a:cubicBezTo>
                  <a:cubicBezTo>
                    <a:pt x="218088" y="106325"/>
                    <a:pt x="195386" y="129027"/>
                    <a:pt x="167382" y="12902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0281666" y="5268278"/>
              <a:ext cx="7376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Cambria"/>
                  <a:ea typeface="Cambria"/>
                  <a:cs typeface="Cambria"/>
                </a:rPr>
                <a:t>SoftBank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758238" y="5713095"/>
              <a:ext cx="1301115" cy="3286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"Up and running"</a:t>
              </a:r>
            </a:p>
            <a:p>
              <a:pPr algn="l">
                <a:lnSpc>
                  <a:spcPts val="1200"/>
                </a:lnSpc>
              </a:pPr>
              <a:r>
                <a:rPr lang="zh-CN" sz="90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— Sam Altman on Abilene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66738" y="6286500"/>
            <a:ext cx="11058525" cy="447676"/>
            <a:chOff x="566738" y="6286500"/>
            <a:chExt cx="11058525" cy="447676"/>
          </a:xfrm>
        </p:grpSpPr>
        <p:sp>
          <p:nvSpPr>
            <p:cNvPr id="74" name="Line 74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66738" y="6586538"/>
              <a:ext cx="4834182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OpenAI press 2026-09/2026-02 · DataCenterDynamics · IntuitionLabs · NVIDIA newsroom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16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>
                    <a:alpha val="92000"/>
                  </a:schemeClr>
                </a:gs>
                <a:gs pos="55000">
                  <a:schemeClr val="lt1">
                    <a:alpha val="40000"/>
                  </a:schemeClr>
                </a:gs>
                <a:gs pos="100000">
                  <a:schemeClr val="l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66738" y="444341"/>
            <a:ext cx="2641778" cy="250984"/>
            <a:chOff x="566738" y="444341"/>
            <a:chExt cx="2641778" cy="250984"/>
          </a:xfrm>
        </p:grpSpPr>
        <p:sp>
          <p:nvSpPr>
            <p:cNvPr id="6" name="TextBox 6"/>
            <p:cNvSpPr txBox="1"/>
            <p:nvPr/>
          </p:nvSpPr>
          <p:spPr>
            <a:xfrm>
              <a:off x="566738" y="444341"/>
              <a:ext cx="2641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VI · THE BUBBLE · 17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52450" y="1209675"/>
            <a:ext cx="3465728" cy="2590800"/>
            <a:chOff x="552450" y="1209675"/>
            <a:chExt cx="3465728" cy="2590800"/>
          </a:xfrm>
        </p:grpSpPr>
        <p:sp>
          <p:nvSpPr>
            <p:cNvPr id="9" name="TextBox 9"/>
            <p:cNvSpPr txBox="1"/>
            <p:nvPr/>
          </p:nvSpPr>
          <p:spPr>
            <a:xfrm>
              <a:off x="552450" y="1209675"/>
              <a:ext cx="3465728" cy="2590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0" b="1" dirty="0">
                  <a:solidFill>
                    <a:schemeClr val="accent2">
                      <a:alphaMod val="85000"/>
                    </a:schemeClr>
                  </a:solidFill>
                  <a:latin typeface="Cambria"/>
                  <a:ea typeface="Cambria"/>
                  <a:cs typeface="Cambria"/>
                </a:rPr>
                <a:t>VI.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52450" y="3482340"/>
            <a:ext cx="5084736" cy="1289685"/>
            <a:chOff x="552450" y="3482340"/>
            <a:chExt cx="5084736" cy="1289685"/>
          </a:xfrm>
        </p:grpSpPr>
        <p:sp>
          <p:nvSpPr>
            <p:cNvPr id="11" name="TextBox 11"/>
            <p:cNvSpPr txBox="1"/>
            <p:nvPr/>
          </p:nvSpPr>
          <p:spPr>
            <a:xfrm>
              <a:off x="552450" y="3482340"/>
              <a:ext cx="14036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泡沫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2808" y="3741420"/>
              <a:ext cx="37443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i="1" dirty="0">
                  <a:solidFill>
                    <a:schemeClr val="dk1"/>
                  </a:solidFill>
                  <a:latin typeface="Cambria"/>
                  <a:ea typeface="Cambria"/>
                  <a:cs typeface="Cambria"/>
                </a:rPr>
                <a:t>/ The Bubble Question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118" y="4279582"/>
              <a:ext cx="25984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资本与商业现实的剪刀差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71500" y="47625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66166" y="5125402"/>
            <a:ext cx="3054382" cy="662559"/>
            <a:chOff x="566166" y="5125402"/>
            <a:chExt cx="3054382" cy="662559"/>
          </a:xfrm>
        </p:grpSpPr>
        <p:sp>
          <p:nvSpPr>
            <p:cNvPr id="16" name="TextBox 16"/>
            <p:cNvSpPr txBox="1"/>
            <p:nvPr/>
          </p:nvSpPr>
          <p:spPr>
            <a:xfrm>
              <a:off x="566166" y="5125402"/>
              <a:ext cx="3054382" cy="6625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Hyperscaler capex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$400B</a:t>
              </a:r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· 企业 AI 收入仅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$100B</a:t>
              </a:r>
              <a:br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增速差距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46 个百分点</a:t>
              </a:r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· 2001 电信泡沫期为 32%</a:t>
              </a:r>
              <a:br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MIT 研究：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95%</a:t>
              </a:r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生成式 AI 试点未产生商业价值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6738" y="6477000"/>
            <a:ext cx="11058525" cy="257176"/>
            <a:chOff x="566738" y="6477000"/>
            <a:chExt cx="11058525" cy="257176"/>
          </a:xfrm>
        </p:grpSpPr>
        <p:sp>
          <p:nvSpPr>
            <p:cNvPr id="18" name="Line 18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66738" y="6586538"/>
              <a:ext cx="3013545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Capital, Compute, and the Closed Loop · Part VI opens at P17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17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6720520" cy="1095470"/>
            <a:chOff x="560832" y="444341"/>
            <a:chExt cx="6720520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2641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VI · THE BUBBLE · 18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67205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资本与营收的鸿沟：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$725B</a:t>
              </a:r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 投入 vs 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$100B</a:t>
              </a:r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 营收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63110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Hyperscaler capex (LHS, $B) vs Global Enterprise AI revenue (RHS, $B), 2020–2026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44004" y="2054066"/>
            <a:ext cx="11259570" cy="3644741"/>
            <a:chOff x="844004" y="2054066"/>
            <a:chExt cx="11259570" cy="3644741"/>
          </a:xfrm>
        </p:grpSpPr>
        <p:sp>
          <p:nvSpPr>
            <p:cNvPr id="7" name="Line 7"/>
            <p:cNvSpPr/>
            <p:nvPr/>
          </p:nvSpPr>
          <p:spPr>
            <a:xfrm>
              <a:off x="1333500" y="20955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5C585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333500" y="53340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4288">
              <a:solidFill>
                <a:srgbClr val="5C585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0858500" y="2095500"/>
              <a:ext cx="9525" cy="3238500"/>
            </a:xfrm>
            <a:custGeom>
              <a:avLst/>
              <a:gdLst/>
              <a:ahLst/>
              <a:cxnLst/>
              <a:rect l="l" t="t" r="r" b="b"/>
              <a:pathLst>
                <a:path w="9525" h="3238500">
                  <a:moveTo>
                    <a:pt x="0" y="0"/>
                  </a:moveTo>
                  <a:lnTo>
                    <a:pt x="0" y="3238500"/>
                  </a:lnTo>
                </a:path>
              </a:pathLst>
            </a:custGeom>
            <a:noFill/>
            <a:ln w="14288">
              <a:solidFill>
                <a:srgbClr val="5C5852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333500" y="209550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11" name="Line 11"/>
            <p:cNvSpPr/>
            <p:nvPr/>
          </p:nvSpPr>
          <p:spPr>
            <a:xfrm>
              <a:off x="1333500" y="2905125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1333500" y="37147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1333500" y="4524375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custDash>
                <a:ds d="200000" sp="400000"/>
              </a:custDash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4004" y="2054066"/>
              <a:ext cx="399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$800B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4004" y="2863691"/>
              <a:ext cx="399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$600B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4004" y="3673316"/>
              <a:ext cx="399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$400B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44004" y="4482941"/>
              <a:ext cx="399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$200B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05187" y="5292566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$0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48988" y="2054066"/>
              <a:ext cx="399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6"/>
                  </a:solidFill>
                  <a:latin typeface="Cambria"/>
                  <a:ea typeface="Cambria"/>
                  <a:cs typeface="Cambria"/>
                </a:rPr>
                <a:t>$160B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48988" y="2816066"/>
              <a:ext cx="39900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6"/>
                  </a:solidFill>
                  <a:latin typeface="Cambria"/>
                  <a:ea typeface="Cambria"/>
                  <a:cs typeface="Cambria"/>
                </a:rPr>
                <a:t>$120B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48988" y="3578066"/>
              <a:ext cx="3211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6"/>
                  </a:solidFill>
                  <a:latin typeface="Cambria"/>
                  <a:ea typeface="Cambria"/>
                  <a:cs typeface="Cambria"/>
                </a:rPr>
                <a:t>$80B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48988" y="4340066"/>
              <a:ext cx="32111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6"/>
                  </a:solidFill>
                  <a:latin typeface="Cambria"/>
                  <a:ea typeface="Cambria"/>
                  <a:cs typeface="Cambria"/>
                </a:rPr>
                <a:t>$40B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48988" y="5292566"/>
              <a:ext cx="1378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6"/>
                  </a:solidFill>
                  <a:latin typeface="Cambria"/>
                  <a:ea typeface="Cambria"/>
                  <a:cs typeface="Cambria"/>
                </a:rPr>
                <a:t>$0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68920" y="5522595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2020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73870" y="5522595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2021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78820" y="5522595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2022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83770" y="5522595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2023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88720" y="5522595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2024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93670" y="5522595"/>
              <a:ext cx="29116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2025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591579" y="5522595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2026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1714500" y="2399348"/>
              <a:ext cx="9029700" cy="2833688"/>
            </a:xfrm>
            <a:custGeom>
              <a:avLst/>
              <a:gdLst/>
              <a:ahLst/>
              <a:cxnLst/>
              <a:rect l="l" t="t" r="r" b="b"/>
              <a:pathLst>
                <a:path w="9029700" h="2833688">
                  <a:moveTo>
                    <a:pt x="0" y="2732722"/>
                  </a:moveTo>
                  <a:lnTo>
                    <a:pt x="1504950" y="2610802"/>
                  </a:lnTo>
                  <a:lnTo>
                    <a:pt x="3009900" y="2286952"/>
                  </a:lnTo>
                  <a:lnTo>
                    <a:pt x="4514850" y="1720215"/>
                  </a:lnTo>
                  <a:lnTo>
                    <a:pt x="6019800" y="1214437"/>
                  </a:lnTo>
                  <a:lnTo>
                    <a:pt x="7524750" y="647700"/>
                  </a:lnTo>
                  <a:lnTo>
                    <a:pt x="9029700" y="0"/>
                  </a:lnTo>
                  <a:lnTo>
                    <a:pt x="9029700" y="748665"/>
                  </a:lnTo>
                  <a:lnTo>
                    <a:pt x="7524750" y="1315402"/>
                  </a:lnTo>
                  <a:lnTo>
                    <a:pt x="6019800" y="1821180"/>
                  </a:lnTo>
                  <a:lnTo>
                    <a:pt x="4514850" y="2286952"/>
                  </a:lnTo>
                  <a:lnTo>
                    <a:pt x="3009900" y="2570798"/>
                  </a:lnTo>
                  <a:lnTo>
                    <a:pt x="1504950" y="2732722"/>
                  </a:lnTo>
                  <a:lnTo>
                    <a:pt x="0" y="2833688"/>
                  </a:lnTo>
                  <a:close/>
                </a:path>
              </a:pathLst>
            </a:custGeom>
            <a:gradFill>
              <a:gsLst>
                <a:gs pos="0">
                  <a:schemeClr val="accent2">
                    <a:alpha val="25000"/>
                  </a:schemeClr>
                </a:gs>
                <a:gs pos="100000">
                  <a:schemeClr val="accent2">
                    <a:alpha val="4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2" name="Polyline 32"/>
            <p:cNvSpPr/>
            <p:nvPr/>
          </p:nvSpPr>
          <p:spPr>
            <a:xfrm>
              <a:off x="1714500" y="2399348"/>
              <a:ext cx="9029700" cy="2732722"/>
            </a:xfrm>
            <a:custGeom>
              <a:avLst/>
              <a:gdLst/>
              <a:ahLst/>
              <a:cxnLst/>
              <a:rect l="l" t="t" r="r" b="b"/>
              <a:pathLst>
                <a:path w="9029700" h="2732722">
                  <a:moveTo>
                    <a:pt x="0" y="2732722"/>
                  </a:moveTo>
                  <a:lnTo>
                    <a:pt x="1504950" y="2610802"/>
                  </a:lnTo>
                  <a:lnTo>
                    <a:pt x="3009900" y="2286952"/>
                  </a:lnTo>
                  <a:lnTo>
                    <a:pt x="4514850" y="1720215"/>
                  </a:lnTo>
                  <a:lnTo>
                    <a:pt x="6019800" y="1214437"/>
                  </a:lnTo>
                  <a:lnTo>
                    <a:pt x="7524750" y="647700"/>
                  </a:lnTo>
                  <a:lnTo>
                    <a:pt x="90297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676400" y="509397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3181350" y="49720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686300" y="46482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191250" y="4081462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696200" y="3575685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9201150" y="3008948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10687050" y="2342198"/>
              <a:ext cx="114300" cy="114300"/>
            </a:xfrm>
            <a:prstGeom prst="ellipse">
              <a:avLst/>
            </a:prstGeom>
            <a:solidFill>
              <a:schemeClr val="accent2"/>
            </a:solidFill>
            <a:ln w="19050">
              <a:solidFill>
                <a:schemeClr val="accent1"/>
              </a:solidFill>
            </a:ln>
          </p:spPr>
        </p:sp>
        <p:sp>
          <p:nvSpPr>
            <p:cNvPr id="40" name="Polyline 40"/>
            <p:cNvSpPr/>
            <p:nvPr/>
          </p:nvSpPr>
          <p:spPr>
            <a:xfrm>
              <a:off x="1714500" y="3148012"/>
              <a:ext cx="9029700" cy="2085022"/>
            </a:xfrm>
            <a:custGeom>
              <a:avLst/>
              <a:gdLst/>
              <a:ahLst/>
              <a:cxnLst/>
              <a:rect l="l" t="t" r="r" b="b"/>
              <a:pathLst>
                <a:path w="9029700" h="2085022">
                  <a:moveTo>
                    <a:pt x="0" y="2085022"/>
                  </a:moveTo>
                  <a:lnTo>
                    <a:pt x="1504950" y="1984057"/>
                  </a:lnTo>
                  <a:lnTo>
                    <a:pt x="3009900" y="1822132"/>
                  </a:lnTo>
                  <a:lnTo>
                    <a:pt x="4514850" y="1538288"/>
                  </a:lnTo>
                  <a:lnTo>
                    <a:pt x="6019800" y="1072515"/>
                  </a:lnTo>
                  <a:lnTo>
                    <a:pt x="7524750" y="566738"/>
                  </a:lnTo>
                  <a:lnTo>
                    <a:pt x="9029700" y="0"/>
                  </a:lnTo>
                </a:path>
              </a:pathLst>
            </a:custGeom>
            <a:noFill/>
            <a:ln w="23812">
              <a:solidFill>
                <a:schemeClr val="accent6"/>
              </a:solidFill>
              <a:prstDash val="dash"/>
            </a:ln>
          </p:spPr>
        </p:sp>
        <p:sp>
          <p:nvSpPr>
            <p:cNvPr id="41" name="Ellipse 41"/>
            <p:cNvSpPr/>
            <p:nvPr/>
          </p:nvSpPr>
          <p:spPr>
            <a:xfrm>
              <a:off x="1681162" y="5199698"/>
              <a:ext cx="66675" cy="6667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3186112" y="5098732"/>
              <a:ext cx="66675" cy="6667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4691062" y="4936808"/>
              <a:ext cx="66675" cy="6667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196012" y="4652962"/>
              <a:ext cx="66675" cy="6667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7700962" y="4187190"/>
              <a:ext cx="66675" cy="6667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9205912" y="3681412"/>
              <a:ext cx="66675" cy="6667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0696575" y="3100388"/>
              <a:ext cx="95250" cy="95250"/>
            </a:xfrm>
            <a:prstGeom prst="ellipse">
              <a:avLst/>
            </a:prstGeom>
            <a:solidFill>
              <a:schemeClr val="accent6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024701" y="2172652"/>
              <a:ext cx="5343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$725B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962242" y="2923699"/>
              <a:ext cx="5964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b="1" dirty="0">
                  <a:solidFill>
                    <a:schemeClr val="accent6"/>
                  </a:solidFill>
                  <a:latin typeface="Cambria"/>
                  <a:ea typeface="Cambria"/>
                  <a:cs typeface="Cambria"/>
                </a:rPr>
                <a:t>~$100B</a:t>
              </a:r>
            </a:p>
          </p:txBody>
        </p:sp>
        <p:grpSp>
          <p:nvGrpSpPr>
            <p:cNvPr id="55" name="Group 55"/>
            <p:cNvGrpSpPr/>
            <p:nvPr/>
          </p:nvGrpSpPr>
          <p:grpSpPr>
            <a:xfrm>
              <a:off x="11334750" y="2399348"/>
              <a:ext cx="768824" cy="758189"/>
              <a:chOff x="11334750" y="2399348"/>
              <a:chExt cx="768824" cy="758189"/>
            </a:xfrm>
          </p:grpSpPr>
          <p:sp>
            <p:nvSpPr>
              <p:cNvPr id="50" name="Line 50"/>
              <p:cNvSpPr/>
              <p:nvPr/>
            </p:nvSpPr>
            <p:spPr>
              <a:xfrm>
                <a:off x="11430000" y="2399348"/>
                <a:ext cx="9525" cy="74866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48665">
                    <a:moveTo>
                      <a:pt x="0" y="0"/>
                    </a:moveTo>
                    <a:lnTo>
                      <a:pt x="0" y="748665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custDash>
                  <a:ds d="100000" sp="150000"/>
                </a:custDash>
              </a:ln>
            </p:spPr>
          </p:sp>
          <p:sp>
            <p:nvSpPr>
              <p:cNvPr id="51" name="Line 51"/>
              <p:cNvSpPr/>
              <p:nvPr/>
            </p:nvSpPr>
            <p:spPr>
              <a:xfrm>
                <a:off x="11334750" y="2399348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52" name="Line 52"/>
              <p:cNvSpPr/>
              <p:nvPr/>
            </p:nvSpPr>
            <p:spPr>
              <a:xfrm>
                <a:off x="11334750" y="3148012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1593068" y="2555558"/>
                <a:ext cx="49554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ROI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1593068" y="2774632"/>
                <a:ext cx="51050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2"/>
                    </a:solidFill>
                    <a:latin typeface="Cambria"/>
                    <a:ea typeface="Cambria"/>
                    <a:cs typeface="Cambria"/>
                  </a:rPr>
                  <a:t>GAP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1333500" y="5943124"/>
            <a:ext cx="9957476" cy="190690"/>
            <a:chOff x="1333500" y="5943124"/>
            <a:chExt cx="9957476" cy="190690"/>
          </a:xfrm>
        </p:grpSpPr>
        <p:sp>
          <p:nvSpPr>
            <p:cNvPr id="57" name="Line 57"/>
            <p:cNvSpPr/>
            <p:nvPr/>
          </p:nvSpPr>
          <p:spPr>
            <a:xfrm>
              <a:off x="1333500" y="60007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1438275" y="59626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728597" y="5943124"/>
              <a:ext cx="21767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Hyperscaler Capex (左轴 LHS, $B)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4762500" y="600075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23812">
              <a:solidFill>
                <a:schemeClr val="accent6"/>
              </a:solidFill>
              <a:prstDash val="dash"/>
            </a:ln>
          </p:spPr>
        </p:sp>
        <p:sp>
          <p:nvSpPr>
            <p:cNvPr id="61" name="Ellipse 61"/>
            <p:cNvSpPr/>
            <p:nvPr/>
          </p:nvSpPr>
          <p:spPr>
            <a:xfrm>
              <a:off x="4867275" y="59626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157597" y="5943124"/>
              <a:ext cx="24111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Enterprise AI Revenue (右轴 RHS, $B)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567547" y="5943124"/>
              <a:ext cx="735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2"/>
                  </a:solidFill>
                  <a:latin typeface="Cambria"/>
                  <a:ea typeface="SimSun"/>
                  <a:cs typeface="Cambria"/>
                </a:rPr>
                <a:t>差距 +46pt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615297" y="5943124"/>
              <a:ext cx="16756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Cambria"/>
                  <a:ea typeface="SimSun"/>
                  <a:cs typeface="Cambria"/>
                </a:rPr>
                <a:t>vs 2001 电信泡沫期 +32pt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66738" y="6286500"/>
            <a:ext cx="11058525" cy="447676"/>
            <a:chOff x="566738" y="6286500"/>
            <a:chExt cx="11058525" cy="447676"/>
          </a:xfrm>
        </p:grpSpPr>
        <p:sp>
          <p:nvSpPr>
            <p:cNvPr id="66" name="Line 66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66738" y="6586538"/>
              <a:ext cx="5573878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Goldman Sachs · Allianz Economic Research · KuCoin · Tom's Hardware · revenue 估算口径以行业披露为准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18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8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60832" y="444341"/>
            <a:ext cx="4849150" cy="1095470"/>
            <a:chOff x="560832" y="444341"/>
            <a:chExt cx="4849150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264177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PART VI · THE BUBBLE · 19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60832" y="916305"/>
              <a:ext cx="27096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四大风险，</a:t>
              </a:r>
              <a:r>
                <a:rPr lang="zh-CN" sz="21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互相放大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48438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The four risk vectors that compound each other in 2026 AI capital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62000" y="1905000"/>
            <a:ext cx="10668000" cy="4191000"/>
            <a:chOff x="762000" y="1905000"/>
            <a:chExt cx="10668000" cy="4191000"/>
          </a:xfrm>
        </p:grpSpPr>
        <p:sp>
          <p:nvSpPr>
            <p:cNvPr id="7" name="Line 7"/>
            <p:cNvSpPr/>
            <p:nvPr/>
          </p:nvSpPr>
          <p:spPr>
            <a:xfrm>
              <a:off x="6096000" y="19050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14288">
              <a:solidFill>
                <a:srgbClr val="5C585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762000" y="4000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rgbClr val="5C5852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62000" y="1905000"/>
            <a:ext cx="5334000" cy="2095500"/>
            <a:chOff x="762000" y="1905000"/>
            <a:chExt cx="5334000" cy="2095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905000"/>
              <a:ext cx="5334000" cy="2095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905000"/>
              <a:ext cx="5334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7738" y="2147888"/>
              <a:ext cx="6766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spc="225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RISK 01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5186362" y="2100262"/>
              <a:ext cx="257175" cy="252413"/>
              <a:chOff x="5186362" y="2100262"/>
              <a:chExt cx="257175" cy="252413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5243512" y="23431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21431">
                <a:solidFill>
                  <a:schemeClr val="accent2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229225" y="2128838"/>
                <a:ext cx="171450" cy="14288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4288">
                    <a:moveTo>
                      <a:pt x="0" y="14288"/>
                    </a:moveTo>
                    <a:lnTo>
                      <a:pt x="85725" y="0"/>
                    </a:lnTo>
                    <a:lnTo>
                      <a:pt x="171450" y="14288"/>
                    </a:lnTo>
                  </a:path>
                </a:pathLst>
              </a:custGeom>
              <a:noFill/>
              <a:ln w="21431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314950" y="2100262"/>
                <a:ext cx="9525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8">
                    <a:moveTo>
                      <a:pt x="0" y="0"/>
                    </a:moveTo>
                    <a:lnTo>
                      <a:pt x="0" y="242888"/>
                    </a:lnTo>
                  </a:path>
                </a:pathLst>
              </a:custGeom>
              <a:noFill/>
              <a:ln w="21431">
                <a:solidFill>
                  <a:schemeClr val="accent2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186362" y="2143125"/>
                <a:ext cx="857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28588">
                    <a:moveTo>
                      <a:pt x="85725" y="85725"/>
                    </a:moveTo>
                    <a:lnTo>
                      <a:pt x="42862" y="0"/>
                    </a:lnTo>
                    <a:lnTo>
                      <a:pt x="0" y="85725"/>
                    </a:lnTo>
                    <a:cubicBezTo>
                      <a:pt x="0" y="109397"/>
                      <a:pt x="19190" y="128588"/>
                      <a:pt x="42862" y="128588"/>
                    </a:cubicBezTo>
                    <a:cubicBezTo>
                      <a:pt x="66535" y="128588"/>
                      <a:pt x="85725" y="109397"/>
                      <a:pt x="85725" y="85725"/>
                    </a:cubicBezTo>
                  </a:path>
                </a:pathLst>
              </a:custGeom>
              <a:noFill/>
              <a:ln w="21431">
                <a:solidFill>
                  <a:schemeClr val="accent2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5357812" y="2143125"/>
                <a:ext cx="85725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28588">
                    <a:moveTo>
                      <a:pt x="85725" y="85725"/>
                    </a:moveTo>
                    <a:lnTo>
                      <a:pt x="42862" y="0"/>
                    </a:lnTo>
                    <a:lnTo>
                      <a:pt x="0" y="85725"/>
                    </a:lnTo>
                    <a:cubicBezTo>
                      <a:pt x="0" y="109397"/>
                      <a:pt x="19190" y="128588"/>
                      <a:pt x="42862" y="128588"/>
                    </a:cubicBezTo>
                    <a:cubicBezTo>
                      <a:pt x="66535" y="128588"/>
                      <a:pt x="85725" y="109397"/>
                      <a:pt x="85725" y="85725"/>
                    </a:cubicBezTo>
                  </a:path>
                </a:pathLst>
              </a:custGeom>
              <a:noFill/>
              <a:ln w="21431">
                <a:solidFill>
                  <a:schemeClr val="accent2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944118" y="2469832"/>
              <a:ext cx="25575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Capex / Revenue 鸿沟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7738" y="2787491"/>
              <a:ext cx="197762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Capex outruns commercial revenue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7166" y="3163252"/>
              <a:ext cx="1590866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增速差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+46pt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2001 电信泡沫期为 32pt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差距已超 2001 泡沫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096000" y="1905000"/>
            <a:ext cx="5334000" cy="2095500"/>
            <a:chOff x="6096000" y="1905000"/>
            <a:chExt cx="5334000" cy="2095500"/>
          </a:xfrm>
        </p:grpSpPr>
        <p:sp>
          <p:nvSpPr>
            <p:cNvPr id="23" name="Rectangle 23"/>
            <p:cNvSpPr/>
            <p:nvPr/>
          </p:nvSpPr>
          <p:spPr>
            <a:xfrm>
              <a:off x="6096000" y="1905000"/>
              <a:ext cx="5334000" cy="2095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0" y="1905000"/>
              <a:ext cx="5334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1738" y="2147888"/>
              <a:ext cx="6766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spc="225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RISK 02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10520362" y="2100262"/>
              <a:ext cx="257175" cy="257175"/>
              <a:chOff x="10520362" y="2100262"/>
              <a:chExt cx="257175" cy="25717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0634662" y="22145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21431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577512" y="215741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71438"/>
                    </a:moveTo>
                    <a:cubicBezTo>
                      <a:pt x="0" y="110891"/>
                      <a:pt x="31984" y="142875"/>
                      <a:pt x="71438" y="142875"/>
                    </a:cubicBezTo>
                    <a:cubicBezTo>
                      <a:pt x="110891" y="142875"/>
                      <a:pt x="142875" y="11089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ubicBezTo>
                      <a:pt x="31984" y="0"/>
                      <a:pt x="0" y="31984"/>
                      <a:pt x="0" y="71438"/>
                    </a:cubicBezTo>
                  </a:path>
                </a:pathLst>
              </a:custGeom>
              <a:noFill/>
              <a:ln w="21431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0520362" y="210026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1431">
                <a:solidFill>
                  <a:schemeClr val="accent2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6278118" y="2469832"/>
              <a:ext cx="21000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企业 ROI 难落地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81738" y="2787491"/>
              <a:ext cx="223531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Enterprise ROI lags badly behind capex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81166" y="3163252"/>
              <a:ext cx="2103263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MIT: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95%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AI 试点未产生商业价值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仅 </a:t>
              </a:r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5%</a:t>
              </a: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企业 EBIT 受 AI 显著影响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投资在赌"未来兑现"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4000500"/>
            <a:ext cx="5334000" cy="2095500"/>
            <a:chOff x="762000" y="4000500"/>
            <a:chExt cx="5334000" cy="2095500"/>
          </a:xfrm>
        </p:grpSpPr>
        <p:sp>
          <p:nvSpPr>
            <p:cNvPr id="34" name="Rectangle 34"/>
            <p:cNvSpPr/>
            <p:nvPr/>
          </p:nvSpPr>
          <p:spPr>
            <a:xfrm>
              <a:off x="762000" y="4000500"/>
              <a:ext cx="5334000" cy="2095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4000500"/>
              <a:ext cx="53340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7738" y="4243388"/>
              <a:ext cx="6766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spc="225" dirty="0">
                  <a:solidFill>
                    <a:schemeClr val="accent3"/>
                  </a:solidFill>
                  <a:latin typeface="Cambria"/>
                  <a:ea typeface="Cambria"/>
                  <a:cs typeface="Cambria"/>
                </a:rPr>
                <a:t>RISK 03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5170859" y="4191016"/>
              <a:ext cx="288171" cy="247577"/>
              <a:chOff x="5170859" y="4191016"/>
              <a:chExt cx="288171" cy="247577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314950" y="428148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1431">
                <a:solidFill>
                  <a:schemeClr val="accent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170859" y="4191016"/>
                <a:ext cx="288171" cy="247577"/>
              </a:xfrm>
              <a:custGeom>
                <a:avLst/>
                <a:gdLst/>
                <a:ahLst/>
                <a:cxnLst/>
                <a:rect l="l" t="t" r="r" b="b"/>
                <a:pathLst>
                  <a:path w="288171" h="247577">
                    <a:moveTo>
                      <a:pt x="120702" y="13191"/>
                    </a:moveTo>
                    <a:lnTo>
                      <a:pt x="4888" y="206558"/>
                    </a:lnTo>
                    <a:cubicBezTo>
                      <a:pt x="30" y="214971"/>
                      <a:pt x="0" y="225330"/>
                      <a:pt x="4810" y="233771"/>
                    </a:cubicBezTo>
                    <a:cubicBezTo>
                      <a:pt x="9620" y="242213"/>
                      <a:pt x="18548" y="247468"/>
                      <a:pt x="28262" y="247577"/>
                    </a:cubicBezTo>
                    <a:lnTo>
                      <a:pt x="259920" y="247577"/>
                    </a:lnTo>
                    <a:cubicBezTo>
                      <a:pt x="269630" y="247465"/>
                      <a:pt x="278553" y="242212"/>
                      <a:pt x="283362" y="233775"/>
                    </a:cubicBezTo>
                    <a:cubicBezTo>
                      <a:pt x="288171" y="225339"/>
                      <a:pt x="288145" y="214984"/>
                      <a:pt x="283294" y="206572"/>
                    </a:cubicBezTo>
                    <a:lnTo>
                      <a:pt x="167480" y="13176"/>
                    </a:lnTo>
                    <a:cubicBezTo>
                      <a:pt x="162524" y="4996"/>
                      <a:pt x="153655" y="0"/>
                      <a:pt x="144091" y="0"/>
                    </a:cubicBezTo>
                    <a:cubicBezTo>
                      <a:pt x="134527" y="0"/>
                      <a:pt x="125658" y="4996"/>
                      <a:pt x="120702" y="13176"/>
                    </a:cubicBezTo>
                  </a:path>
                </a:pathLst>
              </a:custGeom>
              <a:noFill/>
              <a:ln w="21431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314950" y="4381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1431">
                <a:solidFill>
                  <a:schemeClr val="accent3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944118" y="4565332"/>
              <a:ext cx="16596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客户集中度风险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7738" y="4882991"/>
              <a:ext cx="24734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Six customers carry the whole supply chain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7166" y="5258752"/>
              <a:ext cx="1706213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Nvidia 收入 </a:t>
              </a:r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85% 来自 6 家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 4 名占近 60%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任一砍 capex → 级联冲击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96000" y="4000500"/>
            <a:ext cx="5334000" cy="2095500"/>
            <a:chOff x="6096000" y="4000500"/>
            <a:chExt cx="5334000" cy="2095500"/>
          </a:xfrm>
        </p:grpSpPr>
        <p:sp>
          <p:nvSpPr>
            <p:cNvPr id="45" name="Rectangle 45"/>
            <p:cNvSpPr/>
            <p:nvPr/>
          </p:nvSpPr>
          <p:spPr>
            <a:xfrm>
              <a:off x="6096000" y="4000500"/>
              <a:ext cx="5334000" cy="20955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96000" y="4000500"/>
              <a:ext cx="5334000" cy="38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281738" y="4243388"/>
              <a:ext cx="6766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spc="225" dirty="0">
                  <a:solidFill>
                    <a:schemeClr val="accent3"/>
                  </a:solidFill>
                  <a:latin typeface="Cambria"/>
                  <a:ea typeface="Cambria"/>
                  <a:cs typeface="Cambria"/>
                </a:rPr>
                <a:t>RISK 04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10520362" y="4195762"/>
              <a:ext cx="257175" cy="242888"/>
              <a:chOff x="10520362" y="4195762"/>
              <a:chExt cx="257175" cy="24288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10520362" y="4252912"/>
                <a:ext cx="25717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85738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228600" y="0"/>
                    </a:lnTo>
                    <a:cubicBezTo>
                      <a:pt x="244382" y="0"/>
                      <a:pt x="257175" y="12793"/>
                      <a:pt x="257175" y="28575"/>
                    </a:cubicBezTo>
                    <a:lnTo>
                      <a:pt x="257175" y="157162"/>
                    </a:lnTo>
                    <a:cubicBezTo>
                      <a:pt x="257175" y="172944"/>
                      <a:pt x="244382" y="185738"/>
                      <a:pt x="228600" y="185738"/>
                    </a:cubicBezTo>
                    <a:lnTo>
                      <a:pt x="28575" y="185738"/>
                    </a:lnTo>
                    <a:cubicBezTo>
                      <a:pt x="12793" y="185738"/>
                      <a:pt x="0" y="172944"/>
                      <a:pt x="0" y="157162"/>
                    </a:cubicBezTo>
                    <a:lnTo>
                      <a:pt x="0" y="28575"/>
                    </a:lnTo>
                  </a:path>
                </a:pathLst>
              </a:custGeom>
              <a:noFill/>
              <a:ln w="21431">
                <a:solidFill>
                  <a:schemeClr val="accent3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0591800" y="4195762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57150"/>
                    </a:move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85725" y="0"/>
                    </a:lnTo>
                    <a:cubicBezTo>
                      <a:pt x="101507" y="0"/>
                      <a:pt x="114300" y="12793"/>
                      <a:pt x="114300" y="28575"/>
                    </a:cubicBezTo>
                    <a:lnTo>
                      <a:pt x="114300" y="57150"/>
                    </a:lnTo>
                  </a:path>
                </a:pathLst>
              </a:custGeom>
              <a:noFill/>
              <a:ln w="21431">
                <a:solidFill>
                  <a:schemeClr val="accent3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0648950" y="432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43"/>
                    </a:lnTo>
                  </a:path>
                </a:pathLst>
              </a:custGeom>
              <a:noFill/>
              <a:ln w="21431">
                <a:solidFill>
                  <a:schemeClr val="accent3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0520362" y="4338638"/>
                <a:ext cx="257175" cy="40756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40756">
                    <a:moveTo>
                      <a:pt x="0" y="0"/>
                    </a:moveTo>
                    <a:cubicBezTo>
                      <a:pt x="80881" y="40756"/>
                      <a:pt x="176294" y="40756"/>
                      <a:pt x="257175" y="0"/>
                    </a:cubicBezTo>
                  </a:path>
                </a:pathLst>
              </a:custGeom>
              <a:noFill/>
              <a:ln w="21431">
                <a:solidFill>
                  <a:schemeClr val="accent3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278118" y="4565332"/>
              <a:ext cx="1894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融资结构转向负债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81738" y="4882991"/>
              <a:ext cx="19199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From operating cash flow to debt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81166" y="5258752"/>
              <a:ext cx="1590866" cy="6244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现金流融资 → </a:t>
              </a:r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举债融资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自由现金流开始转负</a:t>
              </a:r>
            </a:p>
            <a:p>
              <a:pPr algn="l" marL="113348" indent="-113348">
                <a:lnSpc>
                  <a:spcPts val="16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兑现时间表的耐心被压缩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886450" y="3790950"/>
            <a:ext cx="419100" cy="419100"/>
            <a:chOff x="5886450" y="3790950"/>
            <a:chExt cx="419100" cy="419100"/>
          </a:xfrm>
        </p:grpSpPr>
        <p:sp>
          <p:nvSpPr>
            <p:cNvPr id="57" name="Ellipse 57"/>
            <p:cNvSpPr/>
            <p:nvPr/>
          </p:nvSpPr>
          <p:spPr>
            <a:xfrm>
              <a:off x="5886450" y="3790950"/>
              <a:ext cx="419100" cy="4191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047541" y="395382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×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66738" y="6381750"/>
            <a:ext cx="11058525" cy="352426"/>
            <a:chOff x="566738" y="6381750"/>
            <a:chExt cx="11058525" cy="352426"/>
          </a:xfrm>
        </p:grpSpPr>
        <p:sp>
          <p:nvSpPr>
            <p:cNvPr id="60" name="Line 60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66738" y="6586538"/>
              <a:ext cx="419093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Sources: MIT GenAI Pilot Study · Allianz · Seeking Alpha · Goldman Sachs 2026 outlook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258360" y="6586538"/>
              <a:ext cx="36690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19 / 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3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1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9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67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554736" y="444341"/>
            <a:ext cx="5974564" cy="1095470"/>
            <a:chOff x="554736" y="444341"/>
            <a:chExt cx="5974564" cy="1095470"/>
          </a:xfrm>
        </p:grpSpPr>
        <p:sp>
          <p:nvSpPr>
            <p:cNvPr id="2" name="TextBox 2"/>
            <p:cNvSpPr txBox="1"/>
            <p:nvPr/>
          </p:nvSpPr>
          <p:spPr>
            <a:xfrm>
              <a:off x="566738" y="444341"/>
              <a:ext cx="129387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CLOSING · 20</a:t>
              </a:r>
            </a:p>
          </p:txBody>
        </p:sp>
        <p:sp>
          <p:nvSpPr>
            <p:cNvPr id="3" name="Line 3"/>
            <p:cNvSpPr/>
            <p:nvPr/>
          </p:nvSpPr>
          <p:spPr>
            <a:xfrm>
              <a:off x="571500" y="68580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54736" y="786765"/>
              <a:ext cx="59745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 xml:space="preserve">六大判断 / </a:t>
              </a:r>
              <a:r>
                <a:rPr lang="zh-CN" sz="33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Six Takeaways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6166" y="1334452"/>
              <a:ext cx="36997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i="1" dirty="0">
                  <a:solidFill>
                    <a:schemeClr val="dk2"/>
                  </a:solidFill>
                  <a:latin typeface="Cambria"/>
                  <a:ea typeface="Cambria"/>
                  <a:cs typeface="Cambria"/>
                </a:rPr>
                <a:t>Closing notes on 2026's global AI capital landscape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6260" y="1771650"/>
            <a:ext cx="5349240" cy="733425"/>
            <a:chOff x="556260" y="1771650"/>
            <a:chExt cx="5349240" cy="733425"/>
          </a:xfrm>
        </p:grpSpPr>
        <p:sp>
          <p:nvSpPr>
            <p:cNvPr id="7" name="TextBox 7"/>
            <p:cNvSpPr txBox="1"/>
            <p:nvPr/>
          </p:nvSpPr>
          <p:spPr>
            <a:xfrm>
              <a:off x="556260" y="1771650"/>
              <a:ext cx="2769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6142" y="1911668"/>
              <a:ext cx="2306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资本集中度是 2026 主旋律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8047" y="2180749"/>
              <a:ext cx="370387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单季 65% 的全球 VC 进入 4 家公司——"钱没变多，是更集中"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24955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56260" y="2647950"/>
            <a:ext cx="5349240" cy="733425"/>
            <a:chOff x="556260" y="2647950"/>
            <a:chExt cx="5349240" cy="733425"/>
          </a:xfrm>
        </p:grpSpPr>
        <p:sp>
          <p:nvSpPr>
            <p:cNvPr id="12" name="TextBox 12"/>
            <p:cNvSpPr txBox="1"/>
            <p:nvPr/>
          </p:nvSpPr>
          <p:spPr>
            <a:xfrm>
              <a:off x="556260" y="2647950"/>
              <a:ext cx="2769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6142" y="2787968"/>
              <a:ext cx="19224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算力是 2026 的硬通货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047" y="3057049"/>
              <a:ext cx="33525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Nvidia 既是基建供应商又是大股东，形成全行业闭环结构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71500" y="33718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56260" y="3524250"/>
            <a:ext cx="5349240" cy="733425"/>
            <a:chOff x="556260" y="3524250"/>
            <a:chExt cx="5349240" cy="733425"/>
          </a:xfrm>
        </p:grpSpPr>
        <p:sp>
          <p:nvSpPr>
            <p:cNvPr id="17" name="TextBox 17"/>
            <p:cNvSpPr txBox="1"/>
            <p:nvPr/>
          </p:nvSpPr>
          <p:spPr>
            <a:xfrm>
              <a:off x="556260" y="3524250"/>
              <a:ext cx="2769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36142" y="3664268"/>
              <a:ext cx="2702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下一道护城河是电力，不是芯片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8047" y="3933349"/>
              <a:ext cx="38407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$725B Capex 中 60%+ 流向电力 / 冷却 / 土建——资源约束已转移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71500" y="42481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271260" y="1771650"/>
            <a:ext cx="5349240" cy="733425"/>
            <a:chOff x="6271260" y="1771650"/>
            <a:chExt cx="5349240" cy="733425"/>
          </a:xfrm>
        </p:grpSpPr>
        <p:sp>
          <p:nvSpPr>
            <p:cNvPr id="22" name="TextBox 22"/>
            <p:cNvSpPr txBox="1"/>
            <p:nvPr/>
          </p:nvSpPr>
          <p:spPr>
            <a:xfrm>
              <a:off x="6271260" y="1771650"/>
              <a:ext cx="2769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3"/>
                  </a:solidFill>
                  <a:latin typeface="Cambria"/>
                  <a:ea typeface="Cambria"/>
                  <a:cs typeface="Cambria"/>
                </a:rPr>
                <a:t>④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51142" y="1911668"/>
              <a:ext cx="17419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中美双轨结构已成型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53047" y="2180749"/>
              <a:ext cx="43590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美国推迟 IPO 喂超大私募，中国二级市场全面打开，路径差异不再可逆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286500" y="24955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271260" y="2647950"/>
            <a:ext cx="5349240" cy="733425"/>
            <a:chOff x="6271260" y="2647950"/>
            <a:chExt cx="5349240" cy="733425"/>
          </a:xfrm>
        </p:grpSpPr>
        <p:sp>
          <p:nvSpPr>
            <p:cNvPr id="27" name="TextBox 27"/>
            <p:cNvSpPr txBox="1"/>
            <p:nvPr/>
          </p:nvSpPr>
          <p:spPr>
            <a:xfrm>
              <a:off x="6271260" y="2647950"/>
              <a:ext cx="2769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3"/>
                  </a:solidFill>
                  <a:latin typeface="Cambria"/>
                  <a:ea typeface="Cambria"/>
                  <a:cs typeface="Cambria"/>
                </a:rPr>
                <a:t>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1142" y="2787968"/>
              <a:ext cx="28840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真实 ROI 滞后但巨头未止血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3047" y="3057049"/>
              <a:ext cx="3617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95% 试点失败 vs $725B capex 继续上调——这是赌"未来兑现"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6286500" y="33718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6271260" y="3524250"/>
            <a:ext cx="5349240" cy="733425"/>
            <a:chOff x="6271260" y="3524250"/>
            <a:chExt cx="5349240" cy="733425"/>
          </a:xfrm>
        </p:grpSpPr>
        <p:sp>
          <p:nvSpPr>
            <p:cNvPr id="32" name="TextBox 32"/>
            <p:cNvSpPr txBox="1"/>
            <p:nvPr/>
          </p:nvSpPr>
          <p:spPr>
            <a:xfrm>
              <a:off x="6271260" y="3524250"/>
              <a:ext cx="27691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3"/>
                  </a:solidFill>
                  <a:latin typeface="Cambria"/>
                  <a:ea typeface="Cambria"/>
                  <a:cs typeface="Cambria"/>
                </a:rPr>
                <a:t>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1142" y="3664268"/>
              <a:ext cx="22421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Anthropic 反超 OpenAI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3047" y="3933349"/>
              <a:ext cx="38299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在谈估值 $900B vs $852B；ARR 增速 Anthropic 已超越 OpenAI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286500" y="42481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71500" y="4667250"/>
            <a:ext cx="11049000" cy="1097089"/>
            <a:chOff x="571500" y="4667250"/>
            <a:chExt cx="11049000" cy="1097089"/>
          </a:xfrm>
        </p:grpSpPr>
        <p:sp>
          <p:nvSpPr>
            <p:cNvPr id="37" name="Rectangle 37"/>
            <p:cNvSpPr/>
            <p:nvPr/>
          </p:nvSpPr>
          <p:spPr>
            <a:xfrm>
              <a:off x="571500" y="4667250"/>
              <a:ext cx="110490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71500" y="4667250"/>
              <a:ext cx="57150" cy="1047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7738" y="4911566"/>
              <a:ext cx="16724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225" dirty="0">
                  <a:solidFill>
                    <a:schemeClr val="accent2"/>
                  </a:solidFill>
                  <a:latin typeface="Cambria"/>
                  <a:ea typeface="Cambria"/>
                  <a:cs typeface="Cambria"/>
                </a:rPr>
                <a:t>EDITORIAL CLOSE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4118" y="5203508"/>
              <a:ext cx="42370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i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"This is not yet the bubble bursting.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44118" y="5441632"/>
              <a:ext cx="34975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i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It is the bubble compounding."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6738" y="6000750"/>
            <a:ext cx="11058525" cy="701516"/>
            <a:chOff x="566738" y="6000750"/>
            <a:chExt cx="11058525" cy="701516"/>
          </a:xfrm>
        </p:grpSpPr>
        <p:sp>
          <p:nvSpPr>
            <p:cNvPr id="43" name="Line 43"/>
            <p:cNvSpPr/>
            <p:nvPr/>
          </p:nvSpPr>
          <p:spPr>
            <a:xfrm>
              <a:off x="571500" y="6000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6738" y="6140291"/>
              <a:ext cx="152652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spc="1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PRIMARY SOURCES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6738" y="6368891"/>
              <a:ext cx="58536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Crunchbase · PitchBook · CNBC · Bloomberg · TechCrunch · OpenAI / Anthropic / xAI press · Tom's Hardware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66738" y="6540341"/>
              <a:ext cx="621140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Goldman Sachs · Allianz · Statista · MIT GenAI Pilot Study · BigGo Finance · TechFundingNews · DataCenterDynamics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341586" y="6548438"/>
              <a:ext cx="1283677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50" dirty="0">
                  <a:solidFill>
                    <a:schemeClr val="accent5"/>
                  </a:solidFill>
                  <a:latin typeface="Cambria"/>
                  <a:ea typeface="Cambria"/>
                  <a:cs typeface="Cambria"/>
                </a:rPr>
                <a:t>20 / 20 · End of briefing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1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34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97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600"/>
                            </p:stCondLst>
                            <p:childTnLst>
                              <p:par>
                                <p:cTn xmlns:p="http://schemas.openxmlformats.org/presentationml/2006/main" id="29" presetID="10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50"/>
                            </p:stCondLst>
                            <p:childTnLst>
                              <p:par>
                                <p:cTn xmlns:p="http://schemas.openxmlformats.org/presentationml/2006/main" id="33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global_ai_capital_2026">
  <a:themeElements>
    <a:clrScheme name="ppt169_global_ai_capital_2026">
      <a:dk1>
        <a:srgbClr val="C9C5BE"/>
      </a:dk1>
      <a:lt1>
        <a:srgbClr val="0E1116"/>
      </a:lt1>
      <a:dk2>
        <a:srgbClr val="8A857E"/>
      </a:dk2>
      <a:lt2>
        <a:srgbClr val="1A1F26"/>
      </a:lt2>
      <a:accent1>
        <a:srgbClr val="E8E6E1"/>
      </a:accent1>
      <a:accent2>
        <a:srgbClr val="E63946"/>
      </a:accent2>
      <a:accent3>
        <a:srgbClr val="F4A261"/>
      </a:accent3>
      <a:accent4>
        <a:srgbClr val="2A2F36"/>
      </a:accent4>
      <a:accent5>
        <a:srgbClr val="5C5852"/>
      </a:accent5>
      <a:accent6>
        <a:srgbClr val="52B788"/>
      </a:accent6>
      <a:hlink>
        <a:srgbClr val="E63946"/>
      </a:hlink>
      <a:folHlink>
        <a:srgbClr val="F4A261"/>
      </a:folHlink>
    </a:clrScheme>
    <a:fontScheme name="ppt169_global_ai_capital_2026">
      <a:majorFont>
        <a:latin typeface="Cambria"/>
        <a:ea typeface="Microsoft YaHei"/>
        <a:cs typeface="Cambr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global_ai_capital_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global_ai_capital_2026">
  <a:themeElements>
    <a:clrScheme name="ppt169_global_ai_capital_2026">
      <a:dk1>
        <a:srgbClr val="C9C5BE"/>
      </a:dk1>
      <a:lt1>
        <a:srgbClr val="0E1116"/>
      </a:lt1>
      <a:dk2>
        <a:srgbClr val="8A857E"/>
      </a:dk2>
      <a:lt2>
        <a:srgbClr val="1A1F26"/>
      </a:lt2>
      <a:accent1>
        <a:srgbClr val="E8E6E1"/>
      </a:accent1>
      <a:accent2>
        <a:srgbClr val="E63946"/>
      </a:accent2>
      <a:accent3>
        <a:srgbClr val="F4A261"/>
      </a:accent3>
      <a:accent4>
        <a:srgbClr val="2A2F36"/>
      </a:accent4>
      <a:accent5>
        <a:srgbClr val="5C5852"/>
      </a:accent5>
      <a:accent6>
        <a:srgbClr val="52B788"/>
      </a:accent6>
      <a:hlink>
        <a:srgbClr val="E63946"/>
      </a:hlink>
      <a:folHlink>
        <a:srgbClr val="F4A261"/>
      </a:folHlink>
    </a:clrScheme>
    <a:fontScheme name="ppt169_global_ai_capital_2026">
      <a:majorFont>
        <a:latin typeface="Cambria"/>
        <a:ea typeface="Microsoft YaHei"/>
        <a:cs typeface="Cambr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global_ai_capital_202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2026-09-04T13:43:27Z</dcterms:created>
  <dcterms:modified xsi:type="dcterms:W3CDTF">2026-09-04T13:43:27Z</dcterms:modified>
  <cp:category/>
  <cp:contentStatus/>
</cp:coreProperties>
</file>