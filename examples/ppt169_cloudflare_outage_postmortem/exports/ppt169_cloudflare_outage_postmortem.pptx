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a reconstruction of the Cloudflare outage of the eighteenth of November two thousand twenty-five, built entirely from Cloudflare's own published account of it. Two things are worth fixing before anything else. The first is the window: customer impact began at eleven twenty-eight and every service was restored at seventeen oh six, five hours and thirty-eight minutes later, and every time in this deck is Coordinated Universal Time. The second is the cause, stated by Cloudflare in the sentence on this page: the outage was not caused, directly or indirectly, by a cyber attack or malicious activity of any kind. That matters because the failure behaved for almost three hours as though it were an attack, and the people responding to it reasonably believed that it might be.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page is written so it can be forwarded on its own. The four moments across the top are the ones Cloudflare records. At eleven oh five a change to a database access control was deployed. At eleven twenty-eight that deployment reached customer environments and the first errors appeared on customer HTTP traffic. At fourteen thirty a correct configuration file was deployed globally and the main impact ended. At seventeen oh six every downstream service was restarted and the incident closed. Underneath, the chain in four parts. A permissions change made a generated query return duplicate rows. The feature file that query builds doubled in size. The bots module inside the core proxy preallocates memory for at most two hundred machine-learning features, well above the roughly sixty actually in use, and the oversized file crossed that limit. Everything downstream of that limit returned errors. The point to hold on to is where the failure sat: in the ingestion of configuration Cloudflare generates for itself, not in the traffic that configuration governs.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Six product surfaces are named in the published account, and they did not all fail the same way. Four returned errors. Core CDN and security services returned HTTP five hundred errors to end users. Turnstile failed to load. Workers KV returned significantly elevated five hundred errors because requests to its front-end gateway went through the failing core proxy. Access saw widespread authentication failures until the rollback was initiated at thirteen oh five, though existing sessions were unaffected and every failed attempt returned an error page rather than reaching the target application. Two surfaces degraded instead. The dashboard stayed mostly operational, but most users could not log in because Turnstile was unavailable on the login page. Email Security kept processing and delivering mail, but lost access to an IP reputation source, which reduced spam-detection accuracy and stopped some new-domain-age detections; some Auto Move actions failed and Cloudflare states that all of them were reviewed and remediated. One effect sits outside the table: response latency rose across the CDN because the debugging and observability systems consumed large amounts of processor time enriching every uncaught error.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An unrelated migration was in flight during the incident, and it split the customer experience in two. Cloudflare was moving traffic onto a new proxy engine called FL2. Customers already on FL2 saw HTTP five hundred errors for anything that depended on the bots module, and because Workers KV and Access sit behind the same core proxy, they failed too. Customers still on the older FL engine saw no errors at all. What they got instead was worse in a quieter way: bot scores were not generated correctly and every request received a bot score of zero, so any customer with a rule that blocks bots would have seen large numbers of false positives without an error page to explain them. And a third group saw nothing: customers who were not using the bot score in their rules were unaffected. Both behaviours are stated in the published account; neither is inferred 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This is the page that explains why the diagnosis took as long as it did. The feature file is regenerated every five minutes by a query running on a ClickHouse cluster, and that cluster was being updated gradually rather than all at once. Bad data was produced only when the query happened to run on a part of the cluster that had already been updated. So every five minutes the network received either a good file or a bad one, and the whole system failed and then recovered and then failed again. Cloudflare calls that behaviour very unusual for an internal error, and it is exactly what a fluctuating external attack looks like. Eventually every node was generating the bad file and the failure settled into a stable failing state. The chart is a schematic reconstruction drawn from that description. The event times on the horizontal axis are published; the height of the line is not. No error-rate magnitude appears anywhere in the account, so the vertical scale carries no published value and should not be read as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first ninety-seven minutes, entry by entry. Eleven oh five, the database access control change is deployed and everything is still normal. Eleven twenty-eight, the deployment reaches customer environments and the first errors appear on customer HTTP traffic. Eleven thirty-one, an automated test detects the issue; manual investigation begins one minute later and the incident call is created at eleven thirty-five. From that point through thirteen oh five the team is investigating the wrong layer, and the account is candid about it: the visible symptom was a degraded Workers KV response rate causing downstream impact, so the mitigations attempted were traffic manipulation and account limiting. At thirteen oh five the first real relief arrives, when internal bypasses fail Workers KV and Cloudflare Access back to a prior version of the core proxy. That is one hour and thirty-seven minutes after impact began, and it happened before anyone knew what the trigger was.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second half moves quickly once the trigger is identified. At thirteen thirty-seven the work narrows onto rolling the Bot Management configuration file back to a last-known-good version, with the file restore as the fastest of several parallel workstreams. At fourteen twenty-four two things happen: creation and propagation of new configuration files is stopped, and the test of the restored file completes successfully, at which point the fix is accelerated globally. At fourteen thirty a correct file is deployed everywhere and most services begin operating normally; downstream services start seeing reduced errors. The remaining two and a half hours are restarts, and at seventeen oh six every operation is fully restored. Three hours and two minutes from impact to main resolution, five hours and thirty-eight minutes to the end. Both durations are arithmetic on the published timestamps.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gap on this page is the most useful number in the review. Detection took three minutes: impact began at eleven twenty-eight and the first automated test fired at eleven thirty-one, with a human on it the following minute and an incident call four minutes later. Identifying which module was failing took two hours and fifty-three minutes beyond that. The alerting worked; the hypothesis is what cost the time, and the account names three reasons without excusing any of them. The failure alternated every five minutes as good and bad files took turns, which does not look like a code defect. Cloudflare's status page, which is hosted completely off Cloudflare's infrastructure with no dependencies on it, went down at the same moment by coincidence, which made it look as though something was targeting both. And the internal incident channel was already primed by a recent run of very large Aisuru denial-of-service attacks. Holding an attack hypothesis in that situation was reasonable; naming it here is not a criticism of holding it.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Five stages, each of which behaved exactly as written. At eleven oh five a change made previously implicit permissions on the underlying database explicit, so users could now see metadata for tables in the r0 database as well as the default one. The query that builds the Bot Management feature file selects column names and types from the system columns table, filtered on the table name but not on the database name — the fragment on the left is the published query, and the missing database predicate is the whole story. With the new permissions, that query began returning the same columns twice, and the feature file's row count more than doubled. The bots module preallocates memory for at most two hundred machine-learning features as a performance optimisation, against roughly sixty in use, and the oversized file crossed that limit. The FL2 check on that limit produced an unhandled error and the thread panicked, which is the line on the right, and every request that depended on the bots module returned a five hundred. Each of those five facts is stated in the published account; the order that connects them is that account's own inferred sequence.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Four conditions had to hold at once, and the review deliberately does not collapse them into one. Two are properties of code. An assumption about the query's scope, made years earlier and never restated, meant nobody revisited it when the permissions model changed. And a fixed limit that guarded memory had no bounded failure path behind it, so an input above the limit produced a panic rather than a rejected file or a degraded bot score. Two are properties of process. Configuration that Cloudflare generates for itself was validated less rigorously than configuration a customer supplies — we know this because the first published remediation item is to harden it in the same way as user-generated input, which states plainly that before this incident it was not. And the permissions change rolled out gradually across the cluster, so the output alternated and the failure signature looked like an attack rather than a deployment. Every one of these traces back to evidence on the timeline pages, and none of them is described here as the cause.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fourth factor from the previous page is the one that outlives this incident, so it becomes the subject here. Compare the two outages. In July two thousand nineteen, a new firewall rule containing a regular expression that backtracked enormously exhausted processor capacity on every core handling web traffic worldwide. It was distributed through Quicksilver, which pushes changes globally in seconds, and by design the firewall skipped the staged rollout process because it has to answer threats fast. The mitigation was a global kill switch, executed at fourteen oh seven, with traffic and processor levels back to normal two minutes later; twenty-seven minutes end to end. In November two thousand twenty-five, a database permissions change more than doubled a feature file that is refreshed every few minutes and published to the entire network for the same reason — so the model can react to new bots quickly. This time there was no per-feature kill switch to reach for, which is why the second published remediation item is to enable more of them. Six years apart, different triggers, same mechanism turning a local defect into a global one. Naming that shared condition is an inference drawn across two published accounts, not a claim either account makes.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A review that lists only failures teaches the wrong lesson, so three things are worth protecting. Automated detection worked and worked fast: three minutes from impact to the first alert, with a human investigating one minute later. A bypass path existed and was actually used — at thirteen oh five internal bypasses failed Workers KV and Cloudflare Access back to a prior version of the core proxy, which reduced impact for every system that depends on Workers KV, including Access itself, and it was done before anyone knew what the trigger was. And the older proxy generation degraded instead of failing outright: customers on FL saw no errors, and customers who were not using the bot score saw no impact at all. Each of those is an observed fact from the published account. The judgement that they are worth protecting is this review's.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Cloudflare publishes four commitments, and this page maps each one to the factor it addresses. Hardening the ingestion of Cloudflare-generated configuration files the way user-generated input is hardened answers the validation factor and is prevention. Enabling more global kill switches for features answers the propagation factor and is mitigation. Eliminating the ability for core dumps and error reports to overwhelm system resources answers the latency effect and is also mitigation. Reviewing failure modes for error conditions across all core proxy modules answers the unbounded failure path and is prevention. The three columns on the right are the point of the page. A corrective action a review can hold anyone to needs an owner, a date, and a way to verify that it happened, and the published account states none of those for any of the four. Those columns read NO DATA rather than being quietly dropped, because an absence that is visible can be chased and an absence that is deleted cannot.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Five things this record does not settle. Two are internal inconsistencies in the published timestamps. The opening paragraph says the network began experiencing significant failures at eleven twenty, while the incident timeline records impact starting at eleven twenty-eight; this deck uses eleven twenty-eight for every derived duration and says so wherever a duration appears. And the Workers KV bypass has three times attached to it — thirteen oh four for the patch, thirteen oh five for the bypass in the timeline, thirteen ten for restoration — describing one mitigation. Three are absences. No error count, request volume, affected-customer figure, availability number, or financial figure is published, so the cost of the outage is unknown. No owner, date, or verification method is attached to any corrective action. And the account commits to reviewing failure modes across all core proxy modules without saying whether any other module shares the same unbounded pattern, so that remains unconfirmed. Each item names the evidence that would settle it, and none of them is closed here with a plausible narrative.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Everything in this deck is one click from its source. The primary record is Cloudflare's own post-incident account of the eighteenth of November, written by Matthew Prince, and it supports every page except the comparison. The second of July two thousand nineteen account supports the comparison page: the firewall rule, the Quicksilver propagation path, the global kill switch, and the twenty-seven minute recovery. The Cloudflare status page is listed as the operator's own event record, and it was deliberately not consulted for any figure here, so nothing in this deck depends on a page that was itself unavailable during the incident. The rules the deck follows are on the page. Times are Coordinated Universal Time to the minute, exactly as published. Elapsed durations are arithmetic and are labelled as derived. Nothing originates outside these documents, and where the account states no value the page says NO DATA or marks the item unconfirmed. The schematic chart carries no published magnitudes, and the four severity states used on the strip and in the tables are this review's reading of the published status column, not a scale Cloudflare defines.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cloudflare_outage_postmorte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cloudflare_outage_postmorte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500" kern="1200">
          <a:solidFill>
            <a:schemeClr val="tx1"/>
          </a:solidFill>
          <a:latin typeface="+mn-lt"/>
          <a:ea typeface="+mn-ea"/>
          <a:cs typeface="+mn-cs"/>
        </a:defRPr>
      </a:lvl1pPr>
      <a:lvl2pPr marL="457200" algn="l" defTabSz="457200" rtl="0" eaLnBrk="1" latinLnBrk="0" hangingPunct="1">
        <a:defRPr sz="1400" kern="1200">
          <a:solidFill>
            <a:schemeClr val="tx1"/>
          </a:solidFill>
          <a:latin typeface="+mn-lt"/>
          <a:ea typeface="+mn-ea"/>
          <a:cs typeface="+mn-cs"/>
        </a:defRPr>
      </a:lvl2pPr>
      <a:lvl3pPr marL="914400" algn="l" defTabSz="457200" rtl="0" eaLnBrk="1" latinLnBrk="0" hangingPunct="1">
        <a:defRPr sz="13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100" kern="1200">
          <a:solidFill>
            <a:schemeClr val="tx1"/>
          </a:solidFill>
          <a:latin typeface="+mn-lt"/>
          <a:ea typeface="+mn-ea"/>
          <a:cs typeface="+mn-cs"/>
        </a:defRPr>
      </a:lvl5pPr>
      <a:lvl6pPr marL="2286000" algn="l" defTabSz="457200" rtl="0" eaLnBrk="1" latinLnBrk="0" hangingPunct="1">
        <a:defRPr sz="1050" kern="1200">
          <a:solidFill>
            <a:schemeClr val="tx1"/>
          </a:solidFill>
          <a:latin typeface="+mn-lt"/>
          <a:ea typeface="+mn-ea"/>
          <a:cs typeface="+mn-cs"/>
        </a:defRPr>
      </a:lvl6pPr>
      <a:lvl7pPr marL="2743200" algn="l" defTabSz="457200" rtl="0" eaLnBrk="1" latinLnBrk="0" hangingPunct="1">
        <a:defRPr sz="950" kern="1200">
          <a:solidFill>
            <a:schemeClr val="tx1"/>
          </a:solidFill>
          <a:latin typeface="+mn-lt"/>
          <a:ea typeface="+mn-ea"/>
          <a:cs typeface="+mn-cs"/>
        </a:defRPr>
      </a:lvl7pPr>
      <a:lvl8pPr marL="3200400" algn="l" defTabSz="457200" rtl="0" eaLnBrk="1" latinLnBrk="0" hangingPunct="1">
        <a:defRPr sz="85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blog.cloudflare.com/18-november-2025-outage/" TargetMode="External"/>
  <Relationship Id="rId3" Type="http://schemas.openxmlformats.org/officeDocument/2006/relationships/hyperlink" Target="https://blog.cloudflare.com/details-of-the-cloudflare-outage-on-july-2-2019/" TargetMode="External"/>
  <Relationship Id="rId4" Type="http://schemas.openxmlformats.org/officeDocument/2006/relationships/hyperlink" Target="https://www.cloudflarestatus.com/" TargetMode="External"/>
  <Relationship Id="rId5"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0" y="0"/>
            <a:ext cx="914400" cy="6858000"/>
            <a:chOff x="0" y="0"/>
            <a:chExt cx="914400" cy="6858000"/>
          </a:xfrm>
        </p:grpSpPr>
        <p:sp>
          <p:nvSpPr>
            <p:cNvPr id="2" name="Rectangle 2"/>
            <p:cNvSpPr/>
            <p:nvPr/>
          </p:nvSpPr>
          <p:spPr>
            <a:xfrm>
              <a:off x="0" y="0"/>
              <a:ext cx="914400" cy="6858000"/>
            </a:xfrm>
            <a:prstGeom prst="rect">
              <a:avLst/>
            </a:prstGeom>
            <a:solidFill>
              <a:schemeClr val="accent1"/>
            </a:solidFill>
            <a:ln>
              <a:noFill/>
            </a:ln>
          </p:spPr>
        </p:sp>
        <p:sp>
          <p:nvSpPr>
            <p:cNvPr id="3" name="Freeform 3"/>
            <p:cNvSpPr/>
            <p:nvPr/>
          </p:nvSpPr>
          <p:spPr>
            <a:xfrm>
              <a:off x="228600" y="658619"/>
              <a:ext cx="457200" cy="206761"/>
            </a:xfrm>
            <a:custGeom>
              <a:avLst/>
              <a:gdLst/>
              <a:ahLst/>
              <a:cxnLst/>
              <a:rect l="l" t="t" r="r" b="b"/>
              <a:pathLst>
                <a:path w="457200" h="206761">
                  <a:moveTo>
                    <a:pt x="314493" y="195672"/>
                  </a:moveTo>
                  <a:cubicBezTo>
                    <a:pt x="317303" y="186018"/>
                    <a:pt x="316222" y="177180"/>
                    <a:pt x="311534" y="170614"/>
                  </a:cubicBezTo>
                  <a:cubicBezTo>
                    <a:pt x="307256" y="164586"/>
                    <a:pt x="300018" y="161108"/>
                    <a:pt x="291313" y="160698"/>
                  </a:cubicBezTo>
                  <a:lnTo>
                    <a:pt x="126355" y="158559"/>
                  </a:lnTo>
                  <a:cubicBezTo>
                    <a:pt x="125331" y="158574"/>
                    <a:pt x="124371" y="158061"/>
                    <a:pt x="123815" y="157201"/>
                  </a:cubicBezTo>
                  <a:cubicBezTo>
                    <a:pt x="123276" y="156401"/>
                    <a:pt x="123147" y="155322"/>
                    <a:pt x="123415" y="154242"/>
                  </a:cubicBezTo>
                  <a:cubicBezTo>
                    <a:pt x="123945" y="152642"/>
                    <a:pt x="125555" y="151415"/>
                    <a:pt x="127294" y="151267"/>
                  </a:cubicBezTo>
                  <a:lnTo>
                    <a:pt x="293713" y="149127"/>
                  </a:lnTo>
                  <a:cubicBezTo>
                    <a:pt x="313432" y="148196"/>
                    <a:pt x="334863" y="132234"/>
                    <a:pt x="342361" y="112673"/>
                  </a:cubicBezTo>
                  <a:lnTo>
                    <a:pt x="351867" y="87883"/>
                  </a:lnTo>
                  <a:cubicBezTo>
                    <a:pt x="352276" y="86815"/>
                    <a:pt x="352425" y="85735"/>
                    <a:pt x="352147" y="84683"/>
                  </a:cubicBezTo>
                  <a:cubicBezTo>
                    <a:pt x="341431" y="36176"/>
                    <a:pt x="298140" y="0"/>
                    <a:pt x="246421" y="0"/>
                  </a:cubicBezTo>
                  <a:cubicBezTo>
                    <a:pt x="198722" y="0"/>
                    <a:pt x="158250" y="30817"/>
                    <a:pt x="143787" y="73560"/>
                  </a:cubicBezTo>
                  <a:cubicBezTo>
                    <a:pt x="134402" y="66591"/>
                    <a:pt x="122476" y="62844"/>
                    <a:pt x="109612" y="64054"/>
                  </a:cubicBezTo>
                  <a:cubicBezTo>
                    <a:pt x="86702" y="66321"/>
                    <a:pt x="68340" y="84685"/>
                    <a:pt x="66062" y="107594"/>
                  </a:cubicBezTo>
                  <a:cubicBezTo>
                    <a:pt x="65522" y="113500"/>
                    <a:pt x="65930" y="119268"/>
                    <a:pt x="67271" y="124625"/>
                  </a:cubicBezTo>
                  <a:cubicBezTo>
                    <a:pt x="29876" y="125688"/>
                    <a:pt x="0" y="156252"/>
                    <a:pt x="0" y="193906"/>
                  </a:cubicBezTo>
                  <a:cubicBezTo>
                    <a:pt x="0" y="197236"/>
                    <a:pt x="271" y="200602"/>
                    <a:pt x="671" y="203951"/>
                  </a:cubicBezTo>
                  <a:cubicBezTo>
                    <a:pt x="939" y="205532"/>
                    <a:pt x="2278" y="206761"/>
                    <a:pt x="3888" y="206761"/>
                  </a:cubicBezTo>
                  <a:lnTo>
                    <a:pt x="308334" y="206761"/>
                  </a:lnTo>
                  <a:cubicBezTo>
                    <a:pt x="310065" y="206761"/>
                    <a:pt x="311683" y="205532"/>
                    <a:pt x="312205" y="203803"/>
                  </a:cubicBezTo>
                  <a:lnTo>
                    <a:pt x="314491" y="195672"/>
                  </a:lnTo>
                  <a:close/>
                  <a:moveTo>
                    <a:pt x="367010" y="89689"/>
                  </a:moveTo>
                  <a:cubicBezTo>
                    <a:pt x="365541" y="89689"/>
                    <a:pt x="363941" y="89689"/>
                    <a:pt x="362470" y="89903"/>
                  </a:cubicBezTo>
                  <a:cubicBezTo>
                    <a:pt x="361392" y="89903"/>
                    <a:pt x="360462" y="90693"/>
                    <a:pt x="360051" y="91762"/>
                  </a:cubicBezTo>
                  <a:lnTo>
                    <a:pt x="353616" y="114134"/>
                  </a:lnTo>
                  <a:cubicBezTo>
                    <a:pt x="350806" y="123789"/>
                    <a:pt x="351867" y="132626"/>
                    <a:pt x="356555" y="139212"/>
                  </a:cubicBezTo>
                  <a:cubicBezTo>
                    <a:pt x="360853" y="145239"/>
                    <a:pt x="368090" y="148699"/>
                    <a:pt x="376796" y="149108"/>
                  </a:cubicBezTo>
                  <a:lnTo>
                    <a:pt x="411918" y="151267"/>
                  </a:lnTo>
                  <a:cubicBezTo>
                    <a:pt x="412979" y="151267"/>
                    <a:pt x="413928" y="151768"/>
                    <a:pt x="414450" y="152606"/>
                  </a:cubicBezTo>
                  <a:cubicBezTo>
                    <a:pt x="414989" y="153425"/>
                    <a:pt x="415119" y="154652"/>
                    <a:pt x="414858" y="155581"/>
                  </a:cubicBezTo>
                  <a:cubicBezTo>
                    <a:pt x="414318" y="157182"/>
                    <a:pt x="412701" y="158410"/>
                    <a:pt x="410971" y="158540"/>
                  </a:cubicBezTo>
                  <a:lnTo>
                    <a:pt x="374376" y="160679"/>
                  </a:lnTo>
                  <a:cubicBezTo>
                    <a:pt x="354545" y="161609"/>
                    <a:pt x="333263" y="177571"/>
                    <a:pt x="325747" y="197141"/>
                  </a:cubicBezTo>
                  <a:lnTo>
                    <a:pt x="323069" y="203970"/>
                  </a:lnTo>
                  <a:cubicBezTo>
                    <a:pt x="322530" y="205329"/>
                    <a:pt x="323479" y="206668"/>
                    <a:pt x="324947" y="206668"/>
                  </a:cubicBezTo>
                  <a:lnTo>
                    <a:pt x="450633" y="206668"/>
                  </a:lnTo>
                  <a:cubicBezTo>
                    <a:pt x="452102" y="206668"/>
                    <a:pt x="453441" y="205736"/>
                    <a:pt x="453853" y="204267"/>
                  </a:cubicBezTo>
                  <a:cubicBezTo>
                    <a:pt x="455990" y="196491"/>
                    <a:pt x="457200" y="188323"/>
                    <a:pt x="457200" y="179878"/>
                  </a:cubicBezTo>
                  <a:cubicBezTo>
                    <a:pt x="457200" y="130300"/>
                    <a:pt x="416719" y="89828"/>
                    <a:pt x="367010" y="89828"/>
                  </a:cubicBezTo>
                </a:path>
              </a:pathLst>
            </a:custGeom>
            <a:solidFill>
              <a:schemeClr val="lt1"/>
            </a:solidFill>
            <a:ln>
              <a:noFill/>
            </a:ln>
          </p:spPr>
        </p:sp>
        <p:sp>
          <p:nvSpPr>
            <p:cNvPr id="4" name="Rectangle 4"/>
            <p:cNvSpPr/>
            <p:nvPr/>
          </p:nvSpPr>
          <p:spPr>
            <a:xfrm>
              <a:off x="228600" y="6096000"/>
              <a:ext cx="457200" cy="28575"/>
            </a:xfrm>
            <a:prstGeom prst="rect">
              <a:avLst/>
            </a:prstGeom>
            <a:solidFill>
              <a:schemeClr val="accent2"/>
            </a:solidFill>
            <a:ln>
              <a:noFill/>
            </a:ln>
          </p:spPr>
        </p:sp>
      </p:grpSp>
      <p:grpSp>
        <p:nvGrpSpPr>
          <p:cNvPr id="7" name="Group 7"/>
          <p:cNvGrpSpPr/>
          <p:nvPr/>
        </p:nvGrpSpPr>
        <p:grpSpPr>
          <a:xfrm>
            <a:off x="1504950" y="1291590"/>
            <a:ext cx="8871204" cy="3219450"/>
            <a:chOff x="1504950" y="1291590"/>
            <a:chExt cx="8871204" cy="3219450"/>
          </a:xfrm>
        </p:grpSpPr>
        <p:sp>
          <p:nvSpPr>
            <p:cNvPr id="6" name="TextBox 6"/>
            <p:cNvSpPr txBox="1"/>
            <p:nvPr/>
          </p:nvSpPr>
          <p:spPr>
            <a:xfrm>
              <a:off x="1504950" y="1291590"/>
              <a:ext cx="8871204" cy="3219450"/>
            </a:xfrm>
            <a:prstGeom prst="rect">
              <a:avLst/>
            </a:prstGeom>
            <a:noFill/>
            <a:ln>
              <a:noFill/>
            </a:ln>
          </p:spPr>
          <p:txBody>
            <a:bodyPr wrap="none" lIns="0" tIns="0" rIns="0" bIns="0" anchor="t" anchorCtr="0">
              <a:spAutoFit/>
            </a:bodyPr>
            <a:lstStyle/>
            <a:p>
              <a:pPr algn="l">
                <a:lnSpc>
                  <a:spcPts val="6000"/>
                </a:lnSpc>
              </a:pPr>
              <a:r>
                <a:rPr lang="en" sz="4800" b="1" dirty="0">
                  <a:solidFill>
                    <a:schemeClr val="dk1"/>
                  </a:solidFill>
                  <a:latin typeface="+mn-lt"/>
                  <a:ea typeface="+mn-ea"/>
                  <a:cs typeface="+mn-cs"/>
                </a:rPr>
                <a:t>A database permissions</a:t>
              </a:r>
              <a:br/>
              <a:r>
                <a:rPr lang="en" sz="4800" b="1" dirty="0">
                  <a:solidFill>
                    <a:schemeClr val="dk1"/>
                  </a:solidFill>
                  <a:latin typeface="+mn-lt"/>
                  <a:ea typeface="+mn-ea"/>
                  <a:cs typeface="+mn-cs"/>
                </a:rPr>
                <a:t>change, not an attack,</a:t>
              </a:r>
              <a:br/>
              <a:r>
                <a:rPr lang="en" sz="4800" b="1" dirty="0">
                  <a:solidFill>
                    <a:schemeClr val="dk1"/>
                  </a:solidFill>
                  <a:latin typeface="+mn-lt"/>
                  <a:ea typeface="+mn-ea"/>
                  <a:cs typeface="+mn-cs"/>
                </a:rPr>
                <a:t>stopped Cloudflare’s core</a:t>
              </a:r>
              <a:br/>
              <a:r>
                <a:rPr lang="en" sz="4800" b="1" dirty="0">
                  <a:solidFill>
                    <a:schemeClr val="dk1"/>
                  </a:solidFill>
                  <a:latin typeface="+mn-lt"/>
                  <a:ea typeface="+mn-ea"/>
                  <a:cs typeface="+mn-cs"/>
                </a:rPr>
                <a:t>traffic on 18 November 2025</a:t>
              </a:r>
            </a:p>
          </p:txBody>
        </p:sp>
      </p:grpSp>
      <p:grpSp>
        <p:nvGrpSpPr>
          <p:cNvPr id="9" name="Group 9"/>
          <p:cNvGrpSpPr/>
          <p:nvPr/>
        </p:nvGrpSpPr>
        <p:grpSpPr>
          <a:xfrm>
            <a:off x="1514094" y="4456748"/>
            <a:ext cx="8278940" cy="724281"/>
            <a:chOff x="1514094" y="4456748"/>
            <a:chExt cx="8278940" cy="724281"/>
          </a:xfrm>
        </p:grpSpPr>
        <p:sp>
          <p:nvSpPr>
            <p:cNvPr id="8" name="TextBox 8"/>
            <p:cNvSpPr txBox="1"/>
            <p:nvPr/>
          </p:nvSpPr>
          <p:spPr>
            <a:xfrm>
              <a:off x="1514094" y="4456748"/>
              <a:ext cx="8278940" cy="724281"/>
            </a:xfrm>
            <a:prstGeom prst="rect">
              <a:avLst/>
            </a:prstGeom>
            <a:noFill/>
            <a:ln>
              <a:noFill/>
            </a:ln>
          </p:spPr>
          <p:txBody>
            <a:bodyPr wrap="none" lIns="0" tIns="0" rIns="0" bIns="0" anchor="t" anchorCtr="0">
              <a:spAutoFit/>
            </a:bodyPr>
            <a:lstStyle/>
            <a:p>
              <a:pPr algn="l">
                <a:lnSpc>
                  <a:spcPts val="2700"/>
                </a:lnSpc>
              </a:pPr>
              <a:r>
                <a:rPr lang="en" sz="1950" dirty="0">
                  <a:solidFill>
                    <a:schemeClr val="accent5"/>
                  </a:solidFill>
                  <a:latin typeface="+mn-lt"/>
                  <a:ea typeface="+mn-ea"/>
                  <a:cs typeface="+mn-cs"/>
                </a:rPr>
                <a:t>“The issue was not caused, directly or indirectly, by a cyber attack</a:t>
              </a:r>
              <a:br/>
              <a:r>
                <a:rPr lang="en" sz="1950" dirty="0">
                  <a:solidFill>
                    <a:schemeClr val="accent5"/>
                  </a:solidFill>
                  <a:latin typeface="+mn-lt"/>
                  <a:ea typeface="+mn-ea"/>
                  <a:cs typeface="+mn-cs"/>
                </a:rPr>
                <a:t>or malicious activity of any kind.” — Cloudflare, 18 November 2025</a:t>
              </a:r>
            </a:p>
          </p:txBody>
        </p:sp>
      </p:grpSp>
      <p:grpSp>
        <p:nvGrpSpPr>
          <p:cNvPr id="12" name="Group 12"/>
          <p:cNvGrpSpPr/>
          <p:nvPr/>
        </p:nvGrpSpPr>
        <p:grpSpPr>
          <a:xfrm>
            <a:off x="1504950" y="5261610"/>
            <a:ext cx="7940802" cy="844296"/>
            <a:chOff x="1504950" y="5261610"/>
            <a:chExt cx="7940802" cy="844296"/>
          </a:xfrm>
        </p:grpSpPr>
        <p:sp>
          <p:nvSpPr>
            <p:cNvPr id="10" name="TextBox 10"/>
            <p:cNvSpPr txBox="1"/>
            <p:nvPr/>
          </p:nvSpPr>
          <p:spPr>
            <a:xfrm>
              <a:off x="1504950" y="5261610"/>
              <a:ext cx="5623865" cy="819150"/>
            </a:xfrm>
            <a:prstGeom prst="rect">
              <a:avLst/>
            </a:prstGeom>
            <a:noFill/>
            <a:ln>
              <a:noFill/>
            </a:ln>
          </p:spPr>
          <p:txBody>
            <a:bodyPr wrap="none" lIns="0" tIns="0" rIns="0" bIns="0" anchor="t" anchorCtr="0">
              <a:spAutoFit/>
            </a:bodyPr>
            <a:lstStyle/>
            <a:p>
              <a:pPr algn="l"/>
              <a:r>
                <a:rPr lang="en" sz="4200" b="1" dirty="0">
                  <a:solidFill>
                    <a:schemeClr val="accent2"/>
                  </a:solidFill>
                  <a:latin typeface="Consolas"/>
                  <a:ea typeface="Consolas"/>
                  <a:cs typeface="Consolas"/>
                </a:rPr>
                <a:t>11:28 → 17:06 UTC</a:t>
              </a:r>
            </a:p>
          </p:txBody>
        </p:sp>
        <p:sp>
          <p:nvSpPr>
            <p:cNvPr id="11" name="TextBox 11"/>
            <p:cNvSpPr txBox="1"/>
            <p:nvPr/>
          </p:nvSpPr>
          <p:spPr>
            <a:xfrm>
              <a:off x="1517904" y="5871210"/>
              <a:ext cx="792784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5 h 38 min from the first customer errors to full restoration — derived from the published timeline.</a:t>
              </a:r>
            </a:p>
          </p:txBody>
        </p:sp>
      </p:grpSp>
      <p:grpSp>
        <p:nvGrpSpPr>
          <p:cNvPr id="14" name="Group 14"/>
          <p:cNvGrpSpPr/>
          <p:nvPr/>
        </p:nvGrpSpPr>
        <p:grpSpPr>
          <a:xfrm>
            <a:off x="1517904" y="6271260"/>
            <a:ext cx="8838747" cy="234696"/>
            <a:chOff x="1517904" y="6271260"/>
            <a:chExt cx="8838747" cy="234696"/>
          </a:xfrm>
        </p:grpSpPr>
        <p:sp>
          <p:nvSpPr>
            <p:cNvPr id="13" name="TextBox 13"/>
            <p:cNvSpPr txBox="1"/>
            <p:nvPr/>
          </p:nvSpPr>
          <p:spPr>
            <a:xfrm>
              <a:off x="1517904" y="6271260"/>
              <a:ext cx="883874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Source: Cloudflare, “Cloudflare outage on November 18, 2025”, Matthew Prince. All times in this deck are UTC.</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600"/>
                                        <p:tgtEl>
                                          <p:spTgt spid="5"/>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838658"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One feature file doubled in size and a fixed 200-feature</a:t>
              </a:r>
              <a:br/>
              <a:r>
                <a:rPr lang="en" sz="2700" b="1" dirty="0">
                  <a:solidFill>
                    <a:schemeClr val="dk1"/>
                  </a:solidFill>
                  <a:latin typeface="+mn-lt"/>
                  <a:ea typeface="+mn-ea"/>
                  <a:cs typeface="+mn-cs"/>
                </a:rPr>
                <a:t>limit turned it into a global 5xx event</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6" name="Group 6"/>
          <p:cNvGrpSpPr/>
          <p:nvPr/>
        </p:nvGrpSpPr>
        <p:grpSpPr>
          <a:xfrm>
            <a:off x="599694" y="1599248"/>
            <a:ext cx="7573137" cy="724281"/>
            <a:chOff x="599694" y="1599248"/>
            <a:chExt cx="7573137" cy="724281"/>
          </a:xfrm>
        </p:grpSpPr>
        <p:sp>
          <p:nvSpPr>
            <p:cNvPr id="5" name="TextBox 5"/>
            <p:cNvSpPr txBox="1"/>
            <p:nvPr/>
          </p:nvSpPr>
          <p:spPr>
            <a:xfrm>
              <a:off x="599694" y="1599248"/>
              <a:ext cx="7573137" cy="724281"/>
            </a:xfrm>
            <a:prstGeom prst="rect">
              <a:avLst/>
            </a:prstGeom>
            <a:noFill/>
            <a:ln>
              <a:noFill/>
            </a:ln>
          </p:spPr>
          <p:txBody>
            <a:bodyPr wrap="none" lIns="0" tIns="0" rIns="0" bIns="0" anchor="t" anchorCtr="0">
              <a:spAutoFit/>
            </a:bodyPr>
            <a:lstStyle/>
            <a:p>
              <a:pPr algn="l">
                <a:lnSpc>
                  <a:spcPts val="2700"/>
                </a:lnSpc>
              </a:pPr>
              <a:r>
                <a:rPr lang="en" sz="1950" dirty="0">
                  <a:solidFill>
                    <a:schemeClr val="dk1"/>
                  </a:solidFill>
                  <a:latin typeface="+mn-lt"/>
                  <a:ea typeface="+mn-ea"/>
                  <a:cs typeface="+mn-cs"/>
                </a:rPr>
                <a:t>The failure was in the ingestion of Cloudflare’s own generated</a:t>
              </a:r>
              <a:br/>
              <a:r>
                <a:rPr lang="en" sz="1950" dirty="0">
                  <a:solidFill>
                    <a:schemeClr val="dk1"/>
                  </a:solidFill>
                  <a:latin typeface="+mn-lt"/>
                  <a:ea typeface="+mn-ea"/>
                  <a:cs typeface="+mn-cs"/>
                </a:rPr>
                <a:t>configuration, not in the traffic that configuration governs.</a:t>
              </a:r>
            </a:p>
          </p:txBody>
        </p:sp>
      </p:grpSp>
      <p:grpSp>
        <p:nvGrpSpPr>
          <p:cNvPr id="11" name="Group 11"/>
          <p:cNvGrpSpPr/>
          <p:nvPr/>
        </p:nvGrpSpPr>
        <p:grpSpPr>
          <a:xfrm>
            <a:off x="590550" y="2360295"/>
            <a:ext cx="1949402" cy="1192911"/>
            <a:chOff x="590550" y="2360295"/>
            <a:chExt cx="1949402" cy="1192911"/>
          </a:xfrm>
        </p:grpSpPr>
        <p:sp>
          <p:nvSpPr>
            <p:cNvPr id="7" name="Freeform 7"/>
            <p:cNvSpPr/>
            <p:nvPr/>
          </p:nvSpPr>
          <p:spPr>
            <a:xfrm>
              <a:off x="609600" y="23622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8" name="TextBox 8"/>
            <p:cNvSpPr txBox="1"/>
            <p:nvPr/>
          </p:nvSpPr>
          <p:spPr>
            <a:xfrm>
              <a:off x="776288" y="2360295"/>
              <a:ext cx="1763664"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NORMAL · CHANGE DEPLOYED</a:t>
              </a:r>
            </a:p>
          </p:txBody>
        </p:sp>
        <p:sp>
          <p:nvSpPr>
            <p:cNvPr id="9" name="TextBox 9"/>
            <p:cNvSpPr txBox="1"/>
            <p:nvPr/>
          </p:nvSpPr>
          <p:spPr>
            <a:xfrm>
              <a:off x="590550" y="2556510"/>
              <a:ext cx="1592961" cy="819150"/>
            </a:xfrm>
            <a:prstGeom prst="rect">
              <a:avLst/>
            </a:prstGeom>
            <a:noFill/>
            <a:ln>
              <a:noFill/>
            </a:ln>
          </p:spPr>
          <p:txBody>
            <a:bodyPr wrap="none" lIns="0" tIns="0" rIns="0" bIns="0" anchor="t" anchorCtr="0">
              <a:spAutoFit/>
            </a:bodyPr>
            <a:lstStyle/>
            <a:p>
              <a:pPr algn="l"/>
              <a:r>
                <a:rPr lang="en" sz="4200" b="1" dirty="0">
                  <a:solidFill>
                    <a:srgbClr val="4A5568"/>
                  </a:solidFill>
                  <a:latin typeface="Consolas"/>
                  <a:ea typeface="Consolas"/>
                  <a:cs typeface="Consolas"/>
                </a:rPr>
                <a:t>11:05</a:t>
              </a:r>
            </a:p>
          </p:txBody>
        </p:sp>
        <p:sp>
          <p:nvSpPr>
            <p:cNvPr id="10" name="TextBox 10"/>
            <p:cNvSpPr txBox="1"/>
            <p:nvPr/>
          </p:nvSpPr>
          <p:spPr>
            <a:xfrm>
              <a:off x="603504" y="3128010"/>
              <a:ext cx="182575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Database access control</a:t>
              </a:r>
              <a:br/>
              <a:r>
                <a:rPr lang="en" sz="1200" dirty="0">
                  <a:solidFill>
                    <a:schemeClr val="accent5"/>
                  </a:solidFill>
                  <a:latin typeface="+mn-lt"/>
                  <a:ea typeface="+mn-ea"/>
                  <a:cs typeface="+mn-cs"/>
                </a:rPr>
                <a:t>change deployed</a:t>
              </a:r>
            </a:p>
          </p:txBody>
        </p:sp>
      </p:grpSp>
      <p:grpSp>
        <p:nvGrpSpPr>
          <p:cNvPr id="16" name="Group 16"/>
          <p:cNvGrpSpPr/>
          <p:nvPr/>
        </p:nvGrpSpPr>
        <p:grpSpPr>
          <a:xfrm>
            <a:off x="3409950" y="2360295"/>
            <a:ext cx="1884426" cy="1192911"/>
            <a:chOff x="3409950" y="2360295"/>
            <a:chExt cx="1884426" cy="1192911"/>
          </a:xfrm>
        </p:grpSpPr>
        <p:sp>
          <p:nvSpPr>
            <p:cNvPr id="12" name="Freeform 12"/>
            <p:cNvSpPr/>
            <p:nvPr/>
          </p:nvSpPr>
          <p:spPr>
            <a:xfrm>
              <a:off x="3429000" y="23622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13" name="TextBox 13"/>
            <p:cNvSpPr txBox="1"/>
            <p:nvPr/>
          </p:nvSpPr>
          <p:spPr>
            <a:xfrm>
              <a:off x="3595688" y="2360295"/>
              <a:ext cx="1609085"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CRITICAL · IMPACT STARTS</a:t>
              </a:r>
            </a:p>
          </p:txBody>
        </p:sp>
        <p:sp>
          <p:nvSpPr>
            <p:cNvPr id="14" name="TextBox 14"/>
            <p:cNvSpPr txBox="1"/>
            <p:nvPr/>
          </p:nvSpPr>
          <p:spPr>
            <a:xfrm>
              <a:off x="3409950" y="2556510"/>
              <a:ext cx="1592961" cy="819150"/>
            </a:xfrm>
            <a:prstGeom prst="rect">
              <a:avLst/>
            </a:prstGeom>
            <a:noFill/>
            <a:ln>
              <a:noFill/>
            </a:ln>
          </p:spPr>
          <p:txBody>
            <a:bodyPr wrap="none" lIns="0" tIns="0" rIns="0" bIns="0" anchor="t" anchorCtr="0">
              <a:spAutoFit/>
            </a:bodyPr>
            <a:lstStyle/>
            <a:p>
              <a:pPr algn="l"/>
              <a:r>
                <a:rPr lang="en" sz="4200" b="1" dirty="0">
                  <a:solidFill>
                    <a:schemeClr val="accent2"/>
                  </a:solidFill>
                  <a:latin typeface="Consolas"/>
                  <a:ea typeface="Consolas"/>
                  <a:cs typeface="Consolas"/>
                </a:rPr>
                <a:t>11:28</a:t>
              </a:r>
            </a:p>
          </p:txBody>
        </p:sp>
        <p:sp>
          <p:nvSpPr>
            <p:cNvPr id="15" name="TextBox 15"/>
            <p:cNvSpPr txBox="1"/>
            <p:nvPr/>
          </p:nvSpPr>
          <p:spPr>
            <a:xfrm>
              <a:off x="3422904" y="3128010"/>
              <a:ext cx="187147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First errors observed on</a:t>
              </a:r>
              <a:br/>
              <a:r>
                <a:rPr lang="en" sz="1200" dirty="0">
                  <a:solidFill>
                    <a:schemeClr val="accent5"/>
                  </a:solidFill>
                  <a:latin typeface="+mn-lt"/>
                  <a:ea typeface="+mn-ea"/>
                  <a:cs typeface="+mn-cs"/>
                </a:rPr>
                <a:t>customer HTTP traffic</a:t>
              </a:r>
            </a:p>
          </p:txBody>
        </p:sp>
      </p:grpSp>
      <p:grpSp>
        <p:nvGrpSpPr>
          <p:cNvPr id="21" name="Group 21"/>
          <p:cNvGrpSpPr/>
          <p:nvPr/>
        </p:nvGrpSpPr>
        <p:grpSpPr>
          <a:xfrm>
            <a:off x="6229350" y="2360295"/>
            <a:ext cx="2043494" cy="1192911"/>
            <a:chOff x="6229350" y="2360295"/>
            <a:chExt cx="2043494" cy="1192911"/>
          </a:xfrm>
        </p:grpSpPr>
        <p:sp>
          <p:nvSpPr>
            <p:cNvPr id="17" name="Freeform 17"/>
            <p:cNvSpPr/>
            <p:nvPr/>
          </p:nvSpPr>
          <p:spPr>
            <a:xfrm>
              <a:off x="6248400" y="236220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8" name="TextBox 18"/>
            <p:cNvSpPr txBox="1"/>
            <p:nvPr/>
          </p:nvSpPr>
          <p:spPr>
            <a:xfrm>
              <a:off x="6415088" y="2360295"/>
              <a:ext cx="1857756"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DEGRADED · MAIN IMPACT ENDS</a:t>
              </a:r>
            </a:p>
          </p:txBody>
        </p:sp>
        <p:sp>
          <p:nvSpPr>
            <p:cNvPr id="19" name="TextBox 19"/>
            <p:cNvSpPr txBox="1"/>
            <p:nvPr/>
          </p:nvSpPr>
          <p:spPr>
            <a:xfrm>
              <a:off x="6229350" y="2556510"/>
              <a:ext cx="1592961" cy="819150"/>
            </a:xfrm>
            <a:prstGeom prst="rect">
              <a:avLst/>
            </a:prstGeom>
            <a:noFill/>
            <a:ln>
              <a:noFill/>
            </a:ln>
          </p:spPr>
          <p:txBody>
            <a:bodyPr wrap="none" lIns="0" tIns="0" rIns="0" bIns="0" anchor="t" anchorCtr="0">
              <a:spAutoFit/>
            </a:bodyPr>
            <a:lstStyle/>
            <a:p>
              <a:pPr algn="l"/>
              <a:r>
                <a:rPr lang="en" sz="4200" b="1" dirty="0">
                  <a:solidFill>
                    <a:schemeClr val="accent3"/>
                  </a:solidFill>
                  <a:latin typeface="Consolas"/>
                  <a:ea typeface="Consolas"/>
                  <a:cs typeface="Consolas"/>
                </a:rPr>
                <a:t>14:30</a:t>
              </a:r>
            </a:p>
          </p:txBody>
        </p:sp>
        <p:sp>
          <p:nvSpPr>
            <p:cNvPr id="20" name="TextBox 20"/>
            <p:cNvSpPr txBox="1"/>
            <p:nvPr/>
          </p:nvSpPr>
          <p:spPr>
            <a:xfrm>
              <a:off x="6242304" y="3128010"/>
              <a:ext cx="196291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Correct configuration file</a:t>
              </a:r>
              <a:br/>
              <a:r>
                <a:rPr lang="en" sz="1200" dirty="0">
                  <a:solidFill>
                    <a:schemeClr val="accent5"/>
                  </a:solidFill>
                  <a:latin typeface="+mn-lt"/>
                  <a:ea typeface="+mn-ea"/>
                  <a:cs typeface="+mn-cs"/>
                </a:rPr>
                <a:t>deployed globally</a:t>
              </a:r>
            </a:p>
          </p:txBody>
        </p:sp>
      </p:grpSp>
      <p:grpSp>
        <p:nvGrpSpPr>
          <p:cNvPr id="26" name="Group 26"/>
          <p:cNvGrpSpPr/>
          <p:nvPr/>
        </p:nvGrpSpPr>
        <p:grpSpPr>
          <a:xfrm>
            <a:off x="9048750" y="2360295"/>
            <a:ext cx="1922519" cy="1192911"/>
            <a:chOff x="9048750" y="2360295"/>
            <a:chExt cx="1922519" cy="1192911"/>
          </a:xfrm>
        </p:grpSpPr>
        <p:sp>
          <p:nvSpPr>
            <p:cNvPr id="22" name="Freeform 22"/>
            <p:cNvSpPr/>
            <p:nvPr/>
          </p:nvSpPr>
          <p:spPr>
            <a:xfrm>
              <a:off x="9067800" y="23622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23" name="TextBox 23"/>
            <p:cNvSpPr txBox="1"/>
            <p:nvPr/>
          </p:nvSpPr>
          <p:spPr>
            <a:xfrm>
              <a:off x="9234488" y="2360295"/>
              <a:ext cx="1736781"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RECOVERED · ALL RESOLVED</a:t>
              </a:r>
            </a:p>
          </p:txBody>
        </p:sp>
        <p:sp>
          <p:nvSpPr>
            <p:cNvPr id="24" name="TextBox 24"/>
            <p:cNvSpPr txBox="1"/>
            <p:nvPr/>
          </p:nvSpPr>
          <p:spPr>
            <a:xfrm>
              <a:off x="9048750" y="2556510"/>
              <a:ext cx="1592961" cy="819150"/>
            </a:xfrm>
            <a:prstGeom prst="rect">
              <a:avLst/>
            </a:prstGeom>
            <a:noFill/>
            <a:ln>
              <a:noFill/>
            </a:ln>
          </p:spPr>
          <p:txBody>
            <a:bodyPr wrap="none" lIns="0" tIns="0" rIns="0" bIns="0" anchor="t" anchorCtr="0">
              <a:spAutoFit/>
            </a:bodyPr>
            <a:lstStyle/>
            <a:p>
              <a:pPr algn="l"/>
              <a:r>
                <a:rPr lang="en" sz="4200" b="1" dirty="0">
                  <a:solidFill>
                    <a:srgbClr val="2E7D5B"/>
                  </a:solidFill>
                  <a:latin typeface="Consolas"/>
                  <a:ea typeface="Consolas"/>
                  <a:cs typeface="Consolas"/>
                </a:rPr>
                <a:t>17:06</a:t>
              </a:r>
            </a:p>
          </p:txBody>
        </p:sp>
        <p:sp>
          <p:nvSpPr>
            <p:cNvPr id="25" name="TextBox 25"/>
            <p:cNvSpPr txBox="1"/>
            <p:nvPr/>
          </p:nvSpPr>
          <p:spPr>
            <a:xfrm>
              <a:off x="9061704" y="3128010"/>
              <a:ext cx="1810512"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accent5"/>
                  </a:solidFill>
                  <a:latin typeface="+mn-lt"/>
                  <a:ea typeface="+mn-ea"/>
                  <a:cs typeface="+mn-cs"/>
                </a:rPr>
                <a:t>All downstream services</a:t>
              </a:r>
              <a:br/>
              <a:r>
                <a:rPr lang="en" sz="1200" dirty="0">
                  <a:solidFill>
                    <a:schemeClr val="accent5"/>
                  </a:solidFill>
                  <a:latin typeface="+mn-lt"/>
                  <a:ea typeface="+mn-ea"/>
                  <a:cs typeface="+mn-cs"/>
                </a:rPr>
                <a:t>restarted and restored</a:t>
              </a:r>
            </a:p>
          </p:txBody>
        </p:sp>
      </p:grpSp>
      <p:grpSp>
        <p:nvGrpSpPr>
          <p:cNvPr id="29" name="Group 29"/>
          <p:cNvGrpSpPr/>
          <p:nvPr/>
        </p:nvGrpSpPr>
        <p:grpSpPr>
          <a:xfrm>
            <a:off x="601980" y="3827145"/>
            <a:ext cx="4196715" cy="1085850"/>
            <a:chOff x="601980" y="3827145"/>
            <a:chExt cx="4196715" cy="1085850"/>
          </a:xfrm>
        </p:grpSpPr>
        <p:sp>
          <p:nvSpPr>
            <p:cNvPr id="27" name="TextBox 27"/>
            <p:cNvSpPr txBox="1"/>
            <p:nvPr/>
          </p:nvSpPr>
          <p:spPr>
            <a:xfrm>
              <a:off x="604838" y="3827145"/>
              <a:ext cx="493425"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TRIGGER</a:t>
              </a:r>
            </a:p>
          </p:txBody>
        </p:sp>
        <p:sp>
          <p:nvSpPr>
            <p:cNvPr id="28" name="TextBox 28"/>
            <p:cNvSpPr txBox="1"/>
            <p:nvPr/>
          </p:nvSpPr>
          <p:spPr>
            <a:xfrm>
              <a:off x="601980" y="4048125"/>
              <a:ext cx="4196715"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A change to one of Cloudflare’s database</a:t>
              </a:r>
              <a:br/>
              <a:r>
                <a:rPr lang="en" sz="1500" dirty="0">
                  <a:solidFill>
                    <a:schemeClr val="dk1"/>
                  </a:solidFill>
                  <a:latin typeface="+mn-lt"/>
                  <a:ea typeface="+mn-ea"/>
                  <a:cs typeface="+mn-cs"/>
                </a:rPr>
                <a:t>systems’ permissions made the query output</a:t>
              </a:r>
              <a:br/>
              <a:r>
                <a:rPr lang="en" sz="1500" dirty="0">
                  <a:solidFill>
                    <a:schemeClr val="dk1"/>
                  </a:solidFill>
                  <a:latin typeface="+mn-lt"/>
                  <a:ea typeface="+mn-ea"/>
                  <a:cs typeface="+mn-cs"/>
                </a:rPr>
                <a:t>duplicate entries into the feature file.</a:t>
              </a:r>
            </a:p>
          </p:txBody>
        </p:sp>
      </p:grpSp>
      <p:grpSp>
        <p:nvGrpSpPr>
          <p:cNvPr id="32" name="Group 32"/>
          <p:cNvGrpSpPr/>
          <p:nvPr/>
        </p:nvGrpSpPr>
        <p:grpSpPr>
          <a:xfrm>
            <a:off x="6316980" y="3827145"/>
            <a:ext cx="3882390" cy="1085850"/>
            <a:chOff x="6316980" y="3827145"/>
            <a:chExt cx="3882390" cy="1085850"/>
          </a:xfrm>
        </p:grpSpPr>
        <p:sp>
          <p:nvSpPr>
            <p:cNvPr id="30" name="TextBox 30"/>
            <p:cNvSpPr txBox="1"/>
            <p:nvPr/>
          </p:nvSpPr>
          <p:spPr>
            <a:xfrm>
              <a:off x="6319838" y="3827145"/>
              <a:ext cx="695051"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MECHANISM</a:t>
              </a:r>
            </a:p>
          </p:txBody>
        </p:sp>
        <p:sp>
          <p:nvSpPr>
            <p:cNvPr id="31" name="TextBox 31"/>
            <p:cNvSpPr txBox="1"/>
            <p:nvPr/>
          </p:nvSpPr>
          <p:spPr>
            <a:xfrm>
              <a:off x="6316980" y="4048125"/>
              <a:ext cx="3882390"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The file doubled in size and passed the</a:t>
              </a:r>
              <a:br/>
              <a:r>
                <a:rPr lang="en" sz="1500" dirty="0">
                  <a:solidFill>
                    <a:schemeClr val="dk1"/>
                  </a:solidFill>
                  <a:latin typeface="+mn-lt"/>
                  <a:ea typeface="+mn-ea"/>
                  <a:cs typeface="+mn-cs"/>
                </a:rPr>
                <a:t>bots module’s preallocated limit of 200</a:t>
              </a:r>
              <a:br/>
              <a:r>
                <a:rPr lang="en" sz="1500" dirty="0">
                  <a:solidFill>
                    <a:schemeClr val="dk1"/>
                  </a:solidFill>
                  <a:latin typeface="+mn-lt"/>
                  <a:ea typeface="+mn-ea"/>
                  <a:cs typeface="+mn-cs"/>
                </a:rPr>
                <a:t>features, against roughly 60 then in use.</a:t>
              </a:r>
            </a:p>
          </p:txBody>
        </p:sp>
      </p:grpSp>
      <p:grpSp>
        <p:nvGrpSpPr>
          <p:cNvPr id="35" name="Group 35"/>
          <p:cNvGrpSpPr/>
          <p:nvPr/>
        </p:nvGrpSpPr>
        <p:grpSpPr>
          <a:xfrm>
            <a:off x="601980" y="5236845"/>
            <a:ext cx="4006215" cy="1085850"/>
            <a:chOff x="601980" y="5236845"/>
            <a:chExt cx="4006215" cy="1085850"/>
          </a:xfrm>
        </p:grpSpPr>
        <p:sp>
          <p:nvSpPr>
            <p:cNvPr id="33" name="TextBox 33"/>
            <p:cNvSpPr txBox="1"/>
            <p:nvPr/>
          </p:nvSpPr>
          <p:spPr>
            <a:xfrm>
              <a:off x="604838" y="5236845"/>
              <a:ext cx="406055"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SCOPE</a:t>
              </a:r>
            </a:p>
          </p:txBody>
        </p:sp>
        <p:sp>
          <p:nvSpPr>
            <p:cNvPr id="34" name="TextBox 34"/>
            <p:cNvSpPr txBox="1"/>
            <p:nvPr/>
          </p:nvSpPr>
          <p:spPr>
            <a:xfrm>
              <a:off x="601980" y="5457825"/>
              <a:ext cx="4006215"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Core CDN and security services, Turnstile,</a:t>
              </a:r>
              <a:br/>
              <a:r>
                <a:rPr lang="en" sz="1500" dirty="0">
                  <a:solidFill>
                    <a:schemeClr val="dk1"/>
                  </a:solidFill>
                  <a:latin typeface="+mn-lt"/>
                  <a:ea typeface="+mn-ea"/>
                  <a:cs typeface="+mn-cs"/>
                </a:rPr>
                <a:t>Workers KV, Dashboard, Email Security and</a:t>
              </a:r>
              <a:br/>
              <a:r>
                <a:rPr lang="en" sz="1500" dirty="0">
                  <a:solidFill>
                    <a:schemeClr val="dk1"/>
                  </a:solidFill>
                  <a:latin typeface="+mn-lt"/>
                  <a:ea typeface="+mn-ea"/>
                  <a:cs typeface="+mn-cs"/>
                </a:rPr>
                <a:t>Access were affected, in different ways.</a:t>
              </a:r>
            </a:p>
          </p:txBody>
        </p:sp>
      </p:grpSp>
      <p:grpSp>
        <p:nvGrpSpPr>
          <p:cNvPr id="38" name="Group 38"/>
          <p:cNvGrpSpPr/>
          <p:nvPr/>
        </p:nvGrpSpPr>
        <p:grpSpPr>
          <a:xfrm>
            <a:off x="6316980" y="5236845"/>
            <a:ext cx="3958590" cy="1085850"/>
            <a:chOff x="6316980" y="5236845"/>
            <a:chExt cx="3958590" cy="1085850"/>
          </a:xfrm>
        </p:grpSpPr>
        <p:sp>
          <p:nvSpPr>
            <p:cNvPr id="36" name="TextBox 36"/>
            <p:cNvSpPr txBox="1"/>
            <p:nvPr/>
          </p:nvSpPr>
          <p:spPr>
            <a:xfrm>
              <a:off x="6319838" y="5236845"/>
              <a:ext cx="627842"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RECOVERY</a:t>
              </a:r>
            </a:p>
          </p:txBody>
        </p:sp>
        <p:sp>
          <p:nvSpPr>
            <p:cNvPr id="37" name="TextBox 37"/>
            <p:cNvSpPr txBox="1"/>
            <p:nvPr/>
          </p:nvSpPr>
          <p:spPr>
            <a:xfrm>
              <a:off x="6316980" y="5457825"/>
              <a:ext cx="3958590"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Core traffic was largely flowing as normal</a:t>
              </a:r>
              <a:br/>
              <a:r>
                <a:rPr lang="en" sz="1500" dirty="0">
                  <a:solidFill>
                    <a:schemeClr val="dk1"/>
                  </a:solidFill>
                  <a:latin typeface="+mn-lt"/>
                  <a:ea typeface="+mn-ea"/>
                  <a:cs typeface="+mn-cs"/>
                </a:rPr>
                <a:t>by 14:30, and all remaining services were</a:t>
              </a:r>
              <a:br/>
              <a:r>
                <a:rPr lang="en" sz="1500" dirty="0">
                  <a:solidFill>
                    <a:schemeClr val="dk1"/>
                  </a:solidFill>
                  <a:latin typeface="+mn-lt"/>
                  <a:ea typeface="+mn-ea"/>
                  <a:cs typeface="+mn-cs"/>
                </a:rPr>
                <a:t>restored at 17:06.</a:t>
              </a:r>
            </a:p>
          </p:txBody>
        </p:sp>
      </p:grpSp>
      <p:grpSp>
        <p:nvGrpSpPr>
          <p:cNvPr id="41" name="Group 41"/>
          <p:cNvGrpSpPr/>
          <p:nvPr/>
        </p:nvGrpSpPr>
        <p:grpSpPr>
          <a:xfrm>
            <a:off x="604838" y="6494145"/>
            <a:ext cx="10982325" cy="176212"/>
            <a:chOff x="604838" y="6494145"/>
            <a:chExt cx="10982325" cy="176212"/>
          </a:xfrm>
        </p:grpSpPr>
        <p:sp>
          <p:nvSpPr>
            <p:cNvPr id="39" name="TextBox 39"/>
            <p:cNvSpPr txBox="1"/>
            <p:nvPr/>
          </p:nvSpPr>
          <p:spPr>
            <a:xfrm>
              <a:off x="604838" y="6494145"/>
              <a:ext cx="413918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All times UTC.</a:t>
              </a:r>
            </a:p>
          </p:txBody>
        </p:sp>
        <p:sp>
          <p:nvSpPr>
            <p:cNvPr id="40" name="TextBox 40"/>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300"/>
                                        <p:tgtEl>
                                          <p:spTgt spid="16"/>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300"/>
                                        <p:tgtEl>
                                          <p:spTgt spid="21"/>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3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798442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Six product surfaces failed, and two of them</a:t>
              </a:r>
              <a:br/>
              <a:r>
                <a:rPr lang="en" sz="2700" b="1" dirty="0">
                  <a:solidFill>
                    <a:schemeClr val="dk1"/>
                  </a:solidFill>
                  <a:latin typeface="+mn-lt"/>
                  <a:ea typeface="+mn-ea"/>
                  <a:cs typeface="+mn-cs"/>
                </a:rPr>
                <a:t>degraded rather than stopped</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9" name="Group 39"/>
          <p:cNvGrpSpPr/>
          <p:nvPr/>
        </p:nvGrpSpPr>
        <p:grpSpPr>
          <a:xfrm>
            <a:off x="609600" y="1737360"/>
            <a:ext cx="10972800" cy="3653790"/>
            <a:chOff x="609600" y="1737360"/>
            <a:chExt cx="10972800" cy="3653790"/>
          </a:xfrm>
        </p:grpSpPr>
        <p:sp>
          <p:nvSpPr>
            <p:cNvPr id="5" name="Rectangle 5"/>
            <p:cNvSpPr/>
            <p:nvPr/>
          </p:nvSpPr>
          <p:spPr>
            <a:xfrm>
              <a:off x="609600" y="2047875"/>
              <a:ext cx="1428750" cy="381000"/>
            </a:xfrm>
            <a:prstGeom prst="rect">
              <a:avLst/>
            </a:prstGeom>
            <a:solidFill>
              <a:srgbClr val="F7E4E2"/>
            </a:solidFill>
            <a:ln>
              <a:noFill/>
            </a:ln>
          </p:spPr>
        </p:sp>
        <p:sp>
          <p:nvSpPr>
            <p:cNvPr id="6" name="Rectangle 6"/>
            <p:cNvSpPr/>
            <p:nvPr/>
          </p:nvSpPr>
          <p:spPr>
            <a:xfrm>
              <a:off x="609600" y="2428875"/>
              <a:ext cx="1428750" cy="381000"/>
            </a:xfrm>
            <a:prstGeom prst="rect">
              <a:avLst/>
            </a:prstGeom>
            <a:solidFill>
              <a:srgbClr val="F7E4E2"/>
            </a:solidFill>
            <a:ln>
              <a:noFill/>
            </a:ln>
          </p:spPr>
        </p:sp>
        <p:sp>
          <p:nvSpPr>
            <p:cNvPr id="7" name="Rectangle 7"/>
            <p:cNvSpPr/>
            <p:nvPr/>
          </p:nvSpPr>
          <p:spPr>
            <a:xfrm>
              <a:off x="609600" y="2809875"/>
              <a:ext cx="1428750" cy="590550"/>
            </a:xfrm>
            <a:prstGeom prst="rect">
              <a:avLst/>
            </a:prstGeom>
            <a:solidFill>
              <a:srgbClr val="F7E4E2"/>
            </a:solidFill>
            <a:ln>
              <a:noFill/>
            </a:ln>
          </p:spPr>
        </p:sp>
        <p:sp>
          <p:nvSpPr>
            <p:cNvPr id="8" name="Rectangle 8"/>
            <p:cNvSpPr/>
            <p:nvPr/>
          </p:nvSpPr>
          <p:spPr>
            <a:xfrm>
              <a:off x="609600" y="3400425"/>
              <a:ext cx="1428750" cy="590550"/>
            </a:xfrm>
            <a:prstGeom prst="rect">
              <a:avLst/>
            </a:prstGeom>
            <a:solidFill>
              <a:srgbClr val="F7E4E2"/>
            </a:solidFill>
            <a:ln>
              <a:noFill/>
            </a:ln>
          </p:spPr>
        </p:sp>
        <p:sp>
          <p:nvSpPr>
            <p:cNvPr id="9" name="Rectangle 9"/>
            <p:cNvSpPr/>
            <p:nvPr/>
          </p:nvSpPr>
          <p:spPr>
            <a:xfrm>
              <a:off x="609600" y="3990975"/>
              <a:ext cx="1428750" cy="590550"/>
            </a:xfrm>
            <a:prstGeom prst="rect">
              <a:avLst/>
            </a:prstGeom>
            <a:solidFill>
              <a:srgbClr val="FAF0DC"/>
            </a:solidFill>
            <a:ln>
              <a:noFill/>
            </a:ln>
          </p:spPr>
        </p:sp>
        <p:sp>
          <p:nvSpPr>
            <p:cNvPr id="10" name="Rectangle 10"/>
            <p:cNvSpPr/>
            <p:nvPr/>
          </p:nvSpPr>
          <p:spPr>
            <a:xfrm>
              <a:off x="609600" y="4581525"/>
              <a:ext cx="1428750" cy="800100"/>
            </a:xfrm>
            <a:prstGeom prst="rect">
              <a:avLst/>
            </a:prstGeom>
            <a:solidFill>
              <a:srgbClr val="FAF0DC"/>
            </a:solidFill>
            <a:ln>
              <a:noFill/>
            </a:ln>
          </p:spPr>
        </p:sp>
        <p:sp>
          <p:nvSpPr>
            <p:cNvPr id="11" name="Line 11"/>
            <p:cNvSpPr/>
            <p:nvPr/>
          </p:nvSpPr>
          <p:spPr>
            <a:xfrm>
              <a:off x="609600" y="2047875"/>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2" name="Line 12"/>
            <p:cNvSpPr/>
            <p:nvPr/>
          </p:nvSpPr>
          <p:spPr>
            <a:xfrm>
              <a:off x="609600" y="24288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28098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Line 14"/>
            <p:cNvSpPr/>
            <p:nvPr/>
          </p:nvSpPr>
          <p:spPr>
            <a:xfrm>
              <a:off x="609600" y="34004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Line 15"/>
            <p:cNvSpPr/>
            <p:nvPr/>
          </p:nvSpPr>
          <p:spPr>
            <a:xfrm>
              <a:off x="609600" y="39909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6" name="Line 16"/>
            <p:cNvSpPr/>
            <p:nvPr/>
          </p:nvSpPr>
          <p:spPr>
            <a:xfrm>
              <a:off x="609600" y="45815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Line 17"/>
            <p:cNvSpPr/>
            <p:nvPr/>
          </p:nvSpPr>
          <p:spPr>
            <a:xfrm>
              <a:off x="609600" y="5381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TextBox 18"/>
            <p:cNvSpPr txBox="1"/>
            <p:nvPr/>
          </p:nvSpPr>
          <p:spPr>
            <a:xfrm>
              <a:off x="717804" y="1737360"/>
              <a:ext cx="721101"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Severity</a:t>
              </a:r>
            </a:p>
          </p:txBody>
        </p:sp>
        <p:sp>
          <p:nvSpPr>
            <p:cNvPr id="19" name="TextBox 19"/>
            <p:cNvSpPr txBox="1"/>
            <p:nvPr/>
          </p:nvSpPr>
          <p:spPr>
            <a:xfrm>
              <a:off x="2146554" y="1737360"/>
              <a:ext cx="1569717"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Service or product</a:t>
              </a:r>
            </a:p>
          </p:txBody>
        </p:sp>
        <p:sp>
          <p:nvSpPr>
            <p:cNvPr id="20" name="TextBox 20"/>
            <p:cNvSpPr txBox="1"/>
            <p:nvPr/>
          </p:nvSpPr>
          <p:spPr>
            <a:xfrm>
              <a:off x="4908804" y="1737360"/>
              <a:ext cx="161194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Impact as published</a:t>
              </a:r>
            </a:p>
          </p:txBody>
        </p:sp>
        <p:sp>
          <p:nvSpPr>
            <p:cNvPr id="21" name="TextBox 21"/>
            <p:cNvSpPr txBox="1"/>
            <p:nvPr/>
          </p:nvSpPr>
          <p:spPr>
            <a:xfrm>
              <a:off x="717804" y="2118360"/>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22" name="TextBox 22"/>
            <p:cNvSpPr txBox="1"/>
            <p:nvPr/>
          </p:nvSpPr>
          <p:spPr>
            <a:xfrm>
              <a:off x="2146554" y="2118360"/>
              <a:ext cx="2578667"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Core CDN and security services</a:t>
              </a:r>
            </a:p>
          </p:txBody>
        </p:sp>
        <p:sp>
          <p:nvSpPr>
            <p:cNvPr id="23" name="TextBox 23"/>
            <p:cNvSpPr txBox="1"/>
            <p:nvPr/>
          </p:nvSpPr>
          <p:spPr>
            <a:xfrm>
              <a:off x="4908804" y="2118360"/>
              <a:ext cx="3662316"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HTTP 5xx status codes returned to end users.</a:t>
              </a:r>
            </a:p>
          </p:txBody>
        </p:sp>
        <p:sp>
          <p:nvSpPr>
            <p:cNvPr id="24" name="TextBox 24"/>
            <p:cNvSpPr txBox="1"/>
            <p:nvPr/>
          </p:nvSpPr>
          <p:spPr>
            <a:xfrm>
              <a:off x="717804" y="2499360"/>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25" name="TextBox 25"/>
            <p:cNvSpPr txBox="1"/>
            <p:nvPr/>
          </p:nvSpPr>
          <p:spPr>
            <a:xfrm>
              <a:off x="2146554" y="2499360"/>
              <a:ext cx="771754"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Turnstile</a:t>
              </a:r>
            </a:p>
          </p:txBody>
        </p:sp>
        <p:sp>
          <p:nvSpPr>
            <p:cNvPr id="26" name="TextBox 26"/>
            <p:cNvSpPr txBox="1"/>
            <p:nvPr/>
          </p:nvSpPr>
          <p:spPr>
            <a:xfrm>
              <a:off x="4908804" y="2499360"/>
              <a:ext cx="191545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Turnstile failed to load.</a:t>
              </a:r>
            </a:p>
          </p:txBody>
        </p:sp>
        <p:sp>
          <p:nvSpPr>
            <p:cNvPr id="27" name="TextBox 27"/>
            <p:cNvSpPr txBox="1"/>
            <p:nvPr/>
          </p:nvSpPr>
          <p:spPr>
            <a:xfrm>
              <a:off x="717804" y="2880360"/>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28" name="TextBox 28"/>
            <p:cNvSpPr txBox="1"/>
            <p:nvPr/>
          </p:nvSpPr>
          <p:spPr>
            <a:xfrm>
              <a:off x="2146554" y="2880360"/>
              <a:ext cx="95407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Workers KV</a:t>
              </a:r>
            </a:p>
          </p:txBody>
        </p:sp>
        <p:sp>
          <p:nvSpPr>
            <p:cNvPr id="29" name="TextBox 29"/>
            <p:cNvSpPr txBox="1"/>
            <p:nvPr/>
          </p:nvSpPr>
          <p:spPr>
            <a:xfrm>
              <a:off x="4908804" y="2880360"/>
              <a:ext cx="45918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Significantly elevated HTTP 5xx errors, as requests to the KV</a:t>
              </a:r>
              <a:br/>
              <a:r>
                <a:rPr lang="en" sz="1200" dirty="0">
                  <a:solidFill>
                    <a:schemeClr val="dk1"/>
                  </a:solidFill>
                  <a:latin typeface="+mn-lt"/>
                  <a:ea typeface="+mn-ea"/>
                  <a:cs typeface="+mn-cs"/>
                </a:rPr>
                <a:t>front-end gateway failed with the core proxy.</a:t>
              </a:r>
            </a:p>
          </p:txBody>
        </p:sp>
        <p:sp>
          <p:nvSpPr>
            <p:cNvPr id="30" name="TextBox 30"/>
            <p:cNvSpPr txBox="1"/>
            <p:nvPr/>
          </p:nvSpPr>
          <p:spPr>
            <a:xfrm>
              <a:off x="717804" y="3470910"/>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31" name="TextBox 31"/>
            <p:cNvSpPr txBox="1"/>
            <p:nvPr/>
          </p:nvSpPr>
          <p:spPr>
            <a:xfrm>
              <a:off x="2146554" y="3470910"/>
              <a:ext cx="577223"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Access</a:t>
              </a:r>
            </a:p>
          </p:txBody>
        </p:sp>
        <p:sp>
          <p:nvSpPr>
            <p:cNvPr id="32" name="TextBox 32"/>
            <p:cNvSpPr txBox="1"/>
            <p:nvPr/>
          </p:nvSpPr>
          <p:spPr>
            <a:xfrm>
              <a:off x="4908804" y="3470910"/>
              <a:ext cx="60929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Widespread authentication failures until the rollback was initiated</a:t>
              </a:r>
              <a:br/>
              <a:r>
                <a:rPr lang="en" sz="1200" dirty="0">
                  <a:solidFill>
                    <a:schemeClr val="dk1"/>
                  </a:solidFill>
                  <a:latin typeface="+mn-lt"/>
                  <a:ea typeface="+mn-ea"/>
                  <a:cs typeface="+mn-cs"/>
                </a:rPr>
                <a:t>at 13:05; existing sessions unaffected, failed attempts returned an error page.</a:t>
              </a:r>
            </a:p>
          </p:txBody>
        </p:sp>
        <p:sp>
          <p:nvSpPr>
            <p:cNvPr id="33" name="TextBox 33"/>
            <p:cNvSpPr txBox="1"/>
            <p:nvPr/>
          </p:nvSpPr>
          <p:spPr>
            <a:xfrm>
              <a:off x="717804" y="4061460"/>
              <a:ext cx="76380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Degraded</a:t>
              </a:r>
            </a:p>
          </p:txBody>
        </p:sp>
        <p:sp>
          <p:nvSpPr>
            <p:cNvPr id="34" name="TextBox 34"/>
            <p:cNvSpPr txBox="1"/>
            <p:nvPr/>
          </p:nvSpPr>
          <p:spPr>
            <a:xfrm>
              <a:off x="2146554" y="4061460"/>
              <a:ext cx="857098"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Dashboard</a:t>
              </a:r>
            </a:p>
          </p:txBody>
        </p:sp>
        <p:sp>
          <p:nvSpPr>
            <p:cNvPr id="35" name="TextBox 35"/>
            <p:cNvSpPr txBox="1"/>
            <p:nvPr/>
          </p:nvSpPr>
          <p:spPr>
            <a:xfrm>
              <a:off x="4908804" y="4061460"/>
              <a:ext cx="44470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Mostly operational, but most users could not log in because</a:t>
              </a:r>
              <a:br/>
              <a:r>
                <a:rPr lang="en" sz="1200" dirty="0">
                  <a:solidFill>
                    <a:schemeClr val="dk1"/>
                  </a:solidFill>
                  <a:latin typeface="+mn-lt"/>
                  <a:ea typeface="+mn-ea"/>
                  <a:cs typeface="+mn-cs"/>
                </a:rPr>
                <a:t>Turnstile was unavailable on the login page.</a:t>
              </a:r>
            </a:p>
          </p:txBody>
        </p:sp>
        <p:sp>
          <p:nvSpPr>
            <p:cNvPr id="36" name="TextBox 36"/>
            <p:cNvSpPr txBox="1"/>
            <p:nvPr/>
          </p:nvSpPr>
          <p:spPr>
            <a:xfrm>
              <a:off x="717804" y="4652010"/>
              <a:ext cx="76380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Degraded</a:t>
              </a:r>
            </a:p>
          </p:txBody>
        </p:sp>
        <p:sp>
          <p:nvSpPr>
            <p:cNvPr id="37" name="TextBox 37"/>
            <p:cNvSpPr txBox="1"/>
            <p:nvPr/>
          </p:nvSpPr>
          <p:spPr>
            <a:xfrm>
              <a:off x="2146554" y="4652010"/>
              <a:ext cx="119277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Email Security</a:t>
              </a:r>
            </a:p>
          </p:txBody>
        </p:sp>
        <p:sp>
          <p:nvSpPr>
            <p:cNvPr id="38" name="TextBox 38"/>
            <p:cNvSpPr txBox="1"/>
            <p:nvPr/>
          </p:nvSpPr>
          <p:spPr>
            <a:xfrm>
              <a:off x="4908804" y="4652010"/>
              <a:ext cx="582625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Processing and delivery unaffected. Temporary loss of an IP reputation</a:t>
              </a:r>
              <a:br/>
              <a:r>
                <a:rPr lang="en" sz="1200" dirty="0">
                  <a:solidFill>
                    <a:schemeClr val="dk1"/>
                  </a:solidFill>
                  <a:latin typeface="+mn-lt"/>
                  <a:ea typeface="+mn-ea"/>
                  <a:cs typeface="+mn-cs"/>
                </a:rPr>
                <a:t>source reduced spam-detection accuracy and prevented some new-domain-age</a:t>
              </a:r>
              <a:br/>
              <a:r>
                <a:rPr lang="en" sz="1200" dirty="0">
                  <a:solidFill>
                    <a:schemeClr val="dk1"/>
                  </a:solidFill>
                  <a:latin typeface="+mn-lt"/>
                  <a:ea typeface="+mn-ea"/>
                  <a:cs typeface="+mn-cs"/>
                </a:rPr>
                <a:t>detections; some Auto Move actions failed, all reviewed and remediated.</a:t>
              </a:r>
            </a:p>
          </p:txBody>
        </p:sp>
      </p:grpSp>
      <p:grpSp>
        <p:nvGrpSpPr>
          <p:cNvPr id="41" name="Group 41"/>
          <p:cNvGrpSpPr/>
          <p:nvPr/>
        </p:nvGrpSpPr>
        <p:grpSpPr>
          <a:xfrm>
            <a:off x="603504" y="5528310"/>
            <a:ext cx="9064752" cy="444246"/>
            <a:chOff x="603504" y="5528310"/>
            <a:chExt cx="9064752" cy="444246"/>
          </a:xfrm>
        </p:grpSpPr>
        <p:sp>
          <p:nvSpPr>
            <p:cNvPr id="40" name="TextBox 40"/>
            <p:cNvSpPr txBox="1"/>
            <p:nvPr/>
          </p:nvSpPr>
          <p:spPr>
            <a:xfrm>
              <a:off x="603504" y="5528310"/>
              <a:ext cx="90647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Response latency also rose across the CDN during the impact window: debugging and observability systems consumed large</a:t>
              </a:r>
              <a:br/>
              <a:r>
                <a:rPr lang="en" sz="1200" dirty="0">
                  <a:solidFill>
                    <a:schemeClr val="accent5"/>
                  </a:solidFill>
                  <a:latin typeface="+mn-lt"/>
                  <a:ea typeface="+mn-ea"/>
                  <a:cs typeface="+mn-cs"/>
                </a:rPr>
                <a:t>amounts of CPU automatically enriching uncaught errors with additional debugging information.</a:t>
              </a:r>
            </a:p>
          </p:txBody>
        </p:sp>
      </p:grpSp>
      <p:grpSp>
        <p:nvGrpSpPr>
          <p:cNvPr id="44" name="Group 44"/>
          <p:cNvGrpSpPr/>
          <p:nvPr/>
        </p:nvGrpSpPr>
        <p:grpSpPr>
          <a:xfrm>
            <a:off x="604838" y="6494145"/>
            <a:ext cx="10982325" cy="176212"/>
            <a:chOff x="604838" y="6494145"/>
            <a:chExt cx="10982325" cy="176212"/>
          </a:xfrm>
        </p:grpSpPr>
        <p:sp>
          <p:nvSpPr>
            <p:cNvPr id="42" name="TextBox 42"/>
            <p:cNvSpPr txBox="1"/>
            <p:nvPr/>
          </p:nvSpPr>
          <p:spPr>
            <a:xfrm>
              <a:off x="604838" y="6494145"/>
              <a:ext cx="4974343"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impact table. All times UTC.</a:t>
              </a:r>
            </a:p>
          </p:txBody>
        </p:sp>
        <p:sp>
          <p:nvSpPr>
            <p:cNvPr id="43" name="TextBox 43"/>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96000" y="2381250"/>
            <a:ext cx="9525" cy="2457450"/>
          </a:xfrm>
          <a:custGeom>
            <a:avLst/>
            <a:gdLst/>
            <a:ahLst/>
            <a:cxnLst/>
            <a:rect l="l" t="t" r="r" b="b"/>
            <a:pathLst>
              <a:path w="9525" h="2457450">
                <a:moveTo>
                  <a:pt x="0" y="0"/>
                </a:moveTo>
                <a:lnTo>
                  <a:pt x="0" y="2457450"/>
                </a:lnTo>
              </a:path>
            </a:pathLst>
          </a:custGeom>
          <a:noFill/>
          <a:ln w="9525">
            <a:solidFill>
              <a:schemeClr val="accent6"/>
            </a:solidFill>
          </a:ln>
        </p:spPr>
      </p:sp>
      <p:grpSp>
        <p:nvGrpSpPr>
          <p:cNvPr id="5" name="Group 5"/>
          <p:cNvGrpSpPr/>
          <p:nvPr/>
        </p:nvGrpSpPr>
        <p:grpSpPr>
          <a:xfrm>
            <a:off x="595884" y="584835"/>
            <a:ext cx="10986516" cy="937641"/>
            <a:chOff x="595884" y="584835"/>
            <a:chExt cx="10986516" cy="937641"/>
          </a:xfrm>
        </p:grpSpPr>
        <p:sp>
          <p:nvSpPr>
            <p:cNvPr id="3" name="TextBox 3"/>
            <p:cNvSpPr txBox="1"/>
            <p:nvPr/>
          </p:nvSpPr>
          <p:spPr>
            <a:xfrm>
              <a:off x="595884" y="584835"/>
              <a:ext cx="9784652"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The same bad file produced errors on the new proxy and</a:t>
              </a:r>
              <a:br/>
              <a:r>
                <a:rPr lang="en" sz="2700" b="1" dirty="0">
                  <a:solidFill>
                    <a:schemeClr val="dk1"/>
                  </a:solidFill>
                  <a:latin typeface="+mn-lt"/>
                  <a:ea typeface="+mn-ea"/>
                  <a:cs typeface="+mn-cs"/>
                </a:rPr>
                <a:t>silent false positives on the old one</a:t>
              </a:r>
            </a:p>
          </p:txBody>
        </p:sp>
        <p:sp>
          <p:nvSpPr>
            <p:cNvPr id="4" name="Line 4"/>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Group 7"/>
          <p:cNvGrpSpPr/>
          <p:nvPr/>
        </p:nvGrpSpPr>
        <p:grpSpPr>
          <a:xfrm>
            <a:off x="601980" y="1647825"/>
            <a:ext cx="9092565" cy="579120"/>
            <a:chOff x="601980" y="1647825"/>
            <a:chExt cx="9092565" cy="579120"/>
          </a:xfrm>
        </p:grpSpPr>
        <p:sp>
          <p:nvSpPr>
            <p:cNvPr id="6" name="TextBox 6"/>
            <p:cNvSpPr txBox="1"/>
            <p:nvPr/>
          </p:nvSpPr>
          <p:spPr>
            <a:xfrm>
              <a:off x="601980" y="1647825"/>
              <a:ext cx="909256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5"/>
                  </a:solidFill>
                  <a:latin typeface="+mn-lt"/>
                  <a:ea typeface="+mn-ea"/>
                  <a:cs typeface="+mn-cs"/>
                </a:rPr>
                <a:t>Unrelated to this incident, customer traffic was being migrated to a new proxy version, FL2.</a:t>
              </a:r>
              <a:br/>
              <a:r>
                <a:rPr lang="en" sz="1500" dirty="0">
                  <a:solidFill>
                    <a:schemeClr val="accent5"/>
                  </a:solidFill>
                  <a:latin typeface="+mn-lt"/>
                  <a:ea typeface="+mn-ea"/>
                  <a:cs typeface="+mn-cs"/>
                </a:rPr>
                <a:t>Both versions were affected by the bad feature file, but the impact each one produced differed.</a:t>
              </a:r>
            </a:p>
          </p:txBody>
        </p:sp>
      </p:grpSp>
      <p:grpSp>
        <p:nvGrpSpPr>
          <p:cNvPr id="12" name="Group 12"/>
          <p:cNvGrpSpPr/>
          <p:nvPr/>
        </p:nvGrpSpPr>
        <p:grpSpPr>
          <a:xfrm>
            <a:off x="598932" y="2398395"/>
            <a:ext cx="3971163" cy="2495550"/>
            <a:chOff x="598932" y="2398395"/>
            <a:chExt cx="3971163" cy="2495550"/>
          </a:xfrm>
        </p:grpSpPr>
        <p:sp>
          <p:nvSpPr>
            <p:cNvPr id="8" name="TextBox 8"/>
            <p:cNvSpPr txBox="1"/>
            <p:nvPr/>
          </p:nvSpPr>
          <p:spPr>
            <a:xfrm>
              <a:off x="604838" y="2398395"/>
              <a:ext cx="1783827"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FL2 · THE NEW PROXY ENGINE</a:t>
              </a:r>
            </a:p>
          </p:txBody>
        </p:sp>
        <p:sp>
          <p:nvSpPr>
            <p:cNvPr id="9" name="TextBox 9"/>
            <p:cNvSpPr txBox="1"/>
            <p:nvPr/>
          </p:nvSpPr>
          <p:spPr>
            <a:xfrm>
              <a:off x="598932" y="2630805"/>
              <a:ext cx="2365229"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HTTP 5xx errors</a:t>
              </a:r>
            </a:p>
          </p:txBody>
        </p:sp>
        <p:sp>
          <p:nvSpPr>
            <p:cNvPr id="10" name="TextBox 10"/>
            <p:cNvSpPr txBox="1"/>
            <p:nvPr/>
          </p:nvSpPr>
          <p:spPr>
            <a:xfrm>
              <a:off x="601980" y="3076575"/>
              <a:ext cx="3968115"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Customers deployed on the new FL2 proxy</a:t>
              </a:r>
              <a:br/>
              <a:r>
                <a:rPr lang="en" sz="1500" dirty="0">
                  <a:solidFill>
                    <a:schemeClr val="dk1"/>
                  </a:solidFill>
                  <a:latin typeface="+mn-lt"/>
                  <a:ea typeface="+mn-ea"/>
                  <a:cs typeface="+mn-cs"/>
                </a:rPr>
                <a:t>engine observed HTTP 5xx errors for any</a:t>
              </a:r>
              <a:br/>
              <a:r>
                <a:rPr lang="en" sz="1500" dirty="0">
                  <a:solidFill>
                    <a:schemeClr val="dk1"/>
                  </a:solidFill>
                  <a:latin typeface="+mn-lt"/>
                  <a:ea typeface="+mn-ea"/>
                  <a:cs typeface="+mn-cs"/>
                </a:rPr>
                <a:t>traffic that depended on the bots module.</a:t>
              </a:r>
            </a:p>
          </p:txBody>
        </p:sp>
        <p:sp>
          <p:nvSpPr>
            <p:cNvPr id="11" name="TextBox 11"/>
            <p:cNvSpPr txBox="1"/>
            <p:nvPr/>
          </p:nvSpPr>
          <p:spPr>
            <a:xfrm>
              <a:off x="601980" y="4314825"/>
              <a:ext cx="396811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This also affected Workers KV and Access,</a:t>
              </a:r>
              <a:br/>
              <a:r>
                <a:rPr lang="en" sz="1500" dirty="0">
                  <a:solidFill>
                    <a:schemeClr val="dk1"/>
                  </a:solidFill>
                  <a:latin typeface="+mn-lt"/>
                  <a:ea typeface="+mn-ea"/>
                  <a:cs typeface="+mn-cs"/>
                </a:rPr>
                <a:t>which rely on the core proxy.</a:t>
              </a:r>
            </a:p>
          </p:txBody>
        </p:sp>
      </p:grpSp>
      <p:grpSp>
        <p:nvGrpSpPr>
          <p:cNvPr id="17" name="Group 17"/>
          <p:cNvGrpSpPr/>
          <p:nvPr/>
        </p:nvGrpSpPr>
        <p:grpSpPr>
          <a:xfrm>
            <a:off x="6352032" y="2398395"/>
            <a:ext cx="4085463" cy="2495550"/>
            <a:chOff x="6352032" y="2398395"/>
            <a:chExt cx="4085463" cy="2495550"/>
          </a:xfrm>
        </p:grpSpPr>
        <p:sp>
          <p:nvSpPr>
            <p:cNvPr id="13" name="TextBox 13"/>
            <p:cNvSpPr txBox="1"/>
            <p:nvPr/>
          </p:nvSpPr>
          <p:spPr>
            <a:xfrm>
              <a:off x="6357938" y="2398395"/>
              <a:ext cx="2045940"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FL · THE PREVIOUS PROXY ENGINE</a:t>
              </a:r>
            </a:p>
          </p:txBody>
        </p:sp>
        <p:sp>
          <p:nvSpPr>
            <p:cNvPr id="14" name="TextBox 14"/>
            <p:cNvSpPr txBox="1"/>
            <p:nvPr/>
          </p:nvSpPr>
          <p:spPr>
            <a:xfrm>
              <a:off x="6352032" y="2630805"/>
              <a:ext cx="3503691"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Silent bot-score failure</a:t>
              </a:r>
            </a:p>
          </p:txBody>
        </p:sp>
        <p:sp>
          <p:nvSpPr>
            <p:cNvPr id="15" name="TextBox 15"/>
            <p:cNvSpPr txBox="1"/>
            <p:nvPr/>
          </p:nvSpPr>
          <p:spPr>
            <a:xfrm>
              <a:off x="6355080" y="3076575"/>
              <a:ext cx="4063365" cy="11506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Customers on the old FL engine did not see</a:t>
              </a:r>
              <a:br/>
              <a:r>
                <a:rPr lang="en" sz="1500" dirty="0">
                  <a:solidFill>
                    <a:schemeClr val="dk1"/>
                  </a:solidFill>
                  <a:latin typeface="+mn-lt"/>
                  <a:ea typeface="+mn-ea"/>
                  <a:cs typeface="+mn-cs"/>
                </a:rPr>
                <a:t>errors, but bot scores were not generated</a:t>
              </a:r>
              <a:br/>
              <a:r>
                <a:rPr lang="en" sz="1500" dirty="0">
                  <a:solidFill>
                    <a:schemeClr val="dk1"/>
                  </a:solidFill>
                  <a:latin typeface="+mn-lt"/>
                  <a:ea typeface="+mn-ea"/>
                  <a:cs typeface="+mn-cs"/>
                </a:rPr>
                <a:t>correctly and all traffic received a bot</a:t>
              </a:r>
              <a:br/>
              <a:r>
                <a:rPr lang="en" sz="1500" dirty="0">
                  <a:solidFill>
                    <a:schemeClr val="dk1"/>
                  </a:solidFill>
                  <a:latin typeface="+mn-lt"/>
                  <a:ea typeface="+mn-ea"/>
                  <a:cs typeface="+mn-cs"/>
                </a:rPr>
                <a:t>score of zero.</a:t>
              </a:r>
            </a:p>
          </p:txBody>
        </p:sp>
        <p:sp>
          <p:nvSpPr>
            <p:cNvPr id="16" name="TextBox 16"/>
            <p:cNvSpPr txBox="1"/>
            <p:nvPr/>
          </p:nvSpPr>
          <p:spPr>
            <a:xfrm>
              <a:off x="6355080" y="4314825"/>
              <a:ext cx="408241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Customers with rules that block bots would</a:t>
              </a:r>
              <a:br/>
              <a:r>
                <a:rPr lang="en" sz="1500" dirty="0">
                  <a:solidFill>
                    <a:schemeClr val="dk1"/>
                  </a:solidFill>
                  <a:latin typeface="+mn-lt"/>
                  <a:ea typeface="+mn-ea"/>
                  <a:cs typeface="+mn-cs"/>
                </a:rPr>
                <a:t>have seen large numbers of false positives.</a:t>
              </a:r>
            </a:p>
          </p:txBody>
        </p:sp>
      </p:grpSp>
      <p:grpSp>
        <p:nvGrpSpPr>
          <p:cNvPr id="19" name="Group 19"/>
          <p:cNvGrpSpPr/>
          <p:nvPr/>
        </p:nvGrpSpPr>
        <p:grpSpPr>
          <a:xfrm>
            <a:off x="599694" y="5123498"/>
            <a:ext cx="10555590" cy="381381"/>
            <a:chOff x="599694" y="5123498"/>
            <a:chExt cx="10555590" cy="381381"/>
          </a:xfrm>
        </p:grpSpPr>
        <p:sp>
          <p:nvSpPr>
            <p:cNvPr id="18" name="TextBox 18"/>
            <p:cNvSpPr txBox="1"/>
            <p:nvPr/>
          </p:nvSpPr>
          <p:spPr>
            <a:xfrm>
              <a:off x="599694" y="5123498"/>
              <a:ext cx="10555590" cy="381381"/>
            </a:xfrm>
            <a:prstGeom prst="rect">
              <a:avLst/>
            </a:prstGeom>
            <a:noFill/>
            <a:ln>
              <a:noFill/>
            </a:ln>
          </p:spPr>
          <p:txBody>
            <a:bodyPr wrap="none" lIns="0" tIns="0" rIns="0" bIns="0" anchor="t" anchorCtr="0">
              <a:spAutoFit/>
            </a:bodyPr>
            <a:lstStyle/>
            <a:p>
              <a:pPr algn="l"/>
              <a:r>
                <a:rPr lang="en" sz="1950" dirty="0">
                  <a:solidFill>
                    <a:schemeClr val="dk1"/>
                  </a:solidFill>
                  <a:latin typeface="+mn-lt"/>
                  <a:ea typeface="+mn-ea"/>
                  <a:cs typeface="+mn-cs"/>
                </a:rPr>
                <a:t>Customers who were not using the bot score in their rules did not see any impact.</a:t>
              </a:r>
            </a:p>
          </p:txBody>
        </p:sp>
      </p:grpSp>
      <p:grpSp>
        <p:nvGrpSpPr>
          <p:cNvPr id="21" name="Group 21"/>
          <p:cNvGrpSpPr/>
          <p:nvPr/>
        </p:nvGrpSpPr>
        <p:grpSpPr>
          <a:xfrm>
            <a:off x="603504" y="5775960"/>
            <a:ext cx="7997974" cy="234696"/>
            <a:chOff x="603504" y="5775960"/>
            <a:chExt cx="7997974" cy="234696"/>
          </a:xfrm>
        </p:grpSpPr>
        <p:sp>
          <p:nvSpPr>
            <p:cNvPr id="20" name="TextBox 20"/>
            <p:cNvSpPr txBox="1"/>
            <p:nvPr/>
          </p:nvSpPr>
          <p:spPr>
            <a:xfrm>
              <a:off x="603504" y="5775960"/>
              <a:ext cx="799797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Observed fact: both proxy behaviours are stated in the published account; neither is inferred here.</a:t>
              </a:r>
            </a:p>
          </p:txBody>
        </p:sp>
      </p:grpSp>
      <p:grpSp>
        <p:nvGrpSpPr>
          <p:cNvPr id="24" name="Group 24"/>
          <p:cNvGrpSpPr/>
          <p:nvPr/>
        </p:nvGrpSpPr>
        <p:grpSpPr>
          <a:xfrm>
            <a:off x="604838" y="6494145"/>
            <a:ext cx="10982325" cy="176212"/>
            <a:chOff x="604838" y="6494145"/>
            <a:chExt cx="10982325" cy="176212"/>
          </a:xfrm>
        </p:grpSpPr>
        <p:sp>
          <p:nvSpPr>
            <p:cNvPr id="22" name="TextBox 22"/>
            <p:cNvSpPr txBox="1"/>
            <p:nvPr/>
          </p:nvSpPr>
          <p:spPr>
            <a:xfrm>
              <a:off x="604838" y="6494145"/>
              <a:ext cx="5513154"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request-path section. All times UTC.</a:t>
              </a:r>
            </a:p>
          </p:txBody>
        </p:sp>
        <p:sp>
          <p:nvSpPr>
            <p:cNvPr id="23" name="TextBox 23"/>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400"/>
                                        <p:tgtEl>
                                          <p:spTgt spid="17"/>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244584"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The error rate rose and fell every five minutes until</a:t>
              </a:r>
              <a:br/>
              <a:r>
                <a:rPr lang="en" sz="2700" b="1" dirty="0">
                  <a:solidFill>
                    <a:schemeClr val="dk1"/>
                  </a:solidFill>
                  <a:latin typeface="+mn-lt"/>
                  <a:ea typeface="+mn-ea"/>
                  <a:cs typeface="+mn-cs"/>
                </a:rPr>
                <a:t>every database node produced the bad file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579245"/>
            <a:ext cx="10986516" cy="592455"/>
            <a:chOff x="602742" y="1579245"/>
            <a:chExt cx="10986516" cy="592455"/>
          </a:xfrm>
        </p:grpSpPr>
        <p:sp>
          <p:nvSpPr>
            <p:cNvPr id="5" name="Freeform 5"/>
            <p:cNvSpPr/>
            <p:nvPr/>
          </p:nvSpPr>
          <p:spPr>
            <a:xfrm>
              <a:off x="60960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6" name="TextBox 6"/>
            <p:cNvSpPr txBox="1"/>
            <p:nvPr/>
          </p:nvSpPr>
          <p:spPr>
            <a:xfrm>
              <a:off x="757238" y="1579245"/>
              <a:ext cx="506867"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NORMAL</a:t>
              </a:r>
            </a:p>
          </p:txBody>
        </p:sp>
        <p:sp>
          <p:nvSpPr>
            <p:cNvPr id="7" name="Freeform 7"/>
            <p:cNvSpPr/>
            <p:nvPr/>
          </p:nvSpPr>
          <p:spPr>
            <a:xfrm>
              <a:off x="1304925"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8" name="TextBox 8"/>
            <p:cNvSpPr txBox="1"/>
            <p:nvPr/>
          </p:nvSpPr>
          <p:spPr>
            <a:xfrm>
              <a:off x="1452562" y="1579245"/>
              <a:ext cx="533751"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CRITICAL</a:t>
              </a:r>
            </a:p>
          </p:txBody>
        </p:sp>
        <p:sp>
          <p:nvSpPr>
            <p:cNvPr id="9" name="Freeform 9"/>
            <p:cNvSpPr/>
            <p:nvPr/>
          </p:nvSpPr>
          <p:spPr>
            <a:xfrm>
              <a:off x="4257675" y="158115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0" name="TextBox 10"/>
            <p:cNvSpPr txBox="1"/>
            <p:nvPr/>
          </p:nvSpPr>
          <p:spPr>
            <a:xfrm>
              <a:off x="4405312" y="1579245"/>
              <a:ext cx="600959"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DEGRADED</a:t>
              </a:r>
            </a:p>
          </p:txBody>
        </p:sp>
        <p:sp>
          <p:nvSpPr>
            <p:cNvPr id="11" name="Freeform 11"/>
            <p:cNvSpPr/>
            <p:nvPr/>
          </p:nvSpPr>
          <p:spPr>
            <a:xfrm>
              <a:off x="683895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2" name="TextBox 12"/>
            <p:cNvSpPr txBox="1"/>
            <p:nvPr/>
          </p:nvSpPr>
          <p:spPr>
            <a:xfrm>
              <a:off x="6986588" y="1579245"/>
              <a:ext cx="70177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RECOVERED</a:t>
              </a:r>
            </a:p>
          </p:txBody>
        </p:sp>
        <p:sp>
          <p:nvSpPr>
            <p:cNvPr id="13" name="TextBox 13"/>
            <p:cNvSpPr txBox="1"/>
            <p:nvPr/>
          </p:nvSpPr>
          <p:spPr>
            <a:xfrm>
              <a:off x="60274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11:05</a:t>
              </a:r>
            </a:p>
          </p:txBody>
        </p:sp>
        <p:sp>
          <p:nvSpPr>
            <p:cNvPr id="14" name="TextBox 14"/>
            <p:cNvSpPr txBox="1"/>
            <p:nvPr/>
          </p:nvSpPr>
          <p:spPr>
            <a:xfrm>
              <a:off x="133616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11:28</a:t>
              </a:r>
            </a:p>
          </p:txBody>
        </p:sp>
        <p:sp>
          <p:nvSpPr>
            <p:cNvPr id="15" name="TextBox 15"/>
            <p:cNvSpPr txBox="1"/>
            <p:nvPr/>
          </p:nvSpPr>
          <p:spPr>
            <a:xfrm>
              <a:off x="428891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13:05</a:t>
              </a:r>
            </a:p>
          </p:txBody>
        </p:sp>
        <p:sp>
          <p:nvSpPr>
            <p:cNvPr id="16" name="TextBox 16"/>
            <p:cNvSpPr txBox="1"/>
            <p:nvPr/>
          </p:nvSpPr>
          <p:spPr>
            <a:xfrm>
              <a:off x="687019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14:30</a:t>
              </a:r>
            </a:p>
          </p:txBody>
        </p:sp>
        <p:sp>
          <p:nvSpPr>
            <p:cNvPr id="17" name="TextBox 17"/>
            <p:cNvSpPr txBox="1"/>
            <p:nvPr/>
          </p:nvSpPr>
          <p:spPr>
            <a:xfrm>
              <a:off x="11075765" y="1778318"/>
              <a:ext cx="513493"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17:06</a:t>
              </a:r>
            </a:p>
          </p:txBody>
        </p:sp>
        <p:sp>
          <p:nvSpPr>
            <p:cNvPr id="18" name="Rectangle 18"/>
            <p:cNvSpPr/>
            <p:nvPr/>
          </p:nvSpPr>
          <p:spPr>
            <a:xfrm>
              <a:off x="609600" y="2019300"/>
              <a:ext cx="695325" cy="152400"/>
            </a:xfrm>
            <a:prstGeom prst="rect">
              <a:avLst/>
            </a:prstGeom>
            <a:solidFill>
              <a:srgbClr val="4A5568"/>
            </a:solidFill>
            <a:ln>
              <a:noFill/>
            </a:ln>
          </p:spPr>
        </p:sp>
        <p:sp>
          <p:nvSpPr>
            <p:cNvPr id="19" name="Rectangle 19"/>
            <p:cNvSpPr/>
            <p:nvPr/>
          </p:nvSpPr>
          <p:spPr>
            <a:xfrm>
              <a:off x="1304925" y="2019300"/>
              <a:ext cx="2952750" cy="152400"/>
            </a:xfrm>
            <a:prstGeom prst="rect">
              <a:avLst/>
            </a:prstGeom>
            <a:solidFill>
              <a:schemeClr val="accent2"/>
            </a:solidFill>
            <a:ln>
              <a:noFill/>
            </a:ln>
          </p:spPr>
        </p:sp>
        <p:sp>
          <p:nvSpPr>
            <p:cNvPr id="20" name="Rectangle 20"/>
            <p:cNvSpPr/>
            <p:nvPr/>
          </p:nvSpPr>
          <p:spPr>
            <a:xfrm>
              <a:off x="4257675" y="2019300"/>
              <a:ext cx="2581275" cy="152400"/>
            </a:xfrm>
            <a:prstGeom prst="rect">
              <a:avLst/>
            </a:prstGeom>
            <a:solidFill>
              <a:schemeClr val="accent3"/>
            </a:solidFill>
            <a:ln>
              <a:noFill/>
            </a:ln>
          </p:spPr>
        </p:sp>
        <p:sp>
          <p:nvSpPr>
            <p:cNvPr id="21" name="Rectangle 21"/>
            <p:cNvSpPr/>
            <p:nvPr/>
          </p:nvSpPr>
          <p:spPr>
            <a:xfrm>
              <a:off x="6838950" y="2019300"/>
              <a:ext cx="4743450" cy="152400"/>
            </a:xfrm>
            <a:prstGeom prst="rect">
              <a:avLst/>
            </a:prstGeom>
            <a:solidFill>
              <a:srgbClr val="2E7D5B"/>
            </a:solidFill>
            <a:ln>
              <a:noFill/>
            </a:ln>
          </p:spPr>
        </p:sp>
      </p:grpSp>
      <p:grpSp>
        <p:nvGrpSpPr>
          <p:cNvPr id="25" name="!!incident-clock"/>
          <p:cNvGrpSpPr/>
          <p:nvPr/>
        </p:nvGrpSpPr>
        <p:grpSpPr>
          <a:xfrm>
            <a:off x="1041654" y="2209800"/>
            <a:ext cx="2553750" cy="409956"/>
            <a:chOff x="1041654" y="2209800"/>
            <a:chExt cx="2553750" cy="409956"/>
          </a:xfrm>
        </p:grpSpPr>
        <p:sp>
          <p:nvSpPr>
            <p:cNvPr id="23" name="Freeform 23"/>
            <p:cNvSpPr/>
            <p:nvPr/>
          </p:nvSpPr>
          <p:spPr>
            <a:xfrm>
              <a:off x="1238250" y="2209800"/>
              <a:ext cx="133350" cy="114300"/>
            </a:xfrm>
            <a:prstGeom prst="triangle">
              <a:avLst/>
            </a:prstGeom>
            <a:solidFill>
              <a:schemeClr val="accent1"/>
            </a:solidFill>
            <a:ln>
              <a:noFill/>
            </a:ln>
          </p:spPr>
        </p:sp>
        <p:sp>
          <p:nvSpPr>
            <p:cNvPr id="24" name="TextBox 24"/>
            <p:cNvSpPr txBox="1"/>
            <p:nvPr/>
          </p:nvSpPr>
          <p:spPr>
            <a:xfrm>
              <a:off x="1041654" y="2385060"/>
              <a:ext cx="255375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First customer errors observed</a:t>
              </a:r>
            </a:p>
          </p:txBody>
        </p:sp>
      </p:grpSp>
      <p:grpSp>
        <p:nvGrpSpPr>
          <p:cNvPr id="58" name="Group 58"/>
          <p:cNvGrpSpPr/>
          <p:nvPr/>
        </p:nvGrpSpPr>
        <p:grpSpPr>
          <a:xfrm>
            <a:off x="1105281" y="2952750"/>
            <a:ext cx="10362438" cy="2391156"/>
            <a:chOff x="1105281" y="2952750"/>
            <a:chExt cx="10362438" cy="2391156"/>
          </a:xfrm>
        </p:grpSpPr>
        <p:grpSp>
          <p:nvGrpSpPr>
            <p:cNvPr id="45" name="Group 45"/>
            <p:cNvGrpSpPr/>
            <p:nvPr/>
          </p:nvGrpSpPr>
          <p:grpSpPr>
            <a:xfrm>
              <a:off x="1295400" y="2952750"/>
              <a:ext cx="9982200" cy="2057400"/>
              <a:chOff x="1295400" y="2952750"/>
              <a:chExt cx="9982200" cy="2057400"/>
            </a:xfrm>
          </p:grpSpPr>
          <p:sp>
            <p:nvSpPr>
              <p:cNvPr id="26" name="Line 26"/>
              <p:cNvSpPr/>
              <p:nvPr/>
            </p:nvSpPr>
            <p:spPr>
              <a:xfrm>
                <a:off x="1333500" y="2952750"/>
                <a:ext cx="9906000" cy="9525"/>
              </a:xfrm>
              <a:custGeom>
                <a:avLst/>
                <a:gdLst/>
                <a:ahLst/>
                <a:cxnLst/>
                <a:rect l="l" t="t" r="r" b="b"/>
                <a:pathLst>
                  <a:path w="9906000" h="9525">
                    <a:moveTo>
                      <a:pt x="0" y="0"/>
                    </a:moveTo>
                    <a:lnTo>
                      <a:pt x="9906000" y="0"/>
                    </a:lnTo>
                  </a:path>
                </a:pathLst>
              </a:custGeom>
              <a:noFill/>
              <a:ln w="9525">
                <a:solidFill>
                  <a:srgbClr val="E8ECEF"/>
                </a:solidFill>
              </a:ln>
            </p:spPr>
          </p:sp>
          <p:sp>
            <p:nvSpPr>
              <p:cNvPr id="27" name="Line 27"/>
              <p:cNvSpPr/>
              <p:nvPr/>
            </p:nvSpPr>
            <p:spPr>
              <a:xfrm>
                <a:off x="1333500" y="3457575"/>
                <a:ext cx="9906000" cy="9525"/>
              </a:xfrm>
              <a:custGeom>
                <a:avLst/>
                <a:gdLst/>
                <a:ahLst/>
                <a:cxnLst/>
                <a:rect l="l" t="t" r="r" b="b"/>
                <a:pathLst>
                  <a:path w="9906000" h="9525">
                    <a:moveTo>
                      <a:pt x="0" y="0"/>
                    </a:moveTo>
                    <a:lnTo>
                      <a:pt x="9906000" y="0"/>
                    </a:lnTo>
                  </a:path>
                </a:pathLst>
              </a:custGeom>
              <a:noFill/>
              <a:ln w="9525">
                <a:solidFill>
                  <a:srgbClr val="E8ECEF"/>
                </a:solidFill>
              </a:ln>
            </p:spPr>
          </p:sp>
          <p:sp>
            <p:nvSpPr>
              <p:cNvPr id="28" name="Line 28"/>
              <p:cNvSpPr/>
              <p:nvPr/>
            </p:nvSpPr>
            <p:spPr>
              <a:xfrm>
                <a:off x="1333500" y="3962400"/>
                <a:ext cx="9906000" cy="9525"/>
              </a:xfrm>
              <a:custGeom>
                <a:avLst/>
                <a:gdLst/>
                <a:ahLst/>
                <a:cxnLst/>
                <a:rect l="l" t="t" r="r" b="b"/>
                <a:pathLst>
                  <a:path w="9906000" h="9525">
                    <a:moveTo>
                      <a:pt x="0" y="0"/>
                    </a:moveTo>
                    <a:lnTo>
                      <a:pt x="9906000" y="0"/>
                    </a:lnTo>
                  </a:path>
                </a:pathLst>
              </a:custGeom>
              <a:noFill/>
              <a:ln w="9525">
                <a:solidFill>
                  <a:srgbClr val="E8ECEF"/>
                </a:solidFill>
              </a:ln>
            </p:spPr>
          </p:sp>
          <p:sp>
            <p:nvSpPr>
              <p:cNvPr id="29" name="Line 29"/>
              <p:cNvSpPr/>
              <p:nvPr/>
            </p:nvSpPr>
            <p:spPr>
              <a:xfrm>
                <a:off x="1333500" y="4467225"/>
                <a:ext cx="9906000" cy="9525"/>
              </a:xfrm>
              <a:custGeom>
                <a:avLst/>
                <a:gdLst/>
                <a:ahLst/>
                <a:cxnLst/>
                <a:rect l="l" t="t" r="r" b="b"/>
                <a:pathLst>
                  <a:path w="9906000" h="9525">
                    <a:moveTo>
                      <a:pt x="0" y="0"/>
                    </a:moveTo>
                    <a:lnTo>
                      <a:pt x="9906000" y="0"/>
                    </a:lnTo>
                  </a:path>
                </a:pathLst>
              </a:custGeom>
              <a:noFill/>
              <a:ln w="9525">
                <a:solidFill>
                  <a:srgbClr val="E8ECEF"/>
                </a:solidFill>
              </a:ln>
            </p:spPr>
          </p:sp>
          <p:sp>
            <p:nvSpPr>
              <p:cNvPr id="30" name="Line 30"/>
              <p:cNvSpPr/>
              <p:nvPr/>
            </p:nvSpPr>
            <p:spPr>
              <a:xfrm>
                <a:off x="1333500" y="2952750"/>
                <a:ext cx="9525" cy="2019300"/>
              </a:xfrm>
              <a:custGeom>
                <a:avLst/>
                <a:gdLst/>
                <a:ahLst/>
                <a:cxnLst/>
                <a:rect l="l" t="t" r="r" b="b"/>
                <a:pathLst>
                  <a:path w="9525" h="2019300">
                    <a:moveTo>
                      <a:pt x="0" y="0"/>
                    </a:moveTo>
                    <a:lnTo>
                      <a:pt x="0" y="2019300"/>
                    </a:lnTo>
                  </a:path>
                </a:pathLst>
              </a:custGeom>
              <a:noFill/>
              <a:ln w="9525">
                <a:solidFill>
                  <a:schemeClr val="accent1"/>
                </a:solidFill>
              </a:ln>
            </p:spPr>
          </p:sp>
          <p:sp>
            <p:nvSpPr>
              <p:cNvPr id="31" name="Line 31"/>
              <p:cNvSpPr/>
              <p:nvPr/>
            </p:nvSpPr>
            <p:spPr>
              <a:xfrm>
                <a:off x="1333500" y="4972050"/>
                <a:ext cx="9906000" cy="9525"/>
              </a:xfrm>
              <a:custGeom>
                <a:avLst/>
                <a:gdLst/>
                <a:ahLst/>
                <a:cxnLst/>
                <a:rect l="l" t="t" r="r" b="b"/>
                <a:pathLst>
                  <a:path w="9906000" h="9525">
                    <a:moveTo>
                      <a:pt x="0" y="0"/>
                    </a:moveTo>
                    <a:lnTo>
                      <a:pt x="9906000" y="0"/>
                    </a:lnTo>
                  </a:path>
                </a:pathLst>
              </a:custGeom>
              <a:noFill/>
              <a:ln w="9525">
                <a:solidFill>
                  <a:schemeClr val="accent1"/>
                </a:solidFill>
              </a:ln>
            </p:spPr>
          </p:sp>
          <p:sp>
            <p:nvSpPr>
              <p:cNvPr id="32" name="Polyline 32"/>
              <p:cNvSpPr/>
              <p:nvPr/>
            </p:nvSpPr>
            <p:spPr>
              <a:xfrm>
                <a:off x="1333500" y="3033712"/>
                <a:ext cx="9906000" cy="1938338"/>
              </a:xfrm>
              <a:custGeom>
                <a:avLst/>
                <a:gdLst/>
                <a:ahLst/>
                <a:cxnLst/>
                <a:rect l="l" t="t" r="r" b="b"/>
                <a:pathLst>
                  <a:path w="9906000" h="1938338">
                    <a:moveTo>
                      <a:pt x="0" y="1938338"/>
                    </a:moveTo>
                    <a:lnTo>
                      <a:pt x="900112" y="1938338"/>
                    </a:lnTo>
                    <a:lnTo>
                      <a:pt x="1801178" y="282892"/>
                    </a:lnTo>
                    <a:lnTo>
                      <a:pt x="2701290" y="1696403"/>
                    </a:lnTo>
                    <a:lnTo>
                      <a:pt x="3602355" y="120967"/>
                    </a:lnTo>
                    <a:lnTo>
                      <a:pt x="4502468" y="1574482"/>
                    </a:lnTo>
                    <a:lnTo>
                      <a:pt x="5403532" y="0"/>
                    </a:lnTo>
                    <a:lnTo>
                      <a:pt x="6303645" y="443865"/>
                    </a:lnTo>
                    <a:lnTo>
                      <a:pt x="7204710" y="322897"/>
                    </a:lnTo>
                    <a:lnTo>
                      <a:pt x="8104822" y="1615440"/>
                    </a:lnTo>
                    <a:lnTo>
                      <a:pt x="9005888" y="1776412"/>
                    </a:lnTo>
                    <a:lnTo>
                      <a:pt x="9906000" y="1938338"/>
                    </a:lnTo>
                  </a:path>
                </a:pathLst>
              </a:custGeom>
              <a:noFill/>
              <a:ln w="23812">
                <a:solidFill>
                  <a:schemeClr val="accent2"/>
                </a:solidFill>
              </a:ln>
            </p:spPr>
          </p:sp>
          <p:sp>
            <p:nvSpPr>
              <p:cNvPr id="33" name="Ellipse 33"/>
              <p:cNvSpPr/>
              <p:nvPr/>
            </p:nvSpPr>
            <p:spPr>
              <a:xfrm>
                <a:off x="1295400" y="4933950"/>
                <a:ext cx="76200" cy="76200"/>
              </a:xfrm>
              <a:prstGeom prst="ellipse">
                <a:avLst/>
              </a:prstGeom>
              <a:solidFill>
                <a:schemeClr val="accent2"/>
              </a:solidFill>
              <a:ln>
                <a:noFill/>
              </a:ln>
            </p:spPr>
          </p:sp>
          <p:sp>
            <p:nvSpPr>
              <p:cNvPr id="34" name="Ellipse 34"/>
              <p:cNvSpPr/>
              <p:nvPr/>
            </p:nvSpPr>
            <p:spPr>
              <a:xfrm>
                <a:off x="2195512" y="4933950"/>
                <a:ext cx="76200" cy="76200"/>
              </a:xfrm>
              <a:prstGeom prst="ellipse">
                <a:avLst/>
              </a:prstGeom>
              <a:solidFill>
                <a:schemeClr val="accent2"/>
              </a:solidFill>
              <a:ln>
                <a:noFill/>
              </a:ln>
            </p:spPr>
          </p:sp>
          <p:sp>
            <p:nvSpPr>
              <p:cNvPr id="35" name="Ellipse 35"/>
              <p:cNvSpPr/>
              <p:nvPr/>
            </p:nvSpPr>
            <p:spPr>
              <a:xfrm>
                <a:off x="3096578" y="3278505"/>
                <a:ext cx="76200" cy="76200"/>
              </a:xfrm>
              <a:prstGeom prst="ellipse">
                <a:avLst/>
              </a:prstGeom>
              <a:solidFill>
                <a:schemeClr val="accent2"/>
              </a:solidFill>
              <a:ln>
                <a:noFill/>
              </a:ln>
            </p:spPr>
          </p:sp>
          <p:sp>
            <p:nvSpPr>
              <p:cNvPr id="36" name="Ellipse 36"/>
              <p:cNvSpPr/>
              <p:nvPr/>
            </p:nvSpPr>
            <p:spPr>
              <a:xfrm>
                <a:off x="3996690" y="4692015"/>
                <a:ext cx="76200" cy="76200"/>
              </a:xfrm>
              <a:prstGeom prst="ellipse">
                <a:avLst/>
              </a:prstGeom>
              <a:solidFill>
                <a:schemeClr val="accent2"/>
              </a:solidFill>
              <a:ln>
                <a:noFill/>
              </a:ln>
            </p:spPr>
          </p:sp>
          <p:sp>
            <p:nvSpPr>
              <p:cNvPr id="37" name="Ellipse 37"/>
              <p:cNvSpPr/>
              <p:nvPr/>
            </p:nvSpPr>
            <p:spPr>
              <a:xfrm>
                <a:off x="4897755" y="3116580"/>
                <a:ext cx="76200" cy="76200"/>
              </a:xfrm>
              <a:prstGeom prst="ellipse">
                <a:avLst/>
              </a:prstGeom>
              <a:solidFill>
                <a:schemeClr val="accent2"/>
              </a:solidFill>
              <a:ln>
                <a:noFill/>
              </a:ln>
            </p:spPr>
          </p:sp>
          <p:sp>
            <p:nvSpPr>
              <p:cNvPr id="38" name="Ellipse 38"/>
              <p:cNvSpPr/>
              <p:nvPr/>
            </p:nvSpPr>
            <p:spPr>
              <a:xfrm>
                <a:off x="5797868" y="4570095"/>
                <a:ext cx="76200" cy="76200"/>
              </a:xfrm>
              <a:prstGeom prst="ellipse">
                <a:avLst/>
              </a:prstGeom>
              <a:solidFill>
                <a:schemeClr val="accent2"/>
              </a:solidFill>
              <a:ln>
                <a:noFill/>
              </a:ln>
            </p:spPr>
          </p:sp>
          <p:sp>
            <p:nvSpPr>
              <p:cNvPr id="39" name="Ellipse 39"/>
              <p:cNvSpPr/>
              <p:nvPr/>
            </p:nvSpPr>
            <p:spPr>
              <a:xfrm>
                <a:off x="6698932" y="2995612"/>
                <a:ext cx="76200" cy="76200"/>
              </a:xfrm>
              <a:prstGeom prst="ellipse">
                <a:avLst/>
              </a:prstGeom>
              <a:solidFill>
                <a:schemeClr val="accent2"/>
              </a:solidFill>
              <a:ln>
                <a:noFill/>
              </a:ln>
            </p:spPr>
          </p:sp>
          <p:sp>
            <p:nvSpPr>
              <p:cNvPr id="40" name="Ellipse 40"/>
              <p:cNvSpPr/>
              <p:nvPr/>
            </p:nvSpPr>
            <p:spPr>
              <a:xfrm>
                <a:off x="7599045" y="3439478"/>
                <a:ext cx="76200" cy="76200"/>
              </a:xfrm>
              <a:prstGeom prst="ellipse">
                <a:avLst/>
              </a:prstGeom>
              <a:solidFill>
                <a:schemeClr val="accent2"/>
              </a:solidFill>
              <a:ln>
                <a:noFill/>
              </a:ln>
            </p:spPr>
          </p:sp>
          <p:sp>
            <p:nvSpPr>
              <p:cNvPr id="41" name="Ellipse 41"/>
              <p:cNvSpPr/>
              <p:nvPr/>
            </p:nvSpPr>
            <p:spPr>
              <a:xfrm>
                <a:off x="8500110" y="3318510"/>
                <a:ext cx="76200" cy="76200"/>
              </a:xfrm>
              <a:prstGeom prst="ellipse">
                <a:avLst/>
              </a:prstGeom>
              <a:solidFill>
                <a:schemeClr val="accent2"/>
              </a:solidFill>
              <a:ln>
                <a:noFill/>
              </a:ln>
            </p:spPr>
          </p:sp>
          <p:sp>
            <p:nvSpPr>
              <p:cNvPr id="42" name="Ellipse 42"/>
              <p:cNvSpPr/>
              <p:nvPr/>
            </p:nvSpPr>
            <p:spPr>
              <a:xfrm>
                <a:off x="9400222" y="4611052"/>
                <a:ext cx="76200" cy="76200"/>
              </a:xfrm>
              <a:prstGeom prst="ellipse">
                <a:avLst/>
              </a:prstGeom>
              <a:solidFill>
                <a:schemeClr val="accent2"/>
              </a:solidFill>
              <a:ln>
                <a:noFill/>
              </a:ln>
            </p:spPr>
          </p:sp>
          <p:sp>
            <p:nvSpPr>
              <p:cNvPr id="43" name="Ellipse 43"/>
              <p:cNvSpPr/>
              <p:nvPr/>
            </p:nvSpPr>
            <p:spPr>
              <a:xfrm>
                <a:off x="10301288" y="4772025"/>
                <a:ext cx="76200" cy="76200"/>
              </a:xfrm>
              <a:prstGeom prst="ellipse">
                <a:avLst/>
              </a:prstGeom>
              <a:solidFill>
                <a:schemeClr val="accent2"/>
              </a:solidFill>
              <a:ln>
                <a:noFill/>
              </a:ln>
            </p:spPr>
          </p:sp>
          <p:sp>
            <p:nvSpPr>
              <p:cNvPr id="44" name="Ellipse 44"/>
              <p:cNvSpPr/>
              <p:nvPr/>
            </p:nvSpPr>
            <p:spPr>
              <a:xfrm>
                <a:off x="11201400" y="4933950"/>
                <a:ext cx="76200" cy="76200"/>
              </a:xfrm>
              <a:prstGeom prst="ellipse">
                <a:avLst/>
              </a:prstGeom>
              <a:solidFill>
                <a:schemeClr val="accent2"/>
              </a:solidFill>
              <a:ln>
                <a:noFill/>
              </a:ln>
            </p:spPr>
          </p:sp>
        </p:grpSp>
        <p:sp>
          <p:nvSpPr>
            <p:cNvPr id="46" name="TextBox 46"/>
            <p:cNvSpPr txBox="1"/>
            <p:nvPr/>
          </p:nvSpPr>
          <p:spPr>
            <a:xfrm>
              <a:off x="1105281"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11:00</a:t>
              </a:r>
            </a:p>
          </p:txBody>
        </p:sp>
        <p:sp>
          <p:nvSpPr>
            <p:cNvPr id="47" name="TextBox 47"/>
            <p:cNvSpPr txBox="1"/>
            <p:nvPr/>
          </p:nvSpPr>
          <p:spPr>
            <a:xfrm>
              <a:off x="2005394"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11:20</a:t>
              </a:r>
            </a:p>
          </p:txBody>
        </p:sp>
        <p:sp>
          <p:nvSpPr>
            <p:cNvPr id="48" name="TextBox 48"/>
            <p:cNvSpPr txBox="1"/>
            <p:nvPr/>
          </p:nvSpPr>
          <p:spPr>
            <a:xfrm>
              <a:off x="2906459"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11:28</a:t>
              </a:r>
            </a:p>
          </p:txBody>
        </p:sp>
        <p:sp>
          <p:nvSpPr>
            <p:cNvPr id="49" name="TextBox 49"/>
            <p:cNvSpPr txBox="1"/>
            <p:nvPr/>
          </p:nvSpPr>
          <p:spPr>
            <a:xfrm>
              <a:off x="3806571"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11:35</a:t>
              </a:r>
            </a:p>
          </p:txBody>
        </p:sp>
        <p:sp>
          <p:nvSpPr>
            <p:cNvPr id="50" name="TextBox 50"/>
            <p:cNvSpPr txBox="1"/>
            <p:nvPr/>
          </p:nvSpPr>
          <p:spPr>
            <a:xfrm>
              <a:off x="4707636"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11:45</a:t>
              </a:r>
            </a:p>
          </p:txBody>
        </p:sp>
        <p:sp>
          <p:nvSpPr>
            <p:cNvPr id="51" name="TextBox 51"/>
            <p:cNvSpPr txBox="1"/>
            <p:nvPr/>
          </p:nvSpPr>
          <p:spPr>
            <a:xfrm>
              <a:off x="5607748"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12:00</a:t>
              </a:r>
            </a:p>
          </p:txBody>
        </p:sp>
        <p:sp>
          <p:nvSpPr>
            <p:cNvPr id="52" name="TextBox 52"/>
            <p:cNvSpPr txBox="1"/>
            <p:nvPr/>
          </p:nvSpPr>
          <p:spPr>
            <a:xfrm>
              <a:off x="6508813"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12:30</a:t>
              </a:r>
            </a:p>
          </p:txBody>
        </p:sp>
        <p:sp>
          <p:nvSpPr>
            <p:cNvPr id="53" name="TextBox 53"/>
            <p:cNvSpPr txBox="1"/>
            <p:nvPr/>
          </p:nvSpPr>
          <p:spPr>
            <a:xfrm>
              <a:off x="7408926"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13:05</a:t>
              </a:r>
            </a:p>
          </p:txBody>
        </p:sp>
        <p:sp>
          <p:nvSpPr>
            <p:cNvPr id="54" name="TextBox 54"/>
            <p:cNvSpPr txBox="1"/>
            <p:nvPr/>
          </p:nvSpPr>
          <p:spPr>
            <a:xfrm>
              <a:off x="8309991"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14:24</a:t>
              </a:r>
            </a:p>
          </p:txBody>
        </p:sp>
        <p:sp>
          <p:nvSpPr>
            <p:cNvPr id="55" name="TextBox 55"/>
            <p:cNvSpPr txBox="1"/>
            <p:nvPr/>
          </p:nvSpPr>
          <p:spPr>
            <a:xfrm>
              <a:off x="9210104"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14:30</a:t>
              </a:r>
            </a:p>
          </p:txBody>
        </p:sp>
        <p:sp>
          <p:nvSpPr>
            <p:cNvPr id="56" name="TextBox 56"/>
            <p:cNvSpPr txBox="1"/>
            <p:nvPr/>
          </p:nvSpPr>
          <p:spPr>
            <a:xfrm>
              <a:off x="10111168"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15:00</a:t>
              </a:r>
            </a:p>
          </p:txBody>
        </p:sp>
        <p:sp>
          <p:nvSpPr>
            <p:cNvPr id="57" name="TextBox 57"/>
            <p:cNvSpPr txBox="1"/>
            <p:nvPr/>
          </p:nvSpPr>
          <p:spPr>
            <a:xfrm>
              <a:off x="11011281" y="5109210"/>
              <a:ext cx="456438"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Consolas"/>
                  <a:ea typeface="Consolas"/>
                  <a:cs typeface="Consolas"/>
                </a:rPr>
                <a:t>17:06</a:t>
              </a:r>
            </a:p>
          </p:txBody>
        </p:sp>
      </p:grpSp>
      <p:grpSp>
        <p:nvGrpSpPr>
          <p:cNvPr id="61" name="Group 61"/>
          <p:cNvGrpSpPr/>
          <p:nvPr/>
        </p:nvGrpSpPr>
        <p:grpSpPr>
          <a:xfrm>
            <a:off x="603504" y="5623560"/>
            <a:ext cx="10726614" cy="653796"/>
            <a:chOff x="603504" y="5623560"/>
            <a:chExt cx="10726614" cy="653796"/>
          </a:xfrm>
        </p:grpSpPr>
        <p:sp>
          <p:nvSpPr>
            <p:cNvPr id="59" name="TextBox 59"/>
            <p:cNvSpPr txBox="1"/>
            <p:nvPr/>
          </p:nvSpPr>
          <p:spPr>
            <a:xfrm>
              <a:off x="603504" y="5623560"/>
              <a:ext cx="96514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 file was regenerated every five minutes by a query on a ClickHouse cluster that was being gradually updated, so each</a:t>
              </a:r>
              <a:br/>
              <a:r>
                <a:rPr lang="en" sz="1200" dirty="0">
                  <a:solidFill>
                    <a:schemeClr val="dk1"/>
                  </a:solidFill>
                  <a:latin typeface="+mn-lt"/>
                  <a:ea typeface="+mn-ea"/>
                  <a:cs typeface="+mn-cs"/>
                </a:rPr>
                <a:t>cycle could produce either a good or a bad file — until every ClickHouse node generated the bad file and the failure stabilised.</a:t>
              </a:r>
            </a:p>
          </p:txBody>
        </p:sp>
        <p:sp>
          <p:nvSpPr>
            <p:cNvPr id="60" name="TextBox 60"/>
            <p:cNvSpPr txBox="1"/>
            <p:nvPr/>
          </p:nvSpPr>
          <p:spPr>
            <a:xfrm>
              <a:off x="603504" y="6042660"/>
              <a:ext cx="10726614"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Schematic reconstruction from the published account, not the original monitoring record. No error-rate magnitude is published.</a:t>
              </a:r>
            </a:p>
          </p:txBody>
        </p:sp>
      </p:grpSp>
      <p:grpSp>
        <p:nvGrpSpPr>
          <p:cNvPr id="64" name="Group 64"/>
          <p:cNvGrpSpPr/>
          <p:nvPr/>
        </p:nvGrpSpPr>
        <p:grpSpPr>
          <a:xfrm>
            <a:off x="604838" y="6494145"/>
            <a:ext cx="10982325" cy="176212"/>
            <a:chOff x="604838" y="6494145"/>
            <a:chExt cx="10982325" cy="176212"/>
          </a:xfrm>
        </p:grpSpPr>
        <p:sp>
          <p:nvSpPr>
            <p:cNvPr id="62" name="TextBox 62"/>
            <p:cNvSpPr txBox="1"/>
            <p:nvPr/>
          </p:nvSpPr>
          <p:spPr>
            <a:xfrm>
              <a:off x="604838" y="6494145"/>
              <a:ext cx="7648337"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Severity bands are this review’s reading of the published status column.</a:t>
              </a:r>
            </a:p>
          </p:txBody>
        </p:sp>
        <p:sp>
          <p:nvSpPr>
            <p:cNvPr id="63" name="TextBox 63"/>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right)">
                                      <p:cBhvr>
                                        <p:cTn id="7" dur="1000"/>
                                        <p:tgtEl>
                                          <p:spTgt spid="58"/>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6778276"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From the 11:05 access-control change</a:t>
              </a:r>
              <a:br/>
              <a:r>
                <a:rPr lang="en" sz="2700" b="1" dirty="0">
                  <a:solidFill>
                    <a:schemeClr val="dk1"/>
                  </a:solidFill>
                  <a:latin typeface="+mn-lt"/>
                  <a:ea typeface="+mn-ea"/>
                  <a:cs typeface="+mn-cs"/>
                </a:rPr>
                <a:t>to the first bypass at 13:05</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579245"/>
            <a:ext cx="10986516" cy="592455"/>
            <a:chOff x="602742" y="1579245"/>
            <a:chExt cx="10986516" cy="592455"/>
          </a:xfrm>
        </p:grpSpPr>
        <p:sp>
          <p:nvSpPr>
            <p:cNvPr id="5" name="Freeform 5"/>
            <p:cNvSpPr/>
            <p:nvPr/>
          </p:nvSpPr>
          <p:spPr>
            <a:xfrm>
              <a:off x="60960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6" name="TextBox 6"/>
            <p:cNvSpPr txBox="1"/>
            <p:nvPr/>
          </p:nvSpPr>
          <p:spPr>
            <a:xfrm>
              <a:off x="757238" y="1579245"/>
              <a:ext cx="506867"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NORMAL</a:t>
              </a:r>
            </a:p>
          </p:txBody>
        </p:sp>
        <p:sp>
          <p:nvSpPr>
            <p:cNvPr id="7" name="Freeform 7"/>
            <p:cNvSpPr/>
            <p:nvPr/>
          </p:nvSpPr>
          <p:spPr>
            <a:xfrm>
              <a:off x="1304925"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8" name="TextBox 8"/>
            <p:cNvSpPr txBox="1"/>
            <p:nvPr/>
          </p:nvSpPr>
          <p:spPr>
            <a:xfrm>
              <a:off x="1452562" y="1579245"/>
              <a:ext cx="533751"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CRITICAL</a:t>
              </a:r>
            </a:p>
          </p:txBody>
        </p:sp>
        <p:sp>
          <p:nvSpPr>
            <p:cNvPr id="9" name="Freeform 9"/>
            <p:cNvSpPr/>
            <p:nvPr/>
          </p:nvSpPr>
          <p:spPr>
            <a:xfrm>
              <a:off x="4257675" y="158115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0" name="TextBox 10"/>
            <p:cNvSpPr txBox="1"/>
            <p:nvPr/>
          </p:nvSpPr>
          <p:spPr>
            <a:xfrm>
              <a:off x="4405312" y="1579245"/>
              <a:ext cx="600959"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DEGRADED</a:t>
              </a:r>
            </a:p>
          </p:txBody>
        </p:sp>
        <p:sp>
          <p:nvSpPr>
            <p:cNvPr id="11" name="Freeform 11"/>
            <p:cNvSpPr/>
            <p:nvPr/>
          </p:nvSpPr>
          <p:spPr>
            <a:xfrm>
              <a:off x="683895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2" name="TextBox 12"/>
            <p:cNvSpPr txBox="1"/>
            <p:nvPr/>
          </p:nvSpPr>
          <p:spPr>
            <a:xfrm>
              <a:off x="6986588" y="1579245"/>
              <a:ext cx="70177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RECOVERED</a:t>
              </a:r>
            </a:p>
          </p:txBody>
        </p:sp>
        <p:sp>
          <p:nvSpPr>
            <p:cNvPr id="13" name="TextBox 13"/>
            <p:cNvSpPr txBox="1"/>
            <p:nvPr/>
          </p:nvSpPr>
          <p:spPr>
            <a:xfrm>
              <a:off x="60274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11:05</a:t>
              </a:r>
            </a:p>
          </p:txBody>
        </p:sp>
        <p:sp>
          <p:nvSpPr>
            <p:cNvPr id="14" name="TextBox 14"/>
            <p:cNvSpPr txBox="1"/>
            <p:nvPr/>
          </p:nvSpPr>
          <p:spPr>
            <a:xfrm>
              <a:off x="133616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11:28</a:t>
              </a:r>
            </a:p>
          </p:txBody>
        </p:sp>
        <p:sp>
          <p:nvSpPr>
            <p:cNvPr id="15" name="TextBox 15"/>
            <p:cNvSpPr txBox="1"/>
            <p:nvPr/>
          </p:nvSpPr>
          <p:spPr>
            <a:xfrm>
              <a:off x="428891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13:05</a:t>
              </a:r>
            </a:p>
          </p:txBody>
        </p:sp>
        <p:sp>
          <p:nvSpPr>
            <p:cNvPr id="16" name="TextBox 16"/>
            <p:cNvSpPr txBox="1"/>
            <p:nvPr/>
          </p:nvSpPr>
          <p:spPr>
            <a:xfrm>
              <a:off x="687019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14:30</a:t>
              </a:r>
            </a:p>
          </p:txBody>
        </p:sp>
        <p:sp>
          <p:nvSpPr>
            <p:cNvPr id="17" name="TextBox 17"/>
            <p:cNvSpPr txBox="1"/>
            <p:nvPr/>
          </p:nvSpPr>
          <p:spPr>
            <a:xfrm>
              <a:off x="11075765" y="1778318"/>
              <a:ext cx="513493"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17:06</a:t>
              </a:r>
            </a:p>
          </p:txBody>
        </p:sp>
        <p:sp>
          <p:nvSpPr>
            <p:cNvPr id="18" name="Rectangle 18"/>
            <p:cNvSpPr/>
            <p:nvPr/>
          </p:nvSpPr>
          <p:spPr>
            <a:xfrm>
              <a:off x="609600" y="2019300"/>
              <a:ext cx="695325" cy="152400"/>
            </a:xfrm>
            <a:prstGeom prst="rect">
              <a:avLst/>
            </a:prstGeom>
            <a:solidFill>
              <a:srgbClr val="4A5568"/>
            </a:solidFill>
            <a:ln>
              <a:noFill/>
            </a:ln>
          </p:spPr>
        </p:sp>
        <p:sp>
          <p:nvSpPr>
            <p:cNvPr id="19" name="Rectangle 19"/>
            <p:cNvSpPr/>
            <p:nvPr/>
          </p:nvSpPr>
          <p:spPr>
            <a:xfrm>
              <a:off x="1304925" y="2019300"/>
              <a:ext cx="2952750" cy="152400"/>
            </a:xfrm>
            <a:prstGeom prst="rect">
              <a:avLst/>
            </a:prstGeom>
            <a:solidFill>
              <a:schemeClr val="accent2"/>
            </a:solidFill>
            <a:ln>
              <a:noFill/>
            </a:ln>
          </p:spPr>
        </p:sp>
        <p:sp>
          <p:nvSpPr>
            <p:cNvPr id="20" name="Rectangle 20"/>
            <p:cNvSpPr/>
            <p:nvPr/>
          </p:nvSpPr>
          <p:spPr>
            <a:xfrm>
              <a:off x="4257675" y="2019300"/>
              <a:ext cx="2581275" cy="152400"/>
            </a:xfrm>
            <a:prstGeom prst="rect">
              <a:avLst/>
            </a:prstGeom>
            <a:solidFill>
              <a:schemeClr val="accent3"/>
            </a:solidFill>
            <a:ln>
              <a:noFill/>
            </a:ln>
          </p:spPr>
        </p:sp>
        <p:sp>
          <p:nvSpPr>
            <p:cNvPr id="21" name="Rectangle 21"/>
            <p:cNvSpPr/>
            <p:nvPr/>
          </p:nvSpPr>
          <p:spPr>
            <a:xfrm>
              <a:off x="6838950" y="2019300"/>
              <a:ext cx="4743450" cy="152400"/>
            </a:xfrm>
            <a:prstGeom prst="rect">
              <a:avLst/>
            </a:prstGeom>
            <a:solidFill>
              <a:srgbClr val="2E7D5B"/>
            </a:solidFill>
            <a:ln>
              <a:noFill/>
            </a:ln>
          </p:spPr>
        </p:sp>
      </p:grpSp>
      <p:grpSp>
        <p:nvGrpSpPr>
          <p:cNvPr id="25" name="!!incident-clock"/>
          <p:cNvGrpSpPr/>
          <p:nvPr/>
        </p:nvGrpSpPr>
        <p:grpSpPr>
          <a:xfrm>
            <a:off x="3134296" y="2209800"/>
            <a:ext cx="2246757" cy="409956"/>
            <a:chOff x="3134296" y="2209800"/>
            <a:chExt cx="2246757" cy="409956"/>
          </a:xfrm>
        </p:grpSpPr>
        <p:sp>
          <p:nvSpPr>
            <p:cNvPr id="23" name="Freeform 23"/>
            <p:cNvSpPr/>
            <p:nvPr/>
          </p:nvSpPr>
          <p:spPr>
            <a:xfrm>
              <a:off x="4191000" y="2209800"/>
              <a:ext cx="133350" cy="114300"/>
            </a:xfrm>
            <a:prstGeom prst="triangle">
              <a:avLst/>
            </a:prstGeom>
            <a:solidFill>
              <a:schemeClr val="accent1"/>
            </a:solidFill>
            <a:ln>
              <a:noFill/>
            </a:ln>
          </p:spPr>
        </p:sp>
        <p:sp>
          <p:nvSpPr>
            <p:cNvPr id="24" name="TextBox 24"/>
            <p:cNvSpPr txBox="1"/>
            <p:nvPr/>
          </p:nvSpPr>
          <p:spPr>
            <a:xfrm>
              <a:off x="3134296" y="2385060"/>
              <a:ext cx="2246757"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First bypass reduces impact</a:t>
              </a:r>
            </a:p>
          </p:txBody>
        </p:sp>
      </p:grpSp>
      <p:grpSp>
        <p:nvGrpSpPr>
          <p:cNvPr id="55" name="Group 55"/>
          <p:cNvGrpSpPr/>
          <p:nvPr/>
        </p:nvGrpSpPr>
        <p:grpSpPr>
          <a:xfrm>
            <a:off x="609600" y="2851785"/>
            <a:ext cx="10972800" cy="2872740"/>
            <a:chOff x="609600" y="2851785"/>
            <a:chExt cx="10972800" cy="2872740"/>
          </a:xfrm>
        </p:grpSpPr>
        <p:sp>
          <p:nvSpPr>
            <p:cNvPr id="26" name="Rectangle 26"/>
            <p:cNvSpPr/>
            <p:nvPr/>
          </p:nvSpPr>
          <p:spPr>
            <a:xfrm>
              <a:off x="1657350" y="3162300"/>
              <a:ext cx="1619250" cy="342900"/>
            </a:xfrm>
            <a:prstGeom prst="rect">
              <a:avLst/>
            </a:prstGeom>
            <a:solidFill>
              <a:srgbClr val="EDEFF2"/>
            </a:solidFill>
            <a:ln>
              <a:noFill/>
            </a:ln>
          </p:spPr>
        </p:sp>
        <p:sp>
          <p:nvSpPr>
            <p:cNvPr id="27" name="Rectangle 27"/>
            <p:cNvSpPr/>
            <p:nvPr/>
          </p:nvSpPr>
          <p:spPr>
            <a:xfrm>
              <a:off x="1657350" y="3505200"/>
              <a:ext cx="1619250" cy="342900"/>
            </a:xfrm>
            <a:prstGeom prst="rect">
              <a:avLst/>
            </a:prstGeom>
            <a:solidFill>
              <a:srgbClr val="F7E4E2"/>
            </a:solidFill>
            <a:ln>
              <a:noFill/>
            </a:ln>
          </p:spPr>
        </p:sp>
        <p:sp>
          <p:nvSpPr>
            <p:cNvPr id="28" name="Rectangle 28"/>
            <p:cNvSpPr/>
            <p:nvPr/>
          </p:nvSpPr>
          <p:spPr>
            <a:xfrm>
              <a:off x="1657350" y="3848100"/>
              <a:ext cx="1619250" cy="552450"/>
            </a:xfrm>
            <a:prstGeom prst="rect">
              <a:avLst/>
            </a:prstGeom>
            <a:solidFill>
              <a:srgbClr val="F7E4E2"/>
            </a:solidFill>
            <a:ln>
              <a:noFill/>
            </a:ln>
          </p:spPr>
        </p:sp>
        <p:sp>
          <p:nvSpPr>
            <p:cNvPr id="29" name="Rectangle 29"/>
            <p:cNvSpPr/>
            <p:nvPr/>
          </p:nvSpPr>
          <p:spPr>
            <a:xfrm>
              <a:off x="1657350" y="4400550"/>
              <a:ext cx="1619250" cy="762000"/>
            </a:xfrm>
            <a:prstGeom prst="rect">
              <a:avLst/>
            </a:prstGeom>
            <a:solidFill>
              <a:srgbClr val="F7E4E2"/>
            </a:solidFill>
            <a:ln>
              <a:noFill/>
            </a:ln>
          </p:spPr>
        </p:sp>
        <p:sp>
          <p:nvSpPr>
            <p:cNvPr id="30" name="Rectangle 30"/>
            <p:cNvSpPr/>
            <p:nvPr/>
          </p:nvSpPr>
          <p:spPr>
            <a:xfrm>
              <a:off x="1657350" y="5162550"/>
              <a:ext cx="1619250" cy="552450"/>
            </a:xfrm>
            <a:prstGeom prst="rect">
              <a:avLst/>
            </a:prstGeom>
            <a:solidFill>
              <a:srgbClr val="FAF0DC"/>
            </a:solidFill>
            <a:ln>
              <a:noFill/>
            </a:ln>
          </p:spPr>
        </p:sp>
        <p:sp>
          <p:nvSpPr>
            <p:cNvPr id="31" name="Line 31"/>
            <p:cNvSpPr/>
            <p:nvPr/>
          </p:nvSpPr>
          <p:spPr>
            <a:xfrm>
              <a:off x="609600" y="316230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32" name="Line 32"/>
            <p:cNvSpPr/>
            <p:nvPr/>
          </p:nvSpPr>
          <p:spPr>
            <a:xfrm>
              <a:off x="609600" y="3505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3" name="Line 33"/>
            <p:cNvSpPr/>
            <p:nvPr/>
          </p:nvSpPr>
          <p:spPr>
            <a:xfrm>
              <a:off x="609600" y="3848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Line 34"/>
            <p:cNvSpPr/>
            <p:nvPr/>
          </p:nvSpPr>
          <p:spPr>
            <a:xfrm>
              <a:off x="609600" y="4400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Line 35"/>
            <p:cNvSpPr/>
            <p:nvPr/>
          </p:nvSpPr>
          <p:spPr>
            <a:xfrm>
              <a:off x="609600" y="5162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6" name="Line 36"/>
            <p:cNvSpPr/>
            <p:nvPr/>
          </p:nvSpPr>
          <p:spPr>
            <a:xfrm>
              <a:off x="609600" y="5715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717804" y="2851785"/>
              <a:ext cx="92275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Time (UTC)</a:t>
              </a:r>
            </a:p>
          </p:txBody>
        </p:sp>
        <p:sp>
          <p:nvSpPr>
            <p:cNvPr id="38" name="TextBox 38"/>
            <p:cNvSpPr txBox="1"/>
            <p:nvPr/>
          </p:nvSpPr>
          <p:spPr>
            <a:xfrm>
              <a:off x="1765554" y="2851785"/>
              <a:ext cx="721101"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Severity</a:t>
              </a:r>
            </a:p>
          </p:txBody>
        </p:sp>
        <p:sp>
          <p:nvSpPr>
            <p:cNvPr id="39" name="TextBox 39"/>
            <p:cNvSpPr txBox="1"/>
            <p:nvPr/>
          </p:nvSpPr>
          <p:spPr>
            <a:xfrm>
              <a:off x="3384804" y="2851785"/>
              <a:ext cx="128137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Recorded event</a:t>
              </a:r>
            </a:p>
          </p:txBody>
        </p:sp>
        <p:sp>
          <p:nvSpPr>
            <p:cNvPr id="40" name="TextBox 40"/>
            <p:cNvSpPr txBox="1"/>
            <p:nvPr/>
          </p:nvSpPr>
          <p:spPr>
            <a:xfrm>
              <a:off x="717042" y="321659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11:05</a:t>
              </a:r>
            </a:p>
          </p:txBody>
        </p:sp>
        <p:sp>
          <p:nvSpPr>
            <p:cNvPr id="41" name="TextBox 41"/>
            <p:cNvSpPr txBox="1"/>
            <p:nvPr/>
          </p:nvSpPr>
          <p:spPr>
            <a:xfrm>
              <a:off x="1765554" y="3232785"/>
              <a:ext cx="56866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Normal</a:t>
              </a:r>
            </a:p>
          </p:txBody>
        </p:sp>
        <p:sp>
          <p:nvSpPr>
            <p:cNvPr id="42" name="TextBox 42"/>
            <p:cNvSpPr txBox="1"/>
            <p:nvPr/>
          </p:nvSpPr>
          <p:spPr>
            <a:xfrm>
              <a:off x="3384804" y="3232785"/>
              <a:ext cx="332920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Database access control change deployed.</a:t>
              </a:r>
            </a:p>
          </p:txBody>
        </p:sp>
        <p:sp>
          <p:nvSpPr>
            <p:cNvPr id="43" name="TextBox 43"/>
            <p:cNvSpPr txBox="1"/>
            <p:nvPr/>
          </p:nvSpPr>
          <p:spPr>
            <a:xfrm>
              <a:off x="717042" y="355949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11:28</a:t>
              </a:r>
            </a:p>
          </p:txBody>
        </p:sp>
        <p:sp>
          <p:nvSpPr>
            <p:cNvPr id="44" name="TextBox 44"/>
            <p:cNvSpPr txBox="1"/>
            <p:nvPr/>
          </p:nvSpPr>
          <p:spPr>
            <a:xfrm>
              <a:off x="1765554" y="3575685"/>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45" name="TextBox 45"/>
            <p:cNvSpPr txBox="1"/>
            <p:nvPr/>
          </p:nvSpPr>
          <p:spPr>
            <a:xfrm>
              <a:off x="3384804" y="3575685"/>
              <a:ext cx="7511064"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Deployment reaches customer environments; first errors observed on customer HTTP traffic.</a:t>
              </a:r>
            </a:p>
          </p:txBody>
        </p:sp>
        <p:sp>
          <p:nvSpPr>
            <p:cNvPr id="46" name="TextBox 46"/>
            <p:cNvSpPr txBox="1"/>
            <p:nvPr/>
          </p:nvSpPr>
          <p:spPr>
            <a:xfrm>
              <a:off x="717042" y="390239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11:31</a:t>
              </a:r>
            </a:p>
          </p:txBody>
        </p:sp>
        <p:sp>
          <p:nvSpPr>
            <p:cNvPr id="47" name="TextBox 47"/>
            <p:cNvSpPr txBox="1"/>
            <p:nvPr/>
          </p:nvSpPr>
          <p:spPr>
            <a:xfrm>
              <a:off x="1765554" y="3918585"/>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48" name="TextBox 48"/>
            <p:cNvSpPr txBox="1"/>
            <p:nvPr/>
          </p:nvSpPr>
          <p:spPr>
            <a:xfrm>
              <a:off x="3384804" y="3918585"/>
              <a:ext cx="64282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First automated test detects the issue; manual investigation starts at 11:32 and the</a:t>
              </a:r>
              <a:br/>
              <a:r>
                <a:rPr lang="en" sz="1200" dirty="0">
                  <a:solidFill>
                    <a:schemeClr val="dk1"/>
                  </a:solidFill>
                  <a:latin typeface="+mn-lt"/>
                  <a:ea typeface="+mn-ea"/>
                  <a:cs typeface="+mn-cs"/>
                </a:rPr>
                <a:t>incident call is created at 11:35.</a:t>
              </a:r>
            </a:p>
          </p:txBody>
        </p:sp>
        <p:sp>
          <p:nvSpPr>
            <p:cNvPr id="49" name="TextBox 49"/>
            <p:cNvSpPr txBox="1"/>
            <p:nvPr/>
          </p:nvSpPr>
          <p:spPr>
            <a:xfrm>
              <a:off x="717042" y="445484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11:32</a:t>
              </a:r>
            </a:p>
          </p:txBody>
        </p:sp>
        <p:sp>
          <p:nvSpPr>
            <p:cNvPr id="50" name="TextBox 50"/>
            <p:cNvSpPr txBox="1"/>
            <p:nvPr/>
          </p:nvSpPr>
          <p:spPr>
            <a:xfrm>
              <a:off x="1765554" y="4471035"/>
              <a:ext cx="63569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Critical</a:t>
              </a:r>
            </a:p>
          </p:txBody>
        </p:sp>
        <p:sp>
          <p:nvSpPr>
            <p:cNvPr id="51" name="TextBox 51"/>
            <p:cNvSpPr txBox="1"/>
            <p:nvPr/>
          </p:nvSpPr>
          <p:spPr>
            <a:xfrm>
              <a:off x="3384804" y="4471035"/>
              <a:ext cx="738073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Through 13:05 the team investigates elevated traffic levels and errors to Workers KV. The initial</a:t>
              </a:r>
              <a:br/>
              <a:r>
                <a:rPr lang="en" sz="1200" dirty="0">
                  <a:solidFill>
                    <a:schemeClr val="dk1"/>
                  </a:solidFill>
                  <a:latin typeface="+mn-lt"/>
                  <a:ea typeface="+mn-ea"/>
                  <a:cs typeface="+mn-cs"/>
                </a:rPr>
                <a:t>symptom appeared to be a degraded Workers KV response rate causing downstream impact on other</a:t>
              </a:r>
              <a:br/>
              <a:r>
                <a:rPr lang="en" sz="1200" dirty="0">
                  <a:solidFill>
                    <a:schemeClr val="dk1"/>
                  </a:solidFill>
                  <a:latin typeface="+mn-lt"/>
                  <a:ea typeface="+mn-ea"/>
                  <a:cs typeface="+mn-cs"/>
                </a:rPr>
                <a:t>Cloudflare services. Traffic manipulation and account limiting were attempted.</a:t>
              </a:r>
            </a:p>
          </p:txBody>
        </p:sp>
        <p:sp>
          <p:nvSpPr>
            <p:cNvPr id="52" name="TextBox 52"/>
            <p:cNvSpPr txBox="1"/>
            <p:nvPr/>
          </p:nvSpPr>
          <p:spPr>
            <a:xfrm>
              <a:off x="717042" y="521684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13:05</a:t>
              </a:r>
            </a:p>
          </p:txBody>
        </p:sp>
        <p:sp>
          <p:nvSpPr>
            <p:cNvPr id="53" name="TextBox 53"/>
            <p:cNvSpPr txBox="1"/>
            <p:nvPr/>
          </p:nvSpPr>
          <p:spPr>
            <a:xfrm>
              <a:off x="1765554" y="5233035"/>
              <a:ext cx="76380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Degraded</a:t>
              </a:r>
            </a:p>
          </p:txBody>
        </p:sp>
        <p:sp>
          <p:nvSpPr>
            <p:cNvPr id="54" name="TextBox 54"/>
            <p:cNvSpPr txBox="1"/>
            <p:nvPr/>
          </p:nvSpPr>
          <p:spPr>
            <a:xfrm>
              <a:off x="3384804" y="5233035"/>
              <a:ext cx="67711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Workers KV and Cloudflare Access bypass implemented and impact reduced: internal system</a:t>
              </a:r>
              <a:br/>
              <a:r>
                <a:rPr lang="en" sz="1200" dirty="0">
                  <a:solidFill>
                    <a:schemeClr val="dk1"/>
                  </a:solidFill>
                  <a:latin typeface="+mn-lt"/>
                  <a:ea typeface="+mn-ea"/>
                  <a:cs typeface="+mn-cs"/>
                </a:rPr>
                <a:t>bypasses fell back to a prior version of the core proxy.</a:t>
              </a:r>
            </a:p>
          </p:txBody>
        </p:sp>
      </p:grpSp>
      <p:grpSp>
        <p:nvGrpSpPr>
          <p:cNvPr id="57" name="Group 57"/>
          <p:cNvGrpSpPr/>
          <p:nvPr/>
        </p:nvGrpSpPr>
        <p:grpSpPr>
          <a:xfrm>
            <a:off x="603504" y="5833110"/>
            <a:ext cx="9696755" cy="234696"/>
            <a:chOff x="603504" y="5833110"/>
            <a:chExt cx="9696755" cy="234696"/>
          </a:xfrm>
        </p:grpSpPr>
        <p:sp>
          <p:nvSpPr>
            <p:cNvPr id="56" name="TextBox 56"/>
            <p:cNvSpPr txBox="1"/>
            <p:nvPr/>
          </p:nvSpPr>
          <p:spPr>
            <a:xfrm>
              <a:off x="603504" y="5833110"/>
              <a:ext cx="9696755"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1 h 37 min from the first customer errors at 11:28 to the first bypass at 13:05 — derived from the published timestamps.</a:t>
              </a:r>
            </a:p>
          </p:txBody>
        </p:sp>
      </p:grpSp>
      <p:grpSp>
        <p:nvGrpSpPr>
          <p:cNvPr id="60" name="Group 60"/>
          <p:cNvGrpSpPr/>
          <p:nvPr/>
        </p:nvGrpSpPr>
        <p:grpSpPr>
          <a:xfrm>
            <a:off x="604838" y="6494145"/>
            <a:ext cx="10982325" cy="176212"/>
            <a:chOff x="604838" y="6494145"/>
            <a:chExt cx="10982325" cy="176212"/>
          </a:xfrm>
        </p:grpSpPr>
        <p:sp>
          <p:nvSpPr>
            <p:cNvPr id="58" name="TextBox 58"/>
            <p:cNvSpPr txBox="1"/>
            <p:nvPr/>
          </p:nvSpPr>
          <p:spPr>
            <a:xfrm>
              <a:off x="604838" y="6494145"/>
              <a:ext cx="8726255"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Severity bands are this review’s reading of the published status column.</a:t>
              </a:r>
            </a:p>
          </p:txBody>
        </p:sp>
        <p:sp>
          <p:nvSpPr>
            <p:cNvPr id="59" name="TextBox 59"/>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7012305"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From confidence in the trigger at 13:37</a:t>
              </a:r>
              <a:br/>
              <a:r>
                <a:rPr lang="en" sz="2700" b="1" dirty="0">
                  <a:solidFill>
                    <a:schemeClr val="dk1"/>
                  </a:solidFill>
                  <a:latin typeface="+mn-lt"/>
                  <a:ea typeface="+mn-ea"/>
                  <a:cs typeface="+mn-cs"/>
                </a:rPr>
                <a:t>to full restoration at 17:06</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579245"/>
            <a:ext cx="10986516" cy="592455"/>
            <a:chOff x="602742" y="1579245"/>
            <a:chExt cx="10986516" cy="592455"/>
          </a:xfrm>
        </p:grpSpPr>
        <p:sp>
          <p:nvSpPr>
            <p:cNvPr id="5" name="Freeform 5"/>
            <p:cNvSpPr/>
            <p:nvPr/>
          </p:nvSpPr>
          <p:spPr>
            <a:xfrm>
              <a:off x="60960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85725" y="64294"/>
                  </a:moveTo>
                  <a:lnTo>
                    <a:pt x="85725" y="50006"/>
                  </a:lnTo>
                  <a:lnTo>
                    <a:pt x="28575" y="50006"/>
                  </a:lnTo>
                  <a:lnTo>
                    <a:pt x="28575" y="64294"/>
                  </a:lnTo>
                  <a:lnTo>
                    <a:pt x="85725" y="64294"/>
                  </a:lnTo>
                  <a:close/>
                </a:path>
              </a:pathLst>
            </a:custGeom>
            <a:solidFill>
              <a:srgbClr val="4A5568"/>
            </a:solidFill>
            <a:ln>
              <a:noFill/>
            </a:ln>
          </p:spPr>
        </p:sp>
        <p:sp>
          <p:nvSpPr>
            <p:cNvPr id="6" name="TextBox 6"/>
            <p:cNvSpPr txBox="1"/>
            <p:nvPr/>
          </p:nvSpPr>
          <p:spPr>
            <a:xfrm>
              <a:off x="757238" y="1579245"/>
              <a:ext cx="506867"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NORMAL</a:t>
              </a:r>
            </a:p>
          </p:txBody>
        </p:sp>
        <p:sp>
          <p:nvSpPr>
            <p:cNvPr id="7" name="Freeform 7"/>
            <p:cNvSpPr/>
            <p:nvPr/>
          </p:nvSpPr>
          <p:spPr>
            <a:xfrm>
              <a:off x="1304925"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30667" y="40770"/>
                  </a:moveTo>
                  <a:lnTo>
                    <a:pt x="47047" y="57150"/>
                  </a:lnTo>
                  <a:lnTo>
                    <a:pt x="30667" y="73530"/>
                  </a:lnTo>
                  <a:lnTo>
                    <a:pt x="40770" y="83633"/>
                  </a:lnTo>
                  <a:lnTo>
                    <a:pt x="57150" y="67253"/>
                  </a:lnTo>
                  <a:lnTo>
                    <a:pt x="73530" y="83633"/>
                  </a:lnTo>
                  <a:lnTo>
                    <a:pt x="83633" y="73530"/>
                  </a:lnTo>
                  <a:lnTo>
                    <a:pt x="67253" y="57150"/>
                  </a:lnTo>
                  <a:lnTo>
                    <a:pt x="83633" y="40770"/>
                  </a:lnTo>
                  <a:lnTo>
                    <a:pt x="73530" y="30667"/>
                  </a:lnTo>
                  <a:lnTo>
                    <a:pt x="57150" y="47047"/>
                  </a:lnTo>
                  <a:lnTo>
                    <a:pt x="40770" y="30667"/>
                  </a:lnTo>
                  <a:lnTo>
                    <a:pt x="30667" y="40770"/>
                  </a:lnTo>
                  <a:close/>
                </a:path>
              </a:pathLst>
            </a:custGeom>
            <a:solidFill>
              <a:schemeClr val="accent2"/>
            </a:solidFill>
            <a:ln>
              <a:noFill/>
            </a:ln>
          </p:spPr>
        </p:sp>
        <p:sp>
          <p:nvSpPr>
            <p:cNvPr id="8" name="TextBox 8"/>
            <p:cNvSpPr txBox="1"/>
            <p:nvPr/>
          </p:nvSpPr>
          <p:spPr>
            <a:xfrm>
              <a:off x="1452562" y="1579245"/>
              <a:ext cx="533751"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CRITICAL</a:t>
              </a:r>
            </a:p>
          </p:txBody>
        </p:sp>
        <p:sp>
          <p:nvSpPr>
            <p:cNvPr id="9" name="Freeform 9"/>
            <p:cNvSpPr/>
            <p:nvPr/>
          </p:nvSpPr>
          <p:spPr>
            <a:xfrm>
              <a:off x="4257675" y="1581150"/>
              <a:ext cx="114300" cy="107156"/>
            </a:xfrm>
            <a:custGeom>
              <a:avLst/>
              <a:gdLst/>
              <a:ahLst/>
              <a:cxnLst/>
              <a:rect l="l" t="t" r="r" b="b"/>
              <a:pathLst>
                <a:path w="114300" h="107156">
                  <a:moveTo>
                    <a:pt x="114300" y="107156"/>
                  </a:moveTo>
                  <a:lnTo>
                    <a:pt x="0" y="107156"/>
                  </a:lnTo>
                  <a:lnTo>
                    <a:pt x="0" y="85725"/>
                  </a:lnTo>
                  <a:lnTo>
                    <a:pt x="50006" y="0"/>
                  </a:lnTo>
                  <a:lnTo>
                    <a:pt x="64294" y="0"/>
                  </a:lnTo>
                  <a:lnTo>
                    <a:pt x="114300" y="85725"/>
                  </a:lnTo>
                  <a:lnTo>
                    <a:pt x="114300" y="107156"/>
                  </a:lnTo>
                  <a:close/>
                  <a:moveTo>
                    <a:pt x="50006" y="28575"/>
                  </a:moveTo>
                  <a:lnTo>
                    <a:pt x="64294" y="28575"/>
                  </a:lnTo>
                  <a:lnTo>
                    <a:pt x="64294" y="64294"/>
                  </a:lnTo>
                  <a:lnTo>
                    <a:pt x="50006" y="64294"/>
                  </a:lnTo>
                  <a:lnTo>
                    <a:pt x="50006" y="28575"/>
                  </a:lnTo>
                  <a:close/>
                  <a:moveTo>
                    <a:pt x="50006" y="78581"/>
                  </a:moveTo>
                  <a:lnTo>
                    <a:pt x="64294" y="78581"/>
                  </a:lnTo>
                  <a:lnTo>
                    <a:pt x="64294" y="92869"/>
                  </a:lnTo>
                  <a:lnTo>
                    <a:pt x="50006" y="92869"/>
                  </a:lnTo>
                  <a:lnTo>
                    <a:pt x="50006" y="78581"/>
                  </a:lnTo>
                  <a:close/>
                </a:path>
              </a:pathLst>
            </a:custGeom>
            <a:solidFill>
              <a:schemeClr val="accent3"/>
            </a:solidFill>
            <a:ln>
              <a:noFill/>
            </a:ln>
          </p:spPr>
        </p:sp>
        <p:sp>
          <p:nvSpPr>
            <p:cNvPr id="10" name="TextBox 10"/>
            <p:cNvSpPr txBox="1"/>
            <p:nvPr/>
          </p:nvSpPr>
          <p:spPr>
            <a:xfrm>
              <a:off x="4405312" y="1579245"/>
              <a:ext cx="600959"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DEGRADED</a:t>
              </a:r>
            </a:p>
          </p:txBody>
        </p:sp>
        <p:sp>
          <p:nvSpPr>
            <p:cNvPr id="11" name="Freeform 11"/>
            <p:cNvSpPr/>
            <p:nvPr/>
          </p:nvSpPr>
          <p:spPr>
            <a:xfrm>
              <a:off x="6838950" y="15811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2" name="TextBox 12"/>
            <p:cNvSpPr txBox="1"/>
            <p:nvPr/>
          </p:nvSpPr>
          <p:spPr>
            <a:xfrm>
              <a:off x="6986588" y="1579245"/>
              <a:ext cx="70177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RECOVERED</a:t>
              </a:r>
            </a:p>
          </p:txBody>
        </p:sp>
        <p:sp>
          <p:nvSpPr>
            <p:cNvPr id="13" name="TextBox 13"/>
            <p:cNvSpPr txBox="1"/>
            <p:nvPr/>
          </p:nvSpPr>
          <p:spPr>
            <a:xfrm>
              <a:off x="60274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11:05</a:t>
              </a:r>
            </a:p>
          </p:txBody>
        </p:sp>
        <p:sp>
          <p:nvSpPr>
            <p:cNvPr id="14" name="TextBox 14"/>
            <p:cNvSpPr txBox="1"/>
            <p:nvPr/>
          </p:nvSpPr>
          <p:spPr>
            <a:xfrm>
              <a:off x="133616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11:28</a:t>
              </a:r>
            </a:p>
          </p:txBody>
        </p:sp>
        <p:sp>
          <p:nvSpPr>
            <p:cNvPr id="15" name="TextBox 15"/>
            <p:cNvSpPr txBox="1"/>
            <p:nvPr/>
          </p:nvSpPr>
          <p:spPr>
            <a:xfrm>
              <a:off x="4288917"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13:05</a:t>
              </a:r>
            </a:p>
          </p:txBody>
        </p:sp>
        <p:sp>
          <p:nvSpPr>
            <p:cNvPr id="16" name="TextBox 16"/>
            <p:cNvSpPr txBox="1"/>
            <p:nvPr/>
          </p:nvSpPr>
          <p:spPr>
            <a:xfrm>
              <a:off x="6870192" y="1778318"/>
              <a:ext cx="513493" cy="264033"/>
            </a:xfrm>
            <a:prstGeom prst="rect">
              <a:avLst/>
            </a:prstGeom>
            <a:noFill/>
            <a:ln>
              <a:noFill/>
            </a:ln>
          </p:spPr>
          <p:txBody>
            <a:bodyPr wrap="none" lIns="0" tIns="0" rIns="0" bIns="0" anchor="t" anchorCtr="0">
              <a:spAutoFit/>
            </a:bodyPr>
            <a:lstStyle/>
            <a:p>
              <a:pPr algn="l"/>
              <a:r>
                <a:rPr lang="en" sz="1350" dirty="0">
                  <a:solidFill>
                    <a:schemeClr val="accent5"/>
                  </a:solidFill>
                  <a:latin typeface="Consolas"/>
                  <a:ea typeface="Consolas"/>
                  <a:cs typeface="Consolas"/>
                </a:rPr>
                <a:t>14:30</a:t>
              </a:r>
            </a:p>
          </p:txBody>
        </p:sp>
        <p:sp>
          <p:nvSpPr>
            <p:cNvPr id="17" name="TextBox 17"/>
            <p:cNvSpPr txBox="1"/>
            <p:nvPr/>
          </p:nvSpPr>
          <p:spPr>
            <a:xfrm>
              <a:off x="11075765" y="1778318"/>
              <a:ext cx="513493" cy="264033"/>
            </a:xfrm>
            <a:prstGeom prst="rect">
              <a:avLst/>
            </a:prstGeom>
            <a:noFill/>
            <a:ln>
              <a:noFill/>
            </a:ln>
          </p:spPr>
          <p:txBody>
            <a:bodyPr wrap="none" lIns="0" tIns="0" rIns="0" bIns="0" anchor="t" anchorCtr="0">
              <a:spAutoFit/>
            </a:bodyPr>
            <a:lstStyle/>
            <a:p>
              <a:pPr algn="r"/>
              <a:r>
                <a:rPr lang="en" sz="1350" dirty="0">
                  <a:solidFill>
                    <a:schemeClr val="accent5"/>
                  </a:solidFill>
                  <a:latin typeface="Consolas"/>
                  <a:ea typeface="Consolas"/>
                  <a:cs typeface="Consolas"/>
                </a:rPr>
                <a:t>17:06</a:t>
              </a:r>
            </a:p>
          </p:txBody>
        </p:sp>
        <p:sp>
          <p:nvSpPr>
            <p:cNvPr id="18" name="Rectangle 18"/>
            <p:cNvSpPr/>
            <p:nvPr/>
          </p:nvSpPr>
          <p:spPr>
            <a:xfrm>
              <a:off x="609600" y="2019300"/>
              <a:ext cx="695325" cy="152400"/>
            </a:xfrm>
            <a:prstGeom prst="rect">
              <a:avLst/>
            </a:prstGeom>
            <a:solidFill>
              <a:srgbClr val="4A5568"/>
            </a:solidFill>
            <a:ln>
              <a:noFill/>
            </a:ln>
          </p:spPr>
        </p:sp>
        <p:sp>
          <p:nvSpPr>
            <p:cNvPr id="19" name="Rectangle 19"/>
            <p:cNvSpPr/>
            <p:nvPr/>
          </p:nvSpPr>
          <p:spPr>
            <a:xfrm>
              <a:off x="1304925" y="2019300"/>
              <a:ext cx="2952750" cy="152400"/>
            </a:xfrm>
            <a:prstGeom prst="rect">
              <a:avLst/>
            </a:prstGeom>
            <a:solidFill>
              <a:schemeClr val="accent2"/>
            </a:solidFill>
            <a:ln>
              <a:noFill/>
            </a:ln>
          </p:spPr>
        </p:sp>
        <p:sp>
          <p:nvSpPr>
            <p:cNvPr id="20" name="Rectangle 20"/>
            <p:cNvSpPr/>
            <p:nvPr/>
          </p:nvSpPr>
          <p:spPr>
            <a:xfrm>
              <a:off x="4257675" y="2019300"/>
              <a:ext cx="2581275" cy="152400"/>
            </a:xfrm>
            <a:prstGeom prst="rect">
              <a:avLst/>
            </a:prstGeom>
            <a:solidFill>
              <a:schemeClr val="accent3"/>
            </a:solidFill>
            <a:ln>
              <a:noFill/>
            </a:ln>
          </p:spPr>
        </p:sp>
        <p:sp>
          <p:nvSpPr>
            <p:cNvPr id="21" name="Rectangle 21"/>
            <p:cNvSpPr/>
            <p:nvPr/>
          </p:nvSpPr>
          <p:spPr>
            <a:xfrm>
              <a:off x="6838950" y="2019300"/>
              <a:ext cx="4743450" cy="152400"/>
            </a:xfrm>
            <a:prstGeom prst="rect">
              <a:avLst/>
            </a:prstGeom>
            <a:solidFill>
              <a:srgbClr val="2E7D5B"/>
            </a:solidFill>
            <a:ln>
              <a:noFill/>
            </a:ln>
          </p:spPr>
        </p:sp>
      </p:grpSp>
      <p:grpSp>
        <p:nvGrpSpPr>
          <p:cNvPr id="25" name="!!incident-clock"/>
          <p:cNvGrpSpPr/>
          <p:nvPr/>
        </p:nvGrpSpPr>
        <p:grpSpPr>
          <a:xfrm>
            <a:off x="9947950" y="2209800"/>
            <a:ext cx="1640546" cy="409956"/>
            <a:chOff x="9947950" y="2209800"/>
            <a:chExt cx="1640546" cy="409956"/>
          </a:xfrm>
        </p:grpSpPr>
        <p:sp>
          <p:nvSpPr>
            <p:cNvPr id="23" name="Freeform 23"/>
            <p:cNvSpPr/>
            <p:nvPr/>
          </p:nvSpPr>
          <p:spPr>
            <a:xfrm>
              <a:off x="11439525" y="2209800"/>
              <a:ext cx="133350" cy="114300"/>
            </a:xfrm>
            <a:prstGeom prst="triangle">
              <a:avLst/>
            </a:prstGeom>
            <a:solidFill>
              <a:schemeClr val="accent1"/>
            </a:solidFill>
            <a:ln>
              <a:noFill/>
            </a:ln>
          </p:spPr>
        </p:sp>
        <p:sp>
          <p:nvSpPr>
            <p:cNvPr id="24" name="TextBox 24"/>
            <p:cNvSpPr txBox="1"/>
            <p:nvPr/>
          </p:nvSpPr>
          <p:spPr>
            <a:xfrm>
              <a:off x="9947950" y="2385060"/>
              <a:ext cx="1640546" cy="234696"/>
            </a:xfrm>
            <a:prstGeom prst="rect">
              <a:avLst/>
            </a:prstGeom>
            <a:noFill/>
            <a:ln>
              <a:noFill/>
            </a:ln>
          </p:spPr>
          <p:txBody>
            <a:bodyPr wrap="none" lIns="0" tIns="0" rIns="0" bIns="0" anchor="t" anchorCtr="0">
              <a:spAutoFit/>
            </a:bodyPr>
            <a:lstStyle/>
            <a:p>
              <a:pPr algn="r"/>
              <a:r>
                <a:rPr lang="en" sz="1200" dirty="0">
                  <a:solidFill>
                    <a:schemeClr val="accent5"/>
                  </a:solidFill>
                  <a:latin typeface="+mn-lt"/>
                  <a:ea typeface="+mn-ea"/>
                  <a:cs typeface="+mn-cs"/>
                </a:rPr>
                <a:t>All services resolved</a:t>
              </a:r>
            </a:p>
          </p:txBody>
        </p:sp>
      </p:grpSp>
      <p:grpSp>
        <p:nvGrpSpPr>
          <p:cNvPr id="55" name="Group 55"/>
          <p:cNvGrpSpPr/>
          <p:nvPr/>
        </p:nvGrpSpPr>
        <p:grpSpPr>
          <a:xfrm>
            <a:off x="609600" y="2851785"/>
            <a:ext cx="10972800" cy="2872740"/>
            <a:chOff x="609600" y="2851785"/>
            <a:chExt cx="10972800" cy="2872740"/>
          </a:xfrm>
        </p:grpSpPr>
        <p:sp>
          <p:nvSpPr>
            <p:cNvPr id="26" name="Rectangle 26"/>
            <p:cNvSpPr/>
            <p:nvPr/>
          </p:nvSpPr>
          <p:spPr>
            <a:xfrm>
              <a:off x="1657350" y="3162300"/>
              <a:ext cx="1619250" cy="552450"/>
            </a:xfrm>
            <a:prstGeom prst="rect">
              <a:avLst/>
            </a:prstGeom>
            <a:solidFill>
              <a:srgbClr val="FAF0DC"/>
            </a:solidFill>
            <a:ln>
              <a:noFill/>
            </a:ln>
          </p:spPr>
        </p:sp>
        <p:sp>
          <p:nvSpPr>
            <p:cNvPr id="27" name="Rectangle 27"/>
            <p:cNvSpPr/>
            <p:nvPr/>
          </p:nvSpPr>
          <p:spPr>
            <a:xfrm>
              <a:off x="1657350" y="3714750"/>
              <a:ext cx="1619250" cy="552450"/>
            </a:xfrm>
            <a:prstGeom prst="rect">
              <a:avLst/>
            </a:prstGeom>
            <a:solidFill>
              <a:srgbClr val="FAF0DC"/>
            </a:solidFill>
            <a:ln>
              <a:noFill/>
            </a:ln>
          </p:spPr>
        </p:sp>
        <p:sp>
          <p:nvSpPr>
            <p:cNvPr id="28" name="Rectangle 28"/>
            <p:cNvSpPr/>
            <p:nvPr/>
          </p:nvSpPr>
          <p:spPr>
            <a:xfrm>
              <a:off x="1657350" y="4267200"/>
              <a:ext cx="1619250" cy="552450"/>
            </a:xfrm>
            <a:prstGeom prst="rect">
              <a:avLst/>
            </a:prstGeom>
            <a:solidFill>
              <a:srgbClr val="FAF0DC"/>
            </a:solidFill>
            <a:ln>
              <a:noFill/>
            </a:ln>
          </p:spPr>
        </p:sp>
        <p:sp>
          <p:nvSpPr>
            <p:cNvPr id="29" name="Rectangle 29"/>
            <p:cNvSpPr/>
            <p:nvPr/>
          </p:nvSpPr>
          <p:spPr>
            <a:xfrm>
              <a:off x="1657350" y="4819650"/>
              <a:ext cx="1619250" cy="552450"/>
            </a:xfrm>
            <a:prstGeom prst="rect">
              <a:avLst/>
            </a:prstGeom>
            <a:solidFill>
              <a:srgbClr val="E4F0EA"/>
            </a:solidFill>
            <a:ln>
              <a:noFill/>
            </a:ln>
          </p:spPr>
        </p:sp>
        <p:sp>
          <p:nvSpPr>
            <p:cNvPr id="30" name="Rectangle 30"/>
            <p:cNvSpPr/>
            <p:nvPr/>
          </p:nvSpPr>
          <p:spPr>
            <a:xfrm>
              <a:off x="1657350" y="5372100"/>
              <a:ext cx="1619250" cy="342900"/>
            </a:xfrm>
            <a:prstGeom prst="rect">
              <a:avLst/>
            </a:prstGeom>
            <a:solidFill>
              <a:srgbClr val="E4F0EA"/>
            </a:solidFill>
            <a:ln>
              <a:noFill/>
            </a:ln>
          </p:spPr>
        </p:sp>
        <p:sp>
          <p:nvSpPr>
            <p:cNvPr id="31" name="Line 31"/>
            <p:cNvSpPr/>
            <p:nvPr/>
          </p:nvSpPr>
          <p:spPr>
            <a:xfrm>
              <a:off x="609600" y="316230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32" name="Line 32"/>
            <p:cNvSpPr/>
            <p:nvPr/>
          </p:nvSpPr>
          <p:spPr>
            <a:xfrm>
              <a:off x="609600" y="3714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3" name="Line 33"/>
            <p:cNvSpPr/>
            <p:nvPr/>
          </p:nvSpPr>
          <p:spPr>
            <a:xfrm>
              <a:off x="609600" y="4267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Line 34"/>
            <p:cNvSpPr/>
            <p:nvPr/>
          </p:nvSpPr>
          <p:spPr>
            <a:xfrm>
              <a:off x="609600" y="4819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5" name="Line 35"/>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6" name="Line 36"/>
            <p:cNvSpPr/>
            <p:nvPr/>
          </p:nvSpPr>
          <p:spPr>
            <a:xfrm>
              <a:off x="609600" y="5715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7" name="TextBox 37"/>
            <p:cNvSpPr txBox="1"/>
            <p:nvPr/>
          </p:nvSpPr>
          <p:spPr>
            <a:xfrm>
              <a:off x="717804" y="2851785"/>
              <a:ext cx="92275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Time (UTC)</a:t>
              </a:r>
            </a:p>
          </p:txBody>
        </p:sp>
        <p:sp>
          <p:nvSpPr>
            <p:cNvPr id="38" name="TextBox 38"/>
            <p:cNvSpPr txBox="1"/>
            <p:nvPr/>
          </p:nvSpPr>
          <p:spPr>
            <a:xfrm>
              <a:off x="1765554" y="2851785"/>
              <a:ext cx="721101"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Severity</a:t>
              </a:r>
            </a:p>
          </p:txBody>
        </p:sp>
        <p:sp>
          <p:nvSpPr>
            <p:cNvPr id="39" name="TextBox 39"/>
            <p:cNvSpPr txBox="1"/>
            <p:nvPr/>
          </p:nvSpPr>
          <p:spPr>
            <a:xfrm>
              <a:off x="3384804" y="2851785"/>
              <a:ext cx="128137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Recorded event</a:t>
              </a:r>
            </a:p>
          </p:txBody>
        </p:sp>
        <p:sp>
          <p:nvSpPr>
            <p:cNvPr id="40" name="TextBox 40"/>
            <p:cNvSpPr txBox="1"/>
            <p:nvPr/>
          </p:nvSpPr>
          <p:spPr>
            <a:xfrm>
              <a:off x="717042" y="321659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13:37</a:t>
              </a:r>
            </a:p>
          </p:txBody>
        </p:sp>
        <p:sp>
          <p:nvSpPr>
            <p:cNvPr id="41" name="TextBox 41"/>
            <p:cNvSpPr txBox="1"/>
            <p:nvPr/>
          </p:nvSpPr>
          <p:spPr>
            <a:xfrm>
              <a:off x="1765554" y="3232785"/>
              <a:ext cx="76380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Degraded</a:t>
              </a:r>
            </a:p>
          </p:txBody>
        </p:sp>
        <p:sp>
          <p:nvSpPr>
            <p:cNvPr id="42" name="TextBox 42"/>
            <p:cNvSpPr txBox="1"/>
            <p:nvPr/>
          </p:nvSpPr>
          <p:spPr>
            <a:xfrm>
              <a:off x="3384804" y="3232785"/>
              <a:ext cx="73426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Work focuses on rolling the Bot Management configuration file back to a last-known-good version;</a:t>
              </a:r>
              <a:br/>
              <a:r>
                <a:rPr lang="en" sz="1200" dirty="0">
                  <a:solidFill>
                    <a:schemeClr val="dk1"/>
                  </a:solidFill>
                  <a:latin typeface="+mn-lt"/>
                  <a:ea typeface="+mn-ea"/>
                  <a:cs typeface="+mn-cs"/>
                </a:rPr>
                <a:t>the file restore is the fastest of several parallel workstreams.</a:t>
              </a:r>
            </a:p>
          </p:txBody>
        </p:sp>
        <p:sp>
          <p:nvSpPr>
            <p:cNvPr id="43" name="TextBox 43"/>
            <p:cNvSpPr txBox="1"/>
            <p:nvPr/>
          </p:nvSpPr>
          <p:spPr>
            <a:xfrm>
              <a:off x="717042" y="376904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14:24</a:t>
              </a:r>
            </a:p>
          </p:txBody>
        </p:sp>
        <p:sp>
          <p:nvSpPr>
            <p:cNvPr id="44" name="TextBox 44"/>
            <p:cNvSpPr txBox="1"/>
            <p:nvPr/>
          </p:nvSpPr>
          <p:spPr>
            <a:xfrm>
              <a:off x="1765554" y="3785235"/>
              <a:ext cx="76380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Degraded</a:t>
              </a:r>
            </a:p>
          </p:txBody>
        </p:sp>
        <p:sp>
          <p:nvSpPr>
            <p:cNvPr id="45" name="TextBox 45"/>
            <p:cNvSpPr txBox="1"/>
            <p:nvPr/>
          </p:nvSpPr>
          <p:spPr>
            <a:xfrm>
              <a:off x="3384804" y="3785235"/>
              <a:ext cx="74340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Creation and propagation of new Bot Management configuration files stopped, after identifying the</a:t>
              </a:r>
              <a:br/>
              <a:r>
                <a:rPr lang="en" sz="1200" dirty="0">
                  <a:solidFill>
                    <a:schemeClr val="dk1"/>
                  </a:solidFill>
                  <a:latin typeface="+mn-lt"/>
                  <a:ea typeface="+mn-ea"/>
                  <a:cs typeface="+mn-cs"/>
                </a:rPr>
                <a:t>module as the source of the 500 errors.</a:t>
              </a:r>
            </a:p>
          </p:txBody>
        </p:sp>
        <p:sp>
          <p:nvSpPr>
            <p:cNvPr id="46" name="TextBox 46"/>
            <p:cNvSpPr txBox="1"/>
            <p:nvPr/>
          </p:nvSpPr>
          <p:spPr>
            <a:xfrm>
              <a:off x="717042" y="432149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14:24</a:t>
              </a:r>
            </a:p>
          </p:txBody>
        </p:sp>
        <p:sp>
          <p:nvSpPr>
            <p:cNvPr id="47" name="TextBox 47"/>
            <p:cNvSpPr txBox="1"/>
            <p:nvPr/>
          </p:nvSpPr>
          <p:spPr>
            <a:xfrm>
              <a:off x="1765554" y="4337685"/>
              <a:ext cx="76380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Degraded</a:t>
              </a:r>
            </a:p>
          </p:txBody>
        </p:sp>
        <p:sp>
          <p:nvSpPr>
            <p:cNvPr id="48" name="TextBox 48"/>
            <p:cNvSpPr txBox="1"/>
            <p:nvPr/>
          </p:nvSpPr>
          <p:spPr>
            <a:xfrm>
              <a:off x="3384804" y="4337685"/>
              <a:ext cx="72511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Test of the new file complete: recovery observed using the old version of the configuration file,</a:t>
              </a:r>
              <a:br/>
              <a:r>
                <a:rPr lang="en" sz="1200" dirty="0">
                  <a:solidFill>
                    <a:schemeClr val="dk1"/>
                  </a:solidFill>
                  <a:latin typeface="+mn-lt"/>
                  <a:ea typeface="+mn-ea"/>
                  <a:cs typeface="+mn-cs"/>
                </a:rPr>
                <a:t>and the fix accelerated globally.</a:t>
              </a:r>
            </a:p>
          </p:txBody>
        </p:sp>
        <p:sp>
          <p:nvSpPr>
            <p:cNvPr id="49" name="TextBox 49"/>
            <p:cNvSpPr txBox="1"/>
            <p:nvPr/>
          </p:nvSpPr>
          <p:spPr>
            <a:xfrm>
              <a:off x="717042" y="487394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14:30</a:t>
              </a:r>
            </a:p>
          </p:txBody>
        </p:sp>
        <p:sp>
          <p:nvSpPr>
            <p:cNvPr id="50" name="TextBox 50"/>
            <p:cNvSpPr txBox="1"/>
            <p:nvPr/>
          </p:nvSpPr>
          <p:spPr>
            <a:xfrm>
              <a:off x="1765554" y="4890135"/>
              <a:ext cx="857098"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Recovered</a:t>
              </a:r>
            </a:p>
          </p:txBody>
        </p:sp>
        <p:sp>
          <p:nvSpPr>
            <p:cNvPr id="51" name="TextBox 51"/>
            <p:cNvSpPr txBox="1"/>
            <p:nvPr/>
          </p:nvSpPr>
          <p:spPr>
            <a:xfrm>
              <a:off x="3384804" y="4890135"/>
              <a:ext cx="69997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Main impact resolved. A correct Bot Management configuration file deployed globally and most</a:t>
              </a:r>
              <a:br/>
              <a:r>
                <a:rPr lang="en" sz="1200" dirty="0">
                  <a:solidFill>
                    <a:schemeClr val="dk1"/>
                  </a:solidFill>
                  <a:latin typeface="+mn-lt"/>
                  <a:ea typeface="+mn-ea"/>
                  <a:cs typeface="+mn-cs"/>
                </a:rPr>
                <a:t>services start operating correctly; downstream services observe reduced errors.</a:t>
              </a:r>
            </a:p>
          </p:txBody>
        </p:sp>
        <p:sp>
          <p:nvSpPr>
            <p:cNvPr id="52" name="TextBox 52"/>
            <p:cNvSpPr txBox="1"/>
            <p:nvPr/>
          </p:nvSpPr>
          <p:spPr>
            <a:xfrm>
              <a:off x="717042" y="5426392"/>
              <a:ext cx="513493" cy="264033"/>
            </a:xfrm>
            <a:prstGeom prst="rect">
              <a:avLst/>
            </a:prstGeom>
            <a:noFill/>
            <a:ln>
              <a:noFill/>
            </a:ln>
          </p:spPr>
          <p:txBody>
            <a:bodyPr wrap="none" lIns="0" tIns="0" rIns="0" bIns="0" anchor="t" anchorCtr="0">
              <a:spAutoFit/>
            </a:bodyPr>
            <a:lstStyle/>
            <a:p>
              <a:pPr algn="l"/>
              <a:r>
                <a:rPr lang="en" sz="1350" dirty="0">
                  <a:solidFill>
                    <a:schemeClr val="dk1"/>
                  </a:solidFill>
                  <a:latin typeface="Consolas"/>
                  <a:ea typeface="Consolas"/>
                  <a:cs typeface="Consolas"/>
                </a:rPr>
                <a:t>17:06</a:t>
              </a:r>
            </a:p>
          </p:txBody>
        </p:sp>
        <p:sp>
          <p:nvSpPr>
            <p:cNvPr id="53" name="TextBox 53"/>
            <p:cNvSpPr txBox="1"/>
            <p:nvPr/>
          </p:nvSpPr>
          <p:spPr>
            <a:xfrm>
              <a:off x="1765554" y="5442585"/>
              <a:ext cx="857098"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Recovered</a:t>
              </a:r>
            </a:p>
          </p:txBody>
        </p:sp>
        <p:sp>
          <p:nvSpPr>
            <p:cNvPr id="54" name="TextBox 54"/>
            <p:cNvSpPr txBox="1"/>
            <p:nvPr/>
          </p:nvSpPr>
          <p:spPr>
            <a:xfrm>
              <a:off x="3384804" y="5442585"/>
              <a:ext cx="7243689"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All services resolved. All downstream services restarted and all operations fully restored.</a:t>
              </a:r>
            </a:p>
          </p:txBody>
        </p:sp>
      </p:grpSp>
      <p:grpSp>
        <p:nvGrpSpPr>
          <p:cNvPr id="57" name="Group 57"/>
          <p:cNvGrpSpPr/>
          <p:nvPr/>
        </p:nvGrpSpPr>
        <p:grpSpPr>
          <a:xfrm>
            <a:off x="603504" y="5833110"/>
            <a:ext cx="9834067" cy="234696"/>
            <a:chOff x="603504" y="5833110"/>
            <a:chExt cx="9834067" cy="234696"/>
          </a:xfrm>
        </p:grpSpPr>
        <p:sp>
          <p:nvSpPr>
            <p:cNvPr id="56" name="TextBox 56"/>
            <p:cNvSpPr txBox="1"/>
            <p:nvPr/>
          </p:nvSpPr>
          <p:spPr>
            <a:xfrm>
              <a:off x="603504" y="5833110"/>
              <a:ext cx="983406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3 h 02 min from impact start to main resolution, and 5 h 38 min to full restoration — derived from the published timestamps.</a:t>
              </a:r>
            </a:p>
          </p:txBody>
        </p:sp>
      </p:grpSp>
      <p:grpSp>
        <p:nvGrpSpPr>
          <p:cNvPr id="60" name="Group 60"/>
          <p:cNvGrpSpPr/>
          <p:nvPr/>
        </p:nvGrpSpPr>
        <p:grpSpPr>
          <a:xfrm>
            <a:off x="604838" y="6494145"/>
            <a:ext cx="10982325" cy="176212"/>
            <a:chOff x="604838" y="6494145"/>
            <a:chExt cx="10982325" cy="176212"/>
          </a:xfrm>
        </p:grpSpPr>
        <p:sp>
          <p:nvSpPr>
            <p:cNvPr id="58" name="TextBox 58"/>
            <p:cNvSpPr txBox="1"/>
            <p:nvPr/>
          </p:nvSpPr>
          <p:spPr>
            <a:xfrm>
              <a:off x="604838" y="6494145"/>
              <a:ext cx="8726255"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Severity bands are this review’s reading of the published status column.</a:t>
              </a:r>
            </a:p>
          </p:txBody>
        </p:sp>
        <p:sp>
          <p:nvSpPr>
            <p:cNvPr id="59" name="TextBox 59"/>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334595"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Detection took three minutes; identifying the failing</a:t>
              </a:r>
              <a:br/>
              <a:r>
                <a:rPr lang="en" sz="2700" b="1" dirty="0">
                  <a:solidFill>
                    <a:schemeClr val="dk1"/>
                  </a:solidFill>
                  <a:latin typeface="+mn-lt"/>
                  <a:ea typeface="+mn-ea"/>
                  <a:cs typeface="+mn-cs"/>
                </a:rPr>
                <a:t>module took two hours and fifty-three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590550" y="1826895"/>
            <a:ext cx="3850386" cy="1269111"/>
            <a:chOff x="590550" y="1826895"/>
            <a:chExt cx="3850386" cy="1269111"/>
          </a:xfrm>
        </p:grpSpPr>
        <p:sp>
          <p:nvSpPr>
            <p:cNvPr id="5" name="Freeform 5"/>
            <p:cNvSpPr/>
            <p:nvPr/>
          </p:nvSpPr>
          <p:spPr>
            <a:xfrm>
              <a:off x="609600" y="18288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50006" y="21431"/>
                  </a:moveTo>
                  <a:lnTo>
                    <a:pt x="50006" y="60109"/>
                  </a:lnTo>
                  <a:lnTo>
                    <a:pt x="73530" y="83633"/>
                  </a:lnTo>
                  <a:lnTo>
                    <a:pt x="83633" y="73530"/>
                  </a:lnTo>
                  <a:lnTo>
                    <a:pt x="64294" y="54191"/>
                  </a:lnTo>
                  <a:lnTo>
                    <a:pt x="64294" y="21431"/>
                  </a:lnTo>
                  <a:lnTo>
                    <a:pt x="50006" y="21431"/>
                  </a:lnTo>
                  <a:close/>
                </a:path>
              </a:pathLst>
            </a:custGeom>
            <a:solidFill>
              <a:srgbClr val="2E7D5B"/>
            </a:solidFill>
            <a:ln>
              <a:noFill/>
            </a:ln>
          </p:spPr>
        </p:sp>
        <p:sp>
          <p:nvSpPr>
            <p:cNvPr id="6" name="TextBox 6"/>
            <p:cNvSpPr txBox="1"/>
            <p:nvPr/>
          </p:nvSpPr>
          <p:spPr>
            <a:xfrm>
              <a:off x="776288" y="1826895"/>
              <a:ext cx="1427622"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AUTOMATED DETECTION</a:t>
              </a:r>
            </a:p>
          </p:txBody>
        </p:sp>
        <p:sp>
          <p:nvSpPr>
            <p:cNvPr id="7" name="TextBox 7"/>
            <p:cNvSpPr txBox="1"/>
            <p:nvPr/>
          </p:nvSpPr>
          <p:spPr>
            <a:xfrm>
              <a:off x="590550" y="2042160"/>
              <a:ext cx="1592961" cy="819150"/>
            </a:xfrm>
            <a:prstGeom prst="rect">
              <a:avLst/>
            </a:prstGeom>
            <a:noFill/>
            <a:ln>
              <a:noFill/>
            </a:ln>
          </p:spPr>
          <p:txBody>
            <a:bodyPr wrap="none" lIns="0" tIns="0" rIns="0" bIns="0" anchor="t" anchorCtr="0">
              <a:spAutoFit/>
            </a:bodyPr>
            <a:lstStyle/>
            <a:p>
              <a:pPr algn="l"/>
              <a:r>
                <a:rPr lang="en" sz="4200" b="1" dirty="0">
                  <a:solidFill>
                    <a:srgbClr val="2E7D5B"/>
                  </a:solidFill>
                  <a:latin typeface="Consolas"/>
                  <a:ea typeface="Consolas"/>
                  <a:cs typeface="Consolas"/>
                </a:rPr>
                <a:t>3 min</a:t>
              </a:r>
            </a:p>
          </p:txBody>
        </p:sp>
        <p:sp>
          <p:nvSpPr>
            <p:cNvPr id="8" name="TextBox 8"/>
            <p:cNvSpPr txBox="1"/>
            <p:nvPr/>
          </p:nvSpPr>
          <p:spPr>
            <a:xfrm>
              <a:off x="603504" y="2651760"/>
              <a:ext cx="38374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11:28 impact starts to 11:31, the first automated</a:t>
              </a:r>
              <a:br/>
              <a:r>
                <a:rPr lang="en" sz="1200" dirty="0">
                  <a:solidFill>
                    <a:schemeClr val="accent5"/>
                  </a:solidFill>
                  <a:latin typeface="+mn-lt"/>
                  <a:ea typeface="+mn-ea"/>
                  <a:cs typeface="+mn-cs"/>
                </a:rPr>
                <a:t>test that detects the issue.</a:t>
              </a:r>
            </a:p>
          </p:txBody>
        </p:sp>
      </p:grpSp>
      <p:sp>
        <p:nvSpPr>
          <p:cNvPr id="10" name="Freeform 10"/>
          <p:cNvSpPr/>
          <p:nvPr/>
        </p:nvSpPr>
        <p:spPr>
          <a:xfrm>
            <a:off x="4953000" y="2247900"/>
            <a:ext cx="762000" cy="266700"/>
          </a:xfrm>
          <a:prstGeom prst="rightArrow">
            <a:avLst>
              <a:gd name="adj1" fmla="val 50000"/>
              <a:gd name="adj2" fmla="val 50000"/>
            </a:avLst>
          </a:prstGeom>
          <a:solidFill>
            <a:schemeClr val="accent6"/>
          </a:solidFill>
          <a:ln>
            <a:noFill/>
          </a:ln>
        </p:spPr>
      </p:sp>
      <p:grpSp>
        <p:nvGrpSpPr>
          <p:cNvPr id="15" name="Group 15"/>
          <p:cNvGrpSpPr/>
          <p:nvPr/>
        </p:nvGrpSpPr>
        <p:grpSpPr>
          <a:xfrm>
            <a:off x="5886450" y="1826895"/>
            <a:ext cx="3621786" cy="1269111"/>
            <a:chOff x="5886450" y="1826895"/>
            <a:chExt cx="3621786" cy="1269111"/>
          </a:xfrm>
        </p:grpSpPr>
        <p:sp>
          <p:nvSpPr>
            <p:cNvPr id="11" name="Freeform 11"/>
            <p:cNvSpPr/>
            <p:nvPr/>
          </p:nvSpPr>
          <p:spPr>
            <a:xfrm>
              <a:off x="5905500" y="182880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50006" y="21431"/>
                  </a:moveTo>
                  <a:lnTo>
                    <a:pt x="50006" y="60109"/>
                  </a:lnTo>
                  <a:lnTo>
                    <a:pt x="73530" y="83633"/>
                  </a:lnTo>
                  <a:lnTo>
                    <a:pt x="83633" y="73530"/>
                  </a:lnTo>
                  <a:lnTo>
                    <a:pt x="64294" y="54191"/>
                  </a:lnTo>
                  <a:lnTo>
                    <a:pt x="64294" y="21431"/>
                  </a:lnTo>
                  <a:lnTo>
                    <a:pt x="50006" y="21431"/>
                  </a:lnTo>
                  <a:close/>
                </a:path>
              </a:pathLst>
            </a:custGeom>
            <a:solidFill>
              <a:schemeClr val="accent2"/>
            </a:solidFill>
            <a:ln>
              <a:noFill/>
            </a:ln>
          </p:spPr>
        </p:sp>
        <p:sp>
          <p:nvSpPr>
            <p:cNvPr id="12" name="TextBox 12"/>
            <p:cNvSpPr txBox="1"/>
            <p:nvPr/>
          </p:nvSpPr>
          <p:spPr>
            <a:xfrm>
              <a:off x="6072188" y="1826895"/>
              <a:ext cx="2368540" cy="176212"/>
            </a:xfrm>
            <a:prstGeom prst="rect">
              <a:avLst/>
            </a:prstGeom>
            <a:noFill/>
            <a:ln>
              <a:noFill/>
            </a:ln>
          </p:spPr>
          <p:txBody>
            <a:bodyPr wrap="none" lIns="0" tIns="0" rIns="0" bIns="0" anchor="t" anchorCtr="0">
              <a:spAutoFit/>
            </a:bodyPr>
            <a:lstStyle/>
            <a:p>
              <a:pPr algn="l"/>
              <a:r>
                <a:rPr lang="en" sz="900" b="1" dirty="0">
                  <a:solidFill>
                    <a:schemeClr val="dk1"/>
                  </a:solidFill>
                  <a:latin typeface="+mn-lt"/>
                  <a:ea typeface="+mn-ea"/>
                  <a:cs typeface="+mn-cs"/>
                </a:rPr>
                <a:t>TIME TO IDENTIFY THE FAILING MODULE</a:t>
              </a:r>
            </a:p>
          </p:txBody>
        </p:sp>
        <p:sp>
          <p:nvSpPr>
            <p:cNvPr id="13" name="TextBox 13"/>
            <p:cNvSpPr txBox="1"/>
            <p:nvPr/>
          </p:nvSpPr>
          <p:spPr>
            <a:xfrm>
              <a:off x="5886450" y="2042160"/>
              <a:ext cx="3147822" cy="819150"/>
            </a:xfrm>
            <a:prstGeom prst="rect">
              <a:avLst/>
            </a:prstGeom>
            <a:noFill/>
            <a:ln>
              <a:noFill/>
            </a:ln>
          </p:spPr>
          <p:txBody>
            <a:bodyPr wrap="none" lIns="0" tIns="0" rIns="0" bIns="0" anchor="t" anchorCtr="0">
              <a:spAutoFit/>
            </a:bodyPr>
            <a:lstStyle/>
            <a:p>
              <a:pPr algn="l"/>
              <a:r>
                <a:rPr lang="en" sz="4200" b="1" dirty="0">
                  <a:solidFill>
                    <a:schemeClr val="accent2"/>
                  </a:solidFill>
                  <a:latin typeface="Consolas"/>
                  <a:ea typeface="Consolas"/>
                  <a:cs typeface="Consolas"/>
                </a:rPr>
                <a:t>2 h 53 min</a:t>
              </a:r>
            </a:p>
          </p:txBody>
        </p:sp>
        <p:sp>
          <p:nvSpPr>
            <p:cNvPr id="14" name="TextBox 14"/>
            <p:cNvSpPr txBox="1"/>
            <p:nvPr/>
          </p:nvSpPr>
          <p:spPr>
            <a:xfrm>
              <a:off x="5899404" y="2651760"/>
              <a:ext cx="36088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11:31 detection to 14:24, when Bot Management</a:t>
              </a:r>
              <a:br/>
              <a:r>
                <a:rPr lang="en" sz="1200" dirty="0">
                  <a:solidFill>
                    <a:schemeClr val="accent5"/>
                  </a:solidFill>
                  <a:latin typeface="+mn-lt"/>
                  <a:ea typeface="+mn-ea"/>
                  <a:cs typeface="+mn-cs"/>
                </a:rPr>
                <a:t>was identified as the source of the 500 errors.</a:t>
              </a:r>
            </a:p>
          </p:txBody>
        </p:sp>
      </p:grpSp>
      <p:grpSp>
        <p:nvGrpSpPr>
          <p:cNvPr id="18" name="Group 18"/>
          <p:cNvGrpSpPr/>
          <p:nvPr/>
        </p:nvGrpSpPr>
        <p:grpSpPr>
          <a:xfrm>
            <a:off x="603504" y="3636645"/>
            <a:ext cx="3136392" cy="1097661"/>
            <a:chOff x="603504" y="3636645"/>
            <a:chExt cx="3136392" cy="1097661"/>
          </a:xfrm>
        </p:grpSpPr>
        <p:sp>
          <p:nvSpPr>
            <p:cNvPr id="16" name="TextBox 16"/>
            <p:cNvSpPr txBox="1"/>
            <p:nvPr/>
          </p:nvSpPr>
          <p:spPr>
            <a:xfrm>
              <a:off x="604838" y="3636645"/>
              <a:ext cx="1535156"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FAILURE ALTERNATED</a:t>
              </a:r>
            </a:p>
          </p:txBody>
        </p:sp>
        <p:sp>
          <p:nvSpPr>
            <p:cNvPr id="17" name="TextBox 17"/>
            <p:cNvSpPr txBox="1"/>
            <p:nvPr/>
          </p:nvSpPr>
          <p:spPr>
            <a:xfrm>
              <a:off x="603504" y="3870960"/>
              <a:ext cx="3136392" cy="8633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system failed and then recovered as</a:t>
              </a:r>
              <a:br/>
              <a:r>
                <a:rPr lang="en" sz="1200" dirty="0">
                  <a:solidFill>
                    <a:schemeClr val="dk1"/>
                  </a:solidFill>
                  <a:latin typeface="+mn-lt"/>
                  <a:ea typeface="+mn-ea"/>
                  <a:cs typeface="+mn-cs"/>
                </a:rPr>
                <a:t>good and bad files alternated every five</a:t>
              </a:r>
              <a:br/>
              <a:r>
                <a:rPr lang="en" sz="1200" dirty="0">
                  <a:solidFill>
                    <a:schemeClr val="dk1"/>
                  </a:solidFill>
                  <a:latin typeface="+mn-lt"/>
                  <a:ea typeface="+mn-ea"/>
                  <a:cs typeface="+mn-cs"/>
                </a:rPr>
                <a:t>minutes — behaviour the published account</a:t>
              </a:r>
              <a:br/>
              <a:r>
                <a:rPr lang="en" sz="1200" dirty="0">
                  <a:solidFill>
                    <a:schemeClr val="dk1"/>
                  </a:solidFill>
                  <a:latin typeface="+mn-lt"/>
                  <a:ea typeface="+mn-ea"/>
                  <a:cs typeface="+mn-cs"/>
                </a:rPr>
                <a:t>calls very unusual for an internal error.</a:t>
              </a:r>
            </a:p>
          </p:txBody>
        </p:sp>
      </p:grpSp>
      <p:grpSp>
        <p:nvGrpSpPr>
          <p:cNvPr id="21" name="Group 21"/>
          <p:cNvGrpSpPr/>
          <p:nvPr/>
        </p:nvGrpSpPr>
        <p:grpSpPr>
          <a:xfrm>
            <a:off x="4394454" y="3636645"/>
            <a:ext cx="2961132" cy="1516761"/>
            <a:chOff x="4394454" y="3636645"/>
            <a:chExt cx="2961132" cy="1516761"/>
          </a:xfrm>
        </p:grpSpPr>
        <p:sp>
          <p:nvSpPr>
            <p:cNvPr id="19" name="TextBox 19"/>
            <p:cNvSpPr txBox="1"/>
            <p:nvPr/>
          </p:nvSpPr>
          <p:spPr>
            <a:xfrm>
              <a:off x="4395788" y="3636645"/>
              <a:ext cx="2119869"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STATUS PAGE WENT DOWN TOO</a:t>
              </a:r>
            </a:p>
          </p:txBody>
        </p:sp>
        <p:sp>
          <p:nvSpPr>
            <p:cNvPr id="20" name="TextBox 20"/>
            <p:cNvSpPr txBox="1"/>
            <p:nvPr/>
          </p:nvSpPr>
          <p:spPr>
            <a:xfrm>
              <a:off x="4394454" y="3870960"/>
              <a:ext cx="296113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Cloudflare’s status page, hosted</a:t>
              </a:r>
              <a:br/>
              <a:r>
                <a:rPr lang="en" sz="1200" dirty="0">
                  <a:solidFill>
                    <a:schemeClr val="dk1"/>
                  </a:solidFill>
                  <a:latin typeface="+mn-lt"/>
                  <a:ea typeface="+mn-ea"/>
                  <a:cs typeface="+mn-cs"/>
                </a:rPr>
                <a:t>completely off Cloudflare’s</a:t>
              </a:r>
              <a:br/>
              <a:r>
                <a:rPr lang="en" sz="1200" dirty="0">
                  <a:solidFill>
                    <a:schemeClr val="dk1"/>
                  </a:solidFill>
                  <a:latin typeface="+mn-lt"/>
                  <a:ea typeface="+mn-ea"/>
                  <a:cs typeface="+mn-cs"/>
                </a:rPr>
                <a:t>infrastructure with no dependencies on</a:t>
              </a:r>
              <a:br/>
              <a:r>
                <a:rPr lang="en" sz="1200" dirty="0">
                  <a:solidFill>
                    <a:schemeClr val="dk1"/>
                  </a:solidFill>
                  <a:latin typeface="+mn-lt"/>
                  <a:ea typeface="+mn-ea"/>
                  <a:cs typeface="+mn-cs"/>
                </a:rPr>
                <a:t>it, went down at the same time. The</a:t>
              </a:r>
              <a:br/>
              <a:r>
                <a:rPr lang="en" sz="1200" dirty="0">
                  <a:solidFill>
                    <a:schemeClr val="dk1"/>
                  </a:solidFill>
                  <a:latin typeface="+mn-lt"/>
                  <a:ea typeface="+mn-ea"/>
                  <a:cs typeface="+mn-cs"/>
                </a:rPr>
                <a:t>published account calls this a</a:t>
              </a:r>
              <a:br/>
              <a:r>
                <a:rPr lang="en" sz="1200" dirty="0">
                  <a:solidFill>
                    <a:schemeClr val="dk1"/>
                  </a:solidFill>
                  <a:latin typeface="+mn-lt"/>
                  <a:ea typeface="+mn-ea"/>
                  <a:cs typeface="+mn-cs"/>
                </a:rPr>
                <a:t>coincidence.</a:t>
              </a:r>
            </a:p>
          </p:txBody>
        </p:sp>
      </p:grpSp>
      <p:grpSp>
        <p:nvGrpSpPr>
          <p:cNvPr id="24" name="Group 24"/>
          <p:cNvGrpSpPr/>
          <p:nvPr/>
        </p:nvGrpSpPr>
        <p:grpSpPr>
          <a:xfrm>
            <a:off x="8185404" y="3636645"/>
            <a:ext cx="2983992" cy="1097661"/>
            <a:chOff x="8185404" y="3636645"/>
            <a:chExt cx="2983992" cy="1097661"/>
          </a:xfrm>
        </p:grpSpPr>
        <p:sp>
          <p:nvSpPr>
            <p:cNvPr id="22" name="TextBox 22"/>
            <p:cNvSpPr txBox="1"/>
            <p:nvPr/>
          </p:nvSpPr>
          <p:spPr>
            <a:xfrm>
              <a:off x="8186738" y="3636645"/>
              <a:ext cx="1349693"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RECENT DDoS ACTIVITY</a:t>
              </a:r>
            </a:p>
          </p:txBody>
        </p:sp>
        <p:sp>
          <p:nvSpPr>
            <p:cNvPr id="23" name="TextBox 23"/>
            <p:cNvSpPr txBox="1"/>
            <p:nvPr/>
          </p:nvSpPr>
          <p:spPr>
            <a:xfrm>
              <a:off x="8185404" y="3870960"/>
              <a:ext cx="2983992" cy="8633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In the internal incident chat room the</a:t>
              </a:r>
              <a:br/>
              <a:r>
                <a:rPr lang="en" sz="1200" dirty="0">
                  <a:solidFill>
                    <a:schemeClr val="dk1"/>
                  </a:solidFill>
                  <a:latin typeface="+mn-lt"/>
                  <a:ea typeface="+mn-ea"/>
                  <a:cs typeface="+mn-cs"/>
                </a:rPr>
                <a:t>team was concerned this might continue</a:t>
              </a:r>
              <a:br/>
              <a:r>
                <a:rPr lang="en" sz="1200" dirty="0">
                  <a:solidFill>
                    <a:schemeClr val="dk1"/>
                  </a:solidFill>
                  <a:latin typeface="+mn-lt"/>
                  <a:ea typeface="+mn-ea"/>
                  <a:cs typeface="+mn-cs"/>
                </a:rPr>
                <a:t>the recent spate of high-volume Aisuru</a:t>
              </a:r>
              <a:br/>
              <a:r>
                <a:rPr lang="en" sz="1200" dirty="0">
                  <a:solidFill>
                    <a:schemeClr val="dk1"/>
                  </a:solidFill>
                  <a:latin typeface="+mn-lt"/>
                  <a:ea typeface="+mn-ea"/>
                  <a:cs typeface="+mn-cs"/>
                </a:rPr>
                <a:t>DDoS attacks.</a:t>
              </a:r>
            </a:p>
          </p:txBody>
        </p:sp>
      </p:grpSp>
      <p:grpSp>
        <p:nvGrpSpPr>
          <p:cNvPr id="26" name="Group 26"/>
          <p:cNvGrpSpPr/>
          <p:nvPr/>
        </p:nvGrpSpPr>
        <p:grpSpPr>
          <a:xfrm>
            <a:off x="603504" y="5337810"/>
            <a:ext cx="9476232" cy="444246"/>
            <a:chOff x="603504" y="5337810"/>
            <a:chExt cx="9476232" cy="444246"/>
          </a:xfrm>
        </p:grpSpPr>
        <p:sp>
          <p:nvSpPr>
            <p:cNvPr id="25" name="TextBox 25"/>
            <p:cNvSpPr txBox="1"/>
            <p:nvPr/>
          </p:nvSpPr>
          <p:spPr>
            <a:xfrm>
              <a:off x="603504" y="5337810"/>
              <a:ext cx="94762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Inferred sequence: the attack hypothesis is what the published account says the team held at the time. Naming it here is not a</a:t>
              </a:r>
              <a:br/>
              <a:r>
                <a:rPr lang="en" sz="1200" dirty="0">
                  <a:solidFill>
                    <a:schemeClr val="accent5"/>
                  </a:solidFill>
                  <a:latin typeface="+mn-lt"/>
                  <a:ea typeface="+mn-ea"/>
                  <a:cs typeface="+mn-cs"/>
                </a:rPr>
                <a:t>criticism of holding it, and the account is explicit that no cyber attack or malicious activity was involved.</a:t>
              </a:r>
            </a:p>
          </p:txBody>
        </p:sp>
      </p:grpSp>
      <p:grpSp>
        <p:nvGrpSpPr>
          <p:cNvPr id="29" name="Group 29"/>
          <p:cNvGrpSpPr/>
          <p:nvPr/>
        </p:nvGrpSpPr>
        <p:grpSpPr>
          <a:xfrm>
            <a:off x="604838" y="6494145"/>
            <a:ext cx="10982325" cy="176212"/>
            <a:chOff x="604838" y="6494145"/>
            <a:chExt cx="10982325" cy="176212"/>
          </a:xfrm>
        </p:grpSpPr>
        <p:sp>
          <p:nvSpPr>
            <p:cNvPr id="27" name="TextBox 27"/>
            <p:cNvSpPr txBox="1"/>
            <p:nvPr/>
          </p:nvSpPr>
          <p:spPr>
            <a:xfrm>
              <a:off x="604838" y="6494145"/>
              <a:ext cx="6692853"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and status-page section. All times UTC.</a:t>
              </a:r>
            </a:p>
          </p:txBody>
        </p:sp>
        <p:sp>
          <p:nvSpPr>
            <p:cNvPr id="28" name="TextBox 28"/>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500"/>
                                        <p:tgtEl>
                                          <p:spTgt spid="10"/>
                                        </p:tgtEl>
                                      </p:cBhvr>
                                    </p:animEffect>
                                  </p:childTnLst>
                                </p:cTn>
                              </p:par>
                            </p:childTnLst>
                          </p:cTn>
                        </p:par>
                        <p:par>
                          <p:cTn id="12" fill="hold">
                            <p:stCondLst>
                              <p:cond delay="14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316593"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A query that filtered on table name but not database</a:t>
              </a:r>
              <a:br/>
              <a:r>
                <a:rPr lang="en" sz="2700" b="1" dirty="0">
                  <a:solidFill>
                    <a:schemeClr val="dk1"/>
                  </a:solidFill>
                  <a:latin typeface="+mn-lt"/>
                  <a:ea typeface="+mn-ea"/>
                  <a:cs typeface="+mn-cs"/>
                </a:rPr>
                <a:t>name became an unhandled panic in the core proxy</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7" name="Group 7"/>
          <p:cNvGrpSpPr/>
          <p:nvPr/>
        </p:nvGrpSpPr>
        <p:grpSpPr>
          <a:xfrm>
            <a:off x="609600" y="1714500"/>
            <a:ext cx="2076450" cy="685800"/>
            <a:chOff x="609600" y="1714500"/>
            <a:chExt cx="2076450" cy="685800"/>
          </a:xfrm>
        </p:grpSpPr>
        <p:sp>
          <p:nvSpPr>
            <p:cNvPr id="5" name="Freeform 5"/>
            <p:cNvSpPr/>
            <p:nvPr/>
          </p:nvSpPr>
          <p:spPr>
            <a:xfrm>
              <a:off x="609600" y="1714500"/>
              <a:ext cx="2076450" cy="685800"/>
            </a:xfrm>
            <a:prstGeom prst="chevron">
              <a:avLst/>
            </a:prstGeom>
            <a:solidFill>
              <a:schemeClr val="lt2"/>
            </a:solidFill>
            <a:ln>
              <a:noFill/>
            </a:ln>
          </p:spPr>
        </p:sp>
        <p:sp>
          <p:nvSpPr>
            <p:cNvPr id="6" name="TextBox 6"/>
            <p:cNvSpPr txBox="1"/>
            <p:nvPr/>
          </p:nvSpPr>
          <p:spPr>
            <a:xfrm>
              <a:off x="1115949" y="1870710"/>
              <a:ext cx="106375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Access change</a:t>
              </a:r>
              <a:br/>
              <a:r>
                <a:rPr lang="en" sz="1200" dirty="0">
                  <a:solidFill>
                    <a:schemeClr val="dk1"/>
                  </a:solidFill>
                  <a:latin typeface="+mn-lt"/>
                  <a:ea typeface="+mn-ea"/>
                  <a:cs typeface="+mn-cs"/>
                </a:rPr>
                <a:t>made explicit</a:t>
              </a:r>
            </a:p>
          </p:txBody>
        </p:sp>
      </p:grpSp>
      <p:grpSp>
        <p:nvGrpSpPr>
          <p:cNvPr id="10" name="Group 10"/>
          <p:cNvGrpSpPr/>
          <p:nvPr/>
        </p:nvGrpSpPr>
        <p:grpSpPr>
          <a:xfrm>
            <a:off x="2762250" y="1714500"/>
            <a:ext cx="2076450" cy="685800"/>
            <a:chOff x="2762250" y="1714500"/>
            <a:chExt cx="2076450" cy="685800"/>
          </a:xfrm>
        </p:grpSpPr>
        <p:sp>
          <p:nvSpPr>
            <p:cNvPr id="8" name="Freeform 8"/>
            <p:cNvSpPr/>
            <p:nvPr/>
          </p:nvSpPr>
          <p:spPr>
            <a:xfrm>
              <a:off x="2762250" y="1714500"/>
              <a:ext cx="2076450" cy="685800"/>
            </a:xfrm>
            <a:prstGeom prst="chevron">
              <a:avLst/>
            </a:prstGeom>
            <a:solidFill>
              <a:schemeClr val="lt2"/>
            </a:solidFill>
            <a:ln>
              <a:noFill/>
            </a:ln>
          </p:spPr>
        </p:sp>
        <p:sp>
          <p:nvSpPr>
            <p:cNvPr id="9" name="TextBox 9"/>
            <p:cNvSpPr txBox="1"/>
            <p:nvPr/>
          </p:nvSpPr>
          <p:spPr>
            <a:xfrm>
              <a:off x="3249549" y="1870710"/>
              <a:ext cx="110185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Query returns</a:t>
              </a:r>
              <a:br/>
              <a:r>
                <a:rPr lang="en" sz="1200" dirty="0">
                  <a:solidFill>
                    <a:schemeClr val="dk1"/>
                  </a:solidFill>
                  <a:latin typeface="+mn-lt"/>
                  <a:ea typeface="+mn-ea"/>
                  <a:cs typeface="+mn-cs"/>
                </a:rPr>
                <a:t>duplicate rows</a:t>
              </a:r>
            </a:p>
          </p:txBody>
        </p:sp>
      </p:grpSp>
      <p:grpSp>
        <p:nvGrpSpPr>
          <p:cNvPr id="13" name="Group 13"/>
          <p:cNvGrpSpPr/>
          <p:nvPr/>
        </p:nvGrpSpPr>
        <p:grpSpPr>
          <a:xfrm>
            <a:off x="4914900" y="1714500"/>
            <a:ext cx="2076450" cy="685800"/>
            <a:chOff x="4914900" y="1714500"/>
            <a:chExt cx="2076450" cy="685800"/>
          </a:xfrm>
        </p:grpSpPr>
        <p:sp>
          <p:nvSpPr>
            <p:cNvPr id="11" name="Freeform 11"/>
            <p:cNvSpPr/>
            <p:nvPr/>
          </p:nvSpPr>
          <p:spPr>
            <a:xfrm>
              <a:off x="4914900" y="1714500"/>
              <a:ext cx="2076450" cy="685800"/>
            </a:xfrm>
            <a:prstGeom prst="chevron">
              <a:avLst/>
            </a:prstGeom>
            <a:solidFill>
              <a:schemeClr val="lt2"/>
            </a:solidFill>
            <a:ln>
              <a:noFill/>
            </a:ln>
          </p:spPr>
        </p:sp>
        <p:sp>
          <p:nvSpPr>
            <p:cNvPr id="12" name="TextBox 12"/>
            <p:cNvSpPr txBox="1"/>
            <p:nvPr/>
          </p:nvSpPr>
          <p:spPr>
            <a:xfrm>
              <a:off x="5413629" y="1870710"/>
              <a:ext cx="107899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Feature file</a:t>
              </a:r>
              <a:br/>
              <a:r>
                <a:rPr lang="en" sz="1200" dirty="0">
                  <a:solidFill>
                    <a:schemeClr val="dk1"/>
                  </a:solidFill>
                  <a:latin typeface="+mn-lt"/>
                  <a:ea typeface="+mn-ea"/>
                  <a:cs typeface="+mn-cs"/>
                </a:rPr>
                <a:t>doubles in size</a:t>
              </a:r>
            </a:p>
          </p:txBody>
        </p:sp>
      </p:grpSp>
      <p:grpSp>
        <p:nvGrpSpPr>
          <p:cNvPr id="16" name="Group 16"/>
          <p:cNvGrpSpPr/>
          <p:nvPr/>
        </p:nvGrpSpPr>
        <p:grpSpPr>
          <a:xfrm>
            <a:off x="7067550" y="1714500"/>
            <a:ext cx="2076450" cy="685800"/>
            <a:chOff x="7067550" y="1714500"/>
            <a:chExt cx="2076450" cy="685800"/>
          </a:xfrm>
        </p:grpSpPr>
        <p:sp>
          <p:nvSpPr>
            <p:cNvPr id="14" name="Freeform 14"/>
            <p:cNvSpPr/>
            <p:nvPr/>
          </p:nvSpPr>
          <p:spPr>
            <a:xfrm>
              <a:off x="7067550" y="1714500"/>
              <a:ext cx="2076450" cy="685800"/>
            </a:xfrm>
            <a:prstGeom prst="chevron">
              <a:avLst/>
            </a:prstGeom>
            <a:solidFill>
              <a:srgbClr val="FAF0DC"/>
            </a:solidFill>
            <a:ln>
              <a:noFill/>
            </a:ln>
          </p:spPr>
        </p:sp>
        <p:sp>
          <p:nvSpPr>
            <p:cNvPr id="15" name="TextBox 15"/>
            <p:cNvSpPr txBox="1"/>
            <p:nvPr/>
          </p:nvSpPr>
          <p:spPr>
            <a:xfrm>
              <a:off x="7573899" y="1870710"/>
              <a:ext cx="106375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200-feature</a:t>
              </a:r>
              <a:br/>
              <a:r>
                <a:rPr lang="en" sz="1200" dirty="0">
                  <a:solidFill>
                    <a:schemeClr val="dk1"/>
                  </a:solidFill>
                  <a:latin typeface="+mn-lt"/>
                  <a:ea typeface="+mn-ea"/>
                  <a:cs typeface="+mn-cs"/>
                </a:rPr>
                <a:t>limit exceeded</a:t>
              </a:r>
            </a:p>
          </p:txBody>
        </p:sp>
      </p:grpSp>
      <p:grpSp>
        <p:nvGrpSpPr>
          <p:cNvPr id="19" name="Group 19"/>
          <p:cNvGrpSpPr/>
          <p:nvPr/>
        </p:nvGrpSpPr>
        <p:grpSpPr>
          <a:xfrm>
            <a:off x="9220200" y="1714500"/>
            <a:ext cx="2076450" cy="685800"/>
            <a:chOff x="9220200" y="1714500"/>
            <a:chExt cx="2076450" cy="685800"/>
          </a:xfrm>
        </p:grpSpPr>
        <p:sp>
          <p:nvSpPr>
            <p:cNvPr id="17" name="Freeform 17"/>
            <p:cNvSpPr/>
            <p:nvPr/>
          </p:nvSpPr>
          <p:spPr>
            <a:xfrm>
              <a:off x="9220200" y="1714500"/>
              <a:ext cx="2076450" cy="685800"/>
            </a:xfrm>
            <a:prstGeom prst="chevron">
              <a:avLst/>
            </a:prstGeom>
            <a:solidFill>
              <a:srgbClr val="F7E4E2"/>
            </a:solidFill>
            <a:ln>
              <a:noFill/>
            </a:ln>
          </p:spPr>
        </p:sp>
        <p:sp>
          <p:nvSpPr>
            <p:cNvPr id="18" name="TextBox 18"/>
            <p:cNvSpPr txBox="1"/>
            <p:nvPr/>
          </p:nvSpPr>
          <p:spPr>
            <a:xfrm>
              <a:off x="9703689" y="1870710"/>
              <a:ext cx="1109472" cy="444246"/>
            </a:xfrm>
            <a:prstGeom prst="rect">
              <a:avLst/>
            </a:prstGeom>
            <a:noFill/>
            <a:ln>
              <a:noFill/>
            </a:ln>
          </p:spPr>
          <p:txBody>
            <a:bodyPr wrap="none" lIns="0" tIns="0" rIns="0" bIns="0" anchor="t" anchorCtr="0">
              <a:spAutoFit/>
            </a:bodyPr>
            <a:lstStyle/>
            <a:p>
              <a:pPr algn="ctr">
                <a:lnSpc>
                  <a:spcPts val="1650"/>
                </a:lnSpc>
              </a:pPr>
              <a:r>
                <a:rPr lang="en" sz="1200" dirty="0">
                  <a:solidFill>
                    <a:schemeClr val="dk1"/>
                  </a:solidFill>
                  <a:latin typeface="+mn-lt"/>
                  <a:ea typeface="+mn-ea"/>
                  <a:cs typeface="+mn-cs"/>
                </a:rPr>
                <a:t>Thread panics,</a:t>
              </a:r>
              <a:br/>
              <a:r>
                <a:rPr lang="en" sz="1200" dirty="0">
                  <a:solidFill>
                    <a:schemeClr val="dk1"/>
                  </a:solidFill>
                  <a:latin typeface="+mn-lt"/>
                  <a:ea typeface="+mn-ea"/>
                  <a:cs typeface="+mn-cs"/>
                </a:rPr>
                <a:t>5xx returned</a:t>
              </a:r>
            </a:p>
          </p:txBody>
        </p:sp>
      </p:grpSp>
      <p:grpSp>
        <p:nvGrpSpPr>
          <p:cNvPr id="24" name="Group 24"/>
          <p:cNvGrpSpPr/>
          <p:nvPr/>
        </p:nvGrpSpPr>
        <p:grpSpPr>
          <a:xfrm>
            <a:off x="603504" y="2722245"/>
            <a:ext cx="5340096" cy="2526411"/>
            <a:chOff x="603504" y="2722245"/>
            <a:chExt cx="5340096" cy="2526411"/>
          </a:xfrm>
        </p:grpSpPr>
        <p:sp>
          <p:nvSpPr>
            <p:cNvPr id="20" name="TextBox 20"/>
            <p:cNvSpPr txBox="1"/>
            <p:nvPr/>
          </p:nvSpPr>
          <p:spPr>
            <a:xfrm>
              <a:off x="604838" y="2722245"/>
              <a:ext cx="668167"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QUERY</a:t>
              </a:r>
            </a:p>
          </p:txBody>
        </p:sp>
        <p:sp>
          <p:nvSpPr>
            <p:cNvPr id="21" name="Rectangle 21"/>
            <p:cNvSpPr/>
            <p:nvPr/>
          </p:nvSpPr>
          <p:spPr>
            <a:xfrm>
              <a:off x="609600" y="3009900"/>
              <a:ext cx="5334000" cy="1428750"/>
            </a:xfrm>
            <a:prstGeom prst="rect">
              <a:avLst/>
            </a:prstGeom>
            <a:solidFill>
              <a:schemeClr val="lt2"/>
            </a:solidFill>
            <a:ln>
              <a:noFill/>
            </a:ln>
          </p:spPr>
        </p:sp>
        <p:sp>
          <p:nvSpPr>
            <p:cNvPr id="22" name="TextBox 22"/>
            <p:cNvSpPr txBox="1"/>
            <p:nvPr/>
          </p:nvSpPr>
          <p:spPr>
            <a:xfrm>
              <a:off x="832104" y="3128010"/>
              <a:ext cx="319735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Consolas"/>
                  <a:ea typeface="Consolas"/>
                  <a:cs typeface="Consolas"/>
                </a:rPr>
                <a:t>SELECT</a:t>
              </a:r>
              <a:br/>
              <a:r>
                <a:rPr lang="en" sz="1200" dirty="0">
                  <a:solidFill>
                    <a:schemeClr val="dk1"/>
                  </a:solidFill>
                  <a:latin typeface="Consolas"/>
                  <a:ea typeface="Consolas"/>
                  <a:cs typeface="Consolas"/>
                </a:rPr>
                <a:t>name,</a:t>
              </a:r>
              <a:br/>
              <a:r>
                <a:rPr lang="en" sz="1200" dirty="0">
                  <a:solidFill>
                    <a:schemeClr val="dk1"/>
                  </a:solidFill>
                  <a:latin typeface="Consolas"/>
                  <a:ea typeface="Consolas"/>
                  <a:cs typeface="Consolas"/>
                </a:rPr>
                <a:t>type</a:t>
              </a:r>
              <a:br/>
              <a:r>
                <a:rPr lang="en" sz="1200" dirty="0">
                  <a:solidFill>
                    <a:schemeClr val="dk1"/>
                  </a:solidFill>
                  <a:latin typeface="Consolas"/>
                  <a:ea typeface="Consolas"/>
                  <a:cs typeface="Consolas"/>
                </a:rPr>
                <a:t>FROM system.columns</a:t>
              </a:r>
              <a:br/>
              <a:r>
                <a:rPr lang="en" sz="1200" dirty="0">
                  <a:solidFill>
                    <a:schemeClr val="dk1"/>
                  </a:solidFill>
                  <a:latin typeface="Consolas"/>
                  <a:ea typeface="Consolas"/>
                  <a:cs typeface="Consolas"/>
                </a:rPr>
                <a:t>WHERE table = 'http_requests_features'</a:t>
              </a:r>
              <a:br/>
              <a:r>
                <a:rPr lang="en" sz="1200" dirty="0">
                  <a:solidFill>
                    <a:schemeClr val="dk1"/>
                  </a:solidFill>
                  <a:latin typeface="Consolas"/>
                  <a:ea typeface="Consolas"/>
                  <a:cs typeface="Consolas"/>
                </a:rPr>
                <a:t>order by name;</a:t>
              </a:r>
            </a:p>
          </p:txBody>
        </p:sp>
        <p:sp>
          <p:nvSpPr>
            <p:cNvPr id="23" name="TextBox 23"/>
            <p:cNvSpPr txBox="1"/>
            <p:nvPr/>
          </p:nvSpPr>
          <p:spPr>
            <a:xfrm>
              <a:off x="603504" y="4594860"/>
              <a:ext cx="461467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feature-file query filtered on the table name but</a:t>
              </a:r>
              <a:br/>
              <a:r>
                <a:rPr lang="en" sz="1200" dirty="0">
                  <a:solidFill>
                    <a:schemeClr val="dk1"/>
                  </a:solidFill>
                  <a:latin typeface="+mn-lt"/>
                  <a:ea typeface="+mn-ea"/>
                  <a:cs typeface="+mn-cs"/>
                </a:rPr>
                <a:t>not the database name, so after the 11:05 change made</a:t>
              </a:r>
              <a:br/>
              <a:r>
                <a:rPr lang="en" sz="1200" dirty="0">
                  <a:solidFill>
                    <a:schemeClr val="dk1"/>
                  </a:solidFill>
                  <a:latin typeface="+mn-lt"/>
                  <a:ea typeface="+mn-ea"/>
                  <a:cs typeface="+mn-cs"/>
                </a:rPr>
                <a:t>access to the r0 database explicit it returned columns twice.</a:t>
              </a:r>
            </a:p>
          </p:txBody>
        </p:sp>
      </p:grpSp>
      <p:grpSp>
        <p:nvGrpSpPr>
          <p:cNvPr id="29" name="Group 29"/>
          <p:cNvGrpSpPr/>
          <p:nvPr/>
        </p:nvGrpSpPr>
        <p:grpSpPr>
          <a:xfrm>
            <a:off x="6242304" y="2722245"/>
            <a:ext cx="5340096" cy="2526411"/>
            <a:chOff x="6242304" y="2722245"/>
            <a:chExt cx="5340096" cy="2526411"/>
          </a:xfrm>
        </p:grpSpPr>
        <p:sp>
          <p:nvSpPr>
            <p:cNvPr id="25" name="TextBox 25"/>
            <p:cNvSpPr txBox="1"/>
            <p:nvPr/>
          </p:nvSpPr>
          <p:spPr>
            <a:xfrm>
              <a:off x="6243638" y="2722245"/>
              <a:ext cx="600959"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THE LIMIT</a:t>
              </a:r>
            </a:p>
          </p:txBody>
        </p:sp>
        <p:sp>
          <p:nvSpPr>
            <p:cNvPr id="26" name="Rectangle 26"/>
            <p:cNvSpPr/>
            <p:nvPr/>
          </p:nvSpPr>
          <p:spPr>
            <a:xfrm>
              <a:off x="6248400" y="3009900"/>
              <a:ext cx="5334000" cy="1428750"/>
            </a:xfrm>
            <a:prstGeom prst="rect">
              <a:avLst/>
            </a:prstGeom>
            <a:solidFill>
              <a:schemeClr val="lt2"/>
            </a:solidFill>
            <a:ln>
              <a:noFill/>
            </a:ln>
          </p:spPr>
        </p:sp>
        <p:sp>
          <p:nvSpPr>
            <p:cNvPr id="27" name="TextBox 27"/>
            <p:cNvSpPr txBox="1"/>
            <p:nvPr/>
          </p:nvSpPr>
          <p:spPr>
            <a:xfrm>
              <a:off x="6470904" y="3489960"/>
              <a:ext cx="32811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2"/>
                  </a:solidFill>
                  <a:latin typeface="Consolas"/>
                  <a:ea typeface="Consolas"/>
                  <a:cs typeface="Consolas"/>
                </a:rPr>
                <a:t>thread fl2_worker_thread panicked:</a:t>
              </a:r>
              <a:br/>
              <a:r>
                <a:rPr lang="en" sz="1200" dirty="0">
                  <a:solidFill>
                    <a:schemeClr val="accent2"/>
                  </a:solidFill>
                  <a:latin typeface="Consolas"/>
                  <a:ea typeface="Consolas"/>
                  <a:cs typeface="Consolas"/>
                </a:rPr>
                <a:t>called Result::unwrap() on an Err value</a:t>
              </a:r>
            </a:p>
          </p:txBody>
        </p:sp>
        <p:sp>
          <p:nvSpPr>
            <p:cNvPr id="28" name="TextBox 28"/>
            <p:cNvSpPr txBox="1"/>
            <p:nvPr/>
          </p:nvSpPr>
          <p:spPr>
            <a:xfrm>
              <a:off x="6242304" y="4594860"/>
              <a:ext cx="459181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bots module preallocates memory for at most 200</a:t>
              </a:r>
              <a:br/>
              <a:r>
                <a:rPr lang="en" sz="1200" dirty="0">
                  <a:solidFill>
                    <a:schemeClr val="dk1"/>
                  </a:solidFill>
                  <a:latin typeface="+mn-lt"/>
                  <a:ea typeface="+mn-ea"/>
                  <a:cs typeface="+mn-cs"/>
                </a:rPr>
                <a:t>features, well above the roughly 60 in use. The oversized</a:t>
              </a:r>
              <a:br/>
              <a:r>
                <a:rPr lang="en" sz="1200" dirty="0">
                  <a:solidFill>
                    <a:schemeClr val="dk1"/>
                  </a:solidFill>
                  <a:latin typeface="+mn-lt"/>
                  <a:ea typeface="+mn-ea"/>
                  <a:cs typeface="+mn-cs"/>
                </a:rPr>
                <a:t>file hit that limit and the check produced an unhandled error.</a:t>
              </a:r>
            </a:p>
          </p:txBody>
        </p:sp>
      </p:grpSp>
      <p:grpSp>
        <p:nvGrpSpPr>
          <p:cNvPr id="31" name="Group 31"/>
          <p:cNvGrpSpPr/>
          <p:nvPr/>
        </p:nvGrpSpPr>
        <p:grpSpPr>
          <a:xfrm>
            <a:off x="603504" y="5394960"/>
            <a:ext cx="9544812" cy="444246"/>
            <a:chOff x="603504" y="5394960"/>
            <a:chExt cx="9544812" cy="444246"/>
          </a:xfrm>
        </p:grpSpPr>
        <p:sp>
          <p:nvSpPr>
            <p:cNvPr id="30" name="TextBox 30"/>
            <p:cNvSpPr txBox="1"/>
            <p:nvPr/>
          </p:nvSpPr>
          <p:spPr>
            <a:xfrm>
              <a:off x="603504" y="5394960"/>
              <a:ext cx="95448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Observed facts: the access change, the query form, the file growth and the 200-feature limit are each stated in the published</a:t>
              </a:r>
              <a:br/>
              <a:r>
                <a:rPr lang="en" sz="1200" dirty="0">
                  <a:solidFill>
                    <a:schemeClr val="accent5"/>
                  </a:solidFill>
                  <a:latin typeface="+mn-lt"/>
                  <a:ea typeface="+mn-ea"/>
                  <a:cs typeface="+mn-cs"/>
                </a:rPr>
                <a:t>account. The order that connects them into one chain is that account’s own inferred sequence.</a:t>
              </a:r>
            </a:p>
          </p:txBody>
        </p:sp>
      </p:grpSp>
      <p:grpSp>
        <p:nvGrpSpPr>
          <p:cNvPr id="34" name="Group 34"/>
          <p:cNvGrpSpPr/>
          <p:nvPr/>
        </p:nvGrpSpPr>
        <p:grpSpPr>
          <a:xfrm>
            <a:off x="604838" y="6494145"/>
            <a:ext cx="10982325" cy="176212"/>
            <a:chOff x="604838" y="6494145"/>
            <a:chExt cx="10982325" cy="176212"/>
          </a:xfrm>
        </p:grpSpPr>
        <p:sp>
          <p:nvSpPr>
            <p:cNvPr id="32" name="TextBox 32"/>
            <p:cNvSpPr txBox="1"/>
            <p:nvPr/>
          </p:nvSpPr>
          <p:spPr>
            <a:xfrm>
              <a:off x="604838" y="6494145"/>
              <a:ext cx="6917028"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query-behaviour-change and memory-preallocation sections.</a:t>
              </a:r>
            </a:p>
          </p:txBody>
        </p:sp>
        <p:sp>
          <p:nvSpPr>
            <p:cNvPr id="33" name="TextBox 33"/>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250"/>
                                        <p:tgtEl>
                                          <p:spTgt spid="7"/>
                                        </p:tgtEl>
                                      </p:cBhvr>
                                    </p:animEffect>
                                  </p:childTnLst>
                                </p:cTn>
                              </p:par>
                            </p:childTnLst>
                          </p:cTn>
                        </p:par>
                        <p:par>
                          <p:cTn id="8" fill="hold">
                            <p:stCondLst>
                              <p:cond delay="25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250"/>
                                        <p:tgtEl>
                                          <p:spTgt spid="10"/>
                                        </p:tgtEl>
                                      </p:cBhvr>
                                    </p:animEffect>
                                  </p:childTnLst>
                                </p:cTn>
                              </p:par>
                            </p:childTnLst>
                          </p:cTn>
                        </p:par>
                        <p:par>
                          <p:cTn id="12" fill="hold">
                            <p:stCondLst>
                              <p:cond delay="10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250"/>
                                        <p:tgtEl>
                                          <p:spTgt spid="13"/>
                                        </p:tgtEl>
                                      </p:cBhvr>
                                    </p:animEffect>
                                  </p:childTnLst>
                                </p:cTn>
                              </p:par>
                            </p:childTnLst>
                          </p:cTn>
                        </p:par>
                        <p:par>
                          <p:cTn id="16" fill="hold">
                            <p:stCondLst>
                              <p:cond delay="175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16"/>
                                        </p:tgtEl>
                                        <p:attrNameLst>
                                          <p:attrName>style.visibility</p:attrName>
                                        </p:attrNameLst>
                                      </p:cBhvr>
                                      <p:to>
                                        <p:strVal val="visible"/>
                                      </p:to>
                                    </p:set>
                                    <p:animEffect transition="in" filter="wipe(right)">
                                      <p:cBhvr>
                                        <p:cTn id="19" dur="250"/>
                                        <p:tgtEl>
                                          <p:spTgt spid="16"/>
                                        </p:tgtEl>
                                      </p:cBhvr>
                                    </p:animEffect>
                                  </p:childTnLst>
                                </p:cTn>
                              </p:par>
                            </p:childTnLst>
                          </p:cTn>
                        </p:par>
                        <p:par>
                          <p:cTn id="20" fill="hold">
                            <p:stCondLst>
                              <p:cond delay="25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19"/>
                                        </p:tgtEl>
                                        <p:attrNameLst>
                                          <p:attrName>style.visibility</p:attrName>
                                        </p:attrNameLst>
                                      </p:cBhvr>
                                      <p:to>
                                        <p:strVal val="visible"/>
                                      </p:to>
                                    </p:set>
                                    <p:animEffect transition="in" filter="wipe(right)">
                                      <p:cBhvr>
                                        <p:cTn id="23" dur="250"/>
                                        <p:tgtEl>
                                          <p:spTgt spid="19"/>
                                        </p:tgtEl>
                                      </p:cBhvr>
                                    </p:animEffect>
                                  </p:childTnLst>
                                </p:cTn>
                              </p:par>
                            </p:childTnLst>
                          </p:cTn>
                        </p:par>
                        <p:par>
                          <p:cTn id="24" fill="hold">
                            <p:stCondLst>
                              <p:cond delay="325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par>
                          <p:cTn id="28" fill="hold">
                            <p:stCondLst>
                              <p:cond delay="415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7552373"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Four conditions had to hold at once, and no</a:t>
              </a:r>
              <a:br/>
              <a:r>
                <a:rPr lang="en" sz="2700" b="1" dirty="0">
                  <a:solidFill>
                    <a:schemeClr val="dk1"/>
                  </a:solidFill>
                  <a:latin typeface="+mn-lt"/>
                  <a:ea typeface="+mn-ea"/>
                  <a:cs typeface="+mn-cs"/>
                </a:rPr>
                <a:t>single one of them is the cause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609600" y="1714500"/>
            <a:ext cx="9024366" cy="1028700"/>
            <a:chOff x="609600" y="1714500"/>
            <a:chExt cx="9024366" cy="1028700"/>
          </a:xfrm>
        </p:grpSpPr>
        <p:sp>
          <p:nvSpPr>
            <p:cNvPr id="5" name="Rectangle 5"/>
            <p:cNvSpPr/>
            <p:nvPr/>
          </p:nvSpPr>
          <p:spPr>
            <a:xfrm>
              <a:off x="609600" y="1714500"/>
              <a:ext cx="38100" cy="1028700"/>
            </a:xfrm>
            <a:prstGeom prst="rect">
              <a:avLst/>
            </a:prstGeom>
            <a:solidFill>
              <a:schemeClr val="accent2"/>
            </a:solidFill>
            <a:ln>
              <a:noFill/>
            </a:ln>
          </p:spPr>
        </p:sp>
        <p:sp>
          <p:nvSpPr>
            <p:cNvPr id="6" name="TextBox 6"/>
            <p:cNvSpPr txBox="1"/>
            <p:nvPr/>
          </p:nvSpPr>
          <p:spPr>
            <a:xfrm>
              <a:off x="795338" y="1788795"/>
              <a:ext cx="641284"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TECHNICAL</a:t>
              </a:r>
            </a:p>
          </p:txBody>
        </p:sp>
        <p:sp>
          <p:nvSpPr>
            <p:cNvPr id="7" name="TextBox 7"/>
            <p:cNvSpPr txBox="1"/>
            <p:nvPr/>
          </p:nvSpPr>
          <p:spPr>
            <a:xfrm>
              <a:off x="2183130" y="1800225"/>
              <a:ext cx="6160800"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An assumption about the query’s scope was never restated</a:t>
              </a:r>
            </a:p>
          </p:txBody>
        </p:sp>
        <p:sp>
          <p:nvSpPr>
            <p:cNvPr id="8" name="TextBox 8"/>
            <p:cNvSpPr txBox="1"/>
            <p:nvPr/>
          </p:nvSpPr>
          <p:spPr>
            <a:xfrm>
              <a:off x="2184654" y="2289810"/>
              <a:ext cx="74493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feature-generation query assumed table metadata would only ever be returned for the</a:t>
              </a:r>
              <a:br/>
              <a:r>
                <a:rPr lang="en" sz="1200" dirty="0">
                  <a:solidFill>
                    <a:schemeClr val="dk1"/>
                  </a:solidFill>
                  <a:latin typeface="+mn-lt"/>
                  <a:ea typeface="+mn-ea"/>
                  <a:cs typeface="+mn-cs"/>
                </a:rPr>
                <a:t>default database. That assumption was not revisited when the permissions model changed at 11:05.</a:t>
              </a:r>
            </a:p>
          </p:txBody>
        </p:sp>
      </p:grpSp>
      <p:grpSp>
        <p:nvGrpSpPr>
          <p:cNvPr id="14" name="Group 14"/>
          <p:cNvGrpSpPr/>
          <p:nvPr/>
        </p:nvGrpSpPr>
        <p:grpSpPr>
          <a:xfrm>
            <a:off x="609600" y="2819400"/>
            <a:ext cx="8963406" cy="1028700"/>
            <a:chOff x="609600" y="2819400"/>
            <a:chExt cx="8963406" cy="1028700"/>
          </a:xfrm>
        </p:grpSpPr>
        <p:sp>
          <p:nvSpPr>
            <p:cNvPr id="10" name="Rectangle 10"/>
            <p:cNvSpPr/>
            <p:nvPr/>
          </p:nvSpPr>
          <p:spPr>
            <a:xfrm>
              <a:off x="609600" y="2819400"/>
              <a:ext cx="38100" cy="1028700"/>
            </a:xfrm>
            <a:prstGeom prst="rect">
              <a:avLst/>
            </a:prstGeom>
            <a:solidFill>
              <a:schemeClr val="accent2"/>
            </a:solidFill>
            <a:ln>
              <a:noFill/>
            </a:ln>
          </p:spPr>
        </p:sp>
        <p:sp>
          <p:nvSpPr>
            <p:cNvPr id="11" name="TextBox 11"/>
            <p:cNvSpPr txBox="1"/>
            <p:nvPr/>
          </p:nvSpPr>
          <p:spPr>
            <a:xfrm>
              <a:off x="795338" y="2893695"/>
              <a:ext cx="641284"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TECHNICAL</a:t>
              </a:r>
            </a:p>
          </p:txBody>
        </p:sp>
        <p:sp>
          <p:nvSpPr>
            <p:cNvPr id="12" name="TextBox 12"/>
            <p:cNvSpPr txBox="1"/>
            <p:nvPr/>
          </p:nvSpPr>
          <p:spPr>
            <a:xfrm>
              <a:off x="2183130" y="2905125"/>
              <a:ext cx="629832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A fixed limit guarded memory but had no bounded failure path</a:t>
              </a:r>
            </a:p>
          </p:txBody>
        </p:sp>
        <p:sp>
          <p:nvSpPr>
            <p:cNvPr id="13" name="TextBox 13"/>
            <p:cNvSpPr txBox="1"/>
            <p:nvPr/>
          </p:nvSpPr>
          <p:spPr>
            <a:xfrm>
              <a:off x="2184654" y="3394710"/>
              <a:ext cx="73883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bots module preallocates memory for at most 200 machine-learning features. An input above</a:t>
              </a:r>
              <a:br/>
              <a:r>
                <a:rPr lang="en" sz="1200" dirty="0">
                  <a:solidFill>
                    <a:schemeClr val="dk1"/>
                  </a:solidFill>
                  <a:latin typeface="+mn-lt"/>
                  <a:ea typeface="+mn-ea"/>
                  <a:cs typeface="+mn-cs"/>
                </a:rPr>
                <a:t>that limit produced an unhandled error and a thread panic, not a rejected file or a degraded score.</a:t>
              </a:r>
            </a:p>
          </p:txBody>
        </p:sp>
      </p:grpSp>
      <p:grpSp>
        <p:nvGrpSpPr>
          <p:cNvPr id="19" name="Group 19"/>
          <p:cNvGrpSpPr/>
          <p:nvPr/>
        </p:nvGrpSpPr>
        <p:grpSpPr>
          <a:xfrm>
            <a:off x="609600" y="3924300"/>
            <a:ext cx="9100566" cy="1028700"/>
            <a:chOff x="609600" y="3924300"/>
            <a:chExt cx="9100566" cy="1028700"/>
          </a:xfrm>
        </p:grpSpPr>
        <p:sp>
          <p:nvSpPr>
            <p:cNvPr id="15" name="Rectangle 15"/>
            <p:cNvSpPr/>
            <p:nvPr/>
          </p:nvSpPr>
          <p:spPr>
            <a:xfrm>
              <a:off x="609600" y="3924300"/>
              <a:ext cx="38100" cy="1028700"/>
            </a:xfrm>
            <a:prstGeom prst="rect">
              <a:avLst/>
            </a:prstGeom>
            <a:solidFill>
              <a:schemeClr val="accent3"/>
            </a:solidFill>
            <a:ln>
              <a:noFill/>
            </a:ln>
          </p:spPr>
        </p:sp>
        <p:sp>
          <p:nvSpPr>
            <p:cNvPr id="16" name="TextBox 16"/>
            <p:cNvSpPr txBox="1"/>
            <p:nvPr/>
          </p:nvSpPr>
          <p:spPr>
            <a:xfrm>
              <a:off x="795338" y="3998595"/>
              <a:ext cx="775701"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PROCEDURAL</a:t>
              </a:r>
            </a:p>
          </p:txBody>
        </p:sp>
        <p:sp>
          <p:nvSpPr>
            <p:cNvPr id="17" name="TextBox 17"/>
            <p:cNvSpPr txBox="1"/>
            <p:nvPr/>
          </p:nvSpPr>
          <p:spPr>
            <a:xfrm>
              <a:off x="2183130" y="4010025"/>
              <a:ext cx="7284115"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Cloudflare-generated configuration was trusted more than user input</a:t>
              </a:r>
            </a:p>
          </p:txBody>
        </p:sp>
        <p:sp>
          <p:nvSpPr>
            <p:cNvPr id="18" name="TextBox 18"/>
            <p:cNvSpPr txBox="1"/>
            <p:nvPr/>
          </p:nvSpPr>
          <p:spPr>
            <a:xfrm>
              <a:off x="2184654" y="4499610"/>
              <a:ext cx="75255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first published remediation item is to harden ingestion of Cloudflare-generated configuration</a:t>
              </a:r>
              <a:br/>
              <a:r>
                <a:rPr lang="en" sz="1200" dirty="0">
                  <a:solidFill>
                    <a:schemeClr val="dk1"/>
                  </a:solidFill>
                  <a:latin typeface="+mn-lt"/>
                  <a:ea typeface="+mn-ea"/>
                  <a:cs typeface="+mn-cs"/>
                </a:rPr>
                <a:t>files in the same way as user-generated input — which states that, before this incident, it was not.</a:t>
              </a:r>
            </a:p>
          </p:txBody>
        </p:sp>
      </p:grpSp>
      <p:grpSp>
        <p:nvGrpSpPr>
          <p:cNvPr id="24" name="!!propagation-factor"/>
          <p:cNvGrpSpPr/>
          <p:nvPr/>
        </p:nvGrpSpPr>
        <p:grpSpPr>
          <a:xfrm>
            <a:off x="609600" y="5029200"/>
            <a:ext cx="8741036" cy="1028700"/>
            <a:chOff x="609600" y="5029200"/>
            <a:chExt cx="8741036" cy="1028700"/>
          </a:xfrm>
        </p:grpSpPr>
        <p:sp>
          <p:nvSpPr>
            <p:cNvPr id="20" name="Rectangle 20"/>
            <p:cNvSpPr/>
            <p:nvPr/>
          </p:nvSpPr>
          <p:spPr>
            <a:xfrm>
              <a:off x="609600" y="5029200"/>
              <a:ext cx="38100" cy="1028700"/>
            </a:xfrm>
            <a:prstGeom prst="rect">
              <a:avLst/>
            </a:prstGeom>
            <a:solidFill>
              <a:schemeClr val="accent3"/>
            </a:solidFill>
            <a:ln>
              <a:noFill/>
            </a:ln>
          </p:spPr>
        </p:sp>
        <p:sp>
          <p:nvSpPr>
            <p:cNvPr id="21" name="TextBox 21"/>
            <p:cNvSpPr txBox="1"/>
            <p:nvPr/>
          </p:nvSpPr>
          <p:spPr>
            <a:xfrm>
              <a:off x="795338" y="5103495"/>
              <a:ext cx="775701"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PROCEDURAL</a:t>
              </a:r>
            </a:p>
          </p:txBody>
        </p:sp>
        <p:sp>
          <p:nvSpPr>
            <p:cNvPr id="22" name="TextBox 22"/>
            <p:cNvSpPr txBox="1"/>
            <p:nvPr/>
          </p:nvSpPr>
          <p:spPr>
            <a:xfrm>
              <a:off x="2183130" y="5114925"/>
              <a:ext cx="7167506"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The change propagated gradually, so the failure looked like an attack</a:t>
              </a:r>
            </a:p>
          </p:txBody>
        </p:sp>
        <p:sp>
          <p:nvSpPr>
            <p:cNvPr id="23" name="TextBox 23"/>
            <p:cNvSpPr txBox="1"/>
            <p:nvPr/>
          </p:nvSpPr>
          <p:spPr>
            <a:xfrm>
              <a:off x="2184654" y="5604510"/>
              <a:ext cx="71140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Only the updated part of the ClickHouse cluster produced bad data, so output alternated every</a:t>
              </a:r>
              <a:br/>
              <a:r>
                <a:rPr lang="en" sz="1200" dirty="0">
                  <a:solidFill>
                    <a:schemeClr val="dk1"/>
                  </a:solidFill>
                  <a:latin typeface="+mn-lt"/>
                  <a:ea typeface="+mn-ea"/>
                  <a:cs typeface="+mn-cs"/>
                </a:rPr>
                <a:t>five minutes and the failure signature resembled an attack rather than a deployment.</a:t>
              </a:r>
            </a:p>
          </p:txBody>
        </p:sp>
      </p:grpSp>
      <p:grpSp>
        <p:nvGrpSpPr>
          <p:cNvPr id="26" name="Group 26"/>
          <p:cNvGrpSpPr/>
          <p:nvPr/>
        </p:nvGrpSpPr>
        <p:grpSpPr>
          <a:xfrm>
            <a:off x="603504" y="6118860"/>
            <a:ext cx="9411693" cy="234696"/>
            <a:chOff x="603504" y="6118860"/>
            <a:chExt cx="9411693" cy="234696"/>
          </a:xfrm>
        </p:grpSpPr>
        <p:sp>
          <p:nvSpPr>
            <p:cNvPr id="25" name="TextBox 25"/>
            <p:cNvSpPr txBox="1"/>
            <p:nvPr/>
          </p:nvSpPr>
          <p:spPr>
            <a:xfrm>
              <a:off x="603504" y="6118860"/>
              <a:ext cx="941169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Each factor traces to the timeline evidence on slides 6 and 7, and no single one of them is described here as the cause.</a:t>
              </a:r>
            </a:p>
          </p:txBody>
        </p:sp>
      </p:grpSp>
      <p:grpSp>
        <p:nvGrpSpPr>
          <p:cNvPr id="29" name="Group 29"/>
          <p:cNvGrpSpPr/>
          <p:nvPr/>
        </p:nvGrpSpPr>
        <p:grpSpPr>
          <a:xfrm>
            <a:off x="604838" y="6494145"/>
            <a:ext cx="10982325" cy="176212"/>
            <a:chOff x="604838" y="6494145"/>
            <a:chExt cx="10982325" cy="176212"/>
          </a:xfrm>
        </p:grpSpPr>
        <p:sp>
          <p:nvSpPr>
            <p:cNvPr id="27" name="TextBox 27"/>
            <p:cNvSpPr txBox="1"/>
            <p:nvPr/>
          </p:nvSpPr>
          <p:spPr>
            <a:xfrm>
              <a:off x="604838" y="6494145"/>
              <a:ext cx="7250086"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query-behaviour, memory-preallocation and remediation sections.</a:t>
              </a:r>
            </a:p>
          </p:txBody>
        </p:sp>
        <p:sp>
          <p:nvSpPr>
            <p:cNvPr id="28" name="TextBox 28"/>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10</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par>
                          <p:cTn id="8" fill="hold">
                            <p:stCondLst>
                              <p:cond delay="350"/>
                            </p:stCondLst>
                            <p:childTnLst>
                              <p:par>
                                <p:cTn id="9" presetID="10" presetClass="entr" presetSubtype="0"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1200"/>
                            </p:stCondLst>
                            <p:childTnLst>
                              <p:par>
                                <p:cT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par>
                          <p:cTn id="16" fill="hold">
                            <p:stCondLst>
                              <p:cond delay="2050"/>
                            </p:stCondLst>
                            <p:childTnLst>
                              <p:par>
                                <p:cTn id="17" presetID="10" presetClass="entr" presetSubtype="0" fill="hold" grpId="0" nodeType="afterEffect">
                                  <p:stCondLst>
                                    <p:cond delay="5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019800" y="2952750"/>
            <a:ext cx="9525" cy="3105150"/>
          </a:xfrm>
          <a:custGeom>
            <a:avLst/>
            <a:gdLst/>
            <a:ahLst/>
            <a:cxnLst/>
            <a:rect l="l" t="t" r="r" b="b"/>
            <a:pathLst>
              <a:path w="9525" h="3105150">
                <a:moveTo>
                  <a:pt x="0" y="0"/>
                </a:moveTo>
                <a:lnTo>
                  <a:pt x="0" y="3105150"/>
                </a:lnTo>
              </a:path>
            </a:pathLst>
          </a:custGeom>
          <a:noFill/>
          <a:ln w="9525">
            <a:solidFill>
              <a:schemeClr val="accent6"/>
            </a:solidFill>
          </a:ln>
        </p:spPr>
      </p:sp>
      <p:grpSp>
        <p:nvGrpSpPr>
          <p:cNvPr id="5" name="Group 5"/>
          <p:cNvGrpSpPr/>
          <p:nvPr/>
        </p:nvGrpSpPr>
        <p:grpSpPr>
          <a:xfrm>
            <a:off x="595884" y="584835"/>
            <a:ext cx="10986516" cy="937641"/>
            <a:chOff x="595884" y="584835"/>
            <a:chExt cx="10986516" cy="937641"/>
          </a:xfrm>
        </p:grpSpPr>
        <p:sp>
          <p:nvSpPr>
            <p:cNvPr id="3" name="TextBox 3"/>
            <p:cNvSpPr txBox="1"/>
            <p:nvPr/>
          </p:nvSpPr>
          <p:spPr>
            <a:xfrm>
              <a:off x="595884" y="584835"/>
              <a:ext cx="974864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Rapid global propagation of internally generated</a:t>
              </a:r>
              <a:br/>
              <a:r>
                <a:rPr lang="en" sz="2700" b="1" dirty="0">
                  <a:solidFill>
                    <a:schemeClr val="dk1"/>
                  </a:solidFill>
                  <a:latin typeface="+mn-lt"/>
                  <a:ea typeface="+mn-ea"/>
                  <a:cs typeface="+mn-cs"/>
                </a:rPr>
                <a:t>configuration is the condition both 2019 and 2025 share</a:t>
              </a:r>
            </a:p>
          </p:txBody>
        </p:sp>
        <p:sp>
          <p:nvSpPr>
            <p:cNvPr id="4" name="Line 4"/>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propagation-factor"/>
          <p:cNvGrpSpPr/>
          <p:nvPr/>
        </p:nvGrpSpPr>
        <p:grpSpPr>
          <a:xfrm>
            <a:off x="609600" y="1714500"/>
            <a:ext cx="9428226" cy="1028700"/>
            <a:chOff x="609600" y="1714500"/>
            <a:chExt cx="9428226" cy="1028700"/>
          </a:xfrm>
        </p:grpSpPr>
        <p:sp>
          <p:nvSpPr>
            <p:cNvPr id="6" name="Rectangle 6"/>
            <p:cNvSpPr/>
            <p:nvPr/>
          </p:nvSpPr>
          <p:spPr>
            <a:xfrm>
              <a:off x="609600" y="1714500"/>
              <a:ext cx="38100" cy="1028700"/>
            </a:xfrm>
            <a:prstGeom prst="rect">
              <a:avLst/>
            </a:prstGeom>
            <a:solidFill>
              <a:schemeClr val="accent3"/>
            </a:solidFill>
            <a:ln>
              <a:noFill/>
            </a:ln>
          </p:spPr>
        </p:sp>
        <p:sp>
          <p:nvSpPr>
            <p:cNvPr id="7" name="TextBox 7"/>
            <p:cNvSpPr txBox="1"/>
            <p:nvPr/>
          </p:nvSpPr>
          <p:spPr>
            <a:xfrm>
              <a:off x="795338" y="1788795"/>
              <a:ext cx="1286485" cy="176212"/>
            </a:xfrm>
            <a:prstGeom prst="rect">
              <a:avLst/>
            </a:prstGeom>
            <a:noFill/>
            <a:ln>
              <a:noFill/>
            </a:ln>
          </p:spPr>
          <p:txBody>
            <a:bodyPr wrap="none" lIns="0" tIns="0" rIns="0" bIns="0" anchor="t" anchorCtr="0">
              <a:spAutoFit/>
            </a:bodyPr>
            <a:lstStyle/>
            <a:p>
              <a:pPr algn="l"/>
              <a:r>
                <a:rPr lang="en" sz="900" b="1" dirty="0">
                  <a:solidFill>
                    <a:schemeClr val="accent3"/>
                  </a:solidFill>
                  <a:latin typeface="+mn-lt"/>
                  <a:ea typeface="+mn-ea"/>
                  <a:cs typeface="+mn-cs"/>
                </a:rPr>
                <a:t>SYSTEMIC CONDITION</a:t>
              </a:r>
            </a:p>
          </p:txBody>
        </p:sp>
        <p:sp>
          <p:nvSpPr>
            <p:cNvPr id="8" name="TextBox 8"/>
            <p:cNvSpPr txBox="1"/>
            <p:nvPr/>
          </p:nvSpPr>
          <p:spPr>
            <a:xfrm>
              <a:off x="2183130" y="1800225"/>
              <a:ext cx="712482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Internally generated configuration reaches every machine in minutes</a:t>
              </a:r>
            </a:p>
          </p:txBody>
        </p:sp>
        <p:sp>
          <p:nvSpPr>
            <p:cNvPr id="9" name="TextBox 9"/>
            <p:cNvSpPr txBox="1"/>
            <p:nvPr/>
          </p:nvSpPr>
          <p:spPr>
            <a:xfrm>
              <a:off x="2184654" y="2289810"/>
              <a:ext cx="78531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Both outages began inside Cloudflare’s own configuration path, and in both the step that made a local</a:t>
              </a:r>
              <a:br/>
              <a:r>
                <a:rPr lang="en" sz="1200" dirty="0">
                  <a:solidFill>
                    <a:schemeClr val="dk1"/>
                  </a:solidFill>
                  <a:latin typeface="+mn-lt"/>
                  <a:ea typeface="+mn-ea"/>
                  <a:cs typeface="+mn-cs"/>
                </a:rPr>
                <a:t>defect global was the same. Naming that shared condition is an inference across two published accounts.</a:t>
              </a:r>
            </a:p>
          </p:txBody>
        </p:sp>
      </p:grpSp>
      <p:grpSp>
        <p:nvGrpSpPr>
          <p:cNvPr id="20" name="Group 20"/>
          <p:cNvGrpSpPr/>
          <p:nvPr/>
        </p:nvGrpSpPr>
        <p:grpSpPr>
          <a:xfrm>
            <a:off x="598932" y="2973705"/>
            <a:ext cx="4459224" cy="3088196"/>
            <a:chOff x="598932" y="2973705"/>
            <a:chExt cx="4459224" cy="3088196"/>
          </a:xfrm>
        </p:grpSpPr>
        <p:sp>
          <p:nvSpPr>
            <p:cNvPr id="11" name="TextBox 11"/>
            <p:cNvSpPr txBox="1"/>
            <p:nvPr/>
          </p:nvSpPr>
          <p:spPr>
            <a:xfrm>
              <a:off x="598932" y="2973705"/>
              <a:ext cx="1616835"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2 July 2019</a:t>
              </a:r>
            </a:p>
          </p:txBody>
        </p:sp>
        <p:sp>
          <p:nvSpPr>
            <p:cNvPr id="12" name="TextBox 12"/>
            <p:cNvSpPr txBox="1"/>
            <p:nvPr/>
          </p:nvSpPr>
          <p:spPr>
            <a:xfrm>
              <a:off x="604838" y="3388995"/>
              <a:ext cx="493425"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TRIGGER</a:t>
              </a:r>
            </a:p>
          </p:txBody>
        </p:sp>
        <p:sp>
          <p:nvSpPr>
            <p:cNvPr id="13" name="TextBox 13"/>
            <p:cNvSpPr txBox="1"/>
            <p:nvPr/>
          </p:nvSpPr>
          <p:spPr>
            <a:xfrm>
              <a:off x="603504" y="3566160"/>
              <a:ext cx="44546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new WAF managed rule containing a regular expression</a:t>
              </a:r>
              <a:br/>
              <a:r>
                <a:rPr lang="en" sz="1200" dirty="0">
                  <a:solidFill>
                    <a:schemeClr val="dk1"/>
                  </a:solidFill>
                  <a:latin typeface="+mn-lt"/>
                  <a:ea typeface="+mn-ea"/>
                  <a:cs typeface="+mn-cs"/>
                </a:rPr>
                <a:t>that backtracked enormously and exhausted CPU worldwide.</a:t>
              </a:r>
            </a:p>
          </p:txBody>
        </p:sp>
        <p:sp>
          <p:nvSpPr>
            <p:cNvPr id="14" name="TextBox 14"/>
            <p:cNvSpPr txBox="1"/>
            <p:nvPr/>
          </p:nvSpPr>
          <p:spPr>
            <a:xfrm>
              <a:off x="604838" y="4074795"/>
              <a:ext cx="842909"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PROPAGATION</a:t>
              </a:r>
            </a:p>
          </p:txBody>
        </p:sp>
        <p:sp>
          <p:nvSpPr>
            <p:cNvPr id="15" name="TextBox 15"/>
            <p:cNvSpPr txBox="1"/>
            <p:nvPr/>
          </p:nvSpPr>
          <p:spPr>
            <a:xfrm>
              <a:off x="603504" y="4251960"/>
              <a:ext cx="409651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Pushed through Quicksilver, which distributes changes</a:t>
              </a:r>
              <a:br/>
              <a:r>
                <a:rPr lang="en" sz="1200" dirty="0">
                  <a:solidFill>
                    <a:schemeClr val="dk1"/>
                  </a:solidFill>
                  <a:latin typeface="+mn-lt"/>
                  <a:ea typeface="+mn-ea"/>
                  <a:cs typeface="+mn-cs"/>
                </a:rPr>
                <a:t>globally in seconds; by design the WAF skipped the</a:t>
              </a:r>
              <a:br/>
              <a:r>
                <a:rPr lang="en" sz="1200" dirty="0">
                  <a:solidFill>
                    <a:schemeClr val="dk1"/>
                  </a:solidFill>
                  <a:latin typeface="+mn-lt"/>
                  <a:ea typeface="+mn-ea"/>
                  <a:cs typeface="+mn-cs"/>
                </a:rPr>
                <a:t>staged rollout process.</a:t>
              </a:r>
            </a:p>
          </p:txBody>
        </p:sp>
        <p:sp>
          <p:nvSpPr>
            <p:cNvPr id="16" name="TextBox 16"/>
            <p:cNvSpPr txBox="1"/>
            <p:nvPr/>
          </p:nvSpPr>
          <p:spPr>
            <a:xfrm>
              <a:off x="604838" y="4970145"/>
              <a:ext cx="701772"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MITIGATION</a:t>
              </a:r>
            </a:p>
          </p:txBody>
        </p:sp>
        <p:sp>
          <p:nvSpPr>
            <p:cNvPr id="17" name="TextBox 17"/>
            <p:cNvSpPr txBox="1"/>
            <p:nvPr/>
          </p:nvSpPr>
          <p:spPr>
            <a:xfrm>
              <a:off x="603504" y="5147310"/>
              <a:ext cx="39136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global kill switch — a “global terminate” — executed</a:t>
              </a:r>
              <a:br/>
              <a:r>
                <a:rPr lang="en" sz="1200" dirty="0">
                  <a:solidFill>
                    <a:schemeClr val="dk1"/>
                  </a:solidFill>
                  <a:latin typeface="+mn-lt"/>
                  <a:ea typeface="+mn-ea"/>
                  <a:cs typeface="+mn-cs"/>
                </a:rPr>
                <a:t>at 14:07; traffic and CPU normal again by 14:09.</a:t>
              </a:r>
            </a:p>
          </p:txBody>
        </p:sp>
        <p:sp>
          <p:nvSpPr>
            <p:cNvPr id="18" name="TextBox 18"/>
            <p:cNvSpPr txBox="1"/>
            <p:nvPr/>
          </p:nvSpPr>
          <p:spPr>
            <a:xfrm>
              <a:off x="604838" y="5655945"/>
              <a:ext cx="1172230"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TIME TO RECOVERY</a:t>
              </a:r>
            </a:p>
          </p:txBody>
        </p:sp>
        <p:sp>
          <p:nvSpPr>
            <p:cNvPr id="19" name="TextBox 19"/>
            <p:cNvSpPr txBox="1"/>
            <p:nvPr/>
          </p:nvSpPr>
          <p:spPr>
            <a:xfrm>
              <a:off x="602742" y="5797868"/>
              <a:ext cx="1013270"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Consolas"/>
                  <a:ea typeface="Consolas"/>
                  <a:cs typeface="Consolas"/>
                </a:rPr>
                <a:t>27 minutes</a:t>
              </a:r>
            </a:p>
          </p:txBody>
        </p:sp>
      </p:grpSp>
      <p:grpSp>
        <p:nvGrpSpPr>
          <p:cNvPr id="30" name="Group 30"/>
          <p:cNvGrpSpPr/>
          <p:nvPr/>
        </p:nvGrpSpPr>
        <p:grpSpPr>
          <a:xfrm>
            <a:off x="6237732" y="2973705"/>
            <a:ext cx="4200144" cy="3088196"/>
            <a:chOff x="6237732" y="2973705"/>
            <a:chExt cx="4200144" cy="3088196"/>
          </a:xfrm>
        </p:grpSpPr>
        <p:sp>
          <p:nvSpPr>
            <p:cNvPr id="21" name="TextBox 21"/>
            <p:cNvSpPr txBox="1"/>
            <p:nvPr/>
          </p:nvSpPr>
          <p:spPr>
            <a:xfrm>
              <a:off x="6237732" y="2973705"/>
              <a:ext cx="2562304" cy="410718"/>
            </a:xfrm>
            <a:prstGeom prst="rect">
              <a:avLst/>
            </a:prstGeom>
            <a:noFill/>
            <a:ln>
              <a:noFill/>
            </a:ln>
          </p:spPr>
          <p:txBody>
            <a:bodyPr wrap="none" lIns="0" tIns="0" rIns="0" bIns="0" anchor="t" anchorCtr="0">
              <a:spAutoFit/>
            </a:bodyPr>
            <a:lstStyle/>
            <a:p>
              <a:pPr algn="l"/>
              <a:r>
                <a:rPr lang="en" sz="2100" b="1" dirty="0">
                  <a:solidFill>
                    <a:schemeClr val="dk1"/>
                  </a:solidFill>
                  <a:latin typeface="+mn-lt"/>
                  <a:ea typeface="+mn-ea"/>
                  <a:cs typeface="+mn-cs"/>
                </a:rPr>
                <a:t>18 November 2025</a:t>
              </a:r>
            </a:p>
          </p:txBody>
        </p:sp>
        <p:sp>
          <p:nvSpPr>
            <p:cNvPr id="22" name="TextBox 22"/>
            <p:cNvSpPr txBox="1"/>
            <p:nvPr/>
          </p:nvSpPr>
          <p:spPr>
            <a:xfrm>
              <a:off x="6243638" y="3388995"/>
              <a:ext cx="493425"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TRIGGER</a:t>
              </a:r>
            </a:p>
          </p:txBody>
        </p:sp>
        <p:sp>
          <p:nvSpPr>
            <p:cNvPr id="23" name="TextBox 23"/>
            <p:cNvSpPr txBox="1"/>
            <p:nvPr/>
          </p:nvSpPr>
          <p:spPr>
            <a:xfrm>
              <a:off x="6242304" y="3566160"/>
              <a:ext cx="375361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database permissions change that made the Bot</a:t>
              </a:r>
              <a:br/>
              <a:r>
                <a:rPr lang="en" sz="1200" dirty="0">
                  <a:solidFill>
                    <a:schemeClr val="dk1"/>
                  </a:solidFill>
                  <a:latin typeface="+mn-lt"/>
                  <a:ea typeface="+mn-ea"/>
                  <a:cs typeface="+mn-cs"/>
                </a:rPr>
                <a:t>Management feature file more than double in size.</a:t>
              </a:r>
            </a:p>
          </p:txBody>
        </p:sp>
        <p:sp>
          <p:nvSpPr>
            <p:cNvPr id="24" name="TextBox 24"/>
            <p:cNvSpPr txBox="1"/>
            <p:nvPr/>
          </p:nvSpPr>
          <p:spPr>
            <a:xfrm>
              <a:off x="6243638" y="4074795"/>
              <a:ext cx="842909"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PROPAGATION</a:t>
              </a:r>
            </a:p>
          </p:txBody>
        </p:sp>
        <p:sp>
          <p:nvSpPr>
            <p:cNvPr id="25" name="TextBox 25"/>
            <p:cNvSpPr txBox="1"/>
            <p:nvPr/>
          </p:nvSpPr>
          <p:spPr>
            <a:xfrm>
              <a:off x="6242304" y="4251960"/>
              <a:ext cx="410413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feature file is refreshed every few minutes and</a:t>
              </a:r>
              <a:br/>
              <a:r>
                <a:rPr lang="en" sz="1200" dirty="0">
                  <a:solidFill>
                    <a:schemeClr val="dk1"/>
                  </a:solidFill>
                  <a:latin typeface="+mn-lt"/>
                  <a:ea typeface="+mn-ea"/>
                  <a:cs typeface="+mn-cs"/>
                </a:rPr>
                <a:t>published to the entire network so the model can react</a:t>
              </a:r>
              <a:br/>
              <a:r>
                <a:rPr lang="en" sz="1200" dirty="0">
                  <a:solidFill>
                    <a:schemeClr val="dk1"/>
                  </a:solidFill>
                  <a:latin typeface="+mn-lt"/>
                  <a:ea typeface="+mn-ea"/>
                  <a:cs typeface="+mn-cs"/>
                </a:rPr>
                <a:t>to new bots and new bot attacks.</a:t>
              </a:r>
            </a:p>
          </p:txBody>
        </p:sp>
        <p:sp>
          <p:nvSpPr>
            <p:cNvPr id="26" name="TextBox 26"/>
            <p:cNvSpPr txBox="1"/>
            <p:nvPr/>
          </p:nvSpPr>
          <p:spPr>
            <a:xfrm>
              <a:off x="6243638" y="4970145"/>
              <a:ext cx="701772"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MITIGATION</a:t>
              </a:r>
            </a:p>
          </p:txBody>
        </p:sp>
        <p:sp>
          <p:nvSpPr>
            <p:cNvPr id="27" name="TextBox 27"/>
            <p:cNvSpPr txBox="1"/>
            <p:nvPr/>
          </p:nvSpPr>
          <p:spPr>
            <a:xfrm>
              <a:off x="6242304" y="5147310"/>
              <a:ext cx="41955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No per-feature kill switch is described; the remediation</a:t>
              </a:r>
              <a:br/>
              <a:r>
                <a:rPr lang="en" sz="1200" dirty="0">
                  <a:solidFill>
                    <a:schemeClr val="dk1"/>
                  </a:solidFill>
                  <a:latin typeface="+mn-lt"/>
                  <a:ea typeface="+mn-ea"/>
                  <a:cs typeface="+mn-cs"/>
                </a:rPr>
                <a:t>commits to enabling more global kill switches.</a:t>
              </a:r>
            </a:p>
          </p:txBody>
        </p:sp>
        <p:sp>
          <p:nvSpPr>
            <p:cNvPr id="28" name="TextBox 28"/>
            <p:cNvSpPr txBox="1"/>
            <p:nvPr/>
          </p:nvSpPr>
          <p:spPr>
            <a:xfrm>
              <a:off x="6243638" y="5655945"/>
              <a:ext cx="1172230" cy="176212"/>
            </a:xfrm>
            <a:prstGeom prst="rect">
              <a:avLst/>
            </a:prstGeom>
            <a:noFill/>
            <a:ln>
              <a:noFill/>
            </a:ln>
          </p:spPr>
          <p:txBody>
            <a:bodyPr wrap="none" lIns="0" tIns="0" rIns="0" bIns="0" anchor="t" anchorCtr="0">
              <a:spAutoFit/>
            </a:bodyPr>
            <a:lstStyle/>
            <a:p>
              <a:pPr algn="l"/>
              <a:r>
                <a:rPr lang="en" sz="900" b="1" dirty="0">
                  <a:solidFill>
                    <a:schemeClr val="accent5"/>
                  </a:solidFill>
                  <a:latin typeface="+mn-lt"/>
                  <a:ea typeface="+mn-ea"/>
                  <a:cs typeface="+mn-cs"/>
                </a:rPr>
                <a:t>TIME TO RECOVERY</a:t>
              </a:r>
            </a:p>
          </p:txBody>
        </p:sp>
        <p:sp>
          <p:nvSpPr>
            <p:cNvPr id="29" name="TextBox 29"/>
            <p:cNvSpPr txBox="1"/>
            <p:nvPr/>
          </p:nvSpPr>
          <p:spPr>
            <a:xfrm>
              <a:off x="6241542" y="5797868"/>
              <a:ext cx="1013270" cy="264033"/>
            </a:xfrm>
            <a:prstGeom prst="rect">
              <a:avLst/>
            </a:prstGeom>
            <a:noFill/>
            <a:ln>
              <a:noFill/>
            </a:ln>
          </p:spPr>
          <p:txBody>
            <a:bodyPr wrap="none" lIns="0" tIns="0" rIns="0" bIns="0" anchor="t" anchorCtr="0">
              <a:spAutoFit/>
            </a:bodyPr>
            <a:lstStyle/>
            <a:p>
              <a:pPr algn="l"/>
              <a:r>
                <a:rPr lang="en" sz="1350" b="1" dirty="0">
                  <a:solidFill>
                    <a:schemeClr val="dk1"/>
                  </a:solidFill>
                  <a:latin typeface="Consolas"/>
                  <a:ea typeface="Consolas"/>
                  <a:cs typeface="Consolas"/>
                </a:rPr>
                <a:t>5 h 38 min</a:t>
              </a:r>
            </a:p>
          </p:txBody>
        </p:sp>
      </p:grpSp>
      <p:grpSp>
        <p:nvGrpSpPr>
          <p:cNvPr id="32" name="Group 32"/>
          <p:cNvGrpSpPr/>
          <p:nvPr/>
        </p:nvGrpSpPr>
        <p:grpSpPr>
          <a:xfrm>
            <a:off x="603504" y="6156960"/>
            <a:ext cx="10217044" cy="234696"/>
            <a:chOff x="603504" y="6156960"/>
            <a:chExt cx="10217044" cy="234696"/>
          </a:xfrm>
        </p:grpSpPr>
        <p:sp>
          <p:nvSpPr>
            <p:cNvPr id="31" name="TextBox 31"/>
            <p:cNvSpPr txBox="1"/>
            <p:nvPr/>
          </p:nvSpPr>
          <p:spPr>
            <a:xfrm>
              <a:off x="603504" y="6156960"/>
              <a:ext cx="1021704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The published account calls this Cloudflare’s worst outage since 2019, and the first in six-plus years to stop most core traffic.</a:t>
              </a:r>
            </a:p>
          </p:txBody>
        </p:sp>
      </p:grpSp>
      <p:grpSp>
        <p:nvGrpSpPr>
          <p:cNvPr id="35" name="Group 35"/>
          <p:cNvGrpSpPr/>
          <p:nvPr/>
        </p:nvGrpSpPr>
        <p:grpSpPr>
          <a:xfrm>
            <a:off x="604838" y="6494145"/>
            <a:ext cx="10982325" cy="176212"/>
            <a:chOff x="604838" y="6494145"/>
            <a:chExt cx="10982325" cy="176212"/>
          </a:xfrm>
        </p:grpSpPr>
        <p:sp>
          <p:nvSpPr>
            <p:cNvPr id="33" name="TextBox 33"/>
            <p:cNvSpPr txBox="1"/>
            <p:nvPr/>
          </p:nvSpPr>
          <p:spPr>
            <a:xfrm>
              <a:off x="604838" y="6494145"/>
              <a:ext cx="743166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and “Details of the Cloudflare outage on July 2, 2019”. All times UTC.</a:t>
              </a:r>
            </a:p>
          </p:txBody>
        </p:sp>
        <p:sp>
          <p:nvSpPr>
            <p:cNvPr id="34" name="TextBox 34"/>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11</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50"/>
                                        <p:tgtEl>
                                          <p:spTgt spid="20"/>
                                        </p:tgtEl>
                                      </p:cBhvr>
                                    </p:animEffect>
                                  </p:childTnLst>
                                </p:cTn>
                              </p:par>
                            </p:childTnLst>
                          </p:cTn>
                        </p:par>
                        <p:par>
                          <p:cTn id="8" fill="hold">
                            <p:stCondLst>
                              <p:cond delay="450"/>
                            </p:stCondLst>
                            <p:childTnLst>
                              <p:par>
                                <p:cTn id="9" presetID="10" presetClass="entr" presetSubtype="0" fill="hold" grpId="0" nodeType="afterEffect">
                                  <p:stCondLst>
                                    <p:cond delay="500"/>
                                  </p:stCondLst>
                                  <p:childTnLst>
                                    <p:set>
                                      <p:cBhvr>
                                        <p:cTn id="10" dur="1" fill="hold">
                                          <p:stCondLst>
                                            <p:cond delay="0"/>
                                          </p:stCondLst>
                                        </p:cTn>
                                        <p:tgtEl>
                                          <p:spTgt spid="30"/>
                                        </p:tgtEl>
                                        <p:attrNameLst>
                                          <p:attrName>style.visibility</p:attrName>
                                        </p:attrNameLst>
                                      </p:cBhvr>
                                      <p:to>
                                        <p:strVal val="visible"/>
                                      </p:to>
                                    </p:set>
                                    <p:animEffect transition="in" filter="fade">
                                      <p:cBhvr>
                                        <p:cTn id="11"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598617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Three controls limited the damage</a:t>
              </a:r>
              <a:br/>
              <a:r>
                <a:rPr lang="en" sz="2700" b="1" dirty="0">
                  <a:solidFill>
                    <a:schemeClr val="dk1"/>
                  </a:solidFill>
                  <a:latin typeface="+mn-lt"/>
                  <a:ea typeface="+mn-ea"/>
                  <a:cs typeface="+mn-cs"/>
                </a:rPr>
                <a:t>and are the ones to protect</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0" name="Group 10"/>
          <p:cNvGrpSpPr/>
          <p:nvPr/>
        </p:nvGrpSpPr>
        <p:grpSpPr>
          <a:xfrm>
            <a:off x="609600" y="1809750"/>
            <a:ext cx="3390900" cy="2695956"/>
            <a:chOff x="609600" y="1809750"/>
            <a:chExt cx="3390900" cy="2695956"/>
          </a:xfrm>
        </p:grpSpPr>
        <p:sp>
          <p:nvSpPr>
            <p:cNvPr id="5" name="Freeform 5"/>
            <p:cNvSpPr/>
            <p:nvPr/>
          </p:nvSpPr>
          <p:spPr>
            <a:xfrm>
              <a:off x="609600" y="1809750"/>
              <a:ext cx="3390900" cy="2667000"/>
            </a:xfrm>
            <a:prstGeom prst="snip1Rect">
              <a:avLst/>
            </a:prstGeom>
            <a:noFill/>
            <a:ln w="14288">
              <a:solidFill>
                <a:srgbClr val="2E7D5B"/>
              </a:solidFill>
            </a:ln>
          </p:spPr>
        </p:sp>
        <p:sp>
          <p:nvSpPr>
            <p:cNvPr id="6" name="Freeform 6"/>
            <p:cNvSpPr/>
            <p:nvPr/>
          </p:nvSpPr>
          <p:spPr>
            <a:xfrm>
              <a:off x="838200" y="20383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7" name="TextBox 7"/>
            <p:cNvSpPr txBox="1"/>
            <p:nvPr/>
          </p:nvSpPr>
          <p:spPr>
            <a:xfrm>
              <a:off x="1004888" y="2036445"/>
              <a:ext cx="856351" cy="176212"/>
            </a:xfrm>
            <a:prstGeom prst="rect">
              <a:avLst/>
            </a:prstGeom>
            <a:noFill/>
            <a:ln>
              <a:noFill/>
            </a:ln>
          </p:spPr>
          <p:txBody>
            <a:bodyPr wrap="none" lIns="0" tIns="0" rIns="0" bIns="0" anchor="t" anchorCtr="0">
              <a:spAutoFit/>
            </a:bodyPr>
            <a:lstStyle/>
            <a:p>
              <a:pPr algn="l"/>
              <a:r>
                <a:rPr lang="en" sz="900" b="1" dirty="0">
                  <a:solidFill>
                    <a:srgbClr val="2E7D5B"/>
                  </a:solidFill>
                  <a:latin typeface="+mn-lt"/>
                  <a:ea typeface="+mn-ea"/>
                  <a:cs typeface="+mn-cs"/>
                </a:rPr>
                <a:t>PROTECT THIS</a:t>
              </a:r>
            </a:p>
          </p:txBody>
        </p:sp>
        <p:sp>
          <p:nvSpPr>
            <p:cNvPr id="8" name="TextBox 8"/>
            <p:cNvSpPr txBox="1"/>
            <p:nvPr/>
          </p:nvSpPr>
          <p:spPr>
            <a:xfrm>
              <a:off x="827532" y="2306955"/>
              <a:ext cx="2863691" cy="734568"/>
            </a:xfrm>
            <a:prstGeom prst="rect">
              <a:avLst/>
            </a:prstGeom>
            <a:noFill/>
            <a:ln>
              <a:noFill/>
            </a:ln>
          </p:spPr>
          <p:txBody>
            <a:bodyPr wrap="none" lIns="0" tIns="0" rIns="0" bIns="0" anchor="t" anchorCtr="0">
              <a:spAutoFit/>
            </a:bodyPr>
            <a:lstStyle/>
            <a:p>
              <a:pPr algn="l">
                <a:lnSpc>
                  <a:spcPts val="2550"/>
                </a:lnSpc>
              </a:pPr>
              <a:r>
                <a:rPr lang="en" sz="2100" b="1" dirty="0">
                  <a:solidFill>
                    <a:schemeClr val="dk1"/>
                  </a:solidFill>
                  <a:latin typeface="+mn-lt"/>
                  <a:ea typeface="+mn-ea"/>
                  <a:cs typeface="+mn-cs"/>
                </a:rPr>
                <a:t>Automated detection</a:t>
              </a:r>
              <a:br/>
              <a:r>
                <a:rPr lang="en" sz="2100" b="1" dirty="0">
                  <a:solidFill>
                    <a:schemeClr val="dk1"/>
                  </a:solidFill>
                  <a:latin typeface="+mn-lt"/>
                  <a:ea typeface="+mn-ea"/>
                  <a:cs typeface="+mn-cs"/>
                </a:rPr>
                <a:t>was fast</a:t>
              </a:r>
            </a:p>
          </p:txBody>
        </p:sp>
        <p:sp>
          <p:nvSpPr>
            <p:cNvPr id="9" name="TextBox 9"/>
            <p:cNvSpPr txBox="1"/>
            <p:nvPr/>
          </p:nvSpPr>
          <p:spPr>
            <a:xfrm>
              <a:off x="832104" y="3223260"/>
              <a:ext cx="274015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The first automated test detected</a:t>
              </a:r>
              <a:br/>
              <a:r>
                <a:rPr lang="en" sz="1200" dirty="0">
                  <a:solidFill>
                    <a:schemeClr val="dk1"/>
                  </a:solidFill>
                  <a:latin typeface="+mn-lt"/>
                  <a:ea typeface="+mn-ea"/>
                  <a:cs typeface="+mn-cs"/>
                </a:rPr>
                <a:t>the issue at 11:31, three minutes</a:t>
              </a:r>
              <a:br/>
              <a:r>
                <a:rPr lang="en" sz="1200" dirty="0">
                  <a:solidFill>
                    <a:schemeClr val="dk1"/>
                  </a:solidFill>
                  <a:latin typeface="+mn-lt"/>
                  <a:ea typeface="+mn-ea"/>
                  <a:cs typeface="+mn-cs"/>
                </a:rPr>
                <a:t>after impact began at 11:28. Manual</a:t>
              </a:r>
              <a:br/>
              <a:r>
                <a:rPr lang="en" sz="1200" dirty="0">
                  <a:solidFill>
                    <a:schemeClr val="dk1"/>
                  </a:solidFill>
                  <a:latin typeface="+mn-lt"/>
                  <a:ea typeface="+mn-ea"/>
                  <a:cs typeface="+mn-cs"/>
                </a:rPr>
                <a:t>investigation started the following</a:t>
              </a:r>
              <a:br/>
              <a:r>
                <a:rPr lang="en" sz="1200" dirty="0">
                  <a:solidFill>
                    <a:schemeClr val="dk1"/>
                  </a:solidFill>
                  <a:latin typeface="+mn-lt"/>
                  <a:ea typeface="+mn-ea"/>
                  <a:cs typeface="+mn-cs"/>
                </a:rPr>
                <a:t>minute and the incident call was</a:t>
              </a:r>
              <a:br/>
              <a:r>
                <a:rPr lang="en" sz="1200" dirty="0">
                  <a:solidFill>
                    <a:schemeClr val="dk1"/>
                  </a:solidFill>
                  <a:latin typeface="+mn-lt"/>
                  <a:ea typeface="+mn-ea"/>
                  <a:cs typeface="+mn-cs"/>
                </a:rPr>
                <a:t>created at 11:35.</a:t>
              </a:r>
            </a:p>
          </p:txBody>
        </p:sp>
      </p:grpSp>
      <p:grpSp>
        <p:nvGrpSpPr>
          <p:cNvPr id="16" name="Group 16"/>
          <p:cNvGrpSpPr/>
          <p:nvPr/>
        </p:nvGrpSpPr>
        <p:grpSpPr>
          <a:xfrm>
            <a:off x="4400550" y="1809750"/>
            <a:ext cx="3390900" cy="2695956"/>
            <a:chOff x="4400550" y="1809750"/>
            <a:chExt cx="3390900" cy="2695956"/>
          </a:xfrm>
        </p:grpSpPr>
        <p:sp>
          <p:nvSpPr>
            <p:cNvPr id="11" name="Freeform 11"/>
            <p:cNvSpPr/>
            <p:nvPr/>
          </p:nvSpPr>
          <p:spPr>
            <a:xfrm>
              <a:off x="4400550" y="1809750"/>
              <a:ext cx="3390900" cy="2667000"/>
            </a:xfrm>
            <a:prstGeom prst="snip1Rect">
              <a:avLst/>
            </a:prstGeom>
            <a:noFill/>
            <a:ln w="14288">
              <a:solidFill>
                <a:srgbClr val="2E7D5B"/>
              </a:solidFill>
            </a:ln>
          </p:spPr>
        </p:sp>
        <p:sp>
          <p:nvSpPr>
            <p:cNvPr id="12" name="Freeform 12"/>
            <p:cNvSpPr/>
            <p:nvPr/>
          </p:nvSpPr>
          <p:spPr>
            <a:xfrm>
              <a:off x="4629150" y="20383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3" name="TextBox 13"/>
            <p:cNvSpPr txBox="1"/>
            <p:nvPr/>
          </p:nvSpPr>
          <p:spPr>
            <a:xfrm>
              <a:off x="4795838" y="2036445"/>
              <a:ext cx="856351" cy="176212"/>
            </a:xfrm>
            <a:prstGeom prst="rect">
              <a:avLst/>
            </a:prstGeom>
            <a:noFill/>
            <a:ln>
              <a:noFill/>
            </a:ln>
          </p:spPr>
          <p:txBody>
            <a:bodyPr wrap="none" lIns="0" tIns="0" rIns="0" bIns="0" anchor="t" anchorCtr="0">
              <a:spAutoFit/>
            </a:bodyPr>
            <a:lstStyle/>
            <a:p>
              <a:pPr algn="l"/>
              <a:r>
                <a:rPr lang="en" sz="900" b="1" dirty="0">
                  <a:solidFill>
                    <a:srgbClr val="2E7D5B"/>
                  </a:solidFill>
                  <a:latin typeface="+mn-lt"/>
                  <a:ea typeface="+mn-ea"/>
                  <a:cs typeface="+mn-cs"/>
                </a:rPr>
                <a:t>PROTECT THIS</a:t>
              </a:r>
            </a:p>
          </p:txBody>
        </p:sp>
        <p:sp>
          <p:nvSpPr>
            <p:cNvPr id="14" name="TextBox 14"/>
            <p:cNvSpPr txBox="1"/>
            <p:nvPr/>
          </p:nvSpPr>
          <p:spPr>
            <a:xfrm>
              <a:off x="4618482" y="2306955"/>
              <a:ext cx="2275618" cy="734568"/>
            </a:xfrm>
            <a:prstGeom prst="rect">
              <a:avLst/>
            </a:prstGeom>
            <a:noFill/>
            <a:ln>
              <a:noFill/>
            </a:ln>
          </p:spPr>
          <p:txBody>
            <a:bodyPr wrap="none" lIns="0" tIns="0" rIns="0" bIns="0" anchor="t" anchorCtr="0">
              <a:spAutoFit/>
            </a:bodyPr>
            <a:lstStyle/>
            <a:p>
              <a:pPr algn="l">
                <a:lnSpc>
                  <a:spcPts val="2550"/>
                </a:lnSpc>
              </a:pPr>
              <a:r>
                <a:rPr lang="en" sz="2100" b="1" dirty="0">
                  <a:solidFill>
                    <a:schemeClr val="dk1"/>
                  </a:solidFill>
                  <a:latin typeface="+mn-lt"/>
                  <a:ea typeface="+mn-ea"/>
                  <a:cs typeface="+mn-cs"/>
                </a:rPr>
                <a:t>A bypass existed</a:t>
              </a:r>
              <a:br/>
              <a:r>
                <a:rPr lang="en" sz="2100" b="1" dirty="0">
                  <a:solidFill>
                    <a:schemeClr val="dk1"/>
                  </a:solidFill>
                  <a:latin typeface="+mn-lt"/>
                  <a:ea typeface="+mn-ea"/>
                  <a:cs typeface="+mn-cs"/>
                </a:rPr>
                <a:t>and was used</a:t>
              </a:r>
            </a:p>
          </p:txBody>
        </p:sp>
        <p:sp>
          <p:nvSpPr>
            <p:cNvPr id="15" name="TextBox 15"/>
            <p:cNvSpPr txBox="1"/>
            <p:nvPr/>
          </p:nvSpPr>
          <p:spPr>
            <a:xfrm>
              <a:off x="4623054" y="3223260"/>
              <a:ext cx="2709672" cy="12824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At 13:05, internal system bypasses</a:t>
              </a:r>
              <a:br/>
              <a:r>
                <a:rPr lang="en" sz="1200" dirty="0">
                  <a:solidFill>
                    <a:schemeClr val="dk1"/>
                  </a:solidFill>
                  <a:latin typeface="+mn-lt"/>
                  <a:ea typeface="+mn-ea"/>
                  <a:cs typeface="+mn-cs"/>
                </a:rPr>
                <a:t>failed Workers KV and Cloudflare</a:t>
              </a:r>
              <a:br/>
              <a:r>
                <a:rPr lang="en" sz="1200" dirty="0">
                  <a:solidFill>
                    <a:schemeClr val="dk1"/>
                  </a:solidFill>
                  <a:latin typeface="+mn-lt"/>
                  <a:ea typeface="+mn-ea"/>
                  <a:cs typeface="+mn-cs"/>
                </a:rPr>
                <a:t>Access back to a prior version of</a:t>
              </a:r>
              <a:br/>
              <a:r>
                <a:rPr lang="en" sz="1200" dirty="0">
                  <a:solidFill>
                    <a:schemeClr val="dk1"/>
                  </a:solidFill>
                  <a:latin typeface="+mn-lt"/>
                  <a:ea typeface="+mn-ea"/>
                  <a:cs typeface="+mn-cs"/>
                </a:rPr>
                <a:t>the core proxy, reducing impact for</a:t>
              </a:r>
              <a:br/>
              <a:r>
                <a:rPr lang="en" sz="1200" dirty="0">
                  <a:solidFill>
                    <a:schemeClr val="dk1"/>
                  </a:solidFill>
                  <a:latin typeface="+mn-lt"/>
                  <a:ea typeface="+mn-ea"/>
                  <a:cs typeface="+mn-cs"/>
                </a:rPr>
                <a:t>every downstream system — before</a:t>
              </a:r>
              <a:br/>
              <a:r>
                <a:rPr lang="en" sz="1200" dirty="0">
                  <a:solidFill>
                    <a:schemeClr val="dk1"/>
                  </a:solidFill>
                  <a:latin typeface="+mn-lt"/>
                  <a:ea typeface="+mn-ea"/>
                  <a:cs typeface="+mn-cs"/>
                </a:rPr>
                <a:t>the trigger was known.</a:t>
              </a:r>
            </a:p>
          </p:txBody>
        </p:sp>
      </p:grpSp>
      <p:grpSp>
        <p:nvGrpSpPr>
          <p:cNvPr id="22" name="Group 22"/>
          <p:cNvGrpSpPr/>
          <p:nvPr/>
        </p:nvGrpSpPr>
        <p:grpSpPr>
          <a:xfrm>
            <a:off x="8191500" y="1809750"/>
            <a:ext cx="3390900" cy="2667000"/>
            <a:chOff x="8191500" y="1809750"/>
            <a:chExt cx="3390900" cy="2667000"/>
          </a:xfrm>
        </p:grpSpPr>
        <p:sp>
          <p:nvSpPr>
            <p:cNvPr id="17" name="Freeform 17"/>
            <p:cNvSpPr/>
            <p:nvPr/>
          </p:nvSpPr>
          <p:spPr>
            <a:xfrm>
              <a:off x="8191500" y="1809750"/>
              <a:ext cx="3390900" cy="2667000"/>
            </a:xfrm>
            <a:prstGeom prst="snip1Rect">
              <a:avLst/>
            </a:prstGeom>
            <a:noFill/>
            <a:ln w="14288">
              <a:solidFill>
                <a:srgbClr val="2E7D5B"/>
              </a:solidFill>
            </a:ln>
          </p:spPr>
        </p:sp>
        <p:sp>
          <p:nvSpPr>
            <p:cNvPr id="18" name="Freeform 18"/>
            <p:cNvSpPr/>
            <p:nvPr/>
          </p:nvSpPr>
          <p:spPr>
            <a:xfrm>
              <a:off x="8420100" y="2038350"/>
              <a:ext cx="114300" cy="114300"/>
            </a:xfrm>
            <a:custGeom>
              <a:avLst/>
              <a:gdLst/>
              <a:ahLst/>
              <a:cxnLst/>
              <a:rect l="l" t="t" r="r" b="b"/>
              <a:pathLst>
                <a:path w="114300" h="114300">
                  <a:moveTo>
                    <a:pt x="57150" y="114300"/>
                  </a:moveTo>
                  <a:cubicBezTo>
                    <a:pt x="88713" y="114300"/>
                    <a:pt x="114300" y="88713"/>
                    <a:pt x="114300" y="57150"/>
                  </a:cubicBezTo>
                  <a:cubicBezTo>
                    <a:pt x="114300" y="25587"/>
                    <a:pt x="88713" y="0"/>
                    <a:pt x="57150" y="0"/>
                  </a:cubicBezTo>
                  <a:cubicBezTo>
                    <a:pt x="25587" y="0"/>
                    <a:pt x="0" y="25587"/>
                    <a:pt x="0" y="57150"/>
                  </a:cubicBezTo>
                  <a:cubicBezTo>
                    <a:pt x="0" y="88713"/>
                    <a:pt x="25587" y="114300"/>
                    <a:pt x="57150" y="114300"/>
                  </a:cubicBezTo>
                  <a:close/>
                  <a:moveTo>
                    <a:pt x="90776" y="40770"/>
                  </a:moveTo>
                  <a:lnTo>
                    <a:pt x="80674" y="30667"/>
                  </a:lnTo>
                  <a:lnTo>
                    <a:pt x="46434" y="64907"/>
                  </a:lnTo>
                  <a:lnTo>
                    <a:pt x="33626" y="52099"/>
                  </a:lnTo>
                  <a:lnTo>
                    <a:pt x="23524" y="62201"/>
                  </a:lnTo>
                  <a:lnTo>
                    <a:pt x="46434" y="85112"/>
                  </a:lnTo>
                  <a:lnTo>
                    <a:pt x="90776" y="40770"/>
                  </a:lnTo>
                  <a:close/>
                </a:path>
              </a:pathLst>
            </a:custGeom>
            <a:solidFill>
              <a:srgbClr val="2E7D5B"/>
            </a:solidFill>
            <a:ln>
              <a:noFill/>
            </a:ln>
          </p:spPr>
        </p:sp>
        <p:sp>
          <p:nvSpPr>
            <p:cNvPr id="19" name="TextBox 19"/>
            <p:cNvSpPr txBox="1"/>
            <p:nvPr/>
          </p:nvSpPr>
          <p:spPr>
            <a:xfrm>
              <a:off x="8586788" y="2036445"/>
              <a:ext cx="856351" cy="176212"/>
            </a:xfrm>
            <a:prstGeom prst="rect">
              <a:avLst/>
            </a:prstGeom>
            <a:noFill/>
            <a:ln>
              <a:noFill/>
            </a:ln>
          </p:spPr>
          <p:txBody>
            <a:bodyPr wrap="none" lIns="0" tIns="0" rIns="0" bIns="0" anchor="t" anchorCtr="0">
              <a:spAutoFit/>
            </a:bodyPr>
            <a:lstStyle/>
            <a:p>
              <a:pPr algn="l"/>
              <a:r>
                <a:rPr lang="en" sz="900" b="1" dirty="0">
                  <a:solidFill>
                    <a:srgbClr val="2E7D5B"/>
                  </a:solidFill>
                  <a:latin typeface="+mn-lt"/>
                  <a:ea typeface="+mn-ea"/>
                  <a:cs typeface="+mn-cs"/>
                </a:rPr>
                <a:t>PROTECT THIS</a:t>
              </a:r>
            </a:p>
          </p:txBody>
        </p:sp>
        <p:sp>
          <p:nvSpPr>
            <p:cNvPr id="20" name="TextBox 20"/>
            <p:cNvSpPr txBox="1"/>
            <p:nvPr/>
          </p:nvSpPr>
          <p:spPr>
            <a:xfrm>
              <a:off x="8409432" y="2306955"/>
              <a:ext cx="2821686" cy="734568"/>
            </a:xfrm>
            <a:prstGeom prst="rect">
              <a:avLst/>
            </a:prstGeom>
            <a:noFill/>
            <a:ln>
              <a:noFill/>
            </a:ln>
          </p:spPr>
          <p:txBody>
            <a:bodyPr wrap="none" lIns="0" tIns="0" rIns="0" bIns="0" anchor="t" anchorCtr="0">
              <a:spAutoFit/>
            </a:bodyPr>
            <a:lstStyle/>
            <a:p>
              <a:pPr algn="l">
                <a:lnSpc>
                  <a:spcPts val="2550"/>
                </a:lnSpc>
              </a:pPr>
              <a:r>
                <a:rPr lang="en" sz="2100" b="1" dirty="0">
                  <a:solidFill>
                    <a:schemeClr val="dk1"/>
                  </a:solidFill>
                  <a:latin typeface="+mn-lt"/>
                  <a:ea typeface="+mn-ea"/>
                  <a:cs typeface="+mn-cs"/>
                </a:rPr>
                <a:t>The older engine</a:t>
              </a:r>
              <a:br/>
              <a:r>
                <a:rPr lang="en" sz="2100" b="1" dirty="0">
                  <a:solidFill>
                    <a:schemeClr val="dk1"/>
                  </a:solidFill>
                  <a:latin typeface="+mn-lt"/>
                  <a:ea typeface="+mn-ea"/>
                  <a:cs typeface="+mn-cs"/>
                </a:rPr>
                <a:t>degraded, not failed</a:t>
              </a:r>
            </a:p>
          </p:txBody>
        </p:sp>
        <p:sp>
          <p:nvSpPr>
            <p:cNvPr id="21" name="TextBox 21"/>
            <p:cNvSpPr txBox="1"/>
            <p:nvPr/>
          </p:nvSpPr>
          <p:spPr>
            <a:xfrm>
              <a:off x="8414004" y="3223260"/>
              <a:ext cx="2557272" cy="10728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Customers on the old FL proxy</a:t>
              </a:r>
              <a:br/>
              <a:r>
                <a:rPr lang="en" sz="1200" dirty="0">
                  <a:solidFill>
                    <a:schemeClr val="dk1"/>
                  </a:solidFill>
                  <a:latin typeface="+mn-lt"/>
                  <a:ea typeface="+mn-ea"/>
                  <a:cs typeface="+mn-cs"/>
                </a:rPr>
                <a:t>engine did not see errors, and</a:t>
              </a:r>
              <a:br/>
              <a:r>
                <a:rPr lang="en" sz="1200" dirty="0">
                  <a:solidFill>
                    <a:schemeClr val="dk1"/>
                  </a:solidFill>
                  <a:latin typeface="+mn-lt"/>
                  <a:ea typeface="+mn-ea"/>
                  <a:cs typeface="+mn-cs"/>
                </a:rPr>
                <a:t>customers who were not using the</a:t>
              </a:r>
              <a:br/>
              <a:r>
                <a:rPr lang="en" sz="1200" dirty="0">
                  <a:solidFill>
                    <a:schemeClr val="dk1"/>
                  </a:solidFill>
                  <a:latin typeface="+mn-lt"/>
                  <a:ea typeface="+mn-ea"/>
                  <a:cs typeface="+mn-cs"/>
                </a:rPr>
                <a:t>bot score in their rules saw no</a:t>
              </a:r>
              <a:br/>
              <a:r>
                <a:rPr lang="en" sz="1200" dirty="0">
                  <a:solidFill>
                    <a:schemeClr val="dk1"/>
                  </a:solidFill>
                  <a:latin typeface="+mn-lt"/>
                  <a:ea typeface="+mn-ea"/>
                  <a:cs typeface="+mn-cs"/>
                </a:rPr>
                <a:t>impact at all.</a:t>
              </a:r>
            </a:p>
          </p:txBody>
        </p:sp>
      </p:grpSp>
      <p:grpSp>
        <p:nvGrpSpPr>
          <p:cNvPr id="24" name="Group 24"/>
          <p:cNvGrpSpPr/>
          <p:nvPr/>
        </p:nvGrpSpPr>
        <p:grpSpPr>
          <a:xfrm>
            <a:off x="603504" y="4823460"/>
            <a:ext cx="9201558" cy="234696"/>
            <a:chOff x="603504" y="4823460"/>
            <a:chExt cx="9201558" cy="234696"/>
          </a:xfrm>
        </p:grpSpPr>
        <p:sp>
          <p:nvSpPr>
            <p:cNvPr id="23" name="TextBox 23"/>
            <p:cNvSpPr txBox="1"/>
            <p:nvPr/>
          </p:nvSpPr>
          <p:spPr>
            <a:xfrm>
              <a:off x="603504" y="4823460"/>
              <a:ext cx="920155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Observed facts from the published account; the judgement that these three are worth protecting is this review’s.</a:t>
              </a:r>
            </a:p>
          </p:txBody>
        </p:sp>
      </p:grpSp>
      <p:grpSp>
        <p:nvGrpSpPr>
          <p:cNvPr id="27" name="Group 27"/>
          <p:cNvGrpSpPr/>
          <p:nvPr/>
        </p:nvGrpSpPr>
        <p:grpSpPr>
          <a:xfrm>
            <a:off x="604838" y="6494145"/>
            <a:ext cx="10982325" cy="176212"/>
            <a:chOff x="604838" y="6494145"/>
            <a:chExt cx="10982325" cy="176212"/>
          </a:xfrm>
        </p:grpSpPr>
        <p:sp>
          <p:nvSpPr>
            <p:cNvPr id="25" name="TextBox 25"/>
            <p:cNvSpPr txBox="1"/>
            <p:nvPr/>
          </p:nvSpPr>
          <p:spPr>
            <a:xfrm>
              <a:off x="604838" y="6494145"/>
              <a:ext cx="675333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incident timeline and other-impact section. All times UTC.</a:t>
              </a:r>
            </a:p>
          </p:txBody>
        </p:sp>
        <p:sp>
          <p:nvSpPr>
            <p:cNvPr id="26" name="TextBox 26"/>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400"/>
                                        <p:tgtEl>
                                          <p:spTgt spid="16"/>
                                        </p:tgtEl>
                                      </p:cBhvr>
                                    </p:animEffect>
                                  </p:childTnLst>
                                </p:cTn>
                              </p:par>
                            </p:childTnLst>
                          </p:cTn>
                        </p:par>
                        <p:par>
                          <p:cTn id="12" fill="hold">
                            <p:stCondLst>
                              <p:cond delay="13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991066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Four corrective actions are published, and none of them</a:t>
              </a:r>
              <a:br/>
              <a:r>
                <a:rPr lang="en" sz="2700" b="1" dirty="0">
                  <a:solidFill>
                    <a:schemeClr val="dk1"/>
                  </a:solidFill>
                  <a:latin typeface="+mn-lt"/>
                  <a:ea typeface="+mn-ea"/>
                  <a:cs typeface="+mn-cs"/>
                </a:rPr>
                <a:t>carries an owner, a date, or a verification method</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4" name="Group 44"/>
          <p:cNvGrpSpPr/>
          <p:nvPr/>
        </p:nvGrpSpPr>
        <p:grpSpPr>
          <a:xfrm>
            <a:off x="609600" y="1880235"/>
            <a:ext cx="10972800" cy="2739390"/>
            <a:chOff x="609600" y="1880235"/>
            <a:chExt cx="10972800" cy="2739390"/>
          </a:xfrm>
        </p:grpSpPr>
        <p:sp>
          <p:nvSpPr>
            <p:cNvPr id="5" name="Rectangle 5"/>
            <p:cNvSpPr/>
            <p:nvPr/>
          </p:nvSpPr>
          <p:spPr>
            <a:xfrm>
              <a:off x="8229600" y="2190750"/>
              <a:ext cx="3352800" cy="762000"/>
            </a:xfrm>
            <a:prstGeom prst="rect">
              <a:avLst/>
            </a:prstGeom>
            <a:solidFill>
              <a:schemeClr val="lt2"/>
            </a:solidFill>
            <a:ln>
              <a:noFill/>
            </a:ln>
          </p:spPr>
        </p:sp>
        <p:sp>
          <p:nvSpPr>
            <p:cNvPr id="6" name="Rectangle 6"/>
            <p:cNvSpPr/>
            <p:nvPr/>
          </p:nvSpPr>
          <p:spPr>
            <a:xfrm>
              <a:off x="8229600" y="2952750"/>
              <a:ext cx="3352800" cy="552450"/>
            </a:xfrm>
            <a:prstGeom prst="rect">
              <a:avLst/>
            </a:prstGeom>
            <a:solidFill>
              <a:schemeClr val="lt2"/>
            </a:solidFill>
            <a:ln>
              <a:noFill/>
            </a:ln>
          </p:spPr>
        </p:sp>
        <p:sp>
          <p:nvSpPr>
            <p:cNvPr id="7" name="Rectangle 7"/>
            <p:cNvSpPr/>
            <p:nvPr/>
          </p:nvSpPr>
          <p:spPr>
            <a:xfrm>
              <a:off x="8229600" y="3505200"/>
              <a:ext cx="3352800" cy="552450"/>
            </a:xfrm>
            <a:prstGeom prst="rect">
              <a:avLst/>
            </a:prstGeom>
            <a:solidFill>
              <a:schemeClr val="lt2"/>
            </a:solidFill>
            <a:ln>
              <a:noFill/>
            </a:ln>
          </p:spPr>
        </p:sp>
        <p:sp>
          <p:nvSpPr>
            <p:cNvPr id="8" name="Rectangle 8"/>
            <p:cNvSpPr/>
            <p:nvPr/>
          </p:nvSpPr>
          <p:spPr>
            <a:xfrm>
              <a:off x="8229600" y="4057650"/>
              <a:ext cx="3352800" cy="552450"/>
            </a:xfrm>
            <a:prstGeom prst="rect">
              <a:avLst/>
            </a:prstGeom>
            <a:solidFill>
              <a:schemeClr val="lt2"/>
            </a:solidFill>
            <a:ln>
              <a:noFill/>
            </a:ln>
          </p:spPr>
        </p:sp>
        <p:sp>
          <p:nvSpPr>
            <p:cNvPr id="9" name="Line 9"/>
            <p:cNvSpPr/>
            <p:nvPr/>
          </p:nvSpPr>
          <p:spPr>
            <a:xfrm>
              <a:off x="609600" y="2190750"/>
              <a:ext cx="10972800" cy="9525"/>
            </a:xfrm>
            <a:custGeom>
              <a:avLst/>
              <a:gdLst/>
              <a:ahLst/>
              <a:cxnLst/>
              <a:rect l="l" t="t" r="r" b="b"/>
              <a:pathLst>
                <a:path w="10972800" h="9525">
                  <a:moveTo>
                    <a:pt x="0" y="0"/>
                  </a:moveTo>
                  <a:lnTo>
                    <a:pt x="10972800" y="0"/>
                  </a:lnTo>
                </a:path>
              </a:pathLst>
            </a:custGeom>
            <a:noFill/>
            <a:ln w="19050">
              <a:solidFill>
                <a:schemeClr val="accent1"/>
              </a:solidFill>
            </a:ln>
          </p:spPr>
        </p:sp>
        <p:sp>
          <p:nvSpPr>
            <p:cNvPr id="10" name="Line 10"/>
            <p:cNvSpPr/>
            <p:nvPr/>
          </p:nvSpPr>
          <p:spPr>
            <a:xfrm>
              <a:off x="609600" y="29527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Line 11"/>
            <p:cNvSpPr/>
            <p:nvPr/>
          </p:nvSpPr>
          <p:spPr>
            <a:xfrm>
              <a:off x="609600" y="3505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2" name="Line 12"/>
            <p:cNvSpPr/>
            <p:nvPr/>
          </p:nvSpPr>
          <p:spPr>
            <a:xfrm>
              <a:off x="609600" y="40576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Line 13"/>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4" name="TextBox 14"/>
            <p:cNvSpPr txBox="1"/>
            <p:nvPr/>
          </p:nvSpPr>
          <p:spPr>
            <a:xfrm>
              <a:off x="717804" y="1880235"/>
              <a:ext cx="228176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Published corrective action</a:t>
              </a:r>
            </a:p>
          </p:txBody>
        </p:sp>
        <p:sp>
          <p:nvSpPr>
            <p:cNvPr id="15" name="TextBox 15"/>
            <p:cNvSpPr txBox="1"/>
            <p:nvPr/>
          </p:nvSpPr>
          <p:spPr>
            <a:xfrm>
              <a:off x="4908804" y="1880235"/>
              <a:ext cx="44104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Class</a:t>
              </a:r>
            </a:p>
          </p:txBody>
        </p:sp>
        <p:sp>
          <p:nvSpPr>
            <p:cNvPr id="16" name="TextBox 16"/>
            <p:cNvSpPr txBox="1"/>
            <p:nvPr/>
          </p:nvSpPr>
          <p:spPr>
            <a:xfrm>
              <a:off x="6051804" y="1880235"/>
              <a:ext cx="146792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Factor addressed</a:t>
              </a:r>
            </a:p>
          </p:txBody>
        </p:sp>
        <p:sp>
          <p:nvSpPr>
            <p:cNvPr id="17" name="TextBox 17"/>
            <p:cNvSpPr txBox="1"/>
            <p:nvPr/>
          </p:nvSpPr>
          <p:spPr>
            <a:xfrm>
              <a:off x="8337804" y="1880235"/>
              <a:ext cx="552548"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Owner</a:t>
              </a:r>
            </a:p>
          </p:txBody>
        </p:sp>
        <p:sp>
          <p:nvSpPr>
            <p:cNvPr id="18" name="TextBox 18"/>
            <p:cNvSpPr txBox="1"/>
            <p:nvPr/>
          </p:nvSpPr>
          <p:spPr>
            <a:xfrm>
              <a:off x="9385554" y="1880235"/>
              <a:ext cx="297348"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Due</a:t>
              </a:r>
            </a:p>
          </p:txBody>
        </p:sp>
        <p:sp>
          <p:nvSpPr>
            <p:cNvPr id="19" name="TextBox 19"/>
            <p:cNvSpPr txBox="1"/>
            <p:nvPr/>
          </p:nvSpPr>
          <p:spPr>
            <a:xfrm>
              <a:off x="10242804" y="1880235"/>
              <a:ext cx="1009157"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Verification</a:t>
              </a:r>
            </a:p>
          </p:txBody>
        </p:sp>
        <p:sp>
          <p:nvSpPr>
            <p:cNvPr id="20" name="TextBox 20"/>
            <p:cNvSpPr txBox="1"/>
            <p:nvPr/>
          </p:nvSpPr>
          <p:spPr>
            <a:xfrm>
              <a:off x="717804" y="2261235"/>
              <a:ext cx="331165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Hardening ingestion of Cloudflare-generated</a:t>
              </a:r>
              <a:br/>
              <a:r>
                <a:rPr lang="en" sz="1200" dirty="0">
                  <a:solidFill>
                    <a:schemeClr val="dk1"/>
                  </a:solidFill>
                  <a:latin typeface="+mn-lt"/>
                  <a:ea typeface="+mn-ea"/>
                  <a:cs typeface="+mn-cs"/>
                </a:rPr>
                <a:t>configuration files in the same way as</a:t>
              </a:r>
              <a:br/>
              <a:r>
                <a:rPr lang="en" sz="1200" dirty="0">
                  <a:solidFill>
                    <a:schemeClr val="dk1"/>
                  </a:solidFill>
                  <a:latin typeface="+mn-lt"/>
                  <a:ea typeface="+mn-ea"/>
                  <a:cs typeface="+mn-cs"/>
                </a:rPr>
                <a:t>user-generated input</a:t>
              </a:r>
            </a:p>
          </p:txBody>
        </p:sp>
        <p:sp>
          <p:nvSpPr>
            <p:cNvPr id="21" name="TextBox 21"/>
            <p:cNvSpPr txBox="1"/>
            <p:nvPr/>
          </p:nvSpPr>
          <p:spPr>
            <a:xfrm>
              <a:off x="4908804" y="2261235"/>
              <a:ext cx="865099"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Prevention</a:t>
              </a:r>
            </a:p>
          </p:txBody>
        </p:sp>
        <p:sp>
          <p:nvSpPr>
            <p:cNvPr id="22" name="TextBox 22"/>
            <p:cNvSpPr txBox="1"/>
            <p:nvPr/>
          </p:nvSpPr>
          <p:spPr>
            <a:xfrm>
              <a:off x="6051804" y="2261235"/>
              <a:ext cx="1825752"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Generated configuration</a:t>
              </a:r>
              <a:br/>
              <a:r>
                <a:rPr lang="en" sz="1200" dirty="0">
                  <a:solidFill>
                    <a:schemeClr val="dk1"/>
                  </a:solidFill>
                  <a:latin typeface="+mn-lt"/>
                  <a:ea typeface="+mn-ea"/>
                  <a:cs typeface="+mn-cs"/>
                </a:rPr>
                <a:t>trusted more than user</a:t>
              </a:r>
              <a:br/>
              <a:r>
                <a:rPr lang="en" sz="1200" dirty="0">
                  <a:solidFill>
                    <a:schemeClr val="dk1"/>
                  </a:solidFill>
                  <a:latin typeface="+mn-lt"/>
                  <a:ea typeface="+mn-ea"/>
                  <a:cs typeface="+mn-cs"/>
                </a:rPr>
                <a:t>input</a:t>
              </a:r>
            </a:p>
          </p:txBody>
        </p:sp>
        <p:sp>
          <p:nvSpPr>
            <p:cNvPr id="23" name="TextBox 23"/>
            <p:cNvSpPr txBox="1"/>
            <p:nvPr/>
          </p:nvSpPr>
          <p:spPr>
            <a:xfrm>
              <a:off x="8337804" y="22612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24" name="TextBox 24"/>
            <p:cNvSpPr txBox="1"/>
            <p:nvPr/>
          </p:nvSpPr>
          <p:spPr>
            <a:xfrm>
              <a:off x="9385554" y="22612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25" name="TextBox 25"/>
            <p:cNvSpPr txBox="1"/>
            <p:nvPr/>
          </p:nvSpPr>
          <p:spPr>
            <a:xfrm>
              <a:off x="10242804" y="22612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26" name="TextBox 26"/>
            <p:cNvSpPr txBox="1"/>
            <p:nvPr/>
          </p:nvSpPr>
          <p:spPr>
            <a:xfrm>
              <a:off x="717804" y="3023235"/>
              <a:ext cx="3692392"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Enabling more global kill switches for features</a:t>
              </a:r>
            </a:p>
          </p:txBody>
        </p:sp>
        <p:sp>
          <p:nvSpPr>
            <p:cNvPr id="27" name="TextBox 27"/>
            <p:cNvSpPr txBox="1"/>
            <p:nvPr/>
          </p:nvSpPr>
          <p:spPr>
            <a:xfrm>
              <a:off x="4908804" y="3023235"/>
              <a:ext cx="81636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Mitigation</a:t>
              </a:r>
            </a:p>
          </p:txBody>
        </p:sp>
        <p:sp>
          <p:nvSpPr>
            <p:cNvPr id="28" name="TextBox 28"/>
            <p:cNvSpPr txBox="1"/>
            <p:nvPr/>
          </p:nvSpPr>
          <p:spPr>
            <a:xfrm>
              <a:off x="6051804" y="3023235"/>
              <a:ext cx="20619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Rapid global propagation</a:t>
              </a:r>
              <a:br/>
              <a:r>
                <a:rPr lang="en" sz="1200" dirty="0">
                  <a:solidFill>
                    <a:schemeClr val="dk1"/>
                  </a:solidFill>
                  <a:latin typeface="+mn-lt"/>
                  <a:ea typeface="+mn-ea"/>
                  <a:cs typeface="+mn-cs"/>
                </a:rPr>
                <a:t>with no per-feature switch</a:t>
              </a:r>
            </a:p>
          </p:txBody>
        </p:sp>
        <p:sp>
          <p:nvSpPr>
            <p:cNvPr id="29" name="TextBox 29"/>
            <p:cNvSpPr txBox="1"/>
            <p:nvPr/>
          </p:nvSpPr>
          <p:spPr>
            <a:xfrm>
              <a:off x="8337804" y="30232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30" name="TextBox 30"/>
            <p:cNvSpPr txBox="1"/>
            <p:nvPr/>
          </p:nvSpPr>
          <p:spPr>
            <a:xfrm>
              <a:off x="9385554" y="30232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31" name="TextBox 31"/>
            <p:cNvSpPr txBox="1"/>
            <p:nvPr/>
          </p:nvSpPr>
          <p:spPr>
            <a:xfrm>
              <a:off x="10242804" y="30232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32" name="TextBox 32"/>
            <p:cNvSpPr txBox="1"/>
            <p:nvPr/>
          </p:nvSpPr>
          <p:spPr>
            <a:xfrm>
              <a:off x="717804" y="3575685"/>
              <a:ext cx="34792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Eliminating the ability for core dumps or other</a:t>
              </a:r>
              <a:br/>
              <a:r>
                <a:rPr lang="en" sz="1200" dirty="0">
                  <a:solidFill>
                    <a:schemeClr val="dk1"/>
                  </a:solidFill>
                  <a:latin typeface="+mn-lt"/>
                  <a:ea typeface="+mn-ea"/>
                  <a:cs typeface="+mn-cs"/>
                </a:rPr>
                <a:t>error reports to overwhelm system resources</a:t>
              </a:r>
            </a:p>
          </p:txBody>
        </p:sp>
        <p:sp>
          <p:nvSpPr>
            <p:cNvPr id="33" name="TextBox 33"/>
            <p:cNvSpPr txBox="1"/>
            <p:nvPr/>
          </p:nvSpPr>
          <p:spPr>
            <a:xfrm>
              <a:off x="4908804" y="3575685"/>
              <a:ext cx="81636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Mitigation</a:t>
              </a:r>
            </a:p>
          </p:txBody>
        </p:sp>
        <p:sp>
          <p:nvSpPr>
            <p:cNvPr id="34" name="TextBox 34"/>
            <p:cNvSpPr txBox="1"/>
            <p:nvPr/>
          </p:nvSpPr>
          <p:spPr>
            <a:xfrm>
              <a:off x="6051804" y="3575685"/>
              <a:ext cx="16123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Observability CPU use</a:t>
              </a:r>
              <a:br/>
              <a:r>
                <a:rPr lang="en" sz="1200" dirty="0">
                  <a:solidFill>
                    <a:schemeClr val="dk1"/>
                  </a:solidFill>
                  <a:latin typeface="+mn-lt"/>
                  <a:ea typeface="+mn-ea"/>
                  <a:cs typeface="+mn-cs"/>
                </a:rPr>
                <a:t>during the incident</a:t>
              </a:r>
            </a:p>
          </p:txBody>
        </p:sp>
        <p:sp>
          <p:nvSpPr>
            <p:cNvPr id="35" name="TextBox 35"/>
            <p:cNvSpPr txBox="1"/>
            <p:nvPr/>
          </p:nvSpPr>
          <p:spPr>
            <a:xfrm>
              <a:off x="8337804" y="357568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36" name="TextBox 36"/>
            <p:cNvSpPr txBox="1"/>
            <p:nvPr/>
          </p:nvSpPr>
          <p:spPr>
            <a:xfrm>
              <a:off x="9385554" y="357568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37" name="TextBox 37"/>
            <p:cNvSpPr txBox="1"/>
            <p:nvPr/>
          </p:nvSpPr>
          <p:spPr>
            <a:xfrm>
              <a:off x="10242804" y="357568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38" name="TextBox 38"/>
            <p:cNvSpPr txBox="1"/>
            <p:nvPr/>
          </p:nvSpPr>
          <p:spPr>
            <a:xfrm>
              <a:off x="717804" y="4128135"/>
              <a:ext cx="33421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Reviewing failure modes for error conditions</a:t>
              </a:r>
              <a:br/>
              <a:r>
                <a:rPr lang="en" sz="1200" dirty="0">
                  <a:solidFill>
                    <a:schemeClr val="dk1"/>
                  </a:solidFill>
                  <a:latin typeface="+mn-lt"/>
                  <a:ea typeface="+mn-ea"/>
                  <a:cs typeface="+mn-cs"/>
                </a:rPr>
                <a:t>across all core proxy modules</a:t>
              </a:r>
            </a:p>
          </p:txBody>
        </p:sp>
        <p:sp>
          <p:nvSpPr>
            <p:cNvPr id="39" name="TextBox 39"/>
            <p:cNvSpPr txBox="1"/>
            <p:nvPr/>
          </p:nvSpPr>
          <p:spPr>
            <a:xfrm>
              <a:off x="4908804" y="4128135"/>
              <a:ext cx="865099"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Prevention</a:t>
              </a:r>
            </a:p>
          </p:txBody>
        </p:sp>
        <p:sp>
          <p:nvSpPr>
            <p:cNvPr id="40" name="TextBox 40"/>
            <p:cNvSpPr txBox="1"/>
            <p:nvPr/>
          </p:nvSpPr>
          <p:spPr>
            <a:xfrm>
              <a:off x="6051804" y="4128135"/>
              <a:ext cx="18790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Unbounded failure path in</a:t>
              </a:r>
              <a:br/>
              <a:r>
                <a:rPr lang="en" sz="1200" dirty="0">
                  <a:solidFill>
                    <a:schemeClr val="dk1"/>
                  </a:solidFill>
                  <a:latin typeface="+mn-lt"/>
                  <a:ea typeface="+mn-ea"/>
                  <a:cs typeface="+mn-cs"/>
                </a:rPr>
                <a:t>a core proxy module</a:t>
              </a:r>
            </a:p>
          </p:txBody>
        </p:sp>
        <p:sp>
          <p:nvSpPr>
            <p:cNvPr id="41" name="TextBox 41"/>
            <p:cNvSpPr txBox="1"/>
            <p:nvPr/>
          </p:nvSpPr>
          <p:spPr>
            <a:xfrm>
              <a:off x="8337804" y="41281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42" name="TextBox 42"/>
            <p:cNvSpPr txBox="1"/>
            <p:nvPr/>
          </p:nvSpPr>
          <p:spPr>
            <a:xfrm>
              <a:off x="9385554" y="41281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sp>
          <p:nvSpPr>
            <p:cNvPr id="43" name="TextBox 43"/>
            <p:cNvSpPr txBox="1"/>
            <p:nvPr/>
          </p:nvSpPr>
          <p:spPr>
            <a:xfrm>
              <a:off x="10242804" y="4128135"/>
              <a:ext cx="69323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NO DATA</a:t>
              </a:r>
            </a:p>
          </p:txBody>
        </p:sp>
      </p:grpSp>
      <p:grpSp>
        <p:nvGrpSpPr>
          <p:cNvPr id="46" name="Group 46"/>
          <p:cNvGrpSpPr/>
          <p:nvPr/>
        </p:nvGrpSpPr>
        <p:grpSpPr>
          <a:xfrm>
            <a:off x="603504" y="4804410"/>
            <a:ext cx="9346692" cy="444246"/>
            <a:chOff x="603504" y="4804410"/>
            <a:chExt cx="9346692" cy="444246"/>
          </a:xfrm>
        </p:grpSpPr>
        <p:sp>
          <p:nvSpPr>
            <p:cNvPr id="45" name="TextBox 45"/>
            <p:cNvSpPr txBox="1"/>
            <p:nvPr/>
          </p:nvSpPr>
          <p:spPr>
            <a:xfrm>
              <a:off x="603504" y="4804410"/>
              <a:ext cx="93466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published account lists these four remediation items and no more. It states no owner, no target date and no verification</a:t>
              </a:r>
              <a:br/>
              <a:r>
                <a:rPr lang="en" sz="1200" dirty="0">
                  <a:solidFill>
                    <a:schemeClr val="accent5"/>
                  </a:solidFill>
                  <a:latin typeface="+mn-lt"/>
                  <a:ea typeface="+mn-ea"/>
                  <a:cs typeface="+mn-cs"/>
                </a:rPr>
                <a:t>method for any of them, so those three columns are recorded as NO DATA rather than dropped.</a:t>
              </a:r>
            </a:p>
          </p:txBody>
        </p:sp>
      </p:grpSp>
      <p:grpSp>
        <p:nvGrpSpPr>
          <p:cNvPr id="49" name="Group 49"/>
          <p:cNvGrpSpPr/>
          <p:nvPr/>
        </p:nvGrpSpPr>
        <p:grpSpPr>
          <a:xfrm>
            <a:off x="604838" y="6494145"/>
            <a:ext cx="10982325" cy="176212"/>
            <a:chOff x="604838" y="6494145"/>
            <a:chExt cx="10982325" cy="176212"/>
          </a:xfrm>
        </p:grpSpPr>
        <p:sp>
          <p:nvSpPr>
            <p:cNvPr id="47" name="TextBox 47"/>
            <p:cNvSpPr txBox="1"/>
            <p:nvPr/>
          </p:nvSpPr>
          <p:spPr>
            <a:xfrm>
              <a:off x="604838" y="6494145"/>
              <a:ext cx="726105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“Cloudflare outage on November 18, 2025”, remediation and follow-up steps. Factor mapping is this review’s.</a:t>
              </a:r>
            </a:p>
          </p:txBody>
        </p:sp>
        <p:sp>
          <p:nvSpPr>
            <p:cNvPr id="48" name="TextBox 48"/>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29640"/>
            <a:chOff x="595884" y="584835"/>
            <a:chExt cx="10986516" cy="929640"/>
          </a:xfrm>
        </p:grpSpPr>
        <p:sp>
          <p:nvSpPr>
            <p:cNvPr id="2" name="TextBox 2"/>
            <p:cNvSpPr txBox="1"/>
            <p:nvPr/>
          </p:nvSpPr>
          <p:spPr>
            <a:xfrm>
              <a:off x="595884" y="584835"/>
              <a:ext cx="9809903" cy="528066"/>
            </a:xfrm>
            <a:prstGeom prst="rect">
              <a:avLst/>
            </a:prstGeom>
            <a:noFill/>
            <a:ln>
              <a:noFill/>
            </a:ln>
          </p:spPr>
          <p:txBody>
            <a:bodyPr wrap="none" lIns="0" tIns="0" rIns="0" bIns="0" anchor="t" anchorCtr="0">
              <a:spAutoFit/>
            </a:bodyPr>
            <a:lstStyle/>
            <a:p>
              <a:pPr algn="l"/>
              <a:r>
                <a:rPr lang="en" sz="2700" b="1" dirty="0">
                  <a:solidFill>
                    <a:schemeClr val="dk1"/>
                  </a:solidFill>
                  <a:latin typeface="+mn-lt"/>
                  <a:ea typeface="+mn-ea"/>
                  <a:cs typeface="+mn-cs"/>
                </a:rPr>
                <a:t>Five questions the published account does not settle</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 name="Group 8"/>
          <p:cNvGrpSpPr/>
          <p:nvPr/>
        </p:nvGrpSpPr>
        <p:grpSpPr>
          <a:xfrm>
            <a:off x="602742" y="1800225"/>
            <a:ext cx="9503664" cy="762381"/>
            <a:chOff x="602742" y="1800225"/>
            <a:chExt cx="9503664" cy="762381"/>
          </a:xfrm>
        </p:grpSpPr>
        <p:sp>
          <p:nvSpPr>
            <p:cNvPr id="5" name="TextBox 5"/>
            <p:cNvSpPr txBox="1"/>
            <p:nvPr/>
          </p:nvSpPr>
          <p:spPr>
            <a:xfrm>
              <a:off x="602742" y="18164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01</a:t>
              </a:r>
            </a:p>
          </p:txBody>
        </p:sp>
        <p:sp>
          <p:nvSpPr>
            <p:cNvPr id="6" name="TextBox 6"/>
            <p:cNvSpPr txBox="1"/>
            <p:nvPr/>
          </p:nvSpPr>
          <p:spPr>
            <a:xfrm>
              <a:off x="1040130" y="1800225"/>
              <a:ext cx="4129564"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When did impact begin — 11:20 or 11:28?</a:t>
              </a:r>
            </a:p>
          </p:txBody>
        </p:sp>
        <p:sp>
          <p:nvSpPr>
            <p:cNvPr id="7" name="TextBox 7"/>
            <p:cNvSpPr txBox="1"/>
            <p:nvPr/>
          </p:nvSpPr>
          <p:spPr>
            <a:xfrm>
              <a:off x="1041654" y="2118360"/>
              <a:ext cx="906475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opening paragraph states the network began experiencing significant failures at 11:20; the incident timeline records</a:t>
              </a:r>
              <a:br/>
              <a:r>
                <a:rPr lang="en" sz="1200" dirty="0">
                  <a:solidFill>
                    <a:schemeClr val="accent5"/>
                  </a:solidFill>
                  <a:latin typeface="+mn-lt"/>
                  <a:ea typeface="+mn-ea"/>
                  <a:cs typeface="+mn-cs"/>
                </a:rPr>
                <a:t>impact starts at 11:28. This deck uses 11:28 for every derived duration and says so on each page that shows one.</a:t>
              </a:r>
            </a:p>
          </p:txBody>
        </p:sp>
      </p:grpSp>
      <p:grpSp>
        <p:nvGrpSpPr>
          <p:cNvPr id="12" name="Group 12"/>
          <p:cNvGrpSpPr/>
          <p:nvPr/>
        </p:nvGrpSpPr>
        <p:grpSpPr>
          <a:xfrm>
            <a:off x="602742" y="2714625"/>
            <a:ext cx="9419844" cy="762381"/>
            <a:chOff x="602742" y="2714625"/>
            <a:chExt cx="9419844" cy="762381"/>
          </a:xfrm>
        </p:grpSpPr>
        <p:sp>
          <p:nvSpPr>
            <p:cNvPr id="9" name="TextBox 9"/>
            <p:cNvSpPr txBox="1"/>
            <p:nvPr/>
          </p:nvSpPr>
          <p:spPr>
            <a:xfrm>
              <a:off x="602742" y="27308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02</a:t>
              </a:r>
            </a:p>
          </p:txBody>
        </p:sp>
        <p:sp>
          <p:nvSpPr>
            <p:cNvPr id="10" name="TextBox 10"/>
            <p:cNvSpPr txBox="1"/>
            <p:nvPr/>
          </p:nvSpPr>
          <p:spPr>
            <a:xfrm>
              <a:off x="1040130" y="2714625"/>
              <a:ext cx="7130796"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When was the Workers KV bypass effective — 13:04, 13:05 or 13:10?</a:t>
              </a:r>
            </a:p>
          </p:txBody>
        </p:sp>
        <p:sp>
          <p:nvSpPr>
            <p:cNvPr id="11" name="TextBox 11"/>
            <p:cNvSpPr txBox="1"/>
            <p:nvPr/>
          </p:nvSpPr>
          <p:spPr>
            <a:xfrm>
              <a:off x="1041654" y="3032760"/>
              <a:ext cx="89809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narrative gives 13:04 for the patch and 13:10 for restoration, while the timeline gives 13:05 for the bypass. Three</a:t>
              </a:r>
              <a:br/>
              <a:r>
                <a:rPr lang="en" sz="1200" dirty="0">
                  <a:solidFill>
                    <a:schemeClr val="accent5"/>
                  </a:solidFill>
                  <a:latin typeface="+mn-lt"/>
                  <a:ea typeface="+mn-ea"/>
                  <a:cs typeface="+mn-cs"/>
                </a:rPr>
                <a:t>values describe one mitigation, and the published account does not reconcile them.</a:t>
              </a:r>
            </a:p>
          </p:txBody>
        </p:sp>
      </p:grpSp>
      <p:grpSp>
        <p:nvGrpSpPr>
          <p:cNvPr id="16" name="Group 16"/>
          <p:cNvGrpSpPr/>
          <p:nvPr/>
        </p:nvGrpSpPr>
        <p:grpSpPr>
          <a:xfrm>
            <a:off x="602742" y="3629025"/>
            <a:ext cx="9572244" cy="762381"/>
            <a:chOff x="602742" y="3629025"/>
            <a:chExt cx="9572244" cy="762381"/>
          </a:xfrm>
        </p:grpSpPr>
        <p:sp>
          <p:nvSpPr>
            <p:cNvPr id="13" name="TextBox 13"/>
            <p:cNvSpPr txBox="1"/>
            <p:nvPr/>
          </p:nvSpPr>
          <p:spPr>
            <a:xfrm>
              <a:off x="602742" y="36452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03</a:t>
              </a:r>
            </a:p>
          </p:txBody>
        </p:sp>
        <p:sp>
          <p:nvSpPr>
            <p:cNvPr id="14" name="TextBox 14"/>
            <p:cNvSpPr txBox="1"/>
            <p:nvPr/>
          </p:nvSpPr>
          <p:spPr>
            <a:xfrm>
              <a:off x="1040130" y="3629025"/>
              <a:ext cx="2715598"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What did the outage cost?</a:t>
              </a:r>
            </a:p>
          </p:txBody>
        </p:sp>
        <p:sp>
          <p:nvSpPr>
            <p:cNvPr id="15" name="TextBox 15"/>
            <p:cNvSpPr txBox="1"/>
            <p:nvPr/>
          </p:nvSpPr>
          <p:spPr>
            <a:xfrm>
              <a:off x="1041654" y="3947160"/>
              <a:ext cx="913333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No error count, request volume, affected-customer count, availability figure or financial figure appears anywhere in the</a:t>
              </a:r>
              <a:br/>
              <a:r>
                <a:rPr lang="en" sz="1200" dirty="0">
                  <a:solidFill>
                    <a:schemeClr val="accent5"/>
                  </a:solidFill>
                  <a:latin typeface="+mn-lt"/>
                  <a:ea typeface="+mn-ea"/>
                  <a:cs typeface="+mn-cs"/>
                </a:rPr>
                <a:t>published account. NO DATA.</a:t>
              </a:r>
            </a:p>
          </p:txBody>
        </p:sp>
      </p:grpSp>
      <p:grpSp>
        <p:nvGrpSpPr>
          <p:cNvPr id="20" name="Group 20"/>
          <p:cNvGrpSpPr/>
          <p:nvPr/>
        </p:nvGrpSpPr>
        <p:grpSpPr>
          <a:xfrm>
            <a:off x="602742" y="4543425"/>
            <a:ext cx="8931124" cy="552831"/>
            <a:chOff x="602742" y="4543425"/>
            <a:chExt cx="8931124" cy="552831"/>
          </a:xfrm>
        </p:grpSpPr>
        <p:sp>
          <p:nvSpPr>
            <p:cNvPr id="17" name="TextBox 17"/>
            <p:cNvSpPr txBox="1"/>
            <p:nvPr/>
          </p:nvSpPr>
          <p:spPr>
            <a:xfrm>
              <a:off x="602742" y="45596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04</a:t>
              </a:r>
            </a:p>
          </p:txBody>
        </p:sp>
        <p:sp>
          <p:nvSpPr>
            <p:cNvPr id="18" name="TextBox 18"/>
            <p:cNvSpPr txBox="1"/>
            <p:nvPr/>
          </p:nvSpPr>
          <p:spPr>
            <a:xfrm>
              <a:off x="1040130" y="4543425"/>
              <a:ext cx="5450799"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Who owns the four corrective actions, and by when?</a:t>
              </a:r>
            </a:p>
          </p:txBody>
        </p:sp>
        <p:sp>
          <p:nvSpPr>
            <p:cNvPr id="19" name="TextBox 19"/>
            <p:cNvSpPr txBox="1"/>
            <p:nvPr/>
          </p:nvSpPr>
          <p:spPr>
            <a:xfrm>
              <a:off x="1041654" y="4861560"/>
              <a:ext cx="8492212"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No owner, target date or verification method is published for any of the four remediation items. NO DATA.</a:t>
              </a:r>
            </a:p>
          </p:txBody>
        </p:sp>
      </p:grpSp>
      <p:grpSp>
        <p:nvGrpSpPr>
          <p:cNvPr id="24" name="Group 24"/>
          <p:cNvGrpSpPr/>
          <p:nvPr/>
        </p:nvGrpSpPr>
        <p:grpSpPr>
          <a:xfrm>
            <a:off x="602742" y="5457825"/>
            <a:ext cx="9176004" cy="762381"/>
            <a:chOff x="602742" y="5457825"/>
            <a:chExt cx="9176004" cy="762381"/>
          </a:xfrm>
        </p:grpSpPr>
        <p:sp>
          <p:nvSpPr>
            <p:cNvPr id="21" name="TextBox 21"/>
            <p:cNvSpPr txBox="1"/>
            <p:nvPr/>
          </p:nvSpPr>
          <p:spPr>
            <a:xfrm>
              <a:off x="602742" y="5474018"/>
              <a:ext cx="213627" cy="264033"/>
            </a:xfrm>
            <a:prstGeom prst="rect">
              <a:avLst/>
            </a:prstGeom>
            <a:noFill/>
            <a:ln>
              <a:noFill/>
            </a:ln>
          </p:spPr>
          <p:txBody>
            <a:bodyPr wrap="none" lIns="0" tIns="0" rIns="0" bIns="0" anchor="t" anchorCtr="0">
              <a:spAutoFit/>
            </a:bodyPr>
            <a:lstStyle/>
            <a:p>
              <a:pPr algn="l"/>
              <a:r>
                <a:rPr lang="en" sz="1350" b="1" dirty="0">
                  <a:solidFill>
                    <a:schemeClr val="accent3"/>
                  </a:solidFill>
                  <a:latin typeface="Consolas"/>
                  <a:ea typeface="Consolas"/>
                  <a:cs typeface="Consolas"/>
                </a:rPr>
                <a:t>05</a:t>
              </a:r>
            </a:p>
          </p:txBody>
        </p:sp>
        <p:sp>
          <p:nvSpPr>
            <p:cNvPr id="22" name="TextBox 22"/>
            <p:cNvSpPr txBox="1"/>
            <p:nvPr/>
          </p:nvSpPr>
          <p:spPr>
            <a:xfrm>
              <a:off x="1040130" y="5457825"/>
              <a:ext cx="6892100"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Do other core proxy modules share the unbounded failure pattern?</a:t>
              </a:r>
            </a:p>
          </p:txBody>
        </p:sp>
        <p:sp>
          <p:nvSpPr>
            <p:cNvPr id="23" name="TextBox 23"/>
            <p:cNvSpPr txBox="1"/>
            <p:nvPr/>
          </p:nvSpPr>
          <p:spPr>
            <a:xfrm>
              <a:off x="1041654" y="5775960"/>
              <a:ext cx="873709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account commits to reviewing failure modes for error conditions across all core proxy modules, but does not say</a:t>
              </a:r>
              <a:br/>
              <a:r>
                <a:rPr lang="en" sz="1200" dirty="0">
                  <a:solidFill>
                    <a:schemeClr val="accent5"/>
                  </a:solidFill>
                  <a:latin typeface="+mn-lt"/>
                  <a:ea typeface="+mn-ea"/>
                  <a:cs typeface="+mn-cs"/>
                </a:rPr>
                <a:t>whether any others were found. Unconfirmed.</a:t>
              </a:r>
            </a:p>
          </p:txBody>
        </p:sp>
      </p:grpSp>
      <p:grpSp>
        <p:nvGrpSpPr>
          <p:cNvPr id="27" name="Group 27"/>
          <p:cNvGrpSpPr/>
          <p:nvPr/>
        </p:nvGrpSpPr>
        <p:grpSpPr>
          <a:xfrm>
            <a:off x="604838" y="6494145"/>
            <a:ext cx="10982325" cy="176212"/>
            <a:chOff x="604838" y="6494145"/>
            <a:chExt cx="10982325" cy="176212"/>
          </a:xfrm>
        </p:grpSpPr>
        <p:sp>
          <p:nvSpPr>
            <p:cNvPr id="25" name="TextBox 25"/>
            <p:cNvSpPr txBox="1"/>
            <p:nvPr/>
          </p:nvSpPr>
          <p:spPr>
            <a:xfrm>
              <a:off x="604838" y="6494145"/>
              <a:ext cx="7508862"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Each item names the evidence that would settle it. None is resolved here by inference. Cloudflare, 18 November 2025 account.</a:t>
              </a:r>
            </a:p>
          </p:txBody>
        </p:sp>
        <p:sp>
          <p:nvSpPr>
            <p:cNvPr id="26" name="TextBox 26"/>
            <p:cNvSpPr txBox="1"/>
            <p:nvPr/>
          </p:nvSpPr>
          <p:spPr>
            <a:xfrm>
              <a:off x="11444364" y="649414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par>
                          <p:cTn id="8" fill="hold">
                            <p:stCondLst>
                              <p:cond delay="2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250"/>
                                        <p:tgtEl>
                                          <p:spTgt spid="12"/>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250"/>
                                        <p:tgtEl>
                                          <p:spTgt spid="16"/>
                                        </p:tgtEl>
                                      </p:cBhvr>
                                    </p:animEffect>
                                  </p:childTnLst>
                                </p:cTn>
                              </p:par>
                            </p:childTnLst>
                          </p:cTn>
                        </p:par>
                        <p:par>
                          <p:cTn id="16" fill="hold">
                            <p:stCondLst>
                              <p:cond delay="175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250"/>
                                        <p:tgtEl>
                                          <p:spTgt spid="20"/>
                                        </p:tgtEl>
                                      </p:cBhvr>
                                    </p:animEffect>
                                  </p:childTnLst>
                                </p:cTn>
                              </p:par>
                            </p:childTnLst>
                          </p:cTn>
                        </p:par>
                        <p:par>
                          <p:cTn id="20" fill="hold">
                            <p:stCondLst>
                              <p:cond delay="25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2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5884" y="584835"/>
            <a:ext cx="10986516" cy="937641"/>
            <a:chOff x="595884" y="584835"/>
            <a:chExt cx="10986516" cy="937641"/>
          </a:xfrm>
        </p:grpSpPr>
        <p:sp>
          <p:nvSpPr>
            <p:cNvPr id="2" name="TextBox 2"/>
            <p:cNvSpPr txBox="1"/>
            <p:nvPr/>
          </p:nvSpPr>
          <p:spPr>
            <a:xfrm>
              <a:off x="595884" y="584835"/>
              <a:ext cx="6148197" cy="937641"/>
            </a:xfrm>
            <a:prstGeom prst="rect">
              <a:avLst/>
            </a:prstGeom>
            <a:noFill/>
            <a:ln>
              <a:noFill/>
            </a:ln>
          </p:spPr>
          <p:txBody>
            <a:bodyPr wrap="none" lIns="0" tIns="0" rIns="0" bIns="0" anchor="t" anchorCtr="0">
              <a:spAutoFit/>
            </a:bodyPr>
            <a:lstStyle/>
            <a:p>
              <a:pPr algn="l">
                <a:lnSpc>
                  <a:spcPts val="3225"/>
                </a:lnSpc>
              </a:pPr>
              <a:r>
                <a:rPr lang="en" sz="2700" b="1" dirty="0">
                  <a:solidFill>
                    <a:schemeClr val="dk1"/>
                  </a:solidFill>
                  <a:latin typeface="+mn-lt"/>
                  <a:ea typeface="+mn-ea"/>
                  <a:cs typeface="+mn-cs"/>
                </a:rPr>
                <a:t>Every figure in this deck traces to</a:t>
              </a:r>
              <a:br/>
              <a:r>
                <a:rPr lang="en" sz="2700" b="1" dirty="0">
                  <a:solidFill>
                    <a:schemeClr val="dk1"/>
                  </a:solidFill>
                  <a:latin typeface="+mn-lt"/>
                  <a:ea typeface="+mn-ea"/>
                  <a:cs typeface="+mn-cs"/>
                </a:rPr>
                <a:t>one of three published records</a:t>
              </a:r>
            </a:p>
          </p:txBody>
        </p:sp>
        <p:sp>
          <p:nvSpPr>
            <p:cNvPr id="3" name="Line 3"/>
            <p:cNvSpPr/>
            <p:nvPr/>
          </p:nvSpPr>
          <p:spPr>
            <a:xfrm>
              <a:off x="609600" y="150495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9" name="Group 9"/>
          <p:cNvGrpSpPr/>
          <p:nvPr/>
        </p:nvGrpSpPr>
        <p:grpSpPr>
          <a:xfrm>
            <a:off x="601980" y="1788795"/>
            <a:ext cx="9769167" cy="983361"/>
            <a:chOff x="601980" y="1788795"/>
            <a:chExt cx="9769167" cy="983361"/>
          </a:xfrm>
        </p:grpSpPr>
        <p:sp>
          <p:nvSpPr>
            <p:cNvPr id="5" name="TextBox 5"/>
            <p:cNvSpPr txBox="1"/>
            <p:nvPr/>
          </p:nvSpPr>
          <p:spPr>
            <a:xfrm>
              <a:off x="604838" y="1788795"/>
              <a:ext cx="1031093"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PRIMARY SOURCE</a:t>
              </a:r>
            </a:p>
          </p:txBody>
        </p:sp>
        <p:sp>
          <p:nvSpPr>
            <p:cNvPr id="6" name="TextBox 6"/>
            <p:cNvSpPr txBox="1"/>
            <p:nvPr/>
          </p:nvSpPr>
          <p:spPr>
            <a:xfrm>
              <a:off x="601980" y="2009775"/>
              <a:ext cx="8003447"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Cloudflare outage on November 18, 2025 — Matthew Prince, 18 November 2025</a:t>
              </a:r>
            </a:p>
          </p:txBody>
        </p:sp>
        <p:sp>
          <p:nvSpPr>
            <p:cNvPr id="7" name="TextBox 7"/>
            <p:cNvSpPr txBox="1"/>
            <p:nvPr/>
          </p:nvSpPr>
          <p:spPr>
            <a:xfrm>
              <a:off x="603504" y="2308860"/>
              <a:ext cx="4632350"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hlinkClick r:id="rId2"/>
                </a:rPr>
                <a:t>https://blog.cloudflare.com/18-november-2025-outage/</a:t>
              </a:r>
            </a:p>
          </p:txBody>
        </p:sp>
        <p:sp>
          <p:nvSpPr>
            <p:cNvPr id="8" name="TextBox 8"/>
            <p:cNvSpPr txBox="1"/>
            <p:nvPr/>
          </p:nvSpPr>
          <p:spPr>
            <a:xfrm>
              <a:off x="603504" y="2537460"/>
              <a:ext cx="97676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Supports slides 1–10 and 12–14: the timeline, the impact table, the mechanism, the factors, the controls and the actions.</a:t>
              </a:r>
            </a:p>
          </p:txBody>
        </p:sp>
      </p:grpSp>
      <p:grpSp>
        <p:nvGrpSpPr>
          <p:cNvPr id="14" name="Group 14"/>
          <p:cNvGrpSpPr/>
          <p:nvPr/>
        </p:nvGrpSpPr>
        <p:grpSpPr>
          <a:xfrm>
            <a:off x="601980" y="3122295"/>
            <a:ext cx="9621367" cy="983361"/>
            <a:chOff x="601980" y="3122295"/>
            <a:chExt cx="9621367" cy="983361"/>
          </a:xfrm>
        </p:grpSpPr>
        <p:sp>
          <p:nvSpPr>
            <p:cNvPr id="10" name="TextBox 10"/>
            <p:cNvSpPr txBox="1"/>
            <p:nvPr/>
          </p:nvSpPr>
          <p:spPr>
            <a:xfrm>
              <a:off x="604838" y="3122295"/>
              <a:ext cx="1306647"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COMPARISON SOURCE</a:t>
              </a:r>
            </a:p>
          </p:txBody>
        </p:sp>
        <p:sp>
          <p:nvSpPr>
            <p:cNvPr id="11" name="TextBox 11"/>
            <p:cNvSpPr txBox="1"/>
            <p:nvPr/>
          </p:nvSpPr>
          <p:spPr>
            <a:xfrm>
              <a:off x="601980" y="3343275"/>
              <a:ext cx="4948168"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Details of the Cloudflare outage on July 2, 2019</a:t>
              </a:r>
            </a:p>
          </p:txBody>
        </p:sp>
        <p:sp>
          <p:nvSpPr>
            <p:cNvPr id="12" name="TextBox 12"/>
            <p:cNvSpPr txBox="1"/>
            <p:nvPr/>
          </p:nvSpPr>
          <p:spPr>
            <a:xfrm>
              <a:off x="603504" y="3642360"/>
              <a:ext cx="6764731"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hlinkClick r:id="rId3"/>
                </a:rPr>
                <a:t>https://blog.cloudflare.com/details-of-the-cloudflare-outage-on-july-2-2019/</a:t>
              </a:r>
            </a:p>
          </p:txBody>
        </p:sp>
        <p:sp>
          <p:nvSpPr>
            <p:cNvPr id="13" name="TextBox 13"/>
            <p:cNvSpPr txBox="1"/>
            <p:nvPr/>
          </p:nvSpPr>
          <p:spPr>
            <a:xfrm>
              <a:off x="603504" y="3870960"/>
              <a:ext cx="961984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Supports slide 11: the 2019 trigger, the Quicksilver propagation path, the global kill switch and the 27-minute recovery.</a:t>
              </a:r>
            </a:p>
          </p:txBody>
        </p:sp>
      </p:grpSp>
      <p:grpSp>
        <p:nvGrpSpPr>
          <p:cNvPr id="19" name="Group 19"/>
          <p:cNvGrpSpPr/>
          <p:nvPr/>
        </p:nvGrpSpPr>
        <p:grpSpPr>
          <a:xfrm>
            <a:off x="601980" y="4455795"/>
            <a:ext cx="6836547" cy="983361"/>
            <a:chOff x="601980" y="4455795"/>
            <a:chExt cx="6836547" cy="983361"/>
          </a:xfrm>
        </p:grpSpPr>
        <p:sp>
          <p:nvSpPr>
            <p:cNvPr id="15" name="TextBox 15"/>
            <p:cNvSpPr txBox="1"/>
            <p:nvPr/>
          </p:nvSpPr>
          <p:spPr>
            <a:xfrm>
              <a:off x="604838" y="4455795"/>
              <a:ext cx="1649410" cy="176212"/>
            </a:xfrm>
            <a:prstGeom prst="rect">
              <a:avLst/>
            </a:prstGeom>
            <a:noFill/>
            <a:ln>
              <a:noFill/>
            </a:ln>
          </p:spPr>
          <p:txBody>
            <a:bodyPr wrap="none" lIns="0" tIns="0" rIns="0" bIns="0" anchor="t" anchorCtr="0">
              <a:spAutoFit/>
            </a:bodyPr>
            <a:lstStyle/>
            <a:p>
              <a:pPr algn="l"/>
              <a:r>
                <a:rPr lang="en" sz="900" b="1" dirty="0">
                  <a:solidFill>
                    <a:schemeClr val="accent2"/>
                  </a:solidFill>
                  <a:latin typeface="+mn-lt"/>
                  <a:ea typeface="+mn-ea"/>
                  <a:cs typeface="+mn-cs"/>
                </a:rPr>
                <a:t>OPERATOR STATUS RECORD</a:t>
              </a:r>
            </a:p>
          </p:txBody>
        </p:sp>
        <p:sp>
          <p:nvSpPr>
            <p:cNvPr id="16" name="TextBox 16"/>
            <p:cNvSpPr txBox="1"/>
            <p:nvPr/>
          </p:nvSpPr>
          <p:spPr>
            <a:xfrm>
              <a:off x="601980" y="4676775"/>
              <a:ext cx="2664662" cy="293370"/>
            </a:xfrm>
            <a:prstGeom prst="rect">
              <a:avLst/>
            </a:prstGeom>
            <a:noFill/>
            <a:ln>
              <a:noFill/>
            </a:ln>
          </p:spPr>
          <p:txBody>
            <a:bodyPr wrap="none" lIns="0" tIns="0" rIns="0" bIns="0" anchor="t" anchorCtr="0">
              <a:spAutoFit/>
            </a:bodyPr>
            <a:lstStyle/>
            <a:p>
              <a:pPr algn="l"/>
              <a:r>
                <a:rPr lang="en" sz="1500" b="1" dirty="0">
                  <a:solidFill>
                    <a:schemeClr val="dk1"/>
                  </a:solidFill>
                  <a:latin typeface="+mn-lt"/>
                  <a:ea typeface="+mn-ea"/>
                  <a:cs typeface="+mn-cs"/>
                </a:rPr>
                <a:t>Cloudflare System Status</a:t>
              </a:r>
            </a:p>
          </p:txBody>
        </p:sp>
        <p:sp>
          <p:nvSpPr>
            <p:cNvPr id="17" name="TextBox 17"/>
            <p:cNvSpPr txBox="1"/>
            <p:nvPr/>
          </p:nvSpPr>
          <p:spPr>
            <a:xfrm>
              <a:off x="603504" y="4975860"/>
              <a:ext cx="2944216" cy="234696"/>
            </a:xfrm>
            <a:prstGeom prst="rect">
              <a:avLst/>
            </a:prstGeom>
            <a:noFill/>
            <a:ln>
              <a:noFill/>
            </a:ln>
          </p:spPr>
          <p:txBody>
            <a:bodyPr wrap="none" lIns="0" tIns="0" rIns="0" bIns="0" anchor="t" anchorCtr="0">
              <a:spAutoFit/>
            </a:bodyPr>
            <a:lstStyle/>
            <a:p>
              <a:pPr algn="l"/>
              <a:r>
                <a:rPr lang="en" sz="1200" dirty="0">
                  <a:solidFill>
                    <a:schemeClr val="accent2"/>
                  </a:solidFill>
                  <a:latin typeface="Consolas"/>
                  <a:ea typeface="Consolas"/>
                  <a:cs typeface="Consolas"/>
                  <a:hlinkClick r:id="rId4"/>
                </a:rPr>
                <a:t>https://www.cloudflarestatus.com/</a:t>
              </a:r>
            </a:p>
          </p:txBody>
        </p:sp>
        <p:sp>
          <p:nvSpPr>
            <p:cNvPr id="18" name="TextBox 18"/>
            <p:cNvSpPr txBox="1"/>
            <p:nvPr/>
          </p:nvSpPr>
          <p:spPr>
            <a:xfrm>
              <a:off x="603504" y="5204460"/>
              <a:ext cx="683502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Listed as the operator’s own event record; not consulted for any figure in this deck.</a:t>
              </a:r>
            </a:p>
          </p:txBody>
        </p:sp>
      </p:grpSp>
      <p:grpSp>
        <p:nvGrpSpPr>
          <p:cNvPr id="21" name="Group 21"/>
          <p:cNvGrpSpPr/>
          <p:nvPr/>
        </p:nvGrpSpPr>
        <p:grpSpPr>
          <a:xfrm>
            <a:off x="603504" y="5585460"/>
            <a:ext cx="9316212" cy="863346"/>
            <a:chOff x="603504" y="5585460"/>
            <a:chExt cx="9316212" cy="863346"/>
          </a:xfrm>
        </p:grpSpPr>
        <p:sp>
          <p:nvSpPr>
            <p:cNvPr id="20" name="TextBox 20"/>
            <p:cNvSpPr txBox="1"/>
            <p:nvPr/>
          </p:nvSpPr>
          <p:spPr>
            <a:xfrm>
              <a:off x="603504" y="5585460"/>
              <a:ext cx="9316212" cy="8633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All times in this deck are UTC to the minute, exactly as published. Elapsed durations are arithmetic on published timestamps</a:t>
              </a:r>
              <a:br/>
              <a:r>
                <a:rPr lang="en" sz="1200" dirty="0">
                  <a:solidFill>
                    <a:schemeClr val="dk1"/>
                  </a:solidFill>
                  <a:latin typeface="+mn-lt"/>
                  <a:ea typeface="+mn-ea"/>
                  <a:cs typeface="+mn-cs"/>
                </a:rPr>
                <a:t>and are labelled as derived. No figure originates outside these documents; where the account states no value, the page says</a:t>
              </a:r>
              <a:br/>
              <a:r>
                <a:rPr lang="en" sz="1200" dirty="0">
                  <a:solidFill>
                    <a:schemeClr val="dk1"/>
                  </a:solidFill>
                  <a:latin typeface="+mn-lt"/>
                  <a:ea typeface="+mn-ea"/>
                  <a:cs typeface="+mn-cs"/>
                </a:rPr>
                <a:t>NO DATA or marks the item unconfirmed. The schematic chart on slide 5 carries no published magnitudes, and the severity</a:t>
              </a:r>
              <a:br/>
              <a:r>
                <a:rPr lang="en" sz="1200" dirty="0">
                  <a:solidFill>
                    <a:schemeClr val="dk1"/>
                  </a:solidFill>
                  <a:latin typeface="+mn-lt"/>
                  <a:ea typeface="+mn-ea"/>
                  <a:cs typeface="+mn-cs"/>
                </a:rPr>
                <a:t>bands on slides 5 to 7 are this review’s reading of the published status column.</a:t>
              </a:r>
            </a:p>
          </p:txBody>
        </p:sp>
      </p:grpSp>
      <p:grpSp>
        <p:nvGrpSpPr>
          <p:cNvPr id="25" name="Group 25"/>
          <p:cNvGrpSpPr/>
          <p:nvPr/>
        </p:nvGrpSpPr>
        <p:grpSpPr>
          <a:xfrm>
            <a:off x="609600" y="6513195"/>
            <a:ext cx="10977563" cy="176212"/>
            <a:chOff x="609600" y="6513195"/>
            <a:chExt cx="10977563" cy="176212"/>
          </a:xfrm>
        </p:grpSpPr>
        <p:sp>
          <p:nvSpPr>
            <p:cNvPr id="22" name="Freeform 22"/>
            <p:cNvSpPr/>
            <p:nvPr/>
          </p:nvSpPr>
          <p:spPr>
            <a:xfrm>
              <a:off x="609600" y="6537790"/>
              <a:ext cx="152400" cy="68920"/>
            </a:xfrm>
            <a:custGeom>
              <a:avLst/>
              <a:gdLst/>
              <a:ahLst/>
              <a:cxnLst/>
              <a:rect l="l" t="t" r="r" b="b"/>
              <a:pathLst>
                <a:path w="152400" h="68920">
                  <a:moveTo>
                    <a:pt x="104831" y="65224"/>
                  </a:moveTo>
                  <a:cubicBezTo>
                    <a:pt x="105768" y="62006"/>
                    <a:pt x="105408" y="59060"/>
                    <a:pt x="103845" y="56871"/>
                  </a:cubicBezTo>
                  <a:cubicBezTo>
                    <a:pt x="102419" y="54862"/>
                    <a:pt x="100006" y="53703"/>
                    <a:pt x="97104" y="53566"/>
                  </a:cubicBezTo>
                  <a:lnTo>
                    <a:pt x="42118" y="52853"/>
                  </a:lnTo>
                  <a:cubicBezTo>
                    <a:pt x="41777" y="52858"/>
                    <a:pt x="41457" y="52687"/>
                    <a:pt x="41272" y="52400"/>
                  </a:cubicBezTo>
                  <a:cubicBezTo>
                    <a:pt x="41092" y="52134"/>
                    <a:pt x="41049" y="51774"/>
                    <a:pt x="41138" y="51414"/>
                  </a:cubicBezTo>
                  <a:cubicBezTo>
                    <a:pt x="41315" y="50881"/>
                    <a:pt x="41852" y="50472"/>
                    <a:pt x="42431" y="50422"/>
                  </a:cubicBezTo>
                  <a:lnTo>
                    <a:pt x="97904" y="49709"/>
                  </a:lnTo>
                  <a:cubicBezTo>
                    <a:pt x="104477" y="49399"/>
                    <a:pt x="111621" y="44078"/>
                    <a:pt x="114120" y="37558"/>
                  </a:cubicBezTo>
                  <a:lnTo>
                    <a:pt x="117289" y="29294"/>
                  </a:lnTo>
                  <a:cubicBezTo>
                    <a:pt x="117426" y="28938"/>
                    <a:pt x="117475" y="28578"/>
                    <a:pt x="117382" y="28228"/>
                  </a:cubicBezTo>
                  <a:cubicBezTo>
                    <a:pt x="113810" y="12059"/>
                    <a:pt x="99380" y="0"/>
                    <a:pt x="82140" y="0"/>
                  </a:cubicBezTo>
                  <a:cubicBezTo>
                    <a:pt x="66241" y="0"/>
                    <a:pt x="52750" y="10272"/>
                    <a:pt x="47929" y="24520"/>
                  </a:cubicBezTo>
                  <a:cubicBezTo>
                    <a:pt x="44801" y="22197"/>
                    <a:pt x="40825" y="20948"/>
                    <a:pt x="36537" y="21351"/>
                  </a:cubicBezTo>
                  <a:cubicBezTo>
                    <a:pt x="28901" y="22107"/>
                    <a:pt x="22780" y="28228"/>
                    <a:pt x="22021" y="35865"/>
                  </a:cubicBezTo>
                  <a:cubicBezTo>
                    <a:pt x="21841" y="37833"/>
                    <a:pt x="21977" y="39756"/>
                    <a:pt x="22424" y="41542"/>
                  </a:cubicBezTo>
                  <a:cubicBezTo>
                    <a:pt x="9959" y="41896"/>
                    <a:pt x="0" y="52084"/>
                    <a:pt x="0" y="64635"/>
                  </a:cubicBezTo>
                  <a:cubicBezTo>
                    <a:pt x="0" y="65745"/>
                    <a:pt x="90" y="66867"/>
                    <a:pt x="224" y="67984"/>
                  </a:cubicBezTo>
                  <a:cubicBezTo>
                    <a:pt x="313" y="68511"/>
                    <a:pt x="759" y="68920"/>
                    <a:pt x="1296" y="68920"/>
                  </a:cubicBezTo>
                  <a:lnTo>
                    <a:pt x="102778" y="68920"/>
                  </a:lnTo>
                  <a:cubicBezTo>
                    <a:pt x="103355" y="68920"/>
                    <a:pt x="103894" y="68511"/>
                    <a:pt x="104068" y="67934"/>
                  </a:cubicBezTo>
                  <a:lnTo>
                    <a:pt x="104830" y="65224"/>
                  </a:lnTo>
                  <a:close/>
                  <a:moveTo>
                    <a:pt x="122337" y="29896"/>
                  </a:moveTo>
                  <a:cubicBezTo>
                    <a:pt x="121847" y="29896"/>
                    <a:pt x="121314" y="29896"/>
                    <a:pt x="120823" y="29968"/>
                  </a:cubicBezTo>
                  <a:cubicBezTo>
                    <a:pt x="120464" y="29968"/>
                    <a:pt x="120154" y="30231"/>
                    <a:pt x="120017" y="30587"/>
                  </a:cubicBezTo>
                  <a:lnTo>
                    <a:pt x="117872" y="38045"/>
                  </a:lnTo>
                  <a:cubicBezTo>
                    <a:pt x="116935" y="41263"/>
                    <a:pt x="117289" y="44209"/>
                    <a:pt x="118852" y="46404"/>
                  </a:cubicBezTo>
                  <a:cubicBezTo>
                    <a:pt x="120284" y="48413"/>
                    <a:pt x="122697" y="49566"/>
                    <a:pt x="125599" y="49703"/>
                  </a:cubicBezTo>
                  <a:lnTo>
                    <a:pt x="137306" y="50422"/>
                  </a:lnTo>
                  <a:cubicBezTo>
                    <a:pt x="137660" y="50422"/>
                    <a:pt x="137976" y="50589"/>
                    <a:pt x="138150" y="50869"/>
                  </a:cubicBezTo>
                  <a:cubicBezTo>
                    <a:pt x="138330" y="51142"/>
                    <a:pt x="138373" y="51551"/>
                    <a:pt x="138286" y="51860"/>
                  </a:cubicBezTo>
                  <a:cubicBezTo>
                    <a:pt x="138106" y="52394"/>
                    <a:pt x="137567" y="52803"/>
                    <a:pt x="136991" y="52847"/>
                  </a:cubicBezTo>
                  <a:lnTo>
                    <a:pt x="124792" y="53560"/>
                  </a:lnTo>
                  <a:cubicBezTo>
                    <a:pt x="118182" y="53870"/>
                    <a:pt x="111088" y="59190"/>
                    <a:pt x="108583" y="65714"/>
                  </a:cubicBezTo>
                  <a:lnTo>
                    <a:pt x="107690" y="67990"/>
                  </a:lnTo>
                  <a:cubicBezTo>
                    <a:pt x="107510" y="68443"/>
                    <a:pt x="107826" y="68889"/>
                    <a:pt x="108316" y="68889"/>
                  </a:cubicBezTo>
                  <a:lnTo>
                    <a:pt x="150211" y="68889"/>
                  </a:lnTo>
                  <a:cubicBezTo>
                    <a:pt x="150701" y="68889"/>
                    <a:pt x="151147" y="68579"/>
                    <a:pt x="151284" y="68089"/>
                  </a:cubicBezTo>
                  <a:cubicBezTo>
                    <a:pt x="151997" y="65497"/>
                    <a:pt x="152400" y="62774"/>
                    <a:pt x="152400" y="59959"/>
                  </a:cubicBezTo>
                  <a:cubicBezTo>
                    <a:pt x="152400" y="43433"/>
                    <a:pt x="138906" y="29943"/>
                    <a:pt x="122337" y="29943"/>
                  </a:cubicBezTo>
                </a:path>
              </a:pathLst>
            </a:custGeom>
            <a:solidFill>
              <a:srgbClr val="000000"/>
            </a:solidFill>
            <a:ln>
              <a:noFill/>
            </a:ln>
          </p:spPr>
        </p:sp>
        <p:sp>
          <p:nvSpPr>
            <p:cNvPr id="23" name="TextBox 23"/>
            <p:cNvSpPr txBox="1"/>
            <p:nvPr/>
          </p:nvSpPr>
          <p:spPr>
            <a:xfrm>
              <a:off x="833438" y="6513195"/>
              <a:ext cx="5495389" cy="176212"/>
            </a:xfrm>
            <a:prstGeom prst="rect">
              <a:avLst/>
            </a:prstGeom>
            <a:noFill/>
            <a:ln>
              <a:noFill/>
            </a:ln>
          </p:spPr>
          <p:txBody>
            <a:bodyPr wrap="none" lIns="0" tIns="0" rIns="0" bIns="0" anchor="t" anchorCtr="0">
              <a:spAutoFit/>
            </a:bodyPr>
            <a:lstStyle/>
            <a:p>
              <a:pPr algn="l"/>
              <a:r>
                <a:rPr lang="en" sz="900" dirty="0">
                  <a:solidFill>
                    <a:schemeClr val="accent5"/>
                  </a:solidFill>
                  <a:latin typeface="+mn-lt"/>
                  <a:ea typeface="+mn-ea"/>
                  <a:cs typeface="+mn-cs"/>
                </a:rPr>
                <a:t>Cloudflare official post-incident accounts, 2 July 2019 and 18 November 2025. All times UTC.</a:t>
              </a:r>
            </a:p>
          </p:txBody>
        </p:sp>
        <p:sp>
          <p:nvSpPr>
            <p:cNvPr id="24" name="TextBox 24"/>
            <p:cNvSpPr txBox="1"/>
            <p:nvPr/>
          </p:nvSpPr>
          <p:spPr>
            <a:xfrm>
              <a:off x="11444364" y="6513195"/>
              <a:ext cx="142799" cy="176212"/>
            </a:xfrm>
            <a:prstGeom prst="rect">
              <a:avLst/>
            </a:prstGeom>
            <a:noFill/>
            <a:ln>
              <a:noFill/>
            </a:ln>
          </p:spPr>
          <p:txBody>
            <a:bodyPr wrap="none" lIns="0" tIns="0" rIns="0" bIns="0" anchor="t" anchorCtr="0">
              <a:spAutoFit/>
            </a:bodyPr>
            <a:lstStyle/>
            <a:p>
              <a:pPr algn="r"/>
              <a:r>
                <a:rPr lang="en" sz="9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50"/>
                                        <p:tgtEl>
                                          <p:spTgt spid="9"/>
                                        </p:tgtEl>
                                      </p:cBhvr>
                                    </p:animEffect>
                                  </p:childTnLst>
                                </p:cTn>
                              </p:par>
                            </p:childTnLst>
                          </p:cTn>
                        </p:par>
                        <p:par>
                          <p:cTn id="8" fill="hold">
                            <p:stCondLst>
                              <p:cond delay="35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350"/>
                                        <p:tgtEl>
                                          <p:spTgt spid="14"/>
                                        </p:tgtEl>
                                      </p:cBhvr>
                                    </p:animEffect>
                                  </p:childTnLst>
                                </p:cTn>
                              </p:par>
                            </p:childTnLst>
                          </p:cTn>
                        </p:par>
                        <p:par>
                          <p:cTn id="12" fill="hold">
                            <p:stCondLst>
                              <p:cond delay="12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cloudflare_outage_postmortem">
  <a:themeElements>
    <a:clrScheme name="ppt169_cloudflare_outage_postmortem">
      <a:dk1>
        <a:srgbClr val="1F2933"/>
      </a:dk1>
      <a:lt1>
        <a:srgbClr val="FFFFFF"/>
      </a:lt1>
      <a:dk2>
        <a:srgbClr val="1F497D"/>
      </a:dk2>
      <a:lt2>
        <a:srgbClr val="F2F4F6"/>
      </a:lt2>
      <a:accent1>
        <a:srgbClr val="1F2933"/>
      </a:accent1>
      <a:accent2>
        <a:srgbClr val="B4342C"/>
      </a:accent2>
      <a:accent3>
        <a:srgbClr val="B7791F"/>
      </a:accent3>
      <a:accent4>
        <a:srgbClr val="1F2933"/>
      </a:accent4>
      <a:accent5>
        <a:srgbClr val="5A6673"/>
      </a:accent5>
      <a:accent6>
        <a:srgbClr val="D7DDE3"/>
      </a:accent6>
      <a:hlink>
        <a:srgbClr val="B4342C"/>
      </a:hlink>
      <a:folHlink>
        <a:srgbClr val="B7791F"/>
      </a:folHlink>
    </a:clrScheme>
    <a:fontScheme name="ppt169_cloudflare_outage_postmorte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loudflare_outage_postmorte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cloudflare_outage_postmortem">
  <a:themeElements>
    <a:clrScheme name="ppt169_cloudflare_outage_postmortem">
      <a:dk1>
        <a:srgbClr val="1F2933"/>
      </a:dk1>
      <a:lt1>
        <a:srgbClr val="FFFFFF"/>
      </a:lt1>
      <a:dk2>
        <a:srgbClr val="1F497D"/>
      </a:dk2>
      <a:lt2>
        <a:srgbClr val="F2F4F6"/>
      </a:lt2>
      <a:accent1>
        <a:srgbClr val="1F2933"/>
      </a:accent1>
      <a:accent2>
        <a:srgbClr val="B4342C"/>
      </a:accent2>
      <a:accent3>
        <a:srgbClr val="B7791F"/>
      </a:accent3>
      <a:accent4>
        <a:srgbClr val="1F2933"/>
      </a:accent4>
      <a:accent5>
        <a:srgbClr val="5A6673"/>
      </a:accent5>
      <a:accent6>
        <a:srgbClr val="D7DDE3"/>
      </a:accent6>
      <a:hlink>
        <a:srgbClr val="B4342C"/>
      </a:hlink>
      <a:folHlink>
        <a:srgbClr val="B7791F"/>
      </a:folHlink>
    </a:clrScheme>
    <a:fontScheme name="ppt169_cloudflare_outage_postmortem">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loudflare_outage_postmorte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2026-09-05T05:47:01Z</dcterms:created>
  <dcterms:modified xsi:type="dcterms:W3CDTF">2026-09-05T05:47:01Z</dcterms:modified>
  <cp:category/>
  <cp:contentStatus/>
</cp:coreProperties>
</file>