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1811000" cy="167068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GB"/>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GB"/>
          </a:p>
        </p:txBody>
      </p:sp>
    </p:spTree>
  </p:cSld>
  <p:clrMap bg1="lt1" tx1="dk1" bg2="lt2" tx2="dk2" accent1="accent1" accent2="accent2" accent3="accent3" accent4="accent4" accent5="accent5" accent6="accent6" hlink="hlink" folHlink="folHlink"/>
  <p:hf/>
  <p:notesStyle>
    <a:lvl1pPr marL="0" algn="l">
      <a:defRPr sz="1200" lang="en-GB"/>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The governing question is whether this firm should move to a four-day week on the 100-80-100 basis, and the answer this memo defends is a bounded pilot in two practice groups rather than a firm-wide commitment. Three things make that answer credible. The wellbeing effect is large and it survives control groups: burnout fell from 2.8 to 2.34 and stress from 3.07 to 2.74 across the UK cohort, and a controlled study of nearly 2,900 workers in 141 organisations across six countries found the same gains absent in its controls. The business case is a different matter: revenue rose 1.4 percent and resignations fell from 2.0 to 0.8 per hundred employees, but the pilot's own report states those trends cannot be called statistically significant. And professional services is where the model has been observed to fail. The gap to admit, if asked, is scale: 37 percent of the UK cohort had ten staff or fewer, and only a tenth were above a hundred people.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This page settles what is actually on the table. The 100-80-100 principle was created in 2018 by Andrew Barnes and Charlotte Lockhart at Perpetual Guardian, and 4 Day Week Global defines it as a 32-hour week rather than compressed hours, so a compressed model is a different intervention. Against the national norm the cut is smaller than the headline suggests: average actual weekly hours for UK full-time workers were 36.7 in April to June 2026, which makes 32 hours roughly a 13 percent reduction rather than 20. The complication is that no measured pilot delivered its nominal week. The UK cohort went from 38 hours to 34, Portugal from over 41 to 36.5, and South Cambridgeshire from 37 to 32 — the only one that reached the target. Seventy-one percent of UK employees reported fewer hours and fifteen percent reported working more. So the real question is how many hours this firm can recover through redesign, and what removing the rest costs in client service.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Four conditions decide whether 100-80-100 holds here, and the page separates the three we own from the one we do not. Recoverable hours came, in every pilot, from shorter and fewer meetings, reformed email etiquette, protected focus periods and automated reporting; the German participants named meeting culture and reduced distraction as their main levers. Redesign effort is the strongest predictor in the whole evidence base: only 8 percent of Portuguese companies that made two or more organisational changes reverted to five days, against 38 percent of those that made none or one. Retention economics look attractive but must be handled carefully — resignations fell from 2.0 to 0.8 per hundred in the UK pilot, and the most-cited UK replacement cost of thirty thousand six hundred and fourteen pounds is a 2014 figure that is not inflation-adjusted, so any saving derived from it is arithmetic, not a finding. Client tolerance is the branch we cannot prepare our way out of.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This is the page to hold on to when someone quotes a headline. What the evidence establishes is worker wellbeing: the six-country controlled study found gains in burnout, job satisfaction and mental and physical health that its control organisations did not show, and the German pilot, instrumented with within-organisation controls, smartwatches and cortisol samples, found the same falls in stress and burnout. What it does not establish is the business case. The UK 2022 report states in its own words that its resignation, new-hire and absence trends cannot be called statistically significant, given small samples and labour-market contingencies, and Germany found sick days, turnover and profit changed only slightly and not significantly. That is why the two grey bars on the chart carry that label at the same size as the number. The methodological pattern behind all of it — self-selection, self-reported financials, absent or small control arms, shrinking follow-up samples — is documented in the primary reports themselves, not asserted by critics.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Persistence is the most-quoted evidence for the four-day week, and it holds up better than the business metrics, provided each rate is read with its base. Fifty-six of the sixty-one UK companies, or 92 percent, were still running the policy at the end of the trial, and at twelve months at least fifty-four, or 89 percent, still were. In Germany, 73 percent were still on reduced hours after the pilot, while a fifth returned to a five-day forty-hour week and two large organisations dropped out early citing economic reasons. The 100 percent figure from the 2024 to 2025 UK pilot rests on seventeen self-selected companies, which is a weaker signal than 89 percent on sixty-one, and this memo deliberately does not lead with it. Two qualifications matter for us. Nearly half the permanent cases never changed contracts, so the entitlement can be withdrawn — and universal or staggered day-off models converted to permanence far more often than flexible ones.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Put on one basis, most of the precedents the committee will hear quoted are about a different intervention or a different sector. Iceland moved public-sector workers from forty hours to thirty-five or thirty-six, and Anthony Veal records that in sixty-one of sixty-six workplaces the reduction was only one to three hours, with no monitored control. Belgium's Labour Deal is a right to compress thirty-eight hours into four days at unchanged total hours and pay, which is not 100-80-100 at all. Portugal has the strongest design, including a control group of interested non-adopters, but its own authors call it a proof of concept and say its participants are not representative. Germany has the strongest method but many participants simply cut hours across five days. South Cambridgeshire is a council delivering statutory services. That leaves the UK cohort and its twelve-month follow-up as the only evidence about firms like ours — and the two conflicts at the foot of the page are shown, not reconciled.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The recommendation is deliberately narrow: two whole practice groups, about sixty people, on full pay with a universal day off and a target thirty-two-hour week, after ten weeks of redesign, running for six months with one interim gate and no change to contracts. Each design choice traces back to the evidence. Redesign comes first because reversion tracks redesign effort and two to three months of preparation is the consistent figure across the UK, Portuguese and six-country studies. A universal day off is chosen because universal and staggered models converted to permanence in 95 percent of cases against 60 percent for flexible ones. Metrics are agreed before the start because half the Portuguese companies could not define productivity metrics at all. And the pilot is stated in writing as non-contractual, because nearly half the permanent cases elsewhere never changed contracts. Three things are explicitly not recommended: a firm-wide commitment, a compressed week, and an hours cut spread across five days.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The roadmap exists to make the decision reversible, and to fix the points of reversal before anyone becomes attached to the policy. Phase zero runs ten weeks under the chief operating officer and does the unglamorous work: cutting meeting length and frequency, reforming email etiquette, agreeing the metric set, and agreeing what we will tell clients — Portugal used eight preparation sessions over three months on exactly those questions. Phase one operates for six months under the practice heads. Gate A at month three asks whether the kill criteria are holding, and it should be read as the high-water mark rather than the trend, because most Portuguese indicators slipped between three and six months for reasons the authors could not fully explain. Phase two evaluates in month seven against the non-participating practice groups as a control — the design Portugal had and the UK 2022 pilot lacked. Gate B decides. Owners, dates and phase lengths on this page are illustrative.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Six risks, and the matrix is arranged so the committee can see that only one of them sits in the top-right cell. Client and stakeholder expectations is that risk, and it is the one preparation cannot remove, because it depends on how clients react rather than on how well we plan; it is also precisely what stopped the only comparable firm in the UK cohort, and what deterred participation in Belgium's reduced-hours pilot. The rest are preparation problems with owners against them: hours creep, which we control by measuring actual hours rather than the policy; the absence of an agreed productivity definition, fixed in phase zero; benefit fade after month three; a dispute when the policy is withdrawn, answered by stating its non-contractual status in writing; and inequitable application, answered by taking whole practice groups rather than individual opt-in. One honest caveat: the risks are sourced, but the likelihood and impact ratings are our judgement, not findings.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GB" dirty="0"/>
              <a:t>This page exists so that nothing in the memo has to be taken on trust. Every figure used above traces to one of twenty-seven sources, each linked here with its publisher, its period and the pages that rely on it. Four limitations apply to all of them and are worth repeating in the room: management self-selects participation, company financial data is self-reported, control arms are absent, small or non-random, and follow-up samples shrink. The definitions matter too — continuation means the policy is still operating, which is not the same as a contractual entitlement, and not statistically significant is the reporting authors' own wording rather than a critic's. Three things are deliberately not claimed anywhere: any figure for this firm, any productivity forecast, and any saving from the 2014 replacement-cost figure as more than illustrative arithmetic. Where two credible sources disagree, on Iceland and on South Cambridgeshire, both readings are shown.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4_four_day_week_decision_mem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4_four_day_week_decision_mem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1950" kern="1200">
          <a:solidFill>
            <a:schemeClr val="tx1"/>
          </a:solidFill>
          <a:latin typeface="+mn-lt"/>
          <a:ea typeface="+mn-ea"/>
          <a:cs typeface="+mn-cs"/>
        </a:defRPr>
      </a:lvl1pPr>
      <a:lvl2pPr marL="457200" algn="l" defTabSz="457200" rtl="0" eaLnBrk="1" latinLnBrk="0" hangingPunct="1">
        <a:defRPr sz="1850" kern="1200">
          <a:solidFill>
            <a:schemeClr val="tx1"/>
          </a:solidFill>
          <a:latin typeface="+mn-lt"/>
          <a:ea typeface="+mn-ea"/>
          <a:cs typeface="+mn-cs"/>
        </a:defRPr>
      </a:lvl2pPr>
      <a:lvl3pPr marL="914400" algn="l" defTabSz="457200" rtl="0" eaLnBrk="1" latinLnBrk="0" hangingPunct="1">
        <a:defRPr sz="1700" kern="1200">
          <a:solidFill>
            <a:schemeClr val="tx1"/>
          </a:solidFill>
          <a:latin typeface="+mn-lt"/>
          <a:ea typeface="+mn-ea"/>
          <a:cs typeface="+mn-cs"/>
        </a:defRPr>
      </a:lvl3pPr>
      <a:lvl4pPr marL="1371600" algn="l" defTabSz="457200" rtl="0" eaLnBrk="1" latinLnBrk="0" hangingPunct="1">
        <a:defRPr sz="1600" kern="1200">
          <a:solidFill>
            <a:schemeClr val="tx1"/>
          </a:solidFill>
          <a:latin typeface="+mn-lt"/>
          <a:ea typeface="+mn-ea"/>
          <a:cs typeface="+mn-cs"/>
        </a:defRPr>
      </a:lvl4pPr>
      <a:lvl5pPr marL="1828800" algn="l" defTabSz="457200" rtl="0" eaLnBrk="1" latinLnBrk="0" hangingPunct="1">
        <a:defRPr sz="1450" kern="1200">
          <a:solidFill>
            <a:schemeClr val="tx1"/>
          </a:solidFill>
          <a:latin typeface="+mn-lt"/>
          <a:ea typeface="+mn-ea"/>
          <a:cs typeface="+mn-cs"/>
        </a:defRPr>
      </a:lvl5pPr>
      <a:lvl6pPr marL="2286000" algn="l" defTabSz="457200" rtl="0" eaLnBrk="1" latinLnBrk="0" hangingPunct="1">
        <a:defRPr sz="135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100" kern="1200">
          <a:solidFill>
            <a:schemeClr val="tx1"/>
          </a:solidFill>
          <a:latin typeface="+mn-lt"/>
          <a:ea typeface="+mn-ea"/>
          <a:cs typeface="+mn-cs"/>
        </a:defRPr>
      </a:lvl8pPr>
      <a:lvl9pPr marL="3657600" algn="l" defTabSz="457200"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autonomy.work/wp-content/uploads/2023/02/The-results-are-in-The-UKs-four-day-week-pilot.pdf" TargetMode="External"/>
  <Relationship Id="rId3" Type="http://schemas.openxmlformats.org/officeDocument/2006/relationships/hyperlink" Target="https://autonomy.work/wp-content/uploads/2024/02/making-it-stick_-1.pdf" TargetMode="External"/>
  <Relationship Id="rId4" Type="http://schemas.openxmlformats.org/officeDocument/2006/relationships/hyperlink" Target="https://en.alda.is/wp-content/uploads/2021/07/ICELAND_4DW.pdf" TargetMode="External"/>
  <Relationship Id="rId5" Type="http://schemas.openxmlformats.org/officeDocument/2006/relationships/hyperlink" Target="https://theconversation.com/the-success-of-icelands-four-day-week-trial-has-been-greatly-overstated-164083" TargetMode="External"/>
  <Relationship Id="rId6" Type="http://schemas.openxmlformats.org/officeDocument/2006/relationships/hyperlink" Target="https://leglobal.law/2022/11/27/belgium-labour-deal-2022-4-day-work-week-and-alternating-work-week/" TargetMode="External"/>
  <Relationship Id="rId7" Type="http://schemas.openxmlformats.org/officeDocument/2006/relationships/hyperlink" Target="https://www.kpmglaw.be/en/news/four-day-alternating-work-week-not-a-mere-discretionary-possibility-of-the-employer/" TargetMode="External"/>
  <Relationship Id="rId8" Type="http://schemas.openxmlformats.org/officeDocument/2006/relationships/hyperlink" Target="https://www.brusselstimes.com/1630532/belgium-based-companies-reluctant-to-adopt-four-day-work-week" TargetMode="External"/>
  <Relationship Id="rId9" Type="http://schemas.openxmlformats.org/officeDocument/2006/relationships/hyperlink" Target="https://static1.squarespace.com/static/66d46d86bd7db51794e9c3cd/t/693ed47b8cf82c7d427ac771/1765725307551/Portugal+4+Day+Week+Pilot+Results+-+4+Day+Week+Global.pdf" TargetMode="External"/>
  <Relationship Id="rId10" Type="http://schemas.openxmlformats.org/officeDocument/2006/relationships/hyperlink" Target="https://www.bbk.ac.uk/news/four-day-week-trial-results-show-drop-in-anxiety-and-fatigue-and-improved-work-life-balance-for-participants" TargetMode="External"/>
  <Relationship Id="rId11" Type="http://schemas.openxmlformats.org/officeDocument/2006/relationships/hyperlink" Target="https://www.uni-muenster.de/news/view.php?cmdid=14338" TargetMode="External"/>
  <Relationship Id="rId12" Type="http://schemas.openxmlformats.org/officeDocument/2006/relationships/hyperlink" Target="https://www.thelocal.de/20241106/what-are-the-results-of-germanys-four-day-work-week-trial" TargetMode="External"/>
  <Relationship Id="rId13" Type="http://schemas.openxmlformats.org/officeDocument/2006/relationships/hyperlink" Target="https://democracy.cambridge.gov.uk/documents/s65522/Report%20on%20the%20Four%20Day%20Week%20to%20SR%20Scrutiny%20Committee%2025%20March%202024.pdf" TargetMode="External"/>
  <Relationship Id="rId14" Type="http://schemas.openxmlformats.org/officeDocument/2006/relationships/hyperlink" Target="https://www.scambs.gov.uk/media/ncanup4n/report-final.pdf" TargetMode="External"/>
  <Relationship Id="rId15" Type="http://schemas.openxmlformats.org/officeDocument/2006/relationships/hyperlink" Target="https://www.localgov.co.uk/Four-day-week-trial-success-says-council/62636" TargetMode="External"/>
  <Relationship Id="rId16" Type="http://schemas.openxmlformats.org/officeDocument/2006/relationships/hyperlink" Target="https://www.scambs.gov.uk/media/3ienchoh/8-november-2024-letter-from-mhclg-to-scdc.pdf" TargetMode="External"/>
  <Relationship Id="rId17" Type="http://schemas.openxmlformats.org/officeDocument/2006/relationships/hyperlink" Target="https://www.economicsobservatory.com/what-might-be-the-effects-of-a-four-day-working-week" TargetMode="External"/>
  <Relationship Id="rId18" Type="http://schemas.openxmlformats.org/officeDocument/2006/relationships/hyperlink" Target="https://ideas.repec.org/a/nat/nathum/v9y2025i10d10.1038_s41562-025-02259-6.html" TargetMode="External"/>
  <Relationship Id="rId19" Type="http://schemas.openxmlformats.org/officeDocument/2006/relationships/hyperlink" Target="https://www.nature.com/articles/d41586-025-02295-2" TargetMode="External"/>
  <Relationship Id="rId20" Type="http://schemas.openxmlformats.org/officeDocument/2006/relationships/hyperlink" Target="https://www.4dayweek.com/news-posts/100-80-100-rule-mwmb7" TargetMode="External"/>
  <Relationship Id="rId21" Type="http://schemas.openxmlformats.org/officeDocument/2006/relationships/hyperlink" Target="https://www.awin.com/gb/news-and-events/awin-news/awin-flexible-work-week" TargetMode="External"/>
  <Relationship Id="rId22" Type="http://schemas.openxmlformats.org/officeDocument/2006/relationships/hyperlink" Target="https://www.atombank.co.uk/blog/four-day-week-10-months-on/" TargetMode="External"/>
  <Relationship Id="rId23" Type="http://schemas.openxmlformats.org/officeDocument/2006/relationships/hyperlink" Target="https://www.canadianlawyermag.com/resources/practice-management/how-law-firms-have-implemented-a-four-day-workweek-without-losing-productivity/375063" TargetMode="External"/>
  <Relationship Id="rId24" Type="http://schemas.openxmlformats.org/officeDocument/2006/relationships/hyperlink" Target="https://www.ons.gov.uk/employmentandlabourmarket/peopleinwork/earningsandworkinghours/timeseries/ybuy/lms" TargetMode="External"/>
  <Relationship Id="rId25" Type="http://schemas.openxmlformats.org/officeDocument/2006/relationships/hyperlink" Target="https://www.ons.gov.uk/economy/economicoutputandproductivity/productivitymeasures/bulletins/internationalcomparisonsofproductivityfinalestimates/2021/previous/v1" TargetMode="External"/>
  <Relationship Id="rId26" Type="http://schemas.openxmlformats.org/officeDocument/2006/relationships/hyperlink" Target="https://hrreview.co.uk/hr-news/recruitment/it-costs-over-30k-to-replace-a-staff-member/50677" TargetMode="External"/>
  <Relationship Id="rId27" Type="http://schemas.openxmlformats.org/officeDocument/2006/relationships/hyperlink" Target="https://www.4dayweek.co.uk/projects/the-future-of-work:-100%25-success-in-latest-uk-four-day-week-pilot" TargetMode="External"/>
  <Relationship Id="rId28" Type="http://schemas.openxmlformats.org/officeDocument/2006/relationships/hyperlink" Target="https://www.bigissue.com/news/employment/four-day-working-week-trial-success/" TargetMode="External"/>
  <Relationship Id="rId29"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9385631" y="937260"/>
              <a:ext cx="1669465"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 · Executive synthesis</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54380" y="1933575"/>
            <a:ext cx="8910295" cy="560070"/>
            <a:chOff x="754380" y="1933575"/>
            <a:chExt cx="8910295" cy="560070"/>
          </a:xfrm>
        </p:grpSpPr>
        <p:sp>
          <p:nvSpPr>
            <p:cNvPr id="6" name="TextBox 6"/>
            <p:cNvSpPr txBox="1"/>
            <p:nvPr/>
          </p:nvSpPr>
          <p:spPr>
            <a:xfrm>
              <a:off x="754380" y="1933575"/>
              <a:ext cx="8910295" cy="560070"/>
            </a:xfrm>
            <a:prstGeom prst="rect">
              <a:avLst/>
            </a:prstGeom>
            <a:noFill/>
            <a:ln>
              <a:noFill/>
            </a:ln>
          </p:spPr>
          <p:txBody>
            <a:bodyPr wrap="none" lIns="0" tIns="0" rIns="0" bIns="0" anchor="t" anchorCtr="0">
              <a:spAutoFit/>
            </a:bodyPr>
            <a:lstStyle/>
            <a:p>
              <a:pPr algn="l">
                <a:lnSpc>
                  <a:spcPts val="2100"/>
                </a:lnSpc>
              </a:pPr>
              <a:r>
                <a:rPr lang="en-GB" sz="1500" dirty="0">
                  <a:solidFill>
                    <a:schemeClr val="accent5"/>
                  </a:solidFill>
                  <a:latin typeface="+mn-lt"/>
                  <a:ea typeface="+mn-ea"/>
                  <a:cs typeface="+mn-cs"/>
                </a:rPr>
                <a:t>The governing question: should this firm move to a four-day week — 100% pay, 80% of the time, 100% of</a:t>
              </a:r>
              <a:br/>
              <a:r>
                <a:rPr lang="en-GB" sz="1500" dirty="0">
                  <a:solidFill>
                    <a:schemeClr val="accent5"/>
                  </a:solidFill>
                  <a:latin typeface="+mn-lt"/>
                  <a:ea typeface="+mn-ea"/>
                  <a:cs typeface="+mn-cs"/>
                </a:rPr>
                <a:t>the output?</a:t>
              </a:r>
            </a:p>
          </p:txBody>
        </p:sp>
      </p:grpSp>
      <p:grpSp>
        <p:nvGrpSpPr>
          <p:cNvPr id="10" name="Group 10"/>
          <p:cNvGrpSpPr/>
          <p:nvPr/>
        </p:nvGrpSpPr>
        <p:grpSpPr>
          <a:xfrm>
            <a:off x="745236" y="2787015"/>
            <a:ext cx="8183933" cy="1327785"/>
            <a:chOff x="745236" y="2787015"/>
            <a:chExt cx="8183933" cy="1327785"/>
          </a:xfrm>
        </p:grpSpPr>
        <p:sp>
          <p:nvSpPr>
            <p:cNvPr id="8" name="TextBox 8"/>
            <p:cNvSpPr txBox="1"/>
            <p:nvPr/>
          </p:nvSpPr>
          <p:spPr>
            <a:xfrm>
              <a:off x="745236" y="2787015"/>
              <a:ext cx="8183933"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Yes — as a bounded pilot in two practice</a:t>
              </a:r>
              <a:br/>
              <a:r>
                <a:rPr lang="en-GB" sz="3300" b="1" dirty="0">
                  <a:solidFill>
                    <a:schemeClr val="dk1"/>
                  </a:solidFill>
                  <a:latin typeface="+mn-lt"/>
                  <a:ea typeface="+mn-ea"/>
                  <a:cs typeface="+mn-cs"/>
                </a:rPr>
                <a:t>groups, not as a firm-wide commitment</a:t>
              </a:r>
            </a:p>
          </p:txBody>
        </p:sp>
        <p:sp>
          <p:nvSpPr>
            <p:cNvPr id="9" name="Rectangle 9"/>
            <p:cNvSpPr/>
            <p:nvPr/>
          </p:nvSpPr>
          <p:spPr>
            <a:xfrm>
              <a:off x="762000" y="4076700"/>
              <a:ext cx="2286000" cy="38100"/>
            </a:xfrm>
            <a:prstGeom prst="rect">
              <a:avLst/>
            </a:prstGeom>
            <a:solidFill>
              <a:schemeClr val="accent2"/>
            </a:solidFill>
            <a:ln>
              <a:noFill/>
            </a:ln>
          </p:spPr>
        </p:sp>
      </p:grpSp>
      <p:grpSp>
        <p:nvGrpSpPr>
          <p:cNvPr id="21" name="Group 21"/>
          <p:cNvGrpSpPr/>
          <p:nvPr/>
        </p:nvGrpSpPr>
        <p:grpSpPr>
          <a:xfrm>
            <a:off x="742950" y="4667250"/>
            <a:ext cx="10306050" cy="1903095"/>
            <a:chOff x="742950" y="4667250"/>
            <a:chExt cx="10306050" cy="1903095"/>
          </a:xfrm>
        </p:grpSpPr>
        <p:sp>
          <p:nvSpPr>
            <p:cNvPr id="11" name="Line 11"/>
            <p:cNvSpPr/>
            <p:nvPr/>
          </p:nvSpPr>
          <p:spPr>
            <a:xfrm>
              <a:off x="762000" y="466725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nvGrpSpPr>
            <p:cNvPr id="14" name="Group 14"/>
            <p:cNvGrpSpPr/>
            <p:nvPr/>
          </p:nvGrpSpPr>
          <p:grpSpPr>
            <a:xfrm>
              <a:off x="742950" y="4844415"/>
              <a:ext cx="2737485" cy="1725930"/>
              <a:chOff x="742950" y="4844415"/>
              <a:chExt cx="2737485" cy="1725930"/>
            </a:xfrm>
          </p:grpSpPr>
          <p:sp>
            <p:nvSpPr>
              <p:cNvPr id="12" name="TextBox 12"/>
              <p:cNvSpPr txBox="1"/>
              <p:nvPr/>
            </p:nvSpPr>
            <p:spPr>
              <a:xfrm>
                <a:off x="742950" y="4844415"/>
                <a:ext cx="1701236" cy="1219200"/>
              </a:xfrm>
              <a:prstGeom prst="rect">
                <a:avLst/>
              </a:prstGeom>
              <a:noFill/>
              <a:ln>
                <a:noFill/>
              </a:ln>
            </p:spPr>
            <p:txBody>
              <a:bodyPr wrap="none" lIns="0" tIns="0" rIns="0" bIns="0" anchor="t" anchorCtr="0">
                <a:spAutoFit/>
              </a:bodyPr>
              <a:lstStyle/>
              <a:p>
                <a:pPr algn="l"/>
                <a:r>
                  <a:rPr lang="en-GB" sz="6300" dirty="0">
                    <a:solidFill>
                      <a:schemeClr val="dk1"/>
                    </a:solidFill>
                    <a:latin typeface="Arial Black"/>
                    <a:ea typeface="Arial Black"/>
                    <a:cs typeface="Arial Black"/>
                  </a:rPr>
                  <a:t>89%</a:t>
                </a:r>
              </a:p>
            </p:txBody>
          </p:sp>
          <p:sp>
            <p:nvSpPr>
              <p:cNvPr id="13" name="TextBox 13"/>
              <p:cNvSpPr txBox="1"/>
              <p:nvPr/>
            </p:nvSpPr>
            <p:spPr>
              <a:xfrm>
                <a:off x="754380" y="5781675"/>
                <a:ext cx="2726055" cy="78867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of the 61 UK pilot companies</a:t>
                </a:r>
                <a:br/>
                <a:r>
                  <a:rPr lang="en-GB" sz="1500" dirty="0">
                    <a:solidFill>
                      <a:schemeClr val="accent5"/>
                    </a:solidFill>
                    <a:latin typeface="+mn-lt"/>
                    <a:ea typeface="+mn-ea"/>
                    <a:cs typeface="+mn-cs"/>
                  </a:rPr>
                  <a:t>were still on reduced hours after</a:t>
                </a:r>
                <a:br/>
                <a:r>
                  <a:rPr lang="en-GB" sz="1500" dirty="0">
                    <a:solidFill>
                      <a:schemeClr val="accent5"/>
                    </a:solidFill>
                    <a:latin typeface="+mn-lt"/>
                    <a:ea typeface="+mn-ea"/>
                    <a:cs typeface="+mn-cs"/>
                  </a:rPr>
                  <a:t>twelve months</a:t>
                </a:r>
              </a:p>
            </p:txBody>
          </p:sp>
        </p:grpSp>
        <p:grpSp>
          <p:nvGrpSpPr>
            <p:cNvPr id="17" name="Group 17"/>
            <p:cNvGrpSpPr/>
            <p:nvPr/>
          </p:nvGrpSpPr>
          <p:grpSpPr>
            <a:xfrm>
              <a:off x="4238625" y="4844415"/>
              <a:ext cx="2493950" cy="1725930"/>
              <a:chOff x="4238625" y="4844415"/>
              <a:chExt cx="2493950" cy="1725930"/>
            </a:xfrm>
          </p:grpSpPr>
          <p:sp>
            <p:nvSpPr>
              <p:cNvPr id="15" name="TextBox 15"/>
              <p:cNvSpPr txBox="1"/>
              <p:nvPr/>
            </p:nvSpPr>
            <p:spPr>
              <a:xfrm>
                <a:off x="4238625" y="4844415"/>
                <a:ext cx="532546" cy="1219200"/>
              </a:xfrm>
              <a:prstGeom prst="rect">
                <a:avLst/>
              </a:prstGeom>
              <a:noFill/>
              <a:ln>
                <a:noFill/>
              </a:ln>
            </p:spPr>
            <p:txBody>
              <a:bodyPr wrap="none" lIns="0" tIns="0" rIns="0" bIns="0" anchor="t" anchorCtr="0">
                <a:spAutoFit/>
              </a:bodyPr>
              <a:lstStyle/>
              <a:p>
                <a:pPr algn="l"/>
                <a:r>
                  <a:rPr lang="en-GB" sz="6300" dirty="0">
                    <a:solidFill>
                      <a:schemeClr val="accent2"/>
                    </a:solidFill>
                    <a:latin typeface="Arial Black"/>
                    <a:ea typeface="Arial Black"/>
                    <a:cs typeface="Arial Black"/>
                  </a:rPr>
                  <a:t>0</a:t>
                </a:r>
              </a:p>
            </p:txBody>
          </p:sp>
          <p:sp>
            <p:nvSpPr>
              <p:cNvPr id="16" name="TextBox 16"/>
              <p:cNvSpPr txBox="1"/>
              <p:nvPr/>
            </p:nvSpPr>
            <p:spPr>
              <a:xfrm>
                <a:off x="4250055" y="5781675"/>
                <a:ext cx="2482520" cy="78867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business metrics reached</a:t>
                </a:r>
                <a:br/>
                <a:r>
                  <a:rPr lang="en-GB" sz="1500" dirty="0">
                    <a:solidFill>
                      <a:schemeClr val="accent5"/>
                    </a:solidFill>
                    <a:latin typeface="+mn-lt"/>
                    <a:ea typeface="+mn-ea"/>
                    <a:cs typeface="+mn-cs"/>
                  </a:rPr>
                  <a:t>statistical significance, on the</a:t>
                </a:r>
                <a:br/>
                <a:r>
                  <a:rPr lang="en-GB" sz="1500" dirty="0">
                    <a:solidFill>
                      <a:schemeClr val="accent5"/>
                    </a:solidFill>
                    <a:latin typeface="+mn-lt"/>
                    <a:ea typeface="+mn-ea"/>
                    <a:cs typeface="+mn-cs"/>
                  </a:rPr>
                  <a:t>pilot’s own account</a:t>
                </a:r>
              </a:p>
            </p:txBody>
          </p:sp>
        </p:grpSp>
        <p:grpSp>
          <p:nvGrpSpPr>
            <p:cNvPr id="20" name="Group 20"/>
            <p:cNvGrpSpPr/>
            <p:nvPr/>
          </p:nvGrpSpPr>
          <p:grpSpPr>
            <a:xfrm>
              <a:off x="7734300" y="4844415"/>
              <a:ext cx="2800541" cy="1725930"/>
              <a:chOff x="7734300" y="4844415"/>
              <a:chExt cx="2800541" cy="1725930"/>
            </a:xfrm>
          </p:grpSpPr>
          <p:sp>
            <p:nvSpPr>
              <p:cNvPr id="18" name="TextBox 18"/>
              <p:cNvSpPr txBox="1"/>
              <p:nvPr/>
            </p:nvSpPr>
            <p:spPr>
              <a:xfrm>
                <a:off x="7734300" y="4844415"/>
                <a:ext cx="2555279" cy="1219200"/>
              </a:xfrm>
              <a:prstGeom prst="rect">
                <a:avLst/>
              </a:prstGeom>
              <a:noFill/>
              <a:ln>
                <a:noFill/>
              </a:ln>
            </p:spPr>
            <p:txBody>
              <a:bodyPr wrap="none" lIns="0" tIns="0" rIns="0" bIns="0" anchor="t" anchorCtr="0">
                <a:spAutoFit/>
              </a:bodyPr>
              <a:lstStyle/>
              <a:p>
                <a:pPr algn="l"/>
                <a:r>
                  <a:rPr lang="en-GB" sz="6300" dirty="0">
                    <a:solidFill>
                      <a:schemeClr val="dk1"/>
                    </a:solidFill>
                    <a:latin typeface="Arial Black"/>
                    <a:ea typeface="Arial Black"/>
                    <a:cs typeface="Arial Black"/>
                  </a:rPr>
                  <a:t>1 of 1</a:t>
                </a:r>
              </a:p>
            </p:txBody>
          </p:sp>
          <p:sp>
            <p:nvSpPr>
              <p:cNvPr id="19" name="TextBox 19"/>
              <p:cNvSpPr txBox="1"/>
              <p:nvPr/>
            </p:nvSpPr>
            <p:spPr>
              <a:xfrm>
                <a:off x="7745730" y="5781675"/>
                <a:ext cx="2789111" cy="78867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professional-services firms in the</a:t>
                </a:r>
                <a:br/>
                <a:r>
                  <a:rPr lang="en-GB" sz="1500" dirty="0">
                    <a:solidFill>
                      <a:schemeClr val="accent5"/>
                    </a:solidFill>
                    <a:latin typeface="+mn-lt"/>
                    <a:ea typeface="+mn-ea"/>
                    <a:cs typeface="+mn-cs"/>
                  </a:rPr>
                  <a:t>follow-up stopped — over client</a:t>
                </a:r>
                <a:br/>
                <a:r>
                  <a:rPr lang="en-GB" sz="1500" dirty="0">
                    <a:solidFill>
                      <a:schemeClr val="accent5"/>
                    </a:solidFill>
                    <a:latin typeface="+mn-lt"/>
                    <a:ea typeface="+mn-ea"/>
                    <a:cs typeface="+mn-cs"/>
                  </a:rPr>
                  <a:t>expectations</a:t>
                </a:r>
              </a:p>
            </p:txBody>
          </p:sp>
        </p:grpSp>
      </p:grpSp>
      <p:grpSp>
        <p:nvGrpSpPr>
          <p:cNvPr id="24" name="Group 24"/>
          <p:cNvGrpSpPr/>
          <p:nvPr/>
        </p:nvGrpSpPr>
        <p:grpSpPr>
          <a:xfrm>
            <a:off x="771763" y="7028498"/>
            <a:ext cx="9077830" cy="1467231"/>
            <a:chOff x="771763" y="7028498"/>
            <a:chExt cx="9077830" cy="1467231"/>
          </a:xfrm>
        </p:grpSpPr>
        <p:sp>
          <p:nvSpPr>
            <p:cNvPr id="22" name="Freeform 22"/>
            <p:cNvSpPr/>
            <p:nvPr/>
          </p:nvSpPr>
          <p:spPr>
            <a:xfrm>
              <a:off x="771763" y="7064218"/>
              <a:ext cx="247171" cy="204070"/>
            </a:xfrm>
            <a:custGeom>
              <a:avLst/>
              <a:gdLst/>
              <a:ahLst/>
              <a:cxnLst/>
              <a:rect l="l" t="t" r="r" b="b"/>
              <a:pathLst>
                <a:path w="247171" h="204070">
                  <a:moveTo>
                    <a:pt x="247171" y="47146"/>
                  </a:moveTo>
                  <a:lnTo>
                    <a:pt x="90248" y="204070"/>
                  </a:lnTo>
                  <a:lnTo>
                    <a:pt x="0" y="113821"/>
                  </a:lnTo>
                  <a:lnTo>
                    <a:pt x="47146" y="66675"/>
                  </a:lnTo>
                  <a:lnTo>
                    <a:pt x="90248" y="109777"/>
                  </a:lnTo>
                  <a:lnTo>
                    <a:pt x="200025" y="0"/>
                  </a:lnTo>
                  <a:lnTo>
                    <a:pt x="247171" y="47146"/>
                  </a:lnTo>
                  <a:close/>
                </a:path>
              </a:pathLst>
            </a:custGeom>
            <a:solidFill>
              <a:srgbClr val="000000"/>
            </a:solidFill>
            <a:ln>
              <a:noFill/>
            </a:ln>
          </p:spPr>
        </p:sp>
        <p:sp>
          <p:nvSpPr>
            <p:cNvPr id="23" name="TextBox 23"/>
            <p:cNvSpPr txBox="1"/>
            <p:nvPr/>
          </p:nvSpPr>
          <p:spPr>
            <a:xfrm>
              <a:off x="1171194" y="7028498"/>
              <a:ext cx="8678399"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The wellbeing effect is large, controlled and replicated.</a:t>
              </a:r>
              <a:br/>
              <a:r>
                <a:rPr lang="en-GB" sz="1950" dirty="0">
                  <a:solidFill>
                    <a:schemeClr val="dk1"/>
                  </a:solidFill>
                  <a:latin typeface="+mn-lt"/>
                  <a:ea typeface="+mn-ea"/>
                  <a:cs typeface="+mn-cs"/>
                </a:rPr>
                <a:t>Burnout fell from 2.8 to 2.34 and stress from 3.07 to 2.74 across the UK cohort,</a:t>
              </a:r>
              <a:br/>
              <a:r>
                <a:rPr lang="en-GB" sz="1950" dirty="0">
                  <a:solidFill>
                    <a:schemeClr val="dk1"/>
                  </a:solidFill>
                  <a:latin typeface="+mn-lt"/>
                  <a:ea typeface="+mn-ea"/>
                  <a:cs typeface="+mn-cs"/>
                </a:rPr>
                <a:t>and a controlled six-country study of nearly 2,900 workers in 141 organisations</a:t>
              </a:r>
              <a:br/>
              <a:r>
                <a:rPr lang="en-GB" sz="1950" dirty="0">
                  <a:solidFill>
                    <a:schemeClr val="dk1"/>
                  </a:solidFill>
                  <a:latin typeface="+mn-lt"/>
                  <a:ea typeface="+mn-ea"/>
                  <a:cs typeface="+mn-cs"/>
                </a:rPr>
                <a:t>found the same gains absent in its controls.</a:t>
              </a:r>
            </a:p>
          </p:txBody>
        </p:sp>
      </p:grpSp>
      <p:grpSp>
        <p:nvGrpSpPr>
          <p:cNvPr id="27" name="Group 27"/>
          <p:cNvGrpSpPr/>
          <p:nvPr/>
        </p:nvGrpSpPr>
        <p:grpSpPr>
          <a:xfrm>
            <a:off x="778669" y="8647748"/>
            <a:ext cx="9291332" cy="1467231"/>
            <a:chOff x="778669" y="8647748"/>
            <a:chExt cx="9291332" cy="1467231"/>
          </a:xfrm>
        </p:grpSpPr>
        <p:sp>
          <p:nvSpPr>
            <p:cNvPr id="25" name="Freeform 25"/>
            <p:cNvSpPr/>
            <p:nvPr/>
          </p:nvSpPr>
          <p:spPr>
            <a:xfrm>
              <a:off x="778669" y="8748712"/>
              <a:ext cx="233362" cy="66675"/>
            </a:xfrm>
            <a:custGeom>
              <a:avLst/>
              <a:gdLst/>
              <a:ahLst/>
              <a:cxnLst/>
              <a:rect l="l" t="t" r="r" b="b"/>
              <a:pathLst>
                <a:path w="233362" h="66675">
                  <a:moveTo>
                    <a:pt x="0" y="66675"/>
                  </a:moveTo>
                  <a:lnTo>
                    <a:pt x="0" y="0"/>
                  </a:lnTo>
                  <a:lnTo>
                    <a:pt x="233362" y="0"/>
                  </a:lnTo>
                  <a:lnTo>
                    <a:pt x="233362" y="66675"/>
                  </a:lnTo>
                  <a:lnTo>
                    <a:pt x="0" y="66675"/>
                  </a:lnTo>
                  <a:close/>
                </a:path>
              </a:pathLst>
            </a:custGeom>
            <a:solidFill>
              <a:srgbClr val="6E777E"/>
            </a:solidFill>
            <a:ln>
              <a:noFill/>
            </a:ln>
          </p:spPr>
        </p:sp>
        <p:sp>
          <p:nvSpPr>
            <p:cNvPr id="26" name="TextBox 26"/>
            <p:cNvSpPr txBox="1"/>
            <p:nvPr/>
          </p:nvSpPr>
          <p:spPr>
            <a:xfrm>
              <a:off x="1171194" y="8647748"/>
              <a:ext cx="8898807"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The business case is unproven, not disproven.</a:t>
              </a:r>
              <a:br/>
              <a:r>
                <a:rPr lang="en-GB" sz="1950" dirty="0">
                  <a:solidFill>
                    <a:schemeClr val="dk1"/>
                  </a:solidFill>
                  <a:latin typeface="+mn-lt"/>
                  <a:ea typeface="+mn-ea"/>
                  <a:cs typeface="+mn-cs"/>
                </a:rPr>
                <a:t>Revenue rose 1.4% from trial start to end and resignations fell from 2.0 to 0.8 per</a:t>
              </a:r>
              <a:br/>
              <a:r>
                <a:rPr lang="en-GB" sz="1950" dirty="0">
                  <a:solidFill>
                    <a:schemeClr val="dk1"/>
                  </a:solidFill>
                  <a:latin typeface="+mn-lt"/>
                  <a:ea typeface="+mn-ea"/>
                  <a:cs typeface="+mn-cs"/>
                </a:rPr>
                <a:t>100 employees — but the pilot’s own report states that these trends cannot be</a:t>
              </a:r>
              <a:br/>
              <a:r>
                <a:rPr lang="en-GB" sz="1950" dirty="0">
                  <a:solidFill>
                    <a:schemeClr val="dk1"/>
                  </a:solidFill>
                  <a:latin typeface="+mn-lt"/>
                  <a:ea typeface="+mn-ea"/>
                  <a:cs typeface="+mn-cs"/>
                </a:rPr>
                <a:t>called statistically significant.</a:t>
              </a:r>
            </a:p>
          </p:txBody>
        </p:sp>
      </p:grpSp>
      <p:grpSp>
        <p:nvGrpSpPr>
          <p:cNvPr id="30" name="Group 30"/>
          <p:cNvGrpSpPr/>
          <p:nvPr/>
        </p:nvGrpSpPr>
        <p:grpSpPr>
          <a:xfrm>
            <a:off x="780484" y="10266998"/>
            <a:ext cx="8767471" cy="1467231"/>
            <a:chOff x="780484" y="10266998"/>
            <a:chExt cx="8767471" cy="1467231"/>
          </a:xfrm>
        </p:grpSpPr>
        <p:sp>
          <p:nvSpPr>
            <p:cNvPr id="28" name="Freeform 28"/>
            <p:cNvSpPr/>
            <p:nvPr/>
          </p:nvSpPr>
          <p:spPr>
            <a:xfrm>
              <a:off x="780484" y="10267950"/>
              <a:ext cx="229732" cy="266700"/>
            </a:xfrm>
            <a:custGeom>
              <a:avLst/>
              <a:gdLst/>
              <a:ahLst/>
              <a:cxnLst/>
              <a:rect l="l" t="t" r="r" b="b"/>
              <a:pathLst>
                <a:path w="229732" h="266700">
                  <a:moveTo>
                    <a:pt x="85196" y="133350"/>
                  </a:moveTo>
                  <a:lnTo>
                    <a:pt x="0" y="0"/>
                  </a:lnTo>
                  <a:lnTo>
                    <a:pt x="59341" y="0"/>
                  </a:lnTo>
                  <a:lnTo>
                    <a:pt x="114866" y="86909"/>
                  </a:lnTo>
                  <a:lnTo>
                    <a:pt x="170391" y="0"/>
                  </a:lnTo>
                  <a:lnTo>
                    <a:pt x="229732" y="0"/>
                  </a:lnTo>
                  <a:lnTo>
                    <a:pt x="144537" y="133350"/>
                  </a:lnTo>
                  <a:lnTo>
                    <a:pt x="229732" y="266700"/>
                  </a:lnTo>
                  <a:lnTo>
                    <a:pt x="170391" y="266700"/>
                  </a:lnTo>
                  <a:lnTo>
                    <a:pt x="114866" y="179791"/>
                  </a:lnTo>
                  <a:lnTo>
                    <a:pt x="59341" y="266700"/>
                  </a:lnTo>
                  <a:lnTo>
                    <a:pt x="0" y="266700"/>
                  </a:lnTo>
                  <a:lnTo>
                    <a:pt x="85196" y="133350"/>
                  </a:lnTo>
                  <a:close/>
                </a:path>
              </a:pathLst>
            </a:custGeom>
            <a:solidFill>
              <a:schemeClr val="accent2"/>
            </a:solidFill>
            <a:ln>
              <a:noFill/>
            </a:ln>
          </p:spPr>
        </p:sp>
        <p:sp>
          <p:nvSpPr>
            <p:cNvPr id="29" name="TextBox 29"/>
            <p:cNvSpPr txBox="1"/>
            <p:nvPr/>
          </p:nvSpPr>
          <p:spPr>
            <a:xfrm>
              <a:off x="1171194" y="10266998"/>
              <a:ext cx="8376761"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Professional services is the observed failure mode.</a:t>
              </a:r>
              <a:br/>
              <a:r>
                <a:rPr lang="en-GB" sz="1950" dirty="0">
                  <a:solidFill>
                    <a:schemeClr val="dk1"/>
                  </a:solidFill>
                  <a:latin typeface="+mn-lt"/>
                  <a:ea typeface="+mn-ea"/>
                  <a:cs typeface="+mn-cs"/>
                </a:rPr>
                <a:t>The single organisation of 28 that discontinued at twelve months was a</a:t>
              </a:r>
              <a:br/>
              <a:r>
                <a:rPr lang="en-GB" sz="1950" dirty="0">
                  <a:solidFill>
                    <a:schemeClr val="dk1"/>
                  </a:solidFill>
                  <a:latin typeface="+mn-lt"/>
                  <a:ea typeface="+mn-ea"/>
                  <a:cs typeface="+mn-cs"/>
                </a:rPr>
                <a:t>consultancy, and it stopped over client and stakeholder expectations despite</a:t>
              </a:r>
              <a:br/>
              <a:r>
                <a:rPr lang="en-GB" sz="1950" dirty="0">
                  <a:solidFill>
                    <a:schemeClr val="dk1"/>
                  </a:solidFill>
                  <a:latin typeface="+mn-lt"/>
                  <a:ea typeface="+mn-ea"/>
                  <a:cs typeface="+mn-cs"/>
                </a:rPr>
                <a:t>reporting morale, wellbeing and efficiency benefits.</a:t>
              </a:r>
            </a:p>
          </p:txBody>
        </p:sp>
      </p:grpSp>
      <p:grpSp>
        <p:nvGrpSpPr>
          <p:cNvPr id="33" name="Group 33"/>
          <p:cNvGrpSpPr/>
          <p:nvPr/>
        </p:nvGrpSpPr>
        <p:grpSpPr>
          <a:xfrm>
            <a:off x="762000" y="11943398"/>
            <a:ext cx="9028767" cy="1467802"/>
            <a:chOff x="762000" y="11943398"/>
            <a:chExt cx="9028767" cy="1467802"/>
          </a:xfrm>
        </p:grpSpPr>
        <p:sp>
          <p:nvSpPr>
            <p:cNvPr id="31" name="Rectangle 31"/>
            <p:cNvSpPr/>
            <p:nvPr/>
          </p:nvSpPr>
          <p:spPr>
            <a:xfrm>
              <a:off x="762000" y="11944350"/>
              <a:ext cx="47625" cy="1466850"/>
            </a:xfrm>
            <a:prstGeom prst="rect">
              <a:avLst/>
            </a:prstGeom>
            <a:solidFill>
              <a:schemeClr val="accent2"/>
            </a:solidFill>
            <a:ln>
              <a:noFill/>
            </a:ln>
          </p:spPr>
        </p:sp>
        <p:sp>
          <p:nvSpPr>
            <p:cNvPr id="32" name="TextBox 32"/>
            <p:cNvSpPr txBox="1"/>
            <p:nvPr/>
          </p:nvSpPr>
          <p:spPr>
            <a:xfrm>
              <a:off x="1056894" y="11943398"/>
              <a:ext cx="8733873"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The gap that stops this being stronger:</a:t>
              </a:r>
              <a:br/>
              <a:r>
                <a:rPr lang="en-GB" sz="1950" dirty="0">
                  <a:solidFill>
                    <a:schemeClr val="dk1"/>
                  </a:solidFill>
                  <a:latin typeface="+mn-lt"/>
                  <a:ea typeface="+mn-ea"/>
                  <a:cs typeface="+mn-cs"/>
                </a:rPr>
                <a:t>the UK cohort was overwhelmingly tiny employers — 37% had 1–10 staff and</a:t>
              </a:r>
              <a:br/>
              <a:r>
                <a:rPr lang="en-GB" sz="1950" dirty="0">
                  <a:solidFill>
                    <a:schemeClr val="dk1"/>
                  </a:solidFill>
                  <a:latin typeface="+mn-lt"/>
                  <a:ea typeface="+mn-ea"/>
                  <a:cs typeface="+mn-cs"/>
                </a:rPr>
                <a:t>only 10% were above 100 people — and no large UK professional-services firm</a:t>
              </a:r>
              <a:br/>
              <a:r>
                <a:rPr lang="en-GB" sz="1950" dirty="0">
                  <a:solidFill>
                    <a:schemeClr val="dk1"/>
                  </a:solidFill>
                  <a:latin typeface="+mn-lt"/>
                  <a:ea typeface="+mn-ea"/>
                  <a:cs typeface="+mn-cs"/>
                </a:rPr>
                <a:t>with published results was found.</a:t>
              </a:r>
            </a:p>
          </p:txBody>
        </p:sp>
      </p:grpSp>
      <p:grpSp>
        <p:nvGrpSpPr>
          <p:cNvPr id="35" name="Group 35"/>
          <p:cNvGrpSpPr/>
          <p:nvPr/>
        </p:nvGrpSpPr>
        <p:grpSpPr>
          <a:xfrm>
            <a:off x="755904" y="14157960"/>
            <a:ext cx="8973952" cy="463296"/>
            <a:chOff x="755904" y="14157960"/>
            <a:chExt cx="8973952" cy="463296"/>
          </a:xfrm>
        </p:grpSpPr>
        <p:sp>
          <p:nvSpPr>
            <p:cNvPr id="34" name="TextBox 34"/>
            <p:cNvSpPr txBox="1"/>
            <p:nvPr/>
          </p:nvSpPr>
          <p:spPr>
            <a:xfrm>
              <a:off x="755904" y="14157960"/>
              <a:ext cx="8973952" cy="463296"/>
            </a:xfrm>
            <a:prstGeom prst="rect">
              <a:avLst/>
            </a:prstGeom>
            <a:noFill/>
            <a:ln>
              <a:noFill/>
            </a:ln>
          </p:spPr>
          <p:txBody>
            <a:bodyPr wrap="none" lIns="0" tIns="0" rIns="0" bIns="0" anchor="t" anchorCtr="0">
              <a:spAutoFit/>
            </a:bodyPr>
            <a:lstStyle/>
            <a:p>
              <a:pPr algn="l">
                <a:lnSpc>
                  <a:spcPts val="1800"/>
                </a:lnSpc>
              </a:pPr>
              <a:r>
                <a:rPr lang="en-GB" sz="1200" dirty="0">
                  <a:solidFill>
                    <a:schemeClr val="accent5"/>
                  </a:solidFill>
                  <a:latin typeface="+mn-lt"/>
                  <a:ea typeface="+mn-ea"/>
                  <a:cs typeface="+mn-cs"/>
                </a:rPr>
                <a:t>Client scope: a 200-person UK professional-services firm, illustrative and unnamed. Every firm-specific figure in this memo is labelled</a:t>
              </a:r>
              <a:br/>
              <a:r>
                <a:rPr lang="en-GB" sz="1200" dirty="0">
                  <a:solidFill>
                    <a:schemeClr val="accent5"/>
                  </a:solidFill>
                  <a:latin typeface="+mn-lt"/>
                  <a:ea typeface="+mn-ea"/>
                  <a:cs typeface="+mn-cs"/>
                </a:rPr>
                <a:t>illustrative; every external figure carries its source, period and basis.</a:t>
              </a:r>
            </a:p>
          </p:txBody>
        </p:sp>
      </p:grpSp>
      <p:grpSp>
        <p:nvGrpSpPr>
          <p:cNvPr id="39" name="Group 39"/>
          <p:cNvGrpSpPr/>
          <p:nvPr/>
        </p:nvGrpSpPr>
        <p:grpSpPr>
          <a:xfrm>
            <a:off x="755904" y="15582900"/>
            <a:ext cx="10299192" cy="409956"/>
            <a:chOff x="755904" y="15582900"/>
            <a:chExt cx="10299192" cy="409956"/>
          </a:xfrm>
        </p:grpSpPr>
        <p:sp>
          <p:nvSpPr>
            <p:cNvPr id="36" name="Line 36"/>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37" name="TextBox 37"/>
            <p:cNvSpPr txBox="1"/>
            <p:nvPr/>
          </p:nvSpPr>
          <p:spPr>
            <a:xfrm>
              <a:off x="755904" y="15758160"/>
              <a:ext cx="6995675"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4 Day Week Foundation (2024) · Nature Human Behaviour 9 (2025)</a:t>
              </a:r>
            </a:p>
          </p:txBody>
        </p:sp>
        <p:sp>
          <p:nvSpPr>
            <p:cNvPr id="38" name="TextBox 38"/>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1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childTnLst>
                          </p:cTn>
                        </p:par>
                        <p:par>
                          <p:cTn id="24" fill="hold">
                            <p:stCondLst>
                              <p:cond delay="3900"/>
                            </p:stCondLst>
                            <p:childTnLst>
                              <p:par>
                                <p:cTn xmlns:p="http://schemas.openxmlformats.org/presentationml/2006/main" id="25" presetID="22" presetClass="entr" presetSubtype="4" fill="hold" grpId="0" nodeType="afterEffect">
                                  <p:stCondLst>
                                    <p:cond delay="30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6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4095750" y="3429000"/>
            <a:ext cx="9525" cy="11811000"/>
          </a:xfrm>
          <a:custGeom>
            <a:avLst/>
            <a:gdLst/>
            <a:ahLst/>
            <a:cxnLst/>
            <a:rect l="l" t="t" r="r" b="b"/>
            <a:pathLst>
              <a:path w="9525" h="11811000">
                <a:moveTo>
                  <a:pt x="0" y="0"/>
                </a:moveTo>
                <a:lnTo>
                  <a:pt x="0" y="11811000"/>
                </a:lnTo>
              </a:path>
            </a:pathLst>
          </a:custGeom>
          <a:noFill/>
          <a:ln w="9525">
            <a:solidFill>
              <a:schemeClr val="accent6"/>
            </a:solidFill>
          </a:ln>
        </p:spPr>
      </p:sp>
      <p:grpSp>
        <p:nvGrpSpPr>
          <p:cNvPr id="6" name="Group 6"/>
          <p:cNvGrpSpPr/>
          <p:nvPr/>
        </p:nvGrpSpPr>
        <p:grpSpPr>
          <a:xfrm>
            <a:off x="755904" y="937260"/>
            <a:ext cx="10299192" cy="329565"/>
            <a:chOff x="755904" y="937260"/>
            <a:chExt cx="10299192" cy="329565"/>
          </a:xfrm>
        </p:grpSpPr>
        <p:sp>
          <p:nvSpPr>
            <p:cNvPr id="3" name="TextBox 3"/>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4" name="TextBox 4"/>
            <p:cNvSpPr txBox="1"/>
            <p:nvPr/>
          </p:nvSpPr>
          <p:spPr>
            <a:xfrm>
              <a:off x="8398067" y="937260"/>
              <a:ext cx="2657029"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2 · Situation, complication, resolution</a:t>
              </a:r>
            </a:p>
          </p:txBody>
        </p:sp>
        <p:sp>
          <p:nvSpPr>
            <p:cNvPr id="5" name="Line 5"/>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8" name="Group 8"/>
          <p:cNvGrpSpPr/>
          <p:nvPr/>
        </p:nvGrpSpPr>
        <p:grpSpPr>
          <a:xfrm>
            <a:off x="745236" y="1548765"/>
            <a:ext cx="8510412" cy="1159764"/>
            <a:chOff x="745236" y="1548765"/>
            <a:chExt cx="8510412" cy="1159764"/>
          </a:xfrm>
        </p:grpSpPr>
        <p:sp>
          <p:nvSpPr>
            <p:cNvPr id="7" name="TextBox 7"/>
            <p:cNvSpPr txBox="1"/>
            <p:nvPr/>
          </p:nvSpPr>
          <p:spPr>
            <a:xfrm>
              <a:off x="745236" y="1548765"/>
              <a:ext cx="8510412"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Every pilot promised eight hours back and</a:t>
              </a:r>
              <a:br/>
              <a:r>
                <a:rPr lang="en-GB" sz="3300" b="1" dirty="0">
                  <a:solidFill>
                    <a:schemeClr val="dk1"/>
                  </a:solidFill>
                  <a:latin typeface="+mn-lt"/>
                  <a:ea typeface="+mn-ea"/>
                  <a:cs typeface="+mn-cs"/>
                </a:rPr>
                <a:t>delivered four to five</a:t>
              </a:r>
            </a:p>
          </p:txBody>
        </p:sp>
      </p:grpSp>
      <p:grpSp>
        <p:nvGrpSpPr>
          <p:cNvPr id="10" name="Group 10"/>
          <p:cNvGrpSpPr/>
          <p:nvPr/>
        </p:nvGrpSpPr>
        <p:grpSpPr>
          <a:xfrm>
            <a:off x="750570" y="2767012"/>
            <a:ext cx="9377879" cy="440055"/>
            <a:chOff x="750570" y="2767012"/>
            <a:chExt cx="9377879" cy="440055"/>
          </a:xfrm>
        </p:grpSpPr>
        <p:sp>
          <p:nvSpPr>
            <p:cNvPr id="9" name="TextBox 9"/>
            <p:cNvSpPr txBox="1"/>
            <p:nvPr/>
          </p:nvSpPr>
          <p:spPr>
            <a:xfrm>
              <a:off x="750570" y="2767012"/>
              <a:ext cx="9377879" cy="440055"/>
            </a:xfrm>
            <a:prstGeom prst="rect">
              <a:avLst/>
            </a:prstGeom>
            <a:noFill/>
            <a:ln>
              <a:noFill/>
            </a:ln>
          </p:spPr>
          <p:txBody>
            <a:bodyPr wrap="none" lIns="0" tIns="0" rIns="0" bIns="0" anchor="t" anchorCtr="0">
              <a:spAutoFit/>
            </a:bodyPr>
            <a:lstStyle/>
            <a:p>
              <a:pPr algn="l"/>
              <a:r>
                <a:rPr lang="en-GB" sz="2250" dirty="0">
                  <a:solidFill>
                    <a:schemeClr val="accent3"/>
                  </a:solidFill>
                  <a:latin typeface="+mn-lt"/>
                  <a:ea typeface="+mn-ea"/>
                  <a:cs typeface="+mn-cs"/>
                </a:rPr>
                <a:t>The decision is about recoverable hours, not about a day of the week.</a:t>
              </a:r>
            </a:p>
          </p:txBody>
        </p:sp>
      </p:grpSp>
      <p:grpSp>
        <p:nvGrpSpPr>
          <p:cNvPr id="14" name="Group 14"/>
          <p:cNvGrpSpPr/>
          <p:nvPr/>
        </p:nvGrpSpPr>
        <p:grpSpPr>
          <a:xfrm>
            <a:off x="754380" y="3680460"/>
            <a:ext cx="2683726" cy="1434846"/>
            <a:chOff x="754380" y="3680460"/>
            <a:chExt cx="2683726" cy="1434846"/>
          </a:xfrm>
        </p:grpSpPr>
        <p:sp>
          <p:nvSpPr>
            <p:cNvPr id="11" name="TextBox 11"/>
            <p:cNvSpPr txBox="1"/>
            <p:nvPr/>
          </p:nvSpPr>
          <p:spPr>
            <a:xfrm>
              <a:off x="755904" y="3680460"/>
              <a:ext cx="1068512" cy="234696"/>
            </a:xfrm>
            <a:prstGeom prst="rect">
              <a:avLst/>
            </a:prstGeom>
            <a:noFill/>
            <a:ln>
              <a:noFill/>
            </a:ln>
          </p:spPr>
          <p:txBody>
            <a:bodyPr wrap="none" lIns="0" tIns="0" rIns="0" bIns="0" anchor="t" anchorCtr="0">
              <a:spAutoFit/>
            </a:bodyPr>
            <a:lstStyle/>
            <a:p>
              <a:pPr algn="l"/>
              <a:r>
                <a:rPr lang="en-GB" sz="1200" b="1" spc="120" dirty="0">
                  <a:solidFill>
                    <a:schemeClr val="accent2"/>
                  </a:solidFill>
                  <a:latin typeface="+mn-lt"/>
                  <a:ea typeface="+mn-ea"/>
                  <a:cs typeface="+mn-cs"/>
                </a:rPr>
                <a:t>SITUATION</a:t>
              </a:r>
            </a:p>
          </p:txBody>
        </p:sp>
        <p:sp>
          <p:nvSpPr>
            <p:cNvPr id="12" name="TextBox 12"/>
            <p:cNvSpPr txBox="1"/>
            <p:nvPr/>
          </p:nvSpPr>
          <p:spPr>
            <a:xfrm>
              <a:off x="754380" y="3971925"/>
              <a:ext cx="2683726" cy="78867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100-80-100, defined by 4 Day</a:t>
              </a:r>
              <a:br/>
              <a:r>
                <a:rPr lang="en-GB" sz="1500" dirty="0">
                  <a:solidFill>
                    <a:schemeClr val="accent5"/>
                  </a:solidFill>
                  <a:latin typeface="+mn-lt"/>
                  <a:ea typeface="+mn-ea"/>
                  <a:cs typeface="+mn-cs"/>
                </a:rPr>
                <a:t>Week Global in 2018. UK hours</a:t>
              </a:r>
              <a:br/>
              <a:r>
                <a:rPr lang="en-GB" sz="1500" dirty="0">
                  <a:solidFill>
                    <a:schemeClr val="accent5"/>
                  </a:solidFill>
                  <a:latin typeface="+mn-lt"/>
                  <a:ea typeface="+mn-ea"/>
                  <a:cs typeface="+mn-cs"/>
                </a:rPr>
                <a:t>and productivity: ONS.</a:t>
              </a:r>
            </a:p>
          </p:txBody>
        </p:sp>
        <p:sp>
          <p:nvSpPr>
            <p:cNvPr id="13" name="TextBox 13"/>
            <p:cNvSpPr txBox="1"/>
            <p:nvPr/>
          </p:nvSpPr>
          <p:spPr>
            <a:xfrm>
              <a:off x="755904" y="4880610"/>
              <a:ext cx="1482737"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F064 · F068 · F069</a:t>
              </a:r>
            </a:p>
          </p:txBody>
        </p:sp>
      </p:grpSp>
      <p:grpSp>
        <p:nvGrpSpPr>
          <p:cNvPr id="17" name="Group 17"/>
          <p:cNvGrpSpPr/>
          <p:nvPr/>
        </p:nvGrpSpPr>
        <p:grpSpPr>
          <a:xfrm>
            <a:off x="4371594" y="3599498"/>
            <a:ext cx="6091199" cy="4191381"/>
            <a:chOff x="4371594" y="3599498"/>
            <a:chExt cx="6091199" cy="4191381"/>
          </a:xfrm>
        </p:grpSpPr>
        <p:sp>
          <p:nvSpPr>
            <p:cNvPr id="15" name="TextBox 15"/>
            <p:cNvSpPr txBox="1"/>
            <p:nvPr/>
          </p:nvSpPr>
          <p:spPr>
            <a:xfrm>
              <a:off x="4371594" y="3599498"/>
              <a:ext cx="6049743" cy="18291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100-80-100 means 100% pay for 80% of the time while</a:t>
              </a:r>
              <a:br/>
              <a:r>
                <a:rPr lang="en-GB" sz="1950" dirty="0">
                  <a:solidFill>
                    <a:schemeClr val="dk1"/>
                  </a:solidFill>
                  <a:latin typeface="+mn-lt"/>
                  <a:ea typeface="+mn-ea"/>
                  <a:cs typeface="+mn-cs"/>
                </a:rPr>
                <a:t>maintaining 100% output. It was created in 2018 by</a:t>
              </a:r>
              <a:br/>
              <a:r>
                <a:rPr lang="en-GB" sz="1950" dirty="0">
                  <a:solidFill>
                    <a:schemeClr val="dk1"/>
                  </a:solidFill>
                  <a:latin typeface="+mn-lt"/>
                  <a:ea typeface="+mn-ea"/>
                  <a:cs typeface="+mn-cs"/>
                </a:rPr>
                <a:t>Andrew Barnes and Charlotte Lockhart at Perpetual</a:t>
              </a:r>
              <a:br/>
              <a:r>
                <a:rPr lang="en-GB" sz="1950" dirty="0">
                  <a:solidFill>
                    <a:schemeClr val="dk1"/>
                  </a:solidFill>
                  <a:latin typeface="+mn-lt"/>
                  <a:ea typeface="+mn-ea"/>
                  <a:cs typeface="+mn-cs"/>
                </a:rPr>
                <a:t>Guardian, and 4 Day Week Global defines it as a</a:t>
              </a:r>
              <a:br/>
              <a:r>
                <a:rPr lang="en-GB" sz="1950" dirty="0">
                  <a:solidFill>
                    <a:schemeClr val="dk1"/>
                  </a:solidFill>
                  <a:latin typeface="+mn-lt"/>
                  <a:ea typeface="+mn-ea"/>
                  <a:cs typeface="+mn-cs"/>
                </a:rPr>
                <a:t>32-hour week rather than compressed hours.</a:t>
              </a:r>
            </a:p>
          </p:txBody>
        </p:sp>
        <p:sp>
          <p:nvSpPr>
            <p:cNvPr id="16" name="TextBox 16"/>
            <p:cNvSpPr txBox="1"/>
            <p:nvPr/>
          </p:nvSpPr>
          <p:spPr>
            <a:xfrm>
              <a:off x="4371594" y="5599748"/>
              <a:ext cx="6091199" cy="21911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Against the UK norm the cut is smaller than it sounds.</a:t>
              </a:r>
              <a:br/>
              <a:r>
                <a:rPr lang="en-GB" sz="1950" dirty="0">
                  <a:solidFill>
                    <a:schemeClr val="dk1"/>
                  </a:solidFill>
                  <a:latin typeface="+mn-lt"/>
                  <a:ea typeface="+mn-ea"/>
                  <a:cs typeface="+mn-cs"/>
                </a:rPr>
                <a:t>Average actual weekly hours for UK full-time workers</a:t>
              </a:r>
              <a:br/>
              <a:r>
                <a:rPr lang="en-GB" sz="1950" dirty="0">
                  <a:solidFill>
                    <a:schemeClr val="dk1"/>
                  </a:solidFill>
                  <a:latin typeface="+mn-lt"/>
                  <a:ea typeface="+mn-ea"/>
                  <a:cs typeface="+mn-cs"/>
                </a:rPr>
                <a:t>were 36.7 in April–June 2026, so a 32-hour week is</a:t>
              </a:r>
              <a:br/>
              <a:r>
                <a:rPr lang="en-GB" sz="1950" dirty="0">
                  <a:solidFill>
                    <a:schemeClr val="dk1"/>
                  </a:solidFill>
                  <a:latin typeface="+mn-lt"/>
                  <a:ea typeface="+mn-ea"/>
                  <a:cs typeface="+mn-cs"/>
                </a:rPr>
                <a:t>about a 13% reduction, not 20% — while UK output per</a:t>
              </a:r>
              <a:br/>
              <a:r>
                <a:rPr lang="en-GB" sz="1950" dirty="0">
                  <a:solidFill>
                    <a:schemeClr val="dk1"/>
                  </a:solidFill>
                  <a:latin typeface="+mn-lt"/>
                  <a:ea typeface="+mn-ea"/>
                  <a:cs typeface="+mn-cs"/>
                </a:rPr>
                <a:t>hour, at £46.92 in 2021, was already 10% below the</a:t>
              </a:r>
              <a:br/>
              <a:r>
                <a:rPr lang="en-GB" sz="1950" dirty="0">
                  <a:solidFill>
                    <a:schemeClr val="dk1"/>
                  </a:solidFill>
                  <a:latin typeface="+mn-lt"/>
                  <a:ea typeface="+mn-ea"/>
                  <a:cs typeface="+mn-cs"/>
                </a:rPr>
                <a:t>average of the other G7 nations excluding Japan.</a:t>
              </a:r>
            </a:p>
          </p:txBody>
        </p:sp>
      </p:grpSp>
      <p:grpSp>
        <p:nvGrpSpPr>
          <p:cNvPr id="21" name="Group 21"/>
          <p:cNvGrpSpPr/>
          <p:nvPr/>
        </p:nvGrpSpPr>
        <p:grpSpPr>
          <a:xfrm>
            <a:off x="754380" y="8157210"/>
            <a:ext cx="2450821" cy="1587246"/>
            <a:chOff x="754380" y="8157210"/>
            <a:chExt cx="2450821" cy="1587246"/>
          </a:xfrm>
        </p:grpSpPr>
        <p:sp>
          <p:nvSpPr>
            <p:cNvPr id="18" name="TextBox 18"/>
            <p:cNvSpPr txBox="1"/>
            <p:nvPr/>
          </p:nvSpPr>
          <p:spPr>
            <a:xfrm>
              <a:off x="755904" y="8157210"/>
              <a:ext cx="1517933" cy="234696"/>
            </a:xfrm>
            <a:prstGeom prst="rect">
              <a:avLst/>
            </a:prstGeom>
            <a:noFill/>
            <a:ln>
              <a:noFill/>
            </a:ln>
          </p:spPr>
          <p:txBody>
            <a:bodyPr wrap="none" lIns="0" tIns="0" rIns="0" bIns="0" anchor="t" anchorCtr="0">
              <a:spAutoFit/>
            </a:bodyPr>
            <a:lstStyle/>
            <a:p>
              <a:pPr algn="l"/>
              <a:r>
                <a:rPr lang="en-GB" sz="1200" b="1" spc="120" dirty="0">
                  <a:solidFill>
                    <a:schemeClr val="accent2"/>
                  </a:solidFill>
                  <a:latin typeface="+mn-lt"/>
                  <a:ea typeface="+mn-ea"/>
                  <a:cs typeface="+mn-cs"/>
                </a:rPr>
                <a:t>COMPLICATION</a:t>
              </a:r>
            </a:p>
          </p:txBody>
        </p:sp>
        <p:sp>
          <p:nvSpPr>
            <p:cNvPr id="19" name="TextBox 19"/>
            <p:cNvSpPr txBox="1"/>
            <p:nvPr/>
          </p:nvSpPr>
          <p:spPr>
            <a:xfrm>
              <a:off x="754380" y="8448675"/>
              <a:ext cx="2450821"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Nominal target against hours</a:t>
              </a:r>
              <a:br/>
              <a:r>
                <a:rPr lang="en-GB" sz="1500" dirty="0">
                  <a:solidFill>
                    <a:schemeClr val="accent5"/>
                  </a:solidFill>
                  <a:latin typeface="+mn-lt"/>
                  <a:ea typeface="+mn-ea"/>
                  <a:cs typeface="+mn-cs"/>
                </a:rPr>
                <a:t>actually worked, by study.</a:t>
              </a:r>
            </a:p>
          </p:txBody>
        </p:sp>
        <p:sp>
          <p:nvSpPr>
            <p:cNvPr id="20" name="TextBox 20"/>
            <p:cNvSpPr txBox="1"/>
            <p:nvPr/>
          </p:nvSpPr>
          <p:spPr>
            <a:xfrm>
              <a:off x="755904" y="9509760"/>
              <a:ext cx="2023477"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F011 · F040 · F054 · F063</a:t>
              </a:r>
            </a:p>
          </p:txBody>
        </p:sp>
      </p:grpSp>
      <p:grpSp>
        <p:nvGrpSpPr>
          <p:cNvPr id="23" name="Group 23"/>
          <p:cNvGrpSpPr/>
          <p:nvPr/>
        </p:nvGrpSpPr>
        <p:grpSpPr>
          <a:xfrm>
            <a:off x="4371594" y="8076248"/>
            <a:ext cx="5774257" cy="1467231"/>
            <a:chOff x="4371594" y="8076248"/>
            <a:chExt cx="5774257" cy="1467231"/>
          </a:xfrm>
        </p:grpSpPr>
        <p:sp>
          <p:nvSpPr>
            <p:cNvPr id="22" name="TextBox 22"/>
            <p:cNvSpPr txBox="1"/>
            <p:nvPr/>
          </p:nvSpPr>
          <p:spPr>
            <a:xfrm>
              <a:off x="4371594" y="8076248"/>
              <a:ext cx="5774257"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In every measured pilot the realised reduction was</a:t>
              </a:r>
              <a:br/>
              <a:r>
                <a:rPr lang="en-GB" sz="1950" dirty="0">
                  <a:solidFill>
                    <a:schemeClr val="dk1"/>
                  </a:solidFill>
                  <a:latin typeface="+mn-lt"/>
                  <a:ea typeface="+mn-ea"/>
                  <a:cs typeface="+mn-cs"/>
                </a:rPr>
                <a:t>smaller than the nominal one. Across the UK cohort,</a:t>
              </a:r>
              <a:br/>
              <a:r>
                <a:rPr lang="en-GB" sz="1950" dirty="0">
                  <a:solidFill>
                    <a:schemeClr val="dk1"/>
                  </a:solidFill>
                  <a:latin typeface="+mn-lt"/>
                  <a:ea typeface="+mn-ea"/>
                  <a:cs typeface="+mn-cs"/>
                </a:rPr>
                <a:t>71% of employees reported fewer hours — and 15%</a:t>
              </a:r>
              <a:br/>
              <a:r>
                <a:rPr lang="en-GB" sz="1950" dirty="0">
                  <a:solidFill>
                    <a:schemeClr val="dk1"/>
                  </a:solidFill>
                  <a:latin typeface="+mn-lt"/>
                  <a:ea typeface="+mn-ea"/>
                  <a:cs typeface="+mn-cs"/>
                </a:rPr>
                <a:t>reported working more.</a:t>
              </a:r>
            </a:p>
          </p:txBody>
        </p:sp>
      </p:grpSp>
      <p:grpSp>
        <p:nvGrpSpPr>
          <p:cNvPr id="54" name="Group 54"/>
          <p:cNvGrpSpPr/>
          <p:nvPr/>
        </p:nvGrpSpPr>
        <p:grpSpPr>
          <a:xfrm>
            <a:off x="829410" y="10001250"/>
            <a:ext cx="10149024" cy="3007995"/>
            <a:chOff x="829410" y="10001250"/>
            <a:chExt cx="10149024" cy="3007995"/>
          </a:xfrm>
        </p:grpSpPr>
        <p:grpSp>
          <p:nvGrpSpPr>
            <p:cNvPr id="41" name="Group 41"/>
            <p:cNvGrpSpPr/>
            <p:nvPr/>
          </p:nvGrpSpPr>
          <p:grpSpPr>
            <a:xfrm>
              <a:off x="3333750" y="10001250"/>
              <a:ext cx="7534275" cy="2009775"/>
              <a:chOff x="3333750" y="10001250"/>
              <a:chExt cx="7534275" cy="2009775"/>
            </a:xfrm>
          </p:grpSpPr>
          <p:sp>
            <p:nvSpPr>
              <p:cNvPr id="24" name="Line 24"/>
              <p:cNvSpPr/>
              <p:nvPr/>
            </p:nvSpPr>
            <p:spPr>
              <a:xfrm>
                <a:off x="5841968" y="10001250"/>
                <a:ext cx="9525" cy="2000250"/>
              </a:xfrm>
              <a:custGeom>
                <a:avLst/>
                <a:gdLst/>
                <a:ahLst/>
                <a:cxnLst/>
                <a:rect l="l" t="t" r="r" b="b"/>
                <a:pathLst>
                  <a:path w="9525" h="2000250">
                    <a:moveTo>
                      <a:pt x="0" y="0"/>
                    </a:moveTo>
                    <a:lnTo>
                      <a:pt x="0" y="2000250"/>
                    </a:lnTo>
                  </a:path>
                </a:pathLst>
              </a:custGeom>
              <a:noFill/>
              <a:ln w="9525">
                <a:solidFill>
                  <a:srgbClr val="E7E3DB"/>
                </a:solidFill>
              </a:ln>
            </p:spPr>
          </p:sp>
          <p:sp>
            <p:nvSpPr>
              <p:cNvPr id="25" name="Line 25"/>
              <p:cNvSpPr/>
              <p:nvPr/>
            </p:nvSpPr>
            <p:spPr>
              <a:xfrm>
                <a:off x="8350282" y="10001250"/>
                <a:ext cx="9525" cy="2000250"/>
              </a:xfrm>
              <a:custGeom>
                <a:avLst/>
                <a:gdLst/>
                <a:ahLst/>
                <a:cxnLst/>
                <a:rect l="l" t="t" r="r" b="b"/>
                <a:pathLst>
                  <a:path w="9525" h="2000250">
                    <a:moveTo>
                      <a:pt x="0" y="0"/>
                    </a:moveTo>
                    <a:lnTo>
                      <a:pt x="0" y="2000250"/>
                    </a:lnTo>
                  </a:path>
                </a:pathLst>
              </a:custGeom>
              <a:noFill/>
              <a:ln w="9525">
                <a:solidFill>
                  <a:srgbClr val="E7E3DB"/>
                </a:solidFill>
              </a:ln>
            </p:spPr>
          </p:sp>
          <p:sp>
            <p:nvSpPr>
              <p:cNvPr id="26" name="Line 26"/>
              <p:cNvSpPr/>
              <p:nvPr/>
            </p:nvSpPr>
            <p:spPr>
              <a:xfrm>
                <a:off x="10858500" y="10001250"/>
                <a:ext cx="9525" cy="2000250"/>
              </a:xfrm>
              <a:custGeom>
                <a:avLst/>
                <a:gdLst/>
                <a:ahLst/>
                <a:cxnLst/>
                <a:rect l="l" t="t" r="r" b="b"/>
                <a:pathLst>
                  <a:path w="9525" h="2000250">
                    <a:moveTo>
                      <a:pt x="0" y="0"/>
                    </a:moveTo>
                    <a:lnTo>
                      <a:pt x="0" y="2000250"/>
                    </a:lnTo>
                  </a:path>
                </a:pathLst>
              </a:custGeom>
              <a:noFill/>
              <a:ln w="9525">
                <a:solidFill>
                  <a:srgbClr val="E7E3DB"/>
                </a:solidFill>
              </a:ln>
            </p:spPr>
          </p:sp>
          <p:sp>
            <p:nvSpPr>
              <p:cNvPr id="27" name="Line 27"/>
              <p:cNvSpPr/>
              <p:nvPr/>
            </p:nvSpPr>
            <p:spPr>
              <a:xfrm>
                <a:off x="3333750" y="10001250"/>
                <a:ext cx="9525" cy="2000250"/>
              </a:xfrm>
              <a:custGeom>
                <a:avLst/>
                <a:gdLst/>
                <a:ahLst/>
                <a:cxnLst/>
                <a:rect l="l" t="t" r="r" b="b"/>
                <a:pathLst>
                  <a:path w="9525" h="2000250">
                    <a:moveTo>
                      <a:pt x="0" y="0"/>
                    </a:moveTo>
                    <a:lnTo>
                      <a:pt x="0" y="2000250"/>
                    </a:lnTo>
                  </a:path>
                </a:pathLst>
              </a:custGeom>
              <a:noFill/>
              <a:ln w="9525">
                <a:solidFill>
                  <a:schemeClr val="accent6"/>
                </a:solidFill>
              </a:ln>
            </p:spPr>
          </p:sp>
          <p:sp>
            <p:nvSpPr>
              <p:cNvPr id="28" name="Line 28"/>
              <p:cNvSpPr/>
              <p:nvPr/>
            </p:nvSpPr>
            <p:spPr>
              <a:xfrm>
                <a:off x="3333750" y="12001500"/>
                <a:ext cx="7524750" cy="9525"/>
              </a:xfrm>
              <a:custGeom>
                <a:avLst/>
                <a:gdLst/>
                <a:ahLst/>
                <a:cxnLst/>
                <a:rect l="l" t="t" r="r" b="b"/>
                <a:pathLst>
                  <a:path w="7524750" h="9525">
                    <a:moveTo>
                      <a:pt x="0" y="0"/>
                    </a:moveTo>
                    <a:lnTo>
                      <a:pt x="7524750" y="0"/>
                    </a:lnTo>
                  </a:path>
                </a:pathLst>
              </a:custGeom>
              <a:noFill/>
              <a:ln w="9525">
                <a:solidFill>
                  <a:schemeClr val="accent6"/>
                </a:solidFill>
              </a:ln>
            </p:spPr>
          </p:sp>
          <p:sp>
            <p:nvSpPr>
              <p:cNvPr id="29" name="Rectangle 29"/>
              <p:cNvSpPr/>
              <p:nvPr/>
            </p:nvSpPr>
            <p:spPr>
              <a:xfrm>
                <a:off x="3333750" y="10112407"/>
                <a:ext cx="6354223" cy="222218"/>
              </a:xfrm>
              <a:prstGeom prst="rect">
                <a:avLst/>
              </a:prstGeom>
              <a:solidFill>
                <a:schemeClr val="accent1"/>
              </a:solidFill>
              <a:ln>
                <a:noFill/>
              </a:ln>
            </p:spPr>
          </p:sp>
          <p:sp>
            <p:nvSpPr>
              <p:cNvPr id="30" name="Rectangle 30"/>
              <p:cNvSpPr/>
              <p:nvPr/>
            </p:nvSpPr>
            <p:spPr>
              <a:xfrm>
                <a:off x="3333750" y="10334625"/>
                <a:ext cx="5685377" cy="222218"/>
              </a:xfrm>
              <a:prstGeom prst="rect">
                <a:avLst/>
              </a:prstGeom>
              <a:solidFill>
                <a:schemeClr val="accent3"/>
              </a:solidFill>
              <a:ln>
                <a:noFill/>
              </a:ln>
            </p:spPr>
          </p:sp>
          <p:sp>
            <p:nvSpPr>
              <p:cNvPr id="31" name="Rectangle 31"/>
              <p:cNvSpPr/>
              <p:nvPr/>
            </p:nvSpPr>
            <p:spPr>
              <a:xfrm>
                <a:off x="3333750" y="10779157"/>
                <a:ext cx="6855904" cy="222218"/>
              </a:xfrm>
              <a:prstGeom prst="rect">
                <a:avLst/>
              </a:prstGeom>
              <a:solidFill>
                <a:schemeClr val="accent1"/>
              </a:solidFill>
              <a:ln>
                <a:noFill/>
              </a:ln>
            </p:spPr>
          </p:sp>
          <p:sp>
            <p:nvSpPr>
              <p:cNvPr id="32" name="Rectangle 32"/>
              <p:cNvSpPr/>
              <p:nvPr/>
            </p:nvSpPr>
            <p:spPr>
              <a:xfrm>
                <a:off x="3333750" y="11001375"/>
                <a:ext cx="6103525" cy="222218"/>
              </a:xfrm>
              <a:prstGeom prst="rect">
                <a:avLst/>
              </a:prstGeom>
              <a:solidFill>
                <a:schemeClr val="accent3"/>
              </a:solidFill>
              <a:ln>
                <a:noFill/>
              </a:ln>
            </p:spPr>
          </p:sp>
          <p:sp>
            <p:nvSpPr>
              <p:cNvPr id="33" name="Rectangle 33"/>
              <p:cNvSpPr/>
              <p:nvPr/>
            </p:nvSpPr>
            <p:spPr>
              <a:xfrm>
                <a:off x="3333750" y="11445907"/>
                <a:ext cx="6187154" cy="222218"/>
              </a:xfrm>
              <a:prstGeom prst="rect">
                <a:avLst/>
              </a:prstGeom>
              <a:solidFill>
                <a:schemeClr val="accent1"/>
              </a:solidFill>
              <a:ln>
                <a:noFill/>
              </a:ln>
            </p:spPr>
          </p:sp>
          <p:sp>
            <p:nvSpPr>
              <p:cNvPr id="34" name="Rectangle 34"/>
              <p:cNvSpPr/>
              <p:nvPr/>
            </p:nvSpPr>
            <p:spPr>
              <a:xfrm>
                <a:off x="3333750" y="11668125"/>
                <a:ext cx="5350954" cy="222218"/>
              </a:xfrm>
              <a:prstGeom prst="rect">
                <a:avLst/>
              </a:prstGeom>
              <a:solidFill>
                <a:schemeClr val="accent3"/>
              </a:solidFill>
              <a:ln>
                <a:noFill/>
              </a:ln>
            </p:spPr>
          </p:sp>
          <p:sp>
            <p:nvSpPr>
              <p:cNvPr id="35" name="TextBox 35"/>
              <p:cNvSpPr txBox="1"/>
              <p:nvPr/>
            </p:nvSpPr>
            <p:spPr>
              <a:xfrm>
                <a:off x="9756553" y="10127932"/>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38.0</a:t>
                </a:r>
              </a:p>
            </p:txBody>
          </p:sp>
          <p:sp>
            <p:nvSpPr>
              <p:cNvPr id="36" name="TextBox 36"/>
              <p:cNvSpPr txBox="1"/>
              <p:nvPr/>
            </p:nvSpPr>
            <p:spPr>
              <a:xfrm>
                <a:off x="9087707" y="10350818"/>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34.0</a:t>
                </a:r>
              </a:p>
            </p:txBody>
          </p:sp>
          <p:sp>
            <p:nvSpPr>
              <p:cNvPr id="37" name="TextBox 37"/>
              <p:cNvSpPr txBox="1"/>
              <p:nvPr/>
            </p:nvSpPr>
            <p:spPr>
              <a:xfrm>
                <a:off x="10258234" y="10794682"/>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41.0</a:t>
                </a:r>
              </a:p>
            </p:txBody>
          </p:sp>
          <p:sp>
            <p:nvSpPr>
              <p:cNvPr id="38" name="TextBox 38"/>
              <p:cNvSpPr txBox="1"/>
              <p:nvPr/>
            </p:nvSpPr>
            <p:spPr>
              <a:xfrm>
                <a:off x="9505855" y="11017568"/>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36.5</a:t>
                </a:r>
              </a:p>
            </p:txBody>
          </p:sp>
          <p:sp>
            <p:nvSpPr>
              <p:cNvPr id="39" name="TextBox 39"/>
              <p:cNvSpPr txBox="1"/>
              <p:nvPr/>
            </p:nvSpPr>
            <p:spPr>
              <a:xfrm>
                <a:off x="9589484" y="11461432"/>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37.0</a:t>
                </a:r>
              </a:p>
            </p:txBody>
          </p:sp>
          <p:sp>
            <p:nvSpPr>
              <p:cNvPr id="40" name="TextBox 40"/>
              <p:cNvSpPr txBox="1"/>
              <p:nvPr/>
            </p:nvSpPr>
            <p:spPr>
              <a:xfrm>
                <a:off x="8753284" y="11684318"/>
                <a:ext cx="40827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32.0</a:t>
                </a:r>
              </a:p>
            </p:txBody>
          </p:sp>
        </p:grpSp>
        <p:sp>
          <p:nvSpPr>
            <p:cNvPr id="42" name="TextBox 42"/>
            <p:cNvSpPr txBox="1"/>
            <p:nvPr/>
          </p:nvSpPr>
          <p:spPr>
            <a:xfrm>
              <a:off x="1979794" y="10239375"/>
              <a:ext cx="1247276"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UK 2022 pilot</a:t>
              </a:r>
            </a:p>
          </p:txBody>
        </p:sp>
        <p:sp>
          <p:nvSpPr>
            <p:cNvPr id="43" name="TextBox 43"/>
            <p:cNvSpPr txBox="1"/>
            <p:nvPr/>
          </p:nvSpPr>
          <p:spPr>
            <a:xfrm>
              <a:off x="1606109" y="10906125"/>
              <a:ext cx="1620961"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Portugal 2023–24</a:t>
              </a:r>
            </a:p>
          </p:txBody>
        </p:sp>
        <p:sp>
          <p:nvSpPr>
            <p:cNvPr id="44" name="TextBox 44"/>
            <p:cNvSpPr txBox="1"/>
            <p:nvPr/>
          </p:nvSpPr>
          <p:spPr>
            <a:xfrm>
              <a:off x="829410" y="11572875"/>
              <a:ext cx="2397660"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South Cambridgeshire DC</a:t>
              </a:r>
            </a:p>
          </p:txBody>
        </p:sp>
        <p:sp>
          <p:nvSpPr>
            <p:cNvPr id="45" name="TextBox 45"/>
            <p:cNvSpPr txBox="1"/>
            <p:nvPr/>
          </p:nvSpPr>
          <p:spPr>
            <a:xfrm>
              <a:off x="3269973" y="12087225"/>
              <a:ext cx="127553"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0</a:t>
              </a:r>
            </a:p>
          </p:txBody>
        </p:sp>
        <p:sp>
          <p:nvSpPr>
            <p:cNvPr id="46" name="TextBox 46"/>
            <p:cNvSpPr txBox="1"/>
            <p:nvPr/>
          </p:nvSpPr>
          <p:spPr>
            <a:xfrm>
              <a:off x="5722035" y="12087225"/>
              <a:ext cx="239867"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15</a:t>
              </a:r>
            </a:p>
          </p:txBody>
        </p:sp>
        <p:sp>
          <p:nvSpPr>
            <p:cNvPr id="47" name="TextBox 47"/>
            <p:cNvSpPr txBox="1"/>
            <p:nvPr/>
          </p:nvSpPr>
          <p:spPr>
            <a:xfrm>
              <a:off x="8230348" y="12087225"/>
              <a:ext cx="239867"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30</a:t>
              </a:r>
            </a:p>
          </p:txBody>
        </p:sp>
        <p:sp>
          <p:nvSpPr>
            <p:cNvPr id="48" name="TextBox 48"/>
            <p:cNvSpPr txBox="1"/>
            <p:nvPr/>
          </p:nvSpPr>
          <p:spPr>
            <a:xfrm>
              <a:off x="10738567" y="12087225"/>
              <a:ext cx="239867"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45</a:t>
              </a:r>
            </a:p>
          </p:txBody>
        </p:sp>
        <p:sp>
          <p:nvSpPr>
            <p:cNvPr id="49" name="TextBox 49"/>
            <p:cNvSpPr txBox="1"/>
            <p:nvPr/>
          </p:nvSpPr>
          <p:spPr>
            <a:xfrm>
              <a:off x="6473732" y="12372975"/>
              <a:ext cx="1244786"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Weekly hours</a:t>
              </a:r>
            </a:p>
          </p:txBody>
        </p:sp>
        <p:sp>
          <p:nvSpPr>
            <p:cNvPr id="50" name="Rectangle 50"/>
            <p:cNvSpPr/>
            <p:nvPr/>
          </p:nvSpPr>
          <p:spPr>
            <a:xfrm>
              <a:off x="4962525" y="12744450"/>
              <a:ext cx="171450" cy="171450"/>
            </a:xfrm>
            <a:prstGeom prst="rect">
              <a:avLst/>
            </a:prstGeom>
            <a:solidFill>
              <a:schemeClr val="accent1"/>
            </a:solidFill>
            <a:ln>
              <a:noFill/>
            </a:ln>
          </p:spPr>
        </p:sp>
        <p:sp>
          <p:nvSpPr>
            <p:cNvPr id="51" name="TextBox 51"/>
            <p:cNvSpPr txBox="1"/>
            <p:nvPr/>
          </p:nvSpPr>
          <p:spPr>
            <a:xfrm>
              <a:off x="5202555" y="12715875"/>
              <a:ext cx="1873347"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Weekly hours before</a:t>
              </a:r>
            </a:p>
          </p:txBody>
        </p:sp>
        <p:sp>
          <p:nvSpPr>
            <p:cNvPr id="52" name="Rectangle 52"/>
            <p:cNvSpPr/>
            <p:nvPr/>
          </p:nvSpPr>
          <p:spPr>
            <a:xfrm>
              <a:off x="7296150" y="12744450"/>
              <a:ext cx="171450" cy="171450"/>
            </a:xfrm>
            <a:prstGeom prst="rect">
              <a:avLst/>
            </a:prstGeom>
            <a:solidFill>
              <a:schemeClr val="accent3"/>
            </a:solidFill>
            <a:ln>
              <a:noFill/>
            </a:ln>
          </p:spPr>
        </p:sp>
        <p:sp>
          <p:nvSpPr>
            <p:cNvPr id="53" name="TextBox 53"/>
            <p:cNvSpPr txBox="1"/>
            <p:nvPr/>
          </p:nvSpPr>
          <p:spPr>
            <a:xfrm>
              <a:off x="7536180" y="12715875"/>
              <a:ext cx="1704605"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Weekly hours after</a:t>
              </a:r>
            </a:p>
          </p:txBody>
        </p:sp>
      </p:grpSp>
      <p:grpSp>
        <p:nvGrpSpPr>
          <p:cNvPr id="57" name="Group 57"/>
          <p:cNvGrpSpPr/>
          <p:nvPr/>
        </p:nvGrpSpPr>
        <p:grpSpPr>
          <a:xfrm>
            <a:off x="754380" y="13586460"/>
            <a:ext cx="2048294" cy="832485"/>
            <a:chOff x="754380" y="13586460"/>
            <a:chExt cx="2048294" cy="832485"/>
          </a:xfrm>
        </p:grpSpPr>
        <p:sp>
          <p:nvSpPr>
            <p:cNvPr id="55" name="TextBox 55"/>
            <p:cNvSpPr txBox="1"/>
            <p:nvPr/>
          </p:nvSpPr>
          <p:spPr>
            <a:xfrm>
              <a:off x="755904" y="13586460"/>
              <a:ext cx="1284773" cy="234696"/>
            </a:xfrm>
            <a:prstGeom prst="rect">
              <a:avLst/>
            </a:prstGeom>
            <a:noFill/>
            <a:ln>
              <a:noFill/>
            </a:ln>
          </p:spPr>
          <p:txBody>
            <a:bodyPr wrap="none" lIns="0" tIns="0" rIns="0" bIns="0" anchor="t" anchorCtr="0">
              <a:spAutoFit/>
            </a:bodyPr>
            <a:lstStyle/>
            <a:p>
              <a:pPr algn="l"/>
              <a:r>
                <a:rPr lang="en-GB" sz="1200" b="1" spc="120" dirty="0">
                  <a:solidFill>
                    <a:schemeClr val="accent2"/>
                  </a:solidFill>
                  <a:latin typeface="+mn-lt"/>
                  <a:ea typeface="+mn-ea"/>
                  <a:cs typeface="+mn-cs"/>
                </a:rPr>
                <a:t>RESOLUTION</a:t>
              </a:r>
            </a:p>
          </p:txBody>
        </p:sp>
        <p:sp>
          <p:nvSpPr>
            <p:cNvPr id="56" name="TextBox 56"/>
            <p:cNvSpPr txBox="1"/>
            <p:nvPr/>
          </p:nvSpPr>
          <p:spPr>
            <a:xfrm>
              <a:off x="754380" y="13877925"/>
              <a:ext cx="2048294"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The question this memo</a:t>
              </a:r>
              <a:br/>
              <a:r>
                <a:rPr lang="en-GB" sz="1500" dirty="0">
                  <a:solidFill>
                    <a:schemeClr val="accent5"/>
                  </a:solidFill>
                  <a:latin typeface="+mn-lt"/>
                  <a:ea typeface="+mn-ea"/>
                  <a:cs typeface="+mn-cs"/>
                </a:rPr>
                <a:t>answers.</a:t>
              </a:r>
            </a:p>
          </p:txBody>
        </p:sp>
      </p:grpSp>
      <p:grpSp>
        <p:nvGrpSpPr>
          <p:cNvPr id="60" name="!!governing-question"/>
          <p:cNvGrpSpPr/>
          <p:nvPr/>
        </p:nvGrpSpPr>
        <p:grpSpPr>
          <a:xfrm>
            <a:off x="4381500" y="13525500"/>
            <a:ext cx="6667500" cy="1581150"/>
            <a:chOff x="4381500" y="13525500"/>
            <a:chExt cx="6667500" cy="1581150"/>
          </a:xfrm>
        </p:grpSpPr>
        <p:sp>
          <p:nvSpPr>
            <p:cNvPr id="58" name="Rectangle 58"/>
            <p:cNvSpPr/>
            <p:nvPr/>
          </p:nvSpPr>
          <p:spPr>
            <a:xfrm>
              <a:off x="4381500" y="13525500"/>
              <a:ext cx="6667500" cy="1581150"/>
            </a:xfrm>
            <a:prstGeom prst="rect">
              <a:avLst/>
            </a:prstGeom>
            <a:solidFill>
              <a:schemeClr val="lt2"/>
            </a:solidFill>
            <a:ln>
              <a:noFill/>
            </a:ln>
          </p:spPr>
        </p:sp>
        <p:sp>
          <p:nvSpPr>
            <p:cNvPr id="59" name="TextBox 59"/>
            <p:cNvSpPr txBox="1"/>
            <p:nvPr/>
          </p:nvSpPr>
          <p:spPr>
            <a:xfrm>
              <a:off x="4562094" y="13619798"/>
              <a:ext cx="5609322"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So the question is not “should we adopt a four-day</a:t>
              </a:r>
              <a:br/>
              <a:r>
                <a:rPr lang="en-GB" sz="1950" dirty="0">
                  <a:solidFill>
                    <a:schemeClr val="dk1"/>
                  </a:solidFill>
                  <a:latin typeface="+mn-lt"/>
                  <a:ea typeface="+mn-ea"/>
                  <a:cs typeface="+mn-cs"/>
                </a:rPr>
                <a:t>week”. It is: how many hours can this firm recover</a:t>
              </a:r>
              <a:br/>
              <a:r>
                <a:rPr lang="en-GB" sz="1950" dirty="0">
                  <a:solidFill>
                    <a:schemeClr val="dk1"/>
                  </a:solidFill>
                  <a:latin typeface="+mn-lt"/>
                  <a:ea typeface="+mn-ea"/>
                  <a:cs typeface="+mn-cs"/>
                </a:rPr>
                <a:t>through redesign, and what does removing the rest</a:t>
              </a:r>
              <a:br/>
              <a:r>
                <a:rPr lang="en-GB" sz="1950" dirty="0">
                  <a:solidFill>
                    <a:schemeClr val="dk1"/>
                  </a:solidFill>
                  <a:latin typeface="+mn-lt"/>
                  <a:ea typeface="+mn-ea"/>
                  <a:cs typeface="+mn-cs"/>
                </a:rPr>
                <a:t>cost in client service?</a:t>
              </a:r>
            </a:p>
          </p:txBody>
        </p:sp>
      </p:grpSp>
      <p:grpSp>
        <p:nvGrpSpPr>
          <p:cNvPr id="64" name="Group 64"/>
          <p:cNvGrpSpPr/>
          <p:nvPr/>
        </p:nvGrpSpPr>
        <p:grpSpPr>
          <a:xfrm>
            <a:off x="755904" y="15582900"/>
            <a:ext cx="10299192" cy="409956"/>
            <a:chOff x="755904" y="15582900"/>
            <a:chExt cx="10299192" cy="409956"/>
          </a:xfrm>
        </p:grpSpPr>
        <p:sp>
          <p:nvSpPr>
            <p:cNvPr id="61" name="Line 61"/>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62" name="TextBox 62"/>
            <p:cNvSpPr txBox="1"/>
            <p:nvPr/>
          </p:nvSpPr>
          <p:spPr>
            <a:xfrm>
              <a:off x="755904" y="15758160"/>
              <a:ext cx="658539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ONS · Portugal final report (2024) · South Cambridgeshire DC</a:t>
              </a:r>
            </a:p>
          </p:txBody>
        </p:sp>
        <p:sp>
          <p:nvSpPr>
            <p:cNvPr id="63" name="TextBox 63"/>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2 of 10</a:t>
              </a:r>
            </a:p>
          </p:txBody>
        </p:sp>
      </p:grpSp>
    </p:spTree>
  </p:cSld>
  <p:clrMapOvr>
    <a:masterClrMapping/>
  </p:clrMapOvr>
  <p:transitio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600"/>
                                        <p:tgtEl>
                                          <p:spTgt spid="54"/>
                                        </p:tgtEl>
                                      </p:cBhvr>
                                    </p:animEffect>
                                  </p:childTnLst>
                                </p:cTn>
                              </p:par>
                            </p:childTnLst>
                          </p:cTn>
                        </p:par>
                        <p:par>
                          <p:cTn id="16" fill="hold">
                            <p:stCondLst>
                              <p:cond delay="2400"/>
                            </p:stCondLst>
                            <p:childTnLst>
                              <p:par>
                                <p:cTn id="17" presetID="10" presetClass="entr" presetSubtype="0" fill="hold" grpId="0" nodeType="afterEffect">
                                  <p:stCondLst>
                                    <p:cond delay="30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9286907" y="937260"/>
              <a:ext cx="1768189"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3 · Driver decomposition</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45236" y="1548765"/>
            <a:ext cx="8393819" cy="1159764"/>
            <a:chOff x="745236" y="1548765"/>
            <a:chExt cx="8393819" cy="1159764"/>
          </a:xfrm>
        </p:grpSpPr>
        <p:sp>
          <p:nvSpPr>
            <p:cNvPr id="6" name="TextBox 6"/>
            <p:cNvSpPr txBox="1"/>
            <p:nvPr/>
          </p:nvSpPr>
          <p:spPr>
            <a:xfrm>
              <a:off x="745236" y="1548765"/>
              <a:ext cx="8393819"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Three of the four drivers are ours; the one</a:t>
              </a:r>
              <a:br/>
              <a:r>
                <a:rPr lang="en-GB" sz="3300" b="1" dirty="0">
                  <a:solidFill>
                    <a:schemeClr val="dk1"/>
                  </a:solidFill>
                  <a:latin typeface="+mn-lt"/>
                  <a:ea typeface="+mn-ea"/>
                  <a:cs typeface="+mn-cs"/>
                </a:rPr>
                <a:t>that stopped a consultancy is not</a:t>
              </a:r>
            </a:p>
          </p:txBody>
        </p:sp>
      </p:grpSp>
      <p:grpSp>
        <p:nvGrpSpPr>
          <p:cNvPr id="9" name="Group 9"/>
          <p:cNvGrpSpPr/>
          <p:nvPr/>
        </p:nvGrpSpPr>
        <p:grpSpPr>
          <a:xfrm>
            <a:off x="750570" y="2767012"/>
            <a:ext cx="8982380" cy="840105"/>
            <a:chOff x="750570" y="2767012"/>
            <a:chExt cx="8982380" cy="840105"/>
          </a:xfrm>
        </p:grpSpPr>
        <p:sp>
          <p:nvSpPr>
            <p:cNvPr id="8" name="TextBox 8"/>
            <p:cNvSpPr txBox="1"/>
            <p:nvPr/>
          </p:nvSpPr>
          <p:spPr>
            <a:xfrm>
              <a:off x="750570" y="2767012"/>
              <a:ext cx="8982380"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Whether 100-80-100 holds here is decided by four conditions, and only</a:t>
              </a:r>
              <a:br/>
              <a:r>
                <a:rPr lang="en-GB" sz="2250" dirty="0">
                  <a:solidFill>
                    <a:schemeClr val="accent3"/>
                  </a:solidFill>
                  <a:latin typeface="+mn-lt"/>
                  <a:ea typeface="+mn-ea"/>
                  <a:cs typeface="+mn-cs"/>
                </a:rPr>
                <a:t>one of them sits outside our control.</a:t>
              </a:r>
            </a:p>
          </p:txBody>
        </p:sp>
      </p:grpSp>
      <p:grpSp>
        <p:nvGrpSpPr>
          <p:cNvPr id="12" name="!!governing-question"/>
          <p:cNvGrpSpPr/>
          <p:nvPr/>
        </p:nvGrpSpPr>
        <p:grpSpPr>
          <a:xfrm>
            <a:off x="762000" y="3524250"/>
            <a:ext cx="10287000" cy="1238250"/>
            <a:chOff x="762000" y="3524250"/>
            <a:chExt cx="10287000" cy="1238250"/>
          </a:xfrm>
        </p:grpSpPr>
        <p:sp>
          <p:nvSpPr>
            <p:cNvPr id="10" name="Rectangle 10"/>
            <p:cNvSpPr/>
            <p:nvPr/>
          </p:nvSpPr>
          <p:spPr>
            <a:xfrm>
              <a:off x="762000" y="3524250"/>
              <a:ext cx="10287000" cy="1238250"/>
            </a:xfrm>
            <a:prstGeom prst="rect">
              <a:avLst/>
            </a:prstGeom>
            <a:solidFill>
              <a:schemeClr val="lt2"/>
            </a:solidFill>
            <a:ln>
              <a:noFill/>
            </a:ln>
          </p:spPr>
        </p:sp>
        <p:sp>
          <p:nvSpPr>
            <p:cNvPr id="11" name="TextBox 11"/>
            <p:cNvSpPr txBox="1"/>
            <p:nvPr/>
          </p:nvSpPr>
          <p:spPr>
            <a:xfrm>
              <a:off x="980694" y="3770948"/>
              <a:ext cx="8899006" cy="7433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Governing question: how many hours can this firm recover through redesign, and</a:t>
              </a:r>
              <a:br/>
              <a:r>
                <a:rPr lang="en-GB" sz="1950" dirty="0">
                  <a:solidFill>
                    <a:schemeClr val="dk1"/>
                  </a:solidFill>
                  <a:latin typeface="+mn-lt"/>
                  <a:ea typeface="+mn-ea"/>
                  <a:cs typeface="+mn-cs"/>
                </a:rPr>
                <a:t>what does removing the rest cost in client service?</a:t>
              </a:r>
            </a:p>
          </p:txBody>
        </p:sp>
      </p:grpSp>
      <p:grpSp>
        <p:nvGrpSpPr>
          <p:cNvPr id="14" name="Group 14"/>
          <p:cNvGrpSpPr/>
          <p:nvPr/>
        </p:nvGrpSpPr>
        <p:grpSpPr>
          <a:xfrm>
            <a:off x="1898904" y="4804410"/>
            <a:ext cx="2227074" cy="234696"/>
            <a:chOff x="1898904" y="4804410"/>
            <a:chExt cx="2227074" cy="234696"/>
          </a:xfrm>
        </p:grpSpPr>
        <p:sp>
          <p:nvSpPr>
            <p:cNvPr id="13" name="TextBox 13"/>
            <p:cNvSpPr txBox="1"/>
            <p:nvPr/>
          </p:nvSpPr>
          <p:spPr>
            <a:xfrm>
              <a:off x="1898904" y="4804410"/>
              <a:ext cx="2227074" cy="234696"/>
            </a:xfrm>
            <a:prstGeom prst="rect">
              <a:avLst/>
            </a:prstGeom>
            <a:noFill/>
            <a:ln>
              <a:noFill/>
            </a:ln>
          </p:spPr>
          <p:txBody>
            <a:bodyPr wrap="none" lIns="0" tIns="0" rIns="0" bIns="0" anchor="t" anchorCtr="0">
              <a:spAutoFit/>
            </a:bodyPr>
            <a:lstStyle/>
            <a:p>
              <a:pPr algn="l"/>
              <a:r>
                <a:rPr lang="en-GB" sz="1200" b="1" spc="120" dirty="0">
                  <a:solidFill>
                    <a:schemeClr val="accent5"/>
                  </a:solidFill>
                  <a:latin typeface="+mn-lt"/>
                  <a:ea typeface="+mn-ea"/>
                  <a:cs typeface="+mn-cs"/>
                </a:rPr>
                <a:t>WITHIN OUR CONTROL</a:t>
              </a:r>
            </a:p>
          </p:txBody>
        </p:sp>
      </p:grpSp>
      <p:sp>
        <p:nvSpPr>
          <p:cNvPr id="15" name="Freeform 15"/>
          <p:cNvSpPr/>
          <p:nvPr/>
        </p:nvSpPr>
        <p:spPr>
          <a:xfrm>
            <a:off x="1143000" y="5048250"/>
            <a:ext cx="381000" cy="6362700"/>
          </a:xfrm>
          <a:prstGeom prst="leftBrace">
            <a:avLst/>
          </a:prstGeom>
          <a:noFill/>
          <a:ln w="19050">
            <a:solidFill>
              <a:srgbClr val="5C6871"/>
            </a:solidFill>
          </a:ln>
        </p:spPr>
      </p:sp>
      <p:grpSp>
        <p:nvGrpSpPr>
          <p:cNvPr id="19" name="Group 19"/>
          <p:cNvGrpSpPr/>
          <p:nvPr/>
        </p:nvGrpSpPr>
        <p:grpSpPr>
          <a:xfrm>
            <a:off x="1892046" y="5096828"/>
            <a:ext cx="9163050" cy="1970151"/>
            <a:chOff x="1892046" y="5096828"/>
            <a:chExt cx="9163050" cy="1970151"/>
          </a:xfrm>
        </p:grpSpPr>
        <p:sp>
          <p:nvSpPr>
            <p:cNvPr id="16" name="TextBox 16"/>
            <p:cNvSpPr txBox="1"/>
            <p:nvPr/>
          </p:nvSpPr>
          <p:spPr>
            <a:xfrm>
              <a:off x="1892046" y="5096828"/>
              <a:ext cx="3414916" cy="498729"/>
            </a:xfrm>
            <a:prstGeom prst="rect">
              <a:avLst/>
            </a:prstGeom>
            <a:noFill/>
            <a:ln>
              <a:noFill/>
            </a:ln>
          </p:spPr>
          <p:txBody>
            <a:bodyPr wrap="none" lIns="0" tIns="0" rIns="0" bIns="0" anchor="t" anchorCtr="0">
              <a:spAutoFit/>
            </a:bodyPr>
            <a:lstStyle/>
            <a:p>
              <a:pPr algn="l"/>
              <a:r>
                <a:rPr lang="en-GB" sz="2550" b="1" dirty="0">
                  <a:solidFill>
                    <a:schemeClr val="dk1"/>
                  </a:solidFill>
                  <a:latin typeface="+mn-lt"/>
                  <a:ea typeface="+mn-ea"/>
                  <a:cs typeface="+mn-cs"/>
                </a:rPr>
                <a:t>1 Recoverable hours</a:t>
              </a:r>
            </a:p>
          </p:txBody>
        </p:sp>
        <p:sp>
          <p:nvSpPr>
            <p:cNvPr id="17" name="TextBox 17"/>
            <p:cNvSpPr txBox="1"/>
            <p:nvPr/>
          </p:nvSpPr>
          <p:spPr>
            <a:xfrm>
              <a:off x="10113098" y="5242560"/>
              <a:ext cx="941998" cy="234696"/>
            </a:xfrm>
            <a:prstGeom prst="rect">
              <a:avLst/>
            </a:prstGeom>
            <a:noFill/>
            <a:ln>
              <a:noFill/>
            </a:ln>
          </p:spPr>
          <p:txBody>
            <a:bodyPr wrap="none" lIns="0" tIns="0" rIns="0" bIns="0" anchor="t" anchorCtr="0">
              <a:spAutoFit/>
            </a:bodyPr>
            <a:lstStyle/>
            <a:p>
              <a:pPr algn="r"/>
              <a:r>
                <a:rPr lang="en-GB" sz="1200" dirty="0">
                  <a:solidFill>
                    <a:srgbClr val="6E777E"/>
                  </a:solidFill>
                  <a:latin typeface="+mn-lt"/>
                  <a:ea typeface="+mn-ea"/>
                  <a:cs typeface="+mn-cs"/>
                </a:rPr>
                <a:t>F021 · F050</a:t>
              </a:r>
            </a:p>
          </p:txBody>
        </p:sp>
        <p:sp>
          <p:nvSpPr>
            <p:cNvPr id="18" name="TextBox 18"/>
            <p:cNvSpPr txBox="1"/>
            <p:nvPr/>
          </p:nvSpPr>
          <p:spPr>
            <a:xfrm>
              <a:off x="1895094" y="5599748"/>
              <a:ext cx="7949615"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The pilots’ main levers were shorter and fewer meetings with clearer</a:t>
              </a:r>
              <a:br/>
              <a:r>
                <a:rPr lang="en-GB" sz="1950" dirty="0">
                  <a:solidFill>
                    <a:schemeClr val="dk1"/>
                  </a:solidFill>
                  <a:latin typeface="+mn-lt"/>
                  <a:ea typeface="+mn-ea"/>
                  <a:cs typeface="+mn-cs"/>
                </a:rPr>
                <a:t>agendas, email-etiquette reform, protected focus periods and automated</a:t>
              </a:r>
              <a:br/>
              <a:r>
                <a:rPr lang="en-GB" sz="1950" dirty="0">
                  <a:solidFill>
                    <a:schemeClr val="dk1"/>
                  </a:solidFill>
                  <a:latin typeface="+mn-lt"/>
                  <a:ea typeface="+mn-ea"/>
                  <a:cs typeface="+mn-cs"/>
                </a:rPr>
                <a:t>reporting. Germany’s participants named meeting culture and reduced</a:t>
              </a:r>
              <a:br/>
              <a:r>
                <a:rPr lang="en-GB" sz="1950" dirty="0">
                  <a:solidFill>
                    <a:schemeClr val="dk1"/>
                  </a:solidFill>
                  <a:latin typeface="+mn-lt"/>
                  <a:ea typeface="+mn-ea"/>
                  <a:cs typeface="+mn-cs"/>
                </a:rPr>
                <a:t>distraction as their main efficiency levers.</a:t>
              </a:r>
            </a:p>
          </p:txBody>
        </p:sp>
      </p:grpSp>
      <p:grpSp>
        <p:nvGrpSpPr>
          <p:cNvPr id="23" name="Group 23"/>
          <p:cNvGrpSpPr/>
          <p:nvPr/>
        </p:nvGrpSpPr>
        <p:grpSpPr>
          <a:xfrm>
            <a:off x="1892046" y="7287578"/>
            <a:ext cx="9163050" cy="1970151"/>
            <a:chOff x="1892046" y="7287578"/>
            <a:chExt cx="9163050" cy="1970151"/>
          </a:xfrm>
        </p:grpSpPr>
        <p:sp>
          <p:nvSpPr>
            <p:cNvPr id="20" name="TextBox 20"/>
            <p:cNvSpPr txBox="1"/>
            <p:nvPr/>
          </p:nvSpPr>
          <p:spPr>
            <a:xfrm>
              <a:off x="1892046" y="7287578"/>
              <a:ext cx="2841164" cy="498729"/>
            </a:xfrm>
            <a:prstGeom prst="rect">
              <a:avLst/>
            </a:prstGeom>
            <a:noFill/>
            <a:ln>
              <a:noFill/>
            </a:ln>
          </p:spPr>
          <p:txBody>
            <a:bodyPr wrap="none" lIns="0" tIns="0" rIns="0" bIns="0" anchor="t" anchorCtr="0">
              <a:spAutoFit/>
            </a:bodyPr>
            <a:lstStyle/>
            <a:p>
              <a:pPr algn="l"/>
              <a:r>
                <a:rPr lang="en-GB" sz="2550" b="1" dirty="0">
                  <a:solidFill>
                    <a:schemeClr val="dk1"/>
                  </a:solidFill>
                  <a:latin typeface="+mn-lt"/>
                  <a:ea typeface="+mn-ea"/>
                  <a:cs typeface="+mn-cs"/>
                </a:rPr>
                <a:t>2 Redesign effort</a:t>
              </a:r>
            </a:p>
          </p:txBody>
        </p:sp>
        <p:sp>
          <p:nvSpPr>
            <p:cNvPr id="21" name="TextBox 21"/>
            <p:cNvSpPr txBox="1"/>
            <p:nvPr/>
          </p:nvSpPr>
          <p:spPr>
            <a:xfrm>
              <a:off x="10653838" y="7433310"/>
              <a:ext cx="401258" cy="234696"/>
            </a:xfrm>
            <a:prstGeom prst="rect">
              <a:avLst/>
            </a:prstGeom>
            <a:noFill/>
            <a:ln>
              <a:noFill/>
            </a:ln>
          </p:spPr>
          <p:txBody>
            <a:bodyPr wrap="none" lIns="0" tIns="0" rIns="0" bIns="0" anchor="t" anchorCtr="0">
              <a:spAutoFit/>
            </a:bodyPr>
            <a:lstStyle/>
            <a:p>
              <a:pPr algn="r"/>
              <a:r>
                <a:rPr lang="en-GB" sz="1200" dirty="0">
                  <a:solidFill>
                    <a:srgbClr val="6E777E"/>
                  </a:solidFill>
                  <a:latin typeface="+mn-lt"/>
                  <a:ea typeface="+mn-ea"/>
                  <a:cs typeface="+mn-cs"/>
                </a:rPr>
                <a:t>F045</a:t>
              </a:r>
            </a:p>
          </p:txBody>
        </p:sp>
        <p:sp>
          <p:nvSpPr>
            <p:cNvPr id="22" name="TextBox 22"/>
            <p:cNvSpPr txBox="1"/>
            <p:nvPr/>
          </p:nvSpPr>
          <p:spPr>
            <a:xfrm>
              <a:off x="1895094" y="7790498"/>
              <a:ext cx="7990477"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Only 8% of Portuguese companies that made two or more organisational</a:t>
              </a:r>
              <a:br/>
              <a:r>
                <a:rPr lang="en-GB" sz="1950" dirty="0">
                  <a:solidFill>
                    <a:schemeClr val="dk1"/>
                  </a:solidFill>
                  <a:latin typeface="+mn-lt"/>
                  <a:ea typeface="+mn-ea"/>
                  <a:cs typeface="+mn-cs"/>
                </a:rPr>
                <a:t>changes reverted to five days, against 38% of those that made none or</a:t>
              </a:r>
              <a:br/>
              <a:r>
                <a:rPr lang="en-GB" sz="1950" dirty="0">
                  <a:solidFill>
                    <a:schemeClr val="dk1"/>
                  </a:solidFill>
                  <a:latin typeface="+mn-lt"/>
                  <a:ea typeface="+mn-ea"/>
                  <a:cs typeface="+mn-cs"/>
                </a:rPr>
                <a:t>one. Three-quarters made at least one change, and 87% reported active</a:t>
              </a:r>
              <a:br/>
              <a:r>
                <a:rPr lang="en-GB" sz="1950" dirty="0">
                  <a:solidFill>
                    <a:schemeClr val="dk1"/>
                  </a:solidFill>
                  <a:latin typeface="+mn-lt"/>
                  <a:ea typeface="+mn-ea"/>
                  <a:cs typeface="+mn-cs"/>
                </a:rPr>
                <a:t>worker participation in redesigning processes.</a:t>
              </a:r>
            </a:p>
          </p:txBody>
        </p:sp>
      </p:grpSp>
      <p:grpSp>
        <p:nvGrpSpPr>
          <p:cNvPr id="27" name="Group 27"/>
          <p:cNvGrpSpPr/>
          <p:nvPr/>
        </p:nvGrpSpPr>
        <p:grpSpPr>
          <a:xfrm>
            <a:off x="1892046" y="9478328"/>
            <a:ext cx="9163050" cy="1970151"/>
            <a:chOff x="1892046" y="9478328"/>
            <a:chExt cx="9163050" cy="1970151"/>
          </a:xfrm>
        </p:grpSpPr>
        <p:sp>
          <p:nvSpPr>
            <p:cNvPr id="24" name="TextBox 24"/>
            <p:cNvSpPr txBox="1"/>
            <p:nvPr/>
          </p:nvSpPr>
          <p:spPr>
            <a:xfrm>
              <a:off x="1892046" y="9478328"/>
              <a:ext cx="3795554" cy="498729"/>
            </a:xfrm>
            <a:prstGeom prst="rect">
              <a:avLst/>
            </a:prstGeom>
            <a:noFill/>
            <a:ln>
              <a:noFill/>
            </a:ln>
          </p:spPr>
          <p:txBody>
            <a:bodyPr wrap="none" lIns="0" tIns="0" rIns="0" bIns="0" anchor="t" anchorCtr="0">
              <a:spAutoFit/>
            </a:bodyPr>
            <a:lstStyle/>
            <a:p>
              <a:pPr algn="l"/>
              <a:r>
                <a:rPr lang="en-GB" sz="2550" b="1" dirty="0">
                  <a:solidFill>
                    <a:schemeClr val="dk1"/>
                  </a:solidFill>
                  <a:latin typeface="+mn-lt"/>
                  <a:ea typeface="+mn-ea"/>
                  <a:cs typeface="+mn-cs"/>
                </a:rPr>
                <a:t>3 Retention economics</a:t>
              </a:r>
            </a:p>
          </p:txBody>
        </p:sp>
        <p:sp>
          <p:nvSpPr>
            <p:cNvPr id="25" name="TextBox 25"/>
            <p:cNvSpPr txBox="1"/>
            <p:nvPr/>
          </p:nvSpPr>
          <p:spPr>
            <a:xfrm>
              <a:off x="9572359" y="9624060"/>
              <a:ext cx="1482737" cy="234696"/>
            </a:xfrm>
            <a:prstGeom prst="rect">
              <a:avLst/>
            </a:prstGeom>
            <a:noFill/>
            <a:ln>
              <a:noFill/>
            </a:ln>
          </p:spPr>
          <p:txBody>
            <a:bodyPr wrap="none" lIns="0" tIns="0" rIns="0" bIns="0" anchor="t" anchorCtr="0">
              <a:spAutoFit/>
            </a:bodyPr>
            <a:lstStyle/>
            <a:p>
              <a:pPr algn="r"/>
              <a:r>
                <a:rPr lang="en-GB" sz="1200" dirty="0">
                  <a:solidFill>
                    <a:srgbClr val="6E777E"/>
                  </a:solidFill>
                  <a:latin typeface="+mn-lt"/>
                  <a:ea typeface="+mn-ea"/>
                  <a:cs typeface="+mn-cs"/>
                </a:rPr>
                <a:t>F008 · F065 · F070</a:t>
              </a:r>
            </a:p>
          </p:txBody>
        </p:sp>
        <p:sp>
          <p:nvSpPr>
            <p:cNvPr id="26" name="TextBox 26"/>
            <p:cNvSpPr txBox="1"/>
            <p:nvPr/>
          </p:nvSpPr>
          <p:spPr>
            <a:xfrm>
              <a:off x="1895094" y="9981248"/>
              <a:ext cx="7922423"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Resignations fell from 2.0 to 0.8 per 100 employees in the UK pilot, and</a:t>
              </a:r>
              <a:br/>
              <a:r>
                <a:rPr lang="en-GB" sz="1950" dirty="0">
                  <a:solidFill>
                    <a:schemeClr val="dk1"/>
                  </a:solidFill>
                  <a:latin typeface="+mn-lt"/>
                  <a:ea typeface="+mn-ea"/>
                  <a:cs typeface="+mn-cs"/>
                </a:rPr>
                <a:t>Awin reports regrettable turnover down 33%. The most-cited UK</a:t>
              </a:r>
              <a:br/>
              <a:r>
                <a:rPr lang="en-GB" sz="1950" dirty="0">
                  <a:solidFill>
                    <a:schemeClr val="dk1"/>
                  </a:solidFill>
                  <a:latin typeface="+mn-lt"/>
                  <a:ea typeface="+mn-ea"/>
                  <a:cs typeface="+mn-cs"/>
                </a:rPr>
                <a:t>replacement cost, £30,614, is a 2014 figure and is not inflation-adjusted,</a:t>
              </a:r>
              <a:br/>
              <a:r>
                <a:rPr lang="en-GB" sz="1950" dirty="0">
                  <a:solidFill>
                    <a:schemeClr val="dk1"/>
                  </a:solidFill>
                  <a:latin typeface="+mn-lt"/>
                  <a:ea typeface="+mn-ea"/>
                  <a:cs typeface="+mn-cs"/>
                </a:rPr>
                <a:t>so any saving from it is illustrative arithmetic.</a:t>
              </a:r>
            </a:p>
          </p:txBody>
        </p:sp>
      </p:grpSp>
      <p:grpSp>
        <p:nvGrpSpPr>
          <p:cNvPr id="35" name="Group 35"/>
          <p:cNvGrpSpPr/>
          <p:nvPr/>
        </p:nvGrpSpPr>
        <p:grpSpPr>
          <a:xfrm>
            <a:off x="1892046" y="11715750"/>
            <a:ext cx="9163050" cy="3104579"/>
            <a:chOff x="1892046" y="11715750"/>
            <a:chExt cx="9163050" cy="3104579"/>
          </a:xfrm>
        </p:grpSpPr>
        <p:sp>
          <p:nvSpPr>
            <p:cNvPr id="28" name="Line 28"/>
            <p:cNvSpPr/>
            <p:nvPr/>
          </p:nvSpPr>
          <p:spPr>
            <a:xfrm>
              <a:off x="1905000" y="11715750"/>
              <a:ext cx="9144000" cy="9525"/>
            </a:xfrm>
            <a:custGeom>
              <a:avLst/>
              <a:gdLst/>
              <a:ahLst/>
              <a:cxnLst/>
              <a:rect l="l" t="t" r="r" b="b"/>
              <a:pathLst>
                <a:path w="9144000" h="9525">
                  <a:moveTo>
                    <a:pt x="0" y="0"/>
                  </a:moveTo>
                  <a:lnTo>
                    <a:pt x="9144000" y="0"/>
                  </a:lnTo>
                </a:path>
              </a:pathLst>
            </a:custGeom>
            <a:noFill/>
            <a:ln w="9525">
              <a:solidFill>
                <a:schemeClr val="accent6"/>
              </a:solidFill>
            </a:ln>
          </p:spPr>
        </p:sp>
        <p:sp>
          <p:nvSpPr>
            <p:cNvPr id="29" name="TextBox 29"/>
            <p:cNvSpPr txBox="1"/>
            <p:nvPr/>
          </p:nvSpPr>
          <p:spPr>
            <a:xfrm>
              <a:off x="1892046" y="12050078"/>
              <a:ext cx="2898297" cy="498729"/>
            </a:xfrm>
            <a:prstGeom prst="rect">
              <a:avLst/>
            </a:prstGeom>
            <a:noFill/>
            <a:ln>
              <a:noFill/>
            </a:ln>
          </p:spPr>
          <p:txBody>
            <a:bodyPr wrap="none" lIns="0" tIns="0" rIns="0" bIns="0" anchor="t" anchorCtr="0">
              <a:spAutoFit/>
            </a:bodyPr>
            <a:lstStyle/>
            <a:p>
              <a:pPr algn="l"/>
              <a:r>
                <a:rPr lang="en-GB" sz="2550" b="1" dirty="0">
                  <a:solidFill>
                    <a:schemeClr val="dk1"/>
                  </a:solidFill>
                  <a:latin typeface="+mn-lt"/>
                  <a:ea typeface="+mn-ea"/>
                  <a:cs typeface="+mn-cs"/>
                </a:rPr>
                <a:t>4 Client tolerance</a:t>
              </a:r>
            </a:p>
          </p:txBody>
        </p:sp>
        <p:sp>
          <p:nvSpPr>
            <p:cNvPr id="30" name="Freeform 30"/>
            <p:cNvSpPr/>
            <p:nvPr/>
          </p:nvSpPr>
          <p:spPr>
            <a:xfrm>
              <a:off x="5048250" y="12096750"/>
              <a:ext cx="266700" cy="250031"/>
            </a:xfrm>
            <a:custGeom>
              <a:avLst/>
              <a:gdLst/>
              <a:ahLst/>
              <a:cxnLst/>
              <a:rect l="l" t="t" r="r" b="b"/>
              <a:pathLst>
                <a:path w="266700" h="250031">
                  <a:moveTo>
                    <a:pt x="266700" y="250031"/>
                  </a:moveTo>
                  <a:lnTo>
                    <a:pt x="0" y="250031"/>
                  </a:lnTo>
                  <a:lnTo>
                    <a:pt x="0" y="200025"/>
                  </a:lnTo>
                  <a:lnTo>
                    <a:pt x="116681" y="0"/>
                  </a:lnTo>
                  <a:lnTo>
                    <a:pt x="150019" y="0"/>
                  </a:lnTo>
                  <a:lnTo>
                    <a:pt x="266700" y="200025"/>
                  </a:lnTo>
                  <a:lnTo>
                    <a:pt x="266700" y="250031"/>
                  </a:lnTo>
                  <a:close/>
                  <a:moveTo>
                    <a:pt x="116681" y="66675"/>
                  </a:moveTo>
                  <a:lnTo>
                    <a:pt x="150019" y="66675"/>
                  </a:lnTo>
                  <a:lnTo>
                    <a:pt x="150019" y="150019"/>
                  </a:lnTo>
                  <a:lnTo>
                    <a:pt x="116681" y="150019"/>
                  </a:lnTo>
                  <a:lnTo>
                    <a:pt x="116681" y="66675"/>
                  </a:lnTo>
                  <a:close/>
                  <a:moveTo>
                    <a:pt x="116681" y="183356"/>
                  </a:moveTo>
                  <a:lnTo>
                    <a:pt x="150019" y="183356"/>
                  </a:lnTo>
                  <a:lnTo>
                    <a:pt x="150019" y="216694"/>
                  </a:lnTo>
                  <a:lnTo>
                    <a:pt x="116681" y="216694"/>
                  </a:lnTo>
                  <a:lnTo>
                    <a:pt x="116681" y="183356"/>
                  </a:lnTo>
                  <a:close/>
                </a:path>
              </a:pathLst>
            </a:custGeom>
            <a:solidFill>
              <a:schemeClr val="accent2"/>
            </a:solidFill>
            <a:ln>
              <a:noFill/>
            </a:ln>
          </p:spPr>
        </p:sp>
        <p:sp>
          <p:nvSpPr>
            <p:cNvPr id="31" name="TextBox 31"/>
            <p:cNvSpPr txBox="1"/>
            <p:nvPr/>
          </p:nvSpPr>
          <p:spPr>
            <a:xfrm>
              <a:off x="5442204" y="12195810"/>
              <a:ext cx="3553149" cy="234696"/>
            </a:xfrm>
            <a:prstGeom prst="rect">
              <a:avLst/>
            </a:prstGeom>
            <a:noFill/>
            <a:ln>
              <a:noFill/>
            </a:ln>
          </p:spPr>
          <p:txBody>
            <a:bodyPr wrap="none" lIns="0" tIns="0" rIns="0" bIns="0" anchor="t" anchorCtr="0">
              <a:spAutoFit/>
            </a:bodyPr>
            <a:lstStyle/>
            <a:p>
              <a:pPr algn="l"/>
              <a:r>
                <a:rPr lang="en-GB" sz="1200" b="1" spc="120" dirty="0">
                  <a:solidFill>
                    <a:schemeClr val="accent2"/>
                  </a:solidFill>
                  <a:latin typeface="+mn-lt"/>
                  <a:ea typeface="+mn-ea"/>
                  <a:cs typeface="+mn-cs"/>
                </a:rPr>
                <a:t>EXTERNAL — NOT OURS TO DECIDE</a:t>
              </a:r>
            </a:p>
          </p:txBody>
        </p:sp>
        <p:sp>
          <p:nvSpPr>
            <p:cNvPr id="32" name="TextBox 32"/>
            <p:cNvSpPr txBox="1"/>
            <p:nvPr/>
          </p:nvSpPr>
          <p:spPr>
            <a:xfrm>
              <a:off x="10113098" y="12195810"/>
              <a:ext cx="941998" cy="234696"/>
            </a:xfrm>
            <a:prstGeom prst="rect">
              <a:avLst/>
            </a:prstGeom>
            <a:noFill/>
            <a:ln>
              <a:noFill/>
            </a:ln>
          </p:spPr>
          <p:txBody>
            <a:bodyPr wrap="none" lIns="0" tIns="0" rIns="0" bIns="0" anchor="t" anchorCtr="0">
              <a:spAutoFit/>
            </a:bodyPr>
            <a:lstStyle/>
            <a:p>
              <a:pPr algn="r"/>
              <a:r>
                <a:rPr lang="en-GB" sz="1200" dirty="0">
                  <a:solidFill>
                    <a:srgbClr val="6E777E"/>
                  </a:solidFill>
                  <a:latin typeface="+mn-lt"/>
                  <a:ea typeface="+mn-ea"/>
                  <a:cs typeface="+mn-cs"/>
                </a:rPr>
                <a:t>F028 · F037</a:t>
              </a:r>
            </a:p>
          </p:txBody>
        </p:sp>
        <p:sp>
          <p:nvSpPr>
            <p:cNvPr id="33" name="TextBox 33"/>
            <p:cNvSpPr txBox="1"/>
            <p:nvPr/>
          </p:nvSpPr>
          <p:spPr>
            <a:xfrm>
              <a:off x="1895094" y="12552998"/>
              <a:ext cx="7907415"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The cohort’s only twelve-month discontinuation was a small consultancy</a:t>
              </a:r>
              <a:br/>
              <a:r>
                <a:rPr lang="en-GB" sz="1950" dirty="0">
                  <a:solidFill>
                    <a:schemeClr val="dk1"/>
                  </a:solidFill>
                  <a:latin typeface="+mn-lt"/>
                  <a:ea typeface="+mn-ea"/>
                  <a:cs typeface="+mn-cs"/>
                </a:rPr>
                <a:t>that stopped over client and stakeholder expectations. Belgium’s</a:t>
              </a:r>
              <a:br/>
              <a:r>
                <a:rPr lang="en-GB" sz="1950" dirty="0">
                  <a:solidFill>
                    <a:schemeClr val="dk1"/>
                  </a:solidFill>
                  <a:latin typeface="+mn-lt"/>
                  <a:ea typeface="+mn-ea"/>
                  <a:cs typeface="+mn-cs"/>
                </a:rPr>
                <a:t>reduced-hours pilot drew one fully participating company, citing sectoral</a:t>
              </a:r>
              <a:br/>
              <a:r>
                <a:rPr lang="en-GB" sz="1950" dirty="0">
                  <a:solidFill>
                    <a:schemeClr val="dk1"/>
                  </a:solidFill>
                  <a:latin typeface="+mn-lt"/>
                  <a:ea typeface="+mn-ea"/>
                  <a:cs typeface="+mn-cs"/>
                </a:rPr>
                <a:t>expectation.</a:t>
              </a:r>
            </a:p>
          </p:txBody>
        </p:sp>
        <p:sp>
          <p:nvSpPr>
            <p:cNvPr id="34" name="TextBox 34"/>
            <p:cNvSpPr txBox="1"/>
            <p:nvPr/>
          </p:nvSpPr>
          <p:spPr>
            <a:xfrm>
              <a:off x="1895094" y="14076998"/>
              <a:ext cx="7577644" cy="743331"/>
            </a:xfrm>
            <a:prstGeom prst="rect">
              <a:avLst/>
            </a:prstGeom>
            <a:noFill/>
            <a:ln>
              <a:noFill/>
            </a:ln>
          </p:spPr>
          <p:txBody>
            <a:bodyPr wrap="none" lIns="0" tIns="0" rIns="0" bIns="0" anchor="t" anchorCtr="0">
              <a:spAutoFit/>
            </a:bodyPr>
            <a:lstStyle/>
            <a:p>
              <a:pPr algn="l">
                <a:lnSpc>
                  <a:spcPts val="2850"/>
                </a:lnSpc>
              </a:pPr>
              <a:r>
                <a:rPr lang="en-GB" sz="1950" dirty="0">
                  <a:solidFill>
                    <a:schemeClr val="accent2"/>
                  </a:solidFill>
                  <a:latin typeface="+mn-lt"/>
                  <a:ea typeface="+mn-ea"/>
                  <a:cs typeface="+mn-cs"/>
                </a:rPr>
                <a:t>Three drivers respond to preparation; this one responds only to client</a:t>
              </a:r>
              <a:br/>
              <a:r>
                <a:rPr lang="en-GB" sz="1950" dirty="0">
                  <a:solidFill>
                    <a:schemeClr val="accent2"/>
                  </a:solidFill>
                  <a:latin typeface="+mn-lt"/>
                  <a:ea typeface="+mn-ea"/>
                  <a:cs typeface="+mn-cs"/>
                </a:rPr>
                <a:t>evidence.</a:t>
              </a:r>
            </a:p>
          </p:txBody>
        </p:sp>
      </p:grpSp>
      <p:grpSp>
        <p:nvGrpSpPr>
          <p:cNvPr id="39" name="Group 39"/>
          <p:cNvGrpSpPr/>
          <p:nvPr/>
        </p:nvGrpSpPr>
        <p:grpSpPr>
          <a:xfrm>
            <a:off x="755904" y="15582900"/>
            <a:ext cx="10299192" cy="409956"/>
            <a:chOff x="755904" y="15582900"/>
            <a:chExt cx="10299192" cy="409956"/>
          </a:xfrm>
        </p:grpSpPr>
        <p:sp>
          <p:nvSpPr>
            <p:cNvPr id="36" name="Line 36"/>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37" name="TextBox 37"/>
            <p:cNvSpPr txBox="1"/>
            <p:nvPr/>
          </p:nvSpPr>
          <p:spPr>
            <a:xfrm>
              <a:off x="755904" y="15758160"/>
              <a:ext cx="8178448"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Portugal final report (2024) · Germany pilot (2024) · Awin · Oxford Economics (2014)</a:t>
              </a:r>
            </a:p>
          </p:txBody>
        </p:sp>
        <p:sp>
          <p:nvSpPr>
            <p:cNvPr id="38" name="TextBox 38"/>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3 of 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700"/>
                            </p:stCondLst>
                            <p:childTnLst>
                              <p:par>
                                <p:cTn id="9" presetID="22" presetClass="entr" presetSubtype="4"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wipe(down)">
                                      <p:cBhvr>
                                        <p:cTn id="11" dur="600"/>
                                        <p:tgtEl>
                                          <p:spTgt spid="15"/>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par>
                          <p:cTn id="16" fill="hold">
                            <p:stCondLst>
                              <p:cond delay="270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600"/>
                            </p:stCondLst>
                            <p:childTnLst>
                              <p:par>
                                <p:cTn id="21" presetID="10" presetClass="entr" presetSubtype="0"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childTnLst>
                          </p:cTn>
                        </p:par>
                        <p:par>
                          <p:cTn id="24" fill="hold">
                            <p:stCondLst>
                              <p:cond delay="4500"/>
                            </p:stCondLst>
                            <p:childTnLst>
                              <p:par>
                                <p:cTn id="25" presetID="10" presetClass="entr" presetSubtype="0" fill="hold" grpId="0" nodeType="afterEffect">
                                  <p:stCondLst>
                                    <p:cond delay="30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4095750" y="3771900"/>
            <a:ext cx="9525" cy="4705350"/>
          </a:xfrm>
          <a:custGeom>
            <a:avLst/>
            <a:gdLst/>
            <a:ahLst/>
            <a:cxnLst/>
            <a:rect l="l" t="t" r="r" b="b"/>
            <a:pathLst>
              <a:path w="9525" h="4705350">
                <a:moveTo>
                  <a:pt x="0" y="0"/>
                </a:moveTo>
                <a:lnTo>
                  <a:pt x="0" y="4705350"/>
                </a:lnTo>
              </a:path>
            </a:pathLst>
          </a:custGeom>
          <a:noFill/>
          <a:ln w="9525">
            <a:solidFill>
              <a:schemeClr val="accent6"/>
            </a:solidFill>
          </a:ln>
        </p:spPr>
      </p:sp>
      <p:grpSp>
        <p:nvGrpSpPr>
          <p:cNvPr id="6" name="Group 6"/>
          <p:cNvGrpSpPr/>
          <p:nvPr/>
        </p:nvGrpSpPr>
        <p:grpSpPr>
          <a:xfrm>
            <a:off x="755904" y="937260"/>
            <a:ext cx="10299192" cy="329565"/>
            <a:chOff x="755904" y="937260"/>
            <a:chExt cx="10299192" cy="329565"/>
          </a:xfrm>
        </p:grpSpPr>
        <p:sp>
          <p:nvSpPr>
            <p:cNvPr id="3" name="TextBox 3"/>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4" name="TextBox 4"/>
            <p:cNvSpPr txBox="1"/>
            <p:nvPr/>
          </p:nvSpPr>
          <p:spPr>
            <a:xfrm>
              <a:off x="9134203" y="937260"/>
              <a:ext cx="1920893"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4 · Current-state diagnosis</a:t>
              </a:r>
            </a:p>
          </p:txBody>
        </p:sp>
        <p:sp>
          <p:nvSpPr>
            <p:cNvPr id="5" name="Line 5"/>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8" name="Group 8"/>
          <p:cNvGrpSpPr/>
          <p:nvPr/>
        </p:nvGrpSpPr>
        <p:grpSpPr>
          <a:xfrm>
            <a:off x="745236" y="1548765"/>
            <a:ext cx="7835074" cy="1159764"/>
            <a:chOff x="745236" y="1548765"/>
            <a:chExt cx="7835074" cy="1159764"/>
          </a:xfrm>
        </p:grpSpPr>
        <p:sp>
          <p:nvSpPr>
            <p:cNvPr id="7" name="TextBox 7"/>
            <p:cNvSpPr txBox="1"/>
            <p:nvPr/>
          </p:nvSpPr>
          <p:spPr>
            <a:xfrm>
              <a:off x="745236" y="1548765"/>
              <a:ext cx="7835074"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The wellbeing result is established; the</a:t>
              </a:r>
              <a:br/>
              <a:r>
                <a:rPr lang="en-GB" sz="3300" b="1" dirty="0">
                  <a:solidFill>
                    <a:schemeClr val="dk1"/>
                  </a:solidFill>
                  <a:latin typeface="+mn-lt"/>
                  <a:ea typeface="+mn-ea"/>
                  <a:cs typeface="+mn-cs"/>
                </a:rPr>
                <a:t>business result is unproven</a:t>
              </a:r>
            </a:p>
          </p:txBody>
        </p:sp>
      </p:grpSp>
      <p:grpSp>
        <p:nvGrpSpPr>
          <p:cNvPr id="10" name="Group 10"/>
          <p:cNvGrpSpPr/>
          <p:nvPr/>
        </p:nvGrpSpPr>
        <p:grpSpPr>
          <a:xfrm>
            <a:off x="750570" y="2767012"/>
            <a:ext cx="8203768" cy="840105"/>
            <a:chOff x="750570" y="2767012"/>
            <a:chExt cx="8203768" cy="840105"/>
          </a:xfrm>
        </p:grpSpPr>
        <p:sp>
          <p:nvSpPr>
            <p:cNvPr id="9" name="TextBox 9"/>
            <p:cNvSpPr txBox="1"/>
            <p:nvPr/>
          </p:nvSpPr>
          <p:spPr>
            <a:xfrm>
              <a:off x="750570" y="2767012"/>
              <a:ext cx="8203768"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Nothing in the public record establishes that revenue or retention</a:t>
              </a:r>
              <a:br/>
              <a:r>
                <a:rPr lang="en-GB" sz="2250" dirty="0">
                  <a:solidFill>
                    <a:schemeClr val="accent3"/>
                  </a:solidFill>
                  <a:latin typeface="+mn-lt"/>
                  <a:ea typeface="+mn-ea"/>
                  <a:cs typeface="+mn-cs"/>
                </a:rPr>
                <a:t>improves.</a:t>
              </a:r>
            </a:p>
          </p:txBody>
        </p:sp>
      </p:grpSp>
      <p:grpSp>
        <p:nvGrpSpPr>
          <p:cNvPr id="14" name="Group 14"/>
          <p:cNvGrpSpPr/>
          <p:nvPr/>
        </p:nvGrpSpPr>
        <p:grpSpPr>
          <a:xfrm>
            <a:off x="754380" y="4023360"/>
            <a:ext cx="1868424" cy="1187196"/>
            <a:chOff x="754380" y="4023360"/>
            <a:chExt cx="1868424" cy="1187196"/>
          </a:xfrm>
        </p:grpSpPr>
        <p:sp>
          <p:nvSpPr>
            <p:cNvPr id="11" name="TextBox 11"/>
            <p:cNvSpPr txBox="1"/>
            <p:nvPr/>
          </p:nvSpPr>
          <p:spPr>
            <a:xfrm>
              <a:off x="755904" y="4023360"/>
              <a:ext cx="1387289" cy="234696"/>
            </a:xfrm>
            <a:prstGeom prst="rect">
              <a:avLst/>
            </a:prstGeom>
            <a:noFill/>
            <a:ln>
              <a:noFill/>
            </a:ln>
          </p:spPr>
          <p:txBody>
            <a:bodyPr wrap="none" lIns="0" tIns="0" rIns="0" bIns="0" anchor="t" anchorCtr="0">
              <a:spAutoFit/>
            </a:bodyPr>
            <a:lstStyle/>
            <a:p>
              <a:pPr algn="l"/>
              <a:r>
                <a:rPr lang="en-GB" sz="1200" b="1" spc="120" dirty="0">
                  <a:solidFill>
                    <a:schemeClr val="dk1"/>
                  </a:solidFill>
                  <a:latin typeface="+mn-lt"/>
                  <a:ea typeface="+mn-ea"/>
                  <a:cs typeface="+mn-cs"/>
                </a:rPr>
                <a:t>ESTABLISHED</a:t>
              </a:r>
            </a:p>
          </p:txBody>
        </p:sp>
        <p:sp>
          <p:nvSpPr>
            <p:cNvPr id="12" name="TextBox 12"/>
            <p:cNvSpPr txBox="1"/>
            <p:nvPr/>
          </p:nvSpPr>
          <p:spPr>
            <a:xfrm>
              <a:off x="754380" y="4314825"/>
              <a:ext cx="1868424"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Controlled, replicated,</a:t>
              </a:r>
              <a:br/>
              <a:r>
                <a:rPr lang="en-GB" sz="1500" dirty="0">
                  <a:solidFill>
                    <a:schemeClr val="accent5"/>
                  </a:solidFill>
                  <a:latin typeface="+mn-lt"/>
                  <a:ea typeface="+mn-ea"/>
                  <a:cs typeface="+mn-cs"/>
                </a:rPr>
                <a:t>peer-reviewed.</a:t>
              </a:r>
            </a:p>
          </p:txBody>
        </p:sp>
        <p:sp>
          <p:nvSpPr>
            <p:cNvPr id="13" name="TextBox 13"/>
            <p:cNvSpPr txBox="1"/>
            <p:nvPr/>
          </p:nvSpPr>
          <p:spPr>
            <a:xfrm>
              <a:off x="755904" y="4975860"/>
              <a:ext cx="941998"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F050 · F062</a:t>
              </a:r>
            </a:p>
          </p:txBody>
        </p:sp>
      </p:grpSp>
      <p:grpSp>
        <p:nvGrpSpPr>
          <p:cNvPr id="16" name="Group 16"/>
          <p:cNvGrpSpPr/>
          <p:nvPr/>
        </p:nvGrpSpPr>
        <p:grpSpPr>
          <a:xfrm>
            <a:off x="4371594" y="3942398"/>
            <a:ext cx="6008484" cy="2191131"/>
            <a:chOff x="4371594" y="3942398"/>
            <a:chExt cx="6008484" cy="2191131"/>
          </a:xfrm>
        </p:grpSpPr>
        <p:sp>
          <p:nvSpPr>
            <p:cNvPr id="15" name="TextBox 15"/>
            <p:cNvSpPr txBox="1"/>
            <p:nvPr/>
          </p:nvSpPr>
          <p:spPr>
            <a:xfrm>
              <a:off x="4371594" y="3942398"/>
              <a:ext cx="6008484" cy="21911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A controlled study of nearly 2,900 workers across 141</a:t>
              </a:r>
              <a:br/>
              <a:r>
                <a:rPr lang="en-GB" sz="1950" dirty="0">
                  <a:solidFill>
                    <a:schemeClr val="dk1"/>
                  </a:solidFill>
                  <a:latin typeface="+mn-lt"/>
                  <a:ea typeface="+mn-ea"/>
                  <a:cs typeface="+mn-cs"/>
                </a:rPr>
                <a:t>organisations in six countries found gains in burnout,</a:t>
              </a:r>
              <a:br/>
              <a:r>
                <a:rPr lang="en-GB" sz="1950" dirty="0">
                  <a:solidFill>
                    <a:schemeClr val="dk1"/>
                  </a:solidFill>
                  <a:latin typeface="+mn-lt"/>
                  <a:ea typeface="+mn-ea"/>
                  <a:cs typeface="+mn-cs"/>
                </a:rPr>
                <a:t>job satisfaction and mental and physical health that</a:t>
              </a:r>
              <a:br/>
              <a:r>
                <a:rPr lang="en-GB" sz="1950" dirty="0">
                  <a:solidFill>
                    <a:schemeClr val="dk1"/>
                  </a:solidFill>
                  <a:latin typeface="+mn-lt"/>
                  <a:ea typeface="+mn-ea"/>
                  <a:cs typeface="+mn-cs"/>
                </a:rPr>
                <a:t>were absent in its controls. Germany’s instrumented</a:t>
              </a:r>
              <a:br/>
              <a:r>
                <a:rPr lang="en-GB" sz="1950" dirty="0">
                  <a:solidFill>
                    <a:schemeClr val="dk1"/>
                  </a:solidFill>
                  <a:latin typeface="+mn-lt"/>
                  <a:ea typeface="+mn-ea"/>
                  <a:cs typeface="+mn-cs"/>
                </a:rPr>
                <a:t>pilot found the same falls in stress and burnout against</a:t>
              </a:r>
              <a:br/>
              <a:r>
                <a:rPr lang="en-GB" sz="1950" dirty="0">
                  <a:solidFill>
                    <a:schemeClr val="dk1"/>
                  </a:solidFill>
                  <a:latin typeface="+mn-lt"/>
                  <a:ea typeface="+mn-ea"/>
                  <a:cs typeface="+mn-cs"/>
                </a:rPr>
                <a:t>its own control groups.</a:t>
              </a:r>
            </a:p>
          </p:txBody>
        </p:sp>
      </p:grpSp>
      <p:grpSp>
        <p:nvGrpSpPr>
          <p:cNvPr id="20" name="Group 20"/>
          <p:cNvGrpSpPr/>
          <p:nvPr/>
        </p:nvGrpSpPr>
        <p:grpSpPr>
          <a:xfrm>
            <a:off x="754380" y="6442710"/>
            <a:ext cx="1942719" cy="1187196"/>
            <a:chOff x="754380" y="6442710"/>
            <a:chExt cx="1942719" cy="1187196"/>
          </a:xfrm>
        </p:grpSpPr>
        <p:sp>
          <p:nvSpPr>
            <p:cNvPr id="17" name="TextBox 17"/>
            <p:cNvSpPr txBox="1"/>
            <p:nvPr/>
          </p:nvSpPr>
          <p:spPr>
            <a:xfrm>
              <a:off x="755904" y="6442710"/>
              <a:ext cx="1863269" cy="234696"/>
            </a:xfrm>
            <a:prstGeom prst="rect">
              <a:avLst/>
            </a:prstGeom>
            <a:noFill/>
            <a:ln>
              <a:noFill/>
            </a:ln>
          </p:spPr>
          <p:txBody>
            <a:bodyPr wrap="none" lIns="0" tIns="0" rIns="0" bIns="0" anchor="t" anchorCtr="0">
              <a:spAutoFit/>
            </a:bodyPr>
            <a:lstStyle/>
            <a:p>
              <a:pPr algn="l"/>
              <a:r>
                <a:rPr lang="en-GB" sz="1200" b="1" spc="120" dirty="0">
                  <a:solidFill>
                    <a:srgbClr val="6E777E"/>
                  </a:solidFill>
                  <a:latin typeface="+mn-lt"/>
                  <a:ea typeface="+mn-ea"/>
                  <a:cs typeface="+mn-cs"/>
                </a:rPr>
                <a:t>NOT ESTABLISHED</a:t>
              </a:r>
            </a:p>
          </p:txBody>
        </p:sp>
        <p:sp>
          <p:nvSpPr>
            <p:cNvPr id="18" name="TextBox 18"/>
            <p:cNvSpPr txBox="1"/>
            <p:nvPr/>
          </p:nvSpPr>
          <p:spPr>
            <a:xfrm>
              <a:off x="754380" y="6734175"/>
              <a:ext cx="1942719"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Stated by the reporting</a:t>
              </a:r>
              <a:br/>
              <a:r>
                <a:rPr lang="en-GB" sz="1500" dirty="0">
                  <a:solidFill>
                    <a:schemeClr val="accent5"/>
                  </a:solidFill>
                  <a:latin typeface="+mn-lt"/>
                  <a:ea typeface="+mn-ea"/>
                  <a:cs typeface="+mn-cs"/>
                </a:rPr>
                <a:t>authors themselves.</a:t>
              </a:r>
            </a:p>
          </p:txBody>
        </p:sp>
        <p:sp>
          <p:nvSpPr>
            <p:cNvPr id="19" name="TextBox 19"/>
            <p:cNvSpPr txBox="1"/>
            <p:nvPr/>
          </p:nvSpPr>
          <p:spPr>
            <a:xfrm>
              <a:off x="755904" y="7395210"/>
              <a:ext cx="1482737"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F010 · F051 · F052</a:t>
              </a:r>
            </a:p>
          </p:txBody>
        </p:sp>
      </p:grpSp>
      <p:grpSp>
        <p:nvGrpSpPr>
          <p:cNvPr id="22" name="Group 22"/>
          <p:cNvGrpSpPr/>
          <p:nvPr/>
        </p:nvGrpSpPr>
        <p:grpSpPr>
          <a:xfrm>
            <a:off x="4371594" y="6361748"/>
            <a:ext cx="6090556" cy="2191131"/>
            <a:chOff x="4371594" y="6361748"/>
            <a:chExt cx="6090556" cy="2191131"/>
          </a:xfrm>
        </p:grpSpPr>
        <p:sp>
          <p:nvSpPr>
            <p:cNvPr id="21" name="TextBox 21"/>
            <p:cNvSpPr txBox="1"/>
            <p:nvPr/>
          </p:nvSpPr>
          <p:spPr>
            <a:xfrm>
              <a:off x="4371594" y="6361748"/>
              <a:ext cx="6090556" cy="21911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The UK 2022 report states that its resignation, new-hire</a:t>
              </a:r>
              <a:br/>
              <a:r>
                <a:rPr lang="en-GB" sz="1950" dirty="0">
                  <a:solidFill>
                    <a:schemeClr val="dk1"/>
                  </a:solidFill>
                  <a:latin typeface="+mn-lt"/>
                  <a:ea typeface="+mn-ea"/>
                  <a:cs typeface="+mn-cs"/>
                </a:rPr>
                <a:t>and absence trends cannot be called statistically</a:t>
              </a:r>
              <a:br/>
              <a:r>
                <a:rPr lang="en-GB" sz="1950" dirty="0">
                  <a:solidFill>
                    <a:schemeClr val="dk1"/>
                  </a:solidFill>
                  <a:latin typeface="+mn-lt"/>
                  <a:ea typeface="+mn-ea"/>
                  <a:cs typeface="+mn-cs"/>
                </a:rPr>
                <a:t>significant, given small sample numbers and</a:t>
              </a:r>
              <a:br/>
              <a:r>
                <a:rPr lang="en-GB" sz="1950" dirty="0">
                  <a:solidFill>
                    <a:schemeClr val="dk1"/>
                  </a:solidFill>
                  <a:latin typeface="+mn-lt"/>
                  <a:ea typeface="+mn-ea"/>
                  <a:cs typeface="+mn-cs"/>
                </a:rPr>
                <a:t>labour-market contingencies. Germany found sick</a:t>
              </a:r>
              <a:br/>
              <a:r>
                <a:rPr lang="en-GB" sz="1950" dirty="0">
                  <a:solidFill>
                    <a:schemeClr val="dk1"/>
                  </a:solidFill>
                  <a:latin typeface="+mn-lt"/>
                  <a:ea typeface="+mn-ea"/>
                  <a:cs typeface="+mn-cs"/>
                </a:rPr>
                <a:t>days, turnover and profit changed only slightly and not</a:t>
              </a:r>
              <a:br/>
              <a:r>
                <a:rPr lang="en-GB" sz="1950" dirty="0">
                  <a:solidFill>
                    <a:schemeClr val="dk1"/>
                  </a:solidFill>
                  <a:latin typeface="+mn-lt"/>
                  <a:ea typeface="+mn-ea"/>
                  <a:cs typeface="+mn-cs"/>
                </a:rPr>
                <a:t>significantly.</a:t>
              </a:r>
            </a:p>
          </p:txBody>
        </p:sp>
      </p:grpSp>
      <p:grpSp>
        <p:nvGrpSpPr>
          <p:cNvPr id="57" name="Group 57"/>
          <p:cNvGrpSpPr/>
          <p:nvPr/>
        </p:nvGrpSpPr>
        <p:grpSpPr>
          <a:xfrm>
            <a:off x="1666636" y="9048750"/>
            <a:ext cx="9174859" cy="3419856"/>
            <a:chOff x="1666636" y="9048750"/>
            <a:chExt cx="9174859" cy="3419856"/>
          </a:xfrm>
        </p:grpSpPr>
        <p:grpSp>
          <p:nvGrpSpPr>
            <p:cNvPr id="41" name="Group 41"/>
            <p:cNvGrpSpPr/>
            <p:nvPr/>
          </p:nvGrpSpPr>
          <p:grpSpPr>
            <a:xfrm>
              <a:off x="4095750" y="9048750"/>
              <a:ext cx="6745745" cy="2200275"/>
              <a:chOff x="4095750" y="9048750"/>
              <a:chExt cx="6745745" cy="2200275"/>
            </a:xfrm>
          </p:grpSpPr>
          <p:sp>
            <p:nvSpPr>
              <p:cNvPr id="23" name="Line 23"/>
              <p:cNvSpPr/>
              <p:nvPr/>
            </p:nvSpPr>
            <p:spPr>
              <a:xfrm>
                <a:off x="4095750"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4" name="Line 24"/>
              <p:cNvSpPr/>
              <p:nvPr/>
            </p:nvSpPr>
            <p:spPr>
              <a:xfrm>
                <a:off x="5159407"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5" name="Line 25"/>
              <p:cNvSpPr/>
              <p:nvPr/>
            </p:nvSpPr>
            <p:spPr>
              <a:xfrm>
                <a:off x="6222968"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6" name="Line 26"/>
              <p:cNvSpPr/>
              <p:nvPr/>
            </p:nvSpPr>
            <p:spPr>
              <a:xfrm>
                <a:off x="7286625"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7" name="Line 27"/>
              <p:cNvSpPr/>
              <p:nvPr/>
            </p:nvSpPr>
            <p:spPr>
              <a:xfrm>
                <a:off x="9413843"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8" name="Line 28"/>
              <p:cNvSpPr/>
              <p:nvPr/>
            </p:nvSpPr>
            <p:spPr>
              <a:xfrm>
                <a:off x="10477500" y="9048750"/>
                <a:ext cx="9525" cy="2190750"/>
              </a:xfrm>
              <a:custGeom>
                <a:avLst/>
                <a:gdLst/>
                <a:ahLst/>
                <a:cxnLst/>
                <a:rect l="l" t="t" r="r" b="b"/>
                <a:pathLst>
                  <a:path w="9525" h="2190750">
                    <a:moveTo>
                      <a:pt x="0" y="0"/>
                    </a:moveTo>
                    <a:lnTo>
                      <a:pt x="0" y="2190750"/>
                    </a:lnTo>
                  </a:path>
                </a:pathLst>
              </a:custGeom>
              <a:noFill/>
              <a:ln w="9525">
                <a:solidFill>
                  <a:srgbClr val="E7E3DB"/>
                </a:solidFill>
              </a:ln>
            </p:spPr>
          </p:sp>
          <p:sp>
            <p:nvSpPr>
              <p:cNvPr id="29" name="Line 29"/>
              <p:cNvSpPr/>
              <p:nvPr/>
            </p:nvSpPr>
            <p:spPr>
              <a:xfrm>
                <a:off x="8350282" y="9048750"/>
                <a:ext cx="9525" cy="2190750"/>
              </a:xfrm>
              <a:custGeom>
                <a:avLst/>
                <a:gdLst/>
                <a:ahLst/>
                <a:cxnLst/>
                <a:rect l="l" t="t" r="r" b="b"/>
                <a:pathLst>
                  <a:path w="9525" h="2190750">
                    <a:moveTo>
                      <a:pt x="0" y="0"/>
                    </a:moveTo>
                    <a:lnTo>
                      <a:pt x="0" y="2190750"/>
                    </a:lnTo>
                  </a:path>
                </a:pathLst>
              </a:custGeom>
              <a:noFill/>
              <a:ln w="9525">
                <a:solidFill>
                  <a:schemeClr val="accent6"/>
                </a:solidFill>
              </a:ln>
            </p:spPr>
          </p:sp>
          <p:sp>
            <p:nvSpPr>
              <p:cNvPr id="30" name="Line 30"/>
              <p:cNvSpPr/>
              <p:nvPr/>
            </p:nvSpPr>
            <p:spPr>
              <a:xfrm>
                <a:off x="4095750" y="11239500"/>
                <a:ext cx="6381750" cy="9525"/>
              </a:xfrm>
              <a:custGeom>
                <a:avLst/>
                <a:gdLst/>
                <a:ahLst/>
                <a:cxnLst/>
                <a:rect l="l" t="t" r="r" b="b"/>
                <a:pathLst>
                  <a:path w="6381750" h="9525">
                    <a:moveTo>
                      <a:pt x="0" y="0"/>
                    </a:moveTo>
                    <a:lnTo>
                      <a:pt x="6381750" y="0"/>
                    </a:lnTo>
                  </a:path>
                </a:pathLst>
              </a:custGeom>
              <a:noFill/>
              <a:ln w="9525">
                <a:solidFill>
                  <a:schemeClr val="accent6"/>
                </a:solidFill>
              </a:ln>
            </p:spPr>
          </p:sp>
          <p:sp>
            <p:nvSpPr>
              <p:cNvPr id="31" name="Rectangle 31"/>
              <p:cNvSpPr/>
              <p:nvPr/>
            </p:nvSpPr>
            <p:spPr>
              <a:xfrm>
                <a:off x="8350282" y="9130951"/>
                <a:ext cx="1834801" cy="273844"/>
              </a:xfrm>
              <a:prstGeom prst="rect">
                <a:avLst/>
              </a:prstGeom>
              <a:solidFill>
                <a:schemeClr val="accent1"/>
              </a:solidFill>
              <a:ln>
                <a:noFill/>
              </a:ln>
            </p:spPr>
          </p:sp>
          <p:sp>
            <p:nvSpPr>
              <p:cNvPr id="32" name="Rectangle 32"/>
              <p:cNvSpPr/>
              <p:nvPr/>
            </p:nvSpPr>
            <p:spPr>
              <a:xfrm>
                <a:off x="8350282" y="9569101"/>
                <a:ext cx="74486" cy="273844"/>
              </a:xfrm>
              <a:prstGeom prst="rect">
                <a:avLst/>
              </a:prstGeom>
              <a:solidFill>
                <a:schemeClr val="accent1"/>
              </a:solidFill>
              <a:ln>
                <a:noFill/>
              </a:ln>
            </p:spPr>
          </p:sp>
          <p:sp>
            <p:nvSpPr>
              <p:cNvPr id="33" name="Rectangle 33"/>
              <p:cNvSpPr/>
              <p:nvPr/>
            </p:nvSpPr>
            <p:spPr>
              <a:xfrm>
                <a:off x="8281130" y="10007251"/>
                <a:ext cx="69152" cy="273844"/>
              </a:xfrm>
              <a:prstGeom prst="rect">
                <a:avLst/>
              </a:prstGeom>
              <a:solidFill>
                <a:schemeClr val="accent1"/>
              </a:solidFill>
              <a:ln>
                <a:noFill/>
              </a:ln>
            </p:spPr>
          </p:sp>
          <p:sp>
            <p:nvSpPr>
              <p:cNvPr id="34" name="Rectangle 34"/>
              <p:cNvSpPr/>
              <p:nvPr/>
            </p:nvSpPr>
            <p:spPr>
              <a:xfrm>
                <a:off x="5318950" y="10445401"/>
                <a:ext cx="3031331" cy="273844"/>
              </a:xfrm>
              <a:prstGeom prst="rect">
                <a:avLst/>
              </a:prstGeom>
              <a:solidFill>
                <a:srgbClr val="6E777E"/>
              </a:solidFill>
              <a:ln>
                <a:noFill/>
              </a:ln>
            </p:spPr>
          </p:sp>
          <p:sp>
            <p:nvSpPr>
              <p:cNvPr id="35" name="Rectangle 35"/>
              <p:cNvSpPr/>
              <p:nvPr/>
            </p:nvSpPr>
            <p:spPr>
              <a:xfrm>
                <a:off x="4893469" y="10883551"/>
                <a:ext cx="3456813" cy="273844"/>
              </a:xfrm>
              <a:prstGeom prst="rect">
                <a:avLst/>
              </a:prstGeom>
              <a:solidFill>
                <a:srgbClr val="6E777E"/>
              </a:solidFill>
              <a:ln>
                <a:noFill/>
              </a:ln>
            </p:spPr>
          </p:sp>
          <p:sp>
            <p:nvSpPr>
              <p:cNvPr id="36" name="TextBox 36"/>
              <p:cNvSpPr txBox="1"/>
              <p:nvPr/>
            </p:nvSpPr>
            <p:spPr>
              <a:xfrm>
                <a:off x="10253662" y="9172575"/>
                <a:ext cx="587833"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34.5%</a:t>
                </a:r>
              </a:p>
            </p:txBody>
          </p:sp>
          <p:sp>
            <p:nvSpPr>
              <p:cNvPr id="37" name="TextBox 37"/>
              <p:cNvSpPr txBox="1"/>
              <p:nvPr/>
            </p:nvSpPr>
            <p:spPr>
              <a:xfrm>
                <a:off x="8493347" y="9610725"/>
                <a:ext cx="475519" cy="293370"/>
              </a:xfrm>
              <a:prstGeom prst="rect">
                <a:avLst/>
              </a:prstGeom>
              <a:noFill/>
              <a:ln>
                <a:noFill/>
              </a:ln>
            </p:spPr>
            <p:txBody>
              <a:bodyPr wrap="none" lIns="0" tIns="0" rIns="0" bIns="0" anchor="t" anchorCtr="0">
                <a:spAutoFit/>
              </a:bodyPr>
              <a:lstStyle/>
              <a:p>
                <a:pPr algn="l"/>
                <a:r>
                  <a:rPr lang="en-GB" sz="1500" dirty="0">
                    <a:solidFill>
                      <a:schemeClr val="dk1"/>
                    </a:solidFill>
                    <a:latin typeface="+mn-lt"/>
                    <a:ea typeface="+mn-ea"/>
                    <a:cs typeface="+mn-cs"/>
                  </a:rPr>
                  <a:t>1.4%</a:t>
                </a:r>
              </a:p>
            </p:txBody>
          </p:sp>
          <p:sp>
            <p:nvSpPr>
              <p:cNvPr id="38" name="TextBox 38"/>
              <p:cNvSpPr txBox="1"/>
              <p:nvPr/>
            </p:nvSpPr>
            <p:spPr>
              <a:xfrm>
                <a:off x="7669788" y="10048875"/>
                <a:ext cx="542762"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-1.3%</a:t>
                </a:r>
              </a:p>
            </p:txBody>
          </p:sp>
          <p:sp>
            <p:nvSpPr>
              <p:cNvPr id="39" name="TextBox 39"/>
              <p:cNvSpPr txBox="1"/>
              <p:nvPr/>
            </p:nvSpPr>
            <p:spPr>
              <a:xfrm>
                <a:off x="4595295" y="10487025"/>
                <a:ext cx="655075"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-57.0%</a:t>
                </a:r>
              </a:p>
            </p:txBody>
          </p:sp>
          <p:sp>
            <p:nvSpPr>
              <p:cNvPr id="40" name="TextBox 40"/>
              <p:cNvSpPr txBox="1"/>
              <p:nvPr/>
            </p:nvSpPr>
            <p:spPr>
              <a:xfrm>
                <a:off x="4169813" y="10925175"/>
                <a:ext cx="655075"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-65.0%</a:t>
                </a:r>
              </a:p>
            </p:txBody>
          </p:sp>
        </p:grpSp>
        <p:sp>
          <p:nvSpPr>
            <p:cNvPr id="42" name="TextBox 42"/>
            <p:cNvSpPr txBox="1"/>
            <p:nvPr/>
          </p:nvSpPr>
          <p:spPr>
            <a:xfrm>
              <a:off x="1666636" y="9172575"/>
              <a:ext cx="2322434"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Revenue vs a year earlier</a:t>
              </a:r>
            </a:p>
          </p:txBody>
        </p:sp>
        <p:sp>
          <p:nvSpPr>
            <p:cNvPr id="43" name="TextBox 43"/>
            <p:cNvSpPr txBox="1"/>
            <p:nvPr/>
          </p:nvSpPr>
          <p:spPr>
            <a:xfrm>
              <a:off x="2036587" y="9610725"/>
              <a:ext cx="1952483"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Revenue, start to end</a:t>
              </a:r>
            </a:p>
          </p:txBody>
        </p:sp>
        <p:sp>
          <p:nvSpPr>
            <p:cNvPr id="44" name="TextBox 44"/>
            <p:cNvSpPr txBox="1"/>
            <p:nvPr/>
          </p:nvSpPr>
          <p:spPr>
            <a:xfrm>
              <a:off x="2990911" y="10048875"/>
              <a:ext cx="998159"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Headcount</a:t>
              </a:r>
            </a:p>
          </p:txBody>
        </p:sp>
        <p:sp>
          <p:nvSpPr>
            <p:cNvPr id="45" name="TextBox 45"/>
            <p:cNvSpPr txBox="1"/>
            <p:nvPr/>
          </p:nvSpPr>
          <p:spPr>
            <a:xfrm>
              <a:off x="2058147" y="10487025"/>
              <a:ext cx="1930923"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Resignations per 100</a:t>
              </a:r>
            </a:p>
          </p:txBody>
        </p:sp>
        <p:sp>
          <p:nvSpPr>
            <p:cNvPr id="46" name="TextBox 46"/>
            <p:cNvSpPr txBox="1"/>
            <p:nvPr/>
          </p:nvSpPr>
          <p:spPr>
            <a:xfrm>
              <a:off x="1879694" y="10925175"/>
              <a:ext cx="2109376" cy="293370"/>
            </a:xfrm>
            <a:prstGeom prst="rect">
              <a:avLst/>
            </a:prstGeom>
            <a:noFill/>
            <a:ln>
              <a:noFill/>
            </a:ln>
          </p:spPr>
          <p:txBody>
            <a:bodyPr wrap="none" lIns="0" tIns="0" rIns="0" bIns="0" anchor="t" anchorCtr="0">
              <a:spAutoFit/>
            </a:bodyPr>
            <a:lstStyle/>
            <a:p>
              <a:pPr algn="r"/>
              <a:r>
                <a:rPr lang="en-GB" sz="1500" dirty="0">
                  <a:solidFill>
                    <a:schemeClr val="dk1"/>
                  </a:solidFill>
                  <a:latin typeface="+mn-lt"/>
                  <a:ea typeface="+mn-ea"/>
                  <a:cs typeface="+mn-cs"/>
                </a:rPr>
                <a:t>Sick and personal days</a:t>
              </a:r>
            </a:p>
          </p:txBody>
        </p:sp>
        <p:sp>
          <p:nvSpPr>
            <p:cNvPr id="47" name="TextBox 47"/>
            <p:cNvSpPr txBox="1"/>
            <p:nvPr/>
          </p:nvSpPr>
          <p:spPr>
            <a:xfrm>
              <a:off x="3852417" y="11325225"/>
              <a:ext cx="486666"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-80%</a:t>
              </a:r>
            </a:p>
          </p:txBody>
        </p:sp>
        <p:sp>
          <p:nvSpPr>
            <p:cNvPr id="48" name="TextBox 48"/>
            <p:cNvSpPr txBox="1"/>
            <p:nvPr/>
          </p:nvSpPr>
          <p:spPr>
            <a:xfrm>
              <a:off x="4916074" y="11325225"/>
              <a:ext cx="486666"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-60%</a:t>
              </a:r>
            </a:p>
          </p:txBody>
        </p:sp>
        <p:sp>
          <p:nvSpPr>
            <p:cNvPr id="49" name="TextBox 49"/>
            <p:cNvSpPr txBox="1"/>
            <p:nvPr/>
          </p:nvSpPr>
          <p:spPr>
            <a:xfrm>
              <a:off x="5979635" y="11325225"/>
              <a:ext cx="486666"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-40%</a:t>
              </a:r>
            </a:p>
          </p:txBody>
        </p:sp>
        <p:sp>
          <p:nvSpPr>
            <p:cNvPr id="50" name="TextBox 50"/>
            <p:cNvSpPr txBox="1"/>
            <p:nvPr/>
          </p:nvSpPr>
          <p:spPr>
            <a:xfrm>
              <a:off x="7043292" y="11325225"/>
              <a:ext cx="486666"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-20%</a:t>
              </a:r>
            </a:p>
          </p:txBody>
        </p:sp>
        <p:sp>
          <p:nvSpPr>
            <p:cNvPr id="51" name="TextBox 51"/>
            <p:cNvSpPr txBox="1"/>
            <p:nvPr/>
          </p:nvSpPr>
          <p:spPr>
            <a:xfrm>
              <a:off x="8196727" y="11325225"/>
              <a:ext cx="307110"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0%</a:t>
              </a:r>
            </a:p>
          </p:txBody>
        </p:sp>
        <p:sp>
          <p:nvSpPr>
            <p:cNvPr id="52" name="TextBox 52"/>
            <p:cNvSpPr txBox="1"/>
            <p:nvPr/>
          </p:nvSpPr>
          <p:spPr>
            <a:xfrm>
              <a:off x="9204132" y="11325225"/>
              <a:ext cx="419423"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20%</a:t>
              </a:r>
            </a:p>
          </p:txBody>
        </p:sp>
        <p:sp>
          <p:nvSpPr>
            <p:cNvPr id="53" name="TextBox 53"/>
            <p:cNvSpPr txBox="1"/>
            <p:nvPr/>
          </p:nvSpPr>
          <p:spPr>
            <a:xfrm>
              <a:off x="10267788" y="11325225"/>
              <a:ext cx="419423"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40%</a:t>
              </a:r>
            </a:p>
          </p:txBody>
        </p:sp>
        <p:sp>
          <p:nvSpPr>
            <p:cNvPr id="54" name="TextBox 54"/>
            <p:cNvSpPr txBox="1"/>
            <p:nvPr/>
          </p:nvSpPr>
          <p:spPr>
            <a:xfrm>
              <a:off x="5788723" y="11649075"/>
              <a:ext cx="2995803"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Change during the six-month trial</a:t>
              </a:r>
            </a:p>
          </p:txBody>
        </p:sp>
        <p:sp>
          <p:nvSpPr>
            <p:cNvPr id="55" name="TextBox 55"/>
            <p:cNvSpPr txBox="1"/>
            <p:nvPr/>
          </p:nvSpPr>
          <p:spPr>
            <a:xfrm>
              <a:off x="4089654" y="12005310"/>
              <a:ext cx="3024761" cy="234696"/>
            </a:xfrm>
            <a:prstGeom prst="rect">
              <a:avLst/>
            </a:prstGeom>
            <a:noFill/>
            <a:ln>
              <a:noFill/>
            </a:ln>
          </p:spPr>
          <p:txBody>
            <a:bodyPr wrap="none" lIns="0" tIns="0" rIns="0" bIns="0" anchor="t" anchorCtr="0">
              <a:spAutoFit/>
            </a:bodyPr>
            <a:lstStyle/>
            <a:p>
              <a:pPr algn="l"/>
              <a:r>
                <a:rPr lang="en-GB" sz="1200" dirty="0">
                  <a:solidFill>
                    <a:schemeClr val="dk1"/>
                  </a:solidFill>
                  <a:latin typeface="+mn-lt"/>
                  <a:ea typeface="+mn-ea"/>
                  <a:cs typeface="+mn-cs"/>
                </a:rPr>
                <a:t>Dark bars: self-reported company metrics.</a:t>
              </a:r>
            </a:p>
          </p:txBody>
        </p:sp>
        <p:sp>
          <p:nvSpPr>
            <p:cNvPr id="56" name="TextBox 56"/>
            <p:cNvSpPr txBox="1"/>
            <p:nvPr/>
          </p:nvSpPr>
          <p:spPr>
            <a:xfrm>
              <a:off x="4089654" y="12233910"/>
              <a:ext cx="5098796"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Grey bars: the report states these trends are not statistically significant.</a:t>
              </a:r>
            </a:p>
          </p:txBody>
        </p:sp>
      </p:grpSp>
      <p:grpSp>
        <p:nvGrpSpPr>
          <p:cNvPr id="61" name="Group 61"/>
          <p:cNvGrpSpPr/>
          <p:nvPr/>
        </p:nvGrpSpPr>
        <p:grpSpPr>
          <a:xfrm>
            <a:off x="762000" y="13011150"/>
            <a:ext cx="9564530" cy="2304479"/>
            <a:chOff x="762000" y="13011150"/>
            <a:chExt cx="9564530" cy="2304479"/>
          </a:xfrm>
        </p:grpSpPr>
        <p:sp>
          <p:nvSpPr>
            <p:cNvPr id="58" name="Rectangle 58"/>
            <p:cNvSpPr/>
            <p:nvPr/>
          </p:nvSpPr>
          <p:spPr>
            <a:xfrm>
              <a:off x="762000" y="13011150"/>
              <a:ext cx="47625" cy="2228850"/>
            </a:xfrm>
            <a:prstGeom prst="rect">
              <a:avLst/>
            </a:prstGeom>
            <a:solidFill>
              <a:schemeClr val="accent3"/>
            </a:solidFill>
            <a:ln>
              <a:noFill/>
            </a:ln>
          </p:spPr>
        </p:sp>
        <p:sp>
          <p:nvSpPr>
            <p:cNvPr id="59" name="TextBox 59"/>
            <p:cNvSpPr txBox="1"/>
            <p:nvPr/>
          </p:nvSpPr>
          <p:spPr>
            <a:xfrm>
              <a:off x="1056894" y="13029248"/>
              <a:ext cx="8431244" cy="18291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Every revenue figure here is self-reported by the participating firm — an</a:t>
              </a:r>
              <a:br/>
              <a:r>
                <a:rPr lang="en-GB" sz="1950" dirty="0">
                  <a:solidFill>
                    <a:schemeClr val="dk1"/>
                  </a:solidFill>
                  <a:latin typeface="+mn-lt"/>
                  <a:ea typeface="+mn-ea"/>
                  <a:cs typeface="+mn-cs"/>
                </a:rPr>
                <a:t>assumption, not a finding. The standing pattern is documented in the primary</a:t>
              </a:r>
              <a:br/>
              <a:r>
                <a:rPr lang="en-GB" sz="1950" dirty="0">
                  <a:solidFill>
                    <a:schemeClr val="dk1"/>
                  </a:solidFill>
                  <a:latin typeface="+mn-lt"/>
                  <a:ea typeface="+mn-ea"/>
                  <a:cs typeface="+mn-cs"/>
                </a:rPr>
                <a:t>reports rather than asserted by critics: participation is self-selected by</a:t>
              </a:r>
              <a:br/>
              <a:r>
                <a:rPr lang="en-GB" sz="1950" dirty="0">
                  <a:solidFill>
                    <a:schemeClr val="dk1"/>
                  </a:solidFill>
                  <a:latin typeface="+mn-lt"/>
                  <a:ea typeface="+mn-ea"/>
                  <a:cs typeface="+mn-cs"/>
                </a:rPr>
                <a:t>management; control arms are absent, small or non-random; and follow-up</a:t>
              </a:r>
              <a:br/>
              <a:r>
                <a:rPr lang="en-GB" sz="1950" dirty="0">
                  <a:solidFill>
                    <a:schemeClr val="dk1"/>
                  </a:solidFill>
                  <a:latin typeface="+mn-lt"/>
                  <a:ea typeface="+mn-ea"/>
                  <a:cs typeface="+mn-cs"/>
                </a:rPr>
                <a:t>samples shrink, with 28 of 61 organisations at twelve months.</a:t>
              </a:r>
            </a:p>
          </p:txBody>
        </p:sp>
        <p:sp>
          <p:nvSpPr>
            <p:cNvPr id="60" name="TextBox 60"/>
            <p:cNvSpPr txBox="1"/>
            <p:nvPr/>
          </p:nvSpPr>
          <p:spPr>
            <a:xfrm>
              <a:off x="1056894" y="14934248"/>
              <a:ext cx="9269636" cy="381381"/>
            </a:xfrm>
            <a:prstGeom prst="rect">
              <a:avLst/>
            </a:prstGeom>
            <a:noFill/>
            <a:ln>
              <a:noFill/>
            </a:ln>
          </p:spPr>
          <p:txBody>
            <a:bodyPr wrap="none" lIns="0" tIns="0" rIns="0" bIns="0" anchor="t" anchorCtr="0">
              <a:spAutoFit/>
            </a:bodyPr>
            <a:lstStyle/>
            <a:p>
              <a:pPr algn="l"/>
              <a:r>
                <a:rPr lang="en-GB" sz="1950" b="1" dirty="0">
                  <a:solidFill>
                    <a:schemeClr val="accent2"/>
                  </a:solidFill>
                  <a:latin typeface="+mn-lt"/>
                  <a:ea typeface="+mn-ea"/>
                  <a:cs typeface="+mn-cs"/>
                </a:rPr>
                <a:t>This evidence can justify a controlled trial. It cannot justify a commitment.</a:t>
              </a:r>
            </a:p>
          </p:txBody>
        </p:sp>
      </p:grpSp>
      <p:grpSp>
        <p:nvGrpSpPr>
          <p:cNvPr id="65" name="Group 65"/>
          <p:cNvGrpSpPr/>
          <p:nvPr/>
        </p:nvGrpSpPr>
        <p:grpSpPr>
          <a:xfrm>
            <a:off x="755904" y="15582900"/>
            <a:ext cx="10299192" cy="409956"/>
            <a:chOff x="755904" y="15582900"/>
            <a:chExt cx="10299192" cy="409956"/>
          </a:xfrm>
        </p:grpSpPr>
        <p:sp>
          <p:nvSpPr>
            <p:cNvPr id="62" name="Line 62"/>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63" name="TextBox 63"/>
            <p:cNvSpPr txBox="1"/>
            <p:nvPr/>
          </p:nvSpPr>
          <p:spPr>
            <a:xfrm>
              <a:off x="755904" y="15758160"/>
              <a:ext cx="810962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UK pilot report (2023) · Fan et al., Nature Human Behaviour 9 (2025) · Germany pilot (2024)</a:t>
              </a:r>
            </a:p>
          </p:txBody>
        </p:sp>
        <p:sp>
          <p:nvSpPr>
            <p:cNvPr id="64" name="TextBox 64"/>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4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600"/>
                                        <p:tgtEl>
                                          <p:spTgt spid="57"/>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4095750" y="9048750"/>
            <a:ext cx="9525" cy="4953000"/>
          </a:xfrm>
          <a:custGeom>
            <a:avLst/>
            <a:gdLst/>
            <a:ahLst/>
            <a:cxnLst/>
            <a:rect l="l" t="t" r="r" b="b"/>
            <a:pathLst>
              <a:path w="9525" h="4953000">
                <a:moveTo>
                  <a:pt x="0" y="0"/>
                </a:moveTo>
                <a:lnTo>
                  <a:pt x="0" y="4953000"/>
                </a:lnTo>
              </a:path>
            </a:pathLst>
          </a:custGeom>
          <a:noFill/>
          <a:ln w="9525">
            <a:solidFill>
              <a:schemeClr val="accent6"/>
            </a:solidFill>
          </a:ln>
        </p:spPr>
      </p:sp>
      <p:grpSp>
        <p:nvGrpSpPr>
          <p:cNvPr id="6" name="Group 6"/>
          <p:cNvGrpSpPr/>
          <p:nvPr/>
        </p:nvGrpSpPr>
        <p:grpSpPr>
          <a:xfrm>
            <a:off x="755904" y="937260"/>
            <a:ext cx="10299192" cy="329565"/>
            <a:chOff x="755904" y="937260"/>
            <a:chExt cx="10299192" cy="329565"/>
          </a:xfrm>
        </p:grpSpPr>
        <p:sp>
          <p:nvSpPr>
            <p:cNvPr id="3" name="TextBox 3"/>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4" name="TextBox 4"/>
            <p:cNvSpPr txBox="1"/>
            <p:nvPr/>
          </p:nvSpPr>
          <p:spPr>
            <a:xfrm>
              <a:off x="9070993" y="937260"/>
              <a:ext cx="1984103"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5 · Benchmark: persistence</a:t>
              </a:r>
            </a:p>
          </p:txBody>
        </p:sp>
        <p:sp>
          <p:nvSpPr>
            <p:cNvPr id="5" name="Line 5"/>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8" name="Group 8"/>
          <p:cNvGrpSpPr/>
          <p:nvPr/>
        </p:nvGrpSpPr>
        <p:grpSpPr>
          <a:xfrm>
            <a:off x="745236" y="1548765"/>
            <a:ext cx="7673805" cy="1159764"/>
            <a:chOff x="745236" y="1548765"/>
            <a:chExt cx="7673805" cy="1159764"/>
          </a:xfrm>
        </p:grpSpPr>
        <p:sp>
          <p:nvSpPr>
            <p:cNvPr id="7" name="TextBox 7"/>
            <p:cNvSpPr txBox="1"/>
            <p:nvPr/>
          </p:nvSpPr>
          <p:spPr>
            <a:xfrm>
              <a:off x="745236" y="1548765"/>
              <a:ext cx="7673805"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Persistence is high everywhere — and</a:t>
              </a:r>
              <a:br/>
              <a:r>
                <a:rPr lang="en-GB" sz="3300" b="1" dirty="0">
                  <a:solidFill>
                    <a:schemeClr val="dk1"/>
                  </a:solidFill>
                  <a:latin typeface="+mn-lt"/>
                  <a:ea typeface="+mn-ea"/>
                  <a:cs typeface="+mn-cs"/>
                </a:rPr>
                <a:t>highest where the base is smallest</a:t>
              </a:r>
            </a:p>
          </p:txBody>
        </p:sp>
      </p:grpSp>
      <p:grpSp>
        <p:nvGrpSpPr>
          <p:cNvPr id="10" name="Group 10"/>
          <p:cNvGrpSpPr/>
          <p:nvPr/>
        </p:nvGrpSpPr>
        <p:grpSpPr>
          <a:xfrm>
            <a:off x="750570" y="2767012"/>
            <a:ext cx="8965521" cy="840105"/>
            <a:chOff x="750570" y="2767012"/>
            <a:chExt cx="8965521" cy="840105"/>
          </a:xfrm>
        </p:grpSpPr>
        <p:sp>
          <p:nvSpPr>
            <p:cNvPr id="9" name="TextBox 9"/>
            <p:cNvSpPr txBox="1"/>
            <p:nvPr/>
          </p:nvSpPr>
          <p:spPr>
            <a:xfrm>
              <a:off x="750570" y="2767012"/>
              <a:ext cx="8965521"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The continuation rates are real, but they measure self-selected cohorts</a:t>
              </a:r>
              <a:br/>
              <a:r>
                <a:rPr lang="en-GB" sz="2250" dirty="0">
                  <a:solidFill>
                    <a:schemeClr val="accent3"/>
                  </a:solidFill>
                  <a:latin typeface="+mn-lt"/>
                  <a:ea typeface="+mn-ea"/>
                  <a:cs typeface="+mn-cs"/>
                </a:rPr>
                <a:t>and they are not entitlements.</a:t>
              </a:r>
            </a:p>
          </p:txBody>
        </p:sp>
      </p:grpSp>
      <p:grpSp>
        <p:nvGrpSpPr>
          <p:cNvPr id="39" name="Group 39"/>
          <p:cNvGrpSpPr/>
          <p:nvPr/>
        </p:nvGrpSpPr>
        <p:grpSpPr>
          <a:xfrm>
            <a:off x="211801" y="3933825"/>
            <a:ext cx="10741949" cy="4458081"/>
            <a:chOff x="211801" y="3933825"/>
            <a:chExt cx="10741949" cy="4458081"/>
          </a:xfrm>
        </p:grpSpPr>
        <p:grpSp>
          <p:nvGrpSpPr>
            <p:cNvPr id="25" name="Group 25"/>
            <p:cNvGrpSpPr/>
            <p:nvPr/>
          </p:nvGrpSpPr>
          <p:grpSpPr>
            <a:xfrm>
              <a:off x="2000250" y="3933825"/>
              <a:ext cx="8953500" cy="3314700"/>
              <a:chOff x="2000250" y="3933825"/>
              <a:chExt cx="8953500" cy="3314700"/>
            </a:xfrm>
          </p:grpSpPr>
          <p:sp>
            <p:nvSpPr>
              <p:cNvPr id="11" name="Line 11"/>
              <p:cNvSpPr/>
              <p:nvPr/>
            </p:nvSpPr>
            <p:spPr>
              <a:xfrm>
                <a:off x="2000250" y="4191000"/>
                <a:ext cx="8953500" cy="9525"/>
              </a:xfrm>
              <a:custGeom>
                <a:avLst/>
                <a:gdLst/>
                <a:ahLst/>
                <a:cxnLst/>
                <a:rect l="l" t="t" r="r" b="b"/>
                <a:pathLst>
                  <a:path w="8953500" h="9525">
                    <a:moveTo>
                      <a:pt x="0" y="0"/>
                    </a:moveTo>
                    <a:lnTo>
                      <a:pt x="8953500" y="0"/>
                    </a:lnTo>
                  </a:path>
                </a:pathLst>
              </a:custGeom>
              <a:noFill/>
              <a:ln w="9525">
                <a:solidFill>
                  <a:srgbClr val="E7E3DB"/>
                </a:solidFill>
              </a:ln>
            </p:spPr>
          </p:sp>
          <p:sp>
            <p:nvSpPr>
              <p:cNvPr id="12" name="Line 12"/>
              <p:cNvSpPr/>
              <p:nvPr/>
            </p:nvSpPr>
            <p:spPr>
              <a:xfrm>
                <a:off x="2000250" y="4953000"/>
                <a:ext cx="8953500" cy="9525"/>
              </a:xfrm>
              <a:custGeom>
                <a:avLst/>
                <a:gdLst/>
                <a:ahLst/>
                <a:cxnLst/>
                <a:rect l="l" t="t" r="r" b="b"/>
                <a:pathLst>
                  <a:path w="8953500" h="9525">
                    <a:moveTo>
                      <a:pt x="0" y="0"/>
                    </a:moveTo>
                    <a:lnTo>
                      <a:pt x="8953500" y="0"/>
                    </a:lnTo>
                  </a:path>
                </a:pathLst>
              </a:custGeom>
              <a:noFill/>
              <a:ln w="9525">
                <a:solidFill>
                  <a:srgbClr val="E7E3DB"/>
                </a:solidFill>
              </a:ln>
            </p:spPr>
          </p:sp>
          <p:sp>
            <p:nvSpPr>
              <p:cNvPr id="13" name="Line 13"/>
              <p:cNvSpPr/>
              <p:nvPr/>
            </p:nvSpPr>
            <p:spPr>
              <a:xfrm>
                <a:off x="2000250" y="5715000"/>
                <a:ext cx="8953500" cy="9525"/>
              </a:xfrm>
              <a:custGeom>
                <a:avLst/>
                <a:gdLst/>
                <a:ahLst/>
                <a:cxnLst/>
                <a:rect l="l" t="t" r="r" b="b"/>
                <a:pathLst>
                  <a:path w="8953500" h="9525">
                    <a:moveTo>
                      <a:pt x="0" y="0"/>
                    </a:moveTo>
                    <a:lnTo>
                      <a:pt x="8953500" y="0"/>
                    </a:lnTo>
                  </a:path>
                </a:pathLst>
              </a:custGeom>
              <a:noFill/>
              <a:ln w="9525">
                <a:solidFill>
                  <a:srgbClr val="E7E3DB"/>
                </a:solidFill>
              </a:ln>
            </p:spPr>
          </p:sp>
          <p:sp>
            <p:nvSpPr>
              <p:cNvPr id="14" name="Line 14"/>
              <p:cNvSpPr/>
              <p:nvPr/>
            </p:nvSpPr>
            <p:spPr>
              <a:xfrm>
                <a:off x="2000250" y="6477000"/>
                <a:ext cx="8953500" cy="9525"/>
              </a:xfrm>
              <a:custGeom>
                <a:avLst/>
                <a:gdLst/>
                <a:ahLst/>
                <a:cxnLst/>
                <a:rect l="l" t="t" r="r" b="b"/>
                <a:pathLst>
                  <a:path w="8953500" h="9525">
                    <a:moveTo>
                      <a:pt x="0" y="0"/>
                    </a:moveTo>
                    <a:lnTo>
                      <a:pt x="8953500" y="0"/>
                    </a:lnTo>
                  </a:path>
                </a:pathLst>
              </a:custGeom>
              <a:noFill/>
              <a:ln w="9525">
                <a:solidFill>
                  <a:srgbClr val="E7E3DB"/>
                </a:solidFill>
              </a:ln>
            </p:spPr>
          </p:sp>
          <p:sp>
            <p:nvSpPr>
              <p:cNvPr id="15" name="Line 15"/>
              <p:cNvSpPr/>
              <p:nvPr/>
            </p:nvSpPr>
            <p:spPr>
              <a:xfrm>
                <a:off x="2000250" y="4191000"/>
                <a:ext cx="9525" cy="3048000"/>
              </a:xfrm>
              <a:custGeom>
                <a:avLst/>
                <a:gdLst/>
                <a:ahLst/>
                <a:cxnLst/>
                <a:rect l="l" t="t" r="r" b="b"/>
                <a:pathLst>
                  <a:path w="9525" h="3048000">
                    <a:moveTo>
                      <a:pt x="0" y="0"/>
                    </a:moveTo>
                    <a:lnTo>
                      <a:pt x="0" y="3048000"/>
                    </a:lnTo>
                  </a:path>
                </a:pathLst>
              </a:custGeom>
              <a:noFill/>
              <a:ln w="9525">
                <a:solidFill>
                  <a:schemeClr val="accent6"/>
                </a:solidFill>
              </a:ln>
            </p:spPr>
          </p:sp>
          <p:sp>
            <p:nvSpPr>
              <p:cNvPr id="16" name="Line 16"/>
              <p:cNvSpPr/>
              <p:nvPr/>
            </p:nvSpPr>
            <p:spPr>
              <a:xfrm>
                <a:off x="2000250" y="7239000"/>
                <a:ext cx="8953500" cy="9525"/>
              </a:xfrm>
              <a:custGeom>
                <a:avLst/>
                <a:gdLst/>
                <a:ahLst/>
                <a:cxnLst/>
                <a:rect l="l" t="t" r="r" b="b"/>
                <a:pathLst>
                  <a:path w="8953500" h="9525">
                    <a:moveTo>
                      <a:pt x="0" y="0"/>
                    </a:moveTo>
                    <a:lnTo>
                      <a:pt x="8953500" y="0"/>
                    </a:lnTo>
                  </a:path>
                </a:pathLst>
              </a:custGeom>
              <a:noFill/>
              <a:ln w="9525">
                <a:solidFill>
                  <a:schemeClr val="accent6"/>
                </a:solidFill>
              </a:ln>
            </p:spPr>
          </p:sp>
          <p:sp>
            <p:nvSpPr>
              <p:cNvPr id="17" name="Rectangle 17"/>
              <p:cNvSpPr/>
              <p:nvPr/>
            </p:nvSpPr>
            <p:spPr>
              <a:xfrm>
                <a:off x="2559844" y="4434840"/>
                <a:ext cx="1119188" cy="2804160"/>
              </a:xfrm>
              <a:prstGeom prst="rect">
                <a:avLst/>
              </a:prstGeom>
              <a:solidFill>
                <a:schemeClr val="accent1"/>
              </a:solidFill>
              <a:ln>
                <a:noFill/>
              </a:ln>
            </p:spPr>
          </p:sp>
          <p:sp>
            <p:nvSpPr>
              <p:cNvPr id="18" name="Rectangle 18"/>
              <p:cNvSpPr/>
              <p:nvPr/>
            </p:nvSpPr>
            <p:spPr>
              <a:xfrm>
                <a:off x="4798219" y="4526280"/>
                <a:ext cx="1119188" cy="2712720"/>
              </a:xfrm>
              <a:prstGeom prst="rect">
                <a:avLst/>
              </a:prstGeom>
              <a:solidFill>
                <a:schemeClr val="accent2"/>
              </a:solidFill>
              <a:ln>
                <a:noFill/>
              </a:ln>
            </p:spPr>
          </p:sp>
          <p:sp>
            <p:nvSpPr>
              <p:cNvPr id="19" name="Rectangle 19"/>
              <p:cNvSpPr/>
              <p:nvPr/>
            </p:nvSpPr>
            <p:spPr>
              <a:xfrm>
                <a:off x="7036594" y="5013960"/>
                <a:ext cx="1119188" cy="2225040"/>
              </a:xfrm>
              <a:prstGeom prst="rect">
                <a:avLst/>
              </a:prstGeom>
              <a:solidFill>
                <a:schemeClr val="accent1"/>
              </a:solidFill>
              <a:ln>
                <a:noFill/>
              </a:ln>
            </p:spPr>
          </p:sp>
          <p:sp>
            <p:nvSpPr>
              <p:cNvPr id="20" name="Rectangle 20"/>
              <p:cNvSpPr/>
              <p:nvPr/>
            </p:nvSpPr>
            <p:spPr>
              <a:xfrm>
                <a:off x="9274969" y="4191000"/>
                <a:ext cx="1119188" cy="3048000"/>
              </a:xfrm>
              <a:prstGeom prst="rect">
                <a:avLst/>
              </a:prstGeom>
              <a:solidFill>
                <a:srgbClr val="6E777E"/>
              </a:solidFill>
              <a:ln>
                <a:noFill/>
              </a:ln>
            </p:spPr>
          </p:sp>
          <p:sp>
            <p:nvSpPr>
              <p:cNvPr id="21" name="TextBox 21"/>
              <p:cNvSpPr txBox="1"/>
              <p:nvPr/>
            </p:nvSpPr>
            <p:spPr>
              <a:xfrm>
                <a:off x="2909726" y="4177665"/>
                <a:ext cx="419423" cy="293370"/>
              </a:xfrm>
              <a:prstGeom prst="rect">
                <a:avLst/>
              </a:prstGeom>
              <a:noFill/>
              <a:ln>
                <a:noFill/>
              </a:ln>
            </p:spPr>
            <p:txBody>
              <a:bodyPr wrap="none" lIns="0" tIns="0" rIns="0" bIns="0" anchor="t" anchorCtr="0">
                <a:spAutoFit/>
              </a:bodyPr>
              <a:lstStyle/>
              <a:p>
                <a:pPr algn="ctr"/>
                <a:r>
                  <a:rPr lang="en-GB" sz="1500" dirty="0">
                    <a:solidFill>
                      <a:schemeClr val="dk1"/>
                    </a:solidFill>
                    <a:latin typeface="+mn-lt"/>
                    <a:ea typeface="+mn-ea"/>
                    <a:cs typeface="+mn-cs"/>
                  </a:rPr>
                  <a:t>92%</a:t>
                </a:r>
              </a:p>
            </p:txBody>
          </p:sp>
          <p:sp>
            <p:nvSpPr>
              <p:cNvPr id="22" name="TextBox 22"/>
              <p:cNvSpPr txBox="1"/>
              <p:nvPr/>
            </p:nvSpPr>
            <p:spPr>
              <a:xfrm>
                <a:off x="5148101" y="4269105"/>
                <a:ext cx="419423" cy="293370"/>
              </a:xfrm>
              <a:prstGeom prst="rect">
                <a:avLst/>
              </a:prstGeom>
              <a:noFill/>
              <a:ln>
                <a:noFill/>
              </a:ln>
            </p:spPr>
            <p:txBody>
              <a:bodyPr wrap="none" lIns="0" tIns="0" rIns="0" bIns="0" anchor="t" anchorCtr="0">
                <a:spAutoFit/>
              </a:bodyPr>
              <a:lstStyle/>
              <a:p>
                <a:pPr algn="ctr"/>
                <a:r>
                  <a:rPr lang="en-GB" sz="1500" dirty="0">
                    <a:solidFill>
                      <a:schemeClr val="dk1"/>
                    </a:solidFill>
                    <a:latin typeface="+mn-lt"/>
                    <a:ea typeface="+mn-ea"/>
                    <a:cs typeface="+mn-cs"/>
                  </a:rPr>
                  <a:t>89%</a:t>
                </a:r>
              </a:p>
            </p:txBody>
          </p:sp>
          <p:sp>
            <p:nvSpPr>
              <p:cNvPr id="23" name="TextBox 23"/>
              <p:cNvSpPr txBox="1"/>
              <p:nvPr/>
            </p:nvSpPr>
            <p:spPr>
              <a:xfrm>
                <a:off x="7386476" y="4756785"/>
                <a:ext cx="419423" cy="293370"/>
              </a:xfrm>
              <a:prstGeom prst="rect">
                <a:avLst/>
              </a:prstGeom>
              <a:noFill/>
              <a:ln>
                <a:noFill/>
              </a:ln>
            </p:spPr>
            <p:txBody>
              <a:bodyPr wrap="none" lIns="0" tIns="0" rIns="0" bIns="0" anchor="t" anchorCtr="0">
                <a:spAutoFit/>
              </a:bodyPr>
              <a:lstStyle/>
              <a:p>
                <a:pPr algn="ctr"/>
                <a:r>
                  <a:rPr lang="en-GB" sz="1500" dirty="0">
                    <a:solidFill>
                      <a:schemeClr val="dk1"/>
                    </a:solidFill>
                    <a:latin typeface="+mn-lt"/>
                    <a:ea typeface="+mn-ea"/>
                    <a:cs typeface="+mn-cs"/>
                  </a:rPr>
                  <a:t>73%</a:t>
                </a:r>
              </a:p>
            </p:txBody>
          </p:sp>
          <p:sp>
            <p:nvSpPr>
              <p:cNvPr id="24" name="TextBox 24"/>
              <p:cNvSpPr txBox="1"/>
              <p:nvPr/>
            </p:nvSpPr>
            <p:spPr>
              <a:xfrm>
                <a:off x="9568694" y="3933825"/>
                <a:ext cx="531737" cy="293370"/>
              </a:xfrm>
              <a:prstGeom prst="rect">
                <a:avLst/>
              </a:prstGeom>
              <a:noFill/>
              <a:ln>
                <a:noFill/>
              </a:ln>
            </p:spPr>
            <p:txBody>
              <a:bodyPr wrap="none" lIns="0" tIns="0" rIns="0" bIns="0" anchor="t" anchorCtr="0">
                <a:spAutoFit/>
              </a:bodyPr>
              <a:lstStyle/>
              <a:p>
                <a:pPr algn="ctr"/>
                <a:r>
                  <a:rPr lang="en-GB" sz="1500" dirty="0">
                    <a:solidFill>
                      <a:schemeClr val="dk1"/>
                    </a:solidFill>
                    <a:latin typeface="+mn-lt"/>
                    <a:ea typeface="+mn-ea"/>
                    <a:cs typeface="+mn-cs"/>
                  </a:rPr>
                  <a:t>100%</a:t>
                </a:r>
              </a:p>
            </p:txBody>
          </p:sp>
        </p:grpSp>
        <p:sp>
          <p:nvSpPr>
            <p:cNvPr id="26" name="TextBox 26"/>
            <p:cNvSpPr txBox="1"/>
            <p:nvPr/>
          </p:nvSpPr>
          <p:spPr>
            <a:xfrm>
              <a:off x="1646358" y="7166610"/>
              <a:ext cx="245688"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0%</a:t>
              </a:r>
            </a:p>
          </p:txBody>
        </p:sp>
        <p:sp>
          <p:nvSpPr>
            <p:cNvPr id="27" name="TextBox 27"/>
            <p:cNvSpPr txBox="1"/>
            <p:nvPr/>
          </p:nvSpPr>
          <p:spPr>
            <a:xfrm>
              <a:off x="1556508" y="6404610"/>
              <a:ext cx="335538"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25%</a:t>
              </a:r>
            </a:p>
          </p:txBody>
        </p:sp>
        <p:sp>
          <p:nvSpPr>
            <p:cNvPr id="28" name="TextBox 28"/>
            <p:cNvSpPr txBox="1"/>
            <p:nvPr/>
          </p:nvSpPr>
          <p:spPr>
            <a:xfrm>
              <a:off x="1556508" y="5642610"/>
              <a:ext cx="335538"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50%</a:t>
              </a:r>
            </a:p>
          </p:txBody>
        </p:sp>
        <p:sp>
          <p:nvSpPr>
            <p:cNvPr id="29" name="TextBox 29"/>
            <p:cNvSpPr txBox="1"/>
            <p:nvPr/>
          </p:nvSpPr>
          <p:spPr>
            <a:xfrm>
              <a:off x="1556508" y="4880610"/>
              <a:ext cx="335538"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75%</a:t>
              </a:r>
            </a:p>
          </p:txBody>
        </p:sp>
        <p:sp>
          <p:nvSpPr>
            <p:cNvPr id="30" name="TextBox 30"/>
            <p:cNvSpPr txBox="1"/>
            <p:nvPr/>
          </p:nvSpPr>
          <p:spPr>
            <a:xfrm>
              <a:off x="1466657" y="4118610"/>
              <a:ext cx="425389"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100%</a:t>
              </a:r>
            </a:p>
          </p:txBody>
        </p:sp>
        <p:sp>
          <p:nvSpPr>
            <p:cNvPr id="31" name="TextBox 31"/>
            <p:cNvSpPr txBox="1"/>
            <p:nvPr/>
          </p:nvSpPr>
          <p:spPr>
            <a:xfrm rot="-5400000">
              <a:off x="211801" y="5597652"/>
              <a:ext cx="2028514" cy="234696"/>
            </a:xfrm>
            <a:prstGeom prst="rect">
              <a:avLst/>
            </a:prstGeom>
            <a:noFill/>
            <a:ln>
              <a:noFill/>
            </a:ln>
          </p:spPr>
          <p:txBody>
            <a:bodyPr wrap="none" lIns="0" tIns="0" rIns="0" bIns="0" anchor="t" anchorCtr="0">
              <a:spAutoFit/>
            </a:bodyPr>
            <a:lstStyle/>
            <a:p>
              <a:pPr algn="ctr"/>
              <a:r>
                <a:rPr lang="en-GB" sz="1200" dirty="0">
                  <a:solidFill>
                    <a:schemeClr val="accent5"/>
                  </a:solidFill>
                  <a:latin typeface="+mn-lt"/>
                  <a:ea typeface="+mn-ea"/>
                  <a:cs typeface="+mn-cs"/>
                </a:rPr>
                <a:t>Share still on reduced hours</a:t>
              </a:r>
            </a:p>
          </p:txBody>
        </p:sp>
        <p:sp>
          <p:nvSpPr>
            <p:cNvPr id="32" name="TextBox 32"/>
            <p:cNvSpPr txBox="1"/>
            <p:nvPr/>
          </p:nvSpPr>
          <p:spPr>
            <a:xfrm>
              <a:off x="2319564" y="7357110"/>
              <a:ext cx="1599748" cy="234696"/>
            </a:xfrm>
            <a:prstGeom prst="rect">
              <a:avLst/>
            </a:prstGeom>
            <a:noFill/>
            <a:ln>
              <a:noFill/>
            </a:ln>
          </p:spPr>
          <p:txBody>
            <a:bodyPr wrap="none" lIns="0" tIns="0" rIns="0" bIns="0" anchor="t" anchorCtr="0">
              <a:spAutoFit/>
            </a:bodyPr>
            <a:lstStyle/>
            <a:p>
              <a:pPr algn="ctr"/>
              <a:r>
                <a:rPr lang="en-GB" sz="1200" dirty="0">
                  <a:solidFill>
                    <a:schemeClr val="dk1"/>
                  </a:solidFill>
                  <a:latin typeface="+mn-lt"/>
                  <a:ea typeface="+mn-ea"/>
                  <a:cs typeface="+mn-cs"/>
                </a:rPr>
                <a:t>UK 2022 · end (n=61)</a:t>
              </a:r>
            </a:p>
          </p:txBody>
        </p:sp>
        <p:sp>
          <p:nvSpPr>
            <p:cNvPr id="33" name="TextBox 33"/>
            <p:cNvSpPr txBox="1"/>
            <p:nvPr/>
          </p:nvSpPr>
          <p:spPr>
            <a:xfrm>
              <a:off x="4463246" y="7357110"/>
              <a:ext cx="1789133" cy="234696"/>
            </a:xfrm>
            <a:prstGeom prst="rect">
              <a:avLst/>
            </a:prstGeom>
            <a:noFill/>
            <a:ln>
              <a:noFill/>
            </a:ln>
          </p:spPr>
          <p:txBody>
            <a:bodyPr wrap="none" lIns="0" tIns="0" rIns="0" bIns="0" anchor="t" anchorCtr="0">
              <a:spAutoFit/>
            </a:bodyPr>
            <a:lstStyle/>
            <a:p>
              <a:pPr algn="ctr"/>
              <a:r>
                <a:rPr lang="en-GB" sz="1200" dirty="0">
                  <a:solidFill>
                    <a:schemeClr val="dk1"/>
                  </a:solidFill>
                  <a:latin typeface="+mn-lt"/>
                  <a:ea typeface="+mn-ea"/>
                  <a:cs typeface="+mn-cs"/>
                </a:rPr>
                <a:t>UK 2022 · 12 mo (n=61)</a:t>
              </a:r>
            </a:p>
          </p:txBody>
        </p:sp>
        <p:sp>
          <p:nvSpPr>
            <p:cNvPr id="34" name="TextBox 34"/>
            <p:cNvSpPr txBox="1"/>
            <p:nvPr/>
          </p:nvSpPr>
          <p:spPr>
            <a:xfrm>
              <a:off x="6791998" y="7357110"/>
              <a:ext cx="1608379" cy="234696"/>
            </a:xfrm>
            <a:prstGeom prst="rect">
              <a:avLst/>
            </a:prstGeom>
            <a:noFill/>
            <a:ln>
              <a:noFill/>
            </a:ln>
          </p:spPr>
          <p:txBody>
            <a:bodyPr wrap="none" lIns="0" tIns="0" rIns="0" bIns="0" anchor="t" anchorCtr="0">
              <a:spAutoFit/>
            </a:bodyPr>
            <a:lstStyle/>
            <a:p>
              <a:pPr algn="ctr"/>
              <a:r>
                <a:rPr lang="en-GB" sz="1200" dirty="0">
                  <a:solidFill>
                    <a:schemeClr val="dk1"/>
                  </a:solidFill>
                  <a:latin typeface="+mn-lt"/>
                  <a:ea typeface="+mn-ea"/>
                  <a:cs typeface="+mn-cs"/>
                </a:rPr>
                <a:t>Germany 2024 (n=45)</a:t>
              </a:r>
            </a:p>
          </p:txBody>
        </p:sp>
        <p:sp>
          <p:nvSpPr>
            <p:cNvPr id="35" name="TextBox 35"/>
            <p:cNvSpPr txBox="1"/>
            <p:nvPr/>
          </p:nvSpPr>
          <p:spPr>
            <a:xfrm>
              <a:off x="9094472" y="7357110"/>
              <a:ext cx="1480182" cy="234696"/>
            </a:xfrm>
            <a:prstGeom prst="rect">
              <a:avLst/>
            </a:prstGeom>
            <a:noFill/>
            <a:ln>
              <a:noFill/>
            </a:ln>
          </p:spPr>
          <p:txBody>
            <a:bodyPr wrap="none" lIns="0" tIns="0" rIns="0" bIns="0" anchor="t" anchorCtr="0">
              <a:spAutoFit/>
            </a:bodyPr>
            <a:lstStyle/>
            <a:p>
              <a:pPr algn="ctr"/>
              <a:r>
                <a:rPr lang="en-GB" sz="1200" dirty="0">
                  <a:solidFill>
                    <a:schemeClr val="dk1"/>
                  </a:solidFill>
                  <a:latin typeface="+mn-lt"/>
                  <a:ea typeface="+mn-ea"/>
                  <a:cs typeface="+mn-cs"/>
                </a:rPr>
                <a:t>UK 2024–25 (n=17)</a:t>
              </a:r>
            </a:p>
          </p:txBody>
        </p:sp>
        <p:sp>
          <p:nvSpPr>
            <p:cNvPr id="36" name="TextBox 36"/>
            <p:cNvSpPr txBox="1"/>
            <p:nvPr/>
          </p:nvSpPr>
          <p:spPr>
            <a:xfrm>
              <a:off x="5530088" y="7642860"/>
              <a:ext cx="1893823" cy="234696"/>
            </a:xfrm>
            <a:prstGeom prst="rect">
              <a:avLst/>
            </a:prstGeom>
            <a:noFill/>
            <a:ln>
              <a:noFill/>
            </a:ln>
          </p:spPr>
          <p:txBody>
            <a:bodyPr wrap="none" lIns="0" tIns="0" rIns="0" bIns="0" anchor="t" anchorCtr="0">
              <a:spAutoFit/>
            </a:bodyPr>
            <a:lstStyle/>
            <a:p>
              <a:pPr algn="ctr"/>
              <a:r>
                <a:rPr lang="en-GB" sz="1200" dirty="0">
                  <a:solidFill>
                    <a:schemeClr val="accent5"/>
                  </a:solidFill>
                  <a:latin typeface="+mn-lt"/>
                  <a:ea typeface="+mn-ea"/>
                  <a:cs typeface="+mn-cs"/>
                </a:rPr>
                <a:t>Cohort and reporting point</a:t>
              </a:r>
            </a:p>
          </p:txBody>
        </p:sp>
        <p:sp>
          <p:nvSpPr>
            <p:cNvPr id="37" name="TextBox 37"/>
            <p:cNvSpPr txBox="1"/>
            <p:nvPr/>
          </p:nvSpPr>
          <p:spPr>
            <a:xfrm>
              <a:off x="1994154" y="7928610"/>
              <a:ext cx="5018707" cy="234696"/>
            </a:xfrm>
            <a:prstGeom prst="rect">
              <a:avLst/>
            </a:prstGeom>
            <a:noFill/>
            <a:ln>
              <a:noFill/>
            </a:ln>
          </p:spPr>
          <p:txBody>
            <a:bodyPr wrap="none" lIns="0" tIns="0" rIns="0" bIns="0" anchor="t" anchorCtr="0">
              <a:spAutoFit/>
            </a:bodyPr>
            <a:lstStyle/>
            <a:p>
              <a:pPr algn="l"/>
              <a:r>
                <a:rPr lang="en-GB" sz="1200" dirty="0">
                  <a:solidFill>
                    <a:schemeClr val="accent2"/>
                  </a:solidFill>
                  <a:latin typeface="+mn-lt"/>
                  <a:ea typeface="+mn-ea"/>
                  <a:cs typeface="+mn-cs"/>
                </a:rPr>
                <a:t>Accent: the figure this memo relies on — twelve months, largest base.</a:t>
              </a:r>
            </a:p>
          </p:txBody>
        </p:sp>
        <p:sp>
          <p:nvSpPr>
            <p:cNvPr id="38" name="TextBox 38"/>
            <p:cNvSpPr txBox="1"/>
            <p:nvPr/>
          </p:nvSpPr>
          <p:spPr>
            <a:xfrm>
              <a:off x="1994154" y="8157210"/>
              <a:ext cx="5532894"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Grey: 100% on 17 self-selected companies, a weaker signal than 89% on 61.</a:t>
              </a:r>
            </a:p>
          </p:txBody>
        </p:sp>
      </p:grpSp>
      <p:grpSp>
        <p:nvGrpSpPr>
          <p:cNvPr id="43" name="Group 43"/>
          <p:cNvGrpSpPr/>
          <p:nvPr/>
        </p:nvGrpSpPr>
        <p:grpSpPr>
          <a:xfrm>
            <a:off x="754380" y="9300210"/>
            <a:ext cx="2333968" cy="1187196"/>
            <a:chOff x="754380" y="9300210"/>
            <a:chExt cx="2333968" cy="1187196"/>
          </a:xfrm>
        </p:grpSpPr>
        <p:sp>
          <p:nvSpPr>
            <p:cNvPr id="40" name="TextBox 40"/>
            <p:cNvSpPr txBox="1"/>
            <p:nvPr/>
          </p:nvSpPr>
          <p:spPr>
            <a:xfrm>
              <a:off x="755904" y="9300210"/>
              <a:ext cx="2198739" cy="234696"/>
            </a:xfrm>
            <a:prstGeom prst="rect">
              <a:avLst/>
            </a:prstGeom>
            <a:noFill/>
            <a:ln>
              <a:noFill/>
            </a:ln>
          </p:spPr>
          <p:txBody>
            <a:bodyPr wrap="none" lIns="0" tIns="0" rIns="0" bIns="0" anchor="t" anchorCtr="0">
              <a:spAutoFit/>
            </a:bodyPr>
            <a:lstStyle/>
            <a:p>
              <a:pPr algn="l"/>
              <a:r>
                <a:rPr lang="en-GB" sz="1200" b="1" spc="120" dirty="0">
                  <a:solidFill>
                    <a:schemeClr val="accent2"/>
                  </a:solidFill>
                  <a:latin typeface="+mn-lt"/>
                  <a:ea typeface="+mn-ea"/>
                  <a:cs typeface="+mn-cs"/>
                </a:rPr>
                <a:t>NOT AN ENTITLEMENT</a:t>
              </a:r>
            </a:p>
          </p:txBody>
        </p:sp>
        <p:sp>
          <p:nvSpPr>
            <p:cNvPr id="41" name="TextBox 41"/>
            <p:cNvSpPr txBox="1"/>
            <p:nvPr/>
          </p:nvSpPr>
          <p:spPr>
            <a:xfrm>
              <a:off x="754380" y="9591675"/>
              <a:ext cx="2333968"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UK twelve-month follow-up,</a:t>
              </a:r>
              <a:br/>
              <a:r>
                <a:rPr lang="en-GB" sz="1500" dirty="0">
                  <a:solidFill>
                    <a:schemeClr val="accent5"/>
                  </a:solidFill>
                  <a:latin typeface="+mn-lt"/>
                  <a:ea typeface="+mn-ea"/>
                  <a:cs typeface="+mn-cs"/>
                </a:rPr>
                <a:t>28 organisations.</a:t>
              </a:r>
            </a:p>
          </p:txBody>
        </p:sp>
        <p:sp>
          <p:nvSpPr>
            <p:cNvPr id="42" name="TextBox 42"/>
            <p:cNvSpPr txBox="1"/>
            <p:nvPr/>
          </p:nvSpPr>
          <p:spPr>
            <a:xfrm>
              <a:off x="755904" y="10252710"/>
              <a:ext cx="401258"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F025</a:t>
              </a:r>
            </a:p>
          </p:txBody>
        </p:sp>
      </p:grpSp>
      <p:grpSp>
        <p:nvGrpSpPr>
          <p:cNvPr id="45" name="Group 45"/>
          <p:cNvGrpSpPr/>
          <p:nvPr/>
        </p:nvGrpSpPr>
        <p:grpSpPr>
          <a:xfrm>
            <a:off x="4371594" y="9219248"/>
            <a:ext cx="6090209" cy="1829181"/>
            <a:chOff x="4371594" y="9219248"/>
            <a:chExt cx="6090209" cy="1829181"/>
          </a:xfrm>
        </p:grpSpPr>
        <p:sp>
          <p:nvSpPr>
            <p:cNvPr id="44" name="TextBox 44"/>
            <p:cNvSpPr txBox="1"/>
            <p:nvPr/>
          </p:nvSpPr>
          <p:spPr>
            <a:xfrm>
              <a:off x="4371594" y="9219248"/>
              <a:ext cx="6090209" cy="18291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Of the 28 organisations in the twelve-month follow-up,</a:t>
              </a:r>
              <a:br/>
              <a:r>
                <a:rPr lang="en-GB" sz="1950" dirty="0">
                  <a:solidFill>
                    <a:schemeClr val="dk1"/>
                  </a:solidFill>
                  <a:latin typeface="+mn-lt"/>
                  <a:ea typeface="+mn-ea"/>
                  <a:cs typeface="+mn-cs"/>
                </a:rPr>
                <a:t>39% were permanent with updated terms and</a:t>
              </a:r>
              <a:br/>
              <a:r>
                <a:rPr lang="en-GB" sz="1950" dirty="0">
                  <a:solidFill>
                    <a:schemeClr val="dk1"/>
                  </a:solidFill>
                  <a:latin typeface="+mn-lt"/>
                  <a:ea typeface="+mn-ea"/>
                  <a:cs typeface="+mn-cs"/>
                </a:rPr>
                <a:t>conditions and 39% were permanent without changing</a:t>
              </a:r>
              <a:br/>
              <a:r>
                <a:rPr lang="en-GB" sz="1950" dirty="0">
                  <a:solidFill>
                    <a:schemeClr val="dk1"/>
                  </a:solidFill>
                  <a:latin typeface="+mn-lt"/>
                  <a:ea typeface="+mn-ea"/>
                  <a:cs typeface="+mn-cs"/>
                </a:rPr>
                <a:t>contracts — an opt-in policy the employer can withdraw</a:t>
              </a:r>
              <a:br/>
              <a:r>
                <a:rPr lang="en-GB" sz="1950" dirty="0">
                  <a:solidFill>
                    <a:schemeClr val="dk1"/>
                  </a:solidFill>
                  <a:latin typeface="+mn-lt"/>
                  <a:ea typeface="+mn-ea"/>
                  <a:cs typeface="+mn-cs"/>
                </a:rPr>
                <a:t>at will.</a:t>
              </a:r>
            </a:p>
          </p:txBody>
        </p:sp>
      </p:grpSp>
      <p:grpSp>
        <p:nvGrpSpPr>
          <p:cNvPr id="49" name="Group 49"/>
          <p:cNvGrpSpPr/>
          <p:nvPr/>
        </p:nvGrpSpPr>
        <p:grpSpPr>
          <a:xfrm>
            <a:off x="754380" y="11871960"/>
            <a:ext cx="2228698" cy="1187196"/>
            <a:chOff x="754380" y="11871960"/>
            <a:chExt cx="2228698" cy="1187196"/>
          </a:xfrm>
        </p:grpSpPr>
        <p:sp>
          <p:nvSpPr>
            <p:cNvPr id="46" name="TextBox 46"/>
            <p:cNvSpPr txBox="1"/>
            <p:nvPr/>
          </p:nvSpPr>
          <p:spPr>
            <a:xfrm>
              <a:off x="755904" y="11871960"/>
              <a:ext cx="1049770" cy="234696"/>
            </a:xfrm>
            <a:prstGeom prst="rect">
              <a:avLst/>
            </a:prstGeom>
            <a:noFill/>
            <a:ln>
              <a:noFill/>
            </a:ln>
          </p:spPr>
          <p:txBody>
            <a:bodyPr wrap="none" lIns="0" tIns="0" rIns="0" bIns="0" anchor="t" anchorCtr="0">
              <a:spAutoFit/>
            </a:bodyPr>
            <a:lstStyle/>
            <a:p>
              <a:pPr algn="l"/>
              <a:r>
                <a:rPr lang="en-GB" sz="1200" b="1" spc="120" dirty="0">
                  <a:solidFill>
                    <a:srgbClr val="6E777E"/>
                  </a:solidFill>
                  <a:latin typeface="+mn-lt"/>
                  <a:ea typeface="+mn-ea"/>
                  <a:cs typeface="+mn-cs"/>
                </a:rPr>
                <a:t>BASE SIZE</a:t>
              </a:r>
            </a:p>
          </p:txBody>
        </p:sp>
        <p:sp>
          <p:nvSpPr>
            <p:cNvPr id="47" name="TextBox 47"/>
            <p:cNvSpPr txBox="1"/>
            <p:nvPr/>
          </p:nvSpPr>
          <p:spPr>
            <a:xfrm>
              <a:off x="754380" y="12163425"/>
              <a:ext cx="2228698" cy="541020"/>
            </a:xfrm>
            <a:prstGeom prst="rect">
              <a:avLst/>
            </a:prstGeom>
            <a:noFill/>
            <a:ln>
              <a:noFill/>
            </a:ln>
          </p:spPr>
          <p:txBody>
            <a:bodyPr wrap="none" lIns="0" tIns="0" rIns="0" bIns="0" anchor="t" anchorCtr="0">
              <a:spAutoFit/>
            </a:bodyPr>
            <a:lstStyle/>
            <a:p>
              <a:pPr algn="l">
                <a:lnSpc>
                  <a:spcPts val="1950"/>
                </a:lnSpc>
              </a:pPr>
              <a:r>
                <a:rPr lang="en-GB" sz="1500" dirty="0">
                  <a:solidFill>
                    <a:schemeClr val="accent5"/>
                  </a:solidFill>
                  <a:latin typeface="+mn-lt"/>
                  <a:ea typeface="+mn-ea"/>
                  <a:cs typeface="+mn-cs"/>
                </a:rPr>
                <a:t>Continuation rates against</a:t>
              </a:r>
              <a:br/>
              <a:r>
                <a:rPr lang="en-GB" sz="1500" dirty="0">
                  <a:solidFill>
                    <a:schemeClr val="accent5"/>
                  </a:solidFill>
                  <a:latin typeface="+mn-lt"/>
                  <a:ea typeface="+mn-ea"/>
                  <a:cs typeface="+mn-cs"/>
                </a:rPr>
                <a:t>their cohort size.</a:t>
              </a:r>
            </a:p>
          </p:txBody>
        </p:sp>
        <p:sp>
          <p:nvSpPr>
            <p:cNvPr id="48" name="TextBox 48"/>
            <p:cNvSpPr txBox="1"/>
            <p:nvPr/>
          </p:nvSpPr>
          <p:spPr>
            <a:xfrm>
              <a:off x="755904" y="12824460"/>
              <a:ext cx="941998"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F029 · F071</a:t>
              </a:r>
            </a:p>
          </p:txBody>
        </p:sp>
      </p:grpSp>
      <p:grpSp>
        <p:nvGrpSpPr>
          <p:cNvPr id="51" name="Group 51"/>
          <p:cNvGrpSpPr/>
          <p:nvPr/>
        </p:nvGrpSpPr>
        <p:grpSpPr>
          <a:xfrm>
            <a:off x="4371594" y="11695748"/>
            <a:ext cx="6063661" cy="2191131"/>
            <a:chOff x="4371594" y="11695748"/>
            <a:chExt cx="6063661" cy="2191131"/>
          </a:xfrm>
        </p:grpSpPr>
        <p:sp>
          <p:nvSpPr>
            <p:cNvPr id="50" name="TextBox 50"/>
            <p:cNvSpPr txBox="1"/>
            <p:nvPr/>
          </p:nvSpPr>
          <p:spPr>
            <a:xfrm>
              <a:off x="4371594" y="11695748"/>
              <a:ext cx="6063661" cy="21911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A 100% continuation rate on 17 self-selected</a:t>
              </a:r>
              <a:br/>
              <a:r>
                <a:rPr lang="en-GB" sz="1950" dirty="0">
                  <a:solidFill>
                    <a:schemeClr val="dk1"/>
                  </a:solidFill>
                  <a:latin typeface="+mn-lt"/>
                  <a:ea typeface="+mn-ea"/>
                  <a:cs typeface="+mn-cs"/>
                </a:rPr>
                <a:t>companies is a weaker signal than 89% on 61, and this</a:t>
              </a:r>
              <a:br/>
              <a:r>
                <a:rPr lang="en-GB" sz="1950" dirty="0">
                  <a:solidFill>
                    <a:schemeClr val="dk1"/>
                  </a:solidFill>
                  <a:latin typeface="+mn-lt"/>
                  <a:ea typeface="+mn-ea"/>
                  <a:cs typeface="+mn-cs"/>
                </a:rPr>
                <a:t>memo does not lead with it. Universal or staggered</a:t>
              </a:r>
              <a:br/>
              <a:r>
                <a:rPr lang="en-GB" sz="1950" dirty="0">
                  <a:solidFill>
                    <a:schemeClr val="dk1"/>
                  </a:solidFill>
                  <a:latin typeface="+mn-lt"/>
                  <a:ea typeface="+mn-ea"/>
                  <a:cs typeface="+mn-cs"/>
                </a:rPr>
                <a:t>day-off models converted to permanence in 95% of</a:t>
              </a:r>
              <a:br/>
              <a:r>
                <a:rPr lang="en-GB" sz="1950" dirty="0">
                  <a:solidFill>
                    <a:schemeClr val="dk1"/>
                  </a:solidFill>
                  <a:latin typeface="+mn-lt"/>
                  <a:ea typeface="+mn-ea"/>
                  <a:cs typeface="+mn-cs"/>
                </a:rPr>
                <a:t>cases against 60% for flexible ones — on a sample the</a:t>
              </a:r>
              <a:br/>
              <a:r>
                <a:rPr lang="en-GB" sz="1950" dirty="0">
                  <a:solidFill>
                    <a:schemeClr val="dk1"/>
                  </a:solidFill>
                  <a:latin typeface="+mn-lt"/>
                  <a:ea typeface="+mn-ea"/>
                  <a:cs typeface="+mn-cs"/>
                </a:rPr>
                <a:t>authors call too small for significance.</a:t>
              </a:r>
            </a:p>
          </p:txBody>
        </p:sp>
      </p:grpSp>
      <p:grpSp>
        <p:nvGrpSpPr>
          <p:cNvPr id="55" name="Group 55"/>
          <p:cNvGrpSpPr/>
          <p:nvPr/>
        </p:nvGrpSpPr>
        <p:grpSpPr>
          <a:xfrm>
            <a:off x="755904" y="15582900"/>
            <a:ext cx="10299192" cy="409956"/>
            <a:chOff x="755904" y="15582900"/>
            <a:chExt cx="10299192" cy="409956"/>
          </a:xfrm>
        </p:grpSpPr>
        <p:sp>
          <p:nvSpPr>
            <p:cNvPr id="52" name="Line 52"/>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53" name="TextBox 53"/>
            <p:cNvSpPr txBox="1"/>
            <p:nvPr/>
          </p:nvSpPr>
          <p:spPr>
            <a:xfrm>
              <a:off x="755904" y="15758160"/>
              <a:ext cx="804949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4 Day Week Foundation follow-up (2024) and 2024–25 pilot · Germany pilot (2024)</a:t>
              </a:r>
            </a:p>
          </p:txBody>
        </p:sp>
        <p:sp>
          <p:nvSpPr>
            <p:cNvPr id="54" name="TextBox 54"/>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5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600"/>
                                        <p:tgtEl>
                                          <p:spTgt spid="39"/>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400"/>
                                        <p:tgtEl>
                                          <p:spTgt spid="45"/>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8945591" y="937260"/>
              <a:ext cx="2109505"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6 · Benchmark: comparability</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45236" y="1548765"/>
            <a:ext cx="9070833" cy="1159764"/>
            <a:chOff x="745236" y="1548765"/>
            <a:chExt cx="9070833" cy="1159764"/>
          </a:xfrm>
        </p:grpSpPr>
        <p:sp>
          <p:nvSpPr>
            <p:cNvPr id="6" name="TextBox 6"/>
            <p:cNvSpPr txBox="1"/>
            <p:nvPr/>
          </p:nvSpPr>
          <p:spPr>
            <a:xfrm>
              <a:off x="745236" y="1548765"/>
              <a:ext cx="9070833"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Only two of these seven studies are evidence</a:t>
              </a:r>
              <a:br/>
              <a:r>
                <a:rPr lang="en-GB" sz="3300" b="1" dirty="0">
                  <a:solidFill>
                    <a:schemeClr val="dk1"/>
                  </a:solidFill>
                  <a:latin typeface="+mn-lt"/>
                  <a:ea typeface="+mn-ea"/>
                  <a:cs typeface="+mn-cs"/>
                </a:rPr>
                <a:t>about a firm like ours</a:t>
              </a:r>
            </a:p>
          </p:txBody>
        </p:sp>
      </p:grpSp>
      <p:grpSp>
        <p:nvGrpSpPr>
          <p:cNvPr id="9" name="Group 9"/>
          <p:cNvGrpSpPr/>
          <p:nvPr/>
        </p:nvGrpSpPr>
        <p:grpSpPr>
          <a:xfrm>
            <a:off x="750570" y="2767012"/>
            <a:ext cx="9045302" cy="840105"/>
            <a:chOff x="750570" y="2767012"/>
            <a:chExt cx="9045302" cy="840105"/>
          </a:xfrm>
        </p:grpSpPr>
        <p:sp>
          <p:nvSpPr>
            <p:cNvPr id="8" name="TextBox 8"/>
            <p:cNvSpPr txBox="1"/>
            <p:nvPr/>
          </p:nvSpPr>
          <p:spPr>
            <a:xfrm>
              <a:off x="750570" y="2767012"/>
              <a:ext cx="9045302"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On a common basis, most of the precedents we are quoted are about a</a:t>
              </a:r>
              <a:br/>
              <a:r>
                <a:rPr lang="en-GB" sz="2250" dirty="0">
                  <a:solidFill>
                    <a:schemeClr val="accent3"/>
                  </a:solidFill>
                  <a:latin typeface="+mn-lt"/>
                  <a:ea typeface="+mn-ea"/>
                  <a:cs typeface="+mn-cs"/>
                </a:rPr>
                <a:t>different intervention or a different sector.</a:t>
              </a:r>
            </a:p>
          </p:txBody>
        </p:sp>
      </p:grpSp>
      <p:grpSp>
        <p:nvGrpSpPr>
          <p:cNvPr id="51" name="Group 51"/>
          <p:cNvGrpSpPr/>
          <p:nvPr/>
        </p:nvGrpSpPr>
        <p:grpSpPr>
          <a:xfrm>
            <a:off x="762000" y="3810000"/>
            <a:ext cx="10287000" cy="7820025"/>
            <a:chOff x="762000" y="3810000"/>
            <a:chExt cx="10287000" cy="7820025"/>
          </a:xfrm>
        </p:grpSpPr>
        <p:sp>
          <p:nvSpPr>
            <p:cNvPr id="10" name="Rectangle 10"/>
            <p:cNvSpPr/>
            <p:nvPr/>
          </p:nvSpPr>
          <p:spPr>
            <a:xfrm>
              <a:off x="762000" y="3810000"/>
              <a:ext cx="10287000" cy="762000"/>
            </a:xfrm>
            <a:prstGeom prst="rect">
              <a:avLst/>
            </a:prstGeom>
            <a:solidFill>
              <a:schemeClr val="lt2"/>
            </a:solidFill>
            <a:ln>
              <a:noFill/>
            </a:ln>
          </p:spPr>
        </p:sp>
        <p:sp>
          <p:nvSpPr>
            <p:cNvPr id="11" name="Line 11"/>
            <p:cNvSpPr/>
            <p:nvPr/>
          </p:nvSpPr>
          <p:spPr>
            <a:xfrm>
              <a:off x="762000" y="4572000"/>
              <a:ext cx="10287000" cy="9525"/>
            </a:xfrm>
            <a:custGeom>
              <a:avLst/>
              <a:gdLst/>
              <a:ahLst/>
              <a:cxnLst/>
              <a:rect l="l" t="t" r="r" b="b"/>
              <a:pathLst>
                <a:path w="10287000" h="9525">
                  <a:moveTo>
                    <a:pt x="0" y="0"/>
                  </a:moveTo>
                  <a:lnTo>
                    <a:pt x="10287000" y="0"/>
                  </a:lnTo>
                </a:path>
              </a:pathLst>
            </a:custGeom>
            <a:noFill/>
            <a:ln w="19050">
              <a:solidFill>
                <a:schemeClr val="accent1"/>
              </a:solidFill>
            </a:ln>
          </p:spPr>
        </p:sp>
        <p:sp>
          <p:nvSpPr>
            <p:cNvPr id="12" name="Line 12"/>
            <p:cNvSpPr/>
            <p:nvPr/>
          </p:nvSpPr>
          <p:spPr>
            <a:xfrm>
              <a:off x="762000" y="561975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3" name="Line 13"/>
            <p:cNvSpPr/>
            <p:nvPr/>
          </p:nvSpPr>
          <p:spPr>
            <a:xfrm>
              <a:off x="762000" y="66675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4" name="Line 14"/>
            <p:cNvSpPr/>
            <p:nvPr/>
          </p:nvSpPr>
          <p:spPr>
            <a:xfrm>
              <a:off x="762000" y="771525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5" name="Line 15"/>
            <p:cNvSpPr/>
            <p:nvPr/>
          </p:nvSpPr>
          <p:spPr>
            <a:xfrm>
              <a:off x="762000" y="847725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6" name="Line 16"/>
            <p:cNvSpPr/>
            <p:nvPr/>
          </p:nvSpPr>
          <p:spPr>
            <a:xfrm>
              <a:off x="762000" y="95250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7" name="Line 17"/>
            <p:cNvSpPr/>
            <p:nvPr/>
          </p:nvSpPr>
          <p:spPr>
            <a:xfrm>
              <a:off x="762000" y="1057275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8" name="Line 18"/>
            <p:cNvSpPr/>
            <p:nvPr/>
          </p:nvSpPr>
          <p:spPr>
            <a:xfrm>
              <a:off x="762000" y="116205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19" name="TextBox 19"/>
            <p:cNvSpPr txBox="1"/>
            <p:nvPr/>
          </p:nvSpPr>
          <p:spPr>
            <a:xfrm>
              <a:off x="829818" y="3917632"/>
              <a:ext cx="640762" cy="322707"/>
            </a:xfrm>
            <a:prstGeom prst="rect">
              <a:avLst/>
            </a:prstGeom>
            <a:noFill/>
            <a:ln>
              <a:noFill/>
            </a:ln>
          </p:spPr>
          <p:txBody>
            <a:bodyPr wrap="none" lIns="0" tIns="0" rIns="0" bIns="0" anchor="t" anchorCtr="0">
              <a:spAutoFit/>
            </a:bodyPr>
            <a:lstStyle/>
            <a:p>
              <a:pPr algn="l"/>
              <a:r>
                <a:rPr lang="en-GB" sz="1650" b="1" dirty="0">
                  <a:solidFill>
                    <a:schemeClr val="dk1"/>
                  </a:solidFill>
                  <a:latin typeface="+mn-lt"/>
                  <a:ea typeface="+mn-ea"/>
                  <a:cs typeface="+mn-cs"/>
                </a:rPr>
                <a:t>Study</a:t>
              </a:r>
            </a:p>
          </p:txBody>
        </p:sp>
        <p:sp>
          <p:nvSpPr>
            <p:cNvPr id="20" name="TextBox 20"/>
            <p:cNvSpPr txBox="1"/>
            <p:nvPr/>
          </p:nvSpPr>
          <p:spPr>
            <a:xfrm>
              <a:off x="2639568" y="3917632"/>
              <a:ext cx="3504199" cy="322707"/>
            </a:xfrm>
            <a:prstGeom prst="rect">
              <a:avLst/>
            </a:prstGeom>
            <a:noFill/>
            <a:ln>
              <a:noFill/>
            </a:ln>
          </p:spPr>
          <p:txBody>
            <a:bodyPr wrap="none" lIns="0" tIns="0" rIns="0" bIns="0" anchor="t" anchorCtr="0">
              <a:spAutoFit/>
            </a:bodyPr>
            <a:lstStyle/>
            <a:p>
              <a:pPr algn="l"/>
              <a:r>
                <a:rPr lang="en-GB" sz="1650" b="1" dirty="0">
                  <a:solidFill>
                    <a:schemeClr val="dk1"/>
                  </a:solidFill>
                  <a:latin typeface="+mn-lt"/>
                  <a:ea typeface="+mn-ea"/>
                  <a:cs typeface="+mn-cs"/>
                </a:rPr>
                <a:t>What changed, and what it found</a:t>
              </a:r>
            </a:p>
          </p:txBody>
        </p:sp>
        <p:sp>
          <p:nvSpPr>
            <p:cNvPr id="21" name="TextBox 21"/>
            <p:cNvSpPr txBox="1"/>
            <p:nvPr/>
          </p:nvSpPr>
          <p:spPr>
            <a:xfrm>
              <a:off x="6449568" y="3917632"/>
              <a:ext cx="1379342" cy="608457"/>
            </a:xfrm>
            <a:prstGeom prst="rect">
              <a:avLst/>
            </a:prstGeom>
            <a:noFill/>
            <a:ln>
              <a:noFill/>
            </a:ln>
          </p:spPr>
          <p:txBody>
            <a:bodyPr wrap="none" lIns="0" tIns="0" rIns="0" bIns="0" anchor="t" anchorCtr="0">
              <a:spAutoFit/>
            </a:bodyPr>
            <a:lstStyle/>
            <a:p>
              <a:pPr algn="l">
                <a:lnSpc>
                  <a:spcPts val="2250"/>
                </a:lnSpc>
              </a:pPr>
              <a:r>
                <a:rPr lang="en-GB" sz="1650" b="1" dirty="0">
                  <a:solidFill>
                    <a:schemeClr val="dk1"/>
                  </a:solidFill>
                  <a:latin typeface="+mn-lt"/>
                  <a:ea typeface="+mn-ea"/>
                  <a:cs typeface="+mn-cs"/>
                </a:rPr>
                <a:t>Scale, period,</a:t>
              </a:r>
              <a:br/>
              <a:r>
                <a:rPr lang="en-GB" sz="1650" b="1" dirty="0">
                  <a:solidFill>
                    <a:schemeClr val="dk1"/>
                  </a:solidFill>
                  <a:latin typeface="+mn-lt"/>
                  <a:ea typeface="+mn-ea"/>
                  <a:cs typeface="+mn-cs"/>
                </a:rPr>
                <a:t>control</a:t>
              </a:r>
            </a:p>
          </p:txBody>
        </p:sp>
        <p:sp>
          <p:nvSpPr>
            <p:cNvPr id="22" name="TextBox 22"/>
            <p:cNvSpPr txBox="1"/>
            <p:nvPr/>
          </p:nvSpPr>
          <p:spPr>
            <a:xfrm>
              <a:off x="8830818" y="3917632"/>
              <a:ext cx="1740229" cy="608457"/>
            </a:xfrm>
            <a:prstGeom prst="rect">
              <a:avLst/>
            </a:prstGeom>
            <a:noFill/>
            <a:ln>
              <a:noFill/>
            </a:ln>
          </p:spPr>
          <p:txBody>
            <a:bodyPr wrap="none" lIns="0" tIns="0" rIns="0" bIns="0" anchor="t" anchorCtr="0">
              <a:spAutoFit/>
            </a:bodyPr>
            <a:lstStyle/>
            <a:p>
              <a:pPr algn="l">
                <a:lnSpc>
                  <a:spcPts val="2250"/>
                </a:lnSpc>
              </a:pPr>
              <a:r>
                <a:rPr lang="en-GB" sz="1650" b="1" dirty="0">
                  <a:solidFill>
                    <a:schemeClr val="dk1"/>
                  </a:solidFill>
                  <a:latin typeface="+mn-lt"/>
                  <a:ea typeface="+mn-ea"/>
                  <a:cs typeface="+mn-cs"/>
                </a:rPr>
                <a:t>Evidence about a</a:t>
              </a:r>
              <a:br/>
              <a:r>
                <a:rPr lang="en-GB" sz="1650" b="1" dirty="0">
                  <a:solidFill>
                    <a:schemeClr val="dk1"/>
                  </a:solidFill>
                  <a:latin typeface="+mn-lt"/>
                  <a:ea typeface="+mn-ea"/>
                  <a:cs typeface="+mn-cs"/>
                </a:rPr>
                <a:t>firm like ours?</a:t>
              </a:r>
            </a:p>
          </p:txBody>
        </p:sp>
        <p:sp>
          <p:nvSpPr>
            <p:cNvPr id="23" name="TextBox 23"/>
            <p:cNvSpPr txBox="1"/>
            <p:nvPr/>
          </p:nvSpPr>
          <p:spPr>
            <a:xfrm>
              <a:off x="829818" y="4679632"/>
              <a:ext cx="1372004"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UK 2022 pilot</a:t>
              </a:r>
            </a:p>
          </p:txBody>
        </p:sp>
        <p:sp>
          <p:nvSpPr>
            <p:cNvPr id="24" name="TextBox 24"/>
            <p:cNvSpPr txBox="1"/>
            <p:nvPr/>
          </p:nvSpPr>
          <p:spPr>
            <a:xfrm>
              <a:off x="2639568" y="4679632"/>
              <a:ext cx="3219861"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Real hours cut at full pay; 92% still</a:t>
              </a:r>
              <a:br/>
              <a:r>
                <a:rPr lang="en-GB" sz="1650" dirty="0">
                  <a:solidFill>
                    <a:schemeClr val="dk1"/>
                  </a:solidFill>
                  <a:latin typeface="+mn-lt"/>
                  <a:ea typeface="+mn-ea"/>
                  <a:cs typeface="+mn-cs"/>
                </a:rPr>
                <a:t>running it at the end</a:t>
              </a:r>
            </a:p>
          </p:txBody>
        </p:sp>
        <p:sp>
          <p:nvSpPr>
            <p:cNvPr id="25" name="TextBox 25"/>
            <p:cNvSpPr txBox="1"/>
            <p:nvPr/>
          </p:nvSpPr>
          <p:spPr>
            <a:xfrm>
              <a:off x="6449568" y="4679632"/>
              <a:ext cx="1496271"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61 companies ·</a:t>
              </a:r>
              <a:br/>
              <a:r>
                <a:rPr lang="en-GB" sz="1650" dirty="0">
                  <a:solidFill>
                    <a:schemeClr val="dk1"/>
                  </a:solidFill>
                  <a:latin typeface="+mn-lt"/>
                  <a:ea typeface="+mn-ea"/>
                  <a:cs typeface="+mn-cs"/>
                </a:rPr>
                <a:t>Jun–Dec 2022 ·</a:t>
              </a:r>
              <a:br/>
              <a:r>
                <a:rPr lang="en-GB" sz="1650" dirty="0">
                  <a:solidFill>
                    <a:schemeClr val="dk1"/>
                  </a:solidFill>
                  <a:latin typeface="+mn-lt"/>
                  <a:ea typeface="+mn-ea"/>
                  <a:cs typeface="+mn-cs"/>
                </a:rPr>
                <a:t>no control</a:t>
              </a:r>
            </a:p>
          </p:txBody>
        </p:sp>
        <p:sp>
          <p:nvSpPr>
            <p:cNvPr id="26" name="TextBox 26"/>
            <p:cNvSpPr txBox="1"/>
            <p:nvPr/>
          </p:nvSpPr>
          <p:spPr>
            <a:xfrm>
              <a:off x="8830818" y="4679632"/>
              <a:ext cx="1589143"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Yes, with a scale</a:t>
              </a:r>
              <a:br/>
              <a:r>
                <a:rPr lang="en-GB" sz="1650" dirty="0">
                  <a:solidFill>
                    <a:schemeClr val="dk1"/>
                  </a:solidFill>
                  <a:latin typeface="+mn-lt"/>
                  <a:ea typeface="+mn-ea"/>
                  <a:cs typeface="+mn-cs"/>
                </a:rPr>
                <a:t>caveat</a:t>
              </a:r>
            </a:p>
          </p:txBody>
        </p:sp>
        <p:sp>
          <p:nvSpPr>
            <p:cNvPr id="27" name="TextBox 27"/>
            <p:cNvSpPr txBox="1"/>
            <p:nvPr/>
          </p:nvSpPr>
          <p:spPr>
            <a:xfrm>
              <a:off x="829818" y="5727382"/>
              <a:ext cx="1204745"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UK follow-up</a:t>
              </a:r>
              <a:br/>
              <a:r>
                <a:rPr lang="en-GB" sz="1650" dirty="0">
                  <a:solidFill>
                    <a:schemeClr val="dk1"/>
                  </a:solidFill>
                  <a:latin typeface="+mn-lt"/>
                  <a:ea typeface="+mn-ea"/>
                  <a:cs typeface="+mn-cs"/>
                </a:rPr>
                <a:t>2024</a:t>
              </a:r>
            </a:p>
          </p:txBody>
        </p:sp>
        <p:sp>
          <p:nvSpPr>
            <p:cNvPr id="28" name="TextBox 28"/>
            <p:cNvSpPr txBox="1"/>
            <p:nvPr/>
          </p:nvSpPr>
          <p:spPr>
            <a:xfrm>
              <a:off x="2639568" y="5727382"/>
              <a:ext cx="3290145"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89% still on reduced hours a year</a:t>
              </a:r>
              <a:br/>
              <a:r>
                <a:rPr lang="en-GB" sz="1650" dirty="0">
                  <a:solidFill>
                    <a:schemeClr val="dk1"/>
                  </a:solidFill>
                  <a:latin typeface="+mn-lt"/>
                  <a:ea typeface="+mn-ea"/>
                  <a:cs typeface="+mn-cs"/>
                </a:rPr>
                <a:t>on; the one firm that stopped was a</a:t>
              </a:r>
              <a:br/>
              <a:r>
                <a:rPr lang="en-GB" sz="1650" dirty="0">
                  <a:solidFill>
                    <a:schemeClr val="dk1"/>
                  </a:solidFill>
                  <a:latin typeface="+mn-lt"/>
                  <a:ea typeface="+mn-ea"/>
                  <a:cs typeface="+mn-cs"/>
                </a:rPr>
                <a:t>consultancy</a:t>
              </a:r>
            </a:p>
          </p:txBody>
        </p:sp>
        <p:sp>
          <p:nvSpPr>
            <p:cNvPr id="29" name="TextBox 29"/>
            <p:cNvSpPr txBox="1"/>
            <p:nvPr/>
          </p:nvSpPr>
          <p:spPr>
            <a:xfrm>
              <a:off x="6449568" y="5727382"/>
              <a:ext cx="1554568"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28 of 61 · 2024 ·</a:t>
              </a:r>
              <a:br/>
              <a:r>
                <a:rPr lang="en-GB" sz="1650" dirty="0">
                  <a:solidFill>
                    <a:schemeClr val="dk1"/>
                  </a:solidFill>
                  <a:latin typeface="+mn-lt"/>
                  <a:ea typeface="+mn-ea"/>
                  <a:cs typeface="+mn-cs"/>
                </a:rPr>
                <a:t>no control</a:t>
              </a:r>
            </a:p>
          </p:txBody>
        </p:sp>
        <p:sp>
          <p:nvSpPr>
            <p:cNvPr id="30" name="TextBox 30"/>
            <p:cNvSpPr txBox="1"/>
            <p:nvPr/>
          </p:nvSpPr>
          <p:spPr>
            <a:xfrm>
              <a:off x="8830818" y="5727382"/>
              <a:ext cx="1705569"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Yes — the closest</a:t>
              </a:r>
              <a:br/>
              <a:r>
                <a:rPr lang="en-GB" sz="1650" dirty="0">
                  <a:solidFill>
                    <a:schemeClr val="dk1"/>
                  </a:solidFill>
                  <a:latin typeface="+mn-lt"/>
                  <a:ea typeface="+mn-ea"/>
                  <a:cs typeface="+mn-cs"/>
                </a:rPr>
                <a:t>case we have</a:t>
              </a:r>
            </a:p>
          </p:txBody>
        </p:sp>
        <p:sp>
          <p:nvSpPr>
            <p:cNvPr id="31" name="TextBox 31"/>
            <p:cNvSpPr txBox="1"/>
            <p:nvPr/>
          </p:nvSpPr>
          <p:spPr>
            <a:xfrm>
              <a:off x="829818" y="6775132"/>
              <a:ext cx="1672870"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Iceland 2015–19</a:t>
              </a:r>
            </a:p>
          </p:txBody>
        </p:sp>
        <p:sp>
          <p:nvSpPr>
            <p:cNvPr id="32" name="TextBox 32"/>
            <p:cNvSpPr txBox="1"/>
            <p:nvPr/>
          </p:nvSpPr>
          <p:spPr>
            <a:xfrm>
              <a:off x="2639568" y="6775132"/>
              <a:ext cx="3430082"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40 hours to 35–36 and service levels</a:t>
              </a:r>
              <a:br/>
              <a:r>
                <a:rPr lang="en-GB" sz="1650" dirty="0">
                  <a:solidFill>
                    <a:schemeClr val="dk1"/>
                  </a:solidFill>
                  <a:latin typeface="+mn-lt"/>
                  <a:ea typeface="+mn-ea"/>
                  <a:cs typeface="+mn-cs"/>
                </a:rPr>
                <a:t>held. Veal: 61 of 66 sites cut only</a:t>
              </a:r>
              <a:br/>
              <a:r>
                <a:rPr lang="en-GB" sz="1650" dirty="0">
                  <a:solidFill>
                    <a:schemeClr val="dk1"/>
                  </a:solidFill>
                  <a:latin typeface="+mn-lt"/>
                  <a:ea typeface="+mn-ea"/>
                  <a:cs typeface="+mn-cs"/>
                </a:rPr>
                <a:t>one to three hours</a:t>
              </a:r>
            </a:p>
          </p:txBody>
        </p:sp>
        <p:sp>
          <p:nvSpPr>
            <p:cNvPr id="33" name="TextBox 33"/>
            <p:cNvSpPr txBox="1"/>
            <p:nvPr/>
          </p:nvSpPr>
          <p:spPr>
            <a:xfrm>
              <a:off x="6449568" y="6775132"/>
              <a:ext cx="1583318"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~2,940 workers ·</a:t>
              </a:r>
              <a:br/>
              <a:r>
                <a:rPr lang="en-GB" sz="1650" dirty="0">
                  <a:solidFill>
                    <a:schemeClr val="dk1"/>
                  </a:solidFill>
                  <a:latin typeface="+mn-lt"/>
                  <a:ea typeface="+mn-ea"/>
                  <a:cs typeface="+mn-cs"/>
                </a:rPr>
                <a:t>2015–2019 ·</a:t>
              </a:r>
              <a:br/>
              <a:r>
                <a:rPr lang="en-GB" sz="1650" dirty="0">
                  <a:solidFill>
                    <a:schemeClr val="dk1"/>
                  </a:solidFill>
                  <a:latin typeface="+mn-lt"/>
                  <a:ea typeface="+mn-ea"/>
                  <a:cs typeface="+mn-cs"/>
                </a:rPr>
                <a:t>no control</a:t>
              </a:r>
            </a:p>
          </p:txBody>
        </p:sp>
        <p:sp>
          <p:nvSpPr>
            <p:cNvPr id="34" name="TextBox 34"/>
            <p:cNvSpPr txBox="1"/>
            <p:nvPr/>
          </p:nvSpPr>
          <p:spPr>
            <a:xfrm>
              <a:off x="8830818" y="6775132"/>
              <a:ext cx="2020020" cy="608457"/>
            </a:xfrm>
            <a:prstGeom prst="rect">
              <a:avLst/>
            </a:prstGeom>
            <a:noFill/>
            <a:ln>
              <a:noFill/>
            </a:ln>
          </p:spPr>
          <p:txBody>
            <a:bodyPr wrap="none" lIns="0" tIns="0" rIns="0" bIns="0" anchor="t" anchorCtr="0">
              <a:spAutoFit/>
            </a:bodyPr>
            <a:lstStyle/>
            <a:p>
              <a:pPr algn="l">
                <a:lnSpc>
                  <a:spcPts val="2250"/>
                </a:lnSpc>
              </a:pPr>
              <a:r>
                <a:rPr lang="en-GB" sz="1650" dirty="0">
                  <a:solidFill>
                    <a:srgbClr val="6E777E"/>
                  </a:solidFill>
                  <a:latin typeface="+mn-lt"/>
                  <a:ea typeface="+mn-ea"/>
                  <a:cs typeface="+mn-cs"/>
                </a:rPr>
                <a:t>No — public sector, a</a:t>
              </a:r>
              <a:br/>
              <a:r>
                <a:rPr lang="en-GB" sz="1650" dirty="0">
                  <a:solidFill>
                    <a:srgbClr val="6E777E"/>
                  </a:solidFill>
                  <a:latin typeface="+mn-lt"/>
                  <a:ea typeface="+mn-ea"/>
                  <a:cs typeface="+mn-cs"/>
                </a:rPr>
                <a:t>1–3 hour cut</a:t>
              </a:r>
            </a:p>
          </p:txBody>
        </p:sp>
        <p:sp>
          <p:nvSpPr>
            <p:cNvPr id="35" name="TextBox 35"/>
            <p:cNvSpPr txBox="1"/>
            <p:nvPr/>
          </p:nvSpPr>
          <p:spPr>
            <a:xfrm>
              <a:off x="829818" y="7822882"/>
              <a:ext cx="1386164"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Belgium 2022</a:t>
              </a:r>
            </a:p>
          </p:txBody>
        </p:sp>
        <p:sp>
          <p:nvSpPr>
            <p:cNvPr id="36" name="TextBox 36"/>
            <p:cNvSpPr txBox="1"/>
            <p:nvPr/>
          </p:nvSpPr>
          <p:spPr>
            <a:xfrm>
              <a:off x="2639568" y="7822882"/>
              <a:ext cx="3418724"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A right to compress 38 hours into</a:t>
              </a:r>
              <a:br/>
              <a:r>
                <a:rPr lang="en-GB" sz="1650" dirty="0">
                  <a:solidFill>
                    <a:schemeClr val="dk1"/>
                  </a:solidFill>
                  <a:latin typeface="+mn-lt"/>
                  <a:ea typeface="+mn-ea"/>
                  <a:cs typeface="+mn-cs"/>
                </a:rPr>
                <a:t>four days; hours and pay unchanged</a:t>
              </a:r>
            </a:p>
          </p:txBody>
        </p:sp>
        <p:sp>
          <p:nvSpPr>
            <p:cNvPr id="37" name="TextBox 37"/>
            <p:cNvSpPr txBox="1"/>
            <p:nvPr/>
          </p:nvSpPr>
          <p:spPr>
            <a:xfrm>
              <a:off x="6449568" y="7822882"/>
              <a:ext cx="1391161"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National law ·</a:t>
              </a:r>
              <a:br/>
              <a:r>
                <a:rPr lang="en-GB" sz="1650" dirty="0">
                  <a:solidFill>
                    <a:schemeClr val="dk1"/>
                  </a:solidFill>
                  <a:latin typeface="+mn-lt"/>
                  <a:ea typeface="+mn-ea"/>
                  <a:cs typeface="+mn-cs"/>
                </a:rPr>
                <a:t>from Nov 2022</a:t>
              </a:r>
            </a:p>
          </p:txBody>
        </p:sp>
        <p:sp>
          <p:nvSpPr>
            <p:cNvPr id="38" name="TextBox 38"/>
            <p:cNvSpPr txBox="1"/>
            <p:nvPr/>
          </p:nvSpPr>
          <p:spPr>
            <a:xfrm>
              <a:off x="8830818" y="7822882"/>
              <a:ext cx="1775685" cy="608457"/>
            </a:xfrm>
            <a:prstGeom prst="rect">
              <a:avLst/>
            </a:prstGeom>
            <a:noFill/>
            <a:ln>
              <a:noFill/>
            </a:ln>
          </p:spPr>
          <p:txBody>
            <a:bodyPr wrap="none" lIns="0" tIns="0" rIns="0" bIns="0" anchor="t" anchorCtr="0">
              <a:spAutoFit/>
            </a:bodyPr>
            <a:lstStyle/>
            <a:p>
              <a:pPr algn="l">
                <a:lnSpc>
                  <a:spcPts val="2250"/>
                </a:lnSpc>
              </a:pPr>
              <a:r>
                <a:rPr lang="en-GB" sz="1650" dirty="0">
                  <a:solidFill>
                    <a:srgbClr val="6E777E"/>
                  </a:solidFill>
                  <a:latin typeface="+mn-lt"/>
                  <a:ea typeface="+mn-ea"/>
                  <a:cs typeface="+mn-cs"/>
                </a:rPr>
                <a:t>No — not an hours</a:t>
              </a:r>
              <a:br/>
              <a:r>
                <a:rPr lang="en-GB" sz="1650" dirty="0">
                  <a:solidFill>
                    <a:srgbClr val="6E777E"/>
                  </a:solidFill>
                  <a:latin typeface="+mn-lt"/>
                  <a:ea typeface="+mn-ea"/>
                  <a:cs typeface="+mn-cs"/>
                </a:rPr>
                <a:t>reduction</a:t>
              </a:r>
            </a:p>
          </p:txBody>
        </p:sp>
        <p:sp>
          <p:nvSpPr>
            <p:cNvPr id="39" name="TextBox 39"/>
            <p:cNvSpPr txBox="1"/>
            <p:nvPr/>
          </p:nvSpPr>
          <p:spPr>
            <a:xfrm>
              <a:off x="829818" y="8584882"/>
              <a:ext cx="1438267"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Portugal 2023–</a:t>
              </a:r>
              <a:br/>
              <a:r>
                <a:rPr lang="en-GB" sz="1650" dirty="0">
                  <a:solidFill>
                    <a:schemeClr val="dk1"/>
                  </a:solidFill>
                  <a:latin typeface="+mn-lt"/>
                  <a:ea typeface="+mn-ea"/>
                  <a:cs typeface="+mn-cs"/>
                </a:rPr>
                <a:t>24</a:t>
              </a:r>
            </a:p>
          </p:txBody>
        </p:sp>
        <p:sp>
          <p:nvSpPr>
            <p:cNvPr id="40" name="TextBox 40"/>
            <p:cNvSpPr txBox="1"/>
            <p:nvPr/>
          </p:nvSpPr>
          <p:spPr>
            <a:xfrm>
              <a:off x="2639568" y="8584882"/>
              <a:ext cx="3447642"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Actual hours down 12%, 41+ to 36.5;</a:t>
              </a:r>
              <a:br/>
              <a:r>
                <a:rPr lang="en-GB" sz="1650" dirty="0">
                  <a:solidFill>
                    <a:schemeClr val="dk1"/>
                  </a:solidFill>
                  <a:latin typeface="+mn-lt"/>
                  <a:ea typeface="+mn-ea"/>
                  <a:cs typeface="+mn-cs"/>
                </a:rPr>
                <a:t>the authors call it a proof of concept</a:t>
              </a:r>
            </a:p>
          </p:txBody>
        </p:sp>
        <p:sp>
          <p:nvSpPr>
            <p:cNvPr id="41" name="TextBox 41"/>
            <p:cNvSpPr txBox="1"/>
            <p:nvPr/>
          </p:nvSpPr>
          <p:spPr>
            <a:xfrm>
              <a:off x="6449568" y="8584882"/>
              <a:ext cx="1834149"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41 companies ·</a:t>
              </a:r>
              <a:br/>
              <a:r>
                <a:rPr lang="en-GB" sz="1650" dirty="0">
                  <a:solidFill>
                    <a:schemeClr val="dk1"/>
                  </a:solidFill>
                  <a:latin typeface="+mn-lt"/>
                  <a:ea typeface="+mn-ea"/>
                  <a:cs typeface="+mn-cs"/>
                </a:rPr>
                <a:t>from Jun 2023 ·</a:t>
              </a:r>
              <a:br/>
              <a:r>
                <a:rPr lang="en-GB" sz="1650" dirty="0">
                  <a:solidFill>
                    <a:schemeClr val="dk1"/>
                  </a:solidFill>
                  <a:latin typeface="+mn-lt"/>
                  <a:ea typeface="+mn-ea"/>
                  <a:cs typeface="+mn-cs"/>
                </a:rPr>
                <a:t>non-adopter control</a:t>
              </a:r>
            </a:p>
          </p:txBody>
        </p:sp>
        <p:sp>
          <p:nvSpPr>
            <p:cNvPr id="42" name="TextBox 42"/>
            <p:cNvSpPr txBox="1"/>
            <p:nvPr/>
          </p:nvSpPr>
          <p:spPr>
            <a:xfrm>
              <a:off x="8830818" y="8584882"/>
              <a:ext cx="2008453"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accent3"/>
                  </a:solidFill>
                  <a:latin typeface="+mn-lt"/>
                  <a:ea typeface="+mn-ea"/>
                  <a:cs typeface="+mn-cs"/>
                </a:rPr>
                <a:t>Partly — best design,</a:t>
              </a:r>
              <a:br/>
              <a:r>
                <a:rPr lang="en-GB" sz="1650" dirty="0">
                  <a:solidFill>
                    <a:schemeClr val="accent3"/>
                  </a:solidFill>
                  <a:latin typeface="+mn-lt"/>
                  <a:ea typeface="+mn-ea"/>
                  <a:cs typeface="+mn-cs"/>
                </a:rPr>
                <a:t>other sectors</a:t>
              </a:r>
            </a:p>
          </p:txBody>
        </p:sp>
        <p:sp>
          <p:nvSpPr>
            <p:cNvPr id="43" name="TextBox 43"/>
            <p:cNvSpPr txBox="1"/>
            <p:nvPr/>
          </p:nvSpPr>
          <p:spPr>
            <a:xfrm>
              <a:off x="829818" y="9632632"/>
              <a:ext cx="149798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Germany 2024</a:t>
              </a:r>
            </a:p>
          </p:txBody>
        </p:sp>
        <p:sp>
          <p:nvSpPr>
            <p:cNvPr id="44" name="TextBox 44"/>
            <p:cNvSpPr txBox="1"/>
            <p:nvPr/>
          </p:nvSpPr>
          <p:spPr>
            <a:xfrm>
              <a:off x="2639568" y="9632632"/>
              <a:ext cx="3371198"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Stress and burnout down</a:t>
              </a:r>
              <a:br/>
              <a:r>
                <a:rPr lang="en-GB" sz="1650" dirty="0">
                  <a:solidFill>
                    <a:schemeClr val="dk1"/>
                  </a:solidFill>
                  <a:latin typeface="+mn-lt"/>
                  <a:ea typeface="+mn-ea"/>
                  <a:cs typeface="+mn-cs"/>
                </a:rPr>
                <a:t>significantly; sick days, turnover and</a:t>
              </a:r>
              <a:br/>
              <a:r>
                <a:rPr lang="en-GB" sz="1650" dirty="0">
                  <a:solidFill>
                    <a:schemeClr val="dk1"/>
                  </a:solidFill>
                  <a:latin typeface="+mn-lt"/>
                  <a:ea typeface="+mn-ea"/>
                  <a:cs typeface="+mn-cs"/>
                </a:rPr>
                <a:t>profit not</a:t>
              </a:r>
            </a:p>
          </p:txBody>
        </p:sp>
        <p:sp>
          <p:nvSpPr>
            <p:cNvPr id="45" name="TextBox 45"/>
            <p:cNvSpPr txBox="1"/>
            <p:nvPr/>
          </p:nvSpPr>
          <p:spPr>
            <a:xfrm>
              <a:off x="6449568" y="9632632"/>
              <a:ext cx="1763908"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45 orgs · 6 months</a:t>
              </a:r>
              <a:br/>
              <a:r>
                <a:rPr lang="en-GB" sz="1650" dirty="0">
                  <a:solidFill>
                    <a:schemeClr val="dk1"/>
                  </a:solidFill>
                  <a:latin typeface="+mn-lt"/>
                  <a:ea typeface="+mn-ea"/>
                  <a:cs typeface="+mn-cs"/>
                </a:rPr>
                <a:t>from Feb 2024 ·</a:t>
              </a:r>
              <a:br/>
              <a:r>
                <a:rPr lang="en-GB" sz="1650" dirty="0">
                  <a:solidFill>
                    <a:schemeClr val="dk1"/>
                  </a:solidFill>
                  <a:latin typeface="+mn-lt"/>
                  <a:ea typeface="+mn-ea"/>
                  <a:cs typeface="+mn-cs"/>
                </a:rPr>
                <a:t>in-house control</a:t>
              </a:r>
            </a:p>
          </p:txBody>
        </p:sp>
        <p:sp>
          <p:nvSpPr>
            <p:cNvPr id="46" name="TextBox 46"/>
            <p:cNvSpPr txBox="1"/>
            <p:nvPr/>
          </p:nvSpPr>
          <p:spPr>
            <a:xfrm>
              <a:off x="8830818" y="9632632"/>
              <a:ext cx="2020146"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accent3"/>
                  </a:solidFill>
                  <a:latin typeface="+mn-lt"/>
                  <a:ea typeface="+mn-ea"/>
                  <a:cs typeface="+mn-cs"/>
                </a:rPr>
                <a:t>Partly — best</a:t>
              </a:r>
              <a:br/>
              <a:r>
                <a:rPr lang="en-GB" sz="1650" dirty="0">
                  <a:solidFill>
                    <a:schemeClr val="accent3"/>
                  </a:solidFill>
                  <a:latin typeface="+mn-lt"/>
                  <a:ea typeface="+mn-ea"/>
                  <a:cs typeface="+mn-cs"/>
                </a:rPr>
                <a:t>method, mixed model</a:t>
              </a:r>
            </a:p>
          </p:txBody>
        </p:sp>
        <p:sp>
          <p:nvSpPr>
            <p:cNvPr id="47" name="TextBox 47"/>
            <p:cNvSpPr txBox="1"/>
            <p:nvPr/>
          </p:nvSpPr>
          <p:spPr>
            <a:xfrm>
              <a:off x="829818" y="10680382"/>
              <a:ext cx="1495977"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South</a:t>
              </a:r>
              <a:br/>
              <a:r>
                <a:rPr lang="en-GB" sz="1650" dirty="0">
                  <a:solidFill>
                    <a:schemeClr val="dk1"/>
                  </a:solidFill>
                  <a:latin typeface="+mn-lt"/>
                  <a:ea typeface="+mn-ea"/>
                  <a:cs typeface="+mn-cs"/>
                </a:rPr>
                <a:t>Cambridgeshire</a:t>
              </a:r>
            </a:p>
          </p:txBody>
        </p:sp>
        <p:sp>
          <p:nvSpPr>
            <p:cNvPr id="48" name="TextBox 48"/>
            <p:cNvSpPr txBox="1"/>
            <p:nvPr/>
          </p:nvSpPr>
          <p:spPr>
            <a:xfrm>
              <a:off x="2639568" y="10680382"/>
              <a:ext cx="3103729"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32 hours at full pay; 11 outcomes</a:t>
              </a:r>
              <a:br/>
              <a:r>
                <a:rPr lang="en-GB" sz="1650" dirty="0">
                  <a:solidFill>
                    <a:schemeClr val="dk1"/>
                  </a:solidFill>
                  <a:latin typeface="+mn-lt"/>
                  <a:ea typeface="+mn-ea"/>
                  <a:cs typeface="+mn-cs"/>
                </a:rPr>
                <a:t>better, 2 worse, the rest</a:t>
              </a:r>
              <a:br/>
              <a:r>
                <a:rPr lang="en-GB" sz="1650" dirty="0">
                  <a:solidFill>
                    <a:schemeClr val="dk1"/>
                  </a:solidFill>
                  <a:latin typeface="+mn-lt"/>
                  <a:ea typeface="+mn-ea"/>
                  <a:cs typeface="+mn-cs"/>
                </a:rPr>
                <a:t>indistinguishable</a:t>
              </a:r>
            </a:p>
          </p:txBody>
        </p:sp>
        <p:sp>
          <p:nvSpPr>
            <p:cNvPr id="49" name="TextBox 49"/>
            <p:cNvSpPr txBox="1"/>
            <p:nvPr/>
          </p:nvSpPr>
          <p:spPr>
            <a:xfrm>
              <a:off x="6449568" y="10680382"/>
              <a:ext cx="1542498"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One council ·</a:t>
              </a:r>
              <a:br/>
              <a:r>
                <a:rPr lang="en-GB" sz="1650" dirty="0">
                  <a:solidFill>
                    <a:schemeClr val="dk1"/>
                  </a:solidFill>
                  <a:latin typeface="+mn-lt"/>
                  <a:ea typeface="+mn-ea"/>
                  <a:cs typeface="+mn-cs"/>
                </a:rPr>
                <a:t>from Jan 2023 ·</a:t>
              </a:r>
              <a:br/>
              <a:r>
                <a:rPr lang="en-GB" sz="1650" dirty="0">
                  <a:solidFill>
                    <a:schemeClr val="dk1"/>
                  </a:solidFill>
                  <a:latin typeface="+mn-lt"/>
                  <a:ea typeface="+mn-ea"/>
                  <a:cs typeface="+mn-cs"/>
                </a:rPr>
                <a:t>COVID-adjusted</a:t>
              </a:r>
            </a:p>
          </p:txBody>
        </p:sp>
        <p:sp>
          <p:nvSpPr>
            <p:cNvPr id="50" name="TextBox 50"/>
            <p:cNvSpPr txBox="1"/>
            <p:nvPr/>
          </p:nvSpPr>
          <p:spPr>
            <a:xfrm>
              <a:off x="8830818" y="10680382"/>
              <a:ext cx="2020020" cy="608457"/>
            </a:xfrm>
            <a:prstGeom prst="rect">
              <a:avLst/>
            </a:prstGeom>
            <a:noFill/>
            <a:ln>
              <a:noFill/>
            </a:ln>
          </p:spPr>
          <p:txBody>
            <a:bodyPr wrap="none" lIns="0" tIns="0" rIns="0" bIns="0" anchor="t" anchorCtr="0">
              <a:spAutoFit/>
            </a:bodyPr>
            <a:lstStyle/>
            <a:p>
              <a:pPr algn="l">
                <a:lnSpc>
                  <a:spcPts val="2250"/>
                </a:lnSpc>
              </a:pPr>
              <a:r>
                <a:rPr lang="en-GB" sz="1650" dirty="0">
                  <a:solidFill>
                    <a:srgbClr val="6E777E"/>
                  </a:solidFill>
                  <a:latin typeface="+mn-lt"/>
                  <a:ea typeface="+mn-ea"/>
                  <a:cs typeface="+mn-cs"/>
                </a:rPr>
                <a:t>No — statutory public</a:t>
              </a:r>
              <a:br/>
              <a:r>
                <a:rPr lang="en-GB" sz="1650" dirty="0">
                  <a:solidFill>
                    <a:srgbClr val="6E777E"/>
                  </a:solidFill>
                  <a:latin typeface="+mn-lt"/>
                  <a:ea typeface="+mn-ea"/>
                  <a:cs typeface="+mn-cs"/>
                </a:rPr>
                <a:t>services</a:t>
              </a:r>
            </a:p>
          </p:txBody>
        </p:sp>
      </p:grpSp>
      <p:grpSp>
        <p:nvGrpSpPr>
          <p:cNvPr id="53" name="Group 53"/>
          <p:cNvGrpSpPr/>
          <p:nvPr/>
        </p:nvGrpSpPr>
        <p:grpSpPr>
          <a:xfrm>
            <a:off x="755904" y="11833860"/>
            <a:ext cx="7820307" cy="234696"/>
            <a:chOff x="755904" y="11833860"/>
            <a:chExt cx="7820307" cy="234696"/>
          </a:xfrm>
        </p:grpSpPr>
        <p:sp>
          <p:nvSpPr>
            <p:cNvPr id="52" name="TextBox 52"/>
            <p:cNvSpPr txBox="1"/>
            <p:nvPr/>
          </p:nvSpPr>
          <p:spPr>
            <a:xfrm>
              <a:off x="755904" y="11833860"/>
              <a:ext cx="7820307"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Dark: evidence about a firm like ours. Slate: partly relevant. Grey: a different intervention or a different sector.</a:t>
              </a:r>
            </a:p>
          </p:txBody>
        </p:sp>
      </p:grpSp>
      <p:grpSp>
        <p:nvGrpSpPr>
          <p:cNvPr id="56" name="Group 56"/>
          <p:cNvGrpSpPr/>
          <p:nvPr/>
        </p:nvGrpSpPr>
        <p:grpSpPr>
          <a:xfrm>
            <a:off x="762000" y="12286298"/>
            <a:ext cx="8092204" cy="1105281"/>
            <a:chOff x="762000" y="12286298"/>
            <a:chExt cx="8092204" cy="1105281"/>
          </a:xfrm>
        </p:grpSpPr>
        <p:sp>
          <p:nvSpPr>
            <p:cNvPr id="54" name="Rectangle 54"/>
            <p:cNvSpPr/>
            <p:nvPr/>
          </p:nvSpPr>
          <p:spPr>
            <a:xfrm>
              <a:off x="762000" y="12287250"/>
              <a:ext cx="47625" cy="1066800"/>
            </a:xfrm>
            <a:prstGeom prst="rect">
              <a:avLst/>
            </a:prstGeom>
            <a:solidFill>
              <a:schemeClr val="accent3"/>
            </a:solidFill>
            <a:ln>
              <a:noFill/>
            </a:ln>
          </p:spPr>
        </p:sp>
        <p:sp>
          <p:nvSpPr>
            <p:cNvPr id="55" name="TextBox 55"/>
            <p:cNvSpPr txBox="1"/>
            <p:nvPr/>
          </p:nvSpPr>
          <p:spPr>
            <a:xfrm>
              <a:off x="1056894" y="12286298"/>
              <a:ext cx="7797310" cy="110528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Recorded conflict — Iceland.</a:t>
              </a:r>
              <a:br/>
              <a:r>
                <a:rPr lang="en-GB" sz="1950" dirty="0">
                  <a:solidFill>
                    <a:schemeClr val="dk1"/>
                  </a:solidFill>
                  <a:latin typeface="+mn-lt"/>
                  <a:ea typeface="+mn-ea"/>
                  <a:cs typeface="+mn-cs"/>
                </a:rPr>
                <a:t>The same trials are read as a transformative national success and as a</a:t>
              </a:r>
              <a:br/>
              <a:r>
                <a:rPr lang="en-GB" sz="1950" dirty="0">
                  <a:solidFill>
                    <a:schemeClr val="dk1"/>
                  </a:solidFill>
                  <a:latin typeface="+mn-lt"/>
                  <a:ea typeface="+mn-ea"/>
                  <a:cs typeface="+mn-cs"/>
                </a:rPr>
                <a:t>one-to-three-hour cut whose national legacy is 35 minutes a week.</a:t>
              </a:r>
            </a:p>
          </p:txBody>
        </p:sp>
      </p:grpSp>
      <p:grpSp>
        <p:nvGrpSpPr>
          <p:cNvPr id="59" name="Group 59"/>
          <p:cNvGrpSpPr/>
          <p:nvPr/>
        </p:nvGrpSpPr>
        <p:grpSpPr>
          <a:xfrm>
            <a:off x="762000" y="13600748"/>
            <a:ext cx="9097366" cy="1467231"/>
            <a:chOff x="762000" y="13600748"/>
            <a:chExt cx="9097366" cy="1467231"/>
          </a:xfrm>
        </p:grpSpPr>
        <p:sp>
          <p:nvSpPr>
            <p:cNvPr id="57" name="Rectangle 57"/>
            <p:cNvSpPr/>
            <p:nvPr/>
          </p:nvSpPr>
          <p:spPr>
            <a:xfrm>
              <a:off x="762000" y="13601700"/>
              <a:ext cx="47625" cy="1447800"/>
            </a:xfrm>
            <a:prstGeom prst="rect">
              <a:avLst/>
            </a:prstGeom>
            <a:solidFill>
              <a:schemeClr val="accent3"/>
            </a:solidFill>
            <a:ln>
              <a:noFill/>
            </a:ln>
          </p:spPr>
        </p:sp>
        <p:sp>
          <p:nvSpPr>
            <p:cNvPr id="58" name="TextBox 58"/>
            <p:cNvSpPr txBox="1"/>
            <p:nvPr/>
          </p:nvSpPr>
          <p:spPr>
            <a:xfrm>
              <a:off x="1056894" y="13600748"/>
              <a:ext cx="8802472"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Recorded conflict — South Cambridgeshire.</a:t>
              </a:r>
              <a:br/>
              <a:r>
                <a:rPr lang="en-GB" sz="1950" dirty="0">
                  <a:solidFill>
                    <a:schemeClr val="dk1"/>
                  </a:solidFill>
                  <a:latin typeface="+mn-lt"/>
                  <a:ea typeface="+mn-ea"/>
                  <a:cs typeface="+mn-cs"/>
                </a:rPr>
                <a:t>The council reports 21 of 24 services improved or stayed the same and a saving</a:t>
              </a:r>
              <a:br/>
              <a:r>
                <a:rPr lang="en-GB" sz="1950" dirty="0">
                  <a:solidFill>
                    <a:schemeClr val="dk1"/>
                  </a:solidFill>
                  <a:latin typeface="+mn-lt"/>
                  <a:ea typeface="+mn-ea"/>
                  <a:cs typeface="+mn-cs"/>
                </a:rPr>
                <a:t>of nearly £400,000 a year; the independent evaluation reports 11 outcomes</a:t>
              </a:r>
              <a:br/>
              <a:r>
                <a:rPr lang="en-GB" sz="1950" dirty="0">
                  <a:solidFill>
                    <a:schemeClr val="dk1"/>
                  </a:solidFill>
                  <a:latin typeface="+mn-lt"/>
                  <a:ea typeface="+mn-ea"/>
                  <a:cs typeface="+mn-cs"/>
                </a:rPr>
                <a:t>better, 2 worse and the rest indistinguishable, and cannot prove causation.</a:t>
              </a:r>
            </a:p>
          </p:txBody>
        </p:sp>
      </p:grpSp>
      <p:grpSp>
        <p:nvGrpSpPr>
          <p:cNvPr id="63" name="Group 63"/>
          <p:cNvGrpSpPr/>
          <p:nvPr/>
        </p:nvGrpSpPr>
        <p:grpSpPr>
          <a:xfrm>
            <a:off x="755904" y="15582900"/>
            <a:ext cx="10299192" cy="409956"/>
            <a:chOff x="755904" y="15582900"/>
            <a:chExt cx="10299192" cy="409956"/>
          </a:xfrm>
        </p:grpSpPr>
        <p:sp>
          <p:nvSpPr>
            <p:cNvPr id="60" name="Line 60"/>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61" name="TextBox 61"/>
            <p:cNvSpPr txBox="1"/>
            <p:nvPr/>
          </p:nvSpPr>
          <p:spPr>
            <a:xfrm>
              <a:off x="755904" y="15758160"/>
              <a:ext cx="844436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 Alda/Autonomy Iceland · Veal (UTS) · Belgian Labour Deal · Portugal (2024) · Germany (2024)</a:t>
              </a:r>
            </a:p>
          </p:txBody>
        </p:sp>
        <p:sp>
          <p:nvSpPr>
            <p:cNvPr id="62" name="TextBox 62"/>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6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600"/>
                                        <p:tgtEl>
                                          <p:spTgt spid="51"/>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400"/>
                                        <p:tgtEl>
                                          <p:spTgt spid="5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9537293" y="937260"/>
              <a:ext cx="1517803"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7 · Recommendation</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45236" y="1548765"/>
            <a:ext cx="8930434" cy="1159764"/>
            <a:chOff x="745236" y="1548765"/>
            <a:chExt cx="8930434" cy="1159764"/>
          </a:xfrm>
        </p:grpSpPr>
        <p:sp>
          <p:nvSpPr>
            <p:cNvPr id="6" name="TextBox 6"/>
            <p:cNvSpPr txBox="1"/>
            <p:nvPr/>
          </p:nvSpPr>
          <p:spPr>
            <a:xfrm>
              <a:off x="745236" y="1548765"/>
              <a:ext cx="8930434"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Pilot 100-80-100 in two practice groups, after</a:t>
              </a:r>
              <a:br/>
              <a:r>
                <a:rPr lang="en-GB" sz="3300" b="1" dirty="0">
                  <a:solidFill>
                    <a:schemeClr val="dk1"/>
                  </a:solidFill>
                  <a:latin typeface="+mn-lt"/>
                  <a:ea typeface="+mn-ea"/>
                  <a:cs typeface="+mn-cs"/>
                </a:rPr>
                <a:t>ten weeks of redesign</a:t>
              </a:r>
            </a:p>
          </p:txBody>
        </p:sp>
      </p:grpSp>
      <p:grpSp>
        <p:nvGrpSpPr>
          <p:cNvPr id="10" name="Group 10"/>
          <p:cNvGrpSpPr/>
          <p:nvPr/>
        </p:nvGrpSpPr>
        <p:grpSpPr>
          <a:xfrm>
            <a:off x="762000" y="2857500"/>
            <a:ext cx="10287000" cy="1714500"/>
            <a:chOff x="762000" y="2857500"/>
            <a:chExt cx="10287000" cy="1714500"/>
          </a:xfrm>
        </p:grpSpPr>
        <p:sp>
          <p:nvSpPr>
            <p:cNvPr id="8" name="Freeform 8"/>
            <p:cNvSpPr/>
            <p:nvPr/>
          </p:nvSpPr>
          <p:spPr>
            <a:xfrm>
              <a:off x="762000" y="2857500"/>
              <a:ext cx="10287000" cy="1714500"/>
            </a:xfrm>
            <a:prstGeom prst="snip1Rect">
              <a:avLst>
                <a:gd name="adj" fmla="val 12000"/>
              </a:avLst>
            </a:prstGeom>
            <a:solidFill>
              <a:schemeClr val="lt2"/>
            </a:solidFill>
            <a:ln>
              <a:noFill/>
            </a:ln>
          </p:spPr>
        </p:sp>
        <p:sp>
          <p:nvSpPr>
            <p:cNvPr id="9" name="TextBox 9"/>
            <p:cNvSpPr txBox="1"/>
            <p:nvPr/>
          </p:nvSpPr>
          <p:spPr>
            <a:xfrm>
              <a:off x="1133094" y="3047048"/>
              <a:ext cx="8664828"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Two whole practice groups, about 60 people (illustrative scope), on 100% pay</a:t>
              </a:r>
              <a:br/>
              <a:r>
                <a:rPr lang="en-GB" sz="1950" dirty="0">
                  <a:solidFill>
                    <a:schemeClr val="dk1"/>
                  </a:solidFill>
                  <a:latin typeface="+mn-lt"/>
                  <a:ea typeface="+mn-ea"/>
                  <a:cs typeface="+mn-cs"/>
                </a:rPr>
                <a:t>and a universal day off with a target 32-hour week. Ten weeks of redesign first,</a:t>
              </a:r>
              <a:br/>
              <a:r>
                <a:rPr lang="en-GB" sz="1950" dirty="0">
                  <a:solidFill>
                    <a:schemeClr val="dk1"/>
                  </a:solidFill>
                  <a:latin typeface="+mn-lt"/>
                  <a:ea typeface="+mn-ea"/>
                  <a:cs typeface="+mn-cs"/>
                </a:rPr>
                <a:t>six months of operation, one interim gate, and no change to contracts for the</a:t>
              </a:r>
              <a:br/>
              <a:r>
                <a:rPr lang="en-GB" sz="1950" dirty="0">
                  <a:solidFill>
                    <a:schemeClr val="dk1"/>
                  </a:solidFill>
                  <a:latin typeface="+mn-lt"/>
                  <a:ea typeface="+mn-ea"/>
                  <a:cs typeface="+mn-cs"/>
                </a:rPr>
                <a:t>duration.</a:t>
              </a:r>
            </a:p>
          </p:txBody>
        </p:sp>
      </p:grpSp>
      <p:grpSp>
        <p:nvGrpSpPr>
          <p:cNvPr id="16" name="!!pilot-band"/>
          <p:cNvGrpSpPr/>
          <p:nvPr/>
        </p:nvGrpSpPr>
        <p:grpSpPr>
          <a:xfrm>
            <a:off x="755904" y="5143500"/>
            <a:ext cx="10293096" cy="905256"/>
            <a:chOff x="755904" y="5143500"/>
            <a:chExt cx="10293096" cy="905256"/>
          </a:xfrm>
        </p:grpSpPr>
        <p:sp>
          <p:nvSpPr>
            <p:cNvPr id="11" name="Rectangle 11"/>
            <p:cNvSpPr/>
            <p:nvPr/>
          </p:nvSpPr>
          <p:spPr>
            <a:xfrm>
              <a:off x="762000" y="5143500"/>
              <a:ext cx="2857500" cy="533400"/>
            </a:xfrm>
            <a:prstGeom prst="rect">
              <a:avLst/>
            </a:prstGeom>
            <a:solidFill>
              <a:schemeClr val="accent3"/>
            </a:solidFill>
            <a:ln>
              <a:noFill/>
            </a:ln>
          </p:spPr>
        </p:sp>
        <p:sp>
          <p:nvSpPr>
            <p:cNvPr id="12" name="Rectangle 12"/>
            <p:cNvSpPr/>
            <p:nvPr/>
          </p:nvSpPr>
          <p:spPr>
            <a:xfrm>
              <a:off x="3619500" y="5143500"/>
              <a:ext cx="7429500" cy="533400"/>
            </a:xfrm>
            <a:prstGeom prst="rect">
              <a:avLst/>
            </a:prstGeom>
            <a:solidFill>
              <a:schemeClr val="accent1"/>
            </a:solidFill>
            <a:ln>
              <a:noFill/>
            </a:ln>
          </p:spPr>
        </p:sp>
        <p:sp>
          <p:nvSpPr>
            <p:cNvPr id="13" name="TextBox 13"/>
            <p:cNvSpPr txBox="1"/>
            <p:nvPr/>
          </p:nvSpPr>
          <p:spPr>
            <a:xfrm>
              <a:off x="944118" y="5308282"/>
              <a:ext cx="2408083" cy="322707"/>
            </a:xfrm>
            <a:prstGeom prst="rect">
              <a:avLst/>
            </a:prstGeom>
            <a:noFill/>
            <a:ln>
              <a:noFill/>
            </a:ln>
          </p:spPr>
          <p:txBody>
            <a:bodyPr wrap="none" lIns="0" tIns="0" rIns="0" bIns="0" anchor="t" anchorCtr="0">
              <a:spAutoFit/>
            </a:bodyPr>
            <a:lstStyle/>
            <a:p>
              <a:pPr algn="l"/>
              <a:r>
                <a:rPr lang="en-GB" sz="1650" dirty="0">
                  <a:solidFill>
                    <a:srgbClr val="FFFFFF"/>
                  </a:solidFill>
                  <a:latin typeface="+mn-lt"/>
                  <a:ea typeface="+mn-ea"/>
                  <a:cs typeface="+mn-cs"/>
                </a:rPr>
                <a:t>Weeks 1–10 · Redesign</a:t>
              </a:r>
            </a:p>
          </p:txBody>
        </p:sp>
        <p:sp>
          <p:nvSpPr>
            <p:cNvPr id="14" name="TextBox 14"/>
            <p:cNvSpPr txBox="1"/>
            <p:nvPr/>
          </p:nvSpPr>
          <p:spPr>
            <a:xfrm>
              <a:off x="3801618" y="5308282"/>
              <a:ext cx="3649700" cy="322707"/>
            </a:xfrm>
            <a:prstGeom prst="rect">
              <a:avLst/>
            </a:prstGeom>
            <a:noFill/>
            <a:ln>
              <a:noFill/>
            </a:ln>
          </p:spPr>
          <p:txBody>
            <a:bodyPr wrap="none" lIns="0" tIns="0" rIns="0" bIns="0" anchor="t" anchorCtr="0">
              <a:spAutoFit/>
            </a:bodyPr>
            <a:lstStyle/>
            <a:p>
              <a:pPr algn="l"/>
              <a:r>
                <a:rPr lang="en-GB" sz="1650" dirty="0">
                  <a:solidFill>
                    <a:srgbClr val="FFFFFF"/>
                  </a:solidFill>
                  <a:latin typeface="+mn-lt"/>
                  <a:ea typeface="+mn-ea"/>
                  <a:cs typeface="+mn-cs"/>
                </a:rPr>
                <a:t>Months 1–6 · Operate at 100-80-100</a:t>
              </a:r>
            </a:p>
          </p:txBody>
        </p:sp>
        <p:sp>
          <p:nvSpPr>
            <p:cNvPr id="15" name="TextBox 15"/>
            <p:cNvSpPr txBox="1"/>
            <p:nvPr/>
          </p:nvSpPr>
          <p:spPr>
            <a:xfrm>
              <a:off x="755904" y="5814060"/>
              <a:ext cx="437206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The pilot is bounded in time and reversible at its interim gate.</a:t>
              </a:r>
            </a:p>
          </p:txBody>
        </p:sp>
      </p:grpSp>
      <p:grpSp>
        <p:nvGrpSpPr>
          <p:cNvPr id="18" name="Group 18"/>
          <p:cNvGrpSpPr/>
          <p:nvPr/>
        </p:nvGrpSpPr>
        <p:grpSpPr>
          <a:xfrm>
            <a:off x="752094" y="6456998"/>
            <a:ext cx="8857896" cy="1105281"/>
            <a:chOff x="752094" y="6456998"/>
            <a:chExt cx="8857896" cy="1105281"/>
          </a:xfrm>
        </p:grpSpPr>
        <p:sp>
          <p:nvSpPr>
            <p:cNvPr id="17" name="TextBox 17"/>
            <p:cNvSpPr txBox="1"/>
            <p:nvPr/>
          </p:nvSpPr>
          <p:spPr>
            <a:xfrm>
              <a:off x="752094" y="6456998"/>
              <a:ext cx="8857896" cy="110528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Redesign before, not during.</a:t>
              </a:r>
              <a:br/>
              <a:r>
                <a:rPr lang="en-GB" sz="1950" dirty="0">
                  <a:solidFill>
                    <a:schemeClr val="dk1"/>
                  </a:solidFill>
                  <a:latin typeface="+mn-lt"/>
                  <a:ea typeface="+mn-ea"/>
                  <a:cs typeface="+mn-cs"/>
                </a:rPr>
                <a:t>8% of Portuguese companies reverted after two or more organisational changes,</a:t>
              </a:r>
              <a:br/>
              <a:r>
                <a:rPr lang="en-GB" sz="1950" dirty="0">
                  <a:solidFill>
                    <a:schemeClr val="dk1"/>
                  </a:solidFill>
                  <a:latin typeface="+mn-lt"/>
                  <a:ea typeface="+mn-ea"/>
                  <a:cs typeface="+mn-cs"/>
                </a:rPr>
                <a:t>against 38% after none or one. Two to three months of preparation is the norm.</a:t>
              </a:r>
            </a:p>
          </p:txBody>
        </p:sp>
      </p:grpSp>
      <p:grpSp>
        <p:nvGrpSpPr>
          <p:cNvPr id="20" name="Group 20"/>
          <p:cNvGrpSpPr/>
          <p:nvPr/>
        </p:nvGrpSpPr>
        <p:grpSpPr>
          <a:xfrm>
            <a:off x="752094" y="7676198"/>
            <a:ext cx="8940512" cy="1105281"/>
            <a:chOff x="752094" y="7676198"/>
            <a:chExt cx="8940512" cy="1105281"/>
          </a:xfrm>
        </p:grpSpPr>
        <p:sp>
          <p:nvSpPr>
            <p:cNvPr id="19" name="TextBox 19"/>
            <p:cNvSpPr txBox="1"/>
            <p:nvPr/>
          </p:nvSpPr>
          <p:spPr>
            <a:xfrm>
              <a:off x="752094" y="7676198"/>
              <a:ext cx="8940512" cy="110528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A universal day off, not a flexible model.</a:t>
              </a:r>
              <a:br/>
              <a:r>
                <a:rPr lang="en-GB" sz="1950" dirty="0">
                  <a:solidFill>
                    <a:schemeClr val="dk1"/>
                  </a:solidFill>
                  <a:latin typeface="+mn-lt"/>
                  <a:ea typeface="+mn-ea"/>
                  <a:cs typeface="+mn-cs"/>
                </a:rPr>
                <a:t>Universal or staggered models converted to permanence in 95% of cases against</a:t>
              </a:r>
              <a:br/>
              <a:r>
                <a:rPr lang="en-GB" sz="1950" dirty="0">
                  <a:solidFill>
                    <a:schemeClr val="dk1"/>
                  </a:solidFill>
                  <a:latin typeface="+mn-lt"/>
                  <a:ea typeface="+mn-ea"/>
                  <a:cs typeface="+mn-cs"/>
                </a:rPr>
                <a:t>60% for flexible ones, on a sample the authors call too small for significance.</a:t>
              </a:r>
            </a:p>
          </p:txBody>
        </p:sp>
      </p:grpSp>
      <p:grpSp>
        <p:nvGrpSpPr>
          <p:cNvPr id="22" name="Group 22"/>
          <p:cNvGrpSpPr/>
          <p:nvPr/>
        </p:nvGrpSpPr>
        <p:grpSpPr>
          <a:xfrm>
            <a:off x="752094" y="8895398"/>
            <a:ext cx="8885187" cy="1105281"/>
            <a:chOff x="752094" y="8895398"/>
            <a:chExt cx="8885187" cy="1105281"/>
          </a:xfrm>
        </p:grpSpPr>
        <p:sp>
          <p:nvSpPr>
            <p:cNvPr id="21" name="TextBox 21"/>
            <p:cNvSpPr txBox="1"/>
            <p:nvPr/>
          </p:nvSpPr>
          <p:spPr>
            <a:xfrm>
              <a:off x="752094" y="8895398"/>
              <a:ext cx="8885187" cy="110528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Measure before you promise.</a:t>
              </a:r>
              <a:br/>
              <a:r>
                <a:rPr lang="en-GB" sz="1950" dirty="0">
                  <a:solidFill>
                    <a:schemeClr val="dk1"/>
                  </a:solidFill>
                  <a:latin typeface="+mn-lt"/>
                  <a:ea typeface="+mn-ea"/>
                  <a:cs typeface="+mn-cs"/>
                </a:rPr>
                <a:t>Half the Portuguese companies could not define productivity metrics at all, so the</a:t>
              </a:r>
              <a:br/>
              <a:r>
                <a:rPr lang="en-GB" sz="1950" dirty="0">
                  <a:solidFill>
                    <a:schemeClr val="dk1"/>
                  </a:solidFill>
                  <a:latin typeface="+mn-lt"/>
                  <a:ea typeface="+mn-ea"/>
                  <a:cs typeface="+mn-cs"/>
                </a:rPr>
                <a:t>metric set is agreed in redesign and published before the pilot starts.</a:t>
              </a:r>
            </a:p>
          </p:txBody>
        </p:sp>
      </p:grpSp>
      <p:grpSp>
        <p:nvGrpSpPr>
          <p:cNvPr id="24" name="Group 24"/>
          <p:cNvGrpSpPr/>
          <p:nvPr/>
        </p:nvGrpSpPr>
        <p:grpSpPr>
          <a:xfrm>
            <a:off x="752094" y="10114598"/>
            <a:ext cx="8582410" cy="1105281"/>
            <a:chOff x="752094" y="10114598"/>
            <a:chExt cx="8582410" cy="1105281"/>
          </a:xfrm>
        </p:grpSpPr>
        <p:sp>
          <p:nvSpPr>
            <p:cNvPr id="23" name="TextBox 23"/>
            <p:cNvSpPr txBox="1"/>
            <p:nvPr/>
          </p:nvSpPr>
          <p:spPr>
            <a:xfrm>
              <a:off x="752094" y="10114598"/>
              <a:ext cx="8582410" cy="110528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No entitlement.</a:t>
              </a:r>
              <a:br/>
              <a:r>
                <a:rPr lang="en-GB" sz="1950" dirty="0">
                  <a:solidFill>
                    <a:schemeClr val="dk1"/>
                  </a:solidFill>
                  <a:latin typeface="+mn-lt"/>
                  <a:ea typeface="+mn-ea"/>
                  <a:cs typeface="+mn-cs"/>
                </a:rPr>
                <a:t>Nearly half the permanent cases in the UK follow-up never changed contracts.</a:t>
              </a:r>
              <a:br/>
              <a:r>
                <a:rPr lang="en-GB" sz="1950" dirty="0">
                  <a:solidFill>
                    <a:schemeClr val="dk1"/>
                  </a:solidFill>
                  <a:latin typeface="+mn-lt"/>
                  <a:ea typeface="+mn-ea"/>
                  <a:cs typeface="+mn-cs"/>
                </a:rPr>
                <a:t>This pilot is stated as non-contractual in writing.</a:t>
              </a:r>
            </a:p>
          </p:txBody>
        </p:sp>
      </p:grpSp>
      <p:grpSp>
        <p:nvGrpSpPr>
          <p:cNvPr id="30" name="Group 30"/>
          <p:cNvGrpSpPr/>
          <p:nvPr/>
        </p:nvGrpSpPr>
        <p:grpSpPr>
          <a:xfrm>
            <a:off x="762000" y="11524298"/>
            <a:ext cx="8523347" cy="1096708"/>
            <a:chOff x="762000" y="11524298"/>
            <a:chExt cx="8523347" cy="1096708"/>
          </a:xfrm>
        </p:grpSpPr>
        <p:grpSp>
          <p:nvGrpSpPr>
            <p:cNvPr id="27" name="Group 27"/>
            <p:cNvGrpSpPr/>
            <p:nvPr/>
          </p:nvGrpSpPr>
          <p:grpSpPr>
            <a:xfrm>
              <a:off x="762000" y="11525250"/>
              <a:ext cx="266700" cy="266700"/>
              <a:chOff x="762000" y="11525250"/>
              <a:chExt cx="266700" cy="266700"/>
            </a:xfrm>
          </p:grpSpPr>
          <p:sp>
            <p:nvSpPr>
              <p:cNvPr id="25" name="Freeform 25"/>
              <p:cNvSpPr/>
              <p:nvPr/>
            </p:nvSpPr>
            <p:spPr>
              <a:xfrm>
                <a:off x="828675" y="11591925"/>
                <a:ext cx="133350" cy="133350"/>
              </a:xfrm>
              <a:custGeom>
                <a:avLst/>
                <a:gdLst/>
                <a:ahLst/>
                <a:cxnLst/>
                <a:rect l="l" t="t" r="r" b="b"/>
                <a:pathLst>
                  <a:path w="133350" h="133350">
                    <a:moveTo>
                      <a:pt x="66675" y="0"/>
                    </a:moveTo>
                    <a:cubicBezTo>
                      <a:pt x="29851" y="0"/>
                      <a:pt x="0" y="29851"/>
                      <a:pt x="0" y="66675"/>
                    </a:cubicBezTo>
                    <a:cubicBezTo>
                      <a:pt x="0" y="103498"/>
                      <a:pt x="29851" y="133350"/>
                      <a:pt x="66675" y="133350"/>
                    </a:cubicBezTo>
                    <a:cubicBezTo>
                      <a:pt x="103498" y="133350"/>
                      <a:pt x="133350" y="103498"/>
                      <a:pt x="133350" y="66675"/>
                    </a:cubicBezTo>
                    <a:cubicBezTo>
                      <a:pt x="133350" y="29851"/>
                      <a:pt x="103498" y="0"/>
                      <a:pt x="66675" y="0"/>
                    </a:cubicBezTo>
                    <a:close/>
                    <a:moveTo>
                      <a:pt x="33338" y="66675"/>
                    </a:moveTo>
                    <a:cubicBezTo>
                      <a:pt x="33338" y="48263"/>
                      <a:pt x="48263" y="33338"/>
                      <a:pt x="66675" y="33338"/>
                    </a:cubicBezTo>
                    <a:cubicBezTo>
                      <a:pt x="85087" y="33338"/>
                      <a:pt x="100012" y="48263"/>
                      <a:pt x="100012" y="66675"/>
                    </a:cubicBezTo>
                    <a:cubicBezTo>
                      <a:pt x="100012" y="85087"/>
                      <a:pt x="85087" y="100012"/>
                      <a:pt x="66675" y="100012"/>
                    </a:cubicBezTo>
                    <a:cubicBezTo>
                      <a:pt x="48263" y="100012"/>
                      <a:pt x="33338" y="85087"/>
                      <a:pt x="33338" y="66675"/>
                    </a:cubicBezTo>
                    <a:close/>
                  </a:path>
                </a:pathLst>
              </a:custGeom>
              <a:solidFill>
                <a:schemeClr val="accent2"/>
              </a:solidFill>
              <a:ln>
                <a:noFill/>
              </a:ln>
            </p:spPr>
          </p:sp>
          <p:sp>
            <p:nvSpPr>
              <p:cNvPr id="26" name="Freeform 26"/>
              <p:cNvSpPr/>
              <p:nvPr/>
            </p:nvSpPr>
            <p:spPr>
              <a:xfrm>
                <a:off x="762000" y="11525250"/>
                <a:ext cx="266700" cy="266700"/>
              </a:xfrm>
              <a:custGeom>
                <a:avLst/>
                <a:gdLst/>
                <a:ahLst/>
                <a:cxnLst/>
                <a:rect l="l" t="t" r="r" b="b"/>
                <a:pathLst>
                  <a:path w="266700" h="266700">
                    <a:moveTo>
                      <a:pt x="133350" y="0"/>
                    </a:moveTo>
                    <a:cubicBezTo>
                      <a:pt x="59703" y="0"/>
                      <a:pt x="0" y="59703"/>
                      <a:pt x="0" y="133350"/>
                    </a:cubicBezTo>
                    <a:cubicBezTo>
                      <a:pt x="0" y="206998"/>
                      <a:pt x="59703" y="266700"/>
                      <a:pt x="133350" y="266700"/>
                    </a:cubicBezTo>
                    <a:cubicBezTo>
                      <a:pt x="206998" y="266700"/>
                      <a:pt x="266700" y="206998"/>
                      <a:pt x="266700" y="133350"/>
                    </a:cubicBezTo>
                    <a:cubicBezTo>
                      <a:pt x="266700" y="59703"/>
                      <a:pt x="206998" y="0"/>
                      <a:pt x="133350" y="0"/>
                    </a:cubicBezTo>
                    <a:close/>
                    <a:moveTo>
                      <a:pt x="33338" y="133350"/>
                    </a:moveTo>
                    <a:cubicBezTo>
                      <a:pt x="33338" y="78115"/>
                      <a:pt x="78115" y="33338"/>
                      <a:pt x="133350" y="33338"/>
                    </a:cubicBezTo>
                    <a:cubicBezTo>
                      <a:pt x="188585" y="33338"/>
                      <a:pt x="233362" y="78115"/>
                      <a:pt x="233362" y="133350"/>
                    </a:cubicBezTo>
                    <a:cubicBezTo>
                      <a:pt x="233362" y="188585"/>
                      <a:pt x="188585" y="233362"/>
                      <a:pt x="133350" y="233362"/>
                    </a:cubicBezTo>
                    <a:cubicBezTo>
                      <a:pt x="78115" y="233362"/>
                      <a:pt x="33338" y="188585"/>
                      <a:pt x="33338" y="133350"/>
                    </a:cubicBezTo>
                    <a:close/>
                  </a:path>
                </a:pathLst>
              </a:custGeom>
              <a:solidFill>
                <a:schemeClr val="accent2"/>
              </a:solidFill>
              <a:ln>
                <a:noFill/>
              </a:ln>
            </p:spPr>
          </p:sp>
        </p:grpSp>
        <p:sp>
          <p:nvSpPr>
            <p:cNvPr id="28" name="TextBox 28"/>
            <p:cNvSpPr txBox="1"/>
            <p:nvPr/>
          </p:nvSpPr>
          <p:spPr>
            <a:xfrm>
              <a:off x="1171194" y="11524298"/>
              <a:ext cx="8114153" cy="7433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Kill criteria, agreed before the start and reviewed at the interim gate: client</a:t>
              </a:r>
              <a:br/>
              <a:r>
                <a:rPr lang="en-GB" sz="1950" dirty="0">
                  <a:solidFill>
                    <a:schemeClr val="dk1"/>
                  </a:solidFill>
                  <a:latin typeface="+mn-lt"/>
                  <a:ea typeface="+mn-ea"/>
                  <a:cs typeface="+mn-cs"/>
                </a:rPr>
                <a:t>satisfaction, on-time delivery, realisation, utilisation, voluntary attrition.</a:t>
              </a:r>
            </a:p>
          </p:txBody>
        </p:sp>
        <p:sp>
          <p:nvSpPr>
            <p:cNvPr id="29" name="TextBox 29"/>
            <p:cNvSpPr txBox="1"/>
            <p:nvPr/>
          </p:nvSpPr>
          <p:spPr>
            <a:xfrm>
              <a:off x="1175004" y="12386310"/>
              <a:ext cx="5198151"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Scenario data — thresholds are the firm’s to set and are illustrative here.</a:t>
              </a:r>
            </a:p>
          </p:txBody>
        </p:sp>
      </p:grpSp>
      <p:grpSp>
        <p:nvGrpSpPr>
          <p:cNvPr id="33" name="Group 33"/>
          <p:cNvGrpSpPr/>
          <p:nvPr/>
        </p:nvGrpSpPr>
        <p:grpSpPr>
          <a:xfrm>
            <a:off x="762000" y="12915900"/>
            <a:ext cx="9014750" cy="1485329"/>
            <a:chOff x="762000" y="12915900"/>
            <a:chExt cx="9014750" cy="1485329"/>
          </a:xfrm>
        </p:grpSpPr>
        <p:sp>
          <p:nvSpPr>
            <p:cNvPr id="31" name="Rectangle 31"/>
            <p:cNvSpPr/>
            <p:nvPr/>
          </p:nvSpPr>
          <p:spPr>
            <a:xfrm>
              <a:off x="762000" y="12915900"/>
              <a:ext cx="47625" cy="1428750"/>
            </a:xfrm>
            <a:prstGeom prst="rect">
              <a:avLst/>
            </a:prstGeom>
            <a:solidFill>
              <a:schemeClr val="accent3"/>
            </a:solidFill>
            <a:ln>
              <a:noFill/>
            </a:ln>
          </p:spPr>
        </p:sp>
        <p:sp>
          <p:nvSpPr>
            <p:cNvPr id="32" name="TextBox 32"/>
            <p:cNvSpPr txBox="1"/>
            <p:nvPr/>
          </p:nvSpPr>
          <p:spPr>
            <a:xfrm>
              <a:off x="1056894" y="12933998"/>
              <a:ext cx="8719856" cy="1467231"/>
            </a:xfrm>
            <a:prstGeom prst="rect">
              <a:avLst/>
            </a:prstGeom>
            <a:noFill/>
            <a:ln>
              <a:noFill/>
            </a:ln>
          </p:spPr>
          <p:txBody>
            <a:bodyPr wrap="none" lIns="0" tIns="0" rIns="0" bIns="0" anchor="t" anchorCtr="0">
              <a:spAutoFit/>
            </a:bodyPr>
            <a:lstStyle/>
            <a:p>
              <a:pPr algn="l">
                <a:lnSpc>
                  <a:spcPts val="2850"/>
                </a:lnSpc>
              </a:pPr>
              <a:r>
                <a:rPr lang="en-GB" sz="1950" b="1" dirty="0">
                  <a:solidFill>
                    <a:schemeClr val="dk1"/>
                  </a:solidFill>
                  <a:latin typeface="+mn-lt"/>
                  <a:ea typeface="+mn-ea"/>
                  <a:cs typeface="+mn-cs"/>
                </a:rPr>
                <a:t>Not recommended, and why:</a:t>
              </a:r>
              <a:br/>
              <a:r>
                <a:rPr lang="en-GB" sz="1950" dirty="0">
                  <a:solidFill>
                    <a:schemeClr val="dk1"/>
                  </a:solidFill>
                  <a:latin typeface="+mn-lt"/>
                  <a:ea typeface="+mn-ea"/>
                  <a:cs typeface="+mn-cs"/>
                </a:rPr>
                <a:t>a firm-wide permanent commitment, which has no evidence at this scale or</a:t>
              </a:r>
              <a:br/>
              <a:r>
                <a:rPr lang="en-GB" sz="1950" dirty="0">
                  <a:solidFill>
                    <a:schemeClr val="dk1"/>
                  </a:solidFill>
                  <a:latin typeface="+mn-lt"/>
                  <a:ea typeface="+mn-ea"/>
                  <a:cs typeface="+mn-cs"/>
                </a:rPr>
                <a:t>sector; a compressed four-day week, which keeps total hours; and an hours cut</a:t>
              </a:r>
              <a:br/>
              <a:r>
                <a:rPr lang="en-GB" sz="1950" dirty="0">
                  <a:solidFill>
                    <a:schemeClr val="dk1"/>
                  </a:solidFill>
                  <a:latin typeface="+mn-lt"/>
                  <a:ea typeface="+mn-ea"/>
                  <a:cs typeface="+mn-cs"/>
                </a:rPr>
                <a:t>spread across five days, which drifts from the intervention tested.</a:t>
              </a:r>
            </a:p>
          </p:txBody>
        </p:sp>
      </p:grpSp>
      <p:grpSp>
        <p:nvGrpSpPr>
          <p:cNvPr id="37" name="Group 37"/>
          <p:cNvGrpSpPr/>
          <p:nvPr/>
        </p:nvGrpSpPr>
        <p:grpSpPr>
          <a:xfrm>
            <a:off x="755904" y="15582900"/>
            <a:ext cx="10299192" cy="409956"/>
            <a:chOff x="755904" y="15582900"/>
            <a:chExt cx="10299192" cy="409956"/>
          </a:xfrm>
        </p:grpSpPr>
        <p:sp>
          <p:nvSpPr>
            <p:cNvPr id="34" name="Line 34"/>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35" name="TextBox 35"/>
            <p:cNvSpPr txBox="1"/>
            <p:nvPr/>
          </p:nvSpPr>
          <p:spPr>
            <a:xfrm>
              <a:off x="755904" y="15758160"/>
              <a:ext cx="9021808"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Portugal final report (2024) · 4 Day Week Foundation follow-up (2024) · Belgian Labour Deal · Germany pilot (2024)</a:t>
              </a:r>
            </a:p>
          </p:txBody>
        </p:sp>
        <p:sp>
          <p:nvSpPr>
            <p:cNvPr id="36" name="TextBox 36"/>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7 of 10</a:t>
              </a:r>
            </a:p>
          </p:txBody>
        </p:sp>
      </p:grpSp>
    </p:spTree>
  </p:cSld>
  <p:clrMapOvr>
    <a:masterClrMapping/>
  </p:clrMapOvr>
  <p:transitio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par>
                          <p:cTn id="8" fill="hold">
                            <p:stCondLst>
                              <p:cond delay="600"/>
                            </p:stCondLst>
                            <p:childTnLst>
                              <p:par>
                                <p:cTn id="9" presetID="22" presetClass="entr" presetSubtype="2"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700"/>
                                        <p:tgtEl>
                                          <p:spTgt spid="16"/>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2700"/>
                            </p:stCondLst>
                            <p:childTnLst>
                              <p:par>
                                <p:cTn id="17" presetID="10" presetClass="entr" presetSubtype="0" fill="hold" grpId="0" nodeType="afterEffect">
                                  <p:stCondLst>
                                    <p:cond delay="5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par>
                          <p:cTn id="20" fill="hold">
                            <p:stCondLst>
                              <p:cond delay="3600"/>
                            </p:stCondLst>
                            <p:childTnLst>
                              <p:par>
                                <p:cTn id="21" presetID="10" presetClass="entr" presetSubtype="0" fill="hold" grpId="0" nodeType="afterEffect">
                                  <p:stCondLst>
                                    <p:cond delay="5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par>
                          <p:cTn id="24" fill="hold">
                            <p:stCondLst>
                              <p:cond delay="4500"/>
                            </p:stCondLst>
                            <p:childTnLst>
                              <p:par>
                                <p:cTn id="25" presetID="10" presetClass="entr" presetSubtype="0" fill="hold" grpId="0" nodeType="after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par>
                          <p:cTn id="28" fill="hold">
                            <p:stCondLst>
                              <p:cond delay="5400"/>
                            </p:stCondLst>
                            <p:childTnLst>
                              <p:par>
                                <p:cTn id="29" presetID="10" presetClass="entr" presetSubtype="0" fill="hold" grpId="0" nodeType="afterEffect">
                                  <p:stCondLst>
                                    <p:cond delay="3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par>
                          <p:cTn id="32" fill="hold">
                            <p:stCondLst>
                              <p:cond delay="6100"/>
                            </p:stCondLst>
                            <p:childTnLst>
                              <p:par>
                                <p:cTn id="33" presetID="10" presetClass="entr" presetSubtype="0" fill="hold" grpId="0" nodeType="afterEffect">
                                  <p:stCondLst>
                                    <p:cond delay="20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4095750" y="5143500"/>
            <a:ext cx="9525" cy="8191500"/>
          </a:xfrm>
          <a:custGeom>
            <a:avLst/>
            <a:gdLst/>
            <a:ahLst/>
            <a:cxnLst/>
            <a:rect l="l" t="t" r="r" b="b"/>
            <a:pathLst>
              <a:path w="9525" h="8191500">
                <a:moveTo>
                  <a:pt x="0" y="0"/>
                </a:moveTo>
                <a:lnTo>
                  <a:pt x="0" y="8191500"/>
                </a:lnTo>
              </a:path>
            </a:pathLst>
          </a:custGeom>
          <a:noFill/>
          <a:ln w="9525">
            <a:solidFill>
              <a:schemeClr val="accent6"/>
            </a:solidFill>
          </a:ln>
        </p:spPr>
      </p:sp>
      <p:grpSp>
        <p:nvGrpSpPr>
          <p:cNvPr id="6" name="Group 6"/>
          <p:cNvGrpSpPr/>
          <p:nvPr/>
        </p:nvGrpSpPr>
        <p:grpSpPr>
          <a:xfrm>
            <a:off x="755904" y="937260"/>
            <a:ext cx="10299192" cy="329565"/>
            <a:chOff x="755904" y="937260"/>
            <a:chExt cx="10299192" cy="329565"/>
          </a:xfrm>
        </p:grpSpPr>
        <p:sp>
          <p:nvSpPr>
            <p:cNvPr id="3" name="TextBox 3"/>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4" name="TextBox 4"/>
            <p:cNvSpPr txBox="1"/>
            <p:nvPr/>
          </p:nvSpPr>
          <p:spPr>
            <a:xfrm>
              <a:off x="10101466" y="937260"/>
              <a:ext cx="953630"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8 · Roadmap</a:t>
              </a:r>
            </a:p>
          </p:txBody>
        </p:sp>
        <p:sp>
          <p:nvSpPr>
            <p:cNvPr id="5" name="Line 5"/>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8" name="Group 8"/>
          <p:cNvGrpSpPr/>
          <p:nvPr/>
        </p:nvGrpSpPr>
        <p:grpSpPr>
          <a:xfrm>
            <a:off x="745236" y="1548765"/>
            <a:ext cx="9724864" cy="645414"/>
            <a:chOff x="745236" y="1548765"/>
            <a:chExt cx="9724864" cy="645414"/>
          </a:xfrm>
        </p:grpSpPr>
        <p:sp>
          <p:nvSpPr>
            <p:cNvPr id="7" name="TextBox 7"/>
            <p:cNvSpPr txBox="1"/>
            <p:nvPr/>
          </p:nvSpPr>
          <p:spPr>
            <a:xfrm>
              <a:off x="745236" y="1548765"/>
              <a:ext cx="9724864" cy="645414"/>
            </a:xfrm>
            <a:prstGeom prst="rect">
              <a:avLst/>
            </a:prstGeom>
            <a:noFill/>
            <a:ln>
              <a:noFill/>
            </a:ln>
          </p:spPr>
          <p:txBody>
            <a:bodyPr wrap="none" lIns="0" tIns="0" rIns="0" bIns="0" anchor="t" anchorCtr="0">
              <a:spAutoFit/>
            </a:bodyPr>
            <a:lstStyle/>
            <a:p>
              <a:pPr algn="l"/>
              <a:r>
                <a:rPr lang="en-GB" sz="3300" b="1" dirty="0">
                  <a:solidFill>
                    <a:schemeClr val="dk1"/>
                  </a:solidFill>
                  <a:latin typeface="+mn-lt"/>
                  <a:ea typeface="+mn-ea"/>
                  <a:cs typeface="+mn-cs"/>
                </a:rPr>
                <a:t>Two gates, and the firm can stop at either one</a:t>
              </a:r>
            </a:p>
          </p:txBody>
        </p:sp>
      </p:grpSp>
      <p:grpSp>
        <p:nvGrpSpPr>
          <p:cNvPr id="10" name="Group 10"/>
          <p:cNvGrpSpPr/>
          <p:nvPr/>
        </p:nvGrpSpPr>
        <p:grpSpPr>
          <a:xfrm>
            <a:off x="750570" y="2233612"/>
            <a:ext cx="8568442" cy="840105"/>
            <a:chOff x="750570" y="2233612"/>
            <a:chExt cx="8568442" cy="840105"/>
          </a:xfrm>
        </p:grpSpPr>
        <p:sp>
          <p:nvSpPr>
            <p:cNvPr id="9" name="TextBox 9"/>
            <p:cNvSpPr txBox="1"/>
            <p:nvPr/>
          </p:nvSpPr>
          <p:spPr>
            <a:xfrm>
              <a:off x="750570" y="2233612"/>
              <a:ext cx="8568442"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The pilot is reversible by design, and the points of reversal are fixed</a:t>
              </a:r>
              <a:br/>
              <a:r>
                <a:rPr lang="en-GB" sz="2250" dirty="0">
                  <a:solidFill>
                    <a:schemeClr val="accent3"/>
                  </a:solidFill>
                  <a:latin typeface="+mn-lt"/>
                  <a:ea typeface="+mn-ea"/>
                  <a:cs typeface="+mn-cs"/>
                </a:rPr>
                <a:t>before it starts.</a:t>
              </a:r>
            </a:p>
          </p:txBody>
        </p:sp>
      </p:grpSp>
      <p:grpSp>
        <p:nvGrpSpPr>
          <p:cNvPr id="21" name="!!pilot-band"/>
          <p:cNvGrpSpPr/>
          <p:nvPr/>
        </p:nvGrpSpPr>
        <p:grpSpPr>
          <a:xfrm>
            <a:off x="754380" y="3705225"/>
            <a:ext cx="10302240" cy="1188720"/>
            <a:chOff x="754380" y="3705225"/>
            <a:chExt cx="10302240" cy="1188720"/>
          </a:xfrm>
        </p:grpSpPr>
        <p:sp>
          <p:nvSpPr>
            <p:cNvPr id="11" name="TextBox 11"/>
            <p:cNvSpPr txBox="1"/>
            <p:nvPr/>
          </p:nvSpPr>
          <p:spPr>
            <a:xfrm>
              <a:off x="5824130" y="3705225"/>
              <a:ext cx="658039" cy="293370"/>
            </a:xfrm>
            <a:prstGeom prst="rect">
              <a:avLst/>
            </a:prstGeom>
            <a:noFill/>
            <a:ln>
              <a:noFill/>
            </a:ln>
          </p:spPr>
          <p:txBody>
            <a:bodyPr wrap="none" lIns="0" tIns="0" rIns="0" bIns="0" anchor="t" anchorCtr="0">
              <a:spAutoFit/>
            </a:bodyPr>
            <a:lstStyle/>
            <a:p>
              <a:pPr algn="ctr"/>
              <a:r>
                <a:rPr lang="en-GB" sz="1500" dirty="0">
                  <a:solidFill>
                    <a:schemeClr val="accent2"/>
                  </a:solidFill>
                  <a:latin typeface="+mn-lt"/>
                  <a:ea typeface="+mn-ea"/>
                  <a:cs typeface="+mn-cs"/>
                </a:rPr>
                <a:t>Gate A</a:t>
              </a:r>
            </a:p>
          </p:txBody>
        </p:sp>
        <p:sp>
          <p:nvSpPr>
            <p:cNvPr id="12" name="TextBox 12"/>
            <p:cNvSpPr txBox="1"/>
            <p:nvPr/>
          </p:nvSpPr>
          <p:spPr>
            <a:xfrm>
              <a:off x="10398581" y="3705225"/>
              <a:ext cx="658039" cy="293370"/>
            </a:xfrm>
            <a:prstGeom prst="rect">
              <a:avLst/>
            </a:prstGeom>
            <a:noFill/>
            <a:ln>
              <a:noFill/>
            </a:ln>
          </p:spPr>
          <p:txBody>
            <a:bodyPr wrap="none" lIns="0" tIns="0" rIns="0" bIns="0" anchor="t" anchorCtr="0">
              <a:spAutoFit/>
            </a:bodyPr>
            <a:lstStyle/>
            <a:p>
              <a:pPr algn="r"/>
              <a:r>
                <a:rPr lang="en-GB" sz="1500" dirty="0">
                  <a:solidFill>
                    <a:schemeClr val="accent2"/>
                  </a:solidFill>
                  <a:latin typeface="+mn-lt"/>
                  <a:ea typeface="+mn-ea"/>
                  <a:cs typeface="+mn-cs"/>
                </a:rPr>
                <a:t>Gate B</a:t>
              </a:r>
            </a:p>
          </p:txBody>
        </p:sp>
        <p:sp>
          <p:nvSpPr>
            <p:cNvPr id="13" name="Rectangle 13"/>
            <p:cNvSpPr/>
            <p:nvPr/>
          </p:nvSpPr>
          <p:spPr>
            <a:xfrm>
              <a:off x="762000" y="4000500"/>
              <a:ext cx="2447925" cy="533400"/>
            </a:xfrm>
            <a:prstGeom prst="rect">
              <a:avLst/>
            </a:prstGeom>
            <a:solidFill>
              <a:schemeClr val="accent3"/>
            </a:solidFill>
            <a:ln>
              <a:noFill/>
            </a:ln>
          </p:spPr>
        </p:sp>
        <p:sp>
          <p:nvSpPr>
            <p:cNvPr id="14" name="Rectangle 14"/>
            <p:cNvSpPr/>
            <p:nvPr/>
          </p:nvSpPr>
          <p:spPr>
            <a:xfrm>
              <a:off x="3209925" y="4000500"/>
              <a:ext cx="5876925" cy="533400"/>
            </a:xfrm>
            <a:prstGeom prst="rect">
              <a:avLst/>
            </a:prstGeom>
            <a:solidFill>
              <a:schemeClr val="accent1"/>
            </a:solidFill>
            <a:ln>
              <a:noFill/>
            </a:ln>
          </p:spPr>
        </p:sp>
        <p:sp>
          <p:nvSpPr>
            <p:cNvPr id="15" name="Rectangle 15"/>
            <p:cNvSpPr/>
            <p:nvPr/>
          </p:nvSpPr>
          <p:spPr>
            <a:xfrm>
              <a:off x="9086850" y="4000500"/>
              <a:ext cx="1962150" cy="533400"/>
            </a:xfrm>
            <a:prstGeom prst="rect">
              <a:avLst/>
            </a:prstGeom>
            <a:solidFill>
              <a:schemeClr val="accent3"/>
            </a:solidFill>
            <a:ln>
              <a:noFill/>
            </a:ln>
          </p:spPr>
        </p:sp>
        <p:sp>
          <p:nvSpPr>
            <p:cNvPr id="16" name="Freeform 16"/>
            <p:cNvSpPr/>
            <p:nvPr/>
          </p:nvSpPr>
          <p:spPr>
            <a:xfrm>
              <a:off x="5962650" y="4076700"/>
              <a:ext cx="381000" cy="381000"/>
            </a:xfrm>
            <a:prstGeom prst="flowChartDecision">
              <a:avLst/>
            </a:prstGeom>
            <a:solidFill>
              <a:schemeClr val="accent2"/>
            </a:solidFill>
            <a:ln w="19050">
              <a:solidFill>
                <a:srgbClr val="FFFFFF"/>
              </a:solidFill>
            </a:ln>
          </p:spPr>
        </p:sp>
        <p:sp>
          <p:nvSpPr>
            <p:cNvPr id="17" name="Freeform 17"/>
            <p:cNvSpPr/>
            <p:nvPr/>
          </p:nvSpPr>
          <p:spPr>
            <a:xfrm>
              <a:off x="10668000" y="4076700"/>
              <a:ext cx="381000" cy="381000"/>
            </a:xfrm>
            <a:prstGeom prst="flowChartDecision">
              <a:avLst/>
            </a:prstGeom>
            <a:solidFill>
              <a:schemeClr val="accent2"/>
            </a:solidFill>
            <a:ln w="19050">
              <a:solidFill>
                <a:srgbClr val="FFFFFF"/>
              </a:solidFill>
            </a:ln>
          </p:spPr>
        </p:sp>
        <p:sp>
          <p:nvSpPr>
            <p:cNvPr id="18" name="TextBox 18"/>
            <p:cNvSpPr txBox="1"/>
            <p:nvPr/>
          </p:nvSpPr>
          <p:spPr>
            <a:xfrm>
              <a:off x="754380" y="4600575"/>
              <a:ext cx="2189166"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Weeks 1–10 · Redesign</a:t>
              </a:r>
            </a:p>
          </p:txBody>
        </p:sp>
        <p:sp>
          <p:nvSpPr>
            <p:cNvPr id="19" name="TextBox 19"/>
            <p:cNvSpPr txBox="1"/>
            <p:nvPr/>
          </p:nvSpPr>
          <p:spPr>
            <a:xfrm>
              <a:off x="3202305" y="4600575"/>
              <a:ext cx="1996681"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Months 1–6 · Operate</a:t>
              </a:r>
            </a:p>
          </p:txBody>
        </p:sp>
        <p:sp>
          <p:nvSpPr>
            <p:cNvPr id="20" name="TextBox 20"/>
            <p:cNvSpPr txBox="1"/>
            <p:nvPr/>
          </p:nvSpPr>
          <p:spPr>
            <a:xfrm>
              <a:off x="9079230" y="4600575"/>
              <a:ext cx="1896107"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Months 7–8 · Decide</a:t>
              </a:r>
            </a:p>
          </p:txBody>
        </p:sp>
      </p:grpSp>
      <p:grpSp>
        <p:nvGrpSpPr>
          <p:cNvPr id="24" name="Group 24"/>
          <p:cNvGrpSpPr/>
          <p:nvPr/>
        </p:nvGrpSpPr>
        <p:grpSpPr>
          <a:xfrm>
            <a:off x="750570" y="5376862"/>
            <a:ext cx="1830794" cy="1041083"/>
            <a:chOff x="750570" y="5376862"/>
            <a:chExt cx="1830794" cy="1041083"/>
          </a:xfrm>
        </p:grpSpPr>
        <p:sp>
          <p:nvSpPr>
            <p:cNvPr id="22" name="TextBox 22"/>
            <p:cNvSpPr txBox="1"/>
            <p:nvPr/>
          </p:nvSpPr>
          <p:spPr>
            <a:xfrm>
              <a:off x="750570" y="5376862"/>
              <a:ext cx="1309021" cy="782955"/>
            </a:xfrm>
            <a:prstGeom prst="rect">
              <a:avLst/>
            </a:prstGeom>
            <a:noFill/>
            <a:ln>
              <a:noFill/>
            </a:ln>
          </p:spPr>
          <p:txBody>
            <a:bodyPr wrap="none" lIns="0" tIns="0" rIns="0" bIns="0" anchor="t" anchorCtr="0">
              <a:spAutoFit/>
            </a:bodyPr>
            <a:lstStyle/>
            <a:p>
              <a:pPr algn="l">
                <a:lnSpc>
                  <a:spcPts val="2700"/>
                </a:lnSpc>
              </a:pPr>
              <a:r>
                <a:rPr lang="en-GB" sz="2250" b="1" dirty="0">
                  <a:solidFill>
                    <a:schemeClr val="dk1"/>
                  </a:solidFill>
                  <a:latin typeface="+mn-lt"/>
                  <a:ea typeface="+mn-ea"/>
                  <a:cs typeface="+mn-cs"/>
                </a:rPr>
                <a:t>Phase 0</a:t>
              </a:r>
              <a:br/>
              <a:r>
                <a:rPr lang="en-GB" sz="2250" b="1" dirty="0">
                  <a:solidFill>
                    <a:schemeClr val="dk1"/>
                  </a:solidFill>
                  <a:latin typeface="+mn-lt"/>
                  <a:ea typeface="+mn-ea"/>
                  <a:cs typeface="+mn-cs"/>
                </a:rPr>
                <a:t>Redesign</a:t>
              </a:r>
            </a:p>
          </p:txBody>
        </p:sp>
        <p:sp>
          <p:nvSpPr>
            <p:cNvPr id="23" name="TextBox 23"/>
            <p:cNvSpPr txBox="1"/>
            <p:nvPr/>
          </p:nvSpPr>
          <p:spPr>
            <a:xfrm>
              <a:off x="754380" y="6124575"/>
              <a:ext cx="1826984"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Weeks 1–10 · COO</a:t>
              </a:r>
            </a:p>
          </p:txBody>
        </p:sp>
      </p:grpSp>
      <p:grpSp>
        <p:nvGrpSpPr>
          <p:cNvPr id="26" name="Group 26"/>
          <p:cNvGrpSpPr/>
          <p:nvPr/>
        </p:nvGrpSpPr>
        <p:grpSpPr>
          <a:xfrm>
            <a:off x="4371594" y="5409248"/>
            <a:ext cx="5828988" cy="1105281"/>
            <a:chOff x="4371594" y="5409248"/>
            <a:chExt cx="5828988" cy="1105281"/>
          </a:xfrm>
        </p:grpSpPr>
        <p:sp>
          <p:nvSpPr>
            <p:cNvPr id="25" name="TextBox 25"/>
            <p:cNvSpPr txBox="1"/>
            <p:nvPr/>
          </p:nvSpPr>
          <p:spPr>
            <a:xfrm>
              <a:off x="4371594" y="5409248"/>
              <a:ext cx="5828988" cy="11052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Cut meeting length and frequency and reform email</a:t>
              </a:r>
              <a:br/>
              <a:r>
                <a:rPr lang="en-GB" sz="1950" dirty="0">
                  <a:solidFill>
                    <a:schemeClr val="dk1"/>
                  </a:solidFill>
                  <a:latin typeface="+mn-lt"/>
                  <a:ea typeface="+mn-ea"/>
                  <a:cs typeface="+mn-cs"/>
                </a:rPr>
                <a:t>etiquette — the pilots’ most common changes. Agree</a:t>
              </a:r>
              <a:br/>
              <a:r>
                <a:rPr lang="en-GB" sz="1950" dirty="0">
                  <a:solidFill>
                    <a:schemeClr val="dk1"/>
                  </a:solidFill>
                  <a:latin typeface="+mn-lt"/>
                  <a:ea typeface="+mn-ea"/>
                  <a:cs typeface="+mn-cs"/>
                </a:rPr>
                <a:t>the metric set and the client communication plan.</a:t>
              </a:r>
            </a:p>
          </p:txBody>
        </p:sp>
      </p:grpSp>
      <p:grpSp>
        <p:nvGrpSpPr>
          <p:cNvPr id="29" name="Group 29"/>
          <p:cNvGrpSpPr/>
          <p:nvPr/>
        </p:nvGrpSpPr>
        <p:grpSpPr>
          <a:xfrm>
            <a:off x="750570" y="6900862"/>
            <a:ext cx="2604813" cy="1041083"/>
            <a:chOff x="750570" y="6900862"/>
            <a:chExt cx="2604813" cy="1041083"/>
          </a:xfrm>
        </p:grpSpPr>
        <p:sp>
          <p:nvSpPr>
            <p:cNvPr id="27" name="TextBox 27"/>
            <p:cNvSpPr txBox="1"/>
            <p:nvPr/>
          </p:nvSpPr>
          <p:spPr>
            <a:xfrm>
              <a:off x="750570" y="6900862"/>
              <a:ext cx="1103109" cy="782955"/>
            </a:xfrm>
            <a:prstGeom prst="rect">
              <a:avLst/>
            </a:prstGeom>
            <a:noFill/>
            <a:ln>
              <a:noFill/>
            </a:ln>
          </p:spPr>
          <p:txBody>
            <a:bodyPr wrap="none" lIns="0" tIns="0" rIns="0" bIns="0" anchor="t" anchorCtr="0">
              <a:spAutoFit/>
            </a:bodyPr>
            <a:lstStyle/>
            <a:p>
              <a:pPr algn="l">
                <a:lnSpc>
                  <a:spcPts val="2700"/>
                </a:lnSpc>
              </a:pPr>
              <a:r>
                <a:rPr lang="en-GB" sz="2250" b="1" dirty="0">
                  <a:solidFill>
                    <a:schemeClr val="dk1"/>
                  </a:solidFill>
                  <a:latin typeface="+mn-lt"/>
                  <a:ea typeface="+mn-ea"/>
                  <a:cs typeface="+mn-cs"/>
                </a:rPr>
                <a:t>Phase 1</a:t>
              </a:r>
              <a:br/>
              <a:r>
                <a:rPr lang="en-GB" sz="2250" b="1" dirty="0">
                  <a:solidFill>
                    <a:schemeClr val="dk1"/>
                  </a:solidFill>
                  <a:latin typeface="+mn-lt"/>
                  <a:ea typeface="+mn-ea"/>
                  <a:cs typeface="+mn-cs"/>
                </a:rPr>
                <a:t>Operate</a:t>
              </a:r>
            </a:p>
          </p:txBody>
        </p:sp>
        <p:sp>
          <p:nvSpPr>
            <p:cNvPr id="28" name="TextBox 28"/>
            <p:cNvSpPr txBox="1"/>
            <p:nvPr/>
          </p:nvSpPr>
          <p:spPr>
            <a:xfrm>
              <a:off x="754380" y="7648575"/>
              <a:ext cx="2601003"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Months 1–6 · Practice heads</a:t>
              </a:r>
            </a:p>
          </p:txBody>
        </p:sp>
      </p:grpSp>
      <p:grpSp>
        <p:nvGrpSpPr>
          <p:cNvPr id="31" name="Group 31"/>
          <p:cNvGrpSpPr/>
          <p:nvPr/>
        </p:nvGrpSpPr>
        <p:grpSpPr>
          <a:xfrm>
            <a:off x="4371594" y="6933248"/>
            <a:ext cx="5746272" cy="743331"/>
            <a:chOff x="4371594" y="6933248"/>
            <a:chExt cx="5746272" cy="743331"/>
          </a:xfrm>
        </p:grpSpPr>
        <p:sp>
          <p:nvSpPr>
            <p:cNvPr id="30" name="TextBox 30"/>
            <p:cNvSpPr txBox="1"/>
            <p:nvPr/>
          </p:nvSpPr>
          <p:spPr>
            <a:xfrm>
              <a:off x="4371594" y="6933248"/>
              <a:ext cx="5746272" cy="7433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Two practice groups, a universal day off, contractual</a:t>
              </a:r>
              <a:br/>
              <a:r>
                <a:rPr lang="en-GB" sz="1950" dirty="0">
                  <a:solidFill>
                    <a:schemeClr val="dk1"/>
                  </a:solidFill>
                  <a:latin typeface="+mn-lt"/>
                  <a:ea typeface="+mn-ea"/>
                  <a:cs typeface="+mn-cs"/>
                </a:rPr>
                <a:t>position unchanged.</a:t>
              </a:r>
            </a:p>
          </p:txBody>
        </p:sp>
      </p:grpSp>
      <p:grpSp>
        <p:nvGrpSpPr>
          <p:cNvPr id="34" name="Group 34"/>
          <p:cNvGrpSpPr/>
          <p:nvPr/>
        </p:nvGrpSpPr>
        <p:grpSpPr>
          <a:xfrm>
            <a:off x="750570" y="8424862"/>
            <a:ext cx="2804749" cy="1041083"/>
            <a:chOff x="750570" y="8424862"/>
            <a:chExt cx="2804749" cy="1041083"/>
          </a:xfrm>
        </p:grpSpPr>
        <p:sp>
          <p:nvSpPr>
            <p:cNvPr id="32" name="TextBox 32"/>
            <p:cNvSpPr txBox="1"/>
            <p:nvPr/>
          </p:nvSpPr>
          <p:spPr>
            <a:xfrm>
              <a:off x="750570" y="8424862"/>
              <a:ext cx="1658550" cy="782955"/>
            </a:xfrm>
            <a:prstGeom prst="rect">
              <a:avLst/>
            </a:prstGeom>
            <a:noFill/>
            <a:ln>
              <a:noFill/>
            </a:ln>
          </p:spPr>
          <p:txBody>
            <a:bodyPr wrap="none" lIns="0" tIns="0" rIns="0" bIns="0" anchor="t" anchorCtr="0">
              <a:spAutoFit/>
            </a:bodyPr>
            <a:lstStyle/>
            <a:p>
              <a:pPr algn="l">
                <a:lnSpc>
                  <a:spcPts val="2700"/>
                </a:lnSpc>
              </a:pPr>
              <a:r>
                <a:rPr lang="en-GB" sz="2250" b="1" dirty="0">
                  <a:solidFill>
                    <a:schemeClr val="accent2"/>
                  </a:solidFill>
                  <a:latin typeface="+mn-lt"/>
                  <a:ea typeface="+mn-ea"/>
                  <a:cs typeface="+mn-cs"/>
                </a:rPr>
                <a:t>Gate A</a:t>
              </a:r>
              <a:br/>
              <a:r>
                <a:rPr lang="en-GB" sz="2250" b="1" dirty="0">
                  <a:solidFill>
                    <a:schemeClr val="accent2"/>
                  </a:solidFill>
                  <a:latin typeface="+mn-lt"/>
                  <a:ea typeface="+mn-ea"/>
                  <a:cs typeface="+mn-cs"/>
                </a:rPr>
                <a:t>Interim read</a:t>
              </a:r>
            </a:p>
          </p:txBody>
        </p:sp>
        <p:sp>
          <p:nvSpPr>
            <p:cNvPr id="33" name="TextBox 33"/>
            <p:cNvSpPr txBox="1"/>
            <p:nvPr/>
          </p:nvSpPr>
          <p:spPr>
            <a:xfrm>
              <a:off x="754380" y="9172575"/>
              <a:ext cx="2800939"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 3 · Executive committee</a:t>
              </a:r>
            </a:p>
          </p:txBody>
        </p:sp>
      </p:grpSp>
      <p:grpSp>
        <p:nvGrpSpPr>
          <p:cNvPr id="36" name="Group 36"/>
          <p:cNvGrpSpPr/>
          <p:nvPr/>
        </p:nvGrpSpPr>
        <p:grpSpPr>
          <a:xfrm>
            <a:off x="4371594" y="8457248"/>
            <a:ext cx="6062918" cy="1467231"/>
            <a:chOff x="4371594" y="8457248"/>
            <a:chExt cx="6062918" cy="1467231"/>
          </a:xfrm>
        </p:grpSpPr>
        <p:sp>
          <p:nvSpPr>
            <p:cNvPr id="35" name="TextBox 35"/>
            <p:cNvSpPr txBox="1"/>
            <p:nvPr/>
          </p:nvSpPr>
          <p:spPr>
            <a:xfrm>
              <a:off x="4371594" y="8457248"/>
              <a:ext cx="6062918" cy="14672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Are the kill criteria holding? Most Portuguese indicators</a:t>
              </a:r>
              <a:br/>
              <a:r>
                <a:rPr lang="en-GB" sz="1950" dirty="0">
                  <a:solidFill>
                    <a:schemeClr val="dk1"/>
                  </a:solidFill>
                  <a:latin typeface="+mn-lt"/>
                  <a:ea typeface="+mn-ea"/>
                  <a:cs typeface="+mn-cs"/>
                </a:rPr>
                <a:t>slipped between three and six months for reasons the</a:t>
              </a:r>
              <a:br/>
              <a:r>
                <a:rPr lang="en-GB" sz="1950" dirty="0">
                  <a:solidFill>
                    <a:schemeClr val="dk1"/>
                  </a:solidFill>
                  <a:latin typeface="+mn-lt"/>
                  <a:ea typeface="+mn-ea"/>
                  <a:cs typeface="+mn-cs"/>
                </a:rPr>
                <a:t>authors could not fully explain, so month 3 is the</a:t>
              </a:r>
              <a:br/>
              <a:r>
                <a:rPr lang="en-GB" sz="1950" dirty="0">
                  <a:solidFill>
                    <a:schemeClr val="dk1"/>
                  </a:solidFill>
                  <a:latin typeface="+mn-lt"/>
                  <a:ea typeface="+mn-ea"/>
                  <a:cs typeface="+mn-cs"/>
                </a:rPr>
                <a:t>high-water mark, not the trend.</a:t>
              </a:r>
            </a:p>
          </p:txBody>
        </p:sp>
      </p:grpSp>
      <p:grpSp>
        <p:nvGrpSpPr>
          <p:cNvPr id="39" name="Group 39"/>
          <p:cNvGrpSpPr/>
          <p:nvPr/>
        </p:nvGrpSpPr>
        <p:grpSpPr>
          <a:xfrm>
            <a:off x="750570" y="10329862"/>
            <a:ext cx="2389359" cy="1041083"/>
            <a:chOff x="750570" y="10329862"/>
            <a:chExt cx="2389359" cy="1041083"/>
          </a:xfrm>
        </p:grpSpPr>
        <p:sp>
          <p:nvSpPr>
            <p:cNvPr id="37" name="TextBox 37"/>
            <p:cNvSpPr txBox="1"/>
            <p:nvPr/>
          </p:nvSpPr>
          <p:spPr>
            <a:xfrm>
              <a:off x="750570" y="10329862"/>
              <a:ext cx="1198264" cy="782955"/>
            </a:xfrm>
            <a:prstGeom prst="rect">
              <a:avLst/>
            </a:prstGeom>
            <a:noFill/>
            <a:ln>
              <a:noFill/>
            </a:ln>
          </p:spPr>
          <p:txBody>
            <a:bodyPr wrap="none" lIns="0" tIns="0" rIns="0" bIns="0" anchor="t" anchorCtr="0">
              <a:spAutoFit/>
            </a:bodyPr>
            <a:lstStyle/>
            <a:p>
              <a:pPr algn="l">
                <a:lnSpc>
                  <a:spcPts val="2700"/>
                </a:lnSpc>
              </a:pPr>
              <a:r>
                <a:rPr lang="en-GB" sz="2250" b="1" dirty="0">
                  <a:solidFill>
                    <a:schemeClr val="dk1"/>
                  </a:solidFill>
                  <a:latin typeface="+mn-lt"/>
                  <a:ea typeface="+mn-ea"/>
                  <a:cs typeface="+mn-cs"/>
                </a:rPr>
                <a:t>Phase 2</a:t>
              </a:r>
              <a:br/>
              <a:r>
                <a:rPr lang="en-GB" sz="2250" b="1" dirty="0">
                  <a:solidFill>
                    <a:schemeClr val="dk1"/>
                  </a:solidFill>
                  <a:latin typeface="+mn-lt"/>
                  <a:ea typeface="+mn-ea"/>
                  <a:cs typeface="+mn-cs"/>
                </a:rPr>
                <a:t>Evaluate</a:t>
              </a:r>
            </a:p>
          </p:txBody>
        </p:sp>
        <p:sp>
          <p:nvSpPr>
            <p:cNvPr id="38" name="TextBox 38"/>
            <p:cNvSpPr txBox="1"/>
            <p:nvPr/>
          </p:nvSpPr>
          <p:spPr>
            <a:xfrm>
              <a:off x="754380" y="11077575"/>
              <a:ext cx="2385549"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 7 · Finance director</a:t>
              </a:r>
            </a:p>
          </p:txBody>
        </p:sp>
      </p:grpSp>
      <p:grpSp>
        <p:nvGrpSpPr>
          <p:cNvPr id="41" name="Group 41"/>
          <p:cNvGrpSpPr/>
          <p:nvPr/>
        </p:nvGrpSpPr>
        <p:grpSpPr>
          <a:xfrm>
            <a:off x="4371594" y="10362248"/>
            <a:ext cx="5980847" cy="1105281"/>
            <a:chOff x="4371594" y="10362248"/>
            <a:chExt cx="5980847" cy="1105281"/>
          </a:xfrm>
        </p:grpSpPr>
        <p:sp>
          <p:nvSpPr>
            <p:cNvPr id="40" name="TextBox 40"/>
            <p:cNvSpPr txBox="1"/>
            <p:nvPr/>
          </p:nvSpPr>
          <p:spPr>
            <a:xfrm>
              <a:off x="4371594" y="10362248"/>
              <a:ext cx="5980847" cy="11052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Compare against the non-participating practice groups</a:t>
              </a:r>
              <a:br/>
              <a:r>
                <a:rPr lang="en-GB" sz="1950" dirty="0">
                  <a:solidFill>
                    <a:schemeClr val="dk1"/>
                  </a:solidFill>
                  <a:latin typeface="+mn-lt"/>
                  <a:ea typeface="+mn-ea"/>
                  <a:cs typeface="+mn-cs"/>
                </a:rPr>
                <a:t>as a control — the design Portugal used and the UK</a:t>
              </a:r>
              <a:br/>
              <a:r>
                <a:rPr lang="en-GB" sz="1950" dirty="0">
                  <a:solidFill>
                    <a:schemeClr val="dk1"/>
                  </a:solidFill>
                  <a:latin typeface="+mn-lt"/>
                  <a:ea typeface="+mn-ea"/>
                  <a:cs typeface="+mn-cs"/>
                </a:rPr>
                <a:t>2022 pilot lacked.</a:t>
              </a:r>
            </a:p>
          </p:txBody>
        </p:sp>
      </p:grpSp>
      <p:grpSp>
        <p:nvGrpSpPr>
          <p:cNvPr id="44" name="Group 44"/>
          <p:cNvGrpSpPr/>
          <p:nvPr/>
        </p:nvGrpSpPr>
        <p:grpSpPr>
          <a:xfrm>
            <a:off x="750570" y="11853862"/>
            <a:ext cx="2804749" cy="1041083"/>
            <a:chOff x="750570" y="11853862"/>
            <a:chExt cx="2804749" cy="1041083"/>
          </a:xfrm>
        </p:grpSpPr>
        <p:sp>
          <p:nvSpPr>
            <p:cNvPr id="42" name="TextBox 42"/>
            <p:cNvSpPr txBox="1"/>
            <p:nvPr/>
          </p:nvSpPr>
          <p:spPr>
            <a:xfrm>
              <a:off x="750570" y="11853862"/>
              <a:ext cx="959949" cy="782955"/>
            </a:xfrm>
            <a:prstGeom prst="rect">
              <a:avLst/>
            </a:prstGeom>
            <a:noFill/>
            <a:ln>
              <a:noFill/>
            </a:ln>
          </p:spPr>
          <p:txBody>
            <a:bodyPr wrap="none" lIns="0" tIns="0" rIns="0" bIns="0" anchor="t" anchorCtr="0">
              <a:spAutoFit/>
            </a:bodyPr>
            <a:lstStyle/>
            <a:p>
              <a:pPr algn="l">
                <a:lnSpc>
                  <a:spcPts val="2700"/>
                </a:lnSpc>
              </a:pPr>
              <a:r>
                <a:rPr lang="en-GB" sz="2250" b="1" dirty="0">
                  <a:solidFill>
                    <a:schemeClr val="accent2"/>
                  </a:solidFill>
                  <a:latin typeface="+mn-lt"/>
                  <a:ea typeface="+mn-ea"/>
                  <a:cs typeface="+mn-cs"/>
                </a:rPr>
                <a:t>Gate B</a:t>
              </a:r>
              <a:br/>
              <a:r>
                <a:rPr lang="en-GB" sz="2250" b="1" dirty="0">
                  <a:solidFill>
                    <a:schemeClr val="accent2"/>
                  </a:solidFill>
                  <a:latin typeface="+mn-lt"/>
                  <a:ea typeface="+mn-ea"/>
                  <a:cs typeface="+mn-cs"/>
                </a:rPr>
                <a:t>Decide</a:t>
              </a:r>
            </a:p>
          </p:txBody>
        </p:sp>
        <p:sp>
          <p:nvSpPr>
            <p:cNvPr id="43" name="TextBox 43"/>
            <p:cNvSpPr txBox="1"/>
            <p:nvPr/>
          </p:nvSpPr>
          <p:spPr>
            <a:xfrm>
              <a:off x="754380" y="12601575"/>
              <a:ext cx="2800939" cy="293370"/>
            </a:xfrm>
            <a:prstGeom prst="rect">
              <a:avLst/>
            </a:prstGeom>
            <a:noFill/>
            <a:ln>
              <a:noFill/>
            </a:ln>
          </p:spPr>
          <p:txBody>
            <a:bodyPr wrap="none" lIns="0" tIns="0" rIns="0" bIns="0" anchor="t" anchorCtr="0">
              <a:spAutoFit/>
            </a:bodyPr>
            <a:lstStyle/>
            <a:p>
              <a:pPr algn="l"/>
              <a:r>
                <a:rPr lang="en-GB" sz="1500" dirty="0">
                  <a:solidFill>
                    <a:schemeClr val="accent5"/>
                  </a:solidFill>
                  <a:latin typeface="+mn-lt"/>
                  <a:ea typeface="+mn-ea"/>
                  <a:cs typeface="+mn-cs"/>
                </a:rPr>
                <a:t>Month 8 · Executive committee</a:t>
              </a:r>
            </a:p>
          </p:txBody>
        </p:sp>
      </p:grpSp>
      <p:grpSp>
        <p:nvGrpSpPr>
          <p:cNvPr id="46" name="Group 46"/>
          <p:cNvGrpSpPr/>
          <p:nvPr/>
        </p:nvGrpSpPr>
        <p:grpSpPr>
          <a:xfrm>
            <a:off x="4371594" y="11886248"/>
            <a:ext cx="5306198" cy="743331"/>
            <a:chOff x="4371594" y="11886248"/>
            <a:chExt cx="5306198" cy="743331"/>
          </a:xfrm>
        </p:grpSpPr>
        <p:sp>
          <p:nvSpPr>
            <p:cNvPr id="45" name="TextBox 45"/>
            <p:cNvSpPr txBox="1"/>
            <p:nvPr/>
          </p:nvSpPr>
          <p:spPr>
            <a:xfrm>
              <a:off x="4371594" y="11886248"/>
              <a:ext cx="5306198" cy="74333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Extend, adjust, or stop. A decision to extend is a</a:t>
              </a:r>
              <a:br/>
              <a:r>
                <a:rPr lang="en-GB" sz="1950" dirty="0">
                  <a:solidFill>
                    <a:schemeClr val="dk1"/>
                  </a:solidFill>
                  <a:latin typeface="+mn-lt"/>
                  <a:ea typeface="+mn-ea"/>
                  <a:cs typeface="+mn-cs"/>
                </a:rPr>
                <a:t>decision to reopen contracts.</a:t>
              </a:r>
            </a:p>
          </p:txBody>
        </p:sp>
      </p:grpSp>
      <p:grpSp>
        <p:nvGrpSpPr>
          <p:cNvPr id="48" name="Group 48"/>
          <p:cNvGrpSpPr/>
          <p:nvPr/>
        </p:nvGrpSpPr>
        <p:grpSpPr>
          <a:xfrm>
            <a:off x="755904" y="13338810"/>
            <a:ext cx="6455784" cy="234696"/>
            <a:chOff x="755904" y="13338810"/>
            <a:chExt cx="6455784" cy="234696"/>
          </a:xfrm>
        </p:grpSpPr>
        <p:sp>
          <p:nvSpPr>
            <p:cNvPr id="47" name="TextBox 47"/>
            <p:cNvSpPr txBox="1"/>
            <p:nvPr/>
          </p:nvSpPr>
          <p:spPr>
            <a:xfrm>
              <a:off x="755904" y="13338810"/>
              <a:ext cx="6455784" cy="234696"/>
            </a:xfrm>
            <a:prstGeom prst="rect">
              <a:avLst/>
            </a:prstGeom>
            <a:noFill/>
            <a:ln>
              <a:noFill/>
            </a:ln>
          </p:spPr>
          <p:txBody>
            <a:bodyPr wrap="none" lIns="0" tIns="0" rIns="0" bIns="0" anchor="t" anchorCtr="0">
              <a:spAutoFit/>
            </a:bodyPr>
            <a:lstStyle/>
            <a:p>
              <a:pPr algn="l"/>
              <a:r>
                <a:rPr lang="en-GB" sz="1200" dirty="0">
                  <a:solidFill>
                    <a:srgbClr val="6E777E"/>
                  </a:solidFill>
                  <a:latin typeface="+mn-lt"/>
                  <a:ea typeface="+mn-ea"/>
                  <a:cs typeface="+mn-cs"/>
                </a:rPr>
                <a:t>Scenario data — owners, dates and phase lengths are illustrative and are the firm’s to set.</a:t>
              </a:r>
            </a:p>
          </p:txBody>
        </p:sp>
      </p:grpSp>
      <p:grpSp>
        <p:nvGrpSpPr>
          <p:cNvPr id="52" name="Group 52"/>
          <p:cNvGrpSpPr/>
          <p:nvPr/>
        </p:nvGrpSpPr>
        <p:grpSpPr>
          <a:xfrm>
            <a:off x="755904" y="15582900"/>
            <a:ext cx="10299192" cy="409956"/>
            <a:chOff x="755904" y="15582900"/>
            <a:chExt cx="10299192" cy="409956"/>
          </a:xfrm>
        </p:grpSpPr>
        <p:sp>
          <p:nvSpPr>
            <p:cNvPr id="49" name="Line 49"/>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50" name="TextBox 50"/>
            <p:cNvSpPr txBox="1"/>
            <p:nvPr/>
          </p:nvSpPr>
          <p:spPr>
            <a:xfrm>
              <a:off x="755904" y="15758160"/>
              <a:ext cx="5687893"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Portugal final report (2024) · Germany pilot (2024)</a:t>
              </a:r>
            </a:p>
          </p:txBody>
        </p:sp>
        <p:sp>
          <p:nvSpPr>
            <p:cNvPr id="51" name="TextBox 51"/>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8 of 10</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300"/>
                            </p:stCondLst>
                            <p:childTnLst>
                              <p:par>
                                <p:cTn id="9" presetID="10"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par>
                          <p:cTn id="12" fill="hold">
                            <p:stCondLst>
                              <p:cond delay="700"/>
                            </p:stCondLst>
                            <p:childTnLst>
                              <p:par>
                                <p:cTn id="13" presetID="10" presetClass="entr" presetSubtype="0" fill="hold" grpId="0" nodeType="afterEffect">
                                  <p:stCondLst>
                                    <p:cond delay="50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par>
                          <p:cTn id="16" fill="hold">
                            <p:stCondLst>
                              <p:cond delay="1200"/>
                            </p:stCondLst>
                            <p:childTnLst>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00"/>
                                        <p:tgtEl>
                                          <p:spTgt spid="31"/>
                                        </p:tgtEl>
                                      </p:cBhvr>
                                    </p:animEffect>
                                  </p:childTnLst>
                                </p:cTn>
                              </p:par>
                            </p:childTnLst>
                          </p:cTn>
                        </p:par>
                        <p:par>
                          <p:cTn id="20" fill="hold">
                            <p:stCondLst>
                              <p:cond delay="1600"/>
                            </p:stCondLst>
                            <p:childTnLst>
                              <p:par>
                                <p:cTn id="21" presetID="10" presetClass="entr" presetSubtype="0" fill="hold" grpId="0" nodeType="afterEffect">
                                  <p:stCondLst>
                                    <p:cond delay="5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400"/>
                                        <p:tgtEl>
                                          <p:spTgt spid="34"/>
                                        </p:tgtEl>
                                      </p:cBhvr>
                                    </p:animEffect>
                                  </p:childTnLst>
                                </p:cTn>
                              </p:par>
                            </p:childTnLst>
                          </p:cTn>
                        </p:par>
                        <p:par>
                          <p:cTn id="24" fill="hold">
                            <p:stCondLst>
                              <p:cond delay="2100"/>
                            </p:stCondLst>
                            <p:childTnLst>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par>
                          <p:cTn id="28" fill="hold">
                            <p:stCondLst>
                              <p:cond delay="2500"/>
                            </p:stCondLst>
                            <p:childTnLst>
                              <p:par>
                                <p:cTn id="29" presetID="10" presetClass="entr" presetSubtype="0" fill="hold" grpId="0" nodeType="afterEffect">
                                  <p:stCondLst>
                                    <p:cond delay="50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400"/>
                                        <p:tgtEl>
                                          <p:spTgt spid="39"/>
                                        </p:tgtEl>
                                      </p:cBhvr>
                                    </p:animEffect>
                                  </p:childTnLst>
                                </p:cTn>
                              </p:par>
                            </p:childTnLst>
                          </p:cTn>
                        </p:par>
                        <p:par>
                          <p:cTn id="32" fill="hold">
                            <p:stCondLst>
                              <p:cond delay="3000"/>
                            </p:stCondLst>
                            <p:childTnLst>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childTnLst>
                          </p:cTn>
                        </p:par>
                        <p:par>
                          <p:cTn id="36" fill="hold">
                            <p:stCondLst>
                              <p:cond delay="3400"/>
                            </p:stCondLst>
                            <p:childTnLst>
                              <p:par>
                                <p:cTn id="37" presetID="10" presetClass="entr" presetSubtype="0" fill="hold" grpId="0" nodeType="afterEffect">
                                  <p:stCondLst>
                                    <p:cond delay="50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400"/>
                                        <p:tgtEl>
                                          <p:spTgt spid="44"/>
                                        </p:tgtEl>
                                      </p:cBhvr>
                                    </p:animEffect>
                                  </p:childTnLst>
                                </p:cTn>
                              </p:par>
                            </p:childTnLst>
                          </p:cTn>
                        </p:par>
                        <p:par>
                          <p:cTn id="40" fill="hold">
                            <p:stCondLst>
                              <p:cond delay="3900"/>
                            </p:stCondLst>
                            <p:childTnLst>
                              <p:par>
                                <p:cTn id="41" presetID="10"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9439363" y="937260"/>
              <a:ext cx="1615733"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9 · Risk and mitigation</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45236" y="1548765"/>
            <a:ext cx="8463557" cy="1159764"/>
            <a:chOff x="745236" y="1548765"/>
            <a:chExt cx="8463557" cy="1159764"/>
          </a:xfrm>
        </p:grpSpPr>
        <p:sp>
          <p:nvSpPr>
            <p:cNvPr id="6" name="TextBox 6"/>
            <p:cNvSpPr txBox="1"/>
            <p:nvPr/>
          </p:nvSpPr>
          <p:spPr>
            <a:xfrm>
              <a:off x="745236" y="1548765"/>
              <a:ext cx="8463557"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The risk that stopped the only comparable</a:t>
              </a:r>
              <a:br/>
              <a:r>
                <a:rPr lang="en-GB" sz="3300" b="1" dirty="0">
                  <a:solidFill>
                    <a:schemeClr val="dk1"/>
                  </a:solidFill>
                  <a:latin typeface="+mn-lt"/>
                  <a:ea typeface="+mn-ea"/>
                  <a:cs typeface="+mn-cs"/>
                </a:rPr>
                <a:t>firm is the one we cannot mitigate away</a:t>
              </a:r>
            </a:p>
          </p:txBody>
        </p:sp>
      </p:grpSp>
      <p:grpSp>
        <p:nvGrpSpPr>
          <p:cNvPr id="9" name="Group 9"/>
          <p:cNvGrpSpPr/>
          <p:nvPr/>
        </p:nvGrpSpPr>
        <p:grpSpPr>
          <a:xfrm>
            <a:off x="750570" y="2767012"/>
            <a:ext cx="8711660" cy="840105"/>
            <a:chOff x="750570" y="2767012"/>
            <a:chExt cx="8711660" cy="840105"/>
          </a:xfrm>
        </p:grpSpPr>
        <p:sp>
          <p:nvSpPr>
            <p:cNvPr id="8" name="TextBox 8"/>
            <p:cNvSpPr txBox="1"/>
            <p:nvPr/>
          </p:nvSpPr>
          <p:spPr>
            <a:xfrm>
              <a:off x="750570" y="2767012"/>
              <a:ext cx="8711660"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Client expectation is the binding risk; everything else is a preparation</a:t>
              </a:r>
              <a:br/>
              <a:r>
                <a:rPr lang="en-GB" sz="2250" dirty="0">
                  <a:solidFill>
                    <a:schemeClr val="accent3"/>
                  </a:solidFill>
                  <a:latin typeface="+mn-lt"/>
                  <a:ea typeface="+mn-ea"/>
                  <a:cs typeface="+mn-cs"/>
                </a:rPr>
                <a:t>problem.</a:t>
              </a:r>
            </a:p>
          </p:txBody>
        </p:sp>
      </p:grpSp>
      <p:grpSp>
        <p:nvGrpSpPr>
          <p:cNvPr id="28" name="Group 28"/>
          <p:cNvGrpSpPr/>
          <p:nvPr/>
        </p:nvGrpSpPr>
        <p:grpSpPr>
          <a:xfrm>
            <a:off x="755904" y="3547110"/>
            <a:ext cx="5155692" cy="3435096"/>
            <a:chOff x="755904" y="3547110"/>
            <a:chExt cx="5155692" cy="3435096"/>
          </a:xfrm>
        </p:grpSpPr>
        <p:sp>
          <p:nvSpPr>
            <p:cNvPr id="10" name="TextBox 10"/>
            <p:cNvSpPr txBox="1"/>
            <p:nvPr/>
          </p:nvSpPr>
          <p:spPr>
            <a:xfrm>
              <a:off x="755904" y="3547110"/>
              <a:ext cx="1218342" cy="234696"/>
            </a:xfrm>
            <a:prstGeom prst="rect">
              <a:avLst/>
            </a:prstGeom>
            <a:noFill/>
            <a:ln>
              <a:noFill/>
            </a:ln>
          </p:spPr>
          <p:txBody>
            <a:bodyPr wrap="none" lIns="0" tIns="0" rIns="0" bIns="0" anchor="t" anchorCtr="0">
              <a:spAutoFit/>
            </a:bodyPr>
            <a:lstStyle/>
            <a:p>
              <a:pPr algn="l"/>
              <a:r>
                <a:rPr lang="en-GB" sz="1200" b="1" spc="120" dirty="0">
                  <a:solidFill>
                    <a:schemeClr val="accent5"/>
                  </a:solidFill>
                  <a:latin typeface="+mn-lt"/>
                  <a:ea typeface="+mn-ea"/>
                  <a:cs typeface="+mn-cs"/>
                </a:rPr>
                <a:t>LIKELIHOOD</a:t>
              </a:r>
            </a:p>
          </p:txBody>
        </p:sp>
        <p:sp>
          <p:nvSpPr>
            <p:cNvPr id="11" name="Rectangle 11"/>
            <p:cNvSpPr/>
            <p:nvPr/>
          </p:nvSpPr>
          <p:spPr>
            <a:xfrm>
              <a:off x="1905000" y="3810000"/>
              <a:ext cx="4000500" cy="2571750"/>
            </a:xfrm>
            <a:prstGeom prst="rect">
              <a:avLst/>
            </a:prstGeom>
            <a:solidFill>
              <a:srgbClr val="F7F6F3"/>
            </a:solidFill>
            <a:ln>
              <a:noFill/>
            </a:ln>
          </p:spPr>
        </p:sp>
        <p:sp>
          <p:nvSpPr>
            <p:cNvPr id="12" name="Line 12"/>
            <p:cNvSpPr/>
            <p:nvPr/>
          </p:nvSpPr>
          <p:spPr>
            <a:xfrm>
              <a:off x="3238500" y="3810000"/>
              <a:ext cx="9525" cy="2571750"/>
            </a:xfrm>
            <a:custGeom>
              <a:avLst/>
              <a:gdLst/>
              <a:ahLst/>
              <a:cxnLst/>
              <a:rect l="l" t="t" r="r" b="b"/>
              <a:pathLst>
                <a:path w="9525" h="2571750">
                  <a:moveTo>
                    <a:pt x="0" y="0"/>
                  </a:moveTo>
                  <a:lnTo>
                    <a:pt x="0" y="2571750"/>
                  </a:lnTo>
                </a:path>
              </a:pathLst>
            </a:custGeom>
            <a:noFill/>
            <a:ln w="9525">
              <a:solidFill>
                <a:srgbClr val="E7E3DB"/>
              </a:solidFill>
            </a:ln>
          </p:spPr>
        </p:sp>
        <p:sp>
          <p:nvSpPr>
            <p:cNvPr id="13" name="Line 13"/>
            <p:cNvSpPr/>
            <p:nvPr/>
          </p:nvSpPr>
          <p:spPr>
            <a:xfrm>
              <a:off x="4572000" y="3810000"/>
              <a:ext cx="9525" cy="2571750"/>
            </a:xfrm>
            <a:custGeom>
              <a:avLst/>
              <a:gdLst/>
              <a:ahLst/>
              <a:cxnLst/>
              <a:rect l="l" t="t" r="r" b="b"/>
              <a:pathLst>
                <a:path w="9525" h="2571750">
                  <a:moveTo>
                    <a:pt x="0" y="0"/>
                  </a:moveTo>
                  <a:lnTo>
                    <a:pt x="0" y="2571750"/>
                  </a:lnTo>
                </a:path>
              </a:pathLst>
            </a:custGeom>
            <a:noFill/>
            <a:ln w="9525">
              <a:solidFill>
                <a:srgbClr val="E7E3DB"/>
              </a:solidFill>
            </a:ln>
          </p:spPr>
        </p:sp>
        <p:sp>
          <p:nvSpPr>
            <p:cNvPr id="14" name="Line 14"/>
            <p:cNvSpPr/>
            <p:nvPr/>
          </p:nvSpPr>
          <p:spPr>
            <a:xfrm>
              <a:off x="1905000" y="4667250"/>
              <a:ext cx="4000500" cy="9525"/>
            </a:xfrm>
            <a:custGeom>
              <a:avLst/>
              <a:gdLst/>
              <a:ahLst/>
              <a:cxnLst/>
              <a:rect l="l" t="t" r="r" b="b"/>
              <a:pathLst>
                <a:path w="4000500" h="9525">
                  <a:moveTo>
                    <a:pt x="0" y="0"/>
                  </a:moveTo>
                  <a:lnTo>
                    <a:pt x="4000500" y="0"/>
                  </a:lnTo>
                </a:path>
              </a:pathLst>
            </a:custGeom>
            <a:noFill/>
            <a:ln w="9525">
              <a:solidFill>
                <a:srgbClr val="E7E3DB"/>
              </a:solidFill>
            </a:ln>
          </p:spPr>
        </p:sp>
        <p:sp>
          <p:nvSpPr>
            <p:cNvPr id="15" name="Line 15"/>
            <p:cNvSpPr/>
            <p:nvPr/>
          </p:nvSpPr>
          <p:spPr>
            <a:xfrm>
              <a:off x="1905000" y="5524500"/>
              <a:ext cx="4000500" cy="9525"/>
            </a:xfrm>
            <a:custGeom>
              <a:avLst/>
              <a:gdLst/>
              <a:ahLst/>
              <a:cxnLst/>
              <a:rect l="l" t="t" r="r" b="b"/>
              <a:pathLst>
                <a:path w="4000500" h="9525">
                  <a:moveTo>
                    <a:pt x="0" y="0"/>
                  </a:moveTo>
                  <a:lnTo>
                    <a:pt x="4000500" y="0"/>
                  </a:lnTo>
                </a:path>
              </a:pathLst>
            </a:custGeom>
            <a:noFill/>
            <a:ln w="9525">
              <a:solidFill>
                <a:srgbClr val="E7E3DB"/>
              </a:solidFill>
            </a:ln>
          </p:spPr>
        </p:sp>
        <p:sp>
          <p:nvSpPr>
            <p:cNvPr id="16" name="Freeform 16"/>
            <p:cNvSpPr/>
            <p:nvPr/>
          </p:nvSpPr>
          <p:spPr>
            <a:xfrm>
              <a:off x="4572000" y="3810000"/>
              <a:ext cx="1333500" cy="857250"/>
            </a:xfrm>
            <a:prstGeom prst="frame">
              <a:avLst>
                <a:gd name="adj1" fmla="val 4000"/>
              </a:avLst>
            </a:prstGeom>
            <a:noFill/>
            <a:ln w="28575">
              <a:solidFill>
                <a:schemeClr val="accent2"/>
              </a:solidFill>
            </a:ln>
          </p:spPr>
        </p:sp>
        <p:sp>
          <p:nvSpPr>
            <p:cNvPr id="17" name="TextBox 17"/>
            <p:cNvSpPr txBox="1"/>
            <p:nvPr/>
          </p:nvSpPr>
          <p:spPr>
            <a:xfrm>
              <a:off x="1380923" y="4143375"/>
              <a:ext cx="436447" cy="293370"/>
            </a:xfrm>
            <a:prstGeom prst="rect">
              <a:avLst/>
            </a:prstGeom>
            <a:noFill/>
            <a:ln>
              <a:noFill/>
            </a:ln>
          </p:spPr>
          <p:txBody>
            <a:bodyPr wrap="none" lIns="0" tIns="0" rIns="0" bIns="0" anchor="t" anchorCtr="0">
              <a:spAutoFit/>
            </a:bodyPr>
            <a:lstStyle/>
            <a:p>
              <a:pPr algn="r"/>
              <a:r>
                <a:rPr lang="en-GB" sz="1500" dirty="0">
                  <a:solidFill>
                    <a:schemeClr val="accent5"/>
                  </a:solidFill>
                  <a:latin typeface="+mn-lt"/>
                  <a:ea typeface="+mn-ea"/>
                  <a:cs typeface="+mn-cs"/>
                </a:rPr>
                <a:t>High</a:t>
              </a:r>
            </a:p>
          </p:txBody>
        </p:sp>
        <p:sp>
          <p:nvSpPr>
            <p:cNvPr id="18" name="TextBox 18"/>
            <p:cNvSpPr txBox="1"/>
            <p:nvPr/>
          </p:nvSpPr>
          <p:spPr>
            <a:xfrm>
              <a:off x="1077130" y="5000625"/>
              <a:ext cx="740240" cy="293370"/>
            </a:xfrm>
            <a:prstGeom prst="rect">
              <a:avLst/>
            </a:prstGeom>
            <a:noFill/>
            <a:ln>
              <a:noFill/>
            </a:ln>
          </p:spPr>
          <p:txBody>
            <a:bodyPr wrap="none" lIns="0" tIns="0" rIns="0" bIns="0" anchor="t" anchorCtr="0">
              <a:spAutoFit/>
            </a:bodyPr>
            <a:lstStyle/>
            <a:p>
              <a:pPr algn="r"/>
              <a:r>
                <a:rPr lang="en-GB" sz="1500" dirty="0">
                  <a:solidFill>
                    <a:schemeClr val="accent5"/>
                  </a:solidFill>
                  <a:latin typeface="+mn-lt"/>
                  <a:ea typeface="+mn-ea"/>
                  <a:cs typeface="+mn-cs"/>
                </a:rPr>
                <a:t>Medium</a:t>
              </a:r>
            </a:p>
          </p:txBody>
        </p:sp>
        <p:sp>
          <p:nvSpPr>
            <p:cNvPr id="19" name="TextBox 19"/>
            <p:cNvSpPr txBox="1"/>
            <p:nvPr/>
          </p:nvSpPr>
          <p:spPr>
            <a:xfrm>
              <a:off x="1424679" y="5857875"/>
              <a:ext cx="392691" cy="293370"/>
            </a:xfrm>
            <a:prstGeom prst="rect">
              <a:avLst/>
            </a:prstGeom>
            <a:noFill/>
            <a:ln>
              <a:noFill/>
            </a:ln>
          </p:spPr>
          <p:txBody>
            <a:bodyPr wrap="none" lIns="0" tIns="0" rIns="0" bIns="0" anchor="t" anchorCtr="0">
              <a:spAutoFit/>
            </a:bodyPr>
            <a:lstStyle/>
            <a:p>
              <a:pPr algn="r"/>
              <a:r>
                <a:rPr lang="en-GB" sz="1500" dirty="0">
                  <a:solidFill>
                    <a:schemeClr val="accent5"/>
                  </a:solidFill>
                  <a:latin typeface="+mn-lt"/>
                  <a:ea typeface="+mn-ea"/>
                  <a:cs typeface="+mn-cs"/>
                </a:rPr>
                <a:t>Low</a:t>
              </a:r>
            </a:p>
          </p:txBody>
        </p:sp>
        <p:sp>
          <p:nvSpPr>
            <p:cNvPr id="20" name="TextBox 20"/>
            <p:cNvSpPr txBox="1"/>
            <p:nvPr/>
          </p:nvSpPr>
          <p:spPr>
            <a:xfrm>
              <a:off x="2375405" y="6467475"/>
              <a:ext cx="392691"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Low</a:t>
              </a:r>
            </a:p>
          </p:txBody>
        </p:sp>
        <p:sp>
          <p:nvSpPr>
            <p:cNvPr id="21" name="TextBox 21"/>
            <p:cNvSpPr txBox="1"/>
            <p:nvPr/>
          </p:nvSpPr>
          <p:spPr>
            <a:xfrm>
              <a:off x="3535130" y="6467475"/>
              <a:ext cx="740240"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Medium</a:t>
              </a:r>
            </a:p>
          </p:txBody>
        </p:sp>
        <p:sp>
          <p:nvSpPr>
            <p:cNvPr id="22" name="TextBox 22"/>
            <p:cNvSpPr txBox="1"/>
            <p:nvPr/>
          </p:nvSpPr>
          <p:spPr>
            <a:xfrm>
              <a:off x="5020527" y="6467475"/>
              <a:ext cx="436447" cy="293370"/>
            </a:xfrm>
            <a:prstGeom prst="rect">
              <a:avLst/>
            </a:prstGeom>
            <a:noFill/>
            <a:ln>
              <a:noFill/>
            </a:ln>
          </p:spPr>
          <p:txBody>
            <a:bodyPr wrap="none" lIns="0" tIns="0" rIns="0" bIns="0" anchor="t" anchorCtr="0">
              <a:spAutoFit/>
            </a:bodyPr>
            <a:lstStyle/>
            <a:p>
              <a:pPr algn="ctr"/>
              <a:r>
                <a:rPr lang="en-GB" sz="1500" dirty="0">
                  <a:solidFill>
                    <a:schemeClr val="accent5"/>
                  </a:solidFill>
                  <a:latin typeface="+mn-lt"/>
                  <a:ea typeface="+mn-ea"/>
                  <a:cs typeface="+mn-cs"/>
                </a:rPr>
                <a:t>High</a:t>
              </a:r>
            </a:p>
          </p:txBody>
        </p:sp>
        <p:sp>
          <p:nvSpPr>
            <p:cNvPr id="23" name="TextBox 23"/>
            <p:cNvSpPr txBox="1"/>
            <p:nvPr/>
          </p:nvSpPr>
          <p:spPr>
            <a:xfrm>
              <a:off x="5159813" y="6747510"/>
              <a:ext cx="751783" cy="234696"/>
            </a:xfrm>
            <a:prstGeom prst="rect">
              <a:avLst/>
            </a:prstGeom>
            <a:noFill/>
            <a:ln>
              <a:noFill/>
            </a:ln>
          </p:spPr>
          <p:txBody>
            <a:bodyPr wrap="none" lIns="0" tIns="0" rIns="0" bIns="0" anchor="t" anchorCtr="0">
              <a:spAutoFit/>
            </a:bodyPr>
            <a:lstStyle/>
            <a:p>
              <a:pPr algn="r"/>
              <a:r>
                <a:rPr lang="en-GB" sz="1200" b="1" spc="120" dirty="0">
                  <a:solidFill>
                    <a:schemeClr val="accent5"/>
                  </a:solidFill>
                  <a:latin typeface="+mn-lt"/>
                  <a:ea typeface="+mn-ea"/>
                  <a:cs typeface="+mn-cs"/>
                </a:rPr>
                <a:t>IMPACT</a:t>
              </a:r>
            </a:p>
          </p:txBody>
        </p:sp>
        <p:sp>
          <p:nvSpPr>
            <p:cNvPr id="24" name="TextBox 24"/>
            <p:cNvSpPr txBox="1"/>
            <p:nvPr/>
          </p:nvSpPr>
          <p:spPr>
            <a:xfrm>
              <a:off x="5143085" y="4090988"/>
              <a:ext cx="191330" cy="440055"/>
            </a:xfrm>
            <a:prstGeom prst="rect">
              <a:avLst/>
            </a:prstGeom>
            <a:noFill/>
            <a:ln>
              <a:noFill/>
            </a:ln>
          </p:spPr>
          <p:txBody>
            <a:bodyPr wrap="none" lIns="0" tIns="0" rIns="0" bIns="0" anchor="t" anchorCtr="0">
              <a:spAutoFit/>
            </a:bodyPr>
            <a:lstStyle/>
            <a:p>
              <a:pPr algn="ctr"/>
              <a:r>
                <a:rPr lang="en-GB" sz="2250" b="1" dirty="0">
                  <a:solidFill>
                    <a:schemeClr val="accent2"/>
                  </a:solidFill>
                  <a:latin typeface="+mn-lt"/>
                  <a:ea typeface="+mn-ea"/>
                  <a:cs typeface="+mn-cs"/>
                </a:rPr>
                <a:t>1</a:t>
              </a:r>
            </a:p>
          </p:txBody>
        </p:sp>
        <p:sp>
          <p:nvSpPr>
            <p:cNvPr id="25" name="TextBox 25"/>
            <p:cNvSpPr txBox="1"/>
            <p:nvPr/>
          </p:nvSpPr>
          <p:spPr>
            <a:xfrm>
              <a:off x="3809585" y="4090988"/>
              <a:ext cx="191330" cy="440055"/>
            </a:xfrm>
            <a:prstGeom prst="rect">
              <a:avLst/>
            </a:prstGeom>
            <a:noFill/>
            <a:ln>
              <a:noFill/>
            </a:ln>
          </p:spPr>
          <p:txBody>
            <a:bodyPr wrap="none" lIns="0" tIns="0" rIns="0" bIns="0" anchor="t" anchorCtr="0">
              <a:spAutoFit/>
            </a:bodyPr>
            <a:lstStyle/>
            <a:p>
              <a:pPr algn="ctr"/>
              <a:r>
                <a:rPr lang="en-GB" sz="2250" b="1" dirty="0">
                  <a:solidFill>
                    <a:schemeClr val="dk1"/>
                  </a:solidFill>
                  <a:latin typeface="+mn-lt"/>
                  <a:ea typeface="+mn-ea"/>
                  <a:cs typeface="+mn-cs"/>
                </a:rPr>
                <a:t>2</a:t>
              </a:r>
            </a:p>
          </p:txBody>
        </p:sp>
        <p:sp>
          <p:nvSpPr>
            <p:cNvPr id="26" name="TextBox 26"/>
            <p:cNvSpPr txBox="1"/>
            <p:nvPr/>
          </p:nvSpPr>
          <p:spPr>
            <a:xfrm>
              <a:off x="5143085" y="4948238"/>
              <a:ext cx="191330" cy="440055"/>
            </a:xfrm>
            <a:prstGeom prst="rect">
              <a:avLst/>
            </a:prstGeom>
            <a:noFill/>
            <a:ln>
              <a:noFill/>
            </a:ln>
          </p:spPr>
          <p:txBody>
            <a:bodyPr wrap="none" lIns="0" tIns="0" rIns="0" bIns="0" anchor="t" anchorCtr="0">
              <a:spAutoFit/>
            </a:bodyPr>
            <a:lstStyle/>
            <a:p>
              <a:pPr algn="ctr"/>
              <a:r>
                <a:rPr lang="en-GB" sz="2250" b="1" dirty="0">
                  <a:solidFill>
                    <a:schemeClr val="dk1"/>
                  </a:solidFill>
                  <a:latin typeface="+mn-lt"/>
                  <a:ea typeface="+mn-ea"/>
                  <a:cs typeface="+mn-cs"/>
                </a:rPr>
                <a:t>3</a:t>
              </a:r>
            </a:p>
          </p:txBody>
        </p:sp>
        <p:sp>
          <p:nvSpPr>
            <p:cNvPr id="27" name="TextBox 27"/>
            <p:cNvSpPr txBox="1"/>
            <p:nvPr/>
          </p:nvSpPr>
          <p:spPr>
            <a:xfrm>
              <a:off x="3556970" y="4948238"/>
              <a:ext cx="696559" cy="440055"/>
            </a:xfrm>
            <a:prstGeom prst="rect">
              <a:avLst/>
            </a:prstGeom>
            <a:noFill/>
            <a:ln>
              <a:noFill/>
            </a:ln>
          </p:spPr>
          <p:txBody>
            <a:bodyPr wrap="none" lIns="0" tIns="0" rIns="0" bIns="0" anchor="t" anchorCtr="0">
              <a:spAutoFit/>
            </a:bodyPr>
            <a:lstStyle/>
            <a:p>
              <a:pPr algn="ctr"/>
              <a:r>
                <a:rPr lang="en-GB" sz="2250" b="1" dirty="0">
                  <a:solidFill>
                    <a:schemeClr val="dk1"/>
                  </a:solidFill>
                  <a:latin typeface="+mn-lt"/>
                  <a:ea typeface="+mn-ea"/>
                  <a:cs typeface="+mn-cs"/>
                </a:rPr>
                <a:t>4 5 6</a:t>
              </a:r>
            </a:p>
          </p:txBody>
        </p:sp>
      </p:grpSp>
      <p:grpSp>
        <p:nvGrpSpPr>
          <p:cNvPr id="30" name="Group 30"/>
          <p:cNvGrpSpPr/>
          <p:nvPr/>
        </p:nvGrpSpPr>
        <p:grpSpPr>
          <a:xfrm>
            <a:off x="6276594" y="3789998"/>
            <a:ext cx="4287961" cy="1829181"/>
            <a:chOff x="6276594" y="3789998"/>
            <a:chExt cx="4287961" cy="1829181"/>
          </a:xfrm>
        </p:grpSpPr>
        <p:sp>
          <p:nvSpPr>
            <p:cNvPr id="29" name="TextBox 29"/>
            <p:cNvSpPr txBox="1"/>
            <p:nvPr/>
          </p:nvSpPr>
          <p:spPr>
            <a:xfrm>
              <a:off x="6276594" y="3789998"/>
              <a:ext cx="4287961" cy="1829181"/>
            </a:xfrm>
            <a:prstGeom prst="rect">
              <a:avLst/>
            </a:prstGeom>
            <a:noFill/>
            <a:ln>
              <a:noFill/>
            </a:ln>
          </p:spPr>
          <p:txBody>
            <a:bodyPr wrap="none" lIns="0" tIns="0" rIns="0" bIns="0" anchor="t" anchorCtr="0">
              <a:spAutoFit/>
            </a:bodyPr>
            <a:lstStyle/>
            <a:p>
              <a:pPr algn="l">
                <a:lnSpc>
                  <a:spcPts val="2850"/>
                </a:lnSpc>
              </a:pPr>
              <a:r>
                <a:rPr lang="en-GB" sz="1950" dirty="0">
                  <a:solidFill>
                    <a:schemeClr val="dk1"/>
                  </a:solidFill>
                  <a:latin typeface="+mn-lt"/>
                  <a:ea typeface="+mn-ea"/>
                  <a:cs typeface="+mn-cs"/>
                </a:rPr>
                <a:t>Risk 1 sits alone in the top-right cell. It</a:t>
              </a:r>
              <a:br/>
              <a:r>
                <a:rPr lang="en-GB" sz="1950" dirty="0">
                  <a:solidFill>
                    <a:schemeClr val="dk1"/>
                  </a:solidFill>
                  <a:latin typeface="+mn-lt"/>
                  <a:ea typeface="+mn-ea"/>
                  <a:cs typeface="+mn-cs"/>
                </a:rPr>
                <a:t>is the only risk here that preparation</a:t>
              </a:r>
              <a:br/>
              <a:r>
                <a:rPr lang="en-GB" sz="1950" dirty="0">
                  <a:solidFill>
                    <a:schemeClr val="dk1"/>
                  </a:solidFill>
                  <a:latin typeface="+mn-lt"/>
                  <a:ea typeface="+mn-ea"/>
                  <a:cs typeface="+mn-cs"/>
                </a:rPr>
                <a:t>cannot remove, because it depends on</a:t>
              </a:r>
              <a:br/>
              <a:r>
                <a:rPr lang="en-GB" sz="1950" dirty="0">
                  <a:solidFill>
                    <a:schemeClr val="dk1"/>
                  </a:solidFill>
                  <a:latin typeface="+mn-lt"/>
                  <a:ea typeface="+mn-ea"/>
                  <a:cs typeface="+mn-cs"/>
                </a:rPr>
                <a:t>how clients react — and it is what</a:t>
              </a:r>
              <a:br/>
              <a:r>
                <a:rPr lang="en-GB" sz="1950" dirty="0">
                  <a:solidFill>
                    <a:schemeClr val="dk1"/>
                  </a:solidFill>
                  <a:latin typeface="+mn-lt"/>
                  <a:ea typeface="+mn-ea"/>
                  <a:cs typeface="+mn-cs"/>
                </a:rPr>
                <a:t>stopped the one comparable firm.</a:t>
              </a:r>
            </a:p>
          </p:txBody>
        </p:sp>
      </p:grpSp>
      <p:grpSp>
        <p:nvGrpSpPr>
          <p:cNvPr id="81" name="Group 81"/>
          <p:cNvGrpSpPr/>
          <p:nvPr/>
        </p:nvGrpSpPr>
        <p:grpSpPr>
          <a:xfrm>
            <a:off x="762000" y="7239000"/>
            <a:ext cx="10287000" cy="6486525"/>
            <a:chOff x="762000" y="7239000"/>
            <a:chExt cx="10287000" cy="6486525"/>
          </a:xfrm>
        </p:grpSpPr>
        <p:sp>
          <p:nvSpPr>
            <p:cNvPr id="31" name="Rectangle 31"/>
            <p:cNvSpPr/>
            <p:nvPr/>
          </p:nvSpPr>
          <p:spPr>
            <a:xfrm>
              <a:off x="762000" y="7239000"/>
              <a:ext cx="10287000" cy="476250"/>
            </a:xfrm>
            <a:prstGeom prst="rect">
              <a:avLst/>
            </a:prstGeom>
            <a:solidFill>
              <a:schemeClr val="lt2"/>
            </a:solidFill>
            <a:ln>
              <a:noFill/>
            </a:ln>
          </p:spPr>
        </p:sp>
        <p:sp>
          <p:nvSpPr>
            <p:cNvPr id="32" name="Line 32"/>
            <p:cNvSpPr/>
            <p:nvPr/>
          </p:nvSpPr>
          <p:spPr>
            <a:xfrm>
              <a:off x="762000" y="7715250"/>
              <a:ext cx="10287000" cy="9525"/>
            </a:xfrm>
            <a:custGeom>
              <a:avLst/>
              <a:gdLst/>
              <a:ahLst/>
              <a:cxnLst/>
              <a:rect l="l" t="t" r="r" b="b"/>
              <a:pathLst>
                <a:path w="10287000" h="9525">
                  <a:moveTo>
                    <a:pt x="0" y="0"/>
                  </a:moveTo>
                  <a:lnTo>
                    <a:pt x="10287000" y="0"/>
                  </a:lnTo>
                </a:path>
              </a:pathLst>
            </a:custGeom>
            <a:noFill/>
            <a:ln w="19050">
              <a:solidFill>
                <a:schemeClr val="accent1"/>
              </a:solidFill>
            </a:ln>
          </p:spPr>
        </p:sp>
        <p:sp>
          <p:nvSpPr>
            <p:cNvPr id="33" name="Line 33"/>
            <p:cNvSpPr/>
            <p:nvPr/>
          </p:nvSpPr>
          <p:spPr>
            <a:xfrm>
              <a:off x="762000" y="87630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4" name="Line 34"/>
            <p:cNvSpPr/>
            <p:nvPr/>
          </p:nvSpPr>
          <p:spPr>
            <a:xfrm>
              <a:off x="762000" y="100965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5" name="Line 35"/>
            <p:cNvSpPr/>
            <p:nvPr/>
          </p:nvSpPr>
          <p:spPr>
            <a:xfrm>
              <a:off x="762000" y="108585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6" name="Line 36"/>
            <p:cNvSpPr/>
            <p:nvPr/>
          </p:nvSpPr>
          <p:spPr>
            <a:xfrm>
              <a:off x="762000" y="116205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7" name="Line 37"/>
            <p:cNvSpPr/>
            <p:nvPr/>
          </p:nvSpPr>
          <p:spPr>
            <a:xfrm>
              <a:off x="762000" y="1266825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8" name="Line 38"/>
            <p:cNvSpPr/>
            <p:nvPr/>
          </p:nvSpPr>
          <p:spPr>
            <a:xfrm>
              <a:off x="762000" y="13716000"/>
              <a:ext cx="10287000" cy="9525"/>
            </a:xfrm>
            <a:custGeom>
              <a:avLst/>
              <a:gdLst/>
              <a:ahLst/>
              <a:cxnLst/>
              <a:rect l="l" t="t" r="r" b="b"/>
              <a:pathLst>
                <a:path w="10287000" h="9525">
                  <a:moveTo>
                    <a:pt x="0" y="0"/>
                  </a:moveTo>
                  <a:lnTo>
                    <a:pt x="10287000" y="0"/>
                  </a:lnTo>
                </a:path>
              </a:pathLst>
            </a:custGeom>
            <a:noFill/>
            <a:ln w="9525">
              <a:solidFill>
                <a:srgbClr val="E7E3DB"/>
              </a:solidFill>
            </a:ln>
          </p:spPr>
        </p:sp>
        <p:sp>
          <p:nvSpPr>
            <p:cNvPr id="39" name="TextBox 39"/>
            <p:cNvSpPr txBox="1"/>
            <p:nvPr/>
          </p:nvSpPr>
          <p:spPr>
            <a:xfrm>
              <a:off x="830580" y="7362825"/>
              <a:ext cx="127553"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a:t>
              </a:r>
            </a:p>
          </p:txBody>
        </p:sp>
        <p:sp>
          <p:nvSpPr>
            <p:cNvPr id="40" name="TextBox 40"/>
            <p:cNvSpPr txBox="1"/>
            <p:nvPr/>
          </p:nvSpPr>
          <p:spPr>
            <a:xfrm>
              <a:off x="1402080" y="7362825"/>
              <a:ext cx="447833"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Risk</a:t>
              </a:r>
            </a:p>
          </p:txBody>
        </p:sp>
        <p:sp>
          <p:nvSpPr>
            <p:cNvPr id="41" name="TextBox 41"/>
            <p:cNvSpPr txBox="1"/>
            <p:nvPr/>
          </p:nvSpPr>
          <p:spPr>
            <a:xfrm>
              <a:off x="3878580" y="7362825"/>
              <a:ext cx="1030564"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Likelihood</a:t>
              </a:r>
            </a:p>
          </p:txBody>
        </p:sp>
        <p:sp>
          <p:nvSpPr>
            <p:cNvPr id="42" name="TextBox 42"/>
            <p:cNvSpPr txBox="1"/>
            <p:nvPr/>
          </p:nvSpPr>
          <p:spPr>
            <a:xfrm>
              <a:off x="5116830" y="7362825"/>
              <a:ext cx="672241"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Impact</a:t>
              </a:r>
            </a:p>
          </p:txBody>
        </p:sp>
        <p:sp>
          <p:nvSpPr>
            <p:cNvPr id="43" name="TextBox 43"/>
            <p:cNvSpPr txBox="1"/>
            <p:nvPr/>
          </p:nvSpPr>
          <p:spPr>
            <a:xfrm>
              <a:off x="6164580" y="7362825"/>
              <a:ext cx="973948"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Mitigation</a:t>
              </a:r>
            </a:p>
          </p:txBody>
        </p:sp>
        <p:sp>
          <p:nvSpPr>
            <p:cNvPr id="44" name="TextBox 44"/>
            <p:cNvSpPr txBox="1"/>
            <p:nvPr/>
          </p:nvSpPr>
          <p:spPr>
            <a:xfrm>
              <a:off x="9593580" y="7362825"/>
              <a:ext cx="650719" cy="293370"/>
            </a:xfrm>
            <a:prstGeom prst="rect">
              <a:avLst/>
            </a:prstGeom>
            <a:noFill/>
            <a:ln>
              <a:noFill/>
            </a:ln>
          </p:spPr>
          <p:txBody>
            <a:bodyPr wrap="none" lIns="0" tIns="0" rIns="0" bIns="0" anchor="t" anchorCtr="0">
              <a:spAutoFit/>
            </a:bodyPr>
            <a:lstStyle/>
            <a:p>
              <a:pPr algn="l"/>
              <a:r>
                <a:rPr lang="en-GB" sz="1500" b="1" dirty="0">
                  <a:solidFill>
                    <a:schemeClr val="dk1"/>
                  </a:solidFill>
                  <a:latin typeface="+mn-lt"/>
                  <a:ea typeface="+mn-ea"/>
                  <a:cs typeface="+mn-cs"/>
                </a:rPr>
                <a:t>Owner</a:t>
              </a:r>
            </a:p>
          </p:txBody>
        </p:sp>
        <p:sp>
          <p:nvSpPr>
            <p:cNvPr id="45" name="TextBox 45"/>
            <p:cNvSpPr txBox="1"/>
            <p:nvPr/>
          </p:nvSpPr>
          <p:spPr>
            <a:xfrm>
              <a:off x="829818" y="782288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1</a:t>
              </a:r>
            </a:p>
          </p:txBody>
        </p:sp>
        <p:sp>
          <p:nvSpPr>
            <p:cNvPr id="46" name="TextBox 46"/>
            <p:cNvSpPr txBox="1"/>
            <p:nvPr/>
          </p:nvSpPr>
          <p:spPr>
            <a:xfrm>
              <a:off x="1401318" y="7822882"/>
              <a:ext cx="2102038"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Client and stakeholder</a:t>
              </a:r>
              <a:br/>
              <a:r>
                <a:rPr lang="en-GB" sz="1650" dirty="0">
                  <a:solidFill>
                    <a:schemeClr val="dk1"/>
                  </a:solidFill>
                  <a:latin typeface="+mn-lt"/>
                  <a:ea typeface="+mn-ea"/>
                  <a:cs typeface="+mn-cs"/>
                </a:rPr>
                <a:t>expectations (F028 ·</a:t>
              </a:r>
              <a:br/>
              <a:r>
                <a:rPr lang="en-GB" sz="1650" dirty="0">
                  <a:solidFill>
                    <a:schemeClr val="dk1"/>
                  </a:solidFill>
                  <a:latin typeface="+mn-lt"/>
                  <a:ea typeface="+mn-ea"/>
                  <a:cs typeface="+mn-cs"/>
                </a:rPr>
                <a:t>F037)</a:t>
              </a:r>
            </a:p>
          </p:txBody>
        </p:sp>
        <p:sp>
          <p:nvSpPr>
            <p:cNvPr id="47" name="TextBox 47"/>
            <p:cNvSpPr txBox="1"/>
            <p:nvPr/>
          </p:nvSpPr>
          <p:spPr>
            <a:xfrm>
              <a:off x="3877818" y="7822882"/>
              <a:ext cx="480092" cy="322707"/>
            </a:xfrm>
            <a:prstGeom prst="rect">
              <a:avLst/>
            </a:prstGeom>
            <a:noFill/>
            <a:ln>
              <a:noFill/>
            </a:ln>
          </p:spPr>
          <p:txBody>
            <a:bodyPr wrap="none" lIns="0" tIns="0" rIns="0" bIns="0" anchor="t" anchorCtr="0">
              <a:spAutoFit/>
            </a:bodyPr>
            <a:lstStyle/>
            <a:p>
              <a:pPr algn="l"/>
              <a:r>
                <a:rPr lang="en-GB" sz="1650" dirty="0">
                  <a:solidFill>
                    <a:schemeClr val="accent2"/>
                  </a:solidFill>
                  <a:latin typeface="+mn-lt"/>
                  <a:ea typeface="+mn-ea"/>
                  <a:cs typeface="+mn-cs"/>
                </a:rPr>
                <a:t>High</a:t>
              </a:r>
            </a:p>
          </p:txBody>
        </p:sp>
        <p:sp>
          <p:nvSpPr>
            <p:cNvPr id="48" name="TextBox 48"/>
            <p:cNvSpPr txBox="1"/>
            <p:nvPr/>
          </p:nvSpPr>
          <p:spPr>
            <a:xfrm>
              <a:off x="5116068" y="7822882"/>
              <a:ext cx="480092" cy="322707"/>
            </a:xfrm>
            <a:prstGeom prst="rect">
              <a:avLst/>
            </a:prstGeom>
            <a:noFill/>
            <a:ln>
              <a:noFill/>
            </a:ln>
          </p:spPr>
          <p:txBody>
            <a:bodyPr wrap="none" lIns="0" tIns="0" rIns="0" bIns="0" anchor="t" anchorCtr="0">
              <a:spAutoFit/>
            </a:bodyPr>
            <a:lstStyle/>
            <a:p>
              <a:pPr algn="l"/>
              <a:r>
                <a:rPr lang="en-GB" sz="1650" dirty="0">
                  <a:solidFill>
                    <a:schemeClr val="accent2"/>
                  </a:solidFill>
                  <a:latin typeface="+mn-lt"/>
                  <a:ea typeface="+mn-ea"/>
                  <a:cs typeface="+mn-cs"/>
                </a:rPr>
                <a:t>High</a:t>
              </a:r>
            </a:p>
          </p:txBody>
        </p:sp>
        <p:sp>
          <p:nvSpPr>
            <p:cNvPr id="49" name="TextBox 49"/>
            <p:cNvSpPr txBox="1"/>
            <p:nvPr/>
          </p:nvSpPr>
          <p:spPr>
            <a:xfrm>
              <a:off x="6163818" y="7822882"/>
              <a:ext cx="2952182"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Client communication agreed in</a:t>
              </a:r>
              <a:br/>
              <a:r>
                <a:rPr lang="en-GB" sz="1650" dirty="0">
                  <a:solidFill>
                    <a:schemeClr val="dk1"/>
                  </a:solidFill>
                  <a:latin typeface="+mn-lt"/>
                  <a:ea typeface="+mn-ea"/>
                  <a:cs typeface="+mn-cs"/>
                </a:rPr>
                <a:t>Phase 0; stated response times</a:t>
              </a:r>
              <a:br/>
              <a:r>
                <a:rPr lang="en-GB" sz="1650" dirty="0">
                  <a:solidFill>
                    <a:schemeClr val="dk1"/>
                  </a:solidFill>
                  <a:latin typeface="+mn-lt"/>
                  <a:ea typeface="+mn-ea"/>
                  <a:cs typeface="+mn-cs"/>
                </a:rPr>
                <a:t>unchanged</a:t>
              </a:r>
            </a:p>
          </p:txBody>
        </p:sp>
        <p:sp>
          <p:nvSpPr>
            <p:cNvPr id="50" name="TextBox 50"/>
            <p:cNvSpPr txBox="1"/>
            <p:nvPr/>
          </p:nvSpPr>
          <p:spPr>
            <a:xfrm>
              <a:off x="9592818" y="7822882"/>
              <a:ext cx="773742"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Practice</a:t>
              </a:r>
              <a:br/>
              <a:r>
                <a:rPr lang="en-GB" sz="1650" dirty="0">
                  <a:solidFill>
                    <a:schemeClr val="dk1"/>
                  </a:solidFill>
                  <a:latin typeface="+mn-lt"/>
                  <a:ea typeface="+mn-ea"/>
                  <a:cs typeface="+mn-cs"/>
                </a:rPr>
                <a:t>heads</a:t>
              </a:r>
            </a:p>
          </p:txBody>
        </p:sp>
        <p:sp>
          <p:nvSpPr>
            <p:cNvPr id="51" name="TextBox 51"/>
            <p:cNvSpPr txBox="1"/>
            <p:nvPr/>
          </p:nvSpPr>
          <p:spPr>
            <a:xfrm>
              <a:off x="829818" y="887063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2</a:t>
              </a:r>
            </a:p>
          </p:txBody>
        </p:sp>
        <p:sp>
          <p:nvSpPr>
            <p:cNvPr id="52" name="TextBox 52"/>
            <p:cNvSpPr txBox="1"/>
            <p:nvPr/>
          </p:nvSpPr>
          <p:spPr>
            <a:xfrm>
              <a:off x="1401318" y="8870632"/>
              <a:ext cx="2183260" cy="11799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Hours creep: a nominal</a:t>
              </a:r>
              <a:br/>
              <a:r>
                <a:rPr lang="en-GB" sz="1650" dirty="0">
                  <a:solidFill>
                    <a:schemeClr val="dk1"/>
                  </a:solidFill>
                  <a:latin typeface="+mn-lt"/>
                  <a:ea typeface="+mn-ea"/>
                  <a:cs typeface="+mn-cs"/>
                </a:rPr>
                <a:t>32-hour week worked</a:t>
              </a:r>
              <a:br/>
              <a:r>
                <a:rPr lang="en-GB" sz="1650" dirty="0">
                  <a:solidFill>
                    <a:schemeClr val="dk1"/>
                  </a:solidFill>
                  <a:latin typeface="+mn-lt"/>
                  <a:ea typeface="+mn-ea"/>
                  <a:cs typeface="+mn-cs"/>
                </a:rPr>
                <a:t>as 34–36 (F011 ·</a:t>
              </a:r>
              <a:br/>
              <a:r>
                <a:rPr lang="en-GB" sz="1650" dirty="0">
                  <a:solidFill>
                    <a:schemeClr val="dk1"/>
                  </a:solidFill>
                  <a:latin typeface="+mn-lt"/>
                  <a:ea typeface="+mn-ea"/>
                  <a:cs typeface="+mn-cs"/>
                </a:rPr>
                <a:t>F040)</a:t>
              </a:r>
            </a:p>
          </p:txBody>
        </p:sp>
        <p:sp>
          <p:nvSpPr>
            <p:cNvPr id="53" name="TextBox 53"/>
            <p:cNvSpPr txBox="1"/>
            <p:nvPr/>
          </p:nvSpPr>
          <p:spPr>
            <a:xfrm>
              <a:off x="3877818" y="8870632"/>
              <a:ext cx="480092" cy="322707"/>
            </a:xfrm>
            <a:prstGeom prst="rect">
              <a:avLst/>
            </a:prstGeom>
            <a:noFill/>
            <a:ln>
              <a:noFill/>
            </a:ln>
          </p:spPr>
          <p:txBody>
            <a:bodyPr wrap="none" lIns="0" tIns="0" rIns="0" bIns="0" anchor="t" anchorCtr="0">
              <a:spAutoFit/>
            </a:bodyPr>
            <a:lstStyle/>
            <a:p>
              <a:pPr algn="l"/>
              <a:r>
                <a:rPr lang="en-GB" sz="1650" dirty="0">
                  <a:solidFill>
                    <a:schemeClr val="accent2"/>
                  </a:solidFill>
                  <a:latin typeface="+mn-lt"/>
                  <a:ea typeface="+mn-ea"/>
                  <a:cs typeface="+mn-cs"/>
                </a:rPr>
                <a:t>High</a:t>
              </a:r>
            </a:p>
          </p:txBody>
        </p:sp>
        <p:sp>
          <p:nvSpPr>
            <p:cNvPr id="54" name="TextBox 54"/>
            <p:cNvSpPr txBox="1"/>
            <p:nvPr/>
          </p:nvSpPr>
          <p:spPr>
            <a:xfrm>
              <a:off x="5116068" y="88706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55" name="TextBox 55"/>
            <p:cNvSpPr txBox="1"/>
            <p:nvPr/>
          </p:nvSpPr>
          <p:spPr>
            <a:xfrm>
              <a:off x="6163818" y="8870632"/>
              <a:ext cx="2789194"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Measure actual hours, not the</a:t>
              </a:r>
              <a:br/>
              <a:r>
                <a:rPr lang="en-GB" sz="1650" dirty="0">
                  <a:solidFill>
                    <a:schemeClr val="dk1"/>
                  </a:solidFill>
                  <a:latin typeface="+mn-lt"/>
                  <a:ea typeface="+mn-ea"/>
                  <a:cs typeface="+mn-cs"/>
                </a:rPr>
                <a:t>policy; treat creep as a</a:t>
              </a:r>
              <a:br/>
              <a:r>
                <a:rPr lang="en-GB" sz="1650" dirty="0">
                  <a:solidFill>
                    <a:schemeClr val="dk1"/>
                  </a:solidFill>
                  <a:latin typeface="+mn-lt"/>
                  <a:ea typeface="+mn-ea"/>
                  <a:cs typeface="+mn-cs"/>
                </a:rPr>
                <a:t>kill-criterion input</a:t>
              </a:r>
            </a:p>
          </p:txBody>
        </p:sp>
        <p:sp>
          <p:nvSpPr>
            <p:cNvPr id="56" name="TextBox 56"/>
            <p:cNvSpPr txBox="1"/>
            <p:nvPr/>
          </p:nvSpPr>
          <p:spPr>
            <a:xfrm>
              <a:off x="9592818" y="8870632"/>
              <a:ext cx="551355"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COO</a:t>
              </a:r>
            </a:p>
          </p:txBody>
        </p:sp>
        <p:sp>
          <p:nvSpPr>
            <p:cNvPr id="57" name="TextBox 57"/>
            <p:cNvSpPr txBox="1"/>
            <p:nvPr/>
          </p:nvSpPr>
          <p:spPr>
            <a:xfrm>
              <a:off x="829818" y="1020413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3</a:t>
              </a:r>
            </a:p>
          </p:txBody>
        </p:sp>
        <p:sp>
          <p:nvSpPr>
            <p:cNvPr id="58" name="TextBox 58"/>
            <p:cNvSpPr txBox="1"/>
            <p:nvPr/>
          </p:nvSpPr>
          <p:spPr>
            <a:xfrm>
              <a:off x="1401318" y="10204132"/>
              <a:ext cx="2125466"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No agreed definition of</a:t>
              </a:r>
              <a:br/>
              <a:r>
                <a:rPr lang="en-GB" sz="1650" dirty="0">
                  <a:solidFill>
                    <a:schemeClr val="dk1"/>
                  </a:solidFill>
                  <a:latin typeface="+mn-lt"/>
                  <a:ea typeface="+mn-ea"/>
                  <a:cs typeface="+mn-cs"/>
                </a:rPr>
                <a:t>productivity (F047)</a:t>
              </a:r>
            </a:p>
          </p:txBody>
        </p:sp>
        <p:sp>
          <p:nvSpPr>
            <p:cNvPr id="59" name="TextBox 59"/>
            <p:cNvSpPr txBox="1"/>
            <p:nvPr/>
          </p:nvSpPr>
          <p:spPr>
            <a:xfrm>
              <a:off x="3877818" y="102041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60" name="TextBox 60"/>
            <p:cNvSpPr txBox="1"/>
            <p:nvPr/>
          </p:nvSpPr>
          <p:spPr>
            <a:xfrm>
              <a:off x="5116068" y="10204132"/>
              <a:ext cx="480092" cy="322707"/>
            </a:xfrm>
            <a:prstGeom prst="rect">
              <a:avLst/>
            </a:prstGeom>
            <a:noFill/>
            <a:ln>
              <a:noFill/>
            </a:ln>
          </p:spPr>
          <p:txBody>
            <a:bodyPr wrap="none" lIns="0" tIns="0" rIns="0" bIns="0" anchor="t" anchorCtr="0">
              <a:spAutoFit/>
            </a:bodyPr>
            <a:lstStyle/>
            <a:p>
              <a:pPr algn="l"/>
              <a:r>
                <a:rPr lang="en-GB" sz="1650" dirty="0">
                  <a:solidFill>
                    <a:schemeClr val="accent2"/>
                  </a:solidFill>
                  <a:latin typeface="+mn-lt"/>
                  <a:ea typeface="+mn-ea"/>
                  <a:cs typeface="+mn-cs"/>
                </a:rPr>
                <a:t>High</a:t>
              </a:r>
            </a:p>
          </p:txBody>
        </p:sp>
        <p:sp>
          <p:nvSpPr>
            <p:cNvPr id="61" name="TextBox 61"/>
            <p:cNvSpPr txBox="1"/>
            <p:nvPr/>
          </p:nvSpPr>
          <p:spPr>
            <a:xfrm>
              <a:off x="6163818" y="10204132"/>
              <a:ext cx="2929090"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Metrics fixed in Phase 0 and</a:t>
              </a:r>
              <a:br/>
              <a:r>
                <a:rPr lang="en-GB" sz="1650" dirty="0">
                  <a:solidFill>
                    <a:schemeClr val="dk1"/>
                  </a:solidFill>
                  <a:latin typeface="+mn-lt"/>
                  <a:ea typeface="+mn-ea"/>
                  <a:cs typeface="+mn-cs"/>
                </a:rPr>
                <a:t>published before the pilot starts</a:t>
              </a:r>
            </a:p>
          </p:txBody>
        </p:sp>
        <p:sp>
          <p:nvSpPr>
            <p:cNvPr id="62" name="TextBox 62"/>
            <p:cNvSpPr txBox="1"/>
            <p:nvPr/>
          </p:nvSpPr>
          <p:spPr>
            <a:xfrm>
              <a:off x="9592818" y="10204132"/>
              <a:ext cx="762301"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Finance</a:t>
              </a:r>
              <a:br/>
              <a:r>
                <a:rPr lang="en-GB" sz="1650" dirty="0">
                  <a:solidFill>
                    <a:schemeClr val="dk1"/>
                  </a:solidFill>
                  <a:latin typeface="+mn-lt"/>
                  <a:ea typeface="+mn-ea"/>
                  <a:cs typeface="+mn-cs"/>
                </a:rPr>
                <a:t>director</a:t>
              </a:r>
            </a:p>
          </p:txBody>
        </p:sp>
        <p:sp>
          <p:nvSpPr>
            <p:cNvPr id="63" name="TextBox 63"/>
            <p:cNvSpPr txBox="1"/>
            <p:nvPr/>
          </p:nvSpPr>
          <p:spPr>
            <a:xfrm>
              <a:off x="829818" y="1096613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4</a:t>
              </a:r>
            </a:p>
          </p:txBody>
        </p:sp>
        <p:sp>
          <p:nvSpPr>
            <p:cNvPr id="64" name="TextBox 64"/>
            <p:cNvSpPr txBox="1"/>
            <p:nvPr/>
          </p:nvSpPr>
          <p:spPr>
            <a:xfrm>
              <a:off x="1401318" y="10966132"/>
              <a:ext cx="1612781"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Benefit fade after</a:t>
              </a:r>
              <a:br/>
              <a:r>
                <a:rPr lang="en-GB" sz="1650" dirty="0">
                  <a:solidFill>
                    <a:schemeClr val="dk1"/>
                  </a:solidFill>
                  <a:latin typeface="+mn-lt"/>
                  <a:ea typeface="+mn-ea"/>
                  <a:cs typeface="+mn-cs"/>
                </a:rPr>
                <a:t>month 3 (F043)</a:t>
              </a:r>
            </a:p>
          </p:txBody>
        </p:sp>
        <p:sp>
          <p:nvSpPr>
            <p:cNvPr id="65" name="TextBox 65"/>
            <p:cNvSpPr txBox="1"/>
            <p:nvPr/>
          </p:nvSpPr>
          <p:spPr>
            <a:xfrm>
              <a:off x="3877818" y="109661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66" name="TextBox 66"/>
            <p:cNvSpPr txBox="1"/>
            <p:nvPr/>
          </p:nvSpPr>
          <p:spPr>
            <a:xfrm>
              <a:off x="5116068" y="109661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67" name="TextBox 67"/>
            <p:cNvSpPr txBox="1"/>
            <p:nvPr/>
          </p:nvSpPr>
          <p:spPr>
            <a:xfrm>
              <a:off x="6163818" y="10966132"/>
              <a:ext cx="2846862"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Gate A is the high-water mark;</a:t>
              </a:r>
              <a:br/>
              <a:r>
                <a:rPr lang="en-GB" sz="1650" dirty="0">
                  <a:solidFill>
                    <a:schemeClr val="dk1"/>
                  </a:solidFill>
                  <a:latin typeface="+mn-lt"/>
                  <a:ea typeface="+mn-ea"/>
                  <a:cs typeface="+mn-cs"/>
                </a:rPr>
                <a:t>the six-month read decides</a:t>
              </a:r>
            </a:p>
          </p:txBody>
        </p:sp>
        <p:sp>
          <p:nvSpPr>
            <p:cNvPr id="68" name="TextBox 68"/>
            <p:cNvSpPr txBox="1"/>
            <p:nvPr/>
          </p:nvSpPr>
          <p:spPr>
            <a:xfrm>
              <a:off x="9592818" y="10966132"/>
              <a:ext cx="1152711"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HR director</a:t>
              </a:r>
            </a:p>
          </p:txBody>
        </p:sp>
        <p:sp>
          <p:nvSpPr>
            <p:cNvPr id="69" name="TextBox 69"/>
            <p:cNvSpPr txBox="1"/>
            <p:nvPr/>
          </p:nvSpPr>
          <p:spPr>
            <a:xfrm>
              <a:off x="829818" y="1172813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5</a:t>
              </a:r>
            </a:p>
          </p:txBody>
        </p:sp>
        <p:sp>
          <p:nvSpPr>
            <p:cNvPr id="70" name="TextBox 70"/>
            <p:cNvSpPr txBox="1"/>
            <p:nvPr/>
          </p:nvSpPr>
          <p:spPr>
            <a:xfrm>
              <a:off x="1401318" y="11728132"/>
              <a:ext cx="2090345"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Entitlement dispute on</a:t>
              </a:r>
              <a:br/>
              <a:r>
                <a:rPr lang="en-GB" sz="1650" dirty="0">
                  <a:solidFill>
                    <a:schemeClr val="dk1"/>
                  </a:solidFill>
                  <a:latin typeface="+mn-lt"/>
                  <a:ea typeface="+mn-ea"/>
                  <a:cs typeface="+mn-cs"/>
                </a:rPr>
                <a:t>withdrawal (F025)</a:t>
              </a:r>
            </a:p>
          </p:txBody>
        </p:sp>
        <p:sp>
          <p:nvSpPr>
            <p:cNvPr id="71" name="TextBox 71"/>
            <p:cNvSpPr txBox="1"/>
            <p:nvPr/>
          </p:nvSpPr>
          <p:spPr>
            <a:xfrm>
              <a:off x="3877818" y="117281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72" name="TextBox 72"/>
            <p:cNvSpPr txBox="1"/>
            <p:nvPr/>
          </p:nvSpPr>
          <p:spPr>
            <a:xfrm>
              <a:off x="5116068" y="1172813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73" name="TextBox 73"/>
            <p:cNvSpPr txBox="1"/>
            <p:nvPr/>
          </p:nvSpPr>
          <p:spPr>
            <a:xfrm>
              <a:off x="6163818" y="11728132"/>
              <a:ext cx="2963749"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Non-contractual status stated in</a:t>
              </a:r>
              <a:br/>
              <a:r>
                <a:rPr lang="en-GB" sz="1650" dirty="0">
                  <a:solidFill>
                    <a:schemeClr val="dk1"/>
                  </a:solidFill>
                  <a:latin typeface="+mn-lt"/>
                  <a:ea typeface="+mn-ea"/>
                  <a:cs typeface="+mn-cs"/>
                </a:rPr>
                <a:t>writing and acknowledged by</a:t>
              </a:r>
              <a:br/>
              <a:r>
                <a:rPr lang="en-GB" sz="1650" dirty="0">
                  <a:solidFill>
                    <a:schemeClr val="dk1"/>
                  </a:solidFill>
                  <a:latin typeface="+mn-lt"/>
                  <a:ea typeface="+mn-ea"/>
                  <a:cs typeface="+mn-cs"/>
                </a:rPr>
                <a:t>each participant</a:t>
              </a:r>
            </a:p>
          </p:txBody>
        </p:sp>
        <p:sp>
          <p:nvSpPr>
            <p:cNvPr id="74" name="TextBox 74"/>
            <p:cNvSpPr txBox="1"/>
            <p:nvPr/>
          </p:nvSpPr>
          <p:spPr>
            <a:xfrm>
              <a:off x="9592818" y="11728132"/>
              <a:ext cx="1152711"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HR director</a:t>
              </a:r>
            </a:p>
          </p:txBody>
        </p:sp>
        <p:sp>
          <p:nvSpPr>
            <p:cNvPr id="75" name="TextBox 75"/>
            <p:cNvSpPr txBox="1"/>
            <p:nvPr/>
          </p:nvSpPr>
          <p:spPr>
            <a:xfrm>
              <a:off x="829818" y="12775882"/>
              <a:ext cx="140309" cy="322707"/>
            </a:xfrm>
            <a:prstGeom prst="rect">
              <a:avLst/>
            </a:prstGeom>
            <a:noFill/>
            <a:ln>
              <a:noFill/>
            </a:ln>
          </p:spPr>
          <p:txBody>
            <a:bodyPr wrap="none" lIns="0" tIns="0" rIns="0" bIns="0" anchor="t" anchorCtr="0">
              <a:spAutoFit/>
            </a:bodyPr>
            <a:lstStyle/>
            <a:p>
              <a:pPr algn="l"/>
              <a:r>
                <a:rPr lang="en-GB" sz="1650" dirty="0">
                  <a:solidFill>
                    <a:schemeClr val="dk1"/>
                  </a:solidFill>
                  <a:latin typeface="+mn-lt"/>
                  <a:ea typeface="+mn-ea"/>
                  <a:cs typeface="+mn-cs"/>
                </a:rPr>
                <a:t>6</a:t>
              </a:r>
            </a:p>
          </p:txBody>
        </p:sp>
        <p:sp>
          <p:nvSpPr>
            <p:cNvPr id="76" name="TextBox 76"/>
            <p:cNvSpPr txBox="1"/>
            <p:nvPr/>
          </p:nvSpPr>
          <p:spPr>
            <a:xfrm>
              <a:off x="1401318" y="12775882"/>
              <a:ext cx="2102373" cy="89420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Inequitable application</a:t>
              </a:r>
              <a:br/>
              <a:r>
                <a:rPr lang="en-GB" sz="1650" dirty="0">
                  <a:solidFill>
                    <a:schemeClr val="dk1"/>
                  </a:solidFill>
                  <a:latin typeface="+mn-lt"/>
                  <a:ea typeface="+mn-ea"/>
                  <a:cs typeface="+mn-cs"/>
                </a:rPr>
                <a:t>across a small team</a:t>
              </a:r>
              <a:br/>
              <a:r>
                <a:rPr lang="en-GB" sz="1650" dirty="0">
                  <a:solidFill>
                    <a:schemeClr val="dk1"/>
                  </a:solidFill>
                  <a:latin typeface="+mn-lt"/>
                  <a:ea typeface="+mn-ea"/>
                  <a:cs typeface="+mn-cs"/>
                </a:rPr>
                <a:t>(F028)</a:t>
              </a:r>
            </a:p>
          </p:txBody>
        </p:sp>
        <p:sp>
          <p:nvSpPr>
            <p:cNvPr id="77" name="TextBox 77"/>
            <p:cNvSpPr txBox="1"/>
            <p:nvPr/>
          </p:nvSpPr>
          <p:spPr>
            <a:xfrm>
              <a:off x="3877818" y="1277588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78" name="TextBox 78"/>
            <p:cNvSpPr txBox="1"/>
            <p:nvPr/>
          </p:nvSpPr>
          <p:spPr>
            <a:xfrm>
              <a:off x="5116068" y="12775882"/>
              <a:ext cx="814264" cy="322707"/>
            </a:xfrm>
            <a:prstGeom prst="rect">
              <a:avLst/>
            </a:prstGeom>
            <a:noFill/>
            <a:ln>
              <a:noFill/>
            </a:ln>
          </p:spPr>
          <p:txBody>
            <a:bodyPr wrap="none" lIns="0" tIns="0" rIns="0" bIns="0" anchor="t" anchorCtr="0">
              <a:spAutoFit/>
            </a:bodyPr>
            <a:lstStyle/>
            <a:p>
              <a:pPr algn="l"/>
              <a:r>
                <a:rPr lang="en-GB" sz="1650" dirty="0">
                  <a:solidFill>
                    <a:schemeClr val="accent3"/>
                  </a:solidFill>
                  <a:latin typeface="+mn-lt"/>
                  <a:ea typeface="+mn-ea"/>
                  <a:cs typeface="+mn-cs"/>
                </a:rPr>
                <a:t>Medium</a:t>
              </a:r>
            </a:p>
          </p:txBody>
        </p:sp>
        <p:sp>
          <p:nvSpPr>
            <p:cNvPr id="79" name="TextBox 79"/>
            <p:cNvSpPr txBox="1"/>
            <p:nvPr/>
          </p:nvSpPr>
          <p:spPr>
            <a:xfrm>
              <a:off x="6163818" y="12775882"/>
              <a:ext cx="2637480"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Whole-practice-group scope</a:t>
              </a:r>
              <a:br/>
              <a:r>
                <a:rPr lang="en-GB" sz="1650" dirty="0">
                  <a:solidFill>
                    <a:schemeClr val="dk1"/>
                  </a:solidFill>
                  <a:latin typeface="+mn-lt"/>
                  <a:ea typeface="+mn-ea"/>
                  <a:cs typeface="+mn-cs"/>
                </a:rPr>
                <a:t>rather than individual opt-in</a:t>
              </a:r>
            </a:p>
          </p:txBody>
        </p:sp>
        <p:sp>
          <p:nvSpPr>
            <p:cNvPr id="80" name="TextBox 80"/>
            <p:cNvSpPr txBox="1"/>
            <p:nvPr/>
          </p:nvSpPr>
          <p:spPr>
            <a:xfrm>
              <a:off x="9592818" y="12775882"/>
              <a:ext cx="773742" cy="608457"/>
            </a:xfrm>
            <a:prstGeom prst="rect">
              <a:avLst/>
            </a:prstGeom>
            <a:noFill/>
            <a:ln>
              <a:noFill/>
            </a:ln>
          </p:spPr>
          <p:txBody>
            <a:bodyPr wrap="none" lIns="0" tIns="0" rIns="0" bIns="0" anchor="t" anchorCtr="0">
              <a:spAutoFit/>
            </a:bodyPr>
            <a:lstStyle/>
            <a:p>
              <a:pPr algn="l">
                <a:lnSpc>
                  <a:spcPts val="2250"/>
                </a:lnSpc>
              </a:pPr>
              <a:r>
                <a:rPr lang="en-GB" sz="1650" dirty="0">
                  <a:solidFill>
                    <a:schemeClr val="dk1"/>
                  </a:solidFill>
                  <a:latin typeface="+mn-lt"/>
                  <a:ea typeface="+mn-ea"/>
                  <a:cs typeface="+mn-cs"/>
                </a:rPr>
                <a:t>Practice</a:t>
              </a:r>
              <a:br/>
              <a:r>
                <a:rPr lang="en-GB" sz="1650" dirty="0">
                  <a:solidFill>
                    <a:schemeClr val="dk1"/>
                  </a:solidFill>
                  <a:latin typeface="+mn-lt"/>
                  <a:ea typeface="+mn-ea"/>
                  <a:cs typeface="+mn-cs"/>
                </a:rPr>
                <a:t>heads</a:t>
              </a:r>
            </a:p>
          </p:txBody>
        </p:sp>
      </p:grpSp>
      <p:grpSp>
        <p:nvGrpSpPr>
          <p:cNvPr id="84" name="Group 84"/>
          <p:cNvGrpSpPr/>
          <p:nvPr/>
        </p:nvGrpSpPr>
        <p:grpSpPr>
          <a:xfrm>
            <a:off x="755904" y="14005560"/>
            <a:ext cx="9101785" cy="1263396"/>
            <a:chOff x="755904" y="14005560"/>
            <a:chExt cx="9101785" cy="1263396"/>
          </a:xfrm>
        </p:grpSpPr>
        <p:sp>
          <p:nvSpPr>
            <p:cNvPr id="82" name="TextBox 82"/>
            <p:cNvSpPr txBox="1"/>
            <p:nvPr/>
          </p:nvSpPr>
          <p:spPr>
            <a:xfrm>
              <a:off x="755904" y="14005560"/>
              <a:ext cx="9101785" cy="463296"/>
            </a:xfrm>
            <a:prstGeom prst="rect">
              <a:avLst/>
            </a:prstGeom>
            <a:noFill/>
            <a:ln>
              <a:noFill/>
            </a:ln>
          </p:spPr>
          <p:txBody>
            <a:bodyPr wrap="none" lIns="0" tIns="0" rIns="0" bIns="0" anchor="t" anchorCtr="0">
              <a:spAutoFit/>
            </a:bodyPr>
            <a:lstStyle/>
            <a:p>
              <a:pPr algn="l">
                <a:lnSpc>
                  <a:spcPts val="1800"/>
                </a:lnSpc>
              </a:pPr>
              <a:r>
                <a:rPr lang="en-GB" sz="1200" dirty="0">
                  <a:solidFill>
                    <a:srgbClr val="6E777E"/>
                  </a:solidFill>
                  <a:latin typeface="+mn-lt"/>
                  <a:ea typeface="+mn-ea"/>
                  <a:cs typeface="+mn-cs"/>
                </a:rPr>
                <a:t>Likelihood and impact ratings are the firm’s judgement, not findings — scenario data. The risks themselves are sourced; the ratings are</a:t>
              </a:r>
              <a:br/>
              <a:r>
                <a:rPr lang="en-GB" sz="1200" dirty="0">
                  <a:solidFill>
                    <a:srgbClr val="6E777E"/>
                  </a:solidFill>
                  <a:latin typeface="+mn-lt"/>
                  <a:ea typeface="+mn-ea"/>
                  <a:cs typeface="+mn-cs"/>
                </a:rPr>
                <a:t>not. Accent marks a High rating, slate a Medium one.</a:t>
              </a:r>
            </a:p>
          </p:txBody>
        </p:sp>
        <p:sp>
          <p:nvSpPr>
            <p:cNvPr id="83" name="TextBox 83"/>
            <p:cNvSpPr txBox="1"/>
            <p:nvPr/>
          </p:nvSpPr>
          <p:spPr>
            <a:xfrm>
              <a:off x="755904" y="14577060"/>
              <a:ext cx="9034181" cy="691896"/>
            </a:xfrm>
            <a:prstGeom prst="rect">
              <a:avLst/>
            </a:prstGeom>
            <a:noFill/>
            <a:ln>
              <a:noFill/>
            </a:ln>
          </p:spPr>
          <p:txBody>
            <a:bodyPr wrap="none" lIns="0" tIns="0" rIns="0" bIns="0" anchor="t" anchorCtr="0">
              <a:spAutoFit/>
            </a:bodyPr>
            <a:lstStyle/>
            <a:p>
              <a:pPr algn="l">
                <a:lnSpc>
                  <a:spcPts val="1800"/>
                </a:lnSpc>
              </a:pPr>
              <a:r>
                <a:rPr lang="en-GB" sz="1200" dirty="0">
                  <a:solidFill>
                    <a:schemeClr val="accent5"/>
                  </a:solidFill>
                  <a:latin typeface="+mn-lt"/>
                  <a:ea typeface="+mn-ea"/>
                  <a:cs typeface="+mn-cs"/>
                </a:rPr>
                <a:t>External note: a Best Value Notice was issued to South Cambridgeshire District Council in November 2023, reissued in May 2024 and</a:t>
              </a:r>
              <a:br/>
              <a:r>
                <a:rPr lang="en-GB" sz="1200" dirty="0">
                  <a:solidFill>
                    <a:schemeClr val="accent5"/>
                  </a:solidFill>
                  <a:latin typeface="+mn-lt"/>
                  <a:ea typeface="+mn-ea"/>
                  <a:cs typeface="+mn-cs"/>
                </a:rPr>
                <a:t>allowed to expire in November 2024, alongside a statement that it is not government policy to support a general move to a four-day</a:t>
              </a:r>
              <a:br/>
              <a:r>
                <a:rPr lang="en-GB" sz="1200" dirty="0">
                  <a:solidFill>
                    <a:schemeClr val="accent5"/>
                  </a:solidFill>
                  <a:latin typeface="+mn-lt"/>
                  <a:ea typeface="+mn-ea"/>
                  <a:cs typeface="+mn-cs"/>
                </a:rPr>
                <a:t>week for five days’ pay. Relevant to a private firm only as a signal about external legitimacy.</a:t>
              </a:r>
            </a:p>
          </p:txBody>
        </p:sp>
      </p:grpSp>
      <p:grpSp>
        <p:nvGrpSpPr>
          <p:cNvPr id="88" name="Group 88"/>
          <p:cNvGrpSpPr/>
          <p:nvPr/>
        </p:nvGrpSpPr>
        <p:grpSpPr>
          <a:xfrm>
            <a:off x="755904" y="15582900"/>
            <a:ext cx="10299192" cy="409956"/>
            <a:chOff x="755904" y="15582900"/>
            <a:chExt cx="10299192" cy="409956"/>
          </a:xfrm>
        </p:grpSpPr>
        <p:sp>
          <p:nvSpPr>
            <p:cNvPr id="85" name="Line 85"/>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86" name="TextBox 86"/>
            <p:cNvSpPr txBox="1"/>
            <p:nvPr/>
          </p:nvSpPr>
          <p:spPr>
            <a:xfrm>
              <a:off x="755904" y="15758160"/>
              <a:ext cx="7881803"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Sources: Autonomy (2023) · 4 Day Week Foundation follow-up (2024) · Portugal final report (2024) · MHCLG</a:t>
              </a:r>
            </a:p>
          </p:txBody>
        </p:sp>
        <p:sp>
          <p:nvSpPr>
            <p:cNvPr id="87" name="TextBox 87"/>
            <p:cNvSpPr txBox="1"/>
            <p:nvPr/>
          </p:nvSpPr>
          <p:spPr>
            <a:xfrm>
              <a:off x="8545335" y="15758160"/>
              <a:ext cx="250976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9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600"/>
                                        <p:tgtEl>
                                          <p:spTgt spid="28"/>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00"/>
                                        <p:tgtEl>
                                          <p:spTgt spid="30"/>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81"/>
                                        </p:tgtEl>
                                        <p:attrNameLst>
                                          <p:attrName>style.visibility</p:attrName>
                                        </p:attrNameLst>
                                      </p:cBhvr>
                                      <p:to>
                                        <p:strVal val="visible"/>
                                      </p:to>
                                    </p:set>
                                    <p:animEffect transition="in" filter="fade">
                                      <p:cBhvr>
                                        <p:cTn id="15" dur="6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55904" y="937260"/>
            <a:ext cx="10299192" cy="329565"/>
            <a:chOff x="755904" y="937260"/>
            <a:chExt cx="10299192" cy="329565"/>
          </a:xfrm>
        </p:grpSpPr>
        <p:sp>
          <p:nvSpPr>
            <p:cNvPr id="2" name="TextBox 2"/>
            <p:cNvSpPr txBox="1"/>
            <p:nvPr/>
          </p:nvSpPr>
          <p:spPr>
            <a:xfrm>
              <a:off x="755904" y="937260"/>
              <a:ext cx="3600566" cy="234696"/>
            </a:xfrm>
            <a:prstGeom prst="rect">
              <a:avLst/>
            </a:prstGeom>
            <a:noFill/>
            <a:ln>
              <a:noFill/>
            </a:ln>
          </p:spPr>
          <p:txBody>
            <a:bodyPr wrap="none" lIns="0" tIns="0" rIns="0" bIns="0" anchor="t" anchorCtr="0">
              <a:spAutoFit/>
            </a:bodyPr>
            <a:lstStyle/>
            <a:p>
              <a:pPr algn="l"/>
              <a:r>
                <a:rPr lang="en-GB" sz="1200" spc="120" dirty="0">
                  <a:solidFill>
                    <a:schemeClr val="accent5"/>
                  </a:solidFill>
                  <a:latin typeface="+mn-lt"/>
                  <a:ea typeface="+mn-ea"/>
                  <a:cs typeface="+mn-cs"/>
                </a:rPr>
                <a:t>FOUR-DAY WEEK — DECISION MEMO</a:t>
              </a:r>
            </a:p>
          </p:txBody>
        </p:sp>
        <p:sp>
          <p:nvSpPr>
            <p:cNvPr id="3" name="TextBox 3"/>
            <p:cNvSpPr txBox="1"/>
            <p:nvPr/>
          </p:nvSpPr>
          <p:spPr>
            <a:xfrm>
              <a:off x="9303405" y="937260"/>
              <a:ext cx="1751691"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 Appendix: evidence</a:t>
              </a:r>
            </a:p>
          </p:txBody>
        </p:sp>
        <p:sp>
          <p:nvSpPr>
            <p:cNvPr id="4" name="Line 4"/>
            <p:cNvSpPr/>
            <p:nvPr/>
          </p:nvSpPr>
          <p:spPr>
            <a:xfrm>
              <a:off x="762000" y="1257300"/>
              <a:ext cx="10287000" cy="9525"/>
            </a:xfrm>
            <a:custGeom>
              <a:avLst/>
              <a:gdLst/>
              <a:ahLst/>
              <a:cxnLst/>
              <a:rect l="l" t="t" r="r" b="b"/>
              <a:pathLst>
                <a:path w="10287000" h="9525">
                  <a:moveTo>
                    <a:pt x="0" y="0"/>
                  </a:moveTo>
                  <a:lnTo>
                    <a:pt x="10287000" y="0"/>
                  </a:lnTo>
                </a:path>
              </a:pathLst>
            </a:custGeom>
            <a:noFill/>
            <a:ln w="9525">
              <a:solidFill>
                <a:schemeClr val="accent6"/>
              </a:solidFill>
            </a:ln>
          </p:spPr>
        </p:sp>
      </p:grpSp>
      <p:grpSp>
        <p:nvGrpSpPr>
          <p:cNvPr id="7" name="Group 7"/>
          <p:cNvGrpSpPr/>
          <p:nvPr/>
        </p:nvGrpSpPr>
        <p:grpSpPr>
          <a:xfrm>
            <a:off x="745236" y="1548765"/>
            <a:ext cx="7602893" cy="1159764"/>
            <a:chOff x="745236" y="1548765"/>
            <a:chExt cx="7602893" cy="1159764"/>
          </a:xfrm>
        </p:grpSpPr>
        <p:sp>
          <p:nvSpPr>
            <p:cNvPr id="6" name="TextBox 6"/>
            <p:cNvSpPr txBox="1"/>
            <p:nvPr/>
          </p:nvSpPr>
          <p:spPr>
            <a:xfrm>
              <a:off x="745236" y="1548765"/>
              <a:ext cx="7602893" cy="1159764"/>
            </a:xfrm>
            <a:prstGeom prst="rect">
              <a:avLst/>
            </a:prstGeom>
            <a:noFill/>
            <a:ln>
              <a:noFill/>
            </a:ln>
          </p:spPr>
          <p:txBody>
            <a:bodyPr wrap="none" lIns="0" tIns="0" rIns="0" bIns="0" anchor="t" anchorCtr="0">
              <a:spAutoFit/>
            </a:bodyPr>
            <a:lstStyle/>
            <a:p>
              <a:pPr algn="l">
                <a:lnSpc>
                  <a:spcPts val="4050"/>
                </a:lnSpc>
              </a:pPr>
              <a:r>
                <a:rPr lang="en-GB" sz="3300" b="1" dirty="0">
                  <a:solidFill>
                    <a:schemeClr val="dk1"/>
                  </a:solidFill>
                  <a:latin typeface="+mn-lt"/>
                  <a:ea typeface="+mn-ea"/>
                  <a:cs typeface="+mn-cs"/>
                </a:rPr>
                <a:t>Every figure above is one link from its</a:t>
              </a:r>
              <a:br/>
              <a:r>
                <a:rPr lang="en-GB" sz="3300" b="1" dirty="0">
                  <a:solidFill>
                    <a:schemeClr val="dk1"/>
                  </a:solidFill>
                  <a:latin typeface="+mn-lt"/>
                  <a:ea typeface="+mn-ea"/>
                  <a:cs typeface="+mn-cs"/>
                </a:rPr>
                <a:t>primary source</a:t>
              </a:r>
            </a:p>
          </p:txBody>
        </p:sp>
      </p:grpSp>
      <p:grpSp>
        <p:nvGrpSpPr>
          <p:cNvPr id="9" name="Group 9"/>
          <p:cNvGrpSpPr/>
          <p:nvPr/>
        </p:nvGrpSpPr>
        <p:grpSpPr>
          <a:xfrm>
            <a:off x="750570" y="2767012"/>
            <a:ext cx="8901513" cy="840105"/>
            <a:chOff x="750570" y="2767012"/>
            <a:chExt cx="8901513" cy="840105"/>
          </a:xfrm>
        </p:grpSpPr>
        <p:sp>
          <p:nvSpPr>
            <p:cNvPr id="8" name="TextBox 8"/>
            <p:cNvSpPr txBox="1"/>
            <p:nvPr/>
          </p:nvSpPr>
          <p:spPr>
            <a:xfrm>
              <a:off x="750570" y="2767012"/>
              <a:ext cx="8901513" cy="840105"/>
            </a:xfrm>
            <a:prstGeom prst="rect">
              <a:avLst/>
            </a:prstGeom>
            <a:noFill/>
            <a:ln>
              <a:noFill/>
            </a:ln>
          </p:spPr>
          <p:txBody>
            <a:bodyPr wrap="none" lIns="0" tIns="0" rIns="0" bIns="0" anchor="t" anchorCtr="0">
              <a:spAutoFit/>
            </a:bodyPr>
            <a:lstStyle/>
            <a:p>
              <a:pPr algn="l">
                <a:lnSpc>
                  <a:spcPts val="3150"/>
                </a:lnSpc>
              </a:pPr>
              <a:r>
                <a:rPr lang="en-GB" sz="2250" dirty="0">
                  <a:solidFill>
                    <a:schemeClr val="accent3"/>
                  </a:solidFill>
                  <a:latin typeface="+mn-lt"/>
                  <a:ea typeface="+mn-ea"/>
                  <a:cs typeface="+mn-cs"/>
                </a:rPr>
                <a:t>Where credible sources disagree, this memo names the disagreement</a:t>
              </a:r>
              <a:br/>
              <a:r>
                <a:rPr lang="en-GB" sz="2250" dirty="0">
                  <a:solidFill>
                    <a:schemeClr val="accent3"/>
                  </a:solidFill>
                  <a:latin typeface="+mn-lt"/>
                  <a:ea typeface="+mn-ea"/>
                  <a:cs typeface="+mn-cs"/>
                </a:rPr>
                <a:t>rather than reconciling it.</a:t>
              </a:r>
            </a:p>
          </p:txBody>
        </p:sp>
      </p:grpSp>
      <p:grpSp>
        <p:nvGrpSpPr>
          <p:cNvPr id="13" name="Group 13"/>
          <p:cNvGrpSpPr/>
          <p:nvPr/>
        </p:nvGrpSpPr>
        <p:grpSpPr>
          <a:xfrm>
            <a:off x="755904" y="3870960"/>
            <a:ext cx="9092976" cy="2101596"/>
            <a:chOff x="755904" y="3870960"/>
            <a:chExt cx="9092976" cy="2101596"/>
          </a:xfrm>
        </p:grpSpPr>
        <p:sp>
          <p:nvSpPr>
            <p:cNvPr id="10" name="TextBox 10"/>
            <p:cNvSpPr txBox="1"/>
            <p:nvPr/>
          </p:nvSpPr>
          <p:spPr>
            <a:xfrm>
              <a:off x="755904" y="3870960"/>
              <a:ext cx="8847826" cy="463296"/>
            </a:xfrm>
            <a:prstGeom prst="rect">
              <a:avLst/>
            </a:prstGeom>
            <a:noFill/>
            <a:ln>
              <a:noFill/>
            </a:ln>
          </p:spPr>
          <p:txBody>
            <a:bodyPr wrap="none" lIns="0" tIns="0" rIns="0" bIns="0" anchor="t" anchorCtr="0">
              <a:spAutoFit/>
            </a:bodyPr>
            <a:lstStyle/>
            <a:p>
              <a:pPr algn="l">
                <a:lnSpc>
                  <a:spcPts val="1800"/>
                </a:lnSpc>
              </a:pPr>
              <a:r>
                <a:rPr lang="en-GB" sz="1200" dirty="0">
                  <a:solidFill>
                    <a:schemeClr val="dk1"/>
                  </a:solidFill>
                  <a:latin typeface="+mn-lt"/>
                  <a:ea typeface="+mn-ea"/>
                  <a:cs typeface="+mn-cs"/>
                </a:rPr>
                <a:t>Standing limitations that apply to every study below: management self-selects participation; company financial data is self-reported;</a:t>
              </a:r>
              <a:br/>
              <a:r>
                <a:rPr lang="en-GB" sz="1200" dirty="0">
                  <a:solidFill>
                    <a:schemeClr val="dk1"/>
                  </a:solidFill>
                  <a:latin typeface="+mn-lt"/>
                  <a:ea typeface="+mn-ea"/>
                  <a:cs typeface="+mn-cs"/>
                </a:rPr>
                <a:t>control arms are absent, small or non-random; and follow-up samples shrink.</a:t>
              </a:r>
            </a:p>
          </p:txBody>
        </p:sp>
        <p:sp>
          <p:nvSpPr>
            <p:cNvPr id="11" name="TextBox 11"/>
            <p:cNvSpPr txBox="1"/>
            <p:nvPr/>
          </p:nvSpPr>
          <p:spPr>
            <a:xfrm>
              <a:off x="755904" y="4461510"/>
              <a:ext cx="9000592" cy="691896"/>
            </a:xfrm>
            <a:prstGeom prst="rect">
              <a:avLst/>
            </a:prstGeom>
            <a:noFill/>
            <a:ln>
              <a:noFill/>
            </a:ln>
          </p:spPr>
          <p:txBody>
            <a:bodyPr wrap="none" lIns="0" tIns="0" rIns="0" bIns="0" anchor="t" anchorCtr="0">
              <a:spAutoFit/>
            </a:bodyPr>
            <a:lstStyle/>
            <a:p>
              <a:pPr algn="l">
                <a:lnSpc>
                  <a:spcPts val="1800"/>
                </a:lnSpc>
              </a:pPr>
              <a:r>
                <a:rPr lang="en-GB" sz="1200" dirty="0">
                  <a:solidFill>
                    <a:schemeClr val="dk1"/>
                  </a:solidFill>
                  <a:latin typeface="+mn-lt"/>
                  <a:ea typeface="+mn-ea"/>
                  <a:cs typeface="+mn-cs"/>
                </a:rPr>
                <a:t>Definitions: 100-80-100 is 100% pay for 80% of the time at 100% output, as defined by 4 Day Week Global. “Continuation” means still</a:t>
              </a:r>
              <a:br/>
              <a:r>
                <a:rPr lang="en-GB" sz="1200" dirty="0">
                  <a:solidFill>
                    <a:schemeClr val="dk1"/>
                  </a:solidFill>
                  <a:latin typeface="+mn-lt"/>
                  <a:ea typeface="+mn-ea"/>
                  <a:cs typeface="+mn-cs"/>
                </a:rPr>
                <a:t>operating the policy, which is not the same as a contractual entitlement. “Not statistically significant” is the reporting authors’ own</a:t>
              </a:r>
              <a:br/>
              <a:r>
                <a:rPr lang="en-GB" sz="1200" dirty="0">
                  <a:solidFill>
                    <a:schemeClr val="dk1"/>
                  </a:solidFill>
                  <a:latin typeface="+mn-lt"/>
                  <a:ea typeface="+mn-ea"/>
                  <a:cs typeface="+mn-cs"/>
                </a:rPr>
                <a:t>wording.</a:t>
              </a:r>
            </a:p>
          </p:txBody>
        </p:sp>
        <p:sp>
          <p:nvSpPr>
            <p:cNvPr id="12" name="TextBox 12"/>
            <p:cNvSpPr txBox="1"/>
            <p:nvPr/>
          </p:nvSpPr>
          <p:spPr>
            <a:xfrm>
              <a:off x="755904" y="5280660"/>
              <a:ext cx="9092976" cy="691896"/>
            </a:xfrm>
            <a:prstGeom prst="rect">
              <a:avLst/>
            </a:prstGeom>
            <a:noFill/>
            <a:ln>
              <a:noFill/>
            </a:ln>
          </p:spPr>
          <p:txBody>
            <a:bodyPr wrap="none" lIns="0" tIns="0" rIns="0" bIns="0" anchor="t" anchorCtr="0">
              <a:spAutoFit/>
            </a:bodyPr>
            <a:lstStyle/>
            <a:p>
              <a:pPr algn="l">
                <a:lnSpc>
                  <a:spcPts val="1800"/>
                </a:lnSpc>
              </a:pPr>
              <a:r>
                <a:rPr lang="en-GB" sz="1200" dirty="0">
                  <a:solidFill>
                    <a:schemeClr val="dk1"/>
                  </a:solidFill>
                  <a:latin typeface="+mn-lt"/>
                  <a:ea typeface="+mn-ea"/>
                  <a:cs typeface="+mn-cs"/>
                </a:rPr>
                <a:t>Deliberately not claimed: any figure for this firm; any productivity forecast; any saving derived from the 2014 replacement-cost figure as</a:t>
              </a:r>
              <a:br/>
              <a:r>
                <a:rPr lang="en-GB" sz="1200" dirty="0">
                  <a:solidFill>
                    <a:schemeClr val="dk1"/>
                  </a:solidFill>
                  <a:latin typeface="+mn-lt"/>
                  <a:ea typeface="+mn-ea"/>
                  <a:cs typeface="+mn-cs"/>
                </a:rPr>
                <a:t>anything other than illustrative arithmetic. The named company accounts (Awin, Atom bank) are self-published, not independent</a:t>
              </a:r>
              <a:br/>
              <a:r>
                <a:rPr lang="en-GB" sz="1200" dirty="0">
                  <a:solidFill>
                    <a:schemeClr val="dk1"/>
                  </a:solidFill>
                  <a:latin typeface="+mn-lt"/>
                  <a:ea typeface="+mn-ea"/>
                  <a:cs typeface="+mn-cs"/>
                </a:rPr>
                <a:t>evaluations.</a:t>
              </a:r>
            </a:p>
          </p:txBody>
        </p:sp>
      </p:grpSp>
      <p:grpSp>
        <p:nvGrpSpPr>
          <p:cNvPr id="42" name="Group 42"/>
          <p:cNvGrpSpPr/>
          <p:nvPr/>
        </p:nvGrpSpPr>
        <p:grpSpPr>
          <a:xfrm>
            <a:off x="754380" y="6315075"/>
            <a:ext cx="3941803" cy="6934581"/>
            <a:chOff x="754380" y="6315075"/>
            <a:chExt cx="3941803" cy="6934581"/>
          </a:xfrm>
        </p:grpSpPr>
        <p:sp>
          <p:nvSpPr>
            <p:cNvPr id="14" name="TextBox 14"/>
            <p:cNvSpPr txBox="1"/>
            <p:nvPr/>
          </p:nvSpPr>
          <p:spPr>
            <a:xfrm>
              <a:off x="754380" y="6315075"/>
              <a:ext cx="2922197"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
                </a:rPr>
                <a:t>UK 2022 pilot: The results are in</a:t>
              </a:r>
            </a:p>
          </p:txBody>
        </p:sp>
        <p:sp>
          <p:nvSpPr>
            <p:cNvPr id="15" name="TextBox 15"/>
            <p:cNvSpPr txBox="1"/>
            <p:nvPr/>
          </p:nvSpPr>
          <p:spPr>
            <a:xfrm>
              <a:off x="755904" y="6576060"/>
              <a:ext cx="279309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Autonomy, February 2023 · pages 1–6</a:t>
              </a:r>
            </a:p>
          </p:txBody>
        </p:sp>
        <p:sp>
          <p:nvSpPr>
            <p:cNvPr id="16" name="TextBox 16"/>
            <p:cNvSpPr txBox="1"/>
            <p:nvPr/>
          </p:nvSpPr>
          <p:spPr>
            <a:xfrm>
              <a:off x="754380" y="6810375"/>
              <a:ext cx="2526208"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3"/>
                </a:rPr>
                <a:t>Making It Stick: one year on</a:t>
              </a:r>
            </a:p>
          </p:txBody>
        </p:sp>
        <p:sp>
          <p:nvSpPr>
            <p:cNvPr id="17" name="TextBox 17"/>
            <p:cNvSpPr txBox="1"/>
            <p:nvPr/>
          </p:nvSpPr>
          <p:spPr>
            <a:xfrm>
              <a:off x="755904" y="7071360"/>
              <a:ext cx="3334713"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Autonomy, February 2024 · pages 1, 5, 6, 7, 9</a:t>
              </a:r>
            </a:p>
          </p:txBody>
        </p:sp>
        <p:sp>
          <p:nvSpPr>
            <p:cNvPr id="18" name="TextBox 18"/>
            <p:cNvSpPr txBox="1"/>
            <p:nvPr/>
          </p:nvSpPr>
          <p:spPr>
            <a:xfrm>
              <a:off x="754380" y="7305675"/>
              <a:ext cx="3300027"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4"/>
                </a:rPr>
                <a:t>Going Public: Iceland’s shorter week</a:t>
              </a:r>
            </a:p>
          </p:txBody>
        </p:sp>
        <p:sp>
          <p:nvSpPr>
            <p:cNvPr id="19" name="TextBox 19"/>
            <p:cNvSpPr txBox="1"/>
            <p:nvPr/>
          </p:nvSpPr>
          <p:spPr>
            <a:xfrm>
              <a:off x="755904" y="7566660"/>
              <a:ext cx="286210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Autonomy and Alda, July 2021 · page 6</a:t>
              </a:r>
            </a:p>
          </p:txBody>
        </p:sp>
        <p:sp>
          <p:nvSpPr>
            <p:cNvPr id="20" name="TextBox 20"/>
            <p:cNvSpPr txBox="1"/>
            <p:nvPr/>
          </p:nvSpPr>
          <p:spPr>
            <a:xfrm>
              <a:off x="754380" y="7800975"/>
              <a:ext cx="3264781"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5"/>
                </a:rPr>
                <a:t>Iceland’s success greatly overstated</a:t>
              </a:r>
            </a:p>
          </p:txBody>
        </p:sp>
        <p:sp>
          <p:nvSpPr>
            <p:cNvPr id="21" name="TextBox 21"/>
            <p:cNvSpPr txBox="1"/>
            <p:nvPr/>
          </p:nvSpPr>
          <p:spPr>
            <a:xfrm>
              <a:off x="755904" y="8061960"/>
              <a:ext cx="3450695"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Anthony Veal, The Conversation, 2021 · page 6</a:t>
              </a:r>
            </a:p>
          </p:txBody>
        </p:sp>
        <p:sp>
          <p:nvSpPr>
            <p:cNvPr id="22" name="TextBox 22"/>
            <p:cNvSpPr txBox="1"/>
            <p:nvPr/>
          </p:nvSpPr>
          <p:spPr>
            <a:xfrm>
              <a:off x="754380" y="8296275"/>
              <a:ext cx="2487038"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6"/>
                </a:rPr>
                <a:t>Belgium: Labour Deal 2022</a:t>
              </a:r>
            </a:p>
          </p:txBody>
        </p:sp>
        <p:sp>
          <p:nvSpPr>
            <p:cNvPr id="23" name="TextBox 23"/>
            <p:cNvSpPr txBox="1"/>
            <p:nvPr/>
          </p:nvSpPr>
          <p:spPr>
            <a:xfrm>
              <a:off x="755904" y="8557260"/>
              <a:ext cx="273682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L&amp;E Global, November 2022 · page 6</a:t>
              </a:r>
            </a:p>
          </p:txBody>
        </p:sp>
        <p:sp>
          <p:nvSpPr>
            <p:cNvPr id="24" name="TextBox 24"/>
            <p:cNvSpPr txBox="1"/>
            <p:nvPr/>
          </p:nvSpPr>
          <p:spPr>
            <a:xfrm>
              <a:off x="754380" y="8791575"/>
              <a:ext cx="3119176"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7"/>
                </a:rPr>
                <a:t>Belgium: not a discretionary option</a:t>
              </a:r>
            </a:p>
          </p:txBody>
        </p:sp>
        <p:sp>
          <p:nvSpPr>
            <p:cNvPr id="25" name="TextBox 25"/>
            <p:cNvSpPr txBox="1"/>
            <p:nvPr/>
          </p:nvSpPr>
          <p:spPr>
            <a:xfrm>
              <a:off x="755904" y="9052560"/>
              <a:ext cx="213467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KPMG Law Belgium · page 6</a:t>
              </a:r>
            </a:p>
          </p:txBody>
        </p:sp>
        <p:sp>
          <p:nvSpPr>
            <p:cNvPr id="26" name="TextBox 26"/>
            <p:cNvSpPr txBox="1"/>
            <p:nvPr/>
          </p:nvSpPr>
          <p:spPr>
            <a:xfrm>
              <a:off x="754380" y="9286875"/>
              <a:ext cx="2961576"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8"/>
                </a:rPr>
                <a:t>Belgian firms reluctant to adopt it</a:t>
              </a:r>
            </a:p>
          </p:txBody>
        </p:sp>
        <p:sp>
          <p:nvSpPr>
            <p:cNvPr id="27" name="TextBox 27"/>
            <p:cNvSpPr txBox="1"/>
            <p:nvPr/>
          </p:nvSpPr>
          <p:spPr>
            <a:xfrm>
              <a:off x="755904" y="9547860"/>
              <a:ext cx="235638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The Brussels Times · pages 3, 6</a:t>
              </a:r>
            </a:p>
          </p:txBody>
        </p:sp>
        <p:sp>
          <p:nvSpPr>
            <p:cNvPr id="28" name="TextBox 28"/>
            <p:cNvSpPr txBox="1"/>
            <p:nvPr/>
          </p:nvSpPr>
          <p:spPr>
            <a:xfrm>
              <a:off x="754380" y="9782175"/>
              <a:ext cx="2265512"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9"/>
                </a:rPr>
                <a:t>Portugal pilot: final report</a:t>
              </a:r>
            </a:p>
          </p:txBody>
        </p:sp>
        <p:sp>
          <p:nvSpPr>
            <p:cNvPr id="29" name="TextBox 29"/>
            <p:cNvSpPr txBox="1"/>
            <p:nvPr/>
          </p:nvSpPr>
          <p:spPr>
            <a:xfrm>
              <a:off x="755904" y="10043160"/>
              <a:ext cx="3222015"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Gomes and Fontinha, July 2024 · pages 2–9</a:t>
              </a:r>
            </a:p>
          </p:txBody>
        </p:sp>
        <p:sp>
          <p:nvSpPr>
            <p:cNvPr id="30" name="TextBox 30"/>
            <p:cNvSpPr txBox="1"/>
            <p:nvPr/>
          </p:nvSpPr>
          <p:spPr>
            <a:xfrm>
              <a:off x="754380" y="10277475"/>
              <a:ext cx="3119783"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0"/>
                </a:rPr>
                <a:t>Portugal: anxiety and fatigue down</a:t>
              </a:r>
            </a:p>
          </p:txBody>
        </p:sp>
        <p:sp>
          <p:nvSpPr>
            <p:cNvPr id="31" name="TextBox 31"/>
            <p:cNvSpPr txBox="1"/>
            <p:nvPr/>
          </p:nvSpPr>
          <p:spPr>
            <a:xfrm>
              <a:off x="755904" y="10538460"/>
              <a:ext cx="2847773"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Birkbeck, University of London · page 6</a:t>
              </a:r>
            </a:p>
          </p:txBody>
        </p:sp>
        <p:sp>
          <p:nvSpPr>
            <p:cNvPr id="32" name="TextBox 32"/>
            <p:cNvSpPr txBox="1"/>
            <p:nvPr/>
          </p:nvSpPr>
          <p:spPr>
            <a:xfrm>
              <a:off x="754380" y="10772775"/>
              <a:ext cx="2726338"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1"/>
                </a:rPr>
                <a:t>Germany: wellbeing increases</a:t>
              </a:r>
            </a:p>
          </p:txBody>
        </p:sp>
        <p:sp>
          <p:nvSpPr>
            <p:cNvPr id="33" name="TextBox 33"/>
            <p:cNvSpPr txBox="1"/>
            <p:nvPr/>
          </p:nvSpPr>
          <p:spPr>
            <a:xfrm>
              <a:off x="755904" y="11033760"/>
              <a:ext cx="307055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University of Münster, 2024 · pages 4, 5, 6</a:t>
              </a:r>
            </a:p>
          </p:txBody>
        </p:sp>
        <p:sp>
          <p:nvSpPr>
            <p:cNvPr id="34" name="TextBox 34"/>
            <p:cNvSpPr txBox="1"/>
            <p:nvPr/>
          </p:nvSpPr>
          <p:spPr>
            <a:xfrm>
              <a:off x="754380" y="11268075"/>
              <a:ext cx="2670405"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2"/>
                </a:rPr>
                <a:t>Germany: what the trial found</a:t>
              </a:r>
            </a:p>
          </p:txBody>
        </p:sp>
        <p:sp>
          <p:nvSpPr>
            <p:cNvPr id="35" name="TextBox 35"/>
            <p:cNvSpPr txBox="1"/>
            <p:nvPr/>
          </p:nvSpPr>
          <p:spPr>
            <a:xfrm>
              <a:off x="755904" y="11529060"/>
              <a:ext cx="288197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The Local, November 2024 · pages 4, 5</a:t>
              </a:r>
            </a:p>
          </p:txBody>
        </p:sp>
        <p:sp>
          <p:nvSpPr>
            <p:cNvPr id="36" name="TextBox 36"/>
            <p:cNvSpPr txBox="1"/>
            <p:nvPr/>
          </p:nvSpPr>
          <p:spPr>
            <a:xfrm>
              <a:off x="754380" y="11763375"/>
              <a:ext cx="2867103"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3"/>
                </a:rPr>
                <a:t>South Cambs: report to scrutiny</a:t>
              </a:r>
            </a:p>
          </p:txBody>
        </p:sp>
        <p:sp>
          <p:nvSpPr>
            <p:cNvPr id="37" name="TextBox 37"/>
            <p:cNvSpPr txBox="1"/>
            <p:nvPr/>
          </p:nvSpPr>
          <p:spPr>
            <a:xfrm>
              <a:off x="755904" y="12024360"/>
              <a:ext cx="394027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Cambridge democracy portal, March 2024 · pages 2, 6</a:t>
              </a:r>
            </a:p>
          </p:txBody>
        </p:sp>
        <p:sp>
          <p:nvSpPr>
            <p:cNvPr id="38" name="TextBox 38"/>
            <p:cNvSpPr txBox="1"/>
            <p:nvPr/>
          </p:nvSpPr>
          <p:spPr>
            <a:xfrm>
              <a:off x="754380" y="12258675"/>
              <a:ext cx="3451952"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4"/>
                </a:rPr>
                <a:t>South Cambs: independent evaluation</a:t>
              </a:r>
            </a:p>
          </p:txBody>
        </p:sp>
        <p:sp>
          <p:nvSpPr>
            <p:cNvPr id="39" name="TextBox 39"/>
            <p:cNvSpPr txBox="1"/>
            <p:nvPr/>
          </p:nvSpPr>
          <p:spPr>
            <a:xfrm>
              <a:off x="755904" y="12519660"/>
              <a:ext cx="374117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Salford and Cambridge, via scambs.gov.uk · page 6</a:t>
              </a:r>
            </a:p>
          </p:txBody>
        </p:sp>
        <p:sp>
          <p:nvSpPr>
            <p:cNvPr id="40" name="TextBox 40"/>
            <p:cNvSpPr txBox="1"/>
            <p:nvPr/>
          </p:nvSpPr>
          <p:spPr>
            <a:xfrm>
              <a:off x="754380" y="12753975"/>
              <a:ext cx="3665361"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5"/>
                </a:rPr>
                <a:t>South Cambs: the council’s own account</a:t>
              </a:r>
            </a:p>
          </p:txBody>
        </p:sp>
        <p:sp>
          <p:nvSpPr>
            <p:cNvPr id="41" name="TextBox 41"/>
            <p:cNvSpPr txBox="1"/>
            <p:nvPr/>
          </p:nvSpPr>
          <p:spPr>
            <a:xfrm>
              <a:off x="755904" y="13014960"/>
              <a:ext cx="213598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LocalGov, July 2025 · page 6</a:t>
              </a:r>
            </a:p>
          </p:txBody>
        </p:sp>
      </p:grpSp>
      <p:grpSp>
        <p:nvGrpSpPr>
          <p:cNvPr id="69" name="Group 69"/>
          <p:cNvGrpSpPr/>
          <p:nvPr/>
        </p:nvGrpSpPr>
        <p:grpSpPr>
          <a:xfrm>
            <a:off x="6088380" y="6315075"/>
            <a:ext cx="3846176" cy="6439281"/>
            <a:chOff x="6088380" y="6315075"/>
            <a:chExt cx="3846176" cy="6439281"/>
          </a:xfrm>
        </p:grpSpPr>
        <p:sp>
          <p:nvSpPr>
            <p:cNvPr id="43" name="TextBox 43"/>
            <p:cNvSpPr txBox="1"/>
            <p:nvPr/>
          </p:nvSpPr>
          <p:spPr>
            <a:xfrm>
              <a:off x="6088380" y="6315075"/>
              <a:ext cx="3582999"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6"/>
                </a:rPr>
                <a:t>MHCLG letter to South Cambridgeshire</a:t>
              </a:r>
            </a:p>
          </p:txBody>
        </p:sp>
        <p:sp>
          <p:nvSpPr>
            <p:cNvPr id="44" name="TextBox 44"/>
            <p:cNvSpPr txBox="1"/>
            <p:nvPr/>
          </p:nvSpPr>
          <p:spPr>
            <a:xfrm>
              <a:off x="6089904" y="6576060"/>
              <a:ext cx="297381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scambs.gov.uk, November 2024 · page 9</a:t>
              </a:r>
            </a:p>
          </p:txBody>
        </p:sp>
        <p:sp>
          <p:nvSpPr>
            <p:cNvPr id="45" name="TextBox 45"/>
            <p:cNvSpPr txBox="1"/>
            <p:nvPr/>
          </p:nvSpPr>
          <p:spPr>
            <a:xfrm>
              <a:off x="6088380" y="6810375"/>
              <a:ext cx="3107980"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7"/>
                </a:rPr>
                <a:t>Effects of a four-day working week</a:t>
              </a:r>
            </a:p>
          </p:txBody>
        </p:sp>
        <p:sp>
          <p:nvSpPr>
            <p:cNvPr id="46" name="TextBox 46"/>
            <p:cNvSpPr txBox="1"/>
            <p:nvPr/>
          </p:nvSpPr>
          <p:spPr>
            <a:xfrm>
              <a:off x="6089904" y="7071360"/>
              <a:ext cx="3759457"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Fraser of Allander, Economics Observatory · page 4</a:t>
              </a:r>
            </a:p>
          </p:txBody>
        </p:sp>
        <p:sp>
          <p:nvSpPr>
            <p:cNvPr id="47" name="TextBox 47"/>
            <p:cNvSpPr txBox="1"/>
            <p:nvPr/>
          </p:nvSpPr>
          <p:spPr>
            <a:xfrm>
              <a:off x="6088380" y="7305675"/>
              <a:ext cx="2737604"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8"/>
                </a:rPr>
                <a:t>Fan et al., work-time reduction</a:t>
              </a:r>
            </a:p>
          </p:txBody>
        </p:sp>
        <p:sp>
          <p:nvSpPr>
            <p:cNvPr id="48" name="TextBox 48"/>
            <p:cNvSpPr txBox="1"/>
            <p:nvPr/>
          </p:nvSpPr>
          <p:spPr>
            <a:xfrm>
              <a:off x="6089904" y="7566660"/>
              <a:ext cx="3339475"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Nature Human Behaviour 9, 2025 · pages 1, 4</a:t>
              </a:r>
            </a:p>
          </p:txBody>
        </p:sp>
        <p:sp>
          <p:nvSpPr>
            <p:cNvPr id="49" name="TextBox 49"/>
            <p:cNvSpPr txBox="1"/>
            <p:nvPr/>
          </p:nvSpPr>
          <p:spPr>
            <a:xfrm>
              <a:off x="6088380" y="7800975"/>
              <a:ext cx="3343782"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19"/>
                </a:rPr>
                <a:t>The biggest trial of the four-day week</a:t>
              </a:r>
            </a:p>
          </p:txBody>
        </p:sp>
        <p:sp>
          <p:nvSpPr>
            <p:cNvPr id="50" name="TextBox 50"/>
            <p:cNvSpPr txBox="1"/>
            <p:nvPr/>
          </p:nvSpPr>
          <p:spPr>
            <a:xfrm>
              <a:off x="6089904" y="8061960"/>
              <a:ext cx="2274818"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Nature news, 2025 · pages 2, 4</a:t>
              </a:r>
            </a:p>
          </p:txBody>
        </p:sp>
        <p:sp>
          <p:nvSpPr>
            <p:cNvPr id="51" name="TextBox 51"/>
            <p:cNvSpPr txBox="1"/>
            <p:nvPr/>
          </p:nvSpPr>
          <p:spPr>
            <a:xfrm>
              <a:off x="6088380" y="8296275"/>
              <a:ext cx="1837453"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0"/>
                </a:rPr>
                <a:t>The 100:80:100 rule</a:t>
              </a:r>
            </a:p>
          </p:txBody>
        </p:sp>
        <p:sp>
          <p:nvSpPr>
            <p:cNvPr id="52" name="TextBox 52"/>
            <p:cNvSpPr txBox="1"/>
            <p:nvPr/>
          </p:nvSpPr>
          <p:spPr>
            <a:xfrm>
              <a:off x="6089904" y="8557260"/>
              <a:ext cx="232355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4 Day Week Global · pages 2, 7</a:t>
              </a:r>
            </a:p>
          </p:txBody>
        </p:sp>
        <p:sp>
          <p:nvSpPr>
            <p:cNvPr id="53" name="TextBox 53"/>
            <p:cNvSpPr txBox="1"/>
            <p:nvPr/>
          </p:nvSpPr>
          <p:spPr>
            <a:xfrm>
              <a:off x="6088380" y="8791575"/>
              <a:ext cx="3211170"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1"/>
                </a:rPr>
                <a:t>Awin makes Flexi-Week permanent</a:t>
              </a:r>
            </a:p>
          </p:txBody>
        </p:sp>
        <p:sp>
          <p:nvSpPr>
            <p:cNvPr id="54" name="TextBox 54"/>
            <p:cNvSpPr txBox="1"/>
            <p:nvPr/>
          </p:nvSpPr>
          <p:spPr>
            <a:xfrm>
              <a:off x="6089904" y="9052560"/>
              <a:ext cx="329366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Awin, February 2023 · page 3 · self-published</a:t>
              </a:r>
            </a:p>
          </p:txBody>
        </p:sp>
        <p:sp>
          <p:nvSpPr>
            <p:cNvPr id="55" name="TextBox 55"/>
            <p:cNvSpPr txBox="1"/>
            <p:nvPr/>
          </p:nvSpPr>
          <p:spPr>
            <a:xfrm>
              <a:off x="6088380" y="9286875"/>
              <a:ext cx="2379513"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2"/>
                </a:rPr>
                <a:t>Atom bank: ten months on</a:t>
              </a:r>
            </a:p>
          </p:txBody>
        </p:sp>
        <p:sp>
          <p:nvSpPr>
            <p:cNvPr id="56" name="TextBox 56"/>
            <p:cNvSpPr txBox="1"/>
            <p:nvPr/>
          </p:nvSpPr>
          <p:spPr>
            <a:xfrm>
              <a:off x="6089904" y="9547860"/>
              <a:ext cx="373416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Atom bank, October 2022 · page 10 · self-published</a:t>
              </a:r>
            </a:p>
          </p:txBody>
        </p:sp>
        <p:sp>
          <p:nvSpPr>
            <p:cNvPr id="57" name="TextBox 57"/>
            <p:cNvSpPr txBox="1"/>
            <p:nvPr/>
          </p:nvSpPr>
          <p:spPr>
            <a:xfrm>
              <a:off x="6088380" y="9782175"/>
              <a:ext cx="2827756"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3"/>
                </a:rPr>
                <a:t>Law firms on the four-day week</a:t>
              </a:r>
            </a:p>
          </p:txBody>
        </p:sp>
        <p:sp>
          <p:nvSpPr>
            <p:cNvPr id="58" name="TextBox 58"/>
            <p:cNvSpPr txBox="1"/>
            <p:nvPr/>
          </p:nvSpPr>
          <p:spPr>
            <a:xfrm>
              <a:off x="6089904" y="10043160"/>
              <a:ext cx="2009534"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Canadian Lawyer · page 10</a:t>
              </a:r>
            </a:p>
          </p:txBody>
        </p:sp>
        <p:sp>
          <p:nvSpPr>
            <p:cNvPr id="59" name="TextBox 59"/>
            <p:cNvSpPr txBox="1"/>
            <p:nvPr/>
          </p:nvSpPr>
          <p:spPr>
            <a:xfrm>
              <a:off x="6088380" y="10277475"/>
              <a:ext cx="3371013"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4"/>
                </a:rPr>
                <a:t>Average actual weekly hours (YBUY)</a:t>
              </a:r>
            </a:p>
          </p:txBody>
        </p:sp>
        <p:sp>
          <p:nvSpPr>
            <p:cNvPr id="60" name="TextBox 60"/>
            <p:cNvSpPr txBox="1"/>
            <p:nvPr/>
          </p:nvSpPr>
          <p:spPr>
            <a:xfrm>
              <a:off x="6089904" y="10538460"/>
              <a:ext cx="2297044"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ONS, April–June 2026 · page 2</a:t>
              </a:r>
            </a:p>
          </p:txBody>
        </p:sp>
        <p:sp>
          <p:nvSpPr>
            <p:cNvPr id="61" name="TextBox 61"/>
            <p:cNvSpPr txBox="1"/>
            <p:nvPr/>
          </p:nvSpPr>
          <p:spPr>
            <a:xfrm>
              <a:off x="6088380" y="10772775"/>
              <a:ext cx="3634888"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5"/>
                </a:rPr>
                <a:t>International comparisons of productivity</a:t>
              </a:r>
            </a:p>
          </p:txBody>
        </p:sp>
        <p:sp>
          <p:nvSpPr>
            <p:cNvPr id="62" name="TextBox 62"/>
            <p:cNvSpPr txBox="1"/>
            <p:nvPr/>
          </p:nvSpPr>
          <p:spPr>
            <a:xfrm>
              <a:off x="6089904" y="11033760"/>
              <a:ext cx="2546859"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ONS, 2021 final estimates · page 2</a:t>
              </a:r>
            </a:p>
          </p:txBody>
        </p:sp>
        <p:sp>
          <p:nvSpPr>
            <p:cNvPr id="63" name="TextBox 63"/>
            <p:cNvSpPr txBox="1"/>
            <p:nvPr/>
          </p:nvSpPr>
          <p:spPr>
            <a:xfrm>
              <a:off x="6088380" y="11268075"/>
              <a:ext cx="2939448"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6"/>
                </a:rPr>
                <a:t>Cost of replacing a staff member</a:t>
              </a:r>
            </a:p>
          </p:txBody>
        </p:sp>
        <p:sp>
          <p:nvSpPr>
            <p:cNvPr id="64" name="TextBox 64"/>
            <p:cNvSpPr txBox="1"/>
            <p:nvPr/>
          </p:nvSpPr>
          <p:spPr>
            <a:xfrm>
              <a:off x="6089904" y="11529060"/>
              <a:ext cx="3844652"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Oxford Economics for Unum, February 2014 · page 3</a:t>
              </a:r>
            </a:p>
          </p:txBody>
        </p:sp>
        <p:sp>
          <p:nvSpPr>
            <p:cNvPr id="65" name="TextBox 65"/>
            <p:cNvSpPr txBox="1"/>
            <p:nvPr/>
          </p:nvSpPr>
          <p:spPr>
            <a:xfrm>
              <a:off x="6088380" y="11763375"/>
              <a:ext cx="3002810"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7"/>
                </a:rPr>
                <a:t>2024–25 UK pilot: 100% success</a:t>
              </a:r>
            </a:p>
          </p:txBody>
        </p:sp>
        <p:sp>
          <p:nvSpPr>
            <p:cNvPr id="66" name="TextBox 66"/>
            <p:cNvSpPr txBox="1"/>
            <p:nvPr/>
          </p:nvSpPr>
          <p:spPr>
            <a:xfrm>
              <a:off x="6089904" y="12024360"/>
              <a:ext cx="2402150"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4 Day Week Foundation · page 5</a:t>
              </a:r>
            </a:p>
          </p:txBody>
        </p:sp>
        <p:sp>
          <p:nvSpPr>
            <p:cNvPr id="67" name="TextBox 67"/>
            <p:cNvSpPr txBox="1"/>
            <p:nvPr/>
          </p:nvSpPr>
          <p:spPr>
            <a:xfrm>
              <a:off x="6088380" y="12258675"/>
              <a:ext cx="3191622" cy="293370"/>
            </a:xfrm>
            <a:prstGeom prst="rect">
              <a:avLst/>
            </a:prstGeom>
            <a:noFill/>
            <a:ln>
              <a:noFill/>
            </a:ln>
          </p:spPr>
          <p:txBody>
            <a:bodyPr wrap="none" lIns="0" tIns="0" rIns="0" bIns="0" anchor="t" anchorCtr="0">
              <a:spAutoFit/>
            </a:bodyPr>
            <a:lstStyle/>
            <a:p>
              <a:pPr algn="l"/>
              <a:r>
                <a:rPr lang="en-GB" sz="1500" dirty="0">
                  <a:solidFill>
                    <a:schemeClr val="accent2"/>
                  </a:solidFill>
                  <a:latin typeface="+mn-lt"/>
                  <a:ea typeface="+mn-ea"/>
                  <a:cs typeface="+mn-cs"/>
                  <a:hlinkClick r:id="rId28"/>
                </a:rPr>
                <a:t>Latest UK pilot sees 100% success</a:t>
              </a:r>
            </a:p>
          </p:txBody>
        </p:sp>
        <p:sp>
          <p:nvSpPr>
            <p:cNvPr id="68" name="TextBox 68"/>
            <p:cNvSpPr txBox="1"/>
            <p:nvPr/>
          </p:nvSpPr>
          <p:spPr>
            <a:xfrm>
              <a:off x="6089904" y="12519660"/>
              <a:ext cx="1656016"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The Big Issue · page 5</a:t>
              </a:r>
            </a:p>
          </p:txBody>
        </p:sp>
      </p:grpSp>
      <p:grpSp>
        <p:nvGrpSpPr>
          <p:cNvPr id="73" name="Group 73"/>
          <p:cNvGrpSpPr/>
          <p:nvPr/>
        </p:nvGrpSpPr>
        <p:grpSpPr>
          <a:xfrm>
            <a:off x="755904" y="15582900"/>
            <a:ext cx="10299192" cy="409956"/>
            <a:chOff x="755904" y="15582900"/>
            <a:chExt cx="10299192" cy="409956"/>
          </a:xfrm>
        </p:grpSpPr>
        <p:sp>
          <p:nvSpPr>
            <p:cNvPr id="70" name="Line 70"/>
            <p:cNvSpPr/>
            <p:nvPr/>
          </p:nvSpPr>
          <p:spPr>
            <a:xfrm>
              <a:off x="762000" y="15582900"/>
              <a:ext cx="10287000" cy="9525"/>
            </a:xfrm>
            <a:custGeom>
              <a:avLst/>
              <a:gdLst/>
              <a:ahLst/>
              <a:cxnLst/>
              <a:rect l="l" t="t" r="r" b="b"/>
              <a:pathLst>
                <a:path w="10287000" h="9525">
                  <a:moveTo>
                    <a:pt x="0" y="0"/>
                  </a:moveTo>
                  <a:lnTo>
                    <a:pt x="10287000" y="0"/>
                  </a:lnTo>
                </a:path>
              </a:pathLst>
            </a:custGeom>
            <a:noFill/>
            <a:ln w="9525">
              <a:solidFill>
                <a:schemeClr val="accent6"/>
              </a:solidFill>
            </a:ln>
          </p:spPr>
        </p:sp>
        <p:sp>
          <p:nvSpPr>
            <p:cNvPr id="71" name="TextBox 71"/>
            <p:cNvSpPr txBox="1"/>
            <p:nvPr/>
          </p:nvSpPr>
          <p:spPr>
            <a:xfrm>
              <a:off x="755904" y="15758160"/>
              <a:ext cx="7509514" cy="234696"/>
            </a:xfrm>
            <a:prstGeom prst="rect">
              <a:avLst/>
            </a:prstGeom>
            <a:noFill/>
            <a:ln>
              <a:noFill/>
            </a:ln>
          </p:spPr>
          <p:txBody>
            <a:bodyPr wrap="none" lIns="0" tIns="0" rIns="0" bIns="0" anchor="t" anchorCtr="0">
              <a:spAutoFit/>
            </a:bodyPr>
            <a:lstStyle/>
            <a:p>
              <a:pPr algn="l"/>
              <a:r>
                <a:rPr lang="en-GB" sz="1200" dirty="0">
                  <a:solidFill>
                    <a:schemeClr val="accent5"/>
                  </a:solidFill>
                  <a:latin typeface="+mn-lt"/>
                  <a:ea typeface="+mn-ea"/>
                  <a:cs typeface="+mn-cs"/>
                </a:rPr>
                <a:t>27 sources · 72 recorded facts · every claim in this memo carries a fact id in the imported provenance file</a:t>
              </a:r>
            </a:p>
          </p:txBody>
        </p:sp>
        <p:sp>
          <p:nvSpPr>
            <p:cNvPr id="72" name="TextBox 72"/>
            <p:cNvSpPr txBox="1"/>
            <p:nvPr/>
          </p:nvSpPr>
          <p:spPr>
            <a:xfrm>
              <a:off x="8454806" y="15758160"/>
              <a:ext cx="2600290" cy="234696"/>
            </a:xfrm>
            <a:prstGeom prst="rect">
              <a:avLst/>
            </a:prstGeom>
            <a:noFill/>
            <a:ln>
              <a:noFill/>
            </a:ln>
          </p:spPr>
          <p:txBody>
            <a:bodyPr wrap="none" lIns="0" tIns="0" rIns="0" bIns="0" anchor="t" anchorCtr="0">
              <a:spAutoFit/>
            </a:bodyPr>
            <a:lstStyle/>
            <a:p>
              <a:pPr algn="r"/>
              <a:r>
                <a:rPr lang="en-GB" sz="1200" dirty="0">
                  <a:solidFill>
                    <a:schemeClr val="accent5"/>
                  </a:solidFill>
                  <a:latin typeface="+mn-lt"/>
                  <a:ea typeface="+mn-ea"/>
                  <a:cs typeface="+mn-cs"/>
                </a:rPr>
                <a:t>10 September 2026 · Page 10 of 10</a:t>
              </a:r>
            </a:p>
          </p:txBody>
        </p:sp>
      </p:grpSp>
    </p:spTree>
  </p:cSld>
  <p:clrMapOvr>
    <a:masterClrMapping/>
  </p:clrMapOvr>
  <p:transition xmlns:p14="http://schemas.microsoft.com/office/powerpoint/2010/main" p14:dur="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00"/>
                                        <p:tgtEl>
                                          <p:spTgt spid="42"/>
                                        </p:tgtEl>
                                      </p:cBhvr>
                                    </p:animEffect>
                                  </p:childTnLst>
                                </p:cTn>
                              </p:par>
                            </p:childTnLst>
                          </p:cTn>
                        </p:par>
                        <p:par>
                          <p:cTn id="12" fill="hold">
                            <p:stCondLst>
                              <p:cond delay="900"/>
                            </p:stCondLst>
                            <p:childTnLst>
                              <p:par>
                                <p:cTn xmlns:p="http://schemas.openxmlformats.org/presentationml/2006/main" id="13" presetID="10"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4_four_day_week_decision_memo">
  <a:themeElements>
    <a:clrScheme name="a4_four_day_week_decision_memo">
      <a:dk1>
        <a:srgbClr val="16232E"/>
      </a:dk1>
      <a:lt1>
        <a:srgbClr val="FFFFFF"/>
      </a:lt1>
      <a:dk2>
        <a:srgbClr val="1F497D"/>
      </a:dk2>
      <a:lt2>
        <a:srgbClr val="F2F0EB"/>
      </a:lt2>
      <a:accent1>
        <a:srgbClr val="16232E"/>
      </a:accent1>
      <a:accent2>
        <a:srgbClr val="B4471C"/>
      </a:accent2>
      <a:accent3>
        <a:srgbClr val="4A6B7C"/>
      </a:accent3>
      <a:accent4>
        <a:srgbClr val="16232E"/>
      </a:accent4>
      <a:accent5>
        <a:srgbClr val="5C6871"/>
      </a:accent5>
      <a:accent6>
        <a:srgbClr val="D6D2C9"/>
      </a:accent6>
      <a:hlink>
        <a:srgbClr val="B4471C"/>
      </a:hlink>
      <a:folHlink>
        <a:srgbClr val="4A6B7C"/>
      </a:folHlink>
    </a:clrScheme>
    <a:fontScheme name="a4_four_day_week_decision_mem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4_four_day_week_decision_mem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4_four_day_week_decision_memo">
  <a:themeElements>
    <a:clrScheme name="a4_four_day_week_decision_memo">
      <a:dk1>
        <a:srgbClr val="16232E"/>
      </a:dk1>
      <a:lt1>
        <a:srgbClr val="FFFFFF"/>
      </a:lt1>
      <a:dk2>
        <a:srgbClr val="1F497D"/>
      </a:dk2>
      <a:lt2>
        <a:srgbClr val="F2F0EB"/>
      </a:lt2>
      <a:accent1>
        <a:srgbClr val="16232E"/>
      </a:accent1>
      <a:accent2>
        <a:srgbClr val="B4471C"/>
      </a:accent2>
      <a:accent3>
        <a:srgbClr val="4A6B7C"/>
      </a:accent3>
      <a:accent4>
        <a:srgbClr val="16232E"/>
      </a:accent4>
      <a:accent5>
        <a:srgbClr val="5C6871"/>
      </a:accent5>
      <a:accent6>
        <a:srgbClr val="D6D2C9"/>
      </a:accent6>
      <a:hlink>
        <a:srgbClr val="B4471C"/>
      </a:hlink>
      <a:folHlink>
        <a:srgbClr val="4A6B7C"/>
      </a:folHlink>
    </a:clrScheme>
    <a:fontScheme name="a4_four_day_week_decision_mem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4_four_day_week_decision_mem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en-GB</dc:language>
  <cp:lastModifiedBy/>
  <cp:revision>1</cp:revision>
  <dcterms:created xsi:type="dcterms:W3CDTF">2026-09-10T12:17:37Z</dcterms:created>
  <dcterms:modified xsi:type="dcterms:W3CDTF">2026-09-10T12:17:37Z</dcterms:modified>
  <cp:category/>
  <cp:contentStatus/>
</cp:coreProperties>
</file>